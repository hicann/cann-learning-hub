
<file path=[Content_Types].xml><?xml version="1.0" encoding="utf-8"?>
<Types xmlns="http://schemas.openxmlformats.org/package/2006/content-types">
  <Default Extension="png" ContentType="image/png"/>
  <Default Extension="jpeg" ContentType="image/jpeg"/>
  <Default Extension="JPG" ContentType="image/.jpg"/>
  <Default Extension="wdp" ContentType="image/vnd.ms-photo"/>
  <Default Extension="gif" ContentType="image/gif"/>
  <Default Extension="mp4" ContentType="video/mp4"/>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29.svg" ContentType="image/svg+xml"/>
  <Override PartName="/ppt/media/image31.svg" ContentType="image/svg+xml"/>
  <Override PartName="/ppt/media/image33.svg" ContentType="image/svg+xml"/>
  <Override PartName="/ppt/media/image36.svg" ContentType="image/svg+xml"/>
  <Override PartName="/ppt/media/image38.svg" ContentType="image/svg+xml"/>
  <Override PartName="/ppt/media/image40.svg" ContentType="image/svg+xml"/>
  <Override PartName="/ppt/media/image46.svg" ContentType="image/svg+xml"/>
  <Override PartName="/ppt/media/image49.svg" ContentType="image/svg+xml"/>
  <Override PartName="/ppt/media/image71.svg" ContentType="image/svg+xml"/>
  <Override PartName="/ppt/media/image73.svg" ContentType="image/svg+xml"/>
  <Override PartName="/ppt/media/image75.svg" ContentType="image/svg+xml"/>
  <Override PartName="/ppt/media/image79.svg" ContentType="image/svg+xml"/>
  <Override PartName="/ppt/media/image81.svg" ContentType="image/svg+xml"/>
  <Override PartName="/ppt/media/image83.svg" ContentType="image/svg+xml"/>
  <Override PartName="/ppt/media/image85.svg" ContentType="image/svg+xml"/>
  <Override PartName="/ppt/media/image87.svg" ContentType="image/svg+xml"/>
  <Override PartName="/ppt/media/image89.svg" ContentType="image/svg+xml"/>
  <Override PartName="/ppt/media/image91.svg" ContentType="image/svg+xml"/>
  <Override PartName="/ppt/media/image93.svg" ContentType="image/svg+xml"/>
  <Override PartName="/ppt/media/image95.svg" ContentType="image/svg+xml"/>
  <Override PartName="/ppt/media/image97.svg" ContentType="image/svg+xml"/>
  <Override PartName="/ppt/media/image9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3">
  <p:sldMasterIdLst>
    <p:sldMasterId id="2147483648" r:id="rId1"/>
  </p:sldMasterIdLst>
  <p:notesMasterIdLst>
    <p:notesMasterId r:id="rId4"/>
  </p:notesMasterIdLst>
  <p:handoutMasterIdLst>
    <p:handoutMasterId r:id="rId43"/>
  </p:handoutMasterIdLst>
  <p:sldIdLst>
    <p:sldId id="16776232" r:id="rId3"/>
    <p:sldId id="16777150" r:id="rId5"/>
    <p:sldId id="16777162" r:id="rId6"/>
    <p:sldId id="16776233" r:id="rId7"/>
    <p:sldId id="16777031" r:id="rId8"/>
    <p:sldId id="16777025" r:id="rId9"/>
    <p:sldId id="16777027" r:id="rId10"/>
    <p:sldId id="16777030" r:id="rId11"/>
    <p:sldId id="16777033" r:id="rId12"/>
    <p:sldId id="16777082" r:id="rId13"/>
    <p:sldId id="16777083" r:id="rId14"/>
    <p:sldId id="16777084" r:id="rId15"/>
    <p:sldId id="16777088" r:id="rId16"/>
    <p:sldId id="16777163" r:id="rId17"/>
    <p:sldId id="16777105" r:id="rId18"/>
    <p:sldId id="16777103" r:id="rId19"/>
    <p:sldId id="16777106" r:id="rId20"/>
    <p:sldId id="16777107" r:id="rId21"/>
    <p:sldId id="16777108" r:id="rId22"/>
    <p:sldId id="16777110" r:id="rId23"/>
    <p:sldId id="16777174" r:id="rId24"/>
    <p:sldId id="16777114" r:id="rId25"/>
    <p:sldId id="16777115" r:id="rId26"/>
    <p:sldId id="16777116" r:id="rId27"/>
    <p:sldId id="16777164" r:id="rId28"/>
    <p:sldId id="16777118" r:id="rId29"/>
    <p:sldId id="16777166" r:id="rId30"/>
    <p:sldId id="16777172" r:id="rId31"/>
    <p:sldId id="16777127" r:id="rId32"/>
    <p:sldId id="16777176" r:id="rId33"/>
    <p:sldId id="16777177" r:id="rId34"/>
    <p:sldId id="16777178" r:id="rId35"/>
    <p:sldId id="16777179" r:id="rId36"/>
    <p:sldId id="16777180" r:id="rId37"/>
    <p:sldId id="16777181" r:id="rId38"/>
    <p:sldId id="16777182" r:id="rId39"/>
    <p:sldId id="16777183" r:id="rId40"/>
    <p:sldId id="16777184" r:id="rId41"/>
    <p:sldId id="258" r:id="rId42"/>
  </p:sldIdLst>
  <p:sldSz cx="12196445" cy="6858000"/>
  <p:notesSz cx="6858000" cy="9144000"/>
  <p:custDataLst>
    <p:tags r:id="rId4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课程名称" id="{5B96E69A-395F-4E53-8C2E-0E9A74E5E500}">
          <p14:sldIdLst>
            <p14:sldId id="16776232"/>
            <p14:sldId id="16777150"/>
            <p14:sldId id="16777162"/>
            <p14:sldId id="16776233"/>
            <p14:sldId id="16777031"/>
            <p14:sldId id="16777025"/>
            <p14:sldId id="16777027"/>
            <p14:sldId id="16777030"/>
            <p14:sldId id="16777033"/>
            <p14:sldId id="16777082"/>
            <p14:sldId id="16777083"/>
            <p14:sldId id="16777084"/>
            <p14:sldId id="16777088"/>
            <p14:sldId id="16777163"/>
            <p14:sldId id="16777105"/>
            <p14:sldId id="16777103"/>
            <p14:sldId id="16777106"/>
            <p14:sldId id="16777107"/>
            <p14:sldId id="16777108"/>
            <p14:sldId id="16777110"/>
            <p14:sldId id="16777174"/>
            <p14:sldId id="16777114"/>
            <p14:sldId id="16777115"/>
            <p14:sldId id="16777116"/>
            <p14:sldId id="16777164"/>
            <p14:sldId id="16777118"/>
            <p14:sldId id="16777166"/>
            <p14:sldId id="16777172"/>
            <p14:sldId id="16777127"/>
            <p14:sldId id="16777176"/>
            <p14:sldId id="16777177"/>
            <p14:sldId id="16777178"/>
            <p14:sldId id="16777179"/>
            <p14:sldId id="16777180"/>
            <p14:sldId id="16777181"/>
            <p14:sldId id="16777182"/>
            <p14:sldId id="16777183"/>
            <p14:sldId id="16777184"/>
            <p14:sldId id="258"/>
          </p14:sldIdLst>
        </p14:section>
      </p14:sectionLst>
    </p:ext>
    <p:ext uri="{EFAFB233-063F-42B5-8137-9DF3F51BA10A}">
      <p15:sldGuideLst xmlns:p15="http://schemas.microsoft.com/office/powerpoint/2012/main">
        <p15:guide id="1" pos="3653" userDrawn="1">
          <p15:clr>
            <a:srgbClr val="A4A3A4"/>
          </p15:clr>
        </p15:guide>
        <p15:guide id="2" orient="horz" pos="2121" userDrawn="1">
          <p15:clr>
            <a:srgbClr val="A4A3A4"/>
          </p15:clr>
        </p15:guide>
        <p15:guide id="3" pos="345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W" initials="hw" lastIdx="1" clrIdx="0"/>
  <p:cmAuthor id="2" name="Yechengmei" initials="Y" lastIdx="15" clrIdx="1"/>
  <p:cmAuthor id="3" name="wuzhaolin" initials="w" lastIdx="7" clrIdx="2"/>
  <p:cmAuthor id="4" name="libotao" initials="l" lastIdx="20" clrIdx="3"/>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9EA"/>
    <a:srgbClr val="9DC3E6"/>
    <a:srgbClr val="FF9900"/>
    <a:srgbClr val="C1E4E8"/>
    <a:srgbClr val="D8EEF0"/>
    <a:srgbClr val="C8102E"/>
    <a:srgbClr val="78000F"/>
    <a:srgbClr val="C7000B"/>
    <a:srgbClr val="5E5F9E"/>
    <a:srgbClr val="C0C0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294" autoAdjust="0"/>
    <p:restoredTop sz="86388" autoAdjust="0"/>
  </p:normalViewPr>
  <p:slideViewPr>
    <p:cSldViewPr snapToGrid="0" snapToObjects="1" showGuides="1">
      <p:cViewPr varScale="1">
        <p:scale>
          <a:sx n="136" d="100"/>
          <a:sy n="136" d="100"/>
        </p:scale>
        <p:origin x="208" y="80"/>
      </p:cViewPr>
      <p:guideLst>
        <p:guide pos="3653"/>
        <p:guide orient="horz" pos="2121"/>
        <p:guide pos="3452"/>
      </p:guideLst>
    </p:cSldViewPr>
  </p:slideViewPr>
  <p:outlineViewPr>
    <p:cViewPr>
      <p:scale>
        <a:sx n="33" d="100"/>
        <a:sy n="33" d="100"/>
      </p:scale>
      <p:origin x="0" y="-302"/>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96" d="100"/>
          <a:sy n="96" d="100"/>
        </p:scale>
        <p:origin x="3104" y="168"/>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8" Type="http://schemas.openxmlformats.org/officeDocument/2006/relationships/tags" Target="tags/tag49.xml"/><Relationship Id="rId47" Type="http://schemas.openxmlformats.org/officeDocument/2006/relationships/commentAuthors" Target="commentAuthors.xml"/><Relationship Id="rId46" Type="http://schemas.openxmlformats.org/officeDocument/2006/relationships/tableStyles" Target="tableStyles.xml"/><Relationship Id="rId45" Type="http://schemas.openxmlformats.org/officeDocument/2006/relationships/viewProps" Target="viewProps.xml"/><Relationship Id="rId44" Type="http://schemas.openxmlformats.org/officeDocument/2006/relationships/presProps" Target="presProps.xml"/><Relationship Id="rId43" Type="http://schemas.openxmlformats.org/officeDocument/2006/relationships/handoutMaster" Target="handoutMasters/handoutMaster1.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8CF71B8-DF2A-2E41-BE66-2E18A767DA8A}" type="datetimeFigureOut">
              <a:rPr lang="en-US" smtClean="0"/>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35F0CC5-85BE-A64A-BD47-54C66F7E93E3}"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D60A27-BF12-6744-9E93-932A0E34D8BB}"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7326F3-4732-B74B-9C70-D0992466E499}"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1219200" rtl="0" eaLnBrk="1" latinLnBrk="0" hangingPunct="1">
      <a:defRPr sz="1600" kern="1200">
        <a:solidFill>
          <a:schemeClr val="tx1"/>
        </a:solidFill>
        <a:latin typeface="+mn-lt"/>
        <a:ea typeface="+mn-ea"/>
        <a:cs typeface="+mn-cs"/>
      </a:defRPr>
    </a:lvl1pPr>
    <a:lvl2pPr marL="609600" algn="l" defTabSz="1219200" rtl="0" eaLnBrk="1" latinLnBrk="0" hangingPunct="1">
      <a:defRPr sz="1600" kern="1200">
        <a:solidFill>
          <a:schemeClr val="tx1"/>
        </a:solidFill>
        <a:latin typeface="+mn-lt"/>
        <a:ea typeface="+mn-ea"/>
        <a:cs typeface="+mn-cs"/>
      </a:defRPr>
    </a:lvl2pPr>
    <a:lvl3pPr marL="1219200" algn="l" defTabSz="1219200" rtl="0" eaLnBrk="1" latinLnBrk="0" hangingPunct="1">
      <a:defRPr sz="1600" kern="1200">
        <a:solidFill>
          <a:schemeClr val="tx1"/>
        </a:solidFill>
        <a:latin typeface="+mn-lt"/>
        <a:ea typeface="+mn-ea"/>
        <a:cs typeface="+mn-cs"/>
      </a:defRPr>
    </a:lvl3pPr>
    <a:lvl4pPr marL="1828800" algn="l" defTabSz="1219200" rtl="0" eaLnBrk="1" latinLnBrk="0" hangingPunct="1">
      <a:defRPr sz="1600" kern="1200">
        <a:solidFill>
          <a:schemeClr val="tx1"/>
        </a:solidFill>
        <a:latin typeface="+mn-lt"/>
        <a:ea typeface="+mn-ea"/>
        <a:cs typeface="+mn-cs"/>
      </a:defRPr>
    </a:lvl4pPr>
    <a:lvl5pPr marL="2438400" algn="l" defTabSz="1219200" rtl="0" eaLnBrk="1" latinLnBrk="0" hangingPunct="1">
      <a:defRPr sz="1600" kern="1200">
        <a:solidFill>
          <a:schemeClr val="tx1"/>
        </a:solidFill>
        <a:latin typeface="+mn-lt"/>
        <a:ea typeface="+mn-ea"/>
        <a:cs typeface="+mn-cs"/>
      </a:defRPr>
    </a:lvl5pPr>
    <a:lvl6pPr marL="3048000" algn="l" defTabSz="1219200" rtl="0" eaLnBrk="1" latinLnBrk="0" hangingPunct="1">
      <a:defRPr sz="1600" kern="1200">
        <a:solidFill>
          <a:schemeClr val="tx1"/>
        </a:solidFill>
        <a:latin typeface="+mn-lt"/>
        <a:ea typeface="+mn-ea"/>
        <a:cs typeface="+mn-cs"/>
      </a:defRPr>
    </a:lvl6pPr>
    <a:lvl7pPr marL="3657600" algn="l" defTabSz="1219200" rtl="0" eaLnBrk="1" latinLnBrk="0" hangingPunct="1">
      <a:defRPr sz="1600" kern="1200">
        <a:solidFill>
          <a:schemeClr val="tx1"/>
        </a:solidFill>
        <a:latin typeface="+mn-lt"/>
        <a:ea typeface="+mn-ea"/>
        <a:cs typeface="+mn-cs"/>
      </a:defRPr>
    </a:lvl7pPr>
    <a:lvl8pPr marL="4267835" algn="l" defTabSz="1219200" rtl="0" eaLnBrk="1" latinLnBrk="0" hangingPunct="1">
      <a:defRPr sz="1600" kern="1200">
        <a:solidFill>
          <a:schemeClr val="tx1"/>
        </a:solidFill>
        <a:latin typeface="+mn-lt"/>
        <a:ea typeface="+mn-ea"/>
        <a:cs typeface="+mn-cs"/>
      </a:defRPr>
    </a:lvl8pPr>
    <a:lvl9pPr marL="4877435" algn="l" defTabSz="121920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lnSpc>
                <a:spcPct val="100000"/>
              </a:lnSpc>
              <a:spcBef>
                <a:spcPts val="1200"/>
              </a:spcBef>
            </a:pPr>
            <a:r>
              <a:rPr lang="zh-CN" altLang="en-US" sz="1600" b="0" dirty="0">
                <a:solidFill>
                  <a:schemeClr val="bg1"/>
                </a:solidFill>
                <a:latin typeface="微软雅黑" panose="020B0503020204020204" pitchFamily="34" charset="-122"/>
                <a:ea typeface="微软雅黑" panose="020B0503020204020204" pitchFamily="34" charset="-122"/>
              </a:rPr>
              <a:t>图灵测试会在测试者在与被测试者 </a:t>
            </a:r>
            <a:r>
              <a:rPr lang="en-US" altLang="zh-CN" sz="1600" b="0" dirty="0">
                <a:solidFill>
                  <a:schemeClr val="bg1"/>
                </a:solidFill>
                <a:latin typeface="微软雅黑" panose="020B0503020204020204" pitchFamily="34" charset="-122"/>
                <a:ea typeface="微软雅黑" panose="020B0503020204020204" pitchFamily="34" charset="-122"/>
              </a:rPr>
              <a:t>(</a:t>
            </a:r>
            <a:r>
              <a:rPr lang="zh-CN" altLang="en-US" sz="1600" b="0" dirty="0">
                <a:solidFill>
                  <a:schemeClr val="bg1"/>
                </a:solidFill>
                <a:latin typeface="微软雅黑" panose="020B0503020204020204" pitchFamily="34" charset="-122"/>
                <a:ea typeface="微软雅黑" panose="020B0503020204020204" pitchFamily="34" charset="-122"/>
              </a:rPr>
              <a:t>一个人和一台机器</a:t>
            </a:r>
            <a:r>
              <a:rPr lang="en-US" altLang="zh-CN" sz="1600" b="0" dirty="0">
                <a:solidFill>
                  <a:schemeClr val="bg1"/>
                </a:solidFill>
                <a:latin typeface="微软雅黑" panose="020B0503020204020204" pitchFamily="34" charset="-122"/>
                <a:ea typeface="微软雅黑" panose="020B0503020204020204" pitchFamily="34" charset="-122"/>
              </a:rPr>
              <a:t>) </a:t>
            </a:r>
            <a:r>
              <a:rPr lang="zh-CN" altLang="en-US" sz="1600" b="0" dirty="0">
                <a:solidFill>
                  <a:schemeClr val="bg1"/>
                </a:solidFill>
                <a:latin typeface="微软雅黑" panose="020B0503020204020204" pitchFamily="34" charset="-122"/>
                <a:ea typeface="微软雅黑" panose="020B0503020204020204" pitchFamily="34" charset="-122"/>
              </a:rPr>
              <a:t>隔开的情况下，通过一些装置（如键盘）向被测试者随意提问。进行多次测试后，如果机器让平均每个测试者做出超过</a:t>
            </a:r>
            <a:r>
              <a:rPr lang="en-US" altLang="zh-CN" sz="1600" b="0" dirty="0">
                <a:solidFill>
                  <a:schemeClr val="bg1"/>
                </a:solidFill>
                <a:latin typeface="微软雅黑" panose="020B0503020204020204" pitchFamily="34" charset="-122"/>
                <a:ea typeface="微软雅黑" panose="020B0503020204020204" pitchFamily="34" charset="-122"/>
              </a:rPr>
              <a:t>30%</a:t>
            </a:r>
            <a:r>
              <a:rPr lang="zh-CN" altLang="en-US" sz="1600" b="0" dirty="0">
                <a:solidFill>
                  <a:schemeClr val="bg1"/>
                </a:solidFill>
                <a:latin typeface="微软雅黑" panose="020B0503020204020204" pitchFamily="34" charset="-122"/>
                <a:ea typeface="微软雅黑" panose="020B0503020204020204" pitchFamily="34" charset="-122"/>
              </a:rPr>
              <a:t>的误判，那么这台机器就通过了测试，并被认为具有人类智能</a:t>
            </a:r>
            <a:endParaRPr lang="en-US" altLang="zh-CN" sz="1600" b="0" dirty="0">
              <a:solidFill>
                <a:schemeClr val="bg1"/>
              </a:solidFill>
              <a:latin typeface="微软雅黑" panose="020B0503020204020204" pitchFamily="34" charset="-122"/>
              <a:ea typeface="微软雅黑" panose="020B0503020204020204" pitchFamily="34" charset="-122"/>
            </a:endParaRPr>
          </a:p>
          <a:p>
            <a:pPr algn="just">
              <a:lnSpc>
                <a:spcPct val="100000"/>
              </a:lnSpc>
              <a:spcBef>
                <a:spcPts val="1200"/>
              </a:spcBef>
            </a:pPr>
            <a:r>
              <a:rPr lang="zh-CN" altLang="en-US" sz="1600" b="0" dirty="0">
                <a:solidFill>
                  <a:schemeClr val="bg1"/>
                </a:solidFill>
                <a:latin typeface="微软雅黑" panose="020B0503020204020204" pitchFamily="34" charset="-122"/>
                <a:ea typeface="微软雅黑" panose="020B0503020204020204" pitchFamily="34" charset="-122"/>
              </a:rPr>
              <a:t>超过</a:t>
            </a:r>
            <a:r>
              <a:rPr lang="en-US" altLang="zh-CN" sz="1600" b="0" dirty="0">
                <a:solidFill>
                  <a:schemeClr val="bg1"/>
                </a:solidFill>
                <a:latin typeface="微软雅黑" panose="020B0503020204020204" pitchFamily="34" charset="-122"/>
                <a:ea typeface="微软雅黑" panose="020B0503020204020204" pitchFamily="34" charset="-122"/>
              </a:rPr>
              <a:t>30%</a:t>
            </a:r>
            <a:r>
              <a:rPr lang="zh-CN" altLang="en-US" sz="1600" b="0" dirty="0">
                <a:solidFill>
                  <a:schemeClr val="bg1"/>
                </a:solidFill>
                <a:latin typeface="微软雅黑" panose="020B0503020204020204" pitchFamily="34" charset="-122"/>
                <a:ea typeface="微软雅黑" panose="020B0503020204020204" pitchFamily="34" charset="-122"/>
              </a:rPr>
              <a:t>的标准是阿兰</a:t>
            </a:r>
            <a:r>
              <a:rPr lang="en-US" altLang="zh-CN" sz="1600" b="0" dirty="0">
                <a:solidFill>
                  <a:schemeClr val="bg1"/>
                </a:solidFill>
                <a:latin typeface="微软雅黑" panose="020B0503020204020204" pitchFamily="34" charset="-122"/>
                <a:ea typeface="微软雅黑" panose="020B0503020204020204" pitchFamily="34" charset="-122"/>
              </a:rPr>
              <a:t>•</a:t>
            </a:r>
            <a:r>
              <a:rPr lang="zh-CN" altLang="en-US" sz="1600" b="0" dirty="0">
                <a:solidFill>
                  <a:schemeClr val="bg1"/>
                </a:solidFill>
                <a:latin typeface="微软雅黑" panose="020B0503020204020204" pitchFamily="34" charset="-122"/>
                <a:ea typeface="微软雅黑" panose="020B0503020204020204" pitchFamily="34" charset="-122"/>
              </a:rPr>
              <a:t>图灵对</a:t>
            </a:r>
            <a:r>
              <a:rPr lang="en-US" altLang="zh-CN" sz="1600" b="0" dirty="0">
                <a:solidFill>
                  <a:schemeClr val="bg1"/>
                </a:solidFill>
                <a:latin typeface="微软雅黑" panose="020B0503020204020204" pitchFamily="34" charset="-122"/>
                <a:ea typeface="微软雅黑" panose="020B0503020204020204" pitchFamily="34" charset="-122"/>
              </a:rPr>
              <a:t>2000</a:t>
            </a:r>
            <a:r>
              <a:rPr lang="zh-CN" altLang="en-US" sz="1600" b="0" dirty="0">
                <a:solidFill>
                  <a:schemeClr val="bg1"/>
                </a:solidFill>
                <a:latin typeface="微软雅黑" panose="020B0503020204020204" pitchFamily="34" charset="-122"/>
                <a:ea typeface="微软雅黑" panose="020B0503020204020204" pitchFamily="34" charset="-122"/>
              </a:rPr>
              <a:t>年时的机器思考能力的一个预测（</a:t>
            </a:r>
            <a:r>
              <a:rPr lang="en-US" altLang="zh-CN" sz="1600" b="0" dirty="0">
                <a:solidFill>
                  <a:schemeClr val="bg1"/>
                </a:solidFill>
                <a:latin typeface="微软雅黑" panose="020B0503020204020204" pitchFamily="34" charset="-122"/>
                <a:ea typeface="微软雅黑" panose="020B0503020204020204" pitchFamily="34" charset="-122"/>
              </a:rPr>
              <a:t>100GB</a:t>
            </a:r>
            <a:r>
              <a:rPr lang="zh-CN" altLang="en-US" sz="1600" b="0" dirty="0">
                <a:solidFill>
                  <a:schemeClr val="bg1"/>
                </a:solidFill>
                <a:latin typeface="微软雅黑" panose="020B0503020204020204" pitchFamily="34" charset="-122"/>
                <a:ea typeface="微软雅黑" panose="020B0503020204020204" pitchFamily="34" charset="-122"/>
              </a:rPr>
              <a:t>存储、</a:t>
            </a:r>
            <a:r>
              <a:rPr lang="en-US" altLang="zh-CN" sz="1600" b="0" dirty="0">
                <a:solidFill>
                  <a:schemeClr val="bg1"/>
                </a:solidFill>
                <a:latin typeface="微软雅黑" panose="020B0503020204020204" pitchFamily="34" charset="-122"/>
                <a:ea typeface="微软雅黑" panose="020B0503020204020204" pitchFamily="34" charset="-122"/>
              </a:rPr>
              <a:t>5</a:t>
            </a:r>
            <a:r>
              <a:rPr lang="zh-CN" altLang="en-US" sz="1600" b="0" dirty="0">
                <a:solidFill>
                  <a:schemeClr val="bg1"/>
                </a:solidFill>
                <a:latin typeface="微软雅黑" panose="020B0503020204020204" pitchFamily="34" charset="-122"/>
                <a:ea typeface="微软雅黑" panose="020B0503020204020204" pitchFamily="34" charset="-122"/>
              </a:rPr>
              <a:t>分钟对话）。然而，现在的机器智能仍难以达到图灵测试</a:t>
            </a:r>
            <a:r>
              <a:rPr lang="en-US" altLang="zh-CN" sz="1600" b="0" dirty="0">
                <a:solidFill>
                  <a:schemeClr val="bg1"/>
                </a:solidFill>
                <a:latin typeface="微软雅黑" panose="020B0503020204020204" pitchFamily="34" charset="-122"/>
                <a:ea typeface="微软雅黑" panose="020B0503020204020204" pitchFamily="34" charset="-122"/>
              </a:rPr>
              <a:t>2000</a:t>
            </a:r>
            <a:r>
              <a:rPr lang="zh-CN" altLang="en-US" sz="1600" b="0" dirty="0">
                <a:solidFill>
                  <a:schemeClr val="bg1"/>
                </a:solidFill>
                <a:latin typeface="微软雅黑" panose="020B0503020204020204" pitchFamily="34" charset="-122"/>
                <a:ea typeface="微软雅黑" panose="020B0503020204020204" pitchFamily="34" charset="-122"/>
              </a:rPr>
              <a:t>年的标准</a:t>
            </a:r>
            <a:endParaRPr lang="en-US" altLang="zh-CN" sz="1600" b="0" dirty="0">
              <a:solidFill>
                <a:schemeClr val="bg1"/>
              </a:solidFill>
              <a:latin typeface="微软雅黑" panose="020B0503020204020204" pitchFamily="34" charset="-122"/>
              <a:ea typeface="微软雅黑" panose="020B0503020204020204" pitchFamily="34" charset="-122"/>
            </a:endParaRPr>
          </a:p>
          <a:p>
            <a:pPr algn="just">
              <a:lnSpc>
                <a:spcPct val="100000"/>
              </a:lnSpc>
              <a:spcBef>
                <a:spcPts val="1200"/>
              </a:spcBef>
            </a:pPr>
            <a:endParaRPr lang="en-US" altLang="zh-CN" sz="1600" b="0" dirty="0">
              <a:solidFill>
                <a:schemeClr val="bg1"/>
              </a:solidFill>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defRPr/>
            </a:pPr>
            <a:r>
              <a:rPr lang="zh-CN" altLang="en-US" sz="1600" b="1" kern="0" dirty="0">
                <a:solidFill>
                  <a:srgbClr val="0000FF"/>
                </a:solidFill>
                <a:latin typeface="微软雅黑" panose="020B0503020204020204" pitchFamily="34" charset="-122"/>
                <a:ea typeface="微软雅黑" panose="020B0503020204020204" pitchFamily="34" charset="-122"/>
              </a:rPr>
              <a:t>俄罗斯人开发的聊天机器人尤金</a:t>
            </a:r>
            <a:r>
              <a:rPr lang="en-US" altLang="zh-CN" sz="1600" b="1" kern="0" dirty="0">
                <a:solidFill>
                  <a:srgbClr val="0000FF"/>
                </a:solidFill>
                <a:latin typeface="微软雅黑" panose="020B0503020204020204" pitchFamily="34" charset="-122"/>
                <a:ea typeface="微软雅黑" panose="020B0503020204020204" pitchFamily="34" charset="-122"/>
              </a:rPr>
              <a:t>·</a:t>
            </a:r>
            <a:r>
              <a:rPr lang="zh-CN" altLang="en-US" sz="1600" b="1" kern="0" dirty="0">
                <a:solidFill>
                  <a:srgbClr val="0000FF"/>
                </a:solidFill>
                <a:latin typeface="微软雅黑" panose="020B0503020204020204" pitchFamily="34" charset="-122"/>
                <a:ea typeface="微软雅黑" panose="020B0503020204020204" pitchFamily="34" charset="-122"/>
              </a:rPr>
              <a:t>古斯特</a:t>
            </a:r>
            <a:r>
              <a:rPr lang="zh-CN" altLang="en-US" sz="1600" b="1" kern="0" dirty="0">
                <a:solidFill>
                  <a:srgbClr val="FF0000"/>
                </a:solidFill>
                <a:latin typeface="微软雅黑" panose="020B0503020204020204" pitchFamily="34" charset="-122"/>
                <a:ea typeface="微软雅黑" panose="020B0503020204020204" pitchFamily="34" charset="-122"/>
              </a:rPr>
              <a:t>号称</a:t>
            </a:r>
            <a:r>
              <a:rPr lang="zh-CN" altLang="en-US" sz="1600" b="1" kern="0" dirty="0">
                <a:solidFill>
                  <a:srgbClr val="0000FF"/>
                </a:solidFill>
                <a:latin typeface="微软雅黑" panose="020B0503020204020204" pitchFamily="34" charset="-122"/>
                <a:ea typeface="微软雅黑" panose="020B0503020204020204" pitchFamily="34" charset="-122"/>
              </a:rPr>
              <a:t>史上第一个通过图灵测试的智能机器人（测试通过率为</a:t>
            </a:r>
            <a:r>
              <a:rPr lang="en-US" altLang="zh-CN" sz="1600" b="1" kern="0" dirty="0">
                <a:solidFill>
                  <a:srgbClr val="0000FF"/>
                </a:solidFill>
                <a:latin typeface="微软雅黑" panose="020B0503020204020204" pitchFamily="34" charset="-122"/>
                <a:ea typeface="微软雅黑" panose="020B0503020204020204" pitchFamily="34" charset="-122"/>
              </a:rPr>
              <a:t>33%</a:t>
            </a:r>
            <a:r>
              <a:rPr lang="zh-CN" altLang="en-US" sz="1600" b="1" kern="0" dirty="0">
                <a:solidFill>
                  <a:srgbClr val="0000FF"/>
                </a:solidFill>
                <a:latin typeface="微软雅黑" panose="020B0503020204020204" pitchFamily="34" charset="-122"/>
                <a:ea typeface="微软雅黑" panose="020B0503020204020204" pitchFamily="34" charset="-122"/>
              </a:rPr>
              <a:t>）</a:t>
            </a:r>
            <a:endParaRPr lang="en-US" altLang="zh-CN" sz="1600" b="1" kern="0" dirty="0">
              <a:solidFill>
                <a:srgbClr val="0000FF"/>
              </a:solidFill>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defRPr/>
            </a:pPr>
            <a:r>
              <a:rPr lang="zh-CN" altLang="en-US" sz="1600" b="1" kern="0" dirty="0">
                <a:latin typeface="微软雅黑" panose="020B0503020204020204" pitchFamily="34" charset="-122"/>
                <a:ea typeface="微软雅黑" panose="020B0503020204020204" pitchFamily="34" charset="-122"/>
              </a:rPr>
              <a:t>尤金的设计是尽可能地利用规则漏洞，在 </a:t>
            </a:r>
            <a:r>
              <a:rPr lang="en-US" altLang="zh-CN" sz="1600" b="1" kern="0" dirty="0">
                <a:latin typeface="微软雅黑" panose="020B0503020204020204" pitchFamily="34" charset="-122"/>
                <a:ea typeface="微软雅黑" panose="020B0503020204020204" pitchFamily="34" charset="-122"/>
              </a:rPr>
              <a:t>5 </a:t>
            </a:r>
            <a:r>
              <a:rPr lang="zh-CN" altLang="en-US" sz="1600" b="1" kern="0" dirty="0">
                <a:latin typeface="微软雅黑" panose="020B0503020204020204" pitchFamily="34" charset="-122"/>
                <a:ea typeface="微软雅黑" panose="020B0503020204020204" pitchFamily="34" charset="-122"/>
              </a:rPr>
              <a:t>分钟时长内骗过评委。该程序冒充的是一个来自乌克兰、英语非母语的</a:t>
            </a:r>
            <a:r>
              <a:rPr lang="en-US" altLang="zh-CN" sz="1600" b="1" kern="0" dirty="0">
                <a:latin typeface="微软雅黑" panose="020B0503020204020204" pitchFamily="34" charset="-122"/>
                <a:ea typeface="微软雅黑" panose="020B0503020204020204" pitchFamily="34" charset="-122"/>
              </a:rPr>
              <a:t>13</a:t>
            </a:r>
            <a:r>
              <a:rPr lang="zh-CN" altLang="en-US" sz="1600" b="1" kern="0" dirty="0">
                <a:latin typeface="微软雅黑" panose="020B0503020204020204" pitchFamily="34" charset="-122"/>
                <a:ea typeface="微软雅黑" panose="020B0503020204020204" pitchFamily="34" charset="-122"/>
              </a:rPr>
              <a:t>岁小孩，这实际上不完全公平</a:t>
            </a:r>
            <a:endParaRPr lang="en-US" altLang="zh-CN" sz="1600" b="1" kern="0" dirty="0">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defRPr/>
            </a:pPr>
            <a:r>
              <a:rPr lang="zh-CN" altLang="en-US" sz="1600" b="1" kern="0" dirty="0">
                <a:latin typeface="微软雅黑" panose="020B0503020204020204" pitchFamily="34" charset="-122"/>
                <a:ea typeface="微软雅黑" panose="020B0503020204020204" pitchFamily="34" charset="-122"/>
              </a:rPr>
              <a:t>程序实际上是一套人类对话的模拟脚本，远未达到人类认知和思考的水平</a:t>
            </a:r>
            <a:endParaRPr lang="en-US" altLang="zh-CN" sz="1200" b="1" kern="0" dirty="0">
              <a:solidFill>
                <a:srgbClr val="0000FF"/>
              </a:solidFill>
              <a:latin typeface="微软雅黑" panose="020B0503020204020204" pitchFamily="34" charset="-122"/>
              <a:ea typeface="微软雅黑" panose="020B0503020204020204" pitchFamily="34" charset="-122"/>
            </a:endParaRPr>
          </a:p>
          <a:p>
            <a:pPr algn="just">
              <a:lnSpc>
                <a:spcPct val="100000"/>
              </a:lnSpc>
              <a:spcBef>
                <a:spcPts val="1200"/>
              </a:spcBef>
            </a:pPr>
            <a:endParaRPr lang="en-US" altLang="zh-CN" sz="1600" b="0" dirty="0">
              <a:solidFill>
                <a:schemeClr val="bg1"/>
              </a:solidFill>
              <a:latin typeface="微软雅黑" panose="020B0503020204020204" pitchFamily="34" charset="-122"/>
              <a:ea typeface="微软雅黑" panose="020B0503020204020204" pitchFamily="34" charset="-122"/>
            </a:endParaRPr>
          </a:p>
          <a:p>
            <a:pPr marL="0" marR="0" lvl="0" indent="0" algn="just" defTabSz="1219200" rtl="0" eaLnBrk="1" fontAlgn="auto" latinLnBrk="0" hangingPunct="1">
              <a:lnSpc>
                <a:spcPct val="100000"/>
              </a:lnSpc>
              <a:spcBef>
                <a:spcPts val="1200"/>
              </a:spcBef>
              <a:spcAft>
                <a:spcPts val="0"/>
              </a:spcAft>
              <a:buClrTx/>
              <a:buSzTx/>
              <a:buFontTx/>
              <a:buNone/>
              <a:defRPr/>
            </a:pPr>
            <a:r>
              <a:rPr lang="zh-CN" altLang="en-US" sz="1600" b="1" kern="0" dirty="0">
                <a:latin typeface="微软雅黑" panose="020B0503020204020204" pitchFamily="34" charset="-122"/>
                <a:ea typeface="微软雅黑" panose="020B0503020204020204" pitchFamily="34" charset="-122"/>
              </a:rPr>
              <a:t>除了人机对话外，</a:t>
            </a:r>
            <a:r>
              <a:rPr lang="zh-CN" altLang="en-US" sz="1600" b="1" kern="0" dirty="0">
                <a:solidFill>
                  <a:srgbClr val="FF0000"/>
                </a:solidFill>
                <a:latin typeface="微软雅黑" panose="020B0503020204020204" pitchFamily="34" charset="-122"/>
                <a:ea typeface="微软雅黑" panose="020B0503020204020204" pitchFamily="34" charset="-122"/>
              </a:rPr>
              <a:t>现实世界的智能还包含视觉、听觉、触觉，以及感知、认知、决策与推理能力</a:t>
            </a:r>
            <a:endParaRPr lang="en-US" altLang="zh-CN" sz="1600" b="1" kern="0" dirty="0">
              <a:solidFill>
                <a:srgbClr val="FF0000"/>
              </a:solidFill>
              <a:latin typeface="微软雅黑" panose="020B0503020204020204" pitchFamily="34" charset="-122"/>
              <a:ea typeface="微软雅黑" panose="020B0503020204020204" pitchFamily="34" charset="-122"/>
            </a:endParaRPr>
          </a:p>
          <a:p>
            <a:pPr marL="0" marR="0" lvl="0" indent="0" algn="just" defTabSz="1219200" rtl="0" eaLnBrk="1" fontAlgn="auto" latinLnBrk="0" hangingPunct="1">
              <a:lnSpc>
                <a:spcPct val="100000"/>
              </a:lnSpc>
              <a:spcBef>
                <a:spcPts val="1200"/>
              </a:spcBef>
              <a:spcAft>
                <a:spcPts val="0"/>
              </a:spcAft>
              <a:buClrTx/>
              <a:buSzTx/>
              <a:buFontTx/>
              <a:buNone/>
              <a:defRPr/>
            </a:pPr>
            <a:r>
              <a:rPr lang="zh-CN" altLang="en-US" sz="1600" b="1" kern="0" dirty="0">
                <a:solidFill>
                  <a:srgbClr val="FF0000"/>
                </a:solidFill>
                <a:latin typeface="微软雅黑" panose="020B0503020204020204" pitchFamily="34" charset="-122"/>
                <a:ea typeface="微软雅黑" panose="020B0503020204020204" pitchFamily="34" charset="-122"/>
              </a:rPr>
              <a:t>图灵测试是人工智能的一个充分条件，它本身并没有试图定义人工智能的范畴</a:t>
            </a:r>
            <a:r>
              <a:rPr lang="zh-CN" altLang="en-US" sz="1600" b="1" kern="0" dirty="0">
                <a:latin typeface="微软雅黑" panose="020B0503020204020204" pitchFamily="34" charset="-122"/>
                <a:ea typeface="微软雅黑" panose="020B0503020204020204" pitchFamily="34" charset="-122"/>
              </a:rPr>
              <a:t>。换句话说，一个优秀的人工智能应该“能够”通过图灵测试，但并不表明图灵测试是人工智能的全部</a:t>
            </a:r>
            <a:endParaRPr lang="en-US" altLang="zh-CN" sz="1600" b="1" kern="0" dirty="0">
              <a:latin typeface="微软雅黑" panose="020B0503020204020204" pitchFamily="34" charset="-122"/>
              <a:ea typeface="微软雅黑" panose="020B0503020204020204" pitchFamily="34" charset="-122"/>
            </a:endParaRPr>
          </a:p>
          <a:p>
            <a:pPr algn="just">
              <a:lnSpc>
                <a:spcPct val="100000"/>
              </a:lnSpc>
              <a:spcBef>
                <a:spcPts val="1200"/>
              </a:spcBef>
            </a:pPr>
            <a:endParaRPr lang="en-US" altLang="zh-CN" sz="1600" b="0" dirty="0">
              <a:solidFill>
                <a:schemeClr val="bg1"/>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07326F3-4732-B74B-9C70-D0992466E49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1CFC0AC-D6FA-4BCF-9C34-3AC85E832BB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1CFC0AC-D6FA-4BCF-9C34-3AC85E832BB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342900" indent="-342900" algn="just">
              <a:lnSpc>
                <a:spcPct val="100000"/>
              </a:lnSpc>
              <a:spcBef>
                <a:spcPts val="1200"/>
              </a:spcBef>
              <a:buAutoNum type="arabicPeriod"/>
            </a:pPr>
            <a:r>
              <a:rPr lang="en-US" altLang="zh-CN" sz="1600" kern="0">
                <a:solidFill>
                  <a:schemeClr val="bg1"/>
                </a:solidFill>
                <a:latin typeface="微软雅黑" panose="020B0503020204020204" pitchFamily="34" charset="-122"/>
                <a:ea typeface="微软雅黑" panose="020B0503020204020204" pitchFamily="34" charset="-122"/>
              </a:rPr>
              <a:t>1956</a:t>
            </a:r>
            <a:r>
              <a:rPr lang="zh-CN" altLang="en-US" sz="1600" kern="0">
                <a:solidFill>
                  <a:schemeClr val="bg1"/>
                </a:solidFill>
                <a:latin typeface="微软雅黑" panose="020B0503020204020204" pitchFamily="34" charset="-122"/>
                <a:ea typeface="微软雅黑" panose="020B0503020204020204" pitchFamily="34" charset="-122"/>
              </a:rPr>
              <a:t>年被定义；</a:t>
            </a:r>
            <a:endParaRPr lang="en-US" altLang="zh-CN" sz="1600" kern="0">
              <a:solidFill>
                <a:schemeClr val="bg1"/>
              </a:solidFill>
              <a:latin typeface="微软雅黑" panose="020B0503020204020204" pitchFamily="34" charset="-122"/>
              <a:ea typeface="微软雅黑" panose="020B0503020204020204" pitchFamily="34" charset="-122"/>
            </a:endParaRPr>
          </a:p>
          <a:p>
            <a:pPr marL="342900" indent="-342900" algn="just">
              <a:lnSpc>
                <a:spcPct val="100000"/>
              </a:lnSpc>
              <a:spcBef>
                <a:spcPts val="1200"/>
              </a:spcBef>
              <a:buAutoNum type="arabicPeriod"/>
            </a:pPr>
            <a:r>
              <a:rPr lang="en-US" altLang="zh-CN" sz="1600" kern="0">
                <a:solidFill>
                  <a:schemeClr val="bg1"/>
                </a:solidFill>
                <a:latin typeface="微软雅黑" panose="020B0503020204020204" pitchFamily="34" charset="-122"/>
                <a:ea typeface="微软雅黑" panose="020B0503020204020204" pitchFamily="34" charset="-122"/>
              </a:rPr>
              <a:t>1997</a:t>
            </a:r>
            <a:r>
              <a:rPr lang="zh-CN" altLang="en-US" sz="1600" kern="0">
                <a:solidFill>
                  <a:schemeClr val="bg1"/>
                </a:solidFill>
                <a:latin typeface="微软雅黑" panose="020B0503020204020204" pitchFamily="34" charset="-122"/>
                <a:ea typeface="微软雅黑" panose="020B0503020204020204" pitchFamily="34" charset="-122"/>
              </a:rPr>
              <a:t>年 </a:t>
            </a:r>
            <a:r>
              <a:rPr lang="en-US" altLang="zh-CN" sz="1600" kern="0">
                <a:solidFill>
                  <a:schemeClr val="bg1"/>
                </a:solidFill>
                <a:latin typeface="微软雅黑" panose="020B0503020204020204" pitchFamily="34" charset="-122"/>
                <a:ea typeface="微软雅黑" panose="020B0503020204020204" pitchFamily="34" charset="-122"/>
              </a:rPr>
              <a:t>IBM </a:t>
            </a:r>
            <a:r>
              <a:rPr lang="zh-CN" altLang="en-US" sz="1600" kern="0">
                <a:solidFill>
                  <a:schemeClr val="bg1"/>
                </a:solidFill>
                <a:latin typeface="微软雅黑" panose="020B0503020204020204" pitchFamily="34" charset="-122"/>
                <a:ea typeface="微软雅黑" panose="020B0503020204020204" pitchFamily="34" charset="-122"/>
              </a:rPr>
              <a:t>深蓝用的是博弈树搜索算法（博弈论）战胜人类</a:t>
            </a:r>
            <a:endParaRPr lang="en-US" altLang="zh-CN" sz="1600" kern="0">
              <a:solidFill>
                <a:schemeClr val="bg1"/>
              </a:solidFill>
              <a:latin typeface="微软雅黑" panose="020B0503020204020204" pitchFamily="34" charset="-122"/>
              <a:ea typeface="微软雅黑" panose="020B0503020204020204" pitchFamily="34" charset="-122"/>
            </a:endParaRPr>
          </a:p>
          <a:p>
            <a:pPr algn="l"/>
            <a:r>
              <a:rPr lang="en-US" altLang="zh-CN" b="0">
                <a:solidFill>
                  <a:srgbClr val="000000"/>
                </a:solidFill>
                <a:effectLst/>
                <a:latin typeface="ui-sans-serif"/>
              </a:rPr>
              <a:t>1997 </a:t>
            </a:r>
            <a:r>
              <a:rPr lang="zh-CN" altLang="en-US" b="0">
                <a:solidFill>
                  <a:srgbClr val="000000"/>
                </a:solidFill>
                <a:effectLst/>
                <a:latin typeface="ui-sans-serif"/>
              </a:rPr>
              <a:t>年</a:t>
            </a:r>
            <a:endParaRPr lang="zh-CN" altLang="en-US" b="0">
              <a:solidFill>
                <a:srgbClr val="000000"/>
              </a:solidFill>
              <a:effectLst/>
              <a:latin typeface="ui-sans-serif"/>
            </a:endParaRPr>
          </a:p>
          <a:p>
            <a:pPr algn="l"/>
            <a:r>
              <a:rPr lang="en-US" altLang="zh-CN" b="0">
                <a:solidFill>
                  <a:srgbClr val="000000"/>
                </a:solidFill>
                <a:effectLst/>
                <a:latin typeface="ui-sans-serif"/>
              </a:rPr>
              <a:t>IBM</a:t>
            </a:r>
            <a:r>
              <a:rPr lang="zh-CN" altLang="en-US" b="0">
                <a:solidFill>
                  <a:srgbClr val="000000"/>
                </a:solidFill>
                <a:effectLst/>
                <a:latin typeface="ui-sans-serif"/>
              </a:rPr>
              <a:t>「深蓝（</a:t>
            </a:r>
            <a:r>
              <a:rPr lang="en-US" altLang="zh-CN" b="0">
                <a:solidFill>
                  <a:srgbClr val="000000"/>
                </a:solidFill>
                <a:effectLst/>
                <a:latin typeface="ui-sans-serif"/>
              </a:rPr>
              <a:t>Deep Blue</a:t>
            </a:r>
            <a:r>
              <a:rPr lang="zh-CN" altLang="en-US" b="0">
                <a:solidFill>
                  <a:srgbClr val="000000"/>
                </a:solidFill>
                <a:effectLst/>
                <a:latin typeface="ui-sans-serif"/>
              </a:rPr>
              <a:t>）」在国际象棋人机对战中，击败世界棋王卡斯帕罗夫，这是经典里程碑事件。</a:t>
            </a:r>
            <a:endParaRPr lang="zh-CN" altLang="en-US" b="0">
              <a:solidFill>
                <a:srgbClr val="000000"/>
              </a:solidFill>
              <a:effectLst/>
              <a:latin typeface="ui-sans-serif"/>
            </a:endParaRPr>
          </a:p>
          <a:p>
            <a:pPr algn="l"/>
            <a:r>
              <a:rPr lang="zh-CN" altLang="en-US" b="0">
                <a:solidFill>
                  <a:srgbClr val="000000"/>
                </a:solidFill>
                <a:effectLst/>
                <a:latin typeface="ui-sans-serif"/>
              </a:rPr>
              <a:t>二、核心算法与技术</a:t>
            </a:r>
            <a:endParaRPr lang="zh-CN" altLang="en-US" b="0">
              <a:solidFill>
                <a:srgbClr val="000000"/>
              </a:solidFill>
              <a:effectLst/>
              <a:latin typeface="ui-sans-serif"/>
            </a:endParaRPr>
          </a:p>
          <a:p>
            <a:pPr algn="l">
              <a:buFont typeface="+mj-lt"/>
              <a:buAutoNum type="arabicPeriod"/>
            </a:pPr>
            <a:r>
              <a:rPr lang="zh-CN" altLang="en-US" b="0">
                <a:solidFill>
                  <a:srgbClr val="000000"/>
                </a:solidFill>
                <a:effectLst/>
                <a:latin typeface="ui-sans-serif"/>
              </a:rPr>
              <a:t>核心算法：极大极小算法 </a:t>
            </a:r>
            <a:r>
              <a:rPr lang="en-US" altLang="zh-CN" b="0">
                <a:solidFill>
                  <a:srgbClr val="000000"/>
                </a:solidFill>
                <a:effectLst/>
                <a:latin typeface="ui-sans-serif"/>
              </a:rPr>
              <a:t>+ α-β </a:t>
            </a:r>
            <a:r>
              <a:rPr lang="zh-CN" altLang="en-US" b="0">
                <a:solidFill>
                  <a:srgbClr val="000000"/>
                </a:solidFill>
                <a:effectLst/>
                <a:latin typeface="ui-sans-serif"/>
              </a:rPr>
              <a:t>剪枝（博弈树搜索算法）</a:t>
            </a:r>
            <a:endParaRPr lang="zh-CN" altLang="en-US" b="0">
              <a:solidFill>
                <a:srgbClr val="000000"/>
              </a:solidFill>
              <a:effectLst/>
              <a:latin typeface="ui-sans-serif"/>
            </a:endParaRPr>
          </a:p>
          <a:p>
            <a:pPr algn="l">
              <a:buFont typeface="+mj-lt"/>
              <a:buAutoNum type="arabicPeriod"/>
            </a:pPr>
            <a:r>
              <a:rPr lang="zh-CN" altLang="en-US" b="0">
                <a:solidFill>
                  <a:srgbClr val="000000"/>
                </a:solidFill>
                <a:effectLst/>
                <a:latin typeface="ui-sans-serif"/>
              </a:rPr>
              <a:t>配套技术 暴力搜索：依靠强大算力遍历海量落子可能性，每秒可推演约 </a:t>
            </a:r>
            <a:r>
              <a:rPr lang="en-US" altLang="zh-CN" b="0">
                <a:solidFill>
                  <a:srgbClr val="000000"/>
                </a:solidFill>
                <a:effectLst/>
                <a:latin typeface="ui-sans-serif"/>
              </a:rPr>
              <a:t>2 </a:t>
            </a:r>
            <a:r>
              <a:rPr lang="zh-CN" altLang="en-US" b="0">
                <a:solidFill>
                  <a:srgbClr val="000000"/>
                </a:solidFill>
                <a:effectLst/>
                <a:latin typeface="ui-sans-serif"/>
              </a:rPr>
              <a:t>亿步棋局；</a:t>
            </a:r>
            <a:endParaRPr lang="zh-CN" altLang="en-US" b="0">
              <a:solidFill>
                <a:srgbClr val="000000"/>
              </a:solidFill>
              <a:effectLst/>
              <a:latin typeface="ui-sans-serif"/>
            </a:endParaRPr>
          </a:p>
          <a:p>
            <a:pPr algn="l">
              <a:buFont typeface="+mj-lt"/>
              <a:buAutoNum type="arabicPeriod"/>
            </a:pPr>
            <a:r>
              <a:rPr lang="zh-CN" altLang="en-US" b="0">
                <a:solidFill>
                  <a:srgbClr val="000000"/>
                </a:solidFill>
                <a:effectLst/>
                <a:latin typeface="ui-sans-serif"/>
              </a:rPr>
              <a:t>人工棋谱知识库：内置海量人类大师对局经验、残局库，辅助局面评估；</a:t>
            </a:r>
            <a:endParaRPr lang="zh-CN" altLang="en-US" b="0">
              <a:solidFill>
                <a:srgbClr val="000000"/>
              </a:solidFill>
              <a:effectLst/>
              <a:latin typeface="ui-sans-serif"/>
            </a:endParaRPr>
          </a:p>
          <a:p>
            <a:pPr algn="l">
              <a:buFont typeface="+mj-lt"/>
              <a:buAutoNum type="arabicPeriod"/>
            </a:pPr>
            <a:r>
              <a:rPr lang="zh-CN" altLang="en-US" b="0">
                <a:solidFill>
                  <a:srgbClr val="000000"/>
                </a:solidFill>
                <a:effectLst/>
                <a:latin typeface="ui-sans-serif"/>
              </a:rPr>
              <a:t>局面评价函数：对棋盘局势打分，筛选最优落子，并非深度学习 </a:t>
            </a:r>
            <a:r>
              <a:rPr lang="en-US" altLang="zh-CN" b="0">
                <a:solidFill>
                  <a:srgbClr val="000000"/>
                </a:solidFill>
                <a:effectLst/>
                <a:latin typeface="ui-sans-serif"/>
              </a:rPr>
              <a:t>/ </a:t>
            </a:r>
            <a:r>
              <a:rPr lang="zh-CN" altLang="en-US" b="0">
                <a:solidFill>
                  <a:srgbClr val="000000"/>
                </a:solidFill>
                <a:effectLst/>
                <a:latin typeface="ui-sans-serif"/>
              </a:rPr>
              <a:t>人工智能模型。</a:t>
            </a:r>
            <a:endParaRPr lang="zh-CN" altLang="en-US" b="0">
              <a:solidFill>
                <a:srgbClr val="000000"/>
              </a:solidFill>
              <a:effectLst/>
              <a:latin typeface="ui-sans-serif"/>
            </a:endParaRPr>
          </a:p>
          <a:p>
            <a:pPr algn="l"/>
            <a:r>
              <a:rPr lang="zh-CN" altLang="en-US" b="0">
                <a:solidFill>
                  <a:srgbClr val="000000"/>
                </a:solidFill>
                <a:effectLst/>
                <a:latin typeface="ui-sans-serif"/>
              </a:rPr>
              <a:t>补充说明</a:t>
            </a:r>
            <a:endParaRPr lang="zh-CN" altLang="en-US" b="0">
              <a:solidFill>
                <a:srgbClr val="000000"/>
              </a:solidFill>
              <a:effectLst/>
              <a:latin typeface="ui-sans-serif"/>
            </a:endParaRPr>
          </a:p>
          <a:p>
            <a:pPr algn="l">
              <a:buFont typeface="Arial" panose="020B0604020202020204" pitchFamily="34" charset="0"/>
              <a:buChar char="•"/>
            </a:pPr>
            <a:r>
              <a:rPr lang="zh-CN" altLang="en-US" b="0">
                <a:solidFill>
                  <a:srgbClr val="000000"/>
                </a:solidFill>
                <a:effectLst/>
                <a:latin typeface="ui-sans-serif"/>
              </a:rPr>
              <a:t>深蓝属于传统博弈程序，和当下深度学习 </a:t>
            </a:r>
            <a:r>
              <a:rPr lang="en-US" altLang="zh-CN" b="0">
                <a:solidFill>
                  <a:srgbClr val="000000"/>
                </a:solidFill>
                <a:effectLst/>
                <a:latin typeface="ui-sans-serif"/>
              </a:rPr>
              <a:t>AI </a:t>
            </a:r>
            <a:r>
              <a:rPr lang="zh-CN" altLang="en-US" b="0">
                <a:solidFill>
                  <a:srgbClr val="000000"/>
                </a:solidFill>
                <a:effectLst/>
                <a:latin typeface="ui-sans-serif"/>
              </a:rPr>
              <a:t>技术路线完全不同，是算力 </a:t>
            </a:r>
            <a:r>
              <a:rPr lang="en-US" altLang="zh-CN" b="0">
                <a:solidFill>
                  <a:srgbClr val="000000"/>
                </a:solidFill>
                <a:effectLst/>
                <a:latin typeface="ui-sans-serif"/>
              </a:rPr>
              <a:t>+ </a:t>
            </a:r>
            <a:r>
              <a:rPr lang="zh-CN" altLang="en-US" b="0">
                <a:solidFill>
                  <a:srgbClr val="000000"/>
                </a:solidFill>
                <a:effectLst/>
                <a:latin typeface="ui-sans-serif"/>
              </a:rPr>
              <a:t>经典搜索算法的胜利。</a:t>
            </a:r>
            <a:endParaRPr lang="zh-CN" altLang="en-US" b="0">
              <a:solidFill>
                <a:srgbClr val="000000"/>
              </a:solidFill>
              <a:effectLst/>
              <a:latin typeface="ui-sans-serif"/>
            </a:endParaRPr>
          </a:p>
          <a:p>
            <a:pPr algn="l">
              <a:buFont typeface="Arial" panose="020B0604020202020204" pitchFamily="34" charset="0"/>
              <a:buChar char="•"/>
            </a:pPr>
            <a:r>
              <a:rPr lang="zh-CN" altLang="en-US" b="0">
                <a:solidFill>
                  <a:srgbClr val="000000"/>
                </a:solidFill>
                <a:effectLst/>
                <a:latin typeface="ui-sans-serif"/>
              </a:rPr>
              <a:t>预赛版本 </a:t>
            </a:r>
            <a:r>
              <a:rPr lang="en-US" altLang="zh-CN" b="0">
                <a:solidFill>
                  <a:srgbClr val="000000"/>
                </a:solidFill>
                <a:effectLst/>
                <a:latin typeface="ui-sans-serif"/>
              </a:rPr>
              <a:t>1996 </a:t>
            </a:r>
            <a:r>
              <a:rPr lang="zh-CN" altLang="en-US" b="0">
                <a:solidFill>
                  <a:srgbClr val="000000"/>
                </a:solidFill>
                <a:effectLst/>
                <a:latin typeface="ui-sans-serif"/>
              </a:rPr>
              <a:t>年曾对战卡斯帕罗夫，</a:t>
            </a:r>
            <a:r>
              <a:rPr lang="en-US" altLang="zh-CN" b="0">
                <a:solidFill>
                  <a:srgbClr val="000000"/>
                </a:solidFill>
                <a:effectLst/>
                <a:latin typeface="ui-sans-serif"/>
              </a:rPr>
              <a:t>1997 </a:t>
            </a:r>
            <a:r>
              <a:rPr lang="zh-CN" altLang="en-US" b="0">
                <a:solidFill>
                  <a:srgbClr val="000000"/>
                </a:solidFill>
                <a:effectLst/>
                <a:latin typeface="ui-sans-serif"/>
              </a:rPr>
              <a:t>年升级版完成正式取胜。</a:t>
            </a:r>
            <a:endParaRPr lang="en-US" altLang="zh-CN" b="0">
              <a:solidFill>
                <a:srgbClr val="000000"/>
              </a:solidFill>
              <a:effectLst/>
              <a:latin typeface="ui-sans-serif"/>
            </a:endParaRPr>
          </a:p>
          <a:p>
            <a:pPr algn="l">
              <a:buFont typeface="Arial" panose="020B0604020202020204" pitchFamily="34" charset="0"/>
              <a:buNone/>
            </a:pPr>
            <a:endParaRPr lang="en-US" altLang="zh-CN" b="0">
              <a:solidFill>
                <a:srgbClr val="000000"/>
              </a:solidFill>
              <a:effectLst/>
              <a:latin typeface="ui-sans-serif"/>
            </a:endParaRPr>
          </a:p>
          <a:p>
            <a:pPr marL="0" marR="0" lvl="0" indent="0" algn="l" defTabSz="1219200" rtl="0" eaLnBrk="1" fontAlgn="auto" latinLnBrk="0" hangingPunct="1">
              <a:lnSpc>
                <a:spcPct val="100000"/>
              </a:lnSpc>
              <a:spcBef>
                <a:spcPts val="0"/>
              </a:spcBef>
              <a:spcAft>
                <a:spcPts val="0"/>
              </a:spcAft>
              <a:buClrTx/>
              <a:buSzTx/>
              <a:buFont typeface="Arial" panose="020B0604020202020204" pitchFamily="34" charset="0"/>
              <a:buNone/>
              <a:defRPr/>
            </a:pPr>
            <a:r>
              <a:rPr lang="en-US" altLang="zh-CN" b="0">
                <a:solidFill>
                  <a:srgbClr val="000000"/>
                </a:solidFill>
                <a:effectLst/>
                <a:latin typeface="ui-sans-serif"/>
              </a:rPr>
              <a:t>3. </a:t>
            </a:r>
            <a:r>
              <a:rPr lang="zh-CN" altLang="en-US" b="0">
                <a:solidFill>
                  <a:srgbClr val="000000"/>
                </a:solidFill>
                <a:effectLst/>
                <a:latin typeface="ui-sans-serif"/>
              </a:rPr>
              <a:t>其实更早的是</a:t>
            </a:r>
            <a:r>
              <a:rPr lang="en-US" altLang="zh-CN" b="0">
                <a:solidFill>
                  <a:srgbClr val="000000"/>
                </a:solidFill>
                <a:effectLst/>
                <a:latin typeface="ui-sans-serif"/>
              </a:rPr>
              <a:t>2012</a:t>
            </a:r>
            <a:r>
              <a:rPr lang="zh-CN" altLang="en-US" b="0">
                <a:solidFill>
                  <a:srgbClr val="000000"/>
                </a:solidFill>
                <a:effectLst/>
                <a:latin typeface="ui-sans-serif"/>
              </a:rPr>
              <a:t>年的</a:t>
            </a:r>
            <a:r>
              <a:rPr lang="en-US" altLang="zh-CN" b="0">
                <a:solidFill>
                  <a:srgbClr val="000000"/>
                </a:solidFill>
                <a:effectLst/>
                <a:latin typeface="ui-sans-serif"/>
              </a:rPr>
              <a:t>Alexnet </a:t>
            </a:r>
            <a:r>
              <a:rPr lang="zh-CN" altLang="en-US" b="0">
                <a:solidFill>
                  <a:srgbClr val="000000"/>
                </a:solidFill>
                <a:effectLst/>
                <a:latin typeface="ui-sans-serif"/>
              </a:rPr>
              <a:t>错误率</a:t>
            </a:r>
            <a:r>
              <a:rPr lang="en-US" altLang="zh-CN" b="0">
                <a:solidFill>
                  <a:srgbClr val="000000"/>
                </a:solidFill>
                <a:effectLst/>
                <a:latin typeface="ui-sans-serif"/>
              </a:rPr>
              <a:t>16.4</a:t>
            </a:r>
            <a:r>
              <a:rPr lang="zh-CN" altLang="en-US" b="0">
                <a:solidFill>
                  <a:srgbClr val="000000"/>
                </a:solidFill>
                <a:effectLst/>
                <a:latin typeface="ui-sans-serif"/>
              </a:rPr>
              <a:t>，准确率接近</a:t>
            </a:r>
            <a:r>
              <a:rPr lang="en-US" altLang="zh-CN" b="0">
                <a:solidFill>
                  <a:srgbClr val="000000"/>
                </a:solidFill>
                <a:effectLst/>
                <a:latin typeface="ui-sans-serif"/>
              </a:rPr>
              <a:t>85%</a:t>
            </a:r>
            <a:r>
              <a:rPr lang="zh-CN" altLang="en-US" b="0">
                <a:solidFill>
                  <a:srgbClr val="000000"/>
                </a:solidFill>
                <a:effectLst/>
                <a:latin typeface="ui-sans-serif"/>
              </a:rPr>
              <a:t>，深度学习开始爆发；</a:t>
            </a:r>
            <a:r>
              <a:rPr lang="en-US" altLang="zh-CN" b="0">
                <a:solidFill>
                  <a:srgbClr val="000000"/>
                </a:solidFill>
                <a:effectLst/>
                <a:latin typeface="ui-sans-serif"/>
              </a:rPr>
              <a:t>Alexnet</a:t>
            </a:r>
            <a:r>
              <a:rPr lang="zh-CN" altLang="en-US" b="0">
                <a:solidFill>
                  <a:srgbClr val="000000"/>
                </a:solidFill>
                <a:effectLst/>
                <a:latin typeface="ui-sans-serif"/>
              </a:rPr>
              <a:t>参数量 </a:t>
            </a:r>
            <a:r>
              <a:rPr lang="en-US" altLang="zh-CN" b="0">
                <a:solidFill>
                  <a:srgbClr val="000000"/>
                </a:solidFill>
                <a:effectLst/>
                <a:latin typeface="ui-sans-serif"/>
              </a:rPr>
              <a:t>61M</a:t>
            </a:r>
            <a:endParaRPr lang="en-US" altLang="zh-CN" b="0">
              <a:solidFill>
                <a:srgbClr val="000000"/>
              </a:solidFill>
              <a:effectLst/>
              <a:latin typeface="ui-sans-serif"/>
            </a:endParaRPr>
          </a:p>
          <a:p>
            <a:pPr algn="l">
              <a:buFont typeface="Arial" panose="020B0604020202020204" pitchFamily="34" charset="0"/>
              <a:buNone/>
            </a:pPr>
            <a:endParaRPr lang="en-US" altLang="zh-CN" b="0">
              <a:solidFill>
                <a:srgbClr val="000000"/>
              </a:solidFill>
              <a:effectLst/>
              <a:latin typeface="ui-sans-serif"/>
            </a:endParaRPr>
          </a:p>
          <a:p>
            <a:pPr algn="l">
              <a:buFont typeface="Arial" panose="020B0604020202020204" pitchFamily="34" charset="0"/>
              <a:buNone/>
            </a:pPr>
            <a:r>
              <a:rPr lang="en-US" altLang="zh-CN" b="0">
                <a:solidFill>
                  <a:srgbClr val="000000"/>
                </a:solidFill>
                <a:effectLst/>
                <a:latin typeface="ui-sans-serif"/>
              </a:rPr>
              <a:t>4. 2015 </a:t>
            </a:r>
            <a:r>
              <a:rPr lang="zh-CN" altLang="en-US" b="0">
                <a:solidFill>
                  <a:srgbClr val="000000"/>
                </a:solidFill>
                <a:effectLst/>
                <a:latin typeface="ui-sans-serif"/>
              </a:rPr>
              <a:t>年 </a:t>
            </a:r>
            <a:r>
              <a:rPr lang="en-US" altLang="zh-CN" b="0">
                <a:solidFill>
                  <a:srgbClr val="000000"/>
                </a:solidFill>
                <a:effectLst/>
                <a:latin typeface="ui-sans-serif"/>
              </a:rPr>
              <a:t>Resnet 50</a:t>
            </a:r>
            <a:r>
              <a:rPr lang="zh-CN" altLang="en-US" b="0">
                <a:solidFill>
                  <a:srgbClr val="000000"/>
                </a:solidFill>
                <a:effectLst/>
                <a:latin typeface="ui-sans-serif"/>
              </a:rPr>
              <a:t>在</a:t>
            </a:r>
            <a:r>
              <a:rPr lang="en-US" altLang="zh-CN" b="0">
                <a:solidFill>
                  <a:srgbClr val="000000"/>
                </a:solidFill>
                <a:effectLst/>
                <a:latin typeface="ui-sans-serif"/>
              </a:rPr>
              <a:t>imagenet</a:t>
            </a:r>
            <a:r>
              <a:rPr lang="zh-CN" altLang="en-US" b="0">
                <a:solidFill>
                  <a:srgbClr val="000000"/>
                </a:solidFill>
                <a:effectLst/>
                <a:latin typeface="ui-sans-serif"/>
              </a:rPr>
              <a:t>上把</a:t>
            </a:r>
            <a:r>
              <a:rPr lang="en-US" altLang="zh-CN" b="0">
                <a:solidFill>
                  <a:srgbClr val="000000"/>
                </a:solidFill>
                <a:effectLst/>
                <a:latin typeface="ui-sans-serif"/>
              </a:rPr>
              <a:t>Top5</a:t>
            </a:r>
            <a:r>
              <a:rPr lang="zh-CN" altLang="en-US" b="0">
                <a:solidFill>
                  <a:srgbClr val="000000"/>
                </a:solidFill>
                <a:effectLst/>
                <a:latin typeface="ui-sans-serif"/>
              </a:rPr>
              <a:t>错误率做到</a:t>
            </a:r>
            <a:r>
              <a:rPr lang="en-US" altLang="zh-CN" b="0">
                <a:solidFill>
                  <a:srgbClr val="000000"/>
                </a:solidFill>
                <a:effectLst/>
                <a:latin typeface="ui-sans-serif"/>
              </a:rPr>
              <a:t>3.57%</a:t>
            </a:r>
            <a:r>
              <a:rPr lang="zh-CN" altLang="en-US" b="0">
                <a:solidFill>
                  <a:srgbClr val="000000"/>
                </a:solidFill>
                <a:effectLst/>
                <a:latin typeface="ui-sans-serif"/>
              </a:rPr>
              <a:t>，也就是准确率做到了</a:t>
            </a:r>
            <a:r>
              <a:rPr lang="en-US" altLang="zh-CN" b="0">
                <a:solidFill>
                  <a:srgbClr val="000000"/>
                </a:solidFill>
                <a:effectLst/>
                <a:latin typeface="ui-sans-serif"/>
              </a:rPr>
              <a:t>96%</a:t>
            </a:r>
            <a:r>
              <a:rPr lang="zh-CN" altLang="en-US" b="0">
                <a:solidFill>
                  <a:srgbClr val="000000"/>
                </a:solidFill>
                <a:effectLst/>
                <a:latin typeface="ui-sans-serif"/>
              </a:rPr>
              <a:t>，超过人类</a:t>
            </a:r>
            <a:endParaRPr lang="en-US" altLang="zh-CN" b="0">
              <a:solidFill>
                <a:srgbClr val="000000"/>
              </a:solidFill>
              <a:effectLst/>
              <a:latin typeface="ui-sans-serif"/>
            </a:endParaRPr>
          </a:p>
          <a:p>
            <a:pPr algn="l">
              <a:buFont typeface="Arial" panose="020B0604020202020204" pitchFamily="34" charset="0"/>
              <a:buNone/>
            </a:pPr>
            <a:r>
              <a:rPr lang="en-US" altLang="zh-CN" b="0">
                <a:solidFill>
                  <a:srgbClr val="000000"/>
                </a:solidFill>
                <a:effectLst/>
                <a:latin typeface="ui-sans-serif"/>
              </a:rPr>
              <a:t>5. Resnet50 25.6M</a:t>
            </a:r>
            <a:endParaRPr lang="en-US" altLang="zh-CN" b="0">
              <a:solidFill>
                <a:srgbClr val="000000"/>
              </a:solidFill>
              <a:effectLst/>
              <a:latin typeface="ui-sans-serif"/>
            </a:endParaRPr>
          </a:p>
          <a:p>
            <a:pPr algn="l">
              <a:buFont typeface="Arial" panose="020B0604020202020204" pitchFamily="34" charset="0"/>
              <a:buNone/>
            </a:pPr>
            <a:r>
              <a:rPr lang="en-US" altLang="zh-CN" b="0">
                <a:solidFill>
                  <a:srgbClr val="000000"/>
                </a:solidFill>
                <a:effectLst/>
                <a:latin typeface="ui-sans-serif"/>
              </a:rPr>
              <a:t>6. 2020 </a:t>
            </a:r>
            <a:r>
              <a:rPr lang="zh-CN" altLang="en-US" b="0">
                <a:solidFill>
                  <a:srgbClr val="000000"/>
                </a:solidFill>
                <a:effectLst/>
                <a:latin typeface="ui-sans-serif"/>
              </a:rPr>
              <a:t>年 </a:t>
            </a:r>
            <a:r>
              <a:rPr lang="en-US" altLang="zh-CN" b="0">
                <a:solidFill>
                  <a:srgbClr val="000000"/>
                </a:solidFill>
                <a:effectLst/>
                <a:latin typeface="ui-sans-serif"/>
              </a:rPr>
              <a:t>11/12 </a:t>
            </a:r>
            <a:r>
              <a:rPr lang="zh-CN" altLang="en-US" b="0">
                <a:solidFill>
                  <a:srgbClr val="000000"/>
                </a:solidFill>
                <a:effectLst/>
                <a:latin typeface="ui-sans-serif"/>
              </a:rPr>
              <a:t>月</a:t>
            </a:r>
            <a:r>
              <a:rPr lang="zh-CN" altLang="en-US"/>
              <a:t>：在 </a:t>
            </a:r>
            <a:r>
              <a:rPr lang="en-US" altLang="zh-CN" b="0">
                <a:solidFill>
                  <a:srgbClr val="000000"/>
                </a:solidFill>
                <a:effectLst/>
                <a:latin typeface="ui-sans-serif"/>
              </a:rPr>
              <a:t>CASP14</a:t>
            </a:r>
            <a:r>
              <a:rPr lang="zh-CN" altLang="en-US"/>
              <a:t> 竞赛中，</a:t>
            </a:r>
            <a:r>
              <a:rPr lang="en-US" altLang="zh-CN"/>
              <a:t>AlphaFold2 </a:t>
            </a:r>
            <a:r>
              <a:rPr lang="zh-CN" altLang="en-US"/>
              <a:t>以</a:t>
            </a:r>
            <a:r>
              <a:rPr lang="zh-CN" altLang="en-US" b="0">
                <a:solidFill>
                  <a:srgbClr val="000000"/>
                </a:solidFill>
                <a:effectLst/>
                <a:latin typeface="ui-sans-serif"/>
              </a:rPr>
              <a:t>原子级精度</a:t>
            </a:r>
            <a:r>
              <a:rPr lang="zh-CN" altLang="en-US"/>
              <a:t>解决蛋白质折叠问题，被</a:t>
            </a:r>
            <a:r>
              <a:rPr lang="en-US" altLang="zh-CN"/>
              <a:t>《</a:t>
            </a:r>
            <a:r>
              <a:rPr lang="zh-CN" altLang="en-US"/>
              <a:t>科学</a:t>
            </a:r>
            <a:r>
              <a:rPr lang="en-US" altLang="zh-CN"/>
              <a:t>》《</a:t>
            </a:r>
            <a:r>
              <a:rPr lang="zh-CN" altLang="en-US"/>
              <a:t>自然</a:t>
            </a:r>
            <a:r>
              <a:rPr lang="en-US" altLang="zh-CN"/>
              <a:t>》</a:t>
            </a:r>
            <a:r>
              <a:rPr lang="zh-CN" altLang="en-US"/>
              <a:t>称为 “</a:t>
            </a:r>
            <a:r>
              <a:rPr lang="en-US" altLang="zh-CN"/>
              <a:t>50 </a:t>
            </a:r>
            <a:r>
              <a:rPr lang="zh-CN" altLang="en-US"/>
              <a:t>年难题终破”。</a:t>
            </a:r>
            <a:endParaRPr lang="en-US" altLang="zh-CN"/>
          </a:p>
          <a:p>
            <a:pPr algn="l">
              <a:buFont typeface="Arial" panose="020B0604020202020204" pitchFamily="34" charset="0"/>
              <a:buNone/>
            </a:pPr>
            <a:r>
              <a:rPr lang="en-US" altLang="zh-CN" b="0">
                <a:solidFill>
                  <a:srgbClr val="000000"/>
                </a:solidFill>
                <a:effectLst/>
                <a:latin typeface="ui-sans-serif"/>
              </a:rPr>
              <a:t>7. GAN</a:t>
            </a:r>
            <a:r>
              <a:rPr lang="zh-CN" altLang="en-US" b="0">
                <a:solidFill>
                  <a:srgbClr val="000000"/>
                </a:solidFill>
                <a:effectLst/>
                <a:latin typeface="ui-sans-serif"/>
              </a:rPr>
              <a:t>生成对抗网络（图像生成、风格迁移、图像消除等）</a:t>
            </a:r>
            <a:endParaRPr lang="en-US" altLang="zh-CN" b="0">
              <a:solidFill>
                <a:srgbClr val="000000"/>
              </a:solidFill>
              <a:effectLst/>
              <a:latin typeface="ui-sans-serif"/>
            </a:endParaRPr>
          </a:p>
          <a:p>
            <a:pPr algn="l">
              <a:buFont typeface="Arial" panose="020B0604020202020204" pitchFamily="34" charset="0"/>
              <a:buNone/>
            </a:pPr>
            <a:r>
              <a:rPr lang="en-US" altLang="zh-CN" b="0">
                <a:solidFill>
                  <a:srgbClr val="000000"/>
                </a:solidFill>
                <a:effectLst/>
                <a:latin typeface="ui-sans-serif"/>
              </a:rPr>
              <a:t>8. AI4S </a:t>
            </a:r>
            <a:r>
              <a:rPr lang="zh-CN" altLang="en-US" b="0">
                <a:solidFill>
                  <a:srgbClr val="000000"/>
                </a:solidFill>
                <a:effectLst/>
                <a:latin typeface="ui-sans-serif"/>
              </a:rPr>
              <a:t>人工智能驱动科学研究</a:t>
            </a:r>
            <a:endParaRPr lang="en-US" altLang="zh-CN" b="0">
              <a:solidFill>
                <a:srgbClr val="000000"/>
              </a:solidFill>
              <a:effectLst/>
              <a:latin typeface="ui-sans-serif"/>
            </a:endParaRPr>
          </a:p>
          <a:p>
            <a:pPr algn="l">
              <a:buFont typeface="Arial" panose="020B0604020202020204" pitchFamily="34" charset="0"/>
              <a:buNone/>
            </a:pPr>
            <a:endParaRPr lang="en-US" altLang="zh-CN" b="0">
              <a:solidFill>
                <a:srgbClr val="000000"/>
              </a:solidFill>
              <a:effectLst/>
              <a:latin typeface="ui-sans-serif"/>
            </a:endParaRPr>
          </a:p>
          <a:p>
            <a:pPr algn="l">
              <a:buFont typeface="Arial" panose="020B0604020202020204" pitchFamily="34" charset="0"/>
              <a:buNone/>
            </a:pPr>
            <a:endParaRPr lang="zh-CN" altLang="en-US" b="0">
              <a:solidFill>
                <a:srgbClr val="000000"/>
              </a:solidFill>
              <a:effectLst/>
              <a:latin typeface="ui-sans-serif"/>
            </a:endParaRPr>
          </a:p>
          <a:p>
            <a:pPr marL="342900" indent="-342900" algn="just">
              <a:lnSpc>
                <a:spcPct val="100000"/>
              </a:lnSpc>
              <a:spcBef>
                <a:spcPts val="1200"/>
              </a:spcBef>
              <a:buAutoNum type="arabicPeriod"/>
            </a:pPr>
            <a:endParaRPr lang="en-US" altLang="zh-CN" sz="1600" kern="0" dirty="0">
              <a:solidFill>
                <a:schemeClr val="bg1"/>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07326F3-4732-B74B-9C70-D0992466E49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知识背景阅读（请反复阅读）：</a:t>
            </a:r>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https://cloud.google.com/discover/deep-learning-vs-machine-learning?hl=zh_cn</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r>
              <a:rPr lang="zh-CN" altLang="en-US" sz="1400" b="0" i="0" dirty="0">
                <a:solidFill>
                  <a:srgbClr val="202124"/>
                </a:solidFill>
                <a:effectLst/>
                <a:latin typeface="Google Sans"/>
              </a:rPr>
              <a:t>机器学习是人工智能的一个分支。然后，深度学习也是机器学习的一分支。从本质上讲，所有深度学习都是机器学习，所有机器学习都是人工智能，但并非所有人工智能都是机器学习。</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“人工智能”是“一门技术科学”，它研究与开发的对象是“理论、技术及应用系统”，研究的目的是为了“模拟、延伸和扩展人的智能”。</a:t>
            </a:r>
            <a:endParaRPr lang="en-US" altLang="zh-CN" sz="1200" b="0" i="0" kern="1200" dirty="0">
              <a:solidFill>
                <a:schemeClr val="tx1"/>
              </a:solidFill>
              <a:effectLst/>
              <a:latin typeface="+mn-lt"/>
              <a:ea typeface="+mn-ea"/>
              <a:cs typeface="+mn-cs"/>
            </a:endParaRPr>
          </a:p>
          <a:p>
            <a:pPr marL="0" marR="0" lvl="0" indent="0" algn="l" defTabSz="1219200" rtl="0" eaLnBrk="1" fontAlgn="auto" latinLnBrk="0" hangingPunct="1">
              <a:lnSpc>
                <a:spcPct val="100000"/>
              </a:lnSpc>
              <a:spcBef>
                <a:spcPts val="0"/>
              </a:spcBef>
              <a:spcAft>
                <a:spcPts val="0"/>
              </a:spcAft>
              <a:buClrTx/>
              <a:buSzTx/>
              <a:buFontTx/>
              <a:buNone/>
              <a:defRPr/>
            </a:pPr>
            <a:r>
              <a:rPr lang="zh-CN" altLang="en-US" sz="1200" b="0" i="0" kern="1200" dirty="0">
                <a:solidFill>
                  <a:schemeClr val="tx1"/>
                </a:solidFill>
                <a:effectLst/>
                <a:latin typeface="+mn-lt"/>
                <a:ea typeface="+mn-ea"/>
                <a:cs typeface="+mn-cs"/>
              </a:rPr>
              <a:t>人工智能是一个很老的概念，机器学习之前基于规则、基于统计学习等方法，没有取得大的突破。</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机器学习是人工智能的一个子集，深度学习又是机器学习的一个子集。机器学习与深度学习都是需要大量数据来“喂”的，是大数据技术上的一个应用，同时深度学习还需要更高的运算能力支撑，如</a:t>
            </a:r>
            <a:r>
              <a:rPr lang="en-US" altLang="zh-CN" sz="1200" b="0" i="0" kern="1200" dirty="0">
                <a:solidFill>
                  <a:schemeClr val="tx1"/>
                </a:solidFill>
                <a:effectLst/>
                <a:latin typeface="+mn-lt"/>
                <a:ea typeface="+mn-ea"/>
                <a:cs typeface="+mn-cs"/>
              </a:rPr>
              <a:t>GPU</a:t>
            </a:r>
            <a:r>
              <a:rPr lang="zh-CN" altLang="en-US" sz="1200" b="0" i="0" kern="1200" dirty="0">
                <a:solidFill>
                  <a:schemeClr val="tx1"/>
                </a:solidFill>
                <a:effectLst/>
                <a:latin typeface="+mn-lt"/>
                <a:ea typeface="+mn-ea"/>
                <a:cs typeface="+mn-cs"/>
              </a:rPr>
              <a:t>。</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机器学习就是用算法解析数据，不断学习，对世界中发生的事做出判断和预测的一项技术。“机器学习”是“模拟、延伸和扩展人的智能”的一条路径，所以是人工智能的一个子集</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r>
              <a:rPr lang="zh-CN" altLang="zh-CN" sz="1600" kern="1200" dirty="0">
                <a:solidFill>
                  <a:schemeClr val="tx1"/>
                </a:solidFill>
                <a:effectLst/>
                <a:latin typeface="+mn-lt"/>
                <a:ea typeface="+mn-ea"/>
                <a:cs typeface="+mn-cs"/>
              </a:rPr>
              <a:t>机器学习</a:t>
            </a:r>
            <a:r>
              <a:rPr lang="zh-CN" altLang="en-US" sz="1600" kern="1200" dirty="0">
                <a:solidFill>
                  <a:schemeClr val="tx1"/>
                </a:solidFill>
                <a:effectLst/>
                <a:latin typeface="+mn-lt"/>
                <a:ea typeface="+mn-ea"/>
                <a:cs typeface="+mn-cs"/>
              </a:rPr>
              <a:t>：</a:t>
            </a:r>
            <a:r>
              <a:rPr lang="zh-CN" altLang="en-US" b="0" i="0" dirty="0">
                <a:solidFill>
                  <a:srgbClr val="5F6368"/>
                </a:solidFill>
                <a:effectLst/>
                <a:latin typeface="Google Sans Text"/>
              </a:rPr>
              <a:t>机器学习是人工智能的一个分支，它使系统能够在没有明确编程的情况下自主学习和改进。机器学习算法的工作原理是识别模式和数据，并在有新数据输入系统时进行预测。</a:t>
            </a:r>
            <a:endParaRPr lang="en-US" altLang="zh-CN" b="0" i="0" dirty="0">
              <a:solidFill>
                <a:srgbClr val="5F6368"/>
              </a:solidFill>
              <a:effectLst/>
              <a:latin typeface="Google Sans Text"/>
            </a:endParaRPr>
          </a:p>
          <a:p>
            <a:r>
              <a:rPr lang="zh-CN" altLang="en-US" sz="1600" b="0" i="0" kern="1200" dirty="0">
                <a:solidFill>
                  <a:srgbClr val="5F6368"/>
                </a:solidFill>
                <a:effectLst/>
                <a:latin typeface="Google Sans Text"/>
                <a:ea typeface="+mn-ea"/>
                <a:cs typeface="+mn-cs"/>
              </a:rPr>
              <a:t>这种机器学习中的</a:t>
            </a:r>
            <a:r>
              <a:rPr lang="zh-CN" altLang="en-US" sz="1600" b="0" i="0" kern="1200" dirty="0">
                <a:solidFill>
                  <a:schemeClr val="tx1"/>
                </a:solidFill>
                <a:effectLst/>
                <a:latin typeface="+mn-lt"/>
                <a:ea typeface="+mn-ea"/>
                <a:cs typeface="+mn-cs"/>
              </a:rPr>
              <a:t>学习指的是机器通过一遍一遍尝试、不断地调整参数，最终逐渐得出接近人类期望的答案。</a:t>
            </a:r>
            <a:endParaRPr lang="en-US" altLang="zh-CN" sz="1600" kern="1200" dirty="0">
              <a:solidFill>
                <a:schemeClr val="tx1"/>
              </a:solidFill>
              <a:effectLst/>
              <a:latin typeface="+mn-lt"/>
              <a:ea typeface="+mn-ea"/>
              <a:cs typeface="+mn-cs"/>
            </a:endParaRPr>
          </a:p>
          <a:p>
            <a:r>
              <a:rPr lang="zh-CN" altLang="en-US" sz="1600" kern="1200" dirty="0">
                <a:solidFill>
                  <a:schemeClr val="tx1"/>
                </a:solidFill>
                <a:effectLst/>
                <a:latin typeface="+mn-lt"/>
                <a:ea typeface="+mn-ea"/>
                <a:cs typeface="+mn-cs"/>
              </a:rPr>
              <a:t>机器学习</a:t>
            </a:r>
            <a:r>
              <a:rPr lang="zh-CN" altLang="zh-CN" sz="1600" kern="1200" dirty="0">
                <a:solidFill>
                  <a:schemeClr val="tx1"/>
                </a:solidFill>
                <a:effectLst/>
                <a:latin typeface="+mn-lt"/>
                <a:ea typeface="+mn-ea"/>
                <a:cs typeface="+mn-cs"/>
              </a:rPr>
              <a:t>使计算机不需要显式编程就能拥有学习能力的研究领域</a:t>
            </a:r>
            <a:r>
              <a:rPr lang="zh-CN" altLang="en-US" sz="1600" kern="1200" dirty="0">
                <a:solidFill>
                  <a:schemeClr val="tx1"/>
                </a:solidFill>
                <a:effectLst/>
                <a:latin typeface="+mn-lt"/>
                <a:ea typeface="+mn-ea"/>
                <a:cs typeface="+mn-cs"/>
              </a:rPr>
              <a:t>（这和传统规则形成智慧，如专家系统，有着本质的区别），更简单地类比，就是</a:t>
            </a:r>
            <a:r>
              <a:rPr lang="zh-CN" altLang="zh-CN" sz="1600" kern="1200" dirty="0">
                <a:solidFill>
                  <a:schemeClr val="tx1"/>
                </a:solidFill>
                <a:effectLst/>
                <a:latin typeface="+mn-lt"/>
                <a:ea typeface="+mn-ea"/>
                <a:cs typeface="+mn-cs"/>
              </a:rPr>
              <a:t>机器学习大致相当于先观察后照做</a:t>
            </a:r>
            <a:r>
              <a:rPr lang="zh-CN" altLang="en-US" sz="1600" kern="1200" dirty="0">
                <a:solidFill>
                  <a:schemeClr val="tx1"/>
                </a:solidFill>
                <a:effectLst/>
                <a:latin typeface="+mn-lt"/>
                <a:ea typeface="+mn-ea"/>
                <a:cs typeface="+mn-cs"/>
              </a:rPr>
              <a:t>。</a:t>
            </a:r>
            <a:endParaRPr lang="en-US" altLang="zh-CN" sz="1600" kern="1200" dirty="0">
              <a:solidFill>
                <a:schemeClr val="tx1"/>
              </a:solidFill>
              <a:effectLst/>
              <a:latin typeface="+mn-lt"/>
              <a:ea typeface="+mn-ea"/>
              <a:cs typeface="+mn-cs"/>
            </a:endParaRPr>
          </a:p>
          <a:p>
            <a:r>
              <a:rPr lang="zh-CN" altLang="en-US" sz="1600" kern="1200" dirty="0">
                <a:solidFill>
                  <a:schemeClr val="tx1"/>
                </a:solidFill>
                <a:effectLst/>
                <a:latin typeface="+mn-lt"/>
                <a:ea typeface="+mn-ea"/>
                <a:cs typeface="+mn-cs"/>
              </a:rPr>
              <a:t>比如红绿灯，传统的做法是明确规则，就是红灯停、绿灯行，黄灯中间态，制定规则、理解规则、执行规则就有了智慧；</a:t>
            </a:r>
            <a:endParaRPr lang="en-US" altLang="zh-CN" sz="1600" kern="1200" dirty="0">
              <a:solidFill>
                <a:schemeClr val="tx1"/>
              </a:solidFill>
              <a:effectLst/>
              <a:latin typeface="+mn-lt"/>
              <a:ea typeface="+mn-ea"/>
              <a:cs typeface="+mn-cs"/>
            </a:endParaRPr>
          </a:p>
          <a:p>
            <a:r>
              <a:rPr lang="zh-CN" altLang="en-US" sz="1600" kern="1200" dirty="0">
                <a:solidFill>
                  <a:schemeClr val="tx1"/>
                </a:solidFill>
                <a:effectLst/>
                <a:latin typeface="+mn-lt"/>
                <a:ea typeface="+mn-ea"/>
                <a:cs typeface="+mn-cs"/>
              </a:rPr>
              <a:t>而机器学习是规则不懂的一个农夫（或者古代人），坐在路边观察，通过大样本的观察和分析，发现绿灯亮起来行人就可以走过去，红灯就没有人走，黄灯是快走然后就是红灯，那么通过这些学习，这个农夫就大致理解了红灯停、绿灯行，黄灯中间态，然后照做，也就有了智慧。</a:t>
            </a:r>
            <a:endParaRPr lang="zh-CN" altLang="zh-CN" sz="1600" kern="1200" dirty="0">
              <a:solidFill>
                <a:schemeClr val="tx1"/>
              </a:solidFill>
              <a:effectLst/>
              <a:latin typeface="+mn-lt"/>
              <a:ea typeface="+mn-ea"/>
              <a:cs typeface="+mn-cs"/>
            </a:endParaRPr>
          </a:p>
          <a:p>
            <a:r>
              <a:rPr lang="zh-CN" altLang="en-US" sz="1600" kern="1200" dirty="0">
                <a:solidFill>
                  <a:schemeClr val="tx1"/>
                </a:solidFill>
                <a:effectLst/>
                <a:latin typeface="+mn-lt"/>
                <a:ea typeface="+mn-ea"/>
                <a:cs typeface="+mn-cs"/>
              </a:rPr>
              <a:t>机器学习的</a:t>
            </a:r>
            <a:r>
              <a:rPr lang="zh-CN" altLang="zh-CN" sz="1600" kern="1200" dirty="0">
                <a:solidFill>
                  <a:schemeClr val="tx1"/>
                </a:solidFill>
                <a:effectLst/>
                <a:latin typeface="+mn-lt"/>
                <a:ea typeface="+mn-ea"/>
                <a:cs typeface="+mn-cs"/>
              </a:rPr>
              <a:t>模式：预测</a:t>
            </a:r>
            <a:r>
              <a:rPr lang="en-US" altLang="zh-CN" sz="1600" kern="1200" dirty="0">
                <a:solidFill>
                  <a:schemeClr val="tx1"/>
                </a:solidFill>
                <a:effectLst/>
                <a:latin typeface="+mn-lt"/>
                <a:ea typeface="+mn-ea"/>
                <a:cs typeface="+mn-cs"/>
              </a:rPr>
              <a:t>-</a:t>
            </a:r>
            <a:r>
              <a:rPr lang="zh-CN" altLang="zh-CN" sz="1600" kern="1200" dirty="0">
                <a:solidFill>
                  <a:schemeClr val="tx1"/>
                </a:solidFill>
                <a:effectLst/>
                <a:latin typeface="+mn-lt"/>
                <a:ea typeface="+mn-ea"/>
                <a:cs typeface="+mn-cs"/>
              </a:rPr>
              <a:t>》比较</a:t>
            </a:r>
            <a:r>
              <a:rPr lang="en-US" altLang="zh-CN" sz="1600" kern="1200" dirty="0">
                <a:solidFill>
                  <a:schemeClr val="tx1"/>
                </a:solidFill>
                <a:effectLst/>
                <a:latin typeface="+mn-lt"/>
                <a:ea typeface="+mn-ea"/>
                <a:cs typeface="+mn-cs"/>
              </a:rPr>
              <a:t>-</a:t>
            </a:r>
            <a:r>
              <a:rPr lang="zh-CN" altLang="zh-CN" sz="1600" kern="1200" dirty="0">
                <a:solidFill>
                  <a:schemeClr val="tx1"/>
                </a:solidFill>
                <a:effectLst/>
                <a:latin typeface="+mn-lt"/>
                <a:ea typeface="+mn-ea"/>
                <a:cs typeface="+mn-cs"/>
              </a:rPr>
              <a:t>》学习</a:t>
            </a:r>
            <a:r>
              <a:rPr lang="zh-CN" altLang="en-US" sz="1600" kern="1200" dirty="0">
                <a:solidFill>
                  <a:schemeClr val="tx1"/>
                </a:solidFill>
                <a:effectLst/>
                <a:latin typeface="+mn-lt"/>
                <a:ea typeface="+mn-ea"/>
                <a:cs typeface="+mn-cs"/>
              </a:rPr>
              <a:t>，也就是前向传播然后后向传播，把前面的概念结合起来。</a:t>
            </a:r>
            <a:endParaRPr lang="zh-CN" altLang="zh-CN" sz="160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pPr algn="l"/>
            <a:r>
              <a:rPr lang="zh-CN" altLang="en-US" sz="1400" b="0" i="0" dirty="0">
                <a:solidFill>
                  <a:srgbClr val="202124"/>
                </a:solidFill>
                <a:effectLst/>
                <a:latin typeface="Google Sans"/>
              </a:rPr>
              <a:t>什么是深度学习？</a:t>
            </a:r>
            <a:endParaRPr lang="zh-CN" altLang="en-US" sz="1400" b="0" i="0" dirty="0">
              <a:solidFill>
                <a:srgbClr val="202124"/>
              </a:solidFill>
              <a:effectLst/>
              <a:latin typeface="Google Sans"/>
            </a:endParaRPr>
          </a:p>
          <a:p>
            <a:pPr algn="l"/>
            <a:r>
              <a:rPr lang="zh-CN" altLang="en-US" sz="1400" b="0" i="0" dirty="0">
                <a:solidFill>
                  <a:srgbClr val="5F6368"/>
                </a:solidFill>
                <a:effectLst/>
                <a:latin typeface="Google Sans Text"/>
              </a:rPr>
              <a:t>深度学习是机器学习的一个分支，使用人工神经网络来处理和分析信息。神经网络由计算节点组成，这些节点分布于深度学习算法中的各层。每层都包含输入层、输出层和隐藏层。训练数据馈送至神经网络，以帮助算法学习并提高准确率。当神经网络由三层或更多层组成时，我们称它具有“深度”，因此称为深度学习。</a:t>
            </a:r>
            <a:endParaRPr lang="zh-CN" altLang="en-US" sz="1400" b="0" i="0" dirty="0">
              <a:solidFill>
                <a:srgbClr val="5F6368"/>
              </a:solidFill>
              <a:effectLst/>
              <a:latin typeface="Google Sans Text"/>
            </a:endParaRPr>
          </a:p>
          <a:p>
            <a:pPr algn="l"/>
            <a:r>
              <a:rPr lang="zh-CN" altLang="en-US" sz="1400" b="0" i="0" dirty="0">
                <a:solidFill>
                  <a:srgbClr val="5F6368"/>
                </a:solidFill>
                <a:effectLst/>
                <a:latin typeface="Google Sans Text"/>
              </a:rPr>
              <a:t>深度学习算法仿效人脑的工作方式，可用于分析具有逻辑结构的数据。深度学习在当今许多被视为 </a:t>
            </a:r>
            <a:r>
              <a:rPr lang="en-US" altLang="zh-CN" sz="1400" b="0" i="0" dirty="0">
                <a:solidFill>
                  <a:srgbClr val="5F6368"/>
                </a:solidFill>
                <a:effectLst/>
                <a:latin typeface="Google Sans Text"/>
              </a:rPr>
              <a:t>AI </a:t>
            </a:r>
            <a:r>
              <a:rPr lang="zh-CN" altLang="en-US" sz="1400" b="0" i="0" dirty="0">
                <a:solidFill>
                  <a:srgbClr val="5F6368"/>
                </a:solidFill>
                <a:effectLst/>
                <a:latin typeface="Google Sans Text"/>
              </a:rPr>
              <a:t>的任务中都有应用，包括图像和语音识别、对象检测和自然语言处理。深度学习可以在数据集中建立复杂的非线性关联，但与机器学习相比，需要更多的训练数据和计算资源。</a:t>
            </a:r>
            <a:endParaRPr lang="zh-CN" altLang="en-US" sz="1400" b="0" i="0" dirty="0">
              <a:solidFill>
                <a:srgbClr val="5F6368"/>
              </a:solidFill>
              <a:effectLst/>
              <a:latin typeface="Google Sans Text"/>
            </a:endParaRPr>
          </a:p>
          <a:p>
            <a:r>
              <a:rPr lang="en-US" altLang="zh-CN" sz="1200" b="0" i="0" kern="1200" dirty="0">
                <a:solidFill>
                  <a:schemeClr val="tx1"/>
                </a:solidFill>
                <a:effectLst/>
                <a:latin typeface="+mn-lt"/>
                <a:ea typeface="+mn-ea"/>
                <a:cs typeface="+mn-cs"/>
              </a:rPr>
              <a:t>2006</a:t>
            </a:r>
            <a:r>
              <a:rPr lang="zh-CN" altLang="en-US" sz="1200" b="0" i="0" kern="1200" dirty="0">
                <a:solidFill>
                  <a:schemeClr val="tx1"/>
                </a:solidFill>
                <a:effectLst/>
                <a:latin typeface="+mn-lt"/>
                <a:ea typeface="+mn-ea"/>
                <a:cs typeface="+mn-cs"/>
              </a:rPr>
              <a:t>年，杰弗里</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辛顿提出深度学习算法，深度指的是神经网络的层数非常多。学习指的是机器通过一遍一遍尝试、不断地调整参数，最终逐渐得出接近人类期望的答案。深度神经网络能够从复杂的现象背后发现结构和规律，这就是智能的基本特征。</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机器学习典型应用：垃圾邮件分类</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深度学习：猫狗分类</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pPr marL="0" marR="0" lvl="0" indent="0" algn="l" defTabSz="1219200" rtl="0" eaLnBrk="1" fontAlgn="auto" latinLnBrk="0" hangingPunct="1">
              <a:lnSpc>
                <a:spcPct val="100000"/>
              </a:lnSpc>
              <a:spcBef>
                <a:spcPts val="0"/>
              </a:spcBef>
              <a:spcAft>
                <a:spcPts val="0"/>
              </a:spcAft>
              <a:buClrTx/>
              <a:buSzTx/>
              <a:buFontTx/>
              <a:buNone/>
              <a:defRPr/>
            </a:pPr>
            <a:r>
              <a:rPr lang="zh-CN" altLang="en-US" sz="1200" b="0" dirty="0"/>
              <a:t>比如识别车， 机器学习通过人人工设计特征， 然后通过机器分类； 深度学习， 提取特征不做了， 直接通过一个网络识别</a:t>
            </a:r>
            <a:endParaRPr lang="en-US" altLang="zh-CN" sz="1200" b="0" dirty="0"/>
          </a:p>
          <a:p>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机器学习：</a:t>
            </a:r>
            <a:endParaRPr lang="en-US" altLang="zh-CN" sz="1200" b="0" i="0" kern="1200" dirty="0">
              <a:solidFill>
                <a:schemeClr val="tx1"/>
              </a:solidFill>
              <a:effectLst/>
              <a:latin typeface="+mn-lt"/>
              <a:ea typeface="+mn-ea"/>
              <a:cs typeface="+mn-cs"/>
            </a:endParaRPr>
          </a:p>
          <a:p>
            <a:pPr lvl="1" defTabSz="914400" eaLnBrk="0" fontAlgn="base" hangingPunct="0">
              <a:lnSpc>
                <a:spcPct val="150000"/>
              </a:lnSpc>
              <a:spcBef>
                <a:spcPct val="0"/>
              </a:spcBef>
              <a:spcAft>
                <a:spcPct val="0"/>
              </a:spcAft>
            </a:pPr>
            <a:r>
              <a:rPr lang="zh-CN" altLang="en-US" sz="1200" b="1" dirty="0">
                <a:solidFill>
                  <a:srgbClr val="C00000"/>
                </a:solidFill>
                <a:latin typeface="+mn-ea"/>
              </a:rPr>
              <a:t>特点</a:t>
            </a:r>
            <a:r>
              <a:rPr lang="en-US" altLang="zh-CN" sz="1200" b="1" dirty="0">
                <a:solidFill>
                  <a:srgbClr val="C00000"/>
                </a:solidFill>
                <a:latin typeface="+mn-ea"/>
              </a:rPr>
              <a:t>1</a:t>
            </a:r>
            <a:r>
              <a:rPr lang="zh-CN" altLang="en-US" sz="1200" b="1" dirty="0">
                <a:solidFill>
                  <a:srgbClr val="C00000"/>
                </a:solidFill>
                <a:latin typeface="+mn-ea"/>
              </a:rPr>
              <a:t>：特征由人工设计、可解释</a:t>
            </a:r>
            <a:endParaRPr lang="en-US" altLang="zh-CN" sz="1200" b="1" dirty="0">
              <a:solidFill>
                <a:srgbClr val="C00000"/>
              </a:solidFill>
              <a:latin typeface="+mn-ea"/>
            </a:endParaRPr>
          </a:p>
          <a:p>
            <a:pPr lvl="1" defTabSz="914400" eaLnBrk="0" fontAlgn="base" hangingPunct="0">
              <a:lnSpc>
                <a:spcPct val="150000"/>
              </a:lnSpc>
              <a:spcBef>
                <a:spcPct val="0"/>
              </a:spcBef>
              <a:spcAft>
                <a:spcPct val="0"/>
              </a:spcAft>
            </a:pPr>
            <a:r>
              <a:rPr lang="zh-CN" altLang="en-US" sz="1200" b="1" dirty="0">
                <a:solidFill>
                  <a:srgbClr val="C00000"/>
                </a:solidFill>
                <a:latin typeface="+mn-ea"/>
              </a:rPr>
              <a:t>特点</a:t>
            </a:r>
            <a:r>
              <a:rPr lang="en-US" altLang="zh-CN" sz="1200" b="1" dirty="0">
                <a:solidFill>
                  <a:srgbClr val="C00000"/>
                </a:solidFill>
                <a:latin typeface="+mn-ea"/>
              </a:rPr>
              <a:t>2</a:t>
            </a:r>
            <a:r>
              <a:rPr lang="zh-CN" altLang="en-US" sz="1200" b="1" dirty="0">
                <a:solidFill>
                  <a:srgbClr val="C00000"/>
                </a:solidFill>
                <a:latin typeface="+mn-ea"/>
              </a:rPr>
              <a:t>：数据规模相对较小</a:t>
            </a:r>
            <a:endParaRPr lang="zh-CN" altLang="en-US" sz="1200" b="1" dirty="0">
              <a:solidFill>
                <a:srgbClr val="C00000"/>
              </a:solidFill>
              <a:latin typeface="+mn-ea"/>
            </a:endParaRPr>
          </a:p>
          <a:p>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深度学习：</a:t>
            </a:r>
            <a:endParaRPr lang="en-US" altLang="zh-CN" sz="1200" b="0" i="0" kern="1200" dirty="0">
              <a:solidFill>
                <a:schemeClr val="tx1"/>
              </a:solidFill>
              <a:effectLst/>
              <a:latin typeface="+mn-lt"/>
              <a:ea typeface="+mn-ea"/>
              <a:cs typeface="+mn-cs"/>
            </a:endParaRPr>
          </a:p>
          <a:p>
            <a:pPr lvl="1" defTabSz="914400" eaLnBrk="0" fontAlgn="base" hangingPunct="0">
              <a:lnSpc>
                <a:spcPct val="150000"/>
              </a:lnSpc>
              <a:spcBef>
                <a:spcPct val="0"/>
              </a:spcBef>
              <a:spcAft>
                <a:spcPct val="0"/>
              </a:spcAft>
            </a:pPr>
            <a:r>
              <a:rPr lang="zh-CN" altLang="en-US" sz="1600" b="1" dirty="0">
                <a:solidFill>
                  <a:srgbClr val="C00000"/>
                </a:solidFill>
                <a:latin typeface="+mn-ea"/>
              </a:rPr>
              <a:t>特点</a:t>
            </a:r>
            <a:r>
              <a:rPr lang="en-US" altLang="zh-CN" sz="1600" b="1" dirty="0">
                <a:solidFill>
                  <a:srgbClr val="C00000"/>
                </a:solidFill>
                <a:latin typeface="+mn-ea"/>
              </a:rPr>
              <a:t>1</a:t>
            </a:r>
            <a:r>
              <a:rPr lang="zh-CN" altLang="en-US" sz="1600" b="1" dirty="0">
                <a:solidFill>
                  <a:srgbClr val="C00000"/>
                </a:solidFill>
                <a:latin typeface="+mn-ea"/>
              </a:rPr>
              <a:t>：从数据中直接学习，黑盒</a:t>
            </a:r>
            <a:endParaRPr lang="en-US" altLang="zh-CN" sz="1600" b="1" dirty="0">
              <a:solidFill>
                <a:srgbClr val="C00000"/>
              </a:solidFill>
              <a:latin typeface="+mn-ea"/>
            </a:endParaRPr>
          </a:p>
          <a:p>
            <a:pPr lvl="1" defTabSz="914400" eaLnBrk="0" fontAlgn="base" hangingPunct="0">
              <a:lnSpc>
                <a:spcPct val="150000"/>
              </a:lnSpc>
              <a:spcBef>
                <a:spcPct val="0"/>
              </a:spcBef>
              <a:spcAft>
                <a:spcPct val="0"/>
              </a:spcAft>
            </a:pPr>
            <a:r>
              <a:rPr lang="zh-CN" altLang="en-US" sz="1600" b="1" dirty="0">
                <a:solidFill>
                  <a:srgbClr val="C00000"/>
                </a:solidFill>
                <a:latin typeface="+mn-ea"/>
              </a:rPr>
              <a:t>特点</a:t>
            </a:r>
            <a:r>
              <a:rPr lang="en-US" altLang="zh-CN" sz="1600" b="1" dirty="0">
                <a:solidFill>
                  <a:srgbClr val="C00000"/>
                </a:solidFill>
                <a:latin typeface="+mn-ea"/>
              </a:rPr>
              <a:t>2</a:t>
            </a:r>
            <a:r>
              <a:rPr lang="zh-CN" altLang="en-US" sz="1600" b="1" dirty="0">
                <a:solidFill>
                  <a:srgbClr val="C00000"/>
                </a:solidFill>
                <a:latin typeface="+mn-ea"/>
              </a:rPr>
              <a:t>：数据规模巨大</a:t>
            </a:r>
            <a:endParaRPr lang="en-US" altLang="zh-CN" sz="1600" b="1" dirty="0">
              <a:solidFill>
                <a:srgbClr val="C00000"/>
              </a:solidFill>
              <a:latin typeface="+mn-ea"/>
            </a:endParaRPr>
          </a:p>
          <a:p>
            <a:pPr lvl="1" defTabSz="914400" eaLnBrk="0" fontAlgn="base" hangingPunct="0">
              <a:lnSpc>
                <a:spcPct val="150000"/>
              </a:lnSpc>
              <a:spcBef>
                <a:spcPct val="0"/>
              </a:spcBef>
              <a:spcAft>
                <a:spcPct val="0"/>
              </a:spcAft>
            </a:pPr>
            <a:endParaRPr lang="zh-CN" altLang="en-US" sz="1600" b="1" dirty="0">
              <a:solidFill>
                <a:srgbClr val="C00000"/>
              </a:solidFill>
              <a:latin typeface="+mn-ea"/>
            </a:endParaRPr>
          </a:p>
          <a:p>
            <a:r>
              <a:rPr lang="zh-CN" altLang="en-US" b="0" dirty="0"/>
              <a:t>这张要耐心，用对比，用知识监督的方法，讲清楚。</a:t>
            </a:r>
            <a:endParaRPr lang="en-US" altLang="zh-CN" b="0" dirty="0"/>
          </a:p>
          <a:p>
            <a:endParaRPr lang="en-US" altLang="zh-CN" b="0" dirty="0"/>
          </a:p>
          <a:p>
            <a:pPr algn="l"/>
            <a:r>
              <a:rPr lang="zh-CN" altLang="en-US" b="0" i="0" dirty="0">
                <a:solidFill>
                  <a:srgbClr val="202124"/>
                </a:solidFill>
                <a:effectLst/>
                <a:latin typeface="Google Sans"/>
              </a:rPr>
              <a:t>人工智能、机器学习与深度学习</a:t>
            </a:r>
            <a:endParaRPr lang="zh-CN" altLang="en-US" b="0" i="0" dirty="0">
              <a:solidFill>
                <a:srgbClr val="202124"/>
              </a:solidFill>
              <a:effectLst/>
              <a:latin typeface="Google Sans"/>
            </a:endParaRPr>
          </a:p>
          <a:p>
            <a:pPr algn="l"/>
            <a:r>
              <a:rPr lang="zh-CN" altLang="en-US" b="0" i="0" dirty="0">
                <a:solidFill>
                  <a:srgbClr val="5F6368"/>
                </a:solidFill>
                <a:effectLst/>
                <a:latin typeface="Google Sans Text"/>
              </a:rPr>
              <a:t>在讨论 </a:t>
            </a:r>
            <a:r>
              <a:rPr lang="en-US" altLang="zh-CN" b="0" i="0" dirty="0">
                <a:solidFill>
                  <a:srgbClr val="5F6368"/>
                </a:solidFill>
                <a:effectLst/>
                <a:latin typeface="Google Sans Text"/>
              </a:rPr>
              <a:t>AI </a:t>
            </a:r>
            <a:r>
              <a:rPr lang="zh-CN" altLang="en-US" b="0" i="0" dirty="0">
                <a:solidFill>
                  <a:srgbClr val="5F6368"/>
                </a:solidFill>
                <a:effectLst/>
                <a:latin typeface="Google Sans Text"/>
              </a:rPr>
              <a:t>的方方面面时，人们通常将人工智能、机器学习和深度学习用作同义词。虽然这些术语相互关联，但不可互换。</a:t>
            </a:r>
            <a:endParaRPr lang="zh-CN" altLang="en-US" b="0" i="0" dirty="0">
              <a:solidFill>
                <a:srgbClr val="5F6368"/>
              </a:solidFill>
              <a:effectLst/>
              <a:latin typeface="Google Sans Text"/>
            </a:endParaRPr>
          </a:p>
          <a:p>
            <a:pPr algn="l"/>
            <a:r>
              <a:rPr lang="en-US" altLang="zh-CN" b="0" i="0" dirty="0">
                <a:solidFill>
                  <a:srgbClr val="5F6368"/>
                </a:solidFill>
                <a:effectLst/>
                <a:latin typeface="Google Sans Text"/>
              </a:rPr>
              <a:t>AI </a:t>
            </a:r>
            <a:r>
              <a:rPr lang="zh-CN" altLang="en-US" b="0" i="0" dirty="0">
                <a:solidFill>
                  <a:srgbClr val="5F6368"/>
                </a:solidFill>
                <a:effectLst/>
                <a:latin typeface="Google Sans Text"/>
              </a:rPr>
              <a:t>领域非常广泛，而机器学习是 </a:t>
            </a:r>
            <a:r>
              <a:rPr lang="en-US" altLang="zh-CN" b="0" i="0" dirty="0">
                <a:solidFill>
                  <a:srgbClr val="5F6368"/>
                </a:solidFill>
                <a:effectLst/>
                <a:latin typeface="Google Sans Text"/>
              </a:rPr>
              <a:t>AI </a:t>
            </a:r>
            <a:r>
              <a:rPr lang="zh-CN" altLang="en-US" b="0" i="0" dirty="0">
                <a:solidFill>
                  <a:srgbClr val="5F6368"/>
                </a:solidFill>
                <a:effectLst/>
                <a:latin typeface="Google Sans Text"/>
              </a:rPr>
              <a:t>的一种应用，让机器无需专门编程即可进行学习。机器学习被更明确地用作一种通过决策树或线性回归等比较简单的方法从数据中提取知识的方式，而深度学习则使用人工神经网络中更高级的方法。</a:t>
            </a:r>
            <a:endParaRPr lang="zh-CN" altLang="en-US" b="0" i="0" dirty="0">
              <a:solidFill>
                <a:srgbClr val="5F6368"/>
              </a:solidFill>
              <a:effectLst/>
              <a:latin typeface="Google Sans Text"/>
            </a:endParaRPr>
          </a:p>
          <a:p>
            <a:pPr algn="l"/>
            <a:r>
              <a:rPr lang="zh-CN" altLang="en-US" b="0" i="0" dirty="0">
                <a:solidFill>
                  <a:srgbClr val="5F6368"/>
                </a:solidFill>
                <a:effectLst/>
                <a:latin typeface="Google Sans Text"/>
              </a:rPr>
              <a:t>深度学习需要的人工干预更少，因为数据集的特征是自动提取的，而相对比较简单的机器学习技术则需要工程师人工识别数据的特征和分类器，并相应地调整算法。从本质上讲，深度学习可以从自己的错误中学习，而机器学习则需要人工介入。</a:t>
            </a:r>
            <a:endParaRPr lang="zh-CN" altLang="en-US" b="0" i="0" dirty="0">
              <a:solidFill>
                <a:srgbClr val="5F6368"/>
              </a:solidFill>
              <a:effectLst/>
              <a:latin typeface="Google Sans Text"/>
            </a:endParaRPr>
          </a:p>
          <a:p>
            <a:pPr algn="l"/>
            <a:r>
              <a:rPr lang="zh-CN" altLang="en-US" b="0" i="0" dirty="0">
                <a:solidFill>
                  <a:srgbClr val="5F6368"/>
                </a:solidFill>
                <a:effectLst/>
                <a:latin typeface="Google Sans Text"/>
              </a:rPr>
              <a:t>与机器学习相比，深度学习还需要更多的数据，继而需要更大的计算能力。机器学习通常可以使用运行 </a:t>
            </a:r>
            <a:r>
              <a:rPr lang="en-US" altLang="zh-CN" b="0" i="0" dirty="0">
                <a:solidFill>
                  <a:srgbClr val="5F6368"/>
                </a:solidFill>
                <a:effectLst/>
                <a:latin typeface="Google Sans Text"/>
              </a:rPr>
              <a:t>CPU </a:t>
            </a:r>
            <a:r>
              <a:rPr lang="zh-CN" altLang="en-US" b="0" i="0" dirty="0">
                <a:solidFill>
                  <a:srgbClr val="5F6368"/>
                </a:solidFill>
                <a:effectLst/>
                <a:latin typeface="Google Sans Text"/>
              </a:rPr>
              <a:t>的服务器来完成，而深度学习通常需要更强大的芯片（比如 </a:t>
            </a:r>
            <a:r>
              <a:rPr lang="en-US" altLang="zh-CN" b="0" i="0" dirty="0">
                <a:solidFill>
                  <a:srgbClr val="5F6368"/>
                </a:solidFill>
                <a:effectLst/>
                <a:latin typeface="Google Sans Text"/>
              </a:rPr>
              <a:t>GPU</a:t>
            </a:r>
            <a:r>
              <a:rPr lang="zh-CN" altLang="en-US" b="0" i="0" dirty="0">
                <a:solidFill>
                  <a:srgbClr val="5F6368"/>
                </a:solidFill>
                <a:effectLst/>
                <a:latin typeface="Google Sans Text"/>
              </a:rPr>
              <a:t>）。</a:t>
            </a:r>
            <a:endParaRPr lang="zh-CN" altLang="en-US" b="0" i="0" dirty="0">
              <a:solidFill>
                <a:srgbClr val="5F6368"/>
              </a:solidFill>
              <a:effectLst/>
              <a:latin typeface="Google Sans Text"/>
            </a:endParaRPr>
          </a:p>
          <a:p>
            <a:endParaRPr lang="zh-CN" altLang="en-US" b="0" dirty="0"/>
          </a:p>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07326F3-4732-B74B-9C70-D0992466E49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342900" indent="-342900">
              <a:buAutoNum type="arabicPeriod"/>
            </a:pPr>
            <a:r>
              <a:rPr lang="zh-CN" altLang="en-US" baseline="0" dirty="0">
                <a:ea typeface="微软雅黑" panose="020B0503020204020204" pitchFamily="34" charset="-122"/>
              </a:rPr>
              <a:t>类比讲出来</a:t>
            </a:r>
            <a:endParaRPr lang="en-US" altLang="zh-CN" baseline="0" dirty="0">
              <a:ea typeface="微软雅黑" panose="020B0503020204020204" pitchFamily="34" charset="-122"/>
            </a:endParaRPr>
          </a:p>
          <a:p>
            <a:pPr marL="952500" lvl="1" indent="-342900">
              <a:buAutoNum type="arabicPeriod"/>
            </a:pPr>
            <a:r>
              <a:rPr lang="zh-CN" altLang="en-US" baseline="0" dirty="0">
                <a:ea typeface="微软雅黑" panose="020B0503020204020204" pitchFamily="34" charset="-122"/>
              </a:rPr>
              <a:t>算 力 人工智能的身体，体现 人工智能计算速度和效率</a:t>
            </a:r>
            <a:endParaRPr lang="en-US" altLang="zh-CN" baseline="0" dirty="0">
              <a:ea typeface="微软雅黑" panose="020B0503020204020204" pitchFamily="34" charset="-122"/>
            </a:endParaRPr>
          </a:p>
          <a:p>
            <a:pPr marL="952500" lvl="1" indent="-342900">
              <a:buAutoNum type="arabicPeriod"/>
            </a:pPr>
            <a:r>
              <a:rPr lang="zh-CN" altLang="en-US" baseline="0" dirty="0">
                <a:ea typeface="微软雅黑" panose="020B0503020204020204" pitchFamily="34" charset="-122"/>
              </a:rPr>
              <a:t>算 法 人工智能的大脑，对资源有效利用的思想和灵魂</a:t>
            </a:r>
            <a:endParaRPr lang="en-US" altLang="zh-CN" baseline="0" dirty="0">
              <a:ea typeface="微软雅黑" panose="020B0503020204020204" pitchFamily="34" charset="-122"/>
            </a:endParaRPr>
          </a:p>
          <a:p>
            <a:pPr marL="952500" lvl="1" indent="-342900">
              <a:buAutoNum type="arabicPeriod"/>
            </a:pPr>
            <a:r>
              <a:rPr lang="zh-CN" altLang="en-US" baseline="0" dirty="0">
                <a:ea typeface="微软雅黑" panose="020B0503020204020204" pitchFamily="34" charset="-122"/>
              </a:rPr>
              <a:t>数据人工智能的粮食，是一切智慧物体的学习资源</a:t>
            </a:r>
            <a:endParaRPr lang="en-US" altLang="zh-CN" baseline="0" dirty="0">
              <a:ea typeface="微软雅黑" panose="020B0503020204020204" pitchFamily="34" charset="-122"/>
            </a:endParaRPr>
          </a:p>
          <a:p>
            <a:pPr marL="952500" lvl="1" indent="-342900">
              <a:buAutoNum type="arabicPeriod"/>
            </a:pPr>
            <a:endParaRPr lang="en-US" altLang="zh-CN" baseline="0" dirty="0">
              <a:ea typeface="微软雅黑" panose="020B0503020204020204" pitchFamily="34" charset="-122"/>
            </a:endParaRPr>
          </a:p>
          <a:p>
            <a:pPr marL="342900" indent="-342900">
              <a:buAutoNum type="arabicPeriod"/>
            </a:pPr>
            <a:r>
              <a:rPr lang="zh-CN" altLang="en-US" baseline="0" dirty="0">
                <a:ea typeface="微软雅黑" panose="020B0503020204020204" pitchFamily="34" charset="-122"/>
              </a:rPr>
              <a:t>这里可以设计一个环节，加个开放式讨论。（活跃气氛）互动问题 ：算法</a:t>
            </a:r>
            <a:r>
              <a:rPr lang="en-US" altLang="zh-CN" baseline="0" dirty="0">
                <a:ea typeface="微软雅黑" panose="020B0503020204020204" pitchFamily="34" charset="-122"/>
              </a:rPr>
              <a:t>+</a:t>
            </a:r>
            <a:r>
              <a:rPr lang="zh-CN" altLang="en-US" baseline="0" dirty="0">
                <a:ea typeface="微软雅黑" panose="020B0503020204020204" pitchFamily="34" charset="-122"/>
              </a:rPr>
              <a:t>数据 </a:t>
            </a:r>
            <a:r>
              <a:rPr lang="en-US" altLang="zh-CN" baseline="0" dirty="0">
                <a:ea typeface="微软雅黑" panose="020B0503020204020204" pitchFamily="34" charset="-122"/>
              </a:rPr>
              <a:t>+</a:t>
            </a:r>
            <a:r>
              <a:rPr lang="zh-CN" altLang="en-US" baseline="0" dirty="0">
                <a:ea typeface="微软雅黑" panose="020B0503020204020204" pitchFamily="34" charset="-122"/>
              </a:rPr>
              <a:t>算力哪个最重要（没有正确答案， 激发大家讨论，其实，在企业场景下，还要加场景！）</a:t>
            </a:r>
            <a:endParaRPr lang="en-US" altLang="zh-CN" baseline="0" dirty="0">
              <a:ea typeface="微软雅黑" panose="020B0503020204020204" pitchFamily="34" charset="-122"/>
            </a:endParaRPr>
          </a:p>
          <a:p>
            <a:pPr marL="952500" lvl="1" indent="-342900">
              <a:buAutoNum type="arabicPeriod"/>
            </a:pPr>
            <a:r>
              <a:rPr lang="zh-CN" altLang="en-US" baseline="0" dirty="0">
                <a:ea typeface="微软雅黑" panose="020B0503020204020204" pitchFamily="34" charset="-122"/>
              </a:rPr>
              <a:t>数据重要观点：</a:t>
            </a:r>
            <a:endParaRPr lang="en-US" altLang="zh-CN" baseline="0" dirty="0">
              <a:ea typeface="微软雅黑" panose="020B0503020204020204" pitchFamily="34" charset="-122"/>
            </a:endParaRPr>
          </a:p>
          <a:p>
            <a:pPr marL="1562100" lvl="2" indent="-342900">
              <a:buAutoNum type="arabicPeriod"/>
            </a:pPr>
            <a:r>
              <a:rPr lang="zh-CN" altLang="en-US" baseline="0" dirty="0">
                <a:ea typeface="微软雅黑" panose="020B0503020204020204" pitchFamily="34" charset="-122"/>
              </a:rPr>
              <a:t>银行做风险防控，你要向一个银行贷款，假设你不是这个银行的客户，理论上没有你的数据。但是他通过购买或通过互联网搜索或通过别的渠道你的信息，这样就可以判断你是一个高风险还是低风险的人。</a:t>
            </a:r>
            <a:endParaRPr lang="en-US" altLang="zh-CN" baseline="0" dirty="0">
              <a:ea typeface="微软雅黑" panose="020B0503020204020204" pitchFamily="34" charset="-122"/>
            </a:endParaRPr>
          </a:p>
          <a:p>
            <a:pPr marL="1562100" lvl="2" indent="-342900">
              <a:buAutoNum type="arabicPeriod"/>
            </a:pPr>
            <a:r>
              <a:rPr lang="en-US" altLang="zh-CN" baseline="0" dirty="0">
                <a:ea typeface="微软雅黑" panose="020B0503020204020204" pitchFamily="34" charset="-122"/>
              </a:rPr>
              <a:t>VOC</a:t>
            </a:r>
            <a:r>
              <a:rPr lang="zh-CN" altLang="en-US" baseline="0" dirty="0">
                <a:ea typeface="微软雅黑" panose="020B0503020204020204" pitchFamily="34" charset="-122"/>
              </a:rPr>
              <a:t>用来做网上声誉管理和问题提升（华为的手机或者问界汽车的效果提升）</a:t>
            </a:r>
            <a:endParaRPr lang="en-US" altLang="zh-CN" baseline="0" dirty="0">
              <a:ea typeface="微软雅黑" panose="020B0503020204020204" pitchFamily="34" charset="-122"/>
            </a:endParaRPr>
          </a:p>
          <a:p>
            <a:pPr marL="1562100" lvl="2" indent="-342900">
              <a:buAutoNum type="arabicPeriod"/>
            </a:pPr>
            <a:r>
              <a:rPr lang="zh-CN" altLang="en-US" baseline="0" dirty="0">
                <a:ea typeface="微软雅黑" panose="020B0503020204020204" pitchFamily="34" charset="-122"/>
              </a:rPr>
              <a:t>数据就一成不变，必须有新的思维。</a:t>
            </a:r>
            <a:endParaRPr lang="en-US" altLang="zh-CN" baseline="0" dirty="0">
              <a:ea typeface="微软雅黑" panose="020B0503020204020204" pitchFamily="34" charset="-122"/>
            </a:endParaRPr>
          </a:p>
          <a:p>
            <a:pPr marL="952500" lvl="1" indent="-342900">
              <a:buAutoNum type="arabicPeriod"/>
            </a:pPr>
            <a:r>
              <a:rPr lang="zh-CN" altLang="en-US" baseline="0" dirty="0">
                <a:ea typeface="微软雅黑" panose="020B0503020204020204" pitchFamily="34" charset="-122"/>
              </a:rPr>
              <a:t>算法重要论点：</a:t>
            </a:r>
            <a:endParaRPr lang="en-US" altLang="zh-CN" baseline="0" dirty="0">
              <a:ea typeface="微软雅黑" panose="020B0503020204020204" pitchFamily="34" charset="-122"/>
            </a:endParaRPr>
          </a:p>
          <a:p>
            <a:pPr marL="1562100" lvl="2" indent="-342900">
              <a:buAutoNum type="arabicPeriod"/>
            </a:pPr>
            <a:r>
              <a:rPr lang="zh-CN" altLang="en-US" baseline="0" dirty="0">
                <a:ea typeface="微软雅黑" panose="020B0503020204020204" pitchFamily="34" charset="-122"/>
              </a:rPr>
              <a:t>每一个阶段重点不一样</a:t>
            </a:r>
            <a:endParaRPr lang="en-US" altLang="zh-CN" baseline="0" dirty="0">
              <a:ea typeface="微软雅黑" panose="020B0503020204020204" pitchFamily="34" charset="-122"/>
            </a:endParaRPr>
          </a:p>
          <a:p>
            <a:pPr marL="1562100" lvl="2" indent="-342900">
              <a:buAutoNum type="arabicPeriod"/>
            </a:pPr>
            <a:r>
              <a:rPr lang="en-US" altLang="zh-CN" baseline="0" dirty="0">
                <a:ea typeface="微软雅黑" panose="020B0503020204020204" pitchFamily="34" charset="-122"/>
              </a:rPr>
              <a:t>CNN</a:t>
            </a:r>
            <a:r>
              <a:rPr lang="zh-CN" altLang="en-US" baseline="0" dirty="0">
                <a:ea typeface="微软雅黑" panose="020B0503020204020204" pitchFamily="34" charset="-122"/>
              </a:rPr>
              <a:t>网络实现了计算机视觉的飞跃</a:t>
            </a:r>
            <a:endParaRPr lang="en-US" altLang="zh-CN" baseline="0" dirty="0">
              <a:ea typeface="微软雅黑" panose="020B0503020204020204" pitchFamily="34" charset="-122"/>
            </a:endParaRPr>
          </a:p>
          <a:p>
            <a:pPr marL="1562100" lvl="2" indent="-342900">
              <a:buAutoNum type="arabicPeriod"/>
            </a:pPr>
            <a:r>
              <a:rPr lang="en-US" altLang="zh-CN" baseline="0" dirty="0">
                <a:ea typeface="微软雅黑" panose="020B0503020204020204" pitchFamily="34" charset="-122"/>
              </a:rPr>
              <a:t>Transform</a:t>
            </a:r>
            <a:r>
              <a:rPr lang="zh-CN" altLang="en-US" baseline="0" dirty="0">
                <a:ea typeface="微软雅黑" panose="020B0503020204020204" pitchFamily="34" charset="-122"/>
              </a:rPr>
              <a:t>结构带来了大模型， </a:t>
            </a:r>
            <a:r>
              <a:rPr lang="en-US" altLang="zh-CN" baseline="0" dirty="0">
                <a:ea typeface="微软雅黑" panose="020B0503020204020204" pitchFamily="34" charset="-122"/>
              </a:rPr>
              <a:t>Scaling Law</a:t>
            </a:r>
            <a:endParaRPr lang="en-US" altLang="zh-CN" baseline="0" dirty="0">
              <a:ea typeface="微软雅黑" panose="020B0503020204020204" pitchFamily="34" charset="-122"/>
            </a:endParaRPr>
          </a:p>
          <a:p>
            <a:pPr marL="1562100" lvl="2" indent="-342900">
              <a:buAutoNum type="arabicPeriod"/>
            </a:pPr>
            <a:r>
              <a:rPr lang="zh-CN" altLang="en-US" baseline="0" dirty="0">
                <a:ea typeface="微软雅黑" panose="020B0503020204020204" pitchFamily="34" charset="-122"/>
              </a:rPr>
              <a:t>大模型入端，模型算法非常关键，否则根本就用不了。</a:t>
            </a:r>
            <a:endParaRPr lang="en-US" altLang="zh-CN" baseline="0" dirty="0">
              <a:ea typeface="微软雅黑" panose="020B0503020204020204" pitchFamily="34" charset="-122"/>
            </a:endParaRPr>
          </a:p>
          <a:p>
            <a:pPr marL="952500" lvl="1" indent="-342900">
              <a:buAutoNum type="arabicPeriod"/>
            </a:pPr>
            <a:r>
              <a:rPr lang="zh-CN" altLang="en-US" baseline="0" dirty="0">
                <a:ea typeface="微软雅黑" panose="020B0503020204020204" pitchFamily="34" charset="-122"/>
              </a:rPr>
              <a:t>算力重要论点：</a:t>
            </a:r>
            <a:endParaRPr lang="en-US" altLang="zh-CN" baseline="0" dirty="0">
              <a:ea typeface="微软雅黑" panose="020B0503020204020204" pitchFamily="34" charset="-122"/>
            </a:endParaRPr>
          </a:p>
          <a:p>
            <a:pPr marL="1562100" lvl="2" indent="-342900">
              <a:buAutoNum type="arabicPeriod"/>
            </a:pPr>
            <a:r>
              <a:rPr lang="zh-CN" altLang="en-US" baseline="0" dirty="0">
                <a:ea typeface="微软雅黑" panose="020B0503020204020204" pitchFamily="34" charset="-122"/>
              </a:rPr>
              <a:t>没算力不是没身体吗。只有灵魂没有身体，那肯定不行。</a:t>
            </a:r>
            <a:endParaRPr lang="en-US" altLang="zh-CN" baseline="0" dirty="0">
              <a:ea typeface="微软雅黑" panose="020B0503020204020204" pitchFamily="34" charset="-122"/>
            </a:endParaRPr>
          </a:p>
          <a:p>
            <a:pPr marL="952500" marR="0" lvl="1" indent="-342900" algn="l" defTabSz="1219200" rtl="0" eaLnBrk="1" fontAlgn="auto" latinLnBrk="0" hangingPunct="1">
              <a:lnSpc>
                <a:spcPct val="100000"/>
              </a:lnSpc>
              <a:spcBef>
                <a:spcPts val="0"/>
              </a:spcBef>
              <a:spcAft>
                <a:spcPts val="0"/>
              </a:spcAft>
              <a:buClrTx/>
              <a:buSzTx/>
              <a:buFontTx/>
              <a:buAutoNum type="arabicPeriod"/>
              <a:defRPr/>
            </a:pPr>
            <a:r>
              <a:rPr lang="zh-CN" altLang="en-US" baseline="0" dirty="0">
                <a:ea typeface="微软雅黑" panose="020B0503020204020204" pitchFamily="34" charset="-122"/>
              </a:rPr>
              <a:t>每个阶段， 重点不太一样，</a:t>
            </a:r>
            <a:endParaRPr lang="en-US" altLang="zh-CN" baseline="0" dirty="0">
              <a:ea typeface="微软雅黑" panose="020B0503020204020204" pitchFamily="34" charset="-122"/>
            </a:endParaRPr>
          </a:p>
          <a:p>
            <a:pPr marL="1562100" lvl="2" indent="-342900">
              <a:buAutoNum type="arabicPeriod"/>
            </a:pPr>
            <a:r>
              <a:rPr lang="zh-CN" altLang="en-US" baseline="0" dirty="0">
                <a:ea typeface="微软雅黑" panose="020B0503020204020204" pitchFamily="34" charset="-122"/>
              </a:rPr>
              <a:t>当前算法收敛的稳定状态，对于企业来说 算法设计不了， 数据更加重要</a:t>
            </a:r>
            <a:endParaRPr lang="en-US" altLang="zh-CN" baseline="0" dirty="0">
              <a:ea typeface="微软雅黑" panose="020B0503020204020204" pitchFamily="34" charset="-122"/>
            </a:endParaRPr>
          </a:p>
          <a:p>
            <a:pPr marL="1562100" lvl="2" indent="-342900">
              <a:buAutoNum type="arabicPeriod"/>
            </a:pPr>
            <a:r>
              <a:rPr lang="zh-CN" altLang="en-US" baseline="0" dirty="0">
                <a:ea typeface="微软雅黑" panose="020B0503020204020204" pitchFamily="34" charset="-122"/>
              </a:rPr>
              <a:t>算力基本都是买</a:t>
            </a:r>
            <a:endParaRPr lang="en-US" altLang="zh-CN" baseline="0" dirty="0">
              <a:ea typeface="微软雅黑" panose="020B0503020204020204" pitchFamily="34" charset="-122"/>
            </a:endParaRPr>
          </a:p>
          <a:p>
            <a:pPr marL="1219200" lvl="2" indent="0">
              <a:buNone/>
            </a:pPr>
            <a:endParaRPr lang="en-US" altLang="zh-CN" baseline="0" dirty="0">
              <a:ea typeface="微软雅黑" panose="020B0503020204020204" pitchFamily="34" charset="-122"/>
            </a:endParaRPr>
          </a:p>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07326F3-4732-B74B-9C70-D0992466E49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None/>
            </a:pPr>
            <a:r>
              <a:rPr lang="zh-CN" altLang="en-US" dirty="0"/>
              <a:t>这个胶片很重要，要耐心讲清楚。</a:t>
            </a:r>
            <a:endParaRPr lang="en-US" altLang="zh-CN" dirty="0"/>
          </a:p>
          <a:p>
            <a:pPr marL="0" indent="0">
              <a:buNone/>
            </a:pPr>
            <a:endParaRPr lang="en-US" altLang="zh-CN" dirty="0"/>
          </a:p>
          <a:p>
            <a:pPr marL="0" indent="0">
              <a:buNone/>
            </a:pPr>
            <a:r>
              <a:rPr lang="zh-CN" altLang="en-US" dirty="0"/>
              <a:t>人的学习本质是学习公式、公理、底层逻辑，然后获得推理的能力。</a:t>
            </a:r>
            <a:endParaRPr lang="en-US" altLang="zh-CN" dirty="0"/>
          </a:p>
          <a:p>
            <a:pPr marL="0" indent="0">
              <a:buNone/>
            </a:pPr>
            <a:r>
              <a:rPr lang="zh-CN" altLang="en-US" dirty="0"/>
              <a:t>而机器学习的本质是减少误差，提高命中的概率。</a:t>
            </a:r>
            <a:endParaRPr lang="en-US" altLang="zh-CN" dirty="0"/>
          </a:p>
          <a:p>
            <a:pPr marL="0" indent="0">
              <a:buNone/>
            </a:pPr>
            <a:r>
              <a:rPr lang="zh-CN" altLang="en-US" dirty="0"/>
              <a:t>以学习红绿灯来说，大人告诉孩子，红灯停、绿灯行，孩子听懂了，说到了逻辑，按照这个规则行事，这就是推理。这是人学习知识的过程。</a:t>
            </a:r>
            <a:endParaRPr lang="en-US" altLang="zh-CN" dirty="0"/>
          </a:p>
          <a:p>
            <a:pPr marL="0" indent="0">
              <a:buNone/>
            </a:pPr>
            <a:r>
              <a:rPr lang="zh-CN" altLang="en-US" dirty="0"/>
              <a:t>而机器学习是从互联网上看到了大量的视频，</a:t>
            </a:r>
            <a:r>
              <a:rPr lang="en-US" altLang="zh-CN" dirty="0"/>
              <a:t>99.99999%</a:t>
            </a:r>
            <a:r>
              <a:rPr lang="zh-CN" altLang="en-US" dirty="0"/>
              <a:t>的人在红灯亮起的时候，是停下来的，绿灯亮起来是走的，那么从机器智能来说，红灯停绿灯行是</a:t>
            </a:r>
            <a:r>
              <a:rPr lang="en-US" altLang="zh-CN" dirty="0"/>
              <a:t>99.99999%</a:t>
            </a:r>
            <a:r>
              <a:rPr lang="zh-CN" altLang="en-US" dirty="0"/>
              <a:t>的正确行动。机器不懂逻辑、公式或公理，但按概率来做，效果是一样的好，甚至更好。</a:t>
            </a:r>
            <a:endParaRPr lang="en-US" altLang="zh-CN" dirty="0"/>
          </a:p>
          <a:p>
            <a:pPr marL="0" indent="0">
              <a:buNone/>
            </a:pPr>
            <a:r>
              <a:rPr lang="zh-CN" altLang="en-US" dirty="0"/>
              <a:t>这个观点非常重要！要讲出来。</a:t>
            </a:r>
            <a:endParaRPr lang="en-US" altLang="zh-CN" dirty="0"/>
          </a:p>
          <a:p>
            <a:pPr marL="0" indent="0">
              <a:buNone/>
            </a:pPr>
            <a:r>
              <a:rPr lang="zh-CN" altLang="en-US" b="1" dirty="0"/>
              <a:t>人类作为碳基生命的学习方式和</a:t>
            </a:r>
            <a:r>
              <a:rPr lang="en-US" altLang="zh-CN" b="1" dirty="0"/>
              <a:t>AI</a:t>
            </a:r>
            <a:r>
              <a:rPr lang="zh-CN" altLang="en-US" b="1" dirty="0"/>
              <a:t>作为硅基生命的学习方式，是完全不同模式的学习方式。</a:t>
            </a:r>
            <a:endParaRPr lang="en-US" altLang="zh-CN" b="1" dirty="0"/>
          </a:p>
          <a:p>
            <a:pPr marL="0" indent="0">
              <a:buNone/>
            </a:pPr>
            <a:endParaRPr lang="en-US" altLang="zh-CN" dirty="0"/>
          </a:p>
          <a:p>
            <a:pPr marL="342900" indent="-342900">
              <a:buAutoNum type="arabicPeriod"/>
            </a:pPr>
            <a:r>
              <a:rPr lang="zh-CN" altLang="en-US" dirty="0"/>
              <a:t>看一个初中的二元一次方程例子很简单</a:t>
            </a:r>
            <a:endParaRPr lang="en-US" altLang="zh-CN" dirty="0"/>
          </a:p>
          <a:p>
            <a:pPr marL="952500" lvl="1" indent="-342900">
              <a:buAutoNum type="arabicPeriod"/>
            </a:pPr>
            <a:r>
              <a:rPr lang="zh-CN" altLang="en-US" dirty="0"/>
              <a:t>我们的模型本质上就是给一个输入</a:t>
            </a:r>
            <a:r>
              <a:rPr lang="en-US" altLang="zh-CN" dirty="0"/>
              <a:t>x</a:t>
            </a:r>
            <a:r>
              <a:rPr lang="zh-CN" altLang="en-US" dirty="0"/>
              <a:t>， 对应给一个输出</a:t>
            </a:r>
            <a:r>
              <a:rPr lang="en-US" altLang="zh-CN" dirty="0"/>
              <a:t>y</a:t>
            </a:r>
            <a:endParaRPr lang="en-US" altLang="zh-CN" dirty="0"/>
          </a:p>
          <a:p>
            <a:pPr marL="952500" lvl="1" indent="-342900">
              <a:buAutoNum type="arabicPeriod"/>
            </a:pPr>
            <a:r>
              <a:rPr lang="zh-CN" altLang="en-US" b="1" dirty="0"/>
              <a:t>建模：</a:t>
            </a:r>
            <a:r>
              <a:rPr lang="en-US" altLang="zh-CN" dirty="0"/>
              <a:t>AI</a:t>
            </a:r>
            <a:r>
              <a:rPr lang="zh-CN" altLang="en-US" dirty="0"/>
              <a:t>建模过程就是通过输入输出来猜里面</a:t>
            </a:r>
            <a:r>
              <a:rPr lang="en-US" altLang="zh-CN" dirty="0"/>
              <a:t>a, b</a:t>
            </a:r>
            <a:r>
              <a:rPr lang="zh-CN" altLang="en-US" dirty="0"/>
              <a:t>的过程， 就是我们</a:t>
            </a:r>
            <a:r>
              <a:rPr lang="en-US" altLang="zh-CN" dirty="0"/>
              <a:t>y=</a:t>
            </a:r>
            <a:r>
              <a:rPr lang="en-US" altLang="zh-CN" dirty="0" err="1"/>
              <a:t>ax+b</a:t>
            </a:r>
            <a:r>
              <a:rPr lang="en-US" altLang="zh-CN" dirty="0"/>
              <a:t>, </a:t>
            </a:r>
            <a:endParaRPr lang="en-US" altLang="zh-CN" dirty="0"/>
          </a:p>
          <a:p>
            <a:pPr marL="952500" lvl="1" indent="-342900">
              <a:buAutoNum type="arabicPeriod"/>
            </a:pPr>
            <a:r>
              <a:rPr lang="zh-CN" altLang="en-US" dirty="0"/>
              <a:t>求解过程有两种方法：</a:t>
            </a:r>
            <a:endParaRPr lang="en-US" altLang="zh-CN" dirty="0"/>
          </a:p>
          <a:p>
            <a:pPr marL="1562100" lvl="2" indent="-342900">
              <a:buAutoNum type="arabicPeriod"/>
            </a:pPr>
            <a:r>
              <a:rPr lang="zh-CN" altLang="en-US" dirty="0"/>
              <a:t>通过古典数学解方程的方式来求解</a:t>
            </a:r>
            <a:endParaRPr lang="en-US" altLang="zh-CN" dirty="0"/>
          </a:p>
          <a:p>
            <a:pPr marL="1562100" lvl="2" indent="-342900">
              <a:buAutoNum type="arabicPeriod"/>
            </a:pPr>
            <a:r>
              <a:rPr lang="zh-CN" altLang="en-US" dirty="0"/>
              <a:t>现在我们换一种方式来求解， 通过</a:t>
            </a:r>
            <a:r>
              <a:rPr lang="en-US" altLang="zh-CN" dirty="0"/>
              <a:t>AI</a:t>
            </a:r>
            <a:r>
              <a:rPr lang="zh-CN" altLang="en-US" dirty="0"/>
              <a:t>训练的方式求解</a:t>
            </a:r>
            <a:endParaRPr lang="en-US" altLang="zh-CN" dirty="0"/>
          </a:p>
          <a:p>
            <a:pPr marL="952500" lvl="1" indent="-342900">
              <a:buAutoNum type="arabicPeriod"/>
            </a:pPr>
            <a:r>
              <a:rPr lang="zh-CN" altLang="en-US" b="1" dirty="0"/>
              <a:t>训练：</a:t>
            </a:r>
            <a:endParaRPr lang="en-US" altLang="zh-CN" b="1" dirty="0"/>
          </a:p>
          <a:p>
            <a:pPr marL="1562100" lvl="2" indent="-342900">
              <a:buAutoNum type="arabicPeriod"/>
            </a:pPr>
            <a:r>
              <a:rPr lang="zh-CN" altLang="en-US" dirty="0"/>
              <a:t>首先我们随便给一个</a:t>
            </a:r>
            <a:r>
              <a:rPr lang="en-US" altLang="zh-CN" dirty="0"/>
              <a:t>a, b, </a:t>
            </a:r>
            <a:r>
              <a:rPr lang="zh-CN" altLang="en-US" dirty="0"/>
              <a:t>然后如何评估我们</a:t>
            </a:r>
            <a:r>
              <a:rPr lang="en-US" altLang="zh-CN" dirty="0"/>
              <a:t>a, b</a:t>
            </a:r>
            <a:r>
              <a:rPr lang="zh-CN" altLang="en-US" dirty="0"/>
              <a:t>的好不好，好不好我们用一个偏差函数来评估（损失函数）</a:t>
            </a:r>
            <a:endParaRPr lang="en-US" altLang="zh-CN" dirty="0"/>
          </a:p>
          <a:p>
            <a:pPr marL="1562100" lvl="2" indent="-342900">
              <a:buAutoNum type="arabicPeriod"/>
            </a:pPr>
            <a:r>
              <a:rPr lang="zh-CN" altLang="en-US" dirty="0"/>
              <a:t>我们希望偏差越小越好，也就是贴近我们最佳答案</a:t>
            </a:r>
            <a:endParaRPr lang="en-US" altLang="zh-CN" dirty="0"/>
          </a:p>
          <a:p>
            <a:pPr marL="1562100" lvl="2" indent="-342900">
              <a:buAutoNum type="arabicPeriod"/>
            </a:pPr>
            <a:r>
              <a:rPr lang="zh-CN" altLang="en-US" dirty="0"/>
              <a:t>每次调一下</a:t>
            </a:r>
            <a:r>
              <a:rPr lang="en-US" altLang="zh-CN" dirty="0"/>
              <a:t>a</a:t>
            </a:r>
            <a:r>
              <a:rPr lang="zh-CN" altLang="en-US" dirty="0"/>
              <a:t>或者</a:t>
            </a:r>
            <a:r>
              <a:rPr lang="en-US" altLang="zh-CN" dirty="0"/>
              <a:t>b</a:t>
            </a:r>
            <a:r>
              <a:rPr lang="zh-CN" altLang="en-US" dirty="0"/>
              <a:t>变得小一点</a:t>
            </a:r>
            <a:endParaRPr lang="en-US" altLang="zh-CN" dirty="0"/>
          </a:p>
          <a:p>
            <a:pPr marL="952500" lvl="1" indent="-342900">
              <a:buAutoNum type="arabicPeriod"/>
            </a:pPr>
            <a:r>
              <a:rPr lang="zh-CN" altLang="en-US" b="1" dirty="0"/>
              <a:t>推理：</a:t>
            </a:r>
            <a:r>
              <a:rPr lang="zh-CN" altLang="en-US" dirty="0"/>
              <a:t>的过程就是我们已经学习好了</a:t>
            </a:r>
            <a:r>
              <a:rPr lang="en-US" altLang="zh-CN" dirty="0"/>
              <a:t>a, b</a:t>
            </a:r>
            <a:r>
              <a:rPr lang="zh-CN" altLang="en-US" dirty="0"/>
              <a:t>的参数了， 现在我来了一个新的</a:t>
            </a:r>
            <a:r>
              <a:rPr lang="en-US" altLang="zh-CN" dirty="0"/>
              <a:t>x</a:t>
            </a:r>
            <a:r>
              <a:rPr lang="zh-CN" altLang="en-US" dirty="0"/>
              <a:t>， 然后预测</a:t>
            </a:r>
            <a:r>
              <a:rPr lang="en-US" altLang="zh-CN" dirty="0"/>
              <a:t>y</a:t>
            </a:r>
            <a:r>
              <a:rPr lang="zh-CN" altLang="en-US" dirty="0"/>
              <a:t>的过程</a:t>
            </a:r>
            <a:endParaRPr lang="en-US" altLang="zh-CN" dirty="0"/>
          </a:p>
          <a:p>
            <a:pPr marL="342900" lvl="0" indent="-342900">
              <a:buAutoNum type="arabicPeriod"/>
            </a:pPr>
            <a:r>
              <a:rPr lang="zh-CN" altLang="en-US" b="1" dirty="0"/>
              <a:t>微调：</a:t>
            </a:r>
            <a:r>
              <a:rPr lang="zh-CN" altLang="en-US" dirty="0"/>
              <a:t>如果我来了一个新的数据， 发现表现的不好， 结果偏差太大， 我们需要来微调一下部分参数。</a:t>
            </a:r>
            <a:endParaRPr lang="zh-CN" altLang="en-US" dirty="0"/>
          </a:p>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07326F3-4732-B74B-9C70-D0992466E49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None/>
            </a:pPr>
            <a:r>
              <a:rPr lang="zh-CN" altLang="en-US" baseline="0" dirty="0"/>
              <a:t>这张胶片很关键，但讲清楚不容易。作为老师，需要认真学习、思考并训练，如何能清晰、有趣，讲清楚。</a:t>
            </a:r>
            <a:endParaRPr lang="en-US" altLang="zh-CN" baseline="0" dirty="0"/>
          </a:p>
          <a:p>
            <a:pPr marL="0" indent="0">
              <a:buNone/>
            </a:pPr>
            <a:endParaRPr lang="en-US" altLang="zh-CN" baseline="0" dirty="0"/>
          </a:p>
          <a:p>
            <a:pPr marL="0" indent="0">
              <a:buNone/>
            </a:pPr>
            <a:r>
              <a:rPr lang="zh-CN" altLang="en-US" baseline="0" dirty="0"/>
              <a:t>左边是神经网络模拟人类的神经元（看后面解释）</a:t>
            </a:r>
            <a:endParaRPr lang="en-US" altLang="zh-CN" baseline="0" dirty="0"/>
          </a:p>
          <a:p>
            <a:pPr marL="0" indent="0">
              <a:buNone/>
            </a:pPr>
            <a:endParaRPr lang="en-US" altLang="zh-CN" baseline="0" dirty="0"/>
          </a:p>
          <a:p>
            <a:pPr marL="0" indent="0">
              <a:buNone/>
            </a:pPr>
            <a:r>
              <a:rPr lang="zh-CN" altLang="en-US" baseline="0" dirty="0"/>
              <a:t>右边是一个动画，讲清楚神经网络的核心工作机制。要求讲师先认真研读本胶片最后要求学习的一个视频，多看几遍。再思考怎么组织语言，生动有趣讲述清楚，让学员对神经网络、前向传播、后向传播、训练、推理、参数、权重、拟合、</a:t>
            </a:r>
            <a:r>
              <a:rPr lang="en-US" altLang="zh-CN" baseline="0" dirty="0"/>
              <a:t>Loss</a:t>
            </a:r>
            <a:r>
              <a:rPr lang="zh-CN" altLang="en-US" baseline="0" dirty="0"/>
              <a:t>最小化等概念建立起系统认知。</a:t>
            </a:r>
            <a:endParaRPr lang="en-US" altLang="zh-CN" baseline="0" dirty="0"/>
          </a:p>
          <a:p>
            <a:pPr marL="0" indent="0">
              <a:buNone/>
            </a:pPr>
            <a:r>
              <a:rPr lang="en-US" altLang="zh-CN" baseline="0" dirty="0"/>
              <a:t>1</a:t>
            </a:r>
            <a:r>
              <a:rPr lang="zh-CN" altLang="en-US" baseline="0" dirty="0"/>
              <a:t>）这是一个数字识别的神经网络，大致相当于所有程序入门的“</a:t>
            </a:r>
            <a:r>
              <a:rPr lang="en-US" altLang="zh-CN" baseline="0" dirty="0"/>
              <a:t>Hello World</a:t>
            </a:r>
            <a:r>
              <a:rPr lang="zh-CN" altLang="en-US" baseline="0" dirty="0"/>
              <a:t>”。理解这个视频，对于理解神经网络及其原理，继而对</a:t>
            </a:r>
            <a:r>
              <a:rPr lang="en-US" altLang="zh-CN" baseline="0" dirty="0"/>
              <a:t>AI</a:t>
            </a:r>
            <a:r>
              <a:rPr lang="zh-CN" altLang="en-US" baseline="0" dirty="0"/>
              <a:t>会有着更深入的底层逻辑的理解。</a:t>
            </a:r>
            <a:endParaRPr lang="en-US" altLang="zh-CN" baseline="0" dirty="0"/>
          </a:p>
          <a:p>
            <a:pPr marL="0" indent="0">
              <a:buNone/>
            </a:pPr>
            <a:r>
              <a:rPr lang="en-US" altLang="zh-CN" baseline="0" dirty="0"/>
              <a:t>2</a:t>
            </a:r>
            <a:r>
              <a:rPr lang="zh-CN" altLang="en-US" baseline="0" dirty="0"/>
              <a:t>）输入是什么呢？从人眼中看来，是数字</a:t>
            </a:r>
            <a:r>
              <a:rPr lang="en-US" altLang="zh-CN" baseline="0" dirty="0"/>
              <a:t>3</a:t>
            </a:r>
            <a:r>
              <a:rPr lang="zh-CN" altLang="en-US" baseline="0" dirty="0"/>
              <a:t>，但从机器视觉看来，数字是一个</a:t>
            </a:r>
            <a:r>
              <a:rPr lang="en-US" altLang="zh-CN" baseline="0" dirty="0"/>
              <a:t>28</a:t>
            </a:r>
            <a:r>
              <a:rPr lang="zh-CN" altLang="en-US" baseline="0" dirty="0"/>
              <a:t>*</a:t>
            </a:r>
            <a:r>
              <a:rPr lang="en-US" altLang="zh-CN" baseline="0" dirty="0"/>
              <a:t>28</a:t>
            </a:r>
            <a:r>
              <a:rPr lang="zh-CN" altLang="en-US" baseline="0" dirty="0"/>
              <a:t>的图，图中黑白是</a:t>
            </a:r>
            <a:r>
              <a:rPr lang="en-US" altLang="zh-CN" baseline="0" dirty="0"/>
              <a:t>0-1</a:t>
            </a:r>
            <a:r>
              <a:rPr lang="zh-CN" altLang="en-US" baseline="0" dirty="0"/>
              <a:t>之间的数来表示点，黑是</a:t>
            </a:r>
            <a:r>
              <a:rPr lang="en-US" altLang="zh-CN" baseline="0" dirty="0"/>
              <a:t>1</a:t>
            </a:r>
            <a:r>
              <a:rPr lang="zh-CN" altLang="en-US" baseline="0" dirty="0"/>
              <a:t>，</a:t>
            </a:r>
            <a:r>
              <a:rPr lang="en-US" altLang="zh-CN" baseline="0" dirty="0"/>
              <a:t>0</a:t>
            </a:r>
            <a:r>
              <a:rPr lang="zh-CN" altLang="en-US" baseline="0" dirty="0"/>
              <a:t>是白。通过一个四层的神经网络，最后能识别当前数字图像是几，这就是输出。一个输入层、一个输出层，两个隐藏层。</a:t>
            </a:r>
            <a:endParaRPr lang="en-US" altLang="zh-CN" baseline="0" dirty="0"/>
          </a:p>
          <a:p>
            <a:pPr marL="0" indent="0">
              <a:buNone/>
            </a:pPr>
            <a:r>
              <a:rPr lang="en-US" altLang="zh-CN" baseline="0" dirty="0"/>
              <a:t>3</a:t>
            </a:r>
            <a:r>
              <a:rPr lang="zh-CN" altLang="en-US" baseline="0" dirty="0"/>
              <a:t>）我们反过来看，机器是如何识别</a:t>
            </a:r>
            <a:r>
              <a:rPr lang="en-US" altLang="zh-CN" baseline="0" dirty="0"/>
              <a:t>9</a:t>
            </a:r>
            <a:r>
              <a:rPr lang="zh-CN" altLang="en-US" baseline="0" dirty="0"/>
              <a:t>的，</a:t>
            </a:r>
            <a:r>
              <a:rPr lang="en-US" altLang="zh-CN" baseline="0" dirty="0"/>
              <a:t>9</a:t>
            </a:r>
            <a:r>
              <a:rPr lang="zh-CN" altLang="en-US" baseline="0" dirty="0"/>
              <a:t>是一个圈</a:t>
            </a:r>
            <a:r>
              <a:rPr lang="en-US" altLang="zh-CN" baseline="0" dirty="0"/>
              <a:t>+</a:t>
            </a:r>
            <a:r>
              <a:rPr lang="zh-CN" altLang="en-US" baseline="0" dirty="0"/>
              <a:t>一个竖，如果倒数一层的神经网络能识别出这两个要素，那么是</a:t>
            </a:r>
            <a:r>
              <a:rPr lang="en-US" altLang="zh-CN" baseline="0" dirty="0"/>
              <a:t>9</a:t>
            </a:r>
            <a:r>
              <a:rPr lang="zh-CN" altLang="en-US" baseline="0" dirty="0"/>
              <a:t>的概率就很大。机器识别</a:t>
            </a:r>
            <a:r>
              <a:rPr lang="en-US" altLang="zh-CN" baseline="0" dirty="0"/>
              <a:t>9</a:t>
            </a:r>
            <a:r>
              <a:rPr lang="zh-CN" altLang="en-US" baseline="0" dirty="0"/>
              <a:t>，其实只是认为概率是</a:t>
            </a:r>
            <a:r>
              <a:rPr lang="en-US" altLang="zh-CN" baseline="0" dirty="0"/>
              <a:t>9</a:t>
            </a:r>
            <a:r>
              <a:rPr lang="zh-CN" altLang="en-US" baseline="0" dirty="0"/>
              <a:t>的概率比较高。就好像一个图像识别，说这个是猫概率是</a:t>
            </a:r>
            <a:r>
              <a:rPr lang="en-US" altLang="zh-CN" baseline="0" dirty="0"/>
              <a:t>80%</a:t>
            </a:r>
            <a:r>
              <a:rPr lang="zh-CN" altLang="en-US" baseline="0" dirty="0"/>
              <a:t>，老虎是</a:t>
            </a:r>
            <a:r>
              <a:rPr lang="en-US" altLang="zh-CN" baseline="0" dirty="0"/>
              <a:t>50%</a:t>
            </a:r>
            <a:r>
              <a:rPr lang="zh-CN" altLang="en-US" baseline="0" dirty="0"/>
              <a:t>，狗是</a:t>
            </a:r>
            <a:r>
              <a:rPr lang="en-US" altLang="zh-CN" baseline="0" dirty="0"/>
              <a:t>30%</a:t>
            </a:r>
            <a:r>
              <a:rPr lang="zh-CN" altLang="en-US" baseline="0" dirty="0"/>
              <a:t>，那么就告诉你，这是猫，这就是</a:t>
            </a:r>
            <a:r>
              <a:rPr lang="en-US" altLang="zh-CN" baseline="0" dirty="0"/>
              <a:t>Loss</a:t>
            </a:r>
            <a:r>
              <a:rPr lang="zh-CN" altLang="en-US" baseline="0" dirty="0"/>
              <a:t>最小化。</a:t>
            </a:r>
            <a:endParaRPr lang="en-US" altLang="zh-CN" baseline="0" dirty="0"/>
          </a:p>
          <a:p>
            <a:pPr marL="0" indent="0">
              <a:buNone/>
            </a:pPr>
            <a:r>
              <a:rPr lang="en-US" altLang="zh-CN" baseline="0" dirty="0"/>
              <a:t>4</a:t>
            </a:r>
            <a:r>
              <a:rPr lang="zh-CN" altLang="en-US" baseline="0" dirty="0"/>
              <a:t>）再反过来看一层，如何识别是一个圈</a:t>
            </a:r>
            <a:r>
              <a:rPr lang="en-US" altLang="zh-CN" baseline="0" dirty="0"/>
              <a:t>+</a:t>
            </a:r>
            <a:r>
              <a:rPr lang="zh-CN" altLang="en-US" baseline="0" dirty="0"/>
              <a:t>一个竖，就分为更细的线条来识别（视频中有）。如果这些线条能识别出来，通过这一层的模型运算（类似前面案例中的房价评估），就大概率得到一个圈</a:t>
            </a:r>
            <a:r>
              <a:rPr lang="en-US" altLang="zh-CN" baseline="0" dirty="0"/>
              <a:t>+</a:t>
            </a:r>
            <a:r>
              <a:rPr lang="zh-CN" altLang="en-US" baseline="0" dirty="0"/>
              <a:t>一个竖，进而再得到</a:t>
            </a:r>
            <a:r>
              <a:rPr lang="en-US" altLang="zh-CN" baseline="0" dirty="0"/>
              <a:t>9.</a:t>
            </a:r>
            <a:endParaRPr lang="en-US" altLang="zh-CN" baseline="0" dirty="0"/>
          </a:p>
          <a:p>
            <a:pPr marL="0" indent="0">
              <a:buNone/>
            </a:pPr>
            <a:r>
              <a:rPr lang="en-US" altLang="zh-CN" baseline="0" dirty="0"/>
              <a:t>5</a:t>
            </a:r>
            <a:r>
              <a:rPr lang="zh-CN" altLang="en-US" baseline="0" dirty="0"/>
              <a:t>）再倒推一层，就是如何从原始元素中，识别这些更细的线条。原理类似。也就是每个点和这些线条都有</a:t>
            </a:r>
            <a:r>
              <a:rPr lang="en-US" altLang="zh-CN" baseline="0" dirty="0"/>
              <a:t>a*</a:t>
            </a:r>
            <a:r>
              <a:rPr lang="en-US" altLang="zh-CN" baseline="0" dirty="0" err="1"/>
              <a:t>x+b</a:t>
            </a:r>
            <a:r>
              <a:rPr lang="zh-CN" altLang="en-US" baseline="0" dirty="0"/>
              <a:t>的运算。这些</a:t>
            </a:r>
            <a:r>
              <a:rPr lang="en-US" altLang="zh-CN" baseline="0" dirty="0"/>
              <a:t>a</a:t>
            </a:r>
            <a:r>
              <a:rPr lang="zh-CN" altLang="en-US" baseline="0" dirty="0"/>
              <a:t>和</a:t>
            </a:r>
            <a:r>
              <a:rPr lang="en-US" altLang="zh-CN" baseline="0" dirty="0"/>
              <a:t>b</a:t>
            </a:r>
            <a:r>
              <a:rPr lang="zh-CN" altLang="en-US" baseline="0" dirty="0"/>
              <a:t>就是参数、权重。正向来看，就是前面那张猫眼识别东西的过程，输入层就是视网膜，</a:t>
            </a:r>
            <a:r>
              <a:rPr lang="zh-CN" altLang="en-US" dirty="0"/>
              <a:t>隐藏层就是特征提取，输出层就是判断结果</a:t>
            </a:r>
            <a:r>
              <a:rPr lang="zh-CN" altLang="en-US" baseline="0" dirty="0"/>
              <a:t>。</a:t>
            </a:r>
            <a:endParaRPr lang="en-US" altLang="zh-CN" baseline="0" dirty="0"/>
          </a:p>
          <a:p>
            <a:pPr marL="0" indent="0">
              <a:buNone/>
            </a:pPr>
            <a:r>
              <a:rPr lang="en-US" altLang="zh-CN" baseline="0" dirty="0"/>
              <a:t>6</a:t>
            </a:r>
            <a:r>
              <a:rPr lang="zh-CN" altLang="en-US" baseline="0" dirty="0"/>
              <a:t>）好了，通过大量的训练，我们得到了一个参数集，这就是模型了。模型就可以用于识别，那就是推理。</a:t>
            </a:r>
            <a:endParaRPr lang="en-US" altLang="zh-CN" baseline="0" dirty="0"/>
          </a:p>
          <a:p>
            <a:pPr marL="0" indent="0">
              <a:buNone/>
            </a:pPr>
            <a:r>
              <a:rPr lang="en-US" altLang="zh-CN" baseline="0" dirty="0"/>
              <a:t>7</a:t>
            </a:r>
            <a:r>
              <a:rPr lang="zh-CN" altLang="en-US" baseline="0" dirty="0"/>
              <a:t>）所谓的模型，就是通过训练，得到了大量参数（这个简单的神经网络就有</a:t>
            </a:r>
            <a:r>
              <a:rPr lang="en-US" altLang="zh-CN" baseline="0" dirty="0"/>
              <a:t>1</a:t>
            </a:r>
            <a:r>
              <a:rPr lang="zh-CN" altLang="en-US" baseline="0" dirty="0"/>
              <a:t>万多参数），通过这些参数的计算，就能得出大概率正确的识别结果。</a:t>
            </a:r>
            <a:endParaRPr lang="en-US" altLang="zh-CN" baseline="0" dirty="0"/>
          </a:p>
          <a:p>
            <a:pPr marL="0" indent="0">
              <a:buNone/>
            </a:pPr>
            <a:r>
              <a:rPr lang="en-US" altLang="zh-CN" baseline="0" dirty="0"/>
              <a:t>8</a:t>
            </a:r>
            <a:r>
              <a:rPr lang="zh-CN" altLang="en-US" baseline="0" dirty="0"/>
              <a:t>）换而言之，我们通过训练，得到里面有</a:t>
            </a:r>
            <a:r>
              <a:rPr lang="en-US" altLang="zh-CN" baseline="0" dirty="0"/>
              <a:t>1</a:t>
            </a:r>
            <a:r>
              <a:rPr lang="zh-CN" altLang="en-US" baseline="0" dirty="0"/>
              <a:t>万多个参数的黑盒子。我们不懂得具体的原理，也不可追溯，就是得到了结果，但不知道具体是怎么推算出来的。</a:t>
            </a:r>
            <a:endParaRPr lang="en-US" altLang="zh-CN" baseline="0" dirty="0"/>
          </a:p>
          <a:p>
            <a:pPr marL="0" marR="0" lvl="0" indent="0" algn="l" defTabSz="1219200" rtl="0" eaLnBrk="1" fontAlgn="auto" latinLnBrk="0" hangingPunct="1">
              <a:lnSpc>
                <a:spcPct val="100000"/>
              </a:lnSpc>
              <a:spcBef>
                <a:spcPts val="0"/>
              </a:spcBef>
              <a:spcAft>
                <a:spcPts val="0"/>
              </a:spcAft>
              <a:buClrTx/>
              <a:buSzTx/>
              <a:buFontTx/>
              <a:buNone/>
              <a:defRPr/>
            </a:pPr>
            <a:r>
              <a:rPr lang="en-US" altLang="zh-CN" baseline="0" dirty="0"/>
              <a:t>9</a:t>
            </a:r>
            <a:r>
              <a:rPr lang="zh-CN" altLang="en-US" baseline="0" dirty="0"/>
              <a:t>）前面都是正向传播。那什么反向传播呢？我们当前得到一个一万多参数的黑盒子，反向传播就是发现测试结果有错误的时候，反过来每层来调整这些参数，再正向传播看结果如何。通过正向传播和反向传播，不断调整参数，我们的模型表现越来越好，就越来越聪明了，这就是前面所说的</a:t>
            </a:r>
            <a:r>
              <a:rPr lang="en-US" altLang="zh-CN" baseline="0" dirty="0"/>
              <a:t>Loss</a:t>
            </a:r>
            <a:r>
              <a:rPr lang="zh-CN" altLang="en-US" baseline="0" dirty="0"/>
              <a:t>函数最小化。整个这个过程，就是训练。这意味着什么？意味着这样一个系统，就好像自然界能够进化的动物一样，它能自己适应环境，不断演进，变得越来越好，而不是用规则固定，一成不变。这种，利用多层神经网络来自我学习、自我优化，不断提升智商的方法，改变了</a:t>
            </a:r>
            <a:r>
              <a:rPr lang="en-US" altLang="zh-CN" baseline="0" dirty="0"/>
              <a:t>AI</a:t>
            </a:r>
            <a:r>
              <a:rPr lang="zh-CN" altLang="en-US" baseline="0" dirty="0"/>
              <a:t>甚至改变人类文明的发展方向。</a:t>
            </a:r>
            <a:r>
              <a:rPr lang="zh-CN" altLang="zh-CN" sz="1800" dirty="0">
                <a:effectLst/>
                <a:latin typeface="宋体" panose="02010600030101010101" pitchFamily="2" charset="-122"/>
                <a:ea typeface="等线" panose="02010600030101010101" charset="-122"/>
                <a:cs typeface="宋体" panose="02010600030101010101" pitchFamily="2" charset="-122"/>
              </a:rPr>
              <a:t>关于人工智能，一直有个有趣的想法，进化论说碳基生物的进化是通过一些微小的基因变异经过自然选择后实现的，那么硅基能不能也用类似的方法，让程序在特定的条件下也发生一些变化，</a:t>
            </a:r>
            <a:r>
              <a:rPr lang="zh-CN" altLang="en-US" sz="1800" dirty="0">
                <a:effectLst/>
                <a:latin typeface="宋体" panose="02010600030101010101" pitchFamily="2" charset="-122"/>
                <a:ea typeface="等线" panose="02010600030101010101" charset="-122"/>
                <a:cs typeface="宋体" panose="02010600030101010101" pitchFamily="2" charset="-122"/>
              </a:rPr>
              <a:t>反向传播就是不断的细微调整</a:t>
            </a:r>
            <a:r>
              <a:rPr lang="zh-CN" altLang="zh-CN" sz="1800" dirty="0">
                <a:effectLst/>
                <a:latin typeface="宋体" panose="02010600030101010101" pitchFamily="2" charset="-122"/>
                <a:ea typeface="等线" panose="02010600030101010101" charset="-122"/>
                <a:cs typeface="宋体" panose="02010600030101010101" pitchFamily="2" charset="-122"/>
              </a:rPr>
              <a:t>，不</a:t>
            </a:r>
            <a:r>
              <a:rPr lang="zh-CN" altLang="en-US" sz="1800" dirty="0">
                <a:effectLst/>
                <a:latin typeface="宋体" panose="02010600030101010101" pitchFamily="2" charset="-122"/>
                <a:ea typeface="等线" panose="02010600030101010101" charset="-122"/>
                <a:cs typeface="宋体" panose="02010600030101010101" pitchFamily="2" charset="-122"/>
              </a:rPr>
              <a:t>好</a:t>
            </a:r>
            <a:r>
              <a:rPr lang="zh-CN" altLang="zh-CN" sz="1800" dirty="0">
                <a:effectLst/>
                <a:latin typeface="宋体" panose="02010600030101010101" pitchFamily="2" charset="-122"/>
                <a:ea typeface="等线" panose="02010600030101010101" charset="-122"/>
                <a:cs typeface="宋体" panose="02010600030101010101" pitchFamily="2" charset="-122"/>
              </a:rPr>
              <a:t>的淘汰掉，进化出硅基智能</a:t>
            </a:r>
            <a:r>
              <a:rPr lang="zh-CN" altLang="en-US" sz="1800" dirty="0">
                <a:effectLst/>
                <a:latin typeface="宋体" panose="02010600030101010101" pitchFamily="2" charset="-122"/>
                <a:ea typeface="等线" panose="02010600030101010101" charset="-122"/>
                <a:cs typeface="宋体" panose="02010600030101010101" pitchFamily="2" charset="-122"/>
              </a:rPr>
              <a:t>。</a:t>
            </a:r>
            <a:endParaRPr lang="en-US" altLang="zh-CN" baseline="0" dirty="0"/>
          </a:p>
          <a:p>
            <a:pPr marL="0" marR="0" lvl="0" indent="0" algn="l" defTabSz="1219200" rtl="0" eaLnBrk="1" fontAlgn="auto" latinLnBrk="0" hangingPunct="1">
              <a:lnSpc>
                <a:spcPct val="100000"/>
              </a:lnSpc>
              <a:spcBef>
                <a:spcPts val="0"/>
              </a:spcBef>
              <a:spcAft>
                <a:spcPts val="0"/>
              </a:spcAft>
              <a:buClrTx/>
              <a:buSzTx/>
              <a:buFontTx/>
              <a:buNone/>
              <a:defRPr/>
            </a:pPr>
            <a:r>
              <a:rPr lang="en-US" altLang="zh-CN" baseline="0" dirty="0"/>
              <a:t>10</a:t>
            </a:r>
            <a:r>
              <a:rPr lang="zh-CN" altLang="en-US" baseline="0" dirty="0"/>
              <a:t>）这么简单的入门级案例，参数量就过万，也就是说，</a:t>
            </a:r>
            <a:r>
              <a:rPr lang="en-US" altLang="zh-CN" baseline="0" dirty="0"/>
              <a:t>AI</a:t>
            </a:r>
            <a:r>
              <a:rPr lang="zh-CN" altLang="en-US" baseline="0" dirty="0"/>
              <a:t>本身所需要的训练量是非常巨大的。我们经常说这个模型是</a:t>
            </a:r>
            <a:r>
              <a:rPr lang="en-US" altLang="zh-CN" baseline="0" dirty="0"/>
              <a:t>7B</a:t>
            </a:r>
            <a:r>
              <a:rPr lang="zh-CN" altLang="en-US" baseline="0" dirty="0"/>
              <a:t>，是个参数量小的模型，参数量都有</a:t>
            </a:r>
            <a:r>
              <a:rPr lang="en-US" altLang="zh-CN" baseline="0" dirty="0"/>
              <a:t>70</a:t>
            </a:r>
            <a:r>
              <a:rPr lang="zh-CN" altLang="en-US" baseline="0" dirty="0"/>
              <a:t>亿次。这么大参数量，当然需要巨大的算力。</a:t>
            </a:r>
            <a:endParaRPr lang="en-US" altLang="zh-CN" baseline="0" dirty="0"/>
          </a:p>
          <a:p>
            <a:pPr marL="0" marR="0" lvl="0" indent="0" algn="l" defTabSz="1219200" rtl="0" eaLnBrk="1" fontAlgn="auto" latinLnBrk="0" hangingPunct="1">
              <a:lnSpc>
                <a:spcPct val="100000"/>
              </a:lnSpc>
              <a:spcBef>
                <a:spcPts val="0"/>
              </a:spcBef>
              <a:spcAft>
                <a:spcPts val="0"/>
              </a:spcAft>
              <a:buClrTx/>
              <a:buSzTx/>
              <a:buFontTx/>
              <a:buNone/>
              <a:defRPr/>
            </a:pPr>
            <a:r>
              <a:rPr lang="en-US" altLang="zh-CN" sz="1600" b="0" i="0" kern="1200" dirty="0">
                <a:solidFill>
                  <a:schemeClr val="tx1"/>
                </a:solidFill>
                <a:effectLst/>
                <a:latin typeface="+mn-lt"/>
                <a:ea typeface="+mn-ea"/>
                <a:cs typeface="+mn-cs"/>
              </a:rPr>
              <a:t>11</a:t>
            </a:r>
            <a:r>
              <a:rPr lang="zh-CN" altLang="en-US" sz="1600" b="0" i="0" kern="1200" dirty="0">
                <a:solidFill>
                  <a:schemeClr val="tx1"/>
                </a:solidFill>
                <a:effectLst/>
                <a:latin typeface="+mn-lt"/>
                <a:ea typeface="+mn-ea"/>
                <a:cs typeface="+mn-cs"/>
              </a:rPr>
              <a:t>）总结一下，机器模仿人类的视觉感知功能，首先用代码的方式搭建</a:t>
            </a:r>
            <a:r>
              <a:rPr lang="zh-CN" altLang="en-US" sz="1600" dirty="0"/>
              <a:t>成百万上千万的节点构成深度神经网络，每一层处理不同层级信息和特征提取。但机器不像人类一样，有遗传、有更复杂的脑科学支撑，机器看到的都是</a:t>
            </a:r>
            <a:r>
              <a:rPr lang="en-US" altLang="zh-CN" sz="1600" dirty="0"/>
              <a:t>0101</a:t>
            </a:r>
            <a:r>
              <a:rPr lang="zh-CN" altLang="en-US" sz="1600" dirty="0"/>
              <a:t>的信息，所以它还需要海量的数据来训练自己</a:t>
            </a:r>
            <a:endParaRPr lang="en-US" altLang="zh-CN" baseline="0" dirty="0"/>
          </a:p>
          <a:p>
            <a:pPr marL="0" marR="0" lvl="0" indent="0" algn="l" defTabSz="1219200" rtl="0" eaLnBrk="1" fontAlgn="auto" latinLnBrk="0" hangingPunct="1">
              <a:lnSpc>
                <a:spcPct val="100000"/>
              </a:lnSpc>
              <a:spcBef>
                <a:spcPts val="0"/>
              </a:spcBef>
              <a:spcAft>
                <a:spcPts val="0"/>
              </a:spcAft>
              <a:buClrTx/>
              <a:buSzTx/>
              <a:buFontTx/>
              <a:buNone/>
              <a:defRPr/>
            </a:pPr>
            <a:r>
              <a:rPr lang="en-US" altLang="zh-CN" baseline="0" dirty="0"/>
              <a:t>12</a:t>
            </a:r>
            <a:r>
              <a:rPr lang="zh-CN" altLang="en-US" baseline="0" dirty="0"/>
              <a:t>）看起来复杂，其实原理似乎不算太复杂。</a:t>
            </a:r>
            <a:r>
              <a:rPr lang="zh-CN" altLang="en-US" sz="1600" b="0" i="0" kern="1200" dirty="0">
                <a:solidFill>
                  <a:schemeClr val="tx1"/>
                </a:solidFill>
                <a:effectLst/>
                <a:latin typeface="+mn-lt"/>
                <a:ea typeface="+mn-ea"/>
                <a:cs typeface="+mn-cs"/>
              </a:rPr>
              <a:t>智能的本质是神经网络与符号系统的世纪之争。</a:t>
            </a:r>
            <a:r>
              <a:rPr lang="zh-CN" altLang="en-US" dirty="0"/>
              <a:t>神经网络算法的发明是现代人工智能的开端，其作用类似飞行器的空气动力学。</a:t>
            </a:r>
            <a:endParaRPr lang="en-US" altLang="zh-CN" dirty="0"/>
          </a:p>
          <a:p>
            <a:pPr marL="0" marR="0" lvl="0" indent="0" algn="l" defTabSz="1219200" rtl="0" eaLnBrk="1" fontAlgn="auto" latinLnBrk="0" hangingPunct="1">
              <a:lnSpc>
                <a:spcPct val="100000"/>
              </a:lnSpc>
              <a:spcBef>
                <a:spcPts val="0"/>
              </a:spcBef>
              <a:spcAft>
                <a:spcPts val="0"/>
              </a:spcAft>
              <a:buClrTx/>
              <a:buSzTx/>
              <a:buFontTx/>
              <a:buNone/>
              <a:defRPr/>
            </a:pPr>
            <a:r>
              <a:rPr lang="en-US" altLang="zh-CN" baseline="0" dirty="0"/>
              <a:t>13</a:t>
            </a:r>
            <a:r>
              <a:rPr lang="zh-CN" altLang="en-US" baseline="0" dirty="0"/>
              <a:t>）数字识别只是开始，类似动物识别、语言识别都可以这样。现代</a:t>
            </a:r>
            <a:r>
              <a:rPr lang="en-US" altLang="zh-CN" baseline="0" dirty="0"/>
              <a:t>AI</a:t>
            </a:r>
            <a:r>
              <a:rPr lang="zh-CN" altLang="en-US" baseline="0" dirty="0"/>
              <a:t>的大门就此开启。</a:t>
            </a:r>
            <a:r>
              <a:rPr kumimoji="1" lang="zh-CN" altLang="en-US" dirty="0">
                <a:solidFill>
                  <a:srgbClr val="000000"/>
                </a:solidFill>
                <a:latin typeface="微软雅黑" panose="020B0503020204020204" pitchFamily="34" charset="-122"/>
                <a:ea typeface="微软雅黑" panose="020B0503020204020204" pitchFamily="34" charset="-122"/>
              </a:rPr>
              <a:t>基于前向传播和后向传播的神经网络开启了现代</a:t>
            </a:r>
            <a:r>
              <a:rPr kumimoji="1" lang="en-US" altLang="zh-CN" dirty="0">
                <a:solidFill>
                  <a:srgbClr val="000000"/>
                </a:solidFill>
                <a:latin typeface="微软雅黑" panose="020B0503020204020204" pitchFamily="34" charset="-122"/>
                <a:ea typeface="微软雅黑" panose="020B0503020204020204" pitchFamily="34" charset="-122"/>
              </a:rPr>
              <a:t>AI</a:t>
            </a:r>
            <a:r>
              <a:rPr kumimoji="1" lang="zh-CN" altLang="en-US" dirty="0">
                <a:solidFill>
                  <a:srgbClr val="000000"/>
                </a:solidFill>
                <a:latin typeface="微软雅黑" panose="020B0503020204020204" pitchFamily="34" charset="-122"/>
                <a:ea typeface="微软雅黑" panose="020B0503020204020204" pitchFamily="34" charset="-122"/>
              </a:rPr>
              <a:t>的大发展</a:t>
            </a:r>
            <a:endParaRPr kumimoji="1" lang="zh-CN" altLang="en-US" dirty="0">
              <a:solidFill>
                <a:srgbClr val="000000"/>
              </a:solidFill>
              <a:latin typeface="微软雅黑" panose="020B0503020204020204" pitchFamily="34" charset="-122"/>
              <a:ea typeface="微软雅黑" panose="020B0503020204020204" pitchFamily="34" charset="-122"/>
            </a:endParaRPr>
          </a:p>
          <a:p>
            <a:pPr marL="0" marR="0" lvl="0" indent="0" algn="l" defTabSz="1219200" rtl="0" eaLnBrk="1" fontAlgn="auto" latinLnBrk="0" hangingPunct="1">
              <a:lnSpc>
                <a:spcPct val="100000"/>
              </a:lnSpc>
              <a:spcBef>
                <a:spcPts val="0"/>
              </a:spcBef>
              <a:spcAft>
                <a:spcPts val="0"/>
              </a:spcAft>
              <a:buClrTx/>
              <a:buSzTx/>
              <a:buFontTx/>
              <a:buNone/>
              <a:defRPr/>
            </a:pPr>
            <a:endParaRPr lang="en-US" altLang="zh-CN" baseline="0" dirty="0"/>
          </a:p>
          <a:p>
            <a:pPr marL="0" indent="0">
              <a:buNone/>
            </a:pPr>
            <a:r>
              <a:rPr lang="zh-CN" altLang="en-US" b="1" baseline="0" dirty="0"/>
              <a:t>这个视频可以在第一段课程结束后，让学员自己来讲自己对现代</a:t>
            </a:r>
            <a:r>
              <a:rPr lang="en-US" altLang="zh-CN" b="1" baseline="0" dirty="0"/>
              <a:t>AI</a:t>
            </a:r>
            <a:r>
              <a:rPr lang="zh-CN" altLang="en-US" b="1" baseline="0" dirty="0"/>
              <a:t>“</a:t>
            </a:r>
            <a:r>
              <a:rPr lang="en-US" altLang="zh-CN" b="1" baseline="0" dirty="0"/>
              <a:t>Hello world</a:t>
            </a:r>
            <a:r>
              <a:rPr lang="zh-CN" altLang="en-US" b="1" baseline="0" dirty="0"/>
              <a:t>”的理解，作为一个互动活动。</a:t>
            </a:r>
            <a:endParaRPr lang="en-US" altLang="zh-CN" b="1" baseline="0" dirty="0"/>
          </a:p>
          <a:p>
            <a:pPr marL="0" indent="0">
              <a:buNone/>
            </a:pPr>
            <a:endParaRPr lang="en-US" altLang="zh-CN" baseline="0" dirty="0"/>
          </a:p>
          <a:p>
            <a:pPr marL="0" indent="0">
              <a:buNone/>
            </a:pPr>
            <a:endParaRPr lang="en-US" altLang="zh-CN" baseline="0" dirty="0"/>
          </a:p>
          <a:p>
            <a:pPr marL="0" indent="0">
              <a:buNone/>
            </a:pPr>
            <a:r>
              <a:rPr lang="zh-CN" altLang="en-US" baseline="0" dirty="0"/>
              <a:t>背景阅读：</a:t>
            </a:r>
            <a:endParaRPr lang="en-US" altLang="zh-CN" baseline="0" dirty="0"/>
          </a:p>
          <a:p>
            <a:pPr marL="0" indent="0">
              <a:buNone/>
            </a:pPr>
            <a:r>
              <a:rPr lang="zh-CN" altLang="en-US" dirty="0"/>
              <a:t>深度神经网络从仿生学来，深度学习里面的人工神经元模仿的就是人类的神经元。大家都都知道</a:t>
            </a:r>
            <a:r>
              <a:rPr lang="zh-CN" altLang="en-US" sz="1600" b="0" i="0" kern="1200" dirty="0">
                <a:solidFill>
                  <a:schemeClr val="tx1"/>
                </a:solidFill>
                <a:effectLst/>
                <a:latin typeface="+mn-lt"/>
                <a:ea typeface="+mn-ea"/>
                <a:cs typeface="+mn-cs"/>
              </a:rPr>
              <a:t>神经元是构成我们大脑的基本单元，它们通过突触相互连接，传递电信号。每个神经元可以接收来自其他神经元的信号，当信号强度足够时，它会发放动作电位，即神经冲动，将信息传递给下一个神经元。</a:t>
            </a:r>
            <a:endParaRPr lang="en-US" altLang="zh-CN" sz="1600" b="0" i="0" kern="1200" dirty="0">
              <a:solidFill>
                <a:schemeClr val="tx1"/>
              </a:solidFill>
              <a:effectLst/>
              <a:latin typeface="+mn-lt"/>
              <a:ea typeface="+mn-ea"/>
              <a:cs typeface="+mn-cs"/>
            </a:endParaRPr>
          </a:p>
          <a:p>
            <a:endParaRPr lang="en-US" altLang="zh-CN" sz="1600" b="1" i="0" kern="1200" dirty="0">
              <a:solidFill>
                <a:schemeClr val="tx1"/>
              </a:solidFill>
              <a:effectLst/>
              <a:latin typeface="+mn-lt"/>
              <a:ea typeface="+mn-ea"/>
              <a:cs typeface="+mn-cs"/>
            </a:endParaRPr>
          </a:p>
          <a:p>
            <a:r>
              <a:rPr lang="zh-CN" altLang="en-US" sz="1600" b="1" i="0" kern="1200" dirty="0">
                <a:solidFill>
                  <a:schemeClr val="tx1"/>
                </a:solidFill>
                <a:effectLst/>
                <a:latin typeface="+mn-lt"/>
                <a:ea typeface="+mn-ea"/>
                <a:cs typeface="+mn-cs"/>
              </a:rPr>
              <a:t>人工神经元的灵感来源：</a:t>
            </a:r>
            <a:r>
              <a:rPr lang="zh-CN" altLang="en-US" sz="1600" b="0" i="0" kern="1200" dirty="0">
                <a:solidFill>
                  <a:schemeClr val="tx1"/>
                </a:solidFill>
                <a:effectLst/>
                <a:latin typeface="+mn-lt"/>
                <a:ea typeface="+mn-ea"/>
                <a:cs typeface="+mn-cs"/>
              </a:rPr>
              <a:t> </a:t>
            </a:r>
            <a:r>
              <a:rPr lang="en-US" altLang="zh-CN" sz="1600" b="0" i="0" kern="1200" dirty="0">
                <a:solidFill>
                  <a:schemeClr val="tx1"/>
                </a:solidFill>
                <a:effectLst/>
                <a:latin typeface="+mn-lt"/>
                <a:ea typeface="+mn-ea"/>
                <a:cs typeface="+mn-cs"/>
              </a:rPr>
              <a:t>"</a:t>
            </a:r>
            <a:r>
              <a:rPr lang="zh-CN" altLang="en-US" sz="1600" b="0" i="0" kern="1200" dirty="0">
                <a:solidFill>
                  <a:schemeClr val="tx1"/>
                </a:solidFill>
                <a:effectLst/>
                <a:latin typeface="+mn-lt"/>
                <a:ea typeface="+mn-ea"/>
                <a:cs typeface="+mn-cs"/>
              </a:rPr>
              <a:t>人工神经元的设计灵感正是来源于生物神经元。在人工智能领域，我们尝试通过数学模型来模拟这种生物过程。</a:t>
            </a:r>
            <a:r>
              <a:rPr lang="en-US" altLang="zh-CN" sz="1600" b="0" i="0" kern="1200" dirty="0">
                <a:solidFill>
                  <a:schemeClr val="tx1"/>
                </a:solidFill>
                <a:effectLst/>
                <a:latin typeface="+mn-lt"/>
                <a:ea typeface="+mn-ea"/>
                <a:cs typeface="+mn-cs"/>
              </a:rPr>
              <a:t>"</a:t>
            </a:r>
            <a:endParaRPr lang="en-US" altLang="zh-CN" sz="1600" b="0" i="0" kern="1200" dirty="0">
              <a:solidFill>
                <a:schemeClr val="tx1"/>
              </a:solidFill>
              <a:effectLst/>
              <a:latin typeface="+mn-lt"/>
              <a:ea typeface="+mn-ea"/>
              <a:cs typeface="+mn-cs"/>
            </a:endParaRPr>
          </a:p>
          <a:p>
            <a:r>
              <a:rPr lang="zh-CN" altLang="en-US" sz="1600" b="1" i="0" kern="1200" dirty="0">
                <a:solidFill>
                  <a:schemeClr val="tx1"/>
                </a:solidFill>
                <a:effectLst/>
                <a:latin typeface="+mn-lt"/>
                <a:ea typeface="+mn-ea"/>
                <a:cs typeface="+mn-cs"/>
              </a:rPr>
              <a:t>人工神经元的结构：</a:t>
            </a:r>
            <a:r>
              <a:rPr lang="zh-CN" altLang="en-US" sz="1600" b="0" i="0" kern="1200" dirty="0">
                <a:solidFill>
                  <a:schemeClr val="tx1"/>
                </a:solidFill>
                <a:effectLst/>
                <a:latin typeface="+mn-lt"/>
                <a:ea typeface="+mn-ea"/>
                <a:cs typeface="+mn-cs"/>
              </a:rPr>
              <a:t> </a:t>
            </a:r>
            <a:r>
              <a:rPr lang="en-US" altLang="zh-CN" sz="1600" b="0" i="0" kern="1200" dirty="0">
                <a:solidFill>
                  <a:schemeClr val="tx1"/>
                </a:solidFill>
                <a:effectLst/>
                <a:latin typeface="+mn-lt"/>
                <a:ea typeface="+mn-ea"/>
                <a:cs typeface="+mn-cs"/>
              </a:rPr>
              <a:t>"</a:t>
            </a:r>
            <a:r>
              <a:rPr lang="zh-CN" altLang="en-US" sz="1600" b="0" i="0" kern="1200" dirty="0">
                <a:solidFill>
                  <a:schemeClr val="tx1"/>
                </a:solidFill>
                <a:effectLst/>
                <a:latin typeface="+mn-lt"/>
                <a:ea typeface="+mn-ea"/>
                <a:cs typeface="+mn-cs"/>
              </a:rPr>
              <a:t>人工神经元通常由输入、权重、偏置和激活函数组成。输入相当于神经元接收的信号，权重则类似于突触的强度，偏置用来调整激活的阈值，而激活函数则决定了神经元是否以及何时发放信号。</a:t>
            </a:r>
            <a:r>
              <a:rPr lang="en-US" altLang="zh-CN" sz="1600" b="0" i="0" kern="1200" dirty="0">
                <a:solidFill>
                  <a:schemeClr val="tx1"/>
                </a:solidFill>
                <a:effectLst/>
                <a:latin typeface="+mn-lt"/>
                <a:ea typeface="+mn-ea"/>
                <a:cs typeface="+mn-cs"/>
              </a:rPr>
              <a:t>“</a:t>
            </a:r>
            <a:endParaRPr lang="en-US" altLang="zh-CN" sz="1600" b="0" i="0" kern="1200" dirty="0">
              <a:solidFill>
                <a:schemeClr val="tx1"/>
              </a:solidFill>
              <a:effectLst/>
              <a:latin typeface="+mn-lt"/>
              <a:ea typeface="+mn-ea"/>
              <a:cs typeface="+mn-cs"/>
            </a:endParaRPr>
          </a:p>
          <a:p>
            <a:r>
              <a:rPr lang="zh-CN" altLang="en-US" sz="1600" b="1" i="0" kern="1200" dirty="0">
                <a:solidFill>
                  <a:schemeClr val="tx1"/>
                </a:solidFill>
                <a:effectLst/>
                <a:latin typeface="+mn-lt"/>
                <a:ea typeface="+mn-ea"/>
                <a:cs typeface="+mn-cs"/>
              </a:rPr>
              <a:t>类比点一：信号传递机制</a:t>
            </a:r>
            <a:r>
              <a:rPr lang="zh-CN" altLang="en-US" sz="1600" b="0" i="0" kern="1200" dirty="0">
                <a:solidFill>
                  <a:schemeClr val="tx1"/>
                </a:solidFill>
                <a:effectLst/>
                <a:latin typeface="+mn-lt"/>
                <a:ea typeface="+mn-ea"/>
                <a:cs typeface="+mn-cs"/>
              </a:rPr>
              <a:t> </a:t>
            </a:r>
            <a:r>
              <a:rPr lang="en-US" altLang="zh-CN" sz="1600" b="0" i="0" kern="1200" dirty="0">
                <a:solidFill>
                  <a:schemeClr val="tx1"/>
                </a:solidFill>
                <a:effectLst/>
                <a:latin typeface="+mn-lt"/>
                <a:ea typeface="+mn-ea"/>
                <a:cs typeface="+mn-cs"/>
              </a:rPr>
              <a:t>"</a:t>
            </a:r>
            <a:r>
              <a:rPr lang="zh-CN" altLang="en-US" sz="1600" b="0" i="0" kern="1200" dirty="0">
                <a:solidFill>
                  <a:schemeClr val="tx1"/>
                </a:solidFill>
                <a:effectLst/>
                <a:latin typeface="+mn-lt"/>
                <a:ea typeface="+mn-ea"/>
                <a:cs typeface="+mn-cs"/>
              </a:rPr>
              <a:t>一个重要的类比点是信号传递机制。在生物神经元中，信号通过电位差传递；而在人工神经元中，信号则是通过加权求和后的数值传递，并通过激活函数决定是否激活。</a:t>
            </a:r>
            <a:r>
              <a:rPr lang="en-US" altLang="zh-CN" sz="1600" b="0" i="0" kern="1200" dirty="0">
                <a:solidFill>
                  <a:schemeClr val="tx1"/>
                </a:solidFill>
                <a:effectLst/>
                <a:latin typeface="+mn-lt"/>
                <a:ea typeface="+mn-ea"/>
                <a:cs typeface="+mn-cs"/>
              </a:rPr>
              <a:t>"</a:t>
            </a:r>
            <a:endParaRPr lang="en-US" altLang="zh-CN" sz="1600" b="0" i="0" kern="1200" dirty="0">
              <a:solidFill>
                <a:schemeClr val="tx1"/>
              </a:solidFill>
              <a:effectLst/>
              <a:latin typeface="+mn-lt"/>
              <a:ea typeface="+mn-ea"/>
              <a:cs typeface="+mn-cs"/>
            </a:endParaRPr>
          </a:p>
          <a:p>
            <a:r>
              <a:rPr lang="zh-CN" altLang="en-US" sz="1600" b="1" i="0" kern="1200" dirty="0">
                <a:solidFill>
                  <a:schemeClr val="tx1"/>
                </a:solidFill>
                <a:effectLst/>
                <a:latin typeface="+mn-lt"/>
                <a:ea typeface="+mn-ea"/>
                <a:cs typeface="+mn-cs"/>
              </a:rPr>
              <a:t>类比点二：网络结构</a:t>
            </a:r>
            <a:r>
              <a:rPr lang="zh-CN" altLang="en-US" sz="1600" b="0" i="0" kern="1200" dirty="0">
                <a:solidFill>
                  <a:schemeClr val="tx1"/>
                </a:solidFill>
                <a:effectLst/>
                <a:latin typeface="+mn-lt"/>
                <a:ea typeface="+mn-ea"/>
                <a:cs typeface="+mn-cs"/>
              </a:rPr>
              <a:t> </a:t>
            </a:r>
            <a:r>
              <a:rPr lang="en-US" altLang="zh-CN" sz="1600" b="0" i="0" kern="1200" dirty="0">
                <a:solidFill>
                  <a:schemeClr val="tx1"/>
                </a:solidFill>
                <a:effectLst/>
                <a:latin typeface="+mn-lt"/>
                <a:ea typeface="+mn-ea"/>
                <a:cs typeface="+mn-cs"/>
              </a:rPr>
              <a:t>"</a:t>
            </a:r>
            <a:r>
              <a:rPr lang="zh-CN" altLang="en-US" sz="1600" b="0" i="0" kern="1200" dirty="0">
                <a:solidFill>
                  <a:schemeClr val="tx1"/>
                </a:solidFill>
                <a:effectLst/>
                <a:latin typeface="+mn-lt"/>
                <a:ea typeface="+mn-ea"/>
                <a:cs typeface="+mn-cs"/>
              </a:rPr>
              <a:t>另一个类比点是网络结构。大脑由数十亿个神经元构成复杂的网络，而人工神经网络也是由多个人工神经元通过层级结构连接起来的，以模拟大脑处理信息的方式。</a:t>
            </a:r>
            <a:r>
              <a:rPr lang="en-US" altLang="zh-CN" sz="1600" b="0" i="0" kern="1200" dirty="0">
                <a:solidFill>
                  <a:schemeClr val="tx1"/>
                </a:solidFill>
                <a:effectLst/>
                <a:latin typeface="+mn-lt"/>
                <a:ea typeface="+mn-ea"/>
                <a:cs typeface="+mn-cs"/>
              </a:rPr>
              <a:t>"</a:t>
            </a:r>
            <a:endParaRPr lang="en-US" altLang="zh-CN" sz="1600" b="0" i="0" kern="1200" dirty="0">
              <a:solidFill>
                <a:schemeClr val="tx1"/>
              </a:solidFill>
              <a:effectLst/>
              <a:latin typeface="+mn-lt"/>
              <a:ea typeface="+mn-ea"/>
              <a:cs typeface="+mn-cs"/>
            </a:endParaRPr>
          </a:p>
          <a:p>
            <a:r>
              <a:rPr lang="zh-CN" altLang="en-US" sz="1600" b="1" i="0" kern="1200" dirty="0">
                <a:solidFill>
                  <a:schemeClr val="tx1"/>
                </a:solidFill>
                <a:effectLst/>
                <a:latin typeface="+mn-lt"/>
                <a:ea typeface="+mn-ea"/>
                <a:cs typeface="+mn-cs"/>
              </a:rPr>
              <a:t>类比点三：学习和适应</a:t>
            </a:r>
            <a:r>
              <a:rPr lang="zh-CN" altLang="en-US" sz="1600" b="0" i="0" kern="1200" dirty="0">
                <a:solidFill>
                  <a:schemeClr val="tx1"/>
                </a:solidFill>
                <a:effectLst/>
                <a:latin typeface="+mn-lt"/>
                <a:ea typeface="+mn-ea"/>
                <a:cs typeface="+mn-cs"/>
              </a:rPr>
              <a:t> </a:t>
            </a:r>
            <a:r>
              <a:rPr lang="en-US" altLang="zh-CN" sz="1600" b="0" i="0" kern="1200" dirty="0">
                <a:solidFill>
                  <a:schemeClr val="tx1"/>
                </a:solidFill>
                <a:effectLst/>
                <a:latin typeface="+mn-lt"/>
                <a:ea typeface="+mn-ea"/>
                <a:cs typeface="+mn-cs"/>
              </a:rPr>
              <a:t>"</a:t>
            </a:r>
            <a:r>
              <a:rPr lang="zh-CN" altLang="en-US" sz="1600" b="0" i="0" kern="1200" dirty="0">
                <a:solidFill>
                  <a:schemeClr val="tx1"/>
                </a:solidFill>
                <a:effectLst/>
                <a:latin typeface="+mn-lt"/>
                <a:ea typeface="+mn-ea"/>
                <a:cs typeface="+mn-cs"/>
              </a:rPr>
              <a:t>最后，生物神经元通过突触可塑性学习新的信息，人工神经元则通过调整权重和偏置来学习，这是通过训练数据来实现的，类似于大脑通过经验学习的过程。</a:t>
            </a:r>
            <a:r>
              <a:rPr lang="en-US" altLang="zh-CN" sz="1600" b="0" i="0" kern="1200" dirty="0">
                <a:solidFill>
                  <a:schemeClr val="tx1"/>
                </a:solidFill>
                <a:effectLst/>
                <a:latin typeface="+mn-lt"/>
                <a:ea typeface="+mn-ea"/>
                <a:cs typeface="+mn-cs"/>
              </a:rPr>
              <a:t>"</a:t>
            </a:r>
            <a:endParaRPr lang="en-US" altLang="zh-CN" sz="1600" b="0" i="0" kern="1200" dirty="0">
              <a:solidFill>
                <a:schemeClr val="tx1"/>
              </a:solidFill>
              <a:effectLst/>
              <a:latin typeface="+mn-lt"/>
              <a:ea typeface="+mn-ea"/>
              <a:cs typeface="+mn-cs"/>
            </a:endParaRPr>
          </a:p>
          <a:p>
            <a:pPr marL="342900" lvl="0" indent="-342900">
              <a:buAutoNum type="arabicPeriod"/>
            </a:pPr>
            <a:r>
              <a:rPr lang="zh-CN" altLang="en-US" dirty="0"/>
              <a:t>人工神经网络</a:t>
            </a:r>
            <a:endParaRPr lang="en-US" altLang="zh-CN" dirty="0"/>
          </a:p>
          <a:p>
            <a:pPr marL="952500" marR="0" lvl="1" indent="-342900" algn="l" defTabSz="1219200" rtl="0" eaLnBrk="1" fontAlgn="auto" latinLnBrk="0" hangingPunct="1">
              <a:lnSpc>
                <a:spcPct val="100000"/>
              </a:lnSpc>
              <a:spcBef>
                <a:spcPts val="0"/>
              </a:spcBef>
              <a:spcAft>
                <a:spcPts val="0"/>
              </a:spcAft>
              <a:buClrTx/>
              <a:buSzTx/>
              <a:buFontTx/>
              <a:buAutoNum type="arabicPeriod"/>
              <a:defRPr/>
            </a:pPr>
            <a:r>
              <a:rPr lang="zh-CN" altLang="en-US" sz="1600" kern="0" dirty="0">
                <a:solidFill>
                  <a:srgbClr val="1D1D1A"/>
                </a:solidFill>
              </a:rPr>
              <a:t>前向传播：</a:t>
            </a:r>
            <a:endParaRPr lang="en-US" altLang="zh-CN" sz="1600" kern="0" dirty="0">
              <a:solidFill>
                <a:srgbClr val="1D1D1A"/>
              </a:solidFill>
            </a:endParaRPr>
          </a:p>
          <a:p>
            <a:pPr marL="952500" marR="0" lvl="1" indent="-342900" algn="l" defTabSz="1219200" rtl="0" eaLnBrk="1" fontAlgn="auto" latinLnBrk="0" hangingPunct="1">
              <a:lnSpc>
                <a:spcPct val="100000"/>
              </a:lnSpc>
              <a:spcBef>
                <a:spcPts val="0"/>
              </a:spcBef>
              <a:spcAft>
                <a:spcPts val="0"/>
              </a:spcAft>
              <a:buClrTx/>
              <a:buSzTx/>
              <a:buFontTx/>
              <a:buAutoNum type="arabicPeriod"/>
              <a:defRPr/>
            </a:pPr>
            <a:r>
              <a:rPr lang="zh-CN" altLang="en-US" sz="1600" kern="0" dirty="0">
                <a:solidFill>
                  <a:srgbClr val="1D1D1A"/>
                </a:solidFill>
              </a:rPr>
              <a:t>反向传播：上一层激活的神经元，影响下一层的神经元；先前向传播，然后进行反向传播，</a:t>
            </a:r>
            <a:r>
              <a:rPr lang="zh-CN" altLang="en-US" sz="1600" kern="0" dirty="0">
                <a:solidFill>
                  <a:srgbClr val="1D1D1A"/>
                </a:solidFill>
                <a:sym typeface="Arial" panose="020B0604020202020204" pitchFamily="34" charset="0"/>
              </a:rPr>
              <a:t>不断修正调整参数，直到模型能够很好地拟合训练数据为止</a:t>
            </a:r>
            <a:endParaRPr lang="en-US" altLang="zh-CN" sz="1600" kern="0" dirty="0">
              <a:solidFill>
                <a:srgbClr val="1D1D1A"/>
              </a:solidFill>
              <a:sym typeface="Arial" panose="020B0604020202020204" pitchFamily="34" charset="0"/>
            </a:endParaRPr>
          </a:p>
          <a:p>
            <a:pPr marL="952500" marR="0" lvl="1" indent="-342900" algn="l" defTabSz="1219200" rtl="0" eaLnBrk="1" fontAlgn="auto" latinLnBrk="0" hangingPunct="1">
              <a:lnSpc>
                <a:spcPct val="100000"/>
              </a:lnSpc>
              <a:spcBef>
                <a:spcPts val="0"/>
              </a:spcBef>
              <a:spcAft>
                <a:spcPts val="0"/>
              </a:spcAft>
              <a:buClrTx/>
              <a:buSzTx/>
              <a:buFontTx/>
              <a:buAutoNum type="arabicPeriod"/>
              <a:defRPr/>
            </a:pPr>
            <a:r>
              <a:rPr lang="zh-CN" altLang="en-US" sz="1600" kern="0" dirty="0">
                <a:solidFill>
                  <a:srgbClr val="1D1D1A"/>
                </a:solidFill>
                <a:sym typeface="Arial" panose="020B0604020202020204" pitchFamily="34" charset="0"/>
              </a:rPr>
              <a:t>对应到我们</a:t>
            </a:r>
            <a:r>
              <a:rPr lang="en-US" altLang="zh-CN" sz="1600" kern="0" dirty="0">
                <a:solidFill>
                  <a:srgbClr val="1D1D1A"/>
                </a:solidFill>
                <a:sym typeface="Arial" panose="020B0604020202020204" pitchFamily="34" charset="0"/>
              </a:rPr>
              <a:t>y=</a:t>
            </a:r>
            <a:r>
              <a:rPr lang="en-US" altLang="zh-CN" sz="1600" kern="0" dirty="0" err="1">
                <a:solidFill>
                  <a:srgbClr val="1D1D1A"/>
                </a:solidFill>
                <a:sym typeface="Arial" panose="020B0604020202020204" pitchFamily="34" charset="0"/>
              </a:rPr>
              <a:t>ax+b</a:t>
            </a:r>
            <a:r>
              <a:rPr lang="zh-CN" altLang="en-US" sz="1600" kern="0" dirty="0">
                <a:solidFill>
                  <a:srgbClr val="1D1D1A"/>
                </a:solidFill>
                <a:sym typeface="Arial" panose="020B0604020202020204" pitchFamily="34" charset="0"/>
              </a:rPr>
              <a:t>的情况， 就是我们通过偏差来调整</a:t>
            </a:r>
            <a:r>
              <a:rPr lang="en-US" altLang="zh-CN" sz="1600" kern="0" dirty="0">
                <a:solidFill>
                  <a:srgbClr val="1D1D1A"/>
                </a:solidFill>
                <a:sym typeface="Arial" panose="020B0604020202020204" pitchFamily="34" charset="0"/>
              </a:rPr>
              <a:t>a, b</a:t>
            </a:r>
            <a:r>
              <a:rPr lang="zh-CN" altLang="en-US" sz="1600" kern="0" dirty="0">
                <a:solidFill>
                  <a:srgbClr val="1D1D1A"/>
                </a:solidFill>
                <a:sym typeface="Arial" panose="020B0604020202020204" pitchFamily="34" charset="0"/>
              </a:rPr>
              <a:t>的过程</a:t>
            </a:r>
            <a:endParaRPr lang="en-US" altLang="zh-CN" sz="1600" kern="0" dirty="0">
              <a:solidFill>
                <a:srgbClr val="1D1D1A"/>
              </a:solidFill>
              <a:sym typeface="Arial" panose="020B0604020202020204" pitchFamily="34" charset="0"/>
            </a:endParaRPr>
          </a:p>
          <a:p>
            <a:pPr marL="952500" marR="0" lvl="1" indent="-342900" algn="l" defTabSz="1219200" rtl="0" eaLnBrk="1" fontAlgn="auto" latinLnBrk="0" hangingPunct="1">
              <a:lnSpc>
                <a:spcPct val="100000"/>
              </a:lnSpc>
              <a:spcBef>
                <a:spcPts val="0"/>
              </a:spcBef>
              <a:spcAft>
                <a:spcPts val="0"/>
              </a:spcAft>
              <a:buClrTx/>
              <a:buSzTx/>
              <a:buFontTx/>
              <a:buAutoNum type="arabicPeriod"/>
              <a:defRPr/>
            </a:pPr>
            <a:endParaRPr lang="en-US" altLang="zh-CN" sz="1600" kern="0" dirty="0">
              <a:solidFill>
                <a:srgbClr val="1D1D1A"/>
              </a:solidFill>
              <a:sym typeface="Arial" panose="020B0604020202020204" pitchFamily="34" charset="0"/>
            </a:endParaRPr>
          </a:p>
          <a:p>
            <a:pPr marL="0" marR="0" lvl="0" indent="0" algn="l" defTabSz="1219200" rtl="0" eaLnBrk="1" fontAlgn="auto" latinLnBrk="0" hangingPunct="1">
              <a:lnSpc>
                <a:spcPct val="100000"/>
              </a:lnSpc>
              <a:spcBef>
                <a:spcPts val="0"/>
              </a:spcBef>
              <a:spcAft>
                <a:spcPts val="0"/>
              </a:spcAft>
              <a:buClrTx/>
              <a:buSzTx/>
              <a:buFontTx/>
              <a:buNone/>
              <a:defRPr/>
            </a:pPr>
            <a:r>
              <a:rPr lang="zh-CN" altLang="en-US" sz="1600" kern="0" dirty="0">
                <a:solidFill>
                  <a:srgbClr val="1D1D1A"/>
                </a:solidFill>
                <a:sym typeface="Arial" panose="020B0604020202020204" pitchFamily="34" charset="0"/>
              </a:rPr>
              <a:t>神经网络前向传播和反向传播比喻：</a:t>
            </a:r>
            <a:endParaRPr lang="en-US" altLang="zh-CN" sz="1600" kern="0" dirty="0">
              <a:solidFill>
                <a:srgbClr val="1D1D1A"/>
              </a:solidFill>
              <a:sym typeface="Arial" panose="020B0604020202020204" pitchFamily="34" charset="0"/>
            </a:endParaRPr>
          </a:p>
          <a:p>
            <a:r>
              <a:rPr lang="zh-CN" altLang="en-US" sz="1600" b="0" i="0" kern="1200" dirty="0">
                <a:solidFill>
                  <a:schemeClr val="tx1"/>
                </a:solidFill>
                <a:effectLst/>
                <a:latin typeface="+mn-lt"/>
                <a:ea typeface="+mn-ea"/>
                <a:cs typeface="+mn-cs"/>
              </a:rPr>
              <a:t>深度神经网络就像一个巨大的工厂，这个工厂由多个车间（神经网络的层）组成，每个车间都有工人（神经元）和机器（权重和偏置）。</a:t>
            </a:r>
            <a:endParaRPr lang="zh-CN" altLang="en-US" sz="1600" b="0" i="0" kern="1200" dirty="0">
              <a:solidFill>
                <a:schemeClr val="tx1"/>
              </a:solidFill>
              <a:effectLst/>
              <a:latin typeface="+mn-lt"/>
              <a:ea typeface="+mn-ea"/>
              <a:cs typeface="+mn-cs"/>
            </a:endParaRPr>
          </a:p>
          <a:p>
            <a:r>
              <a:rPr lang="zh-CN" altLang="en-US" sz="1600" b="1" i="0" kern="1200" dirty="0">
                <a:solidFill>
                  <a:schemeClr val="tx1"/>
                </a:solidFill>
                <a:effectLst/>
                <a:latin typeface="+mn-lt"/>
                <a:ea typeface="+mn-ea"/>
                <a:cs typeface="+mn-cs"/>
              </a:rPr>
              <a:t>前向传播的比喻：</a:t>
            </a:r>
            <a:endParaRPr lang="zh-CN" altLang="en-US" sz="1600" b="0" i="0" kern="1200" dirty="0">
              <a:solidFill>
                <a:schemeClr val="tx1"/>
              </a:solidFill>
              <a:effectLst/>
              <a:latin typeface="+mn-lt"/>
              <a:ea typeface="+mn-ea"/>
              <a:cs typeface="+mn-cs"/>
            </a:endParaRPr>
          </a:p>
          <a:p>
            <a:r>
              <a:rPr lang="zh-CN" altLang="en-US" sz="1600" b="1" i="0" kern="1200" dirty="0">
                <a:solidFill>
                  <a:schemeClr val="tx1"/>
                </a:solidFill>
                <a:effectLst/>
                <a:latin typeface="+mn-lt"/>
                <a:ea typeface="+mn-ea"/>
                <a:cs typeface="+mn-cs"/>
              </a:rPr>
              <a:t>输入层：</a:t>
            </a:r>
            <a:r>
              <a:rPr lang="zh-CN" altLang="en-US" sz="1600" b="0" i="0" kern="1200" dirty="0">
                <a:solidFill>
                  <a:schemeClr val="tx1"/>
                </a:solidFill>
                <a:effectLst/>
                <a:latin typeface="+mn-lt"/>
                <a:ea typeface="+mn-ea"/>
                <a:cs typeface="+mn-cs"/>
              </a:rPr>
              <a:t> 工厂接收原材料，这些原材料就是输入数据。</a:t>
            </a:r>
            <a:endParaRPr lang="zh-CN" altLang="en-US" sz="1600" b="0" i="0" kern="1200" dirty="0">
              <a:solidFill>
                <a:schemeClr val="tx1"/>
              </a:solidFill>
              <a:effectLst/>
              <a:latin typeface="+mn-lt"/>
              <a:ea typeface="+mn-ea"/>
              <a:cs typeface="+mn-cs"/>
            </a:endParaRPr>
          </a:p>
          <a:p>
            <a:r>
              <a:rPr lang="zh-CN" altLang="en-US" sz="1600" b="1" i="0" kern="1200" dirty="0">
                <a:solidFill>
                  <a:schemeClr val="tx1"/>
                </a:solidFill>
                <a:effectLst/>
                <a:latin typeface="+mn-lt"/>
                <a:ea typeface="+mn-ea"/>
                <a:cs typeface="+mn-cs"/>
              </a:rPr>
              <a:t>隐藏层：</a:t>
            </a:r>
            <a:r>
              <a:rPr lang="zh-CN" altLang="en-US" sz="1600" b="0" i="0" kern="1200" dirty="0">
                <a:solidFill>
                  <a:schemeClr val="tx1"/>
                </a:solidFill>
                <a:effectLst/>
                <a:latin typeface="+mn-lt"/>
                <a:ea typeface="+mn-ea"/>
                <a:cs typeface="+mn-cs"/>
              </a:rPr>
              <a:t> 原材料在各个车间中被加工，每个车间的工人使用不同的机器和工具（权重和偏置）来改变原材料的形状和性质。</a:t>
            </a:r>
            <a:endParaRPr lang="zh-CN" altLang="en-US" sz="1600" b="0" i="0" kern="1200" dirty="0">
              <a:solidFill>
                <a:schemeClr val="tx1"/>
              </a:solidFill>
              <a:effectLst/>
              <a:latin typeface="+mn-lt"/>
              <a:ea typeface="+mn-ea"/>
              <a:cs typeface="+mn-cs"/>
            </a:endParaRPr>
          </a:p>
          <a:p>
            <a:r>
              <a:rPr lang="zh-CN" altLang="en-US" sz="1600" b="1" i="0" kern="1200" dirty="0">
                <a:solidFill>
                  <a:schemeClr val="tx1"/>
                </a:solidFill>
                <a:effectLst/>
                <a:latin typeface="+mn-lt"/>
                <a:ea typeface="+mn-ea"/>
                <a:cs typeface="+mn-cs"/>
              </a:rPr>
              <a:t>激活函数：</a:t>
            </a:r>
            <a:r>
              <a:rPr lang="zh-CN" altLang="en-US" sz="1600" b="0" i="0" kern="1200" dirty="0">
                <a:solidFill>
                  <a:schemeClr val="tx1"/>
                </a:solidFill>
                <a:effectLst/>
                <a:latin typeface="+mn-lt"/>
                <a:ea typeface="+mn-ea"/>
                <a:cs typeface="+mn-cs"/>
              </a:rPr>
              <a:t> 就像工人在加工过程中添加了一些特殊的化学成分，使得材料具有了新的特性（引入非线性）。</a:t>
            </a:r>
            <a:endParaRPr lang="zh-CN" altLang="en-US" sz="1600" b="0" i="0" kern="1200" dirty="0">
              <a:solidFill>
                <a:schemeClr val="tx1"/>
              </a:solidFill>
              <a:effectLst/>
              <a:latin typeface="+mn-lt"/>
              <a:ea typeface="+mn-ea"/>
              <a:cs typeface="+mn-cs"/>
            </a:endParaRPr>
          </a:p>
          <a:p>
            <a:r>
              <a:rPr lang="zh-CN" altLang="en-US" sz="1600" b="1" i="0" kern="1200" dirty="0">
                <a:solidFill>
                  <a:schemeClr val="tx1"/>
                </a:solidFill>
                <a:effectLst/>
                <a:latin typeface="+mn-lt"/>
                <a:ea typeface="+mn-ea"/>
                <a:cs typeface="+mn-cs"/>
              </a:rPr>
              <a:t>输出层：</a:t>
            </a:r>
            <a:r>
              <a:rPr lang="zh-CN" altLang="en-US" sz="1600" b="0" i="0" kern="1200" dirty="0">
                <a:solidFill>
                  <a:schemeClr val="tx1"/>
                </a:solidFill>
                <a:effectLst/>
                <a:latin typeface="+mn-lt"/>
                <a:ea typeface="+mn-ea"/>
                <a:cs typeface="+mn-cs"/>
              </a:rPr>
              <a:t> 最终产品在最后一个车间完成，这个产品就是模型的预测结果。</a:t>
            </a:r>
            <a:endParaRPr lang="zh-CN" altLang="en-US" sz="1600" b="0" i="0" kern="1200" dirty="0">
              <a:solidFill>
                <a:schemeClr val="tx1"/>
              </a:solidFill>
              <a:effectLst/>
              <a:latin typeface="+mn-lt"/>
              <a:ea typeface="+mn-ea"/>
              <a:cs typeface="+mn-cs"/>
            </a:endParaRPr>
          </a:p>
          <a:p>
            <a:r>
              <a:rPr lang="zh-CN" altLang="en-US" sz="1600" b="0" i="0" kern="1200" dirty="0">
                <a:solidFill>
                  <a:schemeClr val="tx1"/>
                </a:solidFill>
                <a:effectLst/>
                <a:latin typeface="+mn-lt"/>
                <a:ea typeface="+mn-ea"/>
                <a:cs typeface="+mn-cs"/>
              </a:rPr>
              <a:t>在这个过程中，每个车间的工人都按照既定的工艺流程（前向传播算法）来加工材料，直到最终产品被生产出来。</a:t>
            </a:r>
            <a:endParaRPr lang="zh-CN" altLang="en-US" sz="1600" b="0" i="0" kern="1200" dirty="0">
              <a:solidFill>
                <a:schemeClr val="tx1"/>
              </a:solidFill>
              <a:effectLst/>
              <a:latin typeface="+mn-lt"/>
              <a:ea typeface="+mn-ea"/>
              <a:cs typeface="+mn-cs"/>
            </a:endParaRPr>
          </a:p>
          <a:p>
            <a:r>
              <a:rPr lang="zh-CN" altLang="en-US" sz="1600" b="1" i="0" kern="1200" dirty="0">
                <a:solidFill>
                  <a:schemeClr val="tx1"/>
                </a:solidFill>
                <a:effectLst/>
                <a:latin typeface="+mn-lt"/>
                <a:ea typeface="+mn-ea"/>
                <a:cs typeface="+mn-cs"/>
              </a:rPr>
              <a:t>反向传播的比喻：</a:t>
            </a:r>
            <a:endParaRPr lang="zh-CN" altLang="en-US" sz="1600" b="0" i="0" kern="1200" dirty="0">
              <a:solidFill>
                <a:schemeClr val="tx1"/>
              </a:solidFill>
              <a:effectLst/>
              <a:latin typeface="+mn-lt"/>
              <a:ea typeface="+mn-ea"/>
              <a:cs typeface="+mn-cs"/>
            </a:endParaRPr>
          </a:p>
          <a:p>
            <a:r>
              <a:rPr lang="zh-CN" altLang="en-US" sz="1600" b="1" i="0" kern="1200" dirty="0">
                <a:solidFill>
                  <a:schemeClr val="tx1"/>
                </a:solidFill>
                <a:effectLst/>
                <a:latin typeface="+mn-lt"/>
                <a:ea typeface="+mn-ea"/>
                <a:cs typeface="+mn-cs"/>
              </a:rPr>
              <a:t>损失函数：</a:t>
            </a:r>
            <a:r>
              <a:rPr lang="zh-CN" altLang="en-US" sz="1600" b="0" i="0" kern="1200" dirty="0">
                <a:solidFill>
                  <a:schemeClr val="tx1"/>
                </a:solidFill>
                <a:effectLst/>
                <a:latin typeface="+mn-lt"/>
                <a:ea typeface="+mn-ea"/>
                <a:cs typeface="+mn-cs"/>
              </a:rPr>
              <a:t> 工厂的质检员检查最终产品，如果产品不符合客户的要求（损失较大），质检员会记录下需要改进的地方。</a:t>
            </a:r>
            <a:endParaRPr lang="zh-CN" altLang="en-US" sz="1600" b="0" i="0" kern="1200" dirty="0">
              <a:solidFill>
                <a:schemeClr val="tx1"/>
              </a:solidFill>
              <a:effectLst/>
              <a:latin typeface="+mn-lt"/>
              <a:ea typeface="+mn-ea"/>
              <a:cs typeface="+mn-cs"/>
            </a:endParaRPr>
          </a:p>
          <a:p>
            <a:r>
              <a:rPr lang="zh-CN" altLang="en-US" sz="1600" b="1" i="0" kern="1200" dirty="0">
                <a:solidFill>
                  <a:schemeClr val="tx1"/>
                </a:solidFill>
                <a:effectLst/>
                <a:latin typeface="+mn-lt"/>
                <a:ea typeface="+mn-ea"/>
                <a:cs typeface="+mn-cs"/>
              </a:rPr>
              <a:t>误差梯度：</a:t>
            </a:r>
            <a:r>
              <a:rPr lang="zh-CN" altLang="en-US" sz="1600" b="0" i="0" kern="1200" dirty="0">
                <a:solidFill>
                  <a:schemeClr val="tx1"/>
                </a:solidFill>
                <a:effectLst/>
                <a:latin typeface="+mn-lt"/>
                <a:ea typeface="+mn-ea"/>
                <a:cs typeface="+mn-cs"/>
              </a:rPr>
              <a:t> 质检员将不合格的信息反馈给各个车间，告诉他们哪些地方需要调整。</a:t>
            </a:r>
            <a:endParaRPr lang="zh-CN" altLang="en-US" sz="1600" b="0" i="0" kern="1200" dirty="0">
              <a:solidFill>
                <a:schemeClr val="tx1"/>
              </a:solidFill>
              <a:effectLst/>
              <a:latin typeface="+mn-lt"/>
              <a:ea typeface="+mn-ea"/>
              <a:cs typeface="+mn-cs"/>
            </a:endParaRPr>
          </a:p>
          <a:p>
            <a:r>
              <a:rPr lang="zh-CN" altLang="en-US" sz="1600" b="1" i="0" kern="1200" dirty="0">
                <a:solidFill>
                  <a:schemeClr val="tx1"/>
                </a:solidFill>
                <a:effectLst/>
                <a:latin typeface="+mn-lt"/>
                <a:ea typeface="+mn-ea"/>
                <a:cs typeface="+mn-cs"/>
              </a:rPr>
              <a:t>权重更新：</a:t>
            </a:r>
            <a:r>
              <a:rPr lang="zh-CN" altLang="en-US" sz="1600" b="0" i="0" kern="1200" dirty="0">
                <a:solidFill>
                  <a:schemeClr val="tx1"/>
                </a:solidFill>
                <a:effectLst/>
                <a:latin typeface="+mn-lt"/>
                <a:ea typeface="+mn-ea"/>
                <a:cs typeface="+mn-cs"/>
              </a:rPr>
              <a:t> 每个车间根据反馈调整机器的设置（更新权重和偏置），以改进产品的质量。</a:t>
            </a:r>
            <a:endParaRPr lang="zh-CN" altLang="en-US" sz="1600" b="0" i="0" kern="1200" dirty="0">
              <a:solidFill>
                <a:schemeClr val="tx1"/>
              </a:solidFill>
              <a:effectLst/>
              <a:latin typeface="+mn-lt"/>
              <a:ea typeface="+mn-ea"/>
              <a:cs typeface="+mn-cs"/>
            </a:endParaRPr>
          </a:p>
          <a:p>
            <a:r>
              <a:rPr lang="zh-CN" altLang="en-US" sz="1600" b="1" i="0" kern="1200" dirty="0">
                <a:solidFill>
                  <a:schemeClr val="tx1"/>
                </a:solidFill>
                <a:effectLst/>
                <a:latin typeface="+mn-lt"/>
                <a:ea typeface="+mn-ea"/>
                <a:cs typeface="+mn-cs"/>
              </a:rPr>
              <a:t>优化算法：</a:t>
            </a:r>
            <a:r>
              <a:rPr lang="zh-CN" altLang="en-US" sz="1600" b="0" i="0" kern="1200" dirty="0">
                <a:solidFill>
                  <a:schemeClr val="tx1"/>
                </a:solidFill>
                <a:effectLst/>
                <a:latin typeface="+mn-lt"/>
                <a:ea typeface="+mn-ea"/>
                <a:cs typeface="+mn-cs"/>
              </a:rPr>
              <a:t> 这个过程就像是工厂管理层制定的一套改进计划，指导工人如何更有效地调整机器，以达到更好的生产效果。</a:t>
            </a:r>
            <a:endParaRPr lang="zh-CN" altLang="en-US" sz="1600" b="0" i="0" kern="1200" dirty="0">
              <a:solidFill>
                <a:schemeClr val="tx1"/>
              </a:solidFill>
              <a:effectLst/>
              <a:latin typeface="+mn-lt"/>
              <a:ea typeface="+mn-ea"/>
              <a:cs typeface="+mn-cs"/>
            </a:endParaRPr>
          </a:p>
          <a:p>
            <a:r>
              <a:rPr lang="zh-CN" altLang="en-US" sz="1600" b="0" i="0" kern="1200" dirty="0">
                <a:solidFill>
                  <a:schemeClr val="tx1"/>
                </a:solidFill>
                <a:effectLst/>
                <a:latin typeface="+mn-lt"/>
                <a:ea typeface="+mn-ea"/>
                <a:cs typeface="+mn-cs"/>
              </a:rPr>
              <a:t>在这个过程中，工厂不断根据反馈进行调整，就像神经网络通过反向传播不断优化参数，以减少预测误差，提高模型的性能。</a:t>
            </a:r>
            <a:endParaRPr lang="en-US" altLang="zh-CN" sz="1600" b="0" i="0" kern="1200" dirty="0">
              <a:solidFill>
                <a:schemeClr val="tx1"/>
              </a:solidFill>
              <a:effectLst/>
              <a:latin typeface="+mn-lt"/>
              <a:ea typeface="+mn-ea"/>
              <a:cs typeface="+mn-cs"/>
            </a:endParaRPr>
          </a:p>
          <a:p>
            <a:endParaRPr lang="en-US" altLang="zh-CN" sz="1600" b="0" i="0" kern="1200" dirty="0">
              <a:solidFill>
                <a:schemeClr val="tx1"/>
              </a:solidFill>
              <a:effectLst/>
              <a:latin typeface="+mn-lt"/>
              <a:ea typeface="+mn-ea"/>
              <a:cs typeface="+mn-cs"/>
            </a:endParaRPr>
          </a:p>
          <a:p>
            <a:r>
              <a:rPr lang="zh-CN" altLang="en-US" sz="1600" b="1" i="0" kern="1200" dirty="0">
                <a:solidFill>
                  <a:schemeClr val="tx1"/>
                </a:solidFill>
                <a:effectLst/>
                <a:latin typeface="+mn-lt"/>
                <a:ea typeface="+mn-ea"/>
                <a:cs typeface="+mn-cs"/>
              </a:rPr>
              <a:t>知识点一：为什么需要神经网络要多层卷积？</a:t>
            </a:r>
            <a:endParaRPr lang="en-US" altLang="zh-CN" sz="1600" b="1" i="0" kern="1200" dirty="0">
              <a:solidFill>
                <a:schemeClr val="tx1"/>
              </a:solidFill>
              <a:effectLst/>
              <a:latin typeface="+mn-lt"/>
              <a:ea typeface="+mn-ea"/>
              <a:cs typeface="+mn-cs"/>
            </a:endParaRPr>
          </a:p>
          <a:p>
            <a:r>
              <a:rPr lang="zh-CN" altLang="en-US" sz="1600" b="0" i="0" kern="1200" dirty="0">
                <a:solidFill>
                  <a:schemeClr val="tx1"/>
                </a:solidFill>
                <a:effectLst/>
                <a:latin typeface="+mn-lt"/>
                <a:ea typeface="+mn-ea"/>
                <a:cs typeface="+mn-cs"/>
              </a:rPr>
              <a:t>因为：</a:t>
            </a:r>
            <a:r>
              <a:rPr lang="zh-CN" altLang="en-US" dirty="0"/>
              <a:t>叠加多层的卷积是因为初级卷积层倾向于检测低级特征，如边缘和纹理。随着网络深度的增加，后续的卷积层能够组合这些低级特征，形成更复杂的模式，例如形状、对象部分，甚至完整的对象。每一层都在前一层的基础上构建更高级别的抽象特征，这类似于人类视觉系统如何逐步从简单到复杂地解析场景。这个视频就清晰展现了这个逻辑。从点</a:t>
            </a:r>
            <a:r>
              <a:rPr lang="en-US" altLang="zh-CN" dirty="0"/>
              <a:t>-》</a:t>
            </a:r>
            <a:r>
              <a:rPr lang="zh-CN" altLang="en-US" dirty="0"/>
              <a:t>边</a:t>
            </a:r>
            <a:r>
              <a:rPr lang="en-US" altLang="zh-CN" dirty="0"/>
              <a:t>——》</a:t>
            </a:r>
            <a:r>
              <a:rPr lang="zh-CN" altLang="en-US" dirty="0"/>
              <a:t>部分特征</a:t>
            </a:r>
            <a:r>
              <a:rPr lang="en-US" altLang="zh-CN" dirty="0"/>
              <a:t>-》</a:t>
            </a:r>
            <a:r>
              <a:rPr lang="zh-CN" altLang="en-US" dirty="0"/>
              <a:t>整体识别。</a:t>
            </a:r>
            <a:endParaRPr lang="zh-CN" altLang="en-US" sz="1600" b="0" i="0" kern="1200" dirty="0">
              <a:solidFill>
                <a:schemeClr val="tx1"/>
              </a:solidFill>
              <a:effectLst/>
              <a:latin typeface="+mn-lt"/>
              <a:ea typeface="+mn-ea"/>
              <a:cs typeface="+mn-cs"/>
            </a:endParaRPr>
          </a:p>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a:solidFill>
                  <a:srgbClr val="191919"/>
                </a:solidFill>
                <a:latin typeface="PingFang SC"/>
              </a:rPr>
              <a:t>通过逐层的学习和训练，神经网络可以从原始数据中提取出更加高级和抽象的特征，从而实现对复杂模式的识别和理解。这种层次化的特征提取能力使得神经网络可以学习和理解各种复杂的数据结构，包括图像、文本、声音等。</a:t>
            </a:r>
            <a:endParaRPr lang="en-US" altLang="zh-CN" dirty="0">
              <a:solidFill>
                <a:srgbClr val="191919"/>
              </a:solidFill>
              <a:latin typeface="PingFang SC"/>
            </a:endParaRPr>
          </a:p>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a:solidFill>
                  <a:srgbClr val="191919"/>
                </a:solidFill>
                <a:latin typeface="PingFang SC"/>
              </a:rPr>
              <a:t>图像识别是这样，声音识别其实也是这样。</a:t>
            </a:r>
            <a:endParaRPr lang="en-US" altLang="zh-CN" dirty="0">
              <a:solidFill>
                <a:srgbClr val="191919"/>
              </a:solidFill>
              <a:latin typeface="PingFang SC"/>
            </a:endParaRPr>
          </a:p>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a:solidFill>
                  <a:srgbClr val="191919"/>
                </a:solidFill>
                <a:latin typeface="PingFang SC"/>
              </a:rPr>
              <a:t>第一层是输入层（</a:t>
            </a:r>
            <a:r>
              <a:rPr lang="en-US" altLang="zh-CN" dirty="0">
                <a:solidFill>
                  <a:srgbClr val="191919"/>
                </a:solidFill>
                <a:latin typeface="PingFang SC"/>
              </a:rPr>
              <a:t>28*28</a:t>
            </a:r>
            <a:r>
              <a:rPr lang="zh-CN" altLang="en-US" dirty="0">
                <a:solidFill>
                  <a:srgbClr val="191919"/>
                </a:solidFill>
                <a:latin typeface="PingFang SC"/>
              </a:rPr>
              <a:t>），最后一层是输出层（</a:t>
            </a:r>
            <a:r>
              <a:rPr lang="en-US" altLang="zh-CN" dirty="0">
                <a:solidFill>
                  <a:srgbClr val="191919"/>
                </a:solidFill>
                <a:latin typeface="PingFang SC"/>
              </a:rPr>
              <a:t>10</a:t>
            </a:r>
            <a:r>
              <a:rPr lang="zh-CN" altLang="en-US" dirty="0">
                <a:solidFill>
                  <a:srgbClr val="191919"/>
                </a:solidFill>
                <a:latin typeface="PingFang SC"/>
              </a:rPr>
              <a:t>），中间是隐藏层，也可以理解为特征抽取层。</a:t>
            </a:r>
            <a:endParaRPr lang="en-US" altLang="zh-CN" dirty="0">
              <a:solidFill>
                <a:srgbClr val="191919"/>
              </a:solidFill>
              <a:latin typeface="PingFang SC"/>
            </a:endParaRPr>
          </a:p>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a:solidFill>
                  <a:srgbClr val="191919"/>
                </a:solidFill>
                <a:latin typeface="PingFang SC"/>
              </a:rPr>
              <a:t>生物意义的理解：</a:t>
            </a:r>
            <a:endParaRPr lang="en-US" altLang="zh-CN" dirty="0">
              <a:solidFill>
                <a:srgbClr val="191919"/>
              </a:solidFill>
              <a:latin typeface="PingFang SC"/>
            </a:endParaRPr>
          </a:p>
          <a:p>
            <a:r>
              <a:rPr lang="zh-CN" altLang="zh-CN" sz="1800" dirty="0">
                <a:effectLst/>
                <a:latin typeface="宋体" panose="02010600030101010101" pitchFamily="2" charset="-122"/>
                <a:ea typeface="等线" panose="02010600030101010101" charset="-122"/>
                <a:cs typeface="宋体" panose="02010600030101010101" pitchFamily="2" charset="-122"/>
              </a:rPr>
              <a:t>参考人类大脑的发展，第一阶段是爬虫类大脑，他们只有控制呼吸、血压和心跳等自觉能力；第二阶段在脑仁之外又进化出了一层，古生物体，这一层脑质具备了本能反应，比如交配，饥饿、恐惧等；第三阶段就是发展出了新皮质层，于是有了智人，具备了思维，推理，文字等高阶能力。这一发展正式大脑的皮质出现，我们拥有了</a:t>
            </a:r>
            <a:r>
              <a:rPr lang="en-US" altLang="zh-CN" sz="1800" dirty="0">
                <a:effectLst/>
                <a:latin typeface="宋体" panose="02010600030101010101" pitchFamily="2" charset="-122"/>
                <a:ea typeface="等线" panose="02010600030101010101" charset="-122"/>
                <a:cs typeface="宋体" panose="02010600030101010101" pitchFamily="2" charset="-122"/>
              </a:rPr>
              <a:t> 200 </a:t>
            </a:r>
            <a:r>
              <a:rPr lang="zh-CN" altLang="zh-CN" sz="1800" dirty="0">
                <a:effectLst/>
                <a:latin typeface="宋体" panose="02010600030101010101" pitchFamily="2" charset="-122"/>
                <a:ea typeface="等线" panose="02010600030101010101" charset="-122"/>
                <a:cs typeface="宋体" panose="02010600030101010101" pitchFamily="2" charset="-122"/>
              </a:rPr>
              <a:t>亿左右的神经元，这就是大模型类比的，当大模型</a:t>
            </a:r>
            <a:r>
              <a:rPr lang="en-US" altLang="zh-CN" sz="1800" dirty="0">
                <a:effectLst/>
                <a:latin typeface="宋体" panose="02010600030101010101" pitchFamily="2" charset="-122"/>
                <a:ea typeface="等线" panose="02010600030101010101" charset="-122"/>
                <a:cs typeface="宋体" panose="02010600030101010101" pitchFamily="2" charset="-122"/>
              </a:rPr>
              <a:t> 100+</a:t>
            </a:r>
            <a:r>
              <a:rPr lang="zh-CN" altLang="zh-CN" sz="1800" dirty="0">
                <a:effectLst/>
                <a:latin typeface="宋体" panose="02010600030101010101" pitchFamily="2" charset="-122"/>
                <a:ea typeface="等线" panose="02010600030101010101" charset="-122"/>
                <a:cs typeface="宋体" panose="02010600030101010101" pitchFamily="2" charset="-122"/>
              </a:rPr>
              <a:t>层出现后他也就有了初步的推理能力。换言之，你是无法想象一个</a:t>
            </a:r>
            <a:r>
              <a:rPr lang="en-US" altLang="zh-CN" sz="1800" dirty="0">
                <a:effectLst/>
                <a:latin typeface="宋体" panose="02010600030101010101" pitchFamily="2" charset="-122"/>
                <a:ea typeface="等线" panose="02010600030101010101" charset="-122"/>
                <a:cs typeface="宋体" panose="02010600030101010101" pitchFamily="2" charset="-122"/>
              </a:rPr>
              <a:t> 1</a:t>
            </a:r>
            <a:r>
              <a:rPr lang="zh-CN" altLang="zh-CN" sz="1800" dirty="0">
                <a:effectLst/>
                <a:latin typeface="宋体" panose="02010600030101010101" pitchFamily="2" charset="-122"/>
                <a:ea typeface="等线" panose="02010600030101010101" charset="-122"/>
                <a:cs typeface="宋体" panose="02010600030101010101" pitchFamily="2" charset="-122"/>
              </a:rPr>
              <a:t>，</a:t>
            </a:r>
            <a:r>
              <a:rPr lang="en-US" altLang="zh-CN" sz="1800" dirty="0">
                <a:effectLst/>
                <a:latin typeface="宋体" panose="02010600030101010101" pitchFamily="2" charset="-122"/>
                <a:ea typeface="等线" panose="02010600030101010101" charset="-122"/>
                <a:cs typeface="宋体" panose="02010600030101010101" pitchFamily="2" charset="-122"/>
              </a:rPr>
              <a:t>2 </a:t>
            </a:r>
            <a:r>
              <a:rPr lang="zh-CN" altLang="zh-CN" sz="1800" dirty="0">
                <a:effectLst/>
                <a:latin typeface="宋体" panose="02010600030101010101" pitchFamily="2" charset="-122"/>
                <a:ea typeface="等线" panose="02010600030101010101" charset="-122"/>
                <a:cs typeface="宋体" panose="02010600030101010101" pitchFamily="2" charset="-122"/>
              </a:rPr>
              <a:t>阶段的大脑是如何能够发展成第三阶段的大脑并具备推理能力的。同理说大模型也是如此，大就是神，大就是一切，大就是真理，大就是智慧。而他能够在有限的空间中获得无限的大就是压缩，无损压缩，极致高效的无损压缩。</a:t>
            </a:r>
            <a:endParaRPr lang="zh-CN" altLang="zh-CN" sz="1800" dirty="0">
              <a:effectLst/>
              <a:latin typeface="宋体" panose="02010600030101010101" pitchFamily="2" charset="-122"/>
              <a:ea typeface="宋体" panose="02010600030101010101" pitchFamily="2" charset="-122"/>
              <a:cs typeface="宋体" panose="02010600030101010101" pitchFamily="2" charset="-122"/>
            </a:endParaRPr>
          </a:p>
          <a:p>
            <a:pPr marL="0" marR="0" lvl="0" indent="0" algn="l" defTabSz="1219200" rtl="0" eaLnBrk="1" fontAlgn="auto" latinLnBrk="0" hangingPunct="1">
              <a:lnSpc>
                <a:spcPct val="100000"/>
              </a:lnSpc>
              <a:spcBef>
                <a:spcPts val="0"/>
              </a:spcBef>
              <a:spcAft>
                <a:spcPts val="0"/>
              </a:spcAft>
              <a:buClrTx/>
              <a:buSzTx/>
              <a:buFontTx/>
              <a:buNone/>
              <a:defRPr/>
            </a:pPr>
            <a:endParaRPr lang="en-US" altLang="zh-CN" dirty="0">
              <a:solidFill>
                <a:srgbClr val="191919"/>
              </a:solidFill>
              <a:latin typeface="PingFang SC"/>
            </a:endParaRPr>
          </a:p>
          <a:p>
            <a:pPr marL="0" marR="0" lvl="0" indent="0" algn="l" defTabSz="1219200" rtl="0" eaLnBrk="1" fontAlgn="auto" latinLnBrk="0" hangingPunct="1">
              <a:lnSpc>
                <a:spcPct val="100000"/>
              </a:lnSpc>
              <a:spcBef>
                <a:spcPts val="0"/>
              </a:spcBef>
              <a:spcAft>
                <a:spcPts val="0"/>
              </a:spcAft>
              <a:buClrTx/>
              <a:buSzTx/>
              <a:buFontTx/>
              <a:buNone/>
              <a:defRPr/>
            </a:pPr>
            <a:endParaRPr lang="en-US" altLang="zh-CN" dirty="0">
              <a:solidFill>
                <a:srgbClr val="191919"/>
              </a:solidFill>
              <a:latin typeface="PingFang SC"/>
            </a:endParaRPr>
          </a:p>
          <a:p>
            <a:pPr marL="0" marR="0" lvl="0" indent="0" algn="l" defTabSz="1219200" rtl="0" eaLnBrk="1" fontAlgn="auto" latinLnBrk="0" hangingPunct="1">
              <a:lnSpc>
                <a:spcPct val="100000"/>
              </a:lnSpc>
              <a:spcBef>
                <a:spcPts val="0"/>
              </a:spcBef>
              <a:spcAft>
                <a:spcPts val="0"/>
              </a:spcAft>
              <a:buClrTx/>
              <a:buSzTx/>
              <a:buFontTx/>
              <a:buNone/>
              <a:defRPr/>
            </a:pPr>
            <a:r>
              <a:rPr lang="zh-CN" altLang="en-US" b="1" dirty="0">
                <a:solidFill>
                  <a:srgbClr val="191919"/>
                </a:solidFill>
                <a:latin typeface="PingFang SC"/>
              </a:rPr>
              <a:t>知识点二：圈圈和线是什么？</a:t>
            </a:r>
            <a:endParaRPr lang="en-US" altLang="zh-CN" b="1" dirty="0">
              <a:solidFill>
                <a:srgbClr val="191919"/>
              </a:solidFill>
              <a:latin typeface="PingFang SC"/>
            </a:endParaRPr>
          </a:p>
          <a:p>
            <a:pPr algn="l">
              <a:lnSpc>
                <a:spcPct val="150000"/>
              </a:lnSpc>
            </a:pPr>
            <a:r>
              <a:rPr lang="zh-CN" altLang="en-US" sz="1600" b="0" dirty="0">
                <a:latin typeface="微软雅黑" panose="020B0503020204020204" pitchFamily="34" charset="-122"/>
                <a:ea typeface="微软雅黑" panose="020B0503020204020204" pitchFamily="34" charset="-122"/>
              </a:rPr>
              <a:t>大部分看</a:t>
            </a:r>
            <a:r>
              <a:rPr lang="en-US" altLang="zh-CN" sz="1600" b="0" dirty="0">
                <a:latin typeface="微软雅黑" panose="020B0503020204020204" pitchFamily="34" charset="-122"/>
                <a:ea typeface="微软雅黑" panose="020B0503020204020204" pitchFamily="34" charset="-122"/>
              </a:rPr>
              <a:t>NN</a:t>
            </a:r>
            <a:r>
              <a:rPr lang="zh-CN" altLang="en-US" sz="1600" b="0" dirty="0">
                <a:latin typeface="微软雅黑" panose="020B0503020204020204" pitchFamily="34" charset="-122"/>
                <a:ea typeface="微软雅黑" panose="020B0503020204020204" pitchFamily="34" charset="-122"/>
              </a:rPr>
              <a:t>神经网络的同学，都好奇 圈圈  里面是啥。其中 圈圈 只是计算过程数据，可能存了一些特征值。真正表征神经网络参数的是中间的连线，每条线代表一个</a:t>
            </a:r>
            <a:r>
              <a:rPr lang="en-US" altLang="zh-CN" sz="1600" b="0" dirty="0">
                <a:latin typeface="微软雅黑" panose="020B0503020204020204" pitchFamily="34" charset="-122"/>
                <a:ea typeface="微软雅黑" panose="020B0503020204020204" pitchFamily="34" charset="-122"/>
              </a:rPr>
              <a:t>w</a:t>
            </a:r>
            <a:r>
              <a:rPr lang="zh-CN" altLang="en-US" sz="1600" b="0" dirty="0">
                <a:latin typeface="微软雅黑" panose="020B0503020204020204" pitchFamily="34" charset="-122"/>
                <a:ea typeface="微软雅黑" panose="020B0503020204020204" pitchFamily="34" charset="-122"/>
              </a:rPr>
              <a:t>权重参数。</a:t>
            </a:r>
            <a:r>
              <a:rPr kumimoji="1" lang="zh-CN" altLang="en-US" b="0" kern="0" dirty="0">
                <a:solidFill>
                  <a:schemeClr val="accent1"/>
                </a:solidFill>
                <a:latin typeface="微软雅黑" panose="020B0503020204020204" pitchFamily="34" charset="-122"/>
                <a:ea typeface="微软雅黑" panose="020B0503020204020204" pitchFamily="34" charset="-122"/>
              </a:rPr>
              <a:t>参数都是通过训练出来的，是模型通过训练，自己总结的特征提取的规律</a:t>
            </a:r>
            <a:endParaRPr lang="en-US" altLang="zh-CN" sz="1600" b="0" dirty="0">
              <a:latin typeface="微软雅黑" panose="020B0503020204020204" pitchFamily="34" charset="-122"/>
              <a:ea typeface="微软雅黑" panose="020B0503020204020204" pitchFamily="34" charset="-122"/>
            </a:endParaRPr>
          </a:p>
          <a:p>
            <a:pPr algn="l">
              <a:lnSpc>
                <a:spcPct val="150000"/>
              </a:lnSpc>
            </a:pPr>
            <a:endParaRPr lang="en-US" altLang="zh-CN" sz="1600" b="1" dirty="0">
              <a:latin typeface="微软雅黑" panose="020B0503020204020204" pitchFamily="34" charset="-122"/>
              <a:ea typeface="微软雅黑" panose="020B0503020204020204" pitchFamily="34" charset="-122"/>
            </a:endParaRPr>
          </a:p>
          <a:p>
            <a:pPr algn="l">
              <a:lnSpc>
                <a:spcPct val="150000"/>
              </a:lnSpc>
            </a:pPr>
            <a:r>
              <a:rPr lang="zh-CN" altLang="en-US" sz="1600" b="1" dirty="0">
                <a:latin typeface="微软雅黑" panose="020B0503020204020204" pitchFamily="34" charset="-122"/>
                <a:ea typeface="微软雅黑" panose="020B0503020204020204" pitchFamily="34" charset="-122"/>
              </a:rPr>
              <a:t>知识点三：这个神经网络算法到底意味着什么？</a:t>
            </a:r>
            <a:endParaRPr lang="en-US" altLang="zh-CN" sz="1600" b="1" dirty="0">
              <a:latin typeface="微软雅黑" panose="020B0503020204020204" pitchFamily="34" charset="-122"/>
              <a:ea typeface="微软雅黑" panose="020B0503020204020204" pitchFamily="34" charset="-122"/>
            </a:endParaRPr>
          </a:p>
          <a:p>
            <a:pPr marL="0" marR="0" indent="0" defTabSz="914400" eaLnBrk="1" fontAlgn="auto" latinLnBrk="0" hangingPunct="1">
              <a:lnSpc>
                <a:spcPct val="120000"/>
              </a:lnSpc>
              <a:spcBef>
                <a:spcPts val="0"/>
              </a:spcBef>
              <a:spcAft>
                <a:spcPts val="0"/>
              </a:spcAft>
              <a:buClrTx/>
              <a:buSzTx/>
              <a:buFontTx/>
              <a:buNone/>
            </a:pPr>
            <a:r>
              <a:rPr kumimoji="1" lang="zh-CN" altLang="en-US" sz="1600" b="0" kern="0" dirty="0">
                <a:latin typeface="微软雅黑" panose="020B0503020204020204" pitchFamily="34" charset="-122"/>
                <a:ea typeface="微软雅黑" panose="020B0503020204020204" pitchFamily="34" charset="-122"/>
              </a:rPr>
              <a:t>过去软件编程，是人用机器语言</a:t>
            </a:r>
            <a:r>
              <a:rPr kumimoji="1" lang="en-US" altLang="zh-CN" sz="1600" b="0" kern="0" dirty="0">
                <a:latin typeface="微软雅黑" panose="020B0503020204020204" pitchFamily="34" charset="-122"/>
                <a:ea typeface="微软雅黑" panose="020B0503020204020204" pitchFamily="34" charset="-122"/>
              </a:rPr>
              <a:t>C</a:t>
            </a:r>
            <a:r>
              <a:rPr kumimoji="1" lang="zh-CN" altLang="en-US" sz="1600" b="0" kern="0" dirty="0">
                <a:latin typeface="微软雅黑" panose="020B0503020204020204" pitchFamily="34" charset="-122"/>
                <a:ea typeface="微软雅黑" panose="020B0503020204020204" pitchFamily="34" charset="-122"/>
              </a:rPr>
              <a:t>、汇编，把逻辑和规律编写到机器里面。</a:t>
            </a:r>
            <a:endParaRPr kumimoji="1" lang="en-US" altLang="zh-CN" sz="1600" b="0" kern="0" dirty="0">
              <a:latin typeface="微软雅黑" panose="020B0503020204020204" pitchFamily="34" charset="-122"/>
              <a:ea typeface="微软雅黑" panose="020B0503020204020204" pitchFamily="34" charset="-122"/>
            </a:endParaRPr>
          </a:p>
          <a:p>
            <a:pPr marL="0" marR="0" indent="0" defTabSz="914400" eaLnBrk="1" fontAlgn="auto" latinLnBrk="0" hangingPunct="1">
              <a:lnSpc>
                <a:spcPct val="120000"/>
              </a:lnSpc>
              <a:spcBef>
                <a:spcPts val="0"/>
              </a:spcBef>
              <a:spcAft>
                <a:spcPts val="0"/>
              </a:spcAft>
              <a:buClrTx/>
              <a:buSzTx/>
              <a:buFontTx/>
              <a:buNone/>
            </a:pPr>
            <a:r>
              <a:rPr kumimoji="1" lang="en-US" altLang="zh-CN" sz="16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AI</a:t>
            </a:r>
            <a:r>
              <a:rPr kumimoji="1" lang="zh-CN" altLang="en-US" sz="16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模型就是用参数矩阵来存储各种规则</a:t>
            </a:r>
            <a:r>
              <a:rPr kumimoji="1" lang="en-US" altLang="zh-CN" sz="16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a:t>
            </a:r>
            <a:r>
              <a:rPr kumimoji="1" lang="zh-CN" altLang="en-US" sz="16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算法</a:t>
            </a:r>
            <a:r>
              <a:rPr kumimoji="1" lang="zh-CN" altLang="en-US" sz="1600" b="0" kern="0" dirty="0">
                <a:latin typeface="微软雅黑" panose="020B0503020204020204" pitchFamily="34" charset="-122"/>
                <a:ea typeface="微软雅黑" panose="020B0503020204020204" pitchFamily="34" charset="-122"/>
              </a:rPr>
              <a:t>，通过输入信息</a:t>
            </a:r>
            <a:r>
              <a:rPr kumimoji="1" lang="en-US" altLang="zh-CN" sz="1600" b="0" kern="0" dirty="0">
                <a:latin typeface="微软雅黑" panose="020B0503020204020204" pitchFamily="34" charset="-122"/>
                <a:ea typeface="微软雅黑" panose="020B0503020204020204" pitchFamily="34" charset="-122"/>
              </a:rPr>
              <a:t>x</a:t>
            </a:r>
            <a:r>
              <a:rPr kumimoji="1" lang="zh-CN" altLang="en-US" sz="1600" b="0" kern="0" dirty="0">
                <a:latin typeface="微软雅黑" panose="020B0503020204020204" pitchFamily="34" charset="-122"/>
                <a:ea typeface="微软雅黑" panose="020B0503020204020204" pitchFamily="34" charset="-122"/>
              </a:rPr>
              <a:t>模型参数矩阵，对原始信息做处理，找到原始输入信息的特征。</a:t>
            </a:r>
            <a:endParaRPr kumimoji="1" lang="en-US" altLang="zh-CN" sz="1600" b="0" kern="0" dirty="0">
              <a:latin typeface="微软雅黑" panose="020B0503020204020204" pitchFamily="34" charset="-122"/>
              <a:ea typeface="微软雅黑" panose="020B0503020204020204" pitchFamily="34" charset="-122"/>
            </a:endParaRPr>
          </a:p>
          <a:p>
            <a:pPr marL="0" marR="0" indent="0" defTabSz="914400" eaLnBrk="1" fontAlgn="auto" latinLnBrk="0" hangingPunct="1">
              <a:lnSpc>
                <a:spcPct val="120000"/>
              </a:lnSpc>
              <a:spcBef>
                <a:spcPts val="0"/>
              </a:spcBef>
              <a:spcAft>
                <a:spcPts val="0"/>
              </a:spcAft>
              <a:buClrTx/>
              <a:buSzTx/>
              <a:buFontTx/>
              <a:buNone/>
            </a:pPr>
            <a:r>
              <a:rPr kumimoji="1" lang="zh-CN" altLang="en-US" sz="16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但是这些参数矩阵不是人显示编程告诉</a:t>
            </a:r>
            <a:r>
              <a:rPr kumimoji="1" lang="en-US" altLang="zh-CN" sz="16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AI</a:t>
            </a:r>
            <a:r>
              <a:rPr kumimoji="1" lang="zh-CN" altLang="en-US" sz="16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模型的，是</a:t>
            </a:r>
            <a:r>
              <a:rPr kumimoji="1" lang="en-US" altLang="zh-CN" sz="16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AI</a:t>
            </a:r>
            <a:r>
              <a:rPr kumimoji="1" lang="zh-CN" altLang="en-US" sz="16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模型通过学习，</a:t>
            </a:r>
            <a:r>
              <a:rPr kumimoji="1" lang="en-US" altLang="zh-CN" sz="16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AI</a:t>
            </a:r>
            <a:r>
              <a:rPr kumimoji="1" lang="zh-CN" altLang="en-US" sz="16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学习到的知识和规律（人类看不懂）。</a:t>
            </a:r>
            <a:endParaRPr kumimoji="1" lang="en-US" altLang="zh-CN" sz="16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a:p>
            <a:pPr marL="0" marR="0" indent="0" defTabSz="914400" eaLnBrk="1" fontAlgn="auto" latinLnBrk="0" hangingPunct="1">
              <a:lnSpc>
                <a:spcPct val="120000"/>
              </a:lnSpc>
              <a:spcBef>
                <a:spcPts val="0"/>
              </a:spcBef>
              <a:spcAft>
                <a:spcPts val="0"/>
              </a:spcAft>
              <a:buClrTx/>
              <a:buSzTx/>
              <a:buFontTx/>
              <a:buNone/>
            </a:pPr>
            <a:r>
              <a:rPr kumimoji="1" lang="zh-CN" altLang="en-US" sz="16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从生物学来说，一个单独的生物是通过父母辈或学校的教育，学会规则再逐步成长。但一个物种，是通过更多代际在残酷的大自然中，学到了更多，不断调整自己，使得整个物种不断演进，更聪明、更适合物理世界（比如熊听到枪声就知道回避），并且把这种物种的知识压缩到基因里。这些调整可以理解为前向传播和后向传播。</a:t>
            </a:r>
            <a:endParaRPr kumimoji="1" lang="zh-CN" altLang="en-US"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a:p>
            <a:pPr algn="l">
              <a:lnSpc>
                <a:spcPct val="150000"/>
              </a:lnSpc>
            </a:pPr>
            <a:endParaRPr lang="en-US" altLang="zh-CN" sz="1600" b="1" dirty="0">
              <a:latin typeface="微软雅黑" panose="020B0503020204020204" pitchFamily="34" charset="-122"/>
              <a:ea typeface="微软雅黑" panose="020B0503020204020204" pitchFamily="34" charset="-122"/>
            </a:endParaRPr>
          </a:p>
          <a:p>
            <a:pPr algn="l">
              <a:lnSpc>
                <a:spcPct val="150000"/>
              </a:lnSpc>
            </a:pPr>
            <a:endParaRPr lang="en-US" altLang="zh-CN" sz="1600" b="1" dirty="0">
              <a:latin typeface="微软雅黑" panose="020B0503020204020204" pitchFamily="34" charset="-122"/>
              <a:ea typeface="微软雅黑" panose="020B0503020204020204" pitchFamily="34" charset="-122"/>
            </a:endParaRPr>
          </a:p>
          <a:p>
            <a:pPr algn="l">
              <a:lnSpc>
                <a:spcPct val="150000"/>
              </a:lnSpc>
            </a:pPr>
            <a:r>
              <a:rPr lang="zh-CN" altLang="en-US" sz="1600" b="1" dirty="0">
                <a:latin typeface="微软雅黑" panose="020B0503020204020204" pitchFamily="34" charset="-122"/>
                <a:ea typeface="微软雅黑" panose="020B0503020204020204" pitchFamily="34" charset="-122"/>
              </a:rPr>
              <a:t>为了加强学习，这里可以增加互动的设计：</a:t>
            </a:r>
            <a:endParaRPr lang="zh-CN" altLang="en-US" sz="1600" b="1" dirty="0">
              <a:latin typeface="微软雅黑" panose="020B0503020204020204" pitchFamily="34" charset="-122"/>
              <a:ea typeface="微软雅黑" panose="020B0503020204020204" pitchFamily="34" charset="-122"/>
            </a:endParaRPr>
          </a:p>
          <a:p>
            <a:pPr marL="0" marR="0" lvl="0" indent="0" algn="l" defTabSz="1219200" rtl="0" eaLnBrk="1" fontAlgn="auto" latinLnBrk="0" hangingPunct="1">
              <a:lnSpc>
                <a:spcPct val="100000"/>
              </a:lnSpc>
              <a:spcBef>
                <a:spcPts val="0"/>
              </a:spcBef>
              <a:spcAft>
                <a:spcPts val="0"/>
              </a:spcAft>
              <a:buClrTx/>
              <a:buSzTx/>
              <a:buFontTx/>
              <a:buNone/>
              <a:defRPr/>
            </a:pPr>
            <a:r>
              <a:rPr lang="en-US" altLang="zh-CN" dirty="0"/>
              <a:t>1</a:t>
            </a:r>
            <a:r>
              <a:rPr lang="zh-CN" altLang="en-US" dirty="0"/>
              <a:t>、第一层是什么、最终一层是什么，中间层是什么？前面层和后面层是什么关系？（隐藏层就是特征提取）</a:t>
            </a:r>
            <a:endParaRPr lang="en-US" altLang="zh-CN" dirty="0"/>
          </a:p>
          <a:p>
            <a:pPr marL="0" marR="0" lvl="0" indent="0" algn="l" defTabSz="1219200" rtl="0" eaLnBrk="1" fontAlgn="auto" latinLnBrk="0" hangingPunct="1">
              <a:lnSpc>
                <a:spcPct val="100000"/>
              </a:lnSpc>
              <a:spcBef>
                <a:spcPts val="0"/>
              </a:spcBef>
              <a:spcAft>
                <a:spcPts val="0"/>
              </a:spcAft>
              <a:buClrTx/>
              <a:buSzTx/>
              <a:buFontTx/>
              <a:buNone/>
              <a:defRPr/>
            </a:pPr>
            <a:r>
              <a:rPr lang="en-US" altLang="zh-CN" dirty="0"/>
              <a:t>2</a:t>
            </a:r>
            <a:r>
              <a:rPr lang="zh-CN" altLang="en-US" dirty="0"/>
              <a:t>、圈圈是什么，参数是什么？</a:t>
            </a:r>
            <a:endParaRPr lang="en-US" altLang="zh-CN" dirty="0"/>
          </a:p>
          <a:p>
            <a:pPr marL="0" marR="0" lvl="0" indent="0" algn="l" defTabSz="1219200" rtl="0" eaLnBrk="1" fontAlgn="auto" latinLnBrk="0" hangingPunct="1">
              <a:lnSpc>
                <a:spcPct val="100000"/>
              </a:lnSpc>
              <a:spcBef>
                <a:spcPts val="0"/>
              </a:spcBef>
              <a:spcAft>
                <a:spcPts val="0"/>
              </a:spcAft>
              <a:buClrTx/>
              <a:buSzTx/>
              <a:buFontTx/>
              <a:buNone/>
              <a:defRPr/>
            </a:pPr>
            <a:r>
              <a:rPr lang="en-US" altLang="zh-CN" dirty="0"/>
              <a:t>3</a:t>
            </a:r>
            <a:r>
              <a:rPr lang="zh-CN" altLang="en-US" dirty="0"/>
              <a:t>、为什么说这个算法是黑盒的？</a:t>
            </a:r>
            <a:endParaRPr lang="en-US" altLang="zh-CN" dirty="0"/>
          </a:p>
          <a:p>
            <a:pPr marL="0" marR="0" lvl="0" indent="0" algn="l" defTabSz="1219200" rtl="0" eaLnBrk="1" fontAlgn="auto" latinLnBrk="0" hangingPunct="1">
              <a:lnSpc>
                <a:spcPct val="100000"/>
              </a:lnSpc>
              <a:spcBef>
                <a:spcPts val="0"/>
              </a:spcBef>
              <a:spcAft>
                <a:spcPts val="0"/>
              </a:spcAft>
              <a:buClrTx/>
              <a:buSzTx/>
              <a:buFontTx/>
              <a:buNone/>
              <a:defRPr/>
            </a:pPr>
            <a:r>
              <a:rPr lang="en-US" altLang="zh-CN" dirty="0"/>
              <a:t>4</a:t>
            </a:r>
            <a:r>
              <a:rPr lang="zh-CN" altLang="en-US" dirty="0"/>
              <a:t>、哪个学员能否自己讲一遍对这个视频理解？</a:t>
            </a:r>
            <a:endParaRPr lang="en-US" altLang="zh-CN" dirty="0"/>
          </a:p>
          <a:p>
            <a:pPr marL="0" marR="0" lvl="0" indent="0" algn="l" defTabSz="1219200" rtl="0" eaLnBrk="1" fontAlgn="auto" latinLnBrk="0" hangingPunct="1">
              <a:lnSpc>
                <a:spcPct val="100000"/>
              </a:lnSpc>
              <a:spcBef>
                <a:spcPts val="0"/>
              </a:spcBef>
              <a:spcAft>
                <a:spcPts val="0"/>
              </a:spcAft>
              <a:buClrTx/>
              <a:buSzTx/>
              <a:buFontTx/>
              <a:buNone/>
              <a:defRPr/>
            </a:pPr>
            <a:r>
              <a:rPr lang="en-US" altLang="zh-CN" dirty="0"/>
              <a:t>5</a:t>
            </a:r>
            <a:r>
              <a:rPr lang="zh-CN" altLang="en-US" dirty="0"/>
              <a:t>、为什么说：</a:t>
            </a:r>
            <a:r>
              <a:rPr kumimoji="1" lang="zh-CN" altLang="en-US" dirty="0">
                <a:solidFill>
                  <a:srgbClr val="000000"/>
                </a:solidFill>
                <a:latin typeface="微软雅黑" panose="020B0503020204020204" pitchFamily="34" charset="-122"/>
                <a:ea typeface="微软雅黑" panose="020B0503020204020204" pitchFamily="34" charset="-122"/>
              </a:rPr>
              <a:t>基于前向传播和后向传播的神经网络开启了现代</a:t>
            </a:r>
            <a:r>
              <a:rPr kumimoji="1" lang="en-US" altLang="zh-CN" dirty="0">
                <a:solidFill>
                  <a:srgbClr val="000000"/>
                </a:solidFill>
                <a:latin typeface="微软雅黑" panose="020B0503020204020204" pitchFamily="34" charset="-122"/>
                <a:ea typeface="微软雅黑" panose="020B0503020204020204" pitchFamily="34" charset="-122"/>
              </a:rPr>
              <a:t>AI</a:t>
            </a:r>
            <a:r>
              <a:rPr kumimoji="1" lang="zh-CN" altLang="en-US" dirty="0">
                <a:solidFill>
                  <a:srgbClr val="000000"/>
                </a:solidFill>
                <a:latin typeface="微软雅黑" panose="020B0503020204020204" pitchFamily="34" charset="-122"/>
                <a:ea typeface="微软雅黑" panose="020B0503020204020204" pitchFamily="34" charset="-122"/>
              </a:rPr>
              <a:t>的大发展？</a:t>
            </a:r>
            <a:endParaRPr kumimoji="1" lang="en-US" altLang="zh-CN" dirty="0">
              <a:solidFill>
                <a:srgbClr val="000000"/>
              </a:solidFill>
              <a:latin typeface="微软雅黑" panose="020B0503020204020204" pitchFamily="34" charset="-122"/>
              <a:ea typeface="微软雅黑" panose="020B0503020204020204" pitchFamily="34" charset="-122"/>
            </a:endParaRPr>
          </a:p>
          <a:p>
            <a:pPr marL="0" marR="0" lvl="0" indent="0" algn="l" defTabSz="1219200" rtl="0" eaLnBrk="1" fontAlgn="auto" latinLnBrk="0" hangingPunct="1">
              <a:lnSpc>
                <a:spcPct val="100000"/>
              </a:lnSpc>
              <a:spcBef>
                <a:spcPts val="0"/>
              </a:spcBef>
              <a:spcAft>
                <a:spcPts val="0"/>
              </a:spcAft>
              <a:buClrTx/>
              <a:buSzTx/>
              <a:buFontTx/>
              <a:buNone/>
              <a:defRPr/>
            </a:pPr>
            <a:r>
              <a:rPr kumimoji="1" lang="en-US" altLang="zh-CN" dirty="0">
                <a:solidFill>
                  <a:srgbClr val="000000"/>
                </a:solidFill>
                <a:latin typeface="微软雅黑" panose="020B0503020204020204" pitchFamily="34" charset="-122"/>
                <a:ea typeface="微软雅黑" panose="020B0503020204020204" pitchFamily="34" charset="-122"/>
              </a:rPr>
              <a:t>6</a:t>
            </a:r>
            <a:r>
              <a:rPr kumimoji="1" lang="zh-CN" altLang="en-US" dirty="0">
                <a:solidFill>
                  <a:srgbClr val="000000"/>
                </a:solidFill>
                <a:latin typeface="微软雅黑" panose="020B0503020204020204" pitchFamily="34" charset="-122"/>
                <a:ea typeface="微软雅黑" panose="020B0503020204020204" pitchFamily="34" charset="-122"/>
              </a:rPr>
              <a:t>、这个案例，对于算力意味着什么？</a:t>
            </a:r>
            <a:endParaRPr kumimoji="1" lang="zh-CN" altLang="en-US" dirty="0">
              <a:solidFill>
                <a:srgbClr val="000000"/>
              </a:solidFill>
              <a:latin typeface="微软雅黑" panose="020B0503020204020204" pitchFamily="34" charset="-122"/>
              <a:ea typeface="微软雅黑" panose="020B0503020204020204" pitchFamily="34" charset="-122"/>
            </a:endParaRPr>
          </a:p>
          <a:p>
            <a:pPr marL="0" marR="0" lvl="0" indent="0" algn="l" defTabSz="1219200" rtl="0" eaLnBrk="1" fontAlgn="auto" latinLnBrk="0" hangingPunct="1">
              <a:lnSpc>
                <a:spcPct val="100000"/>
              </a:lnSpc>
              <a:spcBef>
                <a:spcPts val="0"/>
              </a:spcBef>
              <a:spcAft>
                <a:spcPts val="0"/>
              </a:spcAft>
              <a:buClrTx/>
              <a:buSzTx/>
              <a:buFontTx/>
              <a:buNone/>
              <a:defRPr/>
            </a:pPr>
            <a:endParaRPr lang="zh-CN" altLang="en-US" dirty="0"/>
          </a:p>
          <a:p>
            <a:pPr marL="0" marR="0" lvl="0" indent="0" algn="l" defTabSz="1219200" rtl="0" eaLnBrk="1" fontAlgn="auto" latinLnBrk="0" hangingPunct="1">
              <a:lnSpc>
                <a:spcPct val="100000"/>
              </a:lnSpc>
              <a:spcBef>
                <a:spcPts val="0"/>
              </a:spcBef>
              <a:spcAft>
                <a:spcPts val="0"/>
              </a:spcAft>
              <a:buClrTx/>
              <a:buSzTx/>
              <a:buFontTx/>
              <a:buNone/>
              <a:defRPr/>
            </a:pPr>
            <a:endParaRPr lang="en-US" altLang="zh-CN" sz="1600" kern="0" dirty="0">
              <a:solidFill>
                <a:srgbClr val="1D1D1A"/>
              </a:solidFill>
              <a:sym typeface="Arial" panose="020B0604020202020204" pitchFamily="34" charset="0"/>
            </a:endParaRPr>
          </a:p>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07326F3-4732-B74B-9C70-D0992466E49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重点：</a:t>
            </a:r>
            <a:endParaRPr lang="en-US" altLang="zh-CN" dirty="0"/>
          </a:p>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a:t>训练：</a:t>
            </a:r>
            <a:r>
              <a:rPr lang="en-US" altLang="zh-CN" sz="1600" kern="0" dirty="0">
                <a:solidFill>
                  <a:srgbClr val="C00000"/>
                </a:solidFill>
                <a:latin typeface="+mn-ea"/>
                <a:cs typeface="Arial" panose="020B0604020202020204" pitchFamily="34" charset="0"/>
              </a:rPr>
              <a:t>AI</a:t>
            </a:r>
            <a:r>
              <a:rPr lang="zh-CN" altLang="en-US" sz="1600" kern="0" dirty="0">
                <a:solidFill>
                  <a:srgbClr val="C00000"/>
                </a:solidFill>
                <a:latin typeface="+mn-ea"/>
                <a:cs typeface="Arial" panose="020B0604020202020204" pitchFamily="34" charset="0"/>
              </a:rPr>
              <a:t>训练  </a:t>
            </a:r>
            <a:r>
              <a:rPr lang="zh-CN" altLang="en-US" sz="1600" kern="0" dirty="0">
                <a:solidFill>
                  <a:srgbClr val="666666">
                    <a:lumMod val="75000"/>
                  </a:srgbClr>
                </a:solidFill>
                <a:latin typeface="+mn-ea"/>
                <a:cs typeface="Arial" panose="020B0604020202020204" pitchFamily="34" charset="0"/>
              </a:rPr>
              <a:t>通过 大量数据 学习“规则”形成</a:t>
            </a:r>
            <a:r>
              <a:rPr lang="zh-CN" altLang="en-US" sz="1600" kern="0" dirty="0">
                <a:solidFill>
                  <a:srgbClr val="C00000"/>
                </a:solidFill>
                <a:latin typeface="+mn-ea"/>
                <a:cs typeface="Arial" panose="020B0604020202020204" pitchFamily="34" charset="0"/>
              </a:rPr>
              <a:t>模型</a:t>
            </a:r>
            <a:r>
              <a:rPr lang="en-US" altLang="zh-CN" sz="1600" kern="0" dirty="0">
                <a:solidFill>
                  <a:srgbClr val="C00000"/>
                </a:solidFill>
                <a:latin typeface="+mn-ea"/>
                <a:cs typeface="Arial" panose="020B0604020202020204" pitchFamily="34" charset="0"/>
              </a:rPr>
              <a:t>/</a:t>
            </a:r>
            <a:r>
              <a:rPr lang="zh-CN" altLang="en-US" sz="1600" kern="0" dirty="0">
                <a:solidFill>
                  <a:srgbClr val="C00000"/>
                </a:solidFill>
                <a:latin typeface="+mn-ea"/>
                <a:cs typeface="Arial" panose="020B0604020202020204" pitchFamily="34" charset="0"/>
              </a:rPr>
              <a:t>算法</a:t>
            </a:r>
            <a:endParaRPr lang="en-US" altLang="zh-CN" dirty="0"/>
          </a:p>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a:t>推理：</a:t>
            </a:r>
            <a:r>
              <a:rPr lang="en-US" altLang="zh-CN" sz="1600" kern="0" dirty="0">
                <a:solidFill>
                  <a:srgbClr val="C00000"/>
                </a:solidFill>
                <a:latin typeface="+mn-ea"/>
                <a:cs typeface="Arial" panose="020B0604020202020204" pitchFamily="34" charset="0"/>
              </a:rPr>
              <a:t>AI</a:t>
            </a:r>
            <a:r>
              <a:rPr lang="zh-CN" altLang="en-US" sz="1600" kern="0" dirty="0">
                <a:solidFill>
                  <a:srgbClr val="C00000"/>
                </a:solidFill>
                <a:latin typeface="+mn-ea"/>
                <a:cs typeface="Arial" panose="020B0604020202020204" pitchFamily="34" charset="0"/>
              </a:rPr>
              <a:t>推理：</a:t>
            </a:r>
            <a:r>
              <a:rPr lang="zh-CN" altLang="en-US" sz="1600" kern="0" dirty="0">
                <a:solidFill>
                  <a:srgbClr val="666666">
                    <a:lumMod val="75000"/>
                  </a:srgbClr>
                </a:solidFill>
                <a:latin typeface="+mn-ea"/>
                <a:cs typeface="Arial" panose="020B0604020202020204" pitchFamily="34" charset="0"/>
              </a:rPr>
              <a:t>利用 已经训练好的“规则” 完成</a:t>
            </a:r>
            <a:r>
              <a:rPr lang="zh-CN" altLang="en-US" sz="1600" kern="0" dirty="0">
                <a:solidFill>
                  <a:srgbClr val="C00000"/>
                </a:solidFill>
                <a:latin typeface="+mn-ea"/>
                <a:cs typeface="Arial" panose="020B0604020202020204" pitchFamily="34" charset="0"/>
              </a:rPr>
              <a:t>具体任务</a:t>
            </a:r>
            <a:endParaRPr lang="en-US" altLang="zh-CN" sz="1600" kern="0" dirty="0">
              <a:solidFill>
                <a:srgbClr val="C00000"/>
              </a:solidFill>
              <a:latin typeface="+mn-ea"/>
              <a:cs typeface="Arial" panose="020B0604020202020204" pitchFamily="34" charset="0"/>
            </a:endParaRPr>
          </a:p>
          <a:p>
            <a:pPr marL="0" marR="0" lvl="0" indent="0" algn="l" defTabSz="1219200" rtl="0" eaLnBrk="1" fontAlgn="auto" latinLnBrk="0" hangingPunct="1">
              <a:lnSpc>
                <a:spcPct val="100000"/>
              </a:lnSpc>
              <a:spcBef>
                <a:spcPts val="0"/>
              </a:spcBef>
              <a:spcAft>
                <a:spcPts val="0"/>
              </a:spcAft>
              <a:buClrTx/>
              <a:buSzTx/>
              <a:buFontTx/>
              <a:buNone/>
              <a:defRPr/>
            </a:pPr>
            <a:endParaRPr lang="en-US" altLang="zh-CN" sz="1600" kern="0" dirty="0">
              <a:solidFill>
                <a:srgbClr val="C00000"/>
              </a:solidFill>
              <a:latin typeface="+mn-ea"/>
              <a:cs typeface="Arial" panose="020B0604020202020204" pitchFamily="34" charset="0"/>
            </a:endParaRPr>
          </a:p>
          <a:p>
            <a:pPr marL="0" marR="0" lvl="0" indent="0" algn="l" defTabSz="1219200" rtl="0" eaLnBrk="1" fontAlgn="auto" latinLnBrk="0" hangingPunct="1">
              <a:lnSpc>
                <a:spcPct val="100000"/>
              </a:lnSpc>
              <a:spcBef>
                <a:spcPts val="0"/>
              </a:spcBef>
              <a:spcAft>
                <a:spcPts val="0"/>
              </a:spcAft>
              <a:buClrTx/>
              <a:buSzTx/>
              <a:buFontTx/>
              <a:buNone/>
              <a:defRPr/>
            </a:pPr>
            <a:r>
              <a:rPr lang="zh-CN" altLang="en-US" sz="1600" kern="0" dirty="0">
                <a:solidFill>
                  <a:srgbClr val="C00000"/>
                </a:solidFill>
                <a:latin typeface="+mn-ea"/>
                <a:cs typeface="Arial" panose="020B0604020202020204" pitchFamily="34" charset="0"/>
              </a:rPr>
              <a:t>训练就是我们平时进行高考之前做模拟题， 前面通过模拟题给的一模二模三模，做题打分， 然后反过来，通过打分这种方式，  通过模拟考试的方式， 题目的学习和知识学习的能力， 特点： 不停、往复、多次；</a:t>
            </a:r>
            <a:r>
              <a:rPr lang="en-US" altLang="zh-CN" sz="1600" kern="0" dirty="0">
                <a:solidFill>
                  <a:srgbClr val="C00000"/>
                </a:solidFill>
                <a:latin typeface="+mn-ea"/>
                <a:cs typeface="Arial" panose="020B0604020202020204" pitchFamily="34" charset="0"/>
              </a:rPr>
              <a:t>AI</a:t>
            </a:r>
            <a:r>
              <a:rPr lang="zh-CN" altLang="en-US" sz="1600" kern="0" dirty="0">
                <a:solidFill>
                  <a:srgbClr val="C00000"/>
                </a:solidFill>
                <a:latin typeface="+mn-ea"/>
                <a:cs typeface="Arial" panose="020B0604020202020204" pitchFamily="34" charset="0"/>
              </a:rPr>
              <a:t>训练的参数是变化的</a:t>
            </a:r>
            <a:endParaRPr lang="en-US" altLang="zh-CN" sz="1600" kern="0" dirty="0">
              <a:solidFill>
                <a:srgbClr val="C00000"/>
              </a:solidFill>
              <a:latin typeface="+mn-ea"/>
              <a:cs typeface="Arial" panose="020B0604020202020204" pitchFamily="34" charset="0"/>
            </a:endParaRPr>
          </a:p>
          <a:p>
            <a:pPr marL="0" marR="0" lvl="0" indent="0" algn="l" defTabSz="1219200" rtl="0" eaLnBrk="1" fontAlgn="auto" latinLnBrk="0" hangingPunct="1">
              <a:lnSpc>
                <a:spcPct val="100000"/>
              </a:lnSpc>
              <a:spcBef>
                <a:spcPts val="0"/>
              </a:spcBef>
              <a:spcAft>
                <a:spcPts val="0"/>
              </a:spcAft>
              <a:buClrTx/>
              <a:buSzTx/>
              <a:buFontTx/>
              <a:buNone/>
              <a:defRPr/>
            </a:pPr>
            <a:r>
              <a:rPr lang="zh-CN" altLang="en-US" sz="1600" kern="0" dirty="0">
                <a:solidFill>
                  <a:srgbClr val="C00000"/>
                </a:solidFill>
                <a:latin typeface="+mn-ea"/>
                <a:cs typeface="Arial" panose="020B0604020202020204" pitchFamily="34" charset="0"/>
              </a:rPr>
              <a:t>推理就是我们正式参加高考了， 特点：一次性的， 考一次就过了， </a:t>
            </a:r>
            <a:r>
              <a:rPr lang="en-US" altLang="zh-CN" sz="1600" kern="0" dirty="0">
                <a:solidFill>
                  <a:srgbClr val="C00000"/>
                </a:solidFill>
                <a:latin typeface="+mn-ea"/>
                <a:cs typeface="Arial" panose="020B0604020202020204" pitchFamily="34" charset="0"/>
              </a:rPr>
              <a:t>AI</a:t>
            </a:r>
            <a:r>
              <a:rPr lang="zh-CN" altLang="en-US" sz="1600" kern="0" dirty="0">
                <a:solidFill>
                  <a:srgbClr val="C00000"/>
                </a:solidFill>
                <a:latin typeface="+mn-ea"/>
                <a:cs typeface="Arial" panose="020B0604020202020204" pitchFamily="34" charset="0"/>
              </a:rPr>
              <a:t>推理的参数不变的</a:t>
            </a:r>
            <a:endParaRPr lang="en-US" altLang="zh-CN" sz="1600" kern="0" dirty="0">
              <a:solidFill>
                <a:srgbClr val="C00000"/>
              </a:solidFill>
              <a:latin typeface="+mn-ea"/>
              <a:cs typeface="Arial" panose="020B0604020202020204" pitchFamily="34" charset="0"/>
            </a:endParaRPr>
          </a:p>
          <a:p>
            <a:pPr marL="0" marR="0" lvl="0" indent="0" algn="l" defTabSz="1219200" rtl="0" eaLnBrk="1" fontAlgn="auto" latinLnBrk="0" hangingPunct="1">
              <a:lnSpc>
                <a:spcPct val="100000"/>
              </a:lnSpc>
              <a:spcBef>
                <a:spcPts val="0"/>
              </a:spcBef>
              <a:spcAft>
                <a:spcPts val="0"/>
              </a:spcAft>
              <a:buClrTx/>
              <a:buSzTx/>
              <a:buFontTx/>
              <a:buNone/>
              <a:defRPr/>
            </a:pPr>
            <a:endParaRPr lang="en-US" altLang="zh-CN" sz="1600" kern="0" dirty="0">
              <a:solidFill>
                <a:srgbClr val="C00000"/>
              </a:solidFill>
              <a:latin typeface="+mn-ea"/>
              <a:cs typeface="Arial" panose="020B0604020202020204" pitchFamily="34" charset="0"/>
            </a:endParaRPr>
          </a:p>
          <a:p>
            <a:pPr marL="0" marR="0" lvl="0" indent="0" algn="l" defTabSz="1219200" rtl="0" eaLnBrk="1" fontAlgn="auto" latinLnBrk="0" hangingPunct="1">
              <a:lnSpc>
                <a:spcPct val="100000"/>
              </a:lnSpc>
              <a:spcBef>
                <a:spcPts val="0"/>
              </a:spcBef>
              <a:spcAft>
                <a:spcPts val="0"/>
              </a:spcAft>
              <a:buClrTx/>
              <a:buSzTx/>
              <a:buFontTx/>
              <a:buNone/>
              <a:defRPr/>
            </a:pPr>
            <a:r>
              <a:rPr lang="zh-CN" altLang="en-US" sz="1600" kern="0" dirty="0">
                <a:solidFill>
                  <a:srgbClr val="C00000"/>
                </a:solidFill>
                <a:latin typeface="+mn-ea"/>
                <a:cs typeface="Arial" panose="020B0604020202020204" pitchFamily="34" charset="0"/>
              </a:rPr>
              <a:t>投入成本</a:t>
            </a:r>
            <a:endParaRPr lang="en-US" altLang="zh-CN" sz="1600" kern="0" dirty="0">
              <a:solidFill>
                <a:srgbClr val="C00000"/>
              </a:solidFill>
              <a:latin typeface="+mn-ea"/>
              <a:cs typeface="Arial" panose="020B0604020202020204" pitchFamily="34" charset="0"/>
            </a:endParaRPr>
          </a:p>
          <a:p>
            <a:pPr marL="0" marR="0" lvl="0" indent="0" algn="l" defTabSz="1219200" rtl="0" eaLnBrk="1" fontAlgn="auto" latinLnBrk="0" hangingPunct="1">
              <a:lnSpc>
                <a:spcPct val="100000"/>
              </a:lnSpc>
              <a:spcBef>
                <a:spcPts val="0"/>
              </a:spcBef>
              <a:spcAft>
                <a:spcPts val="0"/>
              </a:spcAft>
              <a:buClrTx/>
              <a:buSzTx/>
              <a:buFontTx/>
              <a:buNone/>
              <a:defRPr/>
            </a:pPr>
            <a:endParaRPr lang="en-US" altLang="zh-CN" sz="1600" kern="0" dirty="0">
              <a:solidFill>
                <a:srgbClr val="C00000"/>
              </a:solidFill>
              <a:latin typeface="+mn-ea"/>
              <a:cs typeface="Arial" panose="020B0604020202020204" pitchFamily="34" charset="0"/>
            </a:endParaRPr>
          </a:p>
          <a:p>
            <a:pPr marL="0" marR="0" lvl="0" indent="0" algn="l" defTabSz="1219200" rtl="0" eaLnBrk="1" fontAlgn="auto" latinLnBrk="0" hangingPunct="1">
              <a:lnSpc>
                <a:spcPct val="100000"/>
              </a:lnSpc>
              <a:spcBef>
                <a:spcPts val="0"/>
              </a:spcBef>
              <a:spcAft>
                <a:spcPts val="0"/>
              </a:spcAft>
              <a:buClrTx/>
              <a:buSzTx/>
              <a:buFontTx/>
              <a:buNone/>
              <a:defRPr/>
            </a:pPr>
            <a:endParaRPr lang="en-US" altLang="zh-CN" sz="1600" kern="0" dirty="0">
              <a:solidFill>
                <a:srgbClr val="C00000"/>
              </a:solidFill>
              <a:latin typeface="+mn-ea"/>
              <a:cs typeface="Arial" panose="020B0604020202020204" pitchFamily="34" charset="0"/>
            </a:endParaRPr>
          </a:p>
          <a:p>
            <a:pPr marL="0" marR="0" lvl="0" indent="0" algn="l" defTabSz="1219200" rtl="0" eaLnBrk="1" fontAlgn="auto" latinLnBrk="0" hangingPunct="1">
              <a:lnSpc>
                <a:spcPct val="100000"/>
              </a:lnSpc>
              <a:spcBef>
                <a:spcPts val="0"/>
              </a:spcBef>
              <a:spcAft>
                <a:spcPts val="0"/>
              </a:spcAft>
              <a:buClrTx/>
              <a:buSzTx/>
              <a:buFontTx/>
              <a:buNone/>
              <a:defRPr/>
            </a:pPr>
            <a:endParaRPr lang="en-US" altLang="zh-CN" sz="1600" kern="0" dirty="0">
              <a:solidFill>
                <a:srgbClr val="C00000"/>
              </a:solidFill>
              <a:latin typeface="+mn-ea"/>
              <a:cs typeface="Arial" panose="020B0604020202020204" pitchFamily="34" charset="0"/>
            </a:endParaRPr>
          </a:p>
          <a:p>
            <a:pPr marL="0" marR="0" lvl="0" indent="0" algn="l" defTabSz="1219200" rtl="0" eaLnBrk="1" fontAlgn="auto" latinLnBrk="0" hangingPunct="1">
              <a:lnSpc>
                <a:spcPct val="100000"/>
              </a:lnSpc>
              <a:spcBef>
                <a:spcPts val="0"/>
              </a:spcBef>
              <a:spcAft>
                <a:spcPts val="0"/>
              </a:spcAft>
              <a:buClrTx/>
              <a:buSzTx/>
              <a:buFontTx/>
              <a:buNone/>
              <a:defRPr/>
            </a:pPr>
            <a:endParaRPr lang="en-US" altLang="zh-CN" sz="1600" kern="0" dirty="0">
              <a:solidFill>
                <a:srgbClr val="C00000"/>
              </a:solidFill>
              <a:latin typeface="+mn-ea"/>
              <a:cs typeface="Arial" panose="020B0604020202020204" pitchFamily="34" charset="0"/>
            </a:endParaRPr>
          </a:p>
          <a:p>
            <a:pPr marL="0" marR="0" lvl="0" indent="0" algn="l" defTabSz="1219200" rtl="0" eaLnBrk="1" fontAlgn="auto" latinLnBrk="0" hangingPunct="1">
              <a:lnSpc>
                <a:spcPct val="100000"/>
              </a:lnSpc>
              <a:spcBef>
                <a:spcPts val="0"/>
              </a:spcBef>
              <a:spcAft>
                <a:spcPts val="0"/>
              </a:spcAft>
              <a:buClrTx/>
              <a:buSzTx/>
              <a:buFontTx/>
              <a:buNone/>
              <a:defRPr/>
            </a:pPr>
            <a:endParaRPr lang="zh-CN" altLang="en-US" sz="1600" kern="0" dirty="0">
              <a:solidFill>
                <a:srgbClr val="C00000"/>
              </a:solidFill>
              <a:latin typeface="+mn-ea"/>
              <a:cs typeface="Arial" panose="020B0604020202020204" pitchFamily="34" charset="0"/>
            </a:endParaRPr>
          </a:p>
          <a:p>
            <a:endParaRPr lang="zh-CN" altLang="en-US" dirty="0"/>
          </a:p>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07326F3-4732-B74B-9C70-D0992466E49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a:solidFill>
                  <a:srgbClr val="3B3E55"/>
                </a:solidFill>
                <a:effectLst/>
                <a:latin typeface="Arial" panose="020B0604020202020204" pitchFamily="34" charset="0"/>
              </a:rPr>
              <a:t>AI </a:t>
            </a:r>
            <a:r>
              <a:rPr lang="zh-CN" altLang="en-US" b="0" i="0">
                <a:solidFill>
                  <a:srgbClr val="3B3E55"/>
                </a:solidFill>
                <a:effectLst/>
                <a:latin typeface="Arial" panose="020B0604020202020204" pitchFamily="34" charset="0"/>
              </a:rPr>
              <a:t>发展历程 → </a:t>
            </a:r>
            <a:r>
              <a:rPr lang="en-US" altLang="zh-CN" b="0" i="0">
                <a:solidFill>
                  <a:srgbClr val="3B3E55"/>
                </a:solidFill>
                <a:effectLst/>
                <a:latin typeface="Arial" panose="020B0604020202020204" pitchFamily="34" charset="0"/>
              </a:rPr>
              <a:t>AI/ML/DL → </a:t>
            </a:r>
            <a:r>
              <a:rPr lang="zh-CN" altLang="en-US" b="0" i="0">
                <a:solidFill>
                  <a:srgbClr val="3B3E55"/>
                </a:solidFill>
                <a:effectLst/>
                <a:latin typeface="Arial" panose="020B0604020202020204" pitchFamily="34" charset="0"/>
              </a:rPr>
              <a:t>模型 → 训练与推理 → 常见架构 → 计算图 → 算子 → 张量 → 从模型到昇腾 </a:t>
            </a:r>
            <a:r>
              <a:rPr lang="en-US" altLang="zh-CN" b="0" i="0">
                <a:solidFill>
                  <a:srgbClr val="3B3E55"/>
                </a:solidFill>
                <a:effectLst/>
                <a:latin typeface="Arial" panose="020B0604020202020204" pitchFamily="34" charset="0"/>
              </a:rPr>
              <a:t>NPU</a:t>
            </a:r>
            <a:endParaRPr lang="zh-CN" altLang="en-US" dirty="0"/>
          </a:p>
        </p:txBody>
      </p:sp>
      <p:sp>
        <p:nvSpPr>
          <p:cNvPr id="4" name="灯片编号占位符 3"/>
          <p:cNvSpPr>
            <a:spLocks noGrp="1"/>
          </p:cNvSpPr>
          <p:nvPr>
            <p:ph type="sldNum" sz="quarter" idx="10"/>
          </p:nvPr>
        </p:nvSpPr>
        <p:spPr/>
        <p:txBody>
          <a:bodyPr/>
          <a:lstStyle/>
          <a:p>
            <a:fld id="{F07326F3-4732-B74B-9C70-D0992466E499}" type="slidenum">
              <a:rPr lang="en-US" smtClean="0">
                <a:solidFill>
                  <a:prstClr val="black"/>
                </a:solidFill>
              </a:rPr>
            </a:fld>
            <a:endParaRPr lang="en-US">
              <a:solidFill>
                <a:prstClr val="black"/>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介绍</a:t>
            </a:r>
            <a:r>
              <a:rPr lang="en-US" altLang="zh-CN" dirty="0"/>
              <a:t>CANN</a:t>
            </a:r>
            <a:endParaRPr lang="zh-CN" altLang="en-US" dirty="0"/>
          </a:p>
        </p:txBody>
      </p:sp>
      <p:sp>
        <p:nvSpPr>
          <p:cNvPr id="4" name="灯片编号占位符 3"/>
          <p:cNvSpPr>
            <a:spLocks noGrp="1"/>
          </p:cNvSpPr>
          <p:nvPr>
            <p:ph type="sldNum" sz="quarter" idx="10"/>
          </p:nvPr>
        </p:nvSpPr>
        <p:spPr/>
        <p:txBody>
          <a:bodyPr/>
          <a:lstStyle/>
          <a:p>
            <a:fld id="{F07326F3-4732-B74B-9C70-D0992466E499}" type="slidenum">
              <a:rPr lang="en-US" smtClean="0">
                <a:solidFill>
                  <a:prstClr val="black"/>
                </a:solidFill>
              </a:rPr>
            </a:fld>
            <a:endParaRPr lang="en-US">
              <a:solidFill>
                <a:prstClr val="black"/>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en-US" altLang="zh-CN" sz="1600" dirty="0">
              <a:solidFill>
                <a:schemeClr val="bg1"/>
              </a:solidFill>
              <a:latin typeface="Times New Roman" panose="02020603050405020304" pitchFamily="18" charset="0"/>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F07326F3-4732-B74B-9C70-D0992466E499}" type="slidenum">
              <a:rPr lang="en-US" smtClean="0">
                <a:solidFill>
                  <a:prstClr val="black"/>
                </a:solidFill>
              </a:rPr>
            </a:fld>
            <a:endParaRPr lang="en-US">
              <a:solidFill>
                <a:prstClr val="black"/>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a:t>
            </a:r>
            <a:r>
              <a:rPr lang="en-US" altLang="zh-CN" dirty="0"/>
              <a:t>20,12288</a:t>
            </a:r>
            <a:r>
              <a:rPr lang="zh-CN" altLang="en-US" dirty="0"/>
              <a:t>）（</a:t>
            </a:r>
            <a:r>
              <a:rPr lang="en-US" altLang="zh-CN" dirty="0"/>
              <a:t>12288,49152</a:t>
            </a:r>
            <a:r>
              <a:rPr lang="zh-CN" altLang="en-US" dirty="0"/>
              <a:t>） </a:t>
            </a:r>
            <a:r>
              <a:rPr lang="en-US" altLang="zh-CN" dirty="0"/>
              <a:t>=20*49152</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76134B-E284-428C-91EC-86C0A6DA26D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1CFC0AC-D6FA-4BCF-9C34-3AC85E832BB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980A0D4-ACC5-4D19-9463-52AD7C40CC4F}"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为什么需要专门的NPU呢？因为传统的CPU并不擅长处理AI计算中密集的并行运算。昇腾NPU是专为AI而生的芯片，它的架构设计完全围绕AI计算的需求进行优化，因此能提供极致的性能和高能效比。无论是训练大模型，还是在手机等边缘设备上运行AI应用，昇腾NPU都扮演着核心引擎的角色，是连接算法与现实的关键桥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980A0D4-ACC5-4D19-9463-52AD7C40CC4F}"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980A0D4-ACC5-4D19-9463-52AD7C40CC4F}"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介绍</a:t>
            </a:r>
            <a:r>
              <a:rPr lang="en-US" altLang="zh-CN" dirty="0"/>
              <a:t>CANN</a:t>
            </a:r>
            <a:endParaRPr lang="zh-CN" altLang="en-US" dirty="0"/>
          </a:p>
        </p:txBody>
      </p:sp>
      <p:sp>
        <p:nvSpPr>
          <p:cNvPr id="4" name="灯片编号占位符 3"/>
          <p:cNvSpPr>
            <a:spLocks noGrp="1"/>
          </p:cNvSpPr>
          <p:nvPr>
            <p:ph type="sldNum" sz="quarter" idx="10"/>
          </p:nvPr>
        </p:nvSpPr>
        <p:spPr/>
        <p:txBody>
          <a:bodyPr/>
          <a:lstStyle/>
          <a:p>
            <a:fld id="{F07326F3-4732-B74B-9C70-D0992466E499}" type="slidenum">
              <a:rPr lang="en-US" smtClean="0">
                <a:solidFill>
                  <a:prstClr val="black"/>
                </a:solidFill>
              </a:rPr>
            </a:fld>
            <a:endParaRPr lang="en-US">
              <a:solidFill>
                <a:prstClr val="black"/>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1CFC0AC-D6FA-4BCF-9C34-3AC85E832BB6}"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07326F3-4732-B74B-9C70-D0992466E499}" type="slidenum">
              <a:rPr lang="en-US" smtClean="0"/>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Font typeface="+mj-lt"/>
              <a:buAutoNum type="arabicPeriod"/>
            </a:pPr>
            <a:r>
              <a:rPr lang="en-US" altLang="zh-CN" b="1" i="0" dirty="0">
                <a:effectLst/>
                <a:latin typeface="-apple-system"/>
              </a:rPr>
              <a:t>Tiling</a:t>
            </a:r>
            <a:r>
              <a:rPr lang="zh-CN" altLang="en-US" b="0" i="0" dirty="0">
                <a:effectLst/>
                <a:latin typeface="-apple-system"/>
              </a:rPr>
              <a:t>：</a:t>
            </a:r>
            <a:r>
              <a:rPr lang="en-US" altLang="zh-CN" b="0" i="0" dirty="0">
                <a:effectLst/>
                <a:latin typeface="-apple-system"/>
              </a:rPr>
              <a:t>Host </a:t>
            </a:r>
            <a:r>
              <a:rPr lang="zh-CN" altLang="en-US" b="0" i="0" dirty="0">
                <a:effectLst/>
                <a:latin typeface="-apple-system"/>
              </a:rPr>
              <a:t>侧把总数据按核数切分</a:t>
            </a:r>
            <a:endParaRPr lang="zh-CN" altLang="en-US" b="0" i="0" dirty="0">
              <a:effectLst/>
              <a:latin typeface="-apple-system"/>
            </a:endParaRPr>
          </a:p>
          <a:p>
            <a:pPr algn="l">
              <a:buFont typeface="+mj-lt"/>
              <a:buAutoNum type="arabicPeriod"/>
            </a:pPr>
            <a:r>
              <a:rPr lang="zh-CN" altLang="en-US" b="1" i="0" dirty="0">
                <a:effectLst/>
                <a:latin typeface="-apple-system"/>
              </a:rPr>
              <a:t>多核并行</a:t>
            </a:r>
            <a:r>
              <a:rPr lang="zh-CN" altLang="en-US" b="0" i="0" dirty="0">
                <a:effectLst/>
                <a:latin typeface="-apple-system"/>
              </a:rPr>
              <a:t>：每个 </a:t>
            </a:r>
            <a:r>
              <a:rPr lang="en-US" altLang="zh-CN" b="0" i="0" dirty="0">
                <a:effectLst/>
                <a:latin typeface="-apple-system"/>
              </a:rPr>
              <a:t>AI Core </a:t>
            </a:r>
            <a:r>
              <a:rPr lang="zh-CN" altLang="en-US" b="0" i="0" dirty="0">
                <a:effectLst/>
                <a:latin typeface="-apple-system"/>
              </a:rPr>
              <a:t>独立处理自己分到的数据块</a:t>
            </a:r>
            <a:endParaRPr lang="zh-CN" altLang="en-US" b="0" i="0" dirty="0">
              <a:effectLst/>
              <a:latin typeface="-apple-system"/>
            </a:endParaRPr>
          </a:p>
          <a:p>
            <a:pPr algn="l">
              <a:buFont typeface="+mj-lt"/>
              <a:buAutoNum type="arabicPeriod"/>
            </a:pPr>
            <a:r>
              <a:rPr lang="zh-CN" altLang="en-US" b="1" i="0" dirty="0">
                <a:effectLst/>
                <a:latin typeface="-apple-system"/>
              </a:rPr>
              <a:t>隐式同步</a:t>
            </a:r>
            <a:r>
              <a:rPr lang="zh-CN" altLang="en-US" b="0" i="0" dirty="0">
                <a:effectLst/>
                <a:latin typeface="-apple-system"/>
              </a:rPr>
              <a:t>：所有核完成后由 </a:t>
            </a:r>
            <a:r>
              <a:rPr lang="en-US" altLang="zh-CN" b="0" i="0" dirty="0">
                <a:effectLst/>
                <a:latin typeface="-apple-system"/>
              </a:rPr>
              <a:t>TS </a:t>
            </a:r>
            <a:r>
              <a:rPr lang="zh-CN" altLang="en-US" b="0" i="0" dirty="0">
                <a:effectLst/>
                <a:latin typeface="-apple-system"/>
              </a:rPr>
              <a:t>统一回收</a:t>
            </a:r>
            <a:endParaRPr lang="zh-CN" altLang="en-US" b="0" i="0" dirty="0">
              <a:effectLst/>
              <a:latin typeface="-apple-system"/>
            </a:endParaRPr>
          </a:p>
          <a:p>
            <a:endParaRPr lang="zh-CN" altLang="en-US" dirty="0"/>
          </a:p>
        </p:txBody>
      </p:sp>
      <p:sp>
        <p:nvSpPr>
          <p:cNvPr id="4" name="灯片编号占位符 3"/>
          <p:cNvSpPr>
            <a:spLocks noGrp="1"/>
          </p:cNvSpPr>
          <p:nvPr>
            <p:ph type="sldNum" sz="quarter" idx="5"/>
          </p:nvPr>
        </p:nvSpPr>
        <p:spPr/>
        <p:txBody>
          <a:bodyPr/>
          <a:lstStyle/>
          <a:p>
            <a:fld id="{2980A0D4-ACC5-4D19-9463-52AD7C40CC4F}"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980A0D4-ACC5-4D19-9463-52AD7C40CC4F}"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1CFC0AC-D6FA-4BCF-9C34-3AC85E832BB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07326F3-4732-B74B-9C70-D0992466E49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1CFC0AC-D6FA-4BCF-9C34-3AC85E832BB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对于熟悉NVIDIA CUDA生态的开发者来说，理解CANN会非常容易。这张页面清晰地对比了CANN和CUDA在各个模块上的对应关系。从框架适配、算子库、通信库，到图引擎、编程语言、编译器，两者的设计理念高度相似。可以说，如果你掌握了CUDA，那么迁移到CANN的学习曲线会非常平滑。</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1CFC0AC-D6FA-4BCF-9C34-3AC85E832BB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dirty="0">
                <a:solidFill>
                  <a:srgbClr val="000000"/>
                </a:solidFill>
              </a:rPr>
              <a:t>要与昇腾NPU交互，我们需要两个核心工具库。首先是大家非常熟悉的PyTorch，它是我们定义计算任务的基础。其次是torch_npu，这是一个关键的适配层，它让PyTorch能够识别并利用昇腾NPU。只需简单地导入这两个库，我们就可以开始编写NPU程序了。</a:t>
            </a: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在动手之前，我们必须先确认NPU环境是否准备就绪。这段代码非常简单，它会检查NPU是否可用，有多少个设备，以及设备的具体型号。如果一切正常，你会看到类似这样的输出，显示NPU可用，并且设备名为Ascend 910B。如果输出False，那你需要先检查一下驱动和CANN环境的配置。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dirty="0">
                <a:solidFill>
                  <a:srgbClr val="000000"/>
                </a:solidFill>
              </a:rPr>
              <a:t>好的，环境确认无误。现在我们开始第一步：在CPU上准备数据。我们创建了两个3x3的张量，一个全是1，一个全是2。从输出可以看到，这两个张量目前都位于CPU上。这是我们计算的起点。</a:t>
            </a: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dirty="0">
                <a:solidFill>
                  <a:srgbClr val="000000"/>
                </a:solidFill>
              </a:rPr>
              <a:t>总结一下，NPU和CPU各有所长。NPU擅长处理计算密集型、高并行、可使用低精度的任务，比如AI模型训练和推理。而CPU在处理小数据量任务、复杂控制流和高精度科学计算方面仍然是不可替代的。选择合适的工具，才能发挥最大的效能。</a:t>
            </a:r>
            <a:endParaRPr lang="en-US" sz="1400" b="0" i="0" u="none" strike="noStrike" dirty="0">
              <a:solidFill>
                <a:srgbClr val="000000"/>
              </a:solidFill>
            </a:endParaRPr>
          </a:p>
          <a:p>
            <a:pPr marL="0" indent="0" algn="l">
              <a:lnSpc>
                <a:spcPct val="100000"/>
              </a:lnSpc>
            </a:pPr>
            <a:endParaRPr lang="en-US" sz="1400" b="0" i="0" u="none" strike="noStrike" dirty="0">
              <a:solidFill>
                <a:srgbClr val="000000"/>
              </a:solidFill>
            </a:endParaRPr>
          </a:p>
          <a:p>
            <a:pPr marL="0"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1CFC0AC-D6FA-4BCF-9C34-3AC85E832BB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dirty="0">
              <a:solidFill>
                <a:prstClr val="black"/>
              </a:solidFill>
              <a:latin typeface="微软雅黑" panose="020B0503020204020204" pitchFamily="34" charset="-122"/>
              <a:ea typeface="微软雅黑" panose="020B0503020204020204" pitchFamily="34" charset="-122"/>
            </a:endParaRPr>
          </a:p>
          <a:p>
            <a:endParaRPr lang="en-US" altLang="zh-CN" sz="1200" dirty="0">
              <a:solidFill>
                <a:prstClr val="black"/>
              </a:solidFill>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1CFC0AC-D6FA-4BCF-9C34-3AC85E832BB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dirty="0">
              <a:solidFill>
                <a:prstClr val="black"/>
              </a:solidFill>
              <a:latin typeface="微软雅黑" panose="020B0503020204020204" pitchFamily="34" charset="-122"/>
              <a:ea typeface="微软雅黑" panose="020B0503020204020204" pitchFamily="34" charset="-122"/>
            </a:endParaRPr>
          </a:p>
          <a:p>
            <a:endParaRPr lang="en-US" altLang="zh-CN" sz="1200" dirty="0">
              <a:solidFill>
                <a:prstClr val="black"/>
              </a:solidFill>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1CFC0AC-D6FA-4BCF-9C34-3AC85E832BB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1CFC0AC-D6FA-4BCF-9C34-3AC85E832BB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556" y="1122363"/>
            <a:ext cx="9147334"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556" y="3602038"/>
            <a:ext cx="9147334"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838506" y="6356350"/>
            <a:ext cx="2744200" cy="365125"/>
          </a:xfrm>
        </p:spPr>
        <p:txBody>
          <a:bodyPr/>
          <a:lstStyle/>
          <a:p>
            <a:fld id="{8E30BAFC-7326-4899-9BEC-7E31906EAAB6}" type="datetimeFigureOut">
              <a:rPr lang="zh-CN" altLang="en-US" smtClean="0"/>
            </a:fld>
            <a:endParaRPr lang="zh-CN" altLang="en-US"/>
          </a:p>
        </p:txBody>
      </p:sp>
      <p:sp>
        <p:nvSpPr>
          <p:cNvPr id="5" name="页脚占位符 4"/>
          <p:cNvSpPr>
            <a:spLocks noGrp="1"/>
          </p:cNvSpPr>
          <p:nvPr>
            <p:ph type="ftr" sz="quarter" idx="11"/>
          </p:nvPr>
        </p:nvSpPr>
        <p:spPr>
          <a:xfrm>
            <a:off x="4040072" y="6356350"/>
            <a:ext cx="4116300" cy="365125"/>
          </a:xfrm>
        </p:spPr>
        <p:txBody>
          <a:bodyPr/>
          <a:lstStyle/>
          <a:p>
            <a:endParaRPr lang="zh-CN" altLang="en-US"/>
          </a:p>
        </p:txBody>
      </p:sp>
      <p:sp>
        <p:nvSpPr>
          <p:cNvPr id="6" name="灯片编号占位符 5"/>
          <p:cNvSpPr>
            <a:spLocks noGrp="1"/>
          </p:cNvSpPr>
          <p:nvPr>
            <p:ph type="sldNum" sz="quarter" idx="12"/>
          </p:nvPr>
        </p:nvSpPr>
        <p:spPr>
          <a:xfrm>
            <a:off x="8613739" y="6356350"/>
            <a:ext cx="2744200" cy="365125"/>
          </a:xfrm>
        </p:spPr>
        <p:txBody>
          <a:bodyPr/>
          <a:lstStyle/>
          <a:p>
            <a:fld id="{BA48170D-50DB-4052-9D2B-D15E249EAEF9}"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3" cstate="screen"/>
          <a:stretch>
            <a:fillRect/>
          </a:stretch>
        </p:blipFill>
        <p:spPr>
          <a:xfrm>
            <a:off x="10198162" y="6217203"/>
            <a:ext cx="1312676" cy="348426"/>
          </a:xfrm>
          <a:prstGeom prst="rect">
            <a:avLst/>
          </a:prstGeom>
        </p:spPr>
      </p:pic>
      <p:sp>
        <p:nvSpPr>
          <p:cNvPr id="6" name="文本框 5"/>
          <p:cNvSpPr txBox="1"/>
          <p:nvPr userDrawn="1"/>
        </p:nvSpPr>
        <p:spPr>
          <a:xfrm>
            <a:off x="681161" y="6304667"/>
            <a:ext cx="1547218" cy="246221"/>
          </a:xfrm>
          <a:prstGeom prst="rect">
            <a:avLst/>
          </a:prstGeom>
          <a:noFill/>
        </p:spPr>
        <p:txBody>
          <a:bodyPr wrap="none" rtlCol="0">
            <a:spAutoFit/>
          </a:bodyPr>
          <a:lstStyle/>
          <a:p>
            <a:r>
              <a:rPr lang="en-US" altLang="zh-CN" sz="1000" dirty="0">
                <a:solidFill>
                  <a:schemeClr val="bg1">
                    <a:lumMod val="50000"/>
                  </a:schemeClr>
                </a:solidFill>
                <a:latin typeface="+mj-ea"/>
                <a:ea typeface="+mj-ea"/>
                <a:cs typeface="Arial" panose="020B0604020202020204" pitchFamily="34" charset="0"/>
              </a:rPr>
              <a:t>https://gitcode.com/cann</a:t>
            </a:r>
            <a:endParaRPr lang="zh-CN" altLang="en-US" sz="1000" dirty="0">
              <a:solidFill>
                <a:schemeClr val="bg1">
                  <a:lumMod val="50000"/>
                </a:schemeClr>
              </a:solidFill>
              <a:latin typeface="+mj-ea"/>
              <a:ea typeface="+mj-ea"/>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hdr="0" ftr="0" dt="0"/>
  <p:txStyles>
    <p:titleStyle>
      <a:lvl1pPr algn="l" defTabSz="1187450" rtl="0" eaLnBrk="1" latinLnBrk="0" hangingPunct="1">
        <a:lnSpc>
          <a:spcPct val="90000"/>
        </a:lnSpc>
        <a:spcBef>
          <a:spcPct val="0"/>
        </a:spcBef>
        <a:buNone/>
        <a:defRPr sz="5715" kern="1200">
          <a:solidFill>
            <a:schemeClr val="tx1"/>
          </a:solidFill>
          <a:latin typeface="+mj-lt"/>
          <a:ea typeface="+mj-ea"/>
          <a:cs typeface="+mj-cs"/>
        </a:defRPr>
      </a:lvl1pPr>
    </p:titleStyle>
    <p:bodyStyle>
      <a:lvl1pPr marL="296545" indent="-296545" algn="l" defTabSz="1187450" rtl="0" eaLnBrk="1" latinLnBrk="0" hangingPunct="1">
        <a:lnSpc>
          <a:spcPct val="90000"/>
        </a:lnSpc>
        <a:spcBef>
          <a:spcPts val="1300"/>
        </a:spcBef>
        <a:buFont typeface="Arial" panose="020B0604020202020204" pitchFamily="34" charset="0"/>
        <a:buChar char="•"/>
        <a:defRPr sz="3635" kern="1200">
          <a:solidFill>
            <a:schemeClr val="tx1"/>
          </a:solidFill>
          <a:latin typeface="+mn-lt"/>
          <a:ea typeface="+mn-ea"/>
          <a:cs typeface="+mn-cs"/>
        </a:defRPr>
      </a:lvl1pPr>
      <a:lvl2pPr marL="890270" indent="-296545" algn="l" defTabSz="1187450" rtl="0" eaLnBrk="1" latinLnBrk="0" hangingPunct="1">
        <a:lnSpc>
          <a:spcPct val="90000"/>
        </a:lnSpc>
        <a:spcBef>
          <a:spcPts val="650"/>
        </a:spcBef>
        <a:buFont typeface="Arial" panose="020B0604020202020204" pitchFamily="34" charset="0"/>
        <a:buChar char="•"/>
        <a:defRPr sz="3115" kern="1200">
          <a:solidFill>
            <a:schemeClr val="tx1"/>
          </a:solidFill>
          <a:latin typeface="+mn-lt"/>
          <a:ea typeface="+mn-ea"/>
          <a:cs typeface="+mn-cs"/>
        </a:defRPr>
      </a:lvl2pPr>
      <a:lvl3pPr marL="1483995" indent="-296545" algn="l" defTabSz="1187450" rtl="0" eaLnBrk="1" latinLnBrk="0" hangingPunct="1">
        <a:lnSpc>
          <a:spcPct val="90000"/>
        </a:lnSpc>
        <a:spcBef>
          <a:spcPts val="650"/>
        </a:spcBef>
        <a:buFont typeface="Arial" panose="020B0604020202020204" pitchFamily="34" charset="0"/>
        <a:buChar char="•"/>
        <a:defRPr sz="2595" kern="1200">
          <a:solidFill>
            <a:schemeClr val="tx1"/>
          </a:solidFill>
          <a:latin typeface="+mn-lt"/>
          <a:ea typeface="+mn-ea"/>
          <a:cs typeface="+mn-cs"/>
        </a:defRPr>
      </a:lvl3pPr>
      <a:lvl4pPr marL="2077720" indent="-296545" algn="l" defTabSz="1187450" rtl="0" eaLnBrk="1" latinLnBrk="0" hangingPunct="1">
        <a:lnSpc>
          <a:spcPct val="90000"/>
        </a:lnSpc>
        <a:spcBef>
          <a:spcPts val="650"/>
        </a:spcBef>
        <a:buFont typeface="Arial" panose="020B0604020202020204" pitchFamily="34" charset="0"/>
        <a:buChar char="•"/>
        <a:defRPr sz="2335" kern="1200">
          <a:solidFill>
            <a:schemeClr val="tx1"/>
          </a:solidFill>
          <a:latin typeface="+mn-lt"/>
          <a:ea typeface="+mn-ea"/>
          <a:cs typeface="+mn-cs"/>
        </a:defRPr>
      </a:lvl4pPr>
      <a:lvl5pPr marL="2671445" indent="-296545" algn="l" defTabSz="1187450" rtl="0" eaLnBrk="1" latinLnBrk="0" hangingPunct="1">
        <a:lnSpc>
          <a:spcPct val="90000"/>
        </a:lnSpc>
        <a:spcBef>
          <a:spcPts val="650"/>
        </a:spcBef>
        <a:buFont typeface="Arial" panose="020B0604020202020204" pitchFamily="34" charset="0"/>
        <a:buChar char="•"/>
        <a:defRPr sz="2335" kern="1200">
          <a:solidFill>
            <a:schemeClr val="tx1"/>
          </a:solidFill>
          <a:latin typeface="+mn-lt"/>
          <a:ea typeface="+mn-ea"/>
          <a:cs typeface="+mn-cs"/>
        </a:defRPr>
      </a:lvl5pPr>
      <a:lvl6pPr marL="3265170" indent="-296545" algn="l" defTabSz="1187450" rtl="0" eaLnBrk="1" latinLnBrk="0" hangingPunct="1">
        <a:lnSpc>
          <a:spcPct val="90000"/>
        </a:lnSpc>
        <a:spcBef>
          <a:spcPts val="650"/>
        </a:spcBef>
        <a:buFont typeface="Arial" panose="020B0604020202020204" pitchFamily="34" charset="0"/>
        <a:buChar char="•"/>
        <a:defRPr sz="2335" kern="1200">
          <a:solidFill>
            <a:schemeClr val="tx1"/>
          </a:solidFill>
          <a:latin typeface="+mn-lt"/>
          <a:ea typeface="+mn-ea"/>
          <a:cs typeface="+mn-cs"/>
        </a:defRPr>
      </a:lvl6pPr>
      <a:lvl7pPr marL="3858895" indent="-296545" algn="l" defTabSz="1187450" rtl="0" eaLnBrk="1" latinLnBrk="0" hangingPunct="1">
        <a:lnSpc>
          <a:spcPct val="90000"/>
        </a:lnSpc>
        <a:spcBef>
          <a:spcPts val="650"/>
        </a:spcBef>
        <a:buFont typeface="Arial" panose="020B0604020202020204" pitchFamily="34" charset="0"/>
        <a:buChar char="•"/>
        <a:defRPr sz="2335" kern="1200">
          <a:solidFill>
            <a:schemeClr val="tx1"/>
          </a:solidFill>
          <a:latin typeface="+mn-lt"/>
          <a:ea typeface="+mn-ea"/>
          <a:cs typeface="+mn-cs"/>
        </a:defRPr>
      </a:lvl7pPr>
      <a:lvl8pPr marL="4452620" indent="-296545" algn="l" defTabSz="1187450" rtl="0" eaLnBrk="1" latinLnBrk="0" hangingPunct="1">
        <a:lnSpc>
          <a:spcPct val="90000"/>
        </a:lnSpc>
        <a:spcBef>
          <a:spcPts val="650"/>
        </a:spcBef>
        <a:buFont typeface="Arial" panose="020B0604020202020204" pitchFamily="34" charset="0"/>
        <a:buChar char="•"/>
        <a:defRPr sz="2335" kern="1200">
          <a:solidFill>
            <a:schemeClr val="tx1"/>
          </a:solidFill>
          <a:latin typeface="+mn-lt"/>
          <a:ea typeface="+mn-ea"/>
          <a:cs typeface="+mn-cs"/>
        </a:defRPr>
      </a:lvl8pPr>
      <a:lvl9pPr marL="5046345" indent="-296545" algn="l" defTabSz="1187450" rtl="0" eaLnBrk="1" latinLnBrk="0" hangingPunct="1">
        <a:lnSpc>
          <a:spcPct val="90000"/>
        </a:lnSpc>
        <a:spcBef>
          <a:spcPts val="650"/>
        </a:spcBef>
        <a:buFont typeface="Arial" panose="020B0604020202020204" pitchFamily="34" charset="0"/>
        <a:buChar char="•"/>
        <a:defRPr sz="2335" kern="1200">
          <a:solidFill>
            <a:schemeClr val="tx1"/>
          </a:solidFill>
          <a:latin typeface="+mn-lt"/>
          <a:ea typeface="+mn-ea"/>
          <a:cs typeface="+mn-cs"/>
        </a:defRPr>
      </a:lvl9pPr>
    </p:bodyStyle>
    <p:otherStyle>
      <a:defPPr>
        <a:defRPr lang="en-US"/>
      </a:defPPr>
      <a:lvl1pPr marL="0" algn="l" defTabSz="1187450" rtl="0" eaLnBrk="1" latinLnBrk="0" hangingPunct="1">
        <a:defRPr sz="2335" kern="1200">
          <a:solidFill>
            <a:schemeClr val="tx1"/>
          </a:solidFill>
          <a:latin typeface="+mn-lt"/>
          <a:ea typeface="+mn-ea"/>
          <a:cs typeface="+mn-cs"/>
        </a:defRPr>
      </a:lvl1pPr>
      <a:lvl2pPr marL="593725" algn="l" defTabSz="1187450" rtl="0" eaLnBrk="1" latinLnBrk="0" hangingPunct="1">
        <a:defRPr sz="2335" kern="1200">
          <a:solidFill>
            <a:schemeClr val="tx1"/>
          </a:solidFill>
          <a:latin typeface="+mn-lt"/>
          <a:ea typeface="+mn-ea"/>
          <a:cs typeface="+mn-cs"/>
        </a:defRPr>
      </a:lvl2pPr>
      <a:lvl3pPr marL="1187450" algn="l" defTabSz="1187450" rtl="0" eaLnBrk="1" latinLnBrk="0" hangingPunct="1">
        <a:defRPr sz="2335" kern="1200">
          <a:solidFill>
            <a:schemeClr val="tx1"/>
          </a:solidFill>
          <a:latin typeface="+mn-lt"/>
          <a:ea typeface="+mn-ea"/>
          <a:cs typeface="+mn-cs"/>
        </a:defRPr>
      </a:lvl3pPr>
      <a:lvl4pPr marL="1781175" algn="l" defTabSz="1187450" rtl="0" eaLnBrk="1" latinLnBrk="0" hangingPunct="1">
        <a:defRPr sz="2335" kern="1200">
          <a:solidFill>
            <a:schemeClr val="tx1"/>
          </a:solidFill>
          <a:latin typeface="+mn-lt"/>
          <a:ea typeface="+mn-ea"/>
          <a:cs typeface="+mn-cs"/>
        </a:defRPr>
      </a:lvl4pPr>
      <a:lvl5pPr marL="2374900" algn="l" defTabSz="1187450" rtl="0" eaLnBrk="1" latinLnBrk="0" hangingPunct="1">
        <a:defRPr sz="2335" kern="1200">
          <a:solidFill>
            <a:schemeClr val="tx1"/>
          </a:solidFill>
          <a:latin typeface="+mn-lt"/>
          <a:ea typeface="+mn-ea"/>
          <a:cs typeface="+mn-cs"/>
        </a:defRPr>
      </a:lvl5pPr>
      <a:lvl6pPr marL="2968625" algn="l" defTabSz="1187450" rtl="0" eaLnBrk="1" latinLnBrk="0" hangingPunct="1">
        <a:defRPr sz="2335" kern="1200">
          <a:solidFill>
            <a:schemeClr val="tx1"/>
          </a:solidFill>
          <a:latin typeface="+mn-lt"/>
          <a:ea typeface="+mn-ea"/>
          <a:cs typeface="+mn-cs"/>
        </a:defRPr>
      </a:lvl6pPr>
      <a:lvl7pPr marL="3561715" algn="l" defTabSz="1187450" rtl="0" eaLnBrk="1" latinLnBrk="0" hangingPunct="1">
        <a:defRPr sz="2335" kern="1200">
          <a:solidFill>
            <a:schemeClr val="tx1"/>
          </a:solidFill>
          <a:latin typeface="+mn-lt"/>
          <a:ea typeface="+mn-ea"/>
          <a:cs typeface="+mn-cs"/>
        </a:defRPr>
      </a:lvl7pPr>
      <a:lvl8pPr marL="4155440" algn="l" defTabSz="1187450" rtl="0" eaLnBrk="1" latinLnBrk="0" hangingPunct="1">
        <a:defRPr sz="2335" kern="1200">
          <a:solidFill>
            <a:schemeClr val="tx1"/>
          </a:solidFill>
          <a:latin typeface="+mn-lt"/>
          <a:ea typeface="+mn-ea"/>
          <a:cs typeface="+mn-cs"/>
        </a:defRPr>
      </a:lvl8pPr>
      <a:lvl9pPr marL="4749165" algn="l" defTabSz="1187450" rtl="0" eaLnBrk="1" latinLnBrk="0" hangingPunct="1">
        <a:defRPr sz="233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1.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xml"/><Relationship Id="rId2" Type="http://schemas.openxmlformats.org/officeDocument/2006/relationships/image" Target="../media/image8.GIF"/><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 Id="rId3" Type="http://schemas.microsoft.com/office/2007/relationships/media" Target="../media/media1.mp4"/><Relationship Id="rId2" Type="http://schemas.openxmlformats.org/officeDocument/2006/relationships/video" Target="../media/media1.mp4"/><Relationship Id="rId1" Type="http://schemas.openxmlformats.org/officeDocument/2006/relationships/image" Target="../media/image9.png"/></Relationships>
</file>

<file path=ppt/slides/_rels/slide9.xml.rels><?xml version="1.0" encoding="UTF-8" standalone="yes"?>
<Relationships xmlns="http://schemas.openxmlformats.org/package/2006/relationships"><Relationship Id="rId9" Type="http://schemas.openxmlformats.org/officeDocument/2006/relationships/image" Target="../media/image20.png"/><Relationship Id="rId8" Type="http://schemas.microsoft.com/office/2007/relationships/hdphoto" Target="../media/image19.wdp"/><Relationship Id="rId7" Type="http://schemas.openxmlformats.org/officeDocument/2006/relationships/image" Target="../media/image18.png"/><Relationship Id="rId6" Type="http://schemas.microsoft.com/office/2007/relationships/hdphoto" Target="../media/image17.wdp"/><Relationship Id="rId5" Type="http://schemas.openxmlformats.org/officeDocument/2006/relationships/image" Target="../media/image16.png"/><Relationship Id="rId4" Type="http://schemas.microsoft.com/office/2007/relationships/hdphoto" Target="../media/image15.wdp"/><Relationship Id="rId3" Type="http://schemas.openxmlformats.org/officeDocument/2006/relationships/image" Target="../media/image14.png"/><Relationship Id="rId2" Type="http://schemas.microsoft.com/office/2007/relationships/hdphoto" Target="../media/image13.wdp"/><Relationship Id="rId13" Type="http://schemas.openxmlformats.org/officeDocument/2006/relationships/notesSlide" Target="../notesSlides/notesSlide9.xml"/><Relationship Id="rId12" Type="http://schemas.openxmlformats.org/officeDocument/2006/relationships/slideLayout" Target="../slideLayouts/slideLayout1.xml"/><Relationship Id="rId11" Type="http://schemas.microsoft.com/office/2007/relationships/hdphoto" Target="../media/image22.wdp"/><Relationship Id="rId10" Type="http://schemas.openxmlformats.org/officeDocument/2006/relationships/image" Target="../media/image21.png"/><Relationship Id="rId1" Type="http://schemas.openxmlformats.org/officeDocument/2006/relationships/image" Target="../media/image12.png"/></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1.xml"/><Relationship Id="rId4" Type="http://schemas.openxmlformats.org/officeDocument/2006/relationships/image" Target="../media/image26.png"/><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27.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5.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image" Target="../media/image29.svg"/><Relationship Id="rId30" Type="http://schemas.openxmlformats.org/officeDocument/2006/relationships/notesSlide" Target="../notesSlides/notesSlide15.xml"/><Relationship Id="rId3" Type="http://schemas.openxmlformats.org/officeDocument/2006/relationships/image" Target="../media/image28.png"/><Relationship Id="rId29" Type="http://schemas.openxmlformats.org/officeDocument/2006/relationships/slideLayout" Target="../slideLayouts/slideLayout1.xml"/><Relationship Id="rId28" Type="http://schemas.openxmlformats.org/officeDocument/2006/relationships/themeOverride" Target="../theme/themeOverride1.xml"/><Relationship Id="rId27" Type="http://schemas.openxmlformats.org/officeDocument/2006/relationships/tags" Target="../tags/tag22.xml"/><Relationship Id="rId26" Type="http://schemas.openxmlformats.org/officeDocument/2006/relationships/tags" Target="../tags/tag21.xml"/><Relationship Id="rId25" Type="http://schemas.openxmlformats.org/officeDocument/2006/relationships/tags" Target="../tags/tag20.xml"/><Relationship Id="rId24" Type="http://schemas.openxmlformats.org/officeDocument/2006/relationships/tags" Target="../tags/tag19.xml"/><Relationship Id="rId23" Type="http://schemas.openxmlformats.org/officeDocument/2006/relationships/tags" Target="../tags/tag18.xml"/><Relationship Id="rId22" Type="http://schemas.openxmlformats.org/officeDocument/2006/relationships/image" Target="../media/image33.svg"/><Relationship Id="rId21" Type="http://schemas.openxmlformats.org/officeDocument/2006/relationships/image" Target="../media/image32.png"/><Relationship Id="rId20" Type="http://schemas.openxmlformats.org/officeDocument/2006/relationships/tags" Target="../tags/tag17.xml"/><Relationship Id="rId2" Type="http://schemas.openxmlformats.org/officeDocument/2006/relationships/tags" Target="../tags/tag3.xml"/><Relationship Id="rId19" Type="http://schemas.openxmlformats.org/officeDocument/2006/relationships/tags" Target="../tags/tag16.xml"/><Relationship Id="rId18" Type="http://schemas.openxmlformats.org/officeDocument/2006/relationships/tags" Target="../tags/tag15.xml"/><Relationship Id="rId17" Type="http://schemas.openxmlformats.org/officeDocument/2006/relationships/tags" Target="../tags/tag14.xml"/><Relationship Id="rId16" Type="http://schemas.openxmlformats.org/officeDocument/2006/relationships/tags" Target="../tags/tag13.xml"/><Relationship Id="rId15" Type="http://schemas.openxmlformats.org/officeDocument/2006/relationships/tags" Target="../tags/tag12.xml"/><Relationship Id="rId14" Type="http://schemas.openxmlformats.org/officeDocument/2006/relationships/tags" Target="../tags/tag11.xml"/><Relationship Id="rId13" Type="http://schemas.openxmlformats.org/officeDocument/2006/relationships/image" Target="../media/image31.svg"/><Relationship Id="rId12" Type="http://schemas.openxmlformats.org/officeDocument/2006/relationships/image" Target="../media/image30.png"/><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tags" Target="../tags/tag2.xml"/></Relationships>
</file>

<file path=ppt/slides/_rels/slide16.xml.rels><?xml version="1.0" encoding="UTF-8" standalone="yes"?>
<Relationships xmlns="http://schemas.openxmlformats.org/package/2006/relationships"><Relationship Id="rId9" Type="http://schemas.openxmlformats.org/officeDocument/2006/relationships/tags" Target="../tags/tag28.xml"/><Relationship Id="rId8" Type="http://schemas.openxmlformats.org/officeDocument/2006/relationships/tags" Target="../tags/tag27.xml"/><Relationship Id="rId7" Type="http://schemas.openxmlformats.org/officeDocument/2006/relationships/tags" Target="../tags/tag26.xml"/><Relationship Id="rId6" Type="http://schemas.openxmlformats.org/officeDocument/2006/relationships/tags" Target="../tags/tag25.xml"/><Relationship Id="rId5" Type="http://schemas.openxmlformats.org/officeDocument/2006/relationships/image" Target="../media/image36.svg"/><Relationship Id="rId4" Type="http://schemas.openxmlformats.org/officeDocument/2006/relationships/image" Target="../media/image35.png"/><Relationship Id="rId3" Type="http://schemas.openxmlformats.org/officeDocument/2006/relationships/tags" Target="../tags/tag24.xml"/><Relationship Id="rId21" Type="http://schemas.openxmlformats.org/officeDocument/2006/relationships/notesSlide" Target="../notesSlides/notesSlide16.xml"/><Relationship Id="rId20" Type="http://schemas.openxmlformats.org/officeDocument/2006/relationships/slideLayout" Target="../slideLayouts/slideLayout1.xml"/><Relationship Id="rId2" Type="http://schemas.openxmlformats.org/officeDocument/2006/relationships/tags" Target="../tags/tag23.xml"/><Relationship Id="rId19" Type="http://schemas.openxmlformats.org/officeDocument/2006/relationships/tags" Target="../tags/tag34.xml"/><Relationship Id="rId18" Type="http://schemas.openxmlformats.org/officeDocument/2006/relationships/tags" Target="../tags/tag33.xml"/><Relationship Id="rId17" Type="http://schemas.openxmlformats.org/officeDocument/2006/relationships/image" Target="../media/image40.svg"/><Relationship Id="rId16" Type="http://schemas.openxmlformats.org/officeDocument/2006/relationships/image" Target="../media/image39.png"/><Relationship Id="rId15" Type="http://schemas.openxmlformats.org/officeDocument/2006/relationships/tags" Target="../tags/tag32.xml"/><Relationship Id="rId14" Type="http://schemas.openxmlformats.org/officeDocument/2006/relationships/tags" Target="../tags/tag31.xml"/><Relationship Id="rId13" Type="http://schemas.openxmlformats.org/officeDocument/2006/relationships/tags" Target="../tags/tag30.xml"/><Relationship Id="rId12" Type="http://schemas.openxmlformats.org/officeDocument/2006/relationships/tags" Target="../tags/tag29.xml"/><Relationship Id="rId11" Type="http://schemas.openxmlformats.org/officeDocument/2006/relationships/image" Target="../media/image38.svg"/><Relationship Id="rId10" Type="http://schemas.openxmlformats.org/officeDocument/2006/relationships/image" Target="../media/image37.png"/><Relationship Id="rId1" Type="http://schemas.openxmlformats.org/officeDocument/2006/relationships/image" Target="../media/image34.jpeg"/></Relationships>
</file>

<file path=ppt/slides/_rels/slide17.xml.rels><?xml version="1.0" encoding="UTF-8" standalone="yes"?>
<Relationships xmlns="http://schemas.openxmlformats.org/package/2006/relationships"><Relationship Id="rId6" Type="http://schemas.openxmlformats.org/officeDocument/2006/relationships/notesSlide" Target="../notesSlides/notesSlide17.xml"/><Relationship Id="rId5" Type="http://schemas.openxmlformats.org/officeDocument/2006/relationships/slideLayout" Target="../slideLayouts/slideLayout1.xml"/><Relationship Id="rId4" Type="http://schemas.openxmlformats.org/officeDocument/2006/relationships/image" Target="../media/image44.png"/><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image" Target="../media/image41.png"/></Relationships>
</file>

<file path=ppt/slides/_rels/slide18.xml.rels><?xml version="1.0" encoding="UTF-8" standalone="yes"?>
<Relationships xmlns="http://schemas.openxmlformats.org/package/2006/relationships"><Relationship Id="rId7" Type="http://schemas.openxmlformats.org/officeDocument/2006/relationships/notesSlide" Target="../notesSlides/notesSlide18.xml"/><Relationship Id="rId6" Type="http://schemas.openxmlformats.org/officeDocument/2006/relationships/slideLayout" Target="../slideLayouts/slideLayout1.xml"/><Relationship Id="rId5" Type="http://schemas.openxmlformats.org/officeDocument/2006/relationships/image" Target="../media/image47.png"/><Relationship Id="rId4" Type="http://schemas.openxmlformats.org/officeDocument/2006/relationships/image" Target="../media/image46.svg"/><Relationship Id="rId3" Type="http://schemas.openxmlformats.org/officeDocument/2006/relationships/image" Target="../media/image45.png"/><Relationship Id="rId2" Type="http://schemas.openxmlformats.org/officeDocument/2006/relationships/image" Target="../media/image29.svg"/><Relationship Id="rId1" Type="http://schemas.openxmlformats.org/officeDocument/2006/relationships/image" Target="../media/image28.png"/></Relationships>
</file>

<file path=ppt/slides/_rels/slide19.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50.png"/><Relationship Id="rId4" Type="http://schemas.openxmlformats.org/officeDocument/2006/relationships/image" Target="../media/image46.svg"/><Relationship Id="rId3" Type="http://schemas.openxmlformats.org/officeDocument/2006/relationships/image" Target="../media/image45.png"/><Relationship Id="rId2" Type="http://schemas.openxmlformats.org/officeDocument/2006/relationships/image" Target="../media/image49.svg"/><Relationship Id="rId1" Type="http://schemas.openxmlformats.org/officeDocument/2006/relationships/image" Target="../media/image48.png"/></Relationships>
</file>

<file path=ppt/slides/_rels/slide20.xml.rels><?xml version="1.0" encoding="UTF-8" standalone="yes"?>
<Relationships xmlns="http://schemas.openxmlformats.org/package/2006/relationships"><Relationship Id="rId9" Type="http://schemas.openxmlformats.org/officeDocument/2006/relationships/image" Target="../media/image59.png"/><Relationship Id="rId8" Type="http://schemas.openxmlformats.org/officeDocument/2006/relationships/image" Target="../media/image58.png"/><Relationship Id="rId7" Type="http://schemas.openxmlformats.org/officeDocument/2006/relationships/image" Target="../media/image57.jpeg"/><Relationship Id="rId6" Type="http://schemas.openxmlformats.org/officeDocument/2006/relationships/image" Target="../media/image56.jpeg"/><Relationship Id="rId5" Type="http://schemas.openxmlformats.org/officeDocument/2006/relationships/image" Target="../media/image55.png"/><Relationship Id="rId4" Type="http://schemas.openxmlformats.org/officeDocument/2006/relationships/image" Target="../media/image54.jpeg"/><Relationship Id="rId3" Type="http://schemas.openxmlformats.org/officeDocument/2006/relationships/image" Target="../media/image53.jpeg"/><Relationship Id="rId2" Type="http://schemas.openxmlformats.org/officeDocument/2006/relationships/image" Target="../media/image52.jpeg"/><Relationship Id="rId18" Type="http://schemas.openxmlformats.org/officeDocument/2006/relationships/notesSlide" Target="../notesSlides/notesSlide19.xml"/><Relationship Id="rId17" Type="http://schemas.openxmlformats.org/officeDocument/2006/relationships/slideLayout" Target="../slideLayouts/slideLayout1.xml"/><Relationship Id="rId16" Type="http://schemas.openxmlformats.org/officeDocument/2006/relationships/image" Target="../media/image66.png"/><Relationship Id="rId15" Type="http://schemas.openxmlformats.org/officeDocument/2006/relationships/image" Target="../media/image65.png"/><Relationship Id="rId14" Type="http://schemas.openxmlformats.org/officeDocument/2006/relationships/image" Target="../media/image64.png"/><Relationship Id="rId13" Type="http://schemas.openxmlformats.org/officeDocument/2006/relationships/image" Target="../media/image63.png"/><Relationship Id="rId12" Type="http://schemas.openxmlformats.org/officeDocument/2006/relationships/image" Target="../media/image62.png"/><Relationship Id="rId11" Type="http://schemas.openxmlformats.org/officeDocument/2006/relationships/image" Target="../media/image61.png"/><Relationship Id="rId10" Type="http://schemas.openxmlformats.org/officeDocument/2006/relationships/image" Target="../media/image60.png"/><Relationship Id="rId1" Type="http://schemas.openxmlformats.org/officeDocument/2006/relationships/image" Target="../media/image51.jpe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2.xml"/><Relationship Id="rId2" Type="http://schemas.openxmlformats.org/officeDocument/2006/relationships/image" Target="../media/image67.png"/><Relationship Id="rId1"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image" Target="../media/image68.png"/></Relationships>
</file>

<file path=ppt/slides/_rels/slide23.xml.rels><?xml version="1.0" encoding="UTF-8" standalone="yes"?>
<Relationships xmlns="http://schemas.openxmlformats.org/package/2006/relationships"><Relationship Id="rId9" Type="http://schemas.openxmlformats.org/officeDocument/2006/relationships/notesSlide" Target="../notesSlides/notesSlide22.xml"/><Relationship Id="rId8" Type="http://schemas.openxmlformats.org/officeDocument/2006/relationships/slideLayout" Target="../slideLayouts/slideLayout1.xml"/><Relationship Id="rId7" Type="http://schemas.openxmlformats.org/officeDocument/2006/relationships/image" Target="../media/image75.svg"/><Relationship Id="rId6" Type="http://schemas.openxmlformats.org/officeDocument/2006/relationships/image" Target="../media/image74.png"/><Relationship Id="rId5" Type="http://schemas.openxmlformats.org/officeDocument/2006/relationships/image" Target="../media/image73.svg"/><Relationship Id="rId4" Type="http://schemas.openxmlformats.org/officeDocument/2006/relationships/image" Target="../media/image72.png"/><Relationship Id="rId3" Type="http://schemas.openxmlformats.org/officeDocument/2006/relationships/image" Target="../media/image71.svg"/><Relationship Id="rId2" Type="http://schemas.openxmlformats.org/officeDocument/2006/relationships/image" Target="../media/image70.png"/><Relationship Id="rId1" Type="http://schemas.openxmlformats.org/officeDocument/2006/relationships/image" Target="../media/image69.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xml"/><Relationship Id="rId1" Type="http://schemas.openxmlformats.org/officeDocument/2006/relationships/image" Target="../media/image76.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tags" Target="../tags/tag35.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xml"/><Relationship Id="rId1" Type="http://schemas.openxmlformats.org/officeDocument/2006/relationships/tags" Target="../tags/tag3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31.xml.rels><?xml version="1.0" encoding="UTF-8" standalone="yes"?>
<Relationships xmlns="http://schemas.openxmlformats.org/package/2006/relationships"><Relationship Id="rId5" Type="http://schemas.openxmlformats.org/officeDocument/2006/relationships/notesSlide" Target="../notesSlides/notesSlide30.xml"/><Relationship Id="rId4" Type="http://schemas.openxmlformats.org/officeDocument/2006/relationships/slideLayout" Target="../slideLayouts/slideLayout1.xml"/><Relationship Id="rId3" Type="http://schemas.openxmlformats.org/officeDocument/2006/relationships/image" Target="../media/image79.svg"/><Relationship Id="rId2" Type="http://schemas.openxmlformats.org/officeDocument/2006/relationships/image" Target="../media/image78.png"/><Relationship Id="rId1" Type="http://schemas.openxmlformats.org/officeDocument/2006/relationships/image" Target="../media/image77.jpeg"/></Relationships>
</file>

<file path=ppt/slides/_rels/slide32.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87.svg"/><Relationship Id="rId7" Type="http://schemas.openxmlformats.org/officeDocument/2006/relationships/image" Target="../media/image86.png"/><Relationship Id="rId6" Type="http://schemas.openxmlformats.org/officeDocument/2006/relationships/image" Target="../media/image85.svg"/><Relationship Id="rId5" Type="http://schemas.openxmlformats.org/officeDocument/2006/relationships/image" Target="../media/image84.png"/><Relationship Id="rId4" Type="http://schemas.openxmlformats.org/officeDocument/2006/relationships/image" Target="../media/image83.svg"/><Relationship Id="rId3" Type="http://schemas.openxmlformats.org/officeDocument/2006/relationships/image" Target="../media/image82.png"/><Relationship Id="rId2" Type="http://schemas.openxmlformats.org/officeDocument/2006/relationships/image" Target="../media/image81.svg"/><Relationship Id="rId10" Type="http://schemas.openxmlformats.org/officeDocument/2006/relationships/notesSlide" Target="../notesSlides/notesSlide31.xml"/><Relationship Id="rId1" Type="http://schemas.openxmlformats.org/officeDocument/2006/relationships/image" Target="../media/image80.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9" Type="http://schemas.openxmlformats.org/officeDocument/2006/relationships/image" Target="../media/image96.png"/><Relationship Id="rId8" Type="http://schemas.openxmlformats.org/officeDocument/2006/relationships/image" Target="../media/image95.svg"/><Relationship Id="rId7" Type="http://schemas.openxmlformats.org/officeDocument/2006/relationships/image" Target="../media/image94.png"/><Relationship Id="rId6" Type="http://schemas.openxmlformats.org/officeDocument/2006/relationships/image" Target="../media/image93.svg"/><Relationship Id="rId5" Type="http://schemas.openxmlformats.org/officeDocument/2006/relationships/image" Target="../media/image92.png"/><Relationship Id="rId4" Type="http://schemas.openxmlformats.org/officeDocument/2006/relationships/image" Target="../media/image91.svg"/><Relationship Id="rId3" Type="http://schemas.openxmlformats.org/officeDocument/2006/relationships/image" Target="../media/image90.png"/><Relationship Id="rId2" Type="http://schemas.openxmlformats.org/officeDocument/2006/relationships/image" Target="../media/image89.svg"/><Relationship Id="rId14" Type="http://schemas.openxmlformats.org/officeDocument/2006/relationships/notesSlide" Target="../notesSlides/notesSlide33.xml"/><Relationship Id="rId13" Type="http://schemas.openxmlformats.org/officeDocument/2006/relationships/slideLayout" Target="../slideLayouts/slideLayout1.xml"/><Relationship Id="rId12" Type="http://schemas.openxmlformats.org/officeDocument/2006/relationships/image" Target="../media/image99.svg"/><Relationship Id="rId11" Type="http://schemas.openxmlformats.org/officeDocument/2006/relationships/image" Target="../media/image98.png"/><Relationship Id="rId10" Type="http://schemas.openxmlformats.org/officeDocument/2006/relationships/image" Target="../media/image97.svg"/><Relationship Id="rId1" Type="http://schemas.openxmlformats.org/officeDocument/2006/relationships/image" Target="../media/image88.png"/></Relationships>
</file>

<file path=ppt/slides/_rels/slide35.xml.rels><?xml version="1.0" encoding="UTF-8" standalone="yes"?>
<Relationships xmlns="http://schemas.openxmlformats.org/package/2006/relationships"><Relationship Id="rId9" Type="http://schemas.openxmlformats.org/officeDocument/2006/relationships/tags" Target="../tags/tag45.xml"/><Relationship Id="rId8" Type="http://schemas.openxmlformats.org/officeDocument/2006/relationships/tags" Target="../tags/tag44.xml"/><Relationship Id="rId7" Type="http://schemas.openxmlformats.org/officeDocument/2006/relationships/tags" Target="../tags/tag43.xml"/><Relationship Id="rId6" Type="http://schemas.openxmlformats.org/officeDocument/2006/relationships/tags" Target="../tags/tag42.xml"/><Relationship Id="rId5" Type="http://schemas.openxmlformats.org/officeDocument/2006/relationships/tags" Target="../tags/tag41.xml"/><Relationship Id="rId4" Type="http://schemas.openxmlformats.org/officeDocument/2006/relationships/tags" Target="../tags/tag40.xml"/><Relationship Id="rId3" Type="http://schemas.openxmlformats.org/officeDocument/2006/relationships/tags" Target="../tags/tag39.xml"/><Relationship Id="rId2" Type="http://schemas.openxmlformats.org/officeDocument/2006/relationships/tags" Target="../tags/tag38.xml"/><Relationship Id="rId14" Type="http://schemas.openxmlformats.org/officeDocument/2006/relationships/notesSlide" Target="../notesSlides/notesSlide34.xml"/><Relationship Id="rId13" Type="http://schemas.openxmlformats.org/officeDocument/2006/relationships/slideLayout" Target="../slideLayouts/slideLayout2.xml"/><Relationship Id="rId12" Type="http://schemas.openxmlformats.org/officeDocument/2006/relationships/tags" Target="../tags/tag48.xml"/><Relationship Id="rId11" Type="http://schemas.openxmlformats.org/officeDocument/2006/relationships/tags" Target="../tags/tag47.xml"/><Relationship Id="rId10" Type="http://schemas.openxmlformats.org/officeDocument/2006/relationships/tags" Target="../tags/tag46.xml"/><Relationship Id="rId1" Type="http://schemas.openxmlformats.org/officeDocument/2006/relationships/tags" Target="../tags/tag37.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hyperlink" Target="https://gitcode.com/cann/cann-learning-hub/tree/master/quick_start/cann_basics" TargetMode="Externa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6" Type="http://schemas.openxmlformats.org/officeDocument/2006/relationships/notesSlide" Target="../notesSlides/notesSlide37.xml"/><Relationship Id="rId5" Type="http://schemas.openxmlformats.org/officeDocument/2006/relationships/slideLayout" Target="../slideLayouts/slideLayout2.xml"/><Relationship Id="rId4" Type="http://schemas.openxmlformats.org/officeDocument/2006/relationships/hyperlink" Target="https://gitcode.com/cann/cann-learning-hub/" TargetMode="External"/><Relationship Id="rId3" Type="http://schemas.openxmlformats.org/officeDocument/2006/relationships/hyperlink" Target="https://gitcode.com/cann/cann-samples/tree/master/Samples/" TargetMode="External"/><Relationship Id="rId2" Type="http://schemas.openxmlformats.org/officeDocument/2006/relationships/hyperlink" Target="https://asc.gitcode.com/" TargetMode="External"/><Relationship Id="rId1" Type="http://schemas.openxmlformats.org/officeDocument/2006/relationships/hyperlink" Target="https://gitcode.com/cann/asc-devkit" TargetMode="Externa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01.jpeg"/><Relationship Id="rId1" Type="http://schemas.openxmlformats.org/officeDocument/2006/relationships/image" Target="../media/image10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cstate="screen"/>
          <a:srcRect/>
          <a:stretch>
            <a:fillRect/>
          </a:stretch>
        </p:blipFill>
        <p:spPr>
          <a:xfrm>
            <a:off x="0" y="0"/>
            <a:ext cx="12201638" cy="5558971"/>
          </a:xfrm>
          <a:prstGeom prst="rect">
            <a:avLst/>
          </a:prstGeom>
        </p:spPr>
      </p:pic>
      <p:sp>
        <p:nvSpPr>
          <p:cNvPr id="9" name="文本框 8"/>
          <p:cNvSpPr txBox="1"/>
          <p:nvPr/>
        </p:nvSpPr>
        <p:spPr>
          <a:xfrm>
            <a:off x="1092328" y="1399430"/>
            <a:ext cx="7995285" cy="706755"/>
          </a:xfrm>
          <a:prstGeom prst="rect">
            <a:avLst/>
          </a:prstGeom>
          <a:noFill/>
        </p:spPr>
        <p:txBody>
          <a:bodyPr wrap="none" rtlCol="0">
            <a:spAutoFit/>
          </a:bodyPr>
          <a:lstStyle/>
          <a:p>
            <a:r>
              <a:rPr lang="zh-CN" altLang="en-US" sz="4000" b="1" dirty="0">
                <a:solidFill>
                  <a:prstClr val="black"/>
                </a:solidFill>
                <a:latin typeface="微软雅黑" panose="020B0503020204020204" pitchFamily="34" charset="-122"/>
                <a:ea typeface="微软雅黑" panose="020B0503020204020204" pitchFamily="34" charset="-122"/>
              </a:rPr>
              <a:t>昇腾</a:t>
            </a:r>
            <a:r>
              <a:rPr lang="en-US" altLang="zh-CN" sz="4000" b="1" dirty="0">
                <a:solidFill>
                  <a:prstClr val="black"/>
                </a:solidFill>
                <a:latin typeface="微软雅黑" panose="020B0503020204020204" pitchFamily="34" charset="-122"/>
                <a:ea typeface="微软雅黑" panose="020B0503020204020204" pitchFamily="34" charset="-122"/>
              </a:rPr>
              <a:t>AI</a:t>
            </a:r>
            <a:r>
              <a:rPr lang="zh-CN" altLang="en-US" sz="4000" b="1" dirty="0">
                <a:solidFill>
                  <a:prstClr val="black"/>
                </a:solidFill>
                <a:latin typeface="微软雅黑" panose="020B0503020204020204" pitchFamily="34" charset="-122"/>
                <a:ea typeface="微软雅黑" panose="020B0503020204020204" pitchFamily="34" charset="-122"/>
              </a:rPr>
              <a:t>产业生态与</a:t>
            </a:r>
            <a:r>
              <a:rPr lang="en-US" altLang="zh-CN" sz="4000" b="1" dirty="0">
                <a:solidFill>
                  <a:prstClr val="black"/>
                </a:solidFill>
                <a:latin typeface="微软雅黑" panose="020B0503020204020204" pitchFamily="34" charset="-122"/>
                <a:ea typeface="微软雅黑" panose="020B0503020204020204" pitchFamily="34" charset="-122"/>
              </a:rPr>
              <a:t>CANN</a:t>
            </a:r>
            <a:r>
              <a:rPr lang="zh-CN" altLang="en-US" sz="4000" b="1" dirty="0">
                <a:solidFill>
                  <a:prstClr val="black"/>
                </a:solidFill>
                <a:latin typeface="微软雅黑" panose="020B0503020204020204" pitchFamily="34" charset="-122"/>
                <a:ea typeface="微软雅黑" panose="020B0503020204020204" pitchFamily="34" charset="-122"/>
              </a:rPr>
              <a:t>架构基础</a:t>
            </a:r>
            <a:endParaRPr lang="zh-CN" altLang="en-US" sz="4000" b="1" dirty="0">
              <a:solidFill>
                <a:prstClr val="black"/>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副标题 1"/>
          <p:cNvSpPr txBox="1"/>
          <p:nvPr/>
        </p:nvSpPr>
        <p:spPr>
          <a:xfrm>
            <a:off x="731838" y="326390"/>
            <a:ext cx="11099165" cy="581025"/>
          </a:xfrm>
          <a:prstGeom prst="rect">
            <a:avLst/>
          </a:prstGeom>
        </p:spPr>
        <p:txBody>
          <a:bodyPr lIns="0" tIns="0" rIns="0" bIns="0" anchor="ctr" anchorCtr="0">
            <a:normAutofit/>
          </a:bodyPr>
          <a:lstStyle>
            <a:lvl1pPr marL="0" indent="0" algn="l" defTabSz="1187450" rtl="0" eaLnBrk="1" latinLnBrk="0" hangingPunct="1">
              <a:lnSpc>
                <a:spcPts val="3430"/>
              </a:lnSpc>
              <a:spcBef>
                <a:spcPts val="0"/>
              </a:spcBef>
              <a:buFont typeface="Arial" panose="020B0604020202020204" pitchFamily="34" charset="0"/>
              <a:buNone/>
              <a:defRPr sz="2400" kern="1200" baseline="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593725" indent="0" algn="ctr" defTabSz="1187450" rtl="0" eaLnBrk="1" latinLnBrk="0" hangingPunct="1">
              <a:lnSpc>
                <a:spcPct val="90000"/>
              </a:lnSpc>
              <a:spcBef>
                <a:spcPts val="650"/>
              </a:spcBef>
              <a:buFont typeface="Arial" panose="020B0604020202020204" pitchFamily="34" charset="0"/>
              <a:buNone/>
              <a:defRPr sz="2595" kern="1200">
                <a:solidFill>
                  <a:schemeClr val="tx1"/>
                </a:solidFill>
                <a:latin typeface="+mn-lt"/>
                <a:ea typeface="+mn-ea"/>
                <a:cs typeface="+mn-cs"/>
              </a:defRPr>
            </a:lvl2pPr>
            <a:lvl3pPr marL="1187450" indent="0" algn="ctr" defTabSz="1187450" rtl="0" eaLnBrk="1" latinLnBrk="0" hangingPunct="1">
              <a:lnSpc>
                <a:spcPct val="90000"/>
              </a:lnSpc>
              <a:spcBef>
                <a:spcPts val="650"/>
              </a:spcBef>
              <a:buFont typeface="Arial" panose="020B0604020202020204" pitchFamily="34" charset="0"/>
              <a:buNone/>
              <a:defRPr sz="2335" kern="1200">
                <a:solidFill>
                  <a:schemeClr val="tx1"/>
                </a:solidFill>
                <a:latin typeface="+mn-lt"/>
                <a:ea typeface="+mn-ea"/>
                <a:cs typeface="+mn-cs"/>
              </a:defRPr>
            </a:lvl3pPr>
            <a:lvl4pPr marL="1781175"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4pPr>
            <a:lvl5pPr marL="2374900"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5pPr>
            <a:lvl6pPr marL="2967990"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6pPr>
            <a:lvl7pPr marL="3561715"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7pPr>
            <a:lvl8pPr marL="4155440"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8pPr>
            <a:lvl9pPr marL="4749165"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9pPr>
          </a:lstStyle>
          <a:p>
            <a:pPr marL="0" marR="0" lvl="0" indent="0" algn="l" defTabSz="1187450" rtl="0" eaLnBrk="1" fontAlgn="auto" latinLnBrk="0" hangingPunct="1">
              <a:lnSpc>
                <a:spcPts val="3430"/>
              </a:lnSpc>
              <a:spcBef>
                <a:spcPts val="0"/>
              </a:spcBef>
              <a:spcAft>
                <a:spcPts val="0"/>
              </a:spcAft>
              <a:buClrTx/>
              <a:buSzTx/>
              <a:buFont typeface="Arial" panose="020B0604020202020204" pitchFamily="34" charset="0"/>
              <a:buNone/>
              <a:defRPr/>
            </a:pPr>
            <a:r>
              <a:rPr kumimoji="0" lang="zh-CN" altLang="en-US"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rPr>
              <a:t>本课目标</a:t>
            </a:r>
            <a:endParaRPr kumimoji="0" lang="zh-CN" altLang="en-US" sz="2400" b="1"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sp>
        <p:nvSpPr>
          <p:cNvPr id="6" name="内容占位符 2"/>
          <p:cNvSpPr txBox="1"/>
          <p:nvPr/>
        </p:nvSpPr>
        <p:spPr>
          <a:xfrm>
            <a:off x="744345" y="1169017"/>
            <a:ext cx="10284006" cy="4915897"/>
          </a:xfrm>
          <a:prstGeom prst="rect">
            <a:avLst/>
          </a:prstGeom>
        </p:spPr>
        <p:txBody>
          <a:bodyPr/>
          <a:lstStyle>
            <a:lvl1pPr marL="296545" indent="-296545" algn="l" defTabSz="1187450" rtl="0" eaLnBrk="1" latinLnBrk="0" hangingPunct="1">
              <a:lnSpc>
                <a:spcPct val="90000"/>
              </a:lnSpc>
              <a:spcBef>
                <a:spcPts val="1300"/>
              </a:spcBef>
              <a:buFont typeface="Arial" panose="020B0604020202020204" pitchFamily="34" charset="0"/>
              <a:buChar char="•"/>
              <a:defRPr sz="3635" kern="1200">
                <a:solidFill>
                  <a:schemeClr val="tx1"/>
                </a:solidFill>
                <a:latin typeface="+mn-lt"/>
                <a:ea typeface="+mn-ea"/>
                <a:cs typeface="+mn-cs"/>
              </a:defRPr>
            </a:lvl1pPr>
            <a:lvl2pPr marL="890270" indent="-296545" algn="l" defTabSz="1187450" rtl="0" eaLnBrk="1" latinLnBrk="0" hangingPunct="1">
              <a:lnSpc>
                <a:spcPct val="90000"/>
              </a:lnSpc>
              <a:spcBef>
                <a:spcPts val="650"/>
              </a:spcBef>
              <a:buFont typeface="Arial" panose="020B0604020202020204" pitchFamily="34" charset="0"/>
              <a:buChar char="•"/>
              <a:defRPr sz="3115" kern="1200">
                <a:solidFill>
                  <a:schemeClr val="tx1"/>
                </a:solidFill>
                <a:latin typeface="+mn-lt"/>
                <a:ea typeface="+mn-ea"/>
                <a:cs typeface="+mn-cs"/>
              </a:defRPr>
            </a:lvl2pPr>
            <a:lvl3pPr marL="1483995" indent="-296545" algn="l" defTabSz="1187450" rtl="0" eaLnBrk="1" latinLnBrk="0" hangingPunct="1">
              <a:lnSpc>
                <a:spcPct val="90000"/>
              </a:lnSpc>
              <a:spcBef>
                <a:spcPts val="650"/>
              </a:spcBef>
              <a:buFont typeface="Arial" panose="020B0604020202020204" pitchFamily="34" charset="0"/>
              <a:buChar char="•"/>
              <a:defRPr sz="2595" kern="1200">
                <a:solidFill>
                  <a:schemeClr val="tx1"/>
                </a:solidFill>
                <a:latin typeface="+mn-lt"/>
                <a:ea typeface="+mn-ea"/>
                <a:cs typeface="+mn-cs"/>
              </a:defRPr>
            </a:lvl3pPr>
            <a:lvl4pPr marL="2077720" indent="-296545" algn="l" defTabSz="1187450" rtl="0" eaLnBrk="1" latinLnBrk="0" hangingPunct="1">
              <a:lnSpc>
                <a:spcPct val="90000"/>
              </a:lnSpc>
              <a:spcBef>
                <a:spcPts val="650"/>
              </a:spcBef>
              <a:buFont typeface="Arial" panose="020B0604020202020204" pitchFamily="34" charset="0"/>
              <a:buChar char="•"/>
              <a:defRPr sz="2335" kern="1200">
                <a:solidFill>
                  <a:schemeClr val="tx1"/>
                </a:solidFill>
                <a:latin typeface="+mn-lt"/>
                <a:ea typeface="+mn-ea"/>
                <a:cs typeface="+mn-cs"/>
              </a:defRPr>
            </a:lvl4pPr>
            <a:lvl5pPr marL="2671445" indent="-296545" algn="l" defTabSz="1187450" rtl="0" eaLnBrk="1" latinLnBrk="0" hangingPunct="1">
              <a:lnSpc>
                <a:spcPct val="90000"/>
              </a:lnSpc>
              <a:spcBef>
                <a:spcPts val="650"/>
              </a:spcBef>
              <a:buFont typeface="Arial" panose="020B0604020202020204" pitchFamily="34" charset="0"/>
              <a:buChar char="•"/>
              <a:defRPr sz="2335" kern="1200">
                <a:solidFill>
                  <a:schemeClr val="tx1"/>
                </a:solidFill>
                <a:latin typeface="+mn-lt"/>
                <a:ea typeface="+mn-ea"/>
                <a:cs typeface="+mn-cs"/>
              </a:defRPr>
            </a:lvl5pPr>
            <a:lvl6pPr marL="3265170" indent="-296545" algn="l" defTabSz="1187450" rtl="0" eaLnBrk="1" latinLnBrk="0" hangingPunct="1">
              <a:lnSpc>
                <a:spcPct val="90000"/>
              </a:lnSpc>
              <a:spcBef>
                <a:spcPts val="650"/>
              </a:spcBef>
              <a:buFont typeface="Arial" panose="020B0604020202020204" pitchFamily="34" charset="0"/>
              <a:buChar char="•"/>
              <a:defRPr sz="2335" kern="1200">
                <a:solidFill>
                  <a:schemeClr val="tx1"/>
                </a:solidFill>
                <a:latin typeface="+mn-lt"/>
                <a:ea typeface="+mn-ea"/>
                <a:cs typeface="+mn-cs"/>
              </a:defRPr>
            </a:lvl6pPr>
            <a:lvl7pPr marL="3858895" indent="-296545" algn="l" defTabSz="1187450" rtl="0" eaLnBrk="1" latinLnBrk="0" hangingPunct="1">
              <a:lnSpc>
                <a:spcPct val="90000"/>
              </a:lnSpc>
              <a:spcBef>
                <a:spcPts val="650"/>
              </a:spcBef>
              <a:buFont typeface="Arial" panose="020B0604020202020204" pitchFamily="34" charset="0"/>
              <a:buChar char="•"/>
              <a:defRPr sz="2335" kern="1200">
                <a:solidFill>
                  <a:schemeClr val="tx1"/>
                </a:solidFill>
                <a:latin typeface="+mn-lt"/>
                <a:ea typeface="+mn-ea"/>
                <a:cs typeface="+mn-cs"/>
              </a:defRPr>
            </a:lvl7pPr>
            <a:lvl8pPr marL="4452620" indent="-296545" algn="l" defTabSz="1187450" rtl="0" eaLnBrk="1" latinLnBrk="0" hangingPunct="1">
              <a:lnSpc>
                <a:spcPct val="90000"/>
              </a:lnSpc>
              <a:spcBef>
                <a:spcPts val="650"/>
              </a:spcBef>
              <a:buFont typeface="Arial" panose="020B0604020202020204" pitchFamily="34" charset="0"/>
              <a:buChar char="•"/>
              <a:defRPr sz="2335" kern="1200">
                <a:solidFill>
                  <a:schemeClr val="tx1"/>
                </a:solidFill>
                <a:latin typeface="+mn-lt"/>
                <a:ea typeface="+mn-ea"/>
                <a:cs typeface="+mn-cs"/>
              </a:defRPr>
            </a:lvl8pPr>
            <a:lvl9pPr marL="5046345" indent="-296545" algn="l" defTabSz="1187450" rtl="0" eaLnBrk="1" latinLnBrk="0" hangingPunct="1">
              <a:lnSpc>
                <a:spcPct val="90000"/>
              </a:lnSpc>
              <a:spcBef>
                <a:spcPts val="650"/>
              </a:spcBef>
              <a:buFont typeface="Arial" panose="020B0604020202020204" pitchFamily="34" charset="0"/>
              <a:buChar char="•"/>
              <a:defRPr sz="2335" kern="1200">
                <a:solidFill>
                  <a:schemeClr val="tx1"/>
                </a:solidFill>
                <a:latin typeface="+mn-lt"/>
                <a:ea typeface="+mn-ea"/>
                <a:cs typeface="+mn-cs"/>
              </a:defRPr>
            </a:lvl9pPr>
          </a:lstStyle>
          <a:p>
            <a:pPr marL="0" indent="0" algn="just">
              <a:buNone/>
            </a:pPr>
            <a:r>
              <a:rPr lang="zh-CN" sz="1300" b="1">
                <a:solidFill>
                  <a:srgbClr val="333333"/>
                </a:solidFill>
                <a:latin typeface="微软雅黑" panose="020B0503020204020204" pitchFamily="34" charset="-122"/>
                <a:ea typeface="微软雅黑" panose="020B0503020204020204" pitchFamily="34" charset="-122"/>
                <a:cs typeface="微软雅黑" panose="020B0503020204020204" pitchFamily="34" charset="-122"/>
              </a:rPr>
              <a:t>适用人群</a:t>
            </a:r>
            <a:r>
              <a:rPr lang="zh-CN" sz="1300" b="0">
                <a:solidFill>
                  <a:srgbClr val="333333"/>
                </a:solidFill>
                <a:latin typeface="微软雅黑" panose="020B0503020204020204" pitchFamily="34" charset="-122"/>
                <a:ea typeface="微软雅黑" panose="020B0503020204020204" pitchFamily="34" charset="-122"/>
                <a:cs typeface="微软雅黑" panose="020B0503020204020204" pitchFamily="34" charset="-122"/>
              </a:rPr>
              <a:t>：对 AI 和昇腾 NPU 感兴趣的初学者（无需编程基础）、有 GPU/CUDA 经验想快速了解 CANN 的开发者</a:t>
            </a:r>
            <a:endParaRPr lang="zh-CN" sz="1300" b="0">
              <a:solidFill>
                <a:srgbClr val="333333"/>
              </a:solidFill>
              <a:latin typeface="微软雅黑" panose="020B0503020204020204" pitchFamily="34" charset="-122"/>
              <a:ea typeface="微软雅黑" panose="020B0503020204020204" pitchFamily="34" charset="-122"/>
              <a:cs typeface="微软雅黑" panose="020B0503020204020204" pitchFamily="34" charset="-122"/>
            </a:endParaRPr>
          </a:p>
          <a:p>
            <a:pPr marL="0" indent="0" algn="just">
              <a:buNone/>
            </a:pPr>
            <a:r>
              <a:rPr lang="zh-CN" sz="1300" b="1">
                <a:solidFill>
                  <a:srgbClr val="333333"/>
                </a:solidFill>
                <a:latin typeface="微软雅黑" panose="020B0503020204020204" pitchFamily="34" charset="-122"/>
                <a:ea typeface="微软雅黑" panose="020B0503020204020204" pitchFamily="34" charset="-122"/>
                <a:cs typeface="微软雅黑" panose="020B0503020204020204" pitchFamily="34" charset="-122"/>
              </a:rPr>
              <a:t>课程结构</a:t>
            </a:r>
            <a:r>
              <a:rPr lang="zh-CN" sz="1300" b="0">
                <a:solidFill>
                  <a:srgbClr val="333333"/>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sz="1300" b="0">
              <a:solidFill>
                <a:srgbClr val="333333"/>
              </a:solidFill>
              <a:latin typeface="微软雅黑" panose="020B0503020204020204" pitchFamily="34" charset="-122"/>
              <a:ea typeface="微软雅黑" panose="020B0503020204020204" pitchFamily="34" charset="-122"/>
              <a:cs typeface="微软雅黑" panose="020B0503020204020204" pitchFamily="34" charset="-122"/>
            </a:endParaRPr>
          </a:p>
          <a:p>
            <a:pPr algn="just"/>
            <a:r>
              <a:rPr lang="en-US" sz="1300" b="0">
                <a:solidFill>
                  <a:srgbClr val="333333"/>
                </a:solidFill>
                <a:latin typeface="微软雅黑" panose="020B0503020204020204" pitchFamily="34" charset="-122"/>
                <a:ea typeface="微软雅黑" panose="020B0503020204020204" pitchFamily="34" charset="-122"/>
                <a:cs typeface="微软雅黑" panose="020B0503020204020204" pitchFamily="34" charset="-122"/>
              </a:rPr>
              <a:t> </a:t>
            </a:r>
            <a:r>
              <a:rPr lang="zh-CN" sz="1300" b="0">
                <a:solidFill>
                  <a:srgbClr val="333333"/>
                </a:solidFill>
                <a:latin typeface="微软雅黑" panose="020B0503020204020204" pitchFamily="34" charset="-122"/>
                <a:ea typeface="微软雅黑" panose="020B0503020204020204" pitchFamily="34" charset="-122"/>
                <a:cs typeface="微软雅黑" panose="020B0503020204020204" pitchFamily="34" charset="-122"/>
              </a:rPr>
              <a:t>① 人工智能基础 —— 模型、计算图、算子、张量</a:t>
            </a:r>
            <a:endParaRPr lang="zh-CN" sz="1300" b="0">
              <a:solidFill>
                <a:srgbClr val="333333"/>
              </a:solidFill>
              <a:latin typeface="微软雅黑" panose="020B0503020204020204" pitchFamily="34" charset="-122"/>
              <a:ea typeface="微软雅黑" panose="020B0503020204020204" pitchFamily="34" charset="-122"/>
              <a:cs typeface="微软雅黑" panose="020B0503020204020204" pitchFamily="34" charset="-122"/>
            </a:endParaRPr>
          </a:p>
          <a:p>
            <a:pPr algn="just"/>
            <a:r>
              <a:rPr lang="en-US" sz="1300" b="0">
                <a:solidFill>
                  <a:srgbClr val="333333"/>
                </a:solidFill>
                <a:latin typeface="微软雅黑" panose="020B0503020204020204" pitchFamily="34" charset="-122"/>
                <a:ea typeface="微软雅黑" panose="020B0503020204020204" pitchFamily="34" charset="-122"/>
                <a:cs typeface="微软雅黑" panose="020B0503020204020204" pitchFamily="34" charset="-122"/>
              </a:rPr>
              <a:t> </a:t>
            </a:r>
            <a:r>
              <a:rPr lang="zh-CN" sz="1300" b="0">
                <a:solidFill>
                  <a:srgbClr val="333333"/>
                </a:solidFill>
                <a:latin typeface="微软雅黑" panose="020B0503020204020204" pitchFamily="34" charset="-122"/>
                <a:ea typeface="微软雅黑" panose="020B0503020204020204" pitchFamily="34" charset="-122"/>
                <a:cs typeface="微软雅黑" panose="020B0503020204020204" pitchFamily="34" charset="-122"/>
              </a:rPr>
              <a:t>② 什么是 NPU —— DaVinci 架构、AI Core（Cube/Vector/Scalar）、多核并行</a:t>
            </a:r>
            <a:endParaRPr lang="zh-CN" sz="1300" b="0">
              <a:solidFill>
                <a:srgbClr val="333333"/>
              </a:solidFill>
              <a:latin typeface="微软雅黑" panose="020B0503020204020204" pitchFamily="34" charset="-122"/>
              <a:ea typeface="微软雅黑" panose="020B0503020204020204" pitchFamily="34" charset="-122"/>
              <a:cs typeface="微软雅黑" panose="020B0503020204020204" pitchFamily="34" charset="-122"/>
            </a:endParaRPr>
          </a:p>
          <a:p>
            <a:pPr algn="just"/>
            <a:r>
              <a:rPr lang="en-US" sz="1300" b="0">
                <a:solidFill>
                  <a:srgbClr val="333333"/>
                </a:solidFill>
                <a:latin typeface="微软雅黑" panose="020B0503020204020204" pitchFamily="34" charset="-122"/>
                <a:ea typeface="微软雅黑" panose="020B0503020204020204" pitchFamily="34" charset="-122"/>
                <a:cs typeface="微软雅黑" panose="020B0503020204020204" pitchFamily="34" charset="-122"/>
              </a:rPr>
              <a:t> </a:t>
            </a:r>
            <a:r>
              <a:rPr lang="zh-CN" sz="1300" b="0">
                <a:solidFill>
                  <a:srgbClr val="333333"/>
                </a:solidFill>
                <a:latin typeface="微软雅黑" panose="020B0503020204020204" pitchFamily="34" charset="-122"/>
                <a:ea typeface="微软雅黑" panose="020B0503020204020204" pitchFamily="34" charset="-122"/>
                <a:cs typeface="微软雅黑" panose="020B0503020204020204" pitchFamily="34" charset="-122"/>
              </a:rPr>
              <a:t>③ 什么是 CANN —— 软件栈、一行代码的完整旅程、CANN vs CUDA</a:t>
            </a:r>
            <a:endParaRPr lang="zh-CN" sz="1300" b="0">
              <a:solidFill>
                <a:srgbClr val="333333"/>
              </a:solidFill>
              <a:latin typeface="微软雅黑" panose="020B0503020204020204" pitchFamily="34" charset="-122"/>
              <a:ea typeface="微软雅黑" panose="020B0503020204020204" pitchFamily="34" charset="-122"/>
              <a:cs typeface="微软雅黑" panose="020B0503020204020204" pitchFamily="34" charset="-122"/>
            </a:endParaRPr>
          </a:p>
          <a:p>
            <a:pPr algn="just"/>
            <a:r>
              <a:rPr lang="en-US" sz="1300" b="0">
                <a:solidFill>
                  <a:srgbClr val="333333"/>
                </a:solidFill>
                <a:latin typeface="微软雅黑" panose="020B0503020204020204" pitchFamily="34" charset="-122"/>
                <a:ea typeface="微软雅黑" panose="020B0503020204020204" pitchFamily="34" charset="-122"/>
                <a:cs typeface="微软雅黑" panose="020B0503020204020204" pitchFamily="34" charset="-122"/>
              </a:rPr>
              <a:t> </a:t>
            </a:r>
            <a:r>
              <a:rPr lang="zh-CN" sz="1300" b="0">
                <a:solidFill>
                  <a:srgbClr val="333333"/>
                </a:solidFill>
                <a:latin typeface="微软雅黑" panose="020B0503020204020204" pitchFamily="34" charset="-122"/>
                <a:ea typeface="微软雅黑" panose="020B0503020204020204" pitchFamily="34" charset="-122"/>
                <a:cs typeface="微软雅黑" panose="020B0503020204020204" pitchFamily="34" charset="-122"/>
              </a:rPr>
              <a:t>④ </a:t>
            </a:r>
            <a:r>
              <a:rPr lang="zh-CN" sz="130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mn-ea"/>
              </a:rPr>
              <a:t>课程总结与实践 —— 知识串联 + NPU 实践题</a:t>
            </a:r>
            <a:endParaRPr lang="zh-CN" sz="1300" b="0">
              <a:solidFill>
                <a:srgbClr val="333333"/>
              </a:solidFill>
              <a:latin typeface="微软雅黑" panose="020B0503020204020204" pitchFamily="34" charset="-122"/>
              <a:ea typeface="微软雅黑" panose="020B0503020204020204" pitchFamily="34" charset="-122"/>
              <a:cs typeface="微软雅黑" panose="020B0503020204020204" pitchFamily="34" charset="-122"/>
            </a:endParaRPr>
          </a:p>
          <a:p>
            <a:pPr algn="just"/>
            <a:endParaRPr lang="zh-CN" sz="1300" b="0">
              <a:solidFill>
                <a:srgbClr val="333333"/>
              </a:solidFill>
              <a:latin typeface="微软雅黑" panose="020B0503020204020204" pitchFamily="34" charset="-122"/>
              <a:ea typeface="微软雅黑" panose="020B0503020204020204" pitchFamily="34" charset="-122"/>
              <a:cs typeface="微软雅黑" panose="020B0503020204020204" pitchFamily="34" charset="-122"/>
            </a:endParaRPr>
          </a:p>
          <a:p>
            <a:pPr marL="0" indent="0" algn="just">
              <a:buNone/>
            </a:pPr>
            <a:r>
              <a:rPr lang="zh-CN" sz="1300" b="1">
                <a:solidFill>
                  <a:srgbClr val="333333"/>
                </a:solidFill>
                <a:latin typeface="微软雅黑" panose="020B0503020204020204" pitchFamily="34" charset="-122"/>
                <a:ea typeface="微软雅黑" panose="020B0503020204020204" pitchFamily="34" charset="-122"/>
                <a:cs typeface="微软雅黑" panose="020B0503020204020204" pitchFamily="34" charset="-122"/>
              </a:rPr>
              <a:t>学完你将能够：</a:t>
            </a:r>
            <a:endParaRPr lang="zh-CN" sz="1300" b="1">
              <a:solidFill>
                <a:srgbClr val="333333"/>
              </a:solidFill>
              <a:latin typeface="微软雅黑" panose="020B0503020204020204" pitchFamily="34" charset="-122"/>
              <a:ea typeface="微软雅黑" panose="020B0503020204020204" pitchFamily="34" charset="-122"/>
              <a:cs typeface="微软雅黑" panose="020B0503020204020204" pitchFamily="34" charset="-122"/>
            </a:endParaRPr>
          </a:p>
          <a:p>
            <a:pPr algn="just"/>
            <a:r>
              <a:rPr lang="en-US" sz="1300" b="0">
                <a:solidFill>
                  <a:srgbClr val="333333"/>
                </a:solidFill>
                <a:latin typeface="微软雅黑" panose="020B0503020204020204" pitchFamily="34" charset="-122"/>
                <a:ea typeface="微软雅黑" panose="020B0503020204020204" pitchFamily="34" charset="-122"/>
                <a:cs typeface="微软雅黑" panose="020B0503020204020204" pitchFamily="34" charset="-122"/>
              </a:rPr>
              <a:t> </a:t>
            </a:r>
            <a:r>
              <a:rPr lang="zh-CN" sz="1300" b="0">
                <a:solidFill>
                  <a:srgbClr val="333333"/>
                </a:solidFill>
                <a:latin typeface="微软雅黑" panose="020B0503020204020204" pitchFamily="34" charset="-122"/>
                <a:ea typeface="微软雅黑" panose="020B0503020204020204" pitchFamily="34" charset="-122"/>
                <a:cs typeface="微软雅黑" panose="020B0503020204020204" pitchFamily="34" charset="-122"/>
              </a:rPr>
              <a:t>1. 理解 AI 数学本质（模型 = 参数化函数，计算图 = 算子组合）</a:t>
            </a:r>
            <a:endParaRPr lang="zh-CN" sz="1300" b="0">
              <a:solidFill>
                <a:srgbClr val="333333"/>
              </a:solidFill>
              <a:latin typeface="微软雅黑" panose="020B0503020204020204" pitchFamily="34" charset="-122"/>
              <a:ea typeface="微软雅黑" panose="020B0503020204020204" pitchFamily="34" charset="-122"/>
              <a:cs typeface="微软雅黑" panose="020B0503020204020204" pitchFamily="34" charset="-122"/>
            </a:endParaRPr>
          </a:p>
          <a:p>
            <a:pPr algn="just"/>
            <a:r>
              <a:rPr lang="en-US" sz="1300" b="0">
                <a:solidFill>
                  <a:srgbClr val="333333"/>
                </a:solidFill>
                <a:latin typeface="微软雅黑" panose="020B0503020204020204" pitchFamily="34" charset="-122"/>
                <a:ea typeface="微软雅黑" panose="020B0503020204020204" pitchFamily="34" charset="-122"/>
                <a:cs typeface="微软雅黑" panose="020B0503020204020204" pitchFamily="34" charset="-122"/>
              </a:rPr>
              <a:t> </a:t>
            </a:r>
            <a:r>
              <a:rPr lang="zh-CN" sz="1300" b="0">
                <a:solidFill>
                  <a:srgbClr val="333333"/>
                </a:solidFill>
                <a:latin typeface="微软雅黑" panose="020B0503020204020204" pitchFamily="34" charset="-122"/>
                <a:ea typeface="微软雅黑" panose="020B0503020204020204" pitchFamily="34" charset="-122"/>
                <a:cs typeface="微软雅黑" panose="020B0503020204020204" pitchFamily="34" charset="-122"/>
              </a:rPr>
              <a:t>2. 理解 NPU 硬件架构（DaVinci，Cube/Vector/Scalar 分工）</a:t>
            </a:r>
            <a:endParaRPr lang="zh-CN" sz="1300" b="0">
              <a:solidFill>
                <a:srgbClr val="333333"/>
              </a:solidFill>
              <a:latin typeface="微软雅黑" panose="020B0503020204020204" pitchFamily="34" charset="-122"/>
              <a:ea typeface="微软雅黑" panose="020B0503020204020204" pitchFamily="34" charset="-122"/>
              <a:cs typeface="微软雅黑" panose="020B0503020204020204" pitchFamily="34" charset="-122"/>
            </a:endParaRPr>
          </a:p>
          <a:p>
            <a:pPr algn="just"/>
            <a:r>
              <a:rPr lang="en-US" sz="1300" b="0">
                <a:solidFill>
                  <a:srgbClr val="333333"/>
                </a:solidFill>
                <a:latin typeface="微软雅黑" panose="020B0503020204020204" pitchFamily="34" charset="-122"/>
                <a:ea typeface="微软雅黑" panose="020B0503020204020204" pitchFamily="34" charset="-122"/>
                <a:cs typeface="微软雅黑" panose="020B0503020204020204" pitchFamily="34" charset="-122"/>
              </a:rPr>
              <a:t> </a:t>
            </a:r>
            <a:r>
              <a:rPr lang="zh-CN" sz="1300" b="0">
                <a:solidFill>
                  <a:srgbClr val="333333"/>
                </a:solidFill>
                <a:latin typeface="微软雅黑" panose="020B0503020204020204" pitchFamily="34" charset="-122"/>
                <a:ea typeface="微软雅黑" panose="020B0503020204020204" pitchFamily="34" charset="-122"/>
                <a:cs typeface="微软雅黑" panose="020B0503020204020204" pitchFamily="34" charset="-122"/>
              </a:rPr>
              <a:t>3. 理解 CANN 软件栈（从 torch_npu 框架适配到驱动）</a:t>
            </a:r>
            <a:endParaRPr lang="zh-CN" sz="1300" b="0">
              <a:solidFill>
                <a:srgbClr val="333333"/>
              </a:solidFill>
              <a:latin typeface="微软雅黑" panose="020B0503020204020204" pitchFamily="34" charset="-122"/>
              <a:ea typeface="微软雅黑" panose="020B0503020204020204" pitchFamily="34" charset="-122"/>
              <a:cs typeface="微软雅黑" panose="020B0503020204020204" pitchFamily="34" charset="-122"/>
            </a:endParaRPr>
          </a:p>
          <a:p>
            <a:pPr algn="just"/>
            <a:r>
              <a:rPr lang="en-US" sz="1300" b="0">
                <a:solidFill>
                  <a:srgbClr val="333333"/>
                </a:solidFill>
                <a:latin typeface="微软雅黑" panose="020B0503020204020204" pitchFamily="34" charset="-122"/>
                <a:ea typeface="微软雅黑" panose="020B0503020204020204" pitchFamily="34" charset="-122"/>
                <a:cs typeface="微软雅黑" panose="020B0503020204020204" pitchFamily="34" charset="-122"/>
              </a:rPr>
              <a:t> 4. </a:t>
            </a:r>
            <a:r>
              <a:rPr lang="zh-CN" altLang="en-US" sz="130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mn-ea"/>
              </a:rPr>
              <a:t>理解</a:t>
            </a:r>
            <a:r>
              <a:rPr lang="en-US" altLang="zh-CN" sz="130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sz="130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mn-ea"/>
              </a:rPr>
              <a:t>张量运算、矩阵乘法、Batch 运算、卷积加速</a:t>
            </a:r>
            <a:endParaRPr lang="zh-CN" sz="1300" b="0">
              <a:solidFill>
                <a:srgbClr val="333333"/>
              </a:solidFill>
              <a:latin typeface="微软雅黑" panose="020B0503020204020204" pitchFamily="34" charset="-122"/>
              <a:ea typeface="微软雅黑" panose="020B0503020204020204" pitchFamily="34" charset="-122"/>
              <a:cs typeface="微软雅黑" panose="020B0503020204020204" pitchFamily="34" charset="-122"/>
            </a:endParaRPr>
          </a:p>
          <a:p>
            <a:pPr marL="0" indent="0" algn="just">
              <a:buNone/>
            </a:pPr>
            <a:r>
              <a:rPr lang="zh-CN" sz="1300" b="1">
                <a:solidFill>
                  <a:srgbClr val="333333"/>
                </a:solidFill>
                <a:latin typeface="微软雅黑" panose="020B0503020204020204" pitchFamily="34" charset="-122"/>
                <a:ea typeface="微软雅黑" panose="020B0503020204020204" pitchFamily="34" charset="-122"/>
                <a:cs typeface="微软雅黑" panose="020B0503020204020204" pitchFamily="34" charset="-122"/>
              </a:rPr>
              <a:t>学习建议：</a:t>
            </a:r>
            <a:r>
              <a:rPr lang="zh-CN" sz="1300" b="0">
                <a:solidFill>
                  <a:srgbClr val="333333"/>
                </a:solidFill>
                <a:latin typeface="微软雅黑" panose="020B0503020204020204" pitchFamily="34" charset="-122"/>
                <a:ea typeface="微软雅黑" panose="020B0503020204020204" pitchFamily="34" charset="-122"/>
                <a:cs typeface="微软雅黑" panose="020B0503020204020204" pitchFamily="34" charset="-122"/>
              </a:rPr>
              <a:t>按顺序学习，每课承上启下；在 NPU 环境下运行代码段边学边练</a:t>
            </a:r>
            <a:endParaRPr kumimoji="0" lang="en-US" altLang="zh-CN" sz="1300" b="0" i="0" u="none" strike="noStrike" kern="1200" cap="none" spc="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549296" y="2601035"/>
            <a:ext cx="3380868" cy="835742"/>
          </a:xfrm>
          <a:prstGeom prst="rect">
            <a:avLst/>
          </a:prstGeom>
          <a:solidFill>
            <a:srgbClr val="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8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目录</a:t>
            </a:r>
            <a:endParaRPr kumimoji="0" lang="zh-CN" altLang="en-US" sz="48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2" name="矩形 11"/>
          <p:cNvSpPr/>
          <p:nvPr/>
        </p:nvSpPr>
        <p:spPr>
          <a:xfrm>
            <a:off x="4417408" y="1325296"/>
            <a:ext cx="6480000" cy="360000"/>
          </a:xfrm>
          <a:prstGeom prst="rect">
            <a:avLst/>
          </a:prstGeom>
          <a:solidFill>
            <a:srgbClr val="C00000"/>
          </a:solidFill>
          <a:ln w="9525" cap="flat" cmpd="sng" algn="ctr">
            <a:solidFill>
              <a:srgbClr val="FFFFFF">
                <a:lumMod val="65000"/>
              </a:srgbClr>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indent="0" algn="ctr" defTabSz="0" rtl="0" eaLnBrk="1" latinLnBrk="0" hangingPunct="1">
              <a:spcBef>
                <a:spcPct val="0"/>
              </a:spcBef>
              <a:spcAft>
                <a:spcPct val="0"/>
              </a:spcAft>
              <a:buNone/>
            </a:pPr>
            <a:r>
              <a:rPr lang="en-US" altLang="zh-CN" sz="2400" kern="0" dirty="0">
                <a:solidFill>
                  <a:prstClr val="white"/>
                </a:solidFill>
                <a:latin typeface="微软雅黑" panose="020B0503020204020204" pitchFamily="34" charset="-122"/>
                <a:ea typeface="微软雅黑" panose="020B0503020204020204" pitchFamily="34" charset="-122"/>
              </a:rPr>
              <a:t>Part 1 人工智能基础</a:t>
            </a:r>
            <a:endParaRPr lang="en-US" altLang="zh-CN" sz="2400" kern="0" dirty="0">
              <a:solidFill>
                <a:prstClr val="white"/>
              </a:solidFill>
              <a:latin typeface="微软雅黑" panose="020B0503020204020204" pitchFamily="34" charset="-122"/>
              <a:ea typeface="微软雅黑" panose="020B0503020204020204" pitchFamily="34" charset="-122"/>
            </a:endParaRPr>
          </a:p>
        </p:txBody>
      </p:sp>
      <p:cxnSp>
        <p:nvCxnSpPr>
          <p:cNvPr id="15" name="í$ľidè"/>
          <p:cNvCxnSpPr/>
          <p:nvPr/>
        </p:nvCxnSpPr>
        <p:spPr>
          <a:xfrm>
            <a:off x="3930164" y="898497"/>
            <a:ext cx="0" cy="4788143"/>
          </a:xfrm>
          <a:prstGeom prst="line">
            <a:avLst/>
          </a:prstGeom>
          <a:solidFill>
            <a:srgbClr val="FFCC00"/>
          </a:solidFill>
          <a:ln w="12700" cap="flat" cmpd="sng" algn="ctr">
            <a:solidFill>
              <a:schemeClr val="bg1">
                <a:lumMod val="65000"/>
              </a:schemeClr>
            </a:solidFill>
            <a:prstDash val="solid"/>
            <a:round/>
            <a:headEnd type="none" w="med" len="med"/>
            <a:tailEnd type="none" w="med" len="med"/>
          </a:ln>
          <a:effectLst/>
        </p:spPr>
      </p:cxnSp>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139425" y="6042990"/>
            <a:ext cx="1312676" cy="348426"/>
          </a:xfrm>
          <a:prstGeom prst="rect">
            <a:avLst/>
          </a:prstGeom>
        </p:spPr>
      </p:pic>
      <p:sp>
        <p:nvSpPr>
          <p:cNvPr id="11" name="矩形 10"/>
          <p:cNvSpPr/>
          <p:nvPr/>
        </p:nvSpPr>
        <p:spPr>
          <a:xfrm>
            <a:off x="4417408" y="2370634"/>
            <a:ext cx="6480000" cy="360000"/>
          </a:xfrm>
          <a:prstGeom prst="rect">
            <a:avLst/>
          </a:prstGeom>
          <a:solidFill>
            <a:srgbClr val="FFFFFF">
              <a:lumMod val="95000"/>
            </a:srgbClr>
          </a:solidFill>
          <a:ln w="9525" cap="flat" cmpd="sng" algn="ctr">
            <a:solidFill>
              <a:srgbClr val="FFFFFF">
                <a:lumMod val="65000"/>
              </a:srgbClr>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indent="0" algn="ctr" defTabSz="0" rtl="0" eaLnBrk="1" fontAlgn="auto" latinLnBrk="0" hangingPunct="1">
              <a:lnSpc>
                <a:spcPct val="100000"/>
              </a:lnSpc>
              <a:spcBef>
                <a:spcPts val="0"/>
              </a:spcBef>
              <a:spcAft>
                <a:spcPts val="0"/>
              </a:spcAft>
              <a:buSzTx/>
              <a:buNone/>
            </a:pPr>
            <a:r>
              <a:rPr lang="en-US" altLang="zh-CN" sz="2400" kern="0" noProof="0" dirty="0">
                <a:ln>
                  <a:noFill/>
                </a:ln>
                <a:solidFill>
                  <a:srgbClr val="FFFFFF">
                    <a:lumMod val="75000"/>
                  </a:srgbClr>
                </a:solidFill>
                <a:effectLst/>
                <a:uLnTx/>
                <a:uFillTx/>
                <a:latin typeface="微软雅黑" panose="020B0503020204020204" pitchFamily="34" charset="-122"/>
                <a:ea typeface="微软雅黑" panose="020B0503020204020204" pitchFamily="34" charset="-122"/>
              </a:rPr>
              <a:t>Part 2 什么是NPU</a:t>
            </a:r>
            <a:endParaRPr lang="en-US" altLang="zh-CN" sz="2400" kern="0" noProof="0" dirty="0">
              <a:ln>
                <a:noFill/>
              </a:ln>
              <a:solidFill>
                <a:srgbClr val="FFFFFF">
                  <a:lumMod val="75000"/>
                </a:srgbClr>
              </a:solidFill>
              <a:effectLst/>
              <a:uLnTx/>
              <a:uFillTx/>
              <a:latin typeface="微软雅黑" panose="020B0503020204020204" pitchFamily="34" charset="-122"/>
              <a:ea typeface="微软雅黑" panose="020B0503020204020204" pitchFamily="34" charset="-122"/>
            </a:endParaRPr>
          </a:p>
        </p:txBody>
      </p:sp>
      <p:sp>
        <p:nvSpPr>
          <p:cNvPr id="16" name="矩形 15"/>
          <p:cNvSpPr/>
          <p:nvPr/>
        </p:nvSpPr>
        <p:spPr>
          <a:xfrm>
            <a:off x="4417409" y="4461310"/>
            <a:ext cx="6480000" cy="360000"/>
          </a:xfrm>
          <a:prstGeom prst="rect">
            <a:avLst/>
          </a:prstGeom>
          <a:solidFill>
            <a:srgbClr val="FFFFFF">
              <a:lumMod val="95000"/>
            </a:srgbClr>
          </a:solidFill>
          <a:ln w="9525" cap="flat" cmpd="sng" algn="ctr">
            <a:solidFill>
              <a:srgbClr val="FFFFFF">
                <a:lumMod val="65000"/>
              </a:srgbClr>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dirty="0">
                <a:ln>
                  <a:noFill/>
                </a:ln>
                <a:solidFill>
                  <a:srgbClr val="FFFFFF">
                    <a:lumMod val="75000"/>
                  </a:srgbClr>
                </a:solidFill>
                <a:effectLst/>
                <a:uLnTx/>
                <a:uFillTx/>
                <a:latin typeface="微软雅黑" panose="020B0503020204020204" pitchFamily="34" charset="-122"/>
                <a:ea typeface="微软雅黑" panose="020B0503020204020204" pitchFamily="34" charset="-122"/>
                <a:cs typeface="+mn-cs"/>
              </a:rPr>
              <a:t>Part 4 NPU 实践</a:t>
            </a:r>
            <a:endParaRPr kumimoji="0" lang="zh-CN" altLang="en-US" sz="2400" b="0" i="0" u="none" strike="noStrike" kern="0" cap="none" spc="0" normalizeH="0" baseline="0" noProof="0" dirty="0">
              <a:ln>
                <a:noFill/>
              </a:ln>
              <a:solidFill>
                <a:srgbClr val="FFFFFF">
                  <a:lumMod val="75000"/>
                </a:srgbClr>
              </a:solidFill>
              <a:effectLst/>
              <a:uLnTx/>
              <a:uFillTx/>
              <a:latin typeface="微软雅黑" panose="020B0503020204020204" pitchFamily="34" charset="-122"/>
              <a:ea typeface="微软雅黑" panose="020B0503020204020204" pitchFamily="34" charset="-122"/>
              <a:cs typeface="+mn-cs"/>
            </a:endParaRPr>
          </a:p>
        </p:txBody>
      </p:sp>
      <p:sp>
        <p:nvSpPr>
          <p:cNvPr id="9" name="矩形 8"/>
          <p:cNvSpPr/>
          <p:nvPr/>
        </p:nvSpPr>
        <p:spPr>
          <a:xfrm>
            <a:off x="4417408" y="3415972"/>
            <a:ext cx="6480000" cy="360000"/>
          </a:xfrm>
          <a:prstGeom prst="rect">
            <a:avLst/>
          </a:prstGeom>
          <a:solidFill>
            <a:srgbClr val="FFFFFF">
              <a:lumMod val="95000"/>
            </a:srgbClr>
          </a:solidFill>
          <a:ln w="9525" cap="flat" cmpd="sng" algn="ctr">
            <a:solidFill>
              <a:srgbClr val="FFFFFF">
                <a:lumMod val="65000"/>
              </a:srgbClr>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dirty="0">
                <a:ln>
                  <a:noFill/>
                </a:ln>
                <a:solidFill>
                  <a:srgbClr val="FFFFFF">
                    <a:lumMod val="75000"/>
                  </a:srgbClr>
                </a:solidFill>
                <a:effectLst/>
                <a:uLnTx/>
                <a:uFillTx/>
                <a:latin typeface="微软雅黑" panose="020B0503020204020204" pitchFamily="34" charset="-122"/>
                <a:ea typeface="微软雅黑" panose="020B0503020204020204" pitchFamily="34" charset="-122"/>
                <a:cs typeface="+mn-cs"/>
              </a:rPr>
              <a:t>Part 3 </a:t>
            </a:r>
            <a:r>
              <a:rPr kumimoji="0" lang="zh-CN" altLang="en-US" sz="2400" b="0" i="0" u="none" strike="noStrike" kern="0" cap="none" spc="0" normalizeH="0" baseline="0" noProof="0" dirty="0">
                <a:ln>
                  <a:noFill/>
                </a:ln>
                <a:solidFill>
                  <a:srgbClr val="FFFFFF">
                    <a:lumMod val="75000"/>
                  </a:srgbClr>
                </a:solidFill>
                <a:effectLst/>
                <a:uLnTx/>
                <a:uFillTx/>
                <a:latin typeface="微软雅黑" panose="020B0503020204020204" pitchFamily="34" charset="-122"/>
                <a:ea typeface="微软雅黑" panose="020B0503020204020204" pitchFamily="34" charset="-122"/>
                <a:cs typeface="+mn-cs"/>
              </a:rPr>
              <a:t>什么是</a:t>
            </a:r>
            <a:r>
              <a:rPr kumimoji="0" lang="en-US" altLang="zh-CN" sz="2400" b="0" i="0" u="none" strike="noStrike" kern="0" cap="none" spc="0" normalizeH="0" baseline="0" noProof="0" dirty="0">
                <a:ln>
                  <a:noFill/>
                </a:ln>
                <a:solidFill>
                  <a:srgbClr val="FFFFFF">
                    <a:lumMod val="75000"/>
                  </a:srgbClr>
                </a:solidFill>
                <a:effectLst/>
                <a:uLnTx/>
                <a:uFillTx/>
                <a:latin typeface="微软雅黑" panose="020B0503020204020204" pitchFamily="34" charset="-122"/>
                <a:ea typeface="微软雅黑" panose="020B0503020204020204" pitchFamily="34" charset="-122"/>
                <a:cs typeface="+mn-cs"/>
              </a:rPr>
              <a:t>CANN</a:t>
            </a:r>
            <a:endParaRPr kumimoji="0" lang="zh-CN" altLang="en-US" sz="2400" b="0" i="0" u="none" strike="noStrike" kern="0" cap="none" spc="0" normalizeH="0" baseline="0" noProof="0" dirty="0">
              <a:ln>
                <a:noFill/>
              </a:ln>
              <a:solidFill>
                <a:srgbClr val="FFFFFF">
                  <a:lumMod val="75000"/>
                </a:srgbClr>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99780" y="374831"/>
            <a:ext cx="10720690" cy="430887"/>
          </a:xfrm>
          <a:prstGeom prst="rect">
            <a:avLst/>
          </a:prstGeom>
          <a:noFill/>
        </p:spPr>
        <p:txBody>
          <a:bodyPr wrap="square" lIns="0" tIns="0" rIns="0" bIns="0" rtlCol="0">
            <a:spAutoFit/>
          </a:bodyPr>
          <a:lstStyle/>
          <a:p>
            <a:pPr marL="0" marR="0" lvl="0" defTabSz="914400" rtl="0" eaLnBrk="1" fontAlgn="auto" latinLnBrk="0" hangingPunct="1">
              <a:lnSpc>
                <a:spcPct val="100000"/>
              </a:lnSpc>
              <a:spcBef>
                <a:spcPts val="0"/>
              </a:spcBef>
              <a:spcAft>
                <a:spcPts val="0"/>
              </a:spcAft>
              <a:buClrTx/>
              <a:buSzTx/>
              <a:buFontTx/>
              <a:buNone/>
              <a:defRPr/>
            </a:pPr>
            <a:r>
              <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人工智能发展：从“感知理解世界” 向“生成创造世界”延展</a:t>
            </a:r>
            <a:endPar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p:txBody>
      </p:sp>
      <p:grpSp>
        <p:nvGrpSpPr>
          <p:cNvPr id="9" name="组合 8"/>
          <p:cNvGrpSpPr/>
          <p:nvPr/>
        </p:nvGrpSpPr>
        <p:grpSpPr>
          <a:xfrm>
            <a:off x="1076293" y="1270745"/>
            <a:ext cx="10786931" cy="4622005"/>
            <a:chOff x="1076293" y="1309437"/>
            <a:chExt cx="10786931" cy="4622005"/>
          </a:xfrm>
        </p:grpSpPr>
        <p:sp>
          <p:nvSpPr>
            <p:cNvPr id="10" name="Freeform 10"/>
            <p:cNvSpPr/>
            <p:nvPr/>
          </p:nvSpPr>
          <p:spPr bwMode="auto">
            <a:xfrm>
              <a:off x="1889156" y="3071762"/>
              <a:ext cx="7290592" cy="2254668"/>
            </a:xfrm>
            <a:custGeom>
              <a:avLst/>
              <a:gdLst>
                <a:gd name="T0" fmla="*/ 3487 w 3487"/>
                <a:gd name="T1" fmla="*/ 0 h 1076"/>
                <a:gd name="T2" fmla="*/ 3487 w 3487"/>
                <a:gd name="T3" fmla="*/ 1037 h 1076"/>
                <a:gd name="T4" fmla="*/ 0 w 3487"/>
                <a:gd name="T5" fmla="*/ 1037 h 1076"/>
                <a:gd name="T6" fmla="*/ 0 w 3487"/>
                <a:gd name="T7" fmla="*/ 887 h 1076"/>
                <a:gd name="T8" fmla="*/ 517 w 3487"/>
                <a:gd name="T9" fmla="*/ 766 h 1076"/>
                <a:gd name="T10" fmla="*/ 929 w 3487"/>
                <a:gd name="T11" fmla="*/ 310 h 1076"/>
                <a:gd name="T12" fmla="*/ 1305 w 3487"/>
                <a:gd name="T13" fmla="*/ 569 h 1076"/>
                <a:gd name="T14" fmla="*/ 1733 w 3487"/>
                <a:gd name="T15" fmla="*/ 397 h 1076"/>
                <a:gd name="T16" fmla="*/ 2610 w 3487"/>
                <a:gd name="T17" fmla="*/ 85 h 1076"/>
                <a:gd name="T18" fmla="*/ 3467 w 3487"/>
                <a:gd name="T19" fmla="*/ 7 h 1076"/>
                <a:gd name="T20" fmla="*/ 3487 w 3487"/>
                <a:gd name="T21" fmla="*/ 0 h 10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87" h="1076">
                  <a:moveTo>
                    <a:pt x="3487" y="0"/>
                  </a:moveTo>
                  <a:cubicBezTo>
                    <a:pt x="3487" y="1037"/>
                    <a:pt x="3487" y="1037"/>
                    <a:pt x="3487" y="1037"/>
                  </a:cubicBezTo>
                  <a:cubicBezTo>
                    <a:pt x="0" y="1037"/>
                    <a:pt x="0" y="1037"/>
                    <a:pt x="0" y="1037"/>
                  </a:cubicBezTo>
                  <a:cubicBezTo>
                    <a:pt x="0" y="887"/>
                    <a:pt x="0" y="887"/>
                    <a:pt x="0" y="887"/>
                  </a:cubicBezTo>
                  <a:cubicBezTo>
                    <a:pt x="0" y="887"/>
                    <a:pt x="297" y="1076"/>
                    <a:pt x="517" y="766"/>
                  </a:cubicBezTo>
                  <a:cubicBezTo>
                    <a:pt x="737" y="456"/>
                    <a:pt x="825" y="310"/>
                    <a:pt x="929" y="310"/>
                  </a:cubicBezTo>
                  <a:cubicBezTo>
                    <a:pt x="1033" y="310"/>
                    <a:pt x="1199" y="555"/>
                    <a:pt x="1305" y="569"/>
                  </a:cubicBezTo>
                  <a:cubicBezTo>
                    <a:pt x="1405" y="583"/>
                    <a:pt x="1484" y="560"/>
                    <a:pt x="1733" y="397"/>
                  </a:cubicBezTo>
                  <a:cubicBezTo>
                    <a:pt x="1983" y="234"/>
                    <a:pt x="2308" y="109"/>
                    <a:pt x="2610" y="85"/>
                  </a:cubicBezTo>
                  <a:cubicBezTo>
                    <a:pt x="2919" y="61"/>
                    <a:pt x="3293" y="68"/>
                    <a:pt x="3467" y="7"/>
                  </a:cubicBezTo>
                  <a:cubicBezTo>
                    <a:pt x="3473" y="5"/>
                    <a:pt x="3480" y="2"/>
                    <a:pt x="3487" y="0"/>
                  </a:cubicBezTo>
                  <a:close/>
                </a:path>
              </a:pathLst>
            </a:custGeom>
            <a:gradFill>
              <a:gsLst>
                <a:gs pos="0">
                  <a:srgbClr val="C00000">
                    <a:alpha val="15000"/>
                  </a:srgbClr>
                </a:gs>
                <a:gs pos="100000">
                  <a:srgbClr val="C00000">
                    <a:alpha val="0"/>
                  </a:srgbClr>
                </a:gs>
              </a:gsLst>
              <a:lin ang="5400000" scaled="0"/>
            </a:gradFill>
            <a:ln>
              <a:noFill/>
            </a:ln>
          </p:spPr>
          <p:txBody>
            <a:bodyPr vert="horz" wrap="square" lIns="91404" tIns="45702" rIns="91404" bIns="45702"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1D1D1A"/>
                </a:solidFill>
                <a:effectLst/>
                <a:uLnTx/>
                <a:uFillTx/>
                <a:latin typeface="Huawei Sans" panose="020B0A04020102020204"/>
                <a:ea typeface="微软雅黑" panose="020B0503020204020204" pitchFamily="34" charset="-122"/>
                <a:cs typeface="+mn-cs"/>
                <a:sym typeface="Arial" panose="020B0604020202020204" pitchFamily="34" charset="0"/>
              </a:endParaRPr>
            </a:p>
          </p:txBody>
        </p:sp>
        <p:sp>
          <p:nvSpPr>
            <p:cNvPr id="11" name="Freeform 14"/>
            <p:cNvSpPr/>
            <p:nvPr/>
          </p:nvSpPr>
          <p:spPr bwMode="auto">
            <a:xfrm>
              <a:off x="9179748" y="2124374"/>
              <a:ext cx="1053119" cy="3141402"/>
            </a:xfrm>
            <a:custGeom>
              <a:avLst/>
              <a:gdLst>
                <a:gd name="T0" fmla="*/ 494 w 494"/>
                <a:gd name="T1" fmla="*/ 0 h 1478"/>
                <a:gd name="T2" fmla="*/ 494 w 494"/>
                <a:gd name="T3" fmla="*/ 1478 h 1478"/>
                <a:gd name="T4" fmla="*/ 0 w 494"/>
                <a:gd name="T5" fmla="*/ 1478 h 1478"/>
                <a:gd name="T6" fmla="*/ 0 w 494"/>
                <a:gd name="T7" fmla="*/ 441 h 1478"/>
                <a:gd name="T8" fmla="*/ 494 w 494"/>
                <a:gd name="T9" fmla="*/ 0 h 1478"/>
              </a:gdLst>
              <a:ahLst/>
              <a:cxnLst>
                <a:cxn ang="0">
                  <a:pos x="T0" y="T1"/>
                </a:cxn>
                <a:cxn ang="0">
                  <a:pos x="T2" y="T3"/>
                </a:cxn>
                <a:cxn ang="0">
                  <a:pos x="T4" y="T5"/>
                </a:cxn>
                <a:cxn ang="0">
                  <a:pos x="T6" y="T7"/>
                </a:cxn>
                <a:cxn ang="0">
                  <a:pos x="T8" y="T9"/>
                </a:cxn>
              </a:cxnLst>
              <a:rect l="0" t="0" r="r" b="b"/>
              <a:pathLst>
                <a:path w="494" h="1478">
                  <a:moveTo>
                    <a:pt x="494" y="0"/>
                  </a:moveTo>
                  <a:cubicBezTo>
                    <a:pt x="494" y="1478"/>
                    <a:pt x="494" y="1478"/>
                    <a:pt x="494" y="1478"/>
                  </a:cubicBezTo>
                  <a:cubicBezTo>
                    <a:pt x="0" y="1478"/>
                    <a:pt x="0" y="1478"/>
                    <a:pt x="0" y="1478"/>
                  </a:cubicBezTo>
                  <a:cubicBezTo>
                    <a:pt x="0" y="441"/>
                    <a:pt x="0" y="441"/>
                    <a:pt x="0" y="441"/>
                  </a:cubicBezTo>
                  <a:cubicBezTo>
                    <a:pt x="172" y="378"/>
                    <a:pt x="412" y="253"/>
                    <a:pt x="494" y="0"/>
                  </a:cubicBezTo>
                  <a:close/>
                </a:path>
              </a:pathLst>
            </a:custGeom>
            <a:gradFill>
              <a:gsLst>
                <a:gs pos="0">
                  <a:srgbClr val="0070C0">
                    <a:alpha val="20000"/>
                  </a:srgbClr>
                </a:gs>
                <a:gs pos="100000">
                  <a:srgbClr val="0070C0">
                    <a:alpha val="0"/>
                  </a:srgbClr>
                </a:gs>
              </a:gsLst>
              <a:lin ang="5400000" scaled="0"/>
            </a:gradFill>
            <a:ln>
              <a:noFill/>
            </a:ln>
          </p:spPr>
          <p:txBody>
            <a:bodyPr vert="horz" wrap="square" lIns="91404" tIns="45702" rIns="91404" bIns="45702"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1D1D1A"/>
                </a:solidFill>
                <a:effectLst/>
                <a:uLnTx/>
                <a:uFillTx/>
                <a:latin typeface="Huawei Sans" panose="020B0A04020102020204"/>
                <a:ea typeface="微软雅黑" panose="020B0503020204020204" pitchFamily="34" charset="-122"/>
                <a:cs typeface="+mn-cs"/>
                <a:sym typeface="Arial" panose="020B0604020202020204" pitchFamily="34" charset="0"/>
              </a:endParaRPr>
            </a:p>
          </p:txBody>
        </p:sp>
        <p:cxnSp>
          <p:nvCxnSpPr>
            <p:cNvPr id="12" name="直接连接符 60"/>
            <p:cNvCxnSpPr/>
            <p:nvPr/>
          </p:nvCxnSpPr>
          <p:spPr>
            <a:xfrm>
              <a:off x="7363642" y="1820986"/>
              <a:ext cx="0" cy="3384000"/>
            </a:xfrm>
            <a:prstGeom prst="line">
              <a:avLst/>
            </a:prstGeom>
            <a:noFill/>
            <a:ln w="6350" cap="flat" cmpd="sng" algn="ctr">
              <a:solidFill>
                <a:srgbClr val="666666"/>
              </a:solidFill>
              <a:prstDash val="dash"/>
              <a:miter lim="800000"/>
            </a:ln>
            <a:effectLst/>
          </p:spPr>
        </p:cxnSp>
        <p:sp>
          <p:nvSpPr>
            <p:cNvPr id="13" name="矩形 12"/>
            <p:cNvSpPr/>
            <p:nvPr/>
          </p:nvSpPr>
          <p:spPr>
            <a:xfrm>
              <a:off x="3877795" y="1309437"/>
              <a:ext cx="1477378" cy="276999"/>
            </a:xfrm>
            <a:prstGeom prst="rect">
              <a:avLst/>
            </a:prstGeom>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dirty="0">
                  <a:ln>
                    <a:noFill/>
                  </a:ln>
                  <a:solidFill>
                    <a:srgbClr val="C00000"/>
                  </a:solidFill>
                  <a:effectLst/>
                  <a:uLnTx/>
                  <a:uFillTx/>
                  <a:latin typeface="Huawei Sans" panose="020B0A04020102020204"/>
                  <a:ea typeface="微软雅黑" panose="020B0503020204020204" pitchFamily="34" charset="-122"/>
                  <a:cs typeface="FZLanTingHeiS-B-GB"/>
                  <a:sym typeface="Arial" panose="020B0604020202020204" pitchFamily="34" charset="0"/>
                </a:rPr>
                <a:t>感知理解</a:t>
              </a:r>
              <a:r>
                <a:rPr kumimoji="0" lang="zh-CN" altLang="en-US" sz="1800" b="1" i="0" u="none" strike="noStrike" kern="0" cap="none" spc="0" normalizeH="0" baseline="0" noProof="0" dirty="0">
                  <a:ln>
                    <a:noFill/>
                  </a:ln>
                  <a:solidFill>
                    <a:srgbClr val="1D1D1A"/>
                  </a:solidFill>
                  <a:effectLst/>
                  <a:uLnTx/>
                  <a:uFillTx/>
                  <a:latin typeface="Huawei Sans" panose="020B0A04020102020204"/>
                  <a:ea typeface="微软雅黑" panose="020B0503020204020204" pitchFamily="34" charset="-122"/>
                  <a:cs typeface="FZLanTingHeiS-B-GB"/>
                  <a:sym typeface="Arial" panose="020B0604020202020204" pitchFamily="34" charset="0"/>
                </a:rPr>
                <a:t>世界</a:t>
              </a:r>
              <a:endParaRPr kumimoji="0" lang="zh-CN" altLang="en-US" sz="1800" b="1" i="0" u="none" strike="noStrike" kern="0" cap="none" spc="0" normalizeH="0" baseline="0" noProof="0" dirty="0">
                <a:ln>
                  <a:noFill/>
                </a:ln>
                <a:solidFill>
                  <a:srgbClr val="1D1D1A"/>
                </a:solidFill>
                <a:effectLst/>
                <a:uLnTx/>
                <a:uFillTx/>
                <a:latin typeface="Huawei Sans" panose="020B0A04020102020204"/>
                <a:ea typeface="微软雅黑" panose="020B0503020204020204" pitchFamily="34" charset="-122"/>
                <a:cs typeface="FZLanTingHeiS-B-GB"/>
                <a:sym typeface="Arial" panose="020B0604020202020204" pitchFamily="34" charset="0"/>
              </a:endParaRPr>
            </a:p>
          </p:txBody>
        </p:sp>
        <p:sp>
          <p:nvSpPr>
            <p:cNvPr id="14" name="矩形 13"/>
            <p:cNvSpPr/>
            <p:nvPr/>
          </p:nvSpPr>
          <p:spPr>
            <a:xfrm>
              <a:off x="8495346" y="1309437"/>
              <a:ext cx="1384995" cy="276999"/>
            </a:xfrm>
            <a:prstGeom prst="rect">
              <a:avLst/>
            </a:prstGeom>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dirty="0">
                  <a:ln>
                    <a:noFill/>
                  </a:ln>
                  <a:solidFill>
                    <a:srgbClr val="C00000"/>
                  </a:solidFill>
                  <a:effectLst/>
                  <a:uLnTx/>
                  <a:uFillTx/>
                  <a:latin typeface="Huawei Sans" panose="020B0A04020102020204"/>
                  <a:ea typeface="微软雅黑" panose="020B0503020204020204" pitchFamily="34" charset="-122"/>
                  <a:cs typeface="FZLanTingHeiS-B-GB"/>
                  <a:sym typeface="Arial" panose="020B0604020202020204" pitchFamily="34" charset="0"/>
                </a:rPr>
                <a:t>生成创造</a:t>
              </a:r>
              <a:r>
                <a:rPr kumimoji="0" lang="zh-CN" altLang="en-US" sz="1800" b="1" i="0" u="none" strike="noStrike" kern="0" cap="none" spc="0" normalizeH="0" baseline="0" noProof="0" dirty="0">
                  <a:ln>
                    <a:noFill/>
                  </a:ln>
                  <a:solidFill>
                    <a:srgbClr val="1D1D1A"/>
                  </a:solidFill>
                  <a:effectLst/>
                  <a:uLnTx/>
                  <a:uFillTx/>
                  <a:latin typeface="Huawei Sans" panose="020B0A04020102020204"/>
                  <a:ea typeface="微软雅黑" panose="020B0503020204020204" pitchFamily="34" charset="-122"/>
                  <a:cs typeface="FZLanTingHeiS-B-GB"/>
                  <a:sym typeface="Arial" panose="020B0604020202020204" pitchFamily="34" charset="0"/>
                </a:rPr>
                <a:t>世界</a:t>
              </a:r>
              <a:endParaRPr kumimoji="0" lang="zh-CN" altLang="en-US" sz="1800" b="1" i="0" u="none" strike="noStrike" kern="0" cap="none" spc="0" normalizeH="0" baseline="0" noProof="0" dirty="0">
                <a:ln>
                  <a:noFill/>
                </a:ln>
                <a:solidFill>
                  <a:srgbClr val="1D1D1A"/>
                </a:solidFill>
                <a:effectLst/>
                <a:uLnTx/>
                <a:uFillTx/>
                <a:latin typeface="Huawei Sans" panose="020B0A04020102020204"/>
                <a:ea typeface="微软雅黑" panose="020B0503020204020204" pitchFamily="34" charset="-122"/>
                <a:cs typeface="FZLanTingHeiS-B-GB"/>
                <a:sym typeface="Arial" panose="020B0604020202020204" pitchFamily="34" charset="0"/>
              </a:endParaRPr>
            </a:p>
          </p:txBody>
        </p:sp>
        <p:sp>
          <p:nvSpPr>
            <p:cNvPr id="15" name="矩形 14"/>
            <p:cNvSpPr/>
            <p:nvPr/>
          </p:nvSpPr>
          <p:spPr>
            <a:xfrm>
              <a:off x="4032991" y="1621133"/>
              <a:ext cx="1166986" cy="169277"/>
            </a:xfrm>
            <a:prstGeom prst="rect">
              <a:avLst/>
            </a:prstGeom>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0" cap="none" spc="0" normalizeH="0" baseline="0" noProof="0" dirty="0">
                  <a:ln>
                    <a:noFill/>
                  </a:ln>
                  <a:solidFill>
                    <a:srgbClr val="1D1D1A"/>
                  </a:solidFill>
                  <a:effectLst/>
                  <a:uLnTx/>
                  <a:uFillTx/>
                  <a:latin typeface="Huawei Sans" panose="020B0A04020102020204"/>
                  <a:ea typeface="微软雅黑" panose="020B0503020204020204" pitchFamily="34" charset="-122"/>
                  <a:cs typeface="+mn-cs"/>
                  <a:sym typeface="Arial" panose="020B0604020202020204" pitchFamily="34" charset="0"/>
                </a:rPr>
                <a:t>分析数据 给出建议</a:t>
              </a:r>
              <a:endParaRPr kumimoji="0" lang="zh-CN" altLang="en-US" sz="1100" b="0" i="0" u="none" strike="noStrike" kern="0" cap="none" spc="0" normalizeH="0" baseline="0" noProof="0" dirty="0">
                <a:ln>
                  <a:noFill/>
                </a:ln>
                <a:solidFill>
                  <a:srgbClr val="1D1D1A"/>
                </a:solidFill>
                <a:effectLst/>
                <a:uLnTx/>
                <a:uFillTx/>
                <a:latin typeface="Huawei Sans" panose="020B0A04020102020204"/>
                <a:ea typeface="微软雅黑" panose="020B0503020204020204" pitchFamily="34" charset="-122"/>
                <a:cs typeface="+mn-cs"/>
                <a:sym typeface="Arial" panose="020B0604020202020204" pitchFamily="34" charset="0"/>
              </a:endParaRPr>
            </a:p>
          </p:txBody>
        </p:sp>
        <p:sp>
          <p:nvSpPr>
            <p:cNvPr id="19" name="矩形 18"/>
            <p:cNvSpPr/>
            <p:nvPr/>
          </p:nvSpPr>
          <p:spPr>
            <a:xfrm>
              <a:off x="8604350" y="1621133"/>
              <a:ext cx="1166986" cy="169277"/>
            </a:xfrm>
            <a:prstGeom prst="rect">
              <a:avLst/>
            </a:prstGeom>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0" cap="none" spc="0" normalizeH="0" baseline="0" noProof="0" dirty="0">
                  <a:ln>
                    <a:noFill/>
                  </a:ln>
                  <a:solidFill>
                    <a:srgbClr val="1D1D1A"/>
                  </a:solidFill>
                  <a:effectLst/>
                  <a:uLnTx/>
                  <a:uFillTx/>
                  <a:latin typeface="Huawei Sans" panose="020B0A04020102020204"/>
                  <a:ea typeface="微软雅黑" panose="020B0503020204020204" pitchFamily="34" charset="-122"/>
                  <a:cs typeface="+mn-cs"/>
                  <a:sym typeface="Arial" panose="020B0604020202020204" pitchFamily="34" charset="0"/>
                </a:rPr>
                <a:t>合成数据 创造结果</a:t>
              </a:r>
              <a:endParaRPr kumimoji="0" lang="zh-CN" altLang="en-US" sz="1100" b="0" i="0" u="none" strike="noStrike" kern="0" cap="none" spc="0" normalizeH="0" baseline="0" noProof="0" dirty="0">
                <a:ln>
                  <a:noFill/>
                </a:ln>
                <a:solidFill>
                  <a:srgbClr val="1D1D1A"/>
                </a:solidFill>
                <a:effectLst/>
                <a:uLnTx/>
                <a:uFillTx/>
                <a:latin typeface="Huawei Sans" panose="020B0A04020102020204"/>
                <a:ea typeface="微软雅黑" panose="020B0503020204020204" pitchFamily="34" charset="-122"/>
                <a:cs typeface="+mn-cs"/>
                <a:sym typeface="Arial" panose="020B0604020202020204" pitchFamily="34" charset="0"/>
              </a:endParaRPr>
            </a:p>
          </p:txBody>
        </p:sp>
        <p:sp>
          <p:nvSpPr>
            <p:cNvPr id="20" name="文本框 19"/>
            <p:cNvSpPr txBox="1"/>
            <p:nvPr/>
          </p:nvSpPr>
          <p:spPr>
            <a:xfrm>
              <a:off x="1076293" y="4989085"/>
              <a:ext cx="666278" cy="36933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AI</a:t>
              </a:r>
              <a:r>
                <a:rPr kumimoji="0" lang="zh-CN" altLang="en-US" sz="12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重点事</a:t>
              </a:r>
              <a:endParaRPr kumimoji="0" lang="en-US" altLang="zh-CN" sz="12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件里程碑</a:t>
              </a:r>
              <a:endParaRPr kumimoji="0" lang="zh-CN" altLang="en-US" sz="12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21" name="文本框 20"/>
            <p:cNvSpPr txBox="1"/>
            <p:nvPr/>
          </p:nvSpPr>
          <p:spPr>
            <a:xfrm>
              <a:off x="6429125" y="3580179"/>
              <a:ext cx="1017514" cy="369332"/>
            </a:xfrm>
            <a:prstGeom prst="rect">
              <a:avLst/>
            </a:prstGeom>
            <a:noFill/>
          </p:spPr>
          <p:txBody>
            <a:bodyPr wrap="square" lIns="0" tIns="0" rIns="0" bIns="0" rtlCol="0">
              <a:spAutoFit/>
            </a:bodyPr>
            <a:lstStyle>
              <a:defPPr>
                <a:defRPr lang="zh-CN"/>
              </a:defPPr>
              <a:lvl1pPr>
                <a:defRPr sz="1200" b="1">
                  <a:solidFill>
                    <a:srgbClr val="C00000"/>
                  </a:solidFill>
                  <a:latin typeface="Arial" panose="020B0604020202020204" pitchFamily="34" charset="0"/>
                  <a:ea typeface="微软雅黑" panose="020B0503020204020204" pitchFamily="34"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C0000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安防</a:t>
              </a:r>
              <a:r>
                <a:rPr kumimoji="0" lang="en-US" altLang="zh-CN" sz="1200" b="1" i="0" u="none" strike="noStrike" kern="0" cap="none" spc="0" normalizeH="0" baseline="0" noProof="0" dirty="0">
                  <a:ln>
                    <a:noFill/>
                  </a:ln>
                  <a:solidFill>
                    <a:srgbClr val="C0000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a:t>
              </a:r>
              <a:r>
                <a:rPr kumimoji="0" lang="zh-CN" altLang="en-US" sz="1200" b="1" i="0" u="none" strike="noStrike" kern="0" cap="none" spc="0" normalizeH="0" baseline="0" noProof="0" dirty="0">
                  <a:ln>
                    <a:noFill/>
                  </a:ln>
                  <a:solidFill>
                    <a:srgbClr val="C0000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视觉</a:t>
              </a:r>
              <a:endParaRPr kumimoji="0" lang="en-US" altLang="zh-CN" sz="1200" b="1" i="0" u="none" strike="noStrike" kern="0" cap="none" spc="0" normalizeH="0" baseline="0" noProof="0" dirty="0">
                <a:ln>
                  <a:noFill/>
                </a:ln>
                <a:solidFill>
                  <a:srgbClr val="C00000"/>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C0000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互联网 </a:t>
              </a:r>
              <a:r>
                <a:rPr kumimoji="0" lang="en-US" altLang="zh-CN" sz="1200" b="1" i="0" u="none" strike="noStrike" kern="0" cap="none" spc="0" normalizeH="0" baseline="0" noProof="0" dirty="0">
                  <a:ln>
                    <a:noFill/>
                  </a:ln>
                  <a:solidFill>
                    <a:srgbClr val="C0000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 </a:t>
              </a:r>
              <a:r>
                <a:rPr kumimoji="0" lang="zh-CN" altLang="en-US" sz="1200" b="1" i="0" u="none" strike="noStrike" kern="0" cap="none" spc="0" normalizeH="0" baseline="0" noProof="0" dirty="0">
                  <a:ln>
                    <a:noFill/>
                  </a:ln>
                  <a:solidFill>
                    <a:srgbClr val="C0000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推荐</a:t>
              </a:r>
              <a:endParaRPr kumimoji="0" lang="zh-CN" altLang="en-US" sz="1200" b="1" i="0" u="none" strike="noStrike" kern="0" cap="none" spc="0" normalizeH="0" baseline="0" noProof="0" dirty="0">
                <a:ln>
                  <a:noFill/>
                </a:ln>
                <a:solidFill>
                  <a:srgbClr val="C00000"/>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cxnSp>
          <p:nvCxnSpPr>
            <p:cNvPr id="22" name="直接连接符 65"/>
            <p:cNvCxnSpPr/>
            <p:nvPr/>
          </p:nvCxnSpPr>
          <p:spPr>
            <a:xfrm>
              <a:off x="1870548" y="5204986"/>
              <a:ext cx="9144000" cy="0"/>
            </a:xfrm>
            <a:prstGeom prst="line">
              <a:avLst/>
            </a:prstGeom>
            <a:noFill/>
            <a:ln w="12700" cap="flat" cmpd="sng" algn="ctr">
              <a:solidFill>
                <a:srgbClr val="666666"/>
              </a:solidFill>
              <a:prstDash val="solid"/>
              <a:miter lim="800000"/>
              <a:headEnd type="none" w="med" len="med"/>
              <a:tailEnd type="triangle" w="med" len="med"/>
            </a:ln>
            <a:effectLst/>
          </p:spPr>
        </p:cxnSp>
        <p:sp>
          <p:nvSpPr>
            <p:cNvPr id="23" name="文本框 22"/>
            <p:cNvSpPr txBox="1"/>
            <p:nvPr/>
          </p:nvSpPr>
          <p:spPr>
            <a:xfrm>
              <a:off x="1076293" y="1940483"/>
              <a:ext cx="474489" cy="369332"/>
            </a:xfrm>
            <a:prstGeom prst="rect">
              <a:avLst/>
            </a:prstGeom>
            <a:noFill/>
          </p:spPr>
          <p:txBody>
            <a:bodyPr wrap="non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AI</a:t>
              </a:r>
              <a:r>
                <a:rPr kumimoji="0" lang="zh-CN" altLang="en-US" sz="12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技术</a:t>
              </a:r>
              <a:endParaRPr kumimoji="0" lang="en-US" altLang="zh-CN" sz="12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里程碑</a:t>
              </a:r>
              <a:endParaRPr kumimoji="0" lang="zh-CN" altLang="en-US" sz="12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24" name="文本框 23"/>
            <p:cNvSpPr txBox="1"/>
            <p:nvPr/>
          </p:nvSpPr>
          <p:spPr>
            <a:xfrm>
              <a:off x="1076293" y="3764845"/>
              <a:ext cx="667366" cy="369332"/>
            </a:xfrm>
            <a:prstGeom prst="rect">
              <a:avLst/>
            </a:prstGeom>
            <a:noFill/>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AI</a:t>
              </a:r>
              <a:r>
                <a:rPr kumimoji="0" lang="zh-CN" altLang="en-US" sz="12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产业</a:t>
              </a:r>
              <a:endParaRPr kumimoji="0" lang="en-US" altLang="zh-CN" sz="12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发展浪潮</a:t>
              </a:r>
              <a:endParaRPr kumimoji="0" lang="zh-CN" altLang="en-US" sz="12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28" name="矩形 27"/>
            <p:cNvSpPr/>
            <p:nvPr/>
          </p:nvSpPr>
          <p:spPr>
            <a:xfrm>
              <a:off x="2161209" y="5356775"/>
              <a:ext cx="769441" cy="307777"/>
            </a:xfrm>
            <a:prstGeom prst="rect">
              <a:avLst/>
            </a:prstGeom>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1956</a:t>
              </a:r>
              <a:r>
                <a:rPr kumimoji="0" lang="zh-CN" altLang="en-US" sz="10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年</a:t>
              </a:r>
              <a:endParaRPr kumimoji="0" lang="en-US" altLang="zh-CN" sz="10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达特茅斯会议</a:t>
              </a:r>
              <a:endParaRPr kumimoji="0" lang="zh-CN" altLang="en-US" sz="10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29" name="文本框 28"/>
            <p:cNvSpPr txBox="1"/>
            <p:nvPr/>
          </p:nvSpPr>
          <p:spPr>
            <a:xfrm>
              <a:off x="3445967" y="3963782"/>
              <a:ext cx="758340" cy="184666"/>
            </a:xfrm>
            <a:prstGeom prst="rect">
              <a:avLst/>
            </a:prstGeom>
            <a:noFill/>
          </p:spPr>
          <p:txBody>
            <a:bodyPr wrap="square" lIns="0" tIns="0" rIns="0" bIns="0" rtlCol="0">
              <a:spAutoFit/>
            </a:bodyPr>
            <a:lstStyle>
              <a:defPPr>
                <a:defRPr lang="zh-CN"/>
              </a:defPPr>
              <a:lvl1pPr>
                <a:defRPr sz="1200" b="1">
                  <a:solidFill>
                    <a:srgbClr val="C00000"/>
                  </a:solidFill>
                  <a:latin typeface="Arial" panose="020B0604020202020204" pitchFamily="34" charset="0"/>
                  <a:ea typeface="微软雅黑" panose="020B0503020204020204" pitchFamily="34"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C0000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专家系统</a:t>
              </a:r>
              <a:endParaRPr kumimoji="0" lang="zh-CN" altLang="en-US" sz="1200" b="1" i="0" u="none" strike="noStrike" kern="0" cap="none" spc="0" normalizeH="0" baseline="0" noProof="0" dirty="0">
                <a:ln>
                  <a:noFill/>
                </a:ln>
                <a:solidFill>
                  <a:srgbClr val="C00000"/>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30" name="矩形 29"/>
            <p:cNvSpPr/>
            <p:nvPr/>
          </p:nvSpPr>
          <p:spPr>
            <a:xfrm>
              <a:off x="3378028" y="5356775"/>
              <a:ext cx="1154162" cy="307777"/>
            </a:xfrm>
            <a:prstGeom prst="rect">
              <a:avLst/>
            </a:prstGeom>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1997</a:t>
              </a:r>
              <a:r>
                <a:rPr kumimoji="0" lang="zh-CN" altLang="en-US" sz="10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年</a:t>
              </a:r>
              <a:endParaRPr kumimoji="0" lang="en-US" altLang="zh-CN" sz="10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深蓝机器人战胜人类</a:t>
              </a:r>
              <a:endParaRPr kumimoji="0" lang="zh-CN" altLang="en-US" sz="10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31" name="矩形 30"/>
            <p:cNvSpPr/>
            <p:nvPr/>
          </p:nvSpPr>
          <p:spPr>
            <a:xfrm>
              <a:off x="4985640" y="5356775"/>
              <a:ext cx="1025922" cy="307777"/>
            </a:xfrm>
            <a:prstGeom prst="rect">
              <a:avLst/>
            </a:prstGeom>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00" b="1" i="0" u="none" strike="noStrike" kern="0" cap="none" spc="0" normalizeH="0" baseline="0" noProof="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2015</a:t>
              </a:r>
              <a:r>
                <a:rPr kumimoji="0" lang="zh-CN" altLang="en-US" sz="1000" b="1" i="0" u="none" strike="noStrike" kern="0" cap="none" spc="0" normalizeH="0" baseline="0" noProof="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年</a:t>
              </a:r>
              <a:endParaRPr kumimoji="0" lang="en-US" altLang="zh-CN" sz="10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视觉识别超过人类</a:t>
              </a:r>
              <a:endParaRPr kumimoji="0" lang="zh-CN" altLang="en-US" sz="10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32" name="矩形 31"/>
            <p:cNvSpPr/>
            <p:nvPr/>
          </p:nvSpPr>
          <p:spPr>
            <a:xfrm>
              <a:off x="8312721" y="5356775"/>
              <a:ext cx="559448" cy="461665"/>
            </a:xfrm>
            <a:prstGeom prst="rect">
              <a:avLst/>
            </a:prstGeom>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2022</a:t>
              </a:r>
              <a:r>
                <a:rPr kumimoji="0" lang="zh-CN" altLang="en-US" sz="10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年</a:t>
              </a:r>
              <a:endParaRPr kumimoji="0" lang="en-US" altLang="zh-CN" sz="10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00" b="1" i="0" u="none" strike="noStrike" kern="0" cap="none" spc="0" normalizeH="0" baseline="0" noProof="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ChatGPT</a:t>
              </a:r>
              <a:endParaRPr kumimoji="0" lang="en-US" altLang="zh-CN" sz="1000" b="1" i="0" u="none" strike="noStrike" kern="0" cap="none" spc="0" normalizeH="0" baseline="0" noProof="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00" b="1" i="0" u="none" strike="noStrike" kern="0" cap="none" spc="0" normalizeH="0" baseline="0" noProof="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175B</a:t>
              </a:r>
              <a:endParaRPr kumimoji="0" lang="en-US" altLang="zh-CN" sz="10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33" name="矩形 32"/>
            <p:cNvSpPr/>
            <p:nvPr/>
          </p:nvSpPr>
          <p:spPr>
            <a:xfrm>
              <a:off x="10580773" y="5356775"/>
              <a:ext cx="684803" cy="276999"/>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solidFill>
                    <a:srgbClr val="1D1D1A"/>
                  </a:solidFill>
                  <a:effectLst/>
                  <a:uLnTx/>
                  <a:uFillTx/>
                  <a:latin typeface="Huawei Sans" panose="020B0A04020102020204"/>
                  <a:ea typeface="微软雅黑" panose="020B0503020204020204" pitchFamily="34" charset="-122"/>
                  <a:cs typeface="+mn-cs"/>
                  <a:sym typeface="Arial" panose="020B0604020202020204" pitchFamily="34" charset="0"/>
                </a:rPr>
                <a:t>       ….</a:t>
              </a:r>
              <a:endParaRPr kumimoji="0" lang="en-US" altLang="zh-CN" sz="1200" b="1" i="0" u="none" strike="noStrike" kern="0" cap="none" spc="0" normalizeH="0" baseline="0" noProof="0" dirty="0">
                <a:ln>
                  <a:noFill/>
                </a:ln>
                <a:solidFill>
                  <a:srgbClr val="1D1D1A"/>
                </a:solidFill>
                <a:effectLst/>
                <a:uLnTx/>
                <a:uFillTx/>
                <a:latin typeface="Huawei Sans" panose="020B0A04020102020204"/>
                <a:ea typeface="微软雅黑" panose="020B0503020204020204" pitchFamily="34" charset="-122"/>
                <a:cs typeface="+mn-cs"/>
                <a:sym typeface="Arial" panose="020B0604020202020204" pitchFamily="34" charset="0"/>
              </a:endParaRPr>
            </a:p>
          </p:txBody>
        </p:sp>
        <p:sp>
          <p:nvSpPr>
            <p:cNvPr id="34" name="任意多边形: 形状 1"/>
            <p:cNvSpPr/>
            <p:nvPr/>
          </p:nvSpPr>
          <p:spPr>
            <a:xfrm>
              <a:off x="2125172" y="5050571"/>
              <a:ext cx="841519" cy="104755"/>
            </a:xfrm>
            <a:custGeom>
              <a:avLst/>
              <a:gdLst>
                <a:gd name="connsiteX0" fmla="*/ 0 w 866274"/>
                <a:gd name="connsiteY0" fmla="*/ 24063 h 113910"/>
                <a:gd name="connsiteX1" fmla="*/ 866274 w 866274"/>
                <a:gd name="connsiteY1" fmla="*/ 0 h 113910"/>
              </a:gdLst>
              <a:ahLst/>
              <a:cxnLst>
                <a:cxn ang="0">
                  <a:pos x="connsiteX0" y="connsiteY0"/>
                </a:cxn>
                <a:cxn ang="0">
                  <a:pos x="connsiteX1" y="connsiteY1"/>
                </a:cxn>
              </a:cxnLst>
              <a:rect l="l" t="t" r="r" b="b"/>
              <a:pathLst>
                <a:path w="866274" h="113910">
                  <a:moveTo>
                    <a:pt x="0" y="24063"/>
                  </a:moveTo>
                  <a:cubicBezTo>
                    <a:pt x="227263" y="105610"/>
                    <a:pt x="454527" y="187158"/>
                    <a:pt x="866274" y="0"/>
                  </a:cubicBezTo>
                </a:path>
              </a:pathLst>
            </a:custGeom>
            <a:no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666666"/>
                </a:solidFill>
                <a:effectLst/>
                <a:uLnTx/>
                <a:uFillTx/>
                <a:latin typeface="Huawei Sans" panose="020B0A04020102020204"/>
                <a:ea typeface="微软雅黑" panose="020B0503020204020204" pitchFamily="34" charset="-122"/>
                <a:cs typeface="+mn-cs"/>
                <a:sym typeface="Arial" panose="020B0604020202020204" pitchFamily="34" charset="0"/>
              </a:endParaRPr>
            </a:p>
          </p:txBody>
        </p:sp>
        <p:sp>
          <p:nvSpPr>
            <p:cNvPr id="35" name="矩形 34"/>
            <p:cNvSpPr/>
            <p:nvPr/>
          </p:nvSpPr>
          <p:spPr>
            <a:xfrm>
              <a:off x="6464738" y="5356775"/>
              <a:ext cx="897682" cy="307777"/>
            </a:xfrm>
            <a:prstGeom prst="rect">
              <a:avLst/>
            </a:prstGeom>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2020</a:t>
              </a:r>
              <a:r>
                <a:rPr kumimoji="0" lang="zh-CN" altLang="en-US" sz="10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年</a:t>
              </a:r>
              <a:endParaRPr kumimoji="0" lang="en-US" altLang="zh-CN" sz="10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蛋白质结构预测</a:t>
              </a:r>
              <a:endParaRPr kumimoji="0" lang="en-US" altLang="zh-CN" sz="10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36" name="椭圆 35"/>
            <p:cNvSpPr/>
            <p:nvPr/>
          </p:nvSpPr>
          <p:spPr>
            <a:xfrm>
              <a:off x="2493475" y="5155326"/>
              <a:ext cx="104913" cy="99319"/>
            </a:xfrm>
            <a:prstGeom prst="ellipse">
              <a:avLst/>
            </a:prstGeom>
            <a:solidFill>
              <a:srgbClr val="666666"/>
            </a:solidFill>
            <a:ln w="2540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666666"/>
                </a:solidFill>
                <a:effectLst/>
                <a:uLnTx/>
                <a:uFillTx/>
                <a:latin typeface="Huawei Sans" panose="020B0A04020102020204"/>
                <a:ea typeface="微软雅黑" panose="020B0503020204020204" pitchFamily="34" charset="-122"/>
                <a:cs typeface="+mn-cs"/>
                <a:sym typeface="Arial" panose="020B0604020202020204" pitchFamily="34" charset="0"/>
              </a:endParaRPr>
            </a:p>
          </p:txBody>
        </p:sp>
        <p:sp>
          <p:nvSpPr>
            <p:cNvPr id="37" name="椭圆 36"/>
            <p:cNvSpPr/>
            <p:nvPr/>
          </p:nvSpPr>
          <p:spPr>
            <a:xfrm>
              <a:off x="3902653" y="5155326"/>
              <a:ext cx="104913" cy="99319"/>
            </a:xfrm>
            <a:prstGeom prst="ellipse">
              <a:avLst/>
            </a:prstGeom>
            <a:solidFill>
              <a:srgbClr val="666666"/>
            </a:solidFill>
            <a:ln w="2540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666666"/>
                </a:solidFill>
                <a:effectLst/>
                <a:uLnTx/>
                <a:uFillTx/>
                <a:latin typeface="Huawei Sans" panose="020B0A04020102020204"/>
                <a:ea typeface="微软雅黑" panose="020B0503020204020204" pitchFamily="34" charset="-122"/>
                <a:cs typeface="+mn-cs"/>
                <a:sym typeface="Arial" panose="020B0604020202020204" pitchFamily="34" charset="0"/>
              </a:endParaRPr>
            </a:p>
          </p:txBody>
        </p:sp>
        <p:sp>
          <p:nvSpPr>
            <p:cNvPr id="38" name="椭圆 37"/>
            <p:cNvSpPr/>
            <p:nvPr/>
          </p:nvSpPr>
          <p:spPr>
            <a:xfrm>
              <a:off x="5446146" y="5155326"/>
              <a:ext cx="104913" cy="99319"/>
            </a:xfrm>
            <a:prstGeom prst="ellipse">
              <a:avLst/>
            </a:prstGeom>
            <a:solidFill>
              <a:srgbClr val="666666"/>
            </a:solidFill>
            <a:ln w="2540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666666"/>
                </a:solidFill>
                <a:effectLst/>
                <a:uLnTx/>
                <a:uFillTx/>
                <a:latin typeface="Huawei Sans" panose="020B0A04020102020204"/>
                <a:ea typeface="微软雅黑" panose="020B0503020204020204" pitchFamily="34" charset="-122"/>
                <a:cs typeface="+mn-cs"/>
                <a:sym typeface="Arial" panose="020B0604020202020204" pitchFamily="34" charset="0"/>
              </a:endParaRPr>
            </a:p>
          </p:txBody>
        </p:sp>
        <p:sp>
          <p:nvSpPr>
            <p:cNvPr id="39" name="椭圆 38"/>
            <p:cNvSpPr/>
            <p:nvPr/>
          </p:nvSpPr>
          <p:spPr>
            <a:xfrm>
              <a:off x="6861125" y="5155326"/>
              <a:ext cx="104913" cy="99319"/>
            </a:xfrm>
            <a:prstGeom prst="ellipse">
              <a:avLst/>
            </a:prstGeom>
            <a:solidFill>
              <a:srgbClr val="666666"/>
            </a:solidFill>
            <a:ln w="2540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666666"/>
                </a:solidFill>
                <a:effectLst/>
                <a:uLnTx/>
                <a:uFillTx/>
                <a:latin typeface="Huawei Sans" panose="020B0A04020102020204"/>
                <a:ea typeface="微软雅黑" panose="020B0503020204020204" pitchFamily="34" charset="-122"/>
                <a:cs typeface="+mn-cs"/>
                <a:sym typeface="Arial" panose="020B0604020202020204" pitchFamily="34" charset="0"/>
              </a:endParaRPr>
            </a:p>
          </p:txBody>
        </p:sp>
        <p:sp>
          <p:nvSpPr>
            <p:cNvPr id="40" name="椭圆 39"/>
            <p:cNvSpPr/>
            <p:nvPr/>
          </p:nvSpPr>
          <p:spPr>
            <a:xfrm>
              <a:off x="8539987" y="5155326"/>
              <a:ext cx="104913" cy="99319"/>
            </a:xfrm>
            <a:prstGeom prst="ellipse">
              <a:avLst/>
            </a:prstGeom>
            <a:solidFill>
              <a:srgbClr val="666666"/>
            </a:solidFill>
            <a:ln w="2540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666666"/>
                </a:solidFill>
                <a:effectLst/>
                <a:uLnTx/>
                <a:uFillTx/>
                <a:latin typeface="Huawei Sans" panose="020B0A04020102020204"/>
                <a:ea typeface="微软雅黑" panose="020B0503020204020204" pitchFamily="34" charset="-122"/>
                <a:cs typeface="+mn-cs"/>
                <a:sym typeface="Arial" panose="020B0604020202020204" pitchFamily="34" charset="0"/>
              </a:endParaRPr>
            </a:p>
          </p:txBody>
        </p:sp>
        <p:sp>
          <p:nvSpPr>
            <p:cNvPr id="41" name="文本框 40"/>
            <p:cNvSpPr txBox="1"/>
            <p:nvPr/>
          </p:nvSpPr>
          <p:spPr>
            <a:xfrm>
              <a:off x="8122520" y="2867715"/>
              <a:ext cx="1038176" cy="184666"/>
            </a:xfrm>
            <a:prstGeom prst="rect">
              <a:avLst/>
            </a:prstGeom>
            <a:noFill/>
          </p:spPr>
          <p:txBody>
            <a:bodyPr wrap="square" lIns="0" tIns="0" rIns="0" bIns="0" rtlCol="0">
              <a:spAutoFit/>
            </a:bodyPr>
            <a:lstStyle>
              <a:defPPr>
                <a:defRPr lang="zh-CN"/>
              </a:defPPr>
              <a:lvl1pPr>
                <a:defRPr sz="1200" b="1">
                  <a:solidFill>
                    <a:srgbClr val="C00000"/>
                  </a:solidFill>
                  <a:latin typeface="Arial" panose="020B0604020202020204" pitchFamily="34" charset="0"/>
                  <a:ea typeface="微软雅黑" panose="020B0503020204020204" pitchFamily="34"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C0000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智能内容生成</a:t>
              </a:r>
              <a:endParaRPr kumimoji="0" lang="zh-CN" altLang="en-US" sz="1200" b="1" i="0" u="none" strike="noStrike" kern="0" cap="none" spc="0" normalizeH="0" baseline="0" noProof="0" dirty="0">
                <a:ln>
                  <a:noFill/>
                </a:ln>
                <a:solidFill>
                  <a:srgbClr val="C00000"/>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42" name="文本框 41"/>
            <p:cNvSpPr txBox="1"/>
            <p:nvPr/>
          </p:nvSpPr>
          <p:spPr>
            <a:xfrm>
              <a:off x="2782263" y="1940483"/>
              <a:ext cx="864000" cy="360000"/>
            </a:xfrm>
            <a:prstGeom prst="rect">
              <a:avLst/>
            </a:prstGeom>
            <a:gradFill flip="none" rotWithShape="1">
              <a:gsLst>
                <a:gs pos="0">
                  <a:srgbClr val="D6E2F1"/>
                </a:gs>
                <a:gs pos="100000">
                  <a:srgbClr val="ACBCE4"/>
                </a:gs>
              </a:gsLst>
              <a:lin ang="3600000" scaled="0"/>
            </a:gradFill>
            <a:ln w="3175" cap="flat">
              <a:noFill/>
              <a:prstDash val="solid"/>
              <a:miter lim="400000"/>
            </a:ln>
            <a:effectLst/>
          </p:spPr>
          <p:txBody>
            <a:bodyPr wrap="square" lIns="0" tIns="0" rIns="0" bIns="0" numCol="1" anchor="ctr">
              <a:noAutofit/>
            </a:bodyPr>
            <a:lstStyle>
              <a:defPPr>
                <a:defRPr lang="zh-CN"/>
              </a:defPPr>
              <a:lvl1pPr algn="ctr">
                <a:defRPr sz="1000" kern="0">
                  <a:solidFill>
                    <a:srgbClr val="1D1D1A"/>
                  </a:solidFill>
                  <a:latin typeface="Huawei Sans" panose="020B0A04020102020204"/>
                  <a:ea typeface="微软雅黑" panose="020B0503020204020204" pitchFamily="34"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NLP</a:t>
              </a:r>
              <a:endParaRPr kumimoji="0" lang="zh-CN" altLang="en-US" sz="10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43" name="文本框 42"/>
            <p:cNvSpPr txBox="1"/>
            <p:nvPr/>
          </p:nvSpPr>
          <p:spPr>
            <a:xfrm>
              <a:off x="3693978" y="1940483"/>
              <a:ext cx="864000" cy="360000"/>
            </a:xfrm>
            <a:prstGeom prst="rect">
              <a:avLst/>
            </a:prstGeom>
            <a:gradFill flip="none" rotWithShape="1">
              <a:gsLst>
                <a:gs pos="0">
                  <a:srgbClr val="D6E2F1"/>
                </a:gs>
                <a:gs pos="100000">
                  <a:srgbClr val="ACBCE4"/>
                </a:gs>
              </a:gsLst>
              <a:lin ang="3600000" scaled="0"/>
            </a:gradFill>
            <a:ln w="3175" cap="flat">
              <a:noFill/>
              <a:prstDash val="solid"/>
              <a:miter lim="400000"/>
            </a:ln>
            <a:effectLst/>
          </p:spPr>
          <p:txBody>
            <a:bodyPr wrap="square" lIns="0" tIns="0" rIns="0" bIns="0" numCol="1" anchor="ctr">
              <a:noAutofit/>
            </a:bodyPr>
            <a:lstStyle>
              <a:defPPr>
                <a:defRPr lang="zh-CN"/>
              </a:defPPr>
              <a:lvl1pPr algn="ctr">
                <a:defRPr sz="1000" kern="0">
                  <a:solidFill>
                    <a:srgbClr val="1D1D1A"/>
                  </a:solidFill>
                  <a:latin typeface="Huawei Sans" panose="020B0A04020102020204"/>
                  <a:ea typeface="微软雅黑" panose="020B0503020204020204" pitchFamily="34"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CV</a:t>
              </a:r>
              <a:endParaRPr kumimoji="0" lang="zh-CN" altLang="en-US" sz="10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44" name="文本框 43"/>
            <p:cNvSpPr txBox="1"/>
            <p:nvPr/>
          </p:nvSpPr>
          <p:spPr>
            <a:xfrm>
              <a:off x="6429125" y="1940483"/>
              <a:ext cx="864000" cy="360000"/>
            </a:xfrm>
            <a:prstGeom prst="rect">
              <a:avLst/>
            </a:prstGeom>
            <a:gradFill flip="none" rotWithShape="1">
              <a:gsLst>
                <a:gs pos="0">
                  <a:srgbClr val="D6E2F1"/>
                </a:gs>
                <a:gs pos="100000">
                  <a:srgbClr val="ACBCE4"/>
                </a:gs>
              </a:gsLst>
              <a:lin ang="3600000" scaled="0"/>
            </a:gradFill>
            <a:ln w="3175" cap="flat">
              <a:noFill/>
              <a:prstDash val="solid"/>
              <a:miter lim="400000"/>
            </a:ln>
            <a:effectLst/>
          </p:spPr>
          <p:txBody>
            <a:bodyPr wrap="square" lIns="0" tIns="0" rIns="0" bIns="0" numCol="1" anchor="ctr">
              <a:noAutofit/>
            </a:bodyPr>
            <a:lstStyle>
              <a:defPPr>
                <a:defRPr lang="zh-CN"/>
              </a:defPPr>
              <a:lvl1pPr algn="ctr">
                <a:defRPr sz="1000" kern="0">
                  <a:solidFill>
                    <a:srgbClr val="1D1D1A"/>
                  </a:solidFill>
                  <a:latin typeface="Huawei Sans" panose="020B0A04020102020204"/>
                  <a:ea typeface="微软雅黑" panose="020B0503020204020204" pitchFamily="34"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AI4S</a:t>
              </a:r>
              <a:endParaRPr kumimoji="0" lang="zh-CN" altLang="en-US" sz="10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45" name="文本框 44"/>
            <p:cNvSpPr txBox="1"/>
            <p:nvPr/>
          </p:nvSpPr>
          <p:spPr>
            <a:xfrm>
              <a:off x="5517408" y="1940483"/>
              <a:ext cx="864000" cy="360000"/>
            </a:xfrm>
            <a:prstGeom prst="rect">
              <a:avLst/>
            </a:prstGeom>
            <a:gradFill flip="none" rotWithShape="1">
              <a:gsLst>
                <a:gs pos="0">
                  <a:srgbClr val="D6E2F1"/>
                </a:gs>
                <a:gs pos="100000">
                  <a:srgbClr val="ACBCE4"/>
                </a:gs>
              </a:gsLst>
              <a:lin ang="3600000" scaled="0"/>
            </a:gradFill>
            <a:ln w="3175" cap="flat">
              <a:noFill/>
              <a:prstDash val="solid"/>
              <a:miter lim="400000"/>
            </a:ln>
            <a:effectLst/>
          </p:spPr>
          <p:txBody>
            <a:bodyPr wrap="square" lIns="0" tIns="0" rIns="0" bIns="0" numCol="1" anchor="ctr">
              <a:noAutofit/>
            </a:bodyPr>
            <a:lstStyle>
              <a:defPPr>
                <a:defRPr lang="zh-CN"/>
              </a:defPPr>
              <a:lvl1pPr algn="ctr">
                <a:defRPr sz="1000" kern="0">
                  <a:solidFill>
                    <a:srgbClr val="1D1D1A"/>
                  </a:solidFill>
                  <a:latin typeface="Huawei Sans" panose="020B0A04020102020204"/>
                  <a:ea typeface="微软雅黑" panose="020B0503020204020204" pitchFamily="34"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GAN</a:t>
              </a:r>
              <a:endParaRPr kumimoji="0" lang="zh-CN" altLang="en-US" sz="10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46" name="文本框 45"/>
            <p:cNvSpPr txBox="1"/>
            <p:nvPr/>
          </p:nvSpPr>
          <p:spPr>
            <a:xfrm>
              <a:off x="8557580" y="1940483"/>
              <a:ext cx="1080000" cy="360000"/>
            </a:xfrm>
            <a:prstGeom prst="rect">
              <a:avLst/>
            </a:prstGeom>
            <a:gradFill flip="none" rotWithShape="1">
              <a:gsLst>
                <a:gs pos="0">
                  <a:srgbClr val="D6E2F1"/>
                </a:gs>
                <a:gs pos="100000">
                  <a:srgbClr val="ACBCE4"/>
                </a:gs>
              </a:gsLst>
              <a:lin ang="3600000" scaled="0"/>
            </a:gradFill>
            <a:ln w="3175" cap="flat">
              <a:noFill/>
              <a:prstDash val="solid"/>
              <a:miter lim="400000"/>
            </a:ln>
            <a:effectLst/>
          </p:spPr>
          <p:txBody>
            <a:bodyPr wrap="square" lIns="0" tIns="0" rIns="0" bIns="0" numCol="1" anchor="ctr">
              <a:noAutofit/>
            </a:bodyPr>
            <a:lstStyle>
              <a:defPPr>
                <a:defRPr lang="zh-CN"/>
              </a:defPPr>
              <a:lvl1pPr algn="ctr">
                <a:defRPr sz="1000" kern="0">
                  <a:solidFill>
                    <a:srgbClr val="1D1D1A"/>
                  </a:solidFill>
                  <a:latin typeface="Huawei Sans" panose="020B0A04020102020204"/>
                  <a:ea typeface="微软雅黑" panose="020B0503020204020204" pitchFamily="34"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ChatGPT</a:t>
              </a:r>
              <a:endParaRPr kumimoji="0" lang="zh-CN" altLang="en-US" sz="10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47" name="文本框 46"/>
            <p:cNvSpPr txBox="1"/>
            <p:nvPr/>
          </p:nvSpPr>
          <p:spPr>
            <a:xfrm>
              <a:off x="1870548" y="1940483"/>
              <a:ext cx="864000" cy="360000"/>
            </a:xfrm>
            <a:prstGeom prst="rect">
              <a:avLst/>
            </a:prstGeom>
            <a:gradFill flip="none" rotWithShape="1">
              <a:gsLst>
                <a:gs pos="0">
                  <a:srgbClr val="D6E2F1"/>
                </a:gs>
                <a:gs pos="100000">
                  <a:srgbClr val="ACBCE4"/>
                </a:gs>
              </a:gsLst>
              <a:lin ang="3600000" scaled="0"/>
            </a:gradFill>
            <a:ln w="3175" cap="flat">
              <a:noFill/>
              <a:prstDash val="solid"/>
              <a:miter lim="400000"/>
            </a:ln>
            <a:effectLst/>
          </p:spPr>
          <p:txBody>
            <a:bodyPr wrap="square" lIns="0" tIns="0" rIns="0" bIns="0" numCol="1" anchor="ctr">
              <a:noAutofit/>
            </a:bodyPr>
            <a:lstStyle>
              <a:defPPr>
                <a:defRPr lang="zh-CN"/>
              </a:defPPr>
              <a:lvl1pPr algn="ctr">
                <a:defRPr sz="1000" kern="0">
                  <a:solidFill>
                    <a:srgbClr val="1D1D1A"/>
                  </a:solidFill>
                  <a:latin typeface="Huawei Sans" panose="020B0A04020102020204"/>
                  <a:ea typeface="微软雅黑" panose="020B0503020204020204" pitchFamily="34"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控制论</a:t>
              </a:r>
              <a:endParaRPr kumimoji="0" lang="zh-CN" altLang="en-US" sz="10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48" name="文本框 47"/>
            <p:cNvSpPr txBox="1"/>
            <p:nvPr/>
          </p:nvSpPr>
          <p:spPr>
            <a:xfrm>
              <a:off x="4605693" y="1940483"/>
              <a:ext cx="864000" cy="360000"/>
            </a:xfrm>
            <a:prstGeom prst="rect">
              <a:avLst/>
            </a:prstGeom>
            <a:gradFill flip="none" rotWithShape="1">
              <a:gsLst>
                <a:gs pos="0">
                  <a:srgbClr val="D6E2F1"/>
                </a:gs>
                <a:gs pos="100000">
                  <a:srgbClr val="ACBCE4"/>
                </a:gs>
              </a:gsLst>
              <a:lin ang="3600000" scaled="0"/>
            </a:gradFill>
            <a:ln w="3175" cap="flat">
              <a:noFill/>
              <a:prstDash val="solid"/>
              <a:miter lim="400000"/>
            </a:ln>
            <a:effectLst/>
          </p:spPr>
          <p:txBody>
            <a:bodyPr wrap="square" lIns="0" tIns="0" rIns="0" bIns="0" numCol="1" anchor="ctr">
              <a:noAutofit/>
            </a:bodyPr>
            <a:lstStyle>
              <a:defPPr>
                <a:defRPr lang="zh-CN"/>
              </a:defPPr>
              <a:lvl1pPr algn="ctr">
                <a:defRPr sz="1000" kern="0">
                  <a:solidFill>
                    <a:srgbClr val="1D1D1A"/>
                  </a:solidFill>
                  <a:latin typeface="Huawei Sans" panose="020B0A04020102020204"/>
                  <a:ea typeface="微软雅黑" panose="020B0503020204020204" pitchFamily="34"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深度学习</a:t>
              </a:r>
              <a:endParaRPr kumimoji="0" lang="zh-CN" altLang="en-US" sz="10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49" name="文本框 48"/>
            <p:cNvSpPr txBox="1"/>
            <p:nvPr/>
          </p:nvSpPr>
          <p:spPr>
            <a:xfrm>
              <a:off x="10778170" y="1940483"/>
              <a:ext cx="1085054" cy="360000"/>
            </a:xfrm>
            <a:prstGeom prst="rect">
              <a:avLst/>
            </a:prstGeom>
            <a:gradFill flip="none" rotWithShape="1">
              <a:gsLst>
                <a:gs pos="0">
                  <a:srgbClr val="D6E2F1"/>
                </a:gs>
                <a:gs pos="100000">
                  <a:srgbClr val="ACBCE4"/>
                </a:gs>
              </a:gsLst>
              <a:lin ang="3600000" scaled="0"/>
            </a:gradFill>
            <a:ln w="3175" cap="flat">
              <a:noFill/>
              <a:prstDash val="solid"/>
              <a:miter lim="400000"/>
            </a:ln>
            <a:effectLst/>
          </p:spPr>
          <p:txBody>
            <a:bodyPr wrap="square" lIns="0" tIns="0" rIns="0" bIns="0" numCol="1" anchor="ctr">
              <a:noAutofit/>
            </a:bodyPr>
            <a:lstStyle>
              <a:defPPr>
                <a:defRPr lang="zh-CN"/>
              </a:defPPr>
              <a:lvl1pPr algn="ctr">
                <a:defRPr sz="1000" kern="0">
                  <a:solidFill>
                    <a:srgbClr val="1D1D1A"/>
                  </a:solidFill>
                  <a:latin typeface="Huawei Sans" panose="020B0A04020102020204"/>
                  <a:ea typeface="微软雅黑" panose="020B0503020204020204" pitchFamily="34"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a:t>
              </a:r>
              <a:endParaRPr kumimoji="0" lang="zh-CN" altLang="en-US" sz="10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50" name="文本框 49"/>
            <p:cNvSpPr txBox="1"/>
            <p:nvPr/>
          </p:nvSpPr>
          <p:spPr>
            <a:xfrm>
              <a:off x="7447285" y="1940483"/>
              <a:ext cx="1080000" cy="360000"/>
            </a:xfrm>
            <a:prstGeom prst="rect">
              <a:avLst/>
            </a:prstGeom>
            <a:gradFill flip="none" rotWithShape="1">
              <a:gsLst>
                <a:gs pos="0">
                  <a:srgbClr val="D6E2F1"/>
                </a:gs>
                <a:gs pos="100000">
                  <a:srgbClr val="ACBCE4"/>
                </a:gs>
              </a:gsLst>
              <a:lin ang="3600000" scaled="0"/>
            </a:gradFill>
            <a:ln w="3175" cap="flat">
              <a:noFill/>
              <a:prstDash val="solid"/>
              <a:miter lim="400000"/>
            </a:ln>
            <a:effectLst/>
          </p:spPr>
          <p:txBody>
            <a:bodyPr wrap="square" lIns="0" tIns="0" rIns="0" bIns="0" numCol="1" anchor="ctr">
              <a:noAutofit/>
            </a:bodyPr>
            <a:lstStyle>
              <a:defPPr>
                <a:defRPr lang="zh-CN"/>
              </a:defPPr>
              <a:lvl1pPr algn="ctr">
                <a:defRPr sz="1000" kern="0">
                  <a:solidFill>
                    <a:srgbClr val="1D1D1A"/>
                  </a:solidFill>
                  <a:latin typeface="Huawei Sans" panose="020B0A04020102020204"/>
                  <a:ea typeface="微软雅黑" panose="020B0503020204020204" pitchFamily="34"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Stable Diffusion</a:t>
              </a:r>
              <a:endParaRPr kumimoji="0" lang="zh-CN" altLang="en-US" sz="10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51" name="Freeform 5"/>
            <p:cNvSpPr/>
            <p:nvPr/>
          </p:nvSpPr>
          <p:spPr bwMode="auto">
            <a:xfrm>
              <a:off x="9185711" y="2140614"/>
              <a:ext cx="1035071" cy="924118"/>
            </a:xfrm>
            <a:custGeom>
              <a:avLst/>
              <a:gdLst>
                <a:gd name="T0" fmla="*/ 0 w 494"/>
                <a:gd name="T1" fmla="*/ 441 h 441"/>
                <a:gd name="T2" fmla="*/ 494 w 494"/>
                <a:gd name="T3" fmla="*/ 0 h 441"/>
              </a:gdLst>
              <a:ahLst/>
              <a:cxnLst>
                <a:cxn ang="0">
                  <a:pos x="T0" y="T1"/>
                </a:cxn>
                <a:cxn ang="0">
                  <a:pos x="T2" y="T3"/>
                </a:cxn>
              </a:cxnLst>
              <a:rect l="0" t="0" r="r" b="b"/>
              <a:pathLst>
                <a:path w="494" h="441">
                  <a:moveTo>
                    <a:pt x="0" y="441"/>
                  </a:moveTo>
                  <a:cubicBezTo>
                    <a:pt x="172" y="378"/>
                    <a:pt x="412" y="253"/>
                    <a:pt x="494" y="0"/>
                  </a:cubicBezTo>
                </a:path>
              </a:pathLst>
            </a:custGeom>
            <a:noFill/>
            <a:ln w="31750" cap="flat" cmpd="sng" algn="ctr">
              <a:solidFill>
                <a:srgbClr val="0070C0"/>
              </a:solidFill>
              <a:prstDash val="sys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666666"/>
                </a:solidFill>
                <a:effectLst/>
                <a:uLnTx/>
                <a:uFillTx/>
                <a:latin typeface="Huawei Sans" panose="020B0A04020102020204"/>
                <a:ea typeface="微软雅黑" panose="020B0503020204020204" pitchFamily="34" charset="-122"/>
                <a:cs typeface="+mn-cs"/>
                <a:sym typeface="Arial" panose="020B0604020202020204" pitchFamily="34" charset="0"/>
              </a:endParaRPr>
            </a:p>
          </p:txBody>
        </p:sp>
        <p:sp>
          <p:nvSpPr>
            <p:cNvPr id="52" name="Freeform 6"/>
            <p:cNvSpPr/>
            <p:nvPr/>
          </p:nvSpPr>
          <p:spPr bwMode="auto">
            <a:xfrm>
              <a:off x="1881826" y="3064732"/>
              <a:ext cx="7303886" cy="2257008"/>
            </a:xfrm>
            <a:custGeom>
              <a:avLst/>
              <a:gdLst>
                <a:gd name="T0" fmla="*/ 0 w 3487"/>
                <a:gd name="T1" fmla="*/ 887 h 1076"/>
                <a:gd name="T2" fmla="*/ 517 w 3487"/>
                <a:gd name="T3" fmla="*/ 766 h 1076"/>
                <a:gd name="T4" fmla="*/ 929 w 3487"/>
                <a:gd name="T5" fmla="*/ 310 h 1076"/>
                <a:gd name="T6" fmla="*/ 1305 w 3487"/>
                <a:gd name="T7" fmla="*/ 569 h 1076"/>
                <a:gd name="T8" fmla="*/ 1733 w 3487"/>
                <a:gd name="T9" fmla="*/ 397 h 1076"/>
                <a:gd name="T10" fmla="*/ 2610 w 3487"/>
                <a:gd name="T11" fmla="*/ 85 h 1076"/>
                <a:gd name="T12" fmla="*/ 3467 w 3487"/>
                <a:gd name="T13" fmla="*/ 7 h 1076"/>
                <a:gd name="T14" fmla="*/ 3487 w 3487"/>
                <a:gd name="T15" fmla="*/ 0 h 10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487" h="1076">
                  <a:moveTo>
                    <a:pt x="0" y="887"/>
                  </a:moveTo>
                  <a:cubicBezTo>
                    <a:pt x="0" y="887"/>
                    <a:pt x="297" y="1076"/>
                    <a:pt x="517" y="766"/>
                  </a:cubicBezTo>
                  <a:cubicBezTo>
                    <a:pt x="737" y="456"/>
                    <a:pt x="825" y="310"/>
                    <a:pt x="929" y="310"/>
                  </a:cubicBezTo>
                  <a:cubicBezTo>
                    <a:pt x="1033" y="310"/>
                    <a:pt x="1199" y="555"/>
                    <a:pt x="1305" y="569"/>
                  </a:cubicBezTo>
                  <a:cubicBezTo>
                    <a:pt x="1405" y="583"/>
                    <a:pt x="1484" y="560"/>
                    <a:pt x="1733" y="397"/>
                  </a:cubicBezTo>
                  <a:cubicBezTo>
                    <a:pt x="1983" y="234"/>
                    <a:pt x="2308" y="109"/>
                    <a:pt x="2610" y="85"/>
                  </a:cubicBezTo>
                  <a:cubicBezTo>
                    <a:pt x="2919" y="61"/>
                    <a:pt x="3293" y="68"/>
                    <a:pt x="3467" y="7"/>
                  </a:cubicBezTo>
                  <a:cubicBezTo>
                    <a:pt x="3473" y="5"/>
                    <a:pt x="3480" y="2"/>
                    <a:pt x="3487" y="0"/>
                  </a:cubicBezTo>
                </a:path>
              </a:pathLst>
            </a:custGeom>
            <a:noFill/>
            <a:ln w="3175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666666"/>
                </a:solidFill>
                <a:effectLst/>
                <a:uLnTx/>
                <a:uFillTx/>
                <a:latin typeface="Huawei Sans" panose="020B0A04020102020204"/>
                <a:ea typeface="微软雅黑" panose="020B0503020204020204" pitchFamily="34" charset="-122"/>
                <a:cs typeface="+mn-cs"/>
                <a:sym typeface="Arial" panose="020B0604020202020204" pitchFamily="34" charset="0"/>
              </a:endParaRPr>
            </a:p>
          </p:txBody>
        </p:sp>
        <p:sp>
          <p:nvSpPr>
            <p:cNvPr id="53" name="文本框 52"/>
            <p:cNvSpPr txBox="1"/>
            <p:nvPr/>
          </p:nvSpPr>
          <p:spPr>
            <a:xfrm>
              <a:off x="5013509" y="5777554"/>
              <a:ext cx="960199" cy="153888"/>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000" b="0" i="0" u="none" strike="noStrike" kern="0" cap="none" spc="0" normalizeH="0" baseline="0" noProof="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mn-cs"/>
                </a:rPr>
                <a:t>ResNet-50 60M</a:t>
              </a:r>
              <a:endParaRPr kumimoji="1" lang="zh-CN" altLang="en-US" sz="1000" b="0"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mn-cs"/>
              </a:endParaRPr>
            </a:p>
          </p:txBody>
        </p:sp>
        <p:sp>
          <p:nvSpPr>
            <p:cNvPr id="54" name="文本框 53"/>
            <p:cNvSpPr txBox="1"/>
            <p:nvPr/>
          </p:nvSpPr>
          <p:spPr>
            <a:xfrm>
              <a:off x="6256931" y="5777553"/>
              <a:ext cx="1221238" cy="15388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Alpha Fold2 93M</a:t>
              </a:r>
              <a:endParaRPr kumimoji="0" lang="en-US" altLang="zh-CN" sz="1000" b="0"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55" name="文本框 54"/>
            <p:cNvSpPr txBox="1"/>
            <p:nvPr/>
          </p:nvSpPr>
          <p:spPr>
            <a:xfrm>
              <a:off x="9667874" y="1940483"/>
              <a:ext cx="1452596" cy="360000"/>
            </a:xfrm>
            <a:prstGeom prst="rect">
              <a:avLst/>
            </a:prstGeom>
            <a:gradFill flip="none" rotWithShape="1">
              <a:gsLst>
                <a:gs pos="0">
                  <a:srgbClr val="D6E2F1"/>
                </a:gs>
                <a:gs pos="100000">
                  <a:srgbClr val="ACBCE4"/>
                </a:gs>
              </a:gsLst>
              <a:lin ang="3600000" scaled="0"/>
            </a:gradFill>
            <a:ln w="3175" cap="flat">
              <a:noFill/>
              <a:prstDash val="solid"/>
              <a:miter lim="400000"/>
            </a:ln>
            <a:effectLst/>
          </p:spPr>
          <p:txBody>
            <a:bodyPr wrap="square" lIns="0" tIns="0" rIns="0" bIns="0" numCol="1" anchor="ctr">
              <a:noAutofit/>
            </a:bodyPr>
            <a:lstStyle>
              <a:defPPr>
                <a:defRPr lang="zh-CN"/>
              </a:defPPr>
              <a:lvl1pPr algn="ctr">
                <a:defRPr sz="1000" kern="0">
                  <a:solidFill>
                    <a:srgbClr val="1D1D1A"/>
                  </a:solidFill>
                  <a:latin typeface="Huawei Sans" panose="020B0A04020102020204"/>
                  <a:ea typeface="微软雅黑" panose="020B0503020204020204" pitchFamily="34"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GPT5|Claude | Gemini | DeepseedV4 | GLM5 </a:t>
              </a:r>
              <a:endParaRPr kumimoji="0" lang="zh-CN" altLang="en-US" sz="10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56" name="文本框 55"/>
            <p:cNvSpPr txBox="1"/>
            <p:nvPr/>
          </p:nvSpPr>
          <p:spPr>
            <a:xfrm>
              <a:off x="7490878" y="2312740"/>
              <a:ext cx="1036407" cy="347596"/>
            </a:xfrm>
            <a:prstGeom prst="rect">
              <a:avLst/>
            </a:prstGeom>
            <a:noFill/>
          </p:spPr>
          <p:txBody>
            <a:bodyPr wrap="square" lIns="0" tIns="0" rIns="0" bIns="0" rtlCol="0">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800" b="1"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图像生成</a:t>
              </a:r>
              <a:endParaRPr kumimoji="0" lang="en-US" altLang="zh-CN" sz="800" b="1"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a:p>
              <a:pPr marL="0" marR="0" lvl="0" indent="0" algn="ctr" defTabSz="914400" rtl="0" eaLnBrk="1" fontAlgn="auto" latinLnBrk="0" hangingPunct="1">
                <a:lnSpc>
                  <a:spcPct val="150000"/>
                </a:lnSpc>
                <a:spcBef>
                  <a:spcPts val="0"/>
                </a:spcBef>
                <a:spcAft>
                  <a:spcPts val="0"/>
                </a:spcAft>
                <a:buClrTx/>
                <a:buSzTx/>
                <a:buFontTx/>
                <a:buNone/>
                <a:defRPr/>
              </a:pPr>
              <a:r>
                <a:rPr kumimoji="0" lang="en-US" altLang="zh-CN" sz="800" b="0"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~4000 </a:t>
              </a:r>
              <a:r>
                <a:rPr kumimoji="0" lang="zh-CN" altLang="en-US" sz="800" b="0"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高性能</a:t>
              </a:r>
              <a:r>
                <a:rPr kumimoji="0" lang="en-US" altLang="zh-CN" sz="800" b="0"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AI</a:t>
              </a:r>
              <a:r>
                <a:rPr kumimoji="0" lang="zh-CN" altLang="en-US" sz="800" b="0"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卡</a:t>
              </a:r>
              <a:endParaRPr kumimoji="0" lang="zh-CN" altLang="en-US" sz="800" b="0"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57" name="文本框 56"/>
            <p:cNvSpPr txBox="1"/>
            <p:nvPr/>
          </p:nvSpPr>
          <p:spPr>
            <a:xfrm>
              <a:off x="8557580" y="2312740"/>
              <a:ext cx="1077552" cy="347596"/>
            </a:xfrm>
            <a:prstGeom prst="rect">
              <a:avLst/>
            </a:prstGeom>
            <a:noFill/>
          </p:spPr>
          <p:txBody>
            <a:bodyPr wrap="square" lIns="0" tIns="0" rIns="0" bIns="0" rtlCol="0">
              <a:spAutoFit/>
            </a:bodyPr>
            <a:lstStyle>
              <a:defPPr>
                <a:defRPr lang="zh-CN"/>
              </a:defPPr>
              <a:lvl1pPr marR="0" lvl="0" indent="0" fontAlgn="auto">
                <a:lnSpc>
                  <a:spcPct val="150000"/>
                </a:lnSpc>
                <a:spcBef>
                  <a:spcPts val="0"/>
                </a:spcBef>
                <a:spcAft>
                  <a:spcPts val="0"/>
                </a:spcAft>
                <a:buClrTx/>
                <a:buSzTx/>
                <a:buFontTx/>
                <a:buNone/>
                <a:defRPr sz="800">
                  <a:solidFill>
                    <a:schemeClr val="bg2">
                      <a:lumMod val="50000"/>
                    </a:schemeClr>
                  </a:solidFill>
                  <a:latin typeface="+mn-ea"/>
                </a:defRPr>
              </a:lvl1p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800" b="1"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文本生成</a:t>
              </a:r>
              <a:endParaRPr kumimoji="0" lang="en-US" altLang="zh-CN" sz="800" b="1"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a:p>
              <a:pPr marL="0" marR="0" lvl="0" indent="0" algn="ctr" defTabSz="914400" rtl="0" eaLnBrk="1" fontAlgn="auto" latinLnBrk="0" hangingPunct="1">
                <a:lnSpc>
                  <a:spcPct val="150000"/>
                </a:lnSpc>
                <a:spcBef>
                  <a:spcPts val="0"/>
                </a:spcBef>
                <a:spcAft>
                  <a:spcPts val="0"/>
                </a:spcAft>
                <a:buClrTx/>
                <a:buSzTx/>
                <a:buFontTx/>
                <a:buNone/>
                <a:defRPr/>
              </a:pPr>
              <a:r>
                <a:rPr kumimoji="0" lang="en-US" altLang="zh-CN" sz="800" b="0"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~1</a:t>
              </a:r>
              <a:r>
                <a:rPr kumimoji="0" lang="zh-CN" altLang="en-US" sz="800" b="0"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万</a:t>
              </a:r>
              <a:r>
                <a:rPr kumimoji="0" lang="en-US" altLang="zh-CN" sz="800" b="0"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a:t>
              </a:r>
              <a:r>
                <a:rPr kumimoji="0" lang="zh-CN" altLang="en-US" sz="800" b="0"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高性能</a:t>
              </a:r>
              <a:r>
                <a:rPr kumimoji="0" lang="en-US" altLang="zh-CN" sz="800" b="0"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AI</a:t>
              </a:r>
              <a:r>
                <a:rPr kumimoji="0" lang="zh-CN" altLang="en-US" sz="800" b="0"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卡</a:t>
              </a:r>
              <a:endParaRPr kumimoji="0" lang="zh-CN" altLang="en-US" sz="800" b="0"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58" name="文本框 57"/>
            <p:cNvSpPr txBox="1"/>
            <p:nvPr/>
          </p:nvSpPr>
          <p:spPr>
            <a:xfrm>
              <a:off x="9667875" y="2312740"/>
              <a:ext cx="1063082" cy="162930"/>
            </a:xfrm>
            <a:prstGeom prst="rect">
              <a:avLst/>
            </a:prstGeom>
            <a:noFill/>
          </p:spPr>
          <p:txBody>
            <a:bodyPr wrap="square" lIns="0" tIns="0" rIns="0" bIns="0" rtlCol="0">
              <a:spAutoFit/>
            </a:bodyPr>
            <a:lstStyle>
              <a:defPPr>
                <a:defRPr lang="zh-CN"/>
              </a:defPPr>
              <a:lvl1pPr marR="0" lvl="0" indent="0" fontAlgn="auto">
                <a:lnSpc>
                  <a:spcPct val="150000"/>
                </a:lnSpc>
                <a:spcBef>
                  <a:spcPts val="0"/>
                </a:spcBef>
                <a:spcAft>
                  <a:spcPts val="0"/>
                </a:spcAft>
                <a:buClrTx/>
                <a:buSzTx/>
                <a:buFontTx/>
                <a:buNone/>
                <a:defRPr sz="800">
                  <a:solidFill>
                    <a:schemeClr val="bg2">
                      <a:lumMod val="50000"/>
                    </a:schemeClr>
                  </a:solidFill>
                  <a:latin typeface="+mn-ea"/>
                </a:defRPr>
              </a:lvl1p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800" b="1"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支持图像交互</a:t>
              </a:r>
              <a:endParaRPr kumimoji="0" lang="en-US" altLang="zh-CN" sz="800" b="1"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59" name="矩形 58"/>
            <p:cNvSpPr/>
            <p:nvPr/>
          </p:nvSpPr>
          <p:spPr>
            <a:xfrm>
              <a:off x="7763594" y="3253018"/>
              <a:ext cx="3356876" cy="854080"/>
            </a:xfrm>
            <a:prstGeom prst="rect">
              <a:avLst/>
            </a:prstGeom>
            <a:noFill/>
            <a:ln w="12700" cap="flat" cmpd="sng" algn="ctr">
              <a:noFill/>
              <a:prstDash val="solid"/>
              <a:round/>
              <a:headEnd type="none" w="med" len="med"/>
              <a:tailEnd type="none" w="med" len="med"/>
            </a:ln>
            <a:effectLst/>
          </p:spPr>
          <p:txBody>
            <a:bodyPr vert="horz" wrap="square" lIns="0" tIns="0" rIns="0" bIns="0" numCol="1" rtlCol="0" anchor="t" anchorCtr="0" compatLnSpc="1">
              <a:spAutoFit/>
            </a:bodyPr>
            <a:lstStyle/>
            <a:p>
              <a:pPr marL="0" marR="0" lvl="1" indent="0" algn="just" defTabSz="913765" rtl="0" eaLnBrk="1" fontAlgn="auto" latinLnBrk="0" hangingPunct="1">
                <a:lnSpc>
                  <a:spcPct val="150000"/>
                </a:lnSpc>
                <a:spcBef>
                  <a:spcPts val="0"/>
                </a:spcBef>
                <a:spcAft>
                  <a:spcPts val="0"/>
                </a:spcAft>
                <a:buClrTx/>
                <a:buSzTx/>
                <a:buFontTx/>
                <a:buNone/>
                <a:defRPr/>
              </a:pPr>
              <a:r>
                <a:rPr kumimoji="0" lang="en-US" altLang="zh-CN" sz="1000" b="1" i="0" u="none" strike="noStrike" kern="0" cap="none" spc="0" normalizeH="0" baseline="0" noProof="0" dirty="0" err="1">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ChatGPT</a:t>
              </a:r>
              <a:r>
                <a:rPr kumimoji="0" lang="zh-CN" altLang="en-US" sz="10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a:t>
              </a:r>
              <a:endParaRPr kumimoji="0" lang="en-US" altLang="zh-CN" sz="10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a:p>
              <a:pPr marL="0" marR="0" lvl="1" indent="0" algn="just" defTabSz="913765" rtl="0" eaLnBrk="1" fontAlgn="auto" latinLnBrk="0" hangingPunct="1">
                <a:lnSpc>
                  <a:spcPct val="150000"/>
                </a:lnSpc>
                <a:spcBef>
                  <a:spcPts val="0"/>
                </a:spcBef>
                <a:spcAft>
                  <a:spcPts val="0"/>
                </a:spcAft>
                <a:buClrTx/>
                <a:buSzTx/>
                <a:buFontTx/>
                <a:buNone/>
                <a:defRPr/>
              </a:pPr>
              <a:r>
                <a:rPr kumimoji="0" lang="zh-CN" altLang="en-US" sz="9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通过大算力</a:t>
              </a:r>
              <a:r>
                <a:rPr kumimoji="0" lang="en-US" altLang="zh-CN" sz="9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a:t>
              </a:r>
              <a:r>
                <a:rPr kumimoji="0" lang="zh-CN" altLang="en-US" sz="9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算法创新孵化催生，</a:t>
              </a:r>
              <a:r>
                <a:rPr kumimoji="0" lang="en-US" altLang="zh-CN" sz="9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5</a:t>
              </a:r>
              <a:r>
                <a:rPr kumimoji="0" lang="zh-CN" altLang="en-US" sz="9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天用户破百万，月活破亿仅</a:t>
              </a:r>
              <a:r>
                <a:rPr kumimoji="0" lang="en-US" altLang="zh-CN" sz="9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2</a:t>
              </a:r>
              <a:r>
                <a:rPr kumimoji="0" lang="zh-CN" altLang="en-US" sz="9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个月；通过谷歌</a:t>
              </a:r>
              <a:r>
                <a:rPr kumimoji="0" lang="en-US" altLang="zh-CN" sz="9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L3</a:t>
              </a:r>
              <a:r>
                <a:rPr kumimoji="0" lang="zh-CN" altLang="en-US" sz="9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工程师编程考试；比尔盖茨评价：</a:t>
              </a:r>
              <a:r>
                <a:rPr kumimoji="0" lang="en-US" altLang="zh-CN" sz="900" b="0" i="0" u="none" strike="noStrike" kern="0" cap="none" spc="0" normalizeH="0" baseline="0" noProof="0" dirty="0" err="1">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ChatGPT</a:t>
              </a:r>
              <a:r>
                <a:rPr kumimoji="0" lang="zh-CN" altLang="en-US" sz="9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的历史意义重大，不亚于</a:t>
              </a:r>
              <a:r>
                <a:rPr kumimoji="0" lang="en-US" altLang="zh-CN" sz="9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PC</a:t>
              </a:r>
              <a:r>
                <a:rPr kumimoji="0" lang="zh-CN" altLang="en-US" sz="9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或互联网诞生</a:t>
              </a:r>
              <a:endParaRPr kumimoji="0" lang="en-US" altLang="zh-CN" sz="10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60" name="矩形 59"/>
            <p:cNvSpPr/>
            <p:nvPr/>
          </p:nvSpPr>
          <p:spPr>
            <a:xfrm>
              <a:off x="7767729" y="4193236"/>
              <a:ext cx="2398388" cy="854080"/>
            </a:xfrm>
            <a:prstGeom prst="rect">
              <a:avLst/>
            </a:prstGeom>
            <a:noFill/>
            <a:ln w="12700" cap="flat" cmpd="sng" algn="ctr">
              <a:noFill/>
              <a:prstDash val="solid"/>
              <a:round/>
              <a:headEnd type="none" w="med" len="med"/>
              <a:tailEnd type="none" w="med" len="med"/>
            </a:ln>
            <a:effectLst/>
          </p:spPr>
          <p:txBody>
            <a:bodyPr vert="horz" wrap="square" lIns="0" tIns="0" rIns="0" bIns="0" numCol="1" rtlCol="0" anchor="t" anchorCtr="0" compatLnSpc="1">
              <a:spAutoFit/>
            </a:bodyPr>
            <a:lstStyle/>
            <a:p>
              <a:pPr marL="0" marR="0" lvl="1" indent="0" algn="just" defTabSz="913765" rtl="0" eaLnBrk="1" fontAlgn="auto" latinLnBrk="0" hangingPunct="1">
                <a:lnSpc>
                  <a:spcPct val="150000"/>
                </a:lnSpc>
                <a:spcBef>
                  <a:spcPts val="0"/>
                </a:spcBef>
                <a:spcAft>
                  <a:spcPts val="0"/>
                </a:spcAft>
                <a:buClrTx/>
                <a:buSzTx/>
                <a:buFontTx/>
                <a:buNone/>
                <a:defRPr/>
              </a:pPr>
              <a:r>
                <a:rPr kumimoji="0" lang="en-US" altLang="zh-CN" sz="10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GPT-4</a:t>
              </a:r>
              <a:r>
                <a:rPr kumimoji="0" lang="zh-CN" altLang="en-US" sz="10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：多模态大模型</a:t>
              </a:r>
              <a:endParaRPr kumimoji="0" lang="zh-CN" altLang="en-US" sz="10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a:p>
              <a:pPr marL="171450" marR="0" lvl="1" indent="-171450" algn="just" defTabSz="913765"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zh-CN" altLang="en-US" sz="9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支持聊天期间发送和接受图像</a:t>
              </a:r>
              <a:endParaRPr kumimoji="0" lang="en-US" altLang="zh-CN" sz="9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a:p>
              <a:pPr marL="171450" marR="0" lvl="1" indent="-171450" algn="just" defTabSz="913765"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zh-CN" altLang="en-US" sz="9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理解图像内容及深层含义</a:t>
              </a:r>
              <a:endParaRPr kumimoji="0" lang="en-US" altLang="zh-CN" sz="9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a:p>
              <a:pPr marL="171450" marR="0" lvl="1" indent="-171450" algn="just" defTabSz="913765"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zh-CN" altLang="en-US" sz="9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回答准确率显著提升</a:t>
              </a:r>
              <a:endParaRPr kumimoji="0" lang="en-US" altLang="zh-CN" sz="10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61" name="右箭头 92"/>
            <p:cNvSpPr/>
            <p:nvPr/>
          </p:nvSpPr>
          <p:spPr>
            <a:xfrm>
              <a:off x="6325870" y="1375288"/>
              <a:ext cx="1175418" cy="145296"/>
            </a:xfrm>
            <a:prstGeom prst="rightArrow">
              <a:avLst>
                <a:gd name="adj1" fmla="val 50000"/>
                <a:gd name="adj2" fmla="val 57113"/>
              </a:avLst>
            </a:prstGeom>
            <a:gradFill>
              <a:gsLst>
                <a:gs pos="0">
                  <a:srgbClr val="C7000B">
                    <a:alpha val="0"/>
                  </a:srgbClr>
                </a:gs>
                <a:gs pos="27949">
                  <a:srgbClr val="C7000B">
                    <a:alpha val="7874"/>
                  </a:srgbClr>
                </a:gs>
                <a:gs pos="63546">
                  <a:srgbClr val="C7000B">
                    <a:alpha val="45829"/>
                  </a:srgbClr>
                </a:gs>
                <a:gs pos="100000">
                  <a:srgbClr val="C7000B"/>
                </a:gs>
              </a:gsLst>
              <a:lin ang="0" scaled="0"/>
            </a:gradFill>
            <a:ln w="3175">
              <a:miter lim="400000"/>
            </a:ln>
          </p:spPr>
          <p:txBody>
            <a:bodyPr lIns="239557" tIns="239557" rIns="239557" bIns="239557"/>
            <a:lstStyle/>
            <a:p>
              <a:pPr marL="0" marR="0" lvl="0" indent="0" algn="l" defTabSz="300355" rtl="0" eaLnBrk="1" fontAlgn="auto" latinLnBrk="0" hangingPunct="1">
                <a:lnSpc>
                  <a:spcPct val="100000"/>
                </a:lnSpc>
                <a:spcBef>
                  <a:spcPts val="0"/>
                </a:spcBef>
                <a:spcAft>
                  <a:spcPts val="0"/>
                </a:spcAft>
                <a:buClrTx/>
                <a:buSzTx/>
                <a:buFontTx/>
                <a:buNone/>
                <a:defRPr/>
              </a:pPr>
              <a:endParaRPr kumimoji="0" lang="zh-CN" altLang="en-US" sz="100" b="0" i="0" u="none" strike="noStrike" kern="0" cap="none" spc="0" normalizeH="0" baseline="0" noProof="0">
                <a:ln>
                  <a:noFill/>
                </a:ln>
                <a:solidFill>
                  <a:srgbClr val="C7000B"/>
                </a:solidFill>
                <a:effectLst/>
                <a:uLnTx/>
                <a:uFillTx/>
                <a:latin typeface="Huawei Sans" panose="020B0A04020102020204"/>
                <a:ea typeface="微软雅黑" panose="020B0503020204020204" pitchFamily="34" charset="-122"/>
                <a:cs typeface="微软雅黑" panose="020B0503020204020204" pitchFamily="34" charset="-122"/>
                <a:sym typeface="Arial" panose="020B0604020202020204" pitchFamily="34" charset="0"/>
              </a:endParaRPr>
            </a:p>
          </p:txBody>
        </p:sp>
      </p:grpSp>
      <p:sp>
        <p:nvSpPr>
          <p:cNvPr id="62" name="矩形 61"/>
          <p:cNvSpPr/>
          <p:nvPr/>
        </p:nvSpPr>
        <p:spPr>
          <a:xfrm>
            <a:off x="8874328" y="5286463"/>
            <a:ext cx="2079865" cy="461665"/>
          </a:xfrm>
          <a:prstGeom prst="rect">
            <a:avLst/>
          </a:prstGeom>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00" b="1" i="0" u="none" strike="noStrike" kern="0" cap="none" spc="0" normalizeH="0" baseline="0" noProof="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2024</a:t>
            </a:r>
            <a:r>
              <a:rPr kumimoji="0" lang="zh-CN" altLang="en-US" sz="1000" b="1" i="0" u="none" strike="noStrike" kern="0" cap="none" spc="0" normalizeH="0" baseline="0" noProof="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年</a:t>
            </a:r>
            <a:r>
              <a:rPr kumimoji="0" lang="en-US" altLang="zh-CN" sz="1000" b="1" i="0" u="none" strike="noStrike" kern="0" cap="none" spc="0" normalizeH="0" baseline="0" noProof="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a:t>
            </a:r>
            <a:endParaRPr kumimoji="0" lang="en-US" altLang="zh-CN" sz="10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00" b="1" i="0" u="none" strike="noStrike" kern="0" cap="none" spc="0" normalizeH="0" baseline="0" noProof="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GPT4 | DeepSeekV4</a:t>
            </a:r>
            <a:endParaRPr kumimoji="0" lang="en-US" altLang="zh-CN" sz="1000" b="1" i="0" u="none" strike="noStrike" kern="0" cap="none" spc="0" normalizeH="0" baseline="0" noProof="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00" b="1" i="0" u="none" strike="noStrike" kern="0" cap="none" spc="0" normalizeH="0" baseline="0" noProof="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1T+</a:t>
            </a:r>
            <a:endParaRPr kumimoji="0" lang="en-US" altLang="zh-CN" sz="10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63" name="椭圆 62"/>
          <p:cNvSpPr/>
          <p:nvPr/>
        </p:nvSpPr>
        <p:spPr>
          <a:xfrm>
            <a:off x="9820147" y="5116634"/>
            <a:ext cx="104913" cy="99319"/>
          </a:xfrm>
          <a:prstGeom prst="ellipse">
            <a:avLst/>
          </a:prstGeom>
          <a:solidFill>
            <a:srgbClr val="666666"/>
          </a:solidFill>
          <a:ln w="2540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666666"/>
              </a:solidFill>
              <a:effectLst/>
              <a:uLnTx/>
              <a:uFillTx/>
              <a:latin typeface="Huawei Sans" panose="020B0A04020102020204"/>
              <a:ea typeface="微软雅黑" panose="020B0503020204020204" pitchFamily="34" charset="-122"/>
              <a:cs typeface="+mn-cs"/>
              <a:sym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4294967295"/>
          </p:nvPr>
        </p:nvSpPr>
        <p:spPr>
          <a:xfrm>
            <a:off x="364208" y="337756"/>
            <a:ext cx="11536363" cy="541337"/>
          </a:xfrm>
          <a:prstGeom prst="rect">
            <a:avLst/>
          </a:prstGeom>
        </p:spPr>
        <p:txBody>
          <a:bodyPr>
            <a:normAutofit/>
          </a:bodyPr>
          <a:lstStyle/>
          <a:p>
            <a:pPr marL="0" lvl="0" indent="0">
              <a:lnSpc>
                <a:spcPts val="3430"/>
              </a:lnSpc>
              <a:spcBef>
                <a:spcPts val="0"/>
              </a:spcBef>
              <a:spcAft>
                <a:spcPts val="0"/>
              </a:spcAft>
              <a:buClrTx/>
              <a:buSzTx/>
              <a:buNone/>
              <a:defRPr/>
            </a:pPr>
            <a:r>
              <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概念理解：人工智能、机器学习和深度学习关系</a:t>
            </a:r>
            <a:endPar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36" name="AutoShape 2" descr="https://pic4.zhimg.com/80/v2-82c86787816a40184af016238fce03db_1440w.webp"/>
          <p:cNvSpPr>
            <a:spLocks noChangeAspect="1" noChangeArrowheads="1"/>
          </p:cNvSpPr>
          <p:nvPr/>
        </p:nvSpPr>
        <p:spPr bwMode="auto">
          <a:xfrm>
            <a:off x="3821072" y="3168657"/>
            <a:ext cx="304721" cy="30472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16" tIns="45708" rIns="91416" bIns="45708"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pic>
        <p:nvPicPr>
          <p:cNvPr id="37" name="图片 36"/>
          <p:cNvPicPr>
            <a:picLocks noChangeAspect="1"/>
          </p:cNvPicPr>
          <p:nvPr/>
        </p:nvPicPr>
        <p:blipFill rotWithShape="1">
          <a:blip r:embed="rId1" cstate="screen"/>
          <a:srcRect b="4755"/>
          <a:stretch>
            <a:fillRect/>
          </a:stretch>
        </p:blipFill>
        <p:spPr>
          <a:xfrm>
            <a:off x="43618" y="1144619"/>
            <a:ext cx="7687409" cy="4657518"/>
          </a:xfrm>
          <a:prstGeom prst="rect">
            <a:avLst/>
          </a:prstGeom>
        </p:spPr>
      </p:pic>
      <p:sp>
        <p:nvSpPr>
          <p:cNvPr id="38" name="文本框 37"/>
          <p:cNvSpPr txBox="1"/>
          <p:nvPr/>
        </p:nvSpPr>
        <p:spPr>
          <a:xfrm>
            <a:off x="1958999" y="1607981"/>
            <a:ext cx="1107708" cy="369236"/>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800" b="1" i="0" u="sng"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人工智能</a:t>
            </a:r>
            <a:endParaRPr kumimoji="0" lang="zh-CN" altLang="en-US" sz="1800" b="1" i="0" u="sng"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9" name="文本框 38"/>
          <p:cNvSpPr txBox="1"/>
          <p:nvPr/>
        </p:nvSpPr>
        <p:spPr>
          <a:xfrm>
            <a:off x="4125791" y="2251299"/>
            <a:ext cx="1107708" cy="369236"/>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800" b="1" i="0" u="sng"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机器学习</a:t>
            </a:r>
            <a:endParaRPr kumimoji="0" lang="zh-CN" altLang="en-US" sz="1800" b="1" i="0" u="sng"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40" name="文本框 39"/>
          <p:cNvSpPr txBox="1"/>
          <p:nvPr/>
        </p:nvSpPr>
        <p:spPr>
          <a:xfrm>
            <a:off x="6132390" y="2799420"/>
            <a:ext cx="1107708" cy="369236"/>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800" b="1" i="0" u="sng"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深度学习</a:t>
            </a:r>
            <a:endParaRPr kumimoji="0" lang="zh-CN" altLang="en-US" sz="1800" b="1" i="0" u="sng"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cxnSp>
        <p:nvCxnSpPr>
          <p:cNvPr id="41" name="直接箭头连接符 40"/>
          <p:cNvCxnSpPr/>
          <p:nvPr/>
        </p:nvCxnSpPr>
        <p:spPr bwMode="auto">
          <a:xfrm>
            <a:off x="5959125" y="2493140"/>
            <a:ext cx="1938988" cy="0"/>
          </a:xfrm>
          <a:prstGeom prst="straightConnector1">
            <a:avLst/>
          </a:prstGeom>
          <a:solidFill>
            <a:srgbClr val="C7000A"/>
          </a:solidFill>
          <a:ln w="9525" cap="flat" cmpd="sng" algn="ctr">
            <a:solidFill>
              <a:srgbClr val="FFFFFF"/>
            </a:solidFill>
            <a:prstDash val="solid"/>
            <a:round/>
            <a:headEnd type="none" w="med" len="med"/>
            <a:tailEnd type="triangle"/>
          </a:ln>
          <a:effectLst/>
        </p:spPr>
      </p:cxnSp>
      <p:cxnSp>
        <p:nvCxnSpPr>
          <p:cNvPr id="43" name="直接箭头连接符 42"/>
          <p:cNvCxnSpPr/>
          <p:nvPr/>
        </p:nvCxnSpPr>
        <p:spPr bwMode="auto">
          <a:xfrm>
            <a:off x="6715013" y="4356854"/>
            <a:ext cx="1183101" cy="0"/>
          </a:xfrm>
          <a:prstGeom prst="straightConnector1">
            <a:avLst/>
          </a:prstGeom>
          <a:solidFill>
            <a:srgbClr val="C7000A"/>
          </a:solidFill>
          <a:ln w="9525" cap="flat" cmpd="sng" algn="ctr">
            <a:solidFill>
              <a:srgbClr val="FFFFFF"/>
            </a:solidFill>
            <a:prstDash val="solid"/>
            <a:round/>
            <a:headEnd type="none" w="med" len="med"/>
            <a:tailEnd type="triangle"/>
          </a:ln>
          <a:effectLst/>
        </p:spPr>
      </p:cxnSp>
      <p:sp>
        <p:nvSpPr>
          <p:cNvPr id="44" name="矩形 43"/>
          <p:cNvSpPr/>
          <p:nvPr/>
        </p:nvSpPr>
        <p:spPr>
          <a:xfrm>
            <a:off x="7893225" y="1200559"/>
            <a:ext cx="3929601" cy="1200329"/>
          </a:xfrm>
          <a:prstGeom prst="rect">
            <a:avLst/>
          </a:prstGeom>
          <a:solidFill>
            <a:srgbClr val="666666">
              <a:lumMod val="20000"/>
              <a:lumOff val="80000"/>
            </a:srgbClr>
          </a:solidFill>
          <a:ln>
            <a:solidFill>
              <a:srgbClr val="EBEBEB"/>
            </a:solidFill>
          </a:ln>
        </p:spPr>
        <p:txBody>
          <a:bodyPr wrap="square">
            <a:spAutoFit/>
          </a:bodyPr>
          <a:lstStyle/>
          <a:p>
            <a:pPr marL="0" marR="0" lvl="0" indent="0" algn="l" defTabSz="914400" rtl="0" eaLnBrk="0" fontAlgn="base" latinLnBrk="0" hangingPunct="0">
              <a:lnSpc>
                <a:spcPct val="150000"/>
              </a:lnSpc>
              <a:spcBef>
                <a:spcPct val="0"/>
              </a:spcBef>
              <a:spcAft>
                <a:spcPct val="0"/>
              </a:spcAft>
              <a:buClrTx/>
              <a:buSzTx/>
              <a:buFontTx/>
              <a:buNone/>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机器学习：人工智能的一个实现途径，设计和分析算法模型，让计算机能够模拟人类</a:t>
            </a:r>
            <a:endParaRPr kumimoji="0" lang="en-US" altLang="zh-CN"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50000"/>
              </a:lnSpc>
              <a:spcBef>
                <a:spcPct val="0"/>
              </a:spcBef>
              <a:spcAft>
                <a:spcPct val="0"/>
              </a:spcAft>
              <a:buClrTx/>
              <a:buSzTx/>
              <a:buFontTx/>
              <a:buNone/>
              <a:defRPr/>
            </a:pPr>
            <a:r>
              <a:rPr kumimoji="0" lang="zh-CN" altLang="en-US" sz="1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特点</a:t>
            </a:r>
            <a:r>
              <a:rPr kumimoji="0" lang="en-US" altLang="zh-CN" sz="1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1</a:t>
            </a:r>
            <a:r>
              <a:rPr kumimoji="0" lang="zh-CN" altLang="en-US" sz="1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：特征由人工设计、可解释</a:t>
            </a:r>
            <a:endParaRPr kumimoji="0" lang="en-US" altLang="zh-CN" sz="1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50000"/>
              </a:lnSpc>
              <a:spcBef>
                <a:spcPct val="0"/>
              </a:spcBef>
              <a:spcAft>
                <a:spcPct val="0"/>
              </a:spcAft>
              <a:buClrTx/>
              <a:buSzTx/>
              <a:buFontTx/>
              <a:buNone/>
              <a:defRPr/>
            </a:pPr>
            <a:r>
              <a:rPr kumimoji="0" lang="zh-CN" altLang="en-US" sz="1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特点</a:t>
            </a:r>
            <a:r>
              <a:rPr kumimoji="0" lang="en-US" altLang="zh-CN" sz="1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2</a:t>
            </a:r>
            <a:r>
              <a:rPr kumimoji="0" lang="zh-CN" altLang="en-US" sz="1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：数据规模相对较小</a:t>
            </a:r>
            <a:endParaRPr kumimoji="0" lang="zh-CN" altLang="en-US" sz="1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45" name="矩形 44"/>
          <p:cNvSpPr/>
          <p:nvPr/>
        </p:nvSpPr>
        <p:spPr>
          <a:xfrm>
            <a:off x="7898112" y="3868823"/>
            <a:ext cx="3975702" cy="1200329"/>
          </a:xfrm>
          <a:prstGeom prst="rect">
            <a:avLst/>
          </a:prstGeom>
          <a:solidFill>
            <a:srgbClr val="EBEBEB"/>
          </a:solidFill>
          <a:ln>
            <a:solidFill>
              <a:srgbClr val="EBEBEB"/>
            </a:solidFill>
          </a:ln>
        </p:spPr>
        <p:txBody>
          <a:bodyPr wrap="square">
            <a:spAutoFit/>
          </a:bodyPr>
          <a:lstStyle/>
          <a:p>
            <a:pPr marL="0" marR="0" lvl="0" indent="0" algn="l" defTabSz="914400" rtl="0" eaLnBrk="0" fontAlgn="base" latinLnBrk="0" hangingPunct="0">
              <a:lnSpc>
                <a:spcPct val="150000"/>
              </a:lnSpc>
              <a:spcBef>
                <a:spcPct val="0"/>
              </a:spcBef>
              <a:spcAft>
                <a:spcPct val="0"/>
              </a:spcAft>
              <a:buClrTx/>
              <a:buSzTx/>
              <a:buFontTx/>
              <a:buNone/>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深度学习：机器学习的特例，特指利用深度的神经网络，模拟人脑来解释数据</a:t>
            </a:r>
            <a:endParaRPr kumimoji="0" lang="en-US" altLang="zh-CN" sz="12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50000"/>
              </a:lnSpc>
              <a:spcBef>
                <a:spcPct val="0"/>
              </a:spcBef>
              <a:spcAft>
                <a:spcPct val="0"/>
              </a:spcAft>
              <a:buClrTx/>
              <a:buSzTx/>
              <a:buFontTx/>
              <a:buNone/>
              <a:defRPr/>
            </a:pPr>
            <a:r>
              <a:rPr kumimoji="0" lang="zh-CN" altLang="en-US" sz="1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特点</a:t>
            </a:r>
            <a:r>
              <a:rPr kumimoji="0" lang="en-US" altLang="zh-CN" sz="1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1</a:t>
            </a:r>
            <a:r>
              <a:rPr kumimoji="0" lang="zh-CN" altLang="en-US" sz="1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：从数据中直接学习，黑盒</a:t>
            </a:r>
            <a:endParaRPr kumimoji="0" lang="en-US" altLang="zh-CN" sz="1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50000"/>
              </a:lnSpc>
              <a:spcBef>
                <a:spcPct val="0"/>
              </a:spcBef>
              <a:spcAft>
                <a:spcPct val="0"/>
              </a:spcAft>
              <a:buClrTx/>
              <a:buSzTx/>
              <a:buFontTx/>
              <a:buNone/>
              <a:defRPr/>
            </a:pPr>
            <a:r>
              <a:rPr kumimoji="0" lang="zh-CN" altLang="en-US" sz="1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特点</a:t>
            </a:r>
            <a:r>
              <a:rPr kumimoji="0" lang="en-US" altLang="zh-CN" sz="1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2</a:t>
            </a:r>
            <a:r>
              <a:rPr kumimoji="0" lang="zh-CN" altLang="en-US" sz="1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：数据规模巨大</a:t>
            </a:r>
            <a:endParaRPr kumimoji="0" lang="zh-CN" altLang="en-US" sz="1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pic>
        <p:nvPicPr>
          <p:cNvPr id="49" name="图片 48"/>
          <p:cNvPicPr>
            <a:picLocks noChangeAspect="1"/>
          </p:cNvPicPr>
          <p:nvPr/>
        </p:nvPicPr>
        <p:blipFill>
          <a:blip r:embed="rId2" cstate="screen"/>
          <a:stretch>
            <a:fillRect/>
          </a:stretch>
        </p:blipFill>
        <p:spPr>
          <a:xfrm>
            <a:off x="7847123" y="2577439"/>
            <a:ext cx="3879670" cy="902355"/>
          </a:xfrm>
          <a:prstGeom prst="rect">
            <a:avLst/>
          </a:prstGeom>
        </p:spPr>
      </p:pic>
      <p:pic>
        <p:nvPicPr>
          <p:cNvPr id="50" name="图片 49"/>
          <p:cNvPicPr>
            <a:picLocks noChangeAspect="1"/>
          </p:cNvPicPr>
          <p:nvPr/>
        </p:nvPicPr>
        <p:blipFill>
          <a:blip r:embed="rId3" cstate="screen"/>
          <a:stretch>
            <a:fillRect/>
          </a:stretch>
        </p:blipFill>
        <p:spPr>
          <a:xfrm>
            <a:off x="7827058" y="5178600"/>
            <a:ext cx="3950725" cy="902355"/>
          </a:xfrm>
          <a:prstGeom prst="rect">
            <a:avLst/>
          </a:prstGeom>
        </p:spPr>
      </p:pic>
      <p:sp>
        <p:nvSpPr>
          <p:cNvPr id="14" name="文本框 13"/>
          <p:cNvSpPr txBox="1"/>
          <p:nvPr/>
        </p:nvSpPr>
        <p:spPr>
          <a:xfrm>
            <a:off x="517236" y="4068756"/>
            <a:ext cx="914400" cy="749478"/>
          </a:xfrm>
          <a:prstGeom prst="rect">
            <a:avLst/>
          </a:prstGeom>
          <a:noFill/>
        </p:spPr>
        <p:txBody>
          <a:bodyPr wrap="none"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专家系统</a:t>
            </a:r>
            <a:endParaRPr kumimoji="0" lang="en-US" altLang="zh-CN" sz="12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复杂系统</a:t>
            </a:r>
            <a:endParaRPr kumimoji="0" lang="en-US" altLang="zh-CN" sz="12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定理证明</a:t>
            </a:r>
            <a:endParaRPr kumimoji="0" lang="en-US" altLang="zh-CN" sz="12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事实与规则</a:t>
            </a:r>
            <a:endParaRPr kumimoji="0" lang="zh-CN" altLang="en-US" sz="12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p:txBody>
      </p:sp>
      <p:sp>
        <p:nvSpPr>
          <p:cNvPr id="15" name="文本框 14"/>
          <p:cNvSpPr txBox="1"/>
          <p:nvPr/>
        </p:nvSpPr>
        <p:spPr>
          <a:xfrm>
            <a:off x="2782124" y="4039250"/>
            <a:ext cx="914400" cy="749478"/>
          </a:xfrm>
          <a:prstGeom prst="rect">
            <a:avLst/>
          </a:prstGeom>
          <a:noFill/>
        </p:spPr>
        <p:txBody>
          <a:bodyPr wrap="none"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随机森林</a:t>
            </a:r>
            <a:endParaRPr kumimoji="0" lang="en-US" altLang="zh-CN" sz="12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决策树</a:t>
            </a:r>
            <a:endParaRPr kumimoji="0" lang="en-US" altLang="zh-CN" sz="12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贝叶斯学习</a:t>
            </a:r>
            <a:endParaRPr kumimoji="0" lang="en-US" altLang="zh-CN" sz="12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SVM</a:t>
            </a:r>
            <a:r>
              <a:rPr kumimoji="0" lang="zh-CN" altLang="en-US" sz="12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向量机</a:t>
            </a:r>
            <a:endParaRPr kumimoji="0" lang="zh-CN" altLang="en-US" sz="12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p:txBody>
      </p:sp>
      <p:sp>
        <p:nvSpPr>
          <p:cNvPr id="16" name="文本框 15"/>
          <p:cNvSpPr txBox="1"/>
          <p:nvPr/>
        </p:nvSpPr>
        <p:spPr>
          <a:xfrm>
            <a:off x="5047013" y="4192688"/>
            <a:ext cx="724958" cy="749478"/>
          </a:xfrm>
          <a:prstGeom prst="rect">
            <a:avLst/>
          </a:prstGeom>
          <a:noFill/>
        </p:spPr>
        <p:txBody>
          <a:bodyPr wrap="none"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NN</a:t>
            </a:r>
            <a:endParaRPr kumimoji="0" lang="en-US" altLang="zh-CN" sz="12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CNN</a:t>
            </a:r>
            <a:endParaRPr kumimoji="0" lang="en-US" altLang="zh-CN" sz="12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RNN</a:t>
            </a:r>
            <a:endParaRPr kumimoji="0" lang="zh-CN" altLang="en-US" sz="12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p:txBody>
      </p:sp>
      <p:sp>
        <p:nvSpPr>
          <p:cNvPr id="17" name="矩形 16"/>
          <p:cNvSpPr/>
          <p:nvPr/>
        </p:nvSpPr>
        <p:spPr>
          <a:xfrm>
            <a:off x="6285345" y="4632587"/>
            <a:ext cx="1145381" cy="312283"/>
          </a:xfrm>
          <a:prstGeom prst="rect">
            <a:avLst/>
          </a:prstGeom>
          <a:solidFill>
            <a:srgbClr val="00B050"/>
          </a:solidFill>
          <a:ln w="6350" cap="flat" cmpd="sng" algn="ctr">
            <a:solidFill>
              <a:schemeClr val="tx2"/>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1" lang="en-US" altLang="zh-CN"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Transformer</a:t>
            </a:r>
            <a:endParaRPr kumimoji="1" lang="zh-CN" altLang="en-US"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4294967295"/>
          </p:nvPr>
        </p:nvSpPr>
        <p:spPr>
          <a:xfrm>
            <a:off x="447304" y="305858"/>
            <a:ext cx="11536363" cy="541338"/>
          </a:xfrm>
          <a:prstGeom prst="rect">
            <a:avLst/>
          </a:prstGeom>
        </p:spPr>
        <p:txBody>
          <a:bodyPr>
            <a:normAutofit/>
          </a:bodyPr>
          <a:lstStyle/>
          <a:p>
            <a:pPr marL="0" lvl="0" indent="0">
              <a:lnSpc>
                <a:spcPts val="3430"/>
              </a:lnSpc>
              <a:spcBef>
                <a:spcPts val="0"/>
              </a:spcBef>
              <a:spcAft>
                <a:spcPts val="0"/>
              </a:spcAft>
              <a:buClrTx/>
              <a:buSzTx/>
              <a:buNone/>
              <a:defRPr/>
            </a:pPr>
            <a:r>
              <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人工智能核心三要素： 数据  +  算法 + 算力</a:t>
            </a:r>
            <a:endPar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9" name="矩形 48"/>
          <p:cNvSpPr/>
          <p:nvPr/>
        </p:nvSpPr>
        <p:spPr>
          <a:xfrm>
            <a:off x="5604846" y="819099"/>
            <a:ext cx="5858492" cy="3744684"/>
          </a:xfrm>
          <a:prstGeom prst="rect">
            <a:avLst/>
          </a:prstGeom>
          <a:gradFill>
            <a:gsLst>
              <a:gs pos="100000">
                <a:srgbClr val="FFFFFF">
                  <a:lumMod val="95000"/>
                  <a:alpha val="0"/>
                </a:srgbClr>
              </a:gs>
              <a:gs pos="0">
                <a:srgbClr val="FFFFFF">
                  <a:lumMod val="95000"/>
                </a:srgbClr>
              </a:gs>
            </a:gsLst>
            <a:lin ang="5400000" scaled="0"/>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dirty="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endParaRPr>
          </a:p>
        </p:txBody>
      </p:sp>
      <p:sp>
        <p:nvSpPr>
          <p:cNvPr id="50" name="矩形 49"/>
          <p:cNvSpPr/>
          <p:nvPr/>
        </p:nvSpPr>
        <p:spPr>
          <a:xfrm>
            <a:off x="5604846" y="819100"/>
            <a:ext cx="5858492" cy="543629"/>
          </a:xfrm>
          <a:prstGeom prst="rect">
            <a:avLst/>
          </a:prstGeom>
          <a:solidFill>
            <a:srgbClr val="C00000"/>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666666"/>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graphicFrame>
        <p:nvGraphicFramePr>
          <p:cNvPr id="51" name="表格 50"/>
          <p:cNvGraphicFramePr>
            <a:graphicFrameLocks noGrp="1"/>
          </p:cNvGraphicFramePr>
          <p:nvPr/>
        </p:nvGraphicFramePr>
        <p:xfrm>
          <a:off x="5705318" y="831799"/>
          <a:ext cx="5651999" cy="3162200"/>
        </p:xfrm>
        <a:graphic>
          <a:graphicData uri="http://schemas.openxmlformats.org/drawingml/2006/table">
            <a:tbl>
              <a:tblPr firstRow="1" bandRow="1"/>
              <a:tblGrid>
                <a:gridCol w="1796115"/>
                <a:gridCol w="1971884"/>
                <a:gridCol w="1884000"/>
              </a:tblGrid>
              <a:tr h="516157">
                <a:tc>
                  <a:txBody>
                    <a:bodyPr/>
                    <a:lstStyle>
                      <a:lvl1pPr marL="0" algn="l" defTabSz="1188085" rtl="0" eaLnBrk="1" latinLnBrk="0" hangingPunct="1">
                        <a:defRPr sz="2340" b="1" kern="1200">
                          <a:solidFill>
                            <a:schemeClr val="dk1"/>
                          </a:solidFill>
                          <a:latin typeface="Arial" panose="020B0604020202020204"/>
                          <a:ea typeface="微软雅黑" panose="020B0503020204020204" pitchFamily="34" charset="-122"/>
                          <a:cs typeface="苹方-简"/>
                        </a:defRPr>
                      </a:lvl1pPr>
                      <a:lvl2pPr marL="593725" algn="l" defTabSz="1188085" rtl="0" eaLnBrk="1" latinLnBrk="0" hangingPunct="1">
                        <a:defRPr sz="2340" b="1" kern="1200">
                          <a:solidFill>
                            <a:schemeClr val="dk1"/>
                          </a:solidFill>
                          <a:latin typeface="Arial" panose="020B0604020202020204"/>
                          <a:ea typeface="微软雅黑" panose="020B0503020204020204" pitchFamily="34" charset="-122"/>
                          <a:cs typeface="苹方-简"/>
                        </a:defRPr>
                      </a:lvl2pPr>
                      <a:lvl3pPr marL="1188085" algn="l" defTabSz="1188085" rtl="0" eaLnBrk="1" latinLnBrk="0" hangingPunct="1">
                        <a:defRPr sz="2340" b="1" kern="1200">
                          <a:solidFill>
                            <a:schemeClr val="dk1"/>
                          </a:solidFill>
                          <a:latin typeface="Arial" panose="020B0604020202020204"/>
                          <a:ea typeface="微软雅黑" panose="020B0503020204020204" pitchFamily="34" charset="-122"/>
                          <a:cs typeface="苹方-简"/>
                        </a:defRPr>
                      </a:lvl3pPr>
                      <a:lvl4pPr marL="1781810" algn="l" defTabSz="1188085" rtl="0" eaLnBrk="1" latinLnBrk="0" hangingPunct="1">
                        <a:defRPr sz="2340" b="1" kern="1200">
                          <a:solidFill>
                            <a:schemeClr val="dk1"/>
                          </a:solidFill>
                          <a:latin typeface="Arial" panose="020B0604020202020204"/>
                          <a:ea typeface="微软雅黑" panose="020B0503020204020204" pitchFamily="34" charset="-122"/>
                          <a:cs typeface="苹方-简"/>
                        </a:defRPr>
                      </a:lvl4pPr>
                      <a:lvl5pPr marL="2375535" algn="l" defTabSz="1188085" rtl="0" eaLnBrk="1" latinLnBrk="0" hangingPunct="1">
                        <a:defRPr sz="2340" b="1" kern="1200">
                          <a:solidFill>
                            <a:schemeClr val="dk1"/>
                          </a:solidFill>
                          <a:latin typeface="Arial" panose="020B0604020202020204"/>
                          <a:ea typeface="微软雅黑" panose="020B0503020204020204" pitchFamily="34" charset="-122"/>
                          <a:cs typeface="苹方-简"/>
                        </a:defRPr>
                      </a:lvl5pPr>
                      <a:lvl6pPr marL="2969260" algn="l" defTabSz="1188085" rtl="0" eaLnBrk="1" latinLnBrk="0" hangingPunct="1">
                        <a:defRPr sz="2340" b="1" kern="1200">
                          <a:solidFill>
                            <a:schemeClr val="dk1"/>
                          </a:solidFill>
                          <a:latin typeface="Arial" panose="020B0604020202020204"/>
                          <a:ea typeface="微软雅黑" panose="020B0503020204020204" pitchFamily="34" charset="-122"/>
                          <a:cs typeface="苹方-简"/>
                        </a:defRPr>
                      </a:lvl6pPr>
                      <a:lvl7pPr marL="3563620" algn="l" defTabSz="1188085" rtl="0" eaLnBrk="1" latinLnBrk="0" hangingPunct="1">
                        <a:defRPr sz="2340" b="1" kern="1200">
                          <a:solidFill>
                            <a:schemeClr val="dk1"/>
                          </a:solidFill>
                          <a:latin typeface="Arial" panose="020B0604020202020204"/>
                          <a:ea typeface="微软雅黑" panose="020B0503020204020204" pitchFamily="34" charset="-122"/>
                          <a:cs typeface="苹方-简"/>
                        </a:defRPr>
                      </a:lvl7pPr>
                      <a:lvl8pPr marL="4157345" algn="l" defTabSz="1188085" rtl="0" eaLnBrk="1" latinLnBrk="0" hangingPunct="1">
                        <a:defRPr sz="2340" b="1" kern="1200">
                          <a:solidFill>
                            <a:schemeClr val="dk1"/>
                          </a:solidFill>
                          <a:latin typeface="Arial" panose="020B0604020202020204"/>
                          <a:ea typeface="微软雅黑" panose="020B0503020204020204" pitchFamily="34" charset="-122"/>
                          <a:cs typeface="苹方-简"/>
                        </a:defRPr>
                      </a:lvl8pPr>
                      <a:lvl9pPr marL="4751070" algn="l" defTabSz="1188085" rtl="0" eaLnBrk="1" latinLnBrk="0" hangingPunct="1">
                        <a:defRPr sz="2340" b="1" kern="1200">
                          <a:solidFill>
                            <a:schemeClr val="dk1"/>
                          </a:solidFill>
                          <a:latin typeface="Arial" panose="020B0604020202020204"/>
                          <a:ea typeface="微软雅黑" panose="020B0503020204020204" pitchFamily="34" charset="-122"/>
                          <a:cs typeface="苹方-简"/>
                        </a:defRPr>
                      </a:lvl9pPr>
                    </a:lstStyle>
                    <a:p>
                      <a:pPr marL="0" algn="l" defTabSz="914400" rtl="0" eaLnBrk="1" latinLnBrk="0" hangingPunct="1">
                        <a:lnSpc>
                          <a:spcPct val="150000"/>
                        </a:lnSpc>
                      </a:pPr>
                      <a:endParaRPr kumimoji="1" lang="zh-CN" altLang="en-US" sz="1000" kern="1200" dirty="0">
                        <a:solidFill>
                          <a:srgbClr val="000000"/>
                        </a:solidFill>
                        <a:latin typeface="+mn-ea"/>
                        <a:cs typeface="+mn-cs"/>
                        <a:sym typeface="Arial" panose="020B0604020202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1188085" rtl="0" eaLnBrk="1" latinLnBrk="0" hangingPunct="1">
                        <a:defRPr sz="2340" b="1" kern="1200">
                          <a:solidFill>
                            <a:schemeClr val="dk1"/>
                          </a:solidFill>
                          <a:latin typeface="Arial" panose="020B0604020202020204"/>
                          <a:ea typeface="微软雅黑" panose="020B0503020204020204" pitchFamily="34" charset="-122"/>
                          <a:cs typeface="苹方-简"/>
                        </a:defRPr>
                      </a:lvl1pPr>
                      <a:lvl2pPr marL="593725" algn="l" defTabSz="1188085" rtl="0" eaLnBrk="1" latinLnBrk="0" hangingPunct="1">
                        <a:defRPr sz="2340" b="1" kern="1200">
                          <a:solidFill>
                            <a:schemeClr val="dk1"/>
                          </a:solidFill>
                          <a:latin typeface="Arial" panose="020B0604020202020204"/>
                          <a:ea typeface="微软雅黑" panose="020B0503020204020204" pitchFamily="34" charset="-122"/>
                          <a:cs typeface="苹方-简"/>
                        </a:defRPr>
                      </a:lvl2pPr>
                      <a:lvl3pPr marL="1188085" algn="l" defTabSz="1188085" rtl="0" eaLnBrk="1" latinLnBrk="0" hangingPunct="1">
                        <a:defRPr sz="2340" b="1" kern="1200">
                          <a:solidFill>
                            <a:schemeClr val="dk1"/>
                          </a:solidFill>
                          <a:latin typeface="Arial" panose="020B0604020202020204"/>
                          <a:ea typeface="微软雅黑" panose="020B0503020204020204" pitchFamily="34" charset="-122"/>
                          <a:cs typeface="苹方-简"/>
                        </a:defRPr>
                      </a:lvl3pPr>
                      <a:lvl4pPr marL="1781810" algn="l" defTabSz="1188085" rtl="0" eaLnBrk="1" latinLnBrk="0" hangingPunct="1">
                        <a:defRPr sz="2340" b="1" kern="1200">
                          <a:solidFill>
                            <a:schemeClr val="dk1"/>
                          </a:solidFill>
                          <a:latin typeface="Arial" panose="020B0604020202020204"/>
                          <a:ea typeface="微软雅黑" panose="020B0503020204020204" pitchFamily="34" charset="-122"/>
                          <a:cs typeface="苹方-简"/>
                        </a:defRPr>
                      </a:lvl4pPr>
                      <a:lvl5pPr marL="2375535" algn="l" defTabSz="1188085" rtl="0" eaLnBrk="1" latinLnBrk="0" hangingPunct="1">
                        <a:defRPr sz="2340" b="1" kern="1200">
                          <a:solidFill>
                            <a:schemeClr val="dk1"/>
                          </a:solidFill>
                          <a:latin typeface="Arial" panose="020B0604020202020204"/>
                          <a:ea typeface="微软雅黑" panose="020B0503020204020204" pitchFamily="34" charset="-122"/>
                          <a:cs typeface="苹方-简"/>
                        </a:defRPr>
                      </a:lvl5pPr>
                      <a:lvl6pPr marL="2969260" algn="l" defTabSz="1188085" rtl="0" eaLnBrk="1" latinLnBrk="0" hangingPunct="1">
                        <a:defRPr sz="2340" b="1" kern="1200">
                          <a:solidFill>
                            <a:schemeClr val="dk1"/>
                          </a:solidFill>
                          <a:latin typeface="Arial" panose="020B0604020202020204"/>
                          <a:ea typeface="微软雅黑" panose="020B0503020204020204" pitchFamily="34" charset="-122"/>
                          <a:cs typeface="苹方-简"/>
                        </a:defRPr>
                      </a:lvl6pPr>
                      <a:lvl7pPr marL="3563620" algn="l" defTabSz="1188085" rtl="0" eaLnBrk="1" latinLnBrk="0" hangingPunct="1">
                        <a:defRPr sz="2340" b="1" kern="1200">
                          <a:solidFill>
                            <a:schemeClr val="dk1"/>
                          </a:solidFill>
                          <a:latin typeface="Arial" panose="020B0604020202020204"/>
                          <a:ea typeface="微软雅黑" panose="020B0503020204020204" pitchFamily="34" charset="-122"/>
                          <a:cs typeface="苹方-简"/>
                        </a:defRPr>
                      </a:lvl7pPr>
                      <a:lvl8pPr marL="4157345" algn="l" defTabSz="1188085" rtl="0" eaLnBrk="1" latinLnBrk="0" hangingPunct="1">
                        <a:defRPr sz="2340" b="1" kern="1200">
                          <a:solidFill>
                            <a:schemeClr val="dk1"/>
                          </a:solidFill>
                          <a:latin typeface="Arial" panose="020B0604020202020204"/>
                          <a:ea typeface="微软雅黑" panose="020B0503020204020204" pitchFamily="34" charset="-122"/>
                          <a:cs typeface="苹方-简"/>
                        </a:defRPr>
                      </a:lvl8pPr>
                      <a:lvl9pPr marL="4751070" algn="l" defTabSz="1188085" rtl="0" eaLnBrk="1" latinLnBrk="0" hangingPunct="1">
                        <a:defRPr sz="2340" b="1" kern="1200">
                          <a:solidFill>
                            <a:schemeClr val="dk1"/>
                          </a:solidFill>
                          <a:latin typeface="Arial" panose="020B0604020202020204"/>
                          <a:ea typeface="微软雅黑" panose="020B0503020204020204" pitchFamily="34" charset="-122"/>
                          <a:cs typeface="苹方-简"/>
                        </a:defRPr>
                      </a:lvl9pPr>
                    </a:lstStyle>
                    <a:p>
                      <a:pPr marL="0" algn="l" defTabSz="914400" rtl="0" eaLnBrk="1" latinLnBrk="0" hangingPunct="1"/>
                      <a:endParaRPr kumimoji="1" lang="zh-CN" altLang="en-US" sz="1000" kern="1200" dirty="0">
                        <a:solidFill>
                          <a:srgbClr val="000000"/>
                        </a:solidFill>
                        <a:latin typeface="+mn-ea"/>
                        <a:cs typeface="+mn-cs"/>
                        <a:sym typeface="Arial" panose="020B0604020202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1188085" rtl="0" eaLnBrk="1" latinLnBrk="0" hangingPunct="1">
                        <a:defRPr sz="2340" b="1" kern="1200">
                          <a:solidFill>
                            <a:schemeClr val="dk1"/>
                          </a:solidFill>
                          <a:latin typeface="Arial" panose="020B0604020202020204"/>
                          <a:ea typeface="微软雅黑" panose="020B0503020204020204" pitchFamily="34" charset="-122"/>
                          <a:cs typeface="苹方-简"/>
                        </a:defRPr>
                      </a:lvl1pPr>
                      <a:lvl2pPr marL="593725" algn="l" defTabSz="1188085" rtl="0" eaLnBrk="1" latinLnBrk="0" hangingPunct="1">
                        <a:defRPr sz="2340" b="1" kern="1200">
                          <a:solidFill>
                            <a:schemeClr val="dk1"/>
                          </a:solidFill>
                          <a:latin typeface="Arial" panose="020B0604020202020204"/>
                          <a:ea typeface="微软雅黑" panose="020B0503020204020204" pitchFamily="34" charset="-122"/>
                          <a:cs typeface="苹方-简"/>
                        </a:defRPr>
                      </a:lvl2pPr>
                      <a:lvl3pPr marL="1188085" algn="l" defTabSz="1188085" rtl="0" eaLnBrk="1" latinLnBrk="0" hangingPunct="1">
                        <a:defRPr sz="2340" b="1" kern="1200">
                          <a:solidFill>
                            <a:schemeClr val="dk1"/>
                          </a:solidFill>
                          <a:latin typeface="Arial" panose="020B0604020202020204"/>
                          <a:ea typeface="微软雅黑" panose="020B0503020204020204" pitchFamily="34" charset="-122"/>
                          <a:cs typeface="苹方-简"/>
                        </a:defRPr>
                      </a:lvl3pPr>
                      <a:lvl4pPr marL="1781810" algn="l" defTabSz="1188085" rtl="0" eaLnBrk="1" latinLnBrk="0" hangingPunct="1">
                        <a:defRPr sz="2340" b="1" kern="1200">
                          <a:solidFill>
                            <a:schemeClr val="dk1"/>
                          </a:solidFill>
                          <a:latin typeface="Arial" panose="020B0604020202020204"/>
                          <a:ea typeface="微软雅黑" panose="020B0503020204020204" pitchFamily="34" charset="-122"/>
                          <a:cs typeface="苹方-简"/>
                        </a:defRPr>
                      </a:lvl4pPr>
                      <a:lvl5pPr marL="2375535" algn="l" defTabSz="1188085" rtl="0" eaLnBrk="1" latinLnBrk="0" hangingPunct="1">
                        <a:defRPr sz="2340" b="1" kern="1200">
                          <a:solidFill>
                            <a:schemeClr val="dk1"/>
                          </a:solidFill>
                          <a:latin typeface="Arial" panose="020B0604020202020204"/>
                          <a:ea typeface="微软雅黑" panose="020B0503020204020204" pitchFamily="34" charset="-122"/>
                          <a:cs typeface="苹方-简"/>
                        </a:defRPr>
                      </a:lvl5pPr>
                      <a:lvl6pPr marL="2969260" algn="l" defTabSz="1188085" rtl="0" eaLnBrk="1" latinLnBrk="0" hangingPunct="1">
                        <a:defRPr sz="2340" b="1" kern="1200">
                          <a:solidFill>
                            <a:schemeClr val="dk1"/>
                          </a:solidFill>
                          <a:latin typeface="Arial" panose="020B0604020202020204"/>
                          <a:ea typeface="微软雅黑" panose="020B0503020204020204" pitchFamily="34" charset="-122"/>
                          <a:cs typeface="苹方-简"/>
                        </a:defRPr>
                      </a:lvl6pPr>
                      <a:lvl7pPr marL="3563620" algn="l" defTabSz="1188085" rtl="0" eaLnBrk="1" latinLnBrk="0" hangingPunct="1">
                        <a:defRPr sz="2340" b="1" kern="1200">
                          <a:solidFill>
                            <a:schemeClr val="dk1"/>
                          </a:solidFill>
                          <a:latin typeface="Arial" panose="020B0604020202020204"/>
                          <a:ea typeface="微软雅黑" panose="020B0503020204020204" pitchFamily="34" charset="-122"/>
                          <a:cs typeface="苹方-简"/>
                        </a:defRPr>
                      </a:lvl7pPr>
                      <a:lvl8pPr marL="4157345" algn="l" defTabSz="1188085" rtl="0" eaLnBrk="1" latinLnBrk="0" hangingPunct="1">
                        <a:defRPr sz="2340" b="1" kern="1200">
                          <a:solidFill>
                            <a:schemeClr val="dk1"/>
                          </a:solidFill>
                          <a:latin typeface="Arial" panose="020B0604020202020204"/>
                          <a:ea typeface="微软雅黑" panose="020B0503020204020204" pitchFamily="34" charset="-122"/>
                          <a:cs typeface="苹方-简"/>
                        </a:defRPr>
                      </a:lvl8pPr>
                      <a:lvl9pPr marL="4751070" algn="l" defTabSz="1188085" rtl="0" eaLnBrk="1" latinLnBrk="0" hangingPunct="1">
                        <a:defRPr sz="2340" b="1" kern="1200">
                          <a:solidFill>
                            <a:schemeClr val="dk1"/>
                          </a:solidFill>
                          <a:latin typeface="Arial" panose="020B0604020202020204"/>
                          <a:ea typeface="微软雅黑" panose="020B0503020204020204" pitchFamily="34" charset="-122"/>
                          <a:cs typeface="苹方-简"/>
                        </a:defRPr>
                      </a:lvl9pPr>
                    </a:lstStyle>
                    <a:p>
                      <a:pPr marL="0" algn="l" defTabSz="914400" rtl="0" eaLnBrk="1" latinLnBrk="0" hangingPunct="1"/>
                      <a:endParaRPr kumimoji="1" lang="zh-CN" altLang="en-US" sz="1000" kern="1200" dirty="0">
                        <a:solidFill>
                          <a:srgbClr val="000000"/>
                        </a:solidFill>
                        <a:latin typeface="+mn-ea"/>
                        <a:cs typeface="+mn-cs"/>
                        <a:sym typeface="Arial" panose="020B0604020202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r h="878060">
                <a:tc>
                  <a:txBody>
                    <a:bodyPr/>
                    <a:lstStyle>
                      <a:lvl1pPr marL="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1pPr>
                      <a:lvl2pPr marL="593725"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2pPr>
                      <a:lvl3pPr marL="1188085"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3pPr>
                      <a:lvl4pPr marL="178181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4pPr>
                      <a:lvl5pPr marL="2375535"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5pPr>
                      <a:lvl6pPr marL="296926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6pPr>
                      <a:lvl7pPr marL="356362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7pPr>
                      <a:lvl8pPr marL="4157345"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8pPr>
                      <a:lvl9pPr marL="475107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9pPr>
                    </a:lstStyle>
                    <a:p>
                      <a:pPr marL="0" algn="l" defTabSz="914400" rtl="0" eaLnBrk="1" latinLnBrk="0" hangingPunct="1"/>
                      <a:endParaRPr kumimoji="1" lang="zh-CN" altLang="en-US" sz="1000" kern="1200" dirty="0">
                        <a:solidFill>
                          <a:srgbClr val="000000"/>
                        </a:solidFill>
                        <a:latin typeface="+mn-ea"/>
                        <a:cs typeface="+mn-cs"/>
                        <a:sym typeface="Arial" panose="020B0604020202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1pPr>
                      <a:lvl2pPr marL="593725"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2pPr>
                      <a:lvl3pPr marL="1188085"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3pPr>
                      <a:lvl4pPr marL="178181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4pPr>
                      <a:lvl5pPr marL="2375535"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5pPr>
                      <a:lvl6pPr marL="296926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6pPr>
                      <a:lvl7pPr marL="356362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7pPr>
                      <a:lvl8pPr marL="4157345"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8pPr>
                      <a:lvl9pPr marL="475107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9pPr>
                    </a:lstStyle>
                    <a:p>
                      <a:pPr marL="0" algn="l" defTabSz="914400" rtl="0" eaLnBrk="1" latinLnBrk="0" hangingPunct="1"/>
                      <a:endParaRPr kumimoji="1" lang="zh-CN" altLang="en-US" sz="1000" kern="1200" dirty="0">
                        <a:solidFill>
                          <a:srgbClr val="000000"/>
                        </a:solidFill>
                        <a:latin typeface="+mn-ea"/>
                        <a:cs typeface="+mn-cs"/>
                        <a:sym typeface="Arial" panose="020B0604020202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1pPr>
                      <a:lvl2pPr marL="593725"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2pPr>
                      <a:lvl3pPr marL="1188085"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3pPr>
                      <a:lvl4pPr marL="178181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4pPr>
                      <a:lvl5pPr marL="2375535"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5pPr>
                      <a:lvl6pPr marL="296926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6pPr>
                      <a:lvl7pPr marL="356362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7pPr>
                      <a:lvl8pPr marL="4157345"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8pPr>
                      <a:lvl9pPr marL="475107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9pPr>
                    </a:lstStyle>
                    <a:p>
                      <a:pPr marL="0" algn="l" defTabSz="914400" rtl="0" eaLnBrk="1" latinLnBrk="0" hangingPunct="1"/>
                      <a:endParaRPr kumimoji="1" lang="zh-CN" altLang="en-US" sz="1000" kern="1200" dirty="0">
                        <a:solidFill>
                          <a:srgbClr val="000000"/>
                        </a:solidFill>
                        <a:latin typeface="+mn-ea"/>
                        <a:cs typeface="+mn-cs"/>
                        <a:sym typeface="Arial" panose="020B0604020202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r h="901790">
                <a:tc>
                  <a:txBody>
                    <a:bodyPr/>
                    <a:lstStyle>
                      <a:lvl1pPr marL="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1pPr>
                      <a:lvl2pPr marL="593725"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2pPr>
                      <a:lvl3pPr marL="1188085"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3pPr>
                      <a:lvl4pPr marL="178181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4pPr>
                      <a:lvl5pPr marL="2375535"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5pPr>
                      <a:lvl6pPr marL="296926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6pPr>
                      <a:lvl7pPr marL="356362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7pPr>
                      <a:lvl8pPr marL="4157345"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8pPr>
                      <a:lvl9pPr marL="475107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9pPr>
                    </a:lstStyle>
                    <a:p>
                      <a:pPr marL="0" algn="l" defTabSz="914400" rtl="0" eaLnBrk="1" latinLnBrk="0" hangingPunct="1"/>
                      <a:endParaRPr kumimoji="1" lang="zh-CN" altLang="en-US" sz="1000" kern="1200" dirty="0">
                        <a:solidFill>
                          <a:srgbClr val="000000"/>
                        </a:solidFill>
                        <a:latin typeface="+mn-ea"/>
                        <a:cs typeface="+mn-cs"/>
                        <a:sym typeface="Arial" panose="020B0604020202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1pPr>
                      <a:lvl2pPr marL="593725"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2pPr>
                      <a:lvl3pPr marL="1188085"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3pPr>
                      <a:lvl4pPr marL="178181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4pPr>
                      <a:lvl5pPr marL="2375535"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5pPr>
                      <a:lvl6pPr marL="296926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6pPr>
                      <a:lvl7pPr marL="356362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7pPr>
                      <a:lvl8pPr marL="4157345"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8pPr>
                      <a:lvl9pPr marL="475107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9pPr>
                    </a:lstStyle>
                    <a:p>
                      <a:pPr marL="0" algn="l" defTabSz="914400" rtl="0" eaLnBrk="1" latinLnBrk="0" hangingPunct="1"/>
                      <a:endParaRPr kumimoji="1" lang="zh-CN" altLang="en-US" sz="1000" kern="1200" dirty="0">
                        <a:solidFill>
                          <a:srgbClr val="000000"/>
                        </a:solidFill>
                        <a:latin typeface="+mn-ea"/>
                        <a:cs typeface="+mn-cs"/>
                        <a:sym typeface="Arial" panose="020B0604020202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1pPr>
                      <a:lvl2pPr marL="593725"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2pPr>
                      <a:lvl3pPr marL="1188085"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3pPr>
                      <a:lvl4pPr marL="178181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4pPr>
                      <a:lvl5pPr marL="2375535"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5pPr>
                      <a:lvl6pPr marL="296926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6pPr>
                      <a:lvl7pPr marL="356362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7pPr>
                      <a:lvl8pPr marL="4157345"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8pPr>
                      <a:lvl9pPr marL="475107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9pPr>
                    </a:lstStyle>
                    <a:p>
                      <a:pPr marL="0" algn="l" defTabSz="914400" rtl="0" eaLnBrk="1" latinLnBrk="0" hangingPunct="1"/>
                      <a:endParaRPr kumimoji="1" lang="zh-CN" altLang="en-US" sz="1000" kern="1200" dirty="0">
                        <a:solidFill>
                          <a:srgbClr val="000000"/>
                        </a:solidFill>
                        <a:latin typeface="+mn-ea"/>
                        <a:cs typeface="+mn-cs"/>
                        <a:sym typeface="Arial" panose="020B0604020202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r h="866193">
                <a:tc>
                  <a:txBody>
                    <a:bodyPr/>
                    <a:lstStyle>
                      <a:lvl1pPr marL="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1pPr>
                      <a:lvl2pPr marL="593725"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2pPr>
                      <a:lvl3pPr marL="1188085"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3pPr>
                      <a:lvl4pPr marL="178181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4pPr>
                      <a:lvl5pPr marL="2375535"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5pPr>
                      <a:lvl6pPr marL="296926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6pPr>
                      <a:lvl7pPr marL="356362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7pPr>
                      <a:lvl8pPr marL="4157345"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8pPr>
                      <a:lvl9pPr marL="475107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9pPr>
                    </a:lstStyle>
                    <a:p>
                      <a:pPr marL="0" algn="l" defTabSz="914400" rtl="0" eaLnBrk="1" latinLnBrk="0" hangingPunct="1"/>
                      <a:endParaRPr kumimoji="1" lang="zh-CN" altLang="en-US" sz="1000" kern="1200" dirty="0">
                        <a:solidFill>
                          <a:srgbClr val="000000"/>
                        </a:solidFill>
                        <a:latin typeface="+mn-ea"/>
                        <a:cs typeface="+mn-cs"/>
                        <a:sym typeface="Arial" panose="020B0604020202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1pPr>
                      <a:lvl2pPr marL="593725"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2pPr>
                      <a:lvl3pPr marL="1188085"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3pPr>
                      <a:lvl4pPr marL="178181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4pPr>
                      <a:lvl5pPr marL="2375535"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5pPr>
                      <a:lvl6pPr marL="296926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6pPr>
                      <a:lvl7pPr marL="356362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7pPr>
                      <a:lvl8pPr marL="4157345"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8pPr>
                      <a:lvl9pPr marL="475107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9pPr>
                    </a:lstStyle>
                    <a:p>
                      <a:pPr marL="0" algn="l" defTabSz="914400" rtl="0" eaLnBrk="1" latinLnBrk="0" hangingPunct="1"/>
                      <a:endParaRPr kumimoji="1" lang="zh-CN" altLang="en-US" sz="1000" kern="1200" dirty="0">
                        <a:solidFill>
                          <a:srgbClr val="000000"/>
                        </a:solidFill>
                        <a:latin typeface="+mn-ea"/>
                        <a:cs typeface="+mn-cs"/>
                        <a:sym typeface="Arial" panose="020B0604020202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1pPr>
                      <a:lvl2pPr marL="593725"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2pPr>
                      <a:lvl3pPr marL="1188085"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3pPr>
                      <a:lvl4pPr marL="178181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4pPr>
                      <a:lvl5pPr marL="2375535"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5pPr>
                      <a:lvl6pPr marL="296926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6pPr>
                      <a:lvl7pPr marL="356362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7pPr>
                      <a:lvl8pPr marL="4157345"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8pPr>
                      <a:lvl9pPr marL="475107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9pPr>
                    </a:lstStyle>
                    <a:p>
                      <a:pPr marL="0" algn="l" defTabSz="914400" rtl="0" eaLnBrk="1" latinLnBrk="0" hangingPunct="1"/>
                      <a:endParaRPr kumimoji="1" lang="zh-CN" altLang="en-US" sz="1000" kern="1200" dirty="0">
                        <a:solidFill>
                          <a:srgbClr val="000000"/>
                        </a:solidFill>
                        <a:latin typeface="+mn-ea"/>
                        <a:cs typeface="+mn-cs"/>
                        <a:sym typeface="Arial" panose="020B0604020202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bl>
          </a:graphicData>
        </a:graphic>
      </p:graphicFrame>
      <p:grpSp>
        <p:nvGrpSpPr>
          <p:cNvPr id="52" name="组合 51"/>
          <p:cNvGrpSpPr/>
          <p:nvPr/>
        </p:nvGrpSpPr>
        <p:grpSpPr>
          <a:xfrm>
            <a:off x="5731419" y="968837"/>
            <a:ext cx="5539853" cy="3539274"/>
            <a:chOff x="4982898" y="1392082"/>
            <a:chExt cx="6130090" cy="2871386"/>
          </a:xfrm>
        </p:grpSpPr>
        <p:sp>
          <p:nvSpPr>
            <p:cNvPr id="53" name="文本框 52"/>
            <p:cNvSpPr txBox="1"/>
            <p:nvPr/>
          </p:nvSpPr>
          <p:spPr>
            <a:xfrm>
              <a:off x="5448879" y="1392082"/>
              <a:ext cx="1085363" cy="19975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6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核心概念</a:t>
              </a:r>
              <a:endParaRPr kumimoji="1" lang="zh-CN" altLang="en-US" sz="16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54" name="文本框 53"/>
            <p:cNvSpPr txBox="1"/>
            <p:nvPr/>
          </p:nvSpPr>
          <p:spPr>
            <a:xfrm>
              <a:off x="7483718" y="1392082"/>
              <a:ext cx="1085363" cy="19975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6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描述</a:t>
              </a:r>
              <a:endParaRPr kumimoji="1" lang="zh-CN" altLang="en-US" sz="16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55" name="文本框 54"/>
            <p:cNvSpPr txBox="1"/>
            <p:nvPr/>
          </p:nvSpPr>
          <p:spPr>
            <a:xfrm>
              <a:off x="9235057" y="1392082"/>
              <a:ext cx="1849552" cy="19975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6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应用及关联技术</a:t>
              </a:r>
              <a:endParaRPr kumimoji="1" lang="zh-CN" altLang="en-US" sz="16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56" name="文本框 55"/>
            <p:cNvSpPr txBox="1"/>
            <p:nvPr/>
          </p:nvSpPr>
          <p:spPr>
            <a:xfrm>
              <a:off x="4982898" y="1923054"/>
              <a:ext cx="1816101" cy="524363"/>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400" b="1" i="0" u="none" strike="noStrike" kern="1200" cap="none" spc="0" normalizeH="0" baseline="0" noProof="0" dirty="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算力</a:t>
              </a:r>
              <a:endParaRPr kumimoji="1" lang="en-US" altLang="zh-CN" sz="1400" b="1" i="0" u="none" strike="noStrike" kern="1200" cap="none" spc="0" normalizeH="0" baseline="0" noProof="0" dirty="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400" b="1" i="0" u="none" strike="noStrike" kern="1200" cap="none" spc="0" normalizeH="0" baseline="0" noProof="0" dirty="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(Computing Power)</a:t>
              </a:r>
              <a:endParaRPr kumimoji="1" lang="zh-CN" altLang="en-US" sz="1400" b="1" i="0" u="none" strike="noStrike" kern="1200" cap="none" spc="0" normalizeH="0" baseline="0" noProof="0" dirty="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endParaRPr>
            </a:p>
          </p:txBody>
        </p:sp>
        <p:sp>
          <p:nvSpPr>
            <p:cNvPr id="57" name="文本框 56"/>
            <p:cNvSpPr txBox="1"/>
            <p:nvPr/>
          </p:nvSpPr>
          <p:spPr>
            <a:xfrm>
              <a:off x="4999630" y="2782569"/>
              <a:ext cx="1816101" cy="349286"/>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400" b="1" i="0" u="none" strike="noStrike" kern="1200" cap="none" spc="0" normalizeH="0" baseline="0" noProof="0" dirty="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算法</a:t>
              </a:r>
              <a:endParaRPr kumimoji="1" lang="en-US" altLang="zh-CN" sz="1400" b="1" i="0" u="none" strike="noStrike" kern="1200" cap="none" spc="0" normalizeH="0" baseline="0" noProof="0" dirty="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400" b="1" i="0" u="none" strike="noStrike" kern="1200" cap="none" spc="0" normalizeH="0" baseline="0" noProof="0" dirty="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 Algorithm)</a:t>
              </a:r>
              <a:endParaRPr kumimoji="1" lang="zh-CN" altLang="en-US" sz="1400" b="1" i="0" u="none" strike="noStrike" kern="1200" cap="none" spc="0" normalizeH="0" baseline="0" noProof="0" dirty="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endParaRPr>
            </a:p>
          </p:txBody>
        </p:sp>
        <p:sp>
          <p:nvSpPr>
            <p:cNvPr id="58" name="文本框 57"/>
            <p:cNvSpPr txBox="1"/>
            <p:nvPr/>
          </p:nvSpPr>
          <p:spPr>
            <a:xfrm>
              <a:off x="5006268" y="3757887"/>
              <a:ext cx="1816101" cy="349286"/>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400" b="1" i="0" u="none" strike="noStrike" kern="1200" cap="none" spc="0" normalizeH="0" baseline="0" noProof="0" dirty="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数据</a:t>
              </a:r>
              <a:endParaRPr kumimoji="1" lang="en-US" altLang="zh-CN" sz="1400" b="1" i="0" u="none" strike="noStrike" kern="1200" cap="none" spc="0" normalizeH="0" baseline="0" noProof="0" dirty="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400" b="1" i="0" u="none" strike="noStrike" kern="1200" cap="none" spc="0" normalizeH="0" baseline="0" noProof="0" dirty="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(Data)</a:t>
              </a:r>
              <a:endParaRPr kumimoji="1" lang="zh-CN" altLang="en-US" sz="1400" b="1" i="0" u="none" strike="noStrike" kern="1200" cap="none" spc="0" normalizeH="0" baseline="0" noProof="0" dirty="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endParaRPr>
            </a:p>
          </p:txBody>
        </p:sp>
        <p:sp>
          <p:nvSpPr>
            <p:cNvPr id="59" name="文本框 58"/>
            <p:cNvSpPr txBox="1"/>
            <p:nvPr/>
          </p:nvSpPr>
          <p:spPr>
            <a:xfrm>
              <a:off x="6996557" y="1829492"/>
              <a:ext cx="1930401" cy="59914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衡量计算设备执行算法、处理数据的能力关系到系统的运行效率和任务完成速度。</a:t>
              </a:r>
              <a:endParaRPr kumimoji="1" lang="zh-CN" altLang="en-US" sz="1200" b="0" i="0" u="none" strike="noStrike" kern="1200" cap="none" spc="0" normalizeH="0" baseline="0" noProof="0" dirty="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60" name="文本框 59"/>
            <p:cNvSpPr txBox="1"/>
            <p:nvPr/>
          </p:nvSpPr>
          <p:spPr>
            <a:xfrm>
              <a:off x="6996557" y="2689007"/>
              <a:ext cx="1930401" cy="59914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解决问题、实现特定功能的有序指令和步骤是计算机程序的基础，用于实现各种功能。</a:t>
              </a:r>
              <a:endParaRPr kumimoji="1" lang="zh-CN" altLang="en-US" sz="1200" b="0" i="0" u="none" strike="noStrike" kern="1200" cap="none" spc="0" normalizeH="0" baseline="0" noProof="0" dirty="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61" name="文本框 60"/>
            <p:cNvSpPr txBox="1"/>
            <p:nvPr/>
          </p:nvSpPr>
          <p:spPr>
            <a:xfrm>
              <a:off x="6996555" y="3664325"/>
              <a:ext cx="1930401" cy="59914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对现实世界的描述和反映，以数字、文字、图像等形式表现，是支撑决策和优化的基础。</a:t>
              </a:r>
              <a:endParaRPr kumimoji="1" lang="zh-CN" altLang="en-US" sz="1200" b="0" i="0" u="none" strike="noStrike" kern="1200" cap="none" spc="0" normalizeH="0" baseline="0" noProof="0" dirty="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62" name="文本框 61"/>
            <p:cNvSpPr txBox="1"/>
            <p:nvPr/>
          </p:nvSpPr>
          <p:spPr>
            <a:xfrm>
              <a:off x="9182586" y="1829492"/>
              <a:ext cx="1930402" cy="44922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数据中心、分布式计算、云计算、边缘计算、高</a:t>
              </a:r>
              <a:r>
                <a:rPr kumimoji="1" lang="en-US" altLang="zh-CN" sz="1200" b="0" i="0" u="none" strike="noStrike" kern="1200" cap="none" spc="0" normalizeH="0" baseline="0" noProof="0" dirty="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a:t>
              </a:r>
              <a:r>
                <a:rPr kumimoji="1" lang="zh-CN" altLang="en-US" sz="1200" b="0" i="0" u="none" strike="noStrike" kern="1200" cap="none" spc="0" normalizeH="0" baseline="0" noProof="0" dirty="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性能计算</a:t>
              </a:r>
              <a:r>
                <a:rPr kumimoji="1" lang="en-US" altLang="zh-CN" sz="1200" b="0" i="0" u="none" strike="noStrike" kern="1200" cap="none" spc="0" normalizeH="0" baseline="0" noProof="0" dirty="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(HPC)</a:t>
              </a:r>
              <a:endParaRPr kumimoji="1" lang="zh-CN" altLang="en-US" sz="1200" b="0" i="0" u="none" strike="noStrike" kern="1200" cap="none" spc="0" normalizeH="0" baseline="0" noProof="0" dirty="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endParaRPr>
            </a:p>
          </p:txBody>
        </p:sp>
        <p:sp>
          <p:nvSpPr>
            <p:cNvPr id="63" name="文本框 62"/>
            <p:cNvSpPr txBox="1"/>
            <p:nvPr/>
          </p:nvSpPr>
          <p:spPr>
            <a:xfrm>
              <a:off x="9182587" y="2689007"/>
              <a:ext cx="1930401" cy="59914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机器学习</a:t>
              </a:r>
              <a:r>
                <a:rPr kumimoji="1" lang="en-US" altLang="zh-CN" sz="1200" b="0" i="0" u="none" strike="noStrike" kern="1200" cap="none" spc="0" normalizeH="0" baseline="0" noProof="0" dirty="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(ML)</a:t>
              </a:r>
              <a:r>
                <a:rPr kumimoji="1" lang="zh-CN" altLang="en-US" sz="1200" b="0" i="0" u="none" strike="noStrike" kern="1200" cap="none" spc="0" normalizeH="0" baseline="0" noProof="0" dirty="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、深度学习</a:t>
              </a:r>
              <a:r>
                <a:rPr kumimoji="1" lang="en-US" altLang="zh-CN" sz="1200" b="0" i="0" u="none" strike="noStrike" kern="1200" cap="none" spc="0" normalizeH="0" baseline="0" noProof="0" dirty="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(DL)</a:t>
              </a:r>
              <a:r>
                <a:rPr kumimoji="1" lang="zh-CN" altLang="en-US" sz="1200" b="0" i="0" u="none" strike="noStrike" kern="1200" cap="none" spc="0" normalizeH="0" baseline="0" noProof="0" dirty="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、自然语言处理</a:t>
              </a:r>
              <a:r>
                <a:rPr kumimoji="1" lang="en-US" altLang="zh-CN" sz="1200" b="0" i="0" u="none" strike="noStrike" kern="1200" cap="none" spc="0" normalizeH="0" baseline="0" noProof="0" dirty="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(NLP)</a:t>
              </a:r>
              <a:r>
                <a:rPr kumimoji="1" lang="zh-CN" altLang="en-US" sz="1200" b="0" i="0" u="none" strike="noStrike" kern="1200" cap="none" spc="0" normalizeH="0" baseline="0" noProof="0" dirty="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、计算机视觉</a:t>
              </a:r>
              <a:r>
                <a:rPr kumimoji="1" lang="en-US" altLang="zh-CN" sz="1200" b="0" i="0" u="none" strike="noStrike" kern="1200" cap="none" spc="0" normalizeH="0" baseline="0" noProof="0" dirty="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(CV)</a:t>
              </a:r>
              <a:r>
                <a:rPr kumimoji="1" lang="zh-CN" altLang="en-US" sz="1200" b="0" i="0" u="none" strike="noStrike" kern="1200" cap="none" spc="0" normalizeH="0" baseline="0" noProof="0" dirty="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、推荐系统等</a:t>
              </a:r>
              <a:endParaRPr kumimoji="1" lang="zh-CN" altLang="en-US" sz="1200" b="0" i="0" u="none" strike="noStrike" kern="1200" cap="none" spc="0" normalizeH="0" baseline="0" noProof="0" dirty="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endParaRPr>
            </a:p>
          </p:txBody>
        </p:sp>
        <p:sp>
          <p:nvSpPr>
            <p:cNvPr id="64" name="文本框 63"/>
            <p:cNvSpPr txBox="1"/>
            <p:nvPr/>
          </p:nvSpPr>
          <p:spPr>
            <a:xfrm>
              <a:off x="9170412" y="3664325"/>
              <a:ext cx="1930401" cy="44922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数据挖掘、数据分析、数据仓库、数据可视化</a:t>
              </a:r>
              <a:r>
                <a:rPr kumimoji="1" lang="en-US" altLang="zh-CN" sz="1200" b="0" i="0" u="none" strike="noStrike" kern="1200" cap="none" spc="0" normalizeH="0" baseline="0" noProof="0" dirty="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a:t>
              </a:r>
              <a:r>
                <a:rPr kumimoji="1" lang="zh-CN" altLang="en-US" sz="1200" b="0" i="0" u="none" strike="noStrike" kern="1200" cap="none" spc="0" normalizeH="0" baseline="0" noProof="0" dirty="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数据安全、隐私保护等</a:t>
              </a:r>
              <a:endParaRPr kumimoji="1" lang="zh-CN" altLang="en-US" sz="1200" b="0" i="0" u="none" strike="noStrike" kern="1200" cap="none" spc="0" normalizeH="0" baseline="0" noProof="0" dirty="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endParaRPr>
            </a:p>
          </p:txBody>
        </p:sp>
      </p:grpSp>
      <p:cxnSp>
        <p:nvCxnSpPr>
          <p:cNvPr id="65" name="直接连接符 64"/>
          <p:cNvCxnSpPr/>
          <p:nvPr/>
        </p:nvCxnSpPr>
        <p:spPr>
          <a:xfrm>
            <a:off x="5705317" y="2454556"/>
            <a:ext cx="5613372" cy="0"/>
          </a:xfrm>
          <a:prstGeom prst="line">
            <a:avLst/>
          </a:prstGeom>
          <a:noFill/>
          <a:ln w="6350" cap="flat" cmpd="sng" algn="ctr">
            <a:gradFill>
              <a:gsLst>
                <a:gs pos="50000">
                  <a:srgbClr val="666666">
                    <a:lumMod val="60000"/>
                    <a:lumOff val="40000"/>
                  </a:srgbClr>
                </a:gs>
                <a:gs pos="0">
                  <a:srgbClr val="666666">
                    <a:lumMod val="60000"/>
                    <a:lumOff val="40000"/>
                    <a:alpha val="0"/>
                  </a:srgbClr>
                </a:gs>
                <a:gs pos="100000">
                  <a:srgbClr val="666666">
                    <a:lumMod val="60000"/>
                    <a:lumOff val="40000"/>
                    <a:alpha val="0"/>
                  </a:srgbClr>
                </a:gs>
              </a:gsLst>
              <a:lin ang="0" scaled="0"/>
            </a:gradFill>
            <a:prstDash val="solid"/>
            <a:miter lim="800000"/>
          </a:ln>
          <a:effectLst/>
        </p:spPr>
      </p:cxnSp>
      <p:cxnSp>
        <p:nvCxnSpPr>
          <p:cNvPr id="66" name="直接连接符 65"/>
          <p:cNvCxnSpPr/>
          <p:nvPr/>
        </p:nvCxnSpPr>
        <p:spPr>
          <a:xfrm>
            <a:off x="5705317" y="3573715"/>
            <a:ext cx="5613372" cy="0"/>
          </a:xfrm>
          <a:prstGeom prst="line">
            <a:avLst/>
          </a:prstGeom>
          <a:noFill/>
          <a:ln w="6350" cap="flat" cmpd="sng" algn="ctr">
            <a:gradFill>
              <a:gsLst>
                <a:gs pos="50000">
                  <a:srgbClr val="666666">
                    <a:lumMod val="60000"/>
                    <a:lumOff val="40000"/>
                  </a:srgbClr>
                </a:gs>
                <a:gs pos="0">
                  <a:srgbClr val="666666">
                    <a:lumMod val="60000"/>
                    <a:lumOff val="40000"/>
                    <a:alpha val="0"/>
                  </a:srgbClr>
                </a:gs>
                <a:gs pos="100000">
                  <a:srgbClr val="666666">
                    <a:lumMod val="60000"/>
                    <a:lumOff val="40000"/>
                    <a:alpha val="0"/>
                  </a:srgbClr>
                </a:gs>
              </a:gsLst>
              <a:lin ang="0" scaled="0"/>
            </a:gradFill>
            <a:prstDash val="solid"/>
            <a:miter lim="800000"/>
          </a:ln>
          <a:effectLst/>
        </p:spPr>
      </p:cxnSp>
      <p:grpSp>
        <p:nvGrpSpPr>
          <p:cNvPr id="67" name="组合 66"/>
          <p:cNvGrpSpPr/>
          <p:nvPr/>
        </p:nvGrpSpPr>
        <p:grpSpPr>
          <a:xfrm>
            <a:off x="7372655" y="1375428"/>
            <a:ext cx="2067842" cy="3137987"/>
            <a:chOff x="7553256" y="1796147"/>
            <a:chExt cx="1993900" cy="3052376"/>
          </a:xfrm>
        </p:grpSpPr>
        <p:cxnSp>
          <p:nvCxnSpPr>
            <p:cNvPr id="68" name="直接连接符 67"/>
            <p:cNvCxnSpPr/>
            <p:nvPr/>
          </p:nvCxnSpPr>
          <p:spPr>
            <a:xfrm>
              <a:off x="7553256" y="1796147"/>
              <a:ext cx="0" cy="3052376"/>
            </a:xfrm>
            <a:prstGeom prst="line">
              <a:avLst/>
            </a:prstGeom>
            <a:noFill/>
            <a:ln w="6350" cap="flat" cmpd="sng" algn="ctr">
              <a:gradFill>
                <a:gsLst>
                  <a:gs pos="50000">
                    <a:srgbClr val="666666">
                      <a:lumMod val="60000"/>
                      <a:lumOff val="40000"/>
                    </a:srgbClr>
                  </a:gs>
                  <a:gs pos="0">
                    <a:srgbClr val="666666">
                      <a:lumMod val="60000"/>
                      <a:lumOff val="40000"/>
                      <a:alpha val="0"/>
                    </a:srgbClr>
                  </a:gs>
                  <a:gs pos="100000">
                    <a:srgbClr val="666666">
                      <a:lumMod val="60000"/>
                      <a:lumOff val="40000"/>
                      <a:alpha val="0"/>
                    </a:srgbClr>
                  </a:gs>
                </a:gsLst>
                <a:lin ang="5400000" scaled="1"/>
              </a:gradFill>
              <a:prstDash val="solid"/>
              <a:miter lim="800000"/>
            </a:ln>
            <a:effectLst/>
          </p:spPr>
        </p:cxnSp>
        <p:cxnSp>
          <p:nvCxnSpPr>
            <p:cNvPr id="69" name="直接连接符 68"/>
            <p:cNvCxnSpPr/>
            <p:nvPr/>
          </p:nvCxnSpPr>
          <p:spPr>
            <a:xfrm>
              <a:off x="9547156" y="1796147"/>
              <a:ext cx="0" cy="3052376"/>
            </a:xfrm>
            <a:prstGeom prst="line">
              <a:avLst/>
            </a:prstGeom>
            <a:noFill/>
            <a:ln w="6350" cap="flat" cmpd="sng" algn="ctr">
              <a:gradFill>
                <a:gsLst>
                  <a:gs pos="50000">
                    <a:srgbClr val="666666">
                      <a:lumMod val="60000"/>
                      <a:lumOff val="40000"/>
                    </a:srgbClr>
                  </a:gs>
                  <a:gs pos="0">
                    <a:srgbClr val="666666">
                      <a:lumMod val="60000"/>
                      <a:lumOff val="40000"/>
                      <a:alpha val="0"/>
                    </a:srgbClr>
                  </a:gs>
                  <a:gs pos="100000">
                    <a:srgbClr val="666666">
                      <a:lumMod val="60000"/>
                      <a:lumOff val="40000"/>
                      <a:alpha val="0"/>
                    </a:srgbClr>
                  </a:gs>
                </a:gsLst>
                <a:lin ang="5400000" scaled="1"/>
              </a:gradFill>
              <a:prstDash val="solid"/>
              <a:miter lim="800000"/>
            </a:ln>
            <a:effectLst/>
          </p:spPr>
        </p:cxnSp>
      </p:grpSp>
      <p:grpSp>
        <p:nvGrpSpPr>
          <p:cNvPr id="70" name="组合 69"/>
          <p:cNvGrpSpPr/>
          <p:nvPr/>
        </p:nvGrpSpPr>
        <p:grpSpPr>
          <a:xfrm>
            <a:off x="447304" y="1117865"/>
            <a:ext cx="4873955" cy="3429969"/>
            <a:chOff x="772662" y="1729027"/>
            <a:chExt cx="5030243" cy="4059256"/>
          </a:xfrm>
        </p:grpSpPr>
        <p:sp>
          <p:nvSpPr>
            <p:cNvPr id="71" name="object 5"/>
            <p:cNvSpPr/>
            <p:nvPr/>
          </p:nvSpPr>
          <p:spPr>
            <a:xfrm>
              <a:off x="2175938" y="2684304"/>
              <a:ext cx="2299489" cy="2015999"/>
            </a:xfrm>
            <a:custGeom>
              <a:avLst/>
              <a:gdLst/>
              <a:ahLst/>
              <a:cxnLst/>
              <a:rect l="l" t="t" r="r" b="b"/>
              <a:pathLst>
                <a:path w="1988185" h="1743075">
                  <a:moveTo>
                    <a:pt x="994066" y="0"/>
                  </a:moveTo>
                  <a:lnTo>
                    <a:pt x="958423" y="11946"/>
                  </a:lnTo>
                  <a:lnTo>
                    <a:pt x="927172" y="47786"/>
                  </a:lnTo>
                  <a:lnTo>
                    <a:pt x="15413" y="1626981"/>
                  </a:lnTo>
                  <a:lnTo>
                    <a:pt x="0" y="1671979"/>
                  </a:lnTo>
                  <a:lnTo>
                    <a:pt x="7479" y="1708827"/>
                  </a:lnTo>
                  <a:lnTo>
                    <a:pt x="35652" y="1733724"/>
                  </a:lnTo>
                  <a:lnTo>
                    <a:pt x="82317" y="1742868"/>
                  </a:lnTo>
                  <a:lnTo>
                    <a:pt x="1905808" y="1742868"/>
                  </a:lnTo>
                  <a:lnTo>
                    <a:pt x="1952484" y="1733724"/>
                  </a:lnTo>
                  <a:lnTo>
                    <a:pt x="1980656" y="1708827"/>
                  </a:lnTo>
                  <a:lnTo>
                    <a:pt x="1988129" y="1671979"/>
                  </a:lnTo>
                  <a:lnTo>
                    <a:pt x="1972712" y="1626981"/>
                  </a:lnTo>
                  <a:lnTo>
                    <a:pt x="1060979" y="47786"/>
                  </a:lnTo>
                  <a:lnTo>
                    <a:pt x="1029713" y="11946"/>
                  </a:lnTo>
                  <a:lnTo>
                    <a:pt x="994066" y="0"/>
                  </a:lnTo>
                  <a:close/>
                </a:path>
              </a:pathLst>
            </a:custGeom>
            <a:gradFill>
              <a:gsLst>
                <a:gs pos="0">
                  <a:srgbClr val="C00000">
                    <a:alpha val="70000"/>
                  </a:srgbClr>
                </a:gs>
                <a:gs pos="50000">
                  <a:srgbClr val="C00000">
                    <a:alpha val="10000"/>
                  </a:srgbClr>
                </a:gs>
                <a:gs pos="100000">
                  <a:srgbClr val="C00000">
                    <a:alpha val="70000"/>
                  </a:srgbClr>
                </a:gs>
              </a:gsLst>
              <a:lin ang="0" scaled="1"/>
            </a:gradFill>
          </p:spPr>
          <p:txBody>
            <a:bodyPr wrap="square" lIns="0" tIns="0" rIns="0" bIns="0" rtlCol="0"/>
            <a:lstStyle/>
            <a:p>
              <a:pPr marL="0" marR="0" lvl="0" indent="0" algn="l" defTabSz="1217295" rtl="0" eaLnBrk="1" fontAlgn="auto" latinLnBrk="0" hangingPunct="1">
                <a:lnSpc>
                  <a:spcPct val="100000"/>
                </a:lnSpc>
                <a:spcBef>
                  <a:spcPts val="0"/>
                </a:spcBef>
                <a:spcAft>
                  <a:spcPts val="0"/>
                </a:spcAft>
                <a:buClrTx/>
                <a:buSzTx/>
                <a:buFontTx/>
                <a:buNone/>
                <a:defRPr/>
              </a:pPr>
              <a:endParaRPr kumimoji="0" sz="2395"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Helvetica"/>
                <a:sym typeface="Arial" panose="020B0604020202020204" pitchFamily="34" charset="0"/>
              </a:endParaRPr>
            </a:p>
          </p:txBody>
        </p:sp>
        <p:sp>
          <p:nvSpPr>
            <p:cNvPr id="72" name="object 6"/>
            <p:cNvSpPr/>
            <p:nvPr/>
          </p:nvSpPr>
          <p:spPr>
            <a:xfrm>
              <a:off x="1473683" y="2169766"/>
              <a:ext cx="3618518" cy="3618517"/>
            </a:xfrm>
            <a:custGeom>
              <a:avLst/>
              <a:gdLst/>
              <a:ahLst/>
              <a:cxnLst/>
              <a:rect l="l" t="t" r="r" b="b"/>
              <a:pathLst>
                <a:path w="3128645" h="3128645">
                  <a:moveTo>
                    <a:pt x="458152" y="458152"/>
                  </a:moveTo>
                  <a:lnTo>
                    <a:pt x="492475" y="424843"/>
                  </a:lnTo>
                  <a:lnTo>
                    <a:pt x="527550" y="392791"/>
                  </a:lnTo>
                  <a:lnTo>
                    <a:pt x="563348" y="361997"/>
                  </a:lnTo>
                  <a:lnTo>
                    <a:pt x="599841" y="332459"/>
                  </a:lnTo>
                  <a:lnTo>
                    <a:pt x="636998" y="304178"/>
                  </a:lnTo>
                  <a:lnTo>
                    <a:pt x="674792" y="277153"/>
                  </a:lnTo>
                  <a:lnTo>
                    <a:pt x="713194" y="251386"/>
                  </a:lnTo>
                  <a:lnTo>
                    <a:pt x="752174" y="226876"/>
                  </a:lnTo>
                  <a:lnTo>
                    <a:pt x="791704" y="203623"/>
                  </a:lnTo>
                  <a:lnTo>
                    <a:pt x="831754" y="181626"/>
                  </a:lnTo>
                  <a:lnTo>
                    <a:pt x="872297" y="160887"/>
                  </a:lnTo>
                  <a:lnTo>
                    <a:pt x="913302" y="141405"/>
                  </a:lnTo>
                  <a:lnTo>
                    <a:pt x="954741" y="123179"/>
                  </a:lnTo>
                  <a:lnTo>
                    <a:pt x="996585" y="106210"/>
                  </a:lnTo>
                  <a:lnTo>
                    <a:pt x="1038805" y="90499"/>
                  </a:lnTo>
                  <a:lnTo>
                    <a:pt x="1081372" y="76044"/>
                  </a:lnTo>
                  <a:lnTo>
                    <a:pt x="1124257" y="62846"/>
                  </a:lnTo>
                  <a:lnTo>
                    <a:pt x="1167432" y="50905"/>
                  </a:lnTo>
                  <a:lnTo>
                    <a:pt x="1210867" y="40221"/>
                  </a:lnTo>
                  <a:lnTo>
                    <a:pt x="1254533" y="30794"/>
                  </a:lnTo>
                  <a:lnTo>
                    <a:pt x="1298402" y="22624"/>
                  </a:lnTo>
                  <a:lnTo>
                    <a:pt x="1342445" y="15711"/>
                  </a:lnTo>
                  <a:lnTo>
                    <a:pt x="1386632" y="10055"/>
                  </a:lnTo>
                  <a:lnTo>
                    <a:pt x="1430935" y="5656"/>
                  </a:lnTo>
                  <a:lnTo>
                    <a:pt x="1475325" y="2513"/>
                  </a:lnTo>
                  <a:lnTo>
                    <a:pt x="1519772" y="628"/>
                  </a:lnTo>
                  <a:lnTo>
                    <a:pt x="1564249" y="0"/>
                  </a:lnTo>
                  <a:lnTo>
                    <a:pt x="1608726" y="628"/>
                  </a:lnTo>
                  <a:lnTo>
                    <a:pt x="1653173" y="2513"/>
                  </a:lnTo>
                  <a:lnTo>
                    <a:pt x="1697563" y="5656"/>
                  </a:lnTo>
                  <a:lnTo>
                    <a:pt x="1741866" y="10055"/>
                  </a:lnTo>
                  <a:lnTo>
                    <a:pt x="1786054" y="15711"/>
                  </a:lnTo>
                  <a:lnTo>
                    <a:pt x="1830096" y="22624"/>
                  </a:lnTo>
                  <a:lnTo>
                    <a:pt x="1873966" y="30794"/>
                  </a:lnTo>
                  <a:lnTo>
                    <a:pt x="1917633" y="40221"/>
                  </a:lnTo>
                  <a:lnTo>
                    <a:pt x="1961068" y="50905"/>
                  </a:lnTo>
                  <a:lnTo>
                    <a:pt x="2004243" y="62846"/>
                  </a:lnTo>
                  <a:lnTo>
                    <a:pt x="2047129" y="76044"/>
                  </a:lnTo>
                  <a:lnTo>
                    <a:pt x="2089697" y="90499"/>
                  </a:lnTo>
                  <a:lnTo>
                    <a:pt x="2131918" y="106210"/>
                  </a:lnTo>
                  <a:lnTo>
                    <a:pt x="2173762" y="123179"/>
                  </a:lnTo>
                  <a:lnTo>
                    <a:pt x="2215202" y="141405"/>
                  </a:lnTo>
                  <a:lnTo>
                    <a:pt x="2256208" y="160887"/>
                  </a:lnTo>
                  <a:lnTo>
                    <a:pt x="2296751" y="181626"/>
                  </a:lnTo>
                  <a:lnTo>
                    <a:pt x="2336802" y="203623"/>
                  </a:lnTo>
                  <a:lnTo>
                    <a:pt x="2376333" y="226876"/>
                  </a:lnTo>
                  <a:lnTo>
                    <a:pt x="2415314" y="251386"/>
                  </a:lnTo>
                  <a:lnTo>
                    <a:pt x="2453717" y="277153"/>
                  </a:lnTo>
                  <a:lnTo>
                    <a:pt x="2491512" y="304178"/>
                  </a:lnTo>
                  <a:lnTo>
                    <a:pt x="2528671" y="332459"/>
                  </a:lnTo>
                  <a:lnTo>
                    <a:pt x="2565165" y="361997"/>
                  </a:lnTo>
                  <a:lnTo>
                    <a:pt x="2600964" y="392791"/>
                  </a:lnTo>
                  <a:lnTo>
                    <a:pt x="2636041" y="424843"/>
                  </a:lnTo>
                  <a:lnTo>
                    <a:pt x="2670365" y="458152"/>
                  </a:lnTo>
                  <a:lnTo>
                    <a:pt x="2703675" y="492476"/>
                  </a:lnTo>
                  <a:lnTo>
                    <a:pt x="2735728" y="527551"/>
                  </a:lnTo>
                  <a:lnTo>
                    <a:pt x="2766524" y="563350"/>
                  </a:lnTo>
                  <a:lnTo>
                    <a:pt x="2796064" y="599843"/>
                  </a:lnTo>
                  <a:lnTo>
                    <a:pt x="2824346" y="637001"/>
                  </a:lnTo>
                  <a:lnTo>
                    <a:pt x="2851371" y="674796"/>
                  </a:lnTo>
                  <a:lnTo>
                    <a:pt x="2877139" y="713198"/>
                  </a:lnTo>
                  <a:lnTo>
                    <a:pt x="2901651" y="752179"/>
                  </a:lnTo>
                  <a:lnTo>
                    <a:pt x="2924905" y="791709"/>
                  </a:lnTo>
                  <a:lnTo>
                    <a:pt x="2946902" y="831760"/>
                  </a:lnTo>
                  <a:lnTo>
                    <a:pt x="2967642" y="872303"/>
                  </a:lnTo>
                  <a:lnTo>
                    <a:pt x="2987126" y="913308"/>
                  </a:lnTo>
                  <a:lnTo>
                    <a:pt x="3005352" y="954748"/>
                  </a:lnTo>
                  <a:lnTo>
                    <a:pt x="3022321" y="996592"/>
                  </a:lnTo>
                  <a:lnTo>
                    <a:pt x="3038034" y="1038812"/>
                  </a:lnTo>
                  <a:lnTo>
                    <a:pt x="3052489" y="1081380"/>
                  </a:lnTo>
                  <a:lnTo>
                    <a:pt x="3065687" y="1124266"/>
                  </a:lnTo>
                  <a:lnTo>
                    <a:pt x="3077629" y="1167440"/>
                  </a:lnTo>
                  <a:lnTo>
                    <a:pt x="3088313" y="1210876"/>
                  </a:lnTo>
                  <a:lnTo>
                    <a:pt x="3097740" y="1254542"/>
                  </a:lnTo>
                  <a:lnTo>
                    <a:pt x="3105911" y="1298411"/>
                  </a:lnTo>
                  <a:lnTo>
                    <a:pt x="3112824" y="1342454"/>
                  </a:lnTo>
                  <a:lnTo>
                    <a:pt x="3118481" y="1386641"/>
                  </a:lnTo>
                  <a:lnTo>
                    <a:pt x="3122880" y="1430944"/>
                  </a:lnTo>
                  <a:lnTo>
                    <a:pt x="3126023" y="1475334"/>
                  </a:lnTo>
                  <a:lnTo>
                    <a:pt x="3127908" y="1519782"/>
                  </a:lnTo>
                  <a:lnTo>
                    <a:pt x="3128537" y="1564259"/>
                  </a:lnTo>
                  <a:lnTo>
                    <a:pt x="3127908" y="1608735"/>
                  </a:lnTo>
                  <a:lnTo>
                    <a:pt x="3126023" y="1653183"/>
                  </a:lnTo>
                  <a:lnTo>
                    <a:pt x="3122880" y="1697573"/>
                  </a:lnTo>
                  <a:lnTo>
                    <a:pt x="3118481" y="1741876"/>
                  </a:lnTo>
                  <a:lnTo>
                    <a:pt x="3112824" y="1786063"/>
                  </a:lnTo>
                  <a:lnTo>
                    <a:pt x="3105911" y="1830106"/>
                  </a:lnTo>
                  <a:lnTo>
                    <a:pt x="3097740" y="1873975"/>
                  </a:lnTo>
                  <a:lnTo>
                    <a:pt x="3088313" y="1917641"/>
                  </a:lnTo>
                  <a:lnTo>
                    <a:pt x="3077629" y="1961077"/>
                  </a:lnTo>
                  <a:lnTo>
                    <a:pt x="3065687" y="2004251"/>
                  </a:lnTo>
                  <a:lnTo>
                    <a:pt x="3052489" y="2047137"/>
                  </a:lnTo>
                  <a:lnTo>
                    <a:pt x="3038034" y="2089705"/>
                  </a:lnTo>
                  <a:lnTo>
                    <a:pt x="3022321" y="2131925"/>
                  </a:lnTo>
                  <a:lnTo>
                    <a:pt x="3005352" y="2173769"/>
                  </a:lnTo>
                  <a:lnTo>
                    <a:pt x="2987126" y="2215209"/>
                  </a:lnTo>
                  <a:lnTo>
                    <a:pt x="2967642" y="2256214"/>
                  </a:lnTo>
                  <a:lnTo>
                    <a:pt x="2946902" y="2296757"/>
                  </a:lnTo>
                  <a:lnTo>
                    <a:pt x="2924905" y="2336808"/>
                  </a:lnTo>
                  <a:lnTo>
                    <a:pt x="2901651" y="2376338"/>
                  </a:lnTo>
                  <a:lnTo>
                    <a:pt x="2877139" y="2415319"/>
                  </a:lnTo>
                  <a:lnTo>
                    <a:pt x="2851371" y="2453721"/>
                  </a:lnTo>
                  <a:lnTo>
                    <a:pt x="2824346" y="2491516"/>
                  </a:lnTo>
                  <a:lnTo>
                    <a:pt x="2796064" y="2528674"/>
                  </a:lnTo>
                  <a:lnTo>
                    <a:pt x="2766524" y="2565167"/>
                  </a:lnTo>
                  <a:lnTo>
                    <a:pt x="2735728" y="2600966"/>
                  </a:lnTo>
                  <a:lnTo>
                    <a:pt x="2703675" y="2636041"/>
                  </a:lnTo>
                  <a:lnTo>
                    <a:pt x="2670365" y="2670365"/>
                  </a:lnTo>
                  <a:lnTo>
                    <a:pt x="2636041" y="2703674"/>
                  </a:lnTo>
                  <a:lnTo>
                    <a:pt x="2600964" y="2735727"/>
                  </a:lnTo>
                  <a:lnTo>
                    <a:pt x="2565165" y="2766522"/>
                  </a:lnTo>
                  <a:lnTo>
                    <a:pt x="2528671" y="2796061"/>
                  </a:lnTo>
                  <a:lnTo>
                    <a:pt x="2491512" y="2824343"/>
                  </a:lnTo>
                  <a:lnTo>
                    <a:pt x="2453717" y="2851367"/>
                  </a:lnTo>
                  <a:lnTo>
                    <a:pt x="2415314" y="2877135"/>
                  </a:lnTo>
                  <a:lnTo>
                    <a:pt x="2376333" y="2901646"/>
                  </a:lnTo>
                  <a:lnTo>
                    <a:pt x="2336802" y="2924899"/>
                  </a:lnTo>
                  <a:lnTo>
                    <a:pt x="2296751" y="2946896"/>
                  </a:lnTo>
                  <a:lnTo>
                    <a:pt x="2256208" y="2967636"/>
                  </a:lnTo>
                  <a:lnTo>
                    <a:pt x="2215202" y="2987119"/>
                  </a:lnTo>
                  <a:lnTo>
                    <a:pt x="2173762" y="3005345"/>
                  </a:lnTo>
                  <a:lnTo>
                    <a:pt x="2131918" y="3022314"/>
                  </a:lnTo>
                  <a:lnTo>
                    <a:pt x="2089697" y="3038026"/>
                  </a:lnTo>
                  <a:lnTo>
                    <a:pt x="2047129" y="3052481"/>
                  </a:lnTo>
                  <a:lnTo>
                    <a:pt x="2004243" y="3065679"/>
                  </a:lnTo>
                  <a:lnTo>
                    <a:pt x="1961068" y="3077620"/>
                  </a:lnTo>
                  <a:lnTo>
                    <a:pt x="1917633" y="3088304"/>
                  </a:lnTo>
                  <a:lnTo>
                    <a:pt x="1873966" y="3097731"/>
                  </a:lnTo>
                  <a:lnTo>
                    <a:pt x="1830096" y="3105902"/>
                  </a:lnTo>
                  <a:lnTo>
                    <a:pt x="1786054" y="3112815"/>
                  </a:lnTo>
                  <a:lnTo>
                    <a:pt x="1741866" y="3118471"/>
                  </a:lnTo>
                  <a:lnTo>
                    <a:pt x="1697563" y="3122871"/>
                  </a:lnTo>
                  <a:lnTo>
                    <a:pt x="1653173" y="3126013"/>
                  </a:lnTo>
                  <a:lnTo>
                    <a:pt x="1608726" y="3127899"/>
                  </a:lnTo>
                  <a:lnTo>
                    <a:pt x="1564249" y="3128527"/>
                  </a:lnTo>
                  <a:lnTo>
                    <a:pt x="1519772" y="3127899"/>
                  </a:lnTo>
                  <a:lnTo>
                    <a:pt x="1475325" y="3126013"/>
                  </a:lnTo>
                  <a:lnTo>
                    <a:pt x="1430935" y="3122871"/>
                  </a:lnTo>
                  <a:lnTo>
                    <a:pt x="1386632" y="3118471"/>
                  </a:lnTo>
                  <a:lnTo>
                    <a:pt x="1342445" y="3112815"/>
                  </a:lnTo>
                  <a:lnTo>
                    <a:pt x="1298402" y="3105902"/>
                  </a:lnTo>
                  <a:lnTo>
                    <a:pt x="1254533" y="3097731"/>
                  </a:lnTo>
                  <a:lnTo>
                    <a:pt x="1210867" y="3088304"/>
                  </a:lnTo>
                  <a:lnTo>
                    <a:pt x="1167432" y="3077620"/>
                  </a:lnTo>
                  <a:lnTo>
                    <a:pt x="1124257" y="3065679"/>
                  </a:lnTo>
                  <a:lnTo>
                    <a:pt x="1081372" y="3052481"/>
                  </a:lnTo>
                  <a:lnTo>
                    <a:pt x="1038805" y="3038026"/>
                  </a:lnTo>
                  <a:lnTo>
                    <a:pt x="996585" y="3022314"/>
                  </a:lnTo>
                  <a:lnTo>
                    <a:pt x="954741" y="3005345"/>
                  </a:lnTo>
                  <a:lnTo>
                    <a:pt x="913302" y="2987119"/>
                  </a:lnTo>
                  <a:lnTo>
                    <a:pt x="872297" y="2967636"/>
                  </a:lnTo>
                  <a:lnTo>
                    <a:pt x="831754" y="2946896"/>
                  </a:lnTo>
                  <a:lnTo>
                    <a:pt x="791704" y="2924899"/>
                  </a:lnTo>
                  <a:lnTo>
                    <a:pt x="752174" y="2901646"/>
                  </a:lnTo>
                  <a:lnTo>
                    <a:pt x="713194" y="2877135"/>
                  </a:lnTo>
                  <a:lnTo>
                    <a:pt x="674792" y="2851367"/>
                  </a:lnTo>
                  <a:lnTo>
                    <a:pt x="636998" y="2824343"/>
                  </a:lnTo>
                  <a:lnTo>
                    <a:pt x="599841" y="2796061"/>
                  </a:lnTo>
                  <a:lnTo>
                    <a:pt x="563348" y="2766522"/>
                  </a:lnTo>
                  <a:lnTo>
                    <a:pt x="527550" y="2735727"/>
                  </a:lnTo>
                  <a:lnTo>
                    <a:pt x="492475" y="2703674"/>
                  </a:lnTo>
                  <a:lnTo>
                    <a:pt x="458152" y="2670365"/>
                  </a:lnTo>
                  <a:lnTo>
                    <a:pt x="424843" y="2636041"/>
                  </a:lnTo>
                  <a:lnTo>
                    <a:pt x="392791" y="2600966"/>
                  </a:lnTo>
                  <a:lnTo>
                    <a:pt x="361997" y="2565167"/>
                  </a:lnTo>
                  <a:lnTo>
                    <a:pt x="332459" y="2528674"/>
                  </a:lnTo>
                  <a:lnTo>
                    <a:pt x="304178" y="2491516"/>
                  </a:lnTo>
                  <a:lnTo>
                    <a:pt x="277153" y="2453721"/>
                  </a:lnTo>
                  <a:lnTo>
                    <a:pt x="251386" y="2415319"/>
                  </a:lnTo>
                  <a:lnTo>
                    <a:pt x="226876" y="2376338"/>
                  </a:lnTo>
                  <a:lnTo>
                    <a:pt x="203623" y="2336808"/>
                  </a:lnTo>
                  <a:lnTo>
                    <a:pt x="181626" y="2296757"/>
                  </a:lnTo>
                  <a:lnTo>
                    <a:pt x="160887" y="2256214"/>
                  </a:lnTo>
                  <a:lnTo>
                    <a:pt x="141405" y="2215209"/>
                  </a:lnTo>
                  <a:lnTo>
                    <a:pt x="123179" y="2173769"/>
                  </a:lnTo>
                  <a:lnTo>
                    <a:pt x="106210" y="2131925"/>
                  </a:lnTo>
                  <a:lnTo>
                    <a:pt x="90499" y="2089705"/>
                  </a:lnTo>
                  <a:lnTo>
                    <a:pt x="76044" y="2047137"/>
                  </a:lnTo>
                  <a:lnTo>
                    <a:pt x="62846" y="2004251"/>
                  </a:lnTo>
                  <a:lnTo>
                    <a:pt x="50905" y="1961077"/>
                  </a:lnTo>
                  <a:lnTo>
                    <a:pt x="40221" y="1917641"/>
                  </a:lnTo>
                  <a:lnTo>
                    <a:pt x="30794" y="1873975"/>
                  </a:lnTo>
                  <a:lnTo>
                    <a:pt x="22624" y="1830106"/>
                  </a:lnTo>
                  <a:lnTo>
                    <a:pt x="15711" y="1786063"/>
                  </a:lnTo>
                  <a:lnTo>
                    <a:pt x="10055" y="1741876"/>
                  </a:lnTo>
                  <a:lnTo>
                    <a:pt x="5656" y="1697573"/>
                  </a:lnTo>
                  <a:lnTo>
                    <a:pt x="2513" y="1653183"/>
                  </a:lnTo>
                  <a:lnTo>
                    <a:pt x="628" y="1608735"/>
                  </a:lnTo>
                  <a:lnTo>
                    <a:pt x="0" y="1564259"/>
                  </a:lnTo>
                  <a:lnTo>
                    <a:pt x="628" y="1519782"/>
                  </a:lnTo>
                  <a:lnTo>
                    <a:pt x="2513" y="1475334"/>
                  </a:lnTo>
                  <a:lnTo>
                    <a:pt x="5656" y="1430944"/>
                  </a:lnTo>
                  <a:lnTo>
                    <a:pt x="10055" y="1386641"/>
                  </a:lnTo>
                  <a:lnTo>
                    <a:pt x="15711" y="1342454"/>
                  </a:lnTo>
                  <a:lnTo>
                    <a:pt x="22624" y="1298411"/>
                  </a:lnTo>
                  <a:lnTo>
                    <a:pt x="30794" y="1254542"/>
                  </a:lnTo>
                  <a:lnTo>
                    <a:pt x="40221" y="1210876"/>
                  </a:lnTo>
                  <a:lnTo>
                    <a:pt x="50905" y="1167440"/>
                  </a:lnTo>
                  <a:lnTo>
                    <a:pt x="62846" y="1124266"/>
                  </a:lnTo>
                  <a:lnTo>
                    <a:pt x="76044" y="1081380"/>
                  </a:lnTo>
                  <a:lnTo>
                    <a:pt x="90499" y="1038812"/>
                  </a:lnTo>
                  <a:lnTo>
                    <a:pt x="106210" y="996592"/>
                  </a:lnTo>
                  <a:lnTo>
                    <a:pt x="123179" y="954748"/>
                  </a:lnTo>
                  <a:lnTo>
                    <a:pt x="141405" y="913308"/>
                  </a:lnTo>
                  <a:lnTo>
                    <a:pt x="160887" y="872303"/>
                  </a:lnTo>
                  <a:lnTo>
                    <a:pt x="181626" y="831760"/>
                  </a:lnTo>
                  <a:lnTo>
                    <a:pt x="203623" y="791709"/>
                  </a:lnTo>
                  <a:lnTo>
                    <a:pt x="226876" y="752179"/>
                  </a:lnTo>
                  <a:lnTo>
                    <a:pt x="251386" y="713198"/>
                  </a:lnTo>
                  <a:lnTo>
                    <a:pt x="277153" y="674796"/>
                  </a:lnTo>
                  <a:lnTo>
                    <a:pt x="304178" y="637001"/>
                  </a:lnTo>
                  <a:lnTo>
                    <a:pt x="332459" y="599843"/>
                  </a:lnTo>
                  <a:lnTo>
                    <a:pt x="361997" y="563350"/>
                  </a:lnTo>
                  <a:lnTo>
                    <a:pt x="392791" y="527551"/>
                  </a:lnTo>
                  <a:lnTo>
                    <a:pt x="424843" y="492476"/>
                  </a:lnTo>
                  <a:lnTo>
                    <a:pt x="458152" y="458152"/>
                  </a:lnTo>
                  <a:close/>
                </a:path>
              </a:pathLst>
            </a:custGeom>
            <a:ln w="33451">
              <a:solidFill>
                <a:srgbClr val="DDDDDD">
                  <a:lumMod val="75000"/>
                </a:srgbClr>
              </a:solidFill>
              <a:prstDash val="dot"/>
            </a:ln>
          </p:spPr>
          <p:txBody>
            <a:bodyPr wrap="square" lIns="0" tIns="0" rIns="0" bIns="0" rtlCol="0"/>
            <a:lstStyle/>
            <a:p>
              <a:pPr marL="0" marR="0" lvl="0" indent="0" algn="l" defTabSz="1217295" rtl="0" eaLnBrk="1" fontAlgn="auto" latinLnBrk="0" hangingPunct="1">
                <a:lnSpc>
                  <a:spcPct val="100000"/>
                </a:lnSpc>
                <a:spcBef>
                  <a:spcPts val="0"/>
                </a:spcBef>
                <a:spcAft>
                  <a:spcPts val="0"/>
                </a:spcAft>
                <a:buClrTx/>
                <a:buSzTx/>
                <a:buFontTx/>
                <a:buNone/>
                <a:defRPr/>
              </a:pPr>
              <a:endParaRPr kumimoji="0" sz="2395"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Helvetica"/>
                <a:sym typeface="Arial" panose="020B0604020202020204" pitchFamily="34" charset="0"/>
              </a:endParaRPr>
            </a:p>
          </p:txBody>
        </p:sp>
        <p:sp>
          <p:nvSpPr>
            <p:cNvPr id="73" name="object 7"/>
            <p:cNvSpPr/>
            <p:nvPr/>
          </p:nvSpPr>
          <p:spPr>
            <a:xfrm>
              <a:off x="2441976" y="1729027"/>
              <a:ext cx="1762623" cy="899670"/>
            </a:xfrm>
            <a:custGeom>
              <a:avLst/>
              <a:gdLst/>
              <a:ahLst/>
              <a:cxnLst/>
              <a:rect l="l" t="t" r="r" b="b"/>
              <a:pathLst>
                <a:path w="1524000" h="777875">
                  <a:moveTo>
                    <a:pt x="1523555" y="777443"/>
                  </a:moveTo>
                  <a:lnTo>
                    <a:pt x="0" y="777443"/>
                  </a:lnTo>
                  <a:lnTo>
                    <a:pt x="0" y="0"/>
                  </a:lnTo>
                  <a:lnTo>
                    <a:pt x="1523555" y="0"/>
                  </a:lnTo>
                  <a:lnTo>
                    <a:pt x="1523555" y="777443"/>
                  </a:lnTo>
                  <a:close/>
                </a:path>
              </a:pathLst>
            </a:custGeom>
            <a:gradFill>
              <a:gsLst>
                <a:gs pos="0">
                  <a:srgbClr val="FFFFFF">
                    <a:lumMod val="95000"/>
                  </a:srgbClr>
                </a:gs>
                <a:gs pos="50000">
                  <a:srgbClr val="FFFFFF"/>
                </a:gs>
                <a:gs pos="100000">
                  <a:srgbClr val="FFFFFF">
                    <a:lumMod val="95000"/>
                  </a:srgbClr>
                </a:gs>
              </a:gsLst>
              <a:lin ang="8100000" scaled="0"/>
            </a:gradFill>
            <a:ln>
              <a:solidFill>
                <a:srgbClr val="FFFFFF">
                  <a:lumMod val="95000"/>
                </a:srgbClr>
              </a:solidFill>
            </a:ln>
          </p:spPr>
          <p:txBody>
            <a:bodyPr wrap="square" lIns="0" tIns="0" rIns="0" bIns="0" rtlCol="0"/>
            <a:lstStyle/>
            <a:p>
              <a:pPr marL="0" marR="0" lvl="0" indent="0" algn="l" defTabSz="1217295" rtl="0" eaLnBrk="1" fontAlgn="auto" latinLnBrk="0" hangingPunct="1">
                <a:lnSpc>
                  <a:spcPct val="100000"/>
                </a:lnSpc>
                <a:spcBef>
                  <a:spcPts val="0"/>
                </a:spcBef>
                <a:spcAft>
                  <a:spcPts val="0"/>
                </a:spcAft>
                <a:buClrTx/>
                <a:buSzTx/>
                <a:buFontTx/>
                <a:buNone/>
                <a:defRPr/>
              </a:pPr>
              <a:endParaRPr kumimoji="0" sz="2395"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Helvetica"/>
                <a:sym typeface="Arial" panose="020B0604020202020204" pitchFamily="34" charset="0"/>
              </a:endParaRPr>
            </a:p>
          </p:txBody>
        </p:sp>
        <p:sp>
          <p:nvSpPr>
            <p:cNvPr id="74" name="object 8"/>
            <p:cNvSpPr/>
            <p:nvPr/>
          </p:nvSpPr>
          <p:spPr>
            <a:xfrm>
              <a:off x="3641489" y="4766012"/>
              <a:ext cx="2161416" cy="973849"/>
            </a:xfrm>
            <a:custGeom>
              <a:avLst/>
              <a:gdLst/>
              <a:ahLst/>
              <a:cxnLst/>
              <a:rect l="l" t="t" r="r" b="b"/>
              <a:pathLst>
                <a:path w="1868804" h="842009">
                  <a:moveTo>
                    <a:pt x="1868741" y="0"/>
                  </a:moveTo>
                  <a:lnTo>
                    <a:pt x="0" y="0"/>
                  </a:lnTo>
                  <a:lnTo>
                    <a:pt x="364528" y="841451"/>
                  </a:lnTo>
                  <a:lnTo>
                    <a:pt x="1868741" y="827658"/>
                  </a:lnTo>
                  <a:lnTo>
                    <a:pt x="1868741" y="0"/>
                  </a:lnTo>
                  <a:close/>
                </a:path>
              </a:pathLst>
            </a:custGeom>
            <a:gradFill>
              <a:gsLst>
                <a:gs pos="0">
                  <a:srgbClr val="FFFFFF">
                    <a:lumMod val="95000"/>
                  </a:srgbClr>
                </a:gs>
                <a:gs pos="50000">
                  <a:srgbClr val="FFFFFF"/>
                </a:gs>
                <a:gs pos="100000">
                  <a:srgbClr val="FFFFFF">
                    <a:lumMod val="95000"/>
                  </a:srgbClr>
                </a:gs>
              </a:gsLst>
              <a:lin ang="8100000" scaled="0"/>
            </a:gradFill>
            <a:ln>
              <a:solidFill>
                <a:srgbClr val="FFFFFF">
                  <a:lumMod val="95000"/>
                </a:srgbClr>
              </a:solidFill>
            </a:ln>
          </p:spPr>
          <p:txBody>
            <a:bodyPr wrap="square" lIns="0" tIns="0" rIns="0" bIns="0" rtlCol="0"/>
            <a:lstStyle/>
            <a:p>
              <a:pPr marL="0" marR="0" lvl="0" indent="0" algn="l" defTabSz="1217295" rtl="0" eaLnBrk="1" fontAlgn="auto" latinLnBrk="0" hangingPunct="1">
                <a:lnSpc>
                  <a:spcPct val="100000"/>
                </a:lnSpc>
                <a:spcBef>
                  <a:spcPts val="0"/>
                </a:spcBef>
                <a:spcAft>
                  <a:spcPts val="0"/>
                </a:spcAft>
                <a:buClrTx/>
                <a:buSzTx/>
                <a:buFontTx/>
                <a:buNone/>
                <a:defRPr/>
              </a:pPr>
              <a:endParaRPr kumimoji="0" sz="2395"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Helvetica"/>
                <a:sym typeface="Arial" panose="020B0604020202020204" pitchFamily="34" charset="0"/>
              </a:endParaRPr>
            </a:p>
          </p:txBody>
        </p:sp>
        <p:sp>
          <p:nvSpPr>
            <p:cNvPr id="75" name="object 9"/>
            <p:cNvSpPr txBox="1"/>
            <p:nvPr/>
          </p:nvSpPr>
          <p:spPr>
            <a:xfrm>
              <a:off x="2461026" y="1781205"/>
              <a:ext cx="1774042" cy="890993"/>
            </a:xfrm>
            <a:prstGeom prst="rect">
              <a:avLst/>
            </a:prstGeom>
          </p:spPr>
          <p:txBody>
            <a:bodyPr vert="horz" wrap="square" lIns="0" tIns="65310" rIns="0" bIns="0" rtlCol="0">
              <a:spAutoFit/>
            </a:bodyPr>
            <a:lstStyle/>
            <a:p>
              <a:pPr marL="0" marR="5080" lvl="0" indent="0" algn="ctr" defTabSz="1217295" rtl="0" eaLnBrk="1" fontAlgn="auto" latinLnBrk="0" hangingPunct="1">
                <a:lnSpc>
                  <a:spcPct val="100000"/>
                </a:lnSpc>
                <a:spcBef>
                  <a:spcPts val="515"/>
                </a:spcBef>
                <a:spcAft>
                  <a:spcPts val="0"/>
                </a:spcAft>
                <a:buClrTx/>
                <a:buSzTx/>
                <a:buFontTx/>
                <a:buNone/>
                <a:defRPr/>
              </a:pPr>
              <a:r>
                <a:rPr kumimoji="0" sz="1595" b="1" i="0" u="none" strike="noStrike" kern="0" cap="none" spc="-5"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Arial Unicode MS" panose="020B0604020202020204" charset="-122"/>
                  <a:sym typeface="Arial" panose="020B0604020202020204" pitchFamily="34" charset="0"/>
                </a:rPr>
                <a:t>算</a:t>
              </a:r>
              <a:r>
                <a:rPr kumimoji="0" lang="en-US" altLang="zh-CN" sz="1595" b="1" i="0" u="none" strike="noStrike" kern="0" cap="none" spc="-5"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Arial Unicode MS" panose="020B0604020202020204" charset="-122"/>
                  <a:sym typeface="Arial" panose="020B0604020202020204" pitchFamily="34" charset="0"/>
                </a:rPr>
                <a:t> </a:t>
              </a:r>
              <a:r>
                <a:rPr kumimoji="0" sz="1595" b="1" i="0" u="none" strike="noStrike" kern="0" cap="none" spc="-5"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Arial Unicode MS" panose="020B0604020202020204" charset="-122"/>
                  <a:sym typeface="Arial" panose="020B0604020202020204" pitchFamily="34" charset="0"/>
                </a:rPr>
                <a:t>力</a:t>
              </a:r>
              <a:endParaRPr kumimoji="0" sz="1595"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Arial Unicode MS" panose="020B0604020202020204" charset="-122"/>
                <a:sym typeface="Arial" panose="020B0604020202020204" pitchFamily="34" charset="0"/>
              </a:endParaRPr>
            </a:p>
            <a:p>
              <a:pPr marL="0" marR="5080" lvl="0" indent="0" algn="ctr" defTabSz="1217295" rtl="0" eaLnBrk="1" fontAlgn="auto" latinLnBrk="0" hangingPunct="1">
                <a:lnSpc>
                  <a:spcPct val="100000"/>
                </a:lnSpc>
                <a:spcBef>
                  <a:spcPts val="380"/>
                </a:spcBef>
                <a:spcAft>
                  <a:spcPts val="0"/>
                </a:spcAft>
                <a:buClrTx/>
                <a:buSzTx/>
                <a:buFontTx/>
                <a:buNone/>
                <a:defRPr/>
              </a:pPr>
              <a:r>
                <a:rPr kumimoji="0" lang="zh-CN" altLang="en-US" sz="1100" b="0" i="0" u="none" strike="noStrike" kern="0" cap="none" spc="69" normalizeH="0" baseline="0" noProof="0" dirty="0">
                  <a:ln>
                    <a:noFill/>
                  </a:ln>
                  <a:solidFill>
                    <a:srgbClr val="5C585B"/>
                  </a:solidFill>
                  <a:effectLst/>
                  <a:uLnTx/>
                  <a:uFillTx/>
                  <a:latin typeface="微软雅黑" panose="020B0503020204020204" pitchFamily="34" charset="-122"/>
                  <a:ea typeface="微软雅黑" panose="020B0503020204020204" pitchFamily="34" charset="-122"/>
                  <a:cs typeface="Arial Unicode MS" panose="020B0604020202020204" charset="-122"/>
                  <a:sym typeface="Arial" panose="020B0604020202020204" pitchFamily="34" charset="0"/>
                </a:rPr>
                <a:t>人工智能的身体，体现</a:t>
              </a:r>
              <a:endParaRPr kumimoji="0" lang="en-US" altLang="zh-CN" sz="1100" b="0" i="0" u="none" strike="noStrike" kern="0" cap="none" spc="69" normalizeH="0" baseline="0" noProof="0" dirty="0">
                <a:ln>
                  <a:noFill/>
                </a:ln>
                <a:solidFill>
                  <a:srgbClr val="5C585B"/>
                </a:solidFill>
                <a:effectLst/>
                <a:uLnTx/>
                <a:uFillTx/>
                <a:latin typeface="微软雅黑" panose="020B0503020204020204" pitchFamily="34" charset="-122"/>
                <a:ea typeface="微软雅黑" panose="020B0503020204020204" pitchFamily="34" charset="-122"/>
                <a:cs typeface="Arial Unicode MS" panose="020B0604020202020204" charset="-122"/>
                <a:sym typeface="Arial" panose="020B0604020202020204" pitchFamily="34" charset="0"/>
              </a:endParaRPr>
            </a:p>
            <a:p>
              <a:pPr marL="0" marR="5080" lvl="0" indent="0" algn="ctr" defTabSz="1217295" rtl="0" eaLnBrk="1" fontAlgn="auto" latinLnBrk="0" hangingPunct="1">
                <a:lnSpc>
                  <a:spcPct val="100000"/>
                </a:lnSpc>
                <a:spcBef>
                  <a:spcPts val="380"/>
                </a:spcBef>
                <a:spcAft>
                  <a:spcPts val="0"/>
                </a:spcAft>
                <a:buClrTx/>
                <a:buSzTx/>
                <a:buFontTx/>
                <a:buNone/>
                <a:defRPr/>
              </a:pPr>
              <a:r>
                <a:rPr kumimoji="0" lang="zh-CN" altLang="en-US" sz="1100" b="0" i="0" u="none" strike="noStrike" kern="0" cap="none" spc="69" normalizeH="0" baseline="0" noProof="0" dirty="0">
                  <a:ln>
                    <a:noFill/>
                  </a:ln>
                  <a:solidFill>
                    <a:srgbClr val="5C585B"/>
                  </a:solidFill>
                  <a:effectLst/>
                  <a:uLnTx/>
                  <a:uFillTx/>
                  <a:latin typeface="微软雅黑" panose="020B0503020204020204" pitchFamily="34" charset="-122"/>
                  <a:ea typeface="微软雅黑" panose="020B0503020204020204" pitchFamily="34" charset="-122"/>
                  <a:cs typeface="Arial Unicode MS" panose="020B0604020202020204" charset="-122"/>
                  <a:sym typeface="Arial" panose="020B0604020202020204" pitchFamily="34" charset="0"/>
                </a:rPr>
                <a:t>人工智能计算速度和效率</a:t>
              </a:r>
              <a:endParaRPr kumimoji="0"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Unicode MS" panose="020B0604020202020204" charset="-122"/>
                <a:sym typeface="Arial" panose="020B0604020202020204" pitchFamily="34" charset="0"/>
              </a:endParaRPr>
            </a:p>
          </p:txBody>
        </p:sp>
        <p:sp>
          <p:nvSpPr>
            <p:cNvPr id="76" name="object 10"/>
            <p:cNvSpPr txBox="1"/>
            <p:nvPr/>
          </p:nvSpPr>
          <p:spPr>
            <a:xfrm>
              <a:off x="4123882" y="4845768"/>
              <a:ext cx="1600315" cy="930454"/>
            </a:xfrm>
            <a:prstGeom prst="rect">
              <a:avLst/>
            </a:prstGeom>
          </p:spPr>
          <p:txBody>
            <a:bodyPr vert="horz" wrap="square" lIns="0" tIns="65310" rIns="0" bIns="0" rtlCol="0">
              <a:spAutoFit/>
            </a:bodyPr>
            <a:lstStyle/>
            <a:p>
              <a:pPr marL="0" marR="4445" lvl="0" indent="0" algn="ctr" defTabSz="1217295" rtl="0" eaLnBrk="1" fontAlgn="auto" latinLnBrk="0" hangingPunct="1">
                <a:lnSpc>
                  <a:spcPct val="100000"/>
                </a:lnSpc>
                <a:spcBef>
                  <a:spcPts val="515"/>
                </a:spcBef>
                <a:spcAft>
                  <a:spcPts val="0"/>
                </a:spcAft>
                <a:buClrTx/>
                <a:buSzTx/>
                <a:buFontTx/>
                <a:buNone/>
                <a:defRPr/>
              </a:pPr>
              <a:r>
                <a:rPr kumimoji="0" lang="zh-CN" altLang="en-US" sz="1595" b="1" i="0" u="none" strike="noStrike" kern="0" cap="none" spc="-5"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Arial Unicode MS" panose="020B0604020202020204" charset="-122"/>
                  <a:sym typeface="Arial" panose="020B0604020202020204" pitchFamily="34" charset="0"/>
                </a:rPr>
                <a:t>数</a:t>
              </a:r>
              <a:r>
                <a:rPr kumimoji="0" sz="1595" b="1" i="0" u="none" strike="noStrike" kern="0" cap="none" spc="-5"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Arial Unicode MS" panose="020B0604020202020204" charset="-122"/>
                  <a:sym typeface="Arial" panose="020B0604020202020204" pitchFamily="34" charset="0"/>
                </a:rPr>
                <a:t>据</a:t>
              </a:r>
              <a:endParaRPr kumimoji="0" sz="1595"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Arial Unicode MS" panose="020B0604020202020204" charset="-122"/>
                <a:sym typeface="Arial" panose="020B0604020202020204" pitchFamily="34" charset="0"/>
              </a:endParaRPr>
            </a:p>
            <a:p>
              <a:pPr marL="0" marR="5080" lvl="0" indent="0" algn="ctr" defTabSz="1217295" rtl="0" eaLnBrk="1" fontAlgn="auto" latinLnBrk="0" hangingPunct="1">
                <a:lnSpc>
                  <a:spcPts val="1815"/>
                </a:lnSpc>
                <a:spcBef>
                  <a:spcPts val="70"/>
                </a:spcBef>
                <a:spcAft>
                  <a:spcPts val="0"/>
                </a:spcAft>
                <a:buClrTx/>
                <a:buSzTx/>
                <a:buFontTx/>
                <a:buNone/>
                <a:defRPr/>
              </a:pPr>
              <a:r>
                <a:rPr kumimoji="0" lang="zh-CN" altLang="en-US" sz="1100" b="0" i="0" u="none" strike="noStrike" kern="0" cap="none" spc="40" normalizeH="0" baseline="0" noProof="0" dirty="0">
                  <a:ln>
                    <a:noFill/>
                  </a:ln>
                  <a:solidFill>
                    <a:srgbClr val="5C585B"/>
                  </a:solidFill>
                  <a:effectLst/>
                  <a:uLnTx/>
                  <a:uFillTx/>
                  <a:latin typeface="微软雅黑" panose="020B0503020204020204" pitchFamily="34" charset="-122"/>
                  <a:ea typeface="微软雅黑" panose="020B0503020204020204" pitchFamily="34" charset="-122"/>
                  <a:cs typeface="Arial Unicode MS" panose="020B0604020202020204" charset="-122"/>
                  <a:sym typeface="Arial" panose="020B0604020202020204" pitchFamily="34" charset="0"/>
                </a:rPr>
                <a:t>人工智能的粮食，是一切智慧物体的学习资源</a:t>
              </a:r>
              <a:endParaRPr kumimoji="0"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Unicode MS" panose="020B0604020202020204" charset="-122"/>
                <a:sym typeface="Arial" panose="020B0604020202020204" pitchFamily="34" charset="0"/>
              </a:endParaRPr>
            </a:p>
          </p:txBody>
        </p:sp>
        <p:sp>
          <p:nvSpPr>
            <p:cNvPr id="81" name="object 11"/>
            <p:cNvSpPr/>
            <p:nvPr/>
          </p:nvSpPr>
          <p:spPr>
            <a:xfrm>
              <a:off x="772662" y="4766052"/>
              <a:ext cx="2161416" cy="957691"/>
            </a:xfrm>
            <a:custGeom>
              <a:avLst/>
              <a:gdLst/>
              <a:ahLst/>
              <a:cxnLst/>
              <a:rect l="l" t="t" r="r" b="b"/>
              <a:pathLst>
                <a:path w="1868805" h="828040">
                  <a:moveTo>
                    <a:pt x="1868741" y="0"/>
                  </a:moveTo>
                  <a:lnTo>
                    <a:pt x="0" y="0"/>
                  </a:lnTo>
                  <a:lnTo>
                    <a:pt x="0" y="827620"/>
                  </a:lnTo>
                  <a:lnTo>
                    <a:pt x="1390192" y="807973"/>
                  </a:lnTo>
                  <a:lnTo>
                    <a:pt x="1868741" y="0"/>
                  </a:lnTo>
                  <a:close/>
                </a:path>
              </a:pathLst>
            </a:custGeom>
            <a:gradFill>
              <a:gsLst>
                <a:gs pos="0">
                  <a:srgbClr val="FFFFFF">
                    <a:lumMod val="95000"/>
                  </a:srgbClr>
                </a:gs>
                <a:gs pos="50000">
                  <a:srgbClr val="FFFFFF"/>
                </a:gs>
                <a:gs pos="100000">
                  <a:srgbClr val="FFFFFF">
                    <a:lumMod val="95000"/>
                  </a:srgbClr>
                </a:gs>
              </a:gsLst>
              <a:lin ang="8100000" scaled="0"/>
            </a:gradFill>
            <a:ln>
              <a:solidFill>
                <a:srgbClr val="FFFFFF">
                  <a:lumMod val="95000"/>
                </a:srgbClr>
              </a:solidFill>
            </a:ln>
          </p:spPr>
          <p:txBody>
            <a:bodyPr wrap="square" lIns="0" tIns="0" rIns="0" bIns="0" rtlCol="0"/>
            <a:lstStyle/>
            <a:p>
              <a:pPr marL="0" marR="0" lvl="0" indent="0" algn="l" defTabSz="1217295" rtl="0" eaLnBrk="1" fontAlgn="auto" latinLnBrk="0" hangingPunct="1">
                <a:lnSpc>
                  <a:spcPct val="100000"/>
                </a:lnSpc>
                <a:spcBef>
                  <a:spcPts val="0"/>
                </a:spcBef>
                <a:spcAft>
                  <a:spcPts val="0"/>
                </a:spcAft>
                <a:buClrTx/>
                <a:buSzTx/>
                <a:buFontTx/>
                <a:buNone/>
                <a:defRPr/>
              </a:pPr>
              <a:endParaRPr kumimoji="0" sz="2395"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Helvetica"/>
                <a:sym typeface="Arial" panose="020B0604020202020204" pitchFamily="34" charset="0"/>
              </a:endParaRPr>
            </a:p>
          </p:txBody>
        </p:sp>
        <p:sp>
          <p:nvSpPr>
            <p:cNvPr id="82" name="object 12"/>
            <p:cNvSpPr txBox="1"/>
            <p:nvPr/>
          </p:nvSpPr>
          <p:spPr>
            <a:xfrm>
              <a:off x="778087" y="4821659"/>
              <a:ext cx="1779499" cy="930454"/>
            </a:xfrm>
            <a:prstGeom prst="rect">
              <a:avLst/>
            </a:prstGeom>
          </p:spPr>
          <p:txBody>
            <a:bodyPr vert="horz" wrap="square" lIns="0" tIns="65310" rIns="0" bIns="0" rtlCol="0">
              <a:spAutoFit/>
            </a:bodyPr>
            <a:lstStyle/>
            <a:p>
              <a:pPr marL="0" marR="5080" lvl="0" indent="0" algn="ctr" defTabSz="1217295" rtl="0" eaLnBrk="1" fontAlgn="auto" latinLnBrk="0" hangingPunct="1">
                <a:lnSpc>
                  <a:spcPct val="100000"/>
                </a:lnSpc>
                <a:spcBef>
                  <a:spcPts val="515"/>
                </a:spcBef>
                <a:spcAft>
                  <a:spcPts val="0"/>
                </a:spcAft>
                <a:buClrTx/>
                <a:buSzTx/>
                <a:buFontTx/>
                <a:buNone/>
                <a:defRPr/>
              </a:pPr>
              <a:r>
                <a:rPr kumimoji="0" lang="zh-CN" altLang="en-US" sz="1595" b="1" i="0" u="none" strike="noStrike" kern="0" cap="none" spc="-5"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Arial Unicode MS" panose="020B0604020202020204" charset="-122"/>
                  <a:sym typeface="Arial" panose="020B0604020202020204" pitchFamily="34" charset="0"/>
                </a:rPr>
                <a:t>算 法</a:t>
              </a:r>
              <a:endParaRPr kumimoji="0" lang="zh-CN" altLang="en-US" sz="1595" b="1" i="0" u="none" strike="noStrike" kern="0" cap="none" spc="-5"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Arial Unicode MS" panose="020B0604020202020204" charset="-122"/>
                <a:sym typeface="Arial" panose="020B0604020202020204" pitchFamily="34" charset="0"/>
              </a:endParaRPr>
            </a:p>
            <a:p>
              <a:pPr marL="0" marR="5080" lvl="0" indent="0" algn="ctr" defTabSz="1217295" rtl="0" eaLnBrk="1" fontAlgn="auto" latinLnBrk="0" hangingPunct="1">
                <a:lnSpc>
                  <a:spcPts val="1815"/>
                </a:lnSpc>
                <a:spcBef>
                  <a:spcPts val="70"/>
                </a:spcBef>
                <a:spcAft>
                  <a:spcPts val="0"/>
                </a:spcAft>
                <a:buClrTx/>
                <a:buSzTx/>
                <a:buFontTx/>
                <a:buNone/>
                <a:defRPr/>
              </a:pPr>
              <a:r>
                <a:rPr kumimoji="0" lang="zh-CN" altLang="en-US" sz="1100" b="0" i="0" u="none" strike="noStrike" kern="0" cap="none" spc="15" normalizeH="0" baseline="0" noProof="0" dirty="0">
                  <a:ln>
                    <a:noFill/>
                  </a:ln>
                  <a:solidFill>
                    <a:srgbClr val="5C585B"/>
                  </a:solidFill>
                  <a:effectLst/>
                  <a:uLnTx/>
                  <a:uFillTx/>
                  <a:latin typeface="微软雅黑" panose="020B0503020204020204" pitchFamily="34" charset="-122"/>
                  <a:ea typeface="微软雅黑" panose="020B0503020204020204" pitchFamily="34" charset="-122"/>
                  <a:cs typeface="Arial Unicode MS" panose="020B0604020202020204" charset="-122"/>
                  <a:sym typeface="Arial" panose="020B0604020202020204" pitchFamily="34" charset="0"/>
                </a:rPr>
                <a:t>人工智能的大脑，对资源有效利用的思想和灵魂</a:t>
              </a:r>
              <a:endParaRPr kumimoji="0"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Unicode MS" panose="020B0604020202020204" charset="-122"/>
                <a:sym typeface="Arial" panose="020B0604020202020204" pitchFamily="34" charset="0"/>
              </a:endParaRPr>
            </a:p>
          </p:txBody>
        </p:sp>
        <p:sp>
          <p:nvSpPr>
            <p:cNvPr id="83" name="artificial-intelligence_247468"/>
            <p:cNvSpPr>
              <a:spLocks noChangeAspect="1"/>
            </p:cNvSpPr>
            <p:nvPr/>
          </p:nvSpPr>
          <p:spPr bwMode="auto">
            <a:xfrm>
              <a:off x="2948309" y="3593877"/>
              <a:ext cx="749956" cy="748827"/>
            </a:xfrm>
            <a:custGeom>
              <a:avLst/>
              <a:gdLst>
                <a:gd name="connsiteX0" fmla="*/ 462097 w 609614"/>
                <a:gd name="connsiteY0" fmla="*/ 569490 h 608697"/>
                <a:gd name="connsiteX1" fmla="*/ 452323 w 609614"/>
                <a:gd name="connsiteY1" fmla="*/ 579246 h 608697"/>
                <a:gd name="connsiteX2" fmla="*/ 462097 w 609614"/>
                <a:gd name="connsiteY2" fmla="*/ 589094 h 608697"/>
                <a:gd name="connsiteX3" fmla="*/ 471964 w 609614"/>
                <a:gd name="connsiteY3" fmla="*/ 579246 h 608697"/>
                <a:gd name="connsiteX4" fmla="*/ 462097 w 609614"/>
                <a:gd name="connsiteY4" fmla="*/ 569490 h 608697"/>
                <a:gd name="connsiteX5" fmla="*/ 39366 w 609614"/>
                <a:gd name="connsiteY5" fmla="*/ 569490 h 608697"/>
                <a:gd name="connsiteX6" fmla="*/ 29506 w 609614"/>
                <a:gd name="connsiteY6" fmla="*/ 579246 h 608697"/>
                <a:gd name="connsiteX7" fmla="*/ 39366 w 609614"/>
                <a:gd name="connsiteY7" fmla="*/ 589094 h 608697"/>
                <a:gd name="connsiteX8" fmla="*/ 49133 w 609614"/>
                <a:gd name="connsiteY8" fmla="*/ 579246 h 608697"/>
                <a:gd name="connsiteX9" fmla="*/ 39366 w 609614"/>
                <a:gd name="connsiteY9" fmla="*/ 569490 h 608697"/>
                <a:gd name="connsiteX10" fmla="*/ 265488 w 609614"/>
                <a:gd name="connsiteY10" fmla="*/ 569487 h 608697"/>
                <a:gd name="connsiteX11" fmla="*/ 255618 w 609614"/>
                <a:gd name="connsiteY11" fmla="*/ 579244 h 608697"/>
                <a:gd name="connsiteX12" fmla="*/ 265488 w 609614"/>
                <a:gd name="connsiteY12" fmla="*/ 589092 h 608697"/>
                <a:gd name="connsiteX13" fmla="*/ 275357 w 609614"/>
                <a:gd name="connsiteY13" fmla="*/ 579244 h 608697"/>
                <a:gd name="connsiteX14" fmla="*/ 265488 w 609614"/>
                <a:gd name="connsiteY14" fmla="*/ 569487 h 608697"/>
                <a:gd name="connsiteX15" fmla="*/ 580122 w 609614"/>
                <a:gd name="connsiteY15" fmla="*/ 569485 h 608697"/>
                <a:gd name="connsiteX16" fmla="*/ 570353 w 609614"/>
                <a:gd name="connsiteY16" fmla="*/ 579242 h 608697"/>
                <a:gd name="connsiteX17" fmla="*/ 580122 w 609614"/>
                <a:gd name="connsiteY17" fmla="*/ 589091 h 608697"/>
                <a:gd name="connsiteX18" fmla="*/ 589984 w 609614"/>
                <a:gd name="connsiteY18" fmla="*/ 579242 h 608697"/>
                <a:gd name="connsiteX19" fmla="*/ 580122 w 609614"/>
                <a:gd name="connsiteY19" fmla="*/ 569485 h 608697"/>
                <a:gd name="connsiteX20" fmla="*/ 98361 w 609614"/>
                <a:gd name="connsiteY20" fmla="*/ 510555 h 608697"/>
                <a:gd name="connsiteX21" fmla="*/ 88500 w 609614"/>
                <a:gd name="connsiteY21" fmla="*/ 520314 h 608697"/>
                <a:gd name="connsiteX22" fmla="*/ 98361 w 609614"/>
                <a:gd name="connsiteY22" fmla="*/ 530165 h 608697"/>
                <a:gd name="connsiteX23" fmla="*/ 108129 w 609614"/>
                <a:gd name="connsiteY23" fmla="*/ 520314 h 608697"/>
                <a:gd name="connsiteX24" fmla="*/ 98361 w 609614"/>
                <a:gd name="connsiteY24" fmla="*/ 510555 h 608697"/>
                <a:gd name="connsiteX25" fmla="*/ 373643 w 609614"/>
                <a:gd name="connsiteY25" fmla="*/ 500732 h 608697"/>
                <a:gd name="connsiteX26" fmla="*/ 393331 w 609614"/>
                <a:gd name="connsiteY26" fmla="*/ 500732 h 608697"/>
                <a:gd name="connsiteX27" fmla="*/ 393331 w 609614"/>
                <a:gd name="connsiteY27" fmla="*/ 608697 h 608697"/>
                <a:gd name="connsiteX28" fmla="*/ 373643 w 609614"/>
                <a:gd name="connsiteY28" fmla="*/ 608697 h 608697"/>
                <a:gd name="connsiteX29" fmla="*/ 334339 w 609614"/>
                <a:gd name="connsiteY29" fmla="*/ 500732 h 608697"/>
                <a:gd name="connsiteX30" fmla="*/ 353956 w 609614"/>
                <a:gd name="connsiteY30" fmla="*/ 500732 h 608697"/>
                <a:gd name="connsiteX31" fmla="*/ 353956 w 609614"/>
                <a:gd name="connsiteY31" fmla="*/ 608697 h 608697"/>
                <a:gd name="connsiteX32" fmla="*/ 334339 w 609614"/>
                <a:gd name="connsiteY32" fmla="*/ 608697 h 608697"/>
                <a:gd name="connsiteX33" fmla="*/ 255618 w 609614"/>
                <a:gd name="connsiteY33" fmla="*/ 500732 h 608697"/>
                <a:gd name="connsiteX34" fmla="*/ 275357 w 609614"/>
                <a:gd name="connsiteY34" fmla="*/ 500732 h 608697"/>
                <a:gd name="connsiteX35" fmla="*/ 275357 w 609614"/>
                <a:gd name="connsiteY35" fmla="*/ 535984 h 608697"/>
                <a:gd name="connsiteX36" fmla="*/ 295004 w 609614"/>
                <a:gd name="connsiteY36" fmla="*/ 516287 h 608697"/>
                <a:gd name="connsiteX37" fmla="*/ 295004 w 609614"/>
                <a:gd name="connsiteY37" fmla="*/ 500732 h 608697"/>
                <a:gd name="connsiteX38" fmla="*/ 314651 w 609614"/>
                <a:gd name="connsiteY38" fmla="*/ 500732 h 608697"/>
                <a:gd name="connsiteX39" fmla="*/ 314651 w 609614"/>
                <a:gd name="connsiteY39" fmla="*/ 524387 h 608697"/>
                <a:gd name="connsiteX40" fmla="*/ 283197 w 609614"/>
                <a:gd name="connsiteY40" fmla="*/ 555865 h 608697"/>
                <a:gd name="connsiteX41" fmla="*/ 295004 w 609614"/>
                <a:gd name="connsiteY41" fmla="*/ 579244 h 608697"/>
                <a:gd name="connsiteX42" fmla="*/ 265488 w 609614"/>
                <a:gd name="connsiteY42" fmla="*/ 608697 h 608697"/>
                <a:gd name="connsiteX43" fmla="*/ 235971 w 609614"/>
                <a:gd name="connsiteY43" fmla="*/ 579244 h 608697"/>
                <a:gd name="connsiteX44" fmla="*/ 255618 w 609614"/>
                <a:gd name="connsiteY44" fmla="*/ 551631 h 608697"/>
                <a:gd name="connsiteX45" fmla="*/ 216343 w 609614"/>
                <a:gd name="connsiteY45" fmla="*/ 500732 h 608697"/>
                <a:gd name="connsiteX46" fmla="*/ 235970 w 609614"/>
                <a:gd name="connsiteY46" fmla="*/ 500732 h 608697"/>
                <a:gd name="connsiteX47" fmla="*/ 235970 w 609614"/>
                <a:gd name="connsiteY47" fmla="*/ 534235 h 608697"/>
                <a:gd name="connsiteX48" fmla="*/ 206484 w 609614"/>
                <a:gd name="connsiteY48" fmla="*/ 563689 h 608697"/>
                <a:gd name="connsiteX49" fmla="*/ 206484 w 609614"/>
                <a:gd name="connsiteY49" fmla="*/ 608697 h 608697"/>
                <a:gd name="connsiteX50" fmla="*/ 186857 w 609614"/>
                <a:gd name="connsiteY50" fmla="*/ 608697 h 608697"/>
                <a:gd name="connsiteX51" fmla="*/ 186857 w 609614"/>
                <a:gd name="connsiteY51" fmla="*/ 555589 h 608697"/>
                <a:gd name="connsiteX52" fmla="*/ 216343 w 609614"/>
                <a:gd name="connsiteY52" fmla="*/ 526136 h 608697"/>
                <a:gd name="connsiteX53" fmla="*/ 98361 w 609614"/>
                <a:gd name="connsiteY53" fmla="*/ 490853 h 608697"/>
                <a:gd name="connsiteX54" fmla="*/ 126006 w 609614"/>
                <a:gd name="connsiteY54" fmla="*/ 510555 h 608697"/>
                <a:gd name="connsiteX55" fmla="*/ 176967 w 609614"/>
                <a:gd name="connsiteY55" fmla="*/ 510555 h 608697"/>
                <a:gd name="connsiteX56" fmla="*/ 176967 w 609614"/>
                <a:gd name="connsiteY56" fmla="*/ 500704 h 608697"/>
                <a:gd name="connsiteX57" fmla="*/ 196595 w 609614"/>
                <a:gd name="connsiteY57" fmla="*/ 500704 h 608697"/>
                <a:gd name="connsiteX58" fmla="*/ 196595 w 609614"/>
                <a:gd name="connsiteY58" fmla="*/ 530165 h 608697"/>
                <a:gd name="connsiteX59" fmla="*/ 126006 w 609614"/>
                <a:gd name="connsiteY59" fmla="*/ 530165 h 608697"/>
                <a:gd name="connsiteX60" fmla="*/ 98361 w 609614"/>
                <a:gd name="connsiteY60" fmla="*/ 549775 h 608697"/>
                <a:gd name="connsiteX61" fmla="*/ 68872 w 609614"/>
                <a:gd name="connsiteY61" fmla="*/ 520314 h 608697"/>
                <a:gd name="connsiteX62" fmla="*/ 98361 w 609614"/>
                <a:gd name="connsiteY62" fmla="*/ 490853 h 608697"/>
                <a:gd name="connsiteX63" fmla="*/ 501472 w 609614"/>
                <a:gd name="connsiteY63" fmla="*/ 412384 h 608697"/>
                <a:gd name="connsiteX64" fmla="*/ 515396 w 609614"/>
                <a:gd name="connsiteY64" fmla="*/ 412384 h 608697"/>
                <a:gd name="connsiteX65" fmla="*/ 550621 w 609614"/>
                <a:gd name="connsiteY65" fmla="*/ 447634 h 608697"/>
                <a:gd name="connsiteX66" fmla="*/ 550621 w 609614"/>
                <a:gd name="connsiteY66" fmla="*/ 553844 h 608697"/>
                <a:gd name="connsiteX67" fmla="*/ 515396 w 609614"/>
                <a:gd name="connsiteY67" fmla="*/ 589094 h 608697"/>
                <a:gd name="connsiteX68" fmla="*/ 489853 w 609614"/>
                <a:gd name="connsiteY68" fmla="*/ 589094 h 608697"/>
                <a:gd name="connsiteX69" fmla="*/ 462097 w 609614"/>
                <a:gd name="connsiteY69" fmla="*/ 608697 h 608697"/>
                <a:gd name="connsiteX70" fmla="*/ 432589 w 609614"/>
                <a:gd name="connsiteY70" fmla="*/ 579246 h 608697"/>
                <a:gd name="connsiteX71" fmla="*/ 462097 w 609614"/>
                <a:gd name="connsiteY71" fmla="*/ 549794 h 608697"/>
                <a:gd name="connsiteX72" fmla="*/ 489853 w 609614"/>
                <a:gd name="connsiteY72" fmla="*/ 569490 h 608697"/>
                <a:gd name="connsiteX73" fmla="*/ 507281 w 609614"/>
                <a:gd name="connsiteY73" fmla="*/ 569490 h 608697"/>
                <a:gd name="connsiteX74" fmla="*/ 530980 w 609614"/>
                <a:gd name="connsiteY74" fmla="*/ 545745 h 608697"/>
                <a:gd name="connsiteX75" fmla="*/ 530980 w 609614"/>
                <a:gd name="connsiteY75" fmla="*/ 530190 h 608697"/>
                <a:gd name="connsiteX76" fmla="*/ 412948 w 609614"/>
                <a:gd name="connsiteY76" fmla="*/ 530190 h 608697"/>
                <a:gd name="connsiteX77" fmla="*/ 412948 w 609614"/>
                <a:gd name="connsiteY77" fmla="*/ 500739 h 608697"/>
                <a:gd name="connsiteX78" fmla="*/ 432589 w 609614"/>
                <a:gd name="connsiteY78" fmla="*/ 500739 h 608697"/>
                <a:gd name="connsiteX79" fmla="*/ 432589 w 609614"/>
                <a:gd name="connsiteY79" fmla="*/ 510587 h 608697"/>
                <a:gd name="connsiteX80" fmla="*/ 530980 w 609614"/>
                <a:gd name="connsiteY80" fmla="*/ 510587 h 608697"/>
                <a:gd name="connsiteX81" fmla="*/ 530980 w 609614"/>
                <a:gd name="connsiteY81" fmla="*/ 455733 h 608697"/>
                <a:gd name="connsiteX82" fmla="*/ 507281 w 609614"/>
                <a:gd name="connsiteY82" fmla="*/ 431988 h 608697"/>
                <a:gd name="connsiteX83" fmla="*/ 501472 w 609614"/>
                <a:gd name="connsiteY83" fmla="*/ 431988 h 608697"/>
                <a:gd name="connsiteX84" fmla="*/ 65811 w 609614"/>
                <a:gd name="connsiteY84" fmla="*/ 412384 h 608697"/>
                <a:gd name="connsiteX85" fmla="*/ 108106 w 609614"/>
                <a:gd name="connsiteY85" fmla="*/ 412384 h 608697"/>
                <a:gd name="connsiteX86" fmla="*/ 108106 w 609614"/>
                <a:gd name="connsiteY86" fmla="*/ 431988 h 608697"/>
                <a:gd name="connsiteX87" fmla="*/ 71801 w 609614"/>
                <a:gd name="connsiteY87" fmla="*/ 431988 h 608697"/>
                <a:gd name="connsiteX88" fmla="*/ 49133 w 609614"/>
                <a:gd name="connsiteY88" fmla="*/ 447082 h 608697"/>
                <a:gd name="connsiteX89" fmla="*/ 49133 w 609614"/>
                <a:gd name="connsiteY89" fmla="*/ 551635 h 608697"/>
                <a:gd name="connsiteX90" fmla="*/ 68852 w 609614"/>
                <a:gd name="connsiteY90" fmla="*/ 579246 h 608697"/>
                <a:gd name="connsiteX91" fmla="*/ 39366 w 609614"/>
                <a:gd name="connsiteY91" fmla="*/ 608697 h 608697"/>
                <a:gd name="connsiteX92" fmla="*/ 9879 w 609614"/>
                <a:gd name="connsiteY92" fmla="*/ 579246 h 608697"/>
                <a:gd name="connsiteX93" fmla="*/ 29506 w 609614"/>
                <a:gd name="connsiteY93" fmla="*/ 551635 h 608697"/>
                <a:gd name="connsiteX94" fmla="*/ 29506 w 609614"/>
                <a:gd name="connsiteY94" fmla="*/ 436590 h 608697"/>
                <a:gd name="connsiteX95" fmla="*/ 29492 w 609614"/>
                <a:gd name="connsiteY95" fmla="*/ 373072 h 608697"/>
                <a:gd name="connsiteX96" fmla="*/ 19631 w 609614"/>
                <a:gd name="connsiteY96" fmla="*/ 382923 h 608697"/>
                <a:gd name="connsiteX97" fmla="*/ 29492 w 609614"/>
                <a:gd name="connsiteY97" fmla="*/ 392774 h 608697"/>
                <a:gd name="connsiteX98" fmla="*/ 39353 w 609614"/>
                <a:gd name="connsiteY98" fmla="*/ 382923 h 608697"/>
                <a:gd name="connsiteX99" fmla="*/ 29492 w 609614"/>
                <a:gd name="connsiteY99" fmla="*/ 373072 h 608697"/>
                <a:gd name="connsiteX100" fmla="*/ 29492 w 609614"/>
                <a:gd name="connsiteY100" fmla="*/ 353462 h 608697"/>
                <a:gd name="connsiteX101" fmla="*/ 57140 w 609614"/>
                <a:gd name="connsiteY101" fmla="*/ 373072 h 608697"/>
                <a:gd name="connsiteX102" fmla="*/ 108106 w 609614"/>
                <a:gd name="connsiteY102" fmla="*/ 373072 h 608697"/>
                <a:gd name="connsiteX103" fmla="*/ 108106 w 609614"/>
                <a:gd name="connsiteY103" fmla="*/ 392774 h 608697"/>
                <a:gd name="connsiteX104" fmla="*/ 57140 w 609614"/>
                <a:gd name="connsiteY104" fmla="*/ 392774 h 608697"/>
                <a:gd name="connsiteX105" fmla="*/ 29492 w 609614"/>
                <a:gd name="connsiteY105" fmla="*/ 412384 h 608697"/>
                <a:gd name="connsiteX106" fmla="*/ 0 w 609614"/>
                <a:gd name="connsiteY106" fmla="*/ 382923 h 608697"/>
                <a:gd name="connsiteX107" fmla="*/ 29492 w 609614"/>
                <a:gd name="connsiteY107" fmla="*/ 353462 h 608697"/>
                <a:gd name="connsiteX108" fmla="*/ 501508 w 609614"/>
                <a:gd name="connsiteY108" fmla="*/ 333845 h 608697"/>
                <a:gd name="connsiteX109" fmla="*/ 540813 w 609614"/>
                <a:gd name="connsiteY109" fmla="*/ 333845 h 608697"/>
                <a:gd name="connsiteX110" fmla="*/ 540813 w 609614"/>
                <a:gd name="connsiteY110" fmla="*/ 353462 h 608697"/>
                <a:gd name="connsiteX111" fmla="*/ 501508 w 609614"/>
                <a:gd name="connsiteY111" fmla="*/ 353462 h 608697"/>
                <a:gd name="connsiteX112" fmla="*/ 68872 w 609614"/>
                <a:gd name="connsiteY112" fmla="*/ 333845 h 608697"/>
                <a:gd name="connsiteX113" fmla="*/ 108106 w 609614"/>
                <a:gd name="connsiteY113" fmla="*/ 333845 h 608697"/>
                <a:gd name="connsiteX114" fmla="*/ 108106 w 609614"/>
                <a:gd name="connsiteY114" fmla="*/ 353462 h 608697"/>
                <a:gd name="connsiteX115" fmla="*/ 68872 w 609614"/>
                <a:gd name="connsiteY115" fmla="*/ 353462 h 608697"/>
                <a:gd name="connsiteX116" fmla="*/ 501508 w 609614"/>
                <a:gd name="connsiteY116" fmla="*/ 294540 h 608697"/>
                <a:gd name="connsiteX117" fmla="*/ 554685 w 609614"/>
                <a:gd name="connsiteY117" fmla="*/ 294540 h 608697"/>
                <a:gd name="connsiteX118" fmla="*/ 589984 w 609614"/>
                <a:gd name="connsiteY118" fmla="*/ 329794 h 608697"/>
                <a:gd name="connsiteX119" fmla="*/ 589984 w 609614"/>
                <a:gd name="connsiteY119" fmla="*/ 551628 h 608697"/>
                <a:gd name="connsiteX120" fmla="*/ 609614 w 609614"/>
                <a:gd name="connsiteY120" fmla="*/ 579242 h 608697"/>
                <a:gd name="connsiteX121" fmla="*/ 580122 w 609614"/>
                <a:gd name="connsiteY121" fmla="*/ 608697 h 608697"/>
                <a:gd name="connsiteX122" fmla="*/ 550630 w 609614"/>
                <a:gd name="connsiteY122" fmla="*/ 579242 h 608697"/>
                <a:gd name="connsiteX123" fmla="*/ 570353 w 609614"/>
                <a:gd name="connsiteY123" fmla="*/ 551628 h 608697"/>
                <a:gd name="connsiteX124" fmla="*/ 570353 w 609614"/>
                <a:gd name="connsiteY124" fmla="*/ 416411 h 608697"/>
                <a:gd name="connsiteX125" fmla="*/ 546575 w 609614"/>
                <a:gd name="connsiteY125" fmla="*/ 392755 h 608697"/>
                <a:gd name="connsiteX126" fmla="*/ 501508 w 609614"/>
                <a:gd name="connsiteY126" fmla="*/ 392755 h 608697"/>
                <a:gd name="connsiteX127" fmla="*/ 501508 w 609614"/>
                <a:gd name="connsiteY127" fmla="*/ 373056 h 608697"/>
                <a:gd name="connsiteX128" fmla="*/ 554685 w 609614"/>
                <a:gd name="connsiteY128" fmla="*/ 373056 h 608697"/>
                <a:gd name="connsiteX129" fmla="*/ 570353 w 609614"/>
                <a:gd name="connsiteY129" fmla="*/ 388705 h 608697"/>
                <a:gd name="connsiteX130" fmla="*/ 570353 w 609614"/>
                <a:gd name="connsiteY130" fmla="*/ 337894 h 608697"/>
                <a:gd name="connsiteX131" fmla="*/ 546575 w 609614"/>
                <a:gd name="connsiteY131" fmla="*/ 314146 h 608697"/>
                <a:gd name="connsiteX132" fmla="*/ 501508 w 609614"/>
                <a:gd name="connsiteY132" fmla="*/ 314146 h 608697"/>
                <a:gd name="connsiteX133" fmla="*/ 29492 w 609614"/>
                <a:gd name="connsiteY133" fmla="*/ 294533 h 608697"/>
                <a:gd name="connsiteX134" fmla="*/ 19631 w 609614"/>
                <a:gd name="connsiteY134" fmla="*/ 304384 h 608697"/>
                <a:gd name="connsiteX135" fmla="*/ 29492 w 609614"/>
                <a:gd name="connsiteY135" fmla="*/ 314143 h 608697"/>
                <a:gd name="connsiteX136" fmla="*/ 39353 w 609614"/>
                <a:gd name="connsiteY136" fmla="*/ 304384 h 608697"/>
                <a:gd name="connsiteX137" fmla="*/ 29492 w 609614"/>
                <a:gd name="connsiteY137" fmla="*/ 294533 h 608697"/>
                <a:gd name="connsiteX138" fmla="*/ 304818 w 609614"/>
                <a:gd name="connsiteY138" fmla="*/ 274936 h 608697"/>
                <a:gd name="connsiteX139" fmla="*/ 275317 w 609614"/>
                <a:gd name="connsiteY139" fmla="*/ 304395 h 608697"/>
                <a:gd name="connsiteX140" fmla="*/ 304818 w 609614"/>
                <a:gd name="connsiteY140" fmla="*/ 333854 h 608697"/>
                <a:gd name="connsiteX141" fmla="*/ 334319 w 609614"/>
                <a:gd name="connsiteY141" fmla="*/ 304395 h 608697"/>
                <a:gd name="connsiteX142" fmla="*/ 304818 w 609614"/>
                <a:gd name="connsiteY142" fmla="*/ 274936 h 608697"/>
                <a:gd name="connsiteX143" fmla="*/ 29492 w 609614"/>
                <a:gd name="connsiteY143" fmla="*/ 274923 h 608697"/>
                <a:gd name="connsiteX144" fmla="*/ 57140 w 609614"/>
                <a:gd name="connsiteY144" fmla="*/ 294533 h 608697"/>
                <a:gd name="connsiteX145" fmla="*/ 108106 w 609614"/>
                <a:gd name="connsiteY145" fmla="*/ 294533 h 608697"/>
                <a:gd name="connsiteX146" fmla="*/ 108106 w 609614"/>
                <a:gd name="connsiteY146" fmla="*/ 314143 h 608697"/>
                <a:gd name="connsiteX147" fmla="*/ 57140 w 609614"/>
                <a:gd name="connsiteY147" fmla="*/ 314143 h 608697"/>
                <a:gd name="connsiteX148" fmla="*/ 29492 w 609614"/>
                <a:gd name="connsiteY148" fmla="*/ 333845 h 608697"/>
                <a:gd name="connsiteX149" fmla="*/ 0 w 609614"/>
                <a:gd name="connsiteY149" fmla="*/ 304384 h 608697"/>
                <a:gd name="connsiteX150" fmla="*/ 29492 w 609614"/>
                <a:gd name="connsiteY150" fmla="*/ 274923 h 608697"/>
                <a:gd name="connsiteX151" fmla="*/ 501508 w 609614"/>
                <a:gd name="connsiteY151" fmla="*/ 255235 h 608697"/>
                <a:gd name="connsiteX152" fmla="*/ 609614 w 609614"/>
                <a:gd name="connsiteY152" fmla="*/ 255235 h 608697"/>
                <a:gd name="connsiteX153" fmla="*/ 609614 w 609614"/>
                <a:gd name="connsiteY153" fmla="*/ 274923 h 608697"/>
                <a:gd name="connsiteX154" fmla="*/ 501508 w 609614"/>
                <a:gd name="connsiteY154" fmla="*/ 274923 h 608697"/>
                <a:gd name="connsiteX155" fmla="*/ 304818 w 609614"/>
                <a:gd name="connsiteY155" fmla="*/ 255235 h 608697"/>
                <a:gd name="connsiteX156" fmla="*/ 353956 w 609614"/>
                <a:gd name="connsiteY156" fmla="*/ 304395 h 608697"/>
                <a:gd name="connsiteX157" fmla="*/ 304818 w 609614"/>
                <a:gd name="connsiteY157" fmla="*/ 353462 h 608697"/>
                <a:gd name="connsiteX158" fmla="*/ 255588 w 609614"/>
                <a:gd name="connsiteY158" fmla="*/ 304395 h 608697"/>
                <a:gd name="connsiteX159" fmla="*/ 304818 w 609614"/>
                <a:gd name="connsiteY159" fmla="*/ 255235 h 608697"/>
                <a:gd name="connsiteX160" fmla="*/ 68872 w 609614"/>
                <a:gd name="connsiteY160" fmla="*/ 255235 h 608697"/>
                <a:gd name="connsiteX161" fmla="*/ 108106 w 609614"/>
                <a:gd name="connsiteY161" fmla="*/ 255235 h 608697"/>
                <a:gd name="connsiteX162" fmla="*/ 108106 w 609614"/>
                <a:gd name="connsiteY162" fmla="*/ 274923 h 608697"/>
                <a:gd name="connsiteX163" fmla="*/ 68872 w 609614"/>
                <a:gd name="connsiteY163" fmla="*/ 274923 h 608697"/>
                <a:gd name="connsiteX164" fmla="*/ 0 w 609614"/>
                <a:gd name="connsiteY164" fmla="*/ 216001 h 608697"/>
                <a:gd name="connsiteX165" fmla="*/ 108106 w 609614"/>
                <a:gd name="connsiteY165" fmla="*/ 216001 h 608697"/>
                <a:gd name="connsiteX166" fmla="*/ 108106 w 609614"/>
                <a:gd name="connsiteY166" fmla="*/ 235618 h 608697"/>
                <a:gd name="connsiteX167" fmla="*/ 0 w 609614"/>
                <a:gd name="connsiteY167" fmla="*/ 235618 h 608697"/>
                <a:gd name="connsiteX168" fmla="*/ 294980 w 609614"/>
                <a:gd name="connsiteY168" fmla="*/ 206179 h 608697"/>
                <a:gd name="connsiteX169" fmla="*/ 294980 w 609614"/>
                <a:gd name="connsiteY169" fmla="*/ 226059 h 608697"/>
                <a:gd name="connsiteX170" fmla="*/ 287329 w 609614"/>
                <a:gd name="connsiteY170" fmla="*/ 227808 h 608697"/>
                <a:gd name="connsiteX171" fmla="*/ 262995 w 609614"/>
                <a:gd name="connsiteY171" fmla="*/ 237932 h 608697"/>
                <a:gd name="connsiteX172" fmla="*/ 256358 w 609614"/>
                <a:gd name="connsiteY172" fmla="*/ 242074 h 608697"/>
                <a:gd name="connsiteX173" fmla="*/ 242255 w 609614"/>
                <a:gd name="connsiteY173" fmla="*/ 227992 h 608697"/>
                <a:gd name="connsiteX174" fmla="*/ 228336 w 609614"/>
                <a:gd name="connsiteY174" fmla="*/ 241890 h 608697"/>
                <a:gd name="connsiteX175" fmla="*/ 242439 w 609614"/>
                <a:gd name="connsiteY175" fmla="*/ 255972 h 608697"/>
                <a:gd name="connsiteX176" fmla="*/ 238291 w 609614"/>
                <a:gd name="connsiteY176" fmla="*/ 262599 h 608697"/>
                <a:gd name="connsiteX177" fmla="*/ 228152 w 609614"/>
                <a:gd name="connsiteY177" fmla="*/ 286897 h 608697"/>
                <a:gd name="connsiteX178" fmla="*/ 226401 w 609614"/>
                <a:gd name="connsiteY178" fmla="*/ 294536 h 608697"/>
                <a:gd name="connsiteX179" fmla="*/ 206491 w 609614"/>
                <a:gd name="connsiteY179" fmla="*/ 294536 h 608697"/>
                <a:gd name="connsiteX180" fmla="*/ 206491 w 609614"/>
                <a:gd name="connsiteY180" fmla="*/ 314140 h 608697"/>
                <a:gd name="connsiteX181" fmla="*/ 226401 w 609614"/>
                <a:gd name="connsiteY181" fmla="*/ 314140 h 608697"/>
                <a:gd name="connsiteX182" fmla="*/ 228152 w 609614"/>
                <a:gd name="connsiteY182" fmla="*/ 321779 h 608697"/>
                <a:gd name="connsiteX183" fmla="*/ 238291 w 609614"/>
                <a:gd name="connsiteY183" fmla="*/ 346078 h 608697"/>
                <a:gd name="connsiteX184" fmla="*/ 242439 w 609614"/>
                <a:gd name="connsiteY184" fmla="*/ 352704 h 608697"/>
                <a:gd name="connsiteX185" fmla="*/ 228336 w 609614"/>
                <a:gd name="connsiteY185" fmla="*/ 366878 h 608697"/>
                <a:gd name="connsiteX186" fmla="*/ 242255 w 609614"/>
                <a:gd name="connsiteY186" fmla="*/ 380684 h 608697"/>
                <a:gd name="connsiteX187" fmla="*/ 256358 w 609614"/>
                <a:gd name="connsiteY187" fmla="*/ 366602 h 608697"/>
                <a:gd name="connsiteX188" fmla="*/ 262995 w 609614"/>
                <a:gd name="connsiteY188" fmla="*/ 370836 h 608697"/>
                <a:gd name="connsiteX189" fmla="*/ 287329 w 609614"/>
                <a:gd name="connsiteY189" fmla="*/ 380868 h 608697"/>
                <a:gd name="connsiteX190" fmla="*/ 294980 w 609614"/>
                <a:gd name="connsiteY190" fmla="*/ 382617 h 608697"/>
                <a:gd name="connsiteX191" fmla="*/ 294980 w 609614"/>
                <a:gd name="connsiteY191" fmla="*/ 402497 h 608697"/>
                <a:gd name="connsiteX192" fmla="*/ 314613 w 609614"/>
                <a:gd name="connsiteY192" fmla="*/ 402497 h 608697"/>
                <a:gd name="connsiteX193" fmla="*/ 314613 w 609614"/>
                <a:gd name="connsiteY193" fmla="*/ 382617 h 608697"/>
                <a:gd name="connsiteX194" fmla="*/ 322264 w 609614"/>
                <a:gd name="connsiteY194" fmla="*/ 380868 h 608697"/>
                <a:gd name="connsiteX195" fmla="*/ 346598 w 609614"/>
                <a:gd name="connsiteY195" fmla="*/ 370836 h 608697"/>
                <a:gd name="connsiteX196" fmla="*/ 353235 w 609614"/>
                <a:gd name="connsiteY196" fmla="*/ 366602 h 608697"/>
                <a:gd name="connsiteX197" fmla="*/ 367430 w 609614"/>
                <a:gd name="connsiteY197" fmla="*/ 380684 h 608697"/>
                <a:gd name="connsiteX198" fmla="*/ 381257 w 609614"/>
                <a:gd name="connsiteY198" fmla="*/ 366878 h 608697"/>
                <a:gd name="connsiteX199" fmla="*/ 367154 w 609614"/>
                <a:gd name="connsiteY199" fmla="*/ 352704 h 608697"/>
                <a:gd name="connsiteX200" fmla="*/ 371394 w 609614"/>
                <a:gd name="connsiteY200" fmla="*/ 346078 h 608697"/>
                <a:gd name="connsiteX201" fmla="*/ 381441 w 609614"/>
                <a:gd name="connsiteY201" fmla="*/ 321779 h 608697"/>
                <a:gd name="connsiteX202" fmla="*/ 383192 w 609614"/>
                <a:gd name="connsiteY202" fmla="*/ 314140 h 608697"/>
                <a:gd name="connsiteX203" fmla="*/ 403102 w 609614"/>
                <a:gd name="connsiteY203" fmla="*/ 314140 h 608697"/>
                <a:gd name="connsiteX204" fmla="*/ 403102 w 609614"/>
                <a:gd name="connsiteY204" fmla="*/ 294536 h 608697"/>
                <a:gd name="connsiteX205" fmla="*/ 383192 w 609614"/>
                <a:gd name="connsiteY205" fmla="*/ 294536 h 608697"/>
                <a:gd name="connsiteX206" fmla="*/ 381441 w 609614"/>
                <a:gd name="connsiteY206" fmla="*/ 286897 h 608697"/>
                <a:gd name="connsiteX207" fmla="*/ 371394 w 609614"/>
                <a:gd name="connsiteY207" fmla="*/ 262599 h 608697"/>
                <a:gd name="connsiteX208" fmla="*/ 367154 w 609614"/>
                <a:gd name="connsiteY208" fmla="*/ 255972 h 608697"/>
                <a:gd name="connsiteX209" fmla="*/ 381257 w 609614"/>
                <a:gd name="connsiteY209" fmla="*/ 241890 h 608697"/>
                <a:gd name="connsiteX210" fmla="*/ 367430 w 609614"/>
                <a:gd name="connsiteY210" fmla="*/ 227992 h 608697"/>
                <a:gd name="connsiteX211" fmla="*/ 353235 w 609614"/>
                <a:gd name="connsiteY211" fmla="*/ 242074 h 608697"/>
                <a:gd name="connsiteX212" fmla="*/ 346598 w 609614"/>
                <a:gd name="connsiteY212" fmla="*/ 237932 h 608697"/>
                <a:gd name="connsiteX213" fmla="*/ 322264 w 609614"/>
                <a:gd name="connsiteY213" fmla="*/ 227808 h 608697"/>
                <a:gd name="connsiteX214" fmla="*/ 314613 w 609614"/>
                <a:gd name="connsiteY214" fmla="*/ 226059 h 608697"/>
                <a:gd name="connsiteX215" fmla="*/ 314613 w 609614"/>
                <a:gd name="connsiteY215" fmla="*/ 206179 h 608697"/>
                <a:gd name="connsiteX216" fmla="*/ 275346 w 609614"/>
                <a:gd name="connsiteY216" fmla="*/ 186575 h 608697"/>
                <a:gd name="connsiteX217" fmla="*/ 334339 w 609614"/>
                <a:gd name="connsiteY217" fmla="*/ 186575 h 608697"/>
                <a:gd name="connsiteX218" fmla="*/ 334339 w 609614"/>
                <a:gd name="connsiteY218" fmla="*/ 210781 h 608697"/>
                <a:gd name="connsiteX219" fmla="*/ 350193 w 609614"/>
                <a:gd name="connsiteY219" fmla="*/ 217316 h 608697"/>
                <a:gd name="connsiteX220" fmla="*/ 367338 w 609614"/>
                <a:gd name="connsiteY220" fmla="*/ 200196 h 608697"/>
                <a:gd name="connsiteX221" fmla="*/ 409094 w 609614"/>
                <a:gd name="connsiteY221" fmla="*/ 241890 h 608697"/>
                <a:gd name="connsiteX222" fmla="*/ 391949 w 609614"/>
                <a:gd name="connsiteY222" fmla="*/ 259009 h 608697"/>
                <a:gd name="connsiteX223" fmla="*/ 398586 w 609614"/>
                <a:gd name="connsiteY223" fmla="*/ 274932 h 608697"/>
                <a:gd name="connsiteX224" fmla="*/ 422828 w 609614"/>
                <a:gd name="connsiteY224" fmla="*/ 274932 h 608697"/>
                <a:gd name="connsiteX225" fmla="*/ 422828 w 609614"/>
                <a:gd name="connsiteY225" fmla="*/ 333836 h 608697"/>
                <a:gd name="connsiteX226" fmla="*/ 398586 w 609614"/>
                <a:gd name="connsiteY226" fmla="*/ 333836 h 608697"/>
                <a:gd name="connsiteX227" fmla="*/ 391949 w 609614"/>
                <a:gd name="connsiteY227" fmla="*/ 349667 h 608697"/>
                <a:gd name="connsiteX228" fmla="*/ 409094 w 609614"/>
                <a:gd name="connsiteY228" fmla="*/ 366786 h 608697"/>
                <a:gd name="connsiteX229" fmla="*/ 367338 w 609614"/>
                <a:gd name="connsiteY229" fmla="*/ 408480 h 608697"/>
                <a:gd name="connsiteX230" fmla="*/ 350193 w 609614"/>
                <a:gd name="connsiteY230" fmla="*/ 391360 h 608697"/>
                <a:gd name="connsiteX231" fmla="*/ 334339 w 609614"/>
                <a:gd name="connsiteY231" fmla="*/ 397987 h 608697"/>
                <a:gd name="connsiteX232" fmla="*/ 334339 w 609614"/>
                <a:gd name="connsiteY232" fmla="*/ 422193 h 608697"/>
                <a:gd name="connsiteX233" fmla="*/ 275346 w 609614"/>
                <a:gd name="connsiteY233" fmla="*/ 422193 h 608697"/>
                <a:gd name="connsiteX234" fmla="*/ 275346 w 609614"/>
                <a:gd name="connsiteY234" fmla="*/ 397987 h 608697"/>
                <a:gd name="connsiteX235" fmla="*/ 259400 w 609614"/>
                <a:gd name="connsiteY235" fmla="*/ 391360 h 608697"/>
                <a:gd name="connsiteX236" fmla="*/ 242255 w 609614"/>
                <a:gd name="connsiteY236" fmla="*/ 408480 h 608697"/>
                <a:gd name="connsiteX237" fmla="*/ 200499 w 609614"/>
                <a:gd name="connsiteY237" fmla="*/ 366786 h 608697"/>
                <a:gd name="connsiteX238" fmla="*/ 217644 w 609614"/>
                <a:gd name="connsiteY238" fmla="*/ 349667 h 608697"/>
                <a:gd name="connsiteX239" fmla="*/ 211099 w 609614"/>
                <a:gd name="connsiteY239" fmla="*/ 333836 h 608697"/>
                <a:gd name="connsiteX240" fmla="*/ 186857 w 609614"/>
                <a:gd name="connsiteY240" fmla="*/ 333836 h 608697"/>
                <a:gd name="connsiteX241" fmla="*/ 186857 w 609614"/>
                <a:gd name="connsiteY241" fmla="*/ 274932 h 608697"/>
                <a:gd name="connsiteX242" fmla="*/ 211099 w 609614"/>
                <a:gd name="connsiteY242" fmla="*/ 274932 h 608697"/>
                <a:gd name="connsiteX243" fmla="*/ 217644 w 609614"/>
                <a:gd name="connsiteY243" fmla="*/ 259009 h 608697"/>
                <a:gd name="connsiteX244" fmla="*/ 200499 w 609614"/>
                <a:gd name="connsiteY244" fmla="*/ 241890 h 608697"/>
                <a:gd name="connsiteX245" fmla="*/ 242255 w 609614"/>
                <a:gd name="connsiteY245" fmla="*/ 200196 h 608697"/>
                <a:gd name="connsiteX246" fmla="*/ 259400 w 609614"/>
                <a:gd name="connsiteY246" fmla="*/ 217316 h 608697"/>
                <a:gd name="connsiteX247" fmla="*/ 275346 w 609614"/>
                <a:gd name="connsiteY247" fmla="*/ 210781 h 608697"/>
                <a:gd name="connsiteX248" fmla="*/ 181050 w 609614"/>
                <a:gd name="connsiteY248" fmla="*/ 166865 h 608697"/>
                <a:gd name="connsiteX249" fmla="*/ 167131 w 609614"/>
                <a:gd name="connsiteY249" fmla="*/ 180764 h 608697"/>
                <a:gd name="connsiteX250" fmla="*/ 167131 w 609614"/>
                <a:gd name="connsiteY250" fmla="*/ 441811 h 608697"/>
                <a:gd name="connsiteX251" fmla="*/ 442461 w 609614"/>
                <a:gd name="connsiteY251" fmla="*/ 441811 h 608697"/>
                <a:gd name="connsiteX252" fmla="*/ 442461 w 609614"/>
                <a:gd name="connsiteY252" fmla="*/ 166865 h 608697"/>
                <a:gd name="connsiteX253" fmla="*/ 176994 w 609614"/>
                <a:gd name="connsiteY253" fmla="*/ 127653 h 608697"/>
                <a:gd name="connsiteX254" fmla="*/ 196627 w 609614"/>
                <a:gd name="connsiteY254" fmla="*/ 127653 h 608697"/>
                <a:gd name="connsiteX255" fmla="*/ 196627 w 609614"/>
                <a:gd name="connsiteY255" fmla="*/ 147259 h 608697"/>
                <a:gd name="connsiteX256" fmla="*/ 216353 w 609614"/>
                <a:gd name="connsiteY256" fmla="*/ 147259 h 608697"/>
                <a:gd name="connsiteX257" fmla="*/ 216353 w 609614"/>
                <a:gd name="connsiteY257" fmla="*/ 127653 h 608697"/>
                <a:gd name="connsiteX258" fmla="*/ 235986 w 609614"/>
                <a:gd name="connsiteY258" fmla="*/ 127653 h 608697"/>
                <a:gd name="connsiteX259" fmla="*/ 235986 w 609614"/>
                <a:gd name="connsiteY259" fmla="*/ 147259 h 608697"/>
                <a:gd name="connsiteX260" fmla="*/ 255620 w 609614"/>
                <a:gd name="connsiteY260" fmla="*/ 147259 h 608697"/>
                <a:gd name="connsiteX261" fmla="*/ 255620 w 609614"/>
                <a:gd name="connsiteY261" fmla="*/ 127653 h 608697"/>
                <a:gd name="connsiteX262" fmla="*/ 275346 w 609614"/>
                <a:gd name="connsiteY262" fmla="*/ 127653 h 608697"/>
                <a:gd name="connsiteX263" fmla="*/ 275346 w 609614"/>
                <a:gd name="connsiteY263" fmla="*/ 147259 h 608697"/>
                <a:gd name="connsiteX264" fmla="*/ 294979 w 609614"/>
                <a:gd name="connsiteY264" fmla="*/ 147259 h 608697"/>
                <a:gd name="connsiteX265" fmla="*/ 294979 w 609614"/>
                <a:gd name="connsiteY265" fmla="*/ 127653 h 608697"/>
                <a:gd name="connsiteX266" fmla="*/ 314613 w 609614"/>
                <a:gd name="connsiteY266" fmla="*/ 127653 h 608697"/>
                <a:gd name="connsiteX267" fmla="*/ 314613 w 609614"/>
                <a:gd name="connsiteY267" fmla="*/ 147259 h 608697"/>
                <a:gd name="connsiteX268" fmla="*/ 334338 w 609614"/>
                <a:gd name="connsiteY268" fmla="*/ 147259 h 608697"/>
                <a:gd name="connsiteX269" fmla="*/ 334338 w 609614"/>
                <a:gd name="connsiteY269" fmla="*/ 127653 h 608697"/>
                <a:gd name="connsiteX270" fmla="*/ 353972 w 609614"/>
                <a:gd name="connsiteY270" fmla="*/ 127653 h 608697"/>
                <a:gd name="connsiteX271" fmla="*/ 353972 w 609614"/>
                <a:gd name="connsiteY271" fmla="*/ 147259 h 608697"/>
                <a:gd name="connsiteX272" fmla="*/ 373605 w 609614"/>
                <a:gd name="connsiteY272" fmla="*/ 147259 h 608697"/>
                <a:gd name="connsiteX273" fmla="*/ 373605 w 609614"/>
                <a:gd name="connsiteY273" fmla="*/ 127653 h 608697"/>
                <a:gd name="connsiteX274" fmla="*/ 393331 w 609614"/>
                <a:gd name="connsiteY274" fmla="*/ 127653 h 608697"/>
                <a:gd name="connsiteX275" fmla="*/ 393331 w 609614"/>
                <a:gd name="connsiteY275" fmla="*/ 147259 h 608697"/>
                <a:gd name="connsiteX276" fmla="*/ 412964 w 609614"/>
                <a:gd name="connsiteY276" fmla="*/ 147259 h 608697"/>
                <a:gd name="connsiteX277" fmla="*/ 412964 w 609614"/>
                <a:gd name="connsiteY277" fmla="*/ 127653 h 608697"/>
                <a:gd name="connsiteX278" fmla="*/ 432598 w 609614"/>
                <a:gd name="connsiteY278" fmla="*/ 127653 h 608697"/>
                <a:gd name="connsiteX279" fmla="*/ 432598 w 609614"/>
                <a:gd name="connsiteY279" fmla="*/ 147259 h 608697"/>
                <a:gd name="connsiteX280" fmla="*/ 462094 w 609614"/>
                <a:gd name="connsiteY280" fmla="*/ 147259 h 608697"/>
                <a:gd name="connsiteX281" fmla="*/ 462094 w 609614"/>
                <a:gd name="connsiteY281" fmla="*/ 176714 h 608697"/>
                <a:gd name="connsiteX282" fmla="*/ 481820 w 609614"/>
                <a:gd name="connsiteY282" fmla="*/ 176714 h 608697"/>
                <a:gd name="connsiteX283" fmla="*/ 481820 w 609614"/>
                <a:gd name="connsiteY283" fmla="*/ 196320 h 608697"/>
                <a:gd name="connsiteX284" fmla="*/ 462094 w 609614"/>
                <a:gd name="connsiteY284" fmla="*/ 196320 h 608697"/>
                <a:gd name="connsiteX285" fmla="*/ 462094 w 609614"/>
                <a:gd name="connsiteY285" fmla="*/ 216018 h 608697"/>
                <a:gd name="connsiteX286" fmla="*/ 481820 w 609614"/>
                <a:gd name="connsiteY286" fmla="*/ 216018 h 608697"/>
                <a:gd name="connsiteX287" fmla="*/ 481820 w 609614"/>
                <a:gd name="connsiteY287" fmla="*/ 235624 h 608697"/>
                <a:gd name="connsiteX288" fmla="*/ 462094 w 609614"/>
                <a:gd name="connsiteY288" fmla="*/ 235624 h 608697"/>
                <a:gd name="connsiteX289" fmla="*/ 462094 w 609614"/>
                <a:gd name="connsiteY289" fmla="*/ 255230 h 608697"/>
                <a:gd name="connsiteX290" fmla="*/ 481820 w 609614"/>
                <a:gd name="connsiteY290" fmla="*/ 255230 h 608697"/>
                <a:gd name="connsiteX291" fmla="*/ 481820 w 609614"/>
                <a:gd name="connsiteY291" fmla="*/ 274929 h 608697"/>
                <a:gd name="connsiteX292" fmla="*/ 462094 w 609614"/>
                <a:gd name="connsiteY292" fmla="*/ 274929 h 608697"/>
                <a:gd name="connsiteX293" fmla="*/ 462094 w 609614"/>
                <a:gd name="connsiteY293" fmla="*/ 294535 h 608697"/>
                <a:gd name="connsiteX294" fmla="*/ 481820 w 609614"/>
                <a:gd name="connsiteY294" fmla="*/ 294535 h 608697"/>
                <a:gd name="connsiteX295" fmla="*/ 481820 w 609614"/>
                <a:gd name="connsiteY295" fmla="*/ 314141 h 608697"/>
                <a:gd name="connsiteX296" fmla="*/ 462094 w 609614"/>
                <a:gd name="connsiteY296" fmla="*/ 314141 h 608697"/>
                <a:gd name="connsiteX297" fmla="*/ 462094 w 609614"/>
                <a:gd name="connsiteY297" fmla="*/ 333839 h 608697"/>
                <a:gd name="connsiteX298" fmla="*/ 481820 w 609614"/>
                <a:gd name="connsiteY298" fmla="*/ 333839 h 608697"/>
                <a:gd name="connsiteX299" fmla="*/ 481820 w 609614"/>
                <a:gd name="connsiteY299" fmla="*/ 353446 h 608697"/>
                <a:gd name="connsiteX300" fmla="*/ 462094 w 609614"/>
                <a:gd name="connsiteY300" fmla="*/ 353446 h 608697"/>
                <a:gd name="connsiteX301" fmla="*/ 462094 w 609614"/>
                <a:gd name="connsiteY301" fmla="*/ 373052 h 608697"/>
                <a:gd name="connsiteX302" fmla="*/ 481820 w 609614"/>
                <a:gd name="connsiteY302" fmla="*/ 373052 h 608697"/>
                <a:gd name="connsiteX303" fmla="*/ 481820 w 609614"/>
                <a:gd name="connsiteY303" fmla="*/ 392750 h 608697"/>
                <a:gd name="connsiteX304" fmla="*/ 462094 w 609614"/>
                <a:gd name="connsiteY304" fmla="*/ 392750 h 608697"/>
                <a:gd name="connsiteX305" fmla="*/ 462094 w 609614"/>
                <a:gd name="connsiteY305" fmla="*/ 412356 h 608697"/>
                <a:gd name="connsiteX306" fmla="*/ 481820 w 609614"/>
                <a:gd name="connsiteY306" fmla="*/ 412356 h 608697"/>
                <a:gd name="connsiteX307" fmla="*/ 481820 w 609614"/>
                <a:gd name="connsiteY307" fmla="*/ 431962 h 608697"/>
                <a:gd name="connsiteX308" fmla="*/ 462094 w 609614"/>
                <a:gd name="connsiteY308" fmla="*/ 431962 h 608697"/>
                <a:gd name="connsiteX309" fmla="*/ 462094 w 609614"/>
                <a:gd name="connsiteY309" fmla="*/ 461417 h 608697"/>
                <a:gd name="connsiteX310" fmla="*/ 432598 w 609614"/>
                <a:gd name="connsiteY310" fmla="*/ 461417 h 608697"/>
                <a:gd name="connsiteX311" fmla="*/ 432598 w 609614"/>
                <a:gd name="connsiteY311" fmla="*/ 481115 h 608697"/>
                <a:gd name="connsiteX312" fmla="*/ 412964 w 609614"/>
                <a:gd name="connsiteY312" fmla="*/ 481115 h 608697"/>
                <a:gd name="connsiteX313" fmla="*/ 412964 w 609614"/>
                <a:gd name="connsiteY313" fmla="*/ 461417 h 608697"/>
                <a:gd name="connsiteX314" fmla="*/ 393331 w 609614"/>
                <a:gd name="connsiteY314" fmla="*/ 461417 h 608697"/>
                <a:gd name="connsiteX315" fmla="*/ 393331 w 609614"/>
                <a:gd name="connsiteY315" fmla="*/ 481115 h 608697"/>
                <a:gd name="connsiteX316" fmla="*/ 373605 w 609614"/>
                <a:gd name="connsiteY316" fmla="*/ 481115 h 608697"/>
                <a:gd name="connsiteX317" fmla="*/ 373605 w 609614"/>
                <a:gd name="connsiteY317" fmla="*/ 461417 h 608697"/>
                <a:gd name="connsiteX318" fmla="*/ 353972 w 609614"/>
                <a:gd name="connsiteY318" fmla="*/ 461417 h 608697"/>
                <a:gd name="connsiteX319" fmla="*/ 353972 w 609614"/>
                <a:gd name="connsiteY319" fmla="*/ 481115 h 608697"/>
                <a:gd name="connsiteX320" fmla="*/ 334338 w 609614"/>
                <a:gd name="connsiteY320" fmla="*/ 481115 h 608697"/>
                <a:gd name="connsiteX321" fmla="*/ 334338 w 609614"/>
                <a:gd name="connsiteY321" fmla="*/ 461417 h 608697"/>
                <a:gd name="connsiteX322" fmla="*/ 314613 w 609614"/>
                <a:gd name="connsiteY322" fmla="*/ 461417 h 608697"/>
                <a:gd name="connsiteX323" fmla="*/ 314613 w 609614"/>
                <a:gd name="connsiteY323" fmla="*/ 481115 h 608697"/>
                <a:gd name="connsiteX324" fmla="*/ 294979 w 609614"/>
                <a:gd name="connsiteY324" fmla="*/ 481115 h 608697"/>
                <a:gd name="connsiteX325" fmla="*/ 294979 w 609614"/>
                <a:gd name="connsiteY325" fmla="*/ 461417 h 608697"/>
                <a:gd name="connsiteX326" fmla="*/ 275346 w 609614"/>
                <a:gd name="connsiteY326" fmla="*/ 461417 h 608697"/>
                <a:gd name="connsiteX327" fmla="*/ 275346 w 609614"/>
                <a:gd name="connsiteY327" fmla="*/ 481115 h 608697"/>
                <a:gd name="connsiteX328" fmla="*/ 255620 w 609614"/>
                <a:gd name="connsiteY328" fmla="*/ 481115 h 608697"/>
                <a:gd name="connsiteX329" fmla="*/ 255620 w 609614"/>
                <a:gd name="connsiteY329" fmla="*/ 461417 h 608697"/>
                <a:gd name="connsiteX330" fmla="*/ 235986 w 609614"/>
                <a:gd name="connsiteY330" fmla="*/ 461417 h 608697"/>
                <a:gd name="connsiteX331" fmla="*/ 235986 w 609614"/>
                <a:gd name="connsiteY331" fmla="*/ 481115 h 608697"/>
                <a:gd name="connsiteX332" fmla="*/ 216353 w 609614"/>
                <a:gd name="connsiteY332" fmla="*/ 481115 h 608697"/>
                <a:gd name="connsiteX333" fmla="*/ 216353 w 609614"/>
                <a:gd name="connsiteY333" fmla="*/ 461417 h 608697"/>
                <a:gd name="connsiteX334" fmla="*/ 196627 w 609614"/>
                <a:gd name="connsiteY334" fmla="*/ 461417 h 608697"/>
                <a:gd name="connsiteX335" fmla="*/ 196627 w 609614"/>
                <a:gd name="connsiteY335" fmla="*/ 481115 h 608697"/>
                <a:gd name="connsiteX336" fmla="*/ 176994 w 609614"/>
                <a:gd name="connsiteY336" fmla="*/ 481115 h 608697"/>
                <a:gd name="connsiteX337" fmla="*/ 176994 w 609614"/>
                <a:gd name="connsiteY337" fmla="*/ 461417 h 608697"/>
                <a:gd name="connsiteX338" fmla="*/ 147497 w 609614"/>
                <a:gd name="connsiteY338" fmla="*/ 461417 h 608697"/>
                <a:gd name="connsiteX339" fmla="*/ 147497 w 609614"/>
                <a:gd name="connsiteY339" fmla="*/ 431962 h 608697"/>
                <a:gd name="connsiteX340" fmla="*/ 127864 w 609614"/>
                <a:gd name="connsiteY340" fmla="*/ 431962 h 608697"/>
                <a:gd name="connsiteX341" fmla="*/ 127864 w 609614"/>
                <a:gd name="connsiteY341" fmla="*/ 412356 h 608697"/>
                <a:gd name="connsiteX342" fmla="*/ 147497 w 609614"/>
                <a:gd name="connsiteY342" fmla="*/ 412356 h 608697"/>
                <a:gd name="connsiteX343" fmla="*/ 147497 w 609614"/>
                <a:gd name="connsiteY343" fmla="*/ 392750 h 608697"/>
                <a:gd name="connsiteX344" fmla="*/ 127864 w 609614"/>
                <a:gd name="connsiteY344" fmla="*/ 392750 h 608697"/>
                <a:gd name="connsiteX345" fmla="*/ 127864 w 609614"/>
                <a:gd name="connsiteY345" fmla="*/ 373052 h 608697"/>
                <a:gd name="connsiteX346" fmla="*/ 147497 w 609614"/>
                <a:gd name="connsiteY346" fmla="*/ 373052 h 608697"/>
                <a:gd name="connsiteX347" fmla="*/ 147497 w 609614"/>
                <a:gd name="connsiteY347" fmla="*/ 353446 h 608697"/>
                <a:gd name="connsiteX348" fmla="*/ 127864 w 609614"/>
                <a:gd name="connsiteY348" fmla="*/ 353446 h 608697"/>
                <a:gd name="connsiteX349" fmla="*/ 127864 w 609614"/>
                <a:gd name="connsiteY349" fmla="*/ 333839 h 608697"/>
                <a:gd name="connsiteX350" fmla="*/ 147497 w 609614"/>
                <a:gd name="connsiteY350" fmla="*/ 333839 h 608697"/>
                <a:gd name="connsiteX351" fmla="*/ 147497 w 609614"/>
                <a:gd name="connsiteY351" fmla="*/ 314141 h 608697"/>
                <a:gd name="connsiteX352" fmla="*/ 127864 w 609614"/>
                <a:gd name="connsiteY352" fmla="*/ 314141 h 608697"/>
                <a:gd name="connsiteX353" fmla="*/ 127864 w 609614"/>
                <a:gd name="connsiteY353" fmla="*/ 294535 h 608697"/>
                <a:gd name="connsiteX354" fmla="*/ 147497 w 609614"/>
                <a:gd name="connsiteY354" fmla="*/ 294535 h 608697"/>
                <a:gd name="connsiteX355" fmla="*/ 147497 w 609614"/>
                <a:gd name="connsiteY355" fmla="*/ 274929 h 608697"/>
                <a:gd name="connsiteX356" fmla="*/ 127864 w 609614"/>
                <a:gd name="connsiteY356" fmla="*/ 274929 h 608697"/>
                <a:gd name="connsiteX357" fmla="*/ 127864 w 609614"/>
                <a:gd name="connsiteY357" fmla="*/ 255230 h 608697"/>
                <a:gd name="connsiteX358" fmla="*/ 147497 w 609614"/>
                <a:gd name="connsiteY358" fmla="*/ 255230 h 608697"/>
                <a:gd name="connsiteX359" fmla="*/ 147497 w 609614"/>
                <a:gd name="connsiteY359" fmla="*/ 235624 h 608697"/>
                <a:gd name="connsiteX360" fmla="*/ 127864 w 609614"/>
                <a:gd name="connsiteY360" fmla="*/ 235624 h 608697"/>
                <a:gd name="connsiteX361" fmla="*/ 127864 w 609614"/>
                <a:gd name="connsiteY361" fmla="*/ 216018 h 608697"/>
                <a:gd name="connsiteX362" fmla="*/ 147497 w 609614"/>
                <a:gd name="connsiteY362" fmla="*/ 216018 h 608697"/>
                <a:gd name="connsiteX363" fmla="*/ 147497 w 609614"/>
                <a:gd name="connsiteY363" fmla="*/ 196320 h 608697"/>
                <a:gd name="connsiteX364" fmla="*/ 127864 w 609614"/>
                <a:gd name="connsiteY364" fmla="*/ 196320 h 608697"/>
                <a:gd name="connsiteX365" fmla="*/ 127864 w 609614"/>
                <a:gd name="connsiteY365" fmla="*/ 176714 h 608697"/>
                <a:gd name="connsiteX366" fmla="*/ 147497 w 609614"/>
                <a:gd name="connsiteY366" fmla="*/ 176714 h 608697"/>
                <a:gd name="connsiteX367" fmla="*/ 147497 w 609614"/>
                <a:gd name="connsiteY367" fmla="*/ 172664 h 608697"/>
                <a:gd name="connsiteX368" fmla="*/ 172938 w 609614"/>
                <a:gd name="connsiteY368" fmla="*/ 147259 h 608697"/>
                <a:gd name="connsiteX369" fmla="*/ 176994 w 609614"/>
                <a:gd name="connsiteY369" fmla="*/ 147259 h 608697"/>
                <a:gd name="connsiteX370" fmla="*/ 481832 w 609614"/>
                <a:gd name="connsiteY370" fmla="*/ 98229 h 608697"/>
                <a:gd name="connsiteX371" fmla="*/ 471965 w 609614"/>
                <a:gd name="connsiteY371" fmla="*/ 107982 h 608697"/>
                <a:gd name="connsiteX372" fmla="*/ 481832 w 609614"/>
                <a:gd name="connsiteY372" fmla="*/ 117827 h 608697"/>
                <a:gd name="connsiteX373" fmla="*/ 491606 w 609614"/>
                <a:gd name="connsiteY373" fmla="*/ 107982 h 608697"/>
                <a:gd name="connsiteX374" fmla="*/ 481832 w 609614"/>
                <a:gd name="connsiteY374" fmla="*/ 98229 h 608697"/>
                <a:gd name="connsiteX375" fmla="*/ 49113 w 609614"/>
                <a:gd name="connsiteY375" fmla="*/ 98229 h 608697"/>
                <a:gd name="connsiteX376" fmla="*/ 39343 w 609614"/>
                <a:gd name="connsiteY376" fmla="*/ 107982 h 608697"/>
                <a:gd name="connsiteX377" fmla="*/ 49113 w 609614"/>
                <a:gd name="connsiteY377" fmla="*/ 117827 h 608697"/>
                <a:gd name="connsiteX378" fmla="*/ 58976 w 609614"/>
                <a:gd name="connsiteY378" fmla="*/ 107982 h 608697"/>
                <a:gd name="connsiteX379" fmla="*/ 49113 w 609614"/>
                <a:gd name="connsiteY379" fmla="*/ 98229 h 608697"/>
                <a:gd name="connsiteX380" fmla="*/ 481832 w 609614"/>
                <a:gd name="connsiteY380" fmla="*/ 78539 h 608697"/>
                <a:gd name="connsiteX381" fmla="*/ 509495 w 609614"/>
                <a:gd name="connsiteY381" fmla="*/ 98229 h 608697"/>
                <a:gd name="connsiteX382" fmla="*/ 515397 w 609614"/>
                <a:gd name="connsiteY382" fmla="*/ 98229 h 608697"/>
                <a:gd name="connsiteX383" fmla="*/ 550622 w 609614"/>
                <a:gd name="connsiteY383" fmla="*/ 133377 h 608697"/>
                <a:gd name="connsiteX384" fmla="*/ 550622 w 609614"/>
                <a:gd name="connsiteY384" fmla="*/ 161165 h 608697"/>
                <a:gd name="connsiteX385" fmla="*/ 515397 w 609614"/>
                <a:gd name="connsiteY385" fmla="*/ 196313 h 608697"/>
                <a:gd name="connsiteX386" fmla="*/ 501473 w 609614"/>
                <a:gd name="connsiteY386" fmla="*/ 196313 h 608697"/>
                <a:gd name="connsiteX387" fmla="*/ 501473 w 609614"/>
                <a:gd name="connsiteY387" fmla="*/ 176714 h 608697"/>
                <a:gd name="connsiteX388" fmla="*/ 507282 w 609614"/>
                <a:gd name="connsiteY388" fmla="*/ 176714 h 608697"/>
                <a:gd name="connsiteX389" fmla="*/ 530981 w 609614"/>
                <a:gd name="connsiteY389" fmla="*/ 153068 h 608697"/>
                <a:gd name="connsiteX390" fmla="*/ 530981 w 609614"/>
                <a:gd name="connsiteY390" fmla="*/ 141474 h 608697"/>
                <a:gd name="connsiteX391" fmla="*/ 508942 w 609614"/>
                <a:gd name="connsiteY391" fmla="*/ 119576 h 608697"/>
                <a:gd name="connsiteX392" fmla="*/ 481832 w 609614"/>
                <a:gd name="connsiteY392" fmla="*/ 137426 h 608697"/>
                <a:gd name="connsiteX393" fmla="*/ 452324 w 609614"/>
                <a:gd name="connsiteY393" fmla="*/ 107982 h 608697"/>
                <a:gd name="connsiteX394" fmla="*/ 481832 w 609614"/>
                <a:gd name="connsiteY394" fmla="*/ 78539 h 608697"/>
                <a:gd name="connsiteX395" fmla="*/ 49113 w 609614"/>
                <a:gd name="connsiteY395" fmla="*/ 78539 h 608697"/>
                <a:gd name="connsiteX396" fmla="*/ 78610 w 609614"/>
                <a:gd name="connsiteY396" fmla="*/ 107982 h 608697"/>
                <a:gd name="connsiteX397" fmla="*/ 58976 w 609614"/>
                <a:gd name="connsiteY397" fmla="*/ 135678 h 608697"/>
                <a:gd name="connsiteX398" fmla="*/ 58976 w 609614"/>
                <a:gd name="connsiteY398" fmla="*/ 153068 h 608697"/>
                <a:gd name="connsiteX399" fmla="*/ 82665 w 609614"/>
                <a:gd name="connsiteY399" fmla="*/ 176714 h 608697"/>
                <a:gd name="connsiteX400" fmla="*/ 108106 w 609614"/>
                <a:gd name="connsiteY400" fmla="*/ 176714 h 608697"/>
                <a:gd name="connsiteX401" fmla="*/ 108106 w 609614"/>
                <a:gd name="connsiteY401" fmla="*/ 196313 h 608697"/>
                <a:gd name="connsiteX402" fmla="*/ 74554 w 609614"/>
                <a:gd name="connsiteY402" fmla="*/ 196313 h 608697"/>
                <a:gd name="connsiteX403" fmla="*/ 39343 w 609614"/>
                <a:gd name="connsiteY403" fmla="*/ 161165 h 608697"/>
                <a:gd name="connsiteX404" fmla="*/ 39343 w 609614"/>
                <a:gd name="connsiteY404" fmla="*/ 135678 h 608697"/>
                <a:gd name="connsiteX405" fmla="*/ 19617 w 609614"/>
                <a:gd name="connsiteY405" fmla="*/ 107982 h 608697"/>
                <a:gd name="connsiteX406" fmla="*/ 49113 w 609614"/>
                <a:gd name="connsiteY406" fmla="*/ 78539 h 608697"/>
                <a:gd name="connsiteX407" fmla="*/ 255588 w 609614"/>
                <a:gd name="connsiteY407" fmla="*/ 68731 h 608697"/>
                <a:gd name="connsiteX408" fmla="*/ 275346 w 609614"/>
                <a:gd name="connsiteY408" fmla="*/ 68731 h 608697"/>
                <a:gd name="connsiteX409" fmla="*/ 275346 w 609614"/>
                <a:gd name="connsiteY409" fmla="*/ 107965 h 608697"/>
                <a:gd name="connsiteX410" fmla="*/ 255588 w 609614"/>
                <a:gd name="connsiteY410" fmla="*/ 107965 h 608697"/>
                <a:gd name="connsiteX411" fmla="*/ 0 w 609614"/>
                <a:gd name="connsiteY411" fmla="*/ 39305 h 608697"/>
                <a:gd name="connsiteX412" fmla="*/ 161387 w 609614"/>
                <a:gd name="connsiteY412" fmla="*/ 39305 h 608697"/>
                <a:gd name="connsiteX413" fmla="*/ 196595 w 609614"/>
                <a:gd name="connsiteY413" fmla="*/ 74463 h 608697"/>
                <a:gd name="connsiteX414" fmla="*/ 196595 w 609614"/>
                <a:gd name="connsiteY414" fmla="*/ 107965 h 608697"/>
                <a:gd name="connsiteX415" fmla="*/ 176963 w 609614"/>
                <a:gd name="connsiteY415" fmla="*/ 107965 h 608697"/>
                <a:gd name="connsiteX416" fmla="*/ 176963 w 609614"/>
                <a:gd name="connsiteY416" fmla="*/ 82562 h 608697"/>
                <a:gd name="connsiteX417" fmla="*/ 153276 w 609614"/>
                <a:gd name="connsiteY417" fmla="*/ 58909 h 608697"/>
                <a:gd name="connsiteX418" fmla="*/ 0 w 609614"/>
                <a:gd name="connsiteY418" fmla="*/ 58909 h 608697"/>
                <a:gd name="connsiteX419" fmla="*/ 304836 w 609614"/>
                <a:gd name="connsiteY419" fmla="*/ 19605 h 608697"/>
                <a:gd name="connsiteX420" fmla="*/ 294975 w 609614"/>
                <a:gd name="connsiteY420" fmla="*/ 29453 h 608697"/>
                <a:gd name="connsiteX421" fmla="*/ 304836 w 609614"/>
                <a:gd name="connsiteY421" fmla="*/ 39302 h 608697"/>
                <a:gd name="connsiteX422" fmla="*/ 314605 w 609614"/>
                <a:gd name="connsiteY422" fmla="*/ 29453 h 608697"/>
                <a:gd name="connsiteX423" fmla="*/ 304836 w 609614"/>
                <a:gd name="connsiteY423" fmla="*/ 19605 h 608697"/>
                <a:gd name="connsiteX424" fmla="*/ 580109 w 609614"/>
                <a:gd name="connsiteY424" fmla="*/ 19604 h 608697"/>
                <a:gd name="connsiteX425" fmla="*/ 570336 w 609614"/>
                <a:gd name="connsiteY425" fmla="*/ 29452 h 608697"/>
                <a:gd name="connsiteX426" fmla="*/ 580109 w 609614"/>
                <a:gd name="connsiteY426" fmla="*/ 39300 h 608697"/>
                <a:gd name="connsiteX427" fmla="*/ 589975 w 609614"/>
                <a:gd name="connsiteY427" fmla="*/ 29452 h 608697"/>
                <a:gd name="connsiteX428" fmla="*/ 580109 w 609614"/>
                <a:gd name="connsiteY428" fmla="*/ 19604 h 608697"/>
                <a:gd name="connsiteX429" fmla="*/ 580109 w 609614"/>
                <a:gd name="connsiteY429" fmla="*/ 0 h 608697"/>
                <a:gd name="connsiteX430" fmla="*/ 609614 w 609614"/>
                <a:gd name="connsiteY430" fmla="*/ 29452 h 608697"/>
                <a:gd name="connsiteX431" fmla="*/ 589975 w 609614"/>
                <a:gd name="connsiteY431" fmla="*/ 57063 h 608697"/>
                <a:gd name="connsiteX432" fmla="*/ 589975 w 609614"/>
                <a:gd name="connsiteY432" fmla="*/ 200367 h 608697"/>
                <a:gd name="connsiteX433" fmla="*/ 554662 w 609614"/>
                <a:gd name="connsiteY433" fmla="*/ 235618 h 608697"/>
                <a:gd name="connsiteX434" fmla="*/ 501462 w 609614"/>
                <a:gd name="connsiteY434" fmla="*/ 235618 h 608697"/>
                <a:gd name="connsiteX435" fmla="*/ 501462 w 609614"/>
                <a:gd name="connsiteY435" fmla="*/ 216014 h 608697"/>
                <a:gd name="connsiteX436" fmla="*/ 546548 w 609614"/>
                <a:gd name="connsiteY436" fmla="*/ 216014 h 608697"/>
                <a:gd name="connsiteX437" fmla="*/ 570336 w 609614"/>
                <a:gd name="connsiteY437" fmla="*/ 192268 h 608697"/>
                <a:gd name="connsiteX438" fmla="*/ 570336 w 609614"/>
                <a:gd name="connsiteY438" fmla="*/ 57063 h 608697"/>
                <a:gd name="connsiteX439" fmla="*/ 552449 w 609614"/>
                <a:gd name="connsiteY439" fmla="*/ 39300 h 608697"/>
                <a:gd name="connsiteX440" fmla="*/ 456375 w 609614"/>
                <a:gd name="connsiteY440" fmla="*/ 39300 h 608697"/>
                <a:gd name="connsiteX441" fmla="*/ 432587 w 609614"/>
                <a:gd name="connsiteY441" fmla="*/ 62954 h 608697"/>
                <a:gd name="connsiteX442" fmla="*/ 432587 w 609614"/>
                <a:gd name="connsiteY442" fmla="*/ 107961 h 608697"/>
                <a:gd name="connsiteX443" fmla="*/ 412948 w 609614"/>
                <a:gd name="connsiteY443" fmla="*/ 107961 h 608697"/>
                <a:gd name="connsiteX444" fmla="*/ 412948 w 609614"/>
                <a:gd name="connsiteY444" fmla="*/ 54855 h 608697"/>
                <a:gd name="connsiteX445" fmla="*/ 448261 w 609614"/>
                <a:gd name="connsiteY445" fmla="*/ 19604 h 608697"/>
                <a:gd name="connsiteX446" fmla="*/ 552449 w 609614"/>
                <a:gd name="connsiteY446" fmla="*/ 19604 h 608697"/>
                <a:gd name="connsiteX447" fmla="*/ 580109 w 609614"/>
                <a:gd name="connsiteY447" fmla="*/ 0 h 608697"/>
                <a:gd name="connsiteX448" fmla="*/ 373643 w 609614"/>
                <a:gd name="connsiteY448" fmla="*/ 0 h 608697"/>
                <a:gd name="connsiteX449" fmla="*/ 393331 w 609614"/>
                <a:gd name="connsiteY449" fmla="*/ 0 h 608697"/>
                <a:gd name="connsiteX450" fmla="*/ 393331 w 609614"/>
                <a:gd name="connsiteY450" fmla="*/ 107965 h 608697"/>
                <a:gd name="connsiteX451" fmla="*/ 373643 w 609614"/>
                <a:gd name="connsiteY451" fmla="*/ 107965 h 608697"/>
                <a:gd name="connsiteX452" fmla="*/ 304836 w 609614"/>
                <a:gd name="connsiteY452" fmla="*/ 0 h 608697"/>
                <a:gd name="connsiteX453" fmla="*/ 334327 w 609614"/>
                <a:gd name="connsiteY453" fmla="*/ 29453 h 608697"/>
                <a:gd name="connsiteX454" fmla="*/ 322530 w 609614"/>
                <a:gd name="connsiteY454" fmla="*/ 52832 h 608697"/>
                <a:gd name="connsiteX455" fmla="*/ 353956 w 609614"/>
                <a:gd name="connsiteY455" fmla="*/ 84310 h 608697"/>
                <a:gd name="connsiteX456" fmla="*/ 353956 w 609614"/>
                <a:gd name="connsiteY456" fmla="*/ 107965 h 608697"/>
                <a:gd name="connsiteX457" fmla="*/ 334327 w 609614"/>
                <a:gd name="connsiteY457" fmla="*/ 107965 h 608697"/>
                <a:gd name="connsiteX458" fmla="*/ 334327 w 609614"/>
                <a:gd name="connsiteY458" fmla="*/ 92410 h 608697"/>
                <a:gd name="connsiteX459" fmla="*/ 314605 w 609614"/>
                <a:gd name="connsiteY459" fmla="*/ 72805 h 608697"/>
                <a:gd name="connsiteX460" fmla="*/ 314605 w 609614"/>
                <a:gd name="connsiteY460" fmla="*/ 107965 h 608697"/>
                <a:gd name="connsiteX461" fmla="*/ 294975 w 609614"/>
                <a:gd name="connsiteY461" fmla="*/ 107965 h 608697"/>
                <a:gd name="connsiteX462" fmla="*/ 294975 w 609614"/>
                <a:gd name="connsiteY462" fmla="*/ 57066 h 608697"/>
                <a:gd name="connsiteX463" fmla="*/ 275346 w 609614"/>
                <a:gd name="connsiteY463" fmla="*/ 29453 h 608697"/>
                <a:gd name="connsiteX464" fmla="*/ 304836 w 609614"/>
                <a:gd name="connsiteY464" fmla="*/ 0 h 608697"/>
                <a:gd name="connsiteX465" fmla="*/ 0 w 609614"/>
                <a:gd name="connsiteY465" fmla="*/ 0 h 608697"/>
                <a:gd name="connsiteX466" fmla="*/ 200668 w 609614"/>
                <a:gd name="connsiteY466" fmla="*/ 0 h 608697"/>
                <a:gd name="connsiteX467" fmla="*/ 235971 w 609614"/>
                <a:gd name="connsiteY467" fmla="*/ 35252 h 608697"/>
                <a:gd name="connsiteX468" fmla="*/ 235971 w 609614"/>
                <a:gd name="connsiteY468" fmla="*/ 107965 h 608697"/>
                <a:gd name="connsiteX469" fmla="*/ 216337 w 609614"/>
                <a:gd name="connsiteY469" fmla="*/ 107965 h 608697"/>
                <a:gd name="connsiteX470" fmla="*/ 216337 w 609614"/>
                <a:gd name="connsiteY470" fmla="*/ 43351 h 608697"/>
                <a:gd name="connsiteX471" fmla="*/ 192556 w 609614"/>
                <a:gd name="connsiteY471" fmla="*/ 19605 h 608697"/>
                <a:gd name="connsiteX472" fmla="*/ 0 w 609614"/>
                <a:gd name="connsiteY472" fmla="*/ 19605 h 60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Lst>
              <a:rect l="l" t="t" r="r" b="b"/>
              <a:pathLst>
                <a:path w="609614" h="608697">
                  <a:moveTo>
                    <a:pt x="462097" y="569490"/>
                  </a:moveTo>
                  <a:cubicBezTo>
                    <a:pt x="456657" y="569490"/>
                    <a:pt x="452323" y="573816"/>
                    <a:pt x="452323" y="579246"/>
                  </a:cubicBezTo>
                  <a:cubicBezTo>
                    <a:pt x="452323" y="584676"/>
                    <a:pt x="456657" y="589094"/>
                    <a:pt x="462097" y="589094"/>
                  </a:cubicBezTo>
                  <a:cubicBezTo>
                    <a:pt x="467538" y="589094"/>
                    <a:pt x="471964" y="584676"/>
                    <a:pt x="471964" y="579246"/>
                  </a:cubicBezTo>
                  <a:cubicBezTo>
                    <a:pt x="471964" y="573816"/>
                    <a:pt x="467538" y="569490"/>
                    <a:pt x="462097" y="569490"/>
                  </a:cubicBezTo>
                  <a:close/>
                  <a:moveTo>
                    <a:pt x="39366" y="569490"/>
                  </a:moveTo>
                  <a:cubicBezTo>
                    <a:pt x="33929" y="569490"/>
                    <a:pt x="29506" y="573816"/>
                    <a:pt x="29506" y="579246"/>
                  </a:cubicBezTo>
                  <a:cubicBezTo>
                    <a:pt x="29506" y="584676"/>
                    <a:pt x="33929" y="589094"/>
                    <a:pt x="39366" y="589094"/>
                  </a:cubicBezTo>
                  <a:cubicBezTo>
                    <a:pt x="44802" y="589094"/>
                    <a:pt x="49133" y="584676"/>
                    <a:pt x="49133" y="579246"/>
                  </a:cubicBezTo>
                  <a:cubicBezTo>
                    <a:pt x="49133" y="573816"/>
                    <a:pt x="44802" y="569490"/>
                    <a:pt x="39366" y="569490"/>
                  </a:cubicBezTo>
                  <a:close/>
                  <a:moveTo>
                    <a:pt x="265488" y="569487"/>
                  </a:moveTo>
                  <a:cubicBezTo>
                    <a:pt x="260045" y="569487"/>
                    <a:pt x="255618" y="573813"/>
                    <a:pt x="255618" y="579244"/>
                  </a:cubicBezTo>
                  <a:cubicBezTo>
                    <a:pt x="255618" y="584674"/>
                    <a:pt x="260045" y="589092"/>
                    <a:pt x="265488" y="589092"/>
                  </a:cubicBezTo>
                  <a:cubicBezTo>
                    <a:pt x="270930" y="589092"/>
                    <a:pt x="275357" y="584674"/>
                    <a:pt x="275357" y="579244"/>
                  </a:cubicBezTo>
                  <a:cubicBezTo>
                    <a:pt x="275357" y="573813"/>
                    <a:pt x="270930" y="569487"/>
                    <a:pt x="265488" y="569487"/>
                  </a:cubicBezTo>
                  <a:close/>
                  <a:moveTo>
                    <a:pt x="580122" y="569485"/>
                  </a:moveTo>
                  <a:cubicBezTo>
                    <a:pt x="574685" y="569485"/>
                    <a:pt x="570353" y="573811"/>
                    <a:pt x="570353" y="579242"/>
                  </a:cubicBezTo>
                  <a:cubicBezTo>
                    <a:pt x="570353" y="584673"/>
                    <a:pt x="574685" y="589091"/>
                    <a:pt x="580122" y="589091"/>
                  </a:cubicBezTo>
                  <a:cubicBezTo>
                    <a:pt x="585560" y="589091"/>
                    <a:pt x="589984" y="584673"/>
                    <a:pt x="589984" y="579242"/>
                  </a:cubicBezTo>
                  <a:cubicBezTo>
                    <a:pt x="589984" y="573811"/>
                    <a:pt x="585560" y="569485"/>
                    <a:pt x="580122" y="569485"/>
                  </a:cubicBezTo>
                  <a:close/>
                  <a:moveTo>
                    <a:pt x="98361" y="510555"/>
                  </a:moveTo>
                  <a:cubicBezTo>
                    <a:pt x="92924" y="510555"/>
                    <a:pt x="88500" y="514882"/>
                    <a:pt x="88500" y="520314"/>
                  </a:cubicBezTo>
                  <a:cubicBezTo>
                    <a:pt x="88500" y="525746"/>
                    <a:pt x="92924" y="530165"/>
                    <a:pt x="98361" y="530165"/>
                  </a:cubicBezTo>
                  <a:cubicBezTo>
                    <a:pt x="103798" y="530165"/>
                    <a:pt x="108129" y="525746"/>
                    <a:pt x="108129" y="520314"/>
                  </a:cubicBezTo>
                  <a:cubicBezTo>
                    <a:pt x="108129" y="514882"/>
                    <a:pt x="103798" y="510555"/>
                    <a:pt x="98361" y="510555"/>
                  </a:cubicBezTo>
                  <a:close/>
                  <a:moveTo>
                    <a:pt x="373643" y="500732"/>
                  </a:moveTo>
                  <a:lnTo>
                    <a:pt x="393331" y="500732"/>
                  </a:lnTo>
                  <a:lnTo>
                    <a:pt x="393331" y="608697"/>
                  </a:lnTo>
                  <a:lnTo>
                    <a:pt x="373643" y="608697"/>
                  </a:lnTo>
                  <a:close/>
                  <a:moveTo>
                    <a:pt x="334339" y="500732"/>
                  </a:moveTo>
                  <a:lnTo>
                    <a:pt x="353956" y="500732"/>
                  </a:lnTo>
                  <a:lnTo>
                    <a:pt x="353956" y="608697"/>
                  </a:lnTo>
                  <a:lnTo>
                    <a:pt x="334339" y="608697"/>
                  </a:lnTo>
                  <a:close/>
                  <a:moveTo>
                    <a:pt x="255618" y="500732"/>
                  </a:moveTo>
                  <a:lnTo>
                    <a:pt x="275357" y="500732"/>
                  </a:lnTo>
                  <a:lnTo>
                    <a:pt x="275357" y="535984"/>
                  </a:lnTo>
                  <a:lnTo>
                    <a:pt x="295004" y="516287"/>
                  </a:lnTo>
                  <a:lnTo>
                    <a:pt x="295004" y="500732"/>
                  </a:lnTo>
                  <a:lnTo>
                    <a:pt x="314651" y="500732"/>
                  </a:lnTo>
                  <a:lnTo>
                    <a:pt x="314651" y="524387"/>
                  </a:lnTo>
                  <a:lnTo>
                    <a:pt x="283197" y="555865"/>
                  </a:lnTo>
                  <a:cubicBezTo>
                    <a:pt x="290300" y="561204"/>
                    <a:pt x="295004" y="569672"/>
                    <a:pt x="295004" y="579244"/>
                  </a:cubicBezTo>
                  <a:cubicBezTo>
                    <a:pt x="295004" y="595535"/>
                    <a:pt x="281722" y="608697"/>
                    <a:pt x="265488" y="608697"/>
                  </a:cubicBezTo>
                  <a:cubicBezTo>
                    <a:pt x="249253" y="608697"/>
                    <a:pt x="235971" y="595535"/>
                    <a:pt x="235971" y="579244"/>
                  </a:cubicBezTo>
                  <a:cubicBezTo>
                    <a:pt x="235971" y="566450"/>
                    <a:pt x="244180" y="555681"/>
                    <a:pt x="255618" y="551631"/>
                  </a:cubicBezTo>
                  <a:close/>
                  <a:moveTo>
                    <a:pt x="216343" y="500732"/>
                  </a:moveTo>
                  <a:lnTo>
                    <a:pt x="235970" y="500732"/>
                  </a:lnTo>
                  <a:lnTo>
                    <a:pt x="235970" y="534235"/>
                  </a:lnTo>
                  <a:lnTo>
                    <a:pt x="206484" y="563689"/>
                  </a:lnTo>
                  <a:lnTo>
                    <a:pt x="206484" y="608697"/>
                  </a:lnTo>
                  <a:lnTo>
                    <a:pt x="186857" y="608697"/>
                  </a:lnTo>
                  <a:lnTo>
                    <a:pt x="186857" y="555589"/>
                  </a:lnTo>
                  <a:lnTo>
                    <a:pt x="216343" y="526136"/>
                  </a:lnTo>
                  <a:close/>
                  <a:moveTo>
                    <a:pt x="98361" y="490853"/>
                  </a:moveTo>
                  <a:cubicBezTo>
                    <a:pt x="111170" y="490853"/>
                    <a:pt x="121952" y="499139"/>
                    <a:pt x="126006" y="510555"/>
                  </a:cubicBezTo>
                  <a:lnTo>
                    <a:pt x="176967" y="510555"/>
                  </a:lnTo>
                  <a:lnTo>
                    <a:pt x="176967" y="500704"/>
                  </a:lnTo>
                  <a:lnTo>
                    <a:pt x="196595" y="500704"/>
                  </a:lnTo>
                  <a:lnTo>
                    <a:pt x="196595" y="530165"/>
                  </a:lnTo>
                  <a:lnTo>
                    <a:pt x="126006" y="530165"/>
                  </a:lnTo>
                  <a:cubicBezTo>
                    <a:pt x="121952" y="541581"/>
                    <a:pt x="111170" y="549775"/>
                    <a:pt x="98361" y="549775"/>
                  </a:cubicBezTo>
                  <a:cubicBezTo>
                    <a:pt x="82050" y="549775"/>
                    <a:pt x="68872" y="536610"/>
                    <a:pt x="68872" y="520314"/>
                  </a:cubicBezTo>
                  <a:cubicBezTo>
                    <a:pt x="68872" y="504111"/>
                    <a:pt x="82050" y="490853"/>
                    <a:pt x="98361" y="490853"/>
                  </a:cubicBezTo>
                  <a:close/>
                  <a:moveTo>
                    <a:pt x="501472" y="412384"/>
                  </a:moveTo>
                  <a:lnTo>
                    <a:pt x="515396" y="412384"/>
                  </a:lnTo>
                  <a:lnTo>
                    <a:pt x="550621" y="447634"/>
                  </a:lnTo>
                  <a:lnTo>
                    <a:pt x="550621" y="553844"/>
                  </a:lnTo>
                  <a:lnTo>
                    <a:pt x="515396" y="589094"/>
                  </a:lnTo>
                  <a:lnTo>
                    <a:pt x="489853" y="589094"/>
                  </a:lnTo>
                  <a:cubicBezTo>
                    <a:pt x="485796" y="600506"/>
                    <a:pt x="474915" y="608697"/>
                    <a:pt x="462097" y="608697"/>
                  </a:cubicBezTo>
                  <a:cubicBezTo>
                    <a:pt x="445868" y="608697"/>
                    <a:pt x="432589" y="595536"/>
                    <a:pt x="432589" y="579246"/>
                  </a:cubicBezTo>
                  <a:cubicBezTo>
                    <a:pt x="432589" y="563047"/>
                    <a:pt x="445868" y="549794"/>
                    <a:pt x="462097" y="549794"/>
                  </a:cubicBezTo>
                  <a:cubicBezTo>
                    <a:pt x="474915" y="549794"/>
                    <a:pt x="485796" y="558077"/>
                    <a:pt x="489853" y="569490"/>
                  </a:cubicBezTo>
                  <a:lnTo>
                    <a:pt x="507281" y="569490"/>
                  </a:lnTo>
                  <a:lnTo>
                    <a:pt x="530980" y="545745"/>
                  </a:lnTo>
                  <a:lnTo>
                    <a:pt x="530980" y="530190"/>
                  </a:lnTo>
                  <a:lnTo>
                    <a:pt x="412948" y="530190"/>
                  </a:lnTo>
                  <a:lnTo>
                    <a:pt x="412948" y="500739"/>
                  </a:lnTo>
                  <a:lnTo>
                    <a:pt x="432589" y="500739"/>
                  </a:lnTo>
                  <a:lnTo>
                    <a:pt x="432589" y="510587"/>
                  </a:lnTo>
                  <a:lnTo>
                    <a:pt x="530980" y="510587"/>
                  </a:lnTo>
                  <a:lnTo>
                    <a:pt x="530980" y="455733"/>
                  </a:lnTo>
                  <a:lnTo>
                    <a:pt x="507281" y="431988"/>
                  </a:lnTo>
                  <a:lnTo>
                    <a:pt x="501472" y="431988"/>
                  </a:lnTo>
                  <a:close/>
                  <a:moveTo>
                    <a:pt x="65811" y="412384"/>
                  </a:moveTo>
                  <a:lnTo>
                    <a:pt x="108106" y="412384"/>
                  </a:lnTo>
                  <a:lnTo>
                    <a:pt x="108106" y="431988"/>
                  </a:lnTo>
                  <a:lnTo>
                    <a:pt x="71801" y="431988"/>
                  </a:lnTo>
                  <a:lnTo>
                    <a:pt x="49133" y="447082"/>
                  </a:lnTo>
                  <a:lnTo>
                    <a:pt x="49133" y="551635"/>
                  </a:lnTo>
                  <a:cubicBezTo>
                    <a:pt x="60559" y="555684"/>
                    <a:pt x="68852" y="566453"/>
                    <a:pt x="68852" y="579246"/>
                  </a:cubicBezTo>
                  <a:cubicBezTo>
                    <a:pt x="68852" y="595536"/>
                    <a:pt x="55583" y="608697"/>
                    <a:pt x="39366" y="608697"/>
                  </a:cubicBezTo>
                  <a:cubicBezTo>
                    <a:pt x="23056" y="608697"/>
                    <a:pt x="9879" y="595536"/>
                    <a:pt x="9879" y="579246"/>
                  </a:cubicBezTo>
                  <a:cubicBezTo>
                    <a:pt x="9879" y="566453"/>
                    <a:pt x="18080" y="555684"/>
                    <a:pt x="29506" y="551635"/>
                  </a:cubicBezTo>
                  <a:lnTo>
                    <a:pt x="29506" y="436590"/>
                  </a:lnTo>
                  <a:close/>
                  <a:moveTo>
                    <a:pt x="29492" y="373072"/>
                  </a:moveTo>
                  <a:cubicBezTo>
                    <a:pt x="24054" y="373072"/>
                    <a:pt x="19631" y="377491"/>
                    <a:pt x="19631" y="382923"/>
                  </a:cubicBezTo>
                  <a:cubicBezTo>
                    <a:pt x="19631" y="388355"/>
                    <a:pt x="24054" y="392774"/>
                    <a:pt x="29492" y="392774"/>
                  </a:cubicBezTo>
                  <a:cubicBezTo>
                    <a:pt x="34929" y="392774"/>
                    <a:pt x="39353" y="388355"/>
                    <a:pt x="39353" y="382923"/>
                  </a:cubicBezTo>
                  <a:cubicBezTo>
                    <a:pt x="39353" y="377491"/>
                    <a:pt x="34929" y="373072"/>
                    <a:pt x="29492" y="373072"/>
                  </a:cubicBezTo>
                  <a:close/>
                  <a:moveTo>
                    <a:pt x="29492" y="353462"/>
                  </a:moveTo>
                  <a:cubicBezTo>
                    <a:pt x="42302" y="353462"/>
                    <a:pt x="53085" y="361656"/>
                    <a:pt x="57140" y="373072"/>
                  </a:cubicBezTo>
                  <a:lnTo>
                    <a:pt x="108106" y="373072"/>
                  </a:lnTo>
                  <a:lnTo>
                    <a:pt x="108106" y="392774"/>
                  </a:lnTo>
                  <a:lnTo>
                    <a:pt x="57140" y="392774"/>
                  </a:lnTo>
                  <a:cubicBezTo>
                    <a:pt x="53085" y="404190"/>
                    <a:pt x="42302" y="412384"/>
                    <a:pt x="29492" y="412384"/>
                  </a:cubicBezTo>
                  <a:cubicBezTo>
                    <a:pt x="13271" y="412384"/>
                    <a:pt x="0" y="399127"/>
                    <a:pt x="0" y="382923"/>
                  </a:cubicBezTo>
                  <a:cubicBezTo>
                    <a:pt x="0" y="366720"/>
                    <a:pt x="13271" y="353462"/>
                    <a:pt x="29492" y="353462"/>
                  </a:cubicBezTo>
                  <a:close/>
                  <a:moveTo>
                    <a:pt x="501508" y="333845"/>
                  </a:moveTo>
                  <a:lnTo>
                    <a:pt x="540813" y="333845"/>
                  </a:lnTo>
                  <a:lnTo>
                    <a:pt x="540813" y="353462"/>
                  </a:lnTo>
                  <a:lnTo>
                    <a:pt x="501508" y="353462"/>
                  </a:lnTo>
                  <a:close/>
                  <a:moveTo>
                    <a:pt x="68872" y="333845"/>
                  </a:moveTo>
                  <a:lnTo>
                    <a:pt x="108106" y="333845"/>
                  </a:lnTo>
                  <a:lnTo>
                    <a:pt x="108106" y="353462"/>
                  </a:lnTo>
                  <a:lnTo>
                    <a:pt x="68872" y="353462"/>
                  </a:lnTo>
                  <a:close/>
                  <a:moveTo>
                    <a:pt x="501508" y="294540"/>
                  </a:moveTo>
                  <a:lnTo>
                    <a:pt x="554685" y="294540"/>
                  </a:lnTo>
                  <a:lnTo>
                    <a:pt x="589984" y="329794"/>
                  </a:lnTo>
                  <a:lnTo>
                    <a:pt x="589984" y="551628"/>
                  </a:lnTo>
                  <a:cubicBezTo>
                    <a:pt x="601412" y="555678"/>
                    <a:pt x="609614" y="566448"/>
                    <a:pt x="609614" y="579242"/>
                  </a:cubicBezTo>
                  <a:cubicBezTo>
                    <a:pt x="609614" y="595534"/>
                    <a:pt x="596435" y="608697"/>
                    <a:pt x="580122" y="608697"/>
                  </a:cubicBezTo>
                  <a:cubicBezTo>
                    <a:pt x="563902" y="608697"/>
                    <a:pt x="550630" y="595534"/>
                    <a:pt x="550630" y="579242"/>
                  </a:cubicBezTo>
                  <a:cubicBezTo>
                    <a:pt x="550630" y="566448"/>
                    <a:pt x="558925" y="555678"/>
                    <a:pt x="570353" y="551628"/>
                  </a:cubicBezTo>
                  <a:lnTo>
                    <a:pt x="570353" y="416411"/>
                  </a:lnTo>
                  <a:lnTo>
                    <a:pt x="546575" y="392755"/>
                  </a:lnTo>
                  <a:lnTo>
                    <a:pt x="501508" y="392755"/>
                  </a:lnTo>
                  <a:lnTo>
                    <a:pt x="501508" y="373056"/>
                  </a:lnTo>
                  <a:lnTo>
                    <a:pt x="554685" y="373056"/>
                  </a:lnTo>
                  <a:lnTo>
                    <a:pt x="570353" y="388705"/>
                  </a:lnTo>
                  <a:lnTo>
                    <a:pt x="570353" y="337894"/>
                  </a:lnTo>
                  <a:lnTo>
                    <a:pt x="546575" y="314146"/>
                  </a:lnTo>
                  <a:lnTo>
                    <a:pt x="501508" y="314146"/>
                  </a:lnTo>
                  <a:close/>
                  <a:moveTo>
                    <a:pt x="29492" y="294533"/>
                  </a:moveTo>
                  <a:cubicBezTo>
                    <a:pt x="24054" y="294533"/>
                    <a:pt x="19631" y="298952"/>
                    <a:pt x="19631" y="304384"/>
                  </a:cubicBezTo>
                  <a:cubicBezTo>
                    <a:pt x="19631" y="309816"/>
                    <a:pt x="24054" y="314143"/>
                    <a:pt x="29492" y="314143"/>
                  </a:cubicBezTo>
                  <a:cubicBezTo>
                    <a:pt x="34929" y="314143"/>
                    <a:pt x="39353" y="309816"/>
                    <a:pt x="39353" y="304384"/>
                  </a:cubicBezTo>
                  <a:cubicBezTo>
                    <a:pt x="39353" y="298952"/>
                    <a:pt x="34929" y="294533"/>
                    <a:pt x="29492" y="294533"/>
                  </a:cubicBezTo>
                  <a:close/>
                  <a:moveTo>
                    <a:pt x="304818" y="274936"/>
                  </a:moveTo>
                  <a:cubicBezTo>
                    <a:pt x="288500" y="274936"/>
                    <a:pt x="275317" y="288100"/>
                    <a:pt x="275317" y="304395"/>
                  </a:cubicBezTo>
                  <a:cubicBezTo>
                    <a:pt x="275317" y="320597"/>
                    <a:pt x="288500" y="333854"/>
                    <a:pt x="304818" y="333854"/>
                  </a:cubicBezTo>
                  <a:cubicBezTo>
                    <a:pt x="321044" y="333854"/>
                    <a:pt x="334319" y="320597"/>
                    <a:pt x="334319" y="304395"/>
                  </a:cubicBezTo>
                  <a:cubicBezTo>
                    <a:pt x="334319" y="288100"/>
                    <a:pt x="321044" y="274936"/>
                    <a:pt x="304818" y="274936"/>
                  </a:cubicBezTo>
                  <a:close/>
                  <a:moveTo>
                    <a:pt x="29492" y="274923"/>
                  </a:moveTo>
                  <a:cubicBezTo>
                    <a:pt x="42302" y="274923"/>
                    <a:pt x="53085" y="283117"/>
                    <a:pt x="57140" y="294533"/>
                  </a:cubicBezTo>
                  <a:lnTo>
                    <a:pt x="108106" y="294533"/>
                  </a:lnTo>
                  <a:lnTo>
                    <a:pt x="108106" y="314143"/>
                  </a:lnTo>
                  <a:lnTo>
                    <a:pt x="57140" y="314143"/>
                  </a:lnTo>
                  <a:cubicBezTo>
                    <a:pt x="53085" y="325559"/>
                    <a:pt x="42302" y="333845"/>
                    <a:pt x="29492" y="333845"/>
                  </a:cubicBezTo>
                  <a:cubicBezTo>
                    <a:pt x="13271" y="333845"/>
                    <a:pt x="0" y="320588"/>
                    <a:pt x="0" y="304384"/>
                  </a:cubicBezTo>
                  <a:cubicBezTo>
                    <a:pt x="0" y="288089"/>
                    <a:pt x="13271" y="274923"/>
                    <a:pt x="29492" y="274923"/>
                  </a:cubicBezTo>
                  <a:close/>
                  <a:moveTo>
                    <a:pt x="501508" y="255235"/>
                  </a:moveTo>
                  <a:lnTo>
                    <a:pt x="609614" y="255235"/>
                  </a:lnTo>
                  <a:lnTo>
                    <a:pt x="609614" y="274923"/>
                  </a:lnTo>
                  <a:lnTo>
                    <a:pt x="501508" y="274923"/>
                  </a:lnTo>
                  <a:close/>
                  <a:moveTo>
                    <a:pt x="304818" y="255235"/>
                  </a:moveTo>
                  <a:cubicBezTo>
                    <a:pt x="331922" y="255235"/>
                    <a:pt x="353956" y="277329"/>
                    <a:pt x="353956" y="304395"/>
                  </a:cubicBezTo>
                  <a:cubicBezTo>
                    <a:pt x="353956" y="331460"/>
                    <a:pt x="331922" y="353462"/>
                    <a:pt x="304818" y="353462"/>
                  </a:cubicBezTo>
                  <a:cubicBezTo>
                    <a:pt x="277714" y="353462"/>
                    <a:pt x="255588" y="331460"/>
                    <a:pt x="255588" y="304395"/>
                  </a:cubicBezTo>
                  <a:cubicBezTo>
                    <a:pt x="255588" y="277329"/>
                    <a:pt x="277714" y="255235"/>
                    <a:pt x="304818" y="255235"/>
                  </a:cubicBezTo>
                  <a:close/>
                  <a:moveTo>
                    <a:pt x="68872" y="255235"/>
                  </a:moveTo>
                  <a:lnTo>
                    <a:pt x="108106" y="255235"/>
                  </a:lnTo>
                  <a:lnTo>
                    <a:pt x="108106" y="274923"/>
                  </a:lnTo>
                  <a:lnTo>
                    <a:pt x="68872" y="274923"/>
                  </a:lnTo>
                  <a:close/>
                  <a:moveTo>
                    <a:pt x="0" y="216001"/>
                  </a:moveTo>
                  <a:lnTo>
                    <a:pt x="108106" y="216001"/>
                  </a:lnTo>
                  <a:lnTo>
                    <a:pt x="108106" y="235618"/>
                  </a:lnTo>
                  <a:lnTo>
                    <a:pt x="0" y="235618"/>
                  </a:lnTo>
                  <a:close/>
                  <a:moveTo>
                    <a:pt x="294980" y="206179"/>
                  </a:moveTo>
                  <a:lnTo>
                    <a:pt x="294980" y="226059"/>
                  </a:lnTo>
                  <a:lnTo>
                    <a:pt x="287329" y="227808"/>
                  </a:lnTo>
                  <a:cubicBezTo>
                    <a:pt x="278664" y="229741"/>
                    <a:pt x="270553" y="233146"/>
                    <a:pt x="262995" y="237932"/>
                  </a:cubicBezTo>
                  <a:lnTo>
                    <a:pt x="256358" y="242074"/>
                  </a:lnTo>
                  <a:lnTo>
                    <a:pt x="242255" y="227992"/>
                  </a:lnTo>
                  <a:lnTo>
                    <a:pt x="228336" y="241890"/>
                  </a:lnTo>
                  <a:lnTo>
                    <a:pt x="242439" y="255972"/>
                  </a:lnTo>
                  <a:lnTo>
                    <a:pt x="238291" y="262599"/>
                  </a:lnTo>
                  <a:cubicBezTo>
                    <a:pt x="233498" y="270146"/>
                    <a:pt x="230180" y="278245"/>
                    <a:pt x="228152" y="286897"/>
                  </a:cubicBezTo>
                  <a:lnTo>
                    <a:pt x="226401" y="294536"/>
                  </a:lnTo>
                  <a:lnTo>
                    <a:pt x="206491" y="294536"/>
                  </a:lnTo>
                  <a:lnTo>
                    <a:pt x="206491" y="314140"/>
                  </a:lnTo>
                  <a:lnTo>
                    <a:pt x="226401" y="314140"/>
                  </a:lnTo>
                  <a:lnTo>
                    <a:pt x="228152" y="321779"/>
                  </a:lnTo>
                  <a:cubicBezTo>
                    <a:pt x="230180" y="330431"/>
                    <a:pt x="233498" y="338622"/>
                    <a:pt x="238291" y="346078"/>
                  </a:cubicBezTo>
                  <a:lnTo>
                    <a:pt x="242439" y="352704"/>
                  </a:lnTo>
                  <a:lnTo>
                    <a:pt x="228336" y="366878"/>
                  </a:lnTo>
                  <a:lnTo>
                    <a:pt x="242255" y="380684"/>
                  </a:lnTo>
                  <a:lnTo>
                    <a:pt x="256358" y="366602"/>
                  </a:lnTo>
                  <a:lnTo>
                    <a:pt x="262995" y="370836"/>
                  </a:lnTo>
                  <a:cubicBezTo>
                    <a:pt x="270553" y="375530"/>
                    <a:pt x="278664" y="378935"/>
                    <a:pt x="287329" y="380868"/>
                  </a:cubicBezTo>
                  <a:lnTo>
                    <a:pt x="294980" y="382617"/>
                  </a:lnTo>
                  <a:lnTo>
                    <a:pt x="294980" y="402497"/>
                  </a:lnTo>
                  <a:lnTo>
                    <a:pt x="314613" y="402497"/>
                  </a:lnTo>
                  <a:lnTo>
                    <a:pt x="314613" y="382617"/>
                  </a:lnTo>
                  <a:lnTo>
                    <a:pt x="322264" y="380868"/>
                  </a:lnTo>
                  <a:cubicBezTo>
                    <a:pt x="330928" y="378935"/>
                    <a:pt x="339132" y="375530"/>
                    <a:pt x="346598" y="370836"/>
                  </a:cubicBezTo>
                  <a:lnTo>
                    <a:pt x="353235" y="366602"/>
                  </a:lnTo>
                  <a:lnTo>
                    <a:pt x="367430" y="380684"/>
                  </a:lnTo>
                  <a:lnTo>
                    <a:pt x="381257" y="366878"/>
                  </a:lnTo>
                  <a:lnTo>
                    <a:pt x="367154" y="352704"/>
                  </a:lnTo>
                  <a:lnTo>
                    <a:pt x="371394" y="346078"/>
                  </a:lnTo>
                  <a:cubicBezTo>
                    <a:pt x="376095" y="338622"/>
                    <a:pt x="379505" y="330431"/>
                    <a:pt x="381441" y="321779"/>
                  </a:cubicBezTo>
                  <a:lnTo>
                    <a:pt x="383192" y="314140"/>
                  </a:lnTo>
                  <a:lnTo>
                    <a:pt x="403102" y="314140"/>
                  </a:lnTo>
                  <a:lnTo>
                    <a:pt x="403102" y="294536"/>
                  </a:lnTo>
                  <a:lnTo>
                    <a:pt x="383192" y="294536"/>
                  </a:lnTo>
                  <a:lnTo>
                    <a:pt x="381441" y="286897"/>
                  </a:lnTo>
                  <a:cubicBezTo>
                    <a:pt x="379505" y="278337"/>
                    <a:pt x="376095" y="270146"/>
                    <a:pt x="371394" y="262599"/>
                  </a:cubicBezTo>
                  <a:lnTo>
                    <a:pt x="367154" y="255972"/>
                  </a:lnTo>
                  <a:lnTo>
                    <a:pt x="381257" y="241890"/>
                  </a:lnTo>
                  <a:lnTo>
                    <a:pt x="367430" y="227992"/>
                  </a:lnTo>
                  <a:lnTo>
                    <a:pt x="353235" y="242074"/>
                  </a:lnTo>
                  <a:lnTo>
                    <a:pt x="346598" y="237932"/>
                  </a:lnTo>
                  <a:cubicBezTo>
                    <a:pt x="339132" y="233146"/>
                    <a:pt x="330928" y="229833"/>
                    <a:pt x="322264" y="227808"/>
                  </a:cubicBezTo>
                  <a:lnTo>
                    <a:pt x="314613" y="226059"/>
                  </a:lnTo>
                  <a:lnTo>
                    <a:pt x="314613" y="206179"/>
                  </a:lnTo>
                  <a:close/>
                  <a:moveTo>
                    <a:pt x="275346" y="186575"/>
                  </a:moveTo>
                  <a:lnTo>
                    <a:pt x="334339" y="186575"/>
                  </a:lnTo>
                  <a:lnTo>
                    <a:pt x="334339" y="210781"/>
                  </a:lnTo>
                  <a:cubicBezTo>
                    <a:pt x="339777" y="212438"/>
                    <a:pt x="345123" y="214646"/>
                    <a:pt x="350193" y="217316"/>
                  </a:cubicBezTo>
                  <a:lnTo>
                    <a:pt x="367338" y="200196"/>
                  </a:lnTo>
                  <a:lnTo>
                    <a:pt x="409094" y="241890"/>
                  </a:lnTo>
                  <a:lnTo>
                    <a:pt x="391949" y="259009"/>
                  </a:lnTo>
                  <a:cubicBezTo>
                    <a:pt x="394622" y="264071"/>
                    <a:pt x="396834" y="269410"/>
                    <a:pt x="398586" y="274932"/>
                  </a:cubicBezTo>
                  <a:lnTo>
                    <a:pt x="422828" y="274932"/>
                  </a:lnTo>
                  <a:lnTo>
                    <a:pt x="422828" y="333836"/>
                  </a:lnTo>
                  <a:lnTo>
                    <a:pt x="398586" y="333836"/>
                  </a:lnTo>
                  <a:cubicBezTo>
                    <a:pt x="396834" y="339267"/>
                    <a:pt x="394622" y="344605"/>
                    <a:pt x="391949" y="349667"/>
                  </a:cubicBezTo>
                  <a:lnTo>
                    <a:pt x="409094" y="366786"/>
                  </a:lnTo>
                  <a:lnTo>
                    <a:pt x="367338" y="408480"/>
                  </a:lnTo>
                  <a:lnTo>
                    <a:pt x="350193" y="391360"/>
                  </a:lnTo>
                  <a:cubicBezTo>
                    <a:pt x="345123" y="394030"/>
                    <a:pt x="339777" y="396238"/>
                    <a:pt x="334339" y="397987"/>
                  </a:cubicBezTo>
                  <a:lnTo>
                    <a:pt x="334339" y="422193"/>
                  </a:lnTo>
                  <a:lnTo>
                    <a:pt x="275346" y="422193"/>
                  </a:lnTo>
                  <a:lnTo>
                    <a:pt x="275346" y="397987"/>
                  </a:lnTo>
                  <a:cubicBezTo>
                    <a:pt x="269816" y="396238"/>
                    <a:pt x="264469" y="394030"/>
                    <a:pt x="259400" y="391360"/>
                  </a:cubicBezTo>
                  <a:lnTo>
                    <a:pt x="242255" y="408480"/>
                  </a:lnTo>
                  <a:lnTo>
                    <a:pt x="200499" y="366786"/>
                  </a:lnTo>
                  <a:lnTo>
                    <a:pt x="217644" y="349667"/>
                  </a:lnTo>
                  <a:cubicBezTo>
                    <a:pt x="214971" y="344605"/>
                    <a:pt x="212759" y="339267"/>
                    <a:pt x="211099" y="333836"/>
                  </a:cubicBezTo>
                  <a:lnTo>
                    <a:pt x="186857" y="333836"/>
                  </a:lnTo>
                  <a:lnTo>
                    <a:pt x="186857" y="274932"/>
                  </a:lnTo>
                  <a:lnTo>
                    <a:pt x="211099" y="274932"/>
                  </a:lnTo>
                  <a:cubicBezTo>
                    <a:pt x="212759" y="269410"/>
                    <a:pt x="214971" y="264071"/>
                    <a:pt x="217644" y="259009"/>
                  </a:cubicBezTo>
                  <a:lnTo>
                    <a:pt x="200499" y="241890"/>
                  </a:lnTo>
                  <a:lnTo>
                    <a:pt x="242255" y="200196"/>
                  </a:lnTo>
                  <a:lnTo>
                    <a:pt x="259400" y="217316"/>
                  </a:lnTo>
                  <a:cubicBezTo>
                    <a:pt x="264469" y="214646"/>
                    <a:pt x="269816" y="212438"/>
                    <a:pt x="275346" y="210781"/>
                  </a:cubicBezTo>
                  <a:close/>
                  <a:moveTo>
                    <a:pt x="181050" y="166865"/>
                  </a:moveTo>
                  <a:lnTo>
                    <a:pt x="167131" y="180764"/>
                  </a:lnTo>
                  <a:lnTo>
                    <a:pt x="167131" y="441811"/>
                  </a:lnTo>
                  <a:lnTo>
                    <a:pt x="442461" y="441811"/>
                  </a:lnTo>
                  <a:lnTo>
                    <a:pt x="442461" y="166865"/>
                  </a:lnTo>
                  <a:close/>
                  <a:moveTo>
                    <a:pt x="176994" y="127653"/>
                  </a:moveTo>
                  <a:lnTo>
                    <a:pt x="196627" y="127653"/>
                  </a:lnTo>
                  <a:lnTo>
                    <a:pt x="196627" y="147259"/>
                  </a:lnTo>
                  <a:lnTo>
                    <a:pt x="216353" y="147259"/>
                  </a:lnTo>
                  <a:lnTo>
                    <a:pt x="216353" y="127653"/>
                  </a:lnTo>
                  <a:lnTo>
                    <a:pt x="235986" y="127653"/>
                  </a:lnTo>
                  <a:lnTo>
                    <a:pt x="235986" y="147259"/>
                  </a:lnTo>
                  <a:lnTo>
                    <a:pt x="255620" y="147259"/>
                  </a:lnTo>
                  <a:lnTo>
                    <a:pt x="255620" y="127653"/>
                  </a:lnTo>
                  <a:lnTo>
                    <a:pt x="275346" y="127653"/>
                  </a:lnTo>
                  <a:lnTo>
                    <a:pt x="275346" y="147259"/>
                  </a:lnTo>
                  <a:lnTo>
                    <a:pt x="294979" y="147259"/>
                  </a:lnTo>
                  <a:lnTo>
                    <a:pt x="294979" y="127653"/>
                  </a:lnTo>
                  <a:lnTo>
                    <a:pt x="314613" y="127653"/>
                  </a:lnTo>
                  <a:lnTo>
                    <a:pt x="314613" y="147259"/>
                  </a:lnTo>
                  <a:lnTo>
                    <a:pt x="334338" y="147259"/>
                  </a:lnTo>
                  <a:lnTo>
                    <a:pt x="334338" y="127653"/>
                  </a:lnTo>
                  <a:lnTo>
                    <a:pt x="353972" y="127653"/>
                  </a:lnTo>
                  <a:lnTo>
                    <a:pt x="353972" y="147259"/>
                  </a:lnTo>
                  <a:lnTo>
                    <a:pt x="373605" y="147259"/>
                  </a:lnTo>
                  <a:lnTo>
                    <a:pt x="373605" y="127653"/>
                  </a:lnTo>
                  <a:lnTo>
                    <a:pt x="393331" y="127653"/>
                  </a:lnTo>
                  <a:lnTo>
                    <a:pt x="393331" y="147259"/>
                  </a:lnTo>
                  <a:lnTo>
                    <a:pt x="412964" y="147259"/>
                  </a:lnTo>
                  <a:lnTo>
                    <a:pt x="412964" y="127653"/>
                  </a:lnTo>
                  <a:lnTo>
                    <a:pt x="432598" y="127653"/>
                  </a:lnTo>
                  <a:lnTo>
                    <a:pt x="432598" y="147259"/>
                  </a:lnTo>
                  <a:lnTo>
                    <a:pt x="462094" y="147259"/>
                  </a:lnTo>
                  <a:lnTo>
                    <a:pt x="462094" y="176714"/>
                  </a:lnTo>
                  <a:lnTo>
                    <a:pt x="481820" y="176714"/>
                  </a:lnTo>
                  <a:lnTo>
                    <a:pt x="481820" y="196320"/>
                  </a:lnTo>
                  <a:lnTo>
                    <a:pt x="462094" y="196320"/>
                  </a:lnTo>
                  <a:lnTo>
                    <a:pt x="462094" y="216018"/>
                  </a:lnTo>
                  <a:lnTo>
                    <a:pt x="481820" y="216018"/>
                  </a:lnTo>
                  <a:lnTo>
                    <a:pt x="481820" y="235624"/>
                  </a:lnTo>
                  <a:lnTo>
                    <a:pt x="462094" y="235624"/>
                  </a:lnTo>
                  <a:lnTo>
                    <a:pt x="462094" y="255230"/>
                  </a:lnTo>
                  <a:lnTo>
                    <a:pt x="481820" y="255230"/>
                  </a:lnTo>
                  <a:lnTo>
                    <a:pt x="481820" y="274929"/>
                  </a:lnTo>
                  <a:lnTo>
                    <a:pt x="462094" y="274929"/>
                  </a:lnTo>
                  <a:lnTo>
                    <a:pt x="462094" y="294535"/>
                  </a:lnTo>
                  <a:lnTo>
                    <a:pt x="481820" y="294535"/>
                  </a:lnTo>
                  <a:lnTo>
                    <a:pt x="481820" y="314141"/>
                  </a:lnTo>
                  <a:lnTo>
                    <a:pt x="462094" y="314141"/>
                  </a:lnTo>
                  <a:lnTo>
                    <a:pt x="462094" y="333839"/>
                  </a:lnTo>
                  <a:lnTo>
                    <a:pt x="481820" y="333839"/>
                  </a:lnTo>
                  <a:lnTo>
                    <a:pt x="481820" y="353446"/>
                  </a:lnTo>
                  <a:lnTo>
                    <a:pt x="462094" y="353446"/>
                  </a:lnTo>
                  <a:lnTo>
                    <a:pt x="462094" y="373052"/>
                  </a:lnTo>
                  <a:lnTo>
                    <a:pt x="481820" y="373052"/>
                  </a:lnTo>
                  <a:lnTo>
                    <a:pt x="481820" y="392750"/>
                  </a:lnTo>
                  <a:lnTo>
                    <a:pt x="462094" y="392750"/>
                  </a:lnTo>
                  <a:lnTo>
                    <a:pt x="462094" y="412356"/>
                  </a:lnTo>
                  <a:lnTo>
                    <a:pt x="481820" y="412356"/>
                  </a:lnTo>
                  <a:lnTo>
                    <a:pt x="481820" y="431962"/>
                  </a:lnTo>
                  <a:lnTo>
                    <a:pt x="462094" y="431962"/>
                  </a:lnTo>
                  <a:lnTo>
                    <a:pt x="462094" y="461417"/>
                  </a:lnTo>
                  <a:lnTo>
                    <a:pt x="432598" y="461417"/>
                  </a:lnTo>
                  <a:lnTo>
                    <a:pt x="432598" y="481115"/>
                  </a:lnTo>
                  <a:lnTo>
                    <a:pt x="412964" y="481115"/>
                  </a:lnTo>
                  <a:lnTo>
                    <a:pt x="412964" y="461417"/>
                  </a:lnTo>
                  <a:lnTo>
                    <a:pt x="393331" y="461417"/>
                  </a:lnTo>
                  <a:lnTo>
                    <a:pt x="393331" y="481115"/>
                  </a:lnTo>
                  <a:lnTo>
                    <a:pt x="373605" y="481115"/>
                  </a:lnTo>
                  <a:lnTo>
                    <a:pt x="373605" y="461417"/>
                  </a:lnTo>
                  <a:lnTo>
                    <a:pt x="353972" y="461417"/>
                  </a:lnTo>
                  <a:lnTo>
                    <a:pt x="353972" y="481115"/>
                  </a:lnTo>
                  <a:lnTo>
                    <a:pt x="334338" y="481115"/>
                  </a:lnTo>
                  <a:lnTo>
                    <a:pt x="334338" y="461417"/>
                  </a:lnTo>
                  <a:lnTo>
                    <a:pt x="314613" y="461417"/>
                  </a:lnTo>
                  <a:lnTo>
                    <a:pt x="314613" y="481115"/>
                  </a:lnTo>
                  <a:lnTo>
                    <a:pt x="294979" y="481115"/>
                  </a:lnTo>
                  <a:lnTo>
                    <a:pt x="294979" y="461417"/>
                  </a:lnTo>
                  <a:lnTo>
                    <a:pt x="275346" y="461417"/>
                  </a:lnTo>
                  <a:lnTo>
                    <a:pt x="275346" y="481115"/>
                  </a:lnTo>
                  <a:lnTo>
                    <a:pt x="255620" y="481115"/>
                  </a:lnTo>
                  <a:lnTo>
                    <a:pt x="255620" y="461417"/>
                  </a:lnTo>
                  <a:lnTo>
                    <a:pt x="235986" y="461417"/>
                  </a:lnTo>
                  <a:lnTo>
                    <a:pt x="235986" y="481115"/>
                  </a:lnTo>
                  <a:lnTo>
                    <a:pt x="216353" y="481115"/>
                  </a:lnTo>
                  <a:lnTo>
                    <a:pt x="216353" y="461417"/>
                  </a:lnTo>
                  <a:lnTo>
                    <a:pt x="196627" y="461417"/>
                  </a:lnTo>
                  <a:lnTo>
                    <a:pt x="196627" y="481115"/>
                  </a:lnTo>
                  <a:lnTo>
                    <a:pt x="176994" y="481115"/>
                  </a:lnTo>
                  <a:lnTo>
                    <a:pt x="176994" y="461417"/>
                  </a:lnTo>
                  <a:lnTo>
                    <a:pt x="147497" y="461417"/>
                  </a:lnTo>
                  <a:lnTo>
                    <a:pt x="147497" y="431962"/>
                  </a:lnTo>
                  <a:lnTo>
                    <a:pt x="127864" y="431962"/>
                  </a:lnTo>
                  <a:lnTo>
                    <a:pt x="127864" y="412356"/>
                  </a:lnTo>
                  <a:lnTo>
                    <a:pt x="147497" y="412356"/>
                  </a:lnTo>
                  <a:lnTo>
                    <a:pt x="147497" y="392750"/>
                  </a:lnTo>
                  <a:lnTo>
                    <a:pt x="127864" y="392750"/>
                  </a:lnTo>
                  <a:lnTo>
                    <a:pt x="127864" y="373052"/>
                  </a:lnTo>
                  <a:lnTo>
                    <a:pt x="147497" y="373052"/>
                  </a:lnTo>
                  <a:lnTo>
                    <a:pt x="147497" y="353446"/>
                  </a:lnTo>
                  <a:lnTo>
                    <a:pt x="127864" y="353446"/>
                  </a:lnTo>
                  <a:lnTo>
                    <a:pt x="127864" y="333839"/>
                  </a:lnTo>
                  <a:lnTo>
                    <a:pt x="147497" y="333839"/>
                  </a:lnTo>
                  <a:lnTo>
                    <a:pt x="147497" y="314141"/>
                  </a:lnTo>
                  <a:lnTo>
                    <a:pt x="127864" y="314141"/>
                  </a:lnTo>
                  <a:lnTo>
                    <a:pt x="127864" y="294535"/>
                  </a:lnTo>
                  <a:lnTo>
                    <a:pt x="147497" y="294535"/>
                  </a:lnTo>
                  <a:lnTo>
                    <a:pt x="147497" y="274929"/>
                  </a:lnTo>
                  <a:lnTo>
                    <a:pt x="127864" y="274929"/>
                  </a:lnTo>
                  <a:lnTo>
                    <a:pt x="127864" y="255230"/>
                  </a:lnTo>
                  <a:lnTo>
                    <a:pt x="147497" y="255230"/>
                  </a:lnTo>
                  <a:lnTo>
                    <a:pt x="147497" y="235624"/>
                  </a:lnTo>
                  <a:lnTo>
                    <a:pt x="127864" y="235624"/>
                  </a:lnTo>
                  <a:lnTo>
                    <a:pt x="127864" y="216018"/>
                  </a:lnTo>
                  <a:lnTo>
                    <a:pt x="147497" y="216018"/>
                  </a:lnTo>
                  <a:lnTo>
                    <a:pt x="147497" y="196320"/>
                  </a:lnTo>
                  <a:lnTo>
                    <a:pt x="127864" y="196320"/>
                  </a:lnTo>
                  <a:lnTo>
                    <a:pt x="127864" y="176714"/>
                  </a:lnTo>
                  <a:lnTo>
                    <a:pt x="147497" y="176714"/>
                  </a:lnTo>
                  <a:lnTo>
                    <a:pt x="147497" y="172664"/>
                  </a:lnTo>
                  <a:lnTo>
                    <a:pt x="172938" y="147259"/>
                  </a:lnTo>
                  <a:lnTo>
                    <a:pt x="176994" y="147259"/>
                  </a:lnTo>
                  <a:close/>
                  <a:moveTo>
                    <a:pt x="481832" y="98229"/>
                  </a:moveTo>
                  <a:cubicBezTo>
                    <a:pt x="476391" y="98229"/>
                    <a:pt x="471965" y="102554"/>
                    <a:pt x="471965" y="107982"/>
                  </a:cubicBezTo>
                  <a:cubicBezTo>
                    <a:pt x="471965" y="113411"/>
                    <a:pt x="476391" y="117827"/>
                    <a:pt x="481832" y="117827"/>
                  </a:cubicBezTo>
                  <a:cubicBezTo>
                    <a:pt x="487272" y="117827"/>
                    <a:pt x="491606" y="113411"/>
                    <a:pt x="491606" y="107982"/>
                  </a:cubicBezTo>
                  <a:cubicBezTo>
                    <a:pt x="491606" y="102554"/>
                    <a:pt x="487272" y="98229"/>
                    <a:pt x="481832" y="98229"/>
                  </a:cubicBezTo>
                  <a:close/>
                  <a:moveTo>
                    <a:pt x="49113" y="98229"/>
                  </a:moveTo>
                  <a:cubicBezTo>
                    <a:pt x="43675" y="98229"/>
                    <a:pt x="39343" y="102554"/>
                    <a:pt x="39343" y="107982"/>
                  </a:cubicBezTo>
                  <a:cubicBezTo>
                    <a:pt x="39343" y="113411"/>
                    <a:pt x="43675" y="117827"/>
                    <a:pt x="49113" y="117827"/>
                  </a:cubicBezTo>
                  <a:cubicBezTo>
                    <a:pt x="54552" y="117827"/>
                    <a:pt x="58976" y="113411"/>
                    <a:pt x="58976" y="107982"/>
                  </a:cubicBezTo>
                  <a:cubicBezTo>
                    <a:pt x="58976" y="102554"/>
                    <a:pt x="54552" y="98229"/>
                    <a:pt x="49113" y="98229"/>
                  </a:cubicBezTo>
                  <a:close/>
                  <a:moveTo>
                    <a:pt x="481832" y="78539"/>
                  </a:moveTo>
                  <a:cubicBezTo>
                    <a:pt x="494649" y="78539"/>
                    <a:pt x="505438" y="86820"/>
                    <a:pt x="509495" y="98229"/>
                  </a:cubicBezTo>
                  <a:lnTo>
                    <a:pt x="515397" y="98229"/>
                  </a:lnTo>
                  <a:lnTo>
                    <a:pt x="550622" y="133377"/>
                  </a:lnTo>
                  <a:lnTo>
                    <a:pt x="550622" y="161165"/>
                  </a:lnTo>
                  <a:lnTo>
                    <a:pt x="515397" y="196313"/>
                  </a:lnTo>
                  <a:lnTo>
                    <a:pt x="501473" y="196313"/>
                  </a:lnTo>
                  <a:lnTo>
                    <a:pt x="501473" y="176714"/>
                  </a:lnTo>
                  <a:lnTo>
                    <a:pt x="507282" y="176714"/>
                  </a:lnTo>
                  <a:lnTo>
                    <a:pt x="530981" y="153068"/>
                  </a:lnTo>
                  <a:lnTo>
                    <a:pt x="530981" y="141474"/>
                  </a:lnTo>
                  <a:lnTo>
                    <a:pt x="508942" y="119576"/>
                  </a:lnTo>
                  <a:cubicBezTo>
                    <a:pt x="504424" y="130065"/>
                    <a:pt x="494004" y="137426"/>
                    <a:pt x="481832" y="137426"/>
                  </a:cubicBezTo>
                  <a:cubicBezTo>
                    <a:pt x="465510" y="137426"/>
                    <a:pt x="452324" y="124268"/>
                    <a:pt x="452324" y="107982"/>
                  </a:cubicBezTo>
                  <a:cubicBezTo>
                    <a:pt x="452324" y="91788"/>
                    <a:pt x="465510" y="78539"/>
                    <a:pt x="481832" y="78539"/>
                  </a:cubicBezTo>
                  <a:close/>
                  <a:moveTo>
                    <a:pt x="49113" y="78539"/>
                  </a:moveTo>
                  <a:cubicBezTo>
                    <a:pt x="65428" y="78539"/>
                    <a:pt x="78610" y="91788"/>
                    <a:pt x="78610" y="107982"/>
                  </a:cubicBezTo>
                  <a:cubicBezTo>
                    <a:pt x="78610" y="120772"/>
                    <a:pt x="70406" y="131629"/>
                    <a:pt x="58976" y="135678"/>
                  </a:cubicBezTo>
                  <a:lnTo>
                    <a:pt x="58976" y="153068"/>
                  </a:lnTo>
                  <a:lnTo>
                    <a:pt x="82665" y="176714"/>
                  </a:lnTo>
                  <a:lnTo>
                    <a:pt x="108106" y="176714"/>
                  </a:lnTo>
                  <a:lnTo>
                    <a:pt x="108106" y="196313"/>
                  </a:lnTo>
                  <a:lnTo>
                    <a:pt x="74554" y="196313"/>
                  </a:lnTo>
                  <a:lnTo>
                    <a:pt x="39343" y="161165"/>
                  </a:lnTo>
                  <a:lnTo>
                    <a:pt x="39343" y="135678"/>
                  </a:lnTo>
                  <a:cubicBezTo>
                    <a:pt x="27913" y="131629"/>
                    <a:pt x="19617" y="120772"/>
                    <a:pt x="19617" y="107982"/>
                  </a:cubicBezTo>
                  <a:cubicBezTo>
                    <a:pt x="19617" y="91788"/>
                    <a:pt x="32890" y="78539"/>
                    <a:pt x="49113" y="78539"/>
                  </a:cubicBezTo>
                  <a:close/>
                  <a:moveTo>
                    <a:pt x="255588" y="68731"/>
                  </a:moveTo>
                  <a:lnTo>
                    <a:pt x="275346" y="68731"/>
                  </a:lnTo>
                  <a:lnTo>
                    <a:pt x="275346" y="107965"/>
                  </a:lnTo>
                  <a:lnTo>
                    <a:pt x="255588" y="107965"/>
                  </a:lnTo>
                  <a:close/>
                  <a:moveTo>
                    <a:pt x="0" y="39305"/>
                  </a:moveTo>
                  <a:lnTo>
                    <a:pt x="161387" y="39305"/>
                  </a:lnTo>
                  <a:lnTo>
                    <a:pt x="196595" y="74463"/>
                  </a:lnTo>
                  <a:lnTo>
                    <a:pt x="196595" y="107965"/>
                  </a:lnTo>
                  <a:lnTo>
                    <a:pt x="176963" y="107965"/>
                  </a:lnTo>
                  <a:lnTo>
                    <a:pt x="176963" y="82562"/>
                  </a:lnTo>
                  <a:lnTo>
                    <a:pt x="153276" y="58909"/>
                  </a:lnTo>
                  <a:lnTo>
                    <a:pt x="0" y="58909"/>
                  </a:lnTo>
                  <a:close/>
                  <a:moveTo>
                    <a:pt x="304836" y="19605"/>
                  </a:moveTo>
                  <a:cubicBezTo>
                    <a:pt x="299399" y="19605"/>
                    <a:pt x="294975" y="24023"/>
                    <a:pt x="294975" y="29453"/>
                  </a:cubicBezTo>
                  <a:cubicBezTo>
                    <a:pt x="294975" y="34884"/>
                    <a:pt x="299399" y="39302"/>
                    <a:pt x="304836" y="39302"/>
                  </a:cubicBezTo>
                  <a:cubicBezTo>
                    <a:pt x="310274" y="39302"/>
                    <a:pt x="314605" y="34884"/>
                    <a:pt x="314605" y="29453"/>
                  </a:cubicBezTo>
                  <a:cubicBezTo>
                    <a:pt x="314605" y="24023"/>
                    <a:pt x="310274" y="19605"/>
                    <a:pt x="304836" y="19605"/>
                  </a:cubicBezTo>
                  <a:close/>
                  <a:moveTo>
                    <a:pt x="580109" y="19604"/>
                  </a:moveTo>
                  <a:cubicBezTo>
                    <a:pt x="574670" y="19604"/>
                    <a:pt x="570336" y="24022"/>
                    <a:pt x="570336" y="29452"/>
                  </a:cubicBezTo>
                  <a:cubicBezTo>
                    <a:pt x="570336" y="34882"/>
                    <a:pt x="574670" y="39300"/>
                    <a:pt x="580109" y="39300"/>
                  </a:cubicBezTo>
                  <a:cubicBezTo>
                    <a:pt x="585549" y="39300"/>
                    <a:pt x="589975" y="34882"/>
                    <a:pt x="589975" y="29452"/>
                  </a:cubicBezTo>
                  <a:cubicBezTo>
                    <a:pt x="589975" y="24022"/>
                    <a:pt x="585549" y="19604"/>
                    <a:pt x="580109" y="19604"/>
                  </a:cubicBezTo>
                  <a:close/>
                  <a:moveTo>
                    <a:pt x="580109" y="0"/>
                  </a:moveTo>
                  <a:cubicBezTo>
                    <a:pt x="596429" y="0"/>
                    <a:pt x="609614" y="13253"/>
                    <a:pt x="609614" y="29452"/>
                  </a:cubicBezTo>
                  <a:cubicBezTo>
                    <a:pt x="609614" y="42245"/>
                    <a:pt x="601408" y="53014"/>
                    <a:pt x="589975" y="57063"/>
                  </a:cubicBezTo>
                  <a:lnTo>
                    <a:pt x="589975" y="200367"/>
                  </a:lnTo>
                  <a:lnTo>
                    <a:pt x="554662" y="235618"/>
                  </a:lnTo>
                  <a:lnTo>
                    <a:pt x="501462" y="235618"/>
                  </a:lnTo>
                  <a:lnTo>
                    <a:pt x="501462" y="216014"/>
                  </a:lnTo>
                  <a:lnTo>
                    <a:pt x="546548" y="216014"/>
                  </a:lnTo>
                  <a:lnTo>
                    <a:pt x="570336" y="192268"/>
                  </a:lnTo>
                  <a:lnTo>
                    <a:pt x="570336" y="57063"/>
                  </a:lnTo>
                  <a:cubicBezTo>
                    <a:pt x="561946" y="54118"/>
                    <a:pt x="555399" y="47584"/>
                    <a:pt x="552449" y="39300"/>
                  </a:cubicBezTo>
                  <a:lnTo>
                    <a:pt x="456375" y="39300"/>
                  </a:lnTo>
                  <a:lnTo>
                    <a:pt x="432587" y="62954"/>
                  </a:lnTo>
                  <a:lnTo>
                    <a:pt x="432587" y="107961"/>
                  </a:lnTo>
                  <a:lnTo>
                    <a:pt x="412948" y="107961"/>
                  </a:lnTo>
                  <a:lnTo>
                    <a:pt x="412948" y="54855"/>
                  </a:lnTo>
                  <a:lnTo>
                    <a:pt x="448261" y="19604"/>
                  </a:lnTo>
                  <a:lnTo>
                    <a:pt x="552449" y="19604"/>
                  </a:lnTo>
                  <a:cubicBezTo>
                    <a:pt x="556506" y="8191"/>
                    <a:pt x="567293" y="0"/>
                    <a:pt x="580109" y="0"/>
                  </a:cubicBezTo>
                  <a:close/>
                  <a:moveTo>
                    <a:pt x="373643" y="0"/>
                  </a:moveTo>
                  <a:lnTo>
                    <a:pt x="393331" y="0"/>
                  </a:lnTo>
                  <a:lnTo>
                    <a:pt x="393331" y="107965"/>
                  </a:lnTo>
                  <a:lnTo>
                    <a:pt x="373643" y="107965"/>
                  </a:lnTo>
                  <a:close/>
                  <a:moveTo>
                    <a:pt x="304836" y="0"/>
                  </a:moveTo>
                  <a:cubicBezTo>
                    <a:pt x="321056" y="0"/>
                    <a:pt x="334327" y="13254"/>
                    <a:pt x="334327" y="29453"/>
                  </a:cubicBezTo>
                  <a:cubicBezTo>
                    <a:pt x="334327" y="39025"/>
                    <a:pt x="329627" y="47493"/>
                    <a:pt x="322530" y="52832"/>
                  </a:cubicBezTo>
                  <a:lnTo>
                    <a:pt x="353956" y="84310"/>
                  </a:lnTo>
                  <a:lnTo>
                    <a:pt x="353956" y="107965"/>
                  </a:lnTo>
                  <a:lnTo>
                    <a:pt x="334327" y="107965"/>
                  </a:lnTo>
                  <a:lnTo>
                    <a:pt x="334327" y="92410"/>
                  </a:lnTo>
                  <a:lnTo>
                    <a:pt x="314605" y="72805"/>
                  </a:lnTo>
                  <a:lnTo>
                    <a:pt x="314605" y="107965"/>
                  </a:lnTo>
                  <a:lnTo>
                    <a:pt x="294975" y="107965"/>
                  </a:lnTo>
                  <a:lnTo>
                    <a:pt x="294975" y="57066"/>
                  </a:lnTo>
                  <a:cubicBezTo>
                    <a:pt x="283548" y="53016"/>
                    <a:pt x="275346" y="42247"/>
                    <a:pt x="275346" y="29453"/>
                  </a:cubicBezTo>
                  <a:cubicBezTo>
                    <a:pt x="275346" y="13254"/>
                    <a:pt x="288524" y="0"/>
                    <a:pt x="304836" y="0"/>
                  </a:cubicBezTo>
                  <a:close/>
                  <a:moveTo>
                    <a:pt x="0" y="0"/>
                  </a:moveTo>
                  <a:lnTo>
                    <a:pt x="200668" y="0"/>
                  </a:lnTo>
                  <a:lnTo>
                    <a:pt x="235971" y="35252"/>
                  </a:lnTo>
                  <a:lnTo>
                    <a:pt x="235971" y="107965"/>
                  </a:lnTo>
                  <a:lnTo>
                    <a:pt x="216337" y="107965"/>
                  </a:lnTo>
                  <a:lnTo>
                    <a:pt x="216337" y="43351"/>
                  </a:lnTo>
                  <a:lnTo>
                    <a:pt x="192556" y="19605"/>
                  </a:lnTo>
                  <a:lnTo>
                    <a:pt x="0" y="19605"/>
                  </a:lnTo>
                  <a:close/>
                </a:path>
              </a:pathLst>
            </a:custGeom>
            <a:solidFill>
              <a:srgbClr val="FFFFFF"/>
            </a:solidFill>
            <a:ln>
              <a:noFill/>
            </a:ln>
            <a:effectLst>
              <a:outerShdw blurRad="50800" dist="38100" dir="2700000" algn="tl" rotWithShape="0">
                <a:prstClr val="black">
                  <a:alpha val="40000"/>
                </a:prstClr>
              </a:outerShdw>
            </a:effectLst>
          </p:spPr>
          <p:txBody>
            <a:body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Helvetica"/>
                <a:sym typeface="+mn-lt"/>
              </a:endParaRPr>
            </a:p>
          </p:txBody>
        </p:sp>
      </p:grpSp>
      <p:sp>
        <p:nvSpPr>
          <p:cNvPr id="35" name="文本框 34"/>
          <p:cNvSpPr txBox="1"/>
          <p:nvPr/>
        </p:nvSpPr>
        <p:spPr>
          <a:xfrm>
            <a:off x="327004" y="5121705"/>
            <a:ext cx="6148265" cy="737235"/>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400" b="1"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模型</a:t>
            </a:r>
            <a:r>
              <a:rPr kumimoji="0" lang="zh-CN" altLang="en-US" sz="1400" b="0" i="0" u="none" strike="noStrike" kern="1200" cap="none" spc="0" normalizeH="0" baseline="0" noProof="0">
                <a:ln>
                  <a:noFill/>
                </a:ln>
                <a:solidFill>
                  <a:srgbClr val="1D1D1A"/>
                </a:solidFill>
                <a:effectLst/>
                <a:uLnTx/>
                <a:uFillTx/>
                <a:latin typeface="微软雅黑" panose="020B0503020204020204" pitchFamily="34" charset="-122"/>
                <a:ea typeface="微软雅黑" panose="020B0503020204020204" pitchFamily="34" charset="-122"/>
                <a:cs typeface="+mn-cs"/>
              </a:rPr>
              <a:t>：</a:t>
            </a:r>
            <a:r>
              <a:rPr kumimoji="0" lang="zh-CN" altLang="en-US" sz="1400" b="1" i="0" u="none" strike="noStrike" kern="1200" cap="none" spc="0" normalizeH="0" baseline="0" noProof="0">
                <a:ln>
                  <a:noFill/>
                </a:ln>
                <a:solidFill>
                  <a:srgbClr val="1D1D1A"/>
                </a:solidFill>
                <a:effectLst/>
                <a:uLnTx/>
                <a:uFillTx/>
                <a:latin typeface="微软雅黑" panose="020B0503020204020204" pitchFamily="34" charset="-122"/>
                <a:ea typeface="微软雅黑" panose="020B0503020204020204" pitchFamily="34" charset="-122"/>
                <a:cs typeface="+mn-cs"/>
              </a:rPr>
              <a:t>算法</a:t>
            </a:r>
            <a:r>
              <a:rPr kumimoji="0" lang="zh-CN" altLang="en-US" sz="14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用</a:t>
            </a:r>
            <a:r>
              <a:rPr kumimoji="0" lang="zh-CN" altLang="en-US" sz="1400" b="1"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数据</a:t>
            </a:r>
            <a:r>
              <a:rPr kumimoji="0" lang="zh-CN" altLang="en-US" sz="14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训练后得到的具体产物</a:t>
            </a:r>
            <a:r>
              <a:rPr kumimoji="0" lang="zh-CN" altLang="en-US" sz="1400" b="0" i="0" u="none" strike="noStrike" kern="1200" cap="none" spc="0" normalizeH="0" baseline="0" noProof="0">
                <a:ln>
                  <a:noFill/>
                </a:ln>
                <a:solidFill>
                  <a:srgbClr val="1D1D1A"/>
                </a:solidFill>
                <a:effectLst/>
                <a:uLnTx/>
                <a:uFillTx/>
                <a:latin typeface="微软雅黑" panose="020B0503020204020204" pitchFamily="34" charset="-122"/>
                <a:ea typeface="微软雅黑" panose="020B0503020204020204" pitchFamily="34" charset="-122"/>
                <a:cs typeface="+mn-cs"/>
              </a:rPr>
              <a:t>，是落地后的 “成品 </a:t>
            </a:r>
            <a:r>
              <a:rPr kumimoji="0" lang="en-US" altLang="zh-CN" sz="1400" b="0" i="0" u="none" strike="noStrike" kern="1200" cap="none" spc="0" normalizeH="0" baseline="0" noProof="0">
                <a:ln>
                  <a:noFill/>
                </a:ln>
                <a:solidFill>
                  <a:srgbClr val="1D1D1A"/>
                </a:solidFill>
                <a:effectLst/>
                <a:uLnTx/>
                <a:uFillTx/>
                <a:latin typeface="微软雅黑" panose="020B0503020204020204" pitchFamily="34" charset="-122"/>
                <a:ea typeface="微软雅黑" panose="020B0503020204020204" pitchFamily="34" charset="-122"/>
                <a:cs typeface="+mn-cs"/>
              </a:rPr>
              <a:t>/ </a:t>
            </a:r>
            <a:r>
              <a:rPr kumimoji="0" lang="zh-CN" altLang="en-US" sz="1400" b="0" i="0" u="none" strike="noStrike" kern="1200" cap="none" spc="0" normalizeH="0" baseline="0" noProof="0">
                <a:ln>
                  <a:noFill/>
                </a:ln>
                <a:solidFill>
                  <a:srgbClr val="1D1D1A"/>
                </a:solidFill>
                <a:effectLst/>
                <a:uLnTx/>
                <a:uFillTx/>
                <a:latin typeface="微软雅黑" panose="020B0503020204020204" pitchFamily="34" charset="-122"/>
                <a:ea typeface="微软雅黑" panose="020B0503020204020204" pitchFamily="34" charset="-122"/>
                <a:cs typeface="+mn-cs"/>
              </a:rPr>
              <a:t>参数集合”。</a:t>
            </a:r>
            <a:endParaRPr kumimoji="0" lang="zh-CN" altLang="en-US" sz="14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1D1D1A"/>
                </a:solidFill>
                <a:effectLst/>
                <a:uLnTx/>
                <a:uFillTx/>
                <a:latin typeface="微软雅黑" panose="020B0503020204020204" pitchFamily="34" charset="-122"/>
                <a:ea typeface="微软雅黑" panose="020B0503020204020204" pitchFamily="34" charset="-122"/>
                <a:cs typeface="+mn-cs"/>
              </a:rPr>
              <a:t>特点：具象、绑定场景 </a:t>
            </a:r>
            <a:r>
              <a:rPr kumimoji="0" lang="en-US" altLang="zh-CN" sz="1400" b="0" i="0" u="none" strike="noStrike" kern="1200" cap="none" spc="0" normalizeH="0" baseline="0" noProof="0">
                <a:ln>
                  <a:noFill/>
                </a:ln>
                <a:solidFill>
                  <a:srgbClr val="1D1D1A"/>
                </a:solidFill>
                <a:effectLst/>
                <a:uLnTx/>
                <a:uFillTx/>
                <a:latin typeface="微软雅黑" panose="020B0503020204020204" pitchFamily="34" charset="-122"/>
                <a:ea typeface="微软雅黑" panose="020B0503020204020204" pitchFamily="34" charset="-122"/>
                <a:cs typeface="+mn-cs"/>
              </a:rPr>
              <a:t>/ </a:t>
            </a:r>
            <a:r>
              <a:rPr kumimoji="0" lang="zh-CN" altLang="en-US" sz="1400" b="0" i="0" u="none" strike="noStrike" kern="1200" cap="none" spc="0" normalizeH="0" baseline="0" noProof="0">
                <a:ln>
                  <a:noFill/>
                </a:ln>
                <a:solidFill>
                  <a:srgbClr val="1D1D1A"/>
                </a:solidFill>
                <a:effectLst/>
                <a:uLnTx/>
                <a:uFillTx/>
                <a:latin typeface="微软雅黑" panose="020B0503020204020204" pitchFamily="34" charset="-122"/>
                <a:ea typeface="微软雅黑" panose="020B0503020204020204" pitchFamily="34" charset="-122"/>
                <a:cs typeface="+mn-cs"/>
              </a:rPr>
              <a:t>数据，包含权重、参数，用来直接做预测、推理。</a:t>
            </a:r>
            <a:endParaRPr kumimoji="0" lang="zh-CN" altLang="en-US" sz="1400" b="0" i="0" u="none" strike="noStrike" kern="1200" cap="none" spc="0" normalizeH="0" baseline="0" noProof="0">
              <a:ln>
                <a:noFill/>
              </a:ln>
              <a:solidFill>
                <a:srgbClr val="1D1D1A"/>
              </a:solidFill>
              <a:effectLst/>
              <a:uLnTx/>
              <a:uFillTx/>
              <a:latin typeface="微软雅黑" panose="020B0503020204020204" pitchFamily="34" charset="-122"/>
              <a:ea typeface="微软雅黑" panose="020B0503020204020204" pitchFamily="34" charset="-122"/>
              <a:cs typeface="+mn-cs"/>
            </a:endParaRPr>
          </a:p>
        </p:txBody>
      </p:sp>
      <p:sp>
        <p:nvSpPr>
          <p:cNvPr id="37" name="文本框 36"/>
          <p:cNvSpPr txBox="1"/>
          <p:nvPr/>
        </p:nvSpPr>
        <p:spPr>
          <a:xfrm>
            <a:off x="6942472" y="4970701"/>
            <a:ext cx="4927287" cy="1023742"/>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zh-CN" altLang="en-US" sz="14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用 </a:t>
            </a:r>
            <a:r>
              <a:rPr kumimoji="0" lang="en-US" altLang="zh-CN" sz="14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Transformer </a:t>
            </a:r>
            <a:r>
              <a:rPr kumimoji="0" lang="zh-CN" altLang="en-US" sz="14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算法 </a:t>
            </a:r>
            <a:r>
              <a:rPr kumimoji="0" lang="en-US" altLang="zh-CN" sz="14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 </a:t>
            </a:r>
            <a:r>
              <a:rPr kumimoji="0" lang="zh-CN" altLang="en-US" sz="14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海量文本训练 → 大语言模型</a:t>
            </a:r>
            <a:endParaRPr kumimoji="0" lang="zh-CN" altLang="en-US" sz="14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zh-CN" altLang="en-US" sz="14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用 </a:t>
            </a:r>
            <a:r>
              <a:rPr kumimoji="0" lang="en-US" altLang="zh-CN" sz="14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CNN </a:t>
            </a:r>
            <a:r>
              <a:rPr kumimoji="0" lang="zh-CN" altLang="en-US" sz="14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算法 </a:t>
            </a:r>
            <a:r>
              <a:rPr kumimoji="0" lang="en-US" altLang="zh-CN" sz="14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 </a:t>
            </a:r>
            <a:r>
              <a:rPr kumimoji="0" lang="zh-CN" altLang="en-US" sz="14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图片数据集训练 → 图像分类模型</a:t>
            </a:r>
            <a:endParaRPr kumimoji="0" lang="zh-CN" altLang="en-US" sz="14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zh-CN" altLang="en-US" sz="14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用逻辑回归算法 </a:t>
            </a:r>
            <a:r>
              <a:rPr kumimoji="0" lang="en-US" altLang="zh-CN" sz="14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 </a:t>
            </a:r>
            <a:r>
              <a:rPr kumimoji="0" lang="zh-CN" altLang="en-US" sz="14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业务数据训练 → 风控评分模型</a:t>
            </a:r>
            <a:endParaRPr kumimoji="0" lang="zh-CN" altLang="en-US" sz="14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3" name="箭头: 右 2"/>
          <p:cNvSpPr/>
          <p:nvPr/>
        </p:nvSpPr>
        <p:spPr>
          <a:xfrm>
            <a:off x="6510514" y="5221347"/>
            <a:ext cx="264896" cy="522450"/>
          </a:xfrm>
          <a:prstGeom prst="rightArrow">
            <a:avLst/>
          </a:prstGeom>
          <a:solidFill>
            <a:srgbClr val="9DC3E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4294967295"/>
          </p:nvPr>
        </p:nvSpPr>
        <p:spPr>
          <a:xfrm>
            <a:off x="661988" y="420688"/>
            <a:ext cx="11534775" cy="539750"/>
          </a:xfrm>
          <a:prstGeom prst="rect">
            <a:avLst/>
          </a:prstGeom>
        </p:spPr>
        <p:txBody>
          <a:bodyPr>
            <a:normAutofit/>
          </a:bodyPr>
          <a:lstStyle/>
          <a:p>
            <a:pPr marL="0" indent="0">
              <a:lnSpc>
                <a:spcPts val="3430"/>
              </a:lnSpc>
              <a:spcBef>
                <a:spcPts val="0"/>
              </a:spcBef>
              <a:buNone/>
              <a:defRPr/>
            </a:pPr>
            <a:r>
              <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算法理论基础:  业务抽象成数据模型的表达式</a:t>
            </a:r>
            <a:endPar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0" name="矩形 19"/>
          <p:cNvSpPr/>
          <p:nvPr/>
        </p:nvSpPr>
        <p:spPr>
          <a:xfrm>
            <a:off x="848351" y="1496483"/>
            <a:ext cx="4873583" cy="1987753"/>
          </a:xfrm>
          <a:prstGeom prst="rect">
            <a:avLst/>
          </a:prstGeom>
          <a:gradFill>
            <a:gsLst>
              <a:gs pos="50000">
                <a:sysClr val="window" lastClr="FFFFFF">
                  <a:alpha val="0"/>
                </a:sysClr>
              </a:gs>
              <a:gs pos="0">
                <a:sysClr val="window" lastClr="FFFFFF">
                  <a:lumMod val="85000"/>
                  <a:alpha val="20000"/>
                </a:sysClr>
              </a:gs>
              <a:gs pos="100000">
                <a:sysClr val="window" lastClr="FFFFFF">
                  <a:lumMod val="85000"/>
                  <a:alpha val="20000"/>
                </a:sysClr>
              </a:gs>
            </a:gsLst>
            <a:lin ang="10800000" scaled="1"/>
          </a:gradFill>
          <a:ln w="9525" cap="flat" cmpd="sng" algn="ctr">
            <a:gradFill flip="none" rotWithShape="1">
              <a:gsLst>
                <a:gs pos="0">
                  <a:srgbClr val="C00000"/>
                </a:gs>
                <a:gs pos="90000">
                  <a:srgbClr val="C00000">
                    <a:alpha val="0"/>
                  </a:srgbClr>
                </a:gs>
                <a:gs pos="10000">
                  <a:srgbClr val="C00000">
                    <a:alpha val="0"/>
                  </a:srgbClr>
                </a:gs>
                <a:gs pos="100000">
                  <a:srgbClr val="C00000"/>
                </a:gs>
              </a:gsLst>
              <a:lin ang="10800000" scaled="1"/>
              <a:tileRect/>
            </a:gra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grpSp>
        <p:nvGrpSpPr>
          <p:cNvPr id="21" name="组合 20"/>
          <p:cNvGrpSpPr/>
          <p:nvPr/>
        </p:nvGrpSpPr>
        <p:grpSpPr>
          <a:xfrm>
            <a:off x="980463" y="4089804"/>
            <a:ext cx="9579587" cy="1933296"/>
            <a:chOff x="454623" y="765789"/>
            <a:chExt cx="9583331" cy="1934052"/>
          </a:xfrm>
        </p:grpSpPr>
        <p:sp>
          <p:nvSpPr>
            <p:cNvPr id="22" name="矩形 21"/>
            <p:cNvSpPr/>
            <p:nvPr/>
          </p:nvSpPr>
          <p:spPr>
            <a:xfrm>
              <a:off x="454623" y="1268121"/>
              <a:ext cx="9583331" cy="1431720"/>
            </a:xfrm>
            <a:prstGeom prst="rect">
              <a:avLst/>
            </a:prstGeom>
          </p:spPr>
          <p:txBody>
            <a:bodyPr wrap="square">
              <a:spAutoFit/>
            </a:bodyPr>
            <a:lstStyle/>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defRPr/>
              </a:pPr>
              <a:r>
                <a:rPr kumimoji="0" lang="zh-CN" altLang="en-US" sz="1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建模：</a:t>
              </a: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建立</a:t>
              </a:r>
              <a:r>
                <a:rPr kumimoji="0" lang="en-US" altLang="zh-CN"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X</a:t>
              </a: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与</a:t>
              </a:r>
              <a:r>
                <a:rPr kumimoji="0" lang="en-US" altLang="zh-CN"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Y</a:t>
              </a: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之间的关系的过程， </a:t>
              </a: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比如 </a:t>
              </a:r>
              <a:r>
                <a:rPr kumimoji="0" lang="en-US" altLang="zh-CN"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y = </a:t>
              </a:r>
              <a:r>
                <a:rPr kumimoji="0" lang="en-US" altLang="zh-CN" sz="12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ax+b</a:t>
              </a: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，描述这个关系的表达就是</a:t>
              </a:r>
              <a:r>
                <a:rPr kumimoji="0" lang="zh-CN" altLang="en-US" sz="1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算法</a:t>
              </a:r>
              <a:endParaRPr kumimoji="0" lang="en-US" altLang="zh-CN" sz="1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defRPr/>
              </a:pPr>
              <a:r>
                <a:rPr kumimoji="0" lang="zh-CN" altLang="en-US" sz="1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训练：</a:t>
              </a: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找到</a:t>
              </a:r>
              <a:r>
                <a:rPr kumimoji="0" lang="zh-CN" altLang="en-US" sz="1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最优的参数</a:t>
              </a:r>
              <a:r>
                <a:rPr kumimoji="0" lang="en-US" altLang="zh-CN"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a</a:t>
              </a: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a:t>
              </a:r>
              <a:r>
                <a:rPr kumimoji="0" lang="en-US" altLang="zh-CN"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b</a:t>
              </a: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可最大限度表达</a:t>
              </a:r>
              <a:r>
                <a:rPr kumimoji="0" lang="en-US" altLang="zh-CN"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x</a:t>
              </a: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与</a:t>
              </a:r>
              <a:r>
                <a:rPr kumimoji="0" lang="en-US" altLang="zh-CN"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y</a:t>
              </a: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的关系，这个</a:t>
              </a:r>
              <a:r>
                <a:rPr kumimoji="0" lang="zh-CN" altLang="en-US" sz="1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过程</a:t>
              </a: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就是训练（</a:t>
              </a:r>
              <a:r>
                <a:rPr kumimoji="0" lang="en-US" altLang="zh-CN"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loss</a:t>
              </a: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最小化）</a:t>
              </a:r>
              <a:endParaRPr kumimoji="0" lang="en-US" altLang="zh-CN"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defRPr/>
              </a:pPr>
              <a:r>
                <a:rPr kumimoji="0" lang="zh-CN" altLang="en-US" sz="1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微调：</a:t>
              </a: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针对新任务微小改变全部或部分参数的数值</a:t>
              </a:r>
              <a:endParaRPr kumimoji="0" lang="en-US" altLang="zh-CN"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defRPr/>
              </a:pPr>
              <a:r>
                <a:rPr kumimoji="0" lang="zh-CN" altLang="en-US" sz="1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推理：</a:t>
              </a: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输入新</a:t>
              </a:r>
              <a:r>
                <a:rPr kumimoji="0" lang="zh-CN" altLang="en-US" sz="12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 </a:t>
              </a:r>
              <a:r>
                <a:rPr kumimoji="0" lang="en-US" altLang="zh-CN"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x</a:t>
              </a:r>
              <a:r>
                <a:rPr kumimoji="0" lang="zh-CN" altLang="en-US"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a:t>
              </a: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，使用训练好模型推断</a:t>
              </a: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出 </a:t>
              </a:r>
              <a:r>
                <a:rPr kumimoji="0" lang="en-US" altLang="zh-CN"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y</a:t>
              </a:r>
              <a:r>
                <a:rPr kumimoji="0" lang="zh-CN" altLang="en-US"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a:t>
              </a:r>
              <a:r>
                <a:rPr kumimoji="0" lang="zh-CN" altLang="en-US"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 </a:t>
              </a: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的过程，即模型应用。</a:t>
              </a:r>
              <a:endPar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endParaRPr>
            </a:p>
          </p:txBody>
        </p:sp>
        <p:sp>
          <p:nvSpPr>
            <p:cNvPr id="23" name="矩形 22"/>
            <p:cNvSpPr/>
            <p:nvPr/>
          </p:nvSpPr>
          <p:spPr>
            <a:xfrm>
              <a:off x="2078231" y="765789"/>
              <a:ext cx="2431424" cy="461845"/>
            </a:xfrm>
            <a:prstGeom prst="rect">
              <a:avLst/>
            </a:prstGeom>
          </p:spPr>
          <p:txBody>
            <a:bodyPr wrap="none">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需求任务： 已知</a:t>
              </a:r>
              <a:r>
                <a:rPr kumimoji="0" lang="en-US" altLang="zh-CN"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X</a:t>
              </a:r>
              <a:r>
                <a:rPr kumimoji="0" lang="zh-CN" altLang="en-US"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，求</a:t>
              </a:r>
              <a:r>
                <a:rPr kumimoji="0" lang="en-US" altLang="zh-CN"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Y</a:t>
              </a:r>
              <a:r>
                <a:rPr kumimoji="0" lang="zh-CN" altLang="en-US"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 </a:t>
              </a:r>
              <a:endParaRPr kumimoji="0" lang="en-US" altLang="zh-CN"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endParaRPr>
            </a:p>
          </p:txBody>
        </p:sp>
      </p:grpSp>
      <p:pic>
        <p:nvPicPr>
          <p:cNvPr id="24" name="图片 23"/>
          <p:cNvPicPr>
            <a:picLocks noChangeAspect="1"/>
          </p:cNvPicPr>
          <p:nvPr/>
        </p:nvPicPr>
        <p:blipFill>
          <a:blip r:embed="rId1"/>
          <a:stretch>
            <a:fillRect/>
          </a:stretch>
        </p:blipFill>
        <p:spPr>
          <a:xfrm>
            <a:off x="980463" y="1560224"/>
            <a:ext cx="4609358" cy="1932196"/>
          </a:xfrm>
          <a:prstGeom prst="rect">
            <a:avLst/>
          </a:prstGeom>
        </p:spPr>
      </p:pic>
      <p:pic>
        <p:nvPicPr>
          <p:cNvPr id="25" name="图片 24"/>
          <p:cNvPicPr>
            <a:picLocks noChangeAspect="1"/>
          </p:cNvPicPr>
          <p:nvPr/>
        </p:nvPicPr>
        <p:blipFill>
          <a:blip r:embed="rId2" cstate="screen"/>
          <a:stretch>
            <a:fillRect/>
          </a:stretch>
        </p:blipFill>
        <p:spPr>
          <a:xfrm>
            <a:off x="7016467" y="984244"/>
            <a:ext cx="4101453" cy="307609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4294967295"/>
          </p:nvPr>
        </p:nvSpPr>
        <p:spPr>
          <a:xfrm>
            <a:off x="517092" y="319123"/>
            <a:ext cx="11536363" cy="541338"/>
          </a:xfrm>
          <a:prstGeom prst="rect">
            <a:avLst/>
          </a:prstGeom>
        </p:spPr>
        <p:txBody>
          <a:bodyPr>
            <a:normAutofit/>
          </a:bodyPr>
          <a:lstStyle/>
          <a:p>
            <a:pPr marL="0" indent="0">
              <a:lnSpc>
                <a:spcPts val="3430"/>
              </a:lnSpc>
              <a:spcBef>
                <a:spcPts val="0"/>
              </a:spcBef>
              <a:buNone/>
              <a:defRPr/>
            </a:pPr>
            <a:r>
              <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神经网络算法的发明是现代人工智能的开端</a:t>
            </a:r>
            <a:endPar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2" name="标题 1"/>
          <p:cNvSpPr txBox="1"/>
          <p:nvPr/>
        </p:nvSpPr>
        <p:spPr>
          <a:xfrm>
            <a:off x="485008" y="1261141"/>
            <a:ext cx="4631782" cy="693581"/>
          </a:xfrm>
          <a:prstGeom prst="rect">
            <a:avLst/>
          </a:prstGeom>
        </p:spPr>
        <p:txBody>
          <a:bodyPr/>
          <a:lstStyle>
            <a:lvl1pPr algn="l" defTabSz="1188085" rtl="0" eaLnBrk="1" latinLnBrk="0" hangingPunct="1">
              <a:lnSpc>
                <a:spcPct val="90000"/>
              </a:lnSpc>
              <a:spcBef>
                <a:spcPct val="0"/>
              </a:spcBef>
              <a:buNone/>
              <a:defRPr sz="5715" kern="1200">
                <a:solidFill>
                  <a:schemeClr val="tx1"/>
                </a:solidFill>
                <a:latin typeface="+mj-lt"/>
                <a:ea typeface="+mj-ea"/>
                <a:cs typeface="+mj-cs"/>
              </a:defRPr>
            </a:lvl1pPr>
          </a:lstStyle>
          <a:p>
            <a:pPr marL="0" marR="0" lvl="0" indent="0" algn="l" defTabSz="1187450" rtl="0" eaLnBrk="1" fontAlgn="base" latinLnBrk="0" hangingPunct="1">
              <a:lnSpc>
                <a:spcPct val="9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j-cs"/>
              </a:rPr>
              <a:t>模拟神经元</a:t>
            </a:r>
            <a:endParaRPr kumimoji="0" lang="zh-CN" altLang="en-US" sz="2000" b="1"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j-cs"/>
            </a:endParaRPr>
          </a:p>
        </p:txBody>
      </p:sp>
      <p:sp>
        <p:nvSpPr>
          <p:cNvPr id="23" name="内容占位符 2"/>
          <p:cNvSpPr txBox="1"/>
          <p:nvPr/>
        </p:nvSpPr>
        <p:spPr>
          <a:xfrm>
            <a:off x="577211" y="1703117"/>
            <a:ext cx="5250119" cy="4597023"/>
          </a:xfrm>
          <a:prstGeom prst="rect">
            <a:avLst/>
          </a:prstGeom>
        </p:spPr>
        <p:txBody>
          <a:bodyPr lIns="0" tIns="0" rIns="0" bIns="0" anchor="t" anchorCtr="0">
            <a:normAutofit/>
          </a:bodyPr>
          <a:lstStyle>
            <a:lvl1pPr marL="0" indent="0" algn="ctr" defTabSz="914400" rtl="0" eaLnBrk="1" fontAlgn="base" latinLnBrk="0" hangingPunct="1">
              <a:lnSpc>
                <a:spcPts val="3430"/>
              </a:lnSpc>
              <a:spcBef>
                <a:spcPct val="20000"/>
              </a:spcBef>
              <a:spcAft>
                <a:spcPct val="0"/>
              </a:spcAft>
              <a:buClr>
                <a:srgbClr val="990000"/>
              </a:buClr>
              <a:buFont typeface="Arial" panose="020B0604020202020204" pitchFamily="34" charset="0"/>
              <a:buNone/>
              <a:defRPr lang="en-US" sz="2800" b="1" kern="0" dirty="0">
                <a:solidFill>
                  <a:schemeClr val="bg1">
                    <a:lumMod val="75000"/>
                    <a:lumOff val="25000"/>
                  </a:schemeClr>
                </a:solidFill>
                <a:latin typeface="Huawei Sans" panose="020B0A04020102020204"/>
                <a:ea typeface="微软雅黑" panose="020B0503020204020204" pitchFamily="34" charset="-122"/>
                <a:cs typeface="+mn-ea"/>
              </a:defRPr>
            </a:lvl1pPr>
            <a:lvl2pPr marL="593725" indent="0" algn="ctr" defTabSz="1188085" rtl="0" eaLnBrk="1" latinLnBrk="0" hangingPunct="1">
              <a:lnSpc>
                <a:spcPct val="90000"/>
              </a:lnSpc>
              <a:spcBef>
                <a:spcPts val="650"/>
              </a:spcBef>
              <a:buFont typeface="Arial" panose="020B0604020202020204" pitchFamily="34" charset="0"/>
              <a:buNone/>
              <a:defRPr sz="2600" kern="1200">
                <a:solidFill>
                  <a:schemeClr val="tx1"/>
                </a:solidFill>
                <a:latin typeface="+mn-lt"/>
                <a:ea typeface="+mn-ea"/>
                <a:cs typeface="+mn-cs"/>
              </a:defRPr>
            </a:lvl2pPr>
            <a:lvl3pPr marL="1188085" indent="0" algn="ctr" defTabSz="1188085" rtl="0" eaLnBrk="1" latinLnBrk="0" hangingPunct="1">
              <a:lnSpc>
                <a:spcPct val="90000"/>
              </a:lnSpc>
              <a:spcBef>
                <a:spcPts val="650"/>
              </a:spcBef>
              <a:buFont typeface="Arial" panose="020B0604020202020204" pitchFamily="34" charset="0"/>
              <a:buNone/>
              <a:defRPr sz="2335" kern="1200">
                <a:solidFill>
                  <a:schemeClr val="tx1"/>
                </a:solidFill>
                <a:latin typeface="+mn-lt"/>
                <a:ea typeface="+mn-ea"/>
                <a:cs typeface="+mn-cs"/>
              </a:defRPr>
            </a:lvl3pPr>
            <a:lvl4pPr marL="1781810" indent="0" algn="ctr" defTabSz="1188085"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4pPr>
            <a:lvl5pPr marL="2375535" indent="0" algn="ctr" defTabSz="1188085"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5pPr>
            <a:lvl6pPr marL="2969895" indent="0" algn="ctr" defTabSz="1188085"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6pPr>
            <a:lvl7pPr marL="3563620" indent="0" algn="ctr" defTabSz="1188085"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7pPr>
            <a:lvl8pPr marL="4157345" indent="0" algn="ctr" defTabSz="1188085"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8pPr>
            <a:lvl9pPr marL="4751705" indent="0" algn="ctr" defTabSz="1188085"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9pPr>
          </a:lstStyle>
          <a:p>
            <a:pPr marL="0" marR="0" lvl="0" indent="0" algn="l" defTabSz="914400" rtl="0" eaLnBrk="1" fontAlgn="base" latinLnBrk="0" hangingPunct="1">
              <a:lnSpc>
                <a:spcPts val="3430"/>
              </a:lnSpc>
              <a:spcBef>
                <a:spcPct val="20000"/>
              </a:spcBef>
              <a:spcAft>
                <a:spcPct val="0"/>
              </a:spcAft>
              <a:buClr>
                <a:srgbClr val="990000"/>
              </a:buClr>
              <a:buSzTx/>
              <a:buFont typeface="Arial" panose="020B0604020202020204" pitchFamily="34" charset="0"/>
              <a:buNone/>
              <a:defRPr/>
            </a:pPr>
            <a:r>
              <a:rPr kumimoji="0" lang="zh-CN" altLang="en-US" sz="1600" b="0" i="0" u="none" strike="noStrike" kern="120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rPr>
              <a:t>从生物学到的知识</a:t>
            </a:r>
            <a:endParaRPr kumimoji="0" lang="en-US" altLang="zh-CN" sz="1600" b="0" i="0" u="none" strike="noStrike" kern="120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a:p>
            <a:pPr marL="285750" marR="0" lvl="0" indent="-285750" algn="l" defTabSz="914400" rtl="0" eaLnBrk="1" fontAlgn="base" latinLnBrk="0" hangingPunct="1">
              <a:lnSpc>
                <a:spcPts val="3430"/>
              </a:lnSpc>
              <a:spcBef>
                <a:spcPct val="20000"/>
              </a:spcBef>
              <a:spcAft>
                <a:spcPct val="0"/>
              </a:spcAft>
              <a:buClr>
                <a:srgbClr val="990000"/>
              </a:buClr>
              <a:buSzTx/>
              <a:buFont typeface="Arial" panose="020B0604020202020204" pitchFamily="34" charset="0"/>
              <a:buChar char="•"/>
              <a:defRPr/>
            </a:pPr>
            <a:r>
              <a:rPr kumimoji="0" lang="en-US" altLang="zh-CN" sz="16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rPr>
              <a:t>Synaptic Weights </a:t>
            </a:r>
            <a:r>
              <a:rPr kumimoji="0" lang="zh-CN" altLang="en-US" sz="1600" b="1" i="0" u="none" strike="noStrike" kern="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rPr>
              <a:t>突触强度 </a:t>
            </a:r>
            <a:r>
              <a:rPr kumimoji="0" lang="en-US" altLang="zh-CN" sz="1600" b="1" i="0" u="none" strike="noStrike" kern="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rPr>
              <a:t>-&gt; </a:t>
            </a:r>
            <a:r>
              <a:rPr kumimoji="0" lang="zh-CN" altLang="en-US" sz="1600" b="1" i="0" u="none" strike="noStrike" kern="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rPr>
              <a:t>权重</a:t>
            </a:r>
            <a:endParaRPr kumimoji="0" lang="en-US" altLang="zh-CN" sz="1600" b="1" i="0" u="none" strike="noStrike" kern="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endParaRPr>
          </a:p>
          <a:p>
            <a:pPr marL="285750" marR="0" lvl="0" indent="-285750" algn="l" defTabSz="914400" rtl="0" eaLnBrk="1" fontAlgn="base" latinLnBrk="0" hangingPunct="1">
              <a:lnSpc>
                <a:spcPts val="3430"/>
              </a:lnSpc>
              <a:spcBef>
                <a:spcPct val="20000"/>
              </a:spcBef>
              <a:spcAft>
                <a:spcPct val="0"/>
              </a:spcAft>
              <a:buClr>
                <a:srgbClr val="990000"/>
              </a:buClr>
              <a:buSzTx/>
              <a:buFont typeface="Arial" panose="020B0604020202020204" pitchFamily="34" charset="0"/>
              <a:buChar char="•"/>
              <a:defRPr/>
            </a:pPr>
            <a:r>
              <a:rPr kumimoji="0" lang="en-US" altLang="zh-CN" sz="16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rPr>
              <a:t>Cumulative Stimulus </a:t>
            </a:r>
            <a:r>
              <a:rPr kumimoji="0" lang="zh-CN" altLang="en-US" sz="1600" b="1" i="0" u="none" strike="noStrike" kern="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rPr>
              <a:t>累积刺激 </a:t>
            </a:r>
            <a:r>
              <a:rPr kumimoji="0" lang="en-US" altLang="zh-CN" sz="1600" b="1" i="0" u="none" strike="noStrike" kern="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rPr>
              <a:t>-&gt; </a:t>
            </a:r>
            <a:r>
              <a:rPr kumimoji="0" lang="zh-CN" altLang="en-US" sz="1600" b="1" i="0" u="none" strike="noStrike" kern="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rPr>
              <a:t>激活</a:t>
            </a:r>
            <a:endParaRPr kumimoji="0" lang="en-US" altLang="zh-CN" sz="1600" b="1" i="0" u="none" strike="noStrike" kern="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endParaRPr>
          </a:p>
          <a:p>
            <a:pPr marL="285750" marR="0" lvl="0" indent="-285750" algn="l" defTabSz="914400" rtl="0" eaLnBrk="1" fontAlgn="base" latinLnBrk="0" hangingPunct="1">
              <a:lnSpc>
                <a:spcPts val="3430"/>
              </a:lnSpc>
              <a:spcBef>
                <a:spcPct val="20000"/>
              </a:spcBef>
              <a:spcAft>
                <a:spcPct val="0"/>
              </a:spcAft>
              <a:buClr>
                <a:srgbClr val="990000"/>
              </a:buClr>
              <a:buSzTx/>
              <a:buFont typeface="Arial" panose="020B0604020202020204" pitchFamily="34" charset="0"/>
              <a:buChar char="•"/>
              <a:defRPr/>
            </a:pPr>
            <a:r>
              <a:rPr kumimoji="0" lang="en-US" altLang="zh-CN" sz="16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rPr>
              <a:t>Spike All or None  </a:t>
            </a:r>
            <a:r>
              <a:rPr kumimoji="0" lang="zh-CN" altLang="en-US" sz="1600" b="1" i="0" u="none" strike="noStrike" kern="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rPr>
              <a:t>激发状态 </a:t>
            </a:r>
            <a:r>
              <a:rPr kumimoji="0" lang="en-US" altLang="zh-CN" sz="1600" b="1" i="0" u="none" strike="noStrike" kern="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rPr>
              <a:t>-&gt; </a:t>
            </a:r>
            <a:r>
              <a:rPr kumimoji="0" lang="zh-CN" altLang="en-US" sz="1600" b="1" i="0" u="none" strike="noStrike" kern="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rPr>
              <a:t>状态</a:t>
            </a:r>
            <a:endParaRPr kumimoji="0" lang="zh-CN" altLang="en-US" sz="1600" b="1" i="0" u="none" strike="noStrike" kern="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endParaRPr>
          </a:p>
        </p:txBody>
      </p:sp>
      <p:pic>
        <p:nvPicPr>
          <p:cNvPr id="24" name="内容占位符 1"/>
          <p:cNvPicPr>
            <a:picLocks noChangeAspect="1"/>
          </p:cNvPicPr>
          <p:nvPr/>
        </p:nvPicPr>
        <p:blipFill>
          <a:blip r:embed="rId1" cstate="screen"/>
          <a:stretch>
            <a:fillRect/>
          </a:stretch>
        </p:blipFill>
        <p:spPr>
          <a:xfrm>
            <a:off x="744436" y="4343554"/>
            <a:ext cx="5306292" cy="1592706"/>
          </a:xfrm>
          <a:prstGeom prst="rect">
            <a:avLst/>
          </a:prstGeom>
        </p:spPr>
      </p:pic>
      <p:sp>
        <p:nvSpPr>
          <p:cNvPr id="25" name="矩形 24"/>
          <p:cNvSpPr/>
          <p:nvPr/>
        </p:nvSpPr>
        <p:spPr>
          <a:xfrm>
            <a:off x="3694285" y="3918419"/>
            <a:ext cx="2133045" cy="307697"/>
          </a:xfrm>
          <a:prstGeom prst="rect">
            <a:avLst/>
          </a:prstGeom>
          <a:solidFill>
            <a:srgbClr val="C00000"/>
          </a:solid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人工神经元</a:t>
            </a:r>
            <a:endParaRPr kumimoji="0" lang="zh-CN" altLang="en-US" sz="105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26" name="矩形 25"/>
          <p:cNvSpPr/>
          <p:nvPr/>
        </p:nvSpPr>
        <p:spPr>
          <a:xfrm>
            <a:off x="843083" y="3918419"/>
            <a:ext cx="2133045" cy="307697"/>
          </a:xfrm>
          <a:prstGeom prst="rect">
            <a:avLst/>
          </a:prstGeom>
          <a:solidFill>
            <a:srgbClr val="C00000"/>
          </a:solid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生物</a:t>
            </a:r>
            <a:r>
              <a:rPr kumimoji="0" lang="zh-CN" altLang="en-US" sz="1400" b="1" i="0" u="none" strike="noStrike" kern="0" cap="none" spc="0" normalizeH="0" baseline="0" noProof="0" dirty="0">
                <a:ln>
                  <a:noFill/>
                </a:ln>
                <a:solidFill>
                  <a:srgbClr val="B30000"/>
                </a:solidFill>
                <a:effectLst/>
                <a:uLnTx/>
                <a:uFillTx/>
                <a:latin typeface="微软雅黑" panose="020B0503020204020204" pitchFamily="34" charset="-122"/>
                <a:ea typeface="微软雅黑" panose="020B0503020204020204" pitchFamily="34" charset="-122"/>
                <a:cs typeface="+mn-cs"/>
              </a:rPr>
              <a:t>神经元</a:t>
            </a:r>
            <a:endParaRPr kumimoji="0" lang="zh-CN" altLang="en-US" sz="1050" b="1" i="0" u="none" strike="noStrike" kern="1200" cap="none" spc="0" normalizeH="0" baseline="0" noProof="0" dirty="0">
              <a:ln>
                <a:noFill/>
              </a:ln>
              <a:solidFill>
                <a:srgbClr val="B30000"/>
              </a:solidFill>
              <a:effectLst/>
              <a:uLnTx/>
              <a:uFillTx/>
              <a:latin typeface="微软雅黑" panose="020B0503020204020204" pitchFamily="34" charset="-122"/>
              <a:ea typeface="微软雅黑" panose="020B0503020204020204" pitchFamily="34" charset="-122"/>
              <a:cs typeface="+mn-cs"/>
            </a:endParaRPr>
          </a:p>
        </p:txBody>
      </p:sp>
      <p:sp>
        <p:nvSpPr>
          <p:cNvPr id="27" name="下箭头 2"/>
          <p:cNvSpPr/>
          <p:nvPr/>
        </p:nvSpPr>
        <p:spPr>
          <a:xfrm rot="16200000">
            <a:off x="3238103" y="3915479"/>
            <a:ext cx="244088" cy="315755"/>
          </a:xfrm>
          <a:prstGeom prst="downArrow">
            <a:avLst>
              <a:gd name="adj1" fmla="val 44779"/>
              <a:gd name="adj2" fmla="val 50000"/>
            </a:avLst>
          </a:prstGeom>
          <a:gradFill flip="none" rotWithShape="1">
            <a:gsLst>
              <a:gs pos="0">
                <a:srgbClr val="C00000"/>
              </a:gs>
              <a:gs pos="100000">
                <a:srgbClr val="C00000">
                  <a:alpha val="0"/>
                </a:srgbClr>
              </a:gs>
            </a:gsLst>
            <a:lin ang="16200000" scaled="1"/>
            <a:tileRect/>
          </a:gradFill>
          <a:ln w="12700" cap="flat" cmpd="sng" algn="ctr">
            <a:noFill/>
            <a:prstDash val="solid"/>
            <a:miter lim="800000"/>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pic>
        <p:nvPicPr>
          <p:cNvPr id="28" name="关联组合各组件">
            <a:hlinkClick r:id="" action="ppaction://media"/>
          </p:cNvPr>
          <p:cNvPicPr>
            <a:picLocks noChangeAspect="1"/>
          </p:cNvPicPr>
          <p:nvPr>
            <a:videoFile r:link="rId2"/>
            <p:extLst>
              <p:ext uri="{DAA4B4D4-6D71-4841-9C94-3DE7FCFB9230}">
                <p14:media xmlns:p14="http://schemas.microsoft.com/office/powerpoint/2010/main" r:embed="rId3"/>
              </p:ext>
            </p:extLst>
          </p:nvPr>
        </p:nvPicPr>
        <p:blipFill>
          <a:blip r:embed="rId4"/>
          <a:stretch>
            <a:fillRect/>
          </a:stretch>
        </p:blipFill>
        <p:spPr>
          <a:xfrm>
            <a:off x="6252371" y="1261141"/>
            <a:ext cx="5801084" cy="4436412"/>
          </a:xfrm>
          <a:prstGeom prst="rect">
            <a:avLst/>
          </a:prstGeom>
        </p:spPr>
      </p:pic>
      <p:sp>
        <p:nvSpPr>
          <p:cNvPr id="29" name="矩形 28"/>
          <p:cNvSpPr/>
          <p:nvPr/>
        </p:nvSpPr>
        <p:spPr>
          <a:xfrm>
            <a:off x="6217953" y="5828936"/>
            <a:ext cx="5876722" cy="777604"/>
          </a:xfrm>
          <a:prstGeom prst="rect">
            <a:avLst/>
          </a:prstGeom>
          <a:solidFill>
            <a:srgbClr val="FFFFFF"/>
          </a:solidFill>
          <a:ln w="9525" cap="flat" cmpd="sng" algn="ctr">
            <a:noFill/>
            <a:prstDash val="solid"/>
            <a:miter lim="800000"/>
            <a:headEnd type="none" w="med" len="med"/>
            <a:tailEnd type="none" w="med" len="med"/>
          </a:ln>
          <a:effectLst/>
        </p:spPr>
        <p:txBody>
          <a:bodyPr wrap="square" anchor="ctr" anchorCtr="0">
            <a:no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0" cap="none" spc="0" normalizeH="0" baseline="0" noProof="0" dirty="0">
                <a:ln>
                  <a:noFill/>
                </a:ln>
                <a:solidFill>
                  <a:srgbClr val="1D1D1A"/>
                </a:solidFill>
                <a:effectLst/>
                <a:uLnTx/>
                <a:uFillTx/>
                <a:latin typeface="Huawei Sans" panose="020B0A04020102020204"/>
                <a:ea typeface="微软雅黑" panose="020B0503020204020204" pitchFamily="34" charset="-122"/>
                <a:cs typeface="+mn-cs"/>
              </a:rPr>
              <a:t>神经网络的核心工作机制：由大量的人工神经元联结进行矩阵乘计算，由上一层激活的神经元，影响下一层的神经元；先前向传播，然后进行反向传播，</a:t>
            </a:r>
            <a:r>
              <a:rPr kumimoji="0" lang="zh-CN" altLang="en-US" sz="1400" b="0" i="0" u="none" strike="noStrike" kern="0" cap="none" spc="0" normalizeH="0" baseline="0" noProof="0" dirty="0">
                <a:ln>
                  <a:noFill/>
                </a:ln>
                <a:solidFill>
                  <a:srgbClr val="1D1D1A"/>
                </a:solidFill>
                <a:effectLst/>
                <a:uLnTx/>
                <a:uFillTx/>
                <a:latin typeface="Huawei Sans" panose="020B0A04020102020204"/>
                <a:ea typeface="微软雅黑" panose="020B0503020204020204" pitchFamily="34" charset="-122"/>
                <a:cs typeface="+mn-cs"/>
                <a:sym typeface="Arial" panose="020B0604020202020204" pitchFamily="34" charset="0"/>
              </a:rPr>
              <a:t>不断修正调整参数，直到模型能够很好地拟合训练数据为止</a:t>
            </a:r>
            <a:endParaRPr kumimoji="0" lang="zh-CN" altLang="en-US" sz="1400" b="0" i="0" u="none" strike="noStrike" kern="0" cap="none" spc="0" normalizeH="0" baseline="0" noProof="0" dirty="0">
              <a:ln>
                <a:noFill/>
              </a:ln>
              <a:solidFill>
                <a:srgbClr val="1D1D1A"/>
              </a:solidFill>
              <a:effectLst/>
              <a:uLnTx/>
              <a:uFillTx/>
              <a:latin typeface="Huawei Sans" panose="020B0A04020102020204"/>
              <a:ea typeface="微软雅黑" panose="020B0503020204020204" pitchFamily="34" charset="-122"/>
              <a:cs typeface="+mn-cs"/>
            </a:endParaRPr>
          </a:p>
        </p:txBody>
      </p:sp>
      <p:sp>
        <p:nvSpPr>
          <p:cNvPr id="3" name="文本框 2"/>
          <p:cNvSpPr txBox="1"/>
          <p:nvPr/>
        </p:nvSpPr>
        <p:spPr>
          <a:xfrm>
            <a:off x="202249" y="6279078"/>
            <a:ext cx="6000040" cy="276999"/>
          </a:xfrm>
          <a:prstGeom prst="rect">
            <a:avLst/>
          </a:prstGeom>
          <a:solidFill>
            <a:schemeClr val="accent4"/>
          </a:solid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600"/>
              </a:spcAft>
              <a:buClrTx/>
              <a:buSzTx/>
              <a:buFontTx/>
              <a:buNone/>
              <a:defRPr/>
            </a:pPr>
            <a:r>
              <a:rPr kumimoji="1"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基于前向传播和后向传播的神经网络开启了现代</a:t>
            </a:r>
            <a:r>
              <a:rPr kumimoji="1"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AI</a:t>
            </a:r>
            <a:r>
              <a:rPr kumimoji="1"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的大发展</a:t>
            </a:r>
            <a:endParaRPr kumimoji="1"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pic>
        <p:nvPicPr>
          <p:cNvPr id="5" name="图片 4"/>
          <p:cNvPicPr>
            <a:picLocks noChangeAspect="1"/>
          </p:cNvPicPr>
          <p:nvPr/>
        </p:nvPicPr>
        <p:blipFill>
          <a:blip r:embed="rId5"/>
          <a:stretch>
            <a:fillRect/>
          </a:stretch>
        </p:blipFill>
        <p:spPr>
          <a:xfrm>
            <a:off x="6285345" y="1302539"/>
            <a:ext cx="1706050" cy="163654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6211" fill="hold"/>
                                        <p:tgtEl>
                                          <p:spTgt spid="28"/>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28"/>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28"/>
                                        </p:tgtEl>
                                      </p:cBhvr>
                                    </p:cmd>
                                  </p:childTnLst>
                                </p:cTn>
                              </p:par>
                            </p:childTnLst>
                          </p:cTn>
                        </p:par>
                      </p:childTnLst>
                    </p:cTn>
                  </p:par>
                </p:childTnLst>
              </p:cTn>
              <p:nextCondLst>
                <p:cond evt="onClick" delay="0">
                  <p:tgtEl>
                    <p:spTgt spid="28"/>
                  </p:tgtEl>
                </p:cond>
              </p:nextCondLst>
            </p:seq>
            <p:video>
              <p:cMediaNode vol="80000" mute="1">
                <p:cTn id="12" repeatCount="indefinite" fill="hold" display="0">
                  <p:stCondLst>
                    <p:cond delay="indefinite"/>
                  </p:stCondLst>
                </p:cTn>
                <p:tgtEl>
                  <p:spTgt spid="28"/>
                </p:tgtEl>
              </p:cMediaNode>
            </p:vide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4294967295"/>
          </p:nvPr>
        </p:nvSpPr>
        <p:spPr>
          <a:xfrm>
            <a:off x="660400" y="298450"/>
            <a:ext cx="11536363" cy="541338"/>
          </a:xfrm>
          <a:prstGeom prst="rect">
            <a:avLst/>
          </a:prstGeom>
        </p:spPr>
        <p:txBody>
          <a:bodyPr>
            <a:normAutofit/>
          </a:bodyPr>
          <a:lstStyle/>
          <a:p>
            <a:pPr marL="0" indent="0">
              <a:lnSpc>
                <a:spcPts val="3430"/>
              </a:lnSpc>
              <a:spcBef>
                <a:spcPts val="0"/>
              </a:spcBef>
              <a:buNone/>
              <a:defRPr/>
            </a:pPr>
            <a:r>
              <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概念理解：训练和推理</a:t>
            </a:r>
            <a:endPar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p:txBody>
      </p:sp>
      <p:grpSp>
        <p:nvGrpSpPr>
          <p:cNvPr id="57" name="组合 56"/>
          <p:cNvGrpSpPr/>
          <p:nvPr/>
        </p:nvGrpSpPr>
        <p:grpSpPr>
          <a:xfrm>
            <a:off x="665374" y="1868560"/>
            <a:ext cx="5369909" cy="1906499"/>
            <a:chOff x="6098381" y="1903449"/>
            <a:chExt cx="5371307" cy="1906995"/>
          </a:xfrm>
        </p:grpSpPr>
        <p:grpSp>
          <p:nvGrpSpPr>
            <p:cNvPr id="58" name="组合 57"/>
            <p:cNvGrpSpPr/>
            <p:nvPr/>
          </p:nvGrpSpPr>
          <p:grpSpPr>
            <a:xfrm>
              <a:off x="6098381" y="1903449"/>
              <a:ext cx="5371307" cy="447457"/>
              <a:chOff x="8619804" y="2280394"/>
              <a:chExt cx="5371307" cy="447457"/>
            </a:xfrm>
          </p:grpSpPr>
          <p:sp>
            <p:nvSpPr>
              <p:cNvPr id="70" name="圆角矩形 89"/>
              <p:cNvSpPr/>
              <p:nvPr/>
            </p:nvSpPr>
            <p:spPr>
              <a:xfrm>
                <a:off x="8619804" y="2280922"/>
                <a:ext cx="5371307" cy="446400"/>
              </a:xfrm>
              <a:prstGeom prst="roundRect">
                <a:avLst>
                  <a:gd name="adj" fmla="val 0"/>
                </a:avLst>
              </a:prstGeom>
              <a:gradFill flip="none" rotWithShape="1">
                <a:gsLst>
                  <a:gs pos="0">
                    <a:srgbClr val="FFFFFF">
                      <a:lumMod val="95000"/>
                    </a:srgbClr>
                  </a:gs>
                  <a:gs pos="100000">
                    <a:srgbClr val="FFFFFF">
                      <a:lumMod val="95000"/>
                      <a:alpha val="10000"/>
                    </a:srgbClr>
                  </a:gs>
                </a:gsLst>
                <a:lin ang="0" scaled="1"/>
                <a:tileRect/>
              </a:gradFill>
              <a:ln w="6350">
                <a:noFill/>
                <a:miter lim="400000"/>
              </a:ln>
              <a:effectLst/>
            </p:spPr>
            <p:txBody>
              <a:bodyPr lIns="0" tIns="0" rIns="0" bIns="0" anchor="ctr" anchorCtr="0"/>
              <a:lstStyle/>
              <a:p>
                <a:pPr marL="215900" marR="0" lvl="0" indent="0" algn="l" defTabSz="254635" rtl="0" eaLnBrk="1" fontAlgn="auto" latinLnBrk="0" hangingPunct="1">
                  <a:lnSpc>
                    <a:spcPct val="100000"/>
                  </a:lnSpc>
                  <a:spcBef>
                    <a:spcPts val="0"/>
                  </a:spcBef>
                  <a:spcAft>
                    <a:spcPts val="0"/>
                  </a:spcAft>
                  <a:buClrTx/>
                  <a:buSzTx/>
                  <a:buFontTx/>
                  <a:buNone/>
                  <a:defRPr/>
                </a:pPr>
                <a:r>
                  <a:rPr kumimoji="0" lang="en-US" altLang="zh-CN" sz="14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Arial" panose="020B0604020202020204" pitchFamily="34" charset="0"/>
                  </a:rPr>
                  <a:t>AI</a:t>
                </a:r>
                <a:r>
                  <a:rPr kumimoji="0" lang="zh-CN" altLang="en-US" sz="14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Arial" panose="020B0604020202020204" pitchFamily="34" charset="0"/>
                  </a:rPr>
                  <a:t>训练  </a:t>
                </a:r>
                <a:r>
                  <a:rPr kumimoji="0" lang="zh-CN" altLang="en-US" sz="1400" b="0" i="0" u="none" strike="noStrike" kern="0" cap="none" spc="0" normalizeH="0" baseline="0" noProof="0" dirty="0">
                    <a:ln>
                      <a:noFill/>
                    </a:ln>
                    <a:solidFill>
                      <a:srgbClr val="666666">
                        <a:lumMod val="75000"/>
                      </a:srgbClr>
                    </a:solidFill>
                    <a:effectLst/>
                    <a:uLnTx/>
                    <a:uFillTx/>
                    <a:latin typeface="微软雅黑" panose="020B0503020204020204" pitchFamily="34" charset="-122"/>
                    <a:ea typeface="微软雅黑" panose="020B0503020204020204" pitchFamily="34" charset="-122"/>
                    <a:cs typeface="Arial" panose="020B0604020202020204" pitchFamily="34" charset="0"/>
                  </a:rPr>
                  <a:t>通过 大量数据 学习“规则”形成</a:t>
                </a:r>
                <a:r>
                  <a:rPr kumimoji="0" lang="zh-CN" altLang="en-US" sz="14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Arial" panose="020B0604020202020204" pitchFamily="34" charset="0"/>
                  </a:rPr>
                  <a:t>模型</a:t>
                </a:r>
                <a:r>
                  <a:rPr kumimoji="0" lang="en-US" altLang="zh-CN" sz="14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Arial" panose="020B0604020202020204" pitchFamily="34" charset="0"/>
                  </a:rPr>
                  <a:t>/</a:t>
                </a:r>
                <a:r>
                  <a:rPr kumimoji="0" lang="zh-CN" altLang="en-US" sz="14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Arial" panose="020B0604020202020204" pitchFamily="34" charset="0"/>
                  </a:rPr>
                  <a:t>算法</a:t>
                </a:r>
                <a:endParaRPr kumimoji="0" lang="zh-CN" altLang="en-US" sz="14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71" name="矩形 12"/>
              <p:cNvSpPr/>
              <p:nvPr/>
            </p:nvSpPr>
            <p:spPr>
              <a:xfrm>
                <a:off x="8619805" y="2280394"/>
                <a:ext cx="36000" cy="447457"/>
              </a:xfrm>
              <a:prstGeom prst="rect">
                <a:avLst/>
              </a:prstGeom>
              <a:solidFill>
                <a:srgbClr val="C00000"/>
              </a:solidFill>
              <a:ln w="19050">
                <a:noFill/>
                <a:miter lim="400000"/>
              </a:ln>
              <a:effectLst/>
            </p:spPr>
            <p:txBody>
              <a:bodyPr lIns="0" tIns="0" rIns="0" bIns="0" anchor="t"/>
              <a:lstStyle/>
              <a:p>
                <a:pPr marL="0" marR="0" lvl="0" indent="0" algn="ctr" defTabSz="254635" rtl="0" eaLnBrk="1" fontAlgn="auto" latinLnBrk="0" hangingPunct="1">
                  <a:lnSpc>
                    <a:spcPct val="15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1D1D1A"/>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grpSp>
        <p:sp>
          <p:nvSpPr>
            <p:cNvPr id="59" name="文本框 58"/>
            <p:cNvSpPr txBox="1"/>
            <p:nvPr/>
          </p:nvSpPr>
          <p:spPr>
            <a:xfrm>
              <a:off x="6268357" y="2592693"/>
              <a:ext cx="950118" cy="303178"/>
            </a:xfrm>
            <a:prstGeom prst="rect">
              <a:avLst/>
            </a:prstGeom>
            <a:noFill/>
          </p:spPr>
          <p:txBody>
            <a:bodyPr wrap="square" rtlCol="0" anchor="ctr" anchorCtr="1">
              <a:noAutofit/>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9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未训练的</a:t>
              </a:r>
              <a:endParaRPr kumimoji="0" lang="en-US" altLang="zh-CN" sz="9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9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神经网络模型</a:t>
              </a:r>
              <a:endParaRPr kumimoji="0" lang="zh-CN" altLang="en-US" sz="9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p:txBody>
        </p:sp>
        <p:pic>
          <p:nvPicPr>
            <p:cNvPr id="60" name="图片 59"/>
            <p:cNvPicPr>
              <a:picLocks noChangeAspect="1"/>
            </p:cNvPicPr>
            <p:nvPr/>
          </p:nvPicPr>
          <p:blipFill rotWithShape="1">
            <a:blip r:embed="rId1" cstate="screen">
              <a:clrChange>
                <a:clrFrom>
                  <a:srgbClr val="FFFFFF"/>
                </a:clrFrom>
                <a:clrTo>
                  <a:srgbClr val="FFFFFF">
                    <a:alpha val="0"/>
                  </a:srgbClr>
                </a:clrTo>
              </a:clrChange>
              <a:extLst>
                <a:ext uri="{BEBA8EAE-BF5A-486C-A8C5-ECC9F3942E4B}">
                  <a14:imgProps xmlns:a14="http://schemas.microsoft.com/office/drawing/2010/main">
                    <a14:imgLayer r:embed="rId2">
                      <a14:imgEffect>
                        <a14:sharpenSoften amount="50000"/>
                      </a14:imgEffect>
                    </a14:imgLayer>
                  </a14:imgProps>
                </a:ext>
              </a:extLst>
            </a:blip>
            <a:srcRect/>
            <a:stretch>
              <a:fillRect/>
            </a:stretch>
          </p:blipFill>
          <p:spPr>
            <a:xfrm>
              <a:off x="6358020" y="2875528"/>
              <a:ext cx="827054" cy="868608"/>
            </a:xfrm>
            <a:prstGeom prst="rect">
              <a:avLst/>
            </a:prstGeom>
          </p:spPr>
        </p:pic>
        <p:sp>
          <p:nvSpPr>
            <p:cNvPr id="61" name="下箭头 2"/>
            <p:cNvSpPr/>
            <p:nvPr/>
          </p:nvSpPr>
          <p:spPr>
            <a:xfrm rot="16200000">
              <a:off x="7419211" y="3090205"/>
              <a:ext cx="174020" cy="225114"/>
            </a:xfrm>
            <a:prstGeom prst="downArrow">
              <a:avLst>
                <a:gd name="adj1" fmla="val 44779"/>
                <a:gd name="adj2" fmla="val 50000"/>
              </a:avLst>
            </a:prstGeom>
            <a:gradFill flip="none" rotWithShape="1">
              <a:gsLst>
                <a:gs pos="0">
                  <a:srgbClr val="C00000"/>
                </a:gs>
                <a:gs pos="100000">
                  <a:srgbClr val="C00000">
                    <a:alpha val="0"/>
                  </a:srgbClr>
                </a:gs>
              </a:gsLst>
              <a:lin ang="16200000" scaled="1"/>
              <a:tileRect/>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666666"/>
                </a:solidFill>
                <a:effectLst/>
                <a:uLnTx/>
                <a:uFillTx/>
                <a:latin typeface="微软雅黑" panose="020B0503020204020204" pitchFamily="34" charset="-122"/>
                <a:ea typeface="微软雅黑" panose="020B0503020204020204" pitchFamily="34" charset="-122"/>
                <a:cs typeface="+mn-cs"/>
              </a:endParaRPr>
            </a:p>
          </p:txBody>
        </p:sp>
        <p:sp>
          <p:nvSpPr>
            <p:cNvPr id="62" name="文本框 61"/>
            <p:cNvSpPr txBox="1"/>
            <p:nvPr/>
          </p:nvSpPr>
          <p:spPr>
            <a:xfrm>
              <a:off x="6903167" y="3496951"/>
              <a:ext cx="1143049" cy="303178"/>
            </a:xfrm>
            <a:prstGeom prst="rect">
              <a:avLst/>
            </a:prstGeom>
            <a:noFill/>
          </p:spPr>
          <p:txBody>
            <a:bodyPr wrap="square" rtlCol="0" anchor="ctr" anchorCtr="1">
              <a:noAutofit/>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9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训练框架</a:t>
              </a:r>
              <a:endParaRPr kumimoji="0" lang="en-US" altLang="zh-CN" sz="9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9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（开发环境</a:t>
              </a:r>
              <a:r>
                <a:rPr kumimoji="0" lang="en-US" altLang="zh-CN" sz="9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a:t>
              </a:r>
              <a:r>
                <a:rPr kumimoji="0" lang="zh-CN" altLang="en-US" sz="9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工具）</a:t>
              </a:r>
              <a:endParaRPr kumimoji="0" lang="zh-CN" altLang="en-US" sz="9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p:txBody>
        </p:sp>
        <p:pic>
          <p:nvPicPr>
            <p:cNvPr id="63" name="图片 62"/>
            <p:cNvPicPr>
              <a:picLocks noChangeAspect="1"/>
            </p:cNvPicPr>
            <p:nvPr/>
          </p:nvPicPr>
          <p:blipFill rotWithShape="1">
            <a:blip r:embed="rId3" cstate="screen">
              <a:clrChange>
                <a:clrFrom>
                  <a:srgbClr val="FFFFFF"/>
                </a:clrFrom>
                <a:clrTo>
                  <a:srgbClr val="FFFFFF">
                    <a:alpha val="0"/>
                  </a:srgbClr>
                </a:clrTo>
              </a:clrChange>
              <a:extLst>
                <a:ext uri="{BEBA8EAE-BF5A-486C-A8C5-ECC9F3942E4B}">
                  <a14:imgProps xmlns:a14="http://schemas.microsoft.com/office/drawing/2010/main">
                    <a14:imgLayer r:embed="rId4">
                      <a14:imgEffect>
                        <a14:sharpenSoften amount="30000"/>
                      </a14:imgEffect>
                    </a14:imgLayer>
                  </a14:imgProps>
                </a:ext>
              </a:extLst>
            </a:blip>
            <a:srcRect/>
            <a:stretch>
              <a:fillRect/>
            </a:stretch>
          </p:blipFill>
          <p:spPr>
            <a:xfrm>
              <a:off x="7957239" y="2778486"/>
              <a:ext cx="1017419" cy="1031958"/>
            </a:xfrm>
            <a:prstGeom prst="rect">
              <a:avLst/>
            </a:prstGeom>
          </p:spPr>
        </p:pic>
        <p:sp>
          <p:nvSpPr>
            <p:cNvPr id="64" name="下箭头 2"/>
            <p:cNvSpPr/>
            <p:nvPr/>
          </p:nvSpPr>
          <p:spPr>
            <a:xfrm rot="16200000">
              <a:off x="9218649" y="3090205"/>
              <a:ext cx="174020" cy="225114"/>
            </a:xfrm>
            <a:prstGeom prst="downArrow">
              <a:avLst>
                <a:gd name="adj1" fmla="val 44779"/>
                <a:gd name="adj2" fmla="val 50000"/>
              </a:avLst>
            </a:prstGeom>
            <a:gradFill flip="none" rotWithShape="1">
              <a:gsLst>
                <a:gs pos="0">
                  <a:srgbClr val="C00000"/>
                </a:gs>
                <a:gs pos="100000">
                  <a:srgbClr val="C00000">
                    <a:alpha val="0"/>
                  </a:srgbClr>
                </a:gs>
              </a:gsLst>
              <a:lin ang="16200000" scaled="1"/>
              <a:tileRect/>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666666"/>
                </a:solidFill>
                <a:effectLst/>
                <a:uLnTx/>
                <a:uFillTx/>
                <a:latin typeface="微软雅黑" panose="020B0503020204020204" pitchFamily="34" charset="-122"/>
                <a:ea typeface="微软雅黑" panose="020B0503020204020204" pitchFamily="34" charset="-122"/>
                <a:cs typeface="+mn-cs"/>
              </a:endParaRPr>
            </a:p>
          </p:txBody>
        </p:sp>
        <p:pic>
          <p:nvPicPr>
            <p:cNvPr id="65" name="图片 64"/>
            <p:cNvPicPr>
              <a:picLocks noChangeAspect="1"/>
            </p:cNvPicPr>
            <p:nvPr/>
          </p:nvPicPr>
          <p:blipFill rotWithShape="1">
            <a:blip r:embed="rId5" cstate="screen">
              <a:clrChange>
                <a:clrFrom>
                  <a:srgbClr val="FFFFFF"/>
                </a:clrFrom>
                <a:clrTo>
                  <a:srgbClr val="FFFFFF">
                    <a:alpha val="0"/>
                  </a:srgbClr>
                </a:clrTo>
              </a:clrChange>
              <a:extLst>
                <a:ext uri="{BEBA8EAE-BF5A-486C-A8C5-ECC9F3942E4B}">
                  <a14:imgProps xmlns:a14="http://schemas.microsoft.com/office/drawing/2010/main">
                    <a14:imgLayer r:embed="rId6">
                      <a14:imgEffect>
                        <a14:sharpenSoften amount="30000"/>
                      </a14:imgEffect>
                    </a14:imgLayer>
                  </a14:imgProps>
                </a:ext>
              </a:extLst>
            </a:blip>
            <a:srcRect/>
            <a:stretch>
              <a:fillRect/>
            </a:stretch>
          </p:blipFill>
          <p:spPr>
            <a:xfrm>
              <a:off x="9611120" y="2895871"/>
              <a:ext cx="709819" cy="742315"/>
            </a:xfrm>
            <a:prstGeom prst="rect">
              <a:avLst/>
            </a:prstGeom>
            <a:noFill/>
          </p:spPr>
        </p:pic>
        <p:sp>
          <p:nvSpPr>
            <p:cNvPr id="66" name="文本框 65"/>
            <p:cNvSpPr txBox="1"/>
            <p:nvPr/>
          </p:nvSpPr>
          <p:spPr>
            <a:xfrm>
              <a:off x="9383557" y="2592693"/>
              <a:ext cx="1126398" cy="303178"/>
            </a:xfrm>
            <a:prstGeom prst="rect">
              <a:avLst/>
            </a:prstGeom>
            <a:noFill/>
          </p:spPr>
          <p:txBody>
            <a:bodyPr wrap="square" rtlCol="0" anchor="ctr" anchorCtr="1">
              <a:noAutofit/>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9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训练好的模型算法</a:t>
              </a:r>
              <a:endParaRPr kumimoji="0" lang="zh-CN" altLang="en-US" sz="9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9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（具有新的能力）</a:t>
              </a:r>
              <a:endParaRPr kumimoji="0" lang="zh-CN" altLang="en-US" sz="9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p:txBody>
        </p:sp>
        <p:grpSp>
          <p:nvGrpSpPr>
            <p:cNvPr id="67" name="组合 66"/>
            <p:cNvGrpSpPr/>
            <p:nvPr/>
          </p:nvGrpSpPr>
          <p:grpSpPr>
            <a:xfrm>
              <a:off x="8177645" y="2307842"/>
              <a:ext cx="554937" cy="488180"/>
              <a:chOff x="8499580" y="2244706"/>
              <a:chExt cx="554937" cy="488180"/>
            </a:xfrm>
          </p:grpSpPr>
          <p:pic>
            <p:nvPicPr>
              <p:cNvPr id="68" name="图片 67"/>
              <p:cNvPicPr>
                <a:picLocks noChangeAspect="1"/>
              </p:cNvPicPr>
              <p:nvPr/>
            </p:nvPicPr>
            <p:blipFill rotWithShape="1">
              <a:blip r:embed="rId7" cstate="screen">
                <a:clrChange>
                  <a:clrFrom>
                    <a:srgbClr val="FFFFFF"/>
                  </a:clrFrom>
                  <a:clrTo>
                    <a:srgbClr val="FFFFFF">
                      <a:alpha val="0"/>
                    </a:srgbClr>
                  </a:clrTo>
                </a:clrChange>
                <a:extLst>
                  <a:ext uri="{BEBA8EAE-BF5A-486C-A8C5-ECC9F3942E4B}">
                    <a14:imgProps xmlns:a14="http://schemas.microsoft.com/office/drawing/2010/main">
                      <a14:imgLayer r:embed="rId8">
                        <a14:imgEffect>
                          <a14:sharpenSoften amount="30000"/>
                        </a14:imgEffect>
                      </a14:imgLayer>
                    </a14:imgProps>
                  </a:ext>
                </a:extLst>
              </a:blip>
              <a:srcRect/>
              <a:stretch>
                <a:fillRect/>
              </a:stretch>
            </p:blipFill>
            <p:spPr>
              <a:xfrm>
                <a:off x="8499580" y="2244706"/>
                <a:ext cx="554937" cy="488180"/>
              </a:xfrm>
              <a:prstGeom prst="ellipse">
                <a:avLst/>
              </a:prstGeom>
            </p:spPr>
          </p:pic>
          <p:sp>
            <p:nvSpPr>
              <p:cNvPr id="69" name="文本框 68"/>
              <p:cNvSpPr txBox="1"/>
              <p:nvPr/>
            </p:nvSpPr>
            <p:spPr>
              <a:xfrm>
                <a:off x="8583859" y="2308446"/>
                <a:ext cx="386378" cy="221111"/>
              </a:xfrm>
              <a:prstGeom prst="ellipse">
                <a:avLst/>
              </a:prstGeom>
              <a:solidFill>
                <a:srgbClr val="7362AB"/>
              </a:solidFill>
            </p:spPr>
            <p:txBody>
              <a:bodyPr wrap="square" lIns="35991" rIns="35991" rtlCol="0" anchor="ctr" anchorCtr="1">
                <a:noAutofit/>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7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训练数据</a:t>
                </a:r>
                <a:endParaRPr kumimoji="0" lang="zh-CN" altLang="en-US" sz="7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grpSp>
      </p:grpSp>
      <p:grpSp>
        <p:nvGrpSpPr>
          <p:cNvPr id="72" name="组合 71"/>
          <p:cNvGrpSpPr/>
          <p:nvPr/>
        </p:nvGrpSpPr>
        <p:grpSpPr>
          <a:xfrm>
            <a:off x="6228137" y="1862110"/>
            <a:ext cx="5369909" cy="2116582"/>
            <a:chOff x="6098381" y="3947577"/>
            <a:chExt cx="5371307" cy="2117133"/>
          </a:xfrm>
        </p:grpSpPr>
        <p:grpSp>
          <p:nvGrpSpPr>
            <p:cNvPr id="73" name="组合 72"/>
            <p:cNvGrpSpPr/>
            <p:nvPr/>
          </p:nvGrpSpPr>
          <p:grpSpPr>
            <a:xfrm>
              <a:off x="6098381" y="3947577"/>
              <a:ext cx="5371307" cy="447457"/>
              <a:chOff x="8619804" y="2280394"/>
              <a:chExt cx="5371307" cy="447457"/>
            </a:xfrm>
          </p:grpSpPr>
          <p:sp>
            <p:nvSpPr>
              <p:cNvPr id="87" name="圆角矩形 89"/>
              <p:cNvSpPr/>
              <p:nvPr/>
            </p:nvSpPr>
            <p:spPr>
              <a:xfrm>
                <a:off x="8619804" y="2280922"/>
                <a:ext cx="5371307" cy="446400"/>
              </a:xfrm>
              <a:prstGeom prst="roundRect">
                <a:avLst>
                  <a:gd name="adj" fmla="val 0"/>
                </a:avLst>
              </a:prstGeom>
              <a:gradFill flip="none" rotWithShape="1">
                <a:gsLst>
                  <a:gs pos="0">
                    <a:srgbClr val="FFFFFF">
                      <a:lumMod val="95000"/>
                    </a:srgbClr>
                  </a:gs>
                  <a:gs pos="100000">
                    <a:srgbClr val="FFFFFF">
                      <a:lumMod val="95000"/>
                      <a:alpha val="10000"/>
                    </a:srgbClr>
                  </a:gs>
                </a:gsLst>
                <a:lin ang="0" scaled="1"/>
                <a:tileRect/>
              </a:gradFill>
              <a:ln w="6350">
                <a:noFill/>
                <a:miter lim="400000"/>
              </a:ln>
              <a:effectLst/>
            </p:spPr>
            <p:txBody>
              <a:bodyPr lIns="0" tIns="0" rIns="0" bIns="0" anchor="ctr" anchorCtr="0"/>
              <a:lstStyle/>
              <a:p>
                <a:pPr marL="215900" marR="0" lvl="0" indent="0" algn="l" defTabSz="254635" rtl="0" eaLnBrk="1" fontAlgn="auto" latinLnBrk="0" hangingPunct="1">
                  <a:lnSpc>
                    <a:spcPct val="100000"/>
                  </a:lnSpc>
                  <a:spcBef>
                    <a:spcPts val="0"/>
                  </a:spcBef>
                  <a:spcAft>
                    <a:spcPts val="0"/>
                  </a:spcAft>
                  <a:buClrTx/>
                  <a:buSzTx/>
                  <a:buFontTx/>
                  <a:buNone/>
                  <a:defRPr/>
                </a:pPr>
                <a:r>
                  <a:rPr kumimoji="0" lang="en-US" altLang="zh-CN" sz="14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Arial" panose="020B0604020202020204" pitchFamily="34" charset="0"/>
                  </a:rPr>
                  <a:t>AI</a:t>
                </a:r>
                <a:r>
                  <a:rPr kumimoji="0" lang="zh-CN" altLang="en-US" sz="14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Arial" panose="020B0604020202020204" pitchFamily="34" charset="0"/>
                  </a:rPr>
                  <a:t>推理：</a:t>
                </a:r>
                <a:r>
                  <a:rPr kumimoji="0" lang="zh-CN" altLang="en-US" sz="1400" b="0" i="0" u="none" strike="noStrike" kern="0" cap="none" spc="0" normalizeH="0" baseline="0" noProof="0" dirty="0">
                    <a:ln>
                      <a:noFill/>
                    </a:ln>
                    <a:solidFill>
                      <a:srgbClr val="666666">
                        <a:lumMod val="75000"/>
                      </a:srgbClr>
                    </a:solidFill>
                    <a:effectLst/>
                    <a:uLnTx/>
                    <a:uFillTx/>
                    <a:latin typeface="微软雅黑" panose="020B0503020204020204" pitchFamily="34" charset="-122"/>
                    <a:ea typeface="微软雅黑" panose="020B0503020204020204" pitchFamily="34" charset="-122"/>
                    <a:cs typeface="Arial" panose="020B0604020202020204" pitchFamily="34" charset="0"/>
                  </a:rPr>
                  <a:t>利用 已经训练好的“规则” 完成</a:t>
                </a:r>
                <a:r>
                  <a:rPr kumimoji="0" lang="zh-CN" altLang="en-US" sz="14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Arial" panose="020B0604020202020204" pitchFamily="34" charset="0"/>
                  </a:rPr>
                  <a:t>具体任务</a:t>
                </a:r>
                <a:endParaRPr kumimoji="0" lang="zh-CN" altLang="en-US" sz="14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88" name="矩形 12"/>
              <p:cNvSpPr/>
              <p:nvPr/>
            </p:nvSpPr>
            <p:spPr>
              <a:xfrm>
                <a:off x="8619805" y="2280394"/>
                <a:ext cx="36000" cy="447457"/>
              </a:xfrm>
              <a:prstGeom prst="rect">
                <a:avLst/>
              </a:prstGeom>
              <a:solidFill>
                <a:srgbClr val="C00000"/>
              </a:solidFill>
              <a:ln w="19050">
                <a:noFill/>
                <a:miter lim="400000"/>
              </a:ln>
              <a:effectLst/>
            </p:spPr>
            <p:txBody>
              <a:bodyPr lIns="0" tIns="0" rIns="0" bIns="0" anchor="t"/>
              <a:lstStyle/>
              <a:p>
                <a:pPr marL="0" marR="0" lvl="0" indent="0" algn="ctr" defTabSz="254635" rtl="0" eaLnBrk="1" fontAlgn="auto" latinLnBrk="0" hangingPunct="1">
                  <a:lnSpc>
                    <a:spcPct val="15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1D1D1A"/>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grpSp>
        <p:pic>
          <p:nvPicPr>
            <p:cNvPr id="74" name="图片 73"/>
            <p:cNvPicPr>
              <a:picLocks noChangeAspect="1"/>
            </p:cNvPicPr>
            <p:nvPr/>
          </p:nvPicPr>
          <p:blipFill rotWithShape="1">
            <a:blip r:embed="rId5" cstate="screen">
              <a:clrChange>
                <a:clrFrom>
                  <a:srgbClr val="FFFFFF"/>
                </a:clrFrom>
                <a:clrTo>
                  <a:srgbClr val="FFFFFF">
                    <a:alpha val="0"/>
                  </a:srgbClr>
                </a:clrTo>
              </a:clrChange>
              <a:extLst>
                <a:ext uri="{BEBA8EAE-BF5A-486C-A8C5-ECC9F3942E4B}">
                  <a14:imgProps xmlns:a14="http://schemas.microsoft.com/office/drawing/2010/main">
                    <a14:imgLayer r:embed="rId6">
                      <a14:imgEffect>
                        <a14:sharpenSoften amount="30000"/>
                      </a14:imgEffect>
                    </a14:imgLayer>
                  </a14:imgProps>
                </a:ext>
              </a:extLst>
            </a:blip>
            <a:srcRect/>
            <a:stretch>
              <a:fillRect/>
            </a:stretch>
          </p:blipFill>
          <p:spPr>
            <a:xfrm>
              <a:off x="6416637" y="4958997"/>
              <a:ext cx="709819" cy="742315"/>
            </a:xfrm>
            <a:prstGeom prst="rect">
              <a:avLst/>
            </a:prstGeom>
          </p:spPr>
        </p:pic>
        <p:sp>
          <p:nvSpPr>
            <p:cNvPr id="75" name="下箭头 2"/>
            <p:cNvSpPr/>
            <p:nvPr/>
          </p:nvSpPr>
          <p:spPr>
            <a:xfrm rot="16200000">
              <a:off x="7419211" y="5168683"/>
              <a:ext cx="174020" cy="225114"/>
            </a:xfrm>
            <a:prstGeom prst="downArrow">
              <a:avLst>
                <a:gd name="adj1" fmla="val 44779"/>
                <a:gd name="adj2" fmla="val 50000"/>
              </a:avLst>
            </a:prstGeom>
            <a:gradFill flip="none" rotWithShape="1">
              <a:gsLst>
                <a:gs pos="0">
                  <a:srgbClr val="C00000"/>
                </a:gs>
                <a:gs pos="100000">
                  <a:srgbClr val="C00000">
                    <a:alpha val="0"/>
                  </a:srgbClr>
                </a:gs>
              </a:gsLst>
              <a:lin ang="16200000" scaled="1"/>
              <a:tileRect/>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666666"/>
                </a:solidFill>
                <a:effectLst/>
                <a:uLnTx/>
                <a:uFillTx/>
                <a:latin typeface="微软雅黑" panose="020B0503020204020204" pitchFamily="34" charset="-122"/>
                <a:ea typeface="微软雅黑" panose="020B0503020204020204" pitchFamily="34" charset="-122"/>
                <a:cs typeface="+mn-cs"/>
              </a:endParaRPr>
            </a:p>
          </p:txBody>
        </p:sp>
        <p:sp>
          <p:nvSpPr>
            <p:cNvPr id="76" name="文本框 75"/>
            <p:cNvSpPr txBox="1"/>
            <p:nvPr/>
          </p:nvSpPr>
          <p:spPr>
            <a:xfrm>
              <a:off x="6201319" y="4657904"/>
              <a:ext cx="1126398" cy="303178"/>
            </a:xfrm>
            <a:prstGeom prst="rect">
              <a:avLst/>
            </a:prstGeom>
            <a:noFill/>
          </p:spPr>
          <p:txBody>
            <a:bodyPr wrap="square" rtlCol="0" anchor="ctr" anchorCtr="1">
              <a:noAutofit/>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9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训练好的模型算法</a:t>
              </a:r>
              <a:endParaRPr kumimoji="0" lang="zh-CN" altLang="en-US" sz="9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9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（具有新的能力）</a:t>
              </a:r>
              <a:endParaRPr kumimoji="0" lang="zh-CN" altLang="en-US" sz="9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p:txBody>
        </p:sp>
        <p:pic>
          <p:nvPicPr>
            <p:cNvPr id="81" name="图片 80"/>
            <p:cNvPicPr>
              <a:picLocks noChangeAspect="1"/>
            </p:cNvPicPr>
            <p:nvPr/>
          </p:nvPicPr>
          <p:blipFill rotWithShape="1">
            <a:blip r:embed="rId9" cstate="screen">
              <a:clrChange>
                <a:clrFrom>
                  <a:srgbClr val="FFFFFF"/>
                </a:clrFrom>
                <a:clrTo>
                  <a:srgbClr val="FFFFFF">
                    <a:alpha val="0"/>
                  </a:srgbClr>
                </a:clrTo>
              </a:clrChange>
            </a:blip>
            <a:srcRect/>
            <a:stretch>
              <a:fillRect/>
            </a:stretch>
          </p:blipFill>
          <p:spPr>
            <a:xfrm>
              <a:off x="7963545" y="4741307"/>
              <a:ext cx="981419" cy="1057439"/>
            </a:xfrm>
            <a:prstGeom prst="rect">
              <a:avLst/>
            </a:prstGeom>
          </p:spPr>
        </p:pic>
        <p:pic>
          <p:nvPicPr>
            <p:cNvPr id="82" name="图片 81"/>
            <p:cNvPicPr>
              <a:picLocks noChangeAspect="1"/>
            </p:cNvPicPr>
            <p:nvPr/>
          </p:nvPicPr>
          <p:blipFill rotWithShape="1">
            <a:blip r:embed="rId10" cstate="screen">
              <a:clrChange>
                <a:clrFrom>
                  <a:srgbClr val="FFFFFF"/>
                </a:clrFrom>
                <a:clrTo>
                  <a:srgbClr val="FFFFFF">
                    <a:alpha val="0"/>
                  </a:srgbClr>
                </a:clrTo>
              </a:clrChange>
              <a:extLst>
                <a:ext uri="{BEBA8EAE-BF5A-486C-A8C5-ECC9F3942E4B}">
                  <a14:imgProps xmlns:a14="http://schemas.microsoft.com/office/drawing/2010/main">
                    <a14:imgLayer r:embed="rId11">
                      <a14:imgEffect>
                        <a14:sharpenSoften amount="30000"/>
                      </a14:imgEffect>
                    </a14:imgLayer>
                  </a14:imgProps>
                </a:ext>
              </a:extLst>
            </a:blip>
            <a:srcRect/>
            <a:stretch>
              <a:fillRect/>
            </a:stretch>
          </p:blipFill>
          <p:spPr>
            <a:xfrm>
              <a:off x="8216701" y="4305619"/>
              <a:ext cx="489436" cy="469695"/>
            </a:xfrm>
            <a:prstGeom prst="ellipse">
              <a:avLst/>
            </a:prstGeom>
          </p:spPr>
        </p:pic>
        <p:sp>
          <p:nvSpPr>
            <p:cNvPr id="83" name="文本框 82"/>
            <p:cNvSpPr txBox="1"/>
            <p:nvPr/>
          </p:nvSpPr>
          <p:spPr>
            <a:xfrm>
              <a:off x="8263657" y="4341439"/>
              <a:ext cx="384645" cy="221111"/>
            </a:xfrm>
            <a:prstGeom prst="ellipse">
              <a:avLst/>
            </a:prstGeom>
            <a:solidFill>
              <a:srgbClr val="51C0AB"/>
            </a:solidFill>
          </p:spPr>
          <p:txBody>
            <a:bodyPr wrap="square" lIns="0" rIns="0" rtlCol="0" anchor="ctr" anchorCtr="1">
              <a:noAutofit/>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7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新数据</a:t>
              </a:r>
              <a:endParaRPr kumimoji="0" lang="zh-CN" altLang="en-US" sz="7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84" name="文本框 83"/>
            <p:cNvSpPr txBox="1"/>
            <p:nvPr/>
          </p:nvSpPr>
          <p:spPr>
            <a:xfrm>
              <a:off x="9427741" y="5065072"/>
              <a:ext cx="1126398" cy="303178"/>
            </a:xfrm>
            <a:prstGeom prst="rect">
              <a:avLst/>
            </a:prstGeom>
            <a:noFill/>
          </p:spPr>
          <p:txBody>
            <a:bodyPr wrap="square" rtlCol="0" anchor="ctr" anchorCtr="1">
              <a:noAutofit/>
            </a:bodyPr>
            <a:lstStyle/>
            <a:p>
              <a:pPr marL="0" marR="0" lvl="0" indent="0" algn="ctr" defTabSz="913765" rtl="0" eaLnBrk="1" fontAlgn="auto" latinLnBrk="0" hangingPunct="1">
                <a:lnSpc>
                  <a:spcPct val="150000"/>
                </a:lnSpc>
                <a:spcBef>
                  <a:spcPts val="0"/>
                </a:spcBef>
                <a:spcAft>
                  <a:spcPts val="0"/>
                </a:spcAft>
                <a:buClrTx/>
                <a:buSzTx/>
                <a:buFontTx/>
                <a:buNone/>
                <a:defRPr/>
              </a:pPr>
              <a:r>
                <a:rPr kumimoji="0" lang="zh-CN" altLang="en-US" sz="9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具备推理能力的</a:t>
              </a:r>
              <a:endParaRPr kumimoji="0" lang="zh-CN" altLang="en-US" sz="9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a:p>
              <a:pPr marL="0" marR="0" lvl="0" indent="0" algn="ctr" defTabSz="913765" rtl="0" eaLnBrk="1" fontAlgn="auto" latinLnBrk="0" hangingPunct="1">
                <a:lnSpc>
                  <a:spcPct val="150000"/>
                </a:lnSpc>
                <a:spcBef>
                  <a:spcPts val="0"/>
                </a:spcBef>
                <a:spcAft>
                  <a:spcPts val="0"/>
                </a:spcAft>
                <a:buClrTx/>
                <a:buSzTx/>
                <a:buFontTx/>
                <a:buNone/>
                <a:defRPr/>
              </a:pPr>
              <a:r>
                <a:rPr kumimoji="0" lang="zh-CN" altLang="en-US" sz="9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应用或服务</a:t>
              </a:r>
              <a:endParaRPr kumimoji="0" lang="zh-CN" altLang="en-US" sz="9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p:txBody>
        </p:sp>
        <p:sp>
          <p:nvSpPr>
            <p:cNvPr id="85" name="下箭头 2"/>
            <p:cNvSpPr/>
            <p:nvPr/>
          </p:nvSpPr>
          <p:spPr>
            <a:xfrm rot="16200000">
              <a:off x="9218649" y="5168683"/>
              <a:ext cx="174020" cy="225114"/>
            </a:xfrm>
            <a:prstGeom prst="downArrow">
              <a:avLst>
                <a:gd name="adj1" fmla="val 44779"/>
                <a:gd name="adj2" fmla="val 50000"/>
              </a:avLst>
            </a:prstGeom>
            <a:gradFill flip="none" rotWithShape="1">
              <a:gsLst>
                <a:gs pos="0">
                  <a:srgbClr val="C00000"/>
                </a:gs>
                <a:gs pos="100000">
                  <a:srgbClr val="C00000">
                    <a:alpha val="0"/>
                  </a:srgbClr>
                </a:gs>
              </a:gsLst>
              <a:lin ang="16200000" scaled="1"/>
              <a:tileRect/>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666666"/>
                </a:solidFill>
                <a:effectLst/>
                <a:uLnTx/>
                <a:uFillTx/>
                <a:latin typeface="微软雅黑" panose="020B0503020204020204" pitchFamily="34" charset="-122"/>
                <a:ea typeface="微软雅黑" panose="020B0503020204020204" pitchFamily="34" charset="-122"/>
                <a:cs typeface="+mn-cs"/>
              </a:endParaRPr>
            </a:p>
          </p:txBody>
        </p:sp>
        <p:sp>
          <p:nvSpPr>
            <p:cNvPr id="86" name="文本框 85"/>
            <p:cNvSpPr txBox="1"/>
            <p:nvPr/>
          </p:nvSpPr>
          <p:spPr>
            <a:xfrm>
              <a:off x="7918452" y="5761532"/>
              <a:ext cx="1104984" cy="303178"/>
            </a:xfrm>
            <a:prstGeom prst="rect">
              <a:avLst/>
            </a:prstGeom>
            <a:noFill/>
          </p:spPr>
          <p:txBody>
            <a:bodyPr wrap="square" rtlCol="0" anchor="ctr" anchorCtr="1">
              <a:noAutofit/>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9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训练好的模型算法</a:t>
              </a:r>
              <a:endParaRPr kumimoji="0" lang="en-US" altLang="zh-CN" sz="9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p:txBody>
        </p:sp>
      </p:grpSp>
      <p:sp>
        <p:nvSpPr>
          <p:cNvPr id="89" name="文本框 88"/>
          <p:cNvSpPr txBox="1"/>
          <p:nvPr/>
        </p:nvSpPr>
        <p:spPr>
          <a:xfrm>
            <a:off x="2473393" y="1242764"/>
            <a:ext cx="877163" cy="369204"/>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开发态</a:t>
            </a:r>
            <a:endPar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90" name="文本框 89"/>
          <p:cNvSpPr txBox="1"/>
          <p:nvPr/>
        </p:nvSpPr>
        <p:spPr>
          <a:xfrm>
            <a:off x="8161614" y="1238674"/>
            <a:ext cx="876935" cy="369236"/>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部署态</a:t>
            </a:r>
            <a:endPar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91" name="文本框 90"/>
          <p:cNvSpPr txBox="1"/>
          <p:nvPr/>
        </p:nvSpPr>
        <p:spPr>
          <a:xfrm>
            <a:off x="384370" y="5086231"/>
            <a:ext cx="5660524" cy="1064907"/>
          </a:xfrm>
          <a:prstGeom prst="rect">
            <a:avLst/>
          </a:prstGeom>
          <a:noFill/>
        </p:spPr>
        <p:txBody>
          <a:bodyPr wrap="none" rtlCol="0">
            <a:spAutoFit/>
          </a:bodyPr>
          <a:lstStyle/>
          <a:p>
            <a:pPr marL="342900" marR="0" lvl="0" indent="-342900" algn="l" defTabSz="914400" rtl="0" eaLnBrk="1" fontAlgn="auto" latinLnBrk="0" hangingPunct="1">
              <a:lnSpc>
                <a:spcPct val="120000"/>
              </a:lnSpc>
              <a:spcBef>
                <a:spcPts val="600"/>
              </a:spcBef>
              <a:spcAft>
                <a:spcPts val="600"/>
              </a:spcAft>
              <a:buClrTx/>
              <a:buSzTx/>
              <a:buFont typeface="Wingdings" panose="05000000000000000000" pitchFamily="2" charset="2"/>
              <a:buChar char="Ø"/>
              <a:defRPr/>
            </a:pPr>
            <a:r>
              <a:rPr kumimoji="1"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投入大量算力、数据和时间，训练出一个模型</a:t>
            </a:r>
            <a:r>
              <a:rPr kumimoji="1"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1"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算法</a:t>
            </a:r>
            <a:endParaRPr kumimoji="1"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1" fontAlgn="auto" latinLnBrk="0" hangingPunct="1">
              <a:lnSpc>
                <a:spcPct val="120000"/>
              </a:lnSpc>
              <a:spcBef>
                <a:spcPts val="600"/>
              </a:spcBef>
              <a:spcAft>
                <a:spcPts val="600"/>
              </a:spcAft>
              <a:buClrTx/>
              <a:buSzTx/>
              <a:buFont typeface="Wingdings" panose="05000000000000000000" pitchFamily="2" charset="2"/>
              <a:buChar char="Ø"/>
              <a:defRPr/>
            </a:pPr>
            <a:r>
              <a:rPr kumimoji="1"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比如，</a:t>
            </a:r>
            <a:r>
              <a:rPr kumimoji="1" lang="en-US" altLang="zh-CN" sz="12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cs"/>
              </a:rPr>
              <a:t>OpenAI</a:t>
            </a:r>
            <a:r>
              <a:rPr kumimoji="1"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的</a:t>
            </a:r>
            <a:r>
              <a:rPr kumimoji="1" lang="en-US" altLang="zh-CN" sz="12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cs"/>
              </a:rPr>
              <a:t>ChatGPT</a:t>
            </a:r>
            <a:r>
              <a:rPr kumimoji="1"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每天消耗</a:t>
            </a:r>
            <a:r>
              <a:rPr kumimoji="1"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50</a:t>
            </a:r>
            <a:r>
              <a:rPr kumimoji="1"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万度，相当于美国</a:t>
            </a:r>
            <a:r>
              <a:rPr kumimoji="1"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1.7</a:t>
            </a:r>
            <a:r>
              <a:rPr kumimoji="1"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万家庭的用电量</a:t>
            </a:r>
            <a:endParaRPr kumimoji="1"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1" fontAlgn="auto" latinLnBrk="0" hangingPunct="1">
              <a:lnSpc>
                <a:spcPct val="120000"/>
              </a:lnSpc>
              <a:spcBef>
                <a:spcPts val="600"/>
              </a:spcBef>
              <a:spcAft>
                <a:spcPts val="600"/>
              </a:spcAft>
              <a:buClrTx/>
              <a:buSzTx/>
              <a:buFont typeface="Wingdings" panose="05000000000000000000" pitchFamily="2" charset="2"/>
              <a:buChar char="Ø"/>
              <a:defRPr/>
            </a:pPr>
            <a:r>
              <a:rPr kumimoji="1"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关注点：模型能力、数据质量、训练成本、训练系统的高可靠性</a:t>
            </a:r>
            <a:endParaRPr kumimoji="1"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92" name="矩形 91"/>
          <p:cNvSpPr/>
          <p:nvPr/>
        </p:nvSpPr>
        <p:spPr>
          <a:xfrm>
            <a:off x="2185375" y="3992561"/>
            <a:ext cx="1980029" cy="307777"/>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400" b="1" i="0" u="sng"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学生：系统地长期学习</a:t>
            </a:r>
            <a:endParaRPr kumimoji="0" lang="zh-CN" altLang="en-US" sz="1400" b="1" i="0" u="sng"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93" name="矩形 92"/>
          <p:cNvSpPr/>
          <p:nvPr/>
        </p:nvSpPr>
        <p:spPr>
          <a:xfrm>
            <a:off x="7935673" y="3992561"/>
            <a:ext cx="1620957" cy="307777"/>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400" b="1" i="0" u="sng"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学生：考试、做题</a:t>
            </a:r>
            <a:endParaRPr kumimoji="0" lang="zh-CN" altLang="en-US" sz="1400" b="1" i="0" u="sng"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94" name="文本框 93"/>
          <p:cNvSpPr txBox="1"/>
          <p:nvPr/>
        </p:nvSpPr>
        <p:spPr>
          <a:xfrm>
            <a:off x="6270607" y="5086231"/>
            <a:ext cx="4820550" cy="689420"/>
          </a:xfrm>
          <a:prstGeom prst="rect">
            <a:avLst/>
          </a:prstGeom>
          <a:noFill/>
        </p:spPr>
        <p:txBody>
          <a:bodyPr wrap="none" rtlCol="0">
            <a:spAutoFit/>
          </a:bodyPr>
          <a:lstStyle/>
          <a:p>
            <a:pPr marL="342900" marR="0" lvl="0" indent="-342900" algn="l" defTabSz="914400" rtl="0" eaLnBrk="1" fontAlgn="auto" latinLnBrk="0" hangingPunct="1">
              <a:lnSpc>
                <a:spcPct val="120000"/>
              </a:lnSpc>
              <a:spcBef>
                <a:spcPts val="600"/>
              </a:spcBef>
              <a:spcAft>
                <a:spcPts val="600"/>
              </a:spcAft>
              <a:buClrTx/>
              <a:buSzTx/>
              <a:buFont typeface="Wingdings" panose="05000000000000000000" pitchFamily="2" charset="2"/>
              <a:buChar char="Ø"/>
              <a:defRPr/>
            </a:pPr>
            <a:r>
              <a:rPr kumimoji="1"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根据训练出的模型</a:t>
            </a:r>
            <a:r>
              <a:rPr kumimoji="1"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1"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算法，进行应用或服务</a:t>
            </a:r>
            <a:endParaRPr kumimoji="1"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1" fontAlgn="auto" latinLnBrk="0" hangingPunct="1">
              <a:lnSpc>
                <a:spcPct val="120000"/>
              </a:lnSpc>
              <a:spcBef>
                <a:spcPts val="600"/>
              </a:spcBef>
              <a:spcAft>
                <a:spcPts val="600"/>
              </a:spcAft>
              <a:buClrTx/>
              <a:buSzTx/>
              <a:buFont typeface="Wingdings" panose="05000000000000000000" pitchFamily="2" charset="2"/>
              <a:buChar char="Ø"/>
              <a:defRPr/>
            </a:pPr>
            <a:r>
              <a:rPr kumimoji="1"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关注点：推理质量、成本</a:t>
            </a:r>
            <a:r>
              <a:rPr kumimoji="1"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&amp;</a:t>
            </a:r>
            <a:r>
              <a:rPr kumimoji="1"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时延、应用体验、数据安全、</a:t>
            </a:r>
            <a:r>
              <a:rPr kumimoji="1"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AI</a:t>
            </a:r>
            <a:r>
              <a:rPr kumimoji="1"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伦理</a:t>
            </a:r>
            <a:endParaRPr kumimoji="1"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95" name="矩形 94"/>
          <p:cNvSpPr/>
          <p:nvPr/>
        </p:nvSpPr>
        <p:spPr>
          <a:xfrm>
            <a:off x="2185375" y="4277187"/>
            <a:ext cx="2159566" cy="307777"/>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400" b="1" i="0" u="sng"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运动员：系统地长期训练</a:t>
            </a:r>
            <a:endParaRPr kumimoji="0" lang="zh-CN" altLang="en-US" sz="1400" b="1" i="0" u="sng"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96" name="矩形 95"/>
          <p:cNvSpPr/>
          <p:nvPr/>
        </p:nvSpPr>
        <p:spPr>
          <a:xfrm>
            <a:off x="7935673" y="4277187"/>
            <a:ext cx="1620957" cy="307777"/>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400" b="1" i="0" u="sng"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运动员：参加比赛</a:t>
            </a:r>
            <a:endParaRPr kumimoji="0" lang="zh-CN" altLang="en-US" sz="1400" b="1" i="0" u="sng"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97" name="矩形 96"/>
          <p:cNvSpPr/>
          <p:nvPr/>
        </p:nvSpPr>
        <p:spPr>
          <a:xfrm>
            <a:off x="2185375" y="4537913"/>
            <a:ext cx="2339102" cy="307777"/>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400" b="1" i="0" u="sng"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车：自动驾驶算法长期训练</a:t>
            </a:r>
            <a:endParaRPr kumimoji="0" lang="zh-CN" altLang="en-US" sz="1400" b="1" i="0" u="sng"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98" name="矩形 97"/>
          <p:cNvSpPr/>
          <p:nvPr/>
        </p:nvSpPr>
        <p:spPr>
          <a:xfrm>
            <a:off x="7926151" y="4527820"/>
            <a:ext cx="1620957" cy="307777"/>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400" b="1" i="0" u="sng"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车：上路自动驾驶</a:t>
            </a:r>
            <a:endParaRPr kumimoji="0" lang="zh-CN" altLang="en-US" sz="1400" b="1" i="0" u="sng"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99" name="燕尾形箭头 98"/>
          <p:cNvSpPr/>
          <p:nvPr/>
        </p:nvSpPr>
        <p:spPr>
          <a:xfrm>
            <a:off x="5700584" y="4300338"/>
            <a:ext cx="733167" cy="237575"/>
          </a:xfrm>
          <a:prstGeom prst="notchedRightArrow">
            <a:avLst/>
          </a:prstGeom>
          <a:solidFill>
            <a:srgbClr val="00B05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666666"/>
              </a:solidFill>
              <a:effectLst/>
              <a:uLnTx/>
              <a:uFillTx/>
              <a:latin typeface="Huawei Sans" panose="020B0A04020102020204"/>
              <a:ea typeface="微软雅黑" panose="020B0503020204020204" pitchFamily="34" charset="-122"/>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组合 24"/>
          <p:cNvGrpSpPr/>
          <p:nvPr/>
        </p:nvGrpSpPr>
        <p:grpSpPr>
          <a:xfrm>
            <a:off x="4821648" y="3660023"/>
            <a:ext cx="3700645" cy="2928257"/>
            <a:chOff x="4000931" y="3693135"/>
            <a:chExt cx="2430970" cy="2582655"/>
          </a:xfrm>
        </p:grpSpPr>
        <p:pic>
          <p:nvPicPr>
            <p:cNvPr id="26" name="图片 25"/>
            <p:cNvPicPr>
              <a:picLocks noChangeAspect="1"/>
            </p:cNvPicPr>
            <p:nvPr/>
          </p:nvPicPr>
          <p:blipFill>
            <a:blip r:embed="rId1" cstate="print"/>
            <a:stretch>
              <a:fillRect/>
            </a:stretch>
          </p:blipFill>
          <p:spPr>
            <a:xfrm>
              <a:off x="4000931" y="3693135"/>
              <a:ext cx="2430970" cy="2075474"/>
            </a:xfrm>
            <a:prstGeom prst="rect">
              <a:avLst/>
            </a:prstGeom>
          </p:spPr>
        </p:pic>
        <p:sp>
          <p:nvSpPr>
            <p:cNvPr id="27" name="矩形 26"/>
            <p:cNvSpPr/>
            <p:nvPr/>
          </p:nvSpPr>
          <p:spPr>
            <a:xfrm>
              <a:off x="4153595" y="5781456"/>
              <a:ext cx="1737884" cy="494334"/>
            </a:xfrm>
            <a:prstGeom prst="rect">
              <a:avLst/>
            </a:prstGeom>
          </p:spPr>
          <p:txBody>
            <a:bodyPr wrap="none">
              <a:spAutoFit/>
            </a:bodyPr>
            <a:lstStyle/>
            <a:p>
              <a:pPr algn="ctr"/>
              <a:r>
                <a:rPr lang="en-US" altLang="zh-CN" sz="1400" kern="100" dirty="0" err="1">
                  <a:solidFill>
                    <a:schemeClr val="bg1"/>
                  </a:solidFill>
                  <a:latin typeface="+mn-ea"/>
                  <a:cs typeface="Times New Roman" panose="02020603050405020304" pitchFamily="18" charset="0"/>
                </a:rPr>
                <a:t>ReLU</a:t>
              </a:r>
              <a:r>
                <a:rPr lang="zh-CN" altLang="en-US" sz="1400" kern="100" dirty="0">
                  <a:solidFill>
                    <a:schemeClr val="bg1"/>
                  </a:solidFill>
                  <a:latin typeface="+mn-ea"/>
                  <a:cs typeface="Times New Roman" panose="02020603050405020304" pitchFamily="18" charset="0"/>
                </a:rPr>
                <a:t>函数图像</a:t>
              </a:r>
              <a:endParaRPr lang="zh-CN" altLang="en-US" sz="1400" dirty="0">
                <a:solidFill>
                  <a:schemeClr val="bg1"/>
                </a:solidFill>
                <a:latin typeface="+mn-ea"/>
              </a:endParaRPr>
            </a:p>
          </p:txBody>
        </p:sp>
      </p:grpSp>
      <p:sp>
        <p:nvSpPr>
          <p:cNvPr id="2" name="文本框 1"/>
          <p:cNvSpPr txBox="1"/>
          <p:nvPr/>
        </p:nvSpPr>
        <p:spPr>
          <a:xfrm>
            <a:off x="738036" y="159805"/>
            <a:ext cx="10720690" cy="430887"/>
          </a:xfrm>
          <a:prstGeom prst="rect">
            <a:avLst/>
          </a:prstGeom>
          <a:noFill/>
        </p:spPr>
        <p:txBody>
          <a:bodyPr wrap="square" lIns="0" tIns="0" rIns="0" bIns="0" rtlCol="0">
            <a:spAutoFit/>
          </a:bodyPr>
          <a:lstStyle/>
          <a:p>
            <a:pPr>
              <a:defRPr/>
            </a:pPr>
            <a:r>
              <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人工智能核心概念：计算图、算子</a:t>
            </a:r>
            <a:endPar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6" name="文本框 15"/>
          <p:cNvSpPr txBox="1"/>
          <p:nvPr/>
        </p:nvSpPr>
        <p:spPr>
          <a:xfrm>
            <a:off x="551733" y="781070"/>
            <a:ext cx="11455210" cy="1023742"/>
          </a:xfrm>
          <a:prstGeom prst="rect">
            <a:avLst/>
          </a:prstGeom>
          <a:noFill/>
        </p:spPr>
        <p:txBody>
          <a:bodyPr wrap="square" rtlCol="0">
            <a:spAutoFit/>
          </a:bodyPr>
          <a:lstStyle/>
          <a:p>
            <a:pPr>
              <a:lnSpc>
                <a:spcPct val="150000"/>
              </a:lnSpc>
            </a:pPr>
            <a:r>
              <a:rPr lang="zh-CN" altLang="en-US" sz="1400" b="0" i="0">
                <a:solidFill>
                  <a:schemeClr val="bg1"/>
                </a:solidFill>
                <a:effectLst/>
                <a:latin typeface="-apple-system"/>
              </a:rPr>
              <a:t>深度学习框架把模型画成一张</a:t>
            </a:r>
            <a:r>
              <a:rPr lang="zh-CN" altLang="en-US" sz="1400" b="1" i="0">
                <a:solidFill>
                  <a:schemeClr val="bg1"/>
                </a:solidFill>
                <a:effectLst/>
                <a:latin typeface="-apple-system"/>
              </a:rPr>
              <a:t>计算图（有向无环图）</a:t>
            </a:r>
            <a:r>
              <a:rPr lang="en-US" altLang="zh-CN" sz="1400" b="0" i="0">
                <a:solidFill>
                  <a:schemeClr val="bg1"/>
                </a:solidFill>
                <a:effectLst/>
                <a:latin typeface="-apple-system"/>
              </a:rPr>
              <a:t>——</a:t>
            </a:r>
            <a:r>
              <a:rPr lang="zh-CN" altLang="en-US" sz="1400" b="0" i="0">
                <a:solidFill>
                  <a:schemeClr val="bg1"/>
                </a:solidFill>
                <a:effectLst/>
                <a:latin typeface="-apple-system"/>
              </a:rPr>
              <a:t>用图的方式把</a:t>
            </a:r>
            <a:r>
              <a:rPr lang="en-US" altLang="zh-CN" sz="1400" b="0" i="0">
                <a:solidFill>
                  <a:schemeClr val="bg1"/>
                </a:solidFill>
                <a:effectLst/>
                <a:latin typeface="-apple-system"/>
              </a:rPr>
              <a:t>"</a:t>
            </a:r>
            <a:r>
              <a:rPr lang="zh-CN" altLang="en-US" sz="1400" b="0" i="0">
                <a:solidFill>
                  <a:schemeClr val="bg1"/>
                </a:solidFill>
                <a:effectLst/>
                <a:latin typeface="-apple-system"/>
              </a:rPr>
              <a:t>谁算什么、数据怎么流</a:t>
            </a:r>
            <a:r>
              <a:rPr lang="en-US" altLang="zh-CN" sz="1400" b="0" i="0">
                <a:solidFill>
                  <a:schemeClr val="bg1"/>
                </a:solidFill>
                <a:effectLst/>
                <a:latin typeface="-apple-system"/>
              </a:rPr>
              <a:t>"</a:t>
            </a:r>
            <a:r>
              <a:rPr lang="zh-CN" altLang="en-US" sz="1400" b="0" i="0">
                <a:solidFill>
                  <a:schemeClr val="bg1"/>
                </a:solidFill>
                <a:effectLst/>
                <a:latin typeface="-apple-system"/>
              </a:rPr>
              <a:t>画出来</a:t>
            </a:r>
            <a:endParaRPr lang="en-US" altLang="zh-CN" sz="1400" b="0" i="0">
              <a:solidFill>
                <a:schemeClr val="bg1"/>
              </a:solidFill>
              <a:effectLst/>
              <a:latin typeface="-apple-system"/>
            </a:endParaRPr>
          </a:p>
          <a:p>
            <a:pPr>
              <a:lnSpc>
                <a:spcPct val="150000"/>
              </a:lnSpc>
            </a:pPr>
            <a:r>
              <a:rPr lang="zh-CN" altLang="en-US" sz="1400">
                <a:solidFill>
                  <a:schemeClr val="bg1"/>
                </a:solidFill>
                <a:latin typeface="微软雅黑" panose="020B0503020204020204" pitchFamily="34" charset="-122"/>
                <a:ea typeface="微软雅黑" panose="020B0503020204020204" pitchFamily="34" charset="-122"/>
              </a:rPr>
              <a:t>由</a:t>
            </a:r>
            <a:r>
              <a:rPr lang="zh-CN" altLang="en-US" sz="1400" dirty="0">
                <a:solidFill>
                  <a:schemeClr val="bg1"/>
                </a:solidFill>
                <a:latin typeface="微软雅黑" panose="020B0503020204020204" pitchFamily="34" charset="-122"/>
                <a:ea typeface="微软雅黑" panose="020B0503020204020204" pitchFamily="34" charset="-122"/>
              </a:rPr>
              <a:t>一个个计算单元组成，我们称这些计算单元为算子（</a:t>
            </a:r>
            <a:r>
              <a:rPr lang="en-US" altLang="zh-CN" sz="1400" dirty="0">
                <a:solidFill>
                  <a:schemeClr val="bg1"/>
                </a:solidFill>
                <a:latin typeface="微软雅黑" panose="020B0503020204020204" pitchFamily="34" charset="-122"/>
                <a:ea typeface="微软雅黑" panose="020B0503020204020204" pitchFamily="34" charset="-122"/>
              </a:rPr>
              <a:t>Operator</a:t>
            </a:r>
            <a:r>
              <a:rPr lang="zh-CN" altLang="en-US" sz="1400" dirty="0">
                <a:solidFill>
                  <a:schemeClr val="bg1"/>
                </a:solidFill>
                <a:latin typeface="微软雅黑" panose="020B0503020204020204" pitchFamily="34" charset="-122"/>
                <a:ea typeface="微软雅黑" panose="020B0503020204020204" pitchFamily="34" charset="-122"/>
              </a:rPr>
              <a:t>，简称</a:t>
            </a:r>
            <a:r>
              <a:rPr lang="en-US" altLang="zh-CN" sz="1400" dirty="0">
                <a:solidFill>
                  <a:schemeClr val="bg1"/>
                </a:solidFill>
                <a:latin typeface="微软雅黑" panose="020B0503020204020204" pitchFamily="34" charset="-122"/>
                <a:ea typeface="微软雅黑" panose="020B0503020204020204" pitchFamily="34" charset="-122"/>
              </a:rPr>
              <a:t>OP</a:t>
            </a:r>
            <a:r>
              <a:rPr lang="zh-CN" altLang="en-US" sz="1400">
                <a:solidFill>
                  <a:schemeClr val="bg1"/>
                </a:solidFill>
                <a:latin typeface="微软雅黑" panose="020B0503020204020204" pitchFamily="34" charset="-122"/>
                <a:ea typeface="微软雅黑" panose="020B0503020204020204" pitchFamily="34" charset="-122"/>
              </a:rPr>
              <a:t>）。在网络模型中，算子对应层或者节点的计算逻辑，通常网络模型都是</a:t>
            </a:r>
            <a:r>
              <a:rPr lang="zh-CN" altLang="en-US" sz="1400" dirty="0">
                <a:solidFill>
                  <a:schemeClr val="bg1"/>
                </a:solidFill>
                <a:latin typeface="微软雅黑" panose="020B0503020204020204" pitchFamily="34" charset="-122"/>
                <a:ea typeface="微软雅黑" panose="020B0503020204020204" pitchFamily="34" charset="-122"/>
              </a:rPr>
              <a:t>由一个或多个算子拼接组成。</a:t>
            </a:r>
            <a:endParaRPr lang="en-US" altLang="zh-CN" sz="1400" dirty="0">
              <a:solidFill>
                <a:schemeClr val="bg1"/>
              </a:solidFill>
              <a:latin typeface="微软雅黑" panose="020B0503020204020204" pitchFamily="34" charset="-122"/>
              <a:ea typeface="微软雅黑" panose="020B0503020204020204" pitchFamily="34" charset="-122"/>
            </a:endParaRPr>
          </a:p>
        </p:txBody>
      </p:sp>
      <p:sp>
        <p:nvSpPr>
          <p:cNvPr id="18" name="矩形 17"/>
          <p:cNvSpPr/>
          <p:nvPr/>
        </p:nvSpPr>
        <p:spPr>
          <a:xfrm>
            <a:off x="585463" y="2907353"/>
            <a:ext cx="11025835" cy="700576"/>
          </a:xfrm>
          <a:prstGeom prst="rect">
            <a:avLst/>
          </a:prstGeom>
        </p:spPr>
        <p:txBody>
          <a:bodyPr wrap="square">
            <a:spAutoFit/>
          </a:bodyPr>
          <a:lstStyle/>
          <a:p>
            <a:pPr>
              <a:lnSpc>
                <a:spcPct val="150000"/>
              </a:lnSpc>
            </a:pPr>
            <a:r>
              <a:rPr lang="zh-CN" altLang="en-US" sz="1400" dirty="0">
                <a:solidFill>
                  <a:schemeClr val="bg1"/>
                </a:solidFill>
                <a:latin typeface="微软雅黑" panose="020B0503020204020204" pitchFamily="34" charset="-122"/>
                <a:ea typeface="微软雅黑" panose="020B0503020204020204" pitchFamily="34" charset="-122"/>
              </a:rPr>
              <a:t>在数学领域，一个函数空间到函数空间上的映射</a:t>
            </a:r>
            <a:r>
              <a:rPr lang="en-US" altLang="zh-CN" sz="1400" dirty="0">
                <a:solidFill>
                  <a:schemeClr val="bg1"/>
                </a:solidFill>
                <a:latin typeface="微软雅黑" panose="020B0503020204020204" pitchFamily="34" charset="-122"/>
                <a:ea typeface="微软雅黑" panose="020B0503020204020204" pitchFamily="34" charset="-122"/>
              </a:rPr>
              <a:t>O</a:t>
            </a:r>
            <a:r>
              <a:rPr lang="zh-CN" altLang="en-US" sz="1400" dirty="0">
                <a:solidFill>
                  <a:schemeClr val="bg1"/>
                </a:solidFill>
                <a:latin typeface="微软雅黑" panose="020B0503020204020204" pitchFamily="34" charset="-122"/>
                <a:ea typeface="微软雅黑" panose="020B0503020204020204" pitchFamily="34" charset="-122"/>
              </a:rPr>
              <a:t>：</a:t>
            </a:r>
            <a:r>
              <a:rPr lang="en-US" altLang="zh-CN" sz="1400" dirty="0">
                <a:solidFill>
                  <a:schemeClr val="bg1"/>
                </a:solidFill>
                <a:latin typeface="微软雅黑" panose="020B0503020204020204" pitchFamily="34" charset="-122"/>
                <a:ea typeface="微软雅黑" panose="020B0503020204020204" pitchFamily="34" charset="-122"/>
              </a:rPr>
              <a:t>X→Y</a:t>
            </a:r>
            <a:r>
              <a:rPr lang="zh-CN" altLang="en-US" sz="1400" dirty="0">
                <a:solidFill>
                  <a:schemeClr val="bg1"/>
                </a:solidFill>
                <a:latin typeface="微软雅黑" panose="020B0503020204020204" pitchFamily="34" charset="-122"/>
                <a:ea typeface="微软雅黑" panose="020B0503020204020204" pitchFamily="34" charset="-122"/>
              </a:rPr>
              <a:t>，都称为算子。广义的讲，对任何函数进行某一项操作都可以认为是一个算子，比如微分算子，不定积分算子</a:t>
            </a:r>
            <a:r>
              <a:rPr lang="zh-CN" altLang="en-US" sz="1400">
                <a:solidFill>
                  <a:schemeClr val="bg1"/>
                </a:solidFill>
                <a:latin typeface="微软雅黑" panose="020B0503020204020204" pitchFamily="34" charset="-122"/>
                <a:ea typeface="微软雅黑" panose="020B0503020204020204" pitchFamily="34" charset="-122"/>
              </a:rPr>
              <a:t>等。常见</a:t>
            </a:r>
            <a:r>
              <a:rPr lang="zh-CN" altLang="en-US" sz="1400" dirty="0">
                <a:solidFill>
                  <a:schemeClr val="bg1"/>
                </a:solidFill>
                <a:latin typeface="微软雅黑" panose="020B0503020204020204" pitchFamily="34" charset="-122"/>
                <a:ea typeface="微软雅黑" panose="020B0503020204020204" pitchFamily="34" charset="-122"/>
              </a:rPr>
              <a:t>算子： </a:t>
            </a:r>
            <a:r>
              <a:rPr lang="en-US" altLang="zh-CN" sz="1400" dirty="0">
                <a:solidFill>
                  <a:schemeClr val="bg1"/>
                </a:solidFill>
                <a:latin typeface="微软雅黑" panose="020B0503020204020204" pitchFamily="34" charset="-122"/>
                <a:ea typeface="微软雅黑" panose="020B0503020204020204" pitchFamily="34" charset="-122"/>
              </a:rPr>
              <a:t>tanh</a:t>
            </a:r>
            <a:r>
              <a:rPr lang="zh-CN" altLang="en-US" sz="1400" dirty="0">
                <a:solidFill>
                  <a:schemeClr val="bg1"/>
                </a:solidFill>
                <a:latin typeface="微软雅黑" panose="020B0503020204020204" pitchFamily="34" charset="-122"/>
                <a:ea typeface="微软雅黑" panose="020B0503020204020204" pitchFamily="34" charset="-122"/>
              </a:rPr>
              <a:t>、</a:t>
            </a:r>
            <a:r>
              <a:rPr lang="en-US" altLang="zh-CN" sz="1400" dirty="0" err="1">
                <a:solidFill>
                  <a:schemeClr val="bg1"/>
                </a:solidFill>
                <a:latin typeface="微软雅黑" panose="020B0503020204020204" pitchFamily="34" charset="-122"/>
                <a:ea typeface="微软雅黑" panose="020B0503020204020204" pitchFamily="34" charset="-122"/>
              </a:rPr>
              <a:t>ReLU</a:t>
            </a:r>
            <a:r>
              <a:rPr lang="zh-CN" altLang="en-US" sz="1400" dirty="0">
                <a:solidFill>
                  <a:schemeClr val="bg1"/>
                </a:solidFill>
                <a:latin typeface="微软雅黑" panose="020B0503020204020204" pitchFamily="34" charset="-122"/>
                <a:ea typeface="微软雅黑" panose="020B0503020204020204" pitchFamily="34" charset="-122"/>
              </a:rPr>
              <a:t>、</a:t>
            </a:r>
            <a:r>
              <a:rPr lang="en-US" altLang="zh-CN" sz="1400" dirty="0">
                <a:solidFill>
                  <a:schemeClr val="bg1"/>
                </a:solidFill>
                <a:latin typeface="微软雅黑" panose="020B0503020204020204" pitchFamily="34" charset="-122"/>
                <a:ea typeface="微软雅黑" panose="020B0503020204020204" pitchFamily="34" charset="-122"/>
              </a:rPr>
              <a:t>sigmoid</a:t>
            </a:r>
            <a:r>
              <a:rPr lang="zh-CN" altLang="en-US" sz="1400" dirty="0">
                <a:solidFill>
                  <a:schemeClr val="bg1"/>
                </a:solidFill>
                <a:latin typeface="微软雅黑" panose="020B0503020204020204" pitchFamily="34" charset="-122"/>
                <a:ea typeface="微软雅黑" panose="020B0503020204020204" pitchFamily="34" charset="-122"/>
              </a:rPr>
              <a:t>等。</a:t>
            </a:r>
            <a:endParaRPr lang="zh-CN" altLang="en-US" sz="1400" dirty="0">
              <a:solidFill>
                <a:schemeClr val="bg1"/>
              </a:solidFill>
              <a:latin typeface="微软雅黑" panose="020B0503020204020204" pitchFamily="34" charset="-122"/>
              <a:ea typeface="微软雅黑" panose="020B0503020204020204" pitchFamily="34" charset="-122"/>
            </a:endParaRPr>
          </a:p>
        </p:txBody>
      </p:sp>
      <p:grpSp>
        <p:nvGrpSpPr>
          <p:cNvPr id="19" name="组合 18"/>
          <p:cNvGrpSpPr/>
          <p:nvPr/>
        </p:nvGrpSpPr>
        <p:grpSpPr>
          <a:xfrm>
            <a:off x="772250" y="3949003"/>
            <a:ext cx="3975259" cy="2473832"/>
            <a:chOff x="821689" y="3882774"/>
            <a:chExt cx="2817561" cy="2122374"/>
          </a:xfrm>
        </p:grpSpPr>
        <p:pic>
          <p:nvPicPr>
            <p:cNvPr id="20" name="图片 19"/>
            <p:cNvPicPr>
              <a:picLocks noChangeAspect="1"/>
            </p:cNvPicPr>
            <p:nvPr/>
          </p:nvPicPr>
          <p:blipFill>
            <a:blip r:embed="rId2"/>
            <a:stretch>
              <a:fillRect/>
            </a:stretch>
          </p:blipFill>
          <p:spPr>
            <a:xfrm>
              <a:off x="821689" y="3882774"/>
              <a:ext cx="2817561" cy="1845791"/>
            </a:xfrm>
            <a:prstGeom prst="rect">
              <a:avLst/>
            </a:prstGeom>
          </p:spPr>
        </p:pic>
        <p:sp>
          <p:nvSpPr>
            <p:cNvPr id="21" name="矩形 20"/>
            <p:cNvSpPr/>
            <p:nvPr/>
          </p:nvSpPr>
          <p:spPr>
            <a:xfrm>
              <a:off x="1786545" y="5741097"/>
              <a:ext cx="887847" cy="264051"/>
            </a:xfrm>
            <a:prstGeom prst="rect">
              <a:avLst/>
            </a:prstGeom>
          </p:spPr>
          <p:txBody>
            <a:bodyPr wrap="none">
              <a:spAutoFit/>
            </a:bodyPr>
            <a:lstStyle/>
            <a:p>
              <a:pPr algn="ctr"/>
              <a:r>
                <a:rPr lang="en-US" altLang="zh-CN" sz="1400" kern="100" dirty="0" err="1">
                  <a:solidFill>
                    <a:schemeClr val="bg1"/>
                  </a:solidFill>
                  <a:latin typeface="Calibri" panose="020F0502020204030204" pitchFamily="34" charset="0"/>
                  <a:ea typeface="微软雅黑" panose="020B0503020204020204" pitchFamily="34" charset="-122"/>
                  <a:cs typeface="Times New Roman" panose="02020603050405020304" pitchFamily="18" charset="0"/>
                </a:rPr>
                <a:t>Tanh</a:t>
              </a:r>
              <a:r>
                <a:rPr lang="zh-CN" altLang="en-US" sz="1400" kern="100" dirty="0">
                  <a:solidFill>
                    <a:schemeClr val="bg1"/>
                  </a:solidFill>
                  <a:latin typeface="Calibri" panose="020F0502020204030204" pitchFamily="34" charset="0"/>
                  <a:ea typeface="微软雅黑" panose="020B0503020204020204" pitchFamily="34" charset="-122"/>
                  <a:cs typeface="Times New Roman" panose="02020603050405020304" pitchFamily="18" charset="0"/>
                </a:rPr>
                <a:t>函数图像</a:t>
              </a:r>
              <a:endParaRPr lang="zh-CN" altLang="en-US" sz="1400" dirty="0">
                <a:solidFill>
                  <a:schemeClr val="bg1"/>
                </a:solidFill>
              </a:endParaRPr>
            </a:p>
          </p:txBody>
        </p:sp>
      </p:grpSp>
      <p:grpSp>
        <p:nvGrpSpPr>
          <p:cNvPr id="22" name="组合 21"/>
          <p:cNvGrpSpPr/>
          <p:nvPr/>
        </p:nvGrpSpPr>
        <p:grpSpPr>
          <a:xfrm>
            <a:off x="8540652" y="3717980"/>
            <a:ext cx="3397564" cy="2704855"/>
            <a:chOff x="7692282" y="3773393"/>
            <a:chExt cx="2583459" cy="2558943"/>
          </a:xfrm>
        </p:grpSpPr>
        <p:pic>
          <p:nvPicPr>
            <p:cNvPr id="23" name="图片 22"/>
            <p:cNvPicPr>
              <a:picLocks noChangeAspect="1"/>
            </p:cNvPicPr>
            <p:nvPr/>
          </p:nvPicPr>
          <p:blipFill>
            <a:blip r:embed="rId3" cstate="screen"/>
            <a:stretch>
              <a:fillRect/>
            </a:stretch>
          </p:blipFill>
          <p:spPr>
            <a:xfrm>
              <a:off x="7692282" y="3773393"/>
              <a:ext cx="2583459" cy="1995330"/>
            </a:xfrm>
            <a:prstGeom prst="rect">
              <a:avLst/>
            </a:prstGeom>
          </p:spPr>
        </p:pic>
        <p:sp>
          <p:nvSpPr>
            <p:cNvPr id="24" name="矩形 23"/>
            <p:cNvSpPr/>
            <p:nvPr/>
          </p:nvSpPr>
          <p:spPr>
            <a:xfrm>
              <a:off x="8243506" y="5840092"/>
              <a:ext cx="1687934" cy="492244"/>
            </a:xfrm>
            <a:prstGeom prst="rect">
              <a:avLst/>
            </a:prstGeom>
          </p:spPr>
          <p:txBody>
            <a:bodyPr wrap="none">
              <a:spAutoFit/>
            </a:bodyPr>
            <a:lstStyle/>
            <a:p>
              <a:pPr algn="ctr"/>
              <a:r>
                <a:rPr lang="en-US" altLang="zh-CN" sz="1400" kern="100" dirty="0">
                  <a:solidFill>
                    <a:schemeClr val="bg1"/>
                  </a:solidFill>
                  <a:latin typeface="+mn-ea"/>
                  <a:cs typeface="Times New Roman" panose="02020603050405020304" pitchFamily="18" charset="0"/>
                </a:rPr>
                <a:t>Sigmoid</a:t>
              </a:r>
              <a:r>
                <a:rPr lang="zh-CN" altLang="en-US" sz="1400" kern="100" dirty="0">
                  <a:solidFill>
                    <a:schemeClr val="bg1"/>
                  </a:solidFill>
                  <a:latin typeface="+mn-ea"/>
                  <a:cs typeface="Times New Roman" panose="02020603050405020304" pitchFamily="18" charset="0"/>
                </a:rPr>
                <a:t>函数图像</a:t>
              </a:r>
              <a:endParaRPr lang="zh-CN" altLang="en-US" sz="1400" dirty="0">
                <a:solidFill>
                  <a:schemeClr val="bg1"/>
                </a:solidFill>
                <a:latin typeface="+mn-ea"/>
              </a:endParaRPr>
            </a:p>
          </p:txBody>
        </p:sp>
      </p:grpSp>
      <p:pic>
        <p:nvPicPr>
          <p:cNvPr id="5" name="图片 4"/>
          <p:cNvPicPr>
            <a:picLocks noChangeAspect="1"/>
          </p:cNvPicPr>
          <p:nvPr/>
        </p:nvPicPr>
        <p:blipFill>
          <a:blip r:embed="rId4"/>
          <a:stretch>
            <a:fillRect/>
          </a:stretch>
        </p:blipFill>
        <p:spPr>
          <a:xfrm>
            <a:off x="551733" y="1830307"/>
            <a:ext cx="11317758" cy="104387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38036" y="159805"/>
            <a:ext cx="10720690" cy="430887"/>
          </a:xfrm>
          <a:prstGeom prst="rect">
            <a:avLst/>
          </a:prstGeom>
          <a:noFill/>
        </p:spPr>
        <p:txBody>
          <a:bodyPr wrap="square" lIns="0" tIns="0" rIns="0" bIns="0" rtlCol="0">
            <a:spAutoFit/>
          </a:bodyPr>
          <a:lstStyle/>
          <a:p>
            <a:pPr>
              <a:defRPr/>
            </a:pPr>
            <a:r>
              <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人工智能核心概念：算子</a:t>
            </a:r>
            <a:endPar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37" name="矩形 36"/>
          <p:cNvSpPr/>
          <p:nvPr/>
        </p:nvSpPr>
        <p:spPr>
          <a:xfrm>
            <a:off x="431004" y="900720"/>
            <a:ext cx="2520242" cy="369332"/>
          </a:xfrm>
          <a:prstGeom prst="rect">
            <a:avLst/>
          </a:prstGeom>
        </p:spPr>
        <p:txBody>
          <a:bodyPr wrap="none">
            <a:spAutoFit/>
          </a:bodyPr>
          <a:lstStyle/>
          <a:p>
            <a:pPr marL="285750" indent="-285750">
              <a:buFont typeface="Wingdings" panose="05000000000000000000" pitchFamily="2" charset="2"/>
              <a:buChar char="n"/>
            </a:pPr>
            <a:r>
              <a:rPr lang="zh-CN" altLang="en-US" b="1" dirty="0">
                <a:solidFill>
                  <a:schemeClr val="bg1"/>
                </a:solidFill>
              </a:rPr>
              <a:t>算子名称（</a:t>
            </a:r>
            <a:r>
              <a:rPr lang="en-US" altLang="zh-CN" b="1" dirty="0">
                <a:solidFill>
                  <a:schemeClr val="bg1"/>
                </a:solidFill>
              </a:rPr>
              <a:t>Name</a:t>
            </a:r>
            <a:r>
              <a:rPr lang="zh-CN" altLang="en-US" b="1" dirty="0">
                <a:solidFill>
                  <a:schemeClr val="bg1"/>
                </a:solidFill>
              </a:rPr>
              <a:t>）</a:t>
            </a:r>
            <a:endParaRPr lang="zh-CN" altLang="en-US" dirty="0">
              <a:solidFill>
                <a:schemeClr val="bg1"/>
              </a:solidFill>
            </a:endParaRPr>
          </a:p>
        </p:txBody>
      </p:sp>
      <p:sp>
        <p:nvSpPr>
          <p:cNvPr id="38" name="矩形 37"/>
          <p:cNvSpPr/>
          <p:nvPr/>
        </p:nvSpPr>
        <p:spPr>
          <a:xfrm>
            <a:off x="734072" y="1221095"/>
            <a:ext cx="8974587" cy="1294585"/>
          </a:xfrm>
          <a:prstGeom prst="rect">
            <a:avLst/>
          </a:prstGeom>
        </p:spPr>
        <p:txBody>
          <a:bodyPr wrap="square">
            <a:spAutoFit/>
          </a:bodyPr>
          <a:lstStyle/>
          <a:p>
            <a:pPr>
              <a:lnSpc>
                <a:spcPct val="150000"/>
              </a:lnSpc>
            </a:pPr>
            <a:r>
              <a:rPr lang="zh-CN" altLang="en-US" dirty="0">
                <a:solidFill>
                  <a:schemeClr val="bg1"/>
                </a:solidFill>
                <a:latin typeface="Times New Roman" panose="02020603050405020304" pitchFamily="18" charset="0"/>
                <a:ea typeface="微软雅黑" panose="020B0503020204020204" pitchFamily="34" charset="-122"/>
              </a:rPr>
              <a:t>算子的名称，用于标志网络中的某个算子，同一网络中算子的名称需要保持唯一。如右图所示</a:t>
            </a:r>
            <a:r>
              <a:rPr lang="en-US" altLang="zh-CN" dirty="0">
                <a:solidFill>
                  <a:schemeClr val="bg1"/>
                </a:solidFill>
                <a:latin typeface="Times New Roman" panose="02020603050405020304" pitchFamily="18" charset="0"/>
                <a:ea typeface="微软雅黑" panose="020B0503020204020204" pitchFamily="34" charset="-122"/>
              </a:rPr>
              <a:t>Conv1</a:t>
            </a:r>
            <a:r>
              <a:rPr lang="zh-CN" altLang="en-US" dirty="0">
                <a:solidFill>
                  <a:schemeClr val="bg1"/>
                </a:solidFill>
                <a:latin typeface="Times New Roman" panose="02020603050405020304" pitchFamily="18" charset="0"/>
                <a:ea typeface="微软雅黑" panose="020B0503020204020204" pitchFamily="34" charset="-122"/>
              </a:rPr>
              <a:t>，</a:t>
            </a:r>
            <a:r>
              <a:rPr lang="en-US" altLang="zh-CN" dirty="0">
                <a:solidFill>
                  <a:schemeClr val="bg1"/>
                </a:solidFill>
                <a:latin typeface="Times New Roman" panose="02020603050405020304" pitchFamily="18" charset="0"/>
                <a:ea typeface="微软雅黑" panose="020B0503020204020204" pitchFamily="34" charset="-122"/>
              </a:rPr>
              <a:t>Pool1</a:t>
            </a:r>
            <a:r>
              <a:rPr lang="zh-CN" altLang="en-US" dirty="0">
                <a:solidFill>
                  <a:schemeClr val="bg1"/>
                </a:solidFill>
                <a:latin typeface="Times New Roman" panose="02020603050405020304" pitchFamily="18" charset="0"/>
                <a:ea typeface="微软雅黑" panose="020B0503020204020204" pitchFamily="34" charset="-122"/>
              </a:rPr>
              <a:t>，</a:t>
            </a:r>
            <a:r>
              <a:rPr lang="en-US" altLang="zh-CN" dirty="0">
                <a:solidFill>
                  <a:schemeClr val="bg1"/>
                </a:solidFill>
                <a:latin typeface="Times New Roman" panose="02020603050405020304" pitchFamily="18" charset="0"/>
                <a:ea typeface="微软雅黑" panose="020B0503020204020204" pitchFamily="34" charset="-122"/>
              </a:rPr>
              <a:t>Conv2</a:t>
            </a:r>
            <a:r>
              <a:rPr lang="zh-CN" altLang="en-US" dirty="0">
                <a:solidFill>
                  <a:schemeClr val="bg1"/>
                </a:solidFill>
                <a:latin typeface="Times New Roman" panose="02020603050405020304" pitchFamily="18" charset="0"/>
                <a:ea typeface="微软雅黑" panose="020B0503020204020204" pitchFamily="34" charset="-122"/>
              </a:rPr>
              <a:t>都是此网络中的算子名称，其中</a:t>
            </a:r>
            <a:r>
              <a:rPr lang="en-US" altLang="zh-CN" dirty="0">
                <a:solidFill>
                  <a:schemeClr val="bg1"/>
                </a:solidFill>
                <a:latin typeface="Times New Roman" panose="02020603050405020304" pitchFamily="18" charset="0"/>
                <a:ea typeface="微软雅黑" panose="020B0503020204020204" pitchFamily="34" charset="-122"/>
              </a:rPr>
              <a:t>Conv1</a:t>
            </a:r>
            <a:r>
              <a:rPr lang="zh-CN" altLang="en-US" dirty="0">
                <a:solidFill>
                  <a:schemeClr val="bg1"/>
                </a:solidFill>
                <a:latin typeface="Times New Roman" panose="02020603050405020304" pitchFamily="18" charset="0"/>
                <a:ea typeface="微软雅黑" panose="020B0503020204020204" pitchFamily="34" charset="-122"/>
              </a:rPr>
              <a:t>与</a:t>
            </a:r>
            <a:r>
              <a:rPr lang="en-US" altLang="zh-CN" dirty="0">
                <a:solidFill>
                  <a:schemeClr val="bg1"/>
                </a:solidFill>
                <a:latin typeface="Times New Roman" panose="02020603050405020304" pitchFamily="18" charset="0"/>
                <a:ea typeface="微软雅黑" panose="020B0503020204020204" pitchFamily="34" charset="-122"/>
              </a:rPr>
              <a:t>Conv2</a:t>
            </a:r>
            <a:r>
              <a:rPr lang="zh-CN" altLang="en-US" dirty="0">
                <a:solidFill>
                  <a:schemeClr val="bg1"/>
                </a:solidFill>
                <a:latin typeface="Times New Roman" panose="02020603050405020304" pitchFamily="18" charset="0"/>
                <a:ea typeface="微软雅黑" panose="020B0503020204020204" pitchFamily="34" charset="-122"/>
              </a:rPr>
              <a:t>算子的类型为</a:t>
            </a:r>
            <a:r>
              <a:rPr lang="en-US" altLang="zh-CN" dirty="0">
                <a:solidFill>
                  <a:schemeClr val="bg1"/>
                </a:solidFill>
                <a:latin typeface="Times New Roman" panose="02020603050405020304" pitchFamily="18" charset="0"/>
                <a:ea typeface="微软雅黑" panose="020B0503020204020204" pitchFamily="34" charset="-122"/>
              </a:rPr>
              <a:t>Convolution</a:t>
            </a:r>
            <a:r>
              <a:rPr lang="zh-CN" altLang="en-US" dirty="0">
                <a:solidFill>
                  <a:schemeClr val="bg1"/>
                </a:solidFill>
                <a:latin typeface="Times New Roman" panose="02020603050405020304" pitchFamily="18" charset="0"/>
                <a:ea typeface="微软雅黑" panose="020B0503020204020204" pitchFamily="34" charset="-122"/>
              </a:rPr>
              <a:t>，表示分别做一次卷积运算。</a:t>
            </a:r>
            <a:endParaRPr lang="zh-CN" altLang="en-US" dirty="0">
              <a:solidFill>
                <a:schemeClr val="bg1"/>
              </a:solidFill>
              <a:latin typeface="Times New Roman" panose="02020603050405020304" pitchFamily="18" charset="0"/>
              <a:ea typeface="微软雅黑" panose="020B0503020204020204" pitchFamily="34" charset="-122"/>
            </a:endParaRPr>
          </a:p>
        </p:txBody>
      </p:sp>
      <p:sp>
        <p:nvSpPr>
          <p:cNvPr id="39" name="矩形 38"/>
          <p:cNvSpPr/>
          <p:nvPr/>
        </p:nvSpPr>
        <p:spPr>
          <a:xfrm>
            <a:off x="431004" y="2610271"/>
            <a:ext cx="2390398" cy="369332"/>
          </a:xfrm>
          <a:prstGeom prst="rect">
            <a:avLst/>
          </a:prstGeom>
        </p:spPr>
        <p:txBody>
          <a:bodyPr wrap="none">
            <a:spAutoFit/>
          </a:bodyPr>
          <a:lstStyle/>
          <a:p>
            <a:pPr marL="285750" indent="-285750">
              <a:buFont typeface="Wingdings" panose="05000000000000000000" pitchFamily="2" charset="2"/>
              <a:buChar char="n"/>
            </a:pPr>
            <a:r>
              <a:rPr lang="zh-CN" altLang="en-US" b="1" dirty="0">
                <a:solidFill>
                  <a:schemeClr val="bg1"/>
                </a:solidFill>
              </a:rPr>
              <a:t>算子类型（</a:t>
            </a:r>
            <a:r>
              <a:rPr lang="en-US" altLang="zh-CN" b="1" dirty="0">
                <a:solidFill>
                  <a:schemeClr val="bg1"/>
                </a:solidFill>
              </a:rPr>
              <a:t>Type</a:t>
            </a:r>
            <a:r>
              <a:rPr lang="zh-CN" altLang="en-US" b="1" dirty="0">
                <a:solidFill>
                  <a:schemeClr val="bg1"/>
                </a:solidFill>
              </a:rPr>
              <a:t>）</a:t>
            </a:r>
            <a:endParaRPr lang="zh-CN" altLang="en-US" dirty="0">
              <a:solidFill>
                <a:schemeClr val="bg1"/>
              </a:solidFill>
            </a:endParaRPr>
          </a:p>
        </p:txBody>
      </p:sp>
      <p:sp>
        <p:nvSpPr>
          <p:cNvPr id="40" name="矩形 39"/>
          <p:cNvSpPr/>
          <p:nvPr/>
        </p:nvSpPr>
        <p:spPr>
          <a:xfrm>
            <a:off x="734073" y="2979603"/>
            <a:ext cx="9006120" cy="1294585"/>
          </a:xfrm>
          <a:prstGeom prst="rect">
            <a:avLst/>
          </a:prstGeom>
        </p:spPr>
        <p:txBody>
          <a:bodyPr wrap="square">
            <a:spAutoFit/>
          </a:bodyPr>
          <a:lstStyle/>
          <a:p>
            <a:pPr>
              <a:lnSpc>
                <a:spcPct val="150000"/>
              </a:lnSpc>
            </a:pPr>
            <a:r>
              <a:rPr lang="zh-CN" altLang="en-US" dirty="0">
                <a:solidFill>
                  <a:schemeClr val="bg1"/>
                </a:solidFill>
                <a:latin typeface="Times New Roman" panose="02020603050405020304" pitchFamily="18" charset="0"/>
                <a:ea typeface="微软雅黑" panose="020B0503020204020204" pitchFamily="34" charset="-122"/>
              </a:rPr>
              <a:t>网络中每一个算子根据算子类型进行算子实现的匹配，相同类型的算子的实现逻辑相同。在一个网络中同一类型的算子可能存在多个，例如右图中名称为</a:t>
            </a:r>
            <a:r>
              <a:rPr lang="en-US" altLang="zh-CN" dirty="0">
                <a:solidFill>
                  <a:schemeClr val="bg1"/>
                </a:solidFill>
                <a:latin typeface="Times New Roman" panose="02020603050405020304" pitchFamily="18" charset="0"/>
                <a:ea typeface="微软雅黑" panose="020B0503020204020204" pitchFamily="34" charset="-122"/>
              </a:rPr>
              <a:t>Conv1</a:t>
            </a:r>
            <a:r>
              <a:rPr lang="zh-CN" altLang="en-US" dirty="0">
                <a:solidFill>
                  <a:schemeClr val="bg1"/>
                </a:solidFill>
                <a:latin typeface="Times New Roman" panose="02020603050405020304" pitchFamily="18" charset="0"/>
                <a:ea typeface="微软雅黑" panose="020B0503020204020204" pitchFamily="34" charset="-122"/>
              </a:rPr>
              <a:t>的算子与</a:t>
            </a:r>
            <a:r>
              <a:rPr lang="en-US" altLang="zh-CN" dirty="0">
                <a:solidFill>
                  <a:schemeClr val="bg1"/>
                </a:solidFill>
                <a:latin typeface="Times New Roman" panose="02020603050405020304" pitchFamily="18" charset="0"/>
                <a:ea typeface="微软雅黑" panose="020B0503020204020204" pitchFamily="34" charset="-122"/>
              </a:rPr>
              <a:t>Conv2</a:t>
            </a:r>
            <a:r>
              <a:rPr lang="zh-CN" altLang="en-US" dirty="0">
                <a:solidFill>
                  <a:schemeClr val="bg1"/>
                </a:solidFill>
                <a:latin typeface="Times New Roman" panose="02020603050405020304" pitchFamily="18" charset="0"/>
                <a:ea typeface="微软雅黑" panose="020B0503020204020204" pitchFamily="34" charset="-122"/>
              </a:rPr>
              <a:t>算子的类型都为</a:t>
            </a:r>
            <a:r>
              <a:rPr lang="en-US" altLang="zh-CN" dirty="0">
                <a:solidFill>
                  <a:schemeClr val="bg1"/>
                </a:solidFill>
                <a:latin typeface="Times New Roman" panose="02020603050405020304" pitchFamily="18" charset="0"/>
                <a:ea typeface="微软雅黑" panose="020B0503020204020204" pitchFamily="34" charset="-122"/>
              </a:rPr>
              <a:t>Convolution</a:t>
            </a:r>
            <a:r>
              <a:rPr lang="zh-CN" altLang="en-US" dirty="0">
                <a:solidFill>
                  <a:schemeClr val="bg1"/>
                </a:solidFill>
                <a:latin typeface="Times New Roman" panose="02020603050405020304" pitchFamily="18" charset="0"/>
                <a:ea typeface="微软雅黑" panose="020B0503020204020204" pitchFamily="34" charset="-122"/>
              </a:rPr>
              <a:t>。</a:t>
            </a:r>
            <a:endParaRPr lang="zh-CN" altLang="en-US" dirty="0">
              <a:solidFill>
                <a:schemeClr val="bg1"/>
              </a:solidFill>
              <a:latin typeface="Times New Roman" panose="02020603050405020304" pitchFamily="18" charset="0"/>
              <a:ea typeface="微软雅黑" panose="020B0503020204020204" pitchFamily="34" charset="-122"/>
            </a:endParaRPr>
          </a:p>
        </p:txBody>
      </p:sp>
      <p:pic>
        <p:nvPicPr>
          <p:cNvPr id="41" name="图片 40"/>
          <p:cNvPicPr>
            <a:picLocks noChangeAspect="1"/>
          </p:cNvPicPr>
          <p:nvPr/>
        </p:nvPicPr>
        <p:blipFill>
          <a:blip r:embed="rId1"/>
          <a:stretch>
            <a:fillRect/>
          </a:stretch>
        </p:blipFill>
        <p:spPr>
          <a:xfrm>
            <a:off x="10134332" y="1221095"/>
            <a:ext cx="856929" cy="2686588"/>
          </a:xfrm>
          <a:prstGeom prst="rect">
            <a:avLst/>
          </a:prstGeom>
        </p:spPr>
      </p:pic>
      <p:grpSp>
        <p:nvGrpSpPr>
          <p:cNvPr id="42" name="组合 41"/>
          <p:cNvGrpSpPr/>
          <p:nvPr/>
        </p:nvGrpSpPr>
        <p:grpSpPr>
          <a:xfrm>
            <a:off x="10134332" y="4738111"/>
            <a:ext cx="1618593" cy="1182432"/>
            <a:chOff x="871848" y="5089638"/>
            <a:chExt cx="1618593" cy="1182432"/>
          </a:xfrm>
        </p:grpSpPr>
        <p:sp>
          <p:nvSpPr>
            <p:cNvPr id="43" name="圆角矩形 13"/>
            <p:cNvSpPr/>
            <p:nvPr/>
          </p:nvSpPr>
          <p:spPr>
            <a:xfrm>
              <a:off x="871848" y="5580538"/>
              <a:ext cx="872358" cy="325821"/>
            </a:xfrm>
            <a:prstGeom prst="roundRect">
              <a:avLst/>
            </a:prstGeom>
            <a:solidFill>
              <a:srgbClr val="C1E4E8"/>
            </a:solidFill>
            <a:ln>
              <a:solidFill>
                <a:schemeClr val="bg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a:solidFill>
                    <a:schemeClr val="bg1"/>
                  </a:solidFill>
                </a:rPr>
                <a:t>Conv1</a:t>
              </a:r>
              <a:endParaRPr lang="zh-CN" altLang="en-US" sz="1600">
                <a:solidFill>
                  <a:schemeClr val="bg1"/>
                </a:solidFill>
              </a:endParaRPr>
            </a:p>
          </p:txBody>
        </p:sp>
        <p:cxnSp>
          <p:nvCxnSpPr>
            <p:cNvPr id="44" name="直接箭头连接符 43"/>
            <p:cNvCxnSpPr/>
            <p:nvPr/>
          </p:nvCxnSpPr>
          <p:spPr>
            <a:xfrm>
              <a:off x="1308027" y="5234151"/>
              <a:ext cx="0" cy="36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接箭头连接符 44"/>
            <p:cNvCxnSpPr/>
            <p:nvPr/>
          </p:nvCxnSpPr>
          <p:spPr>
            <a:xfrm>
              <a:off x="1292262" y="5912070"/>
              <a:ext cx="0" cy="36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6" name="文本框 45"/>
            <p:cNvSpPr txBox="1"/>
            <p:nvPr/>
          </p:nvSpPr>
          <p:spPr>
            <a:xfrm>
              <a:off x="1292262" y="5089638"/>
              <a:ext cx="1198179" cy="465705"/>
            </a:xfrm>
            <a:prstGeom prst="rect">
              <a:avLst/>
            </a:prstGeom>
            <a:noFill/>
          </p:spPr>
          <p:txBody>
            <a:bodyPr wrap="square" rtlCol="0">
              <a:spAutoFit/>
            </a:bodyPr>
            <a:lstStyle/>
            <a:p>
              <a:pPr algn="l">
                <a:lnSpc>
                  <a:spcPts val="3440"/>
                </a:lnSpc>
              </a:pPr>
              <a:r>
                <a:rPr lang="zh-CN" altLang="en-US" sz="1400">
                  <a:solidFill>
                    <a:schemeClr val="bg1"/>
                  </a:solidFill>
                  <a:latin typeface="Huawei Sans" panose="020C0503030203020204" pitchFamily="34" charset="0"/>
                  <a:ea typeface="微软雅黑" panose="020B0503020204020204" pitchFamily="34" charset="-122"/>
                  <a:cs typeface="Huawei Sans" panose="020C0503030203020204" pitchFamily="34" charset="0"/>
                </a:rPr>
                <a:t>输入数据</a:t>
              </a:r>
              <a:endParaRPr lang="zh-CN" altLang="en-US" sz="1400">
                <a:solidFill>
                  <a:schemeClr val="bg1"/>
                </a:solidFill>
                <a:latin typeface="Huawei Sans" panose="020C0503030203020204" pitchFamily="34" charset="0"/>
                <a:ea typeface="微软雅黑" panose="020B0503020204020204" pitchFamily="34" charset="-122"/>
                <a:cs typeface="Huawei Sans" panose="020C0503030203020204" pitchFamily="34" charset="0"/>
              </a:endParaRPr>
            </a:p>
          </p:txBody>
        </p:sp>
        <p:sp>
          <p:nvSpPr>
            <p:cNvPr id="47" name="文本框 46"/>
            <p:cNvSpPr txBox="1"/>
            <p:nvPr/>
          </p:nvSpPr>
          <p:spPr>
            <a:xfrm>
              <a:off x="1265987" y="5778365"/>
              <a:ext cx="1105314" cy="465705"/>
            </a:xfrm>
            <a:prstGeom prst="rect">
              <a:avLst/>
            </a:prstGeom>
            <a:noFill/>
          </p:spPr>
          <p:txBody>
            <a:bodyPr wrap="square" rtlCol="0">
              <a:spAutoFit/>
            </a:bodyPr>
            <a:lstStyle/>
            <a:p>
              <a:pPr algn="l">
                <a:lnSpc>
                  <a:spcPts val="3440"/>
                </a:lnSpc>
              </a:pPr>
              <a:r>
                <a:rPr lang="zh-CN" altLang="en-US" sz="1400">
                  <a:solidFill>
                    <a:schemeClr val="bg1"/>
                  </a:solidFill>
                  <a:latin typeface="Huawei Sans" panose="020C0503030203020204" pitchFamily="34" charset="0"/>
                  <a:ea typeface="微软雅黑" panose="020B0503020204020204" pitchFamily="34" charset="-122"/>
                  <a:cs typeface="Huawei Sans" panose="020C0503030203020204" pitchFamily="34" charset="0"/>
                </a:rPr>
                <a:t>输出数据</a:t>
              </a:r>
              <a:endParaRPr lang="zh-CN" altLang="en-US" sz="1400">
                <a:solidFill>
                  <a:schemeClr val="bg1"/>
                </a:solidFill>
                <a:latin typeface="Huawei Sans" panose="020C0503030203020204" pitchFamily="34" charset="0"/>
                <a:ea typeface="微软雅黑" panose="020B0503020204020204" pitchFamily="34" charset="-122"/>
                <a:cs typeface="Huawei Sans" panose="020C0503030203020204" pitchFamily="34" charset="0"/>
              </a:endParaRPr>
            </a:p>
          </p:txBody>
        </p:sp>
      </p:grpSp>
      <p:sp>
        <p:nvSpPr>
          <p:cNvPr id="48" name="矩形 47"/>
          <p:cNvSpPr/>
          <p:nvPr/>
        </p:nvSpPr>
        <p:spPr>
          <a:xfrm>
            <a:off x="431003" y="4738111"/>
            <a:ext cx="9277657" cy="1087755"/>
          </a:xfrm>
          <a:prstGeom prst="rect">
            <a:avLst/>
          </a:prstGeom>
        </p:spPr>
        <p:txBody>
          <a:bodyPr wrap="square">
            <a:spAutoFit/>
          </a:bodyPr>
          <a:lstStyle/>
          <a:p>
            <a:pPr marL="273050">
              <a:lnSpc>
                <a:spcPct val="120000"/>
              </a:lnSpc>
            </a:pPr>
            <a:r>
              <a:rPr lang="zh-CN" altLang="en-US" dirty="0">
                <a:solidFill>
                  <a:schemeClr val="bg1"/>
                </a:solidFill>
                <a:latin typeface="Times New Roman" panose="02020603050405020304" pitchFamily="18" charset="0"/>
                <a:ea typeface="微软雅黑" panose="020B0503020204020204" pitchFamily="34" charset="-122"/>
              </a:rPr>
              <a:t>前面介绍了算子的类型与算子的名称。我们再看下网络中的算子，如右图所示，算子在网络中执行时，还需要一个重要的输入：数据，算子执行完后，也会有对应的数据输出。这种承载算子数据的容器定义为：张量（</a:t>
            </a:r>
            <a:r>
              <a:rPr lang="en-US" altLang="zh-CN" dirty="0">
                <a:solidFill>
                  <a:schemeClr val="bg1"/>
                </a:solidFill>
                <a:latin typeface="Times New Roman" panose="02020603050405020304" pitchFamily="18" charset="0"/>
                <a:ea typeface="微软雅黑" panose="020B0503020204020204" pitchFamily="34" charset="-122"/>
              </a:rPr>
              <a:t>Tensor</a:t>
            </a:r>
            <a:r>
              <a:rPr lang="zh-CN" altLang="en-US" dirty="0">
                <a:solidFill>
                  <a:schemeClr val="bg1"/>
                </a:solidFill>
                <a:latin typeface="Times New Roman" panose="02020603050405020304" pitchFamily="18" charset="0"/>
                <a:ea typeface="微软雅黑" panose="020B0503020204020204" pitchFamily="34" charset="-122"/>
              </a:rPr>
              <a:t>）。</a:t>
            </a:r>
            <a:endParaRPr lang="zh-CN" altLang="en-US" dirty="0">
              <a:solidFill>
                <a:schemeClr val="bg1"/>
              </a:solidFill>
              <a:latin typeface="Times New Roman" panose="02020603050405020304" pitchFamily="18" charset="0"/>
              <a:ea typeface="微软雅黑" panose="020B0503020204020204" pitchFamily="34" charset="-122"/>
            </a:endParaRPr>
          </a:p>
        </p:txBody>
      </p:sp>
      <p:sp>
        <p:nvSpPr>
          <p:cNvPr id="49" name="矩形 48"/>
          <p:cNvSpPr/>
          <p:nvPr/>
        </p:nvSpPr>
        <p:spPr>
          <a:xfrm>
            <a:off x="431004" y="4368779"/>
            <a:ext cx="2529539" cy="369332"/>
          </a:xfrm>
          <a:prstGeom prst="rect">
            <a:avLst/>
          </a:prstGeom>
        </p:spPr>
        <p:txBody>
          <a:bodyPr wrap="none">
            <a:spAutoFit/>
          </a:bodyPr>
          <a:lstStyle/>
          <a:p>
            <a:pPr marL="285750" indent="-285750" algn="l">
              <a:buFont typeface="Wingdings" panose="05000000000000000000" pitchFamily="2" charset="2"/>
              <a:buChar char="n"/>
            </a:pPr>
            <a:r>
              <a:rPr lang="zh-CN" altLang="en-US" b="1" dirty="0">
                <a:solidFill>
                  <a:schemeClr val="bg1"/>
                </a:solidFill>
                <a:latin typeface="Times New Roman" panose="02020603050405020304" pitchFamily="18" charset="0"/>
                <a:ea typeface="微软雅黑" panose="020B0503020204020204" pitchFamily="34" charset="-122"/>
                <a:sym typeface="+mn-ea"/>
              </a:rPr>
              <a:t>数据容器（</a:t>
            </a:r>
            <a:r>
              <a:rPr lang="en-US" altLang="zh-CN" b="1" dirty="0">
                <a:solidFill>
                  <a:schemeClr val="bg1"/>
                </a:solidFill>
                <a:latin typeface="Times New Roman" panose="02020603050405020304" pitchFamily="18" charset="0"/>
                <a:ea typeface="微软雅黑" panose="020B0503020204020204" pitchFamily="34" charset="-122"/>
                <a:sym typeface="+mn-ea"/>
              </a:rPr>
              <a:t>Tensor</a:t>
            </a:r>
            <a:r>
              <a:rPr lang="zh-CN" altLang="en-US" b="1" dirty="0">
                <a:solidFill>
                  <a:schemeClr val="bg1"/>
                </a:solidFill>
                <a:latin typeface="Times New Roman" panose="02020603050405020304" pitchFamily="18" charset="0"/>
                <a:ea typeface="微软雅黑" panose="020B0503020204020204" pitchFamily="34" charset="-122"/>
                <a:sym typeface="+mn-ea"/>
              </a:rPr>
              <a:t>）</a:t>
            </a:r>
            <a:endParaRPr lang="zh-CN" altLang="en-US" dirty="0">
              <a:solidFill>
                <a:schemeClr val="bg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06051" y="182450"/>
            <a:ext cx="10720690" cy="430887"/>
          </a:xfrm>
          <a:prstGeom prst="rect">
            <a:avLst/>
          </a:prstGeom>
          <a:noFill/>
        </p:spPr>
        <p:txBody>
          <a:bodyPr wrap="square" lIns="0" tIns="0" rIns="0" bIns="0" rtlCol="0">
            <a:spAutoFit/>
          </a:bodyPr>
          <a:lstStyle/>
          <a:p>
            <a:pPr>
              <a:defRPr/>
            </a:pPr>
            <a:r>
              <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人工智能核心概念：张量</a:t>
            </a:r>
            <a:endPar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6" name="矩形 15"/>
          <p:cNvSpPr/>
          <p:nvPr/>
        </p:nvSpPr>
        <p:spPr>
          <a:xfrm>
            <a:off x="1106051" y="729089"/>
            <a:ext cx="9984659" cy="787523"/>
          </a:xfrm>
          <a:prstGeom prst="rect">
            <a:avLst/>
          </a:prstGeom>
        </p:spPr>
        <p:txBody>
          <a:bodyPr wrap="square">
            <a:spAutoFit/>
          </a:bodyPr>
          <a:lstStyle/>
          <a:p>
            <a:pPr eaLnBrk="1" fontAlgn="auto" hangingPunct="1">
              <a:lnSpc>
                <a:spcPct val="150000"/>
              </a:lnSpc>
              <a:spcBef>
                <a:spcPts val="0"/>
              </a:spcBef>
              <a:spcAft>
                <a:spcPts val="0"/>
              </a:spcAft>
            </a:pPr>
            <a:r>
              <a:rPr lang="zh-CN" altLang="en-US" sz="1600" dirty="0">
                <a:solidFill>
                  <a:srgbClr val="1D1D1A"/>
                </a:solidFill>
                <a:latin typeface="微软雅黑" panose="020B0503020204020204" pitchFamily="34" charset="-122"/>
                <a:ea typeface="微软雅黑" panose="020B0503020204020204" pitchFamily="34" charset="-122"/>
              </a:rPr>
              <a:t>张量（</a:t>
            </a:r>
            <a:r>
              <a:rPr lang="en-US" altLang="zh-CN" sz="1600" dirty="0">
                <a:solidFill>
                  <a:srgbClr val="1D1D1A"/>
                </a:solidFill>
                <a:latin typeface="微软雅黑" panose="020B0503020204020204" pitchFamily="34" charset="-122"/>
                <a:ea typeface="微软雅黑" panose="020B0503020204020204" pitchFamily="34" charset="-122"/>
              </a:rPr>
              <a:t>Tensor</a:t>
            </a:r>
            <a:r>
              <a:rPr lang="zh-CN" altLang="en-US" sz="1600" dirty="0">
                <a:solidFill>
                  <a:srgbClr val="1D1D1A"/>
                </a:solidFill>
                <a:latin typeface="微软雅黑" panose="020B0503020204020204" pitchFamily="34" charset="-122"/>
                <a:ea typeface="微软雅黑" panose="020B0503020204020204" pitchFamily="34" charset="-122"/>
              </a:rPr>
              <a:t>）是存储算子输入数据与输出数据的容器，而张量描述符（</a:t>
            </a:r>
            <a:r>
              <a:rPr lang="en-US" altLang="zh-CN" sz="1600" dirty="0">
                <a:solidFill>
                  <a:srgbClr val="1D1D1A"/>
                </a:solidFill>
                <a:latin typeface="微软雅黑" panose="020B0503020204020204" pitchFamily="34" charset="-122"/>
                <a:ea typeface="微软雅黑" panose="020B0503020204020204" pitchFamily="34" charset="-122"/>
              </a:rPr>
              <a:t>TensorDesc</a:t>
            </a:r>
            <a:r>
              <a:rPr lang="zh-CN" altLang="en-US" sz="1600" dirty="0">
                <a:solidFill>
                  <a:srgbClr val="1D1D1A"/>
                </a:solidFill>
                <a:latin typeface="微软雅黑" panose="020B0503020204020204" pitchFamily="34" charset="-122"/>
                <a:ea typeface="微软雅黑" panose="020B0503020204020204" pitchFamily="34" charset="-122"/>
              </a:rPr>
              <a:t>）</a:t>
            </a:r>
            <a:r>
              <a:rPr lang="zh-CN" altLang="zh-CN" sz="1600" dirty="0">
                <a:solidFill>
                  <a:srgbClr val="1D1D1A"/>
                </a:solidFill>
                <a:latin typeface="微软雅黑" panose="020B0503020204020204" pitchFamily="34" charset="-122"/>
                <a:ea typeface="微软雅黑" panose="020B0503020204020204" pitchFamily="34" charset="-122"/>
              </a:rPr>
              <a:t>是对输入数据与输出数据的描述</a:t>
            </a:r>
            <a:r>
              <a:rPr lang="zh-CN" altLang="en-US" sz="1600" dirty="0">
                <a:solidFill>
                  <a:srgbClr val="1D1D1A"/>
                </a:solidFill>
                <a:latin typeface="微软雅黑" panose="020B0503020204020204" pitchFamily="34" charset="-122"/>
                <a:ea typeface="微软雅黑" panose="020B0503020204020204" pitchFamily="34" charset="-122"/>
              </a:rPr>
              <a:t>，张量描述符的数据结构包含如下属性：</a:t>
            </a:r>
            <a:endParaRPr lang="zh-CN" altLang="en-US" sz="1600" dirty="0">
              <a:solidFill>
                <a:srgbClr val="1D1D1A"/>
              </a:solidFill>
              <a:latin typeface="微软雅黑" panose="020B0503020204020204" pitchFamily="34" charset="-122"/>
              <a:ea typeface="微软雅黑" panose="020B0503020204020204" pitchFamily="34" charset="-122"/>
            </a:endParaRPr>
          </a:p>
        </p:txBody>
      </p:sp>
      <p:graphicFrame>
        <p:nvGraphicFramePr>
          <p:cNvPr id="17" name="表格 16"/>
          <p:cNvGraphicFramePr>
            <a:graphicFrameLocks noGrp="1"/>
          </p:cNvGraphicFramePr>
          <p:nvPr>
            <p:custDataLst>
              <p:tags r:id="rId1"/>
            </p:custDataLst>
          </p:nvPr>
        </p:nvGraphicFramePr>
        <p:xfrm>
          <a:off x="1106051" y="1809387"/>
          <a:ext cx="9984659" cy="4171084"/>
        </p:xfrm>
        <a:graphic>
          <a:graphicData uri="http://schemas.openxmlformats.org/drawingml/2006/table">
            <a:tbl>
              <a:tblPr/>
              <a:tblGrid>
                <a:gridCol w="2578455"/>
                <a:gridCol w="7406204"/>
              </a:tblGrid>
              <a:tr h="667050">
                <a:tc>
                  <a:txBody>
                    <a:bodyPr/>
                    <a:lstStyle>
                      <a:lvl1pPr marL="0" algn="l" defTabSz="914400" rtl="0" eaLnBrk="1" latinLnBrk="0" hangingPunct="1">
                        <a:defRPr sz="1800" kern="1200">
                          <a:solidFill>
                            <a:schemeClr val="tx1"/>
                          </a:solidFill>
                          <a:latin typeface="Huawei Sans" panose="020B0A04020102020204"/>
                          <a:ea typeface="微软雅黑" panose="020B0503020204020204" pitchFamily="34" charset="-122"/>
                        </a:defRPr>
                      </a:lvl1pPr>
                      <a:lvl2pPr marL="457200" algn="l" defTabSz="914400" rtl="0" eaLnBrk="1" latinLnBrk="0" hangingPunct="1">
                        <a:defRPr sz="1800" kern="1200">
                          <a:solidFill>
                            <a:schemeClr val="tx1"/>
                          </a:solidFill>
                          <a:latin typeface="Huawei Sans" panose="020B0A04020102020204"/>
                          <a:ea typeface="微软雅黑" panose="020B0503020204020204" pitchFamily="34" charset="-122"/>
                        </a:defRPr>
                      </a:lvl2pPr>
                      <a:lvl3pPr marL="914400" algn="l" defTabSz="914400" rtl="0" eaLnBrk="1" latinLnBrk="0" hangingPunct="1">
                        <a:defRPr sz="1800" kern="1200">
                          <a:solidFill>
                            <a:schemeClr val="tx1"/>
                          </a:solidFill>
                          <a:latin typeface="Huawei Sans" panose="020B0A04020102020204"/>
                          <a:ea typeface="微软雅黑" panose="020B0503020204020204" pitchFamily="34" charset="-122"/>
                        </a:defRPr>
                      </a:lvl3pPr>
                      <a:lvl4pPr marL="1371600" algn="l" defTabSz="914400" rtl="0" eaLnBrk="1" latinLnBrk="0" hangingPunct="1">
                        <a:defRPr sz="1800" kern="1200">
                          <a:solidFill>
                            <a:schemeClr val="tx1"/>
                          </a:solidFill>
                          <a:latin typeface="Huawei Sans" panose="020B0A04020102020204"/>
                          <a:ea typeface="微软雅黑" panose="020B0503020204020204" pitchFamily="34" charset="-122"/>
                        </a:defRPr>
                      </a:lvl4pPr>
                      <a:lvl5pPr marL="1828800" algn="l" defTabSz="914400" rtl="0" eaLnBrk="1" latinLnBrk="0" hangingPunct="1">
                        <a:defRPr sz="1800" kern="1200">
                          <a:solidFill>
                            <a:schemeClr val="tx1"/>
                          </a:solidFill>
                          <a:latin typeface="Huawei Sans" panose="020B0A04020102020204"/>
                          <a:ea typeface="微软雅黑" panose="020B0503020204020204" pitchFamily="34" charset="-122"/>
                        </a:defRPr>
                      </a:lvl5pPr>
                      <a:lvl6pPr marL="2286000" algn="l" defTabSz="914400" rtl="0" eaLnBrk="1" latinLnBrk="0" hangingPunct="1">
                        <a:defRPr sz="1800" kern="1200">
                          <a:solidFill>
                            <a:schemeClr val="tx1"/>
                          </a:solidFill>
                          <a:latin typeface="Huawei Sans" panose="020B0A04020102020204"/>
                          <a:ea typeface="微软雅黑" panose="020B0503020204020204" pitchFamily="34" charset="-122"/>
                        </a:defRPr>
                      </a:lvl6pPr>
                      <a:lvl7pPr marL="2743200" algn="l" defTabSz="914400" rtl="0" eaLnBrk="1" latinLnBrk="0" hangingPunct="1">
                        <a:defRPr sz="1800" kern="1200">
                          <a:solidFill>
                            <a:schemeClr val="tx1"/>
                          </a:solidFill>
                          <a:latin typeface="Huawei Sans" panose="020B0A04020102020204"/>
                          <a:ea typeface="微软雅黑" panose="020B0503020204020204" pitchFamily="34" charset="-122"/>
                        </a:defRPr>
                      </a:lvl7pPr>
                      <a:lvl8pPr marL="3200400" algn="l" defTabSz="914400" rtl="0" eaLnBrk="1" latinLnBrk="0" hangingPunct="1">
                        <a:defRPr sz="1800" kern="1200">
                          <a:solidFill>
                            <a:schemeClr val="tx1"/>
                          </a:solidFill>
                          <a:latin typeface="Huawei Sans" panose="020B0A04020102020204"/>
                          <a:ea typeface="微软雅黑" panose="020B0503020204020204" pitchFamily="34" charset="-122"/>
                        </a:defRPr>
                      </a:lvl8pPr>
                      <a:lvl9pPr marL="3657600" algn="l" defTabSz="914400" rtl="0" eaLnBrk="1" latinLnBrk="0" hangingPunct="1">
                        <a:defRPr sz="1800" kern="1200">
                          <a:solidFill>
                            <a:schemeClr val="tx1"/>
                          </a:solidFill>
                          <a:latin typeface="Huawei Sans" panose="020B0A04020102020204"/>
                          <a:ea typeface="微软雅黑" panose="020B0503020204020204" pitchFamily="34" charset="-122"/>
                        </a:defRPr>
                      </a:lvl9pPr>
                    </a:lstStyle>
                    <a:p>
                      <a:pPr algn="ctr"/>
                      <a:r>
                        <a:rPr lang="zh-CN" altLang="en-US" sz="1800" b="1" dirty="0">
                          <a:solidFill>
                            <a:schemeClr val="bg1"/>
                          </a:solidFill>
                          <a:latin typeface="微软雅黑" panose="020B0503020204020204" pitchFamily="34" charset="-122"/>
                          <a:ea typeface="微软雅黑" panose="020B0503020204020204" pitchFamily="34" charset="-122"/>
                        </a:rPr>
                        <a:t>属性</a:t>
                      </a:r>
                      <a:endParaRPr lang="zh-CN" altLang="en-US" sz="1800" b="1" dirty="0">
                        <a:solidFill>
                          <a:schemeClr val="bg1"/>
                        </a:solidFill>
                        <a:latin typeface="微软雅黑" panose="020B0503020204020204" pitchFamily="34" charset="-122"/>
                        <a:ea typeface="微软雅黑" panose="020B0503020204020204" pitchFamily="34" charset="-122"/>
                      </a:endParaRPr>
                    </a:p>
                  </a:txBody>
                  <a:tcPr marL="28932" marR="28932" marT="28932" marB="28932"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lvl1pPr marL="0" algn="l" defTabSz="914400" rtl="0" eaLnBrk="1" latinLnBrk="0" hangingPunct="1">
                        <a:defRPr sz="1800" kern="1200">
                          <a:solidFill>
                            <a:schemeClr val="tx1"/>
                          </a:solidFill>
                          <a:latin typeface="Huawei Sans" panose="020B0A04020102020204"/>
                          <a:ea typeface="微软雅黑" panose="020B0503020204020204" pitchFamily="34" charset="-122"/>
                        </a:defRPr>
                      </a:lvl1pPr>
                      <a:lvl2pPr marL="457200" algn="l" defTabSz="914400" rtl="0" eaLnBrk="1" latinLnBrk="0" hangingPunct="1">
                        <a:defRPr sz="1800" kern="1200">
                          <a:solidFill>
                            <a:schemeClr val="tx1"/>
                          </a:solidFill>
                          <a:latin typeface="Huawei Sans" panose="020B0A04020102020204"/>
                          <a:ea typeface="微软雅黑" panose="020B0503020204020204" pitchFamily="34" charset="-122"/>
                        </a:defRPr>
                      </a:lvl2pPr>
                      <a:lvl3pPr marL="914400" algn="l" defTabSz="914400" rtl="0" eaLnBrk="1" latinLnBrk="0" hangingPunct="1">
                        <a:defRPr sz="1800" kern="1200">
                          <a:solidFill>
                            <a:schemeClr val="tx1"/>
                          </a:solidFill>
                          <a:latin typeface="Huawei Sans" panose="020B0A04020102020204"/>
                          <a:ea typeface="微软雅黑" panose="020B0503020204020204" pitchFamily="34" charset="-122"/>
                        </a:defRPr>
                      </a:lvl3pPr>
                      <a:lvl4pPr marL="1371600" algn="l" defTabSz="914400" rtl="0" eaLnBrk="1" latinLnBrk="0" hangingPunct="1">
                        <a:defRPr sz="1800" kern="1200">
                          <a:solidFill>
                            <a:schemeClr val="tx1"/>
                          </a:solidFill>
                          <a:latin typeface="Huawei Sans" panose="020B0A04020102020204"/>
                          <a:ea typeface="微软雅黑" panose="020B0503020204020204" pitchFamily="34" charset="-122"/>
                        </a:defRPr>
                      </a:lvl4pPr>
                      <a:lvl5pPr marL="1828800" algn="l" defTabSz="914400" rtl="0" eaLnBrk="1" latinLnBrk="0" hangingPunct="1">
                        <a:defRPr sz="1800" kern="1200">
                          <a:solidFill>
                            <a:schemeClr val="tx1"/>
                          </a:solidFill>
                          <a:latin typeface="Huawei Sans" panose="020B0A04020102020204"/>
                          <a:ea typeface="微软雅黑" panose="020B0503020204020204" pitchFamily="34" charset="-122"/>
                        </a:defRPr>
                      </a:lvl5pPr>
                      <a:lvl6pPr marL="2286000" algn="l" defTabSz="914400" rtl="0" eaLnBrk="1" latinLnBrk="0" hangingPunct="1">
                        <a:defRPr sz="1800" kern="1200">
                          <a:solidFill>
                            <a:schemeClr val="tx1"/>
                          </a:solidFill>
                          <a:latin typeface="Huawei Sans" panose="020B0A04020102020204"/>
                          <a:ea typeface="微软雅黑" panose="020B0503020204020204" pitchFamily="34" charset="-122"/>
                        </a:defRPr>
                      </a:lvl6pPr>
                      <a:lvl7pPr marL="2743200" algn="l" defTabSz="914400" rtl="0" eaLnBrk="1" latinLnBrk="0" hangingPunct="1">
                        <a:defRPr sz="1800" kern="1200">
                          <a:solidFill>
                            <a:schemeClr val="tx1"/>
                          </a:solidFill>
                          <a:latin typeface="Huawei Sans" panose="020B0A04020102020204"/>
                          <a:ea typeface="微软雅黑" panose="020B0503020204020204" pitchFamily="34" charset="-122"/>
                        </a:defRPr>
                      </a:lvl7pPr>
                      <a:lvl8pPr marL="3200400" algn="l" defTabSz="914400" rtl="0" eaLnBrk="1" latinLnBrk="0" hangingPunct="1">
                        <a:defRPr sz="1800" kern="1200">
                          <a:solidFill>
                            <a:schemeClr val="tx1"/>
                          </a:solidFill>
                          <a:latin typeface="Huawei Sans" panose="020B0A04020102020204"/>
                          <a:ea typeface="微软雅黑" panose="020B0503020204020204" pitchFamily="34" charset="-122"/>
                        </a:defRPr>
                      </a:lvl8pPr>
                      <a:lvl9pPr marL="3657600" algn="l" defTabSz="914400" rtl="0" eaLnBrk="1" latinLnBrk="0" hangingPunct="1">
                        <a:defRPr sz="1800" kern="1200">
                          <a:solidFill>
                            <a:schemeClr val="tx1"/>
                          </a:solidFill>
                          <a:latin typeface="Huawei Sans" panose="020B0A04020102020204"/>
                          <a:ea typeface="微软雅黑" panose="020B0503020204020204" pitchFamily="34" charset="-122"/>
                        </a:defRPr>
                      </a:lvl9pPr>
                    </a:lstStyle>
                    <a:p>
                      <a:pPr algn="ctr"/>
                      <a:r>
                        <a:rPr lang="zh-CN" altLang="en-US" sz="1800" b="1" dirty="0">
                          <a:solidFill>
                            <a:schemeClr val="bg1"/>
                          </a:solidFill>
                          <a:latin typeface="微软雅黑" panose="020B0503020204020204" pitchFamily="34" charset="-122"/>
                          <a:ea typeface="微软雅黑" panose="020B0503020204020204" pitchFamily="34" charset="-122"/>
                        </a:rPr>
                        <a:t>定义</a:t>
                      </a:r>
                      <a:endParaRPr lang="zh-CN" altLang="en-US" sz="1800" b="1" dirty="0">
                        <a:solidFill>
                          <a:schemeClr val="bg1"/>
                        </a:solidFill>
                        <a:latin typeface="微软雅黑" panose="020B0503020204020204" pitchFamily="34" charset="-122"/>
                        <a:ea typeface="微软雅黑" panose="020B0503020204020204" pitchFamily="34" charset="-122"/>
                      </a:endParaRPr>
                    </a:p>
                  </a:txBody>
                  <a:tcPr marL="28932" marR="28932" marT="28932" marB="28932"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r>
              <a:tr h="718587">
                <a:tc>
                  <a:txBody>
                    <a:bodyPr/>
                    <a:lstStyle>
                      <a:lvl1pPr marL="0" algn="l" defTabSz="914400" rtl="0" eaLnBrk="1" latinLnBrk="0" hangingPunct="1">
                        <a:defRPr sz="1800" kern="1200">
                          <a:solidFill>
                            <a:schemeClr val="tx1"/>
                          </a:solidFill>
                          <a:latin typeface="Huawei Sans" panose="020B0A04020102020204"/>
                          <a:ea typeface="微软雅黑" panose="020B0503020204020204" pitchFamily="34" charset="-122"/>
                        </a:defRPr>
                      </a:lvl1pPr>
                      <a:lvl2pPr marL="457200" algn="l" defTabSz="914400" rtl="0" eaLnBrk="1" latinLnBrk="0" hangingPunct="1">
                        <a:defRPr sz="1800" kern="1200">
                          <a:solidFill>
                            <a:schemeClr val="tx1"/>
                          </a:solidFill>
                          <a:latin typeface="Huawei Sans" panose="020B0A04020102020204"/>
                          <a:ea typeface="微软雅黑" panose="020B0503020204020204" pitchFamily="34" charset="-122"/>
                        </a:defRPr>
                      </a:lvl2pPr>
                      <a:lvl3pPr marL="914400" algn="l" defTabSz="914400" rtl="0" eaLnBrk="1" latinLnBrk="0" hangingPunct="1">
                        <a:defRPr sz="1800" kern="1200">
                          <a:solidFill>
                            <a:schemeClr val="tx1"/>
                          </a:solidFill>
                          <a:latin typeface="Huawei Sans" panose="020B0A04020102020204"/>
                          <a:ea typeface="微软雅黑" panose="020B0503020204020204" pitchFamily="34" charset="-122"/>
                        </a:defRPr>
                      </a:lvl3pPr>
                      <a:lvl4pPr marL="1371600" algn="l" defTabSz="914400" rtl="0" eaLnBrk="1" latinLnBrk="0" hangingPunct="1">
                        <a:defRPr sz="1800" kern="1200">
                          <a:solidFill>
                            <a:schemeClr val="tx1"/>
                          </a:solidFill>
                          <a:latin typeface="Huawei Sans" panose="020B0A04020102020204"/>
                          <a:ea typeface="微软雅黑" panose="020B0503020204020204" pitchFamily="34" charset="-122"/>
                        </a:defRPr>
                      </a:lvl4pPr>
                      <a:lvl5pPr marL="1828800" algn="l" defTabSz="914400" rtl="0" eaLnBrk="1" latinLnBrk="0" hangingPunct="1">
                        <a:defRPr sz="1800" kern="1200">
                          <a:solidFill>
                            <a:schemeClr val="tx1"/>
                          </a:solidFill>
                          <a:latin typeface="Huawei Sans" panose="020B0A04020102020204"/>
                          <a:ea typeface="微软雅黑" panose="020B0503020204020204" pitchFamily="34" charset="-122"/>
                        </a:defRPr>
                      </a:lvl5pPr>
                      <a:lvl6pPr marL="2286000" algn="l" defTabSz="914400" rtl="0" eaLnBrk="1" latinLnBrk="0" hangingPunct="1">
                        <a:defRPr sz="1800" kern="1200">
                          <a:solidFill>
                            <a:schemeClr val="tx1"/>
                          </a:solidFill>
                          <a:latin typeface="Huawei Sans" panose="020B0A04020102020204"/>
                          <a:ea typeface="微软雅黑" panose="020B0503020204020204" pitchFamily="34" charset="-122"/>
                        </a:defRPr>
                      </a:lvl6pPr>
                      <a:lvl7pPr marL="2743200" algn="l" defTabSz="914400" rtl="0" eaLnBrk="1" latinLnBrk="0" hangingPunct="1">
                        <a:defRPr sz="1800" kern="1200">
                          <a:solidFill>
                            <a:schemeClr val="tx1"/>
                          </a:solidFill>
                          <a:latin typeface="Huawei Sans" panose="020B0A04020102020204"/>
                          <a:ea typeface="微软雅黑" panose="020B0503020204020204" pitchFamily="34" charset="-122"/>
                        </a:defRPr>
                      </a:lvl7pPr>
                      <a:lvl8pPr marL="3200400" algn="l" defTabSz="914400" rtl="0" eaLnBrk="1" latinLnBrk="0" hangingPunct="1">
                        <a:defRPr sz="1800" kern="1200">
                          <a:solidFill>
                            <a:schemeClr val="tx1"/>
                          </a:solidFill>
                          <a:latin typeface="Huawei Sans" panose="020B0A04020102020204"/>
                          <a:ea typeface="微软雅黑" panose="020B0503020204020204" pitchFamily="34" charset="-122"/>
                        </a:defRPr>
                      </a:lvl8pPr>
                      <a:lvl9pPr marL="3657600" algn="l" defTabSz="914400" rtl="0" eaLnBrk="1" latinLnBrk="0" hangingPunct="1">
                        <a:defRPr sz="1800" kern="1200">
                          <a:solidFill>
                            <a:schemeClr val="tx1"/>
                          </a:solidFill>
                          <a:latin typeface="Huawei Sans" panose="020B0A04020102020204"/>
                          <a:ea typeface="微软雅黑" panose="020B0503020204020204" pitchFamily="34" charset="-122"/>
                        </a:defRPr>
                      </a:lvl9pPr>
                    </a:lstStyle>
                    <a:p>
                      <a:r>
                        <a:rPr lang="zh-CN" altLang="en-US" sz="1400" b="1" dirty="0">
                          <a:solidFill>
                            <a:srgbClr val="C00000"/>
                          </a:solidFill>
                          <a:latin typeface="微软雅黑" panose="020B0503020204020204" pitchFamily="34" charset="-122"/>
                          <a:ea typeface="微软雅黑" panose="020B0503020204020204" pitchFamily="34" charset="-122"/>
                        </a:rPr>
                        <a:t>名称（</a:t>
                      </a:r>
                      <a:r>
                        <a:rPr lang="en-US" sz="1400" b="1" dirty="0">
                          <a:solidFill>
                            <a:srgbClr val="C00000"/>
                          </a:solidFill>
                          <a:latin typeface="微软雅黑" panose="020B0503020204020204" pitchFamily="34" charset="-122"/>
                          <a:ea typeface="微软雅黑" panose="020B0503020204020204" pitchFamily="34" charset="-122"/>
                        </a:rPr>
                        <a:t>name）</a:t>
                      </a:r>
                      <a:endParaRPr lang="en-US" sz="1400" b="1" dirty="0">
                        <a:solidFill>
                          <a:srgbClr val="C00000"/>
                        </a:solidFill>
                        <a:latin typeface="微软雅黑" panose="020B0503020204020204" pitchFamily="34" charset="-122"/>
                        <a:ea typeface="微软雅黑" panose="020B0503020204020204" pitchFamily="34" charset="-122"/>
                      </a:endParaRPr>
                    </a:p>
                  </a:txBody>
                  <a:tcPr marL="28932" marR="28932" marT="28932" marB="28932"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Huawei Sans" panose="020B0A04020102020204"/>
                          <a:ea typeface="微软雅黑" panose="020B0503020204020204" pitchFamily="34" charset="-122"/>
                        </a:defRPr>
                      </a:lvl1pPr>
                      <a:lvl2pPr marL="457200" algn="l" defTabSz="914400" rtl="0" eaLnBrk="1" latinLnBrk="0" hangingPunct="1">
                        <a:defRPr sz="1800" kern="1200">
                          <a:solidFill>
                            <a:schemeClr val="tx1"/>
                          </a:solidFill>
                          <a:latin typeface="Huawei Sans" panose="020B0A04020102020204"/>
                          <a:ea typeface="微软雅黑" panose="020B0503020204020204" pitchFamily="34" charset="-122"/>
                        </a:defRPr>
                      </a:lvl2pPr>
                      <a:lvl3pPr marL="914400" algn="l" defTabSz="914400" rtl="0" eaLnBrk="1" latinLnBrk="0" hangingPunct="1">
                        <a:defRPr sz="1800" kern="1200">
                          <a:solidFill>
                            <a:schemeClr val="tx1"/>
                          </a:solidFill>
                          <a:latin typeface="Huawei Sans" panose="020B0A04020102020204"/>
                          <a:ea typeface="微软雅黑" panose="020B0503020204020204" pitchFamily="34" charset="-122"/>
                        </a:defRPr>
                      </a:lvl3pPr>
                      <a:lvl4pPr marL="1371600" algn="l" defTabSz="914400" rtl="0" eaLnBrk="1" latinLnBrk="0" hangingPunct="1">
                        <a:defRPr sz="1800" kern="1200">
                          <a:solidFill>
                            <a:schemeClr val="tx1"/>
                          </a:solidFill>
                          <a:latin typeface="Huawei Sans" panose="020B0A04020102020204"/>
                          <a:ea typeface="微软雅黑" panose="020B0503020204020204" pitchFamily="34" charset="-122"/>
                        </a:defRPr>
                      </a:lvl4pPr>
                      <a:lvl5pPr marL="1828800" algn="l" defTabSz="914400" rtl="0" eaLnBrk="1" latinLnBrk="0" hangingPunct="1">
                        <a:defRPr sz="1800" kern="1200">
                          <a:solidFill>
                            <a:schemeClr val="tx1"/>
                          </a:solidFill>
                          <a:latin typeface="Huawei Sans" panose="020B0A04020102020204"/>
                          <a:ea typeface="微软雅黑" panose="020B0503020204020204" pitchFamily="34" charset="-122"/>
                        </a:defRPr>
                      </a:lvl5pPr>
                      <a:lvl6pPr marL="2286000" algn="l" defTabSz="914400" rtl="0" eaLnBrk="1" latinLnBrk="0" hangingPunct="1">
                        <a:defRPr sz="1800" kern="1200">
                          <a:solidFill>
                            <a:schemeClr val="tx1"/>
                          </a:solidFill>
                          <a:latin typeface="Huawei Sans" panose="020B0A04020102020204"/>
                          <a:ea typeface="微软雅黑" panose="020B0503020204020204" pitchFamily="34" charset="-122"/>
                        </a:defRPr>
                      </a:lvl6pPr>
                      <a:lvl7pPr marL="2743200" algn="l" defTabSz="914400" rtl="0" eaLnBrk="1" latinLnBrk="0" hangingPunct="1">
                        <a:defRPr sz="1800" kern="1200">
                          <a:solidFill>
                            <a:schemeClr val="tx1"/>
                          </a:solidFill>
                          <a:latin typeface="Huawei Sans" panose="020B0A04020102020204"/>
                          <a:ea typeface="微软雅黑" panose="020B0503020204020204" pitchFamily="34" charset="-122"/>
                        </a:defRPr>
                      </a:lvl7pPr>
                      <a:lvl8pPr marL="3200400" algn="l" defTabSz="914400" rtl="0" eaLnBrk="1" latinLnBrk="0" hangingPunct="1">
                        <a:defRPr sz="1800" kern="1200">
                          <a:solidFill>
                            <a:schemeClr val="tx1"/>
                          </a:solidFill>
                          <a:latin typeface="Huawei Sans" panose="020B0A04020102020204"/>
                          <a:ea typeface="微软雅黑" panose="020B0503020204020204" pitchFamily="34" charset="-122"/>
                        </a:defRPr>
                      </a:lvl8pPr>
                      <a:lvl9pPr marL="3657600" algn="l" defTabSz="914400" rtl="0" eaLnBrk="1" latinLnBrk="0" hangingPunct="1">
                        <a:defRPr sz="1800" kern="1200">
                          <a:solidFill>
                            <a:schemeClr val="tx1"/>
                          </a:solidFill>
                          <a:latin typeface="Huawei Sans" panose="020B0A04020102020204"/>
                          <a:ea typeface="微软雅黑" panose="020B0503020204020204" pitchFamily="34" charset="-122"/>
                        </a:defRPr>
                      </a:lvl9pPr>
                    </a:lstStyle>
                    <a:p>
                      <a:pPr>
                        <a:lnSpc>
                          <a:spcPct val="120000"/>
                        </a:lnSpc>
                      </a:pPr>
                      <a:r>
                        <a:rPr lang="zh-CN" altLang="en-US" sz="1400" dirty="0">
                          <a:solidFill>
                            <a:schemeClr val="bg1"/>
                          </a:solidFill>
                          <a:latin typeface="微软雅黑" panose="020B0503020204020204" pitchFamily="34" charset="-122"/>
                          <a:ea typeface="微软雅黑" panose="020B0503020204020204" pitchFamily="34" charset="-122"/>
                        </a:rPr>
                        <a:t>用于对</a:t>
                      </a:r>
                      <a:r>
                        <a:rPr lang="en-US" sz="1400" dirty="0">
                          <a:solidFill>
                            <a:schemeClr val="bg1"/>
                          </a:solidFill>
                          <a:latin typeface="微软雅黑" panose="020B0503020204020204" pitchFamily="34" charset="-122"/>
                          <a:ea typeface="微软雅黑" panose="020B0503020204020204" pitchFamily="34" charset="-122"/>
                        </a:rPr>
                        <a:t>Tensor</a:t>
                      </a:r>
                      <a:r>
                        <a:rPr lang="zh-CN" altLang="en-US" sz="1400" dirty="0">
                          <a:solidFill>
                            <a:schemeClr val="bg1"/>
                          </a:solidFill>
                          <a:latin typeface="微软雅黑" panose="020B0503020204020204" pitchFamily="34" charset="-122"/>
                          <a:ea typeface="微软雅黑" panose="020B0503020204020204" pitchFamily="34" charset="-122"/>
                        </a:rPr>
                        <a:t>进行索引，不同</a:t>
                      </a:r>
                      <a:r>
                        <a:rPr lang="en-US" sz="1400" dirty="0">
                          <a:solidFill>
                            <a:schemeClr val="bg1"/>
                          </a:solidFill>
                          <a:latin typeface="微软雅黑" panose="020B0503020204020204" pitchFamily="34" charset="-122"/>
                          <a:ea typeface="微软雅黑" panose="020B0503020204020204" pitchFamily="34" charset="-122"/>
                        </a:rPr>
                        <a:t>Tensor</a:t>
                      </a:r>
                      <a:r>
                        <a:rPr lang="zh-CN" altLang="en-US" sz="1400" dirty="0">
                          <a:solidFill>
                            <a:schemeClr val="bg1"/>
                          </a:solidFill>
                          <a:latin typeface="微软雅黑" panose="020B0503020204020204" pitchFamily="34" charset="-122"/>
                          <a:ea typeface="微软雅黑" panose="020B0503020204020204" pitchFamily="34" charset="-122"/>
                        </a:rPr>
                        <a:t>的</a:t>
                      </a:r>
                      <a:r>
                        <a:rPr lang="en-US" sz="1400" dirty="0">
                          <a:solidFill>
                            <a:schemeClr val="bg1"/>
                          </a:solidFill>
                          <a:latin typeface="微软雅黑" panose="020B0503020204020204" pitchFamily="34" charset="-122"/>
                          <a:ea typeface="微软雅黑" panose="020B0503020204020204" pitchFamily="34" charset="-122"/>
                        </a:rPr>
                        <a:t>name</a:t>
                      </a:r>
                      <a:r>
                        <a:rPr lang="zh-CN" altLang="en-US" sz="1400" dirty="0">
                          <a:solidFill>
                            <a:schemeClr val="bg1"/>
                          </a:solidFill>
                          <a:latin typeface="微软雅黑" panose="020B0503020204020204" pitchFamily="34" charset="-122"/>
                          <a:ea typeface="微软雅黑" panose="020B0503020204020204" pitchFamily="34" charset="-122"/>
                        </a:rPr>
                        <a:t>需要保持唯一</a:t>
                      </a:r>
                      <a:endParaRPr lang="zh-CN" altLang="en-US" sz="1400" dirty="0">
                        <a:solidFill>
                          <a:schemeClr val="bg1"/>
                        </a:solidFill>
                        <a:latin typeface="微软雅黑" panose="020B0503020204020204" pitchFamily="34" charset="-122"/>
                        <a:ea typeface="微软雅黑" panose="020B0503020204020204" pitchFamily="34" charset="-122"/>
                      </a:endParaRPr>
                    </a:p>
                  </a:txBody>
                  <a:tcPr marL="28932" marR="28932" marT="28932" marB="28932"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noFill/>
                  </a:tcPr>
                </a:tc>
              </a:tr>
              <a:tr h="718587">
                <a:tc>
                  <a:txBody>
                    <a:bodyPr/>
                    <a:lstStyle>
                      <a:lvl1pPr marL="0" algn="l" defTabSz="914400" rtl="0" eaLnBrk="1" latinLnBrk="0" hangingPunct="1">
                        <a:defRPr sz="1800" kern="1200">
                          <a:solidFill>
                            <a:schemeClr val="tx1"/>
                          </a:solidFill>
                          <a:latin typeface="Huawei Sans" panose="020B0A04020102020204"/>
                          <a:ea typeface="微软雅黑" panose="020B0503020204020204" pitchFamily="34" charset="-122"/>
                        </a:defRPr>
                      </a:lvl1pPr>
                      <a:lvl2pPr marL="457200" algn="l" defTabSz="914400" rtl="0" eaLnBrk="1" latinLnBrk="0" hangingPunct="1">
                        <a:defRPr sz="1800" kern="1200">
                          <a:solidFill>
                            <a:schemeClr val="tx1"/>
                          </a:solidFill>
                          <a:latin typeface="Huawei Sans" panose="020B0A04020102020204"/>
                          <a:ea typeface="微软雅黑" panose="020B0503020204020204" pitchFamily="34" charset="-122"/>
                        </a:defRPr>
                      </a:lvl2pPr>
                      <a:lvl3pPr marL="914400" algn="l" defTabSz="914400" rtl="0" eaLnBrk="1" latinLnBrk="0" hangingPunct="1">
                        <a:defRPr sz="1800" kern="1200">
                          <a:solidFill>
                            <a:schemeClr val="tx1"/>
                          </a:solidFill>
                          <a:latin typeface="Huawei Sans" panose="020B0A04020102020204"/>
                          <a:ea typeface="微软雅黑" panose="020B0503020204020204" pitchFamily="34" charset="-122"/>
                        </a:defRPr>
                      </a:lvl3pPr>
                      <a:lvl4pPr marL="1371600" algn="l" defTabSz="914400" rtl="0" eaLnBrk="1" latinLnBrk="0" hangingPunct="1">
                        <a:defRPr sz="1800" kern="1200">
                          <a:solidFill>
                            <a:schemeClr val="tx1"/>
                          </a:solidFill>
                          <a:latin typeface="Huawei Sans" panose="020B0A04020102020204"/>
                          <a:ea typeface="微软雅黑" panose="020B0503020204020204" pitchFamily="34" charset="-122"/>
                        </a:defRPr>
                      </a:lvl4pPr>
                      <a:lvl5pPr marL="1828800" algn="l" defTabSz="914400" rtl="0" eaLnBrk="1" latinLnBrk="0" hangingPunct="1">
                        <a:defRPr sz="1800" kern="1200">
                          <a:solidFill>
                            <a:schemeClr val="tx1"/>
                          </a:solidFill>
                          <a:latin typeface="Huawei Sans" panose="020B0A04020102020204"/>
                          <a:ea typeface="微软雅黑" panose="020B0503020204020204" pitchFamily="34" charset="-122"/>
                        </a:defRPr>
                      </a:lvl5pPr>
                      <a:lvl6pPr marL="2286000" algn="l" defTabSz="914400" rtl="0" eaLnBrk="1" latinLnBrk="0" hangingPunct="1">
                        <a:defRPr sz="1800" kern="1200">
                          <a:solidFill>
                            <a:schemeClr val="tx1"/>
                          </a:solidFill>
                          <a:latin typeface="Huawei Sans" panose="020B0A04020102020204"/>
                          <a:ea typeface="微软雅黑" panose="020B0503020204020204" pitchFamily="34" charset="-122"/>
                        </a:defRPr>
                      </a:lvl6pPr>
                      <a:lvl7pPr marL="2743200" algn="l" defTabSz="914400" rtl="0" eaLnBrk="1" latinLnBrk="0" hangingPunct="1">
                        <a:defRPr sz="1800" kern="1200">
                          <a:solidFill>
                            <a:schemeClr val="tx1"/>
                          </a:solidFill>
                          <a:latin typeface="Huawei Sans" panose="020B0A04020102020204"/>
                          <a:ea typeface="微软雅黑" panose="020B0503020204020204" pitchFamily="34" charset="-122"/>
                        </a:defRPr>
                      </a:lvl7pPr>
                      <a:lvl8pPr marL="3200400" algn="l" defTabSz="914400" rtl="0" eaLnBrk="1" latinLnBrk="0" hangingPunct="1">
                        <a:defRPr sz="1800" kern="1200">
                          <a:solidFill>
                            <a:schemeClr val="tx1"/>
                          </a:solidFill>
                          <a:latin typeface="Huawei Sans" panose="020B0A04020102020204"/>
                          <a:ea typeface="微软雅黑" panose="020B0503020204020204" pitchFamily="34" charset="-122"/>
                        </a:defRPr>
                      </a:lvl8pPr>
                      <a:lvl9pPr marL="3657600" algn="l" defTabSz="914400" rtl="0" eaLnBrk="1" latinLnBrk="0" hangingPunct="1">
                        <a:defRPr sz="1800" kern="1200">
                          <a:solidFill>
                            <a:schemeClr val="tx1"/>
                          </a:solidFill>
                          <a:latin typeface="Huawei Sans" panose="020B0A04020102020204"/>
                          <a:ea typeface="微软雅黑" panose="020B0503020204020204" pitchFamily="34" charset="-122"/>
                        </a:defRPr>
                      </a:lvl9pPr>
                    </a:lstStyle>
                    <a:p>
                      <a:r>
                        <a:rPr lang="zh-CN" altLang="en-US" sz="1400" b="1" dirty="0">
                          <a:solidFill>
                            <a:srgbClr val="C00000"/>
                          </a:solidFill>
                          <a:latin typeface="微软雅黑" panose="020B0503020204020204" pitchFamily="34" charset="-122"/>
                          <a:ea typeface="微软雅黑" panose="020B0503020204020204" pitchFamily="34" charset="-122"/>
                        </a:rPr>
                        <a:t>形状（</a:t>
                      </a:r>
                      <a:r>
                        <a:rPr lang="en-US" sz="1400" b="1" dirty="0">
                          <a:solidFill>
                            <a:srgbClr val="C00000"/>
                          </a:solidFill>
                          <a:latin typeface="微软雅黑" panose="020B0503020204020204" pitchFamily="34" charset="-122"/>
                          <a:ea typeface="微软雅黑" panose="020B0503020204020204" pitchFamily="34" charset="-122"/>
                        </a:rPr>
                        <a:t>shape）</a:t>
                      </a:r>
                      <a:endParaRPr lang="en-US" sz="1400" b="1" dirty="0">
                        <a:solidFill>
                          <a:srgbClr val="C00000"/>
                        </a:solidFill>
                        <a:latin typeface="微软雅黑" panose="020B0503020204020204" pitchFamily="34" charset="-122"/>
                        <a:ea typeface="微软雅黑" panose="020B0503020204020204" pitchFamily="34" charset="-122"/>
                      </a:endParaRPr>
                    </a:p>
                  </a:txBody>
                  <a:tcPr marL="28932" marR="28932" marT="28932" marB="28932"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Huawei Sans" panose="020B0A04020102020204"/>
                          <a:ea typeface="微软雅黑" panose="020B0503020204020204" pitchFamily="34" charset="-122"/>
                        </a:defRPr>
                      </a:lvl1pPr>
                      <a:lvl2pPr marL="457200" algn="l" defTabSz="914400" rtl="0" eaLnBrk="1" latinLnBrk="0" hangingPunct="1">
                        <a:defRPr sz="1800" kern="1200">
                          <a:solidFill>
                            <a:schemeClr val="tx1"/>
                          </a:solidFill>
                          <a:latin typeface="Huawei Sans" panose="020B0A04020102020204"/>
                          <a:ea typeface="微软雅黑" panose="020B0503020204020204" pitchFamily="34" charset="-122"/>
                        </a:defRPr>
                      </a:lvl2pPr>
                      <a:lvl3pPr marL="914400" algn="l" defTabSz="914400" rtl="0" eaLnBrk="1" latinLnBrk="0" hangingPunct="1">
                        <a:defRPr sz="1800" kern="1200">
                          <a:solidFill>
                            <a:schemeClr val="tx1"/>
                          </a:solidFill>
                          <a:latin typeface="Huawei Sans" panose="020B0A04020102020204"/>
                          <a:ea typeface="微软雅黑" panose="020B0503020204020204" pitchFamily="34" charset="-122"/>
                        </a:defRPr>
                      </a:lvl3pPr>
                      <a:lvl4pPr marL="1371600" algn="l" defTabSz="914400" rtl="0" eaLnBrk="1" latinLnBrk="0" hangingPunct="1">
                        <a:defRPr sz="1800" kern="1200">
                          <a:solidFill>
                            <a:schemeClr val="tx1"/>
                          </a:solidFill>
                          <a:latin typeface="Huawei Sans" panose="020B0A04020102020204"/>
                          <a:ea typeface="微软雅黑" panose="020B0503020204020204" pitchFamily="34" charset="-122"/>
                        </a:defRPr>
                      </a:lvl4pPr>
                      <a:lvl5pPr marL="1828800" algn="l" defTabSz="914400" rtl="0" eaLnBrk="1" latinLnBrk="0" hangingPunct="1">
                        <a:defRPr sz="1800" kern="1200">
                          <a:solidFill>
                            <a:schemeClr val="tx1"/>
                          </a:solidFill>
                          <a:latin typeface="Huawei Sans" panose="020B0A04020102020204"/>
                          <a:ea typeface="微软雅黑" panose="020B0503020204020204" pitchFamily="34" charset="-122"/>
                        </a:defRPr>
                      </a:lvl5pPr>
                      <a:lvl6pPr marL="2286000" algn="l" defTabSz="914400" rtl="0" eaLnBrk="1" latinLnBrk="0" hangingPunct="1">
                        <a:defRPr sz="1800" kern="1200">
                          <a:solidFill>
                            <a:schemeClr val="tx1"/>
                          </a:solidFill>
                          <a:latin typeface="Huawei Sans" panose="020B0A04020102020204"/>
                          <a:ea typeface="微软雅黑" panose="020B0503020204020204" pitchFamily="34" charset="-122"/>
                        </a:defRPr>
                      </a:lvl6pPr>
                      <a:lvl7pPr marL="2743200" algn="l" defTabSz="914400" rtl="0" eaLnBrk="1" latinLnBrk="0" hangingPunct="1">
                        <a:defRPr sz="1800" kern="1200">
                          <a:solidFill>
                            <a:schemeClr val="tx1"/>
                          </a:solidFill>
                          <a:latin typeface="Huawei Sans" panose="020B0A04020102020204"/>
                          <a:ea typeface="微软雅黑" panose="020B0503020204020204" pitchFamily="34" charset="-122"/>
                        </a:defRPr>
                      </a:lvl7pPr>
                      <a:lvl8pPr marL="3200400" algn="l" defTabSz="914400" rtl="0" eaLnBrk="1" latinLnBrk="0" hangingPunct="1">
                        <a:defRPr sz="1800" kern="1200">
                          <a:solidFill>
                            <a:schemeClr val="tx1"/>
                          </a:solidFill>
                          <a:latin typeface="Huawei Sans" panose="020B0A04020102020204"/>
                          <a:ea typeface="微软雅黑" panose="020B0503020204020204" pitchFamily="34" charset="-122"/>
                        </a:defRPr>
                      </a:lvl8pPr>
                      <a:lvl9pPr marL="3657600" algn="l" defTabSz="914400" rtl="0" eaLnBrk="1" latinLnBrk="0" hangingPunct="1">
                        <a:defRPr sz="1800" kern="1200">
                          <a:solidFill>
                            <a:schemeClr val="tx1"/>
                          </a:solidFill>
                          <a:latin typeface="Huawei Sans" panose="020B0A04020102020204"/>
                          <a:ea typeface="微软雅黑" panose="020B0503020204020204" pitchFamily="34" charset="-122"/>
                        </a:defRPr>
                      </a:lvl9pPr>
                    </a:lstStyle>
                    <a:p>
                      <a:pPr>
                        <a:lnSpc>
                          <a:spcPct val="120000"/>
                        </a:lnSpc>
                      </a:pPr>
                      <a:r>
                        <a:rPr lang="en-US" altLang="zh-CN" sz="1400" dirty="0">
                          <a:solidFill>
                            <a:schemeClr val="bg1"/>
                          </a:solidFill>
                          <a:latin typeface="微软雅黑" panose="020B0503020204020204" pitchFamily="34" charset="-122"/>
                          <a:ea typeface="微软雅黑" panose="020B0503020204020204" pitchFamily="34" charset="-122"/>
                        </a:rPr>
                        <a:t>Tensor</a:t>
                      </a:r>
                      <a:r>
                        <a:rPr lang="zh-CN" altLang="en-US" sz="1400" dirty="0">
                          <a:solidFill>
                            <a:schemeClr val="bg1"/>
                          </a:solidFill>
                          <a:latin typeface="微软雅黑" panose="020B0503020204020204" pitchFamily="34" charset="-122"/>
                          <a:ea typeface="微软雅黑" panose="020B0503020204020204" pitchFamily="34" charset="-122"/>
                        </a:rPr>
                        <a:t>的形状，如（</a:t>
                      </a:r>
                      <a:r>
                        <a:rPr lang="en-US" altLang="zh-CN" sz="1400" dirty="0">
                          <a:solidFill>
                            <a:schemeClr val="bg1"/>
                          </a:solidFill>
                          <a:latin typeface="微软雅黑" panose="020B0503020204020204" pitchFamily="34" charset="-122"/>
                          <a:ea typeface="微软雅黑" panose="020B0503020204020204" pitchFamily="34" charset="-122"/>
                        </a:rPr>
                        <a:t>10,</a:t>
                      </a:r>
                      <a:r>
                        <a:rPr lang="zh-CN" altLang="en-US" sz="1400" dirty="0">
                          <a:solidFill>
                            <a:schemeClr val="bg1"/>
                          </a:solidFill>
                          <a:latin typeface="微软雅黑" panose="020B0503020204020204" pitchFamily="34" charset="-122"/>
                          <a:ea typeface="微软雅黑" panose="020B0503020204020204" pitchFamily="34" charset="-122"/>
                        </a:rPr>
                        <a:t>）或（</a:t>
                      </a:r>
                      <a:r>
                        <a:rPr lang="en-US" altLang="zh-CN" sz="1400" dirty="0">
                          <a:solidFill>
                            <a:schemeClr val="bg1"/>
                          </a:solidFill>
                          <a:latin typeface="微软雅黑" panose="020B0503020204020204" pitchFamily="34" charset="-122"/>
                          <a:ea typeface="微软雅黑" panose="020B0503020204020204" pitchFamily="34" charset="-122"/>
                        </a:rPr>
                        <a:t>1024, 1024</a:t>
                      </a:r>
                      <a:r>
                        <a:rPr lang="zh-CN" altLang="en-US" sz="1400" dirty="0">
                          <a:solidFill>
                            <a:schemeClr val="bg1"/>
                          </a:solidFill>
                          <a:latin typeface="微软雅黑" panose="020B0503020204020204" pitchFamily="34" charset="-122"/>
                          <a:ea typeface="微软雅黑" panose="020B0503020204020204" pitchFamily="34" charset="-122"/>
                        </a:rPr>
                        <a:t>）或（</a:t>
                      </a:r>
                      <a:r>
                        <a:rPr lang="en-US" altLang="zh-CN" sz="1400" dirty="0">
                          <a:solidFill>
                            <a:schemeClr val="bg1"/>
                          </a:solidFill>
                          <a:latin typeface="微软雅黑" panose="020B0503020204020204" pitchFamily="34" charset="-122"/>
                          <a:ea typeface="微软雅黑" panose="020B0503020204020204" pitchFamily="34" charset="-122"/>
                        </a:rPr>
                        <a:t>2, 3, 4</a:t>
                      </a:r>
                      <a:r>
                        <a:rPr lang="zh-CN" altLang="en-US" sz="1400" dirty="0">
                          <a:solidFill>
                            <a:schemeClr val="bg1"/>
                          </a:solidFill>
                          <a:latin typeface="微软雅黑" panose="020B0503020204020204" pitchFamily="34" charset="-122"/>
                          <a:ea typeface="微软雅黑" panose="020B0503020204020204" pitchFamily="34" charset="-122"/>
                        </a:rPr>
                        <a:t>）等。形式：</a:t>
                      </a:r>
                      <a:r>
                        <a:rPr lang="en-US" altLang="zh-CN" sz="1400" dirty="0">
                          <a:solidFill>
                            <a:schemeClr val="bg1"/>
                          </a:solidFill>
                          <a:latin typeface="微软雅黑" panose="020B0503020204020204" pitchFamily="34" charset="-122"/>
                          <a:ea typeface="微软雅黑" panose="020B0503020204020204" pitchFamily="34" charset="-122"/>
                        </a:rPr>
                        <a:t>(i1, i2,…in)</a:t>
                      </a:r>
                      <a:r>
                        <a:rPr lang="zh-CN" altLang="en-US" sz="1400" dirty="0">
                          <a:solidFill>
                            <a:schemeClr val="bg1"/>
                          </a:solidFill>
                          <a:latin typeface="微软雅黑" panose="020B0503020204020204" pitchFamily="34" charset="-122"/>
                          <a:ea typeface="微软雅黑" panose="020B0503020204020204" pitchFamily="34" charset="-122"/>
                        </a:rPr>
                        <a:t>，其中</a:t>
                      </a:r>
                      <a:r>
                        <a:rPr lang="en-US" altLang="zh-CN" sz="1400" dirty="0">
                          <a:solidFill>
                            <a:schemeClr val="bg1"/>
                          </a:solidFill>
                          <a:latin typeface="微软雅黑" panose="020B0503020204020204" pitchFamily="34" charset="-122"/>
                          <a:ea typeface="微软雅黑" panose="020B0503020204020204" pitchFamily="34" charset="-122"/>
                        </a:rPr>
                        <a:t>i1</a:t>
                      </a:r>
                      <a:r>
                        <a:rPr lang="zh-CN" altLang="en-US" sz="1400" dirty="0">
                          <a:solidFill>
                            <a:schemeClr val="bg1"/>
                          </a:solidFill>
                          <a:latin typeface="微软雅黑" panose="020B0503020204020204" pitchFamily="34" charset="-122"/>
                          <a:ea typeface="微软雅黑" panose="020B0503020204020204" pitchFamily="34" charset="-122"/>
                        </a:rPr>
                        <a:t>到</a:t>
                      </a:r>
                      <a:r>
                        <a:rPr lang="en-US" altLang="zh-CN" sz="1400" dirty="0">
                          <a:solidFill>
                            <a:schemeClr val="bg1"/>
                          </a:solidFill>
                          <a:latin typeface="微软雅黑" panose="020B0503020204020204" pitchFamily="34" charset="-122"/>
                          <a:ea typeface="微软雅黑" panose="020B0503020204020204" pitchFamily="34" charset="-122"/>
                        </a:rPr>
                        <a:t>in</a:t>
                      </a:r>
                      <a:r>
                        <a:rPr lang="zh-CN" altLang="en-US" sz="1400" dirty="0">
                          <a:solidFill>
                            <a:schemeClr val="bg1"/>
                          </a:solidFill>
                          <a:latin typeface="微软雅黑" panose="020B0503020204020204" pitchFamily="34" charset="-122"/>
                          <a:ea typeface="微软雅黑" panose="020B0503020204020204" pitchFamily="34" charset="-122"/>
                        </a:rPr>
                        <a:t>均为正整数</a:t>
                      </a:r>
                      <a:endParaRPr lang="zh-CN" altLang="en-US" sz="1400" dirty="0">
                        <a:solidFill>
                          <a:schemeClr val="bg1"/>
                        </a:solidFill>
                        <a:latin typeface="微软雅黑" panose="020B0503020204020204" pitchFamily="34" charset="-122"/>
                        <a:ea typeface="微软雅黑" panose="020B0503020204020204" pitchFamily="34" charset="-122"/>
                      </a:endParaRPr>
                    </a:p>
                  </a:txBody>
                  <a:tcPr marL="28932" marR="28932" marT="28932" marB="28932"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noFill/>
                  </a:tcPr>
                </a:tc>
              </a:tr>
              <a:tr h="1348273">
                <a:tc>
                  <a:txBody>
                    <a:bodyPr/>
                    <a:lstStyle>
                      <a:lvl1pPr marL="0" algn="l" defTabSz="914400" rtl="0" eaLnBrk="1" latinLnBrk="0" hangingPunct="1">
                        <a:defRPr sz="1800" kern="1200">
                          <a:solidFill>
                            <a:schemeClr val="tx1"/>
                          </a:solidFill>
                          <a:latin typeface="Huawei Sans" panose="020B0A04020102020204"/>
                          <a:ea typeface="微软雅黑" panose="020B0503020204020204" pitchFamily="34" charset="-122"/>
                        </a:defRPr>
                      </a:lvl1pPr>
                      <a:lvl2pPr marL="457200" algn="l" defTabSz="914400" rtl="0" eaLnBrk="1" latinLnBrk="0" hangingPunct="1">
                        <a:defRPr sz="1800" kern="1200">
                          <a:solidFill>
                            <a:schemeClr val="tx1"/>
                          </a:solidFill>
                          <a:latin typeface="Huawei Sans" panose="020B0A04020102020204"/>
                          <a:ea typeface="微软雅黑" panose="020B0503020204020204" pitchFamily="34" charset="-122"/>
                        </a:defRPr>
                      </a:lvl2pPr>
                      <a:lvl3pPr marL="914400" algn="l" defTabSz="914400" rtl="0" eaLnBrk="1" latinLnBrk="0" hangingPunct="1">
                        <a:defRPr sz="1800" kern="1200">
                          <a:solidFill>
                            <a:schemeClr val="tx1"/>
                          </a:solidFill>
                          <a:latin typeface="Huawei Sans" panose="020B0A04020102020204"/>
                          <a:ea typeface="微软雅黑" panose="020B0503020204020204" pitchFamily="34" charset="-122"/>
                        </a:defRPr>
                      </a:lvl3pPr>
                      <a:lvl4pPr marL="1371600" algn="l" defTabSz="914400" rtl="0" eaLnBrk="1" latinLnBrk="0" hangingPunct="1">
                        <a:defRPr sz="1800" kern="1200">
                          <a:solidFill>
                            <a:schemeClr val="tx1"/>
                          </a:solidFill>
                          <a:latin typeface="Huawei Sans" panose="020B0A04020102020204"/>
                          <a:ea typeface="微软雅黑" panose="020B0503020204020204" pitchFamily="34" charset="-122"/>
                        </a:defRPr>
                      </a:lvl4pPr>
                      <a:lvl5pPr marL="1828800" algn="l" defTabSz="914400" rtl="0" eaLnBrk="1" latinLnBrk="0" hangingPunct="1">
                        <a:defRPr sz="1800" kern="1200">
                          <a:solidFill>
                            <a:schemeClr val="tx1"/>
                          </a:solidFill>
                          <a:latin typeface="Huawei Sans" panose="020B0A04020102020204"/>
                          <a:ea typeface="微软雅黑" panose="020B0503020204020204" pitchFamily="34" charset="-122"/>
                        </a:defRPr>
                      </a:lvl5pPr>
                      <a:lvl6pPr marL="2286000" algn="l" defTabSz="914400" rtl="0" eaLnBrk="1" latinLnBrk="0" hangingPunct="1">
                        <a:defRPr sz="1800" kern="1200">
                          <a:solidFill>
                            <a:schemeClr val="tx1"/>
                          </a:solidFill>
                          <a:latin typeface="Huawei Sans" panose="020B0A04020102020204"/>
                          <a:ea typeface="微软雅黑" panose="020B0503020204020204" pitchFamily="34" charset="-122"/>
                        </a:defRPr>
                      </a:lvl6pPr>
                      <a:lvl7pPr marL="2743200" algn="l" defTabSz="914400" rtl="0" eaLnBrk="1" latinLnBrk="0" hangingPunct="1">
                        <a:defRPr sz="1800" kern="1200">
                          <a:solidFill>
                            <a:schemeClr val="tx1"/>
                          </a:solidFill>
                          <a:latin typeface="Huawei Sans" panose="020B0A04020102020204"/>
                          <a:ea typeface="微软雅黑" panose="020B0503020204020204" pitchFamily="34" charset="-122"/>
                        </a:defRPr>
                      </a:lvl7pPr>
                      <a:lvl8pPr marL="3200400" algn="l" defTabSz="914400" rtl="0" eaLnBrk="1" latinLnBrk="0" hangingPunct="1">
                        <a:defRPr sz="1800" kern="1200">
                          <a:solidFill>
                            <a:schemeClr val="tx1"/>
                          </a:solidFill>
                          <a:latin typeface="Huawei Sans" panose="020B0A04020102020204"/>
                          <a:ea typeface="微软雅黑" panose="020B0503020204020204" pitchFamily="34" charset="-122"/>
                        </a:defRPr>
                      </a:lvl8pPr>
                      <a:lvl9pPr marL="3657600" algn="l" defTabSz="914400" rtl="0" eaLnBrk="1" latinLnBrk="0" hangingPunct="1">
                        <a:defRPr sz="1800" kern="1200">
                          <a:solidFill>
                            <a:schemeClr val="tx1"/>
                          </a:solidFill>
                          <a:latin typeface="Huawei Sans" panose="020B0A04020102020204"/>
                          <a:ea typeface="微软雅黑" panose="020B0503020204020204" pitchFamily="34" charset="-122"/>
                        </a:defRPr>
                      </a:lvl9pPr>
                    </a:lstStyle>
                    <a:p>
                      <a:r>
                        <a:rPr lang="zh-CN" altLang="en-US" sz="1400" b="1" dirty="0">
                          <a:solidFill>
                            <a:srgbClr val="C00000"/>
                          </a:solidFill>
                          <a:latin typeface="微软雅黑" panose="020B0503020204020204" pitchFamily="34" charset="-122"/>
                          <a:ea typeface="微软雅黑" panose="020B0503020204020204" pitchFamily="34" charset="-122"/>
                        </a:rPr>
                        <a:t>数据类型（</a:t>
                      </a:r>
                      <a:r>
                        <a:rPr lang="en-US" altLang="zh-CN" sz="1400" b="1" dirty="0" err="1">
                          <a:solidFill>
                            <a:srgbClr val="C00000"/>
                          </a:solidFill>
                          <a:latin typeface="微软雅黑" panose="020B0503020204020204" pitchFamily="34" charset="-122"/>
                          <a:ea typeface="微软雅黑" panose="020B0503020204020204" pitchFamily="34" charset="-122"/>
                        </a:rPr>
                        <a:t>dtype</a:t>
                      </a:r>
                      <a:r>
                        <a:rPr lang="zh-CN" altLang="en-US" sz="1400" b="1" dirty="0">
                          <a:solidFill>
                            <a:srgbClr val="C00000"/>
                          </a:solidFill>
                          <a:latin typeface="微软雅黑" panose="020B0503020204020204" pitchFamily="34" charset="-122"/>
                          <a:ea typeface="微软雅黑" panose="020B0503020204020204" pitchFamily="34" charset="-122"/>
                        </a:rPr>
                        <a:t>）</a:t>
                      </a:r>
                      <a:endParaRPr lang="zh-CN" altLang="en-US" sz="1400" b="1" dirty="0">
                        <a:solidFill>
                          <a:srgbClr val="C00000"/>
                        </a:solidFill>
                        <a:latin typeface="微软雅黑" panose="020B0503020204020204" pitchFamily="34" charset="-122"/>
                        <a:ea typeface="微软雅黑" panose="020B0503020204020204" pitchFamily="34" charset="-122"/>
                      </a:endParaRPr>
                    </a:p>
                  </a:txBody>
                  <a:tcPr marL="28932" marR="28932" marT="28932" marB="28932"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Huawei Sans" panose="020B0A04020102020204"/>
                          <a:ea typeface="微软雅黑" panose="020B0503020204020204" pitchFamily="34" charset="-122"/>
                        </a:defRPr>
                      </a:lvl1pPr>
                      <a:lvl2pPr marL="457200" algn="l" defTabSz="914400" rtl="0" eaLnBrk="1" latinLnBrk="0" hangingPunct="1">
                        <a:defRPr sz="1800" kern="1200">
                          <a:solidFill>
                            <a:schemeClr val="tx1"/>
                          </a:solidFill>
                          <a:latin typeface="Huawei Sans" panose="020B0A04020102020204"/>
                          <a:ea typeface="微软雅黑" panose="020B0503020204020204" pitchFamily="34" charset="-122"/>
                        </a:defRPr>
                      </a:lvl2pPr>
                      <a:lvl3pPr marL="914400" algn="l" defTabSz="914400" rtl="0" eaLnBrk="1" latinLnBrk="0" hangingPunct="1">
                        <a:defRPr sz="1800" kern="1200">
                          <a:solidFill>
                            <a:schemeClr val="tx1"/>
                          </a:solidFill>
                          <a:latin typeface="Huawei Sans" panose="020B0A04020102020204"/>
                          <a:ea typeface="微软雅黑" panose="020B0503020204020204" pitchFamily="34" charset="-122"/>
                        </a:defRPr>
                      </a:lvl3pPr>
                      <a:lvl4pPr marL="1371600" algn="l" defTabSz="914400" rtl="0" eaLnBrk="1" latinLnBrk="0" hangingPunct="1">
                        <a:defRPr sz="1800" kern="1200">
                          <a:solidFill>
                            <a:schemeClr val="tx1"/>
                          </a:solidFill>
                          <a:latin typeface="Huawei Sans" panose="020B0A04020102020204"/>
                          <a:ea typeface="微软雅黑" panose="020B0503020204020204" pitchFamily="34" charset="-122"/>
                        </a:defRPr>
                      </a:lvl4pPr>
                      <a:lvl5pPr marL="1828800" algn="l" defTabSz="914400" rtl="0" eaLnBrk="1" latinLnBrk="0" hangingPunct="1">
                        <a:defRPr sz="1800" kern="1200">
                          <a:solidFill>
                            <a:schemeClr val="tx1"/>
                          </a:solidFill>
                          <a:latin typeface="Huawei Sans" panose="020B0A04020102020204"/>
                          <a:ea typeface="微软雅黑" panose="020B0503020204020204" pitchFamily="34" charset="-122"/>
                        </a:defRPr>
                      </a:lvl5pPr>
                      <a:lvl6pPr marL="2286000" algn="l" defTabSz="914400" rtl="0" eaLnBrk="1" latinLnBrk="0" hangingPunct="1">
                        <a:defRPr sz="1800" kern="1200">
                          <a:solidFill>
                            <a:schemeClr val="tx1"/>
                          </a:solidFill>
                          <a:latin typeface="Huawei Sans" panose="020B0A04020102020204"/>
                          <a:ea typeface="微软雅黑" panose="020B0503020204020204" pitchFamily="34" charset="-122"/>
                        </a:defRPr>
                      </a:lvl6pPr>
                      <a:lvl7pPr marL="2743200" algn="l" defTabSz="914400" rtl="0" eaLnBrk="1" latinLnBrk="0" hangingPunct="1">
                        <a:defRPr sz="1800" kern="1200">
                          <a:solidFill>
                            <a:schemeClr val="tx1"/>
                          </a:solidFill>
                          <a:latin typeface="Huawei Sans" panose="020B0A04020102020204"/>
                          <a:ea typeface="微软雅黑" panose="020B0503020204020204" pitchFamily="34" charset="-122"/>
                        </a:defRPr>
                      </a:lvl7pPr>
                      <a:lvl8pPr marL="3200400" algn="l" defTabSz="914400" rtl="0" eaLnBrk="1" latinLnBrk="0" hangingPunct="1">
                        <a:defRPr sz="1800" kern="1200">
                          <a:solidFill>
                            <a:schemeClr val="tx1"/>
                          </a:solidFill>
                          <a:latin typeface="Huawei Sans" panose="020B0A04020102020204"/>
                          <a:ea typeface="微软雅黑" panose="020B0503020204020204" pitchFamily="34" charset="-122"/>
                        </a:defRPr>
                      </a:lvl8pPr>
                      <a:lvl9pPr marL="3657600" algn="l" defTabSz="914400" rtl="0" eaLnBrk="1" latinLnBrk="0" hangingPunct="1">
                        <a:defRPr sz="1800" kern="1200">
                          <a:solidFill>
                            <a:schemeClr val="tx1"/>
                          </a:solidFill>
                          <a:latin typeface="Huawei Sans" panose="020B0A04020102020204"/>
                          <a:ea typeface="微软雅黑" panose="020B0503020204020204" pitchFamily="34" charset="-122"/>
                        </a:defRPr>
                      </a:lvl9pPr>
                    </a:lstStyle>
                    <a:p>
                      <a:pPr>
                        <a:lnSpc>
                          <a:spcPct val="120000"/>
                        </a:lnSpc>
                      </a:pPr>
                      <a:r>
                        <a:rPr lang="zh-CN" altLang="en-US" sz="1400" dirty="0">
                          <a:solidFill>
                            <a:schemeClr val="bg1"/>
                          </a:solidFill>
                          <a:latin typeface="微软雅黑" panose="020B0503020204020204" pitchFamily="34" charset="-122"/>
                          <a:ea typeface="微软雅黑" panose="020B0503020204020204" pitchFamily="34" charset="-122"/>
                        </a:rPr>
                        <a:t>指定</a:t>
                      </a:r>
                      <a:r>
                        <a:rPr lang="en-US" sz="1400" dirty="0">
                          <a:solidFill>
                            <a:schemeClr val="bg1"/>
                          </a:solidFill>
                          <a:latin typeface="微软雅黑" panose="020B0503020204020204" pitchFamily="34" charset="-122"/>
                          <a:ea typeface="微软雅黑" panose="020B0503020204020204" pitchFamily="34" charset="-122"/>
                        </a:rPr>
                        <a:t>Tensor</a:t>
                      </a:r>
                      <a:r>
                        <a:rPr lang="zh-CN" altLang="en-US" sz="1400" dirty="0">
                          <a:solidFill>
                            <a:schemeClr val="bg1"/>
                          </a:solidFill>
                          <a:latin typeface="微软雅黑" panose="020B0503020204020204" pitchFamily="34" charset="-122"/>
                          <a:ea typeface="微软雅黑" panose="020B0503020204020204" pitchFamily="34" charset="-122"/>
                        </a:rPr>
                        <a:t>对象的数据类型，例如：</a:t>
                      </a:r>
                      <a:r>
                        <a:rPr lang="en-US" sz="1400" dirty="0">
                          <a:solidFill>
                            <a:schemeClr val="bg1"/>
                          </a:solidFill>
                          <a:latin typeface="微软雅黑" panose="020B0503020204020204" pitchFamily="34" charset="-122"/>
                          <a:ea typeface="微软雅黑" panose="020B0503020204020204" pitchFamily="34" charset="-122"/>
                        </a:rPr>
                        <a:t>float16, float32, int8, int16, int32, uint8, uint16, bo</a:t>
                      </a:r>
                      <a:r>
                        <a:rPr lang="en-US" altLang="zh-CN" sz="1400" dirty="0">
                          <a:solidFill>
                            <a:schemeClr val="bg1"/>
                          </a:solidFill>
                          <a:latin typeface="微软雅黑" panose="020B0503020204020204" pitchFamily="34" charset="-122"/>
                          <a:ea typeface="微软雅黑" panose="020B0503020204020204" pitchFamily="34" charset="-122"/>
                        </a:rPr>
                        <a:t>o</a:t>
                      </a:r>
                      <a:r>
                        <a:rPr lang="en-US" sz="1400" dirty="0">
                          <a:solidFill>
                            <a:schemeClr val="bg1"/>
                          </a:solidFill>
                          <a:latin typeface="微软雅黑" panose="020B0503020204020204" pitchFamily="34" charset="-122"/>
                          <a:ea typeface="微软雅黑" panose="020B0503020204020204" pitchFamily="34" charset="-122"/>
                        </a:rPr>
                        <a:t>l</a:t>
                      </a:r>
                      <a:r>
                        <a:rPr lang="zh-CN" altLang="en-US" sz="1400" dirty="0">
                          <a:solidFill>
                            <a:schemeClr val="bg1"/>
                          </a:solidFill>
                          <a:latin typeface="微软雅黑" panose="020B0503020204020204" pitchFamily="34" charset="-122"/>
                          <a:ea typeface="微软雅黑" panose="020B0503020204020204" pitchFamily="34" charset="-122"/>
                        </a:rPr>
                        <a:t>等</a:t>
                      </a:r>
                      <a:endParaRPr lang="en-US" sz="1400" dirty="0">
                        <a:solidFill>
                          <a:schemeClr val="bg1"/>
                        </a:solidFill>
                        <a:latin typeface="微软雅黑" panose="020B0503020204020204" pitchFamily="34" charset="-122"/>
                        <a:ea typeface="微软雅黑" panose="020B0503020204020204" pitchFamily="34" charset="-122"/>
                      </a:endParaRPr>
                    </a:p>
                    <a:p>
                      <a:pPr>
                        <a:lnSpc>
                          <a:spcPct val="120000"/>
                        </a:lnSpc>
                      </a:pPr>
                      <a:r>
                        <a:rPr lang="zh-CN" altLang="en-US" sz="1400" dirty="0">
                          <a:solidFill>
                            <a:schemeClr val="bg1"/>
                          </a:solidFill>
                          <a:latin typeface="微软雅黑" panose="020B0503020204020204" pitchFamily="34" charset="-122"/>
                          <a:ea typeface="微软雅黑" panose="020B0503020204020204" pitchFamily="34" charset="-122"/>
                        </a:rPr>
                        <a:t>不同计算操作支持的数据类型不同</a:t>
                      </a:r>
                      <a:endParaRPr lang="zh-CN" altLang="en-US" sz="1400" dirty="0">
                        <a:solidFill>
                          <a:schemeClr val="bg1"/>
                        </a:solidFill>
                        <a:latin typeface="微软雅黑" panose="020B0503020204020204" pitchFamily="34" charset="-122"/>
                        <a:ea typeface="微软雅黑" panose="020B0503020204020204" pitchFamily="34" charset="-122"/>
                      </a:endParaRPr>
                    </a:p>
                  </a:txBody>
                  <a:tcPr marL="28932" marR="28932" marT="28932" marB="28932"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noFill/>
                  </a:tcPr>
                </a:tc>
              </a:tr>
              <a:tr h="718587">
                <a:tc>
                  <a:txBody>
                    <a:bodyPr/>
                    <a:lstStyle>
                      <a:lvl1pPr marL="0" algn="l" defTabSz="914400" rtl="0" eaLnBrk="1" latinLnBrk="0" hangingPunct="1">
                        <a:defRPr sz="1800" kern="1200">
                          <a:solidFill>
                            <a:schemeClr val="tx1"/>
                          </a:solidFill>
                          <a:latin typeface="Huawei Sans" panose="020B0A04020102020204"/>
                          <a:ea typeface="微软雅黑" panose="020B0503020204020204" pitchFamily="34" charset="-122"/>
                        </a:defRPr>
                      </a:lvl1pPr>
                      <a:lvl2pPr marL="457200" algn="l" defTabSz="914400" rtl="0" eaLnBrk="1" latinLnBrk="0" hangingPunct="1">
                        <a:defRPr sz="1800" kern="1200">
                          <a:solidFill>
                            <a:schemeClr val="tx1"/>
                          </a:solidFill>
                          <a:latin typeface="Huawei Sans" panose="020B0A04020102020204"/>
                          <a:ea typeface="微软雅黑" panose="020B0503020204020204" pitchFamily="34" charset="-122"/>
                        </a:defRPr>
                      </a:lvl2pPr>
                      <a:lvl3pPr marL="914400" algn="l" defTabSz="914400" rtl="0" eaLnBrk="1" latinLnBrk="0" hangingPunct="1">
                        <a:defRPr sz="1800" kern="1200">
                          <a:solidFill>
                            <a:schemeClr val="tx1"/>
                          </a:solidFill>
                          <a:latin typeface="Huawei Sans" panose="020B0A04020102020204"/>
                          <a:ea typeface="微软雅黑" panose="020B0503020204020204" pitchFamily="34" charset="-122"/>
                        </a:defRPr>
                      </a:lvl3pPr>
                      <a:lvl4pPr marL="1371600" algn="l" defTabSz="914400" rtl="0" eaLnBrk="1" latinLnBrk="0" hangingPunct="1">
                        <a:defRPr sz="1800" kern="1200">
                          <a:solidFill>
                            <a:schemeClr val="tx1"/>
                          </a:solidFill>
                          <a:latin typeface="Huawei Sans" panose="020B0A04020102020204"/>
                          <a:ea typeface="微软雅黑" panose="020B0503020204020204" pitchFamily="34" charset="-122"/>
                        </a:defRPr>
                      </a:lvl4pPr>
                      <a:lvl5pPr marL="1828800" algn="l" defTabSz="914400" rtl="0" eaLnBrk="1" latinLnBrk="0" hangingPunct="1">
                        <a:defRPr sz="1800" kern="1200">
                          <a:solidFill>
                            <a:schemeClr val="tx1"/>
                          </a:solidFill>
                          <a:latin typeface="Huawei Sans" panose="020B0A04020102020204"/>
                          <a:ea typeface="微软雅黑" panose="020B0503020204020204" pitchFamily="34" charset="-122"/>
                        </a:defRPr>
                      </a:lvl5pPr>
                      <a:lvl6pPr marL="2286000" algn="l" defTabSz="914400" rtl="0" eaLnBrk="1" latinLnBrk="0" hangingPunct="1">
                        <a:defRPr sz="1800" kern="1200">
                          <a:solidFill>
                            <a:schemeClr val="tx1"/>
                          </a:solidFill>
                          <a:latin typeface="Huawei Sans" panose="020B0A04020102020204"/>
                          <a:ea typeface="微软雅黑" panose="020B0503020204020204" pitchFamily="34" charset="-122"/>
                        </a:defRPr>
                      </a:lvl6pPr>
                      <a:lvl7pPr marL="2743200" algn="l" defTabSz="914400" rtl="0" eaLnBrk="1" latinLnBrk="0" hangingPunct="1">
                        <a:defRPr sz="1800" kern="1200">
                          <a:solidFill>
                            <a:schemeClr val="tx1"/>
                          </a:solidFill>
                          <a:latin typeface="Huawei Sans" panose="020B0A04020102020204"/>
                          <a:ea typeface="微软雅黑" panose="020B0503020204020204" pitchFamily="34" charset="-122"/>
                        </a:defRPr>
                      </a:lvl7pPr>
                      <a:lvl8pPr marL="3200400" algn="l" defTabSz="914400" rtl="0" eaLnBrk="1" latinLnBrk="0" hangingPunct="1">
                        <a:defRPr sz="1800" kern="1200">
                          <a:solidFill>
                            <a:schemeClr val="tx1"/>
                          </a:solidFill>
                          <a:latin typeface="Huawei Sans" panose="020B0A04020102020204"/>
                          <a:ea typeface="微软雅黑" panose="020B0503020204020204" pitchFamily="34" charset="-122"/>
                        </a:defRPr>
                      </a:lvl8pPr>
                      <a:lvl9pPr marL="3657600" algn="l" defTabSz="914400" rtl="0" eaLnBrk="1" latinLnBrk="0" hangingPunct="1">
                        <a:defRPr sz="1800" kern="1200">
                          <a:solidFill>
                            <a:schemeClr val="tx1"/>
                          </a:solidFill>
                          <a:latin typeface="Huawei Sans" panose="020B0A04020102020204"/>
                          <a:ea typeface="微软雅黑" panose="020B0503020204020204" pitchFamily="34" charset="-122"/>
                        </a:defRPr>
                      </a:lvl9pPr>
                    </a:lstStyle>
                    <a:p>
                      <a:r>
                        <a:rPr lang="zh-CN" altLang="en-US" sz="1400" b="1" dirty="0">
                          <a:solidFill>
                            <a:srgbClr val="C00000"/>
                          </a:solidFill>
                          <a:latin typeface="微软雅黑" panose="020B0503020204020204" pitchFamily="34" charset="-122"/>
                          <a:ea typeface="微软雅黑" panose="020B0503020204020204" pitchFamily="34" charset="-122"/>
                        </a:rPr>
                        <a:t>数据排布格式（</a:t>
                      </a:r>
                      <a:r>
                        <a:rPr lang="en-US" sz="1400" b="1" dirty="0">
                          <a:solidFill>
                            <a:srgbClr val="C00000"/>
                          </a:solidFill>
                          <a:latin typeface="微软雅黑" panose="020B0503020204020204" pitchFamily="34" charset="-122"/>
                          <a:ea typeface="微软雅黑" panose="020B0503020204020204" pitchFamily="34" charset="-122"/>
                        </a:rPr>
                        <a:t>format）</a:t>
                      </a:r>
                      <a:endParaRPr lang="en-US" sz="1400" b="1" dirty="0">
                        <a:solidFill>
                          <a:srgbClr val="C00000"/>
                        </a:solidFill>
                        <a:latin typeface="微软雅黑" panose="020B0503020204020204" pitchFamily="34" charset="-122"/>
                        <a:ea typeface="微软雅黑" panose="020B0503020204020204" pitchFamily="34" charset="-122"/>
                      </a:endParaRPr>
                    </a:p>
                  </a:txBody>
                  <a:tcPr marL="28932" marR="28932" marT="28932" marB="28932"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Huawei Sans" panose="020B0A04020102020204"/>
                          <a:ea typeface="微软雅黑" panose="020B0503020204020204" pitchFamily="34" charset="-122"/>
                        </a:defRPr>
                      </a:lvl1pPr>
                      <a:lvl2pPr marL="457200" algn="l" defTabSz="914400" rtl="0" eaLnBrk="1" latinLnBrk="0" hangingPunct="1">
                        <a:defRPr sz="1800" kern="1200">
                          <a:solidFill>
                            <a:schemeClr val="tx1"/>
                          </a:solidFill>
                          <a:latin typeface="Huawei Sans" panose="020B0A04020102020204"/>
                          <a:ea typeface="微软雅黑" panose="020B0503020204020204" pitchFamily="34" charset="-122"/>
                        </a:defRPr>
                      </a:lvl2pPr>
                      <a:lvl3pPr marL="914400" algn="l" defTabSz="914400" rtl="0" eaLnBrk="1" latinLnBrk="0" hangingPunct="1">
                        <a:defRPr sz="1800" kern="1200">
                          <a:solidFill>
                            <a:schemeClr val="tx1"/>
                          </a:solidFill>
                          <a:latin typeface="Huawei Sans" panose="020B0A04020102020204"/>
                          <a:ea typeface="微软雅黑" panose="020B0503020204020204" pitchFamily="34" charset="-122"/>
                        </a:defRPr>
                      </a:lvl3pPr>
                      <a:lvl4pPr marL="1371600" algn="l" defTabSz="914400" rtl="0" eaLnBrk="1" latinLnBrk="0" hangingPunct="1">
                        <a:defRPr sz="1800" kern="1200">
                          <a:solidFill>
                            <a:schemeClr val="tx1"/>
                          </a:solidFill>
                          <a:latin typeface="Huawei Sans" panose="020B0A04020102020204"/>
                          <a:ea typeface="微软雅黑" panose="020B0503020204020204" pitchFamily="34" charset="-122"/>
                        </a:defRPr>
                      </a:lvl4pPr>
                      <a:lvl5pPr marL="1828800" algn="l" defTabSz="914400" rtl="0" eaLnBrk="1" latinLnBrk="0" hangingPunct="1">
                        <a:defRPr sz="1800" kern="1200">
                          <a:solidFill>
                            <a:schemeClr val="tx1"/>
                          </a:solidFill>
                          <a:latin typeface="Huawei Sans" panose="020B0A04020102020204"/>
                          <a:ea typeface="微软雅黑" panose="020B0503020204020204" pitchFamily="34" charset="-122"/>
                        </a:defRPr>
                      </a:lvl5pPr>
                      <a:lvl6pPr marL="2286000" algn="l" defTabSz="914400" rtl="0" eaLnBrk="1" latinLnBrk="0" hangingPunct="1">
                        <a:defRPr sz="1800" kern="1200">
                          <a:solidFill>
                            <a:schemeClr val="tx1"/>
                          </a:solidFill>
                          <a:latin typeface="Huawei Sans" panose="020B0A04020102020204"/>
                          <a:ea typeface="微软雅黑" panose="020B0503020204020204" pitchFamily="34" charset="-122"/>
                        </a:defRPr>
                      </a:lvl6pPr>
                      <a:lvl7pPr marL="2743200" algn="l" defTabSz="914400" rtl="0" eaLnBrk="1" latinLnBrk="0" hangingPunct="1">
                        <a:defRPr sz="1800" kern="1200">
                          <a:solidFill>
                            <a:schemeClr val="tx1"/>
                          </a:solidFill>
                          <a:latin typeface="Huawei Sans" panose="020B0A04020102020204"/>
                          <a:ea typeface="微软雅黑" panose="020B0503020204020204" pitchFamily="34" charset="-122"/>
                        </a:defRPr>
                      </a:lvl7pPr>
                      <a:lvl8pPr marL="3200400" algn="l" defTabSz="914400" rtl="0" eaLnBrk="1" latinLnBrk="0" hangingPunct="1">
                        <a:defRPr sz="1800" kern="1200">
                          <a:solidFill>
                            <a:schemeClr val="tx1"/>
                          </a:solidFill>
                          <a:latin typeface="Huawei Sans" panose="020B0A04020102020204"/>
                          <a:ea typeface="微软雅黑" panose="020B0503020204020204" pitchFamily="34" charset="-122"/>
                        </a:defRPr>
                      </a:lvl8pPr>
                      <a:lvl9pPr marL="3657600" algn="l" defTabSz="914400" rtl="0" eaLnBrk="1" latinLnBrk="0" hangingPunct="1">
                        <a:defRPr sz="1800" kern="1200">
                          <a:solidFill>
                            <a:schemeClr val="tx1"/>
                          </a:solidFill>
                          <a:latin typeface="Huawei Sans" panose="020B0A04020102020204"/>
                          <a:ea typeface="微软雅黑" panose="020B0503020204020204" pitchFamily="34" charset="-122"/>
                        </a:defRPr>
                      </a:lvl9pPr>
                    </a:lstStyle>
                    <a:p>
                      <a:pPr algn="l">
                        <a:lnSpc>
                          <a:spcPct val="120000"/>
                        </a:lnSpc>
                        <a:buClrTx/>
                        <a:buSzTx/>
                        <a:buFontTx/>
                      </a:pPr>
                      <a:r>
                        <a:rPr lang="zh-CN" altLang="en-US" sz="1400" dirty="0">
                          <a:solidFill>
                            <a:schemeClr val="bg1"/>
                          </a:solidFill>
                          <a:latin typeface="微软雅黑" panose="020B0503020204020204" pitchFamily="34" charset="-122"/>
                          <a:ea typeface="微软雅黑" panose="020B0503020204020204" pitchFamily="34" charset="-122"/>
                        </a:rPr>
                        <a:t>数据的物理排布格式，定义了解读数据的维度（如</a:t>
                      </a:r>
                      <a:r>
                        <a:rPr lang="en-US" altLang="zh-CN" sz="1400" dirty="0">
                          <a:solidFill>
                            <a:schemeClr val="bg1"/>
                          </a:solidFill>
                          <a:latin typeface="微软雅黑" panose="020B0503020204020204" pitchFamily="34" charset="-122"/>
                          <a:ea typeface="微软雅黑" panose="020B0503020204020204" pitchFamily="34" charset="-122"/>
                        </a:rPr>
                        <a:t>N*H*W*C</a:t>
                      </a:r>
                      <a:r>
                        <a:rPr lang="zh-CN" altLang="en-US" sz="1400" dirty="0">
                          <a:solidFill>
                            <a:schemeClr val="bg1"/>
                          </a:solidFill>
                          <a:latin typeface="微软雅黑" panose="020B0503020204020204" pitchFamily="34" charset="-122"/>
                          <a:ea typeface="微软雅黑" panose="020B0503020204020204" pitchFamily="34" charset="-122"/>
                        </a:rPr>
                        <a:t>）</a:t>
                      </a:r>
                      <a:endParaRPr lang="zh-CN" altLang="en-US" sz="1400" dirty="0">
                        <a:solidFill>
                          <a:schemeClr val="bg1"/>
                        </a:solidFill>
                        <a:latin typeface="微软雅黑" panose="020B0503020204020204" pitchFamily="34" charset="-122"/>
                        <a:ea typeface="微软雅黑" panose="020B0503020204020204" pitchFamily="34" charset="-122"/>
                      </a:endParaRPr>
                    </a:p>
                  </a:txBody>
                  <a:tcPr marL="28932" marR="28932" marT="28932" marB="28932"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副标题 1"/>
          <p:cNvSpPr txBox="1"/>
          <p:nvPr/>
        </p:nvSpPr>
        <p:spPr>
          <a:xfrm>
            <a:off x="727711" y="466947"/>
            <a:ext cx="8356600" cy="415118"/>
          </a:xfrm>
          <a:prstGeom prst="rect">
            <a:avLst/>
          </a:prstGeom>
          <a:noFill/>
          <a:ln w="9525">
            <a:noFill/>
            <a:miter lim="800000"/>
          </a:ln>
          <a:effectLst/>
        </p:spPr>
        <p:txBody>
          <a:bodyPr vert="horz" wrap="square" lIns="62498" tIns="31251" rIns="62498" bIns="31251" numCol="1" anchor="ctr" anchorCtr="0" compatLnSpc="1">
            <a:noAutofit/>
          </a:bodyPr>
          <a:lstStyle>
            <a:lvl1pPr indent="0" defTabSz="875665" fontAlgn="base">
              <a:lnSpc>
                <a:spcPts val="3430"/>
              </a:lnSpc>
              <a:spcBef>
                <a:spcPct val="0"/>
              </a:spcBef>
              <a:spcAft>
                <a:spcPct val="0"/>
              </a:spcAft>
              <a:buClr>
                <a:schemeClr val="bg2"/>
              </a:buClr>
              <a:buSzPct val="60000"/>
              <a:buFont typeface="Wingdings" panose="05000000000000000000" pitchFamily="2" charset="2"/>
              <a:buNone/>
              <a:defRPr sz="2665" b="1" baseline="0">
                <a:solidFill>
                  <a:schemeClr val="tx2"/>
                </a:solidFill>
                <a:latin typeface="微软雅黑" panose="020B0503020204020204" pitchFamily="34" charset="-122"/>
                <a:ea typeface="微软雅黑" panose="020B0503020204020204" pitchFamily="34" charset="-122"/>
                <a:cs typeface="Arial" panose="020B0604020202020204" pitchFamily="34" charset="0"/>
              </a:defRPr>
            </a:lvl1pPr>
            <a:lvl2pPr marL="593725" indent="0" algn="ctr" defTabSz="875665" fontAlgn="base">
              <a:lnSpc>
                <a:spcPct val="140000"/>
              </a:lnSpc>
              <a:spcBef>
                <a:spcPct val="0"/>
              </a:spcBef>
              <a:spcAft>
                <a:spcPct val="0"/>
              </a:spcAft>
              <a:buClr>
                <a:schemeClr val="tx1"/>
              </a:buClr>
              <a:buSzPct val="50000"/>
              <a:buFont typeface="Wingdings" panose="05000000000000000000" pitchFamily="2" charset="2"/>
              <a:buNone/>
              <a:defRPr sz="2595"/>
            </a:lvl2pPr>
            <a:lvl3pPr marL="1187450" indent="0" algn="ctr" defTabSz="875665" fontAlgn="base">
              <a:lnSpc>
                <a:spcPct val="140000"/>
              </a:lnSpc>
              <a:spcBef>
                <a:spcPct val="0"/>
              </a:spcBef>
              <a:spcAft>
                <a:spcPct val="0"/>
              </a:spcAft>
              <a:buSzPct val="50000"/>
              <a:buFont typeface="Wingdings" panose="05000000000000000000" pitchFamily="2" charset="2"/>
              <a:buNone/>
              <a:defRPr sz="2335">
                <a:latin typeface="FrutigerNext LT Light" pitchFamily="34" charset="0"/>
              </a:defRPr>
            </a:lvl3pPr>
            <a:lvl4pPr marL="1781175" indent="0" algn="ctr" defTabSz="875665" fontAlgn="base">
              <a:lnSpc>
                <a:spcPct val="140000"/>
              </a:lnSpc>
              <a:spcBef>
                <a:spcPct val="0"/>
              </a:spcBef>
              <a:spcAft>
                <a:spcPct val="0"/>
              </a:spcAft>
              <a:buNone/>
              <a:defRPr sz="2080">
                <a:latin typeface="+mj-lt"/>
              </a:defRPr>
            </a:lvl4pPr>
            <a:lvl5pPr marL="2374900" indent="0" algn="ctr" defTabSz="875665" fontAlgn="base">
              <a:lnSpc>
                <a:spcPct val="140000"/>
              </a:lnSpc>
              <a:spcBef>
                <a:spcPct val="0"/>
              </a:spcBef>
              <a:spcAft>
                <a:spcPct val="0"/>
              </a:spcAft>
              <a:buFont typeface="FrutigerNext LT Medium" pitchFamily="34" charset="0"/>
              <a:buNone/>
              <a:defRPr sz="2080">
                <a:latin typeface="+mj-lt"/>
              </a:defRPr>
            </a:lvl5pPr>
            <a:lvl6pPr marL="2968625" indent="0" algn="ctr" defTabSz="875665" fontAlgn="base">
              <a:lnSpc>
                <a:spcPct val="140000"/>
              </a:lnSpc>
              <a:spcBef>
                <a:spcPct val="0"/>
              </a:spcBef>
              <a:spcAft>
                <a:spcPct val="0"/>
              </a:spcAft>
              <a:buFont typeface="FrutigerNext LT Medium" pitchFamily="34" charset="0"/>
              <a:buNone/>
              <a:defRPr sz="2080">
                <a:latin typeface="+mj-lt"/>
              </a:defRPr>
            </a:lvl6pPr>
            <a:lvl7pPr marL="3562350" indent="0" algn="ctr" defTabSz="875665" fontAlgn="base">
              <a:lnSpc>
                <a:spcPct val="140000"/>
              </a:lnSpc>
              <a:spcBef>
                <a:spcPct val="0"/>
              </a:spcBef>
              <a:spcAft>
                <a:spcPct val="0"/>
              </a:spcAft>
              <a:buFont typeface="FrutigerNext LT Medium" pitchFamily="34" charset="0"/>
              <a:buNone/>
              <a:defRPr sz="2080">
                <a:latin typeface="+mj-lt"/>
              </a:defRPr>
            </a:lvl7pPr>
            <a:lvl8pPr marL="4156075" indent="0" algn="ctr" defTabSz="875665" fontAlgn="base">
              <a:lnSpc>
                <a:spcPct val="140000"/>
              </a:lnSpc>
              <a:spcBef>
                <a:spcPct val="0"/>
              </a:spcBef>
              <a:spcAft>
                <a:spcPct val="0"/>
              </a:spcAft>
              <a:buFont typeface="FrutigerNext LT Medium" pitchFamily="34" charset="0"/>
              <a:buNone/>
              <a:defRPr sz="2080">
                <a:latin typeface="+mj-lt"/>
              </a:defRPr>
            </a:lvl8pPr>
            <a:lvl9pPr marL="4749800" indent="0" algn="ctr" defTabSz="875665" fontAlgn="base">
              <a:lnSpc>
                <a:spcPct val="140000"/>
              </a:lnSpc>
              <a:spcBef>
                <a:spcPct val="0"/>
              </a:spcBef>
              <a:spcAft>
                <a:spcPct val="0"/>
              </a:spcAft>
              <a:buFont typeface="FrutigerNext LT Medium" pitchFamily="34" charset="0"/>
              <a:buNone/>
              <a:defRPr sz="2080">
                <a:latin typeface="+mj-lt"/>
              </a:defRPr>
            </a:lvl9pPr>
          </a:lstStyle>
          <a:p>
            <a:pPr defTabSz="914400" fontAlgn="auto">
              <a:lnSpc>
                <a:spcPct val="100000"/>
              </a:lnSpc>
              <a:spcBef>
                <a:spcPts val="0"/>
              </a:spcBef>
              <a:spcAft>
                <a:spcPts val="0"/>
              </a:spcAft>
              <a:buClrTx/>
              <a:buSzTx/>
              <a:defRPr/>
            </a:pPr>
            <a:r>
              <a:rPr lang="zh-CN" altLang="en-US" sz="2800" dirty="0">
                <a:solidFill>
                  <a:prstClr val="black"/>
                </a:solidFill>
                <a:cs typeface="Arial" panose="020B0604020202020204" pitchFamily="34" charset="0"/>
              </a:rPr>
              <a:t>小结：从模型到昇腾 NPU</a:t>
            </a:r>
            <a:endParaRPr lang="zh-CN" altLang="en-US" sz="2800" dirty="0">
              <a:solidFill>
                <a:prstClr val="black"/>
              </a:solidFill>
              <a:cs typeface="Arial" panose="020B0604020202020204" pitchFamily="34" charset="0"/>
            </a:endParaRPr>
          </a:p>
        </p:txBody>
      </p:sp>
      <p:sp>
        <p:nvSpPr>
          <p:cNvPr id="36" name="文本框 35"/>
          <p:cNvSpPr txBox="1"/>
          <p:nvPr/>
        </p:nvSpPr>
        <p:spPr>
          <a:xfrm>
            <a:off x="673101" y="882065"/>
            <a:ext cx="10236200" cy="1295868"/>
          </a:xfrm>
          <a:prstGeom prst="rect">
            <a:avLst/>
          </a:prstGeom>
          <a:noFill/>
        </p:spPr>
        <p:txBody>
          <a:bodyPr wrap="square">
            <a:spAutoFit/>
          </a:bodyPr>
          <a:lstStyle/>
          <a:p>
            <a:pPr marL="0" marR="0" lvl="0" indent="0" algn="l" defTabSz="914400" rtl="0" eaLnBrk="0" fontAlgn="base" latinLnBrk="0" hangingPunct="0">
              <a:lnSpc>
                <a:spcPct val="150000"/>
              </a:lnSpc>
              <a:spcBef>
                <a:spcPct val="0"/>
              </a:spcBef>
              <a:spcAft>
                <a:spcPct val="0"/>
              </a:spcAft>
              <a:buClrTx/>
              <a:buSzTx/>
              <a:buFontTx/>
              <a:buNone/>
            </a:pPr>
            <a:r>
              <a:rPr kumimoji="0" lang="zh-CN" altLang="zh-CN" sz="1800" b="0" i="0" u="none" strike="noStrike" cap="none" normalizeH="0" baseline="0">
                <a:ln>
                  <a:noFill/>
                </a:ln>
                <a:solidFill>
                  <a:schemeClr val="tx1"/>
                </a:solidFill>
                <a:effectLst/>
                <a:ea typeface="-apple-system"/>
              </a:rPr>
              <a:t>把以上概念串起来，就得到了 AI 计算的完整链条：</a:t>
            </a:r>
            <a:endParaRPr kumimoji="0" lang="zh-CN" altLang="zh-CN" sz="1800" b="0" i="0" u="none" strike="noStrike" cap="none" normalizeH="0" baseline="0">
              <a:ln>
                <a:noFill/>
              </a:ln>
              <a:solidFill>
                <a:schemeClr val="tx1"/>
              </a:solidFill>
              <a:effectLst/>
              <a:latin typeface="Arial Unicode MS" panose="020B0604020202020204" charset="-122"/>
              <a:ea typeface="Menlo"/>
            </a:endParaRPr>
          </a:p>
          <a:p>
            <a:pPr marL="0" marR="0" lvl="0" indent="0" algn="l" defTabSz="914400" rtl="0" eaLnBrk="0" fontAlgn="base" latinLnBrk="0" hangingPunct="0">
              <a:lnSpc>
                <a:spcPct val="150000"/>
              </a:lnSpc>
              <a:spcBef>
                <a:spcPct val="0"/>
              </a:spcBef>
              <a:spcAft>
                <a:spcPct val="0"/>
              </a:spcAft>
              <a:buClrTx/>
              <a:buSzTx/>
              <a:buFontTx/>
              <a:buNone/>
            </a:pPr>
            <a:r>
              <a:rPr kumimoji="0" lang="zh-CN" altLang="zh-CN" sz="1800" b="0" i="0" u="none" strike="noStrike" cap="none" normalizeH="0" baseline="0">
                <a:ln>
                  <a:noFill/>
                </a:ln>
                <a:solidFill>
                  <a:schemeClr val="tx1"/>
                </a:solidFill>
                <a:effectLst/>
                <a:latin typeface="Arial Unicode MS" panose="020B0604020202020204" charset="-122"/>
                <a:ea typeface="Menlo"/>
              </a:rPr>
              <a:t>AI 模型 = 计算图 = 算子组合 → 需要硬件执行 → 昇腾 NPU</a:t>
            </a:r>
            <a:r>
              <a:rPr kumimoji="0" lang="zh-CN" altLang="en-US" sz="1800" b="0" i="0" u="none" strike="noStrike" cap="none" normalizeH="0" baseline="0">
                <a:ln>
                  <a:noFill/>
                </a:ln>
                <a:solidFill>
                  <a:schemeClr val="tx1"/>
                </a:solidFill>
                <a:effectLst/>
                <a:latin typeface="Arial Unicode MS" panose="020B0604020202020204" charset="-122"/>
                <a:ea typeface="Menlo"/>
              </a:rPr>
              <a:t>就是</a:t>
            </a:r>
            <a:r>
              <a:rPr kumimoji="0" lang="zh-CN" altLang="zh-CN" sz="1800" b="0" i="0" u="none" strike="noStrike" cap="none" normalizeH="0" baseline="0">
                <a:ln>
                  <a:noFill/>
                </a:ln>
                <a:solidFill>
                  <a:schemeClr val="tx1"/>
                </a:solidFill>
                <a:effectLst/>
                <a:latin typeface="Arial Unicode MS" panose="020B0604020202020204" charset="-122"/>
                <a:ea typeface="Menlo"/>
              </a:rPr>
              <a:t> 专为 AI 加速计算</a:t>
            </a:r>
            <a:r>
              <a:rPr kumimoji="0" lang="zh-CN" altLang="en-US" sz="1800" b="0" i="0" u="none" strike="noStrike" cap="none" normalizeH="0" baseline="0">
                <a:ln>
                  <a:noFill/>
                </a:ln>
                <a:solidFill>
                  <a:schemeClr val="tx1"/>
                </a:solidFill>
                <a:effectLst/>
                <a:latin typeface="Arial Unicode MS" panose="020B0604020202020204" charset="-122"/>
                <a:ea typeface="Menlo"/>
              </a:rPr>
              <a:t>而</a:t>
            </a:r>
            <a:r>
              <a:rPr kumimoji="0" lang="zh-CN" altLang="zh-CN" sz="1800" b="0" i="0" u="none" strike="noStrike" cap="none" normalizeH="0" baseline="0">
                <a:ln>
                  <a:noFill/>
                </a:ln>
                <a:solidFill>
                  <a:schemeClr val="tx1"/>
                </a:solidFill>
                <a:effectLst/>
                <a:latin typeface="Arial Unicode MS" panose="020B0604020202020204" charset="-122"/>
                <a:ea typeface="Menlo"/>
              </a:rPr>
              <a:t>设计</a:t>
            </a:r>
            <a:r>
              <a:rPr kumimoji="0" lang="zh-CN" altLang="en-US" sz="1800" b="0" i="0" u="none" strike="noStrike" cap="none" normalizeH="0" baseline="0">
                <a:ln>
                  <a:noFill/>
                </a:ln>
                <a:solidFill>
                  <a:schemeClr val="tx1"/>
                </a:solidFill>
                <a:effectLst/>
                <a:latin typeface="Arial Unicode MS" panose="020B0604020202020204" charset="-122"/>
                <a:ea typeface="Menlo"/>
              </a:rPr>
              <a:t>的芯片</a:t>
            </a:r>
            <a:r>
              <a:rPr kumimoji="0" lang="zh-CN" altLang="zh-CN" sz="1800" b="0" i="0" u="none" strike="noStrike" cap="none" normalizeH="0" baseline="0">
                <a:ln>
                  <a:noFill/>
                </a:ln>
                <a:solidFill>
                  <a:schemeClr val="tx1"/>
                </a:solidFill>
                <a:effectLst/>
                <a:latin typeface="Arial Unicode MS" panose="020B0604020202020204" charset="-122"/>
                <a:ea typeface="Menlo"/>
              </a:rPr>
              <a:t> </a:t>
            </a:r>
            <a:br>
              <a:rPr kumimoji="0" lang="zh-CN" altLang="zh-CN" sz="1400" b="0" i="0" u="none" strike="noStrike" cap="none" normalizeH="0" baseline="0">
                <a:ln>
                  <a:noFill/>
                </a:ln>
                <a:solidFill>
                  <a:schemeClr val="tx1"/>
                </a:solidFill>
                <a:effectLst/>
              </a:rPr>
            </a:br>
            <a:endParaRPr lang="zh-CN" altLang="en-US"/>
          </a:p>
        </p:txBody>
      </p:sp>
      <p:graphicFrame>
        <p:nvGraphicFramePr>
          <p:cNvPr id="31" name="表格 30"/>
          <p:cNvGraphicFramePr>
            <a:graphicFrameLocks noGrp="1"/>
          </p:cNvGraphicFramePr>
          <p:nvPr/>
        </p:nvGraphicFramePr>
        <p:xfrm>
          <a:off x="825500" y="1986331"/>
          <a:ext cx="10426700" cy="4133992"/>
        </p:xfrm>
        <a:graphic>
          <a:graphicData uri="http://schemas.openxmlformats.org/drawingml/2006/table">
            <a:tbl>
              <a:tblPr/>
              <a:tblGrid>
                <a:gridCol w="2668430"/>
                <a:gridCol w="7758270"/>
              </a:tblGrid>
              <a:tr h="516749">
                <a:tc>
                  <a:txBody>
                    <a:bodyPr/>
                    <a:lstStyle/>
                    <a:p>
                      <a:pPr algn="l" fontAlgn="ctr"/>
                      <a:r>
                        <a:rPr lang="zh-CN" altLang="en-US" sz="1800" b="1">
                          <a:effectLst/>
                        </a:rPr>
                        <a:t>概念</a:t>
                      </a:r>
                      <a:endParaRPr lang="zh-CN" altLang="en-US" sz="1800" b="1">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800" b="1">
                          <a:effectLst/>
                        </a:rPr>
                        <a:t>一句话理解</a:t>
                      </a:r>
                      <a:endParaRPr lang="zh-CN" altLang="en-US" sz="1800" b="1">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16749">
                <a:tc>
                  <a:txBody>
                    <a:bodyPr/>
                    <a:lstStyle/>
                    <a:p>
                      <a:pPr algn="l" fontAlgn="ctr"/>
                      <a:r>
                        <a:rPr lang="en-US" sz="1800">
                          <a:effectLst/>
                        </a:rPr>
                        <a:t>AI / ML / DL</a:t>
                      </a:r>
                      <a:endParaRPr lang="en-US" sz="180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800">
                          <a:effectLst/>
                        </a:rPr>
                        <a:t>AI </a:t>
                      </a:r>
                      <a:r>
                        <a:rPr lang="zh-CN" altLang="en-US" sz="1800">
                          <a:effectLst/>
                        </a:rPr>
                        <a:t>是目标，</a:t>
                      </a:r>
                      <a:r>
                        <a:rPr lang="en-US" sz="1800">
                          <a:effectLst/>
                        </a:rPr>
                        <a:t>ML </a:t>
                      </a:r>
                      <a:r>
                        <a:rPr lang="zh-CN" altLang="en-US" sz="1800">
                          <a:effectLst/>
                        </a:rPr>
                        <a:t>是方法，</a:t>
                      </a:r>
                      <a:r>
                        <a:rPr lang="en-US" sz="1800">
                          <a:effectLst/>
                        </a:rPr>
                        <a:t>DL </a:t>
                      </a:r>
                      <a:r>
                        <a:rPr lang="zh-CN" altLang="en-US" sz="1800">
                          <a:effectLst/>
                        </a:rPr>
                        <a:t>是 </a:t>
                      </a:r>
                      <a:r>
                        <a:rPr lang="en-US" sz="1800">
                          <a:effectLst/>
                        </a:rPr>
                        <a:t>ML </a:t>
                      </a:r>
                      <a:r>
                        <a:rPr lang="zh-CN" altLang="en-US" sz="1800">
                          <a:effectLst/>
                        </a:rPr>
                        <a:t>中最强大的子集</a:t>
                      </a:r>
                      <a:endParaRPr lang="zh-CN" altLang="en-US" sz="180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16749">
                <a:tc>
                  <a:txBody>
                    <a:bodyPr/>
                    <a:lstStyle/>
                    <a:p>
                      <a:pPr algn="l" fontAlgn="ctr"/>
                      <a:r>
                        <a:rPr lang="zh-CN" altLang="en-US" sz="1800">
                          <a:effectLst/>
                        </a:rPr>
                        <a:t>模型</a:t>
                      </a:r>
                      <a:endParaRPr lang="zh-CN" altLang="en-US" sz="180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800">
                          <a:effectLst/>
                        </a:rPr>
                        <a:t>参数化的数学函数 </a:t>
                      </a:r>
                      <a:r>
                        <a:rPr lang="zh-CN" altLang="en-US" sz="1800" b="0" i="0" u="none" strike="noStrike">
                          <a:effectLst/>
                          <a:latin typeface="STIXMathJax_Normal-italic"/>
                        </a:rPr>
                        <a:t>𝑦</a:t>
                      </a:r>
                      <a:r>
                        <a:rPr lang="en-US" altLang="zh-CN" sz="1800" b="0" i="0" u="none" strike="noStrike">
                          <a:effectLst/>
                          <a:latin typeface="STIXMathJax_Main"/>
                        </a:rPr>
                        <a:t>=</a:t>
                      </a:r>
                      <a:r>
                        <a:rPr lang="zh-CN" altLang="en-US" sz="1800" b="0" i="0" u="none" strike="noStrike">
                          <a:effectLst/>
                          <a:latin typeface="STIXMathJax_Normal-italic"/>
                        </a:rPr>
                        <a:t>𝑓</a:t>
                      </a:r>
                      <a:r>
                        <a:rPr lang="en-US" altLang="zh-CN" sz="1800" b="0" i="0" u="none" strike="noStrike">
                          <a:effectLst/>
                          <a:latin typeface="STIXMathJax_Main"/>
                        </a:rPr>
                        <a:t>(</a:t>
                      </a:r>
                      <a:r>
                        <a:rPr lang="zh-CN" altLang="en-US" sz="1800" b="0" i="0" u="none" strike="noStrike">
                          <a:effectLst/>
                          <a:latin typeface="STIXMathJax_Normal-italic"/>
                        </a:rPr>
                        <a:t>𝑥</a:t>
                      </a:r>
                      <a:r>
                        <a:rPr lang="en-US" altLang="zh-CN" sz="1800" b="0" i="0" u="none" strike="noStrike">
                          <a:effectLst/>
                          <a:latin typeface="STIXMathJax_Main"/>
                        </a:rPr>
                        <a:t>;</a:t>
                      </a:r>
                      <a:r>
                        <a:rPr lang="zh-CN" altLang="en-US" sz="1800" b="0" i="0" u="none" strike="noStrike">
                          <a:effectLst/>
                          <a:latin typeface="STIXMathJax_Normal-italic"/>
                        </a:rPr>
                        <a:t>𝜃</a:t>
                      </a:r>
                      <a:r>
                        <a:rPr lang="en-US" altLang="zh-CN" sz="1800" b="0" i="0" u="none" strike="noStrike">
                          <a:effectLst/>
                          <a:latin typeface="STIXMathJax_Main"/>
                        </a:rPr>
                        <a:t>)</a:t>
                      </a:r>
                      <a:r>
                        <a:rPr lang="zh-CN" altLang="en-US" sz="1800">
                          <a:effectLst/>
                        </a:rPr>
                        <a:t>，训练就是调参数</a:t>
                      </a:r>
                      <a:endParaRPr lang="zh-CN" altLang="en-US" sz="180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16749">
                <a:tc>
                  <a:txBody>
                    <a:bodyPr/>
                    <a:lstStyle/>
                    <a:p>
                      <a:pPr algn="l" fontAlgn="ctr"/>
                      <a:r>
                        <a:rPr lang="zh-CN" altLang="en-US" sz="1800">
                          <a:effectLst/>
                        </a:rPr>
                        <a:t>计算图</a:t>
                      </a:r>
                      <a:endParaRPr lang="zh-CN" altLang="en-US" sz="180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800">
                          <a:effectLst/>
                        </a:rPr>
                        <a:t>模型的图结构表示，节点</a:t>
                      </a:r>
                      <a:r>
                        <a:rPr lang="en-US" altLang="zh-CN" sz="1800">
                          <a:effectLst/>
                        </a:rPr>
                        <a:t>=</a:t>
                      </a:r>
                      <a:r>
                        <a:rPr lang="zh-CN" altLang="en-US" sz="1800">
                          <a:effectLst/>
                        </a:rPr>
                        <a:t>算子，边</a:t>
                      </a:r>
                      <a:r>
                        <a:rPr lang="en-US" altLang="zh-CN" sz="1800">
                          <a:effectLst/>
                        </a:rPr>
                        <a:t>=</a:t>
                      </a:r>
                      <a:r>
                        <a:rPr lang="zh-CN" altLang="en-US" sz="1800">
                          <a:effectLst/>
                        </a:rPr>
                        <a:t>数据流</a:t>
                      </a:r>
                      <a:endParaRPr lang="zh-CN" altLang="en-US" sz="180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16749">
                <a:tc>
                  <a:txBody>
                    <a:bodyPr/>
                    <a:lstStyle/>
                    <a:p>
                      <a:pPr algn="l" fontAlgn="ctr"/>
                      <a:r>
                        <a:rPr lang="zh-CN" altLang="en-US" sz="1800">
                          <a:effectLst/>
                        </a:rPr>
                        <a:t>算子</a:t>
                      </a:r>
                      <a:endParaRPr lang="zh-CN" altLang="en-US" sz="180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800">
                          <a:effectLst/>
                        </a:rPr>
                        <a:t>计算图中的节点，一个算子 </a:t>
                      </a:r>
                      <a:r>
                        <a:rPr lang="en-US" altLang="zh-CN" sz="1800">
                          <a:effectLst/>
                        </a:rPr>
                        <a:t>= </a:t>
                      </a:r>
                      <a:r>
                        <a:rPr lang="zh-CN" altLang="en-US" sz="1800">
                          <a:effectLst/>
                        </a:rPr>
                        <a:t>一种计算操作</a:t>
                      </a:r>
                      <a:endParaRPr lang="zh-CN" altLang="en-US" sz="180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16749">
                <a:tc>
                  <a:txBody>
                    <a:bodyPr/>
                    <a:lstStyle/>
                    <a:p>
                      <a:pPr algn="l" fontAlgn="ctr"/>
                      <a:r>
                        <a:rPr lang="zh-CN" altLang="en-US" sz="1800">
                          <a:effectLst/>
                        </a:rPr>
                        <a:t>训练</a:t>
                      </a:r>
                      <a:endParaRPr lang="zh-CN" altLang="en-US" sz="180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800">
                          <a:effectLst/>
                        </a:rPr>
                        <a:t>用大量数据调整模型参数，让学生</a:t>
                      </a:r>
                      <a:r>
                        <a:rPr lang="en-US" altLang="zh-CN" sz="1800">
                          <a:effectLst/>
                        </a:rPr>
                        <a:t>"</a:t>
                      </a:r>
                      <a:r>
                        <a:rPr lang="zh-CN" altLang="en-US" sz="1800">
                          <a:effectLst/>
                        </a:rPr>
                        <a:t>学会</a:t>
                      </a:r>
                      <a:r>
                        <a:rPr lang="en-US" altLang="zh-CN" sz="1800">
                          <a:effectLst/>
                        </a:rPr>
                        <a:t>"</a:t>
                      </a:r>
                      <a:endParaRPr lang="en-US" altLang="zh-CN" sz="180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16749">
                <a:tc>
                  <a:txBody>
                    <a:bodyPr/>
                    <a:lstStyle/>
                    <a:p>
                      <a:pPr algn="l" fontAlgn="ctr"/>
                      <a:r>
                        <a:rPr lang="zh-CN" altLang="en-US" sz="1800">
                          <a:effectLst/>
                        </a:rPr>
                        <a:t>推理</a:t>
                      </a:r>
                      <a:endParaRPr lang="zh-CN" altLang="en-US" sz="180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800">
                          <a:effectLst/>
                        </a:rPr>
                        <a:t>用训练好的模型做预测，让学生</a:t>
                      </a:r>
                      <a:r>
                        <a:rPr lang="en-US" altLang="zh-CN" sz="1800">
                          <a:effectLst/>
                        </a:rPr>
                        <a:t>"</a:t>
                      </a:r>
                      <a:r>
                        <a:rPr lang="zh-CN" altLang="en-US" sz="1800">
                          <a:effectLst/>
                        </a:rPr>
                        <a:t>考试</a:t>
                      </a:r>
                      <a:r>
                        <a:rPr lang="en-US" altLang="zh-CN" sz="1800">
                          <a:effectLst/>
                        </a:rPr>
                        <a:t>"</a:t>
                      </a:r>
                      <a:endParaRPr lang="en-US" altLang="zh-CN" sz="180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16749">
                <a:tc>
                  <a:txBody>
                    <a:bodyPr/>
                    <a:lstStyle/>
                    <a:p>
                      <a:pPr algn="l" fontAlgn="ctr"/>
                      <a:r>
                        <a:rPr lang="zh-CN" altLang="en-US" sz="1800">
                          <a:effectLst/>
                        </a:rPr>
                        <a:t>昇腾 </a:t>
                      </a:r>
                      <a:r>
                        <a:rPr lang="en-US" sz="1800">
                          <a:effectLst/>
                        </a:rPr>
                        <a:t>NPU</a:t>
                      </a:r>
                      <a:endParaRPr lang="en-US" sz="180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800">
                          <a:effectLst/>
                        </a:rPr>
                        <a:t>专为 </a:t>
                      </a:r>
                      <a:r>
                        <a:rPr lang="en-US" altLang="zh-CN" sz="1800">
                          <a:effectLst/>
                        </a:rPr>
                        <a:t>AI </a:t>
                      </a:r>
                      <a:r>
                        <a:rPr lang="zh-CN" altLang="en-US" sz="1800">
                          <a:effectLst/>
                        </a:rPr>
                        <a:t>计算加速设计的专用芯片</a:t>
                      </a:r>
                      <a:endParaRPr lang="zh-CN" altLang="en-US" sz="180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advClick="0"/>
    </mc:Choice>
    <mc:Fallback>
      <p:transition spd="slow" advClick="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549296" y="2601035"/>
            <a:ext cx="3380868" cy="835742"/>
          </a:xfrm>
          <a:prstGeom prst="rect">
            <a:avLst/>
          </a:prstGeom>
          <a:solidFill>
            <a:srgbClr val="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8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目录</a:t>
            </a:r>
            <a:endParaRPr kumimoji="0" lang="zh-CN" altLang="en-US" sz="48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2" name="矩形 11"/>
          <p:cNvSpPr/>
          <p:nvPr/>
        </p:nvSpPr>
        <p:spPr>
          <a:xfrm>
            <a:off x="4417408" y="1325296"/>
            <a:ext cx="6480000" cy="360000"/>
          </a:xfrm>
          <a:prstGeom prst="rect">
            <a:avLst/>
          </a:prstGeom>
          <a:solidFill>
            <a:srgbClr val="FFFFFF">
              <a:lumMod val="95000"/>
            </a:srgbClr>
          </a:solidFill>
          <a:ln w="9525" cap="flat" cmpd="sng" algn="ctr">
            <a:solidFill>
              <a:srgbClr val="FFFFFF">
                <a:lumMod val="65000"/>
              </a:srgbClr>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indent="0" algn="ctr" defTabSz="0" rtl="0" eaLnBrk="1" fontAlgn="auto" latinLnBrk="0" hangingPunct="1">
              <a:lnSpc>
                <a:spcPct val="100000"/>
              </a:lnSpc>
              <a:spcBef>
                <a:spcPts val="0"/>
              </a:spcBef>
              <a:spcAft>
                <a:spcPts val="0"/>
              </a:spcAft>
              <a:buSzTx/>
              <a:buNone/>
            </a:pPr>
            <a:r>
              <a:rPr lang="en-US" altLang="zh-CN" sz="2400" kern="0" noProof="0" dirty="0">
                <a:ln>
                  <a:noFill/>
                </a:ln>
                <a:solidFill>
                  <a:srgbClr val="FFFFFF">
                    <a:lumMod val="75000"/>
                  </a:srgbClr>
                </a:solidFill>
                <a:effectLst/>
                <a:uLnTx/>
                <a:uFillTx/>
                <a:latin typeface="微软雅黑" panose="020B0503020204020204" pitchFamily="34" charset="-122"/>
                <a:ea typeface="微软雅黑" panose="020B0503020204020204" pitchFamily="34" charset="-122"/>
              </a:rPr>
              <a:t>Part 1 人工智能基础</a:t>
            </a:r>
            <a:endParaRPr lang="en-US" altLang="zh-CN" sz="2400" kern="0" noProof="0" dirty="0">
              <a:ln>
                <a:noFill/>
              </a:ln>
              <a:solidFill>
                <a:srgbClr val="FFFFFF">
                  <a:lumMod val="75000"/>
                </a:srgbClr>
              </a:solidFill>
              <a:effectLst/>
              <a:uLnTx/>
              <a:uFillTx/>
              <a:latin typeface="微软雅黑" panose="020B0503020204020204" pitchFamily="34" charset="-122"/>
              <a:ea typeface="微软雅黑" panose="020B0503020204020204" pitchFamily="34" charset="-122"/>
            </a:endParaRPr>
          </a:p>
        </p:txBody>
      </p:sp>
      <p:cxnSp>
        <p:nvCxnSpPr>
          <p:cNvPr id="15" name="í$ľidè"/>
          <p:cNvCxnSpPr/>
          <p:nvPr/>
        </p:nvCxnSpPr>
        <p:spPr>
          <a:xfrm>
            <a:off x="3930164" y="898497"/>
            <a:ext cx="0" cy="4788143"/>
          </a:xfrm>
          <a:prstGeom prst="line">
            <a:avLst/>
          </a:prstGeom>
          <a:solidFill>
            <a:srgbClr val="FFCC00"/>
          </a:solidFill>
          <a:ln w="12700" cap="flat" cmpd="sng" algn="ctr">
            <a:solidFill>
              <a:schemeClr val="bg1">
                <a:lumMod val="65000"/>
              </a:schemeClr>
            </a:solidFill>
            <a:prstDash val="solid"/>
            <a:round/>
            <a:headEnd type="none" w="med" len="med"/>
            <a:tailEnd type="none" w="med" len="med"/>
          </a:ln>
          <a:effectLst/>
        </p:spPr>
      </p:cxnSp>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139425" y="6042990"/>
            <a:ext cx="1312676" cy="348426"/>
          </a:xfrm>
          <a:prstGeom prst="rect">
            <a:avLst/>
          </a:prstGeom>
        </p:spPr>
      </p:pic>
      <p:sp>
        <p:nvSpPr>
          <p:cNvPr id="11" name="矩形 10"/>
          <p:cNvSpPr/>
          <p:nvPr/>
        </p:nvSpPr>
        <p:spPr>
          <a:xfrm>
            <a:off x="4417408" y="2370634"/>
            <a:ext cx="6480000" cy="360000"/>
          </a:xfrm>
          <a:prstGeom prst="rect">
            <a:avLst/>
          </a:prstGeom>
          <a:solidFill>
            <a:srgbClr val="C00000"/>
          </a:solidFill>
          <a:ln w="9525" cap="flat" cmpd="sng" algn="ctr">
            <a:solidFill>
              <a:srgbClr val="FFFFFF">
                <a:lumMod val="65000"/>
              </a:srgbClr>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indent="0" algn="ctr" defTabSz="0" rtl="0" eaLnBrk="1" latinLnBrk="0" hangingPunct="1">
              <a:spcBef>
                <a:spcPct val="0"/>
              </a:spcBef>
              <a:spcAft>
                <a:spcPct val="0"/>
              </a:spcAft>
              <a:buNone/>
            </a:pPr>
            <a:r>
              <a:rPr lang="en-US" altLang="zh-CN" sz="2400" kern="0" dirty="0">
                <a:solidFill>
                  <a:prstClr val="white"/>
                </a:solidFill>
                <a:latin typeface="微软雅黑" panose="020B0503020204020204" pitchFamily="34" charset="-122"/>
                <a:ea typeface="微软雅黑" panose="020B0503020204020204" pitchFamily="34" charset="-122"/>
              </a:rPr>
              <a:t>Part 2 什么是NPU</a:t>
            </a:r>
            <a:endParaRPr lang="en-US" altLang="zh-CN" sz="2400" kern="0" dirty="0">
              <a:solidFill>
                <a:prstClr val="white"/>
              </a:solidFill>
              <a:latin typeface="微软雅黑" panose="020B0503020204020204" pitchFamily="34" charset="-122"/>
              <a:ea typeface="微软雅黑" panose="020B0503020204020204" pitchFamily="34" charset="-122"/>
            </a:endParaRPr>
          </a:p>
        </p:txBody>
      </p:sp>
      <p:sp>
        <p:nvSpPr>
          <p:cNvPr id="16" name="矩形 15"/>
          <p:cNvSpPr/>
          <p:nvPr/>
        </p:nvSpPr>
        <p:spPr>
          <a:xfrm>
            <a:off x="4417409" y="4461310"/>
            <a:ext cx="6480000" cy="360000"/>
          </a:xfrm>
          <a:prstGeom prst="rect">
            <a:avLst/>
          </a:prstGeom>
          <a:solidFill>
            <a:srgbClr val="FFFFFF">
              <a:lumMod val="95000"/>
            </a:srgbClr>
          </a:solidFill>
          <a:ln w="9525" cap="flat" cmpd="sng" algn="ctr">
            <a:solidFill>
              <a:srgbClr val="FFFFFF">
                <a:lumMod val="65000"/>
              </a:srgbClr>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dirty="0">
                <a:ln>
                  <a:noFill/>
                </a:ln>
                <a:solidFill>
                  <a:srgbClr val="FFFFFF">
                    <a:lumMod val="75000"/>
                  </a:srgbClr>
                </a:solidFill>
                <a:effectLst/>
                <a:uLnTx/>
                <a:uFillTx/>
                <a:latin typeface="微软雅黑" panose="020B0503020204020204" pitchFamily="34" charset="-122"/>
                <a:ea typeface="微软雅黑" panose="020B0503020204020204" pitchFamily="34" charset="-122"/>
                <a:cs typeface="+mn-cs"/>
              </a:rPr>
              <a:t>Part 4 NPU 实践</a:t>
            </a:r>
            <a:endParaRPr kumimoji="0" lang="zh-CN" altLang="en-US" sz="2400" b="0" i="0" u="none" strike="noStrike" kern="0" cap="none" spc="0" normalizeH="0" baseline="0" noProof="0" dirty="0">
              <a:ln>
                <a:noFill/>
              </a:ln>
              <a:solidFill>
                <a:srgbClr val="FFFFFF">
                  <a:lumMod val="75000"/>
                </a:srgbClr>
              </a:solidFill>
              <a:effectLst/>
              <a:uLnTx/>
              <a:uFillTx/>
              <a:latin typeface="微软雅黑" panose="020B0503020204020204" pitchFamily="34" charset="-122"/>
              <a:ea typeface="微软雅黑" panose="020B0503020204020204" pitchFamily="34" charset="-122"/>
              <a:cs typeface="+mn-cs"/>
            </a:endParaRPr>
          </a:p>
        </p:txBody>
      </p:sp>
      <p:sp>
        <p:nvSpPr>
          <p:cNvPr id="9" name="矩形 8"/>
          <p:cNvSpPr/>
          <p:nvPr/>
        </p:nvSpPr>
        <p:spPr>
          <a:xfrm>
            <a:off x="4417378" y="3436726"/>
            <a:ext cx="6480000" cy="360000"/>
          </a:xfrm>
          <a:prstGeom prst="rect">
            <a:avLst/>
          </a:prstGeom>
          <a:solidFill>
            <a:srgbClr val="FFFFFF">
              <a:lumMod val="95000"/>
            </a:srgbClr>
          </a:solidFill>
          <a:ln w="9525" cap="flat" cmpd="sng" algn="ctr">
            <a:solidFill>
              <a:srgbClr val="FFFFFF">
                <a:lumMod val="65000"/>
              </a:srgbClr>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dirty="0">
                <a:ln>
                  <a:noFill/>
                </a:ln>
                <a:solidFill>
                  <a:srgbClr val="FFFFFF">
                    <a:lumMod val="75000"/>
                  </a:srgbClr>
                </a:solidFill>
                <a:effectLst/>
                <a:uLnTx/>
                <a:uFillTx/>
                <a:latin typeface="微软雅黑" panose="020B0503020204020204" pitchFamily="34" charset="-122"/>
                <a:ea typeface="微软雅黑" panose="020B0503020204020204" pitchFamily="34" charset="-122"/>
                <a:cs typeface="+mn-cs"/>
              </a:rPr>
              <a:t>Part 3 </a:t>
            </a:r>
            <a:r>
              <a:rPr kumimoji="0" lang="zh-CN" altLang="en-US" sz="2400" b="0" i="0" u="none" strike="noStrike" kern="0" cap="none" spc="0" normalizeH="0" baseline="0" noProof="0" dirty="0">
                <a:ln>
                  <a:noFill/>
                </a:ln>
                <a:solidFill>
                  <a:srgbClr val="FFFFFF">
                    <a:lumMod val="75000"/>
                  </a:srgbClr>
                </a:solidFill>
                <a:effectLst/>
                <a:uLnTx/>
                <a:uFillTx/>
                <a:latin typeface="微软雅黑" panose="020B0503020204020204" pitchFamily="34" charset="-122"/>
                <a:ea typeface="微软雅黑" panose="020B0503020204020204" pitchFamily="34" charset="-122"/>
                <a:cs typeface="+mn-cs"/>
              </a:rPr>
              <a:t>什么是</a:t>
            </a:r>
            <a:r>
              <a:rPr kumimoji="0" lang="en-US" altLang="zh-CN" sz="2400" b="0" i="0" u="none" strike="noStrike" kern="0" cap="none" spc="0" normalizeH="0" baseline="0" noProof="0" dirty="0">
                <a:ln>
                  <a:noFill/>
                </a:ln>
                <a:solidFill>
                  <a:srgbClr val="FFFFFF">
                    <a:lumMod val="75000"/>
                  </a:srgbClr>
                </a:solidFill>
                <a:effectLst/>
                <a:uLnTx/>
                <a:uFillTx/>
                <a:latin typeface="微软雅黑" panose="020B0503020204020204" pitchFamily="34" charset="-122"/>
                <a:ea typeface="微软雅黑" panose="020B0503020204020204" pitchFamily="34" charset="-122"/>
                <a:cs typeface="+mn-cs"/>
              </a:rPr>
              <a:t>CANN</a:t>
            </a:r>
            <a:endParaRPr kumimoji="0" lang="zh-CN" altLang="en-US" sz="2400" b="0" i="0" u="none" strike="noStrike" kern="0" cap="none" spc="0" normalizeH="0" baseline="0" noProof="0" dirty="0">
              <a:ln>
                <a:noFill/>
              </a:ln>
              <a:solidFill>
                <a:srgbClr val="FFFFFF">
                  <a:lumMod val="75000"/>
                </a:srgbClr>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AutoShape 3"/>
          <p:cNvSpPr/>
          <p:nvPr/>
        </p:nvSpPr>
        <p:spPr>
          <a:xfrm>
            <a:off x="764223" y="635000"/>
            <a:ext cx="10668000" cy="508000"/>
          </a:xfrm>
          <a:prstGeom prst="rect">
            <a:avLst/>
          </a:prstGeom>
          <a:noFill/>
          <a:ln w="12700" cap="flat" cmpd="sng">
            <a:noFill/>
            <a:prstDash val="solid"/>
            <a:round/>
          </a:ln>
        </p:spPr>
        <p:txBody>
          <a:bodyPr vert="horz" wrap="square" lIns="0" tIns="0" rIns="0" bIns="0" rtlCol="0" anchor="ctr" anchorCtr="0"/>
          <a:lstStyle/>
          <a:p>
            <a:pPr>
              <a:defRPr/>
            </a:pPr>
            <a:r>
              <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sym typeface="Noto Sans SC" panose="020B0200000000000000" charset="-122"/>
              </a:rPr>
              <a:t>为什么需要</a:t>
            </a:r>
            <a:r>
              <a:rPr lang="en-US" altLang="zh-CN" sz="2800" b="1" dirty="0" err="1">
                <a:solidFill>
                  <a:prstClr val="black"/>
                </a:solidFill>
                <a:latin typeface="微软雅黑" panose="020B0503020204020204" pitchFamily="34" charset="-122"/>
                <a:ea typeface="微软雅黑" panose="020B0503020204020204" pitchFamily="34" charset="-122"/>
                <a:cs typeface="Arial" panose="020B0604020202020204" pitchFamily="34" charset="0"/>
                <a:sym typeface="Noto Sans SC" panose="020B0200000000000000" charset="-122"/>
              </a:rPr>
              <a:t>NPU</a:t>
            </a:r>
            <a:endParaRPr lang="en-US" altLang="zh-CN" sz="2800" b="1" dirty="0" err="1">
              <a:solidFill>
                <a:prstClr val="black"/>
              </a:solidFill>
              <a:latin typeface="微软雅黑" panose="020B0503020204020204" pitchFamily="34" charset="-122"/>
              <a:ea typeface="微软雅黑" panose="020B0503020204020204" pitchFamily="34" charset="-122"/>
              <a:cs typeface="Arial" panose="020B0604020202020204" pitchFamily="34" charset="0"/>
              <a:sym typeface="Noto Sans SC" panose="020B0200000000000000" charset="-122"/>
            </a:endParaRPr>
          </a:p>
        </p:txBody>
      </p:sp>
      <p:sp>
        <p:nvSpPr>
          <p:cNvPr id="5" name="AutoShape 4"/>
          <p:cNvSpPr/>
          <p:nvPr>
            <p:custDataLst>
              <p:tags r:id="rId1"/>
            </p:custDataLst>
          </p:nvPr>
        </p:nvSpPr>
        <p:spPr>
          <a:xfrm>
            <a:off x="764223" y="1556659"/>
            <a:ext cx="3429000" cy="3048000"/>
          </a:xfrm>
          <a:prstGeom prst="roundRect">
            <a:avLst>
              <a:gd name="adj" fmla="val 0"/>
            </a:avLst>
          </a:prstGeom>
          <a:solidFill>
            <a:srgbClr val="FFFFFF">
              <a:alpha val="65000"/>
            </a:srgbClr>
          </a:solidFill>
          <a:ln w="12700" cap="flat" cmpd="sng">
            <a:solidFill>
              <a:schemeClr val="bg1">
                <a:alpha val="50000"/>
              </a:schemeClr>
            </a:solidFill>
            <a:prstDash val="solid"/>
            <a:round/>
          </a:ln>
        </p:spPr>
        <p:txBody>
          <a:bodyPr vert="horz" wrap="square" lIns="0" tIns="0" rIns="0" bIns="0" rtlCol="0" anchor="ctr" anchorCtr="0"/>
          <a:lstStyle/>
          <a:p>
            <a:pPr algn="ctr">
              <a:defRPr/>
            </a:pPr>
          </a:p>
        </p:txBody>
      </p:sp>
      <p:pic>
        <p:nvPicPr>
          <p:cNvPr id="6" name="Picture 5"/>
          <p:cNvPicPr>
            <a:picLocks noChangeAspect="1"/>
          </p:cNvPicPr>
          <p:nvPr>
            <p:custDataLst>
              <p:tags r:id="rId2"/>
            </p:custDataLst>
          </p:nvPr>
        </p:nvPicPr>
        <p:blipFill>
          <a:blip r:embed="rId3">
            <a:extLst>
              <a:ext uri="{96DAC541-7B7A-43D3-8B79-37D633B846F1}">
                <asvg:svgBlip xmlns:asvg="http://schemas.microsoft.com/office/drawing/2016/SVG/main" r:embed="rId4"/>
              </a:ext>
            </a:extLst>
          </a:blip>
          <a:stretch>
            <a:fillRect/>
          </a:stretch>
        </p:blipFill>
        <p:spPr>
          <a:xfrm>
            <a:off x="1018223" y="1747159"/>
            <a:ext cx="406400" cy="406400"/>
          </a:xfrm>
          <a:prstGeom prst="rect">
            <a:avLst/>
          </a:prstGeom>
        </p:spPr>
      </p:pic>
      <p:sp>
        <p:nvSpPr>
          <p:cNvPr id="7" name="AutoShape 6"/>
          <p:cNvSpPr/>
          <p:nvPr>
            <p:custDataLst>
              <p:tags r:id="rId5"/>
            </p:custDataLst>
          </p:nvPr>
        </p:nvSpPr>
        <p:spPr>
          <a:xfrm>
            <a:off x="1526223" y="1709059"/>
            <a:ext cx="2413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01 计算密集</a:t>
            </a:r>
            <a:endParaRPr lang="en-US" sz="1100"/>
          </a:p>
        </p:txBody>
      </p:sp>
      <p:cxnSp>
        <p:nvCxnSpPr>
          <p:cNvPr id="8" name="Connector 7"/>
          <p:cNvCxnSpPr/>
          <p:nvPr>
            <p:custDataLst>
              <p:tags r:id="rId6"/>
            </p:custDataLst>
          </p:nvPr>
        </p:nvCxnSpPr>
        <p:spPr>
          <a:xfrm rot="-14946">
            <a:off x="1018237" y="2312309"/>
            <a:ext cx="2921028" cy="12700"/>
          </a:xfrm>
          <a:prstGeom prst="straightConnector1">
            <a:avLst/>
          </a:prstGeom>
          <a:solidFill>
            <a:srgbClr val="DEE0E3">
              <a:alpha val="100000"/>
            </a:srgbClr>
          </a:solidFill>
          <a:ln w="12700" cap="flat" cmpd="sng">
            <a:solidFill>
              <a:srgbClr val="EF4444">
                <a:alpha val="30000"/>
              </a:srgbClr>
            </a:solidFill>
            <a:prstDash val="solid"/>
            <a:round/>
            <a:headEnd type="none" w="med" len="med"/>
            <a:tailEnd type="none" w="med" len="med"/>
          </a:ln>
        </p:spPr>
      </p:cxnSp>
      <p:sp>
        <p:nvSpPr>
          <p:cNvPr id="9" name="AutoShape 8"/>
          <p:cNvSpPr/>
          <p:nvPr>
            <p:custDataLst>
              <p:tags r:id="rId7"/>
            </p:custDataLst>
          </p:nvPr>
        </p:nvSpPr>
        <p:spPr>
          <a:xfrm>
            <a:off x="1018223" y="2509159"/>
            <a:ext cx="2921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AI任务涉及数十亿甚至数千亿次的乘加运算，单次任务的计算工作量巨大，且操作高度重复、逻辑相对简单。</a:t>
            </a:r>
            <a:endParaRPr lang="en-US" sz="1100"/>
          </a:p>
        </p:txBody>
      </p:sp>
      <p:sp>
        <p:nvSpPr>
          <p:cNvPr id="10" name="AutoShape 9"/>
          <p:cNvSpPr/>
          <p:nvPr>
            <p:custDataLst>
              <p:tags r:id="rId8"/>
            </p:custDataLst>
          </p:nvPr>
        </p:nvSpPr>
        <p:spPr>
          <a:xfrm>
            <a:off x="957116" y="3842659"/>
            <a:ext cx="2982107" cy="635000"/>
          </a:xfrm>
          <a:prstGeom prst="roundRect">
            <a:avLst>
              <a:gd name="adj" fmla="val 0"/>
            </a:avLst>
          </a:prstGeom>
          <a:solidFill>
            <a:srgbClr val="EF4444">
              <a:alpha val="10000"/>
            </a:srgbClr>
          </a:solidFill>
          <a:ln w="25400" cap="flat" cmpd="sng">
            <a:noFill/>
            <a:prstDash val="solid"/>
            <a:round/>
          </a:ln>
        </p:spPr>
        <p:txBody>
          <a:bodyPr vert="horz" wrap="square" lIns="0" tIns="0" rIns="0" bIns="0" rtlCol="0" anchor="ctr" anchorCtr="0"/>
          <a:lstStyle/>
          <a:p>
            <a:pPr algn="ctr">
              <a:defRPr/>
            </a:pPr>
          </a:p>
        </p:txBody>
      </p:sp>
      <p:sp>
        <p:nvSpPr>
          <p:cNvPr id="11" name="AutoShape 10"/>
          <p:cNvSpPr/>
          <p:nvPr>
            <p:custDataLst>
              <p:tags r:id="rId9"/>
            </p:custDataLst>
          </p:nvPr>
        </p:nvSpPr>
        <p:spPr>
          <a:xfrm>
            <a:off x="1145223" y="3906159"/>
            <a:ext cx="2667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类比：如同徒手搬运一万块砖，依靠蛮力的重复劳作，效率极低。</a:t>
            </a:r>
            <a:endParaRPr lang="en-US" sz="1100"/>
          </a:p>
        </p:txBody>
      </p:sp>
      <p:sp>
        <p:nvSpPr>
          <p:cNvPr id="12" name="AutoShape 11"/>
          <p:cNvSpPr/>
          <p:nvPr>
            <p:custDataLst>
              <p:tags r:id="rId10"/>
            </p:custDataLst>
          </p:nvPr>
        </p:nvSpPr>
        <p:spPr>
          <a:xfrm>
            <a:off x="4383723" y="1556659"/>
            <a:ext cx="3429000" cy="3048000"/>
          </a:xfrm>
          <a:prstGeom prst="roundRect">
            <a:avLst>
              <a:gd name="adj" fmla="val 0"/>
            </a:avLst>
          </a:prstGeom>
          <a:solidFill>
            <a:srgbClr val="FFFFFF">
              <a:alpha val="65000"/>
            </a:srgbClr>
          </a:solidFill>
          <a:ln w="12700" cap="flat" cmpd="sng">
            <a:solidFill>
              <a:schemeClr val="bg1">
                <a:alpha val="50000"/>
              </a:schemeClr>
            </a:solidFill>
            <a:prstDash val="solid"/>
            <a:round/>
          </a:ln>
        </p:spPr>
        <p:txBody>
          <a:bodyPr vert="horz" wrap="square" lIns="0" tIns="0" rIns="0" bIns="0" rtlCol="0" anchor="ctr" anchorCtr="0"/>
          <a:lstStyle/>
          <a:p>
            <a:pPr algn="ctr">
              <a:defRPr/>
            </a:pPr>
          </a:p>
        </p:txBody>
      </p:sp>
      <p:pic>
        <p:nvPicPr>
          <p:cNvPr id="13" name="Picture 12"/>
          <p:cNvPicPr>
            <a:picLocks noChangeAspect="1"/>
          </p:cNvPicPr>
          <p:nvPr>
            <p:custDataLst>
              <p:tags r:id="rId11"/>
            </p:custDataLst>
          </p:nvPr>
        </p:nvPicPr>
        <p:blipFill>
          <a:blip r:embed="rId12">
            <a:extLst>
              <a:ext uri="{96DAC541-7B7A-43D3-8B79-37D633B846F1}">
                <asvg:svgBlip xmlns:asvg="http://schemas.microsoft.com/office/drawing/2016/SVG/main" r:embed="rId13"/>
              </a:ext>
            </a:extLst>
          </a:blip>
          <a:stretch>
            <a:fillRect/>
          </a:stretch>
        </p:blipFill>
        <p:spPr>
          <a:xfrm>
            <a:off x="4637723" y="1747159"/>
            <a:ext cx="406400" cy="406400"/>
          </a:xfrm>
          <a:prstGeom prst="rect">
            <a:avLst/>
          </a:prstGeom>
        </p:spPr>
      </p:pic>
      <p:sp>
        <p:nvSpPr>
          <p:cNvPr id="14" name="AutoShape 13"/>
          <p:cNvSpPr/>
          <p:nvPr>
            <p:custDataLst>
              <p:tags r:id="rId14"/>
            </p:custDataLst>
          </p:nvPr>
        </p:nvSpPr>
        <p:spPr>
          <a:xfrm>
            <a:off x="5145723" y="1709059"/>
            <a:ext cx="2413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02 数据并行</a:t>
            </a:r>
            <a:endParaRPr lang="en-US" sz="1100"/>
          </a:p>
        </p:txBody>
      </p:sp>
      <p:cxnSp>
        <p:nvCxnSpPr>
          <p:cNvPr id="15" name="Connector 14"/>
          <p:cNvCxnSpPr/>
          <p:nvPr>
            <p:custDataLst>
              <p:tags r:id="rId15"/>
            </p:custDataLst>
          </p:nvPr>
        </p:nvCxnSpPr>
        <p:spPr>
          <a:xfrm rot="-14946">
            <a:off x="4637737" y="2312309"/>
            <a:ext cx="2921028" cy="12700"/>
          </a:xfrm>
          <a:prstGeom prst="straightConnector1">
            <a:avLst/>
          </a:prstGeom>
          <a:solidFill>
            <a:srgbClr val="DEE0E3">
              <a:alpha val="100000"/>
            </a:srgbClr>
          </a:solidFill>
          <a:ln w="12700" cap="flat" cmpd="sng">
            <a:solidFill>
              <a:srgbClr val="EF4444">
                <a:alpha val="30000"/>
              </a:srgbClr>
            </a:solidFill>
            <a:prstDash val="solid"/>
            <a:round/>
            <a:headEnd type="none" w="med" len="med"/>
            <a:tailEnd type="none" w="med" len="med"/>
          </a:ln>
        </p:spPr>
      </p:cxnSp>
      <p:sp>
        <p:nvSpPr>
          <p:cNvPr id="16" name="AutoShape 15"/>
          <p:cNvSpPr/>
          <p:nvPr>
            <p:custDataLst>
              <p:tags r:id="rId16"/>
            </p:custDataLst>
          </p:nvPr>
        </p:nvSpPr>
        <p:spPr>
          <a:xfrm>
            <a:off x="4637723" y="2509159"/>
            <a:ext cx="2921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对海量数据执行完全相同的操作，例如对图片的所有像素进行卷积运算。这些操作彼此独立，可同时进行处理。</a:t>
            </a:r>
            <a:endParaRPr lang="en-US" sz="1100"/>
          </a:p>
        </p:txBody>
      </p:sp>
      <p:sp>
        <p:nvSpPr>
          <p:cNvPr id="17" name="AutoShape 16"/>
          <p:cNvSpPr/>
          <p:nvPr>
            <p:custDataLst>
              <p:tags r:id="rId17"/>
            </p:custDataLst>
          </p:nvPr>
        </p:nvSpPr>
        <p:spPr>
          <a:xfrm>
            <a:off x="4574223" y="3842659"/>
            <a:ext cx="3114357" cy="635000"/>
          </a:xfrm>
          <a:prstGeom prst="roundRect">
            <a:avLst>
              <a:gd name="adj" fmla="val 0"/>
            </a:avLst>
          </a:prstGeom>
          <a:solidFill>
            <a:srgbClr val="EF4444">
              <a:alpha val="10000"/>
            </a:srgbClr>
          </a:solidFill>
          <a:ln w="25400" cap="flat" cmpd="sng">
            <a:noFill/>
            <a:prstDash val="solid"/>
            <a:round/>
          </a:ln>
        </p:spPr>
        <p:txBody>
          <a:bodyPr vert="horz" wrap="square" lIns="0" tIns="0" rIns="0" bIns="0" rtlCol="0" anchor="ctr" anchorCtr="0"/>
          <a:lstStyle/>
          <a:p>
            <a:pPr algn="ctr">
              <a:defRPr/>
            </a:pPr>
          </a:p>
        </p:txBody>
      </p:sp>
      <p:sp>
        <p:nvSpPr>
          <p:cNvPr id="18" name="AutoShape 17"/>
          <p:cNvSpPr/>
          <p:nvPr>
            <p:custDataLst>
              <p:tags r:id="rId18"/>
            </p:custDataLst>
          </p:nvPr>
        </p:nvSpPr>
        <p:spPr>
          <a:xfrm>
            <a:off x="4637723" y="3906159"/>
            <a:ext cx="2921056"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类比：像工厂流水线，多名工人同时处理相同零件，分工协作极大提升效率</a:t>
            </a:r>
            <a:r>
              <a:rPr lang="en-US" sz="13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19" name="AutoShape 18"/>
          <p:cNvSpPr/>
          <p:nvPr>
            <p:custDataLst>
              <p:tags r:id="rId19"/>
            </p:custDataLst>
          </p:nvPr>
        </p:nvSpPr>
        <p:spPr>
          <a:xfrm>
            <a:off x="8003223" y="1556659"/>
            <a:ext cx="3429000" cy="3048000"/>
          </a:xfrm>
          <a:prstGeom prst="roundRect">
            <a:avLst>
              <a:gd name="adj" fmla="val 0"/>
            </a:avLst>
          </a:prstGeom>
          <a:solidFill>
            <a:srgbClr val="FFFFFF">
              <a:alpha val="65000"/>
            </a:srgbClr>
          </a:solidFill>
          <a:ln w="12700" cap="flat" cmpd="sng">
            <a:solidFill>
              <a:schemeClr val="bg1">
                <a:alpha val="50000"/>
              </a:schemeClr>
            </a:solidFill>
            <a:prstDash val="solid"/>
            <a:round/>
          </a:ln>
        </p:spPr>
        <p:txBody>
          <a:bodyPr vert="horz" wrap="square" lIns="0" tIns="0" rIns="0" bIns="0" rtlCol="0" anchor="ctr" anchorCtr="0"/>
          <a:lstStyle/>
          <a:p>
            <a:pPr algn="ctr">
              <a:defRPr/>
            </a:pPr>
          </a:p>
        </p:txBody>
      </p:sp>
      <p:pic>
        <p:nvPicPr>
          <p:cNvPr id="20" name="Picture 19"/>
          <p:cNvPicPr>
            <a:picLocks noChangeAspect="1"/>
          </p:cNvPicPr>
          <p:nvPr>
            <p:custDataLst>
              <p:tags r:id="rId20"/>
            </p:custDataLst>
          </p:nvPr>
        </p:nvPicPr>
        <p:blipFill>
          <a:blip r:embed="rId21">
            <a:extLst>
              <a:ext uri="{96DAC541-7B7A-43D3-8B79-37D633B846F1}">
                <asvg:svgBlip xmlns:asvg="http://schemas.microsoft.com/office/drawing/2016/SVG/main" r:embed="rId22"/>
              </a:ext>
            </a:extLst>
          </a:blip>
          <a:stretch>
            <a:fillRect/>
          </a:stretch>
        </p:blipFill>
        <p:spPr>
          <a:xfrm>
            <a:off x="8257223" y="1747159"/>
            <a:ext cx="406400" cy="406400"/>
          </a:xfrm>
          <a:prstGeom prst="rect">
            <a:avLst/>
          </a:prstGeom>
        </p:spPr>
      </p:pic>
      <p:sp>
        <p:nvSpPr>
          <p:cNvPr id="21" name="AutoShape 20"/>
          <p:cNvSpPr/>
          <p:nvPr>
            <p:custDataLst>
              <p:tags r:id="rId23"/>
            </p:custDataLst>
          </p:nvPr>
        </p:nvSpPr>
        <p:spPr>
          <a:xfrm>
            <a:off x="8765223" y="1709059"/>
            <a:ext cx="2413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03 低精度可接受</a:t>
            </a:r>
            <a:endParaRPr lang="en-US" sz="1100"/>
          </a:p>
        </p:txBody>
      </p:sp>
      <p:cxnSp>
        <p:nvCxnSpPr>
          <p:cNvPr id="22" name="Connector 21"/>
          <p:cNvCxnSpPr/>
          <p:nvPr>
            <p:custDataLst>
              <p:tags r:id="rId24"/>
            </p:custDataLst>
          </p:nvPr>
        </p:nvCxnSpPr>
        <p:spPr>
          <a:xfrm rot="-14946">
            <a:off x="8257237" y="2312309"/>
            <a:ext cx="2921028" cy="12700"/>
          </a:xfrm>
          <a:prstGeom prst="straightConnector1">
            <a:avLst/>
          </a:prstGeom>
          <a:solidFill>
            <a:srgbClr val="DEE0E3">
              <a:alpha val="100000"/>
            </a:srgbClr>
          </a:solidFill>
          <a:ln w="12700" cap="flat" cmpd="sng">
            <a:solidFill>
              <a:srgbClr val="EF4444">
                <a:alpha val="30000"/>
              </a:srgbClr>
            </a:solidFill>
            <a:prstDash val="solid"/>
            <a:round/>
            <a:headEnd type="none" w="med" len="med"/>
            <a:tailEnd type="none" w="med" len="med"/>
          </a:ln>
        </p:spPr>
      </p:cxnSp>
      <p:sp>
        <p:nvSpPr>
          <p:cNvPr id="23" name="AutoShape 22"/>
          <p:cNvSpPr/>
          <p:nvPr>
            <p:custDataLst>
              <p:tags r:id="rId25"/>
            </p:custDataLst>
          </p:nvPr>
        </p:nvSpPr>
        <p:spPr>
          <a:xfrm>
            <a:off x="8257223" y="2509159"/>
            <a:ext cx="2921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AI模型对计算误差有较高容忍度，使用半精度(FP16)或整数(INT8)即可获得足够好的结果，大幅降低资源消耗。</a:t>
            </a:r>
            <a:endParaRPr lang="en-US" sz="1100"/>
          </a:p>
        </p:txBody>
      </p:sp>
      <p:sp>
        <p:nvSpPr>
          <p:cNvPr id="24" name="AutoShape 23"/>
          <p:cNvSpPr/>
          <p:nvPr>
            <p:custDataLst>
              <p:tags r:id="rId26"/>
            </p:custDataLst>
          </p:nvPr>
        </p:nvSpPr>
        <p:spPr>
          <a:xfrm>
            <a:off x="8196116" y="3842659"/>
            <a:ext cx="2982107" cy="635000"/>
          </a:xfrm>
          <a:prstGeom prst="roundRect">
            <a:avLst>
              <a:gd name="adj" fmla="val 0"/>
            </a:avLst>
          </a:prstGeom>
          <a:solidFill>
            <a:srgbClr val="EF4444">
              <a:alpha val="10000"/>
            </a:srgbClr>
          </a:solidFill>
          <a:ln w="25400" cap="flat" cmpd="sng">
            <a:noFill/>
            <a:prstDash val="solid"/>
            <a:round/>
          </a:ln>
        </p:spPr>
        <p:txBody>
          <a:bodyPr vert="horz" wrap="square" lIns="0" tIns="0" rIns="0" bIns="0" rtlCol="0" anchor="ctr" anchorCtr="0"/>
          <a:lstStyle/>
          <a:p>
            <a:pPr algn="ctr">
              <a:defRPr/>
            </a:pPr>
          </a:p>
        </p:txBody>
      </p:sp>
      <p:sp>
        <p:nvSpPr>
          <p:cNvPr id="25" name="AutoShape 24"/>
          <p:cNvSpPr/>
          <p:nvPr>
            <p:custDataLst>
              <p:tags r:id="rId27"/>
            </p:custDataLst>
          </p:nvPr>
        </p:nvSpPr>
        <p:spPr>
          <a:xfrm>
            <a:off x="8384223" y="3906159"/>
            <a:ext cx="2667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类比：</a:t>
            </a:r>
            <a:r>
              <a:rPr lang="en-US" altLang="zh-CN"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FP16/BF16 </a:t>
            </a: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甚至 </a:t>
            </a:r>
            <a:r>
              <a:rPr lang="en-US" altLang="zh-CN"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INT8 </a:t>
            </a: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就够用</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，无需精确到小数点后十位。</a:t>
            </a:r>
            <a:endParaRPr lang="en-US" sz="1100"/>
          </a:p>
        </p:txBody>
      </p:sp>
      <p:sp>
        <p:nvSpPr>
          <p:cNvPr id="26" name="AutoShape 25"/>
          <p:cNvSpPr/>
          <p:nvPr/>
        </p:nvSpPr>
        <p:spPr>
          <a:xfrm>
            <a:off x="764223" y="5112659"/>
            <a:ext cx="10668000" cy="889000"/>
          </a:xfrm>
          <a:prstGeom prst="roundRect">
            <a:avLst>
              <a:gd name="adj" fmla="val 0"/>
            </a:avLst>
          </a:prstGeom>
          <a:solidFill>
            <a:schemeClr val="tx1">
              <a:lumMod val="10000"/>
              <a:lumOff val="90000"/>
            </a:schemeClr>
          </a:solidFill>
          <a:ln w="25400" cap="flat" cmpd="sng">
            <a:noFill/>
            <a:prstDash val="solid"/>
            <a:round/>
          </a:ln>
        </p:spPr>
        <p:txBody>
          <a:bodyPr vert="horz" wrap="square" lIns="63500" tIns="63500" rIns="63500" bIns="63500" rtlCol="0" anchor="ctr"/>
          <a:lstStyle/>
          <a:p>
            <a:pPr algn="ctr"/>
          </a:p>
        </p:txBody>
      </p:sp>
      <p:sp>
        <p:nvSpPr>
          <p:cNvPr id="27" name="AutoShape 26"/>
          <p:cNvSpPr/>
          <p:nvPr/>
        </p:nvSpPr>
        <p:spPr>
          <a:xfrm>
            <a:off x="764223" y="5112659"/>
            <a:ext cx="76200" cy="889000"/>
          </a:xfrm>
          <a:prstGeom prst="roundRect">
            <a:avLst>
              <a:gd name="adj" fmla="val 0"/>
            </a:avLst>
          </a:prstGeom>
          <a:solidFill>
            <a:schemeClr val="bg1"/>
          </a:solidFill>
          <a:ln w="25400" cap="flat" cmpd="sng">
            <a:noFill/>
            <a:prstDash val="solid"/>
            <a:round/>
          </a:ln>
        </p:spPr>
        <p:txBody>
          <a:bodyPr vert="horz" wrap="square" lIns="0" tIns="0" rIns="0" bIns="0" rtlCol="0" anchor="ctr" anchorCtr="0"/>
          <a:lstStyle/>
          <a:p>
            <a:pPr algn="ctr">
              <a:defRPr/>
            </a:pPr>
          </a:p>
        </p:txBody>
      </p:sp>
      <p:sp>
        <p:nvSpPr>
          <p:cNvPr id="28" name="AutoShape 27"/>
          <p:cNvSpPr/>
          <p:nvPr/>
        </p:nvSpPr>
        <p:spPr>
          <a:xfrm>
            <a:off x="1081723" y="5214259"/>
            <a:ext cx="10096500" cy="6858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1400" b="0" i="0" u="none" strike="noStrike" dirty="0" err="1">
                <a:solidFill>
                  <a:srgbClr val="37415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传统的CPU架构专为串行、高精度计算设计，难以适配AI的海量并行与低精度需求，因此需要专用AI芯片来提供极致算力</a:t>
            </a:r>
            <a:r>
              <a:rPr lang="en-US" sz="1400" b="0" i="0" u="none" strike="noStrike" dirty="0">
                <a:solidFill>
                  <a:srgbClr val="37415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a:t>
            </a:r>
            <a:endParaRPr lang="en-US" sz="1400" b="0" i="0" u="none" strike="noStrike" dirty="0">
              <a:solidFill>
                <a:srgbClr val="37415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endParaRPr>
          </a:p>
          <a:p>
            <a:pPr marL="0" indent="0" algn="l">
              <a:lnSpc>
                <a:spcPct val="150000"/>
              </a:lnSpc>
              <a:defRPr/>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昇腾</a:t>
            </a:r>
            <a:r>
              <a:rPr lang="en-US" altLang="zh-CN" sz="1400" dirty="0">
                <a:latin typeface="微软雅黑" panose="020B0503020204020204" pitchFamily="34" charset="-122"/>
                <a:ea typeface="微软雅黑" panose="020B0503020204020204" pitchFamily="34" charset="-122"/>
                <a:cs typeface="微软雅黑" panose="020B0503020204020204" pitchFamily="34" charset="-122"/>
              </a:rPr>
              <a:t>NPU</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正是为此而生！</a:t>
            </a:r>
            <a:endParaRPr lang="zh-CN" altLang="en-US" sz="14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2223" y="0"/>
            <a:ext cx="12192000" cy="6858000"/>
          </a:xfrm>
          <a:prstGeom prst="roundRect">
            <a:avLst>
              <a:gd name="adj" fmla="val 0"/>
            </a:avLst>
          </a:prstGeom>
          <a:noFill/>
          <a:ln w="25400" cap="flat" cmpd="sng">
            <a:noFill/>
            <a:prstDash val="solid"/>
            <a:round/>
          </a:ln>
        </p:spPr>
        <p:txBody>
          <a:bodyPr vert="horz" wrap="square" lIns="63500" tIns="63500" rIns="63500" bIns="63500" rtlCol="0" anchor="ctr"/>
          <a:lstStyle/>
          <a:p>
            <a:pPr algn="ctr"/>
          </a:p>
        </p:txBody>
      </p:sp>
      <p:sp>
        <p:nvSpPr>
          <p:cNvPr id="3" name="AutoShape 3"/>
          <p:cNvSpPr/>
          <p:nvPr/>
        </p:nvSpPr>
        <p:spPr>
          <a:xfrm>
            <a:off x="764223" y="635000"/>
            <a:ext cx="10668000" cy="571500"/>
          </a:xfrm>
          <a:prstGeom prst="rect">
            <a:avLst/>
          </a:prstGeom>
          <a:noFill/>
          <a:ln w="12700" cap="flat" cmpd="sng">
            <a:noFill/>
            <a:prstDash val="solid"/>
            <a:round/>
          </a:ln>
        </p:spPr>
        <p:txBody>
          <a:bodyPr vert="horz" wrap="square" lIns="0" tIns="0" rIns="0" bIns="0" rtlCol="0" anchor="ctr" anchorCtr="0"/>
          <a:lstStyle/>
          <a:p>
            <a:pPr>
              <a:defRPr/>
            </a:pPr>
            <a:r>
              <a:rPr lang="en-US" sz="2800" b="1" dirty="0" err="1">
                <a:solidFill>
                  <a:prstClr val="black"/>
                </a:solidFill>
                <a:latin typeface="微软雅黑" panose="020B0503020204020204" pitchFamily="34" charset="-122"/>
                <a:ea typeface="微软雅黑" panose="020B0503020204020204" pitchFamily="34" charset="-122"/>
                <a:cs typeface="Arial" panose="020B0604020202020204" pitchFamily="34" charset="0"/>
                <a:sym typeface="Noto Sans SC" panose="020B0200000000000000" charset="-122"/>
              </a:rPr>
              <a:t>昇腾NPU：AI计算的“发动机</a:t>
            </a:r>
            <a:r>
              <a:rPr 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sym typeface="Noto Sans SC" panose="020B0200000000000000" charset="-122"/>
              </a:rPr>
              <a:t>”</a:t>
            </a:r>
            <a:endParaRPr 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p:txBody>
      </p:sp>
      <p:pic>
        <p:nvPicPr>
          <p:cNvPr id="4" name="Picture 4"/>
          <p:cNvPicPr>
            <a:picLocks noChangeAspect="1"/>
          </p:cNvPicPr>
          <p:nvPr/>
        </p:nvPicPr>
        <p:blipFill>
          <a:blip r:embed="rId1" cstate="screen"/>
          <a:srcRect/>
          <a:stretch>
            <a:fillRect/>
          </a:stretch>
        </p:blipFill>
        <p:spPr>
          <a:xfrm>
            <a:off x="764223" y="1905000"/>
            <a:ext cx="3556000" cy="2921000"/>
          </a:xfrm>
          <a:prstGeom prst="rect">
            <a:avLst/>
          </a:prstGeom>
          <a:solidFill>
            <a:srgbClr val="FF0000"/>
          </a:solidFill>
          <a:ln w="25400" cap="flat" cmpd="sng">
            <a:noFill/>
            <a:prstDash val="solid"/>
            <a:round/>
          </a:ln>
        </p:spPr>
      </p:pic>
      <p:sp>
        <p:nvSpPr>
          <p:cNvPr id="5" name="AutoShape 5"/>
          <p:cNvSpPr/>
          <p:nvPr/>
        </p:nvSpPr>
        <p:spPr>
          <a:xfrm>
            <a:off x="764223" y="5143500"/>
            <a:ext cx="355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dirty="0" err="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华为昇腾AI芯片，采用达芬奇架构，集成了超大规模的计算单元，是支撑AI全场景应用的核心硬件基础</a:t>
            </a:r>
            <a:r>
              <a:rPr lang="en-US" sz="1400" b="0" i="0" u="none" strike="noStrike"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cxnSp>
        <p:nvCxnSpPr>
          <p:cNvPr id="6" name="Connector 6"/>
          <p:cNvCxnSpPr/>
          <p:nvPr/>
        </p:nvCxnSpPr>
        <p:spPr>
          <a:xfrm rot="5389582">
            <a:off x="2732723" y="3994160"/>
            <a:ext cx="4191000" cy="12700"/>
          </a:xfrm>
          <a:prstGeom prst="straightConnector1">
            <a:avLst/>
          </a:prstGeom>
          <a:solidFill>
            <a:srgbClr val="DEE0E3">
              <a:alpha val="100000"/>
            </a:srgbClr>
          </a:solidFill>
          <a:ln w="12700" cap="flat" cmpd="sng">
            <a:solidFill>
              <a:srgbClr val="FF0000">
                <a:alpha val="40000"/>
              </a:srgbClr>
            </a:solidFill>
            <a:prstDash val="dash"/>
            <a:round/>
            <a:headEnd type="none" w="med" len="med"/>
            <a:tailEnd type="none" w="med" len="med"/>
          </a:ln>
        </p:spPr>
      </p:cxnSp>
      <p:sp>
        <p:nvSpPr>
          <p:cNvPr id="7" name="AutoShape 7"/>
          <p:cNvSpPr/>
          <p:nvPr/>
        </p:nvSpPr>
        <p:spPr>
          <a:xfrm>
            <a:off x="5209223" y="1905000"/>
            <a:ext cx="6477000" cy="1079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5209223" y="1905000"/>
            <a:ext cx="76200" cy="1079500"/>
          </a:xfrm>
          <a:prstGeom prst="roundRect">
            <a:avLst>
              <a:gd name="adj" fmla="val 0"/>
            </a:avLst>
          </a:prstGeom>
          <a:solidFill>
            <a:schemeClr val="bg1"/>
          </a:solidFill>
          <a:ln w="25400" cap="flat" cmpd="sng">
            <a:noFill/>
            <a:prstDash val="solid"/>
            <a:round/>
          </a:ln>
        </p:spPr>
        <p:txBody>
          <a:bodyPr vert="horz" wrap="square" lIns="0" tIns="0" rIns="0" bIns="0" rtlCol="0" anchor="ctr" anchorCtr="0"/>
          <a:lstStyle/>
          <a:p>
            <a:pPr algn="ctr"/>
          </a:p>
        </p:txBody>
      </p:sp>
      <p:sp>
        <p:nvSpPr>
          <p:cNvPr id="9" name="AutoShape 9"/>
          <p:cNvSpPr/>
          <p:nvPr/>
        </p:nvSpPr>
        <p:spPr>
          <a:xfrm>
            <a:off x="5399723" y="1968500"/>
            <a:ext cx="6096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AI计算的核心挑战</a:t>
            </a:r>
            <a:endParaRPr lang="en-US" sz="1100"/>
          </a:p>
          <a:p>
            <a:pPr marL="0" indent="0" algn="l">
              <a:lnSpc>
                <a:spcPct val="108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传统CPU擅长处理复杂逻辑控制，但面对AI计算中密集的矩阵运算、大规模并行任务时，其串行架构效率极低，难以支撑现代AI模型的算力需求。</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5209223" y="3238500"/>
            <a:ext cx="6477000" cy="1079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5209223" y="3238500"/>
            <a:ext cx="76200" cy="1079500"/>
          </a:xfrm>
          <a:prstGeom prst="roundRect">
            <a:avLst>
              <a:gd name="adj" fmla="val 0"/>
            </a:avLst>
          </a:prstGeom>
          <a:solidFill>
            <a:schemeClr val="bg1"/>
          </a:solidFill>
          <a:ln w="25400" cap="flat" cmpd="sng">
            <a:noFill/>
            <a:prstDash val="solid"/>
            <a:round/>
          </a:ln>
        </p:spPr>
        <p:txBody>
          <a:bodyPr vert="horz" wrap="square" lIns="0" tIns="0" rIns="0" bIns="0" rtlCol="0" anchor="ctr" anchorCtr="0"/>
          <a:lstStyle/>
          <a:p>
            <a:pPr algn="ctr"/>
          </a:p>
        </p:txBody>
      </p:sp>
      <p:sp>
        <p:nvSpPr>
          <p:cNvPr id="12" name="AutoShape 12"/>
          <p:cNvSpPr/>
          <p:nvPr/>
        </p:nvSpPr>
        <p:spPr>
          <a:xfrm>
            <a:off x="5399723" y="3302000"/>
            <a:ext cx="6096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专为AI定制的NPU架构</a:t>
            </a:r>
            <a:endParaRPr lang="en-US" sz="1100"/>
          </a:p>
          <a:p>
            <a:pPr marL="0" indent="0" algn="l">
              <a:lnSpc>
                <a:spcPct val="108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昇腾NPU是一种专用集成电路(ASIC)，其硬件架构完全围绕AI计算特点设计，针对大规模并行计算、高内存带宽需求进行深度优化，从底层重构算力供给方式。</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custDataLst>
              <p:tags r:id="rId2"/>
            </p:custDataLst>
          </p:nvPr>
        </p:nvSpPr>
        <p:spPr>
          <a:xfrm>
            <a:off x="5209223" y="4572000"/>
            <a:ext cx="2070100" cy="1206500"/>
          </a:xfrm>
          <a:prstGeom prst="roundRect">
            <a:avLst>
              <a:gd name="adj" fmla="val 0"/>
            </a:avLst>
          </a:prstGeom>
          <a:solidFill>
            <a:schemeClr val="tx1">
              <a:lumMod val="10000"/>
              <a:lumOff val="90000"/>
            </a:schemeClr>
          </a:solidFill>
          <a:ln w="25400" cap="flat" cmpd="sng">
            <a:noFill/>
            <a:prstDash val="solid"/>
            <a:round/>
          </a:ln>
        </p:spPr>
        <p:txBody>
          <a:bodyPr vert="horz" wrap="square" lIns="63500" tIns="63500" rIns="63500" bIns="63500" rtlCol="0" anchor="ctr"/>
          <a:lstStyle/>
          <a:p>
            <a:pPr algn="ctr"/>
          </a:p>
        </p:txBody>
      </p:sp>
      <p:pic>
        <p:nvPicPr>
          <p:cNvPr id="14" name="Picture 14"/>
          <p:cNvPicPr>
            <a:picLocks noChangeAspect="1"/>
          </p:cNvPicPr>
          <p:nvPr>
            <p:custDataLst>
              <p:tags r:id="rId3"/>
            </p:custDataLst>
          </p:nvPr>
        </p:nvPicPr>
        <p:blipFill>
          <a:blip r:embed="rId4">
            <a:extLst>
              <a:ext uri="{96DAC541-7B7A-43D3-8B79-37D633B846F1}">
                <asvg:svgBlip xmlns:asvg="http://schemas.microsoft.com/office/drawing/2016/SVG/main" r:embed="rId5"/>
              </a:ext>
            </a:extLst>
          </a:blip>
          <a:stretch>
            <a:fillRect/>
          </a:stretch>
        </p:blipFill>
        <p:spPr>
          <a:xfrm>
            <a:off x="5336223" y="4699000"/>
            <a:ext cx="304800" cy="304800"/>
          </a:xfrm>
          <a:prstGeom prst="rect">
            <a:avLst/>
          </a:prstGeom>
        </p:spPr>
      </p:pic>
      <p:sp>
        <p:nvSpPr>
          <p:cNvPr id="15" name="AutoShape 15"/>
          <p:cNvSpPr/>
          <p:nvPr>
            <p:custDataLst>
              <p:tags r:id="rId6"/>
            </p:custDataLst>
          </p:nvPr>
        </p:nvSpPr>
        <p:spPr>
          <a:xfrm>
            <a:off x="5717223" y="4699000"/>
            <a:ext cx="1524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极致性能</a:t>
            </a:r>
            <a:endParaRPr lang="en-US" sz="1100"/>
          </a:p>
        </p:txBody>
      </p:sp>
      <p:sp>
        <p:nvSpPr>
          <p:cNvPr id="16" name="AutoShape 16"/>
          <p:cNvSpPr/>
          <p:nvPr>
            <p:custDataLst>
              <p:tags r:id="rId7"/>
            </p:custDataLst>
          </p:nvPr>
        </p:nvSpPr>
        <p:spPr>
          <a:xfrm>
            <a:off x="5336223" y="5143500"/>
            <a:ext cx="18161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相较CPU，提供数十至上百倍的AI计算性能，大幅提升处理速度。</a:t>
            </a:r>
            <a:endParaRPr lang="en-US" sz="1100"/>
          </a:p>
        </p:txBody>
      </p:sp>
      <p:sp>
        <p:nvSpPr>
          <p:cNvPr id="17" name="AutoShape 17"/>
          <p:cNvSpPr/>
          <p:nvPr>
            <p:custDataLst>
              <p:tags r:id="rId8"/>
            </p:custDataLst>
          </p:nvPr>
        </p:nvSpPr>
        <p:spPr>
          <a:xfrm>
            <a:off x="7406323" y="4572000"/>
            <a:ext cx="2070100" cy="1206500"/>
          </a:xfrm>
          <a:prstGeom prst="roundRect">
            <a:avLst>
              <a:gd name="adj" fmla="val 0"/>
            </a:avLst>
          </a:prstGeom>
          <a:solidFill>
            <a:schemeClr val="tx1">
              <a:lumMod val="10000"/>
              <a:lumOff val="90000"/>
            </a:schemeClr>
          </a:solidFill>
          <a:ln w="25400" cap="flat" cmpd="sng">
            <a:noFill/>
            <a:prstDash val="solid"/>
            <a:round/>
          </a:ln>
        </p:spPr>
        <p:txBody>
          <a:bodyPr vert="horz" wrap="square" lIns="63500" tIns="63500" rIns="63500" bIns="63500" rtlCol="0" anchor="ctr"/>
          <a:lstStyle/>
          <a:p>
            <a:pPr algn="ctr"/>
          </a:p>
        </p:txBody>
      </p:sp>
      <p:pic>
        <p:nvPicPr>
          <p:cNvPr id="18" name="Picture 18"/>
          <p:cNvPicPr>
            <a:picLocks noChangeAspect="1"/>
          </p:cNvPicPr>
          <p:nvPr>
            <p:custDataLst>
              <p:tags r:id="rId9"/>
            </p:custDataLst>
          </p:nvPr>
        </p:nvPicPr>
        <p:blipFill>
          <a:blip r:embed="rId10">
            <a:extLst>
              <a:ext uri="{96DAC541-7B7A-43D3-8B79-37D633B846F1}">
                <asvg:svgBlip xmlns:asvg="http://schemas.microsoft.com/office/drawing/2016/SVG/main" r:embed="rId11"/>
              </a:ext>
            </a:extLst>
          </a:blip>
          <a:stretch>
            <a:fillRect/>
          </a:stretch>
        </p:blipFill>
        <p:spPr>
          <a:xfrm>
            <a:off x="7533323" y="4699000"/>
            <a:ext cx="304800" cy="304800"/>
          </a:xfrm>
          <a:prstGeom prst="rect">
            <a:avLst/>
          </a:prstGeom>
        </p:spPr>
      </p:pic>
      <p:sp>
        <p:nvSpPr>
          <p:cNvPr id="19" name="AutoShape 19"/>
          <p:cNvSpPr/>
          <p:nvPr>
            <p:custDataLst>
              <p:tags r:id="rId12"/>
            </p:custDataLst>
          </p:nvPr>
        </p:nvSpPr>
        <p:spPr>
          <a:xfrm>
            <a:off x="7914323" y="4699000"/>
            <a:ext cx="1524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高能效比</a:t>
            </a:r>
            <a:endParaRPr lang="en-US" sz="1100"/>
          </a:p>
        </p:txBody>
      </p:sp>
      <p:sp>
        <p:nvSpPr>
          <p:cNvPr id="20" name="AutoShape 20"/>
          <p:cNvSpPr/>
          <p:nvPr>
            <p:custDataLst>
              <p:tags r:id="rId13"/>
            </p:custDataLst>
          </p:nvPr>
        </p:nvSpPr>
        <p:spPr>
          <a:xfrm>
            <a:off x="7533323" y="5143500"/>
            <a:ext cx="18161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在提供强大算力的同时有效降低功耗，兼顾性能与绿色节能需求。</a:t>
            </a:r>
            <a:endParaRPr lang="en-US" sz="1100"/>
          </a:p>
        </p:txBody>
      </p:sp>
      <p:sp>
        <p:nvSpPr>
          <p:cNvPr id="21" name="AutoShape 21"/>
          <p:cNvSpPr/>
          <p:nvPr>
            <p:custDataLst>
              <p:tags r:id="rId14"/>
            </p:custDataLst>
          </p:nvPr>
        </p:nvSpPr>
        <p:spPr>
          <a:xfrm>
            <a:off x="9603423" y="4572000"/>
            <a:ext cx="2070100" cy="1206500"/>
          </a:xfrm>
          <a:prstGeom prst="roundRect">
            <a:avLst>
              <a:gd name="adj" fmla="val 0"/>
            </a:avLst>
          </a:prstGeom>
          <a:solidFill>
            <a:schemeClr val="tx1">
              <a:lumMod val="10000"/>
              <a:lumOff val="90000"/>
            </a:schemeClr>
          </a:solidFill>
          <a:ln w="25400" cap="flat" cmpd="sng">
            <a:noFill/>
            <a:prstDash val="solid"/>
            <a:round/>
          </a:ln>
        </p:spPr>
        <p:txBody>
          <a:bodyPr vert="horz" wrap="square" lIns="63500" tIns="63500" rIns="63500" bIns="63500" rtlCol="0" anchor="ctr"/>
          <a:lstStyle/>
          <a:p>
            <a:pPr algn="ctr"/>
          </a:p>
        </p:txBody>
      </p:sp>
      <p:pic>
        <p:nvPicPr>
          <p:cNvPr id="22" name="Picture 22"/>
          <p:cNvPicPr>
            <a:picLocks noChangeAspect="1"/>
          </p:cNvPicPr>
          <p:nvPr>
            <p:custDataLst>
              <p:tags r:id="rId15"/>
            </p:custDataLst>
          </p:nvPr>
        </p:nvPicPr>
        <p:blipFill>
          <a:blip r:embed="rId16">
            <a:extLst>
              <a:ext uri="{96DAC541-7B7A-43D3-8B79-37D633B846F1}">
                <asvg:svgBlip xmlns:asvg="http://schemas.microsoft.com/office/drawing/2016/SVG/main" r:embed="rId17"/>
              </a:ext>
            </a:extLst>
          </a:blip>
          <a:stretch>
            <a:fillRect/>
          </a:stretch>
        </p:blipFill>
        <p:spPr>
          <a:xfrm>
            <a:off x="9730423" y="4699000"/>
            <a:ext cx="304800" cy="304800"/>
          </a:xfrm>
          <a:prstGeom prst="rect">
            <a:avLst/>
          </a:prstGeom>
        </p:spPr>
      </p:pic>
      <p:sp>
        <p:nvSpPr>
          <p:cNvPr id="23" name="AutoShape 23"/>
          <p:cNvSpPr/>
          <p:nvPr>
            <p:custDataLst>
              <p:tags r:id="rId18"/>
            </p:custDataLst>
          </p:nvPr>
        </p:nvSpPr>
        <p:spPr>
          <a:xfrm>
            <a:off x="10111423" y="4699000"/>
            <a:ext cx="1524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赋能大模型</a:t>
            </a:r>
            <a:endParaRPr lang="en-US" sz="1100"/>
          </a:p>
        </p:txBody>
      </p:sp>
      <p:sp>
        <p:nvSpPr>
          <p:cNvPr id="24" name="AutoShape 24"/>
          <p:cNvSpPr/>
          <p:nvPr>
            <p:custDataLst>
              <p:tags r:id="rId19"/>
            </p:custDataLst>
          </p:nvPr>
        </p:nvSpPr>
        <p:spPr>
          <a:xfrm>
            <a:off x="9730423" y="5143500"/>
            <a:ext cx="18161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昇腾集群可提供海量算力，完美支撑千亿甚至万亿参数大模型训练。</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3"/>
          <p:cNvSpPr/>
          <p:nvPr/>
        </p:nvSpPr>
        <p:spPr>
          <a:xfrm>
            <a:off x="764223" y="314278"/>
            <a:ext cx="10668000" cy="508000"/>
          </a:xfrm>
          <a:prstGeom prst="rect">
            <a:avLst/>
          </a:prstGeom>
          <a:noFill/>
          <a:ln w="12700" cap="flat" cmpd="sng">
            <a:noFill/>
            <a:prstDash val="solid"/>
            <a:round/>
          </a:ln>
        </p:spPr>
        <p:txBody>
          <a:bodyPr vert="horz" wrap="square" lIns="0" tIns="0" rIns="0" bIns="0" rtlCol="0" anchor="ctr" anchorCtr="0"/>
          <a:lstStyle/>
          <a:p>
            <a:pPr>
              <a:defRPr/>
            </a:pPr>
            <a:r>
              <a:rPr 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sym typeface="Noto Sans SC" panose="020B0200000000000000" charset="-122"/>
              </a:rPr>
              <a:t>CPU vs </a:t>
            </a:r>
            <a:r>
              <a:rPr lang="en-US" sz="2800" b="1" dirty="0" err="1">
                <a:solidFill>
                  <a:prstClr val="black"/>
                </a:solidFill>
                <a:latin typeface="微软雅黑" panose="020B0503020204020204" pitchFamily="34" charset="-122"/>
                <a:ea typeface="微软雅黑" panose="020B0503020204020204" pitchFamily="34" charset="-122"/>
                <a:cs typeface="Arial" panose="020B0604020202020204" pitchFamily="34" charset="0"/>
                <a:sym typeface="Noto Sans SC" panose="020B0200000000000000" charset="-122"/>
              </a:rPr>
              <a:t>NPU：算力差距有多大</a:t>
            </a:r>
            <a:r>
              <a:rPr 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sym typeface="Noto Sans SC" panose="020B0200000000000000" charset="-122"/>
              </a:rPr>
              <a:t>？</a:t>
            </a:r>
            <a:endParaRPr 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5" name="AutoShape 4"/>
          <p:cNvSpPr/>
          <p:nvPr/>
        </p:nvSpPr>
        <p:spPr>
          <a:xfrm>
            <a:off x="468819" y="3120408"/>
            <a:ext cx="3617843" cy="2359366"/>
          </a:xfrm>
          <a:prstGeom prst="roundRect">
            <a:avLst>
              <a:gd name="adj" fmla="val 0"/>
            </a:avLst>
          </a:prstGeom>
          <a:solidFill>
            <a:srgbClr val="FFFFFF">
              <a:alpha val="70000"/>
            </a:srgbClr>
          </a:solidFill>
          <a:ln w="12700" cap="flat" cmpd="sng">
            <a:solidFill>
              <a:schemeClr val="bg1"/>
            </a:solidFill>
            <a:prstDash val="solid"/>
            <a:round/>
          </a:ln>
        </p:spPr>
        <p:txBody>
          <a:bodyPr vert="horz" wrap="square" lIns="0" tIns="0" rIns="0" bIns="0" rtlCol="0" anchor="ctr" anchorCtr="0"/>
          <a:lstStyle/>
          <a:p>
            <a:pPr algn="ctr">
              <a:defRPr/>
            </a:pPr>
            <a:endParaRPr dirty="0"/>
          </a:p>
        </p:txBody>
      </p:sp>
      <p:sp>
        <p:nvSpPr>
          <p:cNvPr id="7" name="AutoShape 6"/>
          <p:cNvSpPr/>
          <p:nvPr/>
        </p:nvSpPr>
        <p:spPr>
          <a:xfrm>
            <a:off x="722819" y="3222008"/>
            <a:ext cx="3303248" cy="43953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dirty="0">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01. CPU (</a:t>
            </a:r>
            <a:r>
              <a:rPr lang="en-US" sz="1800" b="1" i="0" u="none" strike="noStrike" dirty="0" err="1">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标量计算</a:t>
            </a:r>
            <a:r>
              <a:rPr lang="en-US" sz="1800" b="1" i="0" u="none" strike="noStrike" dirty="0">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8" name="AutoShape 7"/>
          <p:cNvSpPr/>
          <p:nvPr/>
        </p:nvSpPr>
        <p:spPr>
          <a:xfrm>
            <a:off x="4364958" y="3120408"/>
            <a:ext cx="3617843" cy="2359366"/>
          </a:xfrm>
          <a:prstGeom prst="roundRect">
            <a:avLst>
              <a:gd name="adj" fmla="val 0"/>
            </a:avLst>
          </a:prstGeom>
          <a:solidFill>
            <a:srgbClr val="FFFFFF">
              <a:alpha val="70000"/>
            </a:srgbClr>
          </a:solidFill>
          <a:ln w="12700" cap="flat" cmpd="sng">
            <a:solidFill>
              <a:schemeClr val="bg1"/>
            </a:solidFill>
            <a:prstDash val="solid"/>
            <a:round/>
          </a:ln>
        </p:spPr>
        <p:txBody>
          <a:bodyPr vert="horz" wrap="square" lIns="0" tIns="0" rIns="0" bIns="0" rtlCol="0" anchor="ctr" anchorCtr="0"/>
          <a:lstStyle/>
          <a:p>
            <a:pPr algn="ctr">
              <a:defRPr/>
            </a:pPr>
          </a:p>
        </p:txBody>
      </p:sp>
      <p:sp>
        <p:nvSpPr>
          <p:cNvPr id="10" name="AutoShape 9"/>
          <p:cNvSpPr/>
          <p:nvPr/>
        </p:nvSpPr>
        <p:spPr>
          <a:xfrm>
            <a:off x="4618958" y="3222008"/>
            <a:ext cx="3303248" cy="43953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dirty="0">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02. Vector (</a:t>
            </a:r>
            <a:r>
              <a:rPr lang="en-US" sz="1800" b="1" i="0" u="none" strike="noStrike" dirty="0" err="1">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向量计算</a:t>
            </a:r>
            <a:r>
              <a:rPr lang="en-US" sz="1800" b="1" i="0" u="none" strike="noStrike" dirty="0">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11" name="AutoShape 10"/>
          <p:cNvSpPr/>
          <p:nvPr/>
        </p:nvSpPr>
        <p:spPr>
          <a:xfrm>
            <a:off x="8189612" y="3120408"/>
            <a:ext cx="3617843" cy="2359366"/>
          </a:xfrm>
          <a:prstGeom prst="roundRect">
            <a:avLst>
              <a:gd name="adj" fmla="val 0"/>
            </a:avLst>
          </a:prstGeom>
          <a:solidFill>
            <a:srgbClr val="FFFFFF">
              <a:alpha val="70000"/>
            </a:srgbClr>
          </a:solidFill>
          <a:ln w="12700" cap="flat" cmpd="sng">
            <a:solidFill>
              <a:schemeClr val="bg1"/>
            </a:solidFill>
            <a:prstDash val="solid"/>
            <a:round/>
          </a:ln>
        </p:spPr>
        <p:txBody>
          <a:bodyPr vert="horz" wrap="square" lIns="0" tIns="0" rIns="0" bIns="0" rtlCol="0" anchor="ctr" anchorCtr="0"/>
          <a:lstStyle/>
          <a:p>
            <a:pPr algn="ctr"/>
          </a:p>
        </p:txBody>
      </p:sp>
      <p:sp>
        <p:nvSpPr>
          <p:cNvPr id="13" name="AutoShape 12"/>
          <p:cNvSpPr/>
          <p:nvPr/>
        </p:nvSpPr>
        <p:spPr>
          <a:xfrm>
            <a:off x="8443612" y="3222008"/>
            <a:ext cx="3303248" cy="43953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dirty="0">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03. </a:t>
            </a:r>
            <a:r>
              <a:rPr lang="en-US" altLang="zh-CN" sz="1800" b="1" i="0" u="none" strike="noStrike" dirty="0">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Cube</a:t>
            </a:r>
            <a:r>
              <a:rPr lang="en-US" sz="1800" b="1" i="0" u="none" strike="noStrike" dirty="0">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800" b="1" i="0" u="none" strike="noStrike" dirty="0" err="1">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矩阵计算</a:t>
            </a:r>
            <a:r>
              <a:rPr lang="en-US" sz="1800" b="1" i="0" u="none" strike="noStrike" dirty="0">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pic>
        <p:nvPicPr>
          <p:cNvPr id="34" name="图片 33"/>
          <p:cNvPicPr>
            <a:picLocks noChangeAspect="1"/>
          </p:cNvPicPr>
          <p:nvPr/>
        </p:nvPicPr>
        <p:blipFill>
          <a:blip r:embed="rId1" cstate="screen"/>
          <a:stretch>
            <a:fillRect/>
          </a:stretch>
        </p:blipFill>
        <p:spPr>
          <a:xfrm>
            <a:off x="3635440" y="1552301"/>
            <a:ext cx="4925566" cy="1205005"/>
          </a:xfrm>
          <a:prstGeom prst="rect">
            <a:avLst/>
          </a:prstGeom>
        </p:spPr>
      </p:pic>
      <p:sp>
        <p:nvSpPr>
          <p:cNvPr id="36" name="文本框 35"/>
          <p:cNvSpPr txBox="1"/>
          <p:nvPr/>
        </p:nvSpPr>
        <p:spPr>
          <a:xfrm>
            <a:off x="738823" y="973162"/>
            <a:ext cx="10318086" cy="368300"/>
          </a:xfrm>
          <a:prstGeom prst="rect">
            <a:avLst/>
          </a:prstGeom>
          <a:noFill/>
        </p:spPr>
        <p:txBody>
          <a:bodyPr wrap="square">
            <a:spAutoFit/>
          </a:bodyPr>
          <a:lstStyle/>
          <a:p>
            <a:pPr algn="l"/>
            <a:r>
              <a:rPr lang="zh-CN" altLang="en-US" b="0" i="0" dirty="0">
                <a:effectLst/>
                <a:latin typeface="微软雅黑" panose="020B0503020204020204" pitchFamily="34" charset="-122"/>
                <a:ea typeface="微软雅黑" panose="020B0503020204020204" pitchFamily="34" charset="-122"/>
              </a:rPr>
              <a:t>以 </a:t>
            </a:r>
            <a:r>
              <a:rPr lang="en-US" altLang="zh-CN" b="0" i="0" dirty="0">
                <a:effectLst/>
                <a:latin typeface="微软雅黑" panose="020B0503020204020204" pitchFamily="34" charset="-122"/>
                <a:ea typeface="微软雅黑" panose="020B0503020204020204" pitchFamily="34" charset="-122"/>
              </a:rPr>
              <a:t>AI </a:t>
            </a:r>
            <a:r>
              <a:rPr lang="zh-CN" altLang="en-US" b="0" i="0" dirty="0">
                <a:effectLst/>
                <a:latin typeface="微软雅黑" panose="020B0503020204020204" pitchFamily="34" charset="-122"/>
                <a:ea typeface="微软雅黑" panose="020B0503020204020204" pitchFamily="34" charset="-122"/>
              </a:rPr>
              <a:t>中最常见的</a:t>
            </a:r>
            <a:r>
              <a:rPr lang="en-US" altLang="zh-CN" b="1" i="0" dirty="0">
                <a:effectLst/>
                <a:latin typeface="微软雅黑" panose="020B0503020204020204" pitchFamily="34" charset="-122"/>
                <a:ea typeface="微软雅黑" panose="020B0503020204020204" pitchFamily="34" charset="-122"/>
              </a:rPr>
              <a:t>16×16 </a:t>
            </a:r>
            <a:r>
              <a:rPr lang="zh-CN" altLang="en-US" b="1" i="0" dirty="0">
                <a:effectLst/>
                <a:latin typeface="微软雅黑" panose="020B0503020204020204" pitchFamily="34" charset="-122"/>
                <a:ea typeface="微软雅黑" panose="020B0503020204020204" pitchFamily="34" charset="-122"/>
              </a:rPr>
              <a:t>矩阵乘法</a:t>
            </a:r>
            <a:r>
              <a:rPr lang="zh-CN" altLang="en-US" b="0" i="0" dirty="0">
                <a:effectLst/>
                <a:latin typeface="微软雅黑" panose="020B0503020204020204" pitchFamily="34" charset="-122"/>
                <a:ea typeface="微软雅黑" panose="020B0503020204020204" pitchFamily="34" charset="-122"/>
              </a:rPr>
              <a:t>为例，看看不同计算方式的效率差距：</a:t>
            </a:r>
            <a:endParaRPr lang="zh-CN" altLang="en-US" b="0" i="0" dirty="0">
              <a:effectLst/>
              <a:latin typeface="微软雅黑" panose="020B0503020204020204" pitchFamily="34" charset="-122"/>
              <a:ea typeface="微软雅黑" panose="020B0503020204020204" pitchFamily="34" charset="-122"/>
            </a:endParaRPr>
          </a:p>
        </p:txBody>
      </p:sp>
      <p:pic>
        <p:nvPicPr>
          <p:cNvPr id="38" name="图片 37"/>
          <p:cNvPicPr>
            <a:picLocks noChangeAspect="1"/>
          </p:cNvPicPr>
          <p:nvPr/>
        </p:nvPicPr>
        <p:blipFill>
          <a:blip r:embed="rId2"/>
          <a:stretch>
            <a:fillRect/>
          </a:stretch>
        </p:blipFill>
        <p:spPr>
          <a:xfrm>
            <a:off x="639689" y="4083222"/>
            <a:ext cx="3228857" cy="893088"/>
          </a:xfrm>
          <a:prstGeom prst="rect">
            <a:avLst/>
          </a:prstGeom>
        </p:spPr>
      </p:pic>
      <p:pic>
        <p:nvPicPr>
          <p:cNvPr id="40" name="图片 39"/>
          <p:cNvPicPr>
            <a:picLocks noChangeAspect="1"/>
          </p:cNvPicPr>
          <p:nvPr/>
        </p:nvPicPr>
        <p:blipFill>
          <a:blip r:embed="rId3" cstate="screen"/>
          <a:stretch>
            <a:fillRect/>
          </a:stretch>
        </p:blipFill>
        <p:spPr>
          <a:xfrm>
            <a:off x="4607371" y="4213726"/>
            <a:ext cx="3293071" cy="487676"/>
          </a:xfrm>
          <a:prstGeom prst="rect">
            <a:avLst/>
          </a:prstGeom>
        </p:spPr>
      </p:pic>
      <p:pic>
        <p:nvPicPr>
          <p:cNvPr id="42" name="图片 41"/>
          <p:cNvPicPr>
            <a:picLocks noChangeAspect="1"/>
          </p:cNvPicPr>
          <p:nvPr/>
        </p:nvPicPr>
        <p:blipFill>
          <a:blip r:embed="rId4" cstate="screen"/>
          <a:stretch>
            <a:fillRect/>
          </a:stretch>
        </p:blipFill>
        <p:spPr>
          <a:xfrm>
            <a:off x="8434007" y="4308269"/>
            <a:ext cx="3152213" cy="266464"/>
          </a:xfrm>
          <a:prstGeom prst="rect">
            <a:avLst/>
          </a:prstGeom>
        </p:spPr>
      </p:pic>
      <p:sp>
        <p:nvSpPr>
          <p:cNvPr id="47" name="文本框 46"/>
          <p:cNvSpPr txBox="1"/>
          <p:nvPr/>
        </p:nvSpPr>
        <p:spPr>
          <a:xfrm>
            <a:off x="722819" y="5031635"/>
            <a:ext cx="2855844" cy="306705"/>
          </a:xfrm>
          <a:prstGeom prst="rect">
            <a:avLst/>
          </a:prstGeom>
          <a:noFill/>
        </p:spPr>
        <p:txBody>
          <a:bodyPr wrap="square" rtlCol="0">
            <a:spAutoFit/>
          </a:bodyPr>
          <a:lstStyle/>
          <a:p>
            <a:r>
              <a:rPr lang="zh-CN" altLang="en-US" sz="1400" b="1" dirty="0">
                <a:latin typeface="微软雅黑" panose="020B0503020204020204" pitchFamily="34" charset="-122"/>
                <a:ea typeface="微软雅黑" panose="020B0503020204020204" pitchFamily="34" charset="-122"/>
              </a:rPr>
              <a:t>总周期：</a:t>
            </a:r>
            <a:r>
              <a:rPr lang="en-US" altLang="zh-CN" sz="1400" b="1" dirty="0">
                <a:latin typeface="微软雅黑" panose="020B0503020204020204" pitchFamily="34" charset="-122"/>
                <a:ea typeface="微软雅黑" panose="020B0503020204020204" pitchFamily="34" charset="-122"/>
              </a:rPr>
              <a:t>16×16×16×2=8192</a:t>
            </a:r>
            <a:endParaRPr lang="zh-CN" altLang="en-US" sz="1400" b="1" dirty="0">
              <a:latin typeface="微软雅黑" panose="020B0503020204020204" pitchFamily="34" charset="-122"/>
              <a:ea typeface="微软雅黑" panose="020B0503020204020204" pitchFamily="34" charset="-122"/>
            </a:endParaRPr>
          </a:p>
        </p:txBody>
      </p:sp>
      <p:sp>
        <p:nvSpPr>
          <p:cNvPr id="48" name="文本框 47"/>
          <p:cNvSpPr txBox="1"/>
          <p:nvPr/>
        </p:nvSpPr>
        <p:spPr>
          <a:xfrm>
            <a:off x="4607371" y="5031635"/>
            <a:ext cx="2855844" cy="306705"/>
          </a:xfrm>
          <a:prstGeom prst="rect">
            <a:avLst/>
          </a:prstGeom>
          <a:noFill/>
        </p:spPr>
        <p:txBody>
          <a:bodyPr wrap="square" rtlCol="0">
            <a:spAutoFit/>
          </a:bodyPr>
          <a:lstStyle/>
          <a:p>
            <a:r>
              <a:rPr lang="zh-CN" altLang="en-US" sz="1400" b="1" dirty="0">
                <a:latin typeface="微软雅黑" panose="020B0503020204020204" pitchFamily="34" charset="-122"/>
                <a:ea typeface="微软雅黑" panose="020B0503020204020204" pitchFamily="34" charset="-122"/>
              </a:rPr>
              <a:t>总周期：</a:t>
            </a:r>
            <a:r>
              <a:rPr lang="en-US" altLang="zh-CN" sz="1400" b="1" dirty="0">
                <a:latin typeface="微软雅黑" panose="020B0503020204020204" pitchFamily="34" charset="-122"/>
                <a:ea typeface="微软雅黑" panose="020B0503020204020204" pitchFamily="34" charset="-122"/>
              </a:rPr>
              <a:t>16×16=256</a:t>
            </a:r>
            <a:endParaRPr lang="zh-CN" altLang="en-US" sz="1400" b="1" dirty="0">
              <a:latin typeface="微软雅黑" panose="020B0503020204020204" pitchFamily="34" charset="-122"/>
              <a:ea typeface="微软雅黑" panose="020B0503020204020204" pitchFamily="34" charset="-122"/>
            </a:endParaRPr>
          </a:p>
        </p:txBody>
      </p:sp>
      <p:sp>
        <p:nvSpPr>
          <p:cNvPr id="49" name="文本框 48"/>
          <p:cNvSpPr txBox="1"/>
          <p:nvPr/>
        </p:nvSpPr>
        <p:spPr>
          <a:xfrm>
            <a:off x="8443611" y="5030421"/>
            <a:ext cx="2855844" cy="306705"/>
          </a:xfrm>
          <a:prstGeom prst="rect">
            <a:avLst/>
          </a:prstGeom>
          <a:noFill/>
        </p:spPr>
        <p:txBody>
          <a:bodyPr wrap="square" rtlCol="0">
            <a:spAutoFit/>
          </a:bodyPr>
          <a:lstStyle/>
          <a:p>
            <a:r>
              <a:rPr lang="zh-CN" altLang="en-US" sz="1400" b="1" dirty="0">
                <a:latin typeface="微软雅黑" panose="020B0503020204020204" pitchFamily="34" charset="-122"/>
                <a:ea typeface="微软雅黑" panose="020B0503020204020204" pitchFamily="34" charset="-122"/>
              </a:rPr>
              <a:t>总周期：</a:t>
            </a:r>
            <a:r>
              <a:rPr lang="en-US" altLang="zh-CN" sz="1400" b="1" dirty="0">
                <a:latin typeface="微软雅黑" panose="020B0503020204020204" pitchFamily="34" charset="-122"/>
                <a:ea typeface="微软雅黑" panose="020B0503020204020204" pitchFamily="34" charset="-122"/>
              </a:rPr>
              <a:t>1</a:t>
            </a:r>
            <a:endParaRPr lang="zh-CN" altLang="en-US" sz="1400" b="1" dirty="0">
              <a:latin typeface="微软雅黑" panose="020B0503020204020204" pitchFamily="34" charset="-122"/>
              <a:ea typeface="微软雅黑" panose="020B0503020204020204" pitchFamily="34" charset="-122"/>
            </a:endParaRPr>
          </a:p>
        </p:txBody>
      </p:sp>
      <p:sp>
        <p:nvSpPr>
          <p:cNvPr id="50" name="文本框 49"/>
          <p:cNvSpPr txBox="1"/>
          <p:nvPr/>
        </p:nvSpPr>
        <p:spPr>
          <a:xfrm>
            <a:off x="4618957" y="3658337"/>
            <a:ext cx="2855844" cy="306705"/>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一次算一整行和一整列：</a:t>
            </a:r>
            <a:endParaRPr lang="zh-CN" altLang="en-US" sz="1400" dirty="0">
              <a:latin typeface="微软雅黑" panose="020B0503020204020204" pitchFamily="34" charset="-122"/>
              <a:ea typeface="微软雅黑" panose="020B0503020204020204" pitchFamily="34" charset="-122"/>
            </a:endParaRPr>
          </a:p>
        </p:txBody>
      </p:sp>
      <p:sp>
        <p:nvSpPr>
          <p:cNvPr id="53" name="文本框 52"/>
          <p:cNvSpPr txBox="1"/>
          <p:nvPr/>
        </p:nvSpPr>
        <p:spPr>
          <a:xfrm>
            <a:off x="639688" y="3658338"/>
            <a:ext cx="2855844" cy="306705"/>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一次算一个乘法</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加法：</a:t>
            </a:r>
            <a:endParaRPr lang="zh-CN" altLang="en-US" sz="1400" dirty="0">
              <a:latin typeface="微软雅黑" panose="020B0503020204020204" pitchFamily="34" charset="-122"/>
              <a:ea typeface="微软雅黑" panose="020B0503020204020204" pitchFamily="34" charset="-122"/>
            </a:endParaRPr>
          </a:p>
        </p:txBody>
      </p:sp>
      <p:sp>
        <p:nvSpPr>
          <p:cNvPr id="54" name="文本框 53"/>
          <p:cNvSpPr txBox="1"/>
          <p:nvPr/>
        </p:nvSpPr>
        <p:spPr>
          <a:xfrm>
            <a:off x="8443611" y="3658337"/>
            <a:ext cx="2855844" cy="306705"/>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一次算完整的矩阵：</a:t>
            </a:r>
            <a:endParaRPr lang="zh-CN" altLang="en-US" sz="1400" dirty="0">
              <a:latin typeface="微软雅黑" panose="020B0503020204020204" pitchFamily="34" charset="-122"/>
              <a:ea typeface="微软雅黑" panose="020B0503020204020204" pitchFamily="34" charset="-122"/>
            </a:endParaRPr>
          </a:p>
        </p:txBody>
      </p:sp>
      <p:sp>
        <p:nvSpPr>
          <p:cNvPr id="55" name="AutoShape 15"/>
          <p:cNvSpPr/>
          <p:nvPr/>
        </p:nvSpPr>
        <p:spPr>
          <a:xfrm>
            <a:off x="467172" y="5623041"/>
            <a:ext cx="11340283" cy="714761"/>
          </a:xfrm>
          <a:prstGeom prst="roundRect">
            <a:avLst>
              <a:gd name="adj" fmla="val 0"/>
            </a:avLst>
          </a:prstGeom>
          <a:solidFill>
            <a:schemeClr val="tx1">
              <a:lumMod val="10000"/>
              <a:lumOff val="90000"/>
            </a:schemeClr>
          </a:solidFill>
          <a:ln w="25400" cap="flat" cmpd="sng">
            <a:noFill/>
            <a:prstDash val="solid"/>
            <a:round/>
          </a:ln>
        </p:spPr>
        <p:txBody>
          <a:bodyPr vert="horz" wrap="square" lIns="63500" tIns="63500" rIns="63500" bIns="63500" rtlCol="0" anchor="ctr"/>
          <a:lstStyle/>
          <a:p>
            <a:pPr algn="ctr"/>
          </a:p>
        </p:txBody>
      </p:sp>
      <p:sp>
        <p:nvSpPr>
          <p:cNvPr id="56" name="AutoShape 16"/>
          <p:cNvSpPr/>
          <p:nvPr/>
        </p:nvSpPr>
        <p:spPr>
          <a:xfrm>
            <a:off x="646462" y="5727527"/>
            <a:ext cx="10652993" cy="60887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pPr>
            <a:r>
              <a:rPr lang="en-US" sz="1300" b="0" i="0" u="none" strike="noStrike" dirty="0" err="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NPU通过内置</a:t>
            </a:r>
            <a:r>
              <a:rPr lang="en-US" altLang="zh-CN" sz="1300" b="0" i="0" u="none" strike="noStrike" dirty="0" err="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Vector</a:t>
            </a:r>
            <a:r>
              <a:rPr lang="zh-CN" altLang="en-US" sz="1300" b="0" i="0" u="none" strike="noStrike"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300" b="0" i="0" u="none" strike="noStrike"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Cube Unit等专用硬件单元，将原本复杂的矩阵运算拆解为底层硬件级的并行操作，效率较通用CPU提升了</a:t>
            </a:r>
            <a:r>
              <a:rPr lang="en-US" sz="1300" b="1" i="0" u="none" strike="noStrike" dirty="0">
                <a:solidFill>
                  <a:srgbClr val="EF4444"/>
                </a:solidFill>
                <a:latin typeface="Noto Sans SC" panose="020B0200000000000000" charset="-122"/>
                <a:ea typeface="Noto Sans SC" panose="020B0200000000000000" charset="-122"/>
                <a:cs typeface="Noto Sans SC" panose="020B0200000000000000" charset="-122"/>
                <a:sym typeface="Noto Sans SC" panose="020B0200000000000000" charset="-122"/>
              </a:rPr>
              <a:t>数个数量级</a:t>
            </a:r>
            <a:r>
              <a:rPr lang="en-US" sz="1300" b="0" i="0" u="none" strike="noStrike"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，是AI时代的算力基石。</a:t>
            </a:r>
            <a:endParaRPr lang="en-US" sz="1300" b="0" i="0" u="none" strike="noStrike"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3"/>
          <p:cNvSpPr/>
          <p:nvPr/>
        </p:nvSpPr>
        <p:spPr>
          <a:xfrm>
            <a:off x="764223" y="257629"/>
            <a:ext cx="10668000" cy="635000"/>
          </a:xfrm>
          <a:prstGeom prst="rect">
            <a:avLst/>
          </a:prstGeom>
          <a:noFill/>
          <a:ln w="12700" cap="flat" cmpd="sng">
            <a:noFill/>
            <a:prstDash val="solid"/>
            <a:round/>
          </a:ln>
        </p:spPr>
        <p:txBody>
          <a:bodyPr vert="horz" wrap="square" lIns="0" tIns="0" rIns="0" bIns="0" rtlCol="0" anchor="ctr" anchorCtr="0"/>
          <a:lstStyle/>
          <a:p>
            <a:pPr>
              <a:defRPr/>
            </a:pPr>
            <a:r>
              <a:rPr lang="en-US" sz="2800" b="1" dirty="0" err="1">
                <a:solidFill>
                  <a:prstClr val="black"/>
                </a:solidFill>
                <a:latin typeface="微软雅黑" panose="020B0503020204020204" pitchFamily="34" charset="-122"/>
                <a:ea typeface="微软雅黑" panose="020B0503020204020204" pitchFamily="34" charset="-122"/>
                <a:cs typeface="Arial" panose="020B0604020202020204" pitchFamily="34" charset="0"/>
                <a:sym typeface="Noto Sans SC" panose="020B0200000000000000" charset="-122"/>
              </a:rPr>
              <a:t>异构计算：让专业的硬件干专业的事</a:t>
            </a:r>
            <a:endParaRPr 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9" name="AutoShape 4"/>
          <p:cNvSpPr/>
          <p:nvPr/>
        </p:nvSpPr>
        <p:spPr>
          <a:xfrm>
            <a:off x="764223" y="1146629"/>
            <a:ext cx="10668000" cy="762000"/>
          </a:xfrm>
          <a:prstGeom prst="roundRect">
            <a:avLst>
              <a:gd name="adj" fmla="val 0"/>
            </a:avLst>
          </a:prstGeom>
          <a:solidFill>
            <a:schemeClr val="tx1">
              <a:lumMod val="10000"/>
              <a:lumOff val="90000"/>
            </a:schemeClr>
          </a:solidFill>
          <a:ln w="25400" cap="flat" cmpd="sng">
            <a:noFill/>
            <a:prstDash val="solid"/>
            <a:round/>
          </a:ln>
        </p:spPr>
        <p:txBody>
          <a:bodyPr vert="horz" wrap="square" lIns="63500" tIns="63500" rIns="63500" bIns="63500" rtlCol="0" anchor="ctr"/>
          <a:lstStyle/>
          <a:p>
            <a:pPr algn="ctr"/>
          </a:p>
        </p:txBody>
      </p:sp>
      <p:sp>
        <p:nvSpPr>
          <p:cNvPr id="10" name="AutoShape 5"/>
          <p:cNvSpPr/>
          <p:nvPr/>
        </p:nvSpPr>
        <p:spPr>
          <a:xfrm>
            <a:off x="764223" y="1146629"/>
            <a:ext cx="76200" cy="762000"/>
          </a:xfrm>
          <a:prstGeom prst="roundRect">
            <a:avLst>
              <a:gd name="adj" fmla="val 0"/>
            </a:avLst>
          </a:prstGeom>
          <a:solidFill>
            <a:schemeClr val="bg1"/>
          </a:solidFill>
          <a:ln w="25400" cap="flat" cmpd="sng">
            <a:noFill/>
            <a:prstDash val="solid"/>
            <a:round/>
          </a:ln>
        </p:spPr>
        <p:txBody>
          <a:bodyPr vert="horz" wrap="square" lIns="0" tIns="0" rIns="0" bIns="0" rtlCol="0" anchor="ctr" anchorCtr="0"/>
          <a:lstStyle/>
          <a:p>
            <a:pPr algn="ctr">
              <a:defRPr/>
            </a:pPr>
          </a:p>
        </p:txBody>
      </p:sp>
      <p:sp>
        <p:nvSpPr>
          <p:cNvPr id="11" name="AutoShape 6"/>
          <p:cNvSpPr/>
          <p:nvPr/>
        </p:nvSpPr>
        <p:spPr>
          <a:xfrm>
            <a:off x="1018223" y="1210129"/>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0" i="0" u="none" strike="noStrike"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异构计算并非用NPU取代CPU，而是构建协同工作的高效系统。通过合理分工，让不同硬件发挥各自的核心优势，实现“1+1&gt;2”的计算效能飞跃。</a:t>
            </a:r>
            <a:endParaRPr lang="en-US" sz="1100" dirty="0"/>
          </a:p>
        </p:txBody>
      </p:sp>
      <p:sp>
        <p:nvSpPr>
          <p:cNvPr id="12" name="AutoShape 7"/>
          <p:cNvSpPr/>
          <p:nvPr/>
        </p:nvSpPr>
        <p:spPr>
          <a:xfrm>
            <a:off x="764223" y="2416629"/>
            <a:ext cx="5270500" cy="1714500"/>
          </a:xfrm>
          <a:prstGeom prst="roundRect">
            <a:avLst>
              <a:gd name="adj" fmla="val 0"/>
            </a:avLst>
          </a:prstGeom>
          <a:solidFill>
            <a:srgbClr val="FFFFFF">
              <a:alpha val="65000"/>
            </a:srgbClr>
          </a:solidFill>
          <a:ln w="12700" cap="flat" cmpd="sng">
            <a:solidFill>
              <a:schemeClr val="tx1">
                <a:alpha val="40000"/>
              </a:schemeClr>
            </a:solidFill>
            <a:prstDash val="solid"/>
            <a:round/>
          </a:ln>
        </p:spPr>
        <p:txBody>
          <a:bodyPr vert="horz" wrap="square" lIns="0" tIns="0" rIns="0" bIns="0" rtlCol="0" anchor="ctr" anchorCtr="0"/>
          <a:lstStyle/>
          <a:p>
            <a:pPr algn="ctr">
              <a:defRPr/>
            </a:pPr>
          </a:p>
        </p:txBody>
      </p:sp>
      <p:pic>
        <p:nvPicPr>
          <p:cNvPr id="13" name="Picture 8"/>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18223" y="2607129"/>
            <a:ext cx="406400" cy="406400"/>
          </a:xfrm>
          <a:prstGeom prst="rect">
            <a:avLst/>
          </a:prstGeom>
        </p:spPr>
      </p:pic>
      <p:sp>
        <p:nvSpPr>
          <p:cNvPr id="14" name="AutoShape 9"/>
          <p:cNvSpPr/>
          <p:nvPr/>
        </p:nvSpPr>
        <p:spPr>
          <a:xfrm>
            <a:off x="1589723" y="2569029"/>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CPU：系统的“指挥中心”与全能老板</a:t>
            </a:r>
            <a:endParaRPr lang="en-US" sz="1100"/>
          </a:p>
        </p:txBody>
      </p:sp>
      <p:cxnSp>
        <p:nvCxnSpPr>
          <p:cNvPr id="15" name="Connector 10"/>
          <p:cNvCxnSpPr/>
          <p:nvPr/>
        </p:nvCxnSpPr>
        <p:spPr>
          <a:xfrm rot="-9167">
            <a:off x="1018231" y="3108779"/>
            <a:ext cx="4762500" cy="12700"/>
          </a:xfrm>
          <a:prstGeom prst="straightConnector1">
            <a:avLst/>
          </a:prstGeom>
          <a:solidFill>
            <a:srgbClr val="DEE0E3">
              <a:alpha val="100000"/>
            </a:srgbClr>
          </a:solidFill>
          <a:ln w="12700" cap="flat" cmpd="sng">
            <a:solidFill>
              <a:srgbClr val="1F2937">
                <a:alpha val="10000"/>
              </a:srgbClr>
            </a:solidFill>
            <a:prstDash val="dash"/>
            <a:round/>
            <a:headEnd type="none" w="med" len="med"/>
            <a:tailEnd type="none" w="med" len="med"/>
          </a:ln>
        </p:spPr>
      </p:cxnSp>
      <p:sp>
        <p:nvSpPr>
          <p:cNvPr id="16" name="AutoShape 11"/>
          <p:cNvSpPr/>
          <p:nvPr/>
        </p:nvSpPr>
        <p:spPr>
          <a:xfrm>
            <a:off x="1018223" y="3242129"/>
            <a:ext cx="4762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擅长处理复杂的逻辑判断、串行任务与整体流程控制。如同项目总负责人，负责解析指令、分配工作，掌控全局节奏</a:t>
            </a:r>
            <a:r>
              <a:rPr lang="en-US" sz="13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17" name="AutoShape 12"/>
          <p:cNvSpPr/>
          <p:nvPr/>
        </p:nvSpPr>
        <p:spPr>
          <a:xfrm>
            <a:off x="764223" y="4385129"/>
            <a:ext cx="5270500" cy="1714500"/>
          </a:xfrm>
          <a:prstGeom prst="roundRect">
            <a:avLst>
              <a:gd name="adj" fmla="val 0"/>
            </a:avLst>
          </a:prstGeom>
          <a:solidFill>
            <a:srgbClr val="FFFFFF">
              <a:alpha val="65000"/>
            </a:srgbClr>
          </a:solidFill>
          <a:ln w="12700" cap="flat" cmpd="sng">
            <a:solidFill>
              <a:schemeClr val="tx1">
                <a:alpha val="40000"/>
              </a:schemeClr>
            </a:solidFill>
            <a:prstDash val="solid"/>
            <a:round/>
          </a:ln>
        </p:spPr>
        <p:txBody>
          <a:bodyPr vert="horz" wrap="square" lIns="0" tIns="0" rIns="0" bIns="0" rtlCol="0" anchor="ctr" anchorCtr="0"/>
          <a:lstStyle/>
          <a:p>
            <a:pPr algn="ctr">
              <a:defRPr/>
            </a:pPr>
          </a:p>
        </p:txBody>
      </p:sp>
      <p:pic>
        <p:nvPicPr>
          <p:cNvPr id="18" name="Picture 13"/>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18223" y="4575629"/>
            <a:ext cx="406400" cy="406400"/>
          </a:xfrm>
          <a:prstGeom prst="rect">
            <a:avLst/>
          </a:prstGeom>
        </p:spPr>
      </p:pic>
      <p:sp>
        <p:nvSpPr>
          <p:cNvPr id="19" name="AutoShape 14"/>
          <p:cNvSpPr/>
          <p:nvPr/>
        </p:nvSpPr>
        <p:spPr>
          <a:xfrm>
            <a:off x="1589723" y="4537529"/>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NPU：AI的“超级工人”与专职计算手</a:t>
            </a:r>
            <a:endParaRPr lang="en-US" sz="1100"/>
          </a:p>
        </p:txBody>
      </p:sp>
      <p:cxnSp>
        <p:nvCxnSpPr>
          <p:cNvPr id="20" name="Connector 15"/>
          <p:cNvCxnSpPr/>
          <p:nvPr/>
        </p:nvCxnSpPr>
        <p:spPr>
          <a:xfrm rot="-9167">
            <a:off x="1018231" y="5077279"/>
            <a:ext cx="4762500" cy="12700"/>
          </a:xfrm>
          <a:prstGeom prst="straightConnector1">
            <a:avLst/>
          </a:prstGeom>
          <a:solidFill>
            <a:srgbClr val="DEE0E3">
              <a:alpha val="100000"/>
            </a:srgbClr>
          </a:solidFill>
          <a:ln w="12700" cap="flat" cmpd="sng">
            <a:solidFill>
              <a:srgbClr val="1F2937">
                <a:alpha val="10000"/>
              </a:srgbClr>
            </a:solidFill>
            <a:prstDash val="dash"/>
            <a:round/>
            <a:headEnd type="none" w="med" len="med"/>
            <a:tailEnd type="none" w="med" len="med"/>
          </a:ln>
        </p:spPr>
      </p:cxnSp>
      <p:sp>
        <p:nvSpPr>
          <p:cNvPr id="21" name="AutoShape 16"/>
          <p:cNvSpPr/>
          <p:nvPr/>
        </p:nvSpPr>
        <p:spPr>
          <a:xfrm>
            <a:off x="1018223" y="5185229"/>
            <a:ext cx="4762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专为AI而生，擅长执行大规模、高并行的矩阵与向量运算。专职攻克计算密集型任务，将最耗时的核心运算高效完成</a:t>
            </a:r>
            <a:r>
              <a:rPr lang="en-US" sz="13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cxnSp>
        <p:nvCxnSpPr>
          <p:cNvPr id="22" name="Connector 17"/>
          <p:cNvCxnSpPr/>
          <p:nvPr/>
        </p:nvCxnSpPr>
        <p:spPr>
          <a:xfrm rot="5388145">
            <a:off x="4447223" y="4251790"/>
            <a:ext cx="3683000" cy="12700"/>
          </a:xfrm>
          <a:prstGeom prst="straightConnector1">
            <a:avLst/>
          </a:prstGeom>
          <a:solidFill>
            <a:srgbClr val="DEE0E3">
              <a:alpha val="100000"/>
            </a:srgbClr>
          </a:solidFill>
          <a:ln w="12700" cap="flat" cmpd="sng">
            <a:solidFill>
              <a:srgbClr val="1F2937">
                <a:alpha val="15000"/>
              </a:srgbClr>
            </a:solidFill>
            <a:prstDash val="solid"/>
            <a:round/>
            <a:headEnd type="none" w="med" len="med"/>
            <a:tailEnd type="none" w="med" len="med"/>
          </a:ln>
        </p:spPr>
      </p:cxnSp>
      <p:pic>
        <p:nvPicPr>
          <p:cNvPr id="27" name="图片 26"/>
          <p:cNvPicPr>
            <a:picLocks noChangeAspect="1"/>
          </p:cNvPicPr>
          <p:nvPr/>
        </p:nvPicPr>
        <p:blipFill>
          <a:blip r:embed="rId5" cstate="screen"/>
          <a:stretch>
            <a:fillRect/>
          </a:stretch>
        </p:blipFill>
        <p:spPr>
          <a:xfrm>
            <a:off x="6479223" y="2365389"/>
            <a:ext cx="5093250" cy="3718651"/>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3"/>
          <p:cNvSpPr/>
          <p:nvPr/>
        </p:nvSpPr>
        <p:spPr>
          <a:xfrm>
            <a:off x="749709" y="373744"/>
            <a:ext cx="10668000" cy="571500"/>
          </a:xfrm>
          <a:prstGeom prst="rect">
            <a:avLst/>
          </a:prstGeom>
          <a:noFill/>
          <a:ln w="12700" cap="flat" cmpd="sng">
            <a:noFill/>
            <a:prstDash val="solid"/>
            <a:round/>
          </a:ln>
        </p:spPr>
        <p:txBody>
          <a:bodyPr vert="horz" wrap="square" lIns="0" tIns="0" rIns="0" bIns="0" rtlCol="0" anchor="ctr" anchorCtr="0"/>
          <a:lstStyle/>
          <a:p>
            <a:pPr>
              <a:defRPr/>
            </a:pPr>
            <a:r>
              <a:rPr lang="en-US" sz="2800" b="1" dirty="0" err="1">
                <a:solidFill>
                  <a:prstClr val="black"/>
                </a:solidFill>
                <a:latin typeface="微软雅黑" panose="020B0503020204020204" pitchFamily="34" charset="-122"/>
                <a:ea typeface="微软雅黑" panose="020B0503020204020204" pitchFamily="34" charset="-122"/>
                <a:cs typeface="Arial" panose="020B0604020202020204" pitchFamily="34" charset="0"/>
                <a:sym typeface="Noto Sans SC" panose="020B0200000000000000" charset="-122"/>
              </a:rPr>
              <a:t>Host与Device：计算任务的“老板”与“工人</a:t>
            </a:r>
            <a:r>
              <a:rPr 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sym typeface="Noto Sans SC" panose="020B0200000000000000" charset="-122"/>
              </a:rPr>
              <a:t>”</a:t>
            </a:r>
            <a:endParaRPr 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5" name="AutoShape 4"/>
          <p:cNvSpPr/>
          <p:nvPr/>
        </p:nvSpPr>
        <p:spPr>
          <a:xfrm>
            <a:off x="749709" y="1516744"/>
            <a:ext cx="5334000" cy="2095500"/>
          </a:xfrm>
          <a:prstGeom prst="roundRect">
            <a:avLst>
              <a:gd name="adj" fmla="val 0"/>
            </a:avLst>
          </a:prstGeom>
          <a:solidFill>
            <a:srgbClr val="FFFFFF">
              <a:alpha val="75000"/>
            </a:srgbClr>
          </a:solidFill>
          <a:ln w="12700" cap="flat" cmpd="sng">
            <a:solidFill>
              <a:schemeClr val="bg1"/>
            </a:solidFill>
            <a:prstDash val="solid"/>
            <a:round/>
          </a:ln>
        </p:spPr>
        <p:txBody>
          <a:bodyPr vert="horz" wrap="square" lIns="0" tIns="0" rIns="0" bIns="0" rtlCol="0" anchor="ctr" anchorCtr="0"/>
          <a:lstStyle/>
          <a:p>
            <a:pPr algn="ctr">
              <a:defRPr/>
            </a:pPr>
          </a:p>
        </p:txBody>
      </p:sp>
      <p:pic>
        <p:nvPicPr>
          <p:cNvPr id="6" name="Picture 5"/>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40209" y="1707244"/>
            <a:ext cx="304800" cy="304800"/>
          </a:xfrm>
          <a:prstGeom prst="rect">
            <a:avLst/>
          </a:prstGeom>
        </p:spPr>
      </p:pic>
      <p:sp>
        <p:nvSpPr>
          <p:cNvPr id="7" name="AutoShape 6"/>
          <p:cNvSpPr/>
          <p:nvPr/>
        </p:nvSpPr>
        <p:spPr>
          <a:xfrm>
            <a:off x="1384709" y="1669144"/>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Host (CPU侧)：统筹全局的“工地老板”</a:t>
            </a:r>
            <a:endParaRPr lang="en-US" sz="1100"/>
          </a:p>
        </p:txBody>
      </p:sp>
      <p:cxnSp>
        <p:nvCxnSpPr>
          <p:cNvPr id="8" name="Connector 7"/>
          <p:cNvCxnSpPr/>
          <p:nvPr/>
        </p:nvCxnSpPr>
        <p:spPr>
          <a:xfrm rot="-8814">
            <a:off x="940217" y="2208894"/>
            <a:ext cx="4953016" cy="12700"/>
          </a:xfrm>
          <a:prstGeom prst="straightConnector1">
            <a:avLst/>
          </a:prstGeom>
          <a:solidFill>
            <a:srgbClr val="DEE0E3">
              <a:alpha val="100000"/>
            </a:srgbClr>
          </a:solidFill>
          <a:ln w="12700" cap="flat" cmpd="sng">
            <a:solidFill>
              <a:srgbClr val="EF4444">
                <a:alpha val="30000"/>
              </a:srgbClr>
            </a:solidFill>
            <a:prstDash val="dash"/>
            <a:round/>
            <a:headEnd type="none" w="med" len="med"/>
            <a:tailEnd type="none" w="med" len="med"/>
          </a:ln>
        </p:spPr>
      </p:cxnSp>
      <p:sp>
        <p:nvSpPr>
          <p:cNvPr id="9" name="AutoShape 8"/>
          <p:cNvSpPr/>
          <p:nvPr/>
        </p:nvSpPr>
        <p:spPr>
          <a:xfrm>
            <a:off x="940209" y="2342244"/>
            <a:ext cx="4953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负责解析程序逻辑并分配任务，将数据从自身内存搬运至Device内存；在计算完成后，作为“验收方”将结果取回，掌控整个流程的节奏与调度。</a:t>
            </a:r>
            <a:endParaRPr lang="en-US" sz="1100"/>
          </a:p>
        </p:txBody>
      </p:sp>
      <p:sp>
        <p:nvSpPr>
          <p:cNvPr id="10" name="AutoShape 9"/>
          <p:cNvSpPr/>
          <p:nvPr/>
        </p:nvSpPr>
        <p:spPr>
          <a:xfrm>
            <a:off x="749709" y="3929744"/>
            <a:ext cx="5334000" cy="2095500"/>
          </a:xfrm>
          <a:prstGeom prst="roundRect">
            <a:avLst>
              <a:gd name="adj" fmla="val 0"/>
            </a:avLst>
          </a:prstGeom>
          <a:solidFill>
            <a:srgbClr val="FFFFFF">
              <a:alpha val="75000"/>
            </a:srgbClr>
          </a:solidFill>
          <a:ln w="12700" cap="flat" cmpd="sng">
            <a:solidFill>
              <a:schemeClr val="bg1"/>
            </a:solidFill>
            <a:prstDash val="solid"/>
            <a:round/>
          </a:ln>
        </p:spPr>
        <p:txBody>
          <a:bodyPr vert="horz" wrap="square" lIns="0" tIns="0" rIns="0" bIns="0" rtlCol="0" anchor="ctr" anchorCtr="0"/>
          <a:lstStyle/>
          <a:p>
            <a:pPr algn="ctr">
              <a:defRPr/>
            </a:pPr>
          </a:p>
        </p:txBody>
      </p:sp>
      <p:pic>
        <p:nvPicPr>
          <p:cNvPr id="11" name="Picture 10"/>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40209" y="4120244"/>
            <a:ext cx="304800" cy="304800"/>
          </a:xfrm>
          <a:prstGeom prst="rect">
            <a:avLst/>
          </a:prstGeom>
        </p:spPr>
      </p:pic>
      <p:sp>
        <p:nvSpPr>
          <p:cNvPr id="12" name="AutoShape 11"/>
          <p:cNvSpPr/>
          <p:nvPr/>
        </p:nvSpPr>
        <p:spPr>
          <a:xfrm>
            <a:off x="1384709" y="4082144"/>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Device (NPU侧)：高效执行的“施工队”</a:t>
            </a:r>
            <a:endParaRPr lang="en-US" sz="1100"/>
          </a:p>
        </p:txBody>
      </p:sp>
      <p:cxnSp>
        <p:nvCxnSpPr>
          <p:cNvPr id="13" name="Connector 12"/>
          <p:cNvCxnSpPr/>
          <p:nvPr/>
        </p:nvCxnSpPr>
        <p:spPr>
          <a:xfrm rot="-8814">
            <a:off x="940217" y="4621894"/>
            <a:ext cx="4953016" cy="12700"/>
          </a:xfrm>
          <a:prstGeom prst="straightConnector1">
            <a:avLst/>
          </a:prstGeom>
          <a:solidFill>
            <a:srgbClr val="DEE0E3">
              <a:alpha val="100000"/>
            </a:srgbClr>
          </a:solidFill>
          <a:ln w="12700" cap="flat" cmpd="sng">
            <a:solidFill>
              <a:srgbClr val="EF4444">
                <a:alpha val="30000"/>
              </a:srgbClr>
            </a:solidFill>
            <a:prstDash val="dash"/>
            <a:round/>
            <a:headEnd type="none" w="med" len="med"/>
            <a:tailEnd type="none" w="med" len="med"/>
          </a:ln>
        </p:spPr>
      </p:cxnSp>
      <p:sp>
        <p:nvSpPr>
          <p:cNvPr id="14" name="AutoShape 13"/>
          <p:cNvSpPr/>
          <p:nvPr/>
        </p:nvSpPr>
        <p:spPr>
          <a:xfrm>
            <a:off x="940209" y="4755244"/>
            <a:ext cx="4953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专注于执行密集型的AI计算任务，是算力的主要输出端。接收Host的指令与数据后高速运算，完成后向Host发送完成信号，等待结果被取回。</a:t>
            </a:r>
            <a:endParaRPr lang="en-US" sz="1100"/>
          </a:p>
        </p:txBody>
      </p:sp>
      <p:cxnSp>
        <p:nvCxnSpPr>
          <p:cNvPr id="15" name="Connector 14"/>
          <p:cNvCxnSpPr/>
          <p:nvPr/>
        </p:nvCxnSpPr>
        <p:spPr>
          <a:xfrm rot="5390316">
            <a:off x="4210450" y="3764662"/>
            <a:ext cx="4508518" cy="12700"/>
          </a:xfrm>
          <a:prstGeom prst="straightConnector1">
            <a:avLst/>
          </a:prstGeom>
          <a:solidFill>
            <a:srgbClr val="DEE0E3">
              <a:alpha val="100000"/>
            </a:srgbClr>
          </a:solidFill>
          <a:ln w="12700" cap="flat" cmpd="sng">
            <a:solidFill>
              <a:schemeClr val="bg1"/>
            </a:solidFill>
            <a:prstDash val="solid"/>
            <a:round/>
            <a:headEnd type="none" w="med" len="med"/>
            <a:tailEnd type="none" w="med" len="med"/>
          </a:ln>
        </p:spPr>
      </p:cxnSp>
      <p:pic>
        <p:nvPicPr>
          <p:cNvPr id="16" name="Picture 15"/>
          <p:cNvPicPr>
            <a:picLocks noChangeAspect="1"/>
          </p:cNvPicPr>
          <p:nvPr/>
        </p:nvPicPr>
        <p:blipFill>
          <a:blip r:embed="rId5" cstate="screen"/>
          <a:srcRect/>
          <a:stretch>
            <a:fillRect/>
          </a:stretch>
        </p:blipFill>
        <p:spPr>
          <a:xfrm>
            <a:off x="6718709" y="1516744"/>
            <a:ext cx="4826000" cy="2540000"/>
          </a:xfrm>
          <a:prstGeom prst="rect">
            <a:avLst/>
          </a:prstGeom>
          <a:noFill/>
          <a:ln w="25400" cap="flat" cmpd="sng">
            <a:noFill/>
            <a:prstDash val="solid"/>
            <a:round/>
          </a:ln>
        </p:spPr>
      </p:pic>
      <p:sp>
        <p:nvSpPr>
          <p:cNvPr id="17" name="AutoShape 16"/>
          <p:cNvSpPr/>
          <p:nvPr/>
        </p:nvSpPr>
        <p:spPr>
          <a:xfrm>
            <a:off x="6718709" y="4310744"/>
            <a:ext cx="4826000" cy="1714500"/>
          </a:xfrm>
          <a:prstGeom prst="roundRect">
            <a:avLst>
              <a:gd name="adj" fmla="val 0"/>
            </a:avLst>
          </a:prstGeom>
          <a:solidFill>
            <a:srgbClr val="E9E9EA"/>
          </a:solidFill>
          <a:ln w="25400" cap="flat" cmpd="sng">
            <a:noFill/>
            <a:prstDash val="solid"/>
            <a:round/>
          </a:ln>
        </p:spPr>
        <p:txBody>
          <a:bodyPr vert="horz" wrap="square" lIns="0" tIns="0" rIns="0" bIns="0" rtlCol="0" anchor="ctr" anchorCtr="0"/>
          <a:lstStyle/>
          <a:p>
            <a:pPr algn="ctr">
              <a:defRPr/>
            </a:pPr>
          </a:p>
        </p:txBody>
      </p:sp>
      <p:sp>
        <p:nvSpPr>
          <p:cNvPr id="18" name="AutoShape 17"/>
          <p:cNvSpPr/>
          <p:nvPr/>
        </p:nvSpPr>
        <p:spPr>
          <a:xfrm>
            <a:off x="6845709" y="4437744"/>
            <a:ext cx="4572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高效协作闭环流程</a:t>
            </a:r>
            <a:endParaRPr lang="en-US" sz="1100" dirty="0"/>
          </a:p>
        </p:txBody>
      </p:sp>
      <p:cxnSp>
        <p:nvCxnSpPr>
          <p:cNvPr id="19" name="Connector 18"/>
          <p:cNvCxnSpPr/>
          <p:nvPr/>
        </p:nvCxnSpPr>
        <p:spPr>
          <a:xfrm rot="-9822">
            <a:off x="6845718" y="4875894"/>
            <a:ext cx="4445018" cy="12700"/>
          </a:xfrm>
          <a:prstGeom prst="straightConnector1">
            <a:avLst/>
          </a:prstGeom>
          <a:solidFill>
            <a:srgbClr val="DEE0E3">
              <a:alpha val="100000"/>
            </a:srgbClr>
          </a:solidFill>
          <a:ln w="12700" cap="flat" cmpd="sng">
            <a:solidFill>
              <a:srgbClr val="EF4444">
                <a:alpha val="60000"/>
              </a:srgbClr>
            </a:solidFill>
            <a:prstDash val="solid"/>
            <a:round/>
            <a:headEnd type="none" w="med" len="med"/>
            <a:tailEnd type="none" w="med" len="med"/>
          </a:ln>
        </p:spPr>
      </p:cxnSp>
      <p:sp>
        <p:nvSpPr>
          <p:cNvPr id="20" name="AutoShape 19"/>
          <p:cNvSpPr/>
          <p:nvPr/>
        </p:nvSpPr>
        <p:spPr>
          <a:xfrm>
            <a:off x="6845709" y="5009244"/>
            <a:ext cx="4572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Host规划分发 → 传输数据至Device内存 → NPU执行并行计算 → 完成后通知Host → Host回收结果数据。这种分工让CPU聚焦调度，NPU聚焦算力，最大化系统效率。</a:t>
            </a:r>
            <a:endParaRPr lang="en-US" sz="11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45776" y="290712"/>
            <a:ext cx="10716504" cy="430887"/>
          </a:xfrm>
          <a:prstGeom prst="rect">
            <a:avLst/>
          </a:prstGeom>
          <a:noFill/>
        </p:spPr>
        <p:txBody>
          <a:bodyPr wrap="square" lIns="0" tIns="0" rIns="0" bIns="0" rtlCol="0">
            <a:spAutoFit/>
          </a:bodyPr>
          <a:lstStyle/>
          <a:p>
            <a:pPr>
              <a:defRPr/>
            </a:pPr>
            <a:r>
              <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硬件产品介绍</a:t>
            </a:r>
            <a:endPar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03" name="矩形 102"/>
          <p:cNvSpPr/>
          <p:nvPr/>
        </p:nvSpPr>
        <p:spPr>
          <a:xfrm>
            <a:off x="529229" y="827670"/>
            <a:ext cx="11154814" cy="5442480"/>
          </a:xfrm>
          <a:prstGeom prst="rect">
            <a:avLst/>
          </a:prstGeom>
          <a:solidFill>
            <a:sysClr val="window" lastClr="FFFFFF"/>
          </a:solidFill>
          <a:ln w="12700" cap="flat" cmpd="sng" algn="ctr">
            <a:solidFill>
              <a:schemeClr val="bg1">
                <a:alpha val="50000"/>
              </a:schemeClr>
            </a:solidFill>
            <a:prstDash val="solid"/>
            <a:miter lim="800000"/>
          </a:ln>
          <a:effectLst/>
        </p:spPr>
        <p:txBody>
          <a:bodyPr rot="0" spcFirstLastPara="0" vertOverflow="overflow" horzOverflow="overflow" vert="horz" wrap="square" lIns="91347" tIns="45673" rIns="91347" bIns="45673" numCol="1" spcCol="0" rtlCol="0" fromWordArt="0" anchor="ctr" anchorCtr="0" forceAA="0" compatLnSpc="1">
            <a:noAutofit/>
          </a:bodyPr>
          <a:lstStyle/>
          <a:p>
            <a:pPr>
              <a:lnSpc>
                <a:spcPct val="150000"/>
              </a:lnSpc>
            </a:pPr>
            <a:endParaRPr lang="en-US" altLang="zh-CN" sz="2400" kern="0" dirty="0">
              <a:solidFill>
                <a:srgbClr val="1D1D1A"/>
              </a:solidFill>
              <a:latin typeface="微软雅黑" panose="020B0503020204020204" pitchFamily="34" charset="-122"/>
            </a:endParaRPr>
          </a:p>
        </p:txBody>
      </p:sp>
      <p:pic>
        <p:nvPicPr>
          <p:cNvPr id="104" name="图片 103"/>
          <p:cNvPicPr>
            <a:picLocks noChangeAspect="1"/>
          </p:cNvPicPr>
          <p:nvPr/>
        </p:nvPicPr>
        <p:blipFill>
          <a:blip r:embed="rId1" cstate="screen"/>
          <a:stretch>
            <a:fillRect/>
          </a:stretch>
        </p:blipFill>
        <p:spPr>
          <a:xfrm>
            <a:off x="10313950" y="1037948"/>
            <a:ext cx="990774" cy="73093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05" name="图片 104"/>
          <p:cNvPicPr>
            <a:picLocks noChangeAspect="1"/>
          </p:cNvPicPr>
          <p:nvPr/>
        </p:nvPicPr>
        <p:blipFill>
          <a:blip r:embed="rId2" cstate="screen"/>
          <a:stretch>
            <a:fillRect/>
          </a:stretch>
        </p:blipFill>
        <p:spPr>
          <a:xfrm>
            <a:off x="8750176" y="1037948"/>
            <a:ext cx="980899" cy="73093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06" name="Picture 2" descr="Electrical substation architecture"/>
          <p:cNvPicPr>
            <a:picLocks noChangeAspect="1" noChangeArrowheads="1"/>
          </p:cNvPicPr>
          <p:nvPr/>
        </p:nvPicPr>
        <p:blipFill rotWithShape="1">
          <a:blip r:embed="rId3" cstate="screen"/>
          <a:srcRect/>
          <a:stretch>
            <a:fillRect/>
          </a:stretch>
        </p:blipFill>
        <p:spPr bwMode="auto">
          <a:xfrm>
            <a:off x="7178688" y="1037945"/>
            <a:ext cx="988616" cy="73094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07" name="图片 106"/>
          <p:cNvPicPr/>
          <p:nvPr/>
        </p:nvPicPr>
        <p:blipFill rotWithShape="1">
          <a:blip r:embed="rId4" cstate="screen"/>
          <a:srcRect/>
          <a:stretch>
            <a:fillRect/>
          </a:stretch>
        </p:blipFill>
        <p:spPr>
          <a:xfrm>
            <a:off x="5605794" y="1036333"/>
            <a:ext cx="990024" cy="73498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08" name="图片 107"/>
          <p:cNvPicPr>
            <a:picLocks noChangeAspect="1"/>
          </p:cNvPicPr>
          <p:nvPr/>
        </p:nvPicPr>
        <p:blipFill rotWithShape="1">
          <a:blip r:embed="rId5" cstate="screen"/>
          <a:srcRect l="17671"/>
          <a:stretch>
            <a:fillRect/>
          </a:stretch>
        </p:blipFill>
        <p:spPr>
          <a:xfrm>
            <a:off x="2415906" y="1027972"/>
            <a:ext cx="1034119" cy="75591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scene3d>
            <a:camera prst="orthographicFront"/>
            <a:lightRig rig="threePt" dir="t"/>
          </a:scene3d>
          <a:sp3d>
            <a:bevelT/>
          </a:sp3d>
        </p:spPr>
      </p:pic>
      <p:pic>
        <p:nvPicPr>
          <p:cNvPr id="109" name="图片 108"/>
          <p:cNvPicPr>
            <a:picLocks noChangeAspect="1"/>
          </p:cNvPicPr>
          <p:nvPr/>
        </p:nvPicPr>
        <p:blipFill rotWithShape="1">
          <a:blip r:embed="rId6" cstate="screen"/>
          <a:srcRect/>
          <a:stretch>
            <a:fillRect/>
          </a:stretch>
        </p:blipFill>
        <p:spPr>
          <a:xfrm>
            <a:off x="4032897" y="1038438"/>
            <a:ext cx="990024" cy="74545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10" name="图片 109"/>
          <p:cNvPicPr>
            <a:picLocks noChangeAspect="1"/>
          </p:cNvPicPr>
          <p:nvPr/>
        </p:nvPicPr>
        <p:blipFill>
          <a:blip r:embed="rId7" cstate="screen"/>
          <a:stretch>
            <a:fillRect/>
          </a:stretch>
        </p:blipFill>
        <p:spPr>
          <a:xfrm>
            <a:off x="849929" y="1035925"/>
            <a:ext cx="983105" cy="73296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11" name="矩形 128"/>
          <p:cNvSpPr txBox="1"/>
          <p:nvPr/>
        </p:nvSpPr>
        <p:spPr>
          <a:xfrm>
            <a:off x="732969" y="1954754"/>
            <a:ext cx="1217021" cy="934720"/>
          </a:xfrm>
          <a:prstGeom prst="rect">
            <a:avLst/>
          </a:prstGeom>
          <a:ln w="12700">
            <a:miter lim="400000"/>
          </a:ln>
        </p:spPr>
        <p:txBody>
          <a:bodyPr wrap="square" lIns="15471" tIns="15471" rIns="15471" bIns="15471" anchor="ctr" anchorCtr="0">
            <a:spAutoFit/>
          </a:bodyPr>
          <a:lstStyle>
            <a:defPPr>
              <a:defRPr lang="en-US"/>
            </a:defPPr>
            <a:lvl1pPr algn="ctr" defTabSz="187960">
              <a:lnSpc>
                <a:spcPct val="120000"/>
              </a:lnSpc>
              <a:defRPr sz="1600" b="0">
                <a:solidFill>
                  <a:srgbClr val="FFFFFF"/>
                </a:solidFill>
                <a:latin typeface="Huawei Sans" panose="020B0A04020102020204"/>
                <a:cs typeface="Huawei Sans" panose="020B0A04020102020204"/>
              </a:defRPr>
            </a:lvl1pPr>
          </a:lstStyle>
          <a:p>
            <a:r>
              <a:rPr lang="en-US" altLang="zh-CN" sz="1400" b="1" dirty="0">
                <a:solidFill>
                  <a:srgbClr val="1D1D1A"/>
                </a:solidFill>
                <a:latin typeface="方正兰亭黑简体" panose="02000000000000000000" pitchFamily="2" charset="-122"/>
                <a:ea typeface="方正兰亭黑简体" panose="02000000000000000000" pitchFamily="2" charset="-122"/>
                <a:sym typeface="Huawei Sans" panose="020B0A04020102020204"/>
              </a:rPr>
              <a:t>AI</a:t>
            </a:r>
            <a:r>
              <a:rPr lang="zh-CN" altLang="en-US" sz="1400" b="1" dirty="0">
                <a:solidFill>
                  <a:srgbClr val="1D1D1A"/>
                </a:solidFill>
                <a:latin typeface="方正兰亭黑简体" panose="02000000000000000000" pitchFamily="2" charset="-122"/>
                <a:ea typeface="方正兰亭黑简体" panose="02000000000000000000" pitchFamily="2" charset="-122"/>
                <a:sym typeface="Huawei Sans" panose="020B0A04020102020204"/>
              </a:rPr>
              <a:t>计算中心</a:t>
            </a:r>
            <a:endParaRPr lang="en-US" altLang="zh-CN" sz="1400" b="1" dirty="0">
              <a:solidFill>
                <a:srgbClr val="1D1D1A"/>
              </a:solidFill>
              <a:latin typeface="方正兰亭黑简体" panose="02000000000000000000" pitchFamily="2" charset="-122"/>
              <a:ea typeface="方正兰亭黑简体" panose="02000000000000000000" pitchFamily="2" charset="-122"/>
              <a:sym typeface="Huawei Sans" panose="020B0A04020102020204"/>
            </a:endParaRPr>
          </a:p>
          <a:p>
            <a:pPr>
              <a:lnSpc>
                <a:spcPct val="150000"/>
              </a:lnSpc>
            </a:pPr>
            <a:r>
              <a:rPr lang="zh-CN" altLang="en-US" sz="1400" dirty="0">
                <a:solidFill>
                  <a:srgbClr val="1D1D1A"/>
                </a:solidFill>
                <a:latin typeface="方正兰亭黑简体" panose="02000000000000000000" pitchFamily="2" charset="-122"/>
                <a:ea typeface="方正兰亭黑简体" panose="02000000000000000000" pitchFamily="2" charset="-122"/>
                <a:sym typeface="Huawei Sans" panose="020B0A04020102020204"/>
              </a:rPr>
              <a:t>算力集群赋能产业集群</a:t>
            </a:r>
            <a:endParaRPr lang="en-US" altLang="zh-CN" sz="1400" dirty="0">
              <a:solidFill>
                <a:srgbClr val="1D1D1A"/>
              </a:solidFill>
              <a:latin typeface="方正兰亭黑简体" panose="02000000000000000000" pitchFamily="2" charset="-122"/>
              <a:ea typeface="方正兰亭黑简体" panose="02000000000000000000" pitchFamily="2" charset="-122"/>
              <a:sym typeface="Huawei Sans" panose="020B0A04020102020204"/>
            </a:endParaRPr>
          </a:p>
        </p:txBody>
      </p:sp>
      <p:sp>
        <p:nvSpPr>
          <p:cNvPr id="112" name="矩形 128"/>
          <p:cNvSpPr txBox="1"/>
          <p:nvPr/>
        </p:nvSpPr>
        <p:spPr>
          <a:xfrm>
            <a:off x="2272999" y="1922369"/>
            <a:ext cx="1272505" cy="999490"/>
          </a:xfrm>
          <a:prstGeom prst="rect">
            <a:avLst/>
          </a:prstGeom>
          <a:ln w="12700">
            <a:miter lim="400000"/>
          </a:ln>
        </p:spPr>
        <p:txBody>
          <a:bodyPr wrap="square" lIns="15471" tIns="15471" rIns="15471" bIns="15471" anchor="ctr" anchorCtr="0">
            <a:spAutoFit/>
          </a:bodyPr>
          <a:lstStyle>
            <a:defPPr>
              <a:defRPr lang="en-US"/>
            </a:defPPr>
            <a:lvl1pPr algn="ctr" defTabSz="187960">
              <a:lnSpc>
                <a:spcPct val="120000"/>
              </a:lnSpc>
              <a:defRPr sz="1600" b="0">
                <a:solidFill>
                  <a:srgbClr val="FFFFFF"/>
                </a:solidFill>
                <a:latin typeface="Huawei Sans" panose="020B0A04020102020204"/>
                <a:cs typeface="Huawei Sans" panose="020B0A04020102020204"/>
              </a:defRPr>
            </a:lvl1pPr>
          </a:lstStyle>
          <a:p>
            <a:pPr>
              <a:lnSpc>
                <a:spcPct val="150000"/>
              </a:lnSpc>
            </a:pPr>
            <a:r>
              <a:rPr lang="zh-CN" altLang="en-US" sz="1400" dirty="0">
                <a:solidFill>
                  <a:srgbClr val="1D1D1A"/>
                </a:solidFill>
                <a:latin typeface="方正兰亭黑简体" panose="02000000000000000000" pitchFamily="2" charset="-122"/>
                <a:ea typeface="方正兰亭黑简体" panose="02000000000000000000" pitchFamily="2" charset="-122"/>
                <a:sym typeface="Huawei Sans" panose="020B0A04020102020204"/>
              </a:rPr>
              <a:t> </a:t>
            </a:r>
            <a:r>
              <a:rPr lang="zh-CN" altLang="en-US" sz="1400" b="1" dirty="0">
                <a:solidFill>
                  <a:srgbClr val="1D1D1A"/>
                </a:solidFill>
                <a:latin typeface="方正兰亭黑简体" panose="02000000000000000000" pitchFamily="2" charset="-122"/>
                <a:ea typeface="方正兰亭黑简体" panose="02000000000000000000" pitchFamily="2" charset="-122"/>
                <a:sym typeface="Huawei Sans" panose="020B0A04020102020204"/>
              </a:rPr>
              <a:t>深度学习平台</a:t>
            </a:r>
            <a:endParaRPr lang="en-US" altLang="zh-CN" sz="1400" b="1" dirty="0">
              <a:solidFill>
                <a:srgbClr val="1D1D1A"/>
              </a:solidFill>
              <a:latin typeface="方正兰亭黑简体" panose="02000000000000000000" pitchFamily="2" charset="-122"/>
              <a:ea typeface="方正兰亭黑简体" panose="02000000000000000000" pitchFamily="2" charset="-122"/>
              <a:sym typeface="Huawei Sans" panose="020B0A04020102020204"/>
            </a:endParaRPr>
          </a:p>
          <a:p>
            <a:pPr>
              <a:lnSpc>
                <a:spcPct val="150000"/>
              </a:lnSpc>
            </a:pPr>
            <a:r>
              <a:rPr lang="zh-CN" altLang="en-US" sz="1400" dirty="0">
                <a:solidFill>
                  <a:srgbClr val="1D1D1A"/>
                </a:solidFill>
                <a:latin typeface="方正兰亭黑简体" panose="02000000000000000000" pitchFamily="2" charset="-122"/>
                <a:ea typeface="方正兰亭黑简体" panose="02000000000000000000" pitchFamily="2" charset="-122"/>
                <a:sym typeface="Huawei Sans" panose="020B0A04020102020204"/>
              </a:rPr>
              <a:t>一站式</a:t>
            </a:r>
            <a:r>
              <a:rPr lang="en-US" altLang="zh-CN" sz="1400" dirty="0">
                <a:solidFill>
                  <a:srgbClr val="1D1D1A"/>
                </a:solidFill>
                <a:latin typeface="方正兰亭黑简体" panose="02000000000000000000" pitchFamily="2" charset="-122"/>
                <a:ea typeface="方正兰亭黑简体" panose="02000000000000000000" pitchFamily="2" charset="-122"/>
                <a:sym typeface="Huawei Sans" panose="020B0A04020102020204"/>
              </a:rPr>
              <a:t>AI</a:t>
            </a:r>
            <a:r>
              <a:rPr lang="zh-CN" altLang="en-US" sz="1400" dirty="0">
                <a:solidFill>
                  <a:srgbClr val="1D1D1A"/>
                </a:solidFill>
                <a:latin typeface="方正兰亭黑简体" panose="02000000000000000000" pitchFamily="2" charset="-122"/>
                <a:ea typeface="方正兰亭黑简体" panose="02000000000000000000" pitchFamily="2" charset="-122"/>
                <a:sym typeface="Huawei Sans" panose="020B0A04020102020204"/>
              </a:rPr>
              <a:t>模型训练平台</a:t>
            </a:r>
            <a:endParaRPr lang="en-US" altLang="zh-CN" sz="1400" dirty="0">
              <a:solidFill>
                <a:srgbClr val="1D1D1A"/>
              </a:solidFill>
              <a:latin typeface="方正兰亭黑简体" panose="02000000000000000000" pitchFamily="2" charset="-122"/>
              <a:ea typeface="方正兰亭黑简体" panose="02000000000000000000" pitchFamily="2" charset="-122"/>
              <a:sym typeface="Huawei Sans" panose="020B0A04020102020204"/>
            </a:endParaRPr>
          </a:p>
        </p:txBody>
      </p:sp>
      <p:sp>
        <p:nvSpPr>
          <p:cNvPr id="113" name="矩形 128"/>
          <p:cNvSpPr txBox="1"/>
          <p:nvPr/>
        </p:nvSpPr>
        <p:spPr>
          <a:xfrm>
            <a:off x="3965189" y="1914300"/>
            <a:ext cx="1176333" cy="999490"/>
          </a:xfrm>
          <a:prstGeom prst="rect">
            <a:avLst/>
          </a:prstGeom>
          <a:ln w="12700">
            <a:miter lim="400000"/>
          </a:ln>
        </p:spPr>
        <p:txBody>
          <a:bodyPr wrap="square" lIns="15471" tIns="15471" rIns="15471" bIns="15471" anchor="ctr" anchorCtr="0">
            <a:spAutoFit/>
          </a:bodyPr>
          <a:lstStyle>
            <a:defPPr>
              <a:defRPr lang="en-US"/>
            </a:defPPr>
            <a:lvl1pPr algn="ctr" defTabSz="187960">
              <a:lnSpc>
                <a:spcPct val="120000"/>
              </a:lnSpc>
              <a:defRPr sz="1600" b="0">
                <a:solidFill>
                  <a:srgbClr val="FFFFFF"/>
                </a:solidFill>
                <a:latin typeface="Huawei Sans" panose="020B0A04020102020204"/>
                <a:cs typeface="Huawei Sans" panose="020B0A04020102020204"/>
              </a:defRPr>
            </a:lvl1pPr>
          </a:lstStyle>
          <a:p>
            <a:pPr>
              <a:lnSpc>
                <a:spcPct val="150000"/>
              </a:lnSpc>
            </a:pPr>
            <a:r>
              <a:rPr lang="zh-CN" altLang="en-US" sz="1400" dirty="0">
                <a:solidFill>
                  <a:srgbClr val="1D1D1A"/>
                </a:solidFill>
                <a:latin typeface="方正兰亭黑简体" panose="02000000000000000000" pitchFamily="2" charset="-122"/>
                <a:ea typeface="方正兰亭黑简体" panose="02000000000000000000" pitchFamily="2" charset="-122"/>
                <a:sym typeface="Huawei Sans" panose="020B0A04020102020204"/>
              </a:rPr>
              <a:t> </a:t>
            </a:r>
            <a:r>
              <a:rPr lang="zh-CN" altLang="en-US" sz="1400" b="1" dirty="0">
                <a:solidFill>
                  <a:srgbClr val="1D1D1A"/>
                </a:solidFill>
                <a:latin typeface="方正兰亭黑简体" panose="02000000000000000000" pitchFamily="2" charset="-122"/>
                <a:ea typeface="方正兰亭黑简体" panose="02000000000000000000" pitchFamily="2" charset="-122"/>
                <a:sym typeface="Huawei Sans" panose="020B0A04020102020204"/>
              </a:rPr>
              <a:t>全目标结构化</a:t>
            </a:r>
            <a:endParaRPr lang="en-US" altLang="zh-CN" sz="1400" b="1" dirty="0">
              <a:solidFill>
                <a:srgbClr val="1D1D1A"/>
              </a:solidFill>
              <a:latin typeface="方正兰亭黑简体" panose="02000000000000000000" pitchFamily="2" charset="-122"/>
              <a:ea typeface="方正兰亭黑简体" panose="02000000000000000000" pitchFamily="2" charset="-122"/>
              <a:sym typeface="Huawei Sans" panose="020B0A04020102020204"/>
            </a:endParaRPr>
          </a:p>
          <a:p>
            <a:pPr>
              <a:lnSpc>
                <a:spcPct val="150000"/>
              </a:lnSpc>
            </a:pPr>
            <a:r>
              <a:rPr lang="zh-CN" altLang="en-US" sz="1400" dirty="0">
                <a:solidFill>
                  <a:srgbClr val="1D1D1A"/>
                </a:solidFill>
                <a:latin typeface="方正兰亭黑简体" panose="02000000000000000000" pitchFamily="2" charset="-122"/>
                <a:ea typeface="方正兰亭黑简体" panose="02000000000000000000" pitchFamily="2" charset="-122"/>
                <a:sym typeface="Huawei Sans" panose="020B0A04020102020204"/>
              </a:rPr>
              <a:t>安全便捷的</a:t>
            </a:r>
            <a:endParaRPr lang="en-US" altLang="zh-CN" sz="1400" dirty="0">
              <a:solidFill>
                <a:srgbClr val="1D1D1A"/>
              </a:solidFill>
              <a:latin typeface="方正兰亭黑简体" panose="02000000000000000000" pitchFamily="2" charset="-122"/>
              <a:ea typeface="方正兰亭黑简体" panose="02000000000000000000" pitchFamily="2" charset="-122"/>
              <a:sym typeface="Huawei Sans" panose="020B0A04020102020204"/>
            </a:endParaRPr>
          </a:p>
          <a:p>
            <a:pPr>
              <a:lnSpc>
                <a:spcPct val="150000"/>
              </a:lnSpc>
            </a:pPr>
            <a:r>
              <a:rPr lang="zh-CN" altLang="en-US" sz="1400" dirty="0">
                <a:solidFill>
                  <a:srgbClr val="1D1D1A"/>
                </a:solidFill>
                <a:latin typeface="方正兰亭黑简体" panose="02000000000000000000" pitchFamily="2" charset="-122"/>
                <a:ea typeface="方正兰亭黑简体" panose="02000000000000000000" pitchFamily="2" charset="-122"/>
                <a:sym typeface="Huawei Sans" panose="020B0A04020102020204"/>
              </a:rPr>
              <a:t>道路和园区</a:t>
            </a:r>
            <a:endParaRPr lang="en-US" altLang="zh-CN" sz="1400" dirty="0">
              <a:solidFill>
                <a:srgbClr val="1D1D1A"/>
              </a:solidFill>
              <a:latin typeface="方正兰亭黑简体" panose="02000000000000000000" pitchFamily="2" charset="-122"/>
              <a:ea typeface="方正兰亭黑简体" panose="02000000000000000000" pitchFamily="2" charset="-122"/>
              <a:sym typeface="Huawei Sans" panose="020B0A04020102020204"/>
            </a:endParaRPr>
          </a:p>
        </p:txBody>
      </p:sp>
      <p:sp>
        <p:nvSpPr>
          <p:cNvPr id="114" name="矩形 128"/>
          <p:cNvSpPr txBox="1"/>
          <p:nvPr/>
        </p:nvSpPr>
        <p:spPr>
          <a:xfrm>
            <a:off x="5485013" y="1914148"/>
            <a:ext cx="1176333" cy="999490"/>
          </a:xfrm>
          <a:prstGeom prst="rect">
            <a:avLst/>
          </a:prstGeom>
          <a:ln w="12700">
            <a:miter lim="400000"/>
          </a:ln>
        </p:spPr>
        <p:txBody>
          <a:bodyPr wrap="square" lIns="15471" tIns="15471" rIns="15471" bIns="15471" anchor="ctr" anchorCtr="0">
            <a:spAutoFit/>
          </a:bodyPr>
          <a:lstStyle>
            <a:defPPr>
              <a:defRPr lang="en-US"/>
            </a:defPPr>
            <a:lvl1pPr algn="ctr" defTabSz="187960">
              <a:lnSpc>
                <a:spcPct val="120000"/>
              </a:lnSpc>
              <a:defRPr sz="1600" b="0">
                <a:solidFill>
                  <a:srgbClr val="FFFFFF"/>
                </a:solidFill>
                <a:latin typeface="Huawei Sans" panose="020B0A04020102020204"/>
                <a:cs typeface="Huawei Sans" panose="020B0A04020102020204"/>
              </a:defRPr>
            </a:lvl1pPr>
          </a:lstStyle>
          <a:p>
            <a:pPr>
              <a:lnSpc>
                <a:spcPct val="150000"/>
              </a:lnSpc>
            </a:pPr>
            <a:r>
              <a:rPr lang="zh-CN" altLang="en-US" sz="1400" dirty="0">
                <a:solidFill>
                  <a:srgbClr val="1D1D1A"/>
                </a:solidFill>
                <a:latin typeface="方正兰亭黑简体" panose="02000000000000000000" pitchFamily="2" charset="-122"/>
                <a:ea typeface="方正兰亭黑简体" panose="02000000000000000000" pitchFamily="2" charset="-122"/>
                <a:sym typeface="Huawei Sans" panose="020B0A04020102020204"/>
              </a:rPr>
              <a:t> </a:t>
            </a:r>
            <a:r>
              <a:rPr lang="zh-CN" altLang="en-US" sz="1400" b="1" dirty="0">
                <a:solidFill>
                  <a:srgbClr val="1D1D1A"/>
                </a:solidFill>
                <a:latin typeface="方正兰亭黑简体" panose="02000000000000000000" pitchFamily="2" charset="-122"/>
                <a:ea typeface="方正兰亭黑简体" panose="02000000000000000000" pitchFamily="2" charset="-122"/>
                <a:sym typeface="Huawei Sans" panose="020B0A04020102020204"/>
              </a:rPr>
              <a:t>医疗辅助诊断</a:t>
            </a:r>
            <a:endParaRPr lang="en-US" altLang="zh-CN" sz="1400" b="1" dirty="0">
              <a:solidFill>
                <a:srgbClr val="1D1D1A"/>
              </a:solidFill>
              <a:latin typeface="方正兰亭黑简体" panose="02000000000000000000" pitchFamily="2" charset="-122"/>
              <a:ea typeface="方正兰亭黑简体" panose="02000000000000000000" pitchFamily="2" charset="-122"/>
              <a:sym typeface="Huawei Sans" panose="020B0A04020102020204"/>
            </a:endParaRPr>
          </a:p>
          <a:p>
            <a:pPr>
              <a:lnSpc>
                <a:spcPct val="150000"/>
              </a:lnSpc>
            </a:pPr>
            <a:r>
              <a:rPr lang="zh-CN" altLang="en-US" sz="1400" dirty="0">
                <a:solidFill>
                  <a:srgbClr val="1D1D1A"/>
                </a:solidFill>
                <a:latin typeface="方正兰亭黑简体" panose="02000000000000000000" pitchFamily="2" charset="-122"/>
                <a:ea typeface="方正兰亭黑简体" panose="02000000000000000000" pitchFamily="2" charset="-122"/>
                <a:sym typeface="Huawei Sans" panose="020B0A04020102020204"/>
              </a:rPr>
              <a:t>阅片效率提升</a:t>
            </a:r>
            <a:endParaRPr lang="en-US" altLang="zh-CN" sz="1400" dirty="0">
              <a:solidFill>
                <a:srgbClr val="1D1D1A"/>
              </a:solidFill>
              <a:latin typeface="方正兰亭黑简体" panose="02000000000000000000" pitchFamily="2" charset="-122"/>
              <a:ea typeface="方正兰亭黑简体" panose="02000000000000000000" pitchFamily="2" charset="-122"/>
              <a:sym typeface="Huawei Sans" panose="020B0A04020102020204"/>
            </a:endParaRPr>
          </a:p>
          <a:p>
            <a:pPr>
              <a:lnSpc>
                <a:spcPct val="150000"/>
              </a:lnSpc>
            </a:pPr>
            <a:r>
              <a:rPr lang="zh-CN" altLang="en-US" sz="1400" dirty="0">
                <a:solidFill>
                  <a:srgbClr val="1D1D1A"/>
                </a:solidFill>
                <a:latin typeface="方正兰亭黑简体" panose="02000000000000000000" pitchFamily="2" charset="-122"/>
                <a:ea typeface="方正兰亭黑简体" panose="02000000000000000000" pitchFamily="2" charset="-122"/>
                <a:sym typeface="Huawei Sans" panose="020B0A04020102020204"/>
              </a:rPr>
              <a:t>助力智慧医院</a:t>
            </a:r>
            <a:endParaRPr lang="en-US" altLang="zh-CN" sz="1400" dirty="0">
              <a:solidFill>
                <a:srgbClr val="1D1D1A"/>
              </a:solidFill>
              <a:latin typeface="方正兰亭黑简体" panose="02000000000000000000" pitchFamily="2" charset="-122"/>
              <a:ea typeface="方正兰亭黑简体" panose="02000000000000000000" pitchFamily="2" charset="-122"/>
              <a:sym typeface="Huawei Sans" panose="020B0A04020102020204"/>
            </a:endParaRPr>
          </a:p>
        </p:txBody>
      </p:sp>
      <p:sp>
        <p:nvSpPr>
          <p:cNvPr id="115" name="矩形 128"/>
          <p:cNvSpPr txBox="1"/>
          <p:nvPr/>
        </p:nvSpPr>
        <p:spPr>
          <a:xfrm>
            <a:off x="7081031" y="1913995"/>
            <a:ext cx="1176333" cy="999490"/>
          </a:xfrm>
          <a:prstGeom prst="rect">
            <a:avLst/>
          </a:prstGeom>
          <a:ln w="12700">
            <a:miter lim="400000"/>
          </a:ln>
        </p:spPr>
        <p:txBody>
          <a:bodyPr wrap="square" lIns="15471" tIns="15471" rIns="15471" bIns="15471" anchor="ctr" anchorCtr="0">
            <a:spAutoFit/>
          </a:bodyPr>
          <a:lstStyle>
            <a:defPPr>
              <a:defRPr lang="en-US"/>
            </a:defPPr>
            <a:lvl1pPr algn="ctr" defTabSz="187960">
              <a:lnSpc>
                <a:spcPct val="120000"/>
              </a:lnSpc>
              <a:defRPr sz="1600" b="0">
                <a:solidFill>
                  <a:srgbClr val="FFFFFF"/>
                </a:solidFill>
                <a:latin typeface="Huawei Sans" panose="020B0A04020102020204"/>
                <a:cs typeface="Huawei Sans" panose="020B0A04020102020204"/>
              </a:defRPr>
            </a:lvl1pPr>
          </a:lstStyle>
          <a:p>
            <a:pPr>
              <a:lnSpc>
                <a:spcPct val="150000"/>
              </a:lnSpc>
            </a:pPr>
            <a:r>
              <a:rPr lang="zh-CN" altLang="en-US" sz="1400" dirty="0">
                <a:solidFill>
                  <a:srgbClr val="1D1D1A"/>
                </a:solidFill>
                <a:latin typeface="方正兰亭黑简体" panose="02000000000000000000" pitchFamily="2" charset="-122"/>
                <a:ea typeface="方正兰亭黑简体" panose="02000000000000000000" pitchFamily="2" charset="-122"/>
                <a:sym typeface="Huawei Sans" panose="020B0A04020102020204"/>
              </a:rPr>
              <a:t> </a:t>
            </a:r>
            <a:r>
              <a:rPr lang="zh-CN" altLang="en-US" sz="1400" b="1" dirty="0">
                <a:solidFill>
                  <a:srgbClr val="1D1D1A"/>
                </a:solidFill>
                <a:latin typeface="方正兰亭黑简体" panose="02000000000000000000" pitchFamily="2" charset="-122"/>
                <a:ea typeface="方正兰亭黑简体" panose="02000000000000000000" pitchFamily="2" charset="-122"/>
                <a:sym typeface="Huawei Sans" panose="020B0A04020102020204"/>
              </a:rPr>
              <a:t>智能变电站</a:t>
            </a:r>
            <a:endParaRPr lang="en-US" altLang="zh-CN" sz="1400" b="1" dirty="0">
              <a:solidFill>
                <a:srgbClr val="1D1D1A"/>
              </a:solidFill>
              <a:latin typeface="方正兰亭黑简体" panose="02000000000000000000" pitchFamily="2" charset="-122"/>
              <a:ea typeface="方正兰亭黑简体" panose="02000000000000000000" pitchFamily="2" charset="-122"/>
              <a:sym typeface="Huawei Sans" panose="020B0A04020102020204"/>
            </a:endParaRPr>
          </a:p>
          <a:p>
            <a:pPr>
              <a:lnSpc>
                <a:spcPct val="150000"/>
              </a:lnSpc>
            </a:pPr>
            <a:r>
              <a:rPr lang="zh-CN" altLang="en-US" sz="1400" dirty="0">
                <a:solidFill>
                  <a:srgbClr val="1D1D1A"/>
                </a:solidFill>
                <a:latin typeface="方正兰亭黑简体" panose="02000000000000000000" pitchFamily="2" charset="-122"/>
                <a:ea typeface="方正兰亭黑简体" panose="02000000000000000000" pitchFamily="2" charset="-122"/>
                <a:sym typeface="Huawei Sans" panose="020B0A04020102020204"/>
              </a:rPr>
              <a:t>实时远程</a:t>
            </a:r>
            <a:endParaRPr lang="en-US" altLang="zh-CN" sz="1400" dirty="0">
              <a:solidFill>
                <a:srgbClr val="1D1D1A"/>
              </a:solidFill>
              <a:latin typeface="方正兰亭黑简体" panose="02000000000000000000" pitchFamily="2" charset="-122"/>
              <a:ea typeface="方正兰亭黑简体" panose="02000000000000000000" pitchFamily="2" charset="-122"/>
              <a:sym typeface="Huawei Sans" panose="020B0A04020102020204"/>
            </a:endParaRPr>
          </a:p>
          <a:p>
            <a:pPr>
              <a:lnSpc>
                <a:spcPct val="150000"/>
              </a:lnSpc>
            </a:pPr>
            <a:r>
              <a:rPr lang="zh-CN" altLang="en-US" sz="1400" dirty="0">
                <a:solidFill>
                  <a:srgbClr val="1D1D1A"/>
                </a:solidFill>
                <a:latin typeface="方正兰亭黑简体" panose="02000000000000000000" pitchFamily="2" charset="-122"/>
                <a:ea typeface="方正兰亭黑简体" panose="02000000000000000000" pitchFamily="2" charset="-122"/>
                <a:sym typeface="Huawei Sans" panose="020B0A04020102020204"/>
              </a:rPr>
              <a:t>智能巡视</a:t>
            </a:r>
            <a:endParaRPr lang="en-US" altLang="zh-CN" sz="1400" dirty="0">
              <a:solidFill>
                <a:srgbClr val="1D1D1A"/>
              </a:solidFill>
              <a:latin typeface="方正兰亭黑简体" panose="02000000000000000000" pitchFamily="2" charset="-122"/>
              <a:ea typeface="方正兰亭黑简体" panose="02000000000000000000" pitchFamily="2" charset="-122"/>
              <a:sym typeface="Huawei Sans" panose="020B0A04020102020204"/>
            </a:endParaRPr>
          </a:p>
        </p:txBody>
      </p:sp>
      <p:sp>
        <p:nvSpPr>
          <p:cNvPr id="116" name="矩形 128"/>
          <p:cNvSpPr txBox="1"/>
          <p:nvPr/>
        </p:nvSpPr>
        <p:spPr>
          <a:xfrm>
            <a:off x="8660986" y="1913995"/>
            <a:ext cx="1176333" cy="999490"/>
          </a:xfrm>
          <a:prstGeom prst="rect">
            <a:avLst/>
          </a:prstGeom>
          <a:ln w="12700">
            <a:miter lim="400000"/>
          </a:ln>
        </p:spPr>
        <p:txBody>
          <a:bodyPr wrap="square" lIns="15471" tIns="15471" rIns="15471" bIns="15471" anchor="ctr" anchorCtr="0">
            <a:spAutoFit/>
          </a:bodyPr>
          <a:lstStyle>
            <a:defPPr>
              <a:defRPr lang="en-US"/>
            </a:defPPr>
            <a:lvl1pPr algn="ctr" defTabSz="187960">
              <a:lnSpc>
                <a:spcPct val="120000"/>
              </a:lnSpc>
              <a:defRPr sz="1600" b="0">
                <a:solidFill>
                  <a:srgbClr val="FFFFFF"/>
                </a:solidFill>
                <a:latin typeface="Huawei Sans" panose="020B0A04020102020204"/>
                <a:cs typeface="Huawei Sans" panose="020B0A04020102020204"/>
              </a:defRPr>
            </a:lvl1pPr>
          </a:lstStyle>
          <a:p>
            <a:pPr>
              <a:lnSpc>
                <a:spcPct val="150000"/>
              </a:lnSpc>
            </a:pPr>
            <a:r>
              <a:rPr lang="zh-CN" altLang="en-US" sz="1400" dirty="0">
                <a:solidFill>
                  <a:srgbClr val="1D1D1A"/>
                </a:solidFill>
                <a:latin typeface="方正兰亭黑简体" panose="02000000000000000000" pitchFamily="2" charset="-122"/>
                <a:ea typeface="方正兰亭黑简体" panose="02000000000000000000" pitchFamily="2" charset="-122"/>
                <a:sym typeface="Huawei Sans" panose="020B0A04020102020204"/>
              </a:rPr>
              <a:t> </a:t>
            </a:r>
            <a:r>
              <a:rPr lang="zh-CN" altLang="en-US" sz="1400" b="1" dirty="0">
                <a:solidFill>
                  <a:srgbClr val="1D1D1A"/>
                </a:solidFill>
                <a:latin typeface="方正兰亭黑简体" panose="02000000000000000000" pitchFamily="2" charset="-122"/>
                <a:ea typeface="方正兰亭黑简体" panose="02000000000000000000" pitchFamily="2" charset="-122"/>
                <a:sym typeface="Huawei Sans" panose="020B0A04020102020204"/>
              </a:rPr>
              <a:t>高速自由流</a:t>
            </a:r>
            <a:endParaRPr lang="en-US" altLang="zh-CN" sz="1400" b="1" dirty="0">
              <a:solidFill>
                <a:srgbClr val="1D1D1A"/>
              </a:solidFill>
              <a:latin typeface="方正兰亭黑简体" panose="02000000000000000000" pitchFamily="2" charset="-122"/>
              <a:ea typeface="方正兰亭黑简体" panose="02000000000000000000" pitchFamily="2" charset="-122"/>
              <a:sym typeface="Huawei Sans" panose="020B0A04020102020204"/>
            </a:endParaRPr>
          </a:p>
          <a:p>
            <a:pPr>
              <a:lnSpc>
                <a:spcPct val="150000"/>
              </a:lnSpc>
            </a:pPr>
            <a:r>
              <a:rPr lang="zh-CN" altLang="en-US" sz="1400" dirty="0">
                <a:solidFill>
                  <a:srgbClr val="1D1D1A"/>
                </a:solidFill>
                <a:latin typeface="方正兰亭黑简体" panose="02000000000000000000" pitchFamily="2" charset="-122"/>
                <a:ea typeface="方正兰亭黑简体" panose="02000000000000000000" pitchFamily="2" charset="-122"/>
                <a:sym typeface="Huawei Sans" panose="020B0A04020102020204"/>
              </a:rPr>
              <a:t>通行效率提升</a:t>
            </a:r>
            <a:endParaRPr lang="en-US" altLang="zh-CN" sz="1400" dirty="0">
              <a:solidFill>
                <a:srgbClr val="1D1D1A"/>
              </a:solidFill>
              <a:latin typeface="方正兰亭黑简体" panose="02000000000000000000" pitchFamily="2" charset="-122"/>
              <a:ea typeface="方正兰亭黑简体" panose="02000000000000000000" pitchFamily="2" charset="-122"/>
              <a:sym typeface="Huawei Sans" panose="020B0A04020102020204"/>
            </a:endParaRPr>
          </a:p>
          <a:p>
            <a:pPr>
              <a:lnSpc>
                <a:spcPct val="150000"/>
              </a:lnSpc>
            </a:pPr>
            <a:r>
              <a:rPr lang="zh-CN" altLang="en-US" sz="1400" dirty="0">
                <a:solidFill>
                  <a:srgbClr val="1D1D1A"/>
                </a:solidFill>
                <a:latin typeface="方正兰亭黑简体" panose="02000000000000000000" pitchFamily="2" charset="-122"/>
                <a:ea typeface="方正兰亭黑简体" panose="02000000000000000000" pitchFamily="2" charset="-122"/>
                <a:sym typeface="Huawei Sans" panose="020B0A04020102020204"/>
              </a:rPr>
              <a:t>助力智慧出行</a:t>
            </a:r>
            <a:endParaRPr lang="en-US" altLang="zh-CN" sz="1400" dirty="0">
              <a:solidFill>
                <a:srgbClr val="1D1D1A"/>
              </a:solidFill>
              <a:latin typeface="方正兰亭黑简体" panose="02000000000000000000" pitchFamily="2" charset="-122"/>
              <a:ea typeface="方正兰亭黑简体" panose="02000000000000000000" pitchFamily="2" charset="-122"/>
              <a:sym typeface="Huawei Sans" panose="020B0A04020102020204"/>
            </a:endParaRPr>
          </a:p>
        </p:txBody>
      </p:sp>
      <p:sp>
        <p:nvSpPr>
          <p:cNvPr id="117" name="矩形 128"/>
          <p:cNvSpPr txBox="1"/>
          <p:nvPr/>
        </p:nvSpPr>
        <p:spPr>
          <a:xfrm>
            <a:off x="10221168" y="1913995"/>
            <a:ext cx="1176333" cy="999490"/>
          </a:xfrm>
          <a:prstGeom prst="rect">
            <a:avLst/>
          </a:prstGeom>
          <a:ln w="12700">
            <a:miter lim="400000"/>
          </a:ln>
        </p:spPr>
        <p:txBody>
          <a:bodyPr wrap="square" lIns="15471" tIns="15471" rIns="15471" bIns="15471" anchor="ctr" anchorCtr="0">
            <a:spAutoFit/>
          </a:bodyPr>
          <a:lstStyle>
            <a:defPPr>
              <a:defRPr lang="en-US"/>
            </a:defPPr>
            <a:lvl1pPr algn="ctr" defTabSz="187960">
              <a:lnSpc>
                <a:spcPct val="120000"/>
              </a:lnSpc>
              <a:defRPr sz="1600" b="0">
                <a:solidFill>
                  <a:srgbClr val="FFFFFF"/>
                </a:solidFill>
                <a:latin typeface="Huawei Sans" panose="020B0A04020102020204"/>
                <a:cs typeface="Huawei Sans" panose="020B0A04020102020204"/>
              </a:defRPr>
            </a:lvl1pPr>
          </a:lstStyle>
          <a:p>
            <a:pPr>
              <a:lnSpc>
                <a:spcPct val="150000"/>
              </a:lnSpc>
            </a:pPr>
            <a:r>
              <a:rPr lang="zh-CN" altLang="en-US" sz="1400" dirty="0">
                <a:solidFill>
                  <a:srgbClr val="1D1D1A"/>
                </a:solidFill>
                <a:latin typeface="方正兰亭黑简体" panose="02000000000000000000" pitchFamily="2" charset="-122"/>
                <a:ea typeface="方正兰亭黑简体" panose="02000000000000000000" pitchFamily="2" charset="-122"/>
                <a:sym typeface="Huawei Sans" panose="020B0A04020102020204"/>
              </a:rPr>
              <a:t> </a:t>
            </a:r>
            <a:r>
              <a:rPr lang="zh-CN" altLang="en-US" sz="1400" b="1" dirty="0">
                <a:solidFill>
                  <a:srgbClr val="1D1D1A"/>
                </a:solidFill>
                <a:latin typeface="方正兰亭黑简体" panose="02000000000000000000" pitchFamily="2" charset="-122"/>
                <a:ea typeface="方正兰亭黑简体" panose="02000000000000000000" pitchFamily="2" charset="-122"/>
                <a:sym typeface="Huawei Sans" panose="020B0A04020102020204"/>
              </a:rPr>
              <a:t>输电智能巡检</a:t>
            </a:r>
            <a:endParaRPr lang="en-US" altLang="zh-CN" sz="1400" b="1" dirty="0">
              <a:solidFill>
                <a:srgbClr val="1D1D1A"/>
              </a:solidFill>
              <a:latin typeface="方正兰亭黑简体" panose="02000000000000000000" pitchFamily="2" charset="-122"/>
              <a:ea typeface="方正兰亭黑简体" panose="02000000000000000000" pitchFamily="2" charset="-122"/>
              <a:sym typeface="Huawei Sans" panose="020B0A04020102020204"/>
            </a:endParaRPr>
          </a:p>
          <a:p>
            <a:pPr>
              <a:lnSpc>
                <a:spcPct val="150000"/>
              </a:lnSpc>
            </a:pPr>
            <a:r>
              <a:rPr lang="zh-CN" altLang="en-US" sz="1400" dirty="0">
                <a:solidFill>
                  <a:srgbClr val="1D1D1A"/>
                </a:solidFill>
                <a:latin typeface="方正兰亭黑简体" panose="02000000000000000000" pitchFamily="2" charset="-122"/>
                <a:ea typeface="方正兰亭黑简体" panose="02000000000000000000" pitchFamily="2" charset="-122"/>
                <a:sym typeface="Huawei Sans" panose="020B0A04020102020204"/>
              </a:rPr>
              <a:t>巡检效率提升</a:t>
            </a:r>
            <a:endParaRPr lang="en-US" altLang="zh-CN" sz="1400" dirty="0">
              <a:solidFill>
                <a:srgbClr val="1D1D1A"/>
              </a:solidFill>
              <a:latin typeface="方正兰亭黑简体" panose="02000000000000000000" pitchFamily="2" charset="-122"/>
              <a:ea typeface="方正兰亭黑简体" panose="02000000000000000000" pitchFamily="2" charset="-122"/>
              <a:sym typeface="Huawei Sans" panose="020B0A04020102020204"/>
            </a:endParaRPr>
          </a:p>
          <a:p>
            <a:pPr>
              <a:lnSpc>
                <a:spcPct val="150000"/>
              </a:lnSpc>
            </a:pPr>
            <a:r>
              <a:rPr lang="zh-CN" altLang="en-US" sz="1400" dirty="0">
                <a:solidFill>
                  <a:srgbClr val="1D1D1A"/>
                </a:solidFill>
                <a:latin typeface="方正兰亭黑简体" panose="02000000000000000000" pitchFamily="2" charset="-122"/>
                <a:ea typeface="方正兰亭黑简体" panose="02000000000000000000" pitchFamily="2" charset="-122"/>
                <a:sym typeface="Huawei Sans" panose="020B0A04020102020204"/>
              </a:rPr>
              <a:t>远程可管可视</a:t>
            </a:r>
            <a:endParaRPr lang="en-US" altLang="zh-CN" sz="1400" dirty="0">
              <a:solidFill>
                <a:srgbClr val="1D1D1A"/>
              </a:solidFill>
              <a:latin typeface="方正兰亭黑简体" panose="02000000000000000000" pitchFamily="2" charset="-122"/>
              <a:ea typeface="方正兰亭黑简体" panose="02000000000000000000" pitchFamily="2" charset="-122"/>
              <a:sym typeface="Huawei Sans" panose="020B0A04020102020204"/>
            </a:endParaRPr>
          </a:p>
        </p:txBody>
      </p:sp>
      <p:sp>
        <p:nvSpPr>
          <p:cNvPr id="118" name="Rectangle: Top Corners Rounded 7"/>
          <p:cNvSpPr/>
          <p:nvPr/>
        </p:nvSpPr>
        <p:spPr>
          <a:xfrm rot="16200000" flipH="1">
            <a:off x="5197955" y="-1530028"/>
            <a:ext cx="1838801" cy="11176251"/>
          </a:xfrm>
          <a:prstGeom prst="round2SameRect">
            <a:avLst>
              <a:gd name="adj1" fmla="val 0"/>
              <a:gd name="adj2" fmla="val 0"/>
            </a:avLst>
          </a:prstGeom>
          <a:solidFill>
            <a:schemeClr val="tx1">
              <a:lumMod val="85000"/>
              <a:alpha val="8000"/>
            </a:schemeClr>
          </a:solidFill>
          <a:ln w="12700" cap="flat" cmpd="sng" algn="ctr">
            <a:noFill/>
            <a:prstDash val="solid"/>
            <a:miter lim="800000"/>
          </a:ln>
          <a:effectLst/>
        </p:spPr>
        <p:txBody>
          <a:bodyPr rtlCol="0" anchor="ctr"/>
          <a:lstStyle/>
          <a:p>
            <a:pPr algn="ctr" defTabSz="913765">
              <a:defRPr/>
            </a:pPr>
            <a:endParaRPr lang="en-US" sz="1800" kern="0" dirty="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119" name="矩形 128"/>
          <p:cNvSpPr txBox="1"/>
          <p:nvPr/>
        </p:nvSpPr>
        <p:spPr>
          <a:xfrm>
            <a:off x="872977" y="4169362"/>
            <a:ext cx="812800" cy="676275"/>
          </a:xfrm>
          <a:prstGeom prst="rect">
            <a:avLst/>
          </a:prstGeom>
          <a:ln w="12700">
            <a:miter lim="400000"/>
          </a:ln>
        </p:spPr>
        <p:txBody>
          <a:bodyPr wrap="none" lIns="15471" tIns="15471" rIns="15471" bIns="15471" anchor="ctr" anchorCtr="0">
            <a:spAutoFit/>
          </a:bodyPr>
          <a:lstStyle>
            <a:defPPr>
              <a:defRPr lang="en-US"/>
            </a:defPPr>
            <a:lvl1pPr algn="ctr" defTabSz="187960">
              <a:lnSpc>
                <a:spcPct val="120000"/>
              </a:lnSpc>
              <a:defRPr sz="1600" b="0">
                <a:solidFill>
                  <a:srgbClr val="FFFFFF"/>
                </a:solidFill>
                <a:latin typeface="Huawei Sans" panose="020B0A04020102020204"/>
                <a:cs typeface="Huawei Sans" panose="020B0A04020102020204"/>
              </a:defRPr>
            </a:lvl1pPr>
          </a:lstStyle>
          <a:p>
            <a:pPr>
              <a:lnSpc>
                <a:spcPct val="150000"/>
              </a:lnSpc>
            </a:pPr>
            <a:r>
              <a:rPr lang="en-US" altLang="zh-CN" sz="1400" dirty="0">
                <a:solidFill>
                  <a:srgbClr val="1D1D1A"/>
                </a:solidFill>
                <a:latin typeface="微软雅黑" panose="020B0503020204020204" pitchFamily="34" charset="-122"/>
                <a:ea typeface="微软雅黑" panose="020B0503020204020204" pitchFamily="34" charset="-122"/>
                <a:sym typeface="Huawei Sans" panose="020B0A04020102020204"/>
              </a:rPr>
              <a:t>Atlas 900</a:t>
            </a:r>
            <a:endParaRPr lang="en-US" altLang="zh-CN" sz="1400" dirty="0">
              <a:solidFill>
                <a:srgbClr val="1D1D1A"/>
              </a:solidFill>
              <a:latin typeface="微软雅黑" panose="020B0503020204020204" pitchFamily="34" charset="-122"/>
              <a:ea typeface="微软雅黑" panose="020B0503020204020204" pitchFamily="34" charset="-122"/>
              <a:sym typeface="Huawei Sans" panose="020B0A04020102020204"/>
            </a:endParaRPr>
          </a:p>
          <a:p>
            <a:pPr>
              <a:lnSpc>
                <a:spcPct val="150000"/>
              </a:lnSpc>
            </a:pPr>
            <a:r>
              <a:rPr lang="en-US" altLang="zh-CN" sz="1400" dirty="0">
                <a:solidFill>
                  <a:srgbClr val="1D1D1A"/>
                </a:solidFill>
                <a:latin typeface="微软雅黑" panose="020B0503020204020204" pitchFamily="34" charset="-122"/>
                <a:ea typeface="微软雅黑" panose="020B0503020204020204" pitchFamily="34" charset="-122"/>
                <a:sym typeface="Huawei Sans" panose="020B0A04020102020204"/>
              </a:rPr>
              <a:t>AI</a:t>
            </a:r>
            <a:r>
              <a:rPr lang="zh-CN" altLang="en-US" sz="1400" dirty="0">
                <a:solidFill>
                  <a:srgbClr val="1D1D1A"/>
                </a:solidFill>
                <a:latin typeface="微软雅黑" panose="020B0503020204020204" pitchFamily="34" charset="-122"/>
                <a:ea typeface="微软雅黑" panose="020B0503020204020204" pitchFamily="34" charset="-122"/>
                <a:sym typeface="Huawei Sans" panose="020B0A04020102020204"/>
              </a:rPr>
              <a:t> 集群</a:t>
            </a:r>
            <a:endParaRPr lang="en-US" altLang="zh-CN" sz="1400" dirty="0">
              <a:solidFill>
                <a:srgbClr val="1D1D1A"/>
              </a:solidFill>
              <a:latin typeface="微软雅黑" panose="020B0503020204020204" pitchFamily="34" charset="-122"/>
              <a:ea typeface="微软雅黑" panose="020B0503020204020204" pitchFamily="34" charset="-122"/>
              <a:sym typeface="Huawei Sans" panose="020B0A04020102020204"/>
            </a:endParaRPr>
          </a:p>
        </p:txBody>
      </p:sp>
      <p:sp>
        <p:nvSpPr>
          <p:cNvPr id="120" name="矩形 140"/>
          <p:cNvSpPr txBox="1"/>
          <p:nvPr/>
        </p:nvSpPr>
        <p:spPr>
          <a:xfrm>
            <a:off x="1954568" y="4169362"/>
            <a:ext cx="1282065" cy="676275"/>
          </a:xfrm>
          <a:prstGeom prst="rect">
            <a:avLst/>
          </a:prstGeom>
          <a:ln w="12700">
            <a:miter lim="400000"/>
          </a:ln>
        </p:spPr>
        <p:txBody>
          <a:bodyPr wrap="none" lIns="15471" tIns="15471" rIns="15471" bIns="15471" anchor="ctr" anchorCtr="0">
            <a:spAutoFit/>
          </a:bodyPr>
          <a:lstStyle>
            <a:defPPr>
              <a:defRPr lang="en-US"/>
            </a:defPPr>
            <a:lvl1pPr algn="ctr" defTabSz="187960">
              <a:lnSpc>
                <a:spcPct val="120000"/>
              </a:lnSpc>
              <a:defRPr b="0">
                <a:solidFill>
                  <a:srgbClr val="FFFFFF"/>
                </a:solidFill>
                <a:latin typeface="Huawei Sans" panose="020B0A04020102020204"/>
                <a:cs typeface="Huawei Sans" panose="020B0A04020102020204"/>
              </a:defRPr>
            </a:lvl1pPr>
          </a:lstStyle>
          <a:p>
            <a:pPr>
              <a:lnSpc>
                <a:spcPct val="150000"/>
              </a:lnSpc>
            </a:pPr>
            <a:r>
              <a:rPr lang="en-US" altLang="zh-CN" sz="1400" dirty="0">
                <a:solidFill>
                  <a:srgbClr val="1D1D1A"/>
                </a:solidFill>
                <a:latin typeface="微软雅黑" panose="020B0503020204020204" pitchFamily="34" charset="-122"/>
                <a:ea typeface="微软雅黑" panose="020B0503020204020204" pitchFamily="34" charset="-122"/>
                <a:sym typeface="Huawei Sans" panose="020B0A04020102020204"/>
              </a:rPr>
              <a:t>Atlas 800 9000</a:t>
            </a:r>
            <a:endParaRPr lang="en-US" altLang="zh-CN" sz="1400" dirty="0">
              <a:solidFill>
                <a:srgbClr val="1D1D1A"/>
              </a:solidFill>
              <a:latin typeface="微软雅黑" panose="020B0503020204020204" pitchFamily="34" charset="-122"/>
              <a:ea typeface="微软雅黑" panose="020B0503020204020204" pitchFamily="34" charset="-122"/>
              <a:sym typeface="Huawei Sans" panose="020B0A04020102020204"/>
            </a:endParaRPr>
          </a:p>
          <a:p>
            <a:pPr>
              <a:lnSpc>
                <a:spcPct val="150000"/>
              </a:lnSpc>
            </a:pPr>
            <a:r>
              <a:rPr lang="zh-CN" altLang="en-US" sz="1400" dirty="0">
                <a:solidFill>
                  <a:srgbClr val="1D1D1A"/>
                </a:solidFill>
                <a:latin typeface="微软雅黑" panose="020B0503020204020204" pitchFamily="34" charset="-122"/>
                <a:ea typeface="微软雅黑" panose="020B0503020204020204" pitchFamily="34" charset="-122"/>
                <a:sym typeface="Huawei Sans" panose="020B0A04020102020204"/>
              </a:rPr>
              <a:t>训练服务器</a:t>
            </a:r>
            <a:endParaRPr lang="en-US" altLang="zh-CN" sz="1400" dirty="0">
              <a:solidFill>
                <a:srgbClr val="1D1D1A"/>
              </a:solidFill>
              <a:latin typeface="微软雅黑" panose="020B0503020204020204" pitchFamily="34" charset="-122"/>
              <a:ea typeface="微软雅黑" panose="020B0503020204020204" pitchFamily="34" charset="-122"/>
              <a:sym typeface="Huawei Sans" panose="020B0A04020102020204"/>
            </a:endParaRPr>
          </a:p>
        </p:txBody>
      </p:sp>
      <p:sp>
        <p:nvSpPr>
          <p:cNvPr id="121" name="矩形 128"/>
          <p:cNvSpPr txBox="1"/>
          <p:nvPr/>
        </p:nvSpPr>
        <p:spPr>
          <a:xfrm>
            <a:off x="8026586" y="4169362"/>
            <a:ext cx="1275080" cy="676275"/>
          </a:xfrm>
          <a:prstGeom prst="rect">
            <a:avLst/>
          </a:prstGeom>
          <a:ln w="12700">
            <a:miter lim="400000"/>
          </a:ln>
        </p:spPr>
        <p:txBody>
          <a:bodyPr wrap="none" lIns="15471" tIns="15471" rIns="15471" bIns="15471" anchor="ctr" anchorCtr="0">
            <a:spAutoFit/>
          </a:bodyPr>
          <a:lstStyle>
            <a:defPPr>
              <a:defRPr lang="en-US"/>
            </a:defPPr>
            <a:lvl1pPr algn="ctr" defTabSz="187960">
              <a:lnSpc>
                <a:spcPct val="120000"/>
              </a:lnSpc>
              <a:defRPr sz="1600" b="0">
                <a:solidFill>
                  <a:srgbClr val="FFFFFF"/>
                </a:solidFill>
                <a:latin typeface="Huawei Sans" panose="020B0A04020102020204"/>
                <a:cs typeface="Huawei Sans" panose="020B0A04020102020204"/>
              </a:defRPr>
            </a:lvl1pPr>
          </a:lstStyle>
          <a:p>
            <a:pPr>
              <a:lnSpc>
                <a:spcPct val="150000"/>
              </a:lnSpc>
            </a:pPr>
            <a:r>
              <a:rPr lang="en-US" altLang="zh-CN" sz="1400" dirty="0">
                <a:solidFill>
                  <a:srgbClr val="1D1D1A"/>
                </a:solidFill>
                <a:latin typeface="微软雅黑" panose="020B0503020204020204" pitchFamily="34" charset="-122"/>
                <a:ea typeface="微软雅黑" panose="020B0503020204020204" pitchFamily="34" charset="-122"/>
                <a:sym typeface="Huawei Sans" panose="020B0A04020102020204"/>
              </a:rPr>
              <a:t>Atlas 500 Pro</a:t>
            </a:r>
            <a:endParaRPr lang="en-US" altLang="zh-CN" sz="1400" dirty="0">
              <a:solidFill>
                <a:srgbClr val="1D1D1A"/>
              </a:solidFill>
              <a:latin typeface="微软雅黑" panose="020B0503020204020204" pitchFamily="34" charset="-122"/>
              <a:ea typeface="微软雅黑" panose="020B0503020204020204" pitchFamily="34" charset="-122"/>
              <a:sym typeface="Huawei Sans" panose="020B0A04020102020204"/>
            </a:endParaRPr>
          </a:p>
          <a:p>
            <a:pPr>
              <a:lnSpc>
                <a:spcPct val="150000"/>
              </a:lnSpc>
            </a:pPr>
            <a:r>
              <a:rPr lang="zh-CN" altLang="en-US" sz="1400" dirty="0">
                <a:solidFill>
                  <a:srgbClr val="1D1D1A"/>
                </a:solidFill>
                <a:latin typeface="微软雅黑" panose="020B0503020204020204" pitchFamily="34" charset="-122"/>
                <a:ea typeface="微软雅黑" panose="020B0503020204020204" pitchFamily="34" charset="-122"/>
                <a:sym typeface="Huawei Sans" panose="020B0A04020102020204"/>
              </a:rPr>
              <a:t>智能边缘服务器</a:t>
            </a:r>
            <a:endParaRPr lang="en-US" altLang="zh-CN" sz="1400" dirty="0">
              <a:solidFill>
                <a:srgbClr val="1D1D1A"/>
              </a:solidFill>
              <a:latin typeface="微软雅黑" panose="020B0503020204020204" pitchFamily="34" charset="-122"/>
              <a:ea typeface="微软雅黑" panose="020B0503020204020204" pitchFamily="34" charset="-122"/>
              <a:sym typeface="Huawei Sans" panose="020B0A04020102020204"/>
            </a:endParaRPr>
          </a:p>
        </p:txBody>
      </p:sp>
      <p:sp>
        <p:nvSpPr>
          <p:cNvPr id="122" name="矩形 128"/>
          <p:cNvSpPr txBox="1"/>
          <p:nvPr/>
        </p:nvSpPr>
        <p:spPr>
          <a:xfrm>
            <a:off x="10596492" y="4169362"/>
            <a:ext cx="971550" cy="676275"/>
          </a:xfrm>
          <a:prstGeom prst="rect">
            <a:avLst/>
          </a:prstGeom>
          <a:ln w="12700">
            <a:miter lim="400000"/>
          </a:ln>
        </p:spPr>
        <p:txBody>
          <a:bodyPr wrap="none" lIns="15471" tIns="15471" rIns="15471" bIns="15471" anchor="ctr" anchorCtr="0">
            <a:spAutoFit/>
          </a:bodyPr>
          <a:lstStyle>
            <a:defPPr>
              <a:defRPr lang="en-US"/>
            </a:defPPr>
            <a:lvl1pPr algn="ctr" defTabSz="187960">
              <a:lnSpc>
                <a:spcPct val="120000"/>
              </a:lnSpc>
              <a:defRPr sz="1600" b="0">
                <a:solidFill>
                  <a:srgbClr val="FFFFFF"/>
                </a:solidFill>
                <a:latin typeface="Huawei Sans" panose="020B0A04020102020204"/>
                <a:cs typeface="Huawei Sans" panose="020B0A04020102020204"/>
              </a:defRPr>
            </a:lvl1pPr>
          </a:lstStyle>
          <a:p>
            <a:pPr>
              <a:lnSpc>
                <a:spcPct val="150000"/>
              </a:lnSpc>
            </a:pPr>
            <a:r>
              <a:rPr lang="en-US" altLang="zh-CN" sz="1400" dirty="0">
                <a:solidFill>
                  <a:srgbClr val="1D1D1A"/>
                </a:solidFill>
                <a:latin typeface="微软雅黑" panose="020B0503020204020204" pitchFamily="34" charset="-122"/>
                <a:ea typeface="微软雅黑" panose="020B0503020204020204" pitchFamily="34" charset="-122"/>
                <a:sym typeface="Huawei Sans" panose="020B0A04020102020204"/>
              </a:rPr>
              <a:t>Atlas 200</a:t>
            </a:r>
            <a:endParaRPr lang="en-US" altLang="zh-CN" sz="1400" dirty="0">
              <a:solidFill>
                <a:srgbClr val="1D1D1A"/>
              </a:solidFill>
              <a:latin typeface="微软雅黑" panose="020B0503020204020204" pitchFamily="34" charset="-122"/>
              <a:ea typeface="微软雅黑" panose="020B0503020204020204" pitchFamily="34" charset="-122"/>
              <a:sym typeface="Huawei Sans" panose="020B0A04020102020204"/>
            </a:endParaRPr>
          </a:p>
          <a:p>
            <a:pPr>
              <a:lnSpc>
                <a:spcPct val="150000"/>
              </a:lnSpc>
            </a:pPr>
            <a:r>
              <a:rPr lang="en-US" altLang="zh-CN" sz="1400" dirty="0">
                <a:solidFill>
                  <a:srgbClr val="1D1D1A"/>
                </a:solidFill>
                <a:latin typeface="微软雅黑" panose="020B0503020204020204" pitchFamily="34" charset="-122"/>
                <a:ea typeface="微软雅黑" panose="020B0503020204020204" pitchFamily="34" charset="-122"/>
                <a:sym typeface="Huawei Sans" panose="020B0A04020102020204"/>
              </a:rPr>
              <a:t>AI</a:t>
            </a:r>
            <a:r>
              <a:rPr lang="zh-CN" altLang="en-US" sz="1400" dirty="0">
                <a:solidFill>
                  <a:srgbClr val="1D1D1A"/>
                </a:solidFill>
                <a:latin typeface="微软雅黑" panose="020B0503020204020204" pitchFamily="34" charset="-122"/>
                <a:ea typeface="微软雅黑" panose="020B0503020204020204" pitchFamily="34" charset="-122"/>
                <a:sym typeface="Huawei Sans" panose="020B0A04020102020204"/>
              </a:rPr>
              <a:t> 加速模块</a:t>
            </a:r>
            <a:endParaRPr lang="en-US" sz="1400" dirty="0">
              <a:solidFill>
                <a:srgbClr val="1D1D1A"/>
              </a:solidFill>
              <a:latin typeface="微软雅黑" panose="020B0503020204020204" pitchFamily="34" charset="-122"/>
              <a:ea typeface="微软雅黑" panose="020B0503020204020204" pitchFamily="34" charset="-122"/>
              <a:sym typeface="FZLanTingHeiS-R-GB"/>
            </a:endParaRPr>
          </a:p>
        </p:txBody>
      </p:sp>
      <p:pic>
        <p:nvPicPr>
          <p:cNvPr id="123" name="Picture 4" descr="C:\Users\m00203422\AppData\Roaming\eSpace_Desktop\UserData\m00546012\imagefiles\originalImgfiles\F04C6EB6-88D0-4404-9491-C947F51A830B.png"/>
          <p:cNvPicPr>
            <a:picLocks noChangeAspect="1" noChangeArrowheads="1"/>
          </p:cNvPicPr>
          <p:nvPr/>
        </p:nvPicPr>
        <p:blipFill>
          <a:blip r:embed="rId8" cstate="screen"/>
          <a:srcRect/>
          <a:stretch>
            <a:fillRect/>
          </a:stretch>
        </p:blipFill>
        <p:spPr bwMode="auto">
          <a:xfrm>
            <a:off x="8139474" y="3770051"/>
            <a:ext cx="990024" cy="272649"/>
          </a:xfrm>
          <a:prstGeom prst="rect">
            <a:avLst/>
          </a:prstGeom>
          <a:noFill/>
          <a:extLst>
            <a:ext uri="{909E8E84-426E-40DD-AFC4-6F175D3DCCD1}">
              <a14:hiddenFill xmlns:a14="http://schemas.microsoft.com/office/drawing/2010/main">
                <a:solidFill>
                  <a:srgbClr val="FFFFFF"/>
                </a:solidFill>
              </a14:hiddenFill>
            </a:ext>
          </a:extLst>
        </p:spPr>
      </p:pic>
      <p:sp>
        <p:nvSpPr>
          <p:cNvPr id="124" name="矩形 128"/>
          <p:cNvSpPr txBox="1"/>
          <p:nvPr/>
        </p:nvSpPr>
        <p:spPr>
          <a:xfrm>
            <a:off x="9562959" y="4169362"/>
            <a:ext cx="812800" cy="676275"/>
          </a:xfrm>
          <a:prstGeom prst="rect">
            <a:avLst/>
          </a:prstGeom>
          <a:ln w="12700">
            <a:miter lim="400000"/>
          </a:ln>
        </p:spPr>
        <p:txBody>
          <a:bodyPr wrap="none" lIns="15471" tIns="15471" rIns="15471" bIns="15471" anchor="ctr" anchorCtr="0">
            <a:spAutoFit/>
          </a:bodyPr>
          <a:lstStyle>
            <a:defPPr>
              <a:defRPr lang="en-US"/>
            </a:defPPr>
            <a:lvl1pPr algn="ctr" defTabSz="187960">
              <a:lnSpc>
                <a:spcPct val="120000"/>
              </a:lnSpc>
              <a:defRPr sz="1600" b="0">
                <a:solidFill>
                  <a:srgbClr val="FFFFFF"/>
                </a:solidFill>
                <a:latin typeface="Huawei Sans" panose="020B0A04020102020204"/>
                <a:cs typeface="Huawei Sans" panose="020B0A04020102020204"/>
              </a:defRPr>
            </a:lvl1pPr>
          </a:lstStyle>
          <a:p>
            <a:pPr>
              <a:lnSpc>
                <a:spcPct val="150000"/>
              </a:lnSpc>
            </a:pPr>
            <a:r>
              <a:rPr lang="en-US" altLang="zh-CN" sz="1400" dirty="0">
                <a:solidFill>
                  <a:srgbClr val="1D1D1A"/>
                </a:solidFill>
                <a:latin typeface="微软雅黑" panose="020B0503020204020204" pitchFamily="34" charset="-122"/>
                <a:ea typeface="微软雅黑" panose="020B0503020204020204" pitchFamily="34" charset="-122"/>
                <a:sym typeface="Huawei Sans" panose="020B0A04020102020204"/>
              </a:rPr>
              <a:t>Atlas 500</a:t>
            </a:r>
            <a:endParaRPr lang="en-US" altLang="zh-CN" sz="1400" dirty="0">
              <a:solidFill>
                <a:srgbClr val="1D1D1A"/>
              </a:solidFill>
              <a:latin typeface="微软雅黑" panose="020B0503020204020204" pitchFamily="34" charset="-122"/>
              <a:ea typeface="微软雅黑" panose="020B0503020204020204" pitchFamily="34" charset="-122"/>
              <a:sym typeface="Huawei Sans" panose="020B0A04020102020204"/>
            </a:endParaRPr>
          </a:p>
          <a:p>
            <a:pPr>
              <a:lnSpc>
                <a:spcPct val="150000"/>
              </a:lnSpc>
            </a:pPr>
            <a:r>
              <a:rPr lang="zh-CN" altLang="en-US" sz="1400" dirty="0">
                <a:solidFill>
                  <a:srgbClr val="1D1D1A"/>
                </a:solidFill>
                <a:latin typeface="微软雅黑" panose="020B0503020204020204" pitchFamily="34" charset="-122"/>
                <a:ea typeface="微软雅黑" panose="020B0503020204020204" pitchFamily="34" charset="-122"/>
                <a:sym typeface="Huawei Sans" panose="020B0A04020102020204"/>
              </a:rPr>
              <a:t>智能小站</a:t>
            </a:r>
            <a:endParaRPr lang="en-US" altLang="zh-CN" sz="1400" dirty="0">
              <a:solidFill>
                <a:srgbClr val="1D1D1A"/>
              </a:solidFill>
              <a:latin typeface="微软雅黑" panose="020B0503020204020204" pitchFamily="34" charset="-122"/>
              <a:ea typeface="微软雅黑" panose="020B0503020204020204" pitchFamily="34" charset="-122"/>
              <a:sym typeface="Huawei Sans" panose="020B0A04020102020204"/>
            </a:endParaRPr>
          </a:p>
        </p:txBody>
      </p:sp>
      <p:pic>
        <p:nvPicPr>
          <p:cNvPr id="125" name="图片 124" descr="图片包含 电子产品&#10;&#10;描述已自动生成"/>
          <p:cNvPicPr>
            <a:picLocks noChangeAspect="1"/>
          </p:cNvPicPr>
          <p:nvPr/>
        </p:nvPicPr>
        <p:blipFill rotWithShape="1">
          <a:blip r:embed="rId9" cstate="print"/>
          <a:srcRect/>
          <a:stretch>
            <a:fillRect/>
          </a:stretch>
        </p:blipFill>
        <p:spPr>
          <a:xfrm>
            <a:off x="4957347" y="3701676"/>
            <a:ext cx="1215134" cy="377007"/>
          </a:xfrm>
          <a:prstGeom prst="rect">
            <a:avLst/>
          </a:prstGeom>
          <a:effectLst>
            <a:outerShdw blurRad="50800" dist="38100" dir="5400000" algn="tr" rotWithShape="0">
              <a:prstClr val="black">
                <a:alpha val="24000"/>
              </a:prstClr>
            </a:outerShdw>
          </a:effectLst>
        </p:spPr>
      </p:pic>
      <p:sp>
        <p:nvSpPr>
          <p:cNvPr id="126" name="矩形 127"/>
          <p:cNvSpPr txBox="1"/>
          <p:nvPr/>
        </p:nvSpPr>
        <p:spPr>
          <a:xfrm>
            <a:off x="4749946" y="4169362"/>
            <a:ext cx="1774825" cy="676275"/>
          </a:xfrm>
          <a:prstGeom prst="rect">
            <a:avLst/>
          </a:prstGeom>
          <a:ln w="12700">
            <a:miter lim="400000"/>
          </a:ln>
        </p:spPr>
        <p:txBody>
          <a:bodyPr wrap="none" lIns="15471" tIns="15471" rIns="15471" bIns="15471" anchor="ctr" anchorCtr="0">
            <a:spAutoFit/>
          </a:bodyPr>
          <a:lstStyle>
            <a:defPPr>
              <a:defRPr lang="en-US"/>
            </a:defPPr>
            <a:lvl1pPr algn="ctr" defTabSz="187960">
              <a:lnSpc>
                <a:spcPct val="120000"/>
              </a:lnSpc>
              <a:defRPr sz="1600" b="0">
                <a:solidFill>
                  <a:srgbClr val="FFFFFF"/>
                </a:solidFill>
                <a:latin typeface="Huawei Sans" panose="020B0A04020102020204"/>
                <a:cs typeface="Huawei Sans" panose="020B0A04020102020204"/>
              </a:defRPr>
            </a:lvl1pPr>
          </a:lstStyle>
          <a:p>
            <a:pPr>
              <a:lnSpc>
                <a:spcPct val="150000"/>
              </a:lnSpc>
            </a:pPr>
            <a:r>
              <a:rPr lang="en-US" altLang="zh-CN" sz="1400" dirty="0">
                <a:solidFill>
                  <a:srgbClr val="1D1D1A"/>
                </a:solidFill>
                <a:latin typeface="微软雅黑" panose="020B0503020204020204" pitchFamily="34" charset="-122"/>
                <a:ea typeface="微软雅黑" panose="020B0503020204020204" pitchFamily="34" charset="-122"/>
                <a:sym typeface="Huawei Sans" panose="020B0A04020102020204"/>
              </a:rPr>
              <a:t>Atlas 800 3000/3010</a:t>
            </a:r>
            <a:endParaRPr lang="en-US" altLang="zh-CN" sz="1400" dirty="0">
              <a:solidFill>
                <a:srgbClr val="1D1D1A"/>
              </a:solidFill>
              <a:latin typeface="微软雅黑" panose="020B0503020204020204" pitchFamily="34" charset="-122"/>
              <a:ea typeface="微软雅黑" panose="020B0503020204020204" pitchFamily="34" charset="-122"/>
              <a:sym typeface="Huawei Sans" panose="020B0A04020102020204"/>
            </a:endParaRPr>
          </a:p>
          <a:p>
            <a:pPr>
              <a:lnSpc>
                <a:spcPct val="150000"/>
              </a:lnSpc>
            </a:pPr>
            <a:r>
              <a:rPr lang="zh-CN" altLang="en-US" sz="1400" dirty="0">
                <a:solidFill>
                  <a:srgbClr val="1D1D1A"/>
                </a:solidFill>
                <a:latin typeface="微软雅黑" panose="020B0503020204020204" pitchFamily="34" charset="-122"/>
                <a:ea typeface="微软雅黑" panose="020B0503020204020204" pitchFamily="34" charset="-122"/>
                <a:sym typeface="Huawei Sans" panose="020B0A04020102020204"/>
              </a:rPr>
              <a:t>推理服务器</a:t>
            </a:r>
            <a:endParaRPr sz="1400" dirty="0">
              <a:solidFill>
                <a:srgbClr val="1D1D1A"/>
              </a:solidFill>
              <a:latin typeface="微软雅黑" panose="020B0503020204020204" pitchFamily="34" charset="-122"/>
              <a:ea typeface="微软雅黑" panose="020B0503020204020204" pitchFamily="34" charset="-122"/>
              <a:sym typeface="Huawei Sans" panose="020B0A04020102020204"/>
            </a:endParaRPr>
          </a:p>
        </p:txBody>
      </p:sp>
      <p:pic>
        <p:nvPicPr>
          <p:cNvPr id="127" name="图片 33" descr="图片 33"/>
          <p:cNvPicPr>
            <a:picLocks noChangeAspect="1"/>
          </p:cNvPicPr>
          <p:nvPr/>
        </p:nvPicPr>
        <p:blipFill>
          <a:blip r:embed="rId10" cstate="screen"/>
          <a:stretch>
            <a:fillRect/>
          </a:stretch>
        </p:blipFill>
        <p:spPr>
          <a:xfrm>
            <a:off x="6713099" y="3798749"/>
            <a:ext cx="800117" cy="277907"/>
          </a:xfrm>
          <a:prstGeom prst="rect">
            <a:avLst/>
          </a:prstGeom>
          <a:ln w="12700" cap="flat">
            <a:noFill/>
            <a:miter lim="400000"/>
            <a:headEnd/>
            <a:tailEnd/>
          </a:ln>
          <a:effectLst/>
        </p:spPr>
      </p:pic>
      <p:sp>
        <p:nvSpPr>
          <p:cNvPr id="128" name="矩形 127"/>
          <p:cNvSpPr txBox="1"/>
          <p:nvPr/>
        </p:nvSpPr>
        <p:spPr>
          <a:xfrm>
            <a:off x="6683348" y="4169362"/>
            <a:ext cx="917575" cy="676275"/>
          </a:xfrm>
          <a:prstGeom prst="rect">
            <a:avLst/>
          </a:prstGeom>
          <a:ln w="12700">
            <a:miter lim="400000"/>
          </a:ln>
        </p:spPr>
        <p:txBody>
          <a:bodyPr wrap="none" lIns="15471" tIns="15471" rIns="15471" bIns="15471" anchor="ctr" anchorCtr="0">
            <a:spAutoFit/>
          </a:bodyPr>
          <a:lstStyle>
            <a:defPPr>
              <a:defRPr lang="en-US"/>
            </a:defPPr>
            <a:lvl1pPr algn="ctr" defTabSz="187960">
              <a:lnSpc>
                <a:spcPct val="120000"/>
              </a:lnSpc>
              <a:defRPr sz="1600" b="0">
                <a:solidFill>
                  <a:srgbClr val="FFFFFF"/>
                </a:solidFill>
                <a:latin typeface="Huawei Sans" panose="020B0A04020102020204"/>
                <a:cs typeface="Huawei Sans" panose="020B0A04020102020204"/>
              </a:defRPr>
            </a:lvl1pPr>
          </a:lstStyle>
          <a:p>
            <a:pPr>
              <a:lnSpc>
                <a:spcPct val="150000"/>
              </a:lnSpc>
            </a:pPr>
            <a:r>
              <a:rPr lang="en-US" altLang="zh-CN" sz="1400" dirty="0">
                <a:solidFill>
                  <a:srgbClr val="1D1D1A"/>
                </a:solidFill>
                <a:latin typeface="微软雅黑" panose="020B0503020204020204" pitchFamily="34" charset="-122"/>
                <a:ea typeface="微软雅黑" panose="020B0503020204020204" pitchFamily="34" charset="-122"/>
                <a:sym typeface="Huawei Sans" panose="020B0A04020102020204"/>
              </a:rPr>
              <a:t>Atlas 300I </a:t>
            </a:r>
            <a:endParaRPr lang="en-US" altLang="zh-CN" sz="1400" dirty="0">
              <a:solidFill>
                <a:srgbClr val="1D1D1A"/>
              </a:solidFill>
              <a:latin typeface="微软雅黑" panose="020B0503020204020204" pitchFamily="34" charset="-122"/>
              <a:ea typeface="微软雅黑" panose="020B0503020204020204" pitchFamily="34" charset="-122"/>
              <a:sym typeface="Huawei Sans" panose="020B0A04020102020204"/>
            </a:endParaRPr>
          </a:p>
          <a:p>
            <a:pPr>
              <a:lnSpc>
                <a:spcPct val="150000"/>
              </a:lnSpc>
            </a:pPr>
            <a:r>
              <a:rPr lang="zh-CN" altLang="en-US" sz="1400" dirty="0">
                <a:solidFill>
                  <a:srgbClr val="1D1D1A"/>
                </a:solidFill>
                <a:latin typeface="微软雅黑" panose="020B0503020204020204" pitchFamily="34" charset="-122"/>
                <a:ea typeface="微软雅黑" panose="020B0503020204020204" pitchFamily="34" charset="-122"/>
                <a:sym typeface="Huawei Sans" panose="020B0A04020102020204"/>
              </a:rPr>
              <a:t>推理卡</a:t>
            </a:r>
            <a:endParaRPr sz="1400" dirty="0">
              <a:solidFill>
                <a:srgbClr val="1D1D1A"/>
              </a:solidFill>
              <a:latin typeface="微软雅黑" panose="020B0503020204020204" pitchFamily="34" charset="-122"/>
              <a:ea typeface="微软雅黑" panose="020B0503020204020204" pitchFamily="34" charset="-122"/>
              <a:sym typeface="Huawei Sans" panose="020B0A04020102020204"/>
            </a:endParaRPr>
          </a:p>
        </p:txBody>
      </p:sp>
      <p:sp>
        <p:nvSpPr>
          <p:cNvPr id="129" name="矩形 127"/>
          <p:cNvSpPr txBox="1"/>
          <p:nvPr/>
        </p:nvSpPr>
        <p:spPr>
          <a:xfrm>
            <a:off x="3579634" y="4169362"/>
            <a:ext cx="967740" cy="676275"/>
          </a:xfrm>
          <a:prstGeom prst="rect">
            <a:avLst/>
          </a:prstGeom>
          <a:ln w="12700">
            <a:miter lim="400000"/>
          </a:ln>
        </p:spPr>
        <p:txBody>
          <a:bodyPr wrap="none" lIns="15471" tIns="15471" rIns="15471" bIns="15471" anchor="ctr" anchorCtr="0">
            <a:spAutoFit/>
          </a:bodyPr>
          <a:lstStyle>
            <a:defPPr>
              <a:defRPr lang="en-US"/>
            </a:defPPr>
            <a:lvl1pPr algn="ctr" defTabSz="187960">
              <a:lnSpc>
                <a:spcPct val="120000"/>
              </a:lnSpc>
              <a:defRPr sz="1600" b="0">
                <a:solidFill>
                  <a:srgbClr val="FFFFFF"/>
                </a:solidFill>
                <a:latin typeface="Huawei Sans" panose="020B0A04020102020204"/>
                <a:cs typeface="Huawei Sans" panose="020B0A04020102020204"/>
              </a:defRPr>
            </a:lvl1pPr>
          </a:lstStyle>
          <a:p>
            <a:pPr>
              <a:lnSpc>
                <a:spcPct val="150000"/>
              </a:lnSpc>
            </a:pPr>
            <a:r>
              <a:rPr lang="en-US" altLang="zh-CN" sz="1400" dirty="0">
                <a:solidFill>
                  <a:srgbClr val="1D1D1A"/>
                </a:solidFill>
                <a:latin typeface="微软雅黑" panose="020B0503020204020204" pitchFamily="34" charset="-122"/>
                <a:ea typeface="微软雅黑" panose="020B0503020204020204" pitchFamily="34" charset="-122"/>
                <a:sym typeface="Huawei Sans" panose="020B0A04020102020204"/>
              </a:rPr>
              <a:t>Atlas 300T </a:t>
            </a:r>
            <a:endParaRPr lang="en-US" altLang="zh-CN" sz="1400" dirty="0">
              <a:solidFill>
                <a:srgbClr val="1D1D1A"/>
              </a:solidFill>
              <a:latin typeface="微软雅黑" panose="020B0503020204020204" pitchFamily="34" charset="-122"/>
              <a:ea typeface="微软雅黑" panose="020B0503020204020204" pitchFamily="34" charset="-122"/>
              <a:sym typeface="Huawei Sans" panose="020B0A04020102020204"/>
            </a:endParaRPr>
          </a:p>
          <a:p>
            <a:pPr>
              <a:lnSpc>
                <a:spcPct val="150000"/>
              </a:lnSpc>
            </a:pPr>
            <a:r>
              <a:rPr lang="zh-CN" altLang="en-US" sz="1400" dirty="0">
                <a:solidFill>
                  <a:srgbClr val="1D1D1A"/>
                </a:solidFill>
                <a:latin typeface="微软雅黑" panose="020B0503020204020204" pitchFamily="34" charset="-122"/>
                <a:ea typeface="微软雅黑" panose="020B0503020204020204" pitchFamily="34" charset="-122"/>
                <a:sym typeface="Huawei Sans" panose="020B0A04020102020204"/>
              </a:rPr>
              <a:t>训练卡</a:t>
            </a:r>
            <a:endParaRPr sz="1400" dirty="0">
              <a:solidFill>
                <a:srgbClr val="1D1D1A"/>
              </a:solidFill>
              <a:latin typeface="微软雅黑" panose="020B0503020204020204" pitchFamily="34" charset="-122"/>
              <a:ea typeface="微软雅黑" panose="020B0503020204020204" pitchFamily="34" charset="-122"/>
              <a:sym typeface="Huawei Sans" panose="020B0A04020102020204"/>
            </a:endParaRPr>
          </a:p>
        </p:txBody>
      </p:sp>
      <p:pic>
        <p:nvPicPr>
          <p:cNvPr id="130" name="图片 129"/>
          <p:cNvPicPr>
            <a:picLocks noChangeAspect="1"/>
          </p:cNvPicPr>
          <p:nvPr/>
        </p:nvPicPr>
        <p:blipFill>
          <a:blip r:embed="rId11" cstate="screen"/>
          <a:stretch>
            <a:fillRect/>
          </a:stretch>
        </p:blipFill>
        <p:spPr>
          <a:xfrm>
            <a:off x="823195" y="3547810"/>
            <a:ext cx="1054298" cy="791535"/>
          </a:xfrm>
          <a:prstGeom prst="rect">
            <a:avLst/>
          </a:prstGeom>
        </p:spPr>
      </p:pic>
      <p:pic>
        <p:nvPicPr>
          <p:cNvPr id="131" name="图片 130"/>
          <p:cNvPicPr>
            <a:picLocks noChangeAspect="1"/>
          </p:cNvPicPr>
          <p:nvPr/>
        </p:nvPicPr>
        <p:blipFill>
          <a:blip r:embed="rId12" cstate="screen"/>
          <a:stretch>
            <a:fillRect/>
          </a:stretch>
        </p:blipFill>
        <p:spPr>
          <a:xfrm>
            <a:off x="2012410" y="3487739"/>
            <a:ext cx="1253884" cy="941378"/>
          </a:xfrm>
          <a:prstGeom prst="rect">
            <a:avLst/>
          </a:prstGeom>
        </p:spPr>
      </p:pic>
      <p:pic>
        <p:nvPicPr>
          <p:cNvPr id="132" name="图片 131"/>
          <p:cNvPicPr>
            <a:picLocks noChangeAspect="1"/>
          </p:cNvPicPr>
          <p:nvPr/>
        </p:nvPicPr>
        <p:blipFill>
          <a:blip r:embed="rId13" cstate="screen"/>
          <a:stretch>
            <a:fillRect/>
          </a:stretch>
        </p:blipFill>
        <p:spPr>
          <a:xfrm>
            <a:off x="3505812" y="3586034"/>
            <a:ext cx="992034" cy="744789"/>
          </a:xfrm>
          <a:prstGeom prst="rect">
            <a:avLst/>
          </a:prstGeom>
        </p:spPr>
      </p:pic>
      <p:pic>
        <p:nvPicPr>
          <p:cNvPr id="133" name="图片 132"/>
          <p:cNvPicPr>
            <a:picLocks noChangeAspect="1"/>
          </p:cNvPicPr>
          <p:nvPr/>
        </p:nvPicPr>
        <p:blipFill>
          <a:blip r:embed="rId14" cstate="screen"/>
          <a:stretch>
            <a:fillRect/>
          </a:stretch>
        </p:blipFill>
        <p:spPr>
          <a:xfrm>
            <a:off x="9473262" y="3533632"/>
            <a:ext cx="923225" cy="693129"/>
          </a:xfrm>
          <a:prstGeom prst="rect">
            <a:avLst/>
          </a:prstGeom>
        </p:spPr>
      </p:pic>
      <p:pic>
        <p:nvPicPr>
          <p:cNvPr id="134" name="图片 133"/>
          <p:cNvPicPr>
            <a:picLocks noChangeAspect="1"/>
          </p:cNvPicPr>
          <p:nvPr/>
        </p:nvPicPr>
        <p:blipFill>
          <a:blip r:embed="rId15" cstate="screen"/>
          <a:stretch>
            <a:fillRect/>
          </a:stretch>
        </p:blipFill>
        <p:spPr>
          <a:xfrm>
            <a:off x="10507442" y="3468457"/>
            <a:ext cx="1176600" cy="883355"/>
          </a:xfrm>
          <a:prstGeom prst="rect">
            <a:avLst/>
          </a:prstGeom>
        </p:spPr>
      </p:pic>
      <p:cxnSp>
        <p:nvCxnSpPr>
          <p:cNvPr id="135" name="直接箭头连接符 134"/>
          <p:cNvCxnSpPr/>
          <p:nvPr/>
        </p:nvCxnSpPr>
        <p:spPr>
          <a:xfrm>
            <a:off x="653107" y="3543149"/>
            <a:ext cx="6847859" cy="0"/>
          </a:xfrm>
          <a:prstGeom prst="straightConnector1">
            <a:avLst/>
          </a:prstGeom>
          <a:noFill/>
          <a:ln w="6350" cap="flat" cmpd="sng" algn="ctr">
            <a:solidFill>
              <a:srgbClr val="C7000A"/>
            </a:solidFill>
            <a:prstDash val="solid"/>
            <a:miter lim="800000"/>
            <a:headEnd type="arrow" w="med" len="med"/>
            <a:tailEnd type="arrow" w="med" len="med"/>
          </a:ln>
          <a:effectLst/>
        </p:spPr>
      </p:cxnSp>
      <p:cxnSp>
        <p:nvCxnSpPr>
          <p:cNvPr id="136" name="直接箭头连接符 135"/>
          <p:cNvCxnSpPr/>
          <p:nvPr/>
        </p:nvCxnSpPr>
        <p:spPr>
          <a:xfrm>
            <a:off x="7959967" y="3543149"/>
            <a:ext cx="3674361" cy="0"/>
          </a:xfrm>
          <a:prstGeom prst="straightConnector1">
            <a:avLst/>
          </a:prstGeom>
          <a:noFill/>
          <a:ln w="6350" cap="flat" cmpd="sng" algn="ctr">
            <a:solidFill>
              <a:srgbClr val="C7000A"/>
            </a:solidFill>
            <a:prstDash val="solid"/>
            <a:miter lim="800000"/>
            <a:headEnd type="arrow" w="med" len="med"/>
            <a:tailEnd type="arrow" w="med" len="med"/>
          </a:ln>
          <a:effectLst/>
        </p:spPr>
      </p:cxnSp>
      <p:sp>
        <p:nvSpPr>
          <p:cNvPr id="137" name="文本框 136"/>
          <p:cNvSpPr txBox="1"/>
          <p:nvPr/>
        </p:nvSpPr>
        <p:spPr>
          <a:xfrm>
            <a:off x="9048574" y="3061146"/>
            <a:ext cx="1727399" cy="532130"/>
          </a:xfrm>
          <a:prstGeom prst="rect">
            <a:avLst/>
          </a:prstGeom>
          <a:noFill/>
        </p:spPr>
        <p:txBody>
          <a:bodyPr wrap="square" rtlCol="0">
            <a:spAutoFit/>
          </a:bodyPr>
          <a:lstStyle/>
          <a:p>
            <a:pPr algn="ctr">
              <a:lnSpc>
                <a:spcPts val="3440"/>
              </a:lnSpc>
            </a:pPr>
            <a:r>
              <a:rPr lang="zh-CN" altLang="en-US" sz="1800" dirty="0">
                <a:solidFill>
                  <a:srgbClr val="1D1D1A"/>
                </a:solidFill>
                <a:latin typeface="微软雅黑" panose="020B0503020204020204" pitchFamily="34" charset="-122"/>
              </a:rPr>
              <a:t>智能边缘</a:t>
            </a:r>
            <a:endParaRPr lang="zh-CN" altLang="en-US" sz="1800" dirty="0">
              <a:solidFill>
                <a:srgbClr val="1D1D1A"/>
              </a:solidFill>
              <a:latin typeface="微软雅黑" panose="020B0503020204020204" pitchFamily="34" charset="-122"/>
            </a:endParaRPr>
          </a:p>
        </p:txBody>
      </p:sp>
      <p:sp>
        <p:nvSpPr>
          <p:cNvPr id="138" name="文本框 137"/>
          <p:cNvSpPr txBox="1"/>
          <p:nvPr/>
        </p:nvSpPr>
        <p:spPr>
          <a:xfrm>
            <a:off x="3116029" y="3061146"/>
            <a:ext cx="1867269" cy="532130"/>
          </a:xfrm>
          <a:prstGeom prst="rect">
            <a:avLst/>
          </a:prstGeom>
          <a:noFill/>
        </p:spPr>
        <p:txBody>
          <a:bodyPr wrap="square" rtlCol="0">
            <a:spAutoFit/>
          </a:bodyPr>
          <a:lstStyle/>
          <a:p>
            <a:pPr algn="ctr">
              <a:lnSpc>
                <a:spcPts val="3440"/>
              </a:lnSpc>
            </a:pPr>
            <a:r>
              <a:rPr lang="zh-CN" altLang="en-US" sz="1800" dirty="0">
                <a:solidFill>
                  <a:srgbClr val="1D1D1A"/>
                </a:solidFill>
                <a:latin typeface="微软雅黑" panose="020B0503020204020204" pitchFamily="34" charset="-122"/>
              </a:rPr>
              <a:t>数据中心</a:t>
            </a:r>
            <a:endParaRPr lang="zh-CN" altLang="en-US" sz="1800" dirty="0">
              <a:solidFill>
                <a:srgbClr val="1D1D1A"/>
              </a:solidFill>
              <a:latin typeface="微软雅黑" panose="020B0503020204020204" pitchFamily="34" charset="-122"/>
            </a:endParaRPr>
          </a:p>
        </p:txBody>
      </p:sp>
      <p:pic>
        <p:nvPicPr>
          <p:cNvPr id="139" name="Picture 19" descr="\\Bchief-sever180\共享\华为\2016\6月\D-201606417-金融营销材料设计-刘泉\文件\link\组 26.png"/>
          <p:cNvPicPr>
            <a:picLocks noChangeArrowheads="1"/>
          </p:cNvPicPr>
          <p:nvPr/>
        </p:nvPicPr>
        <p:blipFill>
          <a:blip r:embed="rId16" cstate="email">
            <a:grayscl/>
          </a:blip>
          <a:srcRect/>
          <a:stretch>
            <a:fillRect/>
          </a:stretch>
        </p:blipFill>
        <p:spPr bwMode="auto">
          <a:xfrm rot="10800000" flipV="1">
            <a:off x="3116029" y="4910372"/>
            <a:ext cx="5888989" cy="600351"/>
          </a:xfrm>
          <a:prstGeom prst="rect">
            <a:avLst/>
          </a:prstGeom>
          <a:noFill/>
        </p:spPr>
      </p:pic>
      <p:sp>
        <p:nvSpPr>
          <p:cNvPr id="140" name="矩形 139"/>
          <p:cNvSpPr/>
          <p:nvPr/>
        </p:nvSpPr>
        <p:spPr>
          <a:xfrm>
            <a:off x="3840228" y="5619169"/>
            <a:ext cx="4515991" cy="471104"/>
          </a:xfrm>
          <a:prstGeom prst="rect">
            <a:avLst/>
          </a:prstGeom>
          <a:gradFill flip="none" rotWithShape="1">
            <a:gsLst>
              <a:gs pos="0">
                <a:schemeClr val="accent1">
                  <a:lumMod val="75000"/>
                  <a:tint val="66000"/>
                  <a:satMod val="160000"/>
                </a:schemeClr>
              </a:gs>
              <a:gs pos="50000">
                <a:schemeClr val="accent1">
                  <a:lumMod val="75000"/>
                  <a:tint val="44500"/>
                  <a:satMod val="160000"/>
                </a:schemeClr>
              </a:gs>
              <a:gs pos="100000">
                <a:schemeClr val="accent1">
                  <a:lumMod val="75000"/>
                  <a:tint val="23500"/>
                  <a:satMod val="16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dirty="0">
                <a:solidFill>
                  <a:schemeClr val="bg1">
                    <a:lumMod val="50000"/>
                  </a:schemeClr>
                </a:solidFill>
              </a:rPr>
              <a:t>昇腾</a:t>
            </a:r>
            <a:r>
              <a:rPr lang="en-US" altLang="zh-CN" sz="1800" dirty="0">
                <a:solidFill>
                  <a:schemeClr val="bg1">
                    <a:lumMod val="50000"/>
                  </a:schemeClr>
                </a:solidFill>
              </a:rPr>
              <a:t>AI</a:t>
            </a:r>
            <a:r>
              <a:rPr lang="zh-CN" altLang="en-US" sz="1800" dirty="0">
                <a:solidFill>
                  <a:schemeClr val="bg1">
                    <a:lumMod val="50000"/>
                  </a:schemeClr>
                </a:solidFill>
              </a:rPr>
              <a:t>处理器系列（针对推理</a:t>
            </a:r>
            <a:r>
              <a:rPr lang="en-US" altLang="zh-CN" sz="1800" dirty="0">
                <a:solidFill>
                  <a:schemeClr val="bg1">
                    <a:lumMod val="50000"/>
                  </a:schemeClr>
                </a:solidFill>
              </a:rPr>
              <a:t>/</a:t>
            </a:r>
            <a:r>
              <a:rPr lang="zh-CN" altLang="en-US" sz="1800" dirty="0">
                <a:solidFill>
                  <a:schemeClr val="bg1">
                    <a:lumMod val="50000"/>
                  </a:schemeClr>
                </a:solidFill>
              </a:rPr>
              <a:t>训练场景）</a:t>
            </a:r>
            <a:endParaRPr lang="zh-CN" altLang="en-US" sz="1800" dirty="0">
              <a:solidFill>
                <a:schemeClr val="bg1">
                  <a:lumMod val="50000"/>
                </a:schemeClr>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139425" y="6042990"/>
            <a:ext cx="1312676" cy="348426"/>
          </a:xfrm>
          <a:prstGeom prst="rect">
            <a:avLst/>
          </a:prstGeom>
        </p:spPr>
      </p:pic>
      <p:sp>
        <p:nvSpPr>
          <p:cNvPr id="16" name="副标题 1"/>
          <p:cNvSpPr txBox="1"/>
          <p:nvPr/>
        </p:nvSpPr>
        <p:spPr>
          <a:xfrm>
            <a:off x="731838" y="326390"/>
            <a:ext cx="11099165" cy="581025"/>
          </a:xfrm>
          <a:prstGeom prst="rect">
            <a:avLst/>
          </a:prstGeom>
        </p:spPr>
        <p:txBody>
          <a:bodyPr lIns="0" tIns="0" rIns="0" bIns="0" anchor="ctr" anchorCtr="0">
            <a:normAutofit/>
          </a:bodyPr>
          <a:lstStyle>
            <a:lvl1pPr marL="0" indent="0" algn="l" defTabSz="1187450" rtl="0" eaLnBrk="1" latinLnBrk="0" hangingPunct="1">
              <a:lnSpc>
                <a:spcPts val="3430"/>
              </a:lnSpc>
              <a:spcBef>
                <a:spcPts val="0"/>
              </a:spcBef>
              <a:buFont typeface="Arial" panose="020B0604020202020204" pitchFamily="34" charset="0"/>
              <a:buNone/>
              <a:defRPr sz="2400" kern="1200" baseline="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593725" indent="0" algn="ctr" defTabSz="1187450" rtl="0" eaLnBrk="1" latinLnBrk="0" hangingPunct="1">
              <a:lnSpc>
                <a:spcPct val="90000"/>
              </a:lnSpc>
              <a:spcBef>
                <a:spcPts val="650"/>
              </a:spcBef>
              <a:buFont typeface="Arial" panose="020B0604020202020204" pitchFamily="34" charset="0"/>
              <a:buNone/>
              <a:defRPr sz="2595" kern="1200">
                <a:solidFill>
                  <a:schemeClr val="tx1"/>
                </a:solidFill>
                <a:latin typeface="+mn-lt"/>
                <a:ea typeface="+mn-ea"/>
                <a:cs typeface="+mn-cs"/>
              </a:defRPr>
            </a:lvl2pPr>
            <a:lvl3pPr marL="1187450" indent="0" algn="ctr" defTabSz="1187450" rtl="0" eaLnBrk="1" latinLnBrk="0" hangingPunct="1">
              <a:lnSpc>
                <a:spcPct val="90000"/>
              </a:lnSpc>
              <a:spcBef>
                <a:spcPts val="650"/>
              </a:spcBef>
              <a:buFont typeface="Arial" panose="020B0604020202020204" pitchFamily="34" charset="0"/>
              <a:buNone/>
              <a:defRPr sz="2335" kern="1200">
                <a:solidFill>
                  <a:schemeClr val="tx1"/>
                </a:solidFill>
                <a:latin typeface="+mn-lt"/>
                <a:ea typeface="+mn-ea"/>
                <a:cs typeface="+mn-cs"/>
              </a:defRPr>
            </a:lvl3pPr>
            <a:lvl4pPr marL="1781175"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4pPr>
            <a:lvl5pPr marL="2374900"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5pPr>
            <a:lvl6pPr marL="2967990"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6pPr>
            <a:lvl7pPr marL="3561715"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7pPr>
            <a:lvl8pPr marL="4155440"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8pPr>
            <a:lvl9pPr marL="4749165"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9pPr>
          </a:lstStyle>
          <a:p>
            <a:pPr>
              <a:defRPr/>
            </a:pPr>
            <a:r>
              <a:rPr lang="zh-CN" altLang="en-US" sz="2800" b="1" dirty="0">
                <a:solidFill>
                  <a:prstClr val="black"/>
                </a:solidFill>
                <a:latin typeface="微软雅黑" panose="020B0503020204020204" pitchFamily="34" charset="-122"/>
              </a:rPr>
              <a:t>昇腾</a:t>
            </a:r>
            <a:r>
              <a:rPr lang="en-US" altLang="zh-CN" sz="2800" b="1" dirty="0">
                <a:solidFill>
                  <a:prstClr val="black"/>
                </a:solidFill>
                <a:latin typeface="微软雅黑" panose="020B0503020204020204" pitchFamily="34" charset="-122"/>
              </a:rPr>
              <a:t>AI</a:t>
            </a:r>
            <a:r>
              <a:rPr lang="zh-CN" altLang="en-US" sz="2800" b="1" dirty="0">
                <a:solidFill>
                  <a:prstClr val="black"/>
                </a:solidFill>
                <a:latin typeface="微软雅黑" panose="020B0503020204020204" pitchFamily="34" charset="-122"/>
              </a:rPr>
              <a:t>处理器抽象硬件架构</a:t>
            </a:r>
            <a:endParaRPr lang="zh-CN" altLang="en-US" sz="2400" b="1" dirty="0">
              <a:solidFill>
                <a:prstClr val="black"/>
              </a:solidFill>
            </a:endParaRPr>
          </a:p>
        </p:txBody>
      </p:sp>
      <p:pic>
        <p:nvPicPr>
          <p:cNvPr id="2" name="图片 1"/>
          <p:cNvPicPr>
            <a:picLocks noChangeAspect="1"/>
          </p:cNvPicPr>
          <p:nvPr/>
        </p:nvPicPr>
        <p:blipFill>
          <a:blip r:embed="rId2"/>
          <a:stretch>
            <a:fillRect/>
          </a:stretch>
        </p:blipFill>
        <p:spPr>
          <a:xfrm>
            <a:off x="185103" y="1123827"/>
            <a:ext cx="6791664" cy="4919163"/>
          </a:xfrm>
          <a:prstGeom prst="rect">
            <a:avLst/>
          </a:prstGeom>
        </p:spPr>
      </p:pic>
      <p:sp>
        <p:nvSpPr>
          <p:cNvPr id="32" name="Rectangle: Rounded Corners 41"/>
          <p:cNvSpPr/>
          <p:nvPr/>
        </p:nvSpPr>
        <p:spPr>
          <a:xfrm>
            <a:off x="7172643" y="1383484"/>
            <a:ext cx="4838700" cy="4659506"/>
          </a:xfrm>
          <a:prstGeom prst="roundRect">
            <a:avLst>
              <a:gd name="adj" fmla="val 0"/>
            </a:avLst>
          </a:prstGeom>
          <a:solidFill>
            <a:srgbClr val="F2F5F6"/>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 name="矩形 3"/>
          <p:cNvSpPr/>
          <p:nvPr/>
        </p:nvSpPr>
        <p:spPr>
          <a:xfrm>
            <a:off x="7206933" y="1442665"/>
            <a:ext cx="4804410" cy="4541143"/>
          </a:xfrm>
          <a:prstGeom prst="rect">
            <a:avLst/>
          </a:prstGeom>
        </p:spPr>
        <p:txBody>
          <a:bodyPr wrap="square">
            <a:noAutofit/>
          </a:bodyPr>
          <a:lstStyle/>
          <a:p>
            <a:r>
              <a:rPr lang="zh-CN" altLang="en-US" sz="1400" dirty="0">
                <a:latin typeface="微软雅黑" panose="020B0503020204020204" pitchFamily="34" charset="-122"/>
                <a:ea typeface="微软雅黑" panose="020B0503020204020204" pitchFamily="34" charset="-122"/>
              </a:rPr>
              <a:t>每一个</a:t>
            </a:r>
            <a:r>
              <a:rPr lang="en-US" altLang="zh-CN" sz="1400" dirty="0">
                <a:latin typeface="微软雅黑" panose="020B0503020204020204" pitchFamily="34" charset="-122"/>
                <a:ea typeface="微软雅黑" panose="020B0503020204020204" pitchFamily="34" charset="-122"/>
              </a:rPr>
              <a:t>AI</a:t>
            </a:r>
            <a:r>
              <a:rPr lang="zh-CN" altLang="en-US" sz="1400" dirty="0">
                <a:latin typeface="微软雅黑" panose="020B0503020204020204" pitchFamily="34" charset="-122"/>
                <a:ea typeface="微软雅黑" panose="020B0503020204020204" pitchFamily="34" charset="-122"/>
              </a:rPr>
              <a:t>处理器包含若干个</a:t>
            </a:r>
            <a:r>
              <a:rPr lang="en-US" altLang="zh-CN" sz="1400" dirty="0">
                <a:latin typeface="微软雅黑" panose="020B0503020204020204" pitchFamily="34" charset="-122"/>
                <a:ea typeface="微软雅黑" panose="020B0503020204020204" pitchFamily="34" charset="-122"/>
              </a:rPr>
              <a:t>AI Core</a:t>
            </a:r>
            <a:r>
              <a:rPr lang="zh-CN" altLang="en-US" sz="1400" dirty="0">
                <a:latin typeface="微软雅黑" panose="020B0503020204020204" pitchFamily="34" charset="-122"/>
                <a:ea typeface="微软雅黑" panose="020B0503020204020204" pitchFamily="34" charset="-122"/>
              </a:rPr>
              <a:t>，每个</a:t>
            </a:r>
            <a:r>
              <a:rPr lang="en-US" altLang="zh-CN" sz="1400" dirty="0">
                <a:latin typeface="微软雅黑" panose="020B0503020204020204" pitchFamily="34" charset="-122"/>
                <a:ea typeface="微软雅黑" panose="020B0503020204020204" pitchFamily="34" charset="-122"/>
              </a:rPr>
              <a:t>AI Core</a:t>
            </a:r>
            <a:r>
              <a:rPr lang="zh-CN" altLang="en-US" sz="1400" dirty="0">
                <a:latin typeface="微软雅黑" panose="020B0503020204020204" pitchFamily="34" charset="-122"/>
                <a:ea typeface="微软雅黑" panose="020B0503020204020204" pitchFamily="34" charset="-122"/>
              </a:rPr>
              <a:t>包含：</a:t>
            </a:r>
            <a:endParaRPr lang="en-US" altLang="zh-CN" sz="1400" b="1" dirty="0">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l"/>
            </a:pPr>
            <a:r>
              <a:rPr lang="zh-CN" altLang="en-US" sz="1400" b="1" dirty="0">
                <a:latin typeface="微软雅黑" panose="020B0503020204020204" pitchFamily="34" charset="-122"/>
                <a:ea typeface="微软雅黑" panose="020B0503020204020204" pitchFamily="34" charset="-122"/>
              </a:rPr>
              <a:t>计算单元</a:t>
            </a:r>
            <a:endParaRPr lang="en-US" altLang="zh-CN" sz="1400" b="1" dirty="0">
              <a:latin typeface="微软雅黑" panose="020B0503020204020204" pitchFamily="34" charset="-122"/>
              <a:ea typeface="微软雅黑" panose="020B0503020204020204" pitchFamily="34" charset="-122"/>
            </a:endParaRPr>
          </a:p>
          <a:p>
            <a:pPr marL="742950" lvl="1" indent="-285750">
              <a:buFont typeface="Wingdings" panose="05000000000000000000" pitchFamily="2" charset="2"/>
              <a:buChar char="p"/>
            </a:pPr>
            <a:r>
              <a:rPr lang="zh-CN" altLang="en-US" sz="1400" b="1" dirty="0">
                <a:latin typeface="微软雅黑" panose="020B0503020204020204" pitchFamily="34" charset="-122"/>
                <a:ea typeface="微软雅黑" panose="020B0503020204020204" pitchFamily="34" charset="-122"/>
              </a:rPr>
              <a:t>标量（</a:t>
            </a:r>
            <a:r>
              <a:rPr lang="en-US" altLang="zh-CN" sz="1400" b="1" dirty="0">
                <a:latin typeface="微软雅黑" panose="020B0503020204020204" pitchFamily="34" charset="-122"/>
                <a:ea typeface="微软雅黑" panose="020B0503020204020204" pitchFamily="34" charset="-122"/>
              </a:rPr>
              <a:t>Scalar</a:t>
            </a:r>
            <a:r>
              <a:rPr lang="zh-CN" altLang="en-US" sz="1400" b="1"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计算单元：执行地址计算、循环控制等标量计算工作，并把向量计算、矩阵计算、数据搬运、同步</a:t>
            </a:r>
            <a:r>
              <a:rPr lang="zh-CN" altLang="en-US" sz="1400" b="1" dirty="0">
                <a:latin typeface="微软雅黑" panose="020B0503020204020204" pitchFamily="34" charset="-122"/>
                <a:ea typeface="微软雅黑" panose="020B0503020204020204" pitchFamily="34" charset="-122"/>
              </a:rPr>
              <a:t>指令发射</a:t>
            </a:r>
            <a:r>
              <a:rPr lang="zh-CN" altLang="en-US" sz="1400" dirty="0">
                <a:latin typeface="微软雅黑" panose="020B0503020204020204" pitchFamily="34" charset="-122"/>
                <a:ea typeface="微软雅黑" panose="020B0503020204020204" pitchFamily="34" charset="-122"/>
              </a:rPr>
              <a:t>给对应单元执行。</a:t>
            </a:r>
            <a:endParaRPr lang="en-US" altLang="zh-CN" sz="1400" dirty="0">
              <a:latin typeface="微软雅黑" panose="020B0503020204020204" pitchFamily="34" charset="-122"/>
              <a:ea typeface="微软雅黑" panose="020B0503020204020204" pitchFamily="34" charset="-122"/>
            </a:endParaRPr>
          </a:p>
          <a:p>
            <a:pPr marL="742950" lvl="1" indent="-285750">
              <a:buFont typeface="Wingdings" panose="05000000000000000000" pitchFamily="2" charset="2"/>
              <a:buChar char="p"/>
            </a:pPr>
            <a:r>
              <a:rPr lang="zh-CN" altLang="en-US" sz="1400" b="1" dirty="0">
                <a:latin typeface="微软雅黑" panose="020B0503020204020204" pitchFamily="34" charset="-122"/>
                <a:ea typeface="微软雅黑" panose="020B0503020204020204" pitchFamily="34" charset="-122"/>
              </a:rPr>
              <a:t>向量（</a:t>
            </a:r>
            <a:r>
              <a:rPr lang="en-US" altLang="zh-CN" sz="1400" b="1" dirty="0">
                <a:latin typeface="微软雅黑" panose="020B0503020204020204" pitchFamily="34" charset="-122"/>
                <a:ea typeface="微软雅黑" panose="020B0503020204020204" pitchFamily="34" charset="-122"/>
              </a:rPr>
              <a:t>Vector</a:t>
            </a:r>
            <a:r>
              <a:rPr lang="zh-CN" altLang="en-US" sz="1400" b="1"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计算单元：负责执行向量运算。</a:t>
            </a:r>
            <a:endParaRPr lang="en-US" altLang="zh-CN" sz="1400" dirty="0">
              <a:latin typeface="微软雅黑" panose="020B0503020204020204" pitchFamily="34" charset="-122"/>
              <a:ea typeface="微软雅黑" panose="020B0503020204020204" pitchFamily="34" charset="-122"/>
            </a:endParaRPr>
          </a:p>
          <a:p>
            <a:pPr marL="742950" lvl="1" indent="-285750">
              <a:buFont typeface="Wingdings" panose="05000000000000000000" pitchFamily="2" charset="2"/>
              <a:buChar char="p"/>
            </a:pPr>
            <a:r>
              <a:rPr lang="zh-CN" altLang="en-US" sz="1400" b="1" dirty="0">
                <a:latin typeface="微软雅黑" panose="020B0503020204020204" pitchFamily="34" charset="-122"/>
                <a:ea typeface="微软雅黑" panose="020B0503020204020204" pitchFamily="34" charset="-122"/>
              </a:rPr>
              <a:t>矩阵（</a:t>
            </a:r>
            <a:r>
              <a:rPr lang="en-US" altLang="zh-CN" sz="1400" b="1" dirty="0">
                <a:latin typeface="微软雅黑" panose="020B0503020204020204" pitchFamily="34" charset="-122"/>
                <a:ea typeface="微软雅黑" panose="020B0503020204020204" pitchFamily="34" charset="-122"/>
              </a:rPr>
              <a:t>Cube</a:t>
            </a:r>
            <a:r>
              <a:rPr lang="zh-CN" altLang="en-US" sz="1400" b="1"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计算单元：负责执行矩阵运算。</a:t>
            </a:r>
            <a:endParaRPr lang="en-US" altLang="zh-CN" sz="1400" dirty="0">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l"/>
            </a:pPr>
            <a:r>
              <a:rPr lang="zh-CN" altLang="en-US" sz="1400" b="1" dirty="0">
                <a:latin typeface="微软雅黑" panose="020B0503020204020204" pitchFamily="34" charset="-122"/>
                <a:ea typeface="微软雅黑" panose="020B0503020204020204" pitchFamily="34" charset="-122"/>
              </a:rPr>
              <a:t>存储单元</a:t>
            </a:r>
            <a:endParaRPr lang="en-US" altLang="zh-CN" sz="1400" b="1" dirty="0">
              <a:latin typeface="微软雅黑" panose="020B0503020204020204" pitchFamily="34" charset="-122"/>
              <a:ea typeface="微软雅黑" panose="020B0503020204020204" pitchFamily="34" charset="-122"/>
            </a:endParaRPr>
          </a:p>
          <a:p>
            <a:pPr marL="742950" lvl="1" indent="-285750">
              <a:buFont typeface="Wingdings" panose="05000000000000000000" pitchFamily="2" charset="2"/>
              <a:buChar char="p"/>
            </a:pPr>
            <a:r>
              <a:rPr lang="en-US" altLang="zh-CN" sz="1400" b="1" dirty="0">
                <a:latin typeface="微软雅黑" panose="020B0503020204020204" pitchFamily="34" charset="-122"/>
                <a:ea typeface="微软雅黑" panose="020B0503020204020204" pitchFamily="34" charset="-122"/>
              </a:rPr>
              <a:t>Global Memory(</a:t>
            </a:r>
            <a:r>
              <a:rPr lang="zh-CN" altLang="en-US" sz="1400" b="1" dirty="0">
                <a:latin typeface="微软雅黑" panose="020B0503020204020204" pitchFamily="34" charset="-122"/>
                <a:ea typeface="微软雅黑" panose="020B0503020204020204" pitchFamily="34" charset="-122"/>
              </a:rPr>
              <a:t>简称</a:t>
            </a:r>
            <a:r>
              <a:rPr lang="en-US" altLang="zh-CN" sz="1400" b="1" dirty="0">
                <a:latin typeface="微软雅黑" panose="020B0503020204020204" pitchFamily="34" charset="-122"/>
                <a:ea typeface="微软雅黑" panose="020B0503020204020204" pitchFamily="34" charset="-122"/>
              </a:rPr>
              <a:t>GM)</a:t>
            </a:r>
            <a:r>
              <a:rPr lang="en-US" altLang="zh-CN" sz="1400" dirty="0">
                <a:latin typeface="微软雅黑" panose="020B0503020204020204" pitchFamily="34" charset="-122"/>
                <a:ea typeface="微软雅黑" panose="020B0503020204020204" pitchFamily="34" charset="-122"/>
              </a:rPr>
              <a:t>: Device</a:t>
            </a:r>
            <a:r>
              <a:rPr lang="zh-CN" altLang="en-US" sz="1400" dirty="0">
                <a:latin typeface="微软雅黑" panose="020B0503020204020204" pitchFamily="34" charset="-122"/>
                <a:ea typeface="微软雅黑" panose="020B0503020204020204" pitchFamily="34" charset="-122"/>
              </a:rPr>
              <a:t>侧全局存储，也就是</a:t>
            </a:r>
            <a:r>
              <a:rPr lang="en-US" altLang="zh-CN" sz="1400" dirty="0">
                <a:latin typeface="微软雅黑" panose="020B0503020204020204" pitchFamily="34" charset="-122"/>
                <a:ea typeface="微软雅黑" panose="020B0503020204020204" pitchFamily="34" charset="-122"/>
              </a:rPr>
              <a:t>Device Memory</a:t>
            </a:r>
            <a:r>
              <a:rPr lang="zh-CN" altLang="en-US" sz="1400" dirty="0">
                <a:latin typeface="微软雅黑" panose="020B0503020204020204" pitchFamily="34" charset="-122"/>
                <a:ea typeface="微软雅黑" panose="020B0503020204020204" pitchFamily="34" charset="-122"/>
              </a:rPr>
              <a:t>。</a:t>
            </a:r>
            <a:endParaRPr lang="en-US" altLang="zh-CN" sz="1400" dirty="0">
              <a:latin typeface="微软雅黑" panose="020B0503020204020204" pitchFamily="34" charset="-122"/>
              <a:ea typeface="微软雅黑" panose="020B0503020204020204" pitchFamily="34" charset="-122"/>
            </a:endParaRPr>
          </a:p>
          <a:p>
            <a:pPr marL="742950" lvl="1" indent="-285750">
              <a:buFont typeface="Wingdings" panose="05000000000000000000" pitchFamily="2" charset="2"/>
              <a:buChar char="p"/>
            </a:pPr>
            <a:r>
              <a:rPr lang="en-US" altLang="zh-CN" sz="1400" b="1" dirty="0">
                <a:latin typeface="微软雅黑" panose="020B0503020204020204" pitchFamily="34" charset="-122"/>
                <a:ea typeface="微软雅黑" panose="020B0503020204020204" pitchFamily="34" charset="-122"/>
              </a:rPr>
              <a:t>Local Memory</a:t>
            </a:r>
            <a:r>
              <a:rPr lang="zh-CN" altLang="en-US" sz="1400" b="1" dirty="0">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AI Core</a:t>
            </a:r>
            <a:r>
              <a:rPr lang="zh-CN" altLang="en-US" sz="1400" dirty="0">
                <a:latin typeface="微软雅黑" panose="020B0503020204020204" pitchFamily="34" charset="-122"/>
                <a:ea typeface="微软雅黑" panose="020B0503020204020204" pitchFamily="34" charset="-122"/>
              </a:rPr>
              <a:t>片内存储，有多种类型。</a:t>
            </a:r>
            <a:r>
              <a:rPr lang="en-US" altLang="zh-CN" sz="1400" dirty="0">
                <a:latin typeface="微软雅黑" panose="020B0503020204020204" pitchFamily="34" charset="-122"/>
                <a:ea typeface="微软雅黑" panose="020B0503020204020204" pitchFamily="34" charset="-122"/>
              </a:rPr>
              <a:t>Vector</a:t>
            </a:r>
            <a:r>
              <a:rPr lang="zh-CN" altLang="en-US" sz="1400" dirty="0">
                <a:latin typeface="微软雅黑" panose="020B0503020204020204" pitchFamily="34" charset="-122"/>
                <a:ea typeface="微软雅黑" panose="020B0503020204020204" pitchFamily="34" charset="-122"/>
              </a:rPr>
              <a:t>计算单元有</a:t>
            </a:r>
            <a:r>
              <a:rPr lang="en-US" altLang="zh-CN" sz="1400" dirty="0">
                <a:latin typeface="微软雅黑" panose="020B0503020204020204" pitchFamily="34" charset="-122"/>
                <a:ea typeface="微软雅黑" panose="020B0503020204020204" pitchFamily="34" charset="-122"/>
              </a:rPr>
              <a:t>UB</a:t>
            </a:r>
            <a:r>
              <a:rPr lang="zh-CN" altLang="en-US" sz="1400" dirty="0">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Cube</a:t>
            </a:r>
            <a:r>
              <a:rPr lang="zh-CN" altLang="en-US" sz="1400" dirty="0">
                <a:latin typeface="微软雅黑" panose="020B0503020204020204" pitchFamily="34" charset="-122"/>
                <a:ea typeface="微软雅黑" panose="020B0503020204020204" pitchFamily="34" charset="-122"/>
              </a:rPr>
              <a:t>计算单元有</a:t>
            </a:r>
            <a:r>
              <a:rPr lang="en-US" altLang="zh-CN" sz="1400" dirty="0">
                <a:latin typeface="微软雅黑" panose="020B0503020204020204" pitchFamily="34" charset="-122"/>
                <a:ea typeface="微软雅黑" panose="020B0503020204020204" pitchFamily="34" charset="-122"/>
              </a:rPr>
              <a:t>L1</a:t>
            </a:r>
            <a:r>
              <a:rPr lang="zh-CN" altLang="en-US" sz="1400" dirty="0">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L0A/L0B</a:t>
            </a:r>
            <a:r>
              <a:rPr lang="zh-CN" altLang="en-US" sz="1400" dirty="0">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L0C</a:t>
            </a:r>
            <a:r>
              <a:rPr lang="zh-CN" altLang="en-US" sz="1400" dirty="0">
                <a:latin typeface="微软雅黑" panose="020B0503020204020204" pitchFamily="34" charset="-122"/>
                <a:ea typeface="微软雅黑" panose="020B0503020204020204" pitchFamily="34" charset="-122"/>
              </a:rPr>
              <a:t>。</a:t>
            </a:r>
            <a:endParaRPr lang="en-US" altLang="zh-CN" sz="1400" dirty="0">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l"/>
            </a:pPr>
            <a:r>
              <a:rPr lang="zh-CN" altLang="en-US" sz="1400" b="1" dirty="0">
                <a:latin typeface="微软雅黑" panose="020B0503020204020204" pitchFamily="34" charset="-122"/>
                <a:ea typeface="微软雅黑" panose="020B0503020204020204" pitchFamily="34" charset="-122"/>
              </a:rPr>
              <a:t>搬运单元</a:t>
            </a:r>
            <a:endParaRPr lang="en-US" altLang="zh-CN" sz="1400" b="1" dirty="0">
              <a:latin typeface="微软雅黑" panose="020B0503020204020204" pitchFamily="34" charset="-122"/>
              <a:ea typeface="微软雅黑" panose="020B0503020204020204" pitchFamily="34" charset="-122"/>
            </a:endParaRPr>
          </a:p>
          <a:p>
            <a:pPr marL="742950" lvl="1" indent="-285750">
              <a:buFont typeface="Wingdings" panose="05000000000000000000" pitchFamily="2" charset="2"/>
              <a:buChar char="p"/>
            </a:pPr>
            <a:r>
              <a:rPr lang="en-US" altLang="zh-CN" sz="1400" dirty="0">
                <a:latin typeface="微软雅黑" panose="020B0503020204020204" pitchFamily="34" charset="-122"/>
                <a:ea typeface="微软雅黑" panose="020B0503020204020204" pitchFamily="34" charset="-122"/>
              </a:rPr>
              <a:t>DMA</a:t>
            </a:r>
            <a:r>
              <a:rPr lang="zh-CN" altLang="en-US" sz="1400" dirty="0">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Direct Memory Access</a:t>
            </a:r>
            <a:r>
              <a:rPr lang="zh-CN" altLang="en-US" sz="1400" dirty="0">
                <a:latin typeface="微软雅黑" panose="020B0503020204020204" pitchFamily="34" charset="-122"/>
                <a:ea typeface="微软雅黑" panose="020B0503020204020204" pitchFamily="34" charset="-122"/>
              </a:rPr>
              <a:t>）负责</a:t>
            </a:r>
            <a:r>
              <a:rPr lang="en-US" altLang="zh-CN" sz="1400" dirty="0">
                <a:latin typeface="微软雅黑" panose="020B0503020204020204" pitchFamily="34" charset="-122"/>
                <a:ea typeface="微软雅黑" panose="020B0503020204020204" pitchFamily="34" charset="-122"/>
              </a:rPr>
              <a:t>GM</a:t>
            </a:r>
            <a:r>
              <a:rPr lang="zh-CN" altLang="en-US" sz="1400" dirty="0">
                <a:latin typeface="微软雅黑" panose="020B0503020204020204" pitchFamily="34" charset="-122"/>
                <a:ea typeface="微软雅黑" panose="020B0503020204020204" pitchFamily="34" charset="-122"/>
              </a:rPr>
              <a:t>与</a:t>
            </a:r>
            <a:r>
              <a:rPr lang="en-US" altLang="zh-CN" sz="1400" dirty="0">
                <a:latin typeface="微软雅黑" panose="020B0503020204020204" pitchFamily="34" charset="-122"/>
                <a:ea typeface="微软雅黑" panose="020B0503020204020204" pitchFamily="34" charset="-122"/>
              </a:rPr>
              <a:t>Local Memory</a:t>
            </a:r>
            <a:r>
              <a:rPr lang="zh-CN" altLang="en-US" sz="1400" dirty="0">
                <a:latin typeface="微软雅黑" panose="020B0503020204020204" pitchFamily="34" charset="-122"/>
                <a:ea typeface="微软雅黑" panose="020B0503020204020204" pitchFamily="34" charset="-122"/>
              </a:rPr>
              <a:t>，以及不同类型的</a:t>
            </a:r>
            <a:r>
              <a:rPr lang="en-US" altLang="zh-CN" sz="1400" dirty="0">
                <a:latin typeface="微软雅黑" panose="020B0503020204020204" pitchFamily="34" charset="-122"/>
                <a:ea typeface="微软雅黑" panose="020B0503020204020204" pitchFamily="34" charset="-122"/>
              </a:rPr>
              <a:t>Local Memory</a:t>
            </a:r>
            <a:r>
              <a:rPr lang="zh-CN" altLang="en-US" sz="1400" dirty="0">
                <a:latin typeface="微软雅黑" panose="020B0503020204020204" pitchFamily="34" charset="-122"/>
                <a:ea typeface="微软雅黑" panose="020B0503020204020204" pitchFamily="34" charset="-122"/>
              </a:rPr>
              <a:t>数据搬运。比较典型的有</a:t>
            </a:r>
            <a:endParaRPr lang="en-US" altLang="zh-CN" sz="1400" dirty="0">
              <a:latin typeface="微软雅黑" panose="020B0503020204020204" pitchFamily="34" charset="-122"/>
              <a:ea typeface="微软雅黑" panose="020B0503020204020204" pitchFamily="34" charset="-122"/>
            </a:endParaRPr>
          </a:p>
          <a:p>
            <a:pPr marL="1200150" lvl="2" indent="-285750">
              <a:buFont typeface="Wingdings" panose="05000000000000000000" pitchFamily="2" charset="2"/>
              <a:buChar char="Ø"/>
            </a:pPr>
            <a:r>
              <a:rPr lang="en-US" altLang="zh-CN" sz="1400" b="1" dirty="0">
                <a:latin typeface="微软雅黑" panose="020B0503020204020204" pitchFamily="34" charset="-122"/>
                <a:ea typeface="微软雅黑" panose="020B0503020204020204" pitchFamily="34" charset="-122"/>
              </a:rPr>
              <a:t>MTE1</a:t>
            </a:r>
            <a:r>
              <a:rPr lang="en-US" altLang="zh-CN" sz="1400" dirty="0">
                <a:latin typeface="微软雅黑" panose="020B0503020204020204" pitchFamily="34" charset="-122"/>
                <a:ea typeface="微软雅黑" panose="020B0503020204020204" pitchFamily="34" charset="-122"/>
              </a:rPr>
              <a:t>(Memory Transfer Engine 1)</a:t>
            </a:r>
            <a:r>
              <a:rPr lang="zh-CN" altLang="en-US" sz="1400" dirty="0">
                <a:latin typeface="微软雅黑" panose="020B0503020204020204" pitchFamily="34" charset="-122"/>
                <a:ea typeface="微软雅黑" panose="020B0503020204020204" pitchFamily="34" charset="-122"/>
              </a:rPr>
              <a:t>负责</a:t>
            </a:r>
            <a:r>
              <a:rPr lang="en-US" altLang="zh-CN" sz="1400" dirty="0">
                <a:latin typeface="微软雅黑" panose="020B0503020204020204" pitchFamily="34" charset="-122"/>
                <a:ea typeface="微软雅黑" panose="020B0503020204020204" pitchFamily="34" charset="-122"/>
              </a:rPr>
              <a:t>L1-&gt;L0A/L0B; </a:t>
            </a:r>
            <a:endParaRPr lang="en-US" altLang="zh-CN" sz="1400" dirty="0">
              <a:latin typeface="微软雅黑" panose="020B0503020204020204" pitchFamily="34" charset="-122"/>
              <a:ea typeface="微软雅黑" panose="020B0503020204020204" pitchFamily="34" charset="-122"/>
            </a:endParaRPr>
          </a:p>
          <a:p>
            <a:pPr marL="1200150" lvl="2" indent="-285750">
              <a:buFont typeface="Wingdings" panose="05000000000000000000" pitchFamily="2" charset="2"/>
              <a:buChar char="Ø"/>
            </a:pPr>
            <a:r>
              <a:rPr lang="en-US" altLang="zh-CN" sz="1400" b="1" dirty="0">
                <a:latin typeface="微软雅黑" panose="020B0503020204020204" pitchFamily="34" charset="-122"/>
                <a:ea typeface="微软雅黑" panose="020B0503020204020204" pitchFamily="34" charset="-122"/>
              </a:rPr>
              <a:t>MTE2</a:t>
            </a:r>
            <a:r>
              <a:rPr lang="zh-CN" altLang="en-US" sz="1400" dirty="0">
                <a:latin typeface="微软雅黑" panose="020B0503020204020204" pitchFamily="34" charset="-122"/>
                <a:ea typeface="微软雅黑" panose="020B0503020204020204" pitchFamily="34" charset="-122"/>
              </a:rPr>
              <a:t>负责</a:t>
            </a:r>
            <a:r>
              <a:rPr lang="en-US" altLang="zh-CN" sz="1400" dirty="0">
                <a:latin typeface="微软雅黑" panose="020B0503020204020204" pitchFamily="34" charset="-122"/>
                <a:ea typeface="微软雅黑" panose="020B0503020204020204" pitchFamily="34" charset="-122"/>
              </a:rPr>
              <a:t>GM-&gt;UB/L1/L0A/L0B</a:t>
            </a:r>
            <a:r>
              <a:rPr lang="zh-CN" altLang="en-US" sz="1400" dirty="0">
                <a:latin typeface="微软雅黑" panose="020B0503020204020204" pitchFamily="34" charset="-122"/>
                <a:ea typeface="微软雅黑" panose="020B0503020204020204" pitchFamily="34" charset="-122"/>
              </a:rPr>
              <a:t>。</a:t>
            </a:r>
            <a:endParaRPr lang="en-US" altLang="zh-CN" sz="1400" dirty="0">
              <a:latin typeface="微软雅黑" panose="020B0503020204020204" pitchFamily="34" charset="-122"/>
              <a:ea typeface="微软雅黑" panose="020B0503020204020204" pitchFamily="34" charset="-122"/>
            </a:endParaRPr>
          </a:p>
          <a:p>
            <a:pPr marL="1200150" lvl="2" indent="-285750">
              <a:buFont typeface="Wingdings" panose="05000000000000000000" pitchFamily="2" charset="2"/>
              <a:buChar char="Ø"/>
            </a:pPr>
            <a:r>
              <a:rPr lang="en-US" altLang="zh-CN" sz="1400" b="1" dirty="0">
                <a:latin typeface="微软雅黑" panose="020B0503020204020204" pitchFamily="34" charset="-122"/>
                <a:ea typeface="微软雅黑" panose="020B0503020204020204" pitchFamily="34" charset="-122"/>
              </a:rPr>
              <a:t>MTE3</a:t>
            </a:r>
            <a:r>
              <a:rPr lang="zh-CN" altLang="en-US" sz="1400" dirty="0">
                <a:latin typeface="微软雅黑" panose="020B0503020204020204" pitchFamily="34" charset="-122"/>
                <a:ea typeface="微软雅黑" panose="020B0503020204020204" pitchFamily="34" charset="-122"/>
              </a:rPr>
              <a:t>负责</a:t>
            </a:r>
            <a:r>
              <a:rPr lang="en-US" altLang="zh-CN" sz="1400" dirty="0">
                <a:latin typeface="微软雅黑" panose="020B0503020204020204" pitchFamily="34" charset="-122"/>
                <a:ea typeface="微软雅黑" panose="020B0503020204020204" pitchFamily="34" charset="-122"/>
              </a:rPr>
              <a:t>UB-&gt;GM</a:t>
            </a:r>
            <a:r>
              <a:rPr lang="zh-CN" altLang="en-US" sz="1400" dirty="0">
                <a:latin typeface="微软雅黑" panose="020B0503020204020204" pitchFamily="34" charset="-122"/>
                <a:ea typeface="微软雅黑" panose="020B0503020204020204" pitchFamily="34" charset="-122"/>
              </a:rPr>
              <a:t>。</a:t>
            </a:r>
            <a:endParaRPr lang="zh-CN" altLang="en-US" sz="14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2" descr="https://resource.idp.huawei.com/idpresource/nasshare/editor/image/34040284354/1_zh-cn_image_0000001618836433.png#https://resource.idp.huawei.com/idpresource/nasshare/editor/image/34040284354/1_zh-cn_image_0000001618556005.eddx"/>
          <p:cNvPicPr>
            <a:picLocks noChangeAspect="1" noChangeArrowheads="1"/>
          </p:cNvPicPr>
          <p:nvPr/>
        </p:nvPicPr>
        <p:blipFill>
          <a:blip r:embed="rId1"/>
          <a:srcRect/>
          <a:stretch>
            <a:fillRect/>
          </a:stretch>
        </p:blipFill>
        <p:spPr bwMode="auto">
          <a:xfrm>
            <a:off x="5971850" y="1201886"/>
            <a:ext cx="5651231" cy="4152145"/>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p:cNvSpPr/>
          <p:nvPr/>
        </p:nvSpPr>
        <p:spPr>
          <a:xfrm>
            <a:off x="7210742" y="5480608"/>
            <a:ext cx="3182620" cy="306705"/>
          </a:xfrm>
          <a:prstGeom prst="rect">
            <a:avLst/>
          </a:prstGeom>
        </p:spPr>
        <p:txBody>
          <a:bodyPr wrap="none">
            <a:spAutoFit/>
          </a:bodyPr>
          <a:lstStyle/>
          <a:p>
            <a:r>
              <a:rPr lang="en-US" altLang="zh-CN" sz="1400" dirty="0"/>
              <a:t>AI Core</a:t>
            </a:r>
            <a:r>
              <a:rPr lang="zh-CN" altLang="en-US" sz="1400" dirty="0"/>
              <a:t>内部并行计算架构抽象示意图</a:t>
            </a:r>
            <a:endParaRPr lang="zh-CN" altLang="en-US" sz="1400" dirty="0"/>
          </a:p>
        </p:txBody>
      </p:sp>
      <p:sp>
        <p:nvSpPr>
          <p:cNvPr id="2" name="矩形 1"/>
          <p:cNvSpPr/>
          <p:nvPr/>
        </p:nvSpPr>
        <p:spPr>
          <a:xfrm>
            <a:off x="573364" y="1201885"/>
            <a:ext cx="4814697" cy="4939030"/>
          </a:xfrm>
          <a:prstGeom prst="rect">
            <a:avLst/>
          </a:prstGeom>
        </p:spPr>
        <p:txBody>
          <a:bodyPr wrap="square">
            <a:spAutoFit/>
          </a:bodyPr>
          <a:lstStyle/>
          <a:p>
            <a:pPr algn="just">
              <a:lnSpc>
                <a:spcPct val="150000"/>
              </a:lnSpc>
            </a:pPr>
            <a:r>
              <a:rPr lang="zh-CN" altLang="en-US" sz="1400" dirty="0">
                <a:solidFill>
                  <a:srgbClr val="00B0F0"/>
                </a:solidFill>
              </a:rPr>
              <a:t>异步指令流</a:t>
            </a:r>
            <a:endParaRPr lang="en-US" altLang="zh-CN" sz="1400" dirty="0">
              <a:solidFill>
                <a:srgbClr val="00B0F0"/>
              </a:solidFill>
            </a:endParaRPr>
          </a:p>
          <a:p>
            <a:pPr algn="just">
              <a:lnSpc>
                <a:spcPct val="150000"/>
              </a:lnSpc>
            </a:pPr>
            <a:r>
              <a:rPr lang="en-US" altLang="zh-CN" sz="1400" dirty="0"/>
              <a:t>Scalar</a:t>
            </a:r>
            <a:r>
              <a:rPr lang="zh-CN" altLang="en-US" sz="1400" dirty="0"/>
              <a:t>计算单元读取指令序列，并把向量计算、矩阵计算、数据搬运指令发射给对应单元的指令队列，向量计算单元、矩阵计算单元、数据搬运单元异步的并行执行接收到的指令</a:t>
            </a:r>
            <a:endParaRPr lang="en-US" altLang="zh-CN" sz="1400" dirty="0"/>
          </a:p>
          <a:p>
            <a:pPr algn="just">
              <a:lnSpc>
                <a:spcPct val="150000"/>
              </a:lnSpc>
            </a:pPr>
            <a:endParaRPr lang="zh-CN" altLang="en-US" sz="1400" dirty="0"/>
          </a:p>
          <a:p>
            <a:pPr algn="just">
              <a:lnSpc>
                <a:spcPct val="150000"/>
              </a:lnSpc>
            </a:pPr>
            <a:r>
              <a:rPr lang="zh-CN" altLang="en-US" sz="1400" dirty="0">
                <a:solidFill>
                  <a:srgbClr val="FF9900"/>
                </a:solidFill>
              </a:rPr>
              <a:t>同步信号流</a:t>
            </a:r>
            <a:endParaRPr lang="en-US" altLang="zh-CN" sz="1400" dirty="0">
              <a:solidFill>
                <a:srgbClr val="FF9900"/>
              </a:solidFill>
            </a:endParaRPr>
          </a:p>
          <a:p>
            <a:pPr algn="just">
              <a:lnSpc>
                <a:spcPct val="150000"/>
              </a:lnSpc>
            </a:pPr>
            <a:r>
              <a:rPr lang="zh-CN" altLang="en-US" sz="1400" dirty="0"/>
              <a:t>指令间可能会存在依赖关系，为了保证不同指令队列间的指令按照正确的逻辑关系执行，</a:t>
            </a:r>
            <a:r>
              <a:rPr lang="en-US" altLang="zh-CN" sz="1400" dirty="0"/>
              <a:t>Scalar</a:t>
            </a:r>
            <a:r>
              <a:rPr lang="zh-CN" altLang="en-US" sz="1400" dirty="0"/>
              <a:t>计算单元也会给对应单元下发同步指令</a:t>
            </a:r>
            <a:endParaRPr lang="en-US" altLang="zh-CN" sz="1400" dirty="0"/>
          </a:p>
          <a:p>
            <a:pPr algn="just">
              <a:lnSpc>
                <a:spcPct val="150000"/>
              </a:lnSpc>
            </a:pPr>
            <a:endParaRPr lang="zh-CN" altLang="en-US" sz="1400" dirty="0"/>
          </a:p>
          <a:p>
            <a:pPr algn="just">
              <a:lnSpc>
                <a:spcPct val="150000"/>
              </a:lnSpc>
            </a:pPr>
            <a:r>
              <a:rPr lang="zh-CN" altLang="en-US" sz="1400" dirty="0">
                <a:solidFill>
                  <a:schemeClr val="accent2"/>
                </a:solidFill>
              </a:rPr>
              <a:t>计算数据流</a:t>
            </a:r>
            <a:endParaRPr lang="en-US" altLang="zh-CN" sz="1400" dirty="0">
              <a:solidFill>
                <a:schemeClr val="accent2"/>
              </a:solidFill>
            </a:endParaRPr>
          </a:p>
          <a:p>
            <a:pPr algn="just">
              <a:lnSpc>
                <a:spcPct val="150000"/>
              </a:lnSpc>
            </a:pPr>
            <a:r>
              <a:rPr lang="en-US" altLang="zh-CN" sz="1400" dirty="0"/>
              <a:t>DMA</a:t>
            </a:r>
            <a:r>
              <a:rPr lang="zh-CN" altLang="en-US" sz="1400" dirty="0"/>
              <a:t>搬入单元把数据搬运到</a:t>
            </a:r>
            <a:r>
              <a:rPr lang="en-US" altLang="zh-CN" sz="1400" dirty="0"/>
              <a:t>Local Memory</a:t>
            </a:r>
            <a:r>
              <a:rPr lang="zh-CN" altLang="en-US" sz="1400" dirty="0"/>
              <a:t>，</a:t>
            </a:r>
            <a:r>
              <a:rPr lang="en-US" altLang="zh-CN" sz="1400" dirty="0"/>
              <a:t>Vector/Cube</a:t>
            </a:r>
            <a:r>
              <a:rPr lang="zh-CN" altLang="en-US" sz="1400" dirty="0"/>
              <a:t>计算单元完成数据计算，并把计算结果写回</a:t>
            </a:r>
            <a:r>
              <a:rPr lang="en-US" altLang="zh-CN" sz="1400" dirty="0"/>
              <a:t>Local Memory</a:t>
            </a:r>
            <a:r>
              <a:rPr lang="zh-CN" altLang="en-US" sz="1400" dirty="0"/>
              <a:t>，</a:t>
            </a:r>
            <a:r>
              <a:rPr lang="en-US" altLang="zh-CN" sz="1400" dirty="0"/>
              <a:t>DMA</a:t>
            </a:r>
            <a:r>
              <a:rPr lang="zh-CN" altLang="en-US" sz="1400" dirty="0"/>
              <a:t>搬出单元把处理好的数据搬运回</a:t>
            </a:r>
            <a:r>
              <a:rPr lang="en-US" altLang="zh-CN" sz="1400" dirty="0"/>
              <a:t>Global Memory</a:t>
            </a:r>
            <a:endParaRPr lang="zh-CN" altLang="en-US" sz="1400" dirty="0"/>
          </a:p>
        </p:txBody>
      </p:sp>
      <p:sp>
        <p:nvSpPr>
          <p:cNvPr id="9" name="文本框 8"/>
          <p:cNvSpPr txBox="1"/>
          <p:nvPr/>
        </p:nvSpPr>
        <p:spPr>
          <a:xfrm>
            <a:off x="739971" y="332851"/>
            <a:ext cx="10716504" cy="430887"/>
          </a:xfrm>
          <a:prstGeom prst="rect">
            <a:avLst/>
          </a:prstGeom>
          <a:noFill/>
        </p:spPr>
        <p:txBody>
          <a:bodyPr wrap="square" lIns="0" tIns="0" rIns="0" bIns="0" rtlCol="0">
            <a:spAutoFit/>
          </a:bodyPr>
          <a:lstStyle/>
          <a:p>
            <a:pPr>
              <a:defRPr/>
            </a:pPr>
            <a:r>
              <a:rPr lang="en-US" altLang="zh-CN"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AI Core</a:t>
            </a:r>
            <a:r>
              <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内部并行架构抽象</a:t>
            </a:r>
            <a:endPar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6353371" y="673353"/>
            <a:ext cx="4442421" cy="2978633"/>
          </a:xfrm>
          <a:prstGeom prst="rect">
            <a:avLst/>
          </a:prstGeom>
        </p:spPr>
      </p:pic>
      <p:sp>
        <p:nvSpPr>
          <p:cNvPr id="4" name="文本框 3"/>
          <p:cNvSpPr txBox="1"/>
          <p:nvPr/>
        </p:nvSpPr>
        <p:spPr>
          <a:xfrm>
            <a:off x="739971" y="332851"/>
            <a:ext cx="10716504" cy="430887"/>
          </a:xfrm>
          <a:prstGeom prst="rect">
            <a:avLst/>
          </a:prstGeom>
          <a:noFill/>
        </p:spPr>
        <p:txBody>
          <a:bodyPr wrap="square" lIns="0" tIns="0" rIns="0" bIns="0" rtlCol="0">
            <a:spAutoFit/>
          </a:bodyPr>
          <a:lstStyle/>
          <a:p>
            <a:pPr>
              <a:defRPr/>
            </a:pPr>
            <a:r>
              <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多核并行</a:t>
            </a:r>
            <a:endPar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6" name="文本框 5"/>
          <p:cNvSpPr txBox="1"/>
          <p:nvPr/>
        </p:nvSpPr>
        <p:spPr>
          <a:xfrm>
            <a:off x="653713" y="787322"/>
            <a:ext cx="4883425" cy="3306931"/>
          </a:xfrm>
          <a:prstGeom prst="rect">
            <a:avLst/>
          </a:prstGeom>
          <a:noFill/>
        </p:spPr>
        <p:txBody>
          <a:bodyPr wrap="square" anchor="ctr">
            <a:spAutoFit/>
          </a:bodyPr>
          <a:lstStyle/>
          <a:p>
            <a:pPr marL="0" indent="0" algn="l">
              <a:lnSpc>
                <a:spcPct val="117000"/>
              </a:lnSpc>
              <a:defRPr/>
            </a:pPr>
            <a:r>
              <a:rPr lang="en-US" altLang="zh-CN" sz="1800" b="0" i="0" u="none" strike="noStrike" dirty="0" err="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单张NPU卡通常集成</a:t>
            </a:r>
            <a:r>
              <a:rPr lang="zh-CN" altLang="en-US"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多</a:t>
            </a:r>
            <a:r>
              <a:rPr lang="en-US" altLang="zh-CN" sz="1800" b="0" i="0" u="none" strike="noStrike" dirty="0" err="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个AI</a:t>
            </a:r>
            <a:r>
              <a:rPr lang="en-US" altLang="zh-CN" sz="1800" b="0" i="0" u="none" strike="noStrike"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altLang="zh-CN" sz="1800" b="0" i="0" u="none" strike="noStrike" dirty="0" err="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Core，通过将巨型计算任务拆解分发，让多个</a:t>
            </a:r>
            <a:r>
              <a:rPr lang="zh-CN" altLang="en-US" sz="1800" b="0" i="0" u="none" strike="noStrike"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计算</a:t>
            </a:r>
            <a:r>
              <a:rPr lang="en-US" altLang="zh-CN" sz="1800" b="0" i="0" u="none" strike="noStrike" dirty="0" err="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核心并行工作，能最大化释放硬件潜能，实现算力的倍增效应</a:t>
            </a:r>
            <a:r>
              <a:rPr lang="en-US" altLang="zh-CN" sz="1800" b="0" i="0" u="none" strike="noStrike"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altLang="zh-CN"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defRPr/>
            </a:pPr>
            <a:endParaRPr lang="en-US" altLang="zh-CN"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defRPr/>
            </a:pPr>
            <a:endParaRPr lang="en-US" altLang="zh-CN"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defRPr/>
            </a:pPr>
            <a:endParaRPr lang="en-US" altLang="zh-CN"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defRPr/>
            </a:pPr>
            <a:endParaRPr lang="en-US" altLang="zh-CN"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defRPr/>
            </a:pPr>
            <a:endParaRPr lang="en-US" altLang="zh-CN" sz="1800" b="0" i="0" u="none" strike="noStrike"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defRPr/>
            </a:pPr>
            <a:r>
              <a:rPr lang="zh-CN" altLang="en-US" dirty="0">
                <a:solidFill>
                  <a:srgbClr val="374151"/>
                </a:solidFill>
                <a:latin typeface="Noto Sans SC" panose="020B0200000000000000" charset="-122"/>
                <a:ea typeface="Noto Sans SC" panose="020B0200000000000000" charset="-122"/>
              </a:rPr>
              <a:t>算子计算时：</a:t>
            </a:r>
            <a:endParaRPr lang="en-US" altLang="zh-CN" dirty="0">
              <a:solidFill>
                <a:srgbClr val="374151"/>
              </a:solidFill>
              <a:latin typeface="Noto Sans SC" panose="020B0200000000000000" charset="-122"/>
              <a:ea typeface="Noto Sans SC" panose="020B0200000000000000" charset="-122"/>
            </a:endParaRPr>
          </a:p>
        </p:txBody>
      </p:sp>
      <p:sp>
        <p:nvSpPr>
          <p:cNvPr id="8" name="AutoShape 6"/>
          <p:cNvSpPr/>
          <p:nvPr/>
        </p:nvSpPr>
        <p:spPr>
          <a:xfrm>
            <a:off x="739971" y="4270519"/>
            <a:ext cx="3378200" cy="2032000"/>
          </a:xfrm>
          <a:prstGeom prst="roundRect">
            <a:avLst>
              <a:gd name="adj" fmla="val 0"/>
            </a:avLst>
          </a:prstGeom>
          <a:solidFill>
            <a:srgbClr val="FFFFFF">
              <a:alpha val="60000"/>
            </a:srgbClr>
          </a:solidFill>
          <a:ln w="12700" cap="flat" cmpd="sng">
            <a:solidFill>
              <a:schemeClr val="bg1"/>
            </a:solidFill>
            <a:prstDash val="solid"/>
            <a:round/>
          </a:ln>
        </p:spPr>
        <p:txBody>
          <a:bodyPr vert="horz" wrap="square" lIns="0" tIns="0" rIns="0" bIns="0" rtlCol="0" anchor="ctr" anchorCtr="0"/>
          <a:lstStyle/>
          <a:p>
            <a:pPr algn="ctr">
              <a:defRPr/>
            </a:pPr>
          </a:p>
        </p:txBody>
      </p:sp>
      <p:pic>
        <p:nvPicPr>
          <p:cNvPr id="9" name="Picture 7"/>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93971" y="4461019"/>
            <a:ext cx="406400" cy="406400"/>
          </a:xfrm>
          <a:prstGeom prst="rect">
            <a:avLst/>
          </a:prstGeom>
        </p:spPr>
      </p:pic>
      <p:sp>
        <p:nvSpPr>
          <p:cNvPr id="10" name="AutoShape 8"/>
          <p:cNvSpPr/>
          <p:nvPr/>
        </p:nvSpPr>
        <p:spPr>
          <a:xfrm>
            <a:off x="1565471" y="4422919"/>
            <a:ext cx="228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EF4444"/>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Tiling 数据切分</a:t>
            </a:r>
            <a:endParaRPr lang="en-US" sz="1100"/>
          </a:p>
        </p:txBody>
      </p:sp>
      <p:cxnSp>
        <p:nvCxnSpPr>
          <p:cNvPr id="11" name="Connector 9"/>
          <p:cNvCxnSpPr/>
          <p:nvPr/>
        </p:nvCxnSpPr>
        <p:spPr>
          <a:xfrm rot="-15211">
            <a:off x="993985" y="5026169"/>
            <a:ext cx="2870228" cy="12700"/>
          </a:xfrm>
          <a:prstGeom prst="straightConnector1">
            <a:avLst/>
          </a:prstGeom>
          <a:solidFill>
            <a:srgbClr val="DEE0E3">
              <a:alpha val="100000"/>
            </a:srgbClr>
          </a:solidFill>
          <a:ln w="12700" cap="flat" cmpd="sng">
            <a:solidFill>
              <a:srgbClr val="EF4444">
                <a:alpha val="30000"/>
              </a:srgbClr>
            </a:solidFill>
            <a:prstDash val="dash"/>
            <a:round/>
            <a:headEnd type="none" w="med" len="med"/>
            <a:tailEnd type="none" w="med" len="med"/>
          </a:ln>
        </p:spPr>
      </p:cxnSp>
      <p:sp>
        <p:nvSpPr>
          <p:cNvPr id="12" name="AutoShape 10"/>
          <p:cNvSpPr/>
          <p:nvPr/>
        </p:nvSpPr>
        <p:spPr>
          <a:xfrm>
            <a:off x="993971" y="5223019"/>
            <a:ext cx="28702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在Host侧将矩阵乘法等任务，按AI</a:t>
            </a:r>
            <a:r>
              <a:rPr lang="en-US" sz="13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Core数量切割为若干小块。例如将128x128的矩阵拆分为4个64x64的独立子任务，为并行处理铺路。</a:t>
            </a:r>
            <a:endParaRPr lang="en-US" sz="1100" dirty="0"/>
          </a:p>
        </p:txBody>
      </p:sp>
      <p:sp>
        <p:nvSpPr>
          <p:cNvPr id="13" name="AutoShape 11"/>
          <p:cNvSpPr/>
          <p:nvPr/>
        </p:nvSpPr>
        <p:spPr>
          <a:xfrm>
            <a:off x="4384871" y="4270519"/>
            <a:ext cx="3378200" cy="2032000"/>
          </a:xfrm>
          <a:prstGeom prst="roundRect">
            <a:avLst>
              <a:gd name="adj" fmla="val 0"/>
            </a:avLst>
          </a:prstGeom>
          <a:solidFill>
            <a:srgbClr val="FFFFFF">
              <a:alpha val="60000"/>
            </a:srgbClr>
          </a:solidFill>
          <a:ln w="12700" cap="flat" cmpd="sng">
            <a:solidFill>
              <a:schemeClr val="bg1"/>
            </a:solidFill>
            <a:prstDash val="solid"/>
            <a:round/>
          </a:ln>
        </p:spPr>
        <p:txBody>
          <a:bodyPr vert="horz" wrap="square" lIns="0" tIns="0" rIns="0" bIns="0" rtlCol="0" anchor="ctr" anchorCtr="0"/>
          <a:lstStyle/>
          <a:p>
            <a:pPr algn="ctr">
              <a:defRPr/>
            </a:pPr>
          </a:p>
        </p:txBody>
      </p:sp>
      <p:pic>
        <p:nvPicPr>
          <p:cNvPr id="14" name="Picture 12"/>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638871" y="4461019"/>
            <a:ext cx="406400" cy="406400"/>
          </a:xfrm>
          <a:prstGeom prst="rect">
            <a:avLst/>
          </a:prstGeom>
        </p:spPr>
      </p:pic>
      <p:sp>
        <p:nvSpPr>
          <p:cNvPr id="15" name="AutoShape 13"/>
          <p:cNvSpPr/>
          <p:nvPr/>
        </p:nvSpPr>
        <p:spPr>
          <a:xfrm>
            <a:off x="5210371" y="4422919"/>
            <a:ext cx="228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EF4444"/>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多核并行计算</a:t>
            </a:r>
            <a:endParaRPr lang="en-US" sz="1100"/>
          </a:p>
        </p:txBody>
      </p:sp>
      <p:cxnSp>
        <p:nvCxnSpPr>
          <p:cNvPr id="16" name="Connector 14"/>
          <p:cNvCxnSpPr/>
          <p:nvPr/>
        </p:nvCxnSpPr>
        <p:spPr>
          <a:xfrm rot="-15211">
            <a:off x="4638885" y="5026169"/>
            <a:ext cx="2870228" cy="12700"/>
          </a:xfrm>
          <a:prstGeom prst="straightConnector1">
            <a:avLst/>
          </a:prstGeom>
          <a:solidFill>
            <a:srgbClr val="DEE0E3">
              <a:alpha val="100000"/>
            </a:srgbClr>
          </a:solidFill>
          <a:ln w="12700" cap="flat" cmpd="sng">
            <a:solidFill>
              <a:srgbClr val="EF4444">
                <a:alpha val="30000"/>
              </a:srgbClr>
            </a:solidFill>
            <a:prstDash val="dash"/>
            <a:round/>
            <a:headEnd type="none" w="med" len="med"/>
            <a:tailEnd type="none" w="med" len="med"/>
          </a:ln>
        </p:spPr>
      </p:cxnSp>
      <p:sp>
        <p:nvSpPr>
          <p:cNvPr id="17" name="AutoShape 15"/>
          <p:cNvSpPr/>
          <p:nvPr/>
        </p:nvSpPr>
        <p:spPr>
          <a:xfrm>
            <a:off x="4638871" y="5223019"/>
            <a:ext cx="28702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任务调度器将切分好的数据块分发至不同AI</a:t>
            </a:r>
            <a:r>
              <a:rPr lang="en-US" sz="13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Core。</a:t>
            </a:r>
            <a:r>
              <a:rPr lang="zh-CN" altLang="en-US" sz="1300" dirty="0">
                <a:solidFill>
                  <a:srgbClr val="4B5563"/>
                </a:solidFill>
                <a:latin typeface="Noto Sans SC" panose="020B0200000000000000" charset="-122"/>
                <a:ea typeface="Noto Sans SC" panose="020B0200000000000000" charset="-122"/>
              </a:rPr>
              <a:t>每个 </a:t>
            </a:r>
            <a:r>
              <a:rPr lang="en-US" altLang="zh-CN" sz="1300" dirty="0">
                <a:solidFill>
                  <a:srgbClr val="4B5563"/>
                </a:solidFill>
                <a:latin typeface="Noto Sans SC" panose="020B0200000000000000" charset="-122"/>
                <a:ea typeface="Noto Sans SC" panose="020B0200000000000000" charset="-122"/>
              </a:rPr>
              <a:t>AI Core </a:t>
            </a:r>
            <a:r>
              <a:rPr lang="en-US" sz="1300" dirty="0" err="1">
                <a:solidFill>
                  <a:srgbClr val="4B5563"/>
                </a:solidFill>
                <a:latin typeface="Noto Sans SC" panose="020B0200000000000000" charset="-122"/>
                <a:ea typeface="Noto Sans SC" panose="020B0200000000000000" charset="-122"/>
                <a:sym typeface="Noto Sans SC" panose="020B0200000000000000" charset="-122"/>
              </a:rPr>
              <a:t>独立处理自身数据</a:t>
            </a:r>
            <a:r>
              <a:rPr lang="en-US" sz="13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，无相互等待，充分利用硬件并发特性，大幅压缩计算耗时</a:t>
            </a:r>
            <a:r>
              <a:rPr lang="en-US" sz="13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18" name="AutoShape 16"/>
          <p:cNvSpPr/>
          <p:nvPr/>
        </p:nvSpPr>
        <p:spPr>
          <a:xfrm>
            <a:off x="8029771" y="4270519"/>
            <a:ext cx="3378200" cy="2032000"/>
          </a:xfrm>
          <a:prstGeom prst="roundRect">
            <a:avLst>
              <a:gd name="adj" fmla="val 0"/>
            </a:avLst>
          </a:prstGeom>
          <a:solidFill>
            <a:srgbClr val="FFFFFF">
              <a:alpha val="60000"/>
            </a:srgbClr>
          </a:solidFill>
          <a:ln w="12700" cap="flat" cmpd="sng">
            <a:solidFill>
              <a:schemeClr val="bg1"/>
            </a:solidFill>
            <a:prstDash val="solid"/>
            <a:round/>
          </a:ln>
        </p:spPr>
        <p:txBody>
          <a:bodyPr vert="horz" wrap="square" lIns="0" tIns="0" rIns="0" bIns="0" rtlCol="0" anchor="ctr" anchorCtr="0"/>
          <a:lstStyle/>
          <a:p>
            <a:pPr algn="ctr">
              <a:defRPr/>
            </a:pPr>
          </a:p>
        </p:txBody>
      </p:sp>
      <p:pic>
        <p:nvPicPr>
          <p:cNvPr id="19" name="Picture 17"/>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283771" y="4461019"/>
            <a:ext cx="406400" cy="406400"/>
          </a:xfrm>
          <a:prstGeom prst="rect">
            <a:avLst/>
          </a:prstGeom>
        </p:spPr>
      </p:pic>
      <p:sp>
        <p:nvSpPr>
          <p:cNvPr id="20" name="AutoShape 18"/>
          <p:cNvSpPr/>
          <p:nvPr/>
        </p:nvSpPr>
        <p:spPr>
          <a:xfrm>
            <a:off x="8855271" y="4422919"/>
            <a:ext cx="228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a:solidFill>
                  <a:srgbClr val="EF4444"/>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r>
              <a:rPr lang="en-US" sz="1800" b="1" i="0" u="none" strike="noStrike" dirty="0">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隐式同步</a:t>
            </a:r>
            <a:endParaRPr lang="en-US" sz="1100" dirty="0"/>
          </a:p>
        </p:txBody>
      </p:sp>
      <p:cxnSp>
        <p:nvCxnSpPr>
          <p:cNvPr id="21" name="Connector 19"/>
          <p:cNvCxnSpPr/>
          <p:nvPr/>
        </p:nvCxnSpPr>
        <p:spPr>
          <a:xfrm rot="-15211">
            <a:off x="8283785" y="5026169"/>
            <a:ext cx="2870228" cy="12700"/>
          </a:xfrm>
          <a:prstGeom prst="straightConnector1">
            <a:avLst/>
          </a:prstGeom>
          <a:solidFill>
            <a:srgbClr val="DEE0E3">
              <a:alpha val="100000"/>
            </a:srgbClr>
          </a:solidFill>
          <a:ln w="12700" cap="flat" cmpd="sng">
            <a:solidFill>
              <a:srgbClr val="EF4444">
                <a:alpha val="30000"/>
              </a:srgbClr>
            </a:solidFill>
            <a:prstDash val="dash"/>
            <a:round/>
            <a:headEnd type="none" w="med" len="med"/>
            <a:tailEnd type="none" w="med" len="med"/>
          </a:ln>
        </p:spPr>
      </p:cxnSp>
      <p:sp>
        <p:nvSpPr>
          <p:cNvPr id="22" name="AutoShape 20"/>
          <p:cNvSpPr/>
          <p:nvPr/>
        </p:nvSpPr>
        <p:spPr>
          <a:xfrm>
            <a:off x="8283771" y="5223019"/>
            <a:ext cx="28702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所有AI</a:t>
            </a:r>
            <a:r>
              <a:rPr lang="en-US" sz="13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3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Core完成计算后，调度器自动执行隐式同步，将分散的子结果拼接合并，还原为完整的最终输出，确保计算结果的一致性</a:t>
            </a:r>
            <a:r>
              <a:rPr lang="en-US" sz="13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3"/>
          <p:cNvSpPr/>
          <p:nvPr/>
        </p:nvSpPr>
        <p:spPr>
          <a:xfrm>
            <a:off x="764223" y="511016"/>
            <a:ext cx="10668000" cy="508000"/>
          </a:xfrm>
          <a:prstGeom prst="rect">
            <a:avLst/>
          </a:prstGeom>
          <a:noFill/>
          <a:ln w="12700" cap="flat" cmpd="sng">
            <a:noFill/>
            <a:prstDash val="solid"/>
            <a:round/>
          </a:ln>
        </p:spPr>
        <p:txBody>
          <a:bodyPr vert="horz" wrap="square" lIns="0" tIns="0" rIns="0" bIns="0" rtlCol="0" anchor="ctr" anchorCtr="0"/>
          <a:lstStyle/>
          <a:p>
            <a:pPr>
              <a:defRPr/>
            </a:pPr>
            <a:r>
              <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sym typeface="Noto Sans SC" panose="020B0200000000000000" charset="-122"/>
              </a:rPr>
              <a:t>昇腾NPU vs NVIDIA GPU架构对比</a:t>
            </a:r>
            <a:endPar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3" name="AutoShape 4"/>
          <p:cNvSpPr/>
          <p:nvPr/>
        </p:nvSpPr>
        <p:spPr>
          <a:xfrm>
            <a:off x="764223" y="1527016"/>
            <a:ext cx="5270500" cy="3556000"/>
          </a:xfrm>
          <a:prstGeom prst="roundRect">
            <a:avLst>
              <a:gd name="adj" fmla="val 0"/>
            </a:avLst>
          </a:prstGeom>
          <a:solidFill>
            <a:srgbClr val="FFFFFF">
              <a:alpha val="65000"/>
            </a:srgbClr>
          </a:solidFill>
          <a:ln w="12700" cap="flat" cmpd="sng">
            <a:solidFill>
              <a:schemeClr val="bg1">
                <a:alpha val="40000"/>
              </a:schemeClr>
            </a:solidFill>
            <a:prstDash val="solid"/>
            <a:round/>
          </a:ln>
        </p:spPr>
        <p:txBody>
          <a:bodyPr vert="horz" wrap="square" lIns="0" tIns="0" rIns="0" bIns="0" rtlCol="0" anchor="ctr" anchorCtr="0"/>
          <a:lstStyle/>
          <a:p>
            <a:pPr algn="ctr">
              <a:defRPr/>
            </a:pPr>
          </a:p>
        </p:txBody>
      </p:sp>
      <p:sp>
        <p:nvSpPr>
          <p:cNvPr id="4" name="AutoShape 5"/>
          <p:cNvSpPr/>
          <p:nvPr/>
        </p:nvSpPr>
        <p:spPr>
          <a:xfrm>
            <a:off x="954723" y="1717516"/>
            <a:ext cx="4889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EF4444"/>
                </a:solidFill>
                <a:latin typeface="Noto Sans SC" panose="020B0200000000000000" charset="-122"/>
                <a:ea typeface="Noto Sans SC" panose="020B0200000000000000" charset="-122"/>
                <a:cs typeface="Noto Sans SC" panose="020B0200000000000000" charset="-122"/>
                <a:sym typeface="Noto Sans SC" panose="020B0200000000000000" charset="-122"/>
              </a:rPr>
              <a:t>昇腾</a:t>
            </a:r>
            <a:r>
              <a:rPr lang="en-US" sz="1600" b="1" i="0" u="none" strike="noStrike" dirty="0">
                <a:solidFill>
                  <a:srgbClr val="EF4444"/>
                </a:solidFill>
                <a:latin typeface="Noto Sans SC" panose="020B0200000000000000" charset="-122"/>
                <a:ea typeface="Noto Sans SC" panose="020B0200000000000000" charset="-122"/>
                <a:cs typeface="Noto Sans SC" panose="020B0200000000000000" charset="-122"/>
                <a:sym typeface="Noto Sans SC" panose="020B0200000000000000" charset="-122"/>
              </a:rPr>
              <a:t> NPU：</a:t>
            </a:r>
            <a:endParaRPr lang="en-US" sz="1050" dirty="0"/>
          </a:p>
        </p:txBody>
      </p:sp>
      <p:cxnSp>
        <p:nvCxnSpPr>
          <p:cNvPr id="5" name="Connector 6"/>
          <p:cNvCxnSpPr/>
          <p:nvPr/>
        </p:nvCxnSpPr>
        <p:spPr>
          <a:xfrm rot="-8929">
            <a:off x="954731" y="2155666"/>
            <a:ext cx="4889516" cy="12700"/>
          </a:xfrm>
          <a:prstGeom prst="straightConnector1">
            <a:avLst/>
          </a:prstGeom>
          <a:solidFill>
            <a:srgbClr val="DEE0E3">
              <a:alpha val="100000"/>
            </a:srgbClr>
          </a:solidFill>
          <a:ln w="12700" cap="flat" cmpd="sng">
            <a:solidFill>
              <a:schemeClr val="bg1">
                <a:alpha val="30000"/>
              </a:schemeClr>
            </a:solidFill>
            <a:prstDash val="solid"/>
            <a:round/>
            <a:headEnd type="none" w="med" len="med"/>
            <a:tailEnd type="none" w="med" len="med"/>
          </a:ln>
        </p:spPr>
      </p:cxnSp>
      <p:sp>
        <p:nvSpPr>
          <p:cNvPr id="7" name="AutoShape 8"/>
          <p:cNvSpPr/>
          <p:nvPr/>
        </p:nvSpPr>
        <p:spPr>
          <a:xfrm>
            <a:off x="954689" y="2352516"/>
            <a:ext cx="4889534" cy="1397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dirty="0" err="1">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核心架构：DaVinci架构</a:t>
            </a:r>
            <a:endParaRPr lang="en-US" sz="1400" dirty="0"/>
          </a:p>
          <a:p>
            <a:pPr marL="0" indent="0" algn="l">
              <a:lnSpc>
                <a:spcPct val="108000"/>
              </a:lnSpc>
            </a:pPr>
            <a:r>
              <a:rPr lang="en-US" sz="16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采用Cube、Vector、Scalar三单元细粒度分工，实现计算资源的极致调度，专为神经网络计算优化</a:t>
            </a:r>
            <a:r>
              <a:rPr lang="en-US" sz="16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6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8" name="Connector 9"/>
          <p:cNvCxnSpPr/>
          <p:nvPr/>
        </p:nvCxnSpPr>
        <p:spPr>
          <a:xfrm rot="-8929">
            <a:off x="954731" y="3933666"/>
            <a:ext cx="4889500" cy="12700"/>
          </a:xfrm>
          <a:prstGeom prst="straightConnector1">
            <a:avLst/>
          </a:prstGeom>
          <a:solidFill>
            <a:srgbClr val="DEE0E3">
              <a:alpha val="100000"/>
            </a:srgbClr>
          </a:solidFill>
          <a:ln w="12700" cap="flat" cmpd="sng">
            <a:solidFill>
              <a:srgbClr val="000000">
                <a:alpha val="8000"/>
              </a:srgbClr>
            </a:solidFill>
            <a:prstDash val="dash"/>
            <a:round/>
            <a:headEnd type="none" w="med" len="med"/>
            <a:tailEnd type="none" w="med" len="med"/>
          </a:ln>
        </p:spPr>
      </p:cxnSp>
      <p:sp>
        <p:nvSpPr>
          <p:cNvPr id="9" name="AutoShape 10"/>
          <p:cNvSpPr/>
          <p:nvPr/>
        </p:nvSpPr>
        <p:spPr>
          <a:xfrm>
            <a:off x="954723" y="4067016"/>
            <a:ext cx="2349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EF4444"/>
                </a:solidFill>
                <a:latin typeface="Noto Sans SC" panose="020B0200000000000000" charset="-122"/>
                <a:ea typeface="Noto Sans SC" panose="020B0200000000000000" charset="-122"/>
                <a:cs typeface="Noto Sans SC" panose="020B0200000000000000" charset="-122"/>
                <a:sym typeface="Noto Sans SC" panose="020B0200000000000000" charset="-122"/>
              </a:rPr>
              <a:t>Ascend C 编程模型</a:t>
            </a:r>
            <a:endParaRPr lang="en-US" sz="1100"/>
          </a:p>
          <a:p>
            <a:pPr marL="0" indent="0" algn="l">
              <a:lnSpc>
                <a:spcPct val="100000"/>
              </a:lnSpc>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基于C++模板，支持算子的灵活开发与适配，更贴近底层硬件特性。</a:t>
            </a:r>
            <a:endPar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0" name="Connector 11"/>
          <p:cNvCxnSpPr/>
          <p:nvPr/>
        </p:nvCxnSpPr>
        <p:spPr>
          <a:xfrm rot="5337502">
            <a:off x="3043873" y="4473474"/>
            <a:ext cx="698500" cy="12700"/>
          </a:xfrm>
          <a:prstGeom prst="straightConnector1">
            <a:avLst/>
          </a:prstGeom>
          <a:solidFill>
            <a:srgbClr val="DEE0E3">
              <a:alpha val="100000"/>
            </a:srgbClr>
          </a:solidFill>
          <a:ln w="12700" cap="flat" cmpd="sng">
            <a:solidFill>
              <a:srgbClr val="000000">
                <a:alpha val="10000"/>
              </a:srgbClr>
            </a:solidFill>
            <a:prstDash val="solid"/>
            <a:round/>
            <a:headEnd type="none" w="med" len="med"/>
            <a:tailEnd type="none" w="med" len="med"/>
          </a:ln>
        </p:spPr>
      </p:cxnSp>
      <p:sp>
        <p:nvSpPr>
          <p:cNvPr id="11" name="AutoShape 12"/>
          <p:cNvSpPr/>
          <p:nvPr/>
        </p:nvSpPr>
        <p:spPr>
          <a:xfrm>
            <a:off x="3494723" y="4067016"/>
            <a:ext cx="2349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EF4444"/>
                </a:solidFill>
                <a:latin typeface="Noto Sans SC" panose="020B0200000000000000" charset="-122"/>
                <a:ea typeface="Noto Sans SC" panose="020B0200000000000000" charset="-122"/>
                <a:cs typeface="Noto Sans SC" panose="020B0200000000000000" charset="-122"/>
                <a:sym typeface="Noto Sans SC" panose="020B0200000000000000" charset="-122"/>
              </a:rPr>
              <a:t>CANN 异构计算栈</a:t>
            </a:r>
            <a:endParaRPr lang="en-US" sz="1100"/>
          </a:p>
          <a:p>
            <a:pPr marL="0" indent="0" algn="l">
              <a:lnSpc>
                <a:spcPct val="100000"/>
              </a:lnSpc>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全栈开放的异构计算架构，提供算子库、图引擎与运行时支持，适配主流AI框架。</a:t>
            </a:r>
            <a:endPar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3"/>
          <p:cNvSpPr/>
          <p:nvPr/>
        </p:nvSpPr>
        <p:spPr>
          <a:xfrm>
            <a:off x="6161723" y="1527016"/>
            <a:ext cx="5270500" cy="3556000"/>
          </a:xfrm>
          <a:prstGeom prst="roundRect">
            <a:avLst>
              <a:gd name="adj" fmla="val 0"/>
            </a:avLst>
          </a:prstGeom>
          <a:solidFill>
            <a:srgbClr val="FFFFFF">
              <a:alpha val="65000"/>
            </a:srgbClr>
          </a:solidFill>
          <a:ln w="12700" cap="flat" cmpd="sng">
            <a:solidFill>
              <a:schemeClr val="bg1">
                <a:alpha val="40000"/>
              </a:schemeClr>
            </a:solidFill>
            <a:prstDash val="solid"/>
            <a:round/>
          </a:ln>
        </p:spPr>
        <p:txBody>
          <a:bodyPr vert="horz" wrap="square" lIns="0" tIns="0" rIns="0" bIns="0" rtlCol="0" anchor="ctr" anchorCtr="0"/>
          <a:lstStyle/>
          <a:p>
            <a:pPr algn="ctr">
              <a:defRPr/>
            </a:pPr>
          </a:p>
        </p:txBody>
      </p:sp>
      <p:sp>
        <p:nvSpPr>
          <p:cNvPr id="13" name="AutoShape 14"/>
          <p:cNvSpPr/>
          <p:nvPr/>
        </p:nvSpPr>
        <p:spPr>
          <a:xfrm>
            <a:off x="6352223" y="1717516"/>
            <a:ext cx="4889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a:solidFill>
                  <a:srgbClr val="EF4444"/>
                </a:solidFill>
                <a:latin typeface="Noto Sans SC" panose="020B0200000000000000" charset="-122"/>
                <a:ea typeface="Noto Sans SC" panose="020B0200000000000000" charset="-122"/>
                <a:cs typeface="Noto Sans SC" panose="020B0200000000000000" charset="-122"/>
                <a:sym typeface="Noto Sans SC" panose="020B0200000000000000" charset="-122"/>
              </a:rPr>
              <a:t>NVIDIA GPU：</a:t>
            </a:r>
            <a:endParaRPr lang="en-US" sz="1050" dirty="0"/>
          </a:p>
        </p:txBody>
      </p:sp>
      <p:cxnSp>
        <p:nvCxnSpPr>
          <p:cNvPr id="14" name="Connector 15"/>
          <p:cNvCxnSpPr/>
          <p:nvPr/>
        </p:nvCxnSpPr>
        <p:spPr>
          <a:xfrm rot="-8929">
            <a:off x="6352231" y="2155666"/>
            <a:ext cx="4889516" cy="12700"/>
          </a:xfrm>
          <a:prstGeom prst="straightConnector1">
            <a:avLst/>
          </a:prstGeom>
          <a:solidFill>
            <a:srgbClr val="DEE0E3">
              <a:alpha val="100000"/>
            </a:srgbClr>
          </a:solidFill>
          <a:ln w="12700" cap="flat" cmpd="sng">
            <a:solidFill>
              <a:schemeClr val="bg1">
                <a:alpha val="30000"/>
              </a:schemeClr>
            </a:solidFill>
            <a:prstDash val="solid"/>
            <a:round/>
            <a:headEnd type="none" w="med" len="med"/>
            <a:tailEnd type="none" w="med" len="med"/>
          </a:ln>
        </p:spPr>
      </p:cxnSp>
      <p:sp>
        <p:nvSpPr>
          <p:cNvPr id="16" name="AutoShape 17"/>
          <p:cNvSpPr/>
          <p:nvPr/>
        </p:nvSpPr>
        <p:spPr>
          <a:xfrm>
            <a:off x="6352189" y="2352516"/>
            <a:ext cx="4889534" cy="1397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dirty="0" err="1">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核心架构：SM流式多处理器</a:t>
            </a:r>
            <a:endParaRPr lang="en-US" sz="1400" dirty="0"/>
          </a:p>
          <a:p>
            <a:pPr marL="0" indent="0" algn="l">
              <a:lnSpc>
                <a:spcPct val="108000"/>
              </a:lnSpc>
            </a:pPr>
            <a:r>
              <a:rPr lang="en-US" sz="16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集成Tensor</a:t>
            </a:r>
            <a:r>
              <a:rPr lang="en-US" sz="16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6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Core与CUDA</a:t>
            </a:r>
            <a:r>
              <a:rPr lang="en-US" sz="16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6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Core，单周期可完成大规模矩阵乘加</a:t>
            </a:r>
            <a:r>
              <a:rPr lang="en-US" sz="16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(MMA)，</a:t>
            </a:r>
            <a:r>
              <a:rPr lang="en-US" sz="16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通用计算能力极强</a:t>
            </a:r>
            <a:r>
              <a:rPr lang="en-US" sz="16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6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7" name="Connector 18"/>
          <p:cNvCxnSpPr/>
          <p:nvPr/>
        </p:nvCxnSpPr>
        <p:spPr>
          <a:xfrm rot="-8929">
            <a:off x="6352231" y="3933666"/>
            <a:ext cx="4889500" cy="12700"/>
          </a:xfrm>
          <a:prstGeom prst="straightConnector1">
            <a:avLst/>
          </a:prstGeom>
          <a:solidFill>
            <a:srgbClr val="DEE0E3">
              <a:alpha val="100000"/>
            </a:srgbClr>
          </a:solidFill>
          <a:ln w="12700" cap="flat" cmpd="sng">
            <a:solidFill>
              <a:srgbClr val="000000">
                <a:alpha val="8000"/>
              </a:srgbClr>
            </a:solidFill>
            <a:prstDash val="dash"/>
            <a:round/>
            <a:headEnd type="none" w="med" len="med"/>
            <a:tailEnd type="none" w="med" len="med"/>
          </a:ln>
        </p:spPr>
      </p:cxnSp>
      <p:sp>
        <p:nvSpPr>
          <p:cNvPr id="18" name="AutoShape 19"/>
          <p:cNvSpPr/>
          <p:nvPr/>
        </p:nvSpPr>
        <p:spPr>
          <a:xfrm>
            <a:off x="6352223" y="4067016"/>
            <a:ext cx="2349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EF4444"/>
                </a:solidFill>
                <a:latin typeface="Noto Sans SC" panose="020B0200000000000000" charset="-122"/>
                <a:ea typeface="Noto Sans SC" panose="020B0200000000000000" charset="-122"/>
                <a:cs typeface="Noto Sans SC" panose="020B0200000000000000" charset="-122"/>
                <a:sym typeface="Noto Sans SC" panose="020B0200000000000000" charset="-122"/>
              </a:rPr>
              <a:t>CUDA C++ 开发体系</a:t>
            </a:r>
            <a:endParaRPr lang="en-US" sz="1100"/>
          </a:p>
          <a:p>
            <a:pPr marL="0" indent="0" algn="l">
              <a:lnSpc>
                <a:spcPct val="100000"/>
              </a:lnSpc>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业界标准的并行计算编程模型，拥有完善的工具链和海量的开发者社区资源积累。</a:t>
            </a:r>
            <a:endPar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9" name="Connector 20"/>
          <p:cNvCxnSpPr/>
          <p:nvPr/>
        </p:nvCxnSpPr>
        <p:spPr>
          <a:xfrm rot="5337502">
            <a:off x="8441373" y="4473474"/>
            <a:ext cx="698500" cy="12700"/>
          </a:xfrm>
          <a:prstGeom prst="straightConnector1">
            <a:avLst/>
          </a:prstGeom>
          <a:solidFill>
            <a:srgbClr val="DEE0E3">
              <a:alpha val="100000"/>
            </a:srgbClr>
          </a:solidFill>
          <a:ln w="12700" cap="flat" cmpd="sng">
            <a:solidFill>
              <a:srgbClr val="000000">
                <a:alpha val="10000"/>
              </a:srgbClr>
            </a:solidFill>
            <a:prstDash val="solid"/>
            <a:round/>
            <a:headEnd type="none" w="med" len="med"/>
            <a:tailEnd type="none" w="med" len="med"/>
          </a:ln>
        </p:spPr>
      </p:cxnSp>
      <p:sp>
        <p:nvSpPr>
          <p:cNvPr id="20" name="AutoShape 21"/>
          <p:cNvSpPr/>
          <p:nvPr/>
        </p:nvSpPr>
        <p:spPr>
          <a:xfrm>
            <a:off x="8892223" y="4067016"/>
            <a:ext cx="2349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EF4444"/>
                </a:solidFill>
                <a:latin typeface="Noto Sans SC" panose="020B0200000000000000" charset="-122"/>
                <a:ea typeface="Noto Sans SC" panose="020B0200000000000000" charset="-122"/>
                <a:cs typeface="Noto Sans SC" panose="020B0200000000000000" charset="-122"/>
                <a:sym typeface="Noto Sans SC" panose="020B0200000000000000" charset="-122"/>
              </a:rPr>
              <a:t>CUDA Toolkit 生态</a:t>
            </a:r>
            <a:endParaRPr lang="en-US" sz="1100"/>
          </a:p>
          <a:p>
            <a:pPr marL="0" indent="0" algn="l">
              <a:lnSpc>
                <a:spcPct val="100000"/>
              </a:lnSpc>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提供从底层驱动到上层库的完整工具链，兼容广泛的科学计算与图形应用场景。</a:t>
            </a:r>
            <a:endPar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549296" y="2601035"/>
            <a:ext cx="3380868" cy="835742"/>
          </a:xfrm>
          <a:prstGeom prst="rect">
            <a:avLst/>
          </a:prstGeom>
          <a:solidFill>
            <a:srgbClr val="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8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目录</a:t>
            </a:r>
            <a:endParaRPr kumimoji="0" lang="zh-CN" altLang="en-US" sz="48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2" name="矩形 11"/>
          <p:cNvSpPr/>
          <p:nvPr/>
        </p:nvSpPr>
        <p:spPr>
          <a:xfrm>
            <a:off x="4417378" y="1301551"/>
            <a:ext cx="6480000" cy="360000"/>
          </a:xfrm>
          <a:prstGeom prst="rect">
            <a:avLst/>
          </a:prstGeom>
          <a:solidFill>
            <a:srgbClr val="FFFFFF">
              <a:lumMod val="95000"/>
            </a:srgbClr>
          </a:solidFill>
          <a:ln w="9525" cap="flat" cmpd="sng" algn="ctr">
            <a:solidFill>
              <a:srgbClr val="FFFFFF">
                <a:lumMod val="65000"/>
              </a:srgbClr>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indent="0" algn="ctr" defTabSz="0" rtl="0" eaLnBrk="1" fontAlgn="auto" latinLnBrk="0" hangingPunct="1">
              <a:lnSpc>
                <a:spcPct val="100000"/>
              </a:lnSpc>
              <a:spcBef>
                <a:spcPts val="0"/>
              </a:spcBef>
              <a:spcAft>
                <a:spcPts val="0"/>
              </a:spcAft>
              <a:buSzTx/>
              <a:buNone/>
            </a:pPr>
            <a:r>
              <a:rPr lang="en-US" altLang="zh-CN" sz="2400" kern="0" noProof="0" dirty="0">
                <a:ln>
                  <a:noFill/>
                </a:ln>
                <a:solidFill>
                  <a:srgbClr val="FFFFFF">
                    <a:lumMod val="75000"/>
                  </a:srgbClr>
                </a:solidFill>
                <a:effectLst/>
                <a:uLnTx/>
                <a:uFillTx/>
                <a:latin typeface="微软雅黑" panose="020B0503020204020204" pitchFamily="34" charset="-122"/>
                <a:ea typeface="微软雅黑" panose="020B0503020204020204" pitchFamily="34" charset="-122"/>
              </a:rPr>
              <a:t>Part 1 人工智能基础</a:t>
            </a:r>
            <a:endParaRPr lang="en-US" altLang="zh-CN" sz="2400" kern="0" noProof="0" dirty="0">
              <a:ln>
                <a:noFill/>
              </a:ln>
              <a:solidFill>
                <a:srgbClr val="FFFFFF">
                  <a:lumMod val="75000"/>
                </a:srgbClr>
              </a:solidFill>
              <a:effectLst/>
              <a:uLnTx/>
              <a:uFillTx/>
              <a:latin typeface="微软雅黑" panose="020B0503020204020204" pitchFamily="34" charset="-122"/>
              <a:ea typeface="微软雅黑" panose="020B0503020204020204" pitchFamily="34" charset="-122"/>
            </a:endParaRPr>
          </a:p>
        </p:txBody>
      </p:sp>
      <p:cxnSp>
        <p:nvCxnSpPr>
          <p:cNvPr id="15" name="í$ľidè"/>
          <p:cNvCxnSpPr/>
          <p:nvPr/>
        </p:nvCxnSpPr>
        <p:spPr>
          <a:xfrm>
            <a:off x="3930164" y="898497"/>
            <a:ext cx="0" cy="4788143"/>
          </a:xfrm>
          <a:prstGeom prst="line">
            <a:avLst/>
          </a:prstGeom>
          <a:solidFill>
            <a:srgbClr val="FFCC00"/>
          </a:solidFill>
          <a:ln w="12700" cap="flat" cmpd="sng" algn="ctr">
            <a:solidFill>
              <a:schemeClr val="bg1">
                <a:lumMod val="65000"/>
              </a:schemeClr>
            </a:solidFill>
            <a:prstDash val="solid"/>
            <a:round/>
            <a:headEnd type="none" w="med" len="med"/>
            <a:tailEnd type="none" w="med" len="med"/>
          </a:ln>
          <a:effectLst/>
        </p:spPr>
      </p:cxnSp>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139425" y="6042990"/>
            <a:ext cx="1312676" cy="348426"/>
          </a:xfrm>
          <a:prstGeom prst="rect">
            <a:avLst/>
          </a:prstGeom>
        </p:spPr>
      </p:pic>
      <p:sp>
        <p:nvSpPr>
          <p:cNvPr id="11" name="矩形 10"/>
          <p:cNvSpPr/>
          <p:nvPr/>
        </p:nvSpPr>
        <p:spPr>
          <a:xfrm>
            <a:off x="4417408" y="2370634"/>
            <a:ext cx="6480000" cy="360000"/>
          </a:xfrm>
          <a:prstGeom prst="rect">
            <a:avLst/>
          </a:prstGeom>
          <a:solidFill>
            <a:srgbClr val="FFFFFF">
              <a:lumMod val="95000"/>
            </a:srgbClr>
          </a:solidFill>
          <a:ln w="9525" cap="flat" cmpd="sng" algn="ctr">
            <a:solidFill>
              <a:srgbClr val="FFFFFF">
                <a:lumMod val="65000"/>
              </a:srgbClr>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indent="0" algn="ctr" defTabSz="0" rtl="0" eaLnBrk="1" fontAlgn="auto" latinLnBrk="0" hangingPunct="1">
              <a:lnSpc>
                <a:spcPct val="100000"/>
              </a:lnSpc>
              <a:spcBef>
                <a:spcPts val="0"/>
              </a:spcBef>
              <a:spcAft>
                <a:spcPts val="0"/>
              </a:spcAft>
              <a:buSzTx/>
              <a:buNone/>
            </a:pPr>
            <a:r>
              <a:rPr lang="en-US" altLang="zh-CN" sz="2400" kern="0" noProof="0" dirty="0">
                <a:ln>
                  <a:noFill/>
                </a:ln>
                <a:solidFill>
                  <a:srgbClr val="FFFFFF">
                    <a:lumMod val="75000"/>
                  </a:srgbClr>
                </a:solidFill>
                <a:effectLst/>
                <a:uLnTx/>
                <a:uFillTx/>
                <a:latin typeface="微软雅黑" panose="020B0503020204020204" pitchFamily="34" charset="-122"/>
                <a:ea typeface="微软雅黑" panose="020B0503020204020204" pitchFamily="34" charset="-122"/>
              </a:rPr>
              <a:t>Part 2 什么是NPU</a:t>
            </a:r>
            <a:endParaRPr lang="en-US" altLang="zh-CN" sz="2400" kern="0" noProof="0" dirty="0">
              <a:ln>
                <a:noFill/>
              </a:ln>
              <a:solidFill>
                <a:srgbClr val="FFFFFF">
                  <a:lumMod val="75000"/>
                </a:srgbClr>
              </a:solidFill>
              <a:effectLst/>
              <a:uLnTx/>
              <a:uFillTx/>
              <a:latin typeface="微软雅黑" panose="020B0503020204020204" pitchFamily="34" charset="-122"/>
              <a:ea typeface="微软雅黑" panose="020B0503020204020204" pitchFamily="34" charset="-122"/>
            </a:endParaRPr>
          </a:p>
        </p:txBody>
      </p:sp>
      <p:sp>
        <p:nvSpPr>
          <p:cNvPr id="16" name="矩形 15"/>
          <p:cNvSpPr/>
          <p:nvPr/>
        </p:nvSpPr>
        <p:spPr>
          <a:xfrm>
            <a:off x="4417409" y="4461310"/>
            <a:ext cx="6480000" cy="360000"/>
          </a:xfrm>
          <a:prstGeom prst="rect">
            <a:avLst/>
          </a:prstGeom>
          <a:solidFill>
            <a:srgbClr val="FFFFFF">
              <a:lumMod val="95000"/>
            </a:srgbClr>
          </a:solidFill>
          <a:ln w="9525" cap="flat" cmpd="sng" algn="ctr">
            <a:solidFill>
              <a:srgbClr val="FFFFFF">
                <a:lumMod val="65000"/>
              </a:srgbClr>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dirty="0">
                <a:ln>
                  <a:noFill/>
                </a:ln>
                <a:solidFill>
                  <a:srgbClr val="FFFFFF">
                    <a:lumMod val="75000"/>
                  </a:srgbClr>
                </a:solidFill>
                <a:effectLst/>
                <a:uLnTx/>
                <a:uFillTx/>
                <a:latin typeface="微软雅黑" panose="020B0503020204020204" pitchFamily="34" charset="-122"/>
                <a:ea typeface="微软雅黑" panose="020B0503020204020204" pitchFamily="34" charset="-122"/>
                <a:cs typeface="+mn-cs"/>
              </a:rPr>
              <a:t>Part 4 NPU 实践</a:t>
            </a:r>
            <a:endParaRPr kumimoji="0" lang="zh-CN" altLang="en-US" sz="2400" b="0" i="0" u="none" strike="noStrike" kern="0" cap="none" spc="0" normalizeH="0" baseline="0" noProof="0" dirty="0">
              <a:ln>
                <a:noFill/>
              </a:ln>
              <a:solidFill>
                <a:srgbClr val="FFFFFF">
                  <a:lumMod val="75000"/>
                </a:srgbClr>
              </a:solidFill>
              <a:effectLst/>
              <a:uLnTx/>
              <a:uFillTx/>
              <a:latin typeface="微软雅黑" panose="020B0503020204020204" pitchFamily="34" charset="-122"/>
              <a:ea typeface="微软雅黑" panose="020B0503020204020204" pitchFamily="34" charset="-122"/>
              <a:cs typeface="+mn-cs"/>
            </a:endParaRPr>
          </a:p>
        </p:txBody>
      </p:sp>
      <p:sp>
        <p:nvSpPr>
          <p:cNvPr id="9" name="矩形 8"/>
          <p:cNvSpPr/>
          <p:nvPr/>
        </p:nvSpPr>
        <p:spPr>
          <a:xfrm>
            <a:off x="4417378" y="3436726"/>
            <a:ext cx="6480000" cy="360000"/>
          </a:xfrm>
          <a:prstGeom prst="rect">
            <a:avLst/>
          </a:prstGeom>
          <a:solidFill>
            <a:srgbClr val="C00000"/>
          </a:solidFill>
          <a:ln w="9525" cap="flat" cmpd="sng" algn="ctr">
            <a:solidFill>
              <a:srgbClr val="FFFFFF">
                <a:lumMod val="65000"/>
              </a:srgbClr>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indent="0" algn="ctr" defTabSz="0" rtl="0" eaLnBrk="1" latinLnBrk="0" hangingPunct="1">
              <a:spcBef>
                <a:spcPct val="0"/>
              </a:spcBef>
              <a:spcAft>
                <a:spcPct val="0"/>
              </a:spcAft>
              <a:buNone/>
            </a:pPr>
            <a:r>
              <a:rPr lang="en-US" altLang="zh-CN" sz="2400" kern="0" dirty="0">
                <a:solidFill>
                  <a:prstClr val="white"/>
                </a:solidFill>
                <a:latin typeface="微软雅黑" panose="020B0503020204020204" pitchFamily="34" charset="-122"/>
                <a:ea typeface="微软雅黑" panose="020B0503020204020204" pitchFamily="34" charset="-122"/>
              </a:rPr>
              <a:t>Part 3 什么是CANN</a:t>
            </a:r>
            <a:endParaRPr lang="en-US" altLang="zh-CN" sz="2400" kern="0" dirty="0">
              <a:solidFill>
                <a:prstClr val="white"/>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4294967295"/>
          </p:nvPr>
        </p:nvSpPr>
        <p:spPr>
          <a:xfrm>
            <a:off x="650875" y="393700"/>
            <a:ext cx="11545888" cy="412750"/>
          </a:xfrm>
        </p:spPr>
        <p:txBody>
          <a:bodyPr>
            <a:noAutofit/>
          </a:bodyPr>
          <a:lstStyle/>
          <a:p>
            <a:pPr marL="0" indent="0" defTabSz="914400">
              <a:lnSpc>
                <a:spcPct val="100000"/>
              </a:lnSpc>
              <a:spcBef>
                <a:spcPts val="0"/>
              </a:spcBef>
              <a:buNone/>
              <a:defRPr/>
            </a:pPr>
            <a:r>
              <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CANN：对上适配 AI 框架，对下驱动 NPU 硬件</a:t>
            </a:r>
            <a:endPar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p:txBody>
      </p:sp>
      <p:pic>
        <p:nvPicPr>
          <p:cNvPr id="25" name="图片 24"/>
          <p:cNvPicPr>
            <a:picLocks noChangeAspect="1"/>
          </p:cNvPicPr>
          <p:nvPr/>
        </p:nvPicPr>
        <p:blipFill>
          <a:blip r:embed="rId1" cstate="screen"/>
          <a:stretch>
            <a:fillRect/>
          </a:stretch>
        </p:blipFill>
        <p:spPr>
          <a:xfrm>
            <a:off x="367725" y="1221309"/>
            <a:ext cx="11460996" cy="4616861"/>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6"/>
          <p:cNvSpPr txBox="1"/>
          <p:nvPr/>
        </p:nvSpPr>
        <p:spPr>
          <a:xfrm>
            <a:off x="112446" y="6130455"/>
            <a:ext cx="1745991" cy="246221"/>
          </a:xfrm>
          <a:prstGeom prst="rect">
            <a:avLst/>
          </a:prstGeom>
          <a:noFill/>
        </p:spPr>
        <p:txBody>
          <a:bodyPr wrap="none" rtlCol="0">
            <a:spAutoFit/>
          </a:bodyPr>
          <a:lstStyle/>
          <a:p>
            <a:pPr>
              <a:defRPr/>
            </a:pPr>
            <a:r>
              <a:rPr lang="en-US" altLang="zh-CN" sz="1000" dirty="0">
                <a:solidFill>
                  <a:prstClr val="white">
                    <a:lumMod val="50000"/>
                  </a:prstClr>
                </a:solidFill>
                <a:latin typeface="微软雅黑" panose="020B0503020204020204" pitchFamily="34" charset="-122"/>
                <a:ea typeface="微软雅黑" panose="020B0503020204020204" pitchFamily="34" charset="-122"/>
                <a:cs typeface="Arial" panose="020B0604020202020204" pitchFamily="34" charset="0"/>
              </a:rPr>
              <a:t>https://gitcode.com/cann</a:t>
            </a:r>
            <a:endParaRPr lang="zh-CN" altLang="en-US" sz="1000" dirty="0">
              <a:solidFill>
                <a:prstClr val="white">
                  <a:lumMod val="50000"/>
                </a:prstClr>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6" name="副标题 1"/>
          <p:cNvSpPr txBox="1"/>
          <p:nvPr/>
        </p:nvSpPr>
        <p:spPr>
          <a:xfrm>
            <a:off x="731997" y="326391"/>
            <a:ext cx="11099165" cy="581025"/>
          </a:xfrm>
          <a:prstGeom prst="rect">
            <a:avLst/>
          </a:prstGeom>
        </p:spPr>
        <p:txBody>
          <a:bodyPr lIns="0" tIns="0" rIns="0" bIns="0" anchor="ctr" anchorCtr="0">
            <a:normAutofit/>
          </a:bodyPr>
          <a:lstStyle>
            <a:lvl1pPr marL="0" indent="0" algn="l" defTabSz="1187450" rtl="0" eaLnBrk="1" latinLnBrk="0" hangingPunct="1">
              <a:lnSpc>
                <a:spcPts val="3430"/>
              </a:lnSpc>
              <a:spcBef>
                <a:spcPts val="0"/>
              </a:spcBef>
              <a:buFont typeface="Arial" panose="020B0604020202020204" pitchFamily="34" charset="0"/>
              <a:buNone/>
              <a:defRPr sz="2400" kern="1200" baseline="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593725" indent="0" algn="ctr" defTabSz="1187450" rtl="0" eaLnBrk="1" latinLnBrk="0" hangingPunct="1">
              <a:lnSpc>
                <a:spcPct val="90000"/>
              </a:lnSpc>
              <a:spcBef>
                <a:spcPts val="650"/>
              </a:spcBef>
              <a:buFont typeface="Arial" panose="020B0604020202020204" pitchFamily="34" charset="0"/>
              <a:buNone/>
              <a:defRPr sz="2595" kern="1200">
                <a:solidFill>
                  <a:schemeClr val="tx1"/>
                </a:solidFill>
                <a:latin typeface="+mn-lt"/>
                <a:ea typeface="+mn-ea"/>
                <a:cs typeface="+mn-cs"/>
              </a:defRPr>
            </a:lvl2pPr>
            <a:lvl3pPr marL="1187450" indent="0" algn="ctr" defTabSz="1187450" rtl="0" eaLnBrk="1" latinLnBrk="0" hangingPunct="1">
              <a:lnSpc>
                <a:spcPct val="90000"/>
              </a:lnSpc>
              <a:spcBef>
                <a:spcPts val="650"/>
              </a:spcBef>
              <a:buFont typeface="Arial" panose="020B0604020202020204" pitchFamily="34" charset="0"/>
              <a:buNone/>
              <a:defRPr sz="2335" kern="1200">
                <a:solidFill>
                  <a:schemeClr val="tx1"/>
                </a:solidFill>
                <a:latin typeface="+mn-lt"/>
                <a:ea typeface="+mn-ea"/>
                <a:cs typeface="+mn-cs"/>
              </a:defRPr>
            </a:lvl3pPr>
            <a:lvl4pPr marL="1781175"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4pPr>
            <a:lvl5pPr marL="2374900"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5pPr>
            <a:lvl6pPr marL="2967990"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6pPr>
            <a:lvl7pPr marL="3561715"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7pPr>
            <a:lvl8pPr marL="4155440"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8pPr>
            <a:lvl9pPr marL="4749165"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9pPr>
          </a:lstStyle>
          <a:p>
            <a:pPr>
              <a:defRPr/>
            </a:pPr>
            <a:r>
              <a:rPr lang="en-US" altLang="zh-CN" sz="2800" b="1" dirty="0">
                <a:solidFill>
                  <a:prstClr val="black"/>
                </a:solidFill>
                <a:latin typeface="微软雅黑" panose="020B0503020204020204" pitchFamily="34" charset="-122"/>
              </a:rPr>
              <a:t>CANN </a:t>
            </a:r>
            <a:r>
              <a:rPr lang="zh-CN" altLang="en-US" sz="2800" b="1" dirty="0">
                <a:solidFill>
                  <a:prstClr val="black"/>
                </a:solidFill>
                <a:latin typeface="微软雅黑" panose="020B0503020204020204" pitchFamily="34" charset="-122"/>
              </a:rPr>
              <a:t>助力构筑昇腾</a:t>
            </a:r>
            <a:r>
              <a:rPr lang="en-US" altLang="zh-CN" sz="2800" b="1" dirty="0">
                <a:solidFill>
                  <a:prstClr val="black"/>
                </a:solidFill>
                <a:latin typeface="微软雅黑" panose="020B0503020204020204" pitchFamily="34" charset="-122"/>
              </a:rPr>
              <a:t>AI</a:t>
            </a:r>
            <a:r>
              <a:rPr lang="zh-CN" altLang="en-US" sz="2800" b="1" dirty="0">
                <a:solidFill>
                  <a:prstClr val="black"/>
                </a:solidFill>
                <a:latin typeface="微软雅黑" panose="020B0503020204020204" pitchFamily="34" charset="-122"/>
              </a:rPr>
              <a:t>算力平台</a:t>
            </a:r>
            <a:endParaRPr lang="zh-CN" altLang="en-US" b="1" dirty="0">
              <a:solidFill>
                <a:prstClr val="black"/>
              </a:solidFill>
            </a:endParaRPr>
          </a:p>
        </p:txBody>
      </p:sp>
      <p:sp>
        <p:nvSpPr>
          <p:cNvPr id="60" name="矩形 59"/>
          <p:cNvSpPr/>
          <p:nvPr/>
        </p:nvSpPr>
        <p:spPr>
          <a:xfrm>
            <a:off x="499822" y="2274558"/>
            <a:ext cx="588645" cy="1376409"/>
          </a:xfrm>
          <a:prstGeom prst="rect">
            <a:avLst/>
          </a:prstGeom>
          <a:solidFill>
            <a:srgbClr val="1C58A0"/>
          </a:solidFill>
          <a:ln w="12700" cap="flat" cmpd="sng" algn="ctr">
            <a:noFill/>
            <a:prstDash val="solid"/>
            <a:miter lim="800000"/>
          </a:ln>
          <a:effectLst/>
        </p:spPr>
        <p:txBody>
          <a:bodyPr rtlCol="0" anchor="ctr"/>
          <a:lstStyle/>
          <a:p>
            <a:pPr algn="ctr">
              <a:defRPr/>
            </a:pPr>
            <a:endParaRPr lang="zh-CN" altLang="en-US" sz="1200" b="1" kern="0">
              <a:solidFill>
                <a:prstClr val="white"/>
              </a:solidFill>
              <a:latin typeface="微软雅黑" panose="020B0503020204020204" pitchFamily="34" charset="-122"/>
              <a:ea typeface="微软雅黑" panose="020B0503020204020204" pitchFamily="34" charset="-122"/>
            </a:endParaRPr>
          </a:p>
        </p:txBody>
      </p:sp>
      <p:sp>
        <p:nvSpPr>
          <p:cNvPr id="62" name="矩形 61"/>
          <p:cNvSpPr/>
          <p:nvPr/>
        </p:nvSpPr>
        <p:spPr>
          <a:xfrm>
            <a:off x="500399" y="5181830"/>
            <a:ext cx="588645" cy="768837"/>
          </a:xfrm>
          <a:prstGeom prst="rect">
            <a:avLst/>
          </a:prstGeom>
          <a:solidFill>
            <a:srgbClr val="1C58A0"/>
          </a:solidFill>
          <a:ln w="12700" cap="flat" cmpd="sng" algn="ctr">
            <a:noFill/>
            <a:prstDash val="solid"/>
            <a:miter lim="800000"/>
          </a:ln>
          <a:effectLst/>
        </p:spPr>
        <p:txBody>
          <a:bodyPr rtlCol="0" anchor="ctr"/>
          <a:lstStyle/>
          <a:p>
            <a:pPr algn="ctr">
              <a:defRPr/>
            </a:pPr>
            <a:endParaRPr lang="zh-CN" altLang="en-US" sz="1200" kern="0">
              <a:solidFill>
                <a:prstClr val="white"/>
              </a:solidFill>
              <a:latin typeface="微软雅黑" panose="020B0503020204020204" pitchFamily="34" charset="-122"/>
              <a:ea typeface="微软雅黑" panose="020B0503020204020204" pitchFamily="34" charset="-122"/>
            </a:endParaRPr>
          </a:p>
        </p:txBody>
      </p:sp>
      <p:sp>
        <p:nvSpPr>
          <p:cNvPr id="63" name="矩形 62"/>
          <p:cNvSpPr/>
          <p:nvPr/>
        </p:nvSpPr>
        <p:spPr>
          <a:xfrm>
            <a:off x="499244" y="3773007"/>
            <a:ext cx="588645" cy="1259577"/>
          </a:xfrm>
          <a:prstGeom prst="rect">
            <a:avLst/>
          </a:prstGeom>
          <a:solidFill>
            <a:srgbClr val="1C58A0"/>
          </a:solidFill>
          <a:ln w="12700" cap="flat" cmpd="sng" algn="ctr">
            <a:noFill/>
            <a:prstDash val="solid"/>
            <a:miter lim="800000"/>
          </a:ln>
          <a:effectLst/>
        </p:spPr>
        <p:txBody>
          <a:bodyPr rtlCol="0" anchor="ctr"/>
          <a:lstStyle/>
          <a:p>
            <a:pPr algn="ctr">
              <a:defRPr/>
            </a:pPr>
            <a:endParaRPr lang="zh-CN" altLang="en-US" sz="1200" b="1" kern="0">
              <a:solidFill>
                <a:prstClr val="white"/>
              </a:solidFill>
              <a:latin typeface="微软雅黑" panose="020B0503020204020204" pitchFamily="34" charset="-122"/>
              <a:ea typeface="微软雅黑" panose="020B0503020204020204" pitchFamily="34" charset="-122"/>
            </a:endParaRPr>
          </a:p>
        </p:txBody>
      </p:sp>
      <p:sp>
        <p:nvSpPr>
          <p:cNvPr id="95" name="箭头: V 形 6"/>
          <p:cNvSpPr/>
          <p:nvPr/>
        </p:nvSpPr>
        <p:spPr>
          <a:xfrm>
            <a:off x="1156382" y="2286422"/>
            <a:ext cx="2063483" cy="483031"/>
          </a:xfrm>
          <a:prstGeom prst="chevron">
            <a:avLst>
              <a:gd name="adj" fmla="val 22939"/>
            </a:avLst>
          </a:prstGeom>
          <a:solidFill>
            <a:srgbClr val="032D76"/>
          </a:solidFill>
          <a:ln w="12700" cap="flat" cmpd="sng" algn="ctr">
            <a:noFill/>
            <a:prstDash val="solid"/>
            <a:miter lim="800000"/>
          </a:ln>
          <a:effectLst/>
        </p:spPr>
        <p:txBody>
          <a:bodyPr rtlCol="0" anchor="ctr"/>
          <a:lstStyle/>
          <a:p>
            <a:pPr algn="ctr">
              <a:defRPr/>
            </a:pPr>
            <a:endParaRPr lang="zh-CN" altLang="en-US" sz="1200" kern="0">
              <a:solidFill>
                <a:prstClr val="white"/>
              </a:solidFill>
              <a:latin typeface="微软雅黑" panose="020B0503020204020204" pitchFamily="34" charset="-122"/>
              <a:ea typeface="微软雅黑" panose="020B0503020204020204" pitchFamily="34" charset="-122"/>
            </a:endParaRPr>
          </a:p>
        </p:txBody>
      </p:sp>
      <p:sp>
        <p:nvSpPr>
          <p:cNvPr id="96" name="等腰三角形 95"/>
          <p:cNvSpPr/>
          <p:nvPr/>
        </p:nvSpPr>
        <p:spPr>
          <a:xfrm rot="5400000">
            <a:off x="1033127" y="2411896"/>
            <a:ext cx="492724" cy="241775"/>
          </a:xfrm>
          <a:prstGeom prst="triangle">
            <a:avLst/>
          </a:prstGeom>
          <a:solidFill>
            <a:srgbClr val="032D76"/>
          </a:solidFill>
          <a:ln w="12700" cap="flat" cmpd="sng" algn="ctr">
            <a:noFill/>
            <a:prstDash val="solid"/>
            <a:miter lim="800000"/>
          </a:ln>
          <a:effectLst/>
        </p:spPr>
        <p:txBody>
          <a:bodyPr rtlCol="0" anchor="ctr"/>
          <a:lstStyle/>
          <a:p>
            <a:pPr algn="ctr">
              <a:defRPr/>
            </a:pPr>
            <a:endParaRPr lang="zh-CN" altLang="en-US" sz="1200" kern="0">
              <a:solidFill>
                <a:prstClr val="white"/>
              </a:solidFill>
              <a:latin typeface="微软雅黑" panose="020B0503020204020204" pitchFamily="34" charset="-122"/>
              <a:ea typeface="微软雅黑" panose="020B0503020204020204" pitchFamily="34" charset="-122"/>
            </a:endParaRPr>
          </a:p>
        </p:txBody>
      </p:sp>
      <p:sp>
        <p:nvSpPr>
          <p:cNvPr id="97" name="箭头: V 形 6"/>
          <p:cNvSpPr/>
          <p:nvPr/>
        </p:nvSpPr>
        <p:spPr>
          <a:xfrm>
            <a:off x="3266922" y="2286421"/>
            <a:ext cx="1866544" cy="483031"/>
          </a:xfrm>
          <a:prstGeom prst="chevron">
            <a:avLst>
              <a:gd name="adj" fmla="val 22939"/>
            </a:avLst>
          </a:prstGeom>
          <a:solidFill>
            <a:srgbClr val="247BAE"/>
          </a:solidFill>
          <a:ln w="12700" cap="flat" cmpd="sng" algn="ctr">
            <a:noFill/>
            <a:prstDash val="solid"/>
            <a:miter lim="800000"/>
          </a:ln>
          <a:effectLst/>
        </p:spPr>
        <p:txBody>
          <a:bodyPr rtlCol="0" anchor="ctr"/>
          <a:lstStyle/>
          <a:p>
            <a:pPr algn="ctr">
              <a:defRPr/>
            </a:pPr>
            <a:endParaRPr lang="zh-CN" altLang="en-US" sz="1200" kern="0">
              <a:solidFill>
                <a:prstClr val="white"/>
              </a:solidFill>
              <a:latin typeface="微软雅黑" panose="020B0503020204020204" pitchFamily="34" charset="-122"/>
              <a:ea typeface="微软雅黑" panose="020B0503020204020204" pitchFamily="34" charset="-122"/>
            </a:endParaRPr>
          </a:p>
        </p:txBody>
      </p:sp>
      <p:sp>
        <p:nvSpPr>
          <p:cNvPr id="102" name="文本框 101"/>
          <p:cNvSpPr txBox="1"/>
          <p:nvPr/>
        </p:nvSpPr>
        <p:spPr>
          <a:xfrm flipH="1">
            <a:off x="1400378" y="2411101"/>
            <a:ext cx="1732134" cy="246221"/>
          </a:xfrm>
          <a:prstGeom prst="rect">
            <a:avLst/>
          </a:prstGeom>
          <a:noFill/>
        </p:spPr>
        <p:txBody>
          <a:bodyPr wrap="square" lIns="0" tIns="0" rIns="0" bIns="0" rtlCol="0">
            <a:spAutoFit/>
          </a:bodyPr>
          <a:lstStyle/>
          <a:p>
            <a:pPr algn="ctr">
              <a:defRPr/>
            </a:pPr>
            <a:r>
              <a:rPr lang="zh-CN" altLang="en-US" sz="1600"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rPr>
              <a:t>算子库</a:t>
            </a:r>
            <a:endParaRPr lang="zh-CN" altLang="en-US" sz="1600"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endParaRPr>
          </a:p>
        </p:txBody>
      </p:sp>
      <p:sp>
        <p:nvSpPr>
          <p:cNvPr id="112" name="文本框 111"/>
          <p:cNvSpPr txBox="1"/>
          <p:nvPr/>
        </p:nvSpPr>
        <p:spPr>
          <a:xfrm flipH="1">
            <a:off x="9579187" y="1598846"/>
            <a:ext cx="1866543" cy="246221"/>
          </a:xfrm>
          <a:prstGeom prst="rect">
            <a:avLst/>
          </a:prstGeom>
          <a:noFill/>
        </p:spPr>
        <p:txBody>
          <a:bodyPr wrap="square" lIns="0" tIns="0" rIns="0" bIns="0" rtlCol="0">
            <a:spAutoFit/>
          </a:bodyPr>
          <a:lstStyle/>
          <a:p>
            <a:pPr algn="ctr">
              <a:defRPr/>
            </a:pPr>
            <a:r>
              <a:rPr lang="en-US" altLang="zh-CN" sz="1600"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rPr>
              <a:t>11</a:t>
            </a:r>
            <a:r>
              <a:rPr lang="zh-CN" altLang="en-US" sz="1600"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rPr>
              <a:t>月底上线</a:t>
            </a:r>
            <a:endParaRPr lang="zh-CN" altLang="en-US" sz="1600"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endParaRPr>
          </a:p>
        </p:txBody>
      </p:sp>
      <p:sp>
        <p:nvSpPr>
          <p:cNvPr id="113" name="文本框 112"/>
          <p:cNvSpPr txBox="1"/>
          <p:nvPr/>
        </p:nvSpPr>
        <p:spPr>
          <a:xfrm flipH="1">
            <a:off x="3123665" y="2396949"/>
            <a:ext cx="2036642" cy="246221"/>
          </a:xfrm>
          <a:prstGeom prst="rect">
            <a:avLst/>
          </a:prstGeom>
          <a:noFill/>
        </p:spPr>
        <p:txBody>
          <a:bodyPr wrap="square" lIns="0" tIns="0" rIns="0" bIns="0" rtlCol="0">
            <a:spAutoFit/>
          </a:bodyPr>
          <a:lstStyle/>
          <a:p>
            <a:pPr algn="ctr">
              <a:defRPr/>
            </a:pPr>
            <a:r>
              <a:rPr lang="zh-CN" altLang="en-US" sz="1600"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rPr>
              <a:t>通信库</a:t>
            </a:r>
            <a:endParaRPr lang="zh-CN" altLang="en-US" sz="1600"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endParaRPr>
          </a:p>
        </p:txBody>
      </p:sp>
      <p:sp>
        <p:nvSpPr>
          <p:cNvPr id="114" name="文本框 113"/>
          <p:cNvSpPr txBox="1"/>
          <p:nvPr/>
        </p:nvSpPr>
        <p:spPr>
          <a:xfrm flipH="1">
            <a:off x="499821" y="2855690"/>
            <a:ext cx="588644" cy="215444"/>
          </a:xfrm>
          <a:prstGeom prst="rect">
            <a:avLst/>
          </a:prstGeom>
          <a:noFill/>
        </p:spPr>
        <p:txBody>
          <a:bodyPr wrap="square" lIns="0" tIns="0" rIns="0" bIns="0" rtlCol="0">
            <a:spAutoFit/>
          </a:bodyPr>
          <a:lstStyle/>
          <a:p>
            <a:pPr algn="ctr">
              <a:defRPr/>
            </a:pPr>
            <a:r>
              <a:rPr lang="zh-CN" altLang="en-US" sz="14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rPr>
              <a:t>加速库</a:t>
            </a:r>
            <a:endParaRPr lang="zh-CN" altLang="en-US" sz="14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endParaRPr>
          </a:p>
        </p:txBody>
      </p:sp>
      <p:sp>
        <p:nvSpPr>
          <p:cNvPr id="115" name="文本框 114"/>
          <p:cNvSpPr txBox="1"/>
          <p:nvPr/>
        </p:nvSpPr>
        <p:spPr>
          <a:xfrm flipH="1">
            <a:off x="500399" y="5366667"/>
            <a:ext cx="588644" cy="215444"/>
          </a:xfrm>
          <a:prstGeom prst="rect">
            <a:avLst/>
          </a:prstGeom>
          <a:noFill/>
        </p:spPr>
        <p:txBody>
          <a:bodyPr wrap="square" lIns="0" tIns="0" rIns="0" bIns="0" rtlCol="0">
            <a:spAutoFit/>
          </a:bodyPr>
          <a:lstStyle/>
          <a:p>
            <a:pPr algn="ctr">
              <a:defRPr/>
            </a:pPr>
            <a:r>
              <a:rPr lang="zh-CN" altLang="en-US" sz="14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rPr>
              <a:t>运行时</a:t>
            </a:r>
            <a:endParaRPr lang="zh-CN" altLang="en-US" sz="14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endParaRPr>
          </a:p>
        </p:txBody>
      </p:sp>
      <p:sp>
        <p:nvSpPr>
          <p:cNvPr id="116" name="文本框 115"/>
          <p:cNvSpPr txBox="1"/>
          <p:nvPr/>
        </p:nvSpPr>
        <p:spPr>
          <a:xfrm flipH="1">
            <a:off x="508899" y="4158227"/>
            <a:ext cx="588644" cy="430887"/>
          </a:xfrm>
          <a:prstGeom prst="rect">
            <a:avLst/>
          </a:prstGeom>
          <a:noFill/>
        </p:spPr>
        <p:txBody>
          <a:bodyPr wrap="square" lIns="0" tIns="0" rIns="0" bIns="0" rtlCol="0">
            <a:spAutoFit/>
          </a:bodyPr>
          <a:lstStyle/>
          <a:p>
            <a:pPr algn="ctr">
              <a:defRPr/>
            </a:pPr>
            <a:r>
              <a:rPr lang="zh-CN" altLang="en-US" sz="14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rPr>
              <a:t>编程与编译</a:t>
            </a:r>
            <a:endParaRPr lang="zh-CN" altLang="en-US" sz="14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endParaRPr>
          </a:p>
        </p:txBody>
      </p:sp>
      <p:sp>
        <p:nvSpPr>
          <p:cNvPr id="121" name="文本框 120"/>
          <p:cNvSpPr txBox="1"/>
          <p:nvPr/>
        </p:nvSpPr>
        <p:spPr>
          <a:xfrm flipH="1">
            <a:off x="1491695" y="3246840"/>
            <a:ext cx="1866543" cy="184666"/>
          </a:xfrm>
          <a:prstGeom prst="rect">
            <a:avLst/>
          </a:prstGeom>
          <a:noFill/>
        </p:spPr>
        <p:txBody>
          <a:bodyPr wrap="square" lIns="0" tIns="0" rIns="0" bIns="0" rtlCol="0">
            <a:spAutoFit/>
          </a:bodyPr>
          <a:lstStyle/>
          <a:p>
            <a:pPr algn="ctr">
              <a:defRPr/>
            </a:pPr>
            <a:r>
              <a:rPr lang="zh-CN" altLang="en-US" sz="1200" dirty="0">
                <a:solidFill>
                  <a:srgbClr val="F2F5F6"/>
                </a:solidFill>
                <a:latin typeface="微软雅黑" panose="020B0503020204020204" pitchFamily="34" charset="-122"/>
                <a:ea typeface="微软雅黑" panose="020B0503020204020204" pitchFamily="34" charset="-122"/>
                <a:cs typeface="OPPOSans R" panose="00020600040101010101" pitchFamily="18" charset="-122"/>
              </a:rPr>
              <a:t>新品销主题</a:t>
            </a:r>
            <a:endParaRPr lang="zh-CN" altLang="en-US" sz="1200" dirty="0">
              <a:solidFill>
                <a:srgbClr val="F2F5F6"/>
              </a:solidFill>
              <a:latin typeface="微软雅黑" panose="020B0503020204020204" pitchFamily="34" charset="-122"/>
              <a:ea typeface="微软雅黑" panose="020B0503020204020204" pitchFamily="34" charset="-122"/>
              <a:cs typeface="OPPOSans R" panose="00020600040101010101" pitchFamily="18" charset="-122"/>
            </a:endParaRPr>
          </a:p>
        </p:txBody>
      </p:sp>
      <p:sp>
        <p:nvSpPr>
          <p:cNvPr id="122" name="文本框 121"/>
          <p:cNvSpPr txBox="1"/>
          <p:nvPr/>
        </p:nvSpPr>
        <p:spPr>
          <a:xfrm flipH="1">
            <a:off x="5603108" y="3246840"/>
            <a:ext cx="1866543" cy="184666"/>
          </a:xfrm>
          <a:prstGeom prst="rect">
            <a:avLst/>
          </a:prstGeom>
          <a:noFill/>
        </p:spPr>
        <p:txBody>
          <a:bodyPr wrap="square" lIns="0" tIns="0" rIns="0" bIns="0" rtlCol="0">
            <a:spAutoFit/>
          </a:bodyPr>
          <a:lstStyle/>
          <a:p>
            <a:pPr algn="ctr">
              <a:defRPr/>
            </a:pPr>
            <a:r>
              <a:rPr lang="zh-CN" altLang="en-US" sz="1200">
                <a:solidFill>
                  <a:srgbClr val="F2F5F6"/>
                </a:solidFill>
                <a:latin typeface="微软雅黑" panose="020B0503020204020204" pitchFamily="34" charset="-122"/>
                <a:ea typeface="微软雅黑" panose="020B0503020204020204" pitchFamily="34" charset="-122"/>
                <a:cs typeface="OPPOSans R" panose="00020600040101010101" pitchFamily="18" charset="-122"/>
              </a:rPr>
              <a:t>新品营销主题</a:t>
            </a:r>
            <a:endParaRPr lang="zh-CN" altLang="en-US" sz="1200">
              <a:solidFill>
                <a:srgbClr val="F2F5F6"/>
              </a:solidFill>
              <a:latin typeface="微软雅黑" panose="020B0503020204020204" pitchFamily="34" charset="-122"/>
              <a:ea typeface="微软雅黑" panose="020B0503020204020204" pitchFamily="34" charset="-122"/>
              <a:cs typeface="OPPOSans R" panose="00020600040101010101" pitchFamily="18" charset="-122"/>
            </a:endParaRPr>
          </a:p>
        </p:txBody>
      </p:sp>
      <p:sp>
        <p:nvSpPr>
          <p:cNvPr id="123" name="文本框 122"/>
          <p:cNvSpPr txBox="1"/>
          <p:nvPr/>
        </p:nvSpPr>
        <p:spPr>
          <a:xfrm flipH="1">
            <a:off x="9579187" y="2448737"/>
            <a:ext cx="1866543" cy="184666"/>
          </a:xfrm>
          <a:prstGeom prst="rect">
            <a:avLst/>
          </a:prstGeom>
          <a:noFill/>
        </p:spPr>
        <p:txBody>
          <a:bodyPr wrap="square" lIns="0" tIns="0" rIns="0" bIns="0" rtlCol="0">
            <a:spAutoFit/>
          </a:bodyPr>
          <a:lstStyle/>
          <a:p>
            <a:pPr algn="ctr">
              <a:defRPr/>
            </a:pPr>
            <a:r>
              <a:rPr lang="zh-CN" altLang="en-US" sz="1200">
                <a:solidFill>
                  <a:srgbClr val="F2F5F6"/>
                </a:solidFill>
                <a:latin typeface="微软雅黑" panose="020B0503020204020204" pitchFamily="34" charset="-122"/>
                <a:ea typeface="微软雅黑" panose="020B0503020204020204" pitchFamily="34" charset="-122"/>
                <a:cs typeface="OPPOSans R" panose="00020600040101010101" pitchFamily="18" charset="-122"/>
              </a:rPr>
              <a:t>新品营销主题</a:t>
            </a:r>
            <a:endParaRPr lang="zh-CN" altLang="en-US" sz="1200">
              <a:solidFill>
                <a:srgbClr val="F2F5F6"/>
              </a:solidFill>
              <a:latin typeface="微软雅黑" panose="020B0503020204020204" pitchFamily="34" charset="-122"/>
              <a:ea typeface="微软雅黑" panose="020B0503020204020204" pitchFamily="34" charset="-122"/>
              <a:cs typeface="OPPOSans R" panose="00020600040101010101" pitchFamily="18" charset="-122"/>
            </a:endParaRPr>
          </a:p>
        </p:txBody>
      </p:sp>
      <p:sp>
        <p:nvSpPr>
          <p:cNvPr id="130" name="Description:"/>
          <p:cNvSpPr/>
          <p:nvPr/>
        </p:nvSpPr>
        <p:spPr>
          <a:xfrm>
            <a:off x="1236782" y="4678907"/>
            <a:ext cx="1045369" cy="184666"/>
          </a:xfrm>
          <a:prstGeom prst="rect">
            <a:avLst/>
          </a:prstGeom>
          <a:ln w="12700">
            <a:miter lim="400000"/>
          </a:ln>
        </p:spPr>
        <p:txBody>
          <a:bodyPr wrap="square" lIns="0" tIns="0" rIns="0" bIns="0" anchor="ctr">
            <a:spAutoFit/>
          </a:bodyPr>
          <a:lstStyle>
            <a:lvl1pPr algn="r" defTabSz="1155700">
              <a:defRPr sz="3600" b="1">
                <a:solidFill>
                  <a:srgbClr val="384F63"/>
                </a:solidFill>
              </a:defRPr>
            </a:lvl1pPr>
          </a:lstStyle>
          <a:p>
            <a:pPr algn="ctr">
              <a:defRPr/>
            </a:pPr>
            <a:r>
              <a:rPr lang="zh-CN" altLang="en-US" sz="1200" b="0">
                <a:solidFill>
                  <a:srgbClr val="F2F5F6"/>
                </a:solidFill>
                <a:latin typeface="微软雅黑" panose="020B0503020204020204" pitchFamily="34" charset="-122"/>
                <a:ea typeface="微软雅黑" panose="020B0503020204020204" pitchFamily="34" charset="-122"/>
                <a:cs typeface="OPPOSans M" panose="00020600040101010101" pitchFamily="18" charset="-122"/>
              </a:rPr>
              <a:t>广告发布</a:t>
            </a:r>
            <a:endParaRPr lang="zh-CN" altLang="en-US" sz="1200" b="0">
              <a:solidFill>
                <a:srgbClr val="F2F5F6"/>
              </a:solidFill>
              <a:latin typeface="微软雅黑" panose="020B0503020204020204" pitchFamily="34" charset="-122"/>
              <a:ea typeface="微软雅黑" panose="020B0503020204020204" pitchFamily="34" charset="-122"/>
              <a:cs typeface="OPPOSans M" panose="00020600040101010101" pitchFamily="18" charset="-122"/>
            </a:endParaRPr>
          </a:p>
        </p:txBody>
      </p:sp>
      <p:sp>
        <p:nvSpPr>
          <p:cNvPr id="135" name="文本框 134"/>
          <p:cNvSpPr txBox="1"/>
          <p:nvPr/>
        </p:nvSpPr>
        <p:spPr>
          <a:xfrm>
            <a:off x="1265223" y="5684942"/>
            <a:ext cx="7907260" cy="295279"/>
          </a:xfrm>
          <a:prstGeom prst="rect">
            <a:avLst/>
          </a:prstGeom>
          <a:solidFill>
            <a:srgbClr val="1A9FBA">
              <a:alpha val="5000"/>
            </a:srgbClr>
          </a:solidFill>
          <a:ln w="12700" cap="flat" cmpd="sng" algn="ctr">
            <a:noFill/>
            <a:prstDash val="solid"/>
            <a:miter lim="800000"/>
          </a:ln>
          <a:effectLst/>
        </p:spPr>
        <p:txBody>
          <a:bodyPr rtlCol="0" anchor="ctr"/>
          <a:lstStyle>
            <a:defPPr>
              <a:defRPr lang="zh-CN"/>
            </a:defPPr>
            <a:lvl1pPr marR="0" lvl="0" indent="0" algn="ctr" fontAlgn="auto">
              <a:lnSpc>
                <a:spcPct val="100000"/>
              </a:lnSpc>
              <a:spcBef>
                <a:spcPts val="0"/>
              </a:spcBef>
              <a:spcAft>
                <a:spcPts val="0"/>
              </a:spcAft>
              <a:buClrTx/>
              <a:buSzTx/>
              <a:buFontTx/>
              <a:buNone/>
              <a:defRPr kumimoji="1" b="0" i="0" u="none" strike="noStrike" kern="0" cap="none" spc="0" normalizeH="0" baseline="0">
                <a:ln>
                  <a:noFill/>
                </a:ln>
                <a:solidFill>
                  <a:srgbClr val="313131"/>
                </a:solidFill>
                <a:effectLst/>
                <a:uLnTx/>
                <a:uFillTx/>
                <a:latin typeface="微软雅黑" panose="020B0503020204020204" pitchFamily="34" charset="-122"/>
                <a:ea typeface="微软雅黑" panose="020B0503020204020204" pitchFamily="34" charset="-122"/>
              </a:defRPr>
            </a:lvl1pPr>
          </a:lstStyle>
          <a:p>
            <a:pPr>
              <a:defRPr/>
            </a:pPr>
            <a:r>
              <a:rPr lang="zh-CN" altLang="en-US" sz="1400" dirty="0"/>
              <a:t>驱动</a:t>
            </a:r>
            <a:endParaRPr lang="en-US" sz="1400" dirty="0"/>
          </a:p>
        </p:txBody>
      </p:sp>
      <p:sp>
        <p:nvSpPr>
          <p:cNvPr id="137" name="Description:"/>
          <p:cNvSpPr/>
          <p:nvPr/>
        </p:nvSpPr>
        <p:spPr>
          <a:xfrm>
            <a:off x="2531720" y="4678907"/>
            <a:ext cx="1045369" cy="184666"/>
          </a:xfrm>
          <a:prstGeom prst="rect">
            <a:avLst/>
          </a:prstGeom>
          <a:ln w="12700">
            <a:miter lim="400000"/>
          </a:ln>
        </p:spPr>
        <p:txBody>
          <a:bodyPr wrap="square" lIns="0" tIns="0" rIns="0" bIns="0" anchor="ctr">
            <a:spAutoFit/>
          </a:bodyPr>
          <a:lstStyle>
            <a:lvl1pPr algn="r" defTabSz="1155700">
              <a:defRPr sz="3600" b="1">
                <a:solidFill>
                  <a:srgbClr val="384F63"/>
                </a:solidFill>
              </a:defRPr>
            </a:lvl1pPr>
          </a:lstStyle>
          <a:p>
            <a:pPr algn="ctr">
              <a:defRPr/>
            </a:pPr>
            <a:r>
              <a:rPr lang="zh-CN" altLang="en-US" sz="1200" b="0">
                <a:solidFill>
                  <a:srgbClr val="F2F5F6"/>
                </a:solidFill>
                <a:latin typeface="微软雅黑" panose="020B0503020204020204" pitchFamily="34" charset="-122"/>
                <a:ea typeface="微软雅黑" panose="020B0503020204020204" pitchFamily="34" charset="-122"/>
                <a:cs typeface="OPPOSans M" panose="00020600040101010101" pitchFamily="18" charset="-122"/>
              </a:rPr>
              <a:t>社交活动启动</a:t>
            </a:r>
            <a:endParaRPr lang="zh-CN" altLang="en-US" sz="1200" b="0">
              <a:solidFill>
                <a:srgbClr val="F2F5F6"/>
              </a:solidFill>
              <a:latin typeface="微软雅黑" panose="020B0503020204020204" pitchFamily="34" charset="-122"/>
              <a:ea typeface="微软雅黑" panose="020B0503020204020204" pitchFamily="34" charset="-122"/>
              <a:cs typeface="OPPOSans M" panose="00020600040101010101" pitchFamily="18" charset="-122"/>
            </a:endParaRPr>
          </a:p>
        </p:txBody>
      </p:sp>
      <p:sp>
        <p:nvSpPr>
          <p:cNvPr id="164" name="小李PPT5"/>
          <p:cNvSpPr/>
          <p:nvPr>
            <p:custDataLst>
              <p:tags r:id="rId1"/>
            </p:custDataLst>
          </p:nvPr>
        </p:nvSpPr>
        <p:spPr>
          <a:xfrm>
            <a:off x="489970" y="6098879"/>
            <a:ext cx="8682511" cy="348426"/>
          </a:xfrm>
          <a:prstGeom prst="rect">
            <a:avLst/>
          </a:prstGeom>
          <a:solidFill>
            <a:srgbClr val="032D76"/>
          </a:solidFill>
          <a:ln w="6350" cap="flat" cmpd="sng" algn="ctr">
            <a:solidFill>
              <a:srgbClr val="F2F2F2"/>
            </a:solidFill>
            <a:prstDash val="solid"/>
            <a:miter lim="800000"/>
          </a:ln>
          <a:effectLst/>
        </p:spPr>
        <p:txBody>
          <a:bodyPr rtlCol="0" anchor="ctr"/>
          <a:lstStyle/>
          <a:p>
            <a:pPr algn="ctr">
              <a:defRPr/>
            </a:pPr>
            <a:r>
              <a:rPr kumimoji="1" lang="zh-CN" altLang="en-US" sz="1500" b="1" kern="0" dirty="0">
                <a:solidFill>
                  <a:srgbClr val="FEFFFF"/>
                </a:solidFill>
                <a:latin typeface="微软雅黑" panose="020B0503020204020204" pitchFamily="34" charset="-122"/>
                <a:ea typeface="微软雅黑" panose="020B0503020204020204" pitchFamily="34" charset="-122"/>
                <a:cs typeface="OPPOSans R" panose="00020600040101010101" pitchFamily="18" charset="-122"/>
              </a:rPr>
              <a:t>昇腾</a:t>
            </a:r>
            <a:r>
              <a:rPr kumimoji="1" lang="en-US" altLang="zh-CN" sz="1500" b="1" kern="0" dirty="0">
                <a:solidFill>
                  <a:srgbClr val="FEFFFF"/>
                </a:solidFill>
                <a:latin typeface="微软雅黑" panose="020B0503020204020204" pitchFamily="34" charset="-122"/>
                <a:ea typeface="微软雅黑" panose="020B0503020204020204" pitchFamily="34" charset="-122"/>
                <a:cs typeface="OPPOSans R" panose="00020600040101010101" pitchFamily="18" charset="-122"/>
              </a:rPr>
              <a:t>AI</a:t>
            </a:r>
            <a:r>
              <a:rPr kumimoji="1" lang="zh-CN" altLang="en-US" sz="1500" b="1" kern="0" dirty="0">
                <a:solidFill>
                  <a:srgbClr val="FEFFFF"/>
                </a:solidFill>
                <a:latin typeface="微软雅黑" panose="020B0503020204020204" pitchFamily="34" charset="-122"/>
                <a:ea typeface="微软雅黑" panose="020B0503020204020204" pitchFamily="34" charset="-122"/>
                <a:cs typeface="OPPOSans R" panose="00020600040101010101" pitchFamily="18" charset="-122"/>
              </a:rPr>
              <a:t>处理器</a:t>
            </a:r>
            <a:endParaRPr kumimoji="1" lang="zh-CN" altLang="en-US" sz="1500" b="1" kern="0" dirty="0">
              <a:solidFill>
                <a:srgbClr val="FEFFFF"/>
              </a:solidFill>
              <a:latin typeface="微软雅黑" panose="020B0503020204020204" pitchFamily="34" charset="-122"/>
              <a:ea typeface="微软雅黑" panose="020B0503020204020204" pitchFamily="34" charset="-122"/>
              <a:cs typeface="OPPOSans R" panose="00020600040101010101" pitchFamily="18" charset="-122"/>
            </a:endParaRPr>
          </a:p>
        </p:txBody>
      </p:sp>
      <p:sp>
        <p:nvSpPr>
          <p:cNvPr id="168" name="文本框 167"/>
          <p:cNvSpPr txBox="1"/>
          <p:nvPr/>
        </p:nvSpPr>
        <p:spPr>
          <a:xfrm>
            <a:off x="1236779" y="4632116"/>
            <a:ext cx="7935704" cy="359407"/>
          </a:xfrm>
          <a:prstGeom prst="rect">
            <a:avLst/>
          </a:prstGeom>
          <a:solidFill>
            <a:srgbClr val="1A9FBA">
              <a:alpha val="5000"/>
            </a:srgbClr>
          </a:solidFill>
          <a:ln w="12700" cap="flat" cmpd="sng" algn="ctr">
            <a:noFill/>
            <a:prstDash val="solid"/>
            <a:miter lim="800000"/>
          </a:ln>
          <a:effectLst/>
        </p:spPr>
        <p:txBody>
          <a:bodyPr rtlCol="0" anchor="ctr"/>
          <a:lstStyle>
            <a:defPPr>
              <a:defRPr lang="zh-CN"/>
            </a:defPPr>
            <a:lvl1pPr marR="0" lvl="0" indent="0" algn="ctr" fontAlgn="auto">
              <a:lnSpc>
                <a:spcPct val="100000"/>
              </a:lnSpc>
              <a:spcBef>
                <a:spcPts val="0"/>
              </a:spcBef>
              <a:spcAft>
                <a:spcPts val="0"/>
              </a:spcAft>
              <a:buClrTx/>
              <a:buSzTx/>
              <a:buFontTx/>
              <a:buNone/>
              <a:defRPr kumimoji="1" sz="1400" b="0" i="0" u="none" strike="noStrike" kern="0" cap="none" spc="0" normalizeH="0" baseline="0">
                <a:ln>
                  <a:noFill/>
                </a:ln>
                <a:solidFill>
                  <a:srgbClr val="313131"/>
                </a:solidFill>
                <a:effectLst/>
                <a:uLnTx/>
                <a:uFillTx/>
                <a:latin typeface="微软雅黑" panose="020B0503020204020204" pitchFamily="34" charset="-122"/>
                <a:ea typeface="微软雅黑" panose="020B0503020204020204" pitchFamily="34" charset="-122"/>
              </a:defRPr>
            </a:lvl1pPr>
          </a:lstStyle>
          <a:p>
            <a:pPr>
              <a:defRPr/>
            </a:pPr>
            <a:r>
              <a:rPr lang="zh-CN" altLang="en-US" dirty="0"/>
              <a:t>毕昇编译器</a:t>
            </a:r>
            <a:endParaRPr lang="en-US" dirty="0"/>
          </a:p>
        </p:txBody>
      </p:sp>
      <p:sp>
        <p:nvSpPr>
          <p:cNvPr id="169" name="文本框 168"/>
          <p:cNvSpPr txBox="1"/>
          <p:nvPr/>
        </p:nvSpPr>
        <p:spPr>
          <a:xfrm>
            <a:off x="1236779" y="3773006"/>
            <a:ext cx="7935705" cy="711122"/>
          </a:xfrm>
          <a:prstGeom prst="rect">
            <a:avLst/>
          </a:prstGeom>
          <a:solidFill>
            <a:srgbClr val="1A9FBA">
              <a:alpha val="5000"/>
            </a:srgbClr>
          </a:solidFill>
          <a:ln w="12700" cap="flat" cmpd="sng" algn="ctr">
            <a:noFill/>
            <a:prstDash val="solid"/>
            <a:miter lim="800000"/>
          </a:ln>
          <a:effectLst/>
        </p:spPr>
        <p:txBody>
          <a:bodyPr rtlCol="0" anchor="ctr"/>
          <a:lstStyle>
            <a:defPPr>
              <a:defRPr lang="zh-CN"/>
            </a:defPPr>
            <a:lvl1pPr marR="0" lvl="0" indent="0" algn="ctr" fontAlgn="auto">
              <a:lnSpc>
                <a:spcPct val="100000"/>
              </a:lnSpc>
              <a:spcBef>
                <a:spcPts val="0"/>
              </a:spcBef>
              <a:spcAft>
                <a:spcPts val="0"/>
              </a:spcAft>
              <a:buClrTx/>
              <a:buSzTx/>
              <a:buFontTx/>
              <a:buNone/>
              <a:defRPr kumimoji="1" b="0" i="0" u="none" strike="noStrike" kern="0" cap="none" spc="0" normalizeH="0" baseline="0">
                <a:ln>
                  <a:noFill/>
                </a:ln>
                <a:solidFill>
                  <a:srgbClr val="313131"/>
                </a:solidFill>
                <a:effectLst/>
                <a:uLnTx/>
                <a:uFillTx/>
                <a:latin typeface="微软雅黑" panose="020B0503020204020204" pitchFamily="34" charset="-122"/>
                <a:ea typeface="微软雅黑" panose="020B0503020204020204" pitchFamily="34" charset="-122"/>
              </a:defRPr>
            </a:lvl1pPr>
          </a:lstStyle>
          <a:p>
            <a:pPr>
              <a:defRPr/>
            </a:pPr>
            <a:r>
              <a:rPr lang="zh-CN" altLang="en-US" sz="1400" b="1" dirty="0">
                <a:solidFill>
                  <a:schemeClr val="tx1"/>
                </a:solidFill>
              </a:rPr>
              <a:t>算子编程</a:t>
            </a:r>
            <a:r>
              <a:rPr lang="en-US" altLang="zh-CN" sz="1400" b="1" dirty="0">
                <a:solidFill>
                  <a:schemeClr val="tx1"/>
                </a:solidFill>
              </a:rPr>
              <a:t> &gt; Ascend C </a:t>
            </a:r>
            <a:r>
              <a:rPr lang="en-US" altLang="zh-CN" sz="1400" dirty="0">
                <a:solidFill>
                  <a:schemeClr val="tx1"/>
                </a:solidFill>
              </a:rPr>
              <a:t>| </a:t>
            </a:r>
            <a:r>
              <a:rPr lang="en-US" altLang="zh-CN" sz="1400" b="1" dirty="0" err="1">
                <a:solidFill>
                  <a:schemeClr val="tx1"/>
                </a:solidFill>
              </a:rPr>
              <a:t>PyPTO</a:t>
            </a:r>
            <a:endParaRPr lang="en-US" sz="1400" b="1" dirty="0">
              <a:solidFill>
                <a:schemeClr val="tx1"/>
              </a:solidFill>
            </a:endParaRPr>
          </a:p>
        </p:txBody>
      </p:sp>
      <p:sp>
        <p:nvSpPr>
          <p:cNvPr id="170" name="文本框 169"/>
          <p:cNvSpPr txBox="1"/>
          <p:nvPr/>
        </p:nvSpPr>
        <p:spPr>
          <a:xfrm>
            <a:off x="1247926" y="5201963"/>
            <a:ext cx="7924554" cy="337393"/>
          </a:xfrm>
          <a:prstGeom prst="rect">
            <a:avLst/>
          </a:prstGeom>
          <a:solidFill>
            <a:srgbClr val="1A9FBA">
              <a:alpha val="5000"/>
            </a:srgbClr>
          </a:solidFill>
          <a:ln w="12700" cap="flat" cmpd="sng" algn="ctr">
            <a:noFill/>
            <a:prstDash val="solid"/>
            <a:miter lim="800000"/>
          </a:ln>
          <a:effectLst/>
        </p:spPr>
        <p:txBody>
          <a:bodyPr rtlCol="0" anchor="ctr"/>
          <a:lstStyle>
            <a:defPPr>
              <a:defRPr lang="zh-CN"/>
            </a:defPPr>
            <a:lvl1pPr marR="0" lvl="0" indent="0" algn="ctr" fontAlgn="auto">
              <a:lnSpc>
                <a:spcPct val="100000"/>
              </a:lnSpc>
              <a:spcBef>
                <a:spcPts val="0"/>
              </a:spcBef>
              <a:spcAft>
                <a:spcPts val="0"/>
              </a:spcAft>
              <a:buClrTx/>
              <a:buSzTx/>
              <a:buFontTx/>
              <a:buNone/>
              <a:defRPr kumimoji="1" b="0" i="0" u="none" strike="noStrike" kern="0" cap="none" spc="0" normalizeH="0" baseline="0">
                <a:ln>
                  <a:noFill/>
                </a:ln>
                <a:solidFill>
                  <a:srgbClr val="313131"/>
                </a:solidFill>
                <a:effectLst/>
                <a:uLnTx/>
                <a:uFillTx/>
                <a:latin typeface="微软雅黑" panose="020B0503020204020204" pitchFamily="34" charset="-122"/>
                <a:ea typeface="微软雅黑" panose="020B0503020204020204" pitchFamily="34" charset="-122"/>
              </a:defRPr>
            </a:lvl1pPr>
          </a:lstStyle>
          <a:p>
            <a:pPr>
              <a:defRPr/>
            </a:pPr>
            <a:r>
              <a:rPr lang="zh-CN" altLang="en-US" sz="1400" dirty="0"/>
              <a:t>运行时</a:t>
            </a:r>
            <a:endParaRPr lang="en-US" sz="1400" dirty="0"/>
          </a:p>
        </p:txBody>
      </p:sp>
      <p:sp>
        <p:nvSpPr>
          <p:cNvPr id="171" name="箭头: V 形 6"/>
          <p:cNvSpPr/>
          <p:nvPr/>
        </p:nvSpPr>
        <p:spPr>
          <a:xfrm>
            <a:off x="5183339" y="2286420"/>
            <a:ext cx="2063483" cy="483031"/>
          </a:xfrm>
          <a:prstGeom prst="chevron">
            <a:avLst>
              <a:gd name="adj" fmla="val 22939"/>
            </a:avLst>
          </a:prstGeom>
          <a:solidFill>
            <a:srgbClr val="032D76"/>
          </a:solidFill>
          <a:ln w="12700" cap="flat" cmpd="sng" algn="ctr">
            <a:noFill/>
            <a:prstDash val="solid"/>
            <a:miter lim="800000"/>
          </a:ln>
          <a:effectLst/>
        </p:spPr>
        <p:txBody>
          <a:bodyPr rtlCol="0" anchor="ctr"/>
          <a:lstStyle/>
          <a:p>
            <a:pPr algn="ctr">
              <a:defRPr/>
            </a:pPr>
            <a:endParaRPr lang="zh-CN" altLang="en-US" sz="1200" kern="0">
              <a:solidFill>
                <a:prstClr val="white"/>
              </a:solidFill>
              <a:latin typeface="微软雅黑" panose="020B0503020204020204" pitchFamily="34" charset="-122"/>
              <a:ea typeface="微软雅黑" panose="020B0503020204020204" pitchFamily="34" charset="-122"/>
            </a:endParaRPr>
          </a:p>
        </p:txBody>
      </p:sp>
      <p:sp>
        <p:nvSpPr>
          <p:cNvPr id="173" name="箭头: V 形 6"/>
          <p:cNvSpPr/>
          <p:nvPr/>
        </p:nvSpPr>
        <p:spPr>
          <a:xfrm>
            <a:off x="7305939" y="2274448"/>
            <a:ext cx="1866544" cy="483031"/>
          </a:xfrm>
          <a:prstGeom prst="chevron">
            <a:avLst>
              <a:gd name="adj" fmla="val 22939"/>
            </a:avLst>
          </a:prstGeom>
          <a:solidFill>
            <a:srgbClr val="247BAE"/>
          </a:solidFill>
          <a:ln w="12700" cap="flat" cmpd="sng" algn="ctr">
            <a:noFill/>
            <a:prstDash val="solid"/>
            <a:miter lim="800000"/>
          </a:ln>
          <a:effectLst/>
        </p:spPr>
        <p:txBody>
          <a:bodyPr rtlCol="0" anchor="ctr"/>
          <a:lstStyle/>
          <a:p>
            <a:pPr algn="ctr">
              <a:defRPr/>
            </a:pPr>
            <a:endParaRPr lang="zh-CN" altLang="en-US" sz="1200" kern="0">
              <a:solidFill>
                <a:prstClr val="white"/>
              </a:solidFill>
              <a:latin typeface="微软雅黑" panose="020B0503020204020204" pitchFamily="34" charset="-122"/>
              <a:ea typeface="微软雅黑" panose="020B0503020204020204" pitchFamily="34" charset="-122"/>
            </a:endParaRPr>
          </a:p>
        </p:txBody>
      </p:sp>
      <p:sp>
        <p:nvSpPr>
          <p:cNvPr id="174" name="文本框 173"/>
          <p:cNvSpPr txBox="1"/>
          <p:nvPr/>
        </p:nvSpPr>
        <p:spPr>
          <a:xfrm flipH="1">
            <a:off x="5245869" y="2410813"/>
            <a:ext cx="1866543" cy="246221"/>
          </a:xfrm>
          <a:prstGeom prst="rect">
            <a:avLst/>
          </a:prstGeom>
          <a:noFill/>
        </p:spPr>
        <p:txBody>
          <a:bodyPr wrap="square" lIns="0" tIns="0" rIns="0" bIns="0" rtlCol="0">
            <a:spAutoFit/>
          </a:bodyPr>
          <a:lstStyle/>
          <a:p>
            <a:pPr algn="ctr">
              <a:defRPr/>
            </a:pPr>
            <a:r>
              <a:rPr lang="zh-CN" altLang="en-US" sz="1600"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rPr>
              <a:t>领域加速库</a:t>
            </a:r>
            <a:endParaRPr lang="zh-CN" altLang="en-US" sz="1600"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endParaRPr>
          </a:p>
        </p:txBody>
      </p:sp>
      <p:sp>
        <p:nvSpPr>
          <p:cNvPr id="175" name="文本框 174"/>
          <p:cNvSpPr txBox="1"/>
          <p:nvPr/>
        </p:nvSpPr>
        <p:spPr>
          <a:xfrm flipH="1">
            <a:off x="7194960" y="2384461"/>
            <a:ext cx="2036642" cy="246221"/>
          </a:xfrm>
          <a:prstGeom prst="rect">
            <a:avLst/>
          </a:prstGeom>
          <a:noFill/>
        </p:spPr>
        <p:txBody>
          <a:bodyPr wrap="square" lIns="0" tIns="0" rIns="0" bIns="0" rtlCol="0">
            <a:spAutoFit/>
          </a:bodyPr>
          <a:lstStyle/>
          <a:p>
            <a:pPr algn="ctr">
              <a:defRPr/>
            </a:pPr>
            <a:r>
              <a:rPr lang="zh-CN" altLang="en-US" sz="1600"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rPr>
              <a:t>图引擎</a:t>
            </a:r>
            <a:endParaRPr lang="zh-CN" altLang="en-US" sz="1600"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endParaRPr>
          </a:p>
        </p:txBody>
      </p:sp>
      <p:sp>
        <p:nvSpPr>
          <p:cNvPr id="176" name="文本框 175"/>
          <p:cNvSpPr txBox="1"/>
          <p:nvPr/>
        </p:nvSpPr>
        <p:spPr>
          <a:xfrm>
            <a:off x="1165614" y="2886399"/>
            <a:ext cx="1958052" cy="711122"/>
          </a:xfrm>
          <a:prstGeom prst="rect">
            <a:avLst/>
          </a:prstGeom>
          <a:solidFill>
            <a:srgbClr val="1A9FBA">
              <a:alpha val="5000"/>
            </a:srgbClr>
          </a:solidFill>
          <a:ln w="12700" cap="flat" cmpd="sng" algn="ctr">
            <a:noFill/>
            <a:prstDash val="solid"/>
            <a:miter lim="800000"/>
          </a:ln>
          <a:effectLst/>
        </p:spPr>
        <p:txBody>
          <a:bodyPr rtlCol="0" anchor="ctr"/>
          <a:lstStyle>
            <a:defPPr>
              <a:defRPr lang="zh-CN"/>
            </a:defPPr>
            <a:lvl1pPr marR="0" lvl="0" indent="0" algn="ctr" fontAlgn="auto">
              <a:lnSpc>
                <a:spcPct val="100000"/>
              </a:lnSpc>
              <a:spcBef>
                <a:spcPts val="0"/>
              </a:spcBef>
              <a:spcAft>
                <a:spcPts val="0"/>
              </a:spcAft>
              <a:buClrTx/>
              <a:buSzTx/>
              <a:buFontTx/>
              <a:buNone/>
              <a:defRPr kumimoji="1" b="0" i="0" u="none" strike="noStrike" kern="0" cap="none" spc="0" normalizeH="0" baseline="0">
                <a:ln>
                  <a:noFill/>
                </a:ln>
                <a:solidFill>
                  <a:srgbClr val="313131"/>
                </a:solidFill>
                <a:effectLst/>
                <a:uLnTx/>
                <a:uFillTx/>
                <a:latin typeface="微软雅黑" panose="020B0503020204020204" pitchFamily="34" charset="-122"/>
                <a:ea typeface="微软雅黑" panose="020B0503020204020204" pitchFamily="34" charset="-122"/>
              </a:defRPr>
            </a:lvl1pPr>
          </a:lstStyle>
          <a:p>
            <a:pPr>
              <a:defRPr/>
            </a:pPr>
            <a:r>
              <a:rPr lang="en-US" altLang="zh-CN" sz="1400" dirty="0"/>
              <a:t>Ops-</a:t>
            </a:r>
            <a:r>
              <a:rPr lang="en-US" altLang="zh-CN" sz="1400" dirty="0" err="1"/>
              <a:t>nn</a:t>
            </a:r>
            <a:r>
              <a:rPr lang="zh-CN" altLang="en-US" sz="1400" dirty="0"/>
              <a:t>、</a:t>
            </a:r>
            <a:r>
              <a:rPr lang="en-US" altLang="zh-CN" sz="1400" dirty="0"/>
              <a:t>ops-math</a:t>
            </a:r>
            <a:r>
              <a:rPr lang="zh-CN" altLang="en-US" sz="1400" dirty="0"/>
              <a:t>等</a:t>
            </a:r>
            <a:endParaRPr lang="en-US" sz="1400" dirty="0"/>
          </a:p>
        </p:txBody>
      </p:sp>
      <p:sp>
        <p:nvSpPr>
          <p:cNvPr id="177" name="文本框 176"/>
          <p:cNvSpPr txBox="1"/>
          <p:nvPr/>
        </p:nvSpPr>
        <p:spPr>
          <a:xfrm>
            <a:off x="3246579" y="2851827"/>
            <a:ext cx="1866543" cy="711122"/>
          </a:xfrm>
          <a:prstGeom prst="rect">
            <a:avLst/>
          </a:prstGeom>
          <a:solidFill>
            <a:srgbClr val="1A9FBA">
              <a:alpha val="5000"/>
            </a:srgbClr>
          </a:solidFill>
          <a:ln w="12700" cap="flat" cmpd="sng" algn="ctr">
            <a:noFill/>
            <a:prstDash val="solid"/>
            <a:miter lim="800000"/>
          </a:ln>
          <a:effectLst/>
        </p:spPr>
        <p:txBody>
          <a:bodyPr rtlCol="0" anchor="ctr"/>
          <a:lstStyle>
            <a:defPPr>
              <a:defRPr lang="zh-CN"/>
            </a:defPPr>
            <a:lvl1pPr marR="0" lvl="0" indent="0" algn="ctr" fontAlgn="auto">
              <a:lnSpc>
                <a:spcPct val="100000"/>
              </a:lnSpc>
              <a:spcBef>
                <a:spcPts val="0"/>
              </a:spcBef>
              <a:spcAft>
                <a:spcPts val="0"/>
              </a:spcAft>
              <a:buClrTx/>
              <a:buSzTx/>
              <a:buFontTx/>
              <a:buNone/>
              <a:defRPr kumimoji="1" b="0" i="0" u="none" strike="noStrike" kern="0" cap="none" spc="0" normalizeH="0" baseline="0">
                <a:ln>
                  <a:noFill/>
                </a:ln>
                <a:solidFill>
                  <a:srgbClr val="313131"/>
                </a:solidFill>
                <a:effectLst/>
                <a:uLnTx/>
                <a:uFillTx/>
                <a:latin typeface="微软雅黑" panose="020B0503020204020204" pitchFamily="34" charset="-122"/>
                <a:ea typeface="微软雅黑" panose="020B0503020204020204" pitchFamily="34" charset="-122"/>
              </a:defRPr>
            </a:lvl1pPr>
          </a:lstStyle>
          <a:p>
            <a:pPr>
              <a:defRPr/>
            </a:pPr>
            <a:r>
              <a:rPr lang="en-US" altLang="zh-CN" sz="1400" dirty="0" err="1"/>
              <a:t>hixl</a:t>
            </a:r>
            <a:r>
              <a:rPr lang="zh-CN" altLang="en-US" sz="1400" dirty="0"/>
              <a:t>、</a:t>
            </a:r>
            <a:r>
              <a:rPr lang="en-US" altLang="zh-CN" sz="1400" dirty="0" err="1"/>
              <a:t>shmem</a:t>
            </a:r>
            <a:r>
              <a:rPr lang="zh-CN" altLang="en-US" sz="1400" dirty="0"/>
              <a:t>、</a:t>
            </a:r>
            <a:r>
              <a:rPr lang="en-US" altLang="zh-CN" sz="1400" dirty="0" err="1"/>
              <a:t>hccl</a:t>
            </a:r>
            <a:r>
              <a:rPr lang="zh-CN" altLang="en-US" sz="1400" dirty="0"/>
              <a:t>等</a:t>
            </a:r>
            <a:endParaRPr lang="en-US" sz="1400" dirty="0"/>
          </a:p>
        </p:txBody>
      </p:sp>
      <p:sp>
        <p:nvSpPr>
          <p:cNvPr id="178" name="文本框 177"/>
          <p:cNvSpPr txBox="1"/>
          <p:nvPr/>
        </p:nvSpPr>
        <p:spPr>
          <a:xfrm>
            <a:off x="5226258" y="2847340"/>
            <a:ext cx="1866543" cy="711122"/>
          </a:xfrm>
          <a:prstGeom prst="rect">
            <a:avLst/>
          </a:prstGeom>
          <a:solidFill>
            <a:srgbClr val="1A9FBA">
              <a:alpha val="5000"/>
            </a:srgbClr>
          </a:solidFill>
          <a:ln w="12700" cap="flat" cmpd="sng" algn="ctr">
            <a:noFill/>
            <a:prstDash val="solid"/>
            <a:miter lim="800000"/>
          </a:ln>
          <a:effectLst/>
        </p:spPr>
        <p:txBody>
          <a:bodyPr rtlCol="0" anchor="ctr"/>
          <a:lstStyle>
            <a:defPPr>
              <a:defRPr lang="zh-CN"/>
            </a:defPPr>
            <a:lvl1pPr marR="0" lvl="0" indent="0" algn="ctr" fontAlgn="auto">
              <a:lnSpc>
                <a:spcPct val="100000"/>
              </a:lnSpc>
              <a:spcBef>
                <a:spcPts val="0"/>
              </a:spcBef>
              <a:spcAft>
                <a:spcPts val="0"/>
              </a:spcAft>
              <a:buClrTx/>
              <a:buSzTx/>
              <a:buFontTx/>
              <a:buNone/>
              <a:defRPr kumimoji="1" b="0" i="0" u="none" strike="noStrike" kern="0" cap="none" spc="0" normalizeH="0" baseline="0">
                <a:ln>
                  <a:noFill/>
                </a:ln>
                <a:solidFill>
                  <a:srgbClr val="313131"/>
                </a:solidFill>
                <a:effectLst/>
                <a:uLnTx/>
                <a:uFillTx/>
                <a:latin typeface="微软雅黑" panose="020B0503020204020204" pitchFamily="34" charset="-122"/>
                <a:ea typeface="微软雅黑" panose="020B0503020204020204" pitchFamily="34" charset="-122"/>
              </a:defRPr>
            </a:lvl1pPr>
          </a:lstStyle>
          <a:p>
            <a:pPr>
              <a:defRPr/>
            </a:pPr>
            <a:r>
              <a:rPr lang="en-US" altLang="zh-CN" sz="1400" dirty="0"/>
              <a:t>sip</a:t>
            </a:r>
            <a:r>
              <a:rPr lang="zh-CN" altLang="en-US" sz="1400" dirty="0"/>
              <a:t>等</a:t>
            </a:r>
            <a:endParaRPr lang="en-US" sz="1400" dirty="0"/>
          </a:p>
        </p:txBody>
      </p:sp>
      <p:sp>
        <p:nvSpPr>
          <p:cNvPr id="179" name="文本框 178"/>
          <p:cNvSpPr txBox="1"/>
          <p:nvPr/>
        </p:nvSpPr>
        <p:spPr>
          <a:xfrm>
            <a:off x="7305940" y="2873709"/>
            <a:ext cx="1866543" cy="711122"/>
          </a:xfrm>
          <a:prstGeom prst="rect">
            <a:avLst/>
          </a:prstGeom>
          <a:solidFill>
            <a:srgbClr val="1A9FBA">
              <a:alpha val="5000"/>
            </a:srgbClr>
          </a:solidFill>
          <a:ln w="12700" cap="flat" cmpd="sng" algn="ctr">
            <a:noFill/>
            <a:prstDash val="solid"/>
            <a:miter lim="800000"/>
          </a:ln>
          <a:effectLst/>
        </p:spPr>
        <p:txBody>
          <a:bodyPr rtlCol="0" anchor="ctr"/>
          <a:lstStyle>
            <a:defPPr>
              <a:defRPr lang="zh-CN"/>
            </a:defPPr>
            <a:lvl1pPr marR="0" lvl="0" indent="0" algn="ctr" fontAlgn="auto">
              <a:lnSpc>
                <a:spcPct val="100000"/>
              </a:lnSpc>
              <a:spcBef>
                <a:spcPts val="0"/>
              </a:spcBef>
              <a:spcAft>
                <a:spcPts val="0"/>
              </a:spcAft>
              <a:buClrTx/>
              <a:buSzTx/>
              <a:buFontTx/>
              <a:buNone/>
              <a:defRPr kumimoji="1" b="0" i="0" u="none" strike="noStrike" kern="0" cap="none" spc="0" normalizeH="0" baseline="0">
                <a:ln>
                  <a:noFill/>
                </a:ln>
                <a:solidFill>
                  <a:srgbClr val="313131"/>
                </a:solidFill>
                <a:effectLst/>
                <a:uLnTx/>
                <a:uFillTx/>
                <a:latin typeface="微软雅黑" panose="020B0503020204020204" pitchFamily="34" charset="-122"/>
                <a:ea typeface="微软雅黑" panose="020B0503020204020204" pitchFamily="34" charset="-122"/>
              </a:defRPr>
            </a:lvl1pPr>
          </a:lstStyle>
          <a:p>
            <a:pPr>
              <a:defRPr/>
            </a:pPr>
            <a:r>
              <a:rPr lang="en-US" altLang="zh-CN" sz="1400" dirty="0" err="1"/>
              <a:t>ge</a:t>
            </a:r>
            <a:r>
              <a:rPr lang="zh-CN" altLang="en-US" sz="1400" dirty="0"/>
              <a:t>、</a:t>
            </a:r>
            <a:r>
              <a:rPr lang="en-US" altLang="zh-CN" sz="1400" dirty="0" err="1"/>
              <a:t>metadef</a:t>
            </a:r>
            <a:r>
              <a:rPr lang="zh-CN" altLang="en-US" sz="1400" dirty="0"/>
              <a:t>、</a:t>
            </a:r>
            <a:r>
              <a:rPr lang="en-US" altLang="zh-CN" sz="1400" dirty="0"/>
              <a:t>graph-</a:t>
            </a:r>
            <a:r>
              <a:rPr lang="en-US" altLang="zh-CN" sz="1400" dirty="0" err="1"/>
              <a:t>autofusion</a:t>
            </a:r>
            <a:r>
              <a:rPr lang="zh-CN" altLang="en-US" sz="1400" dirty="0"/>
              <a:t>等</a:t>
            </a:r>
            <a:endParaRPr lang="en-US" sz="1400" dirty="0"/>
          </a:p>
        </p:txBody>
      </p:sp>
      <p:sp>
        <p:nvSpPr>
          <p:cNvPr id="180" name="文本框 179"/>
          <p:cNvSpPr txBox="1"/>
          <p:nvPr/>
        </p:nvSpPr>
        <p:spPr>
          <a:xfrm>
            <a:off x="508899" y="1830966"/>
            <a:ext cx="8663583" cy="337393"/>
          </a:xfrm>
          <a:prstGeom prst="rect">
            <a:avLst/>
          </a:prstGeom>
          <a:solidFill>
            <a:srgbClr val="F2F5F6"/>
          </a:solidFill>
          <a:ln w="12700" cap="flat" cmpd="sng" algn="ctr">
            <a:noFill/>
            <a:prstDash val="dash"/>
            <a:miter lim="800000"/>
          </a:ln>
          <a:effectLst/>
        </p:spPr>
        <p:txBody>
          <a:bodyPr rtlCol="0" anchor="ctr"/>
          <a:lstStyle>
            <a:defPPr>
              <a:defRPr lang="zh-CN"/>
            </a:defPPr>
            <a:lvl1pPr marR="0" lvl="0" indent="0" algn="ctr" fontAlgn="auto">
              <a:lnSpc>
                <a:spcPct val="100000"/>
              </a:lnSpc>
              <a:spcBef>
                <a:spcPts val="0"/>
              </a:spcBef>
              <a:spcAft>
                <a:spcPts val="0"/>
              </a:spcAft>
              <a:buClrTx/>
              <a:buSzTx/>
              <a:buFontTx/>
              <a:buNone/>
              <a:defRPr kumimoji="0" b="0" i="0" u="none" strike="noStrike" kern="0" cap="none" spc="0" normalizeH="0" baseline="0">
                <a:ln>
                  <a:noFill/>
                </a:ln>
                <a:solidFill>
                  <a:srgbClr val="FFFFFF"/>
                </a:solidFill>
                <a:effectLst/>
                <a:uLnTx/>
                <a:uFillTx/>
                <a:latin typeface="等线" panose="02010600030101010101" charset="-122"/>
                <a:ea typeface="思源黑体 CN Normal"/>
              </a:defRPr>
            </a:lvl1pPr>
          </a:lstStyle>
          <a:p>
            <a:pPr>
              <a:defRPr/>
            </a:pPr>
            <a:r>
              <a:rPr lang="en-US" altLang="zh-CN" sz="1400" dirty="0">
                <a:solidFill>
                  <a:prstClr val="black"/>
                </a:solidFill>
                <a:latin typeface="微软雅黑" panose="020B0503020204020204" pitchFamily="34" charset="-122"/>
                <a:ea typeface="微软雅黑" panose="020B0503020204020204" pitchFamily="34" charset="-122"/>
              </a:rPr>
              <a:t>AI </a:t>
            </a:r>
            <a:r>
              <a:rPr lang="zh-CN" altLang="en-US" sz="1400" dirty="0">
                <a:solidFill>
                  <a:prstClr val="black"/>
                </a:solidFill>
                <a:latin typeface="微软雅黑" panose="020B0503020204020204" pitchFamily="34" charset="-122"/>
                <a:ea typeface="微软雅黑" panose="020B0503020204020204" pitchFamily="34" charset="-122"/>
              </a:rPr>
              <a:t>框架适配</a:t>
            </a:r>
            <a:r>
              <a:rPr lang="en-US" altLang="zh-CN" sz="1400" dirty="0">
                <a:solidFill>
                  <a:prstClr val="black"/>
                </a:solidFill>
                <a:latin typeface="微软雅黑" panose="020B0503020204020204" pitchFamily="34" charset="-122"/>
                <a:ea typeface="微软雅黑" panose="020B0503020204020204" pitchFamily="34" charset="-122"/>
              </a:rPr>
              <a:t>Framework Adapter</a:t>
            </a:r>
            <a:endParaRPr lang="en-US" sz="1400" dirty="0">
              <a:solidFill>
                <a:prstClr val="black"/>
              </a:solidFill>
              <a:latin typeface="微软雅黑" panose="020B0503020204020204" pitchFamily="34" charset="-122"/>
              <a:ea typeface="微软雅黑" panose="020B0503020204020204" pitchFamily="34" charset="-122"/>
            </a:endParaRPr>
          </a:p>
        </p:txBody>
      </p:sp>
      <p:sp>
        <p:nvSpPr>
          <p:cNvPr id="182" name="文本框 181"/>
          <p:cNvSpPr txBox="1"/>
          <p:nvPr/>
        </p:nvSpPr>
        <p:spPr>
          <a:xfrm>
            <a:off x="508899" y="1391866"/>
            <a:ext cx="8663583" cy="337393"/>
          </a:xfrm>
          <a:prstGeom prst="rect">
            <a:avLst/>
          </a:prstGeom>
          <a:solidFill>
            <a:srgbClr val="F2F5F6"/>
          </a:solidFill>
          <a:ln w="12700" cap="flat" cmpd="sng" algn="ctr">
            <a:noFill/>
            <a:prstDash val="dash"/>
            <a:miter lim="800000"/>
          </a:ln>
          <a:effectLst/>
        </p:spPr>
        <p:txBody>
          <a:bodyPr rtlCol="0" anchor="ctr"/>
          <a:lstStyle>
            <a:defPPr>
              <a:defRPr lang="zh-CN"/>
            </a:defPPr>
            <a:lvl1pPr marR="0" lvl="0" indent="0" algn="ctr" fontAlgn="auto">
              <a:lnSpc>
                <a:spcPct val="100000"/>
              </a:lnSpc>
              <a:spcBef>
                <a:spcPts val="0"/>
              </a:spcBef>
              <a:spcAft>
                <a:spcPts val="0"/>
              </a:spcAft>
              <a:buClrTx/>
              <a:buSzTx/>
              <a:buFontTx/>
              <a:buNone/>
              <a:defRPr kumimoji="0" b="0" i="0" u="none" strike="noStrike" kern="0" cap="none" spc="0" normalizeH="0" baseline="0">
                <a:ln>
                  <a:noFill/>
                </a:ln>
                <a:solidFill>
                  <a:srgbClr val="FFFFFF"/>
                </a:solidFill>
                <a:effectLst/>
                <a:uLnTx/>
                <a:uFillTx/>
                <a:latin typeface="等线" panose="02010600030101010101" charset="-122"/>
                <a:ea typeface="思源黑体 CN Normal"/>
              </a:defRPr>
            </a:lvl1pPr>
          </a:lstStyle>
          <a:p>
            <a:pPr>
              <a:defRPr/>
            </a:pPr>
            <a:r>
              <a:rPr lang="en-US" altLang="zh-CN" sz="1400" dirty="0">
                <a:solidFill>
                  <a:prstClr val="black"/>
                </a:solidFill>
                <a:latin typeface="微软雅黑" panose="020B0503020204020204" pitchFamily="34" charset="-122"/>
                <a:ea typeface="微软雅黑" panose="020B0503020204020204" pitchFamily="34" charset="-122"/>
              </a:rPr>
              <a:t>AI </a:t>
            </a:r>
            <a:r>
              <a:rPr lang="zh-CN" altLang="en-US" sz="1400" dirty="0">
                <a:solidFill>
                  <a:prstClr val="black"/>
                </a:solidFill>
                <a:latin typeface="微软雅黑" panose="020B0503020204020204" pitchFamily="34" charset="-122"/>
                <a:ea typeface="微软雅黑" panose="020B0503020204020204" pitchFamily="34" charset="-122"/>
              </a:rPr>
              <a:t>框架</a:t>
            </a:r>
            <a:endParaRPr lang="en-US" sz="1400" dirty="0">
              <a:solidFill>
                <a:prstClr val="black"/>
              </a:solidFill>
              <a:latin typeface="微软雅黑" panose="020B0503020204020204" pitchFamily="34" charset="-122"/>
              <a:ea typeface="微软雅黑" panose="020B0503020204020204" pitchFamily="34" charset="-122"/>
            </a:endParaRPr>
          </a:p>
        </p:txBody>
      </p:sp>
      <p:sp>
        <p:nvSpPr>
          <p:cNvPr id="2" name="矩形 1"/>
          <p:cNvSpPr/>
          <p:nvPr/>
        </p:nvSpPr>
        <p:spPr>
          <a:xfrm>
            <a:off x="1095201" y="810840"/>
            <a:ext cx="9044382" cy="523220"/>
          </a:xfrm>
          <a:prstGeom prst="rect">
            <a:avLst/>
          </a:prstGeom>
        </p:spPr>
        <p:txBody>
          <a:bodyPr wrap="square">
            <a:spAutoFit/>
          </a:bodyPr>
          <a:lstStyle/>
          <a:p>
            <a:pPr algn="ctr">
              <a:defRPr/>
            </a:pPr>
            <a:r>
              <a:rPr lang="en-US" altLang="zh-CN" sz="1400" b="1" dirty="0">
                <a:solidFill>
                  <a:prstClr val="black"/>
                </a:solidFill>
                <a:latin typeface="微软雅黑" panose="020B0503020204020204" pitchFamily="34" charset="-122"/>
                <a:ea typeface="微软雅黑" panose="020B0503020204020204" pitchFamily="34" charset="-122"/>
              </a:rPr>
              <a:t>CANN</a:t>
            </a:r>
            <a:r>
              <a:rPr lang="zh-CN" altLang="en-US" sz="1400" b="1" dirty="0">
                <a:solidFill>
                  <a:prstClr val="black"/>
                </a:solidFill>
                <a:latin typeface="微软雅黑" panose="020B0503020204020204" pitchFamily="34" charset="-122"/>
                <a:ea typeface="微软雅黑" panose="020B0503020204020204" pitchFamily="34" charset="-122"/>
              </a:rPr>
              <a:t>（</a:t>
            </a:r>
            <a:r>
              <a:rPr lang="en-US" altLang="zh-CN" sz="1400" b="1" dirty="0">
                <a:solidFill>
                  <a:prstClr val="black"/>
                </a:solidFill>
                <a:latin typeface="微软雅黑" panose="020B0503020204020204" pitchFamily="34" charset="-122"/>
                <a:ea typeface="微软雅黑" panose="020B0503020204020204" pitchFamily="34" charset="-122"/>
              </a:rPr>
              <a:t>Compute Architecture for Neural Networks</a:t>
            </a:r>
            <a:r>
              <a:rPr lang="zh-CN" altLang="en-US" sz="1400" b="1" dirty="0">
                <a:solidFill>
                  <a:prstClr val="black"/>
                </a:solidFill>
                <a:latin typeface="微软雅黑" panose="020B0503020204020204" pitchFamily="34" charset="-122"/>
                <a:ea typeface="微软雅黑" panose="020B0503020204020204" pitchFamily="34" charset="-122"/>
              </a:rPr>
              <a:t>）</a:t>
            </a:r>
            <a:r>
              <a:rPr lang="zh-CN" altLang="en-US" sz="1400" dirty="0">
                <a:solidFill>
                  <a:prstClr val="black"/>
                </a:solidFill>
                <a:latin typeface="微软雅黑" panose="020B0503020204020204" pitchFamily="34" charset="-122"/>
                <a:ea typeface="微软雅黑" panose="020B0503020204020204" pitchFamily="34" charset="-122"/>
              </a:rPr>
              <a:t>是华为针对</a:t>
            </a:r>
            <a:r>
              <a:rPr lang="en-US" altLang="zh-CN" sz="1400" dirty="0">
                <a:solidFill>
                  <a:prstClr val="black"/>
                </a:solidFill>
                <a:latin typeface="微软雅黑" panose="020B0503020204020204" pitchFamily="34" charset="-122"/>
                <a:ea typeface="微软雅黑" panose="020B0503020204020204" pitchFamily="34" charset="-122"/>
              </a:rPr>
              <a:t>AI</a:t>
            </a:r>
            <a:r>
              <a:rPr lang="zh-CN" altLang="en-US" sz="1400" dirty="0">
                <a:solidFill>
                  <a:prstClr val="black"/>
                </a:solidFill>
                <a:latin typeface="微软雅黑" panose="020B0503020204020204" pitchFamily="34" charset="-122"/>
                <a:ea typeface="微软雅黑" panose="020B0503020204020204" pitchFamily="34" charset="-122"/>
              </a:rPr>
              <a:t>场景推出的异构计算架构，对上支持多种</a:t>
            </a:r>
            <a:r>
              <a:rPr lang="en-US" altLang="zh-CN" sz="1400" dirty="0">
                <a:solidFill>
                  <a:prstClr val="black"/>
                </a:solidFill>
                <a:latin typeface="微软雅黑" panose="020B0503020204020204" pitchFamily="34" charset="-122"/>
                <a:ea typeface="微软雅黑" panose="020B0503020204020204" pitchFamily="34" charset="-122"/>
              </a:rPr>
              <a:t>AI</a:t>
            </a:r>
            <a:r>
              <a:rPr lang="zh-CN" altLang="en-US" sz="1400" dirty="0">
                <a:solidFill>
                  <a:prstClr val="black"/>
                </a:solidFill>
                <a:latin typeface="微软雅黑" panose="020B0503020204020204" pitchFamily="34" charset="-122"/>
                <a:ea typeface="微软雅黑" panose="020B0503020204020204" pitchFamily="34" charset="-122"/>
              </a:rPr>
              <a:t>框架，对下服务</a:t>
            </a:r>
            <a:r>
              <a:rPr lang="en-US" altLang="zh-CN" sz="1400" dirty="0">
                <a:solidFill>
                  <a:prstClr val="black"/>
                </a:solidFill>
                <a:latin typeface="微软雅黑" panose="020B0503020204020204" pitchFamily="34" charset="-122"/>
                <a:ea typeface="微软雅黑" panose="020B0503020204020204" pitchFamily="34" charset="-122"/>
              </a:rPr>
              <a:t>AI</a:t>
            </a:r>
            <a:r>
              <a:rPr lang="zh-CN" altLang="en-US" sz="1400" dirty="0">
                <a:solidFill>
                  <a:prstClr val="black"/>
                </a:solidFill>
                <a:latin typeface="微软雅黑" panose="020B0503020204020204" pitchFamily="34" charset="-122"/>
                <a:ea typeface="微软雅黑" panose="020B0503020204020204" pitchFamily="34" charset="-122"/>
              </a:rPr>
              <a:t>处理器与编程，发挥承上启下的关键作用，是提升昇腾</a:t>
            </a:r>
            <a:r>
              <a:rPr lang="en-US" altLang="zh-CN" sz="1400" dirty="0">
                <a:solidFill>
                  <a:prstClr val="black"/>
                </a:solidFill>
                <a:latin typeface="微软雅黑" panose="020B0503020204020204" pitchFamily="34" charset="-122"/>
                <a:ea typeface="微软雅黑" panose="020B0503020204020204" pitchFamily="34" charset="-122"/>
              </a:rPr>
              <a:t>AI</a:t>
            </a:r>
            <a:r>
              <a:rPr lang="zh-CN" altLang="en-US" sz="1400" dirty="0">
                <a:solidFill>
                  <a:prstClr val="black"/>
                </a:solidFill>
                <a:latin typeface="微软雅黑" panose="020B0503020204020204" pitchFamily="34" charset="-122"/>
                <a:ea typeface="微软雅黑" panose="020B0503020204020204" pitchFamily="34" charset="-122"/>
              </a:rPr>
              <a:t>处理器计算效率的关键平台。</a:t>
            </a:r>
            <a:endParaRPr lang="zh-CN" altLang="en-US" sz="1400" dirty="0">
              <a:solidFill>
                <a:prstClr val="black"/>
              </a:solidFill>
              <a:latin typeface="微软雅黑" panose="020B0503020204020204" pitchFamily="34" charset="-122"/>
              <a:ea typeface="微软雅黑" panose="020B0503020204020204" pitchFamily="34" charset="-122"/>
            </a:endParaRPr>
          </a:p>
        </p:txBody>
      </p:sp>
      <p:sp>
        <p:nvSpPr>
          <p:cNvPr id="38" name="文本框 37"/>
          <p:cNvSpPr txBox="1"/>
          <p:nvPr/>
        </p:nvSpPr>
        <p:spPr>
          <a:xfrm>
            <a:off x="9295394" y="1598845"/>
            <a:ext cx="2797225" cy="4338320"/>
          </a:xfrm>
          <a:prstGeom prst="rect">
            <a:avLst/>
          </a:prstGeom>
          <a:noFill/>
        </p:spPr>
        <p:txBody>
          <a:bodyPr wrap="square" rtlCol="0">
            <a:spAutoFit/>
          </a:bodyPr>
          <a:lstStyle/>
          <a:p>
            <a:pPr>
              <a:defRPr/>
            </a:pPr>
            <a:r>
              <a:rPr lang="en-US" altLang="zh-CN" sz="1200" dirty="0">
                <a:solidFill>
                  <a:srgbClr val="000000"/>
                </a:solidFill>
                <a:latin typeface="微软雅黑" panose="020B0503020204020204" pitchFamily="34" charset="-122"/>
                <a:ea typeface="微软雅黑" panose="020B0503020204020204" pitchFamily="34" charset="-122"/>
                <a:cs typeface="OPPOSans B" pitchFamily="18" charset="-122"/>
              </a:rPr>
              <a:t>CANN </a:t>
            </a:r>
            <a:r>
              <a:rPr lang="zh-CN" altLang="en-US" sz="1200" dirty="0">
                <a:solidFill>
                  <a:srgbClr val="000000"/>
                </a:solidFill>
                <a:latin typeface="微软雅黑" panose="020B0503020204020204" pitchFamily="34" charset="-122"/>
                <a:ea typeface="微软雅黑" panose="020B0503020204020204" pitchFamily="34" charset="-122"/>
                <a:cs typeface="OPPOSans B" pitchFamily="18" charset="-122"/>
              </a:rPr>
              <a:t>是昇腾 </a:t>
            </a:r>
            <a:r>
              <a:rPr lang="en-US" altLang="zh-CN" sz="1200" dirty="0">
                <a:solidFill>
                  <a:srgbClr val="000000"/>
                </a:solidFill>
                <a:latin typeface="微软雅黑" panose="020B0503020204020204" pitchFamily="34" charset="-122"/>
                <a:ea typeface="微软雅黑" panose="020B0503020204020204" pitchFamily="34" charset="-122"/>
                <a:cs typeface="OPPOSans B" pitchFamily="18" charset="-122"/>
              </a:rPr>
              <a:t>AI </a:t>
            </a:r>
            <a:r>
              <a:rPr lang="zh-CN" altLang="en-US" sz="1200" dirty="0">
                <a:solidFill>
                  <a:srgbClr val="000000"/>
                </a:solidFill>
                <a:latin typeface="微软雅黑" panose="020B0503020204020204" pitchFamily="34" charset="-122"/>
                <a:ea typeface="微软雅黑" panose="020B0503020204020204" pitchFamily="34" charset="-122"/>
                <a:cs typeface="OPPOSans B" pitchFamily="18" charset="-122"/>
              </a:rPr>
              <a:t>算力栈的核心基础软件平台，对上兼容适配多种主流 </a:t>
            </a:r>
            <a:r>
              <a:rPr lang="en-US" altLang="zh-CN" sz="1200" dirty="0">
                <a:solidFill>
                  <a:srgbClr val="000000"/>
                </a:solidFill>
                <a:latin typeface="微软雅黑" panose="020B0503020204020204" pitchFamily="34" charset="-122"/>
                <a:ea typeface="微软雅黑" panose="020B0503020204020204" pitchFamily="34" charset="-122"/>
                <a:cs typeface="OPPOSans B" pitchFamily="18" charset="-122"/>
              </a:rPr>
              <a:t>AI </a:t>
            </a:r>
            <a:r>
              <a:rPr lang="zh-CN" altLang="en-US" sz="1200" dirty="0">
                <a:solidFill>
                  <a:srgbClr val="000000"/>
                </a:solidFill>
                <a:latin typeface="微软雅黑" panose="020B0503020204020204" pitchFamily="34" charset="-122"/>
                <a:ea typeface="微软雅黑" panose="020B0503020204020204" pitchFamily="34" charset="-122"/>
                <a:cs typeface="OPPOSans B" pitchFamily="18" charset="-122"/>
              </a:rPr>
              <a:t>框架，对下完成 </a:t>
            </a:r>
            <a:r>
              <a:rPr lang="en-US" altLang="zh-CN" sz="1200" dirty="0">
                <a:solidFill>
                  <a:srgbClr val="000000"/>
                </a:solidFill>
                <a:latin typeface="微软雅黑" panose="020B0503020204020204" pitchFamily="34" charset="-122"/>
                <a:ea typeface="微软雅黑" panose="020B0503020204020204" pitchFamily="34" charset="-122"/>
                <a:cs typeface="OPPOSans B" pitchFamily="18" charset="-122"/>
              </a:rPr>
              <a:t>AI </a:t>
            </a:r>
            <a:r>
              <a:rPr lang="zh-CN" altLang="en-US" sz="1200" dirty="0">
                <a:solidFill>
                  <a:srgbClr val="000000"/>
                </a:solidFill>
                <a:latin typeface="微软雅黑" panose="020B0503020204020204" pitchFamily="34" charset="-122"/>
                <a:ea typeface="微软雅黑" panose="020B0503020204020204" pitchFamily="34" charset="-122"/>
                <a:cs typeface="OPPOSans B" pitchFamily="18" charset="-122"/>
              </a:rPr>
              <a:t>处理器的硬件抽象与编程使能，发挥承上启下的核心枢纽作用。其架构自下而上可划分为三层：</a:t>
            </a:r>
            <a:endParaRPr lang="en-US" altLang="zh-CN" sz="1200" dirty="0">
              <a:solidFill>
                <a:srgbClr val="000000"/>
              </a:solidFill>
              <a:latin typeface="微软雅黑" panose="020B0503020204020204" pitchFamily="34" charset="-122"/>
              <a:ea typeface="微软雅黑" panose="020B0503020204020204" pitchFamily="34" charset="-122"/>
              <a:cs typeface="OPPOSans B" pitchFamily="18" charset="-122"/>
            </a:endParaRPr>
          </a:p>
          <a:p>
            <a:pPr>
              <a:defRPr/>
            </a:pPr>
            <a:endParaRPr lang="en-US" altLang="zh-CN" sz="1200" b="1" dirty="0">
              <a:solidFill>
                <a:srgbClr val="000000"/>
              </a:solidFill>
              <a:latin typeface="微软雅黑" panose="020B0503020204020204" pitchFamily="34" charset="-122"/>
              <a:ea typeface="微软雅黑" panose="020B0503020204020204" pitchFamily="34" charset="-122"/>
              <a:cs typeface="OPPOSans B" pitchFamily="18" charset="-122"/>
            </a:endParaRPr>
          </a:p>
          <a:p>
            <a:pPr marL="171450" indent="-171450">
              <a:buFont typeface="Wingdings" panose="05000000000000000000" pitchFamily="2" charset="2"/>
              <a:buChar char="l"/>
              <a:defRPr/>
            </a:pPr>
            <a:r>
              <a:rPr lang="zh-CN" altLang="en-US" sz="1200" b="1" dirty="0">
                <a:solidFill>
                  <a:srgbClr val="000000"/>
                </a:solidFill>
                <a:latin typeface="微软雅黑" panose="020B0503020204020204" pitchFamily="34" charset="-122"/>
                <a:ea typeface="微软雅黑" panose="020B0503020204020204" pitchFamily="34" charset="-122"/>
                <a:cs typeface="OPPOSans B" pitchFamily="18" charset="-122"/>
              </a:rPr>
              <a:t>运行时层（底层）</a:t>
            </a:r>
            <a:r>
              <a:rPr lang="zh-CN" altLang="en-US" sz="1200" dirty="0">
                <a:solidFill>
                  <a:srgbClr val="000000"/>
                </a:solidFill>
                <a:latin typeface="微软雅黑" panose="020B0503020204020204" pitchFamily="34" charset="-122"/>
                <a:ea typeface="微软雅黑" panose="020B0503020204020204" pitchFamily="34" charset="-122"/>
                <a:cs typeface="OPPOSans B" pitchFamily="18" charset="-122"/>
              </a:rPr>
              <a:t>：实现昇腾 </a:t>
            </a:r>
            <a:r>
              <a:rPr lang="en-US" altLang="zh-CN" sz="1200" dirty="0">
                <a:solidFill>
                  <a:srgbClr val="000000"/>
                </a:solidFill>
                <a:latin typeface="微软雅黑" panose="020B0503020204020204" pitchFamily="34" charset="-122"/>
                <a:ea typeface="微软雅黑" panose="020B0503020204020204" pitchFamily="34" charset="-122"/>
                <a:cs typeface="OPPOSans B" pitchFamily="18" charset="-122"/>
              </a:rPr>
              <a:t>AI </a:t>
            </a:r>
            <a:r>
              <a:rPr lang="zh-CN" altLang="en-US" sz="1200" dirty="0">
                <a:solidFill>
                  <a:srgbClr val="000000"/>
                </a:solidFill>
                <a:latin typeface="微软雅黑" panose="020B0503020204020204" pitchFamily="34" charset="-122"/>
                <a:ea typeface="微软雅黑" panose="020B0503020204020204" pitchFamily="34" charset="-122"/>
                <a:cs typeface="OPPOSans B" pitchFamily="18" charset="-122"/>
              </a:rPr>
              <a:t>处理器的驱动使能与任务调度，将各类计算任务下发至硬件执行单元，是硬件算力落地的基础支撑层。</a:t>
            </a:r>
            <a:endParaRPr lang="en-US" altLang="zh-CN" sz="1200" dirty="0">
              <a:solidFill>
                <a:srgbClr val="000000"/>
              </a:solidFill>
              <a:latin typeface="微软雅黑" panose="020B0503020204020204" pitchFamily="34" charset="-122"/>
              <a:ea typeface="微软雅黑" panose="020B0503020204020204" pitchFamily="34" charset="-122"/>
              <a:cs typeface="OPPOSans B" pitchFamily="18" charset="-122"/>
            </a:endParaRPr>
          </a:p>
          <a:p>
            <a:pPr marL="171450" indent="-171450">
              <a:buFont typeface="Wingdings" panose="05000000000000000000" pitchFamily="2" charset="2"/>
              <a:buChar char="l"/>
              <a:defRPr/>
            </a:pPr>
            <a:r>
              <a:rPr lang="zh-CN" altLang="en-US" sz="1200" b="1" dirty="0">
                <a:solidFill>
                  <a:srgbClr val="000000"/>
                </a:solidFill>
                <a:latin typeface="微软雅黑" panose="020B0503020204020204" pitchFamily="34" charset="-122"/>
                <a:ea typeface="微软雅黑" panose="020B0503020204020204" pitchFamily="34" charset="-122"/>
                <a:cs typeface="OPPOSans B" pitchFamily="18" charset="-122"/>
              </a:rPr>
              <a:t>编程与编译（中间层）</a:t>
            </a:r>
            <a:r>
              <a:rPr lang="zh-CN" altLang="en-US" sz="1200" dirty="0">
                <a:solidFill>
                  <a:srgbClr val="000000"/>
                </a:solidFill>
                <a:latin typeface="微软雅黑" panose="020B0503020204020204" pitchFamily="34" charset="-122"/>
                <a:ea typeface="微软雅黑" panose="020B0503020204020204" pitchFamily="34" charset="-122"/>
                <a:cs typeface="OPPOSans B" pitchFamily="18" charset="-122"/>
              </a:rPr>
              <a:t>：基于硬件架构完成抽象建模，提供标准化编程语言与开发接口，支持用户自定义开发计算任务（俗称算子），满足定制化算力需求。</a:t>
            </a:r>
            <a:endParaRPr lang="en-US" altLang="zh-CN" sz="1200" dirty="0">
              <a:solidFill>
                <a:srgbClr val="000000"/>
              </a:solidFill>
              <a:latin typeface="微软雅黑" panose="020B0503020204020204" pitchFamily="34" charset="-122"/>
              <a:ea typeface="微软雅黑" panose="020B0503020204020204" pitchFamily="34" charset="-122"/>
              <a:cs typeface="OPPOSans B" pitchFamily="18" charset="-122"/>
            </a:endParaRPr>
          </a:p>
          <a:p>
            <a:pPr marL="171450" indent="-171450">
              <a:buFont typeface="Wingdings" panose="05000000000000000000" pitchFamily="2" charset="2"/>
              <a:buChar char="l"/>
              <a:defRPr/>
            </a:pPr>
            <a:r>
              <a:rPr lang="zh-CN" altLang="en-US" sz="1200" b="1" dirty="0">
                <a:solidFill>
                  <a:srgbClr val="000000"/>
                </a:solidFill>
                <a:latin typeface="微软雅黑" panose="020B0503020204020204" pitchFamily="34" charset="-122"/>
                <a:ea typeface="微软雅黑" panose="020B0503020204020204" pitchFamily="34" charset="-122"/>
                <a:cs typeface="OPPOSans B" pitchFamily="18" charset="-122"/>
              </a:rPr>
              <a:t>加速库（上层）</a:t>
            </a:r>
            <a:r>
              <a:rPr lang="zh-CN" altLang="en-US" sz="1200" dirty="0">
                <a:solidFill>
                  <a:srgbClr val="000000"/>
                </a:solidFill>
                <a:latin typeface="微软雅黑" panose="020B0503020204020204" pitchFamily="34" charset="-122"/>
                <a:ea typeface="微软雅黑" panose="020B0503020204020204" pitchFamily="34" charset="-122"/>
                <a:cs typeface="OPPOSans B" pitchFamily="18" charset="-122"/>
              </a:rPr>
              <a:t>：内置覆盖计算、通信场景的通用算子实现，具备经过调优的泛化性能，为上层应用提供开箱即用的高性能算力底座。此外，</a:t>
            </a:r>
            <a:r>
              <a:rPr lang="en-US" altLang="zh-CN" sz="1200" dirty="0">
                <a:solidFill>
                  <a:srgbClr val="000000"/>
                </a:solidFill>
                <a:latin typeface="微软雅黑" panose="020B0503020204020204" pitchFamily="34" charset="-122"/>
                <a:ea typeface="微软雅黑" panose="020B0503020204020204" pitchFamily="34" charset="-122"/>
                <a:cs typeface="OPPOSans B" pitchFamily="18" charset="-122"/>
              </a:rPr>
              <a:t>CANN </a:t>
            </a:r>
            <a:r>
              <a:rPr lang="zh-CN" altLang="en-US" sz="1200" dirty="0">
                <a:solidFill>
                  <a:srgbClr val="000000"/>
                </a:solidFill>
                <a:latin typeface="微软雅黑" panose="020B0503020204020204" pitchFamily="34" charset="-122"/>
                <a:ea typeface="微软雅黑" panose="020B0503020204020204" pitchFamily="34" charset="-122"/>
                <a:cs typeface="OPPOSans B" pitchFamily="18" charset="-122"/>
              </a:rPr>
              <a:t>还配备计算图引擎，通过算子融合、内存复用、全局调度等图级优化手段，实现整网训练与推理性能的端到端提升</a:t>
            </a:r>
            <a:endParaRPr lang="en-US" altLang="zh-CN" sz="1200" dirty="0">
              <a:solidFill>
                <a:srgbClr val="000000"/>
              </a:solidFill>
              <a:latin typeface="微软雅黑" panose="020B0503020204020204" pitchFamily="34" charset="-122"/>
              <a:ea typeface="微软雅黑" panose="020B0503020204020204" pitchFamily="34" charset="-122"/>
              <a:cs typeface="OPPOSans B" pitchFamily="18"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AutoShape 3"/>
          <p:cNvSpPr/>
          <p:nvPr/>
        </p:nvSpPr>
        <p:spPr>
          <a:xfrm>
            <a:off x="791345" y="476250"/>
            <a:ext cx="10668000" cy="635000"/>
          </a:xfrm>
          <a:prstGeom prst="rect">
            <a:avLst/>
          </a:prstGeom>
          <a:noFill/>
          <a:ln w="12700" cap="flat" cmpd="sng">
            <a:noFill/>
            <a:prstDash val="solid"/>
            <a:round/>
          </a:ln>
        </p:spPr>
        <p:txBody>
          <a:bodyPr vert="horz" wrap="square" lIns="0" tIns="0" rIns="0" bIns="0" rtlCol="0" anchor="ctr" anchorCtr="0"/>
          <a:lstStyle/>
          <a:p>
            <a:pPr>
              <a:defRPr/>
            </a:pPr>
            <a:endParaRPr lang="en-US" altLang="zh-CN"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sym typeface="Noto Sans SC" panose="020B0200000000000000" charset="-122"/>
            </a:endParaRPr>
          </a:p>
        </p:txBody>
      </p:sp>
      <p:sp>
        <p:nvSpPr>
          <p:cNvPr id="21" name="矩形: 圆角 40"/>
          <p:cNvSpPr/>
          <p:nvPr/>
        </p:nvSpPr>
        <p:spPr>
          <a:xfrm flipH="1">
            <a:off x="8206709" y="3211054"/>
            <a:ext cx="3388166" cy="490592"/>
          </a:xfrm>
          <a:prstGeom prst="roundRect">
            <a:avLst>
              <a:gd name="adj" fmla="val 0"/>
            </a:avLst>
          </a:prstGeom>
          <a:solidFill>
            <a:srgbClr val="F2F5F6"/>
          </a:solidFill>
          <a:ln w="12700" cap="flat" cmpd="sng" algn="ctr">
            <a:noFill/>
            <a:prstDash val="dash"/>
            <a:miter lim="800000"/>
          </a:ln>
          <a:effectLst/>
        </p:spPr>
        <p:txBody>
          <a:bodyPr rtlCol="0" anchor="ctr"/>
          <a:lstStyle/>
          <a:p>
            <a:pPr algn="ctr" defTabSz="914400">
              <a:defRPr/>
            </a:pPr>
            <a:endParaRPr lang="zh-CN" altLang="en-US" kern="0">
              <a:solidFill>
                <a:srgbClr val="FFFFFF"/>
              </a:solidFill>
              <a:latin typeface="OPPOSans R" panose="00020600040101010101" pitchFamily="18" charset="-122"/>
              <a:ea typeface="OPPOSans R" panose="00020600040101010101" pitchFamily="18" charset="-122"/>
            </a:endParaRPr>
          </a:p>
        </p:txBody>
      </p:sp>
      <p:sp>
        <p:nvSpPr>
          <p:cNvPr id="22" name="矩形: 圆角 40"/>
          <p:cNvSpPr/>
          <p:nvPr/>
        </p:nvSpPr>
        <p:spPr>
          <a:xfrm flipH="1">
            <a:off x="8214813" y="2605937"/>
            <a:ext cx="3388166" cy="347486"/>
          </a:xfrm>
          <a:prstGeom prst="roundRect">
            <a:avLst>
              <a:gd name="adj" fmla="val 0"/>
            </a:avLst>
          </a:prstGeom>
          <a:solidFill>
            <a:srgbClr val="F2F5F6"/>
          </a:solidFill>
          <a:ln w="12700" cap="flat" cmpd="sng" algn="ctr">
            <a:noFill/>
            <a:prstDash val="dash"/>
            <a:miter lim="800000"/>
          </a:ln>
          <a:effectLst/>
        </p:spPr>
        <p:txBody>
          <a:bodyPr rtlCol="0" anchor="ctr"/>
          <a:lstStyle/>
          <a:p>
            <a:pPr algn="ctr" defTabSz="914400">
              <a:defRPr/>
            </a:pPr>
            <a:endParaRPr lang="zh-CN" altLang="en-US" kern="0">
              <a:solidFill>
                <a:srgbClr val="FFFFFF"/>
              </a:solidFill>
              <a:latin typeface="OPPOSans R" panose="00020600040101010101" pitchFamily="18" charset="-122"/>
              <a:ea typeface="OPPOSans R" panose="00020600040101010101" pitchFamily="18" charset="-122"/>
            </a:endParaRPr>
          </a:p>
        </p:txBody>
      </p:sp>
      <p:sp>
        <p:nvSpPr>
          <p:cNvPr id="23" name="矩形 22"/>
          <p:cNvSpPr/>
          <p:nvPr/>
        </p:nvSpPr>
        <p:spPr>
          <a:xfrm>
            <a:off x="8214813" y="2553664"/>
            <a:ext cx="3388166" cy="276999"/>
          </a:xfrm>
          <a:prstGeom prst="rect">
            <a:avLst/>
          </a:prstGeom>
          <a:solidFill>
            <a:srgbClr val="1C58A0"/>
          </a:solidFill>
          <a:ln w="38100" cap="flat" cmpd="sng" algn="ctr">
            <a:noFill/>
            <a:prstDash val="solid"/>
            <a:miter lim="800000"/>
          </a:ln>
          <a:effectLst/>
        </p:spPr>
        <p:txBody>
          <a:bodyPr lIns="98755" tIns="49378" rIns="98755" bIns="49378" rtlCol="0" anchor="ctr"/>
          <a:lstStyle/>
          <a:p>
            <a:pPr algn="ctr" defTabSz="914400">
              <a:defRPr/>
            </a:pPr>
            <a:endParaRPr lang="zh-CN" altLang="en-US" sz="1945" kern="0">
              <a:solidFill>
                <a:srgbClr val="FFFFFF"/>
              </a:solidFill>
              <a:effectLst>
                <a:outerShdw blurRad="137160" dist="41148" dir="2699997" algn="tl">
                  <a:srgbClr val="000000">
                    <a:alpha val="40000"/>
                  </a:srgbClr>
                </a:outerShdw>
              </a:effectLst>
              <a:latin typeface="OPPOSans R" panose="00020600040101010101" pitchFamily="18" charset="-122"/>
              <a:ea typeface="OPPOSans R" panose="00020600040101010101" pitchFamily="18" charset="-122"/>
            </a:endParaRPr>
          </a:p>
        </p:txBody>
      </p:sp>
      <p:sp>
        <p:nvSpPr>
          <p:cNvPr id="24" name="文本框 23"/>
          <p:cNvSpPr txBox="1"/>
          <p:nvPr/>
        </p:nvSpPr>
        <p:spPr>
          <a:xfrm>
            <a:off x="6155770" y="1543656"/>
            <a:ext cx="247252" cy="3876768"/>
          </a:xfrm>
          <a:prstGeom prst="rect">
            <a:avLst/>
          </a:prstGeom>
          <a:solidFill>
            <a:srgbClr val="1A9FBA">
              <a:alpha val="5000"/>
            </a:srgbClr>
          </a:solidFill>
          <a:ln w="12700" cap="flat" cmpd="sng" algn="ctr">
            <a:noFill/>
            <a:prstDash val="solid"/>
            <a:miter lim="800000"/>
          </a:ln>
          <a:effectLst/>
        </p:spPr>
        <p:txBody>
          <a:bodyPr rtlCol="0" anchor="ctr"/>
          <a:lstStyle>
            <a:defPPr>
              <a:defRPr lang="zh-CN"/>
            </a:defPPr>
            <a:lvl1pPr marR="0" lvl="0" indent="0" algn="ctr" fontAlgn="auto">
              <a:lnSpc>
                <a:spcPct val="100000"/>
              </a:lnSpc>
              <a:spcBef>
                <a:spcPts val="0"/>
              </a:spcBef>
              <a:spcAft>
                <a:spcPts val="0"/>
              </a:spcAft>
              <a:buClrTx/>
              <a:buSzTx/>
              <a:buFontTx/>
              <a:buNone/>
              <a:defRPr kumimoji="1" b="0" i="0" u="none" strike="noStrike" kern="0" cap="none" spc="0" normalizeH="0" baseline="0">
                <a:ln>
                  <a:noFill/>
                </a:ln>
                <a:solidFill>
                  <a:srgbClr val="313131"/>
                </a:solidFill>
                <a:effectLst/>
                <a:uLnTx/>
                <a:uFillTx/>
                <a:latin typeface="微软雅黑" panose="020B0503020204020204" pitchFamily="34" charset="-122"/>
                <a:ea typeface="微软雅黑" panose="020B0503020204020204" pitchFamily="34" charset="-122"/>
              </a:defRPr>
            </a:lvl1pPr>
          </a:lstStyle>
          <a:p>
            <a:pPr defTabSz="914400"/>
            <a:endParaRPr lang="zh-CN" altLang="en-US" sz="1200" dirty="0"/>
          </a:p>
          <a:p>
            <a:pPr defTabSz="914400"/>
            <a:r>
              <a:rPr lang="zh-CN" altLang="en-US" sz="1200" dirty="0"/>
              <a:t>调试调优工具链</a:t>
            </a:r>
            <a:endParaRPr lang="zh-CN" altLang="en-US" sz="1200" dirty="0"/>
          </a:p>
        </p:txBody>
      </p:sp>
      <p:sp>
        <p:nvSpPr>
          <p:cNvPr id="25" name="副标题 1"/>
          <p:cNvSpPr txBox="1"/>
          <p:nvPr/>
        </p:nvSpPr>
        <p:spPr>
          <a:xfrm>
            <a:off x="731997" y="326391"/>
            <a:ext cx="11099165" cy="581025"/>
          </a:xfrm>
          <a:prstGeom prst="rect">
            <a:avLst/>
          </a:prstGeom>
        </p:spPr>
        <p:txBody>
          <a:bodyPr lIns="0" tIns="0" rIns="0" bIns="0" anchor="ctr" anchorCtr="0">
            <a:normAutofit/>
          </a:bodyPr>
          <a:lstStyle>
            <a:lvl1pPr marL="0" indent="0" algn="l" defTabSz="1187450" rtl="0" eaLnBrk="1" latinLnBrk="0" hangingPunct="1">
              <a:lnSpc>
                <a:spcPts val="3430"/>
              </a:lnSpc>
              <a:spcBef>
                <a:spcPts val="0"/>
              </a:spcBef>
              <a:buFont typeface="Arial" panose="020B0604020202020204" pitchFamily="34" charset="0"/>
              <a:buNone/>
              <a:defRPr sz="2400" kern="1200" baseline="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593725" indent="0" algn="ctr" defTabSz="1187450" rtl="0" eaLnBrk="1" latinLnBrk="0" hangingPunct="1">
              <a:lnSpc>
                <a:spcPct val="90000"/>
              </a:lnSpc>
              <a:spcBef>
                <a:spcPts val="650"/>
              </a:spcBef>
              <a:buFont typeface="Arial" panose="020B0604020202020204" pitchFamily="34" charset="0"/>
              <a:buNone/>
              <a:defRPr sz="2595" kern="1200">
                <a:solidFill>
                  <a:schemeClr val="tx1"/>
                </a:solidFill>
                <a:latin typeface="+mn-lt"/>
                <a:ea typeface="+mn-ea"/>
                <a:cs typeface="+mn-cs"/>
              </a:defRPr>
            </a:lvl2pPr>
            <a:lvl3pPr marL="1187450" indent="0" algn="ctr" defTabSz="1187450" rtl="0" eaLnBrk="1" latinLnBrk="0" hangingPunct="1">
              <a:lnSpc>
                <a:spcPct val="90000"/>
              </a:lnSpc>
              <a:spcBef>
                <a:spcPts val="650"/>
              </a:spcBef>
              <a:buFont typeface="Arial" panose="020B0604020202020204" pitchFamily="34" charset="0"/>
              <a:buNone/>
              <a:defRPr sz="2335" kern="1200">
                <a:solidFill>
                  <a:schemeClr val="tx1"/>
                </a:solidFill>
                <a:latin typeface="+mn-lt"/>
                <a:ea typeface="+mn-ea"/>
                <a:cs typeface="+mn-cs"/>
              </a:defRPr>
            </a:lvl3pPr>
            <a:lvl4pPr marL="1781175"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4pPr>
            <a:lvl5pPr marL="2374900"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5pPr>
            <a:lvl6pPr marL="2967990"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6pPr>
            <a:lvl7pPr marL="3561715"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7pPr>
            <a:lvl8pPr marL="4155440"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8pPr>
            <a:lvl9pPr marL="4749165"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9pPr>
          </a:lstStyle>
          <a:p>
            <a:pPr lvl="0" defTabSz="914400">
              <a:lnSpc>
                <a:spcPct val="100000"/>
              </a:lnSpc>
              <a:defRPr/>
            </a:pPr>
            <a:r>
              <a:rPr lang="zh-CN" altLang="en-US" sz="2800" b="1" dirty="0">
                <a:solidFill>
                  <a:prstClr val="black"/>
                </a:solidFill>
                <a:latin typeface="微软雅黑" panose="020B0503020204020204" pitchFamily="34" charset="-122"/>
                <a:cs typeface="Arial" panose="020B0604020202020204" pitchFamily="34" charset="0"/>
                <a:sym typeface="Noto Sans SC" panose="020B0200000000000000" charset="-122"/>
              </a:rPr>
              <a:t>组件详解(</a:t>
            </a:r>
            <a:r>
              <a:rPr lang="en-US" altLang="zh-CN" sz="2800" b="1" dirty="0">
                <a:solidFill>
                  <a:prstClr val="black"/>
                </a:solidFill>
                <a:latin typeface="微软雅黑" panose="020B0503020204020204" pitchFamily="34" charset="-122"/>
                <a:cs typeface="Arial" panose="020B0604020202020204" pitchFamily="34" charset="0"/>
                <a:sym typeface="Noto Sans SC" panose="020B0200000000000000" charset="-122"/>
              </a:rPr>
              <a:t>6</a:t>
            </a:r>
            <a:r>
              <a:rPr lang="zh-CN" altLang="en-US" sz="2800" b="1" dirty="0">
                <a:solidFill>
                  <a:prstClr val="black"/>
                </a:solidFill>
                <a:latin typeface="微软雅黑" panose="020B0503020204020204" pitchFamily="34" charset="-122"/>
                <a:cs typeface="Arial" panose="020B0604020202020204" pitchFamily="34" charset="0"/>
                <a:sym typeface="Noto Sans SC" panose="020B0200000000000000" charset="-122"/>
              </a:rPr>
              <a:t>) </a:t>
            </a:r>
            <a:r>
              <a:rPr lang="en-US" altLang="zh-CN" sz="2800" b="1" dirty="0">
                <a:solidFill>
                  <a:prstClr val="black"/>
                </a:solidFill>
                <a:latin typeface="微软雅黑" panose="020B0503020204020204" pitchFamily="34" charset="-122"/>
                <a:cs typeface="Arial" panose="020B0604020202020204" pitchFamily="34" charset="0"/>
                <a:sym typeface="Noto Sans SC" panose="020B0200000000000000" charset="-122"/>
              </a:rPr>
              <a:t>–</a:t>
            </a:r>
            <a:r>
              <a:rPr lang="zh-CN" altLang="en-US" sz="2800" b="1" dirty="0">
                <a:solidFill>
                  <a:prstClr val="black"/>
                </a:solidFill>
                <a:latin typeface="微软雅黑" panose="020B0503020204020204" pitchFamily="34" charset="-122"/>
                <a:cs typeface="Arial" panose="020B0604020202020204" pitchFamily="34" charset="0"/>
                <a:sym typeface="Noto Sans SC" panose="020B0200000000000000" charset="-122"/>
              </a:rPr>
              <a:t> 编译与编程：</a:t>
            </a:r>
            <a:r>
              <a:rPr lang="en-US" altLang="zh-CN" sz="2800" b="1" dirty="0">
                <a:solidFill>
                  <a:prstClr val="black"/>
                </a:solidFill>
                <a:latin typeface="微软雅黑" panose="020B0503020204020204" pitchFamily="34" charset="-122"/>
                <a:cs typeface="Arial" panose="020B0604020202020204" pitchFamily="34" charset="0"/>
                <a:sym typeface="Noto Sans SC" panose="020B0200000000000000" charset="-122"/>
              </a:rPr>
              <a:t>Ascend C</a:t>
            </a:r>
            <a:endParaRPr lang="en-US" altLang="zh-CN" sz="2800" b="1" dirty="0">
              <a:solidFill>
                <a:prstClr val="black"/>
              </a:solidFill>
              <a:latin typeface="微软雅黑" panose="020B0503020204020204" pitchFamily="34" charset="-122"/>
              <a:cs typeface="Arial" panose="020B0604020202020204" pitchFamily="34" charset="0"/>
              <a:sym typeface="Noto Sans SC" panose="020B0200000000000000" charset="-122"/>
            </a:endParaRPr>
          </a:p>
        </p:txBody>
      </p:sp>
      <p:sp>
        <p:nvSpPr>
          <p:cNvPr id="26" name="矩形 25"/>
          <p:cNvSpPr/>
          <p:nvPr/>
        </p:nvSpPr>
        <p:spPr>
          <a:xfrm>
            <a:off x="600009" y="1520785"/>
            <a:ext cx="577669" cy="473613"/>
          </a:xfrm>
          <a:prstGeom prst="rect">
            <a:avLst/>
          </a:prstGeom>
          <a:solidFill>
            <a:srgbClr val="1C58A0"/>
          </a:solidFill>
          <a:ln w="12700" cap="flat" cmpd="sng" algn="ctr">
            <a:noFill/>
            <a:prstDash val="solid"/>
            <a:miter lim="800000"/>
          </a:ln>
          <a:effectLst/>
        </p:spPr>
        <p:txBody>
          <a:bodyPr rtlCol="0" anchor="ctr"/>
          <a:lstStyle/>
          <a:p>
            <a:pPr algn="ctr" defTabSz="914400">
              <a:defRPr/>
            </a:pPr>
            <a:endParaRPr lang="zh-CN" altLang="en-US" sz="1200" b="1" kern="0">
              <a:solidFill>
                <a:prstClr val="white"/>
              </a:solidFill>
              <a:latin typeface="微软雅黑" panose="020B0503020204020204" pitchFamily="34" charset="-122"/>
              <a:ea typeface="微软雅黑" panose="020B0503020204020204" pitchFamily="34" charset="-122"/>
            </a:endParaRPr>
          </a:p>
        </p:txBody>
      </p:sp>
      <p:sp>
        <p:nvSpPr>
          <p:cNvPr id="27" name="矩形 26"/>
          <p:cNvSpPr/>
          <p:nvPr/>
        </p:nvSpPr>
        <p:spPr>
          <a:xfrm>
            <a:off x="608071" y="4968034"/>
            <a:ext cx="588645" cy="490591"/>
          </a:xfrm>
          <a:prstGeom prst="rect">
            <a:avLst/>
          </a:prstGeom>
          <a:solidFill>
            <a:srgbClr val="1C58A0"/>
          </a:solidFill>
          <a:ln w="12700" cap="flat" cmpd="sng" algn="ctr">
            <a:noFill/>
            <a:prstDash val="solid"/>
            <a:miter lim="800000"/>
          </a:ln>
          <a:effectLst/>
        </p:spPr>
        <p:txBody>
          <a:bodyPr rtlCol="0" anchor="ctr"/>
          <a:lstStyle/>
          <a:p>
            <a:pPr algn="ctr" defTabSz="914400">
              <a:defRPr/>
            </a:pPr>
            <a:endParaRPr lang="zh-CN" altLang="en-US" sz="1200" kern="0">
              <a:solidFill>
                <a:prstClr val="white"/>
              </a:solidFill>
              <a:latin typeface="微软雅黑" panose="020B0503020204020204" pitchFamily="34" charset="-122"/>
              <a:ea typeface="微软雅黑" panose="020B0503020204020204" pitchFamily="34" charset="-122"/>
            </a:endParaRPr>
          </a:p>
        </p:txBody>
      </p:sp>
      <p:sp>
        <p:nvSpPr>
          <p:cNvPr id="28" name="矩形 27"/>
          <p:cNvSpPr/>
          <p:nvPr/>
        </p:nvSpPr>
        <p:spPr>
          <a:xfrm>
            <a:off x="608071" y="2393156"/>
            <a:ext cx="581044" cy="2367878"/>
          </a:xfrm>
          <a:prstGeom prst="rect">
            <a:avLst/>
          </a:prstGeom>
          <a:solidFill>
            <a:srgbClr val="1C58A0"/>
          </a:solidFill>
          <a:ln w="12700" cap="flat" cmpd="sng" algn="ctr">
            <a:noFill/>
            <a:prstDash val="solid"/>
            <a:miter lim="800000"/>
          </a:ln>
          <a:effectLst/>
        </p:spPr>
        <p:txBody>
          <a:bodyPr rtlCol="0" anchor="ctr"/>
          <a:lstStyle/>
          <a:p>
            <a:pPr algn="ctr" defTabSz="914400">
              <a:defRPr/>
            </a:pPr>
            <a:endParaRPr lang="zh-CN" altLang="en-US" sz="1200" b="1" kern="0">
              <a:solidFill>
                <a:prstClr val="white"/>
              </a:solidFill>
              <a:latin typeface="微软雅黑" panose="020B0503020204020204" pitchFamily="34" charset="-122"/>
              <a:ea typeface="微软雅黑" panose="020B0503020204020204" pitchFamily="34" charset="-122"/>
            </a:endParaRPr>
          </a:p>
        </p:txBody>
      </p:sp>
      <p:sp>
        <p:nvSpPr>
          <p:cNvPr id="29" name="文本框 28"/>
          <p:cNvSpPr txBox="1"/>
          <p:nvPr/>
        </p:nvSpPr>
        <p:spPr>
          <a:xfrm flipH="1">
            <a:off x="619047" y="1626618"/>
            <a:ext cx="577669" cy="184666"/>
          </a:xfrm>
          <a:prstGeom prst="rect">
            <a:avLst/>
          </a:prstGeom>
          <a:noFill/>
        </p:spPr>
        <p:txBody>
          <a:bodyPr wrap="square" lIns="0" tIns="0" rIns="0" bIns="0" rtlCol="0">
            <a:spAutoFit/>
          </a:bodyPr>
          <a:lstStyle/>
          <a:p>
            <a:pPr algn="ctr" defTabSz="914400">
              <a:defRPr/>
            </a:pPr>
            <a:r>
              <a:rPr lang="en-US" altLang="zh-CN" sz="1200" b="1" dirty="0" err="1">
                <a:solidFill>
                  <a:srgbClr val="FFFFFF"/>
                </a:solidFill>
                <a:latin typeface="微软雅黑" panose="020B0503020204020204" pitchFamily="34" charset="-122"/>
                <a:ea typeface="微软雅黑" panose="020B0503020204020204" pitchFamily="34" charset="-122"/>
                <a:cs typeface="OPPOSans M" panose="00020600040101010101" pitchFamily="18" charset="-122"/>
              </a:rPr>
              <a:t>PyAsc</a:t>
            </a:r>
            <a:endParaRPr lang="zh-CN" altLang="en-US" sz="12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endParaRPr>
          </a:p>
        </p:txBody>
      </p:sp>
      <p:sp>
        <p:nvSpPr>
          <p:cNvPr id="30" name="文本框 29"/>
          <p:cNvSpPr txBox="1"/>
          <p:nvPr/>
        </p:nvSpPr>
        <p:spPr>
          <a:xfrm flipH="1">
            <a:off x="619046" y="4991420"/>
            <a:ext cx="558631" cy="369332"/>
          </a:xfrm>
          <a:prstGeom prst="rect">
            <a:avLst/>
          </a:prstGeom>
          <a:noFill/>
        </p:spPr>
        <p:txBody>
          <a:bodyPr wrap="square" lIns="0" tIns="0" rIns="0" bIns="0" rtlCol="0">
            <a:spAutoFit/>
          </a:bodyPr>
          <a:lstStyle/>
          <a:p>
            <a:pPr algn="ctr" defTabSz="914400">
              <a:defRPr/>
            </a:pPr>
            <a:r>
              <a:rPr lang="zh-CN" altLang="en-US" sz="12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rPr>
              <a:t>语言扩展层</a:t>
            </a:r>
            <a:r>
              <a:rPr lang="en-US" altLang="zh-CN" sz="12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rPr>
              <a:t>C </a:t>
            </a:r>
            <a:endParaRPr lang="zh-CN" altLang="en-US" sz="12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endParaRPr>
          </a:p>
        </p:txBody>
      </p:sp>
      <p:sp>
        <p:nvSpPr>
          <p:cNvPr id="31" name="文本框 30"/>
          <p:cNvSpPr txBox="1"/>
          <p:nvPr/>
        </p:nvSpPr>
        <p:spPr>
          <a:xfrm flipH="1">
            <a:off x="631785" y="3351101"/>
            <a:ext cx="588644" cy="184666"/>
          </a:xfrm>
          <a:prstGeom prst="rect">
            <a:avLst/>
          </a:prstGeom>
          <a:noFill/>
        </p:spPr>
        <p:txBody>
          <a:bodyPr wrap="square" lIns="0" tIns="0" rIns="0" bIns="0" rtlCol="0">
            <a:spAutoFit/>
          </a:bodyPr>
          <a:lstStyle/>
          <a:p>
            <a:pPr algn="ctr" defTabSz="914400">
              <a:defRPr/>
            </a:pPr>
            <a:r>
              <a:rPr lang="en-US" altLang="zh-CN" sz="12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rPr>
              <a:t>C++</a:t>
            </a:r>
            <a:endParaRPr lang="zh-CN" altLang="en-US" sz="12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endParaRPr>
          </a:p>
        </p:txBody>
      </p:sp>
      <p:sp>
        <p:nvSpPr>
          <p:cNvPr id="32" name="文本框 31"/>
          <p:cNvSpPr txBox="1"/>
          <p:nvPr/>
        </p:nvSpPr>
        <p:spPr>
          <a:xfrm>
            <a:off x="3658043" y="4960131"/>
            <a:ext cx="2328588" cy="471342"/>
          </a:xfrm>
          <a:prstGeom prst="rect">
            <a:avLst/>
          </a:prstGeom>
          <a:solidFill>
            <a:srgbClr val="1A9FBA">
              <a:alpha val="5000"/>
            </a:srgbClr>
          </a:solidFill>
          <a:ln w="12700" cap="flat" cmpd="sng" algn="ctr">
            <a:noFill/>
            <a:prstDash val="solid"/>
            <a:miter lim="800000"/>
          </a:ln>
          <a:effectLst/>
        </p:spPr>
        <p:txBody>
          <a:bodyPr rtlCol="0" anchor="ctr"/>
          <a:lstStyle>
            <a:defPPr>
              <a:defRPr lang="zh-CN"/>
            </a:defPPr>
            <a:lvl1pPr marR="0" lvl="0" indent="0" algn="ctr" fontAlgn="auto">
              <a:lnSpc>
                <a:spcPct val="100000"/>
              </a:lnSpc>
              <a:spcBef>
                <a:spcPts val="0"/>
              </a:spcBef>
              <a:spcAft>
                <a:spcPts val="0"/>
              </a:spcAft>
              <a:buClrTx/>
              <a:buSzTx/>
              <a:buFontTx/>
              <a:buNone/>
              <a:defRPr kumimoji="1" b="0" i="0" u="none" strike="noStrike" kern="0" cap="none" spc="0" normalizeH="0" baseline="0">
                <a:ln>
                  <a:noFill/>
                </a:ln>
                <a:solidFill>
                  <a:srgbClr val="313131"/>
                </a:solidFill>
                <a:effectLst/>
                <a:uLnTx/>
                <a:uFillTx/>
                <a:latin typeface="微软雅黑" panose="020B0503020204020204" pitchFamily="34" charset="-122"/>
                <a:ea typeface="微软雅黑" panose="020B0503020204020204" pitchFamily="34" charset="-122"/>
              </a:defRPr>
            </a:lvl1pPr>
          </a:lstStyle>
          <a:p>
            <a:pPr defTabSz="913765" fontAlgn="base">
              <a:spcBef>
                <a:spcPct val="0"/>
              </a:spcBef>
              <a:spcAft>
                <a:spcPct val="0"/>
              </a:spcAft>
              <a:defRPr/>
            </a:pPr>
            <a:r>
              <a:rPr kumimoji="0" lang="en-US" altLang="zh-CN" sz="1200" b="1" dirty="0">
                <a:solidFill>
                  <a:srgbClr val="1D1D1A"/>
                </a:solidFill>
              </a:rPr>
              <a:t>SIMT</a:t>
            </a:r>
            <a:r>
              <a:rPr kumimoji="0" lang="en-US" altLang="zh-CN" sz="1200" dirty="0">
                <a:solidFill>
                  <a:srgbClr val="1D1D1A"/>
                </a:solidFill>
              </a:rPr>
              <a:t> C API</a:t>
            </a:r>
            <a:endParaRPr kumimoji="0" lang="en-US" altLang="zh-CN" sz="1200" dirty="0">
              <a:solidFill>
                <a:srgbClr val="1D1D1A"/>
              </a:solidFill>
            </a:endParaRPr>
          </a:p>
        </p:txBody>
      </p:sp>
      <p:sp>
        <p:nvSpPr>
          <p:cNvPr id="33" name="小李PPT5"/>
          <p:cNvSpPr/>
          <p:nvPr>
            <p:custDataLst>
              <p:tags r:id="rId1"/>
            </p:custDataLst>
          </p:nvPr>
        </p:nvSpPr>
        <p:spPr>
          <a:xfrm>
            <a:off x="602156" y="5552696"/>
            <a:ext cx="5800867" cy="348426"/>
          </a:xfrm>
          <a:prstGeom prst="rect">
            <a:avLst/>
          </a:prstGeom>
          <a:solidFill>
            <a:srgbClr val="F2F5F6"/>
          </a:solidFill>
          <a:ln w="12700" cap="flat" cmpd="sng" algn="ctr">
            <a:noFill/>
            <a:prstDash val="dash"/>
            <a:miter lim="800000"/>
          </a:ln>
          <a:effectLst/>
        </p:spPr>
        <p:txBody>
          <a:bodyPr rtlCol="0" anchor="ctr"/>
          <a:lstStyle/>
          <a:p>
            <a:pPr algn="ctr" defTabSz="914400"/>
            <a:r>
              <a:rPr lang="zh-CN" altLang="en-US" sz="1200" b="1" kern="0" dirty="0">
                <a:solidFill>
                  <a:prstClr val="black"/>
                </a:solidFill>
                <a:latin typeface="微软雅黑" panose="020B0503020204020204" pitchFamily="34" charset="-122"/>
                <a:ea typeface="微软雅黑" panose="020B0503020204020204" pitchFamily="34" charset="-122"/>
              </a:rPr>
              <a:t>毕昇编译器</a:t>
            </a:r>
            <a:endParaRPr lang="zh-CN" altLang="en-US" sz="1200" b="1" kern="0" dirty="0">
              <a:solidFill>
                <a:prstClr val="black"/>
              </a:solidFill>
              <a:latin typeface="微软雅黑" panose="020B0503020204020204" pitchFamily="34" charset="-122"/>
              <a:ea typeface="微软雅黑" panose="020B0503020204020204" pitchFamily="34" charset="-122"/>
            </a:endParaRPr>
          </a:p>
        </p:txBody>
      </p:sp>
      <p:sp>
        <p:nvSpPr>
          <p:cNvPr id="34" name="文本框 33"/>
          <p:cNvSpPr txBox="1"/>
          <p:nvPr/>
        </p:nvSpPr>
        <p:spPr>
          <a:xfrm>
            <a:off x="1288503" y="4285495"/>
            <a:ext cx="3263019" cy="475540"/>
          </a:xfrm>
          <a:prstGeom prst="rect">
            <a:avLst/>
          </a:prstGeom>
          <a:solidFill>
            <a:srgbClr val="1A9FBA">
              <a:alpha val="5000"/>
            </a:srgbClr>
          </a:solidFill>
          <a:ln w="12700" cap="flat" cmpd="sng" algn="ctr">
            <a:noFill/>
            <a:prstDash val="solid"/>
            <a:miter lim="800000"/>
          </a:ln>
          <a:effectLst/>
        </p:spPr>
        <p:txBody>
          <a:bodyPr rtlCol="0" anchor="ctr"/>
          <a:lstStyle>
            <a:defPPr>
              <a:defRPr lang="zh-CN"/>
            </a:defPPr>
            <a:lvl1pPr marR="0" lvl="0" indent="0" algn="ctr" fontAlgn="auto">
              <a:lnSpc>
                <a:spcPct val="100000"/>
              </a:lnSpc>
              <a:spcBef>
                <a:spcPts val="0"/>
              </a:spcBef>
              <a:spcAft>
                <a:spcPts val="0"/>
              </a:spcAft>
              <a:buClrTx/>
              <a:buSzTx/>
              <a:buFontTx/>
              <a:buNone/>
              <a:defRPr kumimoji="1" sz="1400" b="0" i="0" u="none" strike="noStrike" kern="0" cap="none" spc="0" normalizeH="0" baseline="0">
                <a:ln>
                  <a:noFill/>
                </a:ln>
                <a:solidFill>
                  <a:srgbClr val="313131"/>
                </a:solidFill>
                <a:effectLst/>
                <a:uLnTx/>
                <a:uFillTx/>
                <a:latin typeface="微软雅黑" panose="020B0503020204020204" pitchFamily="34" charset="-122"/>
                <a:ea typeface="微软雅黑" panose="020B0503020204020204" pitchFamily="34" charset="-122"/>
              </a:defRPr>
            </a:lvl1pPr>
          </a:lstStyle>
          <a:p>
            <a:pPr defTabSz="914400"/>
            <a:r>
              <a:rPr lang="en-US" altLang="zh-CN" sz="1200" b="1" dirty="0"/>
              <a:t>Tensor API</a:t>
            </a:r>
            <a:endParaRPr lang="en-US" sz="1200" dirty="0"/>
          </a:p>
          <a:p>
            <a:pPr defTabSz="914400"/>
            <a:endParaRPr lang="en-US" sz="1200" dirty="0"/>
          </a:p>
        </p:txBody>
      </p:sp>
      <p:sp>
        <p:nvSpPr>
          <p:cNvPr id="35" name="文本框 34"/>
          <p:cNvSpPr txBox="1"/>
          <p:nvPr/>
        </p:nvSpPr>
        <p:spPr>
          <a:xfrm>
            <a:off x="1287033" y="3061242"/>
            <a:ext cx="1970272" cy="483031"/>
          </a:xfrm>
          <a:prstGeom prst="rect">
            <a:avLst/>
          </a:prstGeom>
          <a:solidFill>
            <a:srgbClr val="1A9FBA">
              <a:alpha val="5000"/>
            </a:srgbClr>
          </a:solidFill>
          <a:ln w="12700" cap="flat" cmpd="sng" algn="ctr">
            <a:noFill/>
            <a:prstDash val="solid"/>
            <a:miter lim="800000"/>
          </a:ln>
          <a:effectLst/>
        </p:spPr>
        <p:txBody>
          <a:bodyPr rtlCol="0" anchor="ctr"/>
          <a:lstStyle>
            <a:defPPr>
              <a:defRPr lang="zh-CN"/>
            </a:defPPr>
            <a:lvl1pPr marR="0" lvl="0" indent="0" algn="ctr" fontAlgn="auto">
              <a:lnSpc>
                <a:spcPct val="100000"/>
              </a:lnSpc>
              <a:spcBef>
                <a:spcPts val="0"/>
              </a:spcBef>
              <a:spcAft>
                <a:spcPts val="0"/>
              </a:spcAft>
              <a:buClrTx/>
              <a:buSzTx/>
              <a:buFontTx/>
              <a:buNone/>
              <a:defRPr kumimoji="1" b="0" i="0" u="none" strike="noStrike" kern="0" cap="none" spc="0" normalizeH="0" baseline="0">
                <a:ln>
                  <a:noFill/>
                </a:ln>
                <a:solidFill>
                  <a:srgbClr val="313131"/>
                </a:solidFill>
                <a:effectLst/>
                <a:uLnTx/>
                <a:uFillTx/>
                <a:latin typeface="微软雅黑" panose="020B0503020204020204" pitchFamily="34" charset="-122"/>
                <a:ea typeface="微软雅黑" panose="020B0503020204020204" pitchFamily="34" charset="-122"/>
              </a:defRPr>
            </a:lvl1pPr>
          </a:lstStyle>
          <a:p>
            <a:pPr defTabSz="914400"/>
            <a:r>
              <a:rPr lang="zh-CN" altLang="en-US" sz="1200" b="1" dirty="0"/>
              <a:t>高阶</a:t>
            </a:r>
            <a:r>
              <a:rPr lang="en-US" altLang="zh-CN" sz="1200" b="1" dirty="0"/>
              <a:t>API</a:t>
            </a:r>
            <a:endParaRPr lang="en-US" sz="1200" b="1" dirty="0"/>
          </a:p>
        </p:txBody>
      </p:sp>
      <p:sp>
        <p:nvSpPr>
          <p:cNvPr id="36" name="文本框 35"/>
          <p:cNvSpPr txBox="1"/>
          <p:nvPr/>
        </p:nvSpPr>
        <p:spPr>
          <a:xfrm>
            <a:off x="1288501" y="4968034"/>
            <a:ext cx="2056750" cy="463534"/>
          </a:xfrm>
          <a:prstGeom prst="rect">
            <a:avLst/>
          </a:prstGeom>
          <a:solidFill>
            <a:srgbClr val="1A9FBA">
              <a:alpha val="5000"/>
            </a:srgbClr>
          </a:solidFill>
          <a:ln w="12700" cap="flat" cmpd="sng" algn="ctr">
            <a:noFill/>
            <a:prstDash val="solid"/>
            <a:miter lim="800000"/>
          </a:ln>
          <a:effectLst/>
        </p:spPr>
        <p:txBody>
          <a:bodyPr rtlCol="0" anchor="ctr"/>
          <a:lstStyle>
            <a:defPPr>
              <a:defRPr lang="zh-CN"/>
            </a:defPPr>
            <a:lvl1pPr marR="0" lvl="0" indent="0" algn="ctr" fontAlgn="auto">
              <a:lnSpc>
                <a:spcPct val="100000"/>
              </a:lnSpc>
              <a:spcBef>
                <a:spcPts val="0"/>
              </a:spcBef>
              <a:spcAft>
                <a:spcPts val="0"/>
              </a:spcAft>
              <a:buClrTx/>
              <a:buSzTx/>
              <a:buFontTx/>
              <a:buNone/>
              <a:defRPr kumimoji="1" b="0" i="0" u="none" strike="noStrike" kern="0" cap="none" spc="0" normalizeH="0" baseline="0">
                <a:ln>
                  <a:noFill/>
                </a:ln>
                <a:solidFill>
                  <a:srgbClr val="313131"/>
                </a:solidFill>
                <a:effectLst/>
                <a:uLnTx/>
                <a:uFillTx/>
                <a:latin typeface="微软雅黑" panose="020B0503020204020204" pitchFamily="34" charset="-122"/>
                <a:ea typeface="微软雅黑" panose="020B0503020204020204" pitchFamily="34" charset="-122"/>
              </a:defRPr>
            </a:lvl1pPr>
          </a:lstStyle>
          <a:p>
            <a:pPr defTabSz="913765" fontAlgn="base">
              <a:spcBef>
                <a:spcPct val="0"/>
              </a:spcBef>
              <a:spcAft>
                <a:spcPct val="0"/>
              </a:spcAft>
              <a:defRPr/>
            </a:pPr>
            <a:r>
              <a:rPr kumimoji="0" lang="en-US" altLang="zh-CN" sz="1200" b="1" dirty="0">
                <a:solidFill>
                  <a:srgbClr val="1D1D1A"/>
                </a:solidFill>
              </a:rPr>
              <a:t>SIMD</a:t>
            </a:r>
            <a:r>
              <a:rPr kumimoji="0" lang="en-US" altLang="zh-CN" sz="1200" dirty="0">
                <a:solidFill>
                  <a:srgbClr val="1D1D1A"/>
                </a:solidFill>
              </a:rPr>
              <a:t> C API</a:t>
            </a:r>
            <a:endParaRPr kumimoji="0" lang="en-US" altLang="zh-CN" sz="1200" dirty="0">
              <a:solidFill>
                <a:srgbClr val="1D1D1A"/>
              </a:solidFill>
            </a:endParaRPr>
          </a:p>
        </p:txBody>
      </p:sp>
      <p:sp>
        <p:nvSpPr>
          <p:cNvPr id="37" name="文本框 36"/>
          <p:cNvSpPr txBox="1"/>
          <p:nvPr/>
        </p:nvSpPr>
        <p:spPr>
          <a:xfrm>
            <a:off x="4614593" y="3054920"/>
            <a:ext cx="606071" cy="1706114"/>
          </a:xfrm>
          <a:prstGeom prst="rect">
            <a:avLst/>
          </a:prstGeom>
          <a:solidFill>
            <a:srgbClr val="1A9FBA">
              <a:alpha val="5000"/>
            </a:srgbClr>
          </a:solidFill>
          <a:ln w="12700" cap="flat" cmpd="sng" algn="ctr">
            <a:noFill/>
            <a:prstDash val="solid"/>
            <a:miter lim="800000"/>
          </a:ln>
          <a:effectLst/>
        </p:spPr>
        <p:txBody>
          <a:bodyPr rtlCol="0" anchor="ctr"/>
          <a:lstStyle>
            <a:defPPr>
              <a:defRPr lang="zh-CN"/>
            </a:defPPr>
            <a:lvl1pPr marR="0" lvl="0" indent="0" algn="ctr" fontAlgn="auto">
              <a:lnSpc>
                <a:spcPct val="100000"/>
              </a:lnSpc>
              <a:spcBef>
                <a:spcPts val="0"/>
              </a:spcBef>
              <a:spcAft>
                <a:spcPts val="0"/>
              </a:spcAft>
              <a:buClrTx/>
              <a:buSzTx/>
              <a:buFontTx/>
              <a:buNone/>
              <a:defRPr kumimoji="1" b="0" i="0" u="none" strike="noStrike" kern="0" cap="none" spc="0" normalizeH="0" baseline="0">
                <a:ln>
                  <a:noFill/>
                </a:ln>
                <a:solidFill>
                  <a:srgbClr val="313131"/>
                </a:solidFill>
                <a:effectLst/>
                <a:uLnTx/>
                <a:uFillTx/>
                <a:latin typeface="微软雅黑" panose="020B0503020204020204" pitchFamily="34" charset="-122"/>
                <a:ea typeface="微软雅黑" panose="020B0503020204020204" pitchFamily="34" charset="-122"/>
              </a:defRPr>
            </a:lvl1pPr>
          </a:lstStyle>
          <a:p>
            <a:pPr defTabSz="914400"/>
            <a:r>
              <a:rPr lang="en-US" altLang="zh-CN" sz="1200" b="1" dirty="0" err="1"/>
              <a:t>asc-stl</a:t>
            </a:r>
            <a:endParaRPr lang="en-US" sz="1200" b="1" dirty="0"/>
          </a:p>
        </p:txBody>
      </p:sp>
      <p:sp>
        <p:nvSpPr>
          <p:cNvPr id="38" name="文本框 37"/>
          <p:cNvSpPr txBox="1"/>
          <p:nvPr/>
        </p:nvSpPr>
        <p:spPr>
          <a:xfrm>
            <a:off x="1288501" y="2420225"/>
            <a:ext cx="4708830" cy="483031"/>
          </a:xfrm>
          <a:prstGeom prst="rect">
            <a:avLst/>
          </a:prstGeom>
          <a:solidFill>
            <a:srgbClr val="1A9FBA">
              <a:alpha val="5000"/>
            </a:srgbClr>
          </a:solidFill>
          <a:ln w="12700" cap="flat" cmpd="sng" algn="ctr">
            <a:noFill/>
            <a:prstDash val="solid"/>
            <a:miter lim="800000"/>
          </a:ln>
          <a:effectLst/>
        </p:spPr>
        <p:txBody>
          <a:bodyPr rtlCol="0" anchor="ctr"/>
          <a:lstStyle>
            <a:defPPr>
              <a:defRPr lang="zh-CN"/>
            </a:defPPr>
            <a:lvl1pPr marR="0" lvl="0" indent="0" algn="ctr" fontAlgn="auto">
              <a:lnSpc>
                <a:spcPct val="100000"/>
              </a:lnSpc>
              <a:spcBef>
                <a:spcPts val="0"/>
              </a:spcBef>
              <a:spcAft>
                <a:spcPts val="0"/>
              </a:spcAft>
              <a:buClrTx/>
              <a:buSzTx/>
              <a:buFontTx/>
              <a:buNone/>
              <a:defRPr kumimoji="1" b="0" i="0" u="none" strike="noStrike" kern="0" cap="none" spc="0" normalizeH="0" baseline="0">
                <a:ln>
                  <a:noFill/>
                </a:ln>
                <a:solidFill>
                  <a:srgbClr val="313131"/>
                </a:solidFill>
                <a:effectLst/>
                <a:uLnTx/>
                <a:uFillTx/>
                <a:latin typeface="微软雅黑" panose="020B0503020204020204" pitchFamily="34" charset="-122"/>
                <a:ea typeface="微软雅黑" panose="020B0503020204020204" pitchFamily="34" charset="-122"/>
              </a:defRPr>
            </a:lvl1pPr>
          </a:lstStyle>
          <a:p>
            <a:pPr defTabSz="914400"/>
            <a:r>
              <a:rPr lang="en-US" altLang="zh-CN" sz="1200" dirty="0"/>
              <a:t>Ascend C </a:t>
            </a:r>
            <a:r>
              <a:rPr lang="zh-CN" altLang="en-US" sz="1200" b="1" dirty="0"/>
              <a:t>算子模板库</a:t>
            </a:r>
            <a:endParaRPr lang="en-US" sz="1200" b="1" dirty="0"/>
          </a:p>
        </p:txBody>
      </p:sp>
      <p:cxnSp>
        <p:nvCxnSpPr>
          <p:cNvPr id="39" name="直接连接符 38"/>
          <p:cNvCxnSpPr/>
          <p:nvPr/>
        </p:nvCxnSpPr>
        <p:spPr>
          <a:xfrm>
            <a:off x="639682" y="2224375"/>
            <a:ext cx="5384476" cy="0"/>
          </a:xfrm>
          <a:prstGeom prst="line">
            <a:avLst/>
          </a:prstGeom>
          <a:noFill/>
          <a:ln w="15875" cap="flat" cmpd="sng" algn="ctr">
            <a:solidFill>
              <a:srgbClr val="0000FF"/>
            </a:solidFill>
            <a:prstDash val="dash"/>
            <a:miter lim="800000"/>
          </a:ln>
          <a:effectLst/>
        </p:spPr>
      </p:cxnSp>
      <p:cxnSp>
        <p:nvCxnSpPr>
          <p:cNvPr id="40" name="直接连接符 39"/>
          <p:cNvCxnSpPr/>
          <p:nvPr/>
        </p:nvCxnSpPr>
        <p:spPr>
          <a:xfrm>
            <a:off x="611430" y="4884355"/>
            <a:ext cx="5412729" cy="0"/>
          </a:xfrm>
          <a:prstGeom prst="line">
            <a:avLst/>
          </a:prstGeom>
          <a:noFill/>
          <a:ln w="15875" cap="flat" cmpd="sng" algn="ctr">
            <a:solidFill>
              <a:srgbClr val="0000FF"/>
            </a:solidFill>
            <a:prstDash val="dash"/>
            <a:miter lim="800000"/>
          </a:ln>
          <a:effectLst/>
        </p:spPr>
      </p:cxnSp>
      <p:sp>
        <p:nvSpPr>
          <p:cNvPr id="41" name="文本框 40"/>
          <p:cNvSpPr txBox="1"/>
          <p:nvPr/>
        </p:nvSpPr>
        <p:spPr>
          <a:xfrm>
            <a:off x="1310984" y="1514713"/>
            <a:ext cx="4713174" cy="483031"/>
          </a:xfrm>
          <a:prstGeom prst="rect">
            <a:avLst/>
          </a:prstGeom>
          <a:solidFill>
            <a:srgbClr val="1A9FBA">
              <a:alpha val="5000"/>
            </a:srgbClr>
          </a:solidFill>
          <a:ln w="12700" cap="flat" cmpd="sng" algn="ctr">
            <a:noFill/>
            <a:prstDash val="solid"/>
            <a:miter lim="800000"/>
          </a:ln>
          <a:effectLst/>
        </p:spPr>
        <p:txBody>
          <a:bodyPr rtlCol="0" anchor="ctr"/>
          <a:lstStyle>
            <a:defPPr>
              <a:defRPr lang="zh-CN"/>
            </a:defPPr>
            <a:lvl1pPr marR="0" lvl="0" indent="0" algn="ctr" fontAlgn="auto">
              <a:lnSpc>
                <a:spcPct val="100000"/>
              </a:lnSpc>
              <a:spcBef>
                <a:spcPts val="0"/>
              </a:spcBef>
              <a:spcAft>
                <a:spcPts val="0"/>
              </a:spcAft>
              <a:buClrTx/>
              <a:buSzTx/>
              <a:buFontTx/>
              <a:buNone/>
              <a:defRPr kumimoji="1" b="0" i="0" u="none" strike="noStrike" kern="0" cap="none" spc="0" normalizeH="0" baseline="0">
                <a:ln>
                  <a:noFill/>
                </a:ln>
                <a:solidFill>
                  <a:srgbClr val="313131"/>
                </a:solidFill>
                <a:effectLst/>
                <a:uLnTx/>
                <a:uFillTx/>
                <a:latin typeface="微软雅黑" panose="020B0503020204020204" pitchFamily="34" charset="-122"/>
                <a:ea typeface="微软雅黑" panose="020B0503020204020204" pitchFamily="34" charset="-122"/>
              </a:defRPr>
            </a:lvl1pPr>
          </a:lstStyle>
          <a:p>
            <a:pPr defTabSz="914400"/>
            <a:r>
              <a:rPr lang="en-US" altLang="zh-CN" sz="1200" b="1" dirty="0" err="1"/>
              <a:t>PyAsc</a:t>
            </a:r>
            <a:r>
              <a:rPr lang="zh-CN" altLang="en-US" sz="1200" dirty="0"/>
              <a:t>（</a:t>
            </a:r>
            <a:r>
              <a:rPr lang="en-US" altLang="zh-CN" sz="1200" dirty="0"/>
              <a:t>Python</a:t>
            </a:r>
            <a:r>
              <a:rPr lang="zh-CN" altLang="en-US" sz="1200" dirty="0"/>
              <a:t>前端完备编程能力，含</a:t>
            </a:r>
            <a:r>
              <a:rPr lang="en-US" altLang="zh-CN" sz="1200" dirty="0"/>
              <a:t>Tensor/SIMT</a:t>
            </a:r>
            <a:r>
              <a:rPr lang="zh-CN" altLang="en-US" sz="1200" dirty="0"/>
              <a:t>编程）</a:t>
            </a:r>
            <a:endParaRPr lang="zh-CN" altLang="en-US" sz="1200" dirty="0"/>
          </a:p>
        </p:txBody>
      </p:sp>
      <p:sp>
        <p:nvSpPr>
          <p:cNvPr id="42" name="文本框 41"/>
          <p:cNvSpPr txBox="1"/>
          <p:nvPr/>
        </p:nvSpPr>
        <p:spPr>
          <a:xfrm>
            <a:off x="3327421" y="3047950"/>
            <a:ext cx="1217057" cy="493386"/>
          </a:xfrm>
          <a:prstGeom prst="rect">
            <a:avLst/>
          </a:prstGeom>
          <a:solidFill>
            <a:srgbClr val="1A9FBA">
              <a:alpha val="5000"/>
            </a:srgbClr>
          </a:solidFill>
          <a:ln w="12700" cap="flat" cmpd="sng" algn="ctr">
            <a:noFill/>
            <a:prstDash val="solid"/>
            <a:miter lim="800000"/>
          </a:ln>
          <a:effectLst/>
        </p:spPr>
        <p:txBody>
          <a:bodyPr rtlCol="0" anchor="ctr"/>
          <a:lstStyle>
            <a:defPPr>
              <a:defRPr lang="zh-CN"/>
            </a:defPPr>
            <a:lvl1pPr marR="0" lvl="0" indent="0" algn="ctr" fontAlgn="auto">
              <a:lnSpc>
                <a:spcPct val="100000"/>
              </a:lnSpc>
              <a:spcBef>
                <a:spcPts val="0"/>
              </a:spcBef>
              <a:spcAft>
                <a:spcPts val="0"/>
              </a:spcAft>
              <a:buClrTx/>
              <a:buSzTx/>
              <a:buFontTx/>
              <a:buNone/>
              <a:defRPr kumimoji="1" b="0" i="0" u="none" strike="noStrike" kern="0" cap="none" spc="0" normalizeH="0" baseline="0">
                <a:ln>
                  <a:noFill/>
                </a:ln>
                <a:solidFill>
                  <a:srgbClr val="313131"/>
                </a:solidFill>
                <a:effectLst/>
                <a:uLnTx/>
                <a:uFillTx/>
                <a:latin typeface="微软雅黑" panose="020B0503020204020204" pitchFamily="34" charset="-122"/>
                <a:ea typeface="微软雅黑" panose="020B0503020204020204" pitchFamily="34" charset="-122"/>
              </a:defRPr>
            </a:lvl1pPr>
          </a:lstStyle>
          <a:p>
            <a:pPr defTabSz="914400"/>
            <a:r>
              <a:rPr lang="en-US" altLang="zh-CN" sz="1200" dirty="0" err="1"/>
              <a:t>asc-mathdx</a:t>
            </a:r>
            <a:endParaRPr lang="en-US" sz="1200" dirty="0"/>
          </a:p>
        </p:txBody>
      </p:sp>
      <p:sp>
        <p:nvSpPr>
          <p:cNvPr id="43" name="Arrow"/>
          <p:cNvSpPr/>
          <p:nvPr/>
        </p:nvSpPr>
        <p:spPr>
          <a:xfrm>
            <a:off x="5521575" y="5051913"/>
            <a:ext cx="2599221" cy="248347"/>
          </a:xfrm>
          <a:prstGeom prst="rightArrow">
            <a:avLst>
              <a:gd name="adj1" fmla="val 47695"/>
              <a:gd name="adj2" fmla="val 118485"/>
            </a:avLst>
          </a:prstGeom>
          <a:gradFill>
            <a:gsLst>
              <a:gs pos="27000">
                <a:srgbClr val="032D76">
                  <a:alpha val="0"/>
                </a:srgbClr>
              </a:gs>
              <a:gs pos="77000">
                <a:srgbClr val="032D76"/>
              </a:gs>
            </a:gsLst>
          </a:gradFill>
          <a:ln w="12700">
            <a:miter lim="400000"/>
          </a:ln>
        </p:spPr>
        <p:txBody>
          <a:bodyPr lIns="0" tIns="0" rIns="0" bIns="0" anchor="ctr"/>
          <a:lstStyle/>
          <a:p>
            <a:pPr defTabSz="914400">
              <a:defRPr/>
            </a:pPr>
            <a:endParaRPr sz="900" kern="0">
              <a:solidFill>
                <a:prstClr val="black"/>
              </a:solidFill>
              <a:latin typeface="OPPOSans R" panose="00020600040101010101" pitchFamily="18" charset="-122"/>
              <a:ea typeface="OPPOSans R" panose="00020600040101010101" pitchFamily="18" charset="-122"/>
            </a:endParaRPr>
          </a:p>
        </p:txBody>
      </p:sp>
      <p:sp>
        <p:nvSpPr>
          <p:cNvPr id="44" name="矩形: 圆角 40"/>
          <p:cNvSpPr/>
          <p:nvPr/>
        </p:nvSpPr>
        <p:spPr>
          <a:xfrm flipH="1">
            <a:off x="8214811" y="1745813"/>
            <a:ext cx="3381941" cy="276556"/>
          </a:xfrm>
          <a:prstGeom prst="roundRect">
            <a:avLst>
              <a:gd name="adj" fmla="val 0"/>
            </a:avLst>
          </a:prstGeom>
          <a:solidFill>
            <a:srgbClr val="F2F5F6"/>
          </a:solidFill>
          <a:ln w="12700" cap="flat" cmpd="sng" algn="ctr">
            <a:noFill/>
            <a:prstDash val="dash"/>
            <a:miter lim="800000"/>
          </a:ln>
          <a:effectLst/>
        </p:spPr>
        <p:txBody>
          <a:bodyPr rtlCol="0" anchor="ctr"/>
          <a:lstStyle/>
          <a:p>
            <a:pPr algn="ctr" defTabSz="914400">
              <a:defRPr/>
            </a:pPr>
            <a:endParaRPr lang="zh-CN" altLang="en-US" kern="0">
              <a:solidFill>
                <a:srgbClr val="FFFFFF"/>
              </a:solidFill>
              <a:latin typeface="OPPOSans R" panose="00020600040101010101" pitchFamily="18" charset="-122"/>
              <a:ea typeface="OPPOSans R" panose="00020600040101010101" pitchFamily="18" charset="-122"/>
            </a:endParaRPr>
          </a:p>
        </p:txBody>
      </p:sp>
      <p:sp>
        <p:nvSpPr>
          <p:cNvPr id="45" name="矩形 44"/>
          <p:cNvSpPr/>
          <p:nvPr/>
        </p:nvSpPr>
        <p:spPr>
          <a:xfrm>
            <a:off x="8206710" y="1470966"/>
            <a:ext cx="3390045" cy="276999"/>
          </a:xfrm>
          <a:prstGeom prst="rect">
            <a:avLst/>
          </a:prstGeom>
          <a:solidFill>
            <a:srgbClr val="1A9FBA"/>
          </a:solidFill>
          <a:ln w="12700" cap="flat" cmpd="sng" algn="ctr">
            <a:noFill/>
            <a:prstDash val="solid"/>
            <a:miter lim="800000"/>
          </a:ln>
          <a:effectLst/>
        </p:spPr>
        <p:txBody>
          <a:bodyPr wrap="square" rtlCol="0" anchor="ctr">
            <a:noAutofit/>
          </a:bodyPr>
          <a:lstStyle/>
          <a:p>
            <a:pPr algn="ctr" defTabSz="914400">
              <a:defRPr/>
            </a:pPr>
            <a:endParaRPr kumimoji="1" lang="zh-CN" altLang="en-US" kern="0">
              <a:solidFill>
                <a:srgbClr val="313131"/>
              </a:solidFill>
              <a:latin typeface="等线" panose="02010600030101010101" charset="-122"/>
              <a:ea typeface="等线" panose="02010600030101010101" charset="-122"/>
            </a:endParaRPr>
          </a:p>
        </p:txBody>
      </p:sp>
      <p:sp>
        <p:nvSpPr>
          <p:cNvPr id="46" name="矩形: 圆角 40"/>
          <p:cNvSpPr/>
          <p:nvPr/>
        </p:nvSpPr>
        <p:spPr>
          <a:xfrm flipH="1">
            <a:off x="8201729" y="4392601"/>
            <a:ext cx="3388166" cy="585739"/>
          </a:xfrm>
          <a:prstGeom prst="roundRect">
            <a:avLst>
              <a:gd name="adj" fmla="val 0"/>
            </a:avLst>
          </a:prstGeom>
          <a:solidFill>
            <a:srgbClr val="F2F5F6"/>
          </a:solidFill>
          <a:ln w="12700" cap="flat" cmpd="sng" algn="ctr">
            <a:noFill/>
            <a:prstDash val="dash"/>
            <a:miter lim="800000"/>
          </a:ln>
          <a:effectLst/>
        </p:spPr>
        <p:txBody>
          <a:bodyPr rtlCol="0" anchor="ctr"/>
          <a:lstStyle/>
          <a:p>
            <a:pPr algn="ctr" defTabSz="914400">
              <a:defRPr/>
            </a:pPr>
            <a:endParaRPr lang="zh-CN" altLang="en-US" kern="0">
              <a:solidFill>
                <a:srgbClr val="FFFFFF"/>
              </a:solidFill>
              <a:latin typeface="OPPOSans R" panose="00020600040101010101" pitchFamily="18" charset="-122"/>
              <a:ea typeface="OPPOSans R" panose="00020600040101010101" pitchFamily="18" charset="-122"/>
            </a:endParaRPr>
          </a:p>
        </p:txBody>
      </p:sp>
      <p:sp>
        <p:nvSpPr>
          <p:cNvPr id="47" name="矩形 46"/>
          <p:cNvSpPr/>
          <p:nvPr/>
        </p:nvSpPr>
        <p:spPr>
          <a:xfrm>
            <a:off x="8199851" y="4423115"/>
            <a:ext cx="3390045" cy="276999"/>
          </a:xfrm>
          <a:prstGeom prst="rect">
            <a:avLst/>
          </a:prstGeom>
          <a:solidFill>
            <a:srgbClr val="1C58A0"/>
          </a:solidFill>
          <a:ln w="38100" cap="flat" cmpd="sng" algn="ctr">
            <a:noFill/>
            <a:prstDash val="solid"/>
            <a:miter lim="800000"/>
          </a:ln>
          <a:effectLst/>
        </p:spPr>
        <p:txBody>
          <a:bodyPr lIns="98755" tIns="49378" rIns="98755" bIns="49378" rtlCol="0" anchor="ctr"/>
          <a:lstStyle/>
          <a:p>
            <a:pPr algn="ctr" defTabSz="914400">
              <a:defRPr/>
            </a:pPr>
            <a:endParaRPr lang="zh-CN" altLang="en-US" sz="1945" kern="0">
              <a:solidFill>
                <a:srgbClr val="FFFFFF"/>
              </a:solidFill>
              <a:effectLst>
                <a:outerShdw blurRad="137160" dist="41148" dir="2699997" algn="tl">
                  <a:srgbClr val="000000">
                    <a:alpha val="40000"/>
                  </a:srgbClr>
                </a:outerShdw>
              </a:effectLst>
              <a:latin typeface="OPPOSans R" panose="00020600040101010101" pitchFamily="18" charset="-122"/>
              <a:ea typeface="OPPOSans R" panose="00020600040101010101" pitchFamily="18" charset="-122"/>
            </a:endParaRPr>
          </a:p>
        </p:txBody>
      </p:sp>
      <p:sp>
        <p:nvSpPr>
          <p:cNvPr id="48" name="矩形: 圆角 40"/>
          <p:cNvSpPr/>
          <p:nvPr/>
        </p:nvSpPr>
        <p:spPr>
          <a:xfrm flipH="1">
            <a:off x="8214813" y="5326501"/>
            <a:ext cx="3388166" cy="490592"/>
          </a:xfrm>
          <a:prstGeom prst="roundRect">
            <a:avLst>
              <a:gd name="adj" fmla="val 0"/>
            </a:avLst>
          </a:prstGeom>
          <a:solidFill>
            <a:srgbClr val="F2F5F6"/>
          </a:solidFill>
          <a:ln w="12700" cap="flat" cmpd="sng" algn="ctr">
            <a:noFill/>
            <a:prstDash val="dash"/>
            <a:miter lim="800000"/>
          </a:ln>
          <a:effectLst/>
        </p:spPr>
        <p:txBody>
          <a:bodyPr rtlCol="0" anchor="ctr"/>
          <a:lstStyle/>
          <a:p>
            <a:pPr algn="ctr" defTabSz="914400">
              <a:defRPr/>
            </a:pPr>
            <a:endParaRPr lang="zh-CN" altLang="en-US" kern="0">
              <a:solidFill>
                <a:srgbClr val="FFFFFF"/>
              </a:solidFill>
              <a:latin typeface="OPPOSans R" panose="00020600040101010101" pitchFamily="18" charset="-122"/>
              <a:ea typeface="OPPOSans R" panose="00020600040101010101" pitchFamily="18" charset="-122"/>
            </a:endParaRPr>
          </a:p>
        </p:txBody>
      </p:sp>
      <p:sp>
        <p:nvSpPr>
          <p:cNvPr id="49" name="文本框 48"/>
          <p:cNvSpPr txBox="1"/>
          <p:nvPr/>
        </p:nvSpPr>
        <p:spPr>
          <a:xfrm>
            <a:off x="8199851" y="4732140"/>
            <a:ext cx="3381941" cy="254429"/>
          </a:xfrm>
          <a:prstGeom prst="rect">
            <a:avLst/>
          </a:prstGeom>
          <a:noFill/>
        </p:spPr>
        <p:txBody>
          <a:bodyPr wrap="square" rtlCol="0">
            <a:spAutoFit/>
          </a:bodyPr>
          <a:lstStyle/>
          <a:p>
            <a:pPr marL="228600" indent="-228600" defTabSz="914400">
              <a:lnSpc>
                <a:spcPct val="114000"/>
              </a:lnSpc>
              <a:buFont typeface="+mj-ea"/>
              <a:buAutoNum type="circleNumDbPlain"/>
              <a:defRPr/>
            </a:pPr>
            <a:r>
              <a:rPr kumimoji="1" lang="en-US" altLang="zh-CN" sz="1000" b="1" kern="0" dirty="0">
                <a:solidFill>
                  <a:prstClr val="black"/>
                </a:solidFill>
                <a:latin typeface="微软雅黑" panose="020B0503020204020204" pitchFamily="34" charset="-122"/>
                <a:ea typeface="微软雅黑" panose="020B0503020204020204" pitchFamily="34" charset="-122"/>
                <a:sym typeface="+mn-ea"/>
              </a:rPr>
              <a:t>Tensor API: </a:t>
            </a:r>
            <a:r>
              <a:rPr kumimoji="1" lang="zh-CN" altLang="en-US" sz="1000" kern="0" dirty="0">
                <a:solidFill>
                  <a:prstClr val="black"/>
                </a:solidFill>
                <a:latin typeface="微软雅黑" panose="020B0503020204020204" pitchFamily="34" charset="-122"/>
                <a:ea typeface="微软雅黑" panose="020B0503020204020204" pitchFamily="34" charset="-122"/>
                <a:sym typeface="+mn-ea"/>
              </a:rPr>
              <a:t>基于</a:t>
            </a:r>
            <a:r>
              <a:rPr kumimoji="1" lang="en-US" altLang="zh-CN" sz="1000" kern="0" dirty="0">
                <a:solidFill>
                  <a:prstClr val="black"/>
                </a:solidFill>
                <a:latin typeface="微软雅黑" panose="020B0503020204020204" pitchFamily="34" charset="-122"/>
                <a:ea typeface="微软雅黑" panose="020B0503020204020204" pitchFamily="34" charset="-122"/>
                <a:sym typeface="+mn-ea"/>
              </a:rPr>
              <a:t>Layout</a:t>
            </a:r>
            <a:r>
              <a:rPr kumimoji="1" lang="zh-CN" altLang="en-US" sz="1000" kern="0" dirty="0">
                <a:solidFill>
                  <a:prstClr val="black"/>
                </a:solidFill>
                <a:latin typeface="微软雅黑" panose="020B0503020204020204" pitchFamily="34" charset="-122"/>
                <a:ea typeface="微软雅黑" panose="020B0503020204020204" pitchFamily="34" charset="-122"/>
                <a:sym typeface="+mn-ea"/>
              </a:rPr>
              <a:t>提升</a:t>
            </a:r>
            <a:r>
              <a:rPr kumimoji="1" lang="en-US" altLang="zh-CN" sz="1000" kern="0" dirty="0">
                <a:solidFill>
                  <a:prstClr val="black"/>
                </a:solidFill>
                <a:latin typeface="微软雅黑" panose="020B0503020204020204" pitchFamily="34" charset="-122"/>
                <a:ea typeface="微软雅黑" panose="020B0503020204020204" pitchFamily="34" charset="-122"/>
                <a:sym typeface="+mn-ea"/>
              </a:rPr>
              <a:t>Tensor</a:t>
            </a:r>
            <a:r>
              <a:rPr kumimoji="1" lang="zh-CN" altLang="en-US" sz="1000" kern="0" dirty="0">
                <a:solidFill>
                  <a:prstClr val="black"/>
                </a:solidFill>
                <a:latin typeface="微软雅黑" panose="020B0503020204020204" pitchFamily="34" charset="-122"/>
                <a:ea typeface="微软雅黑" panose="020B0503020204020204" pitchFamily="34" charset="-122"/>
                <a:sym typeface="+mn-ea"/>
              </a:rPr>
              <a:t>编程体验；</a:t>
            </a:r>
            <a:endParaRPr kumimoji="1" lang="en-US" altLang="zh-CN" sz="1000" kern="0" dirty="0">
              <a:solidFill>
                <a:prstClr val="black"/>
              </a:solidFill>
              <a:latin typeface="微软雅黑" panose="020B0503020204020204" pitchFamily="34" charset="-122"/>
              <a:ea typeface="微软雅黑" panose="020B0503020204020204" pitchFamily="34" charset="-122"/>
              <a:sym typeface="+mn-ea"/>
            </a:endParaRPr>
          </a:p>
        </p:txBody>
      </p:sp>
      <p:sp>
        <p:nvSpPr>
          <p:cNvPr id="50" name="矩形 49"/>
          <p:cNvSpPr/>
          <p:nvPr/>
        </p:nvSpPr>
        <p:spPr>
          <a:xfrm>
            <a:off x="8206709" y="5023260"/>
            <a:ext cx="3399176" cy="317590"/>
          </a:xfrm>
          <a:prstGeom prst="rect">
            <a:avLst/>
          </a:prstGeom>
          <a:solidFill>
            <a:srgbClr val="032D76"/>
          </a:solidFill>
          <a:ln w="12700" cap="flat" cmpd="sng" algn="ctr">
            <a:noFill/>
            <a:prstDash val="solid"/>
            <a:miter lim="800000"/>
          </a:ln>
          <a:effectLst/>
        </p:spPr>
        <p:txBody>
          <a:bodyPr wrap="square" rtlCol="0" anchor="ctr">
            <a:noAutofit/>
          </a:bodyPr>
          <a:lstStyle/>
          <a:p>
            <a:pPr algn="ctr" defTabSz="914400">
              <a:defRPr/>
            </a:pPr>
            <a:endParaRPr kumimoji="1" lang="zh-CN" altLang="en-US" kern="0">
              <a:solidFill>
                <a:srgbClr val="313131"/>
              </a:solidFill>
              <a:latin typeface="等线" panose="02010600030101010101" charset="-122"/>
              <a:ea typeface="等线" panose="02010600030101010101" charset="-122"/>
            </a:endParaRPr>
          </a:p>
        </p:txBody>
      </p:sp>
      <p:sp>
        <p:nvSpPr>
          <p:cNvPr id="51" name="Arrow"/>
          <p:cNvSpPr/>
          <p:nvPr/>
        </p:nvSpPr>
        <p:spPr>
          <a:xfrm>
            <a:off x="3843997" y="4387206"/>
            <a:ext cx="4280821" cy="248346"/>
          </a:xfrm>
          <a:prstGeom prst="rightArrow">
            <a:avLst>
              <a:gd name="adj1" fmla="val 47695"/>
              <a:gd name="adj2" fmla="val 118485"/>
            </a:avLst>
          </a:prstGeom>
          <a:gradFill>
            <a:gsLst>
              <a:gs pos="7000">
                <a:srgbClr val="1C58A0">
                  <a:alpha val="0"/>
                </a:srgbClr>
              </a:gs>
              <a:gs pos="77000">
                <a:srgbClr val="1C58A0"/>
              </a:gs>
            </a:gsLst>
          </a:gradFill>
          <a:ln w="12700">
            <a:miter lim="400000"/>
          </a:ln>
        </p:spPr>
        <p:txBody>
          <a:bodyPr lIns="0" tIns="0" rIns="0" bIns="0" anchor="ctr"/>
          <a:lstStyle/>
          <a:p>
            <a:pPr defTabSz="914400">
              <a:defRPr/>
            </a:pPr>
            <a:endParaRPr sz="900" kern="0" dirty="0">
              <a:solidFill>
                <a:prstClr val="black"/>
              </a:solidFill>
              <a:latin typeface="OPPOSans R" panose="00020600040101010101" pitchFamily="18" charset="-122"/>
              <a:ea typeface="OPPOSans R" panose="00020600040101010101" pitchFamily="18" charset="-122"/>
            </a:endParaRPr>
          </a:p>
        </p:txBody>
      </p:sp>
      <p:sp>
        <p:nvSpPr>
          <p:cNvPr id="52" name="Arrow"/>
          <p:cNvSpPr/>
          <p:nvPr/>
        </p:nvSpPr>
        <p:spPr>
          <a:xfrm>
            <a:off x="5637372" y="2526828"/>
            <a:ext cx="2467067" cy="303821"/>
          </a:xfrm>
          <a:prstGeom prst="rightArrow">
            <a:avLst>
              <a:gd name="adj1" fmla="val 47695"/>
              <a:gd name="adj2" fmla="val 118485"/>
            </a:avLst>
          </a:prstGeom>
          <a:gradFill>
            <a:gsLst>
              <a:gs pos="0">
                <a:srgbClr val="247BAE">
                  <a:alpha val="0"/>
                </a:srgbClr>
              </a:gs>
              <a:gs pos="90000">
                <a:srgbClr val="247BAE"/>
              </a:gs>
            </a:gsLst>
          </a:gradFill>
          <a:ln w="12700">
            <a:miter lim="400000"/>
          </a:ln>
        </p:spPr>
        <p:txBody>
          <a:bodyPr lIns="0" tIns="0" rIns="0" bIns="0" anchor="ctr"/>
          <a:lstStyle/>
          <a:p>
            <a:pPr defTabSz="914400">
              <a:defRPr/>
            </a:pPr>
            <a:endParaRPr sz="900" kern="0">
              <a:solidFill>
                <a:prstClr val="black"/>
              </a:solidFill>
              <a:latin typeface="OPPOSans R" panose="00020600040101010101" pitchFamily="18" charset="-122"/>
              <a:ea typeface="OPPOSans R" panose="00020600040101010101" pitchFamily="18" charset="-122"/>
            </a:endParaRPr>
          </a:p>
        </p:txBody>
      </p:sp>
      <p:sp>
        <p:nvSpPr>
          <p:cNvPr id="53" name="Arrow"/>
          <p:cNvSpPr/>
          <p:nvPr/>
        </p:nvSpPr>
        <p:spPr>
          <a:xfrm>
            <a:off x="6018535" y="1543656"/>
            <a:ext cx="2096638" cy="248347"/>
          </a:xfrm>
          <a:prstGeom prst="rightArrow">
            <a:avLst>
              <a:gd name="adj1" fmla="val 47695"/>
              <a:gd name="adj2" fmla="val 118485"/>
            </a:avLst>
          </a:prstGeom>
          <a:gradFill>
            <a:gsLst>
              <a:gs pos="0">
                <a:srgbClr val="247BAE">
                  <a:alpha val="0"/>
                </a:srgbClr>
              </a:gs>
              <a:gs pos="90000">
                <a:srgbClr val="247BAE"/>
              </a:gs>
            </a:gsLst>
          </a:gradFill>
          <a:ln w="12700">
            <a:miter lim="400000"/>
          </a:ln>
        </p:spPr>
        <p:txBody>
          <a:bodyPr lIns="0" tIns="0" rIns="0" bIns="0" anchor="ctr"/>
          <a:lstStyle/>
          <a:p>
            <a:pPr defTabSz="914400">
              <a:defRPr/>
            </a:pPr>
            <a:endParaRPr sz="900" kern="0">
              <a:solidFill>
                <a:prstClr val="black"/>
              </a:solidFill>
              <a:latin typeface="OPPOSans R" panose="00020600040101010101" pitchFamily="18" charset="-122"/>
              <a:ea typeface="OPPOSans R" panose="00020600040101010101" pitchFamily="18" charset="-122"/>
            </a:endParaRPr>
          </a:p>
        </p:txBody>
      </p:sp>
      <p:sp>
        <p:nvSpPr>
          <p:cNvPr id="54" name="文本框 53"/>
          <p:cNvSpPr txBox="1"/>
          <p:nvPr/>
        </p:nvSpPr>
        <p:spPr>
          <a:xfrm>
            <a:off x="8206709" y="5023261"/>
            <a:ext cx="3419110" cy="276999"/>
          </a:xfrm>
          <a:prstGeom prst="rect">
            <a:avLst/>
          </a:prstGeom>
          <a:noFill/>
        </p:spPr>
        <p:txBody>
          <a:bodyPr wrap="square"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pPr defTabSz="914400">
              <a:defRPr/>
            </a:pPr>
            <a:r>
              <a:rPr lang="en-US" altLang="zh-CN" sz="12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rPr>
              <a:t>C</a:t>
            </a:r>
            <a:r>
              <a:rPr lang="zh-CN" altLang="en-US" sz="12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rPr>
              <a:t>语言基础编程能力：基于指针编程</a:t>
            </a:r>
            <a:endParaRPr lang="zh-CN" altLang="en-US" sz="12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endParaRPr>
          </a:p>
        </p:txBody>
      </p:sp>
      <p:sp>
        <p:nvSpPr>
          <p:cNvPr id="55" name="文本框 54"/>
          <p:cNvSpPr txBox="1"/>
          <p:nvPr/>
        </p:nvSpPr>
        <p:spPr>
          <a:xfrm>
            <a:off x="8265440" y="4397977"/>
            <a:ext cx="3299336" cy="276999"/>
          </a:xfrm>
          <a:prstGeom prst="rect">
            <a:avLst/>
          </a:prstGeom>
          <a:noFill/>
        </p:spPr>
        <p:txBody>
          <a:bodyPr wrap="square"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pPr defTabSz="914400">
              <a:defRPr/>
            </a:pPr>
            <a:r>
              <a:rPr lang="en-US" altLang="zh-CN" sz="12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rPr>
              <a:t>C++</a:t>
            </a:r>
            <a:r>
              <a:rPr lang="zh-CN" altLang="en-US" sz="12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rPr>
              <a:t>语言基础编程能力：基于</a:t>
            </a:r>
            <a:r>
              <a:rPr lang="en-US" altLang="zh-CN" sz="12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rPr>
              <a:t>Tensor</a:t>
            </a:r>
            <a:r>
              <a:rPr lang="zh-CN" altLang="en-US" sz="12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rPr>
              <a:t>编程</a:t>
            </a:r>
            <a:endParaRPr lang="zh-CN" altLang="en-US" sz="12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endParaRPr>
          </a:p>
        </p:txBody>
      </p:sp>
      <p:sp>
        <p:nvSpPr>
          <p:cNvPr id="56" name="文本框 55"/>
          <p:cNvSpPr txBox="1"/>
          <p:nvPr/>
        </p:nvSpPr>
        <p:spPr>
          <a:xfrm>
            <a:off x="8471212" y="3024296"/>
            <a:ext cx="3299336" cy="276999"/>
          </a:xfrm>
          <a:prstGeom prst="rect">
            <a:avLst/>
          </a:prstGeom>
          <a:noFill/>
        </p:spPr>
        <p:txBody>
          <a:bodyPr wrap="square"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pPr defTabSz="914400">
              <a:defRPr/>
            </a:pPr>
            <a:r>
              <a:rPr lang="en-US" altLang="zh-CN" sz="12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rPr>
              <a:t>C++</a:t>
            </a:r>
            <a:r>
              <a:rPr lang="zh-CN" altLang="en-US" sz="12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rPr>
              <a:t>语言基础编程能力：基于</a:t>
            </a:r>
            <a:r>
              <a:rPr lang="en-US" altLang="zh-CN" sz="12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rPr>
              <a:t>Tensor</a:t>
            </a:r>
            <a:r>
              <a:rPr lang="zh-CN" altLang="en-US" sz="12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rPr>
              <a:t>编程</a:t>
            </a:r>
            <a:endParaRPr lang="zh-CN" altLang="en-US" sz="12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endParaRPr>
          </a:p>
        </p:txBody>
      </p:sp>
      <p:sp>
        <p:nvSpPr>
          <p:cNvPr id="57" name="矩形 56"/>
          <p:cNvSpPr/>
          <p:nvPr/>
        </p:nvSpPr>
        <p:spPr>
          <a:xfrm>
            <a:off x="8214813" y="3189036"/>
            <a:ext cx="3388166" cy="276999"/>
          </a:xfrm>
          <a:prstGeom prst="rect">
            <a:avLst/>
          </a:prstGeom>
          <a:solidFill>
            <a:srgbClr val="1C58A0"/>
          </a:solidFill>
          <a:ln w="38100" cap="flat" cmpd="sng" algn="ctr">
            <a:noFill/>
            <a:prstDash val="solid"/>
            <a:miter lim="800000"/>
          </a:ln>
          <a:effectLst/>
        </p:spPr>
        <p:txBody>
          <a:bodyPr lIns="98755" tIns="49378" rIns="98755" bIns="49378" rtlCol="0" anchor="ctr"/>
          <a:lstStyle/>
          <a:p>
            <a:pPr algn="ctr" defTabSz="914400">
              <a:defRPr/>
            </a:pPr>
            <a:endParaRPr lang="zh-CN" altLang="en-US" sz="1945" kern="0">
              <a:solidFill>
                <a:srgbClr val="FFFFFF"/>
              </a:solidFill>
              <a:effectLst>
                <a:outerShdw blurRad="137160" dist="41148" dir="2699997" algn="tl">
                  <a:srgbClr val="000000">
                    <a:alpha val="40000"/>
                  </a:srgbClr>
                </a:outerShdw>
              </a:effectLst>
              <a:latin typeface="OPPOSans R" panose="00020600040101010101" pitchFamily="18" charset="-122"/>
              <a:ea typeface="OPPOSans R" panose="00020600040101010101" pitchFamily="18" charset="-122"/>
            </a:endParaRPr>
          </a:p>
        </p:txBody>
      </p:sp>
      <p:sp>
        <p:nvSpPr>
          <p:cNvPr id="58" name="文本框 57"/>
          <p:cNvSpPr txBox="1"/>
          <p:nvPr/>
        </p:nvSpPr>
        <p:spPr>
          <a:xfrm>
            <a:off x="8214814" y="2557920"/>
            <a:ext cx="3335647" cy="276999"/>
          </a:xfrm>
          <a:prstGeom prst="rect">
            <a:avLst/>
          </a:prstGeom>
          <a:noFill/>
        </p:spPr>
        <p:txBody>
          <a:bodyPr wrap="square"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pPr defTabSz="914400">
              <a:defRPr/>
            </a:pPr>
            <a:r>
              <a:rPr lang="zh-CN" altLang="en-US" sz="12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rPr>
              <a:t>算子模板库：基于模板提供算子完整实现</a:t>
            </a:r>
            <a:endParaRPr lang="zh-CN" altLang="en-US" sz="12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endParaRPr>
          </a:p>
        </p:txBody>
      </p:sp>
      <p:sp>
        <p:nvSpPr>
          <p:cNvPr id="59" name="文本框 58"/>
          <p:cNvSpPr txBox="1"/>
          <p:nvPr/>
        </p:nvSpPr>
        <p:spPr>
          <a:xfrm>
            <a:off x="8235101" y="3180841"/>
            <a:ext cx="3370784" cy="461665"/>
          </a:xfrm>
          <a:prstGeom prst="rect">
            <a:avLst/>
          </a:prstGeom>
          <a:noFill/>
        </p:spPr>
        <p:txBody>
          <a:bodyPr wrap="square"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pPr defTabSz="914400">
              <a:defRPr/>
            </a:pPr>
            <a:r>
              <a:rPr lang="zh-CN" altLang="en-US" sz="12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rPr>
              <a:t>高阶</a:t>
            </a:r>
            <a:r>
              <a:rPr lang="en-US" altLang="zh-CN" sz="12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rPr>
              <a:t>API: </a:t>
            </a:r>
            <a:r>
              <a:rPr lang="zh-CN" altLang="en-US" sz="12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rPr>
              <a:t>单核公共算法抽象</a:t>
            </a:r>
            <a:endParaRPr lang="zh-CN" altLang="en-US" sz="12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endParaRPr>
          </a:p>
          <a:p>
            <a:pPr defTabSz="914400">
              <a:defRPr/>
            </a:pPr>
            <a:endParaRPr lang="zh-CN" altLang="en-US" sz="12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endParaRPr>
          </a:p>
        </p:txBody>
      </p:sp>
      <p:sp>
        <p:nvSpPr>
          <p:cNvPr id="60" name="Arrow"/>
          <p:cNvSpPr/>
          <p:nvPr/>
        </p:nvSpPr>
        <p:spPr>
          <a:xfrm>
            <a:off x="2992803" y="3195168"/>
            <a:ext cx="5132015" cy="270867"/>
          </a:xfrm>
          <a:prstGeom prst="rightArrow">
            <a:avLst>
              <a:gd name="adj1" fmla="val 47695"/>
              <a:gd name="adj2" fmla="val 118485"/>
            </a:avLst>
          </a:prstGeom>
          <a:gradFill>
            <a:gsLst>
              <a:gs pos="0">
                <a:srgbClr val="247BAE">
                  <a:alpha val="0"/>
                </a:srgbClr>
              </a:gs>
              <a:gs pos="90000">
                <a:srgbClr val="247BAE"/>
              </a:gs>
            </a:gsLst>
          </a:gradFill>
          <a:ln w="12700">
            <a:miter lim="400000"/>
          </a:ln>
        </p:spPr>
        <p:txBody>
          <a:bodyPr lIns="0" tIns="0" rIns="0" bIns="0" anchor="ctr"/>
          <a:lstStyle/>
          <a:p>
            <a:pPr defTabSz="914400">
              <a:defRPr/>
            </a:pPr>
            <a:endParaRPr sz="900" kern="0">
              <a:solidFill>
                <a:prstClr val="black"/>
              </a:solidFill>
              <a:latin typeface="OPPOSans R" panose="00020600040101010101" pitchFamily="18" charset="-122"/>
              <a:ea typeface="OPPOSans R" panose="00020600040101010101" pitchFamily="18" charset="-122"/>
            </a:endParaRPr>
          </a:p>
        </p:txBody>
      </p:sp>
      <p:sp>
        <p:nvSpPr>
          <p:cNvPr id="61" name="文本框 60"/>
          <p:cNvSpPr txBox="1"/>
          <p:nvPr/>
        </p:nvSpPr>
        <p:spPr>
          <a:xfrm>
            <a:off x="8231608" y="5371257"/>
            <a:ext cx="3333169" cy="429861"/>
          </a:xfrm>
          <a:prstGeom prst="rect">
            <a:avLst/>
          </a:prstGeom>
          <a:noFill/>
        </p:spPr>
        <p:txBody>
          <a:bodyPr wrap="square" rtlCol="0">
            <a:spAutoFit/>
          </a:bodyPr>
          <a:lstStyle/>
          <a:p>
            <a:pPr marL="228600" indent="-228600" defTabSz="914400">
              <a:lnSpc>
                <a:spcPct val="114000"/>
              </a:lnSpc>
              <a:buFont typeface="+mj-ea"/>
              <a:buAutoNum type="circleNumDbPlain"/>
              <a:defRPr/>
            </a:pPr>
            <a:r>
              <a:rPr kumimoji="1" lang="zh-CN" altLang="en-US" sz="1000" b="1" kern="0" dirty="0">
                <a:solidFill>
                  <a:prstClr val="black"/>
                </a:solidFill>
                <a:latin typeface="微软雅黑" panose="020B0503020204020204" pitchFamily="34" charset="-122"/>
                <a:ea typeface="微软雅黑" panose="020B0503020204020204" pitchFamily="34" charset="-122"/>
                <a:cs typeface="OPPOSans R" panose="00020600040101010101" pitchFamily="18" charset="-122"/>
                <a:sym typeface="+mn-ea"/>
              </a:rPr>
              <a:t>提供与硬件一致的能力</a:t>
            </a:r>
            <a:r>
              <a:rPr kumimoji="1" lang="zh-CN" altLang="en-US" sz="1000" kern="0" dirty="0">
                <a:solidFill>
                  <a:prstClr val="black"/>
                </a:solidFill>
                <a:latin typeface="微软雅黑" panose="020B0503020204020204" pitchFamily="34" charset="-122"/>
                <a:ea typeface="微软雅黑" panose="020B0503020204020204" pitchFamily="34" charset="-122"/>
                <a:cs typeface="OPPOSans R" panose="00020600040101010101" pitchFamily="18" charset="-122"/>
                <a:sym typeface="+mn-ea"/>
              </a:rPr>
              <a:t>，每个功能一个单独的</a:t>
            </a:r>
            <a:r>
              <a:rPr kumimoji="1" lang="en-US" altLang="zh-CN" sz="1000" kern="0" dirty="0">
                <a:solidFill>
                  <a:prstClr val="black"/>
                </a:solidFill>
                <a:latin typeface="微软雅黑" panose="020B0503020204020204" pitchFamily="34" charset="-122"/>
                <a:ea typeface="微软雅黑" panose="020B0503020204020204" pitchFamily="34" charset="-122"/>
                <a:cs typeface="OPPOSans R" panose="00020600040101010101" pitchFamily="18" charset="-122"/>
                <a:sym typeface="+mn-ea"/>
              </a:rPr>
              <a:t>API</a:t>
            </a:r>
            <a:r>
              <a:rPr kumimoji="1" lang="zh-CN" altLang="en-US" sz="1000" kern="0" dirty="0">
                <a:solidFill>
                  <a:prstClr val="black"/>
                </a:solidFill>
                <a:latin typeface="微软雅黑" panose="020B0503020204020204" pitchFamily="34" charset="-122"/>
                <a:ea typeface="微软雅黑" panose="020B0503020204020204" pitchFamily="34" charset="-122"/>
                <a:cs typeface="OPPOSans R" panose="00020600040101010101" pitchFamily="18" charset="-122"/>
                <a:sym typeface="+mn-ea"/>
              </a:rPr>
              <a:t>；</a:t>
            </a:r>
            <a:endParaRPr kumimoji="1" lang="en-US" altLang="zh-CN" sz="1000" kern="0" dirty="0">
              <a:solidFill>
                <a:prstClr val="black"/>
              </a:solidFill>
              <a:latin typeface="微软雅黑" panose="020B0503020204020204" pitchFamily="34" charset="-122"/>
              <a:ea typeface="微软雅黑" panose="020B0503020204020204" pitchFamily="34" charset="-122"/>
              <a:cs typeface="OPPOSans R" panose="00020600040101010101" pitchFamily="18" charset="-122"/>
              <a:sym typeface="+mn-ea"/>
            </a:endParaRPr>
          </a:p>
          <a:p>
            <a:pPr marL="228600" indent="-228600" defTabSz="914400">
              <a:lnSpc>
                <a:spcPct val="114000"/>
              </a:lnSpc>
              <a:buFont typeface="+mj-ea"/>
              <a:buAutoNum type="circleNumDbPlain"/>
              <a:defRPr/>
            </a:pPr>
            <a:r>
              <a:rPr kumimoji="1" lang="zh-CN" altLang="en-US" sz="1000" kern="0" dirty="0">
                <a:solidFill>
                  <a:prstClr val="black"/>
                </a:solidFill>
                <a:latin typeface="微软雅黑" panose="020B0503020204020204" pitchFamily="34" charset="-122"/>
                <a:ea typeface="微软雅黑" panose="020B0503020204020204" pitchFamily="34" charset="-122"/>
                <a:cs typeface="OPPOSans R" panose="00020600040101010101" pitchFamily="18" charset="-122"/>
                <a:sym typeface="+mn-ea"/>
              </a:rPr>
              <a:t>支持</a:t>
            </a:r>
            <a:r>
              <a:rPr kumimoji="1" lang="en-US" altLang="zh-CN" sz="1000" b="1" kern="0" dirty="0">
                <a:solidFill>
                  <a:prstClr val="black"/>
                </a:solidFill>
                <a:latin typeface="微软雅黑" panose="020B0503020204020204" pitchFamily="34" charset="-122"/>
                <a:ea typeface="微软雅黑" panose="020B0503020204020204" pitchFamily="34" charset="-122"/>
                <a:cs typeface="OPPOSans R" panose="00020600040101010101" pitchFamily="18" charset="-122"/>
                <a:sym typeface="+mn-ea"/>
              </a:rPr>
              <a:t>SIMD&amp;SIMT</a:t>
            </a:r>
            <a:r>
              <a:rPr kumimoji="1" lang="zh-CN" altLang="en-US" sz="1000" kern="0" dirty="0">
                <a:solidFill>
                  <a:prstClr val="black"/>
                </a:solidFill>
                <a:latin typeface="微软雅黑" panose="020B0503020204020204" pitchFamily="34" charset="-122"/>
                <a:ea typeface="微软雅黑" panose="020B0503020204020204" pitchFamily="34" charset="-122"/>
                <a:cs typeface="OPPOSans R" panose="00020600040101010101" pitchFamily="18" charset="-122"/>
                <a:sym typeface="+mn-ea"/>
              </a:rPr>
              <a:t>；</a:t>
            </a:r>
            <a:endParaRPr lang="tr-TR" altLang="x-none" sz="1000" dirty="0">
              <a:solidFill>
                <a:prstClr val="black"/>
              </a:solidFill>
              <a:latin typeface="OPPOSans R" panose="00020600040101010101" pitchFamily="18" charset="-122"/>
              <a:ea typeface="OPPOSans R" panose="00020600040101010101" pitchFamily="18" charset="-122"/>
              <a:cs typeface="OPPOSans R" panose="00020600040101010101" pitchFamily="18" charset="-122"/>
            </a:endParaRPr>
          </a:p>
        </p:txBody>
      </p:sp>
      <p:sp>
        <p:nvSpPr>
          <p:cNvPr id="62" name="矩形 61"/>
          <p:cNvSpPr/>
          <p:nvPr/>
        </p:nvSpPr>
        <p:spPr>
          <a:xfrm>
            <a:off x="8206709" y="1490077"/>
            <a:ext cx="3327728" cy="276999"/>
          </a:xfrm>
          <a:prstGeom prst="rect">
            <a:avLst/>
          </a:prstGeom>
        </p:spPr>
        <p:txBody>
          <a:bodyPr wrap="square">
            <a:spAutoFit/>
          </a:bodyPr>
          <a:lstStyle/>
          <a:p>
            <a:pPr defTabSz="914400">
              <a:defRPr/>
            </a:pPr>
            <a:r>
              <a:rPr lang="zh-CN" altLang="en-US" sz="12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rPr>
              <a:t>提供</a:t>
            </a:r>
            <a:r>
              <a:rPr lang="en-US" altLang="zh-CN" sz="12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rPr>
              <a:t>Python</a:t>
            </a:r>
            <a:r>
              <a:rPr lang="zh-CN" altLang="en-US" sz="12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rPr>
              <a:t>完备编程能力，支撑实现极致性能</a:t>
            </a:r>
            <a:endParaRPr lang="zh-CN" altLang="en-US" sz="12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endParaRPr>
          </a:p>
        </p:txBody>
      </p:sp>
      <p:sp>
        <p:nvSpPr>
          <p:cNvPr id="63" name="文本框 62"/>
          <p:cNvSpPr txBox="1"/>
          <p:nvPr/>
        </p:nvSpPr>
        <p:spPr>
          <a:xfrm>
            <a:off x="8189695" y="1737534"/>
            <a:ext cx="3381941" cy="254429"/>
          </a:xfrm>
          <a:prstGeom prst="rect">
            <a:avLst/>
          </a:prstGeom>
          <a:noFill/>
        </p:spPr>
        <p:txBody>
          <a:bodyPr wrap="square" rtlCol="0">
            <a:spAutoFit/>
          </a:bodyPr>
          <a:lstStyle/>
          <a:p>
            <a:pPr marL="228600" indent="-228600" defTabSz="914400">
              <a:lnSpc>
                <a:spcPct val="114000"/>
              </a:lnSpc>
              <a:buFont typeface="+mj-ea"/>
              <a:buAutoNum type="circleNumDbPlain"/>
              <a:defRPr/>
            </a:pPr>
            <a:r>
              <a:rPr kumimoji="1" lang="en-US" altLang="zh-CN" sz="1000" kern="0" dirty="0">
                <a:solidFill>
                  <a:prstClr val="black"/>
                </a:solidFill>
                <a:latin typeface="微软雅黑" panose="020B0503020204020204" pitchFamily="34" charset="-122"/>
                <a:ea typeface="微软雅黑" panose="020B0503020204020204" pitchFamily="34" charset="-122"/>
                <a:sym typeface="+mn-ea"/>
              </a:rPr>
              <a:t>Python</a:t>
            </a:r>
            <a:r>
              <a:rPr kumimoji="1" lang="zh-CN" altLang="en-US" sz="1000" kern="0" dirty="0">
                <a:solidFill>
                  <a:prstClr val="black"/>
                </a:solidFill>
                <a:latin typeface="微软雅黑" panose="020B0503020204020204" pitchFamily="34" charset="-122"/>
                <a:ea typeface="微软雅黑" panose="020B0503020204020204" pitchFamily="34" charset="-122"/>
                <a:sym typeface="+mn-ea"/>
              </a:rPr>
              <a:t>前端完备编程能力，含</a:t>
            </a:r>
            <a:r>
              <a:rPr kumimoji="1" lang="en-US" altLang="zh-CN" sz="1000" b="1" kern="0" dirty="0">
                <a:solidFill>
                  <a:prstClr val="black"/>
                </a:solidFill>
                <a:latin typeface="微软雅黑" panose="020B0503020204020204" pitchFamily="34" charset="-122"/>
                <a:ea typeface="微软雅黑" panose="020B0503020204020204" pitchFamily="34" charset="-122"/>
                <a:sym typeface="+mn-ea"/>
              </a:rPr>
              <a:t>Tensor/SIMT</a:t>
            </a:r>
            <a:r>
              <a:rPr kumimoji="1" lang="zh-CN" altLang="en-US" sz="1000" kern="0" dirty="0">
                <a:solidFill>
                  <a:prstClr val="black"/>
                </a:solidFill>
                <a:latin typeface="微软雅黑" panose="020B0503020204020204" pitchFamily="34" charset="-122"/>
                <a:ea typeface="微软雅黑" panose="020B0503020204020204" pitchFamily="34" charset="-122"/>
                <a:sym typeface="+mn-ea"/>
              </a:rPr>
              <a:t>编程</a:t>
            </a:r>
            <a:r>
              <a:rPr kumimoji="1" lang="zh-CN" altLang="en-US" sz="1000" kern="0" spc="125" dirty="0">
                <a:solidFill>
                  <a:prstClr val="black"/>
                </a:solidFill>
                <a:latin typeface="微软雅黑" panose="020B0503020204020204" pitchFamily="34" charset="-122"/>
                <a:ea typeface="微软雅黑" panose="020B0503020204020204" pitchFamily="34" charset="-122"/>
                <a:sym typeface="+mn-ea"/>
              </a:rPr>
              <a:t>；</a:t>
            </a:r>
            <a:endParaRPr lang="tr-TR" altLang="x-none" sz="1000" dirty="0">
              <a:solidFill>
                <a:srgbClr val="313131">
                  <a:alpha val="65000"/>
                </a:srgbClr>
              </a:solidFill>
              <a:latin typeface="OPPOSans R" panose="00020600040101010101" pitchFamily="18" charset="-122"/>
              <a:ea typeface="OPPOSans R" panose="00020600040101010101" pitchFamily="18" charset="-122"/>
              <a:cs typeface="OPPOSans R" panose="00020600040101010101" pitchFamily="18" charset="-122"/>
            </a:endParaRPr>
          </a:p>
        </p:txBody>
      </p:sp>
      <p:sp>
        <p:nvSpPr>
          <p:cNvPr id="64" name="文本框 63"/>
          <p:cNvSpPr txBox="1"/>
          <p:nvPr/>
        </p:nvSpPr>
        <p:spPr>
          <a:xfrm>
            <a:off x="5325504" y="3054920"/>
            <a:ext cx="682296" cy="1698221"/>
          </a:xfrm>
          <a:prstGeom prst="rect">
            <a:avLst/>
          </a:prstGeom>
          <a:solidFill>
            <a:srgbClr val="1A9FBA">
              <a:alpha val="5000"/>
            </a:srgbClr>
          </a:solidFill>
          <a:ln w="12700" cap="flat" cmpd="sng" algn="ctr">
            <a:noFill/>
            <a:prstDash val="solid"/>
            <a:miter lim="800000"/>
          </a:ln>
          <a:effectLst/>
        </p:spPr>
        <p:txBody>
          <a:bodyPr rtlCol="0" anchor="ctr"/>
          <a:lstStyle>
            <a:defPPr>
              <a:defRPr lang="zh-CN"/>
            </a:defPPr>
            <a:lvl1pPr marR="0" lvl="0" indent="0" algn="ctr" fontAlgn="auto">
              <a:lnSpc>
                <a:spcPct val="100000"/>
              </a:lnSpc>
              <a:spcBef>
                <a:spcPts val="0"/>
              </a:spcBef>
              <a:spcAft>
                <a:spcPts val="0"/>
              </a:spcAft>
              <a:buClrTx/>
              <a:buSzTx/>
              <a:buFontTx/>
              <a:buNone/>
              <a:defRPr kumimoji="1" b="0" i="0" u="none" strike="noStrike" kern="0" cap="none" spc="0" normalizeH="0" baseline="0">
                <a:ln>
                  <a:noFill/>
                </a:ln>
                <a:solidFill>
                  <a:srgbClr val="313131"/>
                </a:solidFill>
                <a:effectLst/>
                <a:uLnTx/>
                <a:uFillTx/>
                <a:latin typeface="微软雅黑" panose="020B0503020204020204" pitchFamily="34" charset="-122"/>
                <a:ea typeface="微软雅黑" panose="020B0503020204020204" pitchFamily="34" charset="-122"/>
              </a:defRPr>
            </a:lvl1pPr>
          </a:lstStyle>
          <a:p>
            <a:pPr defTabSz="914400"/>
            <a:r>
              <a:rPr lang="en-US" altLang="zh-CN" sz="1200" b="1" dirty="0" err="1"/>
              <a:t>asc</a:t>
            </a:r>
            <a:r>
              <a:rPr lang="en-US" altLang="zh-CN" sz="1200" b="1" dirty="0"/>
              <a:t>-comm</a:t>
            </a:r>
            <a:endParaRPr lang="en-US" sz="1200" b="1" dirty="0"/>
          </a:p>
        </p:txBody>
      </p:sp>
      <p:sp>
        <p:nvSpPr>
          <p:cNvPr id="65" name="矩形 64"/>
          <p:cNvSpPr/>
          <p:nvPr/>
        </p:nvSpPr>
        <p:spPr>
          <a:xfrm>
            <a:off x="2293487" y="5990009"/>
            <a:ext cx="7407689" cy="784830"/>
          </a:xfrm>
          <a:prstGeom prst="rect">
            <a:avLst/>
          </a:prstGeom>
        </p:spPr>
        <p:txBody>
          <a:bodyPr wrap="square">
            <a:spAutoFit/>
          </a:bodyPr>
          <a:lstStyle/>
          <a:p>
            <a:pPr defTabSz="914400"/>
            <a:r>
              <a:rPr kumimoji="1" lang="zh-CN" altLang="en-US" sz="900" kern="0" dirty="0">
                <a:solidFill>
                  <a:srgbClr val="C00000"/>
                </a:solidFill>
                <a:latin typeface="微软雅黑" panose="020B0503020204020204" pitchFamily="34" charset="-122"/>
                <a:ea typeface="微软雅黑" panose="020B0503020204020204" pitchFamily="34" charset="-122"/>
                <a:cs typeface="OPPOSans R" panose="00020600040101010101" pitchFamily="18" charset="-122"/>
                <a:sym typeface="+mn-ea"/>
              </a:rPr>
              <a:t>注释：</a:t>
            </a:r>
            <a:endParaRPr kumimoji="1" lang="en-US" altLang="zh-CN" sz="900" kern="0" dirty="0">
              <a:solidFill>
                <a:srgbClr val="C00000"/>
              </a:solidFill>
              <a:latin typeface="微软雅黑" panose="020B0503020204020204" pitchFamily="34" charset="-122"/>
              <a:ea typeface="微软雅黑" panose="020B0503020204020204" pitchFamily="34" charset="-122"/>
              <a:cs typeface="OPPOSans R" panose="00020600040101010101" pitchFamily="18" charset="-122"/>
              <a:sym typeface="+mn-ea"/>
            </a:endParaRPr>
          </a:p>
          <a:p>
            <a:pPr marL="228600" indent="-228600" defTabSz="914400">
              <a:buFont typeface="+mj-ea"/>
              <a:buAutoNum type="circleNumDbPlain"/>
            </a:pPr>
            <a:r>
              <a:rPr kumimoji="1" lang="en-US" altLang="zh-CN" sz="900" kern="0" dirty="0" err="1">
                <a:solidFill>
                  <a:srgbClr val="C00000"/>
                </a:solidFill>
                <a:latin typeface="微软雅黑" panose="020B0503020204020204" pitchFamily="34" charset="-122"/>
                <a:ea typeface="微软雅黑" panose="020B0503020204020204" pitchFamily="34" charset="-122"/>
                <a:cs typeface="OPPOSans R" panose="00020600040101010101" pitchFamily="18" charset="-122"/>
                <a:sym typeface="+mn-ea"/>
              </a:rPr>
              <a:t>asc-stl</a:t>
            </a:r>
            <a:r>
              <a:rPr kumimoji="1" lang="zh-CN" altLang="en-US" sz="900" kern="0" dirty="0">
                <a:solidFill>
                  <a:srgbClr val="C00000"/>
                </a:solidFill>
                <a:latin typeface="微软雅黑" panose="020B0503020204020204" pitchFamily="34" charset="-122"/>
                <a:ea typeface="微软雅黑" panose="020B0503020204020204" pitchFamily="34" charset="-122"/>
                <a:cs typeface="OPPOSans R" panose="00020600040101010101" pitchFamily="18" charset="-122"/>
                <a:sym typeface="+mn-ea"/>
              </a:rPr>
              <a:t>仓适配</a:t>
            </a:r>
            <a:r>
              <a:rPr kumimoji="1" lang="en-US" altLang="zh-CN" sz="900" kern="0" dirty="0" err="1">
                <a:solidFill>
                  <a:srgbClr val="C00000"/>
                </a:solidFill>
                <a:latin typeface="微软雅黑" panose="020B0503020204020204" pitchFamily="34" charset="-122"/>
                <a:ea typeface="微软雅黑" panose="020B0503020204020204" pitchFamily="34" charset="-122"/>
                <a:cs typeface="OPPOSans R" panose="00020600040101010101" pitchFamily="18" charset="-122"/>
                <a:sym typeface="+mn-ea"/>
              </a:rPr>
              <a:t>c++</a:t>
            </a:r>
            <a:r>
              <a:rPr kumimoji="1" lang="en-US" altLang="zh-CN" sz="900" kern="0" dirty="0">
                <a:solidFill>
                  <a:srgbClr val="C00000"/>
                </a:solidFill>
                <a:latin typeface="微软雅黑" panose="020B0503020204020204" pitchFamily="34" charset="-122"/>
                <a:ea typeface="微软雅黑" panose="020B0503020204020204" pitchFamily="34" charset="-122"/>
                <a:cs typeface="OPPOSans R" panose="00020600040101010101" pitchFamily="18" charset="-122"/>
                <a:sym typeface="+mn-ea"/>
              </a:rPr>
              <a:t> </a:t>
            </a:r>
            <a:r>
              <a:rPr kumimoji="1" lang="zh-CN" altLang="en-US" sz="900" kern="0" dirty="0">
                <a:solidFill>
                  <a:srgbClr val="C00000"/>
                </a:solidFill>
                <a:latin typeface="微软雅黑" panose="020B0503020204020204" pitchFamily="34" charset="-122"/>
                <a:ea typeface="微软雅黑" panose="020B0503020204020204" pitchFamily="34" charset="-122"/>
                <a:cs typeface="OPPOSans R" panose="00020600040101010101" pitchFamily="18" charset="-122"/>
                <a:sym typeface="+mn-ea"/>
              </a:rPr>
              <a:t>标准库，与高校一起联创；</a:t>
            </a:r>
            <a:endParaRPr kumimoji="1" lang="en-US" altLang="zh-CN" sz="900" kern="0" dirty="0">
              <a:solidFill>
                <a:srgbClr val="C00000"/>
              </a:solidFill>
              <a:latin typeface="微软雅黑" panose="020B0503020204020204" pitchFamily="34" charset="-122"/>
              <a:ea typeface="微软雅黑" panose="020B0503020204020204" pitchFamily="34" charset="-122"/>
              <a:cs typeface="OPPOSans R" panose="00020600040101010101" pitchFamily="18" charset="-122"/>
              <a:sym typeface="+mn-ea"/>
            </a:endParaRPr>
          </a:p>
          <a:p>
            <a:pPr marL="228600" indent="-228600" defTabSz="914400">
              <a:buFont typeface="+mj-ea"/>
              <a:buAutoNum type="circleNumDbPlain"/>
            </a:pPr>
            <a:r>
              <a:rPr kumimoji="1" lang="en-US" altLang="zh-CN" sz="900" kern="0" dirty="0" err="1">
                <a:solidFill>
                  <a:srgbClr val="C00000"/>
                </a:solidFill>
                <a:latin typeface="微软雅黑" panose="020B0503020204020204" pitchFamily="34" charset="-122"/>
                <a:ea typeface="微软雅黑" panose="020B0503020204020204" pitchFamily="34" charset="-122"/>
                <a:cs typeface="OPPOSans R" panose="00020600040101010101" pitchFamily="18" charset="-122"/>
                <a:sym typeface="+mn-ea"/>
              </a:rPr>
              <a:t>asc-mathdx</a:t>
            </a:r>
            <a:r>
              <a:rPr kumimoji="1" lang="zh-CN" altLang="en-US" sz="900" kern="0" dirty="0">
                <a:solidFill>
                  <a:srgbClr val="C00000"/>
                </a:solidFill>
                <a:latin typeface="微软雅黑" panose="020B0503020204020204" pitchFamily="34" charset="-122"/>
                <a:ea typeface="微软雅黑" panose="020B0503020204020204" pitchFamily="34" charset="-122"/>
                <a:cs typeface="OPPOSans R" panose="00020600040101010101" pitchFamily="18" charset="-122"/>
                <a:sym typeface="+mn-ea"/>
              </a:rPr>
              <a:t>支持</a:t>
            </a:r>
            <a:r>
              <a:rPr kumimoji="1" lang="en-US" altLang="zh-CN" sz="900" kern="0" dirty="0" err="1">
                <a:solidFill>
                  <a:srgbClr val="C00000"/>
                </a:solidFill>
                <a:latin typeface="微软雅黑" panose="020B0503020204020204" pitchFamily="34" charset="-122"/>
                <a:ea typeface="微软雅黑" panose="020B0503020204020204" pitchFamily="34" charset="-122"/>
                <a:cs typeface="OPPOSans R" panose="00020600040101010101" pitchFamily="18" charset="-122"/>
                <a:sym typeface="+mn-ea"/>
              </a:rPr>
              <a:t>blasdx</a:t>
            </a:r>
            <a:r>
              <a:rPr kumimoji="1" lang="zh-CN" altLang="en-US" sz="900" kern="0" dirty="0">
                <a:solidFill>
                  <a:srgbClr val="C00000"/>
                </a:solidFill>
                <a:latin typeface="微软雅黑" panose="020B0503020204020204" pitchFamily="34" charset="-122"/>
                <a:ea typeface="微软雅黑" panose="020B0503020204020204" pitchFamily="34" charset="-122"/>
                <a:cs typeface="OPPOSans R" panose="00020600040101010101" pitchFamily="18" charset="-122"/>
                <a:sym typeface="+mn-ea"/>
              </a:rPr>
              <a:t>、</a:t>
            </a:r>
            <a:r>
              <a:rPr kumimoji="1" lang="en-US" altLang="zh-CN" sz="900" kern="0" dirty="0" err="1">
                <a:solidFill>
                  <a:srgbClr val="C00000"/>
                </a:solidFill>
                <a:latin typeface="微软雅黑" panose="020B0503020204020204" pitchFamily="34" charset="-122"/>
                <a:ea typeface="微软雅黑" panose="020B0503020204020204" pitchFamily="34" charset="-122"/>
                <a:cs typeface="OPPOSans R" panose="00020600040101010101" pitchFamily="18" charset="-122"/>
                <a:sym typeface="+mn-ea"/>
              </a:rPr>
              <a:t>solverdx</a:t>
            </a:r>
            <a:r>
              <a:rPr kumimoji="1" lang="zh-CN" altLang="en-US" sz="900" kern="0" dirty="0">
                <a:solidFill>
                  <a:srgbClr val="C00000"/>
                </a:solidFill>
                <a:latin typeface="微软雅黑" panose="020B0503020204020204" pitchFamily="34" charset="-122"/>
                <a:ea typeface="微软雅黑" panose="020B0503020204020204" pitchFamily="34" charset="-122"/>
                <a:cs typeface="OPPOSans R" panose="00020600040101010101" pitchFamily="18" charset="-122"/>
                <a:sym typeface="+mn-ea"/>
              </a:rPr>
              <a:t>、</a:t>
            </a:r>
            <a:r>
              <a:rPr kumimoji="1" lang="en-US" altLang="zh-CN" sz="900" kern="0" dirty="0" err="1">
                <a:solidFill>
                  <a:srgbClr val="C00000"/>
                </a:solidFill>
                <a:latin typeface="微软雅黑" panose="020B0503020204020204" pitchFamily="34" charset="-122"/>
                <a:ea typeface="微软雅黑" panose="020B0503020204020204" pitchFamily="34" charset="-122"/>
                <a:cs typeface="OPPOSans R" panose="00020600040101010101" pitchFamily="18" charset="-122"/>
                <a:sym typeface="+mn-ea"/>
              </a:rPr>
              <a:t>fftdx</a:t>
            </a:r>
            <a:r>
              <a:rPr kumimoji="1" lang="zh-CN" altLang="en-US" sz="900" kern="0" dirty="0">
                <a:solidFill>
                  <a:srgbClr val="C00000"/>
                </a:solidFill>
                <a:latin typeface="微软雅黑" panose="020B0503020204020204" pitchFamily="34" charset="-122"/>
                <a:ea typeface="微软雅黑" panose="020B0503020204020204" pitchFamily="34" charset="-122"/>
                <a:cs typeface="OPPOSans R" panose="00020600040101010101" pitchFamily="18" charset="-122"/>
                <a:sym typeface="+mn-ea"/>
              </a:rPr>
              <a:t>等，与高校一起联创；</a:t>
            </a:r>
            <a:endParaRPr kumimoji="1" lang="en-US" altLang="zh-CN" sz="900" kern="0" dirty="0">
              <a:solidFill>
                <a:srgbClr val="C00000"/>
              </a:solidFill>
              <a:latin typeface="微软雅黑" panose="020B0503020204020204" pitchFamily="34" charset="-122"/>
              <a:ea typeface="微软雅黑" panose="020B0503020204020204" pitchFamily="34" charset="-122"/>
              <a:cs typeface="OPPOSans R" panose="00020600040101010101" pitchFamily="18" charset="-122"/>
              <a:sym typeface="+mn-ea"/>
            </a:endParaRPr>
          </a:p>
          <a:p>
            <a:pPr marL="228600" indent="-228600" defTabSz="914400">
              <a:buFont typeface="+mj-ea"/>
              <a:buAutoNum type="circleNumDbPlain"/>
            </a:pPr>
            <a:r>
              <a:rPr kumimoji="1" lang="en-US" altLang="zh-CN" sz="900" kern="0" dirty="0" err="1">
                <a:solidFill>
                  <a:srgbClr val="C00000"/>
                </a:solidFill>
                <a:latin typeface="微软雅黑" panose="020B0503020204020204" pitchFamily="34" charset="-122"/>
                <a:ea typeface="微软雅黑" panose="020B0503020204020204" pitchFamily="34" charset="-122"/>
                <a:cs typeface="OPPOSans R" panose="00020600040101010101" pitchFamily="18" charset="-122"/>
                <a:sym typeface="+mn-ea"/>
              </a:rPr>
              <a:t>Pyasc</a:t>
            </a:r>
            <a:r>
              <a:rPr kumimoji="1" lang="en-US" altLang="zh-CN" sz="900" kern="0" dirty="0">
                <a:solidFill>
                  <a:srgbClr val="C00000"/>
                </a:solidFill>
                <a:latin typeface="微软雅黑" panose="020B0503020204020204" pitchFamily="34" charset="-122"/>
                <a:ea typeface="微软雅黑" panose="020B0503020204020204" pitchFamily="34" charset="-122"/>
                <a:cs typeface="OPPOSans R" panose="00020600040101010101" pitchFamily="18" charset="-122"/>
                <a:sym typeface="+mn-ea"/>
              </a:rPr>
              <a:t> </a:t>
            </a:r>
            <a:r>
              <a:rPr kumimoji="1" lang="zh-CN" altLang="en-US" sz="900" kern="0" dirty="0">
                <a:solidFill>
                  <a:srgbClr val="C00000"/>
                </a:solidFill>
                <a:latin typeface="微软雅黑" panose="020B0503020204020204" pitchFamily="34" charset="-122"/>
                <a:ea typeface="微软雅黑" panose="020B0503020204020204" pitchFamily="34" charset="-122"/>
                <a:cs typeface="OPPOSans R" panose="00020600040101010101" pitchFamily="18" charset="-122"/>
                <a:sym typeface="+mn-ea"/>
              </a:rPr>
              <a:t>支持</a:t>
            </a:r>
            <a:r>
              <a:rPr kumimoji="1" lang="en-US" altLang="zh-CN" sz="900" kern="0" dirty="0">
                <a:solidFill>
                  <a:srgbClr val="C00000"/>
                </a:solidFill>
                <a:latin typeface="微软雅黑" panose="020B0503020204020204" pitchFamily="34" charset="-122"/>
                <a:ea typeface="微软雅黑" panose="020B0503020204020204" pitchFamily="34" charset="-122"/>
                <a:cs typeface="OPPOSans R" panose="00020600040101010101" pitchFamily="18" charset="-122"/>
                <a:sym typeface="+mn-ea"/>
              </a:rPr>
              <a:t>Tensor</a:t>
            </a:r>
            <a:r>
              <a:rPr kumimoji="1" lang="zh-CN" altLang="en-US" sz="900" kern="0" dirty="0">
                <a:solidFill>
                  <a:srgbClr val="C00000"/>
                </a:solidFill>
                <a:latin typeface="微软雅黑" panose="020B0503020204020204" pitchFamily="34" charset="-122"/>
                <a:ea typeface="微软雅黑" panose="020B0503020204020204" pitchFamily="34" charset="-122"/>
                <a:cs typeface="OPPOSans R" panose="00020600040101010101" pitchFamily="18" charset="-122"/>
                <a:sym typeface="+mn-ea"/>
              </a:rPr>
              <a:t>、</a:t>
            </a:r>
            <a:r>
              <a:rPr kumimoji="1" lang="en-US" altLang="zh-CN" sz="900" kern="0" dirty="0">
                <a:solidFill>
                  <a:srgbClr val="C00000"/>
                </a:solidFill>
                <a:latin typeface="微软雅黑" panose="020B0503020204020204" pitchFamily="34" charset="-122"/>
                <a:ea typeface="微软雅黑" panose="020B0503020204020204" pitchFamily="34" charset="-122"/>
                <a:cs typeface="OPPOSans R" panose="00020600040101010101" pitchFamily="18" charset="-122"/>
                <a:sym typeface="+mn-ea"/>
              </a:rPr>
              <a:t>SIMT</a:t>
            </a:r>
            <a:r>
              <a:rPr kumimoji="1" lang="zh-CN" altLang="en-US" sz="900" kern="0" dirty="0">
                <a:solidFill>
                  <a:srgbClr val="C00000"/>
                </a:solidFill>
                <a:latin typeface="微软雅黑" panose="020B0503020204020204" pitchFamily="34" charset="-122"/>
                <a:ea typeface="微软雅黑" panose="020B0503020204020204" pitchFamily="34" charset="-122"/>
                <a:cs typeface="OPPOSans R" panose="00020600040101010101" pitchFamily="18" charset="-122"/>
                <a:sym typeface="+mn-ea"/>
              </a:rPr>
              <a:t>编程，与高校一起联创；</a:t>
            </a:r>
            <a:endParaRPr kumimoji="1" lang="en-US" altLang="zh-CN" sz="900" kern="0" dirty="0">
              <a:solidFill>
                <a:srgbClr val="C00000"/>
              </a:solidFill>
              <a:latin typeface="微软雅黑" panose="020B0503020204020204" pitchFamily="34" charset="-122"/>
              <a:ea typeface="微软雅黑" panose="020B0503020204020204" pitchFamily="34" charset="-122"/>
              <a:cs typeface="OPPOSans R" panose="00020600040101010101" pitchFamily="18" charset="-122"/>
              <a:sym typeface="+mn-ea"/>
            </a:endParaRPr>
          </a:p>
          <a:p>
            <a:pPr marL="228600" indent="-228600" defTabSz="914400">
              <a:buFont typeface="+mj-ea"/>
              <a:buAutoNum type="circleNumDbPlain"/>
            </a:pPr>
            <a:r>
              <a:rPr kumimoji="1" lang="en-US" altLang="zh-CN" sz="900" kern="0" dirty="0" err="1">
                <a:solidFill>
                  <a:srgbClr val="C00000"/>
                </a:solidFill>
                <a:latin typeface="微软雅黑" panose="020B0503020204020204" pitchFamily="34" charset="-122"/>
                <a:ea typeface="微软雅黑" panose="020B0503020204020204" pitchFamily="34" charset="-122"/>
                <a:cs typeface="OPPOSans R" panose="00020600040101010101" pitchFamily="18" charset="-122"/>
                <a:sym typeface="+mn-ea"/>
              </a:rPr>
              <a:t>asc</a:t>
            </a:r>
            <a:r>
              <a:rPr kumimoji="1" lang="en-US" altLang="zh-CN" sz="900" kern="0" dirty="0">
                <a:solidFill>
                  <a:srgbClr val="C00000"/>
                </a:solidFill>
                <a:latin typeface="微软雅黑" panose="020B0503020204020204" pitchFamily="34" charset="-122"/>
                <a:ea typeface="微软雅黑" panose="020B0503020204020204" pitchFamily="34" charset="-122"/>
                <a:cs typeface="OPPOSans R" panose="00020600040101010101" pitchFamily="18" charset="-122"/>
                <a:sym typeface="+mn-ea"/>
              </a:rPr>
              <a:t>-comm</a:t>
            </a:r>
            <a:r>
              <a:rPr kumimoji="1" lang="zh-CN" altLang="en-US" sz="900" kern="0" dirty="0">
                <a:solidFill>
                  <a:srgbClr val="C00000"/>
                </a:solidFill>
                <a:latin typeface="微软雅黑" panose="020B0503020204020204" pitchFamily="34" charset="-122"/>
                <a:ea typeface="微软雅黑" panose="020B0503020204020204" pitchFamily="34" charset="-122"/>
                <a:cs typeface="OPPOSans R" panose="00020600040101010101" pitchFamily="18" charset="-122"/>
                <a:sym typeface="+mn-ea"/>
              </a:rPr>
              <a:t>仓提供通信基础编程能力，预计</a:t>
            </a:r>
            <a:r>
              <a:rPr kumimoji="1" lang="en-US" altLang="zh-CN" sz="900" kern="0" dirty="0">
                <a:solidFill>
                  <a:srgbClr val="C00000"/>
                </a:solidFill>
                <a:latin typeface="微软雅黑" panose="020B0503020204020204" pitchFamily="34" charset="-122"/>
                <a:ea typeface="微软雅黑" panose="020B0503020204020204" pitchFamily="34" charset="-122"/>
                <a:cs typeface="OPPOSans R" panose="00020600040101010101" pitchFamily="18" charset="-122"/>
                <a:sym typeface="+mn-ea"/>
              </a:rPr>
              <a:t>2026/12</a:t>
            </a:r>
            <a:r>
              <a:rPr kumimoji="1" lang="zh-CN" altLang="en-US" sz="900" kern="0" dirty="0">
                <a:solidFill>
                  <a:srgbClr val="C00000"/>
                </a:solidFill>
                <a:latin typeface="微软雅黑" panose="020B0503020204020204" pitchFamily="34" charset="-122"/>
                <a:ea typeface="微软雅黑" panose="020B0503020204020204" pitchFamily="34" charset="-122"/>
                <a:cs typeface="OPPOSans R" panose="00020600040101010101" pitchFamily="18" charset="-122"/>
                <a:sym typeface="+mn-ea"/>
              </a:rPr>
              <a:t>前对外发布</a:t>
            </a:r>
            <a:endParaRPr lang="zh-CN" altLang="en-US" sz="900" dirty="0">
              <a:solidFill>
                <a:srgbClr val="C00000"/>
              </a:solidFill>
              <a:latin typeface="等线" panose="02010600030101010101" charset="-122"/>
              <a:ea typeface="等线" panose="02010600030101010101" charset="-122"/>
            </a:endParaRPr>
          </a:p>
        </p:txBody>
      </p:sp>
      <p:sp>
        <p:nvSpPr>
          <p:cNvPr id="66" name="文本框 65"/>
          <p:cNvSpPr txBox="1"/>
          <p:nvPr/>
        </p:nvSpPr>
        <p:spPr>
          <a:xfrm>
            <a:off x="1281459" y="3724978"/>
            <a:ext cx="3263019" cy="388877"/>
          </a:xfrm>
          <a:prstGeom prst="rect">
            <a:avLst/>
          </a:prstGeom>
          <a:solidFill>
            <a:srgbClr val="1A9FBA">
              <a:alpha val="5000"/>
            </a:srgbClr>
          </a:solidFill>
          <a:ln w="12700" cap="flat" cmpd="sng" algn="ctr">
            <a:noFill/>
            <a:prstDash val="solid"/>
            <a:miter lim="800000"/>
          </a:ln>
          <a:effectLst/>
        </p:spPr>
        <p:txBody>
          <a:bodyPr rtlCol="0" anchor="ctr"/>
          <a:lstStyle>
            <a:defPPr>
              <a:defRPr lang="zh-CN"/>
            </a:defPPr>
            <a:lvl1pPr marR="0" lvl="0" indent="0" algn="ctr" fontAlgn="auto">
              <a:lnSpc>
                <a:spcPct val="100000"/>
              </a:lnSpc>
              <a:spcBef>
                <a:spcPts val="0"/>
              </a:spcBef>
              <a:spcAft>
                <a:spcPts val="0"/>
              </a:spcAft>
              <a:buClrTx/>
              <a:buSzTx/>
              <a:buFontTx/>
              <a:buNone/>
              <a:defRPr kumimoji="1" sz="1400" b="0" i="0" u="none" strike="noStrike" kern="0" cap="none" spc="0" normalizeH="0" baseline="0">
                <a:ln>
                  <a:noFill/>
                </a:ln>
                <a:solidFill>
                  <a:srgbClr val="313131"/>
                </a:solidFill>
                <a:effectLst/>
                <a:uLnTx/>
                <a:uFillTx/>
                <a:latin typeface="微软雅黑" panose="020B0503020204020204" pitchFamily="34" charset="-122"/>
                <a:ea typeface="微软雅黑" panose="020B0503020204020204" pitchFamily="34" charset="-122"/>
              </a:defRPr>
            </a:lvl1pPr>
          </a:lstStyle>
          <a:p>
            <a:pPr defTabSz="914400"/>
            <a:r>
              <a:rPr lang="zh-CN" altLang="en-US" sz="1200" b="1" dirty="0"/>
              <a:t>基础</a:t>
            </a:r>
            <a:r>
              <a:rPr lang="en-US" altLang="zh-CN" sz="1200" b="1" dirty="0"/>
              <a:t>API</a:t>
            </a:r>
            <a:r>
              <a:rPr lang="zh-CN" altLang="en-US" sz="1200" b="1" dirty="0"/>
              <a:t>（</a:t>
            </a:r>
            <a:r>
              <a:rPr lang="en-US" altLang="zh-CN" sz="1200" b="1" dirty="0" err="1"/>
              <a:t>Tpipe</a:t>
            </a:r>
            <a:r>
              <a:rPr lang="en-US" altLang="zh-CN" sz="1200" b="1" dirty="0"/>
              <a:t>/</a:t>
            </a:r>
            <a:r>
              <a:rPr lang="en-US" altLang="zh-CN" sz="1200" b="1" dirty="0" err="1"/>
              <a:t>Tque</a:t>
            </a:r>
            <a:r>
              <a:rPr lang="zh-CN" altLang="en-US" sz="1200" b="1" dirty="0"/>
              <a:t>框架）</a:t>
            </a:r>
            <a:endParaRPr lang="en-US" sz="1200" b="1" dirty="0"/>
          </a:p>
          <a:p>
            <a:pPr defTabSz="914400"/>
            <a:endParaRPr lang="en-US" sz="1200" b="1" dirty="0"/>
          </a:p>
        </p:txBody>
      </p:sp>
      <p:sp>
        <p:nvSpPr>
          <p:cNvPr id="67" name="Arrow"/>
          <p:cNvSpPr/>
          <p:nvPr/>
        </p:nvSpPr>
        <p:spPr>
          <a:xfrm>
            <a:off x="3839975" y="3752357"/>
            <a:ext cx="4280821" cy="248346"/>
          </a:xfrm>
          <a:prstGeom prst="rightArrow">
            <a:avLst>
              <a:gd name="adj1" fmla="val 47695"/>
              <a:gd name="adj2" fmla="val 118485"/>
            </a:avLst>
          </a:prstGeom>
          <a:gradFill>
            <a:gsLst>
              <a:gs pos="7000">
                <a:srgbClr val="1C58A0">
                  <a:alpha val="0"/>
                </a:srgbClr>
              </a:gs>
              <a:gs pos="77000">
                <a:srgbClr val="1C58A0"/>
              </a:gs>
            </a:gsLst>
          </a:gradFill>
          <a:ln w="12700">
            <a:miter lim="400000"/>
          </a:ln>
        </p:spPr>
        <p:txBody>
          <a:bodyPr lIns="0" tIns="0" rIns="0" bIns="0" anchor="ctr"/>
          <a:lstStyle/>
          <a:p>
            <a:pPr defTabSz="914400">
              <a:defRPr/>
            </a:pPr>
            <a:endParaRPr sz="900" kern="0" dirty="0">
              <a:solidFill>
                <a:prstClr val="black"/>
              </a:solidFill>
              <a:latin typeface="OPPOSans R" panose="00020600040101010101" pitchFamily="18" charset="-122"/>
              <a:ea typeface="OPPOSans R" panose="00020600040101010101" pitchFamily="18" charset="-122"/>
            </a:endParaRPr>
          </a:p>
        </p:txBody>
      </p:sp>
      <p:sp>
        <p:nvSpPr>
          <p:cNvPr id="68" name="矩形: 圆角 40"/>
          <p:cNvSpPr/>
          <p:nvPr/>
        </p:nvSpPr>
        <p:spPr>
          <a:xfrm flipH="1">
            <a:off x="8208588" y="3765575"/>
            <a:ext cx="3388166" cy="585739"/>
          </a:xfrm>
          <a:prstGeom prst="roundRect">
            <a:avLst>
              <a:gd name="adj" fmla="val 0"/>
            </a:avLst>
          </a:prstGeom>
          <a:solidFill>
            <a:srgbClr val="F2F5F6"/>
          </a:solidFill>
          <a:ln w="12700" cap="flat" cmpd="sng" algn="ctr">
            <a:noFill/>
            <a:prstDash val="dash"/>
            <a:miter lim="800000"/>
          </a:ln>
          <a:effectLst/>
        </p:spPr>
        <p:txBody>
          <a:bodyPr rtlCol="0" anchor="ctr"/>
          <a:lstStyle/>
          <a:p>
            <a:pPr algn="ctr" defTabSz="914400">
              <a:defRPr/>
            </a:pPr>
            <a:endParaRPr lang="zh-CN" altLang="en-US" kern="0">
              <a:solidFill>
                <a:srgbClr val="FFFFFF"/>
              </a:solidFill>
              <a:latin typeface="OPPOSans R" panose="00020600040101010101" pitchFamily="18" charset="-122"/>
              <a:ea typeface="OPPOSans R" panose="00020600040101010101" pitchFamily="18" charset="-122"/>
            </a:endParaRPr>
          </a:p>
        </p:txBody>
      </p:sp>
      <p:sp>
        <p:nvSpPr>
          <p:cNvPr id="69" name="矩形 68"/>
          <p:cNvSpPr/>
          <p:nvPr/>
        </p:nvSpPr>
        <p:spPr>
          <a:xfrm>
            <a:off x="8206710" y="3796089"/>
            <a:ext cx="3390045" cy="276999"/>
          </a:xfrm>
          <a:prstGeom prst="rect">
            <a:avLst/>
          </a:prstGeom>
          <a:solidFill>
            <a:srgbClr val="1C58A0"/>
          </a:solidFill>
          <a:ln w="38100" cap="flat" cmpd="sng" algn="ctr">
            <a:noFill/>
            <a:prstDash val="solid"/>
            <a:miter lim="800000"/>
          </a:ln>
          <a:effectLst/>
        </p:spPr>
        <p:txBody>
          <a:bodyPr lIns="98755" tIns="49378" rIns="98755" bIns="49378" rtlCol="0" anchor="ctr"/>
          <a:lstStyle/>
          <a:p>
            <a:pPr algn="ctr" defTabSz="914400">
              <a:defRPr/>
            </a:pPr>
            <a:endParaRPr lang="zh-CN" altLang="en-US" sz="1945" kern="0">
              <a:solidFill>
                <a:srgbClr val="FFFFFF"/>
              </a:solidFill>
              <a:effectLst>
                <a:outerShdw blurRad="137160" dist="41148" dir="2699997" algn="tl">
                  <a:srgbClr val="000000">
                    <a:alpha val="40000"/>
                  </a:srgbClr>
                </a:outerShdw>
              </a:effectLst>
              <a:latin typeface="OPPOSans R" panose="00020600040101010101" pitchFamily="18" charset="-122"/>
              <a:ea typeface="OPPOSans R" panose="00020600040101010101" pitchFamily="18" charset="-122"/>
            </a:endParaRPr>
          </a:p>
        </p:txBody>
      </p:sp>
      <p:sp>
        <p:nvSpPr>
          <p:cNvPr id="70" name="文本框 69"/>
          <p:cNvSpPr txBox="1"/>
          <p:nvPr/>
        </p:nvSpPr>
        <p:spPr>
          <a:xfrm>
            <a:off x="8206710" y="4105114"/>
            <a:ext cx="3381941" cy="254429"/>
          </a:xfrm>
          <a:prstGeom prst="rect">
            <a:avLst/>
          </a:prstGeom>
          <a:noFill/>
        </p:spPr>
        <p:txBody>
          <a:bodyPr wrap="square" rtlCol="0">
            <a:spAutoFit/>
          </a:bodyPr>
          <a:lstStyle/>
          <a:p>
            <a:pPr marL="228600" indent="-228600" defTabSz="914400">
              <a:lnSpc>
                <a:spcPct val="114000"/>
              </a:lnSpc>
              <a:buFont typeface="+mj-ea"/>
              <a:buAutoNum type="circleNumDbPlain"/>
              <a:defRPr/>
            </a:pPr>
            <a:r>
              <a:rPr kumimoji="1" lang="zh-CN" altLang="en-US" sz="1000" b="1" kern="0" dirty="0">
                <a:solidFill>
                  <a:prstClr val="black"/>
                </a:solidFill>
                <a:latin typeface="微软雅黑" panose="020B0503020204020204" pitchFamily="34" charset="-122"/>
                <a:ea typeface="微软雅黑" panose="020B0503020204020204" pitchFamily="34" charset="-122"/>
                <a:sym typeface="+mn-ea"/>
              </a:rPr>
              <a:t>基于</a:t>
            </a:r>
            <a:r>
              <a:rPr kumimoji="1" lang="en-US" altLang="zh-CN" sz="1000" b="1" kern="0" dirty="0" err="1">
                <a:solidFill>
                  <a:prstClr val="black"/>
                </a:solidFill>
                <a:latin typeface="微软雅黑" panose="020B0503020204020204" pitchFamily="34" charset="-122"/>
                <a:ea typeface="微软雅黑" panose="020B0503020204020204" pitchFamily="34" charset="-122"/>
                <a:sym typeface="+mn-ea"/>
              </a:rPr>
              <a:t>Tpipe</a:t>
            </a:r>
            <a:r>
              <a:rPr kumimoji="1" lang="en-US" altLang="zh-CN" sz="1000" b="1" kern="0" dirty="0">
                <a:solidFill>
                  <a:prstClr val="black"/>
                </a:solidFill>
                <a:latin typeface="微软雅黑" panose="020B0503020204020204" pitchFamily="34" charset="-122"/>
                <a:ea typeface="微软雅黑" panose="020B0503020204020204" pitchFamily="34" charset="-122"/>
                <a:sym typeface="+mn-ea"/>
              </a:rPr>
              <a:t>/</a:t>
            </a:r>
            <a:r>
              <a:rPr kumimoji="1" lang="en-US" altLang="zh-CN" sz="1000" b="1" kern="0" dirty="0" err="1">
                <a:solidFill>
                  <a:prstClr val="black"/>
                </a:solidFill>
                <a:latin typeface="微软雅黑" panose="020B0503020204020204" pitchFamily="34" charset="-122"/>
                <a:ea typeface="微软雅黑" panose="020B0503020204020204" pitchFamily="34" charset="-122"/>
                <a:sym typeface="+mn-ea"/>
              </a:rPr>
              <a:t>Tque</a:t>
            </a:r>
            <a:r>
              <a:rPr kumimoji="1" lang="zh-CN" altLang="en-US" sz="1000" b="1" kern="0" dirty="0">
                <a:solidFill>
                  <a:prstClr val="black"/>
                </a:solidFill>
                <a:latin typeface="微软雅黑" panose="020B0503020204020204" pitchFamily="34" charset="-122"/>
                <a:ea typeface="微软雅黑" panose="020B0503020204020204" pitchFamily="34" charset="-122"/>
                <a:sym typeface="+mn-ea"/>
              </a:rPr>
              <a:t>自动管理同步与内存；</a:t>
            </a:r>
            <a:endParaRPr kumimoji="1" lang="en-US" altLang="zh-CN" sz="1000" kern="0" dirty="0">
              <a:solidFill>
                <a:prstClr val="black"/>
              </a:solidFill>
              <a:latin typeface="微软雅黑" panose="020B0503020204020204" pitchFamily="34" charset="-122"/>
              <a:ea typeface="微软雅黑" panose="020B0503020204020204" pitchFamily="34" charset="-122"/>
              <a:sym typeface="+mn-ea"/>
            </a:endParaRPr>
          </a:p>
        </p:txBody>
      </p:sp>
      <p:sp>
        <p:nvSpPr>
          <p:cNvPr id="71" name="文本框 70"/>
          <p:cNvSpPr txBox="1"/>
          <p:nvPr/>
        </p:nvSpPr>
        <p:spPr>
          <a:xfrm>
            <a:off x="8272299" y="3770951"/>
            <a:ext cx="3299336" cy="276999"/>
          </a:xfrm>
          <a:prstGeom prst="rect">
            <a:avLst/>
          </a:prstGeom>
          <a:noFill/>
        </p:spPr>
        <p:txBody>
          <a:bodyPr wrap="square"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pPr defTabSz="914400">
              <a:defRPr/>
            </a:pPr>
            <a:r>
              <a:rPr lang="zh-CN" altLang="en-US" sz="12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rPr>
              <a:t>基础</a:t>
            </a:r>
            <a:r>
              <a:rPr lang="en-US" altLang="zh-CN" sz="12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rPr>
              <a:t>API</a:t>
            </a:r>
            <a:r>
              <a:rPr lang="zh-CN" altLang="en-US" sz="12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rPr>
              <a:t>：</a:t>
            </a:r>
            <a:r>
              <a:rPr lang="en-US" altLang="zh-CN" sz="1200" b="1" dirty="0" err="1">
                <a:solidFill>
                  <a:srgbClr val="FFFFFF"/>
                </a:solidFill>
                <a:latin typeface="微软雅黑" panose="020B0503020204020204" pitchFamily="34" charset="-122"/>
                <a:ea typeface="微软雅黑" panose="020B0503020204020204" pitchFamily="34" charset="-122"/>
                <a:cs typeface="OPPOSans M" panose="00020600040101010101" pitchFamily="18" charset="-122"/>
              </a:rPr>
              <a:t>Tpipe</a:t>
            </a:r>
            <a:r>
              <a:rPr lang="en-US" altLang="zh-CN" sz="12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rPr>
              <a:t>/</a:t>
            </a:r>
            <a:r>
              <a:rPr lang="en-US" altLang="zh-CN" sz="1200" b="1" dirty="0" err="1">
                <a:solidFill>
                  <a:srgbClr val="FFFFFF"/>
                </a:solidFill>
                <a:latin typeface="微软雅黑" panose="020B0503020204020204" pitchFamily="34" charset="-122"/>
                <a:ea typeface="微软雅黑" panose="020B0503020204020204" pitchFamily="34" charset="-122"/>
                <a:cs typeface="OPPOSans M" panose="00020600040101010101" pitchFamily="18" charset="-122"/>
              </a:rPr>
              <a:t>Tque</a:t>
            </a:r>
            <a:r>
              <a:rPr lang="zh-CN" altLang="en-US" sz="12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rPr>
              <a:t>框架</a:t>
            </a:r>
            <a:endParaRPr lang="zh-CN" altLang="en-US" sz="12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endParaRPr>
          </a:p>
        </p:txBody>
      </p:sp>
      <p:sp>
        <p:nvSpPr>
          <p:cNvPr id="2" name="矩形 1"/>
          <p:cNvSpPr/>
          <p:nvPr/>
        </p:nvSpPr>
        <p:spPr>
          <a:xfrm>
            <a:off x="3073443" y="987148"/>
            <a:ext cx="4742004" cy="369332"/>
          </a:xfrm>
          <a:prstGeom prst="rect">
            <a:avLst/>
          </a:prstGeom>
        </p:spPr>
        <p:txBody>
          <a:bodyPr wrap="none">
            <a:spAutoFit/>
          </a:bodyPr>
          <a:lstStyle/>
          <a:p>
            <a:r>
              <a:rPr lang="zh-CN" altLang="en-US" b="1" dirty="0">
                <a:solidFill>
                  <a:prstClr val="black"/>
                </a:solidFill>
                <a:latin typeface="微软雅黑" panose="020B0503020204020204" pitchFamily="34" charset="-122"/>
              </a:rPr>
              <a:t>构建多层级</a:t>
            </a:r>
            <a:r>
              <a:rPr lang="en-US" altLang="zh-CN" b="1" dirty="0">
                <a:solidFill>
                  <a:prstClr val="black"/>
                </a:solidFill>
                <a:latin typeface="微软雅黑" panose="020B0503020204020204" pitchFamily="34" charset="-122"/>
              </a:rPr>
              <a:t>API</a:t>
            </a:r>
            <a:r>
              <a:rPr lang="zh-CN" altLang="en-US" b="1" dirty="0">
                <a:solidFill>
                  <a:prstClr val="black"/>
                </a:solidFill>
                <a:latin typeface="微软雅黑" panose="020B0503020204020204" pitchFamily="34" charset="-122"/>
              </a:rPr>
              <a:t>，支撑多维场景算子开发诉求</a:t>
            </a:r>
            <a:endParaRPr lang="zh-CN" altLang="en-US" dirty="0"/>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4223" y="635000"/>
            <a:ext cx="10668000" cy="508000"/>
          </a:xfrm>
          <a:prstGeom prst="rect">
            <a:avLst/>
          </a:prstGeom>
          <a:noFill/>
          <a:ln w="12700" cap="flat" cmpd="sng">
            <a:noFill/>
            <a:prstDash val="solid"/>
            <a:round/>
          </a:ln>
        </p:spPr>
        <p:txBody>
          <a:bodyPr vert="horz" wrap="square" lIns="0" tIns="0" rIns="0" bIns="0" rtlCol="0" anchor="ctr" anchorCtr="0"/>
          <a:lstStyle/>
          <a:p>
            <a:pPr>
              <a:defRPr/>
            </a:pPr>
            <a:r>
              <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sym typeface="Noto Sans SC" panose="020B0200000000000000" charset="-122"/>
              </a:rPr>
              <a:t>横向对比：CANN vs CUDA</a:t>
            </a:r>
            <a:endPar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 name="AutoShape 4"/>
          <p:cNvSpPr/>
          <p:nvPr/>
        </p:nvSpPr>
        <p:spPr>
          <a:xfrm>
            <a:off x="764223" y="1305560"/>
            <a:ext cx="10668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5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CANN和CUDA作为昇腾与NVIDIA生态的核心软件栈，其底层设计理念、模块划分与核心概念高度相通。对于熟悉CUDA开发的工程师来说，CANN的学习成本极低，二者在关键技术组件上存在直观的一一对应关系，技术迁移路径清晰。</a:t>
            </a:r>
            <a:endParaRPr lang="en-US" sz="1100"/>
          </a:p>
        </p:txBody>
      </p:sp>
      <p:graphicFrame>
        <p:nvGraphicFramePr>
          <p:cNvPr id="2" name="表格 1"/>
          <p:cNvGraphicFramePr>
            <a:graphicFrameLocks noGrp="1"/>
          </p:cNvGraphicFramePr>
          <p:nvPr/>
        </p:nvGraphicFramePr>
        <p:xfrm>
          <a:off x="722017" y="2131060"/>
          <a:ext cx="10719584" cy="3848052"/>
        </p:xfrm>
        <a:graphic>
          <a:graphicData uri="http://schemas.openxmlformats.org/drawingml/2006/table">
            <a:tbl>
              <a:tblPr/>
              <a:tblGrid>
                <a:gridCol w="2679896"/>
                <a:gridCol w="2679896"/>
                <a:gridCol w="2679896"/>
                <a:gridCol w="2679896"/>
              </a:tblGrid>
              <a:tr h="274530">
                <a:tc>
                  <a:txBody>
                    <a:bodyPr/>
                    <a:lstStyle/>
                    <a:p>
                      <a:pPr algn="l" fontAlgn="ctr"/>
                      <a:r>
                        <a:rPr lang="zh-CN" altLang="en-US" sz="1400" b="1" dirty="0">
                          <a:effectLst/>
                        </a:rPr>
                        <a:t>维度</a:t>
                      </a:r>
                      <a:endParaRPr lang="zh-CN" altLang="en-US" sz="1400" b="1" dirty="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20000"/>
                        <a:lumOff val="80000"/>
                      </a:schemeClr>
                    </a:solidFill>
                  </a:tcPr>
                </a:tc>
                <a:tc>
                  <a:txBody>
                    <a:bodyPr/>
                    <a:lstStyle/>
                    <a:p>
                      <a:pPr algn="l" fontAlgn="ctr"/>
                      <a:r>
                        <a:rPr lang="en-US" sz="1400" b="1" dirty="0">
                          <a:effectLst/>
                        </a:rPr>
                        <a:t>CANN（</a:t>
                      </a:r>
                      <a:r>
                        <a:rPr lang="zh-CN" altLang="en-US" sz="1400" b="1" dirty="0">
                          <a:effectLst/>
                        </a:rPr>
                        <a:t>昇腾）</a:t>
                      </a:r>
                      <a:endParaRPr lang="zh-CN" altLang="en-US" sz="1400" b="1" dirty="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20000"/>
                        <a:lumOff val="80000"/>
                      </a:schemeClr>
                    </a:solidFill>
                  </a:tcPr>
                </a:tc>
                <a:tc>
                  <a:txBody>
                    <a:bodyPr/>
                    <a:lstStyle/>
                    <a:p>
                      <a:pPr algn="l" fontAlgn="ctr"/>
                      <a:r>
                        <a:rPr lang="en-US" sz="1400" b="1" dirty="0">
                          <a:effectLst/>
                        </a:rPr>
                        <a:t>CUDA（NVIDIA）</a:t>
                      </a:r>
                      <a:endParaRPr lang="en-US" sz="1400" b="1" dirty="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20000"/>
                        <a:lumOff val="80000"/>
                      </a:schemeClr>
                    </a:solidFill>
                  </a:tcPr>
                </a:tc>
                <a:tc>
                  <a:txBody>
                    <a:bodyPr/>
                    <a:lstStyle/>
                    <a:p>
                      <a:pPr algn="l" fontAlgn="ctr"/>
                      <a:r>
                        <a:rPr lang="zh-CN" altLang="en-US" sz="1400" b="1" dirty="0">
                          <a:effectLst/>
                        </a:rPr>
                        <a:t>说明</a:t>
                      </a:r>
                      <a:endParaRPr lang="zh-CN" altLang="en-US" sz="1400" b="1" dirty="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20000"/>
                        <a:lumOff val="80000"/>
                      </a:schemeClr>
                    </a:solidFill>
                  </a:tcPr>
                </a:tc>
              </a:tr>
              <a:tr h="384196">
                <a:tc>
                  <a:txBody>
                    <a:bodyPr/>
                    <a:lstStyle/>
                    <a:p>
                      <a:pPr algn="l" fontAlgn="ctr"/>
                      <a:r>
                        <a:rPr lang="zh-CN" altLang="en-US" sz="1400" dirty="0">
                          <a:effectLst/>
                        </a:rPr>
                        <a:t>框架适配</a:t>
                      </a:r>
                      <a:endParaRPr lang="zh-CN" altLang="en-US" sz="1400" dirty="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400" dirty="0" err="1">
                          <a:effectLst/>
                        </a:rPr>
                        <a:t>torch_npu</a:t>
                      </a:r>
                      <a:endParaRPr lang="en-US" sz="1400" dirty="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400">
                          <a:effectLst/>
                        </a:rPr>
                        <a:t>torch.cuda</a:t>
                      </a:r>
                      <a:endParaRPr lang="en-US" sz="140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400" dirty="0">
                          <a:effectLst/>
                        </a:rPr>
                        <a:t>把框架调用适配到自家硬件</a:t>
                      </a:r>
                      <a:endParaRPr lang="zh-CN" altLang="en-US" sz="1400" dirty="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54422">
                <a:tc>
                  <a:txBody>
                    <a:bodyPr/>
                    <a:lstStyle/>
                    <a:p>
                      <a:pPr algn="l" fontAlgn="ctr"/>
                      <a:r>
                        <a:rPr lang="zh-CN" altLang="en-US" sz="1400">
                          <a:effectLst/>
                        </a:rPr>
                        <a:t>算子库</a:t>
                      </a:r>
                      <a:endParaRPr lang="zh-CN" altLang="en-US" sz="140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400" dirty="0">
                          <a:effectLst/>
                        </a:rPr>
                        <a:t>ops-math / ops-</a:t>
                      </a:r>
                      <a:r>
                        <a:rPr lang="en-US" sz="1400" dirty="0" err="1">
                          <a:effectLst/>
                        </a:rPr>
                        <a:t>nn</a:t>
                      </a:r>
                      <a:r>
                        <a:rPr lang="en-US" sz="1400" dirty="0">
                          <a:effectLst/>
                        </a:rPr>
                        <a:t> / ops-cv / ops-transformer</a:t>
                      </a:r>
                      <a:endParaRPr lang="en-US" sz="1400" dirty="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400">
                          <a:effectLst/>
                        </a:rPr>
                        <a:t>cuDNN / cuSPARSE</a:t>
                      </a:r>
                      <a:endParaRPr lang="en-US" sz="140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400">
                          <a:effectLst/>
                        </a:rPr>
                        <a:t>预置高性能算子</a:t>
                      </a:r>
                      <a:endParaRPr lang="zh-CN" altLang="en-US" sz="140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4530">
                <a:tc>
                  <a:txBody>
                    <a:bodyPr/>
                    <a:lstStyle/>
                    <a:p>
                      <a:pPr algn="l" fontAlgn="ctr"/>
                      <a:r>
                        <a:rPr lang="zh-CN" altLang="en-US" sz="1400">
                          <a:effectLst/>
                        </a:rPr>
                        <a:t>通信库</a:t>
                      </a:r>
                      <a:endParaRPr lang="zh-CN" altLang="en-US" sz="140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400">
                          <a:effectLst/>
                        </a:rPr>
                        <a:t>HCCL + HIXL</a:t>
                      </a:r>
                      <a:endParaRPr lang="en-US" sz="140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400" dirty="0">
                          <a:effectLst/>
                        </a:rPr>
                        <a:t>NCCL</a:t>
                      </a:r>
                      <a:endParaRPr lang="en-US" sz="1400" dirty="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400">
                          <a:effectLst/>
                        </a:rPr>
                        <a:t>多卡分布式通信</a:t>
                      </a:r>
                      <a:endParaRPr lang="zh-CN" altLang="en-US" sz="140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4530">
                <a:tc>
                  <a:txBody>
                    <a:bodyPr/>
                    <a:lstStyle/>
                    <a:p>
                      <a:pPr algn="l" fontAlgn="ctr"/>
                      <a:r>
                        <a:rPr lang="zh-CN" altLang="en-US" sz="1400">
                          <a:effectLst/>
                        </a:rPr>
                        <a:t>图引擎</a:t>
                      </a:r>
                      <a:endParaRPr lang="zh-CN" altLang="en-US" sz="140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400">
                          <a:effectLst/>
                        </a:rPr>
                        <a:t>GE</a:t>
                      </a:r>
                      <a:endParaRPr lang="en-US" sz="140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400" dirty="0" err="1">
                          <a:effectLst/>
                        </a:rPr>
                        <a:t>TensorRT</a:t>
                      </a:r>
                      <a:endParaRPr lang="en-US" sz="1400" dirty="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400">
                          <a:effectLst/>
                        </a:rPr>
                        <a:t>整网图优化与编译</a:t>
                      </a:r>
                      <a:endParaRPr lang="zh-CN" altLang="en-US" sz="140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4530">
                <a:tc>
                  <a:txBody>
                    <a:bodyPr/>
                    <a:lstStyle/>
                    <a:p>
                      <a:pPr algn="l" fontAlgn="ctr"/>
                      <a:r>
                        <a:rPr lang="zh-CN" altLang="en-US" sz="1400">
                          <a:effectLst/>
                        </a:rPr>
                        <a:t>领域加速库</a:t>
                      </a:r>
                      <a:endParaRPr lang="zh-CN" altLang="en-US" sz="140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400">
                          <a:effectLst/>
                        </a:rPr>
                        <a:t>FFT / BLAS </a:t>
                      </a:r>
                      <a:r>
                        <a:rPr lang="zh-CN" altLang="en-US" sz="1400">
                          <a:effectLst/>
                        </a:rPr>
                        <a:t>等</a:t>
                      </a:r>
                      <a:endParaRPr lang="zh-CN" altLang="en-US" sz="140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400" dirty="0" err="1">
                          <a:effectLst/>
                        </a:rPr>
                        <a:t>cuFFT</a:t>
                      </a:r>
                      <a:r>
                        <a:rPr lang="en-US" sz="1400" dirty="0">
                          <a:effectLst/>
                        </a:rPr>
                        <a:t> / </a:t>
                      </a:r>
                      <a:r>
                        <a:rPr lang="en-US" sz="1400" dirty="0" err="1">
                          <a:effectLst/>
                        </a:rPr>
                        <a:t>cuBLAS</a:t>
                      </a:r>
                      <a:endParaRPr lang="en-US" sz="1400" dirty="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400">
                          <a:effectLst/>
                        </a:rPr>
                        <a:t>特定领域极致加速</a:t>
                      </a:r>
                      <a:endParaRPr lang="zh-CN" altLang="en-US" sz="140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84196">
                <a:tc>
                  <a:txBody>
                    <a:bodyPr/>
                    <a:lstStyle/>
                    <a:p>
                      <a:pPr algn="l" fontAlgn="ctr"/>
                      <a:r>
                        <a:rPr lang="zh-CN" altLang="en-US" sz="1400">
                          <a:effectLst/>
                        </a:rPr>
                        <a:t>编程语言</a:t>
                      </a:r>
                      <a:endParaRPr lang="zh-CN" altLang="en-US" sz="140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400">
                          <a:effectLst/>
                        </a:rPr>
                        <a:t>Ascend C</a:t>
                      </a:r>
                      <a:r>
                        <a:rPr lang="zh-CN" altLang="en-US" sz="1400">
                          <a:effectLst/>
                        </a:rPr>
                        <a:t>、</a:t>
                      </a:r>
                      <a:r>
                        <a:rPr lang="en-US" altLang="zh-CN" sz="1400">
                          <a:effectLst/>
                        </a:rPr>
                        <a:t>PyPTO</a:t>
                      </a:r>
                      <a:endParaRPr lang="en-US" sz="140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400" dirty="0">
                          <a:effectLst/>
                        </a:rPr>
                        <a:t>CUDA C++</a:t>
                      </a:r>
                      <a:r>
                        <a:rPr lang="zh-CN" altLang="en-US" sz="1400" dirty="0">
                          <a:effectLst/>
                        </a:rPr>
                        <a:t>、</a:t>
                      </a:r>
                      <a:r>
                        <a:rPr lang="en-US" altLang="zh-CN" sz="1400" dirty="0">
                          <a:effectLst/>
                        </a:rPr>
                        <a:t>CuTile</a:t>
                      </a:r>
                      <a:endParaRPr lang="en-US" sz="1400" dirty="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400">
                          <a:effectLst/>
                        </a:rPr>
                        <a:t>自定义算子开发语言</a:t>
                      </a:r>
                      <a:endParaRPr lang="zh-CN" altLang="en-US" sz="140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84196">
                <a:tc>
                  <a:txBody>
                    <a:bodyPr/>
                    <a:lstStyle/>
                    <a:p>
                      <a:pPr algn="l" fontAlgn="ctr"/>
                      <a:r>
                        <a:rPr lang="zh-CN" altLang="en-US" sz="1400">
                          <a:effectLst/>
                        </a:rPr>
                        <a:t>编译器</a:t>
                      </a:r>
                      <a:endParaRPr lang="zh-CN" altLang="en-US" sz="140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400">
                          <a:effectLst/>
                        </a:rPr>
                        <a:t>毕昇 </a:t>
                      </a:r>
                      <a:r>
                        <a:rPr lang="en-US" sz="1400">
                          <a:effectLst/>
                        </a:rPr>
                        <a:t>Bisheng</a:t>
                      </a:r>
                      <a:endParaRPr lang="en-US" sz="140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400" dirty="0">
                          <a:effectLst/>
                        </a:rPr>
                        <a:t>NVCC</a:t>
                      </a:r>
                      <a:endParaRPr lang="en-US" sz="1400" dirty="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400">
                          <a:effectLst/>
                        </a:rPr>
                        <a:t>源码编译为硬件指令</a:t>
                      </a:r>
                      <a:endParaRPr lang="zh-CN" altLang="en-US" sz="140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84196">
                <a:tc>
                  <a:txBody>
                    <a:bodyPr/>
                    <a:lstStyle/>
                    <a:p>
                      <a:pPr algn="l" fontAlgn="ctr"/>
                      <a:r>
                        <a:rPr lang="zh-CN" altLang="en-US" sz="1400">
                          <a:effectLst/>
                        </a:rPr>
                        <a:t>运行时</a:t>
                      </a:r>
                      <a:endParaRPr lang="zh-CN" altLang="en-US" sz="140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400">
                          <a:effectLst/>
                        </a:rPr>
                        <a:t>Runtime</a:t>
                      </a:r>
                      <a:endParaRPr lang="en-US" sz="140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400" dirty="0">
                          <a:effectLst/>
                        </a:rPr>
                        <a:t>CUDA Runtime</a:t>
                      </a:r>
                      <a:endParaRPr lang="en-US" sz="1400" dirty="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400">
                          <a:effectLst/>
                        </a:rPr>
                        <a:t>设备</a:t>
                      </a:r>
                      <a:r>
                        <a:rPr lang="en-US" altLang="zh-CN" sz="1400">
                          <a:effectLst/>
                        </a:rPr>
                        <a:t>/</a:t>
                      </a:r>
                      <a:r>
                        <a:rPr lang="zh-CN" altLang="en-US" sz="1400">
                          <a:effectLst/>
                        </a:rPr>
                        <a:t>内存</a:t>
                      </a:r>
                      <a:r>
                        <a:rPr lang="en-US" altLang="zh-CN" sz="1400">
                          <a:effectLst/>
                        </a:rPr>
                        <a:t>/</a:t>
                      </a:r>
                      <a:r>
                        <a:rPr lang="zh-CN" altLang="en-US" sz="1400">
                          <a:effectLst/>
                        </a:rPr>
                        <a:t>任务管理</a:t>
                      </a:r>
                      <a:endParaRPr lang="zh-CN" altLang="en-US" sz="140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4530">
                <a:tc>
                  <a:txBody>
                    <a:bodyPr/>
                    <a:lstStyle/>
                    <a:p>
                      <a:pPr algn="l" fontAlgn="ctr"/>
                      <a:r>
                        <a:rPr lang="zh-CN" altLang="en-US" sz="1400">
                          <a:effectLst/>
                        </a:rPr>
                        <a:t>驱动</a:t>
                      </a:r>
                      <a:endParaRPr lang="zh-CN" altLang="en-US" sz="140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400">
                          <a:effectLst/>
                        </a:rPr>
                        <a:t>Driver</a:t>
                      </a:r>
                      <a:endParaRPr lang="en-US" sz="140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400" dirty="0">
                          <a:effectLst/>
                        </a:rPr>
                        <a:t>NVIDIA Driver</a:t>
                      </a:r>
                      <a:endParaRPr lang="en-US" sz="1400" dirty="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400" dirty="0">
                          <a:effectLst/>
                        </a:rPr>
                        <a:t>最底层硬件交互</a:t>
                      </a:r>
                      <a:endParaRPr lang="zh-CN" altLang="en-US" sz="1400" dirty="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84196">
                <a:tc>
                  <a:txBody>
                    <a:bodyPr/>
                    <a:lstStyle/>
                    <a:p>
                      <a:pPr algn="l" fontAlgn="ctr"/>
                      <a:r>
                        <a:rPr lang="en-US" sz="1400">
                          <a:effectLst/>
                        </a:rPr>
                        <a:t>Profiling</a:t>
                      </a:r>
                      <a:endParaRPr lang="en-US" sz="140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400">
                          <a:effectLst/>
                        </a:rPr>
                        <a:t>msprof / MindStudio</a:t>
                      </a:r>
                      <a:endParaRPr lang="en-US" sz="140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400">
                          <a:effectLst/>
                        </a:rPr>
                        <a:t>Nsight</a:t>
                      </a:r>
                      <a:endParaRPr lang="en-US" sz="140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400" dirty="0">
                          <a:effectLst/>
                        </a:rPr>
                        <a:t>性能分析工具</a:t>
                      </a:r>
                      <a:endParaRPr lang="zh-CN" altLang="en-US" sz="1400" dirty="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549296" y="2601035"/>
            <a:ext cx="3380868" cy="835742"/>
          </a:xfrm>
          <a:prstGeom prst="rect">
            <a:avLst/>
          </a:prstGeom>
          <a:solidFill>
            <a:srgbClr val="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8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目录</a:t>
            </a:r>
            <a:endParaRPr kumimoji="0" lang="zh-CN" altLang="en-US" sz="48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2" name="矩形 11"/>
          <p:cNvSpPr/>
          <p:nvPr/>
        </p:nvSpPr>
        <p:spPr>
          <a:xfrm>
            <a:off x="4417378" y="1301551"/>
            <a:ext cx="6480000" cy="360000"/>
          </a:xfrm>
          <a:prstGeom prst="rect">
            <a:avLst/>
          </a:prstGeom>
          <a:solidFill>
            <a:srgbClr val="FFFFFF">
              <a:lumMod val="95000"/>
            </a:srgbClr>
          </a:solidFill>
          <a:ln w="9525" cap="flat" cmpd="sng" algn="ctr">
            <a:solidFill>
              <a:srgbClr val="FFFFFF">
                <a:lumMod val="65000"/>
              </a:srgbClr>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indent="0" algn="ctr" defTabSz="0" rtl="0" eaLnBrk="1" fontAlgn="auto" latinLnBrk="0" hangingPunct="1">
              <a:lnSpc>
                <a:spcPct val="100000"/>
              </a:lnSpc>
              <a:spcBef>
                <a:spcPts val="0"/>
              </a:spcBef>
              <a:spcAft>
                <a:spcPts val="0"/>
              </a:spcAft>
              <a:buSzTx/>
              <a:buNone/>
            </a:pPr>
            <a:r>
              <a:rPr lang="en-US" altLang="zh-CN" sz="2400" kern="0" noProof="0" dirty="0">
                <a:ln>
                  <a:noFill/>
                </a:ln>
                <a:solidFill>
                  <a:srgbClr val="FFFFFF">
                    <a:lumMod val="75000"/>
                  </a:srgbClr>
                </a:solidFill>
                <a:effectLst/>
                <a:uLnTx/>
                <a:uFillTx/>
                <a:latin typeface="微软雅黑" panose="020B0503020204020204" pitchFamily="34" charset="-122"/>
                <a:ea typeface="微软雅黑" panose="020B0503020204020204" pitchFamily="34" charset="-122"/>
              </a:rPr>
              <a:t>Part 1 人工智能基础</a:t>
            </a:r>
            <a:endParaRPr lang="en-US" altLang="zh-CN" sz="2400" kern="0" noProof="0" dirty="0">
              <a:ln>
                <a:noFill/>
              </a:ln>
              <a:solidFill>
                <a:srgbClr val="FFFFFF">
                  <a:lumMod val="75000"/>
                </a:srgbClr>
              </a:solidFill>
              <a:effectLst/>
              <a:uLnTx/>
              <a:uFillTx/>
              <a:latin typeface="微软雅黑" panose="020B0503020204020204" pitchFamily="34" charset="-122"/>
              <a:ea typeface="微软雅黑" panose="020B0503020204020204" pitchFamily="34" charset="-122"/>
            </a:endParaRPr>
          </a:p>
        </p:txBody>
      </p:sp>
      <p:cxnSp>
        <p:nvCxnSpPr>
          <p:cNvPr id="15" name="í$ľidè"/>
          <p:cNvCxnSpPr/>
          <p:nvPr/>
        </p:nvCxnSpPr>
        <p:spPr>
          <a:xfrm>
            <a:off x="3930164" y="898497"/>
            <a:ext cx="0" cy="4788143"/>
          </a:xfrm>
          <a:prstGeom prst="line">
            <a:avLst/>
          </a:prstGeom>
          <a:solidFill>
            <a:srgbClr val="FFCC00"/>
          </a:solidFill>
          <a:ln w="12700" cap="flat" cmpd="sng" algn="ctr">
            <a:solidFill>
              <a:schemeClr val="bg1">
                <a:lumMod val="65000"/>
              </a:schemeClr>
            </a:solidFill>
            <a:prstDash val="solid"/>
            <a:round/>
            <a:headEnd type="none" w="med" len="med"/>
            <a:tailEnd type="none" w="med" len="med"/>
          </a:ln>
          <a:effectLst/>
        </p:spPr>
      </p:cxnSp>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139425" y="6042990"/>
            <a:ext cx="1312676" cy="348426"/>
          </a:xfrm>
          <a:prstGeom prst="rect">
            <a:avLst/>
          </a:prstGeom>
        </p:spPr>
      </p:pic>
      <p:sp>
        <p:nvSpPr>
          <p:cNvPr id="11" name="矩形 10"/>
          <p:cNvSpPr/>
          <p:nvPr/>
        </p:nvSpPr>
        <p:spPr>
          <a:xfrm>
            <a:off x="4417408" y="2370634"/>
            <a:ext cx="6480000" cy="360000"/>
          </a:xfrm>
          <a:prstGeom prst="rect">
            <a:avLst/>
          </a:prstGeom>
          <a:solidFill>
            <a:srgbClr val="FFFFFF">
              <a:lumMod val="95000"/>
            </a:srgbClr>
          </a:solidFill>
          <a:ln w="9525" cap="flat" cmpd="sng" algn="ctr">
            <a:solidFill>
              <a:srgbClr val="FFFFFF">
                <a:lumMod val="65000"/>
              </a:srgbClr>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indent="0" algn="ctr" defTabSz="0" rtl="0" eaLnBrk="1" fontAlgn="auto" latinLnBrk="0" hangingPunct="1">
              <a:lnSpc>
                <a:spcPct val="100000"/>
              </a:lnSpc>
              <a:spcBef>
                <a:spcPts val="0"/>
              </a:spcBef>
              <a:spcAft>
                <a:spcPts val="0"/>
              </a:spcAft>
              <a:buSzTx/>
              <a:buNone/>
            </a:pPr>
            <a:r>
              <a:rPr lang="en-US" altLang="zh-CN" sz="2400" kern="0" noProof="0" dirty="0">
                <a:ln>
                  <a:noFill/>
                </a:ln>
                <a:solidFill>
                  <a:srgbClr val="FFFFFF">
                    <a:lumMod val="75000"/>
                  </a:srgbClr>
                </a:solidFill>
                <a:effectLst/>
                <a:uLnTx/>
                <a:uFillTx/>
                <a:latin typeface="微软雅黑" panose="020B0503020204020204" pitchFamily="34" charset="-122"/>
                <a:ea typeface="微软雅黑" panose="020B0503020204020204" pitchFamily="34" charset="-122"/>
              </a:rPr>
              <a:t>Part 2 什么是NPU</a:t>
            </a:r>
            <a:endParaRPr lang="en-US" altLang="zh-CN" sz="2400" kern="0" noProof="0" dirty="0">
              <a:ln>
                <a:noFill/>
              </a:ln>
              <a:solidFill>
                <a:srgbClr val="FFFFFF">
                  <a:lumMod val="75000"/>
                </a:srgbClr>
              </a:solidFill>
              <a:effectLst/>
              <a:uLnTx/>
              <a:uFillTx/>
              <a:latin typeface="微软雅黑" panose="020B0503020204020204" pitchFamily="34" charset="-122"/>
              <a:ea typeface="微软雅黑" panose="020B0503020204020204" pitchFamily="34" charset="-122"/>
            </a:endParaRPr>
          </a:p>
        </p:txBody>
      </p:sp>
      <p:sp>
        <p:nvSpPr>
          <p:cNvPr id="16" name="矩形 15"/>
          <p:cNvSpPr/>
          <p:nvPr/>
        </p:nvSpPr>
        <p:spPr>
          <a:xfrm>
            <a:off x="4417409" y="4461310"/>
            <a:ext cx="6480000" cy="360000"/>
          </a:xfrm>
          <a:prstGeom prst="rect">
            <a:avLst/>
          </a:prstGeom>
          <a:solidFill>
            <a:srgbClr val="C00000"/>
          </a:solidFill>
          <a:ln w="9525" cap="flat" cmpd="sng" algn="ctr">
            <a:solidFill>
              <a:srgbClr val="FFFFFF">
                <a:lumMod val="65000"/>
              </a:srgbClr>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indent="0" algn="ctr" defTabSz="0" rtl="0" eaLnBrk="1" latinLnBrk="0" hangingPunct="1">
              <a:spcBef>
                <a:spcPct val="0"/>
              </a:spcBef>
              <a:spcAft>
                <a:spcPct val="0"/>
              </a:spcAft>
              <a:buNone/>
            </a:pPr>
            <a:r>
              <a:rPr lang="en-US" altLang="zh-CN" sz="2400" kern="0" dirty="0">
                <a:solidFill>
                  <a:prstClr val="white"/>
                </a:solidFill>
                <a:latin typeface="微软雅黑" panose="020B0503020204020204" pitchFamily="34" charset="-122"/>
                <a:ea typeface="微软雅黑" panose="020B0503020204020204" pitchFamily="34" charset="-122"/>
              </a:rPr>
              <a:t>Part 4 NPU 实践</a:t>
            </a:r>
            <a:endParaRPr lang="en-US" altLang="zh-CN" sz="2400" kern="0" dirty="0">
              <a:solidFill>
                <a:prstClr val="white"/>
              </a:solidFill>
              <a:latin typeface="微软雅黑" panose="020B0503020204020204" pitchFamily="34" charset="-122"/>
              <a:ea typeface="微软雅黑" panose="020B0503020204020204" pitchFamily="34" charset="-122"/>
            </a:endParaRPr>
          </a:p>
        </p:txBody>
      </p:sp>
      <p:sp>
        <p:nvSpPr>
          <p:cNvPr id="9" name="矩形 8"/>
          <p:cNvSpPr/>
          <p:nvPr/>
        </p:nvSpPr>
        <p:spPr>
          <a:xfrm>
            <a:off x="4417378" y="3436726"/>
            <a:ext cx="6480000" cy="360000"/>
          </a:xfrm>
          <a:prstGeom prst="rect">
            <a:avLst/>
          </a:prstGeom>
          <a:solidFill>
            <a:srgbClr val="FFFFFF">
              <a:lumMod val="95000"/>
            </a:srgbClr>
          </a:solidFill>
          <a:ln w="9525" cap="flat" cmpd="sng" algn="ctr">
            <a:solidFill>
              <a:srgbClr val="FFFFFF">
                <a:lumMod val="65000"/>
              </a:srgbClr>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indent="0" algn="ctr" defTabSz="0" rtl="0" eaLnBrk="1" fontAlgn="auto" latinLnBrk="0" hangingPunct="1">
              <a:lnSpc>
                <a:spcPct val="100000"/>
              </a:lnSpc>
              <a:spcBef>
                <a:spcPts val="0"/>
              </a:spcBef>
              <a:spcAft>
                <a:spcPts val="0"/>
              </a:spcAft>
              <a:buSzTx/>
              <a:buNone/>
            </a:pPr>
            <a:r>
              <a:rPr lang="en-US" altLang="zh-CN" sz="2400" kern="0" noProof="0" dirty="0">
                <a:ln>
                  <a:noFill/>
                </a:ln>
                <a:solidFill>
                  <a:srgbClr val="FFFFFF">
                    <a:lumMod val="75000"/>
                  </a:srgbClr>
                </a:solidFill>
                <a:effectLst/>
                <a:uLnTx/>
                <a:uFillTx/>
                <a:latin typeface="微软雅黑" panose="020B0503020204020204" pitchFamily="34" charset="-122"/>
                <a:ea typeface="微软雅黑" panose="020B0503020204020204" pitchFamily="34" charset="-122"/>
              </a:rPr>
              <a:t>Part 3 什么是CANN</a:t>
            </a:r>
            <a:endParaRPr lang="en-US" altLang="zh-CN" sz="2400" kern="0" noProof="0" dirty="0">
              <a:ln>
                <a:noFill/>
              </a:ln>
              <a:solidFill>
                <a:srgbClr val="FFFFFF">
                  <a:lumMod val="75000"/>
                </a:srgbClr>
              </a:solidFill>
              <a:effectLst/>
              <a:uLnTx/>
              <a:uFillTx/>
              <a:latin typeface="微软雅黑" panose="020B0503020204020204" pitchFamily="34" charset="-122"/>
              <a:ea typeface="微软雅黑" panose="020B0503020204020204" pitchFamily="34"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4223" y="508000"/>
            <a:ext cx="10668000" cy="508000"/>
          </a:xfrm>
          <a:prstGeom prst="rect">
            <a:avLst/>
          </a:prstGeom>
          <a:noFill/>
          <a:ln w="12700" cap="flat" cmpd="sng">
            <a:noFill/>
            <a:prstDash val="solid"/>
            <a:round/>
          </a:ln>
        </p:spPr>
        <p:txBody>
          <a:bodyPr vert="horz" wrap="square" lIns="0" tIns="0" rIns="0" bIns="0" rtlCol="0" anchor="ctr" anchorCtr="0"/>
          <a:lstStyle/>
          <a:p>
            <a:pPr>
              <a:defRPr/>
            </a:pPr>
            <a:r>
              <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sym typeface="Noto Sans SC" panose="020B0200000000000000" charset="-122"/>
              </a:rPr>
              <a:t>核心工具库介绍</a:t>
            </a:r>
            <a:endPar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 name="AutoShape 4"/>
          <p:cNvSpPr/>
          <p:nvPr/>
        </p:nvSpPr>
        <p:spPr>
          <a:xfrm>
            <a:off x="796608" y="1359535"/>
            <a:ext cx="3556000" cy="3683000"/>
          </a:xfrm>
          <a:prstGeom prst="roundRect">
            <a:avLst>
              <a:gd name="adj" fmla="val 0"/>
            </a:avLst>
          </a:prstGeom>
          <a:solidFill>
            <a:srgbClr val="F8F9FA">
              <a:alpha val="100000"/>
            </a:srgbClr>
          </a:solidFill>
          <a:ln w="12700" cap="flat" cmpd="sng">
            <a:solidFill>
              <a:schemeClr val="bg1"/>
            </a:solidFill>
            <a:prstDash val="solid"/>
            <a:round/>
          </a:ln>
        </p:spPr>
        <p:txBody>
          <a:bodyPr vert="horz" wrap="square" lIns="0" tIns="0" rIns="0" bIns="0" rtlCol="0" anchor="ctr" anchorCtr="0"/>
          <a:lstStyle/>
          <a:p>
            <a:pPr algn="ctr">
              <a:defRPr/>
            </a:pPr>
          </a:p>
        </p:txBody>
      </p:sp>
      <p:pic>
        <p:nvPicPr>
          <p:cNvPr id="5" name="Picture 5"/>
          <p:cNvPicPr>
            <a:picLocks noChangeAspect="1"/>
          </p:cNvPicPr>
          <p:nvPr/>
        </p:nvPicPr>
        <p:blipFill>
          <a:blip r:embed="rId1" cstate="screen"/>
          <a:srcRect/>
          <a:stretch>
            <a:fillRect/>
          </a:stretch>
        </p:blipFill>
        <p:spPr>
          <a:xfrm>
            <a:off x="987108" y="1613535"/>
            <a:ext cx="3175000" cy="1397000"/>
          </a:xfrm>
          <a:prstGeom prst="rect">
            <a:avLst/>
          </a:prstGeom>
          <a:noFill/>
          <a:ln w="25400" cap="flat" cmpd="sng">
            <a:noFill/>
            <a:prstDash val="solid"/>
            <a:round/>
          </a:ln>
        </p:spPr>
      </p:pic>
      <p:cxnSp>
        <p:nvCxnSpPr>
          <p:cNvPr id="6" name="Connector 6"/>
          <p:cNvCxnSpPr/>
          <p:nvPr/>
        </p:nvCxnSpPr>
        <p:spPr>
          <a:xfrm rot="-13750">
            <a:off x="987120" y="3258185"/>
            <a:ext cx="3175051" cy="12700"/>
          </a:xfrm>
          <a:prstGeom prst="straightConnector1">
            <a:avLst/>
          </a:prstGeom>
          <a:solidFill>
            <a:srgbClr val="DEE0E3">
              <a:alpha val="100000"/>
            </a:srgbClr>
          </a:solidFill>
          <a:ln w="12700" cap="flat" cmpd="sng">
            <a:solidFill>
              <a:srgbClr val="FF3B30">
                <a:alpha val="100000"/>
              </a:srgbClr>
            </a:solidFill>
            <a:prstDash val="dash"/>
            <a:round/>
            <a:headEnd type="none" w="med" len="med"/>
            <a:tailEnd type="none" w="med" len="med"/>
          </a:ln>
        </p:spPr>
      </p:cxnSp>
      <p:sp>
        <p:nvSpPr>
          <p:cNvPr id="7" name="AutoShape 7"/>
          <p:cNvSpPr/>
          <p:nvPr/>
        </p:nvSpPr>
        <p:spPr>
          <a:xfrm>
            <a:off x="987108" y="3518535"/>
            <a:ext cx="3175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PyTorch 是流行的开源深度学习框架，提供强大的张量计算与自动微分功能。它是我们定义复杂计算任务、构建神经网络模型的基础核心。</a:t>
            </a:r>
            <a:endParaRPr lang="en-US" sz="1100"/>
          </a:p>
        </p:txBody>
      </p:sp>
      <p:cxnSp>
        <p:nvCxnSpPr>
          <p:cNvPr id="8" name="Connector 8"/>
          <p:cNvCxnSpPr/>
          <p:nvPr/>
        </p:nvCxnSpPr>
        <p:spPr>
          <a:xfrm rot="5388145">
            <a:off x="2828586" y="3194718"/>
            <a:ext cx="3683044" cy="12700"/>
          </a:xfrm>
          <a:prstGeom prst="straightConnector1">
            <a:avLst/>
          </a:prstGeom>
          <a:solidFill>
            <a:srgbClr val="DEE0E3">
              <a:alpha val="100000"/>
            </a:srgbClr>
          </a:solidFill>
          <a:ln w="12700" cap="flat" cmpd="sng">
            <a:solidFill>
              <a:srgbClr val="DDDDDD">
                <a:alpha val="100000"/>
              </a:srgbClr>
            </a:solidFill>
            <a:prstDash val="solid"/>
            <a:round/>
            <a:headEnd type="none" w="med" len="med"/>
            <a:tailEnd type="none" w="med" len="med"/>
          </a:ln>
        </p:spPr>
      </p:cxnSp>
      <p:sp>
        <p:nvSpPr>
          <p:cNvPr id="9" name="AutoShape 9"/>
          <p:cNvSpPr/>
          <p:nvPr/>
        </p:nvSpPr>
        <p:spPr>
          <a:xfrm>
            <a:off x="4860608" y="1359535"/>
            <a:ext cx="3556000" cy="3683000"/>
          </a:xfrm>
          <a:prstGeom prst="roundRect">
            <a:avLst>
              <a:gd name="adj" fmla="val 0"/>
            </a:avLst>
          </a:prstGeom>
          <a:solidFill>
            <a:srgbClr val="F8F9FA">
              <a:alpha val="100000"/>
            </a:srgbClr>
          </a:solidFill>
          <a:ln w="12700" cap="flat" cmpd="sng">
            <a:solidFill>
              <a:schemeClr val="bg1"/>
            </a:solidFill>
            <a:prstDash val="solid"/>
            <a:round/>
          </a:ln>
        </p:spPr>
        <p:txBody>
          <a:bodyPr vert="horz" wrap="square" lIns="0" tIns="0" rIns="0" bIns="0" rtlCol="0" anchor="ctr" anchorCtr="0"/>
          <a:lstStyle/>
          <a:p>
            <a:pPr algn="ctr">
              <a:defRPr/>
            </a:pPr>
          </a:p>
        </p:txBody>
      </p:sp>
      <p:sp>
        <p:nvSpPr>
          <p:cNvPr id="10" name="AutoShape 10"/>
          <p:cNvSpPr/>
          <p:nvPr/>
        </p:nvSpPr>
        <p:spPr>
          <a:xfrm>
            <a:off x="5051108" y="1613535"/>
            <a:ext cx="317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3B30"/>
                </a:solidFill>
                <a:latin typeface="Noto Sans SC" panose="020B0200000000000000" charset="-122"/>
                <a:ea typeface="Noto Sans SC" panose="020B0200000000000000" charset="-122"/>
                <a:cs typeface="Noto Sans SC" panose="020B0200000000000000" charset="-122"/>
                <a:sym typeface="Noto Sans SC" panose="020B0200000000000000" charset="-122"/>
              </a:rPr>
              <a:t>Torch-NPU (torch_npu)</a:t>
            </a:r>
            <a:endParaRPr lang="en-US" sz="1100"/>
          </a:p>
        </p:txBody>
      </p:sp>
      <p:cxnSp>
        <p:nvCxnSpPr>
          <p:cNvPr id="11" name="Connector 11"/>
          <p:cNvCxnSpPr/>
          <p:nvPr/>
        </p:nvCxnSpPr>
        <p:spPr>
          <a:xfrm rot="-13750">
            <a:off x="5051121" y="2178685"/>
            <a:ext cx="3175051" cy="12700"/>
          </a:xfrm>
          <a:prstGeom prst="straightConnector1">
            <a:avLst/>
          </a:prstGeom>
          <a:solidFill>
            <a:srgbClr val="DEE0E3">
              <a:alpha val="100000"/>
            </a:srgbClr>
          </a:solidFill>
          <a:ln w="12700" cap="flat" cmpd="sng">
            <a:solidFill>
              <a:srgbClr val="FF3B30">
                <a:alpha val="100000"/>
              </a:srgbClr>
            </a:solidFill>
            <a:prstDash val="solid"/>
            <a:round/>
            <a:headEnd type="none" w="med" len="med"/>
            <a:tailEnd type="none" w="med" len="med"/>
          </a:ln>
        </p:spPr>
      </p:cxnSp>
      <p:sp>
        <p:nvSpPr>
          <p:cNvPr id="12" name="AutoShape 12"/>
          <p:cNvSpPr/>
          <p:nvPr/>
        </p:nvSpPr>
        <p:spPr>
          <a:xfrm>
            <a:off x="5051108" y="2375535"/>
            <a:ext cx="3175000" cy="241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昇腾NPU的PyTorch适配层，为框架增加了对NPU设备的原生支持，让开发者可像使用CUDA一样便捷调用NPU算力。</a:t>
            </a:r>
            <a:endParaRPr lang="en-US" sz="1100"/>
          </a:p>
          <a:p>
            <a:pPr marL="0" indent="0" algn="l">
              <a:lnSpc>
                <a:spcPct val="125000"/>
              </a:lnSpc>
            </a:pPr>
            <a:r>
              <a:rPr lang="en-US" sz="1400" b="1" i="0" u="none" strike="noStrike">
                <a:solidFill>
                  <a:srgbClr val="FF3B30"/>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核心作用：</a:t>
            </a:r>
            <a:r>
              <a:rPr lang="en-US" sz="14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导入后自动注册NPU设备，所有标准PyTorch操作均可无缝迁移至NPU执行，无需大幅修改代码。</a:t>
            </a:r>
            <a:endParaRPr lang="en-US" sz="14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3" name="Connector 13"/>
          <p:cNvCxnSpPr/>
          <p:nvPr/>
        </p:nvCxnSpPr>
        <p:spPr>
          <a:xfrm rot="5388145">
            <a:off x="6765586" y="3194718"/>
            <a:ext cx="3683044" cy="12700"/>
          </a:xfrm>
          <a:prstGeom prst="straightConnector1">
            <a:avLst/>
          </a:prstGeom>
          <a:solidFill>
            <a:srgbClr val="DEE0E3">
              <a:alpha val="100000"/>
            </a:srgbClr>
          </a:solidFill>
          <a:ln w="12700" cap="flat" cmpd="sng">
            <a:solidFill>
              <a:srgbClr val="DDDDDD">
                <a:alpha val="100000"/>
              </a:srgbClr>
            </a:solidFill>
            <a:prstDash val="solid"/>
            <a:round/>
            <a:headEnd type="none" w="med" len="med"/>
            <a:tailEnd type="none" w="med" len="med"/>
          </a:ln>
        </p:spPr>
      </p:cxnSp>
      <p:sp>
        <p:nvSpPr>
          <p:cNvPr id="14" name="AutoShape 14"/>
          <p:cNvSpPr/>
          <p:nvPr/>
        </p:nvSpPr>
        <p:spPr>
          <a:xfrm>
            <a:off x="8734108" y="1359535"/>
            <a:ext cx="3238500" cy="3683000"/>
          </a:xfrm>
          <a:prstGeom prst="roundRect">
            <a:avLst>
              <a:gd name="adj" fmla="val 0"/>
            </a:avLst>
          </a:prstGeom>
          <a:solidFill>
            <a:srgbClr val="F8F9FA">
              <a:alpha val="100000"/>
            </a:srgbClr>
          </a:solidFill>
          <a:ln w="12700" cap="flat" cmpd="sng">
            <a:solidFill>
              <a:schemeClr val="bg1"/>
            </a:solidFill>
            <a:prstDash val="solid"/>
            <a:round/>
          </a:ln>
        </p:spPr>
        <p:txBody>
          <a:bodyPr vert="horz" wrap="square" lIns="0" tIns="0" rIns="0" bIns="0" rtlCol="0" anchor="ctr" anchorCtr="0"/>
          <a:lstStyle/>
          <a:p>
            <a:pPr algn="ctr">
              <a:defRPr/>
            </a:pPr>
          </a:p>
        </p:txBody>
      </p:sp>
      <p:sp>
        <p:nvSpPr>
          <p:cNvPr id="15" name="AutoShape 15"/>
          <p:cNvSpPr/>
          <p:nvPr/>
        </p:nvSpPr>
        <p:spPr>
          <a:xfrm>
            <a:off x="8734108" y="1359535"/>
            <a:ext cx="3238500" cy="457200"/>
          </a:xfrm>
          <a:prstGeom prst="roundRect">
            <a:avLst>
              <a:gd name="adj" fmla="val 0"/>
            </a:avLst>
          </a:prstGeom>
          <a:solidFill>
            <a:schemeClr val="bg2">
              <a:lumMod val="90000"/>
            </a:schemeClr>
          </a:solidFill>
          <a:ln w="25400" cap="flat" cmpd="sng">
            <a:noFill/>
            <a:prstDash val="solid"/>
            <a:round/>
          </a:ln>
        </p:spPr>
        <p:txBody>
          <a:bodyPr vert="horz" wrap="square" lIns="0" tIns="0" rIns="0" bIns="0" rtlCol="0" anchor="ctr" anchorCtr="0"/>
          <a:lstStyle/>
          <a:p>
            <a:pPr algn="ctr">
              <a:defRPr/>
            </a:pPr>
          </a:p>
        </p:txBody>
      </p:sp>
      <p:sp>
        <p:nvSpPr>
          <p:cNvPr id="16" name="AutoShape 16"/>
          <p:cNvSpPr/>
          <p:nvPr/>
        </p:nvSpPr>
        <p:spPr>
          <a:xfrm>
            <a:off x="8861108" y="1486535"/>
            <a:ext cx="127000" cy="127000"/>
          </a:xfrm>
          <a:prstGeom prst="ellipse">
            <a:avLst/>
          </a:prstGeom>
          <a:solidFill>
            <a:srgbClr val="FF5F5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9115108" y="1486535"/>
            <a:ext cx="127000" cy="127000"/>
          </a:xfrm>
          <a:prstGeom prst="ellipse">
            <a:avLst/>
          </a:prstGeom>
          <a:solidFill>
            <a:srgbClr val="FFBD2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9369108" y="1486535"/>
            <a:ext cx="127000" cy="127000"/>
          </a:xfrm>
          <a:prstGeom prst="ellipse">
            <a:avLst/>
          </a:prstGeom>
          <a:solidFill>
            <a:srgbClr val="27C93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8879839" y="2919267"/>
            <a:ext cx="2984500" cy="2055678"/>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pPr>
            <a:r>
              <a:rPr lang="zh-CN" altLang="en-US" sz="1300" b="0" i="0" u="none" strike="noStrike" dirty="0">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要与昇腾</a:t>
            </a:r>
            <a:r>
              <a:rPr lang="en-US" altLang="zh-CN" sz="1300" b="0" i="0" u="none" strike="noStrike" dirty="0">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NPU</a:t>
            </a:r>
            <a:r>
              <a:rPr lang="zh-CN" altLang="en-US" sz="1300" b="0" i="0" u="none" strike="noStrike" dirty="0">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交互，我们需要两个核心工具库</a:t>
            </a:r>
            <a:r>
              <a:rPr lang="zh-CN" altLang="en-US" sz="1300" dirty="0">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300" b="0" i="0" u="none" strike="noStrike" dirty="0">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285750" indent="-285750" algn="l">
              <a:lnSpc>
                <a:spcPct val="133000"/>
              </a:lnSpc>
              <a:buFont typeface="Arial" panose="020B0604020202020204" pitchFamily="34" charset="0"/>
              <a:buChar char="•"/>
            </a:pPr>
            <a:r>
              <a:rPr lang="en-US" altLang="zh-CN" sz="1300" b="0" i="0" u="none" strike="noStrike" dirty="0">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torch</a:t>
            </a:r>
            <a:r>
              <a:rPr lang="zh-CN" altLang="en-US" sz="1300" b="0" i="0" u="none" strike="noStrike" dirty="0">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altLang="zh-CN" sz="1300" b="0" i="0" u="none" strike="noStrike" dirty="0" err="1">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PyTorch</a:t>
            </a:r>
            <a:r>
              <a:rPr lang="en-US" altLang="zh-CN" sz="1300" b="0" i="0" u="none" strike="noStrike" dirty="0">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1300" b="0" i="0" u="none" strike="noStrike" dirty="0">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深度学习框架</a:t>
            </a:r>
            <a:endParaRPr lang="zh-CN" altLang="en-US" sz="1300" b="0" i="0" u="none" strike="noStrike" dirty="0">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285750" indent="-285750" algn="l">
              <a:lnSpc>
                <a:spcPct val="133000"/>
              </a:lnSpc>
              <a:buFont typeface="Arial" panose="020B0604020202020204" pitchFamily="34" charset="0"/>
              <a:buChar char="•"/>
            </a:pPr>
            <a:r>
              <a:rPr lang="en-US" altLang="zh-CN" sz="1300" b="0" i="0" u="none" strike="noStrike" dirty="0" err="1">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torch_npu</a:t>
            </a:r>
            <a:r>
              <a:rPr lang="zh-CN" altLang="en-US" sz="1300" b="0" i="0" u="none" strike="noStrike" dirty="0">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：昇腾 </a:t>
            </a:r>
            <a:r>
              <a:rPr lang="en-US" altLang="zh-CN" sz="1300" b="0" i="0" u="none" strike="noStrike" dirty="0">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NPU </a:t>
            </a:r>
            <a:r>
              <a:rPr lang="zh-CN" altLang="en-US" sz="1300" b="0" i="0" u="none" strike="noStrike" dirty="0">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适配层，导入后 </a:t>
            </a:r>
            <a:r>
              <a:rPr lang="en-US" altLang="zh-CN" sz="1300" b="0" i="0" u="none" strike="noStrike" dirty="0" err="1">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PyTorch</a:t>
            </a:r>
            <a:r>
              <a:rPr lang="en-US" altLang="zh-CN" sz="1300" b="0" i="0" u="none" strike="noStrike" dirty="0">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1300" b="0" i="0" u="none" strike="noStrike" dirty="0">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自动识别 </a:t>
            </a:r>
            <a:r>
              <a:rPr lang="en-US" altLang="zh-CN" sz="1300" b="0" i="0" u="none" strike="noStrike" dirty="0" err="1">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npu</a:t>
            </a:r>
            <a:r>
              <a:rPr lang="en-US" altLang="zh-CN" sz="1300" b="0" i="0" u="none" strike="noStrike" dirty="0">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1300" b="0" i="0" u="none" strike="noStrike" dirty="0">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设备</a:t>
            </a:r>
            <a:endParaRPr lang="en-US" altLang="zh-CN" sz="1300" b="0" i="0" u="none" strike="noStrike" dirty="0">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algn="l">
              <a:lnSpc>
                <a:spcPct val="133000"/>
              </a:lnSpc>
            </a:pPr>
            <a:r>
              <a:rPr lang="zh-CN" altLang="en-US" sz="1300" b="0" i="0" u="none" strike="noStrike" dirty="0">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导入这两个库，我们就可以开始编写</a:t>
            </a:r>
            <a:r>
              <a:rPr lang="en-US" altLang="zh-CN" sz="1300" b="0" i="0" u="none" strike="noStrike" dirty="0">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NPU</a:t>
            </a:r>
            <a:r>
              <a:rPr lang="zh-CN" altLang="en-US" sz="1300" b="0" i="0" u="none" strike="noStrike" dirty="0">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程序了。</a:t>
            </a:r>
            <a:endParaRPr lang="en-US" sz="1300" b="0" i="0" u="none" strike="noStrike" dirty="0">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21" name="Picture 21"/>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87107" y="5409565"/>
            <a:ext cx="406400" cy="406400"/>
          </a:xfrm>
          <a:prstGeom prst="rect">
            <a:avLst/>
          </a:prstGeom>
        </p:spPr>
      </p:pic>
      <p:sp>
        <p:nvSpPr>
          <p:cNvPr id="22" name="AutoShape 22"/>
          <p:cNvSpPr/>
          <p:nvPr/>
        </p:nvSpPr>
        <p:spPr>
          <a:xfrm>
            <a:off x="1558607" y="5371465"/>
            <a:ext cx="10249538"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通过结合</a:t>
            </a:r>
            <a:r>
              <a:rPr lang="en-US" sz="14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PyTorch</a:t>
            </a:r>
            <a:r>
              <a:rPr lang="en-US" sz="14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的灵活性与</a:t>
            </a:r>
            <a:r>
              <a:rPr lang="en-US" sz="14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Torch-NPU </a:t>
            </a:r>
            <a:r>
              <a:rPr lang="en-US" sz="14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的硬件适配，能够高效地将现有模型迁移至昇腾平台，充分释放NPU的并行计算潜力</a:t>
            </a:r>
            <a:r>
              <a:rPr lang="en-US" sz="14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24" name="文本框 23"/>
          <p:cNvSpPr txBox="1"/>
          <p:nvPr/>
        </p:nvSpPr>
        <p:spPr>
          <a:xfrm>
            <a:off x="8861108" y="2172335"/>
            <a:ext cx="2947038" cy="645160"/>
          </a:xfrm>
          <a:prstGeom prst="rect">
            <a:avLst/>
          </a:prstGeom>
          <a:solidFill>
            <a:schemeClr val="tx1"/>
          </a:solidFill>
        </p:spPr>
        <p:txBody>
          <a:bodyPr wrap="square">
            <a:spAutoFit/>
          </a:bodyPr>
          <a:lstStyle/>
          <a:p>
            <a:r>
              <a:rPr lang="en-US" altLang="zh-CN" b="0" dirty="0">
                <a:solidFill>
                  <a:srgbClr val="C586C0"/>
                </a:solidFill>
                <a:effectLst/>
                <a:latin typeface="Consolas" panose="020B0609020204030204" pitchFamily="49" charset="0"/>
              </a:rPr>
              <a:t>import</a:t>
            </a:r>
            <a:r>
              <a:rPr lang="en-US" altLang="zh-CN" b="0" dirty="0">
                <a:solidFill>
                  <a:srgbClr val="CCCCCC"/>
                </a:solidFill>
                <a:effectLst/>
                <a:latin typeface="Consolas" panose="020B0609020204030204" pitchFamily="49" charset="0"/>
              </a:rPr>
              <a:t> torch</a:t>
            </a:r>
            <a:endParaRPr lang="en-US" altLang="zh-CN" b="0" dirty="0">
              <a:solidFill>
                <a:srgbClr val="CCCCCC"/>
              </a:solidFill>
              <a:effectLst/>
              <a:latin typeface="Consolas" panose="020B0609020204030204" pitchFamily="49" charset="0"/>
            </a:endParaRPr>
          </a:p>
          <a:p>
            <a:r>
              <a:rPr lang="en-US" altLang="zh-CN" b="0" dirty="0">
                <a:solidFill>
                  <a:srgbClr val="C586C0"/>
                </a:solidFill>
                <a:effectLst/>
                <a:latin typeface="Consolas" panose="020B0609020204030204" pitchFamily="49" charset="0"/>
              </a:rPr>
              <a:t>import</a:t>
            </a:r>
            <a:r>
              <a:rPr lang="en-US" altLang="zh-CN" b="0" dirty="0">
                <a:solidFill>
                  <a:srgbClr val="CCCCCC"/>
                </a:solidFill>
                <a:effectLst/>
                <a:latin typeface="Consolas" panose="020B0609020204030204" pitchFamily="49" charset="0"/>
              </a:rPr>
              <a:t> </a:t>
            </a:r>
            <a:r>
              <a:rPr lang="en-US" altLang="zh-CN" b="0" dirty="0" err="1">
                <a:solidFill>
                  <a:srgbClr val="CCCCCC"/>
                </a:solidFill>
                <a:effectLst/>
                <a:latin typeface="Consolas" panose="020B0609020204030204" pitchFamily="49" charset="0"/>
              </a:rPr>
              <a:t>torch_npu</a:t>
            </a:r>
            <a:endParaRPr lang="en-US" altLang="zh-CN" b="0" dirty="0">
              <a:solidFill>
                <a:srgbClr val="CCCCCC"/>
              </a:solidFill>
              <a:effectLst/>
              <a:latin typeface="Consolas" panose="020B0609020204030204" pitchFamily="49"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4223" y="508000"/>
            <a:ext cx="10668000" cy="508000"/>
          </a:xfrm>
          <a:prstGeom prst="rect">
            <a:avLst/>
          </a:prstGeom>
          <a:noFill/>
          <a:ln w="12700" cap="flat" cmpd="sng">
            <a:noFill/>
            <a:prstDash val="solid"/>
            <a:round/>
          </a:ln>
        </p:spPr>
        <p:txBody>
          <a:bodyPr vert="horz" wrap="square" lIns="0" tIns="0" rIns="0" bIns="0" rtlCol="0" anchor="ctr" anchorCtr="0"/>
          <a:lstStyle/>
          <a:p>
            <a:pPr>
              <a:defRPr/>
            </a:pPr>
            <a:r>
              <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sym typeface="Noto Sans SC" panose="020B0200000000000000" charset="-122"/>
              </a:rPr>
              <a:t>检查NPU可用性</a:t>
            </a:r>
            <a:endPar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 name="AutoShape 4"/>
          <p:cNvSpPr/>
          <p:nvPr/>
        </p:nvSpPr>
        <p:spPr>
          <a:xfrm>
            <a:off x="689928" y="1270000"/>
            <a:ext cx="5461000" cy="3302000"/>
          </a:xfrm>
          <a:prstGeom prst="roundRect">
            <a:avLst>
              <a:gd name="adj" fmla="val 0"/>
            </a:avLst>
          </a:prstGeom>
          <a:solidFill>
            <a:srgbClr val="F3F4F6">
              <a:alpha val="100000"/>
            </a:srgbClr>
          </a:solidFill>
          <a:ln w="12700" cap="flat" cmpd="sng">
            <a:solidFill>
              <a:srgbClr val="D1D5DB">
                <a:alpha val="100000"/>
              </a:srgbClr>
            </a:solidFill>
            <a:prstDash val="solid"/>
            <a:round/>
          </a:ln>
        </p:spPr>
        <p:txBody>
          <a:bodyPr vert="horz" wrap="square" lIns="0" tIns="0" rIns="0" bIns="0" rtlCol="0" anchor="ctr" anchorCtr="0"/>
          <a:lstStyle/>
          <a:p>
            <a:pPr algn="ctr">
              <a:defRPr/>
            </a:pPr>
          </a:p>
        </p:txBody>
      </p:sp>
      <p:sp>
        <p:nvSpPr>
          <p:cNvPr id="5" name="AutoShape 5"/>
          <p:cNvSpPr/>
          <p:nvPr/>
        </p:nvSpPr>
        <p:spPr>
          <a:xfrm>
            <a:off x="880428" y="1397000"/>
            <a:ext cx="508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关键验证代码</a:t>
            </a:r>
            <a:endParaRPr lang="en-US" sz="1100"/>
          </a:p>
        </p:txBody>
      </p:sp>
      <p:cxnSp>
        <p:nvCxnSpPr>
          <p:cNvPr id="6" name="Connector 6"/>
          <p:cNvCxnSpPr/>
          <p:nvPr/>
        </p:nvCxnSpPr>
        <p:spPr>
          <a:xfrm rot="-8594">
            <a:off x="880436" y="1771650"/>
            <a:ext cx="5080000" cy="12700"/>
          </a:xfrm>
          <a:prstGeom prst="straightConnector1">
            <a:avLst/>
          </a:prstGeom>
          <a:solidFill>
            <a:srgbClr val="DEE0E3">
              <a:alpha val="100000"/>
            </a:srgbClr>
          </a:solidFill>
          <a:ln w="12700" cap="flat" cmpd="sng">
            <a:solidFill>
              <a:srgbClr val="D1D5DB">
                <a:alpha val="100000"/>
              </a:srgbClr>
            </a:solidFill>
            <a:prstDash val="solid"/>
            <a:round/>
            <a:headEnd type="none" w="med" len="med"/>
            <a:tailEnd type="none" w="med" len="med"/>
          </a:ln>
        </p:spPr>
      </p:cxnSp>
      <p:sp>
        <p:nvSpPr>
          <p:cNvPr id="7" name="AutoShape 7"/>
          <p:cNvSpPr/>
          <p:nvPr/>
        </p:nvSpPr>
        <p:spPr>
          <a:xfrm>
            <a:off x="880428" y="1905000"/>
            <a:ext cx="5080000" cy="2413000"/>
          </a:xfrm>
          <a:prstGeom prst="rect">
            <a:avLst/>
          </a:prstGeom>
          <a:solidFill>
            <a:schemeClr val="tx1"/>
          </a:solidFill>
          <a:ln w="12700" cap="flat" cmpd="sng">
            <a:noFill/>
            <a:prstDash val="solid"/>
            <a:round/>
          </a:ln>
        </p:spPr>
        <p:txBody>
          <a:bodyPr vert="horz" wrap="square" lIns="0" tIns="0" rIns="0" bIns="0" rtlCol="0" anchor="ctr" anchorCtr="0"/>
          <a:lstStyle/>
          <a:p>
            <a:r>
              <a:rPr lang="en-US" altLang="zh-CN" sz="1200" b="0" dirty="0">
                <a:solidFill>
                  <a:srgbClr val="6A9955"/>
                </a:solidFill>
                <a:effectLst/>
                <a:latin typeface="Consolas" panose="020B0609020204030204" pitchFamily="49" charset="0"/>
              </a:rPr>
              <a:t># </a:t>
            </a:r>
            <a:r>
              <a:rPr lang="zh-CN" altLang="en-US" sz="1200" b="0" dirty="0">
                <a:solidFill>
                  <a:srgbClr val="6A9955"/>
                </a:solidFill>
                <a:effectLst/>
                <a:latin typeface="Consolas" panose="020B0609020204030204" pitchFamily="49" charset="0"/>
              </a:rPr>
              <a:t>检查</a:t>
            </a:r>
            <a:r>
              <a:rPr lang="en-US" altLang="zh-CN" sz="1200" b="0" dirty="0">
                <a:solidFill>
                  <a:srgbClr val="6A9955"/>
                </a:solidFill>
                <a:effectLst/>
                <a:latin typeface="Consolas" panose="020B0609020204030204" pitchFamily="49" charset="0"/>
              </a:rPr>
              <a:t>NPU</a:t>
            </a:r>
            <a:r>
              <a:rPr lang="zh-CN" altLang="en-US" sz="1200" b="0" dirty="0">
                <a:solidFill>
                  <a:srgbClr val="6A9955"/>
                </a:solidFill>
                <a:effectLst/>
                <a:latin typeface="Consolas" panose="020B0609020204030204" pitchFamily="49" charset="0"/>
              </a:rPr>
              <a:t>是否可用</a:t>
            </a:r>
            <a:endParaRPr lang="zh-CN" altLang="en-US" sz="1200" b="0" dirty="0">
              <a:solidFill>
                <a:srgbClr val="CCCCCC"/>
              </a:solidFill>
              <a:effectLst/>
              <a:latin typeface="Consolas" panose="020B0609020204030204" pitchFamily="49" charset="0"/>
            </a:endParaRPr>
          </a:p>
          <a:p>
            <a:r>
              <a:rPr lang="en-US" altLang="zh-CN" sz="1200" b="0" dirty="0">
                <a:solidFill>
                  <a:srgbClr val="DCDCAA"/>
                </a:solidFill>
                <a:effectLst/>
                <a:latin typeface="Consolas" panose="020B0609020204030204" pitchFamily="49" charset="0"/>
              </a:rPr>
              <a:t>print</a:t>
            </a:r>
            <a:r>
              <a:rPr lang="en-US" altLang="zh-CN" sz="1200" b="0" dirty="0">
                <a:solidFill>
                  <a:srgbClr val="CCCCCC"/>
                </a:solidFill>
                <a:effectLst/>
                <a:latin typeface="Consolas" panose="020B0609020204030204" pitchFamily="49" charset="0"/>
              </a:rPr>
              <a:t>(</a:t>
            </a:r>
            <a:r>
              <a:rPr lang="en-US" altLang="zh-CN" sz="1200" b="0" dirty="0" err="1">
                <a:solidFill>
                  <a:srgbClr val="569CD6"/>
                </a:solidFill>
                <a:effectLst/>
                <a:latin typeface="Consolas" panose="020B0609020204030204" pitchFamily="49" charset="0"/>
              </a:rPr>
              <a:t>f</a:t>
            </a:r>
            <a:r>
              <a:rPr lang="en-US" altLang="zh-CN" sz="1200" b="0" dirty="0" err="1">
                <a:solidFill>
                  <a:srgbClr val="CE9178"/>
                </a:solidFill>
                <a:effectLst/>
                <a:latin typeface="Consolas" panose="020B0609020204030204" pitchFamily="49" charset="0"/>
              </a:rPr>
              <a:t>"NPU</a:t>
            </a:r>
            <a:r>
              <a:rPr lang="en-US" altLang="zh-CN" sz="1200" b="0" dirty="0">
                <a:solidFill>
                  <a:srgbClr val="CE9178"/>
                </a:solidFill>
                <a:effectLst/>
                <a:latin typeface="Consolas" panose="020B0609020204030204" pitchFamily="49" charset="0"/>
              </a:rPr>
              <a:t> </a:t>
            </a:r>
            <a:r>
              <a:rPr lang="zh-CN" altLang="en-US" sz="1200" b="0" dirty="0">
                <a:solidFill>
                  <a:srgbClr val="CE9178"/>
                </a:solidFill>
                <a:effectLst/>
                <a:latin typeface="Consolas" panose="020B0609020204030204" pitchFamily="49" charset="0"/>
              </a:rPr>
              <a:t>是否可用</a:t>
            </a:r>
            <a:r>
              <a:rPr lang="en-US" altLang="zh-CN" sz="1200" b="0" dirty="0">
                <a:solidFill>
                  <a:srgbClr val="CE9178"/>
                </a:solidFill>
                <a:effectLst/>
                <a:latin typeface="Consolas" panose="020B0609020204030204" pitchFamily="49" charset="0"/>
              </a:rPr>
              <a:t>: </a:t>
            </a:r>
            <a:r>
              <a:rPr lang="en-US" altLang="zh-CN" sz="1200" b="0" dirty="0">
                <a:solidFill>
                  <a:srgbClr val="569CD6"/>
                </a:solidFill>
                <a:effectLst/>
                <a:latin typeface="Consolas" panose="020B0609020204030204" pitchFamily="49" charset="0"/>
              </a:rPr>
              <a:t>{</a:t>
            </a:r>
            <a:r>
              <a:rPr lang="en-US" altLang="zh-CN" sz="1200" b="0" dirty="0" err="1">
                <a:solidFill>
                  <a:srgbClr val="CCCCCC"/>
                </a:solidFill>
                <a:effectLst/>
                <a:latin typeface="Consolas" panose="020B0609020204030204" pitchFamily="49" charset="0"/>
              </a:rPr>
              <a:t>torch.npu.is_available</a:t>
            </a:r>
            <a:r>
              <a:rPr lang="en-US" altLang="zh-CN" sz="1200" b="0" dirty="0">
                <a:solidFill>
                  <a:srgbClr val="CCCCCC"/>
                </a:solidFill>
                <a:effectLst/>
                <a:latin typeface="Consolas" panose="020B0609020204030204" pitchFamily="49" charset="0"/>
              </a:rPr>
              <a:t>()</a:t>
            </a:r>
            <a:r>
              <a:rPr lang="en-US" altLang="zh-CN" sz="1200" b="0" dirty="0">
                <a:solidFill>
                  <a:srgbClr val="569CD6"/>
                </a:solidFill>
                <a:effectLst/>
                <a:latin typeface="Consolas" panose="020B0609020204030204" pitchFamily="49" charset="0"/>
              </a:rPr>
              <a:t>}</a:t>
            </a:r>
            <a:r>
              <a:rPr lang="en-US" altLang="zh-CN" sz="1200" b="0" dirty="0">
                <a:solidFill>
                  <a:srgbClr val="CE9178"/>
                </a:solidFill>
                <a:effectLst/>
                <a:latin typeface="Consolas" panose="020B0609020204030204" pitchFamily="49" charset="0"/>
              </a:rPr>
              <a:t>"</a:t>
            </a:r>
            <a:r>
              <a:rPr lang="en-US" altLang="zh-CN" sz="1200" b="0" dirty="0">
                <a:solidFill>
                  <a:srgbClr val="CCCCCC"/>
                </a:solidFill>
                <a:effectLst/>
                <a:latin typeface="Consolas" panose="020B0609020204030204" pitchFamily="49" charset="0"/>
              </a:rPr>
              <a:t>)</a:t>
            </a:r>
            <a:endParaRPr lang="en-US" altLang="zh-CN" sz="1200" b="0" dirty="0">
              <a:solidFill>
                <a:srgbClr val="CCCCCC"/>
              </a:solidFill>
              <a:effectLst/>
              <a:latin typeface="Consolas" panose="020B0609020204030204" pitchFamily="49" charset="0"/>
            </a:endParaRPr>
          </a:p>
          <a:p>
            <a:r>
              <a:rPr lang="en-US" altLang="zh-CN" sz="1200" b="0" dirty="0">
                <a:solidFill>
                  <a:srgbClr val="6A9955"/>
                </a:solidFill>
                <a:effectLst/>
                <a:latin typeface="Consolas" panose="020B0609020204030204" pitchFamily="49" charset="0"/>
              </a:rPr>
              <a:t># </a:t>
            </a:r>
            <a:r>
              <a:rPr lang="zh-CN" altLang="en-US" sz="1200" b="0" dirty="0">
                <a:solidFill>
                  <a:srgbClr val="6A9955"/>
                </a:solidFill>
                <a:effectLst/>
                <a:latin typeface="Consolas" panose="020B0609020204030204" pitchFamily="49" charset="0"/>
              </a:rPr>
              <a:t>检查可用的</a:t>
            </a:r>
            <a:r>
              <a:rPr lang="en-US" altLang="zh-CN" sz="1200" b="0" dirty="0">
                <a:solidFill>
                  <a:srgbClr val="6A9955"/>
                </a:solidFill>
                <a:effectLst/>
                <a:latin typeface="Consolas" panose="020B0609020204030204" pitchFamily="49" charset="0"/>
              </a:rPr>
              <a:t>NPU</a:t>
            </a:r>
            <a:r>
              <a:rPr lang="zh-CN" altLang="en-US" sz="1200" b="0" dirty="0">
                <a:solidFill>
                  <a:srgbClr val="6A9955"/>
                </a:solidFill>
                <a:effectLst/>
                <a:latin typeface="Consolas" panose="020B0609020204030204" pitchFamily="49" charset="0"/>
              </a:rPr>
              <a:t>设备数量</a:t>
            </a:r>
            <a:endParaRPr lang="zh-CN" altLang="en-US" sz="1200" b="0" dirty="0">
              <a:solidFill>
                <a:srgbClr val="CCCCCC"/>
              </a:solidFill>
              <a:effectLst/>
              <a:latin typeface="Consolas" panose="020B0609020204030204" pitchFamily="49" charset="0"/>
            </a:endParaRPr>
          </a:p>
          <a:p>
            <a:r>
              <a:rPr lang="en-US" altLang="zh-CN" sz="1200" b="0" dirty="0">
                <a:solidFill>
                  <a:srgbClr val="DCDCAA"/>
                </a:solidFill>
                <a:effectLst/>
                <a:latin typeface="Consolas" panose="020B0609020204030204" pitchFamily="49" charset="0"/>
              </a:rPr>
              <a:t>print</a:t>
            </a:r>
            <a:r>
              <a:rPr lang="en-US" altLang="zh-CN" sz="1200" b="0" dirty="0">
                <a:solidFill>
                  <a:srgbClr val="CCCCCC"/>
                </a:solidFill>
                <a:effectLst/>
                <a:latin typeface="Consolas" panose="020B0609020204030204" pitchFamily="49" charset="0"/>
              </a:rPr>
              <a:t>(</a:t>
            </a:r>
            <a:r>
              <a:rPr lang="en-US" altLang="zh-CN" sz="1200" b="0" dirty="0" err="1">
                <a:solidFill>
                  <a:srgbClr val="569CD6"/>
                </a:solidFill>
                <a:effectLst/>
                <a:latin typeface="Consolas" panose="020B0609020204030204" pitchFamily="49" charset="0"/>
              </a:rPr>
              <a:t>f</a:t>
            </a:r>
            <a:r>
              <a:rPr lang="en-US" altLang="zh-CN" sz="1200" b="0" dirty="0" err="1">
                <a:solidFill>
                  <a:srgbClr val="CE9178"/>
                </a:solidFill>
                <a:effectLst/>
                <a:latin typeface="Consolas" panose="020B0609020204030204" pitchFamily="49" charset="0"/>
              </a:rPr>
              <a:t>"NPU</a:t>
            </a:r>
            <a:r>
              <a:rPr lang="en-US" altLang="zh-CN" sz="1200" b="0" dirty="0">
                <a:solidFill>
                  <a:srgbClr val="CE9178"/>
                </a:solidFill>
                <a:effectLst/>
                <a:latin typeface="Consolas" panose="020B0609020204030204" pitchFamily="49" charset="0"/>
              </a:rPr>
              <a:t> </a:t>
            </a:r>
            <a:r>
              <a:rPr lang="zh-CN" altLang="en-US" sz="1200" b="0" dirty="0">
                <a:solidFill>
                  <a:srgbClr val="CE9178"/>
                </a:solidFill>
                <a:effectLst/>
                <a:latin typeface="Consolas" panose="020B0609020204030204" pitchFamily="49" charset="0"/>
              </a:rPr>
              <a:t>设备数量</a:t>
            </a:r>
            <a:r>
              <a:rPr lang="en-US" altLang="zh-CN" sz="1200" b="0" dirty="0">
                <a:solidFill>
                  <a:srgbClr val="CE9178"/>
                </a:solidFill>
                <a:effectLst/>
                <a:latin typeface="Consolas" panose="020B0609020204030204" pitchFamily="49" charset="0"/>
              </a:rPr>
              <a:t>: </a:t>
            </a:r>
            <a:r>
              <a:rPr lang="en-US" altLang="zh-CN" sz="1200" b="0" dirty="0">
                <a:solidFill>
                  <a:srgbClr val="569CD6"/>
                </a:solidFill>
                <a:effectLst/>
                <a:latin typeface="Consolas" panose="020B0609020204030204" pitchFamily="49" charset="0"/>
              </a:rPr>
              <a:t>{</a:t>
            </a:r>
            <a:r>
              <a:rPr lang="en-US" altLang="zh-CN" sz="1200" b="0" dirty="0" err="1">
                <a:solidFill>
                  <a:srgbClr val="CCCCCC"/>
                </a:solidFill>
                <a:effectLst/>
                <a:latin typeface="Consolas" panose="020B0609020204030204" pitchFamily="49" charset="0"/>
              </a:rPr>
              <a:t>torch.npu.device_count</a:t>
            </a:r>
            <a:r>
              <a:rPr lang="en-US" altLang="zh-CN" sz="1200" b="0" dirty="0">
                <a:solidFill>
                  <a:srgbClr val="CCCCCC"/>
                </a:solidFill>
                <a:effectLst/>
                <a:latin typeface="Consolas" panose="020B0609020204030204" pitchFamily="49" charset="0"/>
              </a:rPr>
              <a:t>()</a:t>
            </a:r>
            <a:r>
              <a:rPr lang="en-US" altLang="zh-CN" sz="1200" b="0" dirty="0">
                <a:solidFill>
                  <a:srgbClr val="569CD6"/>
                </a:solidFill>
                <a:effectLst/>
                <a:latin typeface="Consolas" panose="020B0609020204030204" pitchFamily="49" charset="0"/>
              </a:rPr>
              <a:t>}</a:t>
            </a:r>
            <a:r>
              <a:rPr lang="en-US" altLang="zh-CN" sz="1200" b="0" dirty="0">
                <a:solidFill>
                  <a:srgbClr val="CE9178"/>
                </a:solidFill>
                <a:effectLst/>
                <a:latin typeface="Consolas" panose="020B0609020204030204" pitchFamily="49" charset="0"/>
              </a:rPr>
              <a:t>"</a:t>
            </a:r>
            <a:r>
              <a:rPr lang="en-US" altLang="zh-CN" sz="1200" b="0" dirty="0">
                <a:solidFill>
                  <a:srgbClr val="CCCCCC"/>
                </a:solidFill>
                <a:effectLst/>
                <a:latin typeface="Consolas" panose="020B0609020204030204" pitchFamily="49" charset="0"/>
              </a:rPr>
              <a:t>)</a:t>
            </a:r>
            <a:endParaRPr lang="en-US" altLang="zh-CN" sz="1200" b="0" dirty="0">
              <a:solidFill>
                <a:srgbClr val="CCCCCC"/>
              </a:solidFill>
              <a:effectLst/>
              <a:latin typeface="Consolas" panose="020B0609020204030204" pitchFamily="49" charset="0"/>
            </a:endParaRPr>
          </a:p>
          <a:p>
            <a:r>
              <a:rPr lang="en-US" altLang="zh-CN" sz="1200" b="0" dirty="0">
                <a:solidFill>
                  <a:srgbClr val="6A9955"/>
                </a:solidFill>
                <a:effectLst/>
                <a:latin typeface="Consolas" panose="020B0609020204030204" pitchFamily="49" charset="0"/>
              </a:rPr>
              <a:t># </a:t>
            </a:r>
            <a:r>
              <a:rPr lang="zh-CN" altLang="en-US" sz="1200" b="0" dirty="0">
                <a:solidFill>
                  <a:srgbClr val="6A9955"/>
                </a:solidFill>
                <a:effectLst/>
                <a:latin typeface="Consolas" panose="020B0609020204030204" pitchFamily="49" charset="0"/>
              </a:rPr>
              <a:t>如果可用，打印当前</a:t>
            </a:r>
            <a:r>
              <a:rPr lang="en-US" altLang="zh-CN" sz="1200" b="0" dirty="0">
                <a:solidFill>
                  <a:srgbClr val="6A9955"/>
                </a:solidFill>
                <a:effectLst/>
                <a:latin typeface="Consolas" panose="020B0609020204030204" pitchFamily="49" charset="0"/>
              </a:rPr>
              <a:t>NPU</a:t>
            </a:r>
            <a:r>
              <a:rPr lang="zh-CN" altLang="en-US" sz="1200" b="0" dirty="0">
                <a:solidFill>
                  <a:srgbClr val="6A9955"/>
                </a:solidFill>
                <a:effectLst/>
                <a:latin typeface="Consolas" panose="020B0609020204030204" pitchFamily="49" charset="0"/>
              </a:rPr>
              <a:t>设备名称</a:t>
            </a:r>
            <a:endParaRPr lang="zh-CN" altLang="en-US" sz="1200" b="0" dirty="0">
              <a:solidFill>
                <a:srgbClr val="CCCCCC"/>
              </a:solidFill>
              <a:effectLst/>
              <a:latin typeface="Consolas" panose="020B0609020204030204" pitchFamily="49" charset="0"/>
            </a:endParaRPr>
          </a:p>
          <a:p>
            <a:r>
              <a:rPr lang="en-US" altLang="zh-CN" sz="1200" b="0" dirty="0">
                <a:solidFill>
                  <a:srgbClr val="C586C0"/>
                </a:solidFill>
                <a:effectLst/>
                <a:latin typeface="Consolas" panose="020B0609020204030204" pitchFamily="49" charset="0"/>
              </a:rPr>
              <a:t>if</a:t>
            </a:r>
            <a:r>
              <a:rPr lang="en-US" altLang="zh-CN" sz="1200" b="0" dirty="0">
                <a:solidFill>
                  <a:srgbClr val="CCCCCC"/>
                </a:solidFill>
                <a:effectLst/>
                <a:latin typeface="Consolas" panose="020B0609020204030204" pitchFamily="49" charset="0"/>
              </a:rPr>
              <a:t> </a:t>
            </a:r>
            <a:r>
              <a:rPr lang="en-US" altLang="zh-CN" sz="1200" b="0" dirty="0" err="1">
                <a:solidFill>
                  <a:srgbClr val="CCCCCC"/>
                </a:solidFill>
                <a:effectLst/>
                <a:latin typeface="Consolas" panose="020B0609020204030204" pitchFamily="49" charset="0"/>
              </a:rPr>
              <a:t>torch.npu.is_available</a:t>
            </a:r>
            <a:r>
              <a:rPr lang="en-US" altLang="zh-CN" sz="1200" b="0" dirty="0">
                <a:solidFill>
                  <a:srgbClr val="CCCCCC"/>
                </a:solidFill>
                <a:effectLst/>
                <a:latin typeface="Consolas" panose="020B0609020204030204" pitchFamily="49" charset="0"/>
              </a:rPr>
              <a:t>():</a:t>
            </a:r>
            <a:endParaRPr lang="en-US" altLang="zh-CN" sz="1200" b="0" dirty="0">
              <a:solidFill>
                <a:srgbClr val="CCCCCC"/>
              </a:solidFill>
              <a:effectLst/>
              <a:latin typeface="Consolas" panose="020B0609020204030204" pitchFamily="49" charset="0"/>
            </a:endParaRPr>
          </a:p>
          <a:p>
            <a:r>
              <a:rPr lang="en-US" altLang="zh-CN" sz="1200" b="0" dirty="0">
                <a:solidFill>
                  <a:srgbClr val="CCCCCC"/>
                </a:solidFill>
                <a:effectLst/>
                <a:latin typeface="Consolas" panose="020B0609020204030204" pitchFamily="49" charset="0"/>
              </a:rPr>
              <a:t>    </a:t>
            </a:r>
            <a:r>
              <a:rPr lang="en-US" altLang="zh-CN" sz="1200" b="0" dirty="0">
                <a:solidFill>
                  <a:srgbClr val="DCDCAA"/>
                </a:solidFill>
                <a:effectLst/>
                <a:latin typeface="Consolas" panose="020B0609020204030204" pitchFamily="49" charset="0"/>
              </a:rPr>
              <a:t>print</a:t>
            </a:r>
            <a:r>
              <a:rPr lang="en-US" altLang="zh-CN" sz="1200" b="0" dirty="0">
                <a:solidFill>
                  <a:srgbClr val="CCCCCC"/>
                </a:solidFill>
                <a:effectLst/>
                <a:latin typeface="Consolas" panose="020B0609020204030204" pitchFamily="49" charset="0"/>
              </a:rPr>
              <a:t>(</a:t>
            </a:r>
            <a:r>
              <a:rPr lang="en-US" altLang="zh-CN" sz="1200" b="0" dirty="0">
                <a:solidFill>
                  <a:srgbClr val="569CD6"/>
                </a:solidFill>
                <a:effectLst/>
                <a:latin typeface="Consolas" panose="020B0609020204030204" pitchFamily="49" charset="0"/>
              </a:rPr>
              <a:t>f</a:t>
            </a:r>
            <a:r>
              <a:rPr lang="en-US" altLang="zh-CN" sz="1200" b="0" dirty="0">
                <a:solidFill>
                  <a:srgbClr val="CE9178"/>
                </a:solidFill>
                <a:effectLst/>
                <a:latin typeface="Consolas" panose="020B0609020204030204" pitchFamily="49" charset="0"/>
              </a:rPr>
              <a:t>"</a:t>
            </a:r>
            <a:r>
              <a:rPr lang="zh-CN" altLang="en-US" sz="1200" b="0" dirty="0">
                <a:solidFill>
                  <a:srgbClr val="CE9178"/>
                </a:solidFill>
                <a:effectLst/>
                <a:latin typeface="Consolas" panose="020B0609020204030204" pitchFamily="49" charset="0"/>
              </a:rPr>
              <a:t>当前 </a:t>
            </a:r>
            <a:r>
              <a:rPr lang="en-US" altLang="zh-CN" sz="1200" b="0" dirty="0">
                <a:solidFill>
                  <a:srgbClr val="CE9178"/>
                </a:solidFill>
                <a:effectLst/>
                <a:latin typeface="Consolas" panose="020B0609020204030204" pitchFamily="49" charset="0"/>
              </a:rPr>
              <a:t>NPU </a:t>
            </a:r>
            <a:r>
              <a:rPr lang="zh-CN" altLang="en-US" sz="1200" b="0" dirty="0">
                <a:solidFill>
                  <a:srgbClr val="CE9178"/>
                </a:solidFill>
                <a:effectLst/>
                <a:latin typeface="Consolas" panose="020B0609020204030204" pitchFamily="49" charset="0"/>
              </a:rPr>
              <a:t>设备名</a:t>
            </a:r>
            <a:r>
              <a:rPr lang="en-US" altLang="zh-CN" sz="1200" b="0" dirty="0">
                <a:solidFill>
                  <a:srgbClr val="CE9178"/>
                </a:solidFill>
                <a:effectLst/>
                <a:latin typeface="Consolas" panose="020B0609020204030204" pitchFamily="49" charset="0"/>
              </a:rPr>
              <a:t>: </a:t>
            </a:r>
            <a:r>
              <a:rPr lang="en-US" altLang="zh-CN" sz="1200" b="0" dirty="0">
                <a:solidFill>
                  <a:srgbClr val="569CD6"/>
                </a:solidFill>
                <a:effectLst/>
                <a:latin typeface="Consolas" panose="020B0609020204030204" pitchFamily="49" charset="0"/>
              </a:rPr>
              <a:t>{</a:t>
            </a:r>
            <a:r>
              <a:rPr lang="en-US" altLang="zh-CN" sz="1200" b="0" dirty="0" err="1">
                <a:solidFill>
                  <a:srgbClr val="CCCCCC"/>
                </a:solidFill>
                <a:effectLst/>
                <a:latin typeface="Consolas" panose="020B0609020204030204" pitchFamily="49" charset="0"/>
              </a:rPr>
              <a:t>torch.npu.get_device_name</a:t>
            </a:r>
            <a:r>
              <a:rPr lang="en-US" altLang="zh-CN" sz="1200" b="0" dirty="0">
                <a:solidFill>
                  <a:srgbClr val="CCCCCC"/>
                </a:solidFill>
                <a:effectLst/>
                <a:latin typeface="Consolas" panose="020B0609020204030204" pitchFamily="49" charset="0"/>
              </a:rPr>
              <a:t>(</a:t>
            </a:r>
            <a:r>
              <a:rPr lang="en-US" altLang="zh-CN" sz="1200" b="0" dirty="0">
                <a:solidFill>
                  <a:srgbClr val="B5CEA8"/>
                </a:solidFill>
                <a:effectLst/>
                <a:latin typeface="Consolas" panose="020B0609020204030204" pitchFamily="49" charset="0"/>
              </a:rPr>
              <a:t>0</a:t>
            </a:r>
            <a:r>
              <a:rPr lang="en-US" altLang="zh-CN" sz="1200" b="0" dirty="0">
                <a:solidFill>
                  <a:srgbClr val="CCCCCC"/>
                </a:solidFill>
                <a:effectLst/>
                <a:latin typeface="Consolas" panose="020B0609020204030204" pitchFamily="49" charset="0"/>
              </a:rPr>
              <a:t>)</a:t>
            </a:r>
            <a:r>
              <a:rPr lang="en-US" altLang="zh-CN" sz="1200" b="0" dirty="0">
                <a:solidFill>
                  <a:srgbClr val="569CD6"/>
                </a:solidFill>
                <a:effectLst/>
                <a:latin typeface="Consolas" panose="020B0609020204030204" pitchFamily="49" charset="0"/>
              </a:rPr>
              <a:t>}</a:t>
            </a:r>
            <a:r>
              <a:rPr lang="en-US" altLang="zh-CN" sz="1200" b="0" dirty="0">
                <a:solidFill>
                  <a:srgbClr val="CE9178"/>
                </a:solidFill>
                <a:effectLst/>
                <a:latin typeface="Consolas" panose="020B0609020204030204" pitchFamily="49" charset="0"/>
              </a:rPr>
              <a:t>"</a:t>
            </a:r>
            <a:r>
              <a:rPr lang="en-US" altLang="zh-CN" sz="1200" b="0" dirty="0">
                <a:solidFill>
                  <a:srgbClr val="CCCCCC"/>
                </a:solidFill>
                <a:effectLst/>
                <a:latin typeface="Consolas" panose="020B0609020204030204" pitchFamily="49" charset="0"/>
              </a:rPr>
              <a:t>)</a:t>
            </a:r>
            <a:endParaRPr lang="en-US" altLang="zh-CN" sz="1200" b="0" dirty="0">
              <a:solidFill>
                <a:srgbClr val="CCCCCC"/>
              </a:solidFill>
              <a:effectLst/>
              <a:latin typeface="Consolas" panose="020B0609020204030204" pitchFamily="49" charset="0"/>
            </a:endParaRPr>
          </a:p>
        </p:txBody>
      </p:sp>
      <p:sp>
        <p:nvSpPr>
          <p:cNvPr id="8" name="AutoShape 8"/>
          <p:cNvSpPr/>
          <p:nvPr/>
        </p:nvSpPr>
        <p:spPr>
          <a:xfrm>
            <a:off x="689928" y="4953000"/>
            <a:ext cx="5461000" cy="1079500"/>
          </a:xfrm>
          <a:prstGeom prst="roundRect">
            <a:avLst>
              <a:gd name="adj" fmla="val 0"/>
            </a:avLst>
          </a:prstGeom>
          <a:solidFill>
            <a:srgbClr val="EFF6FF">
              <a:alpha val="100000"/>
            </a:srgbClr>
          </a:solidFill>
          <a:ln w="12700" cap="flat" cmpd="sng">
            <a:solidFill>
              <a:srgbClr val="BFDBFE">
                <a:alpha val="100000"/>
              </a:srgbClr>
            </a:solidFill>
            <a:prstDash val="dash"/>
            <a:round/>
          </a:ln>
        </p:spPr>
        <p:txBody>
          <a:bodyPr vert="horz" wrap="square" lIns="0" tIns="0" rIns="0" bIns="0" rtlCol="0" anchor="ctr" anchorCtr="0"/>
          <a:lstStyle/>
          <a:p>
            <a:pPr algn="ctr">
              <a:defRPr/>
            </a:pPr>
          </a:p>
        </p:txBody>
      </p:sp>
      <p:pic>
        <p:nvPicPr>
          <p:cNvPr id="9" name="Picture 9"/>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80428" y="5080000"/>
            <a:ext cx="304800" cy="304800"/>
          </a:xfrm>
          <a:prstGeom prst="rect">
            <a:avLst/>
          </a:prstGeom>
        </p:spPr>
      </p:pic>
      <p:sp>
        <p:nvSpPr>
          <p:cNvPr id="10" name="AutoShape 10"/>
          <p:cNvSpPr/>
          <p:nvPr/>
        </p:nvSpPr>
        <p:spPr>
          <a:xfrm>
            <a:off x="1324928" y="5080000"/>
            <a:ext cx="4635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若检测结果返回 False，请优先排查 NPU 驱动程序与 CANN 工具包是否已正确安装，同时确认环境变量（如 ASCEND_HOME）配置无误，确保系统能正确识别硬件设备。</a:t>
            </a:r>
            <a:endParaRPr lang="en-US" sz="1100"/>
          </a:p>
        </p:txBody>
      </p:sp>
      <p:sp>
        <p:nvSpPr>
          <p:cNvPr id="11" name="AutoShape 11"/>
          <p:cNvSpPr/>
          <p:nvPr/>
        </p:nvSpPr>
        <p:spPr>
          <a:xfrm>
            <a:off x="6531928" y="1270000"/>
            <a:ext cx="4826000" cy="1397000"/>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0" tIns="0" rIns="0" bIns="0" rtlCol="0" anchor="ctr" anchorCtr="0"/>
          <a:lstStyle/>
          <a:p>
            <a:pPr algn="ctr">
              <a:defRPr/>
            </a:pPr>
          </a:p>
        </p:txBody>
      </p:sp>
      <p:pic>
        <p:nvPicPr>
          <p:cNvPr id="12" name="Picture 12"/>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722428" y="1460500"/>
            <a:ext cx="304800" cy="304800"/>
          </a:xfrm>
          <a:prstGeom prst="rect">
            <a:avLst/>
          </a:prstGeom>
        </p:spPr>
      </p:pic>
      <p:sp>
        <p:nvSpPr>
          <p:cNvPr id="13" name="AutoShape 13"/>
          <p:cNvSpPr/>
          <p:nvPr/>
        </p:nvSpPr>
        <p:spPr>
          <a:xfrm>
            <a:off x="7166928" y="1460500"/>
            <a:ext cx="4000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dirty="0" err="1">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环境前置验证</a:t>
            </a:r>
            <a:br>
              <a:rPr lang="en-US" sz="1600" b="0" i="0" u="none" strike="noStrike" dirty="0">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在启动模型训练或推理任务前，必须先确认</a:t>
            </a:r>
            <a:r>
              <a:rPr lang="en-US" sz="13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NPU </a:t>
            </a:r>
            <a:r>
              <a:rPr lang="en-US" sz="13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是否被</a:t>
            </a:r>
            <a:r>
              <a:rPr lang="en-US" sz="13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3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PyTorch</a:t>
            </a:r>
            <a:r>
              <a:rPr lang="en-US" sz="13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3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框架正确识别。是确保算力资源被有效调用的首要步骤</a:t>
            </a:r>
            <a:r>
              <a:rPr lang="en-US" sz="13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14" name="AutoShape 14"/>
          <p:cNvSpPr/>
          <p:nvPr/>
        </p:nvSpPr>
        <p:spPr>
          <a:xfrm>
            <a:off x="6531928" y="2921000"/>
            <a:ext cx="4826000" cy="1841500"/>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0" tIns="0" rIns="0" bIns="0" rtlCol="0" anchor="ctr" anchorCtr="0"/>
          <a:lstStyle/>
          <a:p>
            <a:pPr algn="ctr">
              <a:defRPr/>
            </a:pPr>
          </a:p>
        </p:txBody>
      </p:sp>
      <p:pic>
        <p:nvPicPr>
          <p:cNvPr id="15" name="Picture 15"/>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722428" y="3111500"/>
            <a:ext cx="304800" cy="304800"/>
          </a:xfrm>
          <a:prstGeom prst="rect">
            <a:avLst/>
          </a:prstGeom>
        </p:spPr>
      </p:pic>
      <p:sp>
        <p:nvSpPr>
          <p:cNvPr id="16" name="AutoShape 16"/>
          <p:cNvSpPr/>
          <p:nvPr/>
        </p:nvSpPr>
        <p:spPr>
          <a:xfrm>
            <a:off x="7166928" y="3111500"/>
            <a:ext cx="40005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dirty="0" err="1">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正常运行预期输出</a:t>
            </a:r>
            <a:br>
              <a:rPr lang="en-US" sz="1600" b="0" i="0" u="none" strike="noStrike" dirty="0">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dirty="0">
                <a:solidFill>
                  <a:srgbClr val="374151"/>
                </a:solidFill>
                <a:latin typeface="Consolas" panose="020B0609020204030204"/>
                <a:ea typeface="Consolas" panose="020B0609020204030204"/>
                <a:cs typeface="Consolas" panose="020B0609020204030204"/>
                <a:sym typeface="Consolas" panose="020B0609020204030204"/>
              </a:rPr>
              <a:t>NPU </a:t>
            </a:r>
            <a:r>
              <a:rPr lang="en-US" sz="1300" b="0" i="0" u="none" strike="noStrike" dirty="0" err="1">
                <a:solidFill>
                  <a:srgbClr val="374151"/>
                </a:solidFill>
                <a:latin typeface="Consolas" panose="020B0609020204030204"/>
                <a:ea typeface="Consolas" panose="020B0609020204030204"/>
                <a:cs typeface="Consolas" panose="020B0609020204030204"/>
                <a:sym typeface="Consolas" panose="020B0609020204030204"/>
              </a:rPr>
              <a:t>是否可用</a:t>
            </a:r>
            <a:r>
              <a:rPr lang="en-US" sz="1300" b="0" i="0" u="none" strike="noStrike" dirty="0">
                <a:solidFill>
                  <a:srgbClr val="374151"/>
                </a:solidFill>
                <a:latin typeface="Consolas" panose="020B0609020204030204"/>
                <a:ea typeface="Consolas" panose="020B0609020204030204"/>
                <a:cs typeface="Consolas" panose="020B0609020204030204"/>
                <a:sym typeface="Consolas" panose="020B0609020204030204"/>
              </a:rPr>
              <a:t>: True</a:t>
            </a:r>
            <a:br>
              <a:rPr lang="en-US" sz="1600" b="0" i="0" u="none" strike="noStrike" dirty="0">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dirty="0">
                <a:solidFill>
                  <a:srgbClr val="374151"/>
                </a:solidFill>
                <a:latin typeface="Consolas" panose="020B0609020204030204"/>
                <a:ea typeface="Consolas" panose="020B0609020204030204"/>
                <a:cs typeface="Consolas" panose="020B0609020204030204"/>
                <a:sym typeface="Consolas" panose="020B0609020204030204"/>
              </a:rPr>
              <a:t>NPU </a:t>
            </a:r>
            <a:r>
              <a:rPr lang="en-US" sz="1300" b="0" i="0" u="none" strike="noStrike" dirty="0" err="1">
                <a:solidFill>
                  <a:srgbClr val="374151"/>
                </a:solidFill>
                <a:latin typeface="Consolas" panose="020B0609020204030204"/>
                <a:ea typeface="Consolas" panose="020B0609020204030204"/>
                <a:cs typeface="Consolas" panose="020B0609020204030204"/>
                <a:sym typeface="Consolas" panose="020B0609020204030204"/>
              </a:rPr>
              <a:t>设备数量</a:t>
            </a:r>
            <a:r>
              <a:rPr lang="en-US" sz="1300" b="0" i="0" u="none" strike="noStrike" dirty="0">
                <a:solidFill>
                  <a:srgbClr val="374151"/>
                </a:solidFill>
                <a:latin typeface="Consolas" panose="020B0609020204030204"/>
                <a:ea typeface="Consolas" panose="020B0609020204030204"/>
                <a:cs typeface="Consolas" panose="020B0609020204030204"/>
                <a:sym typeface="Consolas" panose="020B0609020204030204"/>
              </a:rPr>
              <a:t>: 1</a:t>
            </a:r>
            <a:br>
              <a:rPr lang="en-US" sz="1600" b="0" i="0" u="none" strike="noStrike" dirty="0">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dirty="0" err="1">
                <a:solidFill>
                  <a:srgbClr val="374151"/>
                </a:solidFill>
                <a:latin typeface="Consolas" panose="020B0609020204030204"/>
                <a:ea typeface="Consolas" panose="020B0609020204030204"/>
                <a:cs typeface="Consolas" panose="020B0609020204030204"/>
                <a:sym typeface="Consolas" panose="020B0609020204030204"/>
              </a:rPr>
              <a:t>当前</a:t>
            </a:r>
            <a:r>
              <a:rPr lang="en-US" sz="1300" b="0" i="0" u="none" strike="noStrike" dirty="0">
                <a:solidFill>
                  <a:srgbClr val="374151"/>
                </a:solidFill>
                <a:latin typeface="Consolas" panose="020B0609020204030204"/>
                <a:ea typeface="Consolas" panose="020B0609020204030204"/>
                <a:cs typeface="Consolas" panose="020B0609020204030204"/>
                <a:sym typeface="Consolas" panose="020B0609020204030204"/>
              </a:rPr>
              <a:t> NPU </a:t>
            </a:r>
            <a:r>
              <a:rPr lang="en-US" sz="1300" b="0" i="0" u="none" strike="noStrike" dirty="0" err="1">
                <a:solidFill>
                  <a:srgbClr val="374151"/>
                </a:solidFill>
                <a:latin typeface="Consolas" panose="020B0609020204030204"/>
                <a:ea typeface="Consolas" panose="020B0609020204030204"/>
                <a:cs typeface="Consolas" panose="020B0609020204030204"/>
                <a:sym typeface="Consolas" panose="020B0609020204030204"/>
              </a:rPr>
              <a:t>设备名</a:t>
            </a:r>
            <a:r>
              <a:rPr lang="en-US" sz="1300" b="0" i="0" u="none" strike="noStrike" dirty="0">
                <a:solidFill>
                  <a:srgbClr val="374151"/>
                </a:solidFill>
                <a:latin typeface="Consolas" panose="020B0609020204030204"/>
                <a:ea typeface="Consolas" panose="020B0609020204030204"/>
                <a:cs typeface="Consolas" panose="020B0609020204030204"/>
                <a:sym typeface="Consolas" panose="020B0609020204030204"/>
              </a:rPr>
              <a:t>: Ascend 910B</a:t>
            </a:r>
            <a:r>
              <a:rPr lang="en-US" altLang="zh-CN" sz="1300" b="0" i="0" u="none" strike="noStrike" dirty="0">
                <a:solidFill>
                  <a:srgbClr val="374151"/>
                </a:solidFill>
                <a:latin typeface="Consolas" panose="020B0609020204030204"/>
                <a:ea typeface="Consolas" panose="020B0609020204030204"/>
                <a:cs typeface="Consolas" panose="020B0609020204030204"/>
                <a:sym typeface="Consolas" panose="020B0609020204030204"/>
              </a:rPr>
              <a:t>x</a:t>
            </a:r>
            <a:endParaRPr lang="en-US" sz="1100" dirty="0"/>
          </a:p>
        </p:txBody>
      </p:sp>
      <p:sp>
        <p:nvSpPr>
          <p:cNvPr id="17" name="AutoShape 17"/>
          <p:cNvSpPr/>
          <p:nvPr/>
        </p:nvSpPr>
        <p:spPr>
          <a:xfrm>
            <a:off x="6531928" y="4953000"/>
            <a:ext cx="4826000" cy="1079500"/>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0" tIns="0" rIns="0" bIns="0" rtlCol="0" anchor="ctr" anchorCtr="0"/>
          <a:lstStyle/>
          <a:p>
            <a:pPr algn="ctr">
              <a:defRPr/>
            </a:pPr>
          </a:p>
        </p:txBody>
      </p:sp>
      <p:pic>
        <p:nvPicPr>
          <p:cNvPr id="18" name="Picture 18"/>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722428" y="5143500"/>
            <a:ext cx="304800" cy="304800"/>
          </a:xfrm>
          <a:prstGeom prst="rect">
            <a:avLst/>
          </a:prstGeom>
        </p:spPr>
      </p:pic>
      <p:sp>
        <p:nvSpPr>
          <p:cNvPr id="19" name="AutoShape 19"/>
          <p:cNvSpPr/>
          <p:nvPr/>
        </p:nvSpPr>
        <p:spPr>
          <a:xfrm>
            <a:off x="7166928" y="5143500"/>
            <a:ext cx="4000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确认设备名称为 Ascend 系列，代表底层驱动与框架适配层已成功建立通信，可支撑后续的张量运算与模型部署工作。</a:t>
            </a:r>
            <a:endParaRPr lang="en-US" sz="11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4540" y="1282700"/>
            <a:ext cx="10680700" cy="4687570"/>
          </a:xfrm>
          <a:prstGeom prst="rect">
            <a:avLst/>
          </a:prstGeom>
          <a:noFill/>
          <a:extLst>
            <a:ext uri="{909E8E84-426E-40DD-AFC4-6F175D3DCCD1}">
              <a14:hiddenFill xmlns:a14="http://schemas.microsoft.com/office/drawing/2010/main">
                <a:solidFill>
                  <a:srgbClr val="F3F4F6"/>
                </a:solidFill>
              </a14:hiddenFill>
            </a:ext>
          </a:extLst>
        </p:spPr>
        <p:txBody>
          <a:bodyPr wrap="square">
            <a:noAutofit/>
          </a:bodyPr>
          <a:lstStyle/>
          <a:p>
            <a:pPr>
              <a:lnSpc>
                <a:spcPct val="150000"/>
              </a:lnSpc>
            </a:pPr>
            <a:r>
              <a:rPr sz="1500" b="1">
                <a:solidFill>
                  <a:srgbClr val="1F2329"/>
                </a:solidFill>
                <a:latin typeface="微软雅黑" panose="020B0503020204020204" pitchFamily="34" charset="-122"/>
                <a:ea typeface="微软雅黑" panose="020B0503020204020204" pitchFamily="34" charset="-122"/>
                <a:cs typeface="微软雅黑" panose="020B0503020204020204" pitchFamily="34" charset="-122"/>
              </a:rPr>
              <a:t>第 1 题（基础 ★☆☆）：NPU 上计算 z = x² + y</a:t>
            </a:r>
            <a:endParaRPr sz="1500" b="1">
              <a:solidFill>
                <a:srgbClr val="1F2329"/>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sz="1300" b="0">
                <a:solidFill>
                  <a:srgbClr val="505050"/>
                </a:solidFill>
                <a:latin typeface="微软雅黑" panose="020B0503020204020204" pitchFamily="34" charset="-122"/>
                <a:ea typeface="微软雅黑" panose="020B0503020204020204" pitchFamily="34" charset="-122"/>
                <a:cs typeface="微软雅黑" panose="020B0503020204020204" pitchFamily="34" charset="-122"/>
              </a:rPr>
              <a:t>  张量创建 → .npu() 搬运 → 逐元素运算 → .cpu() 验证</a:t>
            </a:r>
            <a:endParaRPr sz="1300" b="0">
              <a:solidFill>
                <a:srgbClr val="505050"/>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endParaRPr sz="1300">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sz="1500" b="1">
                <a:solidFill>
                  <a:srgbClr val="1F2329"/>
                </a:solidFill>
                <a:latin typeface="微软雅黑" panose="020B0503020204020204" pitchFamily="34" charset="-122"/>
                <a:ea typeface="微软雅黑" panose="020B0503020204020204" pitchFamily="34" charset="-122"/>
                <a:cs typeface="微软雅黑" panose="020B0503020204020204" pitchFamily="34" charset="-122"/>
              </a:rPr>
              <a:t>第 2 题（进阶 ★★☆）：CPU vs NPU 矩阵乘法性能对比</a:t>
            </a:r>
            <a:endParaRPr sz="1500" b="1">
              <a:solidFill>
                <a:srgbClr val="1F2329"/>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sz="1300" b="0">
                <a:solidFill>
                  <a:srgbClr val="505050"/>
                </a:solidFill>
                <a:latin typeface="微软雅黑" panose="020B0503020204020204" pitchFamily="34" charset="-122"/>
                <a:ea typeface="微软雅黑" panose="020B0503020204020204" pitchFamily="34" charset="-122"/>
                <a:cs typeface="微软雅黑" panose="020B0503020204020204" pitchFamily="34" charset="-122"/>
              </a:rPr>
              <a:t>  N=[128, 512, 2048] → 对比耗时与加速比 → 验证结果一致</a:t>
            </a:r>
            <a:endParaRPr sz="1300" b="0">
              <a:solidFill>
                <a:srgbClr val="505050"/>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endParaRPr sz="1300">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sz="1500" b="1">
                <a:solidFill>
                  <a:srgbClr val="1F2329"/>
                </a:solidFill>
                <a:latin typeface="微软雅黑" panose="020B0503020204020204" pitchFamily="34" charset="-122"/>
                <a:ea typeface="微软雅黑" panose="020B0503020204020204" pitchFamily="34" charset="-122"/>
                <a:cs typeface="微软雅黑" panose="020B0503020204020204" pitchFamily="34" charset="-122"/>
              </a:rPr>
              <a:t>第 3 题（挑战 ★★★）：Batch bmm vs 循环 matmul</a:t>
            </a:r>
            <a:endParaRPr sz="1500" b="1">
              <a:solidFill>
                <a:srgbClr val="1F2329"/>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sz="1300" b="0">
                <a:solidFill>
                  <a:srgbClr val="505050"/>
                </a:solidFill>
                <a:latin typeface="微软雅黑" panose="020B0503020204020204" pitchFamily="34" charset="-122"/>
                <a:ea typeface="微软雅黑" panose="020B0503020204020204" pitchFamily="34" charset="-122"/>
                <a:cs typeface="微软雅黑" panose="020B0503020204020204" pitchFamily="34" charset="-122"/>
              </a:rPr>
              <a:t>  B=[8, 32, 128] → torch.bmm vs for-loop → 观察调用开销</a:t>
            </a:r>
            <a:endParaRPr sz="1300" b="0">
              <a:solidFill>
                <a:srgbClr val="505050"/>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endParaRPr sz="1300">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sz="1500" b="1">
                <a:solidFill>
                  <a:srgbClr val="1F2329"/>
                </a:solidFill>
                <a:latin typeface="微软雅黑" panose="020B0503020204020204" pitchFamily="34" charset="-122"/>
                <a:ea typeface="微软雅黑" panose="020B0503020204020204" pitchFamily="34" charset="-122"/>
                <a:cs typeface="微软雅黑" panose="020B0503020204020204" pitchFamily="34" charset="-122"/>
              </a:rPr>
              <a:t>第 4 题（挑战 ★★★）：NPU 图像高斯模糊（卷积）</a:t>
            </a:r>
            <a:endParaRPr sz="1500" b="1">
              <a:solidFill>
                <a:srgbClr val="1F2329"/>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sz="1300" b="0">
                <a:solidFill>
                  <a:srgbClr val="505050"/>
                </a:solidFill>
                <a:latin typeface="微软雅黑" panose="020B0503020204020204" pitchFamily="34" charset="-122"/>
                <a:ea typeface="微软雅黑" panose="020B0503020204020204" pitchFamily="34" charset="-122"/>
                <a:cs typeface="微软雅黑" panose="020B0503020204020204" pitchFamily="34" charset="-122"/>
              </a:rPr>
              <a:t>  加载 Lena 图片 → 5×5 高斯核 → CPU/NPU 卷积 → 可视化对比</a:t>
            </a:r>
            <a:endParaRPr sz="1300" b="0">
              <a:solidFill>
                <a:srgbClr val="505050"/>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sz="1300" b="1">
                <a:solidFill>
                  <a:srgbClr val="FF6600"/>
                </a:solidFill>
                <a:latin typeface="微软雅黑" panose="020B0503020204020204" pitchFamily="34" charset="-122"/>
                <a:ea typeface="微软雅黑" panose="020B0503020204020204" pitchFamily="34" charset="-122"/>
                <a:cs typeface="微软雅黑" panose="020B0503020204020204" pitchFamily="34" charset="-122"/>
              </a:rPr>
              <a:t>  思考：为什么卷积加速比没有矩阵乘法高？</a:t>
            </a:r>
            <a:endParaRPr sz="1300" b="1">
              <a:solidFill>
                <a:srgbClr val="FF66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TextBox 1"/>
          <p:cNvSpPr txBox="1"/>
          <p:nvPr/>
        </p:nvSpPr>
        <p:spPr>
          <a:xfrm>
            <a:off x="764223" y="375048"/>
            <a:ext cx="10668000" cy="521970"/>
          </a:xfrm>
          <a:prstGeom prst="rect">
            <a:avLst/>
          </a:prstGeom>
          <a:noFill/>
        </p:spPr>
        <p:txBody>
          <a:bodyPr wrap="square">
            <a:spAutoFit/>
          </a:bodyPr>
          <a:lstStyle/>
          <a:p>
            <a:pPr algn="l">
              <a:buClrTx/>
              <a:buSzTx/>
              <a:buFontTx/>
              <a:defRPr/>
            </a:pPr>
            <a:r>
              <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NPU 实践</a:t>
            </a:r>
            <a:endPar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4223" y="508000"/>
            <a:ext cx="10668000" cy="635000"/>
          </a:xfrm>
          <a:prstGeom prst="rect">
            <a:avLst/>
          </a:prstGeom>
          <a:noFill/>
          <a:ln w="12700" cap="flat" cmpd="sng">
            <a:noFill/>
            <a:prstDash val="solid"/>
            <a:round/>
          </a:ln>
        </p:spPr>
        <p:txBody>
          <a:bodyPr vert="horz" wrap="square" lIns="0" tIns="0" rIns="0" bIns="0" rtlCol="0" anchor="ctr" anchorCtr="0"/>
          <a:lstStyle/>
          <a:p>
            <a:pPr>
              <a:defRPr/>
            </a:pPr>
            <a:r>
              <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sym typeface="Noto Sans SC" panose="020B0200000000000000" charset="-122"/>
              </a:rPr>
              <a:t>适用场景总结</a:t>
            </a:r>
            <a:endPar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5" name="AutoShape 5"/>
          <p:cNvSpPr/>
          <p:nvPr/>
        </p:nvSpPr>
        <p:spPr>
          <a:xfrm>
            <a:off x="764223" y="1553307"/>
            <a:ext cx="5207000" cy="4030851"/>
          </a:xfrm>
          <a:prstGeom prst="roundRect">
            <a:avLst>
              <a:gd name="adj" fmla="val 0"/>
            </a:avLst>
          </a:prstGeom>
          <a:solidFill>
            <a:srgbClr val="F7F8FA">
              <a:alpha val="100000"/>
            </a:srgbClr>
          </a:solidFill>
          <a:ln w="12700" cap="flat" cmpd="sng">
            <a:solidFill>
              <a:schemeClr val="bg1">
                <a:alpha val="80000"/>
              </a:schemeClr>
            </a:solidFill>
            <a:prstDash val="solid"/>
            <a:round/>
          </a:ln>
        </p:spPr>
        <p:txBody>
          <a:bodyPr vert="horz" wrap="square" lIns="0" tIns="0" rIns="0" bIns="0" rtlCol="0" anchor="ctr" anchorCtr="0"/>
          <a:lstStyle/>
          <a:p>
            <a:pPr algn="ctr"/>
          </a:p>
        </p:txBody>
      </p:sp>
      <p:sp>
        <p:nvSpPr>
          <p:cNvPr id="6" name="AutoShape 6"/>
          <p:cNvSpPr/>
          <p:nvPr/>
        </p:nvSpPr>
        <p:spPr>
          <a:xfrm>
            <a:off x="1018223" y="1743808"/>
            <a:ext cx="4699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2000" b="1" i="0" u="none" strike="noStrike" dirty="0">
                <a:solidFill>
                  <a:srgbClr val="FF0000"/>
                </a:solidFill>
                <a:latin typeface="Noto Sans SC" panose="020B0200000000000000" charset="-122"/>
                <a:ea typeface="Noto Sans SC" panose="020B0200000000000000" charset="-122"/>
                <a:cs typeface="Noto Sans SC" panose="020B0200000000000000" charset="-122"/>
                <a:sym typeface="Noto Sans SC" panose="020B0200000000000000" charset="-122"/>
              </a:rPr>
              <a:t>什么时候 </a:t>
            </a:r>
            <a:r>
              <a:rPr lang="en-US" altLang="zh-CN" sz="2000" b="1" i="0" u="none" strike="noStrike" dirty="0">
                <a:solidFill>
                  <a:srgbClr val="FF0000"/>
                </a:solidFill>
                <a:latin typeface="Noto Sans SC" panose="020B0200000000000000" charset="-122"/>
                <a:ea typeface="Noto Sans SC" panose="020B0200000000000000" charset="-122"/>
                <a:cs typeface="Noto Sans SC" panose="020B0200000000000000" charset="-122"/>
                <a:sym typeface="Noto Sans SC" panose="020B0200000000000000" charset="-122"/>
              </a:rPr>
              <a:t>NPU </a:t>
            </a:r>
            <a:r>
              <a:rPr lang="zh-CN" altLang="en-US" sz="2000" b="1" i="0" u="none" strike="noStrike" dirty="0">
                <a:solidFill>
                  <a:srgbClr val="FF0000"/>
                </a:solidFill>
                <a:latin typeface="Noto Sans SC" panose="020B0200000000000000" charset="-122"/>
                <a:ea typeface="Noto Sans SC" panose="020B0200000000000000" charset="-122"/>
                <a:cs typeface="Noto Sans SC" panose="020B0200000000000000" charset="-122"/>
                <a:sym typeface="Noto Sans SC" panose="020B0200000000000000" charset="-122"/>
              </a:rPr>
              <a:t>有优势？</a:t>
            </a:r>
            <a:endParaRPr lang="en-US" sz="1100" dirty="0"/>
          </a:p>
        </p:txBody>
      </p:sp>
      <p:cxnSp>
        <p:nvCxnSpPr>
          <p:cNvPr id="7" name="Connector 7"/>
          <p:cNvCxnSpPr/>
          <p:nvPr/>
        </p:nvCxnSpPr>
        <p:spPr>
          <a:xfrm rot="-9291">
            <a:off x="1018232" y="2308958"/>
            <a:ext cx="4699034" cy="12700"/>
          </a:xfrm>
          <a:prstGeom prst="straightConnector1">
            <a:avLst/>
          </a:prstGeom>
          <a:solidFill>
            <a:srgbClr val="DEE0E3">
              <a:alpha val="100000"/>
            </a:srgbClr>
          </a:solidFill>
          <a:ln w="12700" cap="flat" cmpd="sng">
            <a:solidFill>
              <a:schemeClr val="bg1"/>
            </a:solidFill>
            <a:prstDash val="dash"/>
            <a:round/>
            <a:headEnd type="none" w="med" len="med"/>
            <a:tailEnd type="none" w="med" len="med"/>
          </a:ln>
        </p:spPr>
      </p:cxnSp>
      <p:pic>
        <p:nvPicPr>
          <p:cNvPr id="8" name="Picture 8"/>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18223" y="2632808"/>
            <a:ext cx="355600" cy="355600"/>
          </a:xfrm>
          <a:prstGeom prst="rect">
            <a:avLst/>
          </a:prstGeom>
        </p:spPr>
      </p:pic>
      <p:sp>
        <p:nvSpPr>
          <p:cNvPr id="9" name="AutoShape 9"/>
          <p:cNvSpPr/>
          <p:nvPr/>
        </p:nvSpPr>
        <p:spPr>
          <a:xfrm>
            <a:off x="1526223" y="2594708"/>
            <a:ext cx="4191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计算密集型任务</a:t>
            </a:r>
            <a:endParaRPr lang="en-US" sz="1100" dirty="0"/>
          </a:p>
          <a:p>
            <a:pPr marL="0" indent="0" algn="l">
              <a:lnSpc>
                <a:spcPct val="108000"/>
              </a:lnSpc>
            </a:pPr>
            <a:r>
              <a:rPr lang="en-US" sz="1300" b="0" i="0" u="none" strike="noStrike" dirty="0" err="1">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在大模型推理、矩阵乘法、卷积运算等场景下，展现出远超传统处理器的算力优势</a:t>
            </a:r>
            <a:r>
              <a:rPr lang="en-US" sz="1300" b="0" i="0" u="none" strike="noStrike"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300" b="0" i="0" u="none" strike="noStrike"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0" name="Picture 10"/>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18223" y="3648808"/>
            <a:ext cx="355600" cy="355600"/>
          </a:xfrm>
          <a:prstGeom prst="rect">
            <a:avLst/>
          </a:prstGeom>
        </p:spPr>
      </p:pic>
      <p:sp>
        <p:nvSpPr>
          <p:cNvPr id="11" name="AutoShape 11"/>
          <p:cNvSpPr/>
          <p:nvPr/>
        </p:nvSpPr>
        <p:spPr>
          <a:xfrm>
            <a:off x="1526223" y="3610708"/>
            <a:ext cx="4191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批量并行处理</a:t>
            </a:r>
            <a:endParaRPr lang="en-US" sz="1100"/>
          </a:p>
          <a:p>
            <a:pPr marL="0" indent="0" algn="l">
              <a:lnSpc>
                <a:spcPct val="108000"/>
              </a:lnSpc>
            </a:pPr>
            <a:r>
              <a:rPr lang="en-US" sz="13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针对海量数据执行相同或相似操作时，能充分发挥并行计算架构的特性，提升吞吐量。</a:t>
            </a:r>
            <a:endParaRPr lang="en-US" sz="13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2" name="Picture 12"/>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18223" y="4601308"/>
            <a:ext cx="355600" cy="355600"/>
          </a:xfrm>
          <a:prstGeom prst="rect">
            <a:avLst/>
          </a:prstGeom>
        </p:spPr>
      </p:pic>
      <p:sp>
        <p:nvSpPr>
          <p:cNvPr id="13" name="AutoShape 13"/>
          <p:cNvSpPr/>
          <p:nvPr/>
        </p:nvSpPr>
        <p:spPr>
          <a:xfrm>
            <a:off x="1526223" y="4563208"/>
            <a:ext cx="4191000" cy="558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低精度计算可接受</a:t>
            </a:r>
            <a:endParaRPr lang="en-US" sz="1100" dirty="0"/>
          </a:p>
          <a:p>
            <a:pPr marL="0" indent="0" algn="l">
              <a:lnSpc>
                <a:spcPct val="108000"/>
              </a:lnSpc>
            </a:pPr>
            <a:r>
              <a:rPr lang="en-US" sz="1300" b="0" i="0" u="none" strike="noStrike"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在AI模型训练与推理中，普遍采用FP16/BF16低精度格。</a:t>
            </a:r>
            <a:endParaRPr lang="en-US" sz="1300" b="0" i="0" u="none" strike="noStrike"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4"/>
          <p:cNvSpPr/>
          <p:nvPr/>
        </p:nvSpPr>
        <p:spPr>
          <a:xfrm>
            <a:off x="6225223" y="1553307"/>
            <a:ext cx="5207000" cy="4030851"/>
          </a:xfrm>
          <a:prstGeom prst="roundRect">
            <a:avLst>
              <a:gd name="adj" fmla="val 0"/>
            </a:avLst>
          </a:prstGeom>
          <a:solidFill>
            <a:srgbClr val="F7F8FA">
              <a:alpha val="100000"/>
            </a:srgbClr>
          </a:solidFill>
          <a:ln w="12700" cap="flat" cmpd="sng">
            <a:solidFill>
              <a:schemeClr val="bg1">
                <a:alpha val="80000"/>
              </a:schemeClr>
            </a:solidFill>
            <a:prstDash val="solid"/>
            <a:round/>
          </a:ln>
        </p:spPr>
        <p:txBody>
          <a:bodyPr vert="horz" wrap="square" lIns="0" tIns="0" rIns="0" bIns="0" rtlCol="0" anchor="ctr" anchorCtr="0"/>
          <a:lstStyle/>
          <a:p>
            <a:pPr algn="ctr"/>
          </a:p>
        </p:txBody>
      </p:sp>
      <p:sp>
        <p:nvSpPr>
          <p:cNvPr id="15" name="AutoShape 15"/>
          <p:cNvSpPr/>
          <p:nvPr/>
        </p:nvSpPr>
        <p:spPr>
          <a:xfrm>
            <a:off x="6479223" y="1743808"/>
            <a:ext cx="4699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2000" b="1" i="0" u="none" strike="noStrike" dirty="0">
                <a:solidFill>
                  <a:srgbClr val="FF0000"/>
                </a:solidFill>
                <a:latin typeface="Noto Sans SC" panose="020B0200000000000000" charset="-122"/>
                <a:ea typeface="Noto Sans SC" panose="020B0200000000000000" charset="-122"/>
                <a:cs typeface="Noto Sans SC" panose="020B0200000000000000" charset="-122"/>
                <a:sym typeface="Noto Sans SC" panose="020B0200000000000000" charset="-122"/>
              </a:rPr>
              <a:t>什么时候 </a:t>
            </a:r>
            <a:r>
              <a:rPr lang="en-US" altLang="zh-CN" sz="2000" b="1" i="0" u="none" strike="noStrike" dirty="0">
                <a:solidFill>
                  <a:srgbClr val="FF0000"/>
                </a:solidFill>
                <a:latin typeface="Noto Sans SC" panose="020B0200000000000000" charset="-122"/>
                <a:ea typeface="Noto Sans SC" panose="020B0200000000000000" charset="-122"/>
                <a:cs typeface="Noto Sans SC" panose="020B0200000000000000" charset="-122"/>
                <a:sym typeface="Noto Sans SC" panose="020B0200000000000000" charset="-122"/>
              </a:rPr>
              <a:t>CPU </a:t>
            </a:r>
            <a:r>
              <a:rPr lang="zh-CN" altLang="en-US" sz="2000" b="1" i="0" u="none" strike="noStrike" dirty="0">
                <a:solidFill>
                  <a:srgbClr val="FF0000"/>
                </a:solidFill>
                <a:latin typeface="Noto Sans SC" panose="020B0200000000000000" charset="-122"/>
                <a:ea typeface="Noto Sans SC" panose="020B0200000000000000" charset="-122"/>
                <a:cs typeface="Noto Sans SC" panose="020B0200000000000000" charset="-122"/>
                <a:sym typeface="Noto Sans SC" panose="020B0200000000000000" charset="-122"/>
              </a:rPr>
              <a:t>更合适？</a:t>
            </a:r>
            <a:endParaRPr lang="zh-CN" altLang="en-US" sz="2000" b="1" i="0" u="none" strike="noStrike" dirty="0">
              <a:solidFill>
                <a:srgbClr val="FF000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6" name="Connector 16"/>
          <p:cNvCxnSpPr/>
          <p:nvPr/>
        </p:nvCxnSpPr>
        <p:spPr>
          <a:xfrm rot="-9291">
            <a:off x="6479232" y="2308958"/>
            <a:ext cx="4699034" cy="12700"/>
          </a:xfrm>
          <a:prstGeom prst="straightConnector1">
            <a:avLst/>
          </a:prstGeom>
          <a:solidFill>
            <a:srgbClr val="DEE0E3">
              <a:alpha val="100000"/>
            </a:srgbClr>
          </a:solidFill>
          <a:ln w="12700" cap="flat" cmpd="sng">
            <a:solidFill>
              <a:schemeClr val="bg1"/>
            </a:solidFill>
            <a:prstDash val="dash"/>
            <a:round/>
            <a:headEnd type="none" w="med" len="med"/>
            <a:tailEnd type="none" w="med" len="med"/>
          </a:ln>
        </p:spPr>
      </p:cxnSp>
      <p:pic>
        <p:nvPicPr>
          <p:cNvPr id="17" name="Picture 17"/>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479223" y="2632808"/>
            <a:ext cx="355600" cy="355600"/>
          </a:xfrm>
          <a:prstGeom prst="rect">
            <a:avLst/>
          </a:prstGeom>
        </p:spPr>
      </p:pic>
      <p:sp>
        <p:nvSpPr>
          <p:cNvPr id="18" name="AutoShape 18"/>
          <p:cNvSpPr/>
          <p:nvPr/>
        </p:nvSpPr>
        <p:spPr>
          <a:xfrm>
            <a:off x="6987223" y="2594708"/>
            <a:ext cx="4191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小数据量任务</a:t>
            </a:r>
            <a:endParaRPr lang="en-US" sz="1100"/>
          </a:p>
          <a:p>
            <a:pPr marL="0" indent="0" algn="l">
              <a:lnSpc>
                <a:spcPct val="108000"/>
              </a:lnSpc>
            </a:pPr>
            <a:r>
              <a:rPr lang="en-US" sz="13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当数据搬运的开销远大于计算本身的节省时，CPU的低延迟特性更具优势，效率更高。</a:t>
            </a:r>
            <a:endParaRPr lang="en-US" sz="13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9" name="Picture 19"/>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479223" y="3648808"/>
            <a:ext cx="355600" cy="355600"/>
          </a:xfrm>
          <a:prstGeom prst="rect">
            <a:avLst/>
          </a:prstGeom>
        </p:spPr>
      </p:pic>
      <p:sp>
        <p:nvSpPr>
          <p:cNvPr id="20" name="AutoShape 20"/>
          <p:cNvSpPr/>
          <p:nvPr/>
        </p:nvSpPr>
        <p:spPr>
          <a:xfrm>
            <a:off x="6987223" y="3610708"/>
            <a:ext cx="4191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复杂控制流场景</a:t>
            </a:r>
            <a:endParaRPr lang="en-US" sz="1100" dirty="0"/>
          </a:p>
          <a:p>
            <a:pPr marL="0" indent="0" algn="l">
              <a:lnSpc>
                <a:spcPct val="108000"/>
              </a:lnSpc>
            </a:pPr>
            <a:r>
              <a:rPr lang="en-US" sz="1300" b="0" i="0" u="none" strike="noStrike" dirty="0" err="1">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对于包含大量条件分支、动态循环和逻辑判断的代码，CPU的通用架构处理更为灵活</a:t>
            </a:r>
            <a:r>
              <a:rPr lang="en-US" sz="1300" b="0" i="0" u="none" strike="noStrike"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300" b="0" i="0" u="none" strike="noStrike"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21" name="Picture 21"/>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479223" y="4601308"/>
            <a:ext cx="355600" cy="355600"/>
          </a:xfrm>
          <a:prstGeom prst="rect">
            <a:avLst/>
          </a:prstGeom>
        </p:spPr>
      </p:pic>
      <p:sp>
        <p:nvSpPr>
          <p:cNvPr id="22" name="AutoShape 22"/>
          <p:cNvSpPr/>
          <p:nvPr/>
        </p:nvSpPr>
        <p:spPr>
          <a:xfrm>
            <a:off x="6987223" y="4563208"/>
            <a:ext cx="4191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高精度科学计算</a:t>
            </a:r>
            <a:endParaRPr lang="en-US" sz="1100" dirty="0"/>
          </a:p>
          <a:p>
            <a:pPr marL="0" indent="0" algn="l">
              <a:lnSpc>
                <a:spcPct val="108000"/>
              </a:lnSpc>
            </a:pPr>
            <a:r>
              <a:rPr lang="en-US" sz="1300" b="0" i="0" u="none" strike="noStrike"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在气候模拟、流体力学等必须使用FP64双精度浮点数的领域，CPU仍是核心算力支柱。</a:t>
            </a:r>
            <a:endParaRPr lang="en-US" sz="1300" b="0" i="0" u="none" strike="noStrike"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副标题 1"/>
          <p:cNvSpPr txBox="1"/>
          <p:nvPr/>
        </p:nvSpPr>
        <p:spPr>
          <a:xfrm>
            <a:off x="731838" y="326390"/>
            <a:ext cx="11099165" cy="581025"/>
          </a:xfrm>
          <a:prstGeom prst="rect">
            <a:avLst/>
          </a:prstGeom>
        </p:spPr>
        <p:txBody>
          <a:bodyPr lIns="0" tIns="0" rIns="0" bIns="0" anchor="ctr" anchorCtr="0">
            <a:normAutofit/>
          </a:bodyPr>
          <a:lstStyle>
            <a:lvl1pPr marL="0" indent="0" algn="l" defTabSz="1187450" rtl="0" eaLnBrk="1" latinLnBrk="0" hangingPunct="1">
              <a:lnSpc>
                <a:spcPts val="3430"/>
              </a:lnSpc>
              <a:spcBef>
                <a:spcPts val="0"/>
              </a:spcBef>
              <a:buFont typeface="Arial" panose="020B0604020202020204" pitchFamily="34" charset="0"/>
              <a:buNone/>
              <a:defRPr sz="2400" kern="1200" baseline="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593725" indent="0" algn="ctr" defTabSz="1187450" rtl="0" eaLnBrk="1" latinLnBrk="0" hangingPunct="1">
              <a:lnSpc>
                <a:spcPct val="90000"/>
              </a:lnSpc>
              <a:spcBef>
                <a:spcPts val="650"/>
              </a:spcBef>
              <a:buFont typeface="Arial" panose="020B0604020202020204" pitchFamily="34" charset="0"/>
              <a:buNone/>
              <a:defRPr sz="2595" kern="1200">
                <a:solidFill>
                  <a:schemeClr val="tx1"/>
                </a:solidFill>
                <a:latin typeface="+mn-lt"/>
                <a:ea typeface="+mn-ea"/>
                <a:cs typeface="+mn-cs"/>
              </a:defRPr>
            </a:lvl2pPr>
            <a:lvl3pPr marL="1187450" indent="0" algn="ctr" defTabSz="1187450" rtl="0" eaLnBrk="1" latinLnBrk="0" hangingPunct="1">
              <a:lnSpc>
                <a:spcPct val="90000"/>
              </a:lnSpc>
              <a:spcBef>
                <a:spcPts val="650"/>
              </a:spcBef>
              <a:buFont typeface="Arial" panose="020B0604020202020204" pitchFamily="34" charset="0"/>
              <a:buNone/>
              <a:defRPr sz="2335" kern="1200">
                <a:solidFill>
                  <a:schemeClr val="tx1"/>
                </a:solidFill>
                <a:latin typeface="+mn-lt"/>
                <a:ea typeface="+mn-ea"/>
                <a:cs typeface="+mn-cs"/>
              </a:defRPr>
            </a:lvl3pPr>
            <a:lvl4pPr marL="1781175"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4pPr>
            <a:lvl5pPr marL="2374900"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5pPr>
            <a:lvl6pPr marL="2967990"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6pPr>
            <a:lvl7pPr marL="3561715"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7pPr>
            <a:lvl8pPr marL="4155440"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8pPr>
            <a:lvl9pPr marL="4749165"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9pPr>
          </a:lstStyle>
          <a:p>
            <a:pPr marL="0" marR="0" lvl="0" indent="0" algn="l" defTabSz="1187450" rtl="0" eaLnBrk="1" fontAlgn="auto" latinLnBrk="0" hangingPunct="1">
              <a:lnSpc>
                <a:spcPts val="3430"/>
              </a:lnSpc>
              <a:spcBef>
                <a:spcPts val="0"/>
              </a:spcBef>
              <a:spcAft>
                <a:spcPts val="0"/>
              </a:spcAft>
              <a:buClrTx/>
              <a:buSzTx/>
              <a:buFont typeface="Arial" panose="020B0604020202020204" pitchFamily="34" charset="0"/>
              <a:buNone/>
              <a:defRPr/>
            </a:pPr>
            <a:r>
              <a:rPr kumimoji="0" lang="zh-CN" altLang="en-US" sz="2400" b="1"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Arial" panose="020B0604020202020204" pitchFamily="34" charset="0"/>
              </a:rPr>
              <a:t>总结</a:t>
            </a:r>
            <a:endParaRPr kumimoji="0" lang="zh-CN" altLang="en-US" sz="2400" b="1"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sp>
        <p:nvSpPr>
          <p:cNvPr id="3" name="TextBox 2"/>
          <p:cNvSpPr txBox="1"/>
          <p:nvPr/>
        </p:nvSpPr>
        <p:spPr>
          <a:xfrm>
            <a:off x="530225" y="954405"/>
            <a:ext cx="10972800" cy="320040"/>
          </a:xfrm>
          <a:prstGeom prst="rect">
            <a:avLst/>
          </a:prstGeom>
          <a:noFill/>
        </p:spPr>
        <p:txBody>
          <a:bodyPr wrap="square">
            <a:spAutoFit/>
          </a:bodyPr>
          <a:lstStyle/>
          <a:p>
            <a:pPr>
              <a:defRPr sz="1300" b="0">
                <a:solidFill>
                  <a:srgbClr val="333333"/>
                </a:solidFill>
              </a:defRPr>
            </a:pPr>
            <a:r>
              <a:t>学完本课程，你掌握了以下内容</a:t>
            </a:r>
          </a:p>
        </p:txBody>
      </p:sp>
      <p:sp>
        <p:nvSpPr>
          <p:cNvPr id="2" name="TextBox 4"/>
          <p:cNvSpPr txBox="1"/>
          <p:nvPr>
            <p:custDataLst>
              <p:tags r:id="rId1"/>
            </p:custDataLst>
          </p:nvPr>
        </p:nvSpPr>
        <p:spPr>
          <a:xfrm>
            <a:off x="1097280" y="1463040"/>
            <a:ext cx="914400" cy="320040"/>
          </a:xfrm>
          <a:prstGeom prst="rect">
            <a:avLst/>
          </a:prstGeom>
          <a:noFill/>
        </p:spPr>
        <p:txBody>
          <a:bodyPr wrap="square">
            <a:spAutoFit/>
          </a:bodyPr>
          <a:lstStyle/>
          <a:p>
            <a:pPr>
              <a:defRPr sz="1800" b="1">
                <a:solidFill>
                  <a:srgbClr val="CC0000"/>
                </a:solidFill>
              </a:defRPr>
            </a:pPr>
            <a:r>
              <a:t>1.</a:t>
            </a:r>
          </a:p>
        </p:txBody>
      </p:sp>
      <p:sp>
        <p:nvSpPr>
          <p:cNvPr id="4" name="TextBox 5"/>
          <p:cNvSpPr txBox="1"/>
          <p:nvPr>
            <p:custDataLst>
              <p:tags r:id="rId2"/>
            </p:custDataLst>
          </p:nvPr>
        </p:nvSpPr>
        <p:spPr>
          <a:xfrm>
            <a:off x="1828800" y="1463040"/>
            <a:ext cx="9144000" cy="320040"/>
          </a:xfrm>
          <a:prstGeom prst="rect">
            <a:avLst/>
          </a:prstGeom>
          <a:noFill/>
        </p:spPr>
        <p:txBody>
          <a:bodyPr wrap="square">
            <a:spAutoFit/>
          </a:bodyPr>
          <a:lstStyle/>
          <a:p>
            <a:pPr>
              <a:defRPr sz="1800" b="1">
                <a:solidFill>
                  <a:srgbClr val="000000"/>
                </a:solidFill>
              </a:defRPr>
            </a:pPr>
            <a:r>
              <a:t>理解 AI 数学本质</a:t>
            </a:r>
          </a:p>
        </p:txBody>
      </p:sp>
      <p:sp>
        <p:nvSpPr>
          <p:cNvPr id="17" name="TextBox 6"/>
          <p:cNvSpPr txBox="1"/>
          <p:nvPr>
            <p:custDataLst>
              <p:tags r:id="rId3"/>
            </p:custDataLst>
          </p:nvPr>
        </p:nvSpPr>
        <p:spPr>
          <a:xfrm>
            <a:off x="1828800" y="1828800"/>
            <a:ext cx="9144000" cy="320040"/>
          </a:xfrm>
          <a:prstGeom prst="rect">
            <a:avLst/>
          </a:prstGeom>
          <a:noFill/>
        </p:spPr>
        <p:txBody>
          <a:bodyPr wrap="square">
            <a:spAutoFit/>
          </a:bodyPr>
          <a:lstStyle/>
          <a:p>
            <a:pPr>
              <a:defRPr sz="1300" b="0">
                <a:solidFill>
                  <a:srgbClr val="333333"/>
                </a:solidFill>
              </a:defRPr>
            </a:pPr>
            <a:r>
              <a:t>模型 = 参数化函数 y=f(x;θ)，计算图 = 算子组合</a:t>
            </a:r>
          </a:p>
        </p:txBody>
      </p:sp>
      <p:sp>
        <p:nvSpPr>
          <p:cNvPr id="40" name="TextBox 8"/>
          <p:cNvSpPr txBox="1"/>
          <p:nvPr>
            <p:custDataLst>
              <p:tags r:id="rId4"/>
            </p:custDataLst>
          </p:nvPr>
        </p:nvSpPr>
        <p:spPr>
          <a:xfrm>
            <a:off x="1097280" y="2514600"/>
            <a:ext cx="914400" cy="320040"/>
          </a:xfrm>
          <a:prstGeom prst="rect">
            <a:avLst/>
          </a:prstGeom>
          <a:noFill/>
        </p:spPr>
        <p:txBody>
          <a:bodyPr wrap="square">
            <a:spAutoFit/>
          </a:bodyPr>
          <a:lstStyle/>
          <a:p>
            <a:pPr>
              <a:defRPr sz="1800" b="1">
                <a:solidFill>
                  <a:srgbClr val="CC0000"/>
                </a:solidFill>
              </a:defRPr>
            </a:pPr>
            <a:r>
              <a:t>2.</a:t>
            </a:r>
          </a:p>
        </p:txBody>
      </p:sp>
      <p:sp>
        <p:nvSpPr>
          <p:cNvPr id="42" name="TextBox 9"/>
          <p:cNvSpPr txBox="1"/>
          <p:nvPr>
            <p:custDataLst>
              <p:tags r:id="rId5"/>
            </p:custDataLst>
          </p:nvPr>
        </p:nvSpPr>
        <p:spPr>
          <a:xfrm>
            <a:off x="1828800" y="2514600"/>
            <a:ext cx="9144000" cy="320040"/>
          </a:xfrm>
          <a:prstGeom prst="rect">
            <a:avLst/>
          </a:prstGeom>
          <a:noFill/>
        </p:spPr>
        <p:txBody>
          <a:bodyPr wrap="square">
            <a:spAutoFit/>
          </a:bodyPr>
          <a:lstStyle/>
          <a:p>
            <a:pPr>
              <a:defRPr sz="1800" b="1">
                <a:solidFill>
                  <a:srgbClr val="000000"/>
                </a:solidFill>
              </a:defRPr>
            </a:pPr>
            <a:r>
              <a:t>理解 NPU 硬件架构</a:t>
            </a:r>
          </a:p>
        </p:txBody>
      </p:sp>
      <p:sp>
        <p:nvSpPr>
          <p:cNvPr id="43" name="TextBox 10"/>
          <p:cNvSpPr txBox="1"/>
          <p:nvPr>
            <p:custDataLst>
              <p:tags r:id="rId6"/>
            </p:custDataLst>
          </p:nvPr>
        </p:nvSpPr>
        <p:spPr>
          <a:xfrm>
            <a:off x="1828800" y="2880360"/>
            <a:ext cx="9144000" cy="320040"/>
          </a:xfrm>
          <a:prstGeom prst="rect">
            <a:avLst/>
          </a:prstGeom>
          <a:noFill/>
        </p:spPr>
        <p:txBody>
          <a:bodyPr wrap="square">
            <a:spAutoFit/>
          </a:bodyPr>
          <a:lstStyle/>
          <a:p>
            <a:pPr>
              <a:defRPr sz="1300" b="0">
                <a:solidFill>
                  <a:srgbClr val="333333"/>
                </a:solidFill>
              </a:defRPr>
            </a:pPr>
            <a:r>
              <a:t>DaVinci 架构，Cube / Vector / Scalar 分工协作</a:t>
            </a:r>
          </a:p>
        </p:txBody>
      </p:sp>
      <p:sp>
        <p:nvSpPr>
          <p:cNvPr id="44" name="TextBox 12"/>
          <p:cNvSpPr txBox="1"/>
          <p:nvPr>
            <p:custDataLst>
              <p:tags r:id="rId7"/>
            </p:custDataLst>
          </p:nvPr>
        </p:nvSpPr>
        <p:spPr>
          <a:xfrm>
            <a:off x="1097280" y="3566160"/>
            <a:ext cx="914400" cy="320040"/>
          </a:xfrm>
          <a:prstGeom prst="rect">
            <a:avLst/>
          </a:prstGeom>
          <a:noFill/>
        </p:spPr>
        <p:txBody>
          <a:bodyPr wrap="square">
            <a:spAutoFit/>
          </a:bodyPr>
          <a:lstStyle/>
          <a:p>
            <a:pPr>
              <a:defRPr sz="1800" b="1">
                <a:solidFill>
                  <a:srgbClr val="CC0000"/>
                </a:solidFill>
              </a:defRPr>
            </a:pPr>
            <a:r>
              <a:t>3.</a:t>
            </a:r>
          </a:p>
        </p:txBody>
      </p:sp>
      <p:sp>
        <p:nvSpPr>
          <p:cNvPr id="45" name="TextBox 13"/>
          <p:cNvSpPr txBox="1"/>
          <p:nvPr>
            <p:custDataLst>
              <p:tags r:id="rId8"/>
            </p:custDataLst>
          </p:nvPr>
        </p:nvSpPr>
        <p:spPr>
          <a:xfrm>
            <a:off x="1828800" y="3566160"/>
            <a:ext cx="9144000" cy="320040"/>
          </a:xfrm>
          <a:prstGeom prst="rect">
            <a:avLst/>
          </a:prstGeom>
          <a:noFill/>
        </p:spPr>
        <p:txBody>
          <a:bodyPr wrap="square">
            <a:spAutoFit/>
          </a:bodyPr>
          <a:lstStyle/>
          <a:p>
            <a:pPr>
              <a:defRPr sz="1800" b="1">
                <a:solidFill>
                  <a:srgbClr val="000000"/>
                </a:solidFill>
              </a:defRPr>
            </a:pPr>
            <a:r>
              <a:t>理解 CANN 软件栈</a:t>
            </a:r>
          </a:p>
        </p:txBody>
      </p:sp>
      <p:sp>
        <p:nvSpPr>
          <p:cNvPr id="46" name="TextBox 14"/>
          <p:cNvSpPr txBox="1"/>
          <p:nvPr>
            <p:custDataLst>
              <p:tags r:id="rId9"/>
            </p:custDataLst>
          </p:nvPr>
        </p:nvSpPr>
        <p:spPr>
          <a:xfrm>
            <a:off x="1828800" y="3931920"/>
            <a:ext cx="9144000" cy="291465"/>
          </a:xfrm>
          <a:prstGeom prst="rect">
            <a:avLst/>
          </a:prstGeom>
          <a:noFill/>
        </p:spPr>
        <p:txBody>
          <a:bodyPr wrap="square">
            <a:spAutoFit/>
          </a:bodyPr>
          <a:lstStyle/>
          <a:p>
            <a:pPr>
              <a:defRPr sz="1300" b="0">
                <a:solidFill>
                  <a:srgbClr val="333333"/>
                </a:solidFill>
              </a:defRPr>
            </a:pPr>
            <a:r>
              <a:t>从 torch_npu 框架适配到驱动，</a:t>
            </a:r>
            <a:r>
              <a:rPr lang="zh-CN"/>
              <a:t>多层</a:t>
            </a:r>
            <a:r>
              <a:t>组件协同</a:t>
            </a:r>
          </a:p>
        </p:txBody>
      </p:sp>
      <p:sp>
        <p:nvSpPr>
          <p:cNvPr id="47" name="TextBox 16"/>
          <p:cNvSpPr txBox="1"/>
          <p:nvPr>
            <p:custDataLst>
              <p:tags r:id="rId10"/>
            </p:custDataLst>
          </p:nvPr>
        </p:nvSpPr>
        <p:spPr>
          <a:xfrm>
            <a:off x="1097280" y="4617719"/>
            <a:ext cx="914400" cy="320040"/>
          </a:xfrm>
          <a:prstGeom prst="rect">
            <a:avLst/>
          </a:prstGeom>
          <a:noFill/>
        </p:spPr>
        <p:txBody>
          <a:bodyPr wrap="square">
            <a:spAutoFit/>
          </a:bodyPr>
          <a:lstStyle/>
          <a:p>
            <a:pPr>
              <a:defRPr sz="1800" b="1">
                <a:solidFill>
                  <a:srgbClr val="CC0000"/>
                </a:solidFill>
              </a:defRPr>
            </a:pPr>
            <a:r>
              <a:t>4.</a:t>
            </a:r>
          </a:p>
        </p:txBody>
      </p:sp>
      <p:sp>
        <p:nvSpPr>
          <p:cNvPr id="48" name="TextBox 17"/>
          <p:cNvSpPr txBox="1"/>
          <p:nvPr>
            <p:custDataLst>
              <p:tags r:id="rId11"/>
            </p:custDataLst>
          </p:nvPr>
        </p:nvSpPr>
        <p:spPr>
          <a:xfrm>
            <a:off x="1828800" y="4617719"/>
            <a:ext cx="9144000" cy="320040"/>
          </a:xfrm>
          <a:prstGeom prst="rect">
            <a:avLst/>
          </a:prstGeom>
          <a:noFill/>
        </p:spPr>
        <p:txBody>
          <a:bodyPr wrap="square">
            <a:spAutoFit/>
          </a:bodyPr>
          <a:lstStyle/>
          <a:p>
            <a:pPr>
              <a:defRPr sz="1800" b="1">
                <a:solidFill>
                  <a:srgbClr val="000000"/>
                </a:solidFill>
              </a:defRPr>
            </a:pPr>
            <a:r>
              <a:t>完成 NPU 实践</a:t>
            </a:r>
          </a:p>
        </p:txBody>
      </p:sp>
      <p:sp>
        <p:nvSpPr>
          <p:cNvPr id="49" name="TextBox 18"/>
          <p:cNvSpPr txBox="1"/>
          <p:nvPr>
            <p:custDataLst>
              <p:tags r:id="rId12"/>
            </p:custDataLst>
          </p:nvPr>
        </p:nvSpPr>
        <p:spPr>
          <a:xfrm>
            <a:off x="1828800" y="4983479"/>
            <a:ext cx="9144000" cy="320040"/>
          </a:xfrm>
          <a:prstGeom prst="rect">
            <a:avLst/>
          </a:prstGeom>
          <a:noFill/>
        </p:spPr>
        <p:txBody>
          <a:bodyPr wrap="square">
            <a:spAutoFit/>
          </a:bodyPr>
          <a:lstStyle/>
          <a:p>
            <a:pPr>
              <a:defRPr sz="1300" b="0">
                <a:solidFill>
                  <a:srgbClr val="333333"/>
                </a:solidFill>
              </a:defRPr>
            </a:pPr>
            <a:r>
              <a:t>四道实践题：张量运算、矩阵乘法、Batch 运算、卷积加速</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副标题 1"/>
          <p:cNvSpPr txBox="1"/>
          <p:nvPr/>
        </p:nvSpPr>
        <p:spPr>
          <a:xfrm>
            <a:off x="731838" y="326390"/>
            <a:ext cx="11099165" cy="581025"/>
          </a:xfrm>
          <a:prstGeom prst="rect">
            <a:avLst/>
          </a:prstGeom>
        </p:spPr>
        <p:txBody>
          <a:bodyPr lIns="0" tIns="0" rIns="0" bIns="0" anchor="ctr" anchorCtr="0">
            <a:normAutofit/>
          </a:bodyPr>
          <a:lstStyle>
            <a:lvl1pPr marL="0" indent="0" algn="l" defTabSz="1187450" rtl="0" eaLnBrk="1" latinLnBrk="0" hangingPunct="1">
              <a:lnSpc>
                <a:spcPts val="3430"/>
              </a:lnSpc>
              <a:spcBef>
                <a:spcPts val="0"/>
              </a:spcBef>
              <a:buFont typeface="Arial" panose="020B0604020202020204" pitchFamily="34" charset="0"/>
              <a:buNone/>
              <a:defRPr sz="2400" kern="1200" baseline="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593725" indent="0" algn="ctr" defTabSz="1187450" rtl="0" eaLnBrk="1" latinLnBrk="0" hangingPunct="1">
              <a:lnSpc>
                <a:spcPct val="90000"/>
              </a:lnSpc>
              <a:spcBef>
                <a:spcPts val="650"/>
              </a:spcBef>
              <a:buFont typeface="Arial" panose="020B0604020202020204" pitchFamily="34" charset="0"/>
              <a:buNone/>
              <a:defRPr sz="2595" kern="1200">
                <a:solidFill>
                  <a:schemeClr val="tx1"/>
                </a:solidFill>
                <a:latin typeface="+mn-lt"/>
                <a:ea typeface="+mn-ea"/>
                <a:cs typeface="+mn-cs"/>
              </a:defRPr>
            </a:lvl2pPr>
            <a:lvl3pPr marL="1187450" indent="0" algn="ctr" defTabSz="1187450" rtl="0" eaLnBrk="1" latinLnBrk="0" hangingPunct="1">
              <a:lnSpc>
                <a:spcPct val="90000"/>
              </a:lnSpc>
              <a:spcBef>
                <a:spcPts val="650"/>
              </a:spcBef>
              <a:buFont typeface="Arial" panose="020B0604020202020204" pitchFamily="34" charset="0"/>
              <a:buNone/>
              <a:defRPr sz="2335" kern="1200">
                <a:solidFill>
                  <a:schemeClr val="tx1"/>
                </a:solidFill>
                <a:latin typeface="+mn-lt"/>
                <a:ea typeface="+mn-ea"/>
                <a:cs typeface="+mn-cs"/>
              </a:defRPr>
            </a:lvl3pPr>
            <a:lvl4pPr marL="1781175"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4pPr>
            <a:lvl5pPr marL="2374900"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5pPr>
            <a:lvl6pPr marL="2967990"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6pPr>
            <a:lvl7pPr marL="3561715"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7pPr>
            <a:lvl8pPr marL="4155440"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8pPr>
            <a:lvl9pPr marL="4749165"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9pPr>
          </a:lstStyle>
          <a:p>
            <a:pPr marL="0" marR="0" lvl="0" indent="0" algn="l" defTabSz="1187450" rtl="0" eaLnBrk="1" fontAlgn="auto" latinLnBrk="0" hangingPunct="1">
              <a:lnSpc>
                <a:spcPts val="3430"/>
              </a:lnSpc>
              <a:spcBef>
                <a:spcPts val="0"/>
              </a:spcBef>
              <a:spcAft>
                <a:spcPts val="0"/>
              </a:spcAft>
              <a:buClrTx/>
              <a:buSzTx/>
              <a:buFont typeface="Arial" panose="020B0604020202020204" pitchFamily="34" charset="0"/>
              <a:buNone/>
              <a:defRPr/>
            </a:pPr>
            <a:r>
              <a:rPr kumimoji="0" lang="zh-CN" altLang="en-US"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rPr>
              <a:t>练习题</a:t>
            </a:r>
            <a:endParaRPr kumimoji="0" lang="zh-CN" altLang="en-US" sz="2400" b="1"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sp>
        <p:nvSpPr>
          <p:cNvPr id="9" name="Rectangle 3"/>
          <p:cNvSpPr/>
          <p:nvPr/>
        </p:nvSpPr>
        <p:spPr>
          <a:xfrm>
            <a:off x="509288" y="907415"/>
            <a:ext cx="11247120" cy="749808"/>
          </a:xfrm>
          <a:prstGeom prst="rect">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4"/>
          <p:cNvSpPr txBox="1"/>
          <p:nvPr/>
        </p:nvSpPr>
        <p:spPr>
          <a:xfrm>
            <a:off x="646448" y="953135"/>
            <a:ext cx="1828800" cy="274320"/>
          </a:xfrm>
          <a:prstGeom prst="rect">
            <a:avLst/>
          </a:prstGeom>
          <a:noFill/>
        </p:spPr>
        <p:txBody>
          <a:bodyPr wrap="square">
            <a:spAutoFit/>
          </a:bodyPr>
          <a:lstStyle/>
          <a:p>
            <a:pPr>
              <a:defRPr sz="1100" b="1">
                <a:solidFill>
                  <a:srgbClr val="CC0000"/>
                </a:solidFill>
              </a:defRPr>
            </a:pPr>
            <a:r>
              <a:t>[第 1 课] 第 1 题（单选）</a:t>
            </a:r>
          </a:p>
        </p:txBody>
      </p:sp>
      <p:sp>
        <p:nvSpPr>
          <p:cNvPr id="11" name="TextBox 5"/>
          <p:cNvSpPr txBox="1"/>
          <p:nvPr/>
        </p:nvSpPr>
        <p:spPr>
          <a:xfrm>
            <a:off x="2520968" y="953135"/>
            <a:ext cx="8961120" cy="274320"/>
          </a:xfrm>
          <a:prstGeom prst="rect">
            <a:avLst/>
          </a:prstGeom>
          <a:noFill/>
        </p:spPr>
        <p:txBody>
          <a:bodyPr wrap="square">
            <a:spAutoFit/>
          </a:bodyPr>
          <a:lstStyle/>
          <a:p>
            <a:pPr>
              <a:defRPr sz="1200" b="1">
                <a:solidFill>
                  <a:srgbClr val="000000"/>
                </a:solidFill>
              </a:defRPr>
            </a:pPr>
            <a:r>
              <a:t>模型的数学本质是什么？</a:t>
            </a:r>
          </a:p>
        </p:txBody>
      </p:sp>
      <p:sp>
        <p:nvSpPr>
          <p:cNvPr id="12" name="TextBox 6"/>
          <p:cNvSpPr txBox="1"/>
          <p:nvPr/>
        </p:nvSpPr>
        <p:spPr>
          <a:xfrm>
            <a:off x="646448" y="1254887"/>
            <a:ext cx="9601200" cy="274320"/>
          </a:xfrm>
          <a:prstGeom prst="rect">
            <a:avLst/>
          </a:prstGeom>
          <a:noFill/>
        </p:spPr>
        <p:txBody>
          <a:bodyPr wrap="square">
            <a:spAutoFit/>
          </a:bodyPr>
          <a:lstStyle/>
          <a:p>
            <a:pPr>
              <a:defRPr sz="1000" b="0">
                <a:solidFill>
                  <a:srgbClr val="333333"/>
                </a:solidFill>
              </a:defRPr>
            </a:pPr>
            <a:r>
              <a:t>A. 一个数据库    B. 参数化函数 y=f(x;θ)    C. 一个编程语言    D. 一个操作系统</a:t>
            </a:r>
          </a:p>
        </p:txBody>
      </p:sp>
      <p:sp>
        <p:nvSpPr>
          <p:cNvPr id="13" name="TextBox 7"/>
          <p:cNvSpPr txBox="1"/>
          <p:nvPr/>
        </p:nvSpPr>
        <p:spPr>
          <a:xfrm>
            <a:off x="10384808" y="1254887"/>
            <a:ext cx="1097280" cy="274320"/>
          </a:xfrm>
          <a:prstGeom prst="rect">
            <a:avLst/>
          </a:prstGeom>
          <a:noFill/>
        </p:spPr>
        <p:txBody>
          <a:bodyPr wrap="square">
            <a:spAutoFit/>
          </a:bodyPr>
          <a:lstStyle/>
          <a:p>
            <a:pPr>
              <a:defRPr sz="1000" b="1">
                <a:solidFill>
                  <a:srgbClr val="CC0000"/>
                </a:solidFill>
              </a:defRPr>
            </a:pPr>
            <a:r>
              <a:t>答案：B</a:t>
            </a:r>
          </a:p>
        </p:txBody>
      </p:sp>
      <p:sp>
        <p:nvSpPr>
          <p:cNvPr id="14" name="Rectangle 8"/>
          <p:cNvSpPr/>
          <p:nvPr/>
        </p:nvSpPr>
        <p:spPr>
          <a:xfrm>
            <a:off x="509288" y="1748663"/>
            <a:ext cx="11247120" cy="749808"/>
          </a:xfrm>
          <a:prstGeom prst="rect">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9"/>
          <p:cNvSpPr txBox="1"/>
          <p:nvPr/>
        </p:nvSpPr>
        <p:spPr>
          <a:xfrm>
            <a:off x="646448" y="1794382"/>
            <a:ext cx="1828800" cy="274320"/>
          </a:xfrm>
          <a:prstGeom prst="rect">
            <a:avLst/>
          </a:prstGeom>
          <a:noFill/>
        </p:spPr>
        <p:txBody>
          <a:bodyPr wrap="square">
            <a:spAutoFit/>
          </a:bodyPr>
          <a:lstStyle/>
          <a:p>
            <a:pPr>
              <a:defRPr sz="1100" b="1">
                <a:solidFill>
                  <a:srgbClr val="CC0000"/>
                </a:solidFill>
              </a:defRPr>
            </a:pPr>
            <a:r>
              <a:t>[第 1 课] 第 2 题（单选）</a:t>
            </a:r>
          </a:p>
        </p:txBody>
      </p:sp>
      <p:sp>
        <p:nvSpPr>
          <p:cNvPr id="18" name="TextBox 10"/>
          <p:cNvSpPr txBox="1"/>
          <p:nvPr/>
        </p:nvSpPr>
        <p:spPr>
          <a:xfrm>
            <a:off x="2520968" y="1794382"/>
            <a:ext cx="8961120" cy="274320"/>
          </a:xfrm>
          <a:prstGeom prst="rect">
            <a:avLst/>
          </a:prstGeom>
          <a:noFill/>
        </p:spPr>
        <p:txBody>
          <a:bodyPr wrap="square">
            <a:spAutoFit/>
          </a:bodyPr>
          <a:lstStyle/>
          <a:p>
            <a:pPr>
              <a:defRPr sz="1200" b="1">
                <a:solidFill>
                  <a:srgbClr val="000000"/>
                </a:solidFill>
              </a:defRPr>
            </a:pPr>
            <a:r>
              <a:t>计算图中，节点和边分别表示什么？</a:t>
            </a:r>
          </a:p>
        </p:txBody>
      </p:sp>
      <p:sp>
        <p:nvSpPr>
          <p:cNvPr id="19" name="TextBox 11"/>
          <p:cNvSpPr txBox="1"/>
          <p:nvPr/>
        </p:nvSpPr>
        <p:spPr>
          <a:xfrm>
            <a:off x="646448" y="2096135"/>
            <a:ext cx="9601200" cy="274320"/>
          </a:xfrm>
          <a:prstGeom prst="rect">
            <a:avLst/>
          </a:prstGeom>
          <a:noFill/>
        </p:spPr>
        <p:txBody>
          <a:bodyPr wrap="square">
            <a:spAutoFit/>
          </a:bodyPr>
          <a:lstStyle/>
          <a:p>
            <a:pPr>
              <a:defRPr sz="1000" b="0">
                <a:solidFill>
                  <a:srgbClr val="333333"/>
                </a:solidFill>
              </a:defRPr>
            </a:pPr>
            <a:r>
              <a:t>A. 节点=数据，边=运算    B. 节点=运算，边=数据流动    C. 都表示运算    D. 都表示数据</a:t>
            </a:r>
          </a:p>
        </p:txBody>
      </p:sp>
      <p:sp>
        <p:nvSpPr>
          <p:cNvPr id="20" name="TextBox 12"/>
          <p:cNvSpPr txBox="1"/>
          <p:nvPr/>
        </p:nvSpPr>
        <p:spPr>
          <a:xfrm>
            <a:off x="10384808" y="2096135"/>
            <a:ext cx="1097280" cy="274320"/>
          </a:xfrm>
          <a:prstGeom prst="rect">
            <a:avLst/>
          </a:prstGeom>
          <a:noFill/>
        </p:spPr>
        <p:txBody>
          <a:bodyPr wrap="square">
            <a:spAutoFit/>
          </a:bodyPr>
          <a:lstStyle/>
          <a:p>
            <a:pPr>
              <a:defRPr sz="1000" b="1">
                <a:solidFill>
                  <a:srgbClr val="CC0000"/>
                </a:solidFill>
              </a:defRPr>
            </a:pPr>
            <a:r>
              <a:t>答案：B</a:t>
            </a:r>
          </a:p>
        </p:txBody>
      </p:sp>
      <p:sp>
        <p:nvSpPr>
          <p:cNvPr id="21" name="Rectangle 13"/>
          <p:cNvSpPr/>
          <p:nvPr/>
        </p:nvSpPr>
        <p:spPr>
          <a:xfrm>
            <a:off x="509288" y="2589911"/>
            <a:ext cx="11247120" cy="749808"/>
          </a:xfrm>
          <a:prstGeom prst="rect">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14"/>
          <p:cNvSpPr txBox="1"/>
          <p:nvPr/>
        </p:nvSpPr>
        <p:spPr>
          <a:xfrm>
            <a:off x="646448" y="2635630"/>
            <a:ext cx="1828800" cy="274320"/>
          </a:xfrm>
          <a:prstGeom prst="rect">
            <a:avLst/>
          </a:prstGeom>
          <a:noFill/>
        </p:spPr>
        <p:txBody>
          <a:bodyPr wrap="square">
            <a:spAutoFit/>
          </a:bodyPr>
          <a:lstStyle/>
          <a:p>
            <a:pPr>
              <a:defRPr sz="1100" b="1">
                <a:solidFill>
                  <a:srgbClr val="CC0000"/>
                </a:solidFill>
              </a:defRPr>
            </a:pPr>
            <a:r>
              <a:t>[第 2 课] 第 3 题（单选）</a:t>
            </a:r>
          </a:p>
        </p:txBody>
      </p:sp>
      <p:sp>
        <p:nvSpPr>
          <p:cNvPr id="23" name="TextBox 15"/>
          <p:cNvSpPr txBox="1"/>
          <p:nvPr/>
        </p:nvSpPr>
        <p:spPr>
          <a:xfrm>
            <a:off x="2520968" y="2635630"/>
            <a:ext cx="8961120" cy="274320"/>
          </a:xfrm>
          <a:prstGeom prst="rect">
            <a:avLst/>
          </a:prstGeom>
          <a:noFill/>
        </p:spPr>
        <p:txBody>
          <a:bodyPr wrap="square">
            <a:spAutoFit/>
          </a:bodyPr>
          <a:lstStyle/>
          <a:p>
            <a:pPr>
              <a:defRPr sz="1200" b="1">
                <a:solidFill>
                  <a:srgbClr val="000000"/>
                </a:solidFill>
              </a:defRPr>
            </a:pPr>
            <a:r>
              <a:t>Cube Unit 在 FP16 精度下单时钟周期可完成多大规模的矩阵乘？</a:t>
            </a:r>
          </a:p>
        </p:txBody>
      </p:sp>
      <p:sp>
        <p:nvSpPr>
          <p:cNvPr id="24" name="TextBox 16"/>
          <p:cNvSpPr txBox="1"/>
          <p:nvPr/>
        </p:nvSpPr>
        <p:spPr>
          <a:xfrm>
            <a:off x="646448" y="2937383"/>
            <a:ext cx="9601200" cy="274320"/>
          </a:xfrm>
          <a:prstGeom prst="rect">
            <a:avLst/>
          </a:prstGeom>
          <a:noFill/>
        </p:spPr>
        <p:txBody>
          <a:bodyPr wrap="square">
            <a:spAutoFit/>
          </a:bodyPr>
          <a:lstStyle/>
          <a:p>
            <a:pPr>
              <a:defRPr sz="1000" b="0">
                <a:solidFill>
                  <a:srgbClr val="333333"/>
                </a:solidFill>
              </a:defRPr>
            </a:pPr>
            <a:r>
              <a:t>A. 8×8    B. 16×16    C. 32×32    D. 64×64</a:t>
            </a:r>
          </a:p>
        </p:txBody>
      </p:sp>
      <p:sp>
        <p:nvSpPr>
          <p:cNvPr id="25" name="TextBox 17"/>
          <p:cNvSpPr txBox="1"/>
          <p:nvPr/>
        </p:nvSpPr>
        <p:spPr>
          <a:xfrm>
            <a:off x="10384808" y="2937383"/>
            <a:ext cx="1097280" cy="274320"/>
          </a:xfrm>
          <a:prstGeom prst="rect">
            <a:avLst/>
          </a:prstGeom>
          <a:noFill/>
        </p:spPr>
        <p:txBody>
          <a:bodyPr wrap="square">
            <a:spAutoFit/>
          </a:bodyPr>
          <a:lstStyle/>
          <a:p>
            <a:pPr>
              <a:defRPr sz="1000" b="1">
                <a:solidFill>
                  <a:srgbClr val="CC0000"/>
                </a:solidFill>
              </a:defRPr>
            </a:pPr>
            <a:r>
              <a:t>答案：B</a:t>
            </a:r>
          </a:p>
        </p:txBody>
      </p:sp>
      <p:sp>
        <p:nvSpPr>
          <p:cNvPr id="26" name="Rectangle 18"/>
          <p:cNvSpPr/>
          <p:nvPr/>
        </p:nvSpPr>
        <p:spPr>
          <a:xfrm>
            <a:off x="509288" y="3431159"/>
            <a:ext cx="11247120" cy="749808"/>
          </a:xfrm>
          <a:prstGeom prst="rect">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19"/>
          <p:cNvSpPr txBox="1"/>
          <p:nvPr/>
        </p:nvSpPr>
        <p:spPr>
          <a:xfrm>
            <a:off x="646448" y="3476878"/>
            <a:ext cx="1828800" cy="274320"/>
          </a:xfrm>
          <a:prstGeom prst="rect">
            <a:avLst/>
          </a:prstGeom>
          <a:noFill/>
        </p:spPr>
        <p:txBody>
          <a:bodyPr wrap="square">
            <a:spAutoFit/>
          </a:bodyPr>
          <a:lstStyle/>
          <a:p>
            <a:pPr>
              <a:defRPr sz="1100" b="1">
                <a:solidFill>
                  <a:srgbClr val="CC0000"/>
                </a:solidFill>
              </a:defRPr>
            </a:pPr>
            <a:r>
              <a:t>[第 2 课] 第 4 题（单选）</a:t>
            </a:r>
          </a:p>
        </p:txBody>
      </p:sp>
      <p:sp>
        <p:nvSpPr>
          <p:cNvPr id="28" name="TextBox 20"/>
          <p:cNvSpPr txBox="1"/>
          <p:nvPr/>
        </p:nvSpPr>
        <p:spPr>
          <a:xfrm>
            <a:off x="2520968" y="3476878"/>
            <a:ext cx="8961120" cy="274320"/>
          </a:xfrm>
          <a:prstGeom prst="rect">
            <a:avLst/>
          </a:prstGeom>
          <a:noFill/>
        </p:spPr>
        <p:txBody>
          <a:bodyPr wrap="square">
            <a:spAutoFit/>
          </a:bodyPr>
          <a:lstStyle/>
          <a:p>
            <a:pPr>
              <a:defRPr sz="1200" b="1">
                <a:solidFill>
                  <a:srgbClr val="000000"/>
                </a:solidFill>
              </a:defRPr>
            </a:pPr>
            <a:r>
              <a:t>Host 侧把总数据按核数切分的过程叫什么？</a:t>
            </a:r>
          </a:p>
        </p:txBody>
      </p:sp>
      <p:sp>
        <p:nvSpPr>
          <p:cNvPr id="29" name="TextBox 21"/>
          <p:cNvSpPr txBox="1"/>
          <p:nvPr/>
        </p:nvSpPr>
        <p:spPr>
          <a:xfrm>
            <a:off x="646448" y="3778630"/>
            <a:ext cx="9601200" cy="274320"/>
          </a:xfrm>
          <a:prstGeom prst="rect">
            <a:avLst/>
          </a:prstGeom>
          <a:noFill/>
        </p:spPr>
        <p:txBody>
          <a:bodyPr wrap="square">
            <a:spAutoFit/>
          </a:bodyPr>
          <a:lstStyle/>
          <a:p>
            <a:pPr>
              <a:defRPr sz="1000" b="0">
                <a:solidFill>
                  <a:srgbClr val="333333"/>
                </a:solidFill>
              </a:defRPr>
            </a:pPr>
            <a:r>
              <a:t>A. Tiling    B. Fusion    C. Quantization    D. Parallelization</a:t>
            </a:r>
          </a:p>
        </p:txBody>
      </p:sp>
      <p:sp>
        <p:nvSpPr>
          <p:cNvPr id="30" name="TextBox 22"/>
          <p:cNvSpPr txBox="1"/>
          <p:nvPr/>
        </p:nvSpPr>
        <p:spPr>
          <a:xfrm>
            <a:off x="10384808" y="3778630"/>
            <a:ext cx="1097280" cy="274320"/>
          </a:xfrm>
          <a:prstGeom prst="rect">
            <a:avLst/>
          </a:prstGeom>
          <a:noFill/>
        </p:spPr>
        <p:txBody>
          <a:bodyPr wrap="square">
            <a:spAutoFit/>
          </a:bodyPr>
          <a:lstStyle/>
          <a:p>
            <a:pPr>
              <a:defRPr sz="1000" b="1">
                <a:solidFill>
                  <a:srgbClr val="CC0000"/>
                </a:solidFill>
              </a:defRPr>
            </a:pPr>
            <a:r>
              <a:t>答案：A</a:t>
            </a:r>
          </a:p>
        </p:txBody>
      </p:sp>
      <p:sp>
        <p:nvSpPr>
          <p:cNvPr id="31" name="Rectangle 23"/>
          <p:cNvSpPr/>
          <p:nvPr/>
        </p:nvSpPr>
        <p:spPr>
          <a:xfrm>
            <a:off x="509288" y="4272407"/>
            <a:ext cx="11247120" cy="749808"/>
          </a:xfrm>
          <a:prstGeom prst="rect">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24"/>
          <p:cNvSpPr txBox="1"/>
          <p:nvPr/>
        </p:nvSpPr>
        <p:spPr>
          <a:xfrm>
            <a:off x="646448" y="4318127"/>
            <a:ext cx="1828800" cy="274320"/>
          </a:xfrm>
          <a:prstGeom prst="rect">
            <a:avLst/>
          </a:prstGeom>
          <a:noFill/>
        </p:spPr>
        <p:txBody>
          <a:bodyPr wrap="square">
            <a:spAutoFit/>
          </a:bodyPr>
          <a:lstStyle/>
          <a:p>
            <a:pPr>
              <a:defRPr sz="1100" b="1">
                <a:solidFill>
                  <a:srgbClr val="CC0000"/>
                </a:solidFill>
              </a:defRPr>
            </a:pPr>
            <a:r>
              <a:t>[第 3 课] 第 5 题（单选）</a:t>
            </a:r>
          </a:p>
        </p:txBody>
      </p:sp>
      <p:sp>
        <p:nvSpPr>
          <p:cNvPr id="33" name="TextBox 25"/>
          <p:cNvSpPr txBox="1"/>
          <p:nvPr/>
        </p:nvSpPr>
        <p:spPr>
          <a:xfrm>
            <a:off x="2520968" y="4318127"/>
            <a:ext cx="8961120" cy="274320"/>
          </a:xfrm>
          <a:prstGeom prst="rect">
            <a:avLst/>
          </a:prstGeom>
          <a:noFill/>
        </p:spPr>
        <p:txBody>
          <a:bodyPr wrap="square">
            <a:spAutoFit/>
          </a:bodyPr>
          <a:lstStyle/>
          <a:p>
            <a:pPr>
              <a:defRPr sz="1200" b="1">
                <a:solidFill>
                  <a:srgbClr val="000000"/>
                </a:solidFill>
              </a:defRPr>
            </a:pPr>
            <a:r>
              <a:t>让 PyTorch 代码跑在 NPU 上的框架适配组件是？</a:t>
            </a:r>
          </a:p>
        </p:txBody>
      </p:sp>
      <p:sp>
        <p:nvSpPr>
          <p:cNvPr id="34" name="TextBox 26"/>
          <p:cNvSpPr txBox="1"/>
          <p:nvPr/>
        </p:nvSpPr>
        <p:spPr>
          <a:xfrm>
            <a:off x="646448" y="4619879"/>
            <a:ext cx="9601200" cy="274320"/>
          </a:xfrm>
          <a:prstGeom prst="rect">
            <a:avLst/>
          </a:prstGeom>
          <a:noFill/>
        </p:spPr>
        <p:txBody>
          <a:bodyPr wrap="square">
            <a:spAutoFit/>
          </a:bodyPr>
          <a:lstStyle/>
          <a:p>
            <a:pPr>
              <a:defRPr sz="1000" b="0">
                <a:solidFill>
                  <a:srgbClr val="333333"/>
                </a:solidFill>
              </a:defRPr>
            </a:pPr>
            <a:r>
              <a:t>A. torch.cuda    B. torch_npu    C. MindSpore    D. TF Adapter</a:t>
            </a:r>
          </a:p>
        </p:txBody>
      </p:sp>
      <p:sp>
        <p:nvSpPr>
          <p:cNvPr id="35" name="TextBox 27"/>
          <p:cNvSpPr txBox="1"/>
          <p:nvPr/>
        </p:nvSpPr>
        <p:spPr>
          <a:xfrm>
            <a:off x="10384808" y="4619879"/>
            <a:ext cx="1097280" cy="274320"/>
          </a:xfrm>
          <a:prstGeom prst="rect">
            <a:avLst/>
          </a:prstGeom>
          <a:noFill/>
        </p:spPr>
        <p:txBody>
          <a:bodyPr wrap="square">
            <a:spAutoFit/>
          </a:bodyPr>
          <a:lstStyle/>
          <a:p>
            <a:pPr>
              <a:defRPr sz="1000" b="1">
                <a:solidFill>
                  <a:srgbClr val="CC0000"/>
                </a:solidFill>
              </a:defRPr>
            </a:pPr>
            <a:r>
              <a:t>答案：B</a:t>
            </a:r>
          </a:p>
        </p:txBody>
      </p:sp>
      <p:sp>
        <p:nvSpPr>
          <p:cNvPr id="36" name="Rectangle 28"/>
          <p:cNvSpPr/>
          <p:nvPr/>
        </p:nvSpPr>
        <p:spPr>
          <a:xfrm>
            <a:off x="509288" y="5113655"/>
            <a:ext cx="11247120" cy="749808"/>
          </a:xfrm>
          <a:prstGeom prst="rect">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29"/>
          <p:cNvSpPr txBox="1"/>
          <p:nvPr/>
        </p:nvSpPr>
        <p:spPr>
          <a:xfrm>
            <a:off x="646448" y="5159374"/>
            <a:ext cx="1828800" cy="274320"/>
          </a:xfrm>
          <a:prstGeom prst="rect">
            <a:avLst/>
          </a:prstGeom>
          <a:noFill/>
        </p:spPr>
        <p:txBody>
          <a:bodyPr wrap="square">
            <a:spAutoFit/>
          </a:bodyPr>
          <a:lstStyle/>
          <a:p>
            <a:pPr>
              <a:defRPr sz="1100" b="1">
                <a:solidFill>
                  <a:srgbClr val="CC0000"/>
                </a:solidFill>
              </a:defRPr>
            </a:pPr>
            <a:r>
              <a:t>[第 3 课] 第 6 题（单选）</a:t>
            </a:r>
          </a:p>
        </p:txBody>
      </p:sp>
      <p:sp>
        <p:nvSpPr>
          <p:cNvPr id="38" name="TextBox 30"/>
          <p:cNvSpPr txBox="1"/>
          <p:nvPr/>
        </p:nvSpPr>
        <p:spPr>
          <a:xfrm>
            <a:off x="2520968" y="5159374"/>
            <a:ext cx="8961120" cy="274320"/>
          </a:xfrm>
          <a:prstGeom prst="rect">
            <a:avLst/>
          </a:prstGeom>
          <a:noFill/>
        </p:spPr>
        <p:txBody>
          <a:bodyPr wrap="square">
            <a:spAutoFit/>
          </a:bodyPr>
          <a:lstStyle/>
          <a:p>
            <a:pPr>
              <a:defRPr sz="1200" b="1">
                <a:solidFill>
                  <a:srgbClr val="000000"/>
                </a:solidFill>
              </a:defRPr>
            </a:pPr>
            <a:r>
              <a:t>GE 图引擎中"计算图执行下沉"的核心思想是？</a:t>
            </a:r>
          </a:p>
        </p:txBody>
      </p:sp>
      <p:sp>
        <p:nvSpPr>
          <p:cNvPr id="39" name="TextBox 31"/>
          <p:cNvSpPr txBox="1"/>
          <p:nvPr/>
        </p:nvSpPr>
        <p:spPr>
          <a:xfrm>
            <a:off x="646448" y="5461127"/>
            <a:ext cx="9601200" cy="274320"/>
          </a:xfrm>
          <a:prstGeom prst="rect">
            <a:avLst/>
          </a:prstGeom>
          <a:noFill/>
        </p:spPr>
        <p:txBody>
          <a:bodyPr wrap="square">
            <a:spAutoFit/>
          </a:bodyPr>
          <a:lstStyle/>
          <a:p>
            <a:pPr>
              <a:defRPr sz="1000" b="0">
                <a:solidFill>
                  <a:srgbClr val="333333"/>
                </a:solidFill>
              </a:defRPr>
            </a:pPr>
            <a:r>
              <a:t>A. 逐个算子下发    B. 整图一次下沉到 NPU 执行    C. 只在 Host 执行    D. 拆分为更小单元</a:t>
            </a:r>
          </a:p>
        </p:txBody>
      </p:sp>
      <p:sp>
        <p:nvSpPr>
          <p:cNvPr id="40" name="TextBox 32"/>
          <p:cNvSpPr txBox="1"/>
          <p:nvPr/>
        </p:nvSpPr>
        <p:spPr>
          <a:xfrm>
            <a:off x="10384808" y="5461127"/>
            <a:ext cx="1097280" cy="274320"/>
          </a:xfrm>
          <a:prstGeom prst="rect">
            <a:avLst/>
          </a:prstGeom>
          <a:noFill/>
        </p:spPr>
        <p:txBody>
          <a:bodyPr wrap="square">
            <a:spAutoFit/>
          </a:bodyPr>
          <a:lstStyle/>
          <a:p>
            <a:pPr>
              <a:defRPr sz="1000" b="1">
                <a:solidFill>
                  <a:srgbClr val="CC0000"/>
                </a:solidFill>
              </a:defRPr>
            </a:pPr>
            <a:r>
              <a:t>答案：B</a:t>
            </a:r>
          </a:p>
        </p:txBody>
      </p:sp>
      <p:sp>
        <p:nvSpPr>
          <p:cNvPr id="42" name="TextBox 34"/>
          <p:cNvSpPr txBox="1"/>
          <p:nvPr/>
        </p:nvSpPr>
        <p:spPr>
          <a:xfrm>
            <a:off x="445233" y="5904865"/>
            <a:ext cx="10332720" cy="276999"/>
          </a:xfrm>
          <a:prstGeom prst="rect">
            <a:avLst/>
          </a:prstGeom>
          <a:noFill/>
        </p:spPr>
        <p:txBody>
          <a:bodyPr wrap="square">
            <a:spAutoFit/>
          </a:bodyPr>
          <a:lstStyle/>
          <a:p>
            <a:pPr>
              <a:defRPr sz="1200" b="0">
                <a:solidFill>
                  <a:srgbClr val="000000"/>
                </a:solidFill>
              </a:defRPr>
            </a:pPr>
            <a:r>
              <a:rPr dirty="0" err="1"/>
              <a:t>建议：在对应</a:t>
            </a:r>
            <a:r>
              <a:rPr dirty="0"/>
              <a:t> </a:t>
            </a:r>
            <a:r>
              <a:rPr dirty="0">
                <a:hlinkClick r:id="rId1"/>
              </a:rPr>
              <a:t>notebook</a:t>
            </a:r>
            <a:r>
              <a:rPr dirty="0"/>
              <a:t> </a:t>
            </a:r>
            <a:r>
              <a:rPr dirty="0" err="1"/>
              <a:t>中填入答案</a:t>
            </a:r>
            <a:r>
              <a:rPr dirty="0"/>
              <a:t> → </a:t>
            </a:r>
            <a:r>
              <a:rPr dirty="0" err="1"/>
              <a:t>运行批改单元格自动评分</a:t>
            </a:r>
            <a:r>
              <a:rPr dirty="0"/>
              <a:t> → </a:t>
            </a:r>
            <a:r>
              <a:rPr dirty="0" err="1"/>
              <a:t>每课</a:t>
            </a:r>
            <a:r>
              <a:rPr dirty="0"/>
              <a:t> 10 </a:t>
            </a:r>
            <a:r>
              <a:rPr dirty="0" err="1"/>
              <a:t>题，详见各</a:t>
            </a:r>
            <a:r>
              <a:rPr dirty="0"/>
              <a:t> notebook </a:t>
            </a:r>
            <a:r>
              <a:rPr dirty="0" err="1"/>
              <a:t>课后练习部分</a:t>
            </a:r>
            <a:endParaRPr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副标题 1"/>
          <p:cNvSpPr txBox="1"/>
          <p:nvPr/>
        </p:nvSpPr>
        <p:spPr>
          <a:xfrm>
            <a:off x="731838" y="326390"/>
            <a:ext cx="11099165" cy="581025"/>
          </a:xfrm>
          <a:prstGeom prst="rect">
            <a:avLst/>
          </a:prstGeom>
        </p:spPr>
        <p:txBody>
          <a:bodyPr lIns="0" tIns="0" rIns="0" bIns="0" anchor="ctr" anchorCtr="0">
            <a:normAutofit/>
          </a:bodyPr>
          <a:lstStyle>
            <a:lvl1pPr marL="0" indent="0" algn="l" defTabSz="1187450" rtl="0" eaLnBrk="1" latinLnBrk="0" hangingPunct="1">
              <a:lnSpc>
                <a:spcPts val="3430"/>
              </a:lnSpc>
              <a:spcBef>
                <a:spcPts val="0"/>
              </a:spcBef>
              <a:buFont typeface="Arial" panose="020B0604020202020204" pitchFamily="34" charset="0"/>
              <a:buNone/>
              <a:defRPr sz="2400" kern="1200" baseline="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593725" indent="0" algn="ctr" defTabSz="1187450" rtl="0" eaLnBrk="1" latinLnBrk="0" hangingPunct="1">
              <a:lnSpc>
                <a:spcPct val="90000"/>
              </a:lnSpc>
              <a:spcBef>
                <a:spcPts val="650"/>
              </a:spcBef>
              <a:buFont typeface="Arial" panose="020B0604020202020204" pitchFamily="34" charset="0"/>
              <a:buNone/>
              <a:defRPr sz="2595" kern="1200">
                <a:solidFill>
                  <a:schemeClr val="tx1"/>
                </a:solidFill>
                <a:latin typeface="+mn-lt"/>
                <a:ea typeface="+mn-ea"/>
                <a:cs typeface="+mn-cs"/>
              </a:defRPr>
            </a:lvl2pPr>
            <a:lvl3pPr marL="1187450" indent="0" algn="ctr" defTabSz="1187450" rtl="0" eaLnBrk="1" latinLnBrk="0" hangingPunct="1">
              <a:lnSpc>
                <a:spcPct val="90000"/>
              </a:lnSpc>
              <a:spcBef>
                <a:spcPts val="650"/>
              </a:spcBef>
              <a:buFont typeface="Arial" panose="020B0604020202020204" pitchFamily="34" charset="0"/>
              <a:buNone/>
              <a:defRPr sz="2335" kern="1200">
                <a:solidFill>
                  <a:schemeClr val="tx1"/>
                </a:solidFill>
                <a:latin typeface="+mn-lt"/>
                <a:ea typeface="+mn-ea"/>
                <a:cs typeface="+mn-cs"/>
              </a:defRPr>
            </a:lvl3pPr>
            <a:lvl4pPr marL="1781175"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4pPr>
            <a:lvl5pPr marL="2374900"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5pPr>
            <a:lvl6pPr marL="2967990"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6pPr>
            <a:lvl7pPr marL="3561715"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7pPr>
            <a:lvl8pPr marL="4155440"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8pPr>
            <a:lvl9pPr marL="4749165"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9pPr>
          </a:lstStyle>
          <a:p>
            <a:pPr marL="0" marR="0" lvl="0" indent="0" algn="l" defTabSz="1187450" rtl="0" eaLnBrk="1" fontAlgn="auto" latinLnBrk="0" hangingPunct="1">
              <a:lnSpc>
                <a:spcPts val="3430"/>
              </a:lnSpc>
              <a:spcBef>
                <a:spcPts val="0"/>
              </a:spcBef>
              <a:spcAft>
                <a:spcPts val="0"/>
              </a:spcAft>
              <a:buClrTx/>
              <a:buSzTx/>
              <a:buFont typeface="Arial" panose="020B0604020202020204" pitchFamily="34" charset="0"/>
              <a:buNone/>
              <a:defRPr/>
            </a:pPr>
            <a:r>
              <a:rPr lang="zh-CN" altLang="en-US" sz="2800" b="1"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rPr>
              <a:t>实践</a:t>
            </a:r>
            <a:r>
              <a:rPr kumimoji="0" lang="zh-CN" altLang="en-US"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rPr>
              <a:t>题</a:t>
            </a:r>
            <a:r>
              <a:rPr kumimoji="0" lang="en-US" altLang="zh-CN"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rPr>
              <a:t>--</a:t>
            </a:r>
            <a:r>
              <a:rPr kumimoji="0" lang="zh-CN" altLang="en-US"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rPr>
              <a:t>解题</a:t>
            </a:r>
            <a:r>
              <a:rPr kumimoji="0" lang="zh-CN" altLang="en-US"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rPr>
              <a:t>思路</a:t>
            </a:r>
            <a:endParaRPr kumimoji="0" lang="zh-CN" altLang="en-US"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5" name="Rectangle 2"/>
          <p:cNvSpPr>
            <a:spLocks noChangeArrowheads="1"/>
          </p:cNvSpPr>
          <p:nvPr/>
        </p:nvSpPr>
        <p:spPr bwMode="auto">
          <a:xfrm>
            <a:off x="438893" y="875125"/>
            <a:ext cx="9710116" cy="337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下面四道实践题难度递进，建议在notebook中相应代码单元中完成作答后运行验证。</a:t>
            </a:r>
            <a:endParaRPr kumimoji="0" lang="zh-CN" altLang="zh-CN" sz="3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18" name="组合 17"/>
          <p:cNvGrpSpPr/>
          <p:nvPr/>
        </p:nvGrpSpPr>
        <p:grpSpPr>
          <a:xfrm>
            <a:off x="438785" y="1336040"/>
            <a:ext cx="11466830" cy="4415790"/>
            <a:chOff x="983" y="2411"/>
            <a:chExt cx="17247" cy="6954"/>
          </a:xfrm>
        </p:grpSpPr>
        <p:grpSp>
          <p:nvGrpSpPr>
            <p:cNvPr id="6" name="组合 5"/>
            <p:cNvGrpSpPr/>
            <p:nvPr/>
          </p:nvGrpSpPr>
          <p:grpSpPr>
            <a:xfrm>
              <a:off x="983" y="2411"/>
              <a:ext cx="4310" cy="6955"/>
              <a:chOff x="1176" y="2411"/>
              <a:chExt cx="4117" cy="4950"/>
            </a:xfrm>
          </p:grpSpPr>
          <p:sp>
            <p:nvSpPr>
              <p:cNvPr id="46" name="TextBox 5"/>
              <p:cNvSpPr txBox="1"/>
              <p:nvPr/>
            </p:nvSpPr>
            <p:spPr>
              <a:xfrm>
                <a:off x="1176" y="2695"/>
                <a:ext cx="4117" cy="344"/>
              </a:xfrm>
              <a:prstGeom prst="rect">
                <a:avLst/>
              </a:prstGeom>
              <a:noFill/>
            </p:spPr>
            <p:txBody>
              <a:bodyPr wrap="square">
                <a:spAutoFit/>
              </a:bodyPr>
              <a:lstStyle/>
              <a:p>
                <a:pPr algn="l">
                  <a:defRPr sz="1500" b="1">
                    <a:solidFill>
                      <a:srgbClr val="000000"/>
                    </a:solidFill>
                  </a:defRPr>
                </a:pPr>
                <a:r>
                  <a:rPr sz="1400"/>
                  <a:t>第 1 题：NPU 上计算 z = x² + y</a:t>
                </a:r>
                <a:endParaRPr sz="1400"/>
              </a:p>
            </p:txBody>
          </p:sp>
          <p:grpSp>
            <p:nvGrpSpPr>
              <p:cNvPr id="4" name="组合 3"/>
              <p:cNvGrpSpPr/>
              <p:nvPr/>
            </p:nvGrpSpPr>
            <p:grpSpPr>
              <a:xfrm>
                <a:off x="1181" y="2411"/>
                <a:ext cx="4052" cy="4950"/>
                <a:chOff x="1181" y="2411"/>
                <a:chExt cx="4819" cy="4950"/>
              </a:xfrm>
            </p:grpSpPr>
            <p:sp>
              <p:nvSpPr>
                <p:cNvPr id="44" name="Rectangle 3"/>
                <p:cNvSpPr/>
                <p:nvPr/>
              </p:nvSpPr>
              <p:spPr>
                <a:xfrm>
                  <a:off x="1181" y="2411"/>
                  <a:ext cx="4651" cy="4950"/>
                </a:xfrm>
                <a:prstGeom prst="rect">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47" name="TextBox 6"/>
                <p:cNvSpPr txBox="1"/>
                <p:nvPr/>
              </p:nvSpPr>
              <p:spPr>
                <a:xfrm>
                  <a:off x="1248" y="3703"/>
                  <a:ext cx="4752" cy="275"/>
                </a:xfrm>
                <a:prstGeom prst="rect">
                  <a:avLst/>
                </a:prstGeom>
                <a:noFill/>
              </p:spPr>
              <p:txBody>
                <a:bodyPr wrap="square">
                  <a:spAutoFit/>
                </a:bodyPr>
                <a:lstStyle/>
                <a:p>
                  <a:pPr algn="l">
                    <a:defRPr sz="1100" b="0">
                      <a:solidFill>
                        <a:srgbClr val="333333"/>
                      </a:solidFill>
                    </a:defRPr>
                  </a:pPr>
                  <a:r>
                    <a:rPr sz="1000"/>
                    <a:t>- 创建 FP32 张量 → .npu() 搬到 NPU</a:t>
                  </a:r>
                  <a:endParaRPr sz="1000"/>
                </a:p>
              </p:txBody>
            </p:sp>
            <p:sp>
              <p:nvSpPr>
                <p:cNvPr id="48" name="TextBox 7"/>
                <p:cNvSpPr txBox="1"/>
                <p:nvPr/>
              </p:nvSpPr>
              <p:spPr>
                <a:xfrm>
                  <a:off x="1248" y="4251"/>
                  <a:ext cx="4752" cy="275"/>
                </a:xfrm>
                <a:prstGeom prst="rect">
                  <a:avLst/>
                </a:prstGeom>
                <a:noFill/>
              </p:spPr>
              <p:txBody>
                <a:bodyPr wrap="square">
                  <a:spAutoFit/>
                </a:bodyPr>
                <a:lstStyle/>
                <a:p>
                  <a:pPr algn="l">
                    <a:defRPr sz="1100" b="0">
                      <a:solidFill>
                        <a:srgbClr val="333333"/>
                      </a:solidFill>
                    </a:defRPr>
                  </a:pPr>
                  <a:r>
                    <a:rPr sz="1000"/>
                    <a:t>- 在 NPU 上计算 x² + y</a:t>
                  </a:r>
                  <a:endParaRPr sz="1000"/>
                </a:p>
              </p:txBody>
            </p:sp>
            <p:sp>
              <p:nvSpPr>
                <p:cNvPr id="49" name="TextBox 8"/>
                <p:cNvSpPr txBox="1"/>
                <p:nvPr/>
              </p:nvSpPr>
              <p:spPr>
                <a:xfrm>
                  <a:off x="1248" y="4798"/>
                  <a:ext cx="4752" cy="275"/>
                </a:xfrm>
                <a:prstGeom prst="rect">
                  <a:avLst/>
                </a:prstGeom>
                <a:noFill/>
              </p:spPr>
              <p:txBody>
                <a:bodyPr wrap="square">
                  <a:spAutoFit/>
                </a:bodyPr>
                <a:lstStyle/>
                <a:p>
                  <a:pPr algn="l">
                    <a:defRPr sz="1100" b="0">
                      <a:solidFill>
                        <a:srgbClr val="333333"/>
                      </a:solidFill>
                    </a:defRPr>
                  </a:pPr>
                  <a:r>
                    <a:rPr sz="1000"/>
                    <a:t>- 搬回 CPU 验证结果 = 7.0</a:t>
                  </a:r>
                  <a:endParaRPr sz="1000"/>
                </a:p>
              </p:txBody>
            </p:sp>
          </p:grpSp>
          <p:sp>
            <p:nvSpPr>
              <p:cNvPr id="50" name="TextBox 9"/>
              <p:cNvSpPr txBox="1"/>
              <p:nvPr/>
            </p:nvSpPr>
            <p:spPr>
              <a:xfrm>
                <a:off x="1176" y="5489"/>
                <a:ext cx="4117" cy="258"/>
              </a:xfrm>
              <a:prstGeom prst="rect">
                <a:avLst/>
              </a:prstGeom>
              <a:noFill/>
            </p:spPr>
            <p:txBody>
              <a:bodyPr wrap="square">
                <a:spAutoFit/>
              </a:bodyPr>
              <a:lstStyle/>
              <a:p>
                <a:pPr algn="l">
                  <a:defRPr sz="1000" b="1">
                    <a:solidFill>
                      <a:srgbClr val="000000"/>
                    </a:solidFill>
                  </a:defRPr>
                </a:pPr>
                <a:r>
                  <a:rPr sz="900"/>
                  <a:t>API 速查</a:t>
                </a:r>
                <a:endParaRPr sz="900"/>
              </a:p>
            </p:txBody>
          </p:sp>
          <p:sp>
            <p:nvSpPr>
              <p:cNvPr id="51" name="TextBox 10"/>
              <p:cNvSpPr txBox="1"/>
              <p:nvPr/>
            </p:nvSpPr>
            <p:spPr>
              <a:xfrm>
                <a:off x="1176" y="5921"/>
                <a:ext cx="4117" cy="413"/>
              </a:xfrm>
              <a:prstGeom prst="rect">
                <a:avLst/>
              </a:prstGeom>
              <a:noFill/>
            </p:spPr>
            <p:txBody>
              <a:bodyPr wrap="square">
                <a:spAutoFit/>
              </a:bodyPr>
              <a:lstStyle/>
              <a:p>
                <a:pPr algn="l">
                  <a:defRPr sz="1000" b="0">
                    <a:solidFill>
                      <a:srgbClr val="333333"/>
                    </a:solidFill>
                  </a:defRPr>
                </a:pPr>
                <a:r>
                  <a:rPr sz="900"/>
                  <a:t>torch.full · .npu() · .cpu()</a:t>
                </a:r>
                <a:br>
                  <a:rPr sz="900"/>
                </a:br>
                <a:r>
                  <a:rPr sz="900"/>
                  <a:t>torch.allclose</a:t>
                </a:r>
                <a:endParaRPr sz="900"/>
              </a:p>
            </p:txBody>
          </p:sp>
          <p:sp>
            <p:nvSpPr>
              <p:cNvPr id="52" name="TextBox 11"/>
              <p:cNvSpPr txBox="1"/>
              <p:nvPr/>
            </p:nvSpPr>
            <p:spPr>
              <a:xfrm>
                <a:off x="1176" y="6857"/>
                <a:ext cx="4117" cy="258"/>
              </a:xfrm>
              <a:prstGeom prst="rect">
                <a:avLst/>
              </a:prstGeom>
              <a:noFill/>
            </p:spPr>
            <p:txBody>
              <a:bodyPr wrap="square">
                <a:spAutoFit/>
              </a:bodyPr>
              <a:lstStyle/>
              <a:p>
                <a:pPr algn="l">
                  <a:defRPr sz="1000" b="0">
                    <a:solidFill>
                      <a:srgbClr val="000000"/>
                    </a:solidFill>
                  </a:defRPr>
                </a:pPr>
                <a:r>
                  <a:rPr sz="900"/>
                  <a:t>考察：张量创建、设备搬运、逐元素运算</a:t>
                </a:r>
                <a:endParaRPr sz="900"/>
              </a:p>
            </p:txBody>
          </p:sp>
        </p:grpSp>
        <p:grpSp>
          <p:nvGrpSpPr>
            <p:cNvPr id="2" name="组合 1"/>
            <p:cNvGrpSpPr/>
            <p:nvPr/>
          </p:nvGrpSpPr>
          <p:grpSpPr>
            <a:xfrm>
              <a:off x="5203" y="2411"/>
              <a:ext cx="4367" cy="6955"/>
              <a:chOff x="7086" y="2411"/>
              <a:chExt cx="4962" cy="4950"/>
            </a:xfrm>
          </p:grpSpPr>
          <p:sp>
            <p:nvSpPr>
              <p:cNvPr id="53" name="Rectangle 12"/>
              <p:cNvSpPr/>
              <p:nvPr/>
            </p:nvSpPr>
            <p:spPr>
              <a:xfrm>
                <a:off x="7086" y="2411"/>
                <a:ext cx="4758" cy="4950"/>
              </a:xfrm>
              <a:prstGeom prst="rect">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55" name="TextBox 14"/>
              <p:cNvSpPr txBox="1"/>
              <p:nvPr/>
            </p:nvSpPr>
            <p:spPr>
              <a:xfrm>
                <a:off x="7152" y="2695"/>
                <a:ext cx="4896" cy="344"/>
              </a:xfrm>
              <a:prstGeom prst="rect">
                <a:avLst/>
              </a:prstGeom>
              <a:noFill/>
            </p:spPr>
            <p:txBody>
              <a:bodyPr wrap="square">
                <a:spAutoFit/>
              </a:bodyPr>
              <a:lstStyle/>
              <a:p>
                <a:pPr algn="l">
                  <a:defRPr sz="1500" b="1">
                    <a:solidFill>
                      <a:srgbClr val="000000"/>
                    </a:solidFill>
                  </a:defRPr>
                </a:pPr>
                <a:r>
                  <a:rPr sz="1400"/>
                  <a:t>第 2 题：CPU vs NPU 矩阵乘法</a:t>
                </a:r>
                <a:endParaRPr sz="1400"/>
              </a:p>
            </p:txBody>
          </p:sp>
          <p:sp>
            <p:nvSpPr>
              <p:cNvPr id="56" name="TextBox 15"/>
              <p:cNvSpPr txBox="1"/>
              <p:nvPr/>
            </p:nvSpPr>
            <p:spPr>
              <a:xfrm>
                <a:off x="7224" y="3703"/>
                <a:ext cx="4752" cy="275"/>
              </a:xfrm>
              <a:prstGeom prst="rect">
                <a:avLst/>
              </a:prstGeom>
              <a:noFill/>
            </p:spPr>
            <p:txBody>
              <a:bodyPr wrap="square">
                <a:spAutoFit/>
              </a:bodyPr>
              <a:lstStyle/>
              <a:p>
                <a:pPr algn="l">
                  <a:defRPr sz="1100" b="0">
                    <a:solidFill>
                      <a:srgbClr val="333333"/>
                    </a:solidFill>
                  </a:defRPr>
                </a:pPr>
                <a:r>
                  <a:rPr sz="1000"/>
                  <a:t>- N = [128, 512, 2048] 矩阵乘法</a:t>
                </a:r>
                <a:endParaRPr sz="1000"/>
              </a:p>
            </p:txBody>
          </p:sp>
          <p:sp>
            <p:nvSpPr>
              <p:cNvPr id="57" name="TextBox 16"/>
              <p:cNvSpPr txBox="1"/>
              <p:nvPr/>
            </p:nvSpPr>
            <p:spPr>
              <a:xfrm>
                <a:off x="7224" y="4251"/>
                <a:ext cx="4752" cy="275"/>
              </a:xfrm>
              <a:prstGeom prst="rect">
                <a:avLst/>
              </a:prstGeom>
              <a:noFill/>
            </p:spPr>
            <p:txBody>
              <a:bodyPr wrap="square">
                <a:spAutoFit/>
              </a:bodyPr>
              <a:lstStyle/>
              <a:p>
                <a:pPr algn="l">
                  <a:defRPr sz="1100" b="0">
                    <a:solidFill>
                      <a:srgbClr val="333333"/>
                    </a:solidFill>
                  </a:defRPr>
                </a:pPr>
                <a:r>
                  <a:rPr sz="1000"/>
                  <a:t>- 对比 CPU / NPU 耗时与加速比</a:t>
                </a:r>
                <a:endParaRPr sz="1000"/>
              </a:p>
            </p:txBody>
          </p:sp>
          <p:sp>
            <p:nvSpPr>
              <p:cNvPr id="58" name="TextBox 17"/>
              <p:cNvSpPr txBox="1"/>
              <p:nvPr/>
            </p:nvSpPr>
            <p:spPr>
              <a:xfrm>
                <a:off x="7224" y="4798"/>
                <a:ext cx="4752" cy="275"/>
              </a:xfrm>
              <a:prstGeom prst="rect">
                <a:avLst/>
              </a:prstGeom>
              <a:noFill/>
            </p:spPr>
            <p:txBody>
              <a:bodyPr wrap="square">
                <a:spAutoFit/>
              </a:bodyPr>
              <a:lstStyle/>
              <a:p>
                <a:pPr algn="l">
                  <a:defRPr sz="1100" b="0">
                    <a:solidFill>
                      <a:srgbClr val="333333"/>
                    </a:solidFill>
                  </a:defRPr>
                </a:pPr>
                <a:r>
                  <a:rPr sz="1000" dirty="0"/>
                  <a:t>- </a:t>
                </a:r>
                <a:r>
                  <a:rPr sz="1000" dirty="0" err="1"/>
                  <a:t>验证结果一致</a:t>
                </a:r>
                <a:endParaRPr sz="1000" dirty="0" err="1"/>
              </a:p>
            </p:txBody>
          </p:sp>
          <p:sp>
            <p:nvSpPr>
              <p:cNvPr id="59" name="TextBox 18"/>
              <p:cNvSpPr txBox="1"/>
              <p:nvPr/>
            </p:nvSpPr>
            <p:spPr>
              <a:xfrm>
                <a:off x="7152" y="5489"/>
                <a:ext cx="4896" cy="258"/>
              </a:xfrm>
              <a:prstGeom prst="rect">
                <a:avLst/>
              </a:prstGeom>
              <a:noFill/>
            </p:spPr>
            <p:txBody>
              <a:bodyPr wrap="square">
                <a:spAutoFit/>
              </a:bodyPr>
              <a:lstStyle/>
              <a:p>
                <a:pPr algn="l">
                  <a:defRPr sz="1000" b="1">
                    <a:solidFill>
                      <a:srgbClr val="000000"/>
                    </a:solidFill>
                  </a:defRPr>
                </a:pPr>
                <a:r>
                  <a:rPr sz="900"/>
                  <a:t>API 速查</a:t>
                </a:r>
                <a:endParaRPr sz="900"/>
              </a:p>
            </p:txBody>
          </p:sp>
          <p:sp>
            <p:nvSpPr>
              <p:cNvPr id="60" name="TextBox 19"/>
              <p:cNvSpPr txBox="1"/>
              <p:nvPr/>
            </p:nvSpPr>
            <p:spPr>
              <a:xfrm>
                <a:off x="7152" y="5921"/>
                <a:ext cx="4896" cy="413"/>
              </a:xfrm>
              <a:prstGeom prst="rect">
                <a:avLst/>
              </a:prstGeom>
              <a:noFill/>
            </p:spPr>
            <p:txBody>
              <a:bodyPr wrap="square">
                <a:spAutoFit/>
              </a:bodyPr>
              <a:lstStyle/>
              <a:p>
                <a:pPr algn="l">
                  <a:defRPr sz="1000" b="0">
                    <a:solidFill>
                      <a:srgbClr val="333333"/>
                    </a:solidFill>
                  </a:defRPr>
                </a:pPr>
                <a:r>
                  <a:rPr sz="900"/>
                  <a:t>torch.randn · torch.matmul</a:t>
                </a:r>
                <a:br>
                  <a:rPr sz="900"/>
                </a:br>
                <a:r>
                  <a:rPr sz="900"/>
                  <a:t>torch.npu.synchronize()</a:t>
                </a:r>
                <a:endParaRPr sz="900"/>
              </a:p>
            </p:txBody>
          </p:sp>
          <p:sp>
            <p:nvSpPr>
              <p:cNvPr id="61" name="TextBox 20"/>
              <p:cNvSpPr txBox="1"/>
              <p:nvPr/>
            </p:nvSpPr>
            <p:spPr>
              <a:xfrm>
                <a:off x="7152" y="6857"/>
                <a:ext cx="4896" cy="258"/>
              </a:xfrm>
              <a:prstGeom prst="rect">
                <a:avLst/>
              </a:prstGeom>
              <a:noFill/>
            </p:spPr>
            <p:txBody>
              <a:bodyPr wrap="square">
                <a:spAutoFit/>
              </a:bodyPr>
              <a:lstStyle/>
              <a:p>
                <a:pPr algn="l">
                  <a:defRPr sz="1000" b="0">
                    <a:solidFill>
                      <a:srgbClr val="000000"/>
                    </a:solidFill>
                  </a:defRPr>
                </a:pPr>
                <a:r>
                  <a:rPr sz="900"/>
                  <a:t>考察：矩阵乘法、性能对比、异步同步</a:t>
                </a:r>
                <a:endParaRPr sz="900"/>
              </a:p>
            </p:txBody>
          </p:sp>
        </p:grpSp>
        <p:grpSp>
          <p:nvGrpSpPr>
            <p:cNvPr id="3" name="组合 2"/>
            <p:cNvGrpSpPr/>
            <p:nvPr/>
          </p:nvGrpSpPr>
          <p:grpSpPr>
            <a:xfrm>
              <a:off x="9480" y="2411"/>
              <a:ext cx="4310" cy="6954"/>
              <a:chOff x="13128" y="2411"/>
              <a:chExt cx="4896" cy="4919"/>
            </a:xfrm>
          </p:grpSpPr>
          <p:sp>
            <p:nvSpPr>
              <p:cNvPr id="62" name="Rectangle 21"/>
              <p:cNvSpPr/>
              <p:nvPr/>
            </p:nvSpPr>
            <p:spPr>
              <a:xfrm>
                <a:off x="13128" y="2411"/>
                <a:ext cx="4659" cy="4919"/>
              </a:xfrm>
              <a:prstGeom prst="rect">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64" name="TextBox 23"/>
              <p:cNvSpPr txBox="1"/>
              <p:nvPr/>
            </p:nvSpPr>
            <p:spPr>
              <a:xfrm>
                <a:off x="13128" y="2695"/>
                <a:ext cx="4896" cy="342"/>
              </a:xfrm>
              <a:prstGeom prst="rect">
                <a:avLst/>
              </a:prstGeom>
              <a:noFill/>
            </p:spPr>
            <p:txBody>
              <a:bodyPr wrap="square">
                <a:spAutoFit/>
              </a:bodyPr>
              <a:lstStyle/>
              <a:p>
                <a:pPr algn="l">
                  <a:defRPr sz="1500" b="1">
                    <a:solidFill>
                      <a:srgbClr val="000000"/>
                    </a:solidFill>
                  </a:defRPr>
                </a:pPr>
                <a:r>
                  <a:rPr sz="1400"/>
                  <a:t>第 3 题：Batch vs 循环矩阵乘法</a:t>
                </a:r>
                <a:endParaRPr sz="1400"/>
              </a:p>
            </p:txBody>
          </p:sp>
          <p:sp>
            <p:nvSpPr>
              <p:cNvPr id="65" name="TextBox 24"/>
              <p:cNvSpPr txBox="1"/>
              <p:nvPr/>
            </p:nvSpPr>
            <p:spPr>
              <a:xfrm>
                <a:off x="13200" y="3703"/>
                <a:ext cx="4752" cy="273"/>
              </a:xfrm>
              <a:prstGeom prst="rect">
                <a:avLst/>
              </a:prstGeom>
              <a:noFill/>
            </p:spPr>
            <p:txBody>
              <a:bodyPr wrap="square">
                <a:spAutoFit/>
              </a:bodyPr>
              <a:lstStyle/>
              <a:p>
                <a:pPr algn="l">
                  <a:defRPr sz="1100" b="0">
                    <a:solidFill>
                      <a:srgbClr val="333333"/>
                    </a:solidFill>
                  </a:defRPr>
                </a:pPr>
                <a:r>
                  <a:rPr sz="1000"/>
                  <a:t>- B = [8, 32, 128]，256×256 矩阵</a:t>
                </a:r>
                <a:endParaRPr sz="1000"/>
              </a:p>
            </p:txBody>
          </p:sp>
          <p:sp>
            <p:nvSpPr>
              <p:cNvPr id="66" name="TextBox 25"/>
              <p:cNvSpPr txBox="1"/>
              <p:nvPr/>
            </p:nvSpPr>
            <p:spPr>
              <a:xfrm>
                <a:off x="13200" y="4251"/>
                <a:ext cx="4752" cy="273"/>
              </a:xfrm>
              <a:prstGeom prst="rect">
                <a:avLst/>
              </a:prstGeom>
              <a:noFill/>
            </p:spPr>
            <p:txBody>
              <a:bodyPr wrap="square">
                <a:spAutoFit/>
              </a:bodyPr>
              <a:lstStyle/>
              <a:p>
                <a:pPr algn="l">
                  <a:defRPr sz="1100" b="0">
                    <a:solidFill>
                      <a:srgbClr val="333333"/>
                    </a:solidFill>
                  </a:defRPr>
                </a:pPr>
                <a:r>
                  <a:rPr sz="1000"/>
                  <a:t>- torch.bmm (1 次调用) vs 循环 (B 次)</a:t>
                </a:r>
                <a:endParaRPr sz="1000"/>
              </a:p>
            </p:txBody>
          </p:sp>
          <p:sp>
            <p:nvSpPr>
              <p:cNvPr id="67" name="TextBox 26"/>
              <p:cNvSpPr txBox="1"/>
              <p:nvPr/>
            </p:nvSpPr>
            <p:spPr>
              <a:xfrm>
                <a:off x="13200" y="4798"/>
                <a:ext cx="4752" cy="273"/>
              </a:xfrm>
              <a:prstGeom prst="rect">
                <a:avLst/>
              </a:prstGeom>
              <a:noFill/>
            </p:spPr>
            <p:txBody>
              <a:bodyPr wrap="square">
                <a:spAutoFit/>
              </a:bodyPr>
              <a:lstStyle/>
              <a:p>
                <a:pPr algn="l">
                  <a:defRPr sz="1100" b="0">
                    <a:solidFill>
                      <a:srgbClr val="333333"/>
                    </a:solidFill>
                  </a:defRPr>
                </a:pPr>
                <a:r>
                  <a:rPr sz="1000"/>
                  <a:t>- 观察 B 增大时加速比变化</a:t>
                </a:r>
                <a:endParaRPr sz="1000"/>
              </a:p>
            </p:txBody>
          </p:sp>
          <p:sp>
            <p:nvSpPr>
              <p:cNvPr id="68" name="TextBox 27"/>
              <p:cNvSpPr txBox="1"/>
              <p:nvPr/>
            </p:nvSpPr>
            <p:spPr>
              <a:xfrm>
                <a:off x="13128" y="5489"/>
                <a:ext cx="4896" cy="256"/>
              </a:xfrm>
              <a:prstGeom prst="rect">
                <a:avLst/>
              </a:prstGeom>
              <a:noFill/>
            </p:spPr>
            <p:txBody>
              <a:bodyPr wrap="square">
                <a:spAutoFit/>
              </a:bodyPr>
              <a:lstStyle/>
              <a:p>
                <a:pPr algn="l">
                  <a:defRPr sz="1000" b="1">
                    <a:solidFill>
                      <a:srgbClr val="000000"/>
                    </a:solidFill>
                  </a:defRPr>
                </a:pPr>
                <a:r>
                  <a:rPr sz="900"/>
                  <a:t>API 速查</a:t>
                </a:r>
                <a:endParaRPr sz="900"/>
              </a:p>
            </p:txBody>
          </p:sp>
          <p:sp>
            <p:nvSpPr>
              <p:cNvPr id="69" name="TextBox 28"/>
              <p:cNvSpPr txBox="1"/>
              <p:nvPr/>
            </p:nvSpPr>
            <p:spPr>
              <a:xfrm>
                <a:off x="13128" y="5921"/>
                <a:ext cx="4896" cy="410"/>
              </a:xfrm>
              <a:prstGeom prst="rect">
                <a:avLst/>
              </a:prstGeom>
              <a:noFill/>
            </p:spPr>
            <p:txBody>
              <a:bodyPr wrap="square">
                <a:spAutoFit/>
              </a:bodyPr>
              <a:lstStyle/>
              <a:p>
                <a:pPr algn="l">
                  <a:defRPr sz="1000" b="0">
                    <a:solidFill>
                      <a:srgbClr val="333333"/>
                    </a:solidFill>
                  </a:defRPr>
                </a:pPr>
                <a:r>
                  <a:rPr sz="900"/>
                  <a:t>torch.bmm · torch.matmul</a:t>
                </a:r>
                <a:br>
                  <a:rPr sz="900"/>
                </a:br>
                <a:r>
                  <a:rPr sz="900"/>
                  <a:t>torch.stack · torch.allclose</a:t>
                </a:r>
                <a:endParaRPr sz="900"/>
              </a:p>
            </p:txBody>
          </p:sp>
          <p:sp>
            <p:nvSpPr>
              <p:cNvPr id="70" name="TextBox 29"/>
              <p:cNvSpPr txBox="1"/>
              <p:nvPr/>
            </p:nvSpPr>
            <p:spPr>
              <a:xfrm>
                <a:off x="13128" y="6857"/>
                <a:ext cx="4896" cy="256"/>
              </a:xfrm>
              <a:prstGeom prst="rect">
                <a:avLst/>
              </a:prstGeom>
              <a:noFill/>
            </p:spPr>
            <p:txBody>
              <a:bodyPr wrap="square">
                <a:spAutoFit/>
              </a:bodyPr>
              <a:lstStyle/>
              <a:p>
                <a:pPr algn="l">
                  <a:defRPr sz="1000" b="0">
                    <a:solidFill>
                      <a:srgbClr val="000000"/>
                    </a:solidFill>
                  </a:defRPr>
                </a:pPr>
                <a:r>
                  <a:rPr sz="900"/>
                  <a:t>考察：算子调用开销、batch 优化</a:t>
                </a:r>
                <a:endParaRPr sz="900"/>
              </a:p>
            </p:txBody>
          </p:sp>
        </p:grpSp>
        <p:grpSp>
          <p:nvGrpSpPr>
            <p:cNvPr id="7" name="组合 6"/>
            <p:cNvGrpSpPr/>
            <p:nvPr/>
          </p:nvGrpSpPr>
          <p:grpSpPr>
            <a:xfrm>
              <a:off x="13700" y="2411"/>
              <a:ext cx="4531" cy="6955"/>
              <a:chOff x="1176" y="2411"/>
              <a:chExt cx="4329" cy="4950"/>
            </a:xfrm>
          </p:grpSpPr>
          <p:sp>
            <p:nvSpPr>
              <p:cNvPr id="8" name="TextBox 5"/>
              <p:cNvSpPr txBox="1"/>
              <p:nvPr/>
            </p:nvSpPr>
            <p:spPr>
              <a:xfrm>
                <a:off x="1176" y="2695"/>
                <a:ext cx="4117" cy="585"/>
              </a:xfrm>
              <a:prstGeom prst="rect">
                <a:avLst/>
              </a:prstGeom>
              <a:noFill/>
            </p:spPr>
            <p:txBody>
              <a:bodyPr wrap="square">
                <a:spAutoFit/>
              </a:bodyPr>
              <a:lstStyle/>
              <a:p>
                <a:pPr algn="l">
                  <a:defRPr sz="1500" b="1">
                    <a:solidFill>
                      <a:srgbClr val="000000"/>
                    </a:solidFill>
                  </a:defRPr>
                </a:pPr>
                <a:r>
                  <a:rPr sz="1400">
                    <a:sym typeface="+mn-ea"/>
                  </a:rPr>
                  <a:t>第 4 题：NPU 图像高斯模糊（卷积）</a:t>
                </a:r>
                <a:endParaRPr sz="1400">
                  <a:sym typeface="+mn-ea"/>
                </a:endParaRPr>
              </a:p>
            </p:txBody>
          </p:sp>
          <p:grpSp>
            <p:nvGrpSpPr>
              <p:cNvPr id="9" name="组合 8"/>
              <p:cNvGrpSpPr/>
              <p:nvPr/>
            </p:nvGrpSpPr>
            <p:grpSpPr>
              <a:xfrm>
                <a:off x="1181" y="2411"/>
                <a:ext cx="4324" cy="4950"/>
                <a:chOff x="1181" y="2411"/>
                <a:chExt cx="5142" cy="4950"/>
              </a:xfrm>
            </p:grpSpPr>
            <p:sp>
              <p:nvSpPr>
                <p:cNvPr id="10" name="Rectangle 3"/>
                <p:cNvSpPr/>
                <p:nvPr/>
              </p:nvSpPr>
              <p:spPr>
                <a:xfrm>
                  <a:off x="1181" y="2411"/>
                  <a:ext cx="5142" cy="4950"/>
                </a:xfrm>
                <a:prstGeom prst="rect">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1" name="TextBox 6"/>
                <p:cNvSpPr txBox="1"/>
                <p:nvPr/>
              </p:nvSpPr>
              <p:spPr>
                <a:xfrm>
                  <a:off x="1248" y="3703"/>
                  <a:ext cx="4752" cy="1406"/>
                </a:xfrm>
                <a:prstGeom prst="rect">
                  <a:avLst/>
                </a:prstGeom>
                <a:noFill/>
              </p:spPr>
              <p:txBody>
                <a:bodyPr wrap="square">
                  <a:noAutofit/>
                </a:bodyPr>
                <a:lstStyle/>
                <a:p>
                  <a:pPr algn="l">
                    <a:defRPr sz="1100" b="0">
                      <a:solidFill>
                        <a:srgbClr val="333333"/>
                      </a:solidFill>
                    </a:defRPr>
                  </a:pPr>
                  <a:r>
                    <a:rPr sz="1000"/>
                    <a:t>- </a:t>
                  </a:r>
                  <a:r>
                    <a:rPr sz="1000">
                      <a:sym typeface="+mn-ea"/>
                    </a:rPr>
                    <a:t>加载 Lena 图片 → 构造 5×5 高斯核 → CPU/NPU 卷积对比 → 可视化</a:t>
                  </a:r>
                  <a:endParaRPr sz="1000">
                    <a:sym typeface="+mn-ea"/>
                  </a:endParaRPr>
                </a:p>
                <a:p>
                  <a:pPr algn="l">
                    <a:defRPr sz="1100" b="0">
                      <a:solidFill>
                        <a:srgbClr val="333333"/>
                      </a:solidFill>
                    </a:defRPr>
                  </a:pPr>
                  <a:endParaRPr sz="1000">
                    <a:sym typeface="+mn-ea"/>
                  </a:endParaRPr>
                </a:p>
                <a:p>
                  <a:pPr algn="l">
                    <a:defRPr sz="1100" b="0">
                      <a:solidFill>
                        <a:srgbClr val="333333"/>
                      </a:solidFill>
                    </a:defRPr>
                  </a:pPr>
                  <a:r>
                    <a:rPr lang="en-US" sz="1000">
                      <a:sym typeface="+mn-ea"/>
                    </a:rPr>
                    <a:t>- </a:t>
                  </a:r>
                  <a:r>
                    <a:rPr lang="zh-CN" altLang="en-US" sz="1000">
                      <a:sym typeface="+mn-ea"/>
                    </a:rPr>
                    <a:t>思考为何加速比并没有预期那么大</a:t>
                  </a:r>
                  <a:endParaRPr sz="1000">
                    <a:sym typeface="+mn-ea"/>
                  </a:endParaRPr>
                </a:p>
                <a:p>
                  <a:pPr algn="l">
                    <a:defRPr sz="1100" b="0">
                      <a:solidFill>
                        <a:srgbClr val="333333"/>
                      </a:solidFill>
                    </a:defRPr>
                  </a:pPr>
                  <a:endParaRPr sz="1000">
                    <a:sym typeface="+mn-ea"/>
                  </a:endParaRPr>
                </a:p>
                <a:p>
                  <a:pPr algn="l">
                    <a:defRPr sz="1100" b="0">
                      <a:solidFill>
                        <a:srgbClr val="333333"/>
                      </a:solidFill>
                    </a:defRPr>
                  </a:pPr>
                  <a:endParaRPr sz="1000">
                    <a:sym typeface="+mn-ea"/>
                  </a:endParaRPr>
                </a:p>
                <a:p>
                  <a:pPr algn="l">
                    <a:defRPr sz="1100" b="0">
                      <a:solidFill>
                        <a:srgbClr val="333333"/>
                      </a:solidFill>
                    </a:defRPr>
                  </a:pPr>
                  <a:endParaRPr sz="1000">
                    <a:sym typeface="+mn-ea"/>
                  </a:endParaRPr>
                </a:p>
              </p:txBody>
            </p:sp>
            <p:sp>
              <p:nvSpPr>
                <p:cNvPr id="12" name="TextBox 7"/>
                <p:cNvSpPr txBox="1"/>
                <p:nvPr/>
              </p:nvSpPr>
              <p:spPr>
                <a:xfrm>
                  <a:off x="1248" y="4251"/>
                  <a:ext cx="4752" cy="275"/>
                </a:xfrm>
                <a:prstGeom prst="rect">
                  <a:avLst/>
                </a:prstGeom>
                <a:noFill/>
              </p:spPr>
              <p:txBody>
                <a:bodyPr wrap="square">
                  <a:spAutoFit/>
                </a:bodyPr>
                <a:lstStyle/>
                <a:p>
                  <a:pPr algn="l">
                    <a:defRPr sz="1100" b="0">
                      <a:solidFill>
                        <a:srgbClr val="333333"/>
                      </a:solidFill>
                    </a:defRPr>
                  </a:pPr>
                  <a:endParaRPr sz="1000"/>
                </a:p>
              </p:txBody>
            </p:sp>
          </p:grpSp>
          <p:sp>
            <p:nvSpPr>
              <p:cNvPr id="14" name="TextBox 9"/>
              <p:cNvSpPr txBox="1"/>
              <p:nvPr/>
            </p:nvSpPr>
            <p:spPr>
              <a:xfrm>
                <a:off x="1176" y="5489"/>
                <a:ext cx="4117" cy="258"/>
              </a:xfrm>
              <a:prstGeom prst="rect">
                <a:avLst/>
              </a:prstGeom>
              <a:noFill/>
            </p:spPr>
            <p:txBody>
              <a:bodyPr wrap="square">
                <a:spAutoFit/>
              </a:bodyPr>
              <a:lstStyle/>
              <a:p>
                <a:pPr algn="l">
                  <a:defRPr sz="1000" b="1">
                    <a:solidFill>
                      <a:srgbClr val="000000"/>
                    </a:solidFill>
                  </a:defRPr>
                </a:pPr>
                <a:r>
                  <a:rPr sz="900"/>
                  <a:t>API 速查</a:t>
                </a:r>
                <a:endParaRPr sz="900"/>
              </a:p>
            </p:txBody>
          </p:sp>
          <p:sp>
            <p:nvSpPr>
              <p:cNvPr id="15" name="TextBox 10"/>
              <p:cNvSpPr txBox="1"/>
              <p:nvPr/>
            </p:nvSpPr>
            <p:spPr>
              <a:xfrm>
                <a:off x="1176" y="5921"/>
                <a:ext cx="3752" cy="568"/>
              </a:xfrm>
              <a:prstGeom prst="rect">
                <a:avLst/>
              </a:prstGeom>
              <a:noFill/>
            </p:spPr>
            <p:txBody>
              <a:bodyPr wrap="square">
                <a:spAutoFit/>
              </a:bodyPr>
              <a:lstStyle/>
              <a:p>
                <a:pPr algn="l">
                  <a:defRPr sz="1000" b="0">
                    <a:solidFill>
                      <a:srgbClr val="333333"/>
                    </a:solidFill>
                  </a:defRPr>
                </a:pPr>
                <a:r>
                  <a:rPr sz="900">
                    <a:sym typeface="+mn-ea"/>
                  </a:rPr>
                  <a:t>F.conv2d · .npu() · .cpu) · torch.npu.synchronize()</a:t>
                </a:r>
                <a:endParaRPr sz="900">
                  <a:sym typeface="+mn-ea"/>
                </a:endParaRPr>
              </a:p>
              <a:p>
                <a:pPr algn="l">
                  <a:defRPr sz="1000" b="0">
                    <a:solidFill>
                      <a:srgbClr val="333333"/>
                    </a:solidFill>
                  </a:defRPr>
                </a:pPr>
                <a:endParaRPr sz="900">
                  <a:sym typeface="+mn-ea"/>
                </a:endParaRPr>
              </a:p>
            </p:txBody>
          </p:sp>
          <p:sp>
            <p:nvSpPr>
              <p:cNvPr id="17" name="TextBox 11"/>
              <p:cNvSpPr txBox="1"/>
              <p:nvPr/>
            </p:nvSpPr>
            <p:spPr>
              <a:xfrm>
                <a:off x="1176" y="6857"/>
                <a:ext cx="4117" cy="275"/>
              </a:xfrm>
              <a:prstGeom prst="rect">
                <a:avLst/>
              </a:prstGeom>
              <a:noFill/>
            </p:spPr>
            <p:txBody>
              <a:bodyPr wrap="square">
                <a:spAutoFit/>
              </a:bodyPr>
              <a:lstStyle/>
              <a:p>
                <a:pPr lvl="0" algn="l">
                  <a:buClrTx/>
                  <a:buSzTx/>
                  <a:buFontTx/>
                  <a:defRPr sz="1100" b="0">
                    <a:solidFill>
                      <a:srgbClr val="333333"/>
                    </a:solidFill>
                  </a:defRPr>
                </a:pPr>
                <a:r>
                  <a:rPr sz="1000"/>
                  <a:t>考察：</a:t>
                </a:r>
                <a:r>
                  <a:rPr sz="900">
                    <a:sym typeface="+mn-ea"/>
                  </a:rPr>
                  <a:t>卷积运算、图像处理、算术强度分析</a:t>
                </a:r>
                <a:endParaRPr sz="900">
                  <a:sym typeface="+mn-ea"/>
                </a:endParaRPr>
              </a:p>
            </p:txBody>
          </p:sp>
        </p:gr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副标题 1"/>
          <p:cNvSpPr txBox="1"/>
          <p:nvPr/>
        </p:nvSpPr>
        <p:spPr>
          <a:xfrm>
            <a:off x="731838" y="326390"/>
            <a:ext cx="11099165" cy="581025"/>
          </a:xfrm>
          <a:prstGeom prst="rect">
            <a:avLst/>
          </a:prstGeom>
        </p:spPr>
        <p:txBody>
          <a:bodyPr lIns="0" tIns="0" rIns="0" bIns="0" anchor="ctr" anchorCtr="0">
            <a:normAutofit/>
          </a:bodyPr>
          <a:lstStyle>
            <a:lvl1pPr marL="0" indent="0" algn="l" defTabSz="1187450" rtl="0" eaLnBrk="1" latinLnBrk="0" hangingPunct="1">
              <a:lnSpc>
                <a:spcPts val="3430"/>
              </a:lnSpc>
              <a:spcBef>
                <a:spcPts val="0"/>
              </a:spcBef>
              <a:buFont typeface="Arial" panose="020B0604020202020204" pitchFamily="34" charset="0"/>
              <a:buNone/>
              <a:defRPr sz="2400" kern="1200" baseline="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593725" indent="0" algn="ctr" defTabSz="1187450" rtl="0" eaLnBrk="1" latinLnBrk="0" hangingPunct="1">
              <a:lnSpc>
                <a:spcPct val="90000"/>
              </a:lnSpc>
              <a:spcBef>
                <a:spcPts val="650"/>
              </a:spcBef>
              <a:buFont typeface="Arial" panose="020B0604020202020204" pitchFamily="34" charset="0"/>
              <a:buNone/>
              <a:defRPr sz="2595" kern="1200">
                <a:solidFill>
                  <a:schemeClr val="tx1"/>
                </a:solidFill>
                <a:latin typeface="+mn-lt"/>
                <a:ea typeface="+mn-ea"/>
                <a:cs typeface="+mn-cs"/>
              </a:defRPr>
            </a:lvl2pPr>
            <a:lvl3pPr marL="1187450" indent="0" algn="ctr" defTabSz="1187450" rtl="0" eaLnBrk="1" latinLnBrk="0" hangingPunct="1">
              <a:lnSpc>
                <a:spcPct val="90000"/>
              </a:lnSpc>
              <a:spcBef>
                <a:spcPts val="650"/>
              </a:spcBef>
              <a:buFont typeface="Arial" panose="020B0604020202020204" pitchFamily="34" charset="0"/>
              <a:buNone/>
              <a:defRPr sz="2335" kern="1200">
                <a:solidFill>
                  <a:schemeClr val="tx1"/>
                </a:solidFill>
                <a:latin typeface="+mn-lt"/>
                <a:ea typeface="+mn-ea"/>
                <a:cs typeface="+mn-cs"/>
              </a:defRPr>
            </a:lvl3pPr>
            <a:lvl4pPr marL="1781175"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4pPr>
            <a:lvl5pPr marL="2374900"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5pPr>
            <a:lvl6pPr marL="2967990"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6pPr>
            <a:lvl7pPr marL="3561715"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7pPr>
            <a:lvl8pPr marL="4155440"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8pPr>
            <a:lvl9pPr marL="4749165"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9pPr>
          </a:lstStyle>
          <a:p>
            <a:pPr marL="0" marR="0" lvl="0" indent="0" algn="l" defTabSz="1187450" rtl="0" eaLnBrk="1" fontAlgn="auto" latinLnBrk="0" hangingPunct="1">
              <a:lnSpc>
                <a:spcPts val="3430"/>
              </a:lnSpc>
              <a:spcBef>
                <a:spcPts val="0"/>
              </a:spcBef>
              <a:spcAft>
                <a:spcPts val="0"/>
              </a:spcAft>
              <a:buClrTx/>
              <a:buSzTx/>
              <a:buFont typeface="Arial" panose="020B0604020202020204" pitchFamily="34" charset="0"/>
              <a:buNone/>
              <a:defRPr/>
            </a:pPr>
            <a:r>
              <a:rPr kumimoji="0" lang="zh-CN" altLang="en-US"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rPr>
              <a:t>学习推荐</a:t>
            </a:r>
            <a:endParaRPr kumimoji="0" lang="zh-CN" altLang="en-US" sz="2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25" name="文本占位符 7"/>
          <p:cNvSpPr txBox="1"/>
          <p:nvPr/>
        </p:nvSpPr>
        <p:spPr bwMode="auto">
          <a:xfrm>
            <a:off x="512593" y="1727358"/>
            <a:ext cx="11386990" cy="2195513"/>
          </a:xfrm>
          <a:prstGeom prst="rect">
            <a:avLst/>
          </a:prstGeom>
          <a:noFill/>
          <a:ln w="9525">
            <a:noFill/>
            <a:miter lim="800000"/>
          </a:ln>
        </p:spPr>
        <p:txBody>
          <a:bodyPr vert="horz" wrap="square" lIns="80141" tIns="40071" rIns="80141" bIns="40071" numCol="1" anchor="t" anchorCtr="0" compatLnSpc="1"/>
          <a:lstStyle>
            <a:lvl1pPr marL="302260" indent="-302260" algn="just" defTabSz="913765" rtl="0" eaLnBrk="1" fontAlgn="base" latinLnBrk="0" hangingPunct="1">
              <a:lnSpc>
                <a:spcPct val="140000"/>
              </a:lnSpc>
              <a:spcBef>
                <a:spcPts val="790"/>
              </a:spcBef>
              <a:buClr>
                <a:schemeClr val="bg1">
                  <a:lumMod val="50000"/>
                </a:schemeClr>
              </a:buClr>
              <a:buSzPct val="60000"/>
              <a:buFont typeface="Wingdings" panose="05000000000000000000" pitchFamily="2" charset="2"/>
              <a:buChar char="l"/>
              <a:defRPr sz="2800" kern="1200" baseline="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vl2pPr marL="654685" indent="-252095" algn="l" defTabSz="913765" rtl="0" eaLnBrk="1" fontAlgn="ctr" latinLnBrk="0" hangingPunct="1">
              <a:lnSpc>
                <a:spcPct val="140000"/>
              </a:lnSpc>
              <a:spcBef>
                <a:spcPts val="720"/>
              </a:spcBef>
              <a:buClrTx/>
              <a:buSzPct val="50000"/>
              <a:buFont typeface="Wingdings" panose="05000000000000000000" pitchFamily="2" charset="2"/>
              <a:buChar char="p"/>
              <a:defRPr sz="2400" kern="1200">
                <a:solidFill>
                  <a:schemeClr val="tx1"/>
                </a:solidFill>
                <a:latin typeface="Huawei Sans" panose="020C0503030203020204" pitchFamily="34" charset="0"/>
                <a:ea typeface="方正兰亭黑简体" panose="02000000000000000000" pitchFamily="2" charset="-122"/>
                <a:cs typeface="+mn-cs"/>
              </a:defRPr>
            </a:lvl2pPr>
            <a:lvl3pPr marL="1003935" indent="-201295" algn="l" defTabSz="913765" rtl="0" eaLnBrk="1" fontAlgn="ctr" latinLnBrk="0" hangingPunct="1">
              <a:lnSpc>
                <a:spcPct val="140000"/>
              </a:lnSpc>
              <a:spcBef>
                <a:spcPts val="650"/>
              </a:spcBef>
              <a:buClrTx/>
              <a:buSzPct val="50000"/>
              <a:buFont typeface="Wingdings" panose="05000000000000000000" pitchFamily="2" charset="2"/>
              <a:buChar char="n"/>
              <a:defRPr sz="2000" kern="1200">
                <a:solidFill>
                  <a:schemeClr val="tx1"/>
                </a:solidFill>
                <a:latin typeface="Huawei Sans" panose="020C0503030203020204" pitchFamily="34" charset="0"/>
                <a:ea typeface="方正兰亭黑简体" panose="02000000000000000000" pitchFamily="2" charset="-122"/>
                <a:cs typeface="+mn-cs"/>
              </a:defRPr>
            </a:lvl3pPr>
            <a:lvl4pPr marL="1399540" indent="-198120" algn="l" defTabSz="913765" rtl="0" eaLnBrk="1" fontAlgn="ctr" latinLnBrk="0" hangingPunct="1">
              <a:lnSpc>
                <a:spcPct val="140000"/>
              </a:lnSpc>
              <a:spcBef>
                <a:spcPts val="575"/>
              </a:spcBef>
              <a:buFont typeface="Huawei Sans" panose="020C0503030203020204" pitchFamily="34" charset="0"/>
              <a:buChar char="−"/>
              <a:defRPr sz="1600" kern="1200">
                <a:solidFill>
                  <a:schemeClr val="tx1"/>
                </a:solidFill>
                <a:latin typeface="Huawei Sans" panose="020C0503030203020204" pitchFamily="34" charset="0"/>
                <a:ea typeface="方正兰亭黑简体" panose="02000000000000000000" pitchFamily="2" charset="-122"/>
                <a:cs typeface="+mn-cs"/>
              </a:defRPr>
            </a:lvl4pPr>
            <a:lvl5pPr marL="1802765" indent="-201295" algn="l" defTabSz="913765" rtl="0" eaLnBrk="1" fontAlgn="ctr" latinLnBrk="0" hangingPunct="1">
              <a:lnSpc>
                <a:spcPct val="140000"/>
              </a:lnSpc>
              <a:spcBef>
                <a:spcPts val="575"/>
              </a:spcBef>
              <a:buFont typeface="Huawei Sans" panose="020C0503030203020204" pitchFamily="34" charset="0"/>
              <a:buChar char="~"/>
              <a:defRPr sz="1400" kern="1200">
                <a:solidFill>
                  <a:schemeClr val="tx1"/>
                </a:solidFill>
                <a:latin typeface="Huawei Sans" panose="020C0503030203020204" pitchFamily="34" charset="0"/>
                <a:ea typeface="方正兰亭黑简体" panose="02000000000000000000" pitchFamily="2" charset="-122"/>
                <a:cs typeface="+mn-cs"/>
              </a:defRPr>
            </a:lvl5pPr>
            <a:lvl6pPr marL="25133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5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7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9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02260" marR="0" lvl="0" indent="-302260" algn="just" defTabSz="912495" rtl="0" eaLnBrk="0" fontAlgn="base" latinLnBrk="0" hangingPunct="0">
              <a:lnSpc>
                <a:spcPct val="140000"/>
              </a:lnSpc>
              <a:spcBef>
                <a:spcPct val="0"/>
              </a:spcBef>
              <a:spcAft>
                <a:spcPct val="0"/>
              </a:spcAft>
              <a:buClr>
                <a:prstClr val="white">
                  <a:lumMod val="50000"/>
                </a:prstClr>
              </a:buClr>
              <a:buSzPct val="60000"/>
              <a:buFont typeface="Wingdings" panose="05000000000000000000" pitchFamily="2" charset="2"/>
              <a:buChar char="l"/>
              <a:defRPr/>
            </a:pPr>
            <a:r>
              <a:rPr kumimoji="0" lang="en-US" altLang="zh-CN" sz="18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Huawei Sans" panose="020C0503030203020204" pitchFamily="34" charset="0"/>
              </a:rPr>
              <a:t>Ascend C API </a:t>
            </a:r>
            <a:r>
              <a:rPr kumimoji="0" lang="zh-CN" altLang="en-US" sz="18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Huawei Sans" panose="020C0503030203020204" pitchFamily="34" charset="0"/>
              </a:rPr>
              <a:t>实现与样例：</a:t>
            </a:r>
            <a:r>
              <a:rPr kumimoji="0" lang="en-US" altLang="zh-CN" sz="18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Huawei Sans" panose="020C0503030203020204" pitchFamily="34" charset="0"/>
                <a:hlinkClick r:id="rId1"/>
              </a:rPr>
              <a:t>https://gitcode.com/cann/asc-devkit</a:t>
            </a:r>
            <a:endParaRPr kumimoji="0" lang="en-US" altLang="zh-CN" sz="18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Huawei Sans" panose="020C0503030203020204" pitchFamily="34" charset="0"/>
            </a:endParaRPr>
          </a:p>
          <a:p>
            <a:pPr marL="302260" marR="0" lvl="0" indent="-302260" algn="just" defTabSz="912495" rtl="0" eaLnBrk="0" fontAlgn="base" latinLnBrk="0" hangingPunct="0">
              <a:lnSpc>
                <a:spcPct val="140000"/>
              </a:lnSpc>
              <a:spcBef>
                <a:spcPct val="0"/>
              </a:spcBef>
              <a:spcAft>
                <a:spcPct val="0"/>
              </a:spcAft>
              <a:buClr>
                <a:prstClr val="white">
                  <a:lumMod val="50000"/>
                </a:prstClr>
              </a:buClr>
              <a:buSzPct val="60000"/>
              <a:buFont typeface="Wingdings" panose="05000000000000000000" pitchFamily="2" charset="2"/>
              <a:buChar char="l"/>
              <a:defRPr/>
            </a:pPr>
            <a:r>
              <a:rPr kumimoji="0" lang="en-US" altLang="zh-CN" sz="18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Huawei Sans" panose="020C0503030203020204" pitchFamily="34" charset="0"/>
              </a:rPr>
              <a:t>Ascend C </a:t>
            </a:r>
            <a:r>
              <a:rPr kumimoji="0" lang="zh-CN" altLang="en-US" sz="18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Huawei Sans" panose="020C0503030203020204" pitchFamily="34" charset="0"/>
              </a:rPr>
              <a:t>编程指南：</a:t>
            </a:r>
            <a:r>
              <a:rPr kumimoji="0" lang="en-US" altLang="zh-CN" sz="18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Huawei Sans" panose="020C0503030203020204" pitchFamily="34" charset="0"/>
                <a:hlinkClick r:id="rId2"/>
              </a:rPr>
              <a:t>https://asc.gitcode.com</a:t>
            </a:r>
            <a:endParaRPr kumimoji="0" lang="en-US" altLang="zh-CN" sz="18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Huawei Sans" panose="020C0503030203020204" pitchFamily="34" charset="0"/>
            </a:endParaRPr>
          </a:p>
          <a:p>
            <a:pPr marL="285750" marR="0" lvl="0" indent="-285750" algn="just" defTabSz="912495" rtl="0" eaLnBrk="0" fontAlgn="base" latinLnBrk="0" hangingPunct="0">
              <a:lnSpc>
                <a:spcPct val="140000"/>
              </a:lnSpc>
              <a:spcBef>
                <a:spcPct val="0"/>
              </a:spcBef>
              <a:spcAft>
                <a:spcPct val="0"/>
              </a:spcAft>
              <a:buClr>
                <a:prstClr val="white">
                  <a:lumMod val="50000"/>
                </a:prstClr>
              </a:buClr>
              <a:buSzPct val="60000"/>
              <a:buFont typeface="Wingdings" panose="05000000000000000000" pitchFamily="2" charset="2"/>
              <a:buChar char="l"/>
              <a:defRPr/>
            </a:pPr>
            <a:r>
              <a:rPr kumimoji="0" lang="en-US" altLang="zh-CN" sz="18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Huawei Sans" panose="020C0503030203020204" pitchFamily="34" charset="0"/>
              </a:rPr>
              <a:t>CANN</a:t>
            </a:r>
            <a:r>
              <a:rPr kumimoji="0" lang="zh-CN" altLang="en-US" sz="18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Huawei Sans" panose="020C0503030203020204" pitchFamily="34" charset="0"/>
              </a:rPr>
              <a:t>算子领域样例仓库：</a:t>
            </a:r>
            <a:r>
              <a:rPr kumimoji="0" lang="en-US" altLang="zh-CN" sz="18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Huawei Sans" panose="020C0503030203020204" pitchFamily="34" charset="0"/>
                <a:hlinkClick r:id="rId3"/>
              </a:rPr>
              <a:t>https://gitcode.com/cann/cann-samples/tree/master/Samples/</a:t>
            </a:r>
            <a:endParaRPr kumimoji="0" lang="en-US" altLang="zh-CN" sz="18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Huawei Sans" panose="020C0503030203020204" pitchFamily="34" charset="0"/>
            </a:endParaRPr>
          </a:p>
          <a:p>
            <a:pPr marL="285750" marR="0" lvl="0" indent="-285750" algn="just" defTabSz="912495" rtl="0" eaLnBrk="0" fontAlgn="base" latinLnBrk="0" hangingPunct="0">
              <a:lnSpc>
                <a:spcPct val="140000"/>
              </a:lnSpc>
              <a:spcBef>
                <a:spcPct val="0"/>
              </a:spcBef>
              <a:spcAft>
                <a:spcPct val="0"/>
              </a:spcAft>
              <a:buClr>
                <a:prstClr val="white">
                  <a:lumMod val="50000"/>
                </a:prstClr>
              </a:buClr>
              <a:buSzPct val="60000"/>
              <a:buFont typeface="Wingdings" panose="05000000000000000000" pitchFamily="2" charset="2"/>
              <a:buChar char="l"/>
              <a:defRPr/>
            </a:pPr>
            <a:r>
              <a:rPr kumimoji="0" lang="en-US" altLang="zh-CN" sz="18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Huawei Sans" panose="020C0503030203020204" pitchFamily="34" charset="0"/>
              </a:rPr>
              <a:t>CANN Learning Hub</a:t>
            </a:r>
            <a:r>
              <a:rPr kumimoji="0" lang="en-US" altLang="zh-CN" sz="18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Huawei Sans" panose="020C0503030203020204" pitchFamily="34" charset="0"/>
              </a:rPr>
              <a:t>: </a:t>
            </a:r>
            <a:r>
              <a:rPr kumimoji="0" lang="en-US" altLang="zh-CN" sz="18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Huawei Sans" panose="020C0503030203020204" pitchFamily="34" charset="0"/>
                <a:hlinkClick r:id="rId4"/>
              </a:rPr>
              <a:t>https://gitcode.com/cann/cann-learning-hub/</a:t>
            </a:r>
            <a:r>
              <a:rPr kumimoji="0" lang="en-US" altLang="zh-CN" sz="18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Huawei Sans" panose="020C0503030203020204" pitchFamily="34" charset="0"/>
              </a:rPr>
              <a:t> </a:t>
            </a:r>
            <a:endParaRPr kumimoji="0" lang="zh-CN" altLang="en-US" sz="1800" b="0" i="0" u="none" strike="noStrike" kern="1200" cap="none" spc="0" normalizeH="0" baseline="0" noProof="0" dirty="0">
              <a:ln>
                <a:noFill/>
              </a:ln>
              <a:solidFill>
                <a:sysClr val="windowText" lastClr="000000"/>
              </a:solidFill>
              <a:effectLst/>
              <a:uLnTx/>
              <a:uFillTx/>
              <a:latin typeface="Huawei Sans" panose="020C0503030203020204" pitchFamily="34" charset="0"/>
              <a:ea typeface="方正兰亭黑简体" panose="02000000000000000000" pitchFamily="2" charset="-122"/>
              <a:cs typeface="Huawei Sans" panose="020C0503030203020204" pitchFamily="34"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77025" y="1208599"/>
            <a:ext cx="3608680" cy="923330"/>
          </a:xfrm>
          <a:prstGeom prst="rect">
            <a:avLst/>
          </a:prstGeom>
          <a:noFill/>
        </p:spPr>
        <p:txBody>
          <a:bodyPr wrap="none" rtlCol="0">
            <a:spAutoFit/>
          </a:bodyPr>
          <a:lstStyle/>
          <a:p>
            <a:r>
              <a:rPr lang="en-US" altLang="zh-CN" sz="5400" dirty="0">
                <a:latin typeface="Arial" panose="020B0604020202020204" pitchFamily="34" charset="0"/>
                <a:cs typeface="Arial" panose="020B0604020202020204" pitchFamily="34" charset="0"/>
              </a:rPr>
              <a:t>Thank you.</a:t>
            </a:r>
            <a:endParaRPr lang="zh-CN" altLang="en-US" sz="5400" dirty="0">
              <a:latin typeface="Arial" panose="020B0604020202020204" pitchFamily="34" charset="0"/>
              <a:cs typeface="Arial" panose="020B0604020202020204" pitchFamily="34" charset="0"/>
            </a:endParaRPr>
          </a:p>
        </p:txBody>
      </p:sp>
      <p:sp>
        <p:nvSpPr>
          <p:cNvPr id="3" name="文本框 2"/>
          <p:cNvSpPr txBox="1"/>
          <p:nvPr/>
        </p:nvSpPr>
        <p:spPr>
          <a:xfrm>
            <a:off x="6403182" y="1393264"/>
            <a:ext cx="4699220" cy="2325958"/>
          </a:xfrm>
          <a:prstGeom prst="rect">
            <a:avLst/>
          </a:prstGeom>
          <a:noFill/>
        </p:spPr>
        <p:txBody>
          <a:bodyPr wrap="square" rtlCol="0">
            <a:spAutoFit/>
          </a:bodyPr>
          <a:lstStyle/>
          <a:p>
            <a:pPr>
              <a:lnSpc>
                <a:spcPct val="150000"/>
              </a:lnSpc>
            </a:pPr>
            <a:r>
              <a:rPr lang="zh-CN" altLang="en-US" sz="1200" dirty="0">
                <a:solidFill>
                  <a:schemeClr val="bg1">
                    <a:lumMod val="50000"/>
                  </a:schemeClr>
                </a:solidFill>
                <a:latin typeface="宋体" panose="02010600030101010101" pitchFamily="2" charset="-122"/>
                <a:ea typeface="宋体" panose="02010600030101010101" pitchFamily="2" charset="-122"/>
                <a:cs typeface="Arial" panose="020B0604020202020204" pitchFamily="34" charset="0"/>
              </a:rPr>
              <a:t>社区愿景：打造开放易用、技术领先的</a:t>
            </a:r>
            <a:r>
              <a:rPr lang="en-US" altLang="zh-CN" sz="1200" dirty="0">
                <a:solidFill>
                  <a:schemeClr val="bg1">
                    <a:lumMod val="50000"/>
                  </a:schemeClr>
                </a:solidFill>
                <a:latin typeface="宋体" panose="02010600030101010101" pitchFamily="2" charset="-122"/>
                <a:ea typeface="宋体" panose="02010600030101010101" pitchFamily="2" charset="-122"/>
                <a:cs typeface="Arial" panose="020B0604020202020204" pitchFamily="34" charset="0"/>
              </a:rPr>
              <a:t>AI</a:t>
            </a:r>
            <a:r>
              <a:rPr lang="zh-CN" altLang="en-US" sz="1200" dirty="0">
                <a:solidFill>
                  <a:schemeClr val="bg1">
                    <a:lumMod val="50000"/>
                  </a:schemeClr>
                </a:solidFill>
                <a:latin typeface="宋体" panose="02010600030101010101" pitchFamily="2" charset="-122"/>
                <a:ea typeface="宋体" panose="02010600030101010101" pitchFamily="2" charset="-122"/>
                <a:cs typeface="Arial" panose="020B0604020202020204" pitchFamily="34" charset="0"/>
              </a:rPr>
              <a:t>算力新生态</a:t>
            </a:r>
            <a:endParaRPr lang="en-US" altLang="zh-CN" sz="1200" dirty="0">
              <a:solidFill>
                <a:schemeClr val="bg1">
                  <a:lumMod val="50000"/>
                </a:schemeClr>
              </a:solidFill>
              <a:latin typeface="宋体" panose="02010600030101010101" pitchFamily="2" charset="-122"/>
              <a:ea typeface="宋体" panose="02010600030101010101" pitchFamily="2" charset="-122"/>
              <a:cs typeface="Arial" panose="020B0604020202020204" pitchFamily="34" charset="0"/>
            </a:endParaRPr>
          </a:p>
          <a:p>
            <a:pPr>
              <a:lnSpc>
                <a:spcPct val="150000"/>
              </a:lnSpc>
            </a:pPr>
            <a:r>
              <a:rPr lang="zh-CN" altLang="en-US" sz="1200" dirty="0">
                <a:solidFill>
                  <a:schemeClr val="bg1">
                    <a:lumMod val="50000"/>
                  </a:schemeClr>
                </a:solidFill>
                <a:latin typeface="宋体" panose="02010600030101010101" pitchFamily="2" charset="-122"/>
                <a:ea typeface="宋体" panose="02010600030101010101" pitchFamily="2" charset="-122"/>
                <a:cs typeface="Arial" panose="020B0604020202020204" pitchFamily="34" charset="0"/>
              </a:rPr>
              <a:t>社区使命：使能开发者基于</a:t>
            </a:r>
            <a:r>
              <a:rPr lang="en-US" altLang="zh-CN" sz="1200" dirty="0">
                <a:solidFill>
                  <a:schemeClr val="bg1">
                    <a:lumMod val="50000"/>
                  </a:schemeClr>
                </a:solidFill>
                <a:latin typeface="宋体" panose="02010600030101010101" pitchFamily="2" charset="-122"/>
                <a:ea typeface="宋体" panose="02010600030101010101" pitchFamily="2" charset="-122"/>
                <a:cs typeface="Arial" panose="020B0604020202020204" pitchFamily="34" charset="0"/>
              </a:rPr>
              <a:t>CANN</a:t>
            </a:r>
            <a:r>
              <a:rPr lang="zh-CN" altLang="en-US" sz="1200" dirty="0">
                <a:solidFill>
                  <a:schemeClr val="bg1">
                    <a:lumMod val="50000"/>
                  </a:schemeClr>
                </a:solidFill>
                <a:latin typeface="宋体" panose="02010600030101010101" pitchFamily="2" charset="-122"/>
                <a:ea typeface="宋体" panose="02010600030101010101" pitchFamily="2" charset="-122"/>
                <a:cs typeface="Arial" panose="020B0604020202020204" pitchFamily="34" charset="0"/>
              </a:rPr>
              <a:t>社区自主研究创新，构筑根深叶茂、跨产业协同共享共赢的</a:t>
            </a:r>
            <a:r>
              <a:rPr lang="en-US" altLang="zh-CN" sz="1200" dirty="0">
                <a:solidFill>
                  <a:schemeClr val="bg1">
                    <a:lumMod val="50000"/>
                  </a:schemeClr>
                </a:solidFill>
                <a:latin typeface="宋体" panose="02010600030101010101" pitchFamily="2" charset="-122"/>
                <a:ea typeface="宋体" panose="02010600030101010101" pitchFamily="2" charset="-122"/>
                <a:cs typeface="Arial" panose="020B0604020202020204" pitchFamily="34" charset="0"/>
              </a:rPr>
              <a:t>CANN</a:t>
            </a:r>
            <a:r>
              <a:rPr lang="zh-CN" altLang="en-US" sz="1200" dirty="0">
                <a:solidFill>
                  <a:schemeClr val="bg1">
                    <a:lumMod val="50000"/>
                  </a:schemeClr>
                </a:solidFill>
                <a:latin typeface="宋体" panose="02010600030101010101" pitchFamily="2" charset="-122"/>
                <a:ea typeface="宋体" panose="02010600030101010101" pitchFamily="2" charset="-122"/>
                <a:cs typeface="Arial" panose="020B0604020202020204" pitchFamily="34" charset="0"/>
              </a:rPr>
              <a:t>生态</a:t>
            </a:r>
            <a:endParaRPr lang="en-US" altLang="zh-CN" sz="1200" dirty="0">
              <a:solidFill>
                <a:schemeClr val="bg1">
                  <a:lumMod val="50000"/>
                </a:schemeClr>
              </a:solidFill>
              <a:latin typeface="宋体" panose="02010600030101010101" pitchFamily="2" charset="-122"/>
              <a:ea typeface="宋体" panose="02010600030101010101" pitchFamily="2" charset="-122"/>
              <a:cs typeface="Arial" panose="020B0604020202020204" pitchFamily="34" charset="0"/>
            </a:endParaRPr>
          </a:p>
          <a:p>
            <a:pPr>
              <a:lnSpc>
                <a:spcPct val="150000"/>
              </a:lnSpc>
            </a:pPr>
            <a:endParaRPr lang="en-US" altLang="zh-CN" sz="1200" dirty="0">
              <a:solidFill>
                <a:schemeClr val="bg1">
                  <a:lumMod val="50000"/>
                </a:schemeClr>
              </a:solidFill>
              <a:latin typeface="+mn-ea"/>
            </a:endParaRPr>
          </a:p>
          <a:p>
            <a:pPr>
              <a:lnSpc>
                <a:spcPct val="150000"/>
              </a:lnSpc>
            </a:pPr>
            <a:r>
              <a:rPr lang="en-US" altLang="zh-CN" sz="1000" dirty="0">
                <a:solidFill>
                  <a:schemeClr val="bg1">
                    <a:lumMod val="50000"/>
                  </a:schemeClr>
                </a:solidFill>
                <a:latin typeface="Arial" panose="020B0604020202020204" pitchFamily="34" charset="0"/>
                <a:cs typeface="Arial" panose="020B0604020202020204" pitchFamily="34" charset="0"/>
              </a:rPr>
              <a:t>Vision: Building an Open, Easy-to-Use, and Technology-leading AI Computing Ecosystem</a:t>
            </a:r>
            <a:endParaRPr lang="en-US" altLang="zh-CN" sz="1000" dirty="0">
              <a:solidFill>
                <a:schemeClr val="bg1">
                  <a:lumMod val="50000"/>
                </a:schemeClr>
              </a:solidFill>
              <a:latin typeface="Arial" panose="020B0604020202020204" pitchFamily="34" charset="0"/>
              <a:cs typeface="Arial" panose="020B0604020202020204" pitchFamily="34" charset="0"/>
            </a:endParaRPr>
          </a:p>
          <a:p>
            <a:pPr>
              <a:lnSpc>
                <a:spcPct val="150000"/>
              </a:lnSpc>
            </a:pPr>
            <a:r>
              <a:rPr lang="en-US" altLang="zh-CN" sz="1000" dirty="0">
                <a:solidFill>
                  <a:schemeClr val="bg1">
                    <a:lumMod val="50000"/>
                  </a:schemeClr>
                </a:solidFill>
                <a:latin typeface="Arial" panose="020B0604020202020204" pitchFamily="34" charset="0"/>
                <a:cs typeface="Arial" panose="020B0604020202020204" pitchFamily="34" charset="0"/>
              </a:rPr>
              <a:t>Mission: Enable developers to independently research and innovate based on the CANN community and build a win-win CANN ecosystem with deep roots and cross-industry collaboration and sharing.</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pic>
        <p:nvPicPr>
          <p:cNvPr id="5" name="图片 4"/>
          <p:cNvPicPr>
            <a:picLocks noChangeAspect="1"/>
          </p:cNvPicPr>
          <p:nvPr/>
        </p:nvPicPr>
        <p:blipFill>
          <a:blip r:embed="rId1" cstate="screen"/>
          <a:stretch>
            <a:fillRect/>
          </a:stretch>
        </p:blipFill>
        <p:spPr>
          <a:xfrm>
            <a:off x="6927968" y="3938025"/>
            <a:ext cx="1600438" cy="1600438"/>
          </a:xfrm>
          <a:prstGeom prst="rect">
            <a:avLst/>
          </a:prstGeom>
        </p:spPr>
      </p:pic>
      <p:sp>
        <p:nvSpPr>
          <p:cNvPr id="9" name="文本框 8"/>
          <p:cNvSpPr txBox="1"/>
          <p:nvPr/>
        </p:nvSpPr>
        <p:spPr>
          <a:xfrm>
            <a:off x="7058773" y="5538464"/>
            <a:ext cx="1430200" cy="246221"/>
          </a:xfrm>
          <a:prstGeom prst="rect">
            <a:avLst/>
          </a:prstGeom>
          <a:noFill/>
        </p:spPr>
        <p:txBody>
          <a:bodyPr wrap="none" rtlCol="0">
            <a:spAutoFit/>
          </a:bodyPr>
          <a:lstStyle/>
          <a:p>
            <a:r>
              <a:rPr lang="zh-CN" altLang="en-US" sz="1000" dirty="0"/>
              <a:t>上</a:t>
            </a:r>
            <a:r>
              <a:rPr lang="en-US" altLang="zh-CN" sz="1000" dirty="0"/>
              <a:t>CANN</a:t>
            </a:r>
            <a:r>
              <a:rPr lang="zh-CN" altLang="en-US" sz="1000" dirty="0"/>
              <a:t>社区获取干货</a:t>
            </a:r>
            <a:endParaRPr lang="zh-CN" altLang="en-US" sz="1000" dirty="0"/>
          </a:p>
        </p:txBody>
      </p:sp>
      <p:sp>
        <p:nvSpPr>
          <p:cNvPr id="11" name="文本框 10"/>
          <p:cNvSpPr txBox="1"/>
          <p:nvPr/>
        </p:nvSpPr>
        <p:spPr>
          <a:xfrm>
            <a:off x="8743768" y="5538464"/>
            <a:ext cx="1686680" cy="246221"/>
          </a:xfrm>
          <a:prstGeom prst="rect">
            <a:avLst/>
          </a:prstGeom>
          <a:noFill/>
        </p:spPr>
        <p:txBody>
          <a:bodyPr wrap="none" rtlCol="0">
            <a:spAutoFit/>
          </a:bodyPr>
          <a:lstStyle/>
          <a:p>
            <a:r>
              <a:rPr lang="zh-CN" altLang="en-US" sz="1000" dirty="0"/>
              <a:t>关注</a:t>
            </a:r>
            <a:r>
              <a:rPr lang="en-US" altLang="zh-CN" sz="1000" dirty="0"/>
              <a:t>CANN</a:t>
            </a:r>
            <a:r>
              <a:rPr lang="zh-CN" altLang="en-US" sz="1000" dirty="0"/>
              <a:t>公众号获取资讯</a:t>
            </a:r>
            <a:endParaRPr lang="zh-CN" altLang="en-US" sz="1000" dirty="0"/>
          </a:p>
        </p:txBody>
      </p:sp>
      <p:pic>
        <p:nvPicPr>
          <p:cNvPr id="6" name="图片 5"/>
          <p:cNvPicPr>
            <a:picLocks noChangeAspect="1"/>
          </p:cNvPicPr>
          <p:nvPr/>
        </p:nvPicPr>
        <p:blipFill>
          <a:blip r:embed="rId2" cstate="screen"/>
          <a:stretch>
            <a:fillRect/>
          </a:stretch>
        </p:blipFill>
        <p:spPr>
          <a:xfrm>
            <a:off x="8698966" y="3898270"/>
            <a:ext cx="1686679" cy="1686679"/>
          </a:xfrm>
          <a:prstGeom prst="rect">
            <a:avLst/>
          </a:prstGeom>
        </p:spPr>
      </p:pic>
    </p:spTree>
  </p:cSld>
  <p:clrMapOvr>
    <a:masterClrMapping/>
  </p:clrMapOvr>
</p:sld>
</file>

<file path=ppt/tags/tag1.xml><?xml version="1.0" encoding="utf-8"?>
<p:tagLst xmlns:p="http://schemas.openxmlformats.org/presentationml/2006/main">
  <p:tag name="KSO_WM_UNIT_TABLE_BEAUTIFY" val="smartTable{d8cafcd1-106d-42c3-b126-5b1f6b37c11f}"/>
</p:tagLst>
</file>

<file path=ppt/tags/tag2.xml><?xml version="1.0" encoding="utf-8"?>
<p:tagLst xmlns:p="http://schemas.openxmlformats.org/presentationml/2006/main">
  <p:tag name="KSO_WM_DIAGRAM_VIRTUALLY_FRAME" val="{&quot;height&quot;:240,&quot;left&quot;:60.175,&quot;top&quot;:150,&quot;width&quot;:840}"/>
</p:tagLst>
</file>

<file path=ppt/tags/tag3.xml><?xml version="1.0" encoding="utf-8"?>
<p:tagLst xmlns:p="http://schemas.openxmlformats.org/presentationml/2006/main">
  <p:tag name="KSO_WM_DIAGRAM_VIRTUALLY_FRAME" val="{&quot;height&quot;:240,&quot;left&quot;:60.175,&quot;top&quot;:150,&quot;width&quot;:840}"/>
</p:tagLst>
</file>

<file path=ppt/tags/tag4.xml><?xml version="1.0" encoding="utf-8"?>
<p:tagLst xmlns:p="http://schemas.openxmlformats.org/presentationml/2006/main">
  <p:tag name="KSO_WM_DIAGRAM_VIRTUALLY_FRAME" val="{&quot;height&quot;:240,&quot;left&quot;:60.175,&quot;top&quot;:150,&quot;width&quot;:840}"/>
</p:tagLst>
</file>

<file path=ppt/tags/tag5.xml><?xml version="1.0" encoding="utf-8"?>
<p:tagLst xmlns:p="http://schemas.openxmlformats.org/presentationml/2006/main">
  <p:tag name="KSO_WM_DIAGRAM_VIRTUALLY_FRAME" val="{&quot;height&quot;:240,&quot;left&quot;:60.175,&quot;top&quot;:150,&quot;width&quot;:840}"/>
</p:tagLst>
</file>

<file path=ppt/tags/tag6.xml><?xml version="1.0" encoding="utf-8"?>
<p:tagLst xmlns:p="http://schemas.openxmlformats.org/presentationml/2006/main">
  <p:tag name="KSO_WM_DIAGRAM_VIRTUALLY_FRAME" val="{&quot;height&quot;:240,&quot;left&quot;:60.175,&quot;top&quot;:150,&quot;width&quot;:840}"/>
</p:tagLst>
</file>

<file path=ppt/tags/tag7.xml><?xml version="1.0" encoding="utf-8"?>
<p:tagLst xmlns:p="http://schemas.openxmlformats.org/presentationml/2006/main">
  <p:tag name="KSO_WM_DIAGRAM_VIRTUALLY_FRAME" val="{&quot;height&quot;:240,&quot;left&quot;:60.175,&quot;top&quot;:150,&quot;width&quot;:840}"/>
</p:tagLst>
</file>

<file path=ppt/tags/tag8.xml><?xml version="1.0" encoding="utf-8"?>
<p:tagLst xmlns:p="http://schemas.openxmlformats.org/presentationml/2006/main">
  <p:tag name="KSO_WM_DIAGRAM_VIRTUALLY_FRAME" val="{&quot;height&quot;:240,&quot;left&quot;:60.175,&quot;top&quot;:150,&quot;width&quot;:840}"/>
</p:tagLst>
</file>

<file path=ppt/tags/tag9.xml><?xml version="1.0" encoding="utf-8"?>
<p:tagLst xmlns:p="http://schemas.openxmlformats.org/presentationml/2006/main">
  <p:tag name="KSO_WM_DIAGRAM_VIRTUALLY_FRAME" val="{&quot;height&quot;:240,&quot;left&quot;:60.175,&quot;top&quot;:150,&quot;width&quot;:840}"/>
</p:tagLst>
</file>

<file path=ppt/tags/tag10.xml><?xml version="1.0" encoding="utf-8"?>
<p:tagLst xmlns:p="http://schemas.openxmlformats.org/presentationml/2006/main">
  <p:tag name="KSO_WM_DIAGRAM_VIRTUALLY_FRAME" val="{&quot;height&quot;:240,&quot;left&quot;:60.175,&quot;top&quot;:150,&quot;width&quot;:840}"/>
</p:tagLst>
</file>

<file path=ppt/tags/tag11.xml><?xml version="1.0" encoding="utf-8"?>
<p:tagLst xmlns:p="http://schemas.openxmlformats.org/presentationml/2006/main">
  <p:tag name="KSO_WM_DIAGRAM_VIRTUALLY_FRAME" val="{&quot;height&quot;:240,&quot;left&quot;:60.175,&quot;top&quot;:150,&quot;width&quot;:840}"/>
</p:tagLst>
</file>

<file path=ppt/tags/tag12.xml><?xml version="1.0" encoding="utf-8"?>
<p:tagLst xmlns:p="http://schemas.openxmlformats.org/presentationml/2006/main">
  <p:tag name="KSO_WM_DIAGRAM_VIRTUALLY_FRAME" val="{&quot;height&quot;:240,&quot;left&quot;:60.175,&quot;top&quot;:150,&quot;width&quot;:840}"/>
</p:tagLst>
</file>

<file path=ppt/tags/tag13.xml><?xml version="1.0" encoding="utf-8"?>
<p:tagLst xmlns:p="http://schemas.openxmlformats.org/presentationml/2006/main">
  <p:tag name="KSO_WM_DIAGRAM_VIRTUALLY_FRAME" val="{&quot;height&quot;:240,&quot;left&quot;:60.175,&quot;top&quot;:150,&quot;width&quot;:840}"/>
</p:tagLst>
</file>

<file path=ppt/tags/tag14.xml><?xml version="1.0" encoding="utf-8"?>
<p:tagLst xmlns:p="http://schemas.openxmlformats.org/presentationml/2006/main">
  <p:tag name="KSO_WM_DIAGRAM_VIRTUALLY_FRAME" val="{&quot;height&quot;:240,&quot;left&quot;:60.175,&quot;top&quot;:150,&quot;width&quot;:840}"/>
</p:tagLst>
</file>

<file path=ppt/tags/tag15.xml><?xml version="1.0" encoding="utf-8"?>
<p:tagLst xmlns:p="http://schemas.openxmlformats.org/presentationml/2006/main">
  <p:tag name="KSO_WM_DIAGRAM_VIRTUALLY_FRAME" val="{&quot;height&quot;:240,&quot;left&quot;:60.175,&quot;top&quot;:150,&quot;width&quot;:840}"/>
</p:tagLst>
</file>

<file path=ppt/tags/tag16.xml><?xml version="1.0" encoding="utf-8"?>
<p:tagLst xmlns:p="http://schemas.openxmlformats.org/presentationml/2006/main">
  <p:tag name="KSO_WM_DIAGRAM_VIRTUALLY_FRAME" val="{&quot;height&quot;:240,&quot;left&quot;:60.175,&quot;top&quot;:150,&quot;width&quot;:840}"/>
</p:tagLst>
</file>

<file path=ppt/tags/tag17.xml><?xml version="1.0" encoding="utf-8"?>
<p:tagLst xmlns:p="http://schemas.openxmlformats.org/presentationml/2006/main">
  <p:tag name="KSO_WM_DIAGRAM_VIRTUALLY_FRAME" val="{&quot;height&quot;:240,&quot;left&quot;:60.175,&quot;top&quot;:150,&quot;width&quot;:840}"/>
</p:tagLst>
</file>

<file path=ppt/tags/tag18.xml><?xml version="1.0" encoding="utf-8"?>
<p:tagLst xmlns:p="http://schemas.openxmlformats.org/presentationml/2006/main">
  <p:tag name="KSO_WM_DIAGRAM_VIRTUALLY_FRAME" val="{&quot;height&quot;:240,&quot;left&quot;:60.175,&quot;top&quot;:150,&quot;width&quot;:840}"/>
</p:tagLst>
</file>

<file path=ppt/tags/tag19.xml><?xml version="1.0" encoding="utf-8"?>
<p:tagLst xmlns:p="http://schemas.openxmlformats.org/presentationml/2006/main">
  <p:tag name="KSO_WM_DIAGRAM_VIRTUALLY_FRAME" val="{&quot;height&quot;:240,&quot;left&quot;:60.175,&quot;top&quot;:150,&quot;width&quot;:840}"/>
</p:tagLst>
</file>

<file path=ppt/tags/tag20.xml><?xml version="1.0" encoding="utf-8"?>
<p:tagLst xmlns:p="http://schemas.openxmlformats.org/presentationml/2006/main">
  <p:tag name="KSO_WM_DIAGRAM_VIRTUALLY_FRAME" val="{&quot;height&quot;:240,&quot;left&quot;:60.175,&quot;top&quot;:150,&quot;width&quot;:840}"/>
</p:tagLst>
</file>

<file path=ppt/tags/tag21.xml><?xml version="1.0" encoding="utf-8"?>
<p:tagLst xmlns:p="http://schemas.openxmlformats.org/presentationml/2006/main">
  <p:tag name="KSO_WM_DIAGRAM_VIRTUALLY_FRAME" val="{&quot;height&quot;:240,&quot;left&quot;:60.175,&quot;top&quot;:150,&quot;width&quot;:840}"/>
</p:tagLst>
</file>

<file path=ppt/tags/tag22.xml><?xml version="1.0" encoding="utf-8"?>
<p:tagLst xmlns:p="http://schemas.openxmlformats.org/presentationml/2006/main">
  <p:tag name="KSO_WM_DIAGRAM_VIRTUALLY_FRAME" val="{&quot;height&quot;:240,&quot;left&quot;:60.175,&quot;top&quot;:150,&quot;width&quot;:840}"/>
</p:tagLst>
</file>

<file path=ppt/tags/tag23.xml><?xml version="1.0" encoding="utf-8"?>
<p:tagLst xmlns:p="http://schemas.openxmlformats.org/presentationml/2006/main">
  <p:tag name="KSO_WM_DIAGRAM_VIRTUALLY_FRAME" val="{&quot;height&quot;:95,&quot;left&quot;:410.175,&quot;top&quot;:360,&quot;width&quot;:509}"/>
</p:tagLst>
</file>

<file path=ppt/tags/tag24.xml><?xml version="1.0" encoding="utf-8"?>
<p:tagLst xmlns:p="http://schemas.openxmlformats.org/presentationml/2006/main">
  <p:tag name="KSO_WM_DIAGRAM_VIRTUALLY_FRAME" val="{&quot;height&quot;:95,&quot;left&quot;:410.175,&quot;top&quot;:360,&quot;width&quot;:509}"/>
</p:tagLst>
</file>

<file path=ppt/tags/tag25.xml><?xml version="1.0" encoding="utf-8"?>
<p:tagLst xmlns:p="http://schemas.openxmlformats.org/presentationml/2006/main">
  <p:tag name="KSO_WM_DIAGRAM_VIRTUALLY_FRAME" val="{&quot;height&quot;:95,&quot;left&quot;:410.175,&quot;top&quot;:360,&quot;width&quot;:509}"/>
</p:tagLst>
</file>

<file path=ppt/tags/tag26.xml><?xml version="1.0" encoding="utf-8"?>
<p:tagLst xmlns:p="http://schemas.openxmlformats.org/presentationml/2006/main">
  <p:tag name="KSO_WM_DIAGRAM_VIRTUALLY_FRAME" val="{&quot;height&quot;:95,&quot;left&quot;:410.175,&quot;top&quot;:360,&quot;width&quot;:509}"/>
</p:tagLst>
</file>

<file path=ppt/tags/tag27.xml><?xml version="1.0" encoding="utf-8"?>
<p:tagLst xmlns:p="http://schemas.openxmlformats.org/presentationml/2006/main">
  <p:tag name="KSO_WM_DIAGRAM_VIRTUALLY_FRAME" val="{&quot;height&quot;:95,&quot;left&quot;:410.175,&quot;top&quot;:360,&quot;width&quot;:509}"/>
</p:tagLst>
</file>

<file path=ppt/tags/tag28.xml><?xml version="1.0" encoding="utf-8"?>
<p:tagLst xmlns:p="http://schemas.openxmlformats.org/presentationml/2006/main">
  <p:tag name="KSO_WM_DIAGRAM_VIRTUALLY_FRAME" val="{&quot;height&quot;:95,&quot;left&quot;:410.175,&quot;top&quot;:360,&quot;width&quot;:509}"/>
</p:tagLst>
</file>

<file path=ppt/tags/tag29.xml><?xml version="1.0" encoding="utf-8"?>
<p:tagLst xmlns:p="http://schemas.openxmlformats.org/presentationml/2006/main">
  <p:tag name="KSO_WM_DIAGRAM_VIRTUALLY_FRAME" val="{&quot;height&quot;:95,&quot;left&quot;:410.175,&quot;top&quot;:360,&quot;width&quot;:509}"/>
</p:tagLst>
</file>

<file path=ppt/tags/tag30.xml><?xml version="1.0" encoding="utf-8"?>
<p:tagLst xmlns:p="http://schemas.openxmlformats.org/presentationml/2006/main">
  <p:tag name="KSO_WM_DIAGRAM_VIRTUALLY_FRAME" val="{&quot;height&quot;:95,&quot;left&quot;:410.175,&quot;top&quot;:360,&quot;width&quot;:509}"/>
</p:tagLst>
</file>

<file path=ppt/tags/tag31.xml><?xml version="1.0" encoding="utf-8"?>
<p:tagLst xmlns:p="http://schemas.openxmlformats.org/presentationml/2006/main">
  <p:tag name="KSO_WM_DIAGRAM_VIRTUALLY_FRAME" val="{&quot;height&quot;:95,&quot;left&quot;:410.175,&quot;top&quot;:360,&quot;width&quot;:509}"/>
</p:tagLst>
</file>

<file path=ppt/tags/tag32.xml><?xml version="1.0" encoding="utf-8"?>
<p:tagLst xmlns:p="http://schemas.openxmlformats.org/presentationml/2006/main">
  <p:tag name="KSO_WM_DIAGRAM_VIRTUALLY_FRAME" val="{&quot;height&quot;:95,&quot;left&quot;:410.175,&quot;top&quot;:360,&quot;width&quot;:509}"/>
</p:tagLst>
</file>

<file path=ppt/tags/tag33.xml><?xml version="1.0" encoding="utf-8"?>
<p:tagLst xmlns:p="http://schemas.openxmlformats.org/presentationml/2006/main">
  <p:tag name="KSO_WM_DIAGRAM_VIRTUALLY_FRAME" val="{&quot;height&quot;:95,&quot;left&quot;:410.175,&quot;top&quot;:360,&quot;width&quot;:509}"/>
</p:tagLst>
</file>

<file path=ppt/tags/tag34.xml><?xml version="1.0" encoding="utf-8"?>
<p:tagLst xmlns:p="http://schemas.openxmlformats.org/presentationml/2006/main">
  <p:tag name="KSO_WM_DIAGRAM_VIRTUALLY_FRAME" val="{&quot;height&quot;:95,&quot;left&quot;:410.175,&quot;top&quot;:360,&quot;width&quot;:509}"/>
</p:tagLst>
</file>

<file path=ppt/tags/tag35.xml><?xml version="1.0" encoding="utf-8"?>
<p:tagLst xmlns:p="http://schemas.openxmlformats.org/presentationml/2006/main">
  <p:tag name="THEMECOLOR" val="5"/>
</p:tagLst>
</file>

<file path=ppt/tags/tag36.xml><?xml version="1.0" encoding="utf-8"?>
<p:tagLst xmlns:p="http://schemas.openxmlformats.org/presentationml/2006/main">
  <p:tag name="THEMECOLOR" val="5"/>
</p:tagLst>
</file>

<file path=ppt/tags/tag37.xml><?xml version="1.0" encoding="utf-8"?>
<p:tagLst xmlns:p="http://schemas.openxmlformats.org/presentationml/2006/main">
  <p:tag name="KSO_WM_DIAGRAM_VIRTUALLY_FRAME" val="{&quot;height&quot;:302.3999212598425,&quot;left&quot;:86.4,&quot;top&quot;:115.2,&quot;width&quot;:777.6}"/>
</p:tagLst>
</file>

<file path=ppt/tags/tag38.xml><?xml version="1.0" encoding="utf-8"?>
<p:tagLst xmlns:p="http://schemas.openxmlformats.org/presentationml/2006/main">
  <p:tag name="KSO_WM_DIAGRAM_VIRTUALLY_FRAME" val="{&quot;height&quot;:302.3999212598425,&quot;left&quot;:86.4,&quot;top&quot;:115.2,&quot;width&quot;:777.6}"/>
</p:tagLst>
</file>

<file path=ppt/tags/tag39.xml><?xml version="1.0" encoding="utf-8"?>
<p:tagLst xmlns:p="http://schemas.openxmlformats.org/presentationml/2006/main">
  <p:tag name="KSO_WM_DIAGRAM_VIRTUALLY_FRAME" val="{&quot;height&quot;:302.3999212598425,&quot;left&quot;:86.4,&quot;top&quot;:115.2,&quot;width&quot;:777.6}"/>
</p:tagLst>
</file>

<file path=ppt/tags/tag40.xml><?xml version="1.0" encoding="utf-8"?>
<p:tagLst xmlns:p="http://schemas.openxmlformats.org/presentationml/2006/main">
  <p:tag name="KSO_WM_DIAGRAM_VIRTUALLY_FRAME" val="{&quot;height&quot;:302.3999212598425,&quot;left&quot;:86.4,&quot;top&quot;:115.2,&quot;width&quot;:777.6}"/>
</p:tagLst>
</file>

<file path=ppt/tags/tag41.xml><?xml version="1.0" encoding="utf-8"?>
<p:tagLst xmlns:p="http://schemas.openxmlformats.org/presentationml/2006/main">
  <p:tag name="KSO_WM_DIAGRAM_VIRTUALLY_FRAME" val="{&quot;height&quot;:302.3999212598425,&quot;left&quot;:86.4,&quot;top&quot;:115.2,&quot;width&quot;:777.6}"/>
</p:tagLst>
</file>

<file path=ppt/tags/tag42.xml><?xml version="1.0" encoding="utf-8"?>
<p:tagLst xmlns:p="http://schemas.openxmlformats.org/presentationml/2006/main">
  <p:tag name="KSO_WM_DIAGRAM_VIRTUALLY_FRAME" val="{&quot;height&quot;:302.3999212598425,&quot;left&quot;:86.4,&quot;top&quot;:115.2,&quot;width&quot;:777.6}"/>
</p:tagLst>
</file>

<file path=ppt/tags/tag43.xml><?xml version="1.0" encoding="utf-8"?>
<p:tagLst xmlns:p="http://schemas.openxmlformats.org/presentationml/2006/main">
  <p:tag name="KSO_WM_DIAGRAM_VIRTUALLY_FRAME" val="{&quot;height&quot;:302.3999212598425,&quot;left&quot;:86.4,&quot;top&quot;:115.2,&quot;width&quot;:777.6}"/>
</p:tagLst>
</file>

<file path=ppt/tags/tag44.xml><?xml version="1.0" encoding="utf-8"?>
<p:tagLst xmlns:p="http://schemas.openxmlformats.org/presentationml/2006/main">
  <p:tag name="KSO_WM_DIAGRAM_VIRTUALLY_FRAME" val="{&quot;height&quot;:302.3999212598425,&quot;left&quot;:86.4,&quot;top&quot;:115.2,&quot;width&quot;:777.6}"/>
</p:tagLst>
</file>

<file path=ppt/tags/tag45.xml><?xml version="1.0" encoding="utf-8"?>
<p:tagLst xmlns:p="http://schemas.openxmlformats.org/presentationml/2006/main">
  <p:tag name="KSO_WM_DIAGRAM_VIRTUALLY_FRAME" val="{&quot;height&quot;:302.3999212598425,&quot;left&quot;:86.4,&quot;top&quot;:115.2,&quot;width&quot;:777.6}"/>
</p:tagLst>
</file>

<file path=ppt/tags/tag46.xml><?xml version="1.0" encoding="utf-8"?>
<p:tagLst xmlns:p="http://schemas.openxmlformats.org/presentationml/2006/main">
  <p:tag name="KSO_WM_DIAGRAM_VIRTUALLY_FRAME" val="{&quot;height&quot;:302.3999212598425,&quot;left&quot;:86.4,&quot;top&quot;:115.2,&quot;width&quot;:777.6}"/>
</p:tagLst>
</file>

<file path=ppt/tags/tag47.xml><?xml version="1.0" encoding="utf-8"?>
<p:tagLst xmlns:p="http://schemas.openxmlformats.org/presentationml/2006/main">
  <p:tag name="KSO_WM_DIAGRAM_VIRTUALLY_FRAME" val="{&quot;height&quot;:302.3999212598425,&quot;left&quot;:86.4,&quot;top&quot;:115.2,&quot;width&quot;:777.6}"/>
</p:tagLst>
</file>

<file path=ppt/tags/tag48.xml><?xml version="1.0" encoding="utf-8"?>
<p:tagLst xmlns:p="http://schemas.openxmlformats.org/presentationml/2006/main">
  <p:tag name="KSO_WM_DIAGRAM_VIRTUALLY_FRAME" val="{&quot;height&quot;:302.3999212598425,&quot;left&quot;:86.4,&quot;top&quot;:115.2,&quot;width&quot;:777.6}"/>
</p:tagLst>
</file>

<file path=ppt/tags/tag49.xml><?xml version="1.0" encoding="utf-8"?>
<p:tagLst xmlns:p="http://schemas.openxmlformats.org/presentationml/2006/main">
  <p:tag name="KSO_WPP_MARK_KEY" val="935e1605-20e6-40f3-adb1-b4e9ea2e89fa"/>
  <p:tag name="COMMONDATA" val="eyJoZGlkIjoiN2YzNjBkOTgyNWQ1YTMxYzM3MzMwNWFiODNmOWIzYWMifQ=="/>
</p:tagLst>
</file>

<file path=ppt/theme/theme1.xml><?xml version="1.0" encoding="utf-8"?>
<a:theme xmlns:a="http://schemas.openxmlformats.org/drawingml/2006/main" name="7_Chart page">
  <a:themeElements>
    <a:clrScheme name="Custom 29">
      <a:dk1>
        <a:srgbClr val="1D1D1A"/>
      </a:dk1>
      <a:lt1>
        <a:srgbClr val="666666"/>
      </a:lt1>
      <a:dk2>
        <a:srgbClr val="FFFFFF"/>
      </a:dk2>
      <a:lt2>
        <a:srgbClr val="EBEBEB"/>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fidpmvyv">
      <a:majorFont>
        <a:latin typeface="Huawei Sans"/>
        <a:ea typeface="微软雅黑"/>
        <a:cs typeface=""/>
      </a:majorFont>
      <a:minorFont>
        <a:latin typeface="Huawei Sans"/>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2700000" scaled="1"/>
          <a:tileRect/>
        </a:gradFill>
        <a:ln w="12700" cap="flat" cmpd="sng" algn="ctr">
          <a:noFill/>
          <a:prstDash val="solid"/>
          <a:miter lim="800000"/>
        </a:ln>
      </a:spPr>
      <a:bodyPr rtlCol="0" anchor="ctr"/>
      <a:lstStyle>
        <a:defPPr algn="ctr" defTabSz="913765">
          <a:defRPr sz="200" kern="0" dirty="0">
            <a:solidFill>
              <a:prstClr val="white"/>
            </a:solidFill>
            <a:latin typeface="Huawei Sans" panose="020C0503030203020204" pitchFamily="34" charset="0"/>
            <a:ea typeface="微软雅黑" panose="020B0503020204020204" pitchFamily="34" charset="-122"/>
            <a:cs typeface="Huawei Sans" panose="020C0503030203020204" pitchFamily="34" charset="0"/>
            <a:sym typeface="Huawei Sans" panose="020C0503030203020204" pitchFamily="34" charset="0"/>
          </a:defRPr>
        </a:defPPr>
      </a:lstStyle>
    </a:spDef>
    <a:txDef>
      <a:spPr>
        <a:noFill/>
      </a:spPr>
      <a:bodyPr wrap="square" rtlCol="0">
        <a:spAutoFit/>
      </a:bodyPr>
      <a:lstStyle>
        <a:defPPr algn="l">
          <a:lnSpc>
            <a:spcPts val="3440"/>
          </a:lnSpc>
          <a:defRPr sz="3200" dirty="0" smtClean="0">
            <a:latin typeface="微软雅黑" panose="020B0503020204020204" pitchFamily="34" charset="-122"/>
            <a:ea typeface="微软雅黑" panose="020B0503020204020204"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ustom 29">
    <a:dk1>
      <a:srgbClr val="1D1D1A"/>
    </a:dk1>
    <a:lt1>
      <a:srgbClr val="666666"/>
    </a:lt1>
    <a:dk2>
      <a:srgbClr val="FFFFFF"/>
    </a:dk2>
    <a:lt2>
      <a:srgbClr val="EBEBEB"/>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themeOverride>
</file>

<file path=docProps/app.xml><?xml version="1.0" encoding="utf-8"?>
<Properties xmlns="http://schemas.openxmlformats.org/officeDocument/2006/extended-properties" xmlns:vt="http://schemas.openxmlformats.org/officeDocument/2006/docPropsVTypes">
  <TotalTime>0</TotalTime>
  <Words>12616</Words>
  <Application>WPS 演示</Application>
  <PresentationFormat>自定义</PresentationFormat>
  <Paragraphs>1082</Paragraphs>
  <Slides>39</Slides>
  <Notes>60</Notes>
  <HiddenSlides>0</HiddenSlides>
  <MMClips>1</MMClips>
  <ScaleCrop>false</ScaleCrop>
  <HeadingPairs>
    <vt:vector size="6" baseType="variant">
      <vt:variant>
        <vt:lpstr>已用的字体</vt:lpstr>
      </vt:variant>
      <vt:variant>
        <vt:i4>58</vt:i4>
      </vt:variant>
      <vt:variant>
        <vt:lpstr>主题</vt:lpstr>
      </vt:variant>
      <vt:variant>
        <vt:i4>1</vt:i4>
      </vt:variant>
      <vt:variant>
        <vt:lpstr>幻灯片标题</vt:lpstr>
      </vt:variant>
      <vt:variant>
        <vt:i4>39</vt:i4>
      </vt:variant>
    </vt:vector>
  </HeadingPairs>
  <TitlesOfParts>
    <vt:vector size="98" baseType="lpstr">
      <vt:lpstr>Arial</vt:lpstr>
      <vt:lpstr>宋体</vt:lpstr>
      <vt:lpstr>Wingdings</vt:lpstr>
      <vt:lpstr>Huawei Sans</vt:lpstr>
      <vt:lpstr>微软雅黑</vt:lpstr>
      <vt:lpstr>Calibri</vt:lpstr>
      <vt:lpstr>等线</vt:lpstr>
      <vt:lpstr>Huawei Sans</vt:lpstr>
      <vt:lpstr>FZLanTingHeiS-B-GB</vt:lpstr>
      <vt:lpstr>ui-sans-serif</vt:lpstr>
      <vt:lpstr>Google Sans</vt:lpstr>
      <vt:lpstr>Google Sans Text</vt:lpstr>
      <vt:lpstr>Arial</vt:lpstr>
      <vt:lpstr>苹方-简</vt:lpstr>
      <vt:lpstr>Helvetica</vt:lpstr>
      <vt:lpstr>Arial Unicode MS</vt:lpstr>
      <vt:lpstr>PingFang SC</vt:lpstr>
      <vt:lpstr>Times New Roman</vt:lpstr>
      <vt:lpstr>-apple-system</vt:lpstr>
      <vt:lpstr>Calibri</vt:lpstr>
      <vt:lpstr>FrutigerNext LT Light</vt:lpstr>
      <vt:lpstr>FrutigerNext LT Medium</vt:lpstr>
      <vt:lpstr>Menlo</vt:lpstr>
      <vt:lpstr>STIXMathJax_Normal-italic</vt:lpstr>
      <vt:lpstr>STIXMathJax_Main</vt:lpstr>
      <vt:lpstr>Noto Sans SC</vt:lpstr>
      <vt:lpstr>方正兰亭黑简体</vt:lpstr>
      <vt:lpstr>FZLanTingHeiS-R-GB</vt:lpstr>
      <vt:lpstr>OPPOSans M</vt:lpstr>
      <vt:lpstr>OPPOSans R</vt:lpstr>
      <vt:lpstr>思源黑体 CN Normal</vt:lpstr>
      <vt:lpstr>OPPOSans B</vt:lpstr>
      <vt:lpstr>思源宋体 CN Heavy</vt:lpstr>
      <vt:lpstr>Consolas</vt:lpstr>
      <vt:lpstr>Consolas</vt:lpstr>
      <vt:lpstr>-apple-system</vt:lpstr>
      <vt:lpstr>FZLanTingHeiS-B-GB</vt:lpstr>
      <vt:lpstr>FZLanTingHeiS-R-GB</vt:lpstr>
      <vt:lpstr>Google Sans</vt:lpstr>
      <vt:lpstr>Google Sans Text</vt:lpstr>
      <vt:lpstr>Helvetica</vt:lpstr>
      <vt:lpstr>Menlo</vt:lpstr>
      <vt:lpstr>OPPOSans B</vt:lpstr>
      <vt:lpstr>OPPOSans M</vt:lpstr>
      <vt:lpstr>OPPOSans R</vt:lpstr>
      <vt:lpstr>PingFang SC</vt:lpstr>
      <vt:lpstr>STIXMathJax_Main</vt:lpstr>
      <vt:lpstr>STIXMathJax_Normal-italic</vt:lpstr>
      <vt:lpstr>Wingdings</vt:lpstr>
      <vt:lpstr>ui-sans-serif</vt:lpstr>
      <vt:lpstr>黑体</vt:lpstr>
      <vt:lpstr>Saturday Sans Regular</vt:lpstr>
      <vt:lpstr>Helvetica LT Pro</vt:lpstr>
      <vt:lpstr>Be Happy</vt:lpstr>
      <vt:lpstr>仓耳玄三M W05</vt:lpstr>
      <vt:lpstr>Radam</vt:lpstr>
      <vt:lpstr>KSOF28334203</vt:lpstr>
      <vt:lpstr>BatangChe</vt:lpstr>
      <vt:lpstr>7_Chart page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Huawei Technologies Co.,Ltd.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fanyan (A)</dc:creator>
  <cp:lastModifiedBy>大毛</cp:lastModifiedBy>
  <cp:revision>15</cp:revision>
  <dcterms:created xsi:type="dcterms:W3CDTF">2026-08-23T06:24:00Z</dcterms:created>
  <dcterms:modified xsi:type="dcterms:W3CDTF">2026-08-31T10:30:22Z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(3)RfML6yxPsyz9i4OU+ULiRHIqY4IHUivgLOc66PZW7PWCinSTfOp7dNua4yBV9qcIwuZvDSQ7
izNAvGDyyygpryv3pWNejZa4IxvvHQox3UE0zK03emMVU7kmjIpxYNU7Qh2D7m8+WZacamEy
oybT2pIDcpISTdLDTpkmOdOm+9zLr1EHhx/euXcq/VcBe/w6KZa+ZhZbSpsat++bqeX6Jx7E
lJcOlnwhzW9YnQPTL/</vt:lpwstr>
  </property>
  <property fmtid="{D5CDD505-2E9C-101B-9397-08002B2CF9AE}" pid="3" name="_2015_ms_pID_7253431">
    <vt:lpwstr>VSvzYyA4a15QJD65N7p/skyJ4TtD5yGY0ZGMVGKaAqAbwcMc1dvRAP
rUJ9cn+Js76Ck1eVgrfcKIKwDUKMJnLEsqiaJW65Khh7GmTcc14I8dsqa8dn919UxFjLsEOp
F3Mr9IMZBtEY0sQErfsNQMhebGytrXqmsSfxDyDldcWs6WzeXjq9IRdYRuuENIXIpVyv89eV
LWEG72egCOtrAzf1B4yZHHCDj+L6SnB11NvD</vt:lpwstr>
  </property>
  <property fmtid="{D5CDD505-2E9C-101B-9397-08002B2CF9AE}" pid="4" name="_2015_ms_pID_7253432">
    <vt:lpwstr>/+AWlRPjNe74ICZDpBnapHM=</vt:lpwstr>
  </property>
  <property fmtid="{D5CDD505-2E9C-101B-9397-08002B2CF9AE}" pid="5" name="_readonly">
    <vt:lpwstr/>
  </property>
  <property fmtid="{D5CDD505-2E9C-101B-9397-08002B2CF9AE}" pid="6" name="_change">
    <vt:lpwstr/>
  </property>
  <property fmtid="{D5CDD505-2E9C-101B-9397-08002B2CF9AE}" pid="7" name="_full-control">
    <vt:lpwstr/>
  </property>
  <property fmtid="{D5CDD505-2E9C-101B-9397-08002B2CF9AE}" pid="8" name="sflag">
    <vt:lpwstr>1707204853</vt:lpwstr>
  </property>
  <property fmtid="{D5CDD505-2E9C-101B-9397-08002B2CF9AE}" pid="9" name="ICV">
    <vt:lpwstr>CB9ADA02E9F048F09F02B5870821B132_13</vt:lpwstr>
  </property>
  <property fmtid="{D5CDD505-2E9C-101B-9397-08002B2CF9AE}" pid="10" name="KSOProductBuildVer">
    <vt:lpwstr>2052-12.1.0.28043</vt:lpwstr>
  </property>
</Properties>
</file>