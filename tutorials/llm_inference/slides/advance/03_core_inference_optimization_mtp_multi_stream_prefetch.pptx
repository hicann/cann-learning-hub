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  <p:sldMasterId id="2147483655" r:id="rId4"/>
    <p:sldMasterId id="2147483657" r:id="rId5"/>
    <p:sldMasterId id="2147483659" r:id="rId6"/>
  </p:sldMasterIdLst>
  <p:notesMasterIdLst>
    <p:notesMasterId r:id="rId8"/>
  </p:notesMasterIdLst>
  <p:handoutMasterIdLst>
    <p:handoutMasterId r:id="rId34"/>
  </p:handoutMasterIdLst>
  <p:sldIdLst>
    <p:sldId id="283" r:id="rId7"/>
    <p:sldId id="319" r:id="rId9"/>
    <p:sldId id="306" r:id="rId10"/>
    <p:sldId id="329" r:id="rId11"/>
    <p:sldId id="323" r:id="rId12"/>
    <p:sldId id="322" r:id="rId13"/>
    <p:sldId id="320" r:id="rId14"/>
    <p:sldId id="321" r:id="rId15"/>
    <p:sldId id="324" r:id="rId16"/>
    <p:sldId id="325" r:id="rId17"/>
    <p:sldId id="327" r:id="rId18"/>
    <p:sldId id="328" r:id="rId19"/>
    <p:sldId id="331" r:id="rId20"/>
    <p:sldId id="332" r:id="rId21"/>
    <p:sldId id="333" r:id="rId22"/>
    <p:sldId id="334" r:id="rId23"/>
    <p:sldId id="335" r:id="rId24"/>
    <p:sldId id="336" r:id="rId25"/>
    <p:sldId id="337" r:id="rId26"/>
    <p:sldId id="338" r:id="rId27"/>
    <p:sldId id="339" r:id="rId28"/>
    <p:sldId id="340" r:id="rId29"/>
    <p:sldId id="341" r:id="rId30"/>
    <p:sldId id="342" r:id="rId31"/>
    <p:sldId id="343" r:id="rId32"/>
    <p:sldId id="280" r:id="rId33"/>
  </p:sldIdLst>
  <p:sldSz cx="1219644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319"/>
          </p14:sldIdLst>
        </p14:section>
        <p14:section name="章节页" id="{FD05EE94-C931-8C4B-83A2-004B32AA1207}">
          <p14:sldIdLst>
            <p14:sldId id="306"/>
            <p14:sldId id="329"/>
            <p14:sldId id="323"/>
            <p14:sldId id="322"/>
            <p14:sldId id="320"/>
            <p14:sldId id="321"/>
            <p14:sldId id="324"/>
            <p14:sldId id="325"/>
            <p14:sldId id="327"/>
            <p14:sldId id="328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6F2"/>
    <a:srgbClr val="FFFFFF"/>
    <a:srgbClr val="000000"/>
    <a:srgbClr val="E9002F"/>
    <a:srgbClr val="595757"/>
    <a:srgbClr val="221815"/>
    <a:srgbClr val="888888"/>
    <a:srgbClr val="898989"/>
    <a:srgbClr val="B5B5B5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833802-FEF1-4C79-8D5D-14CF1EAF98D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8028" autoAdjust="0"/>
  </p:normalViewPr>
  <p:slideViewPr>
    <p:cSldViewPr snapToGrid="0" snapToObjects="1">
      <p:cViewPr varScale="1">
        <p:scale>
          <a:sx n="78" d="100"/>
          <a:sy n="78" d="100"/>
        </p:scale>
        <p:origin x="2136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kumimoji="1" lang="en-US" altLang="zh-CN" sz="1600" baseline="0" dirty="0">
              <a:solidFill>
                <a:srgbClr val="000000"/>
              </a:solidFill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D:/download/大模型量化基础.pptx (visual template)</a:t>
            </a:r>
          </a:p>
          <a:p>
            <a:r>
              <a:t>- docs/cann/zh/prefetch_principles.md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docs/cann/zh/prefetch_principles.md:7-9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docs/cann/zh/prefetch_principles.md:40-57</a:t>
            </a:r>
          </a:p>
          <a:p>
            <a:r>
              <a:t>- docs/models/longcat_flash/figures/prefetch_demo.jpg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docs/cann/zh/prefetch_principles.md:122-139</a:t>
            </a:r>
          </a:p>
          <a:p>
            <a:r>
              <a:t>- executor/utils/common_utils.py:151-155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docs/cann/zh/prefetch_principles.md:29-36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docs/cann/zh/prefetch_principles.md:29-36</a:t>
            </a:r>
          </a:p>
          <a:p>
            <a:r>
              <a:t>- .agents/skills/model-infer-prefetch/SKILL.md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docs/cann/zh/prefetch_principles.md:62-84</a:t>
            </a:r>
          </a:p>
          <a:p>
            <a:r>
              <a:t>- models/longcat_flash/models/modeling_longcat_flash.py:1389-1394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docs/cann/zh/prefetch_principles.md:208-242</a:t>
            </a:r>
          </a:p>
          <a:p>
            <a:r>
              <a:t>- models/longcat_flash/models/ffn.py:155-159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docs/cann/zh/prefetch_principles.md:141-206</a:t>
            </a:r>
          </a:p>
          <a:p>
            <a:r>
              <a:t>- models/longcat_flash/models/modeling_longcat_flash.py:1524-1533</a:t>
            </a:r>
          </a:p>
          <a:p>
            <a:r>
              <a:t>- models/longcat_flash/models/modeling_longcat_flash.py:1718-1738</a:t>
            </a:r>
          </a:p>
          <a:p>
            <a:r>
              <a:t>- models/longcat_flash/config/longcat_flash_densetp8_ep128_gegraph_mtp_eplb_w8a8.yaml:5-13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docs/models/longcat_flash/figures/prefetch.png</a:t>
            </a:r>
          </a:p>
          <a:p>
            <a:r>
              <a:t>- docs/models/longcat_flash/longcat_flash_optimization.md:103-106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docs/models/longcat_flash/figures/prefetch.png</a:t>
            </a:r>
          </a:p>
          <a:p>
            <a:r>
              <a:t>- models/longcat_flash/models/modeling_longcat_flash.py:1389-1486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.agents/skills/model-infer-prefetch/SKILL.md (性能测试验证与失败信号)</a:t>
            </a:r>
          </a:p>
          <a:p>
            <a:r>
              <a:t>- docs/models/longcat_flash/longcat_flash_optimization.md:75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.agents/skills/model-infer-prefetch/SKILL.md (单点验证与调优顺序)</a:t>
            </a:r>
          </a:p>
          <a:p>
            <a:r>
              <a:t>- docs/cann/zh/prefetch_principles.md:29-34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  <a:endParaRPr lang="en-US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5.tiff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  <a:endParaRPr kumimoji="1" lang="zh-CN" altLang="en-US" sz="800" b="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  <a:endParaRPr kumimoji="1" lang="zh-CN" altLang="en-US" sz="800" b="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  <a:endParaRPr kumimoji="1" lang="en-US" altLang="zh-CN" sz="850" baseline="0" dirty="0">
              <a:solidFill>
                <a:srgbClr val="1D1D1B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  <a:endParaRPr kumimoji="1" lang="zh-CN" altLang="en-US" sz="1300" dirty="0">
              <a:solidFill>
                <a:srgbClr val="1D1D1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lvl1pPr algn="ctr" defTabSz="685800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57175" indent="-257175" algn="l" defTabSz="685800">
        <a:spcBef>
          <a:spcPct val="15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557530" indent="-213995" algn="l" defTabSz="685800">
        <a:spcBef>
          <a:spcPct val="15000"/>
        </a:spcBef>
        <a:buFont typeface="Arial" panose="020B0604020202020204"/>
        <a:buChar char="–"/>
        <a:defRPr sz="21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spcBef>
          <a:spcPct val="15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spcBef>
          <a:spcPct val="15000"/>
        </a:spcBef>
        <a:buFont typeface="Arial" panose="020B0604020202020204"/>
        <a:buChar char="–"/>
        <a:defRPr sz="150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spcBef>
          <a:spcPct val="15000"/>
        </a:spcBef>
        <a:buFont typeface="Arial" panose="020B0604020202020204"/>
        <a:buChar char="»"/>
        <a:defRPr sz="150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spcBef>
          <a:spcPct val="15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spcBef>
          <a:spcPct val="15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spcBef>
          <a:spcPct val="15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spcBef>
          <a:spcPct val="15000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7.png"/><Relationship Id="rId1" Type="http://schemas.openxmlformats.org/officeDocument/2006/relationships/image" Target="../media/image2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8.jpeg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9.png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99160" y="906780"/>
            <a:ext cx="10540365" cy="690245"/>
          </a:xfrm>
        </p:spPr>
        <p:txBody>
          <a:bodyPr>
            <a:normAutofit fontScale="90000"/>
          </a:bodyPr>
          <a:lstStyle/>
          <a:p>
            <a:r>
              <a:rPr kumimoji="1" lang="zh-CN" altLang="en-US" b="1" dirty="0"/>
              <a:t>核心推理优化技术</a:t>
            </a:r>
            <a:r>
              <a:rPr kumimoji="1" lang="en-US" altLang="zh-CN" b="1" dirty="0"/>
              <a:t>—— MTP</a:t>
            </a:r>
            <a:r>
              <a:rPr kumimoji="1" lang="zh-CN" altLang="en-US" b="1" dirty="0"/>
              <a:t>投机算法、多流并行、权重</a:t>
            </a:r>
            <a:r>
              <a:rPr kumimoji="1" lang="zh-CN" altLang="en-US" b="1" dirty="0"/>
              <a:t>预期</a:t>
            </a:r>
            <a:br>
              <a:rPr kumimoji="1" lang="zh-CN" altLang="en-US" b="1" dirty="0"/>
            </a:br>
            <a:endParaRPr lang="zh-CN" altLang="en-US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929260" y="1627409"/>
            <a:ext cx="6535842" cy="643926"/>
          </a:xfrm>
        </p:spPr>
        <p:txBody>
          <a:bodyPr lIns="0" tIns="0" rIns="0" bIns="0"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Security Level: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45286" y="318782"/>
            <a:ext cx="417771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核心推理优化技术</a:t>
            </a:r>
            <a:endParaRPr kumimoji="1"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2613" y="1414615"/>
          <a:ext cx="10911535" cy="3528000"/>
        </p:xfrm>
        <a:graphic>
          <a:graphicData uri="http://schemas.openxmlformats.org/drawingml/2006/table">
            <a:tbl>
              <a:tblPr firstRow="1" bandRow="1"/>
              <a:tblGrid>
                <a:gridCol w="1149249"/>
                <a:gridCol w="3337842"/>
                <a:gridCol w="6424444"/>
              </a:tblGrid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 err="1"/>
                        <a:t>章节</a:t>
                      </a:r>
                      <a:endParaRPr sz="16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984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 err="1"/>
                        <a:t>主题</a:t>
                      </a:r>
                      <a:endParaRPr sz="16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984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 err="1"/>
                        <a:t>核心问题</a:t>
                      </a:r>
                      <a:endParaRPr sz="16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984E3"/>
                    </a:solidFill>
                  </a:tcPr>
                </a:tc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</a:t>
                      </a:r>
                      <a:endParaRPr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lang="zh-CN" altLang="en-US" sz="16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投机算法 </a:t>
                      </a:r>
                      <a:r>
                        <a:rPr lang="en-US" altLang="zh-CN" sz="16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MTP</a:t>
                      </a:r>
                      <a:endParaRPr sz="16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lang="zh-CN" altLang="en-US" sz="16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主流投机算法简介</a:t>
                      </a:r>
                      <a:endParaRPr lang="zh-CN" altLang="en-US" sz="16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endParaRPr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endParaRPr sz="16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lang="en-US" altLang="zh-CN" sz="16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MTP</a:t>
                      </a:r>
                      <a:r>
                        <a:rPr lang="zh-CN" altLang="en-US" sz="16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简介</a:t>
                      </a:r>
                      <a:endParaRPr lang="zh-CN" altLang="en-US" sz="16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endParaRPr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endParaRPr sz="16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lang="en-US" altLang="zh-CN" sz="16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DeepSeek-V3</a:t>
                      </a:r>
                      <a:r>
                        <a:rPr lang="zh-CN" altLang="en-US" sz="16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</a:t>
                      </a:r>
                      <a:r>
                        <a:rPr lang="en-US" altLang="zh-CN" sz="16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MTP</a:t>
                      </a:r>
                      <a:r>
                        <a:rPr lang="zh-CN" altLang="en-US" sz="16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结构</a:t>
                      </a:r>
                      <a:endParaRPr sz="16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sz="16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二</a:t>
                      </a:r>
                      <a:endParaRPr sz="16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lang="zh-CN" altLang="en-US" sz="16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多流并行</a:t>
                      </a:r>
                      <a:endParaRPr sz="16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lang="zh-CN" altLang="en-US" sz="16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多流硬件背景简介</a:t>
                      </a:r>
                      <a:endParaRPr lang="zh-CN" altLang="en-US" sz="16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defRPr sz="1200">
                          <a:solidFill>
                            <a:srgbClr val="2D3436"/>
                          </a:solidFill>
                        </a:defRPr>
                      </a:pPr>
                      <a:endParaRPr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endParaRPr lang="en-US" sz="16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lang="zh-CN" altLang="en-US" sz="16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多流接口概括</a:t>
                      </a:r>
                      <a:endParaRPr lang="zh-CN" altLang="en-US" sz="16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</a:tr>
              <a:tr h="504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endParaRPr sz="16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endParaRPr lang="en-US" sz="16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457200" rtl="0" eaLnBrk="1" latinLnBrk="0" hangingPunct="1">
                        <a:defRPr sz="1200">
                          <a:solidFill>
                            <a:srgbClr val="2D3436"/>
                          </a:solidFill>
                        </a:defRPr>
                      </a:pPr>
                      <a:r>
                        <a:rPr lang="zh-CN" altLang="en-US" sz="16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经典案例分析：</a:t>
                      </a:r>
                      <a:r>
                        <a:rPr lang="en-US" altLang="zh-CN" sz="1600" kern="1200" dirty="0" err="1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MoE</a:t>
                      </a:r>
                      <a:r>
                        <a:rPr lang="en-US" altLang="zh-CN" sz="16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zh-CN" altLang="en-US" sz="1600" kern="1200" dirty="0">
                          <a:solidFill>
                            <a:srgbClr val="2D343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共享专家多流并行</a:t>
                      </a:r>
                      <a:endParaRPr sz="1600" kern="1200" dirty="0">
                        <a:solidFill>
                          <a:srgbClr val="2D343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45286" y="318782"/>
            <a:ext cx="417771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核心推理优化技术</a:t>
            </a:r>
            <a:r>
              <a: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—MTP </a:t>
            </a: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投机算法</a:t>
            </a:r>
            <a:endParaRPr kumimoji="1"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2"/>
          <p:cNvSpPr/>
          <p:nvPr/>
        </p:nvSpPr>
        <p:spPr>
          <a:xfrm>
            <a:off x="1371600" y="3749039"/>
            <a:ext cx="2743200" cy="50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TextBox 3"/>
          <p:cNvSpPr txBox="1"/>
          <p:nvPr/>
        </p:nvSpPr>
        <p:spPr>
          <a:xfrm>
            <a:off x="1371600" y="4023360"/>
            <a:ext cx="94484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DCB6E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投机推理算法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/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MTP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/ 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DeepSeekV3 MTP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结构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TextBox 1"/>
          <p:cNvSpPr txBox="1"/>
          <p:nvPr/>
        </p:nvSpPr>
        <p:spPr>
          <a:xfrm>
            <a:off x="1371600" y="2286000"/>
            <a:ext cx="94484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投机推理算法：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MTP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45286" y="318782"/>
            <a:ext cx="417771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核心推理优化技术</a:t>
            </a:r>
            <a:r>
              <a: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—MTP </a:t>
            </a: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投机算法</a:t>
            </a:r>
            <a:endParaRPr kumimoji="1"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36334" y="1160567"/>
            <a:ext cx="9924091" cy="52322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 </a:t>
            </a:r>
            <a:r>
              <a:rPr kumimoji="1"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推理瓶颈：</a:t>
            </a:r>
            <a:endParaRPr kumimoji="1" lang="en-US" altLang="zh-CN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kumimoji="1"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dirty="0">
              <a:solidFill>
                <a:srgbClr val="191919"/>
              </a:solidFill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侧瓶颈：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是串行执行的；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每进行一次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推理，都要读取一遍模型权重，访存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 bound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，算力利用率低。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en-US" altLang="zh-CN" sz="16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368" y="1618734"/>
            <a:ext cx="4416175" cy="238537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296" y="1482810"/>
            <a:ext cx="5704294" cy="30727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45286" y="318782"/>
            <a:ext cx="417771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核心推理优化技术</a:t>
            </a:r>
            <a:r>
              <a: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—MTP </a:t>
            </a: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投机算法</a:t>
            </a:r>
            <a:endParaRPr kumimoji="1"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36334" y="1160567"/>
            <a:ext cx="9924091" cy="54784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MTP  &amp;  </a:t>
            </a:r>
            <a:r>
              <a:rPr kumimoji="1"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投机算法：</a:t>
            </a:r>
            <a:r>
              <a:rPr kumimoji="1"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无损；灵活部署；降低推理延迟、提高吞吐</a:t>
            </a:r>
            <a:endParaRPr kumimoji="1" lang="en-US" altLang="zh-CN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kumimoji="1"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投机算法：通过一个小模型（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 model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）代替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 model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）进行投机式推理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(Speculative Inference)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，即每次先使用小模型试探性地推理多步，再将这些推理结果收集到一起，一次交由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进行验证</a:t>
            </a:r>
            <a:r>
              <a:rPr lang="zh-CN" altLang="en-US" sz="1600" b="0" i="0" dirty="0">
                <a:solidFill>
                  <a:srgbClr val="191919"/>
                </a:solidFill>
                <a:effectLst/>
                <a:latin typeface="-apple-system"/>
              </a:rPr>
              <a:t>。</a:t>
            </a:r>
            <a:endParaRPr lang="en-US" altLang="zh-CN" sz="1600" b="0" i="0" dirty="0">
              <a:solidFill>
                <a:srgbClr val="191919"/>
              </a:solidFill>
              <a:effectLst/>
              <a:latin typeface="-apple-system"/>
            </a:endParaRPr>
          </a:p>
          <a:p>
            <a:endParaRPr lang="en-US" altLang="zh-CN" sz="1600" dirty="0">
              <a:solidFill>
                <a:srgbClr val="191919"/>
              </a:solidFill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两阶段：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阶段：以极小的时延代价获取多个候选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tokens;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Verify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验证：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 model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验证多个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 token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en-US" altLang="zh-CN" sz="16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806" y="4022889"/>
            <a:ext cx="8205145" cy="190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979" y="2350794"/>
            <a:ext cx="3445854" cy="966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45286" y="318782"/>
            <a:ext cx="417771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核心推理优化技术</a:t>
            </a:r>
            <a:r>
              <a: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—MTP </a:t>
            </a: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投机算法</a:t>
            </a:r>
            <a:endParaRPr kumimoji="1"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7570" y="983869"/>
            <a:ext cx="5274207" cy="379859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45286" y="812680"/>
            <a:ext cx="6052284" cy="44935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投机推理算法详解</a:t>
            </a:r>
            <a:endParaRPr kumimoji="1" lang="en-US" altLang="zh-CN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kumimoji="1"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 model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交替执行：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 model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的输入组成：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最后的确定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+ </a:t>
            </a:r>
            <a:r>
              <a:rPr kumimoji="1" lang="zh-CN" altLang="en-US" sz="16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待验证的</a:t>
            </a:r>
            <a:r>
              <a:rPr kumimoji="1" lang="en-US" altLang="zh-CN" sz="1600" dirty="0">
                <a:solidFill>
                  <a:schemeClr val="accent4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 tokens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基于接受准则，主模型决定接受多少个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 tokens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核心指标：</a:t>
            </a:r>
            <a:endParaRPr kumimoji="1" lang="en-US" altLang="zh-CN" sz="16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steps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：迭代轮次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draft_tokens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 model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生成的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accepted_tokens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：接收的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 token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accepted_rate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kumimoji="1"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accepted_tokens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kumimoji="1"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draft_tokens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accepted_length</a:t>
            </a:r>
            <a:r>
              <a:rPr kumimoji="1"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(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accepted_tokens</a:t>
            </a:r>
            <a:r>
              <a:rPr kumimoji="1"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steps)/ steps</a:t>
            </a:r>
            <a:endParaRPr kumimoji="1"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45285" y="5084057"/>
            <a:ext cx="111061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折算性能（</a:t>
            </a:r>
            <a:r>
              <a:rPr kumimoji="1" lang="en-US" altLang="zh-CN" sz="1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</a:t>
            </a:r>
            <a:r>
              <a:rPr kumimoji="1" lang="zh-CN" altLang="en-US" sz="1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endParaRPr kumimoji="1" lang="en-US" altLang="zh-CN" sz="1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en-US" altLang="zh-CN" sz="1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average time(per token) = (average target time + average draft time) / </a:t>
            </a:r>
            <a:r>
              <a:rPr kumimoji="1" lang="en-US" altLang="zh-CN" sz="18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accepted_length</a:t>
            </a:r>
            <a:endParaRPr kumimoji="1" lang="en-US" altLang="zh-CN" sz="1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en-US" altLang="zh-CN" sz="1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Ds-r1 average time: (60ms + 2ms)/1.7 = 36.47ms  &lt;  51ms 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（不开投机推理算法）</a:t>
            </a:r>
            <a:endParaRPr kumimoji="1" lang="en-US" altLang="zh-CN" sz="1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45286" y="318782"/>
            <a:ext cx="417771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核心推理优化技术</a:t>
            </a:r>
            <a:r>
              <a: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—MTP </a:t>
            </a: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投机算法</a:t>
            </a:r>
            <a:endParaRPr kumimoji="1"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10314" y="754807"/>
            <a:ext cx="9924091" cy="4985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MTP</a:t>
            </a:r>
            <a:r>
              <a:rPr kumimoji="1"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r>
              <a:rPr kumimoji="1"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&amp;  </a:t>
            </a:r>
            <a:r>
              <a:rPr kumimoji="1"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投机算法：投机算法提供加速机制，</a:t>
            </a:r>
            <a:r>
              <a:rPr kumimoji="1"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MTP</a:t>
            </a:r>
            <a:r>
              <a:rPr kumimoji="1"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提供高质量预测</a:t>
            </a:r>
            <a:endParaRPr kumimoji="1" lang="en-US" altLang="zh-CN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MTP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Multi-token Prediction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：多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预测，核心思路是让模型一次推理中，一次性预测多个未来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tokens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，而不是仅仅预测下一个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Meta MTP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：一个共享的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的主网络，上面接入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个并行预估头（权重不共享），针对输入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t0 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分别预估后续的</a:t>
            </a:r>
            <a:r>
              <a:rPr kumimoji="1"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 t2 t3 t4</a:t>
            </a:r>
            <a:r>
              <a:rPr kumimoji="1"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。</a:t>
            </a: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DeepSeek</a:t>
            </a:r>
            <a:r>
              <a:rPr kumimoji="1"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V3 MTP</a:t>
            </a:r>
            <a:r>
              <a:rPr kumimoji="1"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kumimoji="1"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创新链式结构，保留因果律，极大提高了预测准确率。</a:t>
            </a:r>
            <a:endParaRPr kumimoji="1" lang="zh-CN" altLang="en-US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255" y="2665842"/>
            <a:ext cx="2963521" cy="191560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830" y="2322485"/>
            <a:ext cx="5194551" cy="248454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389030" y="4807031"/>
            <a:ext cx="233397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扁平化、并行独立、互不干扰</a:t>
            </a:r>
            <a:endParaRPr kumimoji="1"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60728" y="4803545"/>
            <a:ext cx="12567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链式、因果关系</a:t>
            </a:r>
            <a:endParaRPr kumimoji="1" lang="zh-CN" altLang="en-US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45286" y="318782"/>
            <a:ext cx="417771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核心推理优化技术</a:t>
            </a:r>
            <a:r>
              <a: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—MTP </a:t>
            </a: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投机算法</a:t>
            </a:r>
            <a:endParaRPr kumimoji="1"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6119" y="819862"/>
            <a:ext cx="7434115" cy="32316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sz="16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DeepSeek</a:t>
            </a:r>
            <a:r>
              <a:rPr kumimoji="1" lang="en-US" altLang="zh-CN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V3 MTP</a:t>
            </a:r>
            <a:r>
              <a:rPr kumimoji="1" lang="zh-CN" altLang="en-US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架构：</a:t>
            </a:r>
            <a:endParaRPr kumimoji="1" lang="en-US" altLang="zh-CN" sz="16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kumimoji="1" lang="en-US" altLang="zh-CN" sz="16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特有结构：</a:t>
            </a:r>
            <a:endParaRPr kumimoji="1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zh-CN" sz="16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eh_proj</a:t>
            </a:r>
            <a:r>
              <a:rPr kumimoji="1" lang="en-US" altLang="zh-CN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6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concat</a:t>
            </a:r>
            <a:r>
              <a:rPr kumimoji="1" lang="en-US" altLang="zh-CN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([</a:t>
            </a:r>
            <a:r>
              <a:rPr kumimoji="1" lang="en-US" altLang="zh-CN" sz="16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enorm</a:t>
            </a:r>
            <a:r>
              <a:rPr kumimoji="1" lang="en-US" altLang="zh-CN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6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hidden_states</a:t>
            </a:r>
            <a:r>
              <a:rPr kumimoji="1" lang="en-US" altLang="zh-CN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), </a:t>
            </a:r>
            <a:r>
              <a:rPr kumimoji="1" lang="en-US" altLang="zh-CN" sz="16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hnorm</a:t>
            </a:r>
            <a:r>
              <a:rPr kumimoji="1" lang="en-US" altLang="zh-CN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600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prev_hidden_states</a:t>
            </a:r>
            <a:r>
              <a:rPr kumimoji="1" lang="en-US" altLang="zh-CN" sz="16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)]))</a:t>
            </a:r>
            <a:endParaRPr kumimoji="1" lang="en-US" altLang="zh-CN" sz="16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prev_hidden_states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是指前一个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的最后一个层输出的</a:t>
            </a:r>
            <a:r>
              <a:rPr kumimoji="1"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hidden_states</a:t>
            </a:r>
            <a:endParaRPr kumimoji="1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kumimoji="1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多步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MTP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推导使用的是同一个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MTP model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Module1 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Module2 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权重一致。</a:t>
            </a:r>
            <a:endParaRPr kumimoji="1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kumimoji="1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与主模型共享 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embedding 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kumimoji="1"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lm_head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的权重；</a:t>
            </a:r>
            <a:endParaRPr kumimoji="1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kumimoji="1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7798" y="928417"/>
            <a:ext cx="3115462" cy="208211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863" y="3237551"/>
            <a:ext cx="7287965" cy="30320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45286" y="318782"/>
            <a:ext cx="417771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核心推理优化技术</a:t>
            </a:r>
            <a:r>
              <a: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多流并行</a:t>
            </a:r>
            <a:endParaRPr kumimoji="1"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2"/>
          <p:cNvSpPr/>
          <p:nvPr/>
        </p:nvSpPr>
        <p:spPr>
          <a:xfrm>
            <a:off x="1371600" y="3749039"/>
            <a:ext cx="2743200" cy="50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TextBox 3"/>
          <p:cNvSpPr txBox="1"/>
          <p:nvPr/>
        </p:nvSpPr>
        <p:spPr>
          <a:xfrm>
            <a:off x="1371600" y="4023360"/>
            <a:ext cx="94484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FDCB6E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多流硬件背景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/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多流接口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/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经典案例：</a:t>
            </a:r>
            <a:r>
              <a:rPr lang="en-US" altLang="zh-CN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MoE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共享专家多流掩盖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TextBox 1"/>
          <p:cNvSpPr txBox="1"/>
          <p:nvPr/>
        </p:nvSpPr>
        <p:spPr>
          <a:xfrm>
            <a:off x="1371600" y="2286000"/>
            <a:ext cx="94484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多流并行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445007" y="2819078"/>
            <a:ext cx="1130674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HarmonyOS-Hans"/>
              </a:rPr>
              <a:t>多流并行主要包含以下场景：</a:t>
            </a:r>
            <a:endParaRPr kumimoji="0" lang="zh-CN" altLang="zh-CN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HarmonyOS-Hans"/>
              </a:rPr>
              <a:t>（1）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ea typeface="HarmonyOS-Hans"/>
              </a:rPr>
              <a:t>计算与通信引擎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HarmonyOS-Hans"/>
              </a:rPr>
              <a:t>并行：计算算子（如Convolution、Add等）会生成计算task，通信算子（HcomAllReduce等）会生成卡间通信task，两类task无拓扑依赖时可并发执行。</a:t>
            </a:r>
            <a:endParaRPr lang="en-US" altLang="zh-CN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4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HarmonyOS-Hans"/>
              </a:rPr>
              <a:t>（2）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ea typeface="HarmonyOS-Hans"/>
              </a:rPr>
              <a:t>不同计算引擎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HarmonyOS-Hans"/>
              </a:rPr>
              <a:t>并行：矩阵运算（AI Core）、向量运算（Vector Core）和图像预处理（DVPP）等不同引擎的task，可下发到不同的引擎上并发执行。</a:t>
            </a:r>
            <a:endParaRPr kumimoji="0" lang="zh-CN" altLang="zh-CN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400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HarmonyOS-Hans"/>
              </a:rPr>
              <a:t>（3）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  <a:ea typeface="HarmonyOS-Hans"/>
              </a:rPr>
              <a:t>相同计算引擎内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HarmonyOS-Hans"/>
              </a:rPr>
              <a:t>并行：当</a:t>
            </a:r>
            <a:r>
              <a:rPr kumimoji="0" lang="zh-CN" altLang="zh-CN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HarmonyOS-Hans"/>
              </a:rPr>
              <a:t>计算图中某个节点无法占满一个计算引擎的全部计算资源，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HarmonyOS-Hans"/>
              </a:rPr>
              <a:t>且拓扑结构可并发时，该引擎的不同拓扑集合的task可并发执行。</a:t>
            </a:r>
            <a:endParaRPr kumimoji="0" lang="zh-CN" altLang="zh-CN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1400" dirty="0"/>
          </a:p>
        </p:txBody>
      </p:sp>
      <p:sp>
        <p:nvSpPr>
          <p:cNvPr id="5" name="文本框 4"/>
          <p:cNvSpPr txBox="1"/>
          <p:nvPr/>
        </p:nvSpPr>
        <p:spPr>
          <a:xfrm>
            <a:off x="545286" y="318782"/>
            <a:ext cx="417771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核心推理优化技术</a:t>
            </a:r>
            <a:r>
              <a: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多流并行</a:t>
            </a:r>
            <a:endParaRPr kumimoji="1"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5008" y="967246"/>
            <a:ext cx="669553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多流并行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：在同一个设备上创建多条独立的执行流，让不同的算子或数据搬运任务在硬件资源允许的情况下</a:t>
            </a:r>
            <a:r>
              <a:rPr kumimoji="1" lang="zh-CN" altLang="en-US" sz="14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并行执行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，从而提高整体资源利用率（计算、通信等相关掩盖），最终达到性能提升的效果。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昇腾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硬件对于多流并行有着天然的亲和性，硬件内部采用</a:t>
            </a:r>
            <a:r>
              <a:rPr kumimoji="1" lang="zh-CN" altLang="en-US" sz="14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分离架构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en-US" sz="14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且具备可独立调度的多引擎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Cube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Vector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HCCL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等等）。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518" y="1855471"/>
            <a:ext cx="2681283" cy="1130283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742" y="3536173"/>
            <a:ext cx="3996857" cy="557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743" y="5951162"/>
            <a:ext cx="3996858" cy="557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168" y="4547451"/>
            <a:ext cx="3996858" cy="86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0539" y="655760"/>
            <a:ext cx="4973243" cy="11302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45286" y="318782"/>
            <a:ext cx="417771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核心推理优化技术</a:t>
            </a:r>
            <a:r>
              <a: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多流并行</a:t>
            </a:r>
            <a:endParaRPr kumimoji="1"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9204" y="761762"/>
            <a:ext cx="1129835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多流并行常见接口</a:t>
            </a:r>
            <a:r>
              <a:rPr kumimoji="1" lang="en-US" altLang="zh-CN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4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npugraph_ex</a:t>
            </a:r>
            <a:r>
              <a:rPr kumimoji="1" lang="en-US" altLang="zh-CN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开启多流表达：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使用如下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语句块，</a:t>
            </a:r>
            <a:r>
              <a:rPr kumimoji="1" lang="zh-CN" altLang="en-US" sz="14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语句块内下发的算子切换至“</a:t>
            </a:r>
            <a:r>
              <a:rPr kumimoji="1" lang="en-US" altLang="zh-CN" sz="14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stream”</a:t>
            </a:r>
            <a:r>
              <a:rPr kumimoji="1" lang="zh-CN" altLang="en-US" sz="14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参数指定的流计算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en-US" sz="14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语句块外的算子使用默认流计算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with </a:t>
            </a:r>
            <a:r>
              <a:rPr kumimoji="1"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torch.npu.stream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(stream: </a:t>
            </a:r>
            <a:r>
              <a:rPr kumimoji="1"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torch.npu.Stream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控制并行计算的时序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kumimoji="1"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torch.npu.Event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torch.npu.Event.record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torch.npu.Event.wait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(stream)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系列原生接口实现时序控制。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延长内存释放时机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脚本中如果涉及多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stream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内存复用，一般会调用</a:t>
            </a:r>
            <a:r>
              <a:rPr kumimoji="1"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1"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tensor.record_stream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原生接口延迟内存释放。</a:t>
            </a: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配置限核。</a:t>
            </a:r>
            <a:endParaRPr kumimoji="1"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把核分给不同的流使用，从而保证算子并行执行收益。</a:t>
            </a:r>
            <a:endParaRPr kumimoji="1"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6173" r="27135"/>
          <a:stretch>
            <a:fillRect/>
          </a:stretch>
        </p:blipFill>
        <p:spPr>
          <a:xfrm>
            <a:off x="3401749" y="2799950"/>
            <a:ext cx="5393263" cy="16406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45286" y="318782"/>
            <a:ext cx="417771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核心推理优化技术</a:t>
            </a:r>
            <a:r>
              <a: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多流并行</a:t>
            </a:r>
            <a:endParaRPr kumimoji="1"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9204" y="761762"/>
            <a:ext cx="526131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多流并行案例分析：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kumimoji="1"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共享专家多流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kumimoji="1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在使用共享专家的 </a:t>
            </a:r>
            <a:r>
              <a:rPr kumimoji="1"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网络中，共享专家和路由专家的计算存在并行的空间。以下图中的 </a:t>
            </a:r>
            <a:r>
              <a:rPr kumimoji="1"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DeepSeek</a:t>
            </a:r>
            <a:r>
              <a:rPr kumimoji="1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为例，共享专家和路由专家之间没有数据依赖，可以通过多流并行使共享和路由专家的计算耗时相互掩盖，从而提升端到端的性能。</a:t>
            </a:r>
            <a:endParaRPr kumimoji="1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2071" y="2743625"/>
            <a:ext cx="3615580" cy="192479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9570"/>
            <a:ext cx="12196763" cy="79939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327" y="595781"/>
            <a:ext cx="5507397" cy="43253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1088073" y="1524000"/>
            <a:ext cx="8572500" cy="12382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48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36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Weight Prefetch</a:t>
            </a:r>
            <a:endParaRPr sz="36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1173798" y="2952750"/>
            <a:ext cx="4762500" cy="3333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50000"/>
              </a:lnSpc>
              <a:buNone/>
              <a:defRPr sz="2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65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提前搬运权重，隐藏访存开销</a:t>
            </a:r>
            <a:endParaRPr sz="165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1173798" y="3333750"/>
            <a:ext cx="7620000" cy="33337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50000"/>
              </a:lnSpc>
              <a:buNone/>
              <a:defRPr sz="2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65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昇腾 NPU 原理、接口与 LongCat-Flash 实践</a:t>
            </a:r>
            <a:endParaRPr sz="16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621348" y="6134100"/>
            <a:ext cx="1905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300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gitcode.com/cann/cann-recipes-infer</a:t>
            </a:r>
            <a:endParaRPr sz="975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5717223" y="6134100"/>
            <a:ext cx="762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  <a:def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1</a:t>
            </a:r>
            <a:endParaRPr sz="975"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6823" y="6038850"/>
            <a:ext cx="1314450" cy="3524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573723" y="266700"/>
            <a:ext cx="8572500" cy="4286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  <a:def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4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Decode 小 batch 下，权重读取容易进入关键路径</a:t>
            </a:r>
            <a:endParaRPr sz="24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573723" y="790575"/>
            <a:ext cx="11049000" cy="266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激活规模下降，但每步仍要读取完整大权重；MatMul / QBMM / GMM 更容易受 HBM 带宽限制</a:t>
            </a:r>
            <a:endParaRPr sz="135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73723" y="5476875"/>
            <a:ext cx="11049000" cy="381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21348" y="6134100"/>
            <a:ext cx="1905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300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gitcode.com/cann/cann-recipes-infer</a:t>
            </a:r>
            <a:endParaRPr sz="975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5717223" y="6134100"/>
            <a:ext cx="762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  <a:def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2</a:t>
            </a:r>
            <a:endParaRPr sz="975"/>
          </a:p>
        </p:txBody>
      </p:sp>
      <p:pic>
        <p:nvPicPr>
          <p:cNvPr id="4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6823" y="6038850"/>
            <a:ext cx="1314450" cy="352425"/>
          </a:xfrm>
          <a:prstGeom prst="rect">
            <a:avLst/>
          </a:prstGeom>
        </p:spPr>
      </p:pic>
      <p:sp>
        <p:nvSpPr>
          <p:cNvPr id="30" name="圆角矩形 29"/>
          <p:cNvSpPr>
            <a:spLocks noGrp="1"/>
          </p:cNvSpPr>
          <p:nvPr/>
        </p:nvSpPr>
        <p:spPr>
          <a:xfrm>
            <a:off x="573723" y="1321594"/>
            <a:ext cx="3286125" cy="1785938"/>
          </a:xfrm>
          <a:prstGeom prst="roundRect">
            <a:avLst>
              <a:gd name="adj" fmla="val 3200"/>
            </a:avLst>
          </a:prstGeom>
          <a:noFill/>
          <a:ln w="12668">
            <a:solidFill>
              <a:srgbClr val="4472C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59460" y="1450181"/>
            <a:ext cx="2914650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025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2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Activation</a:t>
            </a:r>
            <a:endParaRPr sz="1520" b="1">
              <a:solidFill>
                <a:srgbClr val="4472C4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59460" y="1821656"/>
            <a:ext cx="2914650" cy="1157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Decode 每步 token 数少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小 batch 下计算量下降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激活数据相对较小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4452779" y="1321594"/>
            <a:ext cx="3286125" cy="1785938"/>
          </a:xfrm>
          <a:prstGeom prst="roundRect">
            <a:avLst>
              <a:gd name="adj" fmla="val 3200"/>
            </a:avLst>
          </a:prstGeom>
          <a:noFill/>
          <a:ln w="12668">
            <a:solidFill>
              <a:srgbClr val="C00000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638516" y="1450181"/>
            <a:ext cx="2914650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025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2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Weight</a:t>
            </a:r>
            <a:endParaRPr sz="1520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638516" y="1821656"/>
            <a:ext cx="2914650" cy="1157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每步仍需读取大权重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主要常驻 HBM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单层可达数十 MB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331835" y="1321594"/>
            <a:ext cx="3286125" cy="1785938"/>
          </a:xfrm>
          <a:prstGeom prst="roundRect">
            <a:avLst>
              <a:gd name="adj" fmla="val 3200"/>
            </a:avLst>
          </a:prstGeom>
          <a:noFill/>
          <a:ln w="12668">
            <a:solidFill>
              <a:srgbClr val="ED7D31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517573" y="1450181"/>
            <a:ext cx="2914650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025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2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Result</a:t>
            </a:r>
            <a:endParaRPr sz="1520" b="1">
              <a:solidFill>
                <a:srgbClr val="ED7D3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517573" y="1821656"/>
            <a:ext cx="2914650" cy="1157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计算资源未必打满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HBM → L2 搬运占比上升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目标算子表现为 memory-bound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573723" y="3464719"/>
            <a:ext cx="11044238" cy="1321594"/>
          </a:xfrm>
          <a:prstGeom prst="roundRect">
            <a:avLst>
              <a:gd name="adj" fmla="val 4324"/>
            </a:avLst>
          </a:prstGeom>
          <a:noFill/>
          <a:ln w="12668">
            <a:solidFill>
              <a:srgbClr val="70AD47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02323" y="3643313"/>
            <a:ext cx="2571750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025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2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Decode 的关键矛盾</a:t>
            </a:r>
            <a:endParaRPr sz="1520" b="1">
              <a:solidFill>
                <a:srgbClr val="70AD47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02323" y="4000500"/>
            <a:ext cx="10429875" cy="5000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025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2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激活变小并不会让权重变小：MatMul / QBMM / GMM 可能在等待权重，而不是等待算力。</a:t>
            </a:r>
            <a:endParaRPr sz="1520" b="1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573723" y="266700"/>
            <a:ext cx="8572500" cy="4286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  <a:def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4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Prefetch 把部分权重搬运移出目标算子的关键路径</a:t>
            </a:r>
            <a:endParaRPr sz="24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573723" y="790575"/>
            <a:ext cx="11049000" cy="266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提前执行 HBM → L2 Cache 搬运，不改变模型数学计算</a:t>
            </a:r>
            <a:endParaRPr sz="135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73723" y="5476875"/>
            <a:ext cx="11049000" cy="381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21348" y="6134100"/>
            <a:ext cx="1905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300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gitcode.com/cann/cann-recipes-infer</a:t>
            </a:r>
            <a:endParaRPr sz="975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5717223" y="6134100"/>
            <a:ext cx="762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  <a:def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3</a:t>
            </a:r>
            <a:endParaRPr sz="975"/>
          </a:p>
        </p:txBody>
      </p:sp>
      <p:pic>
        <p:nvPicPr>
          <p:cNvPr id="4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6823" y="6038850"/>
            <a:ext cx="1314450" cy="352425"/>
          </a:xfrm>
          <a:prstGeom prst="rect">
            <a:avLst/>
          </a:prstGeom>
        </p:spPr>
      </p:pic>
      <p:sp>
        <p:nvSpPr>
          <p:cNvPr id="30" name="矩形 29"/>
          <p:cNvSpPr>
            <a:spLocks noGrp="1"/>
          </p:cNvSpPr>
          <p:nvPr/>
        </p:nvSpPr>
        <p:spPr>
          <a:xfrm>
            <a:off x="645160" y="1357313"/>
            <a:ext cx="1643063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025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2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无 Prefetch</a:t>
            </a:r>
            <a:endParaRPr sz="1520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645160" y="1750219"/>
            <a:ext cx="1785938" cy="607219"/>
          </a:xfrm>
          <a:prstGeom prst="roundRect">
            <a:avLst>
              <a:gd name="adj" fmla="val 9412"/>
            </a:avLst>
          </a:prstGeom>
          <a:noFill/>
          <a:ln w="12668">
            <a:solidFill>
              <a:srgbClr val="C00000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45160" y="1750219"/>
            <a:ext cx="1785938" cy="6072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8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HBM → L2</a:t>
            </a:r>
            <a:endParaRPr sz="1350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502535" y="1750219"/>
            <a:ext cx="500063" cy="6072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2400" b="1">
                <a:solidFill>
                  <a:srgbClr val="666666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800" b="1">
                <a:solidFill>
                  <a:srgbClr val="666666"/>
                </a:solidFill>
                <a:latin typeface="MiSans" charset="-122"/>
                <a:ea typeface="MiSans" charset="-122"/>
                <a:cs typeface="MiSans" charset="-122"/>
              </a:rPr>
              <a:t>→</a:t>
            </a:r>
            <a:endParaRPr sz="1800" b="1">
              <a:solidFill>
                <a:srgbClr val="666666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3074035" y="1750219"/>
            <a:ext cx="1785938" cy="607219"/>
          </a:xfrm>
          <a:prstGeom prst="roundRect">
            <a:avLst>
              <a:gd name="adj" fmla="val 9412"/>
            </a:avLst>
          </a:prstGeom>
          <a:noFill/>
          <a:ln w="12668">
            <a:solidFill>
              <a:srgbClr val="4472C4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074035" y="1750219"/>
            <a:ext cx="1785938" cy="6072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8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目标计算</a:t>
            </a:r>
            <a:endParaRPr sz="1350" b="1">
              <a:solidFill>
                <a:srgbClr val="4472C4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45160" y="2857500"/>
            <a:ext cx="1643063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025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2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有 Prefetch</a:t>
            </a:r>
            <a:endParaRPr sz="1520" b="1">
              <a:solidFill>
                <a:srgbClr val="70AD47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645160" y="3250406"/>
            <a:ext cx="1785938" cy="607219"/>
          </a:xfrm>
          <a:prstGeom prst="roundRect">
            <a:avLst>
              <a:gd name="adj" fmla="val 9412"/>
            </a:avLst>
          </a:prstGeom>
          <a:noFill/>
          <a:ln w="12668">
            <a:solidFill>
              <a:srgbClr val="70AD47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45160" y="3250406"/>
            <a:ext cx="1785938" cy="6072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8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提前搬运</a:t>
            </a:r>
            <a:endParaRPr sz="1350" b="1">
              <a:solidFill>
                <a:srgbClr val="70AD47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502535" y="3250406"/>
            <a:ext cx="2357438" cy="6072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8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↘ 与前序窗口重叠</a:t>
            </a:r>
            <a:endParaRPr sz="1350" b="1">
              <a:solidFill>
                <a:srgbClr val="70AD47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473" y="1498586"/>
            <a:ext cx="5857875" cy="2860703"/>
          </a:xfrm>
          <a:prstGeom prst="rect">
            <a:avLst/>
          </a:prstGeom>
        </p:spPr>
      </p:pic>
      <p:sp>
        <p:nvSpPr>
          <p:cNvPr id="41" name="矩形 40"/>
          <p:cNvSpPr>
            <a:spLocks noGrp="1"/>
          </p:cNvSpPr>
          <p:nvPr/>
        </p:nvSpPr>
        <p:spPr>
          <a:xfrm>
            <a:off x="573723" y="4786313"/>
            <a:ext cx="11044238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8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优化对象是数据到达时间，不是计算公式</a:t>
            </a:r>
            <a:endParaRPr sz="1350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573723" y="266700"/>
            <a:ext cx="8572500" cy="4286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  <a:def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4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一次预取由四个参数共同定义</a:t>
            </a:r>
            <a:endParaRPr sz="24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573723" y="790575"/>
            <a:ext cx="11049000" cy="266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接口是否有效，取决于目标权重、启动依赖、预取字节数和偏移是否匹配</a:t>
            </a:r>
            <a:endParaRPr sz="135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73723" y="5476875"/>
            <a:ext cx="11049000" cy="381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21348" y="6134100"/>
            <a:ext cx="1905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300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gitcode.com/cann/cann-recipes-infer</a:t>
            </a:r>
            <a:endParaRPr sz="975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5717223" y="6134100"/>
            <a:ext cx="762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  <a:def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4</a:t>
            </a:r>
            <a:endParaRPr sz="975"/>
          </a:p>
        </p:txBody>
      </p:sp>
      <p:pic>
        <p:nvPicPr>
          <p:cNvPr id="4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6823" y="6038850"/>
            <a:ext cx="1314450" cy="352425"/>
          </a:xfrm>
          <a:prstGeom prst="rect">
            <a:avLst/>
          </a:prstGeom>
        </p:spPr>
      </p:pic>
      <p:sp>
        <p:nvSpPr>
          <p:cNvPr id="30" name="圆角矩形 29"/>
          <p:cNvSpPr>
            <a:spLocks noGrp="1"/>
          </p:cNvSpPr>
          <p:nvPr/>
        </p:nvSpPr>
        <p:spPr>
          <a:xfrm>
            <a:off x="716598" y="1285875"/>
            <a:ext cx="10758488" cy="678656"/>
          </a:xfrm>
          <a:prstGeom prst="roundRect">
            <a:avLst>
              <a:gd name="adj" fmla="val 8421"/>
            </a:avLst>
          </a:prstGeom>
          <a:noFill/>
          <a:ln w="12668">
            <a:solidFill>
              <a:srgbClr val="C00000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66629" y="1393031"/>
            <a:ext cx="1785938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1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75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weight</a:t>
            </a:r>
            <a:endParaRPr sz="1575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895441" y="1393031"/>
            <a:ext cx="8286750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72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9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需要提前搬入 L2 的目标权重 Tensor</a:t>
            </a:r>
            <a:endParaRPr sz="1295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716598" y="2143125"/>
            <a:ext cx="10758488" cy="678656"/>
          </a:xfrm>
          <a:prstGeom prst="roundRect">
            <a:avLst>
              <a:gd name="adj" fmla="val 8421"/>
            </a:avLst>
          </a:prstGeom>
          <a:noFill/>
          <a:ln w="12668">
            <a:solidFill>
              <a:srgbClr val="4472C4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66629" y="2250281"/>
            <a:ext cx="1785938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1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75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depend</a:t>
            </a:r>
            <a:endParaRPr sz="1575" b="1">
              <a:solidFill>
                <a:srgbClr val="4472C4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895441" y="2250281"/>
            <a:ext cx="8286750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72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9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约束预取开始时机的 Tensor；不是被搬运的数据</a:t>
            </a:r>
            <a:endParaRPr sz="1295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716598" y="3000375"/>
            <a:ext cx="10758488" cy="678656"/>
          </a:xfrm>
          <a:prstGeom prst="roundRect">
            <a:avLst>
              <a:gd name="adj" fmla="val 8421"/>
            </a:avLst>
          </a:prstGeom>
          <a:noFill/>
          <a:ln w="12668">
            <a:solidFill>
              <a:srgbClr val="70AD47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66629" y="3107531"/>
            <a:ext cx="1785938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1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75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size</a:t>
            </a:r>
            <a:endParaRPr sz="1575" b="1">
              <a:solidFill>
                <a:srgbClr val="70AD47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895441" y="3107531"/>
            <a:ext cx="8286750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72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9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本次最多预取的字节数；从保守值开始调优</a:t>
            </a:r>
            <a:endParaRPr sz="1295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716598" y="3857625"/>
            <a:ext cx="10758488" cy="678656"/>
          </a:xfrm>
          <a:prstGeom prst="roundRect">
            <a:avLst>
              <a:gd name="adj" fmla="val 8421"/>
            </a:avLst>
          </a:prstGeom>
          <a:noFill/>
          <a:ln w="12668">
            <a:solidFill>
              <a:srgbClr val="ED7D31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66629" y="3964781"/>
            <a:ext cx="1785938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10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75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offset</a:t>
            </a:r>
            <a:endParaRPr sz="1575" b="1">
              <a:solidFill>
                <a:srgbClr val="ED7D3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895441" y="3964781"/>
            <a:ext cx="8286750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72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9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权重内的起始偏移；仓内实践通常为 0</a:t>
            </a:r>
            <a:endParaRPr sz="1295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1752441" y="4822031"/>
            <a:ext cx="8686800" cy="392906"/>
          </a:xfrm>
          <a:prstGeom prst="roundRect">
            <a:avLst>
              <a:gd name="adj" fmla="val 14545"/>
            </a:avLst>
          </a:prstGeom>
          <a:noFill/>
          <a:ln w="12668">
            <a:solidFill>
              <a:srgbClr val="333333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752441" y="4822031"/>
            <a:ext cx="8686800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725" b="1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95" b="1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torch_npu.npu_prefetch(weight, depend, size, offset)</a:t>
            </a:r>
            <a:endParaRPr sz="1295" b="1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573723" y="266700"/>
            <a:ext cx="8572500" cy="4286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  <a:def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4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Prefetch 只有在两个条件同时成立时才值得尝试</a:t>
            </a:r>
            <a:endParaRPr sz="24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573723" y="790575"/>
            <a:ext cx="11049000" cy="266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目标必须是权重读取型瓶颈，同时前面必须存在带宽安全的执行窗口</a:t>
            </a:r>
            <a:endParaRPr sz="135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73723" y="5476875"/>
            <a:ext cx="11049000" cy="381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21348" y="6134100"/>
            <a:ext cx="1905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300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gitcode.com/cann/cann-recipes-infer</a:t>
            </a:r>
            <a:endParaRPr sz="975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5717223" y="6134100"/>
            <a:ext cx="762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  <a:def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5</a:t>
            </a:r>
            <a:endParaRPr sz="975"/>
          </a:p>
        </p:txBody>
      </p:sp>
      <p:pic>
        <p:nvPicPr>
          <p:cNvPr id="43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6823" y="6038850"/>
            <a:ext cx="1314450" cy="352425"/>
          </a:xfrm>
          <a:prstGeom prst="rect">
            <a:avLst/>
          </a:prstGeom>
        </p:spPr>
      </p:pic>
      <p:sp>
        <p:nvSpPr>
          <p:cNvPr id="30" name="圆角矩形 29"/>
          <p:cNvSpPr>
            <a:spLocks noGrp="1"/>
          </p:cNvSpPr>
          <p:nvPr/>
        </p:nvSpPr>
        <p:spPr>
          <a:xfrm>
            <a:off x="716598" y="1357313"/>
            <a:ext cx="5000625" cy="2357438"/>
          </a:xfrm>
          <a:prstGeom prst="roundRect">
            <a:avLst>
              <a:gd name="adj" fmla="val 2424"/>
            </a:avLst>
          </a:prstGeom>
          <a:noFill/>
          <a:ln w="12668">
            <a:solidFill>
              <a:srgbClr val="C00000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02335" y="1485900"/>
            <a:ext cx="4629150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025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2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条件一：目标值得搬</a:t>
            </a:r>
            <a:endParaRPr sz="1520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02335" y="1857375"/>
            <a:ext cx="4629150" cy="17287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Profiling 已确认目标算子 memory-bound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权重规模足够大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典型目标：MatMul / QBMM / GMM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474460" y="1357313"/>
            <a:ext cx="5000625" cy="2357438"/>
          </a:xfrm>
          <a:prstGeom prst="roundRect">
            <a:avLst>
              <a:gd name="adj" fmla="val 2424"/>
            </a:avLst>
          </a:prstGeom>
          <a:noFill/>
          <a:ln w="12668">
            <a:solidFill>
              <a:srgbClr val="70AD47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660198" y="1485900"/>
            <a:ext cx="4629150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025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2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条件二：窗口能够隐藏</a:t>
            </a:r>
            <a:endParaRPr sz="1520" b="1">
              <a:solidFill>
                <a:srgbClr val="70AD47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660198" y="1857375"/>
            <a:ext cx="4629150" cy="17287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depend 之后存在稳定执行区间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区间有可用 HBM 带宽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预取不会明显拖慢并行算子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1788160" y="4036219"/>
            <a:ext cx="8615363" cy="750094"/>
          </a:xfrm>
          <a:prstGeom prst="roundRect">
            <a:avLst>
              <a:gd name="adj" fmla="val 7619"/>
            </a:avLst>
          </a:prstGeom>
          <a:noFill/>
          <a:ln w="12668">
            <a:solidFill>
              <a:srgbClr val="4472C4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2002473" y="4157663"/>
            <a:ext cx="8186738" cy="5000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2025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2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任一条件不成立：不接入，或回退 enable_prefetch=False</a:t>
            </a:r>
            <a:endParaRPr sz="1520" b="1">
              <a:solidFill>
                <a:srgbClr val="4472C4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573723" y="266700"/>
            <a:ext cx="8572500" cy="4286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  <a:def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4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候选点来自 Profiling 与算子依赖关系</a:t>
            </a:r>
            <a:endParaRPr sz="24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573723" y="790575"/>
            <a:ext cx="11049000" cy="266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先证明目标算子是瓶颈，再按张量依赖向前寻找可重叠区间</a:t>
            </a:r>
            <a:endParaRPr sz="135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73723" y="5476875"/>
            <a:ext cx="11049000" cy="381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21348" y="6134100"/>
            <a:ext cx="1905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300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gitcode.com/cann/cann-recipes-infer</a:t>
            </a:r>
            <a:endParaRPr sz="975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5717223" y="6134100"/>
            <a:ext cx="762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  <a:def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6</a:t>
            </a:r>
            <a:endParaRPr sz="975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6823" y="6038850"/>
            <a:ext cx="1314450" cy="352425"/>
          </a:xfrm>
          <a:prstGeom prst="rect">
            <a:avLst/>
          </a:prstGeom>
        </p:spPr>
      </p:pic>
      <p:sp>
        <p:nvSpPr>
          <p:cNvPr id="30" name="圆角矩形 29"/>
          <p:cNvSpPr>
            <a:spLocks noGrp="1"/>
          </p:cNvSpPr>
          <p:nvPr/>
        </p:nvSpPr>
        <p:spPr>
          <a:xfrm>
            <a:off x="573723" y="1357313"/>
            <a:ext cx="3429000" cy="1857375"/>
          </a:xfrm>
          <a:prstGeom prst="roundRect">
            <a:avLst>
              <a:gd name="adj" fmla="val 3077"/>
            </a:avLst>
          </a:prstGeom>
          <a:noFill/>
          <a:ln w="12668">
            <a:solidFill>
              <a:srgbClr val="C00000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52316" y="1535906"/>
            <a:ext cx="642938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7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025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01</a:t>
            </a:r>
            <a:endParaRPr sz="2025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430973" y="1535906"/>
            <a:ext cx="2286000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1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75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Profiling</a:t>
            </a:r>
            <a:endParaRPr sz="1575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88035" y="2143125"/>
            <a:ext cx="30003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72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9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确认目标算子的耗时与带宽特征</a:t>
            </a:r>
            <a:endParaRPr sz="1295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4288473" y="1357313"/>
            <a:ext cx="3429000" cy="1857375"/>
          </a:xfrm>
          <a:prstGeom prst="roundRect">
            <a:avLst>
              <a:gd name="adj" fmla="val 3077"/>
            </a:avLst>
          </a:prstGeom>
          <a:noFill/>
          <a:ln w="12668">
            <a:solidFill>
              <a:srgbClr val="4472C4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467066" y="1535906"/>
            <a:ext cx="642938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7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025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02</a:t>
            </a:r>
            <a:endParaRPr sz="2025" b="1">
              <a:solidFill>
                <a:srgbClr val="4472C4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145723" y="1535906"/>
            <a:ext cx="2286000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1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75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算子依赖图（DAG）</a:t>
            </a:r>
            <a:endParaRPr sz="1575" b="1">
              <a:solidFill>
                <a:srgbClr val="4472C4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502785" y="2143125"/>
            <a:ext cx="30003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72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9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沿张量依赖向前追溯前序算子、depend 与可重叠区间</a:t>
            </a:r>
            <a:endParaRPr sz="1295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8003223" y="1357313"/>
            <a:ext cx="3429000" cy="1857375"/>
          </a:xfrm>
          <a:prstGeom prst="roundRect">
            <a:avLst>
              <a:gd name="adj" fmla="val 3077"/>
            </a:avLst>
          </a:prstGeom>
          <a:noFill/>
          <a:ln w="12668">
            <a:solidFill>
              <a:srgbClr val="70AD47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181816" y="1535906"/>
            <a:ext cx="642938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7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025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03</a:t>
            </a:r>
            <a:endParaRPr sz="2025" b="1">
              <a:solidFill>
                <a:srgbClr val="70AD47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860473" y="1535906"/>
            <a:ext cx="2286000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1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75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A/B 验证</a:t>
            </a:r>
            <a:endParaRPr sz="1575" b="1">
              <a:solidFill>
                <a:srgbClr val="70AD47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217535" y="2143125"/>
            <a:ext cx="30003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72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9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比较目标、窗口和端到端关键路径</a:t>
            </a:r>
            <a:endParaRPr sz="1295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573723" y="3571875"/>
            <a:ext cx="10858500" cy="1143000"/>
          </a:xfrm>
          <a:prstGeom prst="roundRect">
            <a:avLst>
              <a:gd name="adj" fmla="val 5000"/>
            </a:avLst>
          </a:prstGeom>
          <a:noFill/>
          <a:ln w="12668">
            <a:solidFill>
              <a:srgbClr val="ED7D31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788035" y="3714750"/>
            <a:ext cx="3000375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025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2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候选不是“所有大矩阵”</a:t>
            </a:r>
            <a:endParaRPr sz="1520" b="1">
              <a:solidFill>
                <a:srgbClr val="ED7D3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88035" y="4107656"/>
            <a:ext cx="10287000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8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目标算子要读大权重；depend 之后还要有足够长且带宽安全的区间。两者都必须由 Profile 解释。</a:t>
            </a:r>
            <a:endParaRPr sz="1350" b="1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573723" y="266700"/>
            <a:ext cx="8572500" cy="4286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  <a:def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4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depend 是启动屏障，不是预取窗口本身</a:t>
            </a:r>
            <a:endParaRPr sz="24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573723" y="790575"/>
            <a:ext cx="11049000" cy="266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前序算子产生 depend Tensor 后，预取才具备启动条件；真正被利用的是其后的重叠区间</a:t>
            </a:r>
            <a:endParaRPr sz="135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73723" y="5476875"/>
            <a:ext cx="11049000" cy="381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21348" y="6134100"/>
            <a:ext cx="1905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300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gitcode.com/cann/cann-recipes-infer</a:t>
            </a:r>
            <a:endParaRPr sz="975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5717223" y="6134100"/>
            <a:ext cx="762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  <a:def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7</a:t>
            </a:r>
            <a:endParaRPr sz="975"/>
          </a:p>
        </p:txBody>
      </p:sp>
      <p:pic>
        <p:nvPicPr>
          <p:cNvPr id="56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6823" y="6038850"/>
            <a:ext cx="1314450" cy="352425"/>
          </a:xfrm>
          <a:prstGeom prst="rect">
            <a:avLst/>
          </a:prstGeom>
        </p:spPr>
      </p:pic>
      <p:sp>
        <p:nvSpPr>
          <p:cNvPr id="30" name="圆角矩形 29"/>
          <p:cNvSpPr>
            <a:spLocks noGrp="1"/>
          </p:cNvSpPr>
          <p:nvPr/>
        </p:nvSpPr>
        <p:spPr>
          <a:xfrm>
            <a:off x="645160" y="1607344"/>
            <a:ext cx="2000250" cy="892969"/>
          </a:xfrm>
          <a:prstGeom prst="roundRect">
            <a:avLst>
              <a:gd name="adj" fmla="val 6400"/>
            </a:avLst>
          </a:prstGeom>
          <a:noFill/>
          <a:ln w="12668">
            <a:solidFill>
              <a:srgbClr val="C00000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52316" y="1714500"/>
            <a:ext cx="1785938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875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05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前序算子</a:t>
            </a:r>
            <a:endParaRPr sz="1405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52316" y="2085975"/>
            <a:ext cx="1785938" cy="2500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50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2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产生 D</a:t>
            </a:r>
            <a:endParaRPr sz="1125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645410" y="1750219"/>
            <a:ext cx="500063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2550" b="1">
                <a:solidFill>
                  <a:srgbClr val="666666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915" b="1">
                <a:solidFill>
                  <a:srgbClr val="666666"/>
                </a:solidFill>
                <a:latin typeface="MiSans" charset="-122"/>
                <a:ea typeface="MiSans" charset="-122"/>
                <a:cs typeface="MiSans" charset="-122"/>
              </a:rPr>
              <a:t>→</a:t>
            </a:r>
            <a:endParaRPr sz="1915" b="1">
              <a:solidFill>
                <a:srgbClr val="666666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3145473" y="1607344"/>
            <a:ext cx="2000250" cy="892969"/>
          </a:xfrm>
          <a:prstGeom prst="roundRect">
            <a:avLst>
              <a:gd name="adj" fmla="val 6400"/>
            </a:avLst>
          </a:prstGeom>
          <a:noFill/>
          <a:ln w="12668">
            <a:solidFill>
              <a:srgbClr val="4472C4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252629" y="1714500"/>
            <a:ext cx="1785938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875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05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depend Tensor D</a:t>
            </a:r>
            <a:endParaRPr sz="1405" b="1">
              <a:solidFill>
                <a:srgbClr val="4472C4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252629" y="2085975"/>
            <a:ext cx="1785938" cy="2500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50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2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启动屏障</a:t>
            </a:r>
            <a:endParaRPr sz="1125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145723" y="1750219"/>
            <a:ext cx="500063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2550" b="1">
                <a:solidFill>
                  <a:srgbClr val="666666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915" b="1">
                <a:solidFill>
                  <a:srgbClr val="666666"/>
                </a:solidFill>
                <a:latin typeface="MiSans" charset="-122"/>
                <a:ea typeface="MiSans" charset="-122"/>
                <a:cs typeface="MiSans" charset="-122"/>
              </a:rPr>
              <a:t>→</a:t>
            </a:r>
            <a:endParaRPr sz="1915" b="1">
              <a:solidFill>
                <a:srgbClr val="666666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5860098" y="1607344"/>
            <a:ext cx="2500313" cy="892969"/>
          </a:xfrm>
          <a:prstGeom prst="roundRect">
            <a:avLst>
              <a:gd name="adj" fmla="val 6400"/>
            </a:avLst>
          </a:prstGeom>
          <a:noFill/>
          <a:ln w="12668">
            <a:solidFill>
              <a:srgbClr val="70AD47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967254" y="1714500"/>
            <a:ext cx="228600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875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05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Overlap Window</a:t>
            </a:r>
            <a:endParaRPr sz="1405" b="1">
              <a:solidFill>
                <a:srgbClr val="70AD47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967254" y="2085975"/>
            <a:ext cx="2286000" cy="2500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50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2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预取与主流重叠</a:t>
            </a:r>
            <a:endParaRPr sz="1125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360410" y="1750219"/>
            <a:ext cx="500063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2550" b="1">
                <a:solidFill>
                  <a:srgbClr val="666666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915" b="1">
                <a:solidFill>
                  <a:srgbClr val="666666"/>
                </a:solidFill>
                <a:latin typeface="MiSans" charset="-122"/>
                <a:ea typeface="MiSans" charset="-122"/>
                <a:cs typeface="MiSans" charset="-122"/>
              </a:rPr>
              <a:t>→</a:t>
            </a:r>
            <a:endParaRPr sz="1915" b="1">
              <a:solidFill>
                <a:srgbClr val="666666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8860473" y="1607344"/>
            <a:ext cx="2000250" cy="892969"/>
          </a:xfrm>
          <a:prstGeom prst="roundRect">
            <a:avLst>
              <a:gd name="adj" fmla="val 6400"/>
            </a:avLst>
          </a:prstGeom>
          <a:noFill/>
          <a:ln w="12668">
            <a:solidFill>
              <a:srgbClr val="ED7D31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967629" y="1714500"/>
            <a:ext cx="1785938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875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05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Target T</a:t>
            </a:r>
            <a:endParaRPr sz="1405" b="1">
              <a:solidFill>
                <a:srgbClr val="ED7D3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967629" y="2085975"/>
            <a:ext cx="1785938" cy="2500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50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2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消费目标权重</a:t>
            </a:r>
            <a:endParaRPr sz="1125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3716973" y="3143250"/>
            <a:ext cx="5000625" cy="714375"/>
          </a:xfrm>
          <a:prstGeom prst="roundRect">
            <a:avLst>
              <a:gd name="adj" fmla="val 8000"/>
            </a:avLst>
          </a:prstGeom>
          <a:noFill/>
          <a:ln w="12668">
            <a:solidFill>
              <a:srgbClr val="4472C4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3716973" y="3143250"/>
            <a:ext cx="50006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21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75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Prefetch Stream：HBM → L2</a:t>
            </a:r>
            <a:endParaRPr sz="1575" b="1">
              <a:solidFill>
                <a:srgbClr val="4472C4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2431098" y="3214688"/>
            <a:ext cx="1214438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575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D 可用后才可能启动</a:t>
            </a:r>
            <a:endParaRPr sz="1180" b="1">
              <a:solidFill>
                <a:srgbClr val="4472C4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789035" y="3214688"/>
            <a:ext cx="2143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575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目标执行前必须完成有效搬运</a:t>
            </a:r>
            <a:endParaRPr sz="1180" b="1">
              <a:solidFill>
                <a:srgbClr val="ED7D3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1145223" y="4214813"/>
            <a:ext cx="9901238" cy="642938"/>
          </a:xfrm>
          <a:prstGeom prst="roundRect">
            <a:avLst>
              <a:gd name="adj" fmla="val 8889"/>
            </a:avLst>
          </a:prstGeom>
          <a:noFill/>
          <a:ln w="12668">
            <a:solidFill>
              <a:srgbClr val="C00000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359535" y="4307681"/>
            <a:ext cx="9472613" cy="464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8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前序算子可以是 o_proj 等大型 MatMul，但预取不会与该算子自身重叠；检查的是 D 产生之后的区间。</a:t>
            </a:r>
            <a:endParaRPr sz="1350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573723" y="266700"/>
            <a:ext cx="8572500" cy="4286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  <a:def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4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size 决定收益与带宽竞争之间的平衡</a:t>
            </a:r>
            <a:endParaRPr sz="24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573723" y="790575"/>
            <a:ext cx="11049000" cy="266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先按本地权重字节数估算，再从保守比例开始用 Profiling 调整</a:t>
            </a:r>
            <a:endParaRPr sz="135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73723" y="5476875"/>
            <a:ext cx="11049000" cy="381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21348" y="6134100"/>
            <a:ext cx="1905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300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gitcode.com/cann/cann-recipes-infer</a:t>
            </a:r>
            <a:endParaRPr sz="975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5717223" y="6134100"/>
            <a:ext cx="762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  <a:def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8</a:t>
            </a:r>
            <a:endParaRPr sz="975"/>
          </a:p>
        </p:txBody>
      </p:sp>
      <p:pic>
        <p:nvPicPr>
          <p:cNvPr id="4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6823" y="6038850"/>
            <a:ext cx="1314450" cy="352425"/>
          </a:xfrm>
          <a:prstGeom prst="rect">
            <a:avLst/>
          </a:prstGeom>
        </p:spPr>
      </p:pic>
      <p:sp>
        <p:nvSpPr>
          <p:cNvPr id="30" name="圆角矩形 29"/>
          <p:cNvSpPr>
            <a:spLocks noGrp="1"/>
          </p:cNvSpPr>
          <p:nvPr/>
        </p:nvSpPr>
        <p:spPr>
          <a:xfrm>
            <a:off x="930910" y="1285875"/>
            <a:ext cx="10329863" cy="678656"/>
          </a:xfrm>
          <a:prstGeom prst="roundRect">
            <a:avLst>
              <a:gd name="adj" fmla="val 8421"/>
            </a:avLst>
          </a:prstGeom>
          <a:noFill/>
          <a:ln w="12668">
            <a:solidFill>
              <a:srgbClr val="333333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30910" y="1285875"/>
            <a:ext cx="10329863" cy="6786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2175" b="1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30" b="1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theoretical size = weight elements × dtype bytes</a:t>
            </a:r>
            <a:endParaRPr sz="1630" b="1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716598" y="2286000"/>
            <a:ext cx="3214688" cy="1964531"/>
          </a:xfrm>
          <a:prstGeom prst="roundRect">
            <a:avLst>
              <a:gd name="adj" fmla="val 2909"/>
            </a:avLst>
          </a:prstGeom>
          <a:noFill/>
          <a:ln w="12668">
            <a:solidFill>
              <a:srgbClr val="4472C4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02335" y="2414588"/>
            <a:ext cx="2843213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025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2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dtype 字节数</a:t>
            </a:r>
            <a:endParaRPr sz="1520" b="1">
              <a:solidFill>
                <a:srgbClr val="4472C4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02335" y="2786063"/>
            <a:ext cx="2843213" cy="13358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int8 = 1 byte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fp16 / bf16 = 2 bytes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fp32 = 4 bytes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4488498" y="2286000"/>
            <a:ext cx="3214688" cy="1964531"/>
          </a:xfrm>
          <a:prstGeom prst="roundRect">
            <a:avLst>
              <a:gd name="adj" fmla="val 2909"/>
            </a:avLst>
          </a:prstGeom>
          <a:noFill/>
          <a:ln w="12668">
            <a:solidFill>
              <a:srgbClr val="70AD47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674235" y="2414588"/>
            <a:ext cx="2843213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025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2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按本地权重计算</a:t>
            </a:r>
            <a:endParaRPr sz="1520" b="1">
              <a:solidFill>
                <a:srgbClr val="70AD47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674235" y="2786063"/>
            <a:ext cx="2843213" cy="13358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Dense：按 TP 后本 rank 权重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MoE：按每卡本地专家数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只计算当前 rank 持有部分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8260398" y="2286000"/>
            <a:ext cx="3214688" cy="1964531"/>
          </a:xfrm>
          <a:prstGeom prst="roundRect">
            <a:avLst>
              <a:gd name="adj" fmla="val 2909"/>
            </a:avLst>
          </a:prstGeom>
          <a:noFill/>
          <a:ln w="12668">
            <a:solidFill>
              <a:srgbClr val="ED7D31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446135" y="2414588"/>
            <a:ext cx="2843213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025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2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保守起步</a:t>
            </a:r>
            <a:endParaRPr sz="1520" b="1">
              <a:solidFill>
                <a:srgbClr val="ED7D3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446135" y="2786063"/>
            <a:ext cx="2843213" cy="13358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仓内建议先取约 50%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过小：收益有限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过大：争抢 HBM 带宽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16598" y="4536281"/>
            <a:ext cx="10758488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725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95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LongCat-Flash：GMM 预取大小按量化 dtype 与每卡本地专家权重规模计算</a:t>
            </a:r>
            <a:endParaRPr sz="1295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573723" y="266700"/>
            <a:ext cx="8572500" cy="4286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  <a:def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4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本案例聚焦 GE Graph 的实际落地</a:t>
            </a:r>
            <a:endParaRPr sz="24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573723" y="790575"/>
            <a:ext cx="11049000" cy="266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LongCat-Flash 的已开启配置来自 GE Graph；npugraph_ex 作为实现扩展说明</a:t>
            </a:r>
            <a:endParaRPr sz="135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73723" y="5476875"/>
            <a:ext cx="11049000" cy="381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21348" y="6134100"/>
            <a:ext cx="1905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300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gitcode.com/cann/cann-recipes-infer</a:t>
            </a:r>
            <a:endParaRPr sz="975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5717223" y="6134100"/>
            <a:ext cx="762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  <a:def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9</a:t>
            </a:r>
            <a:endParaRPr sz="975"/>
          </a:p>
        </p:txBody>
      </p:sp>
      <p:pic>
        <p:nvPicPr>
          <p:cNvPr id="45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6823" y="6038850"/>
            <a:ext cx="1314450" cy="352425"/>
          </a:xfrm>
          <a:prstGeom prst="rect">
            <a:avLst/>
          </a:prstGeom>
        </p:spPr>
      </p:pic>
      <p:sp>
        <p:nvSpPr>
          <p:cNvPr id="30" name="圆角矩形 29"/>
          <p:cNvSpPr>
            <a:spLocks noGrp="1"/>
          </p:cNvSpPr>
          <p:nvPr/>
        </p:nvSpPr>
        <p:spPr>
          <a:xfrm>
            <a:off x="716598" y="1321594"/>
            <a:ext cx="5000625" cy="3464719"/>
          </a:xfrm>
          <a:prstGeom prst="roundRect">
            <a:avLst>
              <a:gd name="adj" fmla="val 1649"/>
            </a:avLst>
          </a:prstGeom>
          <a:noFill/>
          <a:ln w="12668">
            <a:solidFill>
              <a:srgbClr val="70AD47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02335" y="1464469"/>
            <a:ext cx="4629150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025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2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GE Graph：运行时管理预取流</a:t>
            </a:r>
            <a:endParaRPr sz="1520" b="1">
              <a:solidFill>
                <a:srgbClr val="70AD47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02335" y="1857375"/>
            <a:ext cx="4629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模型侧直接调用 npu_prefetch wrapper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38066" y="2250281"/>
            <a:ext cx="4357688" cy="16430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42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70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npu_prefetch(</a:t>
            </a:r>
            <a:endParaRPr sz="1070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42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70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enable_prefetch,</a:t>
            </a:r>
            <a:endParaRPr sz="1070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42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70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target_weight,</a:t>
            </a:r>
            <a:endParaRPr sz="1070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42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70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depend,</a:t>
            </a:r>
            <a:endParaRPr sz="1070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42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70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size, 0</a:t>
            </a:r>
            <a:endParaRPr sz="1070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42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70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</a:t>
            </a:r>
            <a:endParaRPr sz="1070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02335" y="4214813"/>
            <a:ext cx="4629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65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无需手写 Stream / Event</a:t>
            </a:r>
            <a:endParaRPr sz="1240" b="1">
              <a:solidFill>
                <a:srgbClr val="70AD47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6474460" y="1321594"/>
            <a:ext cx="5000625" cy="3464719"/>
          </a:xfrm>
          <a:prstGeom prst="roundRect">
            <a:avLst>
              <a:gd name="adj" fmla="val 1649"/>
            </a:avLst>
          </a:prstGeom>
          <a:noFill/>
          <a:ln w="12668">
            <a:solidFill>
              <a:srgbClr val="4472C4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660198" y="1464469"/>
            <a:ext cx="4629150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2025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2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npugraph_ex：模型显式管理</a:t>
            </a:r>
            <a:endParaRPr sz="1520" b="1">
              <a:solidFill>
                <a:srgbClr val="4472C4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660198" y="1857375"/>
            <a:ext cx="4629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57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8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事件决定何时启动，depend Tensor 固化图内时序</a:t>
            </a:r>
            <a:endParaRPr sz="118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795929" y="2085975"/>
            <a:ext cx="4357688" cy="1928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12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4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源码中的一个实际调用点</a:t>
            </a:r>
            <a:endParaRPr sz="845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4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with npu_stream_switch(</a:t>
            </a:r>
            <a:endParaRPr sz="845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4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route_prefetch, pf_stream</a:t>
            </a:r>
            <a:endParaRPr sz="845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4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):</a:t>
            </a:r>
            <a:endParaRPr sz="845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4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route_prefetch and pf_ev0 is not None:</a:t>
            </a:r>
            <a:endParaRPr sz="845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4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pf_stream.wait_event(pf_ev0)</a:t>
            </a:r>
            <a:endParaRPr sz="845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4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npu_prefetch(</a:t>
            </a:r>
            <a:endParaRPr sz="845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4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enable_prefetch,</a:t>
            </a:r>
            <a:endParaRPr sz="845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4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router_weight,</a:t>
            </a:r>
            <a:endParaRPr sz="845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4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o_proj, 18 * 1024 * 1024, 0</a:t>
            </a:r>
            <a:endParaRPr sz="845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12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845" b="0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)</a:t>
            </a:r>
            <a:endParaRPr sz="845" b="0">
              <a:solidFill>
                <a:srgbClr val="3333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660198" y="4107656"/>
            <a:ext cx="46291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5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25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pf_ev0：Prefetch Stream 的启动屏障</a:t>
            </a:r>
            <a:endParaRPr sz="1125" b="1">
              <a:solidFill>
                <a:srgbClr val="4472C4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ctr">
              <a:defRPr sz="15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25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o_proj：传给 npu_prefetch 的 depend Tensor</a:t>
            </a:r>
            <a:endParaRPr sz="1125" b="1">
              <a:solidFill>
                <a:srgbClr val="4472C4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573723" y="266700"/>
            <a:ext cx="8572500" cy="4286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  <a:def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4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LongCat-Flash 已形成整网预取链</a:t>
            </a:r>
            <a:endParaRPr sz="24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573723" y="790575"/>
            <a:ext cx="11049000" cy="266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Attention、Dense、MoE 和跨层 MLAProlog 之间形成连续的权重预取位置</a:t>
            </a:r>
            <a:endParaRPr sz="135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73723" y="5476875"/>
            <a:ext cx="11049000" cy="381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21348" y="6134100"/>
            <a:ext cx="1905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300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gitcode.com/cann/cann-recipes-infer</a:t>
            </a:r>
            <a:endParaRPr sz="975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5717223" y="6134100"/>
            <a:ext cx="762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  <a:def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10</a:t>
            </a:r>
            <a:endParaRPr sz="975"/>
          </a:p>
        </p:txBody>
      </p:sp>
      <p:pic>
        <p:nvPicPr>
          <p:cNvPr id="3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6823" y="6038850"/>
            <a:ext cx="1314450" cy="352425"/>
          </a:xfrm>
          <a:prstGeom prst="rect">
            <a:avLst/>
          </a:prstGeom>
        </p:spPr>
      </p:pic>
      <p:sp>
        <p:nvSpPr>
          <p:cNvPr id="30" name="圆角矩形 29"/>
          <p:cNvSpPr>
            <a:spLocks noGrp="1"/>
          </p:cNvSpPr>
          <p:nvPr/>
        </p:nvSpPr>
        <p:spPr>
          <a:xfrm>
            <a:off x="573723" y="1250156"/>
            <a:ext cx="11044238" cy="3321844"/>
          </a:xfrm>
          <a:prstGeom prst="roundRect">
            <a:avLst>
              <a:gd name="adj" fmla="val 1720"/>
            </a:avLst>
          </a:prstGeom>
          <a:noFill/>
          <a:ln w="12668">
            <a:solidFill>
              <a:srgbClr val="CCCCCC"/>
            </a:solidFill>
            <a:prstDash val="solid"/>
          </a:ln>
        </p:spPr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879" y="1780952"/>
            <a:ext cx="10829925" cy="2260252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645160" y="4714875"/>
            <a:ext cx="10901363" cy="3571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65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蓝色条表示预取位置：从当前模块输出出发，为后续 QBMM / GMM / MLAProlog 提前搬权重</a:t>
            </a:r>
            <a:endParaRPr sz="1240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573723" y="266700"/>
            <a:ext cx="8572500" cy="4286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  <a:def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4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两条关键链路解释预取如何跨模块推进</a:t>
            </a:r>
            <a:endParaRPr sz="24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573723" y="790575"/>
            <a:ext cx="11049000" cy="266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同一张整网图分段放大，分别观察 Dense 与跨层预取</a:t>
            </a:r>
            <a:endParaRPr sz="135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73723" y="5476875"/>
            <a:ext cx="11049000" cy="381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21348" y="6134100"/>
            <a:ext cx="1905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300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gitcode.com/cann/cann-recipes-infer</a:t>
            </a:r>
            <a:endParaRPr sz="975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5717223" y="6134100"/>
            <a:ext cx="762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  <a:def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11</a:t>
            </a:r>
            <a:endParaRPr sz="975"/>
          </a:p>
        </p:txBody>
      </p:sp>
      <p:pic>
        <p:nvPicPr>
          <p:cNvPr id="44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6823" y="6038850"/>
            <a:ext cx="1314450" cy="352425"/>
          </a:xfrm>
          <a:prstGeom prst="rect">
            <a:avLst/>
          </a:prstGeom>
        </p:spPr>
      </p:pic>
      <p:sp>
        <p:nvSpPr>
          <p:cNvPr id="30" name="圆角矩形 29"/>
          <p:cNvSpPr>
            <a:spLocks noGrp="1"/>
          </p:cNvSpPr>
          <p:nvPr/>
        </p:nvSpPr>
        <p:spPr>
          <a:xfrm>
            <a:off x="1288098" y="1285875"/>
            <a:ext cx="4429125" cy="3321844"/>
          </a:xfrm>
          <a:prstGeom prst="roundRect">
            <a:avLst>
              <a:gd name="adj" fmla="val 1720"/>
            </a:avLst>
          </a:prstGeom>
          <a:noFill/>
          <a:ln w="12668">
            <a:solidFill>
              <a:srgbClr val="CCCCCC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430973" y="1393031"/>
            <a:ext cx="4143375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875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05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Attention → Dense</a:t>
            </a:r>
            <a:endParaRPr sz="1405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973" y="2144316"/>
            <a:ext cx="4143375" cy="1104900"/>
          </a:xfrm>
          <a:prstGeom prst="rect">
            <a:avLst/>
          </a:prstGeom>
        </p:spPr>
      </p:pic>
      <p:sp>
        <p:nvSpPr>
          <p:cNvPr id="33" name="矩形 32"/>
          <p:cNvSpPr>
            <a:spLocks noGrp="1"/>
          </p:cNvSpPr>
          <p:nvPr/>
        </p:nvSpPr>
        <p:spPr>
          <a:xfrm>
            <a:off x="1502410" y="3750469"/>
            <a:ext cx="4000500" cy="6429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50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2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o_proj 输出触发 gate_up / down_proj 权重预取</a:t>
            </a:r>
            <a:endParaRPr sz="1125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6431598" y="1285875"/>
            <a:ext cx="4429125" cy="3321844"/>
          </a:xfrm>
          <a:prstGeom prst="roundRect">
            <a:avLst>
              <a:gd name="adj" fmla="val 1720"/>
            </a:avLst>
          </a:prstGeom>
          <a:noFill/>
          <a:ln w="12668">
            <a:solidFill>
              <a:srgbClr val="CCCCCC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574473" y="1393031"/>
            <a:ext cx="4143375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875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05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当前层 → 下一层</a:t>
            </a:r>
            <a:endParaRPr sz="1405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473" y="2259985"/>
            <a:ext cx="4143375" cy="873562"/>
          </a:xfrm>
          <a:prstGeom prst="rect">
            <a:avLst/>
          </a:prstGeom>
        </p:spPr>
      </p:pic>
      <p:sp>
        <p:nvSpPr>
          <p:cNvPr id="37" name="矩形 36"/>
          <p:cNvSpPr>
            <a:spLocks noGrp="1"/>
          </p:cNvSpPr>
          <p:nvPr/>
        </p:nvSpPr>
        <p:spPr>
          <a:xfrm>
            <a:off x="6645910" y="3750469"/>
            <a:ext cx="4000500" cy="6429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50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125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down_proj 输出预取下一层 q_a / q_b / kv_a</a:t>
            </a:r>
            <a:endParaRPr sz="1125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73723" y="4786313"/>
            <a:ext cx="10858500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65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同一个原则贯穿两条链路：depend 定时，Prefetch Stream 搬运，后续目标算子消费</a:t>
            </a:r>
            <a:endParaRPr sz="1240" b="1">
              <a:solidFill>
                <a:srgbClr val="4472C4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573723" y="266700"/>
            <a:ext cx="8572500" cy="4286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  <a:def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4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预取失败的本质是搬运没有被隐藏</a:t>
            </a:r>
            <a:endParaRPr sz="24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573723" y="790575"/>
            <a:ext cx="11049000" cy="266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目标算子局部变快不代表端到端变快；必须同时检查竞争、等待和侧流尾部</a:t>
            </a:r>
            <a:endParaRPr sz="135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73723" y="5476875"/>
            <a:ext cx="11049000" cy="381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21348" y="6134100"/>
            <a:ext cx="1905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300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gitcode.com/cann/cann-recipes-infer</a:t>
            </a:r>
            <a:endParaRPr sz="975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5717223" y="6134100"/>
            <a:ext cx="762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  <a:def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12</a:t>
            </a:r>
            <a:endParaRPr sz="975"/>
          </a:p>
        </p:txBody>
      </p:sp>
      <p:pic>
        <p:nvPicPr>
          <p:cNvPr id="52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6823" y="6038850"/>
            <a:ext cx="1314450" cy="352425"/>
          </a:xfrm>
          <a:prstGeom prst="rect">
            <a:avLst/>
          </a:prstGeom>
        </p:spPr>
      </p:pic>
      <p:sp>
        <p:nvSpPr>
          <p:cNvPr id="30" name="圆角矩形 29"/>
          <p:cNvSpPr>
            <a:spLocks noGrp="1"/>
          </p:cNvSpPr>
          <p:nvPr/>
        </p:nvSpPr>
        <p:spPr>
          <a:xfrm>
            <a:off x="645160" y="1250156"/>
            <a:ext cx="10829925" cy="750094"/>
          </a:xfrm>
          <a:prstGeom prst="roundRect">
            <a:avLst>
              <a:gd name="adj" fmla="val 7619"/>
            </a:avLst>
          </a:prstGeom>
          <a:noFill/>
          <a:ln w="12668">
            <a:solidFill>
              <a:srgbClr val="C00000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59473" y="1357313"/>
            <a:ext cx="3071813" cy="535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8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目标没快，窗口变慢</a:t>
            </a:r>
            <a:endParaRPr sz="1350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074160" y="1357313"/>
            <a:ext cx="3714750" cy="535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6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size 过大，HBM 带宽竞争</a:t>
            </a:r>
            <a:endParaRPr sz="124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931785" y="1357313"/>
            <a:ext cx="3286125" cy="535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65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→ 减小 size 或更换位置</a:t>
            </a:r>
            <a:endParaRPr sz="1240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645160" y="2164556"/>
            <a:ext cx="10829925" cy="750094"/>
          </a:xfrm>
          <a:prstGeom prst="roundRect">
            <a:avLst>
              <a:gd name="adj" fmla="val 7619"/>
            </a:avLst>
          </a:prstGeom>
          <a:noFill/>
          <a:ln w="12668">
            <a:solidFill>
              <a:srgbClr val="4472C4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59473" y="2271713"/>
            <a:ext cx="3071813" cy="535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8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局部变快，关键路径不变</a:t>
            </a:r>
            <a:endParaRPr sz="1350" b="1">
              <a:solidFill>
                <a:srgbClr val="4472C4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074160" y="2271713"/>
            <a:ext cx="3714750" cy="535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6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等待被移动到其他位置</a:t>
            </a:r>
            <a:endParaRPr sz="124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931785" y="2271713"/>
            <a:ext cx="3286125" cy="535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65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→ 检查端到端 critical path</a:t>
            </a:r>
            <a:endParaRPr sz="1240" b="1">
              <a:solidFill>
                <a:srgbClr val="4472C4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645160" y="3078956"/>
            <a:ext cx="10829925" cy="750094"/>
          </a:xfrm>
          <a:prstGeom prst="roundRect">
            <a:avLst>
              <a:gd name="adj" fmla="val 7619"/>
            </a:avLst>
          </a:prstGeom>
          <a:noFill/>
          <a:ln w="12668">
            <a:solidFill>
              <a:srgbClr val="ED7D31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59473" y="3186113"/>
            <a:ext cx="3071813" cy="535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80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Prefetch 流出现长尾</a:t>
            </a:r>
            <a:endParaRPr sz="1350" b="1">
              <a:solidFill>
                <a:srgbClr val="ED7D3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074160" y="3186113"/>
            <a:ext cx="3714750" cy="535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6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同步点或收敛位置不合理</a:t>
            </a:r>
            <a:endParaRPr sz="124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931785" y="3186113"/>
            <a:ext cx="3286125" cy="535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65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→ 调整依赖或放弃该点</a:t>
            </a:r>
            <a:endParaRPr sz="1240" b="1">
              <a:solidFill>
                <a:srgbClr val="ED7D3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645160" y="3993356"/>
            <a:ext cx="10829925" cy="750094"/>
          </a:xfrm>
          <a:prstGeom prst="roundRect">
            <a:avLst>
              <a:gd name="adj" fmla="val 7619"/>
            </a:avLst>
          </a:prstGeom>
          <a:noFill/>
          <a:ln w="12668">
            <a:solidFill>
              <a:srgbClr val="70AD47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59473" y="4100513"/>
            <a:ext cx="3071813" cy="535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8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图编译或运行依赖失败</a:t>
            </a:r>
            <a:endParaRPr sz="1350" b="1">
              <a:solidFill>
                <a:srgbClr val="70AD47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4074160" y="4100513"/>
            <a:ext cx="3714750" cy="535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6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depend 与 target 不在合法时序</a:t>
            </a:r>
            <a:endParaRPr sz="124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7931785" y="4100513"/>
            <a:ext cx="3286125" cy="5357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65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→ 修正图内 Tensor 依赖</a:t>
            </a:r>
            <a:endParaRPr sz="1240" b="1">
              <a:solidFill>
                <a:srgbClr val="70AD47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716598" y="4964906"/>
            <a:ext cx="1075848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65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验收必须同时看：目标算子、依赖窗口、Prefetch 流尾部、端到端 latency / throughput</a:t>
            </a:r>
            <a:endParaRPr sz="1240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573723" y="266700"/>
            <a:ext cx="8572500" cy="428625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30000"/>
              </a:lnSpc>
              <a:buNone/>
              <a:defRPr sz="32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400" b="1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先做单点验证，再逐步扩展到整网</a:t>
            </a:r>
            <a:endParaRPr sz="24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573723" y="790575"/>
            <a:ext cx="11049000" cy="266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80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3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固定变量、解释收益来源、保留关闭开关，最后才叠加多个预取位置</a:t>
            </a:r>
            <a:endParaRPr sz="135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573723" y="5476875"/>
            <a:ext cx="11049000" cy="381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21348" y="6134100"/>
            <a:ext cx="1905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  <a:defRPr sz="1300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 b="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gitcode.com/cann/cann-recipes-infer</a:t>
            </a:r>
            <a:endParaRPr sz="975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5717223" y="6134100"/>
            <a:ext cx="762000" cy="24765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  <a:defRPr sz="1300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975">
                <a:solidFill>
                  <a:srgbClr val="7F7F7F"/>
                </a:solidFill>
                <a:latin typeface="MiSans" charset="-122"/>
                <a:ea typeface="MiSans" charset="-122"/>
                <a:cs typeface="MiSans" charset="-122"/>
              </a:rPr>
              <a:t>13</a:t>
            </a:r>
            <a:endParaRPr sz="975"/>
          </a:p>
        </p:txBody>
      </p:sp>
      <p:pic>
        <p:nvPicPr>
          <p:cNvPr id="61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6823" y="6038850"/>
            <a:ext cx="1314450" cy="352425"/>
          </a:xfrm>
          <a:prstGeom prst="rect">
            <a:avLst/>
          </a:prstGeom>
        </p:spPr>
      </p:pic>
      <p:sp>
        <p:nvSpPr>
          <p:cNvPr id="30" name="圆角矩形 29"/>
          <p:cNvSpPr>
            <a:spLocks noGrp="1"/>
          </p:cNvSpPr>
          <p:nvPr/>
        </p:nvSpPr>
        <p:spPr>
          <a:xfrm>
            <a:off x="573723" y="1464469"/>
            <a:ext cx="1928813" cy="2143125"/>
          </a:xfrm>
          <a:prstGeom prst="roundRect">
            <a:avLst>
              <a:gd name="adj" fmla="val 2963"/>
            </a:avLst>
          </a:prstGeom>
          <a:noFill/>
          <a:ln w="12668">
            <a:solidFill>
              <a:srgbClr val="C00000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16598" y="1607344"/>
            <a:ext cx="500063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30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25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1</a:t>
            </a:r>
            <a:endParaRPr sz="2250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80941" y="1607344"/>
            <a:ext cx="1178719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875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05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Baseline</a:t>
            </a:r>
            <a:endParaRPr sz="1405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52316" y="2286000"/>
            <a:ext cx="1571625" cy="750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6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关闭开关</a:t>
            </a:r>
            <a:endParaRPr sz="124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ctr">
              <a:defRPr sz="16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记录 Profile</a:t>
            </a:r>
            <a:endParaRPr sz="124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502535" y="2143125"/>
            <a:ext cx="285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2400" b="1">
                <a:solidFill>
                  <a:srgbClr val="666666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800" b="1">
                <a:solidFill>
                  <a:srgbClr val="666666"/>
                </a:solidFill>
                <a:latin typeface="MiSans" charset="-122"/>
                <a:ea typeface="MiSans" charset="-122"/>
                <a:cs typeface="MiSans" charset="-122"/>
              </a:rPr>
              <a:t>→</a:t>
            </a:r>
            <a:endParaRPr sz="1800" b="1">
              <a:solidFill>
                <a:srgbClr val="666666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2788285" y="1464469"/>
            <a:ext cx="1928813" cy="2143125"/>
          </a:xfrm>
          <a:prstGeom prst="roundRect">
            <a:avLst>
              <a:gd name="adj" fmla="val 2963"/>
            </a:avLst>
          </a:prstGeom>
          <a:noFill/>
          <a:ln w="12668">
            <a:solidFill>
              <a:srgbClr val="4472C4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2931160" y="1607344"/>
            <a:ext cx="500063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30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25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2</a:t>
            </a:r>
            <a:endParaRPr sz="2250" b="1">
              <a:solidFill>
                <a:srgbClr val="4472C4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395504" y="1607344"/>
            <a:ext cx="1178719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875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05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单点接入</a:t>
            </a:r>
            <a:endParaRPr sz="1405" b="1">
              <a:solidFill>
                <a:srgbClr val="4472C4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966879" y="2286000"/>
            <a:ext cx="1571625" cy="750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6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一个 target</a:t>
            </a:r>
            <a:endParaRPr sz="124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ctr">
              <a:defRPr sz="16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一个 depend</a:t>
            </a:r>
            <a:endParaRPr sz="124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717098" y="2143125"/>
            <a:ext cx="285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2400" b="1">
                <a:solidFill>
                  <a:srgbClr val="666666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800" b="1">
                <a:solidFill>
                  <a:srgbClr val="666666"/>
                </a:solidFill>
                <a:latin typeface="MiSans" charset="-122"/>
                <a:ea typeface="MiSans" charset="-122"/>
                <a:cs typeface="MiSans" charset="-122"/>
              </a:rPr>
              <a:t>→</a:t>
            </a:r>
            <a:endParaRPr sz="1800" b="1">
              <a:solidFill>
                <a:srgbClr val="666666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5002848" y="1464469"/>
            <a:ext cx="1928813" cy="2143125"/>
          </a:xfrm>
          <a:prstGeom prst="roundRect">
            <a:avLst>
              <a:gd name="adj" fmla="val 2963"/>
            </a:avLst>
          </a:prstGeom>
          <a:noFill/>
          <a:ln w="12668">
            <a:solidFill>
              <a:srgbClr val="70AD47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145723" y="1607344"/>
            <a:ext cx="500063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300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250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3</a:t>
            </a:r>
            <a:endParaRPr sz="2250" b="1">
              <a:solidFill>
                <a:srgbClr val="70AD47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610066" y="1607344"/>
            <a:ext cx="1178719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875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05" b="1">
                <a:solidFill>
                  <a:srgbClr val="70AD47"/>
                </a:solidFill>
                <a:latin typeface="MiSans" charset="-122"/>
                <a:ea typeface="MiSans" charset="-122"/>
                <a:cs typeface="MiSans" charset="-122"/>
              </a:rPr>
              <a:t>先调 size</a:t>
            </a:r>
            <a:endParaRPr sz="1405" b="1">
              <a:solidFill>
                <a:srgbClr val="70AD47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5181441" y="2286000"/>
            <a:ext cx="1571625" cy="750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6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50% 起步</a:t>
            </a:r>
            <a:endParaRPr sz="124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ctr">
              <a:defRPr sz="16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观察竞争</a:t>
            </a:r>
            <a:endParaRPr sz="124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931660" y="2143125"/>
            <a:ext cx="285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2400" b="1">
                <a:solidFill>
                  <a:srgbClr val="666666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800" b="1">
                <a:solidFill>
                  <a:srgbClr val="666666"/>
                </a:solidFill>
                <a:latin typeface="MiSans" charset="-122"/>
                <a:ea typeface="MiSans" charset="-122"/>
                <a:cs typeface="MiSans" charset="-122"/>
              </a:rPr>
              <a:t>→</a:t>
            </a:r>
            <a:endParaRPr sz="1800" b="1">
              <a:solidFill>
                <a:srgbClr val="666666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7217410" y="1464469"/>
            <a:ext cx="1928813" cy="2143125"/>
          </a:xfrm>
          <a:prstGeom prst="roundRect">
            <a:avLst>
              <a:gd name="adj" fmla="val 2963"/>
            </a:avLst>
          </a:prstGeom>
          <a:noFill/>
          <a:ln w="12668">
            <a:solidFill>
              <a:srgbClr val="ED7D31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7360285" y="1607344"/>
            <a:ext cx="500063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300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250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4</a:t>
            </a:r>
            <a:endParaRPr sz="2250" b="1">
              <a:solidFill>
                <a:srgbClr val="ED7D3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7824629" y="1607344"/>
            <a:ext cx="1178719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875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05" b="1">
                <a:solidFill>
                  <a:srgbClr val="ED7D31"/>
                </a:solidFill>
                <a:latin typeface="MiSans" charset="-122"/>
                <a:ea typeface="MiSans" charset="-122"/>
                <a:cs typeface="MiSans" charset="-122"/>
              </a:rPr>
              <a:t>再调 depend</a:t>
            </a:r>
            <a:endParaRPr sz="1405" b="1">
              <a:solidFill>
                <a:srgbClr val="ED7D31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396004" y="2286000"/>
            <a:ext cx="1571625" cy="750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6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保持 size</a:t>
            </a:r>
            <a:endParaRPr sz="124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ctr">
              <a:defRPr sz="16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移动窗口</a:t>
            </a:r>
            <a:endParaRPr sz="124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146223" y="2143125"/>
            <a:ext cx="285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2400" b="1">
                <a:solidFill>
                  <a:srgbClr val="666666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800" b="1">
                <a:solidFill>
                  <a:srgbClr val="666666"/>
                </a:solidFill>
                <a:latin typeface="MiSans" charset="-122"/>
                <a:ea typeface="MiSans" charset="-122"/>
                <a:cs typeface="MiSans" charset="-122"/>
              </a:rPr>
              <a:t>→</a:t>
            </a:r>
            <a:endParaRPr sz="1800" b="1">
              <a:solidFill>
                <a:srgbClr val="666666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50" name="圆角矩形 49"/>
          <p:cNvSpPr>
            <a:spLocks noGrp="1"/>
          </p:cNvSpPr>
          <p:nvPr/>
        </p:nvSpPr>
        <p:spPr>
          <a:xfrm>
            <a:off x="9431973" y="1464469"/>
            <a:ext cx="1928813" cy="2143125"/>
          </a:xfrm>
          <a:prstGeom prst="roundRect">
            <a:avLst>
              <a:gd name="adj" fmla="val 2963"/>
            </a:avLst>
          </a:prstGeom>
          <a:noFill/>
          <a:ln w="12668">
            <a:solidFill>
              <a:srgbClr val="C00000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9574848" y="1607344"/>
            <a:ext cx="500063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300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2250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5</a:t>
            </a:r>
            <a:endParaRPr sz="2250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0039191" y="1607344"/>
            <a:ext cx="1178719" cy="3929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defRPr sz="1875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405" b="1">
                <a:solidFill>
                  <a:srgbClr val="C00000"/>
                </a:solidFill>
                <a:latin typeface="MiSans" charset="-122"/>
                <a:ea typeface="MiSans" charset="-122"/>
                <a:cs typeface="MiSans" charset="-122"/>
              </a:rPr>
              <a:t>逐步扩展</a:t>
            </a:r>
            <a:endParaRPr sz="1405" b="1">
              <a:solidFill>
                <a:srgbClr val="C00000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9610566" y="2286000"/>
            <a:ext cx="1571625" cy="750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16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单点成立后</a:t>
            </a:r>
            <a:endParaRPr sz="124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  <a:p>
            <a:pPr algn="ctr">
              <a:defRPr sz="165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240" b="0">
                <a:solidFill>
                  <a:srgbClr val="333333"/>
                </a:solidFill>
                <a:latin typeface="MiSans" charset="-122"/>
                <a:ea typeface="MiSans" charset="-122"/>
                <a:cs typeface="MiSans" charset="-122"/>
              </a:rPr>
              <a:t>叠加链路</a:t>
            </a:r>
            <a:endParaRPr sz="1240" b="0">
              <a:solidFill>
                <a:srgbClr val="333333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1216660" y="4071938"/>
            <a:ext cx="9758363" cy="714375"/>
          </a:xfrm>
          <a:prstGeom prst="roundRect">
            <a:avLst>
              <a:gd name="adj" fmla="val 8000"/>
            </a:avLst>
          </a:prstGeom>
          <a:noFill/>
          <a:ln w="12668">
            <a:solidFill>
              <a:srgbClr val="4472C4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1430973" y="4179094"/>
            <a:ext cx="9329738" cy="5000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ctr">
              <a:defRPr sz="2100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defRPr>
            </a:pPr>
            <a:r>
              <a:rPr sz="1575" b="1">
                <a:solidFill>
                  <a:srgbClr val="4472C4"/>
                </a:solidFill>
                <a:latin typeface="MiSans" charset="-122"/>
                <a:ea typeface="MiSans" charset="-122"/>
                <a:cs typeface="MiSans" charset="-122"/>
              </a:rPr>
              <a:t>最终结论：Weight Prefetch 的价值来自“被隐藏的搬运”，而不是“调用了一个接口”。</a:t>
            </a:r>
            <a:endParaRPr sz="1575" b="1">
              <a:solidFill>
                <a:srgbClr val="4472C4"/>
              </a:solidFill>
              <a:latin typeface="MiSans" charset="-122"/>
              <a:ea typeface="MiSans" charset="-122"/>
              <a:cs typeface="MiSans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5926</Words>
  <Application>WPS 演示</Application>
  <PresentationFormat>自定义</PresentationFormat>
  <Paragraphs>576</Paragraphs>
  <Slides>26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26</vt:i4>
      </vt:variant>
    </vt:vector>
  </HeadingPairs>
  <TitlesOfParts>
    <vt:vector size="52" baseType="lpstr">
      <vt:lpstr>Arial</vt:lpstr>
      <vt:lpstr>宋体</vt:lpstr>
      <vt:lpstr>Wingdings</vt:lpstr>
      <vt:lpstr>微软雅黑</vt:lpstr>
      <vt:lpstr>.AppleSystemUIFont</vt:lpstr>
      <vt:lpstr>Segoe Print</vt:lpstr>
      <vt:lpstr>Calibri</vt:lpstr>
      <vt:lpstr>-apple-system</vt:lpstr>
      <vt:lpstr>HarmonyOS-Hans</vt:lpstr>
      <vt:lpstr>Arial Black</vt:lpstr>
      <vt:lpstr>Calibri</vt:lpstr>
      <vt:lpstr>Arial Unicode MS</vt:lpstr>
      <vt:lpstr>等线</vt:lpstr>
      <vt:lpstr>黑体</vt:lpstr>
      <vt:lpstr>-apple-system</vt:lpstr>
      <vt:lpstr>HarmonyOS-Hans</vt:lpstr>
      <vt:lpstr>Wingdings</vt:lpstr>
      <vt:lpstr>Be Happy</vt:lpstr>
      <vt:lpstr>MiSans</vt:lpstr>
      <vt:lpstr>Consolas</vt:lpstr>
      <vt:lpstr>Arial</vt:lpstr>
      <vt:lpstr>封面页_图片版 </vt:lpstr>
      <vt:lpstr>目录页</vt:lpstr>
      <vt:lpstr>章节页</vt:lpstr>
      <vt:lpstr>结束页</vt:lpstr>
      <vt:lpstr>Office Theme</vt:lpstr>
      <vt:lpstr>核心推理优化技术—— MTP投机算法、多流并行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diaoyingyu</dc:creator>
  <cp:lastModifiedBy>戒灵</cp:lastModifiedBy>
  <cp:revision>192</cp:revision>
  <dcterms:created xsi:type="dcterms:W3CDTF">2025-05-12T03:33:00Z</dcterms:created>
  <dcterms:modified xsi:type="dcterms:W3CDTF">2026-08-20T06:27:44Z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(3)hJc+TisFZJKAt1U5G8L17dMgTfw0wvNPjLBKhwPVl2m97NfDhCq1l4nEiv7yWq+mgv94yYY8
g1oi4YjdaWPnaTXcW/WJLVavmc1tyi87xqqZW4kg2lwNgWzYoo+dAZmb3lHmF2zAqXJ/yL62
pYtGyeMHx0M+7eNwshHyjHFRc7MCUfnecLwQOHFzWancuqAwvK67IKv70LtWokmu7swhOXQH
u5IRWSWWTF8Q9Lu5iU</vt:lpwstr>
  </property>
  <property fmtid="{D5CDD505-2E9C-101B-9397-08002B2CF9AE}" pid="3" name="_2015_ms_pID_7253431">
    <vt:lpwstr>C8/dEwwgPoXQHda7pCSxLyHg6XfOqLyv2PxCrPFcbG4wVcp4JGRS6E
ligcuPsb+qV8yuGlyjmQ3RIbsw61Iu6yj8XuUlt9Vuz00Ugn3qVFwwS8MKGgiBPB4mDABAS5
WRtnE6Wjf8J1lC4L4YkEVOFyj0BQsZrPJq5qAU7ynymTbzGCQ7qisPpjRo6mgZ9waTt2vIEL
x72pMhMn33jEnvlb0PLfsHI+1R4EKdfMe5df</vt:lpwstr>
  </property>
  <property fmtid="{D5CDD505-2E9C-101B-9397-08002B2CF9AE}" pid="4" name="_2015_ms_pID_7253432">
    <vt:lpwstr>UQ==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1748937309</vt:lpwstr>
  </property>
  <property fmtid="{D5CDD505-2E9C-101B-9397-08002B2CF9AE}" pid="9" name="ICV">
    <vt:lpwstr>D8BE57472BD0429A90BE53BEC26DF409_13</vt:lpwstr>
  </property>
  <property fmtid="{D5CDD505-2E9C-101B-9397-08002B2CF9AE}" pid="10" name="KSOProductBuildVer">
    <vt:lpwstr>2052-12.1.0.28043</vt:lpwstr>
  </property>
</Properties>
</file>