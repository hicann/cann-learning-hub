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fonts/font1.fntdata" ContentType="application/x-fontdata"/>
  <Override PartName="/ppt/fonts/font2.fntdata" ContentType="application/x-fontdata"/>
  <Override PartName="/ppt/fonts/font3.fntdata" ContentType="application/x-fontdata"/>
  <Override PartName="/ppt/fonts/font4.fntdata" ContentType="application/x-fontdata"/>
  <Override PartName="/ppt/fonts/font5.fntdata" ContentType="application/x-fontdata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  <p:sldMasterId id="2147483650" r:id="rId3"/>
  </p:sldMasterIdLst>
  <p:notesMasterIdLst>
    <p:notesMasterId r:id="rId5"/>
  </p:notesMasterIdLst>
  <p:sldIdLst>
    <p:sldId id="256" r:id="rId4"/>
    <p:sldId id="257" r:id="rId6"/>
    <p:sldId id="258" r:id="rId7"/>
    <p:sldId id="293" r:id="rId8"/>
    <p:sldId id="259" r:id="rId9"/>
    <p:sldId id="264" r:id="rId10"/>
    <p:sldId id="296" r:id="rId11"/>
    <p:sldId id="313" r:id="rId12"/>
    <p:sldId id="314" r:id="rId13"/>
    <p:sldId id="320" r:id="rId14"/>
    <p:sldId id="269" r:id="rId15"/>
    <p:sldId id="260" r:id="rId16"/>
    <p:sldId id="310" r:id="rId17"/>
    <p:sldId id="278" r:id="rId18"/>
    <p:sldId id="309" r:id="rId19"/>
    <p:sldId id="316" r:id="rId20"/>
    <p:sldId id="317" r:id="rId21"/>
    <p:sldId id="285" r:id="rId22"/>
    <p:sldId id="318" r:id="rId23"/>
    <p:sldId id="311" r:id="rId24"/>
    <p:sldId id="290" r:id="rId25"/>
  </p:sldIdLst>
  <p:sldSz cx="16256000" cy="9144000"/>
  <p:notesSz cx="9144000" cy="16256000"/>
  <p:embeddedFontLst>
    <p:embeddedFont>
      <p:font typeface="微软雅黑" pitchFamily="34" charset="-122"/>
      <p:regular r:id="rId29"/>
    </p:embeddedFont>
    <p:embeddedFont>
      <p:font typeface="微软雅黑" pitchFamily="34" charset="-120"/>
      <p:regular r:id="rId30"/>
    </p:embeddedFont>
    <p:embeddedFont>
      <p:font typeface="微软雅黑" pitchFamily="34" charset="0"/>
      <p:regular r:id="rId31"/>
    </p:embeddedFont>
    <p:embeddedFont>
      <p:font typeface="等线" charset="0"/>
      <p:regular r:id="rId32"/>
    </p:embeddedFont>
    <p:embeddedFont>
      <p:font typeface="Calibri" panose="020F0502020204030204" charset="0"/>
      <p:regular r:id="rId33"/>
    </p:embeddedFont>
  </p:embeddedFont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191" autoAdjust="0"/>
    <p:restoredTop sz="94610"/>
  </p:normalViewPr>
  <p:slideViewPr>
    <p:cSldViewPr snapToGrid="0" snapToObjects="1">
      <p:cViewPr varScale="1">
        <p:scale>
          <a:sx n="71" d="100"/>
          <a:sy n="71" d="100"/>
        </p:scale>
        <p:origin x="82" y="13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5.xml"/><Relationship Id="rId8" Type="http://schemas.openxmlformats.org/officeDocument/2006/relationships/slide" Target="slides/slide4.xml"/><Relationship Id="rId7" Type="http://schemas.openxmlformats.org/officeDocument/2006/relationships/slide" Target="slides/slide3.xml"/><Relationship Id="rId6" Type="http://schemas.openxmlformats.org/officeDocument/2006/relationships/slide" Target="slides/slide2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33" Type="http://schemas.openxmlformats.org/officeDocument/2006/relationships/font" Target="fonts/font5.fntdata"/><Relationship Id="rId32" Type="http://schemas.openxmlformats.org/officeDocument/2006/relationships/font" Target="fonts/font4.fntdata"/><Relationship Id="rId31" Type="http://schemas.openxmlformats.org/officeDocument/2006/relationships/font" Target="fonts/font3.fntdata"/><Relationship Id="rId30" Type="http://schemas.openxmlformats.org/officeDocument/2006/relationships/font" Target="fonts/font2.fntdata"/><Relationship Id="rId3" Type="http://schemas.openxmlformats.org/officeDocument/2006/relationships/slideMaster" Target="slideMasters/slideMaster2.xml"/><Relationship Id="rId29" Type="http://schemas.openxmlformats.org/officeDocument/2006/relationships/font" Target="fonts/font1.fntdata"/><Relationship Id="rId28" Type="http://schemas.openxmlformats.org/officeDocument/2006/relationships/tableStyles" Target="tableStyles.xml"/><Relationship Id="rId27" Type="http://schemas.openxmlformats.org/officeDocument/2006/relationships/viewProps" Target="viewProps.xml"/><Relationship Id="rId26" Type="http://schemas.openxmlformats.org/officeDocument/2006/relationships/presProps" Target="presProps.xml"/><Relationship Id="rId25" Type="http://schemas.openxmlformats.org/officeDocument/2006/relationships/slide" Target="slides/slide21.xml"/><Relationship Id="rId24" Type="http://schemas.openxmlformats.org/officeDocument/2006/relationships/slide" Target="slides/slide20.xml"/><Relationship Id="rId23" Type="http://schemas.openxmlformats.org/officeDocument/2006/relationships/slide" Target="slides/slide19.xml"/><Relationship Id="rId22" Type="http://schemas.openxmlformats.org/officeDocument/2006/relationships/slide" Target="slides/slide18.xml"/><Relationship Id="rId21" Type="http://schemas.openxmlformats.org/officeDocument/2006/relationships/slide" Target="slides/slide17.xml"/><Relationship Id="rId20" Type="http://schemas.openxmlformats.org/officeDocument/2006/relationships/slide" Target="slides/slide16.xml"/><Relationship Id="rId2" Type="http://schemas.openxmlformats.org/officeDocument/2006/relationships/theme" Target="theme/theme1.xml"/><Relationship Id="rId19" Type="http://schemas.openxmlformats.org/officeDocument/2006/relationships/slide" Target="slides/slide15.xml"/><Relationship Id="rId18" Type="http://schemas.openxmlformats.org/officeDocument/2006/relationships/slide" Target="slides/slide14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9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0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这一页解释为什么需要 tokenizer 和 embedding。学生容易以为模型直接读中文，实际模型内部看到的是编号和向量。
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用对话例子建立直觉：用户输入一句话，模型不是一次性拿出完整答案，而是在已有上下文后面不断选择下一个 token。
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这一页解释为什么需要 tokenizer 和 embedding。学生容易以为模型直接读中文，实际模型内部看到的是编号和向量。
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这一页解释为什么需要 tokenizer 和 embedding。学生容易以为模型直接读中文，实际模型内部看到的是编号和向量。
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这一页解释为什么需要 tokenizer 和 embedding。学生容易以为模型直接读中文，实际模型内部看到的是编号和向量。
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这一页解释为什么需要 tokenizer 和 embedding。学生容易以为模型直接读中文，实际模型内部看到的是编号和向量。
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这一页解释为什么需要 tokenizer 和 embedding。学生容易以为模型直接读中文，实际模型内部看到的是编号和向量。
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这一页解释为什么需要 tokenizer 和 embedding。学生容易以为模型直接读中文，实际模型内部看到的是编号和向量。
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这一页解释为什么需要 tokenizer 和 embedding。学生容易以为模型直接读中文，实际模型内部看到的是编号和向量。
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这一页解释为什么需要 tokenizer 和 embedding。学生容易以为模型直接读中文，实际模型内部看到的是编号和向量。
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这一页解释为什么需要 tokenizer 和 embedding。学生容易以为模型直接读中文，实际模型内部看到的是编号和向量。
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这一页解释为什么需要 tokenizer 和 embedding。学生容易以为模型直接读中文，实际模型内部看到的是编号和向量。
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这一页解释为什么需要 tokenizer 和 embedding。学生容易以为模型直接读中文，实际模型内部看到的是编号和向量。
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9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9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jpe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3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6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jpe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0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png"/></Relationships>
</file>

<file path=ppt/slides/_rels/slide11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1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jpe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2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png"/></Relationships>
</file>

<file path=ppt/slides/_rels/slide13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3.x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3.jpeg"/><Relationship Id="rId1" Type="http://schemas.openxmlformats.org/officeDocument/2006/relationships/image" Target="../media/image2.png"/></Relationships>
</file>

<file path=ppt/slides/_rels/slide14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4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jpe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5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6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7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png"/></Relationships>
</file>

<file path=ppt/slides/_rels/slide18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8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jpe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9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png"/></Relationships>
</file>

<file path=ppt/slides/_rels/slide20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20.xml"/><Relationship Id="rId6" Type="http://schemas.openxmlformats.org/officeDocument/2006/relationships/slideLayout" Target="../slideLayouts/slideLayout2.xml"/><Relationship Id="rId5" Type="http://schemas.openxmlformats.org/officeDocument/2006/relationships/image" Target="../media/image5.png"/><Relationship Id="rId4" Type="http://schemas.openxmlformats.org/officeDocument/2006/relationships/image" Target="../media/image4.png"/><Relationship Id="rId3" Type="http://schemas.openxmlformats.org/officeDocument/2006/relationships/hyperlink" Target="https://gitcode.com/cann/cannbot-skills" TargetMode="External"/><Relationship Id="rId2" Type="http://schemas.openxmlformats.org/officeDocument/2006/relationships/hyperlink" Target="https://gitcode.com/cann/cann-recipes-infer" TargetMode="External"/><Relationship Id="rId1" Type="http://schemas.openxmlformats.org/officeDocument/2006/relationships/image" Target="../media/image2.png"/></Relationships>
</file>

<file path=ppt/slides/_rels/slide21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21.xml"/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2.png"/><Relationship Id="rId2" Type="http://schemas.openxmlformats.org/officeDocument/2006/relationships/image" Target="../media/image7.jpeg"/><Relationship Id="rId1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447800" y="2029968"/>
            <a:ext cx="9525000" cy="16510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>
              <a:lnSpc>
                <a:spcPct val="100000"/>
              </a:lnSpc>
            </a:pPr>
            <a:r>
              <a:rPr lang="en-US" sz="4800" b="1" dirty="0">
                <a:solidFill>
                  <a:srgbClr val="263238"/>
                </a:solidFill>
                <a:latin typeface="微软雅黑" pitchFamily="34" charset="-122"/>
                <a:ea typeface="微软雅黑" pitchFamily="34" charset="-122"/>
                <a:cs typeface="微软雅黑" pitchFamily="34" charset="-120"/>
                <a:sym typeface="+mn-ea"/>
              </a:rPr>
              <a:t>模型 Agent 基础</a:t>
            </a:r>
            <a:endParaRPr lang="en-US" sz="4800" dirty="0">
              <a:latin typeface="微软雅黑" pitchFamily="34" charset="-122"/>
              <a:ea typeface="微软雅黑" pitchFamily="34" charset="-122"/>
            </a:endParaRPr>
          </a:p>
          <a:p>
            <a:pPr>
              <a:lnSpc>
                <a:spcPct val="100000"/>
              </a:lnSpc>
            </a:pPr>
            <a:r>
              <a:rPr lang="en-US" sz="4800" b="1" dirty="0">
                <a:solidFill>
                  <a:srgbClr val="263238"/>
                </a:solidFill>
                <a:latin typeface="微软雅黑" pitchFamily="34" charset="-122"/>
                <a:ea typeface="微软雅黑" pitchFamily="34" charset="-122"/>
                <a:cs typeface="微软雅黑" pitchFamily="34" charset="-120"/>
                <a:sym typeface="+mn-ea"/>
              </a:rPr>
              <a:t>从 Skill 到推理优化体系</a:t>
            </a:r>
            <a:endParaRPr lang="en-US" sz="4800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3" name="Text 1"/>
          <p:cNvSpPr/>
          <p:nvPr/>
        </p:nvSpPr>
        <p:spPr>
          <a:xfrm>
            <a:off x="1562100" y="3937000"/>
            <a:ext cx="5080000" cy="4445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l">
              <a:lnSpc>
                <a:spcPct val="150000"/>
              </a:lnSpc>
            </a:pPr>
            <a:r>
              <a:rPr lang="en-US" sz="2200" b="1" dirty="0">
                <a:solidFill>
                  <a:srgbClr val="333333"/>
                </a:solidFill>
                <a:latin typeface="微软雅黑" pitchFamily="34" charset="-122"/>
                <a:ea typeface="微软雅黑" pitchFamily="34" charset="-122"/>
                <a:cs typeface="MiSans" pitchFamily="34" charset="-120"/>
              </a:rPr>
              <a:t>昇腾 CANN </a:t>
            </a:r>
            <a:r>
              <a:rPr lang="zh-CN" altLang="en-US" sz="2200" b="1" dirty="0">
                <a:solidFill>
                  <a:srgbClr val="333333"/>
                </a:solidFill>
                <a:latin typeface="微软雅黑" pitchFamily="34" charset="-122"/>
                <a:ea typeface="微软雅黑" pitchFamily="34" charset="-122"/>
                <a:cs typeface="MiSans" pitchFamily="34" charset="-120"/>
              </a:rPr>
              <a:t>启航</a:t>
            </a:r>
            <a:r>
              <a:rPr lang="en-US" sz="2200" b="1" dirty="0">
                <a:solidFill>
                  <a:srgbClr val="333333"/>
                </a:solidFill>
                <a:latin typeface="微软雅黑" pitchFamily="34" charset="-122"/>
                <a:ea typeface="微软雅黑" pitchFamily="34" charset="-122"/>
                <a:cs typeface="MiSans" pitchFamily="34" charset="-120"/>
              </a:rPr>
              <a:t>营</a:t>
            </a:r>
            <a:endParaRPr lang="en-US" sz="2200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4" name="Text 2"/>
          <p:cNvSpPr/>
          <p:nvPr/>
        </p:nvSpPr>
        <p:spPr>
          <a:xfrm>
            <a:off x="1562100" y="4445000"/>
            <a:ext cx="5080000" cy="4445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l">
              <a:lnSpc>
                <a:spcPct val="150000"/>
              </a:lnSpc>
            </a:pPr>
            <a:r>
              <a:rPr lang="en-US" sz="2200" b="1" dirty="0" err="1">
                <a:solidFill>
                  <a:srgbClr val="333333"/>
                </a:solidFill>
                <a:latin typeface="微软雅黑" pitchFamily="34" charset="-122"/>
                <a:ea typeface="微软雅黑" pitchFamily="34" charset="-122"/>
                <a:cs typeface="MiSans" pitchFamily="34" charset="-120"/>
              </a:rPr>
              <a:t>Agent 工程实践</a:t>
            </a:r>
            <a:endParaRPr lang="en-US" sz="2200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5" name="Text 3"/>
          <p:cNvSpPr/>
          <p:nvPr/>
        </p:nvSpPr>
        <p:spPr>
          <a:xfrm>
            <a:off x="825500" y="8178800"/>
            <a:ext cx="2540000" cy="3302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300" dirty="0">
                <a:solidFill>
                  <a:srgbClr val="7F7F7F"/>
                </a:solidFill>
                <a:latin typeface="微软雅黑" pitchFamily="34" charset="-122"/>
                <a:ea typeface="微软雅黑" pitchFamily="34" charset="-122"/>
                <a:cs typeface="MiSans" pitchFamily="34" charset="-120"/>
              </a:rPr>
              <a:t>https://gitcode.com/cann</a:t>
            </a:r>
            <a:endParaRPr lang="en-US" sz="1300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6" name="Text 4"/>
          <p:cNvSpPr/>
          <p:nvPr/>
        </p:nvSpPr>
        <p:spPr>
          <a:xfrm>
            <a:off x="7620000" y="8178800"/>
            <a:ext cx="1016000" cy="3302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endParaRPr lang="en-US" sz="1300" dirty="0">
              <a:latin typeface="微软雅黑" pitchFamily="34" charset="-122"/>
              <a:ea typeface="微软雅黑" pitchFamily="34" charset="-122"/>
            </a:endParaRPr>
          </a:p>
        </p:txBody>
      </p:sp>
      <p:pic>
        <p:nvPicPr>
          <p:cNvPr id="7" name="Image 0" descr="https://kimi-img.moonshot.cn/pub/slides/okc/4rfbomebqqupm/mnt/agents/output/template_pptd/images/image_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512800" y="8051800"/>
            <a:ext cx="1752600" cy="469900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23900" y="3467100"/>
            <a:ext cx="4508500" cy="1117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6400" dirty="0">
                <a:solidFill>
                  <a:srgbClr val="6E6E6E"/>
                </a:solidFill>
                <a:latin typeface="微软雅黑" pitchFamily="34" charset="-122"/>
                <a:ea typeface="微软雅黑" pitchFamily="34" charset="-122"/>
                <a:cs typeface="MiSans" pitchFamily="34" charset="-120"/>
              </a:rPr>
              <a:t>目录</a:t>
            </a:r>
            <a:endParaRPr lang="en-US" sz="6400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3" name="Shape 1"/>
          <p:cNvSpPr/>
          <p:nvPr/>
        </p:nvSpPr>
        <p:spPr>
          <a:xfrm>
            <a:off x="5270500" y="2514600"/>
            <a:ext cx="0" cy="3695700"/>
          </a:xfrm>
          <a:prstGeom prst="straightConnector1">
            <a:avLst/>
          </a:prstGeom>
          <a:noFill/>
          <a:ln w="12700">
            <a:solidFill>
              <a:srgbClr val="BFBFBF"/>
            </a:solidFill>
            <a:prstDash val="solid"/>
            <a:headEnd type="none"/>
            <a:tailEnd type="none"/>
          </a:ln>
        </p:spPr>
      </p:sp>
      <p:sp>
        <p:nvSpPr>
          <p:cNvPr id="4" name="Shape 2"/>
          <p:cNvSpPr/>
          <p:nvPr/>
        </p:nvSpPr>
        <p:spPr>
          <a:xfrm>
            <a:off x="6096000" y="2438400"/>
            <a:ext cx="558800" cy="558800"/>
          </a:xfrm>
          <a:prstGeom prst="ellipse">
            <a:avLst/>
          </a:prstGeom>
          <a:solidFill>
            <a:srgbClr val="C00000"/>
          </a:solidFill>
        </p:spPr>
      </p:sp>
      <p:sp>
        <p:nvSpPr>
          <p:cNvPr id="5" name="Text 3"/>
          <p:cNvSpPr/>
          <p:nvPr/>
        </p:nvSpPr>
        <p:spPr>
          <a:xfrm>
            <a:off x="6096000" y="2438400"/>
            <a:ext cx="558800" cy="5588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2000" b="1" dirty="0">
                <a:solidFill>
                  <a:srgbClr val="FFFFFF"/>
                </a:solidFill>
                <a:latin typeface="微软雅黑" pitchFamily="34" charset="-122"/>
                <a:ea typeface="微软雅黑" pitchFamily="34" charset="-122"/>
                <a:cs typeface="MiSans" pitchFamily="34" charset="-120"/>
              </a:rPr>
              <a:t>1</a:t>
            </a:r>
            <a:endParaRPr lang="en-US" sz="2000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6" name="Text 4"/>
          <p:cNvSpPr/>
          <p:nvPr/>
        </p:nvSpPr>
        <p:spPr>
          <a:xfrm>
            <a:off x="6858000" y="2438400"/>
            <a:ext cx="6350000" cy="5588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l">
              <a:lnSpc>
                <a:spcPct val="100000"/>
              </a:lnSpc>
            </a:pPr>
            <a:r>
              <a:rPr lang="en-US" sz="2200" b="1" dirty="0">
                <a:solidFill>
                  <a:srgbClr val="263238"/>
                </a:solidFill>
                <a:latin typeface="微软雅黑" pitchFamily="34" charset="-122"/>
                <a:ea typeface="微软雅黑" pitchFamily="34" charset="-122"/>
                <a:cs typeface="微软雅黑" pitchFamily="34" charset="-120"/>
                <a:sym typeface="+mn-ea"/>
              </a:rPr>
              <a:t>Agent </a:t>
            </a:r>
            <a:r>
              <a:rPr lang="zh-CN" altLang="en-US" sz="2200" b="1" dirty="0">
                <a:solidFill>
                  <a:srgbClr val="263238"/>
                </a:solidFill>
                <a:latin typeface="微软雅黑" pitchFamily="34" charset="-122"/>
                <a:ea typeface="微软雅黑" pitchFamily="34" charset="-122"/>
                <a:cs typeface="微软雅黑" pitchFamily="34" charset="-120"/>
                <a:sym typeface="+mn-ea"/>
              </a:rPr>
              <a:t>基础</a:t>
            </a:r>
            <a:r>
              <a:rPr lang="en-US" altLang="zh-CN" sz="2200" b="1" dirty="0">
                <a:solidFill>
                  <a:srgbClr val="263238"/>
                </a:solidFill>
                <a:latin typeface="微软雅黑" pitchFamily="34" charset="-122"/>
                <a:ea typeface="微软雅黑" pitchFamily="34" charset="-122"/>
                <a:cs typeface="微软雅黑" pitchFamily="34" charset="-120"/>
                <a:sym typeface="+mn-ea"/>
              </a:rPr>
              <a:t>：</a:t>
            </a:r>
            <a:r>
              <a:rPr lang="en-US" sz="2200" b="1" dirty="0">
                <a:solidFill>
                  <a:srgbClr val="263238"/>
                </a:solidFill>
                <a:latin typeface="微软雅黑" pitchFamily="34" charset="-122"/>
                <a:ea typeface="微软雅黑" pitchFamily="34" charset="-122"/>
                <a:cs typeface="微软雅黑" pitchFamily="34" charset="-120"/>
                <a:sym typeface="+mn-ea"/>
              </a:rPr>
              <a:t>能力与边界</a:t>
            </a:r>
            <a:endParaRPr lang="en-US" sz="2200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7" name="Shape 5"/>
          <p:cNvSpPr/>
          <p:nvPr/>
        </p:nvSpPr>
        <p:spPr>
          <a:xfrm>
            <a:off x="6096000" y="3276600"/>
            <a:ext cx="558800" cy="558800"/>
          </a:xfrm>
          <a:prstGeom prst="ellipse">
            <a:avLst/>
          </a:prstGeom>
          <a:solidFill>
            <a:srgbClr val="C00000"/>
          </a:solidFill>
        </p:spPr>
      </p:sp>
      <p:sp>
        <p:nvSpPr>
          <p:cNvPr id="8" name="Text 6"/>
          <p:cNvSpPr/>
          <p:nvPr/>
        </p:nvSpPr>
        <p:spPr>
          <a:xfrm>
            <a:off x="6096000" y="3276600"/>
            <a:ext cx="558800" cy="5588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2000" b="1" dirty="0">
                <a:solidFill>
                  <a:srgbClr val="FFFFFF"/>
                </a:solidFill>
                <a:latin typeface="微软雅黑" pitchFamily="34" charset="-122"/>
                <a:ea typeface="微软雅黑" pitchFamily="34" charset="-122"/>
                <a:cs typeface="MiSans" pitchFamily="34" charset="-120"/>
              </a:rPr>
              <a:t>2</a:t>
            </a:r>
            <a:endParaRPr lang="en-US" sz="2000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9" name="Text 7"/>
          <p:cNvSpPr/>
          <p:nvPr/>
        </p:nvSpPr>
        <p:spPr>
          <a:xfrm>
            <a:off x="6858000" y="3276600"/>
            <a:ext cx="6350000" cy="5588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l">
              <a:lnSpc>
                <a:spcPct val="100000"/>
              </a:lnSpc>
            </a:pPr>
            <a:r>
              <a:rPr lang="en-US" sz="2200" b="1" dirty="0">
                <a:solidFill>
                  <a:srgbClr val="263238"/>
                </a:solidFill>
                <a:latin typeface="微软雅黑" pitchFamily="34" charset="-122"/>
                <a:ea typeface="微软雅黑" pitchFamily="34" charset="-122"/>
                <a:cs typeface="微软雅黑" pitchFamily="34" charset="-120"/>
                <a:sym typeface="+mn-ea"/>
              </a:rPr>
              <a:t>Agent </a:t>
            </a:r>
            <a:r>
              <a:rPr lang="zh-CN" altLang="en-US" sz="2200" b="1" dirty="0">
                <a:solidFill>
                  <a:srgbClr val="263238"/>
                </a:solidFill>
                <a:latin typeface="微软雅黑" pitchFamily="34" charset="-122"/>
                <a:ea typeface="微软雅黑" pitchFamily="34" charset="-122"/>
                <a:cs typeface="微软雅黑" pitchFamily="34" charset="-120"/>
                <a:sym typeface="+mn-ea"/>
              </a:rPr>
              <a:t>编排与</a:t>
            </a:r>
            <a:r>
              <a:rPr lang="en-US" altLang="zh-CN" sz="2200" b="1" dirty="0">
                <a:solidFill>
                  <a:srgbClr val="263238"/>
                </a:solidFill>
                <a:latin typeface="微软雅黑" pitchFamily="34" charset="-122"/>
                <a:ea typeface="微软雅黑" pitchFamily="34" charset="-122"/>
                <a:cs typeface="微软雅黑" pitchFamily="34" charset="-120"/>
                <a:sym typeface="+mn-ea"/>
              </a:rPr>
              <a:t> </a:t>
            </a:r>
            <a:r>
              <a:rPr lang="en-US" sz="2200" b="1" dirty="0">
                <a:solidFill>
                  <a:srgbClr val="263238"/>
                </a:solidFill>
                <a:latin typeface="微软雅黑" pitchFamily="34" charset="-122"/>
                <a:ea typeface="微软雅黑" pitchFamily="34" charset="-122"/>
                <a:cs typeface="微软雅黑" pitchFamily="34" charset="-120"/>
                <a:sym typeface="+mn-ea"/>
              </a:rPr>
              <a:t>Harness </a:t>
            </a:r>
            <a:r>
              <a:rPr lang="zh-CN" altLang="en-US" sz="2200" b="1" dirty="0">
                <a:solidFill>
                  <a:srgbClr val="263238"/>
                </a:solidFill>
                <a:latin typeface="微软雅黑" pitchFamily="34" charset="-122"/>
                <a:ea typeface="微软雅黑" pitchFamily="34" charset="-122"/>
                <a:cs typeface="微软雅黑" pitchFamily="34" charset="-120"/>
                <a:sym typeface="+mn-ea"/>
              </a:rPr>
              <a:t>约束</a:t>
            </a:r>
            <a:endParaRPr lang="zh-CN" altLang="en-US" sz="2200" b="1" dirty="0">
              <a:solidFill>
                <a:srgbClr val="263238"/>
              </a:solidFill>
              <a:latin typeface="微软雅黑" pitchFamily="34" charset="-122"/>
              <a:ea typeface="微软雅黑" pitchFamily="34" charset="-122"/>
              <a:cs typeface="微软雅黑" pitchFamily="34" charset="-120"/>
              <a:sym typeface="+mn-ea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6096000" y="4114800"/>
            <a:ext cx="558800" cy="558800"/>
          </a:xfrm>
          <a:prstGeom prst="ellipse">
            <a:avLst/>
          </a:prstGeom>
          <a:solidFill>
            <a:srgbClr val="C00000"/>
          </a:solidFill>
        </p:spPr>
      </p:sp>
      <p:sp>
        <p:nvSpPr>
          <p:cNvPr id="11" name="Text 9"/>
          <p:cNvSpPr/>
          <p:nvPr/>
        </p:nvSpPr>
        <p:spPr>
          <a:xfrm>
            <a:off x="6096000" y="4114800"/>
            <a:ext cx="558800" cy="5588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2000" b="1" dirty="0">
                <a:solidFill>
                  <a:srgbClr val="FFFFFF"/>
                </a:solidFill>
                <a:latin typeface="微软雅黑" pitchFamily="34" charset="-122"/>
                <a:ea typeface="微软雅黑" pitchFamily="34" charset="-122"/>
                <a:cs typeface="MiSans" pitchFamily="34" charset="-120"/>
              </a:rPr>
              <a:t>3</a:t>
            </a:r>
            <a:endParaRPr lang="en-US" sz="2000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6858000" y="4114800"/>
            <a:ext cx="6350000" cy="5588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l">
              <a:lnSpc>
                <a:spcPct val="100000"/>
              </a:lnSpc>
            </a:pPr>
            <a:r>
              <a:rPr lang="zh-CN" altLang="en-US" sz="2200" b="1" dirty="0">
                <a:solidFill>
                  <a:srgbClr val="263238"/>
                </a:solidFill>
                <a:latin typeface="微软雅黑" pitchFamily="34" charset="-122"/>
                <a:ea typeface="微软雅黑" pitchFamily="34" charset="-122"/>
                <a:cs typeface="微软雅黑" pitchFamily="34" charset="-120"/>
                <a:sym typeface="+mn-ea"/>
              </a:rPr>
              <a:t>模型</a:t>
            </a:r>
            <a:r>
              <a:rPr lang="en-US" altLang="zh-CN" sz="2200" b="1" dirty="0">
                <a:solidFill>
                  <a:srgbClr val="263238"/>
                </a:solidFill>
                <a:latin typeface="微软雅黑" pitchFamily="34" charset="-122"/>
                <a:ea typeface="微软雅黑" pitchFamily="34" charset="-122"/>
                <a:cs typeface="微软雅黑" pitchFamily="34" charset="-120"/>
                <a:sym typeface="+mn-ea"/>
              </a:rPr>
              <a:t> Agent </a:t>
            </a:r>
            <a:r>
              <a:rPr lang="en-US" sz="2200" b="1" dirty="0">
                <a:solidFill>
                  <a:srgbClr val="263238"/>
                </a:solidFill>
                <a:latin typeface="微软雅黑" pitchFamily="34" charset="-122"/>
                <a:ea typeface="微软雅黑" pitchFamily="34" charset="-122"/>
                <a:cs typeface="微软雅黑" pitchFamily="34" charset="-120"/>
                <a:sym typeface="+mn-ea"/>
              </a:rPr>
              <a:t>体系全景</a:t>
            </a:r>
            <a:endParaRPr lang="en-US" sz="2200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3" name="Shape 11"/>
          <p:cNvSpPr/>
          <p:nvPr/>
        </p:nvSpPr>
        <p:spPr>
          <a:xfrm>
            <a:off x="6096000" y="4953000"/>
            <a:ext cx="558800" cy="558800"/>
          </a:xfrm>
          <a:prstGeom prst="ellipse">
            <a:avLst/>
          </a:prstGeom>
          <a:solidFill>
            <a:srgbClr val="C00000"/>
          </a:solidFill>
        </p:spPr>
      </p:sp>
      <p:sp>
        <p:nvSpPr>
          <p:cNvPr id="14" name="Text 12"/>
          <p:cNvSpPr/>
          <p:nvPr/>
        </p:nvSpPr>
        <p:spPr>
          <a:xfrm>
            <a:off x="6096000" y="4953000"/>
            <a:ext cx="558800" cy="5588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2000" b="1" dirty="0">
                <a:solidFill>
                  <a:srgbClr val="FFFFFF"/>
                </a:solidFill>
                <a:latin typeface="微软雅黑" pitchFamily="34" charset="-122"/>
                <a:ea typeface="微软雅黑" pitchFamily="34" charset="-122"/>
                <a:cs typeface="MiSans" pitchFamily="34" charset="-120"/>
              </a:rPr>
              <a:t>4</a:t>
            </a:r>
            <a:endParaRPr lang="en-US" sz="2000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6858000" y="4953000"/>
            <a:ext cx="6350000" cy="5588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l">
              <a:lnSpc>
                <a:spcPct val="100000"/>
              </a:lnSpc>
            </a:pPr>
            <a:r>
              <a:rPr lang="zh-CN" altLang="en-US" sz="2200" b="1" dirty="0">
                <a:solidFill>
                  <a:srgbClr val="263238"/>
                </a:solidFill>
                <a:latin typeface="微软雅黑" pitchFamily="34" charset="-122"/>
                <a:ea typeface="微软雅黑" pitchFamily="34" charset="-122"/>
                <a:cs typeface="微软雅黑" pitchFamily="34" charset="-120"/>
                <a:sym typeface="+mn-ea"/>
              </a:rPr>
              <a:t>模型</a:t>
            </a:r>
            <a:r>
              <a:rPr lang="en-US" altLang="zh-CN" sz="2200" b="1" dirty="0">
                <a:solidFill>
                  <a:srgbClr val="263238"/>
                </a:solidFill>
                <a:latin typeface="微软雅黑" pitchFamily="34" charset="-122"/>
                <a:ea typeface="微软雅黑" pitchFamily="34" charset="-122"/>
                <a:cs typeface="微软雅黑" pitchFamily="34" charset="-120"/>
                <a:sym typeface="+mn-ea"/>
              </a:rPr>
              <a:t> Agent </a:t>
            </a:r>
            <a:r>
              <a:rPr lang="zh-CN" altLang="en-US" sz="2200" b="1" dirty="0">
                <a:solidFill>
                  <a:srgbClr val="263238"/>
                </a:solidFill>
                <a:latin typeface="微软雅黑" pitchFamily="34" charset="-122"/>
                <a:ea typeface="微软雅黑" pitchFamily="34" charset="-122"/>
                <a:cs typeface="微软雅黑" pitchFamily="34" charset="-120"/>
                <a:sym typeface="+mn-ea"/>
              </a:rPr>
              <a:t>部署优化流程</a:t>
            </a:r>
            <a:endParaRPr lang="en-US" sz="2200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6" name="Shape 14"/>
          <p:cNvSpPr/>
          <p:nvPr/>
        </p:nvSpPr>
        <p:spPr>
          <a:xfrm>
            <a:off x="6096000" y="5791200"/>
            <a:ext cx="558800" cy="558800"/>
          </a:xfrm>
          <a:prstGeom prst="ellipse">
            <a:avLst/>
          </a:prstGeom>
          <a:solidFill>
            <a:srgbClr val="C00000"/>
          </a:solidFill>
        </p:spPr>
      </p:sp>
      <p:sp>
        <p:nvSpPr>
          <p:cNvPr id="17" name="Text 15"/>
          <p:cNvSpPr/>
          <p:nvPr/>
        </p:nvSpPr>
        <p:spPr>
          <a:xfrm>
            <a:off x="6096000" y="5791200"/>
            <a:ext cx="558800" cy="5588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2000" b="1" dirty="0">
                <a:solidFill>
                  <a:srgbClr val="FFFFFF"/>
                </a:solidFill>
                <a:latin typeface="微软雅黑" pitchFamily="34" charset="-122"/>
                <a:ea typeface="微软雅黑" pitchFamily="34" charset="-122"/>
                <a:cs typeface="MiSans" pitchFamily="34" charset="-120"/>
              </a:rPr>
              <a:t>5</a:t>
            </a:r>
            <a:endParaRPr lang="en-US" sz="2000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6858000" y="5791200"/>
            <a:ext cx="6350000" cy="5588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l">
              <a:lnSpc>
                <a:spcPct val="100000"/>
              </a:lnSpc>
            </a:pPr>
            <a:r>
              <a:rPr lang="en-US" sz="2200" b="1" dirty="0">
                <a:solidFill>
                  <a:srgbClr val="263238"/>
                </a:solidFill>
                <a:latin typeface="微软雅黑" pitchFamily="34" charset="-122"/>
                <a:ea typeface="微软雅黑" pitchFamily="34" charset="-122"/>
                <a:cs typeface="微软雅黑" pitchFamily="34" charset="-120"/>
                <a:sym typeface="+mn-ea"/>
              </a:rPr>
              <a:t>使用方式与展示</a:t>
            </a:r>
            <a:endParaRPr lang="en-US" sz="2200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825500" y="8178800"/>
            <a:ext cx="2540000" cy="3302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300" dirty="0">
                <a:solidFill>
                  <a:srgbClr val="7F7F7F"/>
                </a:solidFill>
                <a:latin typeface="微软雅黑" pitchFamily="34" charset="-122"/>
                <a:ea typeface="微软雅黑" pitchFamily="34" charset="-122"/>
                <a:cs typeface="MiSans" pitchFamily="34" charset="-120"/>
              </a:rPr>
              <a:t>https://gitcode.com/cann</a:t>
            </a:r>
            <a:endParaRPr lang="en-US" sz="1300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20" name="Text 18"/>
          <p:cNvSpPr/>
          <p:nvPr/>
        </p:nvSpPr>
        <p:spPr>
          <a:xfrm>
            <a:off x="7620000" y="8178800"/>
            <a:ext cx="1016000" cy="3302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endParaRPr lang="en-US" sz="1300" dirty="0">
              <a:latin typeface="微软雅黑" pitchFamily="34" charset="-122"/>
              <a:ea typeface="微软雅黑" pitchFamily="34" charset="-122"/>
            </a:endParaRPr>
          </a:p>
        </p:txBody>
      </p:sp>
      <p:pic>
        <p:nvPicPr>
          <p:cNvPr id="21" name="Image 0" descr="https://kimi-img.moonshot.cn/pub/slides/okc/4rfbomebqqupm/mnt/agents/output/template_pptd/images/image_2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512800" y="8051800"/>
            <a:ext cx="1752600" cy="469900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9144000"/>
          </a:xfrm>
          <a:prstGeom prst="rect">
            <a:avLst/>
          </a:prstGeom>
          <a:gradFill flip="none" rotWithShape="1">
            <a:gsLst>
              <a:gs pos="0">
                <a:srgbClr val="000000">
                  <a:alpha val="80000"/>
                </a:srgbClr>
              </a:gs>
              <a:gs pos="60000">
                <a:srgbClr val="000000">
                  <a:alpha val="60000"/>
                </a:srgbClr>
              </a:gs>
              <a:gs pos="100000">
                <a:srgbClr val="000000">
                  <a:alpha val="40000"/>
                </a:srgbClr>
              </a:gs>
            </a:gsLst>
            <a:lin ang="0" scaled="1"/>
          </a:gra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3" name="Text 1"/>
          <p:cNvSpPr/>
          <p:nvPr/>
        </p:nvSpPr>
        <p:spPr>
          <a:xfrm>
            <a:off x="1270000" y="2189480"/>
            <a:ext cx="2540000" cy="127000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9600" dirty="0">
                <a:solidFill>
                  <a:srgbClr val="FFFFFF"/>
                </a:solidFill>
                <a:latin typeface="微软雅黑" pitchFamily="34" charset="-122"/>
                <a:ea typeface="微软雅黑" pitchFamily="34" charset="-122"/>
                <a:cs typeface="MiSans" pitchFamily="34" charset="-120"/>
              </a:rPr>
              <a:t>01</a:t>
            </a:r>
            <a:endParaRPr lang="en-US" sz="9600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4" name="Text 2"/>
          <p:cNvSpPr/>
          <p:nvPr/>
        </p:nvSpPr>
        <p:spPr>
          <a:xfrm>
            <a:off x="1270000" y="3557016"/>
            <a:ext cx="10160000" cy="7620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l">
              <a:lnSpc>
                <a:spcPct val="100000"/>
              </a:lnSpc>
            </a:pPr>
            <a:r>
              <a:rPr lang="en-US" sz="4400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  <a:cs typeface="微软雅黑" pitchFamily="34" charset="-120"/>
                <a:sym typeface="+mn-ea"/>
              </a:rPr>
              <a:t>Agent </a:t>
            </a:r>
            <a:r>
              <a:rPr lang="zh-CN" altLang="en-US" sz="4400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  <a:cs typeface="微软雅黑" pitchFamily="34" charset="-120"/>
                <a:sym typeface="+mn-ea"/>
              </a:rPr>
              <a:t>基础</a:t>
            </a:r>
            <a:r>
              <a:rPr lang="en-US" altLang="zh-CN" sz="4400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  <a:cs typeface="微软雅黑" pitchFamily="34" charset="-120"/>
                <a:sym typeface="+mn-ea"/>
              </a:rPr>
              <a:t>：</a:t>
            </a:r>
            <a:r>
              <a:rPr lang="en-US" sz="4400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  <a:cs typeface="微软雅黑" pitchFamily="34" charset="-120"/>
                <a:sym typeface="+mn-ea"/>
              </a:rPr>
              <a:t>能力与边界</a:t>
            </a:r>
            <a:endParaRPr lang="en-US" sz="4400" b="1" dirty="0">
              <a:solidFill>
                <a:schemeClr val="bg1"/>
              </a:solidFill>
              <a:latin typeface="微软雅黑" pitchFamily="34" charset="-122"/>
              <a:ea typeface="微软雅黑" pitchFamily="34" charset="-122"/>
              <a:cs typeface="微软雅黑" pitchFamily="34" charset="-120"/>
              <a:sym typeface="+mn-ea"/>
            </a:endParaRPr>
          </a:p>
        </p:txBody>
      </p:sp>
      <p:sp>
        <p:nvSpPr>
          <p:cNvPr id="5" name="Text 3"/>
          <p:cNvSpPr/>
          <p:nvPr/>
        </p:nvSpPr>
        <p:spPr>
          <a:xfrm>
            <a:off x="1270000" y="4445000"/>
            <a:ext cx="10160000" cy="508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l">
              <a:lnSpc>
                <a:spcPct val="150000"/>
              </a:lnSpc>
            </a:pPr>
            <a:r>
              <a:rPr lang="en-US" sz="2000" dirty="0">
                <a:solidFill>
                  <a:srgbClr val="FFFFFF"/>
                </a:solidFill>
                <a:latin typeface="微软雅黑" pitchFamily="34" charset="-122"/>
                <a:ea typeface="微软雅黑" pitchFamily="34" charset="-122"/>
                <a:cs typeface="MiSans" pitchFamily="34" charset="-120"/>
              </a:rPr>
              <a:t>通用 Agent 能做什么，又为什么在长链路优化任务上失效</a:t>
            </a:r>
            <a:endParaRPr lang="en-US" sz="2000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6" name="Text 4"/>
          <p:cNvSpPr/>
          <p:nvPr/>
        </p:nvSpPr>
        <p:spPr>
          <a:xfrm>
            <a:off x="825500" y="8178800"/>
            <a:ext cx="2540000" cy="3302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300" dirty="0">
                <a:solidFill>
                  <a:srgbClr val="7F7F7F"/>
                </a:solidFill>
                <a:latin typeface="微软雅黑" pitchFamily="34" charset="-122"/>
                <a:ea typeface="微软雅黑" pitchFamily="34" charset="-122"/>
                <a:cs typeface="MiSans" pitchFamily="34" charset="-120"/>
              </a:rPr>
              <a:t>https://gitcode.com/cann</a:t>
            </a:r>
            <a:endParaRPr lang="en-US" sz="1300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7" name="Text 5"/>
          <p:cNvSpPr/>
          <p:nvPr/>
        </p:nvSpPr>
        <p:spPr>
          <a:xfrm>
            <a:off x="7620000" y="8178800"/>
            <a:ext cx="1016000" cy="3302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endParaRPr lang="en-US" sz="1300" dirty="0">
              <a:latin typeface="微软雅黑" pitchFamily="34" charset="-122"/>
              <a:ea typeface="微软雅黑" pitchFamily="34" charset="-122"/>
            </a:endParaRPr>
          </a:p>
        </p:txBody>
      </p:sp>
      <p:pic>
        <p:nvPicPr>
          <p:cNvPr id="8" name="Image 0" descr="https://kimi-img.moonshot.cn/pub/slides/okc/4rfbomebqqupm/mnt/agents/output/template_pptd/images/image_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512800" y="8051800"/>
            <a:ext cx="1752600" cy="469900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ext 28"/>
          <p:cNvSpPr/>
          <p:nvPr/>
        </p:nvSpPr>
        <p:spPr>
          <a:xfrm>
            <a:off x="825500" y="8178800"/>
            <a:ext cx="2540000" cy="3302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300" dirty="0">
                <a:solidFill>
                  <a:srgbClr val="7F7F7F"/>
                </a:solidFill>
                <a:latin typeface="微软雅黑" pitchFamily="34" charset="-122"/>
                <a:ea typeface="微软雅黑" pitchFamily="34" charset="-122"/>
                <a:cs typeface="MiSans" pitchFamily="34" charset="-120"/>
              </a:rPr>
              <a:t>https://gitcode.com/cann</a:t>
            </a:r>
            <a:endParaRPr lang="en-US" sz="1300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32" name="Text 29"/>
          <p:cNvSpPr/>
          <p:nvPr/>
        </p:nvSpPr>
        <p:spPr>
          <a:xfrm>
            <a:off x="7620000" y="8178800"/>
            <a:ext cx="1016000" cy="3302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fld id="{BECCB9D5-34B9-46F8-A2E1-A9137EFD752B}" type="slidenum">
              <a:rPr lang="en-US" sz="1300" dirty="0">
                <a:solidFill>
                  <a:srgbClr val="7F7F7F"/>
                </a:solidFill>
                <a:latin typeface="微软雅黑" pitchFamily="34" charset="-122"/>
                <a:ea typeface="微软雅黑" pitchFamily="34" charset="-122"/>
                <a:cs typeface="MiSans" pitchFamily="34" charset="-120"/>
              </a:rPr>
            </a:fld>
            <a:endParaRPr lang="en-US" sz="1300" dirty="0">
              <a:latin typeface="微软雅黑" pitchFamily="34" charset="-122"/>
              <a:ea typeface="微软雅黑" pitchFamily="34" charset="-122"/>
            </a:endParaRPr>
          </a:p>
        </p:txBody>
      </p:sp>
      <p:pic>
        <p:nvPicPr>
          <p:cNvPr id="33" name="Image 0" descr="https://kimi-img.moonshot.cn/pub/slides/okc/4rfbomebqqupm/mnt/agents/output/template_pptd/images/image_2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512800" y="8051800"/>
            <a:ext cx="1752600" cy="469900"/>
          </a:xfrm>
          <a:prstGeom prst="rect">
            <a:avLst/>
          </a:prstGeom>
        </p:spPr>
      </p:pic>
      <p:sp>
        <p:nvSpPr>
          <p:cNvPr id="2" name="Text 0"/>
          <p:cNvSpPr/>
          <p:nvPr/>
        </p:nvSpPr>
        <p:spPr>
          <a:xfrm>
            <a:off x="762000" y="355600"/>
            <a:ext cx="11430000" cy="5715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l">
              <a:lnSpc>
                <a:spcPct val="100000"/>
              </a:lnSpc>
            </a:pPr>
            <a:r>
              <a:rPr lang="zh-CN" altLang="en-US" sz="3200" b="1" dirty="0">
                <a:solidFill>
                  <a:srgbClr val="333333"/>
                </a:solidFill>
                <a:latin typeface="微软雅黑" pitchFamily="34" charset="-122"/>
                <a:ea typeface="微软雅黑" pitchFamily="34" charset="-122"/>
                <a:cs typeface="微软雅黑" pitchFamily="34" charset="-120"/>
                <a:sym typeface="+mn-ea"/>
              </a:rPr>
              <a:t>体系构成：Agent 与 Skill</a:t>
            </a:r>
            <a:endParaRPr lang="en-US" sz="3200" b="1" dirty="0">
              <a:solidFill>
                <a:schemeClr val="tx1"/>
              </a:solidFill>
              <a:latin typeface="微软雅黑" pitchFamily="34" charset="-122"/>
              <a:ea typeface="微软雅黑" pitchFamily="34" charset="-122"/>
              <a:cs typeface="微软雅黑" pitchFamily="34" charset="-120"/>
              <a:sym typeface="+mn-ea"/>
            </a:endParaRPr>
          </a:p>
        </p:txBody>
      </p:sp>
      <p:sp>
        <p:nvSpPr>
          <p:cNvPr id="13" name="Shape 10"/>
          <p:cNvSpPr/>
          <p:nvPr/>
        </p:nvSpPr>
        <p:spPr>
          <a:xfrm>
            <a:off x="1014984" y="1042416"/>
            <a:ext cx="14228064" cy="0"/>
          </a:xfrm>
          <a:prstGeom prst="straightConnector1">
            <a:avLst/>
          </a:prstGeom>
          <a:noFill/>
          <a:ln w="12700">
            <a:solidFill>
              <a:srgbClr val="E0E0E0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3" name="Shape 4"/>
          <p:cNvSpPr/>
          <p:nvPr/>
        </p:nvSpPr>
        <p:spPr>
          <a:xfrm>
            <a:off x="1014984" y="1243584"/>
            <a:ext cx="283464" cy="283464"/>
          </a:xfrm>
          <a:custGeom>
            <a:avLst/>
            <a:gdLst/>
            <a:ahLst/>
            <a:cxnLst/>
            <a:rect l="l" t="t" r="r" b="b"/>
            <a:pathLst>
              <a:path w="314325" h="279400">
                <a:moveTo>
                  <a:pt x="26194" y="13097"/>
                </a:moveTo>
                <a:cubicBezTo>
                  <a:pt x="26194" y="5839"/>
                  <a:pt x="20355" y="0"/>
                  <a:pt x="13097" y="0"/>
                </a:cubicBezTo>
                <a:cubicBezTo>
                  <a:pt x="5839" y="0"/>
                  <a:pt x="0" y="5839"/>
                  <a:pt x="0" y="13097"/>
                </a:cubicBezTo>
                <a:lnTo>
                  <a:pt x="0" y="213916"/>
                </a:lnTo>
                <a:cubicBezTo>
                  <a:pt x="0" y="230778"/>
                  <a:pt x="13697" y="244475"/>
                  <a:pt x="30559" y="244475"/>
                </a:cubicBezTo>
                <a:lnTo>
                  <a:pt x="130969" y="244475"/>
                </a:lnTo>
                <a:lnTo>
                  <a:pt x="130969" y="218281"/>
                </a:lnTo>
                <a:lnTo>
                  <a:pt x="30559" y="218281"/>
                </a:lnTo>
                <a:cubicBezTo>
                  <a:pt x="28158" y="218281"/>
                  <a:pt x="26194" y="216317"/>
                  <a:pt x="26194" y="213916"/>
                </a:cubicBezTo>
                <a:lnTo>
                  <a:pt x="26194" y="87313"/>
                </a:lnTo>
                <a:lnTo>
                  <a:pt x="130969" y="87313"/>
                </a:lnTo>
                <a:lnTo>
                  <a:pt x="130969" y="61119"/>
                </a:lnTo>
                <a:lnTo>
                  <a:pt x="26194" y="61119"/>
                </a:lnTo>
                <a:lnTo>
                  <a:pt x="26194" y="13097"/>
                </a:lnTo>
                <a:close/>
                <a:moveTo>
                  <a:pt x="183356" y="122238"/>
                </a:moveTo>
                <a:lnTo>
                  <a:pt x="288131" y="122238"/>
                </a:lnTo>
                <a:cubicBezTo>
                  <a:pt x="302592" y="122238"/>
                  <a:pt x="314325" y="110505"/>
                  <a:pt x="314325" y="96044"/>
                </a:cubicBezTo>
                <a:lnTo>
                  <a:pt x="314325" y="43656"/>
                </a:lnTo>
                <a:cubicBezTo>
                  <a:pt x="314325" y="29195"/>
                  <a:pt x="302592" y="17463"/>
                  <a:pt x="288131" y="17463"/>
                </a:cubicBezTo>
                <a:lnTo>
                  <a:pt x="243002" y="17463"/>
                </a:lnTo>
                <a:cubicBezTo>
                  <a:pt x="238363" y="17463"/>
                  <a:pt x="233943" y="15607"/>
                  <a:pt x="230669" y="12333"/>
                </a:cubicBezTo>
                <a:lnTo>
                  <a:pt x="225976" y="7640"/>
                </a:lnTo>
                <a:cubicBezTo>
                  <a:pt x="221064" y="2729"/>
                  <a:pt x="214407" y="-55"/>
                  <a:pt x="207476" y="-55"/>
                </a:cubicBezTo>
                <a:lnTo>
                  <a:pt x="183356" y="0"/>
                </a:lnTo>
                <a:cubicBezTo>
                  <a:pt x="168895" y="0"/>
                  <a:pt x="157163" y="11733"/>
                  <a:pt x="157163" y="26194"/>
                </a:cubicBezTo>
                <a:lnTo>
                  <a:pt x="157163" y="96044"/>
                </a:lnTo>
                <a:cubicBezTo>
                  <a:pt x="157163" y="110505"/>
                  <a:pt x="168895" y="122238"/>
                  <a:pt x="183356" y="122238"/>
                </a:cubicBezTo>
                <a:close/>
                <a:moveTo>
                  <a:pt x="183356" y="279400"/>
                </a:moveTo>
                <a:lnTo>
                  <a:pt x="288131" y="279400"/>
                </a:lnTo>
                <a:cubicBezTo>
                  <a:pt x="302592" y="279400"/>
                  <a:pt x="314325" y="267667"/>
                  <a:pt x="314325" y="253206"/>
                </a:cubicBezTo>
                <a:lnTo>
                  <a:pt x="314325" y="200819"/>
                </a:lnTo>
                <a:cubicBezTo>
                  <a:pt x="314325" y="186358"/>
                  <a:pt x="302592" y="174625"/>
                  <a:pt x="288131" y="174625"/>
                </a:cubicBezTo>
                <a:lnTo>
                  <a:pt x="243002" y="174625"/>
                </a:lnTo>
                <a:cubicBezTo>
                  <a:pt x="238363" y="174625"/>
                  <a:pt x="233943" y="172770"/>
                  <a:pt x="230669" y="169495"/>
                </a:cubicBezTo>
                <a:lnTo>
                  <a:pt x="225976" y="164802"/>
                </a:lnTo>
                <a:cubicBezTo>
                  <a:pt x="221064" y="159891"/>
                  <a:pt x="214407" y="157108"/>
                  <a:pt x="207476" y="157108"/>
                </a:cubicBezTo>
                <a:lnTo>
                  <a:pt x="183356" y="157163"/>
                </a:lnTo>
                <a:cubicBezTo>
                  <a:pt x="168895" y="157163"/>
                  <a:pt x="157163" y="168895"/>
                  <a:pt x="157163" y="183356"/>
                </a:cubicBezTo>
                <a:lnTo>
                  <a:pt x="157163" y="253206"/>
                </a:lnTo>
                <a:cubicBezTo>
                  <a:pt x="157163" y="267667"/>
                  <a:pt x="168895" y="279400"/>
                  <a:pt x="183356" y="279400"/>
                </a:cubicBezTo>
                <a:close/>
              </a:path>
            </a:pathLst>
          </a:custGeom>
          <a:solidFill>
            <a:srgbClr val="C00000"/>
          </a:solidFill>
        </p:spPr>
        <p:txBody>
          <a:bodyPr/>
          <a:lstStyle/>
          <a:p>
            <a:endParaRPr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5" name="Text 12"/>
          <p:cNvSpPr/>
          <p:nvPr/>
        </p:nvSpPr>
        <p:spPr>
          <a:xfrm>
            <a:off x="1371600" y="1225296"/>
            <a:ext cx="6345936" cy="329184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b="1" dirty="0">
                <a:solidFill>
                  <a:srgbClr val="333333"/>
                </a:solidFill>
                <a:latin typeface="微软雅黑" pitchFamily="34" charset="-122"/>
                <a:ea typeface="微软雅黑" pitchFamily="34" charset="-122"/>
                <a:cs typeface="微软雅黑" pitchFamily="34" charset="-120"/>
              </a:rPr>
              <a:t>Agent 的运行方式</a:t>
            </a:r>
            <a:endParaRPr lang="en-US" sz="1600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8" name="Text 15"/>
          <p:cNvSpPr/>
          <p:nvPr/>
        </p:nvSpPr>
        <p:spPr>
          <a:xfrm>
            <a:off x="1014984" y="1645920"/>
            <a:ext cx="14228064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600" b="0" dirty="0">
                <a:solidFill>
                  <a:srgbClr val="595959"/>
                </a:solidFill>
                <a:latin typeface="微软雅黑" pitchFamily="34" charset="-122"/>
                <a:ea typeface="微软雅黑" pitchFamily="34" charset="-122"/>
                <a:cs typeface="微软雅黑" pitchFamily="34" charset="-120"/>
              </a:rPr>
              <a:t>Agent 由模型自主选择并调用工具，根据返回结果决定下一步动作，如此往复直至满足完成条件。</a:t>
            </a:r>
            <a:endParaRPr lang="en-US" sz="1600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8" name="Shape 6"/>
          <p:cNvSpPr/>
          <p:nvPr/>
        </p:nvSpPr>
        <p:spPr>
          <a:xfrm>
            <a:off x="1014984" y="1993392"/>
            <a:ext cx="3310128" cy="868680"/>
          </a:xfrm>
          <a:prstGeom prst="roundRect">
            <a:avLst>
              <a:gd name="adj" fmla="val 5000"/>
            </a:avLst>
          </a:prstGeom>
          <a:solidFill>
            <a:srgbClr val="F2F2F2"/>
          </a:solidFill>
        </p:spPr>
        <p:txBody>
          <a:bodyPr/>
          <a:lstStyle/>
          <a:p>
            <a:endParaRPr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9" name="Shape 7"/>
          <p:cNvSpPr/>
          <p:nvPr/>
        </p:nvSpPr>
        <p:spPr>
          <a:xfrm>
            <a:off x="1014984" y="1993392"/>
            <a:ext cx="3310128" cy="54864"/>
          </a:xfrm>
          <a:prstGeom prst="rect">
            <a:avLst/>
          </a:prstGeom>
          <a:solidFill>
            <a:srgbClr val="C00000"/>
          </a:solidFill>
        </p:spPr>
        <p:txBody>
          <a:bodyPr/>
          <a:lstStyle/>
          <a:p>
            <a:endParaRPr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0" name="Text 8"/>
          <p:cNvSpPr/>
          <p:nvPr/>
        </p:nvSpPr>
        <p:spPr>
          <a:xfrm>
            <a:off x="1170432" y="2121408"/>
            <a:ext cx="2999232" cy="6126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5000"/>
              </a:lnSpc>
            </a:pPr>
            <a:r>
              <a:rPr lang="en-US" sz="1500" b="1" dirty="0">
                <a:solidFill>
                  <a:srgbClr val="333333"/>
                </a:solidFill>
                <a:latin typeface="微软雅黑" pitchFamily="34" charset="-122"/>
                <a:ea typeface="微软雅黑" pitchFamily="34" charset="-122"/>
                <a:cs typeface="微软雅黑" pitchFamily="34" charset="-120"/>
              </a:rPr>
              <a:t>观察</a:t>
            </a:r>
            <a:endParaRPr lang="en-US" sz="1600" dirty="0">
              <a:latin typeface="微软雅黑" pitchFamily="34" charset="-122"/>
              <a:ea typeface="微软雅黑" pitchFamily="34" charset="-122"/>
            </a:endParaRPr>
          </a:p>
          <a:p>
            <a:r>
              <a:rPr lang="en-US" sz="1200" b="0" dirty="0">
                <a:solidFill>
                  <a:srgbClr val="7F7F7F"/>
                </a:solidFill>
                <a:latin typeface="微软雅黑" pitchFamily="34" charset="-122"/>
                <a:ea typeface="微软雅黑" pitchFamily="34" charset="-122"/>
                <a:cs typeface="微软雅黑" pitchFamily="34" charset="-120"/>
              </a:rPr>
              <a:t>读取代码、日志与上一步的执行结果</a:t>
            </a:r>
            <a:endParaRPr lang="en-US" sz="1200" b="0" dirty="0">
              <a:solidFill>
                <a:srgbClr val="7F7F7F"/>
              </a:solidFill>
              <a:latin typeface="微软雅黑" pitchFamily="34" charset="-122"/>
              <a:ea typeface="微软雅黑" pitchFamily="34" charset="-122"/>
              <a:cs typeface="微软雅黑" pitchFamily="34" charset="-120"/>
            </a:endParaRPr>
          </a:p>
        </p:txBody>
      </p:sp>
      <p:sp>
        <p:nvSpPr>
          <p:cNvPr id="4" name="Text 8"/>
          <p:cNvSpPr/>
          <p:nvPr/>
        </p:nvSpPr>
        <p:spPr>
          <a:xfrm>
            <a:off x="4343400" y="2267712"/>
            <a:ext cx="283464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5000"/>
              </a:lnSpc>
            </a:pPr>
            <a:r>
              <a:rPr lang="en-US" sz="1400" b="0" dirty="0">
                <a:solidFill>
                  <a:srgbClr val="7F7F7F"/>
                </a:solidFill>
                <a:latin typeface="微软雅黑" pitchFamily="34" charset="-122"/>
                <a:ea typeface="微软雅黑" pitchFamily="34" charset="-122"/>
                <a:cs typeface="微软雅黑" pitchFamily="34" charset="-120"/>
              </a:rPr>
              <a:t>→</a:t>
            </a:r>
            <a:endParaRPr lang="en-US" sz="1600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5" name="Shape 6"/>
          <p:cNvSpPr/>
          <p:nvPr/>
        </p:nvSpPr>
        <p:spPr>
          <a:xfrm>
            <a:off x="4645152" y="1993392"/>
            <a:ext cx="3310128" cy="868680"/>
          </a:xfrm>
          <a:prstGeom prst="roundRect">
            <a:avLst>
              <a:gd name="adj" fmla="val 5000"/>
            </a:avLst>
          </a:prstGeom>
          <a:solidFill>
            <a:srgbClr val="F2F2F2"/>
          </a:solidFill>
        </p:spPr>
        <p:txBody>
          <a:bodyPr/>
          <a:lstStyle/>
          <a:p>
            <a:endParaRPr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7" name="Shape 7"/>
          <p:cNvSpPr/>
          <p:nvPr/>
        </p:nvSpPr>
        <p:spPr>
          <a:xfrm>
            <a:off x="4645152" y="1993392"/>
            <a:ext cx="3310128" cy="54864"/>
          </a:xfrm>
          <a:prstGeom prst="rect">
            <a:avLst/>
          </a:prstGeom>
          <a:solidFill>
            <a:srgbClr val="C00000"/>
          </a:solidFill>
        </p:spPr>
        <p:txBody>
          <a:bodyPr/>
          <a:lstStyle/>
          <a:p>
            <a:endParaRPr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1" name="Text 8"/>
          <p:cNvSpPr/>
          <p:nvPr/>
        </p:nvSpPr>
        <p:spPr>
          <a:xfrm>
            <a:off x="4800600" y="2121408"/>
            <a:ext cx="2999232" cy="6126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5000"/>
              </a:lnSpc>
            </a:pPr>
            <a:r>
              <a:rPr lang="en-US" sz="1500" b="1" dirty="0">
                <a:solidFill>
                  <a:srgbClr val="333333"/>
                </a:solidFill>
                <a:latin typeface="微软雅黑" pitchFamily="34" charset="-122"/>
                <a:ea typeface="微软雅黑" pitchFamily="34" charset="-122"/>
                <a:cs typeface="微软雅黑" pitchFamily="34" charset="-120"/>
              </a:rPr>
              <a:t>决策</a:t>
            </a:r>
            <a:endParaRPr lang="en-US" sz="1600" dirty="0">
              <a:latin typeface="微软雅黑" pitchFamily="34" charset="-122"/>
              <a:ea typeface="微软雅黑" pitchFamily="34" charset="-122"/>
            </a:endParaRPr>
          </a:p>
          <a:p>
            <a:r>
              <a:rPr lang="en-US" sz="1200" b="0" dirty="0">
                <a:solidFill>
                  <a:srgbClr val="7F7F7F"/>
                </a:solidFill>
                <a:latin typeface="微软雅黑" pitchFamily="34" charset="-122"/>
                <a:ea typeface="微软雅黑" pitchFamily="34" charset="-122"/>
                <a:cs typeface="微软雅黑" pitchFamily="34" charset="-120"/>
              </a:rPr>
              <a:t>由模型判断下一步动作</a:t>
            </a:r>
            <a:endParaRPr lang="en-US" sz="1200" b="0" dirty="0">
              <a:solidFill>
                <a:srgbClr val="7F7F7F"/>
              </a:solidFill>
              <a:latin typeface="微软雅黑" pitchFamily="34" charset="-122"/>
              <a:ea typeface="微软雅黑" pitchFamily="34" charset="-122"/>
              <a:cs typeface="微软雅黑" pitchFamily="34" charset="-120"/>
            </a:endParaRPr>
          </a:p>
        </p:txBody>
      </p:sp>
      <p:sp>
        <p:nvSpPr>
          <p:cNvPr id="12" name="Text 8"/>
          <p:cNvSpPr/>
          <p:nvPr/>
        </p:nvSpPr>
        <p:spPr>
          <a:xfrm>
            <a:off x="7973568" y="2267712"/>
            <a:ext cx="283464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5000"/>
              </a:lnSpc>
            </a:pPr>
            <a:r>
              <a:rPr lang="en-US" sz="1400" b="0" dirty="0">
                <a:solidFill>
                  <a:srgbClr val="7F7F7F"/>
                </a:solidFill>
                <a:latin typeface="微软雅黑" pitchFamily="34" charset="-122"/>
                <a:ea typeface="微软雅黑" pitchFamily="34" charset="-122"/>
                <a:cs typeface="微软雅黑" pitchFamily="34" charset="-120"/>
              </a:rPr>
              <a:t>→</a:t>
            </a:r>
            <a:endParaRPr lang="en-US" sz="1600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4" name="Shape 6"/>
          <p:cNvSpPr/>
          <p:nvPr/>
        </p:nvSpPr>
        <p:spPr>
          <a:xfrm>
            <a:off x="8275320" y="1993392"/>
            <a:ext cx="3310128" cy="868680"/>
          </a:xfrm>
          <a:prstGeom prst="roundRect">
            <a:avLst>
              <a:gd name="adj" fmla="val 5000"/>
            </a:avLst>
          </a:prstGeom>
          <a:solidFill>
            <a:srgbClr val="F2F2F2"/>
          </a:solidFill>
        </p:spPr>
        <p:txBody>
          <a:bodyPr/>
          <a:lstStyle/>
          <a:p>
            <a:endParaRPr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6" name="Shape 7"/>
          <p:cNvSpPr/>
          <p:nvPr/>
        </p:nvSpPr>
        <p:spPr>
          <a:xfrm>
            <a:off x="8275320" y="1993392"/>
            <a:ext cx="3310128" cy="54864"/>
          </a:xfrm>
          <a:prstGeom prst="rect">
            <a:avLst/>
          </a:prstGeom>
          <a:solidFill>
            <a:srgbClr val="C00000"/>
          </a:solidFill>
        </p:spPr>
        <p:txBody>
          <a:bodyPr/>
          <a:lstStyle/>
          <a:p>
            <a:endParaRPr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9" name="Text 8"/>
          <p:cNvSpPr/>
          <p:nvPr/>
        </p:nvSpPr>
        <p:spPr>
          <a:xfrm>
            <a:off x="8430768" y="2121408"/>
            <a:ext cx="2999232" cy="6126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5000"/>
              </a:lnSpc>
            </a:pPr>
            <a:r>
              <a:rPr lang="en-US" sz="1500" b="1" dirty="0">
                <a:solidFill>
                  <a:srgbClr val="333333"/>
                </a:solidFill>
                <a:latin typeface="微软雅黑" pitchFamily="34" charset="-122"/>
                <a:ea typeface="微软雅黑" pitchFamily="34" charset="-122"/>
                <a:cs typeface="微软雅黑" pitchFamily="34" charset="-120"/>
              </a:rPr>
              <a:t>行动</a:t>
            </a:r>
            <a:endParaRPr lang="en-US" sz="1600" dirty="0">
              <a:latin typeface="微软雅黑" pitchFamily="34" charset="-122"/>
              <a:ea typeface="微软雅黑" pitchFamily="34" charset="-122"/>
            </a:endParaRPr>
          </a:p>
          <a:p>
            <a:r>
              <a:rPr lang="en-US" sz="1200" b="0" dirty="0">
                <a:solidFill>
                  <a:srgbClr val="7F7F7F"/>
                </a:solidFill>
                <a:latin typeface="微软雅黑" pitchFamily="34" charset="-122"/>
                <a:ea typeface="微软雅黑" pitchFamily="34" charset="-122"/>
                <a:cs typeface="微软雅黑" pitchFamily="34" charset="-120"/>
              </a:rPr>
              <a:t>调用工具，产生文件改动等实际副作用</a:t>
            </a:r>
            <a:endParaRPr lang="en-US" sz="1200" b="0" dirty="0">
              <a:solidFill>
                <a:srgbClr val="7F7F7F"/>
              </a:solidFill>
              <a:latin typeface="微软雅黑" pitchFamily="34" charset="-122"/>
              <a:ea typeface="微软雅黑" pitchFamily="34" charset="-122"/>
              <a:cs typeface="微软雅黑" pitchFamily="34" charset="-120"/>
            </a:endParaRPr>
          </a:p>
        </p:txBody>
      </p:sp>
      <p:sp>
        <p:nvSpPr>
          <p:cNvPr id="20" name="Text 8"/>
          <p:cNvSpPr/>
          <p:nvPr/>
        </p:nvSpPr>
        <p:spPr>
          <a:xfrm>
            <a:off x="11603736" y="2267712"/>
            <a:ext cx="283464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5000"/>
              </a:lnSpc>
            </a:pPr>
            <a:r>
              <a:rPr lang="en-US" sz="1400" b="0" dirty="0">
                <a:solidFill>
                  <a:srgbClr val="7F7F7F"/>
                </a:solidFill>
                <a:latin typeface="微软雅黑" pitchFamily="34" charset="-122"/>
                <a:ea typeface="微软雅黑" pitchFamily="34" charset="-122"/>
                <a:cs typeface="微软雅黑" pitchFamily="34" charset="-120"/>
              </a:rPr>
              <a:t>→</a:t>
            </a:r>
            <a:endParaRPr lang="en-US" sz="1600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21" name="Shape 6"/>
          <p:cNvSpPr/>
          <p:nvPr/>
        </p:nvSpPr>
        <p:spPr>
          <a:xfrm>
            <a:off x="11905488" y="1993392"/>
            <a:ext cx="3310128" cy="868680"/>
          </a:xfrm>
          <a:prstGeom prst="roundRect">
            <a:avLst>
              <a:gd name="adj" fmla="val 5000"/>
            </a:avLst>
          </a:prstGeom>
          <a:solidFill>
            <a:srgbClr val="F2F2F2"/>
          </a:solidFill>
        </p:spPr>
        <p:txBody>
          <a:bodyPr/>
          <a:lstStyle/>
          <a:p>
            <a:endParaRPr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22" name="Shape 7"/>
          <p:cNvSpPr/>
          <p:nvPr/>
        </p:nvSpPr>
        <p:spPr>
          <a:xfrm>
            <a:off x="11905488" y="1993392"/>
            <a:ext cx="3310128" cy="54864"/>
          </a:xfrm>
          <a:prstGeom prst="rect">
            <a:avLst/>
          </a:prstGeom>
          <a:solidFill>
            <a:srgbClr val="C00000"/>
          </a:solidFill>
        </p:spPr>
        <p:txBody>
          <a:bodyPr/>
          <a:lstStyle/>
          <a:p>
            <a:endParaRPr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23" name="Text 8"/>
          <p:cNvSpPr/>
          <p:nvPr/>
        </p:nvSpPr>
        <p:spPr>
          <a:xfrm>
            <a:off x="12060936" y="2121408"/>
            <a:ext cx="2999232" cy="6126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5000"/>
              </a:lnSpc>
            </a:pPr>
            <a:r>
              <a:rPr lang="en-US" sz="1500" b="1" dirty="0">
                <a:solidFill>
                  <a:srgbClr val="333333"/>
                </a:solidFill>
                <a:latin typeface="微软雅黑" pitchFamily="34" charset="-122"/>
                <a:ea typeface="微软雅黑" pitchFamily="34" charset="-122"/>
                <a:cs typeface="微软雅黑" pitchFamily="34" charset="-120"/>
              </a:rPr>
              <a:t>反馈</a:t>
            </a:r>
            <a:endParaRPr lang="en-US" sz="1600" dirty="0">
              <a:latin typeface="微软雅黑" pitchFamily="34" charset="-122"/>
              <a:ea typeface="微软雅黑" pitchFamily="34" charset="-122"/>
            </a:endParaRPr>
          </a:p>
          <a:p>
            <a:r>
              <a:rPr lang="en-US" sz="1200" b="0" dirty="0">
                <a:solidFill>
                  <a:srgbClr val="7F7F7F"/>
                </a:solidFill>
                <a:latin typeface="微软雅黑" pitchFamily="34" charset="-122"/>
                <a:ea typeface="微软雅黑" pitchFamily="34" charset="-122"/>
                <a:cs typeface="微软雅黑" pitchFamily="34" charset="-120"/>
              </a:rPr>
              <a:t>收集运行结果与错误信息，回到观察</a:t>
            </a:r>
            <a:endParaRPr lang="en-US" sz="1200" b="0" dirty="0">
              <a:solidFill>
                <a:srgbClr val="7F7F7F"/>
              </a:solidFill>
              <a:latin typeface="微软雅黑" pitchFamily="34" charset="-122"/>
              <a:ea typeface="微软雅黑" pitchFamily="34" charset="-122"/>
              <a:cs typeface="微软雅黑" pitchFamily="34" charset="-120"/>
            </a:endParaRPr>
          </a:p>
        </p:txBody>
      </p:sp>
      <p:sp>
        <p:nvSpPr>
          <p:cNvPr id="24" name="Text 15"/>
          <p:cNvSpPr/>
          <p:nvPr/>
        </p:nvSpPr>
        <p:spPr>
          <a:xfrm>
            <a:off x="1014984" y="2944368"/>
            <a:ext cx="14228064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400" b="0" dirty="0">
                <a:solidFill>
                  <a:srgbClr val="595959"/>
                </a:solidFill>
                <a:latin typeface="微软雅黑" pitchFamily="34" charset="-122"/>
                <a:ea typeface="微软雅黑" pitchFamily="34" charset="-122"/>
                <a:cs typeface="微软雅黑" pitchFamily="34" charset="-120"/>
              </a:rPr>
              <a:t>上下文贯穿四个环节。循环本身不提供终止判据，缺少明确的完成条件与外部验证时，执行会持续偏离目标。</a:t>
            </a:r>
            <a:endParaRPr lang="en-US" sz="1600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25" name="Shape 10"/>
          <p:cNvSpPr/>
          <p:nvPr/>
        </p:nvSpPr>
        <p:spPr>
          <a:xfrm>
            <a:off x="1014984" y="3563760"/>
            <a:ext cx="14228064" cy="0"/>
          </a:xfrm>
          <a:prstGeom prst="straightConnector1">
            <a:avLst/>
          </a:prstGeom>
          <a:noFill/>
          <a:ln w="12700">
            <a:solidFill>
              <a:srgbClr val="E0E0E0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6" name="Shape 4"/>
          <p:cNvSpPr/>
          <p:nvPr/>
        </p:nvSpPr>
        <p:spPr>
          <a:xfrm>
            <a:off x="1014984" y="3746640"/>
            <a:ext cx="283464" cy="283464"/>
          </a:xfrm>
          <a:custGeom>
            <a:avLst/>
            <a:gdLst/>
            <a:ahLst/>
            <a:cxnLst/>
            <a:rect l="l" t="t" r="r" b="b"/>
            <a:pathLst>
              <a:path w="209550" h="279400">
                <a:moveTo>
                  <a:pt x="0" y="34925"/>
                </a:moveTo>
                <a:cubicBezTo>
                  <a:pt x="0" y="15662"/>
                  <a:pt x="15662" y="0"/>
                  <a:pt x="34925" y="0"/>
                </a:cubicBezTo>
                <a:lnTo>
                  <a:pt x="116508" y="0"/>
                </a:lnTo>
                <a:cubicBezTo>
                  <a:pt x="125785" y="0"/>
                  <a:pt x="134680" y="3656"/>
                  <a:pt x="141228" y="10205"/>
                </a:cubicBezTo>
                <a:lnTo>
                  <a:pt x="199345" y="68377"/>
                </a:lnTo>
                <a:cubicBezTo>
                  <a:pt x="205894" y="74925"/>
                  <a:pt x="209550" y="83820"/>
                  <a:pt x="209550" y="93097"/>
                </a:cubicBezTo>
                <a:lnTo>
                  <a:pt x="209550" y="244475"/>
                </a:lnTo>
                <a:cubicBezTo>
                  <a:pt x="209550" y="263738"/>
                  <a:pt x="193888" y="279400"/>
                  <a:pt x="174625" y="279400"/>
                </a:cubicBezTo>
                <a:lnTo>
                  <a:pt x="34925" y="279400"/>
                </a:lnTo>
                <a:cubicBezTo>
                  <a:pt x="15662" y="279400"/>
                  <a:pt x="0" y="263738"/>
                  <a:pt x="0" y="244475"/>
                </a:cubicBezTo>
                <a:lnTo>
                  <a:pt x="0" y="34925"/>
                </a:lnTo>
                <a:close/>
                <a:moveTo>
                  <a:pt x="113506" y="31924"/>
                </a:moveTo>
                <a:lnTo>
                  <a:pt x="113506" y="82947"/>
                </a:lnTo>
                <a:cubicBezTo>
                  <a:pt x="113506" y="90205"/>
                  <a:pt x="119345" y="96044"/>
                  <a:pt x="126603" y="96044"/>
                </a:cubicBezTo>
                <a:lnTo>
                  <a:pt x="177626" y="96044"/>
                </a:lnTo>
                <a:lnTo>
                  <a:pt x="113506" y="31924"/>
                </a:lnTo>
                <a:close/>
                <a:moveTo>
                  <a:pt x="84147" y="161310"/>
                </a:moveTo>
                <a:cubicBezTo>
                  <a:pt x="88840" y="155798"/>
                  <a:pt x="88240" y="147558"/>
                  <a:pt x="82729" y="142865"/>
                </a:cubicBezTo>
                <a:cubicBezTo>
                  <a:pt x="77217" y="138172"/>
                  <a:pt x="68977" y="138772"/>
                  <a:pt x="64284" y="144284"/>
                </a:cubicBezTo>
                <a:lnTo>
                  <a:pt x="38090" y="174843"/>
                </a:lnTo>
                <a:cubicBezTo>
                  <a:pt x="33888" y="179755"/>
                  <a:pt x="33888" y="186958"/>
                  <a:pt x="38090" y="191869"/>
                </a:cubicBezTo>
                <a:lnTo>
                  <a:pt x="64284" y="222429"/>
                </a:lnTo>
                <a:cubicBezTo>
                  <a:pt x="68977" y="227940"/>
                  <a:pt x="77272" y="228540"/>
                  <a:pt x="82729" y="223847"/>
                </a:cubicBezTo>
                <a:cubicBezTo>
                  <a:pt x="88186" y="219154"/>
                  <a:pt x="88840" y="210860"/>
                  <a:pt x="84147" y="205403"/>
                </a:cubicBezTo>
                <a:lnTo>
                  <a:pt x="65266" y="183356"/>
                </a:lnTo>
                <a:lnTo>
                  <a:pt x="84147" y="161310"/>
                </a:lnTo>
                <a:close/>
                <a:moveTo>
                  <a:pt x="145266" y="144284"/>
                </a:moveTo>
                <a:cubicBezTo>
                  <a:pt x="140573" y="138772"/>
                  <a:pt x="132278" y="138172"/>
                  <a:pt x="126821" y="142865"/>
                </a:cubicBezTo>
                <a:cubicBezTo>
                  <a:pt x="121364" y="147558"/>
                  <a:pt x="120710" y="155853"/>
                  <a:pt x="125403" y="161310"/>
                </a:cubicBezTo>
                <a:lnTo>
                  <a:pt x="144284" y="183356"/>
                </a:lnTo>
                <a:lnTo>
                  <a:pt x="125403" y="205403"/>
                </a:lnTo>
                <a:cubicBezTo>
                  <a:pt x="120710" y="210914"/>
                  <a:pt x="121310" y="219154"/>
                  <a:pt x="126821" y="223847"/>
                </a:cubicBezTo>
                <a:cubicBezTo>
                  <a:pt x="132333" y="228540"/>
                  <a:pt x="140573" y="227940"/>
                  <a:pt x="145266" y="222429"/>
                </a:cubicBezTo>
                <a:lnTo>
                  <a:pt x="171460" y="191869"/>
                </a:lnTo>
                <a:cubicBezTo>
                  <a:pt x="175662" y="186958"/>
                  <a:pt x="175662" y="179755"/>
                  <a:pt x="171460" y="174843"/>
                </a:cubicBezTo>
                <a:lnTo>
                  <a:pt x="145266" y="144284"/>
                </a:lnTo>
                <a:close/>
              </a:path>
            </a:pathLst>
          </a:custGeom>
          <a:solidFill>
            <a:srgbClr val="C00000"/>
          </a:solidFill>
        </p:spPr>
        <p:txBody>
          <a:bodyPr/>
          <a:lstStyle/>
          <a:p>
            <a:endParaRPr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26" name="Text 12"/>
          <p:cNvSpPr/>
          <p:nvPr/>
        </p:nvSpPr>
        <p:spPr>
          <a:xfrm>
            <a:off x="1371600" y="3728352"/>
            <a:ext cx="6345936" cy="329184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b="1" dirty="0">
                <a:solidFill>
                  <a:srgbClr val="333333"/>
                </a:solidFill>
                <a:latin typeface="微软雅黑" pitchFamily="34" charset="-122"/>
                <a:ea typeface="微软雅黑" pitchFamily="34" charset="-122"/>
                <a:cs typeface="微软雅黑" pitchFamily="34" charset="-120"/>
              </a:rPr>
              <a:t>Skill </a:t>
            </a:r>
            <a:r>
              <a:rPr lang="en-US" sz="1800" b="1" dirty="0" err="1">
                <a:solidFill>
                  <a:srgbClr val="333333"/>
                </a:solidFill>
                <a:latin typeface="微软雅黑" pitchFamily="34" charset="-122"/>
                <a:ea typeface="微软雅黑" pitchFamily="34" charset="-122"/>
                <a:cs typeface="微软雅黑" pitchFamily="34" charset="-120"/>
              </a:rPr>
              <a:t>的组成</a:t>
            </a:r>
            <a:r>
              <a:rPr lang="zh-CN" altLang="en-US" sz="1800" b="1" dirty="0">
                <a:solidFill>
                  <a:srgbClr val="333333"/>
                </a:solidFill>
                <a:latin typeface="微软雅黑" pitchFamily="34" charset="-122"/>
                <a:ea typeface="微软雅黑" pitchFamily="34" charset="-122"/>
                <a:cs typeface="微软雅黑" pitchFamily="34" charset="-120"/>
              </a:rPr>
              <a:t>：</a:t>
            </a:r>
            <a:r>
              <a:rPr lang="zh-CN" altLang="en-US" b="1" dirty="0">
                <a:solidFill>
                  <a:srgbClr val="333333"/>
                </a:solidFill>
                <a:latin typeface="微软雅黑" pitchFamily="34" charset="-122"/>
                <a:ea typeface="微软雅黑" pitchFamily="34" charset="-122"/>
                <a:cs typeface="微软雅黑" pitchFamily="34" charset="-120"/>
              </a:rPr>
              <a:t>体系核心要素</a:t>
            </a:r>
            <a:endParaRPr lang="en-US" sz="1600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27" name="Shape 6"/>
          <p:cNvSpPr/>
          <p:nvPr/>
        </p:nvSpPr>
        <p:spPr>
          <a:xfrm>
            <a:off x="1014984" y="4148976"/>
            <a:ext cx="6473952" cy="1371600"/>
          </a:xfrm>
          <a:prstGeom prst="roundRect">
            <a:avLst>
              <a:gd name="adj" fmla="val 5000"/>
            </a:avLst>
          </a:prstGeom>
          <a:solidFill>
            <a:srgbClr val="F2F2F2"/>
          </a:solidFill>
        </p:spPr>
        <p:txBody>
          <a:bodyPr/>
          <a:lstStyle/>
          <a:p>
            <a:endParaRPr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28" name="Text 8"/>
          <p:cNvSpPr/>
          <p:nvPr/>
        </p:nvSpPr>
        <p:spPr>
          <a:xfrm>
            <a:off x="1170432" y="4258704"/>
            <a:ext cx="6163056" cy="11521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5000"/>
              </a:lnSpc>
            </a:pPr>
            <a:r>
              <a:rPr lang="en-US" sz="1100" b="1" u="none" dirty="0">
                <a:solidFill>
                  <a:srgbClr val="333333"/>
                </a:solidFill>
                <a:latin typeface="微软雅黑" pitchFamily="34" charset="-122"/>
                <a:ea typeface="微软雅黑" pitchFamily="34" charset="-122"/>
                <a:cs typeface="微软雅黑" pitchFamily="34" charset="-120"/>
              </a:rPr>
              <a:t>skill-name/</a:t>
            </a:r>
            <a:endParaRPr lang="en-US" sz="1600" dirty="0">
              <a:latin typeface="微软雅黑" pitchFamily="34" charset="-122"/>
              <a:ea typeface="微软雅黑" pitchFamily="34" charset="-122"/>
            </a:endParaRPr>
          </a:p>
          <a:p>
            <a:r>
              <a:rPr lang="en-US" sz="1100" b="0" u="none" dirty="0">
                <a:solidFill>
                  <a:srgbClr val="595959"/>
                </a:solidFill>
                <a:latin typeface="微软雅黑" pitchFamily="34" charset="-122"/>
                <a:ea typeface="微软雅黑" pitchFamily="34" charset="-122"/>
                <a:cs typeface="微软雅黑" pitchFamily="34" charset="-120"/>
              </a:rPr>
              <a:t>├── SKILL.md          frontmatter + 正文</a:t>
            </a:r>
            <a:endParaRPr lang="en-US" sz="1100" b="0" u="none" dirty="0">
              <a:solidFill>
                <a:srgbClr val="595959"/>
              </a:solidFill>
              <a:latin typeface="微软雅黑" pitchFamily="34" charset="-122"/>
              <a:ea typeface="微软雅黑" pitchFamily="34" charset="-122"/>
              <a:cs typeface="微软雅黑" pitchFamily="34" charset="-120"/>
            </a:endParaRPr>
          </a:p>
          <a:p>
            <a:r>
              <a:rPr lang="en-US" sz="1100" b="0" u="none" dirty="0">
                <a:solidFill>
                  <a:srgbClr val="595959"/>
                </a:solidFill>
                <a:latin typeface="微软雅黑" pitchFamily="34" charset="-122"/>
                <a:ea typeface="微软雅黑" pitchFamily="34" charset="-122"/>
                <a:cs typeface="微软雅黑" pitchFamily="34" charset="-120"/>
              </a:rPr>
              <a:t>├── references/       领域知识，用到时才读</a:t>
            </a:r>
            <a:endParaRPr lang="en-US" sz="1100" b="0" u="none" dirty="0">
              <a:solidFill>
                <a:srgbClr val="595959"/>
              </a:solidFill>
              <a:latin typeface="微软雅黑" pitchFamily="34" charset="-122"/>
              <a:ea typeface="微软雅黑" pitchFamily="34" charset="-122"/>
              <a:cs typeface="微软雅黑" pitchFamily="34" charset="-120"/>
            </a:endParaRPr>
          </a:p>
          <a:p>
            <a:r>
              <a:rPr lang="en-US" sz="1100" b="0" u="none" dirty="0">
                <a:solidFill>
                  <a:srgbClr val="595959"/>
                </a:solidFill>
                <a:latin typeface="微软雅黑" pitchFamily="34" charset="-122"/>
                <a:ea typeface="微软雅黑" pitchFamily="34" charset="-122"/>
                <a:cs typeface="微软雅黑" pitchFamily="34" charset="-120"/>
              </a:rPr>
              <a:t>├── scripts/          可运行的脚本</a:t>
            </a:r>
            <a:endParaRPr lang="en-US" sz="1100" b="0" u="none" dirty="0">
              <a:solidFill>
                <a:srgbClr val="595959"/>
              </a:solidFill>
              <a:latin typeface="微软雅黑" pitchFamily="34" charset="-122"/>
              <a:ea typeface="微软雅黑" pitchFamily="34" charset="-122"/>
              <a:cs typeface="微软雅黑" pitchFamily="34" charset="-120"/>
            </a:endParaRPr>
          </a:p>
          <a:p>
            <a:r>
              <a:rPr lang="en-US" sz="1100" b="0" u="none" dirty="0">
                <a:solidFill>
                  <a:srgbClr val="595959"/>
                </a:solidFill>
                <a:latin typeface="微软雅黑" pitchFamily="34" charset="-122"/>
                <a:ea typeface="微软雅黑" pitchFamily="34" charset="-122"/>
                <a:cs typeface="微软雅黑" pitchFamily="34" charset="-120"/>
              </a:rPr>
              <a:t>└── assets/           模板与静态资源</a:t>
            </a:r>
            <a:endParaRPr lang="en-US" sz="1100" b="0" u="none" dirty="0">
              <a:solidFill>
                <a:srgbClr val="595959"/>
              </a:solidFill>
              <a:latin typeface="微软雅黑" pitchFamily="34" charset="-122"/>
              <a:ea typeface="微软雅黑" pitchFamily="34" charset="-122"/>
              <a:cs typeface="微软雅黑" pitchFamily="34" charset="-120"/>
            </a:endParaRPr>
          </a:p>
        </p:txBody>
      </p:sp>
      <p:sp>
        <p:nvSpPr>
          <p:cNvPr id="29" name="Shape 6"/>
          <p:cNvSpPr/>
          <p:nvPr/>
        </p:nvSpPr>
        <p:spPr>
          <a:xfrm>
            <a:off x="1014984" y="5648592"/>
            <a:ext cx="6473952" cy="1298448"/>
          </a:xfrm>
          <a:prstGeom prst="roundRect">
            <a:avLst>
              <a:gd name="adj" fmla="val 5000"/>
            </a:avLst>
          </a:prstGeom>
          <a:solidFill>
            <a:srgbClr val="F2F2F2"/>
          </a:solidFill>
        </p:spPr>
        <p:txBody>
          <a:bodyPr/>
          <a:lstStyle/>
          <a:p>
            <a:endParaRPr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30" name="Text 8"/>
          <p:cNvSpPr/>
          <p:nvPr/>
        </p:nvSpPr>
        <p:spPr>
          <a:xfrm>
            <a:off x="1170432" y="5758320"/>
            <a:ext cx="6163056" cy="10789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5000"/>
              </a:lnSpc>
            </a:pPr>
            <a:r>
              <a:rPr lang="en-US" sz="1100" b="0" u="none" dirty="0">
                <a:solidFill>
                  <a:srgbClr val="595959"/>
                </a:solidFill>
                <a:latin typeface="微软雅黑" pitchFamily="34" charset="-122"/>
                <a:ea typeface="微软雅黑" pitchFamily="34" charset="-122"/>
                <a:cs typeface="微软雅黑" pitchFamily="34" charset="-120"/>
              </a:rPr>
              <a:t>---</a:t>
            </a:r>
            <a:endParaRPr lang="en-US" sz="1600" dirty="0">
              <a:latin typeface="微软雅黑" pitchFamily="34" charset="-122"/>
              <a:ea typeface="微软雅黑" pitchFamily="34" charset="-122"/>
            </a:endParaRPr>
          </a:p>
          <a:p>
            <a:r>
              <a:rPr lang="en-US" sz="1100" b="0" u="none" dirty="0">
                <a:solidFill>
                  <a:srgbClr val="595959"/>
                </a:solidFill>
                <a:latin typeface="微软雅黑" pitchFamily="34" charset="-122"/>
                <a:ea typeface="微软雅黑" pitchFamily="34" charset="-122"/>
                <a:cs typeface="微软雅黑" pitchFamily="34" charset="-120"/>
              </a:rPr>
              <a:t>name: model-infer-fusion</a:t>
            </a:r>
            <a:endParaRPr lang="en-US" sz="1100" b="0" u="none" dirty="0">
              <a:solidFill>
                <a:srgbClr val="595959"/>
              </a:solidFill>
              <a:latin typeface="微软雅黑" pitchFamily="34" charset="-122"/>
              <a:ea typeface="微软雅黑" pitchFamily="34" charset="-122"/>
              <a:cs typeface="微软雅黑" pitchFamily="34" charset="-120"/>
            </a:endParaRPr>
          </a:p>
          <a:p>
            <a:r>
              <a:rPr lang="en-US" sz="1100" b="0" u="none" dirty="0">
                <a:solidFill>
                  <a:srgbClr val="595959"/>
                </a:solidFill>
                <a:latin typeface="微软雅黑" pitchFamily="34" charset="-122"/>
                <a:ea typeface="微软雅黑" pitchFamily="34" charset="-122"/>
                <a:cs typeface="微软雅黑" pitchFamily="34" charset="-120"/>
              </a:rPr>
              <a:t>description: 融合算子分析与替换。触发场景：</a:t>
            </a:r>
            <a:endParaRPr lang="en-US" sz="1100" b="0" u="none" dirty="0">
              <a:solidFill>
                <a:srgbClr val="595959"/>
              </a:solidFill>
              <a:latin typeface="微软雅黑" pitchFamily="34" charset="-122"/>
              <a:ea typeface="微软雅黑" pitchFamily="34" charset="-122"/>
              <a:cs typeface="微软雅黑" pitchFamily="34" charset="-120"/>
            </a:endParaRPr>
          </a:p>
          <a:p>
            <a:r>
              <a:rPr lang="en-US" sz="1100" b="0" u="none" dirty="0">
                <a:solidFill>
                  <a:srgbClr val="595959"/>
                </a:solidFill>
                <a:latin typeface="微软雅黑" pitchFamily="34" charset="-122"/>
                <a:ea typeface="微软雅黑" pitchFamily="34" charset="-122"/>
                <a:cs typeface="微软雅黑" pitchFamily="34" charset="-120"/>
              </a:rPr>
              <a:t>  算子替换、MoE / Attention 适配……</a:t>
            </a:r>
            <a:endParaRPr lang="en-US" sz="1100" b="0" u="none" dirty="0">
              <a:solidFill>
                <a:srgbClr val="595959"/>
              </a:solidFill>
              <a:latin typeface="微软雅黑" pitchFamily="34" charset="-122"/>
              <a:ea typeface="微软雅黑" pitchFamily="34" charset="-122"/>
              <a:cs typeface="微软雅黑" pitchFamily="34" charset="-120"/>
            </a:endParaRPr>
          </a:p>
          <a:p>
            <a:r>
              <a:rPr lang="en-US" sz="1100" b="0" u="none" dirty="0">
                <a:solidFill>
                  <a:srgbClr val="595959"/>
                </a:solidFill>
                <a:latin typeface="微软雅黑" pitchFamily="34" charset="-122"/>
                <a:ea typeface="微软雅黑" pitchFamily="34" charset="-122"/>
                <a:cs typeface="微软雅黑" pitchFamily="34" charset="-120"/>
              </a:rPr>
              <a:t>---</a:t>
            </a:r>
            <a:endParaRPr lang="en-US" sz="1100" b="0" u="none" dirty="0">
              <a:solidFill>
                <a:srgbClr val="595959"/>
              </a:solidFill>
              <a:latin typeface="微软雅黑" pitchFamily="34" charset="-122"/>
              <a:ea typeface="微软雅黑" pitchFamily="34" charset="-122"/>
              <a:cs typeface="微软雅黑" pitchFamily="34" charset="-120"/>
            </a:endParaRPr>
          </a:p>
        </p:txBody>
      </p:sp>
      <p:sp>
        <p:nvSpPr>
          <p:cNvPr id="34" name="Shape 6"/>
          <p:cNvSpPr/>
          <p:nvPr/>
        </p:nvSpPr>
        <p:spPr>
          <a:xfrm>
            <a:off x="7863840" y="4148976"/>
            <a:ext cx="7379208" cy="1371600"/>
          </a:xfrm>
          <a:prstGeom prst="roundRect">
            <a:avLst>
              <a:gd name="adj" fmla="val 5000"/>
            </a:avLst>
          </a:prstGeom>
          <a:solidFill>
            <a:srgbClr val="F2F2F2"/>
          </a:solidFill>
        </p:spPr>
        <p:txBody>
          <a:bodyPr/>
          <a:lstStyle/>
          <a:p>
            <a:endParaRPr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35" name="Shape 7"/>
          <p:cNvSpPr/>
          <p:nvPr/>
        </p:nvSpPr>
        <p:spPr>
          <a:xfrm>
            <a:off x="7863840" y="4148976"/>
            <a:ext cx="7379208" cy="54864"/>
          </a:xfrm>
          <a:prstGeom prst="rect">
            <a:avLst/>
          </a:prstGeom>
          <a:solidFill>
            <a:srgbClr val="C00000"/>
          </a:solidFill>
        </p:spPr>
        <p:txBody>
          <a:bodyPr/>
          <a:lstStyle/>
          <a:p>
            <a:endParaRPr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36" name="Text 8"/>
          <p:cNvSpPr/>
          <p:nvPr/>
        </p:nvSpPr>
        <p:spPr>
          <a:xfrm>
            <a:off x="8019288" y="4295280"/>
            <a:ext cx="7068312" cy="10972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5000"/>
              </a:lnSpc>
            </a:pPr>
            <a:r>
              <a:rPr lang="en-US" sz="1500" b="1" dirty="0">
                <a:solidFill>
                  <a:srgbClr val="333333"/>
                </a:solidFill>
                <a:latin typeface="微软雅黑" pitchFamily="34" charset="-122"/>
                <a:ea typeface="微软雅黑" pitchFamily="34" charset="-122"/>
                <a:cs typeface="微软雅黑" pitchFamily="34" charset="-120"/>
              </a:rPr>
              <a:t>description 决定它何时被调用</a:t>
            </a:r>
            <a:endParaRPr lang="en-US" sz="1600" dirty="0">
              <a:latin typeface="微软雅黑" pitchFamily="34" charset="-122"/>
              <a:ea typeface="微软雅黑" pitchFamily="34" charset="-122"/>
            </a:endParaRPr>
          </a:p>
          <a:p>
            <a:r>
              <a:rPr lang="en-US" sz="1300" b="0" dirty="0">
                <a:solidFill>
                  <a:srgbClr val="595959"/>
                </a:solidFill>
                <a:latin typeface="微软雅黑" pitchFamily="34" charset="-122"/>
                <a:ea typeface="微软雅黑" pitchFamily="34" charset="-122"/>
                <a:cs typeface="微软雅黑" pitchFamily="34" charset="-120"/>
              </a:rPr>
              <a:t>Agent 启动时只加载各个 skill 的 description，据此判断当前任务该用哪个。这是 skill 与普通文档的根本区别：不是人去调它，是它自己被匹配上。</a:t>
            </a:r>
            <a:endParaRPr lang="en-US" sz="1300" b="0" dirty="0">
              <a:solidFill>
                <a:srgbClr val="595959"/>
              </a:solidFill>
              <a:latin typeface="微软雅黑" pitchFamily="34" charset="-122"/>
              <a:ea typeface="微软雅黑" pitchFamily="34" charset="-122"/>
              <a:cs typeface="微软雅黑" pitchFamily="34" charset="-120"/>
            </a:endParaRPr>
          </a:p>
        </p:txBody>
      </p:sp>
      <p:sp>
        <p:nvSpPr>
          <p:cNvPr id="37" name="Shape 6"/>
          <p:cNvSpPr/>
          <p:nvPr/>
        </p:nvSpPr>
        <p:spPr>
          <a:xfrm>
            <a:off x="7863840" y="5648592"/>
            <a:ext cx="7379208" cy="1298448"/>
          </a:xfrm>
          <a:prstGeom prst="roundRect">
            <a:avLst>
              <a:gd name="adj" fmla="val 5000"/>
            </a:avLst>
          </a:prstGeom>
          <a:solidFill>
            <a:srgbClr val="F2F2F2"/>
          </a:solidFill>
        </p:spPr>
        <p:txBody>
          <a:bodyPr/>
          <a:lstStyle/>
          <a:p>
            <a:endParaRPr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38" name="Shape 7"/>
          <p:cNvSpPr/>
          <p:nvPr/>
        </p:nvSpPr>
        <p:spPr>
          <a:xfrm>
            <a:off x="7863840" y="5648592"/>
            <a:ext cx="7379208" cy="54864"/>
          </a:xfrm>
          <a:prstGeom prst="rect">
            <a:avLst/>
          </a:prstGeom>
          <a:solidFill>
            <a:srgbClr val="C00000"/>
          </a:solidFill>
        </p:spPr>
        <p:txBody>
          <a:bodyPr/>
          <a:lstStyle/>
          <a:p>
            <a:endParaRPr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39" name="Text 8"/>
          <p:cNvSpPr/>
          <p:nvPr/>
        </p:nvSpPr>
        <p:spPr>
          <a:xfrm>
            <a:off x="8019288" y="5794896"/>
            <a:ext cx="7068312" cy="10241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5000"/>
              </a:lnSpc>
            </a:pPr>
            <a:r>
              <a:rPr lang="en-US" sz="1500" b="1" dirty="0">
                <a:solidFill>
                  <a:srgbClr val="333333"/>
                </a:solidFill>
                <a:latin typeface="微软雅黑" pitchFamily="34" charset="-122"/>
                <a:ea typeface="微软雅黑" pitchFamily="34" charset="-122"/>
                <a:cs typeface="微软雅黑" pitchFamily="34" charset="-120"/>
              </a:rPr>
              <a:t>正文是写给 Agent 看的流程</a:t>
            </a:r>
            <a:endParaRPr lang="en-US" sz="1600" dirty="0">
              <a:latin typeface="微软雅黑" pitchFamily="34" charset="-122"/>
              <a:ea typeface="微软雅黑" pitchFamily="34" charset="-122"/>
            </a:endParaRPr>
          </a:p>
          <a:p>
            <a:r>
              <a:rPr lang="en-US" sz="1300" b="0" dirty="0">
                <a:solidFill>
                  <a:srgbClr val="595959"/>
                </a:solidFill>
                <a:latin typeface="微软雅黑" pitchFamily="34" charset="-122"/>
                <a:ea typeface="微软雅黑" pitchFamily="34" charset="-122"/>
                <a:cs typeface="微软雅黑" pitchFamily="34" charset="-120"/>
              </a:rPr>
              <a:t>用自然语言描述步骤、规则与完成判据，Agent 读完照着执行。细节放进 references/，用到时才读，不一次性占满上下文。</a:t>
            </a:r>
            <a:endParaRPr lang="en-US" sz="1300" b="0" dirty="0">
              <a:solidFill>
                <a:srgbClr val="595959"/>
              </a:solidFill>
              <a:latin typeface="微软雅黑" pitchFamily="34" charset="-122"/>
              <a:ea typeface="微软雅黑" pitchFamily="34" charset="-122"/>
              <a:cs typeface="微软雅黑" pitchFamily="34" charset="-120"/>
            </a:endParaRPr>
          </a:p>
        </p:txBody>
      </p:sp>
      <p:sp>
        <p:nvSpPr>
          <p:cNvPr id="40" name="Shape 10"/>
          <p:cNvSpPr/>
          <p:nvPr/>
        </p:nvSpPr>
        <p:spPr>
          <a:xfrm>
            <a:off x="1014984" y="7093344"/>
            <a:ext cx="14228064" cy="0"/>
          </a:xfrm>
          <a:prstGeom prst="straightConnector1">
            <a:avLst/>
          </a:prstGeom>
          <a:noFill/>
          <a:ln w="12700">
            <a:solidFill>
              <a:srgbClr val="E0E0E0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7" name="Shape 14"/>
          <p:cNvSpPr/>
          <p:nvPr/>
        </p:nvSpPr>
        <p:spPr>
          <a:xfrm>
            <a:off x="1014984" y="7644384"/>
            <a:ext cx="14228064" cy="384048"/>
          </a:xfrm>
          <a:prstGeom prst="roundRect">
            <a:avLst>
              <a:gd name="adj" fmla="val 3000"/>
            </a:avLst>
          </a:prstGeom>
          <a:solidFill>
            <a:srgbClr val="F2F2F2"/>
          </a:solidFill>
        </p:spPr>
        <p:txBody>
          <a:bodyPr/>
          <a:lstStyle/>
          <a:p>
            <a:endParaRPr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42" name="Text 15"/>
          <p:cNvSpPr/>
          <p:nvPr/>
        </p:nvSpPr>
        <p:spPr>
          <a:xfrm>
            <a:off x="1207008" y="7717536"/>
            <a:ext cx="13844016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500" b="1" dirty="0">
                <a:solidFill>
                  <a:srgbClr val="333333"/>
                </a:solidFill>
                <a:latin typeface="微软雅黑" pitchFamily="34" charset="-122"/>
                <a:ea typeface="微软雅黑" pitchFamily="34" charset="-122"/>
                <a:cs typeface="微软雅黑" pitchFamily="34" charset="-120"/>
              </a:rPr>
              <a:t>Skill 的质量决定 Agent 的</a:t>
            </a:r>
            <a:r>
              <a:rPr lang="zh-CN" altLang="en-US" sz="1500" b="1" dirty="0">
                <a:solidFill>
                  <a:srgbClr val="333333"/>
                </a:solidFill>
                <a:latin typeface="微软雅黑" pitchFamily="34" charset="-122"/>
                <a:ea typeface="微软雅黑" pitchFamily="34" charset="-122"/>
                <a:cs typeface="微软雅黑" pitchFamily="34" charset="-120"/>
              </a:rPr>
              <a:t>能力上限</a:t>
            </a:r>
            <a:r>
              <a:rPr lang="en-US" sz="1500" b="0" dirty="0">
                <a:solidFill>
                  <a:srgbClr val="333333"/>
                </a:solidFill>
                <a:latin typeface="微软雅黑" pitchFamily="34" charset="-122"/>
                <a:ea typeface="微软雅黑" pitchFamily="34" charset="-122"/>
                <a:cs typeface="微软雅黑" pitchFamily="34" charset="-120"/>
              </a:rPr>
              <a:t>，</a:t>
            </a:r>
            <a:r>
              <a:rPr lang="en-US" sz="1500" b="0" dirty="0" err="1">
                <a:solidFill>
                  <a:srgbClr val="333333"/>
                </a:solidFill>
                <a:latin typeface="微软雅黑" pitchFamily="34" charset="-122"/>
                <a:ea typeface="微软雅黑" pitchFamily="34" charset="-122"/>
                <a:cs typeface="微软雅黑" pitchFamily="34" charset="-120"/>
              </a:rPr>
              <a:t>SubAgent</a:t>
            </a:r>
            <a:r>
              <a:rPr lang="en-US" sz="1500" b="0" dirty="0">
                <a:solidFill>
                  <a:srgbClr val="333333"/>
                </a:solidFill>
                <a:latin typeface="微软雅黑" pitchFamily="34" charset="-122"/>
                <a:ea typeface="微软雅黑" pitchFamily="34" charset="-122"/>
                <a:cs typeface="微软雅黑" pitchFamily="34" charset="-120"/>
              </a:rPr>
              <a:t> 与 </a:t>
            </a:r>
            <a:r>
              <a:rPr lang="en-US" altLang="zh-CN" sz="1500" b="0" dirty="0">
                <a:solidFill>
                  <a:srgbClr val="333333"/>
                </a:solidFill>
                <a:latin typeface="微软雅黑" pitchFamily="34" charset="-122"/>
                <a:ea typeface="微软雅黑" pitchFamily="34" charset="-122"/>
                <a:cs typeface="微软雅黑" pitchFamily="34" charset="-120"/>
              </a:rPr>
              <a:t>Harness</a:t>
            </a:r>
            <a:r>
              <a:rPr lang="en-US" sz="1500" b="0" dirty="0">
                <a:solidFill>
                  <a:srgbClr val="333333"/>
                </a:solidFill>
                <a:latin typeface="微软雅黑" pitchFamily="34" charset="-122"/>
                <a:ea typeface="微软雅黑" pitchFamily="34" charset="-122"/>
                <a:cs typeface="微软雅黑" pitchFamily="34" charset="-120"/>
              </a:rPr>
              <a:t> </a:t>
            </a:r>
            <a:r>
              <a:rPr lang="en-US" sz="1500" b="0" dirty="0" err="1">
                <a:solidFill>
                  <a:srgbClr val="333333"/>
                </a:solidFill>
                <a:latin typeface="微软雅黑" pitchFamily="34" charset="-122"/>
                <a:ea typeface="微软雅黑" pitchFamily="34" charset="-122"/>
                <a:cs typeface="微软雅黑" pitchFamily="34" charset="-120"/>
              </a:rPr>
              <a:t>承担的是边界约束</a:t>
            </a:r>
            <a:r>
              <a:rPr lang="zh-CN" altLang="en-US" sz="1500" b="0" dirty="0">
                <a:solidFill>
                  <a:srgbClr val="333333"/>
                </a:solidFill>
                <a:latin typeface="微软雅黑" pitchFamily="34" charset="-122"/>
                <a:ea typeface="微软雅黑" pitchFamily="34" charset="-122"/>
                <a:cs typeface="微软雅黑" pitchFamily="34" charset="-120"/>
              </a:rPr>
              <a:t>，决定 </a:t>
            </a:r>
            <a:r>
              <a:rPr lang="en-US" altLang="zh-CN" sz="1500" b="0" dirty="0">
                <a:solidFill>
                  <a:srgbClr val="333333"/>
                </a:solidFill>
                <a:latin typeface="微软雅黑" pitchFamily="34" charset="-122"/>
                <a:ea typeface="微软雅黑" pitchFamily="34" charset="-122"/>
                <a:cs typeface="微软雅黑" pitchFamily="34" charset="-120"/>
              </a:rPr>
              <a:t>Agent </a:t>
            </a:r>
            <a:r>
              <a:rPr lang="en-US" altLang="zh-CN" sz="1500" b="1" dirty="0" err="1">
                <a:solidFill>
                  <a:srgbClr val="333333"/>
                </a:solidFill>
                <a:latin typeface="微软雅黑" pitchFamily="34" charset="-122"/>
                <a:ea typeface="微软雅黑" pitchFamily="34" charset="-122"/>
                <a:cs typeface="微软雅黑" pitchFamily="34" charset="-120"/>
              </a:rPr>
              <a:t>实际表现</a:t>
            </a:r>
            <a:endParaRPr lang="en-US" sz="1600" dirty="0">
              <a:latin typeface="微软雅黑" pitchFamily="34" charset="-122"/>
              <a:ea typeface="微软雅黑" pitchFamily="34" charset="-122"/>
            </a:endParaRPr>
          </a:p>
        </p:txBody>
      </p:sp>
    </p:spTree>
  </p:cSld>
  <p:clrMapOvr>
    <a:masterClrMapping/>
  </p:clrMapOvr>
  <p:transition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762000" y="355600"/>
            <a:ext cx="11430000" cy="5715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l">
              <a:lnSpc>
                <a:spcPct val="100000"/>
              </a:lnSpc>
            </a:pPr>
            <a:r>
              <a:rPr lang="en-US" sz="3200" b="1" dirty="0">
                <a:solidFill>
                  <a:srgbClr val="333333"/>
                </a:solidFill>
                <a:latin typeface="微软雅黑" pitchFamily="34" charset="-122"/>
                <a:ea typeface="微软雅黑" pitchFamily="34" charset="-122"/>
                <a:cs typeface="MiSans" pitchFamily="34" charset="-120"/>
                <a:sym typeface="+mn-ea"/>
              </a:rPr>
              <a:t>通用 Agent 在 NPU 优化上的边界</a:t>
            </a:r>
            <a:endParaRPr lang="en-US" sz="3200" b="1" dirty="0">
              <a:solidFill>
                <a:schemeClr val="tx1"/>
              </a:solidFill>
              <a:latin typeface="微软雅黑" pitchFamily="34" charset="-122"/>
              <a:ea typeface="微软雅黑" pitchFamily="34" charset="-122"/>
              <a:cs typeface="微软雅黑" pitchFamily="34" charset="-120"/>
              <a:sym typeface="+mn-ea"/>
            </a:endParaRPr>
          </a:p>
        </p:txBody>
      </p:sp>
      <p:sp>
        <p:nvSpPr>
          <p:cNvPr id="25" name="Text 22"/>
          <p:cNvSpPr/>
          <p:nvPr/>
        </p:nvSpPr>
        <p:spPr>
          <a:xfrm>
            <a:off x="825500" y="8178800"/>
            <a:ext cx="2540000" cy="3302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300" dirty="0">
                <a:solidFill>
                  <a:srgbClr val="7F7F7F"/>
                </a:solidFill>
                <a:latin typeface="微软雅黑" pitchFamily="34" charset="-122"/>
                <a:ea typeface="微软雅黑" pitchFamily="34" charset="-122"/>
                <a:cs typeface="MiSans" pitchFamily="34" charset="-120"/>
              </a:rPr>
              <a:t>https://gitcode.com/cann</a:t>
            </a:r>
            <a:endParaRPr lang="en-US" sz="1300" dirty="0">
              <a:latin typeface="微软雅黑" pitchFamily="34" charset="-122"/>
              <a:ea typeface="微软雅黑" pitchFamily="34" charset="-122"/>
            </a:endParaRPr>
          </a:p>
        </p:txBody>
      </p:sp>
      <p:pic>
        <p:nvPicPr>
          <p:cNvPr id="27" name="Image 0" descr="https://kimi-img.moonshot.cn/pub/slides/okc/4rfbomebqqupm/mnt/agents/output/template_pptd/images/image_2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512800" y="8051800"/>
            <a:ext cx="1752600" cy="469900"/>
          </a:xfrm>
          <a:prstGeom prst="rect">
            <a:avLst/>
          </a:prstGeom>
        </p:spPr>
      </p:pic>
      <p:sp>
        <p:nvSpPr>
          <p:cNvPr id="62" name="Shape 4"/>
          <p:cNvSpPr/>
          <p:nvPr/>
        </p:nvSpPr>
        <p:spPr>
          <a:xfrm>
            <a:off x="977900" y="1371600"/>
            <a:ext cx="381000" cy="304800"/>
          </a:xfrm>
          <a:custGeom>
            <a:avLst/>
            <a:gdLst/>
            <a:ahLst/>
            <a:cxnLst/>
            <a:rect l="l" t="t" r="r" b="b"/>
            <a:pathLst>
              <a:path w="381000" h="304800">
                <a:moveTo>
                  <a:pt x="209550" y="0"/>
                </a:moveTo>
                <a:cubicBezTo>
                  <a:pt x="209550" y="-10537"/>
                  <a:pt x="201037" y="-19050"/>
                  <a:pt x="190500" y="-19050"/>
                </a:cubicBezTo>
                <a:cubicBezTo>
                  <a:pt x="179963" y="-19050"/>
                  <a:pt x="171450" y="-10537"/>
                  <a:pt x="171450" y="0"/>
                </a:cubicBezTo>
                <a:lnTo>
                  <a:pt x="171450" y="38100"/>
                </a:lnTo>
                <a:lnTo>
                  <a:pt x="114300" y="38100"/>
                </a:lnTo>
                <a:cubicBezTo>
                  <a:pt x="82748" y="38100"/>
                  <a:pt x="57150" y="63698"/>
                  <a:pt x="57150" y="95250"/>
                </a:cubicBezTo>
                <a:lnTo>
                  <a:pt x="57150" y="228600"/>
                </a:lnTo>
                <a:cubicBezTo>
                  <a:pt x="57150" y="260152"/>
                  <a:pt x="82748" y="285750"/>
                  <a:pt x="114300" y="285750"/>
                </a:cubicBezTo>
                <a:lnTo>
                  <a:pt x="266700" y="285750"/>
                </a:lnTo>
                <a:cubicBezTo>
                  <a:pt x="298252" y="285750"/>
                  <a:pt x="323850" y="260152"/>
                  <a:pt x="323850" y="228600"/>
                </a:cubicBezTo>
                <a:lnTo>
                  <a:pt x="323850" y="95250"/>
                </a:lnTo>
                <a:cubicBezTo>
                  <a:pt x="323850" y="63698"/>
                  <a:pt x="298252" y="38100"/>
                  <a:pt x="266700" y="38100"/>
                </a:cubicBezTo>
                <a:lnTo>
                  <a:pt x="209550" y="38100"/>
                </a:lnTo>
                <a:lnTo>
                  <a:pt x="209550" y="0"/>
                </a:lnTo>
                <a:close/>
                <a:moveTo>
                  <a:pt x="95250" y="219075"/>
                </a:moveTo>
                <a:cubicBezTo>
                  <a:pt x="95250" y="211157"/>
                  <a:pt x="101620" y="204787"/>
                  <a:pt x="109537" y="204787"/>
                </a:cubicBezTo>
                <a:lnTo>
                  <a:pt x="128588" y="204787"/>
                </a:lnTo>
                <a:cubicBezTo>
                  <a:pt x="136505" y="204787"/>
                  <a:pt x="142875" y="211157"/>
                  <a:pt x="142875" y="219075"/>
                </a:cubicBezTo>
                <a:cubicBezTo>
                  <a:pt x="142875" y="226993"/>
                  <a:pt x="136505" y="233363"/>
                  <a:pt x="128588" y="233363"/>
                </a:cubicBezTo>
                <a:lnTo>
                  <a:pt x="109537" y="233363"/>
                </a:lnTo>
                <a:cubicBezTo>
                  <a:pt x="101620" y="233363"/>
                  <a:pt x="95250" y="226993"/>
                  <a:pt x="95250" y="219075"/>
                </a:cubicBezTo>
                <a:close/>
                <a:moveTo>
                  <a:pt x="166688" y="219075"/>
                </a:moveTo>
                <a:cubicBezTo>
                  <a:pt x="166688" y="211157"/>
                  <a:pt x="173057" y="204787"/>
                  <a:pt x="180975" y="204787"/>
                </a:cubicBezTo>
                <a:lnTo>
                  <a:pt x="200025" y="204787"/>
                </a:lnTo>
                <a:cubicBezTo>
                  <a:pt x="207943" y="204787"/>
                  <a:pt x="214313" y="211157"/>
                  <a:pt x="214313" y="219075"/>
                </a:cubicBezTo>
                <a:cubicBezTo>
                  <a:pt x="214313" y="226993"/>
                  <a:pt x="207943" y="233363"/>
                  <a:pt x="200025" y="233363"/>
                </a:cubicBezTo>
                <a:lnTo>
                  <a:pt x="180975" y="233363"/>
                </a:lnTo>
                <a:cubicBezTo>
                  <a:pt x="173057" y="233363"/>
                  <a:pt x="166688" y="226993"/>
                  <a:pt x="166688" y="219075"/>
                </a:cubicBezTo>
                <a:close/>
                <a:moveTo>
                  <a:pt x="238125" y="219075"/>
                </a:moveTo>
                <a:cubicBezTo>
                  <a:pt x="238125" y="211157"/>
                  <a:pt x="244495" y="204787"/>
                  <a:pt x="252413" y="204787"/>
                </a:cubicBezTo>
                <a:lnTo>
                  <a:pt x="271463" y="204787"/>
                </a:lnTo>
                <a:cubicBezTo>
                  <a:pt x="279380" y="204787"/>
                  <a:pt x="285750" y="211157"/>
                  <a:pt x="285750" y="219075"/>
                </a:cubicBezTo>
                <a:cubicBezTo>
                  <a:pt x="285750" y="226993"/>
                  <a:pt x="279380" y="233363"/>
                  <a:pt x="271463" y="233363"/>
                </a:cubicBezTo>
                <a:lnTo>
                  <a:pt x="252413" y="233363"/>
                </a:lnTo>
                <a:cubicBezTo>
                  <a:pt x="244495" y="233363"/>
                  <a:pt x="238125" y="226993"/>
                  <a:pt x="238125" y="219075"/>
                </a:cubicBezTo>
                <a:close/>
                <a:moveTo>
                  <a:pt x="133350" y="104775"/>
                </a:moveTo>
                <a:cubicBezTo>
                  <a:pt x="149121" y="104775"/>
                  <a:pt x="161925" y="117579"/>
                  <a:pt x="161925" y="133350"/>
                </a:cubicBezTo>
                <a:cubicBezTo>
                  <a:pt x="161925" y="149121"/>
                  <a:pt x="149121" y="161925"/>
                  <a:pt x="133350" y="161925"/>
                </a:cubicBezTo>
                <a:cubicBezTo>
                  <a:pt x="117579" y="161925"/>
                  <a:pt x="104775" y="149121"/>
                  <a:pt x="104775" y="133350"/>
                </a:cubicBezTo>
                <a:cubicBezTo>
                  <a:pt x="104775" y="117579"/>
                  <a:pt x="117579" y="104775"/>
                  <a:pt x="133350" y="104775"/>
                </a:cubicBezTo>
                <a:close/>
                <a:moveTo>
                  <a:pt x="219075" y="133350"/>
                </a:moveTo>
                <a:cubicBezTo>
                  <a:pt x="219075" y="117579"/>
                  <a:pt x="231879" y="104775"/>
                  <a:pt x="247650" y="104775"/>
                </a:cubicBezTo>
                <a:cubicBezTo>
                  <a:pt x="263421" y="104775"/>
                  <a:pt x="276225" y="117579"/>
                  <a:pt x="276225" y="133350"/>
                </a:cubicBezTo>
                <a:cubicBezTo>
                  <a:pt x="276225" y="149121"/>
                  <a:pt x="263421" y="161925"/>
                  <a:pt x="247650" y="161925"/>
                </a:cubicBezTo>
                <a:cubicBezTo>
                  <a:pt x="231879" y="161925"/>
                  <a:pt x="219075" y="149121"/>
                  <a:pt x="219075" y="133350"/>
                </a:cubicBezTo>
                <a:close/>
                <a:moveTo>
                  <a:pt x="38100" y="133350"/>
                </a:moveTo>
                <a:cubicBezTo>
                  <a:pt x="38100" y="122813"/>
                  <a:pt x="29587" y="114300"/>
                  <a:pt x="19050" y="114300"/>
                </a:cubicBezTo>
                <a:cubicBezTo>
                  <a:pt x="8513" y="114300"/>
                  <a:pt x="0" y="122813"/>
                  <a:pt x="0" y="133350"/>
                </a:cubicBezTo>
                <a:lnTo>
                  <a:pt x="0" y="190500"/>
                </a:lnTo>
                <a:cubicBezTo>
                  <a:pt x="0" y="201037"/>
                  <a:pt x="8513" y="209550"/>
                  <a:pt x="19050" y="209550"/>
                </a:cubicBezTo>
                <a:cubicBezTo>
                  <a:pt x="29587" y="209550"/>
                  <a:pt x="38100" y="201037"/>
                  <a:pt x="38100" y="190500"/>
                </a:cubicBezTo>
                <a:lnTo>
                  <a:pt x="38100" y="133350"/>
                </a:lnTo>
                <a:close/>
                <a:moveTo>
                  <a:pt x="361950" y="114300"/>
                </a:moveTo>
                <a:cubicBezTo>
                  <a:pt x="351413" y="114300"/>
                  <a:pt x="342900" y="122813"/>
                  <a:pt x="342900" y="133350"/>
                </a:cubicBezTo>
                <a:lnTo>
                  <a:pt x="342900" y="190500"/>
                </a:lnTo>
                <a:cubicBezTo>
                  <a:pt x="342900" y="201037"/>
                  <a:pt x="351413" y="209550"/>
                  <a:pt x="361950" y="209550"/>
                </a:cubicBezTo>
                <a:cubicBezTo>
                  <a:pt x="372487" y="209550"/>
                  <a:pt x="381000" y="201037"/>
                  <a:pt x="381000" y="190500"/>
                </a:cubicBezTo>
                <a:lnTo>
                  <a:pt x="381000" y="133350"/>
                </a:lnTo>
                <a:cubicBezTo>
                  <a:pt x="381000" y="122813"/>
                  <a:pt x="372487" y="114300"/>
                  <a:pt x="361950" y="114300"/>
                </a:cubicBezTo>
                <a:close/>
              </a:path>
            </a:pathLst>
          </a:custGeom>
          <a:solidFill>
            <a:srgbClr val="C00000"/>
          </a:solidFill>
        </p:spPr>
        <p:txBody>
          <a:bodyPr/>
          <a:lstStyle/>
          <a:p>
            <a:endParaRPr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63" name="Text 5"/>
          <p:cNvSpPr/>
          <p:nvPr/>
        </p:nvSpPr>
        <p:spPr>
          <a:xfrm>
            <a:off x="1422400" y="1346200"/>
            <a:ext cx="6350000" cy="3556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b="1" dirty="0">
                <a:solidFill>
                  <a:srgbClr val="333333"/>
                </a:solidFill>
                <a:latin typeface="微软雅黑" pitchFamily="34" charset="-122"/>
                <a:ea typeface="微软雅黑" pitchFamily="34" charset="-122"/>
                <a:cs typeface="微软雅黑" pitchFamily="34" charset="-120"/>
              </a:rPr>
              <a:t>Agent 已从聊天机器人演进为自主软件工程系统</a:t>
            </a:r>
            <a:endParaRPr lang="en-US" sz="1600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64" name="Text 6"/>
          <p:cNvSpPr/>
          <p:nvPr/>
        </p:nvSpPr>
        <p:spPr>
          <a:xfrm>
            <a:off x="1016000" y="1645648"/>
            <a:ext cx="8296910" cy="1651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333333"/>
                </a:solidFill>
                <a:latin typeface="微软雅黑" pitchFamily="34" charset="-122"/>
                <a:ea typeface="微软雅黑" pitchFamily="34" charset="-122"/>
                <a:cs typeface="微软雅黑" pitchFamily="34" charset="-120"/>
              </a:rPr>
              <a:t>Anthropic 2026：</a:t>
            </a:r>
            <a:r>
              <a:rPr lang="en-US" sz="1600" i="1" dirty="0">
                <a:solidFill>
                  <a:srgbClr val="333333"/>
                </a:solidFill>
                <a:latin typeface="微软雅黑" pitchFamily="34" charset="-122"/>
                <a:ea typeface="微软雅黑" pitchFamily="34" charset="-122"/>
                <a:cs typeface="微软雅黑" pitchFamily="34" charset="-120"/>
              </a:rPr>
              <a:t>"Claude is no longer a chatbot"</a:t>
            </a:r>
            <a:endParaRPr lang="en-US" sz="1600" dirty="0">
              <a:latin typeface="微软雅黑" pitchFamily="34" charset="-122"/>
              <a:ea typeface="微软雅黑" pitchFamily="34" charset="-122"/>
            </a:endParaRPr>
          </a:p>
          <a:p>
            <a:pPr>
              <a:lnSpc>
                <a:spcPct val="150000"/>
              </a:lnSpc>
              <a:spcBef>
                <a:spcPts val="600"/>
              </a:spcBef>
            </a:pPr>
            <a:r>
              <a:rPr lang="en-US" sz="1600" dirty="0">
                <a:solidFill>
                  <a:srgbClr val="333333"/>
                </a:solidFill>
                <a:latin typeface="微软雅黑" pitchFamily="34" charset="-122"/>
                <a:ea typeface="微软雅黑" pitchFamily="34" charset="-122"/>
                <a:cs typeface="微软雅黑" pitchFamily="34" charset="-120"/>
              </a:rPr>
              <a:t>基本要素：</a:t>
            </a:r>
            <a:r>
              <a:rPr lang="en-US" sz="1600" b="1" dirty="0">
                <a:solidFill>
                  <a:srgbClr val="333333"/>
                </a:solidFill>
                <a:latin typeface="微软雅黑" pitchFamily="34" charset="-122"/>
                <a:ea typeface="微软雅黑" pitchFamily="34" charset="-122"/>
                <a:cs typeface="微软雅黑" pitchFamily="34" charset="-120"/>
              </a:rPr>
              <a:t>LLM 大脑</a:t>
            </a:r>
            <a:r>
              <a:rPr lang="en-US" sz="1600" dirty="0">
                <a:solidFill>
                  <a:srgbClr val="333333"/>
                </a:solidFill>
                <a:latin typeface="微软雅黑" pitchFamily="34" charset="-122"/>
                <a:ea typeface="微软雅黑" pitchFamily="34" charset="-122"/>
                <a:cs typeface="微软雅黑" pitchFamily="34" charset="-120"/>
              </a:rPr>
              <a:t> + </a:t>
            </a:r>
            <a:r>
              <a:rPr lang="en-US" sz="1600" b="1" dirty="0">
                <a:solidFill>
                  <a:srgbClr val="333333"/>
                </a:solidFill>
                <a:latin typeface="微软雅黑" pitchFamily="34" charset="-122"/>
                <a:ea typeface="微软雅黑" pitchFamily="34" charset="-122"/>
                <a:cs typeface="微软雅黑" pitchFamily="34" charset="-120"/>
              </a:rPr>
              <a:t>工具调用</a:t>
            </a:r>
            <a:r>
              <a:rPr lang="en-US" sz="1600" dirty="0">
                <a:solidFill>
                  <a:srgbClr val="333333"/>
                </a:solidFill>
                <a:latin typeface="微软雅黑" pitchFamily="34" charset="-122"/>
                <a:ea typeface="微软雅黑" pitchFamily="34" charset="-122"/>
                <a:cs typeface="微软雅黑" pitchFamily="34" charset="-120"/>
              </a:rPr>
              <a:t> + </a:t>
            </a:r>
            <a:r>
              <a:rPr lang="en-US" sz="1600" b="1" dirty="0">
                <a:solidFill>
                  <a:srgbClr val="333333"/>
                </a:solidFill>
                <a:latin typeface="微软雅黑" pitchFamily="34" charset="-122"/>
                <a:ea typeface="微软雅黑" pitchFamily="34" charset="-122"/>
                <a:cs typeface="微软雅黑" pitchFamily="34" charset="-120"/>
              </a:rPr>
              <a:t>自主循环</a:t>
            </a:r>
            <a:r>
              <a:rPr lang="en-US" sz="1600" dirty="0">
                <a:solidFill>
                  <a:srgbClr val="333333"/>
                </a:solidFill>
                <a:latin typeface="微软雅黑" pitchFamily="34" charset="-122"/>
                <a:ea typeface="微软雅黑" pitchFamily="34" charset="-122"/>
                <a:cs typeface="微软雅黑" pitchFamily="34" charset="-120"/>
              </a:rPr>
              <a:t>（观察→决策→行动→反馈）+ </a:t>
            </a:r>
            <a:r>
              <a:rPr lang="en-US" sz="1600" b="1" dirty="0">
                <a:solidFill>
                  <a:srgbClr val="333333"/>
                </a:solidFill>
                <a:latin typeface="微软雅黑" pitchFamily="34" charset="-122"/>
                <a:ea typeface="微软雅黑" pitchFamily="34" charset="-122"/>
                <a:cs typeface="微软雅黑" pitchFamily="34" charset="-120"/>
              </a:rPr>
              <a:t>持久化上下文</a:t>
            </a:r>
            <a:endParaRPr lang="en-US" sz="1600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65" name="Shape 7"/>
          <p:cNvSpPr/>
          <p:nvPr/>
        </p:nvSpPr>
        <p:spPr>
          <a:xfrm>
            <a:off x="11386820" y="1032706"/>
            <a:ext cx="3302000" cy="952500"/>
          </a:xfrm>
          <a:prstGeom prst="roundRect">
            <a:avLst>
              <a:gd name="adj" fmla="val 5000"/>
            </a:avLst>
          </a:prstGeom>
          <a:solidFill>
            <a:srgbClr val="F2F2F2"/>
          </a:solidFill>
        </p:spPr>
        <p:txBody>
          <a:bodyPr/>
          <a:lstStyle/>
          <a:p>
            <a:endParaRPr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66" name="Text 8"/>
          <p:cNvSpPr/>
          <p:nvPr/>
        </p:nvSpPr>
        <p:spPr>
          <a:xfrm>
            <a:off x="11513820" y="1070806"/>
            <a:ext cx="1524000" cy="4826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800" b="1" dirty="0">
                <a:solidFill>
                  <a:srgbClr val="C00000"/>
                </a:solidFill>
                <a:latin typeface="微软雅黑" pitchFamily="34" charset="-122"/>
                <a:ea typeface="微软雅黑" pitchFamily="34" charset="-122"/>
                <a:cs typeface="微软雅黑" pitchFamily="34" charset="-120"/>
              </a:rPr>
              <a:t>+26%</a:t>
            </a:r>
            <a:endParaRPr lang="en-US" sz="1600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67" name="Text 9"/>
          <p:cNvSpPr/>
          <p:nvPr/>
        </p:nvSpPr>
        <p:spPr>
          <a:xfrm>
            <a:off x="11513820" y="1553406"/>
            <a:ext cx="3048000" cy="429768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l">
              <a:lnSpc>
                <a:spcPct val="100000"/>
              </a:lnSpc>
            </a:pPr>
            <a:r>
              <a:rPr lang="en-US" altLang="zh-CN" sz="1300" dirty="0">
                <a:solidFill>
                  <a:srgbClr val="7F7F7F"/>
                </a:solidFill>
                <a:latin typeface="微软雅黑" pitchFamily="34" charset="-122"/>
                <a:ea typeface="微软雅黑" pitchFamily="34" charset="-122"/>
                <a:cs typeface="微软雅黑" pitchFamily="34" charset="-120"/>
              </a:rPr>
              <a:t>Microsoft Copilot 周 PR 完成数提升</a:t>
            </a:r>
            <a:endParaRPr lang="en-US" sz="1600" dirty="0">
              <a:latin typeface="微软雅黑" pitchFamily="34" charset="-122"/>
              <a:ea typeface="微软雅黑" pitchFamily="34" charset="-122"/>
            </a:endParaRPr>
          </a:p>
          <a:p>
            <a:pPr algn="l">
              <a:lnSpc>
                <a:spcPct val="100000"/>
              </a:lnSpc>
            </a:pPr>
            <a:r>
              <a:rPr lang="en-US" altLang="zh-CN" sz="1100" dirty="0">
                <a:solidFill>
                  <a:srgbClr val="7F7F7F"/>
                </a:solidFill>
                <a:latin typeface="微软雅黑" pitchFamily="34" charset="-122"/>
                <a:ea typeface="微软雅黑" pitchFamily="34" charset="-122"/>
                <a:cs typeface="微软雅黑" pitchFamily="34" charset="-120"/>
              </a:rPr>
              <a:t>arXiv 2302.06590 对照实验</a:t>
            </a:r>
            <a:endParaRPr lang="en-US" sz="1600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68" name="Shape 13"/>
          <p:cNvSpPr/>
          <p:nvPr/>
        </p:nvSpPr>
        <p:spPr>
          <a:xfrm>
            <a:off x="11386820" y="2112206"/>
            <a:ext cx="3302000" cy="952500"/>
          </a:xfrm>
          <a:prstGeom prst="roundRect">
            <a:avLst>
              <a:gd name="adj" fmla="val 5000"/>
            </a:avLst>
          </a:prstGeom>
          <a:solidFill>
            <a:srgbClr val="F2F2F2"/>
          </a:solidFill>
        </p:spPr>
        <p:txBody>
          <a:bodyPr/>
          <a:lstStyle/>
          <a:p>
            <a:endParaRPr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69" name="Text 14"/>
          <p:cNvSpPr/>
          <p:nvPr/>
        </p:nvSpPr>
        <p:spPr>
          <a:xfrm>
            <a:off x="11513820" y="2150306"/>
            <a:ext cx="1524000" cy="4826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800" b="1" dirty="0">
                <a:solidFill>
                  <a:srgbClr val="C00000"/>
                </a:solidFill>
                <a:latin typeface="微软雅黑" pitchFamily="34" charset="-122"/>
                <a:ea typeface="微软雅黑" pitchFamily="34" charset="-122"/>
                <a:cs typeface="微软雅黑" pitchFamily="34" charset="-120"/>
              </a:rPr>
              <a:t>4%</a:t>
            </a:r>
            <a:endParaRPr lang="en-US" sz="1600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70" name="Text 15"/>
          <p:cNvSpPr/>
          <p:nvPr/>
        </p:nvSpPr>
        <p:spPr>
          <a:xfrm>
            <a:off x="11513820" y="2632906"/>
            <a:ext cx="3048000" cy="429768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300" dirty="0">
                <a:solidFill>
                  <a:srgbClr val="7F7F7F"/>
                </a:solidFill>
                <a:latin typeface="微软雅黑" pitchFamily="34" charset="-122"/>
                <a:ea typeface="微软雅黑" pitchFamily="34" charset="-122"/>
                <a:cs typeface="微软雅黑" pitchFamily="34" charset="-120"/>
              </a:rPr>
              <a:t>Claude Code 占全球 GitHub commit</a:t>
            </a:r>
            <a:endParaRPr lang="en-US" sz="1600" dirty="0">
              <a:latin typeface="微软雅黑" pitchFamily="34" charset="-122"/>
              <a:ea typeface="微软雅黑" pitchFamily="34" charset="-122"/>
            </a:endParaRPr>
          </a:p>
          <a:p>
            <a:pPr>
              <a:lnSpc>
                <a:spcPct val="100000"/>
              </a:lnSpc>
            </a:pPr>
            <a:r>
              <a:rPr lang="en-US" sz="1100" dirty="0">
                <a:solidFill>
                  <a:srgbClr val="7F7F7F"/>
                </a:solidFill>
                <a:latin typeface="微软雅黑" pitchFamily="34" charset="-122"/>
                <a:ea typeface="微软雅黑" pitchFamily="34" charset="-122"/>
                <a:cs typeface="微软雅黑" pitchFamily="34" charset="-120"/>
              </a:rPr>
              <a:t>SemiAnalysis 报告</a:t>
            </a:r>
            <a:endParaRPr lang="en-US" sz="1600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71" name="Shape 19"/>
          <p:cNvSpPr/>
          <p:nvPr/>
        </p:nvSpPr>
        <p:spPr>
          <a:xfrm>
            <a:off x="1016000" y="3255208"/>
            <a:ext cx="14224000" cy="0"/>
          </a:xfrm>
          <a:prstGeom prst="straightConnector1">
            <a:avLst/>
          </a:prstGeom>
          <a:noFill/>
          <a:ln w="12700">
            <a:solidFill>
              <a:srgbClr val="E0E0E0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72" name="Shape 20"/>
          <p:cNvSpPr/>
          <p:nvPr/>
        </p:nvSpPr>
        <p:spPr>
          <a:xfrm>
            <a:off x="1016000" y="3445708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152400" y="0"/>
                </a:moveTo>
                <a:cubicBezTo>
                  <a:pt x="161151" y="0"/>
                  <a:pt x="169188" y="4822"/>
                  <a:pt x="173355" y="12502"/>
                </a:cubicBezTo>
                <a:lnTo>
                  <a:pt x="301943" y="250627"/>
                </a:lnTo>
                <a:cubicBezTo>
                  <a:pt x="305931" y="258008"/>
                  <a:pt x="305753" y="266938"/>
                  <a:pt x="301466" y="274141"/>
                </a:cubicBezTo>
                <a:cubicBezTo>
                  <a:pt x="297180" y="281345"/>
                  <a:pt x="289381" y="285750"/>
                  <a:pt x="280987" y="285750"/>
                </a:cubicBezTo>
                <a:lnTo>
                  <a:pt x="23813" y="285750"/>
                </a:lnTo>
                <a:cubicBezTo>
                  <a:pt x="15419" y="285750"/>
                  <a:pt x="7680" y="281345"/>
                  <a:pt x="3334" y="274141"/>
                </a:cubicBezTo>
                <a:cubicBezTo>
                  <a:pt x="-1012" y="266938"/>
                  <a:pt x="-1131" y="258008"/>
                  <a:pt x="2858" y="250627"/>
                </a:cubicBezTo>
                <a:lnTo>
                  <a:pt x="131445" y="12502"/>
                </a:lnTo>
                <a:cubicBezTo>
                  <a:pt x="135612" y="4822"/>
                  <a:pt x="143649" y="0"/>
                  <a:pt x="152400" y="0"/>
                </a:cubicBezTo>
                <a:close/>
                <a:moveTo>
                  <a:pt x="152400" y="100013"/>
                </a:moveTo>
                <a:cubicBezTo>
                  <a:pt x="144482" y="100013"/>
                  <a:pt x="138113" y="106382"/>
                  <a:pt x="138113" y="114300"/>
                </a:cubicBezTo>
                <a:lnTo>
                  <a:pt x="138113" y="180975"/>
                </a:lnTo>
                <a:cubicBezTo>
                  <a:pt x="138113" y="188893"/>
                  <a:pt x="144482" y="195263"/>
                  <a:pt x="152400" y="195263"/>
                </a:cubicBezTo>
                <a:cubicBezTo>
                  <a:pt x="160318" y="195263"/>
                  <a:pt x="166688" y="188893"/>
                  <a:pt x="166688" y="180975"/>
                </a:cubicBezTo>
                <a:lnTo>
                  <a:pt x="166688" y="114300"/>
                </a:lnTo>
                <a:cubicBezTo>
                  <a:pt x="166688" y="106382"/>
                  <a:pt x="160318" y="100013"/>
                  <a:pt x="152400" y="100013"/>
                </a:cubicBezTo>
                <a:close/>
                <a:moveTo>
                  <a:pt x="168295" y="228600"/>
                </a:moveTo>
                <a:cubicBezTo>
                  <a:pt x="168656" y="222700"/>
                  <a:pt x="165714" y="217087"/>
                  <a:pt x="160656" y="214027"/>
                </a:cubicBezTo>
                <a:cubicBezTo>
                  <a:pt x="155599" y="210968"/>
                  <a:pt x="149261" y="210968"/>
                  <a:pt x="144203" y="214027"/>
                </a:cubicBezTo>
                <a:cubicBezTo>
                  <a:pt x="139145" y="217087"/>
                  <a:pt x="136203" y="222700"/>
                  <a:pt x="136565" y="228600"/>
                </a:cubicBezTo>
                <a:cubicBezTo>
                  <a:pt x="136203" y="234500"/>
                  <a:pt x="139145" y="240113"/>
                  <a:pt x="144203" y="243173"/>
                </a:cubicBezTo>
                <a:cubicBezTo>
                  <a:pt x="149261" y="246232"/>
                  <a:pt x="155599" y="246232"/>
                  <a:pt x="160656" y="243173"/>
                </a:cubicBezTo>
                <a:cubicBezTo>
                  <a:pt x="165714" y="240113"/>
                  <a:pt x="168656" y="234500"/>
                  <a:pt x="168295" y="228600"/>
                </a:cubicBezTo>
                <a:close/>
              </a:path>
            </a:pathLst>
          </a:custGeom>
          <a:solidFill>
            <a:srgbClr val="C00000"/>
          </a:solidFill>
        </p:spPr>
        <p:txBody>
          <a:bodyPr/>
          <a:lstStyle/>
          <a:p>
            <a:endParaRPr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73" name="Text 21"/>
          <p:cNvSpPr/>
          <p:nvPr/>
        </p:nvSpPr>
        <p:spPr>
          <a:xfrm>
            <a:off x="1422400" y="3420308"/>
            <a:ext cx="7620000" cy="3556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l">
              <a:lnSpc>
                <a:spcPct val="100000"/>
              </a:lnSpc>
            </a:pPr>
            <a:r>
              <a:rPr lang="en-US" sz="2000" b="1" dirty="0">
                <a:solidFill>
                  <a:srgbClr val="333333"/>
                </a:solidFill>
                <a:latin typeface="微软雅黑" pitchFamily="34" charset="-122"/>
                <a:ea typeface="微软雅黑" pitchFamily="34" charset="-122"/>
                <a:cs typeface="微软雅黑" pitchFamily="34" charset="-120"/>
              </a:rPr>
              <a:t>通用 Agent 难以稳定完成长链路、强依赖、重验证的 NPU 推理优化任务</a:t>
            </a:r>
            <a:endParaRPr lang="en-US" sz="2000" b="1" dirty="0">
              <a:solidFill>
                <a:srgbClr val="333333"/>
              </a:solidFill>
              <a:latin typeface="微软雅黑" pitchFamily="34" charset="-122"/>
              <a:ea typeface="微软雅黑" pitchFamily="34" charset="-122"/>
              <a:cs typeface="微软雅黑" pitchFamily="34" charset="-120"/>
            </a:endParaRPr>
          </a:p>
        </p:txBody>
      </p:sp>
      <p:sp>
        <p:nvSpPr>
          <p:cNvPr id="74" name="Shape 22"/>
          <p:cNvSpPr/>
          <p:nvPr/>
        </p:nvSpPr>
        <p:spPr>
          <a:xfrm>
            <a:off x="1016000" y="3890208"/>
            <a:ext cx="3238500" cy="1657985"/>
          </a:xfrm>
          <a:prstGeom prst="roundRect">
            <a:avLst>
              <a:gd name="adj" fmla="val 5000"/>
            </a:avLst>
          </a:prstGeom>
          <a:solidFill>
            <a:srgbClr val="F2F2F2"/>
          </a:solidFill>
        </p:spPr>
        <p:txBody>
          <a:bodyPr/>
          <a:lstStyle/>
          <a:p>
            <a:endParaRPr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75" name="Shape 23"/>
          <p:cNvSpPr/>
          <p:nvPr/>
        </p:nvSpPr>
        <p:spPr>
          <a:xfrm>
            <a:off x="1016000" y="3890208"/>
            <a:ext cx="3238500" cy="50800"/>
          </a:xfrm>
          <a:prstGeom prst="rect">
            <a:avLst/>
          </a:prstGeom>
          <a:solidFill>
            <a:srgbClr val="C00000"/>
          </a:solidFill>
        </p:spPr>
        <p:txBody>
          <a:bodyPr/>
          <a:lstStyle/>
          <a:p>
            <a:endParaRPr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76" name="Text 24"/>
          <p:cNvSpPr/>
          <p:nvPr/>
        </p:nvSpPr>
        <p:spPr>
          <a:xfrm>
            <a:off x="1168400" y="4042608"/>
            <a:ext cx="2921000" cy="3048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l">
              <a:lnSpc>
                <a:spcPct val="100000"/>
              </a:lnSpc>
            </a:pPr>
            <a:r>
              <a:rPr lang="en-US" sz="1600" b="1" dirty="0">
                <a:solidFill>
                  <a:srgbClr val="595959"/>
                </a:solidFill>
                <a:latin typeface="微软雅黑" pitchFamily="34" charset="-122"/>
                <a:ea typeface="微软雅黑" pitchFamily="34" charset="-122"/>
                <a:cs typeface="微软雅黑" pitchFamily="34" charset="-120"/>
              </a:rPr>
              <a:t>仓库经验难复用，阶段选型不准确</a:t>
            </a:r>
            <a:endParaRPr lang="en-US" sz="1600" b="1" dirty="0">
              <a:solidFill>
                <a:srgbClr val="595959"/>
              </a:solidFill>
              <a:latin typeface="微软雅黑" pitchFamily="34" charset="-122"/>
              <a:ea typeface="微软雅黑" pitchFamily="34" charset="-122"/>
              <a:cs typeface="微软雅黑" pitchFamily="34" charset="-120"/>
            </a:endParaRPr>
          </a:p>
        </p:txBody>
      </p:sp>
      <p:sp>
        <p:nvSpPr>
          <p:cNvPr id="77" name="Text 25"/>
          <p:cNvSpPr/>
          <p:nvPr/>
        </p:nvSpPr>
        <p:spPr>
          <a:xfrm>
            <a:off x="1168400" y="4372808"/>
            <a:ext cx="2921000" cy="1102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zh-CN" altLang="en-US" sz="1600" dirty="0">
                <a:solidFill>
                  <a:srgbClr val="333333"/>
                </a:solidFill>
                <a:latin typeface="微软雅黑" pitchFamily="34" charset="-122"/>
                <a:ea typeface="微软雅黑" pitchFamily="34" charset="-122"/>
                <a:cs typeface="微软雅黑" pitchFamily="34" charset="-120"/>
              </a:rPr>
              <a:t>真实优化同类参考案例实现</a:t>
            </a:r>
            <a:r>
              <a:rPr lang="en-US" altLang="zh-CN" sz="1600" dirty="0">
                <a:solidFill>
                  <a:srgbClr val="333333"/>
                </a:solidFill>
                <a:latin typeface="微软雅黑" pitchFamily="34" charset="-122"/>
                <a:ea typeface="微软雅黑" pitchFamily="34" charset="-122"/>
                <a:cs typeface="微软雅黑" pitchFamily="34" charset="-120"/>
              </a:rPr>
              <a:t>、</a:t>
            </a:r>
            <a:r>
              <a:rPr lang="zh-CN" altLang="en-US" sz="1600" dirty="0">
                <a:solidFill>
                  <a:srgbClr val="333333"/>
                </a:solidFill>
                <a:latin typeface="微软雅黑" pitchFamily="34" charset="-122"/>
                <a:ea typeface="微软雅黑" pitchFamily="34" charset="-122"/>
                <a:cs typeface="微软雅黑" pitchFamily="34" charset="-120"/>
              </a:rPr>
              <a:t>推荐路径与踩坑经验</a:t>
            </a:r>
            <a:r>
              <a:rPr lang="en-US" altLang="zh-CN" sz="1600" dirty="0">
                <a:solidFill>
                  <a:srgbClr val="333333"/>
                </a:solidFill>
                <a:latin typeface="微软雅黑" pitchFamily="34" charset="-122"/>
                <a:ea typeface="微软雅黑" pitchFamily="34" charset="-122"/>
                <a:cs typeface="微软雅黑" pitchFamily="34" charset="-120"/>
              </a:rPr>
              <a:t>，</a:t>
            </a:r>
            <a:r>
              <a:rPr lang="zh-CN" altLang="en-US" sz="1600" dirty="0">
                <a:solidFill>
                  <a:srgbClr val="333333"/>
                </a:solidFill>
                <a:latin typeface="微软雅黑" pitchFamily="34" charset="-122"/>
                <a:ea typeface="微软雅黑" pitchFamily="34" charset="-122"/>
                <a:cs typeface="微软雅黑" pitchFamily="34" charset="-120"/>
              </a:rPr>
              <a:t>通用</a:t>
            </a:r>
            <a:r>
              <a:rPr lang="en-US" altLang="zh-CN" sz="1600" dirty="0">
                <a:solidFill>
                  <a:srgbClr val="333333"/>
                </a:solidFill>
                <a:latin typeface="微软雅黑" pitchFamily="34" charset="-122"/>
                <a:ea typeface="微软雅黑" pitchFamily="34" charset="-122"/>
                <a:cs typeface="微软雅黑" pitchFamily="34" charset="-120"/>
              </a:rPr>
              <a:t>Agent</a:t>
            </a:r>
            <a:r>
              <a:rPr lang="zh-CN" altLang="en-US" sz="1600" dirty="0">
                <a:solidFill>
                  <a:srgbClr val="333333"/>
                </a:solidFill>
                <a:latin typeface="微软雅黑" pitchFamily="34" charset="-122"/>
                <a:ea typeface="微软雅黑" pitchFamily="34" charset="-122"/>
                <a:cs typeface="微软雅黑" pitchFamily="34" charset="-120"/>
              </a:rPr>
              <a:t>缺少支撑</a:t>
            </a:r>
            <a:endParaRPr lang="zh-CN" altLang="en-US" sz="1600" dirty="0">
              <a:solidFill>
                <a:srgbClr val="333333"/>
              </a:solidFill>
              <a:latin typeface="微软雅黑" pitchFamily="34" charset="-122"/>
              <a:ea typeface="微软雅黑" pitchFamily="34" charset="-122"/>
              <a:cs typeface="微软雅黑" pitchFamily="34" charset="-120"/>
            </a:endParaRPr>
          </a:p>
        </p:txBody>
      </p:sp>
      <p:sp>
        <p:nvSpPr>
          <p:cNvPr id="78" name="Shape 26"/>
          <p:cNvSpPr/>
          <p:nvPr/>
        </p:nvSpPr>
        <p:spPr>
          <a:xfrm>
            <a:off x="4508500" y="3890208"/>
            <a:ext cx="3238500" cy="1651000"/>
          </a:xfrm>
          <a:prstGeom prst="roundRect">
            <a:avLst>
              <a:gd name="adj" fmla="val 5000"/>
            </a:avLst>
          </a:prstGeom>
          <a:solidFill>
            <a:srgbClr val="F2F2F2"/>
          </a:solidFill>
        </p:spPr>
        <p:txBody>
          <a:bodyPr/>
          <a:lstStyle/>
          <a:p>
            <a:endParaRPr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79" name="Shape 27"/>
          <p:cNvSpPr/>
          <p:nvPr/>
        </p:nvSpPr>
        <p:spPr>
          <a:xfrm>
            <a:off x="4508500" y="3890208"/>
            <a:ext cx="3238500" cy="50800"/>
          </a:xfrm>
          <a:prstGeom prst="rect">
            <a:avLst/>
          </a:prstGeom>
          <a:solidFill>
            <a:srgbClr val="C00000"/>
          </a:solidFill>
        </p:spPr>
        <p:txBody>
          <a:bodyPr/>
          <a:lstStyle/>
          <a:p>
            <a:endParaRPr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80" name="Text 28"/>
          <p:cNvSpPr/>
          <p:nvPr/>
        </p:nvSpPr>
        <p:spPr>
          <a:xfrm>
            <a:off x="4613275" y="4042608"/>
            <a:ext cx="2921000" cy="3048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l">
              <a:lnSpc>
                <a:spcPct val="100000"/>
              </a:lnSpc>
            </a:pPr>
            <a:r>
              <a:rPr lang="en-US" sz="1600" b="1" dirty="0">
                <a:solidFill>
                  <a:srgbClr val="595959"/>
                </a:solidFill>
                <a:latin typeface="微软雅黑" pitchFamily="34" charset="-122"/>
                <a:ea typeface="微软雅黑" pitchFamily="34" charset="-122"/>
                <a:cs typeface="微软雅黑" pitchFamily="34" charset="-120"/>
              </a:rPr>
              <a:t>领域知识不完整，难把握优化边界</a:t>
            </a:r>
            <a:endParaRPr lang="en-US" sz="1600" b="1" dirty="0">
              <a:solidFill>
                <a:srgbClr val="595959"/>
              </a:solidFill>
              <a:latin typeface="微软雅黑" pitchFamily="34" charset="-122"/>
              <a:ea typeface="微软雅黑" pitchFamily="34" charset="-122"/>
              <a:cs typeface="微软雅黑" pitchFamily="34" charset="-120"/>
            </a:endParaRPr>
          </a:p>
        </p:txBody>
      </p:sp>
      <p:sp>
        <p:nvSpPr>
          <p:cNvPr id="81" name="Text 29"/>
          <p:cNvSpPr/>
          <p:nvPr/>
        </p:nvSpPr>
        <p:spPr>
          <a:xfrm>
            <a:off x="4660900" y="4372808"/>
            <a:ext cx="3012440" cy="110172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600" dirty="0">
                <a:solidFill>
                  <a:srgbClr val="333333"/>
                </a:solidFill>
                <a:latin typeface="微软雅黑" pitchFamily="34" charset="-122"/>
                <a:ea typeface="微软雅黑" pitchFamily="34" charset="-122"/>
                <a:cs typeface="微软雅黑" pitchFamily="34" charset="-120"/>
              </a:rPr>
              <a:t>Agent</a:t>
            </a:r>
            <a:r>
              <a:rPr lang="zh-CN" altLang="en-US" sz="1600" dirty="0">
                <a:solidFill>
                  <a:srgbClr val="333333"/>
                </a:solidFill>
                <a:latin typeface="微软雅黑" pitchFamily="34" charset="-122"/>
                <a:ea typeface="微软雅黑" pitchFamily="34" charset="-122"/>
                <a:cs typeface="微软雅黑" pitchFamily="34" charset="-120"/>
              </a:rPr>
              <a:t>不了解各种原子化</a:t>
            </a:r>
            <a:r>
              <a:rPr lang="en-US" altLang="zh-CN" sz="1600" dirty="0">
                <a:solidFill>
                  <a:srgbClr val="333333"/>
                </a:solidFill>
                <a:latin typeface="微软雅黑" pitchFamily="34" charset="-122"/>
                <a:ea typeface="微软雅黑" pitchFamily="34" charset="-122"/>
                <a:cs typeface="微软雅黑" pitchFamily="34" charset="-120"/>
              </a:rPr>
              <a:t> CANN </a:t>
            </a:r>
            <a:r>
              <a:rPr lang="zh-CN" altLang="en-US" sz="1600" dirty="0">
                <a:solidFill>
                  <a:srgbClr val="333333"/>
                </a:solidFill>
                <a:latin typeface="微软雅黑" pitchFamily="34" charset="-122"/>
                <a:ea typeface="微软雅黑" pitchFamily="34" charset="-122"/>
                <a:cs typeface="微软雅黑" pitchFamily="34" charset="-120"/>
              </a:rPr>
              <a:t>优化能力的使用前提</a:t>
            </a:r>
            <a:r>
              <a:rPr lang="en-US" altLang="zh-CN" sz="1600" dirty="0">
                <a:solidFill>
                  <a:srgbClr val="333333"/>
                </a:solidFill>
                <a:latin typeface="微软雅黑" pitchFamily="34" charset="-122"/>
                <a:ea typeface="微软雅黑" pitchFamily="34" charset="-122"/>
                <a:cs typeface="微软雅黑" pitchFamily="34" charset="-120"/>
              </a:rPr>
              <a:t>、</a:t>
            </a:r>
            <a:r>
              <a:rPr lang="zh-CN" altLang="en-US" sz="1600" dirty="0">
                <a:solidFill>
                  <a:srgbClr val="333333"/>
                </a:solidFill>
                <a:latin typeface="微软雅黑" pitchFamily="34" charset="-122"/>
                <a:ea typeface="微软雅黑" pitchFamily="34" charset="-122"/>
                <a:cs typeface="微软雅黑" pitchFamily="34" charset="-120"/>
              </a:rPr>
              <a:t>组合关系与工程约束</a:t>
            </a:r>
            <a:endParaRPr lang="zh-CN" altLang="en-US" sz="1600" dirty="0">
              <a:solidFill>
                <a:srgbClr val="333333"/>
              </a:solidFill>
              <a:latin typeface="微软雅黑" pitchFamily="34" charset="-122"/>
              <a:ea typeface="微软雅黑" pitchFamily="34" charset="-122"/>
              <a:cs typeface="微软雅黑" pitchFamily="34" charset="-120"/>
            </a:endParaRPr>
          </a:p>
        </p:txBody>
      </p:sp>
      <p:sp>
        <p:nvSpPr>
          <p:cNvPr id="82" name="Shape 30"/>
          <p:cNvSpPr/>
          <p:nvPr/>
        </p:nvSpPr>
        <p:spPr>
          <a:xfrm>
            <a:off x="8001000" y="3890208"/>
            <a:ext cx="3238500" cy="1654175"/>
          </a:xfrm>
          <a:prstGeom prst="roundRect">
            <a:avLst>
              <a:gd name="adj" fmla="val 5000"/>
            </a:avLst>
          </a:prstGeom>
          <a:solidFill>
            <a:srgbClr val="F2F2F2"/>
          </a:solidFill>
        </p:spPr>
        <p:txBody>
          <a:bodyPr/>
          <a:lstStyle/>
          <a:p>
            <a:endParaRPr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83" name="Shape 31"/>
          <p:cNvSpPr/>
          <p:nvPr/>
        </p:nvSpPr>
        <p:spPr>
          <a:xfrm>
            <a:off x="8001000" y="3890208"/>
            <a:ext cx="3238500" cy="50800"/>
          </a:xfrm>
          <a:prstGeom prst="rect">
            <a:avLst/>
          </a:prstGeom>
          <a:solidFill>
            <a:srgbClr val="C00000"/>
          </a:solidFill>
        </p:spPr>
        <p:txBody>
          <a:bodyPr/>
          <a:lstStyle/>
          <a:p>
            <a:endParaRPr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84" name="Text 32"/>
          <p:cNvSpPr/>
          <p:nvPr/>
        </p:nvSpPr>
        <p:spPr>
          <a:xfrm>
            <a:off x="8153400" y="4042608"/>
            <a:ext cx="2921000" cy="3048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l">
              <a:lnSpc>
                <a:spcPct val="100000"/>
              </a:lnSpc>
            </a:pPr>
            <a:r>
              <a:rPr lang="en-US" sz="1600" b="1" dirty="0">
                <a:solidFill>
                  <a:srgbClr val="595959"/>
                </a:solidFill>
                <a:latin typeface="微软雅黑" pitchFamily="34" charset="-122"/>
                <a:ea typeface="微软雅黑" pitchFamily="34" charset="-122"/>
                <a:cs typeface="微软雅黑" pitchFamily="34" charset="-120"/>
              </a:rPr>
              <a:t>验证门禁弱，闭环难以稳定落地</a:t>
            </a:r>
            <a:endParaRPr lang="en-US" sz="1600" b="1" dirty="0">
              <a:solidFill>
                <a:srgbClr val="595959"/>
              </a:solidFill>
              <a:latin typeface="微软雅黑" pitchFamily="34" charset="-122"/>
              <a:ea typeface="微软雅黑" pitchFamily="34" charset="-122"/>
              <a:cs typeface="微软雅黑" pitchFamily="34" charset="-120"/>
            </a:endParaRPr>
          </a:p>
        </p:txBody>
      </p:sp>
      <p:sp>
        <p:nvSpPr>
          <p:cNvPr id="85" name="Text 33"/>
          <p:cNvSpPr/>
          <p:nvPr/>
        </p:nvSpPr>
        <p:spPr>
          <a:xfrm>
            <a:off x="8153400" y="4372808"/>
            <a:ext cx="3115945" cy="1102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zh-CN" altLang="en-US" sz="1600" dirty="0">
                <a:solidFill>
                  <a:srgbClr val="333333"/>
                </a:solidFill>
                <a:latin typeface="微软雅黑" pitchFamily="34" charset="-122"/>
                <a:ea typeface="微软雅黑" pitchFamily="34" charset="-122"/>
                <a:cs typeface="微软雅黑" pitchFamily="34" charset="-120"/>
              </a:rPr>
              <a:t>完整优化链路缺少逐阶段验证</a:t>
            </a:r>
            <a:r>
              <a:rPr lang="en-US" altLang="zh-CN" sz="1600" dirty="0">
                <a:solidFill>
                  <a:srgbClr val="333333"/>
                </a:solidFill>
                <a:latin typeface="微软雅黑" pitchFamily="34" charset="-122"/>
                <a:ea typeface="微软雅黑" pitchFamily="34" charset="-122"/>
                <a:cs typeface="微软雅黑" pitchFamily="34" charset="-120"/>
              </a:rPr>
              <a:t>、</a:t>
            </a:r>
            <a:r>
              <a:rPr lang="zh-CN" altLang="en-US" sz="1600" dirty="0">
                <a:solidFill>
                  <a:srgbClr val="333333"/>
                </a:solidFill>
                <a:latin typeface="微软雅黑" pitchFamily="34" charset="-122"/>
                <a:ea typeface="微软雅黑" pitchFamily="34" charset="-122"/>
                <a:cs typeface="微软雅黑" pitchFamily="34" charset="-120"/>
              </a:rPr>
              <a:t>异常回退和问题定位排查机制</a:t>
            </a:r>
            <a:r>
              <a:rPr lang="en-US" altLang="zh-CN" sz="1600" dirty="0">
                <a:solidFill>
                  <a:srgbClr val="333333"/>
                </a:solidFill>
                <a:latin typeface="微软雅黑" pitchFamily="34" charset="-122"/>
                <a:ea typeface="微软雅黑" pitchFamily="34" charset="-122"/>
                <a:cs typeface="微软雅黑" pitchFamily="34" charset="-120"/>
              </a:rPr>
              <a:t>，</a:t>
            </a:r>
            <a:r>
              <a:rPr lang="zh-CN" altLang="en-US" sz="1600" dirty="0">
                <a:solidFill>
                  <a:srgbClr val="333333"/>
                </a:solidFill>
                <a:latin typeface="微软雅黑" pitchFamily="34" charset="-122"/>
                <a:ea typeface="微软雅黑" pitchFamily="34" charset="-122"/>
                <a:cs typeface="微软雅黑" pitchFamily="34" charset="-120"/>
              </a:rPr>
              <a:t>难稳定闭环</a:t>
            </a:r>
            <a:endParaRPr lang="zh-CN" altLang="en-US" sz="1600" dirty="0">
              <a:solidFill>
                <a:srgbClr val="333333"/>
              </a:solidFill>
              <a:latin typeface="微软雅黑" pitchFamily="34" charset="-122"/>
              <a:ea typeface="微软雅黑" pitchFamily="34" charset="-122"/>
              <a:cs typeface="微软雅黑" pitchFamily="34" charset="-120"/>
            </a:endParaRPr>
          </a:p>
        </p:txBody>
      </p:sp>
      <p:sp>
        <p:nvSpPr>
          <p:cNvPr id="86" name="Shape 34"/>
          <p:cNvSpPr/>
          <p:nvPr/>
        </p:nvSpPr>
        <p:spPr>
          <a:xfrm>
            <a:off x="11493500" y="3890208"/>
            <a:ext cx="3746500" cy="1676400"/>
          </a:xfrm>
          <a:prstGeom prst="roundRect">
            <a:avLst>
              <a:gd name="adj" fmla="val 5000"/>
            </a:avLst>
          </a:prstGeom>
          <a:solidFill>
            <a:srgbClr val="F2F2F2"/>
          </a:solidFill>
        </p:spPr>
        <p:txBody>
          <a:bodyPr/>
          <a:lstStyle/>
          <a:p>
            <a:endParaRPr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87" name="Shape 35"/>
          <p:cNvSpPr/>
          <p:nvPr/>
        </p:nvSpPr>
        <p:spPr>
          <a:xfrm>
            <a:off x="11493500" y="3890208"/>
            <a:ext cx="3746500" cy="50800"/>
          </a:xfrm>
          <a:prstGeom prst="rect">
            <a:avLst/>
          </a:prstGeom>
          <a:solidFill>
            <a:srgbClr val="C00000"/>
          </a:solidFill>
        </p:spPr>
        <p:txBody>
          <a:bodyPr/>
          <a:lstStyle/>
          <a:p>
            <a:endParaRPr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88" name="Text 36"/>
          <p:cNvSpPr/>
          <p:nvPr/>
        </p:nvSpPr>
        <p:spPr>
          <a:xfrm>
            <a:off x="11645900" y="4042608"/>
            <a:ext cx="3429000" cy="3048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l">
              <a:lnSpc>
                <a:spcPct val="100000"/>
              </a:lnSpc>
            </a:pPr>
            <a:r>
              <a:rPr lang="en-US" sz="1600" b="1" dirty="0">
                <a:solidFill>
                  <a:srgbClr val="595959"/>
                </a:solidFill>
                <a:latin typeface="微软雅黑" pitchFamily="34" charset="-122"/>
                <a:ea typeface="微软雅黑" pitchFamily="34" charset="-122"/>
                <a:cs typeface="微软雅黑" pitchFamily="34" charset="-120"/>
              </a:rPr>
              <a:t>缺少分层上下文与结构化流程支撑</a:t>
            </a:r>
            <a:endParaRPr lang="en-US" sz="1600" b="1" dirty="0">
              <a:solidFill>
                <a:srgbClr val="595959"/>
              </a:solidFill>
              <a:latin typeface="微软雅黑" pitchFamily="34" charset="-122"/>
              <a:ea typeface="微软雅黑" pitchFamily="34" charset="-122"/>
              <a:cs typeface="微软雅黑" pitchFamily="34" charset="-120"/>
            </a:endParaRPr>
          </a:p>
        </p:txBody>
      </p:sp>
      <p:sp>
        <p:nvSpPr>
          <p:cNvPr id="89" name="Text 37"/>
          <p:cNvSpPr/>
          <p:nvPr/>
        </p:nvSpPr>
        <p:spPr>
          <a:xfrm>
            <a:off x="11645900" y="4372808"/>
            <a:ext cx="3429000" cy="114109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zh-CN" altLang="en-US" sz="1600" dirty="0">
                <a:solidFill>
                  <a:srgbClr val="333333"/>
                </a:solidFill>
                <a:latin typeface="微软雅黑" pitchFamily="34" charset="-122"/>
                <a:ea typeface="微软雅黑" pitchFamily="34" charset="-122"/>
                <a:cs typeface="微软雅黑" pitchFamily="34" charset="-120"/>
              </a:rPr>
              <a:t>长流程推理优化中上下文丢失</a:t>
            </a:r>
            <a:r>
              <a:rPr lang="en-US" altLang="zh-CN" sz="1600" dirty="0">
                <a:solidFill>
                  <a:srgbClr val="333333"/>
                </a:solidFill>
                <a:latin typeface="微软雅黑" pitchFamily="34" charset="-122"/>
                <a:ea typeface="微软雅黑" pitchFamily="34" charset="-122"/>
                <a:cs typeface="微软雅黑" pitchFamily="34" charset="-120"/>
              </a:rPr>
              <a:t>，</a:t>
            </a:r>
            <a:r>
              <a:rPr lang="en-US" sz="1600" dirty="0">
                <a:solidFill>
                  <a:srgbClr val="333333"/>
                </a:solidFill>
                <a:latin typeface="微软雅黑" pitchFamily="34" charset="-122"/>
                <a:ea typeface="微软雅黑" pitchFamily="34" charset="-122"/>
                <a:cs typeface="微软雅黑" pitchFamily="34" charset="-120"/>
              </a:rPr>
              <a:t>关键决策无法稳定传递，</a:t>
            </a:r>
            <a:r>
              <a:rPr lang="zh-CN" altLang="en-US" sz="1600" dirty="0">
                <a:solidFill>
                  <a:srgbClr val="333333"/>
                </a:solidFill>
                <a:latin typeface="微软雅黑" pitchFamily="34" charset="-122"/>
                <a:ea typeface="微软雅黑" pitchFamily="34" charset="-122"/>
                <a:cs typeface="微软雅黑" pitchFamily="34" charset="-120"/>
              </a:rPr>
              <a:t>信息失焦容易局部反复试错</a:t>
            </a:r>
            <a:endParaRPr lang="zh-CN" altLang="en-US" sz="1600" dirty="0">
              <a:solidFill>
                <a:srgbClr val="333333"/>
              </a:solidFill>
              <a:latin typeface="微软雅黑" pitchFamily="34" charset="-122"/>
              <a:ea typeface="微软雅黑" pitchFamily="34" charset="-122"/>
              <a:cs typeface="微软雅黑" pitchFamily="34" charset="-120"/>
            </a:endParaRPr>
          </a:p>
        </p:txBody>
      </p:sp>
      <p:sp>
        <p:nvSpPr>
          <p:cNvPr id="90" name="Shape 38"/>
          <p:cNvSpPr/>
          <p:nvPr/>
        </p:nvSpPr>
        <p:spPr>
          <a:xfrm>
            <a:off x="1016000" y="5944433"/>
            <a:ext cx="14224000" cy="0"/>
          </a:xfrm>
          <a:prstGeom prst="straightConnector1">
            <a:avLst/>
          </a:prstGeom>
          <a:noFill/>
          <a:ln w="12700">
            <a:solidFill>
              <a:srgbClr val="E0E0E0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91" name="Shape 39"/>
          <p:cNvSpPr/>
          <p:nvPr/>
        </p:nvSpPr>
        <p:spPr>
          <a:xfrm>
            <a:off x="1054100" y="6218484"/>
            <a:ext cx="228600" cy="304800"/>
          </a:xfrm>
          <a:custGeom>
            <a:avLst/>
            <a:gdLst/>
            <a:ahLst/>
            <a:cxnLst/>
            <a:rect l="l" t="t" r="r" b="b"/>
            <a:pathLst>
              <a:path w="228600" h="304800">
                <a:moveTo>
                  <a:pt x="174367" y="228600"/>
                </a:moveTo>
                <a:cubicBezTo>
                  <a:pt x="178713" y="215325"/>
                  <a:pt x="187404" y="203299"/>
                  <a:pt x="197227" y="192941"/>
                </a:cubicBezTo>
                <a:cubicBezTo>
                  <a:pt x="216694" y="172462"/>
                  <a:pt x="228600" y="144780"/>
                  <a:pt x="228600" y="114300"/>
                </a:cubicBezTo>
                <a:cubicBezTo>
                  <a:pt x="228600" y="51197"/>
                  <a:pt x="177403" y="0"/>
                  <a:pt x="114300" y="0"/>
                </a:cubicBezTo>
                <a:cubicBezTo>
                  <a:pt x="51197" y="0"/>
                  <a:pt x="0" y="51197"/>
                  <a:pt x="0" y="114300"/>
                </a:cubicBezTo>
                <a:cubicBezTo>
                  <a:pt x="0" y="144780"/>
                  <a:pt x="11906" y="172462"/>
                  <a:pt x="31373" y="192941"/>
                </a:cubicBezTo>
                <a:cubicBezTo>
                  <a:pt x="41196" y="203299"/>
                  <a:pt x="49947" y="215325"/>
                  <a:pt x="54233" y="228600"/>
                </a:cubicBezTo>
                <a:lnTo>
                  <a:pt x="174308" y="228600"/>
                </a:lnTo>
                <a:close/>
                <a:moveTo>
                  <a:pt x="171450" y="257175"/>
                </a:moveTo>
                <a:lnTo>
                  <a:pt x="57150" y="257175"/>
                </a:lnTo>
                <a:lnTo>
                  <a:pt x="57150" y="266700"/>
                </a:lnTo>
                <a:cubicBezTo>
                  <a:pt x="57150" y="293013"/>
                  <a:pt x="78462" y="314325"/>
                  <a:pt x="104775" y="314325"/>
                </a:cubicBezTo>
                <a:lnTo>
                  <a:pt x="123825" y="314325"/>
                </a:lnTo>
                <a:cubicBezTo>
                  <a:pt x="150138" y="314325"/>
                  <a:pt x="171450" y="293013"/>
                  <a:pt x="171450" y="266700"/>
                </a:cubicBezTo>
                <a:lnTo>
                  <a:pt x="171450" y="257175"/>
                </a:lnTo>
                <a:close/>
                <a:moveTo>
                  <a:pt x="109537" y="66675"/>
                </a:moveTo>
                <a:cubicBezTo>
                  <a:pt x="85844" y="66675"/>
                  <a:pt x="66675" y="85844"/>
                  <a:pt x="66675" y="109537"/>
                </a:cubicBezTo>
                <a:cubicBezTo>
                  <a:pt x="66675" y="117455"/>
                  <a:pt x="60305" y="123825"/>
                  <a:pt x="52388" y="123825"/>
                </a:cubicBezTo>
                <a:cubicBezTo>
                  <a:pt x="44470" y="123825"/>
                  <a:pt x="38100" y="117455"/>
                  <a:pt x="38100" y="109537"/>
                </a:cubicBezTo>
                <a:cubicBezTo>
                  <a:pt x="38100" y="70068"/>
                  <a:pt x="70068" y="38100"/>
                  <a:pt x="109537" y="38100"/>
                </a:cubicBezTo>
                <a:cubicBezTo>
                  <a:pt x="117455" y="38100"/>
                  <a:pt x="123825" y="44470"/>
                  <a:pt x="123825" y="52388"/>
                </a:cubicBezTo>
                <a:cubicBezTo>
                  <a:pt x="123825" y="60305"/>
                  <a:pt x="117455" y="66675"/>
                  <a:pt x="109537" y="66675"/>
                </a:cubicBezTo>
                <a:close/>
              </a:path>
            </a:pathLst>
          </a:custGeom>
          <a:solidFill>
            <a:srgbClr val="C00000"/>
          </a:solidFill>
        </p:spPr>
        <p:txBody>
          <a:bodyPr/>
          <a:lstStyle/>
          <a:p>
            <a:endParaRPr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92" name="Text 40"/>
          <p:cNvSpPr/>
          <p:nvPr/>
        </p:nvSpPr>
        <p:spPr>
          <a:xfrm>
            <a:off x="1422400" y="6193084"/>
            <a:ext cx="7620000" cy="3556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l">
              <a:lnSpc>
                <a:spcPct val="100000"/>
              </a:lnSpc>
            </a:pPr>
            <a:r>
              <a:rPr lang="en-US" sz="2000" b="1" dirty="0">
                <a:solidFill>
                  <a:srgbClr val="333333"/>
                </a:solidFill>
                <a:latin typeface="微软雅黑" pitchFamily="34" charset="-122"/>
                <a:ea typeface="微软雅黑" pitchFamily="34" charset="-122"/>
                <a:cs typeface="微软雅黑" pitchFamily="34" charset="-120"/>
              </a:rPr>
              <a:t>解决路径：把优化经验沉淀为可执行、可验证、可复用的 Skill 工作流</a:t>
            </a:r>
            <a:endParaRPr lang="en-US" sz="2000" b="1" dirty="0">
              <a:solidFill>
                <a:srgbClr val="333333"/>
              </a:solidFill>
              <a:latin typeface="微软雅黑" pitchFamily="34" charset="-122"/>
              <a:ea typeface="微软雅黑" pitchFamily="34" charset="-122"/>
              <a:cs typeface="微软雅黑" pitchFamily="34" charset="-120"/>
            </a:endParaRPr>
          </a:p>
        </p:txBody>
      </p:sp>
      <p:sp>
        <p:nvSpPr>
          <p:cNvPr id="93" name="Text 41"/>
          <p:cNvSpPr/>
          <p:nvPr/>
        </p:nvSpPr>
        <p:spPr>
          <a:xfrm>
            <a:off x="1016000" y="6281984"/>
            <a:ext cx="14224000" cy="2095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  <a:spcBef>
                <a:spcPts val="400"/>
              </a:spcBef>
            </a:pPr>
            <a:r>
              <a:rPr lang="en-US" sz="1600" dirty="0">
                <a:solidFill>
                  <a:srgbClr val="333333"/>
                </a:solidFill>
                <a:latin typeface="微软雅黑" pitchFamily="34" charset="-122"/>
                <a:ea typeface="微软雅黑" pitchFamily="34" charset="-122"/>
                <a:cs typeface="微软雅黑" pitchFamily="34" charset="-120"/>
              </a:rPr>
              <a:t>概念关系：</a:t>
            </a:r>
            <a:r>
              <a:rPr lang="en-US" sz="1600" b="1" dirty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cs typeface="微软雅黑" pitchFamily="34" charset="-120"/>
              </a:rPr>
              <a:t>Prompt Engineering ⊂ Context Engineering ⊂ Harness Engineering</a:t>
            </a:r>
            <a:endParaRPr lang="en-US" sz="1600" dirty="0">
              <a:latin typeface="微软雅黑" pitchFamily="34" charset="-122"/>
              <a:ea typeface="微软雅黑" pitchFamily="34" charset="-122"/>
            </a:endParaRPr>
          </a:p>
          <a:p>
            <a:pPr>
              <a:lnSpc>
                <a:spcPct val="150000"/>
              </a:lnSpc>
              <a:spcBef>
                <a:spcPts val="400"/>
              </a:spcBef>
            </a:pPr>
            <a:r>
              <a:rPr lang="en-US" sz="1100" dirty="0">
                <a:solidFill>
                  <a:srgbClr val="7F7F7F"/>
                </a:solidFill>
                <a:latin typeface="微软雅黑" pitchFamily="34" charset="-122"/>
                <a:ea typeface="微软雅黑" pitchFamily="34" charset="-122"/>
                <a:cs typeface="微软雅黑" pitchFamily="34" charset="-120"/>
              </a:rPr>
              <a:t>依次是：把单条指令写好、把 Agent 能看到的上下文组织好、用机制约束整个执行过程</a:t>
            </a:r>
            <a:endParaRPr lang="en-US" sz="1600" dirty="0">
              <a:latin typeface="微软雅黑" pitchFamily="34" charset="-122"/>
              <a:ea typeface="微软雅黑" pitchFamily="34" charset="-122"/>
            </a:endParaRPr>
          </a:p>
          <a:p>
            <a:pPr>
              <a:lnSpc>
                <a:spcPct val="150000"/>
              </a:lnSpc>
              <a:spcBef>
                <a:spcPts val="400"/>
              </a:spcBef>
            </a:pPr>
            <a:r>
              <a:rPr lang="en-US" altLang="zh-CN" sz="1600" b="1" dirty="0">
                <a:solidFill>
                  <a:srgbClr val="333333"/>
                </a:solidFill>
                <a:latin typeface="微软雅黑" pitchFamily="34" charset="-122"/>
                <a:ea typeface="微软雅黑" pitchFamily="34" charset="-122"/>
                <a:cs typeface="微软雅黑" pitchFamily="34" charset="-120"/>
              </a:rPr>
              <a:t>Agent </a:t>
            </a:r>
            <a:r>
              <a:rPr lang="zh-CN" altLang="en-US" sz="1600" b="1" dirty="0">
                <a:solidFill>
                  <a:srgbClr val="333333"/>
                </a:solidFill>
                <a:latin typeface="微软雅黑" pitchFamily="34" charset="-122"/>
                <a:ea typeface="微软雅黑" pitchFamily="34" charset="-122"/>
                <a:cs typeface="微软雅黑" pitchFamily="34" charset="-120"/>
              </a:rPr>
              <a:t>体系 </a:t>
            </a:r>
            <a:r>
              <a:rPr lang="en-US" sz="1600" dirty="0">
                <a:solidFill>
                  <a:srgbClr val="333333"/>
                </a:solidFill>
                <a:latin typeface="微软雅黑" pitchFamily="34" charset="-122"/>
                <a:ea typeface="微软雅黑" pitchFamily="34" charset="-122"/>
                <a:cs typeface="微软雅黑" pitchFamily="34" charset="-120"/>
              </a:rPr>
              <a:t>= </a:t>
            </a:r>
            <a:r>
              <a:rPr lang="en-US" sz="1600" b="1" dirty="0">
                <a:solidFill>
                  <a:srgbClr val="333333"/>
                </a:solidFill>
                <a:latin typeface="微软雅黑" pitchFamily="34" charset="-122"/>
                <a:ea typeface="微软雅黑" pitchFamily="34" charset="-122"/>
                <a:cs typeface="微软雅黑" pitchFamily="34" charset="-120"/>
              </a:rPr>
              <a:t>领域知识（Skill）</a:t>
            </a:r>
            <a:r>
              <a:rPr lang="en-US" sz="1600" dirty="0">
                <a:solidFill>
                  <a:srgbClr val="333333"/>
                </a:solidFill>
                <a:latin typeface="微软雅黑" pitchFamily="34" charset="-122"/>
                <a:ea typeface="微软雅黑" pitchFamily="34" charset="-122"/>
                <a:cs typeface="微软雅黑" pitchFamily="34" charset="-120"/>
              </a:rPr>
              <a:t> + </a:t>
            </a:r>
            <a:r>
              <a:rPr lang="en-US" sz="1600" b="1" dirty="0">
                <a:solidFill>
                  <a:srgbClr val="333333"/>
                </a:solidFill>
                <a:latin typeface="微软雅黑" pitchFamily="34" charset="-122"/>
                <a:ea typeface="微软雅黑" pitchFamily="34" charset="-122"/>
                <a:cs typeface="微软雅黑" pitchFamily="34" charset="-120"/>
                <a:sym typeface="+mn-ea"/>
              </a:rPr>
              <a:t>Harness</a:t>
            </a:r>
            <a:r>
              <a:rPr lang="en-US" sz="1600" b="1" dirty="0">
                <a:solidFill>
                  <a:srgbClr val="333333"/>
                </a:solidFill>
                <a:latin typeface="微软雅黑" pitchFamily="34" charset="-122"/>
                <a:ea typeface="微软雅黑" pitchFamily="34" charset="-122"/>
                <a:cs typeface="微软雅黑" pitchFamily="34" charset="-120"/>
              </a:rPr>
              <a:t>约束（</a:t>
            </a:r>
            <a:r>
              <a:rPr lang="zh-CN" altLang="en-US" sz="1600" b="1" dirty="0">
                <a:solidFill>
                  <a:srgbClr val="333333"/>
                </a:solidFill>
                <a:latin typeface="微软雅黑" pitchFamily="34" charset="-122"/>
                <a:ea typeface="微软雅黑" pitchFamily="34" charset="-122"/>
                <a:cs typeface="微软雅黑" pitchFamily="34" charset="-120"/>
              </a:rPr>
              <a:t>上下文架构</a:t>
            </a:r>
            <a:r>
              <a:rPr lang="en-US" altLang="zh-CN" sz="1600" b="1" dirty="0">
                <a:solidFill>
                  <a:srgbClr val="333333"/>
                </a:solidFill>
                <a:latin typeface="微软雅黑" pitchFamily="34" charset="-122"/>
                <a:ea typeface="微软雅黑" pitchFamily="34" charset="-122"/>
                <a:cs typeface="微软雅黑" pitchFamily="34" charset="-120"/>
              </a:rPr>
              <a:t> / </a:t>
            </a:r>
            <a:r>
              <a:rPr lang="zh-CN" altLang="en-US" sz="1600" b="1" dirty="0">
                <a:solidFill>
                  <a:srgbClr val="333333"/>
                </a:solidFill>
                <a:latin typeface="微软雅黑" pitchFamily="34" charset="-122"/>
                <a:ea typeface="微软雅黑" pitchFamily="34" charset="-122"/>
                <a:cs typeface="微软雅黑" pitchFamily="34" charset="-120"/>
              </a:rPr>
              <a:t>专业化分工</a:t>
            </a:r>
            <a:r>
              <a:rPr lang="en-US" altLang="zh-CN" sz="1600" b="1" dirty="0">
                <a:solidFill>
                  <a:srgbClr val="333333"/>
                </a:solidFill>
                <a:latin typeface="微软雅黑" pitchFamily="34" charset="-122"/>
                <a:ea typeface="微软雅黑" pitchFamily="34" charset="-122"/>
                <a:cs typeface="微软雅黑" pitchFamily="34" charset="-120"/>
              </a:rPr>
              <a:t> / </a:t>
            </a:r>
            <a:r>
              <a:rPr lang="zh-CN" altLang="en-US" sz="1600" b="1" dirty="0">
                <a:solidFill>
                  <a:srgbClr val="333333"/>
                </a:solidFill>
                <a:latin typeface="微软雅黑" pitchFamily="34" charset="-122"/>
                <a:ea typeface="微软雅黑" pitchFamily="34" charset="-122"/>
                <a:cs typeface="微软雅黑" pitchFamily="34" charset="-120"/>
              </a:rPr>
              <a:t>持久化记忆</a:t>
            </a:r>
            <a:r>
              <a:rPr lang="en-US" altLang="zh-CN" sz="1600" b="1" dirty="0">
                <a:solidFill>
                  <a:srgbClr val="333333"/>
                </a:solidFill>
                <a:latin typeface="微软雅黑" pitchFamily="34" charset="-122"/>
                <a:ea typeface="微软雅黑" pitchFamily="34" charset="-122"/>
                <a:cs typeface="微软雅黑" pitchFamily="34" charset="-120"/>
              </a:rPr>
              <a:t> / </a:t>
            </a:r>
            <a:r>
              <a:rPr lang="zh-CN" altLang="en-US" sz="1600" b="1" dirty="0">
                <a:solidFill>
                  <a:srgbClr val="333333"/>
                </a:solidFill>
                <a:latin typeface="微软雅黑" pitchFamily="34" charset="-122"/>
                <a:ea typeface="微软雅黑" pitchFamily="34" charset="-122"/>
                <a:cs typeface="微软雅黑" pitchFamily="34" charset="-120"/>
              </a:rPr>
              <a:t>结构化执行</a:t>
            </a:r>
            <a:r>
              <a:rPr lang="en-US" sz="1600" b="1" dirty="0">
                <a:solidFill>
                  <a:srgbClr val="333333"/>
                </a:solidFill>
                <a:latin typeface="微软雅黑" pitchFamily="34" charset="-122"/>
                <a:ea typeface="微软雅黑" pitchFamily="34" charset="-122"/>
                <a:cs typeface="微软雅黑" pitchFamily="34" charset="-120"/>
              </a:rPr>
              <a:t>）</a:t>
            </a:r>
            <a:endParaRPr lang="en-US" sz="1600" dirty="0">
              <a:latin typeface="微软雅黑" pitchFamily="34" charset="-122"/>
              <a:ea typeface="微软雅黑" pitchFamily="34" charset="-122"/>
            </a:endParaRPr>
          </a:p>
          <a:p>
            <a:pPr>
              <a:lnSpc>
                <a:spcPct val="150000"/>
              </a:lnSpc>
              <a:spcBef>
                <a:spcPts val="400"/>
              </a:spcBef>
            </a:pPr>
            <a:r>
              <a:rPr lang="en-US" sz="2000" b="1" dirty="0">
                <a:solidFill>
                  <a:srgbClr val="C00000"/>
                </a:solidFill>
                <a:latin typeface="微软雅黑" pitchFamily="34" charset="-122"/>
                <a:ea typeface="微软雅黑" pitchFamily="34" charset="-122"/>
                <a:cs typeface="微软雅黑" pitchFamily="34" charset="-120"/>
              </a:rPr>
              <a:t>让 Agent 在 NPU 推理优化这种长链路任务上稳定产出，</a:t>
            </a:r>
            <a:r>
              <a:rPr lang="zh-CN" altLang="en-US" sz="2000" b="1" dirty="0">
                <a:solidFill>
                  <a:srgbClr val="C00000"/>
                </a:solidFill>
                <a:latin typeface="微软雅黑" pitchFamily="34" charset="-122"/>
                <a:ea typeface="微软雅黑" pitchFamily="34" charset="-122"/>
                <a:cs typeface="微软雅黑" pitchFamily="34" charset="-120"/>
              </a:rPr>
              <a:t>提升工作效率</a:t>
            </a:r>
            <a:r>
              <a:rPr lang="en-US" altLang="zh-CN" sz="2000" b="1" dirty="0">
                <a:solidFill>
                  <a:srgbClr val="C00000"/>
                </a:solidFill>
                <a:latin typeface="微软雅黑" pitchFamily="34" charset="-122"/>
                <a:ea typeface="微软雅黑" pitchFamily="34" charset="-122"/>
                <a:cs typeface="微软雅黑" pitchFamily="34" charset="-120"/>
              </a:rPr>
              <a:t>，</a:t>
            </a:r>
            <a:r>
              <a:rPr lang="zh-CN" altLang="en-US" sz="2000" b="1" dirty="0">
                <a:solidFill>
                  <a:srgbClr val="C00000"/>
                </a:solidFill>
                <a:latin typeface="微软雅黑" pitchFamily="34" charset="-122"/>
                <a:ea typeface="微软雅黑" pitchFamily="34" charset="-122"/>
                <a:cs typeface="微软雅黑" pitchFamily="34" charset="-120"/>
              </a:rPr>
              <a:t>降低使用门槛</a:t>
            </a:r>
            <a:endParaRPr lang="zh-CN" altLang="en-US" sz="2000" b="1" dirty="0">
              <a:solidFill>
                <a:srgbClr val="C00000"/>
              </a:solidFill>
              <a:latin typeface="微软雅黑" pitchFamily="34" charset="-122"/>
              <a:ea typeface="微软雅黑" pitchFamily="34" charset="-122"/>
              <a:cs typeface="微软雅黑" pitchFamily="34" charset="-120"/>
            </a:endParaRPr>
          </a:p>
        </p:txBody>
      </p:sp>
      <p:sp>
        <p:nvSpPr>
          <p:cNvPr id="94" name="Text 29"/>
          <p:cNvSpPr/>
          <p:nvPr/>
        </p:nvSpPr>
        <p:spPr>
          <a:xfrm>
            <a:off x="7620000" y="8153400"/>
            <a:ext cx="1016000" cy="3556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fld id="{E2F3B323-1FA6-4B9E-807A-E281AB868863}" type="slidenum">
              <a:rPr lang="en-US" sz="1300" dirty="0">
                <a:solidFill>
                  <a:srgbClr val="7F7F7F"/>
                </a:solidFill>
                <a:latin typeface="微软雅黑" pitchFamily="34" charset="-122"/>
                <a:ea typeface="微软雅黑" pitchFamily="34" charset="-122"/>
                <a:cs typeface="MiSans" pitchFamily="34" charset="-120"/>
              </a:rPr>
            </a:fld>
            <a:endParaRPr lang="en-US" sz="1300" dirty="0">
              <a:latin typeface="微软雅黑" pitchFamily="34" charset="-122"/>
              <a:ea typeface="微软雅黑" pitchFamily="34" charset="-122"/>
            </a:endParaRPr>
          </a:p>
        </p:txBody>
      </p:sp>
    </p:spTree>
  </p:cSld>
  <p:clrMapOvr>
    <a:masterClrMapping/>
  </p:clrMapOvr>
  <p:transition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9144000"/>
          </a:xfrm>
          <a:prstGeom prst="rect">
            <a:avLst/>
          </a:prstGeom>
          <a:gradFill flip="none" rotWithShape="1">
            <a:gsLst>
              <a:gs pos="0">
                <a:srgbClr val="000000">
                  <a:alpha val="80000"/>
                </a:srgbClr>
              </a:gs>
              <a:gs pos="60000">
                <a:srgbClr val="000000">
                  <a:alpha val="60000"/>
                </a:srgbClr>
              </a:gs>
              <a:gs pos="100000">
                <a:srgbClr val="000000">
                  <a:alpha val="40000"/>
                </a:srgbClr>
              </a:gs>
            </a:gsLst>
            <a:lin ang="0" scaled="1"/>
          </a:gra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3" name="Text 1"/>
          <p:cNvSpPr/>
          <p:nvPr/>
        </p:nvSpPr>
        <p:spPr>
          <a:xfrm>
            <a:off x="1270000" y="2153920"/>
            <a:ext cx="2540000" cy="127000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9600" dirty="0">
                <a:solidFill>
                  <a:srgbClr val="FFFFFF"/>
                </a:solidFill>
                <a:latin typeface="微软雅黑" pitchFamily="34" charset="-122"/>
                <a:ea typeface="微软雅黑" pitchFamily="34" charset="-122"/>
                <a:cs typeface="MiSans" pitchFamily="34" charset="-120"/>
              </a:rPr>
              <a:t>02</a:t>
            </a:r>
            <a:endParaRPr lang="en-US" sz="9600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4" name="Text 2"/>
          <p:cNvSpPr/>
          <p:nvPr/>
        </p:nvSpPr>
        <p:spPr>
          <a:xfrm>
            <a:off x="1270000" y="3557016"/>
            <a:ext cx="10160000" cy="7620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l">
              <a:lnSpc>
                <a:spcPct val="100000"/>
              </a:lnSpc>
            </a:pPr>
            <a:r>
              <a:rPr lang="en-US" sz="4400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  <a:cs typeface="微软雅黑" pitchFamily="34" charset="-120"/>
                <a:sym typeface="+mn-ea"/>
              </a:rPr>
              <a:t>Agent </a:t>
            </a:r>
            <a:r>
              <a:rPr lang="zh-CN" altLang="en-US" sz="4400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  <a:cs typeface="微软雅黑" pitchFamily="34" charset="-120"/>
                <a:sym typeface="+mn-ea"/>
              </a:rPr>
              <a:t>编排与</a:t>
            </a:r>
            <a:r>
              <a:rPr lang="en-US" altLang="zh-CN" sz="4400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  <a:cs typeface="微软雅黑" pitchFamily="34" charset="-120"/>
                <a:sym typeface="+mn-ea"/>
              </a:rPr>
              <a:t> </a:t>
            </a:r>
            <a:r>
              <a:rPr lang="en-US" sz="4400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  <a:cs typeface="微软雅黑" pitchFamily="34" charset="-120"/>
                <a:sym typeface="+mn-ea"/>
              </a:rPr>
              <a:t>Harness </a:t>
            </a:r>
            <a:r>
              <a:rPr lang="zh-CN" altLang="en-US" sz="4400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  <a:cs typeface="微软雅黑" pitchFamily="34" charset="-120"/>
                <a:sym typeface="+mn-ea"/>
              </a:rPr>
              <a:t>约束</a:t>
            </a:r>
            <a:endParaRPr lang="zh-CN" altLang="en-US" sz="4400" b="1" dirty="0">
              <a:solidFill>
                <a:schemeClr val="bg1"/>
              </a:solidFill>
              <a:latin typeface="微软雅黑" pitchFamily="34" charset="-122"/>
              <a:ea typeface="微软雅黑" pitchFamily="34" charset="-122"/>
              <a:cs typeface="微软雅黑" pitchFamily="34" charset="-120"/>
              <a:sym typeface="+mn-ea"/>
            </a:endParaRPr>
          </a:p>
        </p:txBody>
      </p:sp>
      <p:sp>
        <p:nvSpPr>
          <p:cNvPr id="5" name="Text 3"/>
          <p:cNvSpPr/>
          <p:nvPr/>
        </p:nvSpPr>
        <p:spPr>
          <a:xfrm>
            <a:off x="1270000" y="4445000"/>
            <a:ext cx="10160000" cy="508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l">
              <a:lnSpc>
                <a:spcPct val="150000"/>
              </a:lnSpc>
            </a:pPr>
            <a:r>
              <a:rPr lang="en-US" sz="2000" dirty="0">
                <a:solidFill>
                  <a:srgbClr val="FFFFFF"/>
                </a:solidFill>
                <a:latin typeface="微软雅黑" pitchFamily="34" charset="-122"/>
                <a:ea typeface="微软雅黑" pitchFamily="34" charset="-122"/>
                <a:cs typeface="MiSans" pitchFamily="34" charset="-120"/>
              </a:rPr>
              <a:t>从渐进式披露到 Hook，四类约束如何让长流程稳定收敛</a:t>
            </a:r>
            <a:endParaRPr lang="en-US" sz="2000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6" name="Text 4"/>
          <p:cNvSpPr/>
          <p:nvPr/>
        </p:nvSpPr>
        <p:spPr>
          <a:xfrm>
            <a:off x="825500" y="8178800"/>
            <a:ext cx="2540000" cy="3302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300" dirty="0">
                <a:solidFill>
                  <a:srgbClr val="7F7F7F"/>
                </a:solidFill>
                <a:latin typeface="微软雅黑" pitchFamily="34" charset="-122"/>
                <a:ea typeface="微软雅黑" pitchFamily="34" charset="-122"/>
                <a:cs typeface="MiSans" pitchFamily="34" charset="-120"/>
              </a:rPr>
              <a:t>https://gitcode.com/cann</a:t>
            </a:r>
            <a:endParaRPr lang="en-US" sz="1300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7" name="Text 5"/>
          <p:cNvSpPr/>
          <p:nvPr/>
        </p:nvSpPr>
        <p:spPr>
          <a:xfrm>
            <a:off x="7620000" y="8178800"/>
            <a:ext cx="1016000" cy="3302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endParaRPr lang="en-US" sz="1300" dirty="0">
              <a:latin typeface="微软雅黑" pitchFamily="34" charset="-122"/>
              <a:ea typeface="微软雅黑" pitchFamily="34" charset="-122"/>
            </a:endParaRPr>
          </a:p>
        </p:txBody>
      </p:sp>
      <p:pic>
        <p:nvPicPr>
          <p:cNvPr id="8" name="Image 0" descr="https://kimi-img.moonshot.cn/pub/slides/okc/4rfbomebqqupm/mnt/agents/output/template_pptd/images/image_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512800" y="8051800"/>
            <a:ext cx="1752600" cy="469900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ext 28"/>
          <p:cNvSpPr/>
          <p:nvPr/>
        </p:nvSpPr>
        <p:spPr>
          <a:xfrm>
            <a:off x="825500" y="8178800"/>
            <a:ext cx="2540000" cy="3302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300" dirty="0">
                <a:solidFill>
                  <a:srgbClr val="7F7F7F"/>
                </a:solidFill>
                <a:latin typeface="微软雅黑" pitchFamily="34" charset="-122"/>
                <a:ea typeface="微软雅黑" pitchFamily="34" charset="-122"/>
                <a:cs typeface="MiSans" pitchFamily="34" charset="-120"/>
              </a:rPr>
              <a:t>https://gitcode.com/cann</a:t>
            </a:r>
            <a:endParaRPr lang="en-US" sz="1300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32" name="Text 29"/>
          <p:cNvSpPr/>
          <p:nvPr/>
        </p:nvSpPr>
        <p:spPr>
          <a:xfrm>
            <a:off x="7620000" y="8178800"/>
            <a:ext cx="1016000" cy="3302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fld id="{6F07F810-4833-4163-93DC-39950629C363}" type="slidenum">
              <a:rPr lang="en-US" sz="1300" dirty="0">
                <a:solidFill>
                  <a:srgbClr val="7F7F7F"/>
                </a:solidFill>
                <a:latin typeface="微软雅黑" pitchFamily="34" charset="-122"/>
                <a:ea typeface="微软雅黑" pitchFamily="34" charset="-122"/>
                <a:cs typeface="MiSans" pitchFamily="34" charset="-120"/>
              </a:rPr>
            </a:fld>
            <a:endParaRPr lang="en-US" sz="1300" dirty="0">
              <a:latin typeface="微软雅黑" pitchFamily="34" charset="-122"/>
              <a:ea typeface="微软雅黑" pitchFamily="34" charset="-122"/>
            </a:endParaRPr>
          </a:p>
        </p:txBody>
      </p:sp>
      <p:pic>
        <p:nvPicPr>
          <p:cNvPr id="33" name="Image 0" descr="https://kimi-img.moonshot.cn/pub/slides/okc/4rfbomebqqupm/mnt/agents/output/template_pptd/images/image_2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512800" y="8051800"/>
            <a:ext cx="1752600" cy="469900"/>
          </a:xfrm>
          <a:prstGeom prst="rect">
            <a:avLst/>
          </a:prstGeom>
        </p:spPr>
      </p:pic>
      <p:sp>
        <p:nvSpPr>
          <p:cNvPr id="2" name="Text 0"/>
          <p:cNvSpPr/>
          <p:nvPr/>
        </p:nvSpPr>
        <p:spPr>
          <a:xfrm>
            <a:off x="762000" y="355600"/>
            <a:ext cx="11430000" cy="5715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l">
              <a:lnSpc>
                <a:spcPct val="100000"/>
              </a:lnSpc>
            </a:pPr>
            <a:r>
              <a:rPr lang="zh-CN" altLang="en-US" sz="3200" b="1" dirty="0">
                <a:solidFill>
                  <a:srgbClr val="333333"/>
                </a:solidFill>
                <a:latin typeface="微软雅黑" pitchFamily="34" charset="-122"/>
                <a:ea typeface="微软雅黑" pitchFamily="34" charset="-122"/>
                <a:cs typeface="微软雅黑" pitchFamily="34" charset="-120"/>
                <a:sym typeface="+mn-ea"/>
              </a:rPr>
              <a:t>上下文架构</a:t>
            </a:r>
            <a:r>
              <a:rPr lang="en-US" altLang="zh-CN" sz="3200" b="1" dirty="0">
                <a:solidFill>
                  <a:srgbClr val="333333"/>
                </a:solidFill>
                <a:latin typeface="微软雅黑" pitchFamily="34" charset="-122"/>
                <a:ea typeface="微软雅黑" pitchFamily="34" charset="-122"/>
                <a:cs typeface="微软雅黑" pitchFamily="34" charset="-120"/>
                <a:sym typeface="+mn-ea"/>
              </a:rPr>
              <a:t>：</a:t>
            </a:r>
            <a:r>
              <a:rPr lang="en-US" sz="3200" b="1" dirty="0">
                <a:solidFill>
                  <a:srgbClr val="333333"/>
                </a:solidFill>
                <a:latin typeface="微软雅黑" pitchFamily="34" charset="-122"/>
                <a:ea typeface="微软雅黑" pitchFamily="34" charset="-122"/>
                <a:cs typeface="微软雅黑" pitchFamily="34" charset="-120"/>
                <a:sym typeface="+mn-ea"/>
              </a:rPr>
              <a:t>渐进式披露</a:t>
            </a:r>
            <a:endParaRPr lang="en-US" sz="3200" b="1" dirty="0">
              <a:solidFill>
                <a:schemeClr val="tx1"/>
              </a:solidFill>
              <a:latin typeface="微软雅黑" pitchFamily="34" charset="-122"/>
              <a:ea typeface="微软雅黑" pitchFamily="34" charset="-122"/>
              <a:cs typeface="微软雅黑" pitchFamily="34" charset="-120"/>
              <a:sym typeface="+mn-ea"/>
            </a:endParaRPr>
          </a:p>
        </p:txBody>
      </p:sp>
      <p:sp>
        <p:nvSpPr>
          <p:cNvPr id="5" name="Shape 3"/>
          <p:cNvSpPr/>
          <p:nvPr/>
        </p:nvSpPr>
        <p:spPr>
          <a:xfrm>
            <a:off x="1016000" y="1043940"/>
            <a:ext cx="14224000" cy="0"/>
          </a:xfrm>
          <a:prstGeom prst="straightConnector1">
            <a:avLst/>
          </a:prstGeom>
          <a:noFill/>
          <a:ln w="12700">
            <a:solidFill>
              <a:srgbClr val="E0E0E0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6" name="Shape 4"/>
          <p:cNvSpPr/>
          <p:nvPr/>
        </p:nvSpPr>
        <p:spPr>
          <a:xfrm>
            <a:off x="1050925" y="1247140"/>
            <a:ext cx="209550" cy="279400"/>
          </a:xfrm>
          <a:custGeom>
            <a:avLst/>
            <a:gdLst/>
            <a:ahLst/>
            <a:cxnLst/>
            <a:rect l="l" t="t" r="r" b="b"/>
            <a:pathLst>
              <a:path w="209550" h="279400">
                <a:moveTo>
                  <a:pt x="0" y="34925"/>
                </a:moveTo>
                <a:cubicBezTo>
                  <a:pt x="0" y="15662"/>
                  <a:pt x="15662" y="0"/>
                  <a:pt x="34925" y="0"/>
                </a:cubicBezTo>
                <a:lnTo>
                  <a:pt x="116508" y="0"/>
                </a:lnTo>
                <a:cubicBezTo>
                  <a:pt x="125785" y="0"/>
                  <a:pt x="134680" y="3656"/>
                  <a:pt x="141228" y="10205"/>
                </a:cubicBezTo>
                <a:lnTo>
                  <a:pt x="199345" y="68377"/>
                </a:lnTo>
                <a:cubicBezTo>
                  <a:pt x="205894" y="74925"/>
                  <a:pt x="209550" y="83820"/>
                  <a:pt x="209550" y="93097"/>
                </a:cubicBezTo>
                <a:lnTo>
                  <a:pt x="209550" y="244475"/>
                </a:lnTo>
                <a:cubicBezTo>
                  <a:pt x="209550" y="263738"/>
                  <a:pt x="193888" y="279400"/>
                  <a:pt x="174625" y="279400"/>
                </a:cubicBezTo>
                <a:lnTo>
                  <a:pt x="34925" y="279400"/>
                </a:lnTo>
                <a:cubicBezTo>
                  <a:pt x="15662" y="279400"/>
                  <a:pt x="0" y="263738"/>
                  <a:pt x="0" y="244475"/>
                </a:cubicBezTo>
                <a:lnTo>
                  <a:pt x="0" y="34925"/>
                </a:lnTo>
                <a:close/>
                <a:moveTo>
                  <a:pt x="113506" y="31924"/>
                </a:moveTo>
                <a:lnTo>
                  <a:pt x="113506" y="82947"/>
                </a:lnTo>
                <a:cubicBezTo>
                  <a:pt x="113506" y="90205"/>
                  <a:pt x="119345" y="96044"/>
                  <a:pt x="126603" y="96044"/>
                </a:cubicBezTo>
                <a:lnTo>
                  <a:pt x="177626" y="96044"/>
                </a:lnTo>
                <a:lnTo>
                  <a:pt x="113506" y="31924"/>
                </a:lnTo>
                <a:close/>
                <a:moveTo>
                  <a:pt x="84147" y="161310"/>
                </a:moveTo>
                <a:cubicBezTo>
                  <a:pt x="88840" y="155798"/>
                  <a:pt x="88240" y="147558"/>
                  <a:pt x="82729" y="142865"/>
                </a:cubicBezTo>
                <a:cubicBezTo>
                  <a:pt x="77217" y="138172"/>
                  <a:pt x="68977" y="138772"/>
                  <a:pt x="64284" y="144284"/>
                </a:cubicBezTo>
                <a:lnTo>
                  <a:pt x="38090" y="174843"/>
                </a:lnTo>
                <a:cubicBezTo>
                  <a:pt x="33888" y="179755"/>
                  <a:pt x="33888" y="186958"/>
                  <a:pt x="38090" y="191869"/>
                </a:cubicBezTo>
                <a:lnTo>
                  <a:pt x="64284" y="222429"/>
                </a:lnTo>
                <a:cubicBezTo>
                  <a:pt x="68977" y="227940"/>
                  <a:pt x="77272" y="228540"/>
                  <a:pt x="82729" y="223847"/>
                </a:cubicBezTo>
                <a:cubicBezTo>
                  <a:pt x="88186" y="219154"/>
                  <a:pt x="88840" y="210860"/>
                  <a:pt x="84147" y="205403"/>
                </a:cubicBezTo>
                <a:lnTo>
                  <a:pt x="65266" y="183356"/>
                </a:lnTo>
                <a:lnTo>
                  <a:pt x="84147" y="161310"/>
                </a:lnTo>
                <a:close/>
                <a:moveTo>
                  <a:pt x="145266" y="144284"/>
                </a:moveTo>
                <a:cubicBezTo>
                  <a:pt x="140573" y="138772"/>
                  <a:pt x="132278" y="138172"/>
                  <a:pt x="126821" y="142865"/>
                </a:cubicBezTo>
                <a:cubicBezTo>
                  <a:pt x="121364" y="147558"/>
                  <a:pt x="120710" y="155853"/>
                  <a:pt x="125403" y="161310"/>
                </a:cubicBezTo>
                <a:lnTo>
                  <a:pt x="144284" y="183356"/>
                </a:lnTo>
                <a:lnTo>
                  <a:pt x="125403" y="205403"/>
                </a:lnTo>
                <a:cubicBezTo>
                  <a:pt x="120710" y="210914"/>
                  <a:pt x="121310" y="219154"/>
                  <a:pt x="126821" y="223847"/>
                </a:cubicBezTo>
                <a:cubicBezTo>
                  <a:pt x="132333" y="228540"/>
                  <a:pt x="140573" y="227940"/>
                  <a:pt x="145266" y="222429"/>
                </a:cubicBezTo>
                <a:lnTo>
                  <a:pt x="171460" y="191869"/>
                </a:lnTo>
                <a:cubicBezTo>
                  <a:pt x="175662" y="186958"/>
                  <a:pt x="175662" y="179755"/>
                  <a:pt x="171460" y="174843"/>
                </a:cubicBezTo>
                <a:lnTo>
                  <a:pt x="145266" y="144284"/>
                </a:lnTo>
                <a:close/>
              </a:path>
            </a:pathLst>
          </a:custGeom>
          <a:solidFill>
            <a:srgbClr val="C00000"/>
          </a:solidFill>
        </p:spPr>
        <p:txBody>
          <a:bodyPr/>
          <a:lstStyle/>
          <a:p>
            <a:endParaRPr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7" name="Text 5"/>
          <p:cNvSpPr/>
          <p:nvPr/>
        </p:nvSpPr>
        <p:spPr>
          <a:xfrm>
            <a:off x="1371600" y="1221740"/>
            <a:ext cx="5080000" cy="3302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b="1" dirty="0">
                <a:solidFill>
                  <a:srgbClr val="333333"/>
                </a:solidFill>
                <a:latin typeface="微软雅黑" pitchFamily="34" charset="-122"/>
                <a:ea typeface="微软雅黑" pitchFamily="34" charset="-122"/>
                <a:cs typeface="微软雅黑" pitchFamily="34" charset="-120"/>
              </a:rPr>
              <a:t>SKILL.md 三层结构</a:t>
            </a:r>
            <a:endParaRPr lang="en-US" sz="1600" dirty="0">
              <a:latin typeface="微软雅黑" pitchFamily="34" charset="-122"/>
              <a:ea typeface="微软雅黑" pitchFamily="34" charset="-122"/>
            </a:endParaRPr>
          </a:p>
        </p:txBody>
      </p:sp>
      <p:graphicFrame>
        <p:nvGraphicFramePr>
          <p:cNvPr id="8" name="Table 0"/>
          <p:cNvGraphicFramePr>
            <a:graphicFrameLocks noGrp="1"/>
          </p:cNvGraphicFramePr>
          <p:nvPr/>
        </p:nvGraphicFramePr>
        <p:xfrm>
          <a:off x="1016000" y="1628140"/>
          <a:ext cx="14224000" cy="2222500"/>
        </p:xfrm>
        <a:graphic>
          <a:graphicData uri="http://schemas.openxmlformats.org/drawingml/2006/table">
            <a:tbl>
              <a:tblPr/>
              <a:tblGrid>
                <a:gridCol w="3911600"/>
                <a:gridCol w="5334000"/>
                <a:gridCol w="4978400"/>
              </a:tblGrid>
              <a:tr h="555625">
                <a:tc>
                  <a:txBody>
                    <a:bodyPr/>
                    <a:lstStyle/>
                    <a:p>
                      <a:pPr algn="l"/>
                      <a:r>
                        <a:rPr lang="en-US" sz="1400" b="1" u="none" dirty="0">
                          <a:solidFill>
                            <a:srgbClr val="C0000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层级</a:t>
                      </a:r>
                      <a:endParaRPr lang="en-US" sz="1400" dirty="0">
                        <a:latin typeface="微软雅黑" pitchFamily="34" charset="0"/>
                        <a:ea typeface="微软雅黑" pitchFamily="34" charset="0"/>
                        <a:cs typeface="微软雅黑" pitchFamily="34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CCC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1" u="none" dirty="0">
                          <a:solidFill>
                            <a:srgbClr val="C0000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内容</a:t>
                      </a:r>
                      <a:endParaRPr lang="en-US" sz="1400" dirty="0">
                        <a:latin typeface="微软雅黑" pitchFamily="34" charset="0"/>
                        <a:ea typeface="微软雅黑" pitchFamily="34" charset="0"/>
                        <a:cs typeface="微软雅黑" pitchFamily="34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CCC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1" u="none" dirty="0">
                          <a:solidFill>
                            <a:srgbClr val="C0000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加载时机</a:t>
                      </a:r>
                      <a:endParaRPr lang="en-US" sz="1400" dirty="0">
                        <a:latin typeface="微软雅黑" pitchFamily="34" charset="0"/>
                        <a:ea typeface="微软雅黑" pitchFamily="34" charset="0"/>
                        <a:cs typeface="微软雅黑" pitchFamily="34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CCCC"/>
                    </a:solidFill>
                  </a:tcPr>
                </a:tc>
              </a:tr>
              <a:tr h="555625"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333333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AGENTS.md</a:t>
                      </a:r>
                      <a:endParaRPr lang="en-US" sz="1400" dirty="0">
                        <a:latin typeface="微软雅黑" pitchFamily="34" charset="0"/>
                        <a:ea typeface="微软雅黑" pitchFamily="34" charset="0"/>
                        <a:cs typeface="微软雅黑" pitchFamily="34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CN" sz="1400" b="0" dirty="0" err="1">
                          <a:solidFill>
                            <a:srgbClr val="7F7F7F"/>
                          </a:solidFill>
                          <a:latin typeface="微软雅黑" pitchFamily="34" charset="-122"/>
                          <a:ea typeface="微软雅黑" pitchFamily="34" charset="-122"/>
                          <a:cs typeface="微软雅黑" pitchFamily="34" charset="-120"/>
                        </a:rPr>
                        <a:t>常驻说明</a:t>
                      </a:r>
                      <a:r>
                        <a:rPr lang="zh-CN" altLang="en-US" sz="1400" b="0" dirty="0">
                          <a:solidFill>
                            <a:srgbClr val="7F7F7F"/>
                          </a:solidFill>
                          <a:latin typeface="微软雅黑" pitchFamily="34" charset="-122"/>
                          <a:ea typeface="微软雅黑" pitchFamily="34" charset="-122"/>
                          <a:cs typeface="微软雅黑" pitchFamily="34" charset="-120"/>
                        </a:rPr>
                        <a:t>：</a:t>
                      </a:r>
                      <a:r>
                        <a:rPr lang="en-US" sz="1400" u="none" dirty="0" err="1">
                          <a:solidFill>
                            <a:srgbClr val="333333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项目概述</a:t>
                      </a:r>
                      <a:r>
                        <a:rPr lang="en-US" sz="1400" u="none" dirty="0">
                          <a:solidFill>
                            <a:srgbClr val="333333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 / Skill 路由 / </a:t>
                      </a:r>
                      <a:r>
                        <a:rPr lang="zh-CN" altLang="en-US" sz="1400" u="none" dirty="0">
                          <a:solidFill>
                            <a:srgbClr val="333333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通用</a:t>
                      </a:r>
                      <a:r>
                        <a:rPr lang="en-US" sz="1400" u="none" dirty="0">
                          <a:solidFill>
                            <a:srgbClr val="333333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约束</a:t>
                      </a:r>
                      <a:endParaRPr lang="en-US" sz="1400" dirty="0">
                        <a:latin typeface="微软雅黑" pitchFamily="34" charset="0"/>
                        <a:ea typeface="微软雅黑" pitchFamily="34" charset="0"/>
                        <a:cs typeface="微软雅黑" pitchFamily="34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333333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每次自动加载</a:t>
                      </a:r>
                      <a:endParaRPr lang="en-US" sz="1400" dirty="0">
                        <a:latin typeface="微软雅黑" pitchFamily="34" charset="0"/>
                        <a:ea typeface="微软雅黑" pitchFamily="34" charset="0"/>
                        <a:cs typeface="微软雅黑" pitchFamily="34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55625"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333333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SKILL.md</a:t>
                      </a:r>
                      <a:endParaRPr lang="en-US" sz="1400" dirty="0">
                        <a:latin typeface="微软雅黑" pitchFamily="34" charset="0"/>
                        <a:ea typeface="微软雅黑" pitchFamily="34" charset="0"/>
                        <a:cs typeface="微软雅黑" pitchFamily="34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altLang="en-US" sz="1400" b="0" dirty="0">
                          <a:solidFill>
                            <a:srgbClr val="7F7F7F"/>
                          </a:solidFill>
                          <a:latin typeface="微软雅黑" pitchFamily="34" charset="-122"/>
                          <a:ea typeface="微软雅黑" pitchFamily="34" charset="-122"/>
                          <a:cs typeface="微软雅黑" pitchFamily="34" charset="-120"/>
                        </a:rPr>
                        <a:t>领域知识：</a:t>
                      </a:r>
                      <a:r>
                        <a:rPr lang="en-US" sz="1400" u="none" dirty="0" err="1">
                          <a:solidFill>
                            <a:srgbClr val="333333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阶段流程</a:t>
                      </a:r>
                      <a:r>
                        <a:rPr lang="en-US" sz="1400" u="none" dirty="0">
                          <a:solidFill>
                            <a:srgbClr val="333333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 / 规则 / 完成标志</a:t>
                      </a:r>
                      <a:endParaRPr lang="en-US" sz="1400" dirty="0">
                        <a:latin typeface="微软雅黑" pitchFamily="34" charset="0"/>
                        <a:ea typeface="微软雅黑" pitchFamily="34" charset="0"/>
                        <a:cs typeface="微软雅黑" pitchFamily="34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333333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被匹配或指定时加载</a:t>
                      </a:r>
                      <a:endParaRPr lang="en-US" sz="1400" dirty="0">
                        <a:latin typeface="微软雅黑" pitchFamily="34" charset="0"/>
                        <a:ea typeface="微软雅黑" pitchFamily="34" charset="0"/>
                        <a:cs typeface="微软雅黑" pitchFamily="34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</a:tr>
              <a:tr h="555625"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333333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references/</a:t>
                      </a:r>
                      <a:endParaRPr lang="en-US" sz="1400" dirty="0">
                        <a:latin typeface="微软雅黑" pitchFamily="34" charset="0"/>
                        <a:ea typeface="微软雅黑" pitchFamily="34" charset="0"/>
                        <a:cs typeface="微软雅黑" pitchFamily="34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altLang="en-US" sz="1400" b="0" dirty="0">
                          <a:solidFill>
                            <a:srgbClr val="7F7F7F"/>
                          </a:solidFill>
                          <a:latin typeface="微软雅黑" pitchFamily="34" charset="-122"/>
                          <a:ea typeface="微软雅黑" pitchFamily="34" charset="-122"/>
                          <a:cs typeface="微软雅黑" pitchFamily="34" charset="-120"/>
                        </a:rPr>
                        <a:t>辅助材料：</a:t>
                      </a:r>
                      <a:r>
                        <a:rPr lang="en-US" sz="1400" u="none" dirty="0" err="1">
                          <a:solidFill>
                            <a:srgbClr val="333333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配置索引</a:t>
                      </a:r>
                      <a:r>
                        <a:rPr lang="en-US" sz="1400" u="none" dirty="0">
                          <a:solidFill>
                            <a:srgbClr val="333333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 / 代码示例 / API 文档</a:t>
                      </a:r>
                      <a:endParaRPr lang="en-US" sz="1400" dirty="0">
                        <a:latin typeface="微软雅黑" pitchFamily="34" charset="0"/>
                        <a:ea typeface="微软雅黑" pitchFamily="34" charset="0"/>
                        <a:cs typeface="微软雅黑" pitchFamily="34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333333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Skill 流程中指定读取</a:t>
                      </a:r>
                      <a:endParaRPr lang="en-US" sz="1400" dirty="0">
                        <a:latin typeface="微软雅黑" pitchFamily="34" charset="0"/>
                        <a:ea typeface="微软雅黑" pitchFamily="34" charset="0"/>
                        <a:cs typeface="微软雅黑" pitchFamily="34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Shape 6"/>
          <p:cNvSpPr/>
          <p:nvPr/>
        </p:nvSpPr>
        <p:spPr>
          <a:xfrm>
            <a:off x="1016000" y="4028440"/>
            <a:ext cx="14224000" cy="0"/>
          </a:xfrm>
          <a:prstGeom prst="straightConnector1">
            <a:avLst/>
          </a:prstGeom>
          <a:noFill/>
          <a:ln w="12700">
            <a:solidFill>
              <a:srgbClr val="E0E0E0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0" name="Shape 7"/>
          <p:cNvSpPr/>
          <p:nvPr/>
        </p:nvSpPr>
        <p:spPr>
          <a:xfrm>
            <a:off x="1016000" y="4218940"/>
            <a:ext cx="279400" cy="279400"/>
          </a:xfrm>
          <a:custGeom>
            <a:avLst/>
            <a:gdLst/>
            <a:ahLst/>
            <a:cxnLst/>
            <a:rect l="l" t="t" r="r" b="b"/>
            <a:pathLst>
              <a:path w="279400" h="279400">
                <a:moveTo>
                  <a:pt x="126876" y="2838"/>
                </a:moveTo>
                <a:cubicBezTo>
                  <a:pt x="135007" y="-928"/>
                  <a:pt x="144393" y="-928"/>
                  <a:pt x="152524" y="2838"/>
                </a:cubicBezTo>
                <a:lnTo>
                  <a:pt x="271815" y="57954"/>
                </a:lnTo>
                <a:cubicBezTo>
                  <a:pt x="276453" y="60082"/>
                  <a:pt x="279400" y="64720"/>
                  <a:pt x="279400" y="69850"/>
                </a:cubicBezTo>
                <a:cubicBezTo>
                  <a:pt x="279400" y="74980"/>
                  <a:pt x="276453" y="79618"/>
                  <a:pt x="271815" y="81746"/>
                </a:cubicBezTo>
                <a:lnTo>
                  <a:pt x="152524" y="136862"/>
                </a:lnTo>
                <a:cubicBezTo>
                  <a:pt x="144393" y="140628"/>
                  <a:pt x="135007" y="140628"/>
                  <a:pt x="126876" y="136862"/>
                </a:cubicBezTo>
                <a:lnTo>
                  <a:pt x="7585" y="81746"/>
                </a:lnTo>
                <a:cubicBezTo>
                  <a:pt x="2947" y="79564"/>
                  <a:pt x="0" y="74925"/>
                  <a:pt x="0" y="69850"/>
                </a:cubicBezTo>
                <a:cubicBezTo>
                  <a:pt x="0" y="64775"/>
                  <a:pt x="2947" y="60082"/>
                  <a:pt x="7585" y="57954"/>
                </a:cubicBezTo>
                <a:lnTo>
                  <a:pt x="126876" y="2838"/>
                </a:lnTo>
                <a:close/>
                <a:moveTo>
                  <a:pt x="26248" y="119182"/>
                </a:moveTo>
                <a:lnTo>
                  <a:pt x="115907" y="160600"/>
                </a:lnTo>
                <a:cubicBezTo>
                  <a:pt x="131023" y="167585"/>
                  <a:pt x="148431" y="167585"/>
                  <a:pt x="163547" y="160600"/>
                </a:cubicBezTo>
                <a:lnTo>
                  <a:pt x="253206" y="119182"/>
                </a:lnTo>
                <a:lnTo>
                  <a:pt x="271815" y="127804"/>
                </a:lnTo>
                <a:cubicBezTo>
                  <a:pt x="276453" y="129932"/>
                  <a:pt x="279400" y="134570"/>
                  <a:pt x="279400" y="139700"/>
                </a:cubicBezTo>
                <a:cubicBezTo>
                  <a:pt x="279400" y="144830"/>
                  <a:pt x="276453" y="149468"/>
                  <a:pt x="271815" y="151596"/>
                </a:cubicBezTo>
                <a:lnTo>
                  <a:pt x="152524" y="206712"/>
                </a:lnTo>
                <a:cubicBezTo>
                  <a:pt x="144393" y="210478"/>
                  <a:pt x="135007" y="210478"/>
                  <a:pt x="126876" y="206712"/>
                </a:cubicBezTo>
                <a:lnTo>
                  <a:pt x="7585" y="151596"/>
                </a:lnTo>
                <a:cubicBezTo>
                  <a:pt x="2947" y="149414"/>
                  <a:pt x="0" y="144775"/>
                  <a:pt x="0" y="139700"/>
                </a:cubicBezTo>
                <a:cubicBezTo>
                  <a:pt x="0" y="134625"/>
                  <a:pt x="2947" y="129932"/>
                  <a:pt x="7585" y="127804"/>
                </a:cubicBezTo>
                <a:lnTo>
                  <a:pt x="26194" y="119182"/>
                </a:lnTo>
                <a:close/>
                <a:moveTo>
                  <a:pt x="7585" y="197654"/>
                </a:moveTo>
                <a:lnTo>
                  <a:pt x="26194" y="189032"/>
                </a:lnTo>
                <a:lnTo>
                  <a:pt x="115853" y="230450"/>
                </a:lnTo>
                <a:cubicBezTo>
                  <a:pt x="130969" y="237435"/>
                  <a:pt x="148377" y="237435"/>
                  <a:pt x="163493" y="230450"/>
                </a:cubicBezTo>
                <a:lnTo>
                  <a:pt x="253152" y="189032"/>
                </a:lnTo>
                <a:lnTo>
                  <a:pt x="271760" y="197654"/>
                </a:lnTo>
                <a:cubicBezTo>
                  <a:pt x="276399" y="199782"/>
                  <a:pt x="279345" y="204420"/>
                  <a:pt x="279345" y="209550"/>
                </a:cubicBezTo>
                <a:cubicBezTo>
                  <a:pt x="279345" y="214680"/>
                  <a:pt x="276399" y="219318"/>
                  <a:pt x="271760" y="221446"/>
                </a:cubicBezTo>
                <a:lnTo>
                  <a:pt x="152469" y="276562"/>
                </a:lnTo>
                <a:cubicBezTo>
                  <a:pt x="144338" y="280328"/>
                  <a:pt x="134952" y="280328"/>
                  <a:pt x="126821" y="276562"/>
                </a:cubicBezTo>
                <a:lnTo>
                  <a:pt x="7585" y="221446"/>
                </a:lnTo>
                <a:cubicBezTo>
                  <a:pt x="2947" y="219264"/>
                  <a:pt x="0" y="214625"/>
                  <a:pt x="0" y="209550"/>
                </a:cubicBezTo>
                <a:cubicBezTo>
                  <a:pt x="0" y="204475"/>
                  <a:pt x="2947" y="199782"/>
                  <a:pt x="7585" y="197654"/>
                </a:cubicBezTo>
                <a:close/>
              </a:path>
            </a:pathLst>
          </a:custGeom>
          <a:solidFill>
            <a:srgbClr val="C00000"/>
          </a:solidFill>
        </p:spPr>
        <p:txBody>
          <a:bodyPr/>
          <a:lstStyle/>
          <a:p>
            <a:endParaRPr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1" name="Text 8"/>
          <p:cNvSpPr/>
          <p:nvPr/>
        </p:nvSpPr>
        <p:spPr>
          <a:xfrm>
            <a:off x="1371600" y="4193540"/>
            <a:ext cx="6350000" cy="3302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b="1" dirty="0">
                <a:solidFill>
                  <a:srgbClr val="333333"/>
                </a:solidFill>
                <a:latin typeface="微软雅黑" pitchFamily="34" charset="-122"/>
                <a:ea typeface="微软雅黑" pitchFamily="34" charset="-122"/>
                <a:cs typeface="微软雅黑" pitchFamily="34" charset="-120"/>
              </a:rPr>
              <a:t>渐进式披露</a:t>
            </a:r>
            <a:endParaRPr lang="en-US" sz="1600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2" name="Shape 9"/>
          <p:cNvSpPr/>
          <p:nvPr/>
        </p:nvSpPr>
        <p:spPr>
          <a:xfrm>
            <a:off x="1016000" y="4650740"/>
            <a:ext cx="14228064" cy="1270000"/>
          </a:xfrm>
          <a:prstGeom prst="roundRect">
            <a:avLst>
              <a:gd name="adj" fmla="val 5000"/>
            </a:avLst>
          </a:prstGeom>
          <a:solidFill>
            <a:srgbClr val="F2F2F2"/>
          </a:solidFill>
        </p:spPr>
        <p:txBody>
          <a:bodyPr/>
          <a:lstStyle/>
          <a:p>
            <a:endParaRPr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3" name="Text 10"/>
          <p:cNvSpPr/>
          <p:nvPr/>
        </p:nvSpPr>
        <p:spPr>
          <a:xfrm>
            <a:off x="1206500" y="4752340"/>
            <a:ext cx="13844016" cy="1079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500" dirty="0">
                <a:solidFill>
                  <a:srgbClr val="333333"/>
                </a:solidFill>
                <a:latin typeface="微软雅黑" pitchFamily="34" charset="-122"/>
                <a:ea typeface="微软雅黑" pitchFamily="34" charset="-122"/>
                <a:cs typeface="微软雅黑" pitchFamily="34" charset="-120"/>
              </a:rPr>
              <a:t>Anthropic 官方将渐进式披露定义为 Agent Skills 的</a:t>
            </a:r>
            <a:r>
              <a:rPr lang="en-US" sz="1500" b="1" dirty="0">
                <a:solidFill>
                  <a:srgbClr val="333333"/>
                </a:solidFill>
                <a:latin typeface="微软雅黑" pitchFamily="34" charset="-122"/>
                <a:ea typeface="微软雅黑" pitchFamily="34" charset="-122"/>
                <a:cs typeface="微软雅黑" pitchFamily="34" charset="-120"/>
              </a:rPr>
              <a:t>核心设计原则</a:t>
            </a:r>
            <a:endParaRPr lang="en-US" sz="1600" dirty="0">
              <a:latin typeface="微软雅黑" pitchFamily="34" charset="-122"/>
              <a:ea typeface="微软雅黑" pitchFamily="34" charset="-122"/>
            </a:endParaRPr>
          </a:p>
          <a:p>
            <a:pPr>
              <a:lnSpc>
                <a:spcPct val="150000"/>
              </a:lnSpc>
              <a:spcBef>
                <a:spcPts val="400"/>
              </a:spcBef>
            </a:pPr>
            <a:r>
              <a:rPr lang="en-US" sz="1500" dirty="0">
                <a:solidFill>
                  <a:srgbClr val="333333"/>
                </a:solidFill>
                <a:latin typeface="微软雅黑" pitchFamily="34" charset="-122"/>
                <a:ea typeface="微软雅黑" pitchFamily="34" charset="-122"/>
                <a:cs typeface="微软雅黑" pitchFamily="34" charset="-120"/>
              </a:rPr>
              <a:t>元数据是第一层披露 ： 给 Agent 足够信息判断 skill 是否相关，而不把全部内容塞进上下文</a:t>
            </a:r>
            <a:endParaRPr lang="en-US" sz="1600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8" name="Shape 15"/>
          <p:cNvSpPr/>
          <p:nvPr/>
        </p:nvSpPr>
        <p:spPr>
          <a:xfrm>
            <a:off x="1016000" y="6123940"/>
            <a:ext cx="14224000" cy="0"/>
          </a:xfrm>
          <a:prstGeom prst="straightConnector1">
            <a:avLst/>
          </a:prstGeom>
          <a:noFill/>
          <a:ln w="12700">
            <a:solidFill>
              <a:srgbClr val="E0E0E0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9" name="Shape 16"/>
          <p:cNvSpPr/>
          <p:nvPr/>
        </p:nvSpPr>
        <p:spPr>
          <a:xfrm>
            <a:off x="1016000" y="6314440"/>
            <a:ext cx="279400" cy="279400"/>
          </a:xfrm>
          <a:custGeom>
            <a:avLst/>
            <a:gdLst/>
            <a:ahLst/>
            <a:cxnLst/>
            <a:rect l="l" t="t" r="r" b="b"/>
            <a:pathLst>
              <a:path w="279400" h="279400">
                <a:moveTo>
                  <a:pt x="139700" y="279400"/>
                </a:moveTo>
                <a:cubicBezTo>
                  <a:pt x="216803" y="279400"/>
                  <a:pt x="279400" y="216803"/>
                  <a:pt x="279400" y="139700"/>
                </a:cubicBezTo>
                <a:cubicBezTo>
                  <a:pt x="279400" y="62597"/>
                  <a:pt x="216803" y="0"/>
                  <a:pt x="139700" y="0"/>
                </a:cubicBezTo>
                <a:cubicBezTo>
                  <a:pt x="62597" y="0"/>
                  <a:pt x="0" y="62597"/>
                  <a:pt x="0" y="139700"/>
                </a:cubicBezTo>
                <a:cubicBezTo>
                  <a:pt x="0" y="216803"/>
                  <a:pt x="62597" y="279400"/>
                  <a:pt x="139700" y="279400"/>
                </a:cubicBezTo>
                <a:close/>
                <a:moveTo>
                  <a:pt x="122238" y="87313"/>
                </a:moveTo>
                <a:cubicBezTo>
                  <a:pt x="122238" y="77675"/>
                  <a:pt x="130062" y="69850"/>
                  <a:pt x="139700" y="69850"/>
                </a:cubicBezTo>
                <a:cubicBezTo>
                  <a:pt x="149338" y="69850"/>
                  <a:pt x="157163" y="77675"/>
                  <a:pt x="157163" y="87313"/>
                </a:cubicBezTo>
                <a:cubicBezTo>
                  <a:pt x="157163" y="96950"/>
                  <a:pt x="149338" y="104775"/>
                  <a:pt x="139700" y="104775"/>
                </a:cubicBezTo>
                <a:cubicBezTo>
                  <a:pt x="130062" y="104775"/>
                  <a:pt x="122238" y="96950"/>
                  <a:pt x="122238" y="87313"/>
                </a:cubicBezTo>
                <a:close/>
                <a:moveTo>
                  <a:pt x="117872" y="122238"/>
                </a:moveTo>
                <a:lnTo>
                  <a:pt x="144066" y="122238"/>
                </a:lnTo>
                <a:cubicBezTo>
                  <a:pt x="151323" y="122238"/>
                  <a:pt x="157163" y="128077"/>
                  <a:pt x="157163" y="135334"/>
                </a:cubicBezTo>
                <a:lnTo>
                  <a:pt x="157163" y="183356"/>
                </a:lnTo>
                <a:lnTo>
                  <a:pt x="161528" y="183356"/>
                </a:lnTo>
                <a:cubicBezTo>
                  <a:pt x="168786" y="183356"/>
                  <a:pt x="174625" y="189195"/>
                  <a:pt x="174625" y="196453"/>
                </a:cubicBezTo>
                <a:cubicBezTo>
                  <a:pt x="174625" y="203711"/>
                  <a:pt x="168786" y="209550"/>
                  <a:pt x="161528" y="209550"/>
                </a:cubicBezTo>
                <a:lnTo>
                  <a:pt x="117872" y="209550"/>
                </a:lnTo>
                <a:cubicBezTo>
                  <a:pt x="110614" y="209550"/>
                  <a:pt x="104775" y="203711"/>
                  <a:pt x="104775" y="196453"/>
                </a:cubicBezTo>
                <a:cubicBezTo>
                  <a:pt x="104775" y="189195"/>
                  <a:pt x="110614" y="183356"/>
                  <a:pt x="117872" y="183356"/>
                </a:cubicBezTo>
                <a:lnTo>
                  <a:pt x="130969" y="183356"/>
                </a:lnTo>
                <a:lnTo>
                  <a:pt x="130969" y="148431"/>
                </a:lnTo>
                <a:lnTo>
                  <a:pt x="117872" y="148431"/>
                </a:lnTo>
                <a:cubicBezTo>
                  <a:pt x="110614" y="148431"/>
                  <a:pt x="104775" y="142592"/>
                  <a:pt x="104775" y="135334"/>
                </a:cubicBezTo>
                <a:cubicBezTo>
                  <a:pt x="104775" y="128077"/>
                  <a:pt x="110614" y="122238"/>
                  <a:pt x="117872" y="122238"/>
                </a:cubicBezTo>
                <a:close/>
              </a:path>
            </a:pathLst>
          </a:custGeom>
          <a:solidFill>
            <a:srgbClr val="C00000"/>
          </a:solidFill>
        </p:spPr>
        <p:txBody>
          <a:bodyPr/>
          <a:lstStyle/>
          <a:p>
            <a:endParaRPr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20" name="Text 17"/>
          <p:cNvSpPr/>
          <p:nvPr/>
        </p:nvSpPr>
        <p:spPr>
          <a:xfrm>
            <a:off x="1371600" y="6289040"/>
            <a:ext cx="5080000" cy="3302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b="1" dirty="0">
                <a:solidFill>
                  <a:srgbClr val="C00000"/>
                </a:solidFill>
                <a:latin typeface="微软雅黑" pitchFamily="34" charset="-122"/>
                <a:ea typeface="微软雅黑" pitchFamily="34" charset="-122"/>
                <a:cs typeface="微软雅黑" pitchFamily="34" charset="-120"/>
              </a:rPr>
              <a:t>为什么这么做？</a:t>
            </a:r>
            <a:endParaRPr lang="en-US" sz="1600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21" name="Text 18"/>
          <p:cNvSpPr/>
          <p:nvPr/>
        </p:nvSpPr>
        <p:spPr>
          <a:xfrm>
            <a:off x="1016000" y="6695440"/>
            <a:ext cx="14224000" cy="1587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55000"/>
              </a:lnSpc>
            </a:pPr>
            <a:r>
              <a:rPr lang="en-US" sz="1600" dirty="0">
                <a:solidFill>
                  <a:srgbClr val="333333"/>
                </a:solidFill>
                <a:latin typeface="微软雅黑" pitchFamily="34" charset="-122"/>
                <a:ea typeface="微软雅黑" pitchFamily="34" charset="-122"/>
                <a:cs typeface="微软雅黑" pitchFamily="34" charset="-120"/>
                <a:sym typeface="+mn-ea"/>
              </a:rPr>
              <a:t>AGENTS</a:t>
            </a:r>
            <a:r>
              <a:rPr lang="en-US" sz="1600" dirty="0">
                <a:solidFill>
                  <a:srgbClr val="333333"/>
                </a:solidFill>
                <a:latin typeface="微软雅黑" pitchFamily="34" charset="-122"/>
                <a:ea typeface="微软雅黑" pitchFamily="34" charset="-122"/>
                <a:cs typeface="微软雅黑" pitchFamily="34" charset="-120"/>
              </a:rPr>
              <a:t>.md 不仅注入主会话，还注入</a:t>
            </a:r>
            <a:r>
              <a:rPr lang="en-US" sz="1600" b="1" dirty="0">
                <a:solidFill>
                  <a:srgbClr val="333333"/>
                </a:solidFill>
                <a:latin typeface="微软雅黑" pitchFamily="34" charset="-122"/>
                <a:ea typeface="微软雅黑" pitchFamily="34" charset="-122"/>
                <a:cs typeface="微软雅黑" pitchFamily="34" charset="-120"/>
              </a:rPr>
              <a:t>每一个 subagent</a:t>
            </a:r>
            <a:r>
              <a:rPr lang="en-US" sz="1600" dirty="0">
                <a:solidFill>
                  <a:srgbClr val="333333"/>
                </a:solidFill>
                <a:latin typeface="微软雅黑" pitchFamily="34" charset="-122"/>
                <a:ea typeface="微软雅黑" pitchFamily="34" charset="-122"/>
                <a:cs typeface="微软雅黑" pitchFamily="34" charset="-120"/>
              </a:rPr>
              <a:t> 的上下文</a:t>
            </a:r>
            <a:endParaRPr lang="en-US" sz="1600" dirty="0">
              <a:latin typeface="微软雅黑" pitchFamily="34" charset="-122"/>
              <a:ea typeface="微软雅黑" pitchFamily="34" charset="-122"/>
            </a:endParaRPr>
          </a:p>
          <a:p>
            <a:pPr>
              <a:lnSpc>
                <a:spcPct val="155000"/>
              </a:lnSpc>
              <a:spcBef>
                <a:spcPts val="400"/>
              </a:spcBef>
            </a:pPr>
            <a:r>
              <a:rPr lang="en-US" sz="1600" dirty="0">
                <a:solidFill>
                  <a:srgbClr val="333333"/>
                </a:solidFill>
                <a:latin typeface="微软雅黑" pitchFamily="34" charset="-122"/>
                <a:ea typeface="微软雅黑" pitchFamily="34" charset="-122"/>
                <a:cs typeface="微软雅黑" pitchFamily="34" charset="-120"/>
              </a:rPr>
              <a:t>每派出一个 subagent 就重复注入一份： 大量重复无效上下文</a:t>
            </a:r>
            <a:endParaRPr lang="en-US" sz="1600" b="1" dirty="0">
              <a:solidFill>
                <a:srgbClr val="333333"/>
              </a:solidFill>
              <a:latin typeface="微软雅黑" pitchFamily="34" charset="-122"/>
              <a:ea typeface="微软雅黑" pitchFamily="34" charset="-122"/>
              <a:cs typeface="微软雅黑" pitchFamily="34" charset="-120"/>
            </a:endParaRPr>
          </a:p>
          <a:p>
            <a:pPr>
              <a:lnSpc>
                <a:spcPct val="155000"/>
              </a:lnSpc>
              <a:spcBef>
                <a:spcPts val="400"/>
              </a:spcBef>
            </a:pPr>
            <a:r>
              <a:rPr lang="zh-CN" altLang="en-US" sz="1600" dirty="0">
                <a:solidFill>
                  <a:srgbClr val="333333"/>
                </a:solidFill>
                <a:latin typeface="微软雅黑" pitchFamily="34" charset="-122"/>
                <a:ea typeface="微软雅黑" pitchFamily="34" charset="-122"/>
                <a:cs typeface="微软雅黑" pitchFamily="34" charset="-120"/>
              </a:rPr>
              <a:t>维持上下文简洁精准</a:t>
            </a:r>
            <a:r>
              <a:rPr lang="en-US" sz="1600" dirty="0">
                <a:solidFill>
                  <a:srgbClr val="333333"/>
                </a:solidFill>
                <a:latin typeface="微软雅黑" pitchFamily="34" charset="-122"/>
                <a:ea typeface="微软雅黑" pitchFamily="34" charset="-122"/>
                <a:cs typeface="微软雅黑" pitchFamily="34" charset="-120"/>
              </a:rPr>
              <a:t>，</a:t>
            </a:r>
            <a:r>
              <a:rPr lang="zh-CN" altLang="en-US" sz="1600" dirty="0">
                <a:solidFill>
                  <a:srgbClr val="333333"/>
                </a:solidFill>
                <a:latin typeface="微软雅黑" pitchFamily="34" charset="-122"/>
                <a:ea typeface="微软雅黑" pitchFamily="34" charset="-122"/>
                <a:cs typeface="微软雅黑" pitchFamily="34" charset="-120"/>
              </a:rPr>
              <a:t>模型优化过程</a:t>
            </a:r>
            <a:r>
              <a:rPr lang="en-US" sz="1600" dirty="0">
                <a:solidFill>
                  <a:srgbClr val="333333"/>
                </a:solidFill>
                <a:latin typeface="微软雅黑" pitchFamily="34" charset="-122"/>
                <a:ea typeface="微软雅黑" pitchFamily="34" charset="-122"/>
                <a:cs typeface="微软雅黑" pitchFamily="34" charset="-120"/>
              </a:rPr>
              <a:t>全链路受益</a:t>
            </a:r>
            <a:endParaRPr lang="en-US" sz="1600" dirty="0">
              <a:latin typeface="微软雅黑" pitchFamily="34" charset="-122"/>
              <a:ea typeface="微软雅黑" pitchFamily="34" charset="-122"/>
            </a:endParaRPr>
          </a:p>
        </p:txBody>
      </p:sp>
    </p:spTree>
  </p:cSld>
  <p:clrMapOvr>
    <a:masterClrMapping/>
  </p:clrMapOvr>
  <p:transition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ext 28"/>
          <p:cNvSpPr/>
          <p:nvPr/>
        </p:nvSpPr>
        <p:spPr>
          <a:xfrm>
            <a:off x="825500" y="8178800"/>
            <a:ext cx="2540000" cy="3302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300" dirty="0">
                <a:solidFill>
                  <a:srgbClr val="7F7F7F"/>
                </a:solidFill>
                <a:latin typeface="微软雅黑" pitchFamily="34" charset="-122"/>
                <a:ea typeface="微软雅黑" pitchFamily="34" charset="-122"/>
                <a:cs typeface="MiSans" pitchFamily="34" charset="-120"/>
              </a:rPr>
              <a:t>https://gitcode.com/cann</a:t>
            </a:r>
            <a:endParaRPr lang="en-US" sz="1300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32" name="Text 29"/>
          <p:cNvSpPr/>
          <p:nvPr/>
        </p:nvSpPr>
        <p:spPr>
          <a:xfrm>
            <a:off x="7620000" y="8178800"/>
            <a:ext cx="1016000" cy="3302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fld id="{B552E45A-556A-4D9B-87B1-0B51B559358D}" type="slidenum">
              <a:rPr lang="en-US" sz="1300" dirty="0">
                <a:solidFill>
                  <a:srgbClr val="7F7F7F"/>
                </a:solidFill>
                <a:latin typeface="微软雅黑" pitchFamily="34" charset="-122"/>
                <a:ea typeface="微软雅黑" pitchFamily="34" charset="-122"/>
                <a:cs typeface="MiSans" pitchFamily="34" charset="-120"/>
              </a:rPr>
            </a:fld>
            <a:endParaRPr lang="en-US" sz="1300" dirty="0">
              <a:latin typeface="微软雅黑" pitchFamily="34" charset="-122"/>
              <a:ea typeface="微软雅黑" pitchFamily="34" charset="-122"/>
            </a:endParaRPr>
          </a:p>
        </p:txBody>
      </p:sp>
      <p:pic>
        <p:nvPicPr>
          <p:cNvPr id="33" name="Image 0" descr="https://kimi-img.moonshot.cn/pub/slides/okc/4rfbomebqqupm/mnt/agents/output/template_pptd/images/image_2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512800" y="8051800"/>
            <a:ext cx="1752600" cy="469900"/>
          </a:xfrm>
          <a:prstGeom prst="rect">
            <a:avLst/>
          </a:prstGeom>
        </p:spPr>
      </p:pic>
      <p:sp>
        <p:nvSpPr>
          <p:cNvPr id="2" name="Text 0"/>
          <p:cNvSpPr/>
          <p:nvPr/>
        </p:nvSpPr>
        <p:spPr>
          <a:xfrm>
            <a:off x="762000" y="355600"/>
            <a:ext cx="11430000" cy="5715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l">
              <a:lnSpc>
                <a:spcPct val="100000"/>
              </a:lnSpc>
            </a:pPr>
            <a:r>
              <a:rPr lang="zh-CN" altLang="en-US" sz="3200" b="1" dirty="0">
                <a:solidFill>
                  <a:srgbClr val="333333"/>
                </a:solidFill>
                <a:latin typeface="微软雅黑" pitchFamily="34" charset="-122"/>
                <a:ea typeface="微软雅黑" pitchFamily="34" charset="-122"/>
                <a:cs typeface="微软雅黑" pitchFamily="34" charset="-120"/>
                <a:sym typeface="+mn-ea"/>
              </a:rPr>
              <a:t>专业化分工</a:t>
            </a:r>
            <a:r>
              <a:rPr lang="en-US" altLang="zh-CN" sz="3200" b="1" dirty="0">
                <a:solidFill>
                  <a:srgbClr val="333333"/>
                </a:solidFill>
                <a:latin typeface="微软雅黑" pitchFamily="34" charset="-122"/>
                <a:ea typeface="微软雅黑" pitchFamily="34" charset="-122"/>
                <a:cs typeface="微软雅黑" pitchFamily="34" charset="-120"/>
                <a:sym typeface="+mn-ea"/>
              </a:rPr>
              <a:t>：</a:t>
            </a:r>
            <a:r>
              <a:rPr lang="en-US" sz="3200" b="1" dirty="0">
                <a:solidFill>
                  <a:srgbClr val="333333"/>
                </a:solidFill>
                <a:latin typeface="微软雅黑" pitchFamily="34" charset="-122"/>
                <a:ea typeface="微软雅黑" pitchFamily="34" charset="-122"/>
                <a:cs typeface="微软雅黑" pitchFamily="34" charset="-120"/>
                <a:sym typeface="+mn-ea"/>
              </a:rPr>
              <a:t>Agent Team</a:t>
            </a:r>
            <a:endParaRPr lang="en-US" sz="3200" b="1" dirty="0">
              <a:solidFill>
                <a:schemeClr val="tx1"/>
              </a:solidFill>
              <a:latin typeface="微软雅黑" pitchFamily="34" charset="-122"/>
              <a:ea typeface="微软雅黑" pitchFamily="34" charset="-122"/>
              <a:cs typeface="微软雅黑" pitchFamily="34" charset="-120"/>
              <a:sym typeface="+mn-ea"/>
            </a:endParaRPr>
          </a:p>
        </p:txBody>
      </p:sp>
      <p:graphicFrame>
        <p:nvGraphicFramePr>
          <p:cNvPr id="12" name="Table 0"/>
          <p:cNvGraphicFramePr>
            <a:graphicFrameLocks noGrp="1"/>
          </p:cNvGraphicFramePr>
          <p:nvPr/>
        </p:nvGraphicFramePr>
        <p:xfrm>
          <a:off x="999490" y="1148080"/>
          <a:ext cx="14224000" cy="2667000"/>
        </p:xfrm>
        <a:graphic>
          <a:graphicData uri="http://schemas.openxmlformats.org/drawingml/2006/table">
            <a:tbl>
              <a:tblPr/>
              <a:tblGrid>
                <a:gridCol w="2560320"/>
                <a:gridCol w="5689600"/>
                <a:gridCol w="5974080"/>
              </a:tblGrid>
              <a:tr h="533400">
                <a:tc>
                  <a:txBody>
                    <a:bodyPr/>
                    <a:lstStyle/>
                    <a:p>
                      <a:pPr algn="l"/>
                      <a:r>
                        <a:rPr lang="en-US" sz="1400" b="1" u="none" dirty="0">
                          <a:solidFill>
                            <a:schemeClr val="tx1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角色</a:t>
                      </a:r>
                      <a:endParaRPr lang="en-US" sz="1400" dirty="0">
                        <a:solidFill>
                          <a:schemeClr val="tx1"/>
                        </a:solidFill>
                        <a:latin typeface="微软雅黑" pitchFamily="34" charset="0"/>
                        <a:ea typeface="微软雅黑" pitchFamily="34" charset="0"/>
                        <a:cs typeface="微软雅黑" pitchFamily="34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CCC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1" u="none" dirty="0">
                          <a:solidFill>
                            <a:schemeClr val="tx1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职责</a:t>
                      </a:r>
                      <a:endParaRPr lang="en-US" sz="1400" dirty="0">
                        <a:solidFill>
                          <a:schemeClr val="tx1"/>
                        </a:solidFill>
                        <a:latin typeface="微软雅黑" pitchFamily="34" charset="0"/>
                        <a:ea typeface="微软雅黑" pitchFamily="34" charset="0"/>
                        <a:cs typeface="微软雅黑" pitchFamily="34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CCC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1" u="none" dirty="0">
                          <a:solidFill>
                            <a:schemeClr val="tx1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权限</a:t>
                      </a:r>
                      <a:endParaRPr lang="en-US" sz="1400" dirty="0">
                        <a:solidFill>
                          <a:schemeClr val="tx1"/>
                        </a:solidFill>
                        <a:latin typeface="微软雅黑" pitchFamily="34" charset="0"/>
                        <a:ea typeface="微软雅黑" pitchFamily="34" charset="0"/>
                        <a:cs typeface="微软雅黑" pitchFamily="34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CCCC"/>
                    </a:solidFill>
                  </a:tcPr>
                </a:tc>
              </a:tr>
              <a:tr h="533400">
                <a:tc>
                  <a:txBody>
                    <a:bodyPr/>
                    <a:lstStyle/>
                    <a:p>
                      <a:pPr algn="l"/>
                      <a:r>
                        <a:rPr lang="en-US" altLang="zh-CN" sz="1400" b="1" u="none" dirty="0">
                          <a:solidFill>
                            <a:srgbClr val="C0000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Workflow</a:t>
                      </a:r>
                      <a:r>
                        <a:rPr lang="en-US" sz="1400" b="1" u="none" dirty="0">
                          <a:solidFill>
                            <a:srgbClr val="C0000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 </a:t>
                      </a:r>
                      <a:r>
                        <a:rPr lang="zh-CN" altLang="en-US" sz="1400" b="1" u="none" dirty="0">
                          <a:solidFill>
                            <a:srgbClr val="C0000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（主流程编排）</a:t>
                      </a:r>
                      <a:endParaRPr lang="en-US" sz="1400" b="1" dirty="0">
                        <a:solidFill>
                          <a:srgbClr val="C00000"/>
                        </a:solidFill>
                        <a:latin typeface="微软雅黑" pitchFamily="34" charset="0"/>
                        <a:ea typeface="微软雅黑" pitchFamily="34" charset="0"/>
                        <a:cs typeface="微软雅黑" pitchFamily="34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333333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编排 / 派发 / 用户确认 / 进度管理</a:t>
                      </a:r>
                      <a:endParaRPr lang="en-US" sz="1400" dirty="0">
                        <a:latin typeface="微软雅黑" pitchFamily="34" charset="0"/>
                        <a:ea typeface="微软雅黑" pitchFamily="34" charset="0"/>
                        <a:cs typeface="微软雅黑" pitchFamily="34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333333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不直接改代码，</a:t>
                      </a:r>
                      <a:r>
                        <a:rPr lang="zh-CN" altLang="en-US" sz="1400" u="none" dirty="0">
                          <a:solidFill>
                            <a:srgbClr val="333333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只做流程编排</a:t>
                      </a:r>
                      <a:endParaRPr lang="zh-CN" altLang="en-US" sz="1400" u="none" dirty="0">
                        <a:solidFill>
                          <a:srgbClr val="333333"/>
                        </a:solidFill>
                        <a:latin typeface="微软雅黑" pitchFamily="34" charset="0"/>
                        <a:ea typeface="微软雅黑" pitchFamily="34" charset="-122"/>
                        <a:cs typeface="微软雅黑" pitchFamily="34" charset="-12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33400">
                <a:tc>
                  <a:txBody>
                    <a:bodyPr/>
                    <a:lstStyle/>
                    <a:p>
                      <a:pPr algn="l"/>
                      <a:r>
                        <a:rPr lang="en-US" sz="1400" b="1" u="none" dirty="0">
                          <a:solidFill>
                            <a:srgbClr val="C0000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Analyzer </a:t>
                      </a:r>
                      <a:r>
                        <a:rPr lang="zh-CN" altLang="en-US" sz="1400" b="1" u="none" dirty="0">
                          <a:solidFill>
                            <a:srgbClr val="C0000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（分析）</a:t>
                      </a:r>
                      <a:endParaRPr lang="en-US" sz="1400" b="1" dirty="0">
                        <a:solidFill>
                          <a:srgbClr val="C00000"/>
                        </a:solidFill>
                        <a:latin typeface="微软雅黑" pitchFamily="34" charset="0"/>
                        <a:ea typeface="微软雅黑" pitchFamily="34" charset="0"/>
                        <a:cs typeface="微软雅黑" pitchFamily="34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333333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架构分析 / 方案设计</a:t>
                      </a:r>
                      <a:endParaRPr lang="en-US" sz="1400" dirty="0">
                        <a:latin typeface="微软雅黑" pitchFamily="34" charset="0"/>
                        <a:ea typeface="微软雅黑" pitchFamily="34" charset="0"/>
                        <a:cs typeface="微软雅黑" pitchFamily="34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333333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只读代码，只写 progress.md</a:t>
                      </a:r>
                      <a:endParaRPr lang="en-US" sz="1400" dirty="0">
                        <a:latin typeface="微软雅黑" pitchFamily="34" charset="0"/>
                        <a:ea typeface="微软雅黑" pitchFamily="34" charset="0"/>
                        <a:cs typeface="微软雅黑" pitchFamily="34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</a:tr>
              <a:tr h="533400">
                <a:tc>
                  <a:txBody>
                    <a:bodyPr/>
                    <a:lstStyle/>
                    <a:p>
                      <a:pPr algn="l"/>
                      <a:r>
                        <a:rPr lang="en-US" sz="1400" b="1" u="none" dirty="0">
                          <a:solidFill>
                            <a:srgbClr val="C0000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Implementer </a:t>
                      </a:r>
                      <a:r>
                        <a:rPr lang="zh-CN" altLang="en-US" sz="1400" b="1" u="none" dirty="0">
                          <a:solidFill>
                            <a:srgbClr val="C0000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（实施）</a:t>
                      </a:r>
                      <a:endParaRPr lang="en-US" sz="1400" b="1" dirty="0">
                        <a:solidFill>
                          <a:srgbClr val="C00000"/>
                        </a:solidFill>
                        <a:latin typeface="微软雅黑" pitchFamily="34" charset="0"/>
                        <a:ea typeface="微软雅黑" pitchFamily="34" charset="0"/>
                        <a:cs typeface="微软雅黑" pitchFamily="34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333333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代码改造 / 调试 / 必须自验证</a:t>
                      </a:r>
                      <a:endParaRPr lang="en-US" sz="1400" dirty="0">
                        <a:latin typeface="微软雅黑" pitchFamily="34" charset="0"/>
                        <a:ea typeface="微软雅黑" pitchFamily="34" charset="0"/>
                        <a:cs typeface="微软雅黑" pitchFamily="34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333333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读写全部文件</a:t>
                      </a:r>
                      <a:endParaRPr lang="en-US" sz="1400" dirty="0">
                        <a:latin typeface="微软雅黑" pitchFamily="34" charset="0"/>
                        <a:ea typeface="微软雅黑" pitchFamily="34" charset="0"/>
                        <a:cs typeface="微软雅黑" pitchFamily="34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33400">
                <a:tc>
                  <a:txBody>
                    <a:bodyPr/>
                    <a:lstStyle/>
                    <a:p>
                      <a:pPr algn="l"/>
                      <a:r>
                        <a:rPr lang="en-US" sz="1400" b="1" u="none" dirty="0">
                          <a:solidFill>
                            <a:srgbClr val="C0000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Reviewer </a:t>
                      </a:r>
                      <a:r>
                        <a:rPr lang="zh-CN" altLang="en-US" sz="1400" b="1" u="none" dirty="0">
                          <a:solidFill>
                            <a:srgbClr val="C0000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（验证）</a:t>
                      </a:r>
                      <a:endParaRPr lang="en-US" sz="1400" b="1" dirty="0">
                        <a:solidFill>
                          <a:srgbClr val="C00000"/>
                        </a:solidFill>
                        <a:latin typeface="微软雅黑" pitchFamily="34" charset="0"/>
                        <a:ea typeface="微软雅黑" pitchFamily="34" charset="0"/>
                        <a:cs typeface="微软雅黑" pitchFamily="34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333333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精度 / 性能验证 / 写报告</a:t>
                      </a:r>
                      <a:endParaRPr lang="en-US" sz="1400" dirty="0">
                        <a:latin typeface="微软雅黑" pitchFamily="34" charset="0"/>
                        <a:ea typeface="微软雅黑" pitchFamily="34" charset="0"/>
                        <a:cs typeface="微软雅黑" pitchFamily="34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333333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禁改模型</a:t>
                      </a:r>
                      <a:r>
                        <a:rPr lang="zh-CN" altLang="en-US" sz="1400" u="none" dirty="0">
                          <a:solidFill>
                            <a:srgbClr val="333333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实现</a:t>
                      </a:r>
                      <a:r>
                        <a:rPr lang="en-US" sz="1400" u="none" dirty="0">
                          <a:solidFill>
                            <a:srgbClr val="333333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代码</a:t>
                      </a:r>
                      <a:endParaRPr lang="en-US" sz="1400" dirty="0">
                        <a:solidFill>
                          <a:srgbClr val="333333"/>
                        </a:solidFill>
                        <a:latin typeface="微软雅黑" pitchFamily="34" charset="0"/>
                        <a:ea typeface="微软雅黑" pitchFamily="34" charset="-122"/>
                        <a:cs typeface="微软雅黑" pitchFamily="34" charset="-12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999490" y="3992880"/>
            <a:ext cx="14224000" cy="0"/>
          </a:xfrm>
          <a:prstGeom prst="straightConnector1">
            <a:avLst/>
          </a:prstGeom>
          <a:noFill/>
          <a:ln w="12700">
            <a:solidFill>
              <a:srgbClr val="E0E0E0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8" name="Shape 5"/>
          <p:cNvSpPr/>
          <p:nvPr/>
        </p:nvSpPr>
        <p:spPr>
          <a:xfrm>
            <a:off x="982028" y="4170680"/>
            <a:ext cx="314325" cy="279400"/>
          </a:xfrm>
          <a:custGeom>
            <a:avLst/>
            <a:gdLst/>
            <a:ahLst/>
            <a:cxnLst/>
            <a:rect l="l" t="t" r="r" b="b"/>
            <a:pathLst>
              <a:path w="314325" h="279400">
                <a:moveTo>
                  <a:pt x="292715" y="-14352"/>
                </a:moveTo>
                <a:cubicBezTo>
                  <a:pt x="298063" y="-16262"/>
                  <a:pt x="303957" y="-14898"/>
                  <a:pt x="307995" y="-10914"/>
                </a:cubicBezTo>
                <a:cubicBezTo>
                  <a:pt x="312033" y="-6930"/>
                  <a:pt x="313343" y="-982"/>
                  <a:pt x="311433" y="4366"/>
                </a:cubicBezTo>
                <a:lnTo>
                  <a:pt x="214298" y="275526"/>
                </a:lnTo>
                <a:cubicBezTo>
                  <a:pt x="211569" y="283111"/>
                  <a:pt x="204420" y="288131"/>
                  <a:pt x="196399" y="288131"/>
                </a:cubicBezTo>
                <a:cubicBezTo>
                  <a:pt x="188650" y="288131"/>
                  <a:pt x="181665" y="283438"/>
                  <a:pt x="178772" y="276289"/>
                </a:cubicBezTo>
                <a:lnTo>
                  <a:pt x="143738" y="190068"/>
                </a:lnTo>
                <a:cubicBezTo>
                  <a:pt x="141283" y="184066"/>
                  <a:pt x="142374" y="177190"/>
                  <a:pt x="146576" y="172278"/>
                </a:cubicBezTo>
                <a:lnTo>
                  <a:pt x="198145" y="110941"/>
                </a:lnTo>
                <a:cubicBezTo>
                  <a:pt x="200928" y="107613"/>
                  <a:pt x="200710" y="102756"/>
                  <a:pt x="197654" y="99700"/>
                </a:cubicBezTo>
                <a:cubicBezTo>
                  <a:pt x="194598" y="96644"/>
                  <a:pt x="189686" y="96426"/>
                  <a:pt x="186412" y="99209"/>
                </a:cubicBezTo>
                <a:lnTo>
                  <a:pt x="125075" y="150669"/>
                </a:lnTo>
                <a:cubicBezTo>
                  <a:pt x="120109" y="154816"/>
                  <a:pt x="113288" y="155907"/>
                  <a:pt x="107285" y="153506"/>
                </a:cubicBezTo>
                <a:lnTo>
                  <a:pt x="20791" y="118308"/>
                </a:lnTo>
                <a:cubicBezTo>
                  <a:pt x="13643" y="115416"/>
                  <a:pt x="8950" y="108431"/>
                  <a:pt x="8950" y="100682"/>
                </a:cubicBezTo>
                <a:cubicBezTo>
                  <a:pt x="8950" y="92660"/>
                  <a:pt x="13970" y="85512"/>
                  <a:pt x="21555" y="82783"/>
                </a:cubicBezTo>
                <a:lnTo>
                  <a:pt x="292715" y="-14352"/>
                </a:lnTo>
                <a:close/>
              </a:path>
            </a:pathLst>
          </a:custGeom>
          <a:solidFill>
            <a:srgbClr val="C00000"/>
          </a:solidFill>
        </p:spPr>
        <p:txBody>
          <a:bodyPr/>
          <a:lstStyle/>
          <a:p>
            <a:endParaRPr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9" name="Text 6"/>
          <p:cNvSpPr/>
          <p:nvPr/>
        </p:nvSpPr>
        <p:spPr>
          <a:xfrm>
            <a:off x="1355090" y="4145280"/>
            <a:ext cx="5080000" cy="3302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b="1" dirty="0">
                <a:solidFill>
                  <a:srgbClr val="333333"/>
                </a:solidFill>
                <a:latin typeface="微软雅黑" pitchFamily="34" charset="-122"/>
                <a:ea typeface="微软雅黑" pitchFamily="34" charset="-122"/>
                <a:cs typeface="微软雅黑" pitchFamily="34" charset="-120"/>
              </a:rPr>
              <a:t>派发简洁规范</a:t>
            </a:r>
            <a:endParaRPr lang="en-US" sz="1600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0" name="Text 7"/>
          <p:cNvSpPr/>
          <p:nvPr/>
        </p:nvSpPr>
        <p:spPr>
          <a:xfrm>
            <a:off x="999490" y="4551680"/>
            <a:ext cx="14224000" cy="762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500" dirty="0">
                <a:solidFill>
                  <a:srgbClr val="333333"/>
                </a:solidFill>
                <a:latin typeface="微软雅黑" pitchFamily="34" charset="-122"/>
                <a:ea typeface="微软雅黑" pitchFamily="34" charset="-122"/>
                <a:cs typeface="微软雅黑" pitchFamily="34" charset="-120"/>
              </a:rPr>
              <a:t>· dispatch prompt 只含</a:t>
            </a:r>
            <a:r>
              <a:rPr lang="en-US" sz="1500" b="1" dirty="0">
                <a:solidFill>
                  <a:srgbClr val="333333"/>
                </a:solidFill>
                <a:latin typeface="微软雅黑" pitchFamily="34" charset="-122"/>
                <a:ea typeface="微软雅黑" pitchFamily="34" charset="-122"/>
                <a:cs typeface="微软雅黑" pitchFamily="34" charset="-120"/>
              </a:rPr>
              <a:t>工作目录 + 任务 + 必须使用的 skill</a:t>
            </a:r>
            <a:r>
              <a:rPr lang="en-US" sz="1500" b="0" dirty="0">
                <a:solidFill>
                  <a:srgbClr val="333333"/>
                </a:solidFill>
                <a:latin typeface="微软雅黑" pitchFamily="34" charset="-122"/>
                <a:ea typeface="微软雅黑" pitchFamily="34" charset="-122"/>
                <a:cs typeface="微软雅黑" pitchFamily="34" charset="-120"/>
              </a:rPr>
              <a:t>，上下文由 subagent 自行从 progress.md 获取</a:t>
            </a:r>
            <a:endParaRPr lang="en-US" sz="1600" dirty="0">
              <a:latin typeface="微软雅黑" pitchFamily="34" charset="-122"/>
              <a:ea typeface="微软雅黑" pitchFamily="34" charset="-122"/>
            </a:endParaRPr>
          </a:p>
          <a:p>
            <a:pPr>
              <a:lnSpc>
                <a:spcPct val="150000"/>
              </a:lnSpc>
              <a:spcBef>
                <a:spcPts val="300"/>
              </a:spcBef>
            </a:pPr>
            <a:r>
              <a:rPr lang="en-US" sz="1500" dirty="0">
                <a:solidFill>
                  <a:srgbClr val="333333"/>
                </a:solidFill>
                <a:latin typeface="微软雅黑" pitchFamily="34" charset="-122"/>
                <a:ea typeface="微软雅黑" pitchFamily="34" charset="-122"/>
                <a:cs typeface="微软雅黑" pitchFamily="34" charset="-120"/>
              </a:rPr>
              <a:t>· prompt 给得越详细，subagent 越容易忽略自己的 skill 流程</a:t>
            </a:r>
            <a:endParaRPr lang="en-US" sz="1600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1" name="Shape 8"/>
          <p:cNvSpPr/>
          <p:nvPr/>
        </p:nvSpPr>
        <p:spPr>
          <a:xfrm>
            <a:off x="999490" y="5466080"/>
            <a:ext cx="14224000" cy="0"/>
          </a:xfrm>
          <a:prstGeom prst="straightConnector1">
            <a:avLst/>
          </a:prstGeom>
          <a:noFill/>
          <a:ln w="12700">
            <a:solidFill>
              <a:srgbClr val="E0E0E0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6" name="Shape 9"/>
          <p:cNvSpPr/>
          <p:nvPr/>
        </p:nvSpPr>
        <p:spPr>
          <a:xfrm>
            <a:off x="964565" y="5643880"/>
            <a:ext cx="349250" cy="279400"/>
          </a:xfrm>
          <a:custGeom>
            <a:avLst/>
            <a:gdLst/>
            <a:ahLst/>
            <a:cxnLst/>
            <a:rect l="l" t="t" r="r" b="b"/>
            <a:pathLst>
              <a:path w="349250" h="279400">
                <a:moveTo>
                  <a:pt x="174625" y="8731"/>
                </a:moveTo>
                <a:cubicBezTo>
                  <a:pt x="205948" y="8731"/>
                  <a:pt x="231378" y="34161"/>
                  <a:pt x="231378" y="65484"/>
                </a:cubicBezTo>
                <a:cubicBezTo>
                  <a:pt x="231378" y="96807"/>
                  <a:pt x="205948" y="122238"/>
                  <a:pt x="174625" y="122238"/>
                </a:cubicBezTo>
                <a:cubicBezTo>
                  <a:pt x="143302" y="122238"/>
                  <a:pt x="117872" y="96807"/>
                  <a:pt x="117872" y="65484"/>
                </a:cubicBezTo>
                <a:cubicBezTo>
                  <a:pt x="117872" y="34161"/>
                  <a:pt x="143302" y="8731"/>
                  <a:pt x="174625" y="8731"/>
                </a:cubicBezTo>
                <a:close/>
                <a:moveTo>
                  <a:pt x="52388" y="48022"/>
                </a:moveTo>
                <a:cubicBezTo>
                  <a:pt x="74073" y="48022"/>
                  <a:pt x="91678" y="65627"/>
                  <a:pt x="91678" y="87313"/>
                </a:cubicBezTo>
                <a:cubicBezTo>
                  <a:pt x="91678" y="108998"/>
                  <a:pt x="74073" y="126603"/>
                  <a:pt x="52388" y="126603"/>
                </a:cubicBezTo>
                <a:cubicBezTo>
                  <a:pt x="30702" y="126603"/>
                  <a:pt x="13097" y="108998"/>
                  <a:pt x="13097" y="87313"/>
                </a:cubicBezTo>
                <a:cubicBezTo>
                  <a:pt x="13097" y="65627"/>
                  <a:pt x="30702" y="48022"/>
                  <a:pt x="52387" y="48022"/>
                </a:cubicBezTo>
                <a:close/>
                <a:moveTo>
                  <a:pt x="0" y="227013"/>
                </a:moveTo>
                <a:cubicBezTo>
                  <a:pt x="0" y="188431"/>
                  <a:pt x="31269" y="157163"/>
                  <a:pt x="69850" y="157163"/>
                </a:cubicBezTo>
                <a:cubicBezTo>
                  <a:pt x="76835" y="157163"/>
                  <a:pt x="83602" y="158199"/>
                  <a:pt x="89986" y="160109"/>
                </a:cubicBezTo>
                <a:cubicBezTo>
                  <a:pt x="72033" y="180191"/>
                  <a:pt x="61119" y="206712"/>
                  <a:pt x="61119" y="235744"/>
                </a:cubicBezTo>
                <a:lnTo>
                  <a:pt x="61119" y="244475"/>
                </a:lnTo>
                <a:cubicBezTo>
                  <a:pt x="61119" y="250696"/>
                  <a:pt x="62428" y="256590"/>
                  <a:pt x="64775" y="261938"/>
                </a:cubicBezTo>
                <a:lnTo>
                  <a:pt x="17463" y="261938"/>
                </a:lnTo>
                <a:cubicBezTo>
                  <a:pt x="7804" y="261938"/>
                  <a:pt x="0" y="254134"/>
                  <a:pt x="0" y="244475"/>
                </a:cubicBezTo>
                <a:lnTo>
                  <a:pt x="0" y="227013"/>
                </a:lnTo>
                <a:close/>
                <a:moveTo>
                  <a:pt x="284475" y="261938"/>
                </a:moveTo>
                <a:cubicBezTo>
                  <a:pt x="286822" y="256590"/>
                  <a:pt x="288131" y="250696"/>
                  <a:pt x="288131" y="244475"/>
                </a:cubicBezTo>
                <a:lnTo>
                  <a:pt x="288131" y="235744"/>
                </a:lnTo>
                <a:cubicBezTo>
                  <a:pt x="288131" y="206712"/>
                  <a:pt x="277217" y="180191"/>
                  <a:pt x="259264" y="160109"/>
                </a:cubicBezTo>
                <a:cubicBezTo>
                  <a:pt x="265648" y="158199"/>
                  <a:pt x="272415" y="157163"/>
                  <a:pt x="279400" y="157163"/>
                </a:cubicBezTo>
                <a:cubicBezTo>
                  <a:pt x="317981" y="157163"/>
                  <a:pt x="349250" y="188431"/>
                  <a:pt x="349250" y="227013"/>
                </a:cubicBezTo>
                <a:lnTo>
                  <a:pt x="349250" y="244475"/>
                </a:lnTo>
                <a:cubicBezTo>
                  <a:pt x="349250" y="254134"/>
                  <a:pt x="341446" y="261938"/>
                  <a:pt x="331788" y="261938"/>
                </a:cubicBezTo>
                <a:lnTo>
                  <a:pt x="284475" y="261938"/>
                </a:lnTo>
                <a:close/>
                <a:moveTo>
                  <a:pt x="257572" y="87313"/>
                </a:moveTo>
                <a:cubicBezTo>
                  <a:pt x="257572" y="65627"/>
                  <a:pt x="275177" y="48022"/>
                  <a:pt x="296863" y="48022"/>
                </a:cubicBezTo>
                <a:cubicBezTo>
                  <a:pt x="318548" y="48022"/>
                  <a:pt x="336153" y="65627"/>
                  <a:pt x="336153" y="87312"/>
                </a:cubicBezTo>
                <a:cubicBezTo>
                  <a:pt x="336153" y="108998"/>
                  <a:pt x="318548" y="126603"/>
                  <a:pt x="296863" y="126603"/>
                </a:cubicBezTo>
                <a:cubicBezTo>
                  <a:pt x="275177" y="126603"/>
                  <a:pt x="257572" y="108998"/>
                  <a:pt x="257572" y="87313"/>
                </a:cubicBezTo>
                <a:close/>
                <a:moveTo>
                  <a:pt x="87313" y="235744"/>
                </a:moveTo>
                <a:cubicBezTo>
                  <a:pt x="87313" y="187504"/>
                  <a:pt x="126385" y="148431"/>
                  <a:pt x="174625" y="148431"/>
                </a:cubicBezTo>
                <a:cubicBezTo>
                  <a:pt x="222865" y="148431"/>
                  <a:pt x="261938" y="187504"/>
                  <a:pt x="261938" y="235744"/>
                </a:cubicBezTo>
                <a:lnTo>
                  <a:pt x="261938" y="244475"/>
                </a:lnTo>
                <a:cubicBezTo>
                  <a:pt x="261938" y="254134"/>
                  <a:pt x="254134" y="261938"/>
                  <a:pt x="244475" y="261938"/>
                </a:cubicBezTo>
                <a:lnTo>
                  <a:pt x="104775" y="261938"/>
                </a:lnTo>
                <a:cubicBezTo>
                  <a:pt x="95116" y="261938"/>
                  <a:pt x="87313" y="254134"/>
                  <a:pt x="87313" y="244475"/>
                </a:cubicBezTo>
                <a:lnTo>
                  <a:pt x="87313" y="235744"/>
                </a:lnTo>
                <a:close/>
              </a:path>
            </a:pathLst>
          </a:custGeom>
          <a:solidFill>
            <a:srgbClr val="C00000"/>
          </a:solidFill>
        </p:spPr>
        <p:txBody>
          <a:bodyPr/>
          <a:lstStyle/>
          <a:p>
            <a:endParaRPr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3" name="Text 10"/>
          <p:cNvSpPr/>
          <p:nvPr/>
        </p:nvSpPr>
        <p:spPr>
          <a:xfrm>
            <a:off x="1355090" y="5618480"/>
            <a:ext cx="7620000" cy="3302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b="1" dirty="0">
                <a:solidFill>
                  <a:srgbClr val="333333"/>
                </a:solidFill>
                <a:latin typeface="微软雅黑" pitchFamily="34" charset="-122"/>
                <a:ea typeface="微软雅黑" pitchFamily="34" charset="-122"/>
                <a:cs typeface="微软雅黑" pitchFamily="34" charset="-120"/>
              </a:rPr>
              <a:t>为什么要拆角色</a:t>
            </a:r>
            <a:endParaRPr lang="en-US" sz="1600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4" name="Text 11"/>
          <p:cNvSpPr/>
          <p:nvPr/>
        </p:nvSpPr>
        <p:spPr>
          <a:xfrm>
            <a:off x="999490" y="5796274"/>
            <a:ext cx="14224000" cy="24561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5000"/>
              </a:lnSpc>
            </a:pPr>
            <a:r>
              <a:rPr lang="en-US" sz="1500" dirty="0">
                <a:solidFill>
                  <a:srgbClr val="333333"/>
                </a:solidFill>
                <a:latin typeface="微软雅黑" pitchFamily="34" charset="-122"/>
                <a:ea typeface="微软雅黑" pitchFamily="34" charset="-122"/>
                <a:cs typeface="微软雅黑" pitchFamily="34" charset="-120"/>
              </a:rPr>
              <a:t>Anthropic 2026 总结多智能体三</a:t>
            </a:r>
            <a:r>
              <a:rPr lang="zh-CN" altLang="en-US" sz="1500" dirty="0">
                <a:solidFill>
                  <a:srgbClr val="333333"/>
                </a:solidFill>
                <a:latin typeface="微软雅黑" pitchFamily="34" charset="-122"/>
                <a:ea typeface="微软雅黑" pitchFamily="34" charset="-122"/>
                <a:cs typeface="微软雅黑" pitchFamily="34" charset="-120"/>
              </a:rPr>
              <a:t>个优势场景</a:t>
            </a:r>
            <a:r>
              <a:rPr lang="en-US" sz="1500" dirty="0">
                <a:solidFill>
                  <a:srgbClr val="333333"/>
                </a:solidFill>
                <a:latin typeface="微软雅黑" pitchFamily="34" charset="-122"/>
                <a:ea typeface="微软雅黑" pitchFamily="34" charset="-122"/>
                <a:cs typeface="微软雅黑" pitchFamily="34" charset="-120"/>
              </a:rPr>
              <a:t>：</a:t>
            </a:r>
            <a:r>
              <a:rPr lang="en-US" sz="1500" b="1" dirty="0">
                <a:solidFill>
                  <a:srgbClr val="333333"/>
                </a:solidFill>
                <a:latin typeface="微软雅黑" pitchFamily="34" charset="-122"/>
                <a:ea typeface="微软雅黑" pitchFamily="34" charset="-122"/>
                <a:cs typeface="微软雅黑" pitchFamily="34" charset="-120"/>
              </a:rPr>
              <a:t>上下文隔离 / 并行执行 / 专业化</a:t>
            </a:r>
            <a:endParaRPr lang="en-US" sz="1600" dirty="0">
              <a:latin typeface="微软雅黑" pitchFamily="34" charset="-122"/>
              <a:ea typeface="微软雅黑" pitchFamily="34" charset="-122"/>
            </a:endParaRPr>
          </a:p>
          <a:p>
            <a:pPr>
              <a:lnSpc>
                <a:spcPct val="145000"/>
              </a:lnSpc>
              <a:spcBef>
                <a:spcPts val="200"/>
              </a:spcBef>
            </a:pPr>
            <a:r>
              <a:rPr lang="en-US" sz="1500" dirty="0">
                <a:solidFill>
                  <a:srgbClr val="333333"/>
                </a:solidFill>
                <a:latin typeface="微软雅黑" pitchFamily="34" charset="-122"/>
                <a:ea typeface="微软雅黑" pitchFamily="34" charset="-122"/>
                <a:cs typeface="微软雅黑" pitchFamily="34" charset="-120"/>
              </a:rPr>
              <a:t>OpenAI Codex 官方实践</a:t>
            </a:r>
            <a:r>
              <a:rPr lang="zh-CN" altLang="en-US" sz="1500" dirty="0">
                <a:solidFill>
                  <a:srgbClr val="333333"/>
                </a:solidFill>
                <a:latin typeface="微软雅黑" pitchFamily="34" charset="-122"/>
                <a:ea typeface="微软雅黑" pitchFamily="34" charset="-122"/>
                <a:cs typeface="微软雅黑" pitchFamily="34" charset="-120"/>
              </a:rPr>
              <a:t>指导专业 </a:t>
            </a:r>
            <a:r>
              <a:rPr lang="en-US" altLang="zh-CN" sz="1500" dirty="0">
                <a:solidFill>
                  <a:srgbClr val="333333"/>
                </a:solidFill>
                <a:latin typeface="微软雅黑" pitchFamily="34" charset="-122"/>
                <a:ea typeface="微软雅黑" pitchFamily="34" charset="-122"/>
                <a:cs typeface="微软雅黑" pitchFamily="34" charset="-120"/>
              </a:rPr>
              <a:t>subagent </a:t>
            </a:r>
            <a:r>
              <a:rPr lang="zh-CN" altLang="en-US" sz="1500" dirty="0">
                <a:solidFill>
                  <a:srgbClr val="333333"/>
                </a:solidFill>
                <a:latin typeface="微软雅黑" pitchFamily="34" charset="-122"/>
                <a:ea typeface="微软雅黑" pitchFamily="34" charset="-122"/>
                <a:cs typeface="微软雅黑" pitchFamily="34" charset="-120"/>
              </a:rPr>
              <a:t>拆分</a:t>
            </a:r>
            <a:endParaRPr lang="en-US" altLang="zh-CN" sz="1500" dirty="0">
              <a:solidFill>
                <a:srgbClr val="333333"/>
              </a:solidFill>
              <a:latin typeface="微软雅黑" pitchFamily="34" charset="-122"/>
              <a:ea typeface="微软雅黑" pitchFamily="34" charset="-122"/>
              <a:cs typeface="微软雅黑" pitchFamily="34" charset="-120"/>
            </a:endParaRPr>
          </a:p>
          <a:p>
            <a:pPr>
              <a:lnSpc>
                <a:spcPct val="145000"/>
              </a:lnSpc>
              <a:spcBef>
                <a:spcPts val="200"/>
              </a:spcBef>
            </a:pPr>
            <a:r>
              <a:rPr lang="en-US" sz="1500" b="1" dirty="0">
                <a:solidFill>
                  <a:srgbClr val="333333"/>
                </a:solidFill>
                <a:latin typeface="微软雅黑" pitchFamily="34" charset="-122"/>
                <a:ea typeface="微软雅黑" pitchFamily="34" charset="-122"/>
                <a:cs typeface="微软雅黑" pitchFamily="34" charset="-120"/>
              </a:rPr>
              <a:t>设计意义</a:t>
            </a:r>
            <a:r>
              <a:rPr lang="en-US" sz="1500" dirty="0">
                <a:solidFill>
                  <a:srgbClr val="333333"/>
                </a:solidFill>
                <a:latin typeface="微软雅黑" pitchFamily="34" charset="-122"/>
                <a:ea typeface="微软雅黑" pitchFamily="34" charset="-122"/>
                <a:cs typeface="微软雅黑" pitchFamily="34" charset="-120"/>
              </a:rPr>
              <a:t>：</a:t>
            </a:r>
            <a:r>
              <a:rPr lang="zh-CN" altLang="en-US" sz="1500" dirty="0">
                <a:solidFill>
                  <a:srgbClr val="333333"/>
                </a:solidFill>
                <a:latin typeface="微软雅黑" pitchFamily="34" charset="-122"/>
                <a:ea typeface="微软雅黑" pitchFamily="34" charset="-122"/>
                <a:cs typeface="微软雅黑" pitchFamily="34" charset="-120"/>
              </a:rPr>
              <a:t>减少上下文污染</a:t>
            </a:r>
            <a:r>
              <a:rPr lang="en-US" altLang="zh-CN" sz="1500" dirty="0">
                <a:solidFill>
                  <a:srgbClr val="333333"/>
                </a:solidFill>
                <a:latin typeface="微软雅黑" pitchFamily="34" charset="-122"/>
                <a:ea typeface="微软雅黑" pitchFamily="34" charset="-122"/>
                <a:cs typeface="微软雅黑" pitchFamily="34" charset="-120"/>
              </a:rPr>
              <a:t>，</a:t>
            </a:r>
            <a:r>
              <a:rPr lang="zh-CN" altLang="en-US" sz="1500" dirty="0">
                <a:solidFill>
                  <a:srgbClr val="333333"/>
                </a:solidFill>
                <a:latin typeface="微软雅黑" pitchFamily="34" charset="-122"/>
                <a:ea typeface="微软雅黑" pitchFamily="34" charset="-122"/>
                <a:cs typeface="微软雅黑" pitchFamily="34" charset="-120"/>
              </a:rPr>
              <a:t>保持聚焦</a:t>
            </a:r>
            <a:endParaRPr lang="zh-CN" altLang="en-US" sz="1500" dirty="0">
              <a:solidFill>
                <a:srgbClr val="333333"/>
              </a:solidFill>
              <a:latin typeface="微软雅黑" pitchFamily="34" charset="-122"/>
              <a:ea typeface="微软雅黑" pitchFamily="34" charset="-122"/>
              <a:cs typeface="微软雅黑" pitchFamily="34" charset="-120"/>
            </a:endParaRPr>
          </a:p>
          <a:p>
            <a:pPr marL="457200" lvl="1" indent="457200">
              <a:lnSpc>
                <a:spcPct val="145000"/>
              </a:lnSpc>
              <a:spcBef>
                <a:spcPts val="200"/>
              </a:spcBef>
            </a:pPr>
            <a:r>
              <a:rPr lang="zh-CN" altLang="en-US" sz="1500" dirty="0">
                <a:solidFill>
                  <a:srgbClr val="333333"/>
                </a:solidFill>
                <a:latin typeface="微软雅黑" pitchFamily="34" charset="-122"/>
                <a:ea typeface="微软雅黑" pitchFamily="34" charset="-122"/>
                <a:cs typeface="微软雅黑" pitchFamily="34" charset="-120"/>
              </a:rPr>
              <a:t>长链路任务维持在上下文瓶颈内</a:t>
            </a:r>
            <a:endParaRPr lang="zh-CN" altLang="en-US" sz="1500" dirty="0">
              <a:solidFill>
                <a:srgbClr val="333333"/>
              </a:solidFill>
              <a:latin typeface="微软雅黑" pitchFamily="34" charset="-122"/>
              <a:ea typeface="微软雅黑" pitchFamily="34" charset="-122"/>
              <a:cs typeface="微软雅黑" pitchFamily="34" charset="-120"/>
            </a:endParaRPr>
          </a:p>
          <a:p>
            <a:pPr marL="457200" lvl="1" indent="457200">
              <a:lnSpc>
                <a:spcPct val="145000"/>
              </a:lnSpc>
              <a:spcBef>
                <a:spcPts val="200"/>
              </a:spcBef>
            </a:pPr>
            <a:r>
              <a:rPr lang="en-US" sz="1500" dirty="0">
                <a:solidFill>
                  <a:srgbClr val="333333"/>
                </a:solidFill>
                <a:latin typeface="微软雅黑" pitchFamily="34" charset="-122"/>
                <a:ea typeface="微软雅黑" pitchFamily="34" charset="-122"/>
                <a:cs typeface="微软雅黑" pitchFamily="34" charset="-120"/>
              </a:rPr>
              <a:t>相互制衡，</a:t>
            </a:r>
            <a:r>
              <a:rPr lang="zh-CN" altLang="en-US" sz="1500" dirty="0">
                <a:solidFill>
                  <a:srgbClr val="333333"/>
                </a:solidFill>
                <a:latin typeface="微软雅黑" pitchFamily="34" charset="-122"/>
                <a:ea typeface="微软雅黑" pitchFamily="34" charset="-122"/>
                <a:cs typeface="微软雅黑" pitchFamily="34" charset="-120"/>
              </a:rPr>
              <a:t>解决自我验证容易漏过问题</a:t>
            </a:r>
            <a:endParaRPr lang="zh-CN" altLang="en-US" sz="1500" dirty="0">
              <a:solidFill>
                <a:srgbClr val="333333"/>
              </a:solidFill>
              <a:latin typeface="微软雅黑" pitchFamily="34" charset="-122"/>
              <a:ea typeface="微软雅黑" pitchFamily="34" charset="-122"/>
              <a:cs typeface="微软雅黑" pitchFamily="34" charset="-120"/>
            </a:endParaRPr>
          </a:p>
        </p:txBody>
      </p:sp>
    </p:spTree>
  </p:cSld>
  <p:clrMapOvr>
    <a:masterClrMapping/>
  </p:clrMapOvr>
  <p:transition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ext 28"/>
          <p:cNvSpPr/>
          <p:nvPr/>
        </p:nvSpPr>
        <p:spPr>
          <a:xfrm>
            <a:off x="825500" y="8178800"/>
            <a:ext cx="2540000" cy="3302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300" dirty="0">
                <a:solidFill>
                  <a:srgbClr val="7F7F7F"/>
                </a:solidFill>
                <a:latin typeface="微软雅黑" pitchFamily="34" charset="-122"/>
                <a:ea typeface="微软雅黑" pitchFamily="34" charset="-122"/>
                <a:cs typeface="MiSans" pitchFamily="34" charset="-120"/>
              </a:rPr>
              <a:t>https://gitcode.com/cann</a:t>
            </a:r>
            <a:endParaRPr lang="en-US" sz="1300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32" name="Text 29"/>
          <p:cNvSpPr/>
          <p:nvPr/>
        </p:nvSpPr>
        <p:spPr>
          <a:xfrm>
            <a:off x="7620000" y="8178800"/>
            <a:ext cx="1016000" cy="3302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fld id="{935C5AA1-87D0-4CED-BFD9-683BD23ED02E}" type="slidenum">
              <a:rPr lang="en-US" sz="1300" dirty="0">
                <a:solidFill>
                  <a:srgbClr val="7F7F7F"/>
                </a:solidFill>
                <a:latin typeface="微软雅黑" pitchFamily="34" charset="-122"/>
                <a:ea typeface="微软雅黑" pitchFamily="34" charset="-122"/>
                <a:cs typeface="MiSans" pitchFamily="34" charset="-120"/>
              </a:rPr>
            </a:fld>
            <a:endParaRPr lang="en-US" sz="1300" dirty="0">
              <a:latin typeface="微软雅黑" pitchFamily="34" charset="-122"/>
              <a:ea typeface="微软雅黑" pitchFamily="34" charset="-122"/>
            </a:endParaRPr>
          </a:p>
        </p:txBody>
      </p:sp>
      <p:pic>
        <p:nvPicPr>
          <p:cNvPr id="33" name="Image 0" descr="https://kimi-img.moonshot.cn/pub/slides/okc/4rfbomebqqupm/mnt/agents/output/template_pptd/images/image_2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512800" y="8051800"/>
            <a:ext cx="1752600" cy="469900"/>
          </a:xfrm>
          <a:prstGeom prst="rect">
            <a:avLst/>
          </a:prstGeom>
        </p:spPr>
      </p:pic>
      <p:sp>
        <p:nvSpPr>
          <p:cNvPr id="2" name="Text 0"/>
          <p:cNvSpPr/>
          <p:nvPr/>
        </p:nvSpPr>
        <p:spPr>
          <a:xfrm>
            <a:off x="762000" y="355600"/>
            <a:ext cx="11430000" cy="5715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l">
              <a:lnSpc>
                <a:spcPct val="100000"/>
              </a:lnSpc>
            </a:pPr>
            <a:r>
              <a:rPr lang="zh-CN" altLang="en-US" sz="3200" b="1" dirty="0">
                <a:solidFill>
                  <a:srgbClr val="333333"/>
                </a:solidFill>
                <a:latin typeface="微软雅黑" pitchFamily="34" charset="-122"/>
                <a:ea typeface="微软雅黑" pitchFamily="34" charset="-122"/>
                <a:cs typeface="微软雅黑" pitchFamily="34" charset="-120"/>
                <a:sym typeface="+mn-ea"/>
              </a:rPr>
              <a:t>结构化执行</a:t>
            </a:r>
            <a:r>
              <a:rPr lang="en-US" altLang="zh-CN" sz="3200" b="1" dirty="0">
                <a:solidFill>
                  <a:srgbClr val="333333"/>
                </a:solidFill>
                <a:latin typeface="微软雅黑" pitchFamily="34" charset="-122"/>
                <a:ea typeface="微软雅黑" pitchFamily="34" charset="-122"/>
                <a:cs typeface="微软雅黑" pitchFamily="34" charset="-120"/>
                <a:sym typeface="+mn-ea"/>
              </a:rPr>
              <a:t>：</a:t>
            </a:r>
            <a:r>
              <a:rPr lang="en-US" sz="3200" b="1" dirty="0">
                <a:solidFill>
                  <a:srgbClr val="333333"/>
                </a:solidFill>
                <a:latin typeface="微软雅黑" pitchFamily="34" charset="-122"/>
                <a:ea typeface="微软雅黑" pitchFamily="34" charset="-122"/>
                <a:cs typeface="微软雅黑" pitchFamily="34" charset="-120"/>
                <a:sym typeface="+mn-ea"/>
              </a:rPr>
              <a:t>Hook 机制</a:t>
            </a:r>
            <a:endParaRPr lang="en-US" sz="3200" b="1" dirty="0">
              <a:solidFill>
                <a:schemeClr val="tx1"/>
              </a:solidFill>
              <a:latin typeface="微软雅黑" pitchFamily="34" charset="-122"/>
              <a:ea typeface="微软雅黑" pitchFamily="34" charset="-122"/>
              <a:cs typeface="微软雅黑" pitchFamily="34" charset="-120"/>
              <a:sym typeface="+mn-ea"/>
            </a:endParaRPr>
          </a:p>
        </p:txBody>
      </p:sp>
      <p:sp>
        <p:nvSpPr>
          <p:cNvPr id="6" name="Shape 4"/>
          <p:cNvSpPr/>
          <p:nvPr/>
        </p:nvSpPr>
        <p:spPr>
          <a:xfrm>
            <a:off x="852805" y="1131570"/>
            <a:ext cx="209550" cy="279400"/>
          </a:xfrm>
          <a:custGeom>
            <a:avLst/>
            <a:gdLst/>
            <a:ahLst/>
            <a:cxnLst/>
            <a:rect l="l" t="t" r="r" b="b"/>
            <a:pathLst>
              <a:path w="209550" h="279400">
                <a:moveTo>
                  <a:pt x="69850" y="52388"/>
                </a:moveTo>
                <a:lnTo>
                  <a:pt x="69850" y="87313"/>
                </a:lnTo>
                <a:lnTo>
                  <a:pt x="139700" y="87313"/>
                </a:lnTo>
                <a:lnTo>
                  <a:pt x="139700" y="52388"/>
                </a:lnTo>
                <a:cubicBezTo>
                  <a:pt x="139700" y="33124"/>
                  <a:pt x="124038" y="17463"/>
                  <a:pt x="104775" y="17463"/>
                </a:cubicBezTo>
                <a:cubicBezTo>
                  <a:pt x="85512" y="17463"/>
                  <a:pt x="69850" y="33124"/>
                  <a:pt x="69850" y="52388"/>
                </a:cubicBezTo>
                <a:close/>
                <a:moveTo>
                  <a:pt x="34925" y="87313"/>
                </a:moveTo>
                <a:lnTo>
                  <a:pt x="34925" y="52388"/>
                </a:lnTo>
                <a:cubicBezTo>
                  <a:pt x="34925" y="13806"/>
                  <a:pt x="66194" y="-17462"/>
                  <a:pt x="104775" y="-17462"/>
                </a:cubicBezTo>
                <a:cubicBezTo>
                  <a:pt x="143356" y="-17462"/>
                  <a:pt x="174625" y="13806"/>
                  <a:pt x="174625" y="52388"/>
                </a:cubicBezTo>
                <a:lnTo>
                  <a:pt x="174625" y="87313"/>
                </a:lnTo>
                <a:cubicBezTo>
                  <a:pt x="193888" y="87313"/>
                  <a:pt x="209550" y="102974"/>
                  <a:pt x="209550" y="122238"/>
                </a:cubicBezTo>
                <a:lnTo>
                  <a:pt x="209550" y="244475"/>
                </a:lnTo>
                <a:cubicBezTo>
                  <a:pt x="209550" y="263738"/>
                  <a:pt x="193888" y="279400"/>
                  <a:pt x="174625" y="279400"/>
                </a:cubicBezTo>
                <a:lnTo>
                  <a:pt x="34925" y="279400"/>
                </a:lnTo>
                <a:cubicBezTo>
                  <a:pt x="15662" y="279400"/>
                  <a:pt x="0" y="263738"/>
                  <a:pt x="0" y="244475"/>
                </a:cubicBezTo>
                <a:lnTo>
                  <a:pt x="0" y="122238"/>
                </a:lnTo>
                <a:cubicBezTo>
                  <a:pt x="0" y="102974"/>
                  <a:pt x="15662" y="87313"/>
                  <a:pt x="34925" y="87313"/>
                </a:cubicBezTo>
                <a:close/>
              </a:path>
            </a:pathLst>
          </a:custGeom>
          <a:solidFill>
            <a:srgbClr val="C00000"/>
          </a:solidFill>
        </p:spPr>
        <p:txBody>
          <a:bodyPr/>
          <a:lstStyle/>
          <a:p>
            <a:endParaRPr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7" name="Text 5"/>
          <p:cNvSpPr/>
          <p:nvPr/>
        </p:nvSpPr>
        <p:spPr>
          <a:xfrm>
            <a:off x="1173480" y="1106170"/>
            <a:ext cx="6350000" cy="3302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b="1" dirty="0">
                <a:solidFill>
                  <a:srgbClr val="333333"/>
                </a:solidFill>
                <a:latin typeface="微软雅黑" pitchFamily="34" charset="-122"/>
                <a:ea typeface="微软雅黑" pitchFamily="34" charset="-122"/>
                <a:cs typeface="微软雅黑" pitchFamily="34" charset="-120"/>
              </a:rPr>
              <a:t>软约束 vs 硬约束</a:t>
            </a:r>
            <a:endParaRPr lang="en-US" sz="1600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8" name="Shape 6"/>
          <p:cNvSpPr/>
          <p:nvPr/>
        </p:nvSpPr>
        <p:spPr>
          <a:xfrm>
            <a:off x="817880" y="1512570"/>
            <a:ext cx="6858000" cy="660400"/>
          </a:xfrm>
          <a:prstGeom prst="roundRect">
            <a:avLst>
              <a:gd name="adj" fmla="val 5000"/>
            </a:avLst>
          </a:prstGeom>
          <a:solidFill>
            <a:srgbClr val="F2F2F2"/>
          </a:solidFill>
        </p:spPr>
        <p:txBody>
          <a:bodyPr/>
          <a:lstStyle/>
          <a:p>
            <a:endParaRPr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9" name="Text 7"/>
          <p:cNvSpPr/>
          <p:nvPr/>
        </p:nvSpPr>
        <p:spPr>
          <a:xfrm>
            <a:off x="1008380" y="1563370"/>
            <a:ext cx="6477000" cy="558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400" b="1" dirty="0">
                <a:solidFill>
                  <a:srgbClr val="333333"/>
                </a:solidFill>
                <a:latin typeface="微软雅黑" pitchFamily="34" charset="-122"/>
                <a:ea typeface="微软雅黑" pitchFamily="34" charset="-122"/>
                <a:cs typeface="微软雅黑" pitchFamily="34" charset="-120"/>
              </a:rPr>
              <a:t>软约束</a:t>
            </a:r>
            <a:r>
              <a:rPr lang="en-US" sz="1400" dirty="0">
                <a:solidFill>
                  <a:srgbClr val="333333"/>
                </a:solidFill>
                <a:latin typeface="微软雅黑" pitchFamily="34" charset="-122"/>
                <a:ea typeface="微软雅黑" pitchFamily="34" charset="-122"/>
                <a:cs typeface="微软雅黑" pitchFamily="34" charset="-120"/>
              </a:rPr>
              <a:t>（Skill 文字规则、CLAUDE.md）：</a:t>
            </a:r>
            <a:r>
              <a:rPr lang="en-US" sz="1400" dirty="0" err="1">
                <a:solidFill>
                  <a:srgbClr val="333333"/>
                </a:solidFill>
                <a:latin typeface="微软雅黑" pitchFamily="34" charset="-122"/>
                <a:ea typeface="微软雅黑" pitchFamily="34" charset="-122"/>
                <a:cs typeface="微软雅黑" pitchFamily="34" charset="-120"/>
              </a:rPr>
              <a:t>建议性，Agent</a:t>
            </a:r>
            <a:r>
              <a:rPr lang="en-US" sz="1400" dirty="0">
                <a:solidFill>
                  <a:srgbClr val="333333"/>
                </a:solidFill>
                <a:latin typeface="微软雅黑" pitchFamily="34" charset="-122"/>
                <a:ea typeface="微软雅黑" pitchFamily="34" charset="-122"/>
                <a:cs typeface="微软雅黑" pitchFamily="34" charset="-120"/>
              </a:rPr>
              <a:t> 可能不遵守</a:t>
            </a:r>
            <a:endParaRPr lang="en-US" sz="1600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7929880" y="1512570"/>
            <a:ext cx="7278624" cy="660400"/>
          </a:xfrm>
          <a:prstGeom prst="roundRect">
            <a:avLst>
              <a:gd name="adj" fmla="val 5000"/>
            </a:avLst>
          </a:prstGeom>
          <a:solidFill>
            <a:srgbClr val="FFF8F0"/>
          </a:solidFill>
        </p:spPr>
        <p:txBody>
          <a:bodyPr/>
          <a:lstStyle/>
          <a:p>
            <a:endParaRPr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1" name="Text 9"/>
          <p:cNvSpPr/>
          <p:nvPr/>
        </p:nvSpPr>
        <p:spPr>
          <a:xfrm>
            <a:off x="8120380" y="1563370"/>
            <a:ext cx="6894576" cy="558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400" b="1" dirty="0">
                <a:solidFill>
                  <a:srgbClr val="C00000"/>
                </a:solidFill>
                <a:latin typeface="微软雅黑" pitchFamily="34" charset="-122"/>
                <a:ea typeface="微软雅黑" pitchFamily="34" charset="-122"/>
                <a:cs typeface="微软雅黑" pitchFamily="34" charset="-120"/>
              </a:rPr>
              <a:t>硬约束</a:t>
            </a:r>
            <a:r>
              <a:rPr lang="en-US" sz="1400" dirty="0">
                <a:solidFill>
                  <a:srgbClr val="333333"/>
                </a:solidFill>
                <a:latin typeface="微软雅黑" pitchFamily="34" charset="-122"/>
                <a:ea typeface="微软雅黑" pitchFamily="34" charset="-122"/>
                <a:cs typeface="微软雅黑" pitchFamily="34" charset="-120"/>
              </a:rPr>
              <a:t>（Hook 脚本）：</a:t>
            </a:r>
            <a:r>
              <a:rPr lang="en-US" sz="1400" dirty="0" err="1">
                <a:solidFill>
                  <a:srgbClr val="333333"/>
                </a:solidFill>
                <a:latin typeface="微软雅黑" pitchFamily="34" charset="-122"/>
                <a:ea typeface="微软雅黑" pitchFamily="34" charset="-122"/>
                <a:cs typeface="微软雅黑" pitchFamily="34" charset="-120"/>
              </a:rPr>
              <a:t>确定性，工具调用前后强制执行，无法绕过</a:t>
            </a:r>
            <a:endParaRPr lang="en-US" sz="1600" dirty="0">
              <a:latin typeface="微软雅黑" pitchFamily="34" charset="-122"/>
              <a:ea typeface="微软雅黑" pitchFamily="34" charset="-122"/>
            </a:endParaRPr>
          </a:p>
        </p:txBody>
      </p:sp>
      <p:graphicFrame>
        <p:nvGraphicFramePr>
          <p:cNvPr id="14" name="Table 0"/>
          <p:cNvGraphicFramePr>
            <a:graphicFrameLocks noGrp="1"/>
          </p:cNvGraphicFramePr>
          <p:nvPr/>
        </p:nvGraphicFramePr>
        <p:xfrm>
          <a:off x="817880" y="2350770"/>
          <a:ext cx="14224000" cy="2717802"/>
        </p:xfrm>
        <a:graphic>
          <a:graphicData uri="http://schemas.openxmlformats.org/drawingml/2006/table">
            <a:tbl>
              <a:tblPr/>
              <a:tblGrid>
                <a:gridCol w="3129280"/>
                <a:gridCol w="3129280"/>
                <a:gridCol w="7965440"/>
              </a:tblGrid>
              <a:tr h="452967">
                <a:tc>
                  <a:txBody>
                    <a:bodyPr/>
                    <a:lstStyle/>
                    <a:p>
                      <a:pPr algn="l"/>
                      <a:r>
                        <a:rPr lang="en-US" sz="1400" b="1" u="none" dirty="0">
                          <a:solidFill>
                            <a:srgbClr val="C0000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Hook</a:t>
                      </a:r>
                      <a:endParaRPr lang="en-US" sz="1400" dirty="0">
                        <a:latin typeface="微软雅黑" pitchFamily="34" charset="0"/>
                        <a:ea typeface="微软雅黑" pitchFamily="34" charset="0"/>
                        <a:cs typeface="微软雅黑" pitchFamily="34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CCC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1" u="none" dirty="0">
                          <a:solidFill>
                            <a:srgbClr val="C0000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触发时机</a:t>
                      </a:r>
                      <a:endParaRPr lang="en-US" sz="1400" dirty="0">
                        <a:latin typeface="微软雅黑" pitchFamily="34" charset="0"/>
                        <a:ea typeface="微软雅黑" pitchFamily="34" charset="0"/>
                        <a:cs typeface="微软雅黑" pitchFamily="34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CCC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1" u="none" dirty="0">
                          <a:solidFill>
                            <a:srgbClr val="C0000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作用</a:t>
                      </a:r>
                      <a:endParaRPr lang="en-US" sz="1400" dirty="0">
                        <a:latin typeface="微软雅黑" pitchFamily="34" charset="0"/>
                        <a:ea typeface="微软雅黑" pitchFamily="34" charset="0"/>
                        <a:cs typeface="微软雅黑" pitchFamily="34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CCCC"/>
                    </a:solidFill>
                  </a:tcPr>
                </a:tc>
              </a:tr>
              <a:tr h="452967"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333333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角色越界保护</a:t>
                      </a:r>
                      <a:endParaRPr lang="en-US" sz="1400" dirty="0">
                        <a:latin typeface="微软雅黑" pitchFamily="34" charset="0"/>
                        <a:ea typeface="微软雅黑" pitchFamily="34" charset="0"/>
                        <a:cs typeface="微软雅黑" pitchFamily="34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333333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Edit/Write 前</a:t>
                      </a:r>
                      <a:endParaRPr lang="en-US" sz="1400" dirty="0">
                        <a:latin typeface="微软雅黑" pitchFamily="34" charset="0"/>
                        <a:ea typeface="微软雅黑" pitchFamily="34" charset="0"/>
                        <a:cs typeface="微软雅黑" pitchFamily="34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333333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analyzer 改 modeling/yaml、reviewer 改 modeling 时阻断</a:t>
                      </a:r>
                      <a:endParaRPr lang="en-US" sz="1400" dirty="0">
                        <a:latin typeface="微软雅黑" pitchFamily="34" charset="0"/>
                        <a:ea typeface="微软雅黑" pitchFamily="34" charset="0"/>
                        <a:cs typeface="微软雅黑" pitchFamily="34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2967"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333333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改代码前必读 progress</a:t>
                      </a:r>
                      <a:endParaRPr lang="en-US" sz="1400" dirty="0">
                        <a:latin typeface="微软雅黑" pitchFamily="34" charset="0"/>
                        <a:ea typeface="微软雅黑" pitchFamily="34" charset="0"/>
                        <a:cs typeface="微软雅黑" pitchFamily="34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333333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Edit/Write 前</a:t>
                      </a:r>
                      <a:endParaRPr lang="en-US" sz="1400" dirty="0">
                        <a:latin typeface="微软雅黑" pitchFamily="34" charset="0"/>
                        <a:ea typeface="微软雅黑" pitchFamily="34" charset="0"/>
                        <a:cs typeface="微软雅黑" pitchFamily="34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333333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未读 progress.md 直接改模型代码时阻断</a:t>
                      </a:r>
                      <a:endParaRPr lang="en-US" sz="1400" dirty="0">
                        <a:latin typeface="微软雅黑" pitchFamily="34" charset="0"/>
                        <a:ea typeface="微软雅黑" pitchFamily="34" charset="0"/>
                        <a:cs typeface="微软雅黑" pitchFamily="34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</a:tr>
              <a:tr h="452967"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333333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自验证完整性</a:t>
                      </a:r>
                      <a:endParaRPr lang="en-US" sz="1400" dirty="0">
                        <a:latin typeface="微软雅黑" pitchFamily="34" charset="0"/>
                        <a:ea typeface="微软雅黑" pitchFamily="34" charset="0"/>
                        <a:cs typeface="微软雅黑" pitchFamily="34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333333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Subagent Stop</a:t>
                      </a:r>
                      <a:endParaRPr lang="en-US" sz="1400" dirty="0">
                        <a:latin typeface="微软雅黑" pitchFamily="34" charset="0"/>
                        <a:ea typeface="微软雅黑" pitchFamily="34" charset="0"/>
                        <a:cs typeface="微软雅黑" pitchFamily="34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333333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implementer 结束时缺五项（参考skill/代码加载/编译/推理/输出）打回</a:t>
                      </a:r>
                      <a:endParaRPr lang="en-US" sz="1400" dirty="0">
                        <a:latin typeface="微软雅黑" pitchFamily="34" charset="0"/>
                        <a:ea typeface="微软雅黑" pitchFamily="34" charset="0"/>
                        <a:cs typeface="微软雅黑" pitchFamily="34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2967"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333333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外循环重试上限</a:t>
                      </a:r>
                      <a:endParaRPr lang="en-US" sz="1400" dirty="0">
                        <a:latin typeface="微软雅黑" pitchFamily="34" charset="0"/>
                        <a:ea typeface="微软雅黑" pitchFamily="34" charset="0"/>
                        <a:cs typeface="微软雅黑" pitchFamily="34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333333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Subagent Stop</a:t>
                      </a:r>
                      <a:endParaRPr lang="en-US" sz="1400" dirty="0">
                        <a:latin typeface="微软雅黑" pitchFamily="34" charset="0"/>
                        <a:ea typeface="微软雅黑" pitchFamily="34" charset="0"/>
                        <a:cs typeface="微软雅黑" pitchFamily="34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333333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implementer + reviewer 各 5 轮，超 10 轮阻断</a:t>
                      </a:r>
                      <a:endParaRPr lang="en-US" sz="1400" dirty="0">
                        <a:latin typeface="微软雅黑" pitchFamily="34" charset="0"/>
                        <a:ea typeface="微软雅黑" pitchFamily="34" charset="0"/>
                        <a:cs typeface="微软雅黑" pitchFamily="34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</a:tr>
              <a:tr h="452967"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333333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长时间任务提醒</a:t>
                      </a:r>
                      <a:endParaRPr lang="en-US" sz="1400" dirty="0">
                        <a:latin typeface="微软雅黑" pitchFamily="34" charset="0"/>
                        <a:ea typeface="微软雅黑" pitchFamily="34" charset="0"/>
                        <a:cs typeface="微软雅黑" pitchFamily="34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333333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Edit/Write/Bash 前</a:t>
                      </a:r>
                      <a:endParaRPr lang="en-US" sz="1400" dirty="0">
                        <a:latin typeface="微软雅黑" pitchFamily="34" charset="0"/>
                        <a:ea typeface="微软雅黑" pitchFamily="34" charset="0"/>
                        <a:cs typeface="微软雅黑" pitchFamily="34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altLang="en-US" sz="1400" u="none" dirty="0">
                          <a:solidFill>
                            <a:srgbClr val="333333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单任务执行</a:t>
                      </a:r>
                      <a:r>
                        <a:rPr lang="en-US" sz="1400" u="none" dirty="0">
                          <a:solidFill>
                            <a:srgbClr val="333333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超 60 分钟提醒检查偏离</a:t>
                      </a:r>
                      <a:endParaRPr lang="en-US" sz="1400" dirty="0">
                        <a:latin typeface="微软雅黑" pitchFamily="34" charset="0"/>
                        <a:ea typeface="微软雅黑" pitchFamily="34" charset="0"/>
                        <a:cs typeface="微软雅黑" pitchFamily="34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3" name="Shape 10"/>
          <p:cNvSpPr/>
          <p:nvPr/>
        </p:nvSpPr>
        <p:spPr>
          <a:xfrm>
            <a:off x="817880" y="5449570"/>
            <a:ext cx="14224000" cy="0"/>
          </a:xfrm>
          <a:prstGeom prst="straightConnector1">
            <a:avLst/>
          </a:prstGeom>
          <a:noFill/>
          <a:ln w="12700">
            <a:solidFill>
              <a:srgbClr val="E0E0E0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2" name="Shape 11"/>
          <p:cNvSpPr/>
          <p:nvPr/>
        </p:nvSpPr>
        <p:spPr>
          <a:xfrm>
            <a:off x="817880" y="5627370"/>
            <a:ext cx="279400" cy="279400"/>
          </a:xfrm>
          <a:custGeom>
            <a:avLst/>
            <a:gdLst/>
            <a:ahLst/>
            <a:cxnLst/>
            <a:rect l="l" t="t" r="r" b="b"/>
            <a:pathLst>
              <a:path w="279400" h="279400">
                <a:moveTo>
                  <a:pt x="139700" y="0"/>
                </a:moveTo>
                <a:cubicBezTo>
                  <a:pt x="142210" y="0"/>
                  <a:pt x="144720" y="546"/>
                  <a:pt x="147012" y="1583"/>
                </a:cubicBezTo>
                <a:lnTo>
                  <a:pt x="249823" y="45184"/>
                </a:lnTo>
                <a:cubicBezTo>
                  <a:pt x="261828" y="50259"/>
                  <a:pt x="270778" y="62101"/>
                  <a:pt x="270723" y="76398"/>
                </a:cubicBezTo>
                <a:cubicBezTo>
                  <a:pt x="270450" y="130532"/>
                  <a:pt x="248186" y="229577"/>
                  <a:pt x="154161" y="274598"/>
                </a:cubicBezTo>
                <a:cubicBezTo>
                  <a:pt x="145048" y="278963"/>
                  <a:pt x="134461" y="278963"/>
                  <a:pt x="125348" y="274598"/>
                </a:cubicBezTo>
                <a:cubicBezTo>
                  <a:pt x="31269" y="229577"/>
                  <a:pt x="9059" y="130532"/>
                  <a:pt x="8786" y="76398"/>
                </a:cubicBezTo>
                <a:cubicBezTo>
                  <a:pt x="8731" y="62101"/>
                  <a:pt x="17681" y="50259"/>
                  <a:pt x="29686" y="45184"/>
                </a:cubicBezTo>
                <a:lnTo>
                  <a:pt x="132442" y="1583"/>
                </a:lnTo>
                <a:cubicBezTo>
                  <a:pt x="134734" y="546"/>
                  <a:pt x="137190" y="0"/>
                  <a:pt x="139700" y="0"/>
                </a:cubicBezTo>
                <a:close/>
                <a:moveTo>
                  <a:pt x="139700" y="36453"/>
                </a:moveTo>
                <a:lnTo>
                  <a:pt x="139700" y="242783"/>
                </a:lnTo>
                <a:cubicBezTo>
                  <a:pt x="215007" y="206330"/>
                  <a:pt x="235253" y="125566"/>
                  <a:pt x="235744" y="77217"/>
                </a:cubicBezTo>
                <a:lnTo>
                  <a:pt x="139700" y="36508"/>
                </a:lnTo>
                <a:lnTo>
                  <a:pt x="139700" y="36508"/>
                </a:lnTo>
                <a:close/>
              </a:path>
            </a:pathLst>
          </a:custGeom>
          <a:solidFill>
            <a:srgbClr val="C00000"/>
          </a:solidFill>
        </p:spPr>
        <p:txBody>
          <a:bodyPr/>
          <a:lstStyle/>
          <a:p>
            <a:endParaRPr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5" name="Text 12"/>
          <p:cNvSpPr/>
          <p:nvPr/>
        </p:nvSpPr>
        <p:spPr>
          <a:xfrm>
            <a:off x="1173480" y="5601970"/>
            <a:ext cx="6350000" cy="3302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b="1" dirty="0">
                <a:solidFill>
                  <a:srgbClr val="333333"/>
                </a:solidFill>
                <a:latin typeface="微软雅黑" pitchFamily="34" charset="-122"/>
                <a:ea typeface="微软雅黑" pitchFamily="34" charset="-122"/>
                <a:cs typeface="微软雅黑" pitchFamily="34" charset="-120"/>
              </a:rPr>
              <a:t>业界对照</a:t>
            </a:r>
            <a:endParaRPr lang="en-US" sz="1600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6" name="Text 13"/>
          <p:cNvSpPr/>
          <p:nvPr/>
        </p:nvSpPr>
        <p:spPr>
          <a:xfrm>
            <a:off x="817880" y="6008370"/>
            <a:ext cx="14224000" cy="1270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500" dirty="0">
                <a:solidFill>
                  <a:srgbClr val="333333"/>
                </a:solidFill>
                <a:latin typeface="微软雅黑" pitchFamily="34" charset="-122"/>
                <a:ea typeface="微软雅黑" pitchFamily="34" charset="-122"/>
                <a:cs typeface="微软雅黑" pitchFamily="34" charset="-120"/>
                <a:sym typeface="+mn-ea"/>
              </a:rPr>
              <a:t>Anthropic Claude Code 官方文档定义四种 Hook 时机（PreToolUse / PostToolUse / Notification / Stop），工具调用前后强制执行，Agent 无法绕过</a:t>
            </a:r>
            <a:endParaRPr lang="en-US" sz="1600" dirty="0">
              <a:latin typeface="微软雅黑" pitchFamily="34" charset="-122"/>
              <a:ea typeface="微软雅黑" pitchFamily="34" charset="-122"/>
            </a:endParaRPr>
          </a:p>
          <a:p>
            <a:pPr>
              <a:lnSpc>
                <a:spcPct val="150000"/>
              </a:lnSpc>
              <a:spcBef>
                <a:spcPts val="300"/>
              </a:spcBef>
            </a:pPr>
            <a:r>
              <a:rPr lang="en-US" sz="1500" dirty="0">
                <a:solidFill>
                  <a:srgbClr val="333333"/>
                </a:solidFill>
                <a:latin typeface="微软雅黑" pitchFamily="34" charset="-122"/>
                <a:ea typeface="微软雅黑" pitchFamily="34" charset="-122"/>
                <a:cs typeface="微软雅黑" pitchFamily="34" charset="-120"/>
              </a:rPr>
              <a:t>OpenAI </a:t>
            </a:r>
            <a:r>
              <a:rPr lang="en-US" sz="1500" dirty="0" err="1">
                <a:solidFill>
                  <a:srgbClr val="333333"/>
                </a:solidFill>
                <a:latin typeface="微软雅黑" pitchFamily="34" charset="-122"/>
                <a:ea typeface="微软雅黑" pitchFamily="34" charset="-122"/>
                <a:cs typeface="微软雅黑" pitchFamily="34" charset="-120"/>
              </a:rPr>
              <a:t>Codex：</a:t>
            </a:r>
            <a:r>
              <a:rPr lang="en-US" sz="1500" i="1" dirty="0" err="1">
                <a:solidFill>
                  <a:srgbClr val="333333"/>
                </a:solidFill>
                <a:latin typeface="微软雅黑" pitchFamily="34" charset="-122"/>
                <a:ea typeface="微软雅黑" pitchFamily="34" charset="-122"/>
                <a:cs typeface="微软雅黑" pitchFamily="34" charset="-120"/>
              </a:rPr>
              <a:t>“enforce</a:t>
            </a:r>
            <a:r>
              <a:rPr lang="en-US" sz="1500" i="1" dirty="0">
                <a:solidFill>
                  <a:srgbClr val="333333"/>
                </a:solidFill>
                <a:latin typeface="微软雅黑" pitchFamily="34" charset="-122"/>
                <a:ea typeface="微软雅黑" pitchFamily="34" charset="-122"/>
                <a:cs typeface="微软雅黑" pitchFamily="34" charset="-120"/>
              </a:rPr>
              <a:t> quality with </a:t>
            </a:r>
            <a:r>
              <a:rPr lang="en-US" sz="1500" b="1" i="1" dirty="0">
                <a:solidFill>
                  <a:srgbClr val="333333"/>
                </a:solidFill>
                <a:latin typeface="微软雅黑" pitchFamily="34" charset="-122"/>
                <a:ea typeface="微软雅黑" pitchFamily="34" charset="-122"/>
                <a:cs typeface="微软雅黑" pitchFamily="34" charset="-120"/>
              </a:rPr>
              <a:t>mechanisms, not prompts</a:t>
            </a:r>
            <a:r>
              <a:rPr lang="en-US" sz="1500" i="1" dirty="0">
                <a:solidFill>
                  <a:srgbClr val="333333"/>
                </a:solidFill>
                <a:latin typeface="微软雅黑" pitchFamily="34" charset="-122"/>
                <a:ea typeface="微软雅黑" pitchFamily="34" charset="-122"/>
                <a:cs typeface="微软雅黑" pitchFamily="34" charset="-120"/>
              </a:rPr>
              <a:t>”</a:t>
            </a:r>
            <a:r>
              <a:rPr lang="en-US" sz="1500" dirty="0">
                <a:solidFill>
                  <a:srgbClr val="333333"/>
                </a:solidFill>
                <a:latin typeface="微软雅黑" pitchFamily="34" charset="-122"/>
                <a:ea typeface="微软雅黑" pitchFamily="34" charset="-122"/>
                <a:cs typeface="微软雅黑" pitchFamily="34" charset="-120"/>
              </a:rPr>
              <a:t> — lint / hooks / tests / ADR </a:t>
            </a:r>
            <a:r>
              <a:rPr lang="en-US" sz="1500" dirty="0" err="1">
                <a:solidFill>
                  <a:srgbClr val="333333"/>
                </a:solidFill>
                <a:latin typeface="微软雅黑" pitchFamily="34" charset="-122"/>
                <a:ea typeface="微软雅黑" pitchFamily="34" charset="-122"/>
                <a:cs typeface="微软雅黑" pitchFamily="34" charset="-120"/>
              </a:rPr>
              <a:t>的组合</a:t>
            </a:r>
            <a:r>
              <a:rPr lang="zh-CN" altLang="en-US" sz="1500" dirty="0">
                <a:solidFill>
                  <a:srgbClr val="333333"/>
                </a:solidFill>
                <a:latin typeface="微软雅黑" pitchFamily="34" charset="-122"/>
                <a:ea typeface="微软雅黑" pitchFamily="34" charset="-122"/>
                <a:cs typeface="微软雅黑" pitchFamily="34" charset="-120"/>
              </a:rPr>
              <a:t>是能稳定</a:t>
            </a:r>
            <a:r>
              <a:rPr lang="en-US" sz="1500" dirty="0" err="1">
                <a:solidFill>
                  <a:srgbClr val="333333"/>
                </a:solidFill>
                <a:latin typeface="微软雅黑" pitchFamily="34" charset="-122"/>
                <a:ea typeface="微软雅黑" pitchFamily="34" charset="-122"/>
                <a:cs typeface="微软雅黑" pitchFamily="34" charset="-120"/>
              </a:rPr>
              <a:t>跑出百万行代码</a:t>
            </a:r>
            <a:r>
              <a:rPr lang="zh-CN" altLang="en-US" sz="1500" dirty="0">
                <a:solidFill>
                  <a:srgbClr val="333333"/>
                </a:solidFill>
                <a:latin typeface="微软雅黑" pitchFamily="34" charset="-122"/>
                <a:ea typeface="微软雅黑" pitchFamily="34" charset="-122"/>
                <a:cs typeface="微软雅黑" pitchFamily="34" charset="-120"/>
              </a:rPr>
              <a:t>的关键</a:t>
            </a:r>
            <a:endParaRPr lang="en-US" sz="1600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7" name="Shape 14"/>
          <p:cNvSpPr/>
          <p:nvPr/>
        </p:nvSpPr>
        <p:spPr>
          <a:xfrm>
            <a:off x="817880" y="7224898"/>
            <a:ext cx="14224000" cy="762000"/>
          </a:xfrm>
          <a:prstGeom prst="roundRect">
            <a:avLst>
              <a:gd name="adj" fmla="val 3000"/>
            </a:avLst>
          </a:prstGeom>
          <a:solidFill>
            <a:srgbClr val="F2F2F2"/>
          </a:solidFill>
        </p:spPr>
        <p:txBody>
          <a:bodyPr/>
          <a:lstStyle/>
          <a:p>
            <a:endParaRPr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8" name="Text 15"/>
          <p:cNvSpPr/>
          <p:nvPr/>
        </p:nvSpPr>
        <p:spPr>
          <a:xfrm>
            <a:off x="1008380" y="7326498"/>
            <a:ext cx="13843000" cy="558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500" b="1" dirty="0">
                <a:solidFill>
                  <a:srgbClr val="333333"/>
                </a:solidFill>
                <a:latin typeface="微软雅黑" pitchFamily="34" charset="-122"/>
                <a:ea typeface="微软雅黑" pitchFamily="34" charset="-122"/>
                <a:cs typeface="微软雅黑" pitchFamily="34" charset="-120"/>
              </a:rPr>
              <a:t>设计取舍</a:t>
            </a:r>
            <a:r>
              <a:rPr lang="en-US" sz="1500" dirty="0">
                <a:solidFill>
                  <a:srgbClr val="333333"/>
                </a:solidFill>
                <a:latin typeface="微软雅黑" pitchFamily="34" charset="-122"/>
                <a:ea typeface="微软雅黑" pitchFamily="34" charset="-122"/>
                <a:cs typeface="微软雅黑" pitchFamily="34" charset="-120"/>
              </a:rPr>
              <a:t>：只对"高频出错 + 后果严重"路径加 Hook。Hook 太多 → Agent 每次调用都被打断，反而降低产出</a:t>
            </a:r>
            <a:endParaRPr lang="en-US" sz="1600" dirty="0">
              <a:latin typeface="微软雅黑" pitchFamily="34" charset="-122"/>
              <a:ea typeface="微软雅黑" pitchFamily="34" charset="-122"/>
            </a:endParaRPr>
          </a:p>
        </p:txBody>
      </p:sp>
    </p:spTree>
  </p:cSld>
  <p:clrMapOvr>
    <a:masterClrMapping/>
  </p:clrMapOvr>
  <p:transition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ext 28"/>
          <p:cNvSpPr/>
          <p:nvPr/>
        </p:nvSpPr>
        <p:spPr>
          <a:xfrm>
            <a:off x="825500" y="8178800"/>
            <a:ext cx="2540000" cy="3302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300" dirty="0">
                <a:solidFill>
                  <a:srgbClr val="7F7F7F"/>
                </a:solidFill>
                <a:latin typeface="微软雅黑" pitchFamily="34" charset="-122"/>
                <a:ea typeface="微软雅黑" pitchFamily="34" charset="-122"/>
                <a:cs typeface="MiSans" pitchFamily="34" charset="-120"/>
              </a:rPr>
              <a:t>https://gitcode.com/cann</a:t>
            </a:r>
            <a:endParaRPr lang="en-US" sz="1300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32" name="Text 29"/>
          <p:cNvSpPr/>
          <p:nvPr/>
        </p:nvSpPr>
        <p:spPr>
          <a:xfrm>
            <a:off x="7620000" y="8178800"/>
            <a:ext cx="1016000" cy="3302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fld id="{EC2B0EB5-7AB3-442E-8CCF-DF02143CEDDC}" type="slidenum">
              <a:rPr lang="en-US" sz="1300" dirty="0">
                <a:solidFill>
                  <a:srgbClr val="7F7F7F"/>
                </a:solidFill>
                <a:latin typeface="微软雅黑" pitchFamily="34" charset="-122"/>
                <a:ea typeface="微软雅黑" pitchFamily="34" charset="-122"/>
                <a:cs typeface="MiSans" pitchFamily="34" charset="-120"/>
              </a:rPr>
            </a:fld>
            <a:endParaRPr lang="en-US" sz="1300" dirty="0">
              <a:latin typeface="微软雅黑" pitchFamily="34" charset="-122"/>
              <a:ea typeface="微软雅黑" pitchFamily="34" charset="-122"/>
            </a:endParaRPr>
          </a:p>
        </p:txBody>
      </p:sp>
      <p:pic>
        <p:nvPicPr>
          <p:cNvPr id="33" name="Image 0" descr="https://kimi-img.moonshot.cn/pub/slides/okc/4rfbomebqqupm/mnt/agents/output/template_pptd/images/image_2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512800" y="8051800"/>
            <a:ext cx="1752600" cy="469900"/>
          </a:xfrm>
          <a:prstGeom prst="rect">
            <a:avLst/>
          </a:prstGeom>
        </p:spPr>
      </p:pic>
      <p:sp>
        <p:nvSpPr>
          <p:cNvPr id="2" name="Text 0"/>
          <p:cNvSpPr/>
          <p:nvPr/>
        </p:nvSpPr>
        <p:spPr>
          <a:xfrm>
            <a:off x="762000" y="355600"/>
            <a:ext cx="11430000" cy="5715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l">
              <a:lnSpc>
                <a:spcPct val="100000"/>
              </a:lnSpc>
            </a:pPr>
            <a:r>
              <a:rPr lang="zh-CN" altLang="en-US" sz="3200" b="1" dirty="0">
                <a:solidFill>
                  <a:srgbClr val="333333"/>
                </a:solidFill>
                <a:latin typeface="微软雅黑" pitchFamily="34" charset="-122"/>
                <a:ea typeface="微软雅黑" pitchFamily="34" charset="-122"/>
                <a:cs typeface="微软雅黑" pitchFamily="34" charset="-120"/>
                <a:sym typeface="+mn-ea"/>
              </a:rPr>
              <a:t>持久化记忆</a:t>
            </a:r>
            <a:r>
              <a:rPr lang="en-US" altLang="zh-CN" sz="3200" b="1" dirty="0">
                <a:solidFill>
                  <a:srgbClr val="333333"/>
                </a:solidFill>
                <a:latin typeface="微软雅黑" pitchFamily="34" charset="-122"/>
                <a:ea typeface="微软雅黑" pitchFamily="34" charset="-122"/>
                <a:cs typeface="微软雅黑" pitchFamily="34" charset="-120"/>
                <a:sym typeface="+mn-ea"/>
              </a:rPr>
              <a:t>：</a:t>
            </a:r>
            <a:r>
              <a:rPr lang="en-US" sz="3200" b="1" dirty="0">
                <a:solidFill>
                  <a:srgbClr val="333333"/>
                </a:solidFill>
                <a:latin typeface="微软雅黑" pitchFamily="34" charset="-122"/>
                <a:ea typeface="微软雅黑" pitchFamily="34" charset="-122"/>
                <a:cs typeface="微软雅黑" pitchFamily="34" charset="-120"/>
                <a:sym typeface="+mn-ea"/>
              </a:rPr>
              <a:t>状态管理</a:t>
            </a:r>
            <a:endParaRPr lang="en-US" sz="3200" b="1" dirty="0">
              <a:solidFill>
                <a:schemeClr val="tx1"/>
              </a:solidFill>
              <a:latin typeface="微软雅黑" pitchFamily="34" charset="-122"/>
              <a:ea typeface="微软雅黑" pitchFamily="34" charset="-122"/>
              <a:cs typeface="微软雅黑" pitchFamily="34" charset="-120"/>
              <a:sym typeface="+mn-ea"/>
            </a:endParaRPr>
          </a:p>
        </p:txBody>
      </p:sp>
      <p:sp>
        <p:nvSpPr>
          <p:cNvPr id="3" name="Shape 4"/>
          <p:cNvSpPr/>
          <p:nvPr/>
        </p:nvSpPr>
        <p:spPr>
          <a:xfrm>
            <a:off x="965518" y="1115060"/>
            <a:ext cx="314325" cy="279400"/>
          </a:xfrm>
          <a:custGeom>
            <a:avLst/>
            <a:gdLst/>
            <a:ahLst/>
            <a:cxnLst/>
            <a:rect l="l" t="t" r="r" b="b"/>
            <a:pathLst>
              <a:path w="314325" h="279400">
                <a:moveTo>
                  <a:pt x="26194" y="13097"/>
                </a:moveTo>
                <a:cubicBezTo>
                  <a:pt x="26194" y="5839"/>
                  <a:pt x="20355" y="0"/>
                  <a:pt x="13097" y="0"/>
                </a:cubicBezTo>
                <a:cubicBezTo>
                  <a:pt x="5839" y="0"/>
                  <a:pt x="0" y="5839"/>
                  <a:pt x="0" y="13097"/>
                </a:cubicBezTo>
                <a:lnTo>
                  <a:pt x="0" y="213916"/>
                </a:lnTo>
                <a:cubicBezTo>
                  <a:pt x="0" y="230778"/>
                  <a:pt x="13697" y="244475"/>
                  <a:pt x="30559" y="244475"/>
                </a:cubicBezTo>
                <a:lnTo>
                  <a:pt x="130969" y="244475"/>
                </a:lnTo>
                <a:lnTo>
                  <a:pt x="130969" y="218281"/>
                </a:lnTo>
                <a:lnTo>
                  <a:pt x="30559" y="218281"/>
                </a:lnTo>
                <a:cubicBezTo>
                  <a:pt x="28158" y="218281"/>
                  <a:pt x="26194" y="216317"/>
                  <a:pt x="26194" y="213916"/>
                </a:cubicBezTo>
                <a:lnTo>
                  <a:pt x="26194" y="87313"/>
                </a:lnTo>
                <a:lnTo>
                  <a:pt x="130969" y="87313"/>
                </a:lnTo>
                <a:lnTo>
                  <a:pt x="130969" y="61119"/>
                </a:lnTo>
                <a:lnTo>
                  <a:pt x="26194" y="61119"/>
                </a:lnTo>
                <a:lnTo>
                  <a:pt x="26194" y="13097"/>
                </a:lnTo>
                <a:close/>
                <a:moveTo>
                  <a:pt x="183356" y="122238"/>
                </a:moveTo>
                <a:lnTo>
                  <a:pt x="288131" y="122238"/>
                </a:lnTo>
                <a:cubicBezTo>
                  <a:pt x="302592" y="122238"/>
                  <a:pt x="314325" y="110505"/>
                  <a:pt x="314325" y="96044"/>
                </a:cubicBezTo>
                <a:lnTo>
                  <a:pt x="314325" y="43656"/>
                </a:lnTo>
                <a:cubicBezTo>
                  <a:pt x="314325" y="29195"/>
                  <a:pt x="302592" y="17463"/>
                  <a:pt x="288131" y="17463"/>
                </a:cubicBezTo>
                <a:lnTo>
                  <a:pt x="243002" y="17463"/>
                </a:lnTo>
                <a:cubicBezTo>
                  <a:pt x="238363" y="17463"/>
                  <a:pt x="233943" y="15607"/>
                  <a:pt x="230669" y="12333"/>
                </a:cubicBezTo>
                <a:lnTo>
                  <a:pt x="225976" y="7640"/>
                </a:lnTo>
                <a:cubicBezTo>
                  <a:pt x="221064" y="2729"/>
                  <a:pt x="214407" y="-55"/>
                  <a:pt x="207476" y="-55"/>
                </a:cubicBezTo>
                <a:lnTo>
                  <a:pt x="183356" y="0"/>
                </a:lnTo>
                <a:cubicBezTo>
                  <a:pt x="168895" y="0"/>
                  <a:pt x="157163" y="11733"/>
                  <a:pt x="157163" y="26194"/>
                </a:cubicBezTo>
                <a:lnTo>
                  <a:pt x="157163" y="96044"/>
                </a:lnTo>
                <a:cubicBezTo>
                  <a:pt x="157163" y="110505"/>
                  <a:pt x="168895" y="122238"/>
                  <a:pt x="183356" y="122238"/>
                </a:cubicBezTo>
                <a:close/>
                <a:moveTo>
                  <a:pt x="183356" y="279400"/>
                </a:moveTo>
                <a:lnTo>
                  <a:pt x="288131" y="279400"/>
                </a:lnTo>
                <a:cubicBezTo>
                  <a:pt x="302592" y="279400"/>
                  <a:pt x="314325" y="267667"/>
                  <a:pt x="314325" y="253206"/>
                </a:cubicBezTo>
                <a:lnTo>
                  <a:pt x="314325" y="200819"/>
                </a:lnTo>
                <a:cubicBezTo>
                  <a:pt x="314325" y="186358"/>
                  <a:pt x="302592" y="174625"/>
                  <a:pt x="288131" y="174625"/>
                </a:cubicBezTo>
                <a:lnTo>
                  <a:pt x="243002" y="174625"/>
                </a:lnTo>
                <a:cubicBezTo>
                  <a:pt x="238363" y="174625"/>
                  <a:pt x="233943" y="172770"/>
                  <a:pt x="230669" y="169495"/>
                </a:cubicBezTo>
                <a:lnTo>
                  <a:pt x="225976" y="164802"/>
                </a:lnTo>
                <a:cubicBezTo>
                  <a:pt x="221064" y="159891"/>
                  <a:pt x="214407" y="157108"/>
                  <a:pt x="207476" y="157108"/>
                </a:cubicBezTo>
                <a:lnTo>
                  <a:pt x="183356" y="157163"/>
                </a:lnTo>
                <a:cubicBezTo>
                  <a:pt x="168895" y="157163"/>
                  <a:pt x="157163" y="168895"/>
                  <a:pt x="157163" y="183356"/>
                </a:cubicBezTo>
                <a:lnTo>
                  <a:pt x="157163" y="253206"/>
                </a:lnTo>
                <a:cubicBezTo>
                  <a:pt x="157163" y="267667"/>
                  <a:pt x="168895" y="279400"/>
                  <a:pt x="183356" y="279400"/>
                </a:cubicBezTo>
                <a:close/>
              </a:path>
            </a:pathLst>
          </a:custGeom>
          <a:solidFill>
            <a:srgbClr val="C00000"/>
          </a:solidFill>
        </p:spPr>
        <p:txBody>
          <a:bodyPr/>
          <a:lstStyle/>
          <a:p>
            <a:endParaRPr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4" name="Text 5"/>
          <p:cNvSpPr/>
          <p:nvPr/>
        </p:nvSpPr>
        <p:spPr>
          <a:xfrm>
            <a:off x="1338580" y="1089660"/>
            <a:ext cx="5080000" cy="3302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b="1" dirty="0">
                <a:solidFill>
                  <a:srgbClr val="333333"/>
                </a:solidFill>
                <a:latin typeface="微软雅黑" pitchFamily="34" charset="-122"/>
                <a:ea typeface="微软雅黑" pitchFamily="34" charset="-122"/>
                <a:cs typeface="微软雅黑" pitchFamily="34" charset="-120"/>
              </a:rPr>
              <a:t>为什么状态必须写入文件</a:t>
            </a:r>
            <a:endParaRPr lang="en-US" sz="1600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5" name="Shape 6"/>
          <p:cNvSpPr/>
          <p:nvPr/>
        </p:nvSpPr>
        <p:spPr>
          <a:xfrm>
            <a:off x="978408" y="1521460"/>
            <a:ext cx="6858000" cy="1270000"/>
          </a:xfrm>
          <a:prstGeom prst="roundRect">
            <a:avLst>
              <a:gd name="adj" fmla="val 5000"/>
            </a:avLst>
          </a:prstGeom>
          <a:solidFill>
            <a:srgbClr val="F2F2F2"/>
          </a:solidFill>
        </p:spPr>
        <p:txBody>
          <a:bodyPr/>
          <a:lstStyle/>
          <a:p>
            <a:endParaRPr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9" name="Shape 7"/>
          <p:cNvSpPr/>
          <p:nvPr/>
        </p:nvSpPr>
        <p:spPr>
          <a:xfrm>
            <a:off x="978408" y="1521460"/>
            <a:ext cx="6858000" cy="50800"/>
          </a:xfrm>
          <a:prstGeom prst="rect">
            <a:avLst/>
          </a:prstGeom>
          <a:solidFill>
            <a:srgbClr val="C00000"/>
          </a:solidFill>
        </p:spPr>
        <p:txBody>
          <a:bodyPr/>
          <a:lstStyle/>
          <a:p>
            <a:endParaRPr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20" name="Text 8"/>
          <p:cNvSpPr/>
          <p:nvPr/>
        </p:nvSpPr>
        <p:spPr>
          <a:xfrm>
            <a:off x="1170432" y="1673860"/>
            <a:ext cx="6473952" cy="3048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500" b="1" dirty="0">
                <a:solidFill>
                  <a:srgbClr val="595959"/>
                </a:solidFill>
                <a:latin typeface="微软雅黑" pitchFamily="34" charset="-122"/>
                <a:ea typeface="微软雅黑" pitchFamily="34" charset="-122"/>
                <a:cs typeface="微软雅黑" pitchFamily="34" charset="-120"/>
              </a:rPr>
              <a:t>上下文窗口容量有限</a:t>
            </a:r>
            <a:endParaRPr lang="en-US" sz="1500" b="1" dirty="0">
              <a:solidFill>
                <a:schemeClr val="accent2"/>
              </a:solidFill>
              <a:latin typeface="微软雅黑" pitchFamily="34" charset="-122"/>
              <a:ea typeface="微软雅黑" pitchFamily="34" charset="-122"/>
              <a:cs typeface="微软雅黑" pitchFamily="34" charset="-120"/>
            </a:endParaRPr>
          </a:p>
        </p:txBody>
      </p:sp>
      <p:sp>
        <p:nvSpPr>
          <p:cNvPr id="21" name="Text 9"/>
          <p:cNvSpPr/>
          <p:nvPr/>
        </p:nvSpPr>
        <p:spPr>
          <a:xfrm>
            <a:off x="1170432" y="2004060"/>
            <a:ext cx="6473952" cy="660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400" dirty="0">
                <a:solidFill>
                  <a:srgbClr val="333333"/>
                </a:solidFill>
                <a:latin typeface="微软雅黑" pitchFamily="34" charset="-122"/>
                <a:ea typeface="微软雅黑" pitchFamily="34" charset="-122"/>
                <a:cs typeface="微软雅黑" pitchFamily="34" charset="-120"/>
              </a:rPr>
              <a:t>会话结束后，对话中记录的进展不再保留。</a:t>
            </a:r>
            <a:endParaRPr lang="en-US" sz="1600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22" name="Shape 10"/>
          <p:cNvSpPr/>
          <p:nvPr/>
        </p:nvSpPr>
        <p:spPr>
          <a:xfrm>
            <a:off x="8348472" y="1521460"/>
            <a:ext cx="6858000" cy="1270000"/>
          </a:xfrm>
          <a:prstGeom prst="roundRect">
            <a:avLst>
              <a:gd name="adj" fmla="val 5000"/>
            </a:avLst>
          </a:prstGeom>
          <a:solidFill>
            <a:srgbClr val="F2F2F2"/>
          </a:solidFill>
        </p:spPr>
        <p:txBody>
          <a:bodyPr/>
          <a:lstStyle/>
          <a:p>
            <a:endParaRPr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23" name="Shape 11"/>
          <p:cNvSpPr/>
          <p:nvPr/>
        </p:nvSpPr>
        <p:spPr>
          <a:xfrm>
            <a:off x="8348472" y="1521460"/>
            <a:ext cx="6858000" cy="50800"/>
          </a:xfrm>
          <a:prstGeom prst="rect">
            <a:avLst/>
          </a:prstGeom>
          <a:solidFill>
            <a:srgbClr val="C00000"/>
          </a:solidFill>
        </p:spPr>
        <p:txBody>
          <a:bodyPr/>
          <a:lstStyle/>
          <a:p>
            <a:endParaRPr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24" name="Text 12"/>
          <p:cNvSpPr/>
          <p:nvPr/>
        </p:nvSpPr>
        <p:spPr>
          <a:xfrm>
            <a:off x="8540496" y="1673860"/>
            <a:ext cx="6473952" cy="3048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500" b="1" dirty="0">
                <a:solidFill>
                  <a:srgbClr val="595959"/>
                </a:solidFill>
                <a:latin typeface="微软雅黑" pitchFamily="34" charset="-122"/>
                <a:ea typeface="微软雅黑" pitchFamily="34" charset="-122"/>
                <a:cs typeface="微软雅黑" pitchFamily="34" charset="-120"/>
              </a:rPr>
              <a:t>任务跨会话与多个 subagent</a:t>
            </a:r>
            <a:endParaRPr lang="en-US" sz="1600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25" name="Text 13"/>
          <p:cNvSpPr/>
          <p:nvPr/>
        </p:nvSpPr>
        <p:spPr>
          <a:xfrm>
            <a:off x="8540496" y="2004060"/>
            <a:ext cx="6473952" cy="660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400" dirty="0">
                <a:solidFill>
                  <a:srgbClr val="333333"/>
                </a:solidFill>
                <a:latin typeface="微软雅黑" pitchFamily="34" charset="-122"/>
                <a:ea typeface="微软雅黑" pitchFamily="34" charset="-122"/>
                <a:cs typeface="微软雅黑" pitchFamily="34" charset="-120"/>
              </a:rPr>
              <a:t>仅存在于对话中的信息无法在角色之间传递。</a:t>
            </a:r>
            <a:endParaRPr lang="en-US" sz="1600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30" name="Shape 18"/>
          <p:cNvSpPr/>
          <p:nvPr/>
        </p:nvSpPr>
        <p:spPr>
          <a:xfrm>
            <a:off x="982980" y="2969260"/>
            <a:ext cx="14224000" cy="0"/>
          </a:xfrm>
          <a:prstGeom prst="straightConnector1">
            <a:avLst/>
          </a:prstGeom>
          <a:noFill/>
          <a:ln w="12700">
            <a:solidFill>
              <a:srgbClr val="E0E0E0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34" name="Shape 22"/>
          <p:cNvSpPr/>
          <p:nvPr/>
        </p:nvSpPr>
        <p:spPr>
          <a:xfrm>
            <a:off x="998538" y="3388360"/>
            <a:ext cx="244475" cy="279400"/>
          </a:xfrm>
          <a:custGeom>
            <a:avLst/>
            <a:gdLst/>
            <a:ahLst/>
            <a:cxnLst/>
            <a:rect l="l" t="t" r="r" b="b"/>
            <a:pathLst>
              <a:path w="244475" h="279400">
                <a:moveTo>
                  <a:pt x="69850" y="-17462"/>
                </a:moveTo>
                <a:cubicBezTo>
                  <a:pt x="79509" y="-17462"/>
                  <a:pt x="87313" y="-9659"/>
                  <a:pt x="87313" y="0"/>
                </a:cubicBezTo>
                <a:lnTo>
                  <a:pt x="87313" y="52388"/>
                </a:lnTo>
                <a:lnTo>
                  <a:pt x="157163" y="52388"/>
                </a:lnTo>
                <a:lnTo>
                  <a:pt x="157163" y="0"/>
                </a:lnTo>
                <a:cubicBezTo>
                  <a:pt x="157163" y="-9659"/>
                  <a:pt x="164966" y="-17462"/>
                  <a:pt x="174625" y="-17462"/>
                </a:cubicBezTo>
                <a:cubicBezTo>
                  <a:pt x="184284" y="-17462"/>
                  <a:pt x="192088" y="-9659"/>
                  <a:pt x="192088" y="0"/>
                </a:cubicBezTo>
                <a:lnTo>
                  <a:pt x="192088" y="52388"/>
                </a:lnTo>
                <a:lnTo>
                  <a:pt x="227013" y="52388"/>
                </a:lnTo>
                <a:cubicBezTo>
                  <a:pt x="236671" y="52388"/>
                  <a:pt x="244475" y="60191"/>
                  <a:pt x="244475" y="69850"/>
                </a:cubicBezTo>
                <a:cubicBezTo>
                  <a:pt x="244475" y="79509"/>
                  <a:pt x="236671" y="87313"/>
                  <a:pt x="227013" y="87313"/>
                </a:cubicBezTo>
                <a:lnTo>
                  <a:pt x="227013" y="122238"/>
                </a:lnTo>
                <a:cubicBezTo>
                  <a:pt x="227013" y="174134"/>
                  <a:pt x="189250" y="217244"/>
                  <a:pt x="139700" y="225539"/>
                </a:cubicBezTo>
                <a:lnTo>
                  <a:pt x="139700" y="261938"/>
                </a:lnTo>
                <a:cubicBezTo>
                  <a:pt x="139700" y="271596"/>
                  <a:pt x="131896" y="279400"/>
                  <a:pt x="122238" y="279400"/>
                </a:cubicBezTo>
                <a:cubicBezTo>
                  <a:pt x="112579" y="279400"/>
                  <a:pt x="104775" y="271596"/>
                  <a:pt x="104775" y="261938"/>
                </a:cubicBezTo>
                <a:lnTo>
                  <a:pt x="104775" y="225539"/>
                </a:lnTo>
                <a:cubicBezTo>
                  <a:pt x="55225" y="217244"/>
                  <a:pt x="17463" y="174134"/>
                  <a:pt x="17463" y="122238"/>
                </a:cubicBezTo>
                <a:lnTo>
                  <a:pt x="17463" y="87313"/>
                </a:lnTo>
                <a:cubicBezTo>
                  <a:pt x="7804" y="87313"/>
                  <a:pt x="0" y="79509"/>
                  <a:pt x="0" y="69850"/>
                </a:cubicBezTo>
                <a:cubicBezTo>
                  <a:pt x="0" y="60191"/>
                  <a:pt x="7804" y="52388"/>
                  <a:pt x="17463" y="52388"/>
                </a:cubicBezTo>
                <a:lnTo>
                  <a:pt x="52388" y="52388"/>
                </a:lnTo>
                <a:lnTo>
                  <a:pt x="52388" y="0"/>
                </a:lnTo>
                <a:cubicBezTo>
                  <a:pt x="52388" y="-9659"/>
                  <a:pt x="60191" y="-17462"/>
                  <a:pt x="69850" y="-17462"/>
                </a:cubicBezTo>
                <a:close/>
              </a:path>
            </a:pathLst>
          </a:custGeom>
          <a:solidFill>
            <a:srgbClr val="C00000"/>
          </a:solidFill>
        </p:spPr>
        <p:txBody>
          <a:bodyPr/>
          <a:lstStyle/>
          <a:p>
            <a:endParaRPr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35" name="Text 23"/>
          <p:cNvSpPr/>
          <p:nvPr/>
        </p:nvSpPr>
        <p:spPr>
          <a:xfrm>
            <a:off x="1336675" y="3362960"/>
            <a:ext cx="5080000" cy="3302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b="1" dirty="0">
                <a:solidFill>
                  <a:srgbClr val="333333"/>
                </a:solidFill>
                <a:latin typeface="微软雅黑" pitchFamily="34" charset="-122"/>
                <a:ea typeface="微软雅黑" pitchFamily="34" charset="-122"/>
                <a:cs typeface="微软雅黑" pitchFamily="34" charset="-120"/>
              </a:rPr>
              <a:t>共享状态文件</a:t>
            </a:r>
            <a:endParaRPr lang="en-US" sz="1600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36" name="Text 24"/>
          <p:cNvSpPr/>
          <p:nvPr/>
        </p:nvSpPr>
        <p:spPr>
          <a:xfrm>
            <a:off x="981075" y="3769360"/>
            <a:ext cx="14228064" cy="787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5000"/>
              </a:lnSpc>
            </a:pPr>
            <a:r>
              <a:rPr lang="en-US" sz="1500" dirty="0">
                <a:solidFill>
                  <a:srgbClr val="333333"/>
                </a:solidFill>
                <a:latin typeface="微软雅黑" pitchFamily="34" charset="-122"/>
                <a:ea typeface="微软雅黑" pitchFamily="34" charset="-122"/>
                <a:cs typeface="微软雅黑" pitchFamily="34" charset="-120"/>
              </a:rPr>
              <a:t>progress.md 记录模型架构、优化方案与各阶段进展。新会话读取该文件即可承接既有进度，subagent 之间也通过它交接上下文。</a:t>
            </a:r>
            <a:endParaRPr lang="en-US" sz="1500" dirty="0">
              <a:solidFill>
                <a:srgbClr val="333333"/>
              </a:solidFill>
              <a:latin typeface="微软雅黑" pitchFamily="34" charset="-122"/>
              <a:ea typeface="微软雅黑" pitchFamily="34" charset="-122"/>
              <a:cs typeface="微软雅黑" pitchFamily="34" charset="-120"/>
            </a:endParaRPr>
          </a:p>
          <a:p>
            <a:pPr>
              <a:lnSpc>
                <a:spcPct val="145000"/>
              </a:lnSpc>
            </a:pPr>
            <a:r>
              <a:rPr lang="en-US" sz="1500" b="1" dirty="0">
                <a:solidFill>
                  <a:srgbClr val="333333"/>
                </a:solidFill>
                <a:latin typeface="微软雅黑" pitchFamily="34" charset="-122"/>
                <a:ea typeface="微软雅黑" pitchFamily="34" charset="-122"/>
                <a:cs typeface="微软雅黑" pitchFamily="34" charset="-120"/>
              </a:rPr>
              <a:t>真正可靠的记忆必须存在于文件系统中，而不只存在于上下文里。</a:t>
            </a:r>
            <a:endParaRPr lang="zh-CN" altLang="en-US" sz="1500" b="1" dirty="0">
              <a:solidFill>
                <a:srgbClr val="333333"/>
              </a:solidFill>
              <a:latin typeface="微软雅黑" pitchFamily="34" charset="-122"/>
              <a:ea typeface="微软雅黑" pitchFamily="34" charset="-122"/>
              <a:cs typeface="微软雅黑" pitchFamily="34" charset="-120"/>
            </a:endParaRPr>
          </a:p>
        </p:txBody>
      </p:sp>
      <p:sp>
        <p:nvSpPr>
          <p:cNvPr id="37" name="Shape 25"/>
          <p:cNvSpPr/>
          <p:nvPr/>
        </p:nvSpPr>
        <p:spPr>
          <a:xfrm>
            <a:off x="982980" y="4950460"/>
            <a:ext cx="14224000" cy="0"/>
          </a:xfrm>
          <a:prstGeom prst="straightConnector1">
            <a:avLst/>
          </a:prstGeom>
          <a:noFill/>
          <a:ln w="12700">
            <a:solidFill>
              <a:srgbClr val="E0E0E0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38" name="Shape 26"/>
          <p:cNvSpPr/>
          <p:nvPr/>
        </p:nvSpPr>
        <p:spPr>
          <a:xfrm>
            <a:off x="982980" y="5128260"/>
            <a:ext cx="279400" cy="279400"/>
          </a:xfrm>
          <a:custGeom>
            <a:avLst/>
            <a:gdLst/>
            <a:ahLst/>
            <a:cxnLst/>
            <a:rect l="l" t="t" r="r" b="b"/>
            <a:pathLst>
              <a:path w="279400" h="279400">
                <a:moveTo>
                  <a:pt x="65484" y="30559"/>
                </a:moveTo>
                <a:cubicBezTo>
                  <a:pt x="65484" y="13697"/>
                  <a:pt x="79182" y="0"/>
                  <a:pt x="96044" y="0"/>
                </a:cubicBezTo>
                <a:lnTo>
                  <a:pt x="109141" y="0"/>
                </a:lnTo>
                <a:cubicBezTo>
                  <a:pt x="118800" y="0"/>
                  <a:pt x="126603" y="7804"/>
                  <a:pt x="126603" y="17463"/>
                </a:cubicBezTo>
                <a:lnTo>
                  <a:pt x="126603" y="261938"/>
                </a:lnTo>
                <a:cubicBezTo>
                  <a:pt x="126603" y="271596"/>
                  <a:pt x="118800" y="279400"/>
                  <a:pt x="109141" y="279400"/>
                </a:cubicBezTo>
                <a:lnTo>
                  <a:pt x="91678" y="279400"/>
                </a:lnTo>
                <a:cubicBezTo>
                  <a:pt x="75416" y="279400"/>
                  <a:pt x="61719" y="268268"/>
                  <a:pt x="57845" y="253206"/>
                </a:cubicBezTo>
                <a:cubicBezTo>
                  <a:pt x="57463" y="253206"/>
                  <a:pt x="57135" y="253206"/>
                  <a:pt x="56753" y="253206"/>
                </a:cubicBezTo>
                <a:cubicBezTo>
                  <a:pt x="32633" y="253206"/>
                  <a:pt x="13097" y="233670"/>
                  <a:pt x="13097" y="209550"/>
                </a:cubicBezTo>
                <a:cubicBezTo>
                  <a:pt x="13097" y="199727"/>
                  <a:pt x="16371" y="190669"/>
                  <a:pt x="21828" y="183356"/>
                </a:cubicBezTo>
                <a:cubicBezTo>
                  <a:pt x="11241" y="175389"/>
                  <a:pt x="4366" y="162729"/>
                  <a:pt x="4366" y="148431"/>
                </a:cubicBezTo>
                <a:cubicBezTo>
                  <a:pt x="4366" y="131569"/>
                  <a:pt x="13970" y="116890"/>
                  <a:pt x="27940" y="109632"/>
                </a:cubicBezTo>
                <a:cubicBezTo>
                  <a:pt x="24066" y="103083"/>
                  <a:pt x="21828" y="95443"/>
                  <a:pt x="21828" y="87313"/>
                </a:cubicBezTo>
                <a:cubicBezTo>
                  <a:pt x="21828" y="63192"/>
                  <a:pt x="41364" y="43656"/>
                  <a:pt x="65484" y="43656"/>
                </a:cubicBezTo>
                <a:lnTo>
                  <a:pt x="65484" y="30559"/>
                </a:lnTo>
                <a:close/>
                <a:moveTo>
                  <a:pt x="213916" y="30559"/>
                </a:moveTo>
                <a:lnTo>
                  <a:pt x="213916" y="43656"/>
                </a:lnTo>
                <a:cubicBezTo>
                  <a:pt x="238036" y="43656"/>
                  <a:pt x="257572" y="63192"/>
                  <a:pt x="257572" y="87313"/>
                </a:cubicBezTo>
                <a:cubicBezTo>
                  <a:pt x="257572" y="95498"/>
                  <a:pt x="255334" y="103138"/>
                  <a:pt x="251460" y="109632"/>
                </a:cubicBezTo>
                <a:cubicBezTo>
                  <a:pt x="265485" y="116890"/>
                  <a:pt x="275034" y="131514"/>
                  <a:pt x="275034" y="148431"/>
                </a:cubicBezTo>
                <a:cubicBezTo>
                  <a:pt x="275034" y="162729"/>
                  <a:pt x="268159" y="175389"/>
                  <a:pt x="257572" y="183356"/>
                </a:cubicBezTo>
                <a:cubicBezTo>
                  <a:pt x="263029" y="190669"/>
                  <a:pt x="266303" y="199727"/>
                  <a:pt x="266303" y="209550"/>
                </a:cubicBezTo>
                <a:cubicBezTo>
                  <a:pt x="266303" y="233670"/>
                  <a:pt x="246767" y="253206"/>
                  <a:pt x="222647" y="253206"/>
                </a:cubicBezTo>
                <a:cubicBezTo>
                  <a:pt x="222265" y="253206"/>
                  <a:pt x="221937" y="253206"/>
                  <a:pt x="221555" y="253206"/>
                </a:cubicBezTo>
                <a:cubicBezTo>
                  <a:pt x="217681" y="268268"/>
                  <a:pt x="203984" y="279400"/>
                  <a:pt x="187722" y="279400"/>
                </a:cubicBezTo>
                <a:lnTo>
                  <a:pt x="170259" y="279400"/>
                </a:lnTo>
                <a:cubicBezTo>
                  <a:pt x="160600" y="279400"/>
                  <a:pt x="152797" y="271596"/>
                  <a:pt x="152797" y="261938"/>
                </a:cubicBezTo>
                <a:lnTo>
                  <a:pt x="152797" y="17463"/>
                </a:lnTo>
                <a:cubicBezTo>
                  <a:pt x="152797" y="7804"/>
                  <a:pt x="160600" y="0"/>
                  <a:pt x="170259" y="0"/>
                </a:cubicBezTo>
                <a:lnTo>
                  <a:pt x="183356" y="0"/>
                </a:lnTo>
                <a:cubicBezTo>
                  <a:pt x="200218" y="0"/>
                  <a:pt x="213916" y="13697"/>
                  <a:pt x="213916" y="30559"/>
                </a:cubicBezTo>
                <a:close/>
              </a:path>
            </a:pathLst>
          </a:custGeom>
          <a:solidFill>
            <a:srgbClr val="C00000"/>
          </a:solidFill>
        </p:spPr>
        <p:txBody>
          <a:bodyPr/>
          <a:lstStyle/>
          <a:p>
            <a:endParaRPr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39" name="Text 27"/>
          <p:cNvSpPr/>
          <p:nvPr/>
        </p:nvSpPr>
        <p:spPr>
          <a:xfrm>
            <a:off x="1338580" y="5102860"/>
            <a:ext cx="7620000" cy="3302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b="1" dirty="0">
                <a:solidFill>
                  <a:srgbClr val="333333"/>
                </a:solidFill>
                <a:latin typeface="微软雅黑" pitchFamily="34" charset="-122"/>
                <a:ea typeface="微软雅黑" pitchFamily="34" charset="-122"/>
                <a:cs typeface="微软雅黑" pitchFamily="34" charset="-120"/>
              </a:rPr>
              <a:t>业界对照</a:t>
            </a:r>
            <a:endParaRPr lang="en-US" sz="1600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40" name="Shape 28"/>
          <p:cNvSpPr/>
          <p:nvPr/>
        </p:nvSpPr>
        <p:spPr>
          <a:xfrm>
            <a:off x="978408" y="5534660"/>
            <a:ext cx="6858000" cy="1270000"/>
          </a:xfrm>
          <a:prstGeom prst="roundRect">
            <a:avLst>
              <a:gd name="adj" fmla="val 5000"/>
            </a:avLst>
          </a:prstGeom>
          <a:solidFill>
            <a:srgbClr val="F2F2F2"/>
          </a:solidFill>
        </p:spPr>
        <p:txBody>
          <a:bodyPr/>
          <a:lstStyle/>
          <a:p>
            <a:endParaRPr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41" name="Text 29"/>
          <p:cNvSpPr/>
          <p:nvPr/>
        </p:nvSpPr>
        <p:spPr>
          <a:xfrm>
            <a:off x="1173480" y="5636260"/>
            <a:ext cx="6473952" cy="1079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5000"/>
              </a:lnSpc>
            </a:pPr>
            <a:r>
              <a:rPr lang="en-US" sz="1400" b="1" dirty="0">
                <a:solidFill>
                  <a:srgbClr val="333333"/>
                </a:solidFill>
                <a:latin typeface="微软雅黑" pitchFamily="34" charset="-122"/>
                <a:ea typeface="微软雅黑" pitchFamily="34" charset="-122"/>
                <a:cs typeface="微软雅黑" pitchFamily="34" charset="-120"/>
              </a:rPr>
              <a:t>Anthropic 长任务 Harness</a:t>
            </a:r>
            <a:endParaRPr lang="en-US" sz="1600" dirty="0">
              <a:latin typeface="微软雅黑" pitchFamily="34" charset="-122"/>
              <a:ea typeface="微软雅黑" pitchFamily="34" charset="-122"/>
            </a:endParaRPr>
          </a:p>
          <a:p>
            <a:pPr>
              <a:lnSpc>
                <a:spcPct val="145000"/>
              </a:lnSpc>
              <a:spcBef>
                <a:spcPts val="300"/>
              </a:spcBef>
            </a:pPr>
            <a:r>
              <a:rPr lang="en-US" sz="1400" dirty="0">
                <a:solidFill>
                  <a:srgbClr val="333333"/>
                </a:solidFill>
                <a:latin typeface="微软雅黑" pitchFamily="34" charset="-122"/>
                <a:ea typeface="微软雅黑" pitchFamily="34" charset="-122"/>
                <a:cs typeface="微软雅黑" pitchFamily="34" charset="-120"/>
              </a:rPr>
              <a:t>用 claude-progress.txt 与 git history 解决跨会话续接问题</a:t>
            </a:r>
            <a:r>
              <a:rPr lang="en-US" sz="1100" b="0" dirty="0">
                <a:solidFill>
                  <a:srgbClr val="7F7F7F"/>
                </a:solidFill>
                <a:latin typeface="微软雅黑" pitchFamily="34" charset="-122"/>
                <a:ea typeface="微软雅黑" pitchFamily="34" charset="-122"/>
                <a:cs typeface="微软雅黑" pitchFamily="34" charset="-120"/>
              </a:rPr>
              <a:t>（Anthropic《Effective Harnesses for Long-Running Agents》）</a:t>
            </a:r>
            <a:endParaRPr lang="en-US" sz="1400" dirty="0">
              <a:solidFill>
                <a:srgbClr val="333333"/>
              </a:solidFill>
              <a:latin typeface="微软雅黑" pitchFamily="34" charset="-122"/>
              <a:ea typeface="微软雅黑" pitchFamily="34" charset="-122"/>
              <a:cs typeface="微软雅黑" pitchFamily="34" charset="-120"/>
            </a:endParaRPr>
          </a:p>
        </p:txBody>
      </p:sp>
      <p:sp>
        <p:nvSpPr>
          <p:cNvPr id="42" name="Shape 30"/>
          <p:cNvSpPr/>
          <p:nvPr/>
        </p:nvSpPr>
        <p:spPr>
          <a:xfrm>
            <a:off x="8348472" y="5534660"/>
            <a:ext cx="6858000" cy="1270000"/>
          </a:xfrm>
          <a:prstGeom prst="roundRect">
            <a:avLst>
              <a:gd name="adj" fmla="val 5000"/>
            </a:avLst>
          </a:prstGeom>
          <a:solidFill>
            <a:srgbClr val="F2F2F2"/>
          </a:solidFill>
        </p:spPr>
        <p:txBody>
          <a:bodyPr/>
          <a:lstStyle/>
          <a:p>
            <a:endParaRPr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43" name="Text 31"/>
          <p:cNvSpPr/>
          <p:nvPr/>
        </p:nvSpPr>
        <p:spPr>
          <a:xfrm>
            <a:off x="8540496" y="5636260"/>
            <a:ext cx="6473952" cy="1079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5000"/>
              </a:lnSpc>
            </a:pPr>
            <a:r>
              <a:rPr lang="en-US" sz="1400" b="1" dirty="0">
                <a:solidFill>
                  <a:srgbClr val="333333"/>
                </a:solidFill>
                <a:latin typeface="微软雅黑" pitchFamily="34" charset="-122"/>
                <a:ea typeface="微软雅黑" pitchFamily="34" charset="-122"/>
                <a:cs typeface="微软雅黑" pitchFamily="34" charset="-120"/>
              </a:rPr>
              <a:t>Nous Research Hermes Agent</a:t>
            </a:r>
            <a:endParaRPr lang="en-US" sz="1400" b="1" dirty="0">
              <a:solidFill>
                <a:srgbClr val="333333"/>
              </a:solidFill>
              <a:latin typeface="微软雅黑" pitchFamily="34" charset="-122"/>
              <a:ea typeface="微软雅黑" pitchFamily="34" charset="-122"/>
              <a:cs typeface="微软雅黑" pitchFamily="34" charset="-120"/>
            </a:endParaRPr>
          </a:p>
          <a:p>
            <a:pPr>
              <a:lnSpc>
                <a:spcPct val="145000"/>
              </a:lnSpc>
            </a:pPr>
            <a:r>
              <a:rPr lang="en-US" sz="1400" dirty="0">
                <a:solidFill>
                  <a:srgbClr val="333333"/>
                </a:solidFill>
                <a:latin typeface="微软雅黑" pitchFamily="34" charset="-122"/>
                <a:ea typeface="微软雅黑" pitchFamily="34" charset="-122"/>
                <a:cs typeface="微软雅黑" pitchFamily="34" charset="-120"/>
              </a:rPr>
              <a:t>将记忆分为两层：Persistent Memory 记录事实，Procedural Memory 记录经验与方法</a:t>
            </a:r>
            <a:r>
              <a:rPr lang="en-US" sz="1100" b="0" dirty="0">
                <a:solidFill>
                  <a:srgbClr val="7F7F7F"/>
                </a:solidFill>
                <a:latin typeface="微软雅黑" pitchFamily="34" charset="-122"/>
                <a:ea typeface="微软雅黑" pitchFamily="34" charset="-122"/>
                <a:cs typeface="微软雅黑" pitchFamily="34" charset="-120"/>
              </a:rPr>
              <a:t>（GitHub nousresearch/hermes-agent）</a:t>
            </a:r>
            <a:endParaRPr lang="en-US" sz="1400" dirty="0">
              <a:solidFill>
                <a:srgbClr val="333333"/>
              </a:solidFill>
              <a:latin typeface="微软雅黑" pitchFamily="34" charset="-122"/>
              <a:ea typeface="微软雅黑" pitchFamily="34" charset="-122"/>
              <a:cs typeface="微软雅黑" pitchFamily="34" charset="-120"/>
            </a:endParaRPr>
          </a:p>
        </p:txBody>
      </p:sp>
      <p:sp>
        <p:nvSpPr>
          <p:cNvPr id="44" name="Shape 34"/>
          <p:cNvSpPr/>
          <p:nvPr/>
        </p:nvSpPr>
        <p:spPr>
          <a:xfrm>
            <a:off x="982980" y="7007860"/>
            <a:ext cx="14224000" cy="889000"/>
          </a:xfrm>
          <a:prstGeom prst="roundRect">
            <a:avLst>
              <a:gd name="adj" fmla="val 3000"/>
            </a:avLst>
          </a:prstGeom>
          <a:solidFill>
            <a:srgbClr val="FFF8F0"/>
          </a:solidFill>
        </p:spPr>
        <p:txBody>
          <a:bodyPr/>
          <a:lstStyle/>
          <a:p>
            <a:endParaRPr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45" name="Text 35"/>
          <p:cNvSpPr/>
          <p:nvPr/>
        </p:nvSpPr>
        <p:spPr>
          <a:xfrm>
            <a:off x="1173480" y="7109460"/>
            <a:ext cx="13843000" cy="698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500" b="1" dirty="0">
                <a:solidFill>
                  <a:srgbClr val="333333"/>
                </a:solidFill>
                <a:latin typeface="微软雅黑" pitchFamily="34" charset="-122"/>
                <a:ea typeface="微软雅黑" pitchFamily="34" charset="-122"/>
                <a:cs typeface="微软雅黑" pitchFamily="34" charset="-120"/>
              </a:rPr>
              <a:t>Skill 反馈闭环</a:t>
            </a:r>
            <a:r>
              <a:rPr lang="en-US" sz="1500" dirty="0">
                <a:solidFill>
                  <a:srgbClr val="333333"/>
                </a:solidFill>
                <a:latin typeface="微软雅黑" pitchFamily="34" charset="-122"/>
                <a:ea typeface="微软雅黑" pitchFamily="34" charset="-122"/>
                <a:cs typeface="微软雅黑" pitchFamily="34" charset="-120"/>
              </a:rPr>
              <a:t> = 程序化记忆的人工版本：每次优化报告中的反馈条目 → 审阅 → 回写 skill 定义</a:t>
            </a:r>
            <a:endParaRPr lang="en-US" sz="1600" dirty="0">
              <a:latin typeface="微软雅黑" pitchFamily="34" charset="-122"/>
              <a:ea typeface="微软雅黑" pitchFamily="34" charset="-122"/>
            </a:endParaRPr>
          </a:p>
          <a:p>
            <a:pPr>
              <a:lnSpc>
                <a:spcPct val="150000"/>
              </a:lnSpc>
            </a:pPr>
            <a:r>
              <a:rPr lang="en-US" sz="1500" dirty="0">
                <a:solidFill>
                  <a:srgbClr val="333333"/>
                </a:solidFill>
                <a:latin typeface="微软雅黑" pitchFamily="34" charset="-122"/>
                <a:ea typeface="微软雅黑" pitchFamily="34" charset="-122"/>
                <a:cs typeface="微软雅黑" pitchFamily="34" charset="-120"/>
              </a:rPr>
              <a:t>当前所有规则和 Hook 都是这种</a:t>
            </a:r>
            <a:r>
              <a:rPr lang="en-US" sz="1500" b="1" dirty="0">
                <a:solidFill>
                  <a:srgbClr val="333333"/>
                </a:solidFill>
                <a:latin typeface="微软雅黑" pitchFamily="34" charset="-122"/>
                <a:ea typeface="微软雅黑" pitchFamily="34" charset="-122"/>
                <a:cs typeface="微软雅黑" pitchFamily="34" charset="-120"/>
              </a:rPr>
              <a:t>失败驱动的迭代产物</a:t>
            </a:r>
            <a:r>
              <a:rPr lang="en-US" sz="1500" dirty="0">
                <a:solidFill>
                  <a:srgbClr val="333333"/>
                </a:solidFill>
                <a:latin typeface="微软雅黑" pitchFamily="34" charset="-122"/>
                <a:ea typeface="微软雅黑" pitchFamily="34" charset="-122"/>
                <a:cs typeface="微软雅黑" pitchFamily="34" charset="-120"/>
              </a:rPr>
              <a:t>，每条约束背后都有一次真实的 agent 失败</a:t>
            </a:r>
            <a:endParaRPr lang="en-US" sz="1600" dirty="0">
              <a:latin typeface="微软雅黑" pitchFamily="34" charset="-122"/>
              <a:ea typeface="微软雅黑" pitchFamily="34" charset="-122"/>
            </a:endParaRPr>
          </a:p>
        </p:txBody>
      </p:sp>
    </p:spTree>
  </p:cSld>
  <p:clrMapOvr>
    <a:masterClrMapping/>
  </p:clrMapOvr>
  <p:transition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9144000"/>
          </a:xfrm>
          <a:prstGeom prst="rect">
            <a:avLst/>
          </a:prstGeom>
          <a:gradFill flip="none" rotWithShape="1">
            <a:gsLst>
              <a:gs pos="0">
                <a:srgbClr val="000000">
                  <a:alpha val="80000"/>
                </a:srgbClr>
              </a:gs>
              <a:gs pos="60000">
                <a:srgbClr val="000000">
                  <a:alpha val="60000"/>
                </a:srgbClr>
              </a:gs>
              <a:gs pos="100000">
                <a:srgbClr val="000000">
                  <a:alpha val="40000"/>
                </a:srgbClr>
              </a:gs>
            </a:gsLst>
            <a:lin ang="0" scaled="1"/>
          </a:gra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3" name="Text 1"/>
          <p:cNvSpPr/>
          <p:nvPr/>
        </p:nvSpPr>
        <p:spPr>
          <a:xfrm>
            <a:off x="1270000" y="2203450"/>
            <a:ext cx="2540000" cy="127000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9600" dirty="0">
                <a:solidFill>
                  <a:srgbClr val="FFFFFF"/>
                </a:solidFill>
                <a:latin typeface="微软雅黑" pitchFamily="34" charset="-122"/>
                <a:ea typeface="微软雅黑" pitchFamily="34" charset="-122"/>
                <a:cs typeface="MiSans" pitchFamily="34" charset="-120"/>
              </a:rPr>
              <a:t>03</a:t>
            </a:r>
            <a:endParaRPr lang="en-US" sz="9600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4" name="Text 2"/>
          <p:cNvSpPr/>
          <p:nvPr/>
        </p:nvSpPr>
        <p:spPr>
          <a:xfrm>
            <a:off x="1270000" y="3557016"/>
            <a:ext cx="11430000" cy="7620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zh-CN" altLang="en-US" sz="4400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  <a:cs typeface="微软雅黑" pitchFamily="34" charset="-120"/>
                <a:sym typeface="+mn-ea"/>
              </a:rPr>
              <a:t>模型</a:t>
            </a:r>
            <a:r>
              <a:rPr lang="en-US" altLang="zh-CN" sz="4400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  <a:cs typeface="微软雅黑" pitchFamily="34" charset="-120"/>
                <a:sym typeface="+mn-ea"/>
              </a:rPr>
              <a:t> Agent </a:t>
            </a:r>
            <a:r>
              <a:rPr lang="en-US" sz="4400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  <a:cs typeface="微软雅黑" pitchFamily="34" charset="-120"/>
                <a:sym typeface="+mn-ea"/>
              </a:rPr>
              <a:t>体系全景</a:t>
            </a:r>
            <a:endParaRPr lang="en-US" sz="4400" b="1" dirty="0">
              <a:solidFill>
                <a:schemeClr val="bg1"/>
              </a:solidFill>
              <a:latin typeface="微软雅黑" pitchFamily="34" charset="-122"/>
              <a:ea typeface="微软雅黑" pitchFamily="34" charset="-122"/>
              <a:cs typeface="微软雅黑" pitchFamily="34" charset="-120"/>
              <a:sym typeface="+mn-ea"/>
            </a:endParaRPr>
          </a:p>
        </p:txBody>
      </p:sp>
      <p:sp>
        <p:nvSpPr>
          <p:cNvPr id="5" name="Text 3"/>
          <p:cNvSpPr/>
          <p:nvPr/>
        </p:nvSpPr>
        <p:spPr>
          <a:xfrm>
            <a:off x="1270000" y="4445000"/>
            <a:ext cx="10160000" cy="508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l">
              <a:lnSpc>
                <a:spcPct val="150000"/>
              </a:lnSpc>
            </a:pPr>
            <a:r>
              <a:rPr lang="en-US" sz="2000" dirty="0">
                <a:solidFill>
                  <a:srgbClr val="FFFFFF"/>
                </a:solidFill>
                <a:latin typeface="微软雅黑" pitchFamily="34" charset="-122"/>
                <a:ea typeface="微软雅黑" pitchFamily="34" charset="-122"/>
                <a:cs typeface="MiSans" pitchFamily="34" charset="-120"/>
              </a:rPr>
              <a:t>从 Skill 分层到阶段编排，看清整套体系怎么组织</a:t>
            </a:r>
            <a:endParaRPr lang="en-US" sz="2000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6" name="Text 4"/>
          <p:cNvSpPr/>
          <p:nvPr/>
        </p:nvSpPr>
        <p:spPr>
          <a:xfrm>
            <a:off x="825500" y="8178800"/>
            <a:ext cx="2540000" cy="3302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300" dirty="0">
                <a:solidFill>
                  <a:srgbClr val="7F7F7F"/>
                </a:solidFill>
                <a:latin typeface="微软雅黑" pitchFamily="34" charset="-122"/>
                <a:ea typeface="微软雅黑" pitchFamily="34" charset="-122"/>
                <a:cs typeface="MiSans" pitchFamily="34" charset="-120"/>
              </a:rPr>
              <a:t>https://gitcode.com/cann</a:t>
            </a:r>
            <a:endParaRPr lang="en-US" sz="1300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7" name="Text 5"/>
          <p:cNvSpPr/>
          <p:nvPr/>
        </p:nvSpPr>
        <p:spPr>
          <a:xfrm>
            <a:off x="7620000" y="8178800"/>
            <a:ext cx="1016000" cy="3302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endParaRPr lang="en-US" sz="1300" dirty="0">
              <a:latin typeface="微软雅黑" pitchFamily="34" charset="-122"/>
              <a:ea typeface="微软雅黑" pitchFamily="34" charset="-122"/>
            </a:endParaRPr>
          </a:p>
        </p:txBody>
      </p:sp>
      <p:pic>
        <p:nvPicPr>
          <p:cNvPr id="8" name="Image 0" descr="https://kimi-img.moonshot.cn/pub/slides/okc/4rfbomebqqupm/mnt/agents/output/template_pptd/images/image_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512800" y="8051800"/>
            <a:ext cx="1752600" cy="469900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ext 28"/>
          <p:cNvSpPr/>
          <p:nvPr/>
        </p:nvSpPr>
        <p:spPr>
          <a:xfrm>
            <a:off x="825500" y="8178800"/>
            <a:ext cx="2540000" cy="3302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300" dirty="0">
                <a:solidFill>
                  <a:srgbClr val="7F7F7F"/>
                </a:solidFill>
                <a:latin typeface="微软雅黑" pitchFamily="34" charset="-122"/>
                <a:ea typeface="微软雅黑" pitchFamily="34" charset="-122"/>
                <a:cs typeface="MiSans" pitchFamily="34" charset="-120"/>
              </a:rPr>
              <a:t>https://gitcode.com/cann</a:t>
            </a:r>
            <a:endParaRPr lang="en-US" sz="1300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32" name="Text 29"/>
          <p:cNvSpPr/>
          <p:nvPr/>
        </p:nvSpPr>
        <p:spPr>
          <a:xfrm>
            <a:off x="7620000" y="8178800"/>
            <a:ext cx="1016000" cy="3302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fld id="{2E2E130E-339A-483B-A4D8-DE5E0B98E09E}" type="slidenum">
              <a:rPr lang="en-US" sz="1300" dirty="0">
                <a:solidFill>
                  <a:srgbClr val="7F7F7F"/>
                </a:solidFill>
                <a:latin typeface="微软雅黑" pitchFamily="34" charset="-122"/>
                <a:ea typeface="微软雅黑" pitchFamily="34" charset="-122"/>
                <a:cs typeface="MiSans" pitchFamily="34" charset="-120"/>
              </a:rPr>
            </a:fld>
            <a:endParaRPr lang="en-US" sz="1300" dirty="0">
              <a:latin typeface="微软雅黑" pitchFamily="34" charset="-122"/>
              <a:ea typeface="微软雅黑" pitchFamily="34" charset="-122"/>
            </a:endParaRPr>
          </a:p>
        </p:txBody>
      </p:sp>
      <p:pic>
        <p:nvPicPr>
          <p:cNvPr id="33" name="Image 0" descr="https://kimi-img.moonshot.cn/pub/slides/okc/4rfbomebqqupm/mnt/agents/output/template_pptd/images/image_2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512800" y="8051800"/>
            <a:ext cx="1752600" cy="469900"/>
          </a:xfrm>
          <a:prstGeom prst="rect">
            <a:avLst/>
          </a:prstGeom>
        </p:spPr>
      </p:pic>
      <p:sp>
        <p:nvSpPr>
          <p:cNvPr id="2" name="Text 0"/>
          <p:cNvSpPr/>
          <p:nvPr/>
        </p:nvSpPr>
        <p:spPr>
          <a:xfrm>
            <a:off x="762000" y="355600"/>
            <a:ext cx="11430000" cy="5715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l">
              <a:lnSpc>
                <a:spcPct val="100000"/>
              </a:lnSpc>
            </a:pPr>
            <a:r>
              <a:rPr lang="zh-CN" altLang="en-US" sz="3200" b="1" dirty="0">
                <a:solidFill>
                  <a:srgbClr val="333333"/>
                </a:solidFill>
                <a:latin typeface="微软雅黑" pitchFamily="34" charset="-122"/>
                <a:ea typeface="微软雅黑" pitchFamily="34" charset="-122"/>
                <a:cs typeface="微软雅黑" pitchFamily="34" charset="-120"/>
                <a:sym typeface="+mn-ea"/>
              </a:rPr>
              <a:t>模型</a:t>
            </a:r>
            <a:r>
              <a:rPr lang="en-US" altLang="zh-CN" sz="3200" b="1" dirty="0">
                <a:solidFill>
                  <a:srgbClr val="333333"/>
                </a:solidFill>
                <a:latin typeface="微软雅黑" pitchFamily="34" charset="-122"/>
                <a:ea typeface="微软雅黑" pitchFamily="34" charset="-122"/>
                <a:cs typeface="微软雅黑" pitchFamily="34" charset="-120"/>
                <a:sym typeface="+mn-ea"/>
              </a:rPr>
              <a:t>Agent</a:t>
            </a:r>
            <a:r>
              <a:rPr lang="zh-CN" altLang="en-US" sz="3200" b="1" dirty="0">
                <a:solidFill>
                  <a:srgbClr val="333333"/>
                </a:solidFill>
                <a:latin typeface="微软雅黑" pitchFamily="34" charset="-122"/>
                <a:ea typeface="微软雅黑" pitchFamily="34" charset="-122"/>
                <a:cs typeface="微软雅黑" pitchFamily="34" charset="-120"/>
                <a:sym typeface="+mn-ea"/>
              </a:rPr>
              <a:t>体系</a:t>
            </a:r>
            <a:r>
              <a:rPr lang="en-US" altLang="zh-CN" sz="3200" b="1" dirty="0">
                <a:solidFill>
                  <a:srgbClr val="333333"/>
                </a:solidFill>
                <a:latin typeface="微软雅黑" pitchFamily="34" charset="-122"/>
                <a:ea typeface="微软雅黑" pitchFamily="34" charset="-122"/>
                <a:cs typeface="微软雅黑" pitchFamily="34" charset="-120"/>
                <a:sym typeface="+mn-ea"/>
              </a:rPr>
              <a:t> —— </a:t>
            </a:r>
            <a:r>
              <a:rPr lang="zh-CN" altLang="en-US" sz="3200" b="1" dirty="0">
                <a:solidFill>
                  <a:srgbClr val="333333"/>
                </a:solidFill>
                <a:latin typeface="微软雅黑" pitchFamily="34" charset="-122"/>
                <a:ea typeface="微软雅黑" pitchFamily="34" charset="-122"/>
                <a:cs typeface="微软雅黑" pitchFamily="34" charset="-120"/>
                <a:sym typeface="+mn-ea"/>
              </a:rPr>
              <a:t>基础部署优化</a:t>
            </a:r>
            <a:endParaRPr lang="zh-CN" altLang="en-US" sz="3200" b="1" dirty="0">
              <a:solidFill>
                <a:srgbClr val="333333"/>
              </a:solidFill>
              <a:latin typeface="微软雅黑" pitchFamily="34" charset="-122"/>
              <a:ea typeface="微软雅黑" pitchFamily="34" charset="-122"/>
              <a:cs typeface="微软雅黑" pitchFamily="34" charset="-120"/>
              <a:sym typeface="+mn-ea"/>
            </a:endParaRPr>
          </a:p>
        </p:txBody>
      </p:sp>
      <p:sp>
        <p:nvSpPr>
          <p:cNvPr id="4" name="Shape 20"/>
          <p:cNvSpPr/>
          <p:nvPr/>
        </p:nvSpPr>
        <p:spPr>
          <a:xfrm>
            <a:off x="8907379" y="6507480"/>
            <a:ext cx="279400" cy="279400"/>
          </a:xfrm>
          <a:custGeom>
            <a:avLst/>
            <a:gdLst/>
            <a:ahLst/>
            <a:cxnLst/>
            <a:rect l="l" t="t" r="r" b="b"/>
            <a:pathLst>
              <a:path w="279400" h="279400">
                <a:moveTo>
                  <a:pt x="192033" y="152797"/>
                </a:moveTo>
                <a:lnTo>
                  <a:pt x="87858" y="152797"/>
                </a:lnTo>
                <a:cubicBezTo>
                  <a:pt x="89441" y="187995"/>
                  <a:pt x="97244" y="220409"/>
                  <a:pt x="108322" y="244148"/>
                </a:cubicBezTo>
                <a:cubicBezTo>
                  <a:pt x="114543" y="257517"/>
                  <a:pt x="121255" y="266958"/>
                  <a:pt x="127476" y="272742"/>
                </a:cubicBezTo>
                <a:cubicBezTo>
                  <a:pt x="133588" y="278472"/>
                  <a:pt x="137790" y="279400"/>
                  <a:pt x="139973" y="279400"/>
                </a:cubicBezTo>
                <a:cubicBezTo>
                  <a:pt x="142156" y="279400"/>
                  <a:pt x="146358" y="278472"/>
                  <a:pt x="152469" y="272742"/>
                </a:cubicBezTo>
                <a:cubicBezTo>
                  <a:pt x="158690" y="266958"/>
                  <a:pt x="165403" y="257463"/>
                  <a:pt x="171624" y="244148"/>
                </a:cubicBezTo>
                <a:cubicBezTo>
                  <a:pt x="182701" y="220409"/>
                  <a:pt x="190505" y="187995"/>
                  <a:pt x="192087" y="152797"/>
                </a:cubicBezTo>
                <a:close/>
                <a:moveTo>
                  <a:pt x="87804" y="126603"/>
                </a:moveTo>
                <a:lnTo>
                  <a:pt x="191978" y="126603"/>
                </a:lnTo>
                <a:cubicBezTo>
                  <a:pt x="190450" y="91405"/>
                  <a:pt x="182647" y="58991"/>
                  <a:pt x="171569" y="35252"/>
                </a:cubicBezTo>
                <a:cubicBezTo>
                  <a:pt x="165348" y="21937"/>
                  <a:pt x="158636" y="12442"/>
                  <a:pt x="152415" y="6658"/>
                </a:cubicBezTo>
                <a:cubicBezTo>
                  <a:pt x="146303" y="928"/>
                  <a:pt x="142101" y="0"/>
                  <a:pt x="139918" y="0"/>
                </a:cubicBezTo>
                <a:cubicBezTo>
                  <a:pt x="137735" y="0"/>
                  <a:pt x="133534" y="928"/>
                  <a:pt x="127422" y="6658"/>
                </a:cubicBezTo>
                <a:cubicBezTo>
                  <a:pt x="121201" y="12442"/>
                  <a:pt x="114489" y="21937"/>
                  <a:pt x="108267" y="35252"/>
                </a:cubicBezTo>
                <a:cubicBezTo>
                  <a:pt x="97190" y="58991"/>
                  <a:pt x="89386" y="91405"/>
                  <a:pt x="87804" y="126603"/>
                </a:cubicBezTo>
                <a:close/>
                <a:moveTo>
                  <a:pt x="61610" y="126603"/>
                </a:moveTo>
                <a:cubicBezTo>
                  <a:pt x="63520" y="79891"/>
                  <a:pt x="75580" y="36508"/>
                  <a:pt x="93206" y="8022"/>
                </a:cubicBezTo>
                <a:cubicBezTo>
                  <a:pt x="42947" y="25812"/>
                  <a:pt x="5948" y="71596"/>
                  <a:pt x="819" y="126603"/>
                </a:cubicBezTo>
                <a:lnTo>
                  <a:pt x="61610" y="126603"/>
                </a:lnTo>
                <a:close/>
                <a:moveTo>
                  <a:pt x="819" y="152797"/>
                </a:moveTo>
                <a:cubicBezTo>
                  <a:pt x="5948" y="207804"/>
                  <a:pt x="42947" y="253588"/>
                  <a:pt x="93206" y="271378"/>
                </a:cubicBezTo>
                <a:cubicBezTo>
                  <a:pt x="75580" y="242892"/>
                  <a:pt x="63520" y="199509"/>
                  <a:pt x="61610" y="152797"/>
                </a:cubicBezTo>
                <a:lnTo>
                  <a:pt x="819" y="152797"/>
                </a:lnTo>
                <a:close/>
                <a:moveTo>
                  <a:pt x="218227" y="152797"/>
                </a:moveTo>
                <a:cubicBezTo>
                  <a:pt x="216317" y="199509"/>
                  <a:pt x="204257" y="242892"/>
                  <a:pt x="186630" y="271378"/>
                </a:cubicBezTo>
                <a:cubicBezTo>
                  <a:pt x="236890" y="253534"/>
                  <a:pt x="273888" y="207804"/>
                  <a:pt x="279018" y="152797"/>
                </a:cubicBezTo>
                <a:lnTo>
                  <a:pt x="218227" y="152797"/>
                </a:lnTo>
                <a:close/>
                <a:moveTo>
                  <a:pt x="279018" y="126603"/>
                </a:moveTo>
                <a:cubicBezTo>
                  <a:pt x="273888" y="71596"/>
                  <a:pt x="236890" y="25812"/>
                  <a:pt x="186630" y="8022"/>
                </a:cubicBezTo>
                <a:cubicBezTo>
                  <a:pt x="204257" y="36508"/>
                  <a:pt x="216317" y="79891"/>
                  <a:pt x="218227" y="126603"/>
                </a:cubicBezTo>
                <a:lnTo>
                  <a:pt x="279018" y="126603"/>
                </a:lnTo>
                <a:close/>
              </a:path>
            </a:pathLst>
          </a:custGeom>
          <a:solidFill>
            <a:srgbClr val="C00000"/>
          </a:solidFill>
        </p:spPr>
        <p:txBody>
          <a:bodyPr/>
          <a:lstStyle/>
          <a:p>
            <a:endParaRPr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5" name="Text 21"/>
          <p:cNvSpPr/>
          <p:nvPr/>
        </p:nvSpPr>
        <p:spPr>
          <a:xfrm>
            <a:off x="9262979" y="6482080"/>
            <a:ext cx="6350000" cy="3302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b="1" dirty="0">
                <a:solidFill>
                  <a:srgbClr val="333333"/>
                </a:solidFill>
                <a:latin typeface="微软雅黑" pitchFamily="34" charset="-122"/>
                <a:ea typeface="微软雅黑" pitchFamily="34" charset="-122"/>
                <a:cs typeface="微软雅黑" pitchFamily="34" charset="-120"/>
              </a:rPr>
              <a:t>Skills 已成为跨厂商开源标准</a:t>
            </a:r>
            <a:endParaRPr lang="en-US" sz="1600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6" name="Text 22"/>
          <p:cNvSpPr/>
          <p:nvPr/>
        </p:nvSpPr>
        <p:spPr>
          <a:xfrm>
            <a:off x="8907379" y="6442075"/>
            <a:ext cx="7112000" cy="1651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55000"/>
              </a:lnSpc>
            </a:pPr>
            <a:r>
              <a:rPr lang="en-US" sz="1500" dirty="0">
                <a:solidFill>
                  <a:srgbClr val="333333"/>
                </a:solidFill>
                <a:latin typeface="微软雅黑" pitchFamily="34" charset="-122"/>
                <a:ea typeface="微软雅黑" pitchFamily="34" charset="-122"/>
                <a:cs typeface="微软雅黑" pitchFamily="34" charset="-120"/>
              </a:rPr>
              <a:t>Anthropic 2025.12 将 Agent Skills 作为</a:t>
            </a:r>
            <a:r>
              <a:rPr lang="en-US" sz="1500" b="1" dirty="0">
                <a:solidFill>
                  <a:srgbClr val="333333"/>
                </a:solidFill>
                <a:latin typeface="微软雅黑" pitchFamily="34" charset="-122"/>
                <a:ea typeface="微软雅黑" pitchFamily="34" charset="-122"/>
                <a:cs typeface="微软雅黑" pitchFamily="34" charset="-120"/>
              </a:rPr>
              <a:t>开源标准</a:t>
            </a:r>
            <a:r>
              <a:rPr lang="en-US" sz="1500" dirty="0">
                <a:solidFill>
                  <a:srgbClr val="333333"/>
                </a:solidFill>
                <a:latin typeface="微软雅黑" pitchFamily="34" charset="-122"/>
                <a:ea typeface="微软雅黑" pitchFamily="34" charset="-122"/>
                <a:cs typeface="微软雅黑" pitchFamily="34" charset="-120"/>
              </a:rPr>
              <a:t>发布</a:t>
            </a:r>
            <a:endParaRPr lang="en-US" sz="1600" dirty="0">
              <a:latin typeface="微软雅黑" pitchFamily="34" charset="-122"/>
              <a:ea typeface="微软雅黑" pitchFamily="34" charset="-122"/>
            </a:endParaRPr>
          </a:p>
          <a:p>
            <a:pPr>
              <a:lnSpc>
                <a:spcPct val="155000"/>
              </a:lnSpc>
              <a:spcBef>
                <a:spcPts val="400"/>
              </a:spcBef>
            </a:pPr>
            <a:r>
              <a:rPr lang="en-US" sz="1500" dirty="0">
                <a:solidFill>
                  <a:srgbClr val="333333"/>
                </a:solidFill>
                <a:latin typeface="微软雅黑" pitchFamily="34" charset="-122"/>
                <a:ea typeface="微软雅黑" pitchFamily="34" charset="-122"/>
                <a:cs typeface="微软雅黑" pitchFamily="34" charset="-120"/>
              </a:rPr>
              <a:t>基于规范实现 skill，可被任意兼容工具加载，</a:t>
            </a:r>
            <a:r>
              <a:rPr lang="zh-CN" altLang="en-US" sz="1500" dirty="0">
                <a:solidFill>
                  <a:srgbClr val="333333"/>
                </a:solidFill>
                <a:latin typeface="微软雅黑" pitchFamily="34" charset="-122"/>
                <a:ea typeface="微软雅黑" pitchFamily="34" charset="-122"/>
                <a:cs typeface="微软雅黑" pitchFamily="34" charset="-120"/>
              </a:rPr>
              <a:t>并基于原子化特性搭建工作流</a:t>
            </a:r>
            <a:endParaRPr lang="zh-CN" altLang="en-US" sz="1500" dirty="0">
              <a:solidFill>
                <a:srgbClr val="333333"/>
              </a:solidFill>
              <a:latin typeface="微软雅黑" pitchFamily="34" charset="-122"/>
              <a:ea typeface="微软雅黑" pitchFamily="34" charset="-122"/>
              <a:cs typeface="微软雅黑" pitchFamily="34" charset="-120"/>
            </a:endParaRPr>
          </a:p>
        </p:txBody>
      </p:sp>
      <p:sp>
        <p:nvSpPr>
          <p:cNvPr id="7" name="Shape 3"/>
          <p:cNvSpPr/>
          <p:nvPr/>
        </p:nvSpPr>
        <p:spPr>
          <a:xfrm>
            <a:off x="762000" y="1496656"/>
            <a:ext cx="14732000" cy="1118870"/>
          </a:xfrm>
          <a:prstGeom prst="rect">
            <a:avLst/>
          </a:prstGeom>
          <a:solidFill>
            <a:srgbClr val="404040"/>
          </a:solidFill>
        </p:spPr>
        <p:txBody>
          <a:bodyPr/>
          <a:lstStyle/>
          <a:p>
            <a:endParaRPr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8" name="Text 4"/>
          <p:cNvSpPr/>
          <p:nvPr/>
        </p:nvSpPr>
        <p:spPr>
          <a:xfrm>
            <a:off x="914400" y="1672551"/>
            <a:ext cx="1524000" cy="2794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b="1" dirty="0">
                <a:solidFill>
                  <a:srgbClr val="FFFFFF"/>
                </a:solidFill>
                <a:latin typeface="微软雅黑" pitchFamily="34" charset="-122"/>
                <a:ea typeface="微软雅黑" pitchFamily="34" charset="-122"/>
                <a:cs typeface="微软雅黑" pitchFamily="34" charset="-120"/>
              </a:rPr>
              <a:t>编排层 (1)</a:t>
            </a:r>
            <a:endParaRPr lang="en-US" b="1" dirty="0">
              <a:solidFill>
                <a:srgbClr val="FFFFFF"/>
              </a:solidFill>
              <a:latin typeface="微软雅黑" pitchFamily="34" charset="-122"/>
              <a:ea typeface="微软雅黑" pitchFamily="34" charset="-122"/>
              <a:cs typeface="微软雅黑" pitchFamily="34" charset="-120"/>
            </a:endParaRPr>
          </a:p>
        </p:txBody>
      </p:sp>
      <p:sp>
        <p:nvSpPr>
          <p:cNvPr id="9" name="Text 5"/>
          <p:cNvSpPr/>
          <p:nvPr/>
        </p:nvSpPr>
        <p:spPr>
          <a:xfrm>
            <a:off x="914400" y="1951951"/>
            <a:ext cx="14427200" cy="2794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b="1" dirty="0">
                <a:solidFill>
                  <a:srgbClr val="FFFFFF">
                    <a:alpha val="80000"/>
                  </a:srgbClr>
                </a:solidFill>
                <a:latin typeface="微软雅黑" pitchFamily="34" charset="-122"/>
                <a:ea typeface="微软雅黑" pitchFamily="34" charset="-122"/>
                <a:cs typeface="微软雅黑" pitchFamily="34" charset="-120"/>
              </a:rPr>
              <a:t>model-infer-optimize</a:t>
            </a:r>
            <a:r>
              <a:rPr lang="en-US" dirty="0">
                <a:solidFill>
                  <a:srgbClr val="FFFFFF">
                    <a:alpha val="80000"/>
                  </a:srgbClr>
                </a:solidFill>
                <a:latin typeface="微软雅黑" pitchFamily="34" charset="-122"/>
                <a:ea typeface="微软雅黑" pitchFamily="34" charset="-122"/>
                <a:cs typeface="微软雅黑" pitchFamily="34" charset="-120"/>
              </a:rPr>
              <a:t> — 总入口，</a:t>
            </a:r>
            <a:r>
              <a:rPr lang="zh-CN" altLang="en-US" dirty="0">
                <a:solidFill>
                  <a:srgbClr val="FFFFFF">
                    <a:alpha val="80000"/>
                  </a:srgbClr>
                </a:solidFill>
                <a:latin typeface="微软雅黑" pitchFamily="34" charset="-122"/>
                <a:ea typeface="微软雅黑" pitchFamily="34" charset="-122"/>
                <a:cs typeface="微软雅黑" pitchFamily="34" charset="-120"/>
              </a:rPr>
              <a:t>编排所有优化流程</a:t>
            </a:r>
            <a:r>
              <a:rPr lang="en-US" dirty="0">
                <a:solidFill>
                  <a:srgbClr val="FFFFFF">
                    <a:alpha val="80000"/>
                  </a:srgbClr>
                </a:solidFill>
                <a:latin typeface="微软雅黑" pitchFamily="34" charset="-122"/>
                <a:ea typeface="微软雅黑" pitchFamily="34" charset="-122"/>
                <a:cs typeface="微软雅黑" pitchFamily="34" charset="-120"/>
              </a:rPr>
              <a:t>与统一门禁调度</a:t>
            </a:r>
            <a:endParaRPr lang="en-US" dirty="0">
              <a:solidFill>
                <a:srgbClr val="FFFFFF">
                  <a:alpha val="80000"/>
                </a:srgbClr>
              </a:solidFill>
              <a:latin typeface="微软雅黑" pitchFamily="34" charset="-122"/>
              <a:ea typeface="微软雅黑" pitchFamily="34" charset="-122"/>
              <a:cs typeface="微软雅黑" pitchFamily="34" charset="-120"/>
            </a:endParaRPr>
          </a:p>
        </p:txBody>
      </p:sp>
      <p:sp>
        <p:nvSpPr>
          <p:cNvPr id="10" name="Shape 6"/>
          <p:cNvSpPr/>
          <p:nvPr/>
        </p:nvSpPr>
        <p:spPr>
          <a:xfrm>
            <a:off x="762000" y="2717126"/>
            <a:ext cx="14732000" cy="1697355"/>
          </a:xfrm>
          <a:prstGeom prst="rect">
            <a:avLst/>
          </a:prstGeom>
          <a:solidFill>
            <a:srgbClr val="404040">
              <a:alpha val="20000"/>
            </a:srgbClr>
          </a:solidFill>
        </p:spPr>
        <p:txBody>
          <a:bodyPr/>
          <a:lstStyle/>
          <a:p>
            <a:endParaRPr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1" name="Text 7"/>
          <p:cNvSpPr/>
          <p:nvPr/>
        </p:nvSpPr>
        <p:spPr>
          <a:xfrm>
            <a:off x="914400" y="2837141"/>
            <a:ext cx="2032000" cy="2794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b="1" dirty="0">
                <a:solidFill>
                  <a:srgbClr val="333333"/>
                </a:solidFill>
                <a:latin typeface="微软雅黑" pitchFamily="34" charset="-122"/>
                <a:ea typeface="微软雅黑" pitchFamily="34" charset="-122"/>
                <a:cs typeface="微软雅黑" pitchFamily="34" charset="-120"/>
              </a:rPr>
              <a:t>主流程层 (7)</a:t>
            </a:r>
            <a:endParaRPr lang="en-US" sz="1600" b="1" dirty="0">
              <a:solidFill>
                <a:srgbClr val="333333"/>
              </a:solidFill>
              <a:latin typeface="微软雅黑" pitchFamily="34" charset="-122"/>
              <a:ea typeface="微软雅黑" pitchFamily="34" charset="-122"/>
              <a:cs typeface="微软雅黑" pitchFamily="34" charset="-120"/>
            </a:endParaRPr>
          </a:p>
        </p:txBody>
      </p:sp>
      <p:sp>
        <p:nvSpPr>
          <p:cNvPr id="12" name="Text 8"/>
          <p:cNvSpPr/>
          <p:nvPr/>
        </p:nvSpPr>
        <p:spPr>
          <a:xfrm>
            <a:off x="914400" y="3337521"/>
            <a:ext cx="14427200" cy="6350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>
              <a:lnSpc>
                <a:spcPct val="140000"/>
              </a:lnSpc>
            </a:pPr>
            <a:r>
              <a:rPr lang="en-US" b="1" dirty="0">
                <a:solidFill>
                  <a:srgbClr val="333333"/>
                </a:solidFill>
                <a:latin typeface="微软雅黑" pitchFamily="34" charset="-122"/>
                <a:ea typeface="微软雅黑" pitchFamily="34" charset="-122"/>
                <a:cs typeface="微软雅黑" pitchFamily="34" charset="-120"/>
              </a:rPr>
              <a:t>migrator</a:t>
            </a:r>
            <a:r>
              <a:rPr lang="en-US" dirty="0">
                <a:solidFill>
                  <a:srgbClr val="333333"/>
                </a:solidFill>
                <a:latin typeface="微软雅黑" pitchFamily="34" charset="-122"/>
                <a:ea typeface="微软雅黑" pitchFamily="34" charset="-122"/>
                <a:cs typeface="微软雅黑" pitchFamily="34" charset="-120"/>
              </a:rPr>
              <a:t> NPU</a:t>
            </a:r>
            <a:r>
              <a:rPr lang="zh-CN" altLang="en-US" dirty="0">
                <a:solidFill>
                  <a:srgbClr val="333333"/>
                </a:solidFill>
                <a:latin typeface="微软雅黑" pitchFamily="34" charset="-122"/>
                <a:ea typeface="微软雅黑" pitchFamily="34" charset="-122"/>
                <a:cs typeface="微软雅黑" pitchFamily="34" charset="-120"/>
              </a:rPr>
              <a:t>环境部署</a:t>
            </a:r>
            <a:r>
              <a:rPr lang="en-US" altLang="zh-CN" dirty="0">
                <a:solidFill>
                  <a:srgbClr val="333333"/>
                </a:solidFill>
                <a:latin typeface="微软雅黑" pitchFamily="34" charset="-122"/>
                <a:ea typeface="微软雅黑" pitchFamily="34" charset="-122"/>
                <a:cs typeface="微软雅黑" pitchFamily="34" charset="-120"/>
              </a:rPr>
              <a:t> + </a:t>
            </a:r>
            <a:r>
              <a:rPr lang="zh-CN" altLang="en-US" dirty="0">
                <a:solidFill>
                  <a:srgbClr val="333333"/>
                </a:solidFill>
                <a:latin typeface="微软雅黑" pitchFamily="34" charset="-122"/>
                <a:ea typeface="微软雅黑" pitchFamily="34" charset="-122"/>
                <a:cs typeface="微软雅黑" pitchFamily="34" charset="-120"/>
              </a:rPr>
              <a:t>基线采集</a:t>
            </a:r>
            <a:r>
              <a:rPr lang="en-US" dirty="0">
                <a:solidFill>
                  <a:srgbClr val="333333"/>
                </a:solidFill>
                <a:latin typeface="微软雅黑" pitchFamily="34" charset="-122"/>
                <a:ea typeface="微软雅黑" pitchFamily="34" charset="-122"/>
                <a:cs typeface="微软雅黑" pitchFamily="34" charset="-120"/>
              </a:rPr>
              <a:t> | </a:t>
            </a:r>
            <a:r>
              <a:rPr lang="en-US" b="1" dirty="0">
                <a:solidFill>
                  <a:srgbClr val="333333"/>
                </a:solidFill>
                <a:latin typeface="微软雅黑" pitchFamily="34" charset="-122"/>
                <a:ea typeface="微软雅黑" pitchFamily="34" charset="-122"/>
                <a:cs typeface="微软雅黑" pitchFamily="34" charset="-120"/>
              </a:rPr>
              <a:t>parallel-analysis</a:t>
            </a:r>
            <a:r>
              <a:rPr lang="en-US" dirty="0">
                <a:solidFill>
                  <a:srgbClr val="333333"/>
                </a:solidFill>
                <a:latin typeface="微软雅黑" pitchFamily="34" charset="-122"/>
                <a:ea typeface="微软雅黑" pitchFamily="34" charset="-122"/>
                <a:cs typeface="微软雅黑" pitchFamily="34" charset="-120"/>
              </a:rPr>
              <a:t> 并行策略</a:t>
            </a:r>
            <a:r>
              <a:rPr lang="zh-CN" altLang="en-US" dirty="0">
                <a:solidFill>
                  <a:srgbClr val="333333"/>
                </a:solidFill>
                <a:latin typeface="微软雅黑" pitchFamily="34" charset="-122"/>
                <a:ea typeface="微软雅黑" pitchFamily="34" charset="-122"/>
                <a:cs typeface="微软雅黑" pitchFamily="34" charset="-120"/>
              </a:rPr>
              <a:t>分析</a:t>
            </a:r>
            <a:r>
              <a:rPr lang="en-US" dirty="0">
                <a:solidFill>
                  <a:srgbClr val="333333"/>
                </a:solidFill>
                <a:latin typeface="微软雅黑" pitchFamily="34" charset="-122"/>
                <a:ea typeface="微软雅黑" pitchFamily="34" charset="-122"/>
                <a:cs typeface="微软雅黑" pitchFamily="34" charset="-120"/>
              </a:rPr>
              <a:t> | </a:t>
            </a:r>
            <a:r>
              <a:rPr lang="en-US" b="1" dirty="0">
                <a:solidFill>
                  <a:srgbClr val="333333"/>
                </a:solidFill>
                <a:latin typeface="微软雅黑" pitchFamily="34" charset="-122"/>
                <a:ea typeface="微软雅黑" pitchFamily="34" charset="-122"/>
                <a:cs typeface="微软雅黑" pitchFamily="34" charset="-120"/>
              </a:rPr>
              <a:t>parallel-impl</a:t>
            </a:r>
            <a:r>
              <a:rPr lang="en-US" dirty="0">
                <a:solidFill>
                  <a:srgbClr val="333333"/>
                </a:solidFill>
                <a:latin typeface="微软雅黑" pitchFamily="34" charset="-122"/>
                <a:ea typeface="微软雅黑" pitchFamily="34" charset="-122"/>
                <a:cs typeface="微软雅黑" pitchFamily="34" charset="-120"/>
              </a:rPr>
              <a:t> </a:t>
            </a:r>
            <a:r>
              <a:rPr lang="zh-CN" altLang="en-US" dirty="0">
                <a:solidFill>
                  <a:srgbClr val="333333"/>
                </a:solidFill>
                <a:latin typeface="微软雅黑" pitchFamily="34" charset="-122"/>
                <a:ea typeface="微软雅黑" pitchFamily="34" charset="-122"/>
                <a:cs typeface="微软雅黑" pitchFamily="34" charset="-120"/>
              </a:rPr>
              <a:t>并行切分改造</a:t>
            </a:r>
            <a:r>
              <a:rPr lang="en-US" dirty="0">
                <a:solidFill>
                  <a:srgbClr val="333333"/>
                </a:solidFill>
                <a:latin typeface="微软雅黑" pitchFamily="34" charset="-122"/>
                <a:ea typeface="微软雅黑" pitchFamily="34" charset="-122"/>
                <a:cs typeface="微软雅黑" pitchFamily="34" charset="-120"/>
              </a:rPr>
              <a:t> | </a:t>
            </a:r>
            <a:r>
              <a:rPr lang="en-US" b="1" dirty="0">
                <a:solidFill>
                  <a:srgbClr val="333333"/>
                </a:solidFill>
                <a:latin typeface="微软雅黑" pitchFamily="34" charset="-122"/>
                <a:ea typeface="微软雅黑" pitchFamily="34" charset="-122"/>
                <a:cs typeface="微软雅黑" pitchFamily="34" charset="-120"/>
              </a:rPr>
              <a:t>kvcache</a:t>
            </a:r>
            <a:r>
              <a:rPr lang="en-US" dirty="0">
                <a:solidFill>
                  <a:srgbClr val="333333"/>
                </a:solidFill>
                <a:latin typeface="微软雅黑" pitchFamily="34" charset="-122"/>
                <a:ea typeface="微软雅黑" pitchFamily="34" charset="-122"/>
                <a:cs typeface="微软雅黑" pitchFamily="34" charset="-120"/>
              </a:rPr>
              <a:t> 缓存改造 + FA</a:t>
            </a:r>
            <a:r>
              <a:rPr lang="zh-CN" altLang="en-US" dirty="0">
                <a:solidFill>
                  <a:srgbClr val="333333"/>
                </a:solidFill>
                <a:latin typeface="微软雅黑" pitchFamily="34" charset="-122"/>
                <a:ea typeface="微软雅黑" pitchFamily="34" charset="-122"/>
                <a:cs typeface="微软雅黑" pitchFamily="34" charset="-120"/>
              </a:rPr>
              <a:t>适配</a:t>
            </a:r>
            <a:endParaRPr lang="en-US" dirty="0">
              <a:latin typeface="微软雅黑" pitchFamily="34" charset="-122"/>
              <a:ea typeface="微软雅黑" pitchFamily="34" charset="-122"/>
            </a:endParaRPr>
          </a:p>
          <a:p>
            <a:pPr>
              <a:lnSpc>
                <a:spcPct val="140000"/>
              </a:lnSpc>
            </a:pPr>
            <a:r>
              <a:rPr lang="en-US" b="1" dirty="0">
                <a:solidFill>
                  <a:srgbClr val="333333"/>
                </a:solidFill>
                <a:latin typeface="微软雅黑" pitchFamily="34" charset="-122"/>
                <a:ea typeface="微软雅黑" pitchFamily="34" charset="-122"/>
                <a:cs typeface="微软雅黑" pitchFamily="34" charset="-120"/>
              </a:rPr>
              <a:t>fusion</a:t>
            </a:r>
            <a:r>
              <a:rPr lang="en-US" dirty="0">
                <a:solidFill>
                  <a:srgbClr val="333333"/>
                </a:solidFill>
                <a:latin typeface="微软雅黑" pitchFamily="34" charset="-122"/>
                <a:ea typeface="微软雅黑" pitchFamily="34" charset="-122"/>
                <a:cs typeface="微软雅黑" pitchFamily="34" charset="-120"/>
              </a:rPr>
              <a:t> 融合算子</a:t>
            </a:r>
            <a:r>
              <a:rPr lang="zh-CN" altLang="en-US" dirty="0">
                <a:solidFill>
                  <a:srgbClr val="333333"/>
                </a:solidFill>
                <a:latin typeface="微软雅黑" pitchFamily="34" charset="-122"/>
                <a:ea typeface="微软雅黑" pitchFamily="34" charset="-122"/>
                <a:cs typeface="微软雅黑" pitchFamily="34" charset="-120"/>
              </a:rPr>
              <a:t>替换</a:t>
            </a:r>
            <a:r>
              <a:rPr lang="en-US" dirty="0">
                <a:solidFill>
                  <a:srgbClr val="333333"/>
                </a:solidFill>
                <a:latin typeface="微软雅黑" pitchFamily="34" charset="-122"/>
                <a:ea typeface="微软雅黑" pitchFamily="34" charset="-122"/>
                <a:cs typeface="微软雅黑" pitchFamily="34" charset="-120"/>
              </a:rPr>
              <a:t> | </a:t>
            </a:r>
            <a:r>
              <a:rPr lang="en-US" b="1" dirty="0">
                <a:solidFill>
                  <a:srgbClr val="333333"/>
                </a:solidFill>
                <a:latin typeface="微软雅黑" pitchFamily="34" charset="-122"/>
                <a:ea typeface="微软雅黑" pitchFamily="34" charset="-122"/>
                <a:cs typeface="微软雅黑" pitchFamily="34" charset="-120"/>
              </a:rPr>
              <a:t>quantization</a:t>
            </a:r>
            <a:r>
              <a:rPr lang="en-US" dirty="0">
                <a:solidFill>
                  <a:srgbClr val="333333"/>
                </a:solidFill>
                <a:latin typeface="微软雅黑" pitchFamily="34" charset="-122"/>
                <a:ea typeface="微软雅黑" pitchFamily="34" charset="-122"/>
                <a:cs typeface="微软雅黑" pitchFamily="34" charset="-120"/>
              </a:rPr>
              <a:t> 量化</a:t>
            </a:r>
            <a:r>
              <a:rPr lang="zh-CN" altLang="en-US" dirty="0">
                <a:solidFill>
                  <a:srgbClr val="333333"/>
                </a:solidFill>
                <a:latin typeface="微软雅黑" pitchFamily="34" charset="-122"/>
                <a:ea typeface="微软雅黑" pitchFamily="34" charset="-122"/>
                <a:cs typeface="微软雅黑" pitchFamily="34" charset="-120"/>
              </a:rPr>
              <a:t>方案</a:t>
            </a:r>
            <a:r>
              <a:rPr lang="en-US" dirty="0">
                <a:solidFill>
                  <a:srgbClr val="333333"/>
                </a:solidFill>
                <a:latin typeface="微软雅黑" pitchFamily="34" charset="-122"/>
                <a:ea typeface="微软雅黑" pitchFamily="34" charset="-122"/>
                <a:cs typeface="微软雅黑" pitchFamily="34" charset="-120"/>
              </a:rPr>
              <a:t>适配 | </a:t>
            </a:r>
            <a:r>
              <a:rPr lang="en-US" b="1" dirty="0">
                <a:solidFill>
                  <a:srgbClr val="333333"/>
                </a:solidFill>
                <a:latin typeface="微软雅黑" pitchFamily="34" charset="-122"/>
                <a:ea typeface="微软雅黑" pitchFamily="34" charset="-122"/>
                <a:cs typeface="微软雅黑" pitchFamily="34" charset="-120"/>
              </a:rPr>
              <a:t>graph-mode</a:t>
            </a:r>
            <a:r>
              <a:rPr lang="en-US" dirty="0">
                <a:solidFill>
                  <a:srgbClr val="333333"/>
                </a:solidFill>
                <a:latin typeface="微软雅黑" pitchFamily="34" charset="-122"/>
                <a:ea typeface="微软雅黑" pitchFamily="34" charset="-122"/>
                <a:cs typeface="微软雅黑" pitchFamily="34" charset="-120"/>
              </a:rPr>
              <a:t> 图模式</a:t>
            </a:r>
            <a:r>
              <a:rPr lang="zh-CN" altLang="en-US" dirty="0">
                <a:solidFill>
                  <a:srgbClr val="333333"/>
                </a:solidFill>
                <a:latin typeface="微软雅黑" pitchFamily="34" charset="-122"/>
                <a:ea typeface="微软雅黑" pitchFamily="34" charset="-122"/>
                <a:cs typeface="微软雅黑" pitchFamily="34" charset="-120"/>
              </a:rPr>
              <a:t>适配</a:t>
            </a:r>
            <a:endParaRPr lang="zh-CN" altLang="en-US" dirty="0">
              <a:solidFill>
                <a:srgbClr val="333333"/>
              </a:solidFill>
              <a:latin typeface="微软雅黑" pitchFamily="34" charset="-122"/>
              <a:ea typeface="微软雅黑" pitchFamily="34" charset="-122"/>
              <a:cs typeface="微软雅黑" pitchFamily="34" charset="-120"/>
            </a:endParaRPr>
          </a:p>
        </p:txBody>
      </p:sp>
      <p:sp>
        <p:nvSpPr>
          <p:cNvPr id="13" name="Shape 9"/>
          <p:cNvSpPr/>
          <p:nvPr/>
        </p:nvSpPr>
        <p:spPr>
          <a:xfrm>
            <a:off x="762000" y="4541481"/>
            <a:ext cx="14732000" cy="1016000"/>
          </a:xfrm>
          <a:prstGeom prst="rect">
            <a:avLst/>
          </a:prstGeom>
          <a:solidFill>
            <a:srgbClr val="F2F2F2"/>
          </a:solidFill>
        </p:spPr>
        <p:txBody>
          <a:bodyPr/>
          <a:lstStyle/>
          <a:p>
            <a:endParaRPr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4" name="Text 10"/>
          <p:cNvSpPr/>
          <p:nvPr/>
        </p:nvSpPr>
        <p:spPr>
          <a:xfrm>
            <a:off x="914400" y="4592281"/>
            <a:ext cx="1778000" cy="2794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b="1" dirty="0">
                <a:solidFill>
                  <a:srgbClr val="7F7F7F"/>
                </a:solidFill>
                <a:latin typeface="微软雅黑" pitchFamily="34" charset="-122"/>
                <a:ea typeface="微软雅黑" pitchFamily="34" charset="-122"/>
                <a:cs typeface="微软雅黑" pitchFamily="34" charset="-120"/>
              </a:rPr>
              <a:t>调试层 (2)</a:t>
            </a:r>
            <a:endParaRPr lang="en-US" sz="1600" b="1" dirty="0">
              <a:solidFill>
                <a:srgbClr val="7F7F7F"/>
              </a:solidFill>
              <a:latin typeface="微软雅黑" pitchFamily="34" charset="-122"/>
              <a:ea typeface="微软雅黑" pitchFamily="34" charset="-122"/>
              <a:cs typeface="微软雅黑" pitchFamily="34" charset="-120"/>
            </a:endParaRPr>
          </a:p>
        </p:txBody>
      </p:sp>
      <p:sp>
        <p:nvSpPr>
          <p:cNvPr id="35" name="Text 11"/>
          <p:cNvSpPr/>
          <p:nvPr/>
        </p:nvSpPr>
        <p:spPr>
          <a:xfrm>
            <a:off x="914400" y="4897081"/>
            <a:ext cx="9035716" cy="6350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>
              <a:lnSpc>
                <a:spcPct val="140000"/>
              </a:lnSpc>
            </a:pPr>
            <a:r>
              <a:rPr lang="en-US" b="1" dirty="0">
                <a:solidFill>
                  <a:srgbClr val="333333"/>
                </a:solidFill>
                <a:latin typeface="微软雅黑" pitchFamily="34" charset="-122"/>
                <a:ea typeface="微软雅黑" pitchFamily="34" charset="-122"/>
                <a:cs typeface="微软雅黑" pitchFamily="34" charset="-120"/>
              </a:rPr>
              <a:t>precision-debug</a:t>
            </a:r>
            <a:r>
              <a:rPr lang="en-US" dirty="0">
                <a:solidFill>
                  <a:srgbClr val="333333"/>
                </a:solidFill>
                <a:latin typeface="微软雅黑" pitchFamily="34" charset="-122"/>
                <a:ea typeface="微软雅黑" pitchFamily="34" charset="-122"/>
                <a:cs typeface="微软雅黑" pitchFamily="34" charset="-120"/>
              </a:rPr>
              <a:t> 精度问题排查 | </a:t>
            </a:r>
            <a:r>
              <a:rPr lang="en-US" b="1" dirty="0">
                <a:solidFill>
                  <a:srgbClr val="333333"/>
                </a:solidFill>
                <a:latin typeface="微软雅黑" pitchFamily="34" charset="-122"/>
                <a:ea typeface="微软雅黑" pitchFamily="34" charset="-122"/>
                <a:cs typeface="微软雅黑" pitchFamily="34" charset="-120"/>
              </a:rPr>
              <a:t>runtime-debug</a:t>
            </a:r>
            <a:r>
              <a:rPr lang="en-US" dirty="0">
                <a:solidFill>
                  <a:srgbClr val="333333"/>
                </a:solidFill>
                <a:latin typeface="微软雅黑" pitchFamily="34" charset="-122"/>
                <a:ea typeface="微软雅黑" pitchFamily="34" charset="-122"/>
                <a:cs typeface="微软雅黑" pitchFamily="34" charset="-120"/>
              </a:rPr>
              <a:t> NPU 运行时错误诊断</a:t>
            </a:r>
            <a:endParaRPr lang="en-US" dirty="0">
              <a:solidFill>
                <a:srgbClr val="333333"/>
              </a:solidFill>
              <a:latin typeface="微软雅黑" pitchFamily="34" charset="-122"/>
              <a:ea typeface="微软雅黑" pitchFamily="34" charset="-122"/>
              <a:cs typeface="微软雅黑" pitchFamily="34" charset="-120"/>
            </a:endParaRPr>
          </a:p>
        </p:txBody>
      </p:sp>
      <p:sp>
        <p:nvSpPr>
          <p:cNvPr id="22" name="Text 21"/>
          <p:cNvSpPr/>
          <p:nvPr/>
        </p:nvSpPr>
        <p:spPr>
          <a:xfrm>
            <a:off x="1270000" y="6202696"/>
            <a:ext cx="6350000" cy="3302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altLang="zh-CN" sz="1800" b="1" dirty="0">
                <a:solidFill>
                  <a:srgbClr val="333333"/>
                </a:solidFill>
                <a:latin typeface="微软雅黑" pitchFamily="34" charset="-122"/>
                <a:ea typeface="微软雅黑" pitchFamily="34" charset="-122"/>
                <a:cs typeface="微软雅黑" pitchFamily="34" charset="-120"/>
              </a:rPr>
              <a:t>Agent </a:t>
            </a:r>
            <a:r>
              <a:rPr lang="zh-CN" altLang="en-US" sz="1800" b="1" dirty="0">
                <a:solidFill>
                  <a:srgbClr val="333333"/>
                </a:solidFill>
                <a:latin typeface="微软雅黑" pitchFamily="34" charset="-122"/>
                <a:ea typeface="微软雅黑" pitchFamily="34" charset="-122"/>
                <a:cs typeface="微软雅黑" pitchFamily="34" charset="-120"/>
              </a:rPr>
              <a:t>端到端工作流 </a:t>
            </a:r>
            <a:r>
              <a:rPr lang="en-US" altLang="zh-CN" sz="1800" b="1" dirty="0">
                <a:solidFill>
                  <a:srgbClr val="333333"/>
                </a:solidFill>
                <a:latin typeface="微软雅黑" pitchFamily="34" charset="-122"/>
                <a:ea typeface="微软雅黑" pitchFamily="34" charset="-122"/>
                <a:cs typeface="微软雅黑" pitchFamily="34" charset="-120"/>
              </a:rPr>
              <a:t>—— </a:t>
            </a:r>
            <a:r>
              <a:rPr lang="zh-CN" altLang="en-US" sz="1800" b="1" dirty="0">
                <a:solidFill>
                  <a:srgbClr val="333333"/>
                </a:solidFill>
                <a:latin typeface="微软雅黑" pitchFamily="34" charset="-122"/>
                <a:ea typeface="微软雅黑" pitchFamily="34" charset="-122"/>
                <a:cs typeface="微软雅黑" pitchFamily="34" charset="-120"/>
              </a:rPr>
              <a:t>稳定实现基础部署优化闭环</a:t>
            </a:r>
            <a:endParaRPr lang="zh-CN" altLang="en-US" sz="1800" b="1" dirty="0">
              <a:solidFill>
                <a:srgbClr val="333333"/>
              </a:solidFill>
              <a:latin typeface="微软雅黑" pitchFamily="34" charset="-122"/>
              <a:ea typeface="微软雅黑" pitchFamily="34" charset="-122"/>
              <a:cs typeface="微软雅黑" pitchFamily="34" charset="-120"/>
            </a:endParaRPr>
          </a:p>
        </p:txBody>
      </p:sp>
      <p:sp>
        <p:nvSpPr>
          <p:cNvPr id="23" name="Text 22"/>
          <p:cNvSpPr/>
          <p:nvPr/>
        </p:nvSpPr>
        <p:spPr>
          <a:xfrm>
            <a:off x="922421" y="6482080"/>
            <a:ext cx="7586579" cy="1651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171450" indent="-171450">
              <a:lnSpc>
                <a:spcPct val="150000"/>
              </a:lnSpc>
              <a:buFont typeface="Arial" panose="020B0604020202090204" pitchFamily="34" charset="0"/>
              <a:buChar char="•"/>
            </a:pPr>
            <a:r>
              <a:rPr lang="zh-CN" altLang="en-US" sz="1600" dirty="0">
                <a:solidFill>
                  <a:srgbClr val="252B3A"/>
                </a:solidFill>
                <a:latin typeface="微软雅黑" pitchFamily="34" charset="-122"/>
                <a:ea typeface="微软雅黑" pitchFamily="34" charset="-122"/>
              </a:rPr>
              <a:t>覆盖模型迁移适配、并行切分、</a:t>
            </a:r>
            <a:r>
              <a:rPr lang="en-US" altLang="zh-CN" sz="1600" dirty="0" err="1">
                <a:solidFill>
                  <a:srgbClr val="252B3A"/>
                </a:solidFill>
                <a:latin typeface="微软雅黑" pitchFamily="34" charset="-122"/>
                <a:ea typeface="微软雅黑" pitchFamily="34" charset="-122"/>
              </a:rPr>
              <a:t>KVCache</a:t>
            </a:r>
            <a:r>
              <a:rPr lang="en-US" altLang="zh-CN" sz="1600" dirty="0">
                <a:solidFill>
                  <a:srgbClr val="252B3A"/>
                </a:solidFill>
                <a:latin typeface="微软雅黑" pitchFamily="34" charset="-122"/>
                <a:ea typeface="微软雅黑" pitchFamily="34" charset="-122"/>
              </a:rPr>
              <a:t> </a:t>
            </a:r>
            <a:r>
              <a:rPr lang="zh-CN" altLang="en-US" sz="1600" dirty="0">
                <a:solidFill>
                  <a:srgbClr val="252B3A"/>
                </a:solidFill>
                <a:latin typeface="微软雅黑" pitchFamily="34" charset="-122"/>
                <a:ea typeface="微软雅黑" pitchFamily="34" charset="-122"/>
              </a:rPr>
              <a:t>优化、融合算子替换、量化、图模式适配、</a:t>
            </a:r>
            <a:r>
              <a:rPr lang="en-US" altLang="zh-CN" sz="1600" dirty="0">
                <a:solidFill>
                  <a:srgbClr val="252B3A"/>
                </a:solidFill>
                <a:latin typeface="微软雅黑" pitchFamily="34" charset="-122"/>
                <a:ea typeface="微软雅黑" pitchFamily="34" charset="-122"/>
              </a:rPr>
              <a:t>debug </a:t>
            </a:r>
            <a:r>
              <a:rPr lang="zh-CN" altLang="en-US" sz="1600" dirty="0">
                <a:solidFill>
                  <a:srgbClr val="252B3A"/>
                </a:solidFill>
                <a:latin typeface="微软雅黑" pitchFamily="34" charset="-122"/>
                <a:ea typeface="微软雅黑" pitchFamily="34" charset="-122"/>
              </a:rPr>
              <a:t>调试等 </a:t>
            </a:r>
            <a:r>
              <a:rPr lang="en-US" altLang="zh-CN" sz="1600" dirty="0">
                <a:solidFill>
                  <a:srgbClr val="252B3A"/>
                </a:solidFill>
                <a:latin typeface="微软雅黑" pitchFamily="34" charset="-122"/>
                <a:ea typeface="微软雅黑" pitchFamily="34" charset="-122"/>
              </a:rPr>
              <a:t>CANN </a:t>
            </a:r>
            <a:r>
              <a:rPr lang="zh-CN" altLang="en-US" sz="1600" dirty="0">
                <a:solidFill>
                  <a:srgbClr val="252B3A"/>
                </a:solidFill>
                <a:latin typeface="微软雅黑" pitchFamily="34" charset="-122"/>
                <a:ea typeface="微软雅黑" pitchFamily="34" charset="-122"/>
              </a:rPr>
              <a:t>原子化优化特性，支持新模型一键式</a:t>
            </a:r>
            <a:r>
              <a:rPr lang="en-US" altLang="zh-CN" sz="1600" dirty="0">
                <a:solidFill>
                  <a:srgbClr val="252B3A"/>
                </a:solidFill>
                <a:latin typeface="微软雅黑" pitchFamily="34" charset="-122"/>
                <a:ea typeface="微软雅黑" pitchFamily="34" charset="-122"/>
              </a:rPr>
              <a:t>NPU</a:t>
            </a:r>
            <a:r>
              <a:rPr lang="zh-CN" altLang="en-US" sz="1600" dirty="0">
                <a:solidFill>
                  <a:srgbClr val="252B3A"/>
                </a:solidFill>
                <a:latin typeface="微软雅黑" pitchFamily="34" charset="-122"/>
                <a:ea typeface="微软雅黑" pitchFamily="34" charset="-122"/>
              </a:rPr>
              <a:t>部署优化。</a:t>
            </a:r>
            <a:endParaRPr lang="en-US" altLang="zh-CN" sz="1600" dirty="0">
              <a:solidFill>
                <a:srgbClr val="252B3A"/>
              </a:solidFill>
              <a:latin typeface="微软雅黑" pitchFamily="34" charset="-122"/>
              <a:ea typeface="微软雅黑" pitchFamily="34" charset="-122"/>
            </a:endParaRPr>
          </a:p>
          <a:p>
            <a:pPr marL="171450" indent="-171450">
              <a:lnSpc>
                <a:spcPct val="150000"/>
              </a:lnSpc>
              <a:buFont typeface="Arial" panose="020B0604020202090204" pitchFamily="34" charset="0"/>
              <a:buChar char="•"/>
            </a:pPr>
            <a:r>
              <a:rPr lang="zh-CN" altLang="en-US" sz="1600" dirty="0">
                <a:solidFill>
                  <a:srgbClr val="252B3A"/>
                </a:solidFill>
                <a:latin typeface="微软雅黑" pitchFamily="34" charset="-122"/>
                <a:ea typeface="微软雅黑" pitchFamily="34" charset="-122"/>
              </a:rPr>
              <a:t>通过完善的</a:t>
            </a:r>
            <a:r>
              <a:rPr lang="en-US" altLang="zh-CN" sz="1600" dirty="0">
                <a:solidFill>
                  <a:srgbClr val="252B3A"/>
                </a:solidFill>
                <a:latin typeface="微软雅黑" pitchFamily="34" charset="-122"/>
                <a:ea typeface="微软雅黑" pitchFamily="34" charset="-122"/>
              </a:rPr>
              <a:t>Harness </a:t>
            </a:r>
            <a:r>
              <a:rPr lang="zh-CN" altLang="en-US" sz="1600" dirty="0">
                <a:solidFill>
                  <a:srgbClr val="252B3A"/>
                </a:solidFill>
                <a:latin typeface="微软雅黑" pitchFamily="34" charset="-122"/>
                <a:ea typeface="微软雅黑" pitchFamily="34" charset="-122"/>
              </a:rPr>
              <a:t>约束机制，包括 </a:t>
            </a:r>
            <a:r>
              <a:rPr lang="en-US" altLang="zh-CN" sz="1600" dirty="0">
                <a:solidFill>
                  <a:srgbClr val="252B3A"/>
                </a:solidFill>
                <a:latin typeface="微软雅黑" pitchFamily="34" charset="-122"/>
                <a:ea typeface="微软雅黑" pitchFamily="34" charset="-122"/>
              </a:rPr>
              <a:t>Agent team </a:t>
            </a:r>
            <a:r>
              <a:rPr lang="zh-CN" altLang="en-US" sz="1600" dirty="0">
                <a:solidFill>
                  <a:srgbClr val="252B3A"/>
                </a:solidFill>
                <a:latin typeface="微软雅黑" pitchFamily="34" charset="-122"/>
                <a:ea typeface="微软雅黑" pitchFamily="34" charset="-122"/>
              </a:rPr>
              <a:t>角色分工、</a:t>
            </a:r>
            <a:r>
              <a:rPr lang="en-US" altLang="zh-CN" sz="1600" dirty="0">
                <a:solidFill>
                  <a:srgbClr val="252B3A"/>
                </a:solidFill>
                <a:latin typeface="微软雅黑" pitchFamily="34" charset="-122"/>
                <a:ea typeface="微软雅黑" pitchFamily="34" charset="-122"/>
              </a:rPr>
              <a:t>Progress </a:t>
            </a:r>
            <a:r>
              <a:rPr lang="zh-CN" altLang="en-US" sz="1600" dirty="0">
                <a:solidFill>
                  <a:srgbClr val="252B3A"/>
                </a:solidFill>
                <a:latin typeface="微软雅黑" pitchFamily="34" charset="-122"/>
                <a:ea typeface="微软雅黑" pitchFamily="34" charset="-122"/>
              </a:rPr>
              <a:t>状态同步、</a:t>
            </a:r>
            <a:r>
              <a:rPr lang="en-US" altLang="zh-CN" sz="1600" dirty="0">
                <a:solidFill>
                  <a:srgbClr val="252B3A"/>
                </a:solidFill>
                <a:latin typeface="微软雅黑" pitchFamily="34" charset="-122"/>
                <a:ea typeface="微软雅黑" pitchFamily="34" charset="-122"/>
              </a:rPr>
              <a:t>Hook </a:t>
            </a:r>
            <a:r>
              <a:rPr lang="zh-CN" altLang="en-US" sz="1600" dirty="0">
                <a:solidFill>
                  <a:srgbClr val="252B3A"/>
                </a:solidFill>
                <a:latin typeface="微软雅黑" pitchFamily="34" charset="-122"/>
                <a:ea typeface="微软雅黑" pitchFamily="34" charset="-122"/>
              </a:rPr>
              <a:t>约束和验证门禁，确保 </a:t>
            </a:r>
            <a:r>
              <a:rPr lang="en-US" altLang="zh-CN" sz="1600" dirty="0">
                <a:solidFill>
                  <a:srgbClr val="252B3A"/>
                </a:solidFill>
                <a:latin typeface="微软雅黑" pitchFamily="34" charset="-122"/>
                <a:ea typeface="微软雅黑" pitchFamily="34" charset="-122"/>
              </a:rPr>
              <a:t>Agent </a:t>
            </a:r>
            <a:r>
              <a:rPr lang="zh-CN" altLang="en-US" sz="1600" dirty="0">
                <a:solidFill>
                  <a:srgbClr val="252B3A"/>
                </a:solidFill>
                <a:latin typeface="微软雅黑" pitchFamily="34" charset="-122"/>
                <a:ea typeface="微软雅黑" pitchFamily="34" charset="-122"/>
              </a:rPr>
              <a:t>稳定高效完成优化流程。</a:t>
            </a:r>
            <a:endParaRPr lang="en-US" altLang="zh-CN" sz="1600" dirty="0">
              <a:solidFill>
                <a:srgbClr val="252B3A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24" name="Shape 23"/>
          <p:cNvSpPr/>
          <p:nvPr/>
        </p:nvSpPr>
        <p:spPr>
          <a:xfrm>
            <a:off x="922421" y="6231656"/>
            <a:ext cx="279400" cy="279400"/>
          </a:xfrm>
          <a:custGeom>
            <a:avLst/>
            <a:gdLst/>
            <a:ahLst/>
            <a:cxnLst/>
            <a:rect l="l" t="t" r="r" b="b"/>
            <a:pathLst>
              <a:path w="279400" h="279400">
                <a:moveTo>
                  <a:pt x="0" y="43656"/>
                </a:moveTo>
                <a:cubicBezTo>
                  <a:pt x="0" y="29195"/>
                  <a:pt x="11733" y="17463"/>
                  <a:pt x="26194" y="17463"/>
                </a:cubicBezTo>
                <a:lnTo>
                  <a:pt x="78581" y="17463"/>
                </a:lnTo>
                <a:cubicBezTo>
                  <a:pt x="93042" y="17463"/>
                  <a:pt x="104775" y="29195"/>
                  <a:pt x="104775" y="43656"/>
                </a:cubicBezTo>
                <a:lnTo>
                  <a:pt x="104775" y="52388"/>
                </a:lnTo>
                <a:lnTo>
                  <a:pt x="174625" y="52388"/>
                </a:lnTo>
                <a:lnTo>
                  <a:pt x="174625" y="43656"/>
                </a:lnTo>
                <a:cubicBezTo>
                  <a:pt x="174625" y="29195"/>
                  <a:pt x="186358" y="17463"/>
                  <a:pt x="200819" y="17463"/>
                </a:cubicBezTo>
                <a:lnTo>
                  <a:pt x="253206" y="17463"/>
                </a:lnTo>
                <a:cubicBezTo>
                  <a:pt x="267667" y="17463"/>
                  <a:pt x="279400" y="29195"/>
                  <a:pt x="279400" y="43656"/>
                </a:cubicBezTo>
                <a:lnTo>
                  <a:pt x="279400" y="96044"/>
                </a:lnTo>
                <a:cubicBezTo>
                  <a:pt x="279400" y="110505"/>
                  <a:pt x="267667" y="122238"/>
                  <a:pt x="253206" y="122238"/>
                </a:cubicBezTo>
                <a:lnTo>
                  <a:pt x="200819" y="122238"/>
                </a:lnTo>
                <a:cubicBezTo>
                  <a:pt x="186358" y="122238"/>
                  <a:pt x="174625" y="110505"/>
                  <a:pt x="174625" y="96044"/>
                </a:cubicBezTo>
                <a:lnTo>
                  <a:pt x="174625" y="87313"/>
                </a:lnTo>
                <a:lnTo>
                  <a:pt x="104775" y="87313"/>
                </a:lnTo>
                <a:lnTo>
                  <a:pt x="104775" y="96044"/>
                </a:lnTo>
                <a:cubicBezTo>
                  <a:pt x="104775" y="100027"/>
                  <a:pt x="103847" y="103847"/>
                  <a:pt x="102265" y="107231"/>
                </a:cubicBezTo>
                <a:lnTo>
                  <a:pt x="139700" y="157163"/>
                </a:lnTo>
                <a:lnTo>
                  <a:pt x="183356" y="157163"/>
                </a:lnTo>
                <a:cubicBezTo>
                  <a:pt x="197817" y="157163"/>
                  <a:pt x="209550" y="168895"/>
                  <a:pt x="209550" y="183356"/>
                </a:cubicBezTo>
                <a:lnTo>
                  <a:pt x="209550" y="235744"/>
                </a:lnTo>
                <a:cubicBezTo>
                  <a:pt x="209550" y="250205"/>
                  <a:pt x="197817" y="261938"/>
                  <a:pt x="183356" y="261938"/>
                </a:cubicBezTo>
                <a:lnTo>
                  <a:pt x="130969" y="261938"/>
                </a:lnTo>
                <a:cubicBezTo>
                  <a:pt x="116508" y="261938"/>
                  <a:pt x="104775" y="250205"/>
                  <a:pt x="104775" y="235744"/>
                </a:cubicBezTo>
                <a:lnTo>
                  <a:pt x="104775" y="183356"/>
                </a:lnTo>
                <a:cubicBezTo>
                  <a:pt x="104775" y="179373"/>
                  <a:pt x="105703" y="175553"/>
                  <a:pt x="107285" y="172169"/>
                </a:cubicBezTo>
                <a:lnTo>
                  <a:pt x="69850" y="122238"/>
                </a:lnTo>
                <a:lnTo>
                  <a:pt x="26194" y="122238"/>
                </a:lnTo>
                <a:cubicBezTo>
                  <a:pt x="11733" y="122238"/>
                  <a:pt x="0" y="110505"/>
                  <a:pt x="0" y="96044"/>
                </a:cubicBezTo>
                <a:lnTo>
                  <a:pt x="0" y="43656"/>
                </a:lnTo>
                <a:close/>
              </a:path>
            </a:pathLst>
          </a:custGeom>
          <a:solidFill>
            <a:srgbClr val="C00000"/>
          </a:solidFill>
        </p:spPr>
        <p:txBody>
          <a:bodyPr/>
          <a:lstStyle/>
          <a:p>
            <a:endParaRPr>
              <a:latin typeface="微软雅黑" pitchFamily="34" charset="-122"/>
              <a:ea typeface="微软雅黑" pitchFamily="34" charset="-122"/>
            </a:endParaRPr>
          </a:p>
        </p:txBody>
      </p:sp>
    </p:spTree>
  </p:cSld>
  <p:clrMapOvr>
    <a:masterClrMapping/>
  </p:clrMapOvr>
  <p:transition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ext 28"/>
          <p:cNvSpPr/>
          <p:nvPr/>
        </p:nvSpPr>
        <p:spPr>
          <a:xfrm>
            <a:off x="825500" y="8178800"/>
            <a:ext cx="2540000" cy="3302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300" dirty="0">
                <a:solidFill>
                  <a:srgbClr val="7F7F7F"/>
                </a:solidFill>
                <a:latin typeface="微软雅黑" pitchFamily="34" charset="-122"/>
                <a:ea typeface="微软雅黑" pitchFamily="34" charset="-122"/>
                <a:cs typeface="MiSans" pitchFamily="34" charset="-120"/>
              </a:rPr>
              <a:t>https://gitcode.com/cann</a:t>
            </a:r>
            <a:endParaRPr lang="en-US" sz="1300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32" name="Text 29"/>
          <p:cNvSpPr/>
          <p:nvPr/>
        </p:nvSpPr>
        <p:spPr>
          <a:xfrm>
            <a:off x="7620000" y="8178800"/>
            <a:ext cx="1016000" cy="3302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fld id="{CDC0ABD9-9AE4-49CD-9A63-942964C0959C}" type="slidenum">
              <a:rPr lang="en-US" sz="1300" dirty="0">
                <a:solidFill>
                  <a:srgbClr val="7F7F7F"/>
                </a:solidFill>
                <a:latin typeface="微软雅黑" pitchFamily="34" charset="-122"/>
                <a:ea typeface="微软雅黑" pitchFamily="34" charset="-122"/>
                <a:cs typeface="MiSans" pitchFamily="34" charset="-120"/>
              </a:rPr>
            </a:fld>
            <a:endParaRPr lang="en-US" sz="1300" dirty="0">
              <a:latin typeface="微软雅黑" pitchFamily="34" charset="-122"/>
              <a:ea typeface="微软雅黑" pitchFamily="34" charset="-122"/>
            </a:endParaRPr>
          </a:p>
        </p:txBody>
      </p:sp>
      <p:pic>
        <p:nvPicPr>
          <p:cNvPr id="33" name="Image 0" descr="https://kimi-img.moonshot.cn/pub/slides/okc/4rfbomebqqupm/mnt/agents/output/template_pptd/images/image_2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512800" y="8051800"/>
            <a:ext cx="1752600" cy="469900"/>
          </a:xfrm>
          <a:prstGeom prst="rect">
            <a:avLst/>
          </a:prstGeom>
        </p:spPr>
      </p:pic>
      <p:sp>
        <p:nvSpPr>
          <p:cNvPr id="2" name="Text 0"/>
          <p:cNvSpPr/>
          <p:nvPr/>
        </p:nvSpPr>
        <p:spPr>
          <a:xfrm>
            <a:off x="762000" y="355600"/>
            <a:ext cx="11430000" cy="5715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l">
              <a:lnSpc>
                <a:spcPct val="100000"/>
              </a:lnSpc>
            </a:pPr>
            <a:r>
              <a:rPr lang="zh-CN" altLang="en-US" sz="3200" b="1" dirty="0">
                <a:solidFill>
                  <a:srgbClr val="333333"/>
                </a:solidFill>
                <a:latin typeface="微软雅黑" pitchFamily="34" charset="-122"/>
                <a:ea typeface="微软雅黑" pitchFamily="34" charset="-122"/>
                <a:cs typeface="微软雅黑" pitchFamily="34" charset="-120"/>
                <a:sym typeface="+mn-ea"/>
              </a:rPr>
              <a:t>模型</a:t>
            </a:r>
            <a:r>
              <a:rPr lang="en-US" altLang="zh-CN" sz="3200" b="1" dirty="0">
                <a:solidFill>
                  <a:srgbClr val="333333"/>
                </a:solidFill>
                <a:latin typeface="微软雅黑" pitchFamily="34" charset="-122"/>
                <a:ea typeface="微软雅黑" pitchFamily="34" charset="-122"/>
                <a:cs typeface="微软雅黑" pitchFamily="34" charset="-120"/>
                <a:sym typeface="+mn-ea"/>
              </a:rPr>
              <a:t>Agent</a:t>
            </a:r>
            <a:r>
              <a:rPr lang="zh-CN" altLang="en-US" sz="3200" b="1" dirty="0">
                <a:solidFill>
                  <a:srgbClr val="333333"/>
                </a:solidFill>
                <a:latin typeface="微软雅黑" pitchFamily="34" charset="-122"/>
                <a:ea typeface="微软雅黑" pitchFamily="34" charset="-122"/>
                <a:cs typeface="微软雅黑" pitchFamily="34" charset="-120"/>
                <a:sym typeface="+mn-ea"/>
              </a:rPr>
              <a:t>体系</a:t>
            </a:r>
            <a:r>
              <a:rPr lang="en-US" altLang="zh-CN" sz="3200" b="1" dirty="0">
                <a:solidFill>
                  <a:srgbClr val="333333"/>
                </a:solidFill>
                <a:latin typeface="微软雅黑" pitchFamily="34" charset="-122"/>
                <a:ea typeface="微软雅黑" pitchFamily="34" charset="-122"/>
                <a:cs typeface="微软雅黑" pitchFamily="34" charset="-120"/>
                <a:sym typeface="+mn-ea"/>
              </a:rPr>
              <a:t> —— </a:t>
            </a:r>
            <a:r>
              <a:rPr lang="zh-CN" altLang="en-US" sz="3200" b="1" dirty="0">
                <a:solidFill>
                  <a:srgbClr val="333333"/>
                </a:solidFill>
                <a:latin typeface="微软雅黑" pitchFamily="34" charset="-122"/>
                <a:ea typeface="微软雅黑" pitchFamily="34" charset="-122"/>
                <a:cs typeface="微软雅黑" pitchFamily="34" charset="-120"/>
                <a:sym typeface="+mn-ea"/>
              </a:rPr>
              <a:t>基础部署优化</a:t>
            </a:r>
            <a:endParaRPr lang="en-US" sz="3200" b="1" dirty="0">
              <a:solidFill>
                <a:schemeClr val="tx1"/>
              </a:solidFill>
              <a:latin typeface="微软雅黑" pitchFamily="34" charset="-122"/>
              <a:ea typeface="微软雅黑" pitchFamily="34" charset="-122"/>
              <a:cs typeface="微软雅黑" pitchFamily="34" charset="-120"/>
              <a:sym typeface="+mn-ea"/>
            </a:endParaRPr>
          </a:p>
        </p:txBody>
      </p:sp>
      <p:sp>
        <p:nvSpPr>
          <p:cNvPr id="48" name="Shape 46"/>
          <p:cNvSpPr/>
          <p:nvPr/>
        </p:nvSpPr>
        <p:spPr>
          <a:xfrm>
            <a:off x="998538" y="6699250"/>
            <a:ext cx="314325" cy="279400"/>
          </a:xfrm>
          <a:custGeom>
            <a:avLst/>
            <a:gdLst/>
            <a:ahLst/>
            <a:cxnLst/>
            <a:rect l="l" t="t" r="r" b="b"/>
            <a:pathLst>
              <a:path w="314325" h="279400">
                <a:moveTo>
                  <a:pt x="228922" y="52388"/>
                </a:moveTo>
                <a:cubicBezTo>
                  <a:pt x="219864" y="52388"/>
                  <a:pt x="211078" y="54843"/>
                  <a:pt x="203384" y="59318"/>
                </a:cubicBezTo>
                <a:cubicBezTo>
                  <a:pt x="194761" y="50587"/>
                  <a:pt x="184721" y="43274"/>
                  <a:pt x="173643" y="37763"/>
                </a:cubicBezTo>
                <a:cubicBezTo>
                  <a:pt x="189032" y="24666"/>
                  <a:pt x="208622" y="17463"/>
                  <a:pt x="228922" y="17463"/>
                </a:cubicBezTo>
                <a:cubicBezTo>
                  <a:pt x="276071" y="17463"/>
                  <a:pt x="314325" y="55662"/>
                  <a:pt x="314325" y="102865"/>
                </a:cubicBezTo>
                <a:cubicBezTo>
                  <a:pt x="314325" y="125512"/>
                  <a:pt x="305321" y="147231"/>
                  <a:pt x="289332" y="163220"/>
                </a:cubicBezTo>
                <a:lnTo>
                  <a:pt x="250532" y="202019"/>
                </a:lnTo>
                <a:cubicBezTo>
                  <a:pt x="234543" y="218008"/>
                  <a:pt x="212824" y="227013"/>
                  <a:pt x="190178" y="227013"/>
                </a:cubicBezTo>
                <a:cubicBezTo>
                  <a:pt x="143029" y="227013"/>
                  <a:pt x="104775" y="188813"/>
                  <a:pt x="104775" y="141610"/>
                </a:cubicBezTo>
                <a:cubicBezTo>
                  <a:pt x="104775" y="140791"/>
                  <a:pt x="104775" y="139973"/>
                  <a:pt x="104830" y="139154"/>
                </a:cubicBezTo>
                <a:cubicBezTo>
                  <a:pt x="105102" y="129495"/>
                  <a:pt x="113124" y="121910"/>
                  <a:pt x="122783" y="122183"/>
                </a:cubicBezTo>
                <a:cubicBezTo>
                  <a:pt x="132442" y="122456"/>
                  <a:pt x="140027" y="130478"/>
                  <a:pt x="139755" y="140137"/>
                </a:cubicBezTo>
                <a:cubicBezTo>
                  <a:pt x="139755" y="140628"/>
                  <a:pt x="139755" y="141119"/>
                  <a:pt x="139755" y="141555"/>
                </a:cubicBezTo>
                <a:cubicBezTo>
                  <a:pt x="139755" y="169441"/>
                  <a:pt x="162347" y="192033"/>
                  <a:pt x="190232" y="192033"/>
                </a:cubicBezTo>
                <a:cubicBezTo>
                  <a:pt x="203602" y="192033"/>
                  <a:pt x="216426" y="186740"/>
                  <a:pt x="225921" y="177244"/>
                </a:cubicBezTo>
                <a:lnTo>
                  <a:pt x="264721" y="138445"/>
                </a:lnTo>
                <a:cubicBezTo>
                  <a:pt x="274161" y="129004"/>
                  <a:pt x="279509" y="116126"/>
                  <a:pt x="279509" y="102756"/>
                </a:cubicBezTo>
                <a:cubicBezTo>
                  <a:pt x="279509" y="74870"/>
                  <a:pt x="256917" y="52278"/>
                  <a:pt x="229032" y="52278"/>
                </a:cubicBezTo>
                <a:close/>
                <a:moveTo>
                  <a:pt x="150178" y="94570"/>
                </a:moveTo>
                <a:cubicBezTo>
                  <a:pt x="149141" y="94134"/>
                  <a:pt x="148104" y="93534"/>
                  <a:pt x="147176" y="92879"/>
                </a:cubicBezTo>
                <a:cubicBezTo>
                  <a:pt x="140300" y="89332"/>
                  <a:pt x="132442" y="87313"/>
                  <a:pt x="124202" y="87313"/>
                </a:cubicBezTo>
                <a:cubicBezTo>
                  <a:pt x="110832" y="87313"/>
                  <a:pt x="98008" y="92606"/>
                  <a:pt x="88513" y="102101"/>
                </a:cubicBezTo>
                <a:lnTo>
                  <a:pt x="49714" y="140901"/>
                </a:lnTo>
                <a:cubicBezTo>
                  <a:pt x="40273" y="150341"/>
                  <a:pt x="34925" y="163220"/>
                  <a:pt x="34925" y="176590"/>
                </a:cubicBezTo>
                <a:cubicBezTo>
                  <a:pt x="34925" y="204475"/>
                  <a:pt x="57517" y="227067"/>
                  <a:pt x="85403" y="227067"/>
                </a:cubicBezTo>
                <a:cubicBezTo>
                  <a:pt x="94407" y="227067"/>
                  <a:pt x="103192" y="224666"/>
                  <a:pt x="110887" y="220191"/>
                </a:cubicBezTo>
                <a:cubicBezTo>
                  <a:pt x="119509" y="228922"/>
                  <a:pt x="129550" y="236235"/>
                  <a:pt x="140682" y="241746"/>
                </a:cubicBezTo>
                <a:cubicBezTo>
                  <a:pt x="125293" y="254789"/>
                  <a:pt x="105757" y="262047"/>
                  <a:pt x="85403" y="262047"/>
                </a:cubicBezTo>
                <a:cubicBezTo>
                  <a:pt x="38254" y="262047"/>
                  <a:pt x="0" y="223847"/>
                  <a:pt x="0" y="176644"/>
                </a:cubicBezTo>
                <a:cubicBezTo>
                  <a:pt x="0" y="153997"/>
                  <a:pt x="9004" y="132278"/>
                  <a:pt x="24993" y="116289"/>
                </a:cubicBezTo>
                <a:lnTo>
                  <a:pt x="63793" y="77490"/>
                </a:lnTo>
                <a:cubicBezTo>
                  <a:pt x="79782" y="61501"/>
                  <a:pt x="101501" y="52497"/>
                  <a:pt x="124147" y="52497"/>
                </a:cubicBezTo>
                <a:cubicBezTo>
                  <a:pt x="171405" y="52497"/>
                  <a:pt x="209550" y="91023"/>
                  <a:pt x="209550" y="138117"/>
                </a:cubicBezTo>
                <a:cubicBezTo>
                  <a:pt x="209550" y="138827"/>
                  <a:pt x="209550" y="139536"/>
                  <a:pt x="209550" y="140246"/>
                </a:cubicBezTo>
                <a:cubicBezTo>
                  <a:pt x="209332" y="149905"/>
                  <a:pt x="201310" y="157490"/>
                  <a:pt x="191651" y="157272"/>
                </a:cubicBezTo>
                <a:cubicBezTo>
                  <a:pt x="181992" y="157053"/>
                  <a:pt x="174407" y="149032"/>
                  <a:pt x="174625" y="139373"/>
                </a:cubicBezTo>
                <a:cubicBezTo>
                  <a:pt x="174625" y="138936"/>
                  <a:pt x="174625" y="138554"/>
                  <a:pt x="174625" y="138117"/>
                </a:cubicBezTo>
                <a:cubicBezTo>
                  <a:pt x="174625" y="119727"/>
                  <a:pt x="164802" y="103574"/>
                  <a:pt x="150178" y="94679"/>
                </a:cubicBezTo>
                <a:close/>
              </a:path>
            </a:pathLst>
          </a:custGeom>
          <a:solidFill>
            <a:srgbClr val="C00000"/>
          </a:solidFill>
        </p:spPr>
        <p:txBody>
          <a:bodyPr/>
          <a:lstStyle/>
          <a:p>
            <a:endParaRPr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49" name="Text 47"/>
          <p:cNvSpPr/>
          <p:nvPr/>
        </p:nvSpPr>
        <p:spPr>
          <a:xfrm>
            <a:off x="1371600" y="6673850"/>
            <a:ext cx="5080000" cy="3302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b="1" dirty="0">
                <a:solidFill>
                  <a:srgbClr val="333333"/>
                </a:solidFill>
                <a:latin typeface="微软雅黑" pitchFamily="34" charset="-122"/>
                <a:ea typeface="微软雅黑" pitchFamily="34" charset="-122"/>
                <a:cs typeface="微软雅黑" pitchFamily="34" charset="-120"/>
              </a:rPr>
              <a:t>为什么串行而非并行？</a:t>
            </a:r>
            <a:endParaRPr lang="en-US" sz="1600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50" name="Text 48"/>
          <p:cNvSpPr/>
          <p:nvPr/>
        </p:nvSpPr>
        <p:spPr>
          <a:xfrm>
            <a:off x="998855" y="6898640"/>
            <a:ext cx="6604000" cy="152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5000"/>
              </a:lnSpc>
            </a:pPr>
            <a:r>
              <a:rPr lang="en-US" sz="1500" dirty="0">
                <a:solidFill>
                  <a:srgbClr val="333333"/>
                </a:solidFill>
                <a:latin typeface="微软雅黑" pitchFamily="34" charset="-122"/>
                <a:ea typeface="微软雅黑" pitchFamily="34" charset="-122"/>
                <a:cs typeface="微软雅黑" pitchFamily="34" charset="-120"/>
                <a:sym typeface="+mn-ea"/>
              </a:rPr>
              <a:t>· </a:t>
            </a:r>
            <a:r>
              <a:rPr lang="en-US" sz="1500" dirty="0">
                <a:solidFill>
                  <a:srgbClr val="333333"/>
                </a:solidFill>
                <a:latin typeface="微软雅黑" pitchFamily="34" charset="-122"/>
                <a:ea typeface="微软雅黑" pitchFamily="34" charset="-122"/>
                <a:cs typeface="微软雅黑" pitchFamily="34" charset="-120"/>
              </a:rPr>
              <a:t>阶段间存在依赖：KVCache layout 影响融合算子方案；</a:t>
            </a:r>
            <a:r>
              <a:rPr lang="zh-CN" altLang="en-US" sz="1500" dirty="0">
                <a:solidFill>
                  <a:srgbClr val="333333"/>
                </a:solidFill>
                <a:latin typeface="微软雅黑" pitchFamily="34" charset="-122"/>
                <a:ea typeface="微软雅黑" pitchFamily="34" charset="-122"/>
                <a:cs typeface="微软雅黑" pitchFamily="34" charset="-120"/>
              </a:rPr>
              <a:t>融合算子方案决定量化可行性；</a:t>
            </a:r>
            <a:r>
              <a:rPr lang="en-US" sz="1500" dirty="0">
                <a:solidFill>
                  <a:srgbClr val="333333"/>
                </a:solidFill>
                <a:latin typeface="微软雅黑" pitchFamily="34" charset="-122"/>
                <a:ea typeface="微软雅黑" pitchFamily="34" charset="-122"/>
                <a:cs typeface="微软雅黑" pitchFamily="34" charset="-120"/>
              </a:rPr>
              <a:t>量化</a:t>
            </a:r>
            <a:r>
              <a:rPr lang="zh-CN" altLang="en-US" sz="1500" dirty="0">
                <a:solidFill>
                  <a:srgbClr val="333333"/>
                </a:solidFill>
                <a:latin typeface="微软雅黑" pitchFamily="34" charset="-122"/>
                <a:ea typeface="微软雅黑" pitchFamily="34" charset="-122"/>
                <a:cs typeface="微软雅黑" pitchFamily="34" charset="-120"/>
              </a:rPr>
              <a:t>路径确定再走</a:t>
            </a:r>
            <a:r>
              <a:rPr lang="en-US" sz="1500" dirty="0">
                <a:solidFill>
                  <a:srgbClr val="333333"/>
                </a:solidFill>
                <a:latin typeface="微软雅黑" pitchFamily="34" charset="-122"/>
                <a:ea typeface="微软雅黑" pitchFamily="34" charset="-122"/>
                <a:cs typeface="微软雅黑" pitchFamily="34" charset="-120"/>
              </a:rPr>
              <a:t>图模式</a:t>
            </a:r>
            <a:endParaRPr lang="en-US" sz="1600" dirty="0">
              <a:latin typeface="微软雅黑" pitchFamily="34" charset="-122"/>
              <a:ea typeface="微软雅黑" pitchFamily="34" charset="-122"/>
            </a:endParaRPr>
          </a:p>
          <a:p>
            <a:pPr>
              <a:lnSpc>
                <a:spcPct val="145000"/>
              </a:lnSpc>
              <a:spcBef>
                <a:spcPts val="200"/>
              </a:spcBef>
            </a:pPr>
            <a:r>
              <a:rPr lang="en-US" sz="1500" dirty="0">
                <a:solidFill>
                  <a:srgbClr val="333333"/>
                </a:solidFill>
                <a:latin typeface="微软雅黑" pitchFamily="34" charset="-122"/>
                <a:ea typeface="微软雅黑" pitchFamily="34" charset="-122"/>
                <a:cs typeface="微软雅黑" pitchFamily="34" charset="-120"/>
              </a:rPr>
              <a:t>· 串行 + commit 是稳定回退的前提</a:t>
            </a:r>
            <a:endParaRPr lang="en-US" sz="1600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51" name="Shape 49"/>
          <p:cNvSpPr/>
          <p:nvPr/>
        </p:nvSpPr>
        <p:spPr>
          <a:xfrm>
            <a:off x="8128000" y="6673850"/>
            <a:ext cx="279400" cy="279400"/>
          </a:xfrm>
          <a:custGeom>
            <a:avLst/>
            <a:gdLst/>
            <a:ahLst/>
            <a:cxnLst/>
            <a:rect l="l" t="t" r="r" b="b"/>
            <a:pathLst>
              <a:path w="279400" h="279400">
                <a:moveTo>
                  <a:pt x="17463" y="17463"/>
                </a:moveTo>
                <a:cubicBezTo>
                  <a:pt x="27121" y="17463"/>
                  <a:pt x="34925" y="25266"/>
                  <a:pt x="34925" y="34925"/>
                </a:cubicBezTo>
                <a:lnTo>
                  <a:pt x="34925" y="218281"/>
                </a:lnTo>
                <a:cubicBezTo>
                  <a:pt x="34925" y="223083"/>
                  <a:pt x="38854" y="227013"/>
                  <a:pt x="43656" y="227013"/>
                </a:cubicBezTo>
                <a:lnTo>
                  <a:pt x="261938" y="227013"/>
                </a:lnTo>
                <a:cubicBezTo>
                  <a:pt x="271596" y="227013"/>
                  <a:pt x="279400" y="234816"/>
                  <a:pt x="279400" y="244475"/>
                </a:cubicBezTo>
                <a:cubicBezTo>
                  <a:pt x="279400" y="254134"/>
                  <a:pt x="271596" y="261938"/>
                  <a:pt x="261938" y="261938"/>
                </a:cubicBezTo>
                <a:lnTo>
                  <a:pt x="43656" y="261938"/>
                </a:lnTo>
                <a:cubicBezTo>
                  <a:pt x="19536" y="261938"/>
                  <a:pt x="0" y="242401"/>
                  <a:pt x="0" y="218281"/>
                </a:cubicBezTo>
                <a:lnTo>
                  <a:pt x="0" y="34925"/>
                </a:lnTo>
                <a:cubicBezTo>
                  <a:pt x="0" y="25266"/>
                  <a:pt x="7804" y="17463"/>
                  <a:pt x="17463" y="17463"/>
                </a:cubicBezTo>
                <a:close/>
                <a:moveTo>
                  <a:pt x="69850" y="52388"/>
                </a:moveTo>
                <a:cubicBezTo>
                  <a:pt x="69850" y="42729"/>
                  <a:pt x="77654" y="34925"/>
                  <a:pt x="87313" y="34925"/>
                </a:cubicBezTo>
                <a:lnTo>
                  <a:pt x="192088" y="34925"/>
                </a:lnTo>
                <a:cubicBezTo>
                  <a:pt x="201746" y="34925"/>
                  <a:pt x="209550" y="42729"/>
                  <a:pt x="209550" y="52388"/>
                </a:cubicBezTo>
                <a:cubicBezTo>
                  <a:pt x="209550" y="62046"/>
                  <a:pt x="201746" y="69850"/>
                  <a:pt x="192088" y="69850"/>
                </a:cubicBezTo>
                <a:lnTo>
                  <a:pt x="87313" y="69850"/>
                </a:lnTo>
                <a:cubicBezTo>
                  <a:pt x="77654" y="69850"/>
                  <a:pt x="69850" y="62046"/>
                  <a:pt x="69850" y="52388"/>
                </a:cubicBezTo>
                <a:close/>
                <a:moveTo>
                  <a:pt x="87313" y="96044"/>
                </a:moveTo>
                <a:lnTo>
                  <a:pt x="157163" y="96044"/>
                </a:lnTo>
                <a:cubicBezTo>
                  <a:pt x="166821" y="96044"/>
                  <a:pt x="174625" y="103847"/>
                  <a:pt x="174625" y="113506"/>
                </a:cubicBezTo>
                <a:cubicBezTo>
                  <a:pt x="174625" y="123165"/>
                  <a:pt x="166821" y="130969"/>
                  <a:pt x="157163" y="130969"/>
                </a:cubicBezTo>
                <a:lnTo>
                  <a:pt x="87313" y="130969"/>
                </a:lnTo>
                <a:cubicBezTo>
                  <a:pt x="77654" y="130969"/>
                  <a:pt x="69850" y="123165"/>
                  <a:pt x="69850" y="113506"/>
                </a:cubicBezTo>
                <a:cubicBezTo>
                  <a:pt x="69850" y="103847"/>
                  <a:pt x="77654" y="96044"/>
                  <a:pt x="87313" y="96044"/>
                </a:cubicBezTo>
                <a:close/>
                <a:moveTo>
                  <a:pt x="87313" y="157163"/>
                </a:moveTo>
                <a:lnTo>
                  <a:pt x="227013" y="157163"/>
                </a:lnTo>
                <a:cubicBezTo>
                  <a:pt x="236671" y="157163"/>
                  <a:pt x="244475" y="164966"/>
                  <a:pt x="244475" y="174625"/>
                </a:cubicBezTo>
                <a:cubicBezTo>
                  <a:pt x="244475" y="184284"/>
                  <a:pt x="236671" y="192088"/>
                  <a:pt x="227013" y="192088"/>
                </a:cubicBezTo>
                <a:lnTo>
                  <a:pt x="87313" y="192088"/>
                </a:lnTo>
                <a:cubicBezTo>
                  <a:pt x="77654" y="192088"/>
                  <a:pt x="69850" y="184284"/>
                  <a:pt x="69850" y="174625"/>
                </a:cubicBezTo>
                <a:cubicBezTo>
                  <a:pt x="69850" y="164966"/>
                  <a:pt x="77654" y="157163"/>
                  <a:pt x="87313" y="157163"/>
                </a:cubicBezTo>
                <a:close/>
              </a:path>
            </a:pathLst>
          </a:custGeom>
          <a:solidFill>
            <a:srgbClr val="C00000"/>
          </a:solidFill>
        </p:spPr>
        <p:txBody>
          <a:bodyPr/>
          <a:lstStyle/>
          <a:p>
            <a:endParaRPr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52" name="Text 50"/>
          <p:cNvSpPr/>
          <p:nvPr/>
        </p:nvSpPr>
        <p:spPr>
          <a:xfrm>
            <a:off x="8483600" y="6648450"/>
            <a:ext cx="6350000" cy="3302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b="1" dirty="0">
                <a:solidFill>
                  <a:srgbClr val="333333"/>
                </a:solidFill>
                <a:latin typeface="微软雅黑" pitchFamily="34" charset="-122"/>
                <a:ea typeface="微软雅黑" pitchFamily="34" charset="-122"/>
                <a:cs typeface="微软雅黑" pitchFamily="34" charset="-120"/>
              </a:rPr>
              <a:t>Plan-Execute-Verify 共识</a:t>
            </a:r>
            <a:endParaRPr lang="en-US" sz="1600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53" name="Text 51"/>
          <p:cNvSpPr/>
          <p:nvPr/>
        </p:nvSpPr>
        <p:spPr>
          <a:xfrm>
            <a:off x="8128000" y="6813550"/>
            <a:ext cx="7112000" cy="1651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500" dirty="0">
                <a:solidFill>
                  <a:srgbClr val="333333"/>
                </a:solidFill>
                <a:latin typeface="微软雅黑" pitchFamily="34" charset="-122"/>
                <a:ea typeface="微软雅黑" pitchFamily="34" charset="-122"/>
                <a:cs typeface="微软雅黑" pitchFamily="34" charset="-120"/>
                <a:sym typeface="+mn-ea"/>
              </a:rPr>
              <a:t>· </a:t>
            </a:r>
            <a:r>
              <a:rPr lang="en-US" sz="1500" dirty="0">
                <a:solidFill>
                  <a:srgbClr val="333333"/>
                </a:solidFill>
                <a:latin typeface="微软雅黑" pitchFamily="34" charset="-122"/>
                <a:ea typeface="微软雅黑" pitchFamily="34" charset="-122"/>
                <a:cs typeface="微软雅黑" pitchFamily="34" charset="-120"/>
              </a:rPr>
              <a:t>Anthropic 长任务 Harness：</a:t>
            </a:r>
            <a:r>
              <a:rPr lang="en-US" sz="1500" b="1" dirty="0">
                <a:solidFill>
                  <a:srgbClr val="333333"/>
                </a:solidFill>
                <a:latin typeface="微软雅黑" pitchFamily="34" charset="-122"/>
                <a:ea typeface="微软雅黑" pitchFamily="34" charset="-122"/>
                <a:cs typeface="微软雅黑" pitchFamily="34" charset="-120"/>
              </a:rPr>
              <a:t>planner + generator + evaluator</a:t>
            </a:r>
            <a:r>
              <a:rPr lang="en-US" sz="1500" dirty="0">
                <a:solidFill>
                  <a:srgbClr val="333333"/>
                </a:solidFill>
                <a:latin typeface="微软雅黑" pitchFamily="34" charset="-122"/>
                <a:ea typeface="微软雅黑" pitchFamily="34" charset="-122"/>
                <a:cs typeface="微软雅黑" pitchFamily="34" charset="-120"/>
              </a:rPr>
              <a:t> 三角色</a:t>
            </a:r>
            <a:endParaRPr lang="en-US" sz="1600" dirty="0">
              <a:latin typeface="微软雅黑" pitchFamily="34" charset="-122"/>
              <a:ea typeface="微软雅黑" pitchFamily="34" charset="-122"/>
            </a:endParaRPr>
          </a:p>
          <a:p>
            <a:pPr>
              <a:lnSpc>
                <a:spcPct val="150000"/>
              </a:lnSpc>
              <a:spcBef>
                <a:spcPts val="300"/>
              </a:spcBef>
            </a:pPr>
            <a:r>
              <a:rPr lang="en-US" sz="1500" b="1" dirty="0" err="1">
                <a:solidFill>
                  <a:srgbClr val="333333"/>
                </a:solidFill>
                <a:latin typeface="微软雅黑" pitchFamily="34" charset="-122"/>
                <a:ea typeface="微软雅黑" pitchFamily="34" charset="-122"/>
                <a:cs typeface="微软雅黑" pitchFamily="34" charset="-120"/>
              </a:rPr>
              <a:t>阶段化</a:t>
            </a:r>
            <a:r>
              <a:rPr lang="en-US" sz="1500" b="1" dirty="0">
                <a:solidFill>
                  <a:srgbClr val="333333"/>
                </a:solidFill>
                <a:latin typeface="微软雅黑" pitchFamily="34" charset="-122"/>
                <a:ea typeface="微软雅黑" pitchFamily="34" charset="-122"/>
                <a:cs typeface="微软雅黑" pitchFamily="34" charset="-120"/>
              </a:rPr>
              <a:t> + </a:t>
            </a:r>
            <a:r>
              <a:rPr lang="en-US" sz="1500" b="1" dirty="0" err="1">
                <a:solidFill>
                  <a:srgbClr val="333333"/>
                </a:solidFill>
                <a:latin typeface="微软雅黑" pitchFamily="34" charset="-122"/>
                <a:ea typeface="微软雅黑" pitchFamily="34" charset="-122"/>
                <a:cs typeface="微软雅黑" pitchFamily="34" charset="-120"/>
              </a:rPr>
              <a:t>验证门</a:t>
            </a:r>
            <a:r>
              <a:rPr lang="zh-CN" altLang="en-US" sz="1500" b="1" dirty="0">
                <a:solidFill>
                  <a:srgbClr val="333333"/>
                </a:solidFill>
                <a:latin typeface="微软雅黑" pitchFamily="34" charset="-122"/>
                <a:ea typeface="微软雅黑" pitchFamily="34" charset="-122"/>
                <a:cs typeface="微软雅黑" pitchFamily="34" charset="-120"/>
              </a:rPr>
              <a:t>禁</a:t>
            </a:r>
            <a:r>
              <a:rPr lang="en-US" sz="1500" b="1" dirty="0">
                <a:solidFill>
                  <a:srgbClr val="333333"/>
                </a:solidFill>
                <a:latin typeface="微软雅黑" pitchFamily="34" charset="-122"/>
                <a:ea typeface="微软雅黑" pitchFamily="34" charset="-122"/>
                <a:cs typeface="微软雅黑" pitchFamily="34" charset="-120"/>
              </a:rPr>
              <a:t> + 角色拆分，是 Anthropic 与 OpenAI 公开实践中共同的做法</a:t>
            </a:r>
            <a:endParaRPr lang="en-US" sz="1600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58" name="Shape 24"/>
          <p:cNvSpPr/>
          <p:nvPr/>
        </p:nvSpPr>
        <p:spPr>
          <a:xfrm>
            <a:off x="914400" y="3131185"/>
            <a:ext cx="50800" cy="254000"/>
          </a:xfrm>
          <a:prstGeom prst="rect">
            <a:avLst/>
          </a:prstGeom>
          <a:solidFill>
            <a:srgbClr val="C00000"/>
          </a:solidFill>
        </p:spPr>
        <p:txBody>
          <a:bodyPr/>
          <a:lstStyle/>
          <a:p>
            <a:endParaRPr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59" name="Text 25"/>
          <p:cNvSpPr/>
          <p:nvPr/>
        </p:nvSpPr>
        <p:spPr>
          <a:xfrm>
            <a:off x="1066800" y="3105785"/>
            <a:ext cx="5080000" cy="3302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zh-CN" altLang="en-US" sz="2000" b="1" dirty="0">
                <a:solidFill>
                  <a:srgbClr val="333333"/>
                </a:solidFill>
                <a:latin typeface="微软雅黑" pitchFamily="34" charset="-122"/>
                <a:ea typeface="微软雅黑" pitchFamily="34" charset="-122"/>
                <a:cs typeface="微软雅黑" pitchFamily="34" charset="-120"/>
              </a:rPr>
              <a:t>典型阶段内流程门禁</a:t>
            </a:r>
            <a:endParaRPr lang="en-US" sz="2000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60" name="Text 26"/>
          <p:cNvSpPr/>
          <p:nvPr/>
        </p:nvSpPr>
        <p:spPr>
          <a:xfrm>
            <a:off x="914400" y="3537585"/>
            <a:ext cx="13284200" cy="64579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500" b="1" dirty="0">
                <a:solidFill>
                  <a:srgbClr val="333333"/>
                </a:solidFill>
                <a:latin typeface="微软雅黑" pitchFamily="34" charset="-122"/>
                <a:ea typeface="微软雅黑" pitchFamily="34" charset="-122"/>
                <a:cs typeface="微软雅黑" pitchFamily="34" charset="-120"/>
              </a:rPr>
              <a:t>主 Agent</a:t>
            </a:r>
            <a:r>
              <a:rPr lang="en-US" sz="1500" dirty="0">
                <a:solidFill>
                  <a:srgbClr val="333333"/>
                </a:solidFill>
                <a:latin typeface="微软雅黑" pitchFamily="34" charset="-122"/>
                <a:ea typeface="微软雅黑" pitchFamily="34" charset="-122"/>
                <a:cs typeface="微软雅黑" pitchFamily="34" charset="-120"/>
              </a:rPr>
              <a:t> 派发 </a:t>
            </a:r>
            <a:r>
              <a:rPr lang="en-US" sz="1500" b="1" dirty="0">
                <a:solidFill>
                  <a:srgbClr val="333333"/>
                </a:solidFill>
                <a:latin typeface="微软雅黑" pitchFamily="34" charset="-122"/>
                <a:ea typeface="微软雅黑" pitchFamily="34" charset="-122"/>
                <a:cs typeface="微软雅黑" pitchFamily="34" charset="-120"/>
              </a:rPr>
              <a:t>analyzer </a:t>
            </a:r>
            <a:r>
              <a:rPr lang="en-US" sz="1500" dirty="0">
                <a:solidFill>
                  <a:srgbClr val="333333"/>
                </a:solidFill>
                <a:latin typeface="微软雅黑" pitchFamily="34" charset="-122"/>
                <a:ea typeface="微软雅黑" pitchFamily="34" charset="-122"/>
                <a:cs typeface="微软雅黑" pitchFamily="34" charset="-120"/>
              </a:rPr>
              <a:t>做方案分析 → </a:t>
            </a:r>
            <a:r>
              <a:rPr lang="en-US" sz="1500" b="1" dirty="0" err="1">
                <a:solidFill>
                  <a:srgbClr val="C00000"/>
                </a:solidFill>
                <a:latin typeface="微软雅黑" pitchFamily="34" charset="-122"/>
                <a:ea typeface="微软雅黑" pitchFamily="34" charset="-122"/>
                <a:cs typeface="微软雅黑" pitchFamily="34" charset="-120"/>
              </a:rPr>
              <a:t>用户确认</a:t>
            </a:r>
            <a:r>
              <a:rPr lang="zh-CN" altLang="en-US" sz="1500" b="1" dirty="0">
                <a:solidFill>
                  <a:srgbClr val="C00000"/>
                </a:solidFill>
                <a:latin typeface="微软雅黑" pitchFamily="34" charset="-122"/>
                <a:ea typeface="微软雅黑" pitchFamily="34" charset="-122"/>
                <a:cs typeface="微软雅黑" pitchFamily="34" charset="-120"/>
              </a:rPr>
              <a:t>方案</a:t>
            </a:r>
            <a:r>
              <a:rPr lang="en-US" sz="1500" dirty="0">
                <a:solidFill>
                  <a:srgbClr val="333333"/>
                </a:solidFill>
                <a:latin typeface="微软雅黑" pitchFamily="34" charset="-122"/>
                <a:ea typeface="微软雅黑" pitchFamily="34" charset="-122"/>
                <a:cs typeface="微软雅黑" pitchFamily="34" charset="-120"/>
              </a:rPr>
              <a:t> → 派发 </a:t>
            </a:r>
            <a:r>
              <a:rPr lang="en-US" sz="1500" b="1" dirty="0">
                <a:solidFill>
                  <a:srgbClr val="333333"/>
                </a:solidFill>
                <a:latin typeface="微软雅黑" pitchFamily="34" charset="-122"/>
                <a:ea typeface="微软雅黑" pitchFamily="34" charset="-122"/>
                <a:cs typeface="微软雅黑" pitchFamily="34" charset="-120"/>
              </a:rPr>
              <a:t>implementer</a:t>
            </a:r>
            <a:r>
              <a:rPr lang="en-US" sz="1500" dirty="0">
                <a:solidFill>
                  <a:srgbClr val="333333"/>
                </a:solidFill>
                <a:latin typeface="微软雅黑" pitchFamily="34" charset="-122"/>
                <a:ea typeface="微软雅黑" pitchFamily="34" charset="-122"/>
                <a:cs typeface="微软雅黑" pitchFamily="34" charset="-120"/>
              </a:rPr>
              <a:t> 实施 + 自验证 → 派发 </a:t>
            </a:r>
            <a:r>
              <a:rPr lang="en-US" sz="1500" b="1" dirty="0">
                <a:solidFill>
                  <a:srgbClr val="333333"/>
                </a:solidFill>
                <a:latin typeface="微软雅黑" pitchFamily="34" charset="-122"/>
                <a:ea typeface="微软雅黑" pitchFamily="34" charset="-122"/>
                <a:cs typeface="微软雅黑" pitchFamily="34" charset="-120"/>
              </a:rPr>
              <a:t>reviewer</a:t>
            </a:r>
            <a:r>
              <a:rPr lang="en-US" sz="1500" dirty="0">
                <a:solidFill>
                  <a:srgbClr val="333333"/>
                </a:solidFill>
                <a:latin typeface="微软雅黑" pitchFamily="34" charset="-122"/>
                <a:ea typeface="微软雅黑" pitchFamily="34" charset="-122"/>
                <a:cs typeface="微软雅黑" pitchFamily="34" charset="-120"/>
              </a:rPr>
              <a:t> 精度/性能验证（</a:t>
            </a:r>
            <a:r>
              <a:rPr lang="zh-CN" altLang="en-US" sz="1500" dirty="0">
                <a:solidFill>
                  <a:srgbClr val="333333"/>
                </a:solidFill>
                <a:latin typeface="微软雅黑" pitchFamily="34" charset="-122"/>
                <a:ea typeface="微软雅黑" pitchFamily="34" charset="-122"/>
                <a:cs typeface="微软雅黑" pitchFamily="34" charset="-120"/>
              </a:rPr>
              <a:t>若</a:t>
            </a:r>
            <a:r>
              <a:rPr lang="en-US" altLang="zh-CN" sz="1500" dirty="0">
                <a:solidFill>
                  <a:srgbClr val="333333"/>
                </a:solidFill>
                <a:latin typeface="微软雅黑" pitchFamily="34" charset="-122"/>
                <a:ea typeface="微软雅黑" pitchFamily="34" charset="-122"/>
                <a:cs typeface="微软雅黑" pitchFamily="34" charset="-120"/>
              </a:rPr>
              <a:t>FAIL</a:t>
            </a:r>
            <a:r>
              <a:rPr lang="zh-CN" altLang="en-US" sz="1500" dirty="0">
                <a:solidFill>
                  <a:srgbClr val="333333"/>
                </a:solidFill>
                <a:latin typeface="微软雅黑" pitchFamily="34" charset="-122"/>
                <a:ea typeface="微软雅黑" pitchFamily="34" charset="-122"/>
                <a:cs typeface="微软雅黑" pitchFamily="34" charset="-120"/>
              </a:rPr>
              <a:t>回退迭代</a:t>
            </a:r>
            <a:r>
              <a:rPr lang="en-US" sz="1500" dirty="0">
                <a:solidFill>
                  <a:srgbClr val="333333"/>
                </a:solidFill>
                <a:latin typeface="微软雅黑" pitchFamily="34" charset="-122"/>
                <a:ea typeface="微软雅黑" pitchFamily="34" charset="-122"/>
                <a:cs typeface="微软雅黑" pitchFamily="34" charset="-120"/>
              </a:rPr>
              <a:t>） → 阶段总结</a:t>
            </a:r>
            <a:endParaRPr lang="en-US" sz="1600" dirty="0">
              <a:latin typeface="微软雅黑" pitchFamily="34" charset="-122"/>
              <a:ea typeface="微软雅黑" pitchFamily="34" charset="-122"/>
            </a:endParaRPr>
          </a:p>
        </p:txBody>
      </p:sp>
      <p:pic>
        <p:nvPicPr>
          <p:cNvPr id="17" name="图片 16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94" t="17345" r="5741" b="58391"/>
          <a:stretch>
            <a:fillRect/>
          </a:stretch>
        </p:blipFill>
        <p:spPr>
          <a:xfrm>
            <a:off x="628849" y="1003935"/>
            <a:ext cx="13855301" cy="2000250"/>
          </a:xfrm>
          <a:prstGeom prst="rect">
            <a:avLst/>
          </a:prstGeom>
        </p:spPr>
      </p:pic>
      <p:pic>
        <p:nvPicPr>
          <p:cNvPr id="18" name="图片 17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94" t="52560" r="5741" b="6921"/>
          <a:stretch>
            <a:fillRect/>
          </a:stretch>
        </p:blipFill>
        <p:spPr>
          <a:xfrm>
            <a:off x="2421955" y="3995654"/>
            <a:ext cx="10800750" cy="2603780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9144000"/>
          </a:xfrm>
          <a:prstGeom prst="rect">
            <a:avLst/>
          </a:prstGeom>
          <a:gradFill flip="none" rotWithShape="1">
            <a:gsLst>
              <a:gs pos="0">
                <a:srgbClr val="000000">
                  <a:alpha val="80000"/>
                </a:srgbClr>
              </a:gs>
              <a:gs pos="60000">
                <a:srgbClr val="000000">
                  <a:alpha val="60000"/>
                </a:srgbClr>
              </a:gs>
              <a:gs pos="100000">
                <a:srgbClr val="000000">
                  <a:alpha val="40000"/>
                </a:srgbClr>
              </a:gs>
            </a:gsLst>
            <a:lin ang="0" scaled="1"/>
          </a:gra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3" name="Text 1"/>
          <p:cNvSpPr/>
          <p:nvPr/>
        </p:nvSpPr>
        <p:spPr>
          <a:xfrm>
            <a:off x="1270000" y="2170430"/>
            <a:ext cx="2540000" cy="127000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9600" dirty="0">
                <a:solidFill>
                  <a:srgbClr val="FFFFFF"/>
                </a:solidFill>
                <a:latin typeface="微软雅黑" pitchFamily="34" charset="-122"/>
                <a:ea typeface="微软雅黑" pitchFamily="34" charset="-122"/>
                <a:cs typeface="MiSans" pitchFamily="34" charset="-120"/>
              </a:rPr>
              <a:t>04</a:t>
            </a:r>
            <a:endParaRPr lang="en-US" sz="9600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4" name="Text 2"/>
          <p:cNvSpPr/>
          <p:nvPr/>
        </p:nvSpPr>
        <p:spPr>
          <a:xfrm>
            <a:off x="1270000" y="3557016"/>
            <a:ext cx="10160000" cy="7620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l">
              <a:lnSpc>
                <a:spcPct val="100000"/>
              </a:lnSpc>
            </a:pPr>
            <a:r>
              <a:rPr lang="zh-CN" altLang="en-US" sz="4400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  <a:cs typeface="微软雅黑" pitchFamily="34" charset="-120"/>
                <a:sym typeface="+mn-ea"/>
              </a:rPr>
              <a:t>模型</a:t>
            </a:r>
            <a:r>
              <a:rPr lang="en-US" altLang="zh-CN" sz="4400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  <a:cs typeface="微软雅黑" pitchFamily="34" charset="-120"/>
                <a:sym typeface="+mn-ea"/>
              </a:rPr>
              <a:t> Agent </a:t>
            </a:r>
            <a:r>
              <a:rPr lang="zh-CN" altLang="en-US" sz="4400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  <a:cs typeface="微软雅黑" pitchFamily="34" charset="-120"/>
                <a:sym typeface="+mn-ea"/>
              </a:rPr>
              <a:t>部署优化流程</a:t>
            </a:r>
            <a:endParaRPr lang="en-US" sz="4400" b="1" dirty="0">
              <a:solidFill>
                <a:schemeClr val="bg1"/>
              </a:solidFill>
              <a:latin typeface="微软雅黑" pitchFamily="34" charset="-122"/>
              <a:ea typeface="微软雅黑" pitchFamily="34" charset="-122"/>
              <a:cs typeface="微软雅黑" pitchFamily="34" charset="-120"/>
              <a:sym typeface="+mn-ea"/>
            </a:endParaRPr>
          </a:p>
        </p:txBody>
      </p:sp>
      <p:sp>
        <p:nvSpPr>
          <p:cNvPr id="5" name="Text 3"/>
          <p:cNvSpPr/>
          <p:nvPr/>
        </p:nvSpPr>
        <p:spPr>
          <a:xfrm>
            <a:off x="1270000" y="4445000"/>
            <a:ext cx="10160000" cy="508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l">
              <a:lnSpc>
                <a:spcPct val="150000"/>
              </a:lnSpc>
            </a:pPr>
            <a:r>
              <a:rPr lang="en-US" sz="2000" dirty="0">
                <a:solidFill>
                  <a:srgbClr val="FFFFFF"/>
                </a:solidFill>
                <a:latin typeface="微软雅黑" pitchFamily="34" charset="-122"/>
                <a:ea typeface="微软雅黑" pitchFamily="34" charset="-122"/>
                <a:cs typeface="MiSans" pitchFamily="34" charset="-120"/>
              </a:rPr>
              <a:t>并行、KVCache、融合算子、量化、图模式的逐阶段改造与验证</a:t>
            </a:r>
            <a:endParaRPr lang="en-US" sz="2000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6" name="Text 4"/>
          <p:cNvSpPr/>
          <p:nvPr/>
        </p:nvSpPr>
        <p:spPr>
          <a:xfrm>
            <a:off x="825500" y="8178800"/>
            <a:ext cx="2540000" cy="3302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300" dirty="0">
                <a:solidFill>
                  <a:srgbClr val="7F7F7F"/>
                </a:solidFill>
                <a:latin typeface="微软雅黑" pitchFamily="34" charset="-122"/>
                <a:ea typeface="微软雅黑" pitchFamily="34" charset="-122"/>
                <a:cs typeface="MiSans" pitchFamily="34" charset="-120"/>
              </a:rPr>
              <a:t>https://gitcode.com/cann</a:t>
            </a:r>
            <a:endParaRPr lang="en-US" sz="1300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7" name="Text 5"/>
          <p:cNvSpPr/>
          <p:nvPr/>
        </p:nvSpPr>
        <p:spPr>
          <a:xfrm>
            <a:off x="7620000" y="8178800"/>
            <a:ext cx="1016000" cy="3302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endParaRPr lang="en-US" sz="1300" dirty="0">
              <a:latin typeface="微软雅黑" pitchFamily="34" charset="-122"/>
              <a:ea typeface="微软雅黑" pitchFamily="34" charset="-122"/>
            </a:endParaRPr>
          </a:p>
        </p:txBody>
      </p:sp>
      <p:pic>
        <p:nvPicPr>
          <p:cNvPr id="8" name="Image 0" descr="https://kimi-img.moonshot.cn/pub/slides/okc/4rfbomebqqupm/mnt/agents/output/template_pptd/images/image_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512800" y="8051800"/>
            <a:ext cx="1752600" cy="469900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ext 28"/>
          <p:cNvSpPr/>
          <p:nvPr/>
        </p:nvSpPr>
        <p:spPr>
          <a:xfrm>
            <a:off x="825500" y="8178800"/>
            <a:ext cx="2540000" cy="3302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300" dirty="0">
                <a:solidFill>
                  <a:srgbClr val="7F7F7F"/>
                </a:solidFill>
                <a:latin typeface="微软雅黑" pitchFamily="34" charset="-122"/>
                <a:ea typeface="微软雅黑" pitchFamily="34" charset="-122"/>
                <a:cs typeface="MiSans" pitchFamily="34" charset="-120"/>
              </a:rPr>
              <a:t>https://gitcode.com/cann</a:t>
            </a:r>
            <a:endParaRPr lang="en-US" sz="1300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32" name="Text 29"/>
          <p:cNvSpPr/>
          <p:nvPr/>
        </p:nvSpPr>
        <p:spPr>
          <a:xfrm>
            <a:off x="7620000" y="8178800"/>
            <a:ext cx="1016000" cy="3302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fld id="{09278877-29F0-4836-A08C-2936DE93F20C}" type="slidenum">
              <a:rPr lang="en-US" sz="1300" dirty="0">
                <a:solidFill>
                  <a:srgbClr val="7F7F7F"/>
                </a:solidFill>
                <a:latin typeface="微软雅黑" pitchFamily="34" charset="-122"/>
                <a:ea typeface="微软雅黑" pitchFamily="34" charset="-122"/>
                <a:cs typeface="MiSans" pitchFamily="34" charset="-120"/>
              </a:rPr>
            </a:fld>
            <a:endParaRPr lang="en-US" sz="1300" dirty="0">
              <a:latin typeface="微软雅黑" pitchFamily="34" charset="-122"/>
              <a:ea typeface="微软雅黑" pitchFamily="34" charset="-122"/>
            </a:endParaRPr>
          </a:p>
        </p:txBody>
      </p:sp>
      <p:pic>
        <p:nvPicPr>
          <p:cNvPr id="33" name="Image 0" descr="https://kimi-img.moonshot.cn/pub/slides/okc/4rfbomebqqupm/mnt/agents/output/template_pptd/images/image_2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512800" y="8051800"/>
            <a:ext cx="1752600" cy="469900"/>
          </a:xfrm>
          <a:prstGeom prst="rect">
            <a:avLst/>
          </a:prstGeom>
        </p:spPr>
      </p:pic>
      <p:sp>
        <p:nvSpPr>
          <p:cNvPr id="2" name="Text 0"/>
          <p:cNvSpPr/>
          <p:nvPr/>
        </p:nvSpPr>
        <p:spPr>
          <a:xfrm>
            <a:off x="762000" y="355600"/>
            <a:ext cx="11430000" cy="5715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l">
              <a:lnSpc>
                <a:spcPct val="100000"/>
              </a:lnSpc>
            </a:pPr>
            <a:r>
              <a:rPr lang="zh-CN" altLang="en-US" sz="3200" b="1" dirty="0">
                <a:solidFill>
                  <a:srgbClr val="333333"/>
                </a:solidFill>
                <a:latin typeface="微软雅黑" pitchFamily="34" charset="-122"/>
                <a:ea typeface="微软雅黑" pitchFamily="34" charset="-122"/>
                <a:cs typeface="微软雅黑" pitchFamily="34" charset="-120"/>
                <a:sym typeface="+mn-ea"/>
              </a:rPr>
              <a:t>部署基线</a:t>
            </a:r>
            <a:r>
              <a:rPr lang="en-US" sz="3200" b="1" dirty="0">
                <a:solidFill>
                  <a:srgbClr val="333333"/>
                </a:solidFill>
                <a:latin typeface="微软雅黑" pitchFamily="34" charset="-122"/>
                <a:ea typeface="微软雅黑" pitchFamily="34" charset="-122"/>
                <a:cs typeface="微软雅黑" pitchFamily="34" charset="-120"/>
                <a:sym typeface="+mn-ea"/>
              </a:rPr>
              <a:t>与并行策略</a:t>
            </a:r>
            <a:endParaRPr lang="en-US" sz="3200" b="1" dirty="0">
              <a:solidFill>
                <a:schemeClr val="tx1"/>
              </a:solidFill>
              <a:latin typeface="微软雅黑" pitchFamily="34" charset="-122"/>
              <a:ea typeface="微软雅黑" pitchFamily="34" charset="-122"/>
              <a:cs typeface="微软雅黑" pitchFamily="34" charset="-120"/>
              <a:sym typeface="+mn-ea"/>
            </a:endParaRPr>
          </a:p>
        </p:txBody>
      </p:sp>
      <p:sp>
        <p:nvSpPr>
          <p:cNvPr id="6" name="Shape 4"/>
          <p:cNvSpPr/>
          <p:nvPr/>
        </p:nvSpPr>
        <p:spPr>
          <a:xfrm>
            <a:off x="1016000" y="1320800"/>
            <a:ext cx="279400" cy="279400"/>
          </a:xfrm>
          <a:custGeom>
            <a:avLst/>
            <a:gdLst/>
            <a:ahLst/>
            <a:cxnLst/>
            <a:rect l="l" t="t" r="r" b="b"/>
            <a:pathLst>
              <a:path w="279400" h="279400">
                <a:moveTo>
                  <a:pt x="227013" y="113506"/>
                </a:moveTo>
                <a:cubicBezTo>
                  <a:pt x="227013" y="138554"/>
                  <a:pt x="218882" y="161692"/>
                  <a:pt x="205184" y="180464"/>
                </a:cubicBezTo>
                <a:lnTo>
                  <a:pt x="274270" y="249605"/>
                </a:lnTo>
                <a:cubicBezTo>
                  <a:pt x="281092" y="256426"/>
                  <a:pt x="281092" y="267504"/>
                  <a:pt x="274270" y="274325"/>
                </a:cubicBezTo>
                <a:cubicBezTo>
                  <a:pt x="267449" y="281146"/>
                  <a:pt x="256371" y="281146"/>
                  <a:pt x="249550" y="274325"/>
                </a:cubicBezTo>
                <a:lnTo>
                  <a:pt x="180464" y="205184"/>
                </a:lnTo>
                <a:cubicBezTo>
                  <a:pt x="161692" y="218882"/>
                  <a:pt x="138554" y="227013"/>
                  <a:pt x="113506" y="227013"/>
                </a:cubicBezTo>
                <a:cubicBezTo>
                  <a:pt x="50805" y="227013"/>
                  <a:pt x="0" y="176208"/>
                  <a:pt x="0" y="113506"/>
                </a:cubicBezTo>
                <a:cubicBezTo>
                  <a:pt x="0" y="50805"/>
                  <a:pt x="50805" y="0"/>
                  <a:pt x="113506" y="0"/>
                </a:cubicBezTo>
                <a:cubicBezTo>
                  <a:pt x="176208" y="0"/>
                  <a:pt x="227013" y="50805"/>
                  <a:pt x="227013" y="113506"/>
                </a:cubicBezTo>
                <a:close/>
                <a:moveTo>
                  <a:pt x="56753" y="117872"/>
                </a:moveTo>
                <a:lnTo>
                  <a:pt x="56753" y="152797"/>
                </a:lnTo>
                <a:cubicBezTo>
                  <a:pt x="56753" y="160055"/>
                  <a:pt x="62592" y="165894"/>
                  <a:pt x="69850" y="165894"/>
                </a:cubicBezTo>
                <a:cubicBezTo>
                  <a:pt x="77108" y="165894"/>
                  <a:pt x="82947" y="160055"/>
                  <a:pt x="82947" y="152797"/>
                </a:cubicBezTo>
                <a:lnTo>
                  <a:pt x="82947" y="117872"/>
                </a:lnTo>
                <a:cubicBezTo>
                  <a:pt x="82947" y="110614"/>
                  <a:pt x="77108" y="104775"/>
                  <a:pt x="69850" y="104775"/>
                </a:cubicBezTo>
                <a:cubicBezTo>
                  <a:pt x="62592" y="104775"/>
                  <a:pt x="56753" y="110614"/>
                  <a:pt x="56753" y="117872"/>
                </a:cubicBezTo>
                <a:close/>
                <a:moveTo>
                  <a:pt x="100409" y="65484"/>
                </a:moveTo>
                <a:lnTo>
                  <a:pt x="100409" y="152797"/>
                </a:lnTo>
                <a:cubicBezTo>
                  <a:pt x="100409" y="160055"/>
                  <a:pt x="106248" y="165894"/>
                  <a:pt x="113506" y="165894"/>
                </a:cubicBezTo>
                <a:cubicBezTo>
                  <a:pt x="120764" y="165894"/>
                  <a:pt x="126603" y="160055"/>
                  <a:pt x="126603" y="152797"/>
                </a:cubicBezTo>
                <a:lnTo>
                  <a:pt x="126603" y="65484"/>
                </a:lnTo>
                <a:cubicBezTo>
                  <a:pt x="126603" y="58227"/>
                  <a:pt x="120764" y="52388"/>
                  <a:pt x="113506" y="52388"/>
                </a:cubicBezTo>
                <a:cubicBezTo>
                  <a:pt x="106248" y="52388"/>
                  <a:pt x="100409" y="58227"/>
                  <a:pt x="100409" y="65484"/>
                </a:cubicBezTo>
                <a:close/>
                <a:moveTo>
                  <a:pt x="144066" y="100409"/>
                </a:moveTo>
                <a:lnTo>
                  <a:pt x="144066" y="152797"/>
                </a:lnTo>
                <a:cubicBezTo>
                  <a:pt x="144066" y="160055"/>
                  <a:pt x="149905" y="165894"/>
                  <a:pt x="157163" y="165894"/>
                </a:cubicBezTo>
                <a:cubicBezTo>
                  <a:pt x="164420" y="165894"/>
                  <a:pt x="170259" y="160055"/>
                  <a:pt x="170259" y="152797"/>
                </a:cubicBezTo>
                <a:lnTo>
                  <a:pt x="170259" y="100409"/>
                </a:lnTo>
                <a:cubicBezTo>
                  <a:pt x="170259" y="93152"/>
                  <a:pt x="164420" y="87313"/>
                  <a:pt x="157163" y="87313"/>
                </a:cubicBezTo>
                <a:cubicBezTo>
                  <a:pt x="149905" y="87313"/>
                  <a:pt x="144066" y="93152"/>
                  <a:pt x="144066" y="100409"/>
                </a:cubicBezTo>
                <a:close/>
              </a:path>
            </a:pathLst>
          </a:custGeom>
          <a:solidFill>
            <a:srgbClr val="C00000"/>
          </a:solidFill>
        </p:spPr>
        <p:txBody>
          <a:bodyPr/>
          <a:lstStyle/>
          <a:p>
            <a:endParaRPr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7" name="Text 5"/>
          <p:cNvSpPr/>
          <p:nvPr/>
        </p:nvSpPr>
        <p:spPr>
          <a:xfrm>
            <a:off x="1371600" y="1295400"/>
            <a:ext cx="6350000" cy="3302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b="1" dirty="0">
                <a:solidFill>
                  <a:srgbClr val="333333"/>
                </a:solidFill>
                <a:latin typeface="微软雅黑" pitchFamily="34" charset="-122"/>
                <a:ea typeface="微软雅黑" pitchFamily="34" charset="-122"/>
                <a:cs typeface="微软雅黑" pitchFamily="34" charset="-120"/>
              </a:rPr>
              <a:t>阶段 0：模型分析与基线建立</a:t>
            </a:r>
            <a:endParaRPr lang="en-US" sz="1600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21" name="Shape 19"/>
          <p:cNvSpPr/>
          <p:nvPr/>
        </p:nvSpPr>
        <p:spPr>
          <a:xfrm>
            <a:off x="1033462" y="2694613"/>
            <a:ext cx="244475" cy="279400"/>
          </a:xfrm>
          <a:custGeom>
            <a:avLst/>
            <a:gdLst/>
            <a:ahLst/>
            <a:cxnLst/>
            <a:rect l="l" t="t" r="r" b="b"/>
            <a:pathLst>
              <a:path w="244475" h="279400">
                <a:moveTo>
                  <a:pt x="34925" y="17463"/>
                </a:moveTo>
                <a:cubicBezTo>
                  <a:pt x="15662" y="17463"/>
                  <a:pt x="0" y="33124"/>
                  <a:pt x="0" y="52388"/>
                </a:cubicBezTo>
                <a:lnTo>
                  <a:pt x="0" y="87313"/>
                </a:lnTo>
                <a:cubicBezTo>
                  <a:pt x="0" y="106576"/>
                  <a:pt x="15662" y="122238"/>
                  <a:pt x="34925" y="122238"/>
                </a:cubicBezTo>
                <a:lnTo>
                  <a:pt x="209550" y="122238"/>
                </a:lnTo>
                <a:cubicBezTo>
                  <a:pt x="228813" y="122238"/>
                  <a:pt x="244475" y="106576"/>
                  <a:pt x="244475" y="87313"/>
                </a:cubicBezTo>
                <a:lnTo>
                  <a:pt x="244475" y="52388"/>
                </a:lnTo>
                <a:cubicBezTo>
                  <a:pt x="244475" y="33124"/>
                  <a:pt x="228813" y="17463"/>
                  <a:pt x="209550" y="17463"/>
                </a:cubicBezTo>
                <a:lnTo>
                  <a:pt x="34925" y="17463"/>
                </a:lnTo>
                <a:close/>
                <a:moveTo>
                  <a:pt x="152797" y="56753"/>
                </a:moveTo>
                <a:cubicBezTo>
                  <a:pt x="160025" y="56753"/>
                  <a:pt x="165894" y="62622"/>
                  <a:pt x="165894" y="69850"/>
                </a:cubicBezTo>
                <a:cubicBezTo>
                  <a:pt x="165894" y="77078"/>
                  <a:pt x="160025" y="82947"/>
                  <a:pt x="152797" y="82947"/>
                </a:cubicBezTo>
                <a:cubicBezTo>
                  <a:pt x="145569" y="82947"/>
                  <a:pt x="139700" y="77078"/>
                  <a:pt x="139700" y="69850"/>
                </a:cubicBezTo>
                <a:cubicBezTo>
                  <a:pt x="139700" y="62622"/>
                  <a:pt x="145569" y="56753"/>
                  <a:pt x="152797" y="56753"/>
                </a:cubicBezTo>
                <a:close/>
                <a:moveTo>
                  <a:pt x="183356" y="69850"/>
                </a:moveTo>
                <a:cubicBezTo>
                  <a:pt x="183356" y="62622"/>
                  <a:pt x="189225" y="56753"/>
                  <a:pt x="196453" y="56753"/>
                </a:cubicBezTo>
                <a:cubicBezTo>
                  <a:pt x="203681" y="56753"/>
                  <a:pt x="209550" y="62622"/>
                  <a:pt x="209550" y="69850"/>
                </a:cubicBezTo>
                <a:cubicBezTo>
                  <a:pt x="209550" y="77078"/>
                  <a:pt x="203681" y="82947"/>
                  <a:pt x="196453" y="82947"/>
                </a:cubicBezTo>
                <a:cubicBezTo>
                  <a:pt x="189225" y="82947"/>
                  <a:pt x="183356" y="77078"/>
                  <a:pt x="183356" y="69850"/>
                </a:cubicBezTo>
                <a:close/>
                <a:moveTo>
                  <a:pt x="34925" y="157163"/>
                </a:moveTo>
                <a:cubicBezTo>
                  <a:pt x="15662" y="157163"/>
                  <a:pt x="0" y="172824"/>
                  <a:pt x="0" y="192088"/>
                </a:cubicBezTo>
                <a:lnTo>
                  <a:pt x="0" y="227013"/>
                </a:lnTo>
                <a:cubicBezTo>
                  <a:pt x="0" y="246276"/>
                  <a:pt x="15662" y="261938"/>
                  <a:pt x="34925" y="261938"/>
                </a:cubicBezTo>
                <a:lnTo>
                  <a:pt x="209550" y="261938"/>
                </a:lnTo>
                <a:cubicBezTo>
                  <a:pt x="228813" y="261938"/>
                  <a:pt x="244475" y="246276"/>
                  <a:pt x="244475" y="227013"/>
                </a:cubicBezTo>
                <a:lnTo>
                  <a:pt x="244475" y="192088"/>
                </a:lnTo>
                <a:cubicBezTo>
                  <a:pt x="244475" y="172824"/>
                  <a:pt x="228813" y="157163"/>
                  <a:pt x="209550" y="157163"/>
                </a:cubicBezTo>
                <a:lnTo>
                  <a:pt x="34925" y="157163"/>
                </a:lnTo>
                <a:close/>
                <a:moveTo>
                  <a:pt x="152797" y="196453"/>
                </a:moveTo>
                <a:cubicBezTo>
                  <a:pt x="160025" y="196453"/>
                  <a:pt x="165894" y="202322"/>
                  <a:pt x="165894" y="209550"/>
                </a:cubicBezTo>
                <a:cubicBezTo>
                  <a:pt x="165894" y="216778"/>
                  <a:pt x="160025" y="222647"/>
                  <a:pt x="152797" y="222647"/>
                </a:cubicBezTo>
                <a:cubicBezTo>
                  <a:pt x="145569" y="222647"/>
                  <a:pt x="139700" y="216778"/>
                  <a:pt x="139700" y="209550"/>
                </a:cubicBezTo>
                <a:cubicBezTo>
                  <a:pt x="139700" y="202322"/>
                  <a:pt x="145569" y="196453"/>
                  <a:pt x="152797" y="196453"/>
                </a:cubicBezTo>
                <a:close/>
                <a:moveTo>
                  <a:pt x="183356" y="209550"/>
                </a:moveTo>
                <a:cubicBezTo>
                  <a:pt x="183356" y="202322"/>
                  <a:pt x="189225" y="196453"/>
                  <a:pt x="196453" y="196453"/>
                </a:cubicBezTo>
                <a:cubicBezTo>
                  <a:pt x="203681" y="196453"/>
                  <a:pt x="209550" y="202322"/>
                  <a:pt x="209550" y="209550"/>
                </a:cubicBezTo>
                <a:cubicBezTo>
                  <a:pt x="209550" y="216778"/>
                  <a:pt x="203681" y="222647"/>
                  <a:pt x="196453" y="222647"/>
                </a:cubicBezTo>
                <a:cubicBezTo>
                  <a:pt x="189225" y="222647"/>
                  <a:pt x="183356" y="216778"/>
                  <a:pt x="183356" y="209550"/>
                </a:cubicBezTo>
                <a:close/>
              </a:path>
            </a:pathLst>
          </a:custGeom>
          <a:solidFill>
            <a:srgbClr val="C00000"/>
          </a:solidFill>
        </p:spPr>
        <p:txBody>
          <a:bodyPr/>
          <a:lstStyle/>
          <a:p>
            <a:endParaRPr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22" name="Text 20"/>
          <p:cNvSpPr/>
          <p:nvPr/>
        </p:nvSpPr>
        <p:spPr>
          <a:xfrm>
            <a:off x="1371600" y="2669213"/>
            <a:ext cx="6350000" cy="3302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b="1" dirty="0">
                <a:solidFill>
                  <a:srgbClr val="333333"/>
                </a:solidFill>
                <a:latin typeface="微软雅黑" pitchFamily="34" charset="-122"/>
                <a:ea typeface="微软雅黑" pitchFamily="34" charset="-122"/>
                <a:cs typeface="微软雅黑" pitchFamily="34" charset="-120"/>
              </a:rPr>
              <a:t>部署模式确认</a:t>
            </a:r>
            <a:endParaRPr lang="en-US" sz="1600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23" name="Text 21"/>
          <p:cNvSpPr/>
          <p:nvPr/>
        </p:nvSpPr>
        <p:spPr>
          <a:xfrm>
            <a:off x="1016000" y="3050213"/>
            <a:ext cx="14224000" cy="698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5000"/>
              </a:lnSpc>
            </a:pPr>
            <a:r>
              <a:rPr lang="en-US" altLang="zh-CN" sz="1400" b="1" dirty="0">
                <a:solidFill>
                  <a:srgbClr val="333333"/>
                </a:solidFill>
                <a:latin typeface="微软雅黑" pitchFamily="34" charset="-122"/>
                <a:ea typeface="微软雅黑" pitchFamily="34" charset="-122"/>
                <a:cs typeface="微软雅黑" pitchFamily="34" charset="-120"/>
              </a:rPr>
              <a:t>Recipes </a:t>
            </a:r>
            <a:r>
              <a:rPr lang="zh-CN" altLang="en-US" sz="1400" b="1" dirty="0">
                <a:solidFill>
                  <a:srgbClr val="333333"/>
                </a:solidFill>
                <a:latin typeface="微软雅黑" pitchFamily="34" charset="-122"/>
                <a:ea typeface="微软雅黑" pitchFamily="34" charset="-122"/>
                <a:cs typeface="微软雅黑" pitchFamily="34" charset="-120"/>
              </a:rPr>
              <a:t>仓库</a:t>
            </a:r>
            <a:r>
              <a:rPr lang="en-US" sz="1400" b="1" dirty="0" err="1">
                <a:solidFill>
                  <a:srgbClr val="333333"/>
                </a:solidFill>
                <a:latin typeface="微软雅黑" pitchFamily="34" charset="-122"/>
                <a:ea typeface="微软雅黑" pitchFamily="34" charset="-122"/>
                <a:cs typeface="微软雅黑" pitchFamily="34" charset="-120"/>
              </a:rPr>
              <a:t>框架部署</a:t>
            </a:r>
            <a:r>
              <a:rPr lang="en-US" sz="1400" dirty="0" err="1">
                <a:solidFill>
                  <a:srgbClr val="333333"/>
                </a:solidFill>
                <a:latin typeface="微软雅黑" pitchFamily="34" charset="-122"/>
                <a:ea typeface="微软雅黑" pitchFamily="34" charset="-122"/>
                <a:cs typeface="微软雅黑" pitchFamily="34" charset="-120"/>
              </a:rPr>
              <a:t>（推荐</a:t>
            </a:r>
            <a:r>
              <a:rPr lang="en-US" sz="1400" dirty="0">
                <a:solidFill>
                  <a:srgbClr val="333333"/>
                </a:solidFill>
                <a:latin typeface="微软雅黑" pitchFamily="34" charset="-122"/>
                <a:ea typeface="微软雅黑" pitchFamily="34" charset="-122"/>
                <a:cs typeface="微软雅黑" pitchFamily="34" charset="-120"/>
              </a:rPr>
              <a:t>）：注册 support_models.py，公共流程由 executor/core/ 统一 | </a:t>
            </a:r>
            <a:r>
              <a:rPr lang="en-US" sz="1400" b="1" dirty="0">
                <a:solidFill>
                  <a:srgbClr val="333333"/>
                </a:solidFill>
                <a:latin typeface="微软雅黑" pitchFamily="34" charset="-122"/>
                <a:ea typeface="微软雅黑" pitchFamily="34" charset="-122"/>
                <a:cs typeface="微软雅黑" pitchFamily="34" charset="-120"/>
              </a:rPr>
              <a:t>独立部署</a:t>
            </a:r>
            <a:r>
              <a:rPr lang="en-US" sz="1400" dirty="0">
                <a:solidFill>
                  <a:srgbClr val="333333"/>
                </a:solidFill>
                <a:latin typeface="微软雅黑" pitchFamily="34" charset="-122"/>
                <a:ea typeface="微软雅黑" pitchFamily="34" charset="-122"/>
                <a:cs typeface="微软雅黑" pitchFamily="34" charset="-120"/>
              </a:rPr>
              <a:t>：Runner 自管推理循环，适用仓外项目</a:t>
            </a:r>
            <a:endParaRPr lang="en-US" sz="1600" dirty="0">
              <a:latin typeface="微软雅黑" pitchFamily="34" charset="-122"/>
              <a:ea typeface="微软雅黑" pitchFamily="34" charset="-122"/>
            </a:endParaRPr>
          </a:p>
          <a:p>
            <a:pPr>
              <a:lnSpc>
                <a:spcPct val="145000"/>
              </a:lnSpc>
              <a:spcBef>
                <a:spcPts val="200"/>
              </a:spcBef>
            </a:pPr>
            <a:r>
              <a:rPr lang="en-US" sz="1400" dirty="0">
                <a:solidFill>
                  <a:srgbClr val="333333"/>
                </a:solidFill>
                <a:latin typeface="微软雅黑" pitchFamily="34" charset="-122"/>
                <a:ea typeface="微软雅黑" pitchFamily="34" charset="-122"/>
                <a:cs typeface="微软雅黑" pitchFamily="34" charset="-120"/>
              </a:rPr>
              <a:t>判定优先级：</a:t>
            </a:r>
            <a:r>
              <a:rPr lang="en-US" sz="1400" b="1" dirty="0">
                <a:solidFill>
                  <a:srgbClr val="333333"/>
                </a:solidFill>
                <a:latin typeface="微软雅黑" pitchFamily="34" charset="-122"/>
                <a:ea typeface="微软雅黑" pitchFamily="34" charset="-122"/>
                <a:cs typeface="微软雅黑" pitchFamily="34" charset="-120"/>
              </a:rPr>
              <a:t>dispatch prompt 显式指定 &gt; 用户对话指定 &gt; 工作目录自检</a:t>
            </a:r>
            <a:endParaRPr lang="en-US" sz="1600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24" name="Shape 22"/>
          <p:cNvSpPr/>
          <p:nvPr/>
        </p:nvSpPr>
        <p:spPr>
          <a:xfrm>
            <a:off x="1016000" y="4216400"/>
            <a:ext cx="14224000" cy="0"/>
          </a:xfrm>
          <a:prstGeom prst="straightConnector1">
            <a:avLst/>
          </a:prstGeom>
          <a:noFill/>
          <a:ln w="12700">
            <a:solidFill>
              <a:srgbClr val="E0E0E0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25" name="Shape 23"/>
          <p:cNvSpPr/>
          <p:nvPr/>
        </p:nvSpPr>
        <p:spPr>
          <a:xfrm>
            <a:off x="1016000" y="4368800"/>
            <a:ext cx="279400" cy="279400"/>
          </a:xfrm>
          <a:custGeom>
            <a:avLst/>
            <a:gdLst/>
            <a:ahLst/>
            <a:cxnLst/>
            <a:rect l="l" t="t" r="r" b="b"/>
            <a:pathLst>
              <a:path w="279400" h="279400">
                <a:moveTo>
                  <a:pt x="0" y="43656"/>
                </a:moveTo>
                <a:cubicBezTo>
                  <a:pt x="0" y="29195"/>
                  <a:pt x="11733" y="17463"/>
                  <a:pt x="26194" y="17463"/>
                </a:cubicBezTo>
                <a:lnTo>
                  <a:pt x="78581" y="17463"/>
                </a:lnTo>
                <a:cubicBezTo>
                  <a:pt x="93042" y="17463"/>
                  <a:pt x="104775" y="29195"/>
                  <a:pt x="104775" y="43656"/>
                </a:cubicBezTo>
                <a:lnTo>
                  <a:pt x="104775" y="52388"/>
                </a:lnTo>
                <a:lnTo>
                  <a:pt x="174625" y="52388"/>
                </a:lnTo>
                <a:lnTo>
                  <a:pt x="174625" y="43656"/>
                </a:lnTo>
                <a:cubicBezTo>
                  <a:pt x="174625" y="29195"/>
                  <a:pt x="186358" y="17463"/>
                  <a:pt x="200819" y="17463"/>
                </a:cubicBezTo>
                <a:lnTo>
                  <a:pt x="253206" y="17463"/>
                </a:lnTo>
                <a:cubicBezTo>
                  <a:pt x="267667" y="17463"/>
                  <a:pt x="279400" y="29195"/>
                  <a:pt x="279400" y="43656"/>
                </a:cubicBezTo>
                <a:lnTo>
                  <a:pt x="279400" y="96044"/>
                </a:lnTo>
                <a:cubicBezTo>
                  <a:pt x="279400" y="110505"/>
                  <a:pt x="267667" y="122238"/>
                  <a:pt x="253206" y="122238"/>
                </a:cubicBezTo>
                <a:lnTo>
                  <a:pt x="200819" y="122238"/>
                </a:lnTo>
                <a:cubicBezTo>
                  <a:pt x="186358" y="122238"/>
                  <a:pt x="174625" y="110505"/>
                  <a:pt x="174625" y="96044"/>
                </a:cubicBezTo>
                <a:lnTo>
                  <a:pt x="174625" y="87313"/>
                </a:lnTo>
                <a:lnTo>
                  <a:pt x="104775" y="87313"/>
                </a:lnTo>
                <a:lnTo>
                  <a:pt x="104775" y="96044"/>
                </a:lnTo>
                <a:cubicBezTo>
                  <a:pt x="104775" y="100027"/>
                  <a:pt x="103847" y="103847"/>
                  <a:pt x="102265" y="107231"/>
                </a:cubicBezTo>
                <a:lnTo>
                  <a:pt x="139700" y="157163"/>
                </a:lnTo>
                <a:lnTo>
                  <a:pt x="183356" y="157163"/>
                </a:lnTo>
                <a:cubicBezTo>
                  <a:pt x="197817" y="157163"/>
                  <a:pt x="209550" y="168895"/>
                  <a:pt x="209550" y="183356"/>
                </a:cubicBezTo>
                <a:lnTo>
                  <a:pt x="209550" y="235744"/>
                </a:lnTo>
                <a:cubicBezTo>
                  <a:pt x="209550" y="250205"/>
                  <a:pt x="197817" y="261938"/>
                  <a:pt x="183356" y="261938"/>
                </a:cubicBezTo>
                <a:lnTo>
                  <a:pt x="130969" y="261938"/>
                </a:lnTo>
                <a:cubicBezTo>
                  <a:pt x="116508" y="261938"/>
                  <a:pt x="104775" y="250205"/>
                  <a:pt x="104775" y="235744"/>
                </a:cubicBezTo>
                <a:lnTo>
                  <a:pt x="104775" y="183356"/>
                </a:lnTo>
                <a:cubicBezTo>
                  <a:pt x="104775" y="179373"/>
                  <a:pt x="105703" y="175553"/>
                  <a:pt x="107285" y="172169"/>
                </a:cubicBezTo>
                <a:lnTo>
                  <a:pt x="69850" y="122238"/>
                </a:lnTo>
                <a:lnTo>
                  <a:pt x="26194" y="122238"/>
                </a:lnTo>
                <a:cubicBezTo>
                  <a:pt x="11733" y="122238"/>
                  <a:pt x="0" y="110505"/>
                  <a:pt x="0" y="96044"/>
                </a:cubicBezTo>
                <a:lnTo>
                  <a:pt x="0" y="43656"/>
                </a:lnTo>
                <a:close/>
              </a:path>
            </a:pathLst>
          </a:custGeom>
          <a:solidFill>
            <a:srgbClr val="C00000"/>
          </a:solidFill>
        </p:spPr>
        <p:txBody>
          <a:bodyPr/>
          <a:lstStyle/>
          <a:p>
            <a:endParaRPr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26" name="Text 24"/>
          <p:cNvSpPr/>
          <p:nvPr/>
        </p:nvSpPr>
        <p:spPr>
          <a:xfrm>
            <a:off x="1371600" y="4343400"/>
            <a:ext cx="7620000" cy="3302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b="1" dirty="0">
                <a:solidFill>
                  <a:srgbClr val="333333"/>
                </a:solidFill>
                <a:latin typeface="微软雅黑" pitchFamily="34" charset="-122"/>
                <a:ea typeface="微软雅黑" pitchFamily="34" charset="-122"/>
                <a:cs typeface="微软雅黑" pitchFamily="34" charset="-120"/>
              </a:rPr>
              <a:t>阶段 1：并行</a:t>
            </a:r>
            <a:r>
              <a:rPr lang="zh-CN" altLang="en-US" sz="1800" b="1" dirty="0">
                <a:solidFill>
                  <a:srgbClr val="333333"/>
                </a:solidFill>
                <a:latin typeface="微软雅黑" pitchFamily="34" charset="-122"/>
                <a:ea typeface="微软雅黑" pitchFamily="34" charset="-122"/>
                <a:cs typeface="微软雅黑" pitchFamily="34" charset="-120"/>
              </a:rPr>
              <a:t>切分</a:t>
            </a:r>
            <a:r>
              <a:rPr lang="en-US" sz="1800" b="1" dirty="0">
                <a:solidFill>
                  <a:srgbClr val="333333"/>
                </a:solidFill>
                <a:latin typeface="微软雅黑" pitchFamily="34" charset="-122"/>
                <a:ea typeface="微软雅黑" pitchFamily="34" charset="-122"/>
                <a:cs typeface="微软雅黑" pitchFamily="34" charset="-120"/>
              </a:rPr>
              <a:t>改造</a:t>
            </a:r>
            <a:endParaRPr lang="en-US" sz="1600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27" name="Shape 25"/>
          <p:cNvSpPr/>
          <p:nvPr/>
        </p:nvSpPr>
        <p:spPr>
          <a:xfrm>
            <a:off x="1016000" y="5689602"/>
            <a:ext cx="14224000" cy="660400"/>
          </a:xfrm>
          <a:prstGeom prst="roundRect">
            <a:avLst>
              <a:gd name="adj" fmla="val 3000"/>
            </a:avLst>
          </a:prstGeom>
          <a:solidFill>
            <a:srgbClr val="404040"/>
          </a:solidFill>
        </p:spPr>
        <p:txBody>
          <a:bodyPr/>
          <a:lstStyle/>
          <a:p>
            <a:endParaRPr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28" name="Text 26"/>
          <p:cNvSpPr/>
          <p:nvPr/>
        </p:nvSpPr>
        <p:spPr>
          <a:xfrm>
            <a:off x="1168400" y="5689602"/>
            <a:ext cx="1778000" cy="6604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" b="1" dirty="0">
                <a:solidFill>
                  <a:srgbClr val="FFFFFF"/>
                </a:solidFill>
                <a:latin typeface="微软雅黑" pitchFamily="34" charset="-122"/>
                <a:ea typeface="微软雅黑" pitchFamily="34" charset="-122"/>
                <a:cs typeface="微软雅黑" pitchFamily="34" charset="-120"/>
              </a:rPr>
              <a:t>第一层 架构主干</a:t>
            </a:r>
            <a:endParaRPr lang="en-US" sz="1600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29" name="Text 27"/>
          <p:cNvSpPr/>
          <p:nvPr/>
        </p:nvSpPr>
        <p:spPr>
          <a:xfrm>
            <a:off x="3048000" y="5689602"/>
            <a:ext cx="11938000" cy="660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zh-CN" altLang="en-US" sz="1400" dirty="0">
                <a:solidFill>
                  <a:srgbClr val="FFFFFF"/>
                </a:solidFill>
                <a:latin typeface="微软雅黑" pitchFamily="34" charset="-122"/>
                <a:ea typeface="微软雅黑" pitchFamily="34" charset="-122"/>
                <a:cs typeface="微软雅黑" pitchFamily="34" charset="-120"/>
              </a:rPr>
              <a:t>例</a:t>
            </a:r>
            <a:r>
              <a:rPr lang="en-US" altLang="zh-CN" sz="1400" dirty="0">
                <a:solidFill>
                  <a:srgbClr val="FFFFFF"/>
                </a:solidFill>
                <a:latin typeface="微软雅黑" pitchFamily="34" charset="-122"/>
                <a:ea typeface="微软雅黑" pitchFamily="34" charset="-122"/>
                <a:cs typeface="微软雅黑" pitchFamily="34" charset="-120"/>
              </a:rPr>
              <a:t>：</a:t>
            </a:r>
            <a:r>
              <a:rPr lang="en-US" sz="1400" dirty="0">
                <a:solidFill>
                  <a:srgbClr val="FFFFFF"/>
                </a:solidFill>
                <a:latin typeface="微软雅黑" pitchFamily="34" charset="-122"/>
                <a:ea typeface="微软雅黑" pitchFamily="34" charset="-122"/>
                <a:cs typeface="微软雅黑" pitchFamily="34" charset="-120"/>
              </a:rPr>
              <a:t>Dense 走 DP/TP | MoE 比较 EP 和 TP | MLA 独立评估 oproj_tp | 大词表 Embed/LMHead 独立设 TP</a:t>
            </a:r>
            <a:endParaRPr lang="en-US" sz="1600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30" name="Shape 28"/>
          <p:cNvSpPr/>
          <p:nvPr/>
        </p:nvSpPr>
        <p:spPr>
          <a:xfrm>
            <a:off x="1016000" y="6451602"/>
            <a:ext cx="14224000" cy="660400"/>
          </a:xfrm>
          <a:prstGeom prst="roundRect">
            <a:avLst>
              <a:gd name="adj" fmla="val 3000"/>
            </a:avLst>
          </a:prstGeom>
          <a:solidFill>
            <a:srgbClr val="595959"/>
          </a:solidFill>
        </p:spPr>
        <p:txBody>
          <a:bodyPr/>
          <a:lstStyle/>
          <a:p>
            <a:endParaRPr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3" name="Text 29"/>
          <p:cNvSpPr/>
          <p:nvPr/>
        </p:nvSpPr>
        <p:spPr>
          <a:xfrm>
            <a:off x="1168400" y="6451602"/>
            <a:ext cx="1778000" cy="6604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" b="1" dirty="0">
                <a:solidFill>
                  <a:srgbClr val="FFFFFF"/>
                </a:solidFill>
                <a:latin typeface="微软雅黑" pitchFamily="34" charset="-122"/>
                <a:ea typeface="微软雅黑" pitchFamily="34" charset="-122"/>
                <a:cs typeface="微软雅黑" pitchFamily="34" charset="-120"/>
              </a:rPr>
              <a:t>第二层 场景调整</a:t>
            </a:r>
            <a:endParaRPr lang="en-US" sz="1600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4" name="Text 30"/>
          <p:cNvSpPr/>
          <p:nvPr/>
        </p:nvSpPr>
        <p:spPr>
          <a:xfrm>
            <a:off x="3048000" y="6451602"/>
            <a:ext cx="11938000" cy="660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zh-CN" altLang="en-US" sz="1400" dirty="0">
                <a:solidFill>
                  <a:srgbClr val="FFFFFF"/>
                </a:solidFill>
                <a:latin typeface="微软雅黑" pitchFamily="34" charset="-122"/>
                <a:ea typeface="微软雅黑" pitchFamily="34" charset="-122"/>
                <a:cs typeface="微软雅黑" pitchFamily="34" charset="-120"/>
              </a:rPr>
              <a:t>例</a:t>
            </a:r>
            <a:r>
              <a:rPr lang="en-US" altLang="zh-CN" sz="1400" dirty="0">
                <a:solidFill>
                  <a:srgbClr val="FFFFFF"/>
                </a:solidFill>
                <a:latin typeface="微软雅黑" pitchFamily="34" charset="-122"/>
                <a:ea typeface="微软雅黑" pitchFamily="34" charset="-122"/>
                <a:cs typeface="微软雅黑" pitchFamily="34" charset="-120"/>
              </a:rPr>
              <a:t>：</a:t>
            </a:r>
            <a:r>
              <a:rPr lang="en-US" sz="1400" dirty="0">
                <a:solidFill>
                  <a:srgbClr val="FFFFFF"/>
                </a:solidFill>
                <a:latin typeface="微软雅黑" pitchFamily="34" charset="-122"/>
                <a:ea typeface="微软雅黑" pitchFamily="34" charset="-122"/>
                <a:cs typeface="微软雅黑" pitchFamily="34" charset="-120"/>
              </a:rPr>
              <a:t>高吞吐大 batch → attn_tp=1 最大化 DP | 低时延小 batch → </a:t>
            </a:r>
            <a:r>
              <a:rPr lang="zh-CN" altLang="en-US" sz="1400" dirty="0">
                <a:solidFill>
                  <a:srgbClr val="FFFFFF"/>
                </a:solidFill>
                <a:latin typeface="微软雅黑" pitchFamily="34" charset="-122"/>
                <a:ea typeface="微软雅黑" pitchFamily="34" charset="-122"/>
                <a:cs typeface="微软雅黑" pitchFamily="34" charset="-120"/>
              </a:rPr>
              <a:t>增大</a:t>
            </a:r>
            <a:r>
              <a:rPr lang="en-US" sz="1400" dirty="0">
                <a:solidFill>
                  <a:srgbClr val="FFFFFF"/>
                </a:solidFill>
                <a:latin typeface="微软雅黑" pitchFamily="34" charset="-122"/>
                <a:ea typeface="微软雅黑" pitchFamily="34" charset="-122"/>
                <a:cs typeface="微软雅黑" pitchFamily="34" charset="-120"/>
              </a:rPr>
              <a:t> attn_tp </a:t>
            </a:r>
            <a:r>
              <a:rPr lang="zh-CN" altLang="en-US" sz="1400" dirty="0">
                <a:solidFill>
                  <a:srgbClr val="FFFFFF"/>
                </a:solidFill>
                <a:latin typeface="微软雅黑" pitchFamily="34" charset="-122"/>
                <a:ea typeface="微软雅黑" pitchFamily="34" charset="-122"/>
                <a:cs typeface="微软雅黑" pitchFamily="34" charset="-120"/>
              </a:rPr>
              <a:t>并行度</a:t>
            </a:r>
            <a:endParaRPr lang="zh-CN" altLang="en-US" sz="1400" dirty="0">
              <a:solidFill>
                <a:srgbClr val="FFFFFF"/>
              </a:solidFill>
              <a:latin typeface="微软雅黑" pitchFamily="34" charset="-122"/>
              <a:ea typeface="微软雅黑" pitchFamily="34" charset="-122"/>
              <a:cs typeface="微软雅黑" pitchFamily="34" charset="-120"/>
            </a:endParaRPr>
          </a:p>
        </p:txBody>
      </p:sp>
      <p:sp>
        <p:nvSpPr>
          <p:cNvPr id="5" name="Shape 31"/>
          <p:cNvSpPr/>
          <p:nvPr/>
        </p:nvSpPr>
        <p:spPr>
          <a:xfrm>
            <a:off x="1016000" y="7213602"/>
            <a:ext cx="14224000" cy="660400"/>
          </a:xfrm>
          <a:prstGeom prst="roundRect">
            <a:avLst>
              <a:gd name="adj" fmla="val 3000"/>
            </a:avLst>
          </a:prstGeom>
          <a:solidFill>
            <a:srgbClr val="595959"/>
          </a:solidFill>
        </p:spPr>
        <p:txBody>
          <a:bodyPr/>
          <a:lstStyle/>
          <a:p>
            <a:endParaRPr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34" name="Text 32"/>
          <p:cNvSpPr/>
          <p:nvPr/>
        </p:nvSpPr>
        <p:spPr>
          <a:xfrm>
            <a:off x="1168400" y="7213602"/>
            <a:ext cx="2286000" cy="6604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l">
              <a:lnSpc>
                <a:spcPct val="100000"/>
              </a:lnSpc>
            </a:pPr>
            <a:r>
              <a:rPr lang="en-US" sz="1400" b="1" dirty="0">
                <a:solidFill>
                  <a:srgbClr val="FFFFFF"/>
                </a:solidFill>
                <a:latin typeface="微软雅黑" pitchFamily="34" charset="-122"/>
                <a:ea typeface="微软雅黑" pitchFamily="34" charset="-122"/>
                <a:cs typeface="微软雅黑" pitchFamily="34" charset="-120"/>
              </a:rPr>
              <a:t>第三层 </a:t>
            </a:r>
            <a:r>
              <a:rPr lang="zh-CN" altLang="en-US" sz="1400" b="1" dirty="0">
                <a:solidFill>
                  <a:srgbClr val="FFFFFF"/>
                </a:solidFill>
                <a:latin typeface="微软雅黑" pitchFamily="34" charset="-122"/>
                <a:ea typeface="微软雅黑" pitchFamily="34" charset="-122"/>
                <a:cs typeface="微软雅黑" pitchFamily="34" charset="-120"/>
              </a:rPr>
              <a:t>定量分析</a:t>
            </a:r>
            <a:endParaRPr lang="zh-CN" altLang="en-US" sz="1400" b="1" dirty="0">
              <a:solidFill>
                <a:srgbClr val="FFFFFF"/>
              </a:solidFill>
              <a:latin typeface="微软雅黑" pitchFamily="34" charset="-122"/>
              <a:ea typeface="微软雅黑" pitchFamily="34" charset="-122"/>
              <a:cs typeface="微软雅黑" pitchFamily="34" charset="-120"/>
            </a:endParaRPr>
          </a:p>
        </p:txBody>
      </p:sp>
      <p:sp>
        <p:nvSpPr>
          <p:cNvPr id="35" name="Text 33"/>
          <p:cNvSpPr/>
          <p:nvPr/>
        </p:nvSpPr>
        <p:spPr>
          <a:xfrm>
            <a:off x="3048000" y="7213602"/>
            <a:ext cx="11430000" cy="660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zh-CN" altLang="en-US" sz="1400" dirty="0">
                <a:solidFill>
                  <a:srgbClr val="FFFFFF"/>
                </a:solidFill>
                <a:latin typeface="微软雅黑" pitchFamily="34" charset="-122"/>
                <a:ea typeface="微软雅黑" pitchFamily="34" charset="-122"/>
                <a:cs typeface="微软雅黑" pitchFamily="34" charset="-120"/>
              </a:rPr>
              <a:t>例</a:t>
            </a:r>
            <a:r>
              <a:rPr lang="en-US" altLang="zh-CN" sz="1400" dirty="0">
                <a:solidFill>
                  <a:srgbClr val="FFFFFF"/>
                </a:solidFill>
                <a:latin typeface="微软雅黑" pitchFamily="34" charset="-122"/>
                <a:ea typeface="微软雅黑" pitchFamily="34" charset="-122"/>
                <a:cs typeface="微软雅黑" pitchFamily="34" charset="-120"/>
              </a:rPr>
              <a:t>：</a:t>
            </a:r>
            <a:r>
              <a:rPr lang="zh-CN" altLang="en-US" sz="1400" dirty="0">
                <a:solidFill>
                  <a:srgbClr val="FFFFFF"/>
                </a:solidFill>
                <a:latin typeface="微软雅黑" pitchFamily="34" charset="-122"/>
                <a:ea typeface="微软雅黑" pitchFamily="34" charset="-122"/>
                <a:cs typeface="微软雅黑" pitchFamily="34" charset="-120"/>
              </a:rPr>
              <a:t>分析方案可行性</a:t>
            </a:r>
            <a:r>
              <a:rPr lang="en-US" altLang="zh-CN" sz="1400" dirty="0">
                <a:solidFill>
                  <a:srgbClr val="FFFFFF"/>
                </a:solidFill>
                <a:latin typeface="微软雅黑" pitchFamily="34" charset="-122"/>
                <a:ea typeface="微软雅黑" pitchFamily="34" charset="-122"/>
                <a:cs typeface="微软雅黑" pitchFamily="34" charset="-120"/>
              </a:rPr>
              <a:t>，</a:t>
            </a:r>
            <a:r>
              <a:rPr lang="en-US" sz="1400" dirty="0">
                <a:solidFill>
                  <a:srgbClr val="FFFFFF"/>
                </a:solidFill>
                <a:latin typeface="微软雅黑" pitchFamily="34" charset="-122"/>
                <a:ea typeface="微软雅黑" pitchFamily="34" charset="-122"/>
                <a:cs typeface="微软雅黑" pitchFamily="34" charset="-120"/>
              </a:rPr>
              <a:t> analyzer 输出 2-3 个候选 parallel_config，用户从候选里选</a:t>
            </a:r>
            <a:endParaRPr lang="en-US" sz="1600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38" name="文本框 37"/>
          <p:cNvSpPr txBox="1"/>
          <p:nvPr/>
        </p:nvSpPr>
        <p:spPr>
          <a:xfrm>
            <a:off x="888999" y="4937781"/>
            <a:ext cx="14376401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altLang="zh-CN" sz="1600" noProof="1">
                <a:solidFill>
                  <a:srgbClr val="333333"/>
                </a:solidFill>
                <a:latin typeface="微软雅黑" pitchFamily="34" charset="-122"/>
                <a:ea typeface="微软雅黑" pitchFamily="34" charset="-122"/>
              </a:rPr>
              <a:t>Agent</a:t>
            </a:r>
            <a:r>
              <a:rPr lang="zh-CN" altLang="en-US" sz="1600" noProof="1">
                <a:solidFill>
                  <a:srgbClr val="333333"/>
                </a:solidFill>
                <a:latin typeface="微软雅黑" pitchFamily="34" charset="-122"/>
                <a:ea typeface="微软雅黑" pitchFamily="34" charset="-122"/>
              </a:rPr>
              <a:t> 分析与实施：参考 </a:t>
            </a:r>
            <a:r>
              <a:rPr lang="en-US" altLang="zh-CN" sz="1600" b="1" noProof="1">
                <a:solidFill>
                  <a:srgbClr val="C00000"/>
                </a:solidFill>
                <a:latin typeface="微软雅黑" pitchFamily="34" charset="-122"/>
                <a:ea typeface="微软雅黑" pitchFamily="34" charset="-122"/>
              </a:rPr>
              <a:t>model-infer-parallel-analysis / -impl</a:t>
            </a:r>
            <a:r>
              <a:rPr lang="en-US" altLang="zh-CN" sz="1600" b="1" noProof="1">
                <a:latin typeface="微软雅黑" pitchFamily="34" charset="-122"/>
                <a:ea typeface="微软雅黑" pitchFamily="34" charset="-122"/>
              </a:rPr>
              <a:t> </a:t>
            </a:r>
            <a:r>
              <a:rPr lang="zh-CN" altLang="en-US" sz="1600" b="1" noProof="1">
                <a:latin typeface="微软雅黑" pitchFamily="34" charset="-122"/>
                <a:ea typeface="微软雅黑" pitchFamily="34" charset="-122"/>
              </a:rPr>
              <a:t>，</a:t>
            </a:r>
            <a:r>
              <a:rPr lang="en-US" altLang="zh-CN" sz="1600" noProof="1">
                <a:solidFill>
                  <a:srgbClr val="333333"/>
                </a:solidFill>
                <a:latin typeface="微软雅黑" pitchFamily="34" charset="-122"/>
                <a:ea typeface="微软雅黑" pitchFamily="34" charset="-122"/>
              </a:rPr>
              <a:t>先分析模型结构与硬件规格，</a:t>
            </a:r>
            <a:r>
              <a:rPr lang="zh-CN" altLang="en-US" sz="1600" noProof="1">
                <a:solidFill>
                  <a:srgbClr val="333333"/>
                </a:solidFill>
                <a:latin typeface="微软雅黑" pitchFamily="34" charset="-122"/>
                <a:ea typeface="微软雅黑" pitchFamily="34" charset="-122"/>
              </a:rPr>
              <a:t>对照最佳实践部署样例，分析计算、显存、通信，</a:t>
            </a:r>
            <a:r>
              <a:rPr lang="en-US" altLang="zh-CN" sz="1600" noProof="1">
                <a:solidFill>
                  <a:srgbClr val="333333"/>
                </a:solidFill>
                <a:latin typeface="微软雅黑" pitchFamily="34" charset="-122"/>
                <a:ea typeface="微软雅黑" pitchFamily="34" charset="-122"/>
              </a:rPr>
              <a:t>确定整体并行策略；再落地切分、搭建各通信组、按维加载权重，并</a:t>
            </a:r>
            <a:r>
              <a:rPr lang="en-US" altLang="zh-CN" sz="1600" b="1" noProof="1">
                <a:solidFill>
                  <a:srgbClr val="333333"/>
                </a:solidFill>
                <a:latin typeface="微软雅黑" pitchFamily="34" charset="-122"/>
                <a:ea typeface="微软雅黑" pitchFamily="34" charset="-122"/>
              </a:rPr>
              <a:t>验证多卡输出语义正确</a:t>
            </a:r>
            <a:r>
              <a:rPr lang="en-US" altLang="zh-CN" sz="1600" noProof="1">
                <a:solidFill>
                  <a:srgbClr val="333333"/>
                </a:solidFill>
                <a:latin typeface="微软雅黑" pitchFamily="34" charset="-122"/>
                <a:ea typeface="微软雅黑" pitchFamily="34" charset="-122"/>
              </a:rPr>
              <a:t>。Agent </a:t>
            </a:r>
            <a:r>
              <a:rPr lang="zh-CN" altLang="en-US" sz="1600" noProof="1">
                <a:solidFill>
                  <a:srgbClr val="333333"/>
                </a:solidFill>
                <a:latin typeface="微软雅黑" pitchFamily="34" charset="-122"/>
                <a:ea typeface="微软雅黑" pitchFamily="34" charset="-122"/>
              </a:rPr>
              <a:t>实现基础部署方案，人机协同优化通信方式追求极致性能。</a:t>
            </a:r>
            <a:endParaRPr lang="zh-CN" altLang="en-US" sz="1600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39" name="文本框 38"/>
          <p:cNvSpPr txBox="1"/>
          <p:nvPr/>
        </p:nvSpPr>
        <p:spPr>
          <a:xfrm>
            <a:off x="888999" y="1907603"/>
            <a:ext cx="14097001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altLang="zh-CN" sz="1600" noProof="1">
                <a:solidFill>
                  <a:srgbClr val="333333"/>
                </a:solidFill>
                <a:latin typeface="微软雅黑" pitchFamily="34" charset="-122"/>
                <a:ea typeface="微软雅黑" pitchFamily="34" charset="-122"/>
              </a:rPr>
              <a:t>Agent</a:t>
            </a:r>
            <a:r>
              <a:rPr lang="zh-CN" altLang="en-US" sz="1600" noProof="1">
                <a:solidFill>
                  <a:srgbClr val="333333"/>
                </a:solidFill>
                <a:latin typeface="微软雅黑" pitchFamily="34" charset="-122"/>
                <a:ea typeface="微软雅黑" pitchFamily="34" charset="-122"/>
              </a:rPr>
              <a:t> 分析与实施：参考 </a:t>
            </a:r>
            <a:r>
              <a:rPr lang="en-US" altLang="zh-CN" sz="1600" b="1" noProof="1">
                <a:solidFill>
                  <a:srgbClr val="C00000"/>
                </a:solidFill>
                <a:latin typeface="微软雅黑" pitchFamily="34" charset="-122"/>
                <a:ea typeface="微软雅黑" pitchFamily="34" charset="-122"/>
              </a:rPr>
              <a:t>model-infer-migrator</a:t>
            </a:r>
            <a:r>
              <a:rPr lang="zh-CN" altLang="en-US" sz="1600" b="1" noProof="1">
                <a:latin typeface="微软雅黑" pitchFamily="34" charset="-122"/>
                <a:ea typeface="微软雅黑" pitchFamily="34" charset="-122"/>
              </a:rPr>
              <a:t>，</a:t>
            </a:r>
            <a:r>
              <a:rPr lang="zh-CN" altLang="en-US" sz="1600" noProof="1">
                <a:solidFill>
                  <a:srgbClr val="333333"/>
                </a:solidFill>
                <a:latin typeface="微软雅黑" pitchFamily="34" charset="-122"/>
                <a:ea typeface="微软雅黑" pitchFamily="34" charset="-122"/>
              </a:rPr>
              <a:t>进行信息收集（</a:t>
            </a:r>
            <a:r>
              <a:rPr lang="en-US" altLang="zh-CN" sz="1600" dirty="0" err="1">
                <a:solidFill>
                  <a:srgbClr val="333333"/>
                </a:solidFill>
                <a:latin typeface="微软雅黑" pitchFamily="34" charset="-122"/>
                <a:ea typeface="微软雅黑" pitchFamily="34" charset="-122"/>
              </a:rPr>
              <a:t>模型目录</a:t>
            </a:r>
            <a:r>
              <a:rPr lang="en-US" altLang="zh-CN" sz="1600" dirty="0">
                <a:solidFill>
                  <a:srgbClr val="333333"/>
                </a:solidFill>
                <a:latin typeface="微软雅黑" pitchFamily="34" charset="-122"/>
                <a:ea typeface="微软雅黑" pitchFamily="34" charset="-122"/>
              </a:rPr>
              <a:t> / </a:t>
            </a:r>
            <a:r>
              <a:rPr lang="en-US" altLang="zh-CN" sz="1600" dirty="0" err="1">
                <a:solidFill>
                  <a:srgbClr val="333333"/>
                </a:solidFill>
                <a:latin typeface="微软雅黑" pitchFamily="34" charset="-122"/>
                <a:ea typeface="微软雅黑" pitchFamily="34" charset="-122"/>
              </a:rPr>
              <a:t>HF链接</a:t>
            </a:r>
            <a:r>
              <a:rPr lang="en-US" altLang="zh-CN" sz="1600" dirty="0">
                <a:solidFill>
                  <a:srgbClr val="333333"/>
                </a:solidFill>
                <a:latin typeface="微软雅黑" pitchFamily="34" charset="-122"/>
                <a:ea typeface="微软雅黑" pitchFamily="34" charset="-122"/>
              </a:rPr>
              <a:t> / </a:t>
            </a:r>
            <a:r>
              <a:rPr lang="en-US" altLang="zh-CN" sz="1600" dirty="0" err="1">
                <a:solidFill>
                  <a:srgbClr val="333333"/>
                </a:solidFill>
                <a:latin typeface="微软雅黑" pitchFamily="34" charset="-122"/>
                <a:ea typeface="微软雅黑" pitchFamily="34" charset="-122"/>
              </a:rPr>
              <a:t>权重路径</a:t>
            </a:r>
            <a:r>
              <a:rPr lang="en-US" altLang="zh-CN" sz="1600" dirty="0">
                <a:solidFill>
                  <a:srgbClr val="333333"/>
                </a:solidFill>
                <a:latin typeface="微软雅黑" pitchFamily="34" charset="-122"/>
                <a:ea typeface="微软雅黑" pitchFamily="34" charset="-122"/>
              </a:rPr>
              <a:t> / </a:t>
            </a:r>
            <a:r>
              <a:rPr lang="en-US" altLang="zh-CN" sz="1600" dirty="0" err="1">
                <a:solidFill>
                  <a:srgbClr val="333333"/>
                </a:solidFill>
                <a:latin typeface="微软雅黑" pitchFamily="34" charset="-122"/>
                <a:ea typeface="微软雅黑" pitchFamily="34" charset="-122"/>
              </a:rPr>
              <a:t>部署模式</a:t>
            </a:r>
            <a:r>
              <a:rPr lang="zh-CN" altLang="en-US" sz="1600" dirty="0">
                <a:solidFill>
                  <a:srgbClr val="333333"/>
                </a:solidFill>
                <a:latin typeface="微软雅黑" pitchFamily="34" charset="-122"/>
                <a:ea typeface="微软雅黑" pitchFamily="34" charset="-122"/>
              </a:rPr>
              <a:t>等</a:t>
            </a:r>
            <a:r>
              <a:rPr lang="zh-CN" altLang="en-US" sz="1600" noProof="1">
                <a:solidFill>
                  <a:srgbClr val="333333"/>
                </a:solidFill>
                <a:latin typeface="微软雅黑" pitchFamily="34" charset="-122"/>
                <a:ea typeface="微软雅黑" pitchFamily="34" charset="-122"/>
              </a:rPr>
              <a:t>），</a:t>
            </a:r>
            <a:r>
              <a:rPr lang="en-US" altLang="zh-CN" sz="1600" dirty="0" err="1">
                <a:solidFill>
                  <a:srgbClr val="333333"/>
                </a:solidFill>
                <a:latin typeface="微软雅黑" pitchFamily="34" charset="-122"/>
                <a:ea typeface="微软雅黑" pitchFamily="34" charset="-122"/>
              </a:rPr>
              <a:t>基于</a:t>
            </a:r>
            <a:r>
              <a:rPr lang="zh-CN" altLang="en-US" sz="1600" dirty="0">
                <a:solidFill>
                  <a:srgbClr val="333333"/>
                </a:solidFill>
                <a:latin typeface="微软雅黑" pitchFamily="34" charset="-122"/>
                <a:ea typeface="微软雅黑" pitchFamily="34" charset="-122"/>
              </a:rPr>
              <a:t>模型源码与</a:t>
            </a:r>
            <a:r>
              <a:rPr lang="en-US" altLang="zh-CN" sz="1600" dirty="0">
                <a:solidFill>
                  <a:srgbClr val="333333"/>
                </a:solidFill>
                <a:latin typeface="微软雅黑" pitchFamily="34" charset="-122"/>
                <a:ea typeface="微软雅黑" pitchFamily="34" charset="-122"/>
              </a:rPr>
              <a:t> </a:t>
            </a:r>
            <a:r>
              <a:rPr lang="en-US" altLang="zh-CN" sz="1600" dirty="0" err="1">
                <a:solidFill>
                  <a:srgbClr val="333333"/>
                </a:solidFill>
                <a:latin typeface="微软雅黑" pitchFamily="34" charset="-122"/>
                <a:ea typeface="微软雅黑" pitchFamily="34" charset="-122"/>
              </a:rPr>
              <a:t>config.json</a:t>
            </a:r>
            <a:r>
              <a:rPr lang="en-US" altLang="zh-CN" sz="1600" dirty="0">
                <a:solidFill>
                  <a:srgbClr val="333333"/>
                </a:solidFill>
                <a:latin typeface="微软雅黑" pitchFamily="34" charset="-122"/>
                <a:ea typeface="微软雅黑" pitchFamily="34" charset="-122"/>
              </a:rPr>
              <a:t> </a:t>
            </a:r>
            <a:r>
              <a:rPr lang="en-US" altLang="zh-CN" sz="1600" dirty="0" err="1">
                <a:solidFill>
                  <a:srgbClr val="333333"/>
                </a:solidFill>
                <a:latin typeface="微软雅黑" pitchFamily="34" charset="-122"/>
                <a:ea typeface="微软雅黑" pitchFamily="34" charset="-122"/>
              </a:rPr>
              <a:t>识别架构</a:t>
            </a:r>
            <a:r>
              <a:rPr lang="zh-CN" altLang="en-US" sz="1600" dirty="0">
                <a:solidFill>
                  <a:srgbClr val="333333"/>
                </a:solidFill>
                <a:latin typeface="微软雅黑" pitchFamily="34" charset="-122"/>
                <a:ea typeface="微软雅黑" pitchFamily="34" charset="-122"/>
              </a:rPr>
              <a:t>，对部署方案初评估，建立 </a:t>
            </a:r>
            <a:r>
              <a:rPr lang="en-US" altLang="zh-CN" sz="1600" dirty="0">
                <a:solidFill>
                  <a:srgbClr val="333333"/>
                </a:solidFill>
                <a:latin typeface="微软雅黑" pitchFamily="34" charset="-122"/>
                <a:ea typeface="微软雅黑" pitchFamily="34" charset="-122"/>
              </a:rPr>
              <a:t>NPU</a:t>
            </a:r>
            <a:r>
              <a:rPr lang="zh-CN" altLang="en-US" sz="1600" dirty="0">
                <a:solidFill>
                  <a:srgbClr val="333333"/>
                </a:solidFill>
                <a:latin typeface="微软雅黑" pitchFamily="34" charset="-122"/>
                <a:ea typeface="微软雅黑" pitchFamily="34" charset="-122"/>
              </a:rPr>
              <a:t> 迁移基线</a:t>
            </a:r>
            <a:r>
              <a:rPr lang="en-US" altLang="zh-CN" sz="1600" noProof="1">
                <a:solidFill>
                  <a:srgbClr val="333333"/>
                </a:solidFill>
                <a:latin typeface="微软雅黑" pitchFamily="34" charset="-122"/>
                <a:ea typeface="微软雅黑" pitchFamily="34" charset="-122"/>
              </a:rPr>
              <a:t>。</a:t>
            </a:r>
            <a:endParaRPr lang="zh-CN" altLang="en-US" sz="1600" dirty="0">
              <a:solidFill>
                <a:srgbClr val="333333"/>
              </a:solidFill>
              <a:latin typeface="微软雅黑" pitchFamily="34" charset="-122"/>
              <a:ea typeface="微软雅黑" pitchFamily="34" charset="-122"/>
            </a:endParaRPr>
          </a:p>
        </p:txBody>
      </p:sp>
    </p:spTree>
  </p:cSld>
  <p:clrMapOvr>
    <a:masterClrMapping/>
  </p:clrMapOvr>
  <p:transition>
    <p:fade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ext 28"/>
          <p:cNvSpPr/>
          <p:nvPr/>
        </p:nvSpPr>
        <p:spPr>
          <a:xfrm>
            <a:off x="825500" y="8178800"/>
            <a:ext cx="2540000" cy="3302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300" dirty="0">
                <a:solidFill>
                  <a:srgbClr val="7F7F7F"/>
                </a:solidFill>
                <a:latin typeface="微软雅黑" pitchFamily="34" charset="-122"/>
                <a:ea typeface="微软雅黑" pitchFamily="34" charset="-122"/>
                <a:cs typeface="MiSans" pitchFamily="34" charset="-120"/>
              </a:rPr>
              <a:t>https://gitcode.com/cann</a:t>
            </a:r>
            <a:endParaRPr lang="en-US" sz="1300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32" name="Text 29"/>
          <p:cNvSpPr/>
          <p:nvPr/>
        </p:nvSpPr>
        <p:spPr>
          <a:xfrm>
            <a:off x="7620000" y="8178800"/>
            <a:ext cx="1016000" cy="3302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fld id="{081CF9AE-9453-4A78-9D58-5FB3529A7BB0}" type="slidenum">
              <a:rPr lang="en-US" sz="1300" dirty="0">
                <a:solidFill>
                  <a:srgbClr val="7F7F7F"/>
                </a:solidFill>
                <a:latin typeface="微软雅黑" pitchFamily="34" charset="-122"/>
                <a:ea typeface="微软雅黑" pitchFamily="34" charset="-122"/>
                <a:cs typeface="MiSans" pitchFamily="34" charset="-120"/>
              </a:rPr>
            </a:fld>
            <a:endParaRPr lang="en-US" sz="1300" dirty="0">
              <a:latin typeface="微软雅黑" pitchFamily="34" charset="-122"/>
              <a:ea typeface="微软雅黑" pitchFamily="34" charset="-122"/>
            </a:endParaRPr>
          </a:p>
        </p:txBody>
      </p:sp>
      <p:pic>
        <p:nvPicPr>
          <p:cNvPr id="33" name="Image 0" descr="https://kimi-img.moonshot.cn/pub/slides/okc/4rfbomebqqupm/mnt/agents/output/template_pptd/images/image_2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512800" y="8051800"/>
            <a:ext cx="1752600" cy="469900"/>
          </a:xfrm>
          <a:prstGeom prst="rect">
            <a:avLst/>
          </a:prstGeom>
        </p:spPr>
      </p:pic>
      <p:sp>
        <p:nvSpPr>
          <p:cNvPr id="2" name="Text 0"/>
          <p:cNvSpPr/>
          <p:nvPr/>
        </p:nvSpPr>
        <p:spPr>
          <a:xfrm>
            <a:off x="762000" y="355600"/>
            <a:ext cx="11430000" cy="5715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l">
              <a:lnSpc>
                <a:spcPct val="100000"/>
              </a:lnSpc>
            </a:pPr>
            <a:r>
              <a:rPr lang="en-US" sz="3200" b="1" dirty="0">
                <a:solidFill>
                  <a:srgbClr val="333333"/>
                </a:solidFill>
                <a:latin typeface="微软雅黑" pitchFamily="34" charset="-122"/>
                <a:ea typeface="微软雅黑" pitchFamily="34" charset="-122"/>
                <a:cs typeface="微软雅黑" pitchFamily="34" charset="-120"/>
                <a:sym typeface="+mn-ea"/>
              </a:rPr>
              <a:t>缓存改造与</a:t>
            </a:r>
            <a:r>
              <a:rPr lang="zh-CN" altLang="en-US" sz="3200" b="1" dirty="0">
                <a:solidFill>
                  <a:srgbClr val="333333"/>
                </a:solidFill>
                <a:latin typeface="微软雅黑" pitchFamily="34" charset="-122"/>
                <a:ea typeface="微软雅黑" pitchFamily="34" charset="-122"/>
                <a:cs typeface="微软雅黑" pitchFamily="34" charset="-120"/>
                <a:sym typeface="+mn-ea"/>
              </a:rPr>
              <a:t>融合</a:t>
            </a:r>
            <a:r>
              <a:rPr lang="en-US" sz="3200" b="1" dirty="0">
                <a:solidFill>
                  <a:srgbClr val="333333"/>
                </a:solidFill>
                <a:latin typeface="微软雅黑" pitchFamily="34" charset="-122"/>
                <a:ea typeface="微软雅黑" pitchFamily="34" charset="-122"/>
                <a:cs typeface="微软雅黑" pitchFamily="34" charset="-120"/>
                <a:sym typeface="+mn-ea"/>
              </a:rPr>
              <a:t>算子</a:t>
            </a:r>
            <a:r>
              <a:rPr lang="zh-CN" altLang="en-US" sz="3200" b="1" dirty="0">
                <a:solidFill>
                  <a:srgbClr val="333333"/>
                </a:solidFill>
                <a:latin typeface="微软雅黑" pitchFamily="34" charset="-122"/>
                <a:ea typeface="微软雅黑" pitchFamily="34" charset="-122"/>
                <a:cs typeface="微软雅黑" pitchFamily="34" charset="-120"/>
                <a:sym typeface="+mn-ea"/>
              </a:rPr>
              <a:t>适配</a:t>
            </a:r>
            <a:endParaRPr lang="zh-CN" altLang="en-US" sz="3200" b="1" dirty="0">
              <a:solidFill>
                <a:srgbClr val="333333"/>
              </a:solidFill>
              <a:latin typeface="微软雅黑" pitchFamily="34" charset="-122"/>
              <a:ea typeface="微软雅黑" pitchFamily="34" charset="-122"/>
              <a:cs typeface="微软雅黑" pitchFamily="34" charset="-120"/>
              <a:sym typeface="+mn-ea"/>
            </a:endParaRPr>
          </a:p>
        </p:txBody>
      </p:sp>
      <p:sp>
        <p:nvSpPr>
          <p:cNvPr id="3" name="Shape 4"/>
          <p:cNvSpPr/>
          <p:nvPr/>
        </p:nvSpPr>
        <p:spPr>
          <a:xfrm>
            <a:off x="966470" y="1122680"/>
            <a:ext cx="279400" cy="279400"/>
          </a:xfrm>
          <a:custGeom>
            <a:avLst/>
            <a:gdLst/>
            <a:ahLst/>
            <a:cxnLst/>
            <a:rect l="l" t="t" r="r" b="b"/>
            <a:pathLst>
              <a:path w="279400" h="279400">
                <a:moveTo>
                  <a:pt x="34925" y="34925"/>
                </a:moveTo>
                <a:cubicBezTo>
                  <a:pt x="15662" y="34925"/>
                  <a:pt x="0" y="50587"/>
                  <a:pt x="0" y="69850"/>
                </a:cubicBezTo>
                <a:lnTo>
                  <a:pt x="0" y="73888"/>
                </a:lnTo>
                <a:cubicBezTo>
                  <a:pt x="0" y="77599"/>
                  <a:pt x="2401" y="80764"/>
                  <a:pt x="5512" y="82783"/>
                </a:cubicBezTo>
                <a:cubicBezTo>
                  <a:pt x="12715" y="87476"/>
                  <a:pt x="17463" y="95553"/>
                  <a:pt x="17463" y="104775"/>
                </a:cubicBezTo>
                <a:cubicBezTo>
                  <a:pt x="17463" y="113997"/>
                  <a:pt x="12715" y="122074"/>
                  <a:pt x="5512" y="126767"/>
                </a:cubicBezTo>
                <a:cubicBezTo>
                  <a:pt x="2401" y="128786"/>
                  <a:pt x="0" y="131951"/>
                  <a:pt x="0" y="135662"/>
                </a:cubicBezTo>
                <a:lnTo>
                  <a:pt x="0" y="165894"/>
                </a:lnTo>
                <a:lnTo>
                  <a:pt x="279400" y="165894"/>
                </a:lnTo>
                <a:lnTo>
                  <a:pt x="279400" y="135662"/>
                </a:lnTo>
                <a:cubicBezTo>
                  <a:pt x="279400" y="131951"/>
                  <a:pt x="276999" y="128786"/>
                  <a:pt x="273888" y="126767"/>
                </a:cubicBezTo>
                <a:cubicBezTo>
                  <a:pt x="266685" y="122074"/>
                  <a:pt x="261938" y="113997"/>
                  <a:pt x="261938" y="104775"/>
                </a:cubicBezTo>
                <a:cubicBezTo>
                  <a:pt x="261938" y="95553"/>
                  <a:pt x="266685" y="87476"/>
                  <a:pt x="273888" y="82783"/>
                </a:cubicBezTo>
                <a:cubicBezTo>
                  <a:pt x="276999" y="80764"/>
                  <a:pt x="279400" y="77599"/>
                  <a:pt x="279400" y="73888"/>
                </a:cubicBezTo>
                <a:lnTo>
                  <a:pt x="279400" y="69850"/>
                </a:lnTo>
                <a:cubicBezTo>
                  <a:pt x="279400" y="50587"/>
                  <a:pt x="263738" y="34925"/>
                  <a:pt x="244475" y="34925"/>
                </a:cubicBezTo>
                <a:lnTo>
                  <a:pt x="34925" y="34925"/>
                </a:lnTo>
                <a:close/>
                <a:moveTo>
                  <a:pt x="279400" y="227013"/>
                </a:moveTo>
                <a:lnTo>
                  <a:pt x="279400" y="192088"/>
                </a:lnTo>
                <a:lnTo>
                  <a:pt x="0" y="192088"/>
                </a:lnTo>
                <a:lnTo>
                  <a:pt x="0" y="227013"/>
                </a:lnTo>
                <a:cubicBezTo>
                  <a:pt x="0" y="236671"/>
                  <a:pt x="7804" y="244475"/>
                  <a:pt x="17463" y="244475"/>
                </a:cubicBezTo>
                <a:lnTo>
                  <a:pt x="52388" y="244475"/>
                </a:lnTo>
                <a:lnTo>
                  <a:pt x="52388" y="231378"/>
                </a:lnTo>
                <a:cubicBezTo>
                  <a:pt x="52388" y="224120"/>
                  <a:pt x="58227" y="218281"/>
                  <a:pt x="65484" y="218281"/>
                </a:cubicBezTo>
                <a:cubicBezTo>
                  <a:pt x="72742" y="218281"/>
                  <a:pt x="78581" y="224120"/>
                  <a:pt x="78581" y="231378"/>
                </a:cubicBezTo>
                <a:lnTo>
                  <a:pt x="78581" y="244475"/>
                </a:lnTo>
                <a:lnTo>
                  <a:pt x="126603" y="244475"/>
                </a:lnTo>
                <a:lnTo>
                  <a:pt x="126603" y="231378"/>
                </a:lnTo>
                <a:cubicBezTo>
                  <a:pt x="126603" y="224120"/>
                  <a:pt x="132442" y="218281"/>
                  <a:pt x="139700" y="218281"/>
                </a:cubicBezTo>
                <a:cubicBezTo>
                  <a:pt x="146958" y="218281"/>
                  <a:pt x="152797" y="224120"/>
                  <a:pt x="152797" y="231378"/>
                </a:cubicBezTo>
                <a:lnTo>
                  <a:pt x="152797" y="244475"/>
                </a:lnTo>
                <a:lnTo>
                  <a:pt x="200819" y="244475"/>
                </a:lnTo>
                <a:lnTo>
                  <a:pt x="200819" y="231378"/>
                </a:lnTo>
                <a:cubicBezTo>
                  <a:pt x="200819" y="224120"/>
                  <a:pt x="206658" y="218281"/>
                  <a:pt x="213916" y="218281"/>
                </a:cubicBezTo>
                <a:cubicBezTo>
                  <a:pt x="221173" y="218281"/>
                  <a:pt x="227013" y="224120"/>
                  <a:pt x="227013" y="231378"/>
                </a:cubicBezTo>
                <a:lnTo>
                  <a:pt x="227013" y="244475"/>
                </a:lnTo>
                <a:lnTo>
                  <a:pt x="261938" y="244475"/>
                </a:lnTo>
                <a:cubicBezTo>
                  <a:pt x="271596" y="244475"/>
                  <a:pt x="279400" y="236671"/>
                  <a:pt x="279400" y="227013"/>
                </a:cubicBezTo>
                <a:close/>
                <a:moveTo>
                  <a:pt x="87313" y="87313"/>
                </a:moveTo>
                <a:lnTo>
                  <a:pt x="87313" y="122238"/>
                </a:lnTo>
                <a:cubicBezTo>
                  <a:pt x="87313" y="131896"/>
                  <a:pt x="79509" y="139700"/>
                  <a:pt x="69850" y="139700"/>
                </a:cubicBezTo>
                <a:cubicBezTo>
                  <a:pt x="60191" y="139700"/>
                  <a:pt x="52388" y="131896"/>
                  <a:pt x="52388" y="122238"/>
                </a:cubicBezTo>
                <a:lnTo>
                  <a:pt x="52388" y="87313"/>
                </a:lnTo>
                <a:cubicBezTo>
                  <a:pt x="52388" y="77654"/>
                  <a:pt x="60191" y="69850"/>
                  <a:pt x="69850" y="69850"/>
                </a:cubicBezTo>
                <a:cubicBezTo>
                  <a:pt x="79509" y="69850"/>
                  <a:pt x="87313" y="77654"/>
                  <a:pt x="87313" y="87313"/>
                </a:cubicBezTo>
                <a:close/>
                <a:moveTo>
                  <a:pt x="157163" y="87313"/>
                </a:moveTo>
                <a:lnTo>
                  <a:pt x="157163" y="122238"/>
                </a:lnTo>
                <a:cubicBezTo>
                  <a:pt x="157163" y="131896"/>
                  <a:pt x="149359" y="139700"/>
                  <a:pt x="139700" y="139700"/>
                </a:cubicBezTo>
                <a:cubicBezTo>
                  <a:pt x="130041" y="139700"/>
                  <a:pt x="122238" y="131896"/>
                  <a:pt x="122238" y="122238"/>
                </a:cubicBezTo>
                <a:lnTo>
                  <a:pt x="122238" y="87313"/>
                </a:lnTo>
                <a:cubicBezTo>
                  <a:pt x="122238" y="77654"/>
                  <a:pt x="130041" y="69850"/>
                  <a:pt x="139700" y="69850"/>
                </a:cubicBezTo>
                <a:cubicBezTo>
                  <a:pt x="149359" y="69850"/>
                  <a:pt x="157163" y="77654"/>
                  <a:pt x="157163" y="87313"/>
                </a:cubicBezTo>
                <a:close/>
                <a:moveTo>
                  <a:pt x="227013" y="87313"/>
                </a:moveTo>
                <a:lnTo>
                  <a:pt x="227013" y="122238"/>
                </a:lnTo>
                <a:cubicBezTo>
                  <a:pt x="227013" y="131896"/>
                  <a:pt x="219209" y="139700"/>
                  <a:pt x="209550" y="139700"/>
                </a:cubicBezTo>
                <a:cubicBezTo>
                  <a:pt x="199891" y="139700"/>
                  <a:pt x="192088" y="131896"/>
                  <a:pt x="192088" y="122238"/>
                </a:cubicBezTo>
                <a:lnTo>
                  <a:pt x="192088" y="87313"/>
                </a:lnTo>
                <a:cubicBezTo>
                  <a:pt x="192088" y="77654"/>
                  <a:pt x="199891" y="69850"/>
                  <a:pt x="209550" y="69850"/>
                </a:cubicBezTo>
                <a:cubicBezTo>
                  <a:pt x="219209" y="69850"/>
                  <a:pt x="227013" y="77654"/>
                  <a:pt x="227013" y="87313"/>
                </a:cubicBezTo>
                <a:close/>
              </a:path>
            </a:pathLst>
          </a:custGeom>
          <a:solidFill>
            <a:srgbClr val="C00000"/>
          </a:solidFill>
        </p:spPr>
        <p:txBody>
          <a:bodyPr/>
          <a:lstStyle/>
          <a:p>
            <a:endParaRPr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4" name="Text 5"/>
          <p:cNvSpPr/>
          <p:nvPr/>
        </p:nvSpPr>
        <p:spPr>
          <a:xfrm>
            <a:off x="1322070" y="1097280"/>
            <a:ext cx="6350000" cy="3302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b="1" dirty="0">
                <a:solidFill>
                  <a:srgbClr val="333333"/>
                </a:solidFill>
                <a:latin typeface="微软雅黑" pitchFamily="34" charset="-122"/>
                <a:ea typeface="微软雅黑" pitchFamily="34" charset="-122"/>
                <a:cs typeface="微软雅黑" pitchFamily="34" charset="-120"/>
              </a:rPr>
              <a:t>阶段 2：KVCache + FA</a:t>
            </a:r>
            <a:endParaRPr lang="en-US" sz="1600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5" name="Shape 6"/>
          <p:cNvSpPr/>
          <p:nvPr/>
        </p:nvSpPr>
        <p:spPr>
          <a:xfrm>
            <a:off x="1016000" y="2276977"/>
            <a:ext cx="14224000" cy="469900"/>
          </a:xfrm>
          <a:prstGeom prst="roundRect">
            <a:avLst>
              <a:gd name="adj" fmla="val 3000"/>
            </a:avLst>
          </a:prstGeom>
          <a:solidFill>
            <a:srgbClr val="F2F2F2"/>
          </a:solidFill>
        </p:spPr>
        <p:txBody>
          <a:bodyPr/>
          <a:lstStyle/>
          <a:p>
            <a:endParaRPr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30" name="Text 7"/>
          <p:cNvSpPr/>
          <p:nvPr/>
        </p:nvSpPr>
        <p:spPr>
          <a:xfrm>
            <a:off x="1106170" y="2315130"/>
            <a:ext cx="13843000" cy="29831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400" dirty="0">
                <a:solidFill>
                  <a:srgbClr val="333333"/>
                </a:solidFill>
                <a:latin typeface="微软雅黑" pitchFamily="34" charset="-122"/>
                <a:ea typeface="微软雅黑" pitchFamily="34" charset="-122"/>
                <a:cs typeface="微软雅黑" pitchFamily="34" charset="-120"/>
              </a:rPr>
              <a:t>migrator 过渡骨架（Legacy KV + HF SDPA + BSH）→ 标准 LLM</a:t>
            </a:r>
            <a:r>
              <a:rPr lang="en-US" sz="1400" b="1" dirty="0">
                <a:solidFill>
                  <a:srgbClr val="333333"/>
                </a:solidFill>
                <a:latin typeface="微软雅黑" pitchFamily="34" charset="-122"/>
                <a:ea typeface="微软雅黑" pitchFamily="34" charset="-122"/>
                <a:cs typeface="微软雅黑" pitchFamily="34" charset="-120"/>
              </a:rPr>
              <a:t>：PA + FA + TND</a:t>
            </a:r>
            <a:r>
              <a:rPr lang="en-US" sz="1400" dirty="0">
                <a:solidFill>
                  <a:srgbClr val="333333"/>
                </a:solidFill>
                <a:latin typeface="微软雅黑" pitchFamily="34" charset="-122"/>
                <a:ea typeface="微软雅黑" pitchFamily="34" charset="-122"/>
                <a:cs typeface="微软雅黑" pitchFamily="34" charset="-120"/>
              </a:rPr>
              <a:t> | </a:t>
            </a:r>
            <a:r>
              <a:rPr lang="en-US" sz="1400" b="1" dirty="0">
                <a:solidFill>
                  <a:srgbClr val="333333"/>
                </a:solidFill>
                <a:latin typeface="微软雅黑" pitchFamily="34" charset="-122"/>
                <a:ea typeface="微软雅黑" pitchFamily="34" charset="-122"/>
                <a:cs typeface="微软雅黑" pitchFamily="34" charset="-120"/>
              </a:rPr>
              <a:t>MLA absorb</a:t>
            </a:r>
            <a:endParaRPr lang="en-US" sz="1600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34" name="Text 8"/>
          <p:cNvSpPr/>
          <p:nvPr/>
        </p:nvSpPr>
        <p:spPr>
          <a:xfrm>
            <a:off x="966470" y="2678569"/>
            <a:ext cx="6858000" cy="1778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5000"/>
              </a:lnSpc>
              <a:spcBef>
                <a:spcPts val="200"/>
              </a:spcBef>
            </a:pPr>
            <a:r>
              <a:rPr lang="en-US" sz="1400" dirty="0">
                <a:solidFill>
                  <a:srgbClr val="333333"/>
                </a:solidFill>
                <a:latin typeface="微软雅黑" pitchFamily="34" charset="-122"/>
                <a:ea typeface="微软雅黑" pitchFamily="34" charset="-122"/>
                <a:cs typeface="微软雅黑" pitchFamily="34" charset="-120"/>
              </a:rPr>
              <a:t>① </a:t>
            </a:r>
            <a:r>
              <a:rPr lang="en-US" sz="1400" b="1" dirty="0">
                <a:solidFill>
                  <a:srgbClr val="333333"/>
                </a:solidFill>
                <a:latin typeface="微软雅黑" pitchFamily="34" charset="-122"/>
                <a:ea typeface="微软雅黑" pitchFamily="34" charset="-122"/>
                <a:cs typeface="微软雅黑" pitchFamily="34" charset="-120"/>
              </a:rPr>
              <a:t>快速选型</a:t>
            </a:r>
            <a:r>
              <a:rPr lang="en-US" sz="1400" dirty="0">
                <a:solidFill>
                  <a:srgbClr val="333333"/>
                </a:solidFill>
                <a:latin typeface="微软雅黑" pitchFamily="34" charset="-122"/>
                <a:ea typeface="微软雅黑" pitchFamily="34" charset="-122"/>
                <a:cs typeface="微软雅黑" pitchFamily="34" charset="-120"/>
              </a:rPr>
              <a:t>：Paged 模式 / attn_type / FA v1 vs v2 / MLA absorb</a:t>
            </a:r>
            <a:endParaRPr lang="en-US" sz="1600" dirty="0">
              <a:latin typeface="微软雅黑" pitchFamily="34" charset="-122"/>
              <a:ea typeface="微软雅黑" pitchFamily="34" charset="-122"/>
            </a:endParaRPr>
          </a:p>
          <a:p>
            <a:pPr>
              <a:lnSpc>
                <a:spcPct val="145000"/>
              </a:lnSpc>
              <a:spcBef>
                <a:spcPts val="200"/>
              </a:spcBef>
            </a:pPr>
            <a:r>
              <a:rPr lang="en-US" sz="1400" dirty="0">
                <a:solidFill>
                  <a:srgbClr val="333333"/>
                </a:solidFill>
                <a:latin typeface="微软雅黑" pitchFamily="34" charset="-122"/>
                <a:ea typeface="微软雅黑" pitchFamily="34" charset="-122"/>
                <a:cs typeface="微软雅黑" pitchFamily="34" charset="-120"/>
              </a:rPr>
              <a:t>② </a:t>
            </a:r>
            <a:r>
              <a:rPr lang="en-US" sz="1400" b="1" dirty="0">
                <a:solidFill>
                  <a:srgbClr val="333333"/>
                </a:solidFill>
                <a:latin typeface="微软雅黑" pitchFamily="34" charset="-122"/>
                <a:ea typeface="微软雅黑" pitchFamily="34" charset="-122"/>
                <a:cs typeface="微软雅黑" pitchFamily="34" charset="-120"/>
              </a:rPr>
              <a:t>核心数据结构</a:t>
            </a:r>
            <a:r>
              <a:rPr lang="en-US" sz="1400" dirty="0">
                <a:solidFill>
                  <a:srgbClr val="333333"/>
                </a:solidFill>
                <a:latin typeface="微软雅黑" pitchFamily="34" charset="-122"/>
                <a:ea typeface="微软雅黑" pitchFamily="34" charset="-122"/>
                <a:cs typeface="微软雅黑" pitchFamily="34" charset="-120"/>
              </a:rPr>
              <a:t>：block_table / slot_mapping / actual_seq_lengths / kv_len</a:t>
            </a:r>
            <a:endParaRPr lang="en-US" sz="1600" dirty="0">
              <a:latin typeface="微软雅黑" pitchFamily="34" charset="-122"/>
              <a:ea typeface="微软雅黑" pitchFamily="34" charset="-122"/>
            </a:endParaRPr>
          </a:p>
          <a:p>
            <a:pPr>
              <a:lnSpc>
                <a:spcPct val="145000"/>
              </a:lnSpc>
              <a:spcBef>
                <a:spcPts val="200"/>
              </a:spcBef>
            </a:pPr>
            <a:r>
              <a:rPr lang="en-US" sz="1400" dirty="0">
                <a:solidFill>
                  <a:srgbClr val="333333"/>
                </a:solidFill>
                <a:latin typeface="微软雅黑" pitchFamily="34" charset="-122"/>
                <a:ea typeface="微软雅黑" pitchFamily="34" charset="-122"/>
                <a:cs typeface="微软雅黑" pitchFamily="34" charset="-120"/>
              </a:rPr>
              <a:t>③ </a:t>
            </a:r>
            <a:r>
              <a:rPr lang="en-US" sz="1400" b="1" dirty="0" err="1">
                <a:solidFill>
                  <a:srgbClr val="333333"/>
                </a:solidFill>
                <a:latin typeface="微软雅黑" pitchFamily="34" charset="-122"/>
                <a:ea typeface="微软雅黑" pitchFamily="34" charset="-122"/>
                <a:cs typeface="微软雅黑" pitchFamily="34" charset="-120"/>
              </a:rPr>
              <a:t>按部署模式</a:t>
            </a:r>
            <a:r>
              <a:rPr lang="zh-CN" altLang="en-US" sz="1400" b="1" dirty="0">
                <a:solidFill>
                  <a:srgbClr val="333333"/>
                </a:solidFill>
                <a:latin typeface="微软雅黑" pitchFamily="34" charset="-122"/>
                <a:ea typeface="微软雅黑" pitchFamily="34" charset="-122"/>
                <a:cs typeface="微软雅黑" pitchFamily="34" charset="-120"/>
              </a:rPr>
              <a:t>分流</a:t>
            </a:r>
            <a:r>
              <a:rPr lang="en-US" sz="1400" dirty="0">
                <a:solidFill>
                  <a:srgbClr val="333333"/>
                </a:solidFill>
                <a:latin typeface="微软雅黑" pitchFamily="34" charset="-122"/>
                <a:ea typeface="微软雅黑" pitchFamily="34" charset="-122"/>
                <a:cs typeface="微软雅黑" pitchFamily="34" charset="-120"/>
              </a:rPr>
              <a:t>：框架部署用 cache_entries + BlockPool；独立部署 Runner 自管</a:t>
            </a:r>
            <a:endParaRPr lang="en-US" sz="1600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35" name="Shape 9"/>
          <p:cNvSpPr/>
          <p:nvPr/>
        </p:nvSpPr>
        <p:spPr>
          <a:xfrm>
            <a:off x="8078470" y="2811778"/>
            <a:ext cx="7112000" cy="1333501"/>
          </a:xfrm>
          <a:prstGeom prst="roundRect">
            <a:avLst>
              <a:gd name="adj" fmla="val 3000"/>
            </a:avLst>
          </a:prstGeom>
          <a:solidFill>
            <a:srgbClr val="FFF8F0"/>
          </a:solidFill>
        </p:spPr>
        <p:txBody>
          <a:bodyPr/>
          <a:lstStyle/>
          <a:p>
            <a:endParaRPr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36" name="Text 10"/>
          <p:cNvSpPr/>
          <p:nvPr/>
        </p:nvSpPr>
        <p:spPr>
          <a:xfrm>
            <a:off x="8268970" y="2702341"/>
            <a:ext cx="6731000" cy="1587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400" b="1" dirty="0">
                <a:solidFill>
                  <a:srgbClr val="C00000"/>
                </a:solidFill>
                <a:latin typeface="微软雅黑" pitchFamily="34" charset="-122"/>
                <a:ea typeface="微软雅黑" pitchFamily="34" charset="-122"/>
                <a:cs typeface="微软雅黑" pitchFamily="34" charset="-120"/>
              </a:rPr>
              <a:t>⚠ </a:t>
            </a:r>
            <a:r>
              <a:rPr lang="en-US" sz="1400" b="1" dirty="0" err="1">
                <a:solidFill>
                  <a:srgbClr val="333333"/>
                </a:solidFill>
                <a:latin typeface="微软雅黑" pitchFamily="34" charset="-122"/>
                <a:ea typeface="微软雅黑" pitchFamily="34" charset="-122"/>
                <a:cs typeface="微软雅黑" pitchFamily="34" charset="-120"/>
              </a:rPr>
              <a:t>常见问题：FA</a:t>
            </a:r>
            <a:r>
              <a:rPr lang="en-US" sz="1400" b="1" dirty="0">
                <a:solidFill>
                  <a:srgbClr val="333333"/>
                </a:solidFill>
                <a:latin typeface="微软雅黑" pitchFamily="34" charset="-122"/>
                <a:ea typeface="微软雅黑" pitchFamily="34" charset="-122"/>
                <a:cs typeface="微软雅黑" pitchFamily="34" charset="-120"/>
              </a:rPr>
              <a:t> </a:t>
            </a:r>
            <a:r>
              <a:rPr lang="en-US" sz="1400" b="1" dirty="0" err="1">
                <a:solidFill>
                  <a:srgbClr val="333333"/>
                </a:solidFill>
                <a:latin typeface="微软雅黑" pitchFamily="34" charset="-122"/>
                <a:ea typeface="微软雅黑" pitchFamily="34" charset="-122"/>
                <a:cs typeface="微软雅黑" pitchFamily="34" charset="-120"/>
              </a:rPr>
              <a:t>参数名</a:t>
            </a:r>
            <a:r>
              <a:rPr lang="zh-CN" altLang="en-US" sz="1400" b="1" dirty="0">
                <a:solidFill>
                  <a:srgbClr val="333333"/>
                </a:solidFill>
                <a:latin typeface="微软雅黑" pitchFamily="34" charset="-122"/>
                <a:ea typeface="微软雅黑" pitchFamily="34" charset="-122"/>
                <a:cs typeface="微软雅黑" pitchFamily="34" charset="-120"/>
              </a:rPr>
              <a:t>及入参含义</a:t>
            </a:r>
            <a:r>
              <a:rPr lang="en-US" sz="1400" b="1" dirty="0" err="1">
                <a:solidFill>
                  <a:srgbClr val="333333"/>
                </a:solidFill>
                <a:latin typeface="微软雅黑" pitchFamily="34" charset="-122"/>
                <a:ea typeface="微软雅黑" pitchFamily="34" charset="-122"/>
                <a:cs typeface="微软雅黑" pitchFamily="34" charset="-120"/>
              </a:rPr>
              <a:t>易混淆</a:t>
            </a:r>
            <a:endParaRPr lang="en-US" sz="1400" b="1" dirty="0">
              <a:solidFill>
                <a:srgbClr val="333333"/>
              </a:solidFill>
              <a:latin typeface="微软雅黑" pitchFamily="34" charset="-122"/>
              <a:ea typeface="微软雅黑" pitchFamily="34" charset="-122"/>
              <a:cs typeface="微软雅黑" pitchFamily="34" charset="-120"/>
            </a:endParaRPr>
          </a:p>
          <a:p>
            <a:pPr>
              <a:lnSpc>
                <a:spcPct val="140000"/>
              </a:lnSpc>
              <a:spcBef>
                <a:spcPts val="200"/>
              </a:spcBef>
            </a:pPr>
            <a:r>
              <a:rPr lang="zh-CN" altLang="en-US" sz="1400" dirty="0">
                <a:solidFill>
                  <a:srgbClr val="333333"/>
                </a:solidFill>
                <a:latin typeface="微软雅黑" pitchFamily="34" charset="-122"/>
                <a:ea typeface="微软雅黑" pitchFamily="34" charset="-122"/>
                <a:cs typeface="微软雅黑" pitchFamily="34" charset="-120"/>
              </a:rPr>
              <a:t>例如 </a:t>
            </a:r>
            <a:r>
              <a:rPr lang="en-US" sz="1400" dirty="0" err="1">
                <a:solidFill>
                  <a:srgbClr val="333333"/>
                </a:solidFill>
                <a:latin typeface="微软雅黑" pitchFamily="34" charset="-122"/>
                <a:ea typeface="微软雅黑" pitchFamily="34" charset="-122"/>
                <a:cs typeface="微软雅黑" pitchFamily="34" charset="-120"/>
              </a:rPr>
              <a:t>num_heads</a:t>
            </a:r>
            <a:r>
              <a:rPr lang="en-US" sz="1400" dirty="0">
                <a:solidFill>
                  <a:srgbClr val="333333"/>
                </a:solidFill>
                <a:latin typeface="微软雅黑" pitchFamily="34" charset="-122"/>
                <a:ea typeface="微软雅黑" pitchFamily="34" charset="-122"/>
                <a:cs typeface="微软雅黑" pitchFamily="34" charset="-120"/>
              </a:rPr>
              <a:t> / num_query_heads、actual_seq_lengths / actual_seq_qlen</a:t>
            </a:r>
            <a:endParaRPr lang="en-US" sz="1600" dirty="0">
              <a:latin typeface="微软雅黑" pitchFamily="34" charset="-122"/>
              <a:ea typeface="微软雅黑" pitchFamily="34" charset="-122"/>
            </a:endParaRPr>
          </a:p>
          <a:p>
            <a:pPr>
              <a:lnSpc>
                <a:spcPct val="140000"/>
              </a:lnSpc>
              <a:spcBef>
                <a:spcPts val="200"/>
              </a:spcBef>
            </a:pPr>
            <a:r>
              <a:rPr lang="en-US" sz="1400" b="1" dirty="0">
                <a:solidFill>
                  <a:srgbClr val="333333"/>
                </a:solidFill>
                <a:latin typeface="微软雅黑" pitchFamily="34" charset="-122"/>
                <a:ea typeface="微软雅黑" pitchFamily="34" charset="-122"/>
                <a:cs typeface="微软雅黑" pitchFamily="34" charset="-120"/>
              </a:rPr>
              <a:t>混用不报错但精度静默崩溃</a:t>
            </a:r>
            <a:r>
              <a:rPr lang="en-US" sz="1400" dirty="0">
                <a:solidFill>
                  <a:srgbClr val="333333"/>
                </a:solidFill>
                <a:latin typeface="微软雅黑" pitchFamily="34" charset="-122"/>
                <a:ea typeface="微软雅黑" pitchFamily="34" charset="-122"/>
                <a:cs typeface="微软雅黑" pitchFamily="34" charset="-120"/>
              </a:rPr>
              <a:t> — skill 中明确列映射表</a:t>
            </a:r>
            <a:r>
              <a:rPr lang="zh-CN" altLang="en-US" sz="1400" dirty="0">
                <a:solidFill>
                  <a:srgbClr val="333333"/>
                </a:solidFill>
                <a:latin typeface="微软雅黑" pitchFamily="34" charset="-122"/>
                <a:ea typeface="微软雅黑" pitchFamily="34" charset="-122"/>
                <a:cs typeface="微软雅黑" pitchFamily="34" charset="-120"/>
              </a:rPr>
              <a:t>及推荐模式</a:t>
            </a:r>
            <a:endParaRPr lang="zh-CN" altLang="en-US" sz="1400" dirty="0">
              <a:solidFill>
                <a:srgbClr val="333333"/>
              </a:solidFill>
              <a:latin typeface="微软雅黑" pitchFamily="34" charset="-122"/>
              <a:ea typeface="微软雅黑" pitchFamily="34" charset="-122"/>
              <a:cs typeface="微软雅黑" pitchFamily="34" charset="-120"/>
            </a:endParaRPr>
          </a:p>
        </p:txBody>
      </p:sp>
      <p:sp>
        <p:nvSpPr>
          <p:cNvPr id="37" name="Shape 11"/>
          <p:cNvSpPr/>
          <p:nvPr/>
        </p:nvSpPr>
        <p:spPr>
          <a:xfrm>
            <a:off x="966470" y="4310380"/>
            <a:ext cx="14224000" cy="0"/>
          </a:xfrm>
          <a:prstGeom prst="straightConnector1">
            <a:avLst/>
          </a:prstGeom>
          <a:noFill/>
          <a:ln w="12700">
            <a:solidFill>
              <a:srgbClr val="E0E0E0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38" name="Shape 12"/>
          <p:cNvSpPr/>
          <p:nvPr/>
        </p:nvSpPr>
        <p:spPr>
          <a:xfrm>
            <a:off x="931545" y="4488180"/>
            <a:ext cx="349250" cy="279400"/>
          </a:xfrm>
          <a:custGeom>
            <a:avLst/>
            <a:gdLst/>
            <a:ahLst/>
            <a:cxnLst/>
            <a:rect l="l" t="t" r="r" b="b"/>
            <a:pathLst>
              <a:path w="349250" h="279400">
                <a:moveTo>
                  <a:pt x="226958" y="114871"/>
                </a:moveTo>
                <a:cubicBezTo>
                  <a:pt x="233616" y="113070"/>
                  <a:pt x="240601" y="116235"/>
                  <a:pt x="243602" y="122401"/>
                </a:cubicBezTo>
                <a:lnTo>
                  <a:pt x="253752" y="142920"/>
                </a:lnTo>
                <a:cubicBezTo>
                  <a:pt x="259373" y="143684"/>
                  <a:pt x="264884" y="145212"/>
                  <a:pt x="270068" y="147340"/>
                </a:cubicBezTo>
                <a:lnTo>
                  <a:pt x="289168" y="134625"/>
                </a:lnTo>
                <a:cubicBezTo>
                  <a:pt x="294898" y="130805"/>
                  <a:pt x="302483" y="131569"/>
                  <a:pt x="307340" y="136426"/>
                </a:cubicBezTo>
                <a:lnTo>
                  <a:pt x="317818" y="146903"/>
                </a:lnTo>
                <a:cubicBezTo>
                  <a:pt x="322674" y="151760"/>
                  <a:pt x="323438" y="159400"/>
                  <a:pt x="319618" y="165075"/>
                </a:cubicBezTo>
                <a:lnTo>
                  <a:pt x="306903" y="184120"/>
                </a:lnTo>
                <a:cubicBezTo>
                  <a:pt x="307940" y="186685"/>
                  <a:pt x="308868" y="189359"/>
                  <a:pt x="309632" y="192142"/>
                </a:cubicBezTo>
                <a:cubicBezTo>
                  <a:pt x="310396" y="194925"/>
                  <a:pt x="310887" y="197654"/>
                  <a:pt x="311269" y="200437"/>
                </a:cubicBezTo>
                <a:lnTo>
                  <a:pt x="331842" y="210587"/>
                </a:lnTo>
                <a:cubicBezTo>
                  <a:pt x="338009" y="213643"/>
                  <a:pt x="341174" y="220628"/>
                  <a:pt x="339373" y="227231"/>
                </a:cubicBezTo>
                <a:lnTo>
                  <a:pt x="335553" y="241528"/>
                </a:lnTo>
                <a:cubicBezTo>
                  <a:pt x="333752" y="248131"/>
                  <a:pt x="327586" y="252606"/>
                  <a:pt x="320710" y="252169"/>
                </a:cubicBezTo>
                <a:lnTo>
                  <a:pt x="297790" y="250696"/>
                </a:lnTo>
                <a:cubicBezTo>
                  <a:pt x="294352" y="255116"/>
                  <a:pt x="290369" y="259209"/>
                  <a:pt x="285839" y="262701"/>
                </a:cubicBezTo>
                <a:lnTo>
                  <a:pt x="287313" y="285566"/>
                </a:lnTo>
                <a:cubicBezTo>
                  <a:pt x="287749" y="292442"/>
                  <a:pt x="283274" y="298663"/>
                  <a:pt x="276671" y="300410"/>
                </a:cubicBezTo>
                <a:lnTo>
                  <a:pt x="262374" y="304229"/>
                </a:lnTo>
                <a:cubicBezTo>
                  <a:pt x="255716" y="306030"/>
                  <a:pt x="248786" y="302865"/>
                  <a:pt x="245730" y="296699"/>
                </a:cubicBezTo>
                <a:lnTo>
                  <a:pt x="235580" y="276180"/>
                </a:lnTo>
                <a:cubicBezTo>
                  <a:pt x="229959" y="275416"/>
                  <a:pt x="224448" y="273888"/>
                  <a:pt x="219264" y="271760"/>
                </a:cubicBezTo>
                <a:lnTo>
                  <a:pt x="200164" y="284475"/>
                </a:lnTo>
                <a:cubicBezTo>
                  <a:pt x="194434" y="288295"/>
                  <a:pt x="186849" y="287531"/>
                  <a:pt x="181992" y="282674"/>
                </a:cubicBezTo>
                <a:lnTo>
                  <a:pt x="171514" y="272197"/>
                </a:lnTo>
                <a:cubicBezTo>
                  <a:pt x="166658" y="267340"/>
                  <a:pt x="165894" y="259755"/>
                  <a:pt x="169714" y="254025"/>
                </a:cubicBezTo>
                <a:lnTo>
                  <a:pt x="182429" y="234925"/>
                </a:lnTo>
                <a:cubicBezTo>
                  <a:pt x="181392" y="232360"/>
                  <a:pt x="180464" y="229686"/>
                  <a:pt x="179700" y="226903"/>
                </a:cubicBezTo>
                <a:cubicBezTo>
                  <a:pt x="178936" y="224120"/>
                  <a:pt x="178445" y="221337"/>
                  <a:pt x="178063" y="218609"/>
                </a:cubicBezTo>
                <a:lnTo>
                  <a:pt x="157490" y="208459"/>
                </a:lnTo>
                <a:cubicBezTo>
                  <a:pt x="151323" y="205403"/>
                  <a:pt x="148213" y="198418"/>
                  <a:pt x="149959" y="191815"/>
                </a:cubicBezTo>
                <a:lnTo>
                  <a:pt x="153779" y="177517"/>
                </a:lnTo>
                <a:cubicBezTo>
                  <a:pt x="155580" y="170914"/>
                  <a:pt x="161746" y="166439"/>
                  <a:pt x="168622" y="166876"/>
                </a:cubicBezTo>
                <a:lnTo>
                  <a:pt x="191487" y="168349"/>
                </a:lnTo>
                <a:cubicBezTo>
                  <a:pt x="194925" y="163929"/>
                  <a:pt x="198909" y="159836"/>
                  <a:pt x="203438" y="156344"/>
                </a:cubicBezTo>
                <a:lnTo>
                  <a:pt x="201965" y="133534"/>
                </a:lnTo>
                <a:cubicBezTo>
                  <a:pt x="201528" y="126658"/>
                  <a:pt x="206003" y="120437"/>
                  <a:pt x="212606" y="118690"/>
                </a:cubicBezTo>
                <a:lnTo>
                  <a:pt x="226903" y="114871"/>
                </a:lnTo>
                <a:close/>
                <a:moveTo>
                  <a:pt x="244693" y="185539"/>
                </a:moveTo>
                <a:cubicBezTo>
                  <a:pt x="231441" y="185554"/>
                  <a:pt x="220695" y="196325"/>
                  <a:pt x="220710" y="209577"/>
                </a:cubicBezTo>
                <a:cubicBezTo>
                  <a:pt x="220725" y="222829"/>
                  <a:pt x="231496" y="233576"/>
                  <a:pt x="244748" y="233561"/>
                </a:cubicBezTo>
                <a:cubicBezTo>
                  <a:pt x="258000" y="233546"/>
                  <a:pt x="268747" y="222775"/>
                  <a:pt x="268732" y="209523"/>
                </a:cubicBezTo>
                <a:cubicBezTo>
                  <a:pt x="268716" y="196271"/>
                  <a:pt x="257945" y="185524"/>
                  <a:pt x="244693" y="185539"/>
                </a:cubicBezTo>
                <a:close/>
                <a:moveTo>
                  <a:pt x="122729" y="-24829"/>
                </a:moveTo>
                <a:lnTo>
                  <a:pt x="137026" y="-21010"/>
                </a:lnTo>
                <a:cubicBezTo>
                  <a:pt x="143629" y="-19209"/>
                  <a:pt x="148104" y="-12988"/>
                  <a:pt x="147667" y="-6166"/>
                </a:cubicBezTo>
                <a:lnTo>
                  <a:pt x="146194" y="16644"/>
                </a:lnTo>
                <a:cubicBezTo>
                  <a:pt x="150723" y="20136"/>
                  <a:pt x="154707" y="24175"/>
                  <a:pt x="158145" y="28649"/>
                </a:cubicBezTo>
                <a:lnTo>
                  <a:pt x="181064" y="27176"/>
                </a:lnTo>
                <a:cubicBezTo>
                  <a:pt x="187886" y="26739"/>
                  <a:pt x="194107" y="31214"/>
                  <a:pt x="195907" y="37817"/>
                </a:cubicBezTo>
                <a:lnTo>
                  <a:pt x="199727" y="52115"/>
                </a:lnTo>
                <a:cubicBezTo>
                  <a:pt x="201474" y="58718"/>
                  <a:pt x="198363" y="65703"/>
                  <a:pt x="192197" y="68759"/>
                </a:cubicBezTo>
                <a:lnTo>
                  <a:pt x="171624" y="78909"/>
                </a:lnTo>
                <a:cubicBezTo>
                  <a:pt x="171242" y="81692"/>
                  <a:pt x="170696" y="84475"/>
                  <a:pt x="169987" y="87203"/>
                </a:cubicBezTo>
                <a:cubicBezTo>
                  <a:pt x="169277" y="89932"/>
                  <a:pt x="168295" y="92660"/>
                  <a:pt x="167258" y="95225"/>
                </a:cubicBezTo>
                <a:lnTo>
                  <a:pt x="179973" y="114325"/>
                </a:lnTo>
                <a:cubicBezTo>
                  <a:pt x="183793" y="120055"/>
                  <a:pt x="183029" y="127640"/>
                  <a:pt x="178172" y="132497"/>
                </a:cubicBezTo>
                <a:lnTo>
                  <a:pt x="167695" y="142974"/>
                </a:lnTo>
                <a:cubicBezTo>
                  <a:pt x="162838" y="147831"/>
                  <a:pt x="155253" y="148595"/>
                  <a:pt x="149523" y="144775"/>
                </a:cubicBezTo>
                <a:lnTo>
                  <a:pt x="130423" y="132060"/>
                </a:lnTo>
                <a:cubicBezTo>
                  <a:pt x="125239" y="134188"/>
                  <a:pt x="119727" y="135716"/>
                  <a:pt x="114107" y="136480"/>
                </a:cubicBezTo>
                <a:lnTo>
                  <a:pt x="103956" y="156999"/>
                </a:lnTo>
                <a:cubicBezTo>
                  <a:pt x="100901" y="163165"/>
                  <a:pt x="93916" y="166276"/>
                  <a:pt x="87313" y="164529"/>
                </a:cubicBezTo>
                <a:lnTo>
                  <a:pt x="73015" y="160710"/>
                </a:lnTo>
                <a:cubicBezTo>
                  <a:pt x="66358" y="158909"/>
                  <a:pt x="61937" y="152688"/>
                  <a:pt x="62374" y="145866"/>
                </a:cubicBezTo>
                <a:lnTo>
                  <a:pt x="63847" y="123001"/>
                </a:lnTo>
                <a:cubicBezTo>
                  <a:pt x="59318" y="119509"/>
                  <a:pt x="55334" y="115471"/>
                  <a:pt x="51896" y="110996"/>
                </a:cubicBezTo>
                <a:lnTo>
                  <a:pt x="28977" y="112469"/>
                </a:lnTo>
                <a:cubicBezTo>
                  <a:pt x="22156" y="112906"/>
                  <a:pt x="15935" y="108431"/>
                  <a:pt x="14134" y="101828"/>
                </a:cubicBezTo>
                <a:lnTo>
                  <a:pt x="10314" y="87531"/>
                </a:lnTo>
                <a:cubicBezTo>
                  <a:pt x="8568" y="80928"/>
                  <a:pt x="11678" y="73943"/>
                  <a:pt x="17844" y="70887"/>
                </a:cubicBezTo>
                <a:lnTo>
                  <a:pt x="38418" y="60737"/>
                </a:lnTo>
                <a:cubicBezTo>
                  <a:pt x="38799" y="57954"/>
                  <a:pt x="39345" y="55225"/>
                  <a:pt x="40055" y="52442"/>
                </a:cubicBezTo>
                <a:cubicBezTo>
                  <a:pt x="40819" y="49659"/>
                  <a:pt x="41692" y="46985"/>
                  <a:pt x="42783" y="44420"/>
                </a:cubicBezTo>
                <a:lnTo>
                  <a:pt x="30068" y="25375"/>
                </a:lnTo>
                <a:cubicBezTo>
                  <a:pt x="26248" y="19645"/>
                  <a:pt x="27012" y="12060"/>
                  <a:pt x="31869" y="7203"/>
                </a:cubicBezTo>
                <a:lnTo>
                  <a:pt x="42347" y="-3274"/>
                </a:lnTo>
                <a:cubicBezTo>
                  <a:pt x="47203" y="-8131"/>
                  <a:pt x="54789" y="-8895"/>
                  <a:pt x="60518" y="-5075"/>
                </a:cubicBezTo>
                <a:lnTo>
                  <a:pt x="79618" y="7640"/>
                </a:lnTo>
                <a:cubicBezTo>
                  <a:pt x="84802" y="5512"/>
                  <a:pt x="90314" y="3984"/>
                  <a:pt x="95935" y="3220"/>
                </a:cubicBezTo>
                <a:lnTo>
                  <a:pt x="106085" y="-17299"/>
                </a:lnTo>
                <a:cubicBezTo>
                  <a:pt x="109141" y="-23465"/>
                  <a:pt x="116071" y="-26576"/>
                  <a:pt x="122729" y="-24829"/>
                </a:cubicBezTo>
                <a:close/>
                <a:moveTo>
                  <a:pt x="104993" y="45839"/>
                </a:moveTo>
                <a:cubicBezTo>
                  <a:pt x="91741" y="45839"/>
                  <a:pt x="80982" y="56598"/>
                  <a:pt x="80982" y="69850"/>
                </a:cubicBezTo>
                <a:cubicBezTo>
                  <a:pt x="80982" y="83102"/>
                  <a:pt x="91741" y="93861"/>
                  <a:pt x="104993" y="93861"/>
                </a:cubicBezTo>
                <a:cubicBezTo>
                  <a:pt x="118245" y="93861"/>
                  <a:pt x="129004" y="83102"/>
                  <a:pt x="129004" y="69850"/>
                </a:cubicBezTo>
                <a:cubicBezTo>
                  <a:pt x="129004" y="56598"/>
                  <a:pt x="118245" y="45839"/>
                  <a:pt x="104993" y="45839"/>
                </a:cubicBezTo>
                <a:close/>
              </a:path>
            </a:pathLst>
          </a:custGeom>
          <a:solidFill>
            <a:srgbClr val="C00000"/>
          </a:solidFill>
        </p:spPr>
        <p:txBody>
          <a:bodyPr/>
          <a:lstStyle/>
          <a:p>
            <a:endParaRPr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39" name="Text 13"/>
          <p:cNvSpPr/>
          <p:nvPr/>
        </p:nvSpPr>
        <p:spPr>
          <a:xfrm>
            <a:off x="1322070" y="4462780"/>
            <a:ext cx="7620000" cy="3302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b="1" dirty="0">
                <a:solidFill>
                  <a:srgbClr val="333333"/>
                </a:solidFill>
                <a:latin typeface="微软雅黑" pitchFamily="34" charset="-122"/>
                <a:ea typeface="微软雅黑" pitchFamily="34" charset="-122"/>
                <a:cs typeface="微软雅黑" pitchFamily="34" charset="-120"/>
              </a:rPr>
              <a:t>阶段 3：融合算子 — 四步证据链</a:t>
            </a:r>
            <a:endParaRPr lang="en-US" sz="1600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40" name="Shape 14"/>
          <p:cNvSpPr/>
          <p:nvPr/>
        </p:nvSpPr>
        <p:spPr>
          <a:xfrm>
            <a:off x="966470" y="6074577"/>
            <a:ext cx="2540000" cy="698500"/>
          </a:xfrm>
          <a:prstGeom prst="roundRect">
            <a:avLst>
              <a:gd name="adj" fmla="val 8000"/>
            </a:avLst>
          </a:prstGeom>
          <a:solidFill>
            <a:srgbClr val="404040"/>
          </a:solidFill>
        </p:spPr>
        <p:txBody>
          <a:bodyPr/>
          <a:lstStyle/>
          <a:p>
            <a:endParaRPr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41" name="Text 15"/>
          <p:cNvSpPr/>
          <p:nvPr/>
        </p:nvSpPr>
        <p:spPr>
          <a:xfrm>
            <a:off x="966470" y="6074577"/>
            <a:ext cx="2540000" cy="698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300" b="1" dirty="0">
                <a:solidFill>
                  <a:srgbClr val="FFFFFF"/>
                </a:solidFill>
                <a:latin typeface="微软雅黑" pitchFamily="34" charset="-122"/>
                <a:ea typeface="微软雅黑" pitchFamily="34" charset="-122"/>
                <a:cs typeface="微软雅黑" pitchFamily="34" charset="-120"/>
              </a:rPr>
              <a:t>① 模块拆解</a:t>
            </a:r>
            <a:endParaRPr lang="en-US" sz="1600" dirty="0">
              <a:latin typeface="微软雅黑" pitchFamily="34" charset="-122"/>
              <a:ea typeface="微软雅黑" pitchFamily="34" charset="-122"/>
            </a:endParaRPr>
          </a:p>
          <a:p>
            <a:pPr algn="ctr">
              <a:lnSpc>
                <a:spcPct val="130000"/>
              </a:lnSpc>
            </a:pPr>
            <a:r>
              <a:rPr lang="en-US" sz="1300" dirty="0">
                <a:solidFill>
                  <a:srgbClr val="FFFFFF"/>
                </a:solidFill>
                <a:latin typeface="微软雅黑" pitchFamily="34" charset="-122"/>
                <a:ea typeface="微软雅黑" pitchFamily="34" charset="-122"/>
                <a:cs typeface="微软雅黑" pitchFamily="34" charset="-120"/>
              </a:rPr>
              <a:t>拆到可替换链路</a:t>
            </a:r>
            <a:endParaRPr lang="en-US" sz="1600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42" name="Shape 16"/>
          <p:cNvSpPr/>
          <p:nvPr/>
        </p:nvSpPr>
        <p:spPr>
          <a:xfrm>
            <a:off x="3506470" y="6328577"/>
            <a:ext cx="279400" cy="0"/>
          </a:xfrm>
          <a:prstGeom prst="straightConnector1">
            <a:avLst/>
          </a:prstGeom>
          <a:noFill/>
          <a:ln w="25400">
            <a:solidFill>
              <a:srgbClr val="E0E0E0"/>
            </a:solidFill>
            <a:prstDash val="solid"/>
            <a:headEnd type="none"/>
            <a:tailEnd type="arrow"/>
          </a:ln>
        </p:spPr>
        <p:txBody>
          <a:bodyPr/>
          <a:lstStyle/>
          <a:p>
            <a:endParaRPr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43" name="Shape 17"/>
          <p:cNvSpPr/>
          <p:nvPr/>
        </p:nvSpPr>
        <p:spPr>
          <a:xfrm>
            <a:off x="3785870" y="6074577"/>
            <a:ext cx="2540000" cy="698500"/>
          </a:xfrm>
          <a:prstGeom prst="roundRect">
            <a:avLst>
              <a:gd name="adj" fmla="val 8000"/>
            </a:avLst>
          </a:prstGeom>
          <a:solidFill>
            <a:srgbClr val="404040"/>
          </a:solidFill>
        </p:spPr>
        <p:txBody>
          <a:bodyPr/>
          <a:lstStyle/>
          <a:p>
            <a:endParaRPr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44" name="Text 18"/>
          <p:cNvSpPr/>
          <p:nvPr/>
        </p:nvSpPr>
        <p:spPr>
          <a:xfrm>
            <a:off x="3785870" y="6074577"/>
            <a:ext cx="2540000" cy="698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300" b="1" dirty="0">
                <a:solidFill>
                  <a:srgbClr val="FFFFFF"/>
                </a:solidFill>
                <a:latin typeface="微软雅黑" pitchFamily="34" charset="-122"/>
                <a:ea typeface="微软雅黑" pitchFamily="34" charset="-122"/>
                <a:cs typeface="微软雅黑" pitchFamily="34" charset="-120"/>
              </a:rPr>
              <a:t>② 仓库匹配</a:t>
            </a:r>
            <a:endParaRPr lang="en-US" sz="1600" dirty="0">
              <a:latin typeface="微软雅黑" pitchFamily="34" charset="-122"/>
              <a:ea typeface="微软雅黑" pitchFamily="34" charset="-122"/>
            </a:endParaRPr>
          </a:p>
          <a:p>
            <a:pPr algn="ctr">
              <a:lnSpc>
                <a:spcPct val="130000"/>
              </a:lnSpc>
            </a:pPr>
            <a:r>
              <a:rPr lang="en-US" sz="1300" dirty="0">
                <a:solidFill>
                  <a:srgbClr val="FFFFFF"/>
                </a:solidFill>
                <a:latin typeface="微软雅黑" pitchFamily="34" charset="-122"/>
                <a:ea typeface="微软雅黑" pitchFamily="34" charset="-122"/>
                <a:cs typeface="微软雅黑" pitchFamily="34" charset="-120"/>
              </a:rPr>
              <a:t>查已有模型蓝图</a:t>
            </a:r>
            <a:endParaRPr lang="en-US" sz="1600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45" name="Shape 19"/>
          <p:cNvSpPr/>
          <p:nvPr/>
        </p:nvSpPr>
        <p:spPr>
          <a:xfrm>
            <a:off x="6325870" y="6328577"/>
            <a:ext cx="279400" cy="0"/>
          </a:xfrm>
          <a:prstGeom prst="straightConnector1">
            <a:avLst/>
          </a:prstGeom>
          <a:noFill/>
          <a:ln w="25400">
            <a:solidFill>
              <a:srgbClr val="E0E0E0"/>
            </a:solidFill>
            <a:prstDash val="solid"/>
            <a:headEnd type="none"/>
            <a:tailEnd type="arrow"/>
          </a:ln>
        </p:spPr>
        <p:txBody>
          <a:bodyPr/>
          <a:lstStyle/>
          <a:p>
            <a:endParaRPr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46" name="Shape 20"/>
          <p:cNvSpPr/>
          <p:nvPr/>
        </p:nvSpPr>
        <p:spPr>
          <a:xfrm>
            <a:off x="6605270" y="6074577"/>
            <a:ext cx="2540000" cy="698500"/>
          </a:xfrm>
          <a:prstGeom prst="roundRect">
            <a:avLst>
              <a:gd name="adj" fmla="val 8000"/>
            </a:avLst>
          </a:prstGeom>
          <a:solidFill>
            <a:srgbClr val="595959"/>
          </a:solidFill>
        </p:spPr>
        <p:txBody>
          <a:bodyPr/>
          <a:lstStyle/>
          <a:p>
            <a:endParaRPr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47" name="Text 21"/>
          <p:cNvSpPr/>
          <p:nvPr/>
        </p:nvSpPr>
        <p:spPr>
          <a:xfrm>
            <a:off x="6605270" y="6074577"/>
            <a:ext cx="2540000" cy="698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300" b="1" dirty="0">
                <a:solidFill>
                  <a:srgbClr val="FFFFFF"/>
                </a:solidFill>
                <a:latin typeface="微软雅黑" pitchFamily="34" charset="-122"/>
                <a:ea typeface="微软雅黑" pitchFamily="34" charset="-122"/>
                <a:cs typeface="微软雅黑" pitchFamily="34" charset="-120"/>
              </a:rPr>
              <a:t>③ API文档校验</a:t>
            </a:r>
            <a:endParaRPr lang="en-US" sz="1600" dirty="0">
              <a:latin typeface="微软雅黑" pitchFamily="34" charset="-122"/>
              <a:ea typeface="微软雅黑" pitchFamily="34" charset="-122"/>
            </a:endParaRPr>
          </a:p>
          <a:p>
            <a:pPr algn="ctr">
              <a:lnSpc>
                <a:spcPct val="130000"/>
              </a:lnSpc>
            </a:pPr>
            <a:r>
              <a:rPr lang="en-US" sz="1300" dirty="0">
                <a:solidFill>
                  <a:srgbClr val="FFFFFF"/>
                </a:solidFill>
                <a:latin typeface="微软雅黑" pitchFamily="34" charset="-122"/>
                <a:ea typeface="微软雅黑" pitchFamily="34" charset="-122"/>
                <a:cs typeface="微软雅黑" pitchFamily="34" charset="-120"/>
              </a:rPr>
              <a:t>强约束，不可跳过</a:t>
            </a:r>
            <a:endParaRPr lang="en-US" sz="1600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48" name="Shape 22"/>
          <p:cNvSpPr/>
          <p:nvPr/>
        </p:nvSpPr>
        <p:spPr>
          <a:xfrm>
            <a:off x="9145270" y="6328577"/>
            <a:ext cx="279400" cy="0"/>
          </a:xfrm>
          <a:prstGeom prst="straightConnector1">
            <a:avLst/>
          </a:prstGeom>
          <a:noFill/>
          <a:ln w="25400">
            <a:solidFill>
              <a:srgbClr val="E0E0E0"/>
            </a:solidFill>
            <a:prstDash val="solid"/>
            <a:headEnd type="none"/>
            <a:tailEnd type="arrow"/>
          </a:ln>
        </p:spPr>
        <p:txBody>
          <a:bodyPr/>
          <a:lstStyle/>
          <a:p>
            <a:endParaRPr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49" name="Shape 23"/>
          <p:cNvSpPr/>
          <p:nvPr/>
        </p:nvSpPr>
        <p:spPr>
          <a:xfrm>
            <a:off x="9424670" y="6074577"/>
            <a:ext cx="2540000" cy="698500"/>
          </a:xfrm>
          <a:prstGeom prst="roundRect">
            <a:avLst>
              <a:gd name="adj" fmla="val 8000"/>
            </a:avLst>
          </a:prstGeom>
          <a:solidFill>
            <a:srgbClr val="404040"/>
          </a:solidFill>
        </p:spPr>
        <p:txBody>
          <a:bodyPr/>
          <a:lstStyle/>
          <a:p>
            <a:endParaRPr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50" name="Text 24"/>
          <p:cNvSpPr/>
          <p:nvPr/>
        </p:nvSpPr>
        <p:spPr>
          <a:xfrm>
            <a:off x="9424670" y="6074577"/>
            <a:ext cx="2540000" cy="698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300" b="1" dirty="0">
                <a:solidFill>
                  <a:srgbClr val="FFFFFF"/>
                </a:solidFill>
                <a:latin typeface="微软雅黑" pitchFamily="34" charset="-122"/>
                <a:ea typeface="微软雅黑" pitchFamily="34" charset="-122"/>
                <a:cs typeface="微软雅黑" pitchFamily="34" charset="-120"/>
              </a:rPr>
              <a:t>④ 清单审查</a:t>
            </a:r>
            <a:endParaRPr lang="en-US" sz="1600" dirty="0">
              <a:latin typeface="微软雅黑" pitchFamily="34" charset="-122"/>
              <a:ea typeface="微软雅黑" pitchFamily="34" charset="-122"/>
            </a:endParaRPr>
          </a:p>
          <a:p>
            <a:pPr algn="ctr">
              <a:lnSpc>
                <a:spcPct val="130000"/>
              </a:lnSpc>
            </a:pPr>
            <a:r>
              <a:rPr lang="en-US" sz="1300" dirty="0">
                <a:solidFill>
                  <a:srgbClr val="FFFFFF"/>
                </a:solidFill>
                <a:latin typeface="微软雅黑" pitchFamily="34" charset="-122"/>
                <a:ea typeface="微软雅黑" pitchFamily="34" charset="-122"/>
                <a:cs typeface="微软雅黑" pitchFamily="34" charset="-120"/>
              </a:rPr>
              <a:t>四项完整性检查</a:t>
            </a:r>
            <a:endParaRPr lang="en-US" sz="1600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51" name="Shape 25"/>
          <p:cNvSpPr/>
          <p:nvPr/>
        </p:nvSpPr>
        <p:spPr>
          <a:xfrm>
            <a:off x="11964670" y="6328577"/>
            <a:ext cx="279400" cy="0"/>
          </a:xfrm>
          <a:prstGeom prst="straightConnector1">
            <a:avLst/>
          </a:prstGeom>
          <a:noFill/>
          <a:ln w="25400">
            <a:solidFill>
              <a:srgbClr val="E0E0E0"/>
            </a:solidFill>
            <a:prstDash val="solid"/>
            <a:headEnd type="none"/>
            <a:tailEnd type="arrow"/>
          </a:ln>
        </p:spPr>
        <p:txBody>
          <a:bodyPr/>
          <a:lstStyle/>
          <a:p>
            <a:endParaRPr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52" name="Shape 26"/>
          <p:cNvSpPr/>
          <p:nvPr/>
        </p:nvSpPr>
        <p:spPr>
          <a:xfrm>
            <a:off x="12244070" y="6074577"/>
            <a:ext cx="2946400" cy="698500"/>
          </a:xfrm>
          <a:prstGeom prst="roundRect">
            <a:avLst>
              <a:gd name="adj" fmla="val 8000"/>
            </a:avLst>
          </a:prstGeom>
          <a:solidFill>
            <a:srgbClr val="595959"/>
          </a:solidFill>
        </p:spPr>
        <p:txBody>
          <a:bodyPr/>
          <a:lstStyle/>
          <a:p>
            <a:endParaRPr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53" name="Text 27"/>
          <p:cNvSpPr/>
          <p:nvPr/>
        </p:nvSpPr>
        <p:spPr>
          <a:xfrm>
            <a:off x="12244070" y="6074577"/>
            <a:ext cx="2946400" cy="698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300" b="1" dirty="0">
                <a:solidFill>
                  <a:srgbClr val="FFFFFF"/>
                </a:solidFill>
                <a:latin typeface="微软雅黑" pitchFamily="34" charset="-122"/>
                <a:ea typeface="微软雅黑" pitchFamily="34" charset="-122"/>
                <a:cs typeface="微软雅黑" pitchFamily="34" charset="-120"/>
              </a:rPr>
              <a:t>⑤ 逐模块替换</a:t>
            </a:r>
            <a:endParaRPr lang="en-US" sz="1600" dirty="0">
              <a:latin typeface="微软雅黑" pitchFamily="34" charset="-122"/>
              <a:ea typeface="微软雅黑" pitchFamily="34" charset="-122"/>
            </a:endParaRPr>
          </a:p>
          <a:p>
            <a:pPr algn="ctr">
              <a:lnSpc>
                <a:spcPct val="130000"/>
              </a:lnSpc>
            </a:pPr>
            <a:r>
              <a:rPr lang="en-US" sz="1300" dirty="0">
                <a:solidFill>
                  <a:srgbClr val="FFFFFF"/>
                </a:solidFill>
                <a:latin typeface="微软雅黑" pitchFamily="34" charset="-122"/>
                <a:ea typeface="微软雅黑" pitchFamily="34" charset="-122"/>
                <a:cs typeface="微软雅黑" pitchFamily="34" charset="-120"/>
              </a:rPr>
              <a:t>精度对齐后再下一个</a:t>
            </a:r>
            <a:endParaRPr lang="en-US" sz="1600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55" name="Shape 29"/>
          <p:cNvSpPr/>
          <p:nvPr/>
        </p:nvSpPr>
        <p:spPr>
          <a:xfrm>
            <a:off x="966470" y="7064074"/>
            <a:ext cx="14224000" cy="762000"/>
          </a:xfrm>
          <a:prstGeom prst="roundRect">
            <a:avLst>
              <a:gd name="adj" fmla="val 3000"/>
            </a:avLst>
          </a:prstGeom>
          <a:solidFill>
            <a:schemeClr val="bg1">
              <a:lumMod val="95000"/>
            </a:schemeClr>
          </a:solidFill>
        </p:spPr>
        <p:txBody>
          <a:bodyPr/>
          <a:lstStyle/>
          <a:p>
            <a:endParaRPr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56" name="Text 30"/>
          <p:cNvSpPr/>
          <p:nvPr/>
        </p:nvSpPr>
        <p:spPr>
          <a:xfrm>
            <a:off x="1156970" y="7165674"/>
            <a:ext cx="13843000" cy="558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zh-CN" altLang="en-US" sz="1400" b="1" dirty="0">
                <a:latin typeface="微软雅黑" pitchFamily="34" charset="-122"/>
                <a:ea typeface="微软雅黑" pitchFamily="34" charset="-122"/>
              </a:rPr>
              <a:t>当前新算子开发</a:t>
            </a:r>
            <a:r>
              <a:rPr lang="en-US" altLang="zh-CN" sz="1400" b="1" dirty="0">
                <a:latin typeface="微软雅黑" pitchFamily="34" charset="-122"/>
                <a:ea typeface="微软雅黑" pitchFamily="34" charset="-122"/>
              </a:rPr>
              <a:t>/</a:t>
            </a:r>
            <a:r>
              <a:rPr lang="zh-CN" altLang="en-US" sz="1400" b="1" dirty="0">
                <a:latin typeface="微软雅黑" pitchFamily="34" charset="-122"/>
                <a:ea typeface="微软雅黑" pitchFamily="34" charset="-122"/>
              </a:rPr>
              <a:t>接入仍需部分人工介入指导，未来将联动算子生成 </a:t>
            </a:r>
            <a:r>
              <a:rPr lang="en-US" altLang="zh-CN" sz="1400" b="1" dirty="0">
                <a:latin typeface="微软雅黑" pitchFamily="34" charset="-122"/>
                <a:ea typeface="微软雅黑" pitchFamily="34" charset="-122"/>
              </a:rPr>
              <a:t>agent</a:t>
            </a:r>
            <a:r>
              <a:rPr lang="zh-CN" altLang="en-US" sz="1400" b="1" dirty="0">
                <a:latin typeface="微软雅黑" pitchFamily="34" charset="-122"/>
                <a:ea typeface="微软雅黑" pitchFamily="34" charset="-122"/>
              </a:rPr>
              <a:t>，实现从自动融合范围分析到新算子开发的完整 </a:t>
            </a:r>
            <a:r>
              <a:rPr lang="en-US" altLang="zh-CN" sz="1400" b="1" dirty="0">
                <a:latin typeface="微软雅黑" pitchFamily="34" charset="-122"/>
                <a:ea typeface="微软雅黑" pitchFamily="34" charset="-122"/>
              </a:rPr>
              <a:t>Agent </a:t>
            </a:r>
            <a:r>
              <a:rPr lang="zh-CN" altLang="en-US" sz="1400" b="1" dirty="0">
                <a:latin typeface="微软雅黑" pitchFamily="34" charset="-122"/>
                <a:ea typeface="微软雅黑" pitchFamily="34" charset="-122"/>
              </a:rPr>
              <a:t>流程。</a:t>
            </a:r>
            <a:endParaRPr lang="en-US" sz="1600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57" name="文本框 56"/>
          <p:cNvSpPr txBox="1"/>
          <p:nvPr/>
        </p:nvSpPr>
        <p:spPr>
          <a:xfrm>
            <a:off x="825501" y="1633779"/>
            <a:ext cx="138049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altLang="zh-CN" sz="1600" noProof="1">
                <a:solidFill>
                  <a:srgbClr val="333333"/>
                </a:solidFill>
                <a:latin typeface="微软雅黑" pitchFamily="34" charset="-122"/>
                <a:ea typeface="微软雅黑" pitchFamily="34" charset="-122"/>
              </a:rPr>
              <a:t>Agent</a:t>
            </a:r>
            <a:r>
              <a:rPr lang="zh-CN" altLang="en-US" sz="1600" noProof="1">
                <a:solidFill>
                  <a:srgbClr val="333333"/>
                </a:solidFill>
                <a:latin typeface="微软雅黑" pitchFamily="34" charset="-122"/>
                <a:ea typeface="微软雅黑" pitchFamily="34" charset="-122"/>
              </a:rPr>
              <a:t> 分析与实施：参考 </a:t>
            </a:r>
            <a:r>
              <a:rPr lang="en-US" altLang="zh-CN" sz="1600" b="1" noProof="1">
                <a:solidFill>
                  <a:srgbClr val="C00000"/>
                </a:solidFill>
                <a:latin typeface="微软雅黑" pitchFamily="34" charset="-122"/>
                <a:ea typeface="微软雅黑" pitchFamily="34" charset="-122"/>
              </a:rPr>
              <a:t>model-infer-kvcache</a:t>
            </a:r>
            <a:r>
              <a:rPr lang="zh-CN" altLang="en-US" sz="1600" b="1" noProof="1">
                <a:latin typeface="微软雅黑" pitchFamily="34" charset="-122"/>
                <a:ea typeface="微软雅黑" pitchFamily="34" charset="-122"/>
              </a:rPr>
              <a:t>，</a:t>
            </a:r>
            <a:r>
              <a:rPr lang="zh-CN" altLang="en-US" sz="1600" noProof="1">
                <a:solidFill>
                  <a:srgbClr val="333333"/>
                </a:solidFill>
                <a:latin typeface="微软雅黑" pitchFamily="34" charset="-122"/>
                <a:ea typeface="微软雅黑" pitchFamily="34" charset="-122"/>
              </a:rPr>
              <a:t>把 </a:t>
            </a:r>
            <a:r>
              <a:rPr lang="en-US" altLang="zh-CN" sz="1600" noProof="1">
                <a:solidFill>
                  <a:srgbClr val="333333"/>
                </a:solidFill>
                <a:latin typeface="微软雅黑" pitchFamily="34" charset="-122"/>
                <a:ea typeface="微软雅黑" pitchFamily="34" charset="-122"/>
              </a:rPr>
              <a:t>KV </a:t>
            </a:r>
            <a:r>
              <a:rPr lang="zh-CN" altLang="en-US" sz="1600" noProof="1">
                <a:solidFill>
                  <a:srgbClr val="333333"/>
                </a:solidFill>
                <a:latin typeface="微软雅黑" pitchFamily="34" charset="-122"/>
                <a:ea typeface="微软雅黑" pitchFamily="34" charset="-122"/>
              </a:rPr>
              <a:t>管理从模型自管缓存改造为框架公共分页管理，接入 </a:t>
            </a:r>
            <a:r>
              <a:rPr lang="en-US" altLang="zh-CN" sz="1600" noProof="1">
                <a:solidFill>
                  <a:srgbClr val="333333"/>
                </a:solidFill>
                <a:latin typeface="微软雅黑" pitchFamily="34" charset="-122"/>
                <a:ea typeface="微软雅黑" pitchFamily="34" charset="-122"/>
              </a:rPr>
              <a:t>FA </a:t>
            </a:r>
            <a:r>
              <a:rPr lang="zh-CN" altLang="en-US" sz="1600" noProof="1">
                <a:solidFill>
                  <a:srgbClr val="333333"/>
                </a:solidFill>
                <a:latin typeface="微软雅黑" pitchFamily="34" charset="-122"/>
                <a:ea typeface="微软雅黑" pitchFamily="34" charset="-122"/>
              </a:rPr>
              <a:t>融合算子，构造 </a:t>
            </a:r>
            <a:r>
              <a:rPr lang="en-US" altLang="zh-CN" sz="1600" noProof="1">
                <a:solidFill>
                  <a:srgbClr val="333333"/>
                </a:solidFill>
                <a:latin typeface="微软雅黑" pitchFamily="34" charset="-122"/>
                <a:ea typeface="微软雅黑" pitchFamily="34" charset="-122"/>
              </a:rPr>
              <a:t>block_table </a:t>
            </a:r>
            <a:r>
              <a:rPr lang="zh-CN" altLang="en-US" sz="1600" noProof="1">
                <a:solidFill>
                  <a:srgbClr val="333333"/>
                </a:solidFill>
                <a:latin typeface="微软雅黑" pitchFamily="34" charset="-122"/>
                <a:ea typeface="微软雅黑" pitchFamily="34" charset="-122"/>
              </a:rPr>
              <a:t>与 </a:t>
            </a:r>
            <a:r>
              <a:rPr lang="en-US" altLang="zh-CN" sz="1600" noProof="1">
                <a:solidFill>
                  <a:srgbClr val="333333"/>
                </a:solidFill>
                <a:latin typeface="微软雅黑" pitchFamily="34" charset="-122"/>
                <a:ea typeface="微软雅黑" pitchFamily="34" charset="-122"/>
              </a:rPr>
              <a:t>slot_mapping。</a:t>
            </a:r>
            <a:endParaRPr lang="zh-CN" altLang="en-US" sz="1600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58" name="文本框 57"/>
          <p:cNvSpPr txBox="1"/>
          <p:nvPr/>
        </p:nvSpPr>
        <p:spPr>
          <a:xfrm>
            <a:off x="863515" y="5149115"/>
            <a:ext cx="14482501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altLang="zh-CN" sz="1600" noProof="1">
                <a:solidFill>
                  <a:srgbClr val="333333"/>
                </a:solidFill>
                <a:latin typeface="微软雅黑" pitchFamily="34" charset="-122"/>
                <a:ea typeface="微软雅黑" pitchFamily="34" charset="-122"/>
              </a:rPr>
              <a:t>Agent</a:t>
            </a:r>
            <a:r>
              <a:rPr lang="zh-CN" altLang="en-US" sz="1600" noProof="1">
                <a:solidFill>
                  <a:srgbClr val="333333"/>
                </a:solidFill>
                <a:latin typeface="微软雅黑" pitchFamily="34" charset="-122"/>
                <a:ea typeface="微软雅黑" pitchFamily="34" charset="-122"/>
              </a:rPr>
              <a:t> 分析与实施：参考 </a:t>
            </a:r>
            <a:r>
              <a:rPr lang="en-US" altLang="zh-CN" sz="1600" b="1" noProof="1">
                <a:solidFill>
                  <a:srgbClr val="C00000"/>
                </a:solidFill>
                <a:latin typeface="微软雅黑" pitchFamily="34" charset="-122"/>
                <a:ea typeface="微软雅黑" pitchFamily="34" charset="-122"/>
              </a:rPr>
              <a:t>model-infer-fusion</a:t>
            </a:r>
            <a:r>
              <a:rPr lang="zh-CN" altLang="en-US" sz="1600" b="1" noProof="1">
                <a:latin typeface="微软雅黑" pitchFamily="34" charset="-122"/>
                <a:ea typeface="微软雅黑" pitchFamily="34" charset="-122"/>
              </a:rPr>
              <a:t>，按模块</a:t>
            </a:r>
            <a:r>
              <a:rPr lang="zh-CN" altLang="en-US" sz="1600" noProof="1">
                <a:solidFill>
                  <a:srgbClr val="333333"/>
                </a:solidFill>
                <a:latin typeface="微软雅黑" pitchFamily="34" charset="-122"/>
                <a:ea typeface="微软雅黑" pitchFamily="34" charset="-122"/>
              </a:rPr>
              <a:t>识别</a:t>
            </a:r>
            <a:r>
              <a:rPr lang="en-US" altLang="zh-CN" sz="1600" noProof="1">
                <a:solidFill>
                  <a:srgbClr val="333333"/>
                </a:solidFill>
                <a:latin typeface="微软雅黑" pitchFamily="34" charset="-122"/>
                <a:ea typeface="微软雅黑" pitchFamily="34" charset="-122"/>
              </a:rPr>
              <a:t>Attention</a:t>
            </a:r>
            <a:r>
              <a:rPr lang="zh-CN" altLang="en-US" sz="1600" noProof="1">
                <a:solidFill>
                  <a:srgbClr val="333333"/>
                </a:solidFill>
                <a:latin typeface="微软雅黑" pitchFamily="34" charset="-122"/>
                <a:ea typeface="微软雅黑" pitchFamily="34" charset="-122"/>
              </a:rPr>
              <a:t>、</a:t>
            </a:r>
            <a:r>
              <a:rPr lang="en-US" altLang="zh-CN" sz="1600" noProof="1">
                <a:solidFill>
                  <a:srgbClr val="333333"/>
                </a:solidFill>
                <a:latin typeface="微软雅黑" pitchFamily="34" charset="-122"/>
                <a:ea typeface="微软雅黑" pitchFamily="34" charset="-122"/>
              </a:rPr>
              <a:t>MOE</a:t>
            </a:r>
            <a:r>
              <a:rPr lang="zh-CN" altLang="en-US" sz="1600" noProof="1">
                <a:solidFill>
                  <a:srgbClr val="333333"/>
                </a:solidFill>
                <a:latin typeface="微软雅黑" pitchFamily="34" charset="-122"/>
                <a:ea typeface="微软雅黑" pitchFamily="34" charset="-122"/>
              </a:rPr>
              <a:t>、</a:t>
            </a:r>
            <a:r>
              <a:rPr lang="en-US" altLang="zh-CN" sz="1600" noProof="1">
                <a:solidFill>
                  <a:srgbClr val="333333"/>
                </a:solidFill>
                <a:latin typeface="微软雅黑" pitchFamily="34" charset="-122"/>
                <a:ea typeface="微软雅黑" pitchFamily="34" charset="-122"/>
              </a:rPr>
              <a:t>Norm</a:t>
            </a:r>
            <a:r>
              <a:rPr lang="zh-CN" altLang="en-US" sz="1600" noProof="1">
                <a:solidFill>
                  <a:srgbClr val="333333"/>
                </a:solidFill>
                <a:latin typeface="微软雅黑" pitchFamily="34" charset="-122"/>
                <a:ea typeface="微软雅黑" pitchFamily="34" charset="-122"/>
              </a:rPr>
              <a:t>等可融合的计算模式，按计算语义匹配并替换为 </a:t>
            </a:r>
            <a:r>
              <a:rPr lang="en-US" altLang="zh-CN" sz="1600" noProof="1">
                <a:solidFill>
                  <a:srgbClr val="333333"/>
                </a:solidFill>
                <a:latin typeface="微软雅黑" pitchFamily="34" charset="-122"/>
                <a:ea typeface="微软雅黑" pitchFamily="34" charset="-122"/>
              </a:rPr>
              <a:t>CANN </a:t>
            </a:r>
            <a:r>
              <a:rPr lang="zh-CN" altLang="en-US" sz="1600" noProof="1">
                <a:solidFill>
                  <a:srgbClr val="333333"/>
                </a:solidFill>
                <a:latin typeface="微软雅黑" pitchFamily="34" charset="-122"/>
                <a:ea typeface="微软雅黑" pitchFamily="34" charset="-122"/>
              </a:rPr>
              <a:t>已支持的 </a:t>
            </a:r>
            <a:r>
              <a:rPr lang="en-US" altLang="zh-CN" sz="1600" noProof="1">
                <a:solidFill>
                  <a:srgbClr val="333333"/>
                </a:solidFill>
                <a:latin typeface="微软雅黑" pitchFamily="34" charset="-122"/>
                <a:ea typeface="微软雅黑" pitchFamily="34" charset="-122"/>
              </a:rPr>
              <a:t>torch_npu / AscendC </a:t>
            </a:r>
            <a:r>
              <a:rPr lang="zh-CN" altLang="en-US" sz="1600" noProof="1">
                <a:solidFill>
                  <a:srgbClr val="333333"/>
                </a:solidFill>
                <a:latin typeface="微软雅黑" pitchFamily="34" charset="-122"/>
                <a:ea typeface="微软雅黑" pitchFamily="34" charset="-122"/>
              </a:rPr>
              <a:t>融合算子，核对入参选择与前置改造项，分组接入并验证与原实现对齐</a:t>
            </a:r>
            <a:r>
              <a:rPr lang="en-US" altLang="zh-CN" sz="1600" noProof="1">
                <a:solidFill>
                  <a:srgbClr val="333333"/>
                </a:solidFill>
                <a:latin typeface="微软雅黑" pitchFamily="34" charset="-122"/>
                <a:ea typeface="微软雅黑" pitchFamily="34" charset="-122"/>
              </a:rPr>
              <a:t>。</a:t>
            </a:r>
            <a:endParaRPr lang="zh-CN" altLang="en-US" sz="1600" dirty="0">
              <a:latin typeface="微软雅黑" pitchFamily="34" charset="-122"/>
              <a:ea typeface="微软雅黑" pitchFamily="34" charset="-122"/>
            </a:endParaRPr>
          </a:p>
        </p:txBody>
      </p:sp>
    </p:spTree>
  </p:cSld>
  <p:clrMapOvr>
    <a:masterClrMapping/>
  </p:clrMapOvr>
  <p:transition>
    <p:fade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ext 28"/>
          <p:cNvSpPr/>
          <p:nvPr/>
        </p:nvSpPr>
        <p:spPr>
          <a:xfrm>
            <a:off x="825500" y="8178800"/>
            <a:ext cx="2540000" cy="3302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300" dirty="0">
                <a:solidFill>
                  <a:srgbClr val="7F7F7F"/>
                </a:solidFill>
                <a:latin typeface="微软雅黑" pitchFamily="34" charset="-122"/>
                <a:ea typeface="微软雅黑" pitchFamily="34" charset="-122"/>
                <a:cs typeface="MiSans" pitchFamily="34" charset="-120"/>
              </a:rPr>
              <a:t>https://gitcode.com/cann</a:t>
            </a:r>
            <a:endParaRPr lang="en-US" sz="1300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32" name="Text 29"/>
          <p:cNvSpPr/>
          <p:nvPr/>
        </p:nvSpPr>
        <p:spPr>
          <a:xfrm>
            <a:off x="7620000" y="8178800"/>
            <a:ext cx="1016000" cy="3302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fld id="{A9F62824-A823-4BED-B0DB-32E8DC7EC00E}" type="slidenum">
              <a:rPr lang="en-US" sz="1300" dirty="0">
                <a:solidFill>
                  <a:srgbClr val="7F7F7F"/>
                </a:solidFill>
                <a:latin typeface="微软雅黑" pitchFamily="34" charset="-122"/>
                <a:ea typeface="微软雅黑" pitchFamily="34" charset="-122"/>
                <a:cs typeface="MiSans" pitchFamily="34" charset="-120"/>
              </a:rPr>
            </a:fld>
            <a:endParaRPr lang="en-US" sz="1300" dirty="0">
              <a:latin typeface="微软雅黑" pitchFamily="34" charset="-122"/>
              <a:ea typeface="微软雅黑" pitchFamily="34" charset="-122"/>
            </a:endParaRPr>
          </a:p>
        </p:txBody>
      </p:sp>
      <p:pic>
        <p:nvPicPr>
          <p:cNvPr id="33" name="Image 0" descr="https://kimi-img.moonshot.cn/pub/slides/okc/4rfbomebqqupm/mnt/agents/output/template_pptd/images/image_2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512800" y="8051800"/>
            <a:ext cx="1752600" cy="469900"/>
          </a:xfrm>
          <a:prstGeom prst="rect">
            <a:avLst/>
          </a:prstGeom>
        </p:spPr>
      </p:pic>
      <p:sp>
        <p:nvSpPr>
          <p:cNvPr id="2" name="Text 0"/>
          <p:cNvSpPr/>
          <p:nvPr/>
        </p:nvSpPr>
        <p:spPr>
          <a:xfrm>
            <a:off x="762000" y="355600"/>
            <a:ext cx="11430000" cy="5715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l">
              <a:lnSpc>
                <a:spcPct val="100000"/>
              </a:lnSpc>
            </a:pPr>
            <a:r>
              <a:rPr lang="en-US" sz="3200" b="1" dirty="0">
                <a:solidFill>
                  <a:srgbClr val="333333"/>
                </a:solidFill>
                <a:latin typeface="微软雅黑" pitchFamily="34" charset="-122"/>
                <a:ea typeface="微软雅黑" pitchFamily="34" charset="-122"/>
                <a:cs typeface="微软雅黑" pitchFamily="34" charset="-120"/>
                <a:sym typeface="+mn-ea"/>
              </a:rPr>
              <a:t>量化适配与图模式</a:t>
            </a:r>
            <a:endParaRPr lang="en-US" sz="3200" b="1" dirty="0">
              <a:solidFill>
                <a:schemeClr val="tx1"/>
              </a:solidFill>
              <a:latin typeface="微软雅黑" pitchFamily="34" charset="-122"/>
              <a:ea typeface="微软雅黑" pitchFamily="34" charset="-122"/>
              <a:cs typeface="微软雅黑" pitchFamily="34" charset="-120"/>
              <a:sym typeface="+mn-ea"/>
            </a:endParaRPr>
          </a:p>
        </p:txBody>
      </p:sp>
      <p:sp>
        <p:nvSpPr>
          <p:cNvPr id="6" name="Shape 4"/>
          <p:cNvSpPr/>
          <p:nvPr/>
        </p:nvSpPr>
        <p:spPr>
          <a:xfrm>
            <a:off x="835342" y="1238250"/>
            <a:ext cx="244475" cy="279400"/>
          </a:xfrm>
          <a:custGeom>
            <a:avLst/>
            <a:gdLst/>
            <a:ahLst/>
            <a:cxnLst/>
            <a:rect l="l" t="t" r="r" b="b"/>
            <a:pathLst>
              <a:path w="244475" h="279400">
                <a:moveTo>
                  <a:pt x="87313" y="34925"/>
                </a:moveTo>
                <a:cubicBezTo>
                  <a:pt x="87313" y="25266"/>
                  <a:pt x="79509" y="17463"/>
                  <a:pt x="69850" y="17463"/>
                </a:cubicBezTo>
                <a:cubicBezTo>
                  <a:pt x="60191" y="17463"/>
                  <a:pt x="52388" y="25266"/>
                  <a:pt x="52388" y="34925"/>
                </a:cubicBezTo>
                <a:lnTo>
                  <a:pt x="52388" y="69850"/>
                </a:lnTo>
                <a:lnTo>
                  <a:pt x="17463" y="69850"/>
                </a:lnTo>
                <a:cubicBezTo>
                  <a:pt x="7804" y="69850"/>
                  <a:pt x="0" y="77654"/>
                  <a:pt x="0" y="87313"/>
                </a:cubicBezTo>
                <a:cubicBezTo>
                  <a:pt x="0" y="96971"/>
                  <a:pt x="7804" y="104775"/>
                  <a:pt x="17463" y="104775"/>
                </a:cubicBezTo>
                <a:lnTo>
                  <a:pt x="69850" y="104775"/>
                </a:lnTo>
                <a:cubicBezTo>
                  <a:pt x="79509" y="104775"/>
                  <a:pt x="87313" y="96971"/>
                  <a:pt x="87313" y="87313"/>
                </a:cubicBezTo>
                <a:lnTo>
                  <a:pt x="87313" y="34925"/>
                </a:lnTo>
                <a:close/>
                <a:moveTo>
                  <a:pt x="17463" y="174625"/>
                </a:moveTo>
                <a:cubicBezTo>
                  <a:pt x="7804" y="174625"/>
                  <a:pt x="0" y="182429"/>
                  <a:pt x="0" y="192088"/>
                </a:cubicBezTo>
                <a:cubicBezTo>
                  <a:pt x="0" y="201746"/>
                  <a:pt x="7804" y="209550"/>
                  <a:pt x="17463" y="209550"/>
                </a:cubicBezTo>
                <a:lnTo>
                  <a:pt x="52388" y="209550"/>
                </a:lnTo>
                <a:lnTo>
                  <a:pt x="52388" y="244475"/>
                </a:lnTo>
                <a:cubicBezTo>
                  <a:pt x="52388" y="254134"/>
                  <a:pt x="60191" y="261938"/>
                  <a:pt x="69850" y="261938"/>
                </a:cubicBezTo>
                <a:cubicBezTo>
                  <a:pt x="79509" y="261938"/>
                  <a:pt x="87313" y="254134"/>
                  <a:pt x="87313" y="244475"/>
                </a:cubicBezTo>
                <a:lnTo>
                  <a:pt x="87313" y="192088"/>
                </a:lnTo>
                <a:cubicBezTo>
                  <a:pt x="87313" y="182429"/>
                  <a:pt x="79509" y="174625"/>
                  <a:pt x="69850" y="174625"/>
                </a:cubicBezTo>
                <a:lnTo>
                  <a:pt x="17463" y="174625"/>
                </a:lnTo>
                <a:close/>
                <a:moveTo>
                  <a:pt x="192088" y="34925"/>
                </a:moveTo>
                <a:cubicBezTo>
                  <a:pt x="192088" y="25266"/>
                  <a:pt x="184284" y="17463"/>
                  <a:pt x="174625" y="17463"/>
                </a:cubicBezTo>
                <a:cubicBezTo>
                  <a:pt x="164966" y="17463"/>
                  <a:pt x="157163" y="25266"/>
                  <a:pt x="157163" y="34925"/>
                </a:cubicBezTo>
                <a:lnTo>
                  <a:pt x="157163" y="87313"/>
                </a:lnTo>
                <a:cubicBezTo>
                  <a:pt x="157163" y="96971"/>
                  <a:pt x="164966" y="104775"/>
                  <a:pt x="174625" y="104775"/>
                </a:cubicBezTo>
                <a:lnTo>
                  <a:pt x="227013" y="104775"/>
                </a:lnTo>
                <a:cubicBezTo>
                  <a:pt x="236671" y="104775"/>
                  <a:pt x="244475" y="96971"/>
                  <a:pt x="244475" y="87313"/>
                </a:cubicBezTo>
                <a:cubicBezTo>
                  <a:pt x="244475" y="77654"/>
                  <a:pt x="236671" y="69850"/>
                  <a:pt x="227013" y="69850"/>
                </a:cubicBezTo>
                <a:lnTo>
                  <a:pt x="192088" y="69850"/>
                </a:lnTo>
                <a:lnTo>
                  <a:pt x="192088" y="34925"/>
                </a:lnTo>
                <a:close/>
                <a:moveTo>
                  <a:pt x="174625" y="174625"/>
                </a:moveTo>
                <a:cubicBezTo>
                  <a:pt x="164966" y="174625"/>
                  <a:pt x="157163" y="182429"/>
                  <a:pt x="157163" y="192088"/>
                </a:cubicBezTo>
                <a:lnTo>
                  <a:pt x="157163" y="244475"/>
                </a:lnTo>
                <a:cubicBezTo>
                  <a:pt x="157163" y="254134"/>
                  <a:pt x="164966" y="261938"/>
                  <a:pt x="174625" y="261938"/>
                </a:cubicBezTo>
                <a:cubicBezTo>
                  <a:pt x="184284" y="261938"/>
                  <a:pt x="192088" y="254134"/>
                  <a:pt x="192088" y="244475"/>
                </a:cubicBezTo>
                <a:lnTo>
                  <a:pt x="192088" y="209550"/>
                </a:lnTo>
                <a:lnTo>
                  <a:pt x="227013" y="209550"/>
                </a:lnTo>
                <a:cubicBezTo>
                  <a:pt x="236671" y="209550"/>
                  <a:pt x="244475" y="201746"/>
                  <a:pt x="244475" y="192088"/>
                </a:cubicBezTo>
                <a:cubicBezTo>
                  <a:pt x="244475" y="182429"/>
                  <a:pt x="236671" y="174625"/>
                  <a:pt x="227013" y="174625"/>
                </a:cubicBezTo>
                <a:lnTo>
                  <a:pt x="174625" y="174625"/>
                </a:lnTo>
                <a:close/>
              </a:path>
            </a:pathLst>
          </a:custGeom>
          <a:solidFill>
            <a:srgbClr val="C00000"/>
          </a:solidFill>
        </p:spPr>
        <p:txBody>
          <a:bodyPr/>
          <a:lstStyle/>
          <a:p>
            <a:endParaRPr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7" name="Text 5"/>
          <p:cNvSpPr/>
          <p:nvPr/>
        </p:nvSpPr>
        <p:spPr>
          <a:xfrm>
            <a:off x="1173480" y="1212850"/>
            <a:ext cx="6350000" cy="3302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b="1" dirty="0">
                <a:solidFill>
                  <a:srgbClr val="333333"/>
                </a:solidFill>
                <a:latin typeface="微软雅黑" pitchFamily="34" charset="-122"/>
                <a:ea typeface="微软雅黑" pitchFamily="34" charset="-122"/>
                <a:cs typeface="微软雅黑" pitchFamily="34" charset="-120"/>
              </a:rPr>
              <a:t>阶段 4：量化适配</a:t>
            </a:r>
            <a:endParaRPr lang="en-US" sz="1600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9" name="Shape 7"/>
          <p:cNvSpPr/>
          <p:nvPr/>
        </p:nvSpPr>
        <p:spPr>
          <a:xfrm>
            <a:off x="817880" y="2702617"/>
            <a:ext cx="6858000" cy="1397000"/>
          </a:xfrm>
          <a:prstGeom prst="roundRect">
            <a:avLst>
              <a:gd name="adj" fmla="val 3000"/>
            </a:avLst>
          </a:prstGeom>
          <a:solidFill>
            <a:srgbClr val="F2F2F2"/>
          </a:solidFill>
        </p:spPr>
        <p:txBody>
          <a:bodyPr/>
          <a:lstStyle/>
          <a:p>
            <a:endParaRPr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0" name="Text 8"/>
          <p:cNvSpPr/>
          <p:nvPr/>
        </p:nvSpPr>
        <p:spPr>
          <a:xfrm>
            <a:off x="1008380" y="2804217"/>
            <a:ext cx="6477000" cy="1206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5000"/>
              </a:lnSpc>
            </a:pPr>
            <a:r>
              <a:rPr lang="en-US" sz="1400" b="1" dirty="0">
                <a:solidFill>
                  <a:srgbClr val="333333"/>
                </a:solidFill>
                <a:latin typeface="微软雅黑" pitchFamily="34" charset="-122"/>
                <a:ea typeface="微软雅黑" pitchFamily="34" charset="-122"/>
                <a:cs typeface="微软雅黑" pitchFamily="34" charset="-120"/>
              </a:rPr>
              <a:t>契约检查</a:t>
            </a:r>
            <a:r>
              <a:rPr lang="en-US" sz="1400" dirty="0">
                <a:solidFill>
                  <a:srgbClr val="333333"/>
                </a:solidFill>
                <a:latin typeface="微软雅黑" pitchFamily="34" charset="-122"/>
                <a:ea typeface="微软雅黑" pitchFamily="34" charset="-122"/>
                <a:cs typeface="微软雅黑" pitchFamily="34" charset="-120"/>
              </a:rPr>
              <a:t>：</a:t>
            </a:r>
            <a:endParaRPr lang="en-US" sz="1600" dirty="0">
              <a:latin typeface="微软雅黑" pitchFamily="34" charset="-122"/>
              <a:ea typeface="微软雅黑" pitchFamily="34" charset="-122"/>
            </a:endParaRPr>
          </a:p>
          <a:p>
            <a:pPr>
              <a:lnSpc>
                <a:spcPct val="145000"/>
              </a:lnSpc>
              <a:spcBef>
                <a:spcPts val="200"/>
              </a:spcBef>
            </a:pPr>
            <a:r>
              <a:rPr lang="en-US" sz="1400" dirty="0">
                <a:solidFill>
                  <a:srgbClr val="333333"/>
                </a:solidFill>
                <a:latin typeface="微软雅黑" pitchFamily="34" charset="-122"/>
                <a:ea typeface="微软雅黑" pitchFamily="34" charset="-122"/>
                <a:cs typeface="微软雅黑" pitchFamily="34" charset="-120"/>
              </a:rPr>
              <a:t>检查 quantization_config / quant_method / config_groups / targets/ignore</a:t>
            </a:r>
            <a:endParaRPr lang="en-US" sz="1600" dirty="0">
              <a:latin typeface="微软雅黑" pitchFamily="34" charset="-122"/>
              <a:ea typeface="微软雅黑" pitchFamily="34" charset="-122"/>
            </a:endParaRPr>
          </a:p>
          <a:p>
            <a:pPr>
              <a:lnSpc>
                <a:spcPct val="145000"/>
              </a:lnSpc>
              <a:spcBef>
                <a:spcPts val="200"/>
              </a:spcBef>
            </a:pPr>
            <a:r>
              <a:rPr lang="en-US" sz="1400" b="1" dirty="0">
                <a:solidFill>
                  <a:srgbClr val="C00000"/>
                </a:solidFill>
                <a:latin typeface="微软雅黑" pitchFamily="34" charset="-122"/>
                <a:ea typeface="微软雅黑" pitchFamily="34" charset="-122"/>
                <a:cs typeface="微软雅黑" pitchFamily="34" charset="-120"/>
              </a:rPr>
              <a:t>任何关键项缺失 → 直接输出补充诉求阻塞流程</a:t>
            </a:r>
            <a:endParaRPr lang="en-US" sz="1600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7929880" y="2702617"/>
            <a:ext cx="7112000" cy="1397000"/>
          </a:xfrm>
          <a:prstGeom prst="roundRect">
            <a:avLst>
              <a:gd name="adj" fmla="val 3000"/>
            </a:avLst>
          </a:prstGeom>
          <a:solidFill>
            <a:srgbClr val="FFF8F0"/>
          </a:solidFill>
        </p:spPr>
        <p:txBody>
          <a:bodyPr/>
          <a:lstStyle/>
          <a:p>
            <a:endParaRPr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8120380" y="2804217"/>
            <a:ext cx="6731000" cy="1206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400" b="1" dirty="0">
                <a:solidFill>
                  <a:srgbClr val="C00000"/>
                </a:solidFill>
                <a:latin typeface="微软雅黑" pitchFamily="34" charset="-122"/>
                <a:ea typeface="微软雅黑" pitchFamily="34" charset="-122"/>
                <a:cs typeface="微软雅黑" pitchFamily="34" charset="-120"/>
              </a:rPr>
              <a:t>融合算子兼容性 ABCD 分级</a:t>
            </a:r>
            <a:endParaRPr lang="en-US" sz="1600" dirty="0">
              <a:latin typeface="微软雅黑" pitchFamily="34" charset="-122"/>
              <a:ea typeface="微软雅黑" pitchFamily="34" charset="-122"/>
            </a:endParaRPr>
          </a:p>
          <a:p>
            <a:pPr>
              <a:lnSpc>
                <a:spcPct val="140000"/>
              </a:lnSpc>
              <a:spcBef>
                <a:spcPts val="200"/>
              </a:spcBef>
            </a:pPr>
            <a:r>
              <a:rPr lang="en-US" sz="1400" b="1" dirty="0">
                <a:solidFill>
                  <a:srgbClr val="333333"/>
                </a:solidFill>
                <a:latin typeface="微软雅黑" pitchFamily="34" charset="-122"/>
                <a:ea typeface="微软雅黑" pitchFamily="34" charset="-122"/>
                <a:cs typeface="微软雅黑" pitchFamily="34" charset="-120"/>
              </a:rPr>
              <a:t>A</a:t>
            </a:r>
            <a:r>
              <a:rPr lang="en-US" sz="1400" dirty="0">
                <a:solidFill>
                  <a:srgbClr val="333333"/>
                </a:solidFill>
                <a:latin typeface="微软雅黑" pitchFamily="34" charset="-122"/>
                <a:ea typeface="微软雅黑" pitchFamily="34" charset="-122"/>
                <a:cs typeface="微软雅黑" pitchFamily="34" charset="-120"/>
              </a:rPr>
              <a:t> </a:t>
            </a:r>
            <a:r>
              <a:rPr lang="zh-CN" altLang="en-US" sz="1400" dirty="0">
                <a:solidFill>
                  <a:srgbClr val="333333"/>
                </a:solidFill>
                <a:latin typeface="微软雅黑" pitchFamily="34" charset="-122"/>
                <a:ea typeface="微软雅黑" pitchFamily="34" charset="-122"/>
                <a:cs typeface="微软雅黑" pitchFamily="34" charset="-120"/>
              </a:rPr>
              <a:t>量化专用算子</a:t>
            </a:r>
            <a:r>
              <a:rPr lang="en-US" sz="1400" dirty="0">
                <a:solidFill>
                  <a:srgbClr val="333333"/>
                </a:solidFill>
                <a:latin typeface="微软雅黑" pitchFamily="34" charset="-122"/>
                <a:ea typeface="微软雅黑" pitchFamily="34" charset="-122"/>
                <a:cs typeface="微软雅黑" pitchFamily="34" charset="-120"/>
              </a:rPr>
              <a:t> </a:t>
            </a:r>
            <a:r>
              <a:rPr lang="en-US" sz="1400" b="1" dirty="0">
                <a:solidFill>
                  <a:srgbClr val="333333"/>
                </a:solidFill>
                <a:latin typeface="微软雅黑" pitchFamily="34" charset="-122"/>
                <a:ea typeface="微软雅黑" pitchFamily="34" charset="-122"/>
                <a:cs typeface="微软雅黑" pitchFamily="34" charset="-120"/>
              </a:rPr>
              <a:t>B</a:t>
            </a:r>
            <a:r>
              <a:rPr lang="en-US" sz="1400" dirty="0">
                <a:solidFill>
                  <a:srgbClr val="333333"/>
                </a:solidFill>
                <a:latin typeface="微软雅黑" pitchFamily="34" charset="-122"/>
                <a:ea typeface="微软雅黑" pitchFamily="34" charset="-122"/>
                <a:cs typeface="微软雅黑" pitchFamily="34" charset="-120"/>
              </a:rPr>
              <a:t> </a:t>
            </a:r>
            <a:r>
              <a:rPr lang="zh-CN" altLang="en-US" sz="1400" dirty="0">
                <a:solidFill>
                  <a:srgbClr val="333333"/>
                </a:solidFill>
                <a:latin typeface="微软雅黑" pitchFamily="34" charset="-122"/>
                <a:ea typeface="微软雅黑" pitchFamily="34" charset="-122"/>
                <a:cs typeface="微软雅黑" pitchFamily="34" charset="-120"/>
              </a:rPr>
              <a:t>可接受量化输入</a:t>
            </a:r>
            <a:r>
              <a:rPr lang="en-US" sz="1400" dirty="0">
                <a:solidFill>
                  <a:srgbClr val="333333"/>
                </a:solidFill>
                <a:latin typeface="微软雅黑" pitchFamily="34" charset="-122"/>
                <a:ea typeface="微软雅黑" pitchFamily="34" charset="-122"/>
                <a:cs typeface="微软雅黑" pitchFamily="34" charset="-120"/>
              </a:rPr>
              <a:t> </a:t>
            </a:r>
            <a:r>
              <a:rPr lang="en-US" sz="1400" b="1" dirty="0">
                <a:solidFill>
                  <a:srgbClr val="333333"/>
                </a:solidFill>
                <a:latin typeface="微软雅黑" pitchFamily="34" charset="-122"/>
                <a:ea typeface="微软雅黑" pitchFamily="34" charset="-122"/>
                <a:cs typeface="微软雅黑" pitchFamily="34" charset="-120"/>
              </a:rPr>
              <a:t>C</a:t>
            </a:r>
            <a:r>
              <a:rPr lang="en-US" sz="1400" dirty="0">
                <a:solidFill>
                  <a:srgbClr val="333333"/>
                </a:solidFill>
                <a:latin typeface="微软雅黑" pitchFamily="34" charset="-122"/>
                <a:ea typeface="微软雅黑" pitchFamily="34" charset="-122"/>
                <a:cs typeface="微软雅黑" pitchFamily="34" charset="-120"/>
              </a:rPr>
              <a:t> 需</a:t>
            </a:r>
            <a:r>
              <a:rPr lang="zh-CN" altLang="en-US" sz="1400" dirty="0">
                <a:solidFill>
                  <a:srgbClr val="333333"/>
                </a:solidFill>
                <a:latin typeface="微软雅黑" pitchFamily="34" charset="-122"/>
                <a:ea typeface="微软雅黑" pitchFamily="34" charset="-122"/>
                <a:cs typeface="微软雅黑" pitchFamily="34" charset="-120"/>
              </a:rPr>
              <a:t>量化版本替换</a:t>
            </a:r>
            <a:r>
              <a:rPr lang="en-US" sz="1400" dirty="0">
                <a:solidFill>
                  <a:srgbClr val="333333"/>
                </a:solidFill>
                <a:latin typeface="微软雅黑" pitchFamily="34" charset="-122"/>
                <a:ea typeface="微软雅黑" pitchFamily="34" charset="-122"/>
                <a:cs typeface="微软雅黑" pitchFamily="34" charset="-120"/>
              </a:rPr>
              <a:t> </a:t>
            </a:r>
            <a:r>
              <a:rPr lang="en-US" sz="1400" b="1" dirty="0">
                <a:solidFill>
                  <a:srgbClr val="333333"/>
                </a:solidFill>
                <a:latin typeface="微软雅黑" pitchFamily="34" charset="-122"/>
                <a:ea typeface="微软雅黑" pitchFamily="34" charset="-122"/>
                <a:cs typeface="微软雅黑" pitchFamily="34" charset="-120"/>
              </a:rPr>
              <a:t>D</a:t>
            </a:r>
            <a:r>
              <a:rPr lang="en-US" sz="1400" dirty="0">
                <a:solidFill>
                  <a:srgbClr val="333333"/>
                </a:solidFill>
                <a:latin typeface="微软雅黑" pitchFamily="34" charset="-122"/>
                <a:ea typeface="微软雅黑" pitchFamily="34" charset="-122"/>
                <a:cs typeface="微软雅黑" pitchFamily="34" charset="-120"/>
              </a:rPr>
              <a:t> </a:t>
            </a:r>
            <a:r>
              <a:rPr lang="zh-CN" altLang="en-US" sz="1400" dirty="0">
                <a:solidFill>
                  <a:srgbClr val="333333"/>
                </a:solidFill>
                <a:latin typeface="微软雅黑" pitchFamily="34" charset="-122"/>
                <a:ea typeface="微软雅黑" pitchFamily="34" charset="-122"/>
                <a:cs typeface="微软雅黑" pitchFamily="34" charset="-120"/>
              </a:rPr>
              <a:t>仅特定</a:t>
            </a:r>
            <a:r>
              <a:rPr lang="en-US" sz="1400" dirty="0">
                <a:solidFill>
                  <a:srgbClr val="333333"/>
                </a:solidFill>
                <a:latin typeface="微软雅黑" pitchFamily="34" charset="-122"/>
                <a:ea typeface="微软雅黑" pitchFamily="34" charset="-122"/>
                <a:cs typeface="微软雅黑" pitchFamily="34" charset="-120"/>
              </a:rPr>
              <a:t>契约</a:t>
            </a:r>
            <a:r>
              <a:rPr lang="zh-CN" altLang="en-US" sz="1400" dirty="0">
                <a:solidFill>
                  <a:srgbClr val="333333"/>
                </a:solidFill>
                <a:latin typeface="微软雅黑" pitchFamily="34" charset="-122"/>
                <a:ea typeface="微软雅黑" pitchFamily="34" charset="-122"/>
                <a:cs typeface="微软雅黑" pitchFamily="34" charset="-120"/>
              </a:rPr>
              <a:t>支持量化</a:t>
            </a:r>
            <a:endParaRPr lang="en-US" sz="1600" dirty="0">
              <a:latin typeface="微软雅黑" pitchFamily="34" charset="-122"/>
              <a:ea typeface="微软雅黑" pitchFamily="34" charset="-122"/>
            </a:endParaRPr>
          </a:p>
          <a:p>
            <a:pPr>
              <a:lnSpc>
                <a:spcPct val="140000"/>
              </a:lnSpc>
              <a:spcBef>
                <a:spcPts val="200"/>
              </a:spcBef>
            </a:pPr>
            <a:r>
              <a:rPr lang="en-US" sz="1400" dirty="0">
                <a:solidFill>
                  <a:srgbClr val="333333"/>
                </a:solidFill>
                <a:latin typeface="微软雅黑" pitchFamily="34" charset="-122"/>
                <a:ea typeface="微软雅黑" pitchFamily="34" charset="-122"/>
                <a:cs typeface="微软雅黑" pitchFamily="34" charset="-120"/>
              </a:rPr>
              <a:t>冲突只允许"退到非融合算子量化"，不允许自改 targets/ignore</a:t>
            </a:r>
            <a:endParaRPr lang="en-US" sz="1600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22" name="Shape 20"/>
          <p:cNvSpPr/>
          <p:nvPr/>
        </p:nvSpPr>
        <p:spPr>
          <a:xfrm>
            <a:off x="817880" y="4387850"/>
            <a:ext cx="14224000" cy="0"/>
          </a:xfrm>
          <a:prstGeom prst="straightConnector1">
            <a:avLst/>
          </a:prstGeom>
          <a:noFill/>
          <a:ln w="12700">
            <a:solidFill>
              <a:srgbClr val="E0E0E0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23" name="Shape 21"/>
          <p:cNvSpPr/>
          <p:nvPr/>
        </p:nvSpPr>
        <p:spPr>
          <a:xfrm>
            <a:off x="835342" y="4565650"/>
            <a:ext cx="244475" cy="279400"/>
          </a:xfrm>
          <a:custGeom>
            <a:avLst/>
            <a:gdLst/>
            <a:ahLst/>
            <a:cxnLst/>
            <a:rect l="l" t="t" r="r" b="b"/>
            <a:pathLst>
              <a:path w="244475" h="279400">
                <a:moveTo>
                  <a:pt x="157817" y="75252"/>
                </a:moveTo>
                <a:cubicBezTo>
                  <a:pt x="159182" y="71978"/>
                  <a:pt x="162347" y="69850"/>
                  <a:pt x="165894" y="69850"/>
                </a:cubicBezTo>
                <a:lnTo>
                  <a:pt x="187722" y="69850"/>
                </a:lnTo>
                <a:lnTo>
                  <a:pt x="187722" y="56753"/>
                </a:lnTo>
                <a:cubicBezTo>
                  <a:pt x="187722" y="49495"/>
                  <a:pt x="181883" y="43656"/>
                  <a:pt x="174625" y="43656"/>
                </a:cubicBezTo>
                <a:lnTo>
                  <a:pt x="121146" y="43656"/>
                </a:lnTo>
                <a:cubicBezTo>
                  <a:pt x="121856" y="46439"/>
                  <a:pt x="122238" y="49386"/>
                  <a:pt x="122238" y="52388"/>
                </a:cubicBezTo>
                <a:lnTo>
                  <a:pt x="122238" y="87313"/>
                </a:lnTo>
                <a:cubicBezTo>
                  <a:pt x="122238" y="106576"/>
                  <a:pt x="106576" y="122238"/>
                  <a:pt x="87313" y="122238"/>
                </a:cubicBezTo>
                <a:lnTo>
                  <a:pt x="34925" y="122238"/>
                </a:lnTo>
                <a:cubicBezTo>
                  <a:pt x="15662" y="122238"/>
                  <a:pt x="0" y="106576"/>
                  <a:pt x="0" y="87313"/>
                </a:cubicBezTo>
                <a:lnTo>
                  <a:pt x="0" y="52388"/>
                </a:lnTo>
                <a:cubicBezTo>
                  <a:pt x="0" y="33124"/>
                  <a:pt x="15662" y="17463"/>
                  <a:pt x="34925" y="17463"/>
                </a:cubicBezTo>
                <a:lnTo>
                  <a:pt x="174625" y="17463"/>
                </a:lnTo>
                <a:cubicBezTo>
                  <a:pt x="196344" y="17463"/>
                  <a:pt x="213916" y="35034"/>
                  <a:pt x="213916" y="56753"/>
                </a:cubicBezTo>
                <a:lnTo>
                  <a:pt x="213916" y="69850"/>
                </a:lnTo>
                <a:lnTo>
                  <a:pt x="235744" y="69850"/>
                </a:lnTo>
                <a:cubicBezTo>
                  <a:pt x="239291" y="69850"/>
                  <a:pt x="242456" y="71978"/>
                  <a:pt x="243820" y="75252"/>
                </a:cubicBezTo>
                <a:cubicBezTo>
                  <a:pt x="245184" y="78527"/>
                  <a:pt x="244420" y="82292"/>
                  <a:pt x="241910" y="84748"/>
                </a:cubicBezTo>
                <a:lnTo>
                  <a:pt x="206985" y="119673"/>
                </a:lnTo>
                <a:cubicBezTo>
                  <a:pt x="203602" y="123056"/>
                  <a:pt x="198036" y="123056"/>
                  <a:pt x="194652" y="119673"/>
                </a:cubicBezTo>
                <a:lnTo>
                  <a:pt x="159727" y="84748"/>
                </a:lnTo>
                <a:cubicBezTo>
                  <a:pt x="157217" y="82237"/>
                  <a:pt x="156508" y="78472"/>
                  <a:pt x="157817" y="75252"/>
                </a:cubicBezTo>
                <a:close/>
                <a:moveTo>
                  <a:pt x="209550" y="192088"/>
                </a:moveTo>
                <a:lnTo>
                  <a:pt x="34925" y="192088"/>
                </a:lnTo>
                <a:lnTo>
                  <a:pt x="34925" y="227013"/>
                </a:lnTo>
                <a:lnTo>
                  <a:pt x="209550" y="227013"/>
                </a:lnTo>
                <a:lnTo>
                  <a:pt x="209550" y="192088"/>
                </a:lnTo>
                <a:close/>
                <a:moveTo>
                  <a:pt x="244475" y="227013"/>
                </a:moveTo>
                <a:cubicBezTo>
                  <a:pt x="244475" y="246276"/>
                  <a:pt x="228813" y="261938"/>
                  <a:pt x="209550" y="261938"/>
                </a:cubicBezTo>
                <a:lnTo>
                  <a:pt x="34925" y="261938"/>
                </a:lnTo>
                <a:cubicBezTo>
                  <a:pt x="15662" y="261938"/>
                  <a:pt x="0" y="246276"/>
                  <a:pt x="0" y="227013"/>
                </a:cubicBezTo>
                <a:lnTo>
                  <a:pt x="0" y="192088"/>
                </a:lnTo>
                <a:cubicBezTo>
                  <a:pt x="0" y="172824"/>
                  <a:pt x="15662" y="157163"/>
                  <a:pt x="34925" y="157163"/>
                </a:cubicBezTo>
                <a:lnTo>
                  <a:pt x="209550" y="157163"/>
                </a:lnTo>
                <a:cubicBezTo>
                  <a:pt x="228813" y="157163"/>
                  <a:pt x="244475" y="172824"/>
                  <a:pt x="244475" y="192088"/>
                </a:cubicBezTo>
                <a:lnTo>
                  <a:pt x="244475" y="227013"/>
                </a:lnTo>
                <a:close/>
              </a:path>
            </a:pathLst>
          </a:custGeom>
          <a:solidFill>
            <a:srgbClr val="C00000"/>
          </a:solidFill>
        </p:spPr>
        <p:txBody>
          <a:bodyPr/>
          <a:lstStyle/>
          <a:p>
            <a:endParaRPr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24" name="Text 22"/>
          <p:cNvSpPr/>
          <p:nvPr/>
        </p:nvSpPr>
        <p:spPr>
          <a:xfrm>
            <a:off x="1173480" y="4540250"/>
            <a:ext cx="6350000" cy="3302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b="1" dirty="0">
                <a:solidFill>
                  <a:srgbClr val="333333"/>
                </a:solidFill>
                <a:latin typeface="微软雅黑" pitchFamily="34" charset="-122"/>
                <a:ea typeface="微软雅黑" pitchFamily="34" charset="-122"/>
                <a:cs typeface="微软雅黑" pitchFamily="34" charset="-120"/>
              </a:rPr>
              <a:t>阶段 5：图模式适配</a:t>
            </a:r>
            <a:endParaRPr lang="en-US" sz="1600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25" name="Text 23"/>
          <p:cNvSpPr/>
          <p:nvPr/>
        </p:nvSpPr>
        <p:spPr>
          <a:xfrm>
            <a:off x="817880" y="5950502"/>
            <a:ext cx="6858000" cy="1778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zh-CN" altLang="en-US" sz="1500" b="1" dirty="0">
                <a:solidFill>
                  <a:srgbClr val="333333"/>
                </a:solidFill>
                <a:latin typeface="微软雅黑" pitchFamily="34" charset="-122"/>
                <a:ea typeface="微软雅黑" pitchFamily="34" charset="-122"/>
                <a:cs typeface="微软雅黑" pitchFamily="34" charset="-120"/>
              </a:rPr>
              <a:t>图模式后端</a:t>
            </a:r>
            <a:r>
              <a:rPr lang="en-US" sz="1500" dirty="0">
                <a:solidFill>
                  <a:srgbClr val="333333"/>
                </a:solidFill>
                <a:latin typeface="微软雅黑" pitchFamily="34" charset="-122"/>
                <a:ea typeface="微软雅黑" pitchFamily="34" charset="-122"/>
                <a:cs typeface="微软雅黑" pitchFamily="34" charset="-120"/>
              </a:rPr>
              <a:t>：</a:t>
            </a:r>
            <a:endParaRPr lang="en-US" sz="1600" dirty="0">
              <a:latin typeface="微软雅黑" pitchFamily="34" charset="-122"/>
              <a:ea typeface="微软雅黑" pitchFamily="34" charset="-122"/>
            </a:endParaRPr>
          </a:p>
          <a:p>
            <a:pPr>
              <a:lnSpc>
                <a:spcPct val="150000"/>
              </a:lnSpc>
              <a:spcBef>
                <a:spcPts val="200"/>
              </a:spcBef>
            </a:pPr>
            <a:r>
              <a:rPr lang="en-US" sz="1500" dirty="0">
                <a:solidFill>
                  <a:srgbClr val="333333"/>
                </a:solidFill>
                <a:latin typeface="微软雅黑" pitchFamily="34" charset="-122"/>
                <a:ea typeface="微软雅黑" pitchFamily="34" charset="-122"/>
              </a:rPr>
              <a:t>· </a:t>
            </a:r>
            <a:r>
              <a:rPr lang="en-US" sz="1500" dirty="0" err="1">
                <a:solidFill>
                  <a:srgbClr val="333333"/>
                </a:solidFill>
                <a:latin typeface="微软雅黑" pitchFamily="34" charset="-122"/>
                <a:ea typeface="微软雅黑" pitchFamily="34" charset="-122"/>
              </a:rPr>
              <a:t>npugraph_ex</a:t>
            </a:r>
            <a:r>
              <a:rPr lang="en-US" sz="1500" dirty="0">
                <a:solidFill>
                  <a:srgbClr val="333333"/>
                </a:solidFill>
                <a:latin typeface="微软雅黑" pitchFamily="34" charset="-122"/>
                <a:ea typeface="微软雅黑" pitchFamily="34" charset="-122"/>
              </a:rPr>
              <a:t>：</a:t>
            </a:r>
            <a:r>
              <a:rPr lang="zh-CN" altLang="en-US" sz="1500" dirty="0">
                <a:solidFill>
                  <a:srgbClr val="333333"/>
                </a:solidFill>
                <a:latin typeface="微软雅黑" pitchFamily="34" charset="-122"/>
                <a:ea typeface="微软雅黑" pitchFamily="34" charset="-122"/>
              </a:rPr>
              <a:t>在复用原有</a:t>
            </a:r>
            <a:r>
              <a:rPr lang="en-US" altLang="zh-CN" sz="1500" dirty="0" err="1">
                <a:solidFill>
                  <a:srgbClr val="333333"/>
                </a:solidFill>
                <a:latin typeface="微软雅黑" pitchFamily="34" charset="-122"/>
                <a:ea typeface="微软雅黑" pitchFamily="34" charset="-122"/>
              </a:rPr>
              <a:t>ACLGraph</a:t>
            </a:r>
            <a:r>
              <a:rPr lang="zh-CN" altLang="en-US" sz="1500" dirty="0">
                <a:solidFill>
                  <a:srgbClr val="333333"/>
                </a:solidFill>
                <a:latin typeface="微软雅黑" pitchFamily="34" charset="-122"/>
                <a:ea typeface="微软雅黑" pitchFamily="34" charset="-122"/>
              </a:rPr>
              <a:t>调度能力前提下，借助于</a:t>
            </a:r>
            <a:r>
              <a:rPr lang="en-US" altLang="zh-CN" sz="1500" dirty="0" err="1">
                <a:solidFill>
                  <a:srgbClr val="333333"/>
                </a:solidFill>
                <a:latin typeface="微软雅黑" pitchFamily="34" charset="-122"/>
                <a:ea typeface="微软雅黑" pitchFamily="34" charset="-122"/>
              </a:rPr>
              <a:t>PyTorch</a:t>
            </a:r>
            <a:r>
              <a:rPr lang="zh-CN" altLang="en-US" sz="1500" dirty="0">
                <a:solidFill>
                  <a:srgbClr val="333333"/>
                </a:solidFill>
                <a:latin typeface="微软雅黑" pitchFamily="34" charset="-122"/>
                <a:ea typeface="微软雅黑" pitchFamily="34" charset="-122"/>
              </a:rPr>
              <a:t>的</a:t>
            </a:r>
            <a:r>
              <a:rPr lang="en-US" altLang="zh-CN" sz="1500" dirty="0">
                <a:solidFill>
                  <a:srgbClr val="333333"/>
                </a:solidFill>
                <a:latin typeface="微软雅黑" pitchFamily="34" charset="-122"/>
                <a:ea typeface="微软雅黑" pitchFamily="34" charset="-122"/>
              </a:rPr>
              <a:t>FX</a:t>
            </a:r>
            <a:r>
              <a:rPr lang="zh-CN" altLang="en-US" sz="1500" dirty="0">
                <a:solidFill>
                  <a:srgbClr val="333333"/>
                </a:solidFill>
                <a:latin typeface="微软雅黑" pitchFamily="34" charset="-122"/>
                <a:ea typeface="微软雅黑" pitchFamily="34" charset="-122"/>
              </a:rPr>
              <a:t>图，进一步叠加</a:t>
            </a:r>
            <a:r>
              <a:rPr lang="en-US" altLang="zh-CN" sz="1500" dirty="0">
                <a:solidFill>
                  <a:srgbClr val="333333"/>
                </a:solidFill>
                <a:latin typeface="微软雅黑" pitchFamily="34" charset="-122"/>
                <a:ea typeface="微软雅黑" pitchFamily="34" charset="-122"/>
              </a:rPr>
              <a:t>NPU</a:t>
            </a:r>
            <a:r>
              <a:rPr lang="zh-CN" altLang="en-US" sz="1500" dirty="0">
                <a:solidFill>
                  <a:srgbClr val="333333"/>
                </a:solidFill>
                <a:latin typeface="微软雅黑" pitchFamily="34" charset="-122"/>
                <a:ea typeface="微软雅黑" pitchFamily="34" charset="-122"/>
              </a:rPr>
              <a:t>亲和的优化</a:t>
            </a:r>
            <a:endParaRPr lang="en-US" sz="1500" dirty="0">
              <a:solidFill>
                <a:srgbClr val="333333"/>
              </a:solidFill>
              <a:latin typeface="微软雅黑" pitchFamily="34" charset="-122"/>
              <a:ea typeface="微软雅黑" pitchFamily="34" charset="-122"/>
            </a:endParaRPr>
          </a:p>
          <a:p>
            <a:pPr>
              <a:lnSpc>
                <a:spcPct val="150000"/>
              </a:lnSpc>
              <a:spcBef>
                <a:spcPts val="200"/>
              </a:spcBef>
            </a:pPr>
            <a:r>
              <a:rPr lang="en-US" sz="1500" dirty="0">
                <a:solidFill>
                  <a:srgbClr val="333333"/>
                </a:solidFill>
                <a:latin typeface="微软雅黑" pitchFamily="34" charset="-122"/>
                <a:ea typeface="微软雅黑" pitchFamily="34" charset="-122"/>
                <a:cs typeface="微软雅黑" pitchFamily="34" charset="-120"/>
              </a:rPr>
              <a:t>· GE 图模式：FX 图转换为 Ascend IR 由 GE 引擎编译执行</a:t>
            </a:r>
            <a:endParaRPr lang="en-US" sz="1500" dirty="0">
              <a:solidFill>
                <a:srgbClr val="333333"/>
              </a:solidFill>
              <a:latin typeface="微软雅黑" pitchFamily="34" charset="-122"/>
              <a:ea typeface="微软雅黑" pitchFamily="34" charset="-122"/>
              <a:cs typeface="微软雅黑" pitchFamily="34" charset="-120"/>
            </a:endParaRPr>
          </a:p>
          <a:p>
            <a:pPr>
              <a:lnSpc>
                <a:spcPct val="150000"/>
              </a:lnSpc>
              <a:spcBef>
                <a:spcPts val="600"/>
              </a:spcBef>
            </a:pPr>
            <a:r>
              <a:rPr lang="en-US" sz="1500" b="1" dirty="0">
                <a:solidFill>
                  <a:srgbClr val="333333"/>
                </a:solidFill>
                <a:latin typeface="微软雅黑" pitchFamily="34" charset="-122"/>
                <a:ea typeface="微软雅黑" pitchFamily="34" charset="-122"/>
                <a:cs typeface="微软雅黑" pitchFamily="34" charset="-120"/>
              </a:rPr>
              <a:t>核心改造原则</a:t>
            </a:r>
            <a:r>
              <a:rPr lang="en-US" sz="1500" dirty="0">
                <a:solidFill>
                  <a:srgbClr val="333333"/>
                </a:solidFill>
                <a:latin typeface="微软雅黑" pitchFamily="34" charset="-122"/>
                <a:ea typeface="微软雅黑" pitchFamily="34" charset="-122"/>
                <a:cs typeface="微软雅黑" pitchFamily="34" charset="-120"/>
              </a:rPr>
              <a:t>：</a:t>
            </a:r>
            <a:r>
              <a:rPr lang="zh-CN" altLang="en-US" sz="1500" dirty="0">
                <a:solidFill>
                  <a:srgbClr val="333333"/>
                </a:solidFill>
                <a:latin typeface="微软雅黑" pitchFamily="34" charset="-122"/>
                <a:ea typeface="微软雅黑" pitchFamily="34" charset="-122"/>
                <a:cs typeface="微软雅黑" pitchFamily="34" charset="-120"/>
              </a:rPr>
              <a:t>排查解决图终端</a:t>
            </a:r>
            <a:r>
              <a:rPr lang="en-US" altLang="zh-CN" sz="1500" dirty="0">
                <a:solidFill>
                  <a:srgbClr val="333333"/>
                </a:solidFill>
                <a:latin typeface="微软雅黑" pitchFamily="34" charset="-122"/>
                <a:ea typeface="微软雅黑" pitchFamily="34" charset="-122"/>
                <a:cs typeface="微软雅黑" pitchFamily="34" charset="-120"/>
              </a:rPr>
              <a:t>，</a:t>
            </a:r>
            <a:r>
              <a:rPr lang="en-US" sz="1500" dirty="0">
                <a:solidFill>
                  <a:srgbClr val="333333"/>
                </a:solidFill>
                <a:latin typeface="微软雅黑" pitchFamily="34" charset="-122"/>
                <a:ea typeface="微软雅黑" pitchFamily="34" charset="-122"/>
                <a:cs typeface="微软雅黑" pitchFamily="34" charset="-120"/>
              </a:rPr>
              <a:t>把动态变化提取为模型输入，内部尽量静态</a:t>
            </a:r>
            <a:endParaRPr lang="en-US" sz="1600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26" name="Shape 24"/>
          <p:cNvSpPr/>
          <p:nvPr/>
        </p:nvSpPr>
        <p:spPr>
          <a:xfrm>
            <a:off x="7929880" y="6109526"/>
            <a:ext cx="7112000" cy="1493028"/>
          </a:xfrm>
          <a:prstGeom prst="roundRect">
            <a:avLst>
              <a:gd name="adj" fmla="val 3000"/>
            </a:avLst>
          </a:prstGeom>
          <a:solidFill>
            <a:srgbClr val="F2F2F2"/>
          </a:solidFill>
        </p:spPr>
        <p:txBody>
          <a:bodyPr/>
          <a:lstStyle/>
          <a:p>
            <a:endParaRPr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27" name="Text 25"/>
          <p:cNvSpPr/>
          <p:nvPr/>
        </p:nvSpPr>
        <p:spPr>
          <a:xfrm>
            <a:off x="8120380" y="6052102"/>
            <a:ext cx="6731000" cy="1587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5000"/>
              </a:lnSpc>
              <a:spcBef>
                <a:spcPts val="300"/>
              </a:spcBef>
            </a:pPr>
            <a:r>
              <a:rPr lang="en-US" sz="1400" b="1" dirty="0">
                <a:solidFill>
                  <a:srgbClr val="333333"/>
                </a:solidFill>
                <a:latin typeface="微软雅黑" pitchFamily="34" charset="-122"/>
                <a:ea typeface="微软雅黑" pitchFamily="34" charset="-122"/>
                <a:cs typeface="微软雅黑" pitchFamily="34" charset="-120"/>
              </a:rPr>
              <a:t>Prefill </a:t>
            </a:r>
            <a:r>
              <a:rPr lang="zh-CN" altLang="en-US" sz="1400" b="1" dirty="0">
                <a:solidFill>
                  <a:srgbClr val="333333"/>
                </a:solidFill>
                <a:latin typeface="微软雅黑" pitchFamily="34" charset="-122"/>
                <a:ea typeface="微软雅黑" pitchFamily="34" charset="-122"/>
                <a:cs typeface="微软雅黑" pitchFamily="34" charset="-120"/>
              </a:rPr>
              <a:t>不使用</a:t>
            </a:r>
            <a:r>
              <a:rPr lang="en-US" sz="1400" b="1" dirty="0">
                <a:solidFill>
                  <a:srgbClr val="333333"/>
                </a:solidFill>
                <a:latin typeface="微软雅黑" pitchFamily="34" charset="-122"/>
                <a:ea typeface="微软雅黑" pitchFamily="34" charset="-122"/>
                <a:cs typeface="微软雅黑" pitchFamily="34" charset="-120"/>
              </a:rPr>
              <a:t>图模式 </a:t>
            </a:r>
            <a:r>
              <a:rPr lang="en-US" sz="1400" dirty="0">
                <a:solidFill>
                  <a:srgbClr val="333333"/>
                </a:solidFill>
                <a:latin typeface="微软雅黑" pitchFamily="34" charset="-122"/>
                <a:ea typeface="微软雅黑" pitchFamily="34" charset="-122"/>
                <a:cs typeface="微软雅黑" pitchFamily="34" charset="-120"/>
              </a:rPr>
              <a:t>— 输入长度动态变化、shape 不固定</a:t>
            </a:r>
            <a:endParaRPr lang="en-US" sz="1600" dirty="0">
              <a:latin typeface="微软雅黑" pitchFamily="34" charset="-122"/>
              <a:ea typeface="微软雅黑" pitchFamily="34" charset="-122"/>
            </a:endParaRPr>
          </a:p>
          <a:p>
            <a:pPr>
              <a:lnSpc>
                <a:spcPct val="145000"/>
              </a:lnSpc>
              <a:spcBef>
                <a:spcPts val="300"/>
              </a:spcBef>
            </a:pPr>
            <a:r>
              <a:rPr lang="en-US" sz="1400" b="1" dirty="0">
                <a:solidFill>
                  <a:srgbClr val="333333"/>
                </a:solidFill>
                <a:latin typeface="微软雅黑" pitchFamily="34" charset="-122"/>
                <a:ea typeface="微软雅黑" pitchFamily="34" charset="-122"/>
                <a:cs typeface="微软雅黑" pitchFamily="34" charset="-120"/>
              </a:rPr>
              <a:t>Decode </a:t>
            </a:r>
            <a:r>
              <a:rPr lang="zh-CN" altLang="en-US" sz="1400" b="1" dirty="0">
                <a:solidFill>
                  <a:srgbClr val="333333"/>
                </a:solidFill>
                <a:latin typeface="微软雅黑" pitchFamily="34" charset="-122"/>
                <a:ea typeface="微软雅黑" pitchFamily="34" charset="-122"/>
                <a:cs typeface="微软雅黑" pitchFamily="34" charset="-120"/>
              </a:rPr>
              <a:t>使用</a:t>
            </a:r>
            <a:r>
              <a:rPr lang="en-US" sz="1400" b="1" dirty="0">
                <a:solidFill>
                  <a:srgbClr val="333333"/>
                </a:solidFill>
                <a:latin typeface="微软雅黑" pitchFamily="34" charset="-122"/>
                <a:ea typeface="微软雅黑" pitchFamily="34" charset="-122"/>
                <a:cs typeface="微软雅黑" pitchFamily="34" charset="-120"/>
              </a:rPr>
              <a:t>图模式</a:t>
            </a:r>
            <a:r>
              <a:rPr lang="en-US" sz="1400" dirty="0">
                <a:solidFill>
                  <a:srgbClr val="333333"/>
                </a:solidFill>
                <a:latin typeface="微软雅黑" pitchFamily="34" charset="-122"/>
                <a:ea typeface="微软雅黑" pitchFamily="34" charset="-122"/>
                <a:cs typeface="微软雅黑" pitchFamily="34" charset="-120"/>
              </a:rPr>
              <a:t> — 输入固定（通常为 1）、shape </a:t>
            </a:r>
            <a:r>
              <a:rPr lang="en-US" sz="1400" dirty="0" err="1">
                <a:solidFill>
                  <a:srgbClr val="333333"/>
                </a:solidFill>
                <a:latin typeface="微软雅黑" pitchFamily="34" charset="-122"/>
                <a:ea typeface="微软雅黑" pitchFamily="34" charset="-122"/>
                <a:cs typeface="微软雅黑" pitchFamily="34" charset="-120"/>
              </a:rPr>
              <a:t>稳定</a:t>
            </a:r>
            <a:endParaRPr lang="en-US" sz="1600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30" name="文本框 29"/>
          <p:cNvSpPr txBox="1"/>
          <p:nvPr/>
        </p:nvSpPr>
        <p:spPr>
          <a:xfrm>
            <a:off x="762000" y="2090268"/>
            <a:ext cx="13703438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altLang="zh-CN" sz="1600" noProof="1">
                <a:solidFill>
                  <a:srgbClr val="333333"/>
                </a:solidFill>
                <a:latin typeface="微软雅黑" pitchFamily="34" charset="-122"/>
                <a:ea typeface="微软雅黑" pitchFamily="34" charset="-122"/>
              </a:rPr>
              <a:t>Agent</a:t>
            </a:r>
            <a:r>
              <a:rPr lang="zh-CN" altLang="en-US" sz="1600" noProof="1">
                <a:solidFill>
                  <a:srgbClr val="333333"/>
                </a:solidFill>
                <a:latin typeface="微软雅黑" pitchFamily="34" charset="-122"/>
                <a:ea typeface="微软雅黑" pitchFamily="34" charset="-122"/>
              </a:rPr>
              <a:t> 分析与实施：参考 </a:t>
            </a:r>
            <a:r>
              <a:rPr lang="en-US" altLang="zh-CN" sz="1600" b="1" noProof="1">
                <a:solidFill>
                  <a:srgbClr val="C00000"/>
                </a:solidFill>
                <a:latin typeface="微软雅黑" pitchFamily="34" charset="-122"/>
                <a:ea typeface="微软雅黑" pitchFamily="34" charset="-122"/>
              </a:rPr>
              <a:t>model-infer-quantization</a:t>
            </a:r>
            <a:r>
              <a:rPr lang="zh-CN" altLang="en-US" sz="1600" b="1" noProof="1">
                <a:latin typeface="微软雅黑" pitchFamily="34" charset="-122"/>
                <a:ea typeface="微软雅黑" pitchFamily="34" charset="-122"/>
              </a:rPr>
              <a:t>，</a:t>
            </a:r>
            <a:r>
              <a:rPr lang="zh-CN" altLang="en-US" sz="1600" noProof="1">
                <a:solidFill>
                  <a:srgbClr val="333333"/>
                </a:solidFill>
                <a:latin typeface="微软雅黑" pitchFamily="34" charset="-122"/>
                <a:ea typeface="微软雅黑" pitchFamily="34" charset="-122"/>
              </a:rPr>
              <a:t>先做量化初评估、核对量化产物契约，再建立 </a:t>
            </a:r>
            <a:r>
              <a:rPr lang="en-US" altLang="zh-CN" sz="1600" noProof="1">
                <a:solidFill>
                  <a:srgbClr val="333333"/>
                </a:solidFill>
                <a:latin typeface="微软雅黑" pitchFamily="34" charset="-122"/>
                <a:ea typeface="微软雅黑" pitchFamily="34" charset="-122"/>
              </a:rPr>
              <a:t>runtime </a:t>
            </a:r>
            <a:r>
              <a:rPr lang="zh-CN" altLang="en-US" sz="1600" noProof="1">
                <a:solidFill>
                  <a:srgbClr val="333333"/>
                </a:solidFill>
                <a:latin typeface="微软雅黑" pitchFamily="34" charset="-122"/>
                <a:ea typeface="微软雅黑" pitchFamily="34" charset="-122"/>
              </a:rPr>
              <a:t>映射、按参数属性加载量化分片进去，识别接入量化算子</a:t>
            </a:r>
            <a:r>
              <a:rPr lang="en-US" altLang="zh-CN" sz="1600" noProof="1">
                <a:solidFill>
                  <a:srgbClr val="333333"/>
                </a:solidFill>
                <a:latin typeface="微软雅黑" pitchFamily="34" charset="-122"/>
                <a:ea typeface="微软雅黑" pitchFamily="34" charset="-122"/>
              </a:rPr>
              <a:t>。</a:t>
            </a:r>
            <a:endParaRPr lang="zh-CN" altLang="en-US" sz="1600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34" name="文本框 33"/>
          <p:cNvSpPr txBox="1"/>
          <p:nvPr/>
        </p:nvSpPr>
        <p:spPr>
          <a:xfrm>
            <a:off x="835342" y="1680212"/>
            <a:ext cx="1165212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800" b="1" noProof="1">
                <a:latin typeface="微软雅黑" pitchFamily="34" charset="-122"/>
                <a:ea typeface="微软雅黑" pitchFamily="34" charset="-122"/>
              </a:rPr>
              <a:t>AMCT </a:t>
            </a:r>
            <a:r>
              <a:rPr lang="zh-CN" altLang="en-US" sz="1800" b="1" noProof="1">
                <a:latin typeface="微软雅黑" pitchFamily="34" charset="-122"/>
                <a:ea typeface="微软雅黑" pitchFamily="34" charset="-122"/>
              </a:rPr>
              <a:t>量化仓与 </a:t>
            </a:r>
            <a:r>
              <a:rPr lang="en-US" altLang="zh-CN" sz="1800" b="1" noProof="1">
                <a:latin typeface="微软雅黑" pitchFamily="34" charset="-122"/>
                <a:ea typeface="微软雅黑" pitchFamily="34" charset="-122"/>
              </a:rPr>
              <a:t>infer </a:t>
            </a:r>
            <a:r>
              <a:rPr lang="zh-CN" altLang="en-US" sz="1800" b="1" noProof="1">
                <a:latin typeface="微软雅黑" pitchFamily="34" charset="-122"/>
                <a:ea typeface="微软雅黑" pitchFamily="34" charset="-122"/>
              </a:rPr>
              <a:t>推理仓联动：生成量化权重</a:t>
            </a:r>
            <a:r>
              <a:rPr lang="en-US" altLang="zh-CN" sz="1800" b="1" noProof="1">
                <a:latin typeface="微软雅黑" pitchFamily="34" charset="-122"/>
                <a:ea typeface="微软雅黑" pitchFamily="34" charset="-122"/>
              </a:rPr>
              <a:t>/</a:t>
            </a:r>
            <a:r>
              <a:rPr lang="zh-CN" altLang="en-US" sz="1800" b="1" noProof="1">
                <a:latin typeface="微软雅黑" pitchFamily="34" charset="-122"/>
                <a:ea typeface="微软雅黑" pitchFamily="34" charset="-122"/>
              </a:rPr>
              <a:t>方案 → 对接交付产物 → 模型量化接入</a:t>
            </a:r>
            <a:endParaRPr lang="zh-CN" altLang="en-US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35" name="文本框 34"/>
          <p:cNvSpPr txBox="1"/>
          <p:nvPr/>
        </p:nvSpPr>
        <p:spPr>
          <a:xfrm>
            <a:off x="735054" y="5185086"/>
            <a:ext cx="14306826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altLang="zh-CN" sz="1600" noProof="1">
                <a:solidFill>
                  <a:srgbClr val="333333"/>
                </a:solidFill>
                <a:latin typeface="微软雅黑" pitchFamily="34" charset="-122"/>
                <a:ea typeface="微软雅黑" pitchFamily="34" charset="-122"/>
              </a:rPr>
              <a:t>Agent</a:t>
            </a:r>
            <a:r>
              <a:rPr lang="zh-CN" altLang="en-US" sz="1600" noProof="1">
                <a:solidFill>
                  <a:srgbClr val="333333"/>
                </a:solidFill>
                <a:latin typeface="微软雅黑" pitchFamily="34" charset="-122"/>
                <a:ea typeface="微软雅黑" pitchFamily="34" charset="-122"/>
              </a:rPr>
              <a:t> 分析与实施：参考 </a:t>
            </a:r>
            <a:r>
              <a:rPr lang="en-US" altLang="zh-CN" sz="1600" b="1" noProof="1">
                <a:solidFill>
                  <a:srgbClr val="C00000"/>
                </a:solidFill>
                <a:latin typeface="微软雅黑" pitchFamily="34" charset="-122"/>
                <a:ea typeface="微软雅黑" pitchFamily="34" charset="-122"/>
              </a:rPr>
              <a:t>model-infer-graph-mode</a:t>
            </a:r>
            <a:r>
              <a:rPr lang="zh-CN" altLang="en-US" sz="1600" b="1" noProof="1">
                <a:latin typeface="微软雅黑" pitchFamily="34" charset="-122"/>
                <a:ea typeface="微软雅黑" pitchFamily="34" charset="-122"/>
              </a:rPr>
              <a:t>，</a:t>
            </a:r>
            <a:r>
              <a:rPr lang="zh-CN" altLang="en-US" sz="1600" noProof="1">
                <a:solidFill>
                  <a:srgbClr val="333333"/>
                </a:solidFill>
                <a:latin typeface="微软雅黑" pitchFamily="34" charset="-122"/>
                <a:ea typeface="微软雅黑" pitchFamily="34" charset="-122"/>
              </a:rPr>
              <a:t>把 </a:t>
            </a:r>
            <a:r>
              <a:rPr lang="en-US" altLang="zh-CN" sz="1600" noProof="1">
                <a:solidFill>
                  <a:srgbClr val="333333"/>
                </a:solidFill>
                <a:latin typeface="微软雅黑" pitchFamily="34" charset="-122"/>
                <a:ea typeface="微软雅黑" pitchFamily="34" charset="-122"/>
              </a:rPr>
              <a:t>decode </a:t>
            </a:r>
            <a:r>
              <a:rPr lang="zh-CN" altLang="en-US" sz="1600" noProof="1">
                <a:solidFill>
                  <a:srgbClr val="333333"/>
                </a:solidFill>
                <a:latin typeface="微软雅黑" pitchFamily="34" charset="-122"/>
                <a:ea typeface="微软雅黑" pitchFamily="34" charset="-122"/>
              </a:rPr>
              <a:t>路径适配到图模式后端（</a:t>
            </a:r>
            <a:r>
              <a:rPr lang="en-US" altLang="zh-CN" sz="1600" noProof="1">
                <a:solidFill>
                  <a:srgbClr val="333333"/>
                </a:solidFill>
                <a:latin typeface="微软雅黑" pitchFamily="34" charset="-122"/>
                <a:ea typeface="微软雅黑" pitchFamily="34" charset="-122"/>
              </a:rPr>
              <a:t>950 PR/DT</a:t>
            </a:r>
            <a:r>
              <a:rPr lang="zh-CN" altLang="en-US" sz="1600" noProof="1">
                <a:solidFill>
                  <a:srgbClr val="333333"/>
                </a:solidFill>
                <a:latin typeface="微软雅黑" pitchFamily="34" charset="-122"/>
                <a:ea typeface="微软雅黑" pitchFamily="34" charset="-122"/>
              </a:rPr>
              <a:t>用 </a:t>
            </a:r>
            <a:r>
              <a:rPr lang="en-US" altLang="zh-CN" sz="1600" noProof="1">
                <a:solidFill>
                  <a:srgbClr val="333333"/>
                </a:solidFill>
                <a:latin typeface="微软雅黑" pitchFamily="34" charset="-122"/>
                <a:ea typeface="微软雅黑" pitchFamily="34" charset="-122"/>
              </a:rPr>
              <a:t>npugraph_ex</a:t>
            </a:r>
            <a:r>
              <a:rPr lang="zh-CN" altLang="en-US" sz="1600" noProof="1">
                <a:solidFill>
                  <a:srgbClr val="333333"/>
                </a:solidFill>
                <a:latin typeface="微软雅黑" pitchFamily="34" charset="-122"/>
                <a:ea typeface="微软雅黑" pitchFamily="34" charset="-122"/>
              </a:rPr>
              <a:t>），定位并消除 </a:t>
            </a:r>
            <a:r>
              <a:rPr lang="en-US" altLang="zh-CN" sz="1600" noProof="1">
                <a:solidFill>
                  <a:srgbClr val="333333"/>
                </a:solidFill>
                <a:latin typeface="微软雅黑" pitchFamily="34" charset="-122"/>
                <a:ea typeface="微软雅黑" pitchFamily="34" charset="-122"/>
              </a:rPr>
              <a:t>graph break</a:t>
            </a:r>
            <a:r>
              <a:rPr lang="zh-CN" altLang="en-US" sz="1600" noProof="1">
                <a:solidFill>
                  <a:srgbClr val="333333"/>
                </a:solidFill>
                <a:latin typeface="微软雅黑" pitchFamily="34" charset="-122"/>
                <a:ea typeface="微软雅黑" pitchFamily="34" charset="-122"/>
              </a:rPr>
              <a:t>，接入编译缓存降低重复编译开销</a:t>
            </a:r>
            <a:r>
              <a:rPr lang="en-US" altLang="zh-CN" sz="1600" noProof="1">
                <a:solidFill>
                  <a:srgbClr val="333333"/>
                </a:solidFill>
                <a:latin typeface="微软雅黑" pitchFamily="34" charset="-122"/>
                <a:ea typeface="微软雅黑" pitchFamily="34" charset="-122"/>
              </a:rPr>
              <a:t>。</a:t>
            </a:r>
            <a:endParaRPr lang="zh-CN" altLang="en-US" sz="1600" dirty="0">
              <a:latin typeface="微软雅黑" pitchFamily="34" charset="-122"/>
              <a:ea typeface="微软雅黑" pitchFamily="34" charset="-122"/>
            </a:endParaRPr>
          </a:p>
        </p:txBody>
      </p:sp>
    </p:spTree>
  </p:cSld>
  <p:clrMapOvr>
    <a:masterClrMapping/>
  </p:clrMapOvr>
  <p:transition>
    <p:fade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9144000"/>
          </a:xfrm>
          <a:prstGeom prst="rect">
            <a:avLst/>
          </a:prstGeom>
          <a:gradFill flip="none" rotWithShape="1">
            <a:gsLst>
              <a:gs pos="0">
                <a:srgbClr val="000000">
                  <a:alpha val="80000"/>
                </a:srgbClr>
              </a:gs>
              <a:gs pos="60000">
                <a:srgbClr val="000000">
                  <a:alpha val="60000"/>
                </a:srgbClr>
              </a:gs>
              <a:gs pos="100000">
                <a:srgbClr val="000000">
                  <a:alpha val="40000"/>
                </a:srgbClr>
              </a:gs>
            </a:gsLst>
            <a:lin ang="0" scaled="1"/>
          </a:gra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3" name="Text 1"/>
          <p:cNvSpPr/>
          <p:nvPr/>
        </p:nvSpPr>
        <p:spPr>
          <a:xfrm>
            <a:off x="1270000" y="2137410"/>
            <a:ext cx="2540000" cy="127000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9600" dirty="0">
                <a:solidFill>
                  <a:srgbClr val="FFFFFF"/>
                </a:solidFill>
                <a:latin typeface="微软雅黑" pitchFamily="34" charset="-122"/>
                <a:ea typeface="微软雅黑" pitchFamily="34" charset="-122"/>
                <a:cs typeface="MiSans" pitchFamily="34" charset="-120"/>
              </a:rPr>
              <a:t>05</a:t>
            </a:r>
            <a:endParaRPr lang="en-US" sz="9600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4" name="Text 2"/>
          <p:cNvSpPr/>
          <p:nvPr/>
        </p:nvSpPr>
        <p:spPr>
          <a:xfrm>
            <a:off x="1270000" y="3557016"/>
            <a:ext cx="11430000" cy="7620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l">
              <a:lnSpc>
                <a:spcPct val="100000"/>
              </a:lnSpc>
            </a:pPr>
            <a:r>
              <a:rPr lang="en-US" sz="4400" b="1" dirty="0" err="1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  <a:cs typeface="微软雅黑" pitchFamily="34" charset="-120"/>
                <a:sym typeface="+mn-ea"/>
              </a:rPr>
              <a:t>使用方式</a:t>
            </a:r>
            <a:r>
              <a:rPr lang="zh-CN" altLang="en-US" sz="4400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  <a:cs typeface="微软雅黑" pitchFamily="34" charset="-120"/>
                <a:sym typeface="+mn-ea"/>
              </a:rPr>
              <a:t>与样例</a:t>
            </a:r>
            <a:endParaRPr lang="en-US" sz="4400" b="1" dirty="0">
              <a:solidFill>
                <a:schemeClr val="bg1"/>
              </a:solidFill>
              <a:latin typeface="微软雅黑" pitchFamily="34" charset="-122"/>
              <a:ea typeface="微软雅黑" pitchFamily="34" charset="-122"/>
              <a:cs typeface="微软雅黑" pitchFamily="34" charset="-120"/>
              <a:sym typeface="+mn-ea"/>
            </a:endParaRPr>
          </a:p>
        </p:txBody>
      </p:sp>
      <p:sp>
        <p:nvSpPr>
          <p:cNvPr id="5" name="Text 3"/>
          <p:cNvSpPr/>
          <p:nvPr/>
        </p:nvSpPr>
        <p:spPr>
          <a:xfrm>
            <a:off x="1270000" y="4445000"/>
            <a:ext cx="10160000" cy="508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l">
              <a:lnSpc>
                <a:spcPct val="150000"/>
              </a:lnSpc>
            </a:pPr>
            <a:r>
              <a:rPr lang="en-US" sz="2000" dirty="0">
                <a:solidFill>
                  <a:srgbClr val="FFFFFF"/>
                </a:solidFill>
                <a:latin typeface="微软雅黑" pitchFamily="34" charset="-122"/>
                <a:ea typeface="微软雅黑" pitchFamily="34" charset="-122"/>
                <a:cs typeface="MiSans" pitchFamily="34" charset="-120"/>
              </a:rPr>
              <a:t>两个使用入口、平台适配，以及仓库里的真实优化样例</a:t>
            </a:r>
            <a:endParaRPr lang="en-US" sz="2000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6" name="Text 4"/>
          <p:cNvSpPr/>
          <p:nvPr/>
        </p:nvSpPr>
        <p:spPr>
          <a:xfrm>
            <a:off x="825500" y="8178800"/>
            <a:ext cx="2540000" cy="3302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300" dirty="0">
                <a:solidFill>
                  <a:srgbClr val="7F7F7F"/>
                </a:solidFill>
                <a:latin typeface="微软雅黑" pitchFamily="34" charset="-122"/>
                <a:ea typeface="微软雅黑" pitchFamily="34" charset="-122"/>
                <a:cs typeface="MiSans" pitchFamily="34" charset="-120"/>
              </a:rPr>
              <a:t>https://gitcode.com/cann</a:t>
            </a:r>
            <a:endParaRPr lang="en-US" sz="1300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7" name="Text 5"/>
          <p:cNvSpPr/>
          <p:nvPr/>
        </p:nvSpPr>
        <p:spPr>
          <a:xfrm>
            <a:off x="7620000" y="8178800"/>
            <a:ext cx="1016000" cy="3302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endParaRPr lang="en-US" sz="1300" dirty="0">
              <a:latin typeface="微软雅黑" pitchFamily="34" charset="-122"/>
              <a:ea typeface="微软雅黑" pitchFamily="34" charset="-122"/>
            </a:endParaRPr>
          </a:p>
        </p:txBody>
      </p:sp>
      <p:pic>
        <p:nvPicPr>
          <p:cNvPr id="8" name="Image 0" descr="https://kimi-img.moonshot.cn/pub/slides/okc/4rfbomebqqupm/mnt/agents/output/template_pptd/images/image_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512800" y="8051800"/>
            <a:ext cx="1752600" cy="469900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ext 28"/>
          <p:cNvSpPr/>
          <p:nvPr/>
        </p:nvSpPr>
        <p:spPr>
          <a:xfrm>
            <a:off x="825500" y="8178800"/>
            <a:ext cx="2540000" cy="3302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300" dirty="0">
                <a:solidFill>
                  <a:srgbClr val="7F7F7F"/>
                </a:solidFill>
                <a:latin typeface="微软雅黑" pitchFamily="34" charset="-122"/>
                <a:ea typeface="微软雅黑" pitchFamily="34" charset="-122"/>
                <a:cs typeface="MiSans" pitchFamily="34" charset="-120"/>
              </a:rPr>
              <a:t>https://gitcode.com/cann</a:t>
            </a:r>
            <a:endParaRPr lang="en-US" sz="1300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32" name="Text 29"/>
          <p:cNvSpPr/>
          <p:nvPr/>
        </p:nvSpPr>
        <p:spPr>
          <a:xfrm>
            <a:off x="7620000" y="8178800"/>
            <a:ext cx="1016000" cy="3302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fld id="{2AEAAE82-2EE4-40EC-A6FE-9FA0F5548DA8}" type="slidenum">
              <a:rPr lang="en-US" sz="1300" dirty="0">
                <a:solidFill>
                  <a:srgbClr val="7F7F7F"/>
                </a:solidFill>
                <a:latin typeface="微软雅黑" pitchFamily="34" charset="-122"/>
                <a:ea typeface="微软雅黑" pitchFamily="34" charset="-122"/>
                <a:cs typeface="MiSans" pitchFamily="34" charset="-120"/>
              </a:rPr>
            </a:fld>
            <a:endParaRPr lang="en-US" sz="1300" dirty="0">
              <a:latin typeface="微软雅黑" pitchFamily="34" charset="-122"/>
              <a:ea typeface="微软雅黑" pitchFamily="34" charset="-122"/>
            </a:endParaRPr>
          </a:p>
        </p:txBody>
      </p:sp>
      <p:pic>
        <p:nvPicPr>
          <p:cNvPr id="33" name="Image 0" descr="https://kimi-img.moonshot.cn/pub/slides/okc/4rfbomebqqupm/mnt/agents/output/template_pptd/images/image_2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512800" y="8051800"/>
            <a:ext cx="1752600" cy="469900"/>
          </a:xfrm>
          <a:prstGeom prst="rect">
            <a:avLst/>
          </a:prstGeom>
        </p:spPr>
      </p:pic>
      <p:sp>
        <p:nvSpPr>
          <p:cNvPr id="2" name="Text 0"/>
          <p:cNvSpPr/>
          <p:nvPr/>
        </p:nvSpPr>
        <p:spPr>
          <a:xfrm>
            <a:off x="762000" y="355600"/>
            <a:ext cx="11430000" cy="5715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l">
              <a:lnSpc>
                <a:spcPct val="100000"/>
              </a:lnSpc>
            </a:pPr>
            <a:r>
              <a:rPr lang="zh-CN" altLang="en-US" sz="3200" b="1" dirty="0">
                <a:solidFill>
                  <a:srgbClr val="333333"/>
                </a:solidFill>
                <a:latin typeface="微软雅黑" pitchFamily="34" charset="-122"/>
                <a:ea typeface="微软雅黑" pitchFamily="34" charset="-122"/>
                <a:cs typeface="微软雅黑" pitchFamily="34" charset="-120"/>
                <a:sym typeface="+mn-ea"/>
              </a:rPr>
              <a:t>使用</a:t>
            </a:r>
            <a:r>
              <a:rPr lang="en-US" sz="3200" b="1" dirty="0">
                <a:solidFill>
                  <a:srgbClr val="333333"/>
                </a:solidFill>
                <a:latin typeface="微软雅黑" pitchFamily="34" charset="-122"/>
                <a:ea typeface="微软雅黑" pitchFamily="34" charset="-122"/>
                <a:cs typeface="微软雅黑" pitchFamily="34" charset="-120"/>
                <a:sym typeface="+mn-ea"/>
              </a:rPr>
              <a:t>入口与平台适配</a:t>
            </a:r>
            <a:endParaRPr lang="en-US" sz="3200" b="1" dirty="0">
              <a:solidFill>
                <a:schemeClr val="tx1"/>
              </a:solidFill>
              <a:latin typeface="微软雅黑" pitchFamily="34" charset="-122"/>
              <a:ea typeface="微软雅黑" pitchFamily="34" charset="-122"/>
              <a:cs typeface="微软雅黑" pitchFamily="34" charset="-120"/>
              <a:sym typeface="+mn-ea"/>
            </a:endParaRPr>
          </a:p>
        </p:txBody>
      </p:sp>
      <p:sp>
        <p:nvSpPr>
          <p:cNvPr id="6" name="Shape 4"/>
          <p:cNvSpPr/>
          <p:nvPr/>
        </p:nvSpPr>
        <p:spPr>
          <a:xfrm>
            <a:off x="1016000" y="1346199"/>
            <a:ext cx="6858000" cy="1922781"/>
          </a:xfrm>
          <a:prstGeom prst="roundRect">
            <a:avLst>
              <a:gd name="adj" fmla="val 3000"/>
            </a:avLst>
          </a:prstGeom>
          <a:solidFill>
            <a:srgbClr val="F2F2F2"/>
          </a:solidFill>
        </p:spPr>
        <p:txBody>
          <a:bodyPr/>
          <a:lstStyle/>
          <a:p>
            <a:endParaRPr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7" name="Shape 5"/>
          <p:cNvSpPr/>
          <p:nvPr/>
        </p:nvSpPr>
        <p:spPr>
          <a:xfrm>
            <a:off x="1016000" y="1346200"/>
            <a:ext cx="6858000" cy="50800"/>
          </a:xfrm>
          <a:prstGeom prst="rect">
            <a:avLst/>
          </a:prstGeom>
          <a:solidFill>
            <a:srgbClr val="C00000"/>
          </a:solidFill>
        </p:spPr>
        <p:txBody>
          <a:bodyPr/>
          <a:lstStyle/>
          <a:p>
            <a:endParaRPr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0" name="Text 8"/>
          <p:cNvSpPr/>
          <p:nvPr/>
        </p:nvSpPr>
        <p:spPr>
          <a:xfrm>
            <a:off x="1259840" y="1498600"/>
            <a:ext cx="5080000" cy="3556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b="1" dirty="0">
                <a:solidFill>
                  <a:srgbClr val="333333"/>
                </a:solidFill>
                <a:latin typeface="微软雅黑" pitchFamily="34" charset="-122"/>
                <a:ea typeface="微软雅黑" pitchFamily="34" charset="-122"/>
                <a:cs typeface="微软雅黑" pitchFamily="34" charset="-120"/>
              </a:rPr>
              <a:t>入口一：cann-recipes-infer 仓库直接使用</a:t>
            </a:r>
            <a:endParaRPr lang="en-US" sz="1600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1" name="Text 9"/>
          <p:cNvSpPr/>
          <p:nvPr/>
        </p:nvSpPr>
        <p:spPr>
          <a:xfrm>
            <a:off x="1206500" y="1765935"/>
            <a:ext cx="6477000" cy="160464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400" dirty="0">
                <a:solidFill>
                  <a:srgbClr val="333333"/>
                </a:solidFill>
                <a:latin typeface="微软雅黑" pitchFamily="34" charset="-122"/>
                <a:ea typeface="微软雅黑" pitchFamily="34" charset="-122"/>
                <a:cs typeface="微软雅黑" pitchFamily="34" charset="-120"/>
              </a:rPr>
              <a:t>Skill / Agent / Hook 已内置在仓库</a:t>
            </a:r>
            <a:endParaRPr lang="en-US" sz="1600" dirty="0">
              <a:latin typeface="微软雅黑" pitchFamily="34" charset="-122"/>
              <a:ea typeface="微软雅黑" pitchFamily="34" charset="-122"/>
            </a:endParaRPr>
          </a:p>
          <a:p>
            <a:pPr>
              <a:lnSpc>
                <a:spcPct val="140000"/>
              </a:lnSpc>
              <a:spcBef>
                <a:spcPts val="200"/>
              </a:spcBef>
            </a:pPr>
            <a:r>
              <a:rPr lang="en-US" sz="1400" b="1" dirty="0">
                <a:solidFill>
                  <a:srgbClr val="333333"/>
                </a:solidFill>
                <a:latin typeface="微软雅黑" pitchFamily="34" charset="-122"/>
                <a:ea typeface="微软雅黑" pitchFamily="34" charset="-122"/>
                <a:cs typeface="微软雅黑" pitchFamily="34" charset="-120"/>
              </a:rPr>
              <a:t>一键部署</a:t>
            </a:r>
            <a:r>
              <a:rPr lang="en-US" sz="1400" dirty="0">
                <a:solidFill>
                  <a:srgbClr val="333333"/>
                </a:solidFill>
                <a:latin typeface="微软雅黑" pitchFamily="34" charset="-122"/>
                <a:ea typeface="微软雅黑" pitchFamily="34" charset="-122"/>
                <a:cs typeface="微软雅黑" pitchFamily="34" charset="-120"/>
              </a:rPr>
              <a:t>：</a:t>
            </a:r>
            <a:endParaRPr lang="en-US" sz="1600" dirty="0">
              <a:latin typeface="微软雅黑" pitchFamily="34" charset="-122"/>
              <a:ea typeface="微软雅黑" pitchFamily="34" charset="-122"/>
            </a:endParaRPr>
          </a:p>
          <a:p>
            <a:pPr>
              <a:lnSpc>
                <a:spcPct val="140000"/>
              </a:lnSpc>
              <a:spcBef>
                <a:spcPts val="200"/>
              </a:spcBef>
            </a:pPr>
            <a:r>
              <a:rPr lang="en-US" sz="1400" dirty="0">
                <a:solidFill>
                  <a:srgbClr val="333333"/>
                </a:solidFill>
                <a:highlight>
                  <a:srgbClr val="F2F2F2">
                    <a:alpha val="100000"/>
                  </a:srgbClr>
                </a:highlight>
                <a:latin typeface="微软雅黑" pitchFamily="34" charset="-122"/>
                <a:ea typeface="微软雅黑" pitchFamily="34" charset="-122"/>
                <a:cs typeface="微软雅黑" pitchFamily="34" charset="-120"/>
              </a:rPr>
              <a:t>bash scripts/init-agent.sh </a:t>
            </a:r>
            <a:endParaRPr lang="en-US" sz="1400" dirty="0">
              <a:solidFill>
                <a:srgbClr val="333333"/>
              </a:solidFill>
              <a:highlight>
                <a:srgbClr val="F2F2F2">
                  <a:alpha val="100000"/>
                </a:srgbClr>
              </a:highlight>
              <a:latin typeface="微软雅黑" pitchFamily="34" charset="-122"/>
              <a:ea typeface="微软雅黑" pitchFamily="34" charset="-122"/>
              <a:cs typeface="微软雅黑" pitchFamily="34" charset="-120"/>
            </a:endParaRPr>
          </a:p>
          <a:p>
            <a:pPr>
              <a:lnSpc>
                <a:spcPct val="140000"/>
              </a:lnSpc>
              <a:spcBef>
                <a:spcPts val="200"/>
              </a:spcBef>
            </a:pPr>
            <a:r>
              <a:rPr lang="en-US" sz="1400" dirty="0">
                <a:solidFill>
                  <a:srgbClr val="333333"/>
                </a:solidFill>
                <a:latin typeface="微软雅黑" pitchFamily="34" charset="-122"/>
                <a:ea typeface="微软雅黑" pitchFamily="34" charset="-122"/>
                <a:cs typeface="微软雅黑" pitchFamily="34" charset="-120"/>
              </a:rPr>
              <a:t>· </a:t>
            </a:r>
            <a:r>
              <a:rPr lang="zh-CN" altLang="en-US" sz="1400" dirty="0">
                <a:solidFill>
                  <a:srgbClr val="333333"/>
                </a:solidFill>
                <a:latin typeface="微软雅黑" pitchFamily="34" charset="-122"/>
                <a:ea typeface="微软雅黑" pitchFamily="34" charset="-122"/>
                <a:cs typeface="微软雅黑" pitchFamily="34" charset="-120"/>
              </a:rPr>
              <a:t>支持</a:t>
            </a:r>
            <a:r>
              <a:rPr lang="en-US" altLang="zh-CN" sz="1400" dirty="0">
                <a:solidFill>
                  <a:srgbClr val="333333"/>
                </a:solidFill>
                <a:latin typeface="微软雅黑" pitchFamily="34" charset="-122"/>
                <a:ea typeface="微软雅黑" pitchFamily="34" charset="-122"/>
                <a:cs typeface="微软雅黑" pitchFamily="34" charset="-120"/>
              </a:rPr>
              <a:t> </a:t>
            </a:r>
            <a:r>
              <a:rPr lang="en-US" sz="1400" dirty="0">
                <a:solidFill>
                  <a:srgbClr val="333333"/>
                </a:solidFill>
                <a:latin typeface="微软雅黑" pitchFamily="34" charset="-122"/>
                <a:ea typeface="微软雅黑" pitchFamily="34" charset="-122"/>
                <a:cs typeface="微软雅黑" pitchFamily="34" charset="-120"/>
              </a:rPr>
              <a:t>claude / opencode / codex</a:t>
            </a:r>
            <a:endParaRPr lang="en-US" sz="1400" dirty="0">
              <a:solidFill>
                <a:srgbClr val="333333"/>
              </a:solidFill>
              <a:latin typeface="微软雅黑" pitchFamily="34" charset="-122"/>
              <a:ea typeface="微软雅黑" pitchFamily="34" charset="-122"/>
              <a:cs typeface="微软雅黑" pitchFamily="34" charset="-120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1016000" y="3436620"/>
            <a:ext cx="6858000" cy="1922781"/>
          </a:xfrm>
          <a:prstGeom prst="roundRect">
            <a:avLst>
              <a:gd name="adj" fmla="val 3000"/>
            </a:avLst>
          </a:prstGeom>
          <a:solidFill>
            <a:srgbClr val="F2F2F2"/>
          </a:solidFill>
        </p:spPr>
        <p:txBody>
          <a:bodyPr/>
          <a:lstStyle/>
          <a:p>
            <a:endParaRPr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3" name="Shape 11"/>
          <p:cNvSpPr/>
          <p:nvPr/>
        </p:nvSpPr>
        <p:spPr>
          <a:xfrm>
            <a:off x="1016000" y="3436620"/>
            <a:ext cx="6858000" cy="50800"/>
          </a:xfrm>
          <a:prstGeom prst="rect">
            <a:avLst/>
          </a:prstGeom>
          <a:solidFill>
            <a:srgbClr val="C00000"/>
          </a:solidFill>
        </p:spPr>
        <p:txBody>
          <a:bodyPr/>
          <a:lstStyle/>
          <a:p>
            <a:endParaRPr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1206500" y="3589020"/>
            <a:ext cx="6350000" cy="3556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b="1" dirty="0">
                <a:solidFill>
                  <a:srgbClr val="333333"/>
                </a:solidFill>
                <a:latin typeface="微软雅黑" pitchFamily="34" charset="-122"/>
                <a:ea typeface="微软雅黑" pitchFamily="34" charset="-122"/>
                <a:cs typeface="微软雅黑" pitchFamily="34" charset="-120"/>
              </a:rPr>
              <a:t>入口二：CANNBot</a:t>
            </a:r>
            <a:endParaRPr lang="en-US" sz="1600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1206500" y="3773805"/>
            <a:ext cx="6477000" cy="176974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400" dirty="0">
                <a:solidFill>
                  <a:srgbClr val="333333"/>
                </a:solidFill>
                <a:latin typeface="微软雅黑" pitchFamily="34" charset="-122"/>
                <a:ea typeface="微软雅黑" pitchFamily="34" charset="-122"/>
                <a:cs typeface="微软雅黑" pitchFamily="34" charset="-120"/>
              </a:rPr>
              <a:t>装到任意已有项目， plugin </a:t>
            </a:r>
            <a:r>
              <a:rPr lang="zh-CN" altLang="en-US" sz="1400" dirty="0">
                <a:solidFill>
                  <a:srgbClr val="333333"/>
                </a:solidFill>
                <a:latin typeface="微软雅黑" pitchFamily="34" charset="-122"/>
                <a:ea typeface="微软雅黑" pitchFamily="34" charset="-122"/>
                <a:cs typeface="微软雅黑" pitchFamily="34" charset="-120"/>
              </a:rPr>
              <a:t>形式安装</a:t>
            </a:r>
            <a:endParaRPr lang="en-US" sz="1600" dirty="0">
              <a:latin typeface="微软雅黑" pitchFamily="34" charset="-122"/>
              <a:ea typeface="微软雅黑" pitchFamily="34" charset="-122"/>
            </a:endParaRPr>
          </a:p>
          <a:p>
            <a:pPr>
              <a:lnSpc>
                <a:spcPct val="140000"/>
              </a:lnSpc>
              <a:spcBef>
                <a:spcPts val="200"/>
              </a:spcBef>
            </a:pPr>
            <a:r>
              <a:rPr lang="en-US" sz="1400" b="1" dirty="0">
                <a:solidFill>
                  <a:srgbClr val="333333"/>
                </a:solidFill>
                <a:latin typeface="微软雅黑" pitchFamily="34" charset="-122"/>
                <a:ea typeface="微软雅黑" pitchFamily="34" charset="-122"/>
                <a:cs typeface="微软雅黑" pitchFamily="34" charset="-120"/>
              </a:rPr>
              <a:t>安装</a:t>
            </a:r>
            <a:r>
              <a:rPr lang="zh-CN" altLang="en-US" sz="1400" b="1" dirty="0">
                <a:solidFill>
                  <a:srgbClr val="333333"/>
                </a:solidFill>
                <a:latin typeface="微软雅黑" pitchFamily="34" charset="-122"/>
                <a:ea typeface="微软雅黑" pitchFamily="34" charset="-122"/>
                <a:cs typeface="微软雅黑" pitchFamily="34" charset="-120"/>
              </a:rPr>
              <a:t>方式</a:t>
            </a:r>
            <a:r>
              <a:rPr lang="en-US" sz="1400" dirty="0">
                <a:solidFill>
                  <a:srgbClr val="333333"/>
                </a:solidFill>
                <a:latin typeface="微软雅黑" pitchFamily="34" charset="-122"/>
                <a:ea typeface="微软雅黑" pitchFamily="34" charset="-122"/>
                <a:cs typeface="微软雅黑" pitchFamily="34" charset="-120"/>
              </a:rPr>
              <a:t>：Plugin Marketplace / init.sh 脚本 / 手动安装</a:t>
            </a:r>
            <a:endParaRPr lang="en-US" sz="1600" dirty="0">
              <a:latin typeface="微软雅黑" pitchFamily="34" charset="-122"/>
              <a:ea typeface="微软雅黑" pitchFamily="34" charset="-122"/>
            </a:endParaRPr>
          </a:p>
          <a:p>
            <a:pPr>
              <a:lnSpc>
                <a:spcPct val="140000"/>
              </a:lnSpc>
              <a:spcBef>
                <a:spcPts val="200"/>
              </a:spcBef>
            </a:pPr>
            <a:r>
              <a:rPr lang="zh-CN" altLang="en-US" sz="1400" b="1" dirty="0">
                <a:solidFill>
                  <a:srgbClr val="333333"/>
                </a:solidFill>
                <a:latin typeface="微软雅黑" pitchFamily="34" charset="-122"/>
                <a:ea typeface="微软雅黑" pitchFamily="34" charset="-122"/>
                <a:cs typeface="微软雅黑" pitchFamily="34" charset="-120"/>
              </a:rPr>
              <a:t>平台</a:t>
            </a:r>
            <a:r>
              <a:rPr lang="en-US" sz="1400" b="1" dirty="0">
                <a:solidFill>
                  <a:srgbClr val="333333"/>
                </a:solidFill>
                <a:latin typeface="微软雅黑" pitchFamily="34" charset="-122"/>
                <a:ea typeface="微软雅黑" pitchFamily="34" charset="-122"/>
                <a:cs typeface="微软雅黑" pitchFamily="34" charset="-120"/>
              </a:rPr>
              <a:t>适配</a:t>
            </a:r>
            <a:r>
              <a:rPr lang="en-US" sz="1400" dirty="0">
                <a:solidFill>
                  <a:srgbClr val="333333"/>
                </a:solidFill>
                <a:latin typeface="微软雅黑" pitchFamily="34" charset="-122"/>
                <a:ea typeface="微软雅黑" pitchFamily="34" charset="-122"/>
                <a:cs typeface="微软雅黑" pitchFamily="34" charset="-120"/>
              </a:rPr>
              <a:t>：Claude Code / OpenCode / TRAE / Cursor</a:t>
            </a:r>
            <a:endParaRPr lang="en-US" sz="1600" dirty="0">
              <a:latin typeface="微软雅黑" pitchFamily="34" charset="-122"/>
              <a:ea typeface="微软雅黑" pitchFamily="34" charset="-122"/>
            </a:endParaRPr>
          </a:p>
          <a:p>
            <a:pPr>
              <a:lnSpc>
                <a:spcPct val="140000"/>
              </a:lnSpc>
              <a:spcBef>
                <a:spcPts val="200"/>
              </a:spcBef>
            </a:pPr>
            <a:r>
              <a:rPr lang="en-US" sz="1400" b="1" dirty="0">
                <a:solidFill>
                  <a:srgbClr val="333333"/>
                </a:solidFill>
                <a:latin typeface="微软雅黑" pitchFamily="34" charset="-122"/>
                <a:ea typeface="微软雅黑" pitchFamily="34" charset="-122"/>
                <a:cs typeface="微软雅黑" pitchFamily="34" charset="-120"/>
              </a:rPr>
              <a:t>两级别</a:t>
            </a:r>
            <a:r>
              <a:rPr lang="en-US" sz="1400" dirty="0">
                <a:solidFill>
                  <a:srgbClr val="333333"/>
                </a:solidFill>
                <a:latin typeface="微软雅黑" pitchFamily="34" charset="-122"/>
                <a:ea typeface="微软雅黑" pitchFamily="34" charset="-122"/>
                <a:cs typeface="微软雅黑" pitchFamily="34" charset="-120"/>
              </a:rPr>
              <a:t>：project（项目级）/ global（用户级）</a:t>
            </a:r>
            <a:endParaRPr lang="en-US" sz="1600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3" name="Shape 4"/>
          <p:cNvSpPr/>
          <p:nvPr/>
        </p:nvSpPr>
        <p:spPr>
          <a:xfrm>
            <a:off x="1024614" y="5631180"/>
            <a:ext cx="279400" cy="279400"/>
          </a:xfrm>
          <a:custGeom>
            <a:avLst/>
            <a:gdLst/>
            <a:ahLst/>
            <a:cxnLst/>
            <a:rect l="l" t="t" r="r" b="b"/>
            <a:pathLst>
              <a:path w="279400" h="279400">
                <a:moveTo>
                  <a:pt x="5130" y="64720"/>
                </a:moveTo>
                <a:cubicBezTo>
                  <a:pt x="-1692" y="57899"/>
                  <a:pt x="-1692" y="46821"/>
                  <a:pt x="5130" y="40000"/>
                </a:cubicBezTo>
                <a:cubicBezTo>
                  <a:pt x="11951" y="33179"/>
                  <a:pt x="23029" y="33179"/>
                  <a:pt x="29850" y="40000"/>
                </a:cubicBezTo>
                <a:lnTo>
                  <a:pt x="117162" y="127313"/>
                </a:lnTo>
                <a:cubicBezTo>
                  <a:pt x="123984" y="134134"/>
                  <a:pt x="123984" y="145212"/>
                  <a:pt x="117162" y="152033"/>
                </a:cubicBezTo>
                <a:lnTo>
                  <a:pt x="29850" y="239345"/>
                </a:lnTo>
                <a:cubicBezTo>
                  <a:pt x="23029" y="246167"/>
                  <a:pt x="11951" y="246167"/>
                  <a:pt x="5130" y="239345"/>
                </a:cubicBezTo>
                <a:cubicBezTo>
                  <a:pt x="-1692" y="232524"/>
                  <a:pt x="-1692" y="221446"/>
                  <a:pt x="5130" y="214625"/>
                </a:cubicBezTo>
                <a:lnTo>
                  <a:pt x="80055" y="139700"/>
                </a:lnTo>
                <a:lnTo>
                  <a:pt x="5130" y="64720"/>
                </a:lnTo>
                <a:close/>
                <a:moveTo>
                  <a:pt x="122238" y="209550"/>
                </a:moveTo>
                <a:lnTo>
                  <a:pt x="261938" y="209550"/>
                </a:lnTo>
                <a:cubicBezTo>
                  <a:pt x="271596" y="209550"/>
                  <a:pt x="279400" y="217354"/>
                  <a:pt x="279400" y="227013"/>
                </a:cubicBezTo>
                <a:cubicBezTo>
                  <a:pt x="279400" y="236671"/>
                  <a:pt x="271596" y="244475"/>
                  <a:pt x="261938" y="244475"/>
                </a:cubicBezTo>
                <a:lnTo>
                  <a:pt x="122238" y="244475"/>
                </a:lnTo>
                <a:cubicBezTo>
                  <a:pt x="112579" y="244475"/>
                  <a:pt x="104775" y="236671"/>
                  <a:pt x="104775" y="227013"/>
                </a:cubicBezTo>
                <a:cubicBezTo>
                  <a:pt x="104775" y="217354"/>
                  <a:pt x="112579" y="209550"/>
                  <a:pt x="122238" y="209550"/>
                </a:cubicBezTo>
                <a:close/>
              </a:path>
            </a:pathLst>
          </a:custGeom>
          <a:solidFill>
            <a:srgbClr val="C00000"/>
          </a:solidFill>
        </p:spPr>
        <p:txBody>
          <a:bodyPr/>
          <a:lstStyle/>
          <a:p>
            <a:endParaRPr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4" name="Text 5"/>
          <p:cNvSpPr/>
          <p:nvPr/>
        </p:nvSpPr>
        <p:spPr>
          <a:xfrm>
            <a:off x="1380214" y="5605780"/>
            <a:ext cx="5080000" cy="3302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b="1" dirty="0">
                <a:solidFill>
                  <a:srgbClr val="333333"/>
                </a:solidFill>
                <a:latin typeface="微软雅黑" pitchFamily="34" charset="-122"/>
                <a:ea typeface="微软雅黑" pitchFamily="34" charset="-122"/>
                <a:cs typeface="微软雅黑" pitchFamily="34" charset="-120"/>
              </a:rPr>
              <a:t>启动</a:t>
            </a:r>
            <a:r>
              <a:rPr lang="zh-CN" altLang="en-US" sz="1800" b="1" dirty="0">
                <a:solidFill>
                  <a:srgbClr val="333333"/>
                </a:solidFill>
                <a:latin typeface="微软雅黑" pitchFamily="34" charset="-122"/>
                <a:ea typeface="微软雅黑" pitchFamily="34" charset="-122"/>
                <a:cs typeface="微软雅黑" pitchFamily="34" charset="-120"/>
              </a:rPr>
              <a:t>提示词</a:t>
            </a:r>
            <a:endParaRPr lang="zh-CN" altLang="en-US" sz="1800" b="1" dirty="0">
              <a:solidFill>
                <a:srgbClr val="333333"/>
              </a:solidFill>
              <a:latin typeface="微软雅黑" pitchFamily="34" charset="-122"/>
              <a:ea typeface="微软雅黑" pitchFamily="34" charset="-122"/>
              <a:cs typeface="微软雅黑" pitchFamily="34" charset="-120"/>
            </a:endParaRPr>
          </a:p>
        </p:txBody>
      </p:sp>
      <p:sp>
        <p:nvSpPr>
          <p:cNvPr id="5" name="Shape 6"/>
          <p:cNvSpPr/>
          <p:nvPr/>
        </p:nvSpPr>
        <p:spPr>
          <a:xfrm>
            <a:off x="1024614" y="6037580"/>
            <a:ext cx="6858000" cy="2166620"/>
          </a:xfrm>
          <a:prstGeom prst="roundRect">
            <a:avLst>
              <a:gd name="adj" fmla="val 3000"/>
            </a:avLst>
          </a:prstGeom>
          <a:solidFill>
            <a:srgbClr val="F2F2F2"/>
          </a:solidFill>
        </p:spPr>
        <p:txBody>
          <a:bodyPr/>
          <a:lstStyle/>
          <a:p>
            <a:endParaRPr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7" name="Shape 7"/>
          <p:cNvSpPr/>
          <p:nvPr/>
        </p:nvSpPr>
        <p:spPr>
          <a:xfrm>
            <a:off x="1215114" y="6139180"/>
            <a:ext cx="1016000" cy="279400"/>
          </a:xfrm>
          <a:prstGeom prst="roundRect">
            <a:avLst>
              <a:gd name="adj" fmla="val 20000"/>
            </a:avLst>
          </a:prstGeom>
          <a:solidFill>
            <a:srgbClr val="C00000"/>
          </a:solidFill>
        </p:spPr>
        <p:txBody>
          <a:bodyPr/>
          <a:lstStyle/>
          <a:p>
            <a:endParaRPr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8" name="Text 8"/>
          <p:cNvSpPr/>
          <p:nvPr/>
        </p:nvSpPr>
        <p:spPr>
          <a:xfrm>
            <a:off x="1215114" y="6139180"/>
            <a:ext cx="1016000" cy="2794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200" dirty="0">
                <a:solidFill>
                  <a:srgbClr val="FFFFFF"/>
                </a:solidFill>
                <a:latin typeface="微软雅黑" pitchFamily="34" charset="-122"/>
                <a:ea typeface="微软雅黑" pitchFamily="34" charset="-122"/>
                <a:cs typeface="微软雅黑" pitchFamily="34" charset="-120"/>
              </a:rPr>
              <a:t>全流程</a:t>
            </a:r>
            <a:endParaRPr lang="en-US" sz="1600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9" name="Text 9"/>
          <p:cNvSpPr/>
          <p:nvPr/>
        </p:nvSpPr>
        <p:spPr>
          <a:xfrm>
            <a:off x="2358114" y="6139180"/>
            <a:ext cx="5334000" cy="762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500" dirty="0">
                <a:solidFill>
                  <a:srgbClr val="333333"/>
                </a:solidFill>
                <a:latin typeface="微软雅黑" pitchFamily="34" charset="-122"/>
                <a:ea typeface="微软雅黑" pitchFamily="34" charset="-122"/>
                <a:cs typeface="微软雅黑" pitchFamily="34" charset="-120"/>
              </a:rPr>
              <a:t>「帮我优化 XX 模型」</a:t>
            </a:r>
            <a:endParaRPr lang="en-US" sz="1600" dirty="0">
              <a:latin typeface="微软雅黑" pitchFamily="34" charset="-122"/>
              <a:ea typeface="微软雅黑" pitchFamily="34" charset="-122"/>
            </a:endParaRPr>
          </a:p>
          <a:p>
            <a:pPr>
              <a:lnSpc>
                <a:spcPct val="150000"/>
              </a:lnSpc>
            </a:pPr>
            <a:r>
              <a:rPr lang="en-US" sz="1500" dirty="0">
                <a:solidFill>
                  <a:srgbClr val="333333"/>
                </a:solidFill>
                <a:latin typeface="微软雅黑" pitchFamily="34" charset="-122"/>
                <a:ea typeface="微软雅黑" pitchFamily="34" charset="-122"/>
                <a:cs typeface="微软雅黑" pitchFamily="34" charset="-120"/>
              </a:rPr>
              <a:t>→ 从 model-infer-optimize 入口启动，自动走</a:t>
            </a:r>
            <a:r>
              <a:rPr lang="zh-CN" altLang="en-US" sz="1500" dirty="0">
                <a:solidFill>
                  <a:srgbClr val="333333"/>
                </a:solidFill>
                <a:latin typeface="微软雅黑" pitchFamily="34" charset="-122"/>
                <a:ea typeface="微软雅黑" pitchFamily="34" charset="-122"/>
                <a:cs typeface="微软雅黑" pitchFamily="34" charset="-120"/>
              </a:rPr>
              <a:t>全部优化</a:t>
            </a:r>
            <a:r>
              <a:rPr lang="en-US" sz="1500" dirty="0">
                <a:solidFill>
                  <a:srgbClr val="333333"/>
                </a:solidFill>
                <a:latin typeface="微软雅黑" pitchFamily="34" charset="-122"/>
                <a:ea typeface="微软雅黑" pitchFamily="34" charset="-122"/>
                <a:cs typeface="微软雅黑" pitchFamily="34" charset="-120"/>
              </a:rPr>
              <a:t>阶段</a:t>
            </a:r>
            <a:endParaRPr lang="en-US" sz="1600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21" name="Shape 11"/>
          <p:cNvSpPr/>
          <p:nvPr/>
        </p:nvSpPr>
        <p:spPr>
          <a:xfrm>
            <a:off x="1215114" y="7224643"/>
            <a:ext cx="1016000" cy="279400"/>
          </a:xfrm>
          <a:prstGeom prst="roundRect">
            <a:avLst>
              <a:gd name="adj" fmla="val 20000"/>
            </a:avLst>
          </a:prstGeom>
          <a:solidFill>
            <a:srgbClr val="C00000"/>
          </a:solidFill>
        </p:spPr>
        <p:txBody>
          <a:bodyPr/>
          <a:lstStyle/>
          <a:p>
            <a:endParaRPr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22" name="Text 12"/>
          <p:cNvSpPr/>
          <p:nvPr/>
        </p:nvSpPr>
        <p:spPr>
          <a:xfrm>
            <a:off x="1215114" y="7224643"/>
            <a:ext cx="1016000" cy="2794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200" dirty="0">
                <a:solidFill>
                  <a:srgbClr val="FFFFFF"/>
                </a:solidFill>
                <a:latin typeface="微软雅黑" pitchFamily="34" charset="-122"/>
                <a:ea typeface="微软雅黑" pitchFamily="34" charset="-122"/>
                <a:cs typeface="微软雅黑" pitchFamily="34" charset="-120"/>
              </a:rPr>
              <a:t>单阶段</a:t>
            </a:r>
            <a:endParaRPr lang="en-US" sz="1600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24" name="Text 13"/>
          <p:cNvSpPr/>
          <p:nvPr/>
        </p:nvSpPr>
        <p:spPr>
          <a:xfrm>
            <a:off x="2358114" y="7224643"/>
            <a:ext cx="5334000" cy="762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500" dirty="0">
                <a:solidFill>
                  <a:srgbClr val="333333"/>
                </a:solidFill>
                <a:latin typeface="微软雅黑" pitchFamily="34" charset="-122"/>
                <a:ea typeface="微软雅黑" pitchFamily="34" charset="-122"/>
                <a:cs typeface="微软雅黑" pitchFamily="34" charset="-120"/>
              </a:rPr>
              <a:t>「分析 XX 模型的并行策略」</a:t>
            </a:r>
            <a:endParaRPr lang="en-US" sz="1600" dirty="0">
              <a:latin typeface="微软雅黑" pitchFamily="34" charset="-122"/>
              <a:ea typeface="微软雅黑" pitchFamily="34" charset="-122"/>
            </a:endParaRPr>
          </a:p>
          <a:p>
            <a:pPr>
              <a:lnSpc>
                <a:spcPct val="150000"/>
              </a:lnSpc>
            </a:pPr>
            <a:r>
              <a:rPr lang="en-US" sz="1500" dirty="0">
                <a:solidFill>
                  <a:srgbClr val="333333"/>
                </a:solidFill>
                <a:latin typeface="微软雅黑" pitchFamily="34" charset="-122"/>
                <a:ea typeface="微软雅黑" pitchFamily="34" charset="-122"/>
                <a:cs typeface="微软雅黑" pitchFamily="34" charset="-120"/>
              </a:rPr>
              <a:t>→ 单独调用某 skill（kvcache / fusion / quantization 等）</a:t>
            </a:r>
            <a:endParaRPr lang="en-US" sz="1600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26" name="圆角矩形"/>
          <p:cNvSpPr/>
          <p:nvPr/>
        </p:nvSpPr>
        <p:spPr>
          <a:xfrm flipH="1">
            <a:off x="8605629" y="1377050"/>
            <a:ext cx="6858000" cy="7189376"/>
          </a:xfrm>
          <a:prstGeom prst="roundRect">
            <a:avLst>
              <a:gd name="adj" fmla="val 4725"/>
            </a:avLst>
          </a:prstGeom>
          <a:solidFill>
            <a:srgbClr val="FFFFFF"/>
          </a:solidFill>
          <a:ln w="9525" cap="flat" cmpd="sng" algn="ctr">
            <a:noFill/>
            <a:prstDash val="solid"/>
          </a:ln>
          <a:effectLst>
            <a:outerShdw blurRad="63500" sx="101000" sy="101000" algn="ctr" rotWithShape="0">
              <a:prstClr val="black">
                <a:alpha val="20000"/>
              </a:prstClr>
            </a:outerShdw>
          </a:effectLst>
        </p:spPr>
        <p:txBody>
          <a:bodyPr wrap="square" lIns="0" rIns="0" rtlCol="0" anchor="ctr">
            <a:noAutofit/>
          </a:bodyPr>
          <a:lstStyle/>
          <a:p>
            <a:pPr algn="ctr" defTabSz="548005">
              <a:spcAft>
                <a:spcPts val="180"/>
              </a:spcAft>
              <a:defRPr/>
            </a:pPr>
            <a:endParaRPr sz="630" kern="0" dirty="0">
              <a:solidFill>
                <a:srgbClr val="1D1D1A">
                  <a:lumMod val="75000"/>
                  <a:lumOff val="25000"/>
                </a:srgbClr>
              </a:solidFill>
              <a:latin typeface="微软雅黑" pitchFamily="34" charset="-122"/>
              <a:ea typeface="微软雅黑" pitchFamily="34" charset="-122"/>
              <a:cs typeface="Helvetica"/>
              <a:sym typeface="Microsoft YaHei"/>
            </a:endParaRPr>
          </a:p>
        </p:txBody>
      </p:sp>
      <p:sp>
        <p:nvSpPr>
          <p:cNvPr id="27" name="矩形 26"/>
          <p:cNvSpPr/>
          <p:nvPr/>
        </p:nvSpPr>
        <p:spPr>
          <a:xfrm>
            <a:off x="8754371" y="1244033"/>
            <a:ext cx="2825598" cy="338554"/>
          </a:xfrm>
          <a:prstGeom prst="rect">
            <a:avLst/>
          </a:prstGeom>
          <a:solidFill>
            <a:srgbClr val="C00000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>
            <a:spAutoFit/>
          </a:bodyPr>
          <a:lstStyle/>
          <a:p>
            <a:pPr marL="10795"/>
            <a:r>
              <a:rPr lang="zh-CN" altLang="en-US" sz="1600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模型 </a:t>
            </a:r>
            <a:r>
              <a:rPr lang="en-US" altLang="zh-CN" sz="1600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Agent </a:t>
            </a:r>
            <a:r>
              <a:rPr lang="zh-CN" altLang="en-US" sz="1600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优化效果样例</a:t>
            </a:r>
            <a:endParaRPr lang="en-US" altLang="zh-CN" sz="1600" b="1" dirty="0">
              <a:solidFill>
                <a:schemeClr val="bg1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28" name="文本框 27"/>
          <p:cNvSpPr txBox="1"/>
          <p:nvPr/>
        </p:nvSpPr>
        <p:spPr>
          <a:xfrm>
            <a:off x="8796130" y="1631854"/>
            <a:ext cx="5447008" cy="11568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altLang="zh-CN" sz="1600" b="1" dirty="0">
                <a:solidFill>
                  <a:srgbClr val="252B3A"/>
                </a:solidFill>
                <a:latin typeface="微软雅黑" pitchFamily="34" charset="-122"/>
                <a:ea typeface="微软雅黑" pitchFamily="34" charset="-122"/>
              </a:rPr>
              <a:t>Hy3 </a:t>
            </a:r>
            <a:r>
              <a:rPr lang="zh-CN" altLang="en-US" sz="1600" b="1" dirty="0">
                <a:solidFill>
                  <a:srgbClr val="252B3A"/>
                </a:solidFill>
                <a:latin typeface="微软雅黑" pitchFamily="34" charset="-122"/>
                <a:ea typeface="微软雅黑" pitchFamily="34" charset="-122"/>
              </a:rPr>
              <a:t>模型基础部署优化各阶段性能</a:t>
            </a:r>
            <a:r>
              <a:rPr lang="en-US" altLang="zh-CN" sz="1600" b="1" dirty="0">
                <a:solidFill>
                  <a:srgbClr val="252B3A"/>
                </a:solidFill>
                <a:latin typeface="微软雅黑" pitchFamily="34" charset="-122"/>
                <a:ea typeface="微软雅黑" pitchFamily="34" charset="-122"/>
              </a:rPr>
              <a:t>/</a:t>
            </a:r>
            <a:r>
              <a:rPr lang="zh-CN" altLang="en-US" sz="1600" b="1" dirty="0">
                <a:solidFill>
                  <a:srgbClr val="252B3A"/>
                </a:solidFill>
                <a:latin typeface="微软雅黑" pitchFamily="34" charset="-122"/>
                <a:ea typeface="微软雅黑" pitchFamily="34" charset="-122"/>
              </a:rPr>
              <a:t>耗时统计</a:t>
            </a:r>
            <a:endParaRPr lang="en-US" altLang="zh-CN" sz="1600" dirty="0">
              <a:solidFill>
                <a:srgbClr val="252B3A"/>
              </a:solidFill>
              <a:latin typeface="微软雅黑" pitchFamily="34" charset="-122"/>
              <a:ea typeface="微软雅黑" pitchFamily="34" charset="-122"/>
            </a:endParaRPr>
          </a:p>
          <a:p>
            <a:pPr marL="171450" indent="-171450">
              <a:lnSpc>
                <a:spcPct val="150000"/>
              </a:lnSpc>
              <a:buFont typeface="Arial" panose="020B0604020202090204" pitchFamily="34" charset="0"/>
              <a:buChar char="•"/>
            </a:pPr>
            <a:endParaRPr lang="en-US" altLang="zh-CN" sz="1600" dirty="0">
              <a:solidFill>
                <a:srgbClr val="252B3A"/>
              </a:solidFill>
              <a:latin typeface="微软雅黑" pitchFamily="34" charset="-122"/>
              <a:ea typeface="微软雅黑" pitchFamily="34" charset="-122"/>
            </a:endParaRPr>
          </a:p>
          <a:p>
            <a:pPr marL="285750" indent="-285750">
              <a:lnSpc>
                <a:spcPct val="150000"/>
              </a:lnSpc>
              <a:buFont typeface="Arial" panose="020B0604020202090204" pitchFamily="34" charset="0"/>
              <a:buChar char="•"/>
            </a:pPr>
            <a:endParaRPr lang="en-US" altLang="zh-CN" sz="1600" dirty="0">
              <a:solidFill>
                <a:srgbClr val="252B3A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graphicFrame>
        <p:nvGraphicFramePr>
          <p:cNvPr id="29" name="quant-table"/>
          <p:cNvGraphicFramePr>
            <a:graphicFrameLocks noGrp="1"/>
          </p:cNvGraphicFramePr>
          <p:nvPr/>
        </p:nvGraphicFramePr>
        <p:xfrm>
          <a:off x="9070701" y="2413760"/>
          <a:ext cx="6079656" cy="5572882"/>
        </p:xfrm>
        <a:graphic>
          <a:graphicData uri="http://schemas.openxmlformats.org/drawingml/2006/table">
            <a:tbl>
              <a:tblPr/>
              <a:tblGrid>
                <a:gridCol w="2037522"/>
                <a:gridCol w="1500809"/>
                <a:gridCol w="1441174"/>
                <a:gridCol w="1100151"/>
              </a:tblGrid>
              <a:tr h="502091"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30000"/>
                        </a:lnSpc>
                      </a:pPr>
                      <a:r>
                        <a:rPr lang="zh-CN" altLang="en-US" sz="1600" b="1" kern="1200" noProof="1">
                          <a:solidFill>
                            <a:srgbClr val="000000"/>
                          </a:solidFill>
                          <a:latin typeface="+mn-lt"/>
                          <a:ea typeface="+mn-ea"/>
                          <a:cs typeface="+mn-cs"/>
                        </a:rPr>
                        <a:t>优化阶段</a:t>
                      </a:r>
                      <a:endParaRPr lang="en-US" sz="1600" b="1" kern="1200" noProof="1">
                        <a:solidFill>
                          <a:srgbClr val="00000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9050">
                      <a:solidFill>
                        <a:srgbClr val="C2403A"/>
                      </a:solidFill>
                    </a:lnT>
                    <a:lnB w="12700">
                      <a:solidFill>
                        <a:srgbClr val="C2403A"/>
                      </a:solidFill>
                    </a:lnB>
                    <a:solidFill>
                      <a:srgbClr val="F6DBD6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30000"/>
                        </a:lnSpc>
                      </a:pPr>
                      <a:r>
                        <a:rPr lang="zh-CN" altLang="en-US" sz="1600" b="1" kern="1200" noProof="1">
                          <a:solidFill>
                            <a:srgbClr val="000000"/>
                          </a:solidFill>
                          <a:latin typeface="+mn-lt"/>
                          <a:ea typeface="+mn-ea"/>
                          <a:cs typeface="+mn-cs"/>
                        </a:rPr>
                        <a:t>工作耗时</a:t>
                      </a:r>
                      <a:endParaRPr lang="en-US" sz="1600" b="1" kern="1200" noProof="1">
                        <a:solidFill>
                          <a:srgbClr val="00000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9050">
                      <a:solidFill>
                        <a:srgbClr val="C2403A"/>
                      </a:solidFill>
                    </a:lnT>
                    <a:lnB w="12700">
                      <a:solidFill>
                        <a:srgbClr val="C2403A"/>
                      </a:solidFill>
                    </a:lnB>
                    <a:solidFill>
                      <a:srgbClr val="F6DBD6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30000"/>
                        </a:lnSpc>
                      </a:pPr>
                      <a:r>
                        <a:rPr lang="en-US" sz="1600" b="1" kern="1200" noProof="1">
                          <a:solidFill>
                            <a:srgbClr val="000000"/>
                          </a:solidFill>
                          <a:latin typeface="+mn-lt"/>
                          <a:ea typeface="+mn-ea"/>
                          <a:cs typeface="+mn-cs"/>
                        </a:rPr>
                        <a:t>Decode </a:t>
                      </a:r>
                      <a:r>
                        <a:rPr lang="zh-CN" altLang="en-US" sz="1600" b="1" kern="1200" noProof="1">
                          <a:solidFill>
                            <a:srgbClr val="000000"/>
                          </a:solidFill>
                          <a:latin typeface="+mn-lt"/>
                          <a:ea typeface="+mn-ea"/>
                          <a:cs typeface="+mn-cs"/>
                        </a:rPr>
                        <a:t>单步</a:t>
                      </a:r>
                      <a:endParaRPr lang="en-US" sz="1600" b="1" kern="1200" noProof="1">
                        <a:solidFill>
                          <a:srgbClr val="00000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9050">
                      <a:solidFill>
                        <a:srgbClr val="C2403A"/>
                      </a:solidFill>
                    </a:lnT>
                    <a:lnB w="12700" cap="flat" cmpd="sng" algn="ctr">
                      <a:solidFill>
                        <a:srgbClr val="C240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DBD6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30000"/>
                        </a:lnSpc>
                      </a:pPr>
                      <a:r>
                        <a:rPr lang="zh-CN" altLang="en-US" sz="1600" b="1" kern="1200" noProof="1">
                          <a:solidFill>
                            <a:srgbClr val="000000"/>
                          </a:solidFill>
                          <a:latin typeface="+mn-lt"/>
                          <a:ea typeface="+mn-ea"/>
                          <a:cs typeface="+mn-cs"/>
                        </a:rPr>
                        <a:t>相对基线</a:t>
                      </a:r>
                      <a:endParaRPr lang="en-US" sz="1600" b="1" kern="1200" noProof="1">
                        <a:solidFill>
                          <a:srgbClr val="00000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9050">
                      <a:solidFill>
                        <a:srgbClr val="C2403A"/>
                      </a:solidFill>
                    </a:lnT>
                    <a:lnB w="12700">
                      <a:solidFill>
                        <a:srgbClr val="C2403A"/>
                      </a:solidFill>
                    </a:lnB>
                    <a:solidFill>
                      <a:srgbClr val="F6DBD6"/>
                    </a:solidFill>
                  </a:tcPr>
                </a:tc>
              </a:tr>
              <a:tr h="896595">
                <a:tc>
                  <a:txBody>
                    <a:bodyPr/>
                    <a:lstStyle/>
                    <a:p>
                      <a:pPr algn="ctr">
                        <a:lnSpc>
                          <a:spcPct val="130000"/>
                        </a:lnSpc>
                      </a:pPr>
                      <a:r>
                        <a:rPr lang="zh-CN" altLang="en-US" sz="1600" b="1" kern="1200" noProof="1">
                          <a:solidFill>
                            <a:srgbClr val="000000"/>
                          </a:solidFill>
                          <a:latin typeface="+mn-lt"/>
                          <a:ea typeface="+mn-ea"/>
                          <a:cs typeface="+mn-cs"/>
                        </a:rPr>
                        <a:t>模型分析</a:t>
                      </a:r>
                      <a:r>
                        <a:rPr lang="en-US" altLang="zh-CN" sz="1600" b="1" kern="1200" noProof="1">
                          <a:solidFill>
                            <a:srgbClr val="000000"/>
                          </a:solidFill>
                          <a:latin typeface="+mn-lt"/>
                          <a:ea typeface="+mn-ea"/>
                          <a:cs typeface="+mn-cs"/>
                        </a:rPr>
                        <a:t>+</a:t>
                      </a:r>
                      <a:r>
                        <a:rPr lang="zh-CN" altLang="en-US" sz="1600" b="1" kern="1200" noProof="1">
                          <a:solidFill>
                            <a:srgbClr val="000000"/>
                          </a:solidFill>
                          <a:latin typeface="+mn-lt"/>
                          <a:ea typeface="+mn-ea"/>
                          <a:cs typeface="+mn-cs"/>
                        </a:rPr>
                        <a:t>部署骨架</a:t>
                      </a:r>
                      <a:endParaRPr lang="en-US" sz="1600" b="1" kern="1200" noProof="1">
                        <a:solidFill>
                          <a:srgbClr val="00000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C240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E3E0D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30000"/>
                        </a:lnSpc>
                      </a:pPr>
                      <a:r>
                        <a:rPr lang="en-US" sz="1600" b="0" kern="1200" noProof="1">
                          <a:solidFill>
                            <a:srgbClr val="000000"/>
                          </a:solidFill>
                          <a:latin typeface="+mn-lt"/>
                          <a:ea typeface="+mn-ea"/>
                          <a:cs typeface="+mn-cs"/>
                        </a:rPr>
                        <a:t>~0.7 </a:t>
                      </a:r>
                      <a:r>
                        <a:rPr lang="en-US" altLang="zh-CN" sz="1600" b="0" kern="1200" noProof="1">
                          <a:solidFill>
                            <a:srgbClr val="000000"/>
                          </a:solidFill>
                          <a:latin typeface="+mn-lt"/>
                          <a:ea typeface="+mn-ea"/>
                          <a:cs typeface="+mn-cs"/>
                        </a:rPr>
                        <a:t>hr</a:t>
                      </a:r>
                      <a:endParaRPr lang="en-US" sz="1600" b="0" kern="1200" noProof="1">
                        <a:solidFill>
                          <a:srgbClr val="00000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C240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E3E0D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30000"/>
                        </a:lnSpc>
                      </a:pPr>
                      <a:r>
                        <a:rPr lang="en-US" sz="1600" b="0" kern="1200" noProof="1">
                          <a:solidFill>
                            <a:srgbClr val="000000"/>
                          </a:solidFill>
                          <a:latin typeface="+mn-lt"/>
                          <a:ea typeface="+mn-ea"/>
                          <a:cs typeface="+mn-cs"/>
                        </a:rPr>
                        <a:t>-</a:t>
                      </a:r>
                      <a:endParaRPr lang="en-US" sz="1600" b="0" kern="1200" noProof="1">
                        <a:solidFill>
                          <a:srgbClr val="00000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C240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0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30000"/>
                        </a:lnSpc>
                      </a:pPr>
                      <a:r>
                        <a:rPr lang="en-US" sz="1600" b="0" kern="1200" noProof="1">
                          <a:solidFill>
                            <a:srgbClr val="000000"/>
                          </a:solidFill>
                          <a:latin typeface="+mn-lt"/>
                          <a:ea typeface="+mn-ea"/>
                          <a:cs typeface="+mn-cs"/>
                        </a:rPr>
                        <a:t>-</a:t>
                      </a:r>
                      <a:endParaRPr lang="en-US" sz="1600" b="0" kern="1200" noProof="1">
                        <a:solidFill>
                          <a:srgbClr val="00000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C240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E3E0D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64781">
                <a:tc>
                  <a:txBody>
                    <a:bodyPr/>
                    <a:lstStyle/>
                    <a:p>
                      <a:pPr algn="ctr">
                        <a:lnSpc>
                          <a:spcPct val="130000"/>
                        </a:lnSpc>
                      </a:pPr>
                      <a:r>
                        <a:rPr lang="en-US" altLang="zh-CN" sz="1600" b="1" kern="1200" noProof="1">
                          <a:solidFill>
                            <a:srgbClr val="000000"/>
                          </a:solidFill>
                          <a:latin typeface="+mn-lt"/>
                          <a:ea typeface="+mn-ea"/>
                          <a:cs typeface="+mn-cs"/>
                        </a:rPr>
                        <a:t>AMCT</a:t>
                      </a:r>
                      <a:r>
                        <a:rPr lang="zh-CN" altLang="en-US" sz="1600" b="1" kern="1200" noProof="1">
                          <a:solidFill>
                            <a:srgbClr val="000000"/>
                          </a:solidFill>
                          <a:latin typeface="+mn-lt"/>
                          <a:ea typeface="+mn-ea"/>
                          <a:cs typeface="+mn-cs"/>
                        </a:rPr>
                        <a:t>量化方案</a:t>
                      </a:r>
                      <a:endParaRPr lang="en-US" sz="1600" b="1" kern="1200" noProof="1">
                        <a:solidFill>
                          <a:srgbClr val="00000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E3E0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0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5F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600" b="0" kern="1200" noProof="1">
                          <a:solidFill>
                            <a:srgbClr val="000000"/>
                          </a:solidFill>
                          <a:latin typeface="+mn-lt"/>
                          <a:ea typeface="+mn-ea"/>
                          <a:cs typeface="+mn-cs"/>
                        </a:rPr>
                        <a:t>~0.5 hr</a:t>
                      </a:r>
                      <a:endParaRPr lang="en-US" altLang="zh-CN" sz="1600" b="0" kern="1200" noProof="1">
                        <a:solidFill>
                          <a:srgbClr val="00000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E3E0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0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5F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600" b="0" kern="1200" noProof="1">
                          <a:solidFill>
                            <a:srgbClr val="000000"/>
                          </a:solidFill>
                          <a:latin typeface="+mn-lt"/>
                          <a:ea typeface="+mn-ea"/>
                          <a:cs typeface="+mn-cs"/>
                        </a:rPr>
                        <a:t>-</a:t>
                      </a:r>
                      <a:endParaRPr lang="en-US" altLang="zh-CN" sz="1600" b="0" kern="1200" noProof="1">
                        <a:solidFill>
                          <a:srgbClr val="00000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E3E0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0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5F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600" b="0" kern="1200" noProof="1">
                          <a:solidFill>
                            <a:srgbClr val="000000"/>
                          </a:solidFill>
                          <a:latin typeface="+mn-lt"/>
                          <a:ea typeface="+mn-ea"/>
                          <a:cs typeface="+mn-cs"/>
                        </a:rPr>
                        <a:t>-</a:t>
                      </a:r>
                      <a:endParaRPr lang="en-US" altLang="zh-CN" sz="1600" b="0" kern="1200" noProof="1">
                        <a:solidFill>
                          <a:srgbClr val="00000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E3E0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0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4F4"/>
                    </a:solidFill>
                  </a:tcPr>
                </a:tc>
              </a:tr>
              <a:tr h="896595">
                <a:tc>
                  <a:txBody>
                    <a:bodyPr/>
                    <a:lstStyle/>
                    <a:p>
                      <a:pPr algn="ctr">
                        <a:lnSpc>
                          <a:spcPct val="130000"/>
                        </a:lnSpc>
                      </a:pPr>
                      <a:r>
                        <a:rPr lang="zh-CN" altLang="en-US" sz="1600" b="1" kern="1200" noProof="1">
                          <a:solidFill>
                            <a:srgbClr val="000000"/>
                          </a:solidFill>
                          <a:latin typeface="+mn-lt"/>
                          <a:ea typeface="+mn-ea"/>
                          <a:cs typeface="+mn-cs"/>
                        </a:rPr>
                        <a:t>并行切分方案与实施</a:t>
                      </a:r>
                      <a:endParaRPr lang="en-US" sz="1600" b="1" kern="1200" noProof="1">
                        <a:solidFill>
                          <a:srgbClr val="00000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E3E0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E3E0DF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30000"/>
                        </a:lnSpc>
                      </a:pPr>
                      <a:r>
                        <a:rPr lang="en-US" sz="1600" b="0" kern="1200" noProof="1">
                          <a:solidFill>
                            <a:srgbClr val="000000"/>
                          </a:solidFill>
                          <a:latin typeface="+mn-lt"/>
                          <a:ea typeface="+mn-ea"/>
                          <a:cs typeface="+mn-cs"/>
                        </a:rPr>
                        <a:t>~2.2 hr</a:t>
                      </a:r>
                      <a:endParaRPr lang="en-US" sz="1600" b="0" kern="1200" noProof="1">
                        <a:solidFill>
                          <a:srgbClr val="00000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E3E0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E3E0DF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30000"/>
                        </a:lnSpc>
                      </a:pPr>
                      <a:r>
                        <a:rPr lang="en-US" sz="1600" b="0" kern="1200" noProof="1">
                          <a:solidFill>
                            <a:srgbClr val="000000"/>
                          </a:solidFill>
                          <a:latin typeface="+mn-lt"/>
                          <a:ea typeface="+mn-ea"/>
                          <a:cs typeface="+mn-cs"/>
                        </a:rPr>
                        <a:t>103.18 ms</a:t>
                      </a:r>
                      <a:endParaRPr lang="en-US" sz="1600" b="0" kern="1200" noProof="1">
                        <a:solidFill>
                          <a:srgbClr val="00000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E3E0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0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30000"/>
                        </a:lnSpc>
                      </a:pPr>
                      <a:r>
                        <a:rPr lang="en-US" altLang="zh-CN" sz="1600" b="0" kern="1200" dirty="0">
                          <a:solidFill>
                            <a:srgbClr val="000000"/>
                          </a:solidFill>
                          <a:latin typeface="+mn-lt"/>
                          <a:ea typeface="+mn-ea"/>
                          <a:cs typeface="+mn-cs"/>
                        </a:rPr>
                        <a:t>1.0x</a:t>
                      </a:r>
                      <a:endParaRPr lang="en-US" sz="1600" b="0" kern="1200" noProof="1">
                        <a:solidFill>
                          <a:srgbClr val="00000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E3E0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E3E0DF"/>
                      </a:solidFill>
                    </a:lnB>
                    <a:solidFill>
                      <a:schemeClr val="bg1"/>
                    </a:solidFill>
                  </a:tcPr>
                </a:tc>
              </a:tr>
              <a:tr h="604032">
                <a:tc>
                  <a:txBody>
                    <a:bodyPr/>
                    <a:lstStyle/>
                    <a:p>
                      <a:pPr algn="ctr">
                        <a:lnSpc>
                          <a:spcPct val="130000"/>
                        </a:lnSpc>
                      </a:pPr>
                      <a:r>
                        <a:rPr lang="en-US" sz="1600" b="1" kern="1200" noProof="1">
                          <a:solidFill>
                            <a:srgbClr val="000000"/>
                          </a:solidFill>
                          <a:latin typeface="+mn-lt"/>
                          <a:ea typeface="+mn-ea"/>
                          <a:cs typeface="+mn-cs"/>
                        </a:rPr>
                        <a:t>KVCache </a:t>
                      </a:r>
                      <a:r>
                        <a:rPr lang="zh-CN" altLang="en-US" sz="1600" b="1" kern="1200" noProof="1">
                          <a:solidFill>
                            <a:srgbClr val="000000"/>
                          </a:solidFill>
                          <a:latin typeface="+mn-lt"/>
                          <a:ea typeface="+mn-ea"/>
                          <a:cs typeface="+mn-cs"/>
                        </a:rPr>
                        <a:t>与 </a:t>
                      </a:r>
                      <a:r>
                        <a:rPr lang="en-US" sz="1600" b="1" kern="1200" noProof="1">
                          <a:solidFill>
                            <a:srgbClr val="000000"/>
                          </a:solidFill>
                          <a:latin typeface="+mn-lt"/>
                          <a:ea typeface="+mn-ea"/>
                          <a:cs typeface="+mn-cs"/>
                        </a:rPr>
                        <a:t>FA </a:t>
                      </a:r>
                      <a:r>
                        <a:rPr lang="zh-CN" altLang="en-US" sz="1600" b="1" kern="1200" noProof="1">
                          <a:solidFill>
                            <a:srgbClr val="000000"/>
                          </a:solidFill>
                          <a:latin typeface="+mn-lt"/>
                          <a:ea typeface="+mn-ea"/>
                          <a:cs typeface="+mn-cs"/>
                        </a:rPr>
                        <a:t>改造</a:t>
                      </a:r>
                      <a:endParaRPr lang="zh-CN" altLang="en-US" sz="1600" b="1" kern="1200" noProof="1">
                        <a:solidFill>
                          <a:srgbClr val="00000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E3E0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0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30000"/>
                        </a:lnSpc>
                      </a:pPr>
                      <a:r>
                        <a:rPr lang="en-US" sz="1600" b="0" kern="1200" noProof="1">
                          <a:solidFill>
                            <a:srgbClr val="000000"/>
                          </a:solidFill>
                          <a:latin typeface="+mn-lt"/>
                          <a:ea typeface="+mn-ea"/>
                          <a:cs typeface="+mn-cs"/>
                        </a:rPr>
                        <a:t>~2.7 hr</a:t>
                      </a:r>
                      <a:endParaRPr lang="en-US" sz="1600" b="0" kern="1200" noProof="1">
                        <a:solidFill>
                          <a:srgbClr val="00000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E3E0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0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30000"/>
                        </a:lnSpc>
                      </a:pPr>
                      <a:r>
                        <a:rPr lang="en-US" sz="1600" b="0" kern="1200" noProof="1">
                          <a:solidFill>
                            <a:srgbClr val="000000"/>
                          </a:solidFill>
                          <a:latin typeface="+mn-lt"/>
                          <a:ea typeface="+mn-ea"/>
                          <a:cs typeface="+mn-cs"/>
                        </a:rPr>
                        <a:t>96.40 ms</a:t>
                      </a:r>
                      <a:endParaRPr lang="en-US" sz="1600" b="0" kern="1200" noProof="1">
                        <a:solidFill>
                          <a:srgbClr val="00000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E3E0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0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30000"/>
                        </a:lnSpc>
                      </a:pPr>
                      <a:r>
                        <a:rPr lang="en-US" altLang="zh-CN" sz="1600" b="0" kern="1200" dirty="0">
                          <a:solidFill>
                            <a:srgbClr val="000000"/>
                          </a:solidFill>
                          <a:latin typeface="+mn-lt"/>
                          <a:ea typeface="+mn-ea"/>
                          <a:cs typeface="+mn-cs"/>
                        </a:rPr>
                        <a:t>1.07x</a:t>
                      </a:r>
                      <a:endParaRPr lang="en-US" sz="1600" b="0" kern="1200" noProof="1">
                        <a:solidFill>
                          <a:srgbClr val="00000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E3E0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0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4F4"/>
                    </a:solidFill>
                  </a:tcPr>
                </a:tc>
              </a:tr>
              <a:tr h="527197">
                <a:tc>
                  <a:txBody>
                    <a:bodyPr/>
                    <a:lstStyle/>
                    <a:p>
                      <a:pPr algn="ctr">
                        <a:lnSpc>
                          <a:spcPct val="130000"/>
                        </a:lnSpc>
                      </a:pPr>
                      <a:r>
                        <a:rPr lang="zh-CN" altLang="en-US" sz="1600" b="1" kern="1200" noProof="1">
                          <a:solidFill>
                            <a:srgbClr val="000000"/>
                          </a:solidFill>
                          <a:latin typeface="+mn-lt"/>
                          <a:ea typeface="+mn-ea"/>
                          <a:cs typeface="+mn-cs"/>
                        </a:rPr>
                        <a:t>融合算子适配</a:t>
                      </a:r>
                      <a:endParaRPr lang="en-US" sz="1600" b="1" kern="1200" noProof="1">
                        <a:solidFill>
                          <a:srgbClr val="00000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E3E0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0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30000"/>
                        </a:lnSpc>
                      </a:pPr>
                      <a:r>
                        <a:rPr lang="en-US" sz="1600" b="0" kern="1200" noProof="1">
                          <a:solidFill>
                            <a:srgbClr val="000000"/>
                          </a:solidFill>
                          <a:latin typeface="+mn-lt"/>
                          <a:ea typeface="+mn-ea"/>
                          <a:cs typeface="+mn-cs"/>
                        </a:rPr>
                        <a:t>~2.5 hr</a:t>
                      </a:r>
                      <a:endParaRPr lang="en-US" sz="1600" b="0" kern="1200" noProof="1">
                        <a:solidFill>
                          <a:srgbClr val="00000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E3E0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0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600" b="0" kern="1200" noProof="1">
                          <a:solidFill>
                            <a:srgbClr val="000000"/>
                          </a:solidFill>
                          <a:latin typeface="+mn-lt"/>
                          <a:ea typeface="+mn-ea"/>
                          <a:cs typeface="+mn-cs"/>
                        </a:rPr>
                        <a:t>44.94 ms</a:t>
                      </a:r>
                      <a:endParaRPr lang="en-US" altLang="zh-CN" sz="1600" b="0" kern="1200" noProof="1">
                        <a:solidFill>
                          <a:srgbClr val="00000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E3E0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0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30000"/>
                        </a:lnSpc>
                      </a:pPr>
                      <a:r>
                        <a:rPr lang="en-US" altLang="zh-CN" sz="1600" b="0" kern="1200" dirty="0">
                          <a:solidFill>
                            <a:srgbClr val="000000"/>
                          </a:solidFill>
                          <a:latin typeface="+mn-lt"/>
                          <a:ea typeface="+mn-ea"/>
                          <a:cs typeface="+mn-cs"/>
                        </a:rPr>
                        <a:t>2.30x</a:t>
                      </a:r>
                      <a:endParaRPr lang="en-US" sz="1600" b="0" kern="1200" noProof="1">
                        <a:solidFill>
                          <a:srgbClr val="00000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E3E0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0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27197">
                <a:tc>
                  <a:txBody>
                    <a:bodyPr/>
                    <a:lstStyle/>
                    <a:p>
                      <a:pPr algn="ctr">
                        <a:lnSpc>
                          <a:spcPct val="130000"/>
                        </a:lnSpc>
                      </a:pPr>
                      <a:r>
                        <a:rPr lang="en-US" sz="1600" b="1" kern="1200" noProof="1">
                          <a:solidFill>
                            <a:srgbClr val="000000"/>
                          </a:solidFill>
                          <a:latin typeface="+mn-lt"/>
                          <a:ea typeface="+mn-ea"/>
                          <a:cs typeface="+mn-cs"/>
                        </a:rPr>
                        <a:t>MXFP </a:t>
                      </a:r>
                      <a:r>
                        <a:rPr lang="zh-CN" altLang="en-US" sz="1600" b="1" kern="1200" noProof="1">
                          <a:solidFill>
                            <a:srgbClr val="000000"/>
                          </a:solidFill>
                          <a:latin typeface="+mn-lt"/>
                          <a:ea typeface="+mn-ea"/>
                          <a:cs typeface="+mn-cs"/>
                        </a:rPr>
                        <a:t>量化接入</a:t>
                      </a:r>
                      <a:endParaRPr lang="en-US" sz="1600" b="1" kern="1200" noProof="1">
                        <a:solidFill>
                          <a:srgbClr val="00000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E3E0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0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30000"/>
                        </a:lnSpc>
                      </a:pPr>
                      <a:r>
                        <a:rPr lang="en-US" sz="1600" b="0" kern="1200" noProof="1">
                          <a:solidFill>
                            <a:srgbClr val="000000"/>
                          </a:solidFill>
                          <a:latin typeface="+mn-lt"/>
                          <a:ea typeface="+mn-ea"/>
                          <a:cs typeface="+mn-cs"/>
                        </a:rPr>
                        <a:t>~1.2 hr</a:t>
                      </a:r>
                      <a:endParaRPr lang="en-US" sz="1600" b="0" kern="1200" noProof="1">
                        <a:solidFill>
                          <a:srgbClr val="00000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E3E0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0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4F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600" b="0" kern="1200" noProof="1">
                          <a:solidFill>
                            <a:srgbClr val="000000"/>
                          </a:solidFill>
                          <a:latin typeface="+mn-lt"/>
                          <a:ea typeface="+mn-ea"/>
                          <a:cs typeface="+mn-cs"/>
                        </a:rPr>
                        <a:t>42.59 ms</a:t>
                      </a:r>
                      <a:endParaRPr lang="en-US" altLang="zh-CN" sz="1600" b="0" kern="1200" noProof="1">
                        <a:solidFill>
                          <a:srgbClr val="00000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E3E0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0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30000"/>
                        </a:lnSpc>
                      </a:pPr>
                      <a:r>
                        <a:rPr lang="en-US" altLang="zh-CN" sz="1600" b="0" kern="1200" dirty="0">
                          <a:solidFill>
                            <a:srgbClr val="000000"/>
                          </a:solidFill>
                          <a:latin typeface="+mn-lt"/>
                          <a:ea typeface="+mn-ea"/>
                          <a:cs typeface="+mn-cs"/>
                        </a:rPr>
                        <a:t>2.42x</a:t>
                      </a:r>
                      <a:endParaRPr lang="en-US" sz="1600" b="0" kern="1200" noProof="1">
                        <a:solidFill>
                          <a:srgbClr val="00000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E3E0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0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4F4"/>
                    </a:solidFill>
                  </a:tcPr>
                </a:tc>
              </a:tr>
              <a:tr h="52719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600" b="1" kern="1200" noProof="1">
                          <a:solidFill>
                            <a:srgbClr val="000000"/>
                          </a:solidFill>
                          <a:latin typeface="+mn-lt"/>
                          <a:ea typeface="+mn-ea"/>
                          <a:cs typeface="+mn-cs"/>
                        </a:rPr>
                        <a:t>图模式适配</a:t>
                      </a:r>
                      <a:endParaRPr lang="en-US" altLang="zh-CN" sz="1600" b="1" kern="1200" noProof="1">
                        <a:solidFill>
                          <a:srgbClr val="00000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E3E0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0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30000"/>
                        </a:lnSpc>
                      </a:pPr>
                      <a:r>
                        <a:rPr lang="en-US" sz="1600" b="0" kern="1200" noProof="1">
                          <a:solidFill>
                            <a:srgbClr val="000000"/>
                          </a:solidFill>
                          <a:latin typeface="+mn-lt"/>
                          <a:ea typeface="+mn-ea"/>
                          <a:cs typeface="+mn-cs"/>
                        </a:rPr>
                        <a:t>~1.0 hr</a:t>
                      </a:r>
                      <a:endParaRPr lang="en-US" sz="1600" b="0" kern="1200" noProof="1">
                        <a:solidFill>
                          <a:srgbClr val="00000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E3E0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0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30000"/>
                        </a:lnSpc>
                      </a:pPr>
                      <a:r>
                        <a:rPr lang="en-US" sz="1600" b="0" kern="1200" noProof="1">
                          <a:solidFill>
                            <a:srgbClr val="000000"/>
                          </a:solidFill>
                          <a:latin typeface="+mn-lt"/>
                          <a:ea typeface="+mn-ea"/>
                          <a:cs typeface="+mn-cs"/>
                        </a:rPr>
                        <a:t>17.98 ms</a:t>
                      </a:r>
                      <a:endParaRPr lang="en-US" sz="1600" b="0" kern="1200" noProof="1">
                        <a:solidFill>
                          <a:srgbClr val="00000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E3E0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0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30000"/>
                        </a:lnSpc>
                      </a:pPr>
                      <a:r>
                        <a:rPr lang="en-US" altLang="zh-CN" sz="1600" b="0" kern="1200" dirty="0">
                          <a:solidFill>
                            <a:srgbClr val="000000"/>
                          </a:solidFill>
                          <a:latin typeface="+mn-lt"/>
                          <a:ea typeface="+mn-ea"/>
                          <a:cs typeface="+mn-cs"/>
                        </a:rPr>
                        <a:t>5.74x</a:t>
                      </a:r>
                      <a:endParaRPr lang="en-US" sz="1600" b="0" kern="1200" noProof="1">
                        <a:solidFill>
                          <a:srgbClr val="00000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E3E0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0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27197">
                <a:tc>
                  <a:txBody>
                    <a:bodyPr/>
                    <a:lstStyle/>
                    <a:p>
                      <a:pPr algn="ctr">
                        <a:lnSpc>
                          <a:spcPct val="130000"/>
                        </a:lnSpc>
                      </a:pPr>
                      <a:r>
                        <a:rPr lang="zh-CN" altLang="en-US" sz="1600" b="1" kern="1200" noProof="1">
                          <a:solidFill>
                            <a:srgbClr val="000000"/>
                          </a:solidFill>
                          <a:latin typeface="+mn-lt"/>
                          <a:ea typeface="+mn-ea"/>
                          <a:cs typeface="+mn-cs"/>
                        </a:rPr>
                        <a:t>合计</a:t>
                      </a:r>
                      <a:endParaRPr lang="en-US" sz="1600" b="1" kern="1200" noProof="1">
                        <a:solidFill>
                          <a:srgbClr val="00000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E3E0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E3E0DF"/>
                      </a:solidFill>
                    </a:lnB>
                    <a:solidFill>
                      <a:srgbClr val="F9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30000"/>
                        </a:lnSpc>
                      </a:pPr>
                      <a:r>
                        <a:rPr lang="en-US" sz="1600" b="1" kern="1200" noProof="1">
                          <a:solidFill>
                            <a:srgbClr val="000000"/>
                          </a:solidFill>
                          <a:latin typeface="+mn-lt"/>
                          <a:ea typeface="+mn-ea"/>
                          <a:cs typeface="+mn-cs"/>
                        </a:rPr>
                        <a:t>~10.8 </a:t>
                      </a:r>
                      <a:r>
                        <a:rPr lang="en-US" altLang="zh-CN" sz="1600" b="1" kern="1200" noProof="1">
                          <a:solidFill>
                            <a:srgbClr val="000000"/>
                          </a:solidFill>
                          <a:latin typeface="+mn-lt"/>
                          <a:ea typeface="+mn-ea"/>
                          <a:cs typeface="+mn-cs"/>
                        </a:rPr>
                        <a:t>hr</a:t>
                      </a:r>
                      <a:endParaRPr lang="en-US" sz="1600" b="1" kern="1200" noProof="1">
                        <a:solidFill>
                          <a:srgbClr val="00000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E3E0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E3E0DF"/>
                      </a:solidFill>
                    </a:lnB>
                    <a:solidFill>
                      <a:srgbClr val="F9F4F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600" b="1" kern="1200" noProof="1">
                          <a:solidFill>
                            <a:srgbClr val="000000"/>
                          </a:solidFill>
                          <a:latin typeface="+mn-lt"/>
                          <a:ea typeface="+mn-ea"/>
                          <a:cs typeface="+mn-cs"/>
                        </a:rPr>
                        <a:t>17.98 ms</a:t>
                      </a:r>
                      <a:endParaRPr lang="en-US" altLang="zh-CN" sz="1600" b="1" kern="1200" noProof="1">
                        <a:solidFill>
                          <a:srgbClr val="00000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E3E0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E3E0DF"/>
                      </a:solidFill>
                    </a:lnB>
                    <a:solidFill>
                      <a:srgbClr val="F9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30000"/>
                        </a:lnSpc>
                      </a:pPr>
                      <a:r>
                        <a:rPr lang="en-US" sz="1600" b="1" kern="1200" noProof="1">
                          <a:solidFill>
                            <a:srgbClr val="000000"/>
                          </a:solidFill>
                          <a:latin typeface="+mn-lt"/>
                          <a:ea typeface="+mn-ea"/>
                          <a:cs typeface="+mn-cs"/>
                        </a:rPr>
                        <a:t>5.74</a:t>
                      </a:r>
                      <a:r>
                        <a:rPr lang="en-US" altLang="zh-CN" sz="1600" b="1" kern="1200" noProof="1">
                          <a:solidFill>
                            <a:srgbClr val="000000"/>
                          </a:solidFill>
                          <a:latin typeface="+mn-lt"/>
                          <a:ea typeface="+mn-ea"/>
                          <a:cs typeface="+mn-cs"/>
                        </a:rPr>
                        <a:t>x</a:t>
                      </a:r>
                      <a:endParaRPr lang="en-US" sz="1600" b="1" kern="1200" noProof="1">
                        <a:solidFill>
                          <a:srgbClr val="00000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E3E0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E3E0DF"/>
                      </a:solidFill>
                    </a:lnB>
                    <a:solidFill>
                      <a:srgbClr val="F9F4F4"/>
                    </a:solidFill>
                  </a:tcPr>
                </a:tc>
              </a:tr>
            </a:tbl>
          </a:graphicData>
        </a:graphic>
      </p:graphicFrame>
      <p:sp>
        <p:nvSpPr>
          <p:cNvPr id="30" name="文本框 29"/>
          <p:cNvSpPr txBox="1"/>
          <p:nvPr/>
        </p:nvSpPr>
        <p:spPr>
          <a:xfrm>
            <a:off x="10461894" y="2065925"/>
            <a:ext cx="3866612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600" dirty="0">
                <a:solidFill>
                  <a:srgbClr val="C00000"/>
                </a:solidFill>
                <a:latin typeface="微软雅黑" pitchFamily="34" charset="-122"/>
                <a:ea typeface="微软雅黑" pitchFamily="34" charset="-122"/>
              </a:rPr>
              <a:t>部署场景：昇腾 </a:t>
            </a:r>
            <a:r>
              <a:rPr lang="en-US" altLang="zh-CN" sz="1600" dirty="0">
                <a:solidFill>
                  <a:srgbClr val="C00000"/>
                </a:solidFill>
                <a:latin typeface="微软雅黑" pitchFamily="34" charset="-122"/>
                <a:ea typeface="微软雅黑" pitchFamily="34" charset="-122"/>
              </a:rPr>
              <a:t>950 PR/DT  4 die</a:t>
            </a:r>
            <a:endParaRPr lang="zh-CN" altLang="en-US" sz="1600" dirty="0">
              <a:solidFill>
                <a:srgbClr val="C00000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34" name="文本框 33"/>
          <p:cNvSpPr txBox="1"/>
          <p:nvPr/>
        </p:nvSpPr>
        <p:spPr>
          <a:xfrm>
            <a:off x="10123828" y="8098038"/>
            <a:ext cx="4542743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600" b="1" dirty="0">
                <a:solidFill>
                  <a:srgbClr val="C00000"/>
                </a:solidFill>
                <a:latin typeface="微软雅黑" pitchFamily="34" charset="-122"/>
                <a:ea typeface="微软雅黑" pitchFamily="34" charset="-122"/>
              </a:rPr>
              <a:t>80%  </a:t>
            </a:r>
            <a:r>
              <a:rPr lang="zh-CN" altLang="en-US" sz="1600" b="1" dirty="0">
                <a:solidFill>
                  <a:srgbClr val="C00000"/>
                </a:solidFill>
                <a:latin typeface="微软雅黑" pitchFamily="34" charset="-122"/>
                <a:ea typeface="微软雅黑" pitchFamily="34" charset="-122"/>
              </a:rPr>
              <a:t>方案设计</a:t>
            </a:r>
            <a:r>
              <a:rPr lang="en-US" altLang="zh-CN" sz="1600" b="1" dirty="0">
                <a:solidFill>
                  <a:srgbClr val="C00000"/>
                </a:solidFill>
                <a:latin typeface="微软雅黑" pitchFamily="34" charset="-122"/>
                <a:ea typeface="微软雅黑" pitchFamily="34" charset="-122"/>
              </a:rPr>
              <a:t>+</a:t>
            </a:r>
            <a:r>
              <a:rPr lang="zh-CN" altLang="en-US" sz="1600" b="1" dirty="0">
                <a:solidFill>
                  <a:srgbClr val="C00000"/>
                </a:solidFill>
                <a:latin typeface="微软雅黑" pitchFamily="34" charset="-122"/>
                <a:ea typeface="微软雅黑" pitchFamily="34" charset="-122"/>
              </a:rPr>
              <a:t>代码开发可由 </a:t>
            </a:r>
            <a:r>
              <a:rPr lang="en-US" altLang="zh-CN" sz="1600" b="1" dirty="0">
                <a:solidFill>
                  <a:srgbClr val="C00000"/>
                </a:solidFill>
                <a:latin typeface="微软雅黑" pitchFamily="34" charset="-122"/>
                <a:ea typeface="微软雅黑" pitchFamily="34" charset="-122"/>
              </a:rPr>
              <a:t>Agent </a:t>
            </a:r>
            <a:r>
              <a:rPr lang="zh-CN" altLang="en-US" sz="1600" b="1" dirty="0">
                <a:solidFill>
                  <a:srgbClr val="C00000"/>
                </a:solidFill>
                <a:latin typeface="微软雅黑" pitchFamily="34" charset="-122"/>
                <a:ea typeface="微软雅黑" pitchFamily="34" charset="-122"/>
              </a:rPr>
              <a:t>完成</a:t>
            </a:r>
            <a:endParaRPr lang="zh-CN" altLang="en-US" sz="1600" b="1" dirty="0">
              <a:solidFill>
                <a:srgbClr val="C00000"/>
              </a:solidFill>
              <a:latin typeface="微软雅黑" pitchFamily="34" charset="-122"/>
              <a:ea typeface="微软雅黑" pitchFamily="34" charset="-122"/>
            </a:endParaRPr>
          </a:p>
        </p:txBody>
      </p:sp>
    </p:spTree>
  </p:cSld>
  <p:clrMapOvr>
    <a:masterClrMapping/>
  </p:clrMapOvr>
  <p:transition>
    <p:fade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ext 28"/>
          <p:cNvSpPr/>
          <p:nvPr/>
        </p:nvSpPr>
        <p:spPr>
          <a:xfrm>
            <a:off x="825500" y="8178800"/>
            <a:ext cx="2540000" cy="3302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300" dirty="0">
                <a:solidFill>
                  <a:srgbClr val="7F7F7F"/>
                </a:solidFill>
                <a:latin typeface="微软雅黑" pitchFamily="34" charset="-122"/>
                <a:ea typeface="微软雅黑" pitchFamily="34" charset="-122"/>
                <a:cs typeface="MiSans" pitchFamily="34" charset="-120"/>
              </a:rPr>
              <a:t>https://gitcode.com/cann</a:t>
            </a:r>
            <a:endParaRPr lang="en-US" sz="1300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32" name="Text 29"/>
          <p:cNvSpPr/>
          <p:nvPr/>
        </p:nvSpPr>
        <p:spPr>
          <a:xfrm>
            <a:off x="7620000" y="8178800"/>
            <a:ext cx="1016000" cy="3302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fld id="{3741D353-88F4-4B8F-B568-001FA3F202EB}" type="slidenum">
              <a:rPr lang="en-US" sz="1300" dirty="0">
                <a:solidFill>
                  <a:srgbClr val="7F7F7F"/>
                </a:solidFill>
                <a:latin typeface="微软雅黑" pitchFamily="34" charset="-122"/>
                <a:ea typeface="微软雅黑" pitchFamily="34" charset="-122"/>
                <a:cs typeface="MiSans" pitchFamily="34" charset="-120"/>
              </a:rPr>
            </a:fld>
            <a:endParaRPr lang="en-US" sz="1300" dirty="0">
              <a:latin typeface="微软雅黑" pitchFamily="34" charset="-122"/>
              <a:ea typeface="微软雅黑" pitchFamily="34" charset="-122"/>
            </a:endParaRPr>
          </a:p>
        </p:txBody>
      </p:sp>
      <p:pic>
        <p:nvPicPr>
          <p:cNvPr id="33" name="Image 0" descr="https://kimi-img.moonshot.cn/pub/slides/okc/4rfbomebqqupm/mnt/agents/output/template_pptd/images/image_2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512800" y="8051800"/>
            <a:ext cx="1752600" cy="469900"/>
          </a:xfrm>
          <a:prstGeom prst="rect">
            <a:avLst/>
          </a:prstGeom>
        </p:spPr>
      </p:pic>
      <p:sp>
        <p:nvSpPr>
          <p:cNvPr id="2" name="Text 0"/>
          <p:cNvSpPr/>
          <p:nvPr/>
        </p:nvSpPr>
        <p:spPr>
          <a:xfrm>
            <a:off x="765894" y="355600"/>
            <a:ext cx="11430000" cy="5715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l">
              <a:lnSpc>
                <a:spcPct val="100000"/>
              </a:lnSpc>
            </a:pPr>
            <a:r>
              <a:rPr lang="en-US" sz="3200" b="1" dirty="0">
                <a:solidFill>
                  <a:srgbClr val="333333"/>
                </a:solidFill>
                <a:latin typeface="微软雅黑" pitchFamily="34" charset="-122"/>
                <a:ea typeface="微软雅黑" pitchFamily="34" charset="-122"/>
                <a:cs typeface="微软雅黑" pitchFamily="34" charset="-120"/>
                <a:sym typeface="+mn-ea"/>
              </a:rPr>
              <a:t>仓库</a:t>
            </a:r>
            <a:r>
              <a:rPr lang="zh-CN" altLang="en-US" sz="3200" b="1" dirty="0">
                <a:solidFill>
                  <a:srgbClr val="333333"/>
                </a:solidFill>
                <a:latin typeface="微软雅黑" pitchFamily="34" charset="-122"/>
                <a:ea typeface="微软雅黑" pitchFamily="34" charset="-122"/>
                <a:cs typeface="微软雅黑" pitchFamily="34" charset="-120"/>
                <a:sym typeface="+mn-ea"/>
              </a:rPr>
              <a:t>链接与</a:t>
            </a:r>
            <a:r>
              <a:rPr lang="en-US" sz="3200" b="1" dirty="0">
                <a:solidFill>
                  <a:srgbClr val="333333"/>
                </a:solidFill>
                <a:latin typeface="微软雅黑" pitchFamily="34" charset="-122"/>
                <a:ea typeface="微软雅黑" pitchFamily="34" charset="-122"/>
                <a:cs typeface="微软雅黑" pitchFamily="34" charset="-120"/>
                <a:sym typeface="+mn-ea"/>
              </a:rPr>
              <a:t>样例</a:t>
            </a:r>
            <a:endParaRPr lang="en-US" sz="3200" b="1" dirty="0">
              <a:solidFill>
                <a:schemeClr val="tx1"/>
              </a:solidFill>
              <a:latin typeface="微软雅黑" pitchFamily="34" charset="-122"/>
              <a:ea typeface="微软雅黑" pitchFamily="34" charset="-122"/>
              <a:cs typeface="微软雅黑" pitchFamily="34" charset="-120"/>
              <a:sym typeface="+mn-ea"/>
            </a:endParaRPr>
          </a:p>
        </p:txBody>
      </p:sp>
      <p:sp>
        <p:nvSpPr>
          <p:cNvPr id="30" name="Shape 19"/>
          <p:cNvSpPr/>
          <p:nvPr/>
        </p:nvSpPr>
        <p:spPr>
          <a:xfrm>
            <a:off x="823755" y="1300467"/>
            <a:ext cx="314325" cy="279400"/>
          </a:xfrm>
          <a:custGeom>
            <a:avLst/>
            <a:gdLst/>
            <a:ahLst/>
            <a:cxnLst/>
            <a:rect l="l" t="t" r="r" b="b"/>
            <a:pathLst>
              <a:path w="314325" h="279400">
                <a:moveTo>
                  <a:pt x="30559" y="123111"/>
                </a:moveTo>
                <a:lnTo>
                  <a:pt x="17681" y="161637"/>
                </a:lnTo>
                <a:lnTo>
                  <a:pt x="17681" y="52388"/>
                </a:lnTo>
                <a:cubicBezTo>
                  <a:pt x="17681" y="33124"/>
                  <a:pt x="33342" y="17463"/>
                  <a:pt x="52606" y="17463"/>
                </a:cubicBezTo>
                <a:lnTo>
                  <a:pt x="128295" y="17463"/>
                </a:lnTo>
                <a:cubicBezTo>
                  <a:pt x="135826" y="17463"/>
                  <a:pt x="143192" y="19918"/>
                  <a:pt x="149250" y="24448"/>
                </a:cubicBezTo>
                <a:lnTo>
                  <a:pt x="170205" y="40164"/>
                </a:lnTo>
                <a:cubicBezTo>
                  <a:pt x="173206" y="42456"/>
                  <a:pt x="176917" y="43656"/>
                  <a:pt x="180682" y="43656"/>
                </a:cubicBezTo>
                <a:lnTo>
                  <a:pt x="244693" y="43656"/>
                </a:lnTo>
                <a:cubicBezTo>
                  <a:pt x="263957" y="43656"/>
                  <a:pt x="279618" y="59318"/>
                  <a:pt x="279618" y="78581"/>
                </a:cubicBezTo>
                <a:lnTo>
                  <a:pt x="279618" y="87313"/>
                </a:lnTo>
                <a:lnTo>
                  <a:pt x="80218" y="87313"/>
                </a:lnTo>
                <a:cubicBezTo>
                  <a:pt x="57681" y="87313"/>
                  <a:pt x="37654" y="101719"/>
                  <a:pt x="30505" y="123111"/>
                </a:cubicBezTo>
                <a:close/>
                <a:moveTo>
                  <a:pt x="260737" y="244475"/>
                </a:moveTo>
                <a:lnTo>
                  <a:pt x="54025" y="244475"/>
                </a:lnTo>
                <a:cubicBezTo>
                  <a:pt x="36126" y="244475"/>
                  <a:pt x="23520" y="226958"/>
                  <a:pt x="29195" y="209987"/>
                </a:cubicBezTo>
                <a:lnTo>
                  <a:pt x="55389" y="131405"/>
                </a:lnTo>
                <a:cubicBezTo>
                  <a:pt x="58936" y="120710"/>
                  <a:pt x="68977" y="113506"/>
                  <a:pt x="80218" y="113506"/>
                </a:cubicBezTo>
                <a:lnTo>
                  <a:pt x="286931" y="113506"/>
                </a:lnTo>
                <a:cubicBezTo>
                  <a:pt x="304830" y="113506"/>
                  <a:pt x="317436" y="131023"/>
                  <a:pt x="311760" y="147995"/>
                </a:cubicBezTo>
                <a:lnTo>
                  <a:pt x="285566" y="226576"/>
                </a:lnTo>
                <a:cubicBezTo>
                  <a:pt x="282019" y="237272"/>
                  <a:pt x="271978" y="244475"/>
                  <a:pt x="260737" y="244475"/>
                </a:cubicBezTo>
                <a:close/>
              </a:path>
            </a:pathLst>
          </a:custGeom>
          <a:solidFill>
            <a:srgbClr val="C00000"/>
          </a:solidFill>
        </p:spPr>
        <p:txBody>
          <a:bodyPr/>
          <a:lstStyle/>
          <a:p>
            <a:endParaRPr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34" name="Text 20"/>
          <p:cNvSpPr/>
          <p:nvPr/>
        </p:nvSpPr>
        <p:spPr>
          <a:xfrm>
            <a:off x="1196817" y="1275067"/>
            <a:ext cx="5080000" cy="3302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b="1" dirty="0">
                <a:solidFill>
                  <a:srgbClr val="333333"/>
                </a:solidFill>
                <a:latin typeface="微软雅黑" pitchFamily="34" charset="-122"/>
                <a:ea typeface="微软雅黑" pitchFamily="34" charset="-122"/>
                <a:cs typeface="微软雅黑" pitchFamily="34" charset="-120"/>
              </a:rPr>
              <a:t>仓库样例</a:t>
            </a:r>
            <a:endParaRPr lang="en-US" sz="1600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35" name="Shape 21"/>
          <p:cNvSpPr/>
          <p:nvPr/>
        </p:nvSpPr>
        <p:spPr>
          <a:xfrm>
            <a:off x="841375" y="1706880"/>
            <a:ext cx="7180580" cy="4469130"/>
          </a:xfrm>
          <a:prstGeom prst="roundRect">
            <a:avLst>
              <a:gd name="adj" fmla="val 3000"/>
            </a:avLst>
          </a:prstGeom>
          <a:solidFill>
            <a:srgbClr val="F2F2F2"/>
          </a:solidFill>
        </p:spPr>
        <p:txBody>
          <a:bodyPr/>
          <a:lstStyle/>
          <a:p>
            <a:endParaRPr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36" name="Text 22"/>
          <p:cNvSpPr/>
          <p:nvPr/>
        </p:nvSpPr>
        <p:spPr>
          <a:xfrm>
            <a:off x="1031717" y="1859267"/>
            <a:ext cx="6477000" cy="172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5000"/>
              </a:lnSpc>
            </a:pPr>
            <a:r>
              <a:rPr lang="en-US" altLang="zh-CN" sz="1600" b="1" dirty="0" err="1">
                <a:latin typeface="微软雅黑" pitchFamily="34" charset="-122"/>
                <a:ea typeface="微软雅黑" pitchFamily="34" charset="-122"/>
              </a:rPr>
              <a:t>cann</a:t>
            </a:r>
            <a:r>
              <a:rPr lang="en-US" altLang="zh-CN" sz="1600" b="1" dirty="0">
                <a:latin typeface="微软雅黑" pitchFamily="34" charset="-122"/>
                <a:ea typeface="微软雅黑" pitchFamily="34" charset="-122"/>
              </a:rPr>
              <a:t>-recipes-infer </a:t>
            </a:r>
            <a:r>
              <a:rPr lang="zh-CN" altLang="en-US" sz="1600" b="1" dirty="0">
                <a:solidFill>
                  <a:srgbClr val="333333"/>
                </a:solidFill>
                <a:latin typeface="微软雅黑" pitchFamily="34" charset="-122"/>
                <a:ea typeface="微软雅黑" pitchFamily="34" charset="-122"/>
                <a:cs typeface="微软雅黑" pitchFamily="34" charset="-120"/>
              </a:rPr>
              <a:t>仓库</a:t>
            </a:r>
            <a:r>
              <a:rPr lang="en-US" sz="1600" b="1" dirty="0">
                <a:solidFill>
                  <a:srgbClr val="333333"/>
                </a:solidFill>
                <a:latin typeface="微软雅黑" pitchFamily="34" charset="-122"/>
                <a:ea typeface="微软雅黑" pitchFamily="34" charset="-122"/>
                <a:cs typeface="微软雅黑" pitchFamily="34" charset="-120"/>
              </a:rPr>
              <a:t>已</a:t>
            </a:r>
            <a:r>
              <a:rPr lang="zh-CN" altLang="en-US" sz="1600" b="1" dirty="0">
                <a:solidFill>
                  <a:srgbClr val="333333"/>
                </a:solidFill>
                <a:latin typeface="微软雅黑" pitchFamily="34" charset="-122"/>
                <a:ea typeface="微软雅黑" pitchFamily="34" charset="-122"/>
                <a:cs typeface="微软雅黑" pitchFamily="34" charset="-120"/>
              </a:rPr>
              <a:t>开源 </a:t>
            </a:r>
            <a:r>
              <a:rPr lang="en-US" altLang="zh-CN" sz="1600" b="1" dirty="0">
                <a:solidFill>
                  <a:srgbClr val="333333"/>
                </a:solidFill>
                <a:latin typeface="微软雅黑" pitchFamily="34" charset="-122"/>
                <a:ea typeface="微软雅黑" pitchFamily="34" charset="-122"/>
                <a:cs typeface="微软雅黑" pitchFamily="34" charset="-120"/>
              </a:rPr>
              <a:t>Agent </a:t>
            </a:r>
            <a:r>
              <a:rPr lang="zh-CN" altLang="en-US" sz="1600" b="1" dirty="0">
                <a:solidFill>
                  <a:srgbClr val="333333"/>
                </a:solidFill>
                <a:latin typeface="微软雅黑" pitchFamily="34" charset="-122"/>
                <a:ea typeface="微软雅黑" pitchFamily="34" charset="-122"/>
                <a:cs typeface="微软雅黑" pitchFamily="34" charset="-120"/>
              </a:rPr>
              <a:t>完成的部署</a:t>
            </a:r>
            <a:r>
              <a:rPr lang="en-US" sz="1600" b="1" dirty="0">
                <a:solidFill>
                  <a:srgbClr val="333333"/>
                </a:solidFill>
                <a:latin typeface="微软雅黑" pitchFamily="34" charset="-122"/>
                <a:ea typeface="微软雅黑" pitchFamily="34" charset="-122"/>
                <a:cs typeface="微软雅黑" pitchFamily="34" charset="-120"/>
              </a:rPr>
              <a:t>优化</a:t>
            </a:r>
            <a:r>
              <a:rPr lang="zh-CN" altLang="en-US" sz="1600" b="1" dirty="0">
                <a:solidFill>
                  <a:srgbClr val="333333"/>
                </a:solidFill>
                <a:latin typeface="微软雅黑" pitchFamily="34" charset="-122"/>
                <a:ea typeface="微软雅黑" pitchFamily="34" charset="-122"/>
                <a:cs typeface="微软雅黑" pitchFamily="34" charset="-120"/>
              </a:rPr>
              <a:t>样例</a:t>
            </a:r>
            <a:endParaRPr lang="en-US" altLang="zh-CN" sz="1600" b="1" dirty="0">
              <a:solidFill>
                <a:srgbClr val="333333"/>
              </a:solidFill>
              <a:latin typeface="微软雅黑" pitchFamily="34" charset="-122"/>
              <a:ea typeface="微软雅黑" pitchFamily="34" charset="-122"/>
              <a:cs typeface="微软雅黑" pitchFamily="34" charset="-120"/>
            </a:endParaRPr>
          </a:p>
          <a:p>
            <a:pPr>
              <a:lnSpc>
                <a:spcPct val="145000"/>
              </a:lnSpc>
            </a:pPr>
            <a:endParaRPr lang="en-US" altLang="zh-CN" sz="1600" b="1" dirty="0">
              <a:solidFill>
                <a:srgbClr val="333333"/>
              </a:solidFill>
              <a:latin typeface="微软雅黑" pitchFamily="34" charset="-122"/>
              <a:ea typeface="微软雅黑" pitchFamily="34" charset="-122"/>
              <a:cs typeface="微软雅黑" pitchFamily="34" charset="-120"/>
            </a:endParaRPr>
          </a:p>
          <a:p>
            <a:pPr>
              <a:lnSpc>
                <a:spcPct val="145000"/>
              </a:lnSpc>
            </a:pPr>
            <a:endParaRPr lang="en-US" altLang="zh-CN" sz="1600" b="1" dirty="0">
              <a:solidFill>
                <a:srgbClr val="333333"/>
              </a:solidFill>
              <a:latin typeface="微软雅黑" pitchFamily="34" charset="-122"/>
              <a:ea typeface="微软雅黑" pitchFamily="34" charset="-122"/>
              <a:cs typeface="微软雅黑" pitchFamily="34" charset="-120"/>
            </a:endParaRPr>
          </a:p>
          <a:p>
            <a:pPr>
              <a:lnSpc>
                <a:spcPct val="145000"/>
              </a:lnSpc>
            </a:pPr>
            <a:endParaRPr lang="zh-CN" altLang="en-US" sz="1600" b="1" dirty="0">
              <a:solidFill>
                <a:srgbClr val="333333"/>
              </a:solidFill>
              <a:latin typeface="微软雅黑" pitchFamily="34" charset="-122"/>
              <a:ea typeface="微软雅黑" pitchFamily="34" charset="-122"/>
              <a:cs typeface="微软雅黑" pitchFamily="34" charset="-120"/>
            </a:endParaRPr>
          </a:p>
        </p:txBody>
      </p:sp>
      <p:sp>
        <p:nvSpPr>
          <p:cNvPr id="11" name="矩形 10"/>
          <p:cNvSpPr/>
          <p:nvPr/>
        </p:nvSpPr>
        <p:spPr>
          <a:xfrm>
            <a:off x="1196975" y="4145280"/>
            <a:ext cx="7013575" cy="20300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b="1" dirty="0" err="1">
                <a:latin typeface="微软雅黑" pitchFamily="34" charset="-122"/>
                <a:ea typeface="微软雅黑" pitchFamily="34" charset="-122"/>
              </a:rPr>
              <a:t>仓库链接</a:t>
            </a:r>
            <a:r>
              <a:rPr lang="en-US" altLang="zh-CN" b="1" dirty="0" err="1">
                <a:latin typeface="微软雅黑" pitchFamily="34" charset="-122"/>
                <a:ea typeface="微软雅黑" pitchFamily="34" charset="-122"/>
              </a:rPr>
              <a:t>：</a:t>
            </a:r>
            <a:endParaRPr lang="en-US" altLang="zh-CN" b="1" dirty="0" err="1">
              <a:latin typeface="微软雅黑" pitchFamily="34" charset="-122"/>
              <a:ea typeface="微软雅黑" pitchFamily="34" charset="-122"/>
            </a:endParaRPr>
          </a:p>
          <a:p>
            <a:br>
              <a:rPr lang="en-US" altLang="zh-CN" b="1" dirty="0" err="1">
                <a:latin typeface="微软雅黑" pitchFamily="34" charset="-122"/>
                <a:ea typeface="微软雅黑" pitchFamily="34" charset="-122"/>
              </a:rPr>
            </a:br>
            <a:r>
              <a:rPr lang="en-US" altLang="zh-CN" b="1" dirty="0" err="1">
                <a:latin typeface="微软雅黑" pitchFamily="34" charset="-122"/>
                <a:ea typeface="微软雅黑" pitchFamily="34" charset="-122"/>
              </a:rPr>
              <a:t>cann</a:t>
            </a:r>
            <a:r>
              <a:rPr lang="en-US" altLang="zh-CN" b="1" dirty="0">
                <a:latin typeface="微软雅黑" pitchFamily="34" charset="-122"/>
                <a:ea typeface="微软雅黑" pitchFamily="34" charset="-122"/>
              </a:rPr>
              <a:t>-recipes-infer : </a:t>
            </a:r>
            <a:r>
              <a:rPr lang="zh-CN" altLang="en-US" dirty="0">
                <a:latin typeface="微软雅黑" pitchFamily="34" charset="-122"/>
                <a:ea typeface="微软雅黑" pitchFamily="34" charset="-122"/>
                <a:hlinkClick r:id="rId2"/>
              </a:rPr>
              <a:t>https://gitcode.com/cann/cann-recipes-infer</a:t>
            </a:r>
            <a:endParaRPr lang="en-US" altLang="zh-CN" dirty="0">
              <a:latin typeface="微软雅黑" pitchFamily="34" charset="-122"/>
              <a:ea typeface="微软雅黑" pitchFamily="34" charset="-122"/>
            </a:endParaRPr>
          </a:p>
          <a:p>
            <a:endParaRPr lang="en-US" altLang="zh-CN" dirty="0">
              <a:latin typeface="微软雅黑" pitchFamily="34" charset="-122"/>
              <a:ea typeface="微软雅黑" pitchFamily="34" charset="-122"/>
            </a:endParaRPr>
          </a:p>
          <a:p>
            <a:endParaRPr lang="en-US" altLang="zh-CN" dirty="0">
              <a:latin typeface="微软雅黑" pitchFamily="34" charset="-122"/>
              <a:ea typeface="微软雅黑" pitchFamily="34" charset="-122"/>
            </a:endParaRPr>
          </a:p>
          <a:p>
            <a:r>
              <a:rPr lang="en-US" altLang="zh-CN" b="1" dirty="0">
                <a:latin typeface="微软雅黑" pitchFamily="34" charset="-122"/>
                <a:ea typeface="微软雅黑" pitchFamily="34" charset="-122"/>
              </a:rPr>
              <a:t>CANNBot : </a:t>
            </a:r>
            <a:r>
              <a:rPr lang="en-US" altLang="zh-CN" dirty="0">
                <a:latin typeface="微软雅黑" pitchFamily="34" charset="-122"/>
                <a:ea typeface="微软雅黑" pitchFamily="34" charset="-122"/>
                <a:hlinkClick r:id="rId3"/>
              </a:rPr>
              <a:t>https://gitcode.com/cann/cannbot-skills</a:t>
            </a:r>
            <a:endParaRPr lang="en-US" altLang="zh-CN" dirty="0">
              <a:latin typeface="微软雅黑" pitchFamily="34" charset="-122"/>
              <a:ea typeface="微软雅黑" pitchFamily="34" charset="-122"/>
            </a:endParaRPr>
          </a:p>
          <a:p>
            <a:endParaRPr lang="en-US" altLang="zh-CN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2" name="Shape 13"/>
          <p:cNvSpPr/>
          <p:nvPr/>
        </p:nvSpPr>
        <p:spPr>
          <a:xfrm>
            <a:off x="2373492" y="6588277"/>
            <a:ext cx="1659504" cy="457200"/>
          </a:xfrm>
          <a:custGeom>
            <a:avLst/>
            <a:gdLst/>
            <a:ahLst/>
            <a:cxnLst/>
            <a:rect l="l" t="t" r="r" b="b"/>
            <a:pathLst>
              <a:path w="1257300" h="457200">
                <a:moveTo>
                  <a:pt x="228600" y="0"/>
                </a:moveTo>
                <a:lnTo>
                  <a:pt x="1028700" y="0"/>
                </a:lnTo>
                <a:cubicBezTo>
                  <a:pt x="1154868" y="0"/>
                  <a:pt x="1257300" y="102432"/>
                  <a:pt x="1257300" y="228600"/>
                </a:cubicBezTo>
                <a:lnTo>
                  <a:pt x="1257300" y="228600"/>
                </a:lnTo>
                <a:cubicBezTo>
                  <a:pt x="1257300" y="354768"/>
                  <a:pt x="1154868" y="457200"/>
                  <a:pt x="1028700" y="457200"/>
                </a:cubicBezTo>
                <a:lnTo>
                  <a:pt x="228600" y="457200"/>
                </a:lnTo>
                <a:cubicBezTo>
                  <a:pt x="102432" y="457200"/>
                  <a:pt x="0" y="354768"/>
                  <a:pt x="0" y="228600"/>
                </a:cubicBezTo>
                <a:lnTo>
                  <a:pt x="0" y="228600"/>
                </a:lnTo>
                <a:cubicBezTo>
                  <a:pt x="0" y="102432"/>
                  <a:pt x="102432" y="0"/>
                  <a:pt x="228600" y="0"/>
                </a:cubicBezTo>
                <a:close/>
              </a:path>
            </a:pathLst>
          </a:custGeom>
          <a:solidFill>
            <a:srgbClr val="8C92AC">
              <a:alpha val="10196"/>
            </a:srgbClr>
          </a:solidFill>
        </p:spPr>
      </p:sp>
      <p:sp>
        <p:nvSpPr>
          <p:cNvPr id="13" name="Shape 14"/>
          <p:cNvSpPr/>
          <p:nvPr/>
        </p:nvSpPr>
        <p:spPr>
          <a:xfrm>
            <a:off x="2596313" y="6740621"/>
            <a:ext cx="133350" cy="152400"/>
          </a:xfrm>
          <a:custGeom>
            <a:avLst/>
            <a:gdLst/>
            <a:ahLst/>
            <a:cxnLst/>
            <a:rect l="l" t="t" r="r" b="b"/>
            <a:pathLst>
              <a:path w="133350" h="152400">
                <a:moveTo>
                  <a:pt x="27146" y="10984"/>
                </a:moveTo>
                <a:cubicBezTo>
                  <a:pt x="23455" y="8959"/>
                  <a:pt x="18990" y="9049"/>
                  <a:pt x="15359" y="11192"/>
                </a:cubicBezTo>
                <a:cubicBezTo>
                  <a:pt x="11728" y="13335"/>
                  <a:pt x="9525" y="17234"/>
                  <a:pt x="9525" y="21431"/>
                </a:cubicBezTo>
                <a:lnTo>
                  <a:pt x="9525" y="130969"/>
                </a:lnTo>
                <a:cubicBezTo>
                  <a:pt x="9525" y="135166"/>
                  <a:pt x="11757" y="139065"/>
                  <a:pt x="15359" y="141208"/>
                </a:cubicBezTo>
                <a:cubicBezTo>
                  <a:pt x="18961" y="143351"/>
                  <a:pt x="23455" y="143441"/>
                  <a:pt x="27146" y="141416"/>
                </a:cubicBezTo>
                <a:lnTo>
                  <a:pt x="127159" y="86648"/>
                </a:lnTo>
                <a:cubicBezTo>
                  <a:pt x="130969" y="84564"/>
                  <a:pt x="133350" y="80546"/>
                  <a:pt x="133350" y="76200"/>
                </a:cubicBezTo>
                <a:cubicBezTo>
                  <a:pt x="133350" y="71854"/>
                  <a:pt x="130969" y="67836"/>
                  <a:pt x="127159" y="65752"/>
                </a:cubicBezTo>
                <a:lnTo>
                  <a:pt x="27146" y="10984"/>
                </a:lnTo>
                <a:close/>
              </a:path>
            </a:pathLst>
          </a:custGeom>
          <a:solidFill>
            <a:srgbClr val="8C92AC"/>
          </a:solidFill>
        </p:spPr>
      </p:sp>
      <p:sp>
        <p:nvSpPr>
          <p:cNvPr id="14" name="Text 15"/>
          <p:cNvSpPr/>
          <p:nvPr/>
        </p:nvSpPr>
        <p:spPr>
          <a:xfrm>
            <a:off x="2892563" y="6702539"/>
            <a:ext cx="6858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b="1" dirty="0">
                <a:solidFill>
                  <a:srgbClr val="2C2C2C"/>
                </a:solidFill>
                <a:latin typeface="微软雅黑" pitchFamily="34" charset="-122"/>
                <a:ea typeface="微软雅黑" pitchFamily="34" charset="-122"/>
                <a:cs typeface="Noto Sans SC" panose="020B0200000000000000" pitchFamily="34" charset="-120"/>
              </a:rPr>
              <a:t>试用</a:t>
            </a:r>
            <a:endParaRPr lang="en-US" sz="1600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5" name="Shape 16"/>
          <p:cNvSpPr/>
          <p:nvPr/>
        </p:nvSpPr>
        <p:spPr>
          <a:xfrm>
            <a:off x="4403054" y="6559682"/>
            <a:ext cx="1587932" cy="457200"/>
          </a:xfrm>
          <a:custGeom>
            <a:avLst/>
            <a:gdLst/>
            <a:ahLst/>
            <a:cxnLst/>
            <a:rect l="l" t="t" r="r" b="b"/>
            <a:pathLst>
              <a:path w="1504950" h="457200">
                <a:moveTo>
                  <a:pt x="228600" y="0"/>
                </a:moveTo>
                <a:lnTo>
                  <a:pt x="1276350" y="0"/>
                </a:lnTo>
                <a:cubicBezTo>
                  <a:pt x="1402518" y="0"/>
                  <a:pt x="1504950" y="102432"/>
                  <a:pt x="1504950" y="228600"/>
                </a:cubicBezTo>
                <a:lnTo>
                  <a:pt x="1504950" y="228600"/>
                </a:lnTo>
                <a:cubicBezTo>
                  <a:pt x="1504950" y="354768"/>
                  <a:pt x="1402518" y="457200"/>
                  <a:pt x="1276350" y="457200"/>
                </a:cubicBezTo>
                <a:lnTo>
                  <a:pt x="228600" y="457200"/>
                </a:lnTo>
                <a:cubicBezTo>
                  <a:pt x="102432" y="457200"/>
                  <a:pt x="0" y="354768"/>
                  <a:pt x="0" y="228600"/>
                </a:cubicBezTo>
                <a:lnTo>
                  <a:pt x="0" y="228600"/>
                </a:lnTo>
                <a:cubicBezTo>
                  <a:pt x="0" y="102432"/>
                  <a:pt x="102432" y="0"/>
                  <a:pt x="228600" y="0"/>
                </a:cubicBezTo>
                <a:close/>
              </a:path>
            </a:pathLst>
          </a:custGeom>
          <a:solidFill>
            <a:srgbClr val="B0A59A">
              <a:alpha val="10196"/>
            </a:srgbClr>
          </a:solidFill>
        </p:spPr>
      </p:sp>
      <p:sp>
        <p:nvSpPr>
          <p:cNvPr id="16" name="Shape 17"/>
          <p:cNvSpPr/>
          <p:nvPr/>
        </p:nvSpPr>
        <p:spPr>
          <a:xfrm>
            <a:off x="4689893" y="6712026"/>
            <a:ext cx="171450" cy="152400"/>
          </a:xfrm>
          <a:custGeom>
            <a:avLst/>
            <a:gdLst/>
            <a:ahLst/>
            <a:cxnLst/>
            <a:rect l="l" t="t" r="r" b="b"/>
            <a:pathLst>
              <a:path w="171450" h="152400">
                <a:moveTo>
                  <a:pt x="57150" y="28575"/>
                </a:moveTo>
                <a:cubicBezTo>
                  <a:pt x="57150" y="12799"/>
                  <a:pt x="69949" y="0"/>
                  <a:pt x="85725" y="0"/>
                </a:cubicBezTo>
                <a:cubicBezTo>
                  <a:pt x="101501" y="0"/>
                  <a:pt x="114300" y="12799"/>
                  <a:pt x="114300" y="28575"/>
                </a:cubicBezTo>
                <a:lnTo>
                  <a:pt x="114300" y="29647"/>
                </a:lnTo>
                <a:cubicBezTo>
                  <a:pt x="114300" y="34320"/>
                  <a:pt x="110520" y="38100"/>
                  <a:pt x="105847" y="38100"/>
                </a:cubicBezTo>
                <a:lnTo>
                  <a:pt x="65633" y="38100"/>
                </a:lnTo>
                <a:cubicBezTo>
                  <a:pt x="60960" y="38100"/>
                  <a:pt x="57180" y="34320"/>
                  <a:pt x="57180" y="29647"/>
                </a:cubicBezTo>
                <a:lnTo>
                  <a:pt x="57180" y="28575"/>
                </a:lnTo>
                <a:close/>
                <a:moveTo>
                  <a:pt x="160020" y="32385"/>
                </a:moveTo>
                <a:cubicBezTo>
                  <a:pt x="163175" y="36582"/>
                  <a:pt x="162312" y="42565"/>
                  <a:pt x="158115" y="45720"/>
                </a:cubicBezTo>
                <a:lnTo>
                  <a:pt x="129004" y="67538"/>
                </a:lnTo>
                <a:cubicBezTo>
                  <a:pt x="130582" y="70187"/>
                  <a:pt x="131772" y="73104"/>
                  <a:pt x="132517" y="76200"/>
                </a:cubicBezTo>
                <a:lnTo>
                  <a:pt x="161925" y="76200"/>
                </a:lnTo>
                <a:cubicBezTo>
                  <a:pt x="167194" y="76200"/>
                  <a:pt x="171450" y="80456"/>
                  <a:pt x="171450" y="85725"/>
                </a:cubicBezTo>
                <a:cubicBezTo>
                  <a:pt x="171450" y="90994"/>
                  <a:pt x="167194" y="95250"/>
                  <a:pt x="161925" y="95250"/>
                </a:cubicBezTo>
                <a:lnTo>
                  <a:pt x="133350" y="95250"/>
                </a:lnTo>
                <a:lnTo>
                  <a:pt x="133350" y="104775"/>
                </a:lnTo>
                <a:cubicBezTo>
                  <a:pt x="133350" y="105549"/>
                  <a:pt x="133320" y="106353"/>
                  <a:pt x="133290" y="107126"/>
                </a:cubicBezTo>
                <a:lnTo>
                  <a:pt x="158115" y="125730"/>
                </a:lnTo>
                <a:cubicBezTo>
                  <a:pt x="162312" y="128885"/>
                  <a:pt x="163175" y="134868"/>
                  <a:pt x="160020" y="139065"/>
                </a:cubicBezTo>
                <a:cubicBezTo>
                  <a:pt x="156865" y="143262"/>
                  <a:pt x="150882" y="144125"/>
                  <a:pt x="146685" y="140970"/>
                </a:cubicBezTo>
                <a:lnTo>
                  <a:pt x="127903" y="126891"/>
                </a:lnTo>
                <a:cubicBezTo>
                  <a:pt x="120997" y="140047"/>
                  <a:pt x="108109" y="149572"/>
                  <a:pt x="92869" y="151864"/>
                </a:cubicBezTo>
                <a:lnTo>
                  <a:pt x="92869" y="83344"/>
                </a:lnTo>
                <a:cubicBezTo>
                  <a:pt x="92869" y="79385"/>
                  <a:pt x="89684" y="76200"/>
                  <a:pt x="85725" y="76200"/>
                </a:cubicBezTo>
                <a:cubicBezTo>
                  <a:pt x="81766" y="76200"/>
                  <a:pt x="78581" y="79385"/>
                  <a:pt x="78581" y="83344"/>
                </a:cubicBezTo>
                <a:lnTo>
                  <a:pt x="78581" y="151864"/>
                </a:lnTo>
                <a:cubicBezTo>
                  <a:pt x="63341" y="149572"/>
                  <a:pt x="50453" y="140047"/>
                  <a:pt x="43547" y="126891"/>
                </a:cubicBezTo>
                <a:lnTo>
                  <a:pt x="24765" y="140970"/>
                </a:lnTo>
                <a:cubicBezTo>
                  <a:pt x="20568" y="144125"/>
                  <a:pt x="14585" y="143262"/>
                  <a:pt x="11430" y="139065"/>
                </a:cubicBezTo>
                <a:cubicBezTo>
                  <a:pt x="8275" y="134868"/>
                  <a:pt x="9138" y="128885"/>
                  <a:pt x="13335" y="125730"/>
                </a:cubicBezTo>
                <a:lnTo>
                  <a:pt x="38160" y="107126"/>
                </a:lnTo>
                <a:cubicBezTo>
                  <a:pt x="38130" y="106353"/>
                  <a:pt x="38100" y="105579"/>
                  <a:pt x="38100" y="104775"/>
                </a:cubicBezTo>
                <a:lnTo>
                  <a:pt x="38100" y="95250"/>
                </a:lnTo>
                <a:lnTo>
                  <a:pt x="9525" y="95250"/>
                </a:lnTo>
                <a:cubicBezTo>
                  <a:pt x="4256" y="95250"/>
                  <a:pt x="0" y="90994"/>
                  <a:pt x="0" y="85725"/>
                </a:cubicBezTo>
                <a:cubicBezTo>
                  <a:pt x="0" y="80456"/>
                  <a:pt x="4256" y="76200"/>
                  <a:pt x="9525" y="76200"/>
                </a:cubicBezTo>
                <a:lnTo>
                  <a:pt x="38933" y="76200"/>
                </a:lnTo>
                <a:cubicBezTo>
                  <a:pt x="39678" y="73104"/>
                  <a:pt x="40868" y="70187"/>
                  <a:pt x="42446" y="67538"/>
                </a:cubicBezTo>
                <a:lnTo>
                  <a:pt x="13335" y="45720"/>
                </a:lnTo>
                <a:cubicBezTo>
                  <a:pt x="9138" y="42565"/>
                  <a:pt x="8275" y="36582"/>
                  <a:pt x="11430" y="32385"/>
                </a:cubicBezTo>
                <a:cubicBezTo>
                  <a:pt x="14585" y="28188"/>
                  <a:pt x="20568" y="27325"/>
                  <a:pt x="24765" y="30480"/>
                </a:cubicBezTo>
                <a:lnTo>
                  <a:pt x="57150" y="54769"/>
                </a:lnTo>
                <a:cubicBezTo>
                  <a:pt x="60811" y="53251"/>
                  <a:pt x="64830" y="52388"/>
                  <a:pt x="69056" y="52388"/>
                </a:cubicBezTo>
                <a:lnTo>
                  <a:pt x="102394" y="52388"/>
                </a:lnTo>
                <a:cubicBezTo>
                  <a:pt x="106620" y="52388"/>
                  <a:pt x="110639" y="53221"/>
                  <a:pt x="114300" y="54769"/>
                </a:cubicBezTo>
                <a:lnTo>
                  <a:pt x="146685" y="30480"/>
                </a:lnTo>
                <a:cubicBezTo>
                  <a:pt x="150882" y="27325"/>
                  <a:pt x="156865" y="28188"/>
                  <a:pt x="160020" y="32385"/>
                </a:cubicBezTo>
                <a:close/>
              </a:path>
            </a:pathLst>
          </a:custGeom>
          <a:solidFill>
            <a:srgbClr val="B0A59A"/>
          </a:solidFill>
        </p:spPr>
      </p:sp>
      <p:sp>
        <p:nvSpPr>
          <p:cNvPr id="17" name="Text 18"/>
          <p:cNvSpPr/>
          <p:nvPr/>
        </p:nvSpPr>
        <p:spPr>
          <a:xfrm>
            <a:off x="4892899" y="6673944"/>
            <a:ext cx="93345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b="1" dirty="0">
                <a:solidFill>
                  <a:srgbClr val="2C2C2C"/>
                </a:solidFill>
                <a:latin typeface="微软雅黑" pitchFamily="34" charset="-122"/>
                <a:ea typeface="微软雅黑" pitchFamily="34" charset="-122"/>
                <a:cs typeface="Noto Sans SC" panose="020B0200000000000000" pitchFamily="34" charset="-120"/>
              </a:rPr>
              <a:t>提 issue</a:t>
            </a:r>
            <a:endParaRPr lang="en-US" sz="1600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8" name="Shape 19"/>
          <p:cNvSpPr/>
          <p:nvPr/>
        </p:nvSpPr>
        <p:spPr>
          <a:xfrm>
            <a:off x="2367484" y="7259968"/>
            <a:ext cx="1665512" cy="457200"/>
          </a:xfrm>
          <a:custGeom>
            <a:avLst/>
            <a:gdLst/>
            <a:ahLst/>
            <a:cxnLst/>
            <a:rect l="l" t="t" r="r" b="b"/>
            <a:pathLst>
              <a:path w="2019300" h="457200">
                <a:moveTo>
                  <a:pt x="228600" y="0"/>
                </a:moveTo>
                <a:lnTo>
                  <a:pt x="1790700" y="0"/>
                </a:lnTo>
                <a:cubicBezTo>
                  <a:pt x="1916868" y="0"/>
                  <a:pt x="2019300" y="102432"/>
                  <a:pt x="2019300" y="228600"/>
                </a:cubicBezTo>
                <a:lnTo>
                  <a:pt x="2019300" y="228600"/>
                </a:lnTo>
                <a:cubicBezTo>
                  <a:pt x="2019300" y="354768"/>
                  <a:pt x="1916868" y="457200"/>
                  <a:pt x="1790700" y="457200"/>
                </a:cubicBezTo>
                <a:lnTo>
                  <a:pt x="228600" y="457200"/>
                </a:lnTo>
                <a:cubicBezTo>
                  <a:pt x="102432" y="457200"/>
                  <a:pt x="0" y="354768"/>
                  <a:pt x="0" y="228600"/>
                </a:cubicBezTo>
                <a:lnTo>
                  <a:pt x="0" y="228600"/>
                </a:lnTo>
                <a:cubicBezTo>
                  <a:pt x="0" y="102432"/>
                  <a:pt x="102432" y="0"/>
                  <a:pt x="228600" y="0"/>
                </a:cubicBezTo>
                <a:close/>
              </a:path>
            </a:pathLst>
          </a:custGeom>
          <a:solidFill>
            <a:srgbClr val="6B7A8F">
              <a:alpha val="10196"/>
            </a:srgbClr>
          </a:solidFill>
        </p:spPr>
      </p:sp>
      <p:sp>
        <p:nvSpPr>
          <p:cNvPr id="19" name="Shape 20"/>
          <p:cNvSpPr/>
          <p:nvPr/>
        </p:nvSpPr>
        <p:spPr>
          <a:xfrm>
            <a:off x="2599232" y="7412312"/>
            <a:ext cx="114300" cy="152400"/>
          </a:xfrm>
          <a:custGeom>
            <a:avLst/>
            <a:gdLst/>
            <a:ahLst/>
            <a:cxnLst/>
            <a:rect l="l" t="t" r="r" b="b"/>
            <a:pathLst>
              <a:path w="114300" h="152400">
                <a:moveTo>
                  <a:pt x="0" y="19050"/>
                </a:moveTo>
                <a:cubicBezTo>
                  <a:pt x="0" y="8543"/>
                  <a:pt x="8543" y="0"/>
                  <a:pt x="19050" y="0"/>
                </a:cubicBezTo>
                <a:lnTo>
                  <a:pt x="63550" y="0"/>
                </a:lnTo>
                <a:cubicBezTo>
                  <a:pt x="68610" y="0"/>
                  <a:pt x="73462" y="1994"/>
                  <a:pt x="77033" y="5566"/>
                </a:cubicBezTo>
                <a:lnTo>
                  <a:pt x="108734" y="37296"/>
                </a:lnTo>
                <a:cubicBezTo>
                  <a:pt x="112306" y="40868"/>
                  <a:pt x="114300" y="45720"/>
                  <a:pt x="114300" y="50780"/>
                </a:cubicBezTo>
                <a:lnTo>
                  <a:pt x="114300" y="133350"/>
                </a:lnTo>
                <a:cubicBezTo>
                  <a:pt x="114300" y="143857"/>
                  <a:pt x="105757" y="152400"/>
                  <a:pt x="95250" y="152400"/>
                </a:cubicBezTo>
                <a:lnTo>
                  <a:pt x="19050" y="152400"/>
                </a:lnTo>
                <a:cubicBezTo>
                  <a:pt x="8543" y="152400"/>
                  <a:pt x="0" y="143857"/>
                  <a:pt x="0" y="133350"/>
                </a:cubicBezTo>
                <a:lnTo>
                  <a:pt x="0" y="19050"/>
                </a:lnTo>
                <a:close/>
                <a:moveTo>
                  <a:pt x="61912" y="17413"/>
                </a:moveTo>
                <a:lnTo>
                  <a:pt x="61912" y="45244"/>
                </a:lnTo>
                <a:cubicBezTo>
                  <a:pt x="61912" y="49203"/>
                  <a:pt x="65097" y="52388"/>
                  <a:pt x="69056" y="52388"/>
                </a:cubicBezTo>
                <a:lnTo>
                  <a:pt x="96887" y="52388"/>
                </a:lnTo>
                <a:lnTo>
                  <a:pt x="61912" y="17413"/>
                </a:lnTo>
                <a:close/>
                <a:moveTo>
                  <a:pt x="35719" y="76200"/>
                </a:moveTo>
                <a:cubicBezTo>
                  <a:pt x="31760" y="76200"/>
                  <a:pt x="28575" y="79385"/>
                  <a:pt x="28575" y="83344"/>
                </a:cubicBezTo>
                <a:cubicBezTo>
                  <a:pt x="28575" y="87303"/>
                  <a:pt x="31760" y="90488"/>
                  <a:pt x="35719" y="90488"/>
                </a:cubicBezTo>
                <a:lnTo>
                  <a:pt x="78581" y="90488"/>
                </a:lnTo>
                <a:cubicBezTo>
                  <a:pt x="82540" y="90488"/>
                  <a:pt x="85725" y="87303"/>
                  <a:pt x="85725" y="83344"/>
                </a:cubicBezTo>
                <a:cubicBezTo>
                  <a:pt x="85725" y="79385"/>
                  <a:pt x="82540" y="76200"/>
                  <a:pt x="78581" y="76200"/>
                </a:cubicBezTo>
                <a:lnTo>
                  <a:pt x="35719" y="76200"/>
                </a:lnTo>
                <a:close/>
                <a:moveTo>
                  <a:pt x="35719" y="104775"/>
                </a:moveTo>
                <a:cubicBezTo>
                  <a:pt x="31760" y="104775"/>
                  <a:pt x="28575" y="107960"/>
                  <a:pt x="28575" y="111919"/>
                </a:cubicBezTo>
                <a:cubicBezTo>
                  <a:pt x="28575" y="115878"/>
                  <a:pt x="31760" y="119062"/>
                  <a:pt x="35719" y="119062"/>
                </a:cubicBezTo>
                <a:lnTo>
                  <a:pt x="78581" y="119062"/>
                </a:lnTo>
                <a:cubicBezTo>
                  <a:pt x="82540" y="119062"/>
                  <a:pt x="85725" y="115878"/>
                  <a:pt x="85725" y="111919"/>
                </a:cubicBezTo>
                <a:cubicBezTo>
                  <a:pt x="85725" y="107960"/>
                  <a:pt x="82540" y="104775"/>
                  <a:pt x="78581" y="104775"/>
                </a:cubicBezTo>
                <a:lnTo>
                  <a:pt x="35719" y="104775"/>
                </a:lnTo>
                <a:close/>
              </a:path>
            </a:pathLst>
          </a:custGeom>
          <a:solidFill>
            <a:srgbClr val="6B7A8F"/>
          </a:solidFill>
        </p:spPr>
      </p:sp>
      <p:sp>
        <p:nvSpPr>
          <p:cNvPr id="20" name="Text 21"/>
          <p:cNvSpPr/>
          <p:nvPr/>
        </p:nvSpPr>
        <p:spPr>
          <a:xfrm>
            <a:off x="2597201" y="7374230"/>
            <a:ext cx="14478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b="1" dirty="0" err="1">
                <a:solidFill>
                  <a:srgbClr val="2C2C2C"/>
                </a:solidFill>
                <a:latin typeface="微软雅黑" pitchFamily="34" charset="-122"/>
                <a:ea typeface="微软雅黑" pitchFamily="34" charset="-122"/>
                <a:cs typeface="Noto Sans SC" panose="020B0200000000000000" pitchFamily="34" charset="-120"/>
              </a:rPr>
              <a:t>补充案例</a:t>
            </a:r>
            <a:endParaRPr lang="en-US" sz="1600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21" name="Shape 22"/>
          <p:cNvSpPr/>
          <p:nvPr/>
        </p:nvSpPr>
        <p:spPr>
          <a:xfrm>
            <a:off x="4403054" y="7259968"/>
            <a:ext cx="1665512" cy="457200"/>
          </a:xfrm>
          <a:custGeom>
            <a:avLst/>
            <a:gdLst/>
            <a:ahLst/>
            <a:cxnLst/>
            <a:rect l="l" t="t" r="r" b="b"/>
            <a:pathLst>
              <a:path w="1562100" h="457200">
                <a:moveTo>
                  <a:pt x="228600" y="0"/>
                </a:moveTo>
                <a:lnTo>
                  <a:pt x="1333500" y="0"/>
                </a:lnTo>
                <a:cubicBezTo>
                  <a:pt x="1459668" y="0"/>
                  <a:pt x="1562100" y="102432"/>
                  <a:pt x="1562100" y="228600"/>
                </a:cubicBezTo>
                <a:lnTo>
                  <a:pt x="1562100" y="228600"/>
                </a:lnTo>
                <a:cubicBezTo>
                  <a:pt x="1562100" y="354768"/>
                  <a:pt x="1459668" y="457200"/>
                  <a:pt x="1333500" y="457200"/>
                </a:cubicBezTo>
                <a:lnTo>
                  <a:pt x="228600" y="457200"/>
                </a:lnTo>
                <a:cubicBezTo>
                  <a:pt x="102432" y="457200"/>
                  <a:pt x="0" y="354768"/>
                  <a:pt x="0" y="228600"/>
                </a:cubicBezTo>
                <a:lnTo>
                  <a:pt x="0" y="228600"/>
                </a:lnTo>
                <a:cubicBezTo>
                  <a:pt x="0" y="102432"/>
                  <a:pt x="102432" y="0"/>
                  <a:pt x="228600" y="0"/>
                </a:cubicBezTo>
                <a:close/>
              </a:path>
            </a:pathLst>
          </a:custGeom>
          <a:solidFill>
            <a:srgbClr val="8C92AC">
              <a:alpha val="10196"/>
            </a:srgbClr>
          </a:solidFill>
        </p:spPr>
      </p:sp>
      <p:sp>
        <p:nvSpPr>
          <p:cNvPr id="22" name="Shape 23"/>
          <p:cNvSpPr/>
          <p:nvPr/>
        </p:nvSpPr>
        <p:spPr>
          <a:xfrm>
            <a:off x="4685796" y="7412312"/>
            <a:ext cx="190500" cy="152400"/>
          </a:xfrm>
          <a:custGeom>
            <a:avLst/>
            <a:gdLst/>
            <a:ahLst/>
            <a:cxnLst/>
            <a:rect l="l" t="t" r="r" b="b"/>
            <a:pathLst>
              <a:path w="190500" h="152400">
                <a:moveTo>
                  <a:pt x="95250" y="4763"/>
                </a:moveTo>
                <a:cubicBezTo>
                  <a:pt x="112335" y="4763"/>
                  <a:pt x="126206" y="18634"/>
                  <a:pt x="126206" y="35719"/>
                </a:cubicBezTo>
                <a:cubicBezTo>
                  <a:pt x="126206" y="52804"/>
                  <a:pt x="112335" y="66675"/>
                  <a:pt x="95250" y="66675"/>
                </a:cubicBezTo>
                <a:cubicBezTo>
                  <a:pt x="78165" y="66675"/>
                  <a:pt x="64294" y="52804"/>
                  <a:pt x="64294" y="35719"/>
                </a:cubicBezTo>
                <a:cubicBezTo>
                  <a:pt x="64294" y="18634"/>
                  <a:pt x="78165" y="4763"/>
                  <a:pt x="95250" y="4763"/>
                </a:cubicBezTo>
                <a:close/>
                <a:moveTo>
                  <a:pt x="28575" y="26194"/>
                </a:moveTo>
                <a:cubicBezTo>
                  <a:pt x="40403" y="26194"/>
                  <a:pt x="50006" y="35797"/>
                  <a:pt x="50006" y="47625"/>
                </a:cubicBezTo>
                <a:cubicBezTo>
                  <a:pt x="50006" y="59453"/>
                  <a:pt x="40403" y="69056"/>
                  <a:pt x="28575" y="69056"/>
                </a:cubicBezTo>
                <a:cubicBezTo>
                  <a:pt x="16747" y="69056"/>
                  <a:pt x="7144" y="59453"/>
                  <a:pt x="7144" y="47625"/>
                </a:cubicBezTo>
                <a:cubicBezTo>
                  <a:pt x="7144" y="35797"/>
                  <a:pt x="16747" y="26194"/>
                  <a:pt x="28575" y="26194"/>
                </a:cubicBezTo>
                <a:close/>
                <a:moveTo>
                  <a:pt x="0" y="123825"/>
                </a:moveTo>
                <a:cubicBezTo>
                  <a:pt x="0" y="102781"/>
                  <a:pt x="17056" y="85725"/>
                  <a:pt x="38100" y="85725"/>
                </a:cubicBezTo>
                <a:cubicBezTo>
                  <a:pt x="41910" y="85725"/>
                  <a:pt x="45601" y="86291"/>
                  <a:pt x="49084" y="87332"/>
                </a:cubicBezTo>
                <a:cubicBezTo>
                  <a:pt x="39291" y="98286"/>
                  <a:pt x="33338" y="112752"/>
                  <a:pt x="33338" y="128588"/>
                </a:cubicBezTo>
                <a:lnTo>
                  <a:pt x="33338" y="133350"/>
                </a:lnTo>
                <a:cubicBezTo>
                  <a:pt x="33338" y="136743"/>
                  <a:pt x="34052" y="139958"/>
                  <a:pt x="35332" y="142875"/>
                </a:cubicBezTo>
                <a:lnTo>
                  <a:pt x="9525" y="142875"/>
                </a:lnTo>
                <a:cubicBezTo>
                  <a:pt x="4256" y="142875"/>
                  <a:pt x="0" y="138619"/>
                  <a:pt x="0" y="133350"/>
                </a:cubicBezTo>
                <a:lnTo>
                  <a:pt x="0" y="123825"/>
                </a:lnTo>
                <a:close/>
                <a:moveTo>
                  <a:pt x="155168" y="142875"/>
                </a:moveTo>
                <a:cubicBezTo>
                  <a:pt x="156448" y="139958"/>
                  <a:pt x="157163" y="136743"/>
                  <a:pt x="157163" y="133350"/>
                </a:cubicBezTo>
                <a:lnTo>
                  <a:pt x="157163" y="128588"/>
                </a:lnTo>
                <a:cubicBezTo>
                  <a:pt x="157163" y="112752"/>
                  <a:pt x="151209" y="98286"/>
                  <a:pt x="141416" y="87332"/>
                </a:cubicBezTo>
                <a:cubicBezTo>
                  <a:pt x="144899" y="86291"/>
                  <a:pt x="148590" y="85725"/>
                  <a:pt x="152400" y="85725"/>
                </a:cubicBezTo>
                <a:cubicBezTo>
                  <a:pt x="173444" y="85725"/>
                  <a:pt x="190500" y="102781"/>
                  <a:pt x="190500" y="123825"/>
                </a:cubicBezTo>
                <a:lnTo>
                  <a:pt x="190500" y="133350"/>
                </a:lnTo>
                <a:cubicBezTo>
                  <a:pt x="190500" y="138619"/>
                  <a:pt x="186244" y="142875"/>
                  <a:pt x="180975" y="142875"/>
                </a:cubicBezTo>
                <a:lnTo>
                  <a:pt x="155168" y="142875"/>
                </a:lnTo>
                <a:close/>
                <a:moveTo>
                  <a:pt x="140494" y="47625"/>
                </a:moveTo>
                <a:cubicBezTo>
                  <a:pt x="140494" y="35797"/>
                  <a:pt x="150097" y="26194"/>
                  <a:pt x="161925" y="26194"/>
                </a:cubicBezTo>
                <a:cubicBezTo>
                  <a:pt x="173753" y="26194"/>
                  <a:pt x="183356" y="35797"/>
                  <a:pt x="183356" y="47625"/>
                </a:cubicBezTo>
                <a:cubicBezTo>
                  <a:pt x="183356" y="59453"/>
                  <a:pt x="173753" y="69056"/>
                  <a:pt x="161925" y="69056"/>
                </a:cubicBezTo>
                <a:cubicBezTo>
                  <a:pt x="150097" y="69056"/>
                  <a:pt x="140494" y="59453"/>
                  <a:pt x="140494" y="47625"/>
                </a:cubicBezTo>
                <a:close/>
                <a:moveTo>
                  <a:pt x="47625" y="128588"/>
                </a:moveTo>
                <a:cubicBezTo>
                  <a:pt x="47625" y="102275"/>
                  <a:pt x="68937" y="80962"/>
                  <a:pt x="95250" y="80962"/>
                </a:cubicBezTo>
                <a:cubicBezTo>
                  <a:pt x="121563" y="80962"/>
                  <a:pt x="142875" y="102275"/>
                  <a:pt x="142875" y="128588"/>
                </a:cubicBezTo>
                <a:lnTo>
                  <a:pt x="142875" y="133350"/>
                </a:lnTo>
                <a:cubicBezTo>
                  <a:pt x="142875" y="138619"/>
                  <a:pt x="138619" y="142875"/>
                  <a:pt x="133350" y="142875"/>
                </a:cubicBezTo>
                <a:lnTo>
                  <a:pt x="57150" y="142875"/>
                </a:lnTo>
                <a:cubicBezTo>
                  <a:pt x="51881" y="142875"/>
                  <a:pt x="47625" y="138619"/>
                  <a:pt x="47625" y="133350"/>
                </a:cubicBezTo>
                <a:lnTo>
                  <a:pt x="47625" y="128588"/>
                </a:lnTo>
                <a:close/>
              </a:path>
            </a:pathLst>
          </a:custGeom>
          <a:solidFill>
            <a:srgbClr val="8C92AC"/>
          </a:solidFill>
        </p:spPr>
      </p:sp>
      <p:sp>
        <p:nvSpPr>
          <p:cNvPr id="23" name="Text 24"/>
          <p:cNvSpPr/>
          <p:nvPr/>
        </p:nvSpPr>
        <p:spPr>
          <a:xfrm>
            <a:off x="4914369" y="7374230"/>
            <a:ext cx="9906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altLang="zh-CN" sz="1200" b="1" dirty="0" err="1">
                <a:solidFill>
                  <a:srgbClr val="2C2C2C"/>
                </a:solidFill>
                <a:latin typeface="微软雅黑" pitchFamily="34" charset="-122"/>
                <a:ea typeface="微软雅黑" pitchFamily="34" charset="-122"/>
                <a:cs typeface="Noto Sans SC" panose="020B0200000000000000" pitchFamily="34" charset="-120"/>
              </a:rPr>
              <a:t>参与</a:t>
            </a:r>
            <a:r>
              <a:rPr lang="zh-CN" altLang="en-US" sz="1200" b="1" dirty="0">
                <a:solidFill>
                  <a:srgbClr val="2C2C2C"/>
                </a:solidFill>
                <a:latin typeface="微软雅黑" pitchFamily="34" charset="-122"/>
                <a:ea typeface="微软雅黑" pitchFamily="34" charset="-122"/>
                <a:cs typeface="Noto Sans SC" panose="020B0200000000000000" pitchFamily="34" charset="-120"/>
              </a:rPr>
              <a:t>社区讨论</a:t>
            </a:r>
            <a:endParaRPr lang="en-US" sz="1600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41" name="文本框 40"/>
          <p:cNvSpPr txBox="1"/>
          <p:nvPr/>
        </p:nvSpPr>
        <p:spPr>
          <a:xfrm>
            <a:off x="10349034" y="954303"/>
            <a:ext cx="303841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b="1" dirty="0">
                <a:latin typeface="微软雅黑" pitchFamily="34" charset="-122"/>
                <a:ea typeface="微软雅黑" pitchFamily="34" charset="-122"/>
              </a:rPr>
              <a:t>cann-recipes-infer </a:t>
            </a:r>
            <a:r>
              <a:rPr lang="zh-CN" altLang="en-US" b="1" dirty="0">
                <a:latin typeface="微软雅黑" pitchFamily="34" charset="-122"/>
                <a:ea typeface="微软雅黑" pitchFamily="34" charset="-122"/>
              </a:rPr>
              <a:t>代码仓</a:t>
            </a:r>
            <a:endParaRPr lang="zh-CN" altLang="en-US" b="1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43" name="矩形 42"/>
          <p:cNvSpPr/>
          <p:nvPr/>
        </p:nvSpPr>
        <p:spPr>
          <a:xfrm>
            <a:off x="10697452" y="4574020"/>
            <a:ext cx="207140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 b="1" dirty="0">
                <a:latin typeface="微软雅黑" pitchFamily="34" charset="-122"/>
                <a:ea typeface="微软雅黑" pitchFamily="34" charset="-122"/>
              </a:rPr>
              <a:t>CANNBot </a:t>
            </a:r>
            <a:r>
              <a:rPr lang="zh-CN" altLang="en-US" b="1" dirty="0">
                <a:latin typeface="微软雅黑" pitchFamily="34" charset="-122"/>
                <a:ea typeface="微软雅黑" pitchFamily="34" charset="-122"/>
              </a:rPr>
              <a:t>代码仓</a:t>
            </a:r>
            <a:endParaRPr lang="zh-CN" altLang="en-US" b="1" dirty="0">
              <a:latin typeface="微软雅黑" pitchFamily="34" charset="-122"/>
              <a:ea typeface="微软雅黑" pitchFamily="34" charset="-122"/>
            </a:endParaRPr>
          </a:p>
        </p:txBody>
      </p:sp>
      <p:pic>
        <p:nvPicPr>
          <p:cNvPr id="44" name="图片 43"/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4187" t="7149" r="4187" b="6367"/>
          <a:stretch>
            <a:fillRect/>
          </a:stretch>
        </p:blipFill>
        <p:spPr>
          <a:xfrm>
            <a:off x="10057344" y="1349214"/>
            <a:ext cx="3330103" cy="2880000"/>
          </a:xfrm>
          <a:prstGeom prst="rect">
            <a:avLst/>
          </a:prstGeom>
        </p:spPr>
      </p:pic>
      <p:pic>
        <p:nvPicPr>
          <p:cNvPr id="46" name="图片 45"/>
          <p:cNvPicPr>
            <a:picLocks noChangeAspect="1"/>
          </p:cNvPicPr>
          <p:nvPr/>
        </p:nvPicPr>
        <p:blipFill rotWithShape="1">
          <a:blip r:embed="rId5"/>
          <a:srcRect l="2531" t="5512" r="2967" b="1689"/>
          <a:stretch>
            <a:fillRect/>
          </a:stretch>
        </p:blipFill>
        <p:spPr>
          <a:xfrm>
            <a:off x="10434918" y="4943352"/>
            <a:ext cx="2861534" cy="2880000"/>
          </a:xfrm>
          <a:prstGeom prst="rect">
            <a:avLst/>
          </a:prstGeom>
        </p:spPr>
      </p:pic>
      <p:sp>
        <p:nvSpPr>
          <p:cNvPr id="49" name="Shape 81"/>
          <p:cNvSpPr/>
          <p:nvPr/>
        </p:nvSpPr>
        <p:spPr>
          <a:xfrm>
            <a:off x="2004063" y="3097674"/>
            <a:ext cx="1748404" cy="31237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13970">
            <a:solidFill>
              <a:srgbClr val="C00000"/>
            </a:solidFill>
            <a:prstDash val="solid"/>
          </a:ln>
        </p:spPr>
        <p:txBody>
          <a:bodyPr/>
          <a:lstStyle/>
          <a:p>
            <a:pPr algn="ctr">
              <a:spcBef>
                <a:spcPts val="1200"/>
              </a:spcBef>
              <a:spcAft>
                <a:spcPts val="600"/>
              </a:spcAft>
            </a:pPr>
            <a:r>
              <a:rPr lang="en-US" altLang="zh-CN" sz="1200" dirty="0">
                <a:latin typeface="微软雅黑" pitchFamily="34" charset="-122"/>
                <a:ea typeface="微软雅黑" pitchFamily="34" charset="-122"/>
              </a:rPr>
              <a:t>Gemma-4</a:t>
            </a:r>
            <a:endParaRPr sz="1200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50" name="Shape 81"/>
          <p:cNvSpPr/>
          <p:nvPr/>
        </p:nvSpPr>
        <p:spPr>
          <a:xfrm>
            <a:off x="4088848" y="2571167"/>
            <a:ext cx="1748404" cy="31237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13970">
            <a:solidFill>
              <a:srgbClr val="C00000"/>
            </a:solidFill>
            <a:prstDash val="solid"/>
          </a:ln>
        </p:spPr>
        <p:txBody>
          <a:bodyPr/>
          <a:lstStyle/>
          <a:p>
            <a:pPr algn="ctr"/>
            <a:r>
              <a:rPr lang="en-US" altLang="zh-CN" sz="1200" dirty="0" err="1">
                <a:latin typeface="微软雅黑" pitchFamily="34" charset="-122"/>
                <a:ea typeface="微软雅黑" pitchFamily="34" charset="-122"/>
              </a:rPr>
              <a:t>Longcat</a:t>
            </a:r>
            <a:r>
              <a:rPr lang="en-US" altLang="zh-CN" sz="1200" dirty="0">
                <a:latin typeface="微软雅黑" pitchFamily="34" charset="-122"/>
                <a:ea typeface="微软雅黑" pitchFamily="34" charset="-122"/>
              </a:rPr>
              <a:t>-Flash-Lite</a:t>
            </a:r>
            <a:endParaRPr sz="1200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51" name="Shape 81"/>
          <p:cNvSpPr/>
          <p:nvPr/>
        </p:nvSpPr>
        <p:spPr>
          <a:xfrm>
            <a:off x="1997887" y="2571167"/>
            <a:ext cx="1760757" cy="31237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13970">
            <a:solidFill>
              <a:srgbClr val="C00000"/>
            </a:solidFill>
            <a:prstDash val="solid"/>
          </a:ln>
        </p:spPr>
        <p:txBody>
          <a:bodyPr/>
          <a:lstStyle/>
          <a:p>
            <a:pPr algn="ctr"/>
            <a:r>
              <a:rPr lang="en-US" sz="1200" dirty="0">
                <a:latin typeface="微软雅黑" pitchFamily="34" charset="-122"/>
                <a:ea typeface="微软雅黑" pitchFamily="34" charset="-122"/>
              </a:rPr>
              <a:t>Hunyuan3</a:t>
            </a:r>
            <a:endParaRPr sz="1200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52" name="Shape 81"/>
          <p:cNvSpPr/>
          <p:nvPr/>
        </p:nvSpPr>
        <p:spPr>
          <a:xfrm>
            <a:off x="4092598" y="3097674"/>
            <a:ext cx="1748404" cy="312920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13970">
            <a:solidFill>
              <a:srgbClr val="C00000"/>
            </a:solidFill>
            <a:prstDash val="solid"/>
          </a:ln>
        </p:spPr>
        <p:txBody>
          <a:bodyPr/>
          <a:lstStyle/>
          <a:p>
            <a:pPr algn="ctr"/>
            <a:r>
              <a:rPr lang="en-US" sz="1200" dirty="0">
                <a:latin typeface="微软雅黑" pitchFamily="34" charset="-122"/>
                <a:ea typeface="微软雅黑" pitchFamily="34" charset="-122"/>
              </a:rPr>
              <a:t>Step3.7-Flash</a:t>
            </a:r>
            <a:endParaRPr sz="1200" dirty="0">
              <a:latin typeface="微软雅黑" pitchFamily="34" charset="-122"/>
              <a:ea typeface="微软雅黑" pitchFamily="34" charset="-122"/>
            </a:endParaRPr>
          </a:p>
        </p:txBody>
      </p:sp>
    </p:spTree>
  </p:cSld>
  <p:clrMapOvr>
    <a:masterClrMapping/>
  </p:clrMapOvr>
  <p:transition>
    <p:fade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68400" y="1612900"/>
            <a:ext cx="4813300" cy="123190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7200" dirty="0">
                <a:solidFill>
                  <a:srgbClr val="000000"/>
                </a:solidFill>
                <a:latin typeface="微软雅黑" pitchFamily="34" charset="-122"/>
                <a:ea typeface="微软雅黑" pitchFamily="34" charset="-122"/>
                <a:cs typeface="微软雅黑" pitchFamily="34" charset="-120"/>
              </a:rPr>
              <a:t>Thank you.</a:t>
            </a:r>
            <a:endParaRPr lang="en-US" sz="7200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3" name="Text 1"/>
          <p:cNvSpPr/>
          <p:nvPr/>
        </p:nvSpPr>
        <p:spPr>
          <a:xfrm>
            <a:off x="8534400" y="1854200"/>
            <a:ext cx="6261100" cy="30988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600" dirty="0">
                <a:solidFill>
                  <a:srgbClr val="7F7F7F"/>
                </a:solidFill>
                <a:latin typeface="微软雅黑" pitchFamily="34" charset="-122"/>
                <a:ea typeface="微软雅黑" pitchFamily="34" charset="-122"/>
                <a:cs typeface="MiSans" pitchFamily="34" charset="-120"/>
              </a:rPr>
              <a:t>社区愿景：打造开放易用、技术领先的AI算力新生态</a:t>
            </a:r>
            <a:endParaRPr lang="en-US" sz="1600" dirty="0">
              <a:latin typeface="微软雅黑" pitchFamily="34" charset="-122"/>
              <a:ea typeface="微软雅黑" pitchFamily="34" charset="-122"/>
            </a:endParaRPr>
          </a:p>
          <a:p>
            <a:pPr algn="l">
              <a:lnSpc>
                <a:spcPct val="150000"/>
              </a:lnSpc>
            </a:pPr>
            <a:r>
              <a:rPr lang="en-US" sz="1600" dirty="0">
                <a:solidFill>
                  <a:srgbClr val="7F7F7F"/>
                </a:solidFill>
                <a:latin typeface="微软雅黑" pitchFamily="34" charset="-122"/>
                <a:ea typeface="微软雅黑" pitchFamily="34" charset="-122"/>
                <a:cs typeface="MiSans" pitchFamily="34" charset="-120"/>
              </a:rPr>
              <a:t>社区使命：使能开发者基于CANN社区自主研究创新，构筑根深叶茂、跨产业协同共享共赢的CANN生态</a:t>
            </a:r>
            <a:endParaRPr lang="en-US" sz="1600" dirty="0">
              <a:latin typeface="微软雅黑" pitchFamily="34" charset="-122"/>
              <a:ea typeface="微软雅黑" pitchFamily="34" charset="-122"/>
            </a:endParaRPr>
          </a:p>
          <a:p>
            <a:pPr algn="l">
              <a:lnSpc>
                <a:spcPct val="150000"/>
              </a:lnSpc>
            </a:pPr>
            <a:r>
              <a:rPr lang="en-US" sz="1600" dirty="0">
                <a:solidFill>
                  <a:srgbClr val="7F7F7F"/>
                </a:solidFill>
                <a:latin typeface="微软雅黑" pitchFamily="34" charset="-122"/>
                <a:ea typeface="微软雅黑" pitchFamily="34" charset="-122"/>
                <a:cs typeface="MiSans" pitchFamily="34" charset="-120"/>
              </a:rPr>
              <a:t> </a:t>
            </a:r>
            <a:endParaRPr lang="en-US" sz="1600" dirty="0">
              <a:latin typeface="微软雅黑" pitchFamily="34" charset="-122"/>
              <a:ea typeface="微软雅黑" pitchFamily="34" charset="-122"/>
            </a:endParaRPr>
          </a:p>
          <a:p>
            <a:pPr algn="l">
              <a:lnSpc>
                <a:spcPct val="150000"/>
              </a:lnSpc>
            </a:pPr>
            <a:r>
              <a:rPr lang="en-US" sz="1330" dirty="0">
                <a:solidFill>
                  <a:srgbClr val="7F7F7F"/>
                </a:solidFill>
                <a:latin typeface="微软雅黑" pitchFamily="34" charset="-122"/>
                <a:ea typeface="微软雅黑" pitchFamily="34" charset="-122"/>
                <a:cs typeface="微软雅黑" pitchFamily="34" charset="-120"/>
              </a:rPr>
              <a:t>Vision: Building an Open, Easy-to-Use, and Technology-leading AI Computing Ecosystem</a:t>
            </a:r>
            <a:endParaRPr lang="en-US" sz="1600" dirty="0">
              <a:latin typeface="微软雅黑" pitchFamily="34" charset="-122"/>
              <a:ea typeface="微软雅黑" pitchFamily="34" charset="-122"/>
            </a:endParaRPr>
          </a:p>
          <a:p>
            <a:pPr algn="l">
              <a:lnSpc>
                <a:spcPct val="150000"/>
              </a:lnSpc>
            </a:pPr>
            <a:r>
              <a:rPr lang="en-US" sz="1330" dirty="0">
                <a:solidFill>
                  <a:srgbClr val="7F7F7F"/>
                </a:solidFill>
                <a:latin typeface="微软雅黑" pitchFamily="34" charset="-122"/>
                <a:ea typeface="微软雅黑" pitchFamily="34" charset="-122"/>
                <a:cs typeface="微软雅黑" pitchFamily="34" charset="-120"/>
              </a:rPr>
              <a:t>Mission: Enable developers to independently research and innovate based on the CANN community and build a win-win CANN ecosystem with deep roots and cross-industry collaboration and sharing.</a:t>
            </a:r>
            <a:endParaRPr lang="en-US" sz="1600" dirty="0">
              <a:latin typeface="微软雅黑" pitchFamily="34" charset="-122"/>
              <a:ea typeface="微软雅黑" pitchFamily="34" charset="-122"/>
            </a:endParaRPr>
          </a:p>
        </p:txBody>
      </p:sp>
      <p:pic>
        <p:nvPicPr>
          <p:cNvPr id="4" name="Image 0" descr="https://kimi-img.moonshot.cn/pub/slides/okc/4rfbomebqqupm/mnt/agents/output/template_pptd/images/image_3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232900" y="5245100"/>
            <a:ext cx="2133600" cy="2133600"/>
          </a:xfrm>
          <a:prstGeom prst="rect">
            <a:avLst/>
          </a:prstGeom>
        </p:spPr>
      </p:pic>
      <p:pic>
        <p:nvPicPr>
          <p:cNvPr id="5" name="Image 1" descr="https://kimi-img.moonshot.cn/pub/slides/okc/4rfbomebqqupm/mnt/agents/output/template_pptd/images/image_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595100" y="5194300"/>
            <a:ext cx="2247900" cy="224790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9410700" y="7378700"/>
            <a:ext cx="1905000" cy="33020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1330" dirty="0">
                <a:solidFill>
                  <a:srgbClr val="000000"/>
                </a:solidFill>
                <a:latin typeface="微软雅黑" pitchFamily="34" charset="-122"/>
                <a:ea typeface="微软雅黑" pitchFamily="34" charset="-122"/>
                <a:cs typeface="MiSans" pitchFamily="34" charset="-120"/>
              </a:rPr>
              <a:t>上CANN社区获取干货</a:t>
            </a:r>
            <a:endParaRPr lang="en-US" sz="1330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7" name="Text 3"/>
          <p:cNvSpPr/>
          <p:nvPr/>
        </p:nvSpPr>
        <p:spPr>
          <a:xfrm>
            <a:off x="11658600" y="7493000"/>
            <a:ext cx="2247900" cy="33020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1330" dirty="0">
                <a:solidFill>
                  <a:srgbClr val="000000"/>
                </a:solidFill>
                <a:latin typeface="微软雅黑" pitchFamily="34" charset="-122"/>
                <a:ea typeface="微软雅黑" pitchFamily="34" charset="-122"/>
                <a:cs typeface="MiSans" pitchFamily="34" charset="-120"/>
              </a:rPr>
              <a:t>关注CANN公众号获取资讯</a:t>
            </a:r>
            <a:endParaRPr lang="en-US" sz="1330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8" name="Text 4"/>
          <p:cNvSpPr/>
          <p:nvPr/>
        </p:nvSpPr>
        <p:spPr>
          <a:xfrm>
            <a:off x="825500" y="8178800"/>
            <a:ext cx="2540000" cy="3302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300" dirty="0">
                <a:solidFill>
                  <a:srgbClr val="7F7F7F"/>
                </a:solidFill>
                <a:latin typeface="微软雅黑" pitchFamily="34" charset="-122"/>
                <a:ea typeface="微软雅黑" pitchFamily="34" charset="-122"/>
                <a:cs typeface="MiSans" pitchFamily="34" charset="-120"/>
              </a:rPr>
              <a:t>https://gitcode.com/cann</a:t>
            </a:r>
            <a:endParaRPr lang="en-US" sz="1300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9" name="Text 5"/>
          <p:cNvSpPr/>
          <p:nvPr/>
        </p:nvSpPr>
        <p:spPr>
          <a:xfrm>
            <a:off x="7620000" y="8178800"/>
            <a:ext cx="1016000" cy="3302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fld id="{454C7CE0-31FC-4399-A603-780C942B42AE}" type="slidenum">
              <a:rPr lang="en-US" sz="1300" dirty="0">
                <a:solidFill>
                  <a:srgbClr val="7F7F7F"/>
                </a:solidFill>
                <a:latin typeface="微软雅黑" pitchFamily="34" charset="-122"/>
                <a:ea typeface="微软雅黑" pitchFamily="34" charset="-122"/>
                <a:cs typeface="MiSans" pitchFamily="34" charset="-120"/>
              </a:rPr>
            </a:fld>
            <a:endParaRPr lang="en-US" sz="1300" dirty="0">
              <a:latin typeface="微软雅黑" pitchFamily="34" charset="-122"/>
              <a:ea typeface="微软雅黑" pitchFamily="34" charset="-122"/>
            </a:endParaRPr>
          </a:p>
        </p:txBody>
      </p:sp>
      <p:pic>
        <p:nvPicPr>
          <p:cNvPr id="10" name="Image 2" descr="https://kimi-img.moonshot.cn/pub/slides/okc/4rfbomebqqupm/mnt/agents/output/template_pptd/images/image_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512800" y="8051800"/>
            <a:ext cx="1752600" cy="469900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8698</Words>
  <Application>WPS 演示</Application>
  <PresentationFormat>自定义</PresentationFormat>
  <Paragraphs>673</Paragraphs>
  <Slides>21</Slides>
  <Notes>21</Notes>
  <HiddenSlides>0</HiddenSlides>
  <MMClips>0</MMClips>
  <ScaleCrop>false</ScaleCrop>
  <HeadingPairs>
    <vt:vector size="6" baseType="variant">
      <vt:variant>
        <vt:lpstr>已用的字体</vt:lpstr>
      </vt:variant>
      <vt:variant>
        <vt:i4>23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21</vt:i4>
      </vt:variant>
    </vt:vector>
  </HeadingPairs>
  <TitlesOfParts>
    <vt:vector size="46" baseType="lpstr">
      <vt:lpstr>Arial</vt:lpstr>
      <vt:lpstr>宋体</vt:lpstr>
      <vt:lpstr>Wingdings</vt:lpstr>
      <vt:lpstr>微软雅黑</vt:lpstr>
      <vt:lpstr>微软雅黑</vt:lpstr>
      <vt:lpstr>MiSans</vt:lpstr>
      <vt:lpstr>苹方-简</vt:lpstr>
      <vt:lpstr>微软雅黑</vt:lpstr>
      <vt:lpstr>宋体</vt:lpstr>
      <vt:lpstr>汉仪书宋二KW</vt:lpstr>
      <vt:lpstr>Arial Unicode MS</vt:lpstr>
      <vt:lpstr>等线</vt:lpstr>
      <vt:lpstr>Helvetica</vt:lpstr>
      <vt:lpstr>Microsoft YaHei</vt:lpstr>
      <vt:lpstr>Noto Sans SC</vt:lpstr>
      <vt:lpstr>Calibri</vt:lpstr>
      <vt:lpstr>Helvetica</vt:lpstr>
      <vt:lpstr>MiSans</vt:lpstr>
      <vt:lpstr>Microsoft YaHei</vt:lpstr>
      <vt:lpstr>Noto Sans SC</vt:lpstr>
      <vt:lpstr>Wingdings</vt:lpstr>
      <vt:lpstr>MS PGothic</vt:lpstr>
      <vt:lpstr>Apple Color Emoji</vt:lpstr>
      <vt:lpstr>Office Theme</vt:lpstr>
      <vt:lpstr>1_Office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Moonshot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模型 Agent 基础：从 Skill 到推理优化体系</dc:title>
  <dc:creator>Kimi</dc:creator>
  <dc:subject>大语言模型基础：从文本到推理系统</dc:subject>
  <cp:lastModifiedBy>zihengwang</cp:lastModifiedBy>
  <cp:revision>92</cp:revision>
  <dcterms:created xsi:type="dcterms:W3CDTF">2026-08-24T02:14:47Z</dcterms:created>
  <dcterms:modified xsi:type="dcterms:W3CDTF">2026-08-24T02:14:47Z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IGC">
    <vt:lpwstr>{"Label":"大语言模型基础：从文本到推理系统","ContentProducer":"001191110108MACG2KBH8F10000","ProduceID":"19eee99c-b792-8f04-8000-00001c375d6e","ReservedCode1":"","ContentPropagator":"001191110108MACG2KBH8F20000","PropagateID":"19eee8b1-31f2-8433-8000-0941b2c9f6ec","ReservedCode2":""}</vt:lpwstr>
  </property>
  <property fmtid="{D5CDD505-2E9C-101B-9397-08002B2CF9AE}" pid="3" name="ICV">
    <vt:lpwstr>CEAB937233CBA1F5C2F5866AD61D6F36_42</vt:lpwstr>
  </property>
  <property fmtid="{D5CDD505-2E9C-101B-9397-08002B2CF9AE}" pid="4" name="KSOProductBuildVer">
    <vt:lpwstr>2052-12.1.26046.26046</vt:lpwstr>
  </property>
</Properties>
</file>