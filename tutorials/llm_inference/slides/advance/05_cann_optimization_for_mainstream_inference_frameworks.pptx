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79" r:id="rId7"/>
    <p:sldId id="327" r:id="rId8"/>
    <p:sldId id="328" r:id="rId9"/>
    <p:sldId id="329" r:id="rId10"/>
    <p:sldId id="330" r:id="rId11"/>
    <p:sldId id="331" r:id="rId12"/>
    <p:sldId id="333" r:id="rId13"/>
    <p:sldId id="334" r:id="rId14"/>
    <p:sldId id="335" r:id="rId15"/>
    <p:sldId id="336" r:id="rId16"/>
    <p:sldId id="337" r:id="rId17"/>
    <p:sldId id="338" r:id="rId18"/>
    <p:sldId id="339" r:id="rId19"/>
    <p:sldId id="340" r:id="rId20"/>
    <p:sldId id="341" r:id="rId21"/>
    <p:sldId id="342" r:id="rId22"/>
    <p:sldId id="343" r:id="rId23"/>
    <p:sldId id="344" r:id="rId24"/>
    <p:sldId id="345" r:id="rId25"/>
    <p:sldId id="346" r:id="rId26"/>
    <p:sldId id="347" r:id="rId27"/>
    <p:sldId id="348" r:id="rId28"/>
    <p:sldId id="349" r:id="rId29"/>
    <p:sldId id="350" r:id="rId30"/>
    <p:sldId id="351" r:id="rId31"/>
    <p:sldId id="352" r:id="rId32"/>
    <p:sldId id="315" r:id="rId33"/>
    <p:sldId id="316" r:id="rId34"/>
    <p:sldId id="317" r:id="rId35"/>
    <p:sldId id="318" r:id="rId36"/>
    <p:sldId id="319" r:id="rId37"/>
    <p:sldId id="320" r:id="rId38"/>
    <p:sldId id="321" r:id="rId39"/>
    <p:sldId id="322" r:id="rId40"/>
    <p:sldId id="323" r:id="rId41"/>
    <p:sldId id="324" r:id="rId42"/>
    <p:sldId id="325" r:id="rId43"/>
    <p:sldId id="275" r:id="rId44"/>
  </p:sldIdLst>
  <p:sldSz cx="16256000" cy="9144000"/>
  <p:notesSz cx="9144000" cy="16256000"/>
  <p:embeddedFontLst>
    <p:embeddedFont>
      <p:font typeface="微软雅黑" panose="020B0503020204020204" charset="-122"/>
      <p:regular r:id="rId48"/>
    </p:embeddedFont>
    <p:embeddedFont>
      <p:font typeface="JetBrains Mono" panose="02000009000000000000"/>
      <p:regular r:id="rId49"/>
      <p:bold r:id="rId50"/>
      <p:italic r:id="rId51"/>
      <p:boldItalic r:id="rId52"/>
    </p:embeddedFont>
    <p:embeddedFont>
      <p:font typeface="Calibri" panose="020F0502020204030204"/>
      <p:regular r:id="rId53"/>
      <p:bold r:id="rId54"/>
      <p:italic r:id="rId55"/>
      <p:boldItalic r:id="rId56"/>
    </p:embeddedFont>
    <p:embeddedFont>
      <p:font typeface="等线" panose="02010600030101010101" pitchFamily="2" charset="-122"/>
      <p:regular r:id="rId57"/>
    </p:embeddedFont>
    <p:embeddedFont>
      <p:font typeface="黑体" panose="02010609060101010101" pitchFamily="49" charset="-122"/>
      <p:regular r:id="rId58"/>
    </p:embeddedFont>
    <p:embeddedFont>
      <p:font typeface="Liter" panose="02000503030000020004" pitchFamily="34" charset="0"/>
      <p:regular r:id="rId59"/>
    </p:embeddedFont>
    <p:embeddedFont>
      <p:font typeface="Liter" panose="02000503030000020004" pitchFamily="34" charset="-122"/>
      <p:regular r:id="rId60"/>
    </p:embeddedFont>
    <p:embeddedFont>
      <p:font typeface="Liter" panose="02000503030000020004" pitchFamily="34" charset="-120"/>
      <p:regular r:id="rId61"/>
    </p:embeddedFont>
    <p:embeddedFont>
      <p:font typeface="等线 Light" panose="02010600030101010101" charset="-122"/>
      <p:regular r:id="rId62"/>
    </p:embeddedFont>
    <p:embeddedFont>
      <p:font typeface="Calibri Light" panose="020F0302020204030204" charset="0"/>
      <p:regular r:id="rId63"/>
      <p:italic r:id="rId6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12" autoAdjust="0"/>
    <p:restoredTop sz="81515" autoAdjust="0"/>
  </p:normalViewPr>
  <p:slideViewPr>
    <p:cSldViewPr snapToGrid="0" snapToObjects="1">
      <p:cViewPr varScale="1">
        <p:scale>
          <a:sx n="99" d="100"/>
          <a:sy n="99" d="100"/>
        </p:scale>
        <p:origin x="10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4" Type="http://schemas.openxmlformats.org/officeDocument/2006/relationships/font" Target="fonts/font17.fntdata"/><Relationship Id="rId63" Type="http://schemas.openxmlformats.org/officeDocument/2006/relationships/font" Target="fonts/font16.fntdata"/><Relationship Id="rId62" Type="http://schemas.openxmlformats.org/officeDocument/2006/relationships/font" Target="fonts/font15.fntdata"/><Relationship Id="rId61" Type="http://schemas.openxmlformats.org/officeDocument/2006/relationships/font" Target="fonts/font14.fntdata"/><Relationship Id="rId60" Type="http://schemas.openxmlformats.org/officeDocument/2006/relationships/font" Target="fonts/font13.fntdata"/><Relationship Id="rId6" Type="http://schemas.openxmlformats.org/officeDocument/2006/relationships/slide" Target="slides/slide3.xml"/><Relationship Id="rId59" Type="http://schemas.openxmlformats.org/officeDocument/2006/relationships/font" Target="fonts/font12.fntdata"/><Relationship Id="rId58" Type="http://schemas.openxmlformats.org/officeDocument/2006/relationships/font" Target="fonts/font11.fntdata"/><Relationship Id="rId57" Type="http://schemas.openxmlformats.org/officeDocument/2006/relationships/font" Target="fonts/font10.fntdata"/><Relationship Id="rId56" Type="http://schemas.openxmlformats.org/officeDocument/2006/relationships/font" Target="fonts/font9.fntdata"/><Relationship Id="rId55" Type="http://schemas.openxmlformats.org/officeDocument/2006/relationships/font" Target="fonts/font8.fntdata"/><Relationship Id="rId54" Type="http://schemas.openxmlformats.org/officeDocument/2006/relationships/font" Target="fonts/font7.fntdata"/><Relationship Id="rId53" Type="http://schemas.openxmlformats.org/officeDocument/2006/relationships/font" Target="fonts/font6.fntdata"/><Relationship Id="rId52" Type="http://schemas.openxmlformats.org/officeDocument/2006/relationships/font" Target="fonts/font5.fntdata"/><Relationship Id="rId51" Type="http://schemas.openxmlformats.org/officeDocument/2006/relationships/font" Target="fonts/font4.fntdata"/><Relationship Id="rId50" Type="http://schemas.openxmlformats.org/officeDocument/2006/relationships/font" Target="fonts/font3.fntdata"/><Relationship Id="rId5" Type="http://schemas.openxmlformats.org/officeDocument/2006/relationships/slide" Target="slides/slide2.xml"/><Relationship Id="rId49" Type="http://schemas.openxmlformats.org/officeDocument/2006/relationships/font" Target="fonts/font2.fntdata"/><Relationship Id="rId48" Type="http://schemas.openxmlformats.org/officeDocument/2006/relationships/font" Target="fonts/font1.fntdata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msys.org/blog/2024-12-04-sglang-v0-4/#zero-overhead-batch-scheduler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4.xml.rels><?xml version="1.0" encoding="UTF-8" standalone="yes"?>
<Relationships xmlns="http://schemas.openxmlformats.org/package/2006/relationships"><Relationship Id="rId4" Type="http://schemas.openxmlformats.org/officeDocument/2006/relationships/hyperlink" Target="https://gitcode.com/cann/hixl" TargetMode="External"/><Relationship Id="rId3" Type="http://schemas.openxmlformats.org/officeDocument/2006/relationships/hyperlink" Target="https://gitcode.com/Ascend/memfabric_hybrid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0" dirty="0">
                <a:solidFill>
                  <a:srgbClr val="000000"/>
                </a:solidFill>
                <a:effectLst/>
                <a:latin typeface="JetBrains Mono" panose="02000009000000000000"/>
              </a:rPr>
              <a:t>这是第一节课的主题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JetBrains Mono" panose="02000009000000000000"/>
              </a:rPr>
              <a:t>——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JetBrains Mono" panose="02000009000000000000"/>
              </a:rPr>
              <a:t>大模型推理优化基础，从原理到实践。我们覆盖四个关键词：融合算子、图模式、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JetBrains Mono" panose="02000009000000000000"/>
              </a:rPr>
              <a:t>KV Cache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JetBrains Mono" panose="02000009000000000000"/>
              </a:rPr>
              <a:t>、并行。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CCC055-6D37-4DAF-99B5-DC36F3562AD1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SGLang</a:t>
            </a:r>
            <a:r>
              <a:rPr lang="zh-CN" altLang="en-US" dirty="0"/>
              <a:t>：</a:t>
            </a:r>
            <a:endParaRPr lang="zh-CN" altLang="en-US" dirty="0"/>
          </a:p>
          <a:p>
            <a:r>
              <a:rPr lang="zh-CN" altLang="en-US" dirty="0"/>
              <a:t>• 前端部分引入简化编程原语，使得生成操作和平行控制的编程变得更加直观与便捷</a:t>
            </a:r>
            <a:endParaRPr lang="zh-CN" altLang="en-US" dirty="0"/>
          </a:p>
          <a:p>
            <a:r>
              <a:rPr lang="zh-CN" altLang="en-US" dirty="0"/>
              <a:t>• 运行时环境通过RadixAttention、压缩FST等加速结构化输出的解码过程，显著提升了程序执行效率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+mn-ea"/>
                <a:cs typeface="+mn-cs"/>
              </a:rPr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/>
          </p:nvPr>
        </p:nvSpPr>
        <p:spPr>
          <a:xfrm>
            <a:off x="882689" y="6989334"/>
            <a:ext cx="7061509" cy="5718546"/>
          </a:xfrm>
          <a:prstGeom prst="rect">
            <a:avLst/>
          </a:prstGeom>
        </p:spPr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/>
          </p:nvPr>
        </p:nvSpPr>
        <p:spPr>
          <a:xfrm>
            <a:off x="882689" y="6989334"/>
            <a:ext cx="7061509" cy="5718546"/>
          </a:xfrm>
          <a:prstGeom prst="rect">
            <a:avLst/>
          </a:prstGeom>
        </p:spPr>
        <p:txBody>
          <a:bodyPr/>
          <a:p>
            <a:r>
              <a:rPr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• Paging 将连续逻辑序列映射到离散物理块，从而降低 KV Cache 碎片。
• KV block sharing 进一步复用公共前缀，适合 Parallel Sampling 和多分支生成。</a:t>
            </a:r>
            <a:endParaRPr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自我一致性</a:t>
            </a:r>
            <a:r>
              <a:rPr lang="en-US" altLang="zh-CN" dirty="0"/>
              <a:t> TTS(test-time scaling)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转化为一个持久化且可复用的树状索引系统。</a:t>
            </a:r>
            <a:endParaRPr lang="zh-CN" altLang="en-US" dirty="0"/>
          </a:p>
          <a:p>
            <a:r>
              <a:rPr lang="zh-CN" altLang="en-US" dirty="0"/>
              <a:t>框架将</a:t>
            </a:r>
            <a:r>
              <a:rPr lang="en-US" altLang="zh-CN" dirty="0"/>
              <a:t>Token</a:t>
            </a:r>
            <a:r>
              <a:rPr lang="zh-CN" altLang="en-US" dirty="0"/>
              <a:t>序列作为见</a:t>
            </a:r>
            <a:r>
              <a:rPr lang="en-US" altLang="zh-CN" dirty="0"/>
              <a:t>4</a:t>
            </a:r>
            <a:r>
              <a:rPr lang="zh-CN" altLang="en-US" dirty="0"/>
              <a:t>，其对应的</a:t>
            </a:r>
            <a:r>
              <a:rPr lang="en-US" altLang="zh-CN" dirty="0"/>
              <a:t>kvcache</a:t>
            </a:r>
            <a:r>
              <a:rPr lang="zh-CN" altLang="en-US" dirty="0"/>
              <a:t>地址作为值，存储在</a:t>
            </a:r>
            <a:r>
              <a:rPr lang="en-US" altLang="zh-CN" dirty="0"/>
              <a:t>CPU</a:t>
            </a:r>
            <a:r>
              <a:rPr lang="zh-CN" altLang="en-US" dirty="0"/>
              <a:t>维护的基数树中。</a:t>
            </a:r>
            <a:endParaRPr lang="zh-CN" altLang="en-US" dirty="0"/>
          </a:p>
          <a:p>
            <a:r>
              <a:rPr lang="zh-CN" altLang="en-US" dirty="0"/>
              <a:t>当新请求进入时，系统会自动在树中执行前缀搜索，找到已缓存的最长公共前缀，从而跳过这些</a:t>
            </a:r>
            <a:r>
              <a:rPr lang="en-US" altLang="zh-CN" dirty="0"/>
              <a:t>Token</a:t>
            </a:r>
            <a:r>
              <a:rPr lang="zh-CN" altLang="en-US" dirty="0"/>
              <a:t>的</a:t>
            </a:r>
            <a:r>
              <a:rPr lang="en-US" altLang="zh-CN" dirty="0"/>
              <a:t>prefill</a:t>
            </a:r>
            <a:r>
              <a:rPr lang="zh-CN" altLang="en-US" dirty="0"/>
              <a:t>计算。</a:t>
            </a:r>
            <a:endParaRPr lang="zh-CN" altLang="en-US" dirty="0"/>
          </a:p>
          <a:p>
            <a:r>
              <a:rPr lang="en-US" altLang="zh-CN" dirty="0"/>
              <a:t>LRU</a:t>
            </a:r>
            <a:r>
              <a:rPr lang="zh-CN" altLang="en-US" dirty="0"/>
              <a:t>淘汰机制：</a:t>
            </a:r>
            <a:r>
              <a:rPr lang="en-US" altLang="zh-CN" dirty="0"/>
              <a:t> </a:t>
            </a:r>
            <a:r>
              <a:rPr lang="zh-CN" altLang="en-US" dirty="0"/>
              <a:t>当显存耗尽时，系统通过最近最少使用策略，从叶子结点开始递归删除不再使用的缓存，为新请求腾出空间。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LRU</a:t>
            </a:r>
            <a:r>
              <a:rPr lang="zh-CN" altLang="en-US">
                <a:sym typeface="+mn-ea"/>
              </a:rPr>
              <a:t>淘汰机制：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当显存耗尽时，系统通过最近最少使用策略，从叶子结点开始递归删除不再使用的缓存，为新请求腾出空间。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Ref</a:t>
            </a:r>
            <a:r>
              <a:rPr lang="zh-CN" altLang="en-US" dirty="0"/>
              <a:t>：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>
                <a:hlinkClick r:id="rId3"/>
              </a:rPr>
              <a:t>SGLang v0.4: Zero-Overhead Batch Scheduler, Cache-Aware Load Balancer, Faster Structured Outputs - LMSYS Blog | LMSYS Org</a:t>
            </a:r>
            <a:endParaRPr lang="en-US" altLang="zh-CN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dirty="0"/>
              <a:t>https://zhuanlan.zhihu.com/p/2013294436839352295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 err="1">
                <a:hlinkClick r:id="rId3"/>
              </a:rPr>
              <a:t>memfabric</a:t>
            </a:r>
            <a:r>
              <a:rPr lang="en-US" altLang="zh-CN" dirty="0">
                <a:hlinkClick r:id="rId3"/>
              </a:rPr>
              <a:t>-hybrid:</a:t>
            </a:r>
            <a:r>
              <a:rPr lang="zh-CN" altLang="en-US" dirty="0">
                <a:hlinkClick r:id="rId3"/>
              </a:rPr>
              <a:t>基于昇腾生态的内存池化软件项目 </a:t>
            </a:r>
            <a:r>
              <a:rPr lang="en-US" altLang="zh-CN" dirty="0">
                <a:hlinkClick r:id="rId3"/>
              </a:rPr>
              <a:t>– </a:t>
            </a:r>
            <a:r>
              <a:rPr lang="en-US" altLang="zh-CN" dirty="0" err="1">
                <a:hlinkClick r:id="rId3"/>
              </a:rPr>
              <a:t>AtomGit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 err="1">
                <a:hlinkClick r:id="rId4"/>
              </a:rPr>
              <a:t>hixl</a:t>
            </a:r>
            <a:r>
              <a:rPr lang="en-US" altLang="zh-CN" dirty="0">
                <a:hlinkClick r:id="rId4"/>
              </a:rPr>
              <a:t>:</a:t>
            </a:r>
            <a:r>
              <a:rPr lang="zh-CN" altLang="en-US" dirty="0">
                <a:hlinkClick r:id="rId4"/>
              </a:rPr>
              <a:t>基于昇腾生态的单边通信库项目 </a:t>
            </a:r>
            <a:r>
              <a:rPr lang="en-US" altLang="zh-CN" dirty="0">
                <a:hlinkClick r:id="rId4"/>
              </a:rPr>
              <a:t>- </a:t>
            </a:r>
            <a:r>
              <a:rPr lang="en-US" altLang="zh-CN" dirty="0" err="1">
                <a:hlinkClick r:id="rId4"/>
              </a:rPr>
              <a:t>AtomGit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9133" y="5001490"/>
            <a:ext cx="9762067" cy="1081809"/>
          </a:xfrm>
        </p:spPr>
        <p:txBody>
          <a:bodyPr anchor="b">
            <a:normAutofit/>
          </a:bodyPr>
          <a:lstStyle>
            <a:lvl1pPr>
              <a:defRPr sz="5335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9133" y="6146705"/>
            <a:ext cx="9762067" cy="86340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609600" indent="0">
              <a:buNone/>
              <a:defRPr sz="2665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3600" y="344594"/>
            <a:ext cx="14020800" cy="1767417"/>
          </a:xfrm>
        </p:spPr>
        <p:txBody>
          <a:bodyPr anchor="ctr" anchorCtr="0">
            <a:normAutofit/>
          </a:bodyPr>
          <a:lstStyle>
            <a:lvl1pPr>
              <a:defRPr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3600" y="2434167"/>
            <a:ext cx="14020800" cy="5801784"/>
          </a:xfrm>
        </p:spPr>
        <p:txBody>
          <a:bodyPr>
            <a:normAutofit/>
          </a:bodyPr>
          <a:lstStyle>
            <a:lvl1pPr>
              <a:defRPr sz="266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71854" y="608179"/>
            <a:ext cx="14315261" cy="132453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4575"/>
              </a:lnSpc>
              <a:spcBef>
                <a:spcPts val="0"/>
              </a:spcBef>
              <a:buNone/>
              <a:defRPr sz="4265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  <a:lvl2pPr marL="791845" indent="0" algn="ctr">
              <a:buNone/>
              <a:defRPr sz="3465"/>
            </a:lvl2pPr>
            <a:lvl3pPr marL="1583055" indent="0" algn="ctr">
              <a:buNone/>
              <a:defRPr sz="3120"/>
            </a:lvl3pPr>
            <a:lvl4pPr marL="2374900" indent="0" algn="ctr">
              <a:buNone/>
              <a:defRPr sz="2775"/>
            </a:lvl4pPr>
            <a:lvl5pPr marL="3166745" indent="0" algn="ctr">
              <a:buNone/>
              <a:defRPr sz="2775"/>
            </a:lvl5pPr>
            <a:lvl6pPr marL="3957955" indent="0" algn="ctr">
              <a:buNone/>
              <a:defRPr sz="2775"/>
            </a:lvl6pPr>
            <a:lvl7pPr marL="4749800" indent="0" algn="ctr">
              <a:buNone/>
              <a:defRPr sz="2775"/>
            </a:lvl7pPr>
            <a:lvl8pPr marL="5540375" indent="0" algn="ctr">
              <a:buNone/>
              <a:defRPr sz="2775"/>
            </a:lvl8pPr>
            <a:lvl9pPr marL="6332220" indent="0" algn="ctr">
              <a:buNone/>
              <a:defRPr sz="2775"/>
            </a:lvl9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967652" y="2002653"/>
            <a:ext cx="14305821" cy="6253945"/>
          </a:xfrm>
          <a:prstGeom prst="rect">
            <a:avLst/>
          </a:prstGeom>
        </p:spPr>
        <p:txBody>
          <a:bodyPr lIns="0" tIns="0" rIns="0" bIns="0"/>
          <a:lstStyle>
            <a:lvl1pPr marL="1587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609725" algn="ctr"/>
              </a:tabLst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  <a:lvl2pPr marL="701040" indent="-228600">
              <a:buFont typeface="Arial" panose="020B0604020202020204" pitchFamily="34" charset="0"/>
              <a:buChar char="•"/>
              <a:tabLst>
                <a:tab pos="1609725" algn="ctr"/>
              </a:tabLst>
              <a:defRPr sz="1735" baseline="0"/>
            </a:lvl2pPr>
            <a:lvl3pPr marL="701040" indent="-228600">
              <a:buFont typeface="Arial" panose="020B0604020202020204" pitchFamily="34" charset="0"/>
              <a:buChar char="•"/>
              <a:tabLst>
                <a:tab pos="1609725" algn="ctr"/>
              </a:tabLst>
              <a:defRPr sz="1735" baseline="0"/>
            </a:lvl3pPr>
            <a:lvl4pPr marL="701040" indent="-228600">
              <a:buFont typeface="Arial" panose="020B0604020202020204" pitchFamily="34" charset="0"/>
              <a:buChar char="•"/>
              <a:tabLst>
                <a:tab pos="1609725" algn="ctr"/>
              </a:tabLst>
              <a:defRPr sz="1735" baseline="0"/>
            </a:lvl4pPr>
            <a:lvl5pPr marL="701040" indent="-228600">
              <a:buFont typeface="Arial" panose="020B0604020202020204" pitchFamily="34" charset="0"/>
              <a:buChar char="•"/>
              <a:tabLst>
                <a:tab pos="1609725" algn="ctr"/>
              </a:tabLst>
              <a:defRPr sz="1735" baseline="0"/>
            </a:lvl5pPr>
          </a:lstStyle>
          <a:p>
            <a:pPr lvl="0"/>
            <a:r>
              <a:rPr lang="en-US" dirty="0"/>
              <a:t>Click to edit Master text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jpe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hyperlink" Target="https://mlsys.wuklab.io/posts/scheduling_overhead/" TargetMode="Externa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1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1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1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image" Target="../media/image27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0.png"/><Relationship Id="rId1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34.jpeg"/><Relationship Id="rId1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7800" y="2032000"/>
            <a:ext cx="10160000" cy="165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zh-CN" altLang="en-US" sz="48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主流推理框架优化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447800" y="3238500"/>
            <a:ext cx="635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zh-CN" altLang="en-US" sz="22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框架介绍</a:t>
            </a:r>
            <a:r>
              <a:rPr lang="en-US" sz="22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· KV Cac</a:t>
            </a:r>
            <a:r>
              <a:rPr lang="en-US" altLang="zh-CN" sz="22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he</a:t>
            </a:r>
            <a:r>
              <a:rPr lang="zh-CN" altLang="en-US" sz="22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管理</a:t>
            </a:r>
            <a:r>
              <a:rPr lang="en-US" sz="22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 · </a:t>
            </a:r>
            <a:r>
              <a:rPr lang="zh-CN" altLang="en-US" sz="22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负载均衡与调度优化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300" dirty="0"/>
          </a:p>
        </p:txBody>
      </p:sp>
      <p:pic>
        <p:nvPicPr>
          <p:cNvPr id="7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20308" y="8315942"/>
            <a:ext cx="25400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endParaRPr lang="en-US" sz="20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900" y="3467100"/>
            <a:ext cx="4508500" cy="1117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400" dirty="0">
                <a:solidFill>
                  <a:srgbClr val="6E6E6E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目录</a:t>
            </a:r>
            <a:endParaRPr lang="en-US" sz="6400" dirty="0"/>
          </a:p>
        </p:txBody>
      </p:sp>
      <p:sp>
        <p:nvSpPr>
          <p:cNvPr id="3" name="Shape 1"/>
          <p:cNvSpPr/>
          <p:nvPr/>
        </p:nvSpPr>
        <p:spPr>
          <a:xfrm>
            <a:off x="5270500" y="2514600"/>
            <a:ext cx="0" cy="3695700"/>
          </a:xfrm>
          <a:prstGeom prst="straightConnector1">
            <a:avLst/>
          </a:prstGeom>
          <a:noFill/>
          <a:ln w="12700">
            <a:solidFill>
              <a:srgbClr val="BFBFBF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6070599" y="2980264"/>
            <a:ext cx="558800" cy="558800"/>
          </a:xfrm>
          <a:prstGeom prst="ellipse">
            <a:avLst/>
          </a:prstGeom>
          <a:solidFill>
            <a:srgbClr val="C00000"/>
          </a:solidFill>
        </p:spPr>
      </p:sp>
      <p:sp>
        <p:nvSpPr>
          <p:cNvPr id="5" name="Text 3"/>
          <p:cNvSpPr/>
          <p:nvPr/>
        </p:nvSpPr>
        <p:spPr>
          <a:xfrm>
            <a:off x="6070599" y="2980264"/>
            <a:ext cx="5588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32599" y="2980264"/>
            <a:ext cx="63500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22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主流推理框架概览：</a:t>
            </a:r>
            <a:r>
              <a:rPr lang="en-US" altLang="zh-CN" sz="22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SGLang</a:t>
            </a:r>
            <a:r>
              <a:rPr lang="zh-CN" altLang="en-US" sz="22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与</a:t>
            </a:r>
            <a:r>
              <a:rPr lang="en-US" altLang="zh-CN" sz="22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vLLM</a:t>
            </a:r>
            <a:endParaRPr lang="en-US" altLang="zh-CN" sz="2200" b="1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070599" y="3818464"/>
            <a:ext cx="558800" cy="558800"/>
          </a:xfrm>
          <a:prstGeom prst="ellipse">
            <a:avLst/>
          </a:prstGeom>
          <a:solidFill>
            <a:srgbClr val="C00000"/>
          </a:solidFill>
        </p:spPr>
      </p:sp>
      <p:sp>
        <p:nvSpPr>
          <p:cNvPr id="8" name="Text 6"/>
          <p:cNvSpPr/>
          <p:nvPr/>
        </p:nvSpPr>
        <p:spPr>
          <a:xfrm>
            <a:off x="6070599" y="3818464"/>
            <a:ext cx="5588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32599" y="3818464"/>
            <a:ext cx="63500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22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显存优化与</a:t>
            </a:r>
            <a:r>
              <a:rPr lang="fr-FR" sz="22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KV Cache</a:t>
            </a:r>
            <a:r>
              <a:rPr lang="zh-CN" altLang="en-US" sz="22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管理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070599" y="4656664"/>
            <a:ext cx="558800" cy="558800"/>
          </a:xfrm>
          <a:prstGeom prst="ellipse">
            <a:avLst/>
          </a:prstGeom>
          <a:solidFill>
            <a:srgbClr val="C00000"/>
          </a:solidFill>
        </p:spPr>
      </p:sp>
      <p:sp>
        <p:nvSpPr>
          <p:cNvPr id="11" name="Text 9"/>
          <p:cNvSpPr/>
          <p:nvPr/>
        </p:nvSpPr>
        <p:spPr>
          <a:xfrm>
            <a:off x="6070599" y="4656664"/>
            <a:ext cx="5588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832599" y="4656664"/>
            <a:ext cx="63500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22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负载均衡与调度优化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300" dirty="0"/>
          </a:p>
        </p:txBody>
      </p:sp>
      <p:pic>
        <p:nvPicPr>
          <p:cNvPr id="21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2009670" y="76293"/>
            <a:ext cx="25400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endParaRPr lang="en-US" sz="20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80000"/>
                </a:srgbClr>
              </a:gs>
              <a:gs pos="60000">
                <a:srgbClr val="000000">
                  <a:alpha val="60000"/>
                </a:srgbClr>
              </a:gs>
              <a:gs pos="100000">
                <a:srgbClr val="000000">
                  <a:alpha val="4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0" y="2044701"/>
            <a:ext cx="2540000" cy="127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6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265768" y="3581400"/>
            <a:ext cx="1016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4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主流推理框架概览：</a:t>
            </a:r>
            <a:r>
              <a:rPr lang="en-US" altLang="zh-CN" sz="4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SGLang</a:t>
            </a:r>
            <a:r>
              <a:rPr lang="zh-CN" altLang="en-US" sz="4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与</a:t>
            </a:r>
            <a:r>
              <a:rPr lang="en-US" altLang="zh-CN" sz="4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vLLM</a:t>
            </a:r>
            <a:endParaRPr lang="zh-CN" altLang="en-US" sz="4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295401" y="4411131"/>
            <a:ext cx="10160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从系统架构、调度机制到核心优化理念，认识两大高性能</a:t>
            </a:r>
            <a:r>
              <a:rPr lang="en-US" altLang="zh-CN" sz="2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LLM</a:t>
            </a:r>
            <a:r>
              <a:rPr lang="zh-CN" altLang="en-US" sz="2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推理引擎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300" dirty="0"/>
          </a:p>
        </p:txBody>
      </p:sp>
      <p:pic>
        <p:nvPicPr>
          <p:cNvPr id="8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/>
          <p:nvPr/>
        </p:nvGraphicFramePr>
        <p:xfrm>
          <a:off x="603674" y="2040467"/>
          <a:ext cx="9520766" cy="621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3953"/>
                <a:gridCol w="3373120"/>
                <a:gridCol w="3303693"/>
              </a:tblGrid>
              <a:tr h="50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/>
                        <a:t>发起人</a:t>
                      </a:r>
                      <a:endParaRPr lang="zh-CN" altLang="en-US" sz="19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/>
                        <a:t>UC Berkeley, Stanford</a:t>
                      </a:r>
                      <a:endParaRPr lang="zh-CN" altLang="en-US" sz="19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/>
                        <a:t>UC Berkeley, Stanford</a:t>
                      </a:r>
                      <a:endParaRPr lang="zh-CN" altLang="en-US" sz="1900"/>
                    </a:p>
                  </a:txBody>
                  <a:tcPr marL="121920" marR="121920" marT="60960" marB="60960"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/>
                        <a:t>首发时间</a:t>
                      </a:r>
                      <a:endParaRPr lang="zh-CN" altLang="en-US" sz="19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/>
                        <a:t>2023.6.20（v0.1.0）</a:t>
                      </a:r>
                      <a:endParaRPr lang="zh-CN" altLang="en-US" sz="19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/>
                        <a:t>2024.1.18 （v0.1.5）</a:t>
                      </a:r>
                      <a:endParaRPr lang="zh-CN" altLang="en-US" sz="1900"/>
                    </a:p>
                  </a:txBody>
                  <a:tcPr marL="121920" marR="121920" marT="60960" marB="60960"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/>
                        <a:t>贡献者</a:t>
                      </a:r>
                      <a:endParaRPr lang="zh-CN" altLang="en-US" sz="19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900"/>
                        <a:t>2444</a:t>
                      </a:r>
                      <a:endParaRPr lang="en-US" altLang="zh-CN" sz="19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900"/>
                        <a:t>1353</a:t>
                      </a:r>
                      <a:endParaRPr lang="en-US" altLang="zh-CN" sz="1900"/>
                    </a:p>
                  </a:txBody>
                  <a:tcPr marL="121920" marR="121920" marT="60960" marB="60960"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/>
                        <a:t>版本数</a:t>
                      </a:r>
                      <a:endParaRPr lang="zh-CN" altLang="en-US" sz="19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900"/>
                        <a:t>89</a:t>
                      </a:r>
                      <a:endParaRPr lang="en-US" altLang="zh-CN" sz="19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900"/>
                        <a:t>49</a:t>
                      </a:r>
                      <a:endParaRPr lang="en-US" altLang="zh-CN" sz="1900"/>
                    </a:p>
                  </a:txBody>
                  <a:tcPr marL="121920" marR="121920" marT="60960" marB="60960"/>
                </a:tc>
              </a:tr>
              <a:tr h="975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/>
                        <a:t>介绍</a:t>
                      </a:r>
                      <a:endParaRPr lang="zh-CN" altLang="en-US" sz="19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/>
                        <a:t>a fast and easy-to-use library for LLM inference and serving.</a:t>
                      </a:r>
                      <a:endParaRPr lang="zh-CN" altLang="en-US" sz="19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/>
                        <a:t>a fast serving framework for large language models and vision language models.</a:t>
                      </a:r>
                      <a:endParaRPr lang="zh-CN" altLang="en-US" sz="1900"/>
                    </a:p>
                  </a:txBody>
                  <a:tcPr marL="121920" marR="121920" marT="60960" marB="60960"/>
                </a:tc>
              </a:tr>
              <a:tr h="690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/>
                        <a:t>首发特色</a:t>
                      </a:r>
                      <a:endParaRPr lang="zh-CN" altLang="en-US" sz="19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/>
                        <a:t>PagedAttention</a:t>
                      </a:r>
                      <a:endParaRPr lang="zh-CN" altLang="en-US" sz="19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/>
                        <a:t>Structured Language Model Programs</a:t>
                      </a:r>
                      <a:r>
                        <a:rPr lang="en-US" altLang="zh-CN" sz="1900"/>
                        <a:t>, RadixAttention</a:t>
                      </a:r>
                      <a:endParaRPr lang="en-US" altLang="zh-CN" sz="1900"/>
                    </a:p>
                  </a:txBody>
                  <a:tcPr marL="121920" marR="121920" marT="60960" marB="60960"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/>
                        <a:t>后端引擎</a:t>
                      </a:r>
                      <a:endParaRPr lang="zh-CN" altLang="en-US" sz="19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/>
                        <a:t>CUDA graph、PyTorch</a:t>
                      </a:r>
                      <a:endParaRPr lang="zh-CN" altLang="en-US" sz="19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/>
                        <a:t>CUDA graph、PyTorch</a:t>
                      </a:r>
                      <a:endParaRPr lang="zh-CN" altLang="en-US" sz="1900"/>
                    </a:p>
                  </a:txBody>
                  <a:tcPr marL="121920" marR="121920" marT="60960" marB="60960"/>
                </a:tc>
              </a:tr>
              <a:tr h="1259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/>
                        <a:t>支持芯片</a:t>
                      </a:r>
                      <a:endParaRPr lang="zh-CN" altLang="en-US" sz="19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/>
                        <a:t>NVIDIA GPU, AMD CPU and GPU, Intel CPU and GPU, PowerPC CPU, Google TPU, and AWS Neuron、</a:t>
                      </a:r>
                      <a:r>
                        <a:rPr lang="zh-CN" altLang="en-US" sz="1900">
                          <a:solidFill>
                            <a:srgbClr val="FF0000"/>
                          </a:solidFill>
                        </a:rPr>
                        <a:t>Ascend NPU</a:t>
                      </a:r>
                      <a:endParaRPr lang="zh-CN" altLang="en-US" sz="1900">
                        <a:solidFill>
                          <a:srgbClr val="FF0000"/>
                        </a:solidFill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/>
                        <a:t>AMD GPUs, Intel Xeon CPUs, TPU, NVIDIA DGX Spark, NVIDIA Jetson, </a:t>
                      </a:r>
                      <a:r>
                        <a:rPr lang="zh-CN" altLang="en-US" sz="1900">
                          <a:solidFill>
                            <a:srgbClr val="FF0000"/>
                          </a:solidFill>
                        </a:rPr>
                        <a:t>Ascend NPU</a:t>
                      </a:r>
                      <a:r>
                        <a:rPr lang="zh-CN" altLang="en-US" sz="1900"/>
                        <a:t>, and Intel XPU</a:t>
                      </a:r>
                      <a:endParaRPr lang="zh-CN" altLang="en-US" sz="1900"/>
                    </a:p>
                  </a:txBody>
                  <a:tcPr marL="121920" marR="121920" marT="60960" marB="60960"/>
                </a:tc>
              </a:tr>
              <a:tr h="690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/>
                        <a:t>网址</a:t>
                      </a:r>
                      <a:endParaRPr lang="zh-CN" altLang="en-US" sz="19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/>
                        <a:t>https://github.com/vllm-project/vllm</a:t>
                      </a:r>
                      <a:endParaRPr lang="zh-CN" altLang="en-US" sz="19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00"/>
                        <a:t>https://github.com/sgl-project/sglang</a:t>
                      </a:r>
                      <a:endParaRPr lang="zh-CN" altLang="en-US" sz="1900"/>
                    </a:p>
                  </a:txBody>
                  <a:tcPr marL="121920" marR="121920" marT="60960" marB="60960"/>
                </a:tc>
              </a:tr>
            </a:tbl>
          </a:graphicData>
        </a:graphic>
      </p:graphicFrame>
      <p:sp>
        <p:nvSpPr>
          <p:cNvPr id="209" name="矩形 208"/>
          <p:cNvSpPr/>
          <p:nvPr/>
        </p:nvSpPr>
        <p:spPr>
          <a:xfrm>
            <a:off x="389157" y="312807"/>
            <a:ext cx="15329447" cy="612775"/>
          </a:xfrm>
          <a:prstGeom prst="rect">
            <a:avLst/>
          </a:prstGeom>
        </p:spPr>
        <p:txBody>
          <a:bodyPr wrap="square" lIns="121880" tIns="60940" rIns="121880" bIns="60940">
            <a:spAutoFit/>
          </a:bodyPr>
          <a:lstStyle/>
          <a:p>
            <a:pPr defTabSz="1218565"/>
            <a:r>
              <a:rPr lang="zh-CN" altLang="en-US" sz="3200" kern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Wingdings" panose="05000000000000000000" pitchFamily="2" charset="2"/>
              </a:rPr>
              <a:t>推理框架简介</a:t>
            </a:r>
            <a:endParaRPr lang="zh-CN" altLang="en-US" sz="3200" b="1" kern="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sym typeface="Wingdings" panose="05000000000000000000" pitchFamily="2" charset="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9221" y="1055794"/>
            <a:ext cx="2513753" cy="93641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274" y="1059181"/>
            <a:ext cx="2544233" cy="774700"/>
          </a:xfrm>
          <a:prstGeom prst="rect">
            <a:avLst/>
          </a:prstGeom>
        </p:spPr>
      </p:pic>
      <p:pic>
        <p:nvPicPr>
          <p:cNvPr id="15" name="图片 14" descr="star-history-2026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7687" y="4725248"/>
            <a:ext cx="5765800" cy="4418753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0714567" y="1649307"/>
            <a:ext cx="5003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1000" indent="-38100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FF0000"/>
                </a:solidFill>
              </a:rPr>
              <a:t>高推理性能</a:t>
            </a:r>
            <a:r>
              <a:rPr lang="zh-CN" altLang="en-US" sz="2400"/>
              <a:t>是核心竞争力：PagedAttention优化内存碎片管理，Continuous Batching提升高并发场景推理效率；</a:t>
            </a:r>
            <a:endParaRPr lang="zh-CN" altLang="en-US" sz="2400"/>
          </a:p>
          <a:p>
            <a:pPr marL="381000" indent="-38100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FF0000"/>
                </a:solidFill>
              </a:rPr>
              <a:t>易用性和生态兼容性</a:t>
            </a:r>
            <a:r>
              <a:rPr lang="zh-CN" altLang="en-US" sz="2400"/>
              <a:t>降低开发门槛，量化与分布式支持适应多样化场景，开源社区生态和快速迭代共同推动其成为主流。</a:t>
            </a:r>
            <a:endParaRPr lang="zh-CN" altLang="en-US" sz="240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rcRect t="33573"/>
          <a:stretch>
            <a:fillRect/>
          </a:stretch>
        </p:blipFill>
        <p:spPr>
          <a:xfrm>
            <a:off x="234315" y="2658110"/>
            <a:ext cx="15372715" cy="52190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470" y="156210"/>
            <a:ext cx="8676005" cy="1019810"/>
          </a:xfrm>
          <a:prstGeom prst="rect">
            <a:avLst/>
          </a:prstGeom>
          <a:noFill/>
        </p:spPr>
        <p:txBody>
          <a:bodyPr wrap="none" lIns="0" tIns="0" rIns="0" bIns="0" rtlCol="0" anchor="ctr"/>
          <a:p>
            <a:pPr algn="l">
              <a:lnSpc>
                <a:spcPct val="130000"/>
              </a:lnSpc>
            </a:pPr>
            <a:r>
              <a:rPr lang="zh-CN" altLang="en-US" sz="3200" b="1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SGLang与</a:t>
            </a:r>
            <a:r>
              <a:rPr lang="zh-CN" altLang="en-US" sz="3200" b="1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  <a:sym typeface="+mn-ea"/>
              </a:rPr>
              <a:t>VLLM</a:t>
            </a:r>
            <a:r>
              <a:rPr lang="zh-CN" altLang="en-US" sz="3200" b="1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的整体设计架构</a:t>
            </a:r>
            <a:endParaRPr lang="zh-CN" altLang="en-US" sz="3200" b="1" dirty="0" err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" name="Text 1"/>
          <p:cNvSpPr/>
          <p:nvPr/>
        </p:nvSpPr>
        <p:spPr>
          <a:xfrm>
            <a:off x="762000" y="1590040"/>
            <a:ext cx="14732000" cy="106807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LM program</a:t>
            </a:r>
            <a:r>
              <a:rPr lang="zh-CN" altLang="en-US" sz="18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很难编写，因为不同的</a:t>
            </a:r>
            <a:r>
              <a:rPr lang="en-US" altLang="zh-CN" sz="18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LLM</a:t>
            </a:r>
            <a:r>
              <a:rPr lang="zh-CN" altLang="en-US" sz="18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处理的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工作流</a:t>
            </a:r>
            <a:r>
              <a:rPr lang="zh-CN" altLang="en-US" sz="18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不同（预处理、模型结构等）</a:t>
            </a:r>
            <a:endParaRPr lang="zh-CN" altLang="en-US" sz="180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  <a:sym typeface="+mn-ea"/>
              </a:rPr>
              <a:t>LM program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  <a:sym typeface="+mn-ea"/>
              </a:rPr>
              <a:t>的执行会遇到很大障碍，包括庞大的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  <a:sym typeface="+mn-ea"/>
              </a:rPr>
              <a:t>计算量、存储空间</a:t>
            </a:r>
            <a:endParaRPr lang="zh-CN" altLang="en-US" sz="18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441940" y="8057515"/>
            <a:ext cx="59944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出自https://github.com/sgl-project/sgl-learning-materials/tree/main/slides</a:t>
            </a:r>
            <a:endParaRPr lang="zh-CN" alt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rcRect t="10165" r="43282" b="1832"/>
          <a:stretch>
            <a:fillRect/>
          </a:stretch>
        </p:blipFill>
        <p:spPr>
          <a:xfrm>
            <a:off x="7847965" y="1969770"/>
            <a:ext cx="8281670" cy="717423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632460" y="262255"/>
            <a:ext cx="8710295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p>
            <a:pPr algn="l">
              <a:lnSpc>
                <a:spcPct val="130000"/>
              </a:lnSpc>
            </a:pPr>
            <a:r>
              <a:rPr lang="en-US" sz="32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SGLang </a:t>
            </a:r>
            <a:r>
              <a:rPr lang="zh-CN" altLang="en-US" sz="3200" b="1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  <a:sym typeface="+mn-ea"/>
              </a:rPr>
              <a:t>整体设计架构</a:t>
            </a:r>
            <a:endParaRPr lang="en-US" sz="3200" dirty="0"/>
          </a:p>
        </p:txBody>
      </p:sp>
      <p:grpSp>
        <p:nvGrpSpPr>
          <p:cNvPr id="63" name="组合 62"/>
          <p:cNvGrpSpPr/>
          <p:nvPr/>
        </p:nvGrpSpPr>
        <p:grpSpPr>
          <a:xfrm>
            <a:off x="286385" y="3467735"/>
            <a:ext cx="7396480" cy="3357880"/>
            <a:chOff x="13658" y="4938"/>
            <a:chExt cx="11648" cy="5288"/>
          </a:xfrm>
        </p:grpSpPr>
        <p:sp>
          <p:nvSpPr>
            <p:cNvPr id="8" name="矩形 7"/>
            <p:cNvSpPr/>
            <p:nvPr/>
          </p:nvSpPr>
          <p:spPr>
            <a:xfrm>
              <a:off x="13658" y="4958"/>
              <a:ext cx="3668" cy="526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t" anchorCtr="0"/>
            <a:p>
              <a:pPr algn="ctr"/>
              <a:r>
                <a:rPr lang="en-US" altLang="zh-CN" b="1">
                  <a:solidFill>
                    <a:schemeClr val="tx1"/>
                  </a:solidFill>
                </a:rPr>
                <a:t>Server Components</a:t>
              </a:r>
              <a:endParaRPr lang="en-US" altLang="zh-CN" b="1">
                <a:solidFill>
                  <a:schemeClr val="tx1"/>
                </a:solidFill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14036" y="5676"/>
              <a:ext cx="2911" cy="71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>
                  <a:solidFill>
                    <a:schemeClr val="tx1"/>
                  </a:solidFill>
                </a:rPr>
                <a:t>User Client</a:t>
              </a:r>
              <a:endParaRPr lang="en-US" altLang="zh-CN" sz="1600">
                <a:solidFill>
                  <a:schemeClr val="tx1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14036" y="6894"/>
              <a:ext cx="2911" cy="71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>
                  <a:solidFill>
                    <a:schemeClr val="tx1"/>
                  </a:solidFill>
                </a:rPr>
                <a:t>FastAPI Server</a:t>
              </a:r>
              <a:endParaRPr lang="en-US" altLang="zh-CN" sz="1600">
                <a:solidFill>
                  <a:schemeClr val="tx1"/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4036" y="8072"/>
              <a:ext cx="2911" cy="71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>
                  <a:solidFill>
                    <a:schemeClr val="tx1"/>
                  </a:solidFill>
                </a:rPr>
                <a:t>TokenizerManager</a:t>
              </a:r>
              <a:endParaRPr lang="en-US" altLang="zh-CN" sz="1600">
                <a:solidFill>
                  <a:schemeClr val="tx1"/>
                </a:solidFill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4036" y="9230"/>
              <a:ext cx="2911" cy="71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400">
                  <a:solidFill>
                    <a:schemeClr val="tx1"/>
                  </a:solidFill>
                  <a:sym typeface="+mn-ea"/>
                </a:rPr>
                <a:t>DetokenizerManager</a:t>
              </a:r>
              <a:endParaRPr lang="en-US" altLang="zh-CN" sz="1400">
                <a:solidFill>
                  <a:schemeClr val="tx1"/>
                </a:solidFill>
                <a:sym typeface="+mn-ea"/>
              </a:endParaRPr>
            </a:p>
          </p:txBody>
        </p:sp>
        <p:cxnSp>
          <p:nvCxnSpPr>
            <p:cNvPr id="13" name="直接箭头连接符 12"/>
            <p:cNvCxnSpPr/>
            <p:nvPr/>
          </p:nvCxnSpPr>
          <p:spPr>
            <a:xfrm>
              <a:off x="16366" y="6390"/>
              <a:ext cx="0" cy="50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" name="文本框 13"/>
            <p:cNvSpPr txBox="1"/>
            <p:nvPr/>
          </p:nvSpPr>
          <p:spPr>
            <a:xfrm>
              <a:off x="16330" y="6288"/>
              <a:ext cx="3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1</a:t>
              </a:r>
              <a:endParaRPr lang="en-US" altLang="zh-CN"/>
            </a:p>
          </p:txBody>
        </p:sp>
        <p:cxnSp>
          <p:nvCxnSpPr>
            <p:cNvPr id="15" name="直接箭头连接符 14"/>
            <p:cNvCxnSpPr/>
            <p:nvPr/>
          </p:nvCxnSpPr>
          <p:spPr>
            <a:xfrm flipH="1" flipV="1">
              <a:off x="14677" y="6416"/>
              <a:ext cx="0" cy="50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6" name="文本框 15"/>
            <p:cNvSpPr txBox="1"/>
            <p:nvPr/>
          </p:nvSpPr>
          <p:spPr>
            <a:xfrm>
              <a:off x="14626" y="6366"/>
              <a:ext cx="703" cy="52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/>
                <a:t>14</a:t>
              </a:r>
              <a:endParaRPr lang="en-US" altLang="zh-CN"/>
            </a:p>
          </p:txBody>
        </p:sp>
        <p:cxnSp>
          <p:nvCxnSpPr>
            <p:cNvPr id="17" name="直接箭头连接符 16"/>
            <p:cNvCxnSpPr/>
            <p:nvPr/>
          </p:nvCxnSpPr>
          <p:spPr>
            <a:xfrm>
              <a:off x="16386" y="7570"/>
              <a:ext cx="0" cy="50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8" name="文本框 17"/>
            <p:cNvSpPr txBox="1"/>
            <p:nvPr/>
          </p:nvSpPr>
          <p:spPr>
            <a:xfrm>
              <a:off x="16350" y="7468"/>
              <a:ext cx="3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2</a:t>
              </a:r>
              <a:endParaRPr lang="en-US" altLang="zh-CN"/>
            </a:p>
          </p:txBody>
        </p:sp>
        <p:cxnSp>
          <p:nvCxnSpPr>
            <p:cNvPr id="19" name="直接箭头连接符 18"/>
            <p:cNvCxnSpPr/>
            <p:nvPr/>
          </p:nvCxnSpPr>
          <p:spPr>
            <a:xfrm flipH="1" flipV="1">
              <a:off x="14697" y="7556"/>
              <a:ext cx="0" cy="50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0" name="文本框 19"/>
            <p:cNvSpPr txBox="1"/>
            <p:nvPr/>
          </p:nvSpPr>
          <p:spPr>
            <a:xfrm>
              <a:off x="14646" y="7506"/>
              <a:ext cx="703" cy="52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/>
                <a:t>13</a:t>
              </a:r>
              <a:endParaRPr lang="en-US" altLang="zh-CN"/>
            </a:p>
          </p:txBody>
        </p:sp>
        <p:cxnSp>
          <p:nvCxnSpPr>
            <p:cNvPr id="21" name="直接箭头连接符 20"/>
            <p:cNvCxnSpPr/>
            <p:nvPr/>
          </p:nvCxnSpPr>
          <p:spPr>
            <a:xfrm flipH="1" flipV="1">
              <a:off x="14737" y="8776"/>
              <a:ext cx="0" cy="50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2" name="文本框 21"/>
            <p:cNvSpPr txBox="1"/>
            <p:nvPr/>
          </p:nvSpPr>
          <p:spPr>
            <a:xfrm>
              <a:off x="14686" y="8726"/>
              <a:ext cx="703" cy="52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/>
                <a:t>12</a:t>
              </a:r>
              <a:endParaRPr lang="en-US" altLang="zh-CN"/>
            </a:p>
          </p:txBody>
        </p:sp>
        <p:sp>
          <p:nvSpPr>
            <p:cNvPr id="23" name="矩形 22"/>
            <p:cNvSpPr/>
            <p:nvPr/>
          </p:nvSpPr>
          <p:spPr>
            <a:xfrm>
              <a:off x="17751" y="4938"/>
              <a:ext cx="3598" cy="526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t" anchorCtr="0"/>
            <a:p>
              <a:pPr algn="ctr"/>
              <a:r>
                <a:rPr lang="en-US" altLang="zh-CN" b="1">
                  <a:solidFill>
                    <a:schemeClr val="tx1"/>
                  </a:solidFill>
                </a:rPr>
                <a:t>Scheduler</a:t>
              </a:r>
              <a:endParaRPr lang="en-US" altLang="zh-CN" b="1">
                <a:solidFill>
                  <a:schemeClr val="tx1"/>
                </a:solidFill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18094" y="5656"/>
              <a:ext cx="2911" cy="71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>
                  <a:solidFill>
                    <a:schemeClr val="tx1"/>
                  </a:solidFill>
                </a:rPr>
                <a:t>process_input_reqs</a:t>
              </a:r>
              <a:endParaRPr lang="en-US" altLang="zh-CN" sz="1600">
                <a:solidFill>
                  <a:schemeClr val="tx1"/>
                </a:solidFill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8094" y="6874"/>
              <a:ext cx="2911" cy="71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>
                  <a:solidFill>
                    <a:schemeClr val="tx1"/>
                  </a:solidFill>
                </a:rPr>
                <a:t>get_next_batch</a:t>
              </a:r>
              <a:endParaRPr lang="en-US" altLang="zh-CN" sz="1600">
                <a:solidFill>
                  <a:schemeClr val="tx1"/>
                </a:solidFill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8094" y="8052"/>
              <a:ext cx="2911" cy="71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>
                  <a:solidFill>
                    <a:schemeClr val="tx1"/>
                  </a:solidFill>
                </a:rPr>
                <a:t>run_batch</a:t>
              </a:r>
              <a:endParaRPr lang="en-US" altLang="zh-CN" sz="1600">
                <a:solidFill>
                  <a:schemeClr val="tx1"/>
                </a:solidFill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8095" y="9210"/>
              <a:ext cx="2910" cy="71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400">
                  <a:solidFill>
                    <a:schemeClr val="tx1"/>
                  </a:solidFill>
                </a:rPr>
                <a:t>process_batch_result</a:t>
              </a:r>
              <a:endParaRPr lang="en-US" altLang="zh-CN" sz="1400">
                <a:solidFill>
                  <a:schemeClr val="tx1"/>
                </a:solidFill>
              </a:endParaRPr>
            </a:p>
          </p:txBody>
        </p:sp>
        <p:cxnSp>
          <p:nvCxnSpPr>
            <p:cNvPr id="28" name="直接箭头连接符 27"/>
            <p:cNvCxnSpPr/>
            <p:nvPr/>
          </p:nvCxnSpPr>
          <p:spPr>
            <a:xfrm>
              <a:off x="19598" y="6370"/>
              <a:ext cx="0" cy="50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9" name="文本框 28"/>
            <p:cNvSpPr txBox="1"/>
            <p:nvPr/>
          </p:nvSpPr>
          <p:spPr>
            <a:xfrm>
              <a:off x="19562" y="6268"/>
              <a:ext cx="3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4</a:t>
              </a:r>
              <a:endParaRPr lang="en-US" altLang="zh-CN"/>
            </a:p>
          </p:txBody>
        </p:sp>
        <p:cxnSp>
          <p:nvCxnSpPr>
            <p:cNvPr id="32" name="直接箭头连接符 31"/>
            <p:cNvCxnSpPr/>
            <p:nvPr/>
          </p:nvCxnSpPr>
          <p:spPr>
            <a:xfrm>
              <a:off x="19618" y="7550"/>
              <a:ext cx="0" cy="50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3" name="文本框 32"/>
            <p:cNvSpPr txBox="1"/>
            <p:nvPr/>
          </p:nvSpPr>
          <p:spPr>
            <a:xfrm>
              <a:off x="19582" y="7448"/>
              <a:ext cx="3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5</a:t>
              </a:r>
              <a:endParaRPr lang="en-US" altLang="zh-CN"/>
            </a:p>
          </p:txBody>
        </p:sp>
        <p:sp>
          <p:nvSpPr>
            <p:cNvPr id="38" name="矩形 37"/>
            <p:cNvSpPr/>
            <p:nvPr/>
          </p:nvSpPr>
          <p:spPr>
            <a:xfrm>
              <a:off x="21748" y="4958"/>
              <a:ext cx="3558" cy="526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t" anchorCtr="0"/>
            <a:p>
              <a:pPr algn="ctr"/>
              <a:r>
                <a:rPr lang="en-US" altLang="zh-CN" b="1">
                  <a:solidFill>
                    <a:schemeClr val="tx1"/>
                  </a:solidFill>
                </a:rPr>
                <a:t>Model Components</a:t>
              </a:r>
              <a:endParaRPr lang="en-US" altLang="zh-CN" b="1">
                <a:solidFill>
                  <a:schemeClr val="tx1"/>
                </a:solidFill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22071" y="5676"/>
              <a:ext cx="2911" cy="71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>
                  <a:solidFill>
                    <a:schemeClr val="tx1"/>
                  </a:solidFill>
                </a:rPr>
                <a:t>TpModelWorker</a:t>
              </a:r>
              <a:endParaRPr lang="en-US" altLang="zh-CN" sz="1600">
                <a:solidFill>
                  <a:schemeClr val="tx1"/>
                </a:solidFill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22071" y="6894"/>
              <a:ext cx="2911" cy="71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>
                  <a:solidFill>
                    <a:schemeClr val="tx1"/>
                  </a:solidFill>
                </a:rPr>
                <a:t>ModelRunner</a:t>
              </a:r>
              <a:endParaRPr lang="en-US" altLang="zh-CN" sz="1600">
                <a:solidFill>
                  <a:schemeClr val="tx1"/>
                </a:solidFill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22071" y="8072"/>
              <a:ext cx="2911" cy="71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>
                  <a:solidFill>
                    <a:schemeClr val="tx1"/>
                  </a:solidFill>
                </a:rPr>
                <a:t>Model</a:t>
              </a:r>
              <a:endParaRPr lang="en-US" altLang="zh-CN" sz="1600">
                <a:solidFill>
                  <a:schemeClr val="tx1"/>
                </a:solidFill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22071" y="9230"/>
              <a:ext cx="2911" cy="71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>
                  <a:solidFill>
                    <a:schemeClr val="tx1"/>
                  </a:solidFill>
                </a:rPr>
                <a:t>AttentionBackend</a:t>
              </a:r>
              <a:endParaRPr lang="en-US" altLang="zh-CN" sz="1600">
                <a:solidFill>
                  <a:schemeClr val="tx1"/>
                </a:solidFill>
              </a:endParaRPr>
            </a:p>
          </p:txBody>
        </p:sp>
        <p:cxnSp>
          <p:nvCxnSpPr>
            <p:cNvPr id="43" name="直接箭头连接符 42"/>
            <p:cNvCxnSpPr/>
            <p:nvPr/>
          </p:nvCxnSpPr>
          <p:spPr>
            <a:xfrm>
              <a:off x="23521" y="6390"/>
              <a:ext cx="0" cy="50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4" name="文本框 43"/>
            <p:cNvSpPr txBox="1"/>
            <p:nvPr/>
          </p:nvSpPr>
          <p:spPr>
            <a:xfrm>
              <a:off x="23485" y="6288"/>
              <a:ext cx="3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7</a:t>
              </a:r>
              <a:endParaRPr lang="en-US" altLang="zh-CN"/>
            </a:p>
          </p:txBody>
        </p:sp>
        <p:cxnSp>
          <p:nvCxnSpPr>
            <p:cNvPr id="47" name="直接箭头连接符 46"/>
            <p:cNvCxnSpPr/>
            <p:nvPr/>
          </p:nvCxnSpPr>
          <p:spPr>
            <a:xfrm>
              <a:off x="23541" y="7570"/>
              <a:ext cx="0" cy="50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8" name="文本框 47"/>
            <p:cNvSpPr txBox="1"/>
            <p:nvPr/>
          </p:nvSpPr>
          <p:spPr>
            <a:xfrm>
              <a:off x="23505" y="7548"/>
              <a:ext cx="3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8</a:t>
              </a:r>
              <a:endParaRPr lang="en-US" altLang="zh-CN"/>
            </a:p>
          </p:txBody>
        </p:sp>
        <p:cxnSp>
          <p:nvCxnSpPr>
            <p:cNvPr id="53" name="直接箭头连接符 52"/>
            <p:cNvCxnSpPr/>
            <p:nvPr/>
          </p:nvCxnSpPr>
          <p:spPr>
            <a:xfrm>
              <a:off x="23581" y="8770"/>
              <a:ext cx="0" cy="50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4" name="文本框 53"/>
            <p:cNvSpPr txBox="1"/>
            <p:nvPr/>
          </p:nvSpPr>
          <p:spPr>
            <a:xfrm>
              <a:off x="23545" y="8748"/>
              <a:ext cx="3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9</a:t>
              </a:r>
              <a:endParaRPr lang="en-US" altLang="zh-CN"/>
            </a:p>
          </p:txBody>
        </p:sp>
        <p:cxnSp>
          <p:nvCxnSpPr>
            <p:cNvPr id="55" name="直接箭头连接符 54"/>
            <p:cNvCxnSpPr>
              <a:stCxn id="42" idx="1"/>
              <a:endCxn id="27" idx="3"/>
            </p:cNvCxnSpPr>
            <p:nvPr/>
          </p:nvCxnSpPr>
          <p:spPr>
            <a:xfrm flipH="1" flipV="1">
              <a:off x="21005" y="9567"/>
              <a:ext cx="1066" cy="2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6" name="文本框 55"/>
            <p:cNvSpPr txBox="1"/>
            <p:nvPr/>
          </p:nvSpPr>
          <p:spPr>
            <a:xfrm>
              <a:off x="21209" y="9498"/>
              <a:ext cx="70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10</a:t>
              </a:r>
              <a:endParaRPr lang="en-US" altLang="zh-CN"/>
            </a:p>
          </p:txBody>
        </p:sp>
        <p:cxnSp>
          <p:nvCxnSpPr>
            <p:cNvPr id="57" name="曲线连接符 56"/>
            <p:cNvCxnSpPr>
              <a:stCxn id="26" idx="3"/>
              <a:endCxn id="39" idx="1"/>
            </p:cNvCxnSpPr>
            <p:nvPr/>
          </p:nvCxnSpPr>
          <p:spPr>
            <a:xfrm flipV="1">
              <a:off x="21005" y="6033"/>
              <a:ext cx="1066" cy="2376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8" name="文本框 57"/>
            <p:cNvSpPr txBox="1"/>
            <p:nvPr/>
          </p:nvSpPr>
          <p:spPr>
            <a:xfrm>
              <a:off x="21449" y="6618"/>
              <a:ext cx="70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6</a:t>
              </a:r>
              <a:endParaRPr lang="en-US" altLang="zh-CN"/>
            </a:p>
          </p:txBody>
        </p:sp>
        <p:cxnSp>
          <p:nvCxnSpPr>
            <p:cNvPr id="59" name="曲线连接符 58"/>
            <p:cNvCxnSpPr/>
            <p:nvPr/>
          </p:nvCxnSpPr>
          <p:spPr>
            <a:xfrm flipV="1">
              <a:off x="17045" y="6013"/>
              <a:ext cx="1066" cy="2376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0" name="文本框 59"/>
            <p:cNvSpPr txBox="1"/>
            <p:nvPr/>
          </p:nvSpPr>
          <p:spPr>
            <a:xfrm>
              <a:off x="17489" y="6598"/>
              <a:ext cx="70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3</a:t>
              </a:r>
              <a:endParaRPr lang="en-US" altLang="zh-CN"/>
            </a:p>
          </p:txBody>
        </p:sp>
        <p:cxnSp>
          <p:nvCxnSpPr>
            <p:cNvPr id="61" name="直接箭头连接符 60"/>
            <p:cNvCxnSpPr/>
            <p:nvPr/>
          </p:nvCxnSpPr>
          <p:spPr>
            <a:xfrm flipH="1" flipV="1">
              <a:off x="16965" y="9607"/>
              <a:ext cx="1066" cy="2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2" name="文本框 61"/>
            <p:cNvSpPr txBox="1"/>
            <p:nvPr/>
          </p:nvSpPr>
          <p:spPr>
            <a:xfrm>
              <a:off x="17169" y="9538"/>
              <a:ext cx="70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11</a:t>
              </a:r>
              <a:endParaRPr lang="en-US" altLang="zh-CN"/>
            </a:p>
          </p:txBody>
        </p:sp>
      </p:grpSp>
      <p:sp>
        <p:nvSpPr>
          <p:cNvPr id="64" name="Text 1"/>
          <p:cNvSpPr/>
          <p:nvPr/>
        </p:nvSpPr>
        <p:spPr>
          <a:xfrm>
            <a:off x="632460" y="1330960"/>
            <a:ext cx="14732000" cy="106807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请求的流程：</a:t>
            </a:r>
            <a:r>
              <a:rPr lang="en-US" altLang="zh-CN" sz="18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Server</a:t>
            </a:r>
            <a:r>
              <a:rPr lang="zh-CN" altLang="en-US" sz="18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、</a:t>
            </a:r>
            <a:r>
              <a:rPr lang="en-US" altLang="zh-CN" sz="18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Scheduler</a:t>
            </a:r>
            <a:r>
              <a:rPr lang="zh-CN" altLang="en-US" sz="18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、</a:t>
            </a:r>
            <a:r>
              <a:rPr lang="en-US" altLang="zh-CN" sz="18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 Model</a:t>
            </a:r>
            <a:endParaRPr lang="zh-CN" altLang="en-US" sz="180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  <a:sym typeface="+mn-ea"/>
              </a:rPr>
              <a:t>PD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  <a:sym typeface="+mn-ea"/>
              </a:rPr>
              <a:t>分离下的模块</a:t>
            </a:r>
            <a:endParaRPr lang="zh-CN" altLang="en-US" sz="180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165345" y="2400162"/>
            <a:ext cx="10993289" cy="159047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solidFill>
              <a:srgbClr val="5B9BD5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21872" tIns="60936" rIns="121872" bIns="60936" numCol="1" spcCol="0" rtlCol="0" fromWordArt="0" anchor="t" anchorCtr="0" forceAA="0" compatLnSpc="1">
            <a:noAutofit/>
          </a:bodyPr>
          <a:lstStyle/>
          <a:p>
            <a:pPr algn="ctr" defTabSz="1218565">
              <a:defRPr/>
            </a:pPr>
            <a:endParaRPr lang="en-US" altLang="zh-CN" sz="1600" b="1" kern="0" dirty="0">
              <a:solidFill>
                <a:prstClr val="black"/>
              </a:solidFill>
              <a:latin typeface="微软雅黑" panose="020B0503020204020204" charset="-122"/>
            </a:endParaRPr>
          </a:p>
          <a:p>
            <a:pPr algn="ctr" defTabSz="1218565">
              <a:defRPr/>
            </a:pPr>
            <a:r>
              <a:rPr lang="en-US" altLang="zh-CN" sz="1600" b="1" kern="0" dirty="0">
                <a:solidFill>
                  <a:prstClr val="black"/>
                </a:solidFill>
                <a:latin typeface="微软雅黑" panose="020B0503020204020204" charset="-122"/>
              </a:rPr>
              <a:t>SGLang</a:t>
            </a:r>
            <a:endParaRPr lang="en-US" altLang="zh-CN" sz="1600" b="1" kern="0" dirty="0">
              <a:solidFill>
                <a:prstClr val="black"/>
              </a:solidFill>
              <a:latin typeface="微软雅黑" panose="020B0503020204020204" charset="-122"/>
            </a:endParaRPr>
          </a:p>
          <a:p>
            <a:pPr algn="ctr" defTabSz="1218565">
              <a:defRPr/>
            </a:pPr>
            <a:endParaRPr lang="zh-CN" altLang="en-US" sz="1600" b="1" kern="0" dirty="0">
              <a:solidFill>
                <a:prstClr val="black"/>
              </a:solidFill>
              <a:latin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65346" y="6612084"/>
            <a:ext cx="2756007" cy="679987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1D1D1A">
                <a:lumMod val="10000"/>
                <a:lumOff val="9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200">
              <a:defRPr/>
            </a:pPr>
            <a:r>
              <a:rPr lang="en-US" altLang="zh-CN" sz="1600" kern="0" dirty="0">
                <a:solidFill>
                  <a:prstClr val="black"/>
                </a:solidFill>
                <a:latin typeface="微软雅黑" panose="020B0503020204020204" charset="-122"/>
              </a:rPr>
              <a:t>GPU</a:t>
            </a:r>
            <a:endParaRPr lang="zh-CN" altLang="en-US" sz="1600" kern="0" dirty="0">
              <a:solidFill>
                <a:prstClr val="black"/>
              </a:solidFill>
              <a:latin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186025" y="6612084"/>
            <a:ext cx="2756007" cy="679987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1D1D1A">
                <a:lumMod val="10000"/>
                <a:lumOff val="9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200">
              <a:defRPr/>
            </a:pPr>
            <a:endParaRPr lang="en-US" altLang="zh-CN" sz="1600" kern="0" dirty="0">
              <a:solidFill>
                <a:prstClr val="black"/>
              </a:solidFill>
              <a:latin typeface="微软雅黑" panose="020B0503020204020204" charset="-122"/>
            </a:endParaRPr>
          </a:p>
          <a:p>
            <a:pPr algn="ctr" defTabSz="1219200">
              <a:defRPr/>
            </a:pPr>
            <a:r>
              <a:rPr lang="en-US" altLang="zh-CN" sz="1600" kern="0" dirty="0">
                <a:solidFill>
                  <a:prstClr val="black"/>
                </a:solidFill>
                <a:latin typeface="微软雅黑" panose="020B0503020204020204" charset="-122"/>
              </a:rPr>
              <a:t>AMD</a:t>
            </a:r>
            <a:endParaRPr lang="en-US" altLang="zh-CN" sz="1600" kern="0" dirty="0">
              <a:solidFill>
                <a:prstClr val="black"/>
              </a:solidFill>
              <a:latin typeface="微软雅黑" panose="020B0503020204020204" charset="-122"/>
            </a:endParaRPr>
          </a:p>
          <a:p>
            <a:pPr algn="ctr" defTabSz="1219200">
              <a:defRPr/>
            </a:pPr>
            <a:r>
              <a:rPr lang="en-US" altLang="zh-CN" sz="1600" kern="0" dirty="0">
                <a:solidFill>
                  <a:prstClr val="black"/>
                </a:solidFill>
                <a:latin typeface="微软雅黑" panose="020B0503020204020204" charset="-122"/>
              </a:rPr>
              <a:t>GPU</a:t>
            </a:r>
            <a:endParaRPr lang="zh-CN" altLang="en-US" sz="1600" kern="0" dirty="0">
              <a:solidFill>
                <a:prstClr val="black"/>
              </a:solidFill>
              <a:latin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206703" y="6612084"/>
            <a:ext cx="2756007" cy="679987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1D1D1A">
                <a:lumMod val="10000"/>
                <a:lumOff val="9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200">
              <a:defRPr/>
            </a:pPr>
            <a:r>
              <a:rPr lang="en-US" altLang="zh-CN" sz="1600" kern="0" dirty="0">
                <a:solidFill>
                  <a:srgbClr val="C00000"/>
                </a:solidFill>
                <a:latin typeface="微软雅黑" panose="020B0503020204020204" charset="-122"/>
              </a:rPr>
              <a:t>NPU</a:t>
            </a:r>
            <a:endParaRPr lang="zh-CN" altLang="en-US" sz="1600" kern="0" dirty="0">
              <a:solidFill>
                <a:srgbClr val="C00000"/>
              </a:solidFill>
              <a:latin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65345" y="4250453"/>
            <a:ext cx="10993289" cy="53689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solidFill>
              <a:srgbClr val="5B9BD5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21872" tIns="60936" rIns="121872" bIns="60936" numCol="1" spcCol="0" rtlCol="0" fromWordArt="0" anchor="ctr" anchorCtr="0" forceAA="0" compatLnSpc="1">
            <a:noAutofit/>
          </a:bodyPr>
          <a:lstStyle/>
          <a:p>
            <a:pPr algn="ctr" defTabSz="1218565"/>
            <a:r>
              <a:rPr lang="en-US" altLang="zh-CN" sz="1465" b="1" kern="0" dirty="0">
                <a:solidFill>
                  <a:prstClr val="black"/>
                </a:solidFill>
                <a:latin typeface="微软雅黑" panose="020B0503020204020204" charset="-122"/>
              </a:rPr>
              <a:t>PyTorch</a:t>
            </a:r>
            <a:endParaRPr lang="en-US" altLang="zh-CN" sz="1465" b="1" kern="0" dirty="0">
              <a:solidFill>
                <a:prstClr val="black"/>
              </a:solidFill>
              <a:latin typeface="微软雅黑" panose="020B0503020204020204" charset="-122"/>
            </a:endParaRPr>
          </a:p>
          <a:p>
            <a:pPr algn="ctr" defTabSz="1218565"/>
            <a:r>
              <a:rPr lang="en-US" altLang="zh-CN" sz="1465" kern="0" dirty="0">
                <a:solidFill>
                  <a:prstClr val="black"/>
                </a:solidFill>
                <a:latin typeface="微软雅黑" panose="020B0503020204020204" charset="-122"/>
              </a:rPr>
              <a:t>(</a:t>
            </a:r>
            <a:r>
              <a:rPr lang="en-US" altLang="zh-CN" sz="1465" kern="0" dirty="0" err="1">
                <a:solidFill>
                  <a:prstClr val="black"/>
                </a:solidFill>
                <a:latin typeface="微软雅黑" panose="020B0503020204020204" charset="-122"/>
              </a:rPr>
              <a:t>xPU</a:t>
            </a:r>
            <a:r>
              <a:rPr lang="zh-CN" altLang="en-US" sz="1465" kern="0" dirty="0">
                <a:solidFill>
                  <a:prstClr val="black"/>
                </a:solidFill>
                <a:latin typeface="微软雅黑" panose="020B0503020204020204" charset="-122"/>
              </a:rPr>
              <a:t> </a:t>
            </a:r>
            <a:r>
              <a:rPr lang="en-US" altLang="zh-CN" sz="1465" kern="0" dirty="0">
                <a:solidFill>
                  <a:prstClr val="black"/>
                </a:solidFill>
                <a:latin typeface="微软雅黑" panose="020B0503020204020204" charset="-122"/>
              </a:rPr>
              <a:t>support with extensions)</a:t>
            </a:r>
            <a:endParaRPr lang="zh-CN" altLang="en-US" sz="1465" kern="0" dirty="0">
              <a:solidFill>
                <a:prstClr val="black"/>
              </a:solidFill>
              <a:latin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65346" y="5843871"/>
            <a:ext cx="2756007" cy="56064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1D1D1A">
                <a:lumMod val="10000"/>
                <a:lumOff val="9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200">
              <a:defRPr/>
            </a:pPr>
            <a:r>
              <a:rPr lang="en-US" altLang="zh-CN" sz="1600" kern="0" dirty="0">
                <a:solidFill>
                  <a:prstClr val="black"/>
                </a:solidFill>
                <a:latin typeface="微软雅黑" panose="020B0503020204020204" charset="-122"/>
              </a:rPr>
              <a:t>CUDA</a:t>
            </a:r>
            <a:endParaRPr lang="zh-CN" altLang="en-US" sz="1600" kern="0" dirty="0">
              <a:solidFill>
                <a:prstClr val="black"/>
              </a:solidFill>
              <a:latin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206703" y="5843871"/>
            <a:ext cx="2756007" cy="56064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1D1D1A">
                <a:lumMod val="10000"/>
                <a:lumOff val="9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200">
              <a:defRPr/>
            </a:pPr>
            <a:r>
              <a:rPr lang="en-US" altLang="zh-CN" sz="1600" kern="0" dirty="0">
                <a:solidFill>
                  <a:srgbClr val="C00000"/>
                </a:solidFill>
                <a:latin typeface="微软雅黑" panose="020B0503020204020204" charset="-122"/>
              </a:rPr>
              <a:t>CANN</a:t>
            </a:r>
            <a:endParaRPr lang="zh-CN" altLang="en-US" sz="1600" kern="0" dirty="0">
              <a:solidFill>
                <a:srgbClr val="C00000"/>
              </a:solidFill>
              <a:latin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186025" y="5843871"/>
            <a:ext cx="2756007" cy="56064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1D1D1A">
                <a:lumMod val="10000"/>
                <a:lumOff val="9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200">
              <a:defRPr/>
            </a:pPr>
            <a:r>
              <a:rPr lang="en-US" altLang="zh-CN" sz="1600" kern="0" dirty="0" err="1">
                <a:solidFill>
                  <a:prstClr val="black"/>
                </a:solidFill>
                <a:latin typeface="微软雅黑" panose="020B0503020204020204" charset="-122"/>
              </a:rPr>
              <a:t>ROCm</a:t>
            </a:r>
            <a:endParaRPr lang="zh-CN" altLang="en-US" sz="1600" kern="0" dirty="0">
              <a:solidFill>
                <a:prstClr val="black"/>
              </a:solidFill>
              <a:latin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165343" y="1793624"/>
            <a:ext cx="4381608" cy="442509"/>
          </a:xfrm>
          <a:prstGeom prst="rect">
            <a:avLst/>
          </a:prstGeom>
          <a:solidFill>
            <a:srgbClr val="DEEBF7"/>
          </a:solidFill>
          <a:ln w="12700" cap="flat" cmpd="sng" algn="ctr">
            <a:solidFill>
              <a:srgbClr val="BDD7E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1600" kern="0" dirty="0">
                <a:solidFill>
                  <a:prstClr val="black"/>
                </a:solidFill>
                <a:latin typeface="微软雅黑" panose="020B0503020204020204" charset="-122"/>
              </a:rPr>
              <a:t>在线推理</a:t>
            </a:r>
            <a:endParaRPr lang="zh-CN" altLang="en-US" sz="1600" kern="0" dirty="0">
              <a:solidFill>
                <a:prstClr val="black"/>
              </a:solidFill>
              <a:latin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645989" y="1793624"/>
            <a:ext cx="3787375" cy="442509"/>
          </a:xfrm>
          <a:prstGeom prst="rect">
            <a:avLst/>
          </a:prstGeom>
          <a:solidFill>
            <a:srgbClr val="DEEBF7"/>
          </a:solidFill>
          <a:ln w="12700" cap="flat" cmpd="sng" algn="ctr">
            <a:solidFill>
              <a:srgbClr val="BDD7E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1600" kern="0" dirty="0">
                <a:solidFill>
                  <a:prstClr val="black"/>
                </a:solidFill>
                <a:latin typeface="微软雅黑" panose="020B0503020204020204" charset="-122"/>
              </a:rPr>
              <a:t>强化学习</a:t>
            </a:r>
            <a:endParaRPr lang="zh-CN" altLang="en-US" sz="1600" kern="0" dirty="0">
              <a:solidFill>
                <a:prstClr val="black"/>
              </a:solidFill>
              <a:latin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206703" y="7490936"/>
            <a:ext cx="2756007" cy="427593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1D1D1A">
                <a:lumMod val="10000"/>
                <a:lumOff val="9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200">
              <a:defRPr/>
            </a:pPr>
            <a:r>
              <a:rPr lang="en-US" altLang="zh-CN" sz="1600" kern="0" dirty="0">
                <a:solidFill>
                  <a:srgbClr val="C00000"/>
                </a:solidFill>
                <a:latin typeface="微软雅黑" panose="020B0503020204020204" charset="-122"/>
              </a:rPr>
              <a:t>HCCS/Device RoCE</a:t>
            </a:r>
            <a:endParaRPr lang="zh-CN" altLang="en-US" sz="1600" kern="0" dirty="0">
              <a:solidFill>
                <a:srgbClr val="C00000"/>
              </a:solidFill>
              <a:latin typeface="微软雅黑" panose="020B050302020402020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165346" y="7490936"/>
            <a:ext cx="2756007" cy="427593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1D1D1A">
                <a:lumMod val="10000"/>
                <a:lumOff val="9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200">
              <a:defRPr/>
            </a:pPr>
            <a:r>
              <a:rPr lang="en-US" altLang="zh-CN" sz="1600" kern="0" dirty="0" err="1">
                <a:solidFill>
                  <a:prstClr val="black"/>
                </a:solidFill>
                <a:latin typeface="微软雅黑" panose="020B0503020204020204" charset="-122"/>
              </a:rPr>
              <a:t>NVLink</a:t>
            </a:r>
            <a:r>
              <a:rPr lang="en-US" altLang="zh-CN" sz="1600" kern="0" dirty="0">
                <a:solidFill>
                  <a:prstClr val="black"/>
                </a:solidFill>
                <a:latin typeface="微软雅黑" panose="020B0503020204020204" charset="-122"/>
              </a:rPr>
              <a:t>/IB</a:t>
            </a:r>
            <a:endParaRPr lang="zh-CN" altLang="en-US" sz="1600" kern="0" dirty="0">
              <a:solidFill>
                <a:prstClr val="black"/>
              </a:solidFill>
              <a:latin typeface="微软雅黑" panose="020B050302020402020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532401" y="1793624"/>
            <a:ext cx="2626233" cy="442509"/>
          </a:xfrm>
          <a:prstGeom prst="rect">
            <a:avLst/>
          </a:prstGeom>
          <a:solidFill>
            <a:srgbClr val="DEEBF7"/>
          </a:solidFill>
          <a:ln w="12700" cap="flat" cmpd="sng" algn="ctr">
            <a:solidFill>
              <a:srgbClr val="BDD7E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altLang="zh-CN" sz="1600" kern="0" dirty="0">
                <a:solidFill>
                  <a:prstClr val="black"/>
                </a:solidFill>
                <a:latin typeface="微软雅黑" panose="020B0503020204020204" charset="-122"/>
              </a:rPr>
              <a:t>…</a:t>
            </a:r>
            <a:endParaRPr lang="zh-CN" altLang="en-US" sz="1600" kern="0" dirty="0">
              <a:solidFill>
                <a:prstClr val="black"/>
              </a:solidFill>
              <a:latin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0227382" y="5836883"/>
            <a:ext cx="1931255" cy="56763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1D1D1A">
                <a:lumMod val="10000"/>
                <a:lumOff val="9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200">
              <a:defRPr/>
            </a:pPr>
            <a:r>
              <a:rPr lang="en-US" altLang="zh-CN" sz="1600" kern="0" dirty="0">
                <a:solidFill>
                  <a:prstClr val="black"/>
                </a:solidFill>
                <a:latin typeface="微软雅黑" panose="020B0503020204020204" charset="-122"/>
              </a:rPr>
              <a:t>…</a:t>
            </a:r>
            <a:endParaRPr lang="zh-CN" altLang="en-US" sz="1600" kern="0" dirty="0">
              <a:solidFill>
                <a:prstClr val="black"/>
              </a:solidFill>
              <a:latin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0227381" y="6612084"/>
            <a:ext cx="1931255" cy="679987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1D1D1A">
                <a:lumMod val="10000"/>
                <a:lumOff val="9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200">
              <a:defRPr/>
            </a:pPr>
            <a:r>
              <a:rPr lang="en-US" altLang="zh-CN" sz="1600" kern="0" dirty="0">
                <a:solidFill>
                  <a:prstClr val="black"/>
                </a:solidFill>
                <a:latin typeface="微软雅黑" panose="020B0503020204020204" charset="-122"/>
              </a:rPr>
              <a:t>…</a:t>
            </a:r>
            <a:endParaRPr lang="zh-CN" altLang="en-US" sz="1600" kern="0" dirty="0">
              <a:solidFill>
                <a:prstClr val="black"/>
              </a:solidFill>
              <a:latin typeface="微软雅黑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0227379" y="7499613"/>
            <a:ext cx="1931255" cy="42079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1D1D1A">
                <a:lumMod val="10000"/>
                <a:lumOff val="9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200">
              <a:defRPr/>
            </a:pPr>
            <a:r>
              <a:rPr lang="en-US" altLang="zh-CN" sz="1600" kern="0" dirty="0">
                <a:solidFill>
                  <a:prstClr val="black"/>
                </a:solidFill>
                <a:latin typeface="微软雅黑" panose="020B0503020204020204" charset="-122"/>
              </a:rPr>
              <a:t>…</a:t>
            </a:r>
            <a:endParaRPr lang="zh-CN" altLang="en-US" sz="1600" kern="0" dirty="0">
              <a:solidFill>
                <a:prstClr val="black"/>
              </a:solidFill>
              <a:latin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196265" y="7499613"/>
            <a:ext cx="2745767" cy="42079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1D1D1A">
                <a:lumMod val="10000"/>
                <a:lumOff val="9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200">
              <a:defRPr/>
            </a:pPr>
            <a:r>
              <a:rPr lang="en-US" altLang="zh-CN" sz="1600" kern="0" dirty="0">
                <a:solidFill>
                  <a:prstClr val="black"/>
                </a:solidFill>
                <a:latin typeface="微软雅黑" panose="020B0503020204020204" charset="-122"/>
              </a:rPr>
              <a:t>…</a:t>
            </a:r>
            <a:endParaRPr lang="zh-CN" altLang="en-US" sz="1600" kern="0" dirty="0">
              <a:solidFill>
                <a:prstClr val="black"/>
              </a:solidFill>
              <a:latin typeface="微软雅黑" panose="020B050302020402020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396914" y="3142209"/>
            <a:ext cx="1449591" cy="545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accent4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200">
              <a:defRPr/>
            </a:pPr>
            <a:r>
              <a:rPr lang="en-US" altLang="zh-CN" sz="1465" kern="0" dirty="0">
                <a:solidFill>
                  <a:srgbClr val="1D1D1A"/>
                </a:solidFill>
                <a:latin typeface="微软雅黑" panose="020B0503020204020204" charset="-122"/>
              </a:rPr>
              <a:t>Custom Op Dispatch</a:t>
            </a:r>
            <a:endParaRPr lang="zh-CN" altLang="en-US" sz="1465" kern="0" dirty="0">
              <a:solidFill>
                <a:srgbClr val="1D1D1A"/>
              </a:solidFill>
              <a:latin typeface="微软雅黑" panose="020B050302020402020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989305" y="3142209"/>
            <a:ext cx="1153104" cy="545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accent4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200">
              <a:defRPr/>
            </a:pPr>
            <a:r>
              <a:rPr lang="en-US" altLang="zh-CN" sz="1465" kern="0" dirty="0">
                <a:solidFill>
                  <a:srgbClr val="1D1D1A"/>
                </a:solidFill>
                <a:latin typeface="微软雅黑" panose="020B0503020204020204" charset="-122"/>
              </a:rPr>
              <a:t>Attention Backend</a:t>
            </a:r>
            <a:endParaRPr lang="zh-CN" altLang="en-US" sz="1465" kern="0" dirty="0">
              <a:solidFill>
                <a:srgbClr val="1D1D1A"/>
              </a:solidFill>
              <a:latin typeface="微软雅黑" panose="020B050302020402020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285211" y="3142209"/>
            <a:ext cx="1153104" cy="545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accent4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200">
              <a:defRPr/>
            </a:pPr>
            <a:r>
              <a:rPr lang="en-US" altLang="zh-CN" sz="1465" kern="0" dirty="0" err="1">
                <a:solidFill>
                  <a:srgbClr val="1D1D1A"/>
                </a:solidFill>
                <a:latin typeface="微软雅黑" panose="020B0503020204020204" charset="-122"/>
              </a:rPr>
              <a:t>MoE</a:t>
            </a:r>
            <a:r>
              <a:rPr lang="en-US" altLang="zh-CN" sz="1465" kern="0" dirty="0">
                <a:solidFill>
                  <a:srgbClr val="1D1D1A"/>
                </a:solidFill>
                <a:latin typeface="微软雅黑" panose="020B0503020204020204" charset="-122"/>
              </a:rPr>
              <a:t> Backend</a:t>
            </a:r>
            <a:endParaRPr lang="zh-CN" altLang="en-US" sz="1465" kern="0" dirty="0">
              <a:solidFill>
                <a:srgbClr val="1D1D1A"/>
              </a:solidFill>
              <a:latin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805391" y="3142209"/>
            <a:ext cx="961119" cy="545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accent4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200">
              <a:defRPr/>
            </a:pPr>
            <a:r>
              <a:rPr lang="en-US" altLang="zh-CN" sz="1465" kern="0" dirty="0" err="1">
                <a:solidFill>
                  <a:srgbClr val="1D1D1A"/>
                </a:solidFill>
                <a:latin typeface="微软雅黑" panose="020B0503020204020204" charset="-122"/>
              </a:rPr>
              <a:t>KVPool</a:t>
            </a:r>
            <a:endParaRPr lang="zh-CN" altLang="en-US" sz="1465" kern="0" dirty="0">
              <a:solidFill>
                <a:srgbClr val="1D1D1A"/>
              </a:solidFill>
              <a:latin typeface="微软雅黑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909311" y="3142209"/>
            <a:ext cx="1087264" cy="545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accent4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200">
              <a:defRPr/>
            </a:pPr>
            <a:r>
              <a:rPr lang="en-US" altLang="zh-CN" sz="1465" kern="0" dirty="0">
                <a:solidFill>
                  <a:srgbClr val="1D1D1A"/>
                </a:solidFill>
                <a:latin typeface="微软雅黑" panose="020B0503020204020204" charset="-122"/>
              </a:rPr>
              <a:t>PD Transfer</a:t>
            </a:r>
            <a:endParaRPr lang="zh-CN" altLang="en-US" sz="1465" kern="0" dirty="0">
              <a:solidFill>
                <a:srgbClr val="1D1D1A"/>
              </a:solidFill>
              <a:latin typeface="微软雅黑" panose="020B050302020402020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608754" y="3142209"/>
            <a:ext cx="1053836" cy="545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accent4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200">
              <a:defRPr/>
            </a:pPr>
            <a:r>
              <a:rPr lang="en-US" altLang="zh-CN" sz="1465" kern="0" dirty="0">
                <a:solidFill>
                  <a:srgbClr val="1D1D1A"/>
                </a:solidFill>
                <a:latin typeface="微软雅黑" panose="020B0503020204020204" charset="-122"/>
              </a:rPr>
              <a:t>Graph Mode</a:t>
            </a:r>
            <a:endParaRPr lang="zh-CN" altLang="en-US" sz="1465" kern="0" dirty="0">
              <a:solidFill>
                <a:srgbClr val="1D1D1A"/>
              </a:solidFill>
              <a:latin typeface="微软雅黑" panose="020B050302020402020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0139376" y="3142209"/>
            <a:ext cx="1087264" cy="545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accent4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200">
              <a:defRPr/>
            </a:pPr>
            <a:r>
              <a:rPr lang="en-US" altLang="zh-CN" sz="1465" kern="0" dirty="0">
                <a:solidFill>
                  <a:srgbClr val="1D1D1A"/>
                </a:solidFill>
                <a:latin typeface="微软雅黑" panose="020B0503020204020204" charset="-122"/>
              </a:rPr>
              <a:t>L3 </a:t>
            </a:r>
            <a:r>
              <a:rPr lang="en-US" altLang="zh-CN" sz="1465" kern="0" dirty="0" err="1">
                <a:solidFill>
                  <a:srgbClr val="1D1D1A"/>
                </a:solidFill>
                <a:latin typeface="微软雅黑" panose="020B0503020204020204" charset="-122"/>
              </a:rPr>
              <a:t>KVCache</a:t>
            </a:r>
            <a:endParaRPr lang="zh-CN" altLang="en-US" sz="1465" kern="0" dirty="0">
              <a:solidFill>
                <a:srgbClr val="1D1D1A"/>
              </a:solidFill>
              <a:latin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2585831" y="3202737"/>
            <a:ext cx="2042616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kumimoji="1" sz="12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defTabSz="1219200">
              <a:defRPr/>
            </a:pPr>
            <a:r>
              <a:rPr lang="en-US" altLang="zh-CN" sz="1600" kern="0" dirty="0">
                <a:solidFill>
                  <a:schemeClr val="tx1"/>
                </a:solidFill>
              </a:rPr>
              <a:t>SGLang</a:t>
            </a:r>
            <a:r>
              <a:rPr lang="zh-CN" altLang="en-US" sz="1600" kern="0" dirty="0">
                <a:solidFill>
                  <a:schemeClr val="tx1"/>
                </a:solidFill>
              </a:rPr>
              <a:t>框架扩展</a:t>
            </a:r>
            <a:r>
              <a:rPr lang="en-US" altLang="zh-CN" sz="1600" kern="0" dirty="0">
                <a:solidFill>
                  <a:schemeClr val="tx1"/>
                </a:solidFill>
              </a:rPr>
              <a:t>: </a:t>
            </a:r>
            <a:endParaRPr lang="en-US" altLang="zh-CN" sz="1600" kern="0" dirty="0">
              <a:solidFill>
                <a:schemeClr val="tx1"/>
              </a:solidFill>
            </a:endParaRPr>
          </a:p>
          <a:p>
            <a:pPr defTabSz="1219200">
              <a:defRPr/>
            </a:pPr>
            <a:r>
              <a:rPr lang="zh-CN" altLang="en-US" sz="1600" b="0" kern="0" dirty="0">
                <a:solidFill>
                  <a:schemeClr val="tx1"/>
                </a:solidFill>
              </a:rPr>
              <a:t>针对硬件的性能优化</a:t>
            </a:r>
            <a:endParaRPr lang="en-US" altLang="zh-CN" sz="1600" b="0" kern="0" dirty="0">
              <a:solidFill>
                <a:schemeClr val="tx1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2585833" y="4293114"/>
            <a:ext cx="2042615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219200"/>
            <a:r>
              <a:rPr kumimoji="1"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PyTorch</a:t>
            </a:r>
            <a:r>
              <a:rPr kumimoji="1"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多硬件支持</a:t>
            </a:r>
            <a:r>
              <a:rPr kumimoji="1"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: </a:t>
            </a:r>
            <a:endParaRPr kumimoji="1"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defTabSz="1219200"/>
            <a:r>
              <a:rPr kumimoji="1"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保证基础功能运行</a:t>
            </a:r>
            <a:endParaRPr kumimoji="1" lang="zh-CN" altLang="en-US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581117" y="3142209"/>
            <a:ext cx="884836" cy="545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accent4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200">
              <a:defRPr/>
            </a:pPr>
            <a:r>
              <a:rPr lang="en-US" altLang="zh-CN" sz="1465" kern="0" dirty="0">
                <a:solidFill>
                  <a:srgbClr val="1D1D1A"/>
                </a:solidFill>
                <a:latin typeface="微软雅黑" panose="020B0503020204020204" charset="-122"/>
              </a:rPr>
              <a:t>Triton</a:t>
            </a:r>
            <a:endParaRPr lang="zh-CN" altLang="en-US" sz="1465" kern="0" dirty="0">
              <a:solidFill>
                <a:srgbClr val="1D1D1A"/>
              </a:solidFill>
              <a:latin typeface="微软雅黑" panose="020B050302020402020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1369441" y="3142209"/>
            <a:ext cx="566607" cy="545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accent4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200">
              <a:defRPr/>
            </a:pPr>
            <a:r>
              <a:rPr lang="en-US" altLang="zh-CN" sz="1465" kern="0" dirty="0">
                <a:solidFill>
                  <a:srgbClr val="1D1D1A"/>
                </a:solidFill>
                <a:latin typeface="微软雅黑" panose="020B0503020204020204" charset="-122"/>
              </a:rPr>
              <a:t>…</a:t>
            </a:r>
            <a:endParaRPr lang="zh-CN" altLang="en-US" sz="1465" kern="0" dirty="0">
              <a:solidFill>
                <a:srgbClr val="1D1D1A"/>
              </a:solidFill>
              <a:latin typeface="微软雅黑" panose="020B050302020402020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165344" y="5047162"/>
            <a:ext cx="10993289" cy="53689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solidFill>
              <a:srgbClr val="5B9BD5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21872" tIns="60936" rIns="121872" bIns="60936" numCol="1" spcCol="0" rtlCol="0" fromWordArt="0" anchor="ctr" anchorCtr="0" forceAA="0" compatLnSpc="1">
            <a:noAutofit/>
          </a:bodyPr>
          <a:lstStyle/>
          <a:p>
            <a:pPr algn="ctr" defTabSz="1218565"/>
            <a:r>
              <a:rPr lang="en-US" altLang="zh-CN" sz="1465" kern="0" dirty="0" err="1">
                <a:solidFill>
                  <a:prstClr val="black"/>
                </a:solidFill>
                <a:latin typeface="微软雅黑" panose="020B0503020204020204" charset="-122"/>
              </a:rPr>
              <a:t>xCCL</a:t>
            </a:r>
            <a:r>
              <a:rPr lang="en-US" altLang="zh-CN" sz="1465" kern="0" dirty="0">
                <a:solidFill>
                  <a:prstClr val="black"/>
                </a:solidFill>
                <a:latin typeface="微软雅黑" panose="020B0503020204020204" charset="-122"/>
              </a:rPr>
              <a:t> | </a:t>
            </a:r>
            <a:r>
              <a:rPr lang="zh-CN" altLang="en-US" sz="1465" kern="0" dirty="0">
                <a:solidFill>
                  <a:prstClr val="black"/>
                </a:solidFill>
                <a:latin typeface="微软雅黑" panose="020B0503020204020204" charset="-122"/>
              </a:rPr>
              <a:t>融合算子 </a:t>
            </a:r>
            <a:r>
              <a:rPr lang="en-US" altLang="zh-CN" sz="1465" kern="0" dirty="0">
                <a:solidFill>
                  <a:prstClr val="black"/>
                </a:solidFill>
                <a:latin typeface="微软雅黑" panose="020B0503020204020204" charset="-122"/>
              </a:rPr>
              <a:t>| Infer</a:t>
            </a:r>
            <a:r>
              <a:rPr lang="zh-CN" altLang="en-US" sz="1465" kern="0" dirty="0">
                <a:solidFill>
                  <a:prstClr val="black"/>
                </a:solidFill>
                <a:latin typeface="微软雅黑" panose="020B0503020204020204" charset="-122"/>
              </a:rPr>
              <a:t>加速库 </a:t>
            </a:r>
            <a:r>
              <a:rPr lang="en-US" altLang="zh-CN" sz="1465" kern="0" dirty="0">
                <a:solidFill>
                  <a:prstClr val="black"/>
                </a:solidFill>
                <a:latin typeface="微软雅黑" panose="020B0503020204020204" charset="-122"/>
              </a:rPr>
              <a:t>| Triton Runtime | Mooncake/NIXL | …</a:t>
            </a:r>
            <a:endParaRPr lang="zh-CN" altLang="en-US" sz="1465" kern="0" dirty="0">
              <a:solidFill>
                <a:prstClr val="black"/>
              </a:solidFill>
              <a:latin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2585833" y="5192497"/>
            <a:ext cx="193576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219200"/>
            <a:r>
              <a:rPr kumimoji="1"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第三方加速库</a:t>
            </a:r>
            <a:endParaRPr kumimoji="1" lang="zh-CN" altLang="en-US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Text 0"/>
          <p:cNvSpPr/>
          <p:nvPr/>
        </p:nvSpPr>
        <p:spPr>
          <a:xfrm>
            <a:off x="632460" y="262255"/>
            <a:ext cx="8710295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p>
            <a:pPr algn="l">
              <a:lnSpc>
                <a:spcPct val="130000"/>
              </a:lnSpc>
            </a:pPr>
            <a:r>
              <a:rPr lang="en-US" sz="32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SGLang </a:t>
            </a:r>
            <a:r>
              <a:rPr lang="zh-CN" altLang="en-US" sz="3200" b="1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  <a:sym typeface="+mn-ea"/>
              </a:rPr>
              <a:t>整体设计架构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>
          <a:xfrm>
            <a:off x="426058" y="6948014"/>
            <a:ext cx="11559741" cy="13425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 defTabSz="1219200">
              <a:defRPr/>
            </a:pPr>
            <a:endParaRPr lang="zh-CN" altLang="en-US" sz="2400" kern="0"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25678" y="2623285"/>
            <a:ext cx="11560121" cy="3991796"/>
          </a:xfrm>
          <a:prstGeom prst="rect">
            <a:avLst/>
          </a:prstGeom>
          <a:solidFill>
            <a:srgbClr val="666666">
              <a:lumMod val="20000"/>
              <a:lumOff val="80000"/>
            </a:srgbClr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121872" tIns="60936" rIns="121872" bIns="60936" numCol="1" spcCol="0" rtlCol="0" fromWordArt="0" anchor="ctr" anchorCtr="0" forceAA="0" compatLnSpc="1">
            <a:noAutofit/>
          </a:bodyPr>
          <a:lstStyle/>
          <a:p>
            <a:pPr algn="ctr" defTabSz="1219200">
              <a:defRPr/>
            </a:pPr>
            <a:endParaRPr lang="zh-CN" altLang="en-US" sz="2400" kern="0" dirty="0" err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5678" y="1906121"/>
            <a:ext cx="11560121" cy="583671"/>
          </a:xfrm>
          <a:prstGeom prst="rect">
            <a:avLst/>
          </a:prstGeom>
          <a:solidFill>
            <a:srgbClr val="E0E0E0"/>
          </a:solidFill>
          <a:ln w="9525" cap="flat" cmpd="sng" algn="ctr">
            <a:solidFill>
              <a:srgbClr val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95963" rIns="0" bIns="0" numCol="1" spcCol="0" rtlCol="0" fromWordArt="0" anchor="t" anchorCtr="0" forceAA="0" compatLnSpc="1">
            <a:noAutofit/>
          </a:bodyPr>
          <a:lstStyle/>
          <a:p>
            <a:pPr algn="ctr" defTabSz="1622425">
              <a:defRPr/>
            </a:pPr>
            <a:r>
              <a:rPr lang="en-US" altLang="zh-CN" sz="1465" kern="0" dirty="0" err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rPr>
              <a:t>sglang</a:t>
            </a:r>
            <a:r>
              <a:rPr lang="en-US" altLang="zh-CN" sz="1465" kern="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rPr>
              <a:t> Router</a:t>
            </a:r>
            <a:endParaRPr lang="en-US" altLang="zh-CN" sz="1465" kern="0" dirty="0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defTabSz="1622425">
              <a:defRPr/>
            </a:pPr>
            <a:endParaRPr lang="zh-CN" altLang="en-US" sz="1465" kern="0" dirty="0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92085" y="3422635"/>
            <a:ext cx="11228068" cy="429067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DDDD">
                <a:lumMod val="50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 defTabSz="1622425">
              <a:defRPr/>
            </a:pPr>
            <a:r>
              <a:rPr lang="en-US" altLang="zh-CN" sz="1600" kern="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rPr>
              <a:t>Scheduler/DP Controller</a:t>
            </a:r>
            <a:endParaRPr lang="zh-CN" altLang="en-US" sz="1600" kern="0" dirty="0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92081" y="3983268"/>
            <a:ext cx="11228072" cy="2344393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DDDD">
                <a:lumMod val="50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95963" rIns="0" bIns="0" numCol="1" spcCol="0" rtlCol="0" fromWordArt="0" anchor="t" anchorCtr="0" forceAA="0" compatLnSpc="1">
            <a:noAutofit/>
          </a:bodyPr>
          <a:lstStyle/>
          <a:p>
            <a:pPr algn="ctr" defTabSz="1622425">
              <a:defRPr/>
            </a:pPr>
            <a:r>
              <a:rPr lang="en-US" altLang="zh-CN" sz="1600" b="1" kern="0" dirty="0" err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rPr>
              <a:t>TpModelWorker</a:t>
            </a:r>
            <a:endParaRPr lang="en-US" altLang="zh-CN" sz="1600" b="1" kern="0" dirty="0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defTabSz="1622425">
              <a:defRPr/>
            </a:pPr>
            <a:endParaRPr lang="en-US" altLang="zh-CN" sz="1600" b="1" kern="0" dirty="0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defTabSz="1622425">
              <a:defRPr/>
            </a:pPr>
            <a:endParaRPr lang="en-US" altLang="zh-CN" sz="1600" b="1" kern="0" dirty="0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defTabSz="1622425">
              <a:defRPr/>
            </a:pPr>
            <a:endParaRPr lang="en-US" altLang="zh-CN" sz="1600" b="1" kern="0" dirty="0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defTabSz="1622425">
              <a:defRPr/>
            </a:pPr>
            <a:endParaRPr lang="zh-CN" altLang="en-US" sz="1600" b="1" kern="0" dirty="0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28731" y="4377652"/>
            <a:ext cx="8633424" cy="393931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DDDDD">
                <a:lumMod val="9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8565">
              <a:defRPr/>
            </a:pPr>
            <a:r>
              <a:rPr lang="en-US" altLang="zh-CN" sz="1465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Model Runner</a:t>
            </a:r>
            <a:endParaRPr lang="zh-CN" altLang="en-US" sz="1465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28730" y="5162640"/>
            <a:ext cx="8633425" cy="1031553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DDDDD">
                <a:lumMod val="9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8565">
              <a:defRPr/>
            </a:pPr>
            <a:r>
              <a:rPr lang="en-US" altLang="zh-CN" sz="1465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Layers</a:t>
            </a:r>
            <a:endParaRPr lang="en-US" altLang="zh-CN" sz="1465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defTabSz="1218565">
              <a:defRPr/>
            </a:pPr>
            <a:endParaRPr lang="en-US" altLang="zh-CN" sz="1465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defTabSz="1218565">
              <a:defRPr/>
            </a:pPr>
            <a:endParaRPr lang="en-US" altLang="zh-CN" sz="1465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defTabSz="1218565">
              <a:defRPr/>
            </a:pPr>
            <a:endParaRPr lang="zh-CN" altLang="en-US" sz="1465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92085" y="3014093"/>
            <a:ext cx="11228068" cy="292956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DDDD">
                <a:lumMod val="50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 defTabSz="1622425">
              <a:defRPr/>
            </a:pPr>
            <a:r>
              <a:rPr lang="en-US" altLang="zh-CN" sz="1600" kern="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rPr>
              <a:t>server</a:t>
            </a:r>
            <a:endParaRPr lang="zh-CN" altLang="en-US" sz="1600" kern="0" dirty="0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28730" y="4838490"/>
            <a:ext cx="8633425" cy="252397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DDDDDD">
                <a:lumMod val="9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8565">
              <a:defRPr/>
            </a:pPr>
            <a:r>
              <a:rPr lang="en-US" altLang="zh-CN" sz="1465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Models</a:t>
            </a:r>
            <a:endParaRPr lang="zh-CN" altLang="en-US" sz="1465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92082" y="7455922"/>
            <a:ext cx="2264575" cy="686301"/>
          </a:xfrm>
          <a:prstGeom prst="rect">
            <a:avLst/>
          </a:prstGeom>
          <a:solidFill>
            <a:srgbClr val="FCC800">
              <a:lumMod val="20000"/>
              <a:lumOff val="80000"/>
            </a:srgbClr>
          </a:solidFill>
          <a:ln w="12700" cap="flat" cmpd="sng" algn="ctr">
            <a:solidFill>
              <a:srgbClr val="61B230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21872" tIns="60936" rIns="121872" bIns="60936" numCol="1" spcCol="0" rtlCol="0" fromWordArt="0" anchor="ctr" anchorCtr="0" forceAA="0" compatLnSpc="1">
            <a:noAutofit/>
          </a:bodyPr>
          <a:lstStyle/>
          <a:p>
            <a:pPr algn="ctr" defTabSz="1218565">
              <a:defRPr/>
            </a:pPr>
            <a:r>
              <a:rPr lang="zh-CN" altLang="en-US" sz="1335" kern="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rPr>
              <a:t>昇腾单算子</a:t>
            </a:r>
            <a:r>
              <a:rPr lang="en-US" altLang="zh-CN" sz="1335" kern="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endParaRPr lang="en-US" altLang="zh-CN" sz="1335" kern="0" dirty="0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defTabSz="1218565">
              <a:defRPr/>
            </a:pPr>
            <a:r>
              <a:rPr lang="zh-CN" altLang="en-US" sz="1335" kern="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rPr>
              <a:t>融合算子库、集合通信库</a:t>
            </a:r>
            <a:endParaRPr lang="zh-CN" altLang="en-US" sz="1335" kern="0" dirty="0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036962" y="4468409"/>
            <a:ext cx="703585" cy="224416"/>
          </a:xfrm>
          <a:prstGeom prst="rect">
            <a:avLst/>
          </a:prstGeom>
          <a:solidFill>
            <a:srgbClr val="30B5C5">
              <a:lumMod val="20000"/>
              <a:lumOff val="8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8565">
              <a:defRPr/>
            </a:pPr>
            <a:r>
              <a:rPr lang="en-US" altLang="zh-CN" sz="1465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EPLB</a:t>
            </a:r>
            <a:endParaRPr lang="zh-CN" altLang="en-US" sz="1465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5" name="直接箭头连接符 14"/>
          <p:cNvCxnSpPr>
            <a:stCxn id="11" idx="2"/>
            <a:endCxn id="7" idx="0"/>
          </p:cNvCxnSpPr>
          <p:nvPr/>
        </p:nvCxnSpPr>
        <p:spPr>
          <a:xfrm>
            <a:off x="6206119" y="3307048"/>
            <a:ext cx="0" cy="115587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6" name="直接箭头连接符 15"/>
          <p:cNvCxnSpPr>
            <a:stCxn id="7" idx="2"/>
          </p:cNvCxnSpPr>
          <p:nvPr/>
        </p:nvCxnSpPr>
        <p:spPr>
          <a:xfrm>
            <a:off x="6206119" y="3851701"/>
            <a:ext cx="0" cy="164803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" name="矩形 16"/>
          <p:cNvSpPr/>
          <p:nvPr/>
        </p:nvSpPr>
        <p:spPr>
          <a:xfrm>
            <a:off x="4893848" y="7438827"/>
            <a:ext cx="1660189" cy="703396"/>
          </a:xfrm>
          <a:prstGeom prst="rect">
            <a:avLst/>
          </a:prstGeom>
          <a:solidFill>
            <a:srgbClr val="FCC800">
              <a:lumMod val="20000"/>
              <a:lumOff val="80000"/>
            </a:srgbClr>
          </a:solidFill>
          <a:ln w="12700" cap="flat" cmpd="sng" algn="ctr">
            <a:solidFill>
              <a:srgbClr val="61B230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21872" tIns="60936" rIns="121872" bIns="60936" numCol="1" spcCol="0" rtlCol="0" fromWordArt="0" anchor="ctr" anchorCtr="0" forceAA="0" compatLnSpc="1">
            <a:noAutofit/>
          </a:bodyPr>
          <a:lstStyle/>
          <a:p>
            <a:pPr algn="ctr" defTabSz="1218565">
              <a:defRPr/>
            </a:pPr>
            <a:r>
              <a:rPr lang="en-US" altLang="zh-CN" sz="1465" kern="0" dirty="0" err="1">
                <a:solidFill>
                  <a:prstClr val="black"/>
                </a:solidFill>
                <a:latin typeface="微软雅黑" panose="020B0503020204020204" charset="-122"/>
              </a:rPr>
              <a:t>aclgraph</a:t>
            </a:r>
            <a:endParaRPr lang="zh-CN" altLang="en-US" sz="1465" kern="0" dirty="0">
              <a:solidFill>
                <a:prstClr val="black"/>
              </a:solidFill>
              <a:latin typeface="微软雅黑" panose="020B050302020402020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789969" y="7443492"/>
            <a:ext cx="2559592" cy="698731"/>
          </a:xfrm>
          <a:prstGeom prst="rect">
            <a:avLst/>
          </a:prstGeom>
          <a:solidFill>
            <a:srgbClr val="61B230">
              <a:lumMod val="40000"/>
              <a:lumOff val="60000"/>
            </a:srgbClr>
          </a:solidFill>
          <a:ln w="12700" cap="flat" cmpd="sng" algn="ctr">
            <a:solidFill>
              <a:srgbClr val="61B230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8565">
              <a:defRPr/>
            </a:pPr>
            <a:r>
              <a:rPr lang="zh-CN" altLang="en-US" sz="1400" b="1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生态化算子</a:t>
            </a:r>
            <a:endParaRPr lang="en-US" altLang="zh-CN" sz="1400" b="1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defTabSz="1218565">
              <a:defRPr/>
            </a:pPr>
            <a:r>
              <a:rPr lang="en-US" altLang="zh-CN" sz="1200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en-US" altLang="zh-CN" sz="1200" kern="0" dirty="0" err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rPr>
              <a:t>sgl</a:t>
            </a:r>
            <a:r>
              <a:rPr lang="en-US" altLang="zh-CN" sz="1200" kern="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rPr>
              <a:t>-kernel-</a:t>
            </a:r>
            <a:r>
              <a:rPr lang="en-US" altLang="zh-CN" sz="1200" kern="0" dirty="0" err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rPr>
              <a:t>npu</a:t>
            </a:r>
            <a:r>
              <a:rPr lang="en-US" altLang="zh-CN" sz="1200" kern="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rPr>
              <a:t>: </a:t>
            </a:r>
            <a:r>
              <a:rPr lang="en-US" altLang="zh-CN" sz="1200" kern="0" dirty="0" err="1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DeepEP</a:t>
            </a:r>
            <a:r>
              <a:rPr lang="en-US" altLang="zh-CN" sz="1200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, </a:t>
            </a:r>
            <a:endParaRPr lang="en-US" altLang="zh-CN" sz="1200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defTabSz="1218565">
              <a:defRPr/>
            </a:pPr>
            <a:r>
              <a:rPr lang="zh-CN" altLang="en-US" sz="1200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通算融合算子</a:t>
            </a:r>
            <a:r>
              <a:rPr lang="en-US" altLang="zh-CN" sz="1200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lang="zh-CN" altLang="en-US" sz="1200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量化算子</a:t>
            </a:r>
            <a:r>
              <a:rPr lang="en-US" altLang="zh-CN" sz="1200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zh-CN" altLang="en-US" sz="1200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9" name="直接箭头连接符 18"/>
          <p:cNvCxnSpPr>
            <a:stCxn id="6" idx="2"/>
            <a:endCxn id="11" idx="0"/>
          </p:cNvCxnSpPr>
          <p:nvPr/>
        </p:nvCxnSpPr>
        <p:spPr>
          <a:xfrm>
            <a:off x="6205739" y="2489791"/>
            <a:ext cx="380" cy="524301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" name="矩形 19"/>
          <p:cNvSpPr/>
          <p:nvPr/>
        </p:nvSpPr>
        <p:spPr>
          <a:xfrm>
            <a:off x="9585492" y="4383808"/>
            <a:ext cx="999091" cy="1810385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DDDDDD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8565">
              <a:defRPr/>
            </a:pPr>
            <a:r>
              <a:rPr lang="en-US" altLang="zh-CN" sz="1465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DP</a:t>
            </a:r>
            <a:r>
              <a:rPr lang="zh-CN" altLang="en-US" sz="1465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分离</a:t>
            </a:r>
            <a:endParaRPr lang="en-US" altLang="zh-CN" sz="1465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defTabSz="1218565">
              <a:defRPr/>
            </a:pPr>
            <a:endParaRPr lang="en-US" altLang="zh-CN" sz="1465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defTabSz="1218565">
              <a:defRPr/>
            </a:pPr>
            <a:endParaRPr lang="en-US" altLang="zh-CN" sz="1465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defTabSz="1218565">
              <a:defRPr/>
            </a:pPr>
            <a:endParaRPr lang="en-US" altLang="zh-CN" sz="1465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defTabSz="1218565">
              <a:defRPr/>
            </a:pPr>
            <a:endParaRPr lang="en-US" altLang="zh-CN" sz="1465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defTabSz="1218565">
              <a:defRPr/>
            </a:pPr>
            <a:endParaRPr lang="en-US" altLang="zh-CN" sz="1465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defTabSz="1218565">
              <a:defRPr/>
            </a:pPr>
            <a:endParaRPr lang="zh-CN" altLang="en-US" sz="1465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0684740" y="3250197"/>
            <a:ext cx="999091" cy="2943995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DDDDDD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8565">
              <a:defRPr/>
            </a:pPr>
            <a:r>
              <a:rPr lang="en-US" altLang="zh-CN" sz="1465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L3 Prefix</a:t>
            </a:r>
            <a:endParaRPr lang="en-US" altLang="zh-CN" sz="1465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defTabSz="1218565">
              <a:defRPr/>
            </a:pPr>
            <a:r>
              <a:rPr lang="en-US" altLang="zh-CN" sz="1465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Cache</a:t>
            </a:r>
            <a:endParaRPr lang="en-US" altLang="zh-CN" sz="1465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defTabSz="1218565">
              <a:defRPr/>
            </a:pPr>
            <a:endParaRPr lang="en-US" altLang="zh-CN" sz="1465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defTabSz="1218565">
              <a:defRPr/>
            </a:pPr>
            <a:endParaRPr lang="en-US" altLang="zh-CN" sz="1465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defTabSz="1218565">
              <a:defRPr/>
            </a:pPr>
            <a:endParaRPr lang="en-US" altLang="zh-CN" sz="1465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defTabSz="1218565">
              <a:defRPr/>
            </a:pPr>
            <a:endParaRPr lang="en-US" altLang="zh-CN" sz="1465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0824666" y="5125695"/>
            <a:ext cx="719239" cy="952924"/>
          </a:xfrm>
          <a:prstGeom prst="rect">
            <a:avLst/>
          </a:prstGeom>
          <a:solidFill>
            <a:srgbClr val="D4F1F5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1218565"/>
            <a:r>
              <a:rPr lang="en-US" altLang="zh-CN" sz="1465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KV</a:t>
            </a:r>
            <a:endParaRPr lang="en-US" altLang="zh-CN" sz="1465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defTabSz="1218565"/>
            <a:r>
              <a:rPr lang="zh-CN" altLang="en-US" sz="1465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存储</a:t>
            </a:r>
            <a:endParaRPr lang="en-US" altLang="zh-CN" sz="1465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defTabSz="1218565"/>
            <a:r>
              <a:rPr lang="zh-CN" altLang="en-US" sz="1465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插件</a:t>
            </a:r>
            <a:endParaRPr lang="en-US" altLang="zh-CN" sz="1465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9729278" y="5125695"/>
            <a:ext cx="690588" cy="952924"/>
          </a:xfrm>
          <a:prstGeom prst="rect">
            <a:avLst/>
          </a:prstGeom>
          <a:solidFill>
            <a:srgbClr val="D4F1F5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1218565">
              <a:defRPr/>
            </a:pPr>
            <a:r>
              <a:rPr lang="en-US" altLang="zh-CN" sz="1465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KV</a:t>
            </a:r>
            <a:endParaRPr lang="en-US" altLang="zh-CN" sz="1465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defTabSz="1218565">
              <a:defRPr/>
            </a:pPr>
            <a:r>
              <a:rPr lang="zh-CN" altLang="en-US" sz="1465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传输</a:t>
            </a:r>
            <a:endParaRPr lang="en-US" altLang="zh-CN" sz="1465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defTabSz="1218565">
              <a:defRPr/>
            </a:pPr>
            <a:r>
              <a:rPr lang="zh-CN" altLang="en-US" sz="1465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插件</a:t>
            </a:r>
            <a:endParaRPr lang="zh-CN" altLang="en-US" sz="1465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92086" y="2705527"/>
            <a:ext cx="148277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1219200">
              <a:defRPr/>
            </a:pP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SGLang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engine</a:t>
            </a:r>
            <a:endParaRPr kumimoji="1" lang="zh-CN" altLang="en-US" sz="1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2550162" y="7438827"/>
            <a:ext cx="2131281" cy="224416"/>
          </a:xfrm>
          <a:prstGeom prst="rect">
            <a:avLst/>
          </a:prstGeom>
          <a:solidFill>
            <a:srgbClr val="30B5C5">
              <a:lumMod val="20000"/>
              <a:lumOff val="8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8565">
              <a:defRPr/>
            </a:pPr>
            <a:r>
              <a:rPr lang="zh-CN" altLang="en-US" sz="1465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合入</a:t>
            </a:r>
            <a:r>
              <a:rPr lang="en-US" altLang="zh-CN" sz="1465" kern="0" dirty="0" err="1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sglang</a:t>
            </a:r>
            <a:r>
              <a:rPr lang="zh-CN" altLang="en-US" sz="1465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项目主线</a:t>
            </a:r>
            <a:endParaRPr lang="zh-CN" altLang="en-US" sz="1465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2550162" y="7934901"/>
            <a:ext cx="2131281" cy="224416"/>
          </a:xfrm>
          <a:prstGeom prst="rect">
            <a:avLst/>
          </a:prstGeom>
          <a:solidFill>
            <a:srgbClr val="FCC800">
              <a:lumMod val="20000"/>
              <a:lumOff val="8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21872" tIns="60936" rIns="121872" bIns="60936" numCol="1" spcCol="0" rtlCol="0" fromWordArt="0" anchor="ctr" anchorCtr="0" forceAA="0" compatLnSpc="1">
            <a:noAutofit/>
          </a:bodyPr>
          <a:lstStyle/>
          <a:p>
            <a:pPr algn="ctr" defTabSz="1218565">
              <a:defRPr/>
            </a:pPr>
            <a:r>
              <a:rPr lang="zh-CN" altLang="en-US" sz="1400" kern="0" dirty="0">
                <a:solidFill>
                  <a:prstClr val="black"/>
                </a:solidFill>
                <a:latin typeface="微软雅黑" panose="020B0503020204020204" charset="-122"/>
              </a:rPr>
              <a:t>其它社区</a:t>
            </a:r>
            <a:endParaRPr lang="zh-CN" altLang="en-US" sz="1400" kern="0" dirty="0">
              <a:solidFill>
                <a:prstClr val="black"/>
              </a:solidFill>
              <a:latin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737700" y="3516394"/>
            <a:ext cx="2778069" cy="241551"/>
          </a:xfrm>
          <a:prstGeom prst="rect">
            <a:avLst/>
          </a:prstGeom>
          <a:solidFill>
            <a:srgbClr val="30B5C5">
              <a:lumMod val="20000"/>
              <a:lumOff val="8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8565">
              <a:defRPr/>
            </a:pPr>
            <a:r>
              <a:rPr lang="zh-CN" altLang="en-US" sz="1465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调度增强</a:t>
            </a:r>
            <a:endParaRPr lang="zh-CN" altLang="en-US" sz="1465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9585493" y="7443492"/>
            <a:ext cx="2234660" cy="698731"/>
          </a:xfrm>
          <a:prstGeom prst="rect">
            <a:avLst/>
          </a:prstGeom>
          <a:solidFill>
            <a:srgbClr val="FCC800">
              <a:lumMod val="20000"/>
              <a:lumOff val="80000"/>
            </a:srgbClr>
          </a:solidFill>
          <a:ln w="12700" cap="flat" cmpd="sng" algn="ctr">
            <a:solidFill>
              <a:srgbClr val="61B230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21872" tIns="60936" rIns="121872" bIns="60936" numCol="1" spcCol="0" rtlCol="0" fromWordArt="0" anchor="ctr" anchorCtr="0" forceAA="0" compatLnSpc="1">
            <a:noAutofit/>
          </a:bodyPr>
          <a:lstStyle/>
          <a:p>
            <a:pPr algn="ctr" defTabSz="1218565">
              <a:defRPr/>
            </a:pPr>
            <a:r>
              <a:rPr lang="zh-CN" altLang="en-US" sz="1335" kern="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rPr>
              <a:t>昇腾</a:t>
            </a:r>
            <a:r>
              <a:rPr lang="en-US" altLang="zh-CN" sz="1335" kern="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rPr>
              <a:t>PD</a:t>
            </a:r>
            <a:r>
              <a:rPr lang="zh-CN" altLang="en-US" sz="1335" kern="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rPr>
              <a:t>传输、分布式内存加速库</a:t>
            </a:r>
            <a:endParaRPr lang="en-US" altLang="zh-CN" sz="1335" kern="0" dirty="0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849476" y="4468409"/>
            <a:ext cx="1517597" cy="224416"/>
          </a:xfrm>
          <a:prstGeom prst="rect">
            <a:avLst/>
          </a:prstGeom>
          <a:solidFill>
            <a:srgbClr val="30B5C5">
              <a:lumMod val="20000"/>
              <a:lumOff val="8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8565">
              <a:defRPr/>
            </a:pPr>
            <a:r>
              <a:rPr lang="en-US" altLang="zh-CN" sz="1465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Graph Runner</a:t>
            </a:r>
            <a:endParaRPr lang="zh-CN" altLang="en-US" sz="1465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26059" y="1473289"/>
            <a:ext cx="3131459" cy="299339"/>
          </a:xfrm>
          <a:prstGeom prst="rect">
            <a:avLst/>
          </a:prstGeom>
          <a:solidFill>
            <a:srgbClr val="E0E0E0"/>
          </a:solidFill>
          <a:ln w="9525" cap="flat" cmpd="sng" algn="ctr">
            <a:solidFill>
              <a:srgbClr val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 defTabSz="1622425">
              <a:defRPr/>
            </a:pPr>
            <a:r>
              <a:rPr lang="en-US" altLang="zh-CN" sz="1400" kern="0" dirty="0" err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rPr>
              <a:t>DeepSeek</a:t>
            </a:r>
            <a:r>
              <a:rPr lang="zh-CN" altLang="en-US" sz="1400" kern="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rPr>
              <a:t>系列模型</a:t>
            </a:r>
            <a:endParaRPr lang="zh-CN" altLang="en-US" sz="1400" kern="0" dirty="0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679728" y="1473289"/>
            <a:ext cx="3493827" cy="299339"/>
          </a:xfrm>
          <a:prstGeom prst="rect">
            <a:avLst/>
          </a:prstGeom>
          <a:solidFill>
            <a:srgbClr val="E0E0E0"/>
          </a:solidFill>
          <a:ln w="9525" cap="flat" cmpd="sng" algn="ctr">
            <a:solidFill>
              <a:srgbClr val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 defTabSz="1622425">
              <a:defRPr/>
            </a:pPr>
            <a:r>
              <a:rPr lang="en-US" altLang="zh-CN" sz="1400" kern="0" dirty="0" err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rPr>
              <a:t>Qwen</a:t>
            </a:r>
            <a:r>
              <a:rPr lang="zh-CN" altLang="en-US" sz="1400" kern="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rPr>
              <a:t>系列模型</a:t>
            </a:r>
            <a:endParaRPr lang="zh-CN" altLang="en-US" sz="1400" kern="0" dirty="0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7295766" y="1473289"/>
            <a:ext cx="2750156" cy="299339"/>
          </a:xfrm>
          <a:prstGeom prst="rect">
            <a:avLst/>
          </a:prstGeom>
          <a:solidFill>
            <a:srgbClr val="E0E0E0"/>
          </a:solidFill>
          <a:ln w="9525" cap="flat" cmpd="sng" algn="ctr">
            <a:solidFill>
              <a:srgbClr val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 defTabSz="1622425">
              <a:defRPr/>
            </a:pPr>
            <a:r>
              <a:rPr lang="en-US" altLang="zh-CN" sz="1400" kern="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rPr>
              <a:t>Kimi K2</a:t>
            </a:r>
            <a:r>
              <a:rPr lang="zh-CN" altLang="en-US" sz="1400" kern="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rPr>
              <a:t>模型</a:t>
            </a:r>
            <a:endParaRPr lang="zh-CN" altLang="en-US" sz="1400" kern="0" dirty="0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038655" y="5526066"/>
            <a:ext cx="1282179" cy="322565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1D1D1A">
                <a:lumMod val="10000"/>
                <a:lumOff val="90000"/>
              </a:srgbClr>
            </a:solidFill>
            <a:prstDash val="solid"/>
            <a:miter lim="800000"/>
          </a:ln>
          <a:effectLst/>
        </p:spPr>
        <p:txBody>
          <a:bodyPr rtlCol="0" anchor="ctr" anchorCtr="0"/>
          <a:lstStyle/>
          <a:p>
            <a:pPr algn="ctr" defTabSz="1218565">
              <a:defRPr/>
            </a:pPr>
            <a:r>
              <a:rPr lang="en-US" altLang="zh-CN" sz="1465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Embedding</a:t>
            </a:r>
            <a:endParaRPr lang="zh-CN" altLang="en-US" sz="1465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281410" y="5526066"/>
            <a:ext cx="1210199" cy="322565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1D1D1A">
                <a:lumMod val="10000"/>
                <a:lumOff val="90000"/>
              </a:srgbClr>
            </a:solidFill>
            <a:prstDash val="solid"/>
            <a:miter lim="800000"/>
          </a:ln>
          <a:effectLst/>
        </p:spPr>
        <p:txBody>
          <a:bodyPr rtlCol="0" anchor="ctr" anchorCtr="0"/>
          <a:lstStyle/>
          <a:p>
            <a:pPr algn="ctr" defTabSz="1218565">
              <a:defRPr/>
            </a:pPr>
            <a:r>
              <a:rPr lang="en-US" altLang="zh-CN" sz="1465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Attention</a:t>
            </a:r>
            <a:endParaRPr lang="zh-CN" altLang="en-US" sz="1465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4564704" y="5526066"/>
            <a:ext cx="794419" cy="322565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1D1D1A">
                <a:lumMod val="10000"/>
                <a:lumOff val="90000"/>
              </a:srgbClr>
            </a:solidFill>
            <a:prstDash val="solid"/>
            <a:miter lim="800000"/>
          </a:ln>
          <a:effectLst/>
        </p:spPr>
        <p:txBody>
          <a:bodyPr rtlCol="0" anchor="ctr" anchorCtr="0"/>
          <a:lstStyle/>
          <a:p>
            <a:pPr algn="ctr" defTabSz="1218565">
              <a:defRPr/>
            </a:pPr>
            <a:r>
              <a:rPr lang="en-US" altLang="zh-CN" sz="1465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Norm</a:t>
            </a:r>
            <a:endParaRPr lang="zh-CN" altLang="en-US" sz="1465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352295" y="5526066"/>
            <a:ext cx="647579" cy="322565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1D1D1A">
                <a:lumMod val="10000"/>
                <a:lumOff val="90000"/>
              </a:srgbClr>
            </a:solidFill>
            <a:prstDash val="solid"/>
            <a:miter lim="800000"/>
          </a:ln>
          <a:effectLst/>
        </p:spPr>
        <p:txBody>
          <a:bodyPr rtlCol="0" anchor="ctr" anchorCtr="0"/>
          <a:lstStyle/>
          <a:p>
            <a:pPr algn="ctr" defTabSz="1218565">
              <a:defRPr/>
            </a:pPr>
            <a:r>
              <a:rPr lang="en-US" altLang="zh-CN" sz="1465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FFN</a:t>
            </a:r>
            <a:endParaRPr lang="zh-CN" altLang="en-US" sz="1465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5432219" y="5526066"/>
            <a:ext cx="846981" cy="322565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1D1D1A">
                <a:lumMod val="10000"/>
                <a:lumOff val="90000"/>
              </a:srgbClr>
            </a:solidFill>
            <a:prstDash val="solid"/>
            <a:miter lim="800000"/>
          </a:ln>
          <a:effectLst/>
        </p:spPr>
        <p:txBody>
          <a:bodyPr rtlCol="0" anchor="ctr" anchorCtr="0"/>
          <a:lstStyle/>
          <a:p>
            <a:pPr algn="ctr" defTabSz="1218565">
              <a:defRPr/>
            </a:pPr>
            <a:r>
              <a:rPr lang="en-US" altLang="zh-CN" sz="1465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Router</a:t>
            </a:r>
            <a:endParaRPr lang="zh-CN" altLang="en-US" sz="1465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7072970" y="5526066"/>
            <a:ext cx="903828" cy="322565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1D1D1A">
                <a:lumMod val="10000"/>
                <a:lumOff val="90000"/>
              </a:srgbClr>
            </a:solidFill>
            <a:prstDash val="solid"/>
            <a:miter lim="800000"/>
          </a:ln>
          <a:effectLst/>
        </p:spPr>
        <p:txBody>
          <a:bodyPr rtlCol="0" anchor="ctr" anchorCtr="0"/>
          <a:lstStyle/>
          <a:p>
            <a:pPr algn="ctr" defTabSz="1218565">
              <a:defRPr/>
            </a:pPr>
            <a:r>
              <a:rPr lang="en-US" altLang="zh-CN" sz="1465" kern="0" dirty="0" err="1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MoE</a:t>
            </a:r>
            <a:endParaRPr lang="zh-CN" altLang="en-US" sz="1465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833522" y="5522071"/>
            <a:ext cx="416135" cy="322565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1D1D1A">
                <a:lumMod val="10000"/>
                <a:lumOff val="90000"/>
              </a:srgbClr>
            </a:solidFill>
            <a:prstDash val="solid"/>
            <a:miter lim="800000"/>
          </a:ln>
          <a:effectLst/>
        </p:spPr>
        <p:txBody>
          <a:bodyPr rtlCol="0" anchor="ctr" anchorCtr="0"/>
          <a:lstStyle/>
          <a:p>
            <a:pPr algn="ctr" defTabSz="1218565">
              <a:defRPr/>
            </a:pPr>
            <a:r>
              <a:rPr lang="en-US" altLang="zh-CN" sz="1465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…</a:t>
            </a:r>
            <a:endParaRPr lang="zh-CN" altLang="en-US" sz="1465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2393931" y="5526066"/>
            <a:ext cx="814384" cy="322565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1D1D1A">
                <a:lumMod val="10000"/>
                <a:lumOff val="90000"/>
              </a:srgbClr>
            </a:solidFill>
            <a:prstDash val="solid"/>
            <a:miter lim="800000"/>
          </a:ln>
          <a:effectLst/>
        </p:spPr>
        <p:txBody>
          <a:bodyPr rtlCol="0" anchor="ctr" anchorCtr="0"/>
          <a:lstStyle/>
          <a:p>
            <a:pPr algn="ctr" defTabSz="1218565">
              <a:defRPr/>
            </a:pPr>
            <a:r>
              <a:rPr lang="en-US" altLang="zh-CN" sz="1465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MLA</a:t>
            </a:r>
            <a:endParaRPr lang="zh-CN" altLang="en-US" sz="1465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8049894" y="5522719"/>
            <a:ext cx="710527" cy="342224"/>
          </a:xfrm>
          <a:prstGeom prst="rect">
            <a:avLst/>
          </a:prstGeom>
          <a:solidFill>
            <a:srgbClr val="30B5C5">
              <a:lumMod val="20000"/>
              <a:lumOff val="8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8565">
              <a:defRPr/>
            </a:pPr>
            <a:r>
              <a:rPr lang="en-US" altLang="zh-CN" sz="1465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MTP</a:t>
            </a:r>
            <a:endParaRPr lang="zh-CN" altLang="en-US" sz="1465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3092588" y="7446339"/>
            <a:ext cx="1565328" cy="695884"/>
          </a:xfrm>
          <a:prstGeom prst="rect">
            <a:avLst/>
          </a:prstGeom>
          <a:solidFill>
            <a:srgbClr val="FCC800">
              <a:lumMod val="20000"/>
              <a:lumOff val="80000"/>
            </a:srgbClr>
          </a:solidFill>
          <a:ln w="12700" cap="flat" cmpd="sng" algn="ctr">
            <a:solidFill>
              <a:srgbClr val="61B230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21872" tIns="60936" rIns="121872" bIns="60936" numCol="1" spcCol="0" rtlCol="0" fromWordArt="0" anchor="ctr" anchorCtr="0" forceAA="0" compatLnSpc="1">
            <a:noAutofit/>
          </a:bodyPr>
          <a:lstStyle/>
          <a:p>
            <a:pPr algn="ctr" defTabSz="1218565">
              <a:defRPr/>
            </a:pPr>
            <a:r>
              <a:rPr lang="en-US" altLang="zh-CN" sz="1465" kern="0" dirty="0">
                <a:solidFill>
                  <a:prstClr val="black"/>
                </a:solidFill>
                <a:latin typeface="微软雅黑" panose="020B0503020204020204" charset="-122"/>
              </a:rPr>
              <a:t>Triton Ascend</a:t>
            </a:r>
            <a:endParaRPr lang="zh-CN" altLang="en-US" sz="1465" kern="0" dirty="0">
              <a:solidFill>
                <a:prstClr val="black"/>
              </a:solidFill>
              <a:latin typeface="微软雅黑" panose="020B050302020402020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2550162" y="7686864"/>
            <a:ext cx="2131281" cy="224416"/>
          </a:xfrm>
          <a:prstGeom prst="rect">
            <a:avLst/>
          </a:prstGeom>
          <a:solidFill>
            <a:srgbClr val="61B230">
              <a:lumMod val="40000"/>
              <a:lumOff val="6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8565">
              <a:defRPr/>
            </a:pPr>
            <a:r>
              <a:rPr lang="en-US" altLang="zh-CN" sz="1465" kern="0" dirty="0" err="1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sglang</a:t>
            </a:r>
            <a:r>
              <a:rPr lang="zh-CN" altLang="en-US" sz="1465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社区子项目</a:t>
            </a:r>
            <a:endParaRPr lang="zh-CN" altLang="en-US" sz="1465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040873" y="5851418"/>
            <a:ext cx="8197976" cy="264145"/>
          </a:xfrm>
          <a:prstGeom prst="rect">
            <a:avLst/>
          </a:prstGeom>
          <a:solidFill>
            <a:srgbClr val="30B5C5">
              <a:lumMod val="20000"/>
              <a:lumOff val="8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8565">
              <a:defRPr/>
            </a:pPr>
            <a:r>
              <a:rPr lang="en-US" altLang="zh-CN" sz="1465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adaptor</a:t>
            </a:r>
            <a:endParaRPr lang="zh-CN" altLang="en-US" sz="1465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箭头: 下 45"/>
          <p:cNvSpPr/>
          <p:nvPr/>
        </p:nvSpPr>
        <p:spPr>
          <a:xfrm>
            <a:off x="5534942" y="6691192"/>
            <a:ext cx="1341975" cy="235077"/>
          </a:xfrm>
          <a:prstGeom prst="downArrow">
            <a:avLst>
              <a:gd name="adj1" fmla="val 57571"/>
              <a:gd name="adj2" fmla="val 50000"/>
            </a:avLst>
          </a:prstGeom>
          <a:solidFill>
            <a:srgbClr val="729DA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 defTabSz="1219200"/>
            <a:endParaRPr lang="zh-CN" altLang="en-US" sz="2400" kern="0">
              <a:solidFill>
                <a:srgbClr val="666666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5111613" y="6998992"/>
            <a:ext cx="1910779" cy="28732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1219200"/>
            <a:r>
              <a:rPr kumimoji="1" lang="zh-CN" altLang="en-US" sz="1865" dirty="0">
                <a:latin typeface="微软雅黑" panose="020B0503020204020204" charset="-122"/>
                <a:ea typeface="微软雅黑" panose="020B0503020204020204" charset="-122"/>
              </a:rPr>
              <a:t>昇腾算子与加速库</a:t>
            </a:r>
            <a:endParaRPr kumimoji="1" lang="zh-CN" altLang="en-US" sz="186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737700" y="2077181"/>
            <a:ext cx="2778069" cy="241551"/>
          </a:xfrm>
          <a:prstGeom prst="rect">
            <a:avLst/>
          </a:prstGeom>
          <a:solidFill>
            <a:srgbClr val="30B5C5">
              <a:lumMod val="20000"/>
              <a:lumOff val="8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8565">
              <a:defRPr/>
            </a:pPr>
            <a:r>
              <a:rPr lang="zh-CN" altLang="en-US" sz="1465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调度、</a:t>
            </a:r>
            <a:r>
              <a:rPr lang="en-US" altLang="zh-CN" sz="1465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RAS</a:t>
            </a:r>
            <a:r>
              <a:rPr lang="zh-CN" altLang="en-US" sz="1465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增强</a:t>
            </a:r>
            <a:endParaRPr lang="zh-CN" altLang="en-US" sz="1465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12385739" y="2320296"/>
            <a:ext cx="1230064" cy="892416"/>
          </a:xfrm>
          <a:prstGeom prst="rect">
            <a:avLst/>
          </a:prstGeom>
          <a:solidFill>
            <a:srgbClr val="61B230">
              <a:lumMod val="20000"/>
              <a:lumOff val="80000"/>
            </a:srgbClr>
          </a:solidFill>
          <a:ln w="12700" cap="flat" cmpd="sng" algn="ctr">
            <a:solidFill>
              <a:srgbClr val="61B230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tlCol="0" anchor="ctr" anchorCtr="0"/>
          <a:lstStyle/>
          <a:p>
            <a:pPr algn="ctr" defTabSz="1218565">
              <a:defRPr/>
            </a:pPr>
            <a:r>
              <a:rPr lang="zh-CN" altLang="en-US" sz="1400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集成</a:t>
            </a:r>
            <a:r>
              <a:rPr lang="en-US" altLang="zh-CN" sz="1400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endParaRPr lang="en-US" altLang="zh-CN" sz="1400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defTabSz="1218565">
              <a:defRPr/>
            </a:pPr>
            <a:r>
              <a:rPr lang="zh-CN" altLang="en-US" sz="1400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性能优化</a:t>
            </a:r>
            <a:endParaRPr lang="zh-CN" altLang="en-US" sz="1400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14513675" y="2320299"/>
            <a:ext cx="1391560" cy="892415"/>
          </a:xfrm>
          <a:prstGeom prst="rect">
            <a:avLst/>
          </a:prstGeom>
          <a:solidFill>
            <a:srgbClr val="61B230">
              <a:lumMod val="20000"/>
              <a:lumOff val="80000"/>
            </a:srgbClr>
          </a:solidFill>
          <a:ln w="12700" cap="flat" cmpd="sng" algn="ctr">
            <a:solidFill>
              <a:srgbClr val="61B230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tlCol="0" anchor="ctr" anchorCtr="0"/>
          <a:lstStyle/>
          <a:p>
            <a:pPr algn="ctr" defTabSz="1218565"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Day0</a:t>
            </a:r>
            <a:r>
              <a:rPr lang="zh-CN" altLang="en-US" sz="1400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支持</a:t>
            </a:r>
            <a:r>
              <a:rPr lang="en-US" altLang="zh-CN" sz="1400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endParaRPr lang="en-US" altLang="zh-CN" sz="1400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defTabSz="1218565">
              <a:defRPr/>
            </a:pPr>
            <a:r>
              <a:rPr lang="zh-CN" altLang="en-US" sz="1400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原生性能较优</a:t>
            </a:r>
            <a:endParaRPr lang="zh-CN" altLang="en-US" sz="1400" kern="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4" name="直接箭头连接符 53"/>
          <p:cNvCxnSpPr>
            <a:stCxn id="52" idx="3"/>
            <a:endCxn id="53" idx="1"/>
          </p:cNvCxnSpPr>
          <p:nvPr/>
        </p:nvCxnSpPr>
        <p:spPr>
          <a:xfrm>
            <a:off x="13615803" y="2766504"/>
            <a:ext cx="897872" cy="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13808359" y="2653359"/>
            <a:ext cx="514564" cy="205121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0">
            <a:spAutoFit/>
          </a:bodyPr>
          <a:lstStyle/>
          <a:p>
            <a:pPr defTabSz="1218565">
              <a:defRPr/>
            </a:pPr>
            <a:r>
              <a:rPr kumimoji="1" lang="zh-CN" altLang="en-US" sz="1335" kern="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rPr>
              <a:t>标准化</a:t>
            </a:r>
            <a:endParaRPr kumimoji="1" lang="zh-CN" altLang="en-US" sz="1400" kern="0" dirty="0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12385739" y="3615328"/>
            <a:ext cx="3519500" cy="1831121"/>
            <a:chOff x="7625095" y="2566551"/>
            <a:chExt cx="4428548" cy="1708146"/>
          </a:xfrm>
        </p:grpSpPr>
        <p:sp>
          <p:nvSpPr>
            <p:cNvPr id="58" name="矩形 57"/>
            <p:cNvSpPr/>
            <p:nvPr/>
          </p:nvSpPr>
          <p:spPr>
            <a:xfrm>
              <a:off x="7763709" y="2944379"/>
              <a:ext cx="814892" cy="303871"/>
            </a:xfrm>
            <a:prstGeom prst="rect">
              <a:avLst/>
            </a:prstGeom>
            <a:solidFill>
              <a:srgbClr val="FCC800">
                <a:lumMod val="20000"/>
                <a:lumOff val="80000"/>
              </a:srgbClr>
            </a:solidFill>
            <a:ln w="3175" cap="flat">
              <a:noFill/>
              <a:miter lim="400000"/>
            </a:ln>
            <a:effectLst/>
          </p:spPr>
          <p:txBody>
            <a:bodyPr rot="0" spcFirstLastPara="0" vertOverflow="overflow" horzOverflow="overflow" vert="horz" wrap="square" lIns="47872" tIns="47872" rIns="47872" bIns="47872" numCol="1" spcCol="0" rtlCol="0" fromWordArt="0" anchor="ctr" anchorCtr="0" forceAA="0" compatLnSpc="1">
              <a:noAutofit/>
            </a:bodyPr>
            <a:lstStyle/>
            <a:p>
              <a:pPr algn="ctr" defTabSz="121412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zh-CN" altLang="en-US" sz="1065" b="1" kern="0" dirty="0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rPr>
                <a:t>标准语言</a:t>
              </a:r>
              <a:endParaRPr kumimoji="1" lang="zh-CN" altLang="en-US" sz="1065" b="1" kern="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9" name="矩形 58"/>
            <p:cNvSpPr/>
            <p:nvPr/>
          </p:nvSpPr>
          <p:spPr>
            <a:xfrm>
              <a:off x="8693500" y="2944378"/>
              <a:ext cx="3240248" cy="303872"/>
            </a:xfrm>
            <a:prstGeom prst="rect">
              <a:avLst/>
            </a:prstGeom>
            <a:solidFill>
              <a:srgbClr val="FCC800">
                <a:lumMod val="20000"/>
                <a:lumOff val="80000"/>
              </a:srgbClr>
            </a:solidFill>
            <a:ln w="3175" cap="flat">
              <a:noFill/>
              <a:miter lim="400000"/>
            </a:ln>
            <a:effectLst/>
          </p:spPr>
          <p:txBody>
            <a:bodyPr rot="0" spcFirstLastPara="0" vertOverflow="overflow" horzOverflow="overflow" vert="horz" wrap="square" lIns="47872" tIns="47872" rIns="47872" bIns="47872" numCol="1" spcCol="0" rtlCol="0" fromWordArt="0" anchor="ctr" anchorCtr="0" forceAA="0" compatLnSpc="1">
              <a:noAutofit/>
            </a:bodyPr>
            <a:lstStyle/>
            <a:p>
              <a:pPr algn="ctr" defTabSz="121412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zh-CN" altLang="en-US" sz="1200" b="1" kern="0" dirty="0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rPr>
                <a:t>标准函数接口</a:t>
              </a:r>
              <a:endParaRPr kumimoji="1" lang="zh-CN" altLang="en-US" sz="1200" b="1" kern="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0" name="矩形 59"/>
            <p:cNvSpPr/>
            <p:nvPr/>
          </p:nvSpPr>
          <p:spPr>
            <a:xfrm>
              <a:off x="7763708" y="3427263"/>
              <a:ext cx="814895" cy="682543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1D1D1A">
                  <a:lumMod val="25000"/>
                  <a:lumOff val="7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 defTabSz="1218565">
                <a:defRPr/>
              </a:pPr>
              <a:r>
                <a:rPr lang="en-US" altLang="zh-CN" sz="1200" kern="0" dirty="0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rPr>
                <a:t>Triton Ascend</a:t>
              </a:r>
              <a:endParaRPr lang="zh-CN" altLang="en-US" sz="1200" kern="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1" name="矩形 60"/>
            <p:cNvSpPr/>
            <p:nvPr/>
          </p:nvSpPr>
          <p:spPr>
            <a:xfrm>
              <a:off x="9651175" y="3427263"/>
              <a:ext cx="661014" cy="682543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1D1D1A">
                  <a:lumMod val="25000"/>
                  <a:lumOff val="7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 defTabSz="1218565">
                <a:defRPr/>
              </a:pPr>
              <a:r>
                <a:rPr lang="zh-CN" altLang="en-US" sz="1065" kern="0" dirty="0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rPr>
                <a:t>计算</a:t>
              </a:r>
              <a:endParaRPr lang="en-US" altLang="zh-CN" sz="1065" kern="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defTabSz="1218565">
                <a:defRPr/>
              </a:pPr>
              <a:r>
                <a:rPr lang="zh-CN" altLang="en-US" sz="1065" kern="0" dirty="0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rPr>
                <a:t>通信</a:t>
              </a:r>
              <a:endParaRPr lang="en-US" altLang="zh-CN" sz="1065" kern="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defTabSz="1218565">
                <a:defRPr/>
              </a:pPr>
              <a:r>
                <a:rPr lang="zh-CN" altLang="en-US" sz="1065" kern="0" dirty="0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rPr>
                <a:t>算子</a:t>
              </a:r>
              <a:endParaRPr lang="zh-CN" altLang="en-US" sz="1065" kern="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2" name="矩形 61"/>
            <p:cNvSpPr/>
            <p:nvPr/>
          </p:nvSpPr>
          <p:spPr>
            <a:xfrm>
              <a:off x="10377777" y="3427263"/>
              <a:ext cx="591976" cy="682543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1D1D1A">
                  <a:lumMod val="25000"/>
                  <a:lumOff val="7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 defTabSz="1218565">
                <a:defRPr/>
              </a:pPr>
              <a:r>
                <a:rPr lang="zh-CN" altLang="en-US" sz="1065" kern="0" dirty="0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rPr>
                <a:t>量化</a:t>
              </a:r>
              <a:endParaRPr lang="en-US" altLang="zh-CN" sz="1065" kern="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defTabSz="1218565">
                <a:defRPr/>
              </a:pPr>
              <a:r>
                <a:rPr lang="zh-CN" altLang="en-US" sz="1065" kern="0" dirty="0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rPr>
                <a:t>算子</a:t>
              </a:r>
              <a:endParaRPr lang="zh-CN" altLang="en-US" sz="1065" kern="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3" name="矩形 62"/>
            <p:cNvSpPr/>
            <p:nvPr/>
          </p:nvSpPr>
          <p:spPr>
            <a:xfrm>
              <a:off x="11035340" y="3427263"/>
              <a:ext cx="898408" cy="682543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1D1D1A">
                  <a:lumMod val="25000"/>
                  <a:lumOff val="7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 defTabSz="1218565">
                <a:defRPr/>
              </a:pPr>
              <a:r>
                <a:rPr lang="en-US" altLang="zh-CN" sz="1065" kern="0" dirty="0" err="1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rPr>
                <a:t>KVCache</a:t>
              </a:r>
              <a:endParaRPr lang="en-US" altLang="zh-CN" sz="1065" kern="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defTabSz="1218565">
                <a:defRPr/>
              </a:pPr>
              <a:r>
                <a:rPr lang="zh-CN" altLang="en-US" sz="1065" kern="0" dirty="0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rPr>
                <a:t>传输</a:t>
              </a:r>
              <a:endParaRPr lang="en-US" altLang="zh-CN" sz="1065" kern="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defTabSz="1218565">
                <a:defRPr/>
              </a:pPr>
              <a:r>
                <a:rPr lang="zh-CN" altLang="en-US" sz="1065" kern="0" dirty="0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rPr>
                <a:t>与存储</a:t>
              </a:r>
              <a:endParaRPr lang="zh-CN" altLang="en-US" sz="1065" kern="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4" name="矩形 63"/>
            <p:cNvSpPr/>
            <p:nvPr/>
          </p:nvSpPr>
          <p:spPr>
            <a:xfrm>
              <a:off x="8693496" y="3427263"/>
              <a:ext cx="892092" cy="682543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1D1D1A">
                  <a:lumMod val="25000"/>
                  <a:lumOff val="7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 defTabSz="1218565">
                <a:defRPr/>
              </a:pPr>
              <a:r>
                <a:rPr lang="en-US" altLang="zh-CN" sz="1065" kern="0" dirty="0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rPr>
                <a:t>Torch</a:t>
              </a:r>
              <a:endParaRPr lang="en-US" altLang="zh-CN" sz="1065" kern="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defTabSz="1218565">
                <a:defRPr/>
              </a:pPr>
              <a:r>
                <a:rPr lang="en-US" altLang="zh-CN" sz="1065" kern="0" dirty="0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rPr>
                <a:t>Inductor+</a:t>
              </a:r>
              <a:endParaRPr lang="en-US" altLang="zh-CN" sz="1065" kern="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defTabSz="1218565">
                <a:defRPr/>
              </a:pPr>
              <a:r>
                <a:rPr lang="en-US" altLang="zh-CN" sz="1065" kern="0" dirty="0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rPr>
                <a:t>Graph</a:t>
              </a:r>
              <a:endParaRPr lang="zh-CN" altLang="en-US" sz="1065" kern="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5" name="矩形 64"/>
            <p:cNvSpPr/>
            <p:nvPr/>
          </p:nvSpPr>
          <p:spPr>
            <a:xfrm>
              <a:off x="7625095" y="2566551"/>
              <a:ext cx="4428548" cy="1708146"/>
            </a:xfrm>
            <a:prstGeom prst="rect">
              <a:avLst/>
            </a:prstGeom>
            <a:noFill/>
            <a:ln w="3175" cap="flat" cmpd="sng" algn="ctr">
              <a:solidFill>
                <a:srgbClr val="729DA3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21824" tIns="60912" rIns="121824" bIns="60912" numCol="1" spcCol="0" rtlCol="0" fromWordArt="0" anchor="t" anchorCtr="0" forceAA="0" compatLnSpc="1">
              <a:noAutofit/>
            </a:bodyPr>
            <a:lstStyle/>
            <a:p>
              <a:pPr algn="ctr" defTabSz="1218565">
                <a:defRPr/>
              </a:pPr>
              <a:r>
                <a:rPr lang="zh-CN" altLang="en-US" sz="1600" kern="0" dirty="0">
                  <a:latin typeface="微软雅黑" panose="020B0503020204020204" charset="-122"/>
                  <a:ea typeface="微软雅黑" panose="020B0503020204020204" charset="-122"/>
                </a:rPr>
                <a:t>全面标准化</a:t>
              </a:r>
              <a:endParaRPr lang="zh-CN" altLang="en-US" sz="1600" kern="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cxnSp>
        <p:nvCxnSpPr>
          <p:cNvPr id="57" name="直接箭头连接符 56"/>
          <p:cNvCxnSpPr/>
          <p:nvPr/>
        </p:nvCxnSpPr>
        <p:spPr>
          <a:xfrm>
            <a:off x="14063449" y="3026235"/>
            <a:ext cx="0" cy="589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12385739" y="5662349"/>
            <a:ext cx="3519500" cy="531844"/>
          </a:xfrm>
          <a:prstGeom prst="rect">
            <a:avLst/>
          </a:prstGeom>
          <a:noFill/>
          <a:ln w="3175" cap="flat" cmpd="sng" algn="ctr">
            <a:solidFill>
              <a:srgbClr val="729DA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21824" tIns="60912" rIns="121824" bIns="60912" numCol="1" spcCol="0" rtlCol="0" fromWordArt="0" anchor="t" anchorCtr="0" forceAA="0" compatLnSpc="1">
            <a:noAutofit/>
          </a:bodyPr>
          <a:lstStyle/>
          <a:p>
            <a:pPr algn="ctr" defTabSz="1218565">
              <a:defRPr/>
            </a:pPr>
            <a:r>
              <a:rPr lang="zh-CN" altLang="en-US" sz="1200" kern="0" dirty="0">
                <a:latin typeface="微软雅黑" panose="020B0503020204020204" charset="-122"/>
                <a:ea typeface="微软雅黑" panose="020B0503020204020204" charset="-122"/>
              </a:rPr>
              <a:t>昇腾</a:t>
            </a:r>
            <a:endParaRPr lang="en-US" altLang="zh-CN" sz="1200" kern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 defTabSz="1218565">
              <a:defRPr/>
            </a:pPr>
            <a:r>
              <a:rPr lang="en-US" altLang="zh-CN" sz="1200" kern="0" dirty="0">
                <a:latin typeface="微软雅黑" panose="020B0503020204020204" charset="-122"/>
                <a:ea typeface="微软雅黑" panose="020B0503020204020204" charset="-122"/>
              </a:rPr>
              <a:t>A2 | A3 | ..</a:t>
            </a:r>
            <a:endParaRPr lang="zh-CN" altLang="en-US" sz="1200" kern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0168131" y="1473289"/>
            <a:ext cx="1817668" cy="299339"/>
          </a:xfrm>
          <a:prstGeom prst="rect">
            <a:avLst/>
          </a:prstGeom>
          <a:solidFill>
            <a:srgbClr val="E0E0E0"/>
          </a:solidFill>
          <a:ln w="9525" cap="flat" cmpd="sng" algn="ctr">
            <a:solidFill>
              <a:srgbClr val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 defTabSz="1622425">
              <a:defRPr/>
            </a:pPr>
            <a:r>
              <a:rPr lang="en-US" altLang="zh-CN" sz="1400" kern="0" dirty="0" err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rPr>
              <a:t>LongCat</a:t>
            </a:r>
            <a:r>
              <a:rPr lang="zh-CN" altLang="en-US" sz="1400" kern="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rPr>
              <a:t>模型</a:t>
            </a:r>
            <a:endParaRPr lang="zh-CN" altLang="en-US" sz="1400" kern="0" dirty="0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Text 0"/>
          <p:cNvSpPr/>
          <p:nvPr/>
        </p:nvSpPr>
        <p:spPr>
          <a:xfrm>
            <a:off x="632460" y="262255"/>
            <a:ext cx="8710295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p>
            <a:pPr algn="l">
              <a:lnSpc>
                <a:spcPct val="130000"/>
              </a:lnSpc>
            </a:pPr>
            <a:r>
              <a:rPr lang="en-US" sz="32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SGLang </a:t>
            </a:r>
            <a:r>
              <a:rPr lang="zh-CN" altLang="en-US" sz="3200" b="1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  <a:sym typeface="+mn-ea"/>
              </a:rPr>
              <a:t>整体设计架构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80000"/>
                </a:srgbClr>
              </a:gs>
              <a:gs pos="60000">
                <a:srgbClr val="000000">
                  <a:alpha val="60000"/>
                </a:srgbClr>
              </a:gs>
              <a:gs pos="100000">
                <a:srgbClr val="000000">
                  <a:alpha val="4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0" y="2277533"/>
            <a:ext cx="2540000" cy="1549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02</a:t>
            </a:r>
            <a:endParaRPr kumimoji="0" lang="en-US" sz="9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295401" y="3699933"/>
            <a:ext cx="1016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altLang="zh-CN" sz="4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Page Attention</a:t>
            </a:r>
            <a:r>
              <a:rPr lang="zh-CN" altLang="fr-FR" sz="4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与</a:t>
            </a:r>
            <a:r>
              <a:rPr lang="fr-FR" altLang="zh-CN" sz="4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KV Cache</a:t>
            </a:r>
            <a:r>
              <a:rPr lang="zh-CN" altLang="fr-FR" sz="4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管理</a:t>
            </a:r>
            <a:endParaRPr lang="zh-CN" altLang="fr-FR" sz="4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270000" y="4461933"/>
            <a:ext cx="10160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endParaRPr lang="en-US" alt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https://gitcode.com/cann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295401" y="4478866"/>
            <a:ext cx="10828866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从</a:t>
            </a:r>
            <a:r>
              <a:rPr lang="en-US" altLang="zh-CN" sz="2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Paged Attention</a:t>
            </a:r>
            <a:r>
              <a:rPr lang="zh-CN" altLang="en-US" sz="2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、</a:t>
            </a:r>
            <a:r>
              <a:rPr lang="en-US" altLang="zh-CN" sz="2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Radix Attention</a:t>
            </a:r>
            <a:r>
              <a:rPr lang="zh-CN" altLang="en-US" sz="2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到</a:t>
            </a:r>
            <a:r>
              <a:rPr lang="en-US" altLang="zh-CN" sz="2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Hi Cache</a:t>
            </a:r>
            <a:r>
              <a:rPr lang="zh-CN" altLang="en-US" sz="2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，解析分页存储、前缀共享与分层缓存策略</a:t>
            </a:r>
            <a:endParaRPr lang="en-US" sz="20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3700" y="274320"/>
            <a:ext cx="812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1218565"/>
            <a:r>
              <a:rPr lang="en-US" altLang="zh-CN" sz="3200" b="1" kern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Wingdings" panose="05000000000000000000" pitchFamily="2" charset="2"/>
              </a:rPr>
              <a:t>2.1 Paged Attention</a:t>
            </a:r>
            <a:endParaRPr lang="en-US" altLang="zh-CN" sz="3200" b="1" kern="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sym typeface="Wingdings" panose="05000000000000000000" pitchFamily="2" charset="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4422140"/>
            <a:ext cx="4292600" cy="47218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2000" y="1466215"/>
            <a:ext cx="14732000" cy="113665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algn="l">
              <a:lnSpc>
                <a:spcPct val="150000"/>
              </a:lnSpc>
            </a:pPr>
            <a:r>
              <a:rPr lang="zh-CN" altLang="en-US" sz="20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关键洞察：</a:t>
            </a:r>
            <a:r>
              <a:rPr lang="zh-CN" altLang="en-US" sz="2000" dirty="0"/>
              <a:t>高效的</a:t>
            </a:r>
            <a:r>
              <a:rPr lang="en-US" altLang="zh-CN" sz="2000" dirty="0"/>
              <a:t>KV cache</a:t>
            </a:r>
            <a:r>
              <a:rPr lang="zh-CN" altLang="en-US" sz="2000" dirty="0"/>
              <a:t>管理对高吞吐的</a:t>
            </a:r>
            <a:r>
              <a:rPr lang="en-US" altLang="zh-CN" sz="2000" dirty="0"/>
              <a:t>LLM</a:t>
            </a:r>
            <a:r>
              <a:rPr lang="zh-CN" altLang="en-US" sz="2000" dirty="0"/>
              <a:t>服务是至关重要的</a:t>
            </a:r>
            <a:endParaRPr lang="zh-CN" altLang="en-US" sz="2000" dirty="0"/>
          </a:p>
        </p:txBody>
      </p:sp>
      <p:grpSp>
        <p:nvGrpSpPr>
          <p:cNvPr id="12" name="组合 11"/>
          <p:cNvGrpSpPr/>
          <p:nvPr/>
        </p:nvGrpSpPr>
        <p:grpSpPr>
          <a:xfrm>
            <a:off x="1388745" y="2145030"/>
            <a:ext cx="3421380" cy="2202391"/>
            <a:chOff x="1415" y="3778"/>
            <a:chExt cx="7524" cy="6282"/>
          </a:xfrm>
        </p:grpSpPr>
        <p:sp>
          <p:nvSpPr>
            <p:cNvPr id="8" name="矩形 7"/>
            <p:cNvSpPr/>
            <p:nvPr/>
          </p:nvSpPr>
          <p:spPr>
            <a:xfrm>
              <a:off x="1415" y="3778"/>
              <a:ext cx="3762" cy="526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Parameters(26GB, 65%)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177" y="3778"/>
              <a:ext cx="3762" cy="4069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KV Cache(12GB, 30%)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5177" y="7848"/>
              <a:ext cx="3762" cy="119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Others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2337" y="9009"/>
              <a:ext cx="6132" cy="10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13B LLM on A100-40GB</a:t>
              </a:r>
              <a:endParaRPr lang="en-US" altLang="zh-CN"/>
            </a:p>
          </p:txBody>
        </p: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6590" y="2334260"/>
            <a:ext cx="10390505" cy="223774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171055" y="5504815"/>
            <a:ext cx="7938135" cy="1985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2000"/>
              <a:t>内部碎片：由于未知的输出长度而过度申请</a:t>
            </a:r>
            <a:endParaRPr lang="zh-CN" altLang="en-US" sz="200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2000"/>
              <a:t>预留内存：当前步没有使用但会在未来使用</a:t>
            </a:r>
            <a:endParaRPr lang="zh-CN" altLang="en-US" sz="200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2000"/>
              <a:t>外部碎片：由于不同的序列长度</a:t>
            </a:r>
            <a:endParaRPr lang="zh-CN" altLang="en-US" sz="2000"/>
          </a:p>
          <a:p>
            <a:pPr indent="0">
              <a:buFont typeface="Wingdings" panose="05000000000000000000" charset="0"/>
              <a:buNone/>
            </a:pPr>
            <a:endParaRPr lang="zh-CN" altLang="en-US" sz="2000"/>
          </a:p>
          <a:p>
            <a:pPr indent="0">
              <a:buFont typeface="Wingdings" panose="05000000000000000000" charset="0"/>
              <a:buNone/>
            </a:pPr>
            <a:r>
              <a:rPr lang="zh-CN" altLang="en-US" sz="2000"/>
              <a:t>只有</a:t>
            </a:r>
            <a:r>
              <a:rPr lang="en-US" altLang="zh-CN" sz="2000">
                <a:solidFill>
                  <a:srgbClr val="C00000"/>
                </a:solidFill>
              </a:rPr>
              <a:t>20%~40%</a:t>
            </a:r>
            <a:r>
              <a:rPr lang="zh-CN" altLang="en-US" sz="2000"/>
              <a:t>的</a:t>
            </a:r>
            <a:r>
              <a:rPr lang="en-US" altLang="zh-CN" sz="2000"/>
              <a:t>KV Cache</a:t>
            </a:r>
            <a:r>
              <a:rPr lang="zh-CN" altLang="en-US" sz="2000"/>
              <a:t>空间被利用存储</a:t>
            </a:r>
            <a:r>
              <a:rPr lang="en-US" altLang="zh-CN" sz="2000"/>
              <a:t>token</a:t>
            </a:r>
            <a:r>
              <a:rPr lang="zh-CN" altLang="en-US" sz="2000"/>
              <a:t>状态</a:t>
            </a:r>
            <a:endParaRPr lang="zh-CN" altLang="en-US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851389" y="2147517"/>
            <a:ext cx="4225415" cy="276860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操作系统中的内存管理</a:t>
            </a:r>
            <a:endParaRPr lang="zh-CN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97949" y="2146882"/>
            <a:ext cx="5007899" cy="276860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vLLM</a:t>
            </a:r>
            <a:r>
              <a:rPr lang="zh-CN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中的内存管理</a:t>
            </a:r>
            <a:endParaRPr lang="zh-CN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8121567" y="2051488"/>
            <a:ext cx="0" cy="3528060"/>
          </a:xfrm>
          <a:prstGeom prst="line">
            <a:avLst/>
          </a:prstGeom>
          <a:ln w="12700">
            <a:solidFill>
              <a:srgbClr val="7C7C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167765" y="3154045"/>
            <a:ext cx="1075690" cy="1021715"/>
          </a:xfrm>
          <a:prstGeom prst="ellipse">
            <a:avLst/>
          </a:prstGeom>
          <a:solidFill>
            <a:srgbClr val="FFF0B3"/>
          </a:solidFill>
          <a:ln w="12700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Process
A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6666230" y="3201670"/>
            <a:ext cx="1017270" cy="988060"/>
          </a:xfrm>
          <a:prstGeom prst="ellipse">
            <a:avLst/>
          </a:prstGeom>
          <a:solidFill>
            <a:srgbClr val="D5EACE"/>
          </a:solidFill>
          <a:ln w="12700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Process
B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29012" y="5242107"/>
            <a:ext cx="5007899" cy="276860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Physical Memory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43790" y="3010998"/>
            <a:ext cx="1408471" cy="215265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Page Table</a:t>
            </a:r>
            <a:endParaRPr sz="140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066718" y="2940022"/>
            <a:ext cx="1627567" cy="436472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Page 0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066718" y="3376495"/>
            <a:ext cx="1627567" cy="436472"/>
          </a:xfrm>
          <a:prstGeom prst="rect">
            <a:avLst/>
          </a:prstGeom>
          <a:solidFill>
            <a:srgbClr val="FFF0B3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Page 1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066718" y="3812968"/>
            <a:ext cx="1627567" cy="436472"/>
          </a:xfrm>
          <a:prstGeom prst="rect">
            <a:avLst/>
          </a:prstGeom>
          <a:solidFill>
            <a:srgbClr val="D9EBF4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Page 2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066718" y="4249440"/>
            <a:ext cx="1627567" cy="436472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Page 3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066718" y="4685913"/>
            <a:ext cx="1627567" cy="436472"/>
          </a:xfrm>
          <a:prstGeom prst="rect">
            <a:avLst/>
          </a:prstGeom>
          <a:solidFill>
            <a:srgbClr val="FFF0B3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Page 4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9" name="Connector 18"/>
          <p:cNvCxnSpPr>
            <a:endCxn id="14" idx="1"/>
          </p:cNvCxnSpPr>
          <p:nvPr/>
        </p:nvCxnSpPr>
        <p:spPr>
          <a:xfrm flipV="1">
            <a:off x="2299884" y="3158036"/>
            <a:ext cx="766445" cy="530225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299884" y="3688261"/>
            <a:ext cx="766445" cy="342900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11" idx="2"/>
            <a:endCxn id="14" idx="3"/>
          </p:cNvCxnSpPr>
          <p:nvPr/>
        </p:nvCxnSpPr>
        <p:spPr>
          <a:xfrm flipH="1" flipV="1">
            <a:off x="4693979" y="3157623"/>
            <a:ext cx="1972310" cy="537845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11" idx="2"/>
          </p:cNvCxnSpPr>
          <p:nvPr/>
        </p:nvCxnSpPr>
        <p:spPr>
          <a:xfrm flipH="1" flipV="1">
            <a:off x="4693979" y="3688532"/>
            <a:ext cx="1972310" cy="6985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818245" y="3267075"/>
            <a:ext cx="1056005" cy="1000125"/>
          </a:xfrm>
          <a:prstGeom prst="ellipse">
            <a:avLst/>
          </a:prstGeom>
          <a:solidFill>
            <a:srgbClr val="FFF0B3"/>
          </a:solidFill>
          <a:ln w="12700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Request
A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4193520" y="3267075"/>
            <a:ext cx="1066800" cy="1010285"/>
          </a:xfrm>
          <a:prstGeom prst="ellipse">
            <a:avLst/>
          </a:prstGeom>
          <a:solidFill>
            <a:srgbClr val="D5EACE"/>
          </a:solidFill>
          <a:ln w="12700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Request
B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355250" y="5303067"/>
            <a:ext cx="4460160" cy="276860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KV Cache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389028" y="3064973"/>
            <a:ext cx="1408471" cy="215265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Block Table</a:t>
            </a:r>
            <a:endParaRPr sz="140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0672466" y="2940022"/>
            <a:ext cx="1643217" cy="436472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KV Block 0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0672466" y="3376495"/>
            <a:ext cx="1643217" cy="436472"/>
          </a:xfrm>
          <a:prstGeom prst="rect">
            <a:avLst/>
          </a:prstGeom>
          <a:solidFill>
            <a:srgbClr val="FFF0B3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KV Block 1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0672466" y="3812968"/>
            <a:ext cx="1643217" cy="436472"/>
          </a:xfrm>
          <a:prstGeom prst="rect">
            <a:avLst/>
          </a:prstGeom>
          <a:solidFill>
            <a:srgbClr val="D9EBF4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KV Block 2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0672466" y="4249440"/>
            <a:ext cx="1643217" cy="436472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KV Block 3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0672466" y="4685913"/>
            <a:ext cx="1643217" cy="436472"/>
          </a:xfrm>
          <a:prstGeom prst="rect">
            <a:avLst/>
          </a:prstGeom>
          <a:solidFill>
            <a:srgbClr val="FFF0B3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KV Block 4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 flipV="1">
            <a:off x="9874332" y="3158258"/>
            <a:ext cx="798134" cy="530003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874332" y="3688261"/>
            <a:ext cx="798134" cy="342943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endCxn id="27" idx="3"/>
          </p:cNvCxnSpPr>
          <p:nvPr/>
        </p:nvCxnSpPr>
        <p:spPr>
          <a:xfrm flipH="1" flipV="1">
            <a:off x="12315950" y="3157623"/>
            <a:ext cx="1877695" cy="530225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12315950" y="3688532"/>
            <a:ext cx="1877695" cy="124460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298304" y="6371107"/>
            <a:ext cx="12910991" cy="1122358"/>
          </a:xfrm>
          <a:prstGeom prst="roundRect">
            <a:avLst/>
          </a:prstGeom>
          <a:solidFill>
            <a:srgbClr val="F5F6F7"/>
          </a:solidFill>
          <a:ln w="10160"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298304" y="6371107"/>
            <a:ext cx="125197" cy="1122358"/>
          </a:xfrm>
          <a:prstGeom prst="rect">
            <a:avLst/>
          </a:prstGeom>
          <a:solidFill>
            <a:srgbClr val="C90000"/>
          </a:solidFill>
          <a:ln>
            <a:solidFill>
              <a:srgbClr val="C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21180" y="6624320"/>
            <a:ext cx="12059920" cy="615315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33333"/>
                </a:solidFill>
                <a:latin typeface="微软雅黑" panose="020B0503020204020204" charset="-122"/>
              </a:rPr>
              <a:t>• 左图是操作系统分页：连续虚拟页可以映射到离散物理页。
• 右图把同一思想用于 KV Cache，请求看到连续 KV block，底层按需分配物理块。</a:t>
            </a:r>
            <a:endParaRPr sz="20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41" name="Text 1"/>
          <p:cNvSpPr/>
          <p:nvPr/>
        </p:nvSpPr>
        <p:spPr>
          <a:xfrm>
            <a:off x="840105" y="1382395"/>
            <a:ext cx="8515350" cy="77851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algn="l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虚拟内存与分页机制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3700" y="274320"/>
            <a:ext cx="812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1218565"/>
            <a:r>
              <a:rPr lang="en-US" altLang="zh-CN" sz="3200" b="1" kern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Wingdings" panose="05000000000000000000" pitchFamily="2" charset="2"/>
              </a:rPr>
              <a:t>2.1 Paged Attention</a:t>
            </a:r>
            <a:endParaRPr lang="en-US" altLang="zh-CN" sz="3200" b="1" kern="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2417445" y="1822450"/>
            <a:ext cx="1202690" cy="1160145"/>
          </a:xfrm>
          <a:prstGeom prst="ellipse">
            <a:avLst/>
          </a:prstGeom>
          <a:solidFill>
            <a:srgbClr val="FFF0B3"/>
          </a:solidFill>
          <a:ln w="12700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Request
A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07668" y="3139734"/>
            <a:ext cx="4714063" cy="492125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Prompt: "Alan Turing is a computer scientist"
Completion: "and mathematician </a:t>
            </a:r>
            <a:r>
              <a:rPr sz="1600" b="1" u="sng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renowned</a:t>
            </a: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90460" y="4047282"/>
            <a:ext cx="2985573" cy="245745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90000"/>
                </a:solidFill>
                <a:latin typeface="微软雅黑" panose="020B0503020204020204" charset="-122"/>
                <a:ea typeface="微软雅黑" panose="020B0503020204020204" charset="-122"/>
              </a:rPr>
              <a:t>Logical </a:t>
            </a:r>
            <a:r>
              <a: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KV blocks</a:t>
            </a:r>
            <a:endParaRPr sz="1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20496" y="4389713"/>
            <a:ext cx="1131375" cy="54889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Alan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951871" y="4389713"/>
            <a:ext cx="1131375" cy="54889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Turing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083246" y="4389713"/>
            <a:ext cx="1131375" cy="54889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is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214622" y="4389713"/>
            <a:ext cx="1131375" cy="54889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820496" y="4938608"/>
            <a:ext cx="1131375" cy="54889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computer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951871" y="4938608"/>
            <a:ext cx="1131375" cy="54889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scientist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083246" y="4938608"/>
            <a:ext cx="1131375" cy="54889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and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214622" y="4938608"/>
            <a:ext cx="1131375" cy="54889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mathema-
tician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820496" y="5487504"/>
            <a:ext cx="1131375" cy="548895"/>
          </a:xfrm>
          <a:prstGeom prst="rect">
            <a:avLst/>
          </a:prstGeom>
          <a:solidFill>
            <a:srgbClr val="C69200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renowned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951871" y="5487504"/>
            <a:ext cx="1131375" cy="54889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083246" y="5487504"/>
            <a:ext cx="1131375" cy="54889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214622" y="5487504"/>
            <a:ext cx="1131375" cy="54889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820496" y="6036400"/>
            <a:ext cx="1131375" cy="54889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951871" y="6036400"/>
            <a:ext cx="1131375" cy="54889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083246" y="6036400"/>
            <a:ext cx="1131375" cy="54889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214622" y="6036400"/>
            <a:ext cx="1131375" cy="54889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9105" y="4548687"/>
            <a:ext cx="769963" cy="215265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block 0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19105" y="5097583"/>
            <a:ext cx="769963" cy="215265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block 1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19105" y="5646477"/>
            <a:ext cx="769963" cy="215265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block 2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19105" y="6195374"/>
            <a:ext cx="769963" cy="215265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block 3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43111" y="3668187"/>
            <a:ext cx="1807057" cy="245745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90000"/>
                </a:solidFill>
                <a:latin typeface="微软雅黑" panose="020B0503020204020204" charset="-122"/>
                <a:ea typeface="微软雅黑" panose="020B0503020204020204" charset="-122"/>
              </a:rPr>
              <a:t>Block table</a:t>
            </a:r>
            <a:endParaRPr sz="1600" b="1">
              <a:solidFill>
                <a:srgbClr val="C9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099935" y="4109720"/>
            <a:ext cx="754380" cy="703580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Physical
block number</a:t>
            </a:r>
            <a:endParaRPr sz="12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854315" y="4110355"/>
            <a:ext cx="754380" cy="70294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# Filled</a:t>
            </a:r>
            <a:endParaRPr sz="12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100247" y="4813146"/>
            <a:ext cx="754250" cy="42343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854497" y="4813146"/>
            <a:ext cx="754250" cy="42343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100247" y="5236580"/>
            <a:ext cx="754250" cy="42343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854497" y="5236580"/>
            <a:ext cx="754250" cy="42343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100247" y="5660014"/>
            <a:ext cx="754250" cy="42343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854497" y="5660014"/>
            <a:ext cx="754250" cy="423433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389786" y="2458223"/>
            <a:ext cx="3221276" cy="245745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90000"/>
                </a:solidFill>
                <a:latin typeface="微软雅黑" panose="020B0503020204020204" charset="-122"/>
                <a:ea typeface="微软雅黑" panose="020B0503020204020204" charset="-122"/>
              </a:rPr>
              <a:t>Physical </a:t>
            </a:r>
            <a:r>
              <a: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KV blocks</a:t>
            </a:r>
            <a:endParaRPr sz="1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1390044" y="2784971"/>
            <a:ext cx="911385" cy="564578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2301430" y="2784971"/>
            <a:ext cx="911385" cy="564578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3212816" y="2784971"/>
            <a:ext cx="911385" cy="564578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14124201" y="2784971"/>
            <a:ext cx="911385" cy="564578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1390044" y="3349549"/>
            <a:ext cx="911385" cy="564578"/>
          </a:xfrm>
          <a:prstGeom prst="rect">
            <a:avLst/>
          </a:prstGeom>
          <a:solidFill>
            <a:srgbClr val="FFF0B3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computer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2301430" y="3349549"/>
            <a:ext cx="911385" cy="564578"/>
          </a:xfrm>
          <a:prstGeom prst="rect">
            <a:avLst/>
          </a:prstGeom>
          <a:solidFill>
            <a:srgbClr val="FFF0B3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scientist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3212816" y="3349549"/>
            <a:ext cx="911385" cy="564578"/>
          </a:xfrm>
          <a:prstGeom prst="rect">
            <a:avLst/>
          </a:prstGeom>
          <a:solidFill>
            <a:srgbClr val="FFF0B3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and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4124201" y="3349549"/>
            <a:ext cx="911385" cy="564578"/>
          </a:xfrm>
          <a:prstGeom prst="rect">
            <a:avLst/>
          </a:prstGeom>
          <a:solidFill>
            <a:srgbClr val="FFF0B3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mathema-tician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1390044" y="3914128"/>
            <a:ext cx="911385" cy="564578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2301430" y="3914128"/>
            <a:ext cx="911385" cy="564578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3212816" y="3914128"/>
            <a:ext cx="911385" cy="564578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4124201" y="3914128"/>
            <a:ext cx="911385" cy="564578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11390044" y="4478706"/>
            <a:ext cx="911385" cy="564578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12301430" y="4478706"/>
            <a:ext cx="911385" cy="564578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3212816" y="4478706"/>
            <a:ext cx="911385" cy="564578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4124201" y="4478706"/>
            <a:ext cx="911385" cy="564578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1390044" y="5043285"/>
            <a:ext cx="911385" cy="564578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2301430" y="5043285"/>
            <a:ext cx="911385" cy="564578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3212816" y="5043285"/>
            <a:ext cx="911385" cy="564578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4124201" y="5043285"/>
            <a:ext cx="911385" cy="564578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1390044" y="5607863"/>
            <a:ext cx="911385" cy="564578"/>
          </a:xfrm>
          <a:prstGeom prst="rect">
            <a:avLst/>
          </a:prstGeom>
          <a:solidFill>
            <a:srgbClr val="C69200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renowned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2301430" y="5607863"/>
            <a:ext cx="911385" cy="564578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3212816" y="5607863"/>
            <a:ext cx="911385" cy="564578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14124201" y="5607863"/>
            <a:ext cx="911385" cy="564578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11390044" y="6172442"/>
            <a:ext cx="911385" cy="564578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12301430" y="6172442"/>
            <a:ext cx="911385" cy="564578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13212816" y="6172442"/>
            <a:ext cx="911385" cy="564578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14124201" y="6172442"/>
            <a:ext cx="911385" cy="564578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11390044" y="6737020"/>
            <a:ext cx="911385" cy="564578"/>
          </a:xfrm>
          <a:prstGeom prst="rect">
            <a:avLst/>
          </a:prstGeom>
          <a:solidFill>
            <a:srgbClr val="FFF0B3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Alan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12301430" y="6737020"/>
            <a:ext cx="911385" cy="564578"/>
          </a:xfrm>
          <a:prstGeom prst="rect">
            <a:avLst/>
          </a:prstGeom>
          <a:solidFill>
            <a:srgbClr val="FFF0B3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Turing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13212816" y="6737020"/>
            <a:ext cx="911385" cy="564578"/>
          </a:xfrm>
          <a:prstGeom prst="rect">
            <a:avLst/>
          </a:prstGeom>
          <a:solidFill>
            <a:srgbClr val="FFF0B3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is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14124201" y="6737020"/>
            <a:ext cx="911385" cy="564578"/>
          </a:xfrm>
          <a:prstGeom prst="rect">
            <a:avLst/>
          </a:prstGeom>
          <a:solidFill>
            <a:srgbClr val="FFF0B3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0557227" y="2936104"/>
            <a:ext cx="785677" cy="215265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block 0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0557227" y="3500682"/>
            <a:ext cx="785677" cy="215265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block 1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0557227" y="4065260"/>
            <a:ext cx="785677" cy="215265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block 2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0557227" y="4629839"/>
            <a:ext cx="785677" cy="215265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block 3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0557227" y="5194418"/>
            <a:ext cx="785677" cy="215265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block 4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0557227" y="5758996"/>
            <a:ext cx="785677" cy="215265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block 5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0557227" y="6323574"/>
            <a:ext cx="785677" cy="215265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block 6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0557227" y="6888152"/>
            <a:ext cx="785677" cy="215265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block 7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11731976" y="4938615"/>
            <a:ext cx="3221276" cy="501847"/>
          </a:xfrm>
          <a:prstGeom prst="rect">
            <a:avLst/>
          </a:prstGeom>
          <a:solidFill>
            <a:srgbClr val="D9EBF4"/>
          </a:solidFill>
          <a:ln w="12700">
            <a:solidFill>
              <a:srgbClr val="D9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7C7C73"/>
                </a:solidFill>
                <a:latin typeface="微软雅黑" panose="020B0503020204020204" charset="-122"/>
                <a:ea typeface="微软雅黑" panose="020B0503020204020204" charset="-122"/>
              </a:rPr>
              <a:t>Allocated on demand</a:t>
            </a:r>
            <a:endParaRPr sz="2000" b="1">
              <a:solidFill>
                <a:srgbClr val="7C7C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10556875" y="5513705"/>
            <a:ext cx="4667250" cy="807085"/>
          </a:xfrm>
          <a:prstGeom prst="rect">
            <a:avLst/>
          </a:prstGeom>
          <a:noFill/>
          <a:ln w="3175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0" name="Connector 79"/>
          <p:cNvCxnSpPr>
            <a:endCxn id="31" idx="1"/>
          </p:cNvCxnSpPr>
          <p:nvPr/>
        </p:nvCxnSpPr>
        <p:spPr>
          <a:xfrm>
            <a:off x="6345997" y="4672002"/>
            <a:ext cx="753745" cy="353060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>
            <a:stCxn id="15" idx="3"/>
          </p:cNvCxnSpPr>
          <p:nvPr/>
        </p:nvCxnSpPr>
        <p:spPr>
          <a:xfrm>
            <a:off x="6345997" y="5212898"/>
            <a:ext cx="754380" cy="259080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>
            <a:stCxn id="34" idx="3"/>
          </p:cNvCxnSpPr>
          <p:nvPr/>
        </p:nvCxnSpPr>
        <p:spPr>
          <a:xfrm flipV="1">
            <a:off x="8608747" y="3631814"/>
            <a:ext cx="2781300" cy="1816735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>
            <a:stCxn id="32" idx="3"/>
          </p:cNvCxnSpPr>
          <p:nvPr/>
        </p:nvCxnSpPr>
        <p:spPr>
          <a:xfrm>
            <a:off x="8608747" y="5024781"/>
            <a:ext cx="2781300" cy="1994535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1286235" y="7440436"/>
            <a:ext cx="12963674" cy="1129156"/>
          </a:xfrm>
          <a:prstGeom prst="roundRect">
            <a:avLst/>
          </a:prstGeom>
          <a:solidFill>
            <a:srgbClr val="F5F6F7"/>
          </a:solidFill>
          <a:ln w="10160"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1286235" y="7440436"/>
            <a:ext cx="125708" cy="1129156"/>
          </a:xfrm>
          <a:prstGeom prst="rect">
            <a:avLst/>
          </a:prstGeom>
          <a:solidFill>
            <a:srgbClr val="C90000"/>
          </a:solidFill>
          <a:ln>
            <a:solidFill>
              <a:srgbClr val="C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788160" y="7728268"/>
            <a:ext cx="12131675" cy="553720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Logical KV blocks 按 token 顺序组织，Block table 保存它们对应的物理块编号和已填充数量。
• Physical KV blocks 不必连续；新 token 到来时只需分配或补写目标 block。</a:t>
            </a:r>
            <a:endParaRPr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Text 1"/>
          <p:cNvSpPr/>
          <p:nvPr/>
        </p:nvSpPr>
        <p:spPr>
          <a:xfrm>
            <a:off x="840105" y="1280795"/>
            <a:ext cx="8515350" cy="77851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algn="l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Logical &amp; physical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00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KV blocks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0" name="Connector 80"/>
          <p:cNvCxnSpPr>
            <a:endCxn id="35" idx="1"/>
          </p:cNvCxnSpPr>
          <p:nvPr/>
        </p:nvCxnSpPr>
        <p:spPr>
          <a:xfrm>
            <a:off x="6345997" y="5715183"/>
            <a:ext cx="753745" cy="156845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82"/>
          <p:cNvCxnSpPr>
            <a:stCxn id="36" idx="3"/>
            <a:endCxn id="75" idx="3"/>
          </p:cNvCxnSpPr>
          <p:nvPr/>
        </p:nvCxnSpPr>
        <p:spPr>
          <a:xfrm flipV="1">
            <a:off x="8608747" y="5866791"/>
            <a:ext cx="2734310" cy="5080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tangle 34"/>
          <p:cNvSpPr/>
          <p:nvPr/>
        </p:nvSpPr>
        <p:spPr>
          <a:xfrm>
            <a:off x="7100882" y="6083559"/>
            <a:ext cx="754250" cy="42343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endParaRPr lang="en-US"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Rectangle 34"/>
          <p:cNvSpPr/>
          <p:nvPr/>
        </p:nvSpPr>
        <p:spPr>
          <a:xfrm>
            <a:off x="7850182" y="6083559"/>
            <a:ext cx="754250" cy="42343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endParaRPr lang="en-US"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3700" y="274320"/>
            <a:ext cx="812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1218565"/>
            <a:r>
              <a:rPr lang="en-US" altLang="zh-CN" sz="3200" b="1" kern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Wingdings" panose="05000000000000000000" pitchFamily="2" charset="2"/>
              </a:rPr>
              <a:t>2.1 Paged Attention</a:t>
            </a:r>
            <a:endParaRPr lang="en-US" altLang="zh-CN" sz="3200" b="1" kern="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1959610" y="2413635"/>
            <a:ext cx="1148080" cy="1079500"/>
          </a:xfrm>
          <a:prstGeom prst="ellipse">
            <a:avLst/>
          </a:prstGeom>
          <a:solidFill>
            <a:srgbClr val="FFF0B3"/>
          </a:solidFill>
          <a:ln w="12700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Request
A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12816840" y="2397125"/>
            <a:ext cx="1102360" cy="1070610"/>
          </a:xfrm>
          <a:prstGeom prst="ellipse">
            <a:avLst/>
          </a:prstGeom>
          <a:solidFill>
            <a:srgbClr val="D5EACE"/>
          </a:solidFill>
          <a:ln w="12700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Request
B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01332" y="2378116"/>
            <a:ext cx="1220693" cy="245745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Block Table</a:t>
            </a:r>
            <a:endParaRPr sz="1600" b="1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63931" y="2687793"/>
            <a:ext cx="485147" cy="186804"/>
          </a:xfrm>
          <a:prstGeom prst="rect">
            <a:avLst/>
          </a:prstGeom>
          <a:solidFill>
            <a:schemeClr val="bg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49079" y="2687793"/>
            <a:ext cx="485147" cy="186804"/>
          </a:xfrm>
          <a:prstGeom prst="rect">
            <a:avLst/>
          </a:prstGeom>
          <a:solidFill>
            <a:schemeClr val="bg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463931" y="2874598"/>
            <a:ext cx="485147" cy="186804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949079" y="2874598"/>
            <a:ext cx="485147" cy="186804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463931" y="3061402"/>
            <a:ext cx="485147" cy="186804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949079" y="3061402"/>
            <a:ext cx="485147" cy="186804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463931" y="3248207"/>
            <a:ext cx="485147" cy="186804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949079" y="3248207"/>
            <a:ext cx="485147" cy="186804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78028" y="2327316"/>
            <a:ext cx="1220693" cy="245745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Block Table</a:t>
            </a:r>
            <a:endParaRPr sz="1600" b="1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1540628" y="2636993"/>
            <a:ext cx="485147" cy="186804"/>
          </a:xfrm>
          <a:prstGeom prst="rect">
            <a:avLst/>
          </a:prstGeom>
          <a:solidFill>
            <a:schemeClr val="bg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2025775" y="2636993"/>
            <a:ext cx="485147" cy="186804"/>
          </a:xfrm>
          <a:prstGeom prst="rect">
            <a:avLst/>
          </a:prstGeom>
          <a:solidFill>
            <a:schemeClr val="bg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1540628" y="2823798"/>
            <a:ext cx="485147" cy="186804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2025775" y="2823798"/>
            <a:ext cx="485147" cy="186804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540628" y="3010602"/>
            <a:ext cx="485147" cy="186804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2025775" y="3010602"/>
            <a:ext cx="485147" cy="186804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1540628" y="3197407"/>
            <a:ext cx="485147" cy="186804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2025775" y="3197407"/>
            <a:ext cx="485147" cy="186804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79162" y="1840214"/>
            <a:ext cx="3677730" cy="245745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Physical KV blocks</a:t>
            </a:r>
            <a:endParaRPr sz="1600" b="1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273062" y="2181025"/>
            <a:ext cx="923345" cy="575980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196407" y="2181025"/>
            <a:ext cx="923345" cy="575980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119752" y="2181025"/>
            <a:ext cx="923345" cy="575980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043097" y="2181025"/>
            <a:ext cx="923345" cy="575980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273062" y="2757006"/>
            <a:ext cx="923345" cy="575980"/>
          </a:xfrm>
          <a:prstGeom prst="rect">
            <a:avLst/>
          </a:prstGeom>
          <a:solidFill>
            <a:srgbClr val="FFF0B3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computer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196407" y="2757006"/>
            <a:ext cx="923345" cy="575980"/>
          </a:xfrm>
          <a:prstGeom prst="rect">
            <a:avLst/>
          </a:prstGeom>
          <a:solidFill>
            <a:srgbClr val="FFF0B3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scientist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119752" y="2757006"/>
            <a:ext cx="923345" cy="575980"/>
          </a:xfrm>
          <a:prstGeom prst="rect">
            <a:avLst/>
          </a:prstGeom>
          <a:solidFill>
            <a:srgbClr val="FFF0B3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and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9043097" y="2757006"/>
            <a:ext cx="923345" cy="575980"/>
          </a:xfrm>
          <a:prstGeom prst="rect">
            <a:avLst/>
          </a:prstGeom>
          <a:solidFill>
            <a:srgbClr val="FFF0B3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mathema-
tician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273062" y="3332986"/>
            <a:ext cx="923345" cy="575980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196407" y="3332986"/>
            <a:ext cx="923345" cy="575980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119752" y="3332986"/>
            <a:ext cx="923345" cy="575980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043097" y="3332986"/>
            <a:ext cx="923345" cy="575980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273062" y="3908967"/>
            <a:ext cx="923345" cy="575980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Artificial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196407" y="3908967"/>
            <a:ext cx="923345" cy="575980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Intellige
nce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8119752" y="3908967"/>
            <a:ext cx="923345" cy="575980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is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9043097" y="3908967"/>
            <a:ext cx="923345" cy="575980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the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273062" y="4484948"/>
            <a:ext cx="923345" cy="575980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7196407" y="4484948"/>
            <a:ext cx="923345" cy="575980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119752" y="4484948"/>
            <a:ext cx="923345" cy="575980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9043097" y="4484948"/>
            <a:ext cx="923345" cy="575980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6273062" y="5060928"/>
            <a:ext cx="923345" cy="575980"/>
          </a:xfrm>
          <a:prstGeom prst="rect">
            <a:avLst/>
          </a:prstGeom>
          <a:solidFill>
            <a:srgbClr val="C69200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renowned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196407" y="5060928"/>
            <a:ext cx="923345" cy="575980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8119752" y="5060928"/>
            <a:ext cx="923345" cy="575980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9043097" y="5060928"/>
            <a:ext cx="923345" cy="575980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273062" y="5636909"/>
            <a:ext cx="923345" cy="575980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future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7196407" y="5636909"/>
            <a:ext cx="923345" cy="575980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of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8119752" y="5636909"/>
            <a:ext cx="923345" cy="575980"/>
          </a:xfrm>
          <a:prstGeom prst="rect">
            <a:avLst/>
          </a:prstGeom>
          <a:solidFill>
            <a:schemeClr val="accent6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technology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9043097" y="5636909"/>
            <a:ext cx="923345" cy="575980"/>
          </a:xfrm>
          <a:prstGeom prst="rect">
            <a:avLst/>
          </a:prstGeom>
          <a:noFill/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273062" y="6212890"/>
            <a:ext cx="923345" cy="575980"/>
          </a:xfrm>
          <a:prstGeom prst="rect">
            <a:avLst/>
          </a:prstGeom>
          <a:solidFill>
            <a:srgbClr val="FFF0B3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Alan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7196407" y="6212890"/>
            <a:ext cx="923345" cy="575980"/>
          </a:xfrm>
          <a:prstGeom prst="rect">
            <a:avLst/>
          </a:prstGeom>
          <a:solidFill>
            <a:srgbClr val="FFF0B3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Turing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8119752" y="6212890"/>
            <a:ext cx="923345" cy="575980"/>
          </a:xfrm>
          <a:prstGeom prst="rect">
            <a:avLst/>
          </a:prstGeom>
          <a:solidFill>
            <a:srgbClr val="FFF0B3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is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9043097" y="6212890"/>
            <a:ext cx="923345" cy="575980"/>
          </a:xfrm>
          <a:prstGeom prst="rect">
            <a:avLst/>
          </a:prstGeom>
          <a:solidFill>
            <a:srgbClr val="FFF0B3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938035" y="4128569"/>
            <a:ext cx="3442981" cy="245745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Logical KV blocks</a:t>
            </a:r>
            <a:endParaRPr sz="1600" b="1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967741" y="4453814"/>
            <a:ext cx="1126793" cy="5448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Alan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2094534" y="4453814"/>
            <a:ext cx="1126793" cy="5448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Turing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3221328" y="4453814"/>
            <a:ext cx="1126793" cy="5448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is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4348122" y="4453814"/>
            <a:ext cx="1126793" cy="5448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967741" y="4998660"/>
            <a:ext cx="1126793" cy="5448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computer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2094534" y="4998660"/>
            <a:ext cx="1126793" cy="5448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scientist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3221328" y="4998660"/>
            <a:ext cx="1126793" cy="5448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and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4348122" y="4998660"/>
            <a:ext cx="1126793" cy="5448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mathema-
tician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967741" y="5543507"/>
            <a:ext cx="1126793" cy="544846"/>
          </a:xfrm>
          <a:prstGeom prst="rect">
            <a:avLst/>
          </a:prstGeom>
          <a:solidFill>
            <a:srgbClr val="C69200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renowned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2094534" y="5543507"/>
            <a:ext cx="1126793" cy="544846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3221328" y="5543507"/>
            <a:ext cx="1126793" cy="544846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4348122" y="5543507"/>
            <a:ext cx="1126793" cy="544846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967741" y="6088353"/>
            <a:ext cx="1126793" cy="544846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2094534" y="6088353"/>
            <a:ext cx="1126793" cy="544846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3221328" y="6088353"/>
            <a:ext cx="1126793" cy="544846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4348122" y="6088353"/>
            <a:ext cx="1126793" cy="544846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1202785" y="4128569"/>
            <a:ext cx="3442981" cy="245745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Logical KV blocks</a:t>
            </a:r>
            <a:endParaRPr sz="1600" b="1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10811538" y="4453814"/>
            <a:ext cx="1126793" cy="544846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Artificial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11938332" y="4453814"/>
            <a:ext cx="1126793" cy="544846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intelligence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13065125" y="4453814"/>
            <a:ext cx="1126793" cy="544846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is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14191919" y="4453814"/>
            <a:ext cx="1126793" cy="544846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the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10811538" y="4998660"/>
            <a:ext cx="1126793" cy="544846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future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11938332" y="4998660"/>
            <a:ext cx="1126793" cy="544846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of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13065125" y="4998660"/>
            <a:ext cx="1126793" cy="544846"/>
          </a:xfrm>
          <a:prstGeom prst="rect">
            <a:avLst/>
          </a:prstGeom>
          <a:solidFill>
            <a:schemeClr val="accent6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technology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14191919" y="4998660"/>
            <a:ext cx="1126793" cy="544846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0811538" y="5543507"/>
            <a:ext cx="1126793" cy="544846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11938332" y="5543507"/>
            <a:ext cx="1126793" cy="544846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13065125" y="5543507"/>
            <a:ext cx="1126793" cy="544846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14191919" y="5543507"/>
            <a:ext cx="1126793" cy="544846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10811538" y="6088353"/>
            <a:ext cx="1126793" cy="544846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11938332" y="6088353"/>
            <a:ext cx="1126793" cy="544846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13065125" y="6088353"/>
            <a:ext cx="1126793" cy="544846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14191919" y="6088353"/>
            <a:ext cx="1126793" cy="544846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1312039" y="7205910"/>
            <a:ext cx="12911180" cy="1120827"/>
          </a:xfrm>
          <a:prstGeom prst="roundRect">
            <a:avLst/>
          </a:prstGeom>
          <a:solidFill>
            <a:srgbClr val="F5F6F7"/>
          </a:solidFill>
          <a:ln w="10160"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1312039" y="7205910"/>
            <a:ext cx="125199" cy="1120827"/>
          </a:xfrm>
          <a:prstGeom prst="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1703705" y="7489190"/>
            <a:ext cx="12190730" cy="553720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Request A、B 各自维护 Logical KV blocks 和 Block Table，因此序列状态相互隔离。
• 两个请求共享同一 Physical KV block 池，调度器可按需使用空闲块。</a:t>
            </a:r>
            <a:endParaRPr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Text 1"/>
          <p:cNvSpPr/>
          <p:nvPr/>
        </p:nvSpPr>
        <p:spPr>
          <a:xfrm>
            <a:off x="840105" y="1242695"/>
            <a:ext cx="4925695" cy="77851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algn="l">
              <a:lnSpc>
                <a:spcPct val="150000"/>
              </a:lnSpc>
            </a:pPr>
            <a:r>
              <a:rPr lang="zh-CN" sz="2000">
                <a:solidFill>
                  <a:srgbClr val="161616"/>
                </a:solidFill>
                <a:latin typeface="Arial" panose="020B0604020202020204"/>
                <a:sym typeface="+mn-ea"/>
              </a:rPr>
              <a:t>处理多个请求</a:t>
            </a:r>
            <a:endParaRPr lang="zh-CN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0" name="Connector 79"/>
          <p:cNvCxnSpPr>
            <a:endCxn id="30" idx="1"/>
          </p:cNvCxnSpPr>
          <p:nvPr/>
        </p:nvCxnSpPr>
        <p:spPr>
          <a:xfrm>
            <a:off x="4434012" y="2757477"/>
            <a:ext cx="1838960" cy="287655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79"/>
          <p:cNvCxnSpPr/>
          <p:nvPr/>
        </p:nvCxnSpPr>
        <p:spPr>
          <a:xfrm flipH="1">
            <a:off x="9966132" y="2757477"/>
            <a:ext cx="1574165" cy="1371600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93700" y="274320"/>
            <a:ext cx="812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1218565"/>
            <a:r>
              <a:rPr lang="en-US" altLang="zh-CN" sz="3200" b="1" kern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Wingdings" panose="05000000000000000000" pitchFamily="2" charset="2"/>
              </a:rPr>
              <a:t>2.1 Paged Attention</a:t>
            </a:r>
            <a:endParaRPr lang="en-US" altLang="zh-CN" sz="3200" b="1" kern="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55700" y="1423670"/>
            <a:ext cx="8442960" cy="1872615"/>
          </a:xfrm>
          <a:prstGeom prst="rect">
            <a:avLst/>
          </a:prstGeom>
          <a:noFill/>
        </p:spPr>
        <p:txBody>
          <a:bodyPr wrap="square" lIns="12700" tIns="0" rIns="12700" bIns="0" anchor="t">
            <a:no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zh-CN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最小化内部碎片</a:t>
            </a: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>
                <a:solidFill>
                  <a:srgbClr val="161616"/>
                </a:solidFill>
                <a:latin typeface="微软雅黑" panose="020B0503020204020204" charset="-122"/>
                <a:sym typeface="+mn-ea"/>
              </a:rPr>
              <a:t>Only happens at the last block of a sequence</a:t>
            </a: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Wasted tokens / seq &lt; block size</a:t>
            </a: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     ▪  Sequence: O(100) - O(1000) tokens
       ▪  Block size: 16 or 32 tokens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zh-CN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无外部碎片</a:t>
            </a:r>
            <a:endParaRPr lang="zh-CN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endParaRPr lang="zh-CN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endParaRPr lang="zh-CN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endParaRPr lang="zh-CN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endParaRPr lang="zh-CN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endParaRPr lang="zh-CN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zh-CN" altLang="en-US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支持共享前缀，如并行采样场景</a:t>
            </a:r>
            <a:endParaRPr lang="zh-CN" altLang="en-US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54690" y="2108200"/>
            <a:ext cx="4999355" cy="830580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On average, the wasted space is less than </a:t>
            </a:r>
            <a:r>
              <a:rPr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4%</a:t>
            </a: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 of the KV cache space</a:t>
            </a:r>
            <a:r>
              <a:rPr lang="en-US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3-5x</a:t>
            </a: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 improved memory utilization)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68625" y="3894016"/>
            <a:ext cx="2814259" cy="276860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Internal fragmentation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031355" y="1649095"/>
            <a:ext cx="913130" cy="582930"/>
          </a:xfrm>
          <a:prstGeom prst="rect">
            <a:avLst/>
          </a:prstGeom>
          <a:solidFill>
            <a:srgbClr val="FFF0B3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Alan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944485" y="1649095"/>
            <a:ext cx="913130" cy="582930"/>
          </a:xfrm>
          <a:prstGeom prst="rect">
            <a:avLst/>
          </a:prstGeom>
          <a:solidFill>
            <a:srgbClr val="FFF0B3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Turing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856980" y="1649095"/>
            <a:ext cx="913130" cy="582930"/>
          </a:xfrm>
          <a:prstGeom prst="rect">
            <a:avLst/>
          </a:prstGeom>
          <a:solidFill>
            <a:srgbClr val="FFF0B3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is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770110" y="1649095"/>
            <a:ext cx="913130" cy="582930"/>
          </a:xfrm>
          <a:prstGeom prst="rect">
            <a:avLst/>
          </a:prstGeom>
          <a:solidFill>
            <a:srgbClr val="FFF0B3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031355" y="2232025"/>
            <a:ext cx="913130" cy="582930"/>
          </a:xfrm>
          <a:prstGeom prst="rect">
            <a:avLst/>
          </a:prstGeom>
          <a:solidFill>
            <a:srgbClr val="FFF0B3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computer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944485" y="2232025"/>
            <a:ext cx="913130" cy="582930"/>
          </a:xfrm>
          <a:prstGeom prst="rect">
            <a:avLst/>
          </a:prstGeom>
          <a:solidFill>
            <a:srgbClr val="FFF0B3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scientist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856980" y="2232025"/>
            <a:ext cx="913130" cy="582930"/>
          </a:xfrm>
          <a:prstGeom prst="rect">
            <a:avLst/>
          </a:prstGeom>
          <a:solidFill>
            <a:srgbClr val="FFF0B3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and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770110" y="2232025"/>
            <a:ext cx="913130" cy="582930"/>
          </a:xfrm>
          <a:prstGeom prst="rect">
            <a:avLst/>
          </a:prstGeom>
          <a:solidFill>
            <a:srgbClr val="FFF0B3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mathematician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031355" y="2814955"/>
            <a:ext cx="913130" cy="582930"/>
          </a:xfrm>
          <a:prstGeom prst="rect">
            <a:avLst/>
          </a:prstGeom>
          <a:solidFill>
            <a:srgbClr val="C69200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renowned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944485" y="2814955"/>
            <a:ext cx="913130" cy="582930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856980" y="2814955"/>
            <a:ext cx="913130" cy="582930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770110" y="2814955"/>
            <a:ext cx="913130" cy="582930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311617" y="7720450"/>
            <a:ext cx="12898691" cy="1117860"/>
          </a:xfrm>
          <a:prstGeom prst="roundRect">
            <a:avLst/>
          </a:prstGeom>
          <a:solidFill>
            <a:srgbClr val="F5F6F7"/>
          </a:solidFill>
          <a:ln w="10160"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311617" y="7720450"/>
            <a:ext cx="125078" cy="1117860"/>
          </a:xfrm>
          <a:prstGeom prst="rect">
            <a:avLst/>
          </a:prstGeom>
          <a:solidFill>
            <a:srgbClr val="C90000"/>
          </a:solidFill>
          <a:ln>
            <a:solidFill>
              <a:srgbClr val="C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905635" y="7725410"/>
            <a:ext cx="11976100" cy="1107440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固定大小 block 将内部碎片限制在每个序列最后一个未填满块，并避免外部碎片。
• 图中示例说明浪费空间通常较小，KV Cache 能保持较高利用率。</a:t>
            </a:r>
            <a:endParaRPr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• Parallel Sampling 的多个输出共享同一个 prompt，前缀对应的 KV Cache 完全相同。
• Dynamic block mapping 让多个分支指向公共前缀，只为各自新增内容分配 block。</a:t>
            </a:r>
            <a:endParaRPr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左大括号 28"/>
          <p:cNvSpPr/>
          <p:nvPr/>
        </p:nvSpPr>
        <p:spPr>
          <a:xfrm rot="16200000">
            <a:off x="9037955" y="2671445"/>
            <a:ext cx="394335" cy="1847215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Rounded Rectangle 5"/>
          <p:cNvSpPr/>
          <p:nvPr/>
        </p:nvSpPr>
        <p:spPr>
          <a:xfrm>
            <a:off x="1772920" y="5114925"/>
            <a:ext cx="3010535" cy="904240"/>
          </a:xfrm>
          <a:prstGeom prst="roundRect">
            <a:avLst/>
          </a:prstGeom>
          <a:solidFill>
            <a:srgbClr val="F1C5C2"/>
          </a:solidFill>
          <a:ln w="12700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The future of cloud
computing is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ounded Rectangle 6"/>
          <p:cNvSpPr/>
          <p:nvPr/>
        </p:nvSpPr>
        <p:spPr>
          <a:xfrm>
            <a:off x="6003290" y="5099050"/>
            <a:ext cx="1363345" cy="920115"/>
          </a:xfrm>
          <a:prstGeom prst="roundRect">
            <a:avLst/>
          </a:prstGeom>
          <a:solidFill>
            <a:srgbClr val="E9E9E9"/>
          </a:solidFill>
          <a:ln w="12700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LLM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7"/>
          <p:cNvSpPr/>
          <p:nvPr/>
        </p:nvSpPr>
        <p:spPr>
          <a:xfrm>
            <a:off x="8976995" y="4492625"/>
            <a:ext cx="4043680" cy="967105"/>
          </a:xfrm>
          <a:prstGeom prst="roundRect">
            <a:avLst/>
          </a:prstGeom>
          <a:solidFill>
            <a:srgbClr val="FFF0B3"/>
          </a:solidFill>
          <a:ln w="12700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bright and poised for further
growth and transformation.
Here's why: ...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ounded Rectangle 8"/>
          <p:cNvSpPr/>
          <p:nvPr/>
        </p:nvSpPr>
        <p:spPr>
          <a:xfrm>
            <a:off x="8976995" y="5612130"/>
            <a:ext cx="4069080" cy="967105"/>
          </a:xfrm>
          <a:prstGeom prst="roundRect">
            <a:avLst/>
          </a:prstGeom>
          <a:solidFill>
            <a:srgbClr val="D5EACE"/>
          </a:solidFill>
          <a:ln w="12700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intertwined with the
advancement of artificial
intelligence (AI). ...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9"/>
          <p:cNvSpPr/>
          <p:nvPr/>
        </p:nvSpPr>
        <p:spPr>
          <a:xfrm>
            <a:off x="8976995" y="6751955"/>
            <a:ext cx="4069080" cy="850900"/>
          </a:xfrm>
          <a:prstGeom prst="roundRect">
            <a:avLst/>
          </a:prstGeom>
          <a:solidFill>
            <a:srgbClr val="EDD1AD"/>
          </a:solidFill>
          <a:ln w="12700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likely to be characterized by
several key trends: ...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5" name="Connector 10"/>
          <p:cNvCxnSpPr/>
          <p:nvPr/>
        </p:nvCxnSpPr>
        <p:spPr>
          <a:xfrm>
            <a:off x="4783809" y="5566880"/>
            <a:ext cx="1156973" cy="0"/>
          </a:xfrm>
          <a:prstGeom prst="line">
            <a:avLst/>
          </a:prstGeom>
          <a:ln w="12700">
            <a:solidFill>
              <a:srgbClr val="7C7C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11"/>
          <p:cNvCxnSpPr/>
          <p:nvPr/>
        </p:nvCxnSpPr>
        <p:spPr>
          <a:xfrm>
            <a:off x="7366586" y="5566880"/>
            <a:ext cx="1125704" cy="0"/>
          </a:xfrm>
          <a:prstGeom prst="line">
            <a:avLst/>
          </a:prstGeom>
          <a:ln w="12700">
            <a:solidFill>
              <a:srgbClr val="7C7C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12"/>
          <p:cNvCxnSpPr/>
          <p:nvPr/>
        </p:nvCxnSpPr>
        <p:spPr>
          <a:xfrm flipV="1">
            <a:off x="8492290" y="4802777"/>
            <a:ext cx="484678" cy="764103"/>
          </a:xfrm>
          <a:prstGeom prst="line">
            <a:avLst/>
          </a:prstGeom>
          <a:ln w="12700">
            <a:solidFill>
              <a:srgbClr val="7C7C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13"/>
          <p:cNvCxnSpPr/>
          <p:nvPr/>
        </p:nvCxnSpPr>
        <p:spPr>
          <a:xfrm>
            <a:off x="8492290" y="5566880"/>
            <a:ext cx="484678" cy="452225"/>
          </a:xfrm>
          <a:prstGeom prst="line">
            <a:avLst/>
          </a:prstGeom>
          <a:ln w="12700">
            <a:solidFill>
              <a:srgbClr val="7C7C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14"/>
          <p:cNvCxnSpPr/>
          <p:nvPr/>
        </p:nvCxnSpPr>
        <p:spPr>
          <a:xfrm>
            <a:off x="8492290" y="5566880"/>
            <a:ext cx="484678" cy="1668552"/>
          </a:xfrm>
          <a:prstGeom prst="line">
            <a:avLst/>
          </a:prstGeom>
          <a:ln w="12700">
            <a:solidFill>
              <a:srgbClr val="7C7C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93700" y="274320"/>
            <a:ext cx="812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1218565"/>
            <a:r>
              <a:rPr lang="en-US" altLang="zh-CN" sz="3200" b="1" kern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Wingdings" panose="05000000000000000000" pitchFamily="2" charset="2"/>
              </a:rPr>
              <a:t>2.1 Paged Attention</a:t>
            </a:r>
            <a:endParaRPr lang="en-US" altLang="zh-CN" sz="3200" b="1" kern="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1767205" y="2510155"/>
            <a:ext cx="1172210" cy="1158875"/>
          </a:xfrm>
          <a:prstGeom prst="ellipse">
            <a:avLst/>
          </a:prstGeom>
          <a:solidFill>
            <a:srgbClr val="FFF0B3"/>
          </a:solidFill>
          <a:ln w="12700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Request</a:t>
            </a:r>
            <a:r>
              <a:rPr lang="en-US" sz="140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</a:t>
            </a:r>
            <a:endParaRPr lang="en-US"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733756" y="4446421"/>
            <a:ext cx="3439650" cy="276860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Logical KV blocks</a:t>
            </a:r>
            <a:endParaRPr b="1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067717" y="4446421"/>
            <a:ext cx="3439650" cy="276860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Logical KV blocks</a:t>
            </a:r>
            <a:endParaRPr b="1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67652" y="4787660"/>
            <a:ext cx="1125703" cy="530423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The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093355" y="4787660"/>
            <a:ext cx="1125703" cy="530423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future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219059" y="4787660"/>
            <a:ext cx="1125703" cy="530423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of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344763" y="4787660"/>
            <a:ext cx="1125703" cy="530423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cloud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67652" y="5318083"/>
            <a:ext cx="1125703" cy="530423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computing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093355" y="5318083"/>
            <a:ext cx="1125703" cy="530423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is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219059" y="5318083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344763" y="5318083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967652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093355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219059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344763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67652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093355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219059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344763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0786291" y="4787660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The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1911995" y="4787660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future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3037699" y="4787660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of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4163403" y="4787660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cloud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0786291" y="5318083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computing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1911995" y="5318083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is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13037699" y="5318083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14163403" y="5318083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0786291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1911995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3037699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4163403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0786291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1911995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3037699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4163403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252206" y="2509960"/>
            <a:ext cx="938086" cy="592825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The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7190293" y="2509960"/>
            <a:ext cx="938086" cy="592825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future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8128379" y="2509960"/>
            <a:ext cx="938086" cy="592825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of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9066466" y="2509960"/>
            <a:ext cx="938086" cy="592825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cloud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252206" y="3102786"/>
            <a:ext cx="938086" cy="592825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computing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7190293" y="3102786"/>
            <a:ext cx="938086" cy="592825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is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128379" y="3102786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9066466" y="3102786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6252206" y="3695612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7190293" y="3695612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8128379" y="3695612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9066466" y="3695612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6252206" y="4288438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7190293" y="4288438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8128379" y="4288438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9066466" y="4288438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6252206" y="4881264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7190293" y="4881264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8128379" y="4881264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9066466" y="4881264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6252206" y="5474089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7190293" y="5474089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8128379" y="5474089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9066466" y="5474089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6252206" y="6066915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7190293" y="6066915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8128379" y="6066915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9066466" y="6066915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9" name="Connector 88"/>
          <p:cNvCxnSpPr/>
          <p:nvPr/>
        </p:nvCxnSpPr>
        <p:spPr>
          <a:xfrm flipH="1" flipV="1">
            <a:off x="10004595" y="3508404"/>
            <a:ext cx="781685" cy="2145665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>
            <a:endCxn id="60" idx="1"/>
          </p:cNvCxnSpPr>
          <p:nvPr/>
        </p:nvCxnSpPr>
        <p:spPr>
          <a:xfrm flipV="1">
            <a:off x="5470467" y="2806500"/>
            <a:ext cx="781685" cy="2339975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 flipV="1">
            <a:off x="10004606" y="2938580"/>
            <a:ext cx="781685" cy="2207895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1311617" y="7392973"/>
            <a:ext cx="12898691" cy="1123248"/>
          </a:xfrm>
          <a:prstGeom prst="roundRect">
            <a:avLst/>
          </a:prstGeom>
          <a:solidFill>
            <a:srgbClr val="F5F6F7"/>
          </a:solidFill>
          <a:ln w="10160"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1311617" y="7392973"/>
            <a:ext cx="125078" cy="1123248"/>
          </a:xfrm>
          <a:prstGeom prst="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732915" y="7677785"/>
            <a:ext cx="12148820" cy="553720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Sequence A 与 B 的 Logical KV blocks 都从相同的公共前缀开始。
• 两侧 Block Table 指向中央同一组 Physical KV blocks，因此公共 KV 只存储一份。</a:t>
            </a:r>
            <a:endParaRPr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Text 1"/>
          <p:cNvSpPr/>
          <p:nvPr/>
        </p:nvSpPr>
        <p:spPr>
          <a:xfrm>
            <a:off x="840105" y="1242695"/>
            <a:ext cx="8515350" cy="77851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algn="l">
              <a:lnSpc>
                <a:spcPct val="150000"/>
              </a:lnSpc>
            </a:pPr>
            <a:r>
              <a:rPr sz="2000">
                <a:solidFill>
                  <a:srgbClr val="161616"/>
                </a:solidFill>
                <a:latin typeface="Arial" panose="020B0604020202020204"/>
                <a:sym typeface="+mn-ea"/>
              </a:rPr>
              <a:t>Sharing KV blocks</a:t>
            </a:r>
            <a:endParaRPr sz="2000" b="0">
              <a:solidFill>
                <a:srgbClr val="161616"/>
              </a:solidFill>
              <a:latin typeface="Arial" panose="020B0604020202020204"/>
            </a:endParaRPr>
          </a:p>
          <a:p>
            <a:pPr algn="l">
              <a:lnSpc>
                <a:spcPct val="150000"/>
              </a:lnSpc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16" name="组合 115"/>
          <p:cNvGrpSpPr/>
          <p:nvPr/>
        </p:nvGrpSpPr>
        <p:grpSpPr>
          <a:xfrm>
            <a:off x="3058795" y="2451735"/>
            <a:ext cx="1220470" cy="1056640"/>
            <a:chOff x="5356" y="3745"/>
            <a:chExt cx="1922" cy="1664"/>
          </a:xfrm>
        </p:grpSpPr>
        <p:sp>
          <p:nvSpPr>
            <p:cNvPr id="107" name="TextBox 6"/>
            <p:cNvSpPr txBox="1"/>
            <p:nvPr/>
          </p:nvSpPr>
          <p:spPr>
            <a:xfrm>
              <a:off x="5356" y="3745"/>
              <a:ext cx="1922" cy="387"/>
            </a:xfrm>
            <a:prstGeom prst="rect">
              <a:avLst/>
            </a:prstGeom>
            <a:noFill/>
          </p:spPr>
          <p:txBody>
            <a:bodyPr wrap="square" lIns="12700" tIns="0" rIns="1270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161616"/>
                  </a:solidFill>
                  <a:latin typeface="微软雅黑" panose="020B0503020204020204" charset="-122"/>
                  <a:ea typeface="微软雅黑" panose="020B0503020204020204" charset="-122"/>
                </a:rPr>
                <a:t>Block Table</a:t>
              </a:r>
              <a:endParaRPr sz="1600"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8" name="Rectangle 7"/>
            <p:cNvSpPr/>
            <p:nvPr/>
          </p:nvSpPr>
          <p:spPr>
            <a:xfrm>
              <a:off x="5455" y="4233"/>
              <a:ext cx="764" cy="294"/>
            </a:xfrm>
            <a:prstGeom prst="rect">
              <a:avLst/>
            </a:prstGeom>
            <a:solidFill>
              <a:schemeClr val="bg2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9" name="Rectangle 8"/>
            <p:cNvSpPr/>
            <p:nvPr/>
          </p:nvSpPr>
          <p:spPr>
            <a:xfrm>
              <a:off x="6219" y="4233"/>
              <a:ext cx="764" cy="294"/>
            </a:xfrm>
            <a:prstGeom prst="rect">
              <a:avLst/>
            </a:prstGeom>
            <a:solidFill>
              <a:schemeClr val="bg2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0" name="Rectangle 9"/>
            <p:cNvSpPr/>
            <p:nvPr/>
          </p:nvSpPr>
          <p:spPr>
            <a:xfrm>
              <a:off x="5455" y="4527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1" name="Rectangle 10"/>
            <p:cNvSpPr/>
            <p:nvPr/>
          </p:nvSpPr>
          <p:spPr>
            <a:xfrm>
              <a:off x="6219" y="4527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2" name="Rectangle 11"/>
            <p:cNvSpPr/>
            <p:nvPr/>
          </p:nvSpPr>
          <p:spPr>
            <a:xfrm>
              <a:off x="5455" y="4821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3" name="Rectangle 12"/>
            <p:cNvSpPr/>
            <p:nvPr/>
          </p:nvSpPr>
          <p:spPr>
            <a:xfrm>
              <a:off x="6219" y="4821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4" name="Rectangle 13"/>
            <p:cNvSpPr/>
            <p:nvPr/>
          </p:nvSpPr>
          <p:spPr>
            <a:xfrm>
              <a:off x="5455" y="5115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5" name="Rectangle 14"/>
            <p:cNvSpPr/>
            <p:nvPr/>
          </p:nvSpPr>
          <p:spPr>
            <a:xfrm>
              <a:off x="6219" y="5115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17" name="TextBox 24"/>
          <p:cNvSpPr txBox="1"/>
          <p:nvPr/>
        </p:nvSpPr>
        <p:spPr>
          <a:xfrm>
            <a:off x="6179162" y="1840214"/>
            <a:ext cx="3677730" cy="245745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Physical KV blocks</a:t>
            </a:r>
            <a:endParaRPr sz="1600" b="1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28" name="组合 127"/>
          <p:cNvGrpSpPr/>
          <p:nvPr/>
        </p:nvGrpSpPr>
        <p:grpSpPr>
          <a:xfrm>
            <a:off x="11687810" y="2451735"/>
            <a:ext cx="2440940" cy="1140460"/>
            <a:chOff x="18076" y="3665"/>
            <a:chExt cx="3844" cy="1796"/>
          </a:xfrm>
        </p:grpSpPr>
        <p:sp>
          <p:nvSpPr>
            <p:cNvPr id="118" name="Oval 5"/>
            <p:cNvSpPr/>
            <p:nvPr/>
          </p:nvSpPr>
          <p:spPr>
            <a:xfrm>
              <a:off x="20184" y="3775"/>
              <a:ext cx="1736" cy="1686"/>
            </a:xfrm>
            <a:prstGeom prst="ellipse">
              <a:avLst/>
            </a:prstGeom>
            <a:solidFill>
              <a:srgbClr val="D5EACE"/>
            </a:solidFill>
            <a:ln w="12700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0">
                  <a:solidFill>
                    <a:srgbClr val="161616"/>
                  </a:solidFill>
                  <a:latin typeface="微软雅黑" panose="020B0503020204020204" charset="-122"/>
                  <a:ea typeface="微软雅黑" panose="020B0503020204020204" charset="-122"/>
                </a:rPr>
                <a:t>Request
B</a:t>
              </a:r>
              <a:endPara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9" name="TextBox 15"/>
            <p:cNvSpPr txBox="1"/>
            <p:nvPr/>
          </p:nvSpPr>
          <p:spPr>
            <a:xfrm>
              <a:off x="18076" y="3665"/>
              <a:ext cx="1922" cy="387"/>
            </a:xfrm>
            <a:prstGeom prst="rect">
              <a:avLst/>
            </a:prstGeom>
            <a:noFill/>
          </p:spPr>
          <p:txBody>
            <a:bodyPr wrap="square" lIns="12700" tIns="0" rIns="12700" bIns="0" anchor="ctr">
              <a:spAutoFit/>
            </a:bodyPr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161616"/>
                  </a:solidFill>
                  <a:latin typeface="微软雅黑" panose="020B0503020204020204" charset="-122"/>
                  <a:ea typeface="微软雅黑" panose="020B0503020204020204" charset="-122"/>
                </a:rPr>
                <a:t>Block Table</a:t>
              </a:r>
              <a:endParaRPr sz="1600"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0" name="Rectangle 16"/>
            <p:cNvSpPr/>
            <p:nvPr/>
          </p:nvSpPr>
          <p:spPr>
            <a:xfrm>
              <a:off x="18174" y="4153"/>
              <a:ext cx="764" cy="294"/>
            </a:xfrm>
            <a:prstGeom prst="rect">
              <a:avLst/>
            </a:prstGeom>
            <a:solidFill>
              <a:schemeClr val="bg2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1" name="Rectangle 17"/>
            <p:cNvSpPr/>
            <p:nvPr/>
          </p:nvSpPr>
          <p:spPr>
            <a:xfrm>
              <a:off x="18938" y="4153"/>
              <a:ext cx="764" cy="294"/>
            </a:xfrm>
            <a:prstGeom prst="rect">
              <a:avLst/>
            </a:prstGeom>
            <a:solidFill>
              <a:schemeClr val="bg2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2" name="Rectangle 18"/>
            <p:cNvSpPr/>
            <p:nvPr/>
          </p:nvSpPr>
          <p:spPr>
            <a:xfrm>
              <a:off x="18174" y="4447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3" name="Rectangle 19"/>
            <p:cNvSpPr/>
            <p:nvPr/>
          </p:nvSpPr>
          <p:spPr>
            <a:xfrm>
              <a:off x="18938" y="4447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4" name="Rectangle 20"/>
            <p:cNvSpPr/>
            <p:nvPr/>
          </p:nvSpPr>
          <p:spPr>
            <a:xfrm>
              <a:off x="18174" y="4741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5" name="Rectangle 21"/>
            <p:cNvSpPr/>
            <p:nvPr/>
          </p:nvSpPr>
          <p:spPr>
            <a:xfrm>
              <a:off x="18938" y="4741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6" name="Rectangle 22"/>
            <p:cNvSpPr/>
            <p:nvPr/>
          </p:nvSpPr>
          <p:spPr>
            <a:xfrm>
              <a:off x="18174" y="5035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7" name="Rectangle 23"/>
            <p:cNvSpPr/>
            <p:nvPr/>
          </p:nvSpPr>
          <p:spPr>
            <a:xfrm>
              <a:off x="18938" y="5035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cxnSp>
        <p:nvCxnSpPr>
          <p:cNvPr id="129" name="Connector 89"/>
          <p:cNvCxnSpPr>
            <a:endCxn id="64" idx="1"/>
          </p:cNvCxnSpPr>
          <p:nvPr/>
        </p:nvCxnSpPr>
        <p:spPr>
          <a:xfrm flipV="1">
            <a:off x="5470467" y="3398955"/>
            <a:ext cx="781685" cy="2313940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93700" y="274320"/>
            <a:ext cx="812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1218565"/>
            <a:r>
              <a:rPr lang="en-US" altLang="zh-CN" sz="3200" b="1" kern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Wingdings" panose="05000000000000000000" pitchFamily="2" charset="2"/>
              </a:rPr>
              <a:t>2.1 Paged Attention</a:t>
            </a:r>
            <a:endParaRPr lang="en-US" altLang="zh-CN" sz="3200" b="1" kern="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1"/>
          <p:cNvSpPr/>
          <p:nvPr/>
        </p:nvSpPr>
        <p:spPr>
          <a:xfrm>
            <a:off x="4719320" y="3669030"/>
            <a:ext cx="1459865" cy="454025"/>
          </a:xfrm>
          <a:prstGeom prst="rect">
            <a:avLst/>
          </a:prstGeom>
          <a:solidFill>
            <a:srgbClr val="D9EBF4"/>
          </a:solidFill>
          <a:ln w="12700">
            <a:solidFill>
              <a:srgbClr val="D9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Ref count: 2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Oval 4"/>
          <p:cNvSpPr/>
          <p:nvPr/>
        </p:nvSpPr>
        <p:spPr>
          <a:xfrm>
            <a:off x="1767205" y="2510155"/>
            <a:ext cx="1172210" cy="1158875"/>
          </a:xfrm>
          <a:prstGeom prst="ellipse">
            <a:avLst/>
          </a:prstGeom>
          <a:solidFill>
            <a:srgbClr val="FFF0B3"/>
          </a:solidFill>
          <a:ln w="12700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Request</a:t>
            </a:r>
            <a:r>
              <a:rPr lang="en-US" sz="140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</a:t>
            </a:r>
            <a:endParaRPr lang="en-US"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733756" y="4446421"/>
            <a:ext cx="3439650" cy="276860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Logical KV blocks</a:t>
            </a:r>
            <a:endParaRPr b="1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067717" y="4446421"/>
            <a:ext cx="3439650" cy="276860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Logical KV blocks</a:t>
            </a:r>
            <a:endParaRPr b="1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67652" y="4787660"/>
            <a:ext cx="1125703" cy="530423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The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093355" y="4787660"/>
            <a:ext cx="1125703" cy="530423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future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219059" y="4787660"/>
            <a:ext cx="1125703" cy="530423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of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344763" y="4787660"/>
            <a:ext cx="1125703" cy="530423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cloud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67652" y="5318083"/>
            <a:ext cx="1125703" cy="530423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computing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093355" y="5318083"/>
            <a:ext cx="1125703" cy="530423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is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219059" y="5318083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344763" y="5318083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967652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093355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219059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344763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67652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093355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219059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344763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0786291" y="4787660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The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1911995" y="4787660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future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3037699" y="4787660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of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4163403" y="4787660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cloud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0786291" y="5318083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computing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1911995" y="5318083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is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13037699" y="5318083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14163403" y="5318083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0786291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1911995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3037699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4163403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0786291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1911995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3037699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4163403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252206" y="2509960"/>
            <a:ext cx="938086" cy="592825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The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7190293" y="2509960"/>
            <a:ext cx="938086" cy="592825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future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8128379" y="2509960"/>
            <a:ext cx="938086" cy="592825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of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9066466" y="2509960"/>
            <a:ext cx="938086" cy="592825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cloud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252206" y="3102786"/>
            <a:ext cx="938086" cy="592825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computing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7190293" y="3102786"/>
            <a:ext cx="938086" cy="592825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is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128379" y="3102786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9066466" y="3102786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6252206" y="3695612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7190293" y="3695612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8128379" y="3695612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9066466" y="3695612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6252206" y="4288438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7190293" y="4288438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8128379" y="4288438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9066466" y="4288438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6252206" y="4881264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7190293" y="4881264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8128379" y="4881264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9066466" y="4881264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6252206" y="5474089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7190293" y="5474089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8128379" y="5474089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9066466" y="5474089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6252206" y="6066915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7190293" y="6066915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8128379" y="6066915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9066466" y="6066915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9" name="Connector 88"/>
          <p:cNvCxnSpPr/>
          <p:nvPr/>
        </p:nvCxnSpPr>
        <p:spPr>
          <a:xfrm flipH="1" flipV="1">
            <a:off x="10004595" y="3508404"/>
            <a:ext cx="781685" cy="2145665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>
            <a:endCxn id="60" idx="1"/>
          </p:cNvCxnSpPr>
          <p:nvPr/>
        </p:nvCxnSpPr>
        <p:spPr>
          <a:xfrm flipV="1">
            <a:off x="5470467" y="2806500"/>
            <a:ext cx="781685" cy="2339975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 flipV="1">
            <a:off x="10004606" y="2938580"/>
            <a:ext cx="781685" cy="2207895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1311617" y="7392973"/>
            <a:ext cx="12898691" cy="1123248"/>
          </a:xfrm>
          <a:prstGeom prst="roundRect">
            <a:avLst/>
          </a:prstGeom>
          <a:solidFill>
            <a:srgbClr val="F5F6F7"/>
          </a:solidFill>
          <a:ln w="10160"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1311617" y="7392973"/>
            <a:ext cx="125078" cy="1123248"/>
          </a:xfrm>
          <a:prstGeom prst="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732915" y="7677785"/>
            <a:ext cx="12148820" cy="553720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333333"/>
                </a:solidFill>
                <a:latin typeface="微软雅黑" panose="020B0503020204020204" charset="-122"/>
                <a:sym typeface="+mn-ea"/>
              </a:rPr>
              <a:t>• 共享的 Physical KV block 被两个序列引用，因此 Ref count 为 2。
• Ref count 用于管理 block 生命周期；只有引用归零后，这块缓存才能被回收。</a:t>
            </a:r>
            <a:endParaRPr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Text 1"/>
          <p:cNvSpPr/>
          <p:nvPr/>
        </p:nvSpPr>
        <p:spPr>
          <a:xfrm>
            <a:off x="840105" y="1242695"/>
            <a:ext cx="8515350" cy="77851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algn="l">
              <a:lnSpc>
                <a:spcPct val="150000"/>
              </a:lnSpc>
            </a:pPr>
            <a:r>
              <a:rPr sz="2000">
                <a:solidFill>
                  <a:srgbClr val="161616"/>
                </a:solidFill>
                <a:latin typeface="Arial" panose="020B0604020202020204"/>
                <a:sym typeface="+mn-ea"/>
              </a:rPr>
              <a:t>Sharing KV blocks</a:t>
            </a:r>
            <a:endParaRPr sz="2000" b="0">
              <a:solidFill>
                <a:srgbClr val="161616"/>
              </a:solidFill>
              <a:latin typeface="Arial" panose="020B0604020202020204"/>
            </a:endParaRPr>
          </a:p>
          <a:p>
            <a:pPr algn="l">
              <a:lnSpc>
                <a:spcPct val="150000"/>
              </a:lnSpc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16" name="组合 115"/>
          <p:cNvGrpSpPr/>
          <p:nvPr/>
        </p:nvGrpSpPr>
        <p:grpSpPr>
          <a:xfrm>
            <a:off x="3058795" y="2451735"/>
            <a:ext cx="1220470" cy="1056640"/>
            <a:chOff x="5356" y="3745"/>
            <a:chExt cx="1922" cy="1664"/>
          </a:xfrm>
        </p:grpSpPr>
        <p:sp>
          <p:nvSpPr>
            <p:cNvPr id="107" name="TextBox 6"/>
            <p:cNvSpPr txBox="1"/>
            <p:nvPr/>
          </p:nvSpPr>
          <p:spPr>
            <a:xfrm>
              <a:off x="5356" y="3745"/>
              <a:ext cx="1922" cy="387"/>
            </a:xfrm>
            <a:prstGeom prst="rect">
              <a:avLst/>
            </a:prstGeom>
            <a:noFill/>
          </p:spPr>
          <p:txBody>
            <a:bodyPr wrap="square" lIns="12700" tIns="0" rIns="1270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161616"/>
                  </a:solidFill>
                  <a:latin typeface="微软雅黑" panose="020B0503020204020204" charset="-122"/>
                  <a:ea typeface="微软雅黑" panose="020B0503020204020204" charset="-122"/>
                </a:rPr>
                <a:t>Block Table</a:t>
              </a:r>
              <a:endParaRPr sz="1600"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8" name="Rectangle 7"/>
            <p:cNvSpPr/>
            <p:nvPr/>
          </p:nvSpPr>
          <p:spPr>
            <a:xfrm>
              <a:off x="5455" y="4233"/>
              <a:ext cx="764" cy="294"/>
            </a:xfrm>
            <a:prstGeom prst="rect">
              <a:avLst/>
            </a:prstGeom>
            <a:solidFill>
              <a:schemeClr val="bg2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9" name="Rectangle 8"/>
            <p:cNvSpPr/>
            <p:nvPr/>
          </p:nvSpPr>
          <p:spPr>
            <a:xfrm>
              <a:off x="6219" y="4233"/>
              <a:ext cx="764" cy="294"/>
            </a:xfrm>
            <a:prstGeom prst="rect">
              <a:avLst/>
            </a:prstGeom>
            <a:solidFill>
              <a:schemeClr val="bg2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0" name="Rectangle 9"/>
            <p:cNvSpPr/>
            <p:nvPr/>
          </p:nvSpPr>
          <p:spPr>
            <a:xfrm>
              <a:off x="5455" y="4527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1" name="Rectangle 10"/>
            <p:cNvSpPr/>
            <p:nvPr/>
          </p:nvSpPr>
          <p:spPr>
            <a:xfrm>
              <a:off x="6219" y="4527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2" name="Rectangle 11"/>
            <p:cNvSpPr/>
            <p:nvPr/>
          </p:nvSpPr>
          <p:spPr>
            <a:xfrm>
              <a:off x="5455" y="4821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3" name="Rectangle 12"/>
            <p:cNvSpPr/>
            <p:nvPr/>
          </p:nvSpPr>
          <p:spPr>
            <a:xfrm>
              <a:off x="6219" y="4821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4" name="Rectangle 13"/>
            <p:cNvSpPr/>
            <p:nvPr/>
          </p:nvSpPr>
          <p:spPr>
            <a:xfrm>
              <a:off x="5455" y="5115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5" name="Rectangle 14"/>
            <p:cNvSpPr/>
            <p:nvPr/>
          </p:nvSpPr>
          <p:spPr>
            <a:xfrm>
              <a:off x="6219" y="5115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17" name="TextBox 24"/>
          <p:cNvSpPr txBox="1"/>
          <p:nvPr/>
        </p:nvSpPr>
        <p:spPr>
          <a:xfrm>
            <a:off x="6179162" y="1840214"/>
            <a:ext cx="3677730" cy="245745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Physical KV blocks</a:t>
            </a:r>
            <a:endParaRPr sz="1600" b="1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28" name="组合 127"/>
          <p:cNvGrpSpPr/>
          <p:nvPr/>
        </p:nvGrpSpPr>
        <p:grpSpPr>
          <a:xfrm>
            <a:off x="11687810" y="2451735"/>
            <a:ext cx="2440940" cy="1140460"/>
            <a:chOff x="18076" y="3665"/>
            <a:chExt cx="3844" cy="1796"/>
          </a:xfrm>
        </p:grpSpPr>
        <p:sp>
          <p:nvSpPr>
            <p:cNvPr id="118" name="Oval 5"/>
            <p:cNvSpPr/>
            <p:nvPr/>
          </p:nvSpPr>
          <p:spPr>
            <a:xfrm>
              <a:off x="20184" y="3775"/>
              <a:ext cx="1736" cy="1686"/>
            </a:xfrm>
            <a:prstGeom prst="ellipse">
              <a:avLst/>
            </a:prstGeom>
            <a:solidFill>
              <a:srgbClr val="D5EACE"/>
            </a:solidFill>
            <a:ln w="12700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0">
                  <a:solidFill>
                    <a:srgbClr val="161616"/>
                  </a:solidFill>
                  <a:latin typeface="微软雅黑" panose="020B0503020204020204" charset="-122"/>
                  <a:ea typeface="微软雅黑" panose="020B0503020204020204" charset="-122"/>
                </a:rPr>
                <a:t>Request
B</a:t>
              </a:r>
              <a:endPara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9" name="TextBox 15"/>
            <p:cNvSpPr txBox="1"/>
            <p:nvPr/>
          </p:nvSpPr>
          <p:spPr>
            <a:xfrm>
              <a:off x="18076" y="3665"/>
              <a:ext cx="1922" cy="387"/>
            </a:xfrm>
            <a:prstGeom prst="rect">
              <a:avLst/>
            </a:prstGeom>
            <a:noFill/>
          </p:spPr>
          <p:txBody>
            <a:bodyPr wrap="square" lIns="12700" tIns="0" rIns="12700" bIns="0" anchor="ctr">
              <a:spAutoFit/>
            </a:bodyPr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161616"/>
                  </a:solidFill>
                  <a:latin typeface="微软雅黑" panose="020B0503020204020204" charset="-122"/>
                  <a:ea typeface="微软雅黑" panose="020B0503020204020204" charset="-122"/>
                </a:rPr>
                <a:t>Block Table</a:t>
              </a:r>
              <a:endParaRPr sz="1600"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0" name="Rectangle 16"/>
            <p:cNvSpPr/>
            <p:nvPr/>
          </p:nvSpPr>
          <p:spPr>
            <a:xfrm>
              <a:off x="18174" y="4153"/>
              <a:ext cx="764" cy="294"/>
            </a:xfrm>
            <a:prstGeom prst="rect">
              <a:avLst/>
            </a:prstGeom>
            <a:solidFill>
              <a:schemeClr val="bg2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1" name="Rectangle 17"/>
            <p:cNvSpPr/>
            <p:nvPr/>
          </p:nvSpPr>
          <p:spPr>
            <a:xfrm>
              <a:off x="18938" y="4153"/>
              <a:ext cx="764" cy="294"/>
            </a:xfrm>
            <a:prstGeom prst="rect">
              <a:avLst/>
            </a:prstGeom>
            <a:solidFill>
              <a:schemeClr val="bg2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2" name="Rectangle 18"/>
            <p:cNvSpPr/>
            <p:nvPr/>
          </p:nvSpPr>
          <p:spPr>
            <a:xfrm>
              <a:off x="18174" y="4447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3" name="Rectangle 19"/>
            <p:cNvSpPr/>
            <p:nvPr/>
          </p:nvSpPr>
          <p:spPr>
            <a:xfrm>
              <a:off x="18938" y="4447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4" name="Rectangle 20"/>
            <p:cNvSpPr/>
            <p:nvPr/>
          </p:nvSpPr>
          <p:spPr>
            <a:xfrm>
              <a:off x="18174" y="4741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5" name="Rectangle 21"/>
            <p:cNvSpPr/>
            <p:nvPr/>
          </p:nvSpPr>
          <p:spPr>
            <a:xfrm>
              <a:off x="18938" y="4741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6" name="Rectangle 22"/>
            <p:cNvSpPr/>
            <p:nvPr/>
          </p:nvSpPr>
          <p:spPr>
            <a:xfrm>
              <a:off x="18174" y="5035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7" name="Rectangle 23"/>
            <p:cNvSpPr/>
            <p:nvPr/>
          </p:nvSpPr>
          <p:spPr>
            <a:xfrm>
              <a:off x="18938" y="5035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cxnSp>
        <p:nvCxnSpPr>
          <p:cNvPr id="129" name="Connector 89"/>
          <p:cNvCxnSpPr>
            <a:endCxn id="64" idx="1"/>
          </p:cNvCxnSpPr>
          <p:nvPr/>
        </p:nvCxnSpPr>
        <p:spPr>
          <a:xfrm flipV="1">
            <a:off x="5470467" y="3398955"/>
            <a:ext cx="781685" cy="2313940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93700" y="274320"/>
            <a:ext cx="812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1218565"/>
            <a:r>
              <a:rPr lang="en-US" altLang="zh-CN" sz="3200" b="1" kern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Wingdings" panose="05000000000000000000" pitchFamily="2" charset="2"/>
              </a:rPr>
              <a:t>2.1 Paged Attention</a:t>
            </a:r>
            <a:endParaRPr lang="en-US" altLang="zh-CN" sz="3200" b="1" kern="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1767205" y="2510155"/>
            <a:ext cx="1172210" cy="1158875"/>
          </a:xfrm>
          <a:prstGeom prst="ellipse">
            <a:avLst/>
          </a:prstGeom>
          <a:solidFill>
            <a:srgbClr val="FFF0B3"/>
          </a:solidFill>
          <a:ln w="12700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Request</a:t>
            </a:r>
            <a:r>
              <a:rPr lang="en-US" sz="140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</a:t>
            </a:r>
            <a:endParaRPr lang="en-US"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733756" y="4446421"/>
            <a:ext cx="3439650" cy="276860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Logical KV blocks</a:t>
            </a:r>
            <a:endParaRPr b="1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067717" y="4446421"/>
            <a:ext cx="3439650" cy="276860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Logical KV blocks</a:t>
            </a:r>
            <a:endParaRPr b="1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67652" y="4787660"/>
            <a:ext cx="1125703" cy="530423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The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093355" y="4787660"/>
            <a:ext cx="1125703" cy="530423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future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219059" y="4787660"/>
            <a:ext cx="1125703" cy="530423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of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344763" y="4787660"/>
            <a:ext cx="1125703" cy="530423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cloud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67652" y="5318083"/>
            <a:ext cx="1125703" cy="530423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computing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093355" y="5318083"/>
            <a:ext cx="1125703" cy="530423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is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219059" y="5318083"/>
            <a:ext cx="1125703" cy="53042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161616"/>
                </a:solidFill>
                <a:latin typeface="Arial" panose="020B0604020202020204"/>
                <a:sym typeface="+mn-ea"/>
              </a:rPr>
              <a:t>bright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344763" y="5318083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967652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093355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219059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344763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67652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093355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219059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344763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0786291" y="4787660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The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1911995" y="4787660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future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3037699" y="4787660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of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4163403" y="4787660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cloud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0786291" y="5318083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computing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1911995" y="5318083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is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13037699" y="5318083"/>
            <a:ext cx="1125703" cy="530423"/>
          </a:xfrm>
          <a:prstGeom prst="rect">
            <a:avLst/>
          </a:prstGeom>
          <a:solidFill>
            <a:schemeClr val="accent6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intertwined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14163403" y="5318083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0786291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1911995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3037699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4163403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0786291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1911995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3037699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4163403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252206" y="2509960"/>
            <a:ext cx="938086" cy="592825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The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7190293" y="2509960"/>
            <a:ext cx="938086" cy="592825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future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8128379" y="2509960"/>
            <a:ext cx="938086" cy="592825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of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9066466" y="2509960"/>
            <a:ext cx="938086" cy="592825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cloud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252206" y="3102786"/>
            <a:ext cx="938086" cy="592825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computing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7190293" y="3102786"/>
            <a:ext cx="938086" cy="592825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is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128379" y="3102786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9066466" y="3102786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6252206" y="3695612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7190293" y="3695612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8128379" y="3695612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9066466" y="3695612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6252206" y="4288438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7190293" y="4288438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8128379" y="4288438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9066466" y="4288438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6252206" y="4881264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7190293" y="4881264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8128379" y="4881264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9066466" y="4881264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6252206" y="5474089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7190293" y="5474089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8128379" y="5474089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9066466" y="5474089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6252206" y="6066915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7190293" y="6066915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8128379" y="6066915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9066466" y="6066915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9" name="Connector 88"/>
          <p:cNvCxnSpPr/>
          <p:nvPr/>
        </p:nvCxnSpPr>
        <p:spPr>
          <a:xfrm flipH="1" flipV="1">
            <a:off x="10004595" y="3508404"/>
            <a:ext cx="781685" cy="2145665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>
            <a:endCxn id="60" idx="1"/>
          </p:cNvCxnSpPr>
          <p:nvPr/>
        </p:nvCxnSpPr>
        <p:spPr>
          <a:xfrm flipV="1">
            <a:off x="5470467" y="2806500"/>
            <a:ext cx="781685" cy="2339975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 flipV="1">
            <a:off x="10004606" y="2938580"/>
            <a:ext cx="781685" cy="2207895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1311617" y="7392973"/>
            <a:ext cx="12898691" cy="1123248"/>
          </a:xfrm>
          <a:prstGeom prst="roundRect">
            <a:avLst/>
          </a:prstGeom>
          <a:solidFill>
            <a:srgbClr val="F5F6F7"/>
          </a:solidFill>
          <a:ln w="10160"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1311617" y="7392973"/>
            <a:ext cx="125078" cy="1123248"/>
          </a:xfrm>
          <a:prstGeom prst="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732915" y="7677785"/>
            <a:ext cx="12148820" cy="553720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333333"/>
                </a:solidFill>
                <a:latin typeface="微软雅黑" panose="020B0503020204020204" charset="-122"/>
                <a:sym typeface="+mn-ea"/>
              </a:rPr>
              <a:t>• 两个序列继续生成不同 token：A 产生 bright，B 产生 intertwined。
• 公共前缀仍然共享，而新增 token 开始形成各自独立的逻辑分支。</a:t>
            </a:r>
            <a:endParaRPr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Text 1"/>
          <p:cNvSpPr/>
          <p:nvPr/>
        </p:nvSpPr>
        <p:spPr>
          <a:xfrm>
            <a:off x="840105" y="1242695"/>
            <a:ext cx="8515350" cy="77851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algn="l">
              <a:lnSpc>
                <a:spcPct val="150000"/>
              </a:lnSpc>
            </a:pPr>
            <a:r>
              <a:rPr sz="2000">
                <a:solidFill>
                  <a:srgbClr val="161616"/>
                </a:solidFill>
                <a:latin typeface="Arial" panose="020B0604020202020204"/>
                <a:sym typeface="+mn-ea"/>
              </a:rPr>
              <a:t>Sharing KV blocks</a:t>
            </a:r>
            <a:endParaRPr sz="2000" b="0">
              <a:solidFill>
                <a:srgbClr val="161616"/>
              </a:solidFill>
              <a:latin typeface="Arial" panose="020B0604020202020204"/>
            </a:endParaRPr>
          </a:p>
          <a:p>
            <a:pPr algn="l">
              <a:lnSpc>
                <a:spcPct val="150000"/>
              </a:lnSpc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16" name="组合 115"/>
          <p:cNvGrpSpPr/>
          <p:nvPr/>
        </p:nvGrpSpPr>
        <p:grpSpPr>
          <a:xfrm>
            <a:off x="3058795" y="2451735"/>
            <a:ext cx="1220470" cy="1056640"/>
            <a:chOff x="5356" y="3745"/>
            <a:chExt cx="1922" cy="1664"/>
          </a:xfrm>
        </p:grpSpPr>
        <p:sp>
          <p:nvSpPr>
            <p:cNvPr id="107" name="TextBox 6"/>
            <p:cNvSpPr txBox="1"/>
            <p:nvPr/>
          </p:nvSpPr>
          <p:spPr>
            <a:xfrm>
              <a:off x="5356" y="3745"/>
              <a:ext cx="1922" cy="387"/>
            </a:xfrm>
            <a:prstGeom prst="rect">
              <a:avLst/>
            </a:prstGeom>
            <a:noFill/>
          </p:spPr>
          <p:txBody>
            <a:bodyPr wrap="square" lIns="12700" tIns="0" rIns="1270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161616"/>
                  </a:solidFill>
                  <a:latin typeface="微软雅黑" panose="020B0503020204020204" charset="-122"/>
                  <a:ea typeface="微软雅黑" panose="020B0503020204020204" charset="-122"/>
                </a:rPr>
                <a:t>Block Table</a:t>
              </a:r>
              <a:endParaRPr sz="1600"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8" name="Rectangle 7"/>
            <p:cNvSpPr/>
            <p:nvPr/>
          </p:nvSpPr>
          <p:spPr>
            <a:xfrm>
              <a:off x="5455" y="4233"/>
              <a:ext cx="764" cy="294"/>
            </a:xfrm>
            <a:prstGeom prst="rect">
              <a:avLst/>
            </a:prstGeom>
            <a:solidFill>
              <a:schemeClr val="bg2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9" name="Rectangle 8"/>
            <p:cNvSpPr/>
            <p:nvPr/>
          </p:nvSpPr>
          <p:spPr>
            <a:xfrm>
              <a:off x="6219" y="4233"/>
              <a:ext cx="764" cy="294"/>
            </a:xfrm>
            <a:prstGeom prst="rect">
              <a:avLst/>
            </a:prstGeom>
            <a:solidFill>
              <a:schemeClr val="bg2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0" name="Rectangle 9"/>
            <p:cNvSpPr/>
            <p:nvPr/>
          </p:nvSpPr>
          <p:spPr>
            <a:xfrm>
              <a:off x="5455" y="4527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1" name="Rectangle 10"/>
            <p:cNvSpPr/>
            <p:nvPr/>
          </p:nvSpPr>
          <p:spPr>
            <a:xfrm>
              <a:off x="6219" y="4527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2" name="Rectangle 11"/>
            <p:cNvSpPr/>
            <p:nvPr/>
          </p:nvSpPr>
          <p:spPr>
            <a:xfrm>
              <a:off x="5455" y="4821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3" name="Rectangle 12"/>
            <p:cNvSpPr/>
            <p:nvPr/>
          </p:nvSpPr>
          <p:spPr>
            <a:xfrm>
              <a:off x="6219" y="4821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4" name="Rectangle 13"/>
            <p:cNvSpPr/>
            <p:nvPr/>
          </p:nvSpPr>
          <p:spPr>
            <a:xfrm>
              <a:off x="5455" y="5115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5" name="Rectangle 14"/>
            <p:cNvSpPr/>
            <p:nvPr/>
          </p:nvSpPr>
          <p:spPr>
            <a:xfrm>
              <a:off x="6219" y="5115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17" name="TextBox 24"/>
          <p:cNvSpPr txBox="1"/>
          <p:nvPr/>
        </p:nvSpPr>
        <p:spPr>
          <a:xfrm>
            <a:off x="6179162" y="1840214"/>
            <a:ext cx="3677730" cy="245745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Physical KV blocks</a:t>
            </a:r>
            <a:endParaRPr sz="1600" b="1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28" name="组合 127"/>
          <p:cNvGrpSpPr/>
          <p:nvPr/>
        </p:nvGrpSpPr>
        <p:grpSpPr>
          <a:xfrm>
            <a:off x="11687810" y="2451735"/>
            <a:ext cx="2440940" cy="1140460"/>
            <a:chOff x="18076" y="3665"/>
            <a:chExt cx="3844" cy="1796"/>
          </a:xfrm>
        </p:grpSpPr>
        <p:sp>
          <p:nvSpPr>
            <p:cNvPr id="118" name="Oval 5"/>
            <p:cNvSpPr/>
            <p:nvPr/>
          </p:nvSpPr>
          <p:spPr>
            <a:xfrm>
              <a:off x="20184" y="3775"/>
              <a:ext cx="1736" cy="1686"/>
            </a:xfrm>
            <a:prstGeom prst="ellipse">
              <a:avLst/>
            </a:prstGeom>
            <a:solidFill>
              <a:srgbClr val="D5EACE"/>
            </a:solidFill>
            <a:ln w="12700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0">
                  <a:solidFill>
                    <a:srgbClr val="161616"/>
                  </a:solidFill>
                  <a:latin typeface="微软雅黑" panose="020B0503020204020204" charset="-122"/>
                  <a:ea typeface="微软雅黑" panose="020B0503020204020204" charset="-122"/>
                </a:rPr>
                <a:t>Request
B</a:t>
              </a:r>
              <a:endPara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9" name="TextBox 15"/>
            <p:cNvSpPr txBox="1"/>
            <p:nvPr/>
          </p:nvSpPr>
          <p:spPr>
            <a:xfrm>
              <a:off x="18076" y="3665"/>
              <a:ext cx="1922" cy="387"/>
            </a:xfrm>
            <a:prstGeom prst="rect">
              <a:avLst/>
            </a:prstGeom>
            <a:noFill/>
          </p:spPr>
          <p:txBody>
            <a:bodyPr wrap="square" lIns="12700" tIns="0" rIns="12700" bIns="0" anchor="ctr">
              <a:spAutoFit/>
            </a:bodyPr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161616"/>
                  </a:solidFill>
                  <a:latin typeface="微软雅黑" panose="020B0503020204020204" charset="-122"/>
                  <a:ea typeface="微软雅黑" panose="020B0503020204020204" charset="-122"/>
                </a:rPr>
                <a:t>Block Table</a:t>
              </a:r>
              <a:endParaRPr sz="1600"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0" name="Rectangle 16"/>
            <p:cNvSpPr/>
            <p:nvPr/>
          </p:nvSpPr>
          <p:spPr>
            <a:xfrm>
              <a:off x="18174" y="4153"/>
              <a:ext cx="764" cy="294"/>
            </a:xfrm>
            <a:prstGeom prst="rect">
              <a:avLst/>
            </a:prstGeom>
            <a:solidFill>
              <a:schemeClr val="bg2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1" name="Rectangle 17"/>
            <p:cNvSpPr/>
            <p:nvPr/>
          </p:nvSpPr>
          <p:spPr>
            <a:xfrm>
              <a:off x="18938" y="4153"/>
              <a:ext cx="764" cy="294"/>
            </a:xfrm>
            <a:prstGeom prst="rect">
              <a:avLst/>
            </a:prstGeom>
            <a:solidFill>
              <a:schemeClr val="bg2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2" name="Rectangle 18"/>
            <p:cNvSpPr/>
            <p:nvPr/>
          </p:nvSpPr>
          <p:spPr>
            <a:xfrm>
              <a:off x="18174" y="4447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3" name="Rectangle 19"/>
            <p:cNvSpPr/>
            <p:nvPr/>
          </p:nvSpPr>
          <p:spPr>
            <a:xfrm>
              <a:off x="18938" y="4447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4" name="Rectangle 20"/>
            <p:cNvSpPr/>
            <p:nvPr/>
          </p:nvSpPr>
          <p:spPr>
            <a:xfrm>
              <a:off x="18174" y="4741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5" name="Rectangle 21"/>
            <p:cNvSpPr/>
            <p:nvPr/>
          </p:nvSpPr>
          <p:spPr>
            <a:xfrm>
              <a:off x="18938" y="4741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6" name="Rectangle 22"/>
            <p:cNvSpPr/>
            <p:nvPr/>
          </p:nvSpPr>
          <p:spPr>
            <a:xfrm>
              <a:off x="18174" y="5035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7" name="Rectangle 23"/>
            <p:cNvSpPr/>
            <p:nvPr/>
          </p:nvSpPr>
          <p:spPr>
            <a:xfrm>
              <a:off x="18938" y="5035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cxnSp>
        <p:nvCxnSpPr>
          <p:cNvPr id="129" name="Connector 89"/>
          <p:cNvCxnSpPr>
            <a:endCxn id="64" idx="1"/>
          </p:cNvCxnSpPr>
          <p:nvPr/>
        </p:nvCxnSpPr>
        <p:spPr>
          <a:xfrm flipV="1">
            <a:off x="5470467" y="3398955"/>
            <a:ext cx="781685" cy="2313940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93700" y="274320"/>
            <a:ext cx="812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1218565"/>
            <a:r>
              <a:rPr lang="en-US" altLang="zh-CN" sz="3200" b="1" kern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Wingdings" panose="05000000000000000000" pitchFamily="2" charset="2"/>
              </a:rPr>
              <a:t>2.1 Paged Attention</a:t>
            </a:r>
            <a:endParaRPr lang="en-US" altLang="zh-CN" sz="3200" b="1" kern="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1767205" y="2510155"/>
            <a:ext cx="1172210" cy="1158875"/>
          </a:xfrm>
          <a:prstGeom prst="ellipse">
            <a:avLst/>
          </a:prstGeom>
          <a:solidFill>
            <a:srgbClr val="FFF0B3"/>
          </a:solidFill>
          <a:ln w="12700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Request</a:t>
            </a:r>
            <a:r>
              <a:rPr lang="en-US" sz="140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</a:t>
            </a:r>
            <a:endParaRPr lang="en-US"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733756" y="4446421"/>
            <a:ext cx="3439650" cy="276860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Logical KV blocks</a:t>
            </a:r>
            <a:endParaRPr b="1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067717" y="4446421"/>
            <a:ext cx="3439650" cy="276860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Logical KV blocks</a:t>
            </a:r>
            <a:endParaRPr b="1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67652" y="4787660"/>
            <a:ext cx="1125703" cy="530423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The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093355" y="4787660"/>
            <a:ext cx="1125703" cy="530423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future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219059" y="4787660"/>
            <a:ext cx="1125703" cy="530423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of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344763" y="4787660"/>
            <a:ext cx="1125703" cy="530423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cloud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67652" y="5318083"/>
            <a:ext cx="1125703" cy="530423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computing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093355" y="5318083"/>
            <a:ext cx="1125703" cy="530423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is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219059" y="5318083"/>
            <a:ext cx="1125703" cy="53042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161616"/>
                </a:solidFill>
                <a:latin typeface="Arial" panose="020B0604020202020204"/>
                <a:sym typeface="+mn-ea"/>
              </a:rPr>
              <a:t>bright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344763" y="5318083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967652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093355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219059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344763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67652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093355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219059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344763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0786291" y="4787660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The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1911995" y="4787660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future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3037699" y="4787660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of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4163403" y="4787660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cloud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0786291" y="5318083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computing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1911995" y="5318083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is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13037699" y="5318083"/>
            <a:ext cx="1125703" cy="530423"/>
          </a:xfrm>
          <a:prstGeom prst="rect">
            <a:avLst/>
          </a:prstGeom>
          <a:solidFill>
            <a:schemeClr val="accent6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intertwined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14163403" y="5318083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0786291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1911995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3037699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4163403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0786291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1911995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3037699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4163403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252206" y="2509960"/>
            <a:ext cx="938086" cy="592825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The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7190293" y="2509960"/>
            <a:ext cx="938086" cy="592825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future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8128379" y="2509960"/>
            <a:ext cx="938086" cy="592825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of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9066466" y="2509960"/>
            <a:ext cx="938086" cy="592825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cloud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252206" y="3102786"/>
            <a:ext cx="938086" cy="592825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computing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7190293" y="3102786"/>
            <a:ext cx="938086" cy="592825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is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128379" y="3102786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9066466" y="3102786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6252206" y="3695612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7190293" y="3695612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8128379" y="3695612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9066466" y="3695612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6252206" y="4288438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7190293" y="4288438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8128379" y="4288438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9066466" y="4288438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6252206" y="4881264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7190293" y="4881264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8128379" y="4881264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9066466" y="4881264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6252206" y="5474089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7190293" y="5474089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8128379" y="5474089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9066466" y="5474089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6252206" y="6066915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7190293" y="6066915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8128379" y="6066915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9066466" y="6066915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9" name="Connector 88"/>
          <p:cNvCxnSpPr/>
          <p:nvPr/>
        </p:nvCxnSpPr>
        <p:spPr>
          <a:xfrm flipH="1" flipV="1">
            <a:off x="10004595" y="3508404"/>
            <a:ext cx="781685" cy="2145665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>
            <a:endCxn id="60" idx="1"/>
          </p:cNvCxnSpPr>
          <p:nvPr/>
        </p:nvCxnSpPr>
        <p:spPr>
          <a:xfrm flipV="1">
            <a:off x="5470467" y="2806500"/>
            <a:ext cx="781685" cy="2339975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 flipV="1">
            <a:off x="10004606" y="2938580"/>
            <a:ext cx="781685" cy="2207895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1311617" y="7392973"/>
            <a:ext cx="12898691" cy="1123248"/>
          </a:xfrm>
          <a:prstGeom prst="roundRect">
            <a:avLst/>
          </a:prstGeom>
          <a:solidFill>
            <a:srgbClr val="F5F6F7"/>
          </a:solidFill>
          <a:ln w="10160"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1311617" y="7392973"/>
            <a:ext cx="125078" cy="1123248"/>
          </a:xfrm>
          <a:prstGeom prst="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732915" y="7677785"/>
            <a:ext cx="12148820" cy="553720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333333"/>
                </a:solidFill>
                <a:latin typeface="微软雅黑" panose="020B0503020204020204" charset="-122"/>
                <a:sym typeface="+mn-ea"/>
              </a:rPr>
              <a:t>• 某个序列准备写入共享 block 时，系统不能直接覆盖公共缓存。
• Ref count 从 2 调整为 1，表示其中一个分支即将通过 Copy-on-Write 分离。</a:t>
            </a:r>
            <a:endParaRPr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Text 1"/>
          <p:cNvSpPr/>
          <p:nvPr/>
        </p:nvSpPr>
        <p:spPr>
          <a:xfrm>
            <a:off x="840105" y="1242695"/>
            <a:ext cx="8515350" cy="77851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algn="l">
              <a:lnSpc>
                <a:spcPct val="150000"/>
              </a:lnSpc>
            </a:pPr>
            <a:r>
              <a:rPr sz="2000">
                <a:solidFill>
                  <a:srgbClr val="161616"/>
                </a:solidFill>
                <a:latin typeface="Arial" panose="020B0604020202020204"/>
                <a:sym typeface="+mn-ea"/>
              </a:rPr>
              <a:t>Sharing KV blocks</a:t>
            </a:r>
            <a:endParaRPr sz="2000" b="0">
              <a:solidFill>
                <a:srgbClr val="161616"/>
              </a:solidFill>
              <a:latin typeface="Arial" panose="020B0604020202020204"/>
            </a:endParaRPr>
          </a:p>
          <a:p>
            <a:pPr algn="l">
              <a:lnSpc>
                <a:spcPct val="150000"/>
              </a:lnSpc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16" name="组合 115"/>
          <p:cNvGrpSpPr/>
          <p:nvPr/>
        </p:nvGrpSpPr>
        <p:grpSpPr>
          <a:xfrm>
            <a:off x="3058795" y="2451735"/>
            <a:ext cx="1220470" cy="1056640"/>
            <a:chOff x="5356" y="3745"/>
            <a:chExt cx="1922" cy="1664"/>
          </a:xfrm>
        </p:grpSpPr>
        <p:sp>
          <p:nvSpPr>
            <p:cNvPr id="107" name="TextBox 6"/>
            <p:cNvSpPr txBox="1"/>
            <p:nvPr/>
          </p:nvSpPr>
          <p:spPr>
            <a:xfrm>
              <a:off x="5356" y="3745"/>
              <a:ext cx="1922" cy="387"/>
            </a:xfrm>
            <a:prstGeom prst="rect">
              <a:avLst/>
            </a:prstGeom>
            <a:noFill/>
          </p:spPr>
          <p:txBody>
            <a:bodyPr wrap="square" lIns="12700" tIns="0" rIns="1270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161616"/>
                  </a:solidFill>
                  <a:latin typeface="微软雅黑" panose="020B0503020204020204" charset="-122"/>
                  <a:ea typeface="微软雅黑" panose="020B0503020204020204" charset="-122"/>
                </a:rPr>
                <a:t>Block Table</a:t>
              </a:r>
              <a:endParaRPr sz="1600"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8" name="Rectangle 7"/>
            <p:cNvSpPr/>
            <p:nvPr/>
          </p:nvSpPr>
          <p:spPr>
            <a:xfrm>
              <a:off x="5455" y="4233"/>
              <a:ext cx="764" cy="294"/>
            </a:xfrm>
            <a:prstGeom prst="rect">
              <a:avLst/>
            </a:prstGeom>
            <a:solidFill>
              <a:schemeClr val="bg2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9" name="Rectangle 8"/>
            <p:cNvSpPr/>
            <p:nvPr/>
          </p:nvSpPr>
          <p:spPr>
            <a:xfrm>
              <a:off x="6219" y="4233"/>
              <a:ext cx="764" cy="294"/>
            </a:xfrm>
            <a:prstGeom prst="rect">
              <a:avLst/>
            </a:prstGeom>
            <a:solidFill>
              <a:schemeClr val="bg2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0" name="Rectangle 9"/>
            <p:cNvSpPr/>
            <p:nvPr/>
          </p:nvSpPr>
          <p:spPr>
            <a:xfrm>
              <a:off x="5455" y="4527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1" name="Rectangle 10"/>
            <p:cNvSpPr/>
            <p:nvPr/>
          </p:nvSpPr>
          <p:spPr>
            <a:xfrm>
              <a:off x="6219" y="4527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2" name="Rectangle 11"/>
            <p:cNvSpPr/>
            <p:nvPr/>
          </p:nvSpPr>
          <p:spPr>
            <a:xfrm>
              <a:off x="5455" y="4821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3" name="Rectangle 12"/>
            <p:cNvSpPr/>
            <p:nvPr/>
          </p:nvSpPr>
          <p:spPr>
            <a:xfrm>
              <a:off x="6219" y="4821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4" name="Rectangle 13"/>
            <p:cNvSpPr/>
            <p:nvPr/>
          </p:nvSpPr>
          <p:spPr>
            <a:xfrm>
              <a:off x="5455" y="5115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5" name="Rectangle 14"/>
            <p:cNvSpPr/>
            <p:nvPr/>
          </p:nvSpPr>
          <p:spPr>
            <a:xfrm>
              <a:off x="6219" y="5115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17" name="TextBox 24"/>
          <p:cNvSpPr txBox="1"/>
          <p:nvPr/>
        </p:nvSpPr>
        <p:spPr>
          <a:xfrm>
            <a:off x="6179162" y="1840214"/>
            <a:ext cx="3677730" cy="245745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Physical KV blocks</a:t>
            </a:r>
            <a:endParaRPr sz="1600" b="1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28" name="组合 127"/>
          <p:cNvGrpSpPr/>
          <p:nvPr/>
        </p:nvGrpSpPr>
        <p:grpSpPr>
          <a:xfrm>
            <a:off x="11687810" y="2451735"/>
            <a:ext cx="2440940" cy="1140460"/>
            <a:chOff x="18076" y="3665"/>
            <a:chExt cx="3844" cy="1796"/>
          </a:xfrm>
        </p:grpSpPr>
        <p:sp>
          <p:nvSpPr>
            <p:cNvPr id="118" name="Oval 5"/>
            <p:cNvSpPr/>
            <p:nvPr/>
          </p:nvSpPr>
          <p:spPr>
            <a:xfrm>
              <a:off x="20184" y="3775"/>
              <a:ext cx="1736" cy="1686"/>
            </a:xfrm>
            <a:prstGeom prst="ellipse">
              <a:avLst/>
            </a:prstGeom>
            <a:solidFill>
              <a:srgbClr val="D5EACE"/>
            </a:solidFill>
            <a:ln w="12700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0">
                  <a:solidFill>
                    <a:srgbClr val="161616"/>
                  </a:solidFill>
                  <a:latin typeface="微软雅黑" panose="020B0503020204020204" charset="-122"/>
                  <a:ea typeface="微软雅黑" panose="020B0503020204020204" charset="-122"/>
                </a:rPr>
                <a:t>Request
B</a:t>
              </a:r>
              <a:endPara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9" name="TextBox 15"/>
            <p:cNvSpPr txBox="1"/>
            <p:nvPr/>
          </p:nvSpPr>
          <p:spPr>
            <a:xfrm>
              <a:off x="18076" y="3665"/>
              <a:ext cx="1922" cy="387"/>
            </a:xfrm>
            <a:prstGeom prst="rect">
              <a:avLst/>
            </a:prstGeom>
            <a:noFill/>
          </p:spPr>
          <p:txBody>
            <a:bodyPr wrap="square" lIns="12700" tIns="0" rIns="12700" bIns="0" anchor="ctr">
              <a:spAutoFit/>
            </a:bodyPr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161616"/>
                  </a:solidFill>
                  <a:latin typeface="微软雅黑" panose="020B0503020204020204" charset="-122"/>
                  <a:ea typeface="微软雅黑" panose="020B0503020204020204" charset="-122"/>
                </a:rPr>
                <a:t>Block Table</a:t>
              </a:r>
              <a:endParaRPr sz="1600"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0" name="Rectangle 16"/>
            <p:cNvSpPr/>
            <p:nvPr/>
          </p:nvSpPr>
          <p:spPr>
            <a:xfrm>
              <a:off x="18174" y="4153"/>
              <a:ext cx="764" cy="294"/>
            </a:xfrm>
            <a:prstGeom prst="rect">
              <a:avLst/>
            </a:prstGeom>
            <a:solidFill>
              <a:schemeClr val="bg2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1" name="Rectangle 17"/>
            <p:cNvSpPr/>
            <p:nvPr/>
          </p:nvSpPr>
          <p:spPr>
            <a:xfrm>
              <a:off x="18938" y="4153"/>
              <a:ext cx="764" cy="294"/>
            </a:xfrm>
            <a:prstGeom prst="rect">
              <a:avLst/>
            </a:prstGeom>
            <a:solidFill>
              <a:schemeClr val="bg2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2" name="Rectangle 18"/>
            <p:cNvSpPr/>
            <p:nvPr/>
          </p:nvSpPr>
          <p:spPr>
            <a:xfrm>
              <a:off x="18174" y="4447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3" name="Rectangle 19"/>
            <p:cNvSpPr/>
            <p:nvPr/>
          </p:nvSpPr>
          <p:spPr>
            <a:xfrm>
              <a:off x="18938" y="4447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4" name="Rectangle 20"/>
            <p:cNvSpPr/>
            <p:nvPr/>
          </p:nvSpPr>
          <p:spPr>
            <a:xfrm>
              <a:off x="18174" y="4741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5" name="Rectangle 21"/>
            <p:cNvSpPr/>
            <p:nvPr/>
          </p:nvSpPr>
          <p:spPr>
            <a:xfrm>
              <a:off x="18938" y="4741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6" name="Rectangle 22"/>
            <p:cNvSpPr/>
            <p:nvPr/>
          </p:nvSpPr>
          <p:spPr>
            <a:xfrm>
              <a:off x="18174" y="5035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7" name="Rectangle 23"/>
            <p:cNvSpPr/>
            <p:nvPr/>
          </p:nvSpPr>
          <p:spPr>
            <a:xfrm>
              <a:off x="18938" y="5035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cxnSp>
        <p:nvCxnSpPr>
          <p:cNvPr id="129" name="Connector 89"/>
          <p:cNvCxnSpPr>
            <a:endCxn id="64" idx="1"/>
          </p:cNvCxnSpPr>
          <p:nvPr/>
        </p:nvCxnSpPr>
        <p:spPr>
          <a:xfrm flipV="1">
            <a:off x="5470467" y="3398955"/>
            <a:ext cx="781685" cy="2313940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91"/>
          <p:cNvSpPr/>
          <p:nvPr/>
        </p:nvSpPr>
        <p:spPr>
          <a:xfrm>
            <a:off x="6006575" y="3834804"/>
            <a:ext cx="1797999" cy="453408"/>
          </a:xfrm>
          <a:prstGeom prst="rect">
            <a:avLst/>
          </a:prstGeom>
          <a:solidFill>
            <a:srgbClr val="D9EBF4"/>
          </a:solidFill>
          <a:ln w="12700">
            <a:solidFill>
              <a:srgbClr val="D9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</a:rPr>
              <a:t>Ref count: 2 → 1</a:t>
            </a:r>
            <a:endParaRPr sz="1600" b="0">
              <a:solidFill>
                <a:srgbClr val="161616"/>
              </a:solidFill>
              <a:latin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3700" y="274320"/>
            <a:ext cx="812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1218565"/>
            <a:r>
              <a:rPr lang="en-US" altLang="zh-CN" sz="3200" b="1" kern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Wingdings" panose="05000000000000000000" pitchFamily="2" charset="2"/>
              </a:rPr>
              <a:t>2.1 Paged Attention</a:t>
            </a:r>
            <a:endParaRPr lang="en-US" altLang="zh-CN" sz="3200" b="1" kern="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1767205" y="2510155"/>
            <a:ext cx="1172210" cy="1158875"/>
          </a:xfrm>
          <a:prstGeom prst="ellipse">
            <a:avLst/>
          </a:prstGeom>
          <a:solidFill>
            <a:srgbClr val="FFF0B3"/>
          </a:solidFill>
          <a:ln w="12700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Request</a:t>
            </a:r>
            <a:r>
              <a:rPr lang="en-US" sz="140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</a:t>
            </a:r>
            <a:endParaRPr lang="en-US"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733756" y="4446421"/>
            <a:ext cx="3439650" cy="276860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Logical KV blocks</a:t>
            </a:r>
            <a:endParaRPr b="1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067717" y="4446421"/>
            <a:ext cx="3439650" cy="276860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Logical KV blocks</a:t>
            </a:r>
            <a:endParaRPr b="1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67652" y="4787660"/>
            <a:ext cx="1125703" cy="530423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The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093355" y="4787660"/>
            <a:ext cx="1125703" cy="530423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future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219059" y="4787660"/>
            <a:ext cx="1125703" cy="530423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of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344763" y="4787660"/>
            <a:ext cx="1125703" cy="530423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cloud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67652" y="5318083"/>
            <a:ext cx="1125703" cy="5304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computing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093355" y="5318083"/>
            <a:ext cx="1125703" cy="5304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is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219059" y="5318083"/>
            <a:ext cx="1125703" cy="53042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161616"/>
                </a:solidFill>
                <a:latin typeface="Arial" panose="020B0604020202020204"/>
                <a:sym typeface="+mn-ea"/>
              </a:rPr>
              <a:t>bright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344763" y="5318083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967652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093355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219059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344763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67652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093355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219059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344763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0786291" y="4787660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The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1911995" y="4787660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future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3037699" y="4787660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of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4163403" y="4787660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cloud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0786291" y="5318083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computing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1911995" y="5318083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is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13037699" y="5318083"/>
            <a:ext cx="1125703" cy="530423"/>
          </a:xfrm>
          <a:prstGeom prst="rect">
            <a:avLst/>
          </a:prstGeom>
          <a:solidFill>
            <a:schemeClr val="accent6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intertwined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14163403" y="5318083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0786291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1911995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3037699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4163403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0786291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1911995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3037699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4163403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252206" y="2509960"/>
            <a:ext cx="938086" cy="592825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The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7190293" y="2509960"/>
            <a:ext cx="938086" cy="592825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future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8128379" y="2509960"/>
            <a:ext cx="938086" cy="592825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of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9066466" y="2509960"/>
            <a:ext cx="938086" cy="592825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cloud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252206" y="3102786"/>
            <a:ext cx="938086" cy="592825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computing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7190293" y="3102786"/>
            <a:ext cx="938086" cy="592825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is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128379" y="3102786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9066466" y="3102786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6252206" y="3695612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7190293" y="3695612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8128379" y="3695612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9066466" y="3695612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6252206" y="4288438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7190293" y="4288438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8128379" y="4288438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9066466" y="4288438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6252206" y="4881264"/>
            <a:ext cx="938086" cy="5928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computing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7190293" y="4881264"/>
            <a:ext cx="938086" cy="5928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is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8128379" y="4881264"/>
            <a:ext cx="938086" cy="5928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161616"/>
                </a:solidFill>
                <a:latin typeface="Arial" panose="020B0604020202020204"/>
                <a:sym typeface="+mn-ea"/>
              </a:rPr>
              <a:t>bright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9066466" y="4881264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6252206" y="5474089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7190293" y="5474089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8128379" y="5474089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9066466" y="5474089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6252206" y="6066915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7190293" y="6066915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8128379" y="6066915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9066466" y="6066915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9" name="Connector 88"/>
          <p:cNvCxnSpPr/>
          <p:nvPr/>
        </p:nvCxnSpPr>
        <p:spPr>
          <a:xfrm flipH="1" flipV="1">
            <a:off x="10004595" y="3508404"/>
            <a:ext cx="781685" cy="2145665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>
            <a:endCxn id="60" idx="1"/>
          </p:cNvCxnSpPr>
          <p:nvPr/>
        </p:nvCxnSpPr>
        <p:spPr>
          <a:xfrm flipV="1">
            <a:off x="5470467" y="2806500"/>
            <a:ext cx="781685" cy="2339975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 flipV="1">
            <a:off x="10004606" y="2938580"/>
            <a:ext cx="781685" cy="2207895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1311617" y="7392973"/>
            <a:ext cx="12898691" cy="1123248"/>
          </a:xfrm>
          <a:prstGeom prst="roundRect">
            <a:avLst/>
          </a:prstGeom>
          <a:solidFill>
            <a:srgbClr val="F5F6F7"/>
          </a:solidFill>
          <a:ln w="10160"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1311617" y="7392973"/>
            <a:ext cx="125078" cy="1123248"/>
          </a:xfrm>
          <a:prstGeom prst="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732915" y="7677785"/>
            <a:ext cx="12148820" cy="553720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333333"/>
                </a:solidFill>
                <a:latin typeface="微软雅黑" panose="020B0503020204020204" charset="-122"/>
                <a:sym typeface="+mn-ea"/>
              </a:rPr>
              <a:t>• Sequence A 写入 bright 后，其 Block Table 指向新分配的私有 block。
• 原共享 block 保持不变，Sequence B 仍可安全读取公共前缀和自己的后续内容。</a:t>
            </a:r>
            <a:endParaRPr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Text 1"/>
          <p:cNvSpPr/>
          <p:nvPr/>
        </p:nvSpPr>
        <p:spPr>
          <a:xfrm>
            <a:off x="840105" y="1242695"/>
            <a:ext cx="8515350" cy="77851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algn="l">
              <a:lnSpc>
                <a:spcPct val="150000"/>
              </a:lnSpc>
            </a:pPr>
            <a:r>
              <a:rPr sz="2000">
                <a:solidFill>
                  <a:srgbClr val="161616"/>
                </a:solidFill>
                <a:latin typeface="Arial" panose="020B0604020202020204"/>
                <a:sym typeface="+mn-ea"/>
              </a:rPr>
              <a:t>Sharing KV blocks</a:t>
            </a:r>
            <a:endParaRPr sz="2000" b="0">
              <a:solidFill>
                <a:srgbClr val="161616"/>
              </a:solidFill>
              <a:latin typeface="Arial" panose="020B0604020202020204"/>
            </a:endParaRPr>
          </a:p>
          <a:p>
            <a:pPr algn="l">
              <a:lnSpc>
                <a:spcPct val="150000"/>
              </a:lnSpc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16" name="组合 115"/>
          <p:cNvGrpSpPr/>
          <p:nvPr/>
        </p:nvGrpSpPr>
        <p:grpSpPr>
          <a:xfrm>
            <a:off x="3058795" y="2451735"/>
            <a:ext cx="1220470" cy="1056640"/>
            <a:chOff x="5356" y="3745"/>
            <a:chExt cx="1922" cy="1664"/>
          </a:xfrm>
        </p:grpSpPr>
        <p:sp>
          <p:nvSpPr>
            <p:cNvPr id="107" name="TextBox 6"/>
            <p:cNvSpPr txBox="1"/>
            <p:nvPr/>
          </p:nvSpPr>
          <p:spPr>
            <a:xfrm>
              <a:off x="5356" y="3745"/>
              <a:ext cx="1922" cy="387"/>
            </a:xfrm>
            <a:prstGeom prst="rect">
              <a:avLst/>
            </a:prstGeom>
            <a:noFill/>
          </p:spPr>
          <p:txBody>
            <a:bodyPr wrap="square" lIns="12700" tIns="0" rIns="1270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161616"/>
                  </a:solidFill>
                  <a:latin typeface="微软雅黑" panose="020B0503020204020204" charset="-122"/>
                  <a:ea typeface="微软雅黑" panose="020B0503020204020204" charset="-122"/>
                </a:rPr>
                <a:t>Block Table</a:t>
              </a:r>
              <a:endParaRPr sz="1600"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8" name="Rectangle 7"/>
            <p:cNvSpPr/>
            <p:nvPr/>
          </p:nvSpPr>
          <p:spPr>
            <a:xfrm>
              <a:off x="5455" y="4233"/>
              <a:ext cx="764" cy="294"/>
            </a:xfrm>
            <a:prstGeom prst="rect">
              <a:avLst/>
            </a:prstGeom>
            <a:solidFill>
              <a:schemeClr val="bg2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9" name="Rectangle 8"/>
            <p:cNvSpPr/>
            <p:nvPr/>
          </p:nvSpPr>
          <p:spPr>
            <a:xfrm>
              <a:off x="6219" y="4233"/>
              <a:ext cx="764" cy="294"/>
            </a:xfrm>
            <a:prstGeom prst="rect">
              <a:avLst/>
            </a:prstGeom>
            <a:solidFill>
              <a:schemeClr val="bg2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0" name="Rectangle 9"/>
            <p:cNvSpPr/>
            <p:nvPr/>
          </p:nvSpPr>
          <p:spPr>
            <a:xfrm>
              <a:off x="5455" y="4527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1" name="Rectangle 10"/>
            <p:cNvSpPr/>
            <p:nvPr/>
          </p:nvSpPr>
          <p:spPr>
            <a:xfrm>
              <a:off x="6219" y="4527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2" name="Rectangle 11"/>
            <p:cNvSpPr/>
            <p:nvPr/>
          </p:nvSpPr>
          <p:spPr>
            <a:xfrm>
              <a:off x="5455" y="4821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3" name="Rectangle 12"/>
            <p:cNvSpPr/>
            <p:nvPr/>
          </p:nvSpPr>
          <p:spPr>
            <a:xfrm>
              <a:off x="6219" y="4821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4" name="Rectangle 13"/>
            <p:cNvSpPr/>
            <p:nvPr/>
          </p:nvSpPr>
          <p:spPr>
            <a:xfrm>
              <a:off x="5455" y="5115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5" name="Rectangle 14"/>
            <p:cNvSpPr/>
            <p:nvPr/>
          </p:nvSpPr>
          <p:spPr>
            <a:xfrm>
              <a:off x="6219" y="5115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17" name="TextBox 24"/>
          <p:cNvSpPr txBox="1"/>
          <p:nvPr/>
        </p:nvSpPr>
        <p:spPr>
          <a:xfrm>
            <a:off x="6179162" y="1840214"/>
            <a:ext cx="3677730" cy="245745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Physical KV blocks</a:t>
            </a:r>
            <a:endParaRPr sz="1600" b="1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28" name="组合 127"/>
          <p:cNvGrpSpPr/>
          <p:nvPr/>
        </p:nvGrpSpPr>
        <p:grpSpPr>
          <a:xfrm>
            <a:off x="11687810" y="2451735"/>
            <a:ext cx="2440940" cy="1140460"/>
            <a:chOff x="18076" y="3665"/>
            <a:chExt cx="3844" cy="1796"/>
          </a:xfrm>
        </p:grpSpPr>
        <p:sp>
          <p:nvSpPr>
            <p:cNvPr id="118" name="Oval 5"/>
            <p:cNvSpPr/>
            <p:nvPr/>
          </p:nvSpPr>
          <p:spPr>
            <a:xfrm>
              <a:off x="20184" y="3775"/>
              <a:ext cx="1736" cy="1686"/>
            </a:xfrm>
            <a:prstGeom prst="ellipse">
              <a:avLst/>
            </a:prstGeom>
            <a:solidFill>
              <a:srgbClr val="D5EACE"/>
            </a:solidFill>
            <a:ln w="12700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0">
                  <a:solidFill>
                    <a:srgbClr val="161616"/>
                  </a:solidFill>
                  <a:latin typeface="微软雅黑" panose="020B0503020204020204" charset="-122"/>
                  <a:ea typeface="微软雅黑" panose="020B0503020204020204" charset="-122"/>
                </a:rPr>
                <a:t>Request
B</a:t>
              </a:r>
              <a:endPara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9" name="TextBox 15"/>
            <p:cNvSpPr txBox="1"/>
            <p:nvPr/>
          </p:nvSpPr>
          <p:spPr>
            <a:xfrm>
              <a:off x="18076" y="3665"/>
              <a:ext cx="1922" cy="387"/>
            </a:xfrm>
            <a:prstGeom prst="rect">
              <a:avLst/>
            </a:prstGeom>
            <a:noFill/>
          </p:spPr>
          <p:txBody>
            <a:bodyPr wrap="square" lIns="12700" tIns="0" rIns="12700" bIns="0" anchor="ctr">
              <a:spAutoFit/>
            </a:bodyPr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161616"/>
                  </a:solidFill>
                  <a:latin typeface="微软雅黑" panose="020B0503020204020204" charset="-122"/>
                  <a:ea typeface="微软雅黑" panose="020B0503020204020204" charset="-122"/>
                </a:rPr>
                <a:t>Block Table</a:t>
              </a:r>
              <a:endParaRPr sz="1600"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0" name="Rectangle 16"/>
            <p:cNvSpPr/>
            <p:nvPr/>
          </p:nvSpPr>
          <p:spPr>
            <a:xfrm>
              <a:off x="18174" y="4153"/>
              <a:ext cx="764" cy="294"/>
            </a:xfrm>
            <a:prstGeom prst="rect">
              <a:avLst/>
            </a:prstGeom>
            <a:solidFill>
              <a:schemeClr val="bg2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1" name="Rectangle 17"/>
            <p:cNvSpPr/>
            <p:nvPr/>
          </p:nvSpPr>
          <p:spPr>
            <a:xfrm>
              <a:off x="18938" y="4153"/>
              <a:ext cx="764" cy="294"/>
            </a:xfrm>
            <a:prstGeom prst="rect">
              <a:avLst/>
            </a:prstGeom>
            <a:solidFill>
              <a:schemeClr val="bg2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2" name="Rectangle 18"/>
            <p:cNvSpPr/>
            <p:nvPr/>
          </p:nvSpPr>
          <p:spPr>
            <a:xfrm>
              <a:off x="18174" y="4447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3" name="Rectangle 19"/>
            <p:cNvSpPr/>
            <p:nvPr/>
          </p:nvSpPr>
          <p:spPr>
            <a:xfrm>
              <a:off x="18938" y="4447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4" name="Rectangle 20"/>
            <p:cNvSpPr/>
            <p:nvPr/>
          </p:nvSpPr>
          <p:spPr>
            <a:xfrm>
              <a:off x="18174" y="4741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5" name="Rectangle 21"/>
            <p:cNvSpPr/>
            <p:nvPr/>
          </p:nvSpPr>
          <p:spPr>
            <a:xfrm>
              <a:off x="18938" y="4741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6" name="Rectangle 22"/>
            <p:cNvSpPr/>
            <p:nvPr/>
          </p:nvSpPr>
          <p:spPr>
            <a:xfrm>
              <a:off x="18174" y="5035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7" name="Rectangle 23"/>
            <p:cNvSpPr/>
            <p:nvPr/>
          </p:nvSpPr>
          <p:spPr>
            <a:xfrm>
              <a:off x="18938" y="5035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cxnSp>
        <p:nvCxnSpPr>
          <p:cNvPr id="129" name="Connector 89"/>
          <p:cNvCxnSpPr/>
          <p:nvPr/>
        </p:nvCxnSpPr>
        <p:spPr>
          <a:xfrm flipV="1">
            <a:off x="5470467" y="5317925"/>
            <a:ext cx="708660" cy="394970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91"/>
          <p:cNvSpPr/>
          <p:nvPr/>
        </p:nvSpPr>
        <p:spPr>
          <a:xfrm>
            <a:off x="5993875" y="3834804"/>
            <a:ext cx="1797999" cy="453408"/>
          </a:xfrm>
          <a:prstGeom prst="rect">
            <a:avLst/>
          </a:prstGeom>
          <a:solidFill>
            <a:srgbClr val="D9EBF4"/>
          </a:solidFill>
          <a:ln w="12700">
            <a:solidFill>
              <a:srgbClr val="D9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</a:rPr>
              <a:t>Ref count: 1</a:t>
            </a:r>
            <a:endParaRPr sz="1600" b="0">
              <a:solidFill>
                <a:srgbClr val="161616"/>
              </a:solidFill>
              <a:latin typeface="微软雅黑" panose="020B0503020204020204" charset="-122"/>
            </a:endParaRPr>
          </a:p>
        </p:txBody>
      </p:sp>
      <p:sp>
        <p:nvSpPr>
          <p:cNvPr id="4" name="左弧形箭头 3"/>
          <p:cNvSpPr/>
          <p:nvPr/>
        </p:nvSpPr>
        <p:spPr>
          <a:xfrm>
            <a:off x="5703570" y="3508375"/>
            <a:ext cx="548640" cy="1638300"/>
          </a:xfrm>
          <a:prstGeom prst="curved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Rectangle 92"/>
          <p:cNvSpPr/>
          <p:nvPr/>
        </p:nvSpPr>
        <p:spPr>
          <a:xfrm>
            <a:off x="5452745" y="4445635"/>
            <a:ext cx="1755140" cy="277495"/>
          </a:xfrm>
          <a:prstGeom prst="rect">
            <a:avLst/>
          </a:prstGeom>
          <a:solidFill>
            <a:srgbClr val="D9EBF4"/>
          </a:solidFill>
          <a:ln w="12700">
            <a:solidFill>
              <a:srgbClr val="D9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Copy-on-Write</a:t>
            </a:r>
            <a:endParaRPr sz="1600" b="1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93700" y="274320"/>
            <a:ext cx="812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1218565"/>
            <a:r>
              <a:rPr lang="en-US" altLang="zh-CN" sz="3200" b="1" kern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Wingdings" panose="05000000000000000000" pitchFamily="2" charset="2"/>
              </a:rPr>
              <a:t>2.1 Paged Attention</a:t>
            </a:r>
            <a:endParaRPr lang="en-US" altLang="zh-CN" sz="3200" b="1" kern="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1767205" y="2510155"/>
            <a:ext cx="1172210" cy="1158875"/>
          </a:xfrm>
          <a:prstGeom prst="ellipse">
            <a:avLst/>
          </a:prstGeom>
          <a:solidFill>
            <a:srgbClr val="FFF0B3"/>
          </a:solidFill>
          <a:ln w="12700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Request</a:t>
            </a:r>
            <a:r>
              <a:rPr lang="en-US" sz="140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</a:t>
            </a:r>
            <a:endParaRPr lang="en-US"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733756" y="4446421"/>
            <a:ext cx="3439650" cy="276860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Logical KV blocks</a:t>
            </a:r>
            <a:endParaRPr b="1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067717" y="4446421"/>
            <a:ext cx="3439650" cy="276860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Logical KV blocks</a:t>
            </a:r>
            <a:endParaRPr b="1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67652" y="4787660"/>
            <a:ext cx="1125703" cy="530423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The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093355" y="4787660"/>
            <a:ext cx="1125703" cy="530423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future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219059" y="4787660"/>
            <a:ext cx="1125703" cy="530423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of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344763" y="4787660"/>
            <a:ext cx="1125703" cy="530423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cloud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67652" y="5318083"/>
            <a:ext cx="1125703" cy="5304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computing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093355" y="5318083"/>
            <a:ext cx="1125703" cy="5304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is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219059" y="5318083"/>
            <a:ext cx="1125703" cy="53042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161616"/>
                </a:solidFill>
                <a:latin typeface="Arial" panose="020B0604020202020204"/>
                <a:sym typeface="+mn-ea"/>
              </a:rPr>
              <a:t>bright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344763" y="5318083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967652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093355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219059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344763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67652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093355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219059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344763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0786291" y="4787660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The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1911995" y="4787660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future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3037699" y="4787660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of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4163403" y="4787660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cloud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0786291" y="5318083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computing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1911995" y="5318083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is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13037699" y="5318083"/>
            <a:ext cx="1125703" cy="530423"/>
          </a:xfrm>
          <a:prstGeom prst="rect">
            <a:avLst/>
          </a:prstGeom>
          <a:solidFill>
            <a:schemeClr val="accent6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intertwined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14163403" y="5318083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0786291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1911995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3037699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4163403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0786291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1911995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3037699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4163403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252206" y="2509960"/>
            <a:ext cx="938086" cy="592825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The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7190293" y="2509960"/>
            <a:ext cx="938086" cy="592825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future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8128379" y="2509960"/>
            <a:ext cx="938086" cy="592825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of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9066466" y="2509960"/>
            <a:ext cx="938086" cy="592825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cloud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252206" y="3102786"/>
            <a:ext cx="938086" cy="5928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computing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7190293" y="3102786"/>
            <a:ext cx="938086" cy="5928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is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128379" y="3102786"/>
            <a:ext cx="938086" cy="592825"/>
          </a:xfrm>
          <a:prstGeom prst="rect">
            <a:avLst/>
          </a:prstGeom>
          <a:solidFill>
            <a:schemeClr val="accent6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intertwined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9066466" y="3102786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6252206" y="3695612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7190293" y="3695612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8128379" y="3695612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9066466" y="3695612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6252206" y="4288438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7190293" y="4288438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8128379" y="4288438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9066466" y="4288438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6252206" y="4881264"/>
            <a:ext cx="938086" cy="5928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computing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7190293" y="4881264"/>
            <a:ext cx="938086" cy="5928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is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8128379" y="4881264"/>
            <a:ext cx="938086" cy="5928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161616"/>
                </a:solidFill>
                <a:latin typeface="Arial" panose="020B0604020202020204"/>
                <a:sym typeface="+mn-ea"/>
              </a:rPr>
              <a:t>bright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9066466" y="4881264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6252206" y="5474089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7190293" y="5474089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8128379" y="5474089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9066466" y="5474089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6252206" y="6066915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7190293" y="6066915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8128379" y="6066915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9066466" y="6066915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9" name="Connector 88"/>
          <p:cNvCxnSpPr/>
          <p:nvPr/>
        </p:nvCxnSpPr>
        <p:spPr>
          <a:xfrm flipH="1" flipV="1">
            <a:off x="10004595" y="3508404"/>
            <a:ext cx="781685" cy="2145665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>
            <a:endCxn id="60" idx="1"/>
          </p:cNvCxnSpPr>
          <p:nvPr/>
        </p:nvCxnSpPr>
        <p:spPr>
          <a:xfrm flipV="1">
            <a:off x="5470467" y="2806500"/>
            <a:ext cx="781685" cy="2339975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 flipV="1">
            <a:off x="10004606" y="2938580"/>
            <a:ext cx="781685" cy="2207895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1311617" y="7392973"/>
            <a:ext cx="12898691" cy="1123248"/>
          </a:xfrm>
          <a:prstGeom prst="roundRect">
            <a:avLst/>
          </a:prstGeom>
          <a:solidFill>
            <a:srgbClr val="F5F6F7"/>
          </a:solidFill>
          <a:ln w="10160"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1311617" y="7392973"/>
            <a:ext cx="125078" cy="1123248"/>
          </a:xfrm>
          <a:prstGeom prst="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732915" y="7677785"/>
            <a:ext cx="12148820" cy="553720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333333"/>
                </a:solidFill>
                <a:latin typeface="微软雅黑" panose="020B0503020204020204" charset="-122"/>
                <a:sym typeface="+mn-ea"/>
              </a:rPr>
              <a:t>• 两个分支已拥有独立 continuation block，可以继续并行生成不同内容。
• Block Table 同时维护共享前缀和私有后缀的映射，逻辑上仍是连续序列。</a:t>
            </a:r>
            <a:endParaRPr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Text 1"/>
          <p:cNvSpPr/>
          <p:nvPr/>
        </p:nvSpPr>
        <p:spPr>
          <a:xfrm>
            <a:off x="840105" y="1242695"/>
            <a:ext cx="8515350" cy="77851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algn="l">
              <a:lnSpc>
                <a:spcPct val="150000"/>
              </a:lnSpc>
            </a:pPr>
            <a:r>
              <a:rPr sz="2000">
                <a:solidFill>
                  <a:srgbClr val="161616"/>
                </a:solidFill>
                <a:latin typeface="Arial" panose="020B0604020202020204"/>
                <a:sym typeface="+mn-ea"/>
              </a:rPr>
              <a:t>Sharing KV blocks</a:t>
            </a:r>
            <a:endParaRPr sz="2000" b="0">
              <a:solidFill>
                <a:srgbClr val="161616"/>
              </a:solidFill>
              <a:latin typeface="Arial" panose="020B0604020202020204"/>
            </a:endParaRPr>
          </a:p>
          <a:p>
            <a:pPr algn="l">
              <a:lnSpc>
                <a:spcPct val="150000"/>
              </a:lnSpc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16" name="组合 115"/>
          <p:cNvGrpSpPr/>
          <p:nvPr/>
        </p:nvGrpSpPr>
        <p:grpSpPr>
          <a:xfrm>
            <a:off x="3058795" y="2451735"/>
            <a:ext cx="1220470" cy="1056640"/>
            <a:chOff x="5356" y="3745"/>
            <a:chExt cx="1922" cy="1664"/>
          </a:xfrm>
        </p:grpSpPr>
        <p:sp>
          <p:nvSpPr>
            <p:cNvPr id="107" name="TextBox 6"/>
            <p:cNvSpPr txBox="1"/>
            <p:nvPr/>
          </p:nvSpPr>
          <p:spPr>
            <a:xfrm>
              <a:off x="5356" y="3745"/>
              <a:ext cx="1922" cy="387"/>
            </a:xfrm>
            <a:prstGeom prst="rect">
              <a:avLst/>
            </a:prstGeom>
            <a:noFill/>
          </p:spPr>
          <p:txBody>
            <a:bodyPr wrap="square" lIns="12700" tIns="0" rIns="1270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161616"/>
                  </a:solidFill>
                  <a:latin typeface="微软雅黑" panose="020B0503020204020204" charset="-122"/>
                  <a:ea typeface="微软雅黑" panose="020B0503020204020204" charset="-122"/>
                </a:rPr>
                <a:t>Block Table</a:t>
              </a:r>
              <a:endParaRPr sz="1600"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8" name="Rectangle 7"/>
            <p:cNvSpPr/>
            <p:nvPr/>
          </p:nvSpPr>
          <p:spPr>
            <a:xfrm>
              <a:off x="5455" y="4233"/>
              <a:ext cx="764" cy="294"/>
            </a:xfrm>
            <a:prstGeom prst="rect">
              <a:avLst/>
            </a:prstGeom>
            <a:solidFill>
              <a:schemeClr val="bg2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9" name="Rectangle 8"/>
            <p:cNvSpPr/>
            <p:nvPr/>
          </p:nvSpPr>
          <p:spPr>
            <a:xfrm>
              <a:off x="6219" y="4233"/>
              <a:ext cx="764" cy="294"/>
            </a:xfrm>
            <a:prstGeom prst="rect">
              <a:avLst/>
            </a:prstGeom>
            <a:solidFill>
              <a:schemeClr val="bg2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0" name="Rectangle 9"/>
            <p:cNvSpPr/>
            <p:nvPr/>
          </p:nvSpPr>
          <p:spPr>
            <a:xfrm>
              <a:off x="5455" y="4527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1" name="Rectangle 10"/>
            <p:cNvSpPr/>
            <p:nvPr/>
          </p:nvSpPr>
          <p:spPr>
            <a:xfrm>
              <a:off x="6219" y="4527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2" name="Rectangle 11"/>
            <p:cNvSpPr/>
            <p:nvPr/>
          </p:nvSpPr>
          <p:spPr>
            <a:xfrm>
              <a:off x="5455" y="4821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3" name="Rectangle 12"/>
            <p:cNvSpPr/>
            <p:nvPr/>
          </p:nvSpPr>
          <p:spPr>
            <a:xfrm>
              <a:off x="6219" y="4821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4" name="Rectangle 13"/>
            <p:cNvSpPr/>
            <p:nvPr/>
          </p:nvSpPr>
          <p:spPr>
            <a:xfrm>
              <a:off x="5455" y="5115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5" name="Rectangle 14"/>
            <p:cNvSpPr/>
            <p:nvPr/>
          </p:nvSpPr>
          <p:spPr>
            <a:xfrm>
              <a:off x="6219" y="5115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17" name="TextBox 24"/>
          <p:cNvSpPr txBox="1"/>
          <p:nvPr/>
        </p:nvSpPr>
        <p:spPr>
          <a:xfrm>
            <a:off x="6179162" y="1840214"/>
            <a:ext cx="3677730" cy="245745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Physical KV blocks</a:t>
            </a:r>
            <a:endParaRPr sz="1600" b="1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28" name="组合 127"/>
          <p:cNvGrpSpPr/>
          <p:nvPr/>
        </p:nvGrpSpPr>
        <p:grpSpPr>
          <a:xfrm>
            <a:off x="11687810" y="2451735"/>
            <a:ext cx="2440940" cy="1140460"/>
            <a:chOff x="18076" y="3665"/>
            <a:chExt cx="3844" cy="1796"/>
          </a:xfrm>
        </p:grpSpPr>
        <p:sp>
          <p:nvSpPr>
            <p:cNvPr id="118" name="Oval 5"/>
            <p:cNvSpPr/>
            <p:nvPr/>
          </p:nvSpPr>
          <p:spPr>
            <a:xfrm>
              <a:off x="20184" y="3775"/>
              <a:ext cx="1736" cy="1686"/>
            </a:xfrm>
            <a:prstGeom prst="ellipse">
              <a:avLst/>
            </a:prstGeom>
            <a:solidFill>
              <a:srgbClr val="D5EACE"/>
            </a:solidFill>
            <a:ln w="12700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0">
                  <a:solidFill>
                    <a:srgbClr val="161616"/>
                  </a:solidFill>
                  <a:latin typeface="微软雅黑" panose="020B0503020204020204" charset="-122"/>
                  <a:ea typeface="微软雅黑" panose="020B0503020204020204" charset="-122"/>
                </a:rPr>
                <a:t>Request
B</a:t>
              </a:r>
              <a:endPara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9" name="TextBox 15"/>
            <p:cNvSpPr txBox="1"/>
            <p:nvPr/>
          </p:nvSpPr>
          <p:spPr>
            <a:xfrm>
              <a:off x="18076" y="3665"/>
              <a:ext cx="1922" cy="387"/>
            </a:xfrm>
            <a:prstGeom prst="rect">
              <a:avLst/>
            </a:prstGeom>
            <a:noFill/>
          </p:spPr>
          <p:txBody>
            <a:bodyPr wrap="square" lIns="12700" tIns="0" rIns="12700" bIns="0" anchor="ctr">
              <a:spAutoFit/>
            </a:bodyPr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161616"/>
                  </a:solidFill>
                  <a:latin typeface="微软雅黑" panose="020B0503020204020204" charset="-122"/>
                  <a:ea typeface="微软雅黑" panose="020B0503020204020204" charset="-122"/>
                </a:rPr>
                <a:t>Block Table</a:t>
              </a:r>
              <a:endParaRPr sz="1600"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0" name="Rectangle 16"/>
            <p:cNvSpPr/>
            <p:nvPr/>
          </p:nvSpPr>
          <p:spPr>
            <a:xfrm>
              <a:off x="18174" y="4153"/>
              <a:ext cx="764" cy="294"/>
            </a:xfrm>
            <a:prstGeom prst="rect">
              <a:avLst/>
            </a:prstGeom>
            <a:solidFill>
              <a:schemeClr val="bg2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1" name="Rectangle 17"/>
            <p:cNvSpPr/>
            <p:nvPr/>
          </p:nvSpPr>
          <p:spPr>
            <a:xfrm>
              <a:off x="18938" y="4153"/>
              <a:ext cx="764" cy="294"/>
            </a:xfrm>
            <a:prstGeom prst="rect">
              <a:avLst/>
            </a:prstGeom>
            <a:solidFill>
              <a:schemeClr val="bg2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2" name="Rectangle 18"/>
            <p:cNvSpPr/>
            <p:nvPr/>
          </p:nvSpPr>
          <p:spPr>
            <a:xfrm>
              <a:off x="18174" y="4447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3" name="Rectangle 19"/>
            <p:cNvSpPr/>
            <p:nvPr/>
          </p:nvSpPr>
          <p:spPr>
            <a:xfrm>
              <a:off x="18938" y="4447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4" name="Rectangle 20"/>
            <p:cNvSpPr/>
            <p:nvPr/>
          </p:nvSpPr>
          <p:spPr>
            <a:xfrm>
              <a:off x="18174" y="4741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5" name="Rectangle 21"/>
            <p:cNvSpPr/>
            <p:nvPr/>
          </p:nvSpPr>
          <p:spPr>
            <a:xfrm>
              <a:off x="18938" y="4741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6" name="Rectangle 22"/>
            <p:cNvSpPr/>
            <p:nvPr/>
          </p:nvSpPr>
          <p:spPr>
            <a:xfrm>
              <a:off x="18174" y="5035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7" name="Rectangle 23"/>
            <p:cNvSpPr/>
            <p:nvPr/>
          </p:nvSpPr>
          <p:spPr>
            <a:xfrm>
              <a:off x="18938" y="5035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cxnSp>
        <p:nvCxnSpPr>
          <p:cNvPr id="129" name="Connector 89"/>
          <p:cNvCxnSpPr/>
          <p:nvPr/>
        </p:nvCxnSpPr>
        <p:spPr>
          <a:xfrm flipV="1">
            <a:off x="5470467" y="5317925"/>
            <a:ext cx="708660" cy="394970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93700" y="274320"/>
            <a:ext cx="812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1218565"/>
            <a:r>
              <a:rPr lang="en-US" altLang="zh-CN" sz="3200" b="1" kern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Wingdings" panose="05000000000000000000" pitchFamily="2" charset="2"/>
              </a:rPr>
              <a:t>2.1 Paged Attention</a:t>
            </a:r>
            <a:endParaRPr lang="en-US" altLang="zh-CN" sz="3200" b="1" kern="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1767205" y="2510155"/>
            <a:ext cx="1172210" cy="1158875"/>
          </a:xfrm>
          <a:prstGeom prst="ellipse">
            <a:avLst/>
          </a:prstGeom>
          <a:solidFill>
            <a:srgbClr val="FFF0B3"/>
          </a:solidFill>
          <a:ln w="12700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Request</a:t>
            </a:r>
            <a:r>
              <a:rPr lang="en-US" sz="140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</a:t>
            </a:r>
            <a:endParaRPr lang="en-US"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733756" y="4446421"/>
            <a:ext cx="3439650" cy="276860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Logical KV blocks</a:t>
            </a:r>
            <a:endParaRPr b="1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067717" y="4446421"/>
            <a:ext cx="3439650" cy="276860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Logical KV blocks</a:t>
            </a:r>
            <a:endParaRPr b="1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67652" y="4787660"/>
            <a:ext cx="1125703" cy="530423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The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093355" y="4787660"/>
            <a:ext cx="1125703" cy="530423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future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219059" y="4787660"/>
            <a:ext cx="1125703" cy="530423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of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344763" y="4787660"/>
            <a:ext cx="1125703" cy="530423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cloud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67652" y="5318083"/>
            <a:ext cx="1125703" cy="5304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computing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093355" y="5318083"/>
            <a:ext cx="1125703" cy="5304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is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219059" y="5318083"/>
            <a:ext cx="1125703" cy="5304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161616"/>
                </a:solidFill>
                <a:latin typeface="Arial" panose="020B0604020202020204"/>
                <a:sym typeface="+mn-ea"/>
              </a:rPr>
              <a:t>bright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344763" y="5318083"/>
            <a:ext cx="1125703" cy="53042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and</a:t>
            </a:r>
            <a:endParaRPr lang="en-US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967652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093355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219059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344763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67652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093355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219059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344763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0786291" y="4787660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The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1911995" y="4787660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future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3037699" y="4787660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of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4163403" y="4787660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cloud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0786291" y="5318083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computing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1911995" y="5318083"/>
            <a:ext cx="1125703" cy="530423"/>
          </a:xfrm>
          <a:prstGeom prst="rect">
            <a:avLst/>
          </a:prstGeom>
          <a:solidFill>
            <a:srgbClr val="D5EACE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is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13037699" y="5318083"/>
            <a:ext cx="1125703" cy="5304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intertwined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14163403" y="5318083"/>
            <a:ext cx="1125703" cy="530423"/>
          </a:xfrm>
          <a:prstGeom prst="rect">
            <a:avLst/>
          </a:prstGeom>
          <a:solidFill>
            <a:schemeClr val="accent6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with</a:t>
            </a:r>
            <a:endParaRPr lang="en-US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0786291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1911995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3037699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4163403" y="5848506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0786291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1911995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3037699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4163403" y="6378929"/>
            <a:ext cx="1125703" cy="530423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252206" y="2509960"/>
            <a:ext cx="938086" cy="592825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The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7190293" y="2509960"/>
            <a:ext cx="938086" cy="592825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future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8128379" y="2509960"/>
            <a:ext cx="938086" cy="592825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of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9066466" y="2509960"/>
            <a:ext cx="938086" cy="592825"/>
          </a:xfrm>
          <a:prstGeom prst="rect">
            <a:avLst/>
          </a:prstGeom>
          <a:solidFill>
            <a:srgbClr val="F1C5C2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cloud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252206" y="3102786"/>
            <a:ext cx="938086" cy="5928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computing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7190293" y="3102786"/>
            <a:ext cx="938086" cy="5928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is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128379" y="3102786"/>
            <a:ext cx="938086" cy="5928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intertwined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9066466" y="3102786"/>
            <a:ext cx="938086" cy="592825"/>
          </a:xfrm>
          <a:prstGeom prst="rect">
            <a:avLst/>
          </a:prstGeom>
          <a:solidFill>
            <a:schemeClr val="accent6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with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6252206" y="3695612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7190293" y="3695612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8128379" y="3695612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9066466" y="3695612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6252206" y="4288438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7190293" y="4288438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8128379" y="4288438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9066466" y="4288438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6252206" y="4881264"/>
            <a:ext cx="938086" cy="5928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computing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7190293" y="4881264"/>
            <a:ext cx="938086" cy="5928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is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8128379" y="4881264"/>
            <a:ext cx="938086" cy="5928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161616"/>
                </a:solidFill>
                <a:latin typeface="Arial" panose="020B0604020202020204"/>
                <a:sym typeface="+mn-ea"/>
              </a:rPr>
              <a:t>bright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9066466" y="4881264"/>
            <a:ext cx="938086" cy="5928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and</a:t>
            </a: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6252206" y="5474089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7190293" y="5474089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8128379" y="5474089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9066466" y="5474089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6252206" y="6066915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7190293" y="6066915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8128379" y="6066915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9066466" y="6066915"/>
            <a:ext cx="938086" cy="592825"/>
          </a:xfrm>
          <a:prstGeom prst="rect">
            <a:avLst/>
          </a:prstGeom>
          <a:solidFill>
            <a:srgbClr val="FFFFFF"/>
          </a:solidFill>
          <a:ln w="8255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9" name="Connector 88"/>
          <p:cNvCxnSpPr/>
          <p:nvPr/>
        </p:nvCxnSpPr>
        <p:spPr>
          <a:xfrm flipH="1" flipV="1">
            <a:off x="10004595" y="3508404"/>
            <a:ext cx="781685" cy="2145665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>
            <a:endCxn id="60" idx="1"/>
          </p:cNvCxnSpPr>
          <p:nvPr/>
        </p:nvCxnSpPr>
        <p:spPr>
          <a:xfrm flipV="1">
            <a:off x="5470467" y="2806500"/>
            <a:ext cx="781685" cy="2339975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 flipV="1">
            <a:off x="10004606" y="2938580"/>
            <a:ext cx="781685" cy="2207895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1311617" y="7392973"/>
            <a:ext cx="12898691" cy="1123248"/>
          </a:xfrm>
          <a:prstGeom prst="roundRect">
            <a:avLst/>
          </a:prstGeom>
          <a:solidFill>
            <a:srgbClr val="F5F6F7"/>
          </a:solidFill>
          <a:ln w="10160"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1311617" y="7392973"/>
            <a:ext cx="125078" cy="1123248"/>
          </a:xfrm>
          <a:prstGeom prst="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732915" y="7677785"/>
            <a:ext cx="12148820" cy="553720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333333"/>
                </a:solidFill>
                <a:latin typeface="微软雅黑" panose="020B0503020204020204" charset="-122"/>
                <a:sym typeface="+mn-ea"/>
              </a:rPr>
              <a:t>• A、B 分支继续追加 and、with，新增 token 被写入各自的私有 block。
• 最终结构体现了 PagedAttention：公共前缀共享、分支后缀独立、物理存储可离散。</a:t>
            </a:r>
            <a:endParaRPr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Text 1"/>
          <p:cNvSpPr/>
          <p:nvPr/>
        </p:nvSpPr>
        <p:spPr>
          <a:xfrm>
            <a:off x="840105" y="1242695"/>
            <a:ext cx="8515350" cy="77851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algn="l">
              <a:lnSpc>
                <a:spcPct val="150000"/>
              </a:lnSpc>
            </a:pPr>
            <a:r>
              <a:rPr sz="2000">
                <a:solidFill>
                  <a:srgbClr val="161616"/>
                </a:solidFill>
                <a:latin typeface="Arial" panose="020B0604020202020204"/>
                <a:sym typeface="+mn-ea"/>
              </a:rPr>
              <a:t>Sharing KV blocks</a:t>
            </a:r>
            <a:endParaRPr sz="2000" b="0">
              <a:solidFill>
                <a:srgbClr val="161616"/>
              </a:solidFill>
              <a:latin typeface="Arial" panose="020B0604020202020204"/>
            </a:endParaRPr>
          </a:p>
          <a:p>
            <a:pPr algn="l">
              <a:lnSpc>
                <a:spcPct val="150000"/>
              </a:lnSpc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16" name="组合 115"/>
          <p:cNvGrpSpPr/>
          <p:nvPr/>
        </p:nvGrpSpPr>
        <p:grpSpPr>
          <a:xfrm>
            <a:off x="3058795" y="2451735"/>
            <a:ext cx="1220470" cy="1056640"/>
            <a:chOff x="5356" y="3745"/>
            <a:chExt cx="1922" cy="1664"/>
          </a:xfrm>
        </p:grpSpPr>
        <p:sp>
          <p:nvSpPr>
            <p:cNvPr id="107" name="TextBox 6"/>
            <p:cNvSpPr txBox="1"/>
            <p:nvPr/>
          </p:nvSpPr>
          <p:spPr>
            <a:xfrm>
              <a:off x="5356" y="3745"/>
              <a:ext cx="1922" cy="387"/>
            </a:xfrm>
            <a:prstGeom prst="rect">
              <a:avLst/>
            </a:prstGeom>
            <a:noFill/>
          </p:spPr>
          <p:txBody>
            <a:bodyPr wrap="square" lIns="12700" tIns="0" rIns="1270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161616"/>
                  </a:solidFill>
                  <a:latin typeface="微软雅黑" panose="020B0503020204020204" charset="-122"/>
                  <a:ea typeface="微软雅黑" panose="020B0503020204020204" charset="-122"/>
                </a:rPr>
                <a:t>Block Table</a:t>
              </a:r>
              <a:endParaRPr sz="1600"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8" name="Rectangle 7"/>
            <p:cNvSpPr/>
            <p:nvPr/>
          </p:nvSpPr>
          <p:spPr>
            <a:xfrm>
              <a:off x="5455" y="4233"/>
              <a:ext cx="764" cy="294"/>
            </a:xfrm>
            <a:prstGeom prst="rect">
              <a:avLst/>
            </a:prstGeom>
            <a:solidFill>
              <a:schemeClr val="bg2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9" name="Rectangle 8"/>
            <p:cNvSpPr/>
            <p:nvPr/>
          </p:nvSpPr>
          <p:spPr>
            <a:xfrm>
              <a:off x="6219" y="4233"/>
              <a:ext cx="764" cy="294"/>
            </a:xfrm>
            <a:prstGeom prst="rect">
              <a:avLst/>
            </a:prstGeom>
            <a:solidFill>
              <a:schemeClr val="bg2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0" name="Rectangle 9"/>
            <p:cNvSpPr/>
            <p:nvPr/>
          </p:nvSpPr>
          <p:spPr>
            <a:xfrm>
              <a:off x="5455" y="4527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1" name="Rectangle 10"/>
            <p:cNvSpPr/>
            <p:nvPr/>
          </p:nvSpPr>
          <p:spPr>
            <a:xfrm>
              <a:off x="6219" y="4527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2" name="Rectangle 11"/>
            <p:cNvSpPr/>
            <p:nvPr/>
          </p:nvSpPr>
          <p:spPr>
            <a:xfrm>
              <a:off x="5455" y="4821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3" name="Rectangle 12"/>
            <p:cNvSpPr/>
            <p:nvPr/>
          </p:nvSpPr>
          <p:spPr>
            <a:xfrm>
              <a:off x="6219" y="4821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4" name="Rectangle 13"/>
            <p:cNvSpPr/>
            <p:nvPr/>
          </p:nvSpPr>
          <p:spPr>
            <a:xfrm>
              <a:off x="5455" y="5115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5" name="Rectangle 14"/>
            <p:cNvSpPr/>
            <p:nvPr/>
          </p:nvSpPr>
          <p:spPr>
            <a:xfrm>
              <a:off x="6219" y="5115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17" name="TextBox 24"/>
          <p:cNvSpPr txBox="1"/>
          <p:nvPr/>
        </p:nvSpPr>
        <p:spPr>
          <a:xfrm>
            <a:off x="6179162" y="1840214"/>
            <a:ext cx="3677730" cy="245745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Physical KV blocks</a:t>
            </a:r>
            <a:endParaRPr sz="1600" b="1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28" name="组合 127"/>
          <p:cNvGrpSpPr/>
          <p:nvPr/>
        </p:nvGrpSpPr>
        <p:grpSpPr>
          <a:xfrm>
            <a:off x="11687810" y="2451735"/>
            <a:ext cx="2440940" cy="1140460"/>
            <a:chOff x="18076" y="3665"/>
            <a:chExt cx="3844" cy="1796"/>
          </a:xfrm>
        </p:grpSpPr>
        <p:sp>
          <p:nvSpPr>
            <p:cNvPr id="118" name="Oval 5"/>
            <p:cNvSpPr/>
            <p:nvPr/>
          </p:nvSpPr>
          <p:spPr>
            <a:xfrm>
              <a:off x="20184" y="3775"/>
              <a:ext cx="1736" cy="1686"/>
            </a:xfrm>
            <a:prstGeom prst="ellipse">
              <a:avLst/>
            </a:prstGeom>
            <a:solidFill>
              <a:srgbClr val="D5EACE"/>
            </a:solidFill>
            <a:ln w="12700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0">
                  <a:solidFill>
                    <a:srgbClr val="161616"/>
                  </a:solidFill>
                  <a:latin typeface="微软雅黑" panose="020B0503020204020204" charset="-122"/>
                  <a:ea typeface="微软雅黑" panose="020B0503020204020204" charset="-122"/>
                </a:rPr>
                <a:t>Request
B</a:t>
              </a:r>
              <a:endPara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9" name="TextBox 15"/>
            <p:cNvSpPr txBox="1"/>
            <p:nvPr/>
          </p:nvSpPr>
          <p:spPr>
            <a:xfrm>
              <a:off x="18076" y="3665"/>
              <a:ext cx="1922" cy="387"/>
            </a:xfrm>
            <a:prstGeom prst="rect">
              <a:avLst/>
            </a:prstGeom>
            <a:noFill/>
          </p:spPr>
          <p:txBody>
            <a:bodyPr wrap="square" lIns="12700" tIns="0" rIns="12700" bIns="0" anchor="ctr">
              <a:spAutoFit/>
            </a:bodyPr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161616"/>
                  </a:solidFill>
                  <a:latin typeface="微软雅黑" panose="020B0503020204020204" charset="-122"/>
                  <a:ea typeface="微软雅黑" panose="020B0503020204020204" charset="-122"/>
                </a:rPr>
                <a:t>Block Table</a:t>
              </a:r>
              <a:endParaRPr sz="1600"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0" name="Rectangle 16"/>
            <p:cNvSpPr/>
            <p:nvPr/>
          </p:nvSpPr>
          <p:spPr>
            <a:xfrm>
              <a:off x="18174" y="4153"/>
              <a:ext cx="764" cy="294"/>
            </a:xfrm>
            <a:prstGeom prst="rect">
              <a:avLst/>
            </a:prstGeom>
            <a:solidFill>
              <a:schemeClr val="bg2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1" name="Rectangle 17"/>
            <p:cNvSpPr/>
            <p:nvPr/>
          </p:nvSpPr>
          <p:spPr>
            <a:xfrm>
              <a:off x="18938" y="4153"/>
              <a:ext cx="764" cy="294"/>
            </a:xfrm>
            <a:prstGeom prst="rect">
              <a:avLst/>
            </a:prstGeom>
            <a:solidFill>
              <a:schemeClr val="bg2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2" name="Rectangle 18"/>
            <p:cNvSpPr/>
            <p:nvPr/>
          </p:nvSpPr>
          <p:spPr>
            <a:xfrm>
              <a:off x="18174" y="4447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3" name="Rectangle 19"/>
            <p:cNvSpPr/>
            <p:nvPr/>
          </p:nvSpPr>
          <p:spPr>
            <a:xfrm>
              <a:off x="18938" y="4447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4" name="Rectangle 20"/>
            <p:cNvSpPr/>
            <p:nvPr/>
          </p:nvSpPr>
          <p:spPr>
            <a:xfrm>
              <a:off x="18174" y="4741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5" name="Rectangle 21"/>
            <p:cNvSpPr/>
            <p:nvPr/>
          </p:nvSpPr>
          <p:spPr>
            <a:xfrm>
              <a:off x="18938" y="4741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6" name="Rectangle 22"/>
            <p:cNvSpPr/>
            <p:nvPr/>
          </p:nvSpPr>
          <p:spPr>
            <a:xfrm>
              <a:off x="18174" y="5035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7" name="Rectangle 23"/>
            <p:cNvSpPr/>
            <p:nvPr/>
          </p:nvSpPr>
          <p:spPr>
            <a:xfrm>
              <a:off x="18938" y="5035"/>
              <a:ext cx="764" cy="294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7C7C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0" rIns="25400" bIns="0" rtlCol="0" anchor="ctr"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cxnSp>
        <p:nvCxnSpPr>
          <p:cNvPr id="129" name="Connector 89"/>
          <p:cNvCxnSpPr/>
          <p:nvPr/>
        </p:nvCxnSpPr>
        <p:spPr>
          <a:xfrm flipV="1">
            <a:off x="5470467" y="5317925"/>
            <a:ext cx="708660" cy="394970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93700" y="274320"/>
            <a:ext cx="812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1218565"/>
            <a:r>
              <a:rPr lang="en-US" altLang="zh-CN" sz="3200" b="1" kern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Wingdings" panose="05000000000000000000" pitchFamily="2" charset="2"/>
              </a:rPr>
              <a:t>2.1 Paged Attention</a:t>
            </a:r>
            <a:endParaRPr lang="en-US" altLang="zh-CN" sz="3200" b="1" kern="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3700" y="274320"/>
            <a:ext cx="812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1218565"/>
            <a:r>
              <a:rPr lang="en-US" altLang="zh-CN" sz="3200" b="1" kern="0" dirty="0">
                <a:latin typeface="Arial" panose="020B0604020202020204" pitchFamily="34" charset="0"/>
                <a:ea typeface="微软雅黑" panose="020B0503020204020204" charset="-122"/>
                <a:sym typeface="Wingdings" panose="05000000000000000000" pitchFamily="2" charset="2"/>
              </a:rPr>
              <a:t>2.2 Radix Attention</a:t>
            </a:r>
            <a:endParaRPr lang="en-US" altLang="zh-CN" sz="3200" b="1" kern="0" dirty="0">
              <a:latin typeface="Arial" panose="020B0604020202020204" pitchFamily="34" charset="0"/>
              <a:ea typeface="微软雅黑" panose="020B0503020204020204" charset="-122"/>
              <a:sym typeface="Wingdings" panose="05000000000000000000" pitchFamily="2" charset="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83642" t="10588" r="218" b="7317"/>
          <a:stretch>
            <a:fillRect/>
          </a:stretch>
        </p:blipFill>
        <p:spPr>
          <a:xfrm>
            <a:off x="12374245" y="1646555"/>
            <a:ext cx="2355215" cy="64401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9180" r="16714"/>
          <a:stretch>
            <a:fillRect/>
          </a:stretch>
        </p:blipFill>
        <p:spPr>
          <a:xfrm>
            <a:off x="829945" y="1560830"/>
            <a:ext cx="11177270" cy="6553200"/>
          </a:xfrm>
          <a:prstGeom prst="rect">
            <a:avLst/>
          </a:prstGeom>
        </p:spPr>
      </p:pic>
      <p:sp>
        <p:nvSpPr>
          <p:cNvPr id="7" name="Rounded Rectangle 3"/>
          <p:cNvSpPr/>
          <p:nvPr/>
        </p:nvSpPr>
        <p:spPr>
          <a:xfrm>
            <a:off x="789305" y="1051560"/>
            <a:ext cx="14678660" cy="452120"/>
          </a:xfrm>
          <a:prstGeom prst="roundRect">
            <a:avLst/>
          </a:prstGeom>
          <a:solidFill>
            <a:srgbClr val="F3F4F5"/>
          </a:solidFill>
          <a:ln w="12700">
            <a:solidFill>
              <a:srgbClr val="DE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61616"/>
                </a:solidFill>
                <a:latin typeface="微软雅黑" panose="020B0503020204020204" charset="-122"/>
              </a:rPr>
              <a:t>RadixAttention 通过 radix tree 复用公共 prefix KV Cache；PagedAttention 通过 block 映射提高显存利用率。</a:t>
            </a:r>
            <a:endParaRPr sz="2000" b="0">
              <a:solidFill>
                <a:srgbClr val="161616"/>
              </a:solidFill>
              <a:latin typeface="微软雅黑" panose="020B0503020204020204" charset="-122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460375" y="8171180"/>
            <a:ext cx="13411200" cy="930275"/>
          </a:xfrm>
          <a:prstGeom prst="roundRect">
            <a:avLst/>
          </a:prstGeom>
          <a:solidFill>
            <a:srgbClr val="F5F6F7"/>
          </a:solidFill>
          <a:ln w="10160"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60375" y="8207375"/>
            <a:ext cx="146050" cy="894080"/>
          </a:xfrm>
          <a:prstGeom prst="rect">
            <a:avLst/>
          </a:prstGeom>
          <a:solidFill>
            <a:srgbClr val="C90000"/>
          </a:solidFill>
          <a:ln>
            <a:solidFill>
              <a:srgbClr val="C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83285" y="8209915"/>
            <a:ext cx="12647295" cy="830580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333333"/>
                </a:solidFill>
                <a:latin typeface="微软雅黑" panose="020B0503020204020204" charset="-122"/>
              </a:rPr>
              <a:t>• RadixAttention 用 radix tree 记录 prefix 与 KV Cache 的对应关系，重点解决跨请求前缀复用。
• PagedAttention 用 block table 管理离散物理块，重点解决显存分配和碎片问题。</a:t>
            </a:r>
            <a:endParaRPr b="0">
              <a:solidFill>
                <a:srgbClr val="333333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333333"/>
                </a:solidFill>
                <a:latin typeface="微软雅黑" panose="020B0503020204020204" charset="-122"/>
                <a:sym typeface="+mn-ea"/>
              </a:rPr>
              <a:t>• throughput </a:t>
            </a:r>
            <a:r>
              <a:rPr>
                <a:solidFill>
                  <a:srgbClr val="333333"/>
                </a:solidFill>
                <a:latin typeface="微软雅黑" panose="020B0503020204020204" charset="-122"/>
                <a:sym typeface="+mn-ea"/>
              </a:rPr>
              <a:t>speedup  </a:t>
            </a:r>
            <a:r>
              <a:rPr>
                <a:solidFill>
                  <a:srgbClr val="C00000"/>
                </a:solidFill>
                <a:latin typeface="微软雅黑" panose="020B0503020204020204" charset="-122"/>
                <a:sym typeface="+mn-ea"/>
              </a:rPr>
              <a:t>5X</a:t>
            </a:r>
            <a:r>
              <a:rPr>
                <a:solidFill>
                  <a:srgbClr val="333333"/>
                </a:solidFill>
                <a:latin typeface="微软雅黑" panose="020B0503020204020204" charset="-122"/>
                <a:sym typeface="+mn-ea"/>
              </a:rPr>
              <a:t> </a:t>
            </a:r>
            <a:r>
              <a:rPr>
                <a:solidFill>
                  <a:srgbClr val="333333"/>
                </a:solidFill>
                <a:latin typeface="微软雅黑" panose="020B0503020204020204" charset="-122"/>
                <a:sym typeface="+mn-ea"/>
              </a:rPr>
              <a:t>compared to Guidance and vLLM</a:t>
            </a:r>
            <a:endParaRPr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325" y="431165"/>
            <a:ext cx="10856595" cy="866711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47955" y="1587500"/>
            <a:ext cx="502983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Radix Tree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742950" lvl="1" indent="-285750">
              <a:buFont typeface="Wingdings" panose="05000000000000000000" charset="0"/>
              <a:buChar char="Ø"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持久化且可复用的树状索引系统。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742950" lvl="1" indent="-285750">
              <a:buFont typeface="Wingdings" panose="05000000000000000000" charset="0"/>
              <a:buChar char="Ø"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当新请求进入时，系统会自动在树中执行前缀搜索，找到已缓存的最长公共前缀，从而跳过这些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Token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prefill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计算。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742950" lvl="1" indent="-285750">
              <a:buFont typeface="Wingdings" panose="05000000000000000000" charset="0"/>
              <a:buChar char="Ø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LRU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淘汰机制：当显存耗尽时，系统通过最近最少使用策略，从叶子结点开始递归删除不再使用的缓存，为新请求腾出空间。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3700" y="274320"/>
            <a:ext cx="812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1218565"/>
            <a:r>
              <a:rPr lang="en-US" altLang="zh-CN" sz="3200" b="1" kern="0" dirty="0">
                <a:latin typeface="Arial" panose="020B0604020202020204" pitchFamily="34" charset="0"/>
                <a:ea typeface="微软雅黑" panose="020B0503020204020204" charset="-122"/>
                <a:sym typeface="Wingdings" panose="05000000000000000000" pitchFamily="2" charset="2"/>
              </a:rPr>
              <a:t>2.2 Radix Attention</a:t>
            </a:r>
            <a:endParaRPr lang="en-US" altLang="zh-CN" sz="3200" b="1" kern="0" dirty="0">
              <a:latin typeface="Arial" panose="020B0604020202020204" pitchFamily="34" charset="0"/>
              <a:ea typeface="微软雅黑" panose="020B0503020204020204" charset="-122"/>
              <a:sym typeface="Wingdings" panose="05000000000000000000" pitchFamily="2" charset="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07135" y="8434705"/>
            <a:ext cx="53936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出自https://github.com/sgl-project/sgl-learning-materials/tree/main/slides</a:t>
            </a:r>
            <a:endParaRPr lang="zh-CN" altLang="en-US" sz="1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394" y="2883747"/>
            <a:ext cx="7525173" cy="59131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93700" y="265854"/>
            <a:ext cx="1012444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1218565"/>
            <a:r>
              <a:rPr lang="en-US" altLang="zh-CN" sz="3200" b="1" kern="0" dirty="0">
                <a:latin typeface="Arial" panose="020B0604020202020204" pitchFamily="34" charset="0"/>
                <a:ea typeface="微软雅黑" panose="020B0503020204020204" charset="-122"/>
                <a:sym typeface="Wingdings" panose="05000000000000000000" pitchFamily="2" charset="2"/>
              </a:rPr>
              <a:t>2.3 HiCache(Hierarchical KV Caching)</a:t>
            </a:r>
            <a:endParaRPr lang="en-US" altLang="zh-CN" sz="3200" b="1" kern="0" dirty="0">
              <a:latin typeface="Arial" panose="020B0604020202020204" pitchFamily="34" charset="0"/>
              <a:ea typeface="微软雅黑" panose="020B0503020204020204" charset="-122"/>
              <a:sym typeface="Wingdings" panose="05000000000000000000" pitchFamily="2" charset="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53441" y="1153160"/>
            <a:ext cx="9744287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1000" indent="-381000">
              <a:buFont typeface="Wingdings" panose="05000000000000000000" charset="0"/>
              <a:buChar char="Ø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device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 cache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扩展到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host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内存和远端分布式存储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81000" indent="-381000">
              <a:buFont typeface="Wingdings" panose="05000000000000000000" charset="0"/>
              <a:buChar char="Ø"/>
            </a:pP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HiRadixTree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每个节点记录一串连续的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tokens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和其对应的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kvcahce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的存储位置，但不存储或同步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L3 kv cache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的元数据。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81000" indent="-381000">
              <a:buFont typeface="Wingdings" panose="05000000000000000000" charset="0"/>
              <a:buChar char="Ø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workflow: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本地匹配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--&gt;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数据预取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--&gt;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数据写回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281160" y="2725421"/>
            <a:ext cx="6407573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本地匹配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返回一个请求的连续前缀，前一部分在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L1,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后一部分在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L2;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不发生实际的数据拷贝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数据预取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：当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中找不到后续前缀，系统将查询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L3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，满足条件的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cache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会从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L3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预取加载到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。同时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 cache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也会异步地传输到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中。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数据写回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 cache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重用结束后，数据会被有选择地写到下一级存储中。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面向批处理的数据组织：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L2/L3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以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page first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的排布存储和传输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KV cache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，有效降低传输耗时。同时借助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RDMA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技术，实现数据传输的零拷贝。到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L1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上又转成计算亲和的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layer first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排布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l="2391" t="6562" r="3277" b="10354"/>
          <a:stretch>
            <a:fillRect/>
          </a:stretch>
        </p:blipFill>
        <p:spPr>
          <a:xfrm>
            <a:off x="9281160" y="6723380"/>
            <a:ext cx="6610773" cy="183557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50925" y="8489950"/>
            <a:ext cx="59944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出自https://github.com/sgl-project/sgl-learning-materials/tree/main/slides</a:t>
            </a:r>
            <a:endParaRPr lang="zh-CN" altLang="en-US" sz="1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2861" y="1789854"/>
            <a:ext cx="10604500" cy="454575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12627" y="6855461"/>
            <a:ext cx="7281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Qwen3-235B-A22B-Instruct-2507 on 8 ×GPUs</a:t>
            </a:r>
            <a:endParaRPr lang="zh-CN" altLang="en-US" sz="2400"/>
          </a:p>
        </p:txBody>
      </p:sp>
      <p:sp>
        <p:nvSpPr>
          <p:cNvPr id="6" name="文本框 5"/>
          <p:cNvSpPr txBox="1"/>
          <p:nvPr/>
        </p:nvSpPr>
        <p:spPr>
          <a:xfrm>
            <a:off x="8029575" y="6335395"/>
            <a:ext cx="59944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出自https://github.com/sgl-project/sgl-learning-materials/tree/main/slides</a:t>
            </a:r>
            <a:endParaRPr lang="zh-CN" altLang="en-US" sz="1400"/>
          </a:p>
        </p:txBody>
      </p:sp>
      <p:sp>
        <p:nvSpPr>
          <p:cNvPr id="5" name="文本框 4"/>
          <p:cNvSpPr txBox="1"/>
          <p:nvPr/>
        </p:nvSpPr>
        <p:spPr>
          <a:xfrm>
            <a:off x="393700" y="265854"/>
            <a:ext cx="1012444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1218565"/>
            <a:r>
              <a:rPr lang="en-US" altLang="zh-CN" sz="3200" b="1" kern="0" dirty="0"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2.3 HiCache</a:t>
            </a:r>
            <a:endParaRPr lang="en-US" altLang="zh-CN" sz="3200" b="1" kern="0" dirty="0">
              <a:latin typeface="微软雅黑" panose="020B0503020204020204" charset="-122"/>
              <a:ea typeface="微软雅黑" panose="020B0503020204020204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4943" y="1644074"/>
            <a:ext cx="10313149" cy="6108613"/>
            <a:chOff x="552" y="1615"/>
            <a:chExt cx="14389" cy="8769"/>
          </a:xfrm>
        </p:grpSpPr>
        <p:sp>
          <p:nvSpPr>
            <p:cNvPr id="55" name="矩形 54"/>
            <p:cNvSpPr/>
            <p:nvPr/>
          </p:nvSpPr>
          <p:spPr>
            <a:xfrm>
              <a:off x="8281" y="1630"/>
              <a:ext cx="6660" cy="7158"/>
            </a:xfrm>
            <a:prstGeom prst="rect">
              <a:avLst/>
            </a:prstGeom>
            <a:solidFill>
              <a:srgbClr val="1D1D1A">
                <a:lumMod val="10000"/>
                <a:lumOff val="90000"/>
              </a:srgbClr>
            </a:solidFill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noAutofit/>
            </a:bodyPr>
            <a:lstStyle/>
            <a:p>
              <a:pPr algn="ctr" defTabSz="1219200">
                <a:defRPr/>
              </a:pPr>
              <a:endParaRPr lang="zh-CN" altLang="en-US" sz="2400" kern="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6" name="矩形 55"/>
            <p:cNvSpPr/>
            <p:nvPr/>
          </p:nvSpPr>
          <p:spPr>
            <a:xfrm>
              <a:off x="552" y="1615"/>
              <a:ext cx="6660" cy="7180"/>
            </a:xfrm>
            <a:prstGeom prst="rect">
              <a:avLst/>
            </a:prstGeom>
            <a:solidFill>
              <a:srgbClr val="1D1D1A">
                <a:lumMod val="10000"/>
                <a:lumOff val="90000"/>
              </a:srgbClr>
            </a:solidFill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noAutofit/>
            </a:bodyPr>
            <a:lstStyle/>
            <a:p>
              <a:pPr algn="ctr" defTabSz="1219200">
                <a:defRPr/>
              </a:pPr>
              <a:endParaRPr lang="zh-CN" altLang="en-US" sz="2400" kern="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7" name="矩形 56"/>
            <p:cNvSpPr/>
            <p:nvPr/>
          </p:nvSpPr>
          <p:spPr>
            <a:xfrm>
              <a:off x="1052" y="2403"/>
              <a:ext cx="5996" cy="5966"/>
            </a:xfrm>
            <a:prstGeom prst="rect">
              <a:avLst/>
            </a:prstGeom>
            <a:solidFill>
              <a:srgbClr val="61B230">
                <a:lumMod val="20000"/>
                <a:lumOff val="80000"/>
              </a:srgbClr>
            </a:solidFill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  <a:noAutofit/>
            </a:bodyPr>
            <a:lstStyle/>
            <a:p>
              <a:pPr algn="ctr" defTabSz="1219200">
                <a:defRPr/>
              </a:pPr>
              <a:r>
                <a:rPr lang="en-US" altLang="zh-CN" sz="1865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TP Worker</a:t>
              </a:r>
              <a:endParaRPr lang="zh-CN" altLang="en-US" sz="1865" kern="0" dirty="0">
                <a:solidFill>
                  <a:srgbClr val="1D1D1A"/>
                </a:solidFill>
                <a:latin typeface="微软雅黑" panose="020B0503020204020204" charset="-122"/>
                <a:ea typeface="等线" panose="02010600030101010101" pitchFamily="2" charset="-122"/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939" y="2516"/>
              <a:ext cx="5996" cy="5966"/>
            </a:xfrm>
            <a:prstGeom prst="rect">
              <a:avLst/>
            </a:prstGeom>
            <a:solidFill>
              <a:srgbClr val="61B230">
                <a:lumMod val="20000"/>
                <a:lumOff val="80000"/>
              </a:srgbClr>
            </a:solidFill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  <a:noAutofit/>
            </a:bodyPr>
            <a:lstStyle/>
            <a:p>
              <a:pPr algn="ctr" defTabSz="1219200">
                <a:defRPr/>
              </a:pPr>
              <a:r>
                <a:rPr lang="en-US" altLang="zh-CN" sz="1865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TP Worker</a:t>
              </a:r>
              <a:endParaRPr lang="zh-CN" altLang="en-US" sz="1865" kern="0" dirty="0">
                <a:solidFill>
                  <a:srgbClr val="1D1D1A"/>
                </a:solidFill>
                <a:latin typeface="微软雅黑" panose="020B0503020204020204" charset="-122"/>
                <a:ea typeface="等线" panose="02010600030101010101" pitchFamily="2" charset="-122"/>
              </a:endParaRPr>
            </a:p>
          </p:txBody>
        </p:sp>
        <p:sp>
          <p:nvSpPr>
            <p:cNvPr id="59" name="矩形 58"/>
            <p:cNvSpPr/>
            <p:nvPr/>
          </p:nvSpPr>
          <p:spPr>
            <a:xfrm>
              <a:off x="805" y="2623"/>
              <a:ext cx="5996" cy="5966"/>
            </a:xfrm>
            <a:prstGeom prst="rect">
              <a:avLst/>
            </a:prstGeom>
            <a:solidFill>
              <a:srgbClr val="61B230">
                <a:lumMod val="20000"/>
                <a:lumOff val="80000"/>
              </a:srgbClr>
            </a:solidFill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  <a:noAutofit/>
            </a:bodyPr>
            <a:lstStyle/>
            <a:p>
              <a:pPr algn="ctr" defTabSz="1219200">
                <a:defRPr/>
              </a:pPr>
              <a:r>
                <a:rPr lang="en-US" altLang="zh-CN" sz="1600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TP Worker</a:t>
              </a:r>
              <a:endParaRPr lang="en-US" altLang="zh-CN" sz="1600" kern="0" dirty="0">
                <a:solidFill>
                  <a:srgbClr val="1D1D1A"/>
                </a:solidFill>
                <a:latin typeface="微软雅黑" panose="020B0503020204020204" charset="-122"/>
                <a:ea typeface="等线" panose="02010600030101010101" pitchFamily="2" charset="-122"/>
              </a:endParaRPr>
            </a:p>
          </p:txBody>
        </p:sp>
        <p:sp>
          <p:nvSpPr>
            <p:cNvPr id="60" name="矩形 59"/>
            <p:cNvSpPr/>
            <p:nvPr/>
          </p:nvSpPr>
          <p:spPr>
            <a:xfrm>
              <a:off x="1849" y="3228"/>
              <a:ext cx="2428" cy="45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noAutofit/>
            </a:bodyPr>
            <a:lstStyle/>
            <a:p>
              <a:pPr algn="ctr" defTabSz="1219200">
                <a:defRPr/>
              </a:pPr>
              <a:r>
                <a:rPr lang="en-US" altLang="zh-CN" sz="1600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scheduler</a:t>
              </a:r>
              <a:endParaRPr lang="zh-CN" altLang="en-US" sz="1600" kern="0" dirty="0">
                <a:solidFill>
                  <a:srgbClr val="1D1D1A"/>
                </a:solidFill>
                <a:latin typeface="微软雅黑" panose="020B0503020204020204" charset="-122"/>
                <a:ea typeface="等线" panose="02010600030101010101" pitchFamily="2" charset="-122"/>
              </a:endParaRPr>
            </a:p>
          </p:txBody>
        </p:sp>
        <p:sp>
          <p:nvSpPr>
            <p:cNvPr id="61" name="矩形 60"/>
            <p:cNvSpPr/>
            <p:nvPr/>
          </p:nvSpPr>
          <p:spPr>
            <a:xfrm>
              <a:off x="1849" y="3961"/>
              <a:ext cx="2428" cy="457"/>
            </a:xfrm>
            <a:prstGeom prst="rect">
              <a:avLst/>
            </a:prstGeom>
            <a:solidFill>
              <a:srgbClr val="FCC800">
                <a:lumMod val="20000"/>
                <a:lumOff val="80000"/>
              </a:srgbClr>
            </a:solidFill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noAutofit/>
            </a:bodyPr>
            <a:lstStyle/>
            <a:p>
              <a:pPr algn="ctr" defTabSz="1219200">
                <a:defRPr/>
              </a:pPr>
              <a:r>
                <a:rPr lang="en-US" altLang="zh-CN" sz="1600" kern="0" dirty="0" err="1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HiRadix</a:t>
              </a:r>
              <a:r>
                <a:rPr lang="en-US" altLang="zh-CN" sz="1600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 Cache</a:t>
              </a:r>
              <a:endParaRPr lang="zh-CN" altLang="en-US" sz="1600" kern="0" dirty="0">
                <a:solidFill>
                  <a:srgbClr val="1D1D1A"/>
                </a:solidFill>
                <a:latin typeface="微软雅黑" panose="020B0503020204020204" charset="-122"/>
                <a:ea typeface="等线" panose="02010600030101010101" pitchFamily="2" charset="-122"/>
              </a:endParaRPr>
            </a:p>
          </p:txBody>
        </p:sp>
        <p:sp>
          <p:nvSpPr>
            <p:cNvPr id="62" name="矩形 61"/>
            <p:cNvSpPr/>
            <p:nvPr/>
          </p:nvSpPr>
          <p:spPr>
            <a:xfrm>
              <a:off x="1285" y="4850"/>
              <a:ext cx="1878" cy="694"/>
            </a:xfrm>
            <a:prstGeom prst="rect">
              <a:avLst/>
            </a:prstGeom>
            <a:solidFill>
              <a:srgbClr val="FCC800">
                <a:lumMod val="20000"/>
                <a:lumOff val="80000"/>
              </a:srgbClr>
            </a:solidFill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noAutofit/>
            </a:bodyPr>
            <a:lstStyle/>
            <a:p>
              <a:pPr algn="ctr" defTabSz="1219200">
                <a:defRPr/>
              </a:pPr>
              <a:r>
                <a:rPr lang="en-US" altLang="zh-CN" sz="1335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Radix Tree</a:t>
              </a:r>
              <a:endParaRPr lang="en-US" altLang="zh-CN" sz="1335" kern="0" dirty="0">
                <a:solidFill>
                  <a:srgbClr val="1D1D1A"/>
                </a:solidFill>
                <a:latin typeface="微软雅黑" panose="020B0503020204020204" charset="-122"/>
                <a:ea typeface="等线" panose="02010600030101010101" pitchFamily="2" charset="-122"/>
              </a:endParaRPr>
            </a:p>
            <a:p>
              <a:pPr algn="ctr" defTabSz="1219200">
                <a:defRPr/>
              </a:pPr>
              <a:r>
                <a:rPr lang="zh-CN" altLang="en-US" sz="1335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（</a:t>
              </a:r>
              <a:r>
                <a:rPr lang="en-US" altLang="zh-CN" sz="1335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L1+L2</a:t>
              </a:r>
              <a:r>
                <a:rPr lang="zh-CN" altLang="en-US" sz="1335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索引）</a:t>
              </a:r>
              <a:endParaRPr lang="zh-CN" altLang="en-US" sz="1335" kern="0" dirty="0">
                <a:solidFill>
                  <a:srgbClr val="1D1D1A"/>
                </a:solidFill>
                <a:latin typeface="微软雅黑" panose="020B0503020204020204" charset="-122"/>
                <a:ea typeface="等线" panose="02010600030101010101" pitchFamily="2" charset="-122"/>
              </a:endParaRPr>
            </a:p>
          </p:txBody>
        </p:sp>
        <p:sp>
          <p:nvSpPr>
            <p:cNvPr id="63" name="矩形 62"/>
            <p:cNvSpPr/>
            <p:nvPr/>
          </p:nvSpPr>
          <p:spPr>
            <a:xfrm>
              <a:off x="1285" y="5956"/>
              <a:ext cx="1878" cy="93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noAutofit/>
            </a:bodyPr>
            <a:lstStyle/>
            <a:p>
              <a:pPr algn="ctr" defTabSz="1219200">
                <a:defRPr/>
              </a:pPr>
              <a:r>
                <a:rPr lang="en-US" altLang="zh-CN" sz="1335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L1: Token To </a:t>
              </a:r>
              <a:r>
                <a:rPr lang="en-US" altLang="zh-CN" sz="1335" kern="0" dirty="0" err="1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KVPool</a:t>
              </a:r>
              <a:endParaRPr lang="en-US" altLang="zh-CN" sz="1335" kern="0" dirty="0">
                <a:solidFill>
                  <a:srgbClr val="1D1D1A"/>
                </a:solidFill>
                <a:latin typeface="微软雅黑" panose="020B0503020204020204" charset="-122"/>
                <a:ea typeface="等线" panose="02010600030101010101" pitchFamily="2" charset="-122"/>
              </a:endParaRPr>
            </a:p>
            <a:p>
              <a:pPr algn="ctr" defTabSz="1219200">
                <a:defRPr/>
              </a:pPr>
              <a:r>
                <a:rPr lang="en-US" altLang="zh-CN" sz="1335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(</a:t>
              </a:r>
              <a:r>
                <a:rPr lang="zh-CN" altLang="en-US" sz="1335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单进程</a:t>
              </a:r>
              <a:r>
                <a:rPr lang="en-US" altLang="zh-CN" sz="1335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HBM)</a:t>
              </a:r>
              <a:endParaRPr lang="en-US" altLang="zh-CN" sz="1335" kern="0" dirty="0">
                <a:solidFill>
                  <a:srgbClr val="1D1D1A"/>
                </a:solidFill>
                <a:latin typeface="微软雅黑" panose="020B0503020204020204" charset="-122"/>
                <a:ea typeface="等线" panose="02010600030101010101" pitchFamily="2" charset="-122"/>
              </a:endParaRPr>
            </a:p>
          </p:txBody>
        </p:sp>
        <p:sp>
          <p:nvSpPr>
            <p:cNvPr id="64" name="矩形 63"/>
            <p:cNvSpPr/>
            <p:nvPr/>
          </p:nvSpPr>
          <p:spPr>
            <a:xfrm>
              <a:off x="1285" y="7313"/>
              <a:ext cx="1878" cy="930"/>
            </a:xfrm>
            <a:prstGeom prst="rect">
              <a:avLst/>
            </a:prstGeom>
            <a:solidFill>
              <a:srgbClr val="FCC800">
                <a:lumMod val="20000"/>
                <a:lumOff val="80000"/>
              </a:srgbClr>
            </a:solidFill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noAutofit/>
            </a:bodyPr>
            <a:lstStyle/>
            <a:p>
              <a:pPr algn="ctr" defTabSz="1219200">
                <a:defRPr/>
              </a:pPr>
              <a:r>
                <a:rPr lang="en-US" altLang="zh-CN" sz="1335" b="1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L2: </a:t>
              </a:r>
              <a:r>
                <a:rPr lang="en-US" altLang="zh-CN" sz="1335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Token To </a:t>
              </a:r>
              <a:r>
                <a:rPr lang="en-US" altLang="zh-CN" sz="1335" kern="0" dirty="0" err="1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KVPool</a:t>
              </a:r>
              <a:r>
                <a:rPr lang="en-US" altLang="zh-CN" sz="1335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 Host</a:t>
              </a:r>
              <a:endParaRPr lang="en-US" altLang="zh-CN" sz="1335" kern="0" dirty="0">
                <a:solidFill>
                  <a:srgbClr val="1D1D1A"/>
                </a:solidFill>
                <a:latin typeface="微软雅黑" panose="020B0503020204020204" charset="-122"/>
                <a:ea typeface="等线" panose="02010600030101010101" pitchFamily="2" charset="-122"/>
              </a:endParaRPr>
            </a:p>
            <a:p>
              <a:pPr algn="ctr" defTabSz="1219200">
                <a:defRPr/>
              </a:pPr>
              <a:r>
                <a:rPr lang="en-US" altLang="zh-CN" sz="1335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(</a:t>
              </a:r>
              <a:r>
                <a:rPr lang="zh-CN" altLang="en-US" sz="1335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单进程</a:t>
              </a:r>
              <a:r>
                <a:rPr lang="en-US" altLang="zh-CN" sz="1335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DRAM)</a:t>
              </a:r>
              <a:endParaRPr lang="en-US" altLang="zh-CN" sz="1335" kern="0" dirty="0">
                <a:solidFill>
                  <a:srgbClr val="1D1D1A"/>
                </a:solidFill>
                <a:latin typeface="微软雅黑" panose="020B0503020204020204" charset="-122"/>
                <a:ea typeface="等线" panose="02010600030101010101" pitchFamily="2" charset="-122"/>
              </a:endParaRPr>
            </a:p>
          </p:txBody>
        </p:sp>
        <p:sp>
          <p:nvSpPr>
            <p:cNvPr id="65" name="矩形 64"/>
            <p:cNvSpPr/>
            <p:nvPr/>
          </p:nvSpPr>
          <p:spPr>
            <a:xfrm>
              <a:off x="3487" y="4854"/>
              <a:ext cx="3092" cy="690"/>
            </a:xfrm>
            <a:prstGeom prst="rect">
              <a:avLst/>
            </a:prstGeom>
            <a:solidFill>
              <a:srgbClr val="FCC800">
                <a:lumMod val="20000"/>
                <a:lumOff val="80000"/>
              </a:srgbClr>
            </a:solidFill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noAutofit/>
            </a:bodyPr>
            <a:lstStyle/>
            <a:p>
              <a:pPr algn="ctr" defTabSz="1219200">
                <a:defRPr/>
              </a:pPr>
              <a:r>
                <a:rPr lang="en-US" altLang="zh-CN" sz="1200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Cache Controller</a:t>
              </a:r>
              <a:endParaRPr lang="en-US" altLang="zh-CN" sz="1200" kern="0" dirty="0">
                <a:solidFill>
                  <a:srgbClr val="1D1D1A"/>
                </a:solidFill>
                <a:latin typeface="微软雅黑" panose="020B0503020204020204" charset="-122"/>
                <a:ea typeface="等线" panose="02010600030101010101" pitchFamily="2" charset="-122"/>
              </a:endParaRPr>
            </a:p>
            <a:p>
              <a:pPr algn="ctr" defTabSz="1219200">
                <a:defRPr/>
              </a:pPr>
              <a:r>
                <a:rPr lang="zh-CN" altLang="en-US" sz="1200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（</a:t>
              </a:r>
              <a:r>
                <a:rPr lang="en-US" altLang="zh-CN" sz="1200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swap</a:t>
              </a:r>
              <a:r>
                <a:rPr lang="zh-CN" altLang="en-US" sz="1200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和</a:t>
              </a:r>
              <a:r>
                <a:rPr lang="en-US" altLang="zh-CN" sz="1200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preload</a:t>
              </a:r>
              <a:r>
                <a:rPr lang="zh-CN" altLang="en-US" sz="1200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的驱动者）</a:t>
              </a:r>
              <a:endParaRPr lang="zh-CN" altLang="en-US" sz="1200" kern="0" dirty="0">
                <a:solidFill>
                  <a:srgbClr val="1D1D1A"/>
                </a:solidFill>
                <a:latin typeface="微软雅黑" panose="020B0503020204020204" charset="-122"/>
                <a:ea typeface="等线" panose="02010600030101010101" pitchFamily="2" charset="-122"/>
              </a:endParaRPr>
            </a:p>
          </p:txBody>
        </p:sp>
        <p:cxnSp>
          <p:nvCxnSpPr>
            <p:cNvPr id="66" name="直接箭头连接符 65"/>
            <p:cNvCxnSpPr>
              <a:stCxn id="60" idx="2"/>
              <a:endCxn id="61" idx="0"/>
            </p:cNvCxnSpPr>
            <p:nvPr/>
          </p:nvCxnSpPr>
          <p:spPr>
            <a:xfrm>
              <a:off x="3064" y="3686"/>
              <a:ext cx="0" cy="275"/>
            </a:xfrm>
            <a:prstGeom prst="straightConnector1">
              <a:avLst/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67" name="直接箭头连接符 66"/>
            <p:cNvCxnSpPr>
              <a:stCxn id="61" idx="2"/>
              <a:endCxn id="62" idx="0"/>
            </p:cNvCxnSpPr>
            <p:nvPr/>
          </p:nvCxnSpPr>
          <p:spPr>
            <a:xfrm flipH="1">
              <a:off x="2224" y="4418"/>
              <a:ext cx="840" cy="432"/>
            </a:xfrm>
            <a:prstGeom prst="straightConnector1">
              <a:avLst/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68" name="直接箭头连接符 67"/>
            <p:cNvCxnSpPr>
              <a:stCxn id="61" idx="2"/>
              <a:endCxn id="65" idx="0"/>
            </p:cNvCxnSpPr>
            <p:nvPr/>
          </p:nvCxnSpPr>
          <p:spPr>
            <a:xfrm>
              <a:off x="3064" y="4418"/>
              <a:ext cx="1969" cy="435"/>
            </a:xfrm>
            <a:prstGeom prst="straightConnector1">
              <a:avLst/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69" name="连接符: 肘形 68"/>
            <p:cNvCxnSpPr>
              <a:stCxn id="62" idx="1"/>
              <a:endCxn id="63" idx="1"/>
            </p:cNvCxnSpPr>
            <p:nvPr/>
          </p:nvCxnSpPr>
          <p:spPr>
            <a:xfrm rot="10800000" flipV="1">
              <a:off x="1285" y="5197"/>
              <a:ext cx="20" cy="1224"/>
            </a:xfrm>
            <a:prstGeom prst="bentConnector3">
              <a:avLst>
                <a:gd name="adj1" fmla="val 1800000"/>
              </a:avLst>
            </a:prstGeom>
            <a:noFill/>
            <a:ln w="6350" cap="flat" cmpd="sng" algn="ctr">
              <a:solidFill>
                <a:srgbClr val="61B230">
                  <a:lumMod val="75000"/>
                </a:srgbClr>
              </a:solidFill>
              <a:prstDash val="dash"/>
              <a:miter lim="800000"/>
              <a:tailEnd type="triangle"/>
            </a:ln>
            <a:effectLst/>
          </p:spPr>
        </p:cxnSp>
        <p:cxnSp>
          <p:nvCxnSpPr>
            <p:cNvPr id="70" name="连接符: 肘形 69"/>
            <p:cNvCxnSpPr>
              <a:stCxn id="62" idx="1"/>
              <a:endCxn id="64" idx="1"/>
            </p:cNvCxnSpPr>
            <p:nvPr/>
          </p:nvCxnSpPr>
          <p:spPr>
            <a:xfrm rot="10800000" flipV="1">
              <a:off x="1285" y="5197"/>
              <a:ext cx="20" cy="2581"/>
            </a:xfrm>
            <a:prstGeom prst="bentConnector3">
              <a:avLst>
                <a:gd name="adj1" fmla="val 1800000"/>
              </a:avLst>
            </a:prstGeom>
            <a:noFill/>
            <a:ln w="6350" cap="flat" cmpd="sng" algn="ctr">
              <a:solidFill>
                <a:srgbClr val="61B230">
                  <a:lumMod val="75000"/>
                </a:srgbClr>
              </a:solidFill>
              <a:prstDash val="dash"/>
              <a:miter lim="800000"/>
              <a:tailEnd type="triangle"/>
            </a:ln>
            <a:effectLst/>
          </p:spPr>
        </p:cxnSp>
        <p:cxnSp>
          <p:nvCxnSpPr>
            <p:cNvPr id="71" name="直接箭头连接符 70"/>
            <p:cNvCxnSpPr>
              <a:stCxn id="65" idx="2"/>
              <a:endCxn id="63" idx="3"/>
            </p:cNvCxnSpPr>
            <p:nvPr/>
          </p:nvCxnSpPr>
          <p:spPr>
            <a:xfrm flipH="1">
              <a:off x="3162" y="5544"/>
              <a:ext cx="1871" cy="877"/>
            </a:xfrm>
            <a:prstGeom prst="straightConnector1">
              <a:avLst/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72" name="直接箭头连接符 71"/>
            <p:cNvCxnSpPr>
              <a:stCxn id="65" idx="2"/>
              <a:endCxn id="64" idx="3"/>
            </p:cNvCxnSpPr>
            <p:nvPr/>
          </p:nvCxnSpPr>
          <p:spPr>
            <a:xfrm flipH="1">
              <a:off x="3162" y="5544"/>
              <a:ext cx="1871" cy="2234"/>
            </a:xfrm>
            <a:prstGeom prst="straightConnector1">
              <a:avLst/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73" name="矩形 72"/>
            <p:cNvSpPr/>
            <p:nvPr/>
          </p:nvSpPr>
          <p:spPr>
            <a:xfrm>
              <a:off x="805" y="9085"/>
              <a:ext cx="13920" cy="1299"/>
            </a:xfrm>
            <a:prstGeom prst="rect">
              <a:avLst/>
            </a:prstGeom>
            <a:solidFill>
              <a:srgbClr val="FCC800">
                <a:lumMod val="20000"/>
                <a:lumOff val="80000"/>
              </a:srgbClr>
            </a:solidFill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noAutofit/>
            </a:bodyPr>
            <a:lstStyle/>
            <a:p>
              <a:pPr algn="ctr" defTabSz="1219200">
                <a:defRPr/>
              </a:pPr>
              <a:r>
                <a:rPr lang="en-US" altLang="zh-CN" sz="1335" b="1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L3:</a:t>
              </a:r>
              <a:r>
                <a:rPr lang="en-US" altLang="zh-CN" sz="1335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 </a:t>
              </a:r>
              <a:r>
                <a:rPr lang="en-US" altLang="zh-CN" sz="1335" kern="0" dirty="0" err="1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HIiCache</a:t>
              </a:r>
              <a:r>
                <a:rPr lang="en-US" altLang="zh-CN" sz="1335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 Storage</a:t>
              </a:r>
              <a:endParaRPr lang="en-US" altLang="zh-CN" sz="1335" kern="0" dirty="0">
                <a:solidFill>
                  <a:srgbClr val="1D1D1A"/>
                </a:solidFill>
                <a:latin typeface="微软雅黑" panose="020B0503020204020204" charset="-122"/>
                <a:ea typeface="等线" panose="02010600030101010101" pitchFamily="2" charset="-122"/>
              </a:endParaRPr>
            </a:p>
            <a:p>
              <a:pPr algn="ctr" defTabSz="1219200">
                <a:defRPr/>
              </a:pPr>
              <a:r>
                <a:rPr lang="en-US" altLang="zh-CN" sz="1335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(</a:t>
              </a:r>
              <a:r>
                <a:rPr lang="en-US" altLang="zh-CN" sz="1335" kern="0" dirty="0" err="1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string</a:t>
              </a:r>
              <a:r>
                <a:rPr lang="en-US" altLang="zh-CN" sz="1335" kern="0" dirty="0" err="1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  <a:sym typeface="Wingdings" panose="05000000000000000000" pitchFamily="2" charset="2"/>
                </a:rPr>
                <a:t>kvdata</a:t>
              </a:r>
              <a:r>
                <a:rPr lang="zh-CN" altLang="en-US" sz="1335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  <a:sym typeface="Wingdings" panose="05000000000000000000" pitchFamily="2" charset="2"/>
                </a:rPr>
                <a:t>分布式索引，</a:t>
              </a:r>
              <a:r>
                <a:rPr lang="en-US" altLang="zh-CN" sz="1335" kern="0" dirty="0" err="1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  <a:sym typeface="Wingdings" panose="05000000000000000000" pitchFamily="2" charset="2"/>
                </a:rPr>
                <a:t>kvdata</a:t>
              </a:r>
              <a:r>
                <a:rPr lang="zh-CN" altLang="en-US" sz="1335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  <a:sym typeface="Wingdings" panose="05000000000000000000" pitchFamily="2" charset="2"/>
                </a:rPr>
                <a:t>存储</a:t>
              </a:r>
              <a:r>
                <a:rPr lang="en-US" altLang="zh-CN" sz="1335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)</a:t>
              </a:r>
              <a:endParaRPr lang="en-US" altLang="zh-CN" sz="1335" kern="0" dirty="0">
                <a:solidFill>
                  <a:srgbClr val="1D1D1A"/>
                </a:solidFill>
                <a:latin typeface="微软雅黑" panose="020B0503020204020204" charset="-122"/>
                <a:ea typeface="等线" panose="02010600030101010101" pitchFamily="2" charset="-122"/>
              </a:endParaRPr>
            </a:p>
            <a:p>
              <a:pPr algn="ctr" defTabSz="1219200">
                <a:defRPr/>
              </a:pPr>
              <a:r>
                <a:rPr lang="zh-CN" altLang="en-US" sz="1335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（基于分布式内存、分布式存储）</a:t>
              </a:r>
              <a:endParaRPr lang="zh-CN" altLang="en-US" sz="1335" kern="0" dirty="0">
                <a:solidFill>
                  <a:srgbClr val="1D1D1A"/>
                </a:solidFill>
                <a:latin typeface="微软雅黑" panose="020B0503020204020204" charset="-122"/>
                <a:ea typeface="等线" panose="02010600030101010101" pitchFamily="2" charset="-122"/>
              </a:endParaRPr>
            </a:p>
          </p:txBody>
        </p:sp>
        <p:cxnSp>
          <p:nvCxnSpPr>
            <p:cNvPr id="74" name="直接箭头连接符 73"/>
            <p:cNvCxnSpPr>
              <a:endCxn id="60" idx="0"/>
            </p:cNvCxnSpPr>
            <p:nvPr/>
          </p:nvCxnSpPr>
          <p:spPr>
            <a:xfrm>
              <a:off x="3064" y="2315"/>
              <a:ext cx="0" cy="913"/>
            </a:xfrm>
            <a:prstGeom prst="straightConnector1">
              <a:avLst/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75" name="直接箭头连接符 74"/>
            <p:cNvCxnSpPr>
              <a:stCxn id="65" idx="2"/>
            </p:cNvCxnSpPr>
            <p:nvPr/>
          </p:nvCxnSpPr>
          <p:spPr>
            <a:xfrm flipH="1">
              <a:off x="3374" y="5544"/>
              <a:ext cx="1659" cy="3541"/>
            </a:xfrm>
            <a:prstGeom prst="straightConnector1">
              <a:avLst/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76" name="直接箭头连接符 75"/>
            <p:cNvCxnSpPr>
              <a:stCxn id="63" idx="2"/>
              <a:endCxn id="64" idx="0"/>
            </p:cNvCxnSpPr>
            <p:nvPr/>
          </p:nvCxnSpPr>
          <p:spPr>
            <a:xfrm>
              <a:off x="2224" y="6886"/>
              <a:ext cx="0" cy="427"/>
            </a:xfrm>
            <a:prstGeom prst="straightConnector1">
              <a:avLst/>
            </a:prstGeom>
            <a:noFill/>
            <a:ln w="6350" cap="flat" cmpd="sng" algn="ctr">
              <a:solidFill>
                <a:srgbClr val="ED6D00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  <p:cxnSp>
          <p:nvCxnSpPr>
            <p:cNvPr id="77" name="直接箭头连接符 76"/>
            <p:cNvCxnSpPr>
              <a:stCxn id="64" idx="2"/>
            </p:cNvCxnSpPr>
            <p:nvPr/>
          </p:nvCxnSpPr>
          <p:spPr>
            <a:xfrm>
              <a:off x="2224" y="8243"/>
              <a:ext cx="0" cy="842"/>
            </a:xfrm>
            <a:prstGeom prst="straightConnector1">
              <a:avLst/>
            </a:prstGeom>
            <a:noFill/>
            <a:ln w="6350" cap="flat" cmpd="sng" algn="ctr">
              <a:solidFill>
                <a:srgbClr val="ED6D00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  <p:sp>
          <p:nvSpPr>
            <p:cNvPr id="78" name="文本框 77"/>
            <p:cNvSpPr txBox="1"/>
            <p:nvPr/>
          </p:nvSpPr>
          <p:spPr>
            <a:xfrm>
              <a:off x="2880" y="1778"/>
              <a:ext cx="2795" cy="41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en-US" altLang="zh-CN" sz="1865" b="1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SGLang</a:t>
              </a:r>
              <a:r>
                <a:rPr kumimoji="1" lang="zh-CN" altLang="en-US" sz="1865" b="1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实例</a:t>
              </a:r>
              <a:r>
                <a:rPr kumimoji="1" lang="en-US" altLang="zh-CN" sz="1865" b="1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endParaRPr kumimoji="1" lang="zh-CN" altLang="en-US" sz="18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10868" y="1767"/>
              <a:ext cx="2795" cy="41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en-US" altLang="zh-CN" sz="1865" b="1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SGLang</a:t>
              </a:r>
              <a:r>
                <a:rPr kumimoji="1" lang="zh-CN" altLang="en-US" sz="1865" b="1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实例</a:t>
              </a:r>
              <a:r>
                <a:rPr kumimoji="1" lang="en-US" altLang="zh-CN" sz="1865" b="1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endParaRPr kumimoji="1" lang="zh-CN" altLang="en-US" sz="186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6" name="矩形 85"/>
            <p:cNvSpPr/>
            <p:nvPr/>
          </p:nvSpPr>
          <p:spPr>
            <a:xfrm>
              <a:off x="8758" y="2411"/>
              <a:ext cx="5967" cy="5966"/>
            </a:xfrm>
            <a:prstGeom prst="rect">
              <a:avLst/>
            </a:prstGeom>
            <a:solidFill>
              <a:srgbClr val="61B230">
                <a:lumMod val="20000"/>
                <a:lumOff val="80000"/>
              </a:srgbClr>
            </a:solidFill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  <a:noAutofit/>
            </a:bodyPr>
            <a:lstStyle/>
            <a:p>
              <a:pPr algn="ctr" defTabSz="1219200">
                <a:defRPr/>
              </a:pPr>
              <a:r>
                <a:rPr lang="en-US" altLang="zh-CN" sz="1865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TP Worker</a:t>
              </a:r>
              <a:endParaRPr lang="zh-CN" altLang="en-US" sz="1865" kern="0" dirty="0">
                <a:solidFill>
                  <a:srgbClr val="1D1D1A"/>
                </a:solidFill>
                <a:latin typeface="微软雅黑" panose="020B0503020204020204" charset="-122"/>
                <a:ea typeface="等线" panose="02010600030101010101" pitchFamily="2" charset="-122"/>
              </a:endParaRPr>
            </a:p>
          </p:txBody>
        </p:sp>
        <p:sp>
          <p:nvSpPr>
            <p:cNvPr id="87" name="矩形 86"/>
            <p:cNvSpPr/>
            <p:nvPr/>
          </p:nvSpPr>
          <p:spPr>
            <a:xfrm>
              <a:off x="8645" y="2524"/>
              <a:ext cx="5967" cy="5966"/>
            </a:xfrm>
            <a:prstGeom prst="rect">
              <a:avLst/>
            </a:prstGeom>
            <a:solidFill>
              <a:srgbClr val="61B230">
                <a:lumMod val="20000"/>
                <a:lumOff val="80000"/>
              </a:srgbClr>
            </a:solidFill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  <a:noAutofit/>
            </a:bodyPr>
            <a:lstStyle/>
            <a:p>
              <a:pPr algn="ctr" defTabSz="1219200">
                <a:defRPr/>
              </a:pPr>
              <a:r>
                <a:rPr lang="en-US" altLang="zh-CN" sz="1865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TP Worker</a:t>
              </a:r>
              <a:endParaRPr lang="zh-CN" altLang="en-US" sz="1865" kern="0" dirty="0">
                <a:solidFill>
                  <a:srgbClr val="1D1D1A"/>
                </a:solidFill>
                <a:latin typeface="微软雅黑" panose="020B0503020204020204" charset="-122"/>
                <a:ea typeface="等线" panose="02010600030101010101" pitchFamily="2" charset="-122"/>
              </a:endParaRPr>
            </a:p>
          </p:txBody>
        </p:sp>
        <p:sp>
          <p:nvSpPr>
            <p:cNvPr id="88" name="矩形 87"/>
            <p:cNvSpPr/>
            <p:nvPr/>
          </p:nvSpPr>
          <p:spPr>
            <a:xfrm>
              <a:off x="8511" y="2631"/>
              <a:ext cx="5967" cy="5966"/>
            </a:xfrm>
            <a:prstGeom prst="rect">
              <a:avLst/>
            </a:prstGeom>
            <a:solidFill>
              <a:srgbClr val="61B230">
                <a:lumMod val="20000"/>
                <a:lumOff val="80000"/>
              </a:srgbClr>
            </a:solidFill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  <a:noAutofit/>
            </a:bodyPr>
            <a:lstStyle/>
            <a:p>
              <a:pPr algn="ctr" defTabSz="1219200">
                <a:defRPr/>
              </a:pPr>
              <a:r>
                <a:rPr lang="en-US" altLang="zh-CN" sz="1600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TP Worker</a:t>
              </a:r>
              <a:endParaRPr lang="en-US" altLang="zh-CN" sz="1600" kern="0" dirty="0">
                <a:solidFill>
                  <a:srgbClr val="1D1D1A"/>
                </a:solidFill>
                <a:latin typeface="微软雅黑" panose="020B0503020204020204" charset="-122"/>
                <a:ea typeface="等线" panose="02010600030101010101" pitchFamily="2" charset="-122"/>
              </a:endParaRPr>
            </a:p>
          </p:txBody>
        </p:sp>
        <p:sp>
          <p:nvSpPr>
            <p:cNvPr id="89" name="矩形 88"/>
            <p:cNvSpPr/>
            <p:nvPr/>
          </p:nvSpPr>
          <p:spPr>
            <a:xfrm>
              <a:off x="9555" y="3236"/>
              <a:ext cx="2428" cy="45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noAutofit/>
            </a:bodyPr>
            <a:lstStyle/>
            <a:p>
              <a:pPr algn="ctr" defTabSz="1219200">
                <a:defRPr/>
              </a:pPr>
              <a:r>
                <a:rPr lang="en-US" altLang="zh-CN" sz="1600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scheduler</a:t>
              </a:r>
              <a:endParaRPr lang="zh-CN" altLang="en-US" sz="1600" kern="0" dirty="0">
                <a:solidFill>
                  <a:srgbClr val="1D1D1A"/>
                </a:solidFill>
                <a:latin typeface="微软雅黑" panose="020B0503020204020204" charset="-122"/>
                <a:ea typeface="等线" panose="02010600030101010101" pitchFamily="2" charset="-122"/>
              </a:endParaRPr>
            </a:p>
          </p:txBody>
        </p:sp>
        <p:sp>
          <p:nvSpPr>
            <p:cNvPr id="90" name="矩形 89"/>
            <p:cNvSpPr/>
            <p:nvPr/>
          </p:nvSpPr>
          <p:spPr>
            <a:xfrm>
              <a:off x="9555" y="3969"/>
              <a:ext cx="2428" cy="457"/>
            </a:xfrm>
            <a:prstGeom prst="rect">
              <a:avLst/>
            </a:prstGeom>
            <a:solidFill>
              <a:srgbClr val="FCC800">
                <a:lumMod val="20000"/>
                <a:lumOff val="80000"/>
              </a:srgbClr>
            </a:solidFill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noAutofit/>
            </a:bodyPr>
            <a:lstStyle/>
            <a:p>
              <a:pPr algn="ctr" defTabSz="1219200">
                <a:defRPr/>
              </a:pPr>
              <a:r>
                <a:rPr lang="en-US" altLang="zh-CN" sz="1600" kern="0" dirty="0" err="1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HiRadix</a:t>
              </a:r>
              <a:r>
                <a:rPr lang="en-US" altLang="zh-CN" sz="1600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 Cache</a:t>
              </a:r>
              <a:endParaRPr lang="zh-CN" altLang="en-US" sz="1600" kern="0" dirty="0">
                <a:solidFill>
                  <a:srgbClr val="1D1D1A"/>
                </a:solidFill>
                <a:latin typeface="微软雅黑" panose="020B0503020204020204" charset="-122"/>
                <a:ea typeface="等线" panose="02010600030101010101" pitchFamily="2" charset="-122"/>
              </a:endParaRPr>
            </a:p>
          </p:txBody>
        </p:sp>
        <p:sp>
          <p:nvSpPr>
            <p:cNvPr id="91" name="矩形 90"/>
            <p:cNvSpPr/>
            <p:nvPr/>
          </p:nvSpPr>
          <p:spPr>
            <a:xfrm>
              <a:off x="8991" y="4858"/>
              <a:ext cx="1878" cy="694"/>
            </a:xfrm>
            <a:prstGeom prst="rect">
              <a:avLst/>
            </a:prstGeom>
            <a:solidFill>
              <a:srgbClr val="FCC800">
                <a:lumMod val="20000"/>
                <a:lumOff val="80000"/>
              </a:srgbClr>
            </a:solidFill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noAutofit/>
            </a:bodyPr>
            <a:lstStyle/>
            <a:p>
              <a:pPr algn="ctr" defTabSz="1219200">
                <a:defRPr/>
              </a:pPr>
              <a:r>
                <a:rPr lang="en-US" altLang="zh-CN" sz="1335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Radix Tree</a:t>
              </a:r>
              <a:endParaRPr lang="en-US" altLang="zh-CN" sz="1335" kern="0" dirty="0">
                <a:solidFill>
                  <a:srgbClr val="1D1D1A"/>
                </a:solidFill>
                <a:latin typeface="微软雅黑" panose="020B0503020204020204" charset="-122"/>
                <a:ea typeface="等线" panose="02010600030101010101" pitchFamily="2" charset="-122"/>
              </a:endParaRPr>
            </a:p>
            <a:p>
              <a:pPr algn="ctr" defTabSz="1219200">
                <a:defRPr/>
              </a:pPr>
              <a:r>
                <a:rPr lang="zh-CN" altLang="en-US" sz="1335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（</a:t>
              </a:r>
              <a:r>
                <a:rPr lang="en-US" altLang="zh-CN" sz="1335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L1+L2</a:t>
              </a:r>
              <a:r>
                <a:rPr lang="zh-CN" altLang="en-US" sz="1335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索引）</a:t>
              </a:r>
              <a:endParaRPr lang="zh-CN" altLang="en-US" sz="1335" kern="0" dirty="0">
                <a:solidFill>
                  <a:srgbClr val="1D1D1A"/>
                </a:solidFill>
                <a:latin typeface="微软雅黑" panose="020B0503020204020204" charset="-122"/>
                <a:ea typeface="等线" panose="02010600030101010101" pitchFamily="2" charset="-122"/>
              </a:endParaRPr>
            </a:p>
          </p:txBody>
        </p:sp>
        <p:sp>
          <p:nvSpPr>
            <p:cNvPr id="92" name="矩形 91"/>
            <p:cNvSpPr/>
            <p:nvPr/>
          </p:nvSpPr>
          <p:spPr>
            <a:xfrm>
              <a:off x="8991" y="5964"/>
              <a:ext cx="1878" cy="93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noAutofit/>
            </a:bodyPr>
            <a:lstStyle/>
            <a:p>
              <a:pPr algn="ctr" defTabSz="1219200">
                <a:defRPr/>
              </a:pPr>
              <a:r>
                <a:rPr lang="en-US" altLang="zh-CN" sz="1335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L1: Token To </a:t>
              </a:r>
              <a:r>
                <a:rPr lang="en-US" altLang="zh-CN" sz="1335" kern="0" dirty="0" err="1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KVPool</a:t>
              </a:r>
              <a:endParaRPr lang="en-US" altLang="zh-CN" sz="1335" kern="0" dirty="0">
                <a:solidFill>
                  <a:srgbClr val="1D1D1A"/>
                </a:solidFill>
                <a:latin typeface="微软雅黑" panose="020B0503020204020204" charset="-122"/>
                <a:ea typeface="等线" panose="02010600030101010101" pitchFamily="2" charset="-122"/>
              </a:endParaRPr>
            </a:p>
            <a:p>
              <a:pPr algn="ctr" defTabSz="1219200">
                <a:defRPr/>
              </a:pPr>
              <a:r>
                <a:rPr lang="en-US" altLang="zh-CN" sz="1335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(</a:t>
              </a:r>
              <a:r>
                <a:rPr lang="zh-CN" altLang="en-US" sz="1335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单进程</a:t>
              </a:r>
              <a:r>
                <a:rPr lang="en-US" altLang="zh-CN" sz="1335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HBM)</a:t>
              </a:r>
              <a:endParaRPr lang="en-US" altLang="zh-CN" sz="1335" kern="0" dirty="0">
                <a:solidFill>
                  <a:srgbClr val="1D1D1A"/>
                </a:solidFill>
                <a:latin typeface="微软雅黑" panose="020B0503020204020204" charset="-122"/>
                <a:ea typeface="等线" panose="02010600030101010101" pitchFamily="2" charset="-122"/>
              </a:endParaRPr>
            </a:p>
          </p:txBody>
        </p:sp>
        <p:sp>
          <p:nvSpPr>
            <p:cNvPr id="93" name="矩形 92"/>
            <p:cNvSpPr/>
            <p:nvPr/>
          </p:nvSpPr>
          <p:spPr>
            <a:xfrm>
              <a:off x="8991" y="7321"/>
              <a:ext cx="1878" cy="930"/>
            </a:xfrm>
            <a:prstGeom prst="rect">
              <a:avLst/>
            </a:prstGeom>
            <a:solidFill>
              <a:srgbClr val="FCC800">
                <a:lumMod val="20000"/>
                <a:lumOff val="80000"/>
              </a:srgbClr>
            </a:solidFill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noAutofit/>
            </a:bodyPr>
            <a:lstStyle/>
            <a:p>
              <a:pPr algn="ctr" defTabSz="1219200">
                <a:defRPr/>
              </a:pPr>
              <a:r>
                <a:rPr lang="en-US" altLang="zh-CN" sz="1335" b="1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L2:</a:t>
              </a:r>
              <a:r>
                <a:rPr lang="en-US" altLang="zh-CN" sz="1335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 Token To </a:t>
              </a:r>
              <a:r>
                <a:rPr lang="en-US" altLang="zh-CN" sz="1335" kern="0" dirty="0" err="1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KVPool</a:t>
              </a:r>
              <a:r>
                <a:rPr lang="en-US" altLang="zh-CN" sz="1335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 Host</a:t>
              </a:r>
              <a:endParaRPr lang="en-US" altLang="zh-CN" sz="1335" kern="0" dirty="0">
                <a:solidFill>
                  <a:srgbClr val="1D1D1A"/>
                </a:solidFill>
                <a:latin typeface="微软雅黑" panose="020B0503020204020204" charset="-122"/>
                <a:ea typeface="等线" panose="02010600030101010101" pitchFamily="2" charset="-122"/>
              </a:endParaRPr>
            </a:p>
            <a:p>
              <a:pPr algn="ctr" defTabSz="1219200">
                <a:defRPr/>
              </a:pPr>
              <a:r>
                <a:rPr lang="en-US" altLang="zh-CN" sz="1335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(</a:t>
              </a:r>
              <a:r>
                <a:rPr lang="zh-CN" altLang="en-US" sz="1335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单进程</a:t>
              </a:r>
              <a:r>
                <a:rPr lang="en-US" altLang="zh-CN" sz="1335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DRAM)</a:t>
              </a:r>
              <a:endParaRPr lang="en-US" altLang="zh-CN" sz="1335" kern="0" dirty="0">
                <a:solidFill>
                  <a:srgbClr val="1D1D1A"/>
                </a:solidFill>
                <a:latin typeface="微软雅黑" panose="020B0503020204020204" charset="-122"/>
                <a:ea typeface="等线" panose="02010600030101010101" pitchFamily="2" charset="-122"/>
              </a:endParaRPr>
            </a:p>
          </p:txBody>
        </p:sp>
        <p:sp>
          <p:nvSpPr>
            <p:cNvPr id="94" name="矩形 93"/>
            <p:cNvSpPr/>
            <p:nvPr/>
          </p:nvSpPr>
          <p:spPr>
            <a:xfrm>
              <a:off x="11193" y="4862"/>
              <a:ext cx="3092" cy="690"/>
            </a:xfrm>
            <a:prstGeom prst="rect">
              <a:avLst/>
            </a:prstGeom>
            <a:solidFill>
              <a:srgbClr val="FCC800">
                <a:lumMod val="20000"/>
                <a:lumOff val="80000"/>
              </a:srgbClr>
            </a:solidFill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noAutofit/>
            </a:bodyPr>
            <a:lstStyle/>
            <a:p>
              <a:pPr algn="ctr" defTabSz="1219200">
                <a:defRPr/>
              </a:pPr>
              <a:r>
                <a:rPr lang="en-US" altLang="zh-CN" sz="1200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Cache Controller</a:t>
              </a:r>
              <a:endParaRPr lang="en-US" altLang="zh-CN" sz="1200" kern="0" dirty="0">
                <a:solidFill>
                  <a:srgbClr val="1D1D1A"/>
                </a:solidFill>
                <a:latin typeface="微软雅黑" panose="020B0503020204020204" charset="-122"/>
                <a:ea typeface="等线" panose="02010600030101010101" pitchFamily="2" charset="-122"/>
              </a:endParaRPr>
            </a:p>
            <a:p>
              <a:pPr algn="ctr" defTabSz="1219200">
                <a:defRPr/>
              </a:pPr>
              <a:r>
                <a:rPr lang="zh-CN" altLang="en-US" sz="1200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（</a:t>
              </a:r>
              <a:r>
                <a:rPr lang="en-US" altLang="zh-CN" sz="1200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swap</a:t>
              </a:r>
              <a:r>
                <a:rPr lang="zh-CN" altLang="en-US" sz="1200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和</a:t>
              </a:r>
              <a:r>
                <a:rPr lang="en-US" altLang="zh-CN" sz="1200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preload</a:t>
              </a:r>
              <a:r>
                <a:rPr lang="zh-CN" altLang="en-US" sz="1200" kern="0" dirty="0">
                  <a:solidFill>
                    <a:srgbClr val="1D1D1A"/>
                  </a:solidFill>
                  <a:latin typeface="微软雅黑" panose="020B0503020204020204" charset="-122"/>
                  <a:ea typeface="等线" panose="02010600030101010101" pitchFamily="2" charset="-122"/>
                </a:rPr>
                <a:t>的驱动者）</a:t>
              </a:r>
              <a:endParaRPr lang="zh-CN" altLang="en-US" sz="1200" kern="0" dirty="0">
                <a:solidFill>
                  <a:srgbClr val="1D1D1A"/>
                </a:solidFill>
                <a:latin typeface="微软雅黑" panose="020B0503020204020204" charset="-122"/>
                <a:ea typeface="等线" panose="02010600030101010101" pitchFamily="2" charset="-122"/>
              </a:endParaRPr>
            </a:p>
          </p:txBody>
        </p:sp>
        <p:cxnSp>
          <p:nvCxnSpPr>
            <p:cNvPr id="95" name="直接箭头连接符 94"/>
            <p:cNvCxnSpPr>
              <a:stCxn id="89" idx="2"/>
              <a:endCxn id="90" idx="0"/>
            </p:cNvCxnSpPr>
            <p:nvPr/>
          </p:nvCxnSpPr>
          <p:spPr>
            <a:xfrm>
              <a:off x="10770" y="3694"/>
              <a:ext cx="0" cy="275"/>
            </a:xfrm>
            <a:prstGeom prst="straightConnector1">
              <a:avLst/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96" name="直接箭头连接符 95"/>
            <p:cNvCxnSpPr>
              <a:stCxn id="90" idx="2"/>
              <a:endCxn id="91" idx="0"/>
            </p:cNvCxnSpPr>
            <p:nvPr/>
          </p:nvCxnSpPr>
          <p:spPr>
            <a:xfrm flipH="1">
              <a:off x="9930" y="4426"/>
              <a:ext cx="840" cy="432"/>
            </a:xfrm>
            <a:prstGeom prst="straightConnector1">
              <a:avLst/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97" name="直接箭头连接符 96"/>
            <p:cNvCxnSpPr>
              <a:stCxn id="90" idx="2"/>
              <a:endCxn id="94" idx="0"/>
            </p:cNvCxnSpPr>
            <p:nvPr/>
          </p:nvCxnSpPr>
          <p:spPr>
            <a:xfrm>
              <a:off x="10770" y="4426"/>
              <a:ext cx="1969" cy="435"/>
            </a:xfrm>
            <a:prstGeom prst="straightConnector1">
              <a:avLst/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98" name="连接符: 肘形 97"/>
            <p:cNvCxnSpPr>
              <a:stCxn id="91" idx="1"/>
              <a:endCxn id="92" idx="1"/>
            </p:cNvCxnSpPr>
            <p:nvPr/>
          </p:nvCxnSpPr>
          <p:spPr>
            <a:xfrm rot="10800000" flipV="1">
              <a:off x="8991" y="5205"/>
              <a:ext cx="20" cy="1224"/>
            </a:xfrm>
            <a:prstGeom prst="bentConnector3">
              <a:avLst>
                <a:gd name="adj1" fmla="val 1800000"/>
              </a:avLst>
            </a:prstGeom>
            <a:noFill/>
            <a:ln w="6350" cap="flat" cmpd="sng" algn="ctr">
              <a:solidFill>
                <a:srgbClr val="61B230">
                  <a:lumMod val="75000"/>
                </a:srgbClr>
              </a:solidFill>
              <a:prstDash val="dash"/>
              <a:miter lim="800000"/>
              <a:tailEnd type="triangle"/>
            </a:ln>
            <a:effectLst/>
          </p:spPr>
        </p:cxnSp>
        <p:cxnSp>
          <p:nvCxnSpPr>
            <p:cNvPr id="99" name="连接符: 肘形 98"/>
            <p:cNvCxnSpPr>
              <a:stCxn id="91" idx="1"/>
              <a:endCxn id="93" idx="1"/>
            </p:cNvCxnSpPr>
            <p:nvPr/>
          </p:nvCxnSpPr>
          <p:spPr>
            <a:xfrm rot="10800000" flipV="1">
              <a:off x="8991" y="5205"/>
              <a:ext cx="20" cy="2581"/>
            </a:xfrm>
            <a:prstGeom prst="bentConnector3">
              <a:avLst>
                <a:gd name="adj1" fmla="val 1800000"/>
              </a:avLst>
            </a:prstGeom>
            <a:noFill/>
            <a:ln w="6350" cap="flat" cmpd="sng" algn="ctr">
              <a:solidFill>
                <a:srgbClr val="61B230">
                  <a:lumMod val="75000"/>
                </a:srgbClr>
              </a:solidFill>
              <a:prstDash val="dash"/>
              <a:miter lim="800000"/>
              <a:tailEnd type="triangle"/>
            </a:ln>
            <a:effectLst/>
          </p:spPr>
        </p:cxnSp>
        <p:cxnSp>
          <p:nvCxnSpPr>
            <p:cNvPr id="100" name="直接箭头连接符 99"/>
            <p:cNvCxnSpPr>
              <a:stCxn id="94" idx="2"/>
              <a:endCxn id="92" idx="3"/>
            </p:cNvCxnSpPr>
            <p:nvPr/>
          </p:nvCxnSpPr>
          <p:spPr>
            <a:xfrm flipH="1">
              <a:off x="10868" y="5552"/>
              <a:ext cx="1871" cy="877"/>
            </a:xfrm>
            <a:prstGeom prst="straightConnector1">
              <a:avLst/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01" name="直接箭头连接符 100"/>
            <p:cNvCxnSpPr>
              <a:stCxn id="94" idx="2"/>
              <a:endCxn id="93" idx="3"/>
            </p:cNvCxnSpPr>
            <p:nvPr/>
          </p:nvCxnSpPr>
          <p:spPr>
            <a:xfrm flipH="1">
              <a:off x="10868" y="5552"/>
              <a:ext cx="1871" cy="2234"/>
            </a:xfrm>
            <a:prstGeom prst="straightConnector1">
              <a:avLst/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02" name="直接箭头连接符 101"/>
            <p:cNvCxnSpPr>
              <a:endCxn id="89" idx="0"/>
            </p:cNvCxnSpPr>
            <p:nvPr/>
          </p:nvCxnSpPr>
          <p:spPr>
            <a:xfrm>
              <a:off x="10770" y="2323"/>
              <a:ext cx="0" cy="913"/>
            </a:xfrm>
            <a:prstGeom prst="straightConnector1">
              <a:avLst/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03" name="直接箭头连接符 102"/>
            <p:cNvCxnSpPr>
              <a:stCxn id="94" idx="2"/>
            </p:cNvCxnSpPr>
            <p:nvPr/>
          </p:nvCxnSpPr>
          <p:spPr>
            <a:xfrm flipH="1">
              <a:off x="11080" y="5552"/>
              <a:ext cx="1659" cy="3541"/>
            </a:xfrm>
            <a:prstGeom prst="straightConnector1">
              <a:avLst/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04" name="直接箭头连接符 103"/>
            <p:cNvCxnSpPr>
              <a:stCxn id="92" idx="2"/>
              <a:endCxn id="93" idx="0"/>
            </p:cNvCxnSpPr>
            <p:nvPr/>
          </p:nvCxnSpPr>
          <p:spPr>
            <a:xfrm>
              <a:off x="9930" y="6894"/>
              <a:ext cx="0" cy="427"/>
            </a:xfrm>
            <a:prstGeom prst="straightConnector1">
              <a:avLst/>
            </a:prstGeom>
            <a:noFill/>
            <a:ln w="6350" cap="flat" cmpd="sng" algn="ctr">
              <a:solidFill>
                <a:srgbClr val="ED6D00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  <p:cxnSp>
          <p:nvCxnSpPr>
            <p:cNvPr id="105" name="直接箭头连接符 104"/>
            <p:cNvCxnSpPr>
              <a:stCxn id="93" idx="2"/>
            </p:cNvCxnSpPr>
            <p:nvPr/>
          </p:nvCxnSpPr>
          <p:spPr>
            <a:xfrm>
              <a:off x="9930" y="8251"/>
              <a:ext cx="0" cy="842"/>
            </a:xfrm>
            <a:prstGeom prst="straightConnector1">
              <a:avLst/>
            </a:prstGeom>
            <a:noFill/>
            <a:ln w="6350" cap="flat" cmpd="sng" algn="ctr">
              <a:solidFill>
                <a:srgbClr val="ED6D00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  <p:cxnSp>
          <p:nvCxnSpPr>
            <p:cNvPr id="106" name="直接箭头连接符 105"/>
            <p:cNvCxnSpPr/>
            <p:nvPr/>
          </p:nvCxnSpPr>
          <p:spPr>
            <a:xfrm>
              <a:off x="3064" y="6886"/>
              <a:ext cx="0" cy="2199"/>
            </a:xfrm>
            <a:prstGeom prst="straightConnector1">
              <a:avLst/>
            </a:prstGeom>
            <a:noFill/>
            <a:ln w="38100" cap="flat" cmpd="sng" algn="ctr">
              <a:solidFill>
                <a:srgbClr val="C00000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  <p:cxnSp>
          <p:nvCxnSpPr>
            <p:cNvPr id="107" name="直接箭头连接符 106"/>
            <p:cNvCxnSpPr/>
            <p:nvPr/>
          </p:nvCxnSpPr>
          <p:spPr>
            <a:xfrm>
              <a:off x="10770" y="6886"/>
              <a:ext cx="0" cy="2199"/>
            </a:xfrm>
            <a:prstGeom prst="straightConnector1">
              <a:avLst/>
            </a:prstGeom>
            <a:noFill/>
            <a:ln w="38100" cap="flat" cmpd="sng" algn="ctr">
              <a:solidFill>
                <a:srgbClr val="C00000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</p:grpSp>
      <p:sp>
        <p:nvSpPr>
          <p:cNvPr id="80" name="矩形 79"/>
          <p:cNvSpPr/>
          <p:nvPr/>
        </p:nvSpPr>
        <p:spPr>
          <a:xfrm>
            <a:off x="5426257" y="8137433"/>
            <a:ext cx="1763052" cy="584581"/>
          </a:xfrm>
          <a:prstGeom prst="rect">
            <a:avLst/>
          </a:prstGeom>
          <a:solidFill>
            <a:srgbClr val="FCC800">
              <a:lumMod val="20000"/>
              <a:lumOff val="80000"/>
            </a:srgbClr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 defTabSz="1219200">
              <a:defRPr/>
            </a:pPr>
            <a:r>
              <a:rPr lang="zh-CN" altLang="en-US" sz="1600" kern="0" dirty="0">
                <a:solidFill>
                  <a:srgbClr val="1D1D1A"/>
                </a:solidFill>
                <a:latin typeface="微软雅黑" panose="020B0503020204020204" charset="-122"/>
                <a:ea typeface="等线" panose="02010600030101010101" pitchFamily="2" charset="-122"/>
              </a:rPr>
              <a:t>多级</a:t>
            </a:r>
            <a:r>
              <a:rPr lang="en-US" altLang="zh-CN" sz="1600" kern="0" dirty="0">
                <a:solidFill>
                  <a:srgbClr val="1D1D1A"/>
                </a:solidFill>
                <a:latin typeface="微软雅黑" panose="020B0503020204020204" charset="-122"/>
                <a:ea typeface="等线" panose="02010600030101010101" pitchFamily="2" charset="-122"/>
              </a:rPr>
              <a:t>Cache</a:t>
            </a:r>
            <a:r>
              <a:rPr lang="zh-CN" altLang="en-US" sz="1600" kern="0" dirty="0">
                <a:solidFill>
                  <a:srgbClr val="1D1D1A"/>
                </a:solidFill>
                <a:latin typeface="微软雅黑" panose="020B0503020204020204" charset="-122"/>
                <a:ea typeface="等线" panose="02010600030101010101" pitchFamily="2" charset="-122"/>
              </a:rPr>
              <a:t>相关模块</a:t>
            </a:r>
            <a:endParaRPr lang="zh-CN" altLang="en-US" sz="1600" kern="0" dirty="0">
              <a:solidFill>
                <a:srgbClr val="1D1D1A"/>
              </a:solidFill>
              <a:latin typeface="微软雅黑" panose="020B0503020204020204" charset="-122"/>
              <a:ea typeface="等线" panose="02010600030101010101" pitchFamily="2" charset="-122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3439882" y="8230009"/>
            <a:ext cx="1763052" cy="40211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 defTabSz="1219200">
              <a:defRPr/>
            </a:pPr>
            <a:r>
              <a:rPr lang="zh-CN" altLang="en-US" sz="1600" kern="0" dirty="0">
                <a:solidFill>
                  <a:srgbClr val="1D1D1A"/>
                </a:solidFill>
                <a:latin typeface="微软雅黑" panose="020B0503020204020204" charset="-122"/>
                <a:ea typeface="等线" panose="02010600030101010101" pitchFamily="2" charset="-122"/>
              </a:rPr>
              <a:t>已有模块</a:t>
            </a:r>
            <a:endParaRPr lang="zh-CN" altLang="en-US" sz="1600" kern="0" dirty="0">
              <a:solidFill>
                <a:srgbClr val="1D1D1A"/>
              </a:solidFill>
              <a:latin typeface="微软雅黑" panose="020B0503020204020204" charset="-122"/>
              <a:ea typeface="等线" panose="02010600030101010101" pitchFamily="2" charset="-122"/>
            </a:endParaRPr>
          </a:p>
        </p:txBody>
      </p:sp>
      <p:cxnSp>
        <p:nvCxnSpPr>
          <p:cNvPr id="82" name="直接箭头连接符 81"/>
          <p:cNvCxnSpPr/>
          <p:nvPr/>
        </p:nvCxnSpPr>
        <p:spPr>
          <a:xfrm>
            <a:off x="1685006" y="9060965"/>
            <a:ext cx="972821" cy="0"/>
          </a:xfrm>
          <a:prstGeom prst="straightConnector1">
            <a:avLst/>
          </a:prstGeom>
          <a:noFill/>
          <a:ln w="6350" cap="flat" cmpd="sng" algn="ctr">
            <a:solidFill>
              <a:srgbClr val="ED6D00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83" name="文本框 82"/>
          <p:cNvSpPr txBox="1"/>
          <p:nvPr/>
        </p:nvSpPr>
        <p:spPr>
          <a:xfrm>
            <a:off x="1790266" y="8632571"/>
            <a:ext cx="93764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KV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数据流</a:t>
            </a:r>
            <a:endParaRPr kumimoji="1" lang="zh-CN" altLang="en-US" sz="1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1801538" y="7891801"/>
            <a:ext cx="93764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控制流</a:t>
            </a:r>
            <a:endParaRPr kumimoji="1" lang="zh-CN" altLang="en-US" sz="1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5" name="直接箭头连接符 84"/>
          <p:cNvCxnSpPr/>
          <p:nvPr/>
        </p:nvCxnSpPr>
        <p:spPr>
          <a:xfrm>
            <a:off x="1801538" y="8224887"/>
            <a:ext cx="712855" cy="0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5513" y="1815677"/>
            <a:ext cx="6023187" cy="4283287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1133773" y="6349068"/>
            <a:ext cx="4408233" cy="63607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NPU-NPU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双向带宽：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784GB/s per NPU</a:t>
            </a:r>
            <a:endParaRPr lang="en-US" altLang="zh-CN" sz="16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集群灵衢网络带宽：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400Gb/s per NPU</a:t>
            </a: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824567" y="5964343"/>
            <a:ext cx="1524000" cy="502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DRAM+HBM</a:t>
            </a:r>
            <a:r>
              <a:rPr lang="zh-CN" altLang="en-US" sz="1335"/>
              <a:t>池化，达成</a:t>
            </a:r>
            <a:r>
              <a:rPr lang="en-US" altLang="zh-CN" sz="1335"/>
              <a:t>RH2D/D2RH</a:t>
            </a:r>
            <a:endParaRPr lang="en-US" altLang="zh-CN" sz="1335"/>
          </a:p>
        </p:txBody>
      </p:sp>
      <p:sp>
        <p:nvSpPr>
          <p:cNvPr id="2" name="文本框 1"/>
          <p:cNvSpPr txBox="1"/>
          <p:nvPr/>
        </p:nvSpPr>
        <p:spPr>
          <a:xfrm>
            <a:off x="393700" y="265854"/>
            <a:ext cx="1012444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1218565"/>
            <a:r>
              <a:rPr lang="en-US" altLang="zh-CN" sz="3200" b="1" kern="0" dirty="0"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2.3 HiCache</a:t>
            </a:r>
            <a:endParaRPr lang="en-US" altLang="zh-CN" sz="3200" b="1" kern="0" dirty="0">
              <a:latin typeface="微软雅黑" panose="020B0503020204020204" charset="-122"/>
              <a:ea typeface="微软雅黑" panose="020B0503020204020204" charset="-122"/>
              <a:sym typeface="Wingdings" panose="05000000000000000000" pitchFamily="2" charset="2"/>
            </a:endParaRPr>
          </a:p>
        </p:txBody>
      </p:sp>
      <p:sp>
        <p:nvSpPr>
          <p:cNvPr id="7" name="Rounded Rectangle 3"/>
          <p:cNvSpPr/>
          <p:nvPr/>
        </p:nvSpPr>
        <p:spPr>
          <a:xfrm>
            <a:off x="789305" y="1051560"/>
            <a:ext cx="14678660" cy="452120"/>
          </a:xfrm>
          <a:prstGeom prst="roundRect">
            <a:avLst/>
          </a:prstGeom>
          <a:solidFill>
            <a:srgbClr val="F3F4F5"/>
          </a:solidFill>
          <a:ln w="12700">
            <a:solidFill>
              <a:srgbClr val="DE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Prefix Cache: L1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继承、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L2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适配、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L3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昇腾亲和</a:t>
            </a:r>
            <a:endParaRPr sz="20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80000"/>
                </a:srgbClr>
              </a:gs>
              <a:gs pos="60000">
                <a:srgbClr val="000000">
                  <a:alpha val="60000"/>
                </a:srgbClr>
              </a:gs>
              <a:gs pos="100000">
                <a:srgbClr val="000000">
                  <a:alpha val="4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270000" y="2095500"/>
            <a:ext cx="2540000" cy="1651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6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270000" y="3556000"/>
            <a:ext cx="1016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4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调度与负载均衡优化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270000" y="4318001"/>
            <a:ext cx="10160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请求路由与专家并行负载均衡、零开销调度及</a:t>
            </a:r>
            <a:r>
              <a:rPr lang="en-US" altLang="zh-CN" sz="2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PD</a:t>
            </a:r>
            <a:r>
              <a:rPr lang="zh-CN" altLang="en-US" sz="2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分离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300" dirty="0"/>
          </a:p>
        </p:txBody>
      </p:sp>
      <p:pic>
        <p:nvPicPr>
          <p:cNvPr id="8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845185" y="1050290"/>
            <a:ext cx="12004040" cy="843915"/>
          </a:xfrm>
          <a:prstGeom prst="roundRect">
            <a:avLst/>
          </a:prstGeom>
          <a:solidFill>
            <a:srgbClr val="F3F4F5"/>
          </a:solidFill>
          <a:ln w="12700">
            <a:solidFill>
              <a:srgbClr val="DE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61616"/>
                </a:solidFill>
                <a:latin typeface="微软雅黑" panose="020B0503020204020204" charset="-122"/>
              </a:rPr>
              <a:t>缓存感知负载均衡器 SGL-Router：根据 prefix cache 命中情况选择 worker，在扩展吞吐的同时减少重复计算。</a:t>
            </a:r>
            <a:endParaRPr b="0">
              <a:solidFill>
                <a:srgbClr val="161616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2127738"/>
            <a:ext cx="3738880" cy="509953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Round Robin 与 Cache-Aware 对比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0288" y="2708250"/>
            <a:ext cx="4389120" cy="245745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Round Robin Data Parallel (SGLang v0.3)</a:t>
            </a:r>
            <a:endParaRPr sz="1600" b="1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45312" y="3235569"/>
            <a:ext cx="1869440" cy="316523"/>
          </a:xfrm>
          <a:prstGeom prst="rect">
            <a:avLst/>
          </a:prstGeom>
          <a:solidFill>
            <a:srgbClr val="0E6782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Prefix 1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45312" y="3552092"/>
            <a:ext cx="1869440" cy="316523"/>
          </a:xfrm>
          <a:prstGeom prst="rect">
            <a:avLst/>
          </a:prstGeom>
          <a:solidFill>
            <a:srgbClr val="0E6782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Prefix 1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45312" y="3868615"/>
            <a:ext cx="1869440" cy="316523"/>
          </a:xfrm>
          <a:prstGeom prst="rect">
            <a:avLst/>
          </a:prstGeom>
          <a:solidFill>
            <a:srgbClr val="ED732F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Prefix 2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45312" y="4185138"/>
            <a:ext cx="1869440" cy="316523"/>
          </a:xfrm>
          <a:prstGeom prst="rect">
            <a:avLst/>
          </a:prstGeom>
          <a:solidFill>
            <a:srgbClr val="ED732F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Prefix 2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543808" y="3411415"/>
            <a:ext cx="1251712" cy="844061"/>
          </a:xfrm>
          <a:prstGeom prst="roundRect">
            <a:avLst/>
          </a:prstGeom>
          <a:solidFill>
            <a:srgbClr val="E9E9E9"/>
          </a:solidFill>
          <a:ln w="12700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Round</a:t>
            </a:r>
            <a:r>
              <a:rPr lang="en-US"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Robin
Router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723890" y="3418449"/>
            <a:ext cx="780288" cy="281353"/>
          </a:xfrm>
          <a:prstGeom prst="roundRect">
            <a:avLst/>
          </a:prstGeom>
          <a:solidFill>
            <a:srgbClr val="E8EAEC"/>
          </a:solidFill>
          <a:ln w="10160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723890" y="3594295"/>
            <a:ext cx="780288" cy="281353"/>
          </a:xfrm>
          <a:prstGeom prst="roundRect">
            <a:avLst/>
          </a:prstGeom>
          <a:solidFill>
            <a:srgbClr val="E8EAEC"/>
          </a:solidFill>
          <a:ln w="10160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723890" y="3770141"/>
            <a:ext cx="780288" cy="281353"/>
          </a:xfrm>
          <a:prstGeom prst="roundRect">
            <a:avLst/>
          </a:prstGeom>
          <a:solidFill>
            <a:srgbClr val="E8EAEC"/>
          </a:solidFill>
          <a:ln w="10160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593842" y="4130846"/>
            <a:ext cx="1040384" cy="245745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Workers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298944" y="3235569"/>
            <a:ext cx="1869440" cy="316523"/>
          </a:xfrm>
          <a:prstGeom prst="rect">
            <a:avLst/>
          </a:prstGeom>
          <a:solidFill>
            <a:srgbClr val="0E6782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Prefix 1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298944" y="3552092"/>
            <a:ext cx="1869440" cy="316523"/>
          </a:xfrm>
          <a:prstGeom prst="rect">
            <a:avLst/>
          </a:prstGeom>
          <a:solidFill>
            <a:srgbClr val="ED732F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Prefix 2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298944" y="3937195"/>
            <a:ext cx="1869440" cy="316523"/>
          </a:xfrm>
          <a:prstGeom prst="rect">
            <a:avLst/>
          </a:prstGeom>
          <a:solidFill>
            <a:srgbClr val="0E6782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Prefix 1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298944" y="4242288"/>
            <a:ext cx="1869440" cy="316523"/>
          </a:xfrm>
          <a:prstGeom prst="rect">
            <a:avLst/>
          </a:prstGeom>
          <a:solidFill>
            <a:srgbClr val="ED732F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Prefix 2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 flipV="1">
            <a:off x="2714752" y="3833446"/>
            <a:ext cx="829056" cy="35169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endCxn id="14" idx="1"/>
          </p:cNvCxnSpPr>
          <p:nvPr/>
        </p:nvCxnSpPr>
        <p:spPr>
          <a:xfrm>
            <a:off x="4795520" y="3692769"/>
            <a:ext cx="928370" cy="42545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endCxn id="15" idx="1"/>
          </p:cNvCxnSpPr>
          <p:nvPr/>
        </p:nvCxnSpPr>
        <p:spPr>
          <a:xfrm flipV="1">
            <a:off x="4795520" y="3911258"/>
            <a:ext cx="928370" cy="62865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60032" y="2919265"/>
            <a:ext cx="2763520" cy="245745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C7C73"/>
                </a:solidFill>
                <a:latin typeface="微软雅黑" panose="020B0503020204020204" charset="-122"/>
                <a:ea typeface="微软雅黑" panose="020B0503020204020204" charset="-122"/>
              </a:rPr>
              <a:t>Not cache aware ~20% hit</a:t>
            </a:r>
            <a:endParaRPr sz="1600" b="0">
              <a:solidFill>
                <a:srgbClr val="7C7C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731520" y="4853353"/>
            <a:ext cx="8729472" cy="0"/>
          </a:xfrm>
          <a:prstGeom prst="line">
            <a:avLst/>
          </a:prstGeom>
          <a:ln w="10160">
            <a:solidFill>
              <a:srgbClr val="7C7C7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80288" y="5117343"/>
            <a:ext cx="4551680" cy="245745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Cache Aware Data Parallel (SGLang v0.4)</a:t>
            </a:r>
            <a:endParaRPr sz="1600" b="1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45312" y="5662246"/>
            <a:ext cx="1869440" cy="316523"/>
          </a:xfrm>
          <a:prstGeom prst="rect">
            <a:avLst/>
          </a:prstGeom>
          <a:solidFill>
            <a:srgbClr val="0E6782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Prefix 1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45312" y="5978769"/>
            <a:ext cx="1869440" cy="316523"/>
          </a:xfrm>
          <a:prstGeom prst="rect">
            <a:avLst/>
          </a:prstGeom>
          <a:solidFill>
            <a:srgbClr val="0E6782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Prefix 1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45312" y="6295292"/>
            <a:ext cx="1869440" cy="316523"/>
          </a:xfrm>
          <a:prstGeom prst="rect">
            <a:avLst/>
          </a:prstGeom>
          <a:solidFill>
            <a:srgbClr val="ED732F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Prefix 2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45312" y="6611815"/>
            <a:ext cx="1869440" cy="316523"/>
          </a:xfrm>
          <a:prstGeom prst="rect">
            <a:avLst/>
          </a:prstGeom>
          <a:solidFill>
            <a:srgbClr val="ED732F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Prefix 2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3160522" y="5872382"/>
            <a:ext cx="1381760" cy="861646"/>
          </a:xfrm>
          <a:prstGeom prst="roundRect">
            <a:avLst/>
          </a:prstGeom>
          <a:solidFill>
            <a:srgbClr val="D9EBF4"/>
          </a:solidFill>
          <a:ln w="12700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Cache-Aware</a:t>
            </a:r>
            <a:r>
              <a:rPr lang="en-US"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Router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4878705" y="5890895"/>
            <a:ext cx="1059815" cy="826770"/>
          </a:xfrm>
          <a:prstGeom prst="ellipse">
            <a:avLst/>
          </a:prstGeom>
          <a:solidFill>
            <a:srgbClr val="D7D7D7"/>
          </a:solidFill>
          <a:ln w="12700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Approx.
Tree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339840" y="5969976"/>
            <a:ext cx="780288" cy="281353"/>
          </a:xfrm>
          <a:prstGeom prst="roundRect">
            <a:avLst/>
          </a:prstGeom>
          <a:solidFill>
            <a:srgbClr val="E8EAEC"/>
          </a:solidFill>
          <a:ln w="10160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339840" y="6145823"/>
            <a:ext cx="780288" cy="281353"/>
          </a:xfrm>
          <a:prstGeom prst="roundRect">
            <a:avLst/>
          </a:prstGeom>
          <a:solidFill>
            <a:srgbClr val="E8EAEC"/>
          </a:solidFill>
          <a:ln w="10160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339840" y="6321669"/>
            <a:ext cx="780288" cy="281353"/>
          </a:xfrm>
          <a:prstGeom prst="roundRect">
            <a:avLst/>
          </a:prstGeom>
          <a:solidFill>
            <a:srgbClr val="E8EAEC"/>
          </a:solidFill>
          <a:ln w="10160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209792" y="6682373"/>
            <a:ext cx="1040384" cy="245745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Workers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7468235" y="5907405"/>
            <a:ext cx="966470" cy="843915"/>
          </a:xfrm>
          <a:prstGeom prst="ellipse">
            <a:avLst/>
          </a:prstGeom>
          <a:solidFill>
            <a:srgbClr val="D5EACE"/>
          </a:solidFill>
          <a:ln w="12700">
            <a:solidFill>
              <a:srgbClr val="7C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Actual
Tree</a:t>
            </a:r>
            <a:endParaRPr sz="14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8661908" y="5662246"/>
            <a:ext cx="894080" cy="316523"/>
          </a:xfrm>
          <a:prstGeom prst="rect">
            <a:avLst/>
          </a:prstGeom>
          <a:solidFill>
            <a:srgbClr val="0E6782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Prefix 1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8661908" y="5978769"/>
            <a:ext cx="894080" cy="316523"/>
          </a:xfrm>
          <a:prstGeom prst="rect">
            <a:avLst/>
          </a:prstGeom>
          <a:solidFill>
            <a:srgbClr val="0E6782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Prefix 1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8661908" y="6409592"/>
            <a:ext cx="894080" cy="316523"/>
          </a:xfrm>
          <a:prstGeom prst="rect">
            <a:avLst/>
          </a:prstGeom>
          <a:solidFill>
            <a:srgbClr val="ED732F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Prefix 2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661908" y="6726115"/>
            <a:ext cx="894080" cy="316523"/>
          </a:xfrm>
          <a:prstGeom prst="rect">
            <a:avLst/>
          </a:prstGeom>
          <a:solidFill>
            <a:srgbClr val="ED732F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1616"/>
                </a:solidFill>
                <a:latin typeface="微软雅黑" panose="020B0503020204020204" charset="-122"/>
                <a:ea typeface="微软雅黑" panose="020B0503020204020204" charset="-122"/>
              </a:rPr>
              <a:t>Prefix 2</a:t>
            </a:r>
            <a:endParaRPr sz="1600" b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2714752" y="6295292"/>
            <a:ext cx="414655" cy="3175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14342" y="6300763"/>
            <a:ext cx="325120" cy="0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>
            <a:stCxn id="32" idx="6"/>
            <a:endCxn id="33" idx="1"/>
          </p:cNvCxnSpPr>
          <p:nvPr/>
        </p:nvCxnSpPr>
        <p:spPr>
          <a:xfrm flipV="1">
            <a:off x="5938774" y="6110898"/>
            <a:ext cx="401320" cy="193675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>
            <a:endCxn id="37" idx="2"/>
          </p:cNvCxnSpPr>
          <p:nvPr/>
        </p:nvCxnSpPr>
        <p:spPr>
          <a:xfrm>
            <a:off x="7120128" y="6294852"/>
            <a:ext cx="347980" cy="34925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434324" y="6260123"/>
            <a:ext cx="227584" cy="0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827520" y="5310773"/>
            <a:ext cx="2682240" cy="245745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EA846"/>
                </a:solidFill>
                <a:latin typeface="微软雅黑" panose="020B0503020204020204" charset="-122"/>
                <a:ea typeface="微软雅黑" panose="020B0503020204020204" charset="-122"/>
              </a:rPr>
              <a:t>Cache aware ~75% hit</a:t>
            </a:r>
            <a:endParaRPr sz="1600" b="1">
              <a:solidFill>
                <a:srgbClr val="5EA8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10070465" y="2637790"/>
            <a:ext cx="5721985" cy="44627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B8D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71328" y="2127738"/>
            <a:ext cx="3738880" cy="509953"/>
          </a:xfrm>
          <a:prstGeom prst="roundRect">
            <a:avLst/>
          </a:prstGeom>
          <a:solidFill>
            <a:srgbClr val="C90000"/>
          </a:solidFill>
          <a:ln>
            <a:solidFill>
              <a:srgbClr val="C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微软雅黑" panose="020B0503020204020204" charset="-122"/>
              </a:rPr>
              <a:t>SGL-Router 特性</a:t>
            </a:r>
            <a:endParaRPr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0452608" y="2778369"/>
            <a:ext cx="4958080" cy="4308475"/>
          </a:xfrm>
          <a:prstGeom prst="rect">
            <a:avLst/>
          </a:prstGeom>
          <a:noFill/>
        </p:spPr>
        <p:txBody>
          <a:bodyPr wrap="square" lIns="12700" tIns="0" rIns="1270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61616"/>
                </a:solidFill>
                <a:latin typeface="微软雅黑" panose="020B0503020204020204" charset="-122"/>
              </a:rPr>
              <a:t>• </a:t>
            </a:r>
            <a:r>
              <a:rPr sz="2000" b="1">
                <a:solidFill>
                  <a:srgbClr val="161616"/>
                </a:solidFill>
                <a:latin typeface="微软雅黑" panose="020B0503020204020204" charset="-122"/>
              </a:rPr>
              <a:t>多节点支持</a:t>
            </a:r>
            <a:r>
              <a:rPr sz="2000" b="0">
                <a:solidFill>
                  <a:srgbClr val="161616"/>
                </a:solidFill>
                <a:latin typeface="微软雅黑" panose="020B0503020204020204" charset="-122"/>
              </a:rPr>
              <a:t>
  在多台机器上部署 worker，由单个 router 连接分布式 worker，实现水平扩展。
• </a:t>
            </a:r>
            <a:r>
              <a:rPr sz="2000" b="1">
                <a:solidFill>
                  <a:srgbClr val="161616"/>
                </a:solidFill>
                <a:latin typeface="微软雅黑" panose="020B0503020204020204" charset="-122"/>
              </a:rPr>
              <a:t>缓存感知路由</a:t>
            </a:r>
            <a:r>
              <a:rPr sz="2000" b="0">
                <a:solidFill>
                  <a:srgbClr val="161616"/>
                </a:solidFill>
                <a:latin typeface="微软雅黑" panose="020B0503020204020204" charset="-122"/>
              </a:rPr>
              <a:t>
  将请求发送到 prefix cache 命中率更高的 worker，并兼顾负载均衡。
• </a:t>
            </a:r>
            <a:r>
              <a:rPr sz="2000" b="1">
                <a:solidFill>
                  <a:srgbClr val="161616"/>
                </a:solidFill>
                <a:latin typeface="微软雅黑" panose="020B0503020204020204" charset="-122"/>
              </a:rPr>
              <a:t>免通信设计</a:t>
            </a:r>
            <a:r>
              <a:rPr sz="2000" b="0">
                <a:solidFill>
                  <a:srgbClr val="161616"/>
                </a:solidFill>
                <a:latin typeface="微软雅黑" panose="020B0503020204020204" charset="-122"/>
              </a:rPr>
              <a:t>
  worker 无需同步完整缓存状态，使用轻量信息模拟 approximate tree。
• </a:t>
            </a:r>
            <a:r>
              <a:rPr sz="2000" b="1">
                <a:solidFill>
                  <a:srgbClr val="161616"/>
                </a:solidFill>
                <a:latin typeface="微软雅黑" panose="020B0503020204020204" charset="-122"/>
              </a:rPr>
              <a:t>高性能实现</a:t>
            </a:r>
            <a:r>
              <a:rPr sz="2000" b="0">
                <a:solidFill>
                  <a:srgbClr val="161616"/>
                </a:solidFill>
                <a:latin typeface="微软雅黑" panose="020B0503020204020204" charset="-122"/>
              </a:rPr>
              <a:t>
  内置 Rust 高并发实现，降低路由开销。</a:t>
            </a:r>
            <a:endParaRPr sz="2000" b="0">
              <a:solidFill>
                <a:srgbClr val="161616"/>
              </a:solidFill>
              <a:latin typeface="微软雅黑" panose="020B0503020204020204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940435" y="7920355"/>
            <a:ext cx="12487275" cy="906780"/>
          </a:xfrm>
          <a:prstGeom prst="roundRect">
            <a:avLst/>
          </a:prstGeom>
          <a:solidFill>
            <a:srgbClr val="F5F6F7"/>
          </a:solidFill>
          <a:ln w="10160">
            <a:solidFill>
              <a:srgbClr val="DA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40435" y="7909560"/>
            <a:ext cx="81280" cy="917575"/>
          </a:xfrm>
          <a:prstGeom prst="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89685" y="8128000"/>
            <a:ext cx="12720955" cy="492125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3333"/>
                </a:solidFill>
                <a:latin typeface="微软雅黑" panose="020B0503020204020204" charset="-122"/>
              </a:rPr>
              <a:t>• Round Robin 只按顺序分发请求，不感知各 worker 已缓存的 prefix，容易产生重复计算。
• SGL-Router 优先选择 prefix cache 命中率高的 worker，同时结合负载信息避免热点。</a:t>
            </a:r>
            <a:endParaRPr sz="16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cxnSp>
        <p:nvCxnSpPr>
          <p:cNvPr id="55" name="Connector 43"/>
          <p:cNvCxnSpPr>
            <a:endCxn id="35" idx="1"/>
          </p:cNvCxnSpPr>
          <p:nvPr/>
        </p:nvCxnSpPr>
        <p:spPr>
          <a:xfrm>
            <a:off x="5938774" y="6339498"/>
            <a:ext cx="401320" cy="123190"/>
          </a:xfrm>
          <a:prstGeom prst="line">
            <a:avLst/>
          </a:prstGeom>
          <a:ln w="12700">
            <a:solidFill>
              <a:srgbClr val="7C7C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393700" y="265854"/>
            <a:ext cx="1012444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3.1 </a:t>
            </a:r>
            <a:r>
              <a:rPr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分布式调度管理</a:t>
            </a:r>
            <a:r>
              <a:rPr lang="zh-CN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进一步提高性能</a:t>
            </a:r>
            <a:endParaRPr lang="en-US" altLang="zh-CN" sz="3200" b="1" kern="0" dirty="0">
              <a:latin typeface="微软雅黑" panose="020B0503020204020204" charset="-122"/>
              <a:ea typeface="微软雅黑" panose="020B0503020204020204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8294" y="2242820"/>
            <a:ext cx="2244513" cy="2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5233" y="4759961"/>
            <a:ext cx="6495627" cy="2322407"/>
          </a:xfrm>
          <a:prstGeom prst="rect">
            <a:avLst/>
          </a:prstGeom>
        </p:spPr>
      </p:pic>
      <p:sp>
        <p:nvSpPr>
          <p:cNvPr id="57" name="箭头: 下 56"/>
          <p:cNvSpPr/>
          <p:nvPr/>
        </p:nvSpPr>
        <p:spPr>
          <a:xfrm>
            <a:off x="10677314" y="4506807"/>
            <a:ext cx="363220" cy="35729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60" name="文本框 59"/>
          <p:cNvSpPr txBox="1"/>
          <p:nvPr/>
        </p:nvSpPr>
        <p:spPr>
          <a:xfrm>
            <a:off x="8005480" y="4782929"/>
            <a:ext cx="21962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共享专家外置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7694971" y="7541757"/>
            <a:ext cx="7367231" cy="816988"/>
          </a:xfrm>
          <a:prstGeom prst="rect">
            <a:avLst/>
          </a:prstGeom>
          <a:solidFill>
            <a:srgbClr val="E3EBED"/>
          </a:solidFill>
        </p:spPr>
        <p:txBody>
          <a:bodyPr wrap="square" lIns="120000" tIns="120000" rIns="120000" bIns="120000" rtlCol="0">
            <a:spAutoFit/>
          </a:bodyPr>
          <a:lstStyle>
            <a:defPPr>
              <a:defRPr lang="zh-CN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1" sz="1400" b="1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z="1865" dirty="0"/>
              <a:t>性能来源：</a:t>
            </a:r>
            <a:r>
              <a:rPr lang="zh-CN" altLang="en-US" sz="1865" b="0" dirty="0"/>
              <a:t>串行计算变为并行，相加融入</a:t>
            </a:r>
            <a:r>
              <a:rPr lang="en-US" altLang="zh-CN" sz="1865" b="0" dirty="0"/>
              <a:t>combine</a:t>
            </a:r>
            <a:r>
              <a:rPr lang="zh-CN" altLang="en-US" sz="1865" b="0" dirty="0"/>
              <a:t>算子</a:t>
            </a:r>
            <a:endParaRPr lang="en-US" altLang="zh-CN" sz="1865" b="0" dirty="0"/>
          </a:p>
          <a:p>
            <a:r>
              <a:rPr lang="zh-CN" altLang="en-US" sz="1865" dirty="0"/>
              <a:t>结果：</a:t>
            </a:r>
            <a:r>
              <a:rPr lang="en-US" altLang="zh-CN" sz="1865" b="0" dirty="0"/>
              <a:t> A3 DSv3 </a:t>
            </a:r>
            <a:r>
              <a:rPr lang="zh-CN" altLang="en-US" sz="1865" b="0" dirty="0"/>
              <a:t>端到端</a:t>
            </a:r>
            <a:r>
              <a:rPr lang="en-US" altLang="zh-CN" sz="1865" b="0" dirty="0"/>
              <a:t>, </a:t>
            </a:r>
            <a:r>
              <a:rPr lang="zh-CN" altLang="en-US" sz="1865" b="0" dirty="0"/>
              <a:t>静态</a:t>
            </a:r>
            <a:r>
              <a:rPr lang="en-US" altLang="zh-CN" sz="1865" b="0" dirty="0"/>
              <a:t>EPLB ~10%</a:t>
            </a:r>
            <a:r>
              <a:rPr lang="zh-CN" altLang="en-US" sz="1865" b="0" dirty="0"/>
              <a:t>提升</a:t>
            </a:r>
            <a:r>
              <a:rPr lang="en-US" altLang="zh-CN" sz="1865" b="0" dirty="0"/>
              <a:t>, </a:t>
            </a:r>
            <a:r>
              <a:rPr lang="zh-CN" altLang="en-US" sz="1865" b="0" dirty="0"/>
              <a:t>外置共享</a:t>
            </a:r>
            <a:r>
              <a:rPr lang="en-US" altLang="zh-CN" sz="1865" b="0" dirty="0"/>
              <a:t>~4%</a:t>
            </a:r>
            <a:r>
              <a:rPr lang="zh-CN" altLang="en-US" sz="1865" b="0" dirty="0"/>
              <a:t>提升</a:t>
            </a:r>
            <a:endParaRPr lang="zh-CN" altLang="en-US" sz="1865" b="0" dirty="0"/>
          </a:p>
        </p:txBody>
      </p:sp>
      <p:grpSp>
        <p:nvGrpSpPr>
          <p:cNvPr id="3" name="组合 2"/>
          <p:cNvGrpSpPr/>
          <p:nvPr/>
        </p:nvGrpSpPr>
        <p:grpSpPr>
          <a:xfrm>
            <a:off x="301414" y="1363134"/>
            <a:ext cx="7288953" cy="6910493"/>
            <a:chOff x="356" y="1610"/>
            <a:chExt cx="8609" cy="8162"/>
          </a:xfrm>
        </p:grpSpPr>
        <p:sp>
          <p:nvSpPr>
            <p:cNvPr id="13" name="矩形: 圆角 12"/>
            <p:cNvSpPr/>
            <p:nvPr/>
          </p:nvSpPr>
          <p:spPr>
            <a:xfrm>
              <a:off x="1993" y="4661"/>
              <a:ext cx="5706" cy="3463"/>
            </a:xfrm>
            <a:prstGeom prst="roundRect">
              <a:avLst>
                <a:gd name="adj" fmla="val 7846"/>
              </a:avLst>
            </a:prstGeom>
            <a:solidFill>
              <a:schemeClr val="tx1">
                <a:lumMod val="10000"/>
                <a:lumOff val="90000"/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>
                <a:defRPr/>
              </a:pPr>
              <a:endParaRPr lang="zh-CN" altLang="en-US" sz="240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4281" y="4854"/>
              <a:ext cx="1147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200">
                <a:defRPr/>
              </a:pPr>
              <a:r>
                <a:rPr lang="en-US" altLang="zh-CN" sz="1400" dirty="0">
                  <a:solidFill>
                    <a:srgbClr val="282828"/>
                  </a:solidFill>
                  <a:latin typeface="Arial" panose="020B0604020202020204"/>
                  <a:ea typeface="微软雅黑" panose="020B0503020204020204" charset="-122"/>
                </a:rPr>
                <a:t>allreduce</a:t>
              </a:r>
              <a:endParaRPr lang="en-US" altLang="zh-CN" sz="1200" dirty="0">
                <a:solidFill>
                  <a:srgbClr val="282828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15" name="右大括号 14"/>
            <p:cNvSpPr/>
            <p:nvPr/>
          </p:nvSpPr>
          <p:spPr>
            <a:xfrm rot="10800000">
              <a:off x="1575" y="4661"/>
              <a:ext cx="187" cy="3463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1219200">
                <a:defRPr/>
              </a:pPr>
              <a:endParaRPr lang="zh-CN" altLang="en-US" sz="2400">
                <a:solidFill>
                  <a:srgbClr val="1D1D1A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704" y="1610"/>
              <a:ext cx="1276" cy="4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200">
                <a:defRPr/>
              </a:pPr>
              <a:r>
                <a:rPr lang="en-US" altLang="zh-CN" sz="1600" dirty="0">
                  <a:solidFill>
                    <a:srgbClr val="282828"/>
                  </a:solidFill>
                  <a:latin typeface="Arial" panose="020B0604020202020204"/>
                  <a:ea typeface="微软雅黑" panose="020B0503020204020204" charset="-122"/>
                </a:rPr>
                <a:t>Worker0</a:t>
              </a:r>
              <a:endParaRPr lang="en-US" altLang="zh-CN" sz="1600" dirty="0">
                <a:solidFill>
                  <a:srgbClr val="282828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17" name="Google Shape;141;p30"/>
            <p:cNvSpPr/>
            <p:nvPr/>
          </p:nvSpPr>
          <p:spPr>
            <a:xfrm>
              <a:off x="5742" y="4746"/>
              <a:ext cx="1495" cy="612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10000"/>
                <a:lumOff val="90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200">
                <a:buClr>
                  <a:srgbClr val="000000"/>
                </a:buClr>
                <a:buSzPts val="1200"/>
                <a:defRPr/>
              </a:pPr>
              <a:r>
                <a:rPr lang="zh-CN" altLang="en-US" sz="1400" dirty="0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rPr>
                <a:t>热度聚合</a:t>
              </a:r>
              <a:endParaRPr lang="en-US" altLang="zh-CN" sz="140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Google Shape;141;p30"/>
            <p:cNvSpPr/>
            <p:nvPr/>
          </p:nvSpPr>
          <p:spPr>
            <a:xfrm>
              <a:off x="5715" y="2165"/>
              <a:ext cx="1498" cy="593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200">
                <a:buClr>
                  <a:srgbClr val="000000"/>
                </a:buClr>
                <a:buSzPts val="1200"/>
                <a:defRPr/>
              </a:pPr>
              <a:r>
                <a:rPr lang="en-US" altLang="zh-CN" sz="1400" dirty="0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rPr>
                <a:t>Decode 1</a:t>
              </a:r>
              <a:endParaRPr lang="en-US" altLang="zh-CN" sz="140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Google Shape;141;p30"/>
            <p:cNvSpPr/>
            <p:nvPr/>
          </p:nvSpPr>
          <p:spPr>
            <a:xfrm>
              <a:off x="5718" y="3038"/>
              <a:ext cx="1498" cy="593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200">
                <a:buClr>
                  <a:srgbClr val="000000"/>
                </a:buClr>
                <a:buSzPts val="1200"/>
                <a:defRPr/>
              </a:pPr>
              <a:r>
                <a:rPr lang="en-US" altLang="zh-CN" sz="1400" dirty="0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rPr>
                <a:t>Decode 2</a:t>
              </a:r>
              <a:endParaRPr lang="en-US" altLang="zh-CN" sz="140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Google Shape;141;p30"/>
            <p:cNvSpPr/>
            <p:nvPr/>
          </p:nvSpPr>
          <p:spPr>
            <a:xfrm>
              <a:off x="5718" y="3912"/>
              <a:ext cx="1498" cy="593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200">
                <a:buClr>
                  <a:srgbClr val="000000"/>
                </a:buClr>
                <a:buSzPts val="1200"/>
                <a:defRPr/>
              </a:pPr>
              <a:r>
                <a:rPr lang="en-US" altLang="zh-CN" sz="1400" dirty="0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rPr>
                <a:t>Decode N</a:t>
              </a:r>
              <a:endParaRPr lang="en-US" altLang="zh-CN" sz="140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Google Shape;141;p30"/>
            <p:cNvSpPr/>
            <p:nvPr/>
          </p:nvSpPr>
          <p:spPr>
            <a:xfrm>
              <a:off x="5741" y="5649"/>
              <a:ext cx="1495" cy="612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10000"/>
                <a:lumOff val="90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200">
                <a:buClr>
                  <a:srgbClr val="000000"/>
                </a:buClr>
                <a:buSzPts val="1200"/>
                <a:defRPr/>
              </a:pPr>
              <a:r>
                <a:rPr lang="en-US" altLang="zh-CN" sz="1400" dirty="0" err="1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rPr>
                <a:t>Eplb</a:t>
              </a:r>
              <a:r>
                <a:rPr lang="zh-CN" altLang="en-US" sz="1400" dirty="0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rPr>
                <a:t>算法</a:t>
              </a:r>
              <a:endParaRPr lang="en-US" altLang="zh-CN" sz="140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" name="Google Shape;141;p30"/>
            <p:cNvSpPr/>
            <p:nvPr/>
          </p:nvSpPr>
          <p:spPr>
            <a:xfrm>
              <a:off x="5715" y="8248"/>
              <a:ext cx="1637" cy="632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200">
                <a:buClr>
                  <a:srgbClr val="000000"/>
                </a:buClr>
                <a:buSzPts val="1200"/>
                <a:defRPr/>
              </a:pPr>
              <a:r>
                <a:rPr lang="en-US" altLang="zh-CN" sz="1400" dirty="0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rPr>
                <a:t>Decode N+1</a:t>
              </a:r>
              <a:endParaRPr lang="en-US" altLang="zh-CN" sz="140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Google Shape;141;p30"/>
            <p:cNvSpPr/>
            <p:nvPr/>
          </p:nvSpPr>
          <p:spPr>
            <a:xfrm>
              <a:off x="5741" y="6516"/>
              <a:ext cx="1495" cy="612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10000"/>
                <a:lumOff val="90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200">
                <a:buClr>
                  <a:srgbClr val="000000"/>
                </a:buClr>
                <a:buSzPts val="1200"/>
                <a:defRPr/>
              </a:pPr>
              <a:r>
                <a:rPr lang="en-US" altLang="zh-CN" sz="1400" dirty="0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rPr>
                <a:t>p2p</a:t>
              </a:r>
              <a:r>
                <a:rPr lang="zh-CN" altLang="en-US" sz="1400" dirty="0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rPr>
                <a:t>传输</a:t>
              </a:r>
              <a:endParaRPr lang="en-US" altLang="zh-CN" sz="140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Google Shape;141;p30"/>
            <p:cNvSpPr/>
            <p:nvPr/>
          </p:nvSpPr>
          <p:spPr>
            <a:xfrm>
              <a:off x="5725" y="7361"/>
              <a:ext cx="1495" cy="612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10000"/>
                <a:lumOff val="90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200">
                <a:buClr>
                  <a:srgbClr val="000000"/>
                </a:buClr>
                <a:buSzPts val="1200"/>
                <a:defRPr/>
              </a:pPr>
              <a:r>
                <a:rPr lang="zh-CN" altLang="en-US" sz="1400" dirty="0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rPr>
                <a:t>更新权重</a:t>
              </a:r>
              <a:endParaRPr lang="en-US" altLang="zh-CN" sz="140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5785" y="1628"/>
              <a:ext cx="1407" cy="4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200">
                <a:defRPr/>
              </a:pPr>
              <a:r>
                <a:rPr lang="en-US" altLang="zh-CN" sz="1600" dirty="0">
                  <a:solidFill>
                    <a:srgbClr val="282828"/>
                  </a:solidFill>
                  <a:latin typeface="Arial" panose="020B0604020202020204"/>
                  <a:ea typeface="微软雅黑" panose="020B0503020204020204" charset="-122"/>
                </a:rPr>
                <a:t>WorkerN</a:t>
              </a:r>
              <a:endParaRPr lang="en-US" altLang="zh-CN" sz="1600" dirty="0">
                <a:solidFill>
                  <a:srgbClr val="282828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  <p:cxnSp>
          <p:nvCxnSpPr>
            <p:cNvPr id="26" name="直接箭头连接符 25"/>
            <p:cNvCxnSpPr/>
            <p:nvPr/>
          </p:nvCxnSpPr>
          <p:spPr>
            <a:xfrm flipH="1">
              <a:off x="3949" y="5076"/>
              <a:ext cx="67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/>
            <p:nvPr/>
          </p:nvCxnSpPr>
          <p:spPr>
            <a:xfrm>
              <a:off x="5013" y="5069"/>
              <a:ext cx="696" cy="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>
              <a:stCxn id="17" idx="2"/>
              <a:endCxn id="21" idx="0"/>
            </p:cNvCxnSpPr>
            <p:nvPr/>
          </p:nvCxnSpPr>
          <p:spPr>
            <a:xfrm flipH="1">
              <a:off x="6488" y="5359"/>
              <a:ext cx="1" cy="2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/>
            <p:nvPr/>
          </p:nvCxnSpPr>
          <p:spPr>
            <a:xfrm flipH="1">
              <a:off x="6513" y="6267"/>
              <a:ext cx="1" cy="2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/>
            <p:cNvCxnSpPr/>
            <p:nvPr/>
          </p:nvCxnSpPr>
          <p:spPr>
            <a:xfrm flipH="1">
              <a:off x="6508" y="7128"/>
              <a:ext cx="1" cy="2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/>
            <p:nvPr/>
          </p:nvCxnSpPr>
          <p:spPr>
            <a:xfrm flipH="1">
              <a:off x="6514" y="7937"/>
              <a:ext cx="1" cy="2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/>
            <p:nvPr/>
          </p:nvCxnSpPr>
          <p:spPr>
            <a:xfrm flipH="1">
              <a:off x="6484" y="4478"/>
              <a:ext cx="1" cy="2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/>
            <p:nvPr/>
          </p:nvCxnSpPr>
          <p:spPr>
            <a:xfrm flipH="1">
              <a:off x="6460" y="3621"/>
              <a:ext cx="1" cy="2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/>
            <p:cNvCxnSpPr/>
            <p:nvPr/>
          </p:nvCxnSpPr>
          <p:spPr>
            <a:xfrm flipH="1">
              <a:off x="6460" y="2739"/>
              <a:ext cx="1" cy="2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Google Shape;141;p30"/>
            <p:cNvSpPr/>
            <p:nvPr/>
          </p:nvSpPr>
          <p:spPr>
            <a:xfrm>
              <a:off x="2473" y="4784"/>
              <a:ext cx="1495" cy="612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10000"/>
                <a:lumOff val="90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200">
                <a:buClr>
                  <a:srgbClr val="000000"/>
                </a:buClr>
                <a:buSzPts val="1200"/>
                <a:defRPr/>
              </a:pPr>
              <a:r>
                <a:rPr lang="zh-CN" altLang="en-US" sz="1400" dirty="0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rPr>
                <a:t>热度聚合</a:t>
              </a:r>
              <a:endParaRPr lang="en-US" altLang="zh-CN" sz="140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6" name="Google Shape;141;p30"/>
            <p:cNvSpPr/>
            <p:nvPr/>
          </p:nvSpPr>
          <p:spPr>
            <a:xfrm>
              <a:off x="2446" y="2203"/>
              <a:ext cx="1498" cy="593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200">
                <a:buClr>
                  <a:srgbClr val="000000"/>
                </a:buClr>
                <a:buSzPts val="1200"/>
                <a:defRPr/>
              </a:pPr>
              <a:r>
                <a:rPr lang="en-US" altLang="zh-CN" sz="1400" dirty="0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rPr>
                <a:t>Decode 1</a:t>
              </a:r>
              <a:endParaRPr lang="en-US" altLang="zh-CN" sz="140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7" name="Google Shape;141;p30"/>
            <p:cNvSpPr/>
            <p:nvPr/>
          </p:nvSpPr>
          <p:spPr>
            <a:xfrm>
              <a:off x="2449" y="3076"/>
              <a:ext cx="1498" cy="593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200">
                <a:buClr>
                  <a:srgbClr val="000000"/>
                </a:buClr>
                <a:buSzPts val="1200"/>
                <a:defRPr/>
              </a:pPr>
              <a:r>
                <a:rPr lang="en-US" altLang="zh-CN" sz="1400" dirty="0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rPr>
                <a:t>Decode 2</a:t>
              </a:r>
              <a:endParaRPr lang="en-US" altLang="zh-CN" sz="140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8" name="Google Shape;141;p30"/>
            <p:cNvSpPr/>
            <p:nvPr/>
          </p:nvSpPr>
          <p:spPr>
            <a:xfrm>
              <a:off x="2449" y="3950"/>
              <a:ext cx="1498" cy="593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200">
                <a:buClr>
                  <a:srgbClr val="000000"/>
                </a:buClr>
                <a:buSzPts val="1200"/>
                <a:defRPr/>
              </a:pPr>
              <a:r>
                <a:rPr lang="en-US" altLang="zh-CN" sz="1400" dirty="0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rPr>
                <a:t>Decode N</a:t>
              </a:r>
              <a:endParaRPr lang="en-US" altLang="zh-CN" sz="140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9" name="Google Shape;141;p30"/>
            <p:cNvSpPr/>
            <p:nvPr/>
          </p:nvSpPr>
          <p:spPr>
            <a:xfrm>
              <a:off x="2473" y="5687"/>
              <a:ext cx="1495" cy="612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10000"/>
                <a:lumOff val="90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200">
                <a:buClr>
                  <a:srgbClr val="000000"/>
                </a:buClr>
                <a:buSzPts val="1200"/>
                <a:defRPr/>
              </a:pPr>
              <a:r>
                <a:rPr lang="en-US" altLang="zh-CN" sz="1400" dirty="0" err="1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rPr>
                <a:t>Eplb</a:t>
              </a:r>
              <a:r>
                <a:rPr lang="zh-CN" altLang="en-US" sz="1400" dirty="0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rPr>
                <a:t>算法</a:t>
              </a:r>
              <a:endParaRPr lang="en-US" altLang="zh-CN" sz="140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Google Shape;141;p30"/>
            <p:cNvSpPr/>
            <p:nvPr/>
          </p:nvSpPr>
          <p:spPr>
            <a:xfrm>
              <a:off x="2446" y="8286"/>
              <a:ext cx="1637" cy="632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200">
                <a:buClr>
                  <a:srgbClr val="000000"/>
                </a:buClr>
                <a:buSzPts val="1200"/>
                <a:defRPr/>
              </a:pPr>
              <a:r>
                <a:rPr lang="en-US" altLang="zh-CN" sz="1400" dirty="0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rPr>
                <a:t>Decode N+1</a:t>
              </a:r>
              <a:endParaRPr lang="en-US" altLang="zh-CN" sz="140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" name="Google Shape;141;p30"/>
            <p:cNvSpPr/>
            <p:nvPr/>
          </p:nvSpPr>
          <p:spPr>
            <a:xfrm>
              <a:off x="2473" y="6554"/>
              <a:ext cx="1495" cy="612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10000"/>
                <a:lumOff val="90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200">
                <a:buClr>
                  <a:srgbClr val="000000"/>
                </a:buClr>
                <a:buSzPts val="1200"/>
                <a:defRPr/>
              </a:pPr>
              <a:r>
                <a:rPr lang="en-US" altLang="zh-CN" sz="1400" dirty="0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rPr>
                <a:t>p2p</a:t>
              </a:r>
              <a:r>
                <a:rPr lang="zh-CN" altLang="en-US" sz="1400" dirty="0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rPr>
                <a:t>传输</a:t>
              </a:r>
              <a:endParaRPr lang="en-US" altLang="zh-CN" sz="140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2" name="Google Shape;141;p30"/>
            <p:cNvSpPr/>
            <p:nvPr/>
          </p:nvSpPr>
          <p:spPr>
            <a:xfrm>
              <a:off x="2456" y="7399"/>
              <a:ext cx="1495" cy="612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10000"/>
                <a:lumOff val="90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200">
                <a:buClr>
                  <a:srgbClr val="000000"/>
                </a:buClr>
                <a:buSzPts val="1200"/>
                <a:defRPr/>
              </a:pPr>
              <a:r>
                <a:rPr lang="zh-CN" altLang="en-US" sz="1400" dirty="0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rPr>
                <a:t>更新权重</a:t>
              </a:r>
              <a:endParaRPr lang="en-US" altLang="zh-CN" sz="1400" dirty="0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43" name="直接箭头连接符 42"/>
            <p:cNvCxnSpPr>
              <a:stCxn id="35" idx="2"/>
              <a:endCxn id="39" idx="0"/>
            </p:cNvCxnSpPr>
            <p:nvPr/>
          </p:nvCxnSpPr>
          <p:spPr>
            <a:xfrm flipH="1">
              <a:off x="3220" y="5397"/>
              <a:ext cx="1" cy="2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/>
            <p:cNvCxnSpPr/>
            <p:nvPr/>
          </p:nvCxnSpPr>
          <p:spPr>
            <a:xfrm flipH="1">
              <a:off x="3245" y="6305"/>
              <a:ext cx="1" cy="2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/>
            <p:cNvCxnSpPr/>
            <p:nvPr/>
          </p:nvCxnSpPr>
          <p:spPr>
            <a:xfrm flipH="1">
              <a:off x="3240" y="7166"/>
              <a:ext cx="1" cy="2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/>
            <p:cNvCxnSpPr/>
            <p:nvPr/>
          </p:nvCxnSpPr>
          <p:spPr>
            <a:xfrm flipH="1">
              <a:off x="3246" y="7975"/>
              <a:ext cx="1" cy="2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/>
            <p:nvPr/>
          </p:nvCxnSpPr>
          <p:spPr>
            <a:xfrm flipH="1">
              <a:off x="3216" y="4516"/>
              <a:ext cx="1" cy="2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/>
            <p:cNvCxnSpPr/>
            <p:nvPr/>
          </p:nvCxnSpPr>
          <p:spPr>
            <a:xfrm flipH="1">
              <a:off x="3192" y="3659"/>
              <a:ext cx="1" cy="2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/>
            <p:cNvCxnSpPr/>
            <p:nvPr/>
          </p:nvCxnSpPr>
          <p:spPr>
            <a:xfrm flipH="1">
              <a:off x="3191" y="2777"/>
              <a:ext cx="1" cy="2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/>
            <p:cNvCxnSpPr/>
            <p:nvPr/>
          </p:nvCxnSpPr>
          <p:spPr>
            <a:xfrm>
              <a:off x="4083" y="6753"/>
              <a:ext cx="1582" cy="21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箭头连接符 50"/>
            <p:cNvCxnSpPr/>
            <p:nvPr/>
          </p:nvCxnSpPr>
          <p:spPr>
            <a:xfrm flipH="1">
              <a:off x="4083" y="6753"/>
              <a:ext cx="1626" cy="21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文本框 51"/>
            <p:cNvSpPr txBox="1"/>
            <p:nvPr/>
          </p:nvSpPr>
          <p:spPr>
            <a:xfrm>
              <a:off x="3864" y="6327"/>
              <a:ext cx="2031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200">
                <a:defRPr/>
              </a:pPr>
              <a:r>
                <a:rPr lang="en-US" altLang="zh-CN" sz="1400" dirty="0">
                  <a:solidFill>
                    <a:srgbClr val="282828"/>
                  </a:solidFill>
                  <a:latin typeface="Arial" panose="020B0604020202020204"/>
                  <a:ea typeface="微软雅黑" panose="020B0503020204020204" charset="-122"/>
                </a:rPr>
                <a:t>batch_isend_irecv</a:t>
              </a:r>
              <a:endParaRPr lang="en-US" altLang="zh-CN" sz="1200" dirty="0">
                <a:solidFill>
                  <a:srgbClr val="282828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356" y="5703"/>
              <a:ext cx="820" cy="12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STOP</a:t>
              </a:r>
              <a:endParaRPr lang="en-US" altLang="zh-CN" sz="1600" dirty="0"/>
            </a:p>
            <a:p>
              <a:r>
                <a:rPr lang="en-US" altLang="zh-CN" sz="1600" dirty="0"/>
                <a:t>The </a:t>
              </a:r>
              <a:endParaRPr lang="en-US" altLang="zh-CN" sz="1600" dirty="0"/>
            </a:p>
            <a:p>
              <a:r>
                <a:rPr lang="en-US" altLang="zh-CN" sz="1600" dirty="0"/>
                <a:t>World</a:t>
              </a:r>
              <a:endParaRPr lang="en-US" altLang="zh-CN" sz="1600" dirty="0"/>
            </a:p>
            <a:p>
              <a:r>
                <a:rPr lang="en-US" altLang="zh-CN" sz="1600" dirty="0"/>
                <a:t>EPLB</a:t>
              </a:r>
              <a:endParaRPr lang="zh-CN" altLang="en-US" sz="1600" dirty="0"/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727" y="9146"/>
              <a:ext cx="8238" cy="626"/>
            </a:xfrm>
            <a:prstGeom prst="rect">
              <a:avLst/>
            </a:prstGeom>
            <a:solidFill>
              <a:srgbClr val="E3EBED"/>
            </a:solidFill>
          </p:spPr>
          <p:txBody>
            <a:bodyPr wrap="square" lIns="120000" tIns="120000" rIns="120000" bIns="120000" rtlCol="0">
              <a:spAutoFit/>
            </a:bodyPr>
            <a:lstStyle>
              <a:defPPr>
                <a:defRPr lang="zh-CN"/>
              </a:defPPr>
              <a:lvl1pPr marR="0" lvl="0" indent="0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1400" b="1" i="0" u="none" strike="noStrike" kern="0" cap="none" spc="0" normalizeH="0" baseline="0">
                  <a:ln>
                    <a:noFill/>
                  </a:ln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r>
                <a:rPr lang="zh-CN" altLang="en-US" sz="1865" b="0" dirty="0"/>
                <a:t>动态</a:t>
              </a:r>
              <a:r>
                <a:rPr lang="en-US" altLang="zh-CN" sz="1865" b="0" dirty="0"/>
                <a:t>EPLB</a:t>
              </a:r>
              <a:r>
                <a:rPr lang="zh-CN" altLang="en-US" sz="1865" b="0" dirty="0"/>
                <a:t>热度数据在卡侧占用</a:t>
              </a:r>
              <a:r>
                <a:rPr lang="en-US" altLang="zh-CN" sz="1865" b="0" dirty="0"/>
                <a:t>HBM, stop the world 1~2s</a:t>
              </a:r>
              <a:endParaRPr lang="zh-CN" altLang="en-US" sz="1865" b="0" dirty="0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393700" y="265854"/>
            <a:ext cx="1012444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3.2 EPLB: 静动态均衡、共享专家外置</a:t>
            </a:r>
            <a:endParaRPr lang="en-US" altLang="zh-CN" sz="3200" b="1" kern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3334" y="262467"/>
            <a:ext cx="1270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3.3 Zero-Overhead schedule 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12</a:t>
            </a:r>
            <a:endParaRPr lang="en-US" sz="1300" dirty="0"/>
          </a:p>
        </p:txBody>
      </p:sp>
      <p:pic>
        <p:nvPicPr>
          <p:cNvPr id="14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825500" y="987590"/>
            <a:ext cx="14910314" cy="2346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SGLang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框架的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Scheduler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循环主要分为如下四阶段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Pre Schedule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：接收请求、组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Batch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、分配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KV cache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等资源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Compute batch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：将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Batch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发送到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Device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上进行推理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Sample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：根据模型输出的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Logit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进行采样，生成下一步的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Token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Post Schedule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：动态检查请求是否满足结束条件，将已完成请求在当前批次中移除，并送入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Detokenizer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处理，返回给前端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6" name="表格 18"/>
          <p:cNvGraphicFramePr>
            <a:graphicFrameLocks noGrp="1"/>
          </p:cNvGraphicFramePr>
          <p:nvPr/>
        </p:nvGraphicFramePr>
        <p:xfrm>
          <a:off x="1589866" y="4315727"/>
          <a:ext cx="5023877" cy="24722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78372"/>
                <a:gridCol w="2345505"/>
              </a:tblGrid>
              <a:tr h="49445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2000" kern="1200" dirty="0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阶段</a:t>
                      </a:r>
                      <a:endParaRPr lang="zh-CN" altLang="en-US" sz="2000" kern="1200" dirty="0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2000" kern="1200" dirty="0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处理设备</a:t>
                      </a:r>
                      <a:endParaRPr lang="zh-CN" altLang="en-US" sz="2000" kern="1200" dirty="0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445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Pre Schedule</a:t>
                      </a:r>
                      <a:endParaRPr lang="zh-CN" altLang="en-US" sz="2000" kern="1200" dirty="0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HOST</a:t>
                      </a:r>
                      <a:endParaRPr lang="zh-CN" altLang="en-US" sz="2000" kern="1200" dirty="0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445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Compute batch</a:t>
                      </a:r>
                      <a:endParaRPr lang="zh-CN" altLang="en-US" sz="2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DEVICE</a:t>
                      </a:r>
                      <a:endParaRPr lang="zh-CN" altLang="en-US" sz="2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445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Sample</a:t>
                      </a:r>
                      <a:endParaRPr lang="zh-CN" altLang="en-US" sz="2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DEVICE</a:t>
                      </a:r>
                      <a:endParaRPr lang="zh-CN" altLang="en-US" sz="2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445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Post Schedule</a:t>
                      </a:r>
                      <a:endParaRPr lang="zh-CN" altLang="en-US" sz="2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HOST</a:t>
                      </a:r>
                      <a:endParaRPr lang="zh-CN" altLang="en-US" sz="2000" kern="1200" dirty="0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3304554"/>
            <a:ext cx="7804641" cy="449461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3334" y="262467"/>
            <a:ext cx="1270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3.3 Zero-Overhead schedule 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12</a:t>
            </a:r>
            <a:endParaRPr lang="en-US" sz="1300" dirty="0"/>
          </a:p>
        </p:txBody>
      </p:sp>
      <p:pic>
        <p:nvPicPr>
          <p:cNvPr id="14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/>
          <a:srcRect l="4616" t="5893" r="8682"/>
          <a:stretch>
            <a:fillRect/>
          </a:stretch>
        </p:blipFill>
        <p:spPr>
          <a:xfrm>
            <a:off x="826043" y="1790701"/>
            <a:ext cx="6478405" cy="419117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8701" y="1199538"/>
            <a:ext cx="6676699" cy="5344151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259248" y="5885822"/>
            <a:ext cx="6045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i="1" dirty="0">
                <a:solidFill>
                  <a:srgbClr val="B2B2B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Source</a:t>
            </a:r>
            <a:r>
              <a:rPr lang="zh-CN" altLang="en-US" sz="1600" i="1" dirty="0">
                <a:solidFill>
                  <a:srgbClr val="B2B2B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：</a:t>
            </a:r>
            <a:r>
              <a:rPr lang="en-US" altLang="zh-CN" sz="1600" i="1" dirty="0">
                <a:solidFill>
                  <a:srgbClr val="B2B2B2"/>
                </a:solidFill>
                <a:latin typeface="Arial" panose="020B0604020202020204" pitchFamily="34" charset="0"/>
                <a:ea typeface="黑体" panose="02010609060101010101" pitchFamily="49" charset="-122"/>
                <a:hlinkClick r:id="rId4"/>
              </a:rPr>
              <a:t>https://mlsys.wuklab.io/posts/scheduling_overhead/</a:t>
            </a:r>
            <a:endParaRPr lang="en-US" altLang="zh-CN" sz="1600" i="1" dirty="0">
              <a:solidFill>
                <a:srgbClr val="B2B2B2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259248" y="6764224"/>
            <a:ext cx="10466027" cy="8747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81000" indent="-381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Scheduling overhead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已经成为端到端推理时延的重要组成部分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81000" indent="-381000">
              <a:lnSpc>
                <a:spcPts val="2665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Scheduling overhead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的主要来源并非调度决策本身，而是其伴随的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CPU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数据处理过程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824527" y="873606"/>
            <a:ext cx="49011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vLLM v0.5.4 with Llama-8B on A6000 (1024:1024)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3334" y="262467"/>
            <a:ext cx="1270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3.3 Zero-Overhead schedule 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12</a:t>
            </a:r>
            <a:endParaRPr lang="en-US" sz="1300" dirty="0"/>
          </a:p>
        </p:txBody>
      </p:sp>
      <p:pic>
        <p:nvPicPr>
          <p:cNvPr id="14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917093" y="4805129"/>
            <a:ext cx="14891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双流并行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1066800" lvl="1" indent="-4572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schedule_stream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：包裹整个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schedule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事件循环，包含所有调度相关的操作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1066800" lvl="1" indent="-4572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forward_stream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：专门用于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Device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前向计算，与默认流并行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future_map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延迟绑定：管理异步计算结果，使用负索引作为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future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标识符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063" y="2088194"/>
            <a:ext cx="14891873" cy="2440768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917092" y="1112412"/>
            <a:ext cx="14421813" cy="771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65"/>
              </a:lnSpc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核心思想：通过 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Stream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并行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和 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Future Map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延迟绑定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机制，将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CPU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侧调度与后处理的开销，隐藏在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Device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侧计算窗口内，从而达到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CPU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调度与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Device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计算流水化重叠执行，降低端到端时延的目的。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17093" y="6427784"/>
            <a:ext cx="1511348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关键依赖分析：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990600" lvl="1" indent="-381000"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forward_stream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视角，只要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batch-1 sample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后，下一个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batch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拿到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next token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，就可以执行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compute batch-2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990600" lvl="1" indent="-381000"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schedule_stream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视角，做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batch2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的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pre schedule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的时候其实并不用知道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batch1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的实际生成的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next token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990600" lvl="1" indent="-381000"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</a:rPr>
              <a:t>future_map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可以理解为一块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buffer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，通过负索引占位让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pre-schedule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正常执行，并且由上一个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batch sample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结束后覆盖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3334" y="262467"/>
            <a:ext cx="1270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3.3 Zero-Overhead schedule 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12</a:t>
            </a:r>
            <a:endParaRPr lang="en-US" sz="1300" dirty="0"/>
          </a:p>
        </p:txBody>
      </p:sp>
      <p:pic>
        <p:nvPicPr>
          <p:cNvPr id="14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052" y="1572280"/>
            <a:ext cx="9046295" cy="278972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193" y="4888221"/>
            <a:ext cx="6313284" cy="3065545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652977" y="1213133"/>
            <a:ext cx="14340447" cy="322638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9" name="矩形 18"/>
          <p:cNvSpPr/>
          <p:nvPr/>
        </p:nvSpPr>
        <p:spPr>
          <a:xfrm>
            <a:off x="652978" y="4616550"/>
            <a:ext cx="14340447" cy="3591339"/>
          </a:xfrm>
          <a:prstGeom prst="rect">
            <a:avLst/>
          </a:prstGeom>
          <a:noFill/>
          <a:ln w="19050">
            <a:solidFill>
              <a:srgbClr val="20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0" name="文本框 19"/>
          <p:cNvSpPr txBox="1"/>
          <p:nvPr/>
        </p:nvSpPr>
        <p:spPr>
          <a:xfrm>
            <a:off x="668788" y="1281477"/>
            <a:ext cx="1093338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Case-1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68787" y="4623004"/>
            <a:ext cx="1960673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Case-2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215457" y="6000001"/>
            <a:ext cx="6424534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相较于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v0.3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SGLang v0.4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在使能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Zero-Overhead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调度特性后，实现了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1.1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倍的吞吐量提升。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022870" y="7699951"/>
            <a:ext cx="3878127" cy="478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65" dirty="0"/>
              <a:t>1.1x speedup against 0.3 &amp; 1.3x SOTA</a:t>
            </a:r>
            <a:endParaRPr lang="zh-CN" altLang="en-US" sz="1865" dirty="0"/>
          </a:p>
        </p:txBody>
      </p:sp>
      <p:sp>
        <p:nvSpPr>
          <p:cNvPr id="25" name="文本框 24"/>
          <p:cNvSpPr txBox="1"/>
          <p:nvPr/>
        </p:nvSpPr>
        <p:spPr>
          <a:xfrm>
            <a:off x="12957372" y="551392"/>
            <a:ext cx="2036052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性能收益案例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3334" y="262467"/>
            <a:ext cx="1270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3.3 Zero-Overhead schedule 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12</a:t>
            </a:r>
            <a:endParaRPr lang="en-US" sz="1300" dirty="0"/>
          </a:p>
        </p:txBody>
      </p:sp>
      <p:pic>
        <p:nvPicPr>
          <p:cNvPr id="14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2"/>
          <a:srcRect l="9777" t="10523" r="2265" b="3624"/>
          <a:stretch>
            <a:fillRect/>
          </a:stretch>
        </p:blipFill>
        <p:spPr>
          <a:xfrm>
            <a:off x="2214945" y="1612005"/>
            <a:ext cx="11497880" cy="6256797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655281" y="1029259"/>
            <a:ext cx="9069744" cy="526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135" dirty="0">
                <a:latin typeface="微软雅黑" panose="020B0503020204020204" charset="-122"/>
                <a:ea typeface="微软雅黑" panose="020B0503020204020204" charset="-122"/>
              </a:rPr>
              <a:t>MTP-Overlap</a:t>
            </a:r>
            <a:r>
              <a:rPr lang="zh-CN" altLang="en-US" sz="2135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2135" dirty="0">
                <a:latin typeface="微软雅黑" panose="020B0503020204020204" charset="-122"/>
                <a:ea typeface="微软雅黑" panose="020B0503020204020204" charset="-122"/>
              </a:rPr>
              <a:t>Overlap Schedule </a:t>
            </a:r>
            <a:r>
              <a:rPr lang="zh-CN" altLang="en-US" sz="2135" dirty="0">
                <a:latin typeface="微软雅黑" panose="020B0503020204020204" charset="-122"/>
                <a:ea typeface="微软雅黑" panose="020B0503020204020204" charset="-122"/>
              </a:rPr>
              <a:t>机制在推测解码场景下的扩展适配</a:t>
            </a:r>
            <a:endParaRPr lang="en-US" altLang="zh-CN" sz="213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3334" y="262467"/>
            <a:ext cx="1270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3.4 PD-Disaggregation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12</a:t>
            </a:r>
            <a:endParaRPr lang="en-US" sz="1300" dirty="0"/>
          </a:p>
        </p:txBody>
      </p:sp>
      <p:pic>
        <p:nvPicPr>
          <p:cNvPr id="14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203" y="2651242"/>
            <a:ext cx="12963594" cy="2890996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97926" y="1005721"/>
            <a:ext cx="14783999" cy="1422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连续批处理（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Continuous Batching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----&gt; </a:t>
            </a:r>
            <a:r>
              <a:rPr lang="zh-CN" altLang="en-US" sz="2000" b="1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提升</a:t>
            </a:r>
            <a:r>
              <a:rPr lang="en-US" altLang="zh-CN" sz="2000" b="1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Device</a:t>
            </a:r>
            <a:r>
              <a:rPr lang="zh-CN" altLang="en-US" sz="2000" b="1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利用率</a:t>
            </a:r>
            <a:endParaRPr lang="en-US" altLang="zh-CN" sz="2000" b="1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81000" indent="-381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传统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Static batching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要求一个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Batch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里所有请求同时开始、同时结束，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Continuous Batching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打破了这一约束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请求可以在任意时刻加入或退出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batch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，不需要等待同批其他请求完成。 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88905" y="5858578"/>
            <a:ext cx="7442320" cy="200388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135" b="1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仍存在的问题：</a:t>
            </a:r>
            <a:endParaRPr lang="en-US" altLang="zh-CN" sz="2135" b="1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81000" indent="-381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135" dirty="0">
                <a:latin typeface="微软雅黑" panose="020B0503020204020204" charset="-122"/>
                <a:ea typeface="微软雅黑" panose="020B0503020204020204" charset="-122"/>
              </a:rPr>
              <a:t>延迟干扰：</a:t>
            </a:r>
            <a:r>
              <a:rPr lang="en-US" altLang="zh-CN" sz="2135" dirty="0">
                <a:latin typeface="微软雅黑" panose="020B0503020204020204" charset="-122"/>
                <a:ea typeface="微软雅黑" panose="020B0503020204020204" charset="-122"/>
              </a:rPr>
              <a:t>Decode </a:t>
            </a:r>
            <a:r>
              <a:rPr lang="zh-CN" altLang="en-US" sz="2135" dirty="0">
                <a:latin typeface="微软雅黑" panose="020B0503020204020204" charset="-122"/>
                <a:ea typeface="微软雅黑" panose="020B0503020204020204" charset="-122"/>
              </a:rPr>
              <a:t>请求 </a:t>
            </a:r>
            <a:r>
              <a:rPr lang="en-US" altLang="zh-CN" sz="2135" dirty="0">
                <a:latin typeface="微软雅黑" panose="020B0503020204020204" charset="-122"/>
                <a:ea typeface="微软雅黑" panose="020B0503020204020204" charset="-122"/>
              </a:rPr>
              <a:t>TPOT </a:t>
            </a:r>
            <a:r>
              <a:rPr lang="zh-CN" altLang="en-US" sz="2135" dirty="0">
                <a:latin typeface="微软雅黑" panose="020B0503020204020204" charset="-122"/>
                <a:ea typeface="微软雅黑" panose="020B0503020204020204" charset="-122"/>
              </a:rPr>
              <a:t>会受到长请求 </a:t>
            </a:r>
            <a:r>
              <a:rPr lang="en-US" altLang="zh-CN" sz="2135" dirty="0">
                <a:latin typeface="微软雅黑" panose="020B0503020204020204" charset="-122"/>
                <a:ea typeface="微软雅黑" panose="020B0503020204020204" charset="-122"/>
              </a:rPr>
              <a:t>Prefill </a:t>
            </a:r>
            <a:r>
              <a:rPr lang="zh-CN" altLang="en-US" sz="2135" dirty="0">
                <a:latin typeface="微软雅黑" panose="020B0503020204020204" charset="-122"/>
                <a:ea typeface="微软雅黑" panose="020B0503020204020204" charset="-122"/>
              </a:rPr>
              <a:t>影响</a:t>
            </a:r>
            <a:endParaRPr lang="en-US" altLang="zh-CN" sz="2135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81000" indent="-381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135" dirty="0">
                <a:latin typeface="微软雅黑" panose="020B0503020204020204" charset="-122"/>
                <a:ea typeface="微软雅黑" panose="020B0503020204020204" charset="-122"/>
              </a:rPr>
              <a:t>并行策略耦合：</a:t>
            </a:r>
            <a:r>
              <a:rPr lang="en-US" altLang="zh-CN" sz="2135" dirty="0">
                <a:latin typeface="微软雅黑" panose="020B0503020204020204" charset="-122"/>
                <a:ea typeface="微软雅黑" panose="020B0503020204020204" charset="-122"/>
              </a:rPr>
              <a:t>Prefill </a:t>
            </a:r>
            <a:r>
              <a:rPr lang="zh-CN" altLang="en-US" sz="2135" dirty="0">
                <a:latin typeface="微软雅黑" panose="020B0503020204020204" charset="-122"/>
                <a:ea typeface="微软雅黑" panose="020B0503020204020204" charset="-122"/>
              </a:rPr>
              <a:t>与 </a:t>
            </a:r>
            <a:r>
              <a:rPr lang="en-US" altLang="zh-CN" sz="2135" dirty="0">
                <a:latin typeface="微软雅黑" panose="020B0503020204020204" charset="-122"/>
                <a:ea typeface="微软雅黑" panose="020B0503020204020204" charset="-122"/>
              </a:rPr>
              <a:t>Decode </a:t>
            </a:r>
            <a:r>
              <a:rPr lang="zh-CN" altLang="en-US" sz="2135" dirty="0">
                <a:latin typeface="微软雅黑" panose="020B0503020204020204" charset="-122"/>
                <a:ea typeface="微软雅黑" panose="020B0503020204020204" charset="-122"/>
              </a:rPr>
              <a:t>使用同一套并行配置</a:t>
            </a:r>
            <a:endParaRPr lang="en-US" altLang="zh-CN" sz="2135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81000" indent="-381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135" dirty="0">
                <a:latin typeface="微软雅黑" panose="020B0503020204020204" charset="-122"/>
                <a:ea typeface="微软雅黑" panose="020B0503020204020204" charset="-122"/>
              </a:rPr>
              <a:t>资源竞争：</a:t>
            </a:r>
            <a:r>
              <a:rPr lang="en-US" altLang="zh-CN" sz="2135" dirty="0">
                <a:latin typeface="微软雅黑" panose="020B0503020204020204" charset="-122"/>
                <a:ea typeface="微软雅黑" panose="020B0503020204020204" charset="-122"/>
              </a:rPr>
              <a:t>KV Cache </a:t>
            </a:r>
            <a:r>
              <a:rPr lang="zh-CN" altLang="en-US" sz="2135" dirty="0">
                <a:latin typeface="微软雅黑" panose="020B0503020204020204" charset="-122"/>
                <a:ea typeface="微软雅黑" panose="020B0503020204020204" charset="-122"/>
              </a:rPr>
              <a:t>是 </a:t>
            </a:r>
            <a:r>
              <a:rPr lang="en-US" altLang="zh-CN" sz="2135" dirty="0">
                <a:latin typeface="微软雅黑" panose="020B0503020204020204" charset="-122"/>
                <a:ea typeface="微软雅黑" panose="020B0503020204020204" charset="-122"/>
              </a:rPr>
              <a:t>Prefill </a:t>
            </a:r>
            <a:r>
              <a:rPr lang="zh-CN" altLang="en-US" sz="2135" dirty="0">
                <a:latin typeface="微软雅黑" panose="020B0503020204020204" charset="-122"/>
                <a:ea typeface="微软雅黑" panose="020B0503020204020204" charset="-122"/>
              </a:rPr>
              <a:t>与 </a:t>
            </a:r>
            <a:r>
              <a:rPr lang="en-US" altLang="zh-CN" sz="2135" dirty="0">
                <a:latin typeface="微软雅黑" panose="020B0503020204020204" charset="-122"/>
                <a:ea typeface="微软雅黑" panose="020B0503020204020204" charset="-122"/>
              </a:rPr>
              <a:t>Decode </a:t>
            </a:r>
            <a:r>
              <a:rPr lang="zh-CN" altLang="en-US" sz="2135" dirty="0">
                <a:latin typeface="微软雅黑" panose="020B0503020204020204" charset="-122"/>
                <a:ea typeface="微软雅黑" panose="020B0503020204020204" charset="-122"/>
              </a:rPr>
              <a:t>共享的 </a:t>
            </a:r>
            <a:r>
              <a:rPr lang="en-US" altLang="zh-CN" sz="2135" dirty="0">
                <a:latin typeface="微软雅黑" panose="020B0503020204020204" charset="-122"/>
                <a:ea typeface="微软雅黑" panose="020B0503020204020204" charset="-122"/>
              </a:rPr>
              <a:t>Pool</a:t>
            </a:r>
            <a:endParaRPr lang="en-US" altLang="zh-CN" sz="213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箭头: 右 10"/>
          <p:cNvSpPr/>
          <p:nvPr/>
        </p:nvSpPr>
        <p:spPr>
          <a:xfrm>
            <a:off x="8887601" y="6776782"/>
            <a:ext cx="1093181" cy="36694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7" name="文本框 16"/>
          <p:cNvSpPr txBox="1"/>
          <p:nvPr/>
        </p:nvSpPr>
        <p:spPr>
          <a:xfrm>
            <a:off x="10474955" y="6200943"/>
            <a:ext cx="3143243" cy="1518621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135" dirty="0">
                <a:latin typeface="微软雅黑" panose="020B0503020204020204" charset="-122"/>
                <a:ea typeface="微软雅黑" panose="020B0503020204020204" charset="-122"/>
              </a:rPr>
              <a:t>推理框架的解法：</a:t>
            </a:r>
            <a:endParaRPr lang="en-US" altLang="zh-CN" sz="2135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135" b="1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1. Chunk Prefill</a:t>
            </a:r>
            <a:endParaRPr lang="zh-CN" altLang="en-US" sz="2135" b="1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135" b="1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2. PD Disaggregation</a:t>
            </a:r>
            <a:endParaRPr lang="en-US" altLang="zh-CN" sz="2135" b="1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3334" y="262467"/>
            <a:ext cx="1270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3.4 PD-Disaggregation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12</a:t>
            </a:r>
            <a:endParaRPr lang="en-US" sz="1300" dirty="0"/>
          </a:p>
        </p:txBody>
      </p:sp>
      <p:pic>
        <p:nvPicPr>
          <p:cNvPr id="14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600" y="1665567"/>
            <a:ext cx="7814401" cy="5663901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8579232" y="4167361"/>
            <a:ext cx="7479918" cy="3742178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SGLang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基于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sender/receiver + manager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的框架实现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PD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分离的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KV cache 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传输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04800" indent="-304800">
              <a:lnSpc>
                <a:spcPct val="150000"/>
              </a:lnSpc>
              <a:buAutoNum type="arabicPeriod"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Scheduler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中每个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request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会生成一个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room id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用于在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KVManager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中标识一对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PD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，它们会分别创建一个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KVSender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KVReceiver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进行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KV cache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的传输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04800" indent="-304800">
              <a:lnSpc>
                <a:spcPct val="150000"/>
              </a:lnSpc>
              <a:buAutoNum type="arabicPeriod"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Prefill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Decode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都会创建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KVManager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对象，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P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端还会注册自己的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ip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port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信息到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bootstrap server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保存。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PD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端通过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bootstrap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中的信息进行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handshake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04800" indent="-304800">
              <a:lnSpc>
                <a:spcPct val="150000"/>
              </a:lnSpc>
              <a:buAutoNum type="arabicPeriod"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D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端会从内存池预分配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KV cache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，并将信息打包发送给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P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端，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P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端得到通知后可进入下一步准备传输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KV cache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的过程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04800" indent="-304800">
              <a:lnSpc>
                <a:spcPct val="150000"/>
              </a:lnSpc>
              <a:buAutoNum type="arabicPeriod"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SGLang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采用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chunked prefill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，每个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chunk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会通过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transfer engine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对所有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layer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KV cache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进行传输，最后一个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chunk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会发送一些额外辅助数据，让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D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端知道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KV cache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已传输完毕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8579232" y="398175"/>
          <a:ext cx="7229728" cy="349122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873859"/>
                <a:gridCol w="5355869"/>
              </a:tblGrid>
              <a:tr h="847717"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KVSender</a:t>
                      </a:r>
                      <a:endParaRPr lang="en-US" sz="1600" b="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8467" marR="68467" marT="17117" marB="17117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Prefill</a:t>
                      </a: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端创建，管理请求在</a:t>
                      </a:r>
                      <a:r>
                        <a:rPr lang="en-US" altLang="zh-CN" sz="1600" b="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Prefill</a:t>
                      </a: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侧的状态转换，用于发送</a:t>
                      </a:r>
                      <a:r>
                        <a:rPr lang="en-US" altLang="zh-CN" sz="1600" b="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KV cache</a:t>
                      </a: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，将</a:t>
                      </a:r>
                      <a:r>
                        <a:rPr lang="en-US" altLang="zh-CN" sz="1600" b="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KV cache</a:t>
                      </a: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</a:t>
                      </a:r>
                      <a:r>
                        <a:rPr lang="en-US" altLang="zh-CN" sz="1600" b="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chunk</a:t>
                      </a: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提交到</a:t>
                      </a:r>
                      <a:r>
                        <a:rPr lang="en-US" altLang="zh-CN" sz="1600" b="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transfer queue</a:t>
                      </a: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。每条请求对应一个</a:t>
                      </a:r>
                      <a:endParaRPr lang="en-US" altLang="zh-CN" sz="1600" b="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8467" marR="68467" marT="17117" marB="17117" anchor="ctr"/>
                </a:tc>
              </a:tr>
              <a:tr h="944440"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KVBootstrap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8467" marR="68467" marT="17117" marB="17117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仅用于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Prefill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端，记录并传输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与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端交互所需的网络信息，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端会请求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bootstrap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的信息，用于和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端建立联系。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PD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端通过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ZMQ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进行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socket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通信。</a:t>
                      </a:r>
                      <a:r>
                        <a:rPr lang="zh-CN" altLang="en-US" sz="1600" b="1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（分布式服务注册中心）</a:t>
                      </a:r>
                      <a:endParaRPr lang="en-US" altLang="zh-CN" sz="1600" b="1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8467" marR="68467" marT="17117" marB="17117" anchor="ctr"/>
                </a:tc>
              </a:tr>
              <a:tr h="849535"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KVReceiver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8467" marR="68467" marT="17117" marB="17117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Decode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端创建，向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Prefill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发送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KVArgs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、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TransferInfo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等信息，并且会轮询传输状态，检查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KV Cache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是否全都到达。</a:t>
                      </a:r>
                      <a:endParaRPr lang="en-US" altLang="zh-CN" sz="160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8467" marR="68467" marT="17117" marB="17117" anchor="ctr"/>
                </a:tc>
              </a:tr>
              <a:tr h="849535"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KVManager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8467" marR="68467" marT="17117" marB="17117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服务启动时创建，每个实例一个。负责初始化传输引擎、注册内存到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RDMA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、管理后台线程和状态表，维护连接池。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8467" marR="68467" marT="17117" marB="17117" anchor="ctr"/>
                </a:tc>
              </a:tr>
            </a:tbl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2833669" y="7323417"/>
            <a:ext cx="2774259" cy="424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SGLang PD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分离整体流程图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47040" y="950265"/>
            <a:ext cx="4010660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SGLang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PD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分离组件和流程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1221" y="833967"/>
            <a:ext cx="7484779" cy="487686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3334" y="262467"/>
            <a:ext cx="1270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3.4 PD-Disaggregation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12</a:t>
            </a:r>
            <a:endParaRPr lang="en-US" sz="1300" dirty="0"/>
          </a:p>
        </p:txBody>
      </p:sp>
      <p:pic>
        <p:nvPicPr>
          <p:cNvPr id="14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172" y="5774201"/>
            <a:ext cx="5055905" cy="2467967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103" y="5784282"/>
            <a:ext cx="5554670" cy="2400054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7034424" y="1457635"/>
            <a:ext cx="828124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负载均衡调度</a:t>
            </a:r>
            <a:endParaRPr lang="en-US" altLang="zh-CN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最小负载策略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：每次从实例池中挑选一堆最小负载的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pd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实例下发请求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自动扩缩容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：监控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P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D worker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GPU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利用率，根据实际的使用时间增加或者删除它们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025375" y="2596325"/>
            <a:ext cx="877669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Prefill Server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关键数据结构</a:t>
            </a:r>
            <a:endParaRPr lang="en-US" altLang="zh-CN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Bootstrap queue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：存储握手和预分配还未结束的请求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Waiting queue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：从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Bootstrap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中获取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D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节点已完成分配的请求，这部分请求可用于组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batch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Inflight queue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：维护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prefill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结束正在进行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kv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传输的请求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025375" y="3981237"/>
            <a:ext cx="8996950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Decode Server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关键数据结构</a:t>
            </a:r>
            <a:endParaRPr lang="en-US" altLang="zh-CN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Prealloc queue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：接受请求后放入该队列，并对这部分请求进行连接建立与预分配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kv cache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4480"/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最后放入到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transfer queue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中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Transfer queue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kv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传输队列，当检测到传输完成后，放入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waiting queue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中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Waiting queue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：等待组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batch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的请求队列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Running batch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：正在进行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decode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batch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3334" y="262467"/>
            <a:ext cx="1270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3.4 PD-Disaggregation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12</a:t>
            </a:r>
            <a:endParaRPr lang="en-US" sz="1300" dirty="0"/>
          </a:p>
        </p:txBody>
      </p:sp>
      <p:pic>
        <p:nvPicPr>
          <p:cNvPr id="14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/>
          <a:srcRect t="15532" b="13039"/>
          <a:stretch>
            <a:fillRect/>
          </a:stretch>
        </p:blipFill>
        <p:spPr>
          <a:xfrm>
            <a:off x="793794" y="1042807"/>
            <a:ext cx="14668412" cy="55169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396830" y="6382062"/>
            <a:ext cx="13462340" cy="14229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传输过程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执行完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batch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后调用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send kv chunk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接口发起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kv cache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传输根据配置选择不同的传输后端，包括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mooncake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NIXL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调度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loop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中不断检查传输中的请求状态，传输完成后则做请求后续处理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798835" y="1115720"/>
            <a:ext cx="4060335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SGLang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PD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分离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KV Cache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传输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3334" y="262467"/>
            <a:ext cx="1270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3.4 PD-Disaggregation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12</a:t>
            </a:r>
            <a:endParaRPr lang="en-US" sz="1300" dirty="0"/>
          </a:p>
        </p:txBody>
      </p:sp>
      <p:pic>
        <p:nvPicPr>
          <p:cNvPr id="14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0137317" y="461896"/>
            <a:ext cx="5656514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SGLang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PD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分离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KV Cache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传输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Backend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图片 10"/>
          <p:cNvPicPr/>
          <p:nvPr/>
        </p:nvPicPr>
        <p:blipFill rotWithShape="1">
          <a:blip r:embed="rId2"/>
          <a:srcRect t="12633" r="42944"/>
          <a:stretch>
            <a:fillRect/>
          </a:stretch>
        </p:blipFill>
        <p:spPr>
          <a:xfrm>
            <a:off x="625785" y="1749558"/>
            <a:ext cx="7264852" cy="5122852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8352754" y="2062587"/>
            <a:ext cx="7441077" cy="5379892"/>
            <a:chOff x="6100838" y="1337209"/>
            <a:chExt cx="5691362" cy="4019718"/>
          </a:xfrm>
        </p:grpSpPr>
        <p:pic>
          <p:nvPicPr>
            <p:cNvPr id="18" name="图片 17"/>
            <p:cNvPicPr>
              <a:picLocks noChangeAspect="1"/>
            </p:cNvPicPr>
            <p:nvPr/>
          </p:nvPicPr>
          <p:blipFill rotWithShape="1">
            <a:blip r:embed="rId3"/>
            <a:srcRect l="5629" t="10887" r="3834" b="2716"/>
            <a:stretch>
              <a:fillRect/>
            </a:stretch>
          </p:blipFill>
          <p:spPr>
            <a:xfrm>
              <a:off x="6100838" y="1337209"/>
              <a:ext cx="5691362" cy="4019718"/>
            </a:xfrm>
            <a:prstGeom prst="rect">
              <a:avLst/>
            </a:prstGeom>
          </p:spPr>
        </p:pic>
        <p:sp>
          <p:nvSpPr>
            <p:cNvPr id="19" name="矩形 18"/>
            <p:cNvSpPr/>
            <p:nvPr/>
          </p:nvSpPr>
          <p:spPr>
            <a:xfrm>
              <a:off x="7064347" y="4426343"/>
              <a:ext cx="3811349" cy="72019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462169" y="1042794"/>
            <a:ext cx="1615556" cy="533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135" b="1" dirty="0"/>
              <a:t>MoonCake</a:t>
            </a:r>
            <a:endParaRPr lang="zh-CN" altLang="en-US" sz="2135" b="1" dirty="0"/>
          </a:p>
        </p:txBody>
      </p:sp>
      <p:sp>
        <p:nvSpPr>
          <p:cNvPr id="21" name="文本框 20"/>
          <p:cNvSpPr txBox="1"/>
          <p:nvPr/>
        </p:nvSpPr>
        <p:spPr>
          <a:xfrm>
            <a:off x="8352754" y="1017791"/>
            <a:ext cx="988774" cy="533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135" b="1" dirty="0"/>
              <a:t>NIXL</a:t>
            </a:r>
            <a:endParaRPr lang="zh-CN" altLang="en-US" sz="2135" b="1" dirty="0"/>
          </a:p>
        </p:txBody>
      </p:sp>
      <p:sp>
        <p:nvSpPr>
          <p:cNvPr id="22" name="矩形 21"/>
          <p:cNvSpPr/>
          <p:nvPr/>
        </p:nvSpPr>
        <p:spPr>
          <a:xfrm>
            <a:off x="423334" y="1121998"/>
            <a:ext cx="7588483" cy="59114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3" name="矩形 22"/>
          <p:cNvSpPr/>
          <p:nvPr/>
        </p:nvSpPr>
        <p:spPr>
          <a:xfrm>
            <a:off x="8279051" y="1118256"/>
            <a:ext cx="7588483" cy="59114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4" name="文本框 23"/>
          <p:cNvSpPr txBox="1"/>
          <p:nvPr/>
        </p:nvSpPr>
        <p:spPr>
          <a:xfrm>
            <a:off x="8352754" y="7281160"/>
            <a:ext cx="5669548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1000" indent="-381000">
              <a:buFont typeface="Arial" panose="020B0604020202020204" pitchFamily="34" charset="0"/>
              <a:buChar char="•"/>
            </a:pPr>
            <a:r>
              <a:rPr lang="zh-CN" altLang="en-US" sz="1865" dirty="0">
                <a:latin typeface="微软雅黑" panose="020B0503020204020204" charset="-122"/>
                <a:ea typeface="微软雅黑" panose="020B0503020204020204" charset="-122"/>
              </a:rPr>
              <a:t>提供单一、类</a:t>
            </a:r>
            <a:r>
              <a:rPr lang="en-US" altLang="zh-CN" sz="1865" dirty="0">
                <a:latin typeface="微软雅黑" panose="020B0503020204020204" charset="-122"/>
                <a:ea typeface="微软雅黑" panose="020B0503020204020204" charset="-122"/>
              </a:rPr>
              <a:t>Socket</a:t>
            </a:r>
            <a:r>
              <a:rPr lang="zh-CN" altLang="en-US" sz="1865" dirty="0">
                <a:latin typeface="微软雅黑" panose="020B0503020204020204" charset="-122"/>
                <a:ea typeface="微软雅黑" panose="020B0503020204020204" charset="-122"/>
              </a:rPr>
              <a:t>的简洁</a:t>
            </a:r>
            <a:r>
              <a:rPr lang="en-US" altLang="zh-CN" sz="1865" dirty="0">
                <a:latin typeface="微软雅黑" panose="020B0503020204020204" charset="-122"/>
                <a:ea typeface="微软雅黑" panose="020B0503020204020204" charset="-122"/>
              </a:rPr>
              <a:t>API</a:t>
            </a:r>
            <a:r>
              <a:rPr lang="zh-CN" altLang="en-US" sz="1865" dirty="0">
                <a:latin typeface="微软雅黑" panose="020B0503020204020204" charset="-122"/>
                <a:ea typeface="微软雅黑" panose="020B0503020204020204" charset="-122"/>
              </a:rPr>
              <a:t>接口</a:t>
            </a:r>
            <a:endParaRPr lang="en-US" altLang="zh-CN" sz="1865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81000" indent="-381000">
              <a:buFont typeface="Arial" panose="020B0604020202020204" pitchFamily="34" charset="0"/>
              <a:buChar char="•"/>
            </a:pPr>
            <a:r>
              <a:rPr lang="zh-CN" altLang="en-US" sz="1865" dirty="0">
                <a:latin typeface="微软雅黑" panose="020B0503020204020204" charset="-122"/>
                <a:ea typeface="微软雅黑" panose="020B0503020204020204" charset="-122"/>
              </a:rPr>
              <a:t>节点内共享内存</a:t>
            </a:r>
            <a:r>
              <a:rPr lang="en-US" altLang="zh-CN" sz="1865" dirty="0"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sz="1865" dirty="0">
                <a:latin typeface="微软雅黑" panose="020B0503020204020204" charset="-122"/>
                <a:ea typeface="微软雅黑" panose="020B0503020204020204" charset="-122"/>
              </a:rPr>
              <a:t>零拷贝，节点间：</a:t>
            </a:r>
            <a:r>
              <a:rPr lang="en-US" altLang="zh-CN" sz="1865" dirty="0">
                <a:latin typeface="微软雅黑" panose="020B0503020204020204" charset="-122"/>
                <a:ea typeface="微软雅黑" panose="020B0503020204020204" charset="-122"/>
              </a:rPr>
              <a:t>RDMA</a:t>
            </a:r>
            <a:endParaRPr lang="zh-CN" altLang="en-US" sz="186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00564" y="7284690"/>
            <a:ext cx="7581184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1000" indent="-381000">
              <a:buFont typeface="Arial" panose="020B0604020202020204" pitchFamily="34" charset="0"/>
              <a:buChar char="•"/>
            </a:pPr>
            <a:r>
              <a:rPr lang="zh-CN" altLang="en-US" sz="1865" dirty="0">
                <a:latin typeface="微软雅黑" panose="020B0503020204020204" charset="-122"/>
                <a:ea typeface="微软雅黑" panose="020B0503020204020204" charset="-122"/>
              </a:rPr>
              <a:t>以</a:t>
            </a:r>
            <a:r>
              <a:rPr lang="en-US" altLang="zh-CN" sz="1865" dirty="0">
                <a:latin typeface="微软雅黑" panose="020B0503020204020204" charset="-122"/>
                <a:ea typeface="微软雅黑" panose="020B0503020204020204" charset="-122"/>
              </a:rPr>
              <a:t>KV Cache</a:t>
            </a:r>
            <a:r>
              <a:rPr lang="zh-CN" altLang="en-US" sz="1865" dirty="0">
                <a:latin typeface="微软雅黑" panose="020B0503020204020204" charset="-122"/>
                <a:ea typeface="微软雅黑" panose="020B0503020204020204" charset="-122"/>
              </a:rPr>
              <a:t>为中心将不同层次、不同速度的存储介质（</a:t>
            </a:r>
            <a:r>
              <a:rPr lang="en-US" altLang="zh-CN" sz="1865" dirty="0">
                <a:latin typeface="微软雅黑" panose="020B0503020204020204" charset="-122"/>
                <a:ea typeface="微软雅黑" panose="020B0503020204020204" charset="-122"/>
              </a:rPr>
              <a:t>GPU HBM</a:t>
            </a:r>
            <a:r>
              <a:rPr lang="zh-CN" altLang="en-US" sz="1865" dirty="0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1865" dirty="0">
                <a:latin typeface="微软雅黑" panose="020B0503020204020204" charset="-122"/>
                <a:ea typeface="微软雅黑" panose="020B0503020204020204" charset="-122"/>
              </a:rPr>
              <a:t>CPU DRAM</a:t>
            </a:r>
            <a:r>
              <a:rPr lang="zh-CN" altLang="en-US" sz="1865" dirty="0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1865" dirty="0">
                <a:latin typeface="微软雅黑" panose="020B0503020204020204" charset="-122"/>
                <a:ea typeface="微软雅黑" panose="020B0503020204020204" charset="-122"/>
              </a:rPr>
              <a:t>SSD</a:t>
            </a:r>
            <a:r>
              <a:rPr lang="zh-CN" altLang="en-US" sz="1865" dirty="0">
                <a:latin typeface="微软雅黑" panose="020B0503020204020204" charset="-122"/>
                <a:ea typeface="微软雅黑" panose="020B0503020204020204" charset="-122"/>
              </a:rPr>
              <a:t>）统一成一个分布式、可共享的</a:t>
            </a:r>
            <a:r>
              <a:rPr lang="en-US" altLang="zh-CN" sz="1865" dirty="0">
                <a:latin typeface="微软雅黑" panose="020B0503020204020204" charset="-122"/>
                <a:ea typeface="微软雅黑" panose="020B0503020204020204" charset="-122"/>
              </a:rPr>
              <a:t>KV Cache</a:t>
            </a:r>
            <a:r>
              <a:rPr lang="zh-CN" altLang="en-US" sz="1865" dirty="0">
                <a:latin typeface="微软雅黑" panose="020B0503020204020204" charset="-122"/>
                <a:ea typeface="微软雅黑" panose="020B0503020204020204" charset="-122"/>
              </a:rPr>
              <a:t>池</a:t>
            </a:r>
            <a:endParaRPr lang="zh-CN" altLang="en-US" sz="186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3334" y="262467"/>
            <a:ext cx="1270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3.4 PD-Disaggregation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12</a:t>
            </a:r>
            <a:endParaRPr lang="en-US" sz="1300" dirty="0"/>
          </a:p>
        </p:txBody>
      </p:sp>
      <p:pic>
        <p:nvPicPr>
          <p:cNvPr id="14" name="Image 0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825500" y="1333719"/>
            <a:ext cx="14772147" cy="2346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PD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分离的优势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81000" indent="-381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时延指标解耦：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PD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分离将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Prefill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和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Decode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物理隔离，各自独立调度，使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TTFT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和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TPOT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可分别保障，不再互相制约；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81000" indent="-381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并行策略独立：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PD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分离使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Prefill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集群和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Decode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集群可以各自采用最优的并行策略，两者互不影响；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81000" indent="-381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异构算力适配：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Prefill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计算密集型，可以使用高算力设备；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Decode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对内存带宽敏感，可部署于高带宽性价比设备；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81000" indent="-381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独立弹性伸缩：可以根据实际生产任务，单独扩容和收缩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Prefill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Decode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的资源池，灵活性高。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400" y="1612900"/>
            <a:ext cx="6350000" cy="12319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7200" dirty="0">
                <a:solidFill>
                  <a:srgbClr val="0000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Thank you.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8534400" y="1854200"/>
            <a:ext cx="6261100" cy="309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社区愿景：打造开放易用、技术领先的AI算力新生态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社区使命：使能开发者基于CANN社区自主研究创新，构筑根深叶茂、跨产业协同共享共赢的CANN生态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 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330" dirty="0">
                <a:solidFill>
                  <a:srgbClr val="7F7F7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Vision: Building an Open, Easy-to-Use, and Technology-leading AI Computing Ecosystem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330" dirty="0">
                <a:solidFill>
                  <a:srgbClr val="7F7F7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Mission: Enable developers to independently research and innovate based on the CANN community and build a win-win CANN ecosystem with deep roots and cross-industry collaboration and sharing.</a:t>
            </a:r>
            <a:endParaRPr lang="en-US" sz="1600" dirty="0"/>
          </a:p>
        </p:txBody>
      </p:sp>
      <p:pic>
        <p:nvPicPr>
          <p:cNvPr id="4" name="Image 0" descr="https://kimi-img.moonshot.cn/pub/slides/okc/4rfbomebqqupm/mnt/agents/output/template_pptd/images/image_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2900" y="5245100"/>
            <a:ext cx="2133600" cy="2133600"/>
          </a:xfrm>
          <a:prstGeom prst="rect">
            <a:avLst/>
          </a:prstGeom>
        </p:spPr>
      </p:pic>
      <p:pic>
        <p:nvPicPr>
          <p:cNvPr id="5" name="Image 1" descr="https://kimi-img.moonshot.cn/pub/slides/okc/4rfbomebqqupm/mnt/agents/output/template_pptd/images/image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5100" y="5194300"/>
            <a:ext cx="2247900" cy="2247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410700" y="7378700"/>
            <a:ext cx="1905000" cy="330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3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上CANN社区获取干货</a:t>
            </a:r>
            <a:endParaRPr lang="en-US" sz="1330" dirty="0"/>
          </a:p>
        </p:txBody>
      </p:sp>
      <p:sp>
        <p:nvSpPr>
          <p:cNvPr id="7" name="Text 3"/>
          <p:cNvSpPr/>
          <p:nvPr/>
        </p:nvSpPr>
        <p:spPr>
          <a:xfrm>
            <a:off x="11658600" y="7493000"/>
            <a:ext cx="2247900" cy="330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3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关注CANN公众号获取资讯</a:t>
            </a:r>
            <a:endParaRPr lang="en-US" sz="1330" dirty="0"/>
          </a:p>
        </p:txBody>
      </p:sp>
      <p:sp>
        <p:nvSpPr>
          <p:cNvPr id="8" name="Text 4"/>
          <p:cNvSpPr/>
          <p:nvPr/>
        </p:nvSpPr>
        <p:spPr>
          <a:xfrm>
            <a:off x="825500" y="8178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https://gitcode.com/cann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620000" y="81788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22</a:t>
            </a:r>
            <a:endParaRPr lang="en-US" sz="1300" dirty="0"/>
          </a:p>
        </p:txBody>
      </p:sp>
      <p:pic>
        <p:nvPicPr>
          <p:cNvPr id="10" name="Image 2" descr="https://kimi-img.moonshot.cn/pub/slides/okc/4rfbomebqqupm/mnt/agents/output/template_pptd/images/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2800" y="8051800"/>
            <a:ext cx="1752600" cy="469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13821</Words>
  <Application>WPS 演示</Application>
  <PresentationFormat>自定义</PresentationFormat>
  <Paragraphs>1574</Paragraphs>
  <Slides>41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67" baseType="lpstr">
      <vt:lpstr>Arial</vt:lpstr>
      <vt:lpstr>宋体</vt:lpstr>
      <vt:lpstr>Wingdings</vt:lpstr>
      <vt:lpstr>微软雅黑</vt:lpstr>
      <vt:lpstr>MiSans</vt:lpstr>
      <vt:lpstr>MingLiU-ExtB</vt:lpstr>
      <vt:lpstr>JetBrains Mono</vt:lpstr>
      <vt:lpstr>Calibri</vt:lpstr>
      <vt:lpstr>等线</vt:lpstr>
      <vt:lpstr>Arial Unicode MS</vt:lpstr>
      <vt:lpstr>Cambria Math</vt:lpstr>
      <vt:lpstr>MiSans</vt:lpstr>
      <vt:lpstr>Wingdings</vt:lpstr>
      <vt:lpstr>Arial</vt:lpstr>
      <vt:lpstr>黑体</vt:lpstr>
      <vt:lpstr>Liter</vt:lpstr>
      <vt:lpstr>Liter</vt:lpstr>
      <vt:lpstr>Liter</vt:lpstr>
      <vt:lpstr>等线 Light</vt:lpstr>
      <vt:lpstr>Calibri Light</vt:lpstr>
      <vt:lpstr>SimSun-ExtB</vt:lpstr>
      <vt:lpstr>PMingLiU-ExtB</vt:lpstr>
      <vt:lpstr>Yu Gothic UI Light</vt:lpstr>
      <vt:lpstr>Noto Serif SC SemiBold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大模型推理优化基础</dc:title>
  <dc:creator>Kimi</dc:creator>
  <dc:subject>大模型推理优化基础</dc:subject>
  <cp:lastModifiedBy>z00592961</cp:lastModifiedBy>
  <cp:revision>117</cp:revision>
  <dcterms:created xsi:type="dcterms:W3CDTF">2026-06-23T03:25:00Z</dcterms:created>
  <dcterms:modified xsi:type="dcterms:W3CDTF">2026-08-27T06:36:27Z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{"Label":"大模型推理优化基础","ContentProducer":"001191110108MACG2KBH8F10000","ProduceID":"19eef53e-61a2-8ed4-8000-00006608ad18","ReservedCode1":"","ContentPropagator":"001191110108MACG2KBH8F20000","PropagateID":"19eee8b1-31f2-8433-8000-0941b2c9f6ec","ReservedCode</vt:lpwstr>
  </property>
  <property fmtid="{D5CDD505-2E9C-101B-9397-08002B2CF9AE}" pid="3" name="ICV">
    <vt:lpwstr>B609B0CF7B2A496E98DF08930E918935_12</vt:lpwstr>
  </property>
  <property fmtid="{D5CDD505-2E9C-101B-9397-08002B2CF9AE}" pid="4" name="KSOProductBuildVer">
    <vt:lpwstr>2052-12.8.2.18205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1784773560</vt:lpwstr>
  </property>
</Properties>
</file>