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314" r:id="rId5"/>
    <p:sldId id="315" r:id="rId6"/>
    <p:sldId id="316" r:id="rId7"/>
    <p:sldId id="260" r:id="rId8"/>
    <p:sldId id="317" r:id="rId9"/>
    <p:sldId id="318" r:id="rId10"/>
    <p:sldId id="319" r:id="rId11"/>
    <p:sldId id="320" r:id="rId12"/>
    <p:sldId id="264" r:id="rId13"/>
    <p:sldId id="321" r:id="rId14"/>
    <p:sldId id="312" r:id="rId15"/>
    <p:sldId id="276" r:id="rId16"/>
    <p:sldId id="277" r:id="rId17"/>
    <p:sldId id="278" r:id="rId18"/>
    <p:sldId id="280" r:id="rId19"/>
    <p:sldId id="282" r:id="rId20"/>
    <p:sldId id="283" r:id="rId21"/>
    <p:sldId id="284" r:id="rId22"/>
    <p:sldId id="285" r:id="rId23"/>
    <p:sldId id="288" r:id="rId24"/>
    <p:sldId id="289" r:id="rId25"/>
    <p:sldId id="290" r:id="rId26"/>
    <p:sldId id="292" r:id="rId27"/>
    <p:sldId id="268" r:id="rId28"/>
    <p:sldId id="294" r:id="rId29"/>
    <p:sldId id="295" r:id="rId30"/>
    <p:sldId id="296" r:id="rId31"/>
    <p:sldId id="271" r:id="rId32"/>
    <p:sldId id="304" r:id="rId33"/>
    <p:sldId id="305" r:id="rId34"/>
    <p:sldId id="274" r:id="rId35"/>
  </p:sldIdLst>
  <p:sldSz cx="16256000" cy="9144000"/>
  <p:notesSz cx="9144000" cy="16256000"/>
  <p:embeddedFontLst>
    <p:embeddedFont>
      <p:font typeface="MiSans" panose="02010600030101010101" charset="-122"/>
      <p:regular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Liter" panose="02010600030101010101" charset="0"/>
      <p:regular r:id="rId42"/>
    </p:embeddedFont>
    <p:embeddedFont>
      <p:font typeface="等线" panose="02010600030101010101" pitchFamily="2" charset="-122"/>
      <p:regular r:id="rId43"/>
      <p:bold r:id="rId44"/>
    </p:embeddedFont>
    <p:embeddedFont>
      <p:font typeface="微软雅黑" panose="020B0503020204020204" pitchFamily="34" charset="-122"/>
      <p:regular r:id="rId45"/>
      <p:bold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6847" autoAdjust="0"/>
  </p:normalViewPr>
  <p:slideViewPr>
    <p:cSldViewPr snapToGrid="0" snapToObjects="1">
      <p:cViewPr varScale="1">
        <p:scale>
          <a:sx n="101" d="100"/>
          <a:sy n="101" d="100"/>
        </p:scale>
        <p:origin x="12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43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在讨论并行策略之前</a:t>
            </a:r>
            <a:r>
              <a:rPr lang="en-US" altLang="zh-CN" dirty="0"/>
              <a:t>, </a:t>
            </a:r>
            <a:r>
              <a:rPr lang="zh-CN" altLang="en-US" dirty="0"/>
              <a:t>首先需要理解一个基本事实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容量瓶颈需要将权重分散存储 </a:t>
            </a:r>
            <a:r>
              <a:rPr lang="en-US" altLang="zh-CN" dirty="0"/>
              <a:t>(TP/PP/EP); </a:t>
            </a:r>
            <a:r>
              <a:rPr lang="zh-CN" altLang="en-US" dirty="0"/>
              <a:t>带宽瓶颈需要减少单卡权重读取量 </a:t>
            </a:r>
            <a:r>
              <a:rPr lang="en-US" altLang="zh-CN" dirty="0"/>
              <a:t>(EP); </a:t>
            </a:r>
            <a:r>
              <a:rPr lang="zh-CN" altLang="en-US" dirty="0"/>
              <a:t>算力瓶颈需要将计算负载分摊到多设备 </a:t>
            </a:r>
            <a:r>
              <a:rPr lang="en-US" altLang="zh-CN" dirty="0"/>
              <a:t>(TP/CP).</a:t>
            </a:r>
            <a:br>
              <a:rPr lang="en-US" altLang="zh-CN" dirty="0"/>
            </a:br>
            <a:r>
              <a:rPr lang="zh-CN" altLang="en-US" dirty="0"/>
              <a:t>实际部署中</a:t>
            </a:r>
            <a:r>
              <a:rPr lang="en-US" altLang="zh-CN" dirty="0"/>
              <a:t>, </a:t>
            </a:r>
            <a:r>
              <a:rPr lang="zh-CN" altLang="en-US" dirty="0"/>
              <a:t>大模型通常同时受到多类瓶颈约束</a:t>
            </a:r>
            <a:r>
              <a:rPr lang="en-US" altLang="zh-CN" dirty="0"/>
              <a:t>, </a:t>
            </a:r>
            <a:r>
              <a:rPr lang="zh-CN" altLang="en-US" dirty="0"/>
              <a:t>需要组合使用多种并行策略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810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理解并行的关键在于把握「切什么」和「怎么合」这对核心关系</a:t>
            </a:r>
            <a:r>
              <a:rPr lang="en-US" altLang="zh-CN" dirty="0"/>
              <a:t>. </a:t>
            </a:r>
            <a:r>
              <a:rPr lang="zh-CN" altLang="en-US" dirty="0"/>
              <a:t>切分的维度决定了每张卡的计算粒度</a:t>
            </a:r>
            <a:r>
              <a:rPr lang="en-US" altLang="zh-CN" dirty="0"/>
              <a:t>, </a:t>
            </a:r>
            <a:r>
              <a:rPr lang="zh-CN" altLang="en-US" dirty="0"/>
              <a:t>通信原语决定了卡间如何恢复数学等价性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TP </a:t>
            </a:r>
            <a:r>
              <a:rPr lang="zh-CN" altLang="en-US" dirty="0"/>
              <a:t>切权重矩阵的行或列</a:t>
            </a:r>
            <a:r>
              <a:rPr lang="en-US" altLang="zh-CN" dirty="0"/>
              <a:t>, </a:t>
            </a:r>
            <a:r>
              <a:rPr lang="zh-CN" altLang="en-US" dirty="0"/>
              <a:t>使矩阵乘在各卡独立完成后通过 </a:t>
            </a:r>
            <a:r>
              <a:rPr lang="en-US" altLang="zh-CN" dirty="0" err="1"/>
              <a:t>AllReduce</a:t>
            </a:r>
            <a:r>
              <a:rPr lang="zh-CN" altLang="en-US" dirty="0"/>
              <a:t> 归约部分和</a:t>
            </a:r>
            <a:r>
              <a:rPr lang="en-US" altLang="zh-CN" dirty="0"/>
              <a:t>; 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PP </a:t>
            </a:r>
            <a:r>
              <a:rPr lang="zh-CN" altLang="en-US" dirty="0"/>
              <a:t>切模型层</a:t>
            </a:r>
            <a:r>
              <a:rPr lang="en-US" altLang="zh-CN" dirty="0"/>
              <a:t>, </a:t>
            </a:r>
            <a:r>
              <a:rPr lang="zh-CN" altLang="en-US" dirty="0"/>
              <a:t>各 </a:t>
            </a:r>
            <a:r>
              <a:rPr lang="en-US" altLang="zh-CN" dirty="0"/>
              <a:t>Stage </a:t>
            </a:r>
            <a:r>
              <a:rPr lang="zh-CN" altLang="en-US" dirty="0"/>
              <a:t>串行执行后通过 </a:t>
            </a:r>
            <a:r>
              <a:rPr lang="en-US" altLang="zh-CN" dirty="0"/>
              <a:t>P2P </a:t>
            </a:r>
            <a:r>
              <a:rPr lang="zh-CN" altLang="en-US" dirty="0"/>
              <a:t>传递中间激活</a:t>
            </a:r>
            <a:r>
              <a:rPr lang="en-US" altLang="zh-CN" dirty="0"/>
              <a:t>;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EP </a:t>
            </a:r>
            <a:r>
              <a:rPr lang="zh-CN" altLang="en-US" dirty="0"/>
              <a:t>切 </a:t>
            </a:r>
            <a:r>
              <a:rPr lang="en-US" altLang="zh-CN" dirty="0" err="1"/>
              <a:t>MoE</a:t>
            </a:r>
            <a:r>
              <a:rPr lang="zh-CN" altLang="en-US" dirty="0"/>
              <a:t> 层的不同专家到不同卡</a:t>
            </a:r>
            <a:r>
              <a:rPr lang="en-US" altLang="zh-CN" dirty="0"/>
              <a:t>, </a:t>
            </a:r>
            <a:r>
              <a:rPr lang="zh-CN" altLang="en-US" dirty="0"/>
              <a:t>通过 </a:t>
            </a:r>
            <a:r>
              <a:rPr lang="en-US" altLang="zh-CN" dirty="0" err="1"/>
              <a:t>AllToAll</a:t>
            </a:r>
            <a:r>
              <a:rPr lang="zh-CN" altLang="en-US" dirty="0"/>
              <a:t> 实现 </a:t>
            </a:r>
            <a:r>
              <a:rPr lang="en-US" altLang="zh-CN" dirty="0"/>
              <a:t>token </a:t>
            </a:r>
            <a:r>
              <a:rPr lang="zh-CN" altLang="en-US" dirty="0"/>
              <a:t>级路由和回收</a:t>
            </a:r>
            <a:r>
              <a:rPr lang="en-US" altLang="zh-CN" dirty="0"/>
              <a:t>; 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CP </a:t>
            </a:r>
            <a:r>
              <a:rPr lang="zh-CN" altLang="en-US" dirty="0"/>
              <a:t>切输入序列</a:t>
            </a:r>
            <a:r>
              <a:rPr lang="en-US" altLang="zh-CN" dirty="0"/>
              <a:t>, </a:t>
            </a:r>
            <a:r>
              <a:rPr lang="zh-CN" altLang="en-US" dirty="0"/>
              <a:t>使各卡处理不同的 </a:t>
            </a:r>
            <a:r>
              <a:rPr lang="en-US" altLang="zh-CN" dirty="0"/>
              <a:t>token </a:t>
            </a:r>
            <a:r>
              <a:rPr lang="zh-CN" altLang="en-US" dirty="0"/>
              <a:t>子集后通过 </a:t>
            </a:r>
            <a:r>
              <a:rPr lang="en-US" altLang="zh-CN" dirty="0"/>
              <a:t>Ring </a:t>
            </a:r>
            <a:r>
              <a:rPr lang="zh-CN" altLang="en-US" dirty="0"/>
              <a:t>传递或 </a:t>
            </a:r>
            <a:r>
              <a:rPr lang="en-US" altLang="zh-CN" dirty="0" err="1"/>
              <a:t>AllToAll</a:t>
            </a:r>
            <a:r>
              <a:rPr lang="zh-CN" altLang="en-US" dirty="0"/>
              <a:t> 转置恢复全局 </a:t>
            </a:r>
            <a:r>
              <a:rPr lang="en-US" altLang="zh-CN" dirty="0"/>
              <a:t>Attention.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四种策略可以正交组合</a:t>
            </a:r>
            <a:r>
              <a:rPr lang="en-US" altLang="zh-CN" dirty="0"/>
              <a:t>: </a:t>
            </a:r>
            <a:r>
              <a:rPr lang="zh-CN" altLang="en-US" dirty="0"/>
              <a:t>例如 </a:t>
            </a:r>
            <a:r>
              <a:rPr lang="en-US" altLang="zh-CN" dirty="0" err="1"/>
              <a:t>world_size</a:t>
            </a:r>
            <a:r>
              <a:rPr lang="zh-CN" altLang="en-US" dirty="0"/>
              <a:t> </a:t>
            </a:r>
            <a:r>
              <a:rPr lang="en-US" altLang="zh-CN" dirty="0"/>
              <a:t>= </a:t>
            </a:r>
            <a:r>
              <a:rPr lang="en-US" altLang="zh-CN" dirty="0" err="1"/>
              <a:t>tp</a:t>
            </a:r>
            <a:r>
              <a:rPr lang="zh-CN" altLang="en-US" dirty="0"/>
              <a:t> </a:t>
            </a:r>
            <a:r>
              <a:rPr lang="en-US" altLang="zh-CN" dirty="0"/>
              <a:t>x ep x cp x </a:t>
            </a:r>
            <a:r>
              <a:rPr lang="en-US" altLang="zh-CN" dirty="0" err="1"/>
              <a:t>dp</a:t>
            </a:r>
            <a:r>
              <a:rPr lang="en-US" altLang="zh-CN" dirty="0"/>
              <a:t>, </a:t>
            </a:r>
            <a:r>
              <a:rPr lang="zh-CN" altLang="en-US" dirty="0"/>
              <a:t>不同维度各自解决不同类型的硬件瓶颈</a:t>
            </a:r>
            <a:r>
              <a:rPr lang="en-US" altLang="zh-CN" dirty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826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PD </a:t>
            </a:r>
            <a:r>
              <a:rPr lang="zh-CN" altLang="en-US" dirty="0"/>
              <a:t>分离是目前业界部署 </a:t>
            </a:r>
            <a:r>
              <a:rPr lang="en-US" altLang="zh-CN" dirty="0" err="1"/>
              <a:t>MoE</a:t>
            </a:r>
            <a:r>
              <a:rPr lang="en-US" altLang="zh-CN" dirty="0"/>
              <a:t> </a:t>
            </a:r>
            <a:r>
              <a:rPr lang="zh-CN" altLang="en-US" dirty="0"/>
              <a:t>大模型的主流架构 </a:t>
            </a:r>
            <a:r>
              <a:rPr lang="en-US" altLang="zh-CN" dirty="0"/>
              <a:t>(</a:t>
            </a:r>
            <a:r>
              <a:rPr lang="en-US" altLang="zh-CN" dirty="0" err="1"/>
              <a:t>DistServe</a:t>
            </a:r>
            <a:r>
              <a:rPr lang="en-US" altLang="zh-CN" dirty="0"/>
              <a:t> 2024, </a:t>
            </a:r>
            <a:r>
              <a:rPr lang="en-US" altLang="zh-CN" dirty="0" err="1"/>
              <a:t>Splitwise</a:t>
            </a:r>
            <a:r>
              <a:rPr lang="en-US" altLang="zh-CN" dirty="0"/>
              <a:t> 2024).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核心动机</a:t>
            </a:r>
            <a:r>
              <a:rPr lang="en-US" altLang="zh-CN" dirty="0"/>
              <a:t>: Prefill </a:t>
            </a:r>
            <a:r>
              <a:rPr lang="zh-CN" altLang="en-US" dirty="0"/>
              <a:t>阶段为 </a:t>
            </a:r>
            <a:r>
              <a:rPr lang="en-US" altLang="zh-CN" dirty="0"/>
              <a:t>Compute Bound, </a:t>
            </a:r>
            <a:r>
              <a:rPr lang="zh-CN" altLang="en-US" dirty="0"/>
              <a:t>适合大 </a:t>
            </a:r>
            <a:r>
              <a:rPr lang="en-US" altLang="zh-CN" dirty="0"/>
              <a:t>TP + CP </a:t>
            </a:r>
            <a:r>
              <a:rPr lang="zh-CN" altLang="en-US" dirty="0"/>
              <a:t>以分摊计算</a:t>
            </a:r>
            <a:r>
              <a:rPr lang="en-US" altLang="zh-CN" dirty="0"/>
              <a:t>; Decode </a:t>
            </a:r>
            <a:r>
              <a:rPr lang="zh-CN" altLang="en-US" dirty="0"/>
              <a:t>阶段为 </a:t>
            </a:r>
            <a:r>
              <a:rPr lang="en-US" altLang="zh-CN" dirty="0"/>
              <a:t>Memory Bound, </a:t>
            </a:r>
            <a:r>
              <a:rPr lang="zh-CN" altLang="en-US" dirty="0"/>
              <a:t>适合大 </a:t>
            </a:r>
            <a:r>
              <a:rPr lang="en-US" altLang="zh-CN" dirty="0"/>
              <a:t>EP + DP </a:t>
            </a:r>
            <a:r>
              <a:rPr lang="zh-CN" altLang="en-US" dirty="0"/>
              <a:t>以提升吞吐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两阶段对硬件的需求截然不同</a:t>
            </a:r>
            <a:r>
              <a:rPr lang="en-US" altLang="zh-CN" dirty="0"/>
              <a:t>, </a:t>
            </a:r>
            <a:r>
              <a:rPr lang="zh-CN" altLang="en-US" dirty="0"/>
              <a:t>混部会导致资源利用率低下</a:t>
            </a:r>
            <a:r>
              <a:rPr lang="en-US" altLang="zh-CN" dirty="0"/>
              <a:t>. PD </a:t>
            </a:r>
            <a:r>
              <a:rPr lang="zh-CN" altLang="en-US" dirty="0"/>
              <a:t>分离允许 </a:t>
            </a:r>
            <a:r>
              <a:rPr lang="en-US" altLang="zh-CN" dirty="0"/>
              <a:t>Prefill </a:t>
            </a:r>
            <a:r>
              <a:rPr lang="zh-CN" altLang="en-US" dirty="0"/>
              <a:t>和 </a:t>
            </a:r>
            <a:r>
              <a:rPr lang="en-US" altLang="zh-CN" dirty="0"/>
              <a:t>Decode </a:t>
            </a:r>
            <a:r>
              <a:rPr lang="zh-CN" altLang="en-US" dirty="0"/>
              <a:t>使用完全不同的卡数、并行配置和硬件型号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KV Cache </a:t>
            </a:r>
            <a:r>
              <a:rPr lang="zh-CN" altLang="en-US" dirty="0"/>
              <a:t>通过跨节点的传输链路从 </a:t>
            </a:r>
            <a:r>
              <a:rPr lang="en-US" altLang="zh-CN" dirty="0"/>
              <a:t>Prefill </a:t>
            </a:r>
            <a:r>
              <a:rPr lang="zh-CN" altLang="en-US" dirty="0"/>
              <a:t>节点传输至 </a:t>
            </a:r>
            <a:r>
              <a:rPr lang="en-US" altLang="zh-CN" dirty="0"/>
              <a:t>Decode </a:t>
            </a:r>
            <a:r>
              <a:rPr lang="zh-CN" altLang="en-US" dirty="0"/>
              <a:t>节点</a:t>
            </a:r>
            <a:r>
              <a:rPr lang="en-US" altLang="zh-CN" dirty="0"/>
              <a:t>, </a:t>
            </a:r>
            <a:r>
              <a:rPr lang="zh-CN" altLang="en-US" dirty="0"/>
              <a:t>传输延迟是该架构的关键瓶颈之一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dirty="0">
                <a:solidFill>
                  <a:srgbClr val="2D343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Time To First Token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dirty="0">
                <a:solidFill>
                  <a:srgbClr val="2D3436"/>
                </a:solidFill>
                <a:effectLst/>
                <a:latin typeface="Calibri" panose="020F0502020204030204" pitchFamily="34" charset="0"/>
              </a:rPr>
              <a:t>输入到首</a:t>
            </a:r>
            <a:r>
              <a:rPr lang="zh-CN" altLang="zh-CN" sz="1800" b="1" i="0" u="none" strike="noStrike" kern="1200" dirty="0">
                <a:solidFill>
                  <a:srgbClr val="2D343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token </a:t>
            </a:r>
            <a:r>
              <a:rPr lang="zh-CN" altLang="zh-CN" sz="1800" b="1" i="0" u="none" strike="noStrike" kern="1200" dirty="0">
                <a:solidFill>
                  <a:srgbClr val="2D3436"/>
                </a:solidFill>
                <a:effectLst/>
                <a:latin typeface="Calibri" panose="020F0502020204030204" pitchFamily="34" charset="0"/>
              </a:rPr>
              <a:t>延迟</a:t>
            </a:r>
            <a:endParaRPr lang="en-US" altLang="zh-CN" sz="1800" b="1" i="0" u="none" strike="noStrike" kern="1200" dirty="0">
              <a:solidFill>
                <a:srgbClr val="2D3436"/>
              </a:solidFill>
              <a:effectLst/>
              <a:latin typeface="Calibri" panose="020F050202020403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CN" sz="1800" b="1" i="0" u="none" strike="noStrike" kern="1200" dirty="0">
              <a:solidFill>
                <a:srgbClr val="2D3436"/>
              </a:solidFill>
              <a:effectLst/>
              <a:latin typeface="Calibri" panose="020F050202020403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dirty="0">
                <a:solidFill>
                  <a:srgbClr val="2D343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Time Between Tokens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dirty="0">
                <a:solidFill>
                  <a:srgbClr val="2D343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token </a:t>
            </a:r>
            <a:r>
              <a:rPr lang="zh-CN" altLang="zh-CN" sz="1800" b="1" i="0" u="none" strike="noStrike" kern="1200" dirty="0">
                <a:solidFill>
                  <a:srgbClr val="2D3436"/>
                </a:solidFill>
                <a:effectLst/>
                <a:latin typeface="Calibri" panose="020F0502020204030204" pitchFamily="34" charset="0"/>
              </a:rPr>
              <a:t>间输出间隔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205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首先介绍最常用的通信原语 </a:t>
            </a:r>
            <a:r>
              <a:rPr lang="en-US" altLang="zh-CN" dirty="0" err="1"/>
              <a:t>AllReduce</a:t>
            </a:r>
            <a:r>
              <a:rPr lang="en-US" altLang="zh-CN" dirty="0"/>
              <a:t>, </a:t>
            </a:r>
            <a:r>
              <a:rPr lang="zh-CN" altLang="en-US" dirty="0"/>
              <a:t>它是汇聚部分和的核心操作</a:t>
            </a:r>
            <a:r>
              <a:rPr lang="en-US" altLang="zh-CN" dirty="0"/>
              <a:t>. </a:t>
            </a:r>
            <a:r>
              <a:rPr lang="zh-CN" altLang="en-US" dirty="0"/>
              <a:t>其语义是</a:t>
            </a:r>
            <a:r>
              <a:rPr lang="en-US" altLang="zh-CN" dirty="0"/>
              <a:t>: </a:t>
            </a:r>
            <a:r>
              <a:rPr lang="zh-CN" altLang="en-US" dirty="0"/>
              <a:t>所有 </a:t>
            </a:r>
            <a:r>
              <a:rPr lang="en-US" altLang="zh-CN" dirty="0"/>
              <a:t>rank </a:t>
            </a:r>
            <a:r>
              <a:rPr lang="zh-CN" altLang="en-US" dirty="0"/>
              <a:t>各持有一份局部结果</a:t>
            </a:r>
            <a:r>
              <a:rPr lang="en-US" altLang="zh-CN" dirty="0"/>
              <a:t>, </a:t>
            </a:r>
            <a:r>
              <a:rPr lang="zh-CN" altLang="en-US" dirty="0"/>
              <a:t>经归约求和后每个 </a:t>
            </a:r>
            <a:r>
              <a:rPr lang="en-US" altLang="zh-CN" dirty="0"/>
              <a:t>rank </a:t>
            </a:r>
            <a:r>
              <a:rPr lang="zh-CN" altLang="en-US" dirty="0"/>
              <a:t>均获得完整的全局结果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实现上</a:t>
            </a:r>
            <a:r>
              <a:rPr lang="en-US" altLang="zh-CN" dirty="0"/>
              <a:t>, </a:t>
            </a:r>
            <a:r>
              <a:rPr lang="en-US" altLang="zh-CN" dirty="0" err="1"/>
              <a:t>AllReduce</a:t>
            </a:r>
            <a:r>
              <a:rPr lang="en-US" altLang="zh-CN" dirty="0"/>
              <a:t> </a:t>
            </a:r>
            <a:r>
              <a:rPr lang="zh-CN" altLang="en-US" dirty="0"/>
              <a:t>通常采用 </a:t>
            </a:r>
            <a:r>
              <a:rPr lang="en-US" altLang="zh-CN" dirty="0"/>
              <a:t>Ring </a:t>
            </a:r>
            <a:r>
              <a:rPr lang="zh-CN" altLang="en-US" dirty="0"/>
              <a:t>算法</a:t>
            </a:r>
            <a:r>
              <a:rPr lang="en-US" altLang="zh-CN" dirty="0"/>
              <a:t>: </a:t>
            </a:r>
            <a:r>
              <a:rPr lang="zh-CN" altLang="en-US" dirty="0"/>
              <a:t>将数据分成 </a:t>
            </a:r>
            <a:r>
              <a:rPr lang="en-US" altLang="zh-CN" dirty="0"/>
              <a:t>N </a:t>
            </a:r>
            <a:r>
              <a:rPr lang="zh-CN" altLang="en-US" dirty="0"/>
              <a:t>段沿环传递</a:t>
            </a:r>
            <a:r>
              <a:rPr lang="en-US" altLang="zh-CN" dirty="0"/>
              <a:t>, </a:t>
            </a:r>
            <a:r>
              <a:rPr lang="zh-CN" altLang="en-US" dirty="0"/>
              <a:t>分两个阶段 </a:t>
            </a:r>
            <a:r>
              <a:rPr lang="en-US" altLang="zh-CN" dirty="0"/>
              <a:t>(</a:t>
            </a:r>
            <a:r>
              <a:rPr lang="en-US" altLang="zh-CN" dirty="0" err="1"/>
              <a:t>ReduceScatter</a:t>
            </a:r>
            <a:r>
              <a:rPr lang="en-US" altLang="zh-CN" dirty="0"/>
              <a:t> + </a:t>
            </a:r>
            <a:r>
              <a:rPr lang="en-US" altLang="zh-CN" dirty="0" err="1"/>
              <a:t>AllGather</a:t>
            </a:r>
            <a:r>
              <a:rPr lang="en-US" altLang="zh-CN" dirty="0"/>
              <a:t>) </a:t>
            </a:r>
            <a:r>
              <a:rPr lang="zh-CN" altLang="en-US" dirty="0"/>
              <a:t>完成</a:t>
            </a:r>
            <a:r>
              <a:rPr lang="en-US" altLang="zh-CN" dirty="0"/>
              <a:t>, </a:t>
            </a:r>
            <a:r>
              <a:rPr lang="zh-CN" altLang="en-US" dirty="0"/>
              <a:t>总通信量为 </a:t>
            </a:r>
            <a:r>
              <a:rPr lang="en-US" altLang="zh-CN" dirty="0"/>
              <a:t>2(N-1)/N x D.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这意味着通信量几乎与参与的卡数无关 </a:t>
            </a:r>
            <a:r>
              <a:rPr lang="en-US" altLang="zh-CN" dirty="0"/>
              <a:t>(</a:t>
            </a:r>
            <a:r>
              <a:rPr lang="zh-CN" altLang="en-US" dirty="0"/>
              <a:t>当 </a:t>
            </a:r>
            <a:r>
              <a:rPr lang="en-US" altLang="zh-CN" dirty="0"/>
              <a:t>N </a:t>
            </a:r>
            <a:r>
              <a:rPr lang="zh-CN" altLang="en-US" dirty="0"/>
              <a:t>足够大时趋近 </a:t>
            </a:r>
            <a:r>
              <a:rPr lang="en-US" altLang="zh-CN" dirty="0"/>
              <a:t>2D), </a:t>
            </a:r>
            <a:r>
              <a:rPr lang="zh-CN" altLang="en-US" dirty="0"/>
              <a:t>这是 </a:t>
            </a:r>
            <a:r>
              <a:rPr lang="en-US" altLang="zh-CN" dirty="0" err="1"/>
              <a:t>AllReduce</a:t>
            </a:r>
            <a:r>
              <a:rPr lang="en-US" altLang="zh-CN" dirty="0"/>
              <a:t> </a:t>
            </a:r>
            <a:r>
              <a:rPr lang="zh-CN" altLang="en-US" dirty="0"/>
              <a:t>能高效扩展的理论基础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HCCL </a:t>
            </a:r>
            <a:r>
              <a:rPr lang="zh-CN" altLang="en-US" dirty="0"/>
              <a:t>实现了 </a:t>
            </a:r>
            <a:r>
              <a:rPr lang="en-US" altLang="zh-CN" dirty="0"/>
              <a:t>Ring </a:t>
            </a:r>
            <a:r>
              <a:rPr lang="zh-CN" altLang="en-US" dirty="0"/>
              <a:t>和 </a:t>
            </a:r>
            <a:r>
              <a:rPr lang="en-US" altLang="zh-CN" dirty="0"/>
              <a:t>Tree </a:t>
            </a:r>
            <a:r>
              <a:rPr lang="zh-CN" altLang="en-US" dirty="0"/>
              <a:t>两种 </a:t>
            </a:r>
            <a:r>
              <a:rPr lang="en-US" altLang="zh-CN" dirty="0" err="1"/>
              <a:t>AllReduce</a:t>
            </a:r>
            <a:r>
              <a:rPr lang="en-US" altLang="zh-CN" dirty="0"/>
              <a:t> </a:t>
            </a:r>
            <a:r>
              <a:rPr lang="zh-CN" altLang="en-US" dirty="0"/>
              <a:t>算法</a:t>
            </a:r>
            <a:r>
              <a:rPr lang="en-US" altLang="zh-CN" dirty="0"/>
              <a:t>: </a:t>
            </a:r>
            <a:r>
              <a:rPr lang="zh-CN" altLang="en-US" dirty="0"/>
              <a:t>小数据量优先 </a:t>
            </a:r>
            <a:r>
              <a:rPr lang="en-US" altLang="zh-CN" dirty="0"/>
              <a:t>Tree (</a:t>
            </a:r>
            <a:r>
              <a:rPr lang="zh-CN" altLang="en-US" dirty="0"/>
              <a:t>延迟低</a:t>
            </a:r>
            <a:r>
              <a:rPr lang="en-US" altLang="zh-CN" dirty="0"/>
              <a:t>), </a:t>
            </a:r>
            <a:r>
              <a:rPr lang="zh-CN" altLang="en-US" dirty="0"/>
              <a:t>大数据量优先 </a:t>
            </a:r>
            <a:r>
              <a:rPr lang="en-US" altLang="zh-CN" dirty="0"/>
              <a:t>Ring (</a:t>
            </a:r>
            <a:r>
              <a:rPr lang="zh-CN" altLang="en-US" dirty="0"/>
              <a:t>带宽利用率高</a:t>
            </a:r>
            <a:r>
              <a:rPr lang="en-US" altLang="zh-CN" dirty="0"/>
              <a:t>).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76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 err="1"/>
              <a:t>AllReduce</a:t>
            </a:r>
            <a:r>
              <a:rPr lang="en-US" altLang="zh-CN" dirty="0"/>
              <a:t> = </a:t>
            </a:r>
            <a:r>
              <a:rPr lang="en-US" altLang="zh-CN" dirty="0" err="1"/>
              <a:t>ReduceScatter</a:t>
            </a:r>
            <a:r>
              <a:rPr lang="en-US" altLang="zh-CN" dirty="0"/>
              <a:t> + </a:t>
            </a:r>
            <a:r>
              <a:rPr lang="en-US" altLang="zh-CN" dirty="0" err="1"/>
              <a:t>AllGather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传统 </a:t>
            </a:r>
            <a:r>
              <a:rPr lang="en-US" altLang="zh-CN" dirty="0"/>
              <a:t>TP </a:t>
            </a:r>
            <a:r>
              <a:rPr lang="zh-CN" altLang="en-US" dirty="0"/>
              <a:t>使用完整 </a:t>
            </a:r>
            <a:r>
              <a:rPr lang="en-US" altLang="zh-CN" dirty="0" err="1"/>
              <a:t>AllReduce</a:t>
            </a:r>
            <a:r>
              <a:rPr lang="en-US" altLang="zh-CN" dirty="0"/>
              <a:t>, </a:t>
            </a:r>
            <a:r>
              <a:rPr lang="zh-CN" altLang="en-US" dirty="0"/>
              <a:t>归约后每卡冗余持有一份完整激活 </a:t>
            </a:r>
            <a:r>
              <a:rPr lang="en-US" altLang="zh-CN" dirty="0"/>
              <a:t>[B,S,H]; </a:t>
            </a:r>
            <a:r>
              <a:rPr lang="zh-CN" altLang="en-US" dirty="0"/>
              <a:t>而将 </a:t>
            </a:r>
            <a:r>
              <a:rPr lang="en-US" altLang="zh-CN" dirty="0" err="1"/>
              <a:t>AllReduce</a:t>
            </a:r>
            <a:r>
              <a:rPr lang="en-US" altLang="zh-CN" dirty="0"/>
              <a:t> </a:t>
            </a:r>
            <a:r>
              <a:rPr lang="zh-CN" altLang="en-US" dirty="0"/>
              <a:t>拆成两步后</a:t>
            </a:r>
            <a:r>
              <a:rPr lang="en-US" altLang="zh-CN" dirty="0"/>
              <a:t>, </a:t>
            </a:r>
            <a:r>
              <a:rPr lang="en-US" altLang="zh-CN" dirty="0" err="1"/>
              <a:t>ReduceScatter</a:t>
            </a:r>
            <a:r>
              <a:rPr lang="en-US" altLang="zh-CN" dirty="0"/>
              <a:t> </a:t>
            </a:r>
            <a:r>
              <a:rPr lang="zh-CN" altLang="en-US" dirty="0"/>
              <a:t>完成归约但只保留 </a:t>
            </a:r>
            <a:r>
              <a:rPr lang="en-US" altLang="zh-CN" dirty="0"/>
              <a:t>1/N </a:t>
            </a:r>
            <a:r>
              <a:rPr lang="zh-CN" altLang="en-US" dirty="0"/>
              <a:t>分片 → 激活显存降为 </a:t>
            </a:r>
            <a:r>
              <a:rPr lang="en-US" altLang="zh-CN" dirty="0"/>
              <a:t>1/N.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在 </a:t>
            </a:r>
            <a:r>
              <a:rPr lang="en-US" altLang="zh-CN" dirty="0" err="1"/>
              <a:t>ReduceScatter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AllGather</a:t>
            </a:r>
            <a:r>
              <a:rPr lang="en-US" altLang="zh-CN" dirty="0"/>
              <a:t> </a:t>
            </a:r>
            <a:r>
              <a:rPr lang="zh-CN" altLang="en-US" dirty="0"/>
              <a:t>之间插入 </a:t>
            </a:r>
            <a:r>
              <a:rPr lang="en-US" altLang="zh-CN" dirty="0" err="1"/>
              <a:t>LayerNorm</a:t>
            </a:r>
            <a:r>
              <a:rPr lang="en-US" altLang="zh-CN" dirty="0"/>
              <a:t> </a:t>
            </a:r>
            <a:r>
              <a:rPr lang="zh-CN" altLang="en-US" dirty="0"/>
              <a:t>等逐元素操作 </a:t>
            </a:r>
            <a:r>
              <a:rPr lang="en-US" altLang="zh-CN" dirty="0"/>
              <a:t>(</a:t>
            </a:r>
            <a:r>
              <a:rPr lang="zh-CN" altLang="en-US" dirty="0"/>
              <a:t>它们只依赖 </a:t>
            </a:r>
            <a:r>
              <a:rPr lang="en-US" altLang="zh-CN" dirty="0"/>
              <a:t>H </a:t>
            </a:r>
            <a:r>
              <a:rPr lang="zh-CN" altLang="en-US" dirty="0"/>
              <a:t>维度</a:t>
            </a:r>
            <a:r>
              <a:rPr lang="en-US" altLang="zh-CN" dirty="0"/>
              <a:t>, </a:t>
            </a:r>
            <a:r>
              <a:rPr lang="zh-CN" altLang="en-US" dirty="0"/>
              <a:t>不依赖 </a:t>
            </a:r>
            <a:r>
              <a:rPr lang="en-US" altLang="zh-CN" dirty="0"/>
              <a:t>S) </a:t>
            </a:r>
            <a:r>
              <a:rPr lang="zh-CN" altLang="en-US" dirty="0"/>
              <a:t>是合法的</a:t>
            </a:r>
            <a:r>
              <a:rPr lang="en-US" altLang="zh-CN" dirty="0"/>
              <a:t>, </a:t>
            </a:r>
            <a:r>
              <a:rPr lang="zh-CN" altLang="en-US" dirty="0"/>
              <a:t>因此可以在分片状态下完成计算</a:t>
            </a:r>
            <a:r>
              <a:rPr lang="en-US" altLang="zh-CN" dirty="0"/>
              <a:t>, </a:t>
            </a:r>
            <a:r>
              <a:rPr lang="zh-CN" altLang="en-US" dirty="0"/>
              <a:t>从而节省显存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通信总量不变 </a:t>
            </a:r>
            <a:r>
              <a:rPr lang="en-US" altLang="zh-CN" dirty="0"/>
              <a:t>(RS + AG = AR, </a:t>
            </a:r>
            <a:r>
              <a:rPr lang="zh-CN" altLang="en-US" dirty="0"/>
              <a:t>均为 </a:t>
            </a:r>
            <a:r>
              <a:rPr lang="en-US" altLang="zh-CN" dirty="0"/>
              <a:t>2(N-1)/N x D), </a:t>
            </a:r>
            <a:r>
              <a:rPr lang="zh-CN" altLang="en-US" dirty="0"/>
              <a:t>但激活显存从 </a:t>
            </a:r>
            <a:r>
              <a:rPr lang="en-US" altLang="zh-CN" dirty="0"/>
              <a:t>O(B*S*H) </a:t>
            </a:r>
            <a:r>
              <a:rPr lang="zh-CN" altLang="en-US" dirty="0"/>
              <a:t>降至 </a:t>
            </a:r>
            <a:r>
              <a:rPr lang="en-US" altLang="zh-CN" dirty="0"/>
              <a:t>O(B*S*H/</a:t>
            </a:r>
            <a:r>
              <a:rPr lang="en-US" altLang="zh-CN" dirty="0" err="1"/>
              <a:t>tp</a:t>
            </a:r>
            <a:r>
              <a:rPr lang="en-US" altLang="zh-CN" dirty="0"/>
              <a:t>), </a:t>
            </a:r>
            <a:r>
              <a:rPr lang="zh-CN" altLang="en-US" dirty="0"/>
              <a:t>这对长序列大 </a:t>
            </a:r>
            <a:r>
              <a:rPr lang="en-US" altLang="zh-CN" dirty="0"/>
              <a:t>batch </a:t>
            </a:r>
            <a:r>
              <a:rPr lang="zh-CN" altLang="en-US" dirty="0"/>
              <a:t>场景的显存节约非常显著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29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前面的 </a:t>
            </a:r>
            <a:r>
              <a:rPr lang="en-US" altLang="zh-CN" dirty="0" err="1"/>
              <a:t>AllReduce</a:t>
            </a:r>
            <a:r>
              <a:rPr lang="zh-CN" altLang="en-US" dirty="0"/>
              <a:t> 系列操作是「归约」语义 </a:t>
            </a:r>
            <a:r>
              <a:rPr lang="en-US" altLang="zh-CN" dirty="0"/>
              <a:t>—— </a:t>
            </a:r>
            <a:r>
              <a:rPr lang="zh-CN" altLang="en-US" dirty="0"/>
              <a:t>多份数据合并成一份</a:t>
            </a: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 err="1"/>
              <a:t>AllToAll</a:t>
            </a:r>
            <a:r>
              <a:rPr lang="en-US" altLang="zh-CN" dirty="0"/>
              <a:t> </a:t>
            </a:r>
            <a:r>
              <a:rPr lang="zh-CN" altLang="en-US" dirty="0"/>
              <a:t>的语义是「分布式转置」</a:t>
            </a:r>
            <a:r>
              <a:rPr lang="en-US" altLang="zh-CN" dirty="0"/>
              <a:t>: </a:t>
            </a:r>
            <a:r>
              <a:rPr lang="zh-CN" altLang="en-US" dirty="0"/>
              <a:t>操作前每卡按行持有数据</a:t>
            </a:r>
            <a:r>
              <a:rPr lang="en-US" altLang="zh-CN" dirty="0"/>
              <a:t>, </a:t>
            </a:r>
            <a:r>
              <a:rPr lang="zh-CN" altLang="en-US" dirty="0"/>
              <a:t>操作后数据按列重新分布到各卡</a:t>
            </a:r>
            <a:r>
              <a:rPr lang="en-US" altLang="zh-CN" dirty="0"/>
              <a:t>. </a:t>
            </a:r>
            <a:r>
              <a:rPr lang="zh-CN" altLang="en-US" dirty="0"/>
              <a:t>可以理解为一个分布式矩阵转置操作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在 </a:t>
            </a:r>
            <a:r>
              <a:rPr lang="en-US" altLang="zh-CN" dirty="0"/>
              <a:t>EP </a:t>
            </a:r>
            <a:r>
              <a:rPr lang="zh-CN" altLang="en-US" dirty="0"/>
              <a:t>中</a:t>
            </a:r>
            <a:r>
              <a:rPr lang="en-US" altLang="zh-CN" dirty="0"/>
              <a:t>, </a:t>
            </a:r>
            <a:r>
              <a:rPr lang="en-US" altLang="zh-CN" dirty="0" err="1"/>
              <a:t>AllToAll</a:t>
            </a:r>
            <a:r>
              <a:rPr lang="en-US" altLang="zh-CN" dirty="0"/>
              <a:t> </a:t>
            </a:r>
            <a:r>
              <a:rPr lang="zh-CN" altLang="en-US" dirty="0"/>
              <a:t>负责将各卡的 </a:t>
            </a:r>
            <a:r>
              <a:rPr lang="en-US" altLang="zh-CN" dirty="0"/>
              <a:t>token </a:t>
            </a:r>
            <a:r>
              <a:rPr lang="zh-CN" altLang="en-US" dirty="0"/>
              <a:t>按 </a:t>
            </a:r>
            <a:r>
              <a:rPr lang="en-US" altLang="zh-CN" dirty="0"/>
              <a:t>Router </a:t>
            </a:r>
            <a:r>
              <a:rPr lang="zh-CN" altLang="en-US" dirty="0"/>
              <a:t>决策重新分发到目标专家所在的设备 </a:t>
            </a:r>
            <a:r>
              <a:rPr lang="en-US" altLang="zh-CN" dirty="0"/>
              <a:t>(Dispatch), </a:t>
            </a:r>
            <a:r>
              <a:rPr lang="zh-CN" altLang="en-US" dirty="0"/>
              <a:t>专家计算完成后再通过第二次 </a:t>
            </a:r>
            <a:r>
              <a:rPr lang="en-US" altLang="zh-CN" dirty="0" err="1"/>
              <a:t>AllToAll</a:t>
            </a:r>
            <a:r>
              <a:rPr lang="en-US" altLang="zh-CN" dirty="0"/>
              <a:t> </a:t>
            </a:r>
            <a:r>
              <a:rPr lang="zh-CN" altLang="en-US" dirty="0"/>
              <a:t>将结果发回原始 </a:t>
            </a:r>
            <a:r>
              <a:rPr lang="en-US" altLang="zh-CN" dirty="0"/>
              <a:t>rank (Combine).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在 </a:t>
            </a:r>
            <a:r>
              <a:rPr lang="en-US" altLang="zh-CN" dirty="0"/>
              <a:t>Ulysses </a:t>
            </a:r>
            <a:r>
              <a:rPr lang="zh-CN" altLang="en-US" dirty="0"/>
              <a:t>中</a:t>
            </a:r>
            <a:r>
              <a:rPr lang="en-US" altLang="zh-CN" dirty="0"/>
              <a:t>, </a:t>
            </a:r>
            <a:r>
              <a:rPr lang="en-US" altLang="zh-CN" dirty="0" err="1"/>
              <a:t>AllToAll</a:t>
            </a:r>
            <a:r>
              <a:rPr lang="en-US" altLang="zh-CN" dirty="0"/>
              <a:t> </a:t>
            </a:r>
            <a:r>
              <a:rPr lang="zh-CN" altLang="en-US" dirty="0"/>
              <a:t>将「每卡持有所有头的部分序列」转置为「每卡持有完整序列的部分头」</a:t>
            </a:r>
            <a:r>
              <a:rPr lang="en-US" altLang="zh-CN" dirty="0"/>
              <a:t>, </a:t>
            </a:r>
            <a:r>
              <a:rPr lang="zh-CN" altLang="en-US" dirty="0"/>
              <a:t>使各卡可做标准 </a:t>
            </a:r>
            <a:r>
              <a:rPr lang="en-US" altLang="zh-CN" dirty="0"/>
              <a:t>Flash Attention.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 err="1"/>
              <a:t>AllToAll</a:t>
            </a:r>
            <a:r>
              <a:rPr lang="en-US" altLang="zh-CN" dirty="0"/>
              <a:t> </a:t>
            </a:r>
            <a:r>
              <a:rPr lang="zh-CN" altLang="en-US" dirty="0"/>
              <a:t>的一个重要特性是支持动态大小</a:t>
            </a:r>
            <a:r>
              <a:rPr lang="en-US" altLang="zh-CN" dirty="0"/>
              <a:t>: </a:t>
            </a:r>
            <a:r>
              <a:rPr lang="en-US" altLang="zh-CN" dirty="0" err="1"/>
              <a:t>input_splits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output_splits</a:t>
            </a:r>
            <a:r>
              <a:rPr lang="en-US" altLang="zh-CN" dirty="0"/>
              <a:t> </a:t>
            </a:r>
            <a:r>
              <a:rPr lang="zh-CN" altLang="en-US" dirty="0"/>
              <a:t>可以不等长</a:t>
            </a:r>
            <a:r>
              <a:rPr lang="en-US" altLang="zh-CN" dirty="0"/>
              <a:t>, EP </a:t>
            </a:r>
            <a:r>
              <a:rPr lang="zh-CN" altLang="en-US" dirty="0"/>
              <a:t>正是依赖此特性处理 </a:t>
            </a:r>
            <a:r>
              <a:rPr lang="en-US" altLang="zh-CN" dirty="0"/>
              <a:t>Router </a:t>
            </a:r>
            <a:r>
              <a:rPr lang="zh-CN" altLang="en-US" dirty="0"/>
              <a:t>决策后 </a:t>
            </a:r>
            <a:r>
              <a:rPr lang="en-US" altLang="zh-CN" dirty="0"/>
              <a:t>token </a:t>
            </a:r>
            <a:r>
              <a:rPr lang="zh-CN" altLang="en-US" dirty="0"/>
              <a:t>到各卡数量不均的情况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733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P2P </a:t>
            </a:r>
            <a:r>
              <a:rPr lang="zh-CN" altLang="en-US" dirty="0"/>
              <a:t>是延迟最低的通信原语</a:t>
            </a:r>
            <a:r>
              <a:rPr lang="en-US" altLang="zh-CN" dirty="0"/>
              <a:t>, </a:t>
            </a:r>
            <a:r>
              <a:rPr lang="zh-CN" altLang="en-US" dirty="0"/>
              <a:t>适用于只涉及相邻设备的数据传递场景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在 </a:t>
            </a:r>
            <a:r>
              <a:rPr lang="en-US" altLang="zh-CN" dirty="0"/>
              <a:t>PP </a:t>
            </a:r>
            <a:r>
              <a:rPr lang="zh-CN" altLang="en-US" dirty="0"/>
              <a:t>中</a:t>
            </a:r>
            <a:r>
              <a:rPr lang="en-US" altLang="zh-CN" dirty="0"/>
              <a:t>, </a:t>
            </a:r>
            <a:r>
              <a:rPr lang="zh-CN" altLang="en-US" dirty="0"/>
              <a:t>每个 </a:t>
            </a:r>
            <a:r>
              <a:rPr lang="en-US" altLang="zh-CN" dirty="0"/>
              <a:t>Stage </a:t>
            </a:r>
            <a:r>
              <a:rPr lang="zh-CN" altLang="en-US" dirty="0"/>
              <a:t>完成计算后通过 </a:t>
            </a:r>
            <a:r>
              <a:rPr lang="en-US" altLang="zh-CN" dirty="0"/>
              <a:t>P2P </a:t>
            </a:r>
            <a:r>
              <a:rPr lang="zh-CN" altLang="en-US" dirty="0"/>
              <a:t>将中间激活值传递给下一个 </a:t>
            </a:r>
            <a:r>
              <a:rPr lang="en-US" altLang="zh-CN" dirty="0"/>
              <a:t>Stage.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在 </a:t>
            </a:r>
            <a:r>
              <a:rPr lang="en-US" altLang="zh-CN" dirty="0"/>
              <a:t>Ring Attention </a:t>
            </a:r>
            <a:r>
              <a:rPr lang="zh-CN" altLang="en-US" dirty="0"/>
              <a:t>中</a:t>
            </a:r>
            <a:r>
              <a:rPr lang="en-US" altLang="zh-CN" dirty="0"/>
              <a:t>, KV </a:t>
            </a:r>
            <a:r>
              <a:rPr lang="zh-CN" altLang="en-US" dirty="0"/>
              <a:t>块沿环形拓扑逐步传递</a:t>
            </a:r>
            <a:r>
              <a:rPr lang="en-US" altLang="zh-CN" dirty="0"/>
              <a:t>, </a:t>
            </a:r>
            <a:r>
              <a:rPr lang="zh-CN" altLang="en-US" dirty="0"/>
              <a:t>每轮仅涉及相邻 </a:t>
            </a:r>
            <a:r>
              <a:rPr lang="en-US" altLang="zh-CN" dirty="0"/>
              <a:t>rank </a:t>
            </a:r>
            <a:r>
              <a:rPr lang="zh-CN" altLang="en-US" dirty="0"/>
              <a:t>之间的 </a:t>
            </a:r>
            <a:r>
              <a:rPr lang="en-US" altLang="zh-CN" dirty="0"/>
              <a:t>P2P </a:t>
            </a:r>
            <a:r>
              <a:rPr lang="zh-CN" altLang="en-US" dirty="0"/>
              <a:t>通信</a:t>
            </a:r>
            <a:r>
              <a:rPr lang="en-US" altLang="zh-CN" dirty="0"/>
              <a:t>, </a:t>
            </a:r>
            <a:r>
              <a:rPr lang="zh-CN" altLang="en-US" dirty="0"/>
              <a:t>配合非阻塞模式可实现计算与通信的重叠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817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effectLst/>
                <a:latin typeface="HarmonyOS-Hans"/>
              </a:rPr>
              <a:t>这里，在</a:t>
            </a:r>
            <a:r>
              <a:rPr lang="zh-CN" altLang="en-US" b="1" i="0" dirty="0">
                <a:effectLst/>
                <a:latin typeface="HarmonyOS-Hans"/>
              </a:rPr>
              <a:t>前向传播</a:t>
            </a:r>
            <a:r>
              <a:rPr lang="zh-CN" altLang="en-US" b="0" i="0" dirty="0">
                <a:effectLst/>
                <a:latin typeface="HarmonyOS-Hans"/>
              </a:rPr>
              <a:t>中，假设对于网络的一层，要计算</a:t>
            </a:r>
            <a:r>
              <a:rPr lang="en-US" altLang="zh-CN" b="0" i="0" dirty="0">
                <a:effectLst/>
                <a:latin typeface="HarmonyOS-Hans"/>
              </a:rPr>
              <a:t>X · W = Y</a:t>
            </a:r>
            <a:r>
              <a:rPr lang="zh-CN" altLang="en-US" b="0" i="0" dirty="0">
                <a:effectLst/>
                <a:latin typeface="HarmonyOS-Hans"/>
              </a:rPr>
              <a:t>， </a:t>
            </a:r>
            <a:r>
              <a:rPr lang="en-US" altLang="zh-CN" b="0" i="0" dirty="0">
                <a:effectLst/>
                <a:latin typeface="HarmonyOS-Hans"/>
              </a:rPr>
              <a:t>X</a:t>
            </a:r>
            <a:r>
              <a:rPr lang="zh-CN" altLang="en-US" b="0" i="0" dirty="0">
                <a:effectLst/>
                <a:latin typeface="HarmonyOS-Hans"/>
              </a:rPr>
              <a:t>、</a:t>
            </a:r>
            <a:r>
              <a:rPr lang="en-US" altLang="zh-CN" b="0" i="0" dirty="0">
                <a:effectLst/>
                <a:latin typeface="HarmonyOS-Hans"/>
              </a:rPr>
              <a:t>Y</a:t>
            </a:r>
            <a:r>
              <a:rPr lang="zh-CN" altLang="en-US" b="0" i="0" dirty="0">
                <a:effectLst/>
                <a:latin typeface="HarmonyOS-Hans"/>
              </a:rPr>
              <a:t>分别是网络中这一层的输入和输出激励，</a:t>
            </a:r>
            <a:r>
              <a:rPr lang="en-US" altLang="zh-CN" b="0" i="0" dirty="0">
                <a:effectLst/>
                <a:latin typeface="HarmonyOS-Hans"/>
              </a:rPr>
              <a:t>W</a:t>
            </a:r>
            <a:r>
              <a:rPr lang="zh-CN" altLang="en-US" b="0" i="0" dirty="0">
                <a:effectLst/>
                <a:latin typeface="HarmonyOS-Hans"/>
              </a:rPr>
              <a:t>是这一层对应的模型权重参数。</a:t>
            </a:r>
          </a:p>
          <a:p>
            <a:pPr algn="l"/>
            <a:r>
              <a:rPr lang="zh-CN" altLang="en-US" b="1" i="0" dirty="0">
                <a:effectLst/>
                <a:latin typeface="HarmonyOS-Hans"/>
              </a:rPr>
              <a:t>列并行</a:t>
            </a:r>
            <a:r>
              <a:rPr lang="zh-CN" altLang="en-US" b="0" i="0" dirty="0">
                <a:effectLst/>
                <a:latin typeface="HarmonyOS-Hans"/>
              </a:rPr>
              <a:t>就是把参数矩阵</a:t>
            </a:r>
            <a:r>
              <a:rPr lang="en-US" altLang="zh-CN" b="0" i="0" dirty="0">
                <a:effectLst/>
                <a:latin typeface="HarmonyOS-Hans"/>
              </a:rPr>
              <a:t>W</a:t>
            </a:r>
            <a:r>
              <a:rPr lang="zh-CN" altLang="en-US" b="0" i="0" dirty="0">
                <a:effectLst/>
                <a:latin typeface="HarmonyOS-Hans"/>
              </a:rPr>
              <a:t>按照列的维度分开，存放在两个（或多个）计算节点上分别计算对应部分的矩阵乘法。此时对于输入激励</a:t>
            </a:r>
            <a:r>
              <a:rPr lang="en-US" altLang="zh-CN" b="0" i="0" dirty="0">
                <a:effectLst/>
                <a:latin typeface="HarmonyOS-Hans"/>
              </a:rPr>
              <a:t>X</a:t>
            </a:r>
            <a:r>
              <a:rPr lang="zh-CN" altLang="en-US" b="0" i="0" dirty="0">
                <a:effectLst/>
                <a:latin typeface="HarmonyOS-Hans"/>
              </a:rPr>
              <a:t>，需要将其整个拷贝到这两个节点上；对于输出激励</a:t>
            </a:r>
            <a:r>
              <a:rPr lang="en-US" altLang="zh-CN" b="0" i="0" dirty="0">
                <a:effectLst/>
                <a:latin typeface="HarmonyOS-Hans"/>
              </a:rPr>
              <a:t>Y</a:t>
            </a:r>
            <a:r>
              <a:rPr lang="zh-CN" altLang="en-US" b="0" i="0" dirty="0">
                <a:effectLst/>
                <a:latin typeface="HarmonyOS-Hans"/>
              </a:rPr>
              <a:t>，需要将这两个节点的输出</a:t>
            </a:r>
            <a:r>
              <a:rPr lang="en-US" altLang="zh-CN" b="0" i="0" dirty="0">
                <a:effectLst/>
                <a:latin typeface="HarmonyOS-Hans"/>
              </a:rPr>
              <a:t>Y1</a:t>
            </a:r>
            <a:r>
              <a:rPr lang="zh-CN" altLang="en-US" b="0" i="0" dirty="0">
                <a:effectLst/>
                <a:latin typeface="HarmonyOS-Hans"/>
              </a:rPr>
              <a:t>、</a:t>
            </a:r>
            <a:r>
              <a:rPr lang="en-US" altLang="zh-CN" b="0" i="0" dirty="0">
                <a:effectLst/>
                <a:latin typeface="HarmonyOS-Hans"/>
              </a:rPr>
              <a:t>Y2</a:t>
            </a:r>
            <a:r>
              <a:rPr lang="zh-CN" altLang="en-US" b="0" i="0" dirty="0">
                <a:effectLst/>
                <a:latin typeface="HarmonyOS-Hans"/>
              </a:rPr>
              <a:t>拼接在一起来获得。</a:t>
            </a:r>
          </a:p>
          <a:p>
            <a:pPr algn="l"/>
            <a:r>
              <a:rPr lang="zh-CN" altLang="en-US" b="1" i="0" dirty="0">
                <a:effectLst/>
                <a:latin typeface="HarmonyOS-Hans"/>
              </a:rPr>
              <a:t>行并行</a:t>
            </a:r>
            <a:r>
              <a:rPr lang="zh-CN" altLang="en-US" b="0" i="0" dirty="0">
                <a:effectLst/>
                <a:latin typeface="HarmonyOS-Hans"/>
              </a:rPr>
              <a:t>就是把参数矩阵</a:t>
            </a:r>
            <a:r>
              <a:rPr lang="en-US" altLang="zh-CN" b="0" i="0" dirty="0">
                <a:effectLst/>
                <a:latin typeface="HarmonyOS-Hans"/>
              </a:rPr>
              <a:t>W</a:t>
            </a:r>
            <a:r>
              <a:rPr lang="zh-CN" altLang="en-US" b="0" i="0" dirty="0">
                <a:effectLst/>
                <a:latin typeface="HarmonyOS-Hans"/>
              </a:rPr>
              <a:t>按照行的维度分开，存放在两个（或多个）计算节点上分别计算。此时对于输入激励</a:t>
            </a:r>
            <a:r>
              <a:rPr lang="en-US" altLang="zh-CN" b="0" i="0" dirty="0">
                <a:effectLst/>
                <a:latin typeface="HarmonyOS-Hans"/>
              </a:rPr>
              <a:t>X</a:t>
            </a:r>
            <a:r>
              <a:rPr lang="zh-CN" altLang="en-US" b="0" i="0" dirty="0">
                <a:effectLst/>
                <a:latin typeface="HarmonyOS-Hans"/>
              </a:rPr>
              <a:t>，也将其按照对应维度切分到这两个节点上；而要得到完整的输出激励</a:t>
            </a:r>
            <a:r>
              <a:rPr lang="en-US" altLang="zh-CN" b="0" i="0" dirty="0">
                <a:effectLst/>
                <a:latin typeface="HarmonyOS-Hans"/>
              </a:rPr>
              <a:t>Y</a:t>
            </a:r>
            <a:r>
              <a:rPr lang="zh-CN" altLang="en-US" b="0" i="0" dirty="0">
                <a:effectLst/>
                <a:latin typeface="HarmonyOS-Hans"/>
              </a:rPr>
              <a:t>，需要将这两个节点的输出</a:t>
            </a:r>
            <a:r>
              <a:rPr lang="en-US" altLang="zh-CN" b="0" i="0" dirty="0">
                <a:effectLst/>
                <a:latin typeface="HarmonyOS-Hans"/>
              </a:rPr>
              <a:t>Y1</a:t>
            </a:r>
            <a:r>
              <a:rPr lang="zh-CN" altLang="en-US" b="0" i="0" dirty="0">
                <a:effectLst/>
                <a:latin typeface="HarmonyOS-Hans"/>
              </a:rPr>
              <a:t>、</a:t>
            </a:r>
            <a:r>
              <a:rPr lang="en-US" altLang="zh-CN" b="0" i="0" dirty="0">
                <a:effectLst/>
                <a:latin typeface="HarmonyOS-Hans"/>
              </a:rPr>
              <a:t>Y2</a:t>
            </a:r>
            <a:r>
              <a:rPr lang="zh-CN" altLang="en-US" b="0" i="0" dirty="0">
                <a:effectLst/>
                <a:latin typeface="HarmonyOS-Hans"/>
              </a:rPr>
              <a:t>点对点的加起来。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224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列并行的核心思路是将权重矩阵沿输出维度 </a:t>
            </a:r>
            <a:r>
              <a:rPr lang="en-US" altLang="zh-CN" dirty="0"/>
              <a:t>(</a:t>
            </a:r>
            <a:r>
              <a:rPr lang="zh-CN" altLang="en-US" dirty="0"/>
              <a:t>列方向</a:t>
            </a:r>
            <a:r>
              <a:rPr lang="en-US" altLang="zh-CN" dirty="0"/>
              <a:t>) </a:t>
            </a:r>
            <a:r>
              <a:rPr lang="zh-CN" altLang="en-US" dirty="0"/>
              <a:t>均匀切分到各卡</a:t>
            </a:r>
            <a:r>
              <a:rPr lang="en-US" altLang="zh-CN" dirty="0"/>
              <a:t>. </a:t>
            </a:r>
            <a:r>
              <a:rPr lang="zh-CN" altLang="en-US" dirty="0"/>
              <a:t>由于矩阵乘 </a:t>
            </a:r>
            <a:r>
              <a:rPr lang="en-US" altLang="zh-CN" dirty="0"/>
              <a:t>Y = X * W </a:t>
            </a:r>
            <a:r>
              <a:rPr lang="zh-CN" altLang="en-US" dirty="0"/>
              <a:t>可以按列分解为 </a:t>
            </a:r>
            <a:r>
              <a:rPr lang="en-US" altLang="zh-CN" dirty="0"/>
              <a:t>Y = [X*W0 | X*W1 | ... | X_{tp-1}], </a:t>
            </a:r>
            <a:r>
              <a:rPr lang="zh-CN" altLang="en-US" dirty="0"/>
              <a:t>每卡只需持有完整输入 </a:t>
            </a:r>
            <a:r>
              <a:rPr lang="en-US" altLang="zh-CN" dirty="0"/>
              <a:t>X </a:t>
            </a:r>
            <a:r>
              <a:rPr lang="zh-CN" altLang="en-US" dirty="0"/>
              <a:t>和 </a:t>
            </a:r>
            <a:r>
              <a:rPr lang="en-US" altLang="zh-CN" dirty="0"/>
              <a:t>1/</a:t>
            </a:r>
            <a:r>
              <a:rPr lang="en-US" altLang="zh-CN" dirty="0" err="1"/>
              <a:t>tp</a:t>
            </a:r>
            <a:r>
              <a:rPr lang="zh-CN" altLang="en-US" dirty="0"/>
              <a:t> 的权重</a:t>
            </a:r>
            <a:r>
              <a:rPr lang="en-US" altLang="zh-CN" dirty="0"/>
              <a:t>, </a:t>
            </a:r>
            <a:r>
              <a:rPr lang="zh-CN" altLang="en-US" dirty="0"/>
              <a:t>即可独立计算出完整输出的一部分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这意味着列并行的前向传播不需要任何通信 </a:t>
            </a:r>
            <a:r>
              <a:rPr lang="en-US" altLang="zh-CN" dirty="0"/>
              <a:t>—— </a:t>
            </a:r>
            <a:r>
              <a:rPr lang="zh-CN" altLang="en-US" dirty="0"/>
              <a:t>各卡的计算是完全独立的</a:t>
            </a:r>
            <a:r>
              <a:rPr lang="en-US" altLang="zh-CN" dirty="0"/>
              <a:t>. </a:t>
            </a:r>
            <a:r>
              <a:rPr lang="zh-CN" altLang="en-US" dirty="0"/>
              <a:t>但代价是每卡需要接收完整的输入 </a:t>
            </a:r>
            <a:r>
              <a:rPr lang="en-US" altLang="zh-CN" dirty="0"/>
              <a:t>X (</a:t>
            </a:r>
            <a:r>
              <a:rPr lang="zh-CN" altLang="en-US" dirty="0"/>
              <a:t>通过上一层行并行的 </a:t>
            </a:r>
            <a:r>
              <a:rPr lang="en-US" altLang="zh-CN" dirty="0" err="1"/>
              <a:t>AllReduce</a:t>
            </a:r>
            <a:r>
              <a:rPr lang="zh-CN" altLang="en-US" dirty="0"/>
              <a:t> 或 </a:t>
            </a:r>
            <a:r>
              <a:rPr lang="en-US" altLang="zh-CN" dirty="0" err="1"/>
              <a:t>AllGather</a:t>
            </a:r>
            <a:r>
              <a:rPr lang="zh-CN" altLang="en-US" dirty="0"/>
              <a:t> 获得</a:t>
            </a:r>
            <a:r>
              <a:rPr lang="en-US" altLang="zh-CN" dirty="0"/>
              <a:t>).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列并行适用于 </a:t>
            </a:r>
            <a:r>
              <a:rPr lang="en-US" altLang="zh-CN" dirty="0"/>
              <a:t>Transformer </a:t>
            </a:r>
            <a:r>
              <a:rPr lang="zh-CN" altLang="en-US" dirty="0"/>
              <a:t>中所有将隐藏维度映射到更高维度的投影层</a:t>
            </a:r>
            <a:r>
              <a:rPr lang="en-US" altLang="zh-CN" dirty="0"/>
              <a:t>: Q/K/V </a:t>
            </a:r>
            <a:r>
              <a:rPr lang="zh-CN" altLang="en-US" dirty="0"/>
              <a:t>投影 </a:t>
            </a:r>
            <a:r>
              <a:rPr lang="en-US" altLang="zh-CN" dirty="0"/>
              <a:t>(H → H), </a:t>
            </a:r>
            <a:r>
              <a:rPr lang="en-US" altLang="zh-CN" dirty="0" err="1"/>
              <a:t>gate_proj</a:t>
            </a:r>
            <a:r>
              <a:rPr lang="zh-CN" altLang="en-US" dirty="0"/>
              <a:t> 和 </a:t>
            </a:r>
            <a:r>
              <a:rPr lang="en-US" altLang="zh-CN" dirty="0" err="1"/>
              <a:t>up_proj</a:t>
            </a:r>
            <a:r>
              <a:rPr lang="zh-CN" altLang="en-US" dirty="0"/>
              <a:t> </a:t>
            </a:r>
            <a:r>
              <a:rPr lang="en-US" altLang="zh-CN" dirty="0"/>
              <a:t>(H → 4H). </a:t>
            </a:r>
            <a:r>
              <a:rPr lang="zh-CN" altLang="en-US" dirty="0"/>
              <a:t>这些层的输出维度较大</a:t>
            </a:r>
            <a:r>
              <a:rPr lang="en-US" altLang="zh-CN" dirty="0"/>
              <a:t>, </a:t>
            </a:r>
            <a:r>
              <a:rPr lang="zh-CN" altLang="en-US" dirty="0"/>
              <a:t>切分后可有效降低单卡的计算量和权重存储量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列并行解决了「如何切」的问题</a:t>
            </a:r>
            <a:r>
              <a:rPr lang="en-US" altLang="zh-CN" dirty="0"/>
              <a:t>, </a:t>
            </a:r>
            <a:r>
              <a:rPr lang="zh-CN" altLang="en-US" dirty="0"/>
              <a:t>但它的输出是分片的</a:t>
            </a:r>
            <a:r>
              <a:rPr lang="en-US" altLang="zh-CN" dirty="0"/>
              <a:t>. </a:t>
            </a:r>
            <a:r>
              <a:rPr lang="zh-CN" altLang="en-US" dirty="0"/>
              <a:t>接下来的行并行负责「如何合」</a:t>
            </a:r>
            <a:r>
              <a:rPr lang="en-US" altLang="zh-CN" dirty="0"/>
              <a:t>: 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行并行的核心思路是将权重矩阵沿输入维度 </a:t>
            </a:r>
            <a:r>
              <a:rPr lang="en-US" altLang="zh-CN" dirty="0"/>
              <a:t>(</a:t>
            </a:r>
            <a:r>
              <a:rPr lang="zh-CN" altLang="en-US" dirty="0"/>
              <a:t>行方向</a:t>
            </a:r>
            <a:r>
              <a:rPr lang="en-US" altLang="zh-CN" dirty="0"/>
              <a:t>) </a:t>
            </a:r>
            <a:r>
              <a:rPr lang="zh-CN" altLang="en-US" dirty="0"/>
              <a:t>切分</a:t>
            </a:r>
            <a:r>
              <a:rPr lang="en-US" altLang="zh-CN" dirty="0"/>
              <a:t>. </a:t>
            </a:r>
            <a:r>
              <a:rPr lang="zh-CN" altLang="en-US" dirty="0"/>
              <a:t>由于矩阵乘可以按行分解为 </a:t>
            </a:r>
            <a:r>
              <a:rPr lang="en-US" altLang="zh-CN" dirty="0"/>
              <a:t>Y = X0*W0 + X1*W1 + ... + X_{tp-1}*W_{tp-1}, </a:t>
            </a:r>
            <a:r>
              <a:rPr lang="zh-CN" altLang="en-US" dirty="0"/>
              <a:t>每卡计算出的是最终结果的一个「部分和」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因此</a:t>
            </a:r>
            <a:r>
              <a:rPr lang="en-US" altLang="zh-CN" dirty="0"/>
              <a:t>, </a:t>
            </a:r>
            <a:r>
              <a:rPr lang="zh-CN" altLang="en-US" dirty="0"/>
              <a:t>行并行的前向传播必须在最后执行一次 </a:t>
            </a:r>
            <a:r>
              <a:rPr lang="en-US" altLang="zh-CN" dirty="0" err="1"/>
              <a:t>AllReduce</a:t>
            </a:r>
            <a:r>
              <a:rPr lang="en-US" altLang="zh-CN" dirty="0"/>
              <a:t>, </a:t>
            </a:r>
            <a:r>
              <a:rPr lang="zh-CN" altLang="en-US" dirty="0"/>
              <a:t>将各卡的部分和汇聚为完整结果</a:t>
            </a:r>
            <a:r>
              <a:rPr lang="en-US" altLang="zh-CN" dirty="0"/>
              <a:t>. </a:t>
            </a:r>
            <a:r>
              <a:rPr lang="zh-CN" altLang="en-US" dirty="0"/>
              <a:t>这是 </a:t>
            </a:r>
            <a:r>
              <a:rPr lang="en-US" altLang="zh-CN" dirty="0"/>
              <a:t>TP </a:t>
            </a:r>
            <a:r>
              <a:rPr lang="zh-CN" altLang="en-US" dirty="0"/>
              <a:t>通信开销的主要来源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行并行的输入恰好是列并行的输出</a:t>
            </a:r>
            <a:r>
              <a:rPr lang="en-US" altLang="zh-CN" dirty="0"/>
              <a:t>: </a:t>
            </a:r>
            <a:r>
              <a:rPr lang="zh-CN" altLang="en-US" dirty="0"/>
              <a:t>列并行产生的分片 </a:t>
            </a:r>
            <a:r>
              <a:rPr lang="en-US" altLang="zh-CN" dirty="0"/>
              <a:t>[B, S, </a:t>
            </a:r>
            <a:r>
              <a:rPr lang="en-US" altLang="zh-CN" dirty="0" err="1"/>
              <a:t>H_out</a:t>
            </a:r>
            <a:r>
              <a:rPr lang="en-US" altLang="zh-CN" dirty="0"/>
              <a:t>/</a:t>
            </a:r>
            <a:r>
              <a:rPr lang="en-US" altLang="zh-CN" dirty="0" err="1"/>
              <a:t>tp</a:t>
            </a:r>
            <a:r>
              <a:rPr lang="en-US" altLang="zh-CN" dirty="0"/>
              <a:t>] </a:t>
            </a:r>
            <a:r>
              <a:rPr lang="zh-CN" altLang="en-US" dirty="0"/>
              <a:t>正好对应行并行所需的分片输入 </a:t>
            </a:r>
            <a:r>
              <a:rPr lang="en-US" altLang="zh-CN" dirty="0"/>
              <a:t>[B, S, </a:t>
            </a:r>
            <a:r>
              <a:rPr lang="en-US" altLang="zh-CN" dirty="0" err="1"/>
              <a:t>H_in</a:t>
            </a:r>
            <a:r>
              <a:rPr lang="en-US" altLang="zh-CN" dirty="0"/>
              <a:t>/</a:t>
            </a:r>
            <a:r>
              <a:rPr lang="en-US" altLang="zh-CN" dirty="0" err="1"/>
              <a:t>tp</a:t>
            </a:r>
            <a:r>
              <a:rPr lang="en-US" altLang="zh-CN" dirty="0"/>
              <a:t>]. </a:t>
            </a:r>
            <a:r>
              <a:rPr lang="zh-CN" altLang="en-US" dirty="0"/>
              <a:t>这种天然对接使得列并行和行并行之间不需要额外通信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行并行适用于 </a:t>
            </a:r>
            <a:r>
              <a:rPr lang="en-US" altLang="zh-CN" dirty="0"/>
              <a:t>Transformer </a:t>
            </a:r>
            <a:r>
              <a:rPr lang="zh-CN" altLang="en-US" dirty="0"/>
              <a:t>中将高维度映射回隐藏维度的投影层</a:t>
            </a:r>
            <a:r>
              <a:rPr lang="en-US" altLang="zh-CN" dirty="0"/>
              <a:t>: </a:t>
            </a:r>
            <a:r>
              <a:rPr lang="en-US" altLang="zh-CN" dirty="0" err="1"/>
              <a:t>O_proj</a:t>
            </a:r>
            <a:r>
              <a:rPr lang="en-US" altLang="zh-CN" dirty="0"/>
              <a:t> (</a:t>
            </a:r>
            <a:r>
              <a:rPr lang="zh-CN" altLang="en-US" dirty="0"/>
              <a:t>多头输出 → </a:t>
            </a:r>
            <a:r>
              <a:rPr lang="en-US" altLang="zh-CN" dirty="0"/>
              <a:t>H) </a:t>
            </a:r>
            <a:r>
              <a:rPr lang="zh-CN" altLang="en-US" dirty="0"/>
              <a:t>和 </a:t>
            </a:r>
            <a:r>
              <a:rPr lang="en-US" altLang="zh-CN" dirty="0" err="1"/>
              <a:t>down_proj</a:t>
            </a:r>
            <a:r>
              <a:rPr lang="en-US" altLang="zh-CN" dirty="0"/>
              <a:t> (4H → H). </a:t>
            </a:r>
            <a:r>
              <a:rPr lang="zh-CN" altLang="en-US" dirty="0"/>
              <a:t>每个 </a:t>
            </a:r>
            <a:r>
              <a:rPr lang="en-US" altLang="zh-CN" dirty="0"/>
              <a:t>Transformer Block </a:t>
            </a:r>
            <a:r>
              <a:rPr lang="zh-CN" altLang="en-US" dirty="0"/>
              <a:t>中恰好有 </a:t>
            </a:r>
            <a:r>
              <a:rPr lang="en-US" altLang="zh-CN" dirty="0"/>
              <a:t>2 </a:t>
            </a:r>
            <a:r>
              <a:rPr lang="zh-CN" altLang="en-US" dirty="0"/>
              <a:t>个行并行层</a:t>
            </a:r>
            <a:r>
              <a:rPr lang="en-US" altLang="zh-CN" dirty="0"/>
              <a:t>, </a:t>
            </a:r>
            <a:r>
              <a:rPr lang="zh-CN" altLang="en-US" dirty="0"/>
              <a:t>因此固定产生 </a:t>
            </a:r>
            <a:r>
              <a:rPr lang="en-US" altLang="zh-CN" dirty="0"/>
              <a:t>2 </a:t>
            </a:r>
            <a:r>
              <a:rPr lang="zh-CN" altLang="en-US" dirty="0"/>
              <a:t>次 </a:t>
            </a:r>
            <a:r>
              <a:rPr lang="en-US" altLang="zh-CN" dirty="0" err="1"/>
              <a:t>AllReduce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101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这种「列→本地计算→行→</a:t>
            </a:r>
            <a:r>
              <a:rPr lang="en-US" altLang="zh-CN" dirty="0" err="1"/>
              <a:t>AllReduce</a:t>
            </a:r>
            <a:r>
              <a:rPr lang="zh-CN" altLang="en-US" dirty="0"/>
              <a:t>」的模式是 </a:t>
            </a:r>
            <a:r>
              <a:rPr lang="en-US" altLang="zh-CN" dirty="0"/>
              <a:t>Megatron-LM </a:t>
            </a:r>
            <a:r>
              <a:rPr lang="zh-CN" altLang="en-US" dirty="0"/>
              <a:t>的核心设计</a:t>
            </a:r>
            <a:r>
              <a:rPr lang="en-US" altLang="zh-CN" dirty="0"/>
              <a:t>, </a:t>
            </a:r>
            <a:r>
              <a:rPr lang="zh-CN" altLang="en-US" dirty="0"/>
              <a:t>它将 </a:t>
            </a:r>
            <a:r>
              <a:rPr lang="en-US" altLang="zh-CN" dirty="0"/>
              <a:t>TP </a:t>
            </a:r>
            <a:r>
              <a:rPr lang="zh-CN" altLang="en-US" dirty="0"/>
              <a:t>的通信开销降到了理论最低</a:t>
            </a:r>
            <a:r>
              <a:rPr lang="en-US" altLang="zh-CN" dirty="0"/>
              <a:t>: </a:t>
            </a:r>
            <a:r>
              <a:rPr lang="zh-CN" altLang="en-US" dirty="0"/>
              <a:t>每个 </a:t>
            </a:r>
            <a:r>
              <a:rPr lang="en-US" altLang="zh-CN" dirty="0"/>
              <a:t>Block </a:t>
            </a:r>
            <a:r>
              <a:rPr lang="zh-CN" altLang="en-US" dirty="0"/>
              <a:t>做 </a:t>
            </a:r>
            <a:r>
              <a:rPr lang="en-US" altLang="zh-CN" dirty="0"/>
              <a:t>2 </a:t>
            </a:r>
            <a:r>
              <a:rPr lang="zh-CN" altLang="en-US" dirty="0"/>
              <a:t>次全局通信</a:t>
            </a:r>
            <a:r>
              <a:rPr lang="en-US" altLang="zh-CN" dirty="0"/>
              <a:t>, </a:t>
            </a:r>
            <a:r>
              <a:rPr lang="zh-CN" altLang="en-US" dirty="0"/>
              <a:t>且通信量与 </a:t>
            </a:r>
            <a:r>
              <a:rPr lang="en-US" altLang="zh-CN" dirty="0" err="1"/>
              <a:t>tp_size</a:t>
            </a:r>
            <a:r>
              <a:rPr lang="zh-CN" altLang="en-US" dirty="0"/>
              <a:t> 无关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整个模型的 </a:t>
            </a:r>
            <a:r>
              <a:rPr lang="en-US" altLang="zh-CN" dirty="0"/>
              <a:t>TP </a:t>
            </a:r>
            <a:r>
              <a:rPr lang="zh-CN" altLang="en-US" dirty="0"/>
              <a:t>通信总次数 </a:t>
            </a:r>
            <a:r>
              <a:rPr lang="en-US" altLang="zh-CN" dirty="0"/>
              <a:t>= 2 x </a:t>
            </a:r>
            <a:r>
              <a:rPr lang="en-US" altLang="zh-CN" dirty="0" err="1"/>
              <a:t>num_layers</a:t>
            </a:r>
            <a:r>
              <a:rPr lang="en-US" altLang="zh-CN" dirty="0"/>
              <a:t>, </a:t>
            </a:r>
            <a:r>
              <a:rPr lang="zh-CN" altLang="en-US" dirty="0"/>
              <a:t>这是一个固定值</a:t>
            </a:r>
            <a:r>
              <a:rPr lang="en-US" altLang="zh-CN" dirty="0"/>
              <a:t>, </a:t>
            </a:r>
            <a:r>
              <a:rPr lang="zh-CN" altLang="en-US" dirty="0"/>
              <a:t>只与模型深度有关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002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前面提到行并行每次产生一次 </a:t>
            </a:r>
            <a:r>
              <a:rPr lang="en-US" altLang="zh-CN" dirty="0" err="1"/>
              <a:t>AllReduce</a:t>
            </a:r>
            <a:r>
              <a:rPr lang="en-US" altLang="zh-CN" dirty="0"/>
              <a:t>, </a:t>
            </a:r>
            <a:r>
              <a:rPr lang="zh-CN" altLang="en-US" dirty="0"/>
              <a:t>而 </a:t>
            </a:r>
            <a:r>
              <a:rPr lang="en-US" altLang="zh-CN" dirty="0" err="1"/>
              <a:t>AllReduce</a:t>
            </a:r>
            <a:r>
              <a:rPr lang="en-US" altLang="zh-CN" dirty="0"/>
              <a:t> </a:t>
            </a:r>
            <a:r>
              <a:rPr lang="zh-CN" altLang="en-US" dirty="0"/>
              <a:t>之后每卡冗余持有一份完整激活</a:t>
            </a:r>
            <a:r>
              <a:rPr lang="en-US" altLang="zh-CN" dirty="0"/>
              <a:t>. </a:t>
            </a:r>
            <a:r>
              <a:rPr lang="zh-CN" altLang="en-US" dirty="0"/>
              <a:t>有没有办法消除这个冗余</a:t>
            </a:r>
            <a:r>
              <a:rPr lang="en-US" altLang="zh-CN" dirty="0"/>
              <a:t>? 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SP </a:t>
            </a:r>
            <a:r>
              <a:rPr lang="zh-CN" altLang="en-US" dirty="0"/>
              <a:t>的核心价值在于</a:t>
            </a:r>
            <a:r>
              <a:rPr lang="en-US" altLang="zh-CN" dirty="0"/>
              <a:t>: </a:t>
            </a:r>
            <a:r>
              <a:rPr lang="zh-CN" altLang="en-US" dirty="0"/>
              <a:t>在不增加任何通信开销的前提下</a:t>
            </a:r>
            <a:r>
              <a:rPr lang="en-US" altLang="zh-CN" dirty="0"/>
              <a:t>, </a:t>
            </a:r>
            <a:r>
              <a:rPr lang="zh-CN" altLang="en-US" dirty="0"/>
              <a:t>将激活值的显存占用降低 </a:t>
            </a:r>
            <a:r>
              <a:rPr lang="en-US" altLang="zh-CN" dirty="0" err="1"/>
              <a:t>tp</a:t>
            </a:r>
            <a:r>
              <a:rPr lang="en-US" altLang="zh-CN" dirty="0"/>
              <a:t> </a:t>
            </a:r>
            <a:r>
              <a:rPr lang="zh-CN" altLang="en-US" dirty="0"/>
              <a:t>倍</a:t>
            </a:r>
            <a:r>
              <a:rPr lang="en-US" altLang="zh-CN" dirty="0"/>
              <a:t>. </a:t>
            </a:r>
            <a:r>
              <a:rPr lang="zh-CN" altLang="en-US" dirty="0"/>
              <a:t>这对长序列和大 </a:t>
            </a:r>
            <a:r>
              <a:rPr lang="en-US" altLang="zh-CN" dirty="0"/>
              <a:t>batch </a:t>
            </a:r>
            <a:r>
              <a:rPr lang="zh-CN" altLang="en-US" dirty="0"/>
              <a:t>场景很重要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原理</a:t>
            </a:r>
            <a:r>
              <a:rPr lang="en-US" altLang="zh-CN" dirty="0"/>
              <a:t>: </a:t>
            </a:r>
            <a:r>
              <a:rPr lang="zh-CN" altLang="en-US" dirty="0"/>
              <a:t>传统 </a:t>
            </a:r>
            <a:r>
              <a:rPr lang="en-US" altLang="zh-CN" dirty="0"/>
              <a:t>TP </a:t>
            </a:r>
            <a:r>
              <a:rPr lang="zh-CN" altLang="en-US" dirty="0"/>
              <a:t>在行并行输出后执行 </a:t>
            </a:r>
            <a:r>
              <a:rPr lang="en-US" altLang="zh-CN" dirty="0" err="1"/>
              <a:t>AllReduce</a:t>
            </a:r>
            <a:r>
              <a:rPr lang="en-US" altLang="zh-CN" dirty="0"/>
              <a:t>, </a:t>
            </a:r>
            <a:r>
              <a:rPr lang="zh-CN" altLang="en-US" dirty="0"/>
              <a:t>使每卡冗余持有一份完整激活 </a:t>
            </a:r>
            <a:r>
              <a:rPr lang="en-US" altLang="zh-CN" dirty="0"/>
              <a:t>[B,S,H]. SP </a:t>
            </a:r>
            <a:r>
              <a:rPr lang="zh-CN" altLang="en-US" dirty="0"/>
              <a:t>将 </a:t>
            </a:r>
            <a:r>
              <a:rPr lang="en-US" altLang="zh-CN" dirty="0" err="1"/>
              <a:t>AllReduce</a:t>
            </a:r>
            <a:r>
              <a:rPr lang="en-US" altLang="zh-CN" dirty="0"/>
              <a:t> </a:t>
            </a:r>
            <a:r>
              <a:rPr lang="zh-CN" altLang="en-US" dirty="0"/>
              <a:t>拆为 </a:t>
            </a:r>
            <a:r>
              <a:rPr lang="en-US" altLang="zh-CN" dirty="0" err="1"/>
              <a:t>ReduceScatter</a:t>
            </a:r>
            <a:r>
              <a:rPr lang="en-US" altLang="zh-CN" dirty="0"/>
              <a:t> + </a:t>
            </a:r>
            <a:r>
              <a:rPr lang="en-US" altLang="zh-CN" dirty="0" err="1"/>
              <a:t>AllGather</a:t>
            </a:r>
            <a:r>
              <a:rPr lang="en-US" altLang="zh-CN" dirty="0"/>
              <a:t>, </a:t>
            </a:r>
            <a:r>
              <a:rPr lang="zh-CN" altLang="en-US" dirty="0"/>
              <a:t>在两步之间插入 </a:t>
            </a:r>
            <a:r>
              <a:rPr lang="en-US" altLang="zh-CN" dirty="0" err="1"/>
              <a:t>LayerNorm</a:t>
            </a:r>
            <a:r>
              <a:rPr lang="en-US" altLang="zh-CN" dirty="0"/>
              <a:t> </a:t>
            </a:r>
            <a:r>
              <a:rPr lang="zh-CN" altLang="en-US" dirty="0"/>
              <a:t>等逐元素操作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 err="1"/>
              <a:t>ReduceScatter</a:t>
            </a:r>
            <a:r>
              <a:rPr lang="en-US" altLang="zh-CN" dirty="0"/>
              <a:t> </a:t>
            </a:r>
            <a:r>
              <a:rPr lang="zh-CN" altLang="en-US" dirty="0"/>
              <a:t>后每卡只持有 </a:t>
            </a:r>
            <a:r>
              <a:rPr lang="en-US" altLang="zh-CN" dirty="0"/>
              <a:t>1/</a:t>
            </a:r>
            <a:r>
              <a:rPr lang="en-US" altLang="zh-CN" dirty="0" err="1"/>
              <a:t>tp</a:t>
            </a:r>
            <a:r>
              <a:rPr lang="en-US" altLang="zh-CN" dirty="0"/>
              <a:t> </a:t>
            </a:r>
            <a:r>
              <a:rPr lang="zh-CN" altLang="en-US" dirty="0"/>
              <a:t>的激活分片</a:t>
            </a:r>
            <a:r>
              <a:rPr lang="en-US" altLang="zh-CN" dirty="0"/>
              <a:t>, </a:t>
            </a:r>
            <a:r>
              <a:rPr lang="en-US" altLang="zh-CN" dirty="0" err="1"/>
              <a:t>LayerNorm</a:t>
            </a:r>
            <a:r>
              <a:rPr lang="en-US" altLang="zh-CN" dirty="0"/>
              <a:t> </a:t>
            </a:r>
            <a:r>
              <a:rPr lang="zh-CN" altLang="en-US" dirty="0"/>
              <a:t>沿 </a:t>
            </a:r>
            <a:r>
              <a:rPr lang="en-US" altLang="zh-CN" dirty="0"/>
              <a:t>H </a:t>
            </a:r>
            <a:r>
              <a:rPr lang="zh-CN" altLang="en-US" dirty="0"/>
              <a:t>维度归一化而不依赖 </a:t>
            </a:r>
            <a:r>
              <a:rPr lang="en-US" altLang="zh-CN" dirty="0"/>
              <a:t>S, </a:t>
            </a:r>
            <a:r>
              <a:rPr lang="zh-CN" altLang="en-US" dirty="0"/>
              <a:t>因此在分片上执行是数学正确的</a:t>
            </a:r>
            <a:r>
              <a:rPr lang="en-US" altLang="zh-CN" dirty="0"/>
              <a:t>. </a:t>
            </a:r>
            <a:r>
              <a:rPr lang="en-US" altLang="zh-CN" dirty="0" err="1"/>
              <a:t>AllGather</a:t>
            </a:r>
            <a:r>
              <a:rPr lang="en-US" altLang="zh-CN" dirty="0"/>
              <a:t> </a:t>
            </a:r>
            <a:r>
              <a:rPr lang="zh-CN" altLang="en-US" dirty="0"/>
              <a:t>在下一层需要完整输入时再拼接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来源</a:t>
            </a:r>
            <a:r>
              <a:rPr lang="en-US" altLang="zh-CN" dirty="0"/>
              <a:t>: Megatron-LM v2 (Narayanan et al., 2021). </a:t>
            </a:r>
            <a:r>
              <a:rPr lang="zh-CN" altLang="en-US" dirty="0"/>
              <a:t>目前主流框架中 </a:t>
            </a:r>
            <a:r>
              <a:rPr lang="en-US" altLang="zh-CN" dirty="0"/>
              <a:t>TP </a:t>
            </a:r>
            <a:r>
              <a:rPr lang="zh-CN" altLang="en-US" dirty="0"/>
              <a:t>默认启用 </a:t>
            </a:r>
            <a:r>
              <a:rPr lang="en-US" altLang="zh-CN" dirty="0"/>
              <a:t>SP, </a:t>
            </a:r>
            <a:r>
              <a:rPr lang="zh-CN" altLang="en-US" dirty="0"/>
              <a:t>两者通常一起生效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147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在讨论 </a:t>
            </a:r>
            <a:r>
              <a:rPr lang="en-US" altLang="zh-CN" dirty="0"/>
              <a:t>EP </a:t>
            </a:r>
            <a:r>
              <a:rPr lang="zh-CN" altLang="en-US" dirty="0"/>
              <a:t>如何切分专家之前</a:t>
            </a:r>
            <a:r>
              <a:rPr lang="en-US" altLang="zh-CN" dirty="0"/>
              <a:t>, </a:t>
            </a:r>
            <a:r>
              <a:rPr lang="zh-CN" altLang="en-US" dirty="0"/>
              <a:t>先理解 </a:t>
            </a:r>
            <a:r>
              <a:rPr lang="en-US" altLang="zh-CN" dirty="0" err="1"/>
              <a:t>MoE</a:t>
            </a:r>
            <a:r>
              <a:rPr lang="zh-CN" altLang="en-US" dirty="0"/>
              <a:t> 架构为什么需要 </a:t>
            </a:r>
            <a:r>
              <a:rPr lang="en-US" altLang="zh-CN" dirty="0"/>
              <a:t>EP</a:t>
            </a:r>
            <a:r>
              <a:rPr lang="zh-CN" altLang="en-US" dirty="0"/>
              <a:t>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340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理解了 </a:t>
            </a:r>
            <a:r>
              <a:rPr lang="en-US" altLang="zh-CN" dirty="0" err="1"/>
              <a:t>MoE</a:t>
            </a:r>
            <a:r>
              <a:rPr lang="en-US" altLang="zh-CN" dirty="0"/>
              <a:t> </a:t>
            </a:r>
            <a:r>
              <a:rPr lang="zh-CN" altLang="en-US" dirty="0"/>
              <a:t>的架构特征后</a:t>
            </a:r>
            <a:r>
              <a:rPr lang="en-US" altLang="zh-CN" dirty="0"/>
              <a:t>, </a:t>
            </a:r>
            <a:r>
              <a:rPr lang="zh-CN" altLang="en-US" dirty="0"/>
              <a:t>来看 </a:t>
            </a:r>
            <a:r>
              <a:rPr lang="en-US" altLang="zh-CN" dirty="0"/>
              <a:t>EP </a:t>
            </a:r>
            <a:r>
              <a:rPr lang="zh-CN" altLang="en-US" dirty="0"/>
              <a:t>具体如何工作</a:t>
            </a:r>
            <a:endParaRPr lang="en-US" altLang="zh-CN" dirty="0"/>
          </a:p>
          <a:p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每个 </a:t>
            </a:r>
            <a:r>
              <a:rPr lang="en-US" altLang="zh-CN" dirty="0" err="1"/>
              <a:t>MoE</a:t>
            </a:r>
            <a:r>
              <a:rPr lang="en-US" altLang="zh-CN" dirty="0"/>
              <a:t> </a:t>
            </a:r>
            <a:r>
              <a:rPr lang="zh-CN" altLang="en-US" dirty="0"/>
              <a:t>层需要 </a:t>
            </a:r>
            <a:r>
              <a:rPr lang="en-US" altLang="zh-CN" dirty="0"/>
              <a:t>2 </a:t>
            </a:r>
            <a:r>
              <a:rPr lang="zh-CN" altLang="en-US" dirty="0"/>
              <a:t>次 </a:t>
            </a:r>
            <a:r>
              <a:rPr lang="en-US" altLang="zh-CN" dirty="0" err="1"/>
              <a:t>AllToAll</a:t>
            </a:r>
            <a:r>
              <a:rPr lang="en-US" altLang="zh-CN" dirty="0"/>
              <a:t> (Dispatch + Combine). </a:t>
            </a:r>
            <a:r>
              <a:rPr lang="zh-CN" altLang="en-US" dirty="0"/>
              <a:t>通信量约为 </a:t>
            </a:r>
            <a:r>
              <a:rPr lang="en-US" altLang="zh-CN" dirty="0"/>
              <a:t>B * S * H * </a:t>
            </a:r>
            <a:r>
              <a:rPr lang="en-US" altLang="zh-CN" dirty="0" err="1"/>
              <a:t>top_K</a:t>
            </a:r>
            <a:r>
              <a:rPr lang="en-US" altLang="zh-CN" dirty="0"/>
              <a:t>, </a:t>
            </a:r>
            <a:r>
              <a:rPr lang="zh-CN" altLang="en-US" dirty="0"/>
              <a:t>与 </a:t>
            </a:r>
            <a:r>
              <a:rPr lang="en-US" altLang="zh-CN" dirty="0"/>
              <a:t>TP </a:t>
            </a:r>
            <a:r>
              <a:rPr lang="zh-CN" altLang="en-US" dirty="0"/>
              <a:t>的 </a:t>
            </a:r>
            <a:r>
              <a:rPr lang="en-US" altLang="zh-CN" dirty="0" err="1"/>
              <a:t>AllReduce</a:t>
            </a:r>
            <a:r>
              <a:rPr lang="en-US" altLang="zh-CN" dirty="0"/>
              <a:t> </a:t>
            </a:r>
            <a:r>
              <a:rPr lang="zh-CN" altLang="en-US" dirty="0"/>
              <a:t>量级相当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EP </a:t>
            </a:r>
            <a:r>
              <a:rPr lang="zh-CN" altLang="en-US" dirty="0"/>
              <a:t>的核心收益不在于减少通信</a:t>
            </a:r>
            <a:r>
              <a:rPr lang="en-US" altLang="zh-CN" dirty="0"/>
              <a:t>, </a:t>
            </a:r>
            <a:r>
              <a:rPr lang="zh-CN" altLang="en-US" dirty="0"/>
              <a:t>而在于减少单卡的权重存储量和每步的 </a:t>
            </a:r>
            <a:r>
              <a:rPr lang="en-US" altLang="zh-CN" dirty="0"/>
              <a:t>HBM </a:t>
            </a:r>
            <a:r>
              <a:rPr lang="zh-CN" altLang="en-US" dirty="0"/>
              <a:t>读取量</a:t>
            </a:r>
            <a:r>
              <a:rPr lang="en-US" altLang="zh-CN" dirty="0"/>
              <a:t>: </a:t>
            </a:r>
            <a:r>
              <a:rPr lang="en-US" altLang="zh-CN" dirty="0" err="1"/>
              <a:t>ep_size</a:t>
            </a:r>
            <a:r>
              <a:rPr lang="en-US" altLang="zh-CN" dirty="0"/>
              <a:t>=N </a:t>
            </a:r>
            <a:r>
              <a:rPr lang="zh-CN" altLang="en-US" dirty="0"/>
              <a:t>时</a:t>
            </a:r>
            <a:r>
              <a:rPr lang="en-US" altLang="zh-CN" dirty="0"/>
              <a:t>, </a:t>
            </a:r>
            <a:r>
              <a:rPr lang="zh-CN" altLang="en-US" dirty="0"/>
              <a:t>每卡仅存储 </a:t>
            </a:r>
            <a:r>
              <a:rPr lang="en-US" altLang="zh-CN" dirty="0" err="1"/>
              <a:t>num_experts</a:t>
            </a:r>
            <a:r>
              <a:rPr lang="en-US" altLang="zh-CN" dirty="0"/>
              <a:t>/N </a:t>
            </a:r>
            <a:r>
              <a:rPr lang="zh-CN" altLang="en-US" dirty="0"/>
              <a:t>个专家的完整权重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Step 2 </a:t>
            </a:r>
            <a:r>
              <a:rPr lang="zh-CN" altLang="en-US" dirty="0"/>
              <a:t>中的动态大小 </a:t>
            </a:r>
            <a:r>
              <a:rPr lang="en-US" altLang="zh-CN" dirty="0" err="1"/>
              <a:t>AllToAll</a:t>
            </a:r>
            <a:r>
              <a:rPr lang="en-US" altLang="zh-CN" dirty="0"/>
              <a:t> </a:t>
            </a:r>
            <a:r>
              <a:rPr lang="zh-CN" altLang="en-US" dirty="0"/>
              <a:t>是 </a:t>
            </a:r>
            <a:r>
              <a:rPr lang="en-US" altLang="zh-CN" dirty="0"/>
              <a:t>EP </a:t>
            </a:r>
            <a:r>
              <a:rPr lang="zh-CN" altLang="en-US" dirty="0"/>
              <a:t>实现的难点 </a:t>
            </a:r>
            <a:r>
              <a:rPr lang="en-US" altLang="zh-CN" dirty="0"/>
              <a:t>—— </a:t>
            </a:r>
            <a:r>
              <a:rPr lang="zh-CN" altLang="en-US" dirty="0"/>
              <a:t>各 </a:t>
            </a:r>
            <a:r>
              <a:rPr lang="en-US" altLang="zh-CN" dirty="0"/>
              <a:t>rank </a:t>
            </a:r>
            <a:r>
              <a:rPr lang="zh-CN" altLang="en-US" dirty="0"/>
              <a:t>发送</a:t>
            </a:r>
            <a:r>
              <a:rPr lang="en-US" altLang="zh-CN" dirty="0"/>
              <a:t>/</a:t>
            </a:r>
            <a:r>
              <a:rPr lang="zh-CN" altLang="en-US" dirty="0"/>
              <a:t>接收的 </a:t>
            </a:r>
            <a:r>
              <a:rPr lang="en-US" altLang="zh-CN" dirty="0"/>
              <a:t>token </a:t>
            </a:r>
            <a:r>
              <a:rPr lang="zh-CN" altLang="en-US" dirty="0"/>
              <a:t>数量由 </a:t>
            </a:r>
            <a:r>
              <a:rPr lang="en-US" altLang="zh-CN" dirty="0"/>
              <a:t>Router </a:t>
            </a:r>
            <a:r>
              <a:rPr lang="zh-CN" altLang="en-US" dirty="0"/>
              <a:t>实时决策</a:t>
            </a:r>
            <a:r>
              <a:rPr lang="en-US" altLang="zh-CN" dirty="0"/>
              <a:t>, </a:t>
            </a:r>
            <a:r>
              <a:rPr lang="zh-CN" altLang="en-US" dirty="0"/>
              <a:t>无法预知</a:t>
            </a:r>
            <a:r>
              <a:rPr lang="en-US" altLang="zh-CN" dirty="0"/>
              <a:t>, </a:t>
            </a:r>
            <a:r>
              <a:rPr lang="zh-CN" altLang="en-US" dirty="0"/>
              <a:t>需要先交换计数再传输实际数据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6786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首先量化这个问题的严重程度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45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CP </a:t>
            </a:r>
            <a:r>
              <a:rPr lang="zh-CN" altLang="en-US" dirty="0"/>
              <a:t>的核心挑战在于</a:t>
            </a:r>
            <a:r>
              <a:rPr lang="en-US" altLang="zh-CN" dirty="0"/>
              <a:t>: Attention </a:t>
            </a:r>
            <a:r>
              <a:rPr lang="zh-CN" altLang="en-US" dirty="0"/>
              <a:t>需要全局 </a:t>
            </a:r>
            <a:r>
              <a:rPr lang="en-US" altLang="zh-CN" dirty="0"/>
              <a:t>KV, </a:t>
            </a:r>
            <a:r>
              <a:rPr lang="zh-CN" altLang="en-US" dirty="0"/>
              <a:t>但序列被切分到了不同设备上</a:t>
            </a:r>
            <a:r>
              <a:rPr lang="en-US" altLang="zh-CN" dirty="0"/>
              <a:t>. </a:t>
            </a:r>
            <a:r>
              <a:rPr lang="zh-CN" altLang="en-US" dirty="0"/>
              <a:t>面对这个挑战</a:t>
            </a:r>
            <a:r>
              <a:rPr lang="en-US" altLang="zh-CN" dirty="0"/>
              <a:t>, </a:t>
            </a:r>
            <a:r>
              <a:rPr lang="zh-CN" altLang="en-US" dirty="0"/>
              <a:t>有两种截然不同的解决思路</a:t>
            </a:r>
            <a:r>
              <a:rPr lang="en-US" altLang="zh-CN" dirty="0"/>
              <a:t>. </a:t>
            </a:r>
            <a:r>
              <a:rPr lang="zh-CN" altLang="en-US" dirty="0"/>
              <a:t>第一种是 </a:t>
            </a:r>
            <a:r>
              <a:rPr lang="en-US" altLang="zh-CN" dirty="0"/>
              <a:t>Ring Attention.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dirty="0"/>
              <a:t>Ring Attention </a:t>
            </a:r>
            <a:r>
              <a:rPr lang="zh-CN" altLang="en-US" dirty="0"/>
              <a:t>的正确性由增量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保证</a:t>
            </a:r>
            <a:r>
              <a:rPr lang="en-US" altLang="zh-CN" dirty="0"/>
              <a:t>: </a:t>
            </a:r>
            <a:r>
              <a:rPr lang="zh-CN" altLang="en-US" dirty="0"/>
              <a:t>将完整 </a:t>
            </a:r>
            <a:r>
              <a:rPr lang="en-US" altLang="zh-CN" dirty="0"/>
              <a:t>Attention </a:t>
            </a:r>
            <a:r>
              <a:rPr lang="zh-CN" altLang="en-US" dirty="0"/>
              <a:t>拆分为多个局部 </a:t>
            </a:r>
            <a:r>
              <a:rPr lang="en-US" altLang="zh-CN" dirty="0" err="1"/>
              <a:t>FlashAttention</a:t>
            </a:r>
            <a:r>
              <a:rPr lang="en-US" altLang="zh-CN" dirty="0"/>
              <a:t>, </a:t>
            </a:r>
            <a:r>
              <a:rPr lang="zh-CN" altLang="en-US" dirty="0"/>
              <a:t>通过 </a:t>
            </a:r>
            <a:r>
              <a:rPr lang="en-US" altLang="zh-CN" dirty="0"/>
              <a:t>LSE (Log-Sum-Exp) </a:t>
            </a:r>
            <a:r>
              <a:rPr lang="zh-CN" altLang="en-US" dirty="0"/>
              <a:t>值精确融合</a:t>
            </a:r>
            <a:r>
              <a:rPr lang="en-US" altLang="zh-CN" dirty="0"/>
              <a:t>, </a:t>
            </a:r>
            <a:r>
              <a:rPr lang="zh-CN" altLang="en-US" dirty="0"/>
              <a:t>数值上与全局计算等价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关键优化</a:t>
            </a:r>
            <a:r>
              <a:rPr lang="en-US" altLang="zh-CN" dirty="0"/>
              <a:t>: </a:t>
            </a:r>
            <a:r>
              <a:rPr lang="zh-CN" altLang="en-US" dirty="0"/>
              <a:t>利用非阻塞 </a:t>
            </a:r>
            <a:r>
              <a:rPr lang="en-US" altLang="zh-CN" dirty="0"/>
              <a:t>P2P </a:t>
            </a:r>
            <a:r>
              <a:rPr lang="zh-CN" altLang="en-US" dirty="0"/>
              <a:t>实现计算</a:t>
            </a:r>
            <a:r>
              <a:rPr lang="en-US" altLang="zh-CN" dirty="0"/>
              <a:t>-</a:t>
            </a:r>
            <a:r>
              <a:rPr lang="zh-CN" altLang="en-US" dirty="0"/>
              <a:t>通信重叠 </a:t>
            </a:r>
            <a:r>
              <a:rPr lang="en-US" altLang="zh-CN" dirty="0"/>
              <a:t>—— </a:t>
            </a:r>
            <a:r>
              <a:rPr lang="zh-CN" altLang="en-US" dirty="0"/>
              <a:t>在等待下一轮 </a:t>
            </a:r>
            <a:r>
              <a:rPr lang="en-US" altLang="zh-CN" dirty="0"/>
              <a:t>KV </a:t>
            </a:r>
            <a:r>
              <a:rPr lang="zh-CN" altLang="en-US" dirty="0"/>
              <a:t>传输的同时</a:t>
            </a:r>
            <a:r>
              <a:rPr lang="en-US" altLang="zh-CN" dirty="0"/>
              <a:t>, </a:t>
            </a:r>
            <a:r>
              <a:rPr lang="zh-CN" altLang="en-US" dirty="0"/>
              <a:t>并行计算当前 </a:t>
            </a:r>
            <a:r>
              <a:rPr lang="en-US" altLang="zh-CN" dirty="0"/>
              <a:t>KV </a:t>
            </a:r>
            <a:r>
              <a:rPr lang="zh-CN" altLang="en-US" dirty="0"/>
              <a:t>块的 </a:t>
            </a:r>
            <a:r>
              <a:rPr lang="en-US" altLang="zh-CN" dirty="0"/>
              <a:t>Attention, </a:t>
            </a:r>
            <a:r>
              <a:rPr lang="zh-CN" altLang="en-US" dirty="0"/>
              <a:t>使通信延迟被计算过程掩盖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每轮传递 </a:t>
            </a:r>
            <a:r>
              <a:rPr lang="en-US" altLang="zh-CN" dirty="0"/>
              <a:t>S/cp </a:t>
            </a:r>
            <a:r>
              <a:rPr lang="zh-CN" altLang="en-US" dirty="0"/>
              <a:t>长度的 </a:t>
            </a:r>
            <a:r>
              <a:rPr lang="en-US" altLang="zh-CN" dirty="0"/>
              <a:t>KV </a:t>
            </a:r>
            <a:r>
              <a:rPr lang="zh-CN" altLang="en-US" dirty="0"/>
              <a:t>块</a:t>
            </a:r>
            <a:r>
              <a:rPr lang="en-US" altLang="zh-CN" dirty="0"/>
              <a:t>, </a:t>
            </a:r>
            <a:r>
              <a:rPr lang="zh-CN" altLang="en-US" dirty="0"/>
              <a:t>共 </a:t>
            </a:r>
            <a:r>
              <a:rPr lang="en-US" altLang="zh-CN" dirty="0"/>
              <a:t>cp-1 </a:t>
            </a:r>
            <a:r>
              <a:rPr lang="zh-CN" altLang="en-US" dirty="0"/>
              <a:t>轮</a:t>
            </a:r>
            <a:r>
              <a:rPr lang="en-US" altLang="zh-CN" dirty="0"/>
              <a:t>, </a:t>
            </a:r>
            <a:r>
              <a:rPr lang="zh-CN" altLang="en-US" dirty="0"/>
              <a:t>每 </a:t>
            </a:r>
            <a:r>
              <a:rPr lang="en-US" altLang="zh-CN" dirty="0"/>
              <a:t>rank </a:t>
            </a:r>
            <a:r>
              <a:rPr lang="zh-CN" altLang="en-US" dirty="0"/>
              <a:t>总接收量约 </a:t>
            </a:r>
            <a:r>
              <a:rPr lang="en-US" altLang="zh-CN" dirty="0"/>
              <a:t>(cp-1)/cp * S * </a:t>
            </a:r>
            <a:r>
              <a:rPr lang="en-US" altLang="zh-CN" dirty="0" err="1"/>
              <a:t>d_kv</a:t>
            </a:r>
            <a:r>
              <a:rPr lang="en-US" altLang="zh-CN" dirty="0"/>
              <a:t> (K+V). </a:t>
            </a:r>
            <a:r>
              <a:rPr lang="zh-CN" altLang="en-US" dirty="0"/>
              <a:t>轮次随 </a:t>
            </a:r>
            <a:r>
              <a:rPr lang="en-US" altLang="zh-CN" dirty="0"/>
              <a:t>cp </a:t>
            </a:r>
            <a:r>
              <a:rPr lang="zh-CN" altLang="en-US" dirty="0"/>
              <a:t>线性增长</a:t>
            </a:r>
            <a:r>
              <a:rPr lang="en-US" altLang="zh-CN" dirty="0"/>
              <a:t>, </a:t>
            </a:r>
            <a:r>
              <a:rPr lang="zh-CN" altLang="en-US" dirty="0"/>
              <a:t>但每轮数据量相应减小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对于 </a:t>
            </a:r>
            <a:r>
              <a:rPr lang="en-US" altLang="zh-CN" dirty="0"/>
              <a:t>Causal Attention, </a:t>
            </a:r>
            <a:r>
              <a:rPr lang="zh-CN" altLang="en-US" dirty="0"/>
              <a:t>未来位置的 </a:t>
            </a:r>
            <a:r>
              <a:rPr lang="en-US" altLang="zh-CN" dirty="0"/>
              <a:t>KV </a:t>
            </a:r>
            <a:r>
              <a:rPr lang="zh-CN" altLang="en-US" dirty="0"/>
              <a:t>块可整块跳过以节省计算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现代优化</a:t>
            </a:r>
            <a:r>
              <a:rPr lang="en-US" altLang="zh-CN" dirty="0"/>
              <a:t>: Zigzag/Striped </a:t>
            </a:r>
            <a:r>
              <a:rPr lang="zh-CN" altLang="en-US" dirty="0"/>
              <a:t>序列分布 </a:t>
            </a:r>
            <a:r>
              <a:rPr lang="en-US" altLang="zh-CN" dirty="0"/>
              <a:t>—— </a:t>
            </a:r>
            <a:r>
              <a:rPr lang="zh-CN" altLang="en-US" dirty="0"/>
              <a:t>不按连续块分配序列到各 </a:t>
            </a:r>
            <a:r>
              <a:rPr lang="en-US" altLang="zh-CN" dirty="0"/>
              <a:t>rank, </a:t>
            </a:r>
            <a:r>
              <a:rPr lang="zh-CN" altLang="en-US" dirty="0"/>
              <a:t>而是交错分配 </a:t>
            </a:r>
            <a:r>
              <a:rPr lang="en-US" altLang="zh-CN" dirty="0"/>
              <a:t>(</a:t>
            </a:r>
            <a:r>
              <a:rPr lang="zh-CN" altLang="en-US" dirty="0"/>
              <a:t>如 </a:t>
            </a:r>
            <a:r>
              <a:rPr lang="en-US" altLang="zh-CN" dirty="0"/>
              <a:t>rank0 </a:t>
            </a:r>
            <a:r>
              <a:rPr lang="zh-CN" altLang="en-US" dirty="0"/>
              <a:t>取 </a:t>
            </a:r>
            <a:r>
              <a:rPr lang="en-US" altLang="zh-CN" dirty="0"/>
              <a:t>token 0,3,4,7, rank1 </a:t>
            </a:r>
            <a:r>
              <a:rPr lang="zh-CN" altLang="en-US" dirty="0"/>
              <a:t>取 </a:t>
            </a:r>
            <a:r>
              <a:rPr lang="en-US" altLang="zh-CN" dirty="0"/>
              <a:t>1,2,5,6), </a:t>
            </a:r>
            <a:r>
              <a:rPr lang="zh-CN" altLang="en-US" dirty="0"/>
              <a:t>使每张卡处理的因果 </a:t>
            </a:r>
            <a:r>
              <a:rPr lang="en-US" altLang="zh-CN" dirty="0"/>
              <a:t>Attention </a:t>
            </a:r>
            <a:r>
              <a:rPr lang="zh-CN" altLang="en-US" dirty="0"/>
              <a:t>计算量更均衡</a:t>
            </a:r>
            <a:r>
              <a:rPr lang="en-US" altLang="zh-CN" dirty="0"/>
              <a:t>, </a:t>
            </a:r>
            <a:r>
              <a:rPr lang="zh-CN" altLang="en-US" dirty="0"/>
              <a:t>避免头部 </a:t>
            </a:r>
            <a:r>
              <a:rPr lang="en-US" altLang="zh-CN" dirty="0"/>
              <a:t>rank </a:t>
            </a:r>
            <a:r>
              <a:rPr lang="zh-CN" altLang="en-US" dirty="0"/>
              <a:t>计算量远大于尾部 </a:t>
            </a:r>
            <a:r>
              <a:rPr lang="en-US" altLang="zh-CN" dirty="0"/>
              <a:t>rank.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762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前面的 </a:t>
            </a:r>
            <a:r>
              <a:rPr lang="en-US" altLang="zh-CN" dirty="0"/>
              <a:t>Ring Attention</a:t>
            </a:r>
            <a:r>
              <a:rPr lang="zh-CN" altLang="en-US" dirty="0"/>
              <a:t>、</a:t>
            </a:r>
            <a:r>
              <a:rPr lang="en-US" altLang="zh-CN" dirty="0"/>
              <a:t>Ulysses </a:t>
            </a:r>
            <a:r>
              <a:rPr lang="zh-CN" altLang="en-US" dirty="0"/>
              <a:t>和 </a:t>
            </a:r>
            <a:r>
              <a:rPr lang="en-US" altLang="zh-CN" dirty="0"/>
              <a:t>USP </a:t>
            </a:r>
            <a:r>
              <a:rPr lang="zh-CN" altLang="en-US" dirty="0"/>
              <a:t>都是 </a:t>
            </a:r>
            <a:r>
              <a:rPr lang="en-US" altLang="zh-CN" dirty="0"/>
              <a:t>Prefill </a:t>
            </a:r>
            <a:r>
              <a:rPr lang="zh-CN" altLang="en-US" dirty="0"/>
              <a:t>阶段的解决方案</a:t>
            </a:r>
            <a:r>
              <a:rPr lang="en-US" altLang="zh-CN" dirty="0"/>
              <a:t>. </a:t>
            </a:r>
            <a:r>
              <a:rPr lang="zh-CN" altLang="en-US" dirty="0"/>
              <a:t>但 </a:t>
            </a:r>
            <a:r>
              <a:rPr lang="en-US" altLang="zh-CN" dirty="0"/>
              <a:t>Decode </a:t>
            </a:r>
            <a:r>
              <a:rPr lang="zh-CN" altLang="en-US" dirty="0"/>
              <a:t>阶段的长序列 </a:t>
            </a:r>
            <a:r>
              <a:rPr lang="en-US" altLang="zh-CN" dirty="0"/>
              <a:t>KV Cache </a:t>
            </a:r>
            <a:r>
              <a:rPr lang="zh-CN" altLang="en-US" dirty="0"/>
              <a:t>存储问题同样存在 </a:t>
            </a:r>
            <a:r>
              <a:rPr lang="en-US" altLang="zh-CN" dirty="0"/>
              <a:t>—— KVP </a:t>
            </a:r>
            <a:r>
              <a:rPr lang="zh-CN" altLang="en-US" dirty="0"/>
              <a:t>是针对这一场景的专门方案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3626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304800" y="2032000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914400" y="7823200"/>
            <a:ext cx="7315200" cy="6400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01711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逐层分析的核心</a:t>
            </a:r>
            <a:r>
              <a:rPr lang="en-US" altLang="zh-CN" dirty="0"/>
              <a:t>: </a:t>
            </a:r>
            <a:r>
              <a:rPr lang="zh-CN" altLang="en-US" dirty="0"/>
              <a:t>每个模块问三个问题 </a:t>
            </a:r>
            <a:r>
              <a:rPr lang="en-US" altLang="zh-CN" dirty="0"/>
              <a:t>— (1) </a:t>
            </a:r>
            <a:r>
              <a:rPr lang="zh-CN" altLang="en-US" dirty="0"/>
              <a:t>瓶颈是什么</a:t>
            </a:r>
            <a:r>
              <a:rPr lang="en-US" altLang="zh-CN" dirty="0"/>
              <a:t>? (2) </a:t>
            </a:r>
            <a:r>
              <a:rPr lang="zh-CN" altLang="en-US" dirty="0"/>
              <a:t>哪种并行策略最匹配</a:t>
            </a:r>
            <a:r>
              <a:rPr lang="en-US" altLang="zh-CN" dirty="0"/>
              <a:t>? (3) </a:t>
            </a:r>
            <a:r>
              <a:rPr lang="zh-CN" altLang="en-US" dirty="0"/>
              <a:t>对应的通信开销能否接受</a:t>
            </a:r>
            <a:r>
              <a:rPr lang="en-US" altLang="zh-CN" dirty="0"/>
              <a:t>?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通信视角</a:t>
            </a:r>
            <a:r>
              <a:rPr lang="en-US" altLang="zh-CN" dirty="0"/>
              <a:t>: TP </a:t>
            </a:r>
            <a:r>
              <a:rPr lang="zh-CN" altLang="en-US" dirty="0"/>
              <a:t>的 </a:t>
            </a:r>
            <a:r>
              <a:rPr lang="en-US" altLang="zh-CN" dirty="0" err="1"/>
              <a:t>AllReduce</a:t>
            </a:r>
            <a:r>
              <a:rPr lang="en-US" altLang="zh-CN" dirty="0"/>
              <a:t> </a:t>
            </a:r>
            <a:r>
              <a:rPr lang="zh-CN" altLang="en-US" dirty="0"/>
              <a:t>每 </a:t>
            </a:r>
            <a:r>
              <a:rPr lang="en-US" altLang="zh-CN" dirty="0"/>
              <a:t>Block 2 </a:t>
            </a:r>
            <a:r>
              <a:rPr lang="zh-CN" altLang="en-US" dirty="0"/>
              <a:t>次 </a:t>
            </a:r>
            <a:r>
              <a:rPr lang="en-US" altLang="zh-CN" dirty="0"/>
              <a:t>(</a:t>
            </a:r>
            <a:r>
              <a:rPr lang="zh-CN" altLang="en-US" dirty="0"/>
              <a:t>高频</a:t>
            </a:r>
            <a:r>
              <a:rPr lang="en-US" altLang="zh-CN" dirty="0"/>
              <a:t>, </a:t>
            </a:r>
            <a:r>
              <a:rPr lang="zh-CN" altLang="en-US" dirty="0"/>
              <a:t>必须机内</a:t>
            </a:r>
            <a:r>
              <a:rPr lang="en-US" altLang="zh-CN" dirty="0"/>
              <a:t>); EP </a:t>
            </a:r>
            <a:r>
              <a:rPr lang="zh-CN" altLang="en-US" dirty="0"/>
              <a:t>的 </a:t>
            </a:r>
            <a:r>
              <a:rPr lang="en-US" altLang="zh-CN" dirty="0" err="1"/>
              <a:t>AllToAll</a:t>
            </a:r>
            <a:r>
              <a:rPr lang="en-US" altLang="zh-CN" dirty="0"/>
              <a:t> </a:t>
            </a:r>
            <a:r>
              <a:rPr lang="zh-CN" altLang="en-US" dirty="0"/>
              <a:t>每 </a:t>
            </a:r>
            <a:r>
              <a:rPr lang="en-US" altLang="zh-CN" dirty="0" err="1"/>
              <a:t>MoE</a:t>
            </a:r>
            <a:r>
              <a:rPr lang="en-US" altLang="zh-CN" dirty="0"/>
              <a:t> </a:t>
            </a:r>
            <a:r>
              <a:rPr lang="zh-CN" altLang="en-US" dirty="0"/>
              <a:t>层 </a:t>
            </a:r>
            <a:r>
              <a:rPr lang="en-US" altLang="zh-CN" dirty="0"/>
              <a:t>2 </a:t>
            </a:r>
            <a:r>
              <a:rPr lang="zh-CN" altLang="en-US" dirty="0"/>
              <a:t>次 </a:t>
            </a:r>
            <a:r>
              <a:rPr lang="en-US" altLang="zh-CN" dirty="0"/>
              <a:t>(</a:t>
            </a:r>
            <a:r>
              <a:rPr lang="zh-CN" altLang="en-US" dirty="0"/>
              <a:t>较低频</a:t>
            </a:r>
            <a:r>
              <a:rPr lang="en-US" altLang="zh-CN" dirty="0"/>
              <a:t>, </a:t>
            </a:r>
            <a:r>
              <a:rPr lang="zh-CN" altLang="en-US" dirty="0"/>
              <a:t>可跨机</a:t>
            </a:r>
            <a:r>
              <a:rPr lang="en-US" altLang="zh-CN" dirty="0"/>
              <a:t>); CP </a:t>
            </a:r>
            <a:r>
              <a:rPr lang="zh-CN" altLang="en-US" dirty="0"/>
              <a:t>每 </a:t>
            </a:r>
            <a:r>
              <a:rPr lang="en-US" altLang="zh-CN" dirty="0"/>
              <a:t>Attn </a:t>
            </a:r>
            <a:r>
              <a:rPr lang="zh-CN" altLang="en-US" dirty="0"/>
              <a:t>层通信 </a:t>
            </a:r>
            <a:r>
              <a:rPr lang="en-US" altLang="zh-CN" dirty="0"/>
              <a:t>(Ring P2P </a:t>
            </a:r>
            <a:r>
              <a:rPr lang="zh-CN" altLang="en-US" dirty="0"/>
              <a:t>或 </a:t>
            </a:r>
            <a:r>
              <a:rPr lang="en-US" altLang="zh-CN" dirty="0"/>
              <a:t>Ulysses </a:t>
            </a:r>
            <a:r>
              <a:rPr lang="en-US" altLang="zh-CN" dirty="0" err="1"/>
              <a:t>AllToAll</a:t>
            </a:r>
            <a:r>
              <a:rPr lang="en-US" altLang="zh-CN" dirty="0"/>
              <a:t>); DP </a:t>
            </a:r>
            <a:r>
              <a:rPr lang="zh-CN" altLang="en-US" dirty="0"/>
              <a:t>无通信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参考</a:t>
            </a:r>
            <a:r>
              <a:rPr lang="en-US" altLang="zh-CN" dirty="0"/>
              <a:t>: DeepSeek-V3.2 Prefill </a:t>
            </a:r>
            <a:r>
              <a:rPr lang="zh-CN" altLang="en-US" dirty="0"/>
              <a:t>实践中</a:t>
            </a:r>
            <a:r>
              <a:rPr lang="en-US" altLang="zh-CN" dirty="0"/>
              <a:t>, Attention </a:t>
            </a:r>
            <a:r>
              <a:rPr lang="zh-CN" altLang="en-US" dirty="0"/>
              <a:t>选 </a:t>
            </a:r>
            <a:r>
              <a:rPr lang="en-US" altLang="zh-CN" dirty="0"/>
              <a:t>CP </a:t>
            </a:r>
            <a:r>
              <a:rPr lang="zh-CN" altLang="en-US" dirty="0"/>
              <a:t>而非 </a:t>
            </a:r>
            <a:r>
              <a:rPr lang="en-US" altLang="zh-CN" dirty="0"/>
              <a:t>TP, </a:t>
            </a:r>
            <a:r>
              <a:rPr lang="zh-CN" altLang="en-US" dirty="0"/>
              <a:t>正是因为 </a:t>
            </a:r>
            <a:r>
              <a:rPr lang="en-US" altLang="zh-CN" dirty="0"/>
              <a:t>DSA </a:t>
            </a:r>
            <a:r>
              <a:rPr lang="zh-CN" altLang="en-US" dirty="0"/>
              <a:t>模块做 </a:t>
            </a:r>
            <a:r>
              <a:rPr lang="en-US" altLang="zh-CN" dirty="0"/>
              <a:t>TP </a:t>
            </a:r>
            <a:r>
              <a:rPr lang="zh-CN" altLang="en-US" dirty="0"/>
              <a:t>会引入过多 </a:t>
            </a:r>
            <a:r>
              <a:rPr lang="en-US" altLang="zh-CN" dirty="0" err="1"/>
              <a:t>AllReduce</a:t>
            </a:r>
            <a:r>
              <a:rPr lang="en-US" altLang="zh-CN" dirty="0"/>
              <a:t> </a:t>
            </a:r>
            <a:r>
              <a:rPr lang="zh-CN" altLang="en-US" dirty="0"/>
              <a:t>通信开销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9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四步走</a:t>
            </a:r>
            <a:r>
              <a:rPr lang="en-US" altLang="zh-CN" dirty="0"/>
              <a:t>: </a:t>
            </a:r>
            <a:r>
              <a:rPr lang="zh-CN" altLang="en-US" dirty="0"/>
              <a:t>先解决「放不放得下」</a:t>
            </a:r>
            <a:r>
              <a:rPr lang="en-US" altLang="zh-CN" dirty="0"/>
              <a:t>, </a:t>
            </a:r>
            <a:r>
              <a:rPr lang="zh-CN" altLang="en-US" dirty="0"/>
              <a:t>再优化「快不快」</a:t>
            </a:r>
            <a:r>
              <a:rPr lang="en-US" altLang="zh-CN" dirty="0"/>
              <a:t>, </a:t>
            </a:r>
            <a:r>
              <a:rPr lang="zh-CN" altLang="en-US" dirty="0"/>
              <a:t>然后逐层微调瓶颈模块</a:t>
            </a:r>
            <a:r>
              <a:rPr lang="en-US" altLang="zh-CN" dirty="0"/>
              <a:t>, </a:t>
            </a:r>
            <a:r>
              <a:rPr lang="zh-CN" altLang="en-US" dirty="0"/>
              <a:t>最后校验约束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不同模块可以用不同的并行策略和通信域</a:t>
            </a:r>
            <a:r>
              <a:rPr lang="en-US" altLang="zh-CN" dirty="0"/>
              <a:t>, </a:t>
            </a:r>
            <a:r>
              <a:rPr lang="zh-CN" altLang="en-US" dirty="0"/>
              <a:t>不必全模型统一</a:t>
            </a:r>
            <a:r>
              <a:rPr lang="en-US" altLang="zh-CN" dirty="0"/>
              <a:t>. </a:t>
            </a:r>
            <a:r>
              <a:rPr lang="zh-CN" altLang="en-US" dirty="0"/>
              <a:t>这是现代推理部署的核心思路</a:t>
            </a: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dirty="0"/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三类常见问题</a:t>
            </a:r>
            <a:r>
              <a:rPr lang="en-US" altLang="zh-CN" dirty="0"/>
              <a:t>: (1) </a:t>
            </a:r>
            <a:r>
              <a:rPr lang="zh-CN" altLang="en-US" dirty="0"/>
              <a:t>只看计算收益不看通信代价</a:t>
            </a:r>
            <a:r>
              <a:rPr lang="en-US" altLang="zh-CN" dirty="0"/>
              <a:t>; (2) </a:t>
            </a:r>
            <a:r>
              <a:rPr lang="zh-CN" altLang="en-US" dirty="0"/>
              <a:t>把 </a:t>
            </a:r>
            <a:r>
              <a:rPr lang="en-US" altLang="zh-CN" dirty="0"/>
              <a:t>Prefill </a:t>
            </a:r>
            <a:r>
              <a:rPr lang="zh-CN" altLang="en-US" dirty="0"/>
              <a:t>的策略直接套用到 </a:t>
            </a:r>
            <a:r>
              <a:rPr lang="en-US" altLang="zh-CN" dirty="0"/>
              <a:t>Decode; (3) </a:t>
            </a:r>
            <a:r>
              <a:rPr lang="zh-CN" altLang="en-US" dirty="0"/>
              <a:t>把整个模型当成一个整体而不做逐层分析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dirty="0"/>
              <a:t>核心原则</a:t>
            </a:r>
            <a:r>
              <a:rPr lang="en-US" altLang="zh-CN" dirty="0"/>
              <a:t>: </a:t>
            </a:r>
            <a:r>
              <a:rPr lang="zh-CN" altLang="en-US" dirty="0"/>
              <a:t>并行方案是通信与计算的权衡</a:t>
            </a:r>
            <a:r>
              <a:rPr lang="en-US" altLang="zh-CN" dirty="0"/>
              <a:t>, </a:t>
            </a:r>
            <a:r>
              <a:rPr lang="zh-CN" altLang="en-US" dirty="0"/>
              <a:t>需要针对每个模块、每个阶段分别决策</a:t>
            </a:r>
            <a:r>
              <a:rPr lang="en-US" altLang="zh-CN" dirty="0"/>
              <a:t>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D3436"/>
                </a:solidFill>
              </a:defRPr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2E646-32CE-43B6-A44A-F162019EFE1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403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8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code.com/cann/cann-recipes-infer/blob/master/docs/models/deepseek-v3.2-exp/deepseek_v3.2_exp_inference_guide.md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code.com/cann/cann-recipes-infer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7800" y="2032000"/>
            <a:ext cx="1143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zh-CN" sz="4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NPU</a:t>
            </a:r>
            <a:r>
              <a:rPr lang="zh-CN" altLang="en-US" sz="4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大模型推理优化</a:t>
            </a:r>
            <a:r>
              <a:rPr lang="en-US" altLang="zh-CN" sz="4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zh-CN" altLang="en-US" sz="4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并行策略设计</a:t>
            </a:r>
          </a:p>
          <a:p>
            <a:pPr algn="l">
              <a:lnSpc>
                <a:spcPct val="120000"/>
              </a:lnSpc>
            </a:pP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62100" y="3937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昇腾 CANN </a:t>
            </a:r>
            <a:r>
              <a:rPr lang="zh-CN" alt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启航</a:t>
            </a:r>
            <a:r>
              <a:rPr 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7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70000"/>
            <a:ext cx="14732000" cy="0"/>
          </a:xfrm>
          <a:prstGeom prst="straightConnector1">
            <a:avLst/>
          </a:prstGeom>
          <a:noFill/>
          <a:ln w="25400">
            <a:solidFill>
              <a:srgbClr val="C0000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165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032000" y="165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大模型推理的并行需求</a:t>
            </a:r>
          </a:p>
        </p:txBody>
      </p:sp>
      <p:sp>
        <p:nvSpPr>
          <p:cNvPr id="6" name="Text 4"/>
          <p:cNvSpPr/>
          <p:nvPr/>
        </p:nvSpPr>
        <p:spPr>
          <a:xfrm>
            <a:off x="2032000" y="2057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为什么需要推理并行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6000" y="165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652000" y="165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algn="l" defTabSz="457200" rtl="0" eaLnBrk="1" latinLnBrk="0" hangingPunct="1">
              <a:defRPr sz="1200">
                <a:solidFill>
                  <a:srgbClr val="2D3436"/>
                </a:solidFill>
              </a:defRPr>
            </a:pPr>
            <a:r>
              <a:rPr lang="zh-CN" altLang="en-US" sz="2400" kern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分布式通信基础</a:t>
            </a:r>
          </a:p>
        </p:txBody>
      </p:sp>
      <p:sp>
        <p:nvSpPr>
          <p:cNvPr id="9" name="Text 7"/>
          <p:cNvSpPr/>
          <p:nvPr/>
        </p:nvSpPr>
        <p:spPr>
          <a:xfrm>
            <a:off x="9652000" y="2057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通信原语和通信量</a:t>
            </a:r>
          </a:p>
        </p:txBody>
      </p:sp>
      <p:sp>
        <p:nvSpPr>
          <p:cNvPr id="10" name="Text 8"/>
          <p:cNvSpPr/>
          <p:nvPr/>
        </p:nvSpPr>
        <p:spPr>
          <a:xfrm>
            <a:off x="1016000" y="266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03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常见的并行方案与原理</a:t>
            </a:r>
          </a:p>
        </p:txBody>
      </p:sp>
      <p:sp>
        <p:nvSpPr>
          <p:cNvPr id="12" name="Text 10"/>
          <p:cNvSpPr/>
          <p:nvPr/>
        </p:nvSpPr>
        <p:spPr>
          <a:xfrm>
            <a:off x="2032000" y="3073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针对不同场景的并行方案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66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65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algn="l" defTabSz="457200" rtl="0" eaLnBrk="1" latinLnBrk="0" hangingPunct="1">
              <a:defRPr sz="1200">
                <a:solidFill>
                  <a:srgbClr val="2D3436"/>
                </a:solidFill>
              </a:defRPr>
            </a:pPr>
            <a:r>
              <a:rPr lang="zh-CN" altLang="en-US" sz="2400" kern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多模态与</a:t>
            </a:r>
            <a:r>
              <a:rPr lang="en-US" altLang="zh-CN" sz="2400" kern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LLM</a:t>
            </a:r>
            <a:r>
              <a:rPr lang="zh-CN" altLang="en-US" sz="2400" kern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并行对比</a:t>
            </a:r>
          </a:p>
        </p:txBody>
      </p:sp>
      <p:sp>
        <p:nvSpPr>
          <p:cNvPr id="15" name="Text 13"/>
          <p:cNvSpPr/>
          <p:nvPr/>
        </p:nvSpPr>
        <p:spPr>
          <a:xfrm>
            <a:off x="9652000" y="3073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多模态大模型与常规</a:t>
            </a:r>
            <a:r>
              <a:rPr lang="en-US" altLang="zh-CN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的并行差异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368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032000" y="368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algn="l" defTabSz="457200" rtl="0" eaLnBrk="1" latinLnBrk="0" hangingPunct="1">
              <a:defRPr sz="1200">
                <a:solidFill>
                  <a:srgbClr val="2D3436"/>
                </a:solidFill>
              </a:defRPr>
            </a:pPr>
            <a:r>
              <a:rPr lang="zh-CN" altLang="en-US" sz="2400" kern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并行方案设计</a:t>
            </a:r>
          </a:p>
        </p:txBody>
      </p:sp>
      <p:sp>
        <p:nvSpPr>
          <p:cNvPr id="18" name="Text 16"/>
          <p:cNvSpPr/>
          <p:nvPr/>
        </p:nvSpPr>
        <p:spPr>
          <a:xfrm>
            <a:off x="2032000" y="408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如何做场景判断和并行优化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300" dirty="0"/>
          </a:p>
        </p:txBody>
      </p:sp>
      <p:pic>
        <p:nvPicPr>
          <p:cNvPr id="21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为什么需要并行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硬件瓶颈分析 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推理阶段特征 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优化目标冲突</a:t>
            </a: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 b="1" dirty="0" err="1">
                <a:solidFill>
                  <a:srgbClr val="098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模型规模与硬件容量的增速差异</a:t>
            </a:r>
            <a:r>
              <a:rPr lang="en-US" sz="3200" b="1" dirty="0">
                <a:solidFill>
                  <a:srgbClr val="098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sz="3200" b="1" dirty="0">
                <a:solidFill>
                  <a:srgbClr val="098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硬件瓶颈</a:t>
            </a:r>
            <a:endParaRPr sz="3200" b="1" dirty="0">
              <a:solidFill>
                <a:srgbClr val="0984E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04802" y="1531127"/>
            <a:ext cx="4362993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1300" b="0">
                <a:solidFill>
                  <a:srgbClr val="636E72"/>
                </a:solidFill>
              </a:defRPr>
            </a:pPr>
            <a:r>
              <a:rPr lang="zh-CN" altLang="en-US" sz="1733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模型参数量的增速远超单卡显存的增速：</a:t>
            </a:r>
            <a:endParaRPr sz="1733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936107"/>
              </p:ext>
            </p:extLst>
          </p:nvPr>
        </p:nvGraphicFramePr>
        <p:xfrm>
          <a:off x="853441" y="2006687"/>
          <a:ext cx="8891763" cy="2411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5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86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/>
                        <a:t>年份</a:t>
                      </a: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dirty="0" err="1"/>
                        <a:t>代表模型</a:t>
                      </a:r>
                      <a:endParaRPr sz="1700" dirty="0"/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/>
                        <a:t>总参数</a:t>
                      </a: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dirty="0"/>
                        <a:t>BF16 </a:t>
                      </a:r>
                      <a:r>
                        <a:rPr sz="1700" dirty="0" err="1"/>
                        <a:t>权重</a:t>
                      </a:r>
                      <a:endParaRPr sz="1700" dirty="0"/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dirty="0"/>
                        <a:t>64GB HBM </a:t>
                      </a:r>
                      <a:r>
                        <a:rPr sz="1700" dirty="0" err="1"/>
                        <a:t>所需卡数</a:t>
                      </a:r>
                      <a:endParaRPr sz="1700" dirty="0"/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GPT-2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1.5B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GB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GPT-3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175B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350 GB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LLaMA-2 70B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70B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140 GB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DeepSeek-V3 </a:t>
                      </a:r>
                      <a:r>
                        <a:rPr sz="13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MoE</a:t>
                      </a:r>
                      <a:endParaRPr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671B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~1.25 TB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20+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LLaMA-4 Maverick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400B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~800 GB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13+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3">
            <a:extLst>
              <a:ext uri="{FF2B5EF4-FFF2-40B4-BE49-F238E27FC236}">
                <a16:creationId xmlns:a16="http://schemas.microsoft.com/office/drawing/2014/main" id="{2118F156-86BF-4498-89A1-350B2002B588}"/>
              </a:ext>
            </a:extLst>
          </p:cNvPr>
          <p:cNvSpPr txBox="1"/>
          <p:nvPr/>
        </p:nvSpPr>
        <p:spPr>
          <a:xfrm>
            <a:off x="10262322" y="2098579"/>
            <a:ext cx="5788201" cy="2212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533"/>
              </a:spcAft>
              <a:defRPr sz="1300" b="0">
                <a:solidFill>
                  <a:srgbClr val="636E72"/>
                </a:solidFill>
              </a:defRPr>
            </a:pPr>
            <a:r>
              <a:rPr lang="zh-CN" altLang="en-US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同期硬件进展：</a:t>
            </a:r>
            <a:r>
              <a:rPr lang="en-US" altLang="zh-CN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V100 32G --&gt; A100 80G </a:t>
            </a:r>
            <a:r>
              <a:rPr lang="en-US" altLang="zh-CN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--&gt; H100 80G  </a:t>
            </a:r>
            <a:r>
              <a:rPr lang="zh-CN" altLang="en-US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显存只增长了</a:t>
            </a:r>
            <a:r>
              <a:rPr lang="en-US" altLang="zh-CN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2.5</a:t>
            </a:r>
            <a:r>
              <a:rPr lang="zh-CN" altLang="en-US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倍；</a:t>
            </a:r>
            <a:r>
              <a:rPr lang="en-US" altLang="zh-CN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A2 64G --&gt; A3 128G --&gt; A5 128G</a:t>
            </a:r>
            <a:r>
              <a:rPr lang="zh-CN" altLang="en-US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 </a:t>
            </a:r>
            <a:r>
              <a:rPr lang="en-US" altLang="zh-CN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lang="zh-CN" altLang="en-US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倍增长；</a:t>
            </a:r>
            <a:endParaRPr lang="en-US" altLang="zh-CN" sz="1467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spcAft>
                <a:spcPts val="533"/>
              </a:spcAft>
              <a:defRPr sz="1300" b="0">
                <a:solidFill>
                  <a:srgbClr val="636E72"/>
                </a:solidFill>
              </a:defRPr>
            </a:pPr>
            <a:r>
              <a:rPr lang="zh-CN" altLang="en-US" sz="1467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模型没办法在单卡设备上完成完整部署</a:t>
            </a:r>
            <a:r>
              <a:rPr lang="zh-CN" altLang="en-US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，必须把模型拆分到多卡协同计算 </a:t>
            </a:r>
            <a:r>
              <a:rPr lang="en-US" altLang="zh-CN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—— </a:t>
            </a:r>
            <a:r>
              <a:rPr lang="zh-CN" altLang="en-US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这是并行策略的基本动机；</a:t>
            </a:r>
            <a:endParaRPr lang="en-US" altLang="zh-CN" sz="1467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spcAft>
                <a:spcPts val="533"/>
              </a:spcAft>
              <a:defRPr sz="1300" b="0">
                <a:solidFill>
                  <a:srgbClr val="636E72"/>
                </a:solidFill>
              </a:defRPr>
            </a:pPr>
            <a:r>
              <a:rPr lang="zh-CN" altLang="en-US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拆法不同，会涉及到多卡之间的通信开销不同，适用的场景也不同，后续提到的并行策略就是应对不同场景而生的。</a:t>
            </a:r>
            <a:endParaRPr lang="en-US" altLang="zh-CN" sz="1467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9AFDD97-08D2-469D-8480-F99895736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385027"/>
              </p:ext>
            </p:extLst>
          </p:nvPr>
        </p:nvGraphicFramePr>
        <p:xfrm>
          <a:off x="522517" y="5192431"/>
          <a:ext cx="9440090" cy="198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9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3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2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dirty="0" err="1"/>
                        <a:t>瓶颈</a:t>
                      </a:r>
                      <a:endParaRPr sz="1700" dirty="0"/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dirty="0" err="1"/>
                        <a:t>现象</a:t>
                      </a:r>
                      <a:endParaRPr sz="1700" dirty="0"/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dirty="0" err="1"/>
                        <a:t>典型数据</a:t>
                      </a:r>
                      <a:endParaRPr sz="1700" dirty="0"/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dirty="0" err="1"/>
                        <a:t>对应并行需求</a:t>
                      </a:r>
                      <a:endParaRPr sz="1700" dirty="0"/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HBM </a:t>
                      </a: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容量瓶</a:t>
                      </a:r>
                      <a:r>
                        <a:rPr lang="zh-CN" altLang="en-US"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颈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模型参数总量超出单卡</a:t>
                      </a: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HBM </a:t>
                      </a: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容量</a:t>
                      </a:r>
                      <a:endParaRPr sz="13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DeepSeek-V3 BF16≈1.34TB</a:t>
                      </a:r>
                    </a:p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单卡</a:t>
                      </a: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Ascend 910B=64GB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zh-CN" altLang="en-US"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将权重分散存储 </a:t>
                      </a:r>
                      <a:r>
                        <a:rPr lang="en-US" altLang="zh-CN"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(TP/PP/EP)</a:t>
                      </a:r>
                      <a:endParaRPr sz="13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HBM </a:t>
                      </a: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带宽瓶颈</a:t>
                      </a:r>
                      <a:endParaRPr sz="13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Decode </a:t>
                      </a: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阶段受访存带宽约束</a:t>
                      </a:r>
                      <a:endParaRPr sz="13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 FFN </a:t>
                      </a: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层权重读取耗时</a:t>
                      </a:r>
                      <a:r>
                        <a:rPr lang="zh-CN" altLang="en-US"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受影响</a:t>
                      </a:r>
                      <a:endParaRPr sz="13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zh-CN" altLang="en-US"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减少单卡访存量 </a:t>
                      </a:r>
                      <a:r>
                        <a:rPr lang="en-US" altLang="zh-CN"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(EP)</a:t>
                      </a:r>
                      <a:endParaRPr sz="13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算力瓶颈</a:t>
                      </a:r>
                      <a:endParaRPr sz="13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Prefill </a:t>
                      </a: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阶段受算力约束</a:t>
                      </a:r>
                      <a:endParaRPr sz="13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大规模</a:t>
                      </a: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GEMM </a:t>
                      </a: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运算</a:t>
                      </a:r>
                      <a:endParaRPr sz="13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zh-CN" altLang="en-US"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例如</a:t>
                      </a: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128K token Attention</a:t>
                      </a:r>
                    </a:p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O(S</a:t>
                      </a:r>
                      <a:r>
                        <a:rPr sz="1300" kern="1200" baseline="300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*d) </a:t>
                      </a:r>
                      <a:r>
                        <a:rPr sz="13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计算量巨大</a:t>
                      </a:r>
                      <a:endParaRPr sz="13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zh-CN" altLang="en-US"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将计算负载分摊到多设备 </a:t>
                      </a:r>
                      <a:r>
                        <a:rPr lang="en-US" altLang="zh-CN" sz="13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(TP/CP)</a:t>
                      </a:r>
                      <a:endParaRPr sz="13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A701AF2-84DC-40BC-A15B-9CCE59BF0EBC}"/>
              </a:ext>
            </a:extLst>
          </p:cNvPr>
          <p:cNvSpPr txBox="1"/>
          <p:nvPr/>
        </p:nvSpPr>
        <p:spPr>
          <a:xfrm>
            <a:off x="10262322" y="5796426"/>
            <a:ext cx="5471161" cy="72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另外实际部署中</a:t>
            </a:r>
            <a:r>
              <a:rPr lang="en-US" altLang="zh-CN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467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大模型通常同时受到多类瓶颈约束，需要组合使用多种并行策略。</a:t>
            </a:r>
          </a:p>
        </p:txBody>
      </p:sp>
      <p:sp>
        <p:nvSpPr>
          <p:cNvPr id="10" name="Text 27">
            <a:extLst>
              <a:ext uri="{FF2B5EF4-FFF2-40B4-BE49-F238E27FC236}">
                <a16:creationId xmlns:a16="http://schemas.microsoft.com/office/drawing/2014/main" id="{310A46DA-CB5F-41D2-BD14-AB4A44429342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FA95409C-F7BF-4382-AFCB-6CB6EA98506F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300" dirty="0"/>
          </a:p>
        </p:txBody>
      </p:sp>
      <p:pic>
        <p:nvPicPr>
          <p:cNvPr id="12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ACE6A907-20F5-4F7E-9029-808CA6012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2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/>
              <a:t>并行的本质: 切分 + 通信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A46004-65E0-4161-9787-BA6EDB596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863" y="2086899"/>
            <a:ext cx="8760643" cy="145564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FCA662A-C53A-4E8A-8B20-00ED8D5DB129}"/>
              </a:ext>
            </a:extLst>
          </p:cNvPr>
          <p:cNvSpPr txBox="1"/>
          <p:nvPr/>
        </p:nvSpPr>
        <p:spPr>
          <a:xfrm>
            <a:off x="952682" y="1451942"/>
            <a:ext cx="3842657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所有并行策略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同一个模式 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2B67D0-CE3E-40D2-A361-0D9D5517AB84}"/>
              </a:ext>
            </a:extLst>
          </p:cNvPr>
          <p:cNvSpPr txBox="1"/>
          <p:nvPr/>
        </p:nvSpPr>
        <p:spPr>
          <a:xfrm>
            <a:off x="952682" y="3755685"/>
            <a:ext cx="5596165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四种策略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切的维度不同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通信原语不同 ： 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45469B2-2928-4F88-A354-D6D889EA8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379" y="4370589"/>
            <a:ext cx="7293336" cy="271068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B10239F-2FE9-414F-BCB6-C30C74D3A660}"/>
              </a:ext>
            </a:extLst>
          </p:cNvPr>
          <p:cNvSpPr txBox="1"/>
          <p:nvPr/>
        </p:nvSpPr>
        <p:spPr>
          <a:xfrm>
            <a:off x="254698" y="7253049"/>
            <a:ext cx="15746196" cy="47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 (Data Parallelism)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是最基础的并行方式：每张卡持有完整模型副本，独立处理不同的请求或 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，拆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，推理时并行处理，无需集合通信。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B6608C61-54D0-46D6-A475-832AE8EF3B22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2394505E-BB50-4828-B0F6-AD2C49D03A77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2F998A14-1811-4A83-9654-D8B4A8788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61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 dirty="0" err="1"/>
              <a:t>推理的两个阶段</a:t>
            </a:r>
            <a:r>
              <a:rPr sz="3200" dirty="0"/>
              <a:t>: Prefill</a:t>
            </a:r>
            <a:r>
              <a:rPr lang="zh-CN" altLang="en-US" sz="3200" dirty="0"/>
              <a:t> </a:t>
            </a:r>
            <a:r>
              <a:rPr lang="en-US" sz="3200" dirty="0"/>
              <a:t>vs</a:t>
            </a:r>
            <a:r>
              <a:rPr lang="zh-CN" altLang="en-US" sz="3200" dirty="0"/>
              <a:t> </a:t>
            </a:r>
            <a:r>
              <a:rPr sz="3200" dirty="0"/>
              <a:t>Decode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149736" y="5330377"/>
            <a:ext cx="5361532" cy="1718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整个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prompt 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可达数万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token)</a:t>
            </a:r>
          </a:p>
          <a:p>
            <a:pPr marL="228594" indent="-228594">
              <a:lnSpc>
                <a:spcPct val="150000"/>
              </a:lnSpc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核心矛盾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计算量大但数据复用率高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优化方向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分摊到多设备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分摊矩阵乘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CP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分摊长序列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57811" y="5332448"/>
            <a:ext cx="5589605" cy="16800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sz="1600" dirty="0" err="1"/>
              <a:t>每步只处理</a:t>
            </a:r>
            <a:r>
              <a:rPr sz="1600" dirty="0"/>
              <a:t> 1 </a:t>
            </a:r>
            <a:r>
              <a:rPr sz="1600" dirty="0" err="1"/>
              <a:t>个新</a:t>
            </a:r>
            <a:r>
              <a:rPr sz="1600" dirty="0"/>
              <a:t> token</a:t>
            </a:r>
          </a:p>
          <a:p>
            <a:r>
              <a:rPr sz="1600" dirty="0" err="1"/>
              <a:t>核心矛盾</a:t>
            </a:r>
            <a:r>
              <a:rPr sz="1600" dirty="0"/>
              <a:t>: </a:t>
            </a:r>
            <a:r>
              <a:rPr sz="1600" dirty="0" err="1"/>
              <a:t>计算量小但每步都需读取全部激活权重</a:t>
            </a:r>
            <a:endParaRPr sz="1600" dirty="0"/>
          </a:p>
          <a:p>
            <a:r>
              <a:rPr sz="1600" dirty="0" err="1"/>
              <a:t>优化方向</a:t>
            </a:r>
            <a:r>
              <a:rPr sz="1600" dirty="0"/>
              <a:t>: </a:t>
            </a:r>
            <a:r>
              <a:rPr sz="1600" dirty="0" err="1"/>
              <a:t>减少每设备需加载的权重总量</a:t>
            </a:r>
            <a:endParaRPr lang="en-US" sz="1600" dirty="0"/>
          </a:p>
          <a:p>
            <a:r>
              <a:rPr lang="zh-CN" altLang="en-US" sz="1600" dirty="0"/>
              <a:t>方案：</a:t>
            </a:r>
            <a:r>
              <a:rPr lang="en-US" altLang="zh-CN" sz="1600" dirty="0"/>
              <a:t>EP </a:t>
            </a:r>
            <a:r>
              <a:rPr lang="zh-CN" altLang="en-US" sz="1600" dirty="0"/>
              <a:t>减少单卡专家数</a:t>
            </a:r>
            <a:r>
              <a:rPr lang="en-US" altLang="zh-CN" sz="1600" dirty="0"/>
              <a:t>(MOE)</a:t>
            </a:r>
            <a:r>
              <a:rPr lang="zh-CN" altLang="en-US" sz="1600" dirty="0"/>
              <a:t> </a:t>
            </a:r>
            <a:r>
              <a:rPr lang="en-US" altLang="zh-CN" sz="1600" dirty="0"/>
              <a:t>+ </a:t>
            </a:r>
            <a:r>
              <a:rPr lang="zh-CN" altLang="en-US" sz="1600" dirty="0"/>
              <a:t>多实例部署提升吞吐</a:t>
            </a:r>
          </a:p>
        </p:txBody>
      </p:sp>
      <p:sp>
        <p:nvSpPr>
          <p:cNvPr id="19" name="箭头: 左弧形 18">
            <a:extLst>
              <a:ext uri="{FF2B5EF4-FFF2-40B4-BE49-F238E27FC236}">
                <a16:creationId xmlns:a16="http://schemas.microsoft.com/office/drawing/2014/main" id="{3E4617CB-7180-433A-AAAB-F06C2B7BDCE5}"/>
              </a:ext>
            </a:extLst>
          </p:cNvPr>
          <p:cNvSpPr/>
          <p:nvPr/>
        </p:nvSpPr>
        <p:spPr>
          <a:xfrm rot="843089">
            <a:off x="2420634" y="6737294"/>
            <a:ext cx="401831" cy="714519"/>
          </a:xfrm>
          <a:prstGeom prst="curvedRightArrow">
            <a:avLst>
              <a:gd name="adj1" fmla="val 16164"/>
              <a:gd name="adj2" fmla="val 30278"/>
              <a:gd name="adj3" fmla="val 25000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923D0E-882C-4447-A980-917A43D76354}"/>
              </a:ext>
            </a:extLst>
          </p:cNvPr>
          <p:cNvSpPr txBox="1"/>
          <p:nvPr/>
        </p:nvSpPr>
        <p:spPr>
          <a:xfrm>
            <a:off x="4962219" y="7554585"/>
            <a:ext cx="6197804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分离是目前业界部署 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Moe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大模型的主流架构 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CB1F1787-144F-4F3A-9AA8-F4A527FFD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362" y="1457851"/>
            <a:ext cx="7431516" cy="3410424"/>
          </a:xfrm>
          <a:prstGeom prst="rect">
            <a:avLst/>
          </a:prstGeom>
        </p:spPr>
      </p:pic>
      <p:sp>
        <p:nvSpPr>
          <p:cNvPr id="9" name="Text 27">
            <a:extLst>
              <a:ext uri="{FF2B5EF4-FFF2-40B4-BE49-F238E27FC236}">
                <a16:creationId xmlns:a16="http://schemas.microsoft.com/office/drawing/2014/main" id="{506C49B0-FBF9-4D3F-BB79-71F5411C8B4E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0" name="Text 28">
            <a:extLst>
              <a:ext uri="{FF2B5EF4-FFF2-40B4-BE49-F238E27FC236}">
                <a16:creationId xmlns:a16="http://schemas.microsoft.com/office/drawing/2014/main" id="{1FCC0DF6-AA85-4C94-8123-DB3D1D615FA7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300" dirty="0"/>
          </a:p>
        </p:txBody>
      </p:sp>
      <p:pic>
        <p:nvPicPr>
          <p:cNvPr id="11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1A400C00-855E-436A-BBAE-95665782A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分布式通信原语简介</a:t>
            </a:r>
            <a:endParaRPr lang="en-US" sz="44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通信原语的工作机制与通信量分析</a:t>
            </a: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 dirty="0" err="1"/>
              <a:t>AllReduce</a:t>
            </a:r>
            <a:r>
              <a:rPr sz="3200" dirty="0"/>
              <a:t> -- </a:t>
            </a:r>
            <a:r>
              <a:rPr sz="3200" dirty="0" err="1"/>
              <a:t>全局归约</a:t>
            </a:r>
            <a:r>
              <a:rPr sz="3200" dirty="0"/>
              <a:t>, 各 rank </a:t>
            </a:r>
            <a:r>
              <a:rPr sz="3200" dirty="0" err="1"/>
              <a:t>求和后广播完整结果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9E68B04-51AE-4398-B5D9-58240DC4E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81" y="2069778"/>
            <a:ext cx="11928372" cy="476007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28B73E5-57D1-441D-ADE5-8EE52AF98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7624" y="4572000"/>
            <a:ext cx="3797097" cy="1548693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CDBE6DB-AF73-43D8-96BF-3024581C191E}"/>
              </a:ext>
            </a:extLst>
          </p:cNvPr>
          <p:cNvSpPr txBox="1"/>
          <p:nvPr/>
        </p:nvSpPr>
        <p:spPr>
          <a:xfrm>
            <a:off x="12083517" y="6149147"/>
            <a:ext cx="3771204" cy="30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将每个节点上的数据发送到所有节点上并进行数据规约操作</a:t>
            </a:r>
          </a:p>
        </p:txBody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36D49BFA-439F-44B0-BDBE-0BE45D3DEC90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8" name="Text 28">
            <a:extLst>
              <a:ext uri="{FF2B5EF4-FFF2-40B4-BE49-F238E27FC236}">
                <a16:creationId xmlns:a16="http://schemas.microsoft.com/office/drawing/2014/main" id="{5C094BC5-CC76-45E0-AA98-A75BE19B1308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300" dirty="0"/>
          </a:p>
        </p:txBody>
      </p:sp>
      <p:pic>
        <p:nvPicPr>
          <p:cNvPr id="9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2AE07D14-69C1-48DF-9FF4-75759FC9E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/>
              <a:t>ReduceScatter + AllGather: AllReduce 的拆分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1FA25A9-87C2-4348-9927-A338EF3B9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84" y="1492489"/>
            <a:ext cx="11354663" cy="458201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675F021-646C-4554-A283-843B7720D041}"/>
              </a:ext>
            </a:extLst>
          </p:cNvPr>
          <p:cNvSpPr txBox="1"/>
          <p:nvPr/>
        </p:nvSpPr>
        <p:spPr>
          <a:xfrm>
            <a:off x="2450668" y="6556101"/>
            <a:ext cx="10773697" cy="1080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★  </a:t>
            </a: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AllReduce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=  </a:t>
            </a: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ReduceScatter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+  </a:t>
            </a: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AllGather</a:t>
            </a:r>
            <a:endParaRPr lang="en-US" altLang="zh-CN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分解后可以在两个阶段间插入 </a:t>
            </a: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LayerNorm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等逐元素操作 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它们只依赖 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维度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不依赖 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S) </a:t>
            </a:r>
            <a:endParaRPr lang="zh-CN" altLang="en-US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04C15F8-2D25-4807-96D8-5788135C7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4995" y="1758137"/>
            <a:ext cx="3664811" cy="14984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9B121A9-F301-40FC-AE21-84B293B72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4995" y="4194636"/>
            <a:ext cx="3664811" cy="150005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B44FECD-A2D9-4BB6-A562-82097F300A25}"/>
              </a:ext>
            </a:extLst>
          </p:cNvPr>
          <p:cNvSpPr txBox="1"/>
          <p:nvPr/>
        </p:nvSpPr>
        <p:spPr>
          <a:xfrm>
            <a:off x="12050252" y="3303547"/>
            <a:ext cx="4205748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将多个节点上的数据按维度发送到相应节点上并进行数据规约操作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31E257-B811-4222-B49D-EEA681A7CD01}"/>
              </a:ext>
            </a:extLst>
          </p:cNvPr>
          <p:cNvSpPr txBox="1"/>
          <p:nvPr/>
        </p:nvSpPr>
        <p:spPr>
          <a:xfrm>
            <a:off x="12718844" y="5665011"/>
            <a:ext cx="286856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67" dirty="0"/>
              <a:t>将每个节点上各自的数据发送到所有节点上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467517C1-B7F3-4CE9-BBFB-1233627662C0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FA453943-AE51-46F3-AB5A-2EE6CA063200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300" dirty="0"/>
          </a:p>
        </p:txBody>
      </p:sp>
      <p:pic>
        <p:nvPicPr>
          <p:cNvPr id="13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E41870C2-C848-4CA4-A36C-07F3DD5C67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 dirty="0" err="1"/>
              <a:t>AllToAll</a:t>
            </a:r>
            <a:r>
              <a:rPr sz="3200" dirty="0"/>
              <a:t>: </a:t>
            </a:r>
            <a:r>
              <a:rPr sz="3200" dirty="0" err="1"/>
              <a:t>分布式转置</a:t>
            </a:r>
            <a:r>
              <a:rPr sz="3200" dirty="0"/>
              <a:t> -- EP 和 Ulysses </a:t>
            </a:r>
            <a:r>
              <a:rPr sz="3200" dirty="0" err="1"/>
              <a:t>的基础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D20BBB2-5435-461D-BF18-B1C2327B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1326" y="3026635"/>
            <a:ext cx="4179655" cy="171127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208984A-B877-4246-A1F5-E993BC0E3B82}"/>
              </a:ext>
            </a:extLst>
          </p:cNvPr>
          <p:cNvSpPr txBox="1"/>
          <p:nvPr/>
        </p:nvSpPr>
        <p:spPr>
          <a:xfrm>
            <a:off x="11986201" y="4895678"/>
            <a:ext cx="2789903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67" dirty="0"/>
              <a:t>所有节点相互</a:t>
            </a:r>
            <a:r>
              <a:rPr lang="en-US" altLang="zh-CN" sz="1067" dirty="0"/>
              <a:t>scatter</a:t>
            </a:r>
            <a:r>
              <a:rPr lang="zh-CN" altLang="en-US" sz="1067" dirty="0"/>
              <a:t>和</a:t>
            </a:r>
            <a:r>
              <a:rPr lang="en-US" altLang="zh-CN" sz="1067" dirty="0"/>
              <a:t>gather</a:t>
            </a:r>
            <a:r>
              <a:rPr lang="zh-CN" altLang="en-US" sz="1067" dirty="0"/>
              <a:t>等量的数据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165BF43-D880-4FC8-B242-23B03BA06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935" y="2069756"/>
            <a:ext cx="9212920" cy="4499333"/>
          </a:xfrm>
          <a:prstGeom prst="rect">
            <a:avLst/>
          </a:prstGeom>
        </p:spPr>
      </p:pic>
      <p:sp>
        <p:nvSpPr>
          <p:cNvPr id="7" name="Text 27">
            <a:extLst>
              <a:ext uri="{FF2B5EF4-FFF2-40B4-BE49-F238E27FC236}">
                <a16:creationId xmlns:a16="http://schemas.microsoft.com/office/drawing/2014/main" id="{ED774C92-7443-41FD-8D10-FE6A0B74C1B5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8" name="Text 28">
            <a:extLst>
              <a:ext uri="{FF2B5EF4-FFF2-40B4-BE49-F238E27FC236}">
                <a16:creationId xmlns:a16="http://schemas.microsoft.com/office/drawing/2014/main" id="{B0A727D5-439F-4C81-B7E3-2004A6D2A16D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</a:t>
            </a:r>
            <a:endParaRPr lang="en-US" sz="1300" dirty="0"/>
          </a:p>
        </p:txBody>
      </p:sp>
      <p:pic>
        <p:nvPicPr>
          <p:cNvPr id="9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B8F185F1-A851-4649-83B3-04245C888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/>
              <a:t>P2P Send/Recv: 点对点传输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4775210-1C83-435D-BD4D-E6274CF63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746" y="2767343"/>
            <a:ext cx="5985796" cy="31041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1F10CDE-2D33-409E-A45A-0137B99D3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6606" y="3175619"/>
            <a:ext cx="2451100" cy="19939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0FFC59F-44D5-4C3C-AC02-420A8D672A80}"/>
              </a:ext>
            </a:extLst>
          </p:cNvPr>
          <p:cNvSpPr txBox="1"/>
          <p:nvPr/>
        </p:nvSpPr>
        <p:spPr>
          <a:xfrm>
            <a:off x="9995307" y="5351135"/>
            <a:ext cx="3153696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sz="10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Send</a:t>
            </a:r>
            <a:r>
              <a:rPr lang="zh-CN" altLang="en-US" sz="10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：将一个节点的数据发送到另外一个节点；</a:t>
            </a:r>
          </a:p>
          <a:p>
            <a:pPr algn="l"/>
            <a:r>
              <a:rPr lang="en-US" altLang="zh-CN" sz="10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Receive</a:t>
            </a:r>
            <a:r>
              <a:rPr lang="zh-CN" altLang="en-US" sz="10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：接收从另一个节点上发送来的数据；</a:t>
            </a:r>
          </a:p>
        </p:txBody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3ECB2636-CD05-44F9-A35F-967EA17B8F8F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9" name="Text 28">
            <a:extLst>
              <a:ext uri="{FF2B5EF4-FFF2-40B4-BE49-F238E27FC236}">
                <a16:creationId xmlns:a16="http://schemas.microsoft.com/office/drawing/2014/main" id="{31551543-1726-4FB2-ACF1-CDAA6ED11053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300" dirty="0"/>
          </a:p>
        </p:txBody>
      </p:sp>
      <p:pic>
        <p:nvPicPr>
          <p:cNvPr id="11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1E2E52A1-DC39-41BD-9E42-A42EF2E21C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常见的并行方案与原理</a:t>
            </a:r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针对不同场景的并行方案</a:t>
            </a: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张量并行是模型的层内切割</a:t>
            </a:r>
            <a:endParaRPr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D4CFA5E-3DC6-4CD3-BE4E-8F2935DCF033}"/>
              </a:ext>
            </a:extLst>
          </p:cNvPr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B4FEB3A-B04E-4C0B-870A-11D4DCF06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244" y="1885556"/>
            <a:ext cx="4409152" cy="180145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8C26321-86D7-4C81-822A-8BAFD5864912}"/>
              </a:ext>
            </a:extLst>
          </p:cNvPr>
          <p:cNvSpPr txBox="1"/>
          <p:nvPr/>
        </p:nvSpPr>
        <p:spPr>
          <a:xfrm>
            <a:off x="720213" y="1536743"/>
            <a:ext cx="9967452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把模型的参数切分到多个节点上，每个节点计算部分结果，再通过节点间的通信获取到最终结果，这就是张量并行。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E7B8BF-5E82-4A92-9B8A-5D69C28D8F3E}"/>
              </a:ext>
            </a:extLst>
          </p:cNvPr>
          <p:cNvSpPr txBox="1"/>
          <p:nvPr/>
        </p:nvSpPr>
        <p:spPr>
          <a:xfrm>
            <a:off x="771465" y="4161631"/>
            <a:ext cx="6976356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67" dirty="0"/>
              <a:t>张量并行的底层逻辑是矩阵乘法的拆分计算，可以分为</a:t>
            </a:r>
            <a:r>
              <a:rPr lang="zh-CN" altLang="en-US" sz="1467" b="1" dirty="0"/>
              <a:t>列并行</a:t>
            </a:r>
            <a:r>
              <a:rPr lang="zh-CN" altLang="en-US" sz="1467" dirty="0"/>
              <a:t>和</a:t>
            </a:r>
            <a:r>
              <a:rPr lang="zh-CN" altLang="en-US" sz="1467" b="1" dirty="0"/>
              <a:t>行并行</a:t>
            </a:r>
            <a:r>
              <a:rPr lang="zh-CN" altLang="en-US" sz="1467" dirty="0"/>
              <a:t>两种方式：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9DA0C0B-10B4-4EFA-AA06-FB9614369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850" y="4398767"/>
            <a:ext cx="6424662" cy="346507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F22975-BA56-4ACE-BA14-4B2F369529B9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</a:t>
            </a:r>
            <a:endParaRPr lang="zh-CN" altLang="en-US" b="1" dirty="0"/>
          </a:p>
        </p:txBody>
      </p:sp>
      <p:sp>
        <p:nvSpPr>
          <p:cNvPr id="12" name="Text 27">
            <a:extLst>
              <a:ext uri="{FF2B5EF4-FFF2-40B4-BE49-F238E27FC236}">
                <a16:creationId xmlns:a16="http://schemas.microsoft.com/office/drawing/2014/main" id="{695182D1-EAF9-4F16-A3BA-FE3B9A778506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4" name="Text 28">
            <a:extLst>
              <a:ext uri="{FF2B5EF4-FFF2-40B4-BE49-F238E27FC236}">
                <a16:creationId xmlns:a16="http://schemas.microsoft.com/office/drawing/2014/main" id="{A7428D18-4AB8-404B-A599-B63264D42EFC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</a:t>
            </a:r>
            <a:endParaRPr lang="en-US" sz="1300" dirty="0"/>
          </a:p>
        </p:txBody>
      </p:sp>
      <p:pic>
        <p:nvPicPr>
          <p:cNvPr id="16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791D1AF2-155F-49E8-A0FC-4040D7D85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2667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列并行</a:t>
            </a:r>
            <a:r>
              <a:rPr sz="2667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(Column Parallel): </a:t>
            </a:r>
            <a:r>
              <a:rPr sz="2667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按输出维度切</a:t>
            </a:r>
            <a:r>
              <a:rPr sz="2667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</a:t>
            </a:r>
            <a:r>
              <a:rPr lang="en-US" sz="2667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2667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行并行 </a:t>
            </a:r>
            <a:r>
              <a:rPr lang="en-US" altLang="zh-CN" sz="2667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(Row Parallel): </a:t>
            </a:r>
            <a:r>
              <a:rPr lang="zh-CN" altLang="en-US" sz="2667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按输入维度切 </a:t>
            </a:r>
            <a:r>
              <a:rPr lang="en-US" altLang="zh-CN" sz="2667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B8167F3-0134-40C4-9297-76B751F37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54" y="2773761"/>
            <a:ext cx="8113580" cy="36262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45B0030-EB31-459F-A404-3AAA67222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314" y="2081321"/>
            <a:ext cx="6254905" cy="5224047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F5F92C9-6590-4406-86C7-9536A52A62D9}"/>
              </a:ext>
            </a:extLst>
          </p:cNvPr>
          <p:cNvCxnSpPr/>
          <p:nvPr/>
        </p:nvCxnSpPr>
        <p:spPr>
          <a:xfrm>
            <a:off x="8760541" y="1769807"/>
            <a:ext cx="88491" cy="69907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01B4802-8F42-4411-B0BC-942B09706D63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</a:t>
            </a:r>
            <a:endParaRPr lang="zh-CN" altLang="en-US" b="1" dirty="0"/>
          </a:p>
        </p:txBody>
      </p:sp>
      <p:sp>
        <p:nvSpPr>
          <p:cNvPr id="8" name="Text 27">
            <a:extLst>
              <a:ext uri="{FF2B5EF4-FFF2-40B4-BE49-F238E27FC236}">
                <a16:creationId xmlns:a16="http://schemas.microsoft.com/office/drawing/2014/main" id="{99D489D1-6317-41F5-8E14-9F793507BDD7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9" name="Text 28">
            <a:extLst>
              <a:ext uri="{FF2B5EF4-FFF2-40B4-BE49-F238E27FC236}">
                <a16:creationId xmlns:a16="http://schemas.microsoft.com/office/drawing/2014/main" id="{AC448CE5-6308-423B-9AC2-4AD5C826248E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1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81438989-929D-4532-8F9E-2E6845E2C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16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 dirty="0" err="1"/>
              <a:t>列并行</a:t>
            </a:r>
            <a:r>
              <a:rPr sz="3200" dirty="0"/>
              <a:t> + </a:t>
            </a:r>
            <a:r>
              <a:rPr sz="3200" dirty="0" err="1"/>
              <a:t>行并行串联</a:t>
            </a:r>
            <a:r>
              <a:rPr sz="3200" dirty="0"/>
              <a:t>: 每 Block</a:t>
            </a:r>
            <a:r>
              <a:rPr lang="en-US" sz="3200" dirty="0"/>
              <a:t> </a:t>
            </a:r>
            <a:r>
              <a:rPr sz="3200" dirty="0"/>
              <a:t>2 </a:t>
            </a:r>
            <a:r>
              <a:rPr sz="3200" dirty="0" err="1"/>
              <a:t>次通信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309002" y="6420466"/>
            <a:ext cx="14946999" cy="132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r>
              <a:rPr sz="1867" dirty="0"/>
              <a:t>Transformer Block </a:t>
            </a:r>
            <a:r>
              <a:rPr sz="1867" dirty="0" err="1"/>
              <a:t>内部的</a:t>
            </a:r>
            <a:r>
              <a:rPr sz="1867" dirty="0"/>
              <a:t> TP </a:t>
            </a:r>
            <a:r>
              <a:rPr sz="1867" dirty="0" err="1"/>
              <a:t>通信模式是高度规律的</a:t>
            </a:r>
            <a:r>
              <a:rPr sz="1867" dirty="0"/>
              <a:t>: </a:t>
            </a:r>
            <a:endParaRPr lang="en-US" sz="1867" dirty="0"/>
          </a:p>
          <a:p>
            <a:pPr marL="380990" indent="-38099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600" dirty="0"/>
              <a:t>Attention </a:t>
            </a:r>
            <a:r>
              <a:rPr sz="1600" dirty="0" err="1"/>
              <a:t>层中</a:t>
            </a:r>
            <a:r>
              <a:rPr sz="1600" dirty="0"/>
              <a:t> QKV </a:t>
            </a:r>
            <a:r>
              <a:rPr sz="1600" dirty="0" err="1"/>
              <a:t>投影采用列并行</a:t>
            </a:r>
            <a:r>
              <a:rPr sz="1600" dirty="0"/>
              <a:t> (</a:t>
            </a:r>
            <a:r>
              <a:rPr sz="1600" dirty="0" err="1"/>
              <a:t>无通信</a:t>
            </a:r>
            <a:r>
              <a:rPr sz="1600" dirty="0"/>
              <a:t>), </a:t>
            </a:r>
            <a:r>
              <a:rPr sz="1600" dirty="0" err="1"/>
              <a:t>多头</a:t>
            </a:r>
            <a:r>
              <a:rPr sz="1600" dirty="0"/>
              <a:t> Attention </a:t>
            </a:r>
            <a:r>
              <a:rPr sz="1600" dirty="0" err="1"/>
              <a:t>在本地执行</a:t>
            </a:r>
            <a:r>
              <a:rPr sz="1600" dirty="0"/>
              <a:t> (heads/</a:t>
            </a:r>
            <a:r>
              <a:rPr sz="1600" dirty="0" err="1"/>
              <a:t>tp</a:t>
            </a:r>
            <a:r>
              <a:rPr sz="1600" dirty="0"/>
              <a:t>), </a:t>
            </a:r>
            <a:r>
              <a:rPr sz="1600" dirty="0" err="1"/>
              <a:t>O_proj</a:t>
            </a:r>
            <a:r>
              <a:rPr sz="1600" dirty="0"/>
              <a:t> </a:t>
            </a:r>
            <a:r>
              <a:rPr sz="1600" dirty="0" err="1"/>
              <a:t>采用行并行</a:t>
            </a:r>
            <a:r>
              <a:rPr sz="1600" dirty="0"/>
              <a:t> (1 次 </a:t>
            </a:r>
            <a:r>
              <a:rPr sz="1600" dirty="0" err="1"/>
              <a:t>AllReduce</a:t>
            </a:r>
            <a:r>
              <a:rPr sz="1600" dirty="0"/>
              <a:t>);</a:t>
            </a:r>
          </a:p>
          <a:p>
            <a:pPr marL="380990" indent="-38099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600" dirty="0"/>
              <a:t>FFN </a:t>
            </a:r>
            <a:r>
              <a:rPr sz="1600" dirty="0" err="1"/>
              <a:t>层中</a:t>
            </a:r>
            <a:r>
              <a:rPr sz="1600" dirty="0"/>
              <a:t> </a:t>
            </a:r>
            <a:r>
              <a:rPr sz="1600" dirty="0" err="1"/>
              <a:t>gate_proj</a:t>
            </a:r>
            <a:r>
              <a:rPr sz="1600" dirty="0"/>
              <a:t> 和 </a:t>
            </a:r>
            <a:r>
              <a:rPr sz="1600" dirty="0" err="1"/>
              <a:t>up_proj</a:t>
            </a:r>
            <a:r>
              <a:rPr sz="1600" dirty="0"/>
              <a:t> </a:t>
            </a:r>
            <a:r>
              <a:rPr sz="1600" dirty="0" err="1"/>
              <a:t>采用列并行</a:t>
            </a:r>
            <a:r>
              <a:rPr sz="1600" dirty="0"/>
              <a:t> (</a:t>
            </a:r>
            <a:r>
              <a:rPr sz="1600" dirty="0" err="1"/>
              <a:t>无通信</a:t>
            </a:r>
            <a:r>
              <a:rPr sz="1600" dirty="0"/>
              <a:t>), </a:t>
            </a:r>
            <a:r>
              <a:rPr sz="1600" dirty="0" err="1"/>
              <a:t>SiLU</a:t>
            </a:r>
            <a:r>
              <a:rPr sz="1600" dirty="0"/>
              <a:t> </a:t>
            </a:r>
            <a:r>
              <a:rPr sz="1600" dirty="0" err="1"/>
              <a:t>激活在本地执行</a:t>
            </a:r>
            <a:r>
              <a:rPr sz="1600" dirty="0"/>
              <a:t>, </a:t>
            </a:r>
            <a:r>
              <a:rPr sz="1600" dirty="0" err="1"/>
              <a:t>down_proj</a:t>
            </a:r>
            <a:r>
              <a:rPr sz="1600" dirty="0"/>
              <a:t> </a:t>
            </a:r>
            <a:r>
              <a:rPr sz="1600" dirty="0" err="1"/>
              <a:t>采用行并行</a:t>
            </a:r>
            <a:r>
              <a:rPr sz="1600" dirty="0"/>
              <a:t> (1 次 </a:t>
            </a:r>
            <a:r>
              <a:rPr sz="1600" dirty="0" err="1"/>
              <a:t>AllReduce</a:t>
            </a:r>
            <a:r>
              <a:rPr sz="1600" dirty="0"/>
              <a:t>). </a:t>
            </a:r>
            <a:r>
              <a:rPr sz="1600" dirty="0" err="1"/>
              <a:t>因此每个</a:t>
            </a:r>
            <a:r>
              <a:rPr sz="1600" dirty="0"/>
              <a:t> Block </a:t>
            </a:r>
            <a:r>
              <a:rPr sz="1600" dirty="0" err="1"/>
              <a:t>固定恰好</a:t>
            </a:r>
            <a:r>
              <a:rPr sz="1600" dirty="0"/>
              <a:t> 2 次 </a:t>
            </a:r>
            <a:r>
              <a:rPr sz="1600" dirty="0" err="1"/>
              <a:t>AllReduce</a:t>
            </a:r>
            <a:r>
              <a:rPr sz="1600" dirty="0"/>
              <a:t>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53C1BA9-B8AB-4861-83CA-81BCCA629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969" y="2149403"/>
            <a:ext cx="12260825" cy="372082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D01005-7DE9-493E-AC16-F870605C0E38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</a:t>
            </a:r>
            <a:endParaRPr lang="zh-CN" altLang="en-US" b="1" dirty="0"/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218C239E-6173-4AAC-B09B-8AC4E1DC2AC1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0" name="Text 28">
            <a:extLst>
              <a:ext uri="{FF2B5EF4-FFF2-40B4-BE49-F238E27FC236}">
                <a16:creationId xmlns:a16="http://schemas.microsoft.com/office/drawing/2014/main" id="{EE8E57AF-4892-4BDB-8D91-03653B7218BB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</a:t>
            </a:r>
            <a:endParaRPr lang="en-US" sz="1300" dirty="0"/>
          </a:p>
        </p:txBody>
      </p:sp>
      <p:pic>
        <p:nvPicPr>
          <p:cNvPr id="11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FD25C03F-5E8F-4149-B5E4-D23B66A0A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0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 dirty="0"/>
              <a:t>Sequence Parallelism (SP): </a:t>
            </a:r>
            <a:r>
              <a:rPr sz="3200" dirty="0" err="1"/>
              <a:t>分解</a:t>
            </a:r>
            <a:r>
              <a:rPr sz="3200" dirty="0"/>
              <a:t> </a:t>
            </a:r>
            <a:r>
              <a:rPr sz="3200" dirty="0" err="1"/>
              <a:t>AllReduce</a:t>
            </a:r>
            <a:r>
              <a:rPr sz="3200" dirty="0"/>
              <a:t> </a:t>
            </a:r>
            <a:r>
              <a:rPr sz="3200" dirty="0" err="1"/>
              <a:t>以降低激活值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sz="3200" dirty="0" err="1"/>
              <a:t>存占用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643E6FD-EC86-470C-9419-68077BD59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85" y="1826699"/>
            <a:ext cx="9718368" cy="26025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89D0DCE-8C8F-4632-A9E7-94171FDF3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107" y="4800443"/>
            <a:ext cx="4582242" cy="27838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696800B-DEAB-4948-872F-252C7DF95542}"/>
              </a:ext>
            </a:extLst>
          </p:cNvPr>
          <p:cNvSpPr txBox="1"/>
          <p:nvPr/>
        </p:nvSpPr>
        <p:spPr>
          <a:xfrm>
            <a:off x="1806575" y="5116043"/>
            <a:ext cx="6693309" cy="903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的核心价值在于：在不增加通信开销的前提下，将激活值的显存占用降低 </a:t>
            </a:r>
            <a:r>
              <a:rPr lang="en-US" altLang="zh-CN"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tp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倍，这对长序列和大 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场景很重要。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24CCD1-78D8-4636-B5E3-E06B7C89AC61}"/>
              </a:ext>
            </a:extLst>
          </p:cNvPr>
          <p:cNvSpPr txBox="1"/>
          <p:nvPr/>
        </p:nvSpPr>
        <p:spPr>
          <a:xfrm>
            <a:off x="1806574" y="6192381"/>
            <a:ext cx="65757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（注意区分：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的内部优化，不影响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的计算方式，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仍在本卡完整序列上执行。后续章节介绍的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 (Context Parallelism)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是独立的并行维度，它直接切分序列并影响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的计算依赖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两者解决的问题完全不同）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D1D94E-AE86-4096-8536-80B3D4CCE95F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</a:t>
            </a:r>
            <a:endParaRPr lang="zh-CN" altLang="en-US" b="1" dirty="0"/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822DC7E7-B16C-436D-B149-EF1BDCE2E344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28">
            <a:extLst>
              <a:ext uri="{FF2B5EF4-FFF2-40B4-BE49-F238E27FC236}">
                <a16:creationId xmlns:a16="http://schemas.microsoft.com/office/drawing/2014/main" id="{42F7867D-D33E-401B-8760-4A4C958449A6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</a:t>
            </a:r>
            <a:endParaRPr lang="en-US" sz="1300" dirty="0"/>
          </a:p>
        </p:txBody>
      </p:sp>
      <p:pic>
        <p:nvPicPr>
          <p:cNvPr id="15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0844D428-5002-4971-9CF7-9F1B6206C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2300" y="80391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的演进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从头数整除到异构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 &amp;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适用场景总结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DE7FFB-7229-48D4-A2CB-7B366C3D3718}"/>
              </a:ext>
            </a:extLst>
          </p:cNvPr>
          <p:cNvSpPr txBox="1"/>
          <p:nvPr/>
        </p:nvSpPr>
        <p:spPr>
          <a:xfrm>
            <a:off x="1127002" y="1314028"/>
            <a:ext cx="14054005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在实际应用中，传统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若干约束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Megatron-LM TP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num_kv_heads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必须被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tp_size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整除，这在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GQA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LLaMA-3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上限制了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度。但是近几年随着切分策略的不断演进，传统的一些约束条件也在发生变化。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CD676D96-DEE8-4BC1-82E8-94E5C4C4A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653019"/>
              </p:ext>
            </p:extLst>
          </p:nvPr>
        </p:nvGraphicFramePr>
        <p:xfrm>
          <a:off x="3085365" y="2280314"/>
          <a:ext cx="10544910" cy="2890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3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1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67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演进维度</a:t>
                      </a:r>
                      <a:endParaRPr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传统方案</a:t>
                      </a:r>
                      <a:r>
                        <a:rPr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(Megatron-LM 2019)</a:t>
                      </a: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现代方案</a:t>
                      </a:r>
                      <a:endParaRPr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投影切分约束</a:t>
                      </a:r>
                      <a:endParaRPr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num_heads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%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== 0 (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按头切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hidden_size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%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== 0 (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按隐藏维度切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头数不再是硬约束</a:t>
                      </a:r>
                      <a:endParaRPr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GQA 场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num_kv_heads</a:t>
                      </a:r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&lt; </a:t>
                      </a:r>
                      <a:r>
                        <a:rPr lang="en-US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</a:t>
                      </a:r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不支持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kv_heads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%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== 0)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Head Replication: 当 tp &gt; num_kv_heads 时</a:t>
                      </a:r>
                    </a:p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自动将 KV 头复制到多个 rank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各层 TP 度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全模型统一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tp_size</a:t>
                      </a:r>
                      <a:endParaRPr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异构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TP: Attention /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MoE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/ Embedding /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LMHead</a:t>
                      </a:r>
                      <a:endParaRPr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各层可配置不同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tp_size</a:t>
                      </a:r>
                      <a:endParaRPr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O_proj TP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 Attention TP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绑定</a:t>
                      </a:r>
                      <a:endParaRPr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可独立配置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o_proj_tp_size</a:t>
                      </a:r>
                      <a:endParaRPr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o_proj_tp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!=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attn_tp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时通过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AllToAll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重分布</a:t>
                      </a:r>
                      <a:endParaRPr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7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机内限制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 限机内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不变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AllReduce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频率高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仍需限于机内</a:t>
                      </a:r>
                      <a:endParaRPr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AE78DCF2-06FE-495E-97BB-0732C4F0C5A1}"/>
              </a:ext>
            </a:extLst>
          </p:cNvPr>
          <p:cNvSpPr txBox="1"/>
          <p:nvPr/>
        </p:nvSpPr>
        <p:spPr>
          <a:xfrm>
            <a:off x="1127001" y="5496523"/>
            <a:ext cx="10622547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 dirty="0"/>
              <a:t>TP </a:t>
            </a:r>
            <a:r>
              <a:rPr lang="zh-CN" altLang="en-US" sz="1600" dirty="0"/>
              <a:t>仍是多卡推理中最基础的并行策略，但其配置方式已从「全模型统一 </a:t>
            </a:r>
            <a:r>
              <a:rPr lang="en-US" altLang="zh-CN" sz="1600" dirty="0" err="1"/>
              <a:t>tp_size</a:t>
            </a:r>
            <a:r>
              <a:rPr lang="zh-CN" altLang="en-US" sz="1600" dirty="0"/>
              <a:t>」演进为「按层类型异构配置」。</a:t>
            </a:r>
            <a:br>
              <a:rPr lang="en-US" altLang="zh-CN" sz="1600" dirty="0"/>
            </a:br>
            <a:r>
              <a:rPr lang="zh-CN" altLang="en-US" sz="1600" dirty="0"/>
              <a:t>核心不变的约束是机内限制：</a:t>
            </a:r>
            <a:r>
              <a:rPr lang="en-US" altLang="zh-CN" sz="1600" dirty="0" err="1"/>
              <a:t>AllReduce</a:t>
            </a:r>
            <a:r>
              <a:rPr lang="zh-CN" altLang="en-US" sz="1600" dirty="0"/>
              <a:t> 每 </a:t>
            </a:r>
            <a:r>
              <a:rPr lang="en-US" altLang="zh-CN" sz="1600" dirty="0"/>
              <a:t>Block </a:t>
            </a:r>
            <a:r>
              <a:rPr lang="zh-CN" altLang="en-US" sz="1600" dirty="0"/>
              <a:t>执行 </a:t>
            </a:r>
            <a:r>
              <a:rPr lang="en-US" altLang="zh-CN" sz="1600" dirty="0"/>
              <a:t>2 </a:t>
            </a:r>
            <a:r>
              <a:rPr lang="zh-CN" altLang="en-US" sz="1600" dirty="0"/>
              <a:t>次，通信频率极高，建议在 </a:t>
            </a:r>
            <a:r>
              <a:rPr lang="en-US" altLang="zh-CN" sz="1600" dirty="0"/>
              <a:t>HCCS </a:t>
            </a:r>
            <a:r>
              <a:rPr lang="zh-CN" altLang="en-US" sz="1600" dirty="0"/>
              <a:t>带宽范围内完成。</a:t>
            </a:r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0C971DFC-463E-4D3D-BCCC-5F4EBBCD6E25}"/>
              </a:ext>
            </a:extLst>
          </p:cNvPr>
          <p:cNvGraphicFramePr>
            <a:graphicFrameLocks noGrp="1"/>
          </p:cNvGraphicFramePr>
          <p:nvPr/>
        </p:nvGraphicFramePr>
        <p:xfrm>
          <a:off x="3321337" y="6472453"/>
          <a:ext cx="9450767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5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5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  <a:endParaRPr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建议</a:t>
                      </a:r>
                      <a:endParaRPr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单机 Prefill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★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首选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计算密集型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机内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HCCS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带宽充裕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单机 Decode 大 batch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适用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通信与计算比例合理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单机 Decode 小 batch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建议降低 tp_size (通信开销占比过高)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跨机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不建议 (AllReduce 跨机延迟显著)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GQA 模型 (kv_heads 少)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可使用 KV Head Replication 突破 kv_heads 限制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MoE + Dense 混合层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异构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TP: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attn_tp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和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moe_tp</a:t>
                      </a:r>
                      <a:r>
                        <a:rPr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各自独立配置</a:t>
                      </a:r>
                      <a:endParaRPr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8DF781C-6EC6-40A3-91E5-F206170780AB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</a:t>
            </a:r>
            <a:endParaRPr lang="zh-CN" altLang="en-US" b="1" dirty="0"/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10C7E524-16B5-4649-8717-F49D7B91001F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pic>
        <p:nvPicPr>
          <p:cNvPr id="15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83542B1D-8FFF-4CC0-B896-BE3016A7C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/>
              <a:t>PP: 按层深度切分模型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7AEC48-7A8F-4852-A5EF-896A65BAF54C}"/>
              </a:ext>
            </a:extLst>
          </p:cNvPr>
          <p:cNvSpPr txBox="1"/>
          <p:nvPr/>
        </p:nvSpPr>
        <p:spPr>
          <a:xfrm>
            <a:off x="853441" y="1383161"/>
            <a:ext cx="14248908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对于分布式训练，当模型规模太大而无法存放在单个计算节点上时，可以使用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流水并行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PP(Pipeline Parallel)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并行是将模型按层拆分到不同设备，数据以流水线方式在不同设备间顺序流动处理。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6232606-DE00-40FF-A5E5-DAF8BD989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31" y="2506504"/>
            <a:ext cx="4659671" cy="314929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AA84151-BB6A-46A6-A2DD-77E920A6DCDE}"/>
              </a:ext>
            </a:extLst>
          </p:cNvPr>
          <p:cNvSpPr txBox="1"/>
          <p:nvPr/>
        </p:nvSpPr>
        <p:spPr>
          <a:xfrm>
            <a:off x="738775" y="5991772"/>
            <a:ext cx="4659671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切层，构成不同的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stage</a:t>
            </a: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Stage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之间通过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P2P(send/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recv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的方式进行数据通信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CBD51AB-712C-466A-8FDF-E62FECF57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435" y="3926178"/>
            <a:ext cx="8323212" cy="1876101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FA7FB0E3-4A41-4EFE-9286-5BA0B336EB63}"/>
              </a:ext>
            </a:extLst>
          </p:cNvPr>
          <p:cNvSpPr txBox="1"/>
          <p:nvPr/>
        </p:nvSpPr>
        <p:spPr>
          <a:xfrm>
            <a:off x="7944899" y="3338368"/>
            <a:ext cx="6179572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67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流水并行的最大难度在于如何解决</a:t>
            </a:r>
            <a:r>
              <a:rPr lang="zh-CN" altLang="en-US" sz="1867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流水线气泡 </a:t>
            </a:r>
            <a:r>
              <a:rPr lang="en-US" altLang="zh-CN" sz="1867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(Bubble)</a:t>
            </a:r>
            <a:endParaRPr lang="zh-CN" altLang="en-US" sz="1867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60D49BB-4F26-4A6A-88DB-E5335EBC72BE}"/>
              </a:ext>
            </a:extLst>
          </p:cNvPr>
          <p:cNvSpPr txBox="1"/>
          <p:nvPr/>
        </p:nvSpPr>
        <p:spPr>
          <a:xfrm>
            <a:off x="4142865" y="7064524"/>
            <a:ext cx="7759619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 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在推理场景中较少单独使用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TP + EP + CP + PD 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PP 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仅在单机容量不足时作为跨机补充方案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A566CA-B2D6-4275-AE97-5BC6BFB68F5E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b="1" dirty="0"/>
          </a:p>
        </p:txBody>
      </p:sp>
      <p:sp>
        <p:nvSpPr>
          <p:cNvPr id="12" name="Text 27">
            <a:extLst>
              <a:ext uri="{FF2B5EF4-FFF2-40B4-BE49-F238E27FC236}">
                <a16:creationId xmlns:a16="http://schemas.microsoft.com/office/drawing/2014/main" id="{4080B1BC-4026-455F-AC51-2C9066C9281D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28">
            <a:extLst>
              <a:ext uri="{FF2B5EF4-FFF2-40B4-BE49-F238E27FC236}">
                <a16:creationId xmlns:a16="http://schemas.microsoft.com/office/drawing/2014/main" id="{C0BBFF6F-9F7C-4C32-90FF-0A50E9EBD54D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96C389A8-BFDE-4FFD-A15F-7FE96BE5C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2300" y="80391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/>
              <a:t>MoE 架构: 稀疏激活的核心矛盾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067685"/>
              </p:ext>
            </p:extLst>
          </p:nvPr>
        </p:nvGraphicFramePr>
        <p:xfrm>
          <a:off x="6822977" y="4016989"/>
          <a:ext cx="901679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8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3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4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2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/>
                        <a:t>维度</a:t>
                      </a: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dirty="0"/>
                        <a:t>Dense FFN</a:t>
                      </a: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dirty="0" err="1"/>
                        <a:t>MoE</a:t>
                      </a:r>
                      <a:r>
                        <a:rPr sz="1700" dirty="0"/>
                        <a:t> FFN (N=256, top-K=8)</a:t>
                      </a: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个 FFN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256 个 FFN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+ Router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 token 计算量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x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FFN_dim</a:t>
                      </a:r>
                      <a:endParaRPr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 x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FFN_dim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只算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top-8)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模型总参数量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x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FFN_dim</a:t>
                      </a:r>
                      <a:endParaRPr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256 x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FFN_dim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全部常驻显存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激活率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8/256 = 3.1%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核心矛盾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计算量小但参数量大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单卡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HBM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无法容纳全部专家权重</a:t>
                      </a:r>
                      <a:r>
                        <a:rPr 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Wingdings" panose="05000000000000000000" pitchFamily="2" charset="2"/>
                        </a:rPr>
                        <a:t>--&gt;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需要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EP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EB1F5E3-46E9-4A83-94DB-34766437F2A1}"/>
              </a:ext>
            </a:extLst>
          </p:cNvPr>
          <p:cNvSpPr txBox="1"/>
          <p:nvPr/>
        </p:nvSpPr>
        <p:spPr>
          <a:xfrm>
            <a:off x="1594260" y="1490503"/>
            <a:ext cx="13067072" cy="1765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的设计意图是在不显著增加每 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计算量的前提下大幅扩展模型容量。以 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DeepSeek-V3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为例，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671B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总参数中每 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激活约 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37B (top-8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专家 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共享专家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，计算成本与 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70B Dense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模型相当，但模型容量达到 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</a:p>
          <a:p>
            <a:pPr>
              <a:lnSpc>
                <a:spcPct val="150000"/>
              </a:lnSpc>
            </a:pP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代价是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256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个专家的全部权重必须常驻 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HBM, </a:t>
            </a:r>
            <a:r>
              <a:rPr lang="zh-CN" altLang="en-US" sz="1867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单卡无法容纳  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--&gt;  EP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成为 </a:t>
            </a:r>
            <a:r>
              <a:rPr lang="en-US" altLang="zh-CN"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模型部署的必要条件。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1D8ACBF-DD57-4906-B752-692C62E75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32" y="3932430"/>
            <a:ext cx="5706659" cy="284349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A85A70A-A77D-4FB7-AD2E-F598F95AF85C}"/>
              </a:ext>
            </a:extLst>
          </p:cNvPr>
          <p:cNvSpPr txBox="1"/>
          <p:nvPr/>
        </p:nvSpPr>
        <p:spPr>
          <a:xfrm>
            <a:off x="1949247" y="7153129"/>
            <a:ext cx="3163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中的应用示例图</a:t>
            </a:r>
          </a:p>
        </p:txBody>
      </p:sp>
      <p:sp>
        <p:nvSpPr>
          <p:cNvPr id="8" name="Text 27">
            <a:extLst>
              <a:ext uri="{FF2B5EF4-FFF2-40B4-BE49-F238E27FC236}">
                <a16:creationId xmlns:a16="http://schemas.microsoft.com/office/drawing/2014/main" id="{CE4ACB5F-7345-4B33-AFF0-979343960082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0" name="Text 28">
            <a:extLst>
              <a:ext uri="{FF2B5EF4-FFF2-40B4-BE49-F238E27FC236}">
                <a16:creationId xmlns:a16="http://schemas.microsoft.com/office/drawing/2014/main" id="{D9047485-30D1-4EC7-9FC1-0BD07B3D1602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</a:t>
            </a:r>
            <a:endParaRPr lang="en-US" sz="1300" dirty="0"/>
          </a:p>
        </p:txBody>
      </p:sp>
      <p:pic>
        <p:nvPicPr>
          <p:cNvPr id="12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5060E359-49BF-42B6-9B70-6D38FC544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2300" y="8039100"/>
            <a:ext cx="1752600" cy="4699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DC94F44-A45E-42DC-8118-029DADFEF0A5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/>
              <a:t>EP 四步工作流程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65D7E2-A991-45AB-80DD-AF00CFFB8C80}"/>
              </a:ext>
            </a:extLst>
          </p:cNvPr>
          <p:cNvSpPr txBox="1"/>
          <p:nvPr/>
        </p:nvSpPr>
        <p:spPr>
          <a:xfrm>
            <a:off x="853440" y="1584727"/>
            <a:ext cx="896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的主要思想就是将不同专家放在不同计算节点上进行并行计算。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6A84533-998C-4B68-BAE3-8C97C6838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257" y="3009232"/>
            <a:ext cx="4339579" cy="3180953"/>
          </a:xfrm>
          <a:prstGeom prst="rect">
            <a:avLst/>
          </a:prstGeom>
        </p:spPr>
      </p:pic>
      <p:sp>
        <p:nvSpPr>
          <p:cNvPr id="16" name="箭头: 上下 15">
            <a:extLst>
              <a:ext uri="{FF2B5EF4-FFF2-40B4-BE49-F238E27FC236}">
                <a16:creationId xmlns:a16="http://schemas.microsoft.com/office/drawing/2014/main" id="{479FE0C0-A4FD-4E37-B352-D2113345C06E}"/>
              </a:ext>
            </a:extLst>
          </p:cNvPr>
          <p:cNvSpPr/>
          <p:nvPr/>
        </p:nvSpPr>
        <p:spPr>
          <a:xfrm rot="5400000">
            <a:off x="10407935" y="4310533"/>
            <a:ext cx="378052" cy="845575"/>
          </a:xfrm>
          <a:prstGeom prst="up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506D81-5CF1-4CA9-955B-5CD2C1CA342C}"/>
              </a:ext>
            </a:extLst>
          </p:cNvPr>
          <p:cNvSpPr txBox="1"/>
          <p:nvPr/>
        </p:nvSpPr>
        <p:spPr>
          <a:xfrm>
            <a:off x="1605116" y="6658425"/>
            <a:ext cx="5070987" cy="67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 </a:t>
            </a:r>
            <a:r>
              <a:rPr lang="en-US" altLang="zh-CN" sz="1333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en-US" altLang="zh-CN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层需要 </a:t>
            </a:r>
            <a:r>
              <a:rPr lang="en-US" altLang="zh-CN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 </a:t>
            </a:r>
            <a:r>
              <a:rPr lang="en-US" altLang="zh-CN" sz="1333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AllToAll</a:t>
            </a:r>
            <a:r>
              <a:rPr lang="en-US" altLang="zh-CN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(Dispatch + Combine).</a:t>
            </a:r>
          </a:p>
          <a:p>
            <a:pPr>
              <a:lnSpc>
                <a:spcPct val="150000"/>
              </a:lnSpc>
            </a:pPr>
            <a:r>
              <a:rPr lang="zh-CN" altLang="en-US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通信量约为 </a:t>
            </a:r>
            <a:r>
              <a:rPr lang="en-US" altLang="zh-CN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* S * H * </a:t>
            </a:r>
            <a:r>
              <a:rPr lang="en-US" altLang="zh-CN" sz="1333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top_K</a:t>
            </a:r>
            <a:r>
              <a:rPr lang="zh-CN" altLang="en-US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，与 </a:t>
            </a:r>
            <a:r>
              <a:rPr lang="en-US" altLang="zh-CN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 </a:t>
            </a:r>
            <a:r>
              <a:rPr lang="zh-CN" altLang="en-US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333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AllReduce</a:t>
            </a:r>
            <a:r>
              <a:rPr lang="en-US" altLang="zh-CN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量级相当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FBB7B1-3611-439D-B1D9-265C2D108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720" y="2615773"/>
            <a:ext cx="8128000" cy="3630717"/>
          </a:xfrm>
          <a:prstGeom prst="rect">
            <a:avLst/>
          </a:prstGeom>
        </p:spPr>
      </p:pic>
      <p:sp>
        <p:nvSpPr>
          <p:cNvPr id="9" name="Text 27">
            <a:extLst>
              <a:ext uri="{FF2B5EF4-FFF2-40B4-BE49-F238E27FC236}">
                <a16:creationId xmlns:a16="http://schemas.microsoft.com/office/drawing/2014/main" id="{881800CF-29EE-42EF-8032-0D802DC4EFEC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0" name="Text 28">
            <a:extLst>
              <a:ext uri="{FF2B5EF4-FFF2-40B4-BE49-F238E27FC236}">
                <a16:creationId xmlns:a16="http://schemas.microsoft.com/office/drawing/2014/main" id="{E2141904-3E8F-4331-A8D9-1B19C73B968F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</a:t>
            </a:r>
            <a:endParaRPr lang="en-US" sz="1300" dirty="0"/>
          </a:p>
        </p:txBody>
      </p:sp>
      <p:pic>
        <p:nvPicPr>
          <p:cNvPr id="11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09FE6F0C-70FB-4CC9-95F0-75AA8083E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2300" y="8039100"/>
            <a:ext cx="1752600" cy="4699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44833C9-E370-45B1-A84D-247DA2A30428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负载均衡的演进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从丢弃到复制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7273224-841D-4391-9FE5-A03424B817FC}"/>
              </a:ext>
            </a:extLst>
          </p:cNvPr>
          <p:cNvSpPr txBox="1"/>
          <p:nvPr/>
        </p:nvSpPr>
        <p:spPr>
          <a:xfrm>
            <a:off x="853440" y="1612874"/>
            <a:ext cx="14548713" cy="101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533"/>
              </a:spcAft>
              <a:defRPr sz="1600" b="0">
                <a:solidFill>
                  <a:srgbClr val="2D3436"/>
                </a:solidFill>
              </a:defRPr>
            </a:pP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的核心挑战不是通信开销，而是</a:t>
            </a:r>
            <a:r>
              <a:rPr lang="zh-CN" altLang="en-US" sz="21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负载均衡。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 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Router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决策是动态的，不同专家接收的 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数量可能严重不均，导致整体性能被最慢的 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rank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拖累。</a:t>
            </a:r>
            <a:endParaRPr lang="en-US" altLang="zh-CN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D38AD18E-455E-4DAC-81AC-4C96CA536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623" y="4173948"/>
            <a:ext cx="4846092" cy="216655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D71B27E2-73FB-4532-B3C3-BEED7F72C595}"/>
              </a:ext>
            </a:extLst>
          </p:cNvPr>
          <p:cNvSpPr txBox="1"/>
          <p:nvPr/>
        </p:nvSpPr>
        <p:spPr>
          <a:xfrm>
            <a:off x="735570" y="3375949"/>
            <a:ext cx="3040017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尝试优化负载不均的方法：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86CEE22-727A-4664-947C-FFF3FCEF8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741" y="4214953"/>
            <a:ext cx="2211849" cy="2151327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5EC56E8F-E621-451C-8A76-ACB1E6EDE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993" y="4214953"/>
            <a:ext cx="2114331" cy="2125548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6AD4D3EF-BF07-44E3-96AD-E2FEB0F11738}"/>
              </a:ext>
            </a:extLst>
          </p:cNvPr>
          <p:cNvSpPr txBox="1"/>
          <p:nvPr/>
        </p:nvSpPr>
        <p:spPr>
          <a:xfrm>
            <a:off x="3639378" y="6481942"/>
            <a:ext cx="2118453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（相对早期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传统）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8416AD7-4735-42A4-AF1F-D2321C09237A}"/>
              </a:ext>
            </a:extLst>
          </p:cNvPr>
          <p:cNvSpPr txBox="1"/>
          <p:nvPr/>
        </p:nvSpPr>
        <p:spPr>
          <a:xfrm>
            <a:off x="10086061" y="6479957"/>
            <a:ext cx="2340697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（近期方法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/ds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开源）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B75F02-34B8-4833-9519-F05AF3177D0E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b="1" dirty="0"/>
          </a:p>
        </p:txBody>
      </p:sp>
      <p:sp>
        <p:nvSpPr>
          <p:cNvPr id="12" name="Text 27">
            <a:extLst>
              <a:ext uri="{FF2B5EF4-FFF2-40B4-BE49-F238E27FC236}">
                <a16:creationId xmlns:a16="http://schemas.microsoft.com/office/drawing/2014/main" id="{FB81521A-3F7A-442C-B184-A461D549A2C7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28">
            <a:extLst>
              <a:ext uri="{FF2B5EF4-FFF2-40B4-BE49-F238E27FC236}">
                <a16:creationId xmlns:a16="http://schemas.microsoft.com/office/drawing/2014/main" id="{C76D2215-4C78-4C69-9C4D-1BC1149D1B41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14ED57E5-E4AB-43A5-B41B-DE2066AF9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2300" y="80391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08455E5B-15F3-484F-8A70-3C1EB7D1E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103" y="3919999"/>
            <a:ext cx="9579897" cy="38000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3441" y="365760"/>
            <a:ext cx="91656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层EP</a:t>
            </a:r>
            <a:r>
              <a:rPr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vs TP </a:t>
            </a:r>
            <a:r>
              <a:rPr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如何选择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：对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GEMM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的影响 </a:t>
            </a:r>
            <a:endParaRPr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F8585CD-F7F4-48E6-B378-E7936F496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19" y="1355729"/>
            <a:ext cx="5449732" cy="40324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2C78015-7A61-4049-9F24-4E525B0802F5}"/>
              </a:ext>
            </a:extLst>
          </p:cNvPr>
          <p:cNvSpPr txBox="1"/>
          <p:nvPr/>
        </p:nvSpPr>
        <p:spPr>
          <a:xfrm>
            <a:off x="7012859" y="1953902"/>
            <a:ext cx="812636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每张卡只存部分专家，但每个专家的权重矩阵是完整的。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经路由后发送到对应专家所在的卡，每个专家做完整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GEMM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次数少、矩阵大。</a:t>
            </a: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9B00A32D-DE09-435D-A43D-B27B8A9B3D0F}"/>
              </a:ext>
            </a:extLst>
          </p:cNvPr>
          <p:cNvSpPr/>
          <p:nvPr/>
        </p:nvSpPr>
        <p:spPr>
          <a:xfrm rot="16200000">
            <a:off x="6471790" y="2181631"/>
            <a:ext cx="265471" cy="362799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66A9E84A-7D67-4C86-856D-E8089FA275F1}"/>
              </a:ext>
            </a:extLst>
          </p:cNvPr>
          <p:cNvSpPr/>
          <p:nvPr/>
        </p:nvSpPr>
        <p:spPr>
          <a:xfrm rot="5400000">
            <a:off x="5977515" y="6477513"/>
            <a:ext cx="265471" cy="362799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04172E-5C0D-4E20-A36D-663D6DE58437}"/>
              </a:ext>
            </a:extLst>
          </p:cNvPr>
          <p:cNvSpPr txBox="1"/>
          <p:nvPr/>
        </p:nvSpPr>
        <p:spPr>
          <a:xfrm>
            <a:off x="286893" y="6028555"/>
            <a:ext cx="5449732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每张卡存所有专家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但每个专家的权重被按列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行切片。每个专家都要执行一次小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，且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Down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投影切的是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归约维度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太小会导致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Cube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累加流水线打不满，计算利用率下降。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GEMM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小而多。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3F4A99-6E1D-4F26-825B-7C5542112576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b="1" dirty="0"/>
          </a:p>
        </p:txBody>
      </p:sp>
      <p:sp>
        <p:nvSpPr>
          <p:cNvPr id="10" name="Text 27">
            <a:extLst>
              <a:ext uri="{FF2B5EF4-FFF2-40B4-BE49-F238E27FC236}">
                <a16:creationId xmlns:a16="http://schemas.microsoft.com/office/drawing/2014/main" id="{A5A08A78-BC65-4E65-B3E6-97B2941EB319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5C05B59C-5DB8-4C74-A858-101583B028F4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</a:t>
            </a:r>
            <a:endParaRPr lang="en-US" sz="1300" dirty="0"/>
          </a:p>
        </p:txBody>
      </p:sp>
      <p:pic>
        <p:nvPicPr>
          <p:cNvPr id="12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F2BA5AF6-FCB1-46CA-B054-7081C4AA3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2300" y="80391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长序列带来的两个瓶颈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03FFEA-CC90-4D79-A5EF-271E25E327F1}"/>
              </a:ext>
            </a:extLst>
          </p:cNvPr>
          <p:cNvSpPr txBox="1"/>
          <p:nvPr/>
        </p:nvSpPr>
        <p:spPr>
          <a:xfrm>
            <a:off x="7971426" y="4297131"/>
            <a:ext cx="7814185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的核心挑战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Attention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具有全局依赖性，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Attention(Q[i]) =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(Q[i] * K[0..S]^T / sqrt(d)) * V[0..S]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位置需要访问完整序列的所有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K/V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，序列切分后必须通过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额外通信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解决跨设备的数据依赖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03FA61-CECC-4B21-8C69-EF9820F7525F}"/>
              </a:ext>
            </a:extLst>
          </p:cNvPr>
          <p:cNvSpPr txBox="1"/>
          <p:nvPr/>
        </p:nvSpPr>
        <p:spPr>
          <a:xfrm>
            <a:off x="799651" y="1393978"/>
            <a:ext cx="11952789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长序列在两个阶段产生不同的瓶颈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Prefill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阶段瓶颈是计算；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阶段瓶颈是存储。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BF64F1-4037-42AE-8B43-956B45F1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898" y="2716994"/>
            <a:ext cx="4901380" cy="49937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3FC8401-C6E3-48AB-9D74-5913161E2BCD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b="1" dirty="0"/>
          </a:p>
        </p:txBody>
      </p:sp>
      <p:sp>
        <p:nvSpPr>
          <p:cNvPr id="8" name="Text 27">
            <a:extLst>
              <a:ext uri="{FF2B5EF4-FFF2-40B4-BE49-F238E27FC236}">
                <a16:creationId xmlns:a16="http://schemas.microsoft.com/office/drawing/2014/main" id="{4D41549E-6F11-429C-AE4B-AAC935E2807D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9" name="Text 28">
            <a:extLst>
              <a:ext uri="{FF2B5EF4-FFF2-40B4-BE49-F238E27FC236}">
                <a16:creationId xmlns:a16="http://schemas.microsoft.com/office/drawing/2014/main" id="{79C626AF-B8BA-4580-8EA9-4BDC6021D2B5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</a:t>
            </a:r>
            <a:endParaRPr lang="en-US" sz="1300" dirty="0"/>
          </a:p>
        </p:txBody>
      </p:sp>
      <p:pic>
        <p:nvPicPr>
          <p:cNvPr id="10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E2819E16-7CBB-4940-81BE-14993D90E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2300" y="80391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/>
              <a:t>Ring Attention: 环形传递 KV + LSE 融合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2C4956-B5B8-47B8-9F8A-884C7AF3DC64}"/>
              </a:ext>
            </a:extLst>
          </p:cNvPr>
          <p:cNvSpPr txBox="1"/>
          <p:nvPr/>
        </p:nvSpPr>
        <p:spPr>
          <a:xfrm>
            <a:off x="853440" y="1374987"/>
            <a:ext cx="143865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的核心挑战在于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Attention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需要全局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但序列被切分到了不同设备上；面对这个挑战，有两种不同的解决思路，第一种是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Ring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2AA683-7971-4038-AF3E-29404C449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646" y="2151754"/>
            <a:ext cx="12052709" cy="452426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D3839C9-9860-48AC-ABDA-F4B685D8376E}"/>
              </a:ext>
            </a:extLst>
          </p:cNvPr>
          <p:cNvSpPr txBox="1"/>
          <p:nvPr/>
        </p:nvSpPr>
        <p:spPr>
          <a:xfrm>
            <a:off x="1811798" y="6796679"/>
            <a:ext cx="14275128" cy="391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r>
              <a:rPr lang="en-US" altLang="zh-CN" sz="14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RingAttention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可以通过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非阻塞的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通信重叠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：在等待下一轮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传输的同时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并行计算当前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块的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Attention,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使通信延迟被计算过程掩盖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ring_size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越大越盖不住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B959021-7FF2-4C28-A620-B5446E1C8E05}"/>
              </a:ext>
            </a:extLst>
          </p:cNvPr>
          <p:cNvSpPr txBox="1"/>
          <p:nvPr/>
        </p:nvSpPr>
        <p:spPr>
          <a:xfrm>
            <a:off x="2639836" y="7606961"/>
            <a:ext cx="6447504" cy="7682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300"/>
              </a:spcAft>
              <a:defRPr sz="1100" b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67" dirty="0"/>
              <a:t>每轮传 </a:t>
            </a:r>
            <a:r>
              <a:rPr lang="en-US" altLang="zh-CN" sz="1467" dirty="0"/>
              <a:t>K</a:t>
            </a:r>
            <a:r>
              <a:rPr lang="zh-CN" altLang="en-US" sz="1467" dirty="0"/>
              <a:t>块</a:t>
            </a:r>
            <a:r>
              <a:rPr lang="en-US" altLang="zh-CN" sz="1467" dirty="0"/>
              <a:t>+V</a:t>
            </a:r>
            <a:r>
              <a:rPr lang="zh-CN" altLang="en-US" sz="1467" dirty="0"/>
              <a:t>块 </a:t>
            </a:r>
            <a:r>
              <a:rPr lang="en-US" altLang="zh-CN" sz="1467" dirty="0"/>
              <a:t>= 2 × (S/cp) × </a:t>
            </a:r>
            <a:r>
              <a:rPr lang="en-US" altLang="zh-CN" sz="1467" dirty="0" err="1"/>
              <a:t>num_kv_heads</a:t>
            </a:r>
            <a:r>
              <a:rPr lang="en-US" altLang="zh-CN" sz="1467" dirty="0"/>
              <a:t> × </a:t>
            </a:r>
            <a:r>
              <a:rPr lang="en-US" altLang="zh-CN" sz="1467" dirty="0" err="1"/>
              <a:t>head_dim</a:t>
            </a:r>
            <a:r>
              <a:rPr lang="en-US" altLang="zh-CN" sz="1467" dirty="0"/>
              <a:t>; </a:t>
            </a:r>
          </a:p>
          <a:p>
            <a:r>
              <a:rPr lang="zh-CN" altLang="en-US" sz="1467" dirty="0"/>
              <a:t>总量 </a:t>
            </a:r>
            <a:r>
              <a:rPr lang="en-US" altLang="zh-CN" sz="1467" dirty="0"/>
              <a:t>= (cp-1)/cp × 2S × </a:t>
            </a:r>
            <a:r>
              <a:rPr lang="en-US" altLang="zh-CN" sz="1467" dirty="0" err="1"/>
              <a:t>d_kv</a:t>
            </a:r>
            <a:r>
              <a:rPr lang="en-US" altLang="zh-CN" sz="1467" dirty="0"/>
              <a:t>, </a:t>
            </a:r>
            <a:r>
              <a:rPr lang="zh-CN" altLang="en-US" sz="1467" dirty="0"/>
              <a:t>其中 </a:t>
            </a:r>
            <a:r>
              <a:rPr lang="en-US" altLang="zh-CN" sz="1467" dirty="0" err="1"/>
              <a:t>d_kv</a:t>
            </a:r>
            <a:r>
              <a:rPr lang="en-US" altLang="zh-CN" sz="1467" dirty="0"/>
              <a:t> = </a:t>
            </a:r>
            <a:r>
              <a:rPr lang="en-US" altLang="zh-CN" sz="1467" dirty="0" err="1"/>
              <a:t>num_kv_heads</a:t>
            </a:r>
            <a:r>
              <a:rPr lang="en-US" altLang="zh-CN" sz="1467" dirty="0"/>
              <a:t> × </a:t>
            </a:r>
            <a:r>
              <a:rPr lang="en-US" altLang="zh-CN" sz="1467" dirty="0" err="1"/>
              <a:t>head_dim</a:t>
            </a:r>
            <a:endParaRPr lang="zh-CN" altLang="en-US" sz="1467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6E415F-4594-40A3-8297-AE460FF24C2D}"/>
              </a:ext>
            </a:extLst>
          </p:cNvPr>
          <p:cNvSpPr txBox="1"/>
          <p:nvPr/>
        </p:nvSpPr>
        <p:spPr>
          <a:xfrm>
            <a:off x="1811798" y="7258148"/>
            <a:ext cx="809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通信量：</a:t>
            </a:r>
            <a:endParaRPr lang="zh-CN" altLang="en-US" sz="1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42E6B0-A06A-46C7-8B39-A84CC95892CA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b="1" dirty="0"/>
          </a:p>
        </p:txBody>
      </p:sp>
      <p:sp>
        <p:nvSpPr>
          <p:cNvPr id="17" name="Text 27">
            <a:extLst>
              <a:ext uri="{FF2B5EF4-FFF2-40B4-BE49-F238E27FC236}">
                <a16:creationId xmlns:a16="http://schemas.microsoft.com/office/drawing/2014/main" id="{493ECD0A-846A-4E9F-8232-4128C9737BEB}"/>
              </a:ext>
            </a:extLst>
          </p:cNvPr>
          <p:cNvSpPr/>
          <p:nvPr/>
        </p:nvSpPr>
        <p:spPr>
          <a:xfrm>
            <a:off x="825500" y="8536771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9" name="Text 28">
            <a:extLst>
              <a:ext uri="{FF2B5EF4-FFF2-40B4-BE49-F238E27FC236}">
                <a16:creationId xmlns:a16="http://schemas.microsoft.com/office/drawing/2014/main" id="{865F4D3C-E967-4DC1-889D-53F0D3BD46AB}"/>
              </a:ext>
            </a:extLst>
          </p:cNvPr>
          <p:cNvSpPr/>
          <p:nvPr/>
        </p:nvSpPr>
        <p:spPr>
          <a:xfrm>
            <a:off x="7620000" y="8536771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</a:t>
            </a:r>
            <a:endParaRPr lang="en-US" sz="1300" dirty="0"/>
          </a:p>
        </p:txBody>
      </p:sp>
      <p:pic>
        <p:nvPicPr>
          <p:cNvPr id="21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6196BDA0-5183-47C1-8B90-A3400A3A3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2300" y="8397071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/>
              <a:t>Ulysses: 通过 AllToAll 转置「按序列切」为「按头切」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123273" y="4608320"/>
            <a:ext cx="1400945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300"/>
              </a:spcAft>
              <a:defRPr sz="1200" b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sz="1400" dirty="0"/>
              <a:t>Ulysses </a:t>
            </a:r>
            <a:r>
              <a:rPr sz="1400" dirty="0" err="1"/>
              <a:t>的核心优势是通信量固定</a:t>
            </a:r>
            <a:r>
              <a:rPr sz="1400" dirty="0"/>
              <a:t> O(S*H)</a:t>
            </a:r>
            <a:r>
              <a:rPr lang="zh-CN" altLang="en-US" sz="1400" dirty="0"/>
              <a:t>，</a:t>
            </a:r>
            <a:r>
              <a:rPr sz="1400" dirty="0" err="1"/>
              <a:t>不随</a:t>
            </a:r>
            <a:r>
              <a:rPr sz="1400" dirty="0"/>
              <a:t> </a:t>
            </a:r>
            <a:r>
              <a:rPr sz="1400" dirty="0" err="1"/>
              <a:t>sp_size</a:t>
            </a:r>
            <a:r>
              <a:rPr sz="1400" dirty="0"/>
              <a:t> </a:t>
            </a:r>
            <a:r>
              <a:rPr sz="1400" dirty="0" err="1"/>
              <a:t>增长</a:t>
            </a:r>
            <a:r>
              <a:rPr lang="zh-CN" altLang="en-US" sz="1400" dirty="0"/>
              <a:t>，</a:t>
            </a:r>
            <a:r>
              <a:rPr sz="1400" dirty="0" err="1"/>
              <a:t>但受限于</a:t>
            </a:r>
            <a:r>
              <a:rPr sz="1400" dirty="0"/>
              <a:t> </a:t>
            </a:r>
            <a:r>
              <a:rPr sz="1400" dirty="0" err="1"/>
              <a:t>num_heads</a:t>
            </a:r>
            <a:r>
              <a:rPr sz="1400" dirty="0"/>
              <a:t> </a:t>
            </a:r>
            <a:r>
              <a:rPr sz="1400" dirty="0" err="1"/>
              <a:t>必须被</a:t>
            </a:r>
            <a:r>
              <a:rPr sz="1400" dirty="0"/>
              <a:t> </a:t>
            </a:r>
            <a:r>
              <a:rPr sz="1400" dirty="0" err="1"/>
              <a:t>sp_size</a:t>
            </a:r>
            <a:r>
              <a:rPr sz="1400" dirty="0"/>
              <a:t> </a:t>
            </a:r>
            <a:r>
              <a:rPr sz="1400" dirty="0" err="1"/>
              <a:t>整除</a:t>
            </a:r>
            <a:r>
              <a:rPr lang="zh-CN" altLang="en-US" sz="1400" dirty="0"/>
              <a:t>。</a:t>
            </a:r>
            <a:r>
              <a:rPr lang="en-US" altLang="zh-CN" sz="1400" dirty="0"/>
              <a:t>Ulysses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ring</a:t>
            </a:r>
            <a:r>
              <a:rPr sz="1400" dirty="0" err="1"/>
              <a:t>两者可</a:t>
            </a:r>
            <a:r>
              <a:rPr sz="1400" b="1" dirty="0" err="1"/>
              <a:t>正交组合</a:t>
            </a:r>
            <a:r>
              <a:rPr sz="1400" dirty="0"/>
              <a:t>: 先 Ulysses </a:t>
            </a:r>
            <a:r>
              <a:rPr sz="1400" dirty="0" err="1"/>
              <a:t>切头</a:t>
            </a:r>
            <a:r>
              <a:rPr sz="1400" dirty="0"/>
              <a:t>, 再 Ring </a:t>
            </a:r>
            <a:r>
              <a:rPr sz="1400" dirty="0" err="1"/>
              <a:t>切序列</a:t>
            </a:r>
            <a:r>
              <a:rPr lang="zh-CN" altLang="en-US" sz="1400" dirty="0"/>
              <a:t>。</a:t>
            </a:r>
            <a:endParaRPr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C04CF2-DC0A-4A85-8EF4-9579BE70B4BB}"/>
              </a:ext>
            </a:extLst>
          </p:cNvPr>
          <p:cNvSpPr txBox="1"/>
          <p:nvPr/>
        </p:nvSpPr>
        <p:spPr>
          <a:xfrm>
            <a:off x="853440" y="1517228"/>
            <a:ext cx="14548713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300"/>
              </a:spcAft>
              <a:defRPr sz="1200" b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第二种解决思路是 </a:t>
            </a:r>
            <a:r>
              <a:rPr lang="en-US" altLang="zh-CN" sz="1600" b="1" dirty="0"/>
              <a:t>Ulysses</a:t>
            </a:r>
            <a:r>
              <a:rPr lang="en-US" altLang="zh-CN" sz="1600" dirty="0"/>
              <a:t>, </a:t>
            </a:r>
            <a:r>
              <a:rPr lang="zh-CN" altLang="en-US" sz="1600" dirty="0"/>
              <a:t>它与 </a:t>
            </a:r>
            <a:r>
              <a:rPr lang="en-US" altLang="zh-CN" sz="1600" dirty="0"/>
              <a:t>Ring Attention </a:t>
            </a:r>
            <a:r>
              <a:rPr lang="zh-CN" altLang="en-US" sz="1600" dirty="0"/>
              <a:t>的设计理念截然不同</a:t>
            </a:r>
            <a:r>
              <a:rPr lang="en-US" altLang="zh-CN" sz="1600" dirty="0"/>
              <a:t>: Ring </a:t>
            </a:r>
            <a:r>
              <a:rPr lang="zh-CN" altLang="en-US" sz="1600" dirty="0"/>
              <a:t>通过逐步传递 </a:t>
            </a:r>
            <a:r>
              <a:rPr lang="en-US" altLang="zh-CN" sz="1600" dirty="0"/>
              <a:t>KV </a:t>
            </a:r>
            <a:r>
              <a:rPr lang="zh-CN" altLang="en-US" sz="1600" dirty="0"/>
              <a:t>块</a:t>
            </a:r>
            <a:r>
              <a:rPr lang="en-US" altLang="zh-CN" sz="1600" dirty="0"/>
              <a:t>, </a:t>
            </a:r>
            <a:r>
              <a:rPr lang="zh-CN" altLang="en-US" sz="1600" dirty="0"/>
              <a:t>使每个 </a:t>
            </a:r>
            <a:r>
              <a:rPr lang="en-US" altLang="zh-CN" sz="1600" dirty="0"/>
              <a:t>rank </a:t>
            </a:r>
            <a:r>
              <a:rPr lang="zh-CN" altLang="en-US" sz="1600" dirty="0"/>
              <a:t>在多轮中依次看到完整 </a:t>
            </a:r>
            <a:r>
              <a:rPr lang="en-US" altLang="zh-CN" sz="1600" dirty="0"/>
              <a:t>KV; Ulysses </a:t>
            </a:r>
            <a:r>
              <a:rPr lang="zh-CN" altLang="en-US" sz="1600" dirty="0"/>
              <a:t>则直接通过 </a:t>
            </a:r>
            <a:r>
              <a:rPr lang="en-US" altLang="zh-CN" sz="1600" dirty="0" err="1"/>
              <a:t>AllToAll</a:t>
            </a:r>
            <a:r>
              <a:rPr lang="en-US" altLang="zh-CN" sz="1600" dirty="0"/>
              <a:t> </a:t>
            </a:r>
            <a:r>
              <a:rPr lang="zh-CN" altLang="en-US" sz="1600" dirty="0"/>
              <a:t>将数据布局</a:t>
            </a:r>
            <a:r>
              <a:rPr lang="zh-CN" altLang="en-US" sz="1600" b="1" dirty="0">
                <a:solidFill>
                  <a:srgbClr val="FF0000"/>
                </a:solidFill>
              </a:rPr>
              <a:t>从「按序列切」转为「按头切」，</a:t>
            </a:r>
            <a:r>
              <a:rPr lang="zh-CN" altLang="en-US" sz="1600" dirty="0"/>
              <a:t>转置后每卡持有完整序列但只有部分注意力头</a:t>
            </a:r>
            <a:r>
              <a:rPr lang="en-US" altLang="zh-CN" sz="1600" dirty="0"/>
              <a:t>, </a:t>
            </a:r>
            <a:r>
              <a:rPr lang="zh-CN" altLang="en-US" sz="1600" dirty="0"/>
              <a:t>可以直接执行标准 </a:t>
            </a:r>
            <a:r>
              <a:rPr lang="en-US" altLang="zh-CN" sz="1600" dirty="0"/>
              <a:t>Flash Attention, </a:t>
            </a:r>
            <a:r>
              <a:rPr lang="zh-CN" altLang="en-US" sz="1600" dirty="0"/>
              <a:t>无需任何特殊的 </a:t>
            </a:r>
            <a:r>
              <a:rPr lang="en-US" altLang="zh-CN" sz="1600" dirty="0"/>
              <a:t>LSE </a:t>
            </a:r>
            <a:r>
              <a:rPr lang="zh-CN" altLang="en-US" sz="1600" dirty="0"/>
              <a:t>融合逻辑。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10" name="AutoShape 6" descr="image-viewer">
            <a:extLst>
              <a:ext uri="{FF2B5EF4-FFF2-40B4-BE49-F238E27FC236}">
                <a16:creationId xmlns:a16="http://schemas.microsoft.com/office/drawing/2014/main" id="{9D030532-7E7B-4E84-B4A4-B78B2E06D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28000" y="45720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/>
          </a:p>
        </p:txBody>
      </p:sp>
      <p:sp>
        <p:nvSpPr>
          <p:cNvPr id="11" name="AutoShape 8" descr="image-viewer">
            <a:extLst>
              <a:ext uri="{FF2B5EF4-FFF2-40B4-BE49-F238E27FC236}">
                <a16:creationId xmlns:a16="http://schemas.microsoft.com/office/drawing/2014/main" id="{6203B867-4B5E-4431-9958-F9CCC2E8C6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24800" y="4368800"/>
            <a:ext cx="5260259" cy="5260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ECE07D3-4711-4388-A6DF-7395E76F8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36" y="2787069"/>
            <a:ext cx="15490328" cy="1502059"/>
          </a:xfrm>
          <a:prstGeom prst="rect">
            <a:avLst/>
          </a:prstGeom>
        </p:spPr>
      </p:pic>
      <p:sp>
        <p:nvSpPr>
          <p:cNvPr id="18" name="箭头: 下 17">
            <a:extLst>
              <a:ext uri="{FF2B5EF4-FFF2-40B4-BE49-F238E27FC236}">
                <a16:creationId xmlns:a16="http://schemas.microsoft.com/office/drawing/2014/main" id="{70B37E58-DF31-4AB2-884D-BA543E8F0F8F}"/>
              </a:ext>
            </a:extLst>
          </p:cNvPr>
          <p:cNvSpPr/>
          <p:nvPr/>
        </p:nvSpPr>
        <p:spPr>
          <a:xfrm>
            <a:off x="10609007" y="5030146"/>
            <a:ext cx="294968" cy="485804"/>
          </a:xfrm>
          <a:prstGeom prst="downArrow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9D8C52A-D79C-47A1-8708-2B6728858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66" y="5629634"/>
            <a:ext cx="8931376" cy="283751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1E62BED1-4D03-494B-BDAA-A8887587B3BD}"/>
              </a:ext>
            </a:extLst>
          </p:cNvPr>
          <p:cNvSpPr txBox="1"/>
          <p:nvPr/>
        </p:nvSpPr>
        <p:spPr>
          <a:xfrm>
            <a:off x="10938388" y="6771109"/>
            <a:ext cx="4736689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Ulysses: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受限于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num_heads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无法扩展到很大并行度</a:t>
            </a:r>
          </a:p>
          <a:p>
            <a:pPr>
              <a:spcAft>
                <a:spcPts val="533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Ring: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通信量随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线性增长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大规模下通信占比过高</a:t>
            </a:r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1AF82E9C-1756-4A5D-B9D4-31725F0824BD}"/>
              </a:ext>
            </a:extLst>
          </p:cNvPr>
          <p:cNvSpPr/>
          <p:nvPr/>
        </p:nvSpPr>
        <p:spPr>
          <a:xfrm rot="16200000">
            <a:off x="10548001" y="6849664"/>
            <a:ext cx="294968" cy="485804"/>
          </a:xfrm>
          <a:prstGeom prst="downArrow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F346BB-9BFD-4F75-A4C0-BBBA7C5009E9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b="1" dirty="0"/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D6D76D77-56FE-4C04-B94D-E38540C41DC9}"/>
              </a:ext>
            </a:extLst>
          </p:cNvPr>
          <p:cNvSpPr/>
          <p:nvPr/>
        </p:nvSpPr>
        <p:spPr>
          <a:xfrm>
            <a:off x="99836" y="8778239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pic>
        <p:nvPicPr>
          <p:cNvPr id="26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E3881B10-8439-4619-95ED-04FC39A63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4326" y="8543289"/>
            <a:ext cx="1752600" cy="469900"/>
          </a:xfrm>
          <a:prstGeom prst="rect">
            <a:avLst/>
          </a:prstGeom>
        </p:spPr>
      </p:pic>
      <p:sp>
        <p:nvSpPr>
          <p:cNvPr id="28" name="Text 28">
            <a:extLst>
              <a:ext uri="{FF2B5EF4-FFF2-40B4-BE49-F238E27FC236}">
                <a16:creationId xmlns:a16="http://schemas.microsoft.com/office/drawing/2014/main" id="{3A21CF6D-84C6-464A-A62C-14C2B7B72BB8}"/>
              </a:ext>
            </a:extLst>
          </p:cNvPr>
          <p:cNvSpPr/>
          <p:nvPr/>
        </p:nvSpPr>
        <p:spPr>
          <a:xfrm>
            <a:off x="7518400" y="8785173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</a:t>
            </a:r>
            <a:endParaRPr lang="en-US" sz="13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CD3A78F-CF84-45C2-8DCC-A7C2C7BFB6CB}"/>
              </a:ext>
            </a:extLst>
          </p:cNvPr>
          <p:cNvSpPr txBox="1"/>
          <p:nvPr/>
        </p:nvSpPr>
        <p:spPr>
          <a:xfrm>
            <a:off x="8206249" y="5605507"/>
            <a:ext cx="51004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USP: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统一序列并行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(Unified Sequence Parallelism)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/>
      <p:bldP spid="24" grpId="0" animBg="1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F602A546-AC53-40A5-868D-7EC05C5FB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520" y="1345273"/>
            <a:ext cx="7261752" cy="327611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/>
              <a:t>KVP: Decode 阶段的序列维度解决方案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箭头: 左弧形 5">
            <a:extLst>
              <a:ext uri="{FF2B5EF4-FFF2-40B4-BE49-F238E27FC236}">
                <a16:creationId xmlns:a16="http://schemas.microsoft.com/office/drawing/2014/main" id="{578375BC-53EF-4212-905B-A9194D469596}"/>
              </a:ext>
            </a:extLst>
          </p:cNvPr>
          <p:cNvSpPr/>
          <p:nvPr/>
        </p:nvSpPr>
        <p:spPr>
          <a:xfrm rot="1129796">
            <a:off x="3762170" y="4302192"/>
            <a:ext cx="389776" cy="1133032"/>
          </a:xfrm>
          <a:prstGeom prst="curvedRightArrow">
            <a:avLst>
              <a:gd name="adj1" fmla="val 25000"/>
              <a:gd name="adj2" fmla="val 30477"/>
              <a:gd name="adj3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602CD8-3ABA-46C2-8264-537FBE6452C6}"/>
              </a:ext>
            </a:extLst>
          </p:cNvPr>
          <p:cNvSpPr txBox="1"/>
          <p:nvPr/>
        </p:nvSpPr>
        <p:spPr>
          <a:xfrm>
            <a:off x="3257345" y="5561102"/>
            <a:ext cx="974130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 (Ring/Ulysses)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仅适用于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阶段每步仅有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Query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，不具备序列切分条件</a:t>
            </a:r>
          </a:p>
        </p:txBody>
      </p:sp>
      <p:sp>
        <p:nvSpPr>
          <p:cNvPr id="11" name="箭头: 左弧形 10">
            <a:extLst>
              <a:ext uri="{FF2B5EF4-FFF2-40B4-BE49-F238E27FC236}">
                <a16:creationId xmlns:a16="http://schemas.microsoft.com/office/drawing/2014/main" id="{9457245E-34E6-43C5-AB60-B60AFCD7599F}"/>
              </a:ext>
            </a:extLst>
          </p:cNvPr>
          <p:cNvSpPr/>
          <p:nvPr/>
        </p:nvSpPr>
        <p:spPr>
          <a:xfrm rot="21331921">
            <a:off x="2824028" y="5919594"/>
            <a:ext cx="389776" cy="1133032"/>
          </a:xfrm>
          <a:prstGeom prst="curvedRightArrow">
            <a:avLst>
              <a:gd name="adj1" fmla="val 25000"/>
              <a:gd name="adj2" fmla="val 30477"/>
              <a:gd name="adj3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45A5FF-FBCC-4EFA-97E8-6624AF814981}"/>
              </a:ext>
            </a:extLst>
          </p:cNvPr>
          <p:cNvSpPr txBox="1"/>
          <p:nvPr/>
        </p:nvSpPr>
        <p:spPr>
          <a:xfrm>
            <a:off x="3602180" y="6949739"/>
            <a:ext cx="8256432" cy="1745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KVP (</a:t>
            </a:r>
            <a:r>
              <a:rPr lang="en-US" altLang="zh-CN" sz="1467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 Parallel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是针对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阶段的长序列 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存储问题的解决方案：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按序列维度分片存储到 </a:t>
            </a:r>
            <a:r>
              <a:rPr lang="en-US" altLang="zh-CN" sz="14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kvp_size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张卡</a:t>
            </a: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每卡只存 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</a:t>
            </a:r>
            <a:r>
              <a:rPr lang="en-US" altLang="zh-CN" sz="14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kvp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时各 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rank </a:t>
            </a:r>
            <a:r>
              <a:rPr lang="zh-CN" altLang="en-US" sz="1467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基于本地 </a:t>
            </a:r>
            <a:r>
              <a:rPr lang="en-US" altLang="zh-CN" sz="1467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lang="zh-CN" altLang="en-US" sz="1467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分片计算局部 </a:t>
            </a:r>
            <a:r>
              <a:rPr lang="en-US" altLang="zh-CN" sz="1467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再通过 </a:t>
            </a:r>
            <a:r>
              <a:rPr lang="en-US" altLang="zh-CN" sz="14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AllReduce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汇聚最终结果</a:t>
            </a:r>
          </a:p>
          <a:p>
            <a:pPr>
              <a:lnSpc>
                <a:spcPct val="150000"/>
              </a:lnSpc>
            </a:pPr>
            <a:endParaRPr lang="zh-CN" altLang="en-US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8BB6E0-883B-4501-BCA9-ADFD7EE1B293}"/>
              </a:ext>
            </a:extLst>
          </p:cNvPr>
          <p:cNvSpPr txBox="1"/>
          <p:nvPr/>
        </p:nvSpPr>
        <p:spPr>
          <a:xfrm>
            <a:off x="0" y="-3571"/>
            <a:ext cx="516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b="1" dirty="0"/>
          </a:p>
        </p:txBody>
      </p:sp>
      <p:sp>
        <p:nvSpPr>
          <p:cNvPr id="17" name="Text 27">
            <a:extLst>
              <a:ext uri="{FF2B5EF4-FFF2-40B4-BE49-F238E27FC236}">
                <a16:creationId xmlns:a16="http://schemas.microsoft.com/office/drawing/2014/main" id="{76DDFB75-EB76-4937-9AD0-56278ED0D2E1}"/>
              </a:ext>
            </a:extLst>
          </p:cNvPr>
          <p:cNvSpPr/>
          <p:nvPr/>
        </p:nvSpPr>
        <p:spPr>
          <a:xfrm>
            <a:off x="99836" y="8778239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pic>
        <p:nvPicPr>
          <p:cNvPr id="18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3D73EB9D-1607-41E1-9C1C-CE002D955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4326" y="8543289"/>
            <a:ext cx="1752600" cy="469900"/>
          </a:xfrm>
          <a:prstGeom prst="rect">
            <a:avLst/>
          </a:prstGeom>
        </p:spPr>
      </p:pic>
      <p:sp>
        <p:nvSpPr>
          <p:cNvPr id="22" name="Text 28">
            <a:extLst>
              <a:ext uri="{FF2B5EF4-FFF2-40B4-BE49-F238E27FC236}">
                <a16:creationId xmlns:a16="http://schemas.microsoft.com/office/drawing/2014/main" id="{EFF8BA7A-E924-4397-A08B-F3ABB2EFC30E}"/>
              </a:ext>
            </a:extLst>
          </p:cNvPr>
          <p:cNvSpPr/>
          <p:nvPr/>
        </p:nvSpPr>
        <p:spPr>
          <a:xfrm>
            <a:off x="7518400" y="8785173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多模态生成 </a:t>
            </a: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 LLM </a:t>
            </a:r>
            <a:r>
              <a:rPr lang="zh-CN" alt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推理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扩散模型与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的并行设计差异</a:t>
            </a: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/>
              <a:t>LLM 推理 vs 多模态生成: 架构本质区别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0296" y="4008063"/>
          <a:ext cx="10375000" cy="324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4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2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 </a:t>
                      </a:r>
                      <a:r>
                        <a:rPr sz="17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推理</a:t>
                      </a:r>
                      <a:r>
                        <a:rPr sz="1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</a:t>
                      </a:r>
                      <a:r>
                        <a:rPr sz="17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自回归</a:t>
                      </a:r>
                      <a:r>
                        <a:rPr sz="17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多模态生成 (扩散模型)</a:t>
                      </a:r>
                    </a:p>
                  </a:txBody>
                  <a:tcPr marL="121920" marR="121920" marT="60960" marB="60960">
                    <a:solidFill>
                      <a:srgbClr val="098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生成模式</a:t>
                      </a:r>
                      <a:endParaRPr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token-by-token 自回归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完整前向 x N 步去噪迭代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 (Decode 增量计算)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 (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每步完整前向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阶段划分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Prefill → Decode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Text Enc →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DiT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去噪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→ VAE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解码</a:t>
                      </a:r>
                      <a:endParaRPr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请求调度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Scheduler + continuous batching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固定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batch,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无调度</a:t>
                      </a:r>
                      <a:endParaRPr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序列长度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4K~256K token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视频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数万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token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Prefill/Decode 分离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优化手段</a:t>
                      </a:r>
                      <a:endParaRPr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不适用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(无 Decode </a:t>
                      </a:r>
                      <a:r>
                        <a:rPr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</a:t>
                      </a: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121920" marR="121920" marT="60960" marB="60960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48864F9-4C91-4EF3-B9B6-CB1C1236AE44}"/>
              </a:ext>
            </a:extLst>
          </p:cNvPr>
          <p:cNvSpPr txBox="1"/>
          <p:nvPr/>
        </p:nvSpPr>
        <p:spPr>
          <a:xfrm>
            <a:off x="1423424" y="1588149"/>
            <a:ext cx="13836240" cy="1895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推理的核心特征是自回归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Decode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阶段依赖上一步生成的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每步仅增量计算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导致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具有截然不同的计算特征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主流的扩散模型核心特征是迭代去噪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每个去噪步都是完整的前向传播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不存在增量计算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也没有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因此不存在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Prefill/Decode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的阶段划分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也不需要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这一结构性差异导致两类模型的并行策略组合方式会有些不同。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B912B504-800D-41C2-B72B-3246C2F6FD06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94438F37-C170-40B3-951A-80A089029365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</a:t>
            </a:r>
            <a:endParaRPr lang="en-US" sz="1300" dirty="0"/>
          </a:p>
        </p:txBody>
      </p:sp>
      <p:pic>
        <p:nvPicPr>
          <p:cNvPr id="9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FAF8C482-E35F-4859-B6A0-AF712FF6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多模态推理管道</a:t>
            </a:r>
            <a:r>
              <a:rPr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(以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图生视频</a:t>
            </a:r>
            <a:r>
              <a:rPr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为例</a:t>
            </a:r>
            <a:r>
              <a:rPr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53441" y="6267839"/>
            <a:ext cx="14548713" cy="181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多模态生成管道与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LLM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推理有本质区别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推理的核心瓶颈是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Prefill/Decode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双阶段的特征差异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而多模态生成的核心瓶颈是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867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DiT</a:t>
            </a:r>
            <a:r>
              <a:rPr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867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去噪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迭代次数多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通常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20~50 步)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且每步序列极长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r>
              <a:rPr sz="1867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DiT</a:t>
            </a:r>
            <a:r>
              <a:rPr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867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阶段占据总推理时间的</a:t>
            </a:r>
            <a:r>
              <a:rPr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90% </a:t>
            </a:r>
            <a:r>
              <a:rPr sz="1867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其并行设计是多模态推理优化的关键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由于视频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latent 的 token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序列长度远超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LLM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(480p x 49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帧可达数万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token)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 在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DiT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阶段几乎是必需的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68DAA2-F14E-4B94-A13E-FF588830E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936" y="1539219"/>
            <a:ext cx="13187721" cy="4395907"/>
          </a:xfrm>
          <a:prstGeom prst="rect">
            <a:avLst/>
          </a:prstGeom>
        </p:spPr>
      </p:pic>
      <p:sp>
        <p:nvSpPr>
          <p:cNvPr id="7" name="Text 19">
            <a:extLst>
              <a:ext uri="{FF2B5EF4-FFF2-40B4-BE49-F238E27FC236}">
                <a16:creationId xmlns:a16="http://schemas.microsoft.com/office/drawing/2014/main" id="{455C643F-0FCC-41F3-A795-604EB3F789B3}"/>
              </a:ext>
            </a:extLst>
          </p:cNvPr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5F7FC3B6-B5A3-4E55-94F5-574E84D20124}"/>
              </a:ext>
            </a:extLst>
          </p:cNvPr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</a:t>
            </a:r>
            <a:endParaRPr lang="en-US" sz="1300" dirty="0"/>
          </a:p>
        </p:txBody>
      </p:sp>
      <p:pic>
        <p:nvPicPr>
          <p:cNvPr id="10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11D217A6-90B2-4FE0-A371-4505A2D2D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sz="3200" dirty="0" err="1"/>
              <a:t>扩散模型特有并行</a:t>
            </a:r>
            <a:r>
              <a:rPr sz="3200" dirty="0"/>
              <a:t>: CFG </a:t>
            </a:r>
            <a:r>
              <a:rPr sz="3200" dirty="0" err="1"/>
              <a:t>并行</a:t>
            </a:r>
            <a:r>
              <a:rPr sz="3200" dirty="0"/>
              <a:t> + VAE </a:t>
            </a:r>
            <a:r>
              <a:rPr sz="3200" dirty="0" err="1"/>
              <a:t>空间并行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219201" y="1524001"/>
            <a:ext cx="7091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1800" b="1">
                <a:solidFill>
                  <a:srgbClr val="0984E3"/>
                </a:solidFill>
              </a:defRPr>
            </a:pPr>
            <a:r>
              <a:rPr sz="2400" dirty="0"/>
              <a:t>CFG </a:t>
            </a:r>
            <a:r>
              <a:rPr sz="2400" dirty="0" err="1"/>
              <a:t>并行</a:t>
            </a:r>
            <a:r>
              <a:rPr sz="2400" dirty="0"/>
              <a:t>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DiT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r>
              <a:rPr sz="2400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1" y="2133600"/>
            <a:ext cx="7091476" cy="510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1400" b="1">
                <a:solidFill>
                  <a:srgbClr val="D63031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Classifier-Free Guidance:</a:t>
            </a:r>
          </a:p>
          <a:p>
            <a:pPr marL="380990" indent="-380990">
              <a:lnSpc>
                <a:spcPct val="150000"/>
              </a:lnSpc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每个去噪步执行两次独立前向传播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380990" indent="-380990">
              <a:lnSpc>
                <a:spcPct val="150000"/>
              </a:lnSpc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有条件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(conditioned)</a:t>
            </a:r>
          </a:p>
          <a:p>
            <a:pPr marL="380990" indent="-380990">
              <a:lnSpc>
                <a:spcPct val="150000"/>
              </a:lnSpc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无条件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(unconditioned)</a:t>
            </a:r>
          </a:p>
          <a:p>
            <a:pPr marL="380990" indent="-380990">
              <a:lnSpc>
                <a:spcPct val="150000"/>
              </a:lnSpc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 =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uncond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scale*(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uncond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Aft>
                <a:spcPts val="533"/>
              </a:spcAft>
              <a:defRPr sz="1400" b="0">
                <a:solidFill>
                  <a:srgbClr val="2D3436"/>
                </a:solidFill>
              </a:defRPr>
            </a:pPr>
            <a:endParaRPr sz="1867" dirty="0"/>
          </a:p>
          <a:p>
            <a:pPr>
              <a:spcAft>
                <a:spcPts val="533"/>
              </a:spcAft>
              <a:defRPr sz="1400" b="1">
                <a:solidFill>
                  <a:srgbClr val="D63031"/>
                </a:solidFill>
              </a:defRPr>
            </a:pPr>
            <a:r>
              <a:rPr sz="1867" dirty="0" err="1"/>
              <a:t>两次前向计算完全独立</a:t>
            </a:r>
            <a:r>
              <a:rPr sz="1867" dirty="0"/>
              <a:t>, </a:t>
            </a:r>
            <a:r>
              <a:rPr sz="1867" dirty="0" err="1"/>
              <a:t>具备天然并行性</a:t>
            </a:r>
            <a:endParaRPr sz="1867" dirty="0"/>
          </a:p>
          <a:p>
            <a:pPr>
              <a:lnSpc>
                <a:spcPct val="150000"/>
              </a:lnSpc>
              <a:spcAft>
                <a:spcPts val="533"/>
              </a:spcAft>
              <a:defRPr sz="1400" b="0">
                <a:solidFill>
                  <a:srgbClr val="2D3436"/>
                </a:solidFill>
              </a:defRPr>
            </a:pP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cfg_size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=2: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半数设备执行条件前向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半数执行无条件前向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533"/>
              </a:spcAft>
              <a:defRPr sz="1400" b="0">
                <a:solidFill>
                  <a:srgbClr val="2D3436"/>
                </a:solidFill>
              </a:defRPr>
            </a:pP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单步去噪推理耗时降低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50%</a:t>
            </a:r>
          </a:p>
          <a:p>
            <a:pPr>
              <a:spcAft>
                <a:spcPts val="533"/>
              </a:spcAft>
              <a:defRPr sz="1400" b="0">
                <a:solidFill>
                  <a:srgbClr val="2D3436"/>
                </a:solidFill>
              </a:defRPr>
            </a:pPr>
            <a:endParaRPr sz="1867" dirty="0"/>
          </a:p>
          <a:p>
            <a:pPr>
              <a:spcAft>
                <a:spcPts val="533"/>
              </a:spcAft>
              <a:defRPr sz="1400" b="0">
                <a:solidFill>
                  <a:srgbClr val="2D3436"/>
                </a:solidFill>
              </a:defRPr>
            </a:pP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DiT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完整公式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380990" indent="-380990">
              <a:spcAft>
                <a:spcPts val="533"/>
              </a:spcAft>
              <a:buFont typeface="Arial" panose="020B0604020202020204" pitchFamily="34" charset="0"/>
              <a:buChar char="•"/>
              <a:defRPr sz="1400" b="1">
                <a:solidFill>
                  <a:srgbClr val="D63031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world =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cfg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 ulysses x rin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000" y="1584960"/>
            <a:ext cx="7091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1800" b="1">
                <a:solidFill>
                  <a:srgbClr val="0984E3"/>
                </a:solidFill>
              </a:defRPr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VAE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空间并行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VAE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000" y="2194560"/>
            <a:ext cx="7091476" cy="4245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1400" b="1">
                <a:solidFill>
                  <a:srgbClr val="D63031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VAE 为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区别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DiT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的独立计算阶段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33"/>
              </a:spcAft>
              <a:defRPr sz="1400" b="0">
                <a:solidFill>
                  <a:srgbClr val="2D3436"/>
                </a:solidFill>
              </a:defRPr>
            </a:pPr>
            <a:r>
              <a:rPr 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复用相同设备组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但采用不同的并行策略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33"/>
              </a:spcAft>
              <a:defRPr sz="1400" b="0">
                <a:solidFill>
                  <a:srgbClr val="2D3436"/>
                </a:solidFill>
              </a:defRPr>
            </a:pP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33"/>
              </a:spcAft>
              <a:defRPr sz="1400" b="0">
                <a:solidFill>
                  <a:srgbClr val="2D3436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VAE Decoder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并行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空间分块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0990" indent="-380990"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视频帧按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H x W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切成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tile</a:t>
            </a:r>
          </a:p>
          <a:p>
            <a:pPr marL="380990" indent="-380990"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每卡负责一个空间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tile</a:t>
            </a:r>
          </a:p>
          <a:p>
            <a:pPr marL="380990" indent="-380990"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边界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halo exchange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补卷积感受野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0990" indent="-380990"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h_split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w_split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world_size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33"/>
              </a:spcAft>
              <a:defRPr sz="1400" b="0">
                <a:solidFill>
                  <a:srgbClr val="2D3436"/>
                </a:solidFill>
              </a:defRPr>
            </a:pP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33"/>
              </a:spcAft>
              <a:defRPr sz="1400" b="1">
                <a:solidFill>
                  <a:srgbClr val="D63031"/>
                </a:solidFill>
              </a:defRPr>
            </a:pP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VAE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并行度不参与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DiT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并行公式计算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0990" indent="-380990"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DiT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与 VAE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为串行执行阶段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非并发关系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0990" indent="-380990">
              <a:spcAft>
                <a:spcPts val="533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vae_parallel</a:t>
            </a:r>
            <a:r>
              <a:rPr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867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为独立配置项</a:t>
            </a:r>
            <a:endParaRPr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66836" y="1584960"/>
            <a:ext cx="33867" cy="6705600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D4930A0D-C7DD-4F1C-9F4A-11EAFD64BD9B}"/>
              </a:ext>
            </a:extLst>
          </p:cNvPr>
          <p:cNvSpPr/>
          <p:nvPr/>
        </p:nvSpPr>
        <p:spPr>
          <a:xfrm>
            <a:off x="825500" y="8395335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0ED4AB36-1316-4956-8547-C22FB2B76FC3}"/>
              </a:ext>
            </a:extLst>
          </p:cNvPr>
          <p:cNvSpPr/>
          <p:nvPr/>
        </p:nvSpPr>
        <p:spPr>
          <a:xfrm>
            <a:off x="7620000" y="8395335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27</a:t>
            </a:r>
            <a:endParaRPr lang="en-US" sz="1300" dirty="0"/>
          </a:p>
        </p:txBody>
      </p:sp>
      <p:pic>
        <p:nvPicPr>
          <p:cNvPr id="11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35595EDF-2BB3-4CDA-A235-DC15BBF20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268335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并行方案设计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优化目标与场景判断 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常见错误</a:t>
            </a:r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总体判断流程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EB468F7-ECE2-4DCD-A73A-467DB7F4B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150" y="1507968"/>
            <a:ext cx="11159613" cy="3064033"/>
          </a:xfrm>
          <a:prstGeom prst="rect">
            <a:avLst/>
          </a:prstGeom>
        </p:spPr>
      </p:pic>
      <p:sp>
        <p:nvSpPr>
          <p:cNvPr id="12" name="箭头: 左弧形 11">
            <a:extLst>
              <a:ext uri="{FF2B5EF4-FFF2-40B4-BE49-F238E27FC236}">
                <a16:creationId xmlns:a16="http://schemas.microsoft.com/office/drawing/2014/main" id="{F2CBA958-7202-48F9-97AC-93CCC2387D70}"/>
              </a:ext>
            </a:extLst>
          </p:cNvPr>
          <p:cNvSpPr/>
          <p:nvPr/>
        </p:nvSpPr>
        <p:spPr>
          <a:xfrm>
            <a:off x="726107" y="4365220"/>
            <a:ext cx="711043" cy="1011253"/>
          </a:xfrm>
          <a:prstGeom prst="curvedRightArrow">
            <a:avLst>
              <a:gd name="adj1" fmla="val 25000"/>
              <a:gd name="adj2" fmla="val 30477"/>
              <a:gd name="adj3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A75A86A-F2BA-452D-B364-81CCD8AE6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356" y="4760637"/>
            <a:ext cx="3902070" cy="318157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4679804-552B-4453-9703-9062424482EA}"/>
              </a:ext>
            </a:extLst>
          </p:cNvPr>
          <p:cNvSpPr txBox="1"/>
          <p:nvPr/>
        </p:nvSpPr>
        <p:spPr>
          <a:xfrm>
            <a:off x="7800457" y="4097489"/>
            <a:ext cx="6290187" cy="396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逐层分析的核心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228594" indent="-228594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瓶颈是什么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访存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显存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)? </a:t>
            </a:r>
          </a:p>
          <a:p>
            <a:pPr marL="228594" indent="-228594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2D3436"/>
                </a:solidFill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哪种并行策略最匹配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同一个模型中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Attention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可能用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O_proj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用局部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，不同模块的并行策略可以完全不同。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贯穿全程的原则：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 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切分 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。选策略不能只看「切分后计算快了多少」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还必须看「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通信代价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有多大」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并行度并非越大越好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存在收益递减点。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参考：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DeepSeek-V3.2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实践中，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O_proj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Embedding/LM Head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F9674627-FD21-406F-960B-44705B21548E}"/>
              </a:ext>
            </a:extLst>
          </p:cNvPr>
          <p:cNvSpPr/>
          <p:nvPr/>
        </p:nvSpPr>
        <p:spPr>
          <a:xfrm>
            <a:off x="825500" y="8395335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41AD06AA-DD4F-4247-B45B-5B7294F241BF}"/>
              </a:ext>
            </a:extLst>
          </p:cNvPr>
          <p:cNvSpPr/>
          <p:nvPr/>
        </p:nvSpPr>
        <p:spPr>
          <a:xfrm>
            <a:off x="7620000" y="8395335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28</a:t>
            </a:r>
            <a:endParaRPr lang="en-US" sz="1300" dirty="0"/>
          </a:p>
        </p:txBody>
      </p:sp>
      <p:pic>
        <p:nvPicPr>
          <p:cNvPr id="10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3F4C2113-476D-4E75-B87F-07D05D4E1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0" y="8268335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1" y="365761"/>
            <a:ext cx="1454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2400" b="1">
                <a:solidFill>
                  <a:srgbClr val="0984E3"/>
                </a:solidFill>
              </a:defRPr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Prefill vs Decode: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同一模型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不同的逐层策略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1" y="1280160"/>
            <a:ext cx="14548713" cy="3386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A262DEB-3084-4778-A0AD-E6950CCCC79D}"/>
              </a:ext>
            </a:extLst>
          </p:cNvPr>
          <p:cNvSpPr txBox="1"/>
          <p:nvPr/>
        </p:nvSpPr>
        <p:spPr>
          <a:xfrm>
            <a:off x="769376" y="1454631"/>
            <a:ext cx="7784689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 </a:t>
            </a:r>
            <a:r>
              <a:rPr lang="en-US" altLang="zh-CN" sz="1867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 +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长序列为例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infer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仓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-DeepSeek-V3.2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部署实践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86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248DA4D-E98B-4DEE-A81E-DDC529C45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720" y="2656441"/>
            <a:ext cx="4863430" cy="449086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83C865A-B749-4997-ABA7-6E2B0E039F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919" y="2729194"/>
            <a:ext cx="4778125" cy="425617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EFF4CB9-50C1-46DE-8CC8-62634E9CC9BA}"/>
              </a:ext>
            </a:extLst>
          </p:cNvPr>
          <p:cNvSpPr txBox="1"/>
          <p:nvPr/>
        </p:nvSpPr>
        <p:spPr>
          <a:xfrm>
            <a:off x="3679722" y="2163847"/>
            <a:ext cx="1963993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67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Prefill</a:t>
            </a:r>
            <a:r>
              <a:rPr lang="zh-CN" altLang="en-US" sz="1867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并行策略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B13642-0DC5-449A-ACB3-75B7E4ABD01A}"/>
              </a:ext>
            </a:extLst>
          </p:cNvPr>
          <p:cNvSpPr txBox="1"/>
          <p:nvPr/>
        </p:nvSpPr>
        <p:spPr>
          <a:xfrm>
            <a:off x="10594077" y="2157428"/>
            <a:ext cx="2109201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67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r>
              <a:rPr lang="zh-CN" altLang="en-US" sz="1867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并行策略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591A7B0-23B2-4071-9C79-BAAA428C7C18}"/>
              </a:ext>
            </a:extLst>
          </p:cNvPr>
          <p:cNvSpPr txBox="1"/>
          <p:nvPr/>
        </p:nvSpPr>
        <p:spPr>
          <a:xfrm>
            <a:off x="2121118" y="7591906"/>
            <a:ext cx="12261007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D3436"/>
                </a:solidFill>
              </a:defRPr>
            </a:pP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同一个模型在 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阶段的逐层策略可以完全不同，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侧重分摊计算 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(CP + EP)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侧重减少访存 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(Wide EP + Attn DP)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。这正是 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 </a:t>
            </a: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分离的根本动机：两阶段的逐层最优策略不同，混部无法各自最优。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5AFF6BBE-CA62-498E-BDCF-536C519E0001}"/>
              </a:ext>
            </a:extLst>
          </p:cNvPr>
          <p:cNvSpPr/>
          <p:nvPr/>
        </p:nvSpPr>
        <p:spPr>
          <a:xfrm>
            <a:off x="825500" y="8395335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4" name="Text 20">
            <a:extLst>
              <a:ext uri="{FF2B5EF4-FFF2-40B4-BE49-F238E27FC236}">
                <a16:creationId xmlns:a16="http://schemas.microsoft.com/office/drawing/2014/main" id="{2D6B0AA3-8CB2-439D-B30C-0DA19DDAAB21}"/>
              </a:ext>
            </a:extLst>
          </p:cNvPr>
          <p:cNvSpPr/>
          <p:nvPr/>
        </p:nvSpPr>
        <p:spPr>
          <a:xfrm>
            <a:off x="7620000" y="8395335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29</a:t>
            </a:r>
            <a:endParaRPr lang="en-US" sz="1300" dirty="0"/>
          </a:p>
        </p:txBody>
      </p:sp>
      <p:pic>
        <p:nvPicPr>
          <p:cNvPr id="15" name="Image 0" descr="https://kimi-img.moonshot.cn/pub/slides/okc/4rfbomebqqupm/mnt/agents/output/template_pptd/images/image_2.png">
            <a:extLst>
              <a:ext uri="{FF2B5EF4-FFF2-40B4-BE49-F238E27FC236}">
                <a16:creationId xmlns:a16="http://schemas.microsoft.com/office/drawing/2014/main" id="{EAEE228F-0CD7-4EE8-AF72-BB7003422A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2800" y="8268335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400" y="1612900"/>
            <a:ext cx="6350000" cy="1231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534400" y="1524000"/>
            <a:ext cx="6261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核心要点回顾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34399" y="2368550"/>
            <a:ext cx="8029575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实际部署中</a:t>
            </a:r>
            <a:r>
              <a:rPr lang="en-US" altLang="zh-CN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大模型通常同时受到多类瓶颈约束</a:t>
            </a:r>
            <a:r>
              <a:rPr lang="en-US" altLang="zh-CN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需要组合使用多种并行策略；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通信原语是并行策略的底层逻辑；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不同的场景适合不同的并行方案，按需使用；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多模的序列长度通常很大，一般更适合序列并行的策略；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容量评估</a:t>
            </a:r>
            <a:r>
              <a:rPr 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逐层分析</a:t>
            </a:r>
            <a:r>
              <a:rPr 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</a:t>
            </a:r>
            <a:r>
              <a:rPr lang="zh-CN" altLang="en-US" sz="16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组合校验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8400" y="3556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开启你的</a:t>
            </a:r>
            <a:r>
              <a:rPr lang="zh-CN" alt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</a:t>
            </a:r>
            <a:r>
              <a:rPr lang="en-US" sz="2200" b="1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优化之旅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600" b="1" u="sng" dirty="0">
                <a:solidFill>
                  <a:srgbClr val="4472C4"/>
                </a:solidFill>
                <a:uFill>
                  <a:solidFill>
                    <a:srgbClr val="333333"/>
                  </a:solidFill>
                </a:uFill>
                <a:latin typeface="MiSans" pitchFamily="34" charset="0"/>
                <a:ea typeface="MiSans" pitchFamily="34" charset="-122"/>
                <a:cs typeface="Mi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gitcode.com/cann/cann-recipes-infer</a:t>
            </a:r>
            <a:endParaRPr lang="en-US" sz="2200" dirty="0"/>
          </a:p>
        </p:txBody>
      </p:sp>
      <p:pic>
        <p:nvPicPr>
          <p:cNvPr id="6" name="Image 0" descr="https://kimi-img.moonshot.cn/pub/slides/okc/4rfbomebqqupm/mnt/agents/output/template_pptd/images/imag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900" y="5245100"/>
            <a:ext cx="2133600" cy="2133600"/>
          </a:xfrm>
          <a:prstGeom prst="rect">
            <a:avLst/>
          </a:prstGeom>
        </p:spPr>
      </p:pic>
      <p:pic>
        <p:nvPicPr>
          <p:cNvPr id="7" name="Image 1" descr="https://kimi-img.moonshot.cn/pub/slides/okc/4rfbomebqqupm/mnt/agents/output/template_pptd/images/image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5100" y="5194300"/>
            <a:ext cx="2247900" cy="2247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10700" y="7378700"/>
            <a:ext cx="190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3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上CANN社区获取干货</a:t>
            </a:r>
            <a:endParaRPr lang="en-US" sz="1330" dirty="0"/>
          </a:p>
        </p:txBody>
      </p:sp>
      <p:sp>
        <p:nvSpPr>
          <p:cNvPr id="9" name="Text 5"/>
          <p:cNvSpPr/>
          <p:nvPr/>
        </p:nvSpPr>
        <p:spPr>
          <a:xfrm>
            <a:off x="11658600" y="7493000"/>
            <a:ext cx="22479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3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关注CANN公众号获取资讯</a:t>
            </a:r>
            <a:endParaRPr lang="en-US" sz="1330" dirty="0"/>
          </a:p>
        </p:txBody>
      </p:sp>
      <p:sp>
        <p:nvSpPr>
          <p:cNvPr id="10" name="Text 6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</a:t>
            </a:r>
            <a:endParaRPr lang="en-US" sz="1300" dirty="0"/>
          </a:p>
        </p:txBody>
      </p:sp>
      <p:pic>
        <p:nvPicPr>
          <p:cNvPr id="12" name="Image 2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5281</TotalTime>
  <Words>5768</Words>
  <Application>Microsoft Office PowerPoint</Application>
  <PresentationFormat>自定义</PresentationFormat>
  <Paragraphs>491</Paragraphs>
  <Slides>34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微软雅黑</vt:lpstr>
      <vt:lpstr>Calibri</vt:lpstr>
      <vt:lpstr>等线</vt:lpstr>
      <vt:lpstr>MiSans</vt:lpstr>
      <vt:lpstr>Liter</vt:lpstr>
      <vt:lpstr>HarmonyOS-Hans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大模型量化基础</dc:title>
  <dc:subject>大模型量化基础</dc:subject>
  <dc:creator>Kimi</dc:creator>
  <cp:lastModifiedBy>wangzhengping</cp:lastModifiedBy>
  <cp:revision>108</cp:revision>
  <dcterms:created xsi:type="dcterms:W3CDTF">2026-06-24T11:04:41Z</dcterms:created>
  <dcterms:modified xsi:type="dcterms:W3CDTF">2026-08-19T07:34:25Z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{"Label":"大模型量化基础","ContentProducer":"001191110108MACG2KBH8F10000","ProduceID":"19ef9430-9822-8685-8000-00004df5db4b","ReservedCode1":"","ContentPropagator":"001191110108MACG2KBH8F20000","PropagateID":"19eee8b1-31f2-8433-8000-0941b2c9f6ec","ReservedCode2"</vt:lpwstr>
  </property>
</Properties>
</file>