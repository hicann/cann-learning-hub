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23"/>
  </p:handoutMasterIdLst>
  <p:sldIdLst>
    <p:sldId id="256" r:id="rId4"/>
    <p:sldId id="257" r:id="rId6"/>
    <p:sldId id="258" r:id="rId7"/>
    <p:sldId id="259" r:id="rId8"/>
    <p:sldId id="278" r:id="rId9"/>
    <p:sldId id="260" r:id="rId10"/>
    <p:sldId id="277" r:id="rId11"/>
    <p:sldId id="261" r:id="rId12"/>
    <p:sldId id="262" r:id="rId13"/>
    <p:sldId id="263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4" r:id="rId22"/>
  </p:sldIdLst>
  <p:sldSz cx="16256000" cy="9144000"/>
  <p:notesSz cx="9144000" cy="16256000"/>
  <p:embeddedFontLst>
    <p:embeddedFont>
      <p:font typeface="MiSans" pitchFamily="34" charset="-122"/>
      <p:regular r:id="rId27"/>
    </p:embeddedFont>
    <p:embeddedFont>
      <p:font typeface="MiSans" pitchFamily="34" charset="-120"/>
      <p:regular r:id="rId28"/>
    </p:embeddedFont>
    <p:embeddedFont>
      <p:font typeface="微软雅黑" panose="020B0503020204020204" charset="-122"/>
      <p:regular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  <p:embeddedFont>
      <p:font typeface="等线" panose="02010600030101010101" charset="-122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3.fntdata"/><Relationship Id="rId28" Type="http://schemas.openxmlformats.org/officeDocument/2006/relationships/font" Target="fonts/font1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Relationship Id="rId4" Type="http://schemas.openxmlformats.org/officeDocument/2006/relationships/image" Target="../media/imageBG.jpeg"/><Relationship Id="rId5" Type="http://schemas.openxmlformats.org/officeDocument/2006/relationships/image" Target="../media/imageLOGO.png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Relationship Id="rId4" Type="http://schemas.openxmlformats.org/officeDocument/2006/relationships/image" Target="../media/imageBG.jpeg"/><Relationship Id="rId5" Type="http://schemas.openxmlformats.org/officeDocument/2006/relationships/image" Target="../media/imageLOGO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Relationship Id="rId5" Type="http://schemas.openxmlformats.org/officeDocument/2006/relationships/image" Target="../media/image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Relationship Id="rId5" Type="http://schemas.openxmlformats.org/officeDocument/2006/relationships/image" Target="../media/imageLOGO.png"/></Relationships>
</file>

<file path=ppt/slides/_rels/slide6.xml.rels><?xml version="1.0" encoding="UTF-8" standalone="yes"?>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6" Type="http://schemas.openxmlformats.org/officeDocument/2006/relationships/image" Target="../media/imageLOGO.png"/></Relationships>
</file>

<file path=ppt/slides/_rels/slide7.xml.rels><?xml version="1.0" encoding="UTF-8" standalone="yes"?>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6" Type="http://schemas.openxmlformats.org/officeDocument/2006/relationships/image" Target="../media/imageLOGO.png"/></Relationships>
</file>

<file path=ppt/slides/_rels/slide8.xml.rels><?xml version="1.0" encoding="UTF-8" standalone="yes"?>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Relationship Id="rId6" Type="http://schemas.openxmlformats.org/officeDocument/2006/relationships/image" Target="../media/imageLOGO.png"/></Relationships>
</file>

<file path=ppt/slides/_rels/slide9.xml.rels><?xml version="1.0" encoding="UTF-8" standalone="yes"?>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Relationship Id="rId5" Type="http://schemas.openxmlformats.org/officeDocument/2006/relationships/image" Target="../media/imageBG.jpeg"/><Relationship Id="rId6" Type="http://schemas.openxmlformats.org/officeDocument/2006/relationships/image" Target="../media/imageLOGO.png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LOGO.png"/></Relationships>
</file>

<file path=ppt/slides/_rels/slide11.xml.rels><?xml version="1.0" encoding="UTF-8" standalone="yes"?>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3.png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2.jpeg"/><Relationship Id="rId20" Type="http://schemas.openxmlformats.org/officeDocument/2006/relationships/image" Target="../media/imageBG.jpeg"/><Relationship Id="rId21" Type="http://schemas.openxmlformats.org/officeDocument/2006/relationships/image" Target="../media/imageLOGO.png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LOGO.png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LOGO.png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LOGO.png"/></Relationships>
</file>

<file path=ppt/slides/_rels/slide15.xml.rels><?xml version="1.0" encoding="UTF-8" standalone="yes"?>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3" Type="http://schemas.openxmlformats.org/officeDocument/2006/relationships/notesSlide" Target="../notesSlides/notesSlide15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14.jpeg"/><Relationship Id="rId14" Type="http://schemas.openxmlformats.org/officeDocument/2006/relationships/image" Target="../media/imageBG.jpeg"/><Relationship Id="rId15" Type="http://schemas.openxmlformats.org/officeDocument/2006/relationships/image" Target="../media/imageLOGO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Relationship Id="rId5" Type="http://schemas.openxmlformats.org/officeDocument/2006/relationships/image" Target="../media/imageLOGO.png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LOGO.png"/></Relationships>
</file>

<file path=ppt/slides/_rels/slide18.xml.rels><?xml version="1.0" encoding="UTF-8" standalone="yes"?>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6.jpeg"/><Relationship Id="rId5" Type="http://schemas.openxmlformats.org/officeDocument/2006/relationships/image" Target="../media/imageBG.jpeg"/><Relationship Id="rId6" Type="http://schemas.openxmlformats.org/officeDocument/2006/relationships/image" Target="../media/imageLOG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1498600" y="1896284"/>
            <a:ext cx="3557778" cy="441960"/>
          </a:xfrm>
          <a:custGeom>
            <a:avLst/>
            <a:gdLst/>
            <a:ahLst/>
            <a:cxnLst/>
            <a:rect l="l" t="t" r="r" b="b"/>
            <a:pathLst>
              <a:path w="3067050" h="381000">
                <a:moveTo>
                  <a:pt x="0" y="0"/>
                </a:moveTo>
                <a:lnTo>
                  <a:pt x="3067050" y="0"/>
                </a:lnTo>
                <a:lnTo>
                  <a:pt x="30670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5" name="Text 2"/>
          <p:cNvSpPr/>
          <p:nvPr/>
        </p:nvSpPr>
        <p:spPr>
          <a:xfrm>
            <a:off x="1498600" y="1896284"/>
            <a:ext cx="3646170" cy="441960"/>
          </a:xfrm>
          <a:prstGeom prst="rect">
            <a:avLst/>
          </a:prstGeom>
          <a:noFill/>
        </p:spPr>
        <p:txBody>
          <a:bodyPr wrap="square" lIns="176784" tIns="88392" rIns="176784" bIns="88392" rtlCol="0" anchor="ctr"/>
          <a:lstStyle/>
          <a:p>
            <a:pPr>
              <a:lnSpc>
                <a:spcPct val="130000"/>
              </a:lnSpc>
            </a:pPr>
            <a:r>
              <a:rPr lang="en-US" sz="1392" b="1" kern="0" spc="60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LLM INFERENCE OPTIMIZATION</a:t>
            </a:r>
            <a:endParaRPr lang="en-US" sz="1856" dirty="0"/>
          </a:p>
        </p:txBody>
      </p:sp>
      <p:sp>
        <p:nvSpPr>
          <p:cNvPr id="6" name="Text 3"/>
          <p:cNvSpPr/>
          <p:nvPr/>
        </p:nvSpPr>
        <p:spPr>
          <a:xfrm>
            <a:off x="1498600" y="2868596"/>
            <a:ext cx="13656564" cy="1988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26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大模型推理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626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优化基础介绍</a:t>
            </a:r>
            <a:endParaRPr lang="en-US" sz="1856" dirty="0"/>
          </a:p>
        </p:txBody>
      </p:sp>
      <p:sp>
        <p:nvSpPr>
          <p:cNvPr id="7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8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dirty="0"/>
          </a:p>
        </p:txBody>
      </p:sp>
      <p:pic>
        <p:nvPicPr>
          <p:cNvPr id="9" name="CANN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98600" y="486156"/>
            <a:ext cx="88392" cy="707136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3" name="Text 1"/>
          <p:cNvSpPr/>
          <p:nvPr/>
        </p:nvSpPr>
        <p:spPr>
          <a:xfrm>
            <a:off x="1763776" y="441960"/>
            <a:ext cx="1138047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8" b="1" kern="0" spc="105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Contents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1763776" y="707136"/>
            <a:ext cx="1325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17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目录</a:t>
            </a:r>
            <a:endParaRPr lang="en-US" sz="1856" dirty="0"/>
          </a:p>
        </p:txBody>
      </p:sp>
      <p:sp>
        <p:nvSpPr>
          <p:cNvPr id="5" name="Shape 3"/>
          <p:cNvSpPr/>
          <p:nvPr/>
        </p:nvSpPr>
        <p:spPr>
          <a:xfrm>
            <a:off x="1520698" y="1767840"/>
            <a:ext cx="6430518" cy="2618613"/>
          </a:xfrm>
          <a:custGeom>
            <a:avLst/>
            <a:gdLst/>
            <a:ahLst/>
            <a:cxnLst/>
            <a:rect l="l" t="t" r="r" b="b"/>
            <a:pathLst>
              <a:path w="5543550" h="2257425">
                <a:moveTo>
                  <a:pt x="38100" y="0"/>
                </a:moveTo>
                <a:lnTo>
                  <a:pt x="5467339" y="0"/>
                </a:lnTo>
                <a:cubicBezTo>
                  <a:pt x="5509429" y="0"/>
                  <a:pt x="5543550" y="34121"/>
                  <a:pt x="5543550" y="76211"/>
                </a:cubicBezTo>
                <a:lnTo>
                  <a:pt x="5543550" y="2181214"/>
                </a:lnTo>
                <a:cubicBezTo>
                  <a:pt x="5543550" y="2223304"/>
                  <a:pt x="5509429" y="2257425"/>
                  <a:pt x="5467339" y="2257425"/>
                </a:cubicBezTo>
                <a:lnTo>
                  <a:pt x="38100" y="2257425"/>
                </a:lnTo>
                <a:cubicBezTo>
                  <a:pt x="17058" y="2257425"/>
                  <a:pt x="0" y="2240367"/>
                  <a:pt x="0" y="2219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6" name="Shape 4"/>
          <p:cNvSpPr/>
          <p:nvPr/>
        </p:nvSpPr>
        <p:spPr>
          <a:xfrm>
            <a:off x="1520698" y="1767840"/>
            <a:ext cx="44196" cy="2618613"/>
          </a:xfrm>
          <a:custGeom>
            <a:avLst/>
            <a:gdLst/>
            <a:ahLst/>
            <a:cxnLst/>
            <a:rect l="l" t="t" r="r" b="b"/>
            <a:pathLst>
              <a:path w="38100" h="2257425">
                <a:moveTo>
                  <a:pt x="38100" y="0"/>
                </a:moveTo>
                <a:lnTo>
                  <a:pt x="38100" y="0"/>
                </a:lnTo>
                <a:lnTo>
                  <a:pt x="38100" y="2257425"/>
                </a:lnTo>
                <a:lnTo>
                  <a:pt x="38100" y="2257425"/>
                </a:lnTo>
                <a:cubicBezTo>
                  <a:pt x="17072" y="2257425"/>
                  <a:pt x="0" y="2240353"/>
                  <a:pt x="0" y="2219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" name="Shape 5"/>
          <p:cNvSpPr/>
          <p:nvPr/>
        </p:nvSpPr>
        <p:spPr>
          <a:xfrm>
            <a:off x="1807972" y="2033016"/>
            <a:ext cx="707136" cy="707136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8" name="Text 6"/>
          <p:cNvSpPr/>
          <p:nvPr/>
        </p:nvSpPr>
        <p:spPr>
          <a:xfrm>
            <a:off x="1725105" y="2033016"/>
            <a:ext cx="872871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1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01</a:t>
            </a:r>
            <a:endParaRPr lang="en-US" sz="1856" dirty="0"/>
          </a:p>
        </p:txBody>
      </p:sp>
      <p:sp>
        <p:nvSpPr>
          <p:cNvPr id="9" name="Text 7"/>
          <p:cNvSpPr/>
          <p:nvPr/>
        </p:nvSpPr>
        <p:spPr>
          <a:xfrm>
            <a:off x="2691892" y="2033016"/>
            <a:ext cx="5126736" cy="353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LLM核心</a:t>
            </a:r>
            <a:r>
              <a:rPr lang="zh-CN" altLang="en-US" sz="20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结构</a:t>
            </a:r>
            <a:r>
              <a:rPr lang="en-US" sz="20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解析</a:t>
            </a:r>
            <a:endParaRPr lang="en-US" sz="1856" dirty="0"/>
          </a:p>
        </p:txBody>
      </p:sp>
      <p:sp>
        <p:nvSpPr>
          <p:cNvPr id="10" name="Text 8"/>
          <p:cNvSpPr/>
          <p:nvPr/>
        </p:nvSpPr>
        <p:spPr>
          <a:xfrm>
            <a:off x="2691892" y="2519172"/>
            <a:ext cx="5082540" cy="8618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深入理解Transformer</a:t>
            </a:r>
            <a:r>
              <a:rPr lang="zh-CN" alt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模型</a:t>
            </a: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的关键</a:t>
            </a:r>
            <a:r>
              <a:rPr lang="zh-CN" alt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组成</a:t>
            </a: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，包括Embedding、Attention</a:t>
            </a:r>
            <a:r>
              <a:rPr lang="zh-CN" alt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层</a:t>
            </a: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（GQA/MLA）、MOE/FFN层和LMHead，掌握各组件在推理过程中的作用与优化方向。</a:t>
            </a:r>
            <a:endParaRPr lang="en-US" sz="1856" dirty="0"/>
          </a:p>
        </p:txBody>
      </p:sp>
      <p:sp>
        <p:nvSpPr>
          <p:cNvPr id="11" name="Shape 9"/>
          <p:cNvSpPr/>
          <p:nvPr/>
        </p:nvSpPr>
        <p:spPr>
          <a:xfrm>
            <a:off x="2691892" y="3513582"/>
            <a:ext cx="1248537" cy="309372"/>
          </a:xfrm>
          <a:custGeom>
            <a:avLst/>
            <a:gdLst/>
            <a:ahLst/>
            <a:cxnLst/>
            <a:rect l="l" t="t" r="r" b="b"/>
            <a:pathLst>
              <a:path w="1076325" h="266700">
                <a:moveTo>
                  <a:pt x="38101" y="0"/>
                </a:moveTo>
                <a:lnTo>
                  <a:pt x="1038224" y="0"/>
                </a:lnTo>
                <a:cubicBezTo>
                  <a:pt x="1059267" y="0"/>
                  <a:pt x="1076325" y="17058"/>
                  <a:pt x="1076325" y="38101"/>
                </a:cubicBezTo>
                <a:lnTo>
                  <a:pt x="1076325" y="228599"/>
                </a:lnTo>
                <a:cubicBezTo>
                  <a:pt x="1076325" y="249642"/>
                  <a:pt x="1059267" y="266700"/>
                  <a:pt x="10382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2691892" y="3513582"/>
            <a:ext cx="1325880" cy="309372"/>
          </a:xfrm>
          <a:prstGeom prst="rect">
            <a:avLst/>
          </a:prstGeom>
          <a:noFill/>
        </p:spPr>
        <p:txBody>
          <a:bodyPr wrap="square" lIns="132588" tIns="44196" rIns="132588" bIns="44196" rtlCol="0" anchor="ctr"/>
          <a:lstStyle/>
          <a:p>
            <a:pPr>
              <a:lnSpc>
                <a:spcPct val="120000"/>
              </a:lnSpc>
            </a:pPr>
            <a:r>
              <a:rPr lang="en-US" sz="121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Transformer</a:t>
            </a:r>
            <a:endParaRPr lang="en-US" sz="1856" dirty="0"/>
          </a:p>
        </p:txBody>
      </p:sp>
      <p:sp>
        <p:nvSpPr>
          <p:cNvPr id="13" name="Shape 11"/>
          <p:cNvSpPr/>
          <p:nvPr/>
        </p:nvSpPr>
        <p:spPr>
          <a:xfrm>
            <a:off x="4025713" y="3513582"/>
            <a:ext cx="994410" cy="309372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38101" y="0"/>
                </a:moveTo>
                <a:lnTo>
                  <a:pt x="819149" y="0"/>
                </a:lnTo>
                <a:cubicBezTo>
                  <a:pt x="840192" y="0"/>
                  <a:pt x="857250" y="17058"/>
                  <a:pt x="857250" y="38101"/>
                </a:cubicBezTo>
                <a:lnTo>
                  <a:pt x="857250" y="228599"/>
                </a:lnTo>
                <a:cubicBezTo>
                  <a:pt x="857250" y="249642"/>
                  <a:pt x="840192" y="266700"/>
                  <a:pt x="8191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4025713" y="3513582"/>
            <a:ext cx="1071753" cy="309372"/>
          </a:xfrm>
          <a:prstGeom prst="rect">
            <a:avLst/>
          </a:prstGeom>
          <a:noFill/>
        </p:spPr>
        <p:txBody>
          <a:bodyPr wrap="square" lIns="132588" tIns="44196" rIns="132588" bIns="44196" rtlCol="0" anchor="ctr"/>
          <a:lstStyle/>
          <a:p>
            <a:pPr>
              <a:lnSpc>
                <a:spcPct val="120000"/>
              </a:lnSpc>
            </a:pPr>
            <a:r>
              <a:rPr lang="en-US" sz="121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Attention</a:t>
            </a:r>
            <a:endParaRPr lang="en-US" sz="1856" dirty="0"/>
          </a:p>
        </p:txBody>
      </p:sp>
      <p:sp>
        <p:nvSpPr>
          <p:cNvPr id="15" name="Shape 13"/>
          <p:cNvSpPr/>
          <p:nvPr/>
        </p:nvSpPr>
        <p:spPr>
          <a:xfrm>
            <a:off x="5103595" y="3513582"/>
            <a:ext cx="640842" cy="309372"/>
          </a:xfrm>
          <a:custGeom>
            <a:avLst/>
            <a:gdLst/>
            <a:ahLst/>
            <a:cxnLst/>
            <a:rect l="l" t="t" r="r" b="b"/>
            <a:pathLst>
              <a:path w="552450" h="266700">
                <a:moveTo>
                  <a:pt x="38101" y="0"/>
                </a:moveTo>
                <a:lnTo>
                  <a:pt x="514349" y="0"/>
                </a:lnTo>
                <a:cubicBezTo>
                  <a:pt x="535392" y="0"/>
                  <a:pt x="552450" y="17058"/>
                  <a:pt x="552450" y="38101"/>
                </a:cubicBezTo>
                <a:lnTo>
                  <a:pt x="552450" y="228599"/>
                </a:lnTo>
                <a:cubicBezTo>
                  <a:pt x="552450" y="249628"/>
                  <a:pt x="535378" y="266700"/>
                  <a:pt x="514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103595" y="3513582"/>
            <a:ext cx="718185" cy="309372"/>
          </a:xfrm>
          <a:prstGeom prst="rect">
            <a:avLst/>
          </a:prstGeom>
          <a:noFill/>
        </p:spPr>
        <p:txBody>
          <a:bodyPr wrap="square" lIns="132588" tIns="44196" rIns="132588" bIns="44196" rtlCol="0" anchor="ctr"/>
          <a:lstStyle/>
          <a:p>
            <a:pPr>
              <a:lnSpc>
                <a:spcPct val="120000"/>
              </a:lnSpc>
            </a:pPr>
            <a:r>
              <a:rPr lang="en-US" sz="121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MOE</a:t>
            </a:r>
            <a:endParaRPr lang="en-US" sz="1856" dirty="0"/>
          </a:p>
        </p:txBody>
      </p:sp>
      <p:sp>
        <p:nvSpPr>
          <p:cNvPr id="17" name="Shape 15"/>
          <p:cNvSpPr/>
          <p:nvPr/>
        </p:nvSpPr>
        <p:spPr>
          <a:xfrm>
            <a:off x="8326882" y="1767840"/>
            <a:ext cx="6430518" cy="2618613"/>
          </a:xfrm>
          <a:custGeom>
            <a:avLst/>
            <a:gdLst/>
            <a:ahLst/>
            <a:cxnLst/>
            <a:rect l="l" t="t" r="r" b="b"/>
            <a:pathLst>
              <a:path w="5543550" h="2257425">
                <a:moveTo>
                  <a:pt x="38100" y="0"/>
                </a:moveTo>
                <a:lnTo>
                  <a:pt x="5467339" y="0"/>
                </a:lnTo>
                <a:cubicBezTo>
                  <a:pt x="5509429" y="0"/>
                  <a:pt x="5543550" y="34121"/>
                  <a:pt x="5543550" y="76211"/>
                </a:cubicBezTo>
                <a:lnTo>
                  <a:pt x="5543550" y="2181214"/>
                </a:lnTo>
                <a:cubicBezTo>
                  <a:pt x="5543550" y="2223304"/>
                  <a:pt x="5509429" y="2257425"/>
                  <a:pt x="5467339" y="2257425"/>
                </a:cubicBezTo>
                <a:lnTo>
                  <a:pt x="38100" y="2257425"/>
                </a:lnTo>
                <a:cubicBezTo>
                  <a:pt x="17058" y="2257425"/>
                  <a:pt x="0" y="2240367"/>
                  <a:pt x="0" y="2219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18" name="Shape 16"/>
          <p:cNvSpPr/>
          <p:nvPr/>
        </p:nvSpPr>
        <p:spPr>
          <a:xfrm>
            <a:off x="8326882" y="1767840"/>
            <a:ext cx="44196" cy="2618613"/>
          </a:xfrm>
          <a:custGeom>
            <a:avLst/>
            <a:gdLst/>
            <a:ahLst/>
            <a:cxnLst/>
            <a:rect l="l" t="t" r="r" b="b"/>
            <a:pathLst>
              <a:path w="38100" h="2257425">
                <a:moveTo>
                  <a:pt x="38100" y="0"/>
                </a:moveTo>
                <a:lnTo>
                  <a:pt x="38100" y="0"/>
                </a:lnTo>
                <a:lnTo>
                  <a:pt x="38100" y="2257425"/>
                </a:lnTo>
                <a:lnTo>
                  <a:pt x="38100" y="2257425"/>
                </a:lnTo>
                <a:cubicBezTo>
                  <a:pt x="17072" y="2257425"/>
                  <a:pt x="0" y="2240353"/>
                  <a:pt x="0" y="2219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9" name="Shape 17"/>
          <p:cNvSpPr/>
          <p:nvPr/>
        </p:nvSpPr>
        <p:spPr>
          <a:xfrm>
            <a:off x="8614156" y="2033016"/>
            <a:ext cx="707136" cy="707136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0" name="Text 18"/>
          <p:cNvSpPr/>
          <p:nvPr/>
        </p:nvSpPr>
        <p:spPr>
          <a:xfrm>
            <a:off x="8531289" y="2033016"/>
            <a:ext cx="872871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1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02</a:t>
            </a:r>
            <a:endParaRPr lang="en-US" sz="1856" dirty="0"/>
          </a:p>
        </p:txBody>
      </p:sp>
      <p:sp>
        <p:nvSpPr>
          <p:cNvPr id="21" name="Text 19"/>
          <p:cNvSpPr/>
          <p:nvPr/>
        </p:nvSpPr>
        <p:spPr>
          <a:xfrm>
            <a:off x="9498076" y="2033016"/>
            <a:ext cx="5126736" cy="353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推理阶段与性能特征</a:t>
            </a:r>
            <a:endParaRPr lang="en-US" sz="1856" dirty="0"/>
          </a:p>
        </p:txBody>
      </p:sp>
      <p:sp>
        <p:nvSpPr>
          <p:cNvPr id="22" name="Text 20"/>
          <p:cNvSpPr/>
          <p:nvPr/>
        </p:nvSpPr>
        <p:spPr>
          <a:xfrm>
            <a:off x="9498076" y="2519172"/>
            <a:ext cx="5082540" cy="8618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理解Prefill与Decode的本质差异，掌握KV Cache优化策略、性能指标定义（TTFT/TPOT），以及单算子与图模式的权衡选择。</a:t>
            </a:r>
            <a:endParaRPr lang="en-US" sz="1856" dirty="0"/>
          </a:p>
        </p:txBody>
      </p:sp>
      <p:sp>
        <p:nvSpPr>
          <p:cNvPr id="23" name="Shape 21"/>
          <p:cNvSpPr/>
          <p:nvPr/>
        </p:nvSpPr>
        <p:spPr>
          <a:xfrm>
            <a:off x="9498076" y="3513582"/>
            <a:ext cx="740283" cy="309372"/>
          </a:xfrm>
          <a:custGeom>
            <a:avLst/>
            <a:gdLst/>
            <a:ahLst/>
            <a:cxnLst/>
            <a:rect l="l" t="t" r="r" b="b"/>
            <a:pathLst>
              <a:path w="638175" h="2667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228599"/>
                </a:lnTo>
                <a:cubicBezTo>
                  <a:pt x="638175" y="249628"/>
                  <a:pt x="621103" y="266700"/>
                  <a:pt x="6000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9498076" y="3513582"/>
            <a:ext cx="817626" cy="309372"/>
          </a:xfrm>
          <a:prstGeom prst="rect">
            <a:avLst/>
          </a:prstGeom>
          <a:noFill/>
        </p:spPr>
        <p:txBody>
          <a:bodyPr wrap="square" lIns="132588" tIns="44196" rIns="132588" bIns="44196" rtlCol="0" anchor="ctr"/>
          <a:lstStyle/>
          <a:p>
            <a:pPr>
              <a:lnSpc>
                <a:spcPct val="120000"/>
              </a:lnSpc>
            </a:pPr>
            <a:r>
              <a:rPr lang="en-US" sz="121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Prefill</a:t>
            </a:r>
            <a:endParaRPr lang="en-US" sz="1856" dirty="0"/>
          </a:p>
        </p:txBody>
      </p:sp>
      <p:sp>
        <p:nvSpPr>
          <p:cNvPr id="25" name="Shape 23"/>
          <p:cNvSpPr/>
          <p:nvPr/>
        </p:nvSpPr>
        <p:spPr>
          <a:xfrm>
            <a:off x="10321313" y="3513582"/>
            <a:ext cx="828675" cy="309372"/>
          </a:xfrm>
          <a:custGeom>
            <a:avLst/>
            <a:gdLst/>
            <a:ahLst/>
            <a:cxnLst/>
            <a:rect l="l" t="t" r="r" b="b"/>
            <a:pathLst>
              <a:path w="714375" h="266700">
                <a:moveTo>
                  <a:pt x="38101" y="0"/>
                </a:moveTo>
                <a:lnTo>
                  <a:pt x="676274" y="0"/>
                </a:lnTo>
                <a:cubicBezTo>
                  <a:pt x="697317" y="0"/>
                  <a:pt x="714375" y="17058"/>
                  <a:pt x="714375" y="38101"/>
                </a:cubicBezTo>
                <a:lnTo>
                  <a:pt x="714375" y="228599"/>
                </a:lnTo>
                <a:cubicBezTo>
                  <a:pt x="714375" y="249628"/>
                  <a:pt x="697303" y="266700"/>
                  <a:pt x="6762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10321313" y="3513582"/>
            <a:ext cx="906018" cy="309372"/>
          </a:xfrm>
          <a:prstGeom prst="rect">
            <a:avLst/>
          </a:prstGeom>
          <a:noFill/>
        </p:spPr>
        <p:txBody>
          <a:bodyPr wrap="square" lIns="132588" tIns="44196" rIns="132588" bIns="44196" rtlCol="0" anchor="ctr"/>
          <a:lstStyle/>
          <a:p>
            <a:pPr>
              <a:lnSpc>
                <a:spcPct val="120000"/>
              </a:lnSpc>
            </a:pPr>
            <a:r>
              <a:rPr lang="en-US" sz="121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Decode</a:t>
            </a:r>
            <a:endParaRPr lang="en-US" sz="1856" dirty="0"/>
          </a:p>
        </p:txBody>
      </p:sp>
      <p:sp>
        <p:nvSpPr>
          <p:cNvPr id="27" name="Shape 25"/>
          <p:cNvSpPr/>
          <p:nvPr/>
        </p:nvSpPr>
        <p:spPr>
          <a:xfrm>
            <a:off x="11242609" y="3513582"/>
            <a:ext cx="994410" cy="309372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38101" y="0"/>
                </a:moveTo>
                <a:lnTo>
                  <a:pt x="819149" y="0"/>
                </a:lnTo>
                <a:cubicBezTo>
                  <a:pt x="840192" y="0"/>
                  <a:pt x="857250" y="17058"/>
                  <a:pt x="857250" y="38101"/>
                </a:cubicBezTo>
                <a:lnTo>
                  <a:pt x="857250" y="228599"/>
                </a:lnTo>
                <a:cubicBezTo>
                  <a:pt x="857250" y="249642"/>
                  <a:pt x="840192" y="266700"/>
                  <a:pt x="8191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11242609" y="3513582"/>
            <a:ext cx="1071753" cy="309372"/>
          </a:xfrm>
          <a:prstGeom prst="rect">
            <a:avLst/>
          </a:prstGeom>
          <a:noFill/>
        </p:spPr>
        <p:txBody>
          <a:bodyPr wrap="square" lIns="132588" tIns="44196" rIns="132588" bIns="44196" rtlCol="0" anchor="ctr"/>
          <a:lstStyle/>
          <a:p>
            <a:pPr>
              <a:lnSpc>
                <a:spcPct val="120000"/>
              </a:lnSpc>
            </a:pPr>
            <a:r>
              <a:rPr lang="en-US" sz="121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KV Cache</a:t>
            </a:r>
            <a:endParaRPr lang="en-US" sz="1856" dirty="0"/>
          </a:p>
        </p:txBody>
      </p:sp>
      <p:sp>
        <p:nvSpPr>
          <p:cNvPr id="29" name="Shape 27"/>
          <p:cNvSpPr/>
          <p:nvPr/>
        </p:nvSpPr>
        <p:spPr>
          <a:xfrm>
            <a:off x="1520698" y="4651629"/>
            <a:ext cx="6430518" cy="2331339"/>
          </a:xfrm>
          <a:custGeom>
            <a:avLst/>
            <a:gdLst/>
            <a:ahLst/>
            <a:cxnLst/>
            <a:rect l="l" t="t" r="r" b="b"/>
            <a:pathLst>
              <a:path w="5543550" h="2009775">
                <a:moveTo>
                  <a:pt x="38100" y="0"/>
                </a:moveTo>
                <a:lnTo>
                  <a:pt x="5467359" y="0"/>
                </a:lnTo>
                <a:cubicBezTo>
                  <a:pt x="5509410" y="0"/>
                  <a:pt x="5543550" y="34140"/>
                  <a:pt x="5543550" y="76191"/>
                </a:cubicBezTo>
                <a:lnTo>
                  <a:pt x="5543550" y="1933584"/>
                </a:lnTo>
                <a:cubicBezTo>
                  <a:pt x="5543550" y="1975635"/>
                  <a:pt x="5509410" y="2009775"/>
                  <a:pt x="5467359" y="2009775"/>
                </a:cubicBezTo>
                <a:lnTo>
                  <a:pt x="38100" y="2009775"/>
                </a:lnTo>
                <a:cubicBezTo>
                  <a:pt x="17072" y="2009775"/>
                  <a:pt x="0" y="1992703"/>
                  <a:pt x="0" y="1971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30" name="Shape 28"/>
          <p:cNvSpPr/>
          <p:nvPr/>
        </p:nvSpPr>
        <p:spPr>
          <a:xfrm>
            <a:off x="1520698" y="4651629"/>
            <a:ext cx="44196" cy="2331339"/>
          </a:xfrm>
          <a:custGeom>
            <a:avLst/>
            <a:gdLst/>
            <a:ahLst/>
            <a:cxnLst/>
            <a:rect l="l" t="t" r="r" b="b"/>
            <a:pathLst>
              <a:path w="38100" h="2009775">
                <a:moveTo>
                  <a:pt x="38100" y="0"/>
                </a:moveTo>
                <a:lnTo>
                  <a:pt x="38100" y="0"/>
                </a:lnTo>
                <a:lnTo>
                  <a:pt x="38100" y="2009775"/>
                </a:lnTo>
                <a:lnTo>
                  <a:pt x="38100" y="2009775"/>
                </a:lnTo>
                <a:cubicBezTo>
                  <a:pt x="17072" y="2009775"/>
                  <a:pt x="0" y="1992703"/>
                  <a:pt x="0" y="1971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1" name="Shape 29"/>
          <p:cNvSpPr/>
          <p:nvPr/>
        </p:nvSpPr>
        <p:spPr>
          <a:xfrm>
            <a:off x="1807972" y="4916805"/>
            <a:ext cx="707136" cy="707136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2" name="Text 30"/>
          <p:cNvSpPr/>
          <p:nvPr/>
        </p:nvSpPr>
        <p:spPr>
          <a:xfrm>
            <a:off x="1725105" y="4916805"/>
            <a:ext cx="872871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1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03</a:t>
            </a:r>
            <a:endParaRPr lang="en-US" sz="1856" dirty="0"/>
          </a:p>
        </p:txBody>
      </p:sp>
      <p:sp>
        <p:nvSpPr>
          <p:cNvPr id="33" name="Text 31"/>
          <p:cNvSpPr/>
          <p:nvPr/>
        </p:nvSpPr>
        <p:spPr>
          <a:xfrm>
            <a:off x="2691892" y="4916805"/>
            <a:ext cx="5126736" cy="353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20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新</a:t>
            </a:r>
            <a:r>
              <a:rPr lang="en-US" sz="20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模型迁移与部署方法</a:t>
            </a:r>
            <a:endParaRPr lang="en-US" sz="1856" dirty="0"/>
          </a:p>
        </p:txBody>
      </p:sp>
      <p:sp>
        <p:nvSpPr>
          <p:cNvPr id="34" name="Text 32"/>
          <p:cNvSpPr/>
          <p:nvPr/>
        </p:nvSpPr>
        <p:spPr>
          <a:xfrm>
            <a:off x="2691892" y="5402961"/>
            <a:ext cx="5082540" cy="5745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掌握从HuggingFace/vLLM/SGLang迁移的实用技巧，学习模块化堆叠和模型改写方法，实现快速部署新模型。</a:t>
            </a:r>
            <a:endParaRPr lang="en-US" sz="1856" dirty="0"/>
          </a:p>
        </p:txBody>
      </p:sp>
      <p:sp>
        <p:nvSpPr>
          <p:cNvPr id="35" name="Shape 33"/>
          <p:cNvSpPr/>
          <p:nvPr/>
        </p:nvSpPr>
        <p:spPr>
          <a:xfrm>
            <a:off x="2691892" y="6110097"/>
            <a:ext cx="1281684" cy="309372"/>
          </a:xfrm>
          <a:custGeom>
            <a:avLst/>
            <a:gdLst/>
            <a:ahLst/>
            <a:cxnLst/>
            <a:rect l="l" t="t" r="r" b="b"/>
            <a:pathLst>
              <a:path w="1104900" h="266700">
                <a:moveTo>
                  <a:pt x="38101" y="0"/>
                </a:moveTo>
                <a:lnTo>
                  <a:pt x="1066799" y="0"/>
                </a:lnTo>
                <a:cubicBezTo>
                  <a:pt x="1087842" y="0"/>
                  <a:pt x="1104900" y="17058"/>
                  <a:pt x="1104900" y="38101"/>
                </a:cubicBezTo>
                <a:lnTo>
                  <a:pt x="1104900" y="228599"/>
                </a:lnTo>
                <a:cubicBezTo>
                  <a:pt x="1104900" y="249642"/>
                  <a:pt x="1087842" y="266700"/>
                  <a:pt x="1066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2691892" y="6110097"/>
            <a:ext cx="1359027" cy="309372"/>
          </a:xfrm>
          <a:prstGeom prst="rect">
            <a:avLst/>
          </a:prstGeom>
          <a:noFill/>
        </p:spPr>
        <p:txBody>
          <a:bodyPr wrap="square" lIns="132588" tIns="44196" rIns="132588" bIns="44196" rtlCol="0" anchor="ctr"/>
          <a:lstStyle/>
          <a:p>
            <a:pPr>
              <a:lnSpc>
                <a:spcPct val="120000"/>
              </a:lnSpc>
            </a:pPr>
            <a:r>
              <a:rPr lang="en-US" sz="121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HuggingFace</a:t>
            </a:r>
            <a:endParaRPr lang="en-US" sz="1856" dirty="0"/>
          </a:p>
        </p:txBody>
      </p:sp>
      <p:sp>
        <p:nvSpPr>
          <p:cNvPr id="37" name="Shape 35"/>
          <p:cNvSpPr/>
          <p:nvPr/>
        </p:nvSpPr>
        <p:spPr>
          <a:xfrm>
            <a:off x="4058256" y="6110097"/>
            <a:ext cx="696087" cy="309372"/>
          </a:xfrm>
          <a:custGeom>
            <a:avLst/>
            <a:gdLst/>
            <a:ahLst/>
            <a:cxnLst/>
            <a:rect l="l" t="t" r="r" b="b"/>
            <a:pathLst>
              <a:path w="600075" h="266700">
                <a:moveTo>
                  <a:pt x="38101" y="0"/>
                </a:moveTo>
                <a:lnTo>
                  <a:pt x="561974" y="0"/>
                </a:lnTo>
                <a:cubicBezTo>
                  <a:pt x="583017" y="0"/>
                  <a:pt x="600075" y="17058"/>
                  <a:pt x="600075" y="38101"/>
                </a:cubicBezTo>
                <a:lnTo>
                  <a:pt x="600075" y="228599"/>
                </a:lnTo>
                <a:cubicBezTo>
                  <a:pt x="600075" y="249628"/>
                  <a:pt x="583003" y="266700"/>
                  <a:pt x="5619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4058256" y="6110097"/>
            <a:ext cx="773430" cy="309372"/>
          </a:xfrm>
          <a:prstGeom prst="rect">
            <a:avLst/>
          </a:prstGeom>
          <a:noFill/>
        </p:spPr>
        <p:txBody>
          <a:bodyPr wrap="square" lIns="132588" tIns="44196" rIns="132588" bIns="44196" rtlCol="0" anchor="ctr"/>
          <a:lstStyle/>
          <a:p>
            <a:pPr>
              <a:lnSpc>
                <a:spcPct val="120000"/>
              </a:lnSpc>
            </a:pPr>
            <a:r>
              <a:rPr lang="en-US" sz="121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vLLM</a:t>
            </a:r>
            <a:endParaRPr lang="en-US" sz="1856" dirty="0"/>
          </a:p>
        </p:txBody>
      </p:sp>
      <p:sp>
        <p:nvSpPr>
          <p:cNvPr id="39" name="Shape 37"/>
          <p:cNvSpPr/>
          <p:nvPr/>
        </p:nvSpPr>
        <p:spPr>
          <a:xfrm>
            <a:off x="4844980" y="6110097"/>
            <a:ext cx="850773" cy="309372"/>
          </a:xfrm>
          <a:custGeom>
            <a:avLst/>
            <a:gdLst/>
            <a:ahLst/>
            <a:cxnLst/>
            <a:rect l="l" t="t" r="r" b="b"/>
            <a:pathLst>
              <a:path w="733425" h="266700">
                <a:moveTo>
                  <a:pt x="38101" y="0"/>
                </a:moveTo>
                <a:lnTo>
                  <a:pt x="695324" y="0"/>
                </a:lnTo>
                <a:cubicBezTo>
                  <a:pt x="716367" y="0"/>
                  <a:pt x="733425" y="17058"/>
                  <a:pt x="733425" y="38101"/>
                </a:cubicBezTo>
                <a:lnTo>
                  <a:pt x="733425" y="228599"/>
                </a:lnTo>
                <a:cubicBezTo>
                  <a:pt x="733425" y="249628"/>
                  <a:pt x="716353" y="266700"/>
                  <a:pt x="6953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844980" y="6110097"/>
            <a:ext cx="928116" cy="309372"/>
          </a:xfrm>
          <a:prstGeom prst="rect">
            <a:avLst/>
          </a:prstGeom>
          <a:noFill/>
        </p:spPr>
        <p:txBody>
          <a:bodyPr wrap="square" lIns="132588" tIns="44196" rIns="132588" bIns="44196" rtlCol="0" anchor="ctr"/>
          <a:lstStyle/>
          <a:p>
            <a:pPr>
              <a:lnSpc>
                <a:spcPct val="120000"/>
              </a:lnSpc>
            </a:pPr>
            <a:r>
              <a:rPr lang="en-US" sz="121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SGLang</a:t>
            </a:r>
            <a:endParaRPr lang="en-US" sz="1856" dirty="0"/>
          </a:p>
        </p:txBody>
      </p:sp>
      <p:sp>
        <p:nvSpPr>
          <p:cNvPr id="41" name="Shape 39"/>
          <p:cNvSpPr/>
          <p:nvPr/>
        </p:nvSpPr>
        <p:spPr>
          <a:xfrm>
            <a:off x="8326882" y="4651629"/>
            <a:ext cx="6430518" cy="2331339"/>
          </a:xfrm>
          <a:custGeom>
            <a:avLst/>
            <a:gdLst/>
            <a:ahLst/>
            <a:cxnLst/>
            <a:rect l="l" t="t" r="r" b="b"/>
            <a:pathLst>
              <a:path w="5543550" h="2009775">
                <a:moveTo>
                  <a:pt x="38100" y="0"/>
                </a:moveTo>
                <a:lnTo>
                  <a:pt x="5467359" y="0"/>
                </a:lnTo>
                <a:cubicBezTo>
                  <a:pt x="5509410" y="0"/>
                  <a:pt x="5543550" y="34140"/>
                  <a:pt x="5543550" y="76191"/>
                </a:cubicBezTo>
                <a:lnTo>
                  <a:pt x="5543550" y="1933584"/>
                </a:lnTo>
                <a:cubicBezTo>
                  <a:pt x="5543550" y="1975635"/>
                  <a:pt x="5509410" y="2009775"/>
                  <a:pt x="5467359" y="2009775"/>
                </a:cubicBezTo>
                <a:lnTo>
                  <a:pt x="38100" y="2009775"/>
                </a:lnTo>
                <a:cubicBezTo>
                  <a:pt x="17072" y="2009775"/>
                  <a:pt x="0" y="1992703"/>
                  <a:pt x="0" y="1971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42" name="Shape 40"/>
          <p:cNvSpPr/>
          <p:nvPr/>
        </p:nvSpPr>
        <p:spPr>
          <a:xfrm>
            <a:off x="8326882" y="4651629"/>
            <a:ext cx="44196" cy="2331339"/>
          </a:xfrm>
          <a:custGeom>
            <a:avLst/>
            <a:gdLst/>
            <a:ahLst/>
            <a:cxnLst/>
            <a:rect l="l" t="t" r="r" b="b"/>
            <a:pathLst>
              <a:path w="38100" h="2009775">
                <a:moveTo>
                  <a:pt x="38100" y="0"/>
                </a:moveTo>
                <a:lnTo>
                  <a:pt x="38100" y="0"/>
                </a:lnTo>
                <a:lnTo>
                  <a:pt x="38100" y="2009775"/>
                </a:lnTo>
                <a:lnTo>
                  <a:pt x="38100" y="2009775"/>
                </a:lnTo>
                <a:cubicBezTo>
                  <a:pt x="17072" y="2009775"/>
                  <a:pt x="0" y="1992703"/>
                  <a:pt x="0" y="1971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3" name="Shape 41"/>
          <p:cNvSpPr/>
          <p:nvPr/>
        </p:nvSpPr>
        <p:spPr>
          <a:xfrm>
            <a:off x="8614156" y="4916805"/>
            <a:ext cx="707136" cy="707136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4" name="Text 42"/>
          <p:cNvSpPr/>
          <p:nvPr/>
        </p:nvSpPr>
        <p:spPr>
          <a:xfrm>
            <a:off x="8531289" y="4916805"/>
            <a:ext cx="872871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1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04</a:t>
            </a:r>
            <a:endParaRPr lang="en-US" sz="1856" dirty="0"/>
          </a:p>
        </p:txBody>
      </p:sp>
      <p:sp>
        <p:nvSpPr>
          <p:cNvPr id="45" name="Text 43"/>
          <p:cNvSpPr/>
          <p:nvPr/>
        </p:nvSpPr>
        <p:spPr>
          <a:xfrm>
            <a:off x="9498076" y="4916805"/>
            <a:ext cx="5126736" cy="353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性能瓶颈分析方法</a:t>
            </a:r>
            <a:endParaRPr lang="en-US" sz="1856" dirty="0"/>
          </a:p>
        </p:txBody>
      </p:sp>
      <p:sp>
        <p:nvSpPr>
          <p:cNvPr id="46" name="Text 44"/>
          <p:cNvSpPr/>
          <p:nvPr/>
        </p:nvSpPr>
        <p:spPr>
          <a:xfrm>
            <a:off x="9498076" y="5402961"/>
            <a:ext cx="5082540" cy="5745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建立系统化的性能分析</a:t>
            </a:r>
            <a:r>
              <a:rPr lang="zh-CN" alt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方法</a:t>
            </a: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，区分Host/Device瓶颈，掌握计算/访存/通信三维分析，实现从"能跑"到"跑快"的跨越。</a:t>
            </a:r>
            <a:endParaRPr lang="en-US" sz="1856" dirty="0"/>
          </a:p>
        </p:txBody>
      </p:sp>
      <p:sp>
        <p:nvSpPr>
          <p:cNvPr id="47" name="Shape 45"/>
          <p:cNvSpPr/>
          <p:nvPr/>
        </p:nvSpPr>
        <p:spPr>
          <a:xfrm>
            <a:off x="9498076" y="6110097"/>
            <a:ext cx="939165" cy="309372"/>
          </a:xfrm>
          <a:custGeom>
            <a:avLst/>
            <a:gdLst/>
            <a:ahLst/>
            <a:cxnLst/>
            <a:rect l="l" t="t" r="r" b="b"/>
            <a:pathLst>
              <a:path w="809625" h="266700">
                <a:moveTo>
                  <a:pt x="38101" y="0"/>
                </a:moveTo>
                <a:lnTo>
                  <a:pt x="771524" y="0"/>
                </a:lnTo>
                <a:cubicBezTo>
                  <a:pt x="792567" y="0"/>
                  <a:pt x="809625" y="17058"/>
                  <a:pt x="809625" y="38101"/>
                </a:cubicBezTo>
                <a:lnTo>
                  <a:pt x="809625" y="228599"/>
                </a:lnTo>
                <a:cubicBezTo>
                  <a:pt x="809625" y="249628"/>
                  <a:pt x="792553" y="266700"/>
                  <a:pt x="7715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9498076" y="6110097"/>
            <a:ext cx="1016508" cy="309372"/>
          </a:xfrm>
          <a:prstGeom prst="rect">
            <a:avLst/>
          </a:prstGeom>
          <a:noFill/>
        </p:spPr>
        <p:txBody>
          <a:bodyPr wrap="square" lIns="132588" tIns="44196" rIns="132588" bIns="44196" rtlCol="0" anchor="ctr"/>
          <a:lstStyle/>
          <a:p>
            <a:pPr>
              <a:lnSpc>
                <a:spcPct val="120000"/>
              </a:lnSpc>
            </a:pPr>
            <a:r>
              <a:rPr lang="en-US" sz="121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Profiling</a:t>
            </a:r>
            <a:endParaRPr lang="en-US" sz="1856" dirty="0"/>
          </a:p>
        </p:txBody>
      </p:sp>
      <p:sp>
        <p:nvSpPr>
          <p:cNvPr id="49" name="Shape 47"/>
          <p:cNvSpPr/>
          <p:nvPr/>
        </p:nvSpPr>
        <p:spPr>
          <a:xfrm>
            <a:off x="10520885" y="6110097"/>
            <a:ext cx="1082802" cy="309372"/>
          </a:xfrm>
          <a:custGeom>
            <a:avLst/>
            <a:gdLst/>
            <a:ahLst/>
            <a:cxnLst/>
            <a:rect l="l" t="t" r="r" b="b"/>
            <a:pathLst>
              <a:path w="933450" h="266700">
                <a:moveTo>
                  <a:pt x="38101" y="0"/>
                </a:moveTo>
                <a:lnTo>
                  <a:pt x="895349" y="0"/>
                </a:lnTo>
                <a:cubicBezTo>
                  <a:pt x="916392" y="0"/>
                  <a:pt x="933450" y="17058"/>
                  <a:pt x="933450" y="38101"/>
                </a:cubicBezTo>
                <a:lnTo>
                  <a:pt x="933450" y="228599"/>
                </a:lnTo>
                <a:cubicBezTo>
                  <a:pt x="933450" y="249642"/>
                  <a:pt x="916392" y="266700"/>
                  <a:pt x="895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10520885" y="6110097"/>
            <a:ext cx="1160145" cy="309372"/>
          </a:xfrm>
          <a:prstGeom prst="rect">
            <a:avLst/>
          </a:prstGeom>
          <a:noFill/>
        </p:spPr>
        <p:txBody>
          <a:bodyPr wrap="square" lIns="132588" tIns="44196" rIns="132588" bIns="44196" rtlCol="0" anchor="ctr"/>
          <a:lstStyle/>
          <a:p>
            <a:pPr>
              <a:lnSpc>
                <a:spcPct val="120000"/>
              </a:lnSpc>
            </a:pPr>
            <a:r>
              <a:rPr lang="en-US" sz="121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Bottleneck</a:t>
            </a:r>
            <a:endParaRPr lang="en-US" sz="1856" dirty="0"/>
          </a:p>
        </p:txBody>
      </p:sp>
      <p:sp>
        <p:nvSpPr>
          <p:cNvPr id="51" name="Shape 49"/>
          <p:cNvSpPr/>
          <p:nvPr/>
        </p:nvSpPr>
        <p:spPr>
          <a:xfrm>
            <a:off x="11697000" y="6110097"/>
            <a:ext cx="1270635" cy="309372"/>
          </a:xfrm>
          <a:custGeom>
            <a:avLst/>
            <a:gdLst/>
            <a:ahLst/>
            <a:cxnLst/>
            <a:rect l="l" t="t" r="r" b="b"/>
            <a:pathLst>
              <a:path w="1095375" h="266700">
                <a:moveTo>
                  <a:pt x="38101" y="0"/>
                </a:moveTo>
                <a:lnTo>
                  <a:pt x="1057274" y="0"/>
                </a:lnTo>
                <a:cubicBezTo>
                  <a:pt x="1078317" y="0"/>
                  <a:pt x="1095375" y="17058"/>
                  <a:pt x="1095375" y="38101"/>
                </a:cubicBezTo>
                <a:lnTo>
                  <a:pt x="1095375" y="228599"/>
                </a:lnTo>
                <a:cubicBezTo>
                  <a:pt x="1095375" y="249642"/>
                  <a:pt x="1078317" y="266700"/>
                  <a:pt x="10572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2" name="Text 50"/>
          <p:cNvSpPr/>
          <p:nvPr/>
        </p:nvSpPr>
        <p:spPr>
          <a:xfrm>
            <a:off x="11697000" y="6110097"/>
            <a:ext cx="1347978" cy="309372"/>
          </a:xfrm>
          <a:prstGeom prst="rect">
            <a:avLst/>
          </a:prstGeom>
          <a:noFill/>
        </p:spPr>
        <p:txBody>
          <a:bodyPr wrap="square" lIns="132588" tIns="44196" rIns="132588" bIns="44196" rtlCol="0" anchor="ctr"/>
          <a:lstStyle/>
          <a:p>
            <a:pPr>
              <a:lnSpc>
                <a:spcPct val="120000"/>
              </a:lnSpc>
            </a:pPr>
            <a:r>
              <a:rPr lang="en-US" sz="121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Optimization</a:t>
            </a:r>
            <a:endParaRPr lang="en-US" sz="1856" dirty="0"/>
          </a:p>
        </p:txBody>
      </p:sp>
      <p:sp>
        <p:nvSpPr>
          <p:cNvPr id="53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54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dirty="0"/>
          </a:p>
        </p:txBody>
      </p:sp>
      <p:pic>
        <p:nvPicPr>
          <p:cNvPr id="55" name="CANN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1498600" y="1023413"/>
            <a:ext cx="2364486" cy="618744"/>
          </a:xfrm>
          <a:custGeom>
            <a:avLst/>
            <a:gdLst/>
            <a:ahLst/>
            <a:cxnLst/>
            <a:rect l="l" t="t" r="r" b="b"/>
            <a:pathLst>
              <a:path w="2038350" h="533400">
                <a:moveTo>
                  <a:pt x="0" y="0"/>
                </a:moveTo>
                <a:lnTo>
                  <a:pt x="2038350" y="0"/>
                </a:lnTo>
                <a:lnTo>
                  <a:pt x="203835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5" name="Text 2"/>
          <p:cNvSpPr/>
          <p:nvPr/>
        </p:nvSpPr>
        <p:spPr>
          <a:xfrm>
            <a:off x="1498600" y="1023413"/>
            <a:ext cx="2497074" cy="618744"/>
          </a:xfrm>
          <a:prstGeom prst="rect">
            <a:avLst/>
          </a:prstGeom>
          <a:noFill/>
        </p:spPr>
        <p:txBody>
          <a:bodyPr wrap="square" lIns="265176" tIns="132588" rIns="265176" bIns="132588" rtlCol="0" anchor="ctr"/>
          <a:lstStyle/>
          <a:p>
            <a:pPr>
              <a:lnSpc>
                <a:spcPct val="110000"/>
              </a:lnSpc>
            </a:pPr>
            <a:r>
              <a:rPr lang="en-US" sz="2088" b="1" kern="0" spc="90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CHAPTER 01</a:t>
            </a:r>
            <a:endParaRPr lang="en-US" sz="1856" dirty="0"/>
          </a:p>
        </p:txBody>
      </p:sp>
      <p:sp>
        <p:nvSpPr>
          <p:cNvPr id="6" name="Text 3"/>
          <p:cNvSpPr/>
          <p:nvPr/>
        </p:nvSpPr>
        <p:spPr>
          <a:xfrm>
            <a:off x="1498600" y="1995725"/>
            <a:ext cx="7767447" cy="1988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26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LLM核心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zh-CN" altLang="en-US" sz="626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结</a:t>
            </a:r>
            <a:r>
              <a:rPr lang="en-US" sz="626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构解析</a:t>
            </a:r>
            <a:endParaRPr lang="en-US" sz="1856" dirty="0"/>
          </a:p>
        </p:txBody>
      </p:sp>
      <p:sp>
        <p:nvSpPr>
          <p:cNvPr id="7" name="Text 4"/>
          <p:cNvSpPr/>
          <p:nvPr/>
        </p:nvSpPr>
        <p:spPr>
          <a:xfrm>
            <a:off x="1498600" y="4338113"/>
            <a:ext cx="7535418" cy="5414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10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深入理解Transformer架构的关键</a:t>
            </a:r>
            <a:r>
              <a:rPr lang="zh-CN" altLang="en-US" sz="2610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结构</a:t>
            </a:r>
            <a:endParaRPr lang="en-US" sz="1856" dirty="0"/>
          </a:p>
        </p:txBody>
      </p:sp>
      <p:sp>
        <p:nvSpPr>
          <p:cNvPr id="8" name="Shape 5"/>
          <p:cNvSpPr/>
          <p:nvPr/>
        </p:nvSpPr>
        <p:spPr>
          <a:xfrm>
            <a:off x="1520698" y="5407105"/>
            <a:ext cx="1624203" cy="1524762"/>
          </a:xfrm>
          <a:custGeom>
            <a:avLst/>
            <a:gdLst/>
            <a:ahLst/>
            <a:cxnLst/>
            <a:rect l="l" t="t" r="r" b="b"/>
            <a:pathLst>
              <a:path w="1400175" h="1314450">
                <a:moveTo>
                  <a:pt x="38100" y="0"/>
                </a:moveTo>
                <a:lnTo>
                  <a:pt x="1323976" y="0"/>
                </a:lnTo>
                <a:cubicBezTo>
                  <a:pt x="1366060" y="0"/>
                  <a:pt x="1400175" y="34115"/>
                  <a:pt x="1400175" y="76199"/>
                </a:cubicBezTo>
                <a:lnTo>
                  <a:pt x="1400175" y="1238251"/>
                </a:lnTo>
                <a:cubicBezTo>
                  <a:pt x="1400175" y="1280335"/>
                  <a:pt x="1366060" y="1314450"/>
                  <a:pt x="1323976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1520698" y="5407105"/>
            <a:ext cx="44196" cy="1524762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0" name="Shape 7"/>
          <p:cNvSpPr/>
          <p:nvPr/>
        </p:nvSpPr>
        <p:spPr>
          <a:xfrm>
            <a:off x="1807972" y="5628085"/>
            <a:ext cx="331470" cy="33147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" name="Text 8"/>
          <p:cNvSpPr/>
          <p:nvPr/>
        </p:nvSpPr>
        <p:spPr>
          <a:xfrm>
            <a:off x="1763776" y="6092143"/>
            <a:ext cx="1259586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Embedding</a:t>
            </a:r>
            <a:endParaRPr lang="en-US" sz="1856" dirty="0"/>
          </a:p>
        </p:txBody>
      </p:sp>
      <p:sp>
        <p:nvSpPr>
          <p:cNvPr id="12" name="Text 9"/>
          <p:cNvSpPr/>
          <p:nvPr/>
        </p:nvSpPr>
        <p:spPr>
          <a:xfrm>
            <a:off x="1763776" y="6445711"/>
            <a:ext cx="1248537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Token向量化</a:t>
            </a:r>
            <a:endParaRPr lang="en-US" sz="1856" dirty="0"/>
          </a:p>
        </p:txBody>
      </p:sp>
      <p:sp>
        <p:nvSpPr>
          <p:cNvPr id="13" name="Shape 10"/>
          <p:cNvSpPr/>
          <p:nvPr/>
        </p:nvSpPr>
        <p:spPr>
          <a:xfrm>
            <a:off x="3430017" y="5407105"/>
            <a:ext cx="1624203" cy="1524762"/>
          </a:xfrm>
          <a:custGeom>
            <a:avLst/>
            <a:gdLst/>
            <a:ahLst/>
            <a:cxnLst/>
            <a:rect l="l" t="t" r="r" b="b"/>
            <a:pathLst>
              <a:path w="1400175" h="1314450">
                <a:moveTo>
                  <a:pt x="38100" y="0"/>
                </a:moveTo>
                <a:lnTo>
                  <a:pt x="1323976" y="0"/>
                </a:lnTo>
                <a:cubicBezTo>
                  <a:pt x="1366060" y="0"/>
                  <a:pt x="1400175" y="34115"/>
                  <a:pt x="1400175" y="76199"/>
                </a:cubicBezTo>
                <a:lnTo>
                  <a:pt x="1400175" y="1238251"/>
                </a:lnTo>
                <a:cubicBezTo>
                  <a:pt x="1400175" y="1280335"/>
                  <a:pt x="1366060" y="1314450"/>
                  <a:pt x="1323976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3430017" y="5407105"/>
            <a:ext cx="44196" cy="1524762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5" name="Shape 12"/>
          <p:cNvSpPr/>
          <p:nvPr/>
        </p:nvSpPr>
        <p:spPr>
          <a:xfrm>
            <a:off x="3717291" y="5628085"/>
            <a:ext cx="331470" cy="33147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16" name="Text 13"/>
          <p:cNvSpPr/>
          <p:nvPr/>
        </p:nvSpPr>
        <p:spPr>
          <a:xfrm>
            <a:off x="3673095" y="6092143"/>
            <a:ext cx="1259586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Attention</a:t>
            </a:r>
            <a:endParaRPr lang="en-US" sz="1856" dirty="0"/>
          </a:p>
        </p:txBody>
      </p:sp>
      <p:sp>
        <p:nvSpPr>
          <p:cNvPr id="17" name="Text 14"/>
          <p:cNvSpPr/>
          <p:nvPr/>
        </p:nvSpPr>
        <p:spPr>
          <a:xfrm>
            <a:off x="3673095" y="6445711"/>
            <a:ext cx="1248537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注意力机制</a:t>
            </a:r>
            <a:endParaRPr lang="en-US" sz="1856" dirty="0"/>
          </a:p>
        </p:txBody>
      </p:sp>
      <p:sp>
        <p:nvSpPr>
          <p:cNvPr id="18" name="Shape 15"/>
          <p:cNvSpPr/>
          <p:nvPr/>
        </p:nvSpPr>
        <p:spPr>
          <a:xfrm>
            <a:off x="5339423" y="5407105"/>
            <a:ext cx="1624203" cy="1524762"/>
          </a:xfrm>
          <a:custGeom>
            <a:avLst/>
            <a:gdLst/>
            <a:ahLst/>
            <a:cxnLst/>
            <a:rect l="l" t="t" r="r" b="b"/>
            <a:pathLst>
              <a:path w="1400175" h="1314450">
                <a:moveTo>
                  <a:pt x="38100" y="0"/>
                </a:moveTo>
                <a:lnTo>
                  <a:pt x="1323976" y="0"/>
                </a:lnTo>
                <a:cubicBezTo>
                  <a:pt x="1366060" y="0"/>
                  <a:pt x="1400175" y="34115"/>
                  <a:pt x="1400175" y="76199"/>
                </a:cubicBezTo>
                <a:lnTo>
                  <a:pt x="1400175" y="1238251"/>
                </a:lnTo>
                <a:cubicBezTo>
                  <a:pt x="1400175" y="1280335"/>
                  <a:pt x="1366060" y="1314450"/>
                  <a:pt x="1323976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5339423" y="5407105"/>
            <a:ext cx="44196" cy="1524762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0" name="Shape 17"/>
          <p:cNvSpPr/>
          <p:nvPr/>
        </p:nvSpPr>
        <p:spPr>
          <a:xfrm>
            <a:off x="5605979" y="5628085"/>
            <a:ext cx="372904" cy="33147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38410" y="49113"/>
                </a:moveTo>
                <a:lnTo>
                  <a:pt x="183059" y="49113"/>
                </a:lnTo>
                <a:lnTo>
                  <a:pt x="183059" y="75902"/>
                </a:lnTo>
                <a:lnTo>
                  <a:pt x="138410" y="75902"/>
                </a:lnTo>
                <a:lnTo>
                  <a:pt x="138410" y="49113"/>
                </a:lnTo>
                <a:close/>
                <a:moveTo>
                  <a:pt x="133945" y="17859"/>
                </a:moveTo>
                <a:cubicBezTo>
                  <a:pt x="119156" y="17859"/>
                  <a:pt x="107156" y="29859"/>
                  <a:pt x="107156" y="44648"/>
                </a:cubicBezTo>
                <a:lnTo>
                  <a:pt x="107156" y="80367"/>
                </a:lnTo>
                <a:cubicBezTo>
                  <a:pt x="107156" y="95157"/>
                  <a:pt x="119156" y="107156"/>
                  <a:pt x="133945" y="107156"/>
                </a:cubicBezTo>
                <a:lnTo>
                  <a:pt x="142875" y="107156"/>
                </a:lnTo>
                <a:lnTo>
                  <a:pt x="142875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71438" y="160734"/>
                </a:lnTo>
                <a:lnTo>
                  <a:pt x="71438" y="178594"/>
                </a:lnTo>
                <a:lnTo>
                  <a:pt x="62508" y="178594"/>
                </a:lnTo>
                <a:cubicBezTo>
                  <a:pt x="47718" y="178594"/>
                  <a:pt x="35719" y="190593"/>
                  <a:pt x="35719" y="205383"/>
                </a:cubicBezTo>
                <a:lnTo>
                  <a:pt x="35719" y="241102"/>
                </a:lnTo>
                <a:cubicBezTo>
                  <a:pt x="35719" y="255891"/>
                  <a:pt x="47718" y="267891"/>
                  <a:pt x="62508" y="267891"/>
                </a:cubicBezTo>
                <a:lnTo>
                  <a:pt x="116086" y="267891"/>
                </a:lnTo>
                <a:cubicBezTo>
                  <a:pt x="130876" y="267891"/>
                  <a:pt x="142875" y="255891"/>
                  <a:pt x="142875" y="241102"/>
                </a:cubicBezTo>
                <a:lnTo>
                  <a:pt x="142875" y="205383"/>
                </a:lnTo>
                <a:cubicBezTo>
                  <a:pt x="142875" y="190593"/>
                  <a:pt x="130876" y="178594"/>
                  <a:pt x="116086" y="178594"/>
                </a:cubicBezTo>
                <a:lnTo>
                  <a:pt x="107156" y="178594"/>
                </a:lnTo>
                <a:lnTo>
                  <a:pt x="107156" y="160734"/>
                </a:lnTo>
                <a:lnTo>
                  <a:pt x="214313" y="160734"/>
                </a:lnTo>
                <a:lnTo>
                  <a:pt x="214313" y="178594"/>
                </a:lnTo>
                <a:lnTo>
                  <a:pt x="205383" y="178594"/>
                </a:lnTo>
                <a:cubicBezTo>
                  <a:pt x="190593" y="178594"/>
                  <a:pt x="178594" y="190593"/>
                  <a:pt x="178594" y="205383"/>
                </a:cubicBezTo>
                <a:lnTo>
                  <a:pt x="178594" y="241102"/>
                </a:lnTo>
                <a:cubicBezTo>
                  <a:pt x="178594" y="255891"/>
                  <a:pt x="190593" y="267891"/>
                  <a:pt x="205383" y="267891"/>
                </a:cubicBezTo>
                <a:lnTo>
                  <a:pt x="258961" y="267891"/>
                </a:lnTo>
                <a:cubicBezTo>
                  <a:pt x="273751" y="267891"/>
                  <a:pt x="285750" y="255891"/>
                  <a:pt x="285750" y="241102"/>
                </a:cubicBezTo>
                <a:lnTo>
                  <a:pt x="285750" y="205383"/>
                </a:lnTo>
                <a:cubicBezTo>
                  <a:pt x="285750" y="190593"/>
                  <a:pt x="273751" y="178594"/>
                  <a:pt x="258961" y="178594"/>
                </a:cubicBezTo>
                <a:lnTo>
                  <a:pt x="250031" y="178594"/>
                </a:lnTo>
                <a:lnTo>
                  <a:pt x="250031" y="160734"/>
                </a:lnTo>
                <a:lnTo>
                  <a:pt x="303609" y="160734"/>
                </a:lnTo>
                <a:cubicBezTo>
                  <a:pt x="313488" y="160734"/>
                  <a:pt x="321469" y="152753"/>
                  <a:pt x="321469" y="142875"/>
                </a:cubicBezTo>
                <a:cubicBezTo>
                  <a:pt x="321469" y="132997"/>
                  <a:pt x="313488" y="125016"/>
                  <a:pt x="303609" y="125016"/>
                </a:cubicBezTo>
                <a:lnTo>
                  <a:pt x="178594" y="125016"/>
                </a:lnTo>
                <a:lnTo>
                  <a:pt x="178594" y="107156"/>
                </a:lnTo>
                <a:lnTo>
                  <a:pt x="187523" y="107156"/>
                </a:lnTo>
                <a:cubicBezTo>
                  <a:pt x="202313" y="107156"/>
                  <a:pt x="214313" y="95157"/>
                  <a:pt x="214313" y="80367"/>
                </a:cubicBezTo>
                <a:lnTo>
                  <a:pt x="214313" y="44648"/>
                </a:lnTo>
                <a:cubicBezTo>
                  <a:pt x="214313" y="29859"/>
                  <a:pt x="202313" y="17859"/>
                  <a:pt x="187523" y="17859"/>
                </a:cubicBezTo>
                <a:lnTo>
                  <a:pt x="133945" y="17859"/>
                </a:lnTo>
                <a:close/>
                <a:moveTo>
                  <a:pt x="250031" y="209848"/>
                </a:moveTo>
                <a:lnTo>
                  <a:pt x="254496" y="209848"/>
                </a:lnTo>
                <a:lnTo>
                  <a:pt x="254496" y="236637"/>
                </a:lnTo>
                <a:lnTo>
                  <a:pt x="209848" y="236637"/>
                </a:lnTo>
                <a:lnTo>
                  <a:pt x="209848" y="209848"/>
                </a:lnTo>
                <a:lnTo>
                  <a:pt x="250031" y="209848"/>
                </a:lnTo>
                <a:close/>
                <a:moveTo>
                  <a:pt x="107156" y="209848"/>
                </a:moveTo>
                <a:lnTo>
                  <a:pt x="111621" y="209848"/>
                </a:lnTo>
                <a:lnTo>
                  <a:pt x="111621" y="236637"/>
                </a:lnTo>
                <a:lnTo>
                  <a:pt x="66973" y="236637"/>
                </a:lnTo>
                <a:lnTo>
                  <a:pt x="66973" y="209848"/>
                </a:lnTo>
                <a:lnTo>
                  <a:pt x="107156" y="20984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21" name="Text 18"/>
          <p:cNvSpPr/>
          <p:nvPr/>
        </p:nvSpPr>
        <p:spPr>
          <a:xfrm>
            <a:off x="5582501" y="6092143"/>
            <a:ext cx="1259586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MOE/FFN</a:t>
            </a:r>
            <a:endParaRPr lang="en-US" sz="1856" dirty="0"/>
          </a:p>
        </p:txBody>
      </p:sp>
      <p:sp>
        <p:nvSpPr>
          <p:cNvPr id="22" name="Text 19"/>
          <p:cNvSpPr/>
          <p:nvPr/>
        </p:nvSpPr>
        <p:spPr>
          <a:xfrm>
            <a:off x="5582501" y="6445711"/>
            <a:ext cx="1248537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前馈网络</a:t>
            </a:r>
            <a:endParaRPr lang="en-US" sz="1856" dirty="0"/>
          </a:p>
        </p:txBody>
      </p:sp>
      <p:sp>
        <p:nvSpPr>
          <p:cNvPr id="23" name="Shape 20"/>
          <p:cNvSpPr/>
          <p:nvPr/>
        </p:nvSpPr>
        <p:spPr>
          <a:xfrm>
            <a:off x="7248741" y="5407105"/>
            <a:ext cx="1624203" cy="1524762"/>
          </a:xfrm>
          <a:custGeom>
            <a:avLst/>
            <a:gdLst/>
            <a:ahLst/>
            <a:cxnLst/>
            <a:rect l="l" t="t" r="r" b="b"/>
            <a:pathLst>
              <a:path w="1400175" h="1314450">
                <a:moveTo>
                  <a:pt x="38100" y="0"/>
                </a:moveTo>
                <a:lnTo>
                  <a:pt x="1323976" y="0"/>
                </a:lnTo>
                <a:cubicBezTo>
                  <a:pt x="1366060" y="0"/>
                  <a:pt x="1400175" y="34115"/>
                  <a:pt x="1400175" y="76199"/>
                </a:cubicBezTo>
                <a:lnTo>
                  <a:pt x="1400175" y="1238251"/>
                </a:lnTo>
                <a:cubicBezTo>
                  <a:pt x="1400175" y="1280335"/>
                  <a:pt x="1366060" y="1314450"/>
                  <a:pt x="1323976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7248741" y="5407105"/>
            <a:ext cx="44196" cy="1524762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5" name="Shape 22"/>
          <p:cNvSpPr/>
          <p:nvPr/>
        </p:nvSpPr>
        <p:spPr>
          <a:xfrm>
            <a:off x="7536015" y="5628085"/>
            <a:ext cx="331470" cy="33147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6" name="Text 23"/>
          <p:cNvSpPr/>
          <p:nvPr/>
        </p:nvSpPr>
        <p:spPr>
          <a:xfrm>
            <a:off x="7491819" y="6092143"/>
            <a:ext cx="1259586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LMHead</a:t>
            </a:r>
            <a:endParaRPr lang="en-US" sz="1856" dirty="0"/>
          </a:p>
        </p:txBody>
      </p:sp>
      <p:sp>
        <p:nvSpPr>
          <p:cNvPr id="27" name="Text 24"/>
          <p:cNvSpPr/>
          <p:nvPr/>
        </p:nvSpPr>
        <p:spPr>
          <a:xfrm>
            <a:off x="7491819" y="6445711"/>
            <a:ext cx="1248537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输出预测</a:t>
            </a:r>
            <a:endParaRPr lang="en-US" sz="1856" dirty="0"/>
          </a:p>
        </p:txBody>
      </p:sp>
      <p:sp>
        <p:nvSpPr>
          <p:cNvPr id="28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29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dirty="0"/>
          </a:p>
        </p:txBody>
      </p:sp>
      <p:pic>
        <p:nvPicPr>
          <p:cNvPr id="30" name="CANN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940" y="368300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" name="Text 1"/>
          <p:cNvSpPr/>
          <p:nvPr/>
        </p:nvSpPr>
        <p:spPr>
          <a:xfrm>
            <a:off x="1383506" y="368300"/>
            <a:ext cx="451168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1.1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1903730" y="368300"/>
            <a:ext cx="2909570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LLM基本结构概览</a:t>
            </a:r>
            <a:endParaRPr lang="en-US" sz="1856" dirty="0"/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467164" y="816889"/>
            <a:ext cx="9321673" cy="6913728"/>
          </a:xfrm>
          <a:prstGeom prst="rect">
            <a:avLst/>
          </a:prstGeom>
        </p:spPr>
      </p:pic>
      <p:sp>
        <p:nvSpPr>
          <p:cNvPr id="87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88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dirty="0"/>
          </a:p>
        </p:txBody>
      </p:sp>
      <p:pic>
        <p:nvPicPr>
          <p:cNvPr id="89" name="CANN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940" y="368300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" name="Text 1"/>
          <p:cNvSpPr/>
          <p:nvPr/>
        </p:nvSpPr>
        <p:spPr>
          <a:xfrm>
            <a:off x="1383506" y="368300"/>
            <a:ext cx="451168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1.1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1903730" y="368300"/>
            <a:ext cx="2909570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LLM基本结构概览</a:t>
            </a:r>
            <a:endParaRPr lang="en-US" sz="1856" dirty="0"/>
          </a:p>
        </p:txBody>
      </p:sp>
      <p:sp>
        <p:nvSpPr>
          <p:cNvPr id="6" name="Shape 4"/>
          <p:cNvSpPr/>
          <p:nvPr/>
        </p:nvSpPr>
        <p:spPr>
          <a:xfrm>
            <a:off x="1424940" y="1134364"/>
            <a:ext cx="6703060" cy="6652235"/>
          </a:xfrm>
          <a:custGeom>
            <a:avLst/>
            <a:gdLst/>
            <a:ahLst/>
            <a:cxnLst/>
            <a:rect l="l" t="t" r="r" b="b"/>
            <a:pathLst>
              <a:path w="6969125" h="6365875">
                <a:moveTo>
                  <a:pt x="63531" y="0"/>
                </a:moveTo>
                <a:lnTo>
                  <a:pt x="6905594" y="0"/>
                </a:lnTo>
                <a:cubicBezTo>
                  <a:pt x="6940681" y="0"/>
                  <a:pt x="6969125" y="28444"/>
                  <a:pt x="6969125" y="63531"/>
                </a:cubicBezTo>
                <a:lnTo>
                  <a:pt x="6969125" y="6302344"/>
                </a:lnTo>
                <a:cubicBezTo>
                  <a:pt x="6969125" y="6337431"/>
                  <a:pt x="6940681" y="6365875"/>
                  <a:pt x="6905594" y="6365875"/>
                </a:cubicBezTo>
                <a:lnTo>
                  <a:pt x="63531" y="6365875"/>
                </a:lnTo>
                <a:cubicBezTo>
                  <a:pt x="28444" y="6365875"/>
                  <a:pt x="0" y="6337431"/>
                  <a:pt x="0" y="6302344"/>
                </a:cubicBezTo>
                <a:lnTo>
                  <a:pt x="0" y="63531"/>
                </a:lnTo>
                <a:cubicBezTo>
                  <a:pt x="0" y="28467"/>
                  <a:pt x="28467" y="0"/>
                  <a:pt x="63531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7" name="Shape 5"/>
          <p:cNvSpPr/>
          <p:nvPr/>
        </p:nvSpPr>
        <p:spPr>
          <a:xfrm>
            <a:off x="1668939" y="1392174"/>
            <a:ext cx="184150" cy="1841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9531" y="19844"/>
                </a:moveTo>
                <a:cubicBezTo>
                  <a:pt x="59531" y="14356"/>
                  <a:pt x="63965" y="9922"/>
                  <a:pt x="69453" y="9922"/>
                </a:cubicBezTo>
                <a:lnTo>
                  <a:pt x="89297" y="9922"/>
                </a:lnTo>
                <a:cubicBezTo>
                  <a:pt x="94785" y="9922"/>
                  <a:pt x="99219" y="14356"/>
                  <a:pt x="99219" y="19844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86816" y="49609"/>
                </a:lnTo>
                <a:lnTo>
                  <a:pt x="86816" y="69453"/>
                </a:lnTo>
                <a:lnTo>
                  <a:pt x="124023" y="69453"/>
                </a:lnTo>
                <a:cubicBezTo>
                  <a:pt x="136364" y="69453"/>
                  <a:pt x="146348" y="79437"/>
                  <a:pt x="146348" y="91777"/>
                </a:cubicBezTo>
                <a:lnTo>
                  <a:pt x="146348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lnTo>
                  <a:pt x="158750" y="138906"/>
                </a:lnTo>
                <a:cubicBezTo>
                  <a:pt x="158750" y="144394"/>
                  <a:pt x="154316" y="148828"/>
                  <a:pt x="148828" y="148828"/>
                </a:cubicBezTo>
                <a:lnTo>
                  <a:pt x="128984" y="148828"/>
                </a:lnTo>
                <a:cubicBezTo>
                  <a:pt x="123496" y="148828"/>
                  <a:pt x="119062" y="144394"/>
                  <a:pt x="119062" y="138906"/>
                </a:cubicBezTo>
                <a:lnTo>
                  <a:pt x="119062" y="119062"/>
                </a:lnTo>
                <a:cubicBezTo>
                  <a:pt x="119062" y="113574"/>
                  <a:pt x="123496" y="109141"/>
                  <a:pt x="128984" y="109141"/>
                </a:cubicBezTo>
                <a:lnTo>
                  <a:pt x="131465" y="109141"/>
                </a:lnTo>
                <a:lnTo>
                  <a:pt x="131465" y="91777"/>
                </a:lnTo>
                <a:cubicBezTo>
                  <a:pt x="131465" y="87654"/>
                  <a:pt x="128147" y="84336"/>
                  <a:pt x="124023" y="84336"/>
                </a:cubicBezTo>
                <a:lnTo>
                  <a:pt x="86816" y="84336"/>
                </a:lnTo>
                <a:lnTo>
                  <a:pt x="86816" y="109141"/>
                </a:lnTo>
                <a:lnTo>
                  <a:pt x="89297" y="109141"/>
                </a:lnTo>
                <a:cubicBezTo>
                  <a:pt x="94785" y="109141"/>
                  <a:pt x="99219" y="113574"/>
                  <a:pt x="99219" y="119062"/>
                </a:cubicBezTo>
                <a:lnTo>
                  <a:pt x="99219" y="138906"/>
                </a:lnTo>
                <a:cubicBezTo>
                  <a:pt x="99219" y="144394"/>
                  <a:pt x="94785" y="148828"/>
                  <a:pt x="89297" y="148828"/>
                </a:cubicBezTo>
                <a:lnTo>
                  <a:pt x="69453" y="148828"/>
                </a:lnTo>
                <a:cubicBezTo>
                  <a:pt x="63965" y="148828"/>
                  <a:pt x="59531" y="144394"/>
                  <a:pt x="59531" y="138906"/>
                </a:cubicBezTo>
                <a:lnTo>
                  <a:pt x="59531" y="119062"/>
                </a:lnTo>
                <a:cubicBezTo>
                  <a:pt x="59531" y="113574"/>
                  <a:pt x="63965" y="109141"/>
                  <a:pt x="69453" y="109141"/>
                </a:cubicBezTo>
                <a:lnTo>
                  <a:pt x="71934" y="109141"/>
                </a:lnTo>
                <a:lnTo>
                  <a:pt x="71934" y="84336"/>
                </a:lnTo>
                <a:lnTo>
                  <a:pt x="34727" y="84336"/>
                </a:lnTo>
                <a:cubicBezTo>
                  <a:pt x="30603" y="84336"/>
                  <a:pt x="27285" y="87654"/>
                  <a:pt x="27285" y="91777"/>
                </a:cubicBezTo>
                <a:lnTo>
                  <a:pt x="27285" y="109141"/>
                </a:lnTo>
                <a:lnTo>
                  <a:pt x="29766" y="109141"/>
                </a:lnTo>
                <a:cubicBezTo>
                  <a:pt x="35254" y="109141"/>
                  <a:pt x="39688" y="113574"/>
                  <a:pt x="39688" y="119062"/>
                </a:cubicBezTo>
                <a:lnTo>
                  <a:pt x="39688" y="138906"/>
                </a:lnTo>
                <a:cubicBezTo>
                  <a:pt x="39688" y="144394"/>
                  <a:pt x="35254" y="148828"/>
                  <a:pt x="29766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19062"/>
                </a:lnTo>
                <a:cubicBezTo>
                  <a:pt x="0" y="113574"/>
                  <a:pt x="4434" y="109141"/>
                  <a:pt x="9922" y="109141"/>
                </a:cubicBezTo>
                <a:lnTo>
                  <a:pt x="12402" y="109141"/>
                </a:lnTo>
                <a:lnTo>
                  <a:pt x="12402" y="91777"/>
                </a:lnTo>
                <a:cubicBezTo>
                  <a:pt x="12402" y="79437"/>
                  <a:pt x="22386" y="69453"/>
                  <a:pt x="34727" y="69453"/>
                </a:cubicBezTo>
                <a:lnTo>
                  <a:pt x="71934" y="69453"/>
                </a:lnTo>
                <a:lnTo>
                  <a:pt x="71934" y="49609"/>
                </a:lnTo>
                <a:lnTo>
                  <a:pt x="69453" y="49609"/>
                </a:lnTo>
                <a:cubicBezTo>
                  <a:pt x="63965" y="49609"/>
                  <a:pt x="59531" y="45176"/>
                  <a:pt x="59531" y="39688"/>
                </a:cubicBezTo>
                <a:lnTo>
                  <a:pt x="59531" y="19844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8" name="Text 6"/>
          <p:cNvSpPr/>
          <p:nvPr/>
        </p:nvSpPr>
        <p:spPr>
          <a:xfrm>
            <a:off x="1876108" y="1355344"/>
            <a:ext cx="7504113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典型Decoder-only架构数据流</a:t>
            </a:r>
            <a:endParaRPr lang="en-US" sz="1856" dirty="0"/>
          </a:p>
        </p:txBody>
      </p:sp>
      <p:sp>
        <p:nvSpPr>
          <p:cNvPr id="9" name="Shape 7"/>
          <p:cNvSpPr/>
          <p:nvPr/>
        </p:nvSpPr>
        <p:spPr>
          <a:xfrm>
            <a:off x="1645920" y="1797304"/>
            <a:ext cx="515620" cy="51562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0" name="Shape 8"/>
          <p:cNvSpPr/>
          <p:nvPr/>
        </p:nvSpPr>
        <p:spPr>
          <a:xfrm>
            <a:off x="1807051" y="1944624"/>
            <a:ext cx="193358" cy="22098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23812"/>
                </a:moveTo>
                <a:cubicBezTo>
                  <a:pt x="107156" y="30398"/>
                  <a:pt x="101836" y="35719"/>
                  <a:pt x="95250" y="35719"/>
                </a:cubicBezTo>
                <a:lnTo>
                  <a:pt x="11906" y="35719"/>
                </a:lnTo>
                <a:cubicBezTo>
                  <a:pt x="5321" y="35719"/>
                  <a:pt x="0" y="30398"/>
                  <a:pt x="0" y="23812"/>
                </a:cubicBezTo>
                <a:cubicBezTo>
                  <a:pt x="0" y="17227"/>
                  <a:pt x="5321" y="11906"/>
                  <a:pt x="11906" y="11906"/>
                </a:cubicBezTo>
                <a:lnTo>
                  <a:pt x="95250" y="11906"/>
                </a:lnTo>
                <a:cubicBezTo>
                  <a:pt x="101836" y="11906"/>
                  <a:pt x="107156" y="17227"/>
                  <a:pt x="107156" y="23812"/>
                </a:cubicBezTo>
                <a:close/>
                <a:moveTo>
                  <a:pt x="107156" y="119063"/>
                </a:moveTo>
                <a:cubicBezTo>
                  <a:pt x="107156" y="125648"/>
                  <a:pt x="101836" y="130969"/>
                  <a:pt x="95250" y="130969"/>
                </a:cubicBezTo>
                <a:lnTo>
                  <a:pt x="11906" y="130969"/>
                </a:lnTo>
                <a:cubicBezTo>
                  <a:pt x="5321" y="130969"/>
                  <a:pt x="0" y="125648"/>
                  <a:pt x="0" y="119063"/>
                </a:cubicBezTo>
                <a:cubicBezTo>
                  <a:pt x="0" y="112477"/>
                  <a:pt x="5321" y="107156"/>
                  <a:pt x="11906" y="107156"/>
                </a:cubicBezTo>
                <a:lnTo>
                  <a:pt x="95250" y="107156"/>
                </a:lnTo>
                <a:cubicBezTo>
                  <a:pt x="101836" y="107156"/>
                  <a:pt x="107156" y="112477"/>
                  <a:pt x="107156" y="119063"/>
                </a:cubicBezTo>
                <a:close/>
                <a:moveTo>
                  <a:pt x="0" y="71438"/>
                </a:moveTo>
                <a:cubicBezTo>
                  <a:pt x="0" y="64852"/>
                  <a:pt x="5321" y="59531"/>
                  <a:pt x="11906" y="59531"/>
                </a:cubicBezTo>
                <a:lnTo>
                  <a:pt x="154781" y="59531"/>
                </a:lnTo>
                <a:cubicBezTo>
                  <a:pt x="161367" y="59531"/>
                  <a:pt x="166688" y="64852"/>
                  <a:pt x="166688" y="71438"/>
                </a:cubicBezTo>
                <a:cubicBezTo>
                  <a:pt x="166688" y="78023"/>
                  <a:pt x="161367" y="83344"/>
                  <a:pt x="154781" y="83344"/>
                </a:cubicBezTo>
                <a:lnTo>
                  <a:pt x="11906" y="83344"/>
                </a:lnTo>
                <a:cubicBezTo>
                  <a:pt x="5321" y="83344"/>
                  <a:pt x="0" y="78023"/>
                  <a:pt x="0" y="71438"/>
                </a:cubicBezTo>
                <a:close/>
                <a:moveTo>
                  <a:pt x="166688" y="166688"/>
                </a:moveTo>
                <a:cubicBezTo>
                  <a:pt x="166688" y="173273"/>
                  <a:pt x="161367" y="178594"/>
                  <a:pt x="154781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cubicBezTo>
                  <a:pt x="0" y="160102"/>
                  <a:pt x="5321" y="154781"/>
                  <a:pt x="11906" y="154781"/>
                </a:cubicBezTo>
                <a:lnTo>
                  <a:pt x="154781" y="154781"/>
                </a:lnTo>
                <a:cubicBezTo>
                  <a:pt x="161367" y="154781"/>
                  <a:pt x="166688" y="160102"/>
                  <a:pt x="166688" y="16668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2327275" y="1797304"/>
            <a:ext cx="5573116" cy="1362710"/>
          </a:xfrm>
          <a:custGeom>
            <a:avLst/>
            <a:gdLst/>
            <a:ahLst/>
            <a:cxnLst/>
            <a:rect l="l" t="t" r="r" b="b"/>
            <a:pathLst>
              <a:path w="6000750" h="1174750">
                <a:moveTo>
                  <a:pt x="31750" y="0"/>
                </a:moveTo>
                <a:lnTo>
                  <a:pt x="5937255" y="0"/>
                </a:lnTo>
                <a:cubicBezTo>
                  <a:pt x="5972322" y="0"/>
                  <a:pt x="6000750" y="28428"/>
                  <a:pt x="6000750" y="63495"/>
                </a:cubicBezTo>
                <a:lnTo>
                  <a:pt x="6000750" y="1111255"/>
                </a:lnTo>
                <a:cubicBezTo>
                  <a:pt x="6000750" y="1146322"/>
                  <a:pt x="5972322" y="1174750"/>
                  <a:pt x="5937255" y="1174750"/>
                </a:cubicBezTo>
                <a:lnTo>
                  <a:pt x="31750" y="1174750"/>
                </a:lnTo>
                <a:cubicBezTo>
                  <a:pt x="14215" y="1174750"/>
                  <a:pt x="0" y="1160535"/>
                  <a:pt x="0" y="1143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2327275" y="1797304"/>
            <a:ext cx="36830" cy="1362710"/>
          </a:xfrm>
          <a:custGeom>
            <a:avLst/>
            <a:gdLst/>
            <a:ahLst/>
            <a:cxnLst/>
            <a:rect l="l" t="t" r="r" b="b"/>
            <a:pathLst>
              <a:path w="31750" h="1174750">
                <a:moveTo>
                  <a:pt x="31750" y="0"/>
                </a:moveTo>
                <a:lnTo>
                  <a:pt x="31750" y="0"/>
                </a:lnTo>
                <a:lnTo>
                  <a:pt x="31750" y="1174750"/>
                </a:lnTo>
                <a:lnTo>
                  <a:pt x="31750" y="1174750"/>
                </a:lnTo>
                <a:cubicBezTo>
                  <a:pt x="14227" y="1174750"/>
                  <a:pt x="0" y="1160523"/>
                  <a:pt x="0" y="1143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3" name="Text 11"/>
          <p:cNvSpPr/>
          <p:nvPr/>
        </p:nvSpPr>
        <p:spPr>
          <a:xfrm>
            <a:off x="2493010" y="1944624"/>
            <a:ext cx="1353503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Embedding层</a:t>
            </a:r>
            <a:endParaRPr lang="en-US" sz="1856" dirty="0"/>
          </a:p>
        </p:txBody>
      </p:sp>
      <p:sp>
        <p:nvSpPr>
          <p:cNvPr id="14" name="Shape 12"/>
          <p:cNvSpPr/>
          <p:nvPr/>
        </p:nvSpPr>
        <p:spPr>
          <a:xfrm>
            <a:off x="7081942" y="1944624"/>
            <a:ext cx="736600" cy="257810"/>
          </a:xfrm>
          <a:custGeom>
            <a:avLst/>
            <a:gdLst/>
            <a:ahLst/>
            <a:cxnLst/>
            <a:rect l="l" t="t" r="r" b="b"/>
            <a:pathLst>
              <a:path w="635000" h="222250">
                <a:moveTo>
                  <a:pt x="31751" y="0"/>
                </a:moveTo>
                <a:lnTo>
                  <a:pt x="603249" y="0"/>
                </a:lnTo>
                <a:cubicBezTo>
                  <a:pt x="620785" y="0"/>
                  <a:pt x="635000" y="14215"/>
                  <a:pt x="635000" y="31751"/>
                </a:cubicBezTo>
                <a:lnTo>
                  <a:pt x="635000" y="190499"/>
                </a:lnTo>
                <a:cubicBezTo>
                  <a:pt x="635000" y="208035"/>
                  <a:pt x="620785" y="222250"/>
                  <a:pt x="60324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00000">
              <a:alpha val="1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7081942" y="1944624"/>
            <a:ext cx="801053" cy="257810"/>
          </a:xfrm>
          <a:prstGeom prst="rect">
            <a:avLst/>
          </a:prstGeom>
          <a:noFill/>
        </p:spPr>
        <p:txBody>
          <a:bodyPr wrap="square" lIns="110490" tIns="36830" rIns="110490" bIns="3683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输入处理</a:t>
            </a:r>
            <a:endParaRPr lang="en-US" sz="1856" dirty="0"/>
          </a:p>
        </p:txBody>
      </p:sp>
      <p:sp>
        <p:nvSpPr>
          <p:cNvPr id="16" name="Text 14"/>
          <p:cNvSpPr/>
          <p:nvPr/>
        </p:nvSpPr>
        <p:spPr>
          <a:xfrm>
            <a:off x="2493010" y="2276094"/>
            <a:ext cx="5324881" cy="478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将离散的token ID映射为连续的向量表示，通常包含词嵌入（Word Embedding）和位置编码（Positional Encoding）。</a:t>
            </a:r>
            <a:endParaRPr lang="en-US" sz="1856" dirty="0"/>
          </a:p>
        </p:txBody>
      </p:sp>
      <p:sp>
        <p:nvSpPr>
          <p:cNvPr id="17" name="Text 15"/>
          <p:cNvSpPr/>
          <p:nvPr/>
        </p:nvSpPr>
        <p:spPr>
          <a:xfrm>
            <a:off x="2493010" y="2828544"/>
            <a:ext cx="1869123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计算特征：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查表操作，计算量小</a:t>
            </a:r>
            <a:endParaRPr lang="en-US" sz="1856" dirty="0"/>
          </a:p>
        </p:txBody>
      </p:sp>
      <p:sp>
        <p:nvSpPr>
          <p:cNvPr id="18" name="Text 16"/>
          <p:cNvSpPr/>
          <p:nvPr/>
        </p:nvSpPr>
        <p:spPr>
          <a:xfrm>
            <a:off x="4408314" y="2828544"/>
            <a:ext cx="2062480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内存占用：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词汇表大小 × 隐藏维度</a:t>
            </a:r>
            <a:endParaRPr lang="en-US" sz="1856" dirty="0"/>
          </a:p>
        </p:txBody>
      </p:sp>
      <p:sp>
        <p:nvSpPr>
          <p:cNvPr id="19" name="Shape 17"/>
          <p:cNvSpPr/>
          <p:nvPr/>
        </p:nvSpPr>
        <p:spPr>
          <a:xfrm>
            <a:off x="5385963" y="3218942"/>
            <a:ext cx="165735" cy="22098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20" name="Shape 18"/>
          <p:cNvSpPr/>
          <p:nvPr/>
        </p:nvSpPr>
        <p:spPr>
          <a:xfrm>
            <a:off x="1645920" y="3498850"/>
            <a:ext cx="515620" cy="51562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1" name="Shape 19"/>
          <p:cNvSpPr/>
          <p:nvPr/>
        </p:nvSpPr>
        <p:spPr>
          <a:xfrm>
            <a:off x="1793240" y="3646170"/>
            <a:ext cx="220980" cy="22098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Shape 20"/>
          <p:cNvSpPr/>
          <p:nvPr/>
        </p:nvSpPr>
        <p:spPr>
          <a:xfrm>
            <a:off x="2327275" y="3498850"/>
            <a:ext cx="5573852" cy="1123315"/>
          </a:xfrm>
          <a:custGeom>
            <a:avLst/>
            <a:gdLst/>
            <a:ahLst/>
            <a:cxnLst/>
            <a:rect l="l" t="t" r="r" b="b"/>
            <a:pathLst>
              <a:path w="6000750" h="968375">
                <a:moveTo>
                  <a:pt x="31750" y="0"/>
                </a:moveTo>
                <a:lnTo>
                  <a:pt x="5937254" y="0"/>
                </a:lnTo>
                <a:cubicBezTo>
                  <a:pt x="5972322" y="0"/>
                  <a:pt x="6000750" y="28428"/>
                  <a:pt x="6000750" y="63496"/>
                </a:cubicBezTo>
                <a:lnTo>
                  <a:pt x="6000750" y="904879"/>
                </a:lnTo>
                <a:cubicBezTo>
                  <a:pt x="6000750" y="939947"/>
                  <a:pt x="5972322" y="968375"/>
                  <a:pt x="5937254" y="968375"/>
                </a:cubicBez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2327275" y="3498850"/>
            <a:ext cx="36830" cy="1123315"/>
          </a:xfrm>
          <a:custGeom>
            <a:avLst/>
            <a:gdLst/>
            <a:ahLst/>
            <a:cxnLst/>
            <a:rect l="l" t="t" r="r" b="b"/>
            <a:pathLst>
              <a:path w="31750" h="968375">
                <a:moveTo>
                  <a:pt x="31750" y="0"/>
                </a:moveTo>
                <a:lnTo>
                  <a:pt x="31750" y="0"/>
                </a:lnTo>
                <a:lnTo>
                  <a:pt x="31750" y="968375"/>
                </a:ln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4" name="Text 22"/>
          <p:cNvSpPr/>
          <p:nvPr/>
        </p:nvSpPr>
        <p:spPr>
          <a:xfrm>
            <a:off x="2493010" y="3646170"/>
            <a:ext cx="1353503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Attention机制</a:t>
            </a:r>
            <a:endParaRPr lang="en-US" sz="1856" dirty="0"/>
          </a:p>
        </p:txBody>
      </p:sp>
      <p:sp>
        <p:nvSpPr>
          <p:cNvPr id="25" name="Shape 23"/>
          <p:cNvSpPr/>
          <p:nvPr/>
        </p:nvSpPr>
        <p:spPr>
          <a:xfrm>
            <a:off x="7081942" y="3646170"/>
            <a:ext cx="736600" cy="257810"/>
          </a:xfrm>
          <a:custGeom>
            <a:avLst/>
            <a:gdLst/>
            <a:ahLst/>
            <a:cxnLst/>
            <a:rect l="l" t="t" r="r" b="b"/>
            <a:pathLst>
              <a:path w="635000" h="222250">
                <a:moveTo>
                  <a:pt x="31751" y="0"/>
                </a:moveTo>
                <a:lnTo>
                  <a:pt x="603249" y="0"/>
                </a:lnTo>
                <a:cubicBezTo>
                  <a:pt x="620785" y="0"/>
                  <a:pt x="635000" y="14215"/>
                  <a:pt x="635000" y="31751"/>
                </a:cubicBezTo>
                <a:lnTo>
                  <a:pt x="635000" y="190499"/>
                </a:lnTo>
                <a:cubicBezTo>
                  <a:pt x="635000" y="208035"/>
                  <a:pt x="620785" y="222250"/>
                  <a:pt x="60324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33333">
              <a:alpha val="10196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7081942" y="3646170"/>
            <a:ext cx="801053" cy="257810"/>
          </a:xfrm>
          <a:prstGeom prst="rect">
            <a:avLst/>
          </a:prstGeom>
          <a:noFill/>
        </p:spPr>
        <p:txBody>
          <a:bodyPr wrap="square" lIns="110490" tIns="36830" rIns="110490" bIns="3683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核心计算</a:t>
            </a:r>
            <a:endParaRPr lang="en-US" sz="1856" dirty="0"/>
          </a:p>
        </p:txBody>
      </p:sp>
      <p:sp>
        <p:nvSpPr>
          <p:cNvPr id="27" name="Text 25"/>
          <p:cNvSpPr/>
          <p:nvPr/>
        </p:nvSpPr>
        <p:spPr>
          <a:xfrm>
            <a:off x="2493010" y="3977640"/>
            <a:ext cx="5324881" cy="239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计算token间的注意力权重。核心操作：QK^T → Softmax → PV。</a:t>
            </a:r>
            <a:endParaRPr lang="en-US" sz="1856" dirty="0"/>
          </a:p>
        </p:txBody>
      </p:sp>
      <p:sp>
        <p:nvSpPr>
          <p:cNvPr id="28" name="Text 26"/>
          <p:cNvSpPr/>
          <p:nvPr/>
        </p:nvSpPr>
        <p:spPr>
          <a:xfrm>
            <a:off x="2493010" y="4290695"/>
            <a:ext cx="1243013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计算复杂度：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O(n²d)</a:t>
            </a:r>
            <a:endParaRPr lang="en-US" sz="1856" dirty="0"/>
          </a:p>
        </p:txBody>
      </p:sp>
      <p:sp>
        <p:nvSpPr>
          <p:cNvPr id="29" name="Text 27"/>
          <p:cNvSpPr/>
          <p:nvPr/>
        </p:nvSpPr>
        <p:spPr>
          <a:xfrm>
            <a:off x="3785657" y="4290695"/>
            <a:ext cx="1721803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KV Cache：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推理优化的关键</a:t>
            </a:r>
            <a:endParaRPr lang="en-US" sz="1856" dirty="0"/>
          </a:p>
        </p:txBody>
      </p:sp>
      <p:sp>
        <p:nvSpPr>
          <p:cNvPr id="30" name="Shape 28"/>
          <p:cNvSpPr/>
          <p:nvPr/>
        </p:nvSpPr>
        <p:spPr>
          <a:xfrm>
            <a:off x="5385963" y="4681093"/>
            <a:ext cx="165735" cy="22098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31" name="Shape 29"/>
          <p:cNvSpPr/>
          <p:nvPr/>
        </p:nvSpPr>
        <p:spPr>
          <a:xfrm>
            <a:off x="1645920" y="4968367"/>
            <a:ext cx="515620" cy="51562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2" name="Shape 30"/>
          <p:cNvSpPr/>
          <p:nvPr/>
        </p:nvSpPr>
        <p:spPr>
          <a:xfrm>
            <a:off x="1779429" y="5115687"/>
            <a:ext cx="248603" cy="22098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Shape 31"/>
          <p:cNvSpPr/>
          <p:nvPr/>
        </p:nvSpPr>
        <p:spPr>
          <a:xfrm>
            <a:off x="2327275" y="4968367"/>
            <a:ext cx="5573116" cy="1123315"/>
          </a:xfrm>
          <a:custGeom>
            <a:avLst/>
            <a:gdLst/>
            <a:ahLst/>
            <a:cxnLst/>
            <a:rect l="l" t="t" r="r" b="b"/>
            <a:pathLst>
              <a:path w="6000750" h="968375">
                <a:moveTo>
                  <a:pt x="31750" y="0"/>
                </a:moveTo>
                <a:lnTo>
                  <a:pt x="5937254" y="0"/>
                </a:lnTo>
                <a:cubicBezTo>
                  <a:pt x="5972322" y="0"/>
                  <a:pt x="6000750" y="28428"/>
                  <a:pt x="6000750" y="63496"/>
                </a:cubicBezTo>
                <a:lnTo>
                  <a:pt x="6000750" y="904879"/>
                </a:lnTo>
                <a:cubicBezTo>
                  <a:pt x="6000750" y="939947"/>
                  <a:pt x="5972322" y="968375"/>
                  <a:pt x="5937254" y="968375"/>
                </a:cubicBez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Shape 32"/>
          <p:cNvSpPr/>
          <p:nvPr/>
        </p:nvSpPr>
        <p:spPr>
          <a:xfrm>
            <a:off x="2327275" y="4968367"/>
            <a:ext cx="36830" cy="1123315"/>
          </a:xfrm>
          <a:custGeom>
            <a:avLst/>
            <a:gdLst/>
            <a:ahLst/>
            <a:cxnLst/>
            <a:rect l="l" t="t" r="r" b="b"/>
            <a:pathLst>
              <a:path w="31750" h="968375">
                <a:moveTo>
                  <a:pt x="31750" y="0"/>
                </a:moveTo>
                <a:lnTo>
                  <a:pt x="31750" y="0"/>
                </a:lnTo>
                <a:lnTo>
                  <a:pt x="31750" y="968375"/>
                </a:ln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5" name="Text 33"/>
          <p:cNvSpPr/>
          <p:nvPr/>
        </p:nvSpPr>
        <p:spPr>
          <a:xfrm>
            <a:off x="2493010" y="5115687"/>
            <a:ext cx="1187768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MOE/FFN层</a:t>
            </a:r>
            <a:endParaRPr lang="en-US" sz="1856" dirty="0"/>
          </a:p>
        </p:txBody>
      </p:sp>
      <p:sp>
        <p:nvSpPr>
          <p:cNvPr id="36" name="Shape 34"/>
          <p:cNvSpPr/>
          <p:nvPr/>
        </p:nvSpPr>
        <p:spPr>
          <a:xfrm>
            <a:off x="6953037" y="5115687"/>
            <a:ext cx="865505" cy="257810"/>
          </a:xfrm>
          <a:custGeom>
            <a:avLst/>
            <a:gdLst/>
            <a:ahLst/>
            <a:cxnLst/>
            <a:rect l="l" t="t" r="r" b="b"/>
            <a:pathLst>
              <a:path w="746125" h="222250">
                <a:moveTo>
                  <a:pt x="31751" y="0"/>
                </a:moveTo>
                <a:lnTo>
                  <a:pt x="714374" y="0"/>
                </a:lnTo>
                <a:cubicBezTo>
                  <a:pt x="731910" y="0"/>
                  <a:pt x="746125" y="14215"/>
                  <a:pt x="746125" y="31751"/>
                </a:cubicBezTo>
                <a:lnTo>
                  <a:pt x="746125" y="190499"/>
                </a:lnTo>
                <a:cubicBezTo>
                  <a:pt x="746125" y="208035"/>
                  <a:pt x="731910" y="222250"/>
                  <a:pt x="71437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00000">
              <a:alpha val="1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6953037" y="5115687"/>
            <a:ext cx="929958" cy="257810"/>
          </a:xfrm>
          <a:prstGeom prst="rect">
            <a:avLst/>
          </a:prstGeom>
          <a:noFill/>
        </p:spPr>
        <p:txBody>
          <a:bodyPr wrap="square" lIns="110490" tIns="36830" rIns="110490" bIns="3683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非线性变换</a:t>
            </a:r>
            <a:endParaRPr lang="en-US" sz="1856" dirty="0"/>
          </a:p>
        </p:txBody>
      </p:sp>
      <p:sp>
        <p:nvSpPr>
          <p:cNvPr id="38" name="Text 36"/>
          <p:cNvSpPr/>
          <p:nvPr/>
        </p:nvSpPr>
        <p:spPr>
          <a:xfrm>
            <a:off x="2493010" y="5447157"/>
            <a:ext cx="5324881" cy="239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FFN：全连接层，所有参数激活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；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MOE：稀疏激活，仅选择top-k专家</a:t>
            </a:r>
            <a:endParaRPr lang="en-US" sz="1856" dirty="0"/>
          </a:p>
        </p:txBody>
      </p:sp>
      <p:sp>
        <p:nvSpPr>
          <p:cNvPr id="39" name="Text 37"/>
          <p:cNvSpPr/>
          <p:nvPr/>
        </p:nvSpPr>
        <p:spPr>
          <a:xfrm>
            <a:off x="2493010" y="5760212"/>
            <a:ext cx="1629728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FFN：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计算密集，访存友好</a:t>
            </a:r>
            <a:endParaRPr lang="en-US" sz="1856" dirty="0"/>
          </a:p>
        </p:txBody>
      </p:sp>
      <p:sp>
        <p:nvSpPr>
          <p:cNvPr id="40" name="Text 38"/>
          <p:cNvSpPr/>
          <p:nvPr/>
        </p:nvSpPr>
        <p:spPr>
          <a:xfrm>
            <a:off x="4164746" y="5760212"/>
            <a:ext cx="1666558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MOE：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稀疏计算，通信开销</a:t>
            </a:r>
            <a:endParaRPr lang="en-US" sz="1856" dirty="0"/>
          </a:p>
        </p:txBody>
      </p:sp>
      <p:sp>
        <p:nvSpPr>
          <p:cNvPr id="41" name="Shape 39"/>
          <p:cNvSpPr/>
          <p:nvPr/>
        </p:nvSpPr>
        <p:spPr>
          <a:xfrm>
            <a:off x="5385963" y="6150610"/>
            <a:ext cx="165735" cy="22098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42" name="Shape 40"/>
          <p:cNvSpPr/>
          <p:nvPr/>
        </p:nvSpPr>
        <p:spPr>
          <a:xfrm>
            <a:off x="1645920" y="6437884"/>
            <a:ext cx="515620" cy="51562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3" name="Shape 41"/>
          <p:cNvSpPr/>
          <p:nvPr/>
        </p:nvSpPr>
        <p:spPr>
          <a:xfrm>
            <a:off x="1793240" y="6585204"/>
            <a:ext cx="220980" cy="22098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Shape 42"/>
          <p:cNvSpPr/>
          <p:nvPr/>
        </p:nvSpPr>
        <p:spPr>
          <a:xfrm>
            <a:off x="2327275" y="6437884"/>
            <a:ext cx="5573852" cy="1123315"/>
          </a:xfrm>
          <a:custGeom>
            <a:avLst/>
            <a:gdLst/>
            <a:ahLst/>
            <a:cxnLst/>
            <a:rect l="l" t="t" r="r" b="b"/>
            <a:pathLst>
              <a:path w="6000750" h="968375">
                <a:moveTo>
                  <a:pt x="31750" y="0"/>
                </a:moveTo>
                <a:lnTo>
                  <a:pt x="5937254" y="0"/>
                </a:lnTo>
                <a:cubicBezTo>
                  <a:pt x="5972322" y="0"/>
                  <a:pt x="6000750" y="28428"/>
                  <a:pt x="6000750" y="63496"/>
                </a:cubicBezTo>
                <a:lnTo>
                  <a:pt x="6000750" y="904879"/>
                </a:lnTo>
                <a:cubicBezTo>
                  <a:pt x="6000750" y="939947"/>
                  <a:pt x="5972322" y="968375"/>
                  <a:pt x="5937254" y="968375"/>
                </a:cubicBez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5" name="Shape 43"/>
          <p:cNvSpPr/>
          <p:nvPr/>
        </p:nvSpPr>
        <p:spPr>
          <a:xfrm>
            <a:off x="2327275" y="6437884"/>
            <a:ext cx="36830" cy="1123315"/>
          </a:xfrm>
          <a:custGeom>
            <a:avLst/>
            <a:gdLst/>
            <a:ahLst/>
            <a:cxnLst/>
            <a:rect l="l" t="t" r="r" b="b"/>
            <a:pathLst>
              <a:path w="31750" h="968375">
                <a:moveTo>
                  <a:pt x="31750" y="0"/>
                </a:moveTo>
                <a:lnTo>
                  <a:pt x="31750" y="0"/>
                </a:lnTo>
                <a:lnTo>
                  <a:pt x="31750" y="968375"/>
                </a:ln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6" name="Text 44"/>
          <p:cNvSpPr/>
          <p:nvPr/>
        </p:nvSpPr>
        <p:spPr>
          <a:xfrm>
            <a:off x="2493010" y="6585204"/>
            <a:ext cx="883920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LMHead</a:t>
            </a:r>
            <a:endParaRPr lang="en-US" sz="1856" dirty="0"/>
          </a:p>
        </p:txBody>
      </p:sp>
      <p:sp>
        <p:nvSpPr>
          <p:cNvPr id="47" name="Shape 45"/>
          <p:cNvSpPr/>
          <p:nvPr/>
        </p:nvSpPr>
        <p:spPr>
          <a:xfrm>
            <a:off x="7081942" y="6585204"/>
            <a:ext cx="736600" cy="257810"/>
          </a:xfrm>
          <a:custGeom>
            <a:avLst/>
            <a:gdLst/>
            <a:ahLst/>
            <a:cxnLst/>
            <a:rect l="l" t="t" r="r" b="b"/>
            <a:pathLst>
              <a:path w="635000" h="222250">
                <a:moveTo>
                  <a:pt x="31751" y="0"/>
                </a:moveTo>
                <a:lnTo>
                  <a:pt x="603249" y="0"/>
                </a:lnTo>
                <a:cubicBezTo>
                  <a:pt x="620785" y="0"/>
                  <a:pt x="635000" y="14215"/>
                  <a:pt x="635000" y="31751"/>
                </a:cubicBezTo>
                <a:lnTo>
                  <a:pt x="635000" y="190499"/>
                </a:lnTo>
                <a:cubicBezTo>
                  <a:pt x="635000" y="208035"/>
                  <a:pt x="620785" y="222250"/>
                  <a:pt x="60324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33333">
              <a:alpha val="10196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7081942" y="6585204"/>
            <a:ext cx="801053" cy="257810"/>
          </a:xfrm>
          <a:prstGeom prst="rect">
            <a:avLst/>
          </a:prstGeom>
          <a:noFill/>
        </p:spPr>
        <p:txBody>
          <a:bodyPr wrap="square" lIns="110490" tIns="36830" rIns="110490" bIns="3683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输出预测</a:t>
            </a:r>
            <a:endParaRPr lang="en-US" sz="1856" dirty="0"/>
          </a:p>
        </p:txBody>
      </p:sp>
      <p:sp>
        <p:nvSpPr>
          <p:cNvPr id="49" name="Text 47"/>
          <p:cNvSpPr/>
          <p:nvPr/>
        </p:nvSpPr>
        <p:spPr>
          <a:xfrm>
            <a:off x="2493010" y="6916674"/>
            <a:ext cx="6721475" cy="239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将隐藏状态映射到词汇表空间，输出每个token的概率分布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，送给后处理</a:t>
            </a:r>
            <a:r>
              <a:rPr lang="en-US" altLang="zh-CN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Sampler</a:t>
            </a:r>
            <a:endParaRPr lang="en-US" altLang="zh-CN" sz="1160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493010" y="7229729"/>
            <a:ext cx="1878330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计算特征：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矩阵乘法</a:t>
            </a:r>
            <a:endParaRPr lang="en-US" sz="1856" dirty="0"/>
          </a:p>
        </p:txBody>
      </p:sp>
      <p:sp>
        <p:nvSpPr>
          <p:cNvPr id="51" name="Text 49"/>
          <p:cNvSpPr/>
          <p:nvPr/>
        </p:nvSpPr>
        <p:spPr>
          <a:xfrm>
            <a:off x="4421837" y="7229729"/>
            <a:ext cx="2329497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优化方向：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TP并行</a:t>
            </a:r>
            <a:endParaRPr lang="en-US" sz="1015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126830" y="5443474"/>
            <a:ext cx="5100955" cy="2271674"/>
          </a:xfrm>
          <a:custGeom>
            <a:avLst/>
            <a:gdLst/>
            <a:ahLst/>
            <a:cxnLst/>
            <a:rect l="l" t="t" r="r" b="b"/>
            <a:pathLst>
              <a:path w="4397375" h="4238625">
                <a:moveTo>
                  <a:pt x="63495" y="0"/>
                </a:moveTo>
                <a:lnTo>
                  <a:pt x="4333880" y="0"/>
                </a:lnTo>
                <a:cubicBezTo>
                  <a:pt x="4368947" y="0"/>
                  <a:pt x="4397375" y="28428"/>
                  <a:pt x="4397375" y="63495"/>
                </a:cubicBezTo>
                <a:lnTo>
                  <a:pt x="4397375" y="4175130"/>
                </a:lnTo>
                <a:cubicBezTo>
                  <a:pt x="4397375" y="4210197"/>
                  <a:pt x="4368947" y="4238625"/>
                  <a:pt x="4333880" y="4238625"/>
                </a:cubicBezTo>
                <a:lnTo>
                  <a:pt x="63495" y="4238625"/>
                </a:lnTo>
                <a:cubicBezTo>
                  <a:pt x="28428" y="4238625"/>
                  <a:pt x="0" y="4210197"/>
                  <a:pt x="0" y="4175130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62" name="Shape 60"/>
          <p:cNvSpPr/>
          <p:nvPr/>
        </p:nvSpPr>
        <p:spPr>
          <a:xfrm>
            <a:off x="9323626" y="5732590"/>
            <a:ext cx="186451" cy="16573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42987" y="66973"/>
                </a:moveTo>
                <a:lnTo>
                  <a:pt x="93873" y="66973"/>
                </a:lnTo>
                <a:cubicBezTo>
                  <a:pt x="88934" y="66973"/>
                  <a:pt x="84944" y="62982"/>
                  <a:pt x="84944" y="58043"/>
                </a:cubicBezTo>
                <a:lnTo>
                  <a:pt x="84944" y="8930"/>
                </a:lnTo>
                <a:cubicBezTo>
                  <a:pt x="84944" y="3990"/>
                  <a:pt x="88962" y="-56"/>
                  <a:pt x="93845" y="586"/>
                </a:cubicBezTo>
                <a:cubicBezTo>
                  <a:pt x="123704" y="4549"/>
                  <a:pt x="147368" y="28212"/>
                  <a:pt x="151330" y="58071"/>
                </a:cubicBezTo>
                <a:cubicBezTo>
                  <a:pt x="151972" y="62954"/>
                  <a:pt x="147926" y="66973"/>
                  <a:pt x="142987" y="66973"/>
                </a:cubicBezTo>
                <a:close/>
                <a:moveTo>
                  <a:pt x="62117" y="10381"/>
                </a:moveTo>
                <a:cubicBezTo>
                  <a:pt x="67168" y="9320"/>
                  <a:pt x="71549" y="13450"/>
                  <a:pt x="71549" y="18613"/>
                </a:cubicBezTo>
                <a:lnTo>
                  <a:pt x="71549" y="73670"/>
                </a:lnTo>
                <a:cubicBezTo>
                  <a:pt x="71549" y="75233"/>
                  <a:pt x="72107" y="76740"/>
                  <a:pt x="73084" y="77939"/>
                </a:cubicBezTo>
                <a:lnTo>
                  <a:pt x="109947" y="122420"/>
                </a:lnTo>
                <a:cubicBezTo>
                  <a:pt x="113212" y="126355"/>
                  <a:pt x="112514" y="132299"/>
                  <a:pt x="108021" y="134727"/>
                </a:cubicBezTo>
                <a:cubicBezTo>
                  <a:pt x="98506" y="139917"/>
                  <a:pt x="87595" y="142875"/>
                  <a:pt x="76014" y="142875"/>
                </a:cubicBezTo>
                <a:cubicBezTo>
                  <a:pt x="39039" y="142875"/>
                  <a:pt x="9041" y="112877"/>
                  <a:pt x="9041" y="75902"/>
                </a:cubicBezTo>
                <a:cubicBezTo>
                  <a:pt x="9041" y="43672"/>
                  <a:pt x="31784" y="16771"/>
                  <a:pt x="62117" y="10381"/>
                </a:cubicBezTo>
                <a:close/>
                <a:moveTo>
                  <a:pt x="133331" y="80367"/>
                </a:moveTo>
                <a:lnTo>
                  <a:pt x="151191" y="80367"/>
                </a:lnTo>
                <a:cubicBezTo>
                  <a:pt x="156353" y="80367"/>
                  <a:pt x="160483" y="84748"/>
                  <a:pt x="159423" y="89799"/>
                </a:cubicBezTo>
                <a:cubicBezTo>
                  <a:pt x="156576" y="103305"/>
                  <a:pt x="149656" y="115305"/>
                  <a:pt x="140001" y="124458"/>
                </a:cubicBezTo>
                <a:cubicBezTo>
                  <a:pt x="136568" y="127722"/>
                  <a:pt x="131183" y="127025"/>
                  <a:pt x="128169" y="123369"/>
                </a:cubicBezTo>
                <a:lnTo>
                  <a:pt x="104617" y="94990"/>
                </a:lnTo>
                <a:cubicBezTo>
                  <a:pt x="99789" y="89157"/>
                  <a:pt x="103947" y="80367"/>
                  <a:pt x="111482" y="80367"/>
                </a:cubicBezTo>
                <a:lnTo>
                  <a:pt x="133303" y="80367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63" name="Text 61"/>
          <p:cNvSpPr/>
          <p:nvPr/>
        </p:nvSpPr>
        <p:spPr>
          <a:xfrm>
            <a:off x="9522738" y="5686552"/>
            <a:ext cx="4603750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典型模型参数分布</a:t>
            </a:r>
            <a:endParaRPr lang="en-US" sz="1856" dirty="0"/>
          </a:p>
        </p:txBody>
      </p:sp>
      <p:sp>
        <p:nvSpPr>
          <p:cNvPr id="64" name="Text 62"/>
          <p:cNvSpPr/>
          <p:nvPr/>
        </p:nvSpPr>
        <p:spPr>
          <a:xfrm>
            <a:off x="9310966" y="6091682"/>
            <a:ext cx="672148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Attention</a:t>
            </a:r>
            <a:endParaRPr lang="en-US" sz="1856" dirty="0"/>
          </a:p>
        </p:txBody>
      </p:sp>
      <p:sp>
        <p:nvSpPr>
          <p:cNvPr id="65" name="Text 63"/>
          <p:cNvSpPr/>
          <p:nvPr/>
        </p:nvSpPr>
        <p:spPr>
          <a:xfrm>
            <a:off x="13692224" y="6091682"/>
            <a:ext cx="414338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~30%</a:t>
            </a:r>
            <a:endParaRPr lang="en-US" sz="1856" dirty="0"/>
          </a:p>
        </p:txBody>
      </p:sp>
      <p:sp>
        <p:nvSpPr>
          <p:cNvPr id="66" name="Shape 64"/>
          <p:cNvSpPr/>
          <p:nvPr/>
        </p:nvSpPr>
        <p:spPr>
          <a:xfrm>
            <a:off x="9310966" y="6312662"/>
            <a:ext cx="4732655" cy="92075"/>
          </a:xfrm>
          <a:custGeom>
            <a:avLst/>
            <a:gdLst/>
            <a:ahLst/>
            <a:cxnLst/>
            <a:rect l="l" t="t" r="r" b="b"/>
            <a:pathLst>
              <a:path w="4079875" h="79375">
                <a:moveTo>
                  <a:pt x="39688" y="0"/>
                </a:moveTo>
                <a:lnTo>
                  <a:pt x="4040188" y="0"/>
                </a:lnTo>
                <a:cubicBezTo>
                  <a:pt x="4062092" y="0"/>
                  <a:pt x="4079875" y="17783"/>
                  <a:pt x="4079875" y="39688"/>
                </a:cubicBezTo>
                <a:lnTo>
                  <a:pt x="4079875" y="39688"/>
                </a:lnTo>
                <a:cubicBezTo>
                  <a:pt x="4079875" y="61592"/>
                  <a:pt x="4062092" y="79375"/>
                  <a:pt x="40401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67" name="Shape 65"/>
          <p:cNvSpPr/>
          <p:nvPr/>
        </p:nvSpPr>
        <p:spPr>
          <a:xfrm>
            <a:off x="9310966" y="6312662"/>
            <a:ext cx="1417955" cy="92075"/>
          </a:xfrm>
          <a:custGeom>
            <a:avLst/>
            <a:gdLst/>
            <a:ahLst/>
            <a:cxnLst/>
            <a:rect l="l" t="t" r="r" b="b"/>
            <a:pathLst>
              <a:path w="1222375" h="79375">
                <a:moveTo>
                  <a:pt x="39688" y="0"/>
                </a:moveTo>
                <a:lnTo>
                  <a:pt x="1182688" y="0"/>
                </a:lnTo>
                <a:cubicBezTo>
                  <a:pt x="1204592" y="0"/>
                  <a:pt x="1222375" y="17783"/>
                  <a:pt x="1222375" y="39688"/>
                </a:cubicBezTo>
                <a:lnTo>
                  <a:pt x="1222375" y="39688"/>
                </a:lnTo>
                <a:cubicBezTo>
                  <a:pt x="1222375" y="61592"/>
                  <a:pt x="1204592" y="79375"/>
                  <a:pt x="1182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68" name="Text 66"/>
          <p:cNvSpPr/>
          <p:nvPr/>
        </p:nvSpPr>
        <p:spPr>
          <a:xfrm>
            <a:off x="9310966" y="6515227"/>
            <a:ext cx="699770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FFN</a:t>
            </a:r>
            <a:endParaRPr lang="en-US" sz="1856" dirty="0"/>
          </a:p>
        </p:txBody>
      </p:sp>
      <p:sp>
        <p:nvSpPr>
          <p:cNvPr id="69" name="Text 67"/>
          <p:cNvSpPr/>
          <p:nvPr/>
        </p:nvSpPr>
        <p:spPr>
          <a:xfrm>
            <a:off x="13692008" y="6515227"/>
            <a:ext cx="414338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~65%</a:t>
            </a:r>
            <a:endParaRPr lang="en-US" sz="1856" dirty="0"/>
          </a:p>
        </p:txBody>
      </p:sp>
      <p:sp>
        <p:nvSpPr>
          <p:cNvPr id="70" name="Shape 68"/>
          <p:cNvSpPr/>
          <p:nvPr/>
        </p:nvSpPr>
        <p:spPr>
          <a:xfrm>
            <a:off x="9310966" y="6736207"/>
            <a:ext cx="4732655" cy="92075"/>
          </a:xfrm>
          <a:custGeom>
            <a:avLst/>
            <a:gdLst/>
            <a:ahLst/>
            <a:cxnLst/>
            <a:rect l="l" t="t" r="r" b="b"/>
            <a:pathLst>
              <a:path w="4079875" h="79375">
                <a:moveTo>
                  <a:pt x="39688" y="0"/>
                </a:moveTo>
                <a:lnTo>
                  <a:pt x="4040188" y="0"/>
                </a:lnTo>
                <a:cubicBezTo>
                  <a:pt x="4062092" y="0"/>
                  <a:pt x="4079875" y="17783"/>
                  <a:pt x="4079875" y="39688"/>
                </a:cubicBezTo>
                <a:lnTo>
                  <a:pt x="4079875" y="39688"/>
                </a:lnTo>
                <a:cubicBezTo>
                  <a:pt x="4079875" y="61592"/>
                  <a:pt x="4062092" y="79375"/>
                  <a:pt x="40401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71" name="Shape 69"/>
          <p:cNvSpPr/>
          <p:nvPr/>
        </p:nvSpPr>
        <p:spPr>
          <a:xfrm>
            <a:off x="9310966" y="6736207"/>
            <a:ext cx="3075305" cy="92075"/>
          </a:xfrm>
          <a:custGeom>
            <a:avLst/>
            <a:gdLst/>
            <a:ahLst/>
            <a:cxnLst/>
            <a:rect l="l" t="t" r="r" b="b"/>
            <a:pathLst>
              <a:path w="2651125" h="79375">
                <a:moveTo>
                  <a:pt x="39688" y="0"/>
                </a:moveTo>
                <a:lnTo>
                  <a:pt x="2611438" y="0"/>
                </a:lnTo>
                <a:cubicBezTo>
                  <a:pt x="2633342" y="0"/>
                  <a:pt x="2651125" y="17783"/>
                  <a:pt x="2651125" y="39688"/>
                </a:cubicBezTo>
                <a:lnTo>
                  <a:pt x="2651125" y="39688"/>
                </a:lnTo>
                <a:cubicBezTo>
                  <a:pt x="2651125" y="61592"/>
                  <a:pt x="2633342" y="79375"/>
                  <a:pt x="261143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72" name="Text 70"/>
          <p:cNvSpPr/>
          <p:nvPr/>
        </p:nvSpPr>
        <p:spPr>
          <a:xfrm>
            <a:off x="9310966" y="6938772"/>
            <a:ext cx="1408748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Embedding/LMHead</a:t>
            </a:r>
            <a:endParaRPr lang="en-US" sz="1856" dirty="0"/>
          </a:p>
        </p:txBody>
      </p:sp>
      <p:sp>
        <p:nvSpPr>
          <p:cNvPr id="73" name="Text 71"/>
          <p:cNvSpPr/>
          <p:nvPr/>
        </p:nvSpPr>
        <p:spPr>
          <a:xfrm>
            <a:off x="13766603" y="6938772"/>
            <a:ext cx="340678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~5%</a:t>
            </a:r>
            <a:endParaRPr lang="en-US" sz="1856" dirty="0"/>
          </a:p>
        </p:txBody>
      </p:sp>
      <p:sp>
        <p:nvSpPr>
          <p:cNvPr id="74" name="Shape 72"/>
          <p:cNvSpPr/>
          <p:nvPr/>
        </p:nvSpPr>
        <p:spPr>
          <a:xfrm>
            <a:off x="9310966" y="7159752"/>
            <a:ext cx="4732655" cy="92075"/>
          </a:xfrm>
          <a:custGeom>
            <a:avLst/>
            <a:gdLst/>
            <a:ahLst/>
            <a:cxnLst/>
            <a:rect l="l" t="t" r="r" b="b"/>
            <a:pathLst>
              <a:path w="4079875" h="79375">
                <a:moveTo>
                  <a:pt x="39688" y="0"/>
                </a:moveTo>
                <a:lnTo>
                  <a:pt x="4040188" y="0"/>
                </a:lnTo>
                <a:cubicBezTo>
                  <a:pt x="4062092" y="0"/>
                  <a:pt x="4079875" y="17783"/>
                  <a:pt x="4079875" y="39688"/>
                </a:cubicBezTo>
                <a:lnTo>
                  <a:pt x="4079875" y="39688"/>
                </a:lnTo>
                <a:cubicBezTo>
                  <a:pt x="4079875" y="61592"/>
                  <a:pt x="4062092" y="79375"/>
                  <a:pt x="40401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75" name="Shape 73"/>
          <p:cNvSpPr/>
          <p:nvPr/>
        </p:nvSpPr>
        <p:spPr>
          <a:xfrm>
            <a:off x="9310966" y="7159752"/>
            <a:ext cx="239395" cy="92075"/>
          </a:xfrm>
          <a:custGeom>
            <a:avLst/>
            <a:gdLst/>
            <a:ahLst/>
            <a:cxnLst/>
            <a:rect l="l" t="t" r="r" b="b"/>
            <a:pathLst>
              <a:path w="206375" h="79375">
                <a:moveTo>
                  <a:pt x="39688" y="0"/>
                </a:moveTo>
                <a:lnTo>
                  <a:pt x="166688" y="0"/>
                </a:lnTo>
                <a:cubicBezTo>
                  <a:pt x="188592" y="0"/>
                  <a:pt x="206375" y="17783"/>
                  <a:pt x="206375" y="39688"/>
                </a:cubicBezTo>
                <a:lnTo>
                  <a:pt x="206375" y="39688"/>
                </a:lnTo>
                <a:cubicBezTo>
                  <a:pt x="206375" y="61592"/>
                  <a:pt x="188592" y="79375"/>
                  <a:pt x="166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7F7F7F"/>
          </a:solidFill>
        </p:spPr>
      </p:sp>
      <p:sp>
        <p:nvSpPr>
          <p:cNvPr id="76" name="Text 74"/>
          <p:cNvSpPr/>
          <p:nvPr/>
        </p:nvSpPr>
        <p:spPr>
          <a:xfrm>
            <a:off x="9310966" y="7399147"/>
            <a:ext cx="4797108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注：比例因模型架构而异，</a:t>
            </a:r>
            <a:r>
              <a:rPr lang="en-US" sz="1015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MOE模型中FFN占比可能到达90%+</a:t>
            </a:r>
            <a:endParaRPr lang="en-US" sz="1015" b="1" dirty="0">
              <a:solidFill>
                <a:srgbClr val="C00000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87985" y="2612720"/>
            <a:ext cx="4714240" cy="427228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82" name="表格 81"/>
          <p:cNvGraphicFramePr/>
          <p:nvPr/>
        </p:nvGraphicFramePr>
        <p:xfrm>
          <a:off x="8611210" y="4366565"/>
          <a:ext cx="6039383" cy="970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794"/>
                <a:gridCol w="1074699"/>
                <a:gridCol w="1308938"/>
                <a:gridCol w="1294943"/>
                <a:gridCol w="1415009"/>
              </a:tblGrid>
              <a:tr h="3336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392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Qwen3-4B</a:t>
                      </a:r>
                      <a:endParaRPr lang="en-US" altLang="zh-CN" sz="1392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Qwen3-235B</a:t>
                      </a:r>
                      <a:endParaRPr lang="en-US" altLang="zh-CN" sz="1392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DeepSeek V3</a:t>
                      </a:r>
                      <a:endParaRPr lang="en-US" altLang="zh-CN" sz="1392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DeepSeek V3.2</a:t>
                      </a:r>
                      <a:endParaRPr lang="en-US" altLang="zh-CN" sz="1392"/>
                    </a:p>
                  </a:txBody>
                  <a:tcPr/>
                </a:tc>
              </a:tr>
              <a:tr h="299796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Attention</a:t>
                      </a:r>
                      <a:endParaRPr lang="en-US" altLang="zh-CN" sz="1392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GQA</a:t>
                      </a:r>
                      <a:endParaRPr lang="en-US" altLang="zh-CN" sz="1392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GQA</a:t>
                      </a:r>
                      <a:endParaRPr lang="en-US" altLang="zh-CN" sz="1392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MLA</a:t>
                      </a:r>
                      <a:endParaRPr lang="en-US" altLang="zh-CN" sz="1392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DSA</a:t>
                      </a:r>
                      <a:endParaRPr lang="en-US" altLang="zh-CN" sz="1392"/>
                    </a:p>
                  </a:txBody>
                  <a:tcPr/>
                </a:tc>
              </a:tr>
              <a:tr h="300533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FFN/MOE</a:t>
                      </a:r>
                      <a:endParaRPr lang="en-US" altLang="zh-CN" sz="1392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FFN</a:t>
                      </a:r>
                      <a:endParaRPr lang="en-US" altLang="zh-CN" sz="1392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MOE</a:t>
                      </a:r>
                      <a:endParaRPr lang="en-US" altLang="zh-CN" sz="1392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MOE</a:t>
                      </a:r>
                      <a:endParaRPr lang="en-US" altLang="zh-CN" sz="1392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92"/>
                        <a:t>MOE</a:t>
                      </a:r>
                      <a:endParaRPr lang="en-US" altLang="zh-CN" sz="1392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5" name="图片 84"/>
          <p:cNvPicPr>
            <a:picLocks noChangeAspect="1"/>
          </p:cNvPicPr>
          <p:nvPr/>
        </p:nvPicPr>
        <p:blipFill>
          <a:blip r:embed="rId1"/>
          <a:srcRect t="6574" r="33750" b="3938"/>
          <a:stretch>
            <a:fillRect/>
          </a:stretch>
        </p:blipFill>
        <p:spPr>
          <a:xfrm>
            <a:off x="9550375" y="89129"/>
            <a:ext cx="4194937" cy="4201566"/>
          </a:xfrm>
          <a:prstGeom prst="rect">
            <a:avLst/>
          </a:prstGeom>
        </p:spPr>
      </p:pic>
      <p:sp>
        <p:nvSpPr>
          <p:cNvPr id="86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87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dirty="0"/>
          </a:p>
        </p:txBody>
      </p:sp>
      <p:pic>
        <p:nvPicPr>
          <p:cNvPr id="88" name="CANN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940" y="368300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" name="Text 1"/>
          <p:cNvSpPr/>
          <p:nvPr/>
        </p:nvSpPr>
        <p:spPr>
          <a:xfrm>
            <a:off x="1383506" y="368300"/>
            <a:ext cx="451168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1.2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1903730" y="368300"/>
            <a:ext cx="6841173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Attention机制演进：从MHA到GQA与MLA</a:t>
            </a:r>
            <a:endParaRPr lang="en-US" sz="1856" dirty="0"/>
          </a:p>
        </p:txBody>
      </p:sp>
      <p:sp>
        <p:nvSpPr>
          <p:cNvPr id="5" name="Text 3"/>
          <p:cNvSpPr/>
          <p:nvPr/>
        </p:nvSpPr>
        <p:spPr>
          <a:xfrm>
            <a:off x="1903730" y="847090"/>
            <a:ext cx="13010198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KV Cache优化成为推理效率的关键战场</a:t>
            </a:r>
            <a:endParaRPr lang="en-US" sz="1856" dirty="0"/>
          </a:p>
        </p:txBody>
      </p:sp>
      <p:sp>
        <p:nvSpPr>
          <p:cNvPr id="6" name="Shape 4"/>
          <p:cNvSpPr/>
          <p:nvPr/>
        </p:nvSpPr>
        <p:spPr>
          <a:xfrm>
            <a:off x="1424940" y="1289050"/>
            <a:ext cx="6445250" cy="6202909"/>
          </a:xfrm>
          <a:custGeom>
            <a:avLst/>
            <a:gdLst/>
            <a:ahLst/>
            <a:cxnLst/>
            <a:rect l="l" t="t" r="r" b="b"/>
            <a:pathLst>
              <a:path w="6270625" h="6254750">
                <a:moveTo>
                  <a:pt x="63486" y="0"/>
                </a:moveTo>
                <a:lnTo>
                  <a:pt x="6207139" y="0"/>
                </a:lnTo>
                <a:cubicBezTo>
                  <a:pt x="6242201" y="0"/>
                  <a:pt x="6270625" y="28424"/>
                  <a:pt x="6270625" y="63486"/>
                </a:cubicBezTo>
                <a:lnTo>
                  <a:pt x="6270625" y="6191264"/>
                </a:lnTo>
                <a:cubicBezTo>
                  <a:pt x="6270625" y="6226326"/>
                  <a:pt x="6242201" y="6254750"/>
                  <a:pt x="6207139" y="6254750"/>
                </a:cubicBezTo>
                <a:lnTo>
                  <a:pt x="63486" y="6254750"/>
                </a:lnTo>
                <a:cubicBezTo>
                  <a:pt x="28424" y="6254750"/>
                  <a:pt x="0" y="6226326"/>
                  <a:pt x="0" y="6191264"/>
                </a:cubicBezTo>
                <a:lnTo>
                  <a:pt x="0" y="63486"/>
                </a:lnTo>
                <a:cubicBezTo>
                  <a:pt x="0" y="28424"/>
                  <a:pt x="28424" y="0"/>
                  <a:pt x="63486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7" name="Shape 5"/>
          <p:cNvSpPr/>
          <p:nvPr/>
        </p:nvSpPr>
        <p:spPr>
          <a:xfrm>
            <a:off x="1620600" y="1510030"/>
            <a:ext cx="207169" cy="1841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19844"/>
                </a:moveTo>
                <a:cubicBezTo>
                  <a:pt x="122163" y="19844"/>
                  <a:pt x="148828" y="46509"/>
                  <a:pt x="148828" y="79375"/>
                </a:cubicBezTo>
                <a:cubicBezTo>
                  <a:pt x="148828" y="112241"/>
                  <a:pt x="122163" y="138906"/>
                  <a:pt x="89297" y="138906"/>
                </a:cubicBezTo>
                <a:cubicBezTo>
                  <a:pt x="69081" y="138906"/>
                  <a:pt x="51191" y="128829"/>
                  <a:pt x="40432" y="113388"/>
                </a:cubicBezTo>
                <a:cubicBezTo>
                  <a:pt x="37300" y="108893"/>
                  <a:pt x="31099" y="107807"/>
                  <a:pt x="26603" y="110939"/>
                </a:cubicBezTo>
                <a:cubicBezTo>
                  <a:pt x="22107" y="114071"/>
                  <a:pt x="21022" y="120272"/>
                  <a:pt x="24154" y="124768"/>
                </a:cubicBezTo>
                <a:cubicBezTo>
                  <a:pt x="38478" y="145293"/>
                  <a:pt x="62322" y="158750"/>
                  <a:pt x="89297" y="158750"/>
                </a:cubicBezTo>
                <a:cubicBezTo>
                  <a:pt x="133139" y="158750"/>
                  <a:pt x="168672" y="123217"/>
                  <a:pt x="168672" y="79375"/>
                </a:cubicBezTo>
                <a:cubicBezTo>
                  <a:pt x="168672" y="35533"/>
                  <a:pt x="133139" y="0"/>
                  <a:pt x="89297" y="0"/>
                </a:cubicBezTo>
                <a:cubicBezTo>
                  <a:pt x="62725" y="0"/>
                  <a:pt x="39222" y="13053"/>
                  <a:pt x="24805" y="33083"/>
                </a:cubicBezTo>
                <a:lnTo>
                  <a:pt x="24805" y="24805"/>
                </a:lnTo>
                <a:cubicBezTo>
                  <a:pt x="24805" y="19317"/>
                  <a:pt x="20371" y="14883"/>
                  <a:pt x="14883" y="14883"/>
                </a:cubicBezTo>
                <a:cubicBezTo>
                  <a:pt x="9395" y="14883"/>
                  <a:pt x="4961" y="19317"/>
                  <a:pt x="4961" y="24805"/>
                </a:cubicBezTo>
                <a:lnTo>
                  <a:pt x="4961" y="59531"/>
                </a:lnTo>
                <a:cubicBezTo>
                  <a:pt x="4961" y="65019"/>
                  <a:pt x="9395" y="69453"/>
                  <a:pt x="14883" y="69453"/>
                </a:cubicBezTo>
                <a:lnTo>
                  <a:pt x="22510" y="69453"/>
                </a:lnTo>
                <a:cubicBezTo>
                  <a:pt x="22665" y="69453"/>
                  <a:pt x="22820" y="69453"/>
                  <a:pt x="22975" y="69453"/>
                </a:cubicBezTo>
                <a:lnTo>
                  <a:pt x="49640" y="69453"/>
                </a:lnTo>
                <a:cubicBezTo>
                  <a:pt x="55128" y="69453"/>
                  <a:pt x="59562" y="65019"/>
                  <a:pt x="59562" y="59531"/>
                </a:cubicBezTo>
                <a:cubicBezTo>
                  <a:pt x="59562" y="54043"/>
                  <a:pt x="55128" y="49609"/>
                  <a:pt x="49640" y="49609"/>
                </a:cubicBezTo>
                <a:lnTo>
                  <a:pt x="37765" y="49609"/>
                </a:lnTo>
                <a:cubicBezTo>
                  <a:pt x="48028" y="31812"/>
                  <a:pt x="67283" y="19844"/>
                  <a:pt x="89297" y="19844"/>
                </a:cubicBezTo>
                <a:close/>
                <a:moveTo>
                  <a:pt x="96738" y="47129"/>
                </a:moveTo>
                <a:cubicBezTo>
                  <a:pt x="96738" y="43005"/>
                  <a:pt x="93421" y="39688"/>
                  <a:pt x="89297" y="39688"/>
                </a:cubicBezTo>
                <a:cubicBezTo>
                  <a:pt x="85173" y="39688"/>
                  <a:pt x="81855" y="43005"/>
                  <a:pt x="81855" y="47129"/>
                </a:cubicBezTo>
                <a:lnTo>
                  <a:pt x="81855" y="79375"/>
                </a:lnTo>
                <a:cubicBezTo>
                  <a:pt x="81855" y="81359"/>
                  <a:pt x="82631" y="83251"/>
                  <a:pt x="84026" y="84646"/>
                </a:cubicBezTo>
                <a:lnTo>
                  <a:pt x="106350" y="106970"/>
                </a:lnTo>
                <a:cubicBezTo>
                  <a:pt x="109265" y="109885"/>
                  <a:pt x="113978" y="109885"/>
                  <a:pt x="116861" y="106970"/>
                </a:cubicBezTo>
                <a:cubicBezTo>
                  <a:pt x="119745" y="104056"/>
                  <a:pt x="119776" y="99343"/>
                  <a:pt x="116861" y="96459"/>
                </a:cubicBezTo>
                <a:lnTo>
                  <a:pt x="96707" y="76305"/>
                </a:lnTo>
                <a:lnTo>
                  <a:pt x="96707" y="47129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8" name="Text 6"/>
          <p:cNvSpPr/>
          <p:nvPr/>
        </p:nvSpPr>
        <p:spPr>
          <a:xfrm>
            <a:off x="1839278" y="1473200"/>
            <a:ext cx="6767513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四种Attention机制对比</a:t>
            </a:r>
            <a:endParaRPr lang="en-US" sz="1856" dirty="0"/>
          </a:p>
        </p:txBody>
      </p:sp>
      <p:sp>
        <p:nvSpPr>
          <p:cNvPr id="9" name="Shape 7"/>
          <p:cNvSpPr/>
          <p:nvPr/>
        </p:nvSpPr>
        <p:spPr>
          <a:xfrm>
            <a:off x="1627505" y="1878330"/>
            <a:ext cx="6025388" cy="1123315"/>
          </a:xfrm>
          <a:custGeom>
            <a:avLst/>
            <a:gdLst/>
            <a:ahLst/>
            <a:cxnLst/>
            <a:rect l="l" t="t" r="r" b="b"/>
            <a:pathLst>
              <a:path w="5937250" h="968375">
                <a:moveTo>
                  <a:pt x="31750" y="0"/>
                </a:moveTo>
                <a:lnTo>
                  <a:pt x="5873754" y="0"/>
                </a:lnTo>
                <a:cubicBezTo>
                  <a:pt x="5908822" y="0"/>
                  <a:pt x="5937250" y="28428"/>
                  <a:pt x="5937250" y="63496"/>
                </a:cubicBezTo>
                <a:lnTo>
                  <a:pt x="5937250" y="904879"/>
                </a:lnTo>
                <a:cubicBezTo>
                  <a:pt x="5937250" y="939947"/>
                  <a:pt x="5908822" y="968375"/>
                  <a:pt x="5873754" y="968375"/>
                </a:cubicBez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1627505" y="1878330"/>
            <a:ext cx="36830" cy="1123315"/>
          </a:xfrm>
          <a:custGeom>
            <a:avLst/>
            <a:gdLst/>
            <a:ahLst/>
            <a:cxnLst/>
            <a:rect l="l" t="t" r="r" b="b"/>
            <a:pathLst>
              <a:path w="31750" h="968375">
                <a:moveTo>
                  <a:pt x="31750" y="0"/>
                </a:moveTo>
                <a:lnTo>
                  <a:pt x="31750" y="0"/>
                </a:lnTo>
                <a:lnTo>
                  <a:pt x="31750" y="968375"/>
                </a:ln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" name="Text 9"/>
          <p:cNvSpPr/>
          <p:nvPr/>
        </p:nvSpPr>
        <p:spPr>
          <a:xfrm>
            <a:off x="1793240" y="2025650"/>
            <a:ext cx="2495233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MHA (Multi-Head Attention)</a:t>
            </a:r>
            <a:endParaRPr lang="en-US" sz="1856" dirty="0"/>
          </a:p>
        </p:txBody>
      </p:sp>
      <p:sp>
        <p:nvSpPr>
          <p:cNvPr id="12" name="Shape 10"/>
          <p:cNvSpPr/>
          <p:nvPr/>
        </p:nvSpPr>
        <p:spPr>
          <a:xfrm>
            <a:off x="6943079" y="2025650"/>
            <a:ext cx="607695" cy="257810"/>
          </a:xfrm>
          <a:custGeom>
            <a:avLst/>
            <a:gdLst/>
            <a:ahLst/>
            <a:cxnLst/>
            <a:rect l="l" t="t" r="r" b="b"/>
            <a:pathLst>
              <a:path w="523875" h="222250">
                <a:moveTo>
                  <a:pt x="31751" y="0"/>
                </a:moveTo>
                <a:lnTo>
                  <a:pt x="492124" y="0"/>
                </a:lnTo>
                <a:cubicBezTo>
                  <a:pt x="509660" y="0"/>
                  <a:pt x="523875" y="14215"/>
                  <a:pt x="523875" y="31751"/>
                </a:cubicBezTo>
                <a:lnTo>
                  <a:pt x="523875" y="190499"/>
                </a:lnTo>
                <a:cubicBezTo>
                  <a:pt x="523875" y="208035"/>
                  <a:pt x="509660" y="222250"/>
                  <a:pt x="4921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0F0"/>
          </a:solidFill>
        </p:spPr>
      </p:sp>
      <p:sp>
        <p:nvSpPr>
          <p:cNvPr id="13" name="Text 11"/>
          <p:cNvSpPr/>
          <p:nvPr/>
        </p:nvSpPr>
        <p:spPr>
          <a:xfrm>
            <a:off x="6943079" y="2025650"/>
            <a:ext cx="672148" cy="257810"/>
          </a:xfrm>
          <a:prstGeom prst="rect">
            <a:avLst/>
          </a:prstGeom>
          <a:noFill/>
        </p:spPr>
        <p:txBody>
          <a:bodyPr wrap="square" lIns="110490" tIns="36830" rIns="110490" bIns="3683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高内存</a:t>
            </a:r>
            <a:endParaRPr lang="en-US" sz="1856" dirty="0"/>
          </a:p>
        </p:txBody>
      </p:sp>
      <p:sp>
        <p:nvSpPr>
          <p:cNvPr id="14" name="Text 12"/>
          <p:cNvSpPr/>
          <p:nvPr/>
        </p:nvSpPr>
        <p:spPr>
          <a:xfrm>
            <a:off x="1793240" y="2357120"/>
            <a:ext cx="5757266" cy="239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每个Query头都有独立的Key和Value头，表达能力最强，但KV Cache内存占用最高。</a:t>
            </a:r>
            <a:endParaRPr lang="en-US" sz="1856" dirty="0"/>
          </a:p>
        </p:txBody>
      </p:sp>
      <p:sp>
        <p:nvSpPr>
          <p:cNvPr id="15" name="Text 13"/>
          <p:cNvSpPr/>
          <p:nvPr/>
        </p:nvSpPr>
        <p:spPr>
          <a:xfrm>
            <a:off x="1793240" y="2670175"/>
            <a:ext cx="5964987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KV Cache：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2 × batch_size </a:t>
            </a:r>
            <a:r>
              <a:rPr lang="zh-CN" alt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×</a:t>
            </a:r>
            <a:r>
              <a:rPr lang="en-US" altLang="zh-CN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 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num_heads × seq_len × head_dim</a:t>
            </a:r>
            <a:endParaRPr lang="en-US" sz="1856" dirty="0"/>
          </a:p>
        </p:txBody>
      </p:sp>
      <p:sp>
        <p:nvSpPr>
          <p:cNvPr id="16" name="Shape 14"/>
          <p:cNvSpPr/>
          <p:nvPr/>
        </p:nvSpPr>
        <p:spPr>
          <a:xfrm>
            <a:off x="1627505" y="3112135"/>
            <a:ext cx="6025388" cy="1123315"/>
          </a:xfrm>
          <a:custGeom>
            <a:avLst/>
            <a:gdLst/>
            <a:ahLst/>
            <a:cxnLst/>
            <a:rect l="l" t="t" r="r" b="b"/>
            <a:pathLst>
              <a:path w="5937250" h="968375">
                <a:moveTo>
                  <a:pt x="31750" y="0"/>
                </a:moveTo>
                <a:lnTo>
                  <a:pt x="5873754" y="0"/>
                </a:lnTo>
                <a:cubicBezTo>
                  <a:pt x="5908822" y="0"/>
                  <a:pt x="5937250" y="28428"/>
                  <a:pt x="5937250" y="63496"/>
                </a:cubicBezTo>
                <a:lnTo>
                  <a:pt x="5937250" y="904879"/>
                </a:lnTo>
                <a:cubicBezTo>
                  <a:pt x="5937250" y="939947"/>
                  <a:pt x="5908822" y="968375"/>
                  <a:pt x="5873754" y="968375"/>
                </a:cubicBez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1627505" y="3112135"/>
            <a:ext cx="36830" cy="1123315"/>
          </a:xfrm>
          <a:custGeom>
            <a:avLst/>
            <a:gdLst/>
            <a:ahLst/>
            <a:cxnLst/>
            <a:rect l="l" t="t" r="r" b="b"/>
            <a:pathLst>
              <a:path w="31750" h="968375">
                <a:moveTo>
                  <a:pt x="31750" y="0"/>
                </a:moveTo>
                <a:lnTo>
                  <a:pt x="31750" y="0"/>
                </a:lnTo>
                <a:lnTo>
                  <a:pt x="31750" y="968375"/>
                </a:ln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F7F7F"/>
          </a:solidFill>
        </p:spPr>
      </p:sp>
      <p:sp>
        <p:nvSpPr>
          <p:cNvPr id="18" name="Text 16"/>
          <p:cNvSpPr/>
          <p:nvPr/>
        </p:nvSpPr>
        <p:spPr>
          <a:xfrm>
            <a:off x="1793240" y="3259455"/>
            <a:ext cx="2559685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MQA (Multi-Query Attention)</a:t>
            </a:r>
            <a:endParaRPr lang="en-US" sz="1856" dirty="0"/>
          </a:p>
        </p:txBody>
      </p:sp>
      <p:sp>
        <p:nvSpPr>
          <p:cNvPr id="19" name="Shape 17"/>
          <p:cNvSpPr/>
          <p:nvPr/>
        </p:nvSpPr>
        <p:spPr>
          <a:xfrm>
            <a:off x="6943079" y="3259455"/>
            <a:ext cx="607695" cy="257810"/>
          </a:xfrm>
          <a:custGeom>
            <a:avLst/>
            <a:gdLst/>
            <a:ahLst/>
            <a:cxnLst/>
            <a:rect l="l" t="t" r="r" b="b"/>
            <a:pathLst>
              <a:path w="523875" h="222250">
                <a:moveTo>
                  <a:pt x="31751" y="0"/>
                </a:moveTo>
                <a:lnTo>
                  <a:pt x="492124" y="0"/>
                </a:lnTo>
                <a:cubicBezTo>
                  <a:pt x="509660" y="0"/>
                  <a:pt x="523875" y="14215"/>
                  <a:pt x="523875" y="31751"/>
                </a:cubicBezTo>
                <a:lnTo>
                  <a:pt x="523875" y="190499"/>
                </a:lnTo>
                <a:cubicBezTo>
                  <a:pt x="523875" y="208035"/>
                  <a:pt x="509660" y="222250"/>
                  <a:pt x="4921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8F0"/>
          </a:solidFill>
        </p:spPr>
      </p:sp>
      <p:sp>
        <p:nvSpPr>
          <p:cNvPr id="20" name="Text 18"/>
          <p:cNvSpPr/>
          <p:nvPr/>
        </p:nvSpPr>
        <p:spPr>
          <a:xfrm>
            <a:off x="6943079" y="3259455"/>
            <a:ext cx="672148" cy="257810"/>
          </a:xfrm>
          <a:prstGeom prst="rect">
            <a:avLst/>
          </a:prstGeom>
          <a:noFill/>
        </p:spPr>
        <p:txBody>
          <a:bodyPr wrap="square" lIns="110490" tIns="36830" rIns="110490" bIns="3683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ED7D31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低</a:t>
            </a:r>
            <a:r>
              <a:rPr lang="zh-CN" altLang="en-US" sz="1015" b="1" dirty="0">
                <a:solidFill>
                  <a:srgbClr val="ED7D31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内存</a:t>
            </a:r>
            <a:endParaRPr lang="zh-CN" altLang="en-US" sz="1015" b="1" dirty="0">
              <a:solidFill>
                <a:srgbClr val="ED7D31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793240" y="3590925"/>
            <a:ext cx="6647815" cy="239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所有Query头共享一组KV头，内存占用最低，但表达能力下降，可能损害模型质量。</a:t>
            </a:r>
            <a:endParaRPr lang="en-US" sz="1856" dirty="0"/>
          </a:p>
        </p:txBody>
      </p:sp>
      <p:sp>
        <p:nvSpPr>
          <p:cNvPr id="22" name="Text 20"/>
          <p:cNvSpPr/>
          <p:nvPr/>
        </p:nvSpPr>
        <p:spPr>
          <a:xfrm>
            <a:off x="1793240" y="3903980"/>
            <a:ext cx="4419600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KV Cache：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2 × 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batch_size </a:t>
            </a:r>
            <a:r>
              <a:rPr lang="zh-CN" alt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×</a:t>
            </a:r>
            <a:r>
              <a:rPr lang="en-US" altLang="zh-CN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 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 × seq_len × head_dim</a:t>
            </a:r>
            <a:endParaRPr lang="en-US" sz="1856" dirty="0"/>
          </a:p>
        </p:txBody>
      </p:sp>
      <p:sp>
        <p:nvSpPr>
          <p:cNvPr id="23" name="Shape 21"/>
          <p:cNvSpPr/>
          <p:nvPr/>
        </p:nvSpPr>
        <p:spPr>
          <a:xfrm>
            <a:off x="1627505" y="4345940"/>
            <a:ext cx="6025388" cy="1123315"/>
          </a:xfrm>
          <a:custGeom>
            <a:avLst/>
            <a:gdLst/>
            <a:ahLst/>
            <a:cxnLst/>
            <a:rect l="l" t="t" r="r" b="b"/>
            <a:pathLst>
              <a:path w="5937250" h="968375">
                <a:moveTo>
                  <a:pt x="31750" y="0"/>
                </a:moveTo>
                <a:lnTo>
                  <a:pt x="5873754" y="0"/>
                </a:lnTo>
                <a:cubicBezTo>
                  <a:pt x="5908822" y="0"/>
                  <a:pt x="5937250" y="28428"/>
                  <a:pt x="5937250" y="63496"/>
                </a:cubicBezTo>
                <a:lnTo>
                  <a:pt x="5937250" y="904879"/>
                </a:lnTo>
                <a:cubicBezTo>
                  <a:pt x="5937250" y="939947"/>
                  <a:pt x="5908822" y="968375"/>
                  <a:pt x="5873754" y="968375"/>
                </a:cubicBez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1627505" y="4345940"/>
            <a:ext cx="36830" cy="1123315"/>
          </a:xfrm>
          <a:custGeom>
            <a:avLst/>
            <a:gdLst/>
            <a:ahLst/>
            <a:cxnLst/>
            <a:rect l="l" t="t" r="r" b="b"/>
            <a:pathLst>
              <a:path w="31750" h="968375">
                <a:moveTo>
                  <a:pt x="31750" y="0"/>
                </a:moveTo>
                <a:lnTo>
                  <a:pt x="31750" y="0"/>
                </a:lnTo>
                <a:lnTo>
                  <a:pt x="31750" y="968375"/>
                </a:ln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1793240" y="4493260"/>
            <a:ext cx="2799080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GQA (Grouped-Query Attention)</a:t>
            </a:r>
            <a:endParaRPr lang="en-US" sz="1856" dirty="0"/>
          </a:p>
        </p:txBody>
      </p:sp>
      <p:sp>
        <p:nvSpPr>
          <p:cNvPr id="26" name="Shape 24"/>
          <p:cNvSpPr/>
          <p:nvPr/>
        </p:nvSpPr>
        <p:spPr>
          <a:xfrm>
            <a:off x="7071984" y="4493260"/>
            <a:ext cx="478790" cy="257810"/>
          </a:xfrm>
          <a:custGeom>
            <a:avLst/>
            <a:gdLst/>
            <a:ahLst/>
            <a:cxnLst/>
            <a:rect l="l" t="t" r="r" b="b"/>
            <a:pathLst>
              <a:path w="412750" h="222250">
                <a:moveTo>
                  <a:pt x="31751" y="0"/>
                </a:moveTo>
                <a:lnTo>
                  <a:pt x="380999" y="0"/>
                </a:lnTo>
                <a:cubicBezTo>
                  <a:pt x="398535" y="0"/>
                  <a:pt x="412750" y="14215"/>
                  <a:pt x="412750" y="31751"/>
                </a:cubicBezTo>
                <a:lnTo>
                  <a:pt x="412750" y="190499"/>
                </a:lnTo>
                <a:cubicBezTo>
                  <a:pt x="412750" y="208035"/>
                  <a:pt x="398535" y="222250"/>
                  <a:pt x="38099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0FFF0"/>
          </a:solidFill>
        </p:spPr>
      </p:sp>
      <p:sp>
        <p:nvSpPr>
          <p:cNvPr id="27" name="Text 25"/>
          <p:cNvSpPr/>
          <p:nvPr/>
        </p:nvSpPr>
        <p:spPr>
          <a:xfrm>
            <a:off x="7071984" y="4493260"/>
            <a:ext cx="543243" cy="257810"/>
          </a:xfrm>
          <a:prstGeom prst="rect">
            <a:avLst/>
          </a:prstGeom>
          <a:noFill/>
        </p:spPr>
        <p:txBody>
          <a:bodyPr wrap="square" lIns="110490" tIns="36830" rIns="110490" bIns="3683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70AD47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平衡</a:t>
            </a:r>
            <a:endParaRPr lang="en-US" sz="1856" dirty="0"/>
          </a:p>
        </p:txBody>
      </p:sp>
      <p:sp>
        <p:nvSpPr>
          <p:cNvPr id="28" name="Text 26"/>
          <p:cNvSpPr/>
          <p:nvPr/>
        </p:nvSpPr>
        <p:spPr>
          <a:xfrm>
            <a:off x="1793240" y="4824730"/>
            <a:ext cx="6647815" cy="239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将Query头分组，每组共享KV头。Llama 3、Qwen 3等主流模型采用，平衡性能与效率。</a:t>
            </a:r>
            <a:endParaRPr lang="en-US" sz="1856" dirty="0"/>
          </a:p>
        </p:txBody>
      </p:sp>
      <p:sp>
        <p:nvSpPr>
          <p:cNvPr id="29" name="Text 27"/>
          <p:cNvSpPr/>
          <p:nvPr/>
        </p:nvSpPr>
        <p:spPr>
          <a:xfrm>
            <a:off x="1793240" y="5137785"/>
            <a:ext cx="4620692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KV Cache：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2 × 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batch_size </a:t>
            </a:r>
            <a:r>
              <a:rPr lang="zh-CN" alt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×</a:t>
            </a:r>
            <a:r>
              <a:rPr lang="en-US" altLang="zh-CN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 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num_kv_heads × seq_len × head_dim</a:t>
            </a:r>
            <a:endParaRPr lang="en-US" sz="1856" dirty="0"/>
          </a:p>
        </p:txBody>
      </p:sp>
      <p:sp>
        <p:nvSpPr>
          <p:cNvPr id="30" name="Shape 28"/>
          <p:cNvSpPr/>
          <p:nvPr/>
        </p:nvSpPr>
        <p:spPr>
          <a:xfrm>
            <a:off x="1627505" y="5579745"/>
            <a:ext cx="6025388" cy="1101954"/>
          </a:xfrm>
          <a:custGeom>
            <a:avLst/>
            <a:gdLst/>
            <a:ahLst/>
            <a:cxnLst/>
            <a:rect l="l" t="t" r="r" b="b"/>
            <a:pathLst>
              <a:path w="5937250" h="968375">
                <a:moveTo>
                  <a:pt x="31750" y="0"/>
                </a:moveTo>
                <a:lnTo>
                  <a:pt x="5873754" y="0"/>
                </a:lnTo>
                <a:cubicBezTo>
                  <a:pt x="5908822" y="0"/>
                  <a:pt x="5937250" y="28428"/>
                  <a:pt x="5937250" y="63496"/>
                </a:cubicBezTo>
                <a:lnTo>
                  <a:pt x="5937250" y="904879"/>
                </a:lnTo>
                <a:cubicBezTo>
                  <a:pt x="5937250" y="939947"/>
                  <a:pt x="5908822" y="968375"/>
                  <a:pt x="5873754" y="968375"/>
                </a:cubicBez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1" name="Shape 29"/>
          <p:cNvSpPr/>
          <p:nvPr/>
        </p:nvSpPr>
        <p:spPr>
          <a:xfrm>
            <a:off x="1627505" y="5579745"/>
            <a:ext cx="36830" cy="1123315"/>
          </a:xfrm>
          <a:custGeom>
            <a:avLst/>
            <a:gdLst/>
            <a:ahLst/>
            <a:cxnLst/>
            <a:rect l="l" t="t" r="r" b="b"/>
            <a:pathLst>
              <a:path w="31750" h="968375">
                <a:moveTo>
                  <a:pt x="31750" y="0"/>
                </a:moveTo>
                <a:lnTo>
                  <a:pt x="31750" y="0"/>
                </a:lnTo>
                <a:lnTo>
                  <a:pt x="31750" y="968375"/>
                </a:lnTo>
                <a:lnTo>
                  <a:pt x="31750" y="968375"/>
                </a:lnTo>
                <a:cubicBezTo>
                  <a:pt x="14227" y="968375"/>
                  <a:pt x="0" y="954148"/>
                  <a:pt x="0" y="93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2" name="Text 30"/>
          <p:cNvSpPr/>
          <p:nvPr/>
        </p:nvSpPr>
        <p:spPr>
          <a:xfrm>
            <a:off x="1793240" y="5727065"/>
            <a:ext cx="3047683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MLA (Multi-Head Latent Attention)</a:t>
            </a:r>
            <a:endParaRPr lang="en-US" sz="1856" dirty="0"/>
          </a:p>
        </p:txBody>
      </p:sp>
      <p:sp>
        <p:nvSpPr>
          <p:cNvPr id="33" name="Shape 31"/>
          <p:cNvSpPr/>
          <p:nvPr/>
        </p:nvSpPr>
        <p:spPr>
          <a:xfrm>
            <a:off x="6681318" y="5727065"/>
            <a:ext cx="869188" cy="257810"/>
          </a:xfrm>
          <a:custGeom>
            <a:avLst/>
            <a:gdLst/>
            <a:ahLst/>
            <a:cxnLst/>
            <a:rect l="l" t="t" r="r" b="b"/>
            <a:pathLst>
              <a:path w="412750" h="222250">
                <a:moveTo>
                  <a:pt x="31751" y="0"/>
                </a:moveTo>
                <a:lnTo>
                  <a:pt x="380999" y="0"/>
                </a:lnTo>
                <a:cubicBezTo>
                  <a:pt x="398535" y="0"/>
                  <a:pt x="412750" y="14215"/>
                  <a:pt x="412750" y="31751"/>
                </a:cubicBezTo>
                <a:lnTo>
                  <a:pt x="412750" y="190499"/>
                </a:lnTo>
                <a:cubicBezTo>
                  <a:pt x="412750" y="208035"/>
                  <a:pt x="398535" y="222250"/>
                  <a:pt x="38099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0F4FF"/>
          </a:solidFill>
        </p:spPr>
      </p:sp>
      <p:sp>
        <p:nvSpPr>
          <p:cNvPr id="34" name="Text 32"/>
          <p:cNvSpPr/>
          <p:nvPr/>
        </p:nvSpPr>
        <p:spPr>
          <a:xfrm>
            <a:off x="6675425" y="5727065"/>
            <a:ext cx="875081" cy="257810"/>
          </a:xfrm>
          <a:prstGeom prst="rect">
            <a:avLst/>
          </a:prstGeom>
          <a:noFill/>
        </p:spPr>
        <p:txBody>
          <a:bodyPr wrap="square" lIns="110490" tIns="36830" rIns="110490" bIns="36830" rtlCol="0" anchor="ctr"/>
          <a:lstStyle/>
          <a:p>
            <a:pPr>
              <a:lnSpc>
                <a:spcPct val="120000"/>
              </a:lnSpc>
            </a:pPr>
            <a:r>
              <a:rPr lang="zh-CN" altLang="en-US" sz="1015" b="1" dirty="0">
                <a:solidFill>
                  <a:srgbClr val="4472C4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计算换内存</a:t>
            </a:r>
            <a:endParaRPr lang="zh-CN" altLang="en-US" sz="1015" b="1" dirty="0">
              <a:solidFill>
                <a:srgbClr val="4472C4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793240" y="6058535"/>
            <a:ext cx="5931103" cy="239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DeepSeek-V2提出，MLA 把 KV 进一步压缩到低秩 latent 空间再参与注意力，所以比 GQA 更省 KV Cache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内存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/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访存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，但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计算量更大，实现也更复杂。</a:t>
            </a:r>
            <a:endParaRPr lang="en-US" altLang="zh-CN" sz="1160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793240" y="6459982"/>
            <a:ext cx="6076950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KV Cache：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batch_size </a:t>
            </a:r>
            <a:r>
              <a:rPr lang="zh-CN" alt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×</a:t>
            </a:r>
            <a:r>
              <a:rPr lang="en-US" altLang="zh-CN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 1 </a:t>
            </a:r>
            <a:r>
              <a:rPr lang="en-US" sz="101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× seq_len × latent_dim</a:t>
            </a:r>
            <a:endParaRPr lang="en-US" sz="1856" dirty="0"/>
          </a:p>
        </p:txBody>
      </p:sp>
      <p:sp>
        <p:nvSpPr>
          <p:cNvPr id="37" name="Shape 35"/>
          <p:cNvSpPr/>
          <p:nvPr/>
        </p:nvSpPr>
        <p:spPr>
          <a:xfrm>
            <a:off x="8881145" y="375666"/>
            <a:ext cx="5948045" cy="2762250"/>
          </a:xfrm>
          <a:custGeom>
            <a:avLst/>
            <a:gdLst/>
            <a:ahLst/>
            <a:cxnLst/>
            <a:rect l="l" t="t" r="r" b="b"/>
            <a:pathLst>
              <a:path w="5127625" h="2381250">
                <a:moveTo>
                  <a:pt x="63508" y="0"/>
                </a:moveTo>
                <a:lnTo>
                  <a:pt x="5064117" y="0"/>
                </a:lnTo>
                <a:cubicBezTo>
                  <a:pt x="5099192" y="0"/>
                  <a:pt x="5127625" y="28433"/>
                  <a:pt x="5127625" y="63508"/>
                </a:cubicBezTo>
                <a:lnTo>
                  <a:pt x="5127625" y="2317742"/>
                </a:lnTo>
                <a:cubicBezTo>
                  <a:pt x="5127625" y="2352817"/>
                  <a:pt x="5099192" y="2381250"/>
                  <a:pt x="5064117" y="2381250"/>
                </a:cubicBezTo>
                <a:lnTo>
                  <a:pt x="63508" y="2381250"/>
                </a:lnTo>
                <a:cubicBezTo>
                  <a:pt x="28433" y="2381250"/>
                  <a:pt x="0" y="2352817"/>
                  <a:pt x="0" y="2317742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8" name="Shape 36"/>
          <p:cNvSpPr/>
          <p:nvPr/>
        </p:nvSpPr>
        <p:spPr>
          <a:xfrm>
            <a:off x="9088313" y="596646"/>
            <a:ext cx="184150" cy="1841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9295482" y="559816"/>
            <a:ext cx="5441633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KV Cache大小对比</a:t>
            </a:r>
            <a:endParaRPr lang="en-US" sz="1856" dirty="0"/>
          </a:p>
        </p:txBody>
      </p:sp>
      <p:sp>
        <p:nvSpPr>
          <p:cNvPr id="40" name="Text 38"/>
          <p:cNvSpPr/>
          <p:nvPr/>
        </p:nvSpPr>
        <p:spPr>
          <a:xfrm>
            <a:off x="9065295" y="964946"/>
            <a:ext cx="395923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MHA</a:t>
            </a:r>
            <a:endParaRPr lang="en-US" sz="1856" dirty="0"/>
          </a:p>
        </p:txBody>
      </p:sp>
      <p:sp>
        <p:nvSpPr>
          <p:cNvPr id="41" name="Text 39"/>
          <p:cNvSpPr/>
          <p:nvPr/>
        </p:nvSpPr>
        <p:spPr>
          <a:xfrm>
            <a:off x="14309398" y="964946"/>
            <a:ext cx="405130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100%</a:t>
            </a:r>
            <a:endParaRPr lang="en-US" sz="1856" dirty="0"/>
          </a:p>
        </p:txBody>
      </p:sp>
      <p:sp>
        <p:nvSpPr>
          <p:cNvPr id="42" name="Shape 40"/>
          <p:cNvSpPr/>
          <p:nvPr/>
        </p:nvSpPr>
        <p:spPr>
          <a:xfrm>
            <a:off x="9065295" y="1185926"/>
            <a:ext cx="5579745" cy="110490"/>
          </a:xfrm>
          <a:custGeom>
            <a:avLst/>
            <a:gdLst/>
            <a:ahLst/>
            <a:cxnLst/>
            <a:rect l="l" t="t" r="r" b="b"/>
            <a:pathLst>
              <a:path w="4810125" h="95250">
                <a:moveTo>
                  <a:pt x="47625" y="0"/>
                </a:moveTo>
                <a:lnTo>
                  <a:pt x="4762500" y="0"/>
                </a:lnTo>
                <a:cubicBezTo>
                  <a:pt x="4788785" y="0"/>
                  <a:pt x="4810125" y="21340"/>
                  <a:pt x="4810125" y="47625"/>
                </a:cubicBezTo>
                <a:lnTo>
                  <a:pt x="4810125" y="47625"/>
                </a:lnTo>
                <a:cubicBezTo>
                  <a:pt x="4810125" y="73910"/>
                  <a:pt x="4788785" y="95250"/>
                  <a:pt x="47625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9065295" y="1185926"/>
            <a:ext cx="5579745" cy="110490"/>
          </a:xfrm>
          <a:custGeom>
            <a:avLst/>
            <a:gdLst/>
            <a:ahLst/>
            <a:cxnLst/>
            <a:rect l="l" t="t" r="r" b="b"/>
            <a:pathLst>
              <a:path w="4810125" h="95250">
                <a:moveTo>
                  <a:pt x="47625" y="0"/>
                </a:moveTo>
                <a:lnTo>
                  <a:pt x="4762500" y="0"/>
                </a:lnTo>
                <a:cubicBezTo>
                  <a:pt x="4788785" y="0"/>
                  <a:pt x="4810125" y="21340"/>
                  <a:pt x="4810125" y="47625"/>
                </a:cubicBezTo>
                <a:lnTo>
                  <a:pt x="4810125" y="47625"/>
                </a:lnTo>
                <a:cubicBezTo>
                  <a:pt x="4810125" y="73910"/>
                  <a:pt x="4788785" y="95250"/>
                  <a:pt x="47625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9065295" y="1406906"/>
            <a:ext cx="377508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MQA</a:t>
            </a:r>
            <a:endParaRPr lang="en-US" sz="1856" dirty="0"/>
          </a:p>
        </p:txBody>
      </p:sp>
      <p:sp>
        <p:nvSpPr>
          <p:cNvPr id="45" name="Text 43"/>
          <p:cNvSpPr/>
          <p:nvPr/>
        </p:nvSpPr>
        <p:spPr>
          <a:xfrm>
            <a:off x="14368024" y="1406906"/>
            <a:ext cx="340678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~3%</a:t>
            </a:r>
            <a:endParaRPr lang="en-US" sz="1856" dirty="0"/>
          </a:p>
        </p:txBody>
      </p:sp>
      <p:sp>
        <p:nvSpPr>
          <p:cNvPr id="46" name="Shape 44"/>
          <p:cNvSpPr/>
          <p:nvPr/>
        </p:nvSpPr>
        <p:spPr>
          <a:xfrm>
            <a:off x="9065295" y="1627886"/>
            <a:ext cx="5579745" cy="110490"/>
          </a:xfrm>
          <a:custGeom>
            <a:avLst/>
            <a:gdLst/>
            <a:ahLst/>
            <a:cxnLst/>
            <a:rect l="l" t="t" r="r" b="b"/>
            <a:pathLst>
              <a:path w="4810125" h="95250">
                <a:moveTo>
                  <a:pt x="47625" y="0"/>
                </a:moveTo>
                <a:lnTo>
                  <a:pt x="4762500" y="0"/>
                </a:lnTo>
                <a:cubicBezTo>
                  <a:pt x="4788785" y="0"/>
                  <a:pt x="4810125" y="21340"/>
                  <a:pt x="4810125" y="47625"/>
                </a:cubicBezTo>
                <a:lnTo>
                  <a:pt x="4810125" y="47625"/>
                </a:lnTo>
                <a:cubicBezTo>
                  <a:pt x="4810125" y="73910"/>
                  <a:pt x="4788785" y="95250"/>
                  <a:pt x="47625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9065295" y="1627886"/>
            <a:ext cx="441960" cy="110490"/>
          </a:xfrm>
          <a:custGeom>
            <a:avLst/>
            <a:gdLst/>
            <a:ahLst/>
            <a:cxnLst/>
            <a:rect l="l" t="t" r="r" b="b"/>
            <a:pathLst>
              <a:path w="381000" h="95250">
                <a:moveTo>
                  <a:pt x="47625" y="0"/>
                </a:moveTo>
                <a:lnTo>
                  <a:pt x="333375" y="0"/>
                </a:lnTo>
                <a:cubicBezTo>
                  <a:pt x="359660" y="0"/>
                  <a:pt x="381000" y="21340"/>
                  <a:pt x="381000" y="47625"/>
                </a:cubicBezTo>
                <a:lnTo>
                  <a:pt x="381000" y="47625"/>
                </a:lnTo>
                <a:cubicBezTo>
                  <a:pt x="381000" y="73910"/>
                  <a:pt x="359660" y="95250"/>
                  <a:pt x="3333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9065295" y="1848866"/>
            <a:ext cx="1169353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GQA (8 KV heads)</a:t>
            </a:r>
            <a:endParaRPr lang="en-US" sz="1856" dirty="0"/>
          </a:p>
        </p:txBody>
      </p:sp>
      <p:sp>
        <p:nvSpPr>
          <p:cNvPr id="49" name="Text 47"/>
          <p:cNvSpPr/>
          <p:nvPr/>
        </p:nvSpPr>
        <p:spPr>
          <a:xfrm>
            <a:off x="14291486" y="1848866"/>
            <a:ext cx="423545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~25%</a:t>
            </a:r>
            <a:endParaRPr lang="en-US" sz="1856" dirty="0"/>
          </a:p>
        </p:txBody>
      </p:sp>
      <p:sp>
        <p:nvSpPr>
          <p:cNvPr id="50" name="Shape 48"/>
          <p:cNvSpPr/>
          <p:nvPr/>
        </p:nvSpPr>
        <p:spPr>
          <a:xfrm>
            <a:off x="9065295" y="2069846"/>
            <a:ext cx="5579745" cy="110490"/>
          </a:xfrm>
          <a:custGeom>
            <a:avLst/>
            <a:gdLst/>
            <a:ahLst/>
            <a:cxnLst/>
            <a:rect l="l" t="t" r="r" b="b"/>
            <a:pathLst>
              <a:path w="4810125" h="95250">
                <a:moveTo>
                  <a:pt x="47625" y="0"/>
                </a:moveTo>
                <a:lnTo>
                  <a:pt x="4762500" y="0"/>
                </a:lnTo>
                <a:cubicBezTo>
                  <a:pt x="4788785" y="0"/>
                  <a:pt x="4810125" y="21340"/>
                  <a:pt x="4810125" y="47625"/>
                </a:cubicBezTo>
                <a:lnTo>
                  <a:pt x="4810125" y="47625"/>
                </a:lnTo>
                <a:cubicBezTo>
                  <a:pt x="4810125" y="73910"/>
                  <a:pt x="4788785" y="95250"/>
                  <a:pt x="47625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9065295" y="2069846"/>
            <a:ext cx="1399540" cy="110490"/>
          </a:xfrm>
          <a:custGeom>
            <a:avLst/>
            <a:gdLst/>
            <a:ahLst/>
            <a:cxnLst/>
            <a:rect l="l" t="t" r="r" b="b"/>
            <a:pathLst>
              <a:path w="1206500" h="95250">
                <a:moveTo>
                  <a:pt x="47625" y="0"/>
                </a:moveTo>
                <a:lnTo>
                  <a:pt x="1158875" y="0"/>
                </a:lnTo>
                <a:cubicBezTo>
                  <a:pt x="1185160" y="0"/>
                  <a:pt x="1206500" y="21340"/>
                  <a:pt x="1206500" y="47625"/>
                </a:cubicBezTo>
                <a:lnTo>
                  <a:pt x="1206500" y="47625"/>
                </a:lnTo>
                <a:cubicBezTo>
                  <a:pt x="1206500" y="73910"/>
                  <a:pt x="1185160" y="95250"/>
                  <a:pt x="11588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2" name="Text 50"/>
          <p:cNvSpPr/>
          <p:nvPr/>
        </p:nvSpPr>
        <p:spPr>
          <a:xfrm>
            <a:off x="9065295" y="2290826"/>
            <a:ext cx="359093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MLA</a:t>
            </a:r>
            <a:endParaRPr lang="en-US" sz="1856" dirty="0"/>
          </a:p>
        </p:txBody>
      </p:sp>
      <p:sp>
        <p:nvSpPr>
          <p:cNvPr id="53" name="Text 51"/>
          <p:cNvSpPr/>
          <p:nvPr/>
        </p:nvSpPr>
        <p:spPr>
          <a:xfrm>
            <a:off x="14020685" y="2290826"/>
            <a:ext cx="589280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15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~7%</a:t>
            </a:r>
            <a:endParaRPr lang="en-US" sz="1856" dirty="0"/>
          </a:p>
        </p:txBody>
      </p:sp>
      <p:sp>
        <p:nvSpPr>
          <p:cNvPr id="54" name="Shape 52"/>
          <p:cNvSpPr/>
          <p:nvPr/>
        </p:nvSpPr>
        <p:spPr>
          <a:xfrm>
            <a:off x="9065295" y="2511806"/>
            <a:ext cx="5579745" cy="110490"/>
          </a:xfrm>
          <a:custGeom>
            <a:avLst/>
            <a:gdLst/>
            <a:ahLst/>
            <a:cxnLst/>
            <a:rect l="l" t="t" r="r" b="b"/>
            <a:pathLst>
              <a:path w="4810125" h="95250">
                <a:moveTo>
                  <a:pt x="47625" y="0"/>
                </a:moveTo>
                <a:lnTo>
                  <a:pt x="4762500" y="0"/>
                </a:lnTo>
                <a:cubicBezTo>
                  <a:pt x="4788785" y="0"/>
                  <a:pt x="4810125" y="21340"/>
                  <a:pt x="4810125" y="47625"/>
                </a:cubicBezTo>
                <a:lnTo>
                  <a:pt x="4810125" y="47625"/>
                </a:lnTo>
                <a:cubicBezTo>
                  <a:pt x="4810125" y="73910"/>
                  <a:pt x="4788785" y="95250"/>
                  <a:pt x="47625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9065295" y="2511806"/>
            <a:ext cx="672148" cy="110490"/>
          </a:xfrm>
          <a:custGeom>
            <a:avLst/>
            <a:gdLst/>
            <a:ahLst/>
            <a:cxnLst/>
            <a:rect l="l" t="t" r="r" b="b"/>
            <a:pathLst>
              <a:path w="579438" h="95250">
                <a:moveTo>
                  <a:pt x="47625" y="0"/>
                </a:moveTo>
                <a:lnTo>
                  <a:pt x="531813" y="0"/>
                </a:lnTo>
                <a:cubicBezTo>
                  <a:pt x="558097" y="0"/>
                  <a:pt x="579438" y="21340"/>
                  <a:pt x="579438" y="47625"/>
                </a:cubicBezTo>
                <a:lnTo>
                  <a:pt x="579438" y="47625"/>
                </a:lnTo>
                <a:cubicBezTo>
                  <a:pt x="579438" y="73910"/>
                  <a:pt x="558097" y="95250"/>
                  <a:pt x="531813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9065295" y="2769616"/>
            <a:ext cx="5644198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假设：num_heads=32, num_kv_heads=8, latent_dim=576, head_dim=128</a:t>
            </a:r>
            <a:endParaRPr lang="en-US" sz="1856" dirty="0"/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1246" y="3243986"/>
            <a:ext cx="4235450" cy="2875686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162" y="6068847"/>
            <a:ext cx="7126605" cy="1790675"/>
          </a:xfrm>
          <a:prstGeom prst="rect">
            <a:avLst/>
          </a:prstGeom>
        </p:spPr>
      </p:pic>
      <p:sp>
        <p:nvSpPr>
          <p:cNvPr id="89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90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dirty="0"/>
          </a:p>
        </p:txBody>
      </p:sp>
      <p:pic>
        <p:nvPicPr>
          <p:cNvPr id="91" name="CANN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6"/>
          <p:cNvSpPr/>
          <p:nvPr/>
        </p:nvSpPr>
        <p:spPr>
          <a:xfrm>
            <a:off x="8652459" y="3977640"/>
            <a:ext cx="6320765" cy="3933444"/>
          </a:xfrm>
          <a:custGeom>
            <a:avLst/>
            <a:gdLst/>
            <a:ahLst/>
            <a:cxnLst/>
            <a:rect l="l" t="t" r="r" b="b"/>
            <a:pathLst>
              <a:path w="6400800" h="1943100">
                <a:moveTo>
                  <a:pt x="76208" y="0"/>
                </a:moveTo>
                <a:lnTo>
                  <a:pt x="6324592" y="0"/>
                </a:lnTo>
                <a:cubicBezTo>
                  <a:pt x="6366680" y="0"/>
                  <a:pt x="6400800" y="34120"/>
                  <a:pt x="6400800" y="76208"/>
                </a:cubicBezTo>
                <a:lnTo>
                  <a:pt x="6400800" y="1866892"/>
                </a:lnTo>
                <a:cubicBezTo>
                  <a:pt x="6400800" y="1908980"/>
                  <a:pt x="6366680" y="1943100"/>
                  <a:pt x="63245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115" name="Shape 6"/>
          <p:cNvSpPr/>
          <p:nvPr/>
        </p:nvSpPr>
        <p:spPr>
          <a:xfrm>
            <a:off x="8652459" y="99441"/>
            <a:ext cx="6320765" cy="3709518"/>
          </a:xfrm>
          <a:custGeom>
            <a:avLst/>
            <a:gdLst/>
            <a:ahLst/>
            <a:cxnLst/>
            <a:rect l="l" t="t" r="r" b="b"/>
            <a:pathLst>
              <a:path w="6400800" h="1943100">
                <a:moveTo>
                  <a:pt x="76208" y="0"/>
                </a:moveTo>
                <a:lnTo>
                  <a:pt x="6324592" y="0"/>
                </a:lnTo>
                <a:cubicBezTo>
                  <a:pt x="6366680" y="0"/>
                  <a:pt x="6400800" y="34120"/>
                  <a:pt x="6400800" y="76208"/>
                </a:cubicBezTo>
                <a:lnTo>
                  <a:pt x="6400800" y="1866892"/>
                </a:lnTo>
                <a:cubicBezTo>
                  <a:pt x="6400800" y="1908980"/>
                  <a:pt x="6366680" y="1943100"/>
                  <a:pt x="63245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2" name="Shape 0"/>
          <p:cNvSpPr/>
          <p:nvPr/>
        </p:nvSpPr>
        <p:spPr>
          <a:xfrm>
            <a:off x="1424940" y="368300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" name="Text 1"/>
          <p:cNvSpPr/>
          <p:nvPr/>
        </p:nvSpPr>
        <p:spPr>
          <a:xfrm>
            <a:off x="1383506" y="368300"/>
            <a:ext cx="451168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1.2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1903730" y="368300"/>
            <a:ext cx="6841173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Attention机制演进：从MLA到DSA</a:t>
            </a:r>
            <a:endParaRPr lang="en-US" sz="1856" dirty="0"/>
          </a:p>
        </p:txBody>
      </p:sp>
      <p:sp>
        <p:nvSpPr>
          <p:cNvPr id="5" name="Text 3"/>
          <p:cNvSpPr/>
          <p:nvPr/>
        </p:nvSpPr>
        <p:spPr>
          <a:xfrm>
            <a:off x="1903730" y="847090"/>
            <a:ext cx="13010198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KV Cache优化成为推理效率的关键战场</a:t>
            </a:r>
            <a:endParaRPr lang="en-US" sz="1856" dirty="0"/>
          </a:p>
        </p:txBody>
      </p:sp>
      <p:sp>
        <p:nvSpPr>
          <p:cNvPr id="58" name="Shape 3"/>
          <p:cNvSpPr/>
          <p:nvPr/>
        </p:nvSpPr>
        <p:spPr>
          <a:xfrm>
            <a:off x="1504493" y="1154989"/>
            <a:ext cx="6898996" cy="3767709"/>
          </a:xfrm>
          <a:custGeom>
            <a:avLst/>
            <a:gdLst/>
            <a:ahLst/>
            <a:cxnLst/>
            <a:rect l="l" t="t" r="r" b="b"/>
            <a:pathLst>
              <a:path w="6715125" h="3248025">
                <a:moveTo>
                  <a:pt x="76199" y="0"/>
                </a:moveTo>
                <a:lnTo>
                  <a:pt x="6638926" y="0"/>
                </a:lnTo>
                <a:cubicBezTo>
                  <a:pt x="6681010" y="0"/>
                  <a:pt x="6715125" y="34115"/>
                  <a:pt x="6715125" y="76199"/>
                </a:cubicBezTo>
                <a:lnTo>
                  <a:pt x="6715125" y="3171826"/>
                </a:lnTo>
                <a:cubicBezTo>
                  <a:pt x="6715125" y="3213910"/>
                  <a:pt x="6681010" y="3248025"/>
                  <a:pt x="6638926" y="3248025"/>
                </a:cubicBezTo>
                <a:lnTo>
                  <a:pt x="76199" y="3248025"/>
                </a:lnTo>
                <a:cubicBezTo>
                  <a:pt x="34115" y="3248025"/>
                  <a:pt x="0" y="3213910"/>
                  <a:pt x="0" y="31718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14732">
            <a:solidFill>
              <a:srgbClr val="E0E0E0"/>
            </a:solidFill>
            <a:prstDash val="solid"/>
          </a:ln>
          <a:effectLst>
            <a:outerShdw blurRad="33147" dist="1104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9" name="Text 4"/>
          <p:cNvSpPr/>
          <p:nvPr/>
        </p:nvSpPr>
        <p:spPr>
          <a:xfrm>
            <a:off x="1686433" y="1336929"/>
            <a:ext cx="7535418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0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DSA核心机制</a:t>
            </a:r>
            <a:endParaRPr lang="en-US" sz="1856" dirty="0"/>
          </a:p>
        </p:txBody>
      </p:sp>
      <p:sp>
        <p:nvSpPr>
          <p:cNvPr id="60" name="Text 5"/>
          <p:cNvSpPr/>
          <p:nvPr/>
        </p:nvSpPr>
        <p:spPr>
          <a:xfrm>
            <a:off x="1686433" y="1778889"/>
            <a:ext cx="6442304" cy="5745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2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DSA（DeepSeek-V3.2, 2025）通过</a:t>
            </a:r>
            <a:r>
              <a:rPr lang="en-US" sz="1392" b="1" dirty="0">
                <a:solidFill>
                  <a:srgbClr val="333333"/>
                </a:solidFill>
                <a:highlight>
                  <a:srgbClr val="C00000">
                    <a:alpha val="10000"/>
                  </a:srgbClr>
                </a:highlight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 Lightning Indexer </a:t>
            </a:r>
            <a:r>
              <a:rPr lang="en-US" sz="1392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动态识别并选择最相关的k个KV对，将计算复杂度从O(L²)降至O(Lk)</a:t>
            </a:r>
            <a:r>
              <a:rPr lang="zh-CN" altLang="en-US" sz="1392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，</a:t>
            </a:r>
            <a:r>
              <a:rPr lang="en-US" altLang="zh-CN" sz="1392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k=2048</a:t>
            </a:r>
            <a:r>
              <a:rPr lang="en-US" sz="1392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。</a:t>
            </a:r>
            <a:endParaRPr lang="en-US" sz="1856" dirty="0"/>
          </a:p>
        </p:txBody>
      </p:sp>
      <p:sp>
        <p:nvSpPr>
          <p:cNvPr id="61" name="Shape 6"/>
          <p:cNvSpPr/>
          <p:nvPr/>
        </p:nvSpPr>
        <p:spPr>
          <a:xfrm>
            <a:off x="1686433" y="2486025"/>
            <a:ext cx="6386322" cy="2253996"/>
          </a:xfrm>
          <a:custGeom>
            <a:avLst/>
            <a:gdLst/>
            <a:ahLst/>
            <a:cxnLst/>
            <a:rect l="l" t="t" r="r" b="b"/>
            <a:pathLst>
              <a:path w="6400800" h="1943100">
                <a:moveTo>
                  <a:pt x="76208" y="0"/>
                </a:moveTo>
                <a:lnTo>
                  <a:pt x="6324592" y="0"/>
                </a:lnTo>
                <a:cubicBezTo>
                  <a:pt x="6366680" y="0"/>
                  <a:pt x="6400800" y="34120"/>
                  <a:pt x="6400800" y="76208"/>
                </a:cubicBezTo>
                <a:lnTo>
                  <a:pt x="6400800" y="1866892"/>
                </a:lnTo>
                <a:cubicBezTo>
                  <a:pt x="6400800" y="1908980"/>
                  <a:pt x="6366680" y="1943100"/>
                  <a:pt x="63245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62" name="Text 7"/>
          <p:cNvSpPr/>
          <p:nvPr/>
        </p:nvSpPr>
        <p:spPr>
          <a:xfrm>
            <a:off x="1819021" y="2618613"/>
            <a:ext cx="7248144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三阶段流程：</a:t>
            </a:r>
            <a:endParaRPr lang="en-US" sz="1856" dirty="0"/>
          </a:p>
        </p:txBody>
      </p:sp>
      <p:sp>
        <p:nvSpPr>
          <p:cNvPr id="63" name="Shape 8"/>
          <p:cNvSpPr/>
          <p:nvPr/>
        </p:nvSpPr>
        <p:spPr>
          <a:xfrm>
            <a:off x="1819021" y="2972181"/>
            <a:ext cx="265176" cy="265176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64" name="Text 9"/>
          <p:cNvSpPr/>
          <p:nvPr/>
        </p:nvSpPr>
        <p:spPr>
          <a:xfrm>
            <a:off x="1780350" y="2972181"/>
            <a:ext cx="342519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8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</a:t>
            </a:r>
            <a:endParaRPr lang="en-US" sz="1856" dirty="0"/>
          </a:p>
        </p:txBody>
      </p:sp>
      <p:sp>
        <p:nvSpPr>
          <p:cNvPr id="65" name="Text 10"/>
          <p:cNvSpPr/>
          <p:nvPr/>
        </p:nvSpPr>
        <p:spPr>
          <a:xfrm>
            <a:off x="2172589" y="2972181"/>
            <a:ext cx="3005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快速索引 (O(L))</a:t>
            </a:r>
            <a:endParaRPr lang="en-US" sz="1856" dirty="0"/>
          </a:p>
        </p:txBody>
      </p:sp>
      <p:sp>
        <p:nvSpPr>
          <p:cNvPr id="66" name="Text 11"/>
          <p:cNvSpPr/>
          <p:nvPr/>
        </p:nvSpPr>
        <p:spPr>
          <a:xfrm>
            <a:off x="2172589" y="3237357"/>
            <a:ext cx="2994279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Lightning Indexer计算粗粒度相似度分数</a:t>
            </a:r>
            <a:endParaRPr lang="en-US" sz="1856" dirty="0"/>
          </a:p>
        </p:txBody>
      </p:sp>
      <p:sp>
        <p:nvSpPr>
          <p:cNvPr id="67" name="Shape 12"/>
          <p:cNvSpPr/>
          <p:nvPr/>
        </p:nvSpPr>
        <p:spPr>
          <a:xfrm>
            <a:off x="1819021" y="3546729"/>
            <a:ext cx="265176" cy="265176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68" name="Text 13"/>
          <p:cNvSpPr/>
          <p:nvPr/>
        </p:nvSpPr>
        <p:spPr>
          <a:xfrm>
            <a:off x="1780350" y="3546729"/>
            <a:ext cx="342519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8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2</a:t>
            </a:r>
            <a:endParaRPr lang="en-US" sz="1856" dirty="0"/>
          </a:p>
        </p:txBody>
      </p:sp>
      <p:sp>
        <p:nvSpPr>
          <p:cNvPr id="69" name="Text 14"/>
          <p:cNvSpPr/>
          <p:nvPr/>
        </p:nvSpPr>
        <p:spPr>
          <a:xfrm>
            <a:off x="2172589" y="3546729"/>
            <a:ext cx="2618613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Top-k筛选</a:t>
            </a:r>
            <a:endParaRPr lang="en-US" sz="1856" dirty="0"/>
          </a:p>
        </p:txBody>
      </p:sp>
      <p:sp>
        <p:nvSpPr>
          <p:cNvPr id="70" name="Text 15"/>
          <p:cNvSpPr/>
          <p:nvPr/>
        </p:nvSpPr>
        <p:spPr>
          <a:xfrm>
            <a:off x="2172589" y="3811905"/>
            <a:ext cx="2607564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选择k个最相关的KV对（通常k=64）</a:t>
            </a:r>
            <a:endParaRPr lang="en-US" sz="1856" dirty="0"/>
          </a:p>
        </p:txBody>
      </p:sp>
      <p:sp>
        <p:nvSpPr>
          <p:cNvPr id="71" name="Shape 16"/>
          <p:cNvSpPr/>
          <p:nvPr/>
        </p:nvSpPr>
        <p:spPr>
          <a:xfrm>
            <a:off x="1819021" y="4121277"/>
            <a:ext cx="265176" cy="265176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2" name="Text 17"/>
          <p:cNvSpPr/>
          <p:nvPr/>
        </p:nvSpPr>
        <p:spPr>
          <a:xfrm>
            <a:off x="1780350" y="4121277"/>
            <a:ext cx="342519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8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3</a:t>
            </a:r>
            <a:endParaRPr lang="en-US" sz="1856" dirty="0"/>
          </a:p>
        </p:txBody>
      </p:sp>
      <p:sp>
        <p:nvSpPr>
          <p:cNvPr id="73" name="Text 18"/>
          <p:cNvSpPr/>
          <p:nvPr/>
        </p:nvSpPr>
        <p:spPr>
          <a:xfrm>
            <a:off x="2172589" y="4121277"/>
            <a:ext cx="2165604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精确计算</a:t>
            </a:r>
            <a:endParaRPr lang="en-US" sz="1856" dirty="0"/>
          </a:p>
        </p:txBody>
      </p:sp>
      <p:sp>
        <p:nvSpPr>
          <p:cNvPr id="74" name="Text 19"/>
          <p:cNvSpPr/>
          <p:nvPr/>
        </p:nvSpPr>
        <p:spPr>
          <a:xfrm>
            <a:off x="2172589" y="4386453"/>
            <a:ext cx="215455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仅对选中的KV执行注意力计算</a:t>
            </a:r>
            <a:endParaRPr lang="en-US" sz="1856" dirty="0"/>
          </a:p>
        </p:txBody>
      </p:sp>
      <p:sp>
        <p:nvSpPr>
          <p:cNvPr id="105" name="Shape 49"/>
          <p:cNvSpPr/>
          <p:nvPr/>
        </p:nvSpPr>
        <p:spPr>
          <a:xfrm>
            <a:off x="1504493" y="5270373"/>
            <a:ext cx="6536588" cy="795528"/>
          </a:xfrm>
          <a:custGeom>
            <a:avLst/>
            <a:gdLst/>
            <a:ahLst/>
            <a:cxnLst/>
            <a:rect l="l" t="t" r="r" b="b"/>
            <a:pathLst>
              <a:path w="4457700" h="685800">
                <a:moveTo>
                  <a:pt x="38100" y="0"/>
                </a:moveTo>
                <a:lnTo>
                  <a:pt x="4381501" y="0"/>
                </a:lnTo>
                <a:cubicBezTo>
                  <a:pt x="4423584" y="0"/>
                  <a:pt x="4457700" y="34116"/>
                  <a:pt x="4457700" y="76199"/>
                </a:cubicBezTo>
                <a:lnTo>
                  <a:pt x="4457700" y="609601"/>
                </a:lnTo>
                <a:cubicBezTo>
                  <a:pt x="4457700" y="651684"/>
                  <a:pt x="4423584" y="685800"/>
                  <a:pt x="43815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>
              <a:alpha val="5098"/>
            </a:srgbClr>
          </a:solidFill>
        </p:spPr>
      </p:sp>
      <p:sp>
        <p:nvSpPr>
          <p:cNvPr id="106" name="Shape 50"/>
          <p:cNvSpPr/>
          <p:nvPr/>
        </p:nvSpPr>
        <p:spPr>
          <a:xfrm>
            <a:off x="1504510" y="5270373"/>
            <a:ext cx="44196" cy="795528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07" name="Text 51"/>
          <p:cNvSpPr/>
          <p:nvPr/>
        </p:nvSpPr>
        <p:spPr>
          <a:xfrm>
            <a:off x="1659179" y="5402961"/>
            <a:ext cx="6392951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与MLA协同：</a:t>
            </a:r>
            <a:r>
              <a:rPr lang="en-US" sz="1392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MLA优化</a:t>
            </a:r>
            <a:r>
              <a:rPr lang="en-US" sz="1392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存储</a:t>
            </a:r>
            <a:r>
              <a:rPr lang="en-US" sz="1392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，</a:t>
            </a:r>
            <a:r>
              <a:rPr lang="en-US" sz="1392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DSA优化</a:t>
            </a:r>
            <a:r>
              <a:rPr lang="en-US" sz="1392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计算</a:t>
            </a:r>
            <a:r>
              <a:rPr lang="zh-CN" altLang="en-US" sz="1392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，</a:t>
            </a:r>
            <a:r>
              <a:rPr lang="en-US" sz="1392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两者结合实现高效长上下文推理</a:t>
            </a:r>
            <a:endParaRPr lang="en-US" sz="1856" dirty="0"/>
          </a:p>
        </p:txBody>
      </p:sp>
      <p:pic>
        <p:nvPicPr>
          <p:cNvPr id="112" name="图片 111" descr="1_5MvV9YDPmc37axJe60w8Ag"/>
          <p:cNvPicPr>
            <a:picLocks noChangeAspect="1"/>
          </p:cNvPicPr>
          <p:nvPr/>
        </p:nvPicPr>
        <p:blipFill>
          <a:blip r:embed="rId1"/>
          <a:srcRect l="3405" t="6184" r="3683" b="4015"/>
          <a:stretch>
            <a:fillRect/>
          </a:stretch>
        </p:blipFill>
        <p:spPr>
          <a:xfrm>
            <a:off x="9402318" y="511937"/>
            <a:ext cx="4610379" cy="2982493"/>
          </a:xfrm>
          <a:prstGeom prst="rect">
            <a:avLst/>
          </a:prstGeom>
        </p:spPr>
      </p:pic>
      <p:pic>
        <p:nvPicPr>
          <p:cNvPr id="113" name="图片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934" y="4397502"/>
            <a:ext cx="5646776" cy="3218942"/>
          </a:xfrm>
          <a:prstGeom prst="rect">
            <a:avLst/>
          </a:prstGeom>
        </p:spPr>
      </p:pic>
      <p:sp>
        <p:nvSpPr>
          <p:cNvPr id="114" name="文本框 113"/>
          <p:cNvSpPr txBox="1"/>
          <p:nvPr/>
        </p:nvSpPr>
        <p:spPr>
          <a:xfrm>
            <a:off x="9923831" y="187833"/>
            <a:ext cx="3566617" cy="427228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accent5"/>
                </a:solidFill>
              </a:rPr>
              <a:t>Multi-Head Latent Attention</a:t>
            </a:r>
            <a:endParaRPr lang="en-US" altLang="zh-CN" b="1">
              <a:solidFill>
                <a:schemeClr val="accent5"/>
              </a:solidFill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9836912" y="4018153"/>
            <a:ext cx="3912819" cy="427228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accent5"/>
                </a:solidFill>
              </a:rPr>
              <a:t>Deepseek Sparse Attention</a:t>
            </a:r>
            <a:endParaRPr lang="en-US" altLang="zh-CN" b="1">
              <a:solidFill>
                <a:schemeClr val="accent5"/>
              </a:solidFill>
            </a:endParaRPr>
          </a:p>
        </p:txBody>
      </p:sp>
      <p:sp>
        <p:nvSpPr>
          <p:cNvPr id="118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119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dirty="0"/>
          </a:p>
        </p:txBody>
      </p:sp>
      <p:pic>
        <p:nvPicPr>
          <p:cNvPr id="120" name="CANN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327" y="371687"/>
            <a:ext cx="371687" cy="371687"/>
          </a:xfrm>
          <a:custGeom>
            <a:avLst/>
            <a:gdLst/>
            <a:ahLst/>
            <a:cxnLst/>
            <a:rect l="l" t="t" r="r" b="b"/>
            <a:pathLst>
              <a:path w="320420" h="320420">
                <a:moveTo>
                  <a:pt x="160210" y="0"/>
                </a:moveTo>
                <a:lnTo>
                  <a:pt x="160210" y="0"/>
                </a:lnTo>
                <a:cubicBezTo>
                  <a:pt x="248633" y="0"/>
                  <a:pt x="320420" y="71788"/>
                  <a:pt x="320420" y="160210"/>
                </a:cubicBezTo>
                <a:lnTo>
                  <a:pt x="320420" y="160210"/>
                </a:lnTo>
                <a:cubicBezTo>
                  <a:pt x="320420" y="248633"/>
                  <a:pt x="248633" y="320420"/>
                  <a:pt x="160210" y="320420"/>
                </a:cubicBezTo>
                <a:lnTo>
                  <a:pt x="160210" y="320420"/>
                </a:lnTo>
                <a:cubicBezTo>
                  <a:pt x="71788" y="320420"/>
                  <a:pt x="0" y="248633"/>
                  <a:pt x="0" y="160210"/>
                </a:cubicBezTo>
                <a:lnTo>
                  <a:pt x="0" y="160210"/>
                </a:lnTo>
                <a:cubicBezTo>
                  <a:pt x="0" y="71788"/>
                  <a:pt x="71788" y="0"/>
                  <a:pt x="16021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" name="Text 1"/>
          <p:cNvSpPr/>
          <p:nvPr/>
        </p:nvSpPr>
        <p:spPr>
          <a:xfrm>
            <a:off x="1386513" y="371687"/>
            <a:ext cx="455317" cy="3716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7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1.3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1911522" y="371687"/>
            <a:ext cx="5370888" cy="3716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3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MOE与FFN</a:t>
            </a:r>
            <a:endParaRPr lang="en-US" sz="1856" dirty="0"/>
          </a:p>
        </p:txBody>
      </p:sp>
      <p:sp>
        <p:nvSpPr>
          <p:cNvPr id="6" name="Shape 4"/>
          <p:cNvSpPr/>
          <p:nvPr/>
        </p:nvSpPr>
        <p:spPr>
          <a:xfrm>
            <a:off x="1428623" y="888340"/>
            <a:ext cx="5064862" cy="2902941"/>
          </a:xfrm>
          <a:custGeom>
            <a:avLst/>
            <a:gdLst/>
            <a:ahLst/>
            <a:cxnLst/>
            <a:rect l="l" t="t" r="r" b="b"/>
            <a:pathLst>
              <a:path w="5695474" h="4229551">
                <a:moveTo>
                  <a:pt x="64078" y="0"/>
                </a:moveTo>
                <a:lnTo>
                  <a:pt x="5631397" y="0"/>
                </a:lnTo>
                <a:cubicBezTo>
                  <a:pt x="5666786" y="0"/>
                  <a:pt x="5695474" y="28689"/>
                  <a:pt x="5695474" y="64078"/>
                </a:cubicBezTo>
                <a:lnTo>
                  <a:pt x="5695474" y="4165473"/>
                </a:lnTo>
                <a:cubicBezTo>
                  <a:pt x="5695474" y="4200862"/>
                  <a:pt x="5666786" y="4229551"/>
                  <a:pt x="5631397" y="4229551"/>
                </a:cubicBezTo>
                <a:lnTo>
                  <a:pt x="64078" y="4229551"/>
                </a:lnTo>
                <a:cubicBezTo>
                  <a:pt x="28689" y="4229551"/>
                  <a:pt x="0" y="4200862"/>
                  <a:pt x="0" y="4165473"/>
                </a:cubicBezTo>
                <a:lnTo>
                  <a:pt x="0" y="64078"/>
                </a:lnTo>
                <a:cubicBezTo>
                  <a:pt x="0" y="28712"/>
                  <a:pt x="28712" y="0"/>
                  <a:pt x="64078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7" name="Shape 5"/>
          <p:cNvSpPr/>
          <p:nvPr/>
        </p:nvSpPr>
        <p:spPr>
          <a:xfrm>
            <a:off x="1614172" y="1074255"/>
            <a:ext cx="520363" cy="520363"/>
          </a:xfrm>
          <a:custGeom>
            <a:avLst/>
            <a:gdLst/>
            <a:ahLst/>
            <a:cxnLst/>
            <a:rect l="l" t="t" r="r" b="b"/>
            <a:pathLst>
              <a:path w="448589" h="448589">
                <a:moveTo>
                  <a:pt x="64085" y="0"/>
                </a:moveTo>
                <a:lnTo>
                  <a:pt x="384503" y="0"/>
                </a:lnTo>
                <a:cubicBezTo>
                  <a:pt x="419897" y="0"/>
                  <a:pt x="448589" y="28692"/>
                  <a:pt x="448589" y="64085"/>
                </a:cubicBezTo>
                <a:lnTo>
                  <a:pt x="448589" y="384503"/>
                </a:lnTo>
                <a:cubicBezTo>
                  <a:pt x="448589" y="419897"/>
                  <a:pt x="419897" y="448589"/>
                  <a:pt x="384503" y="448589"/>
                </a:cubicBezTo>
                <a:lnTo>
                  <a:pt x="64085" y="448589"/>
                </a:lnTo>
                <a:cubicBezTo>
                  <a:pt x="28692" y="448589"/>
                  <a:pt x="0" y="419897"/>
                  <a:pt x="0" y="384503"/>
                </a:cubicBezTo>
                <a:lnTo>
                  <a:pt x="0" y="64085"/>
                </a:lnTo>
                <a:cubicBezTo>
                  <a:pt x="0" y="28692"/>
                  <a:pt x="28692" y="0"/>
                  <a:pt x="64085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8" name="Shape 6"/>
          <p:cNvSpPr/>
          <p:nvPr/>
        </p:nvSpPr>
        <p:spPr>
          <a:xfrm>
            <a:off x="1748908" y="1222930"/>
            <a:ext cx="250889" cy="223012"/>
          </a:xfrm>
          <a:custGeom>
            <a:avLst/>
            <a:gdLst/>
            <a:ahLst/>
            <a:cxnLst/>
            <a:rect l="l" t="t" r="r" b="b"/>
            <a:pathLst>
              <a:path w="216284" h="192252">
                <a:moveTo>
                  <a:pt x="93122" y="33043"/>
                </a:moveTo>
                <a:lnTo>
                  <a:pt x="123162" y="33043"/>
                </a:lnTo>
                <a:lnTo>
                  <a:pt x="123162" y="51067"/>
                </a:lnTo>
                <a:lnTo>
                  <a:pt x="93122" y="51067"/>
                </a:lnTo>
                <a:lnTo>
                  <a:pt x="93122" y="33043"/>
                </a:lnTo>
                <a:close/>
                <a:moveTo>
                  <a:pt x="90118" y="12016"/>
                </a:moveTo>
                <a:cubicBezTo>
                  <a:pt x="80168" y="12016"/>
                  <a:pt x="72095" y="20089"/>
                  <a:pt x="72095" y="30039"/>
                </a:cubicBezTo>
                <a:lnTo>
                  <a:pt x="72095" y="54071"/>
                </a:lnTo>
                <a:cubicBezTo>
                  <a:pt x="72095" y="64022"/>
                  <a:pt x="80168" y="72095"/>
                  <a:pt x="90118" y="72095"/>
                </a:cubicBezTo>
                <a:lnTo>
                  <a:pt x="96126" y="72095"/>
                </a:lnTo>
                <a:lnTo>
                  <a:pt x="96126" y="84110"/>
                </a:lnTo>
                <a:lnTo>
                  <a:pt x="12016" y="84110"/>
                </a:lnTo>
                <a:cubicBezTo>
                  <a:pt x="5370" y="84110"/>
                  <a:pt x="0" y="89480"/>
                  <a:pt x="0" y="96126"/>
                </a:cubicBezTo>
                <a:cubicBezTo>
                  <a:pt x="0" y="102772"/>
                  <a:pt x="5370" y="108142"/>
                  <a:pt x="12016" y="108142"/>
                </a:cubicBezTo>
                <a:lnTo>
                  <a:pt x="48063" y="108142"/>
                </a:lnTo>
                <a:lnTo>
                  <a:pt x="48063" y="120158"/>
                </a:lnTo>
                <a:lnTo>
                  <a:pt x="42055" y="120158"/>
                </a:lnTo>
                <a:cubicBezTo>
                  <a:pt x="32105" y="120158"/>
                  <a:pt x="24032" y="128231"/>
                  <a:pt x="24032" y="138181"/>
                </a:cubicBezTo>
                <a:lnTo>
                  <a:pt x="24032" y="162213"/>
                </a:lnTo>
                <a:cubicBezTo>
                  <a:pt x="24032" y="172163"/>
                  <a:pt x="32105" y="180237"/>
                  <a:pt x="42055" y="180237"/>
                </a:cubicBezTo>
                <a:lnTo>
                  <a:pt x="78102" y="180237"/>
                </a:lnTo>
                <a:cubicBezTo>
                  <a:pt x="88053" y="180237"/>
                  <a:pt x="96126" y="172163"/>
                  <a:pt x="96126" y="162213"/>
                </a:cubicBezTo>
                <a:lnTo>
                  <a:pt x="96126" y="138181"/>
                </a:lnTo>
                <a:cubicBezTo>
                  <a:pt x="96126" y="128231"/>
                  <a:pt x="88053" y="120158"/>
                  <a:pt x="78102" y="120158"/>
                </a:cubicBezTo>
                <a:lnTo>
                  <a:pt x="72095" y="120158"/>
                </a:lnTo>
                <a:lnTo>
                  <a:pt x="72095" y="108142"/>
                </a:lnTo>
                <a:lnTo>
                  <a:pt x="144189" y="108142"/>
                </a:lnTo>
                <a:lnTo>
                  <a:pt x="144189" y="120158"/>
                </a:lnTo>
                <a:lnTo>
                  <a:pt x="138181" y="120158"/>
                </a:lnTo>
                <a:cubicBezTo>
                  <a:pt x="128231" y="120158"/>
                  <a:pt x="120158" y="128231"/>
                  <a:pt x="120158" y="138181"/>
                </a:cubicBezTo>
                <a:lnTo>
                  <a:pt x="120158" y="162213"/>
                </a:lnTo>
                <a:cubicBezTo>
                  <a:pt x="120158" y="172163"/>
                  <a:pt x="128231" y="180237"/>
                  <a:pt x="138181" y="180237"/>
                </a:cubicBezTo>
                <a:lnTo>
                  <a:pt x="174229" y="180237"/>
                </a:lnTo>
                <a:cubicBezTo>
                  <a:pt x="184179" y="180237"/>
                  <a:pt x="192252" y="172163"/>
                  <a:pt x="192252" y="162213"/>
                </a:cubicBezTo>
                <a:lnTo>
                  <a:pt x="192252" y="138181"/>
                </a:lnTo>
                <a:cubicBezTo>
                  <a:pt x="192252" y="128231"/>
                  <a:pt x="184179" y="120158"/>
                  <a:pt x="174229" y="120158"/>
                </a:cubicBezTo>
                <a:lnTo>
                  <a:pt x="168221" y="120158"/>
                </a:lnTo>
                <a:lnTo>
                  <a:pt x="168221" y="108142"/>
                </a:lnTo>
                <a:lnTo>
                  <a:pt x="204268" y="108142"/>
                </a:lnTo>
                <a:cubicBezTo>
                  <a:pt x="210914" y="108142"/>
                  <a:pt x="216284" y="102772"/>
                  <a:pt x="216284" y="96126"/>
                </a:cubicBezTo>
                <a:cubicBezTo>
                  <a:pt x="216284" y="89480"/>
                  <a:pt x="210914" y="84110"/>
                  <a:pt x="204268" y="84110"/>
                </a:cubicBezTo>
                <a:lnTo>
                  <a:pt x="120158" y="84110"/>
                </a:lnTo>
                <a:lnTo>
                  <a:pt x="120158" y="72095"/>
                </a:lnTo>
                <a:lnTo>
                  <a:pt x="126166" y="72095"/>
                </a:lnTo>
                <a:cubicBezTo>
                  <a:pt x="136116" y="72095"/>
                  <a:pt x="144189" y="64022"/>
                  <a:pt x="144189" y="54071"/>
                </a:cubicBezTo>
                <a:lnTo>
                  <a:pt x="144189" y="30039"/>
                </a:lnTo>
                <a:cubicBezTo>
                  <a:pt x="144189" y="20089"/>
                  <a:pt x="136116" y="12016"/>
                  <a:pt x="126166" y="12016"/>
                </a:cubicBezTo>
                <a:lnTo>
                  <a:pt x="90118" y="12016"/>
                </a:lnTo>
                <a:close/>
                <a:moveTo>
                  <a:pt x="168221" y="141185"/>
                </a:moveTo>
                <a:lnTo>
                  <a:pt x="171225" y="141185"/>
                </a:lnTo>
                <a:lnTo>
                  <a:pt x="171225" y="159209"/>
                </a:lnTo>
                <a:lnTo>
                  <a:pt x="141185" y="159209"/>
                </a:lnTo>
                <a:lnTo>
                  <a:pt x="141185" y="141185"/>
                </a:lnTo>
                <a:lnTo>
                  <a:pt x="168221" y="141185"/>
                </a:lnTo>
                <a:close/>
                <a:moveTo>
                  <a:pt x="72095" y="141185"/>
                </a:moveTo>
                <a:lnTo>
                  <a:pt x="75099" y="141185"/>
                </a:lnTo>
                <a:lnTo>
                  <a:pt x="75099" y="159209"/>
                </a:lnTo>
                <a:lnTo>
                  <a:pt x="45059" y="159209"/>
                </a:lnTo>
                <a:lnTo>
                  <a:pt x="45059" y="141185"/>
                </a:lnTo>
                <a:lnTo>
                  <a:pt x="72095" y="14118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2246041" y="1074255"/>
            <a:ext cx="3465988" cy="297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FFN (Feed-Forward Network)</a:t>
            </a:r>
            <a:endParaRPr lang="en-US" sz="1856" dirty="0"/>
          </a:p>
        </p:txBody>
      </p:sp>
      <p:sp>
        <p:nvSpPr>
          <p:cNvPr id="10" name="Text 8"/>
          <p:cNvSpPr/>
          <p:nvPr/>
        </p:nvSpPr>
        <p:spPr>
          <a:xfrm>
            <a:off x="2246041" y="1371605"/>
            <a:ext cx="3428820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全连接前馈网络</a:t>
            </a:r>
            <a:endParaRPr lang="en-US" sz="1856" dirty="0"/>
          </a:p>
        </p:txBody>
      </p:sp>
      <p:sp>
        <p:nvSpPr>
          <p:cNvPr id="11" name="Shape 9"/>
          <p:cNvSpPr/>
          <p:nvPr/>
        </p:nvSpPr>
        <p:spPr>
          <a:xfrm>
            <a:off x="1632661" y="1743532"/>
            <a:ext cx="4459376" cy="1747215"/>
          </a:xfrm>
          <a:custGeom>
            <a:avLst/>
            <a:gdLst/>
            <a:ahLst/>
            <a:cxnLst/>
            <a:rect l="l" t="t" r="r" b="b"/>
            <a:pathLst>
              <a:path w="5359033" h="1505976">
                <a:moveTo>
                  <a:pt x="32042" y="0"/>
                </a:moveTo>
                <a:lnTo>
                  <a:pt x="5294954" y="0"/>
                </a:lnTo>
                <a:cubicBezTo>
                  <a:pt x="5330344" y="0"/>
                  <a:pt x="5359033" y="28689"/>
                  <a:pt x="5359033" y="64079"/>
                </a:cubicBezTo>
                <a:lnTo>
                  <a:pt x="5359033" y="1441897"/>
                </a:lnTo>
                <a:cubicBezTo>
                  <a:pt x="5359033" y="1477287"/>
                  <a:pt x="5330344" y="1505976"/>
                  <a:pt x="5294954" y="1505976"/>
                </a:cubicBezTo>
                <a:lnTo>
                  <a:pt x="32042" y="1505976"/>
                </a:lnTo>
                <a:cubicBezTo>
                  <a:pt x="14346" y="1505976"/>
                  <a:pt x="0" y="1491631"/>
                  <a:pt x="0" y="1473934"/>
                </a:cubicBezTo>
                <a:lnTo>
                  <a:pt x="0" y="32042"/>
                </a:lnTo>
                <a:cubicBezTo>
                  <a:pt x="0" y="14346"/>
                  <a:pt x="14346" y="0"/>
                  <a:pt x="3204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1632756" y="1743293"/>
            <a:ext cx="37169" cy="1746932"/>
          </a:xfrm>
          <a:custGeom>
            <a:avLst/>
            <a:gdLst/>
            <a:ahLst/>
            <a:cxnLst/>
            <a:rect l="l" t="t" r="r" b="b"/>
            <a:pathLst>
              <a:path w="32042" h="1505976">
                <a:moveTo>
                  <a:pt x="32042" y="0"/>
                </a:moveTo>
                <a:lnTo>
                  <a:pt x="32042" y="0"/>
                </a:lnTo>
                <a:lnTo>
                  <a:pt x="32042" y="1505976"/>
                </a:lnTo>
                <a:lnTo>
                  <a:pt x="32042" y="1505976"/>
                </a:lnTo>
                <a:cubicBezTo>
                  <a:pt x="14346" y="1505976"/>
                  <a:pt x="0" y="1491631"/>
                  <a:pt x="0" y="1473934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1800016" y="1891968"/>
            <a:ext cx="5984173" cy="260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计算流程</a:t>
            </a:r>
            <a:endParaRPr lang="en-US" sz="1856" dirty="0"/>
          </a:p>
        </p:txBody>
      </p:sp>
      <p:sp>
        <p:nvSpPr>
          <p:cNvPr id="14" name="Text 12"/>
          <p:cNvSpPr/>
          <p:nvPr/>
        </p:nvSpPr>
        <p:spPr>
          <a:xfrm>
            <a:off x="1800016" y="2226488"/>
            <a:ext cx="195136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1.</a:t>
            </a:r>
            <a:endParaRPr lang="en-US" sz="1856" dirty="0"/>
          </a:p>
        </p:txBody>
      </p:sp>
      <p:sp>
        <p:nvSpPr>
          <p:cNvPr id="15" name="Text 13"/>
          <p:cNvSpPr/>
          <p:nvPr/>
        </p:nvSpPr>
        <p:spPr>
          <a:xfrm>
            <a:off x="1993482" y="2226488"/>
            <a:ext cx="3419528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Gate Projection：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输入 → gate_proj → 门控信号</a:t>
            </a:r>
            <a:endParaRPr lang="en-US" sz="1856" dirty="0"/>
          </a:p>
        </p:txBody>
      </p:sp>
      <p:sp>
        <p:nvSpPr>
          <p:cNvPr id="16" name="Text 14"/>
          <p:cNvSpPr/>
          <p:nvPr/>
        </p:nvSpPr>
        <p:spPr>
          <a:xfrm>
            <a:off x="1800016" y="2523838"/>
            <a:ext cx="213721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2.</a:t>
            </a:r>
            <a:endParaRPr lang="en-US" sz="1856" dirty="0"/>
          </a:p>
        </p:txBody>
      </p:sp>
      <p:sp>
        <p:nvSpPr>
          <p:cNvPr id="17" name="Text 15"/>
          <p:cNvSpPr/>
          <p:nvPr/>
        </p:nvSpPr>
        <p:spPr>
          <a:xfrm>
            <a:off x="2012502" y="2523838"/>
            <a:ext cx="3187223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Up Projection：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输入 → up_proj → 升维变换</a:t>
            </a:r>
            <a:endParaRPr lang="en-US" sz="1856" dirty="0"/>
          </a:p>
        </p:txBody>
      </p:sp>
      <p:sp>
        <p:nvSpPr>
          <p:cNvPr id="18" name="Text 16"/>
          <p:cNvSpPr/>
          <p:nvPr/>
        </p:nvSpPr>
        <p:spPr>
          <a:xfrm>
            <a:off x="1800016" y="2821187"/>
            <a:ext cx="213721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3.</a:t>
            </a:r>
            <a:endParaRPr lang="en-US" sz="1856" dirty="0"/>
          </a:p>
        </p:txBody>
      </p:sp>
      <p:sp>
        <p:nvSpPr>
          <p:cNvPr id="19" name="Text 17"/>
          <p:cNvSpPr/>
          <p:nvPr/>
        </p:nvSpPr>
        <p:spPr>
          <a:xfrm>
            <a:off x="2012357" y="2821187"/>
            <a:ext cx="3066424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Activation：SwiG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LU激活</a:t>
            </a:r>
            <a:endParaRPr lang="en-US" sz="1856" dirty="0"/>
          </a:p>
        </p:txBody>
      </p:sp>
      <p:sp>
        <p:nvSpPr>
          <p:cNvPr id="20" name="Text 18"/>
          <p:cNvSpPr/>
          <p:nvPr/>
        </p:nvSpPr>
        <p:spPr>
          <a:xfrm>
            <a:off x="1800016" y="3118538"/>
            <a:ext cx="213721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4.</a:t>
            </a:r>
            <a:endParaRPr lang="en-US" sz="1856" dirty="0"/>
          </a:p>
        </p:txBody>
      </p:sp>
      <p:sp>
        <p:nvSpPr>
          <p:cNvPr id="21" name="Text 19"/>
          <p:cNvSpPr/>
          <p:nvPr/>
        </p:nvSpPr>
        <p:spPr>
          <a:xfrm>
            <a:off x="2012357" y="3118538"/>
            <a:ext cx="3623956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Down Projection：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激活输出 → down_proj → 降维</a:t>
            </a:r>
            <a:endParaRPr lang="en-US" sz="1856" dirty="0"/>
          </a:p>
        </p:txBody>
      </p:sp>
      <p:sp>
        <p:nvSpPr>
          <p:cNvPr id="33" name="Shape 31"/>
          <p:cNvSpPr/>
          <p:nvPr/>
        </p:nvSpPr>
        <p:spPr>
          <a:xfrm>
            <a:off x="1429360" y="4065295"/>
            <a:ext cx="5064862" cy="2892628"/>
          </a:xfrm>
          <a:custGeom>
            <a:avLst/>
            <a:gdLst/>
            <a:ahLst/>
            <a:cxnLst/>
            <a:rect l="l" t="t" r="r" b="b"/>
            <a:pathLst>
              <a:path w="5695474" h="4229551">
                <a:moveTo>
                  <a:pt x="64078" y="0"/>
                </a:moveTo>
                <a:lnTo>
                  <a:pt x="5631397" y="0"/>
                </a:lnTo>
                <a:cubicBezTo>
                  <a:pt x="5666786" y="0"/>
                  <a:pt x="5695474" y="28689"/>
                  <a:pt x="5695474" y="64078"/>
                </a:cubicBezTo>
                <a:lnTo>
                  <a:pt x="5695474" y="4165473"/>
                </a:lnTo>
                <a:cubicBezTo>
                  <a:pt x="5695474" y="4200862"/>
                  <a:pt x="5666786" y="4229551"/>
                  <a:pt x="5631397" y="4229551"/>
                </a:cubicBezTo>
                <a:lnTo>
                  <a:pt x="64078" y="4229551"/>
                </a:lnTo>
                <a:cubicBezTo>
                  <a:pt x="28689" y="4229551"/>
                  <a:pt x="0" y="4200862"/>
                  <a:pt x="0" y="4165473"/>
                </a:cubicBezTo>
                <a:lnTo>
                  <a:pt x="0" y="64078"/>
                </a:lnTo>
                <a:cubicBezTo>
                  <a:pt x="0" y="28712"/>
                  <a:pt x="28712" y="0"/>
                  <a:pt x="64078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34" name="Shape 32"/>
          <p:cNvSpPr/>
          <p:nvPr/>
        </p:nvSpPr>
        <p:spPr>
          <a:xfrm>
            <a:off x="1614962" y="4251211"/>
            <a:ext cx="520363" cy="520363"/>
          </a:xfrm>
          <a:custGeom>
            <a:avLst/>
            <a:gdLst/>
            <a:ahLst/>
            <a:cxnLst/>
            <a:rect l="l" t="t" r="r" b="b"/>
            <a:pathLst>
              <a:path w="448589" h="448589">
                <a:moveTo>
                  <a:pt x="64085" y="0"/>
                </a:moveTo>
                <a:lnTo>
                  <a:pt x="384503" y="0"/>
                </a:lnTo>
                <a:cubicBezTo>
                  <a:pt x="419897" y="0"/>
                  <a:pt x="448589" y="28692"/>
                  <a:pt x="448589" y="64085"/>
                </a:cubicBezTo>
                <a:lnTo>
                  <a:pt x="448589" y="384503"/>
                </a:lnTo>
                <a:cubicBezTo>
                  <a:pt x="448589" y="419897"/>
                  <a:pt x="419897" y="448589"/>
                  <a:pt x="384503" y="448589"/>
                </a:cubicBezTo>
                <a:lnTo>
                  <a:pt x="64085" y="448589"/>
                </a:lnTo>
                <a:cubicBezTo>
                  <a:pt x="28692" y="448589"/>
                  <a:pt x="0" y="419897"/>
                  <a:pt x="0" y="384503"/>
                </a:cubicBezTo>
                <a:lnTo>
                  <a:pt x="0" y="64085"/>
                </a:lnTo>
                <a:cubicBezTo>
                  <a:pt x="0" y="28692"/>
                  <a:pt x="28692" y="0"/>
                  <a:pt x="64085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5" name="Shape 33"/>
          <p:cNvSpPr/>
          <p:nvPr/>
        </p:nvSpPr>
        <p:spPr>
          <a:xfrm>
            <a:off x="1763637" y="4399886"/>
            <a:ext cx="223012" cy="223012"/>
          </a:xfrm>
          <a:custGeom>
            <a:avLst/>
            <a:gdLst/>
            <a:ahLst/>
            <a:cxnLst/>
            <a:rect l="l" t="t" r="r" b="b"/>
            <a:pathLst>
              <a:path w="192252" h="192252">
                <a:moveTo>
                  <a:pt x="72095" y="24032"/>
                </a:moveTo>
                <a:cubicBezTo>
                  <a:pt x="72095" y="17385"/>
                  <a:pt x="77464" y="12016"/>
                  <a:pt x="84110" y="12016"/>
                </a:cubicBezTo>
                <a:lnTo>
                  <a:pt x="108142" y="12016"/>
                </a:lnTo>
                <a:cubicBezTo>
                  <a:pt x="114788" y="12016"/>
                  <a:pt x="120158" y="17385"/>
                  <a:pt x="120158" y="24032"/>
                </a:cubicBezTo>
                <a:lnTo>
                  <a:pt x="120158" y="48063"/>
                </a:lnTo>
                <a:cubicBezTo>
                  <a:pt x="120158" y="54709"/>
                  <a:pt x="114788" y="60079"/>
                  <a:pt x="108142" y="60079"/>
                </a:cubicBezTo>
                <a:lnTo>
                  <a:pt x="105138" y="60079"/>
                </a:lnTo>
                <a:lnTo>
                  <a:pt x="105138" y="84110"/>
                </a:lnTo>
                <a:lnTo>
                  <a:pt x="150197" y="84110"/>
                </a:lnTo>
                <a:cubicBezTo>
                  <a:pt x="165142" y="84110"/>
                  <a:pt x="177233" y="96201"/>
                  <a:pt x="177233" y="111146"/>
                </a:cubicBezTo>
                <a:lnTo>
                  <a:pt x="177233" y="132173"/>
                </a:lnTo>
                <a:lnTo>
                  <a:pt x="180237" y="132173"/>
                </a:lnTo>
                <a:cubicBezTo>
                  <a:pt x="186883" y="132173"/>
                  <a:pt x="192252" y="137543"/>
                  <a:pt x="192252" y="144189"/>
                </a:cubicBezTo>
                <a:lnTo>
                  <a:pt x="192252" y="168221"/>
                </a:lnTo>
                <a:cubicBezTo>
                  <a:pt x="192252" y="174867"/>
                  <a:pt x="186883" y="180237"/>
                  <a:pt x="180237" y="180237"/>
                </a:cubicBezTo>
                <a:lnTo>
                  <a:pt x="156205" y="180237"/>
                </a:lnTo>
                <a:cubicBezTo>
                  <a:pt x="149559" y="180237"/>
                  <a:pt x="144189" y="174867"/>
                  <a:pt x="144189" y="168221"/>
                </a:cubicBezTo>
                <a:lnTo>
                  <a:pt x="144189" y="144189"/>
                </a:lnTo>
                <a:cubicBezTo>
                  <a:pt x="144189" y="137543"/>
                  <a:pt x="149559" y="132173"/>
                  <a:pt x="156205" y="132173"/>
                </a:cubicBezTo>
                <a:lnTo>
                  <a:pt x="159209" y="132173"/>
                </a:lnTo>
                <a:lnTo>
                  <a:pt x="159209" y="111146"/>
                </a:lnTo>
                <a:cubicBezTo>
                  <a:pt x="159209" y="106152"/>
                  <a:pt x="155191" y="102134"/>
                  <a:pt x="150197" y="102134"/>
                </a:cubicBezTo>
                <a:lnTo>
                  <a:pt x="105138" y="102134"/>
                </a:lnTo>
                <a:lnTo>
                  <a:pt x="105138" y="132173"/>
                </a:lnTo>
                <a:lnTo>
                  <a:pt x="108142" y="132173"/>
                </a:lnTo>
                <a:cubicBezTo>
                  <a:pt x="114788" y="132173"/>
                  <a:pt x="120158" y="137543"/>
                  <a:pt x="120158" y="144189"/>
                </a:cubicBezTo>
                <a:lnTo>
                  <a:pt x="120158" y="168221"/>
                </a:lnTo>
                <a:cubicBezTo>
                  <a:pt x="120158" y="174867"/>
                  <a:pt x="114788" y="180237"/>
                  <a:pt x="108142" y="180237"/>
                </a:cubicBezTo>
                <a:lnTo>
                  <a:pt x="84110" y="180237"/>
                </a:lnTo>
                <a:cubicBezTo>
                  <a:pt x="77464" y="180237"/>
                  <a:pt x="72095" y="174867"/>
                  <a:pt x="72095" y="168221"/>
                </a:cubicBezTo>
                <a:lnTo>
                  <a:pt x="72095" y="144189"/>
                </a:lnTo>
                <a:cubicBezTo>
                  <a:pt x="72095" y="137543"/>
                  <a:pt x="77464" y="132173"/>
                  <a:pt x="84110" y="132173"/>
                </a:cubicBezTo>
                <a:lnTo>
                  <a:pt x="87114" y="132173"/>
                </a:lnTo>
                <a:lnTo>
                  <a:pt x="87114" y="102134"/>
                </a:lnTo>
                <a:lnTo>
                  <a:pt x="42055" y="102134"/>
                </a:lnTo>
                <a:cubicBezTo>
                  <a:pt x="37061" y="102134"/>
                  <a:pt x="33043" y="106152"/>
                  <a:pt x="33043" y="111146"/>
                </a:cubicBezTo>
                <a:lnTo>
                  <a:pt x="33043" y="132173"/>
                </a:lnTo>
                <a:lnTo>
                  <a:pt x="36047" y="132173"/>
                </a:lnTo>
                <a:cubicBezTo>
                  <a:pt x="42694" y="132173"/>
                  <a:pt x="48063" y="137543"/>
                  <a:pt x="48063" y="144189"/>
                </a:cubicBezTo>
                <a:lnTo>
                  <a:pt x="48063" y="168221"/>
                </a:lnTo>
                <a:cubicBezTo>
                  <a:pt x="48063" y="174867"/>
                  <a:pt x="42694" y="180237"/>
                  <a:pt x="36047" y="180237"/>
                </a:cubicBezTo>
                <a:lnTo>
                  <a:pt x="12016" y="180237"/>
                </a:lnTo>
                <a:cubicBezTo>
                  <a:pt x="5370" y="180237"/>
                  <a:pt x="0" y="174867"/>
                  <a:pt x="0" y="168221"/>
                </a:cubicBezTo>
                <a:lnTo>
                  <a:pt x="0" y="144189"/>
                </a:lnTo>
                <a:cubicBezTo>
                  <a:pt x="0" y="137543"/>
                  <a:pt x="5370" y="132173"/>
                  <a:pt x="12016" y="132173"/>
                </a:cubicBezTo>
                <a:lnTo>
                  <a:pt x="15020" y="132173"/>
                </a:lnTo>
                <a:lnTo>
                  <a:pt x="15020" y="111146"/>
                </a:lnTo>
                <a:cubicBezTo>
                  <a:pt x="15020" y="96201"/>
                  <a:pt x="27111" y="84110"/>
                  <a:pt x="42055" y="84110"/>
                </a:cubicBezTo>
                <a:lnTo>
                  <a:pt x="87114" y="84110"/>
                </a:lnTo>
                <a:lnTo>
                  <a:pt x="87114" y="60079"/>
                </a:lnTo>
                <a:lnTo>
                  <a:pt x="84110" y="60079"/>
                </a:lnTo>
                <a:cubicBezTo>
                  <a:pt x="77464" y="60079"/>
                  <a:pt x="72095" y="54709"/>
                  <a:pt x="72095" y="48063"/>
                </a:cubicBezTo>
                <a:lnTo>
                  <a:pt x="72095" y="2403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2246830" y="4251211"/>
            <a:ext cx="3010671" cy="297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MOE (Mixture of Experts)</a:t>
            </a:r>
            <a:endParaRPr lang="en-US" sz="1856" dirty="0"/>
          </a:p>
        </p:txBody>
      </p:sp>
      <p:sp>
        <p:nvSpPr>
          <p:cNvPr id="37" name="Text 35"/>
          <p:cNvSpPr/>
          <p:nvPr/>
        </p:nvSpPr>
        <p:spPr>
          <a:xfrm>
            <a:off x="2246830" y="4548561"/>
            <a:ext cx="2973502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混合专家模型</a:t>
            </a:r>
            <a:endParaRPr lang="en-US" sz="1856" dirty="0"/>
          </a:p>
        </p:txBody>
      </p:sp>
      <p:sp>
        <p:nvSpPr>
          <p:cNvPr id="38" name="Shape 36"/>
          <p:cNvSpPr/>
          <p:nvPr/>
        </p:nvSpPr>
        <p:spPr>
          <a:xfrm>
            <a:off x="1633398" y="4920488"/>
            <a:ext cx="4458640" cy="1747215"/>
          </a:xfrm>
          <a:custGeom>
            <a:avLst/>
            <a:gdLst/>
            <a:ahLst/>
            <a:cxnLst/>
            <a:rect l="l" t="t" r="r" b="b"/>
            <a:pathLst>
              <a:path w="5359033" h="1505976">
                <a:moveTo>
                  <a:pt x="32042" y="0"/>
                </a:moveTo>
                <a:lnTo>
                  <a:pt x="5294954" y="0"/>
                </a:lnTo>
                <a:cubicBezTo>
                  <a:pt x="5330344" y="0"/>
                  <a:pt x="5359033" y="28689"/>
                  <a:pt x="5359033" y="64079"/>
                </a:cubicBezTo>
                <a:lnTo>
                  <a:pt x="5359033" y="1441897"/>
                </a:lnTo>
                <a:cubicBezTo>
                  <a:pt x="5359033" y="1477287"/>
                  <a:pt x="5330344" y="1505976"/>
                  <a:pt x="5294954" y="1505976"/>
                </a:cubicBezTo>
                <a:lnTo>
                  <a:pt x="32042" y="1505976"/>
                </a:lnTo>
                <a:cubicBezTo>
                  <a:pt x="14346" y="1505976"/>
                  <a:pt x="0" y="1491631"/>
                  <a:pt x="0" y="1473934"/>
                </a:cubicBezTo>
                <a:lnTo>
                  <a:pt x="0" y="32042"/>
                </a:lnTo>
                <a:cubicBezTo>
                  <a:pt x="0" y="14346"/>
                  <a:pt x="14346" y="0"/>
                  <a:pt x="3204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9" name="Shape 37"/>
          <p:cNvSpPr/>
          <p:nvPr/>
        </p:nvSpPr>
        <p:spPr>
          <a:xfrm>
            <a:off x="1633546" y="4920249"/>
            <a:ext cx="37169" cy="1746932"/>
          </a:xfrm>
          <a:custGeom>
            <a:avLst/>
            <a:gdLst/>
            <a:ahLst/>
            <a:cxnLst/>
            <a:rect l="l" t="t" r="r" b="b"/>
            <a:pathLst>
              <a:path w="32042" h="1505976">
                <a:moveTo>
                  <a:pt x="32042" y="0"/>
                </a:moveTo>
                <a:lnTo>
                  <a:pt x="32042" y="0"/>
                </a:lnTo>
                <a:lnTo>
                  <a:pt x="32042" y="1505976"/>
                </a:lnTo>
                <a:lnTo>
                  <a:pt x="32042" y="1505976"/>
                </a:lnTo>
                <a:cubicBezTo>
                  <a:pt x="14346" y="1505976"/>
                  <a:pt x="0" y="1491631"/>
                  <a:pt x="0" y="1473934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0" name="Text 38"/>
          <p:cNvSpPr/>
          <p:nvPr/>
        </p:nvSpPr>
        <p:spPr>
          <a:xfrm>
            <a:off x="1800606" y="5069281"/>
            <a:ext cx="4291432" cy="2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计算流程</a:t>
            </a:r>
            <a:endParaRPr lang="en-US" sz="1856" dirty="0"/>
          </a:p>
        </p:txBody>
      </p:sp>
      <p:sp>
        <p:nvSpPr>
          <p:cNvPr id="41" name="Text 39"/>
          <p:cNvSpPr/>
          <p:nvPr/>
        </p:nvSpPr>
        <p:spPr>
          <a:xfrm>
            <a:off x="1800806" y="5403444"/>
            <a:ext cx="195136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1.</a:t>
            </a:r>
            <a:endParaRPr lang="en-US" sz="1856" dirty="0"/>
          </a:p>
        </p:txBody>
      </p:sp>
      <p:sp>
        <p:nvSpPr>
          <p:cNvPr id="42" name="Text 40"/>
          <p:cNvSpPr/>
          <p:nvPr/>
        </p:nvSpPr>
        <p:spPr>
          <a:xfrm>
            <a:off x="1994271" y="5403444"/>
            <a:ext cx="3140761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Router计算：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输入 → router → 专家权重分布</a:t>
            </a:r>
            <a:endParaRPr lang="en-US" sz="1856" dirty="0"/>
          </a:p>
        </p:txBody>
      </p:sp>
      <p:sp>
        <p:nvSpPr>
          <p:cNvPr id="43" name="Text 41"/>
          <p:cNvSpPr/>
          <p:nvPr/>
        </p:nvSpPr>
        <p:spPr>
          <a:xfrm>
            <a:off x="1800806" y="5700793"/>
            <a:ext cx="213721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2.</a:t>
            </a:r>
            <a:endParaRPr lang="en-US" sz="1856" dirty="0"/>
          </a:p>
        </p:txBody>
      </p:sp>
      <p:sp>
        <p:nvSpPr>
          <p:cNvPr id="44" name="Text 42"/>
          <p:cNvSpPr/>
          <p:nvPr/>
        </p:nvSpPr>
        <p:spPr>
          <a:xfrm>
            <a:off x="2013292" y="5700793"/>
            <a:ext cx="3400944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Top-k选择：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选择权重最高的k个专家（</a:t>
            </a:r>
            <a:r>
              <a:rPr lang="zh-CN" alt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比如</a:t>
            </a:r>
            <a:r>
              <a:rPr lang="en-US" altLang="zh-CN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256</a:t>
            </a:r>
            <a:r>
              <a:rPr lang="zh-CN" alt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选</a:t>
            </a:r>
            <a:r>
              <a:rPr lang="en-US" altLang="zh-CN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8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）</a:t>
            </a:r>
            <a:endParaRPr lang="en-US" sz="1856" dirty="0"/>
          </a:p>
        </p:txBody>
      </p:sp>
      <p:sp>
        <p:nvSpPr>
          <p:cNvPr id="45" name="Text 43"/>
          <p:cNvSpPr/>
          <p:nvPr/>
        </p:nvSpPr>
        <p:spPr>
          <a:xfrm>
            <a:off x="1800806" y="5998143"/>
            <a:ext cx="213721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3.</a:t>
            </a:r>
            <a:endParaRPr lang="en-US" sz="1856" dirty="0"/>
          </a:p>
        </p:txBody>
      </p:sp>
      <p:sp>
        <p:nvSpPr>
          <p:cNvPr id="46" name="Text 44"/>
          <p:cNvSpPr/>
          <p:nvPr/>
        </p:nvSpPr>
        <p:spPr>
          <a:xfrm>
            <a:off x="2013147" y="5998143"/>
            <a:ext cx="2852703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专家计算：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仅激活的k个专家执行FFN计算</a:t>
            </a:r>
            <a:endParaRPr lang="en-US" sz="1856" dirty="0"/>
          </a:p>
        </p:txBody>
      </p:sp>
      <p:sp>
        <p:nvSpPr>
          <p:cNvPr id="47" name="Text 45"/>
          <p:cNvSpPr/>
          <p:nvPr/>
        </p:nvSpPr>
        <p:spPr>
          <a:xfrm>
            <a:off x="1800806" y="6295494"/>
            <a:ext cx="213721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4.</a:t>
            </a:r>
            <a:endParaRPr lang="en-US" sz="1856" dirty="0"/>
          </a:p>
        </p:txBody>
      </p:sp>
      <p:sp>
        <p:nvSpPr>
          <p:cNvPr id="48" name="Text 46"/>
          <p:cNvSpPr/>
          <p:nvPr/>
        </p:nvSpPr>
        <p:spPr>
          <a:xfrm>
            <a:off x="2013147" y="6295494"/>
            <a:ext cx="2899165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加权聚合：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各专家输出 × 权重 → 最终输出</a:t>
            </a:r>
            <a:endParaRPr lang="en-US" sz="1856" dirty="0"/>
          </a:p>
        </p:txBody>
      </p:sp>
      <p:sp>
        <p:nvSpPr>
          <p:cNvPr id="69" name="Shape 67"/>
          <p:cNvSpPr/>
          <p:nvPr/>
        </p:nvSpPr>
        <p:spPr>
          <a:xfrm>
            <a:off x="9680016" y="629056"/>
            <a:ext cx="2001342" cy="1375232"/>
          </a:xfrm>
          <a:custGeom>
            <a:avLst/>
            <a:gdLst/>
            <a:ahLst/>
            <a:cxnLst/>
            <a:rect l="l" t="t" r="r" b="b"/>
            <a:pathLst>
              <a:path w="3764941" h="1185556">
                <a:moveTo>
                  <a:pt x="64079" y="0"/>
                </a:moveTo>
                <a:lnTo>
                  <a:pt x="3700862" y="0"/>
                </a:lnTo>
                <a:cubicBezTo>
                  <a:pt x="3736252" y="0"/>
                  <a:pt x="3764941" y="28689"/>
                  <a:pt x="3764941" y="64079"/>
                </a:cubicBezTo>
                <a:lnTo>
                  <a:pt x="3764941" y="1121477"/>
                </a:lnTo>
                <a:cubicBezTo>
                  <a:pt x="3764941" y="1156867"/>
                  <a:pt x="3736252" y="1185556"/>
                  <a:pt x="3700862" y="1185556"/>
                </a:cubicBezTo>
                <a:lnTo>
                  <a:pt x="64079" y="1185556"/>
                </a:lnTo>
                <a:cubicBezTo>
                  <a:pt x="28689" y="1185556"/>
                  <a:pt x="0" y="1156867"/>
                  <a:pt x="0" y="1121477"/>
                </a:cubicBezTo>
                <a:lnTo>
                  <a:pt x="0" y="64079"/>
                </a:lnTo>
                <a:cubicBezTo>
                  <a:pt x="0" y="28713"/>
                  <a:pt x="28713" y="0"/>
                  <a:pt x="64079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70" name="Shape 68"/>
          <p:cNvSpPr/>
          <p:nvPr/>
        </p:nvSpPr>
        <p:spPr>
          <a:xfrm>
            <a:off x="9852285" y="823932"/>
            <a:ext cx="167259" cy="167259"/>
          </a:xfrm>
          <a:custGeom>
            <a:avLst/>
            <a:gdLst/>
            <a:ahLst/>
            <a:cxnLst/>
            <a:rect l="l" t="t" r="r" b="b"/>
            <a:pathLst>
              <a:path w="144189" h="144189">
                <a:moveTo>
                  <a:pt x="72095" y="0"/>
                </a:moveTo>
                <a:cubicBezTo>
                  <a:pt x="76234" y="0"/>
                  <a:pt x="80036" y="2281"/>
                  <a:pt x="82008" y="5914"/>
                </a:cubicBezTo>
                <a:lnTo>
                  <a:pt x="142837" y="118562"/>
                </a:lnTo>
                <a:cubicBezTo>
                  <a:pt x="144724" y="122054"/>
                  <a:pt x="144640" y="126278"/>
                  <a:pt x="142612" y="129686"/>
                </a:cubicBezTo>
                <a:cubicBezTo>
                  <a:pt x="140584" y="133093"/>
                  <a:pt x="136895" y="135177"/>
                  <a:pt x="132924" y="135177"/>
                </a:cubicBezTo>
                <a:lnTo>
                  <a:pt x="11265" y="135177"/>
                </a:lnTo>
                <a:cubicBezTo>
                  <a:pt x="7294" y="135177"/>
                  <a:pt x="3633" y="133093"/>
                  <a:pt x="1577" y="129686"/>
                </a:cubicBezTo>
                <a:cubicBezTo>
                  <a:pt x="-479" y="126278"/>
                  <a:pt x="-535" y="122054"/>
                  <a:pt x="1352" y="118562"/>
                </a:cubicBezTo>
                <a:lnTo>
                  <a:pt x="62182" y="5914"/>
                </a:lnTo>
                <a:cubicBezTo>
                  <a:pt x="64153" y="2281"/>
                  <a:pt x="67955" y="0"/>
                  <a:pt x="72095" y="0"/>
                </a:cubicBezTo>
                <a:close/>
                <a:moveTo>
                  <a:pt x="72095" y="47312"/>
                </a:moveTo>
                <a:cubicBezTo>
                  <a:pt x="68349" y="47312"/>
                  <a:pt x="65336" y="50325"/>
                  <a:pt x="65336" y="54071"/>
                </a:cubicBezTo>
                <a:lnTo>
                  <a:pt x="65336" y="85612"/>
                </a:lnTo>
                <a:cubicBezTo>
                  <a:pt x="65336" y="89358"/>
                  <a:pt x="68349" y="92371"/>
                  <a:pt x="72095" y="92371"/>
                </a:cubicBezTo>
                <a:cubicBezTo>
                  <a:pt x="75840" y="92371"/>
                  <a:pt x="78853" y="89358"/>
                  <a:pt x="78853" y="85612"/>
                </a:cubicBezTo>
                <a:lnTo>
                  <a:pt x="78853" y="54071"/>
                </a:lnTo>
                <a:cubicBezTo>
                  <a:pt x="78853" y="50325"/>
                  <a:pt x="75840" y="47312"/>
                  <a:pt x="72095" y="47312"/>
                </a:cubicBezTo>
                <a:close/>
                <a:moveTo>
                  <a:pt x="79614" y="108142"/>
                </a:moveTo>
                <a:cubicBezTo>
                  <a:pt x="79785" y="105351"/>
                  <a:pt x="78393" y="102695"/>
                  <a:pt x="76000" y="101248"/>
                </a:cubicBezTo>
                <a:cubicBezTo>
                  <a:pt x="73608" y="99801"/>
                  <a:pt x="70610" y="99801"/>
                  <a:pt x="68217" y="101248"/>
                </a:cubicBezTo>
                <a:cubicBezTo>
                  <a:pt x="65824" y="102695"/>
                  <a:pt x="64432" y="105351"/>
                  <a:pt x="64604" y="108142"/>
                </a:cubicBezTo>
                <a:cubicBezTo>
                  <a:pt x="64432" y="110933"/>
                  <a:pt x="65824" y="113588"/>
                  <a:pt x="68217" y="115036"/>
                </a:cubicBezTo>
                <a:cubicBezTo>
                  <a:pt x="70610" y="116483"/>
                  <a:pt x="73608" y="116483"/>
                  <a:pt x="76000" y="115036"/>
                </a:cubicBezTo>
                <a:cubicBezTo>
                  <a:pt x="78393" y="113588"/>
                  <a:pt x="79785" y="110933"/>
                  <a:pt x="79614" y="108142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1" name="Text 69"/>
          <p:cNvSpPr/>
          <p:nvPr/>
        </p:nvSpPr>
        <p:spPr>
          <a:xfrm>
            <a:off x="10042423" y="777113"/>
            <a:ext cx="1374496" cy="2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MOE挑战</a:t>
            </a:r>
            <a:endParaRPr lang="en-US" sz="1856" dirty="0"/>
          </a:p>
        </p:txBody>
      </p:sp>
      <p:sp>
        <p:nvSpPr>
          <p:cNvPr id="72" name="Text 70"/>
          <p:cNvSpPr/>
          <p:nvPr/>
        </p:nvSpPr>
        <p:spPr>
          <a:xfrm>
            <a:off x="9828809" y="1112266"/>
            <a:ext cx="1660296" cy="2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All-to-All通信瓶颈</a:t>
            </a:r>
            <a:endParaRPr lang="en-US" sz="1856" dirty="0"/>
          </a:p>
        </p:txBody>
      </p:sp>
      <p:sp>
        <p:nvSpPr>
          <p:cNvPr id="73" name="Text 71"/>
          <p:cNvSpPr/>
          <p:nvPr/>
        </p:nvSpPr>
        <p:spPr>
          <a:xfrm>
            <a:off x="9828809" y="1372286"/>
            <a:ext cx="1610208" cy="2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专家负载不均衡</a:t>
            </a:r>
            <a:endParaRPr lang="en-US" sz="1856" dirty="0"/>
          </a:p>
        </p:txBody>
      </p:sp>
      <p:sp>
        <p:nvSpPr>
          <p:cNvPr id="74" name="Text 72"/>
          <p:cNvSpPr/>
          <p:nvPr/>
        </p:nvSpPr>
        <p:spPr>
          <a:xfrm>
            <a:off x="9828809" y="1632306"/>
            <a:ext cx="1610208" cy="2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显存碎片化问题</a:t>
            </a:r>
            <a:endParaRPr lang="en-US" sz="1856" dirty="0"/>
          </a:p>
        </p:txBody>
      </p:sp>
      <p:sp>
        <p:nvSpPr>
          <p:cNvPr id="75" name="Shape 73"/>
          <p:cNvSpPr/>
          <p:nvPr/>
        </p:nvSpPr>
        <p:spPr>
          <a:xfrm>
            <a:off x="11964213" y="629056"/>
            <a:ext cx="1638935" cy="1375232"/>
          </a:xfrm>
          <a:custGeom>
            <a:avLst/>
            <a:gdLst/>
            <a:ahLst/>
            <a:cxnLst/>
            <a:rect l="l" t="t" r="r" b="b"/>
            <a:pathLst>
              <a:path w="3764941" h="1185556">
                <a:moveTo>
                  <a:pt x="64079" y="0"/>
                </a:moveTo>
                <a:lnTo>
                  <a:pt x="3700862" y="0"/>
                </a:lnTo>
                <a:cubicBezTo>
                  <a:pt x="3736252" y="0"/>
                  <a:pt x="3764941" y="28689"/>
                  <a:pt x="3764941" y="64079"/>
                </a:cubicBezTo>
                <a:lnTo>
                  <a:pt x="3764941" y="1121477"/>
                </a:lnTo>
                <a:cubicBezTo>
                  <a:pt x="3764941" y="1156867"/>
                  <a:pt x="3736252" y="1185556"/>
                  <a:pt x="3700862" y="1185556"/>
                </a:cubicBezTo>
                <a:lnTo>
                  <a:pt x="64079" y="1185556"/>
                </a:lnTo>
                <a:cubicBezTo>
                  <a:pt x="28689" y="1185556"/>
                  <a:pt x="0" y="1156867"/>
                  <a:pt x="0" y="1121477"/>
                </a:cubicBezTo>
                <a:lnTo>
                  <a:pt x="0" y="64079"/>
                </a:lnTo>
                <a:cubicBezTo>
                  <a:pt x="0" y="28713"/>
                  <a:pt x="28713" y="0"/>
                  <a:pt x="64079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76" name="Shape 74"/>
          <p:cNvSpPr/>
          <p:nvPr/>
        </p:nvSpPr>
        <p:spPr>
          <a:xfrm>
            <a:off x="12125952" y="823932"/>
            <a:ext cx="188167" cy="167259"/>
          </a:xfrm>
          <a:custGeom>
            <a:avLst/>
            <a:gdLst/>
            <a:ahLst/>
            <a:cxnLst/>
            <a:rect l="l" t="t" r="r" b="b"/>
            <a:pathLst>
              <a:path w="162213" h="144189">
                <a:moveTo>
                  <a:pt x="63111" y="27345"/>
                </a:moveTo>
                <a:lnTo>
                  <a:pt x="63111" y="41314"/>
                </a:lnTo>
                <a:lnTo>
                  <a:pt x="63252" y="41454"/>
                </a:lnTo>
                <a:cubicBezTo>
                  <a:pt x="65082" y="18249"/>
                  <a:pt x="84486" y="0"/>
                  <a:pt x="108170" y="0"/>
                </a:cubicBezTo>
                <a:cubicBezTo>
                  <a:pt x="113831" y="0"/>
                  <a:pt x="119266" y="1042"/>
                  <a:pt x="124251" y="2957"/>
                </a:cubicBezTo>
                <a:cubicBezTo>
                  <a:pt x="127067" y="4027"/>
                  <a:pt x="127574" y="7604"/>
                  <a:pt x="125462" y="9744"/>
                </a:cubicBezTo>
                <a:lnTo>
                  <a:pt x="100482" y="34724"/>
                </a:lnTo>
                <a:cubicBezTo>
                  <a:pt x="99637" y="35569"/>
                  <a:pt x="99158" y="36723"/>
                  <a:pt x="99158" y="37906"/>
                </a:cubicBezTo>
                <a:lnTo>
                  <a:pt x="99158" y="49565"/>
                </a:lnTo>
                <a:cubicBezTo>
                  <a:pt x="99158" y="52043"/>
                  <a:pt x="101186" y="54071"/>
                  <a:pt x="103664" y="54071"/>
                </a:cubicBezTo>
                <a:lnTo>
                  <a:pt x="115323" y="54071"/>
                </a:lnTo>
                <a:cubicBezTo>
                  <a:pt x="116506" y="54071"/>
                  <a:pt x="117661" y="53592"/>
                  <a:pt x="118506" y="52747"/>
                </a:cubicBezTo>
                <a:lnTo>
                  <a:pt x="143485" y="27768"/>
                </a:lnTo>
                <a:cubicBezTo>
                  <a:pt x="145625" y="25627"/>
                  <a:pt x="149202" y="26162"/>
                  <a:pt x="150272" y="28979"/>
                </a:cubicBezTo>
                <a:cubicBezTo>
                  <a:pt x="152187" y="33963"/>
                  <a:pt x="153229" y="39399"/>
                  <a:pt x="153229" y="45059"/>
                </a:cubicBezTo>
                <a:cubicBezTo>
                  <a:pt x="153229" y="62125"/>
                  <a:pt x="143739" y="76995"/>
                  <a:pt x="129714" y="84627"/>
                </a:cubicBezTo>
                <a:lnTo>
                  <a:pt x="152666" y="107579"/>
                </a:lnTo>
                <a:cubicBezTo>
                  <a:pt x="157932" y="112845"/>
                  <a:pt x="157932" y="121406"/>
                  <a:pt x="152666" y="126701"/>
                </a:cubicBezTo>
                <a:lnTo>
                  <a:pt x="135741" y="143626"/>
                </a:lnTo>
                <a:cubicBezTo>
                  <a:pt x="130474" y="148892"/>
                  <a:pt x="121913" y="148892"/>
                  <a:pt x="116619" y="143626"/>
                </a:cubicBezTo>
                <a:lnTo>
                  <a:pt x="81135" y="108142"/>
                </a:lnTo>
                <a:cubicBezTo>
                  <a:pt x="73418" y="100426"/>
                  <a:pt x="71672" y="89020"/>
                  <a:pt x="75925" y="79614"/>
                </a:cubicBezTo>
                <a:lnTo>
                  <a:pt x="50382" y="54071"/>
                </a:lnTo>
                <a:lnTo>
                  <a:pt x="36413" y="54071"/>
                </a:lnTo>
                <a:cubicBezTo>
                  <a:pt x="33400" y="54071"/>
                  <a:pt x="30584" y="52578"/>
                  <a:pt x="28922" y="50072"/>
                </a:cubicBezTo>
                <a:lnTo>
                  <a:pt x="6590" y="16587"/>
                </a:lnTo>
                <a:cubicBezTo>
                  <a:pt x="5407" y="14813"/>
                  <a:pt x="5632" y="12419"/>
                  <a:pt x="7153" y="10899"/>
                </a:cubicBezTo>
                <a:lnTo>
                  <a:pt x="19939" y="-1887"/>
                </a:lnTo>
                <a:cubicBezTo>
                  <a:pt x="21459" y="-3408"/>
                  <a:pt x="23825" y="-3633"/>
                  <a:pt x="25627" y="-2450"/>
                </a:cubicBezTo>
                <a:lnTo>
                  <a:pt x="59112" y="19854"/>
                </a:lnTo>
                <a:cubicBezTo>
                  <a:pt x="61618" y="21516"/>
                  <a:pt x="63111" y="24332"/>
                  <a:pt x="63111" y="27345"/>
                </a:cubicBezTo>
                <a:close/>
                <a:moveTo>
                  <a:pt x="60717" y="83528"/>
                </a:moveTo>
                <a:cubicBezTo>
                  <a:pt x="58943" y="93948"/>
                  <a:pt x="61393" y="104960"/>
                  <a:pt x="68152" y="113774"/>
                </a:cubicBezTo>
                <a:lnTo>
                  <a:pt x="41398" y="140500"/>
                </a:lnTo>
                <a:cubicBezTo>
                  <a:pt x="33485" y="148414"/>
                  <a:pt x="20643" y="148414"/>
                  <a:pt x="12729" y="140500"/>
                </a:cubicBezTo>
                <a:cubicBezTo>
                  <a:pt x="4816" y="132586"/>
                  <a:pt x="4816" y="119745"/>
                  <a:pt x="12729" y="111831"/>
                </a:cubicBezTo>
                <a:lnTo>
                  <a:pt x="50860" y="73700"/>
                </a:lnTo>
                <a:lnTo>
                  <a:pt x="60717" y="83557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77" name="Text 75"/>
          <p:cNvSpPr/>
          <p:nvPr/>
        </p:nvSpPr>
        <p:spPr>
          <a:xfrm>
            <a:off x="12326620" y="777113"/>
            <a:ext cx="1096797" cy="2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优化方向</a:t>
            </a:r>
            <a:endParaRPr lang="en-US" sz="1856" dirty="0"/>
          </a:p>
        </p:txBody>
      </p:sp>
      <p:sp>
        <p:nvSpPr>
          <p:cNvPr id="78" name="Text 76"/>
          <p:cNvSpPr/>
          <p:nvPr/>
        </p:nvSpPr>
        <p:spPr>
          <a:xfrm>
            <a:off x="12113006" y="1112266"/>
            <a:ext cx="1323670" cy="2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通信-计算重叠</a:t>
            </a:r>
            <a:endParaRPr lang="en-US" sz="1856" dirty="0"/>
          </a:p>
        </p:txBody>
      </p:sp>
      <p:sp>
        <p:nvSpPr>
          <p:cNvPr id="79" name="Text 77"/>
          <p:cNvSpPr/>
          <p:nvPr/>
        </p:nvSpPr>
        <p:spPr>
          <a:xfrm>
            <a:off x="12113006" y="1372286"/>
            <a:ext cx="1323670" cy="2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专家并行策略</a:t>
            </a:r>
            <a:endParaRPr lang="en-US" sz="1856" dirty="0"/>
          </a:p>
        </p:txBody>
      </p:sp>
      <p:sp>
        <p:nvSpPr>
          <p:cNvPr id="80" name="Text 78"/>
          <p:cNvSpPr/>
          <p:nvPr/>
        </p:nvSpPr>
        <p:spPr>
          <a:xfrm>
            <a:off x="12113006" y="1632306"/>
            <a:ext cx="1323670" cy="2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动态调度算法</a:t>
            </a:r>
            <a:endParaRPr lang="en-US" sz="1856" dirty="0"/>
          </a:p>
        </p:txBody>
      </p:sp>
      <p:pic>
        <p:nvPicPr>
          <p:cNvPr id="83" name="图片 82" descr="1_pupzl_EVIy0iSBQDqlLfK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344" y="2821178"/>
            <a:ext cx="7448499" cy="4974260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249" y="174574"/>
            <a:ext cx="2472766" cy="2646604"/>
          </a:xfrm>
          <a:prstGeom prst="rect">
            <a:avLst/>
          </a:prstGeom>
        </p:spPr>
      </p:pic>
      <p:cxnSp>
        <p:nvCxnSpPr>
          <p:cNvPr id="86" name="直接箭头连接符 85"/>
          <p:cNvCxnSpPr/>
          <p:nvPr/>
        </p:nvCxnSpPr>
        <p:spPr>
          <a:xfrm flipH="1">
            <a:off x="5711952" y="1312621"/>
            <a:ext cx="967892" cy="1137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H="1" flipV="1">
            <a:off x="5711952" y="5329301"/>
            <a:ext cx="942848" cy="883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8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89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dirty="0"/>
          </a:p>
        </p:txBody>
      </p:sp>
      <p:pic>
        <p:nvPicPr>
          <p:cNvPr id="90" name="CANN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1498600" y="1023413"/>
            <a:ext cx="2397633" cy="618744"/>
          </a:xfrm>
          <a:custGeom>
            <a:avLst/>
            <a:gdLst/>
            <a:ahLst/>
            <a:cxnLst/>
            <a:rect l="l" t="t" r="r" b="b"/>
            <a:pathLst>
              <a:path w="2066925" h="533400">
                <a:moveTo>
                  <a:pt x="0" y="0"/>
                </a:moveTo>
                <a:lnTo>
                  <a:pt x="2066925" y="0"/>
                </a:lnTo>
                <a:lnTo>
                  <a:pt x="20669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5" name="Text 2"/>
          <p:cNvSpPr/>
          <p:nvPr/>
        </p:nvSpPr>
        <p:spPr>
          <a:xfrm>
            <a:off x="1498600" y="1023413"/>
            <a:ext cx="2530221" cy="618744"/>
          </a:xfrm>
          <a:prstGeom prst="rect">
            <a:avLst/>
          </a:prstGeom>
          <a:noFill/>
        </p:spPr>
        <p:txBody>
          <a:bodyPr wrap="square" lIns="265176" tIns="132588" rIns="265176" bIns="132588" rtlCol="0" anchor="ctr"/>
          <a:lstStyle/>
          <a:p>
            <a:pPr>
              <a:lnSpc>
                <a:spcPct val="110000"/>
              </a:lnSpc>
            </a:pPr>
            <a:r>
              <a:rPr lang="en-US" sz="2088" b="1" kern="0" spc="90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CHAPTER 02</a:t>
            </a:r>
            <a:endParaRPr lang="en-US" sz="1856" dirty="0"/>
          </a:p>
        </p:txBody>
      </p:sp>
      <p:sp>
        <p:nvSpPr>
          <p:cNvPr id="6" name="Text 3"/>
          <p:cNvSpPr/>
          <p:nvPr/>
        </p:nvSpPr>
        <p:spPr>
          <a:xfrm>
            <a:off x="1498600" y="1995725"/>
            <a:ext cx="6905625" cy="1988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26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推理阶段与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626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性能特征</a:t>
            </a:r>
            <a:endParaRPr lang="en-US" sz="1856" dirty="0"/>
          </a:p>
        </p:txBody>
      </p:sp>
      <p:sp>
        <p:nvSpPr>
          <p:cNvPr id="7" name="Text 4"/>
          <p:cNvSpPr/>
          <p:nvPr/>
        </p:nvSpPr>
        <p:spPr>
          <a:xfrm>
            <a:off x="1498600" y="4338113"/>
            <a:ext cx="6673596" cy="5414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10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理解Prefill与Decode的本质差异及优化策略</a:t>
            </a:r>
            <a:endParaRPr lang="en-US" sz="1856" dirty="0"/>
          </a:p>
        </p:txBody>
      </p:sp>
      <p:sp>
        <p:nvSpPr>
          <p:cNvPr id="8" name="Shape 5"/>
          <p:cNvSpPr/>
          <p:nvPr/>
        </p:nvSpPr>
        <p:spPr>
          <a:xfrm>
            <a:off x="1520698" y="5407105"/>
            <a:ext cx="1966722" cy="1524762"/>
          </a:xfrm>
          <a:custGeom>
            <a:avLst/>
            <a:gdLst/>
            <a:ahLst/>
            <a:cxnLst/>
            <a:rect l="l" t="t" r="r" b="b"/>
            <a:pathLst>
              <a:path w="1695450" h="1314450">
                <a:moveTo>
                  <a:pt x="38100" y="0"/>
                </a:moveTo>
                <a:lnTo>
                  <a:pt x="1619251" y="0"/>
                </a:lnTo>
                <a:cubicBezTo>
                  <a:pt x="1661335" y="0"/>
                  <a:pt x="1695450" y="34115"/>
                  <a:pt x="1695450" y="76199"/>
                </a:cubicBezTo>
                <a:lnTo>
                  <a:pt x="1695450" y="1238251"/>
                </a:lnTo>
                <a:cubicBezTo>
                  <a:pt x="1695450" y="1280335"/>
                  <a:pt x="1661335" y="1314450"/>
                  <a:pt x="1619251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1520698" y="5407105"/>
            <a:ext cx="44196" cy="1524762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0" name="Shape 7"/>
          <p:cNvSpPr/>
          <p:nvPr/>
        </p:nvSpPr>
        <p:spPr>
          <a:xfrm>
            <a:off x="1807972" y="5628085"/>
            <a:ext cx="331470" cy="33147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05091" y="82097"/>
                </a:moveTo>
                <a:cubicBezTo>
                  <a:pt x="100850" y="84441"/>
                  <a:pt x="98227" y="88962"/>
                  <a:pt x="98227" y="93762"/>
                </a:cubicBezTo>
                <a:lnTo>
                  <a:pt x="98227" y="191988"/>
                </a:lnTo>
                <a:cubicBezTo>
                  <a:pt x="98227" y="196844"/>
                  <a:pt x="100850" y="201309"/>
                  <a:pt x="105091" y="203653"/>
                </a:cubicBezTo>
                <a:cubicBezTo>
                  <a:pt x="109333" y="205997"/>
                  <a:pt x="114467" y="205941"/>
                  <a:pt x="118653" y="203374"/>
                </a:cubicBezTo>
                <a:lnTo>
                  <a:pt x="199020" y="154260"/>
                </a:lnTo>
                <a:cubicBezTo>
                  <a:pt x="202983" y="151805"/>
                  <a:pt x="205439" y="147507"/>
                  <a:pt x="205439" y="142819"/>
                </a:cubicBezTo>
                <a:cubicBezTo>
                  <a:pt x="205439" y="138131"/>
                  <a:pt x="202983" y="133834"/>
                  <a:pt x="199020" y="131378"/>
                </a:cubicBezTo>
                <a:lnTo>
                  <a:pt x="118653" y="82265"/>
                </a:lnTo>
                <a:cubicBezTo>
                  <a:pt x="114523" y="79753"/>
                  <a:pt x="109333" y="79642"/>
                  <a:pt x="105091" y="81986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1" name="Text 8"/>
          <p:cNvSpPr/>
          <p:nvPr/>
        </p:nvSpPr>
        <p:spPr>
          <a:xfrm>
            <a:off x="1763776" y="6092143"/>
            <a:ext cx="1602105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Prefill阶段</a:t>
            </a:r>
            <a:endParaRPr lang="en-US" sz="1856" dirty="0"/>
          </a:p>
        </p:txBody>
      </p:sp>
      <p:sp>
        <p:nvSpPr>
          <p:cNvPr id="12" name="Text 9"/>
          <p:cNvSpPr/>
          <p:nvPr/>
        </p:nvSpPr>
        <p:spPr>
          <a:xfrm>
            <a:off x="1763776" y="6445711"/>
            <a:ext cx="1591056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计算密集型</a:t>
            </a:r>
            <a:endParaRPr lang="en-US" sz="1856" dirty="0"/>
          </a:p>
        </p:txBody>
      </p:sp>
      <p:sp>
        <p:nvSpPr>
          <p:cNvPr id="13" name="Shape 10"/>
          <p:cNvSpPr/>
          <p:nvPr/>
        </p:nvSpPr>
        <p:spPr>
          <a:xfrm>
            <a:off x="3776593" y="5407105"/>
            <a:ext cx="1966722" cy="1524762"/>
          </a:xfrm>
          <a:custGeom>
            <a:avLst/>
            <a:gdLst/>
            <a:ahLst/>
            <a:cxnLst/>
            <a:rect l="l" t="t" r="r" b="b"/>
            <a:pathLst>
              <a:path w="1695450" h="1314450">
                <a:moveTo>
                  <a:pt x="38100" y="0"/>
                </a:moveTo>
                <a:lnTo>
                  <a:pt x="1619251" y="0"/>
                </a:lnTo>
                <a:cubicBezTo>
                  <a:pt x="1661335" y="0"/>
                  <a:pt x="1695450" y="34115"/>
                  <a:pt x="1695450" y="76199"/>
                </a:cubicBezTo>
                <a:lnTo>
                  <a:pt x="1695450" y="1238251"/>
                </a:lnTo>
                <a:cubicBezTo>
                  <a:pt x="1695450" y="1280335"/>
                  <a:pt x="1661335" y="1314450"/>
                  <a:pt x="1619251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3776593" y="5407105"/>
            <a:ext cx="44196" cy="1524762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5" name="Shape 12"/>
          <p:cNvSpPr/>
          <p:nvPr/>
        </p:nvSpPr>
        <p:spPr>
          <a:xfrm>
            <a:off x="4063867" y="5628085"/>
            <a:ext cx="331470" cy="33147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43725" y="41690"/>
                </a:moveTo>
                <a:lnTo>
                  <a:pt x="250031" y="47662"/>
                </a:lnTo>
                <a:lnTo>
                  <a:pt x="250031" y="17859"/>
                </a:lnTo>
                <a:cubicBezTo>
                  <a:pt x="250031" y="7981"/>
                  <a:pt x="258012" y="0"/>
                  <a:pt x="267891" y="0"/>
                </a:cubicBezTo>
                <a:cubicBezTo>
                  <a:pt x="277769" y="0"/>
                  <a:pt x="285750" y="7981"/>
                  <a:pt x="285750" y="17859"/>
                </a:cubicBezTo>
                <a:lnTo>
                  <a:pt x="285750" y="89297"/>
                </a:lnTo>
                <a:cubicBezTo>
                  <a:pt x="285750" y="99175"/>
                  <a:pt x="277769" y="107156"/>
                  <a:pt x="267891" y="107156"/>
                </a:cubicBezTo>
                <a:lnTo>
                  <a:pt x="196453" y="107156"/>
                </a:lnTo>
                <a:cubicBezTo>
                  <a:pt x="186575" y="107156"/>
                  <a:pt x="178594" y="99175"/>
                  <a:pt x="178594" y="89297"/>
                </a:cubicBezTo>
                <a:cubicBezTo>
                  <a:pt x="178594" y="79418"/>
                  <a:pt x="186575" y="71438"/>
                  <a:pt x="196453" y="71438"/>
                </a:cubicBezTo>
                <a:lnTo>
                  <a:pt x="223186" y="71438"/>
                </a:lnTo>
                <a:lnTo>
                  <a:pt x="218945" y="67419"/>
                </a:lnTo>
                <a:cubicBezTo>
                  <a:pt x="218833" y="67308"/>
                  <a:pt x="218722" y="67196"/>
                  <a:pt x="218610" y="67084"/>
                </a:cubicBezTo>
                <a:cubicBezTo>
                  <a:pt x="176752" y="25226"/>
                  <a:pt x="108942" y="25226"/>
                  <a:pt x="67084" y="67084"/>
                </a:cubicBezTo>
                <a:cubicBezTo>
                  <a:pt x="25226" y="108942"/>
                  <a:pt x="25226" y="176752"/>
                  <a:pt x="67084" y="218610"/>
                </a:cubicBezTo>
                <a:cubicBezTo>
                  <a:pt x="108942" y="260468"/>
                  <a:pt x="176752" y="260468"/>
                  <a:pt x="218610" y="218610"/>
                </a:cubicBezTo>
                <a:cubicBezTo>
                  <a:pt x="223186" y="214033"/>
                  <a:pt x="227261" y="209178"/>
                  <a:pt x="230832" y="204043"/>
                </a:cubicBezTo>
                <a:cubicBezTo>
                  <a:pt x="236469" y="195951"/>
                  <a:pt x="247631" y="193997"/>
                  <a:pt x="255724" y="199634"/>
                </a:cubicBezTo>
                <a:cubicBezTo>
                  <a:pt x="263816" y="205271"/>
                  <a:pt x="265770" y="216433"/>
                  <a:pt x="260133" y="224526"/>
                </a:cubicBezTo>
                <a:cubicBezTo>
                  <a:pt x="255389" y="231335"/>
                  <a:pt x="249975" y="237809"/>
                  <a:pt x="243892" y="243892"/>
                </a:cubicBezTo>
                <a:cubicBezTo>
                  <a:pt x="188082" y="299703"/>
                  <a:pt x="97613" y="299703"/>
                  <a:pt x="41858" y="243892"/>
                </a:cubicBezTo>
                <a:cubicBezTo>
                  <a:pt x="-13897" y="188082"/>
                  <a:pt x="-13953" y="97668"/>
                  <a:pt x="41858" y="41858"/>
                </a:cubicBezTo>
                <a:cubicBezTo>
                  <a:pt x="97613" y="-13897"/>
                  <a:pt x="187914" y="-13953"/>
                  <a:pt x="243725" y="4169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6" name="Text 13"/>
          <p:cNvSpPr/>
          <p:nvPr/>
        </p:nvSpPr>
        <p:spPr>
          <a:xfrm>
            <a:off x="4019671" y="6092143"/>
            <a:ext cx="1602105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Decode阶段</a:t>
            </a:r>
            <a:endParaRPr lang="en-US" sz="1856" dirty="0"/>
          </a:p>
        </p:txBody>
      </p:sp>
      <p:sp>
        <p:nvSpPr>
          <p:cNvPr id="17" name="Text 14"/>
          <p:cNvSpPr/>
          <p:nvPr/>
        </p:nvSpPr>
        <p:spPr>
          <a:xfrm>
            <a:off x="4019671" y="6445711"/>
            <a:ext cx="1591056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访存密集型</a:t>
            </a:r>
            <a:endParaRPr lang="en-US" sz="1856" dirty="0"/>
          </a:p>
        </p:txBody>
      </p:sp>
      <p:sp>
        <p:nvSpPr>
          <p:cNvPr id="18" name="Shape 15"/>
          <p:cNvSpPr/>
          <p:nvPr/>
        </p:nvSpPr>
        <p:spPr>
          <a:xfrm>
            <a:off x="6032488" y="5407105"/>
            <a:ext cx="1966722" cy="1524762"/>
          </a:xfrm>
          <a:custGeom>
            <a:avLst/>
            <a:gdLst/>
            <a:ahLst/>
            <a:cxnLst/>
            <a:rect l="l" t="t" r="r" b="b"/>
            <a:pathLst>
              <a:path w="1695450" h="1314450">
                <a:moveTo>
                  <a:pt x="38100" y="0"/>
                </a:moveTo>
                <a:lnTo>
                  <a:pt x="1619251" y="0"/>
                </a:lnTo>
                <a:cubicBezTo>
                  <a:pt x="1661335" y="0"/>
                  <a:pt x="1695450" y="34115"/>
                  <a:pt x="1695450" y="76199"/>
                </a:cubicBezTo>
                <a:lnTo>
                  <a:pt x="1695450" y="1238251"/>
                </a:lnTo>
                <a:cubicBezTo>
                  <a:pt x="1695450" y="1280335"/>
                  <a:pt x="1661335" y="1314450"/>
                  <a:pt x="1619251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6032488" y="5407105"/>
            <a:ext cx="44196" cy="1524762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0" name="Shape 17"/>
          <p:cNvSpPr/>
          <p:nvPr/>
        </p:nvSpPr>
        <p:spPr>
          <a:xfrm>
            <a:off x="6340479" y="5628085"/>
            <a:ext cx="290036" cy="33147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1" name="Text 18"/>
          <p:cNvSpPr/>
          <p:nvPr/>
        </p:nvSpPr>
        <p:spPr>
          <a:xfrm>
            <a:off x="6275566" y="6092143"/>
            <a:ext cx="1602105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KV Cache</a:t>
            </a:r>
            <a:endParaRPr lang="en-US" sz="1856" dirty="0"/>
          </a:p>
        </p:txBody>
      </p:sp>
      <p:sp>
        <p:nvSpPr>
          <p:cNvPr id="22" name="Text 19"/>
          <p:cNvSpPr/>
          <p:nvPr/>
        </p:nvSpPr>
        <p:spPr>
          <a:xfrm>
            <a:off x="6275566" y="6445711"/>
            <a:ext cx="1591056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核心优化</a:t>
            </a:r>
            <a:endParaRPr lang="en-US" sz="1856" dirty="0"/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492" y="814680"/>
            <a:ext cx="8152689" cy="3169590"/>
          </a:xfrm>
          <a:prstGeom prst="rect">
            <a:avLst/>
          </a:prstGeom>
        </p:spPr>
      </p:pic>
      <p:sp>
        <p:nvSpPr>
          <p:cNvPr id="70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71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dirty="0"/>
          </a:p>
        </p:txBody>
      </p:sp>
      <p:pic>
        <p:nvPicPr>
          <p:cNvPr id="72" name="CANN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327" y="371687"/>
            <a:ext cx="371687" cy="371687"/>
          </a:xfrm>
          <a:custGeom>
            <a:avLst/>
            <a:gdLst/>
            <a:ahLst/>
            <a:cxnLst/>
            <a:rect l="l" t="t" r="r" b="b"/>
            <a:pathLst>
              <a:path w="320420" h="320420">
                <a:moveTo>
                  <a:pt x="160210" y="0"/>
                </a:moveTo>
                <a:lnTo>
                  <a:pt x="160210" y="0"/>
                </a:lnTo>
                <a:cubicBezTo>
                  <a:pt x="248633" y="0"/>
                  <a:pt x="320420" y="71788"/>
                  <a:pt x="320420" y="160210"/>
                </a:cubicBezTo>
                <a:lnTo>
                  <a:pt x="320420" y="160210"/>
                </a:lnTo>
                <a:cubicBezTo>
                  <a:pt x="320420" y="248633"/>
                  <a:pt x="248633" y="320420"/>
                  <a:pt x="160210" y="320420"/>
                </a:cubicBezTo>
                <a:lnTo>
                  <a:pt x="160210" y="320420"/>
                </a:lnTo>
                <a:cubicBezTo>
                  <a:pt x="71788" y="320420"/>
                  <a:pt x="0" y="248633"/>
                  <a:pt x="0" y="160210"/>
                </a:cubicBezTo>
                <a:lnTo>
                  <a:pt x="0" y="160210"/>
                </a:lnTo>
                <a:cubicBezTo>
                  <a:pt x="0" y="71788"/>
                  <a:pt x="71788" y="0"/>
                  <a:pt x="16021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3" name="Text 1"/>
          <p:cNvSpPr/>
          <p:nvPr/>
        </p:nvSpPr>
        <p:spPr>
          <a:xfrm>
            <a:off x="1386513" y="371687"/>
            <a:ext cx="455317" cy="3716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7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2.1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1911522" y="371687"/>
            <a:ext cx="6170017" cy="3716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3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Prefill与Decode：两个截然不同的世界</a:t>
            </a:r>
            <a:endParaRPr lang="en-US" sz="1856" dirty="0"/>
          </a:p>
        </p:txBody>
      </p:sp>
      <p:sp>
        <p:nvSpPr>
          <p:cNvPr id="5" name="Text 3"/>
          <p:cNvSpPr/>
          <p:nvPr/>
        </p:nvSpPr>
        <p:spPr>
          <a:xfrm>
            <a:off x="1911522" y="854882"/>
            <a:ext cx="12999780" cy="260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计算密集型 vs 访存密集型：理解本质差异是优化的第一步</a:t>
            </a:r>
            <a:endParaRPr lang="en-US" sz="1856" dirty="0"/>
          </a:p>
        </p:txBody>
      </p:sp>
      <p:sp>
        <p:nvSpPr>
          <p:cNvPr id="6" name="Shape 4"/>
          <p:cNvSpPr/>
          <p:nvPr/>
        </p:nvSpPr>
        <p:spPr>
          <a:xfrm>
            <a:off x="1428327" y="1300908"/>
            <a:ext cx="6606750" cy="5538147"/>
          </a:xfrm>
          <a:custGeom>
            <a:avLst/>
            <a:gdLst/>
            <a:ahLst/>
            <a:cxnLst/>
            <a:rect l="l" t="t" r="r" b="b"/>
            <a:pathLst>
              <a:path w="5695474" h="4774265">
                <a:moveTo>
                  <a:pt x="64071" y="0"/>
                </a:moveTo>
                <a:lnTo>
                  <a:pt x="5631404" y="0"/>
                </a:lnTo>
                <a:cubicBezTo>
                  <a:pt x="5666789" y="0"/>
                  <a:pt x="5695474" y="28685"/>
                  <a:pt x="5695474" y="64071"/>
                </a:cubicBezTo>
                <a:lnTo>
                  <a:pt x="5695474" y="4710195"/>
                </a:lnTo>
                <a:cubicBezTo>
                  <a:pt x="5695474" y="4745580"/>
                  <a:pt x="5666789" y="4774265"/>
                  <a:pt x="5631404" y="4774265"/>
                </a:cubicBezTo>
                <a:lnTo>
                  <a:pt x="64071" y="4774265"/>
                </a:lnTo>
                <a:cubicBezTo>
                  <a:pt x="28685" y="4774265"/>
                  <a:pt x="0" y="4745580"/>
                  <a:pt x="0" y="4710195"/>
                </a:cubicBezTo>
                <a:lnTo>
                  <a:pt x="0" y="64071"/>
                </a:lnTo>
                <a:cubicBezTo>
                  <a:pt x="0" y="28709"/>
                  <a:pt x="28709" y="0"/>
                  <a:pt x="64071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7" name="Shape 5"/>
          <p:cNvSpPr/>
          <p:nvPr/>
        </p:nvSpPr>
        <p:spPr>
          <a:xfrm>
            <a:off x="1614172" y="1486751"/>
            <a:ext cx="520363" cy="520363"/>
          </a:xfrm>
          <a:custGeom>
            <a:avLst/>
            <a:gdLst/>
            <a:ahLst/>
            <a:cxnLst/>
            <a:rect l="l" t="t" r="r" b="b"/>
            <a:pathLst>
              <a:path w="448589" h="448589">
                <a:moveTo>
                  <a:pt x="64085" y="0"/>
                </a:moveTo>
                <a:lnTo>
                  <a:pt x="384503" y="0"/>
                </a:lnTo>
                <a:cubicBezTo>
                  <a:pt x="419897" y="0"/>
                  <a:pt x="448589" y="28692"/>
                  <a:pt x="448589" y="64085"/>
                </a:cubicBezTo>
                <a:lnTo>
                  <a:pt x="448589" y="384503"/>
                </a:lnTo>
                <a:cubicBezTo>
                  <a:pt x="448589" y="419897"/>
                  <a:pt x="419897" y="448589"/>
                  <a:pt x="384503" y="448589"/>
                </a:cubicBezTo>
                <a:lnTo>
                  <a:pt x="64085" y="448589"/>
                </a:lnTo>
                <a:cubicBezTo>
                  <a:pt x="28692" y="448589"/>
                  <a:pt x="0" y="419897"/>
                  <a:pt x="0" y="384503"/>
                </a:cubicBezTo>
                <a:lnTo>
                  <a:pt x="0" y="64085"/>
                </a:lnTo>
                <a:cubicBezTo>
                  <a:pt x="0" y="28692"/>
                  <a:pt x="28692" y="0"/>
                  <a:pt x="64085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8" name="Shape 6"/>
          <p:cNvSpPr/>
          <p:nvPr/>
        </p:nvSpPr>
        <p:spPr>
          <a:xfrm>
            <a:off x="1762847" y="1635426"/>
            <a:ext cx="223012" cy="223012"/>
          </a:xfrm>
          <a:custGeom>
            <a:avLst/>
            <a:gdLst/>
            <a:ahLst/>
            <a:cxnLst/>
            <a:rect l="l" t="t" r="r" b="b"/>
            <a:pathLst>
              <a:path w="192252" h="192252">
                <a:moveTo>
                  <a:pt x="0" y="96126"/>
                </a:moveTo>
                <a:cubicBezTo>
                  <a:pt x="0" y="43073"/>
                  <a:pt x="43073" y="0"/>
                  <a:pt x="96126" y="0"/>
                </a:cubicBezTo>
                <a:cubicBezTo>
                  <a:pt x="149180" y="0"/>
                  <a:pt x="192252" y="43073"/>
                  <a:pt x="192252" y="96126"/>
                </a:cubicBezTo>
                <a:cubicBezTo>
                  <a:pt x="192252" y="149180"/>
                  <a:pt x="149180" y="192252"/>
                  <a:pt x="96126" y="192252"/>
                </a:cubicBezTo>
                <a:cubicBezTo>
                  <a:pt x="43073" y="192252"/>
                  <a:pt x="0" y="149180"/>
                  <a:pt x="0" y="96126"/>
                </a:cubicBezTo>
                <a:close/>
                <a:moveTo>
                  <a:pt x="70705" y="55235"/>
                </a:moveTo>
                <a:cubicBezTo>
                  <a:pt x="67852" y="56812"/>
                  <a:pt x="66087" y="59854"/>
                  <a:pt x="66087" y="63083"/>
                </a:cubicBezTo>
                <a:lnTo>
                  <a:pt x="66087" y="129170"/>
                </a:lnTo>
                <a:cubicBezTo>
                  <a:pt x="66087" y="132436"/>
                  <a:pt x="67852" y="135440"/>
                  <a:pt x="70705" y="137017"/>
                </a:cubicBezTo>
                <a:cubicBezTo>
                  <a:pt x="73559" y="138594"/>
                  <a:pt x="77014" y="138557"/>
                  <a:pt x="79830" y="136830"/>
                </a:cubicBezTo>
                <a:lnTo>
                  <a:pt x="133901" y="103786"/>
                </a:lnTo>
                <a:cubicBezTo>
                  <a:pt x="136567" y="102134"/>
                  <a:pt x="138219" y="99243"/>
                  <a:pt x="138219" y="96089"/>
                </a:cubicBezTo>
                <a:cubicBezTo>
                  <a:pt x="138219" y="92934"/>
                  <a:pt x="136567" y="90043"/>
                  <a:pt x="133901" y="88391"/>
                </a:cubicBezTo>
                <a:lnTo>
                  <a:pt x="79830" y="55348"/>
                </a:lnTo>
                <a:cubicBezTo>
                  <a:pt x="77051" y="53658"/>
                  <a:pt x="73559" y="53583"/>
                  <a:pt x="70705" y="5516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2246041" y="1486751"/>
            <a:ext cx="1486751" cy="297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Prefill阶段</a:t>
            </a:r>
            <a:endParaRPr lang="en-US" sz="1856" dirty="0"/>
          </a:p>
        </p:txBody>
      </p:sp>
      <p:sp>
        <p:nvSpPr>
          <p:cNvPr id="10" name="Text 8"/>
          <p:cNvSpPr/>
          <p:nvPr/>
        </p:nvSpPr>
        <p:spPr>
          <a:xfrm>
            <a:off x="2246041" y="1784101"/>
            <a:ext cx="1449582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Prompt Processing</a:t>
            </a:r>
            <a:endParaRPr lang="en-US" sz="1856" dirty="0"/>
          </a:p>
        </p:txBody>
      </p:sp>
      <p:sp>
        <p:nvSpPr>
          <p:cNvPr id="11" name="Shape 9"/>
          <p:cNvSpPr/>
          <p:nvPr/>
        </p:nvSpPr>
        <p:spPr>
          <a:xfrm>
            <a:off x="1632756" y="2155789"/>
            <a:ext cx="6216478" cy="1115063"/>
          </a:xfrm>
          <a:custGeom>
            <a:avLst/>
            <a:gdLst/>
            <a:ahLst/>
            <a:cxnLst/>
            <a:rect l="l" t="t" r="r" b="b"/>
            <a:pathLst>
              <a:path w="5359033" h="961261">
                <a:moveTo>
                  <a:pt x="32042" y="0"/>
                </a:moveTo>
                <a:lnTo>
                  <a:pt x="5294946" y="0"/>
                </a:lnTo>
                <a:cubicBezTo>
                  <a:pt x="5330340" y="0"/>
                  <a:pt x="5359033" y="28693"/>
                  <a:pt x="5359033" y="64087"/>
                </a:cubicBezTo>
                <a:lnTo>
                  <a:pt x="5359033" y="897174"/>
                </a:lnTo>
                <a:cubicBezTo>
                  <a:pt x="5359033" y="932569"/>
                  <a:pt x="5330340" y="961261"/>
                  <a:pt x="5294946" y="961261"/>
                </a:cubicBezTo>
                <a:lnTo>
                  <a:pt x="32042" y="961261"/>
                </a:lnTo>
                <a:cubicBezTo>
                  <a:pt x="14346" y="961261"/>
                  <a:pt x="0" y="946916"/>
                  <a:pt x="0" y="929219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1632756" y="2155789"/>
            <a:ext cx="37169" cy="1115063"/>
          </a:xfrm>
          <a:custGeom>
            <a:avLst/>
            <a:gdLst/>
            <a:ahLst/>
            <a:cxnLst/>
            <a:rect l="l" t="t" r="r" b="b"/>
            <a:pathLst>
              <a:path w="32042" h="961261">
                <a:moveTo>
                  <a:pt x="32042" y="0"/>
                </a:moveTo>
                <a:lnTo>
                  <a:pt x="32042" y="0"/>
                </a:lnTo>
                <a:lnTo>
                  <a:pt x="32042" y="961261"/>
                </a:lnTo>
                <a:lnTo>
                  <a:pt x="32042" y="961261"/>
                </a:lnTo>
                <a:cubicBezTo>
                  <a:pt x="14346" y="961261"/>
                  <a:pt x="0" y="946916"/>
                  <a:pt x="0" y="929219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3" name="Shape 11"/>
          <p:cNvSpPr/>
          <p:nvPr/>
        </p:nvSpPr>
        <p:spPr>
          <a:xfrm>
            <a:off x="1802339" y="2350926"/>
            <a:ext cx="209075" cy="167259"/>
          </a:xfrm>
          <a:custGeom>
            <a:avLst/>
            <a:gdLst/>
            <a:ahLst/>
            <a:cxnLst/>
            <a:rect l="l" t="t" r="r" b="b"/>
            <a:pathLst>
              <a:path w="180237" h="144189">
                <a:moveTo>
                  <a:pt x="117126" y="59281"/>
                </a:moveTo>
                <a:cubicBezTo>
                  <a:pt x="120561" y="58352"/>
                  <a:pt x="124166" y="59985"/>
                  <a:pt x="125715" y="63167"/>
                </a:cubicBezTo>
                <a:lnTo>
                  <a:pt x="130953" y="73756"/>
                </a:lnTo>
                <a:cubicBezTo>
                  <a:pt x="133854" y="74150"/>
                  <a:pt x="136698" y="74939"/>
                  <a:pt x="139374" y="76037"/>
                </a:cubicBezTo>
                <a:lnTo>
                  <a:pt x="149230" y="69476"/>
                </a:lnTo>
                <a:cubicBezTo>
                  <a:pt x="152187" y="67504"/>
                  <a:pt x="156102" y="67898"/>
                  <a:pt x="158608" y="70405"/>
                </a:cubicBezTo>
                <a:lnTo>
                  <a:pt x="164015" y="75812"/>
                </a:lnTo>
                <a:cubicBezTo>
                  <a:pt x="166522" y="78318"/>
                  <a:pt x="166916" y="82261"/>
                  <a:pt x="164945" y="85190"/>
                </a:cubicBezTo>
                <a:lnTo>
                  <a:pt x="158383" y="95018"/>
                </a:lnTo>
                <a:cubicBezTo>
                  <a:pt x="158918" y="96342"/>
                  <a:pt x="159397" y="97722"/>
                  <a:pt x="159791" y="99158"/>
                </a:cubicBezTo>
                <a:cubicBezTo>
                  <a:pt x="160185" y="100595"/>
                  <a:pt x="160439" y="102003"/>
                  <a:pt x="160636" y="103439"/>
                </a:cubicBezTo>
                <a:lnTo>
                  <a:pt x="171253" y="108677"/>
                </a:lnTo>
                <a:cubicBezTo>
                  <a:pt x="174435" y="110254"/>
                  <a:pt x="176069" y="113859"/>
                  <a:pt x="175139" y="117266"/>
                </a:cubicBezTo>
                <a:lnTo>
                  <a:pt x="173168" y="124645"/>
                </a:lnTo>
                <a:cubicBezTo>
                  <a:pt x="172239" y="128052"/>
                  <a:pt x="169056" y="130362"/>
                  <a:pt x="165508" y="130136"/>
                </a:cubicBezTo>
                <a:lnTo>
                  <a:pt x="153680" y="129376"/>
                </a:lnTo>
                <a:cubicBezTo>
                  <a:pt x="151906" y="131657"/>
                  <a:pt x="149850" y="133769"/>
                  <a:pt x="147512" y="135572"/>
                </a:cubicBezTo>
                <a:lnTo>
                  <a:pt x="148273" y="147372"/>
                </a:lnTo>
                <a:cubicBezTo>
                  <a:pt x="148498" y="150920"/>
                  <a:pt x="146189" y="154130"/>
                  <a:pt x="142781" y="155032"/>
                </a:cubicBezTo>
                <a:lnTo>
                  <a:pt x="135403" y="157003"/>
                </a:lnTo>
                <a:cubicBezTo>
                  <a:pt x="131967" y="157932"/>
                  <a:pt x="128390" y="156299"/>
                  <a:pt x="126813" y="153117"/>
                </a:cubicBezTo>
                <a:lnTo>
                  <a:pt x="121575" y="142528"/>
                </a:lnTo>
                <a:cubicBezTo>
                  <a:pt x="118674" y="142133"/>
                  <a:pt x="115830" y="141345"/>
                  <a:pt x="113155" y="140247"/>
                </a:cubicBezTo>
                <a:lnTo>
                  <a:pt x="103298" y="146808"/>
                </a:lnTo>
                <a:cubicBezTo>
                  <a:pt x="100341" y="148780"/>
                  <a:pt x="96427" y="148385"/>
                  <a:pt x="93920" y="145879"/>
                </a:cubicBezTo>
                <a:lnTo>
                  <a:pt x="88513" y="140472"/>
                </a:lnTo>
                <a:cubicBezTo>
                  <a:pt x="86007" y="137965"/>
                  <a:pt x="85612" y="134051"/>
                  <a:pt x="87584" y="131094"/>
                </a:cubicBezTo>
                <a:lnTo>
                  <a:pt x="94145" y="121237"/>
                </a:lnTo>
                <a:cubicBezTo>
                  <a:pt x="93610" y="119914"/>
                  <a:pt x="93132" y="118534"/>
                  <a:pt x="92737" y="117097"/>
                </a:cubicBezTo>
                <a:cubicBezTo>
                  <a:pt x="92343" y="115661"/>
                  <a:pt x="92090" y="114225"/>
                  <a:pt x="91892" y="112817"/>
                </a:cubicBezTo>
                <a:lnTo>
                  <a:pt x="81275" y="107579"/>
                </a:lnTo>
                <a:cubicBezTo>
                  <a:pt x="78093" y="106002"/>
                  <a:pt x="76488" y="102397"/>
                  <a:pt x="77389" y="98989"/>
                </a:cubicBezTo>
                <a:lnTo>
                  <a:pt x="79360" y="91611"/>
                </a:lnTo>
                <a:cubicBezTo>
                  <a:pt x="80290" y="88203"/>
                  <a:pt x="83472" y="85894"/>
                  <a:pt x="87020" y="86119"/>
                </a:cubicBezTo>
                <a:lnTo>
                  <a:pt x="98820" y="86880"/>
                </a:lnTo>
                <a:cubicBezTo>
                  <a:pt x="100595" y="84599"/>
                  <a:pt x="102650" y="82486"/>
                  <a:pt x="104988" y="80684"/>
                </a:cubicBezTo>
                <a:lnTo>
                  <a:pt x="104227" y="68912"/>
                </a:lnTo>
                <a:cubicBezTo>
                  <a:pt x="104002" y="65364"/>
                  <a:pt x="106311" y="62153"/>
                  <a:pt x="109719" y="61252"/>
                </a:cubicBezTo>
                <a:lnTo>
                  <a:pt x="117097" y="59281"/>
                </a:lnTo>
                <a:close/>
                <a:moveTo>
                  <a:pt x="126278" y="95751"/>
                </a:moveTo>
                <a:cubicBezTo>
                  <a:pt x="119439" y="95758"/>
                  <a:pt x="113893" y="101317"/>
                  <a:pt x="113901" y="108156"/>
                </a:cubicBezTo>
                <a:cubicBezTo>
                  <a:pt x="113909" y="114995"/>
                  <a:pt x="119467" y="120541"/>
                  <a:pt x="126306" y="120533"/>
                </a:cubicBezTo>
                <a:cubicBezTo>
                  <a:pt x="133145" y="120525"/>
                  <a:pt x="138691" y="114967"/>
                  <a:pt x="138684" y="108128"/>
                </a:cubicBezTo>
                <a:cubicBezTo>
                  <a:pt x="138676" y="101289"/>
                  <a:pt x="133117" y="95743"/>
                  <a:pt x="126278" y="95751"/>
                </a:cubicBezTo>
                <a:close/>
                <a:moveTo>
                  <a:pt x="63336" y="-12814"/>
                </a:moveTo>
                <a:lnTo>
                  <a:pt x="70715" y="-10842"/>
                </a:lnTo>
                <a:cubicBezTo>
                  <a:pt x="74122" y="-9913"/>
                  <a:pt x="76432" y="-6703"/>
                  <a:pt x="76206" y="-3182"/>
                </a:cubicBezTo>
                <a:lnTo>
                  <a:pt x="75446" y="8589"/>
                </a:lnTo>
                <a:cubicBezTo>
                  <a:pt x="77783" y="10392"/>
                  <a:pt x="79839" y="12476"/>
                  <a:pt x="81613" y="14785"/>
                </a:cubicBezTo>
                <a:lnTo>
                  <a:pt x="93441" y="14025"/>
                </a:lnTo>
                <a:cubicBezTo>
                  <a:pt x="96962" y="13799"/>
                  <a:pt x="100172" y="16109"/>
                  <a:pt x="101101" y="19516"/>
                </a:cubicBezTo>
                <a:lnTo>
                  <a:pt x="103073" y="26895"/>
                </a:lnTo>
                <a:cubicBezTo>
                  <a:pt x="103974" y="30302"/>
                  <a:pt x="102369" y="33907"/>
                  <a:pt x="99186" y="35484"/>
                </a:cubicBezTo>
                <a:lnTo>
                  <a:pt x="88569" y="40722"/>
                </a:lnTo>
                <a:cubicBezTo>
                  <a:pt x="88372" y="42158"/>
                  <a:pt x="88091" y="43595"/>
                  <a:pt x="87724" y="45003"/>
                </a:cubicBezTo>
                <a:cubicBezTo>
                  <a:pt x="87358" y="46411"/>
                  <a:pt x="86851" y="47819"/>
                  <a:pt x="86316" y="49143"/>
                </a:cubicBezTo>
                <a:lnTo>
                  <a:pt x="92878" y="58999"/>
                </a:lnTo>
                <a:cubicBezTo>
                  <a:pt x="94849" y="61956"/>
                  <a:pt x="94455" y="65871"/>
                  <a:pt x="91949" y="68377"/>
                </a:cubicBezTo>
                <a:lnTo>
                  <a:pt x="86542" y="73784"/>
                </a:lnTo>
                <a:cubicBezTo>
                  <a:pt x="84035" y="76291"/>
                  <a:pt x="80121" y="76685"/>
                  <a:pt x="77164" y="74714"/>
                </a:cubicBezTo>
                <a:lnTo>
                  <a:pt x="67307" y="68152"/>
                </a:lnTo>
                <a:cubicBezTo>
                  <a:pt x="64632" y="69250"/>
                  <a:pt x="61787" y="70039"/>
                  <a:pt x="58887" y="70433"/>
                </a:cubicBezTo>
                <a:lnTo>
                  <a:pt x="53649" y="81022"/>
                </a:lnTo>
                <a:cubicBezTo>
                  <a:pt x="52071" y="84204"/>
                  <a:pt x="48467" y="85809"/>
                  <a:pt x="45059" y="84908"/>
                </a:cubicBezTo>
                <a:lnTo>
                  <a:pt x="37681" y="82937"/>
                </a:lnTo>
                <a:cubicBezTo>
                  <a:pt x="34245" y="82008"/>
                  <a:pt x="31964" y="78797"/>
                  <a:pt x="32189" y="75277"/>
                </a:cubicBezTo>
                <a:lnTo>
                  <a:pt x="32949" y="63477"/>
                </a:lnTo>
                <a:cubicBezTo>
                  <a:pt x="30612" y="61675"/>
                  <a:pt x="28556" y="59591"/>
                  <a:pt x="26782" y="57281"/>
                </a:cubicBezTo>
                <a:lnTo>
                  <a:pt x="14954" y="58042"/>
                </a:lnTo>
                <a:cubicBezTo>
                  <a:pt x="11434" y="58267"/>
                  <a:pt x="8223" y="55958"/>
                  <a:pt x="7294" y="52550"/>
                </a:cubicBezTo>
                <a:lnTo>
                  <a:pt x="5323" y="45172"/>
                </a:lnTo>
                <a:cubicBezTo>
                  <a:pt x="4421" y="41764"/>
                  <a:pt x="6027" y="38159"/>
                  <a:pt x="9209" y="36582"/>
                </a:cubicBezTo>
                <a:lnTo>
                  <a:pt x="19826" y="31344"/>
                </a:lnTo>
                <a:cubicBezTo>
                  <a:pt x="20023" y="29908"/>
                  <a:pt x="20305" y="28500"/>
                  <a:pt x="20671" y="27064"/>
                </a:cubicBezTo>
                <a:cubicBezTo>
                  <a:pt x="21065" y="25627"/>
                  <a:pt x="21516" y="24247"/>
                  <a:pt x="22079" y="22924"/>
                </a:cubicBezTo>
                <a:lnTo>
                  <a:pt x="15517" y="13095"/>
                </a:lnTo>
                <a:cubicBezTo>
                  <a:pt x="13546" y="10138"/>
                  <a:pt x="13940" y="6224"/>
                  <a:pt x="16447" y="3717"/>
                </a:cubicBezTo>
                <a:lnTo>
                  <a:pt x="21854" y="-1690"/>
                </a:lnTo>
                <a:cubicBezTo>
                  <a:pt x="24360" y="-4196"/>
                  <a:pt x="28275" y="-4590"/>
                  <a:pt x="31232" y="-2619"/>
                </a:cubicBezTo>
                <a:lnTo>
                  <a:pt x="41088" y="3943"/>
                </a:lnTo>
                <a:cubicBezTo>
                  <a:pt x="43764" y="2844"/>
                  <a:pt x="46608" y="2056"/>
                  <a:pt x="49509" y="1662"/>
                </a:cubicBezTo>
                <a:lnTo>
                  <a:pt x="54747" y="-8927"/>
                </a:lnTo>
                <a:cubicBezTo>
                  <a:pt x="56324" y="-12110"/>
                  <a:pt x="59900" y="-13715"/>
                  <a:pt x="63336" y="-12814"/>
                </a:cubicBezTo>
                <a:close/>
                <a:moveTo>
                  <a:pt x="54184" y="23656"/>
                </a:moveTo>
                <a:cubicBezTo>
                  <a:pt x="47345" y="23656"/>
                  <a:pt x="41792" y="29208"/>
                  <a:pt x="41792" y="36047"/>
                </a:cubicBezTo>
                <a:cubicBezTo>
                  <a:pt x="41792" y="42886"/>
                  <a:pt x="47345" y="48439"/>
                  <a:pt x="54184" y="48439"/>
                </a:cubicBezTo>
                <a:cubicBezTo>
                  <a:pt x="61023" y="48439"/>
                  <a:pt x="66575" y="42886"/>
                  <a:pt x="66575" y="36047"/>
                </a:cubicBezTo>
                <a:cubicBezTo>
                  <a:pt x="66575" y="29208"/>
                  <a:pt x="61023" y="23656"/>
                  <a:pt x="54184" y="2365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4" name="Text 12"/>
          <p:cNvSpPr/>
          <p:nvPr/>
        </p:nvSpPr>
        <p:spPr>
          <a:xfrm>
            <a:off x="2013736" y="2304464"/>
            <a:ext cx="5770452" cy="260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工作原理</a:t>
            </a:r>
            <a:endParaRPr lang="en-US" sz="1856" dirty="0"/>
          </a:p>
        </p:txBody>
      </p:sp>
      <p:sp>
        <p:nvSpPr>
          <p:cNvPr id="15" name="Text 13"/>
          <p:cNvSpPr/>
          <p:nvPr/>
        </p:nvSpPr>
        <p:spPr>
          <a:xfrm>
            <a:off x="1800016" y="2638984"/>
            <a:ext cx="5974882" cy="483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并行处理输入prompt的所有tokens，通过Attention机制计算token间关系，生成第一个输出token，同时构建KV Cache。</a:t>
            </a:r>
            <a:endParaRPr lang="en-US" sz="1856" dirty="0"/>
          </a:p>
        </p:txBody>
      </p:sp>
      <p:sp>
        <p:nvSpPr>
          <p:cNvPr id="16" name="Shape 14"/>
          <p:cNvSpPr/>
          <p:nvPr/>
        </p:nvSpPr>
        <p:spPr>
          <a:xfrm>
            <a:off x="1632756" y="3382359"/>
            <a:ext cx="6216478" cy="1449582"/>
          </a:xfrm>
          <a:custGeom>
            <a:avLst/>
            <a:gdLst/>
            <a:ahLst/>
            <a:cxnLst/>
            <a:rect l="l" t="t" r="r" b="b"/>
            <a:pathLst>
              <a:path w="5359033" h="1249640">
                <a:moveTo>
                  <a:pt x="32042" y="0"/>
                </a:moveTo>
                <a:lnTo>
                  <a:pt x="5294951" y="0"/>
                </a:lnTo>
                <a:cubicBezTo>
                  <a:pt x="5330343" y="0"/>
                  <a:pt x="5359033" y="28690"/>
                  <a:pt x="5359033" y="64082"/>
                </a:cubicBezTo>
                <a:lnTo>
                  <a:pt x="5359033" y="1185558"/>
                </a:lnTo>
                <a:cubicBezTo>
                  <a:pt x="5359033" y="1220950"/>
                  <a:pt x="5330343" y="1249640"/>
                  <a:pt x="5294951" y="1249640"/>
                </a:cubicBezTo>
                <a:lnTo>
                  <a:pt x="32042" y="1249640"/>
                </a:lnTo>
                <a:cubicBezTo>
                  <a:pt x="14346" y="1249640"/>
                  <a:pt x="0" y="1235294"/>
                  <a:pt x="0" y="1217598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1632756" y="3382359"/>
            <a:ext cx="37169" cy="1449582"/>
          </a:xfrm>
          <a:custGeom>
            <a:avLst/>
            <a:gdLst/>
            <a:ahLst/>
            <a:cxnLst/>
            <a:rect l="l" t="t" r="r" b="b"/>
            <a:pathLst>
              <a:path w="32042" h="1249640">
                <a:moveTo>
                  <a:pt x="32042" y="0"/>
                </a:moveTo>
                <a:lnTo>
                  <a:pt x="32042" y="0"/>
                </a:lnTo>
                <a:lnTo>
                  <a:pt x="32042" y="1249640"/>
                </a:lnTo>
                <a:lnTo>
                  <a:pt x="32042" y="1249640"/>
                </a:lnTo>
                <a:cubicBezTo>
                  <a:pt x="14346" y="1249640"/>
                  <a:pt x="0" y="1235294"/>
                  <a:pt x="0" y="1217598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8" name="Shape 16"/>
          <p:cNvSpPr/>
          <p:nvPr/>
        </p:nvSpPr>
        <p:spPr>
          <a:xfrm>
            <a:off x="1823246" y="3577495"/>
            <a:ext cx="167259" cy="167259"/>
          </a:xfrm>
          <a:custGeom>
            <a:avLst/>
            <a:gdLst/>
            <a:ahLst/>
            <a:cxnLst/>
            <a:rect l="l" t="t" r="r" b="b"/>
            <a:pathLst>
              <a:path w="144189" h="144189">
                <a:moveTo>
                  <a:pt x="49565" y="6759"/>
                </a:moveTo>
                <a:cubicBezTo>
                  <a:pt x="49565" y="3013"/>
                  <a:pt x="46552" y="0"/>
                  <a:pt x="42806" y="0"/>
                </a:cubicBezTo>
                <a:cubicBezTo>
                  <a:pt x="39061" y="0"/>
                  <a:pt x="36047" y="3013"/>
                  <a:pt x="36047" y="6759"/>
                </a:cubicBezTo>
                <a:lnTo>
                  <a:pt x="36047" y="18024"/>
                </a:lnTo>
                <a:cubicBezTo>
                  <a:pt x="26106" y="18024"/>
                  <a:pt x="18024" y="26106"/>
                  <a:pt x="18024" y="36047"/>
                </a:cubicBezTo>
                <a:lnTo>
                  <a:pt x="6759" y="36047"/>
                </a:lnTo>
                <a:cubicBezTo>
                  <a:pt x="3013" y="36047"/>
                  <a:pt x="0" y="39061"/>
                  <a:pt x="0" y="42806"/>
                </a:cubicBezTo>
                <a:cubicBezTo>
                  <a:pt x="0" y="46552"/>
                  <a:pt x="3013" y="49565"/>
                  <a:pt x="6759" y="49565"/>
                </a:cubicBezTo>
                <a:lnTo>
                  <a:pt x="18024" y="49565"/>
                </a:lnTo>
                <a:lnTo>
                  <a:pt x="18024" y="65336"/>
                </a:lnTo>
                <a:lnTo>
                  <a:pt x="6759" y="65336"/>
                </a:lnTo>
                <a:cubicBezTo>
                  <a:pt x="3013" y="65336"/>
                  <a:pt x="0" y="68349"/>
                  <a:pt x="0" y="72095"/>
                </a:cubicBezTo>
                <a:cubicBezTo>
                  <a:pt x="0" y="75840"/>
                  <a:pt x="3013" y="78853"/>
                  <a:pt x="6759" y="78853"/>
                </a:cubicBezTo>
                <a:lnTo>
                  <a:pt x="18024" y="78853"/>
                </a:lnTo>
                <a:lnTo>
                  <a:pt x="18024" y="94624"/>
                </a:lnTo>
                <a:lnTo>
                  <a:pt x="6759" y="94624"/>
                </a:lnTo>
                <a:cubicBezTo>
                  <a:pt x="3013" y="94624"/>
                  <a:pt x="0" y="97638"/>
                  <a:pt x="0" y="101383"/>
                </a:cubicBezTo>
                <a:cubicBezTo>
                  <a:pt x="0" y="105129"/>
                  <a:pt x="3013" y="108142"/>
                  <a:pt x="6759" y="108142"/>
                </a:cubicBezTo>
                <a:lnTo>
                  <a:pt x="18024" y="108142"/>
                </a:lnTo>
                <a:cubicBezTo>
                  <a:pt x="18024" y="118083"/>
                  <a:pt x="26106" y="126166"/>
                  <a:pt x="36047" y="126166"/>
                </a:cubicBezTo>
                <a:lnTo>
                  <a:pt x="36047" y="137430"/>
                </a:lnTo>
                <a:cubicBezTo>
                  <a:pt x="36047" y="141176"/>
                  <a:pt x="39061" y="144189"/>
                  <a:pt x="42806" y="144189"/>
                </a:cubicBezTo>
                <a:cubicBezTo>
                  <a:pt x="46552" y="144189"/>
                  <a:pt x="49565" y="141176"/>
                  <a:pt x="49565" y="137430"/>
                </a:cubicBezTo>
                <a:lnTo>
                  <a:pt x="49565" y="126166"/>
                </a:lnTo>
                <a:lnTo>
                  <a:pt x="65336" y="126166"/>
                </a:lnTo>
                <a:lnTo>
                  <a:pt x="65336" y="137430"/>
                </a:lnTo>
                <a:cubicBezTo>
                  <a:pt x="65336" y="141176"/>
                  <a:pt x="68349" y="144189"/>
                  <a:pt x="72095" y="144189"/>
                </a:cubicBezTo>
                <a:cubicBezTo>
                  <a:pt x="75840" y="144189"/>
                  <a:pt x="78853" y="141176"/>
                  <a:pt x="78853" y="137430"/>
                </a:cubicBezTo>
                <a:lnTo>
                  <a:pt x="78853" y="126166"/>
                </a:lnTo>
                <a:lnTo>
                  <a:pt x="94624" y="126166"/>
                </a:lnTo>
                <a:lnTo>
                  <a:pt x="94624" y="137430"/>
                </a:lnTo>
                <a:cubicBezTo>
                  <a:pt x="94624" y="141176"/>
                  <a:pt x="97638" y="144189"/>
                  <a:pt x="101383" y="144189"/>
                </a:cubicBezTo>
                <a:cubicBezTo>
                  <a:pt x="105129" y="144189"/>
                  <a:pt x="108142" y="141176"/>
                  <a:pt x="108142" y="137430"/>
                </a:cubicBezTo>
                <a:lnTo>
                  <a:pt x="108142" y="126166"/>
                </a:lnTo>
                <a:cubicBezTo>
                  <a:pt x="118083" y="126166"/>
                  <a:pt x="126166" y="118083"/>
                  <a:pt x="126166" y="108142"/>
                </a:cubicBezTo>
                <a:lnTo>
                  <a:pt x="137430" y="108142"/>
                </a:lnTo>
                <a:cubicBezTo>
                  <a:pt x="141176" y="108142"/>
                  <a:pt x="144189" y="105129"/>
                  <a:pt x="144189" y="101383"/>
                </a:cubicBezTo>
                <a:cubicBezTo>
                  <a:pt x="144189" y="97638"/>
                  <a:pt x="141176" y="94624"/>
                  <a:pt x="137430" y="94624"/>
                </a:cubicBezTo>
                <a:lnTo>
                  <a:pt x="126166" y="94624"/>
                </a:lnTo>
                <a:lnTo>
                  <a:pt x="126166" y="78853"/>
                </a:lnTo>
                <a:lnTo>
                  <a:pt x="137430" y="78853"/>
                </a:lnTo>
                <a:cubicBezTo>
                  <a:pt x="141176" y="78853"/>
                  <a:pt x="144189" y="75840"/>
                  <a:pt x="144189" y="72095"/>
                </a:cubicBezTo>
                <a:cubicBezTo>
                  <a:pt x="144189" y="68349"/>
                  <a:pt x="141176" y="65336"/>
                  <a:pt x="137430" y="65336"/>
                </a:cubicBezTo>
                <a:lnTo>
                  <a:pt x="126166" y="65336"/>
                </a:lnTo>
                <a:lnTo>
                  <a:pt x="126166" y="49565"/>
                </a:lnTo>
                <a:lnTo>
                  <a:pt x="137430" y="49565"/>
                </a:lnTo>
                <a:cubicBezTo>
                  <a:pt x="141176" y="49565"/>
                  <a:pt x="144189" y="46552"/>
                  <a:pt x="144189" y="42806"/>
                </a:cubicBezTo>
                <a:cubicBezTo>
                  <a:pt x="144189" y="39061"/>
                  <a:pt x="141176" y="36047"/>
                  <a:pt x="137430" y="36047"/>
                </a:cubicBezTo>
                <a:lnTo>
                  <a:pt x="126166" y="36047"/>
                </a:lnTo>
                <a:cubicBezTo>
                  <a:pt x="126166" y="26106"/>
                  <a:pt x="118083" y="18024"/>
                  <a:pt x="108142" y="18024"/>
                </a:cubicBezTo>
                <a:lnTo>
                  <a:pt x="108142" y="6759"/>
                </a:lnTo>
                <a:cubicBezTo>
                  <a:pt x="108142" y="3013"/>
                  <a:pt x="105129" y="0"/>
                  <a:pt x="101383" y="0"/>
                </a:cubicBezTo>
                <a:cubicBezTo>
                  <a:pt x="97638" y="0"/>
                  <a:pt x="94624" y="3013"/>
                  <a:pt x="94624" y="6759"/>
                </a:cubicBezTo>
                <a:lnTo>
                  <a:pt x="94624" y="18024"/>
                </a:lnTo>
                <a:lnTo>
                  <a:pt x="78853" y="18024"/>
                </a:lnTo>
                <a:lnTo>
                  <a:pt x="78853" y="6759"/>
                </a:lnTo>
                <a:cubicBezTo>
                  <a:pt x="78853" y="3013"/>
                  <a:pt x="75840" y="0"/>
                  <a:pt x="72095" y="0"/>
                </a:cubicBezTo>
                <a:cubicBezTo>
                  <a:pt x="68349" y="0"/>
                  <a:pt x="65336" y="3013"/>
                  <a:pt x="65336" y="6759"/>
                </a:cubicBezTo>
                <a:lnTo>
                  <a:pt x="65336" y="18024"/>
                </a:lnTo>
                <a:lnTo>
                  <a:pt x="49565" y="18024"/>
                </a:lnTo>
                <a:lnTo>
                  <a:pt x="49565" y="6759"/>
                </a:lnTo>
                <a:close/>
                <a:moveTo>
                  <a:pt x="45059" y="36047"/>
                </a:moveTo>
                <a:lnTo>
                  <a:pt x="99130" y="36047"/>
                </a:lnTo>
                <a:cubicBezTo>
                  <a:pt x="104115" y="36047"/>
                  <a:pt x="108142" y="40074"/>
                  <a:pt x="108142" y="45059"/>
                </a:cubicBezTo>
                <a:lnTo>
                  <a:pt x="108142" y="99130"/>
                </a:lnTo>
                <a:cubicBezTo>
                  <a:pt x="108142" y="104115"/>
                  <a:pt x="104115" y="108142"/>
                  <a:pt x="99130" y="108142"/>
                </a:cubicBezTo>
                <a:lnTo>
                  <a:pt x="45059" y="108142"/>
                </a:lnTo>
                <a:cubicBezTo>
                  <a:pt x="40074" y="108142"/>
                  <a:pt x="36047" y="104115"/>
                  <a:pt x="36047" y="99130"/>
                </a:cubicBezTo>
                <a:lnTo>
                  <a:pt x="36047" y="45059"/>
                </a:lnTo>
                <a:cubicBezTo>
                  <a:pt x="36047" y="40074"/>
                  <a:pt x="40074" y="36047"/>
                  <a:pt x="45059" y="36047"/>
                </a:cubicBezTo>
                <a:close/>
                <a:moveTo>
                  <a:pt x="49565" y="49565"/>
                </a:moveTo>
                <a:lnTo>
                  <a:pt x="49565" y="94624"/>
                </a:lnTo>
                <a:lnTo>
                  <a:pt x="94624" y="94624"/>
                </a:lnTo>
                <a:lnTo>
                  <a:pt x="94624" y="49565"/>
                </a:lnTo>
                <a:lnTo>
                  <a:pt x="49565" y="49565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19" name="Text 17"/>
          <p:cNvSpPr/>
          <p:nvPr/>
        </p:nvSpPr>
        <p:spPr>
          <a:xfrm>
            <a:off x="2013736" y="3531034"/>
            <a:ext cx="5770452" cy="260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计算特征</a:t>
            </a:r>
            <a:endParaRPr lang="en-US" sz="1856" dirty="0"/>
          </a:p>
        </p:txBody>
      </p:sp>
      <p:sp>
        <p:nvSpPr>
          <p:cNvPr id="20" name="Shape 18"/>
          <p:cNvSpPr/>
          <p:nvPr/>
        </p:nvSpPr>
        <p:spPr>
          <a:xfrm>
            <a:off x="1818600" y="3902721"/>
            <a:ext cx="148675" cy="148675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128168"/>
                </a:moveTo>
                <a:cubicBezTo>
                  <a:pt x="99453" y="128168"/>
                  <a:pt x="128168" y="99453"/>
                  <a:pt x="128168" y="64084"/>
                </a:cubicBezTo>
                <a:cubicBezTo>
                  <a:pt x="128168" y="28715"/>
                  <a:pt x="99453" y="0"/>
                  <a:pt x="64084" y="0"/>
                </a:cubicBezTo>
                <a:cubicBezTo>
                  <a:pt x="28715" y="0"/>
                  <a:pt x="0" y="28715"/>
                  <a:pt x="0" y="64084"/>
                </a:cubicBezTo>
                <a:cubicBezTo>
                  <a:pt x="0" y="99453"/>
                  <a:pt x="28715" y="128168"/>
                  <a:pt x="64084" y="128168"/>
                </a:cubicBezTo>
                <a:close/>
                <a:moveTo>
                  <a:pt x="85212" y="53245"/>
                </a:moveTo>
                <a:lnTo>
                  <a:pt x="65186" y="85287"/>
                </a:lnTo>
                <a:cubicBezTo>
                  <a:pt x="64134" y="86964"/>
                  <a:pt x="62332" y="88016"/>
                  <a:pt x="60354" y="88116"/>
                </a:cubicBezTo>
                <a:cubicBezTo>
                  <a:pt x="58377" y="88216"/>
                  <a:pt x="56474" y="87315"/>
                  <a:pt x="55298" y="85712"/>
                </a:cubicBezTo>
                <a:lnTo>
                  <a:pt x="43282" y="69691"/>
                </a:lnTo>
                <a:cubicBezTo>
                  <a:pt x="41279" y="67038"/>
                  <a:pt x="41830" y="63283"/>
                  <a:pt x="44483" y="61280"/>
                </a:cubicBezTo>
                <a:cubicBezTo>
                  <a:pt x="47137" y="59278"/>
                  <a:pt x="50892" y="59829"/>
                  <a:pt x="52894" y="62482"/>
                </a:cubicBezTo>
                <a:lnTo>
                  <a:pt x="59653" y="71494"/>
                </a:lnTo>
                <a:lnTo>
                  <a:pt x="75023" y="46887"/>
                </a:lnTo>
                <a:cubicBezTo>
                  <a:pt x="76776" y="44083"/>
                  <a:pt x="80481" y="43207"/>
                  <a:pt x="83309" y="44984"/>
                </a:cubicBezTo>
                <a:cubicBezTo>
                  <a:pt x="86138" y="46761"/>
                  <a:pt x="86989" y="50441"/>
                  <a:pt x="85212" y="5327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1" name="Text 19"/>
          <p:cNvSpPr/>
          <p:nvPr/>
        </p:nvSpPr>
        <p:spPr>
          <a:xfrm>
            <a:off x="2060197" y="3865553"/>
            <a:ext cx="3075717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计算密集型：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矩阵乘法为主，算力是瓶颈</a:t>
            </a:r>
            <a:endParaRPr lang="en-US" sz="1856" dirty="0"/>
          </a:p>
        </p:txBody>
      </p:sp>
      <p:sp>
        <p:nvSpPr>
          <p:cNvPr id="22" name="Shape 20"/>
          <p:cNvSpPr/>
          <p:nvPr/>
        </p:nvSpPr>
        <p:spPr>
          <a:xfrm>
            <a:off x="1818600" y="4200072"/>
            <a:ext cx="148675" cy="148675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128168"/>
                </a:moveTo>
                <a:cubicBezTo>
                  <a:pt x="99453" y="128168"/>
                  <a:pt x="128168" y="99453"/>
                  <a:pt x="128168" y="64084"/>
                </a:cubicBezTo>
                <a:cubicBezTo>
                  <a:pt x="128168" y="28715"/>
                  <a:pt x="99453" y="0"/>
                  <a:pt x="64084" y="0"/>
                </a:cubicBezTo>
                <a:cubicBezTo>
                  <a:pt x="28715" y="0"/>
                  <a:pt x="0" y="28715"/>
                  <a:pt x="0" y="64084"/>
                </a:cubicBezTo>
                <a:cubicBezTo>
                  <a:pt x="0" y="99453"/>
                  <a:pt x="28715" y="128168"/>
                  <a:pt x="64084" y="128168"/>
                </a:cubicBezTo>
                <a:close/>
                <a:moveTo>
                  <a:pt x="85212" y="53245"/>
                </a:moveTo>
                <a:lnTo>
                  <a:pt x="65186" y="85287"/>
                </a:lnTo>
                <a:cubicBezTo>
                  <a:pt x="64134" y="86964"/>
                  <a:pt x="62332" y="88016"/>
                  <a:pt x="60354" y="88116"/>
                </a:cubicBezTo>
                <a:cubicBezTo>
                  <a:pt x="58377" y="88216"/>
                  <a:pt x="56474" y="87315"/>
                  <a:pt x="55298" y="85712"/>
                </a:cubicBezTo>
                <a:lnTo>
                  <a:pt x="43282" y="69691"/>
                </a:lnTo>
                <a:cubicBezTo>
                  <a:pt x="41279" y="67038"/>
                  <a:pt x="41830" y="63283"/>
                  <a:pt x="44483" y="61280"/>
                </a:cubicBezTo>
                <a:cubicBezTo>
                  <a:pt x="47137" y="59278"/>
                  <a:pt x="50892" y="59829"/>
                  <a:pt x="52894" y="62482"/>
                </a:cubicBezTo>
                <a:lnTo>
                  <a:pt x="59653" y="71494"/>
                </a:lnTo>
                <a:lnTo>
                  <a:pt x="75023" y="46887"/>
                </a:lnTo>
                <a:cubicBezTo>
                  <a:pt x="76776" y="44083"/>
                  <a:pt x="80481" y="43207"/>
                  <a:pt x="83309" y="44984"/>
                </a:cubicBezTo>
                <a:cubicBezTo>
                  <a:pt x="86138" y="46761"/>
                  <a:pt x="86989" y="50441"/>
                  <a:pt x="85212" y="5327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3" name="Text 21"/>
          <p:cNvSpPr/>
          <p:nvPr/>
        </p:nvSpPr>
        <p:spPr>
          <a:xfrm>
            <a:off x="2060197" y="4162904"/>
            <a:ext cx="2415970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并行度高：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所有输入token同时处理</a:t>
            </a:r>
            <a:endParaRPr lang="en-US" sz="1856" dirty="0"/>
          </a:p>
        </p:txBody>
      </p:sp>
      <p:sp>
        <p:nvSpPr>
          <p:cNvPr id="24" name="Shape 22"/>
          <p:cNvSpPr/>
          <p:nvPr/>
        </p:nvSpPr>
        <p:spPr>
          <a:xfrm>
            <a:off x="1818600" y="4497422"/>
            <a:ext cx="148675" cy="148675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128168"/>
                </a:moveTo>
                <a:cubicBezTo>
                  <a:pt x="99453" y="128168"/>
                  <a:pt x="128168" y="99453"/>
                  <a:pt x="128168" y="64084"/>
                </a:cubicBezTo>
                <a:cubicBezTo>
                  <a:pt x="128168" y="28715"/>
                  <a:pt x="99453" y="0"/>
                  <a:pt x="64084" y="0"/>
                </a:cubicBezTo>
                <a:cubicBezTo>
                  <a:pt x="28715" y="0"/>
                  <a:pt x="0" y="28715"/>
                  <a:pt x="0" y="64084"/>
                </a:cubicBezTo>
                <a:cubicBezTo>
                  <a:pt x="0" y="99453"/>
                  <a:pt x="28715" y="128168"/>
                  <a:pt x="64084" y="128168"/>
                </a:cubicBezTo>
                <a:close/>
                <a:moveTo>
                  <a:pt x="85212" y="53245"/>
                </a:moveTo>
                <a:lnTo>
                  <a:pt x="65186" y="85287"/>
                </a:lnTo>
                <a:cubicBezTo>
                  <a:pt x="64134" y="86964"/>
                  <a:pt x="62332" y="88016"/>
                  <a:pt x="60354" y="88116"/>
                </a:cubicBezTo>
                <a:cubicBezTo>
                  <a:pt x="58377" y="88216"/>
                  <a:pt x="56474" y="87315"/>
                  <a:pt x="55298" y="85712"/>
                </a:cubicBezTo>
                <a:lnTo>
                  <a:pt x="43282" y="69691"/>
                </a:lnTo>
                <a:cubicBezTo>
                  <a:pt x="41279" y="67038"/>
                  <a:pt x="41830" y="63283"/>
                  <a:pt x="44483" y="61280"/>
                </a:cubicBezTo>
                <a:cubicBezTo>
                  <a:pt x="47137" y="59278"/>
                  <a:pt x="50892" y="59829"/>
                  <a:pt x="52894" y="62482"/>
                </a:cubicBezTo>
                <a:lnTo>
                  <a:pt x="59653" y="71494"/>
                </a:lnTo>
                <a:lnTo>
                  <a:pt x="75023" y="46887"/>
                </a:lnTo>
                <a:cubicBezTo>
                  <a:pt x="76776" y="44083"/>
                  <a:pt x="80481" y="43207"/>
                  <a:pt x="83309" y="44984"/>
                </a:cubicBezTo>
                <a:cubicBezTo>
                  <a:pt x="86138" y="46761"/>
                  <a:pt x="86989" y="50441"/>
                  <a:pt x="85212" y="5327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5" name="Text 23"/>
          <p:cNvSpPr/>
          <p:nvPr/>
        </p:nvSpPr>
        <p:spPr>
          <a:xfrm>
            <a:off x="2060197" y="4460253"/>
            <a:ext cx="2155789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内存占用：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随序列长度线性增长</a:t>
            </a:r>
            <a:endParaRPr lang="en-US" sz="1856" dirty="0"/>
          </a:p>
        </p:txBody>
      </p:sp>
      <p:sp>
        <p:nvSpPr>
          <p:cNvPr id="26" name="Shape 24"/>
          <p:cNvSpPr/>
          <p:nvPr/>
        </p:nvSpPr>
        <p:spPr>
          <a:xfrm>
            <a:off x="1632756" y="4943448"/>
            <a:ext cx="6216478" cy="1152233"/>
          </a:xfrm>
          <a:custGeom>
            <a:avLst/>
            <a:gdLst/>
            <a:ahLst/>
            <a:cxnLst/>
            <a:rect l="l" t="t" r="r" b="b"/>
            <a:pathLst>
              <a:path w="5359033" h="993304">
                <a:moveTo>
                  <a:pt x="32042" y="0"/>
                </a:moveTo>
                <a:lnTo>
                  <a:pt x="5294945" y="0"/>
                </a:lnTo>
                <a:cubicBezTo>
                  <a:pt x="5330340" y="0"/>
                  <a:pt x="5359033" y="28693"/>
                  <a:pt x="5359033" y="64088"/>
                </a:cubicBezTo>
                <a:lnTo>
                  <a:pt x="5359033" y="929216"/>
                </a:lnTo>
                <a:cubicBezTo>
                  <a:pt x="5359033" y="964610"/>
                  <a:pt x="5330340" y="993304"/>
                  <a:pt x="5294945" y="993304"/>
                </a:cubicBezTo>
                <a:lnTo>
                  <a:pt x="32042" y="993304"/>
                </a:lnTo>
                <a:cubicBezTo>
                  <a:pt x="14346" y="993304"/>
                  <a:pt x="0" y="978958"/>
                  <a:pt x="0" y="961261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1632756" y="4943448"/>
            <a:ext cx="37169" cy="1152233"/>
          </a:xfrm>
          <a:custGeom>
            <a:avLst/>
            <a:gdLst/>
            <a:ahLst/>
            <a:cxnLst/>
            <a:rect l="l" t="t" r="r" b="b"/>
            <a:pathLst>
              <a:path w="32042" h="993304">
                <a:moveTo>
                  <a:pt x="32042" y="0"/>
                </a:moveTo>
                <a:lnTo>
                  <a:pt x="32042" y="0"/>
                </a:lnTo>
                <a:lnTo>
                  <a:pt x="32042" y="993304"/>
                </a:lnTo>
                <a:lnTo>
                  <a:pt x="32042" y="993304"/>
                </a:lnTo>
                <a:cubicBezTo>
                  <a:pt x="14346" y="993304"/>
                  <a:pt x="0" y="978958"/>
                  <a:pt x="0" y="961261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8" name="Shape 26"/>
          <p:cNvSpPr/>
          <p:nvPr/>
        </p:nvSpPr>
        <p:spPr>
          <a:xfrm>
            <a:off x="1823246" y="5138583"/>
            <a:ext cx="167259" cy="167259"/>
          </a:xfrm>
          <a:custGeom>
            <a:avLst/>
            <a:gdLst/>
            <a:ahLst/>
            <a:cxnLst/>
            <a:rect l="l" t="t" r="r" b="b"/>
            <a:pathLst>
              <a:path w="144189" h="144189">
                <a:moveTo>
                  <a:pt x="18024" y="18024"/>
                </a:moveTo>
                <a:cubicBezTo>
                  <a:pt x="18024" y="13039"/>
                  <a:pt x="13996" y="9012"/>
                  <a:pt x="9012" y="9012"/>
                </a:cubicBezTo>
                <a:cubicBezTo>
                  <a:pt x="4027" y="9012"/>
                  <a:pt x="0" y="13039"/>
                  <a:pt x="0" y="18024"/>
                </a:cubicBezTo>
                <a:lnTo>
                  <a:pt x="0" y="112648"/>
                </a:lnTo>
                <a:cubicBezTo>
                  <a:pt x="0" y="125095"/>
                  <a:pt x="10082" y="135177"/>
                  <a:pt x="22530" y="135177"/>
                </a:cubicBezTo>
                <a:lnTo>
                  <a:pt x="135177" y="135177"/>
                </a:lnTo>
                <a:cubicBezTo>
                  <a:pt x="140162" y="135177"/>
                  <a:pt x="144189" y="131150"/>
                  <a:pt x="144189" y="126166"/>
                </a:cubicBezTo>
                <a:cubicBezTo>
                  <a:pt x="144189" y="121181"/>
                  <a:pt x="140162" y="117154"/>
                  <a:pt x="135177" y="117154"/>
                </a:cubicBezTo>
                <a:lnTo>
                  <a:pt x="22530" y="117154"/>
                </a:lnTo>
                <a:cubicBezTo>
                  <a:pt x="20051" y="117154"/>
                  <a:pt x="18024" y="115126"/>
                  <a:pt x="18024" y="112648"/>
                </a:cubicBezTo>
                <a:lnTo>
                  <a:pt x="18024" y="18024"/>
                </a:lnTo>
                <a:close/>
                <a:moveTo>
                  <a:pt x="132530" y="42412"/>
                </a:moveTo>
                <a:cubicBezTo>
                  <a:pt x="136050" y="38892"/>
                  <a:pt x="136050" y="33175"/>
                  <a:pt x="132530" y="29655"/>
                </a:cubicBezTo>
                <a:cubicBezTo>
                  <a:pt x="129010" y="26134"/>
                  <a:pt x="123293" y="26134"/>
                  <a:pt x="119773" y="29655"/>
                </a:cubicBezTo>
                <a:lnTo>
                  <a:pt x="90118" y="59337"/>
                </a:lnTo>
                <a:lnTo>
                  <a:pt x="73953" y="43200"/>
                </a:lnTo>
                <a:cubicBezTo>
                  <a:pt x="70433" y="39680"/>
                  <a:pt x="64716" y="39680"/>
                  <a:pt x="61196" y="43200"/>
                </a:cubicBezTo>
                <a:lnTo>
                  <a:pt x="34160" y="70236"/>
                </a:lnTo>
                <a:cubicBezTo>
                  <a:pt x="30640" y="73756"/>
                  <a:pt x="30640" y="79473"/>
                  <a:pt x="34160" y="82993"/>
                </a:cubicBezTo>
                <a:cubicBezTo>
                  <a:pt x="37681" y="86514"/>
                  <a:pt x="43398" y="86514"/>
                  <a:pt x="46918" y="82993"/>
                </a:cubicBezTo>
                <a:lnTo>
                  <a:pt x="67589" y="62322"/>
                </a:lnTo>
                <a:lnTo>
                  <a:pt x="83754" y="78487"/>
                </a:lnTo>
                <a:cubicBezTo>
                  <a:pt x="87274" y="82008"/>
                  <a:pt x="92991" y="82008"/>
                  <a:pt x="96511" y="78487"/>
                </a:cubicBezTo>
                <a:lnTo>
                  <a:pt x="132558" y="42440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29" name="Text 27"/>
          <p:cNvSpPr/>
          <p:nvPr/>
        </p:nvSpPr>
        <p:spPr>
          <a:xfrm>
            <a:off x="2013736" y="5092123"/>
            <a:ext cx="5770452" cy="260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性能指标</a:t>
            </a:r>
            <a:endParaRPr lang="en-US" sz="1856" dirty="0"/>
          </a:p>
        </p:txBody>
      </p:sp>
      <p:sp>
        <p:nvSpPr>
          <p:cNvPr id="30" name="Text 28"/>
          <p:cNvSpPr/>
          <p:nvPr/>
        </p:nvSpPr>
        <p:spPr>
          <a:xfrm>
            <a:off x="1800016" y="5426641"/>
            <a:ext cx="5974882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TTFT (Time To First Token)：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从请求到首个token的时间</a:t>
            </a:r>
            <a:endParaRPr lang="en-US" sz="1856" dirty="0"/>
          </a:p>
        </p:txBody>
      </p:sp>
      <p:sp>
        <p:nvSpPr>
          <p:cNvPr id="31" name="Text 29"/>
          <p:cNvSpPr/>
          <p:nvPr/>
        </p:nvSpPr>
        <p:spPr>
          <a:xfrm>
            <a:off x="1800016" y="5723992"/>
            <a:ext cx="5974882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优化目标：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降低TTFT，提升用户体验</a:t>
            </a:r>
            <a:endParaRPr lang="en-US" sz="1856" dirty="0"/>
          </a:p>
        </p:txBody>
      </p:sp>
      <p:sp>
        <p:nvSpPr>
          <p:cNvPr id="32" name="Shape 30"/>
          <p:cNvSpPr/>
          <p:nvPr/>
        </p:nvSpPr>
        <p:spPr>
          <a:xfrm>
            <a:off x="1614172" y="6207186"/>
            <a:ext cx="6235063" cy="446026"/>
          </a:xfrm>
          <a:custGeom>
            <a:avLst/>
            <a:gdLst/>
            <a:ahLst/>
            <a:cxnLst/>
            <a:rect l="l" t="t" r="r" b="b"/>
            <a:pathLst>
              <a:path w="5375054" h="384505">
                <a:moveTo>
                  <a:pt x="64085" y="0"/>
                </a:moveTo>
                <a:lnTo>
                  <a:pt x="5310968" y="0"/>
                </a:lnTo>
                <a:cubicBezTo>
                  <a:pt x="5346362" y="0"/>
                  <a:pt x="5375054" y="28692"/>
                  <a:pt x="5375054" y="64085"/>
                </a:cubicBezTo>
                <a:lnTo>
                  <a:pt x="5375054" y="320419"/>
                </a:lnTo>
                <a:cubicBezTo>
                  <a:pt x="5375054" y="355813"/>
                  <a:pt x="5346362" y="384505"/>
                  <a:pt x="5310968" y="384505"/>
                </a:cubicBezTo>
                <a:lnTo>
                  <a:pt x="64085" y="384505"/>
                </a:lnTo>
                <a:cubicBezTo>
                  <a:pt x="28692" y="384505"/>
                  <a:pt x="0" y="355813"/>
                  <a:pt x="0" y="320419"/>
                </a:cubicBezTo>
                <a:lnTo>
                  <a:pt x="0" y="64085"/>
                </a:lnTo>
                <a:cubicBezTo>
                  <a:pt x="0" y="28692"/>
                  <a:pt x="28692" y="0"/>
                  <a:pt x="64085" y="0"/>
                </a:cubicBezTo>
                <a:close/>
              </a:path>
            </a:pathLst>
          </a:custGeom>
          <a:solidFill>
            <a:srgbClr val="C00000">
              <a:alpha val="10196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1725678" y="6318692"/>
            <a:ext cx="6086388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执行模式</a:t>
            </a: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：</a:t>
            </a:r>
            <a:r>
              <a:rPr lang="zh-CN" alt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单算子模式</a:t>
            </a:r>
            <a:endParaRPr lang="zh-CN" altLang="en-US" sz="1172" b="1" dirty="0">
              <a:solidFill>
                <a:srgbClr val="333333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219833" y="1300908"/>
            <a:ext cx="6606750" cy="5538147"/>
          </a:xfrm>
          <a:custGeom>
            <a:avLst/>
            <a:gdLst/>
            <a:ahLst/>
            <a:cxnLst/>
            <a:rect l="l" t="t" r="r" b="b"/>
            <a:pathLst>
              <a:path w="5695474" h="4774265">
                <a:moveTo>
                  <a:pt x="64071" y="0"/>
                </a:moveTo>
                <a:lnTo>
                  <a:pt x="5631404" y="0"/>
                </a:lnTo>
                <a:cubicBezTo>
                  <a:pt x="5666789" y="0"/>
                  <a:pt x="5695474" y="28685"/>
                  <a:pt x="5695474" y="64071"/>
                </a:cubicBezTo>
                <a:lnTo>
                  <a:pt x="5695474" y="4710195"/>
                </a:lnTo>
                <a:cubicBezTo>
                  <a:pt x="5695474" y="4745580"/>
                  <a:pt x="5666789" y="4774265"/>
                  <a:pt x="5631404" y="4774265"/>
                </a:cubicBezTo>
                <a:lnTo>
                  <a:pt x="64071" y="4774265"/>
                </a:lnTo>
                <a:cubicBezTo>
                  <a:pt x="28685" y="4774265"/>
                  <a:pt x="0" y="4745580"/>
                  <a:pt x="0" y="4710195"/>
                </a:cubicBezTo>
                <a:lnTo>
                  <a:pt x="0" y="64071"/>
                </a:lnTo>
                <a:cubicBezTo>
                  <a:pt x="0" y="28709"/>
                  <a:pt x="28709" y="0"/>
                  <a:pt x="64071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35" name="Shape 33"/>
          <p:cNvSpPr/>
          <p:nvPr/>
        </p:nvSpPr>
        <p:spPr>
          <a:xfrm>
            <a:off x="8405677" y="1486751"/>
            <a:ext cx="520363" cy="520363"/>
          </a:xfrm>
          <a:custGeom>
            <a:avLst/>
            <a:gdLst/>
            <a:ahLst/>
            <a:cxnLst/>
            <a:rect l="l" t="t" r="r" b="b"/>
            <a:pathLst>
              <a:path w="448589" h="448589">
                <a:moveTo>
                  <a:pt x="64085" y="0"/>
                </a:moveTo>
                <a:lnTo>
                  <a:pt x="384503" y="0"/>
                </a:lnTo>
                <a:cubicBezTo>
                  <a:pt x="419897" y="0"/>
                  <a:pt x="448589" y="28692"/>
                  <a:pt x="448589" y="64085"/>
                </a:cubicBezTo>
                <a:lnTo>
                  <a:pt x="448589" y="384503"/>
                </a:lnTo>
                <a:cubicBezTo>
                  <a:pt x="448589" y="419897"/>
                  <a:pt x="419897" y="448589"/>
                  <a:pt x="384503" y="448589"/>
                </a:cubicBezTo>
                <a:lnTo>
                  <a:pt x="64085" y="448589"/>
                </a:lnTo>
                <a:cubicBezTo>
                  <a:pt x="28692" y="448589"/>
                  <a:pt x="0" y="419897"/>
                  <a:pt x="0" y="384503"/>
                </a:cubicBezTo>
                <a:lnTo>
                  <a:pt x="0" y="64085"/>
                </a:lnTo>
                <a:cubicBezTo>
                  <a:pt x="0" y="28692"/>
                  <a:pt x="28692" y="0"/>
                  <a:pt x="64085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36" name="Shape 34"/>
          <p:cNvSpPr/>
          <p:nvPr/>
        </p:nvSpPr>
        <p:spPr>
          <a:xfrm>
            <a:off x="8554352" y="1635426"/>
            <a:ext cx="223012" cy="223012"/>
          </a:xfrm>
          <a:custGeom>
            <a:avLst/>
            <a:gdLst/>
            <a:ahLst/>
            <a:cxnLst/>
            <a:rect l="l" t="t" r="r" b="b"/>
            <a:pathLst>
              <a:path w="192252" h="192252">
                <a:moveTo>
                  <a:pt x="163978" y="28049"/>
                </a:moveTo>
                <a:lnTo>
                  <a:pt x="168221" y="32067"/>
                </a:lnTo>
                <a:lnTo>
                  <a:pt x="168221" y="12016"/>
                </a:lnTo>
                <a:cubicBezTo>
                  <a:pt x="168221" y="5370"/>
                  <a:pt x="173590" y="0"/>
                  <a:pt x="180237" y="0"/>
                </a:cubicBezTo>
                <a:cubicBezTo>
                  <a:pt x="186883" y="0"/>
                  <a:pt x="192252" y="5370"/>
                  <a:pt x="192252" y="12016"/>
                </a:cubicBezTo>
                <a:lnTo>
                  <a:pt x="192252" y="60079"/>
                </a:lnTo>
                <a:cubicBezTo>
                  <a:pt x="192252" y="66725"/>
                  <a:pt x="186883" y="72095"/>
                  <a:pt x="180237" y="72095"/>
                </a:cubicBezTo>
                <a:lnTo>
                  <a:pt x="132173" y="72095"/>
                </a:lnTo>
                <a:cubicBezTo>
                  <a:pt x="125527" y="72095"/>
                  <a:pt x="120158" y="66725"/>
                  <a:pt x="120158" y="60079"/>
                </a:cubicBezTo>
                <a:cubicBezTo>
                  <a:pt x="120158" y="53433"/>
                  <a:pt x="125527" y="48063"/>
                  <a:pt x="132173" y="48063"/>
                </a:cubicBezTo>
                <a:lnTo>
                  <a:pt x="150160" y="48063"/>
                </a:lnTo>
                <a:lnTo>
                  <a:pt x="147306" y="45360"/>
                </a:lnTo>
                <a:cubicBezTo>
                  <a:pt x="147231" y="45284"/>
                  <a:pt x="147156" y="45209"/>
                  <a:pt x="147081" y="45134"/>
                </a:cubicBezTo>
                <a:cubicBezTo>
                  <a:pt x="118919" y="16972"/>
                  <a:pt x="73296" y="16972"/>
                  <a:pt x="45134" y="45134"/>
                </a:cubicBezTo>
                <a:cubicBezTo>
                  <a:pt x="16972" y="73296"/>
                  <a:pt x="16972" y="118919"/>
                  <a:pt x="45134" y="147081"/>
                </a:cubicBezTo>
                <a:cubicBezTo>
                  <a:pt x="73296" y="175242"/>
                  <a:pt x="118919" y="175242"/>
                  <a:pt x="147081" y="147081"/>
                </a:cubicBezTo>
                <a:cubicBezTo>
                  <a:pt x="150160" y="144001"/>
                  <a:pt x="152901" y="140735"/>
                  <a:pt x="155304" y="137280"/>
                </a:cubicBezTo>
                <a:cubicBezTo>
                  <a:pt x="159096" y="131836"/>
                  <a:pt x="166606" y="130521"/>
                  <a:pt x="172051" y="134314"/>
                </a:cubicBezTo>
                <a:cubicBezTo>
                  <a:pt x="177495" y="138106"/>
                  <a:pt x="178810" y="145616"/>
                  <a:pt x="175017" y="151061"/>
                </a:cubicBezTo>
                <a:cubicBezTo>
                  <a:pt x="171825" y="155642"/>
                  <a:pt x="168183" y="159997"/>
                  <a:pt x="164090" y="164090"/>
                </a:cubicBezTo>
                <a:cubicBezTo>
                  <a:pt x="126541" y="201640"/>
                  <a:pt x="65674" y="201640"/>
                  <a:pt x="28162" y="164090"/>
                </a:cubicBezTo>
                <a:cubicBezTo>
                  <a:pt x="-9350" y="126541"/>
                  <a:pt x="-9387" y="65711"/>
                  <a:pt x="28162" y="28162"/>
                </a:cubicBezTo>
                <a:cubicBezTo>
                  <a:pt x="65674" y="-9350"/>
                  <a:pt x="126428" y="-9387"/>
                  <a:pt x="163978" y="2804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7" name="Text 35"/>
          <p:cNvSpPr/>
          <p:nvPr/>
        </p:nvSpPr>
        <p:spPr>
          <a:xfrm>
            <a:off x="9037546" y="1486751"/>
            <a:ext cx="1421705" cy="297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Decode阶段</a:t>
            </a:r>
            <a:endParaRPr lang="en-US" sz="1856" dirty="0"/>
          </a:p>
        </p:txBody>
      </p:sp>
      <p:sp>
        <p:nvSpPr>
          <p:cNvPr id="38" name="Text 36"/>
          <p:cNvSpPr/>
          <p:nvPr/>
        </p:nvSpPr>
        <p:spPr>
          <a:xfrm>
            <a:off x="9037546" y="1784101"/>
            <a:ext cx="1384537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Token Generation</a:t>
            </a:r>
            <a:endParaRPr lang="en-US" sz="1856" dirty="0"/>
          </a:p>
        </p:txBody>
      </p:sp>
      <p:sp>
        <p:nvSpPr>
          <p:cNvPr id="39" name="Shape 37"/>
          <p:cNvSpPr/>
          <p:nvPr/>
        </p:nvSpPr>
        <p:spPr>
          <a:xfrm>
            <a:off x="8424262" y="2155789"/>
            <a:ext cx="6216478" cy="1115063"/>
          </a:xfrm>
          <a:custGeom>
            <a:avLst/>
            <a:gdLst/>
            <a:ahLst/>
            <a:cxnLst/>
            <a:rect l="l" t="t" r="r" b="b"/>
            <a:pathLst>
              <a:path w="5359033" h="961261">
                <a:moveTo>
                  <a:pt x="32042" y="0"/>
                </a:moveTo>
                <a:lnTo>
                  <a:pt x="5294946" y="0"/>
                </a:lnTo>
                <a:cubicBezTo>
                  <a:pt x="5330340" y="0"/>
                  <a:pt x="5359033" y="28693"/>
                  <a:pt x="5359033" y="64087"/>
                </a:cubicBezTo>
                <a:lnTo>
                  <a:pt x="5359033" y="897174"/>
                </a:lnTo>
                <a:cubicBezTo>
                  <a:pt x="5359033" y="932569"/>
                  <a:pt x="5330340" y="961261"/>
                  <a:pt x="5294946" y="961261"/>
                </a:cubicBezTo>
                <a:lnTo>
                  <a:pt x="32042" y="961261"/>
                </a:lnTo>
                <a:cubicBezTo>
                  <a:pt x="14346" y="961261"/>
                  <a:pt x="0" y="946916"/>
                  <a:pt x="0" y="929219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Shape 38"/>
          <p:cNvSpPr/>
          <p:nvPr/>
        </p:nvSpPr>
        <p:spPr>
          <a:xfrm>
            <a:off x="8424262" y="2155789"/>
            <a:ext cx="37169" cy="1115063"/>
          </a:xfrm>
          <a:custGeom>
            <a:avLst/>
            <a:gdLst/>
            <a:ahLst/>
            <a:cxnLst/>
            <a:rect l="l" t="t" r="r" b="b"/>
            <a:pathLst>
              <a:path w="32042" h="961261">
                <a:moveTo>
                  <a:pt x="32042" y="0"/>
                </a:moveTo>
                <a:lnTo>
                  <a:pt x="32042" y="0"/>
                </a:lnTo>
                <a:lnTo>
                  <a:pt x="32042" y="961261"/>
                </a:lnTo>
                <a:lnTo>
                  <a:pt x="32042" y="961261"/>
                </a:lnTo>
                <a:cubicBezTo>
                  <a:pt x="14346" y="961261"/>
                  <a:pt x="0" y="946916"/>
                  <a:pt x="0" y="929219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1" name="Shape 39"/>
          <p:cNvSpPr/>
          <p:nvPr/>
        </p:nvSpPr>
        <p:spPr>
          <a:xfrm>
            <a:off x="8593844" y="2350926"/>
            <a:ext cx="209075" cy="167259"/>
          </a:xfrm>
          <a:custGeom>
            <a:avLst/>
            <a:gdLst/>
            <a:ahLst/>
            <a:cxnLst/>
            <a:rect l="l" t="t" r="r" b="b"/>
            <a:pathLst>
              <a:path w="180237" h="144189">
                <a:moveTo>
                  <a:pt x="117126" y="59281"/>
                </a:moveTo>
                <a:cubicBezTo>
                  <a:pt x="120561" y="58352"/>
                  <a:pt x="124166" y="59985"/>
                  <a:pt x="125715" y="63167"/>
                </a:cubicBezTo>
                <a:lnTo>
                  <a:pt x="130953" y="73756"/>
                </a:lnTo>
                <a:cubicBezTo>
                  <a:pt x="133854" y="74150"/>
                  <a:pt x="136698" y="74939"/>
                  <a:pt x="139374" y="76037"/>
                </a:cubicBezTo>
                <a:lnTo>
                  <a:pt x="149230" y="69476"/>
                </a:lnTo>
                <a:cubicBezTo>
                  <a:pt x="152187" y="67504"/>
                  <a:pt x="156102" y="67898"/>
                  <a:pt x="158608" y="70405"/>
                </a:cubicBezTo>
                <a:lnTo>
                  <a:pt x="164015" y="75812"/>
                </a:lnTo>
                <a:cubicBezTo>
                  <a:pt x="166522" y="78318"/>
                  <a:pt x="166916" y="82261"/>
                  <a:pt x="164945" y="85190"/>
                </a:cubicBezTo>
                <a:lnTo>
                  <a:pt x="158383" y="95018"/>
                </a:lnTo>
                <a:cubicBezTo>
                  <a:pt x="158918" y="96342"/>
                  <a:pt x="159397" y="97722"/>
                  <a:pt x="159791" y="99158"/>
                </a:cubicBezTo>
                <a:cubicBezTo>
                  <a:pt x="160185" y="100595"/>
                  <a:pt x="160439" y="102003"/>
                  <a:pt x="160636" y="103439"/>
                </a:cubicBezTo>
                <a:lnTo>
                  <a:pt x="171253" y="108677"/>
                </a:lnTo>
                <a:cubicBezTo>
                  <a:pt x="174435" y="110254"/>
                  <a:pt x="176069" y="113859"/>
                  <a:pt x="175139" y="117266"/>
                </a:cubicBezTo>
                <a:lnTo>
                  <a:pt x="173168" y="124645"/>
                </a:lnTo>
                <a:cubicBezTo>
                  <a:pt x="172239" y="128052"/>
                  <a:pt x="169056" y="130362"/>
                  <a:pt x="165508" y="130136"/>
                </a:cubicBezTo>
                <a:lnTo>
                  <a:pt x="153680" y="129376"/>
                </a:lnTo>
                <a:cubicBezTo>
                  <a:pt x="151906" y="131657"/>
                  <a:pt x="149850" y="133769"/>
                  <a:pt x="147512" y="135572"/>
                </a:cubicBezTo>
                <a:lnTo>
                  <a:pt x="148273" y="147372"/>
                </a:lnTo>
                <a:cubicBezTo>
                  <a:pt x="148498" y="150920"/>
                  <a:pt x="146189" y="154130"/>
                  <a:pt x="142781" y="155032"/>
                </a:cubicBezTo>
                <a:lnTo>
                  <a:pt x="135403" y="157003"/>
                </a:lnTo>
                <a:cubicBezTo>
                  <a:pt x="131967" y="157932"/>
                  <a:pt x="128390" y="156299"/>
                  <a:pt x="126813" y="153117"/>
                </a:cubicBezTo>
                <a:lnTo>
                  <a:pt x="121575" y="142528"/>
                </a:lnTo>
                <a:cubicBezTo>
                  <a:pt x="118674" y="142133"/>
                  <a:pt x="115830" y="141345"/>
                  <a:pt x="113155" y="140247"/>
                </a:cubicBezTo>
                <a:lnTo>
                  <a:pt x="103298" y="146808"/>
                </a:lnTo>
                <a:cubicBezTo>
                  <a:pt x="100341" y="148780"/>
                  <a:pt x="96427" y="148385"/>
                  <a:pt x="93920" y="145879"/>
                </a:cubicBezTo>
                <a:lnTo>
                  <a:pt x="88513" y="140472"/>
                </a:lnTo>
                <a:cubicBezTo>
                  <a:pt x="86007" y="137965"/>
                  <a:pt x="85612" y="134051"/>
                  <a:pt x="87584" y="131094"/>
                </a:cubicBezTo>
                <a:lnTo>
                  <a:pt x="94145" y="121237"/>
                </a:lnTo>
                <a:cubicBezTo>
                  <a:pt x="93610" y="119914"/>
                  <a:pt x="93132" y="118534"/>
                  <a:pt x="92737" y="117097"/>
                </a:cubicBezTo>
                <a:cubicBezTo>
                  <a:pt x="92343" y="115661"/>
                  <a:pt x="92090" y="114225"/>
                  <a:pt x="91892" y="112817"/>
                </a:cubicBezTo>
                <a:lnTo>
                  <a:pt x="81275" y="107579"/>
                </a:lnTo>
                <a:cubicBezTo>
                  <a:pt x="78093" y="106002"/>
                  <a:pt x="76488" y="102397"/>
                  <a:pt x="77389" y="98989"/>
                </a:cubicBezTo>
                <a:lnTo>
                  <a:pt x="79360" y="91611"/>
                </a:lnTo>
                <a:cubicBezTo>
                  <a:pt x="80290" y="88203"/>
                  <a:pt x="83472" y="85894"/>
                  <a:pt x="87020" y="86119"/>
                </a:cubicBezTo>
                <a:lnTo>
                  <a:pt x="98820" y="86880"/>
                </a:lnTo>
                <a:cubicBezTo>
                  <a:pt x="100595" y="84599"/>
                  <a:pt x="102650" y="82486"/>
                  <a:pt x="104988" y="80684"/>
                </a:cubicBezTo>
                <a:lnTo>
                  <a:pt x="104227" y="68912"/>
                </a:lnTo>
                <a:cubicBezTo>
                  <a:pt x="104002" y="65364"/>
                  <a:pt x="106311" y="62153"/>
                  <a:pt x="109719" y="61252"/>
                </a:cubicBezTo>
                <a:lnTo>
                  <a:pt x="117097" y="59281"/>
                </a:lnTo>
                <a:close/>
                <a:moveTo>
                  <a:pt x="126278" y="95751"/>
                </a:moveTo>
                <a:cubicBezTo>
                  <a:pt x="119439" y="95758"/>
                  <a:pt x="113893" y="101317"/>
                  <a:pt x="113901" y="108156"/>
                </a:cubicBezTo>
                <a:cubicBezTo>
                  <a:pt x="113909" y="114995"/>
                  <a:pt x="119467" y="120541"/>
                  <a:pt x="126306" y="120533"/>
                </a:cubicBezTo>
                <a:cubicBezTo>
                  <a:pt x="133145" y="120525"/>
                  <a:pt x="138691" y="114967"/>
                  <a:pt x="138684" y="108128"/>
                </a:cubicBezTo>
                <a:cubicBezTo>
                  <a:pt x="138676" y="101289"/>
                  <a:pt x="133117" y="95743"/>
                  <a:pt x="126278" y="95751"/>
                </a:cubicBezTo>
                <a:close/>
                <a:moveTo>
                  <a:pt x="63336" y="-12814"/>
                </a:moveTo>
                <a:lnTo>
                  <a:pt x="70715" y="-10842"/>
                </a:lnTo>
                <a:cubicBezTo>
                  <a:pt x="74122" y="-9913"/>
                  <a:pt x="76432" y="-6703"/>
                  <a:pt x="76206" y="-3182"/>
                </a:cubicBezTo>
                <a:lnTo>
                  <a:pt x="75446" y="8589"/>
                </a:lnTo>
                <a:cubicBezTo>
                  <a:pt x="77783" y="10392"/>
                  <a:pt x="79839" y="12476"/>
                  <a:pt x="81613" y="14785"/>
                </a:cubicBezTo>
                <a:lnTo>
                  <a:pt x="93441" y="14025"/>
                </a:lnTo>
                <a:cubicBezTo>
                  <a:pt x="96962" y="13799"/>
                  <a:pt x="100172" y="16109"/>
                  <a:pt x="101101" y="19516"/>
                </a:cubicBezTo>
                <a:lnTo>
                  <a:pt x="103073" y="26895"/>
                </a:lnTo>
                <a:cubicBezTo>
                  <a:pt x="103974" y="30302"/>
                  <a:pt x="102369" y="33907"/>
                  <a:pt x="99186" y="35484"/>
                </a:cubicBezTo>
                <a:lnTo>
                  <a:pt x="88569" y="40722"/>
                </a:lnTo>
                <a:cubicBezTo>
                  <a:pt x="88372" y="42158"/>
                  <a:pt x="88091" y="43595"/>
                  <a:pt x="87724" y="45003"/>
                </a:cubicBezTo>
                <a:cubicBezTo>
                  <a:pt x="87358" y="46411"/>
                  <a:pt x="86851" y="47819"/>
                  <a:pt x="86316" y="49143"/>
                </a:cubicBezTo>
                <a:lnTo>
                  <a:pt x="92878" y="58999"/>
                </a:lnTo>
                <a:cubicBezTo>
                  <a:pt x="94849" y="61956"/>
                  <a:pt x="94455" y="65871"/>
                  <a:pt x="91949" y="68377"/>
                </a:cubicBezTo>
                <a:lnTo>
                  <a:pt x="86542" y="73784"/>
                </a:lnTo>
                <a:cubicBezTo>
                  <a:pt x="84035" y="76291"/>
                  <a:pt x="80121" y="76685"/>
                  <a:pt x="77164" y="74714"/>
                </a:cubicBezTo>
                <a:lnTo>
                  <a:pt x="67307" y="68152"/>
                </a:lnTo>
                <a:cubicBezTo>
                  <a:pt x="64632" y="69250"/>
                  <a:pt x="61787" y="70039"/>
                  <a:pt x="58887" y="70433"/>
                </a:cubicBezTo>
                <a:lnTo>
                  <a:pt x="53649" y="81022"/>
                </a:lnTo>
                <a:cubicBezTo>
                  <a:pt x="52071" y="84204"/>
                  <a:pt x="48467" y="85809"/>
                  <a:pt x="45059" y="84908"/>
                </a:cubicBezTo>
                <a:lnTo>
                  <a:pt x="37681" y="82937"/>
                </a:lnTo>
                <a:cubicBezTo>
                  <a:pt x="34245" y="82008"/>
                  <a:pt x="31964" y="78797"/>
                  <a:pt x="32189" y="75277"/>
                </a:cubicBezTo>
                <a:lnTo>
                  <a:pt x="32949" y="63477"/>
                </a:lnTo>
                <a:cubicBezTo>
                  <a:pt x="30612" y="61675"/>
                  <a:pt x="28556" y="59591"/>
                  <a:pt x="26782" y="57281"/>
                </a:cubicBezTo>
                <a:lnTo>
                  <a:pt x="14954" y="58042"/>
                </a:lnTo>
                <a:cubicBezTo>
                  <a:pt x="11434" y="58267"/>
                  <a:pt x="8223" y="55958"/>
                  <a:pt x="7294" y="52550"/>
                </a:cubicBezTo>
                <a:lnTo>
                  <a:pt x="5323" y="45172"/>
                </a:lnTo>
                <a:cubicBezTo>
                  <a:pt x="4421" y="41764"/>
                  <a:pt x="6027" y="38159"/>
                  <a:pt x="9209" y="36582"/>
                </a:cubicBezTo>
                <a:lnTo>
                  <a:pt x="19826" y="31344"/>
                </a:lnTo>
                <a:cubicBezTo>
                  <a:pt x="20023" y="29908"/>
                  <a:pt x="20305" y="28500"/>
                  <a:pt x="20671" y="27064"/>
                </a:cubicBezTo>
                <a:cubicBezTo>
                  <a:pt x="21065" y="25627"/>
                  <a:pt x="21516" y="24247"/>
                  <a:pt x="22079" y="22924"/>
                </a:cubicBezTo>
                <a:lnTo>
                  <a:pt x="15517" y="13095"/>
                </a:lnTo>
                <a:cubicBezTo>
                  <a:pt x="13546" y="10138"/>
                  <a:pt x="13940" y="6224"/>
                  <a:pt x="16447" y="3717"/>
                </a:cubicBezTo>
                <a:lnTo>
                  <a:pt x="21854" y="-1690"/>
                </a:lnTo>
                <a:cubicBezTo>
                  <a:pt x="24360" y="-4196"/>
                  <a:pt x="28275" y="-4590"/>
                  <a:pt x="31232" y="-2619"/>
                </a:cubicBezTo>
                <a:lnTo>
                  <a:pt x="41088" y="3943"/>
                </a:lnTo>
                <a:cubicBezTo>
                  <a:pt x="43764" y="2844"/>
                  <a:pt x="46608" y="2056"/>
                  <a:pt x="49509" y="1662"/>
                </a:cubicBezTo>
                <a:lnTo>
                  <a:pt x="54747" y="-8927"/>
                </a:lnTo>
                <a:cubicBezTo>
                  <a:pt x="56324" y="-12110"/>
                  <a:pt x="59900" y="-13715"/>
                  <a:pt x="63336" y="-12814"/>
                </a:cubicBezTo>
                <a:close/>
                <a:moveTo>
                  <a:pt x="54184" y="23656"/>
                </a:moveTo>
                <a:cubicBezTo>
                  <a:pt x="47345" y="23656"/>
                  <a:pt x="41792" y="29208"/>
                  <a:pt x="41792" y="36047"/>
                </a:cubicBezTo>
                <a:cubicBezTo>
                  <a:pt x="41792" y="42886"/>
                  <a:pt x="47345" y="48439"/>
                  <a:pt x="54184" y="48439"/>
                </a:cubicBezTo>
                <a:cubicBezTo>
                  <a:pt x="61023" y="48439"/>
                  <a:pt x="66575" y="42886"/>
                  <a:pt x="66575" y="36047"/>
                </a:cubicBezTo>
                <a:cubicBezTo>
                  <a:pt x="66575" y="29208"/>
                  <a:pt x="61023" y="23656"/>
                  <a:pt x="54184" y="23656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2" name="Text 40"/>
          <p:cNvSpPr/>
          <p:nvPr/>
        </p:nvSpPr>
        <p:spPr>
          <a:xfrm>
            <a:off x="8805242" y="2304464"/>
            <a:ext cx="5770452" cy="260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工作原理</a:t>
            </a:r>
            <a:endParaRPr lang="en-US" sz="1856" dirty="0"/>
          </a:p>
        </p:txBody>
      </p:sp>
      <p:sp>
        <p:nvSpPr>
          <p:cNvPr id="43" name="Text 41"/>
          <p:cNvSpPr/>
          <p:nvPr/>
        </p:nvSpPr>
        <p:spPr>
          <a:xfrm>
            <a:off x="8591521" y="2638984"/>
            <a:ext cx="5974882" cy="483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自回归生成后续tokens，每次只处理一个新token，频繁读取KV Cache计算Attention，生成下一个token。</a:t>
            </a:r>
            <a:endParaRPr lang="en-US" sz="1856" dirty="0"/>
          </a:p>
        </p:txBody>
      </p:sp>
      <p:sp>
        <p:nvSpPr>
          <p:cNvPr id="44" name="Shape 42"/>
          <p:cNvSpPr/>
          <p:nvPr/>
        </p:nvSpPr>
        <p:spPr>
          <a:xfrm>
            <a:off x="8424262" y="3382359"/>
            <a:ext cx="6216478" cy="1449582"/>
          </a:xfrm>
          <a:custGeom>
            <a:avLst/>
            <a:gdLst/>
            <a:ahLst/>
            <a:cxnLst/>
            <a:rect l="l" t="t" r="r" b="b"/>
            <a:pathLst>
              <a:path w="5359033" h="1249640">
                <a:moveTo>
                  <a:pt x="32042" y="0"/>
                </a:moveTo>
                <a:lnTo>
                  <a:pt x="5294951" y="0"/>
                </a:lnTo>
                <a:cubicBezTo>
                  <a:pt x="5330343" y="0"/>
                  <a:pt x="5359033" y="28690"/>
                  <a:pt x="5359033" y="64082"/>
                </a:cubicBezTo>
                <a:lnTo>
                  <a:pt x="5359033" y="1185558"/>
                </a:lnTo>
                <a:cubicBezTo>
                  <a:pt x="5359033" y="1220950"/>
                  <a:pt x="5330343" y="1249640"/>
                  <a:pt x="5294951" y="1249640"/>
                </a:cubicBezTo>
                <a:lnTo>
                  <a:pt x="32042" y="1249640"/>
                </a:lnTo>
                <a:cubicBezTo>
                  <a:pt x="14346" y="1249640"/>
                  <a:pt x="0" y="1235294"/>
                  <a:pt x="0" y="1217598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5" name="Shape 43"/>
          <p:cNvSpPr/>
          <p:nvPr/>
        </p:nvSpPr>
        <p:spPr>
          <a:xfrm>
            <a:off x="8424262" y="3382359"/>
            <a:ext cx="37169" cy="1449582"/>
          </a:xfrm>
          <a:custGeom>
            <a:avLst/>
            <a:gdLst/>
            <a:ahLst/>
            <a:cxnLst/>
            <a:rect l="l" t="t" r="r" b="b"/>
            <a:pathLst>
              <a:path w="32042" h="1249640">
                <a:moveTo>
                  <a:pt x="32042" y="0"/>
                </a:moveTo>
                <a:lnTo>
                  <a:pt x="32042" y="0"/>
                </a:lnTo>
                <a:lnTo>
                  <a:pt x="32042" y="1249640"/>
                </a:lnTo>
                <a:lnTo>
                  <a:pt x="32042" y="1249640"/>
                </a:lnTo>
                <a:cubicBezTo>
                  <a:pt x="14346" y="1249640"/>
                  <a:pt x="0" y="1235294"/>
                  <a:pt x="0" y="1217598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6" name="Shape 44"/>
          <p:cNvSpPr/>
          <p:nvPr/>
        </p:nvSpPr>
        <p:spPr>
          <a:xfrm>
            <a:off x="8614751" y="3577495"/>
            <a:ext cx="167259" cy="167259"/>
          </a:xfrm>
          <a:custGeom>
            <a:avLst/>
            <a:gdLst/>
            <a:ahLst/>
            <a:cxnLst/>
            <a:rect l="l" t="t" r="r" b="b"/>
            <a:pathLst>
              <a:path w="144189" h="144189">
                <a:moveTo>
                  <a:pt x="18024" y="18024"/>
                </a:moveTo>
                <a:cubicBezTo>
                  <a:pt x="8082" y="18024"/>
                  <a:pt x="0" y="26106"/>
                  <a:pt x="0" y="36047"/>
                </a:cubicBezTo>
                <a:lnTo>
                  <a:pt x="0" y="38131"/>
                </a:lnTo>
                <a:cubicBezTo>
                  <a:pt x="0" y="40046"/>
                  <a:pt x="1239" y="41680"/>
                  <a:pt x="2844" y="42722"/>
                </a:cubicBezTo>
                <a:cubicBezTo>
                  <a:pt x="6562" y="45144"/>
                  <a:pt x="9012" y="49312"/>
                  <a:pt x="9012" y="54071"/>
                </a:cubicBezTo>
                <a:cubicBezTo>
                  <a:pt x="9012" y="58830"/>
                  <a:pt x="6562" y="62998"/>
                  <a:pt x="2844" y="65420"/>
                </a:cubicBezTo>
                <a:cubicBezTo>
                  <a:pt x="1239" y="66462"/>
                  <a:pt x="0" y="68096"/>
                  <a:pt x="0" y="70011"/>
                </a:cubicBezTo>
                <a:lnTo>
                  <a:pt x="0" y="85612"/>
                </a:lnTo>
                <a:lnTo>
                  <a:pt x="144189" y="85612"/>
                </a:lnTo>
                <a:lnTo>
                  <a:pt x="144189" y="70011"/>
                </a:lnTo>
                <a:cubicBezTo>
                  <a:pt x="144189" y="68096"/>
                  <a:pt x="142950" y="66462"/>
                  <a:pt x="141345" y="65420"/>
                </a:cubicBezTo>
                <a:cubicBezTo>
                  <a:pt x="137627" y="62998"/>
                  <a:pt x="135177" y="58830"/>
                  <a:pt x="135177" y="54071"/>
                </a:cubicBezTo>
                <a:cubicBezTo>
                  <a:pt x="135177" y="49312"/>
                  <a:pt x="137627" y="45144"/>
                  <a:pt x="141345" y="42722"/>
                </a:cubicBezTo>
                <a:cubicBezTo>
                  <a:pt x="142950" y="41680"/>
                  <a:pt x="144189" y="40046"/>
                  <a:pt x="144189" y="38131"/>
                </a:cubicBezTo>
                <a:lnTo>
                  <a:pt x="144189" y="36047"/>
                </a:lnTo>
                <a:cubicBezTo>
                  <a:pt x="144189" y="26106"/>
                  <a:pt x="136107" y="18024"/>
                  <a:pt x="126166" y="18024"/>
                </a:cubicBezTo>
                <a:lnTo>
                  <a:pt x="18024" y="18024"/>
                </a:lnTo>
                <a:close/>
                <a:moveTo>
                  <a:pt x="144189" y="117154"/>
                </a:moveTo>
                <a:lnTo>
                  <a:pt x="144189" y="99130"/>
                </a:lnTo>
                <a:lnTo>
                  <a:pt x="0" y="99130"/>
                </a:lnTo>
                <a:lnTo>
                  <a:pt x="0" y="117154"/>
                </a:lnTo>
                <a:cubicBezTo>
                  <a:pt x="0" y="122138"/>
                  <a:pt x="4027" y="126166"/>
                  <a:pt x="9012" y="126166"/>
                </a:cubicBezTo>
                <a:lnTo>
                  <a:pt x="27035" y="126166"/>
                </a:lnTo>
                <a:lnTo>
                  <a:pt x="27035" y="119407"/>
                </a:lnTo>
                <a:cubicBezTo>
                  <a:pt x="27035" y="115661"/>
                  <a:pt x="30049" y="112648"/>
                  <a:pt x="33794" y="112648"/>
                </a:cubicBezTo>
                <a:cubicBezTo>
                  <a:pt x="37540" y="112648"/>
                  <a:pt x="40553" y="115661"/>
                  <a:pt x="40553" y="119407"/>
                </a:cubicBezTo>
                <a:lnTo>
                  <a:pt x="40553" y="126166"/>
                </a:lnTo>
                <a:lnTo>
                  <a:pt x="65336" y="126166"/>
                </a:lnTo>
                <a:lnTo>
                  <a:pt x="65336" y="119407"/>
                </a:lnTo>
                <a:cubicBezTo>
                  <a:pt x="65336" y="115661"/>
                  <a:pt x="68349" y="112648"/>
                  <a:pt x="72095" y="112648"/>
                </a:cubicBezTo>
                <a:cubicBezTo>
                  <a:pt x="75840" y="112648"/>
                  <a:pt x="78853" y="115661"/>
                  <a:pt x="78853" y="119407"/>
                </a:cubicBezTo>
                <a:lnTo>
                  <a:pt x="78853" y="126166"/>
                </a:lnTo>
                <a:lnTo>
                  <a:pt x="103636" y="126166"/>
                </a:lnTo>
                <a:lnTo>
                  <a:pt x="103636" y="119407"/>
                </a:lnTo>
                <a:cubicBezTo>
                  <a:pt x="103636" y="115661"/>
                  <a:pt x="106649" y="112648"/>
                  <a:pt x="110395" y="112648"/>
                </a:cubicBezTo>
                <a:cubicBezTo>
                  <a:pt x="114140" y="112648"/>
                  <a:pt x="117154" y="115661"/>
                  <a:pt x="117154" y="119407"/>
                </a:cubicBezTo>
                <a:lnTo>
                  <a:pt x="117154" y="126166"/>
                </a:lnTo>
                <a:lnTo>
                  <a:pt x="135177" y="126166"/>
                </a:lnTo>
                <a:cubicBezTo>
                  <a:pt x="140162" y="126166"/>
                  <a:pt x="144189" y="122138"/>
                  <a:pt x="144189" y="117154"/>
                </a:cubicBezTo>
                <a:close/>
                <a:moveTo>
                  <a:pt x="45059" y="45059"/>
                </a:moveTo>
                <a:lnTo>
                  <a:pt x="45059" y="63083"/>
                </a:lnTo>
                <a:cubicBezTo>
                  <a:pt x="45059" y="68067"/>
                  <a:pt x="41032" y="72095"/>
                  <a:pt x="36047" y="72095"/>
                </a:cubicBezTo>
                <a:cubicBezTo>
                  <a:pt x="31063" y="72095"/>
                  <a:pt x="27035" y="68067"/>
                  <a:pt x="27035" y="63083"/>
                </a:cubicBezTo>
                <a:lnTo>
                  <a:pt x="27035" y="45059"/>
                </a:lnTo>
                <a:cubicBezTo>
                  <a:pt x="27035" y="40074"/>
                  <a:pt x="31063" y="36047"/>
                  <a:pt x="36047" y="36047"/>
                </a:cubicBezTo>
                <a:cubicBezTo>
                  <a:pt x="41032" y="36047"/>
                  <a:pt x="45059" y="40074"/>
                  <a:pt x="45059" y="45059"/>
                </a:cubicBezTo>
                <a:close/>
                <a:moveTo>
                  <a:pt x="81106" y="45059"/>
                </a:moveTo>
                <a:lnTo>
                  <a:pt x="81106" y="63083"/>
                </a:lnTo>
                <a:cubicBezTo>
                  <a:pt x="81106" y="68067"/>
                  <a:pt x="77079" y="72095"/>
                  <a:pt x="72095" y="72095"/>
                </a:cubicBezTo>
                <a:cubicBezTo>
                  <a:pt x="67110" y="72095"/>
                  <a:pt x="63083" y="68067"/>
                  <a:pt x="63083" y="63083"/>
                </a:cubicBezTo>
                <a:lnTo>
                  <a:pt x="63083" y="45059"/>
                </a:lnTo>
                <a:cubicBezTo>
                  <a:pt x="63083" y="40074"/>
                  <a:pt x="67110" y="36047"/>
                  <a:pt x="72095" y="36047"/>
                </a:cubicBezTo>
                <a:cubicBezTo>
                  <a:pt x="77079" y="36047"/>
                  <a:pt x="81106" y="40074"/>
                  <a:pt x="81106" y="45059"/>
                </a:cubicBezTo>
                <a:close/>
                <a:moveTo>
                  <a:pt x="117154" y="45059"/>
                </a:moveTo>
                <a:lnTo>
                  <a:pt x="117154" y="63083"/>
                </a:lnTo>
                <a:cubicBezTo>
                  <a:pt x="117154" y="68067"/>
                  <a:pt x="113127" y="72095"/>
                  <a:pt x="108142" y="72095"/>
                </a:cubicBezTo>
                <a:cubicBezTo>
                  <a:pt x="103157" y="72095"/>
                  <a:pt x="99130" y="68067"/>
                  <a:pt x="99130" y="63083"/>
                </a:cubicBezTo>
                <a:lnTo>
                  <a:pt x="99130" y="45059"/>
                </a:lnTo>
                <a:cubicBezTo>
                  <a:pt x="99130" y="40074"/>
                  <a:pt x="103157" y="36047"/>
                  <a:pt x="108142" y="36047"/>
                </a:cubicBezTo>
                <a:cubicBezTo>
                  <a:pt x="113127" y="36047"/>
                  <a:pt x="117154" y="40074"/>
                  <a:pt x="117154" y="45059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7" name="Text 45"/>
          <p:cNvSpPr/>
          <p:nvPr/>
        </p:nvSpPr>
        <p:spPr>
          <a:xfrm>
            <a:off x="8805242" y="3531034"/>
            <a:ext cx="5770452" cy="260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计算特征</a:t>
            </a:r>
            <a:endParaRPr lang="en-US" sz="1856" dirty="0"/>
          </a:p>
        </p:txBody>
      </p:sp>
      <p:sp>
        <p:nvSpPr>
          <p:cNvPr id="48" name="Shape 46"/>
          <p:cNvSpPr/>
          <p:nvPr/>
        </p:nvSpPr>
        <p:spPr>
          <a:xfrm>
            <a:off x="8610105" y="3902721"/>
            <a:ext cx="148675" cy="148675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128168"/>
                </a:moveTo>
                <a:cubicBezTo>
                  <a:pt x="99453" y="128168"/>
                  <a:pt x="128168" y="99453"/>
                  <a:pt x="128168" y="64084"/>
                </a:cubicBezTo>
                <a:cubicBezTo>
                  <a:pt x="128168" y="28715"/>
                  <a:pt x="99453" y="0"/>
                  <a:pt x="64084" y="0"/>
                </a:cubicBezTo>
                <a:cubicBezTo>
                  <a:pt x="28715" y="0"/>
                  <a:pt x="0" y="28715"/>
                  <a:pt x="0" y="64084"/>
                </a:cubicBezTo>
                <a:cubicBezTo>
                  <a:pt x="0" y="99453"/>
                  <a:pt x="28715" y="128168"/>
                  <a:pt x="64084" y="128168"/>
                </a:cubicBezTo>
                <a:close/>
                <a:moveTo>
                  <a:pt x="85212" y="53245"/>
                </a:moveTo>
                <a:lnTo>
                  <a:pt x="65186" y="85287"/>
                </a:lnTo>
                <a:cubicBezTo>
                  <a:pt x="64134" y="86964"/>
                  <a:pt x="62332" y="88016"/>
                  <a:pt x="60354" y="88116"/>
                </a:cubicBezTo>
                <a:cubicBezTo>
                  <a:pt x="58377" y="88216"/>
                  <a:pt x="56474" y="87315"/>
                  <a:pt x="55298" y="85712"/>
                </a:cubicBezTo>
                <a:lnTo>
                  <a:pt x="43282" y="69691"/>
                </a:lnTo>
                <a:cubicBezTo>
                  <a:pt x="41279" y="67038"/>
                  <a:pt x="41830" y="63283"/>
                  <a:pt x="44483" y="61280"/>
                </a:cubicBezTo>
                <a:cubicBezTo>
                  <a:pt x="47137" y="59278"/>
                  <a:pt x="50892" y="59829"/>
                  <a:pt x="52894" y="62482"/>
                </a:cubicBezTo>
                <a:lnTo>
                  <a:pt x="59653" y="71494"/>
                </a:lnTo>
                <a:lnTo>
                  <a:pt x="75023" y="46887"/>
                </a:lnTo>
                <a:cubicBezTo>
                  <a:pt x="76776" y="44083"/>
                  <a:pt x="80481" y="43207"/>
                  <a:pt x="83309" y="44984"/>
                </a:cubicBezTo>
                <a:cubicBezTo>
                  <a:pt x="86138" y="46761"/>
                  <a:pt x="86989" y="50441"/>
                  <a:pt x="85212" y="5327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9" name="Text 47"/>
          <p:cNvSpPr/>
          <p:nvPr/>
        </p:nvSpPr>
        <p:spPr>
          <a:xfrm>
            <a:off x="8851702" y="3865553"/>
            <a:ext cx="3447404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访存密集型：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频繁访问KV Cache，</a:t>
            </a:r>
            <a:r>
              <a:rPr lang="zh-CN" alt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访存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带宽是瓶颈</a:t>
            </a:r>
            <a:endParaRPr lang="en-US" sz="1856" dirty="0"/>
          </a:p>
        </p:txBody>
      </p:sp>
      <p:sp>
        <p:nvSpPr>
          <p:cNvPr id="50" name="Shape 48"/>
          <p:cNvSpPr/>
          <p:nvPr/>
        </p:nvSpPr>
        <p:spPr>
          <a:xfrm>
            <a:off x="8610105" y="4200072"/>
            <a:ext cx="148675" cy="148675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128168"/>
                </a:moveTo>
                <a:cubicBezTo>
                  <a:pt x="99453" y="128168"/>
                  <a:pt x="128168" y="99453"/>
                  <a:pt x="128168" y="64084"/>
                </a:cubicBezTo>
                <a:cubicBezTo>
                  <a:pt x="128168" y="28715"/>
                  <a:pt x="99453" y="0"/>
                  <a:pt x="64084" y="0"/>
                </a:cubicBezTo>
                <a:cubicBezTo>
                  <a:pt x="28715" y="0"/>
                  <a:pt x="0" y="28715"/>
                  <a:pt x="0" y="64084"/>
                </a:cubicBezTo>
                <a:cubicBezTo>
                  <a:pt x="0" y="99453"/>
                  <a:pt x="28715" y="128168"/>
                  <a:pt x="64084" y="128168"/>
                </a:cubicBezTo>
                <a:close/>
                <a:moveTo>
                  <a:pt x="85212" y="53245"/>
                </a:moveTo>
                <a:lnTo>
                  <a:pt x="65186" y="85287"/>
                </a:lnTo>
                <a:cubicBezTo>
                  <a:pt x="64134" y="86964"/>
                  <a:pt x="62332" y="88016"/>
                  <a:pt x="60354" y="88116"/>
                </a:cubicBezTo>
                <a:cubicBezTo>
                  <a:pt x="58377" y="88216"/>
                  <a:pt x="56474" y="87315"/>
                  <a:pt x="55298" y="85712"/>
                </a:cubicBezTo>
                <a:lnTo>
                  <a:pt x="43282" y="69691"/>
                </a:lnTo>
                <a:cubicBezTo>
                  <a:pt x="41279" y="67038"/>
                  <a:pt x="41830" y="63283"/>
                  <a:pt x="44483" y="61280"/>
                </a:cubicBezTo>
                <a:cubicBezTo>
                  <a:pt x="47137" y="59278"/>
                  <a:pt x="50892" y="59829"/>
                  <a:pt x="52894" y="62482"/>
                </a:cubicBezTo>
                <a:lnTo>
                  <a:pt x="59653" y="71494"/>
                </a:lnTo>
                <a:lnTo>
                  <a:pt x="75023" y="46887"/>
                </a:lnTo>
                <a:cubicBezTo>
                  <a:pt x="76776" y="44083"/>
                  <a:pt x="80481" y="43207"/>
                  <a:pt x="83309" y="44984"/>
                </a:cubicBezTo>
                <a:cubicBezTo>
                  <a:pt x="86138" y="46761"/>
                  <a:pt x="86989" y="50441"/>
                  <a:pt x="85212" y="5327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51" name="Text 49"/>
          <p:cNvSpPr/>
          <p:nvPr/>
        </p:nvSpPr>
        <p:spPr>
          <a:xfrm>
            <a:off x="8851702" y="4162904"/>
            <a:ext cx="2192958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并行度低：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每次仅处理1个token</a:t>
            </a:r>
            <a:endParaRPr lang="en-US" sz="1856" dirty="0"/>
          </a:p>
        </p:txBody>
      </p:sp>
      <p:sp>
        <p:nvSpPr>
          <p:cNvPr id="52" name="Shape 50"/>
          <p:cNvSpPr/>
          <p:nvPr/>
        </p:nvSpPr>
        <p:spPr>
          <a:xfrm>
            <a:off x="8610105" y="4497422"/>
            <a:ext cx="148675" cy="148675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64084" y="128168"/>
                </a:moveTo>
                <a:cubicBezTo>
                  <a:pt x="99453" y="128168"/>
                  <a:pt x="128168" y="99453"/>
                  <a:pt x="128168" y="64084"/>
                </a:cubicBezTo>
                <a:cubicBezTo>
                  <a:pt x="128168" y="28715"/>
                  <a:pt x="99453" y="0"/>
                  <a:pt x="64084" y="0"/>
                </a:cubicBezTo>
                <a:cubicBezTo>
                  <a:pt x="28715" y="0"/>
                  <a:pt x="0" y="28715"/>
                  <a:pt x="0" y="64084"/>
                </a:cubicBezTo>
                <a:cubicBezTo>
                  <a:pt x="0" y="99453"/>
                  <a:pt x="28715" y="128168"/>
                  <a:pt x="64084" y="128168"/>
                </a:cubicBezTo>
                <a:close/>
                <a:moveTo>
                  <a:pt x="85212" y="53245"/>
                </a:moveTo>
                <a:lnTo>
                  <a:pt x="65186" y="85287"/>
                </a:lnTo>
                <a:cubicBezTo>
                  <a:pt x="64134" y="86964"/>
                  <a:pt x="62332" y="88016"/>
                  <a:pt x="60354" y="88116"/>
                </a:cubicBezTo>
                <a:cubicBezTo>
                  <a:pt x="58377" y="88216"/>
                  <a:pt x="56474" y="87315"/>
                  <a:pt x="55298" y="85712"/>
                </a:cubicBezTo>
                <a:lnTo>
                  <a:pt x="43282" y="69691"/>
                </a:lnTo>
                <a:cubicBezTo>
                  <a:pt x="41279" y="67038"/>
                  <a:pt x="41830" y="63283"/>
                  <a:pt x="44483" y="61280"/>
                </a:cubicBezTo>
                <a:cubicBezTo>
                  <a:pt x="47137" y="59278"/>
                  <a:pt x="50892" y="59829"/>
                  <a:pt x="52894" y="62482"/>
                </a:cubicBezTo>
                <a:lnTo>
                  <a:pt x="59653" y="71494"/>
                </a:lnTo>
                <a:lnTo>
                  <a:pt x="75023" y="46887"/>
                </a:lnTo>
                <a:cubicBezTo>
                  <a:pt x="76776" y="44083"/>
                  <a:pt x="80481" y="43207"/>
                  <a:pt x="83309" y="44984"/>
                </a:cubicBezTo>
                <a:cubicBezTo>
                  <a:pt x="86138" y="46761"/>
                  <a:pt x="86989" y="50441"/>
                  <a:pt x="85212" y="5327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53" name="Text 51"/>
          <p:cNvSpPr/>
          <p:nvPr/>
        </p:nvSpPr>
        <p:spPr>
          <a:xfrm>
            <a:off x="8851702" y="4460253"/>
            <a:ext cx="3112886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内存占用：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KV Cache随batch和序列长度增长</a:t>
            </a:r>
            <a:endParaRPr lang="en-US" sz="1856" dirty="0"/>
          </a:p>
        </p:txBody>
      </p:sp>
      <p:sp>
        <p:nvSpPr>
          <p:cNvPr id="54" name="Shape 52"/>
          <p:cNvSpPr/>
          <p:nvPr/>
        </p:nvSpPr>
        <p:spPr>
          <a:xfrm>
            <a:off x="8424262" y="4943448"/>
            <a:ext cx="6216478" cy="1152233"/>
          </a:xfrm>
          <a:custGeom>
            <a:avLst/>
            <a:gdLst/>
            <a:ahLst/>
            <a:cxnLst/>
            <a:rect l="l" t="t" r="r" b="b"/>
            <a:pathLst>
              <a:path w="5359033" h="993304">
                <a:moveTo>
                  <a:pt x="32042" y="0"/>
                </a:moveTo>
                <a:lnTo>
                  <a:pt x="5294945" y="0"/>
                </a:lnTo>
                <a:cubicBezTo>
                  <a:pt x="5330340" y="0"/>
                  <a:pt x="5359033" y="28693"/>
                  <a:pt x="5359033" y="64088"/>
                </a:cubicBezTo>
                <a:lnTo>
                  <a:pt x="5359033" y="929216"/>
                </a:lnTo>
                <a:cubicBezTo>
                  <a:pt x="5359033" y="964610"/>
                  <a:pt x="5330340" y="993304"/>
                  <a:pt x="5294945" y="993304"/>
                </a:cubicBezTo>
                <a:lnTo>
                  <a:pt x="32042" y="993304"/>
                </a:lnTo>
                <a:cubicBezTo>
                  <a:pt x="14346" y="993304"/>
                  <a:pt x="0" y="978958"/>
                  <a:pt x="0" y="961261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5" name="Shape 53"/>
          <p:cNvSpPr/>
          <p:nvPr/>
        </p:nvSpPr>
        <p:spPr>
          <a:xfrm>
            <a:off x="8424262" y="4943448"/>
            <a:ext cx="37169" cy="1152233"/>
          </a:xfrm>
          <a:custGeom>
            <a:avLst/>
            <a:gdLst/>
            <a:ahLst/>
            <a:cxnLst/>
            <a:rect l="l" t="t" r="r" b="b"/>
            <a:pathLst>
              <a:path w="32042" h="993304">
                <a:moveTo>
                  <a:pt x="32042" y="0"/>
                </a:moveTo>
                <a:lnTo>
                  <a:pt x="32042" y="0"/>
                </a:lnTo>
                <a:lnTo>
                  <a:pt x="32042" y="993304"/>
                </a:lnTo>
                <a:lnTo>
                  <a:pt x="32042" y="993304"/>
                </a:lnTo>
                <a:cubicBezTo>
                  <a:pt x="14346" y="993304"/>
                  <a:pt x="0" y="978958"/>
                  <a:pt x="0" y="961261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56" name="Shape 54"/>
          <p:cNvSpPr/>
          <p:nvPr/>
        </p:nvSpPr>
        <p:spPr>
          <a:xfrm>
            <a:off x="8614751" y="5138583"/>
            <a:ext cx="167259" cy="167259"/>
          </a:xfrm>
          <a:custGeom>
            <a:avLst/>
            <a:gdLst/>
            <a:ahLst/>
            <a:cxnLst/>
            <a:rect l="l" t="t" r="r" b="b"/>
            <a:pathLst>
              <a:path w="144189" h="144189">
                <a:moveTo>
                  <a:pt x="18024" y="18024"/>
                </a:moveTo>
                <a:cubicBezTo>
                  <a:pt x="18024" y="13039"/>
                  <a:pt x="13996" y="9012"/>
                  <a:pt x="9012" y="9012"/>
                </a:cubicBezTo>
                <a:cubicBezTo>
                  <a:pt x="4027" y="9012"/>
                  <a:pt x="0" y="13039"/>
                  <a:pt x="0" y="18024"/>
                </a:cubicBezTo>
                <a:lnTo>
                  <a:pt x="0" y="112648"/>
                </a:lnTo>
                <a:cubicBezTo>
                  <a:pt x="0" y="125095"/>
                  <a:pt x="10082" y="135177"/>
                  <a:pt x="22530" y="135177"/>
                </a:cubicBezTo>
                <a:lnTo>
                  <a:pt x="135177" y="135177"/>
                </a:lnTo>
                <a:cubicBezTo>
                  <a:pt x="140162" y="135177"/>
                  <a:pt x="144189" y="131150"/>
                  <a:pt x="144189" y="126166"/>
                </a:cubicBezTo>
                <a:cubicBezTo>
                  <a:pt x="144189" y="121181"/>
                  <a:pt x="140162" y="117154"/>
                  <a:pt x="135177" y="117154"/>
                </a:cubicBezTo>
                <a:lnTo>
                  <a:pt x="22530" y="117154"/>
                </a:lnTo>
                <a:cubicBezTo>
                  <a:pt x="20051" y="117154"/>
                  <a:pt x="18024" y="115126"/>
                  <a:pt x="18024" y="112648"/>
                </a:cubicBezTo>
                <a:lnTo>
                  <a:pt x="18024" y="18024"/>
                </a:lnTo>
                <a:close/>
                <a:moveTo>
                  <a:pt x="132530" y="42412"/>
                </a:moveTo>
                <a:cubicBezTo>
                  <a:pt x="136050" y="38892"/>
                  <a:pt x="136050" y="33175"/>
                  <a:pt x="132530" y="29655"/>
                </a:cubicBezTo>
                <a:cubicBezTo>
                  <a:pt x="129010" y="26134"/>
                  <a:pt x="123293" y="26134"/>
                  <a:pt x="119773" y="29655"/>
                </a:cubicBezTo>
                <a:lnTo>
                  <a:pt x="90118" y="59337"/>
                </a:lnTo>
                <a:lnTo>
                  <a:pt x="73953" y="43200"/>
                </a:lnTo>
                <a:cubicBezTo>
                  <a:pt x="70433" y="39680"/>
                  <a:pt x="64716" y="39680"/>
                  <a:pt x="61196" y="43200"/>
                </a:cubicBezTo>
                <a:lnTo>
                  <a:pt x="34160" y="70236"/>
                </a:lnTo>
                <a:cubicBezTo>
                  <a:pt x="30640" y="73756"/>
                  <a:pt x="30640" y="79473"/>
                  <a:pt x="34160" y="82993"/>
                </a:cubicBezTo>
                <a:cubicBezTo>
                  <a:pt x="37681" y="86514"/>
                  <a:pt x="43398" y="86514"/>
                  <a:pt x="46918" y="82993"/>
                </a:cubicBezTo>
                <a:lnTo>
                  <a:pt x="67589" y="62322"/>
                </a:lnTo>
                <a:lnTo>
                  <a:pt x="83754" y="78487"/>
                </a:lnTo>
                <a:cubicBezTo>
                  <a:pt x="87274" y="82008"/>
                  <a:pt x="92991" y="82008"/>
                  <a:pt x="96511" y="78487"/>
                </a:cubicBezTo>
                <a:lnTo>
                  <a:pt x="132558" y="42440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57" name="Text 55"/>
          <p:cNvSpPr/>
          <p:nvPr/>
        </p:nvSpPr>
        <p:spPr>
          <a:xfrm>
            <a:off x="8805242" y="5092123"/>
            <a:ext cx="5770452" cy="260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性能指标</a:t>
            </a:r>
            <a:endParaRPr lang="en-US" sz="1856" dirty="0"/>
          </a:p>
        </p:txBody>
      </p:sp>
      <p:sp>
        <p:nvSpPr>
          <p:cNvPr id="58" name="Text 56"/>
          <p:cNvSpPr/>
          <p:nvPr/>
        </p:nvSpPr>
        <p:spPr>
          <a:xfrm>
            <a:off x="8591521" y="5426641"/>
            <a:ext cx="5974882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TPOT (Time Per Output Token)：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生成每个token的时间</a:t>
            </a:r>
            <a:endParaRPr lang="en-US" sz="1856" dirty="0"/>
          </a:p>
        </p:txBody>
      </p:sp>
      <p:sp>
        <p:nvSpPr>
          <p:cNvPr id="59" name="Text 57"/>
          <p:cNvSpPr/>
          <p:nvPr/>
        </p:nvSpPr>
        <p:spPr>
          <a:xfrm>
            <a:off x="8591521" y="5723992"/>
            <a:ext cx="5974882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优化目标：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降低TPOT，提升生成速度</a:t>
            </a:r>
            <a:endParaRPr lang="en-US" sz="1856" dirty="0"/>
          </a:p>
        </p:txBody>
      </p:sp>
      <p:sp>
        <p:nvSpPr>
          <p:cNvPr id="60" name="Shape 58"/>
          <p:cNvSpPr/>
          <p:nvPr/>
        </p:nvSpPr>
        <p:spPr>
          <a:xfrm>
            <a:off x="8405677" y="6207186"/>
            <a:ext cx="6235063" cy="446026"/>
          </a:xfrm>
          <a:custGeom>
            <a:avLst/>
            <a:gdLst/>
            <a:ahLst/>
            <a:cxnLst/>
            <a:rect l="l" t="t" r="r" b="b"/>
            <a:pathLst>
              <a:path w="5375054" h="384505">
                <a:moveTo>
                  <a:pt x="64085" y="0"/>
                </a:moveTo>
                <a:lnTo>
                  <a:pt x="5310968" y="0"/>
                </a:lnTo>
                <a:cubicBezTo>
                  <a:pt x="5346362" y="0"/>
                  <a:pt x="5375054" y="28692"/>
                  <a:pt x="5375054" y="64085"/>
                </a:cubicBezTo>
                <a:lnTo>
                  <a:pt x="5375054" y="320419"/>
                </a:lnTo>
                <a:cubicBezTo>
                  <a:pt x="5375054" y="355813"/>
                  <a:pt x="5346362" y="384505"/>
                  <a:pt x="5310968" y="384505"/>
                </a:cubicBezTo>
                <a:lnTo>
                  <a:pt x="64085" y="384505"/>
                </a:lnTo>
                <a:cubicBezTo>
                  <a:pt x="28692" y="384505"/>
                  <a:pt x="0" y="355813"/>
                  <a:pt x="0" y="320419"/>
                </a:cubicBezTo>
                <a:lnTo>
                  <a:pt x="0" y="64085"/>
                </a:lnTo>
                <a:cubicBezTo>
                  <a:pt x="0" y="28692"/>
                  <a:pt x="28692" y="0"/>
                  <a:pt x="64085" y="0"/>
                </a:cubicBezTo>
                <a:close/>
              </a:path>
            </a:pathLst>
          </a:custGeom>
          <a:solidFill>
            <a:srgbClr val="333333">
              <a:alpha val="10196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8517183" y="6318692"/>
            <a:ext cx="6086388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执行模式</a:t>
            </a: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：</a:t>
            </a:r>
            <a:r>
              <a:rPr lang="zh-CN" alt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图模式</a:t>
            </a:r>
            <a:r>
              <a:rPr lang="en-US" altLang="zh-CN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(npugraph-ex, ge-graph)</a:t>
            </a:r>
            <a:endParaRPr lang="en-US" altLang="zh-CN" sz="1172" b="1" dirty="0">
              <a:solidFill>
                <a:srgbClr val="333333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428327" y="6987730"/>
            <a:ext cx="13399344" cy="706207"/>
          </a:xfrm>
          <a:custGeom>
            <a:avLst/>
            <a:gdLst/>
            <a:ahLst/>
            <a:cxnLst/>
            <a:rect l="l" t="t" r="r" b="b"/>
            <a:pathLst>
              <a:path w="11551159" h="608799">
                <a:moveTo>
                  <a:pt x="64082" y="0"/>
                </a:moveTo>
                <a:lnTo>
                  <a:pt x="11487077" y="0"/>
                </a:lnTo>
                <a:cubicBezTo>
                  <a:pt x="11522468" y="0"/>
                  <a:pt x="11551159" y="28691"/>
                  <a:pt x="11551159" y="64082"/>
                </a:cubicBezTo>
                <a:lnTo>
                  <a:pt x="11551159" y="544717"/>
                </a:lnTo>
                <a:cubicBezTo>
                  <a:pt x="11551159" y="580108"/>
                  <a:pt x="11522468" y="608799"/>
                  <a:pt x="11487077" y="608799"/>
                </a:cubicBezTo>
                <a:lnTo>
                  <a:pt x="64082" y="608799"/>
                </a:lnTo>
                <a:cubicBezTo>
                  <a:pt x="28691" y="608799"/>
                  <a:pt x="0" y="580108"/>
                  <a:pt x="0" y="544717"/>
                </a:cubicBezTo>
                <a:lnTo>
                  <a:pt x="0" y="64082"/>
                </a:lnTo>
                <a:cubicBezTo>
                  <a:pt x="0" y="28691"/>
                  <a:pt x="28691" y="0"/>
                  <a:pt x="64082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63" name="Shape 61"/>
          <p:cNvSpPr/>
          <p:nvPr/>
        </p:nvSpPr>
        <p:spPr>
          <a:xfrm>
            <a:off x="1577003" y="7229328"/>
            <a:ext cx="278765" cy="223012"/>
          </a:xfrm>
          <a:custGeom>
            <a:avLst/>
            <a:gdLst/>
            <a:ahLst/>
            <a:cxnLst/>
            <a:rect l="l" t="t" r="r" b="b"/>
            <a:pathLst>
              <a:path w="240315" h="192252">
                <a:moveTo>
                  <a:pt x="144189" y="12016"/>
                </a:moveTo>
                <a:lnTo>
                  <a:pt x="192252" y="12016"/>
                </a:lnTo>
                <a:cubicBezTo>
                  <a:pt x="198899" y="12016"/>
                  <a:pt x="204268" y="17385"/>
                  <a:pt x="204268" y="24032"/>
                </a:cubicBezTo>
                <a:cubicBezTo>
                  <a:pt x="204268" y="30678"/>
                  <a:pt x="198899" y="36047"/>
                  <a:pt x="192252" y="36047"/>
                </a:cubicBezTo>
                <a:lnTo>
                  <a:pt x="149596" y="36047"/>
                </a:lnTo>
                <a:cubicBezTo>
                  <a:pt x="147644" y="45735"/>
                  <a:pt x="140998" y="53733"/>
                  <a:pt x="132173" y="57563"/>
                </a:cubicBezTo>
                <a:lnTo>
                  <a:pt x="132173" y="168221"/>
                </a:lnTo>
                <a:lnTo>
                  <a:pt x="192252" y="168221"/>
                </a:lnTo>
                <a:cubicBezTo>
                  <a:pt x="198899" y="168221"/>
                  <a:pt x="204268" y="173590"/>
                  <a:pt x="204268" y="180237"/>
                </a:cubicBezTo>
                <a:cubicBezTo>
                  <a:pt x="204268" y="186883"/>
                  <a:pt x="198899" y="192252"/>
                  <a:pt x="192252" y="192252"/>
                </a:cubicBezTo>
                <a:lnTo>
                  <a:pt x="48063" y="192252"/>
                </a:lnTo>
                <a:cubicBezTo>
                  <a:pt x="41417" y="192252"/>
                  <a:pt x="36047" y="186883"/>
                  <a:pt x="36047" y="180237"/>
                </a:cubicBezTo>
                <a:cubicBezTo>
                  <a:pt x="36047" y="173590"/>
                  <a:pt x="41417" y="168221"/>
                  <a:pt x="48063" y="168221"/>
                </a:cubicBezTo>
                <a:lnTo>
                  <a:pt x="108142" y="168221"/>
                </a:lnTo>
                <a:lnTo>
                  <a:pt x="108142" y="57563"/>
                </a:lnTo>
                <a:cubicBezTo>
                  <a:pt x="99318" y="53695"/>
                  <a:pt x="92672" y="45697"/>
                  <a:pt x="90719" y="36047"/>
                </a:cubicBezTo>
                <a:lnTo>
                  <a:pt x="48063" y="36047"/>
                </a:lnTo>
                <a:cubicBezTo>
                  <a:pt x="41417" y="36047"/>
                  <a:pt x="36047" y="30678"/>
                  <a:pt x="36047" y="24032"/>
                </a:cubicBezTo>
                <a:cubicBezTo>
                  <a:pt x="36047" y="17385"/>
                  <a:pt x="41417" y="12016"/>
                  <a:pt x="48063" y="12016"/>
                </a:cubicBezTo>
                <a:lnTo>
                  <a:pt x="96126" y="12016"/>
                </a:lnTo>
                <a:cubicBezTo>
                  <a:pt x="101608" y="4731"/>
                  <a:pt x="110320" y="0"/>
                  <a:pt x="120158" y="0"/>
                </a:cubicBezTo>
                <a:cubicBezTo>
                  <a:pt x="129996" y="0"/>
                  <a:pt x="138707" y="4731"/>
                  <a:pt x="144189" y="12016"/>
                </a:cubicBezTo>
                <a:close/>
                <a:moveTo>
                  <a:pt x="165067" y="120158"/>
                </a:moveTo>
                <a:lnTo>
                  <a:pt x="219438" y="120158"/>
                </a:lnTo>
                <a:lnTo>
                  <a:pt x="192252" y="73521"/>
                </a:lnTo>
                <a:lnTo>
                  <a:pt x="165067" y="120158"/>
                </a:lnTo>
                <a:close/>
                <a:moveTo>
                  <a:pt x="192252" y="156205"/>
                </a:moveTo>
                <a:cubicBezTo>
                  <a:pt x="168634" y="156205"/>
                  <a:pt x="148996" y="143438"/>
                  <a:pt x="144940" y="126579"/>
                </a:cubicBezTo>
                <a:cubicBezTo>
                  <a:pt x="143964" y="122448"/>
                  <a:pt x="145316" y="118205"/>
                  <a:pt x="147456" y="114525"/>
                </a:cubicBezTo>
                <a:lnTo>
                  <a:pt x="183203" y="53245"/>
                </a:lnTo>
                <a:cubicBezTo>
                  <a:pt x="185080" y="50016"/>
                  <a:pt x="188535" y="48063"/>
                  <a:pt x="192252" y="48063"/>
                </a:cubicBezTo>
                <a:cubicBezTo>
                  <a:pt x="195970" y="48063"/>
                  <a:pt x="199424" y="50053"/>
                  <a:pt x="201302" y="53245"/>
                </a:cubicBezTo>
                <a:lnTo>
                  <a:pt x="237049" y="114525"/>
                </a:lnTo>
                <a:cubicBezTo>
                  <a:pt x="239189" y="118205"/>
                  <a:pt x="240541" y="122448"/>
                  <a:pt x="239564" y="126579"/>
                </a:cubicBezTo>
                <a:cubicBezTo>
                  <a:pt x="235509" y="143401"/>
                  <a:pt x="215871" y="156205"/>
                  <a:pt x="192252" y="156205"/>
                </a:cubicBezTo>
                <a:close/>
                <a:moveTo>
                  <a:pt x="47612" y="73521"/>
                </a:moveTo>
                <a:lnTo>
                  <a:pt x="20427" y="120158"/>
                </a:lnTo>
                <a:lnTo>
                  <a:pt x="74836" y="120158"/>
                </a:lnTo>
                <a:lnTo>
                  <a:pt x="47612" y="73521"/>
                </a:lnTo>
                <a:close/>
                <a:moveTo>
                  <a:pt x="338" y="126579"/>
                </a:moveTo>
                <a:cubicBezTo>
                  <a:pt x="-638" y="122448"/>
                  <a:pt x="713" y="118205"/>
                  <a:pt x="2854" y="114525"/>
                </a:cubicBezTo>
                <a:lnTo>
                  <a:pt x="38601" y="53245"/>
                </a:lnTo>
                <a:cubicBezTo>
                  <a:pt x="40478" y="50016"/>
                  <a:pt x="43933" y="48063"/>
                  <a:pt x="47650" y="48063"/>
                </a:cubicBezTo>
                <a:cubicBezTo>
                  <a:pt x="51367" y="48063"/>
                  <a:pt x="54822" y="50053"/>
                  <a:pt x="56699" y="53245"/>
                </a:cubicBezTo>
                <a:lnTo>
                  <a:pt x="92446" y="114525"/>
                </a:lnTo>
                <a:cubicBezTo>
                  <a:pt x="94587" y="118205"/>
                  <a:pt x="95938" y="122448"/>
                  <a:pt x="94962" y="126579"/>
                </a:cubicBezTo>
                <a:cubicBezTo>
                  <a:pt x="90907" y="143401"/>
                  <a:pt x="71269" y="156205"/>
                  <a:pt x="47650" y="156205"/>
                </a:cubicBezTo>
                <a:cubicBezTo>
                  <a:pt x="24032" y="156205"/>
                  <a:pt x="4393" y="143438"/>
                  <a:pt x="338" y="126579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64" name="Text 62"/>
          <p:cNvSpPr/>
          <p:nvPr/>
        </p:nvSpPr>
        <p:spPr>
          <a:xfrm>
            <a:off x="1967275" y="7136406"/>
            <a:ext cx="2759782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关键对比</a:t>
            </a:r>
            <a:endParaRPr lang="en-US" sz="1856" dirty="0"/>
          </a:p>
        </p:txBody>
      </p:sp>
      <p:sp>
        <p:nvSpPr>
          <p:cNvPr id="65" name="Text 63"/>
          <p:cNvSpPr/>
          <p:nvPr/>
        </p:nvSpPr>
        <p:spPr>
          <a:xfrm>
            <a:off x="1967275" y="7359418"/>
            <a:ext cx="2750490" cy="185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7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Prefill优化算力利用率，Decode优化</a:t>
            </a:r>
            <a:r>
              <a:rPr lang="zh-CN" altLang="en-US" sz="1027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访存效率</a:t>
            </a:r>
            <a:endParaRPr lang="zh-CN" altLang="en-US" sz="1027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877039" y="7229328"/>
            <a:ext cx="9293" cy="223012"/>
          </a:xfrm>
          <a:custGeom>
            <a:avLst/>
            <a:gdLst/>
            <a:ahLst/>
            <a:cxnLst/>
            <a:rect l="l" t="t" r="r" b="b"/>
            <a:pathLst>
              <a:path w="8011" h="192252">
                <a:moveTo>
                  <a:pt x="0" y="0"/>
                </a:moveTo>
                <a:lnTo>
                  <a:pt x="8011" y="0"/>
                </a:lnTo>
                <a:lnTo>
                  <a:pt x="8011" y="192252"/>
                </a:lnTo>
                <a:lnTo>
                  <a:pt x="0" y="192252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</p:spPr>
      </p:sp>
      <p:sp>
        <p:nvSpPr>
          <p:cNvPr id="67" name="Text 65"/>
          <p:cNvSpPr/>
          <p:nvPr/>
        </p:nvSpPr>
        <p:spPr>
          <a:xfrm>
            <a:off x="5104698" y="7229328"/>
            <a:ext cx="9645298" cy="223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实践启示：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不同场景需采用不同优化策略。</a:t>
            </a:r>
            <a:r>
              <a:rPr lang="zh-CN" alt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长输入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场景Prefill占比高，长</a:t>
            </a:r>
            <a:r>
              <a:rPr lang="zh-CN" alt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输出</a:t>
            </a:r>
            <a:r>
              <a:rPr lang="en-US" sz="117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场景Decode占比高。需根据实际负载特征选择优化方向。</a:t>
            </a:r>
            <a:endParaRPr lang="en-US" sz="1856" dirty="0"/>
          </a:p>
        </p:txBody>
      </p:sp>
      <p:sp>
        <p:nvSpPr>
          <p:cNvPr id="68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69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dirty="0"/>
          </a:p>
        </p:txBody>
      </p:sp>
      <p:pic>
        <p:nvPicPr>
          <p:cNvPr id="70" name="CANN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1498600" y="1023413"/>
            <a:ext cx="2397633" cy="618744"/>
          </a:xfrm>
          <a:custGeom>
            <a:avLst/>
            <a:gdLst/>
            <a:ahLst/>
            <a:cxnLst/>
            <a:rect l="l" t="t" r="r" b="b"/>
            <a:pathLst>
              <a:path w="2066925" h="533400">
                <a:moveTo>
                  <a:pt x="0" y="0"/>
                </a:moveTo>
                <a:lnTo>
                  <a:pt x="2066925" y="0"/>
                </a:lnTo>
                <a:lnTo>
                  <a:pt x="20669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5" name="Text 2"/>
          <p:cNvSpPr/>
          <p:nvPr/>
        </p:nvSpPr>
        <p:spPr>
          <a:xfrm>
            <a:off x="1498600" y="1023413"/>
            <a:ext cx="2530221" cy="618744"/>
          </a:xfrm>
          <a:prstGeom prst="rect">
            <a:avLst/>
          </a:prstGeom>
          <a:noFill/>
        </p:spPr>
        <p:txBody>
          <a:bodyPr wrap="square" lIns="265176" tIns="132588" rIns="265176" bIns="132588" rtlCol="0" anchor="ctr"/>
          <a:lstStyle/>
          <a:p>
            <a:pPr>
              <a:lnSpc>
                <a:spcPct val="110000"/>
              </a:lnSpc>
            </a:pPr>
            <a:r>
              <a:rPr lang="en-US" sz="2088" b="1" kern="0" spc="90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CHAPTER 03</a:t>
            </a:r>
            <a:endParaRPr lang="en-US" sz="1856" dirty="0"/>
          </a:p>
        </p:txBody>
      </p:sp>
      <p:sp>
        <p:nvSpPr>
          <p:cNvPr id="6" name="Text 3"/>
          <p:cNvSpPr/>
          <p:nvPr/>
        </p:nvSpPr>
        <p:spPr>
          <a:xfrm>
            <a:off x="1498600" y="1995725"/>
            <a:ext cx="9634728" cy="1988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626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新</a:t>
            </a:r>
            <a:r>
              <a:rPr lang="en-US" sz="626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模型迁移与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626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部署方法</a:t>
            </a:r>
            <a:endParaRPr lang="en-US" sz="1856" dirty="0"/>
          </a:p>
        </p:txBody>
      </p:sp>
      <p:sp>
        <p:nvSpPr>
          <p:cNvPr id="7" name="Text 4"/>
          <p:cNvSpPr/>
          <p:nvPr/>
        </p:nvSpPr>
        <p:spPr>
          <a:xfrm>
            <a:off x="1498600" y="4338113"/>
            <a:ext cx="9402699" cy="5414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10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掌握从现有框架迁移和快速部署新模型的实用技巧</a:t>
            </a:r>
            <a:endParaRPr lang="en-US" sz="1856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1520698" y="5407105"/>
            <a:ext cx="2883789" cy="1524762"/>
          </a:xfrm>
          <a:custGeom>
            <a:avLst/>
            <a:gdLst/>
            <a:ahLst/>
            <a:cxnLst/>
            <a:rect l="l" t="t" r="r" b="b"/>
            <a:pathLst>
              <a:path w="2486025" h="1314450">
                <a:moveTo>
                  <a:pt x="38100" y="0"/>
                </a:moveTo>
                <a:lnTo>
                  <a:pt x="2409826" y="0"/>
                </a:lnTo>
                <a:cubicBezTo>
                  <a:pt x="2451910" y="0"/>
                  <a:pt x="2486025" y="34115"/>
                  <a:pt x="2486025" y="76199"/>
                </a:cubicBezTo>
                <a:lnTo>
                  <a:pt x="2486025" y="1238251"/>
                </a:lnTo>
                <a:cubicBezTo>
                  <a:pt x="2486025" y="1280335"/>
                  <a:pt x="2451910" y="1314450"/>
                  <a:pt x="2409826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1520698" y="5407105"/>
            <a:ext cx="44196" cy="1524762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0" name="Shape 7"/>
          <p:cNvSpPr/>
          <p:nvPr>
            <p:custDataLst>
              <p:tags r:id="rId4"/>
            </p:custDataLst>
          </p:nvPr>
        </p:nvSpPr>
        <p:spPr>
          <a:xfrm>
            <a:off x="1807972" y="5628085"/>
            <a:ext cx="331470" cy="33147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84051"/>
                </a:moveTo>
                <a:lnTo>
                  <a:pt x="226926" y="137629"/>
                </a:lnTo>
                <a:cubicBezTo>
                  <a:pt x="221791" y="142763"/>
                  <a:pt x="214145" y="144270"/>
                  <a:pt x="207448" y="141480"/>
                </a:cubicBezTo>
                <a:cubicBezTo>
                  <a:pt x="200751" y="138689"/>
                  <a:pt x="196453" y="132215"/>
                  <a:pt x="196453" y="125016"/>
                </a:cubicBezTo>
                <a:lnTo>
                  <a:pt x="196453" y="89297"/>
                </a:ln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196453" y="53578"/>
                </a:lnTo>
                <a:lnTo>
                  <a:pt x="196453" y="17859"/>
                </a:lnTo>
                <a:cubicBezTo>
                  <a:pt x="196453" y="10660"/>
                  <a:pt x="200806" y="4130"/>
                  <a:pt x="207504" y="1339"/>
                </a:cubicBezTo>
                <a:cubicBezTo>
                  <a:pt x="214201" y="-1451"/>
                  <a:pt x="221847" y="112"/>
                  <a:pt x="226981" y="5190"/>
                </a:cubicBezTo>
                <a:lnTo>
                  <a:pt x="280560" y="58769"/>
                </a:lnTo>
                <a:cubicBezTo>
                  <a:pt x="287536" y="65745"/>
                  <a:pt x="287536" y="77074"/>
                  <a:pt x="280560" y="84051"/>
                </a:cubicBezTo>
                <a:close/>
                <a:moveTo>
                  <a:pt x="58769" y="280504"/>
                </a:moveTo>
                <a:lnTo>
                  <a:pt x="5190" y="226926"/>
                </a:lnTo>
                <a:cubicBezTo>
                  <a:pt x="-1786" y="219949"/>
                  <a:pt x="-1786" y="208620"/>
                  <a:pt x="5190" y="201644"/>
                </a:cubicBezTo>
                <a:lnTo>
                  <a:pt x="58769" y="148065"/>
                </a:lnTo>
                <a:cubicBezTo>
                  <a:pt x="63903" y="142931"/>
                  <a:pt x="71549" y="141424"/>
                  <a:pt x="78246" y="144214"/>
                </a:cubicBezTo>
                <a:cubicBezTo>
                  <a:pt x="84944" y="147005"/>
                  <a:pt x="89297" y="153535"/>
                  <a:pt x="89297" y="160734"/>
                </a:cubicBezTo>
                <a:lnTo>
                  <a:pt x="89297" y="196453"/>
                </a:lnTo>
                <a:lnTo>
                  <a:pt x="267891" y="196453"/>
                </a:lnTo>
                <a:cubicBezTo>
                  <a:pt x="277769" y="196453"/>
                  <a:pt x="285750" y="204434"/>
                  <a:pt x="285750" y="214313"/>
                </a:cubicBezTo>
                <a:cubicBezTo>
                  <a:pt x="285750" y="224191"/>
                  <a:pt x="277769" y="232172"/>
                  <a:pt x="267891" y="232172"/>
                </a:cubicBezTo>
                <a:lnTo>
                  <a:pt x="89297" y="232172"/>
                </a:lnTo>
                <a:lnTo>
                  <a:pt x="89297" y="267891"/>
                </a:lnTo>
                <a:cubicBezTo>
                  <a:pt x="89297" y="275090"/>
                  <a:pt x="84944" y="281620"/>
                  <a:pt x="78246" y="284411"/>
                </a:cubicBezTo>
                <a:cubicBezTo>
                  <a:pt x="71549" y="287201"/>
                  <a:pt x="63903" y="285638"/>
                  <a:pt x="58769" y="28056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1763776" y="6092143"/>
            <a:ext cx="2519172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框架迁移</a:t>
            </a:r>
            <a:endParaRPr lang="en-US" sz="1856" dirty="0"/>
          </a:p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1763776" y="6445711"/>
            <a:ext cx="2508123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HuggingFace/vLLM/SGLang</a:t>
            </a:r>
            <a:endParaRPr lang="en-US" sz="1856" dirty="0"/>
          </a:p>
        </p:txBody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4687272" y="5407105"/>
            <a:ext cx="2883789" cy="1524762"/>
          </a:xfrm>
          <a:custGeom>
            <a:avLst/>
            <a:gdLst/>
            <a:ahLst/>
            <a:cxnLst/>
            <a:rect l="l" t="t" r="r" b="b"/>
            <a:pathLst>
              <a:path w="2486025" h="1314450">
                <a:moveTo>
                  <a:pt x="38100" y="0"/>
                </a:moveTo>
                <a:lnTo>
                  <a:pt x="2409826" y="0"/>
                </a:lnTo>
                <a:cubicBezTo>
                  <a:pt x="2451910" y="0"/>
                  <a:pt x="2486025" y="34115"/>
                  <a:pt x="2486025" y="76199"/>
                </a:cubicBezTo>
                <a:lnTo>
                  <a:pt x="2486025" y="1238251"/>
                </a:lnTo>
                <a:cubicBezTo>
                  <a:pt x="2486025" y="1280335"/>
                  <a:pt x="2451910" y="1314450"/>
                  <a:pt x="2409826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14" name="Shape 11"/>
          <p:cNvSpPr/>
          <p:nvPr>
            <p:custDataLst>
              <p:tags r:id="rId8"/>
            </p:custDataLst>
          </p:nvPr>
        </p:nvSpPr>
        <p:spPr>
          <a:xfrm>
            <a:off x="4687272" y="5407105"/>
            <a:ext cx="44196" cy="1524762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5" name="Shape 12"/>
          <p:cNvSpPr/>
          <p:nvPr>
            <p:custDataLst>
              <p:tags r:id="rId9"/>
            </p:custDataLst>
          </p:nvPr>
        </p:nvSpPr>
        <p:spPr>
          <a:xfrm>
            <a:off x="4974546" y="5628085"/>
            <a:ext cx="331470" cy="33147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58502" y="-726"/>
                </a:moveTo>
                <a:cubicBezTo>
                  <a:pt x="148847" y="-6307"/>
                  <a:pt x="136903" y="-6307"/>
                  <a:pt x="127248" y="-726"/>
                </a:cubicBezTo>
                <a:lnTo>
                  <a:pt x="80256" y="26398"/>
                </a:lnTo>
                <a:cubicBezTo>
                  <a:pt x="70600" y="31979"/>
                  <a:pt x="64629" y="42304"/>
                  <a:pt x="64629" y="53467"/>
                </a:cubicBezTo>
                <a:lnTo>
                  <a:pt x="64629" y="110337"/>
                </a:lnTo>
                <a:lnTo>
                  <a:pt x="15348" y="138801"/>
                </a:lnTo>
                <a:cubicBezTo>
                  <a:pt x="5693" y="144382"/>
                  <a:pt x="-279" y="154707"/>
                  <a:pt x="-279" y="165869"/>
                </a:cubicBezTo>
                <a:lnTo>
                  <a:pt x="-279" y="220173"/>
                </a:lnTo>
                <a:cubicBezTo>
                  <a:pt x="-279" y="231335"/>
                  <a:pt x="5693" y="241660"/>
                  <a:pt x="15348" y="247241"/>
                </a:cubicBezTo>
                <a:lnTo>
                  <a:pt x="62396" y="274365"/>
                </a:lnTo>
                <a:cubicBezTo>
                  <a:pt x="72051" y="279946"/>
                  <a:pt x="83995" y="279946"/>
                  <a:pt x="93650" y="274365"/>
                </a:cubicBezTo>
                <a:lnTo>
                  <a:pt x="142931" y="245901"/>
                </a:lnTo>
                <a:lnTo>
                  <a:pt x="192212" y="274365"/>
                </a:lnTo>
                <a:cubicBezTo>
                  <a:pt x="201867" y="279946"/>
                  <a:pt x="213810" y="279946"/>
                  <a:pt x="223465" y="274365"/>
                </a:cubicBezTo>
                <a:lnTo>
                  <a:pt x="270402" y="247241"/>
                </a:lnTo>
                <a:cubicBezTo>
                  <a:pt x="280057" y="241660"/>
                  <a:pt x="286029" y="231335"/>
                  <a:pt x="286029" y="220173"/>
                </a:cubicBezTo>
                <a:lnTo>
                  <a:pt x="286029" y="165869"/>
                </a:lnTo>
                <a:cubicBezTo>
                  <a:pt x="286029" y="154707"/>
                  <a:pt x="280057" y="144382"/>
                  <a:pt x="270402" y="138801"/>
                </a:cubicBezTo>
                <a:lnTo>
                  <a:pt x="221121" y="110337"/>
                </a:lnTo>
                <a:lnTo>
                  <a:pt x="221121" y="53467"/>
                </a:lnTo>
                <a:cubicBezTo>
                  <a:pt x="221121" y="42304"/>
                  <a:pt x="215150" y="31979"/>
                  <a:pt x="205494" y="26398"/>
                </a:cubicBezTo>
                <a:lnTo>
                  <a:pt x="158502" y="-726"/>
                </a:lnTo>
                <a:close/>
                <a:moveTo>
                  <a:pt x="129480" y="163302"/>
                </a:moveTo>
                <a:lnTo>
                  <a:pt x="129480" y="222740"/>
                </a:lnTo>
                <a:lnTo>
                  <a:pt x="80200" y="251203"/>
                </a:lnTo>
                <a:cubicBezTo>
                  <a:pt x="79530" y="251594"/>
                  <a:pt x="78749" y="251817"/>
                  <a:pt x="77967" y="251817"/>
                </a:cubicBezTo>
                <a:lnTo>
                  <a:pt x="77967" y="193049"/>
                </a:lnTo>
                <a:lnTo>
                  <a:pt x="129480" y="163302"/>
                </a:lnTo>
                <a:close/>
                <a:moveTo>
                  <a:pt x="258626" y="163637"/>
                </a:moveTo>
                <a:cubicBezTo>
                  <a:pt x="259017" y="164306"/>
                  <a:pt x="259240" y="165088"/>
                  <a:pt x="259240" y="165869"/>
                </a:cubicBezTo>
                <a:lnTo>
                  <a:pt x="259240" y="220173"/>
                </a:lnTo>
                <a:cubicBezTo>
                  <a:pt x="259240" y="221791"/>
                  <a:pt x="258403" y="223242"/>
                  <a:pt x="257008" y="224024"/>
                </a:cubicBezTo>
                <a:lnTo>
                  <a:pt x="209959" y="251147"/>
                </a:lnTo>
                <a:cubicBezTo>
                  <a:pt x="209290" y="251538"/>
                  <a:pt x="208508" y="251761"/>
                  <a:pt x="207727" y="251761"/>
                </a:cubicBezTo>
                <a:lnTo>
                  <a:pt x="207727" y="192993"/>
                </a:lnTo>
                <a:lnTo>
                  <a:pt x="258626" y="163637"/>
                </a:lnTo>
                <a:close/>
                <a:moveTo>
                  <a:pt x="194388" y="53467"/>
                </a:moveTo>
                <a:lnTo>
                  <a:pt x="194388" y="110337"/>
                </a:lnTo>
                <a:lnTo>
                  <a:pt x="142875" y="140084"/>
                </a:lnTo>
                <a:lnTo>
                  <a:pt x="142875" y="80646"/>
                </a:lnTo>
                <a:lnTo>
                  <a:pt x="193774" y="51290"/>
                </a:lnTo>
                <a:cubicBezTo>
                  <a:pt x="194165" y="51960"/>
                  <a:pt x="194388" y="52741"/>
                  <a:pt x="194388" y="53522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4930350" y="6092143"/>
            <a:ext cx="2519172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模块堆叠</a:t>
            </a:r>
            <a:endParaRPr lang="en-US" sz="1856" dirty="0"/>
          </a:p>
        </p:txBody>
      </p:sp>
      <p:sp>
        <p:nvSpPr>
          <p:cNvPr id="17" name="Text 14"/>
          <p:cNvSpPr/>
          <p:nvPr>
            <p:custDataLst>
              <p:tags r:id="rId11"/>
            </p:custDataLst>
          </p:nvPr>
        </p:nvSpPr>
        <p:spPr>
          <a:xfrm>
            <a:off x="4930350" y="6445711"/>
            <a:ext cx="2508123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像搭积木一样构建模型</a:t>
            </a:r>
            <a:endParaRPr lang="en-US" sz="1856" dirty="0"/>
          </a:p>
        </p:txBody>
      </p:sp>
      <p:sp>
        <p:nvSpPr>
          <p:cNvPr id="18" name="Shape 15"/>
          <p:cNvSpPr/>
          <p:nvPr>
            <p:custDataLst>
              <p:tags r:id="rId12"/>
            </p:custDataLst>
          </p:nvPr>
        </p:nvSpPr>
        <p:spPr>
          <a:xfrm>
            <a:off x="7853847" y="5407105"/>
            <a:ext cx="2883789" cy="1524762"/>
          </a:xfrm>
          <a:custGeom>
            <a:avLst/>
            <a:gdLst/>
            <a:ahLst/>
            <a:cxnLst/>
            <a:rect l="l" t="t" r="r" b="b"/>
            <a:pathLst>
              <a:path w="2486025" h="1314450">
                <a:moveTo>
                  <a:pt x="38100" y="0"/>
                </a:moveTo>
                <a:lnTo>
                  <a:pt x="2409826" y="0"/>
                </a:lnTo>
                <a:cubicBezTo>
                  <a:pt x="2451910" y="0"/>
                  <a:pt x="2486025" y="34115"/>
                  <a:pt x="2486025" y="76199"/>
                </a:cubicBezTo>
                <a:lnTo>
                  <a:pt x="2486025" y="1238251"/>
                </a:lnTo>
                <a:cubicBezTo>
                  <a:pt x="2486025" y="1280335"/>
                  <a:pt x="2451910" y="1314450"/>
                  <a:pt x="2409826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19" name="Shape 16"/>
          <p:cNvSpPr/>
          <p:nvPr>
            <p:custDataLst>
              <p:tags r:id="rId13"/>
            </p:custDataLst>
          </p:nvPr>
        </p:nvSpPr>
        <p:spPr>
          <a:xfrm>
            <a:off x="7853847" y="5407105"/>
            <a:ext cx="44196" cy="1524762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0" name="Shape 17"/>
          <p:cNvSpPr/>
          <p:nvPr>
            <p:custDataLst>
              <p:tags r:id="rId14"/>
            </p:custDataLst>
          </p:nvPr>
        </p:nvSpPr>
        <p:spPr>
          <a:xfrm>
            <a:off x="8141121" y="5628085"/>
            <a:ext cx="331470" cy="33147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3203" y="12111"/>
                </a:moveTo>
                <a:cubicBezTo>
                  <a:pt x="250980" y="-112"/>
                  <a:pt x="231223" y="-112"/>
                  <a:pt x="219001" y="12111"/>
                </a:cubicBezTo>
                <a:lnTo>
                  <a:pt x="205383" y="25729"/>
                </a:lnTo>
                <a:lnTo>
                  <a:pt x="260021" y="80367"/>
                </a:lnTo>
                <a:lnTo>
                  <a:pt x="273639" y="66749"/>
                </a:lnTo>
                <a:cubicBezTo>
                  <a:pt x="285862" y="54527"/>
                  <a:pt x="285862" y="34770"/>
                  <a:pt x="273639" y="22547"/>
                </a:cubicBezTo>
                <a:lnTo>
                  <a:pt x="263203" y="12111"/>
                </a:lnTo>
                <a:close/>
                <a:moveTo>
                  <a:pt x="96217" y="134894"/>
                </a:moveTo>
                <a:cubicBezTo>
                  <a:pt x="92813" y="138299"/>
                  <a:pt x="90190" y="142484"/>
                  <a:pt x="88683" y="147117"/>
                </a:cubicBezTo>
                <a:lnTo>
                  <a:pt x="72163" y="196676"/>
                </a:lnTo>
                <a:cubicBezTo>
                  <a:pt x="70545" y="201476"/>
                  <a:pt x="71828" y="206778"/>
                  <a:pt x="75400" y="210406"/>
                </a:cubicBezTo>
                <a:cubicBezTo>
                  <a:pt x="78972" y="214033"/>
                  <a:pt x="84274" y="215261"/>
                  <a:pt x="89129" y="213643"/>
                </a:cubicBezTo>
                <a:lnTo>
                  <a:pt x="138689" y="197123"/>
                </a:lnTo>
                <a:cubicBezTo>
                  <a:pt x="143266" y="195616"/>
                  <a:pt x="147451" y="192993"/>
                  <a:pt x="150912" y="189588"/>
                </a:cubicBezTo>
                <a:lnTo>
                  <a:pt x="241102" y="99287"/>
                </a:lnTo>
                <a:lnTo>
                  <a:pt x="186463" y="44648"/>
                </a:lnTo>
                <a:lnTo>
                  <a:pt x="96217" y="134894"/>
                </a:lnTo>
                <a:close/>
                <a:moveTo>
                  <a:pt x="53578" y="35719"/>
                </a:moveTo>
                <a:cubicBezTo>
                  <a:pt x="23999" y="35719"/>
                  <a:pt x="0" y="59717"/>
                  <a:pt x="0" y="89297"/>
                </a:cubicBezTo>
                <a:lnTo>
                  <a:pt x="0" y="232172"/>
                </a:lnTo>
                <a:cubicBezTo>
                  <a:pt x="0" y="261751"/>
                  <a:pt x="23999" y="285750"/>
                  <a:pt x="53578" y="285750"/>
                </a:cubicBezTo>
                <a:lnTo>
                  <a:pt x="196453" y="285750"/>
                </a:lnTo>
                <a:cubicBezTo>
                  <a:pt x="226033" y="285750"/>
                  <a:pt x="250031" y="261751"/>
                  <a:pt x="250031" y="232172"/>
                </a:cubicBezTo>
                <a:lnTo>
                  <a:pt x="250031" y="178594"/>
                </a:lnTo>
                <a:cubicBezTo>
                  <a:pt x="250031" y="168715"/>
                  <a:pt x="242050" y="160734"/>
                  <a:pt x="232172" y="160734"/>
                </a:cubicBezTo>
                <a:cubicBezTo>
                  <a:pt x="222293" y="160734"/>
                  <a:pt x="214313" y="168715"/>
                  <a:pt x="214313" y="178594"/>
                </a:cubicBezTo>
                <a:lnTo>
                  <a:pt x="214313" y="232172"/>
                </a:lnTo>
                <a:cubicBezTo>
                  <a:pt x="214313" y="242050"/>
                  <a:pt x="206332" y="250031"/>
                  <a:pt x="196453" y="250031"/>
                </a:cubicBezTo>
                <a:lnTo>
                  <a:pt x="53578" y="250031"/>
                </a:lnTo>
                <a:cubicBezTo>
                  <a:pt x="43700" y="250031"/>
                  <a:pt x="35719" y="242050"/>
                  <a:pt x="35719" y="232172"/>
                </a:cubicBezTo>
                <a:lnTo>
                  <a:pt x="35719" y="89297"/>
                </a:lnTo>
                <a:cubicBezTo>
                  <a:pt x="35719" y="79418"/>
                  <a:pt x="43700" y="71438"/>
                  <a:pt x="53578" y="71438"/>
                </a:cubicBezTo>
                <a:lnTo>
                  <a:pt x="107156" y="71438"/>
                </a:lnTo>
                <a:cubicBezTo>
                  <a:pt x="117035" y="71438"/>
                  <a:pt x="125016" y="63457"/>
                  <a:pt x="125016" y="53578"/>
                </a:cubicBezTo>
                <a:cubicBezTo>
                  <a:pt x="125016" y="43700"/>
                  <a:pt x="117035" y="35719"/>
                  <a:pt x="107156" y="35719"/>
                </a:cubicBezTo>
                <a:lnTo>
                  <a:pt x="53578" y="35719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21" name="Text 18"/>
          <p:cNvSpPr/>
          <p:nvPr>
            <p:custDataLst>
              <p:tags r:id="rId15"/>
            </p:custDataLst>
          </p:nvPr>
        </p:nvSpPr>
        <p:spPr>
          <a:xfrm>
            <a:off x="8096925" y="6092143"/>
            <a:ext cx="2519172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模型改写</a:t>
            </a:r>
            <a:endParaRPr lang="en-US" sz="1856" dirty="0"/>
          </a:p>
        </p:txBody>
      </p:sp>
      <p:sp>
        <p:nvSpPr>
          <p:cNvPr id="22" name="Text 19"/>
          <p:cNvSpPr/>
          <p:nvPr>
            <p:custDataLst>
              <p:tags r:id="rId16"/>
            </p:custDataLst>
          </p:nvPr>
        </p:nvSpPr>
        <p:spPr>
          <a:xfrm>
            <a:off x="8096925" y="6445711"/>
            <a:ext cx="2508123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从相近架构快速适配</a:t>
            </a:r>
            <a:endParaRPr lang="en-US" sz="1856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94466" y="1023137"/>
            <a:ext cx="2353437" cy="2640711"/>
          </a:xfrm>
          <a:prstGeom prst="rect">
            <a:avLst/>
          </a:prstGeom>
        </p:spPr>
      </p:pic>
      <p:sp>
        <p:nvSpPr>
          <p:cNvPr id="31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32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dirty="0"/>
          </a:p>
        </p:txBody>
      </p:sp>
      <p:pic>
        <p:nvPicPr>
          <p:cNvPr id="33" name="CANN Logo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6277" y="409637"/>
            <a:ext cx="409637" cy="409637"/>
          </a:xfrm>
          <a:custGeom>
            <a:avLst/>
            <a:gdLst/>
            <a:ahLst/>
            <a:cxnLst/>
            <a:rect l="l" t="t" r="r" b="b"/>
            <a:pathLst>
              <a:path w="353135" h="353135">
                <a:moveTo>
                  <a:pt x="176568" y="0"/>
                </a:moveTo>
                <a:lnTo>
                  <a:pt x="176568" y="0"/>
                </a:lnTo>
                <a:cubicBezTo>
                  <a:pt x="274018" y="0"/>
                  <a:pt x="353135" y="79117"/>
                  <a:pt x="353135" y="176568"/>
                </a:cubicBezTo>
                <a:lnTo>
                  <a:pt x="353135" y="176568"/>
                </a:lnTo>
                <a:cubicBezTo>
                  <a:pt x="353135" y="274018"/>
                  <a:pt x="274018" y="353135"/>
                  <a:pt x="176568" y="353135"/>
                </a:cubicBezTo>
                <a:lnTo>
                  <a:pt x="176568" y="353135"/>
                </a:lnTo>
                <a:cubicBezTo>
                  <a:pt x="79117" y="353135"/>
                  <a:pt x="0" y="274018"/>
                  <a:pt x="0" y="176568"/>
                </a:cubicBezTo>
                <a:lnTo>
                  <a:pt x="0" y="176568"/>
                </a:lnTo>
                <a:cubicBezTo>
                  <a:pt x="0" y="79117"/>
                  <a:pt x="79117" y="0"/>
                  <a:pt x="176568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" name="Text 1"/>
          <p:cNvSpPr/>
          <p:nvPr/>
        </p:nvSpPr>
        <p:spPr>
          <a:xfrm>
            <a:off x="1420193" y="409637"/>
            <a:ext cx="501806" cy="409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5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3.1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1998805" y="409637"/>
            <a:ext cx="5714437" cy="409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90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从成熟框架迁移：站在巨人肩膀上</a:t>
            </a:r>
            <a:endParaRPr lang="en-US" sz="1856" dirty="0"/>
          </a:p>
        </p:txBody>
      </p:sp>
      <p:sp>
        <p:nvSpPr>
          <p:cNvPr id="5" name="Text 3"/>
          <p:cNvSpPr/>
          <p:nvPr/>
        </p:nvSpPr>
        <p:spPr>
          <a:xfrm>
            <a:off x="1998805" y="942165"/>
            <a:ext cx="12883086" cy="2867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利用HuggingFace、vLLM、SGLang的成熟实现快速迁移</a:t>
            </a:r>
            <a:endParaRPr lang="en-US" sz="1856" dirty="0"/>
          </a:p>
        </p:txBody>
      </p:sp>
      <p:sp>
        <p:nvSpPr>
          <p:cNvPr id="6" name="Shape 4"/>
          <p:cNvSpPr/>
          <p:nvPr/>
        </p:nvSpPr>
        <p:spPr>
          <a:xfrm>
            <a:off x="1466277" y="1433730"/>
            <a:ext cx="4301190" cy="5540341"/>
          </a:xfrm>
          <a:custGeom>
            <a:avLst/>
            <a:gdLst/>
            <a:ahLst/>
            <a:cxnLst/>
            <a:rect l="l" t="t" r="r" b="b"/>
            <a:pathLst>
              <a:path w="3707922" h="4776156">
                <a:moveTo>
                  <a:pt x="70636" y="0"/>
                </a:moveTo>
                <a:lnTo>
                  <a:pt x="3637286" y="0"/>
                </a:lnTo>
                <a:cubicBezTo>
                  <a:pt x="3676297" y="0"/>
                  <a:pt x="3707922" y="31625"/>
                  <a:pt x="3707922" y="70636"/>
                </a:cubicBezTo>
                <a:lnTo>
                  <a:pt x="3707922" y="4705520"/>
                </a:lnTo>
                <a:cubicBezTo>
                  <a:pt x="3707922" y="4744532"/>
                  <a:pt x="3676297" y="4776156"/>
                  <a:pt x="3637286" y="4776156"/>
                </a:cubicBezTo>
                <a:lnTo>
                  <a:pt x="70636" y="4776156"/>
                </a:lnTo>
                <a:cubicBezTo>
                  <a:pt x="31625" y="4776156"/>
                  <a:pt x="0" y="4744532"/>
                  <a:pt x="0" y="4705520"/>
                </a:cubicBezTo>
                <a:lnTo>
                  <a:pt x="0" y="70636"/>
                </a:lnTo>
                <a:cubicBezTo>
                  <a:pt x="0" y="31651"/>
                  <a:pt x="31651" y="0"/>
                  <a:pt x="70636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7" name="Shape 5"/>
          <p:cNvSpPr/>
          <p:nvPr/>
        </p:nvSpPr>
        <p:spPr>
          <a:xfrm>
            <a:off x="1671095" y="1659030"/>
            <a:ext cx="491564" cy="491564"/>
          </a:xfrm>
          <a:custGeom>
            <a:avLst/>
            <a:gdLst/>
            <a:ahLst/>
            <a:cxnLst/>
            <a:rect l="l" t="t" r="r" b="b"/>
            <a:pathLst>
              <a:path w="423762" h="423762">
                <a:moveTo>
                  <a:pt x="70628" y="0"/>
                </a:moveTo>
                <a:lnTo>
                  <a:pt x="353134" y="0"/>
                </a:lnTo>
                <a:cubicBezTo>
                  <a:pt x="392141" y="0"/>
                  <a:pt x="423762" y="31621"/>
                  <a:pt x="423762" y="70628"/>
                </a:cubicBezTo>
                <a:lnTo>
                  <a:pt x="423762" y="353134"/>
                </a:lnTo>
                <a:cubicBezTo>
                  <a:pt x="423762" y="392141"/>
                  <a:pt x="392141" y="423762"/>
                  <a:pt x="353134" y="423762"/>
                </a:cubicBezTo>
                <a:lnTo>
                  <a:pt x="70628" y="423762"/>
                </a:lnTo>
                <a:cubicBezTo>
                  <a:pt x="31621" y="423762"/>
                  <a:pt x="0" y="392141"/>
                  <a:pt x="0" y="353134"/>
                </a:cubicBezTo>
                <a:lnTo>
                  <a:pt x="0" y="70628"/>
                </a:lnTo>
                <a:cubicBezTo>
                  <a:pt x="0" y="31621"/>
                  <a:pt x="31621" y="0"/>
                  <a:pt x="70628" y="0"/>
                </a:cubicBezTo>
                <a:close/>
              </a:path>
            </a:pathLst>
          </a:custGeom>
          <a:solidFill>
            <a:srgbClr val="FFD21E"/>
          </a:solidFill>
        </p:spPr>
      </p:sp>
      <p:sp>
        <p:nvSpPr>
          <p:cNvPr id="8" name="Shape 6"/>
          <p:cNvSpPr/>
          <p:nvPr/>
        </p:nvSpPr>
        <p:spPr>
          <a:xfrm>
            <a:off x="1788867" y="1802403"/>
            <a:ext cx="256024" cy="204819"/>
          </a:xfrm>
          <a:custGeom>
            <a:avLst/>
            <a:gdLst/>
            <a:ahLst/>
            <a:cxnLst/>
            <a:rect l="l" t="t" r="r" b="b"/>
            <a:pathLst>
              <a:path w="220710" h="176568">
                <a:moveTo>
                  <a:pt x="121390" y="0"/>
                </a:moveTo>
                <a:cubicBezTo>
                  <a:pt x="121390" y="-6104"/>
                  <a:pt x="116459" y="-11035"/>
                  <a:pt x="110355" y="-11035"/>
                </a:cubicBezTo>
                <a:cubicBezTo>
                  <a:pt x="104251" y="-11035"/>
                  <a:pt x="99319" y="-6104"/>
                  <a:pt x="99319" y="0"/>
                </a:cubicBezTo>
                <a:lnTo>
                  <a:pt x="99319" y="22071"/>
                </a:lnTo>
                <a:lnTo>
                  <a:pt x="66213" y="22071"/>
                </a:lnTo>
                <a:cubicBezTo>
                  <a:pt x="47935" y="22071"/>
                  <a:pt x="33106" y="36900"/>
                  <a:pt x="33106" y="55177"/>
                </a:cubicBezTo>
                <a:lnTo>
                  <a:pt x="33106" y="132426"/>
                </a:lnTo>
                <a:cubicBezTo>
                  <a:pt x="33106" y="150703"/>
                  <a:pt x="47935" y="165532"/>
                  <a:pt x="66213" y="165532"/>
                </a:cubicBezTo>
                <a:lnTo>
                  <a:pt x="154497" y="165532"/>
                </a:lnTo>
                <a:cubicBezTo>
                  <a:pt x="172774" y="165532"/>
                  <a:pt x="187603" y="150703"/>
                  <a:pt x="187603" y="132426"/>
                </a:cubicBezTo>
                <a:lnTo>
                  <a:pt x="187603" y="55177"/>
                </a:lnTo>
                <a:cubicBezTo>
                  <a:pt x="187603" y="36900"/>
                  <a:pt x="172774" y="22071"/>
                  <a:pt x="154497" y="22071"/>
                </a:cubicBezTo>
                <a:lnTo>
                  <a:pt x="121390" y="22071"/>
                </a:lnTo>
                <a:lnTo>
                  <a:pt x="121390" y="0"/>
                </a:lnTo>
                <a:close/>
                <a:moveTo>
                  <a:pt x="55177" y="126908"/>
                </a:moveTo>
                <a:cubicBezTo>
                  <a:pt x="55177" y="122321"/>
                  <a:pt x="58867" y="118631"/>
                  <a:pt x="63454" y="118631"/>
                </a:cubicBezTo>
                <a:lnTo>
                  <a:pt x="74490" y="118631"/>
                </a:lnTo>
                <a:cubicBezTo>
                  <a:pt x="79076" y="118631"/>
                  <a:pt x="82766" y="122321"/>
                  <a:pt x="82766" y="126908"/>
                </a:cubicBezTo>
                <a:cubicBezTo>
                  <a:pt x="82766" y="131495"/>
                  <a:pt x="79076" y="135185"/>
                  <a:pt x="74490" y="135185"/>
                </a:cubicBezTo>
                <a:lnTo>
                  <a:pt x="63454" y="135185"/>
                </a:lnTo>
                <a:cubicBezTo>
                  <a:pt x="58867" y="135185"/>
                  <a:pt x="55177" y="131495"/>
                  <a:pt x="55177" y="126908"/>
                </a:cubicBezTo>
                <a:close/>
                <a:moveTo>
                  <a:pt x="96560" y="126908"/>
                </a:moveTo>
                <a:cubicBezTo>
                  <a:pt x="96560" y="122321"/>
                  <a:pt x="100250" y="118631"/>
                  <a:pt x="104837" y="118631"/>
                </a:cubicBezTo>
                <a:lnTo>
                  <a:pt x="115873" y="118631"/>
                </a:lnTo>
                <a:cubicBezTo>
                  <a:pt x="120459" y="118631"/>
                  <a:pt x="124149" y="122321"/>
                  <a:pt x="124149" y="126908"/>
                </a:cubicBezTo>
                <a:cubicBezTo>
                  <a:pt x="124149" y="131495"/>
                  <a:pt x="120459" y="135185"/>
                  <a:pt x="115873" y="135185"/>
                </a:cubicBezTo>
                <a:lnTo>
                  <a:pt x="104837" y="135185"/>
                </a:lnTo>
                <a:cubicBezTo>
                  <a:pt x="100250" y="135185"/>
                  <a:pt x="96560" y="131495"/>
                  <a:pt x="96560" y="126908"/>
                </a:cubicBezTo>
                <a:close/>
                <a:moveTo>
                  <a:pt x="137944" y="126908"/>
                </a:moveTo>
                <a:cubicBezTo>
                  <a:pt x="137944" y="122321"/>
                  <a:pt x="141634" y="118631"/>
                  <a:pt x="146220" y="118631"/>
                </a:cubicBezTo>
                <a:lnTo>
                  <a:pt x="157256" y="118631"/>
                </a:lnTo>
                <a:cubicBezTo>
                  <a:pt x="161842" y="118631"/>
                  <a:pt x="165532" y="122321"/>
                  <a:pt x="165532" y="126908"/>
                </a:cubicBezTo>
                <a:cubicBezTo>
                  <a:pt x="165532" y="131495"/>
                  <a:pt x="161842" y="135185"/>
                  <a:pt x="157256" y="135185"/>
                </a:cubicBezTo>
                <a:lnTo>
                  <a:pt x="146220" y="135185"/>
                </a:lnTo>
                <a:cubicBezTo>
                  <a:pt x="141634" y="135185"/>
                  <a:pt x="137944" y="131495"/>
                  <a:pt x="137944" y="126908"/>
                </a:cubicBezTo>
                <a:close/>
                <a:moveTo>
                  <a:pt x="77248" y="60695"/>
                </a:moveTo>
                <a:cubicBezTo>
                  <a:pt x="86384" y="60695"/>
                  <a:pt x="93802" y="68112"/>
                  <a:pt x="93802" y="77248"/>
                </a:cubicBezTo>
                <a:cubicBezTo>
                  <a:pt x="93802" y="86384"/>
                  <a:pt x="86384" y="93802"/>
                  <a:pt x="77248" y="93802"/>
                </a:cubicBezTo>
                <a:cubicBezTo>
                  <a:pt x="68112" y="93802"/>
                  <a:pt x="60695" y="86384"/>
                  <a:pt x="60695" y="77248"/>
                </a:cubicBezTo>
                <a:cubicBezTo>
                  <a:pt x="60695" y="68112"/>
                  <a:pt x="68112" y="60695"/>
                  <a:pt x="77248" y="60695"/>
                </a:cubicBezTo>
                <a:close/>
                <a:moveTo>
                  <a:pt x="126908" y="77248"/>
                </a:moveTo>
                <a:cubicBezTo>
                  <a:pt x="126908" y="68112"/>
                  <a:pt x="134325" y="60695"/>
                  <a:pt x="143461" y="60695"/>
                </a:cubicBezTo>
                <a:cubicBezTo>
                  <a:pt x="152597" y="60695"/>
                  <a:pt x="160014" y="68112"/>
                  <a:pt x="160014" y="77248"/>
                </a:cubicBezTo>
                <a:cubicBezTo>
                  <a:pt x="160014" y="86384"/>
                  <a:pt x="152597" y="93802"/>
                  <a:pt x="143461" y="93802"/>
                </a:cubicBezTo>
                <a:cubicBezTo>
                  <a:pt x="134325" y="93802"/>
                  <a:pt x="126908" y="86384"/>
                  <a:pt x="126908" y="77248"/>
                </a:cubicBezTo>
                <a:close/>
                <a:moveTo>
                  <a:pt x="22071" y="77248"/>
                </a:moveTo>
                <a:cubicBezTo>
                  <a:pt x="22071" y="71144"/>
                  <a:pt x="17139" y="66213"/>
                  <a:pt x="11035" y="66213"/>
                </a:cubicBezTo>
                <a:cubicBezTo>
                  <a:pt x="4931" y="66213"/>
                  <a:pt x="0" y="71144"/>
                  <a:pt x="0" y="77248"/>
                </a:cubicBezTo>
                <a:lnTo>
                  <a:pt x="0" y="110355"/>
                </a:lnTo>
                <a:cubicBezTo>
                  <a:pt x="0" y="116459"/>
                  <a:pt x="4931" y="121390"/>
                  <a:pt x="11035" y="121390"/>
                </a:cubicBezTo>
                <a:cubicBezTo>
                  <a:pt x="17139" y="121390"/>
                  <a:pt x="22071" y="116459"/>
                  <a:pt x="22071" y="110355"/>
                </a:cubicBezTo>
                <a:lnTo>
                  <a:pt x="22071" y="77248"/>
                </a:lnTo>
                <a:close/>
                <a:moveTo>
                  <a:pt x="209674" y="66213"/>
                </a:moveTo>
                <a:cubicBezTo>
                  <a:pt x="203570" y="66213"/>
                  <a:pt x="198639" y="71144"/>
                  <a:pt x="198639" y="77248"/>
                </a:cubicBezTo>
                <a:lnTo>
                  <a:pt x="198639" y="110355"/>
                </a:lnTo>
                <a:cubicBezTo>
                  <a:pt x="198639" y="116459"/>
                  <a:pt x="203570" y="121390"/>
                  <a:pt x="209674" y="121390"/>
                </a:cubicBezTo>
                <a:cubicBezTo>
                  <a:pt x="215778" y="121390"/>
                  <a:pt x="220710" y="116459"/>
                  <a:pt x="220710" y="110355"/>
                </a:cubicBezTo>
                <a:lnTo>
                  <a:pt x="220710" y="77248"/>
                </a:lnTo>
                <a:cubicBezTo>
                  <a:pt x="220710" y="71144"/>
                  <a:pt x="215778" y="66213"/>
                  <a:pt x="209674" y="6621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2285551" y="1638549"/>
            <a:ext cx="1484935" cy="2867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1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HuggingFace</a:t>
            </a:r>
            <a:endParaRPr lang="en-US" sz="1856" dirty="0"/>
          </a:p>
        </p:txBody>
      </p:sp>
      <p:sp>
        <p:nvSpPr>
          <p:cNvPr id="10" name="Text 8"/>
          <p:cNvSpPr/>
          <p:nvPr/>
        </p:nvSpPr>
        <p:spPr>
          <a:xfrm>
            <a:off x="2285551" y="1925294"/>
            <a:ext cx="1464452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Transformers库</a:t>
            </a:r>
            <a:endParaRPr lang="en-US" sz="1856" dirty="0"/>
          </a:p>
        </p:txBody>
      </p:sp>
      <p:sp>
        <p:nvSpPr>
          <p:cNvPr id="11" name="Shape 9"/>
          <p:cNvSpPr/>
          <p:nvPr/>
        </p:nvSpPr>
        <p:spPr>
          <a:xfrm>
            <a:off x="1691578" y="2334932"/>
            <a:ext cx="3871071" cy="2140354"/>
          </a:xfrm>
          <a:custGeom>
            <a:avLst/>
            <a:gdLst/>
            <a:ahLst/>
            <a:cxnLst/>
            <a:rect l="l" t="t" r="r" b="b"/>
            <a:pathLst>
              <a:path w="3337130" h="1845133">
                <a:moveTo>
                  <a:pt x="35314" y="0"/>
                </a:moveTo>
                <a:lnTo>
                  <a:pt x="3266498" y="0"/>
                </a:lnTo>
                <a:cubicBezTo>
                  <a:pt x="3305507" y="0"/>
                  <a:pt x="3337130" y="31623"/>
                  <a:pt x="3337130" y="70632"/>
                </a:cubicBezTo>
                <a:lnTo>
                  <a:pt x="3337130" y="1774501"/>
                </a:lnTo>
                <a:cubicBezTo>
                  <a:pt x="3337130" y="1813510"/>
                  <a:pt x="3305507" y="1845133"/>
                  <a:pt x="3266498" y="1845133"/>
                </a:cubicBezTo>
                <a:lnTo>
                  <a:pt x="35314" y="1845133"/>
                </a:lnTo>
                <a:cubicBezTo>
                  <a:pt x="15810" y="1845133"/>
                  <a:pt x="0" y="1829322"/>
                  <a:pt x="0" y="1809819"/>
                </a:cubicBezTo>
                <a:lnTo>
                  <a:pt x="0" y="35314"/>
                </a:lnTo>
                <a:cubicBezTo>
                  <a:pt x="0" y="15823"/>
                  <a:pt x="15823" y="0"/>
                  <a:pt x="3531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1691578" y="2334932"/>
            <a:ext cx="40964" cy="2140354"/>
          </a:xfrm>
          <a:custGeom>
            <a:avLst/>
            <a:gdLst/>
            <a:ahLst/>
            <a:cxnLst/>
            <a:rect l="l" t="t" r="r" b="b"/>
            <a:pathLst>
              <a:path w="35314" h="1845133">
                <a:moveTo>
                  <a:pt x="35314" y="0"/>
                </a:moveTo>
                <a:lnTo>
                  <a:pt x="35314" y="0"/>
                </a:lnTo>
                <a:lnTo>
                  <a:pt x="35314" y="1845133"/>
                </a:lnTo>
                <a:lnTo>
                  <a:pt x="35314" y="1845133"/>
                </a:lnTo>
                <a:cubicBezTo>
                  <a:pt x="15810" y="1845133"/>
                  <a:pt x="0" y="1829322"/>
                  <a:pt x="0" y="1809819"/>
                </a:cubicBez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FFD21E"/>
          </a:solidFill>
        </p:spPr>
      </p:sp>
      <p:sp>
        <p:nvSpPr>
          <p:cNvPr id="13" name="Text 11"/>
          <p:cNvSpPr/>
          <p:nvPr/>
        </p:nvSpPr>
        <p:spPr>
          <a:xfrm>
            <a:off x="1875914" y="2498786"/>
            <a:ext cx="3604807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迁移流程</a:t>
            </a:r>
            <a:endParaRPr lang="en-US" sz="1856" dirty="0"/>
          </a:p>
        </p:txBody>
      </p:sp>
      <p:sp>
        <p:nvSpPr>
          <p:cNvPr id="14" name="Text 12"/>
          <p:cNvSpPr/>
          <p:nvPr/>
        </p:nvSpPr>
        <p:spPr>
          <a:xfrm>
            <a:off x="1875914" y="2826495"/>
            <a:ext cx="215059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1.</a:t>
            </a:r>
            <a:endParaRPr lang="en-US" sz="1856" dirty="0"/>
          </a:p>
        </p:txBody>
      </p:sp>
      <p:sp>
        <p:nvSpPr>
          <p:cNvPr id="15" name="Text 13"/>
          <p:cNvSpPr/>
          <p:nvPr/>
        </p:nvSpPr>
        <p:spPr>
          <a:xfrm>
            <a:off x="2089134" y="2826495"/>
            <a:ext cx="3399988" cy="5018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加载模型权重：</a:t>
            </a:r>
            <a:r>
              <a:rPr lang="en-US" sz="1131" dirty="0">
                <a:solidFill>
                  <a:srgbClr val="7F7F7F"/>
                </a:solidFill>
                <a:highlight>
                  <a:srgbClr val="F8F8F8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AutoModel.from_pretrained()</a:t>
            </a:r>
            <a:endParaRPr lang="en-US" sz="1856" dirty="0"/>
          </a:p>
        </p:txBody>
      </p:sp>
      <p:sp>
        <p:nvSpPr>
          <p:cNvPr id="16" name="Text 14"/>
          <p:cNvSpPr/>
          <p:nvPr/>
        </p:nvSpPr>
        <p:spPr>
          <a:xfrm>
            <a:off x="1875914" y="3405108"/>
            <a:ext cx="235541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2.</a:t>
            </a:r>
            <a:endParaRPr lang="en-US" sz="1856" dirty="0"/>
          </a:p>
        </p:txBody>
      </p:sp>
      <p:sp>
        <p:nvSpPr>
          <p:cNvPr id="17" name="Text 15"/>
          <p:cNvSpPr/>
          <p:nvPr/>
        </p:nvSpPr>
        <p:spPr>
          <a:xfrm>
            <a:off x="2110095" y="3405108"/>
            <a:ext cx="2765050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解析config.json，提取模型结构参数</a:t>
            </a:r>
            <a:endParaRPr lang="en-US" sz="1856" dirty="0"/>
          </a:p>
        </p:txBody>
      </p:sp>
      <p:sp>
        <p:nvSpPr>
          <p:cNvPr id="18" name="Text 16"/>
          <p:cNvSpPr/>
          <p:nvPr/>
        </p:nvSpPr>
        <p:spPr>
          <a:xfrm>
            <a:off x="1875914" y="3732817"/>
            <a:ext cx="235541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3.</a:t>
            </a:r>
            <a:endParaRPr lang="en-US" sz="1856" dirty="0"/>
          </a:p>
        </p:txBody>
      </p:sp>
      <p:sp>
        <p:nvSpPr>
          <p:cNvPr id="19" name="Text 17"/>
          <p:cNvSpPr/>
          <p:nvPr/>
        </p:nvSpPr>
        <p:spPr>
          <a:xfrm>
            <a:off x="2109935" y="3732817"/>
            <a:ext cx="2375895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适配NPU算子接口</a:t>
            </a:r>
            <a:endParaRPr lang="en-US" sz="1856" dirty="0"/>
          </a:p>
        </p:txBody>
      </p:sp>
      <p:sp>
        <p:nvSpPr>
          <p:cNvPr id="20" name="Text 18"/>
          <p:cNvSpPr/>
          <p:nvPr/>
        </p:nvSpPr>
        <p:spPr>
          <a:xfrm>
            <a:off x="1875914" y="4060528"/>
            <a:ext cx="235541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4.</a:t>
            </a:r>
            <a:endParaRPr lang="en-US" sz="1856" dirty="0"/>
          </a:p>
        </p:txBody>
      </p:sp>
      <p:sp>
        <p:nvSpPr>
          <p:cNvPr id="21" name="Text 19"/>
          <p:cNvSpPr/>
          <p:nvPr/>
        </p:nvSpPr>
        <p:spPr>
          <a:xfrm>
            <a:off x="2109935" y="4060528"/>
            <a:ext cx="1556621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权重转换与精度验证</a:t>
            </a:r>
            <a:endParaRPr lang="en-US" sz="1856" dirty="0"/>
          </a:p>
        </p:txBody>
      </p:sp>
      <p:sp>
        <p:nvSpPr>
          <p:cNvPr id="22" name="Shape 20"/>
          <p:cNvSpPr/>
          <p:nvPr/>
        </p:nvSpPr>
        <p:spPr>
          <a:xfrm>
            <a:off x="1691578" y="4593056"/>
            <a:ext cx="3871071" cy="1228911"/>
          </a:xfrm>
          <a:custGeom>
            <a:avLst/>
            <a:gdLst/>
            <a:ahLst/>
            <a:cxnLst/>
            <a:rect l="l" t="t" r="r" b="b"/>
            <a:pathLst>
              <a:path w="3337130" h="1059406">
                <a:moveTo>
                  <a:pt x="35314" y="0"/>
                </a:moveTo>
                <a:lnTo>
                  <a:pt x="3266499" y="0"/>
                </a:lnTo>
                <a:cubicBezTo>
                  <a:pt x="3305507" y="0"/>
                  <a:pt x="3337130" y="31622"/>
                  <a:pt x="3337130" y="70631"/>
                </a:cubicBezTo>
                <a:lnTo>
                  <a:pt x="3337130" y="988776"/>
                </a:lnTo>
                <a:cubicBezTo>
                  <a:pt x="3337130" y="1027784"/>
                  <a:pt x="3305507" y="1059406"/>
                  <a:pt x="3266499" y="1059406"/>
                </a:cubicBezTo>
                <a:lnTo>
                  <a:pt x="35314" y="1059406"/>
                </a:lnTo>
                <a:cubicBezTo>
                  <a:pt x="15810" y="1059406"/>
                  <a:pt x="0" y="1043596"/>
                  <a:pt x="0" y="1024093"/>
                </a:cubicBez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1691578" y="4593056"/>
            <a:ext cx="40964" cy="1228911"/>
          </a:xfrm>
          <a:custGeom>
            <a:avLst/>
            <a:gdLst/>
            <a:ahLst/>
            <a:cxnLst/>
            <a:rect l="l" t="t" r="r" b="b"/>
            <a:pathLst>
              <a:path w="35314" h="1059406">
                <a:moveTo>
                  <a:pt x="35314" y="0"/>
                </a:moveTo>
                <a:lnTo>
                  <a:pt x="35314" y="0"/>
                </a:lnTo>
                <a:lnTo>
                  <a:pt x="35314" y="1059406"/>
                </a:lnTo>
                <a:lnTo>
                  <a:pt x="35314" y="1059406"/>
                </a:lnTo>
                <a:cubicBezTo>
                  <a:pt x="15810" y="1059406"/>
                  <a:pt x="0" y="1043596"/>
                  <a:pt x="0" y="1024093"/>
                </a:cubicBez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FFD21E"/>
          </a:solidFill>
        </p:spPr>
      </p:sp>
      <p:sp>
        <p:nvSpPr>
          <p:cNvPr id="24" name="Text 22"/>
          <p:cNvSpPr/>
          <p:nvPr/>
        </p:nvSpPr>
        <p:spPr>
          <a:xfrm>
            <a:off x="1875914" y="4756911"/>
            <a:ext cx="3604807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优势与挑战</a:t>
            </a:r>
            <a:endParaRPr lang="en-US" sz="1856" dirty="0"/>
          </a:p>
        </p:txBody>
      </p:sp>
      <p:sp>
        <p:nvSpPr>
          <p:cNvPr id="25" name="Shape 23"/>
          <p:cNvSpPr/>
          <p:nvPr/>
        </p:nvSpPr>
        <p:spPr>
          <a:xfrm>
            <a:off x="1896396" y="5125584"/>
            <a:ext cx="163855" cy="163855"/>
          </a:xfrm>
          <a:custGeom>
            <a:avLst/>
            <a:gdLst/>
            <a:ahLst/>
            <a:cxnLst/>
            <a:rect l="l" t="t" r="r" b="b"/>
            <a:pathLst>
              <a:path w="141254" h="141254">
                <a:moveTo>
                  <a:pt x="70627" y="141254"/>
                </a:moveTo>
                <a:cubicBezTo>
                  <a:pt x="109607" y="141254"/>
                  <a:pt x="141254" y="109607"/>
                  <a:pt x="141254" y="70627"/>
                </a:cubicBezTo>
                <a:cubicBezTo>
                  <a:pt x="141254" y="31647"/>
                  <a:pt x="109607" y="0"/>
                  <a:pt x="70627" y="0"/>
                </a:cubicBezTo>
                <a:cubicBezTo>
                  <a:pt x="31647" y="0"/>
                  <a:pt x="0" y="31647"/>
                  <a:pt x="0" y="70627"/>
                </a:cubicBezTo>
                <a:cubicBezTo>
                  <a:pt x="0" y="109607"/>
                  <a:pt x="31647" y="141254"/>
                  <a:pt x="70627" y="141254"/>
                </a:cubicBezTo>
                <a:close/>
                <a:moveTo>
                  <a:pt x="64006" y="94905"/>
                </a:moveTo>
                <a:lnTo>
                  <a:pt x="64006" y="77248"/>
                </a:lnTo>
                <a:lnTo>
                  <a:pt x="46349" y="77248"/>
                </a:lnTo>
                <a:cubicBezTo>
                  <a:pt x="42680" y="77248"/>
                  <a:pt x="39728" y="74296"/>
                  <a:pt x="39728" y="70627"/>
                </a:cubicBezTo>
                <a:cubicBezTo>
                  <a:pt x="39728" y="66958"/>
                  <a:pt x="42680" y="64006"/>
                  <a:pt x="46349" y="64006"/>
                </a:cubicBezTo>
                <a:lnTo>
                  <a:pt x="64006" y="64006"/>
                </a:lnTo>
                <a:lnTo>
                  <a:pt x="64006" y="46349"/>
                </a:lnTo>
                <a:cubicBezTo>
                  <a:pt x="64006" y="42680"/>
                  <a:pt x="66958" y="39728"/>
                  <a:pt x="70627" y="39728"/>
                </a:cubicBezTo>
                <a:cubicBezTo>
                  <a:pt x="74296" y="39728"/>
                  <a:pt x="77248" y="42680"/>
                  <a:pt x="77248" y="46349"/>
                </a:cubicBezTo>
                <a:lnTo>
                  <a:pt x="77248" y="64006"/>
                </a:lnTo>
                <a:lnTo>
                  <a:pt x="94905" y="64006"/>
                </a:lnTo>
                <a:cubicBezTo>
                  <a:pt x="98574" y="64006"/>
                  <a:pt x="101526" y="66958"/>
                  <a:pt x="101526" y="70627"/>
                </a:cubicBezTo>
                <a:cubicBezTo>
                  <a:pt x="101526" y="74296"/>
                  <a:pt x="98574" y="77248"/>
                  <a:pt x="94905" y="77248"/>
                </a:cubicBezTo>
                <a:lnTo>
                  <a:pt x="77248" y="77248"/>
                </a:lnTo>
                <a:lnTo>
                  <a:pt x="77248" y="94905"/>
                </a:lnTo>
                <a:cubicBezTo>
                  <a:pt x="77248" y="98574"/>
                  <a:pt x="74296" y="101526"/>
                  <a:pt x="70627" y="101526"/>
                </a:cubicBezTo>
                <a:cubicBezTo>
                  <a:pt x="66958" y="101526"/>
                  <a:pt x="64006" y="98574"/>
                  <a:pt x="64006" y="94905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6" name="Text 24"/>
          <p:cNvSpPr/>
          <p:nvPr/>
        </p:nvSpPr>
        <p:spPr>
          <a:xfrm>
            <a:off x="2162661" y="5084620"/>
            <a:ext cx="2539750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优势：</a:t>
            </a: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模型生态最丰富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，运行简单</a:t>
            </a:r>
            <a:endParaRPr lang="zh-CN" altLang="en-US" sz="1288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896396" y="5453293"/>
            <a:ext cx="163855" cy="163855"/>
          </a:xfrm>
          <a:custGeom>
            <a:avLst/>
            <a:gdLst/>
            <a:ahLst/>
            <a:cxnLst/>
            <a:rect l="l" t="t" r="r" b="b"/>
            <a:pathLst>
              <a:path w="141254" h="141254">
                <a:moveTo>
                  <a:pt x="70627" y="141254"/>
                </a:moveTo>
                <a:cubicBezTo>
                  <a:pt x="109607" y="141254"/>
                  <a:pt x="141254" y="109607"/>
                  <a:pt x="141254" y="70627"/>
                </a:cubicBezTo>
                <a:cubicBezTo>
                  <a:pt x="141254" y="31647"/>
                  <a:pt x="109607" y="0"/>
                  <a:pt x="70627" y="0"/>
                </a:cubicBezTo>
                <a:cubicBezTo>
                  <a:pt x="31647" y="0"/>
                  <a:pt x="0" y="31647"/>
                  <a:pt x="0" y="70627"/>
                </a:cubicBezTo>
                <a:cubicBezTo>
                  <a:pt x="0" y="109607"/>
                  <a:pt x="31647" y="141254"/>
                  <a:pt x="70627" y="141254"/>
                </a:cubicBezTo>
                <a:close/>
                <a:moveTo>
                  <a:pt x="46349" y="64006"/>
                </a:moveTo>
                <a:lnTo>
                  <a:pt x="94905" y="64006"/>
                </a:lnTo>
                <a:cubicBezTo>
                  <a:pt x="98574" y="64006"/>
                  <a:pt x="101526" y="66958"/>
                  <a:pt x="101526" y="70627"/>
                </a:cubicBezTo>
                <a:cubicBezTo>
                  <a:pt x="101526" y="74296"/>
                  <a:pt x="98574" y="77248"/>
                  <a:pt x="94905" y="77248"/>
                </a:cubicBezTo>
                <a:lnTo>
                  <a:pt x="46349" y="77248"/>
                </a:lnTo>
                <a:cubicBezTo>
                  <a:pt x="42680" y="77248"/>
                  <a:pt x="39728" y="74296"/>
                  <a:pt x="39728" y="70627"/>
                </a:cubicBezTo>
                <a:cubicBezTo>
                  <a:pt x="39728" y="66958"/>
                  <a:pt x="42680" y="64006"/>
                  <a:pt x="46349" y="6400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8" name="Text 26"/>
          <p:cNvSpPr/>
          <p:nvPr/>
        </p:nvSpPr>
        <p:spPr>
          <a:xfrm>
            <a:off x="2162661" y="5412330"/>
            <a:ext cx="2703605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挑战：</a:t>
            </a: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推理性能非最优，需二次优化</a:t>
            </a:r>
            <a:endParaRPr lang="en-US" sz="1856" dirty="0"/>
          </a:p>
        </p:txBody>
      </p:sp>
      <p:sp>
        <p:nvSpPr>
          <p:cNvPr id="29" name="Shape 27"/>
          <p:cNvSpPr/>
          <p:nvPr/>
        </p:nvSpPr>
        <p:spPr>
          <a:xfrm>
            <a:off x="1671095" y="5944858"/>
            <a:ext cx="3891552" cy="491564"/>
          </a:xfrm>
          <a:custGeom>
            <a:avLst/>
            <a:gdLst/>
            <a:ahLst/>
            <a:cxnLst/>
            <a:rect l="l" t="t" r="r" b="b"/>
            <a:pathLst>
              <a:path w="3354786" h="423762">
                <a:moveTo>
                  <a:pt x="70628" y="0"/>
                </a:moveTo>
                <a:lnTo>
                  <a:pt x="3284158" y="0"/>
                </a:lnTo>
                <a:cubicBezTo>
                  <a:pt x="3323165" y="0"/>
                  <a:pt x="3354786" y="31621"/>
                  <a:pt x="3354786" y="70628"/>
                </a:cubicBezTo>
                <a:lnTo>
                  <a:pt x="3354786" y="353134"/>
                </a:lnTo>
                <a:cubicBezTo>
                  <a:pt x="3354786" y="392141"/>
                  <a:pt x="3323165" y="423762"/>
                  <a:pt x="3284158" y="423762"/>
                </a:cubicBezTo>
                <a:lnTo>
                  <a:pt x="70628" y="423762"/>
                </a:lnTo>
                <a:cubicBezTo>
                  <a:pt x="31621" y="423762"/>
                  <a:pt x="0" y="392141"/>
                  <a:pt x="0" y="353134"/>
                </a:cubicBezTo>
                <a:lnTo>
                  <a:pt x="0" y="70628"/>
                </a:lnTo>
                <a:cubicBezTo>
                  <a:pt x="0" y="31621"/>
                  <a:pt x="31621" y="0"/>
                  <a:pt x="70628" y="0"/>
                </a:cubicBezTo>
                <a:close/>
              </a:path>
            </a:pathLst>
          </a:custGeom>
          <a:solidFill>
            <a:srgbClr val="FFD21E">
              <a:alpha val="10196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1793987" y="6067749"/>
            <a:ext cx="3727697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适用场景：</a:t>
            </a:r>
            <a:r>
              <a:rPr lang="en-US" sz="1288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快速原型验证、模型调研阶段</a:t>
            </a:r>
            <a:endParaRPr lang="en-US" sz="1856" dirty="0"/>
          </a:p>
        </p:txBody>
      </p:sp>
      <p:sp>
        <p:nvSpPr>
          <p:cNvPr id="31" name="Shape 29"/>
          <p:cNvSpPr/>
          <p:nvPr/>
        </p:nvSpPr>
        <p:spPr>
          <a:xfrm>
            <a:off x="5976765" y="1433730"/>
            <a:ext cx="4301190" cy="5540341"/>
          </a:xfrm>
          <a:custGeom>
            <a:avLst/>
            <a:gdLst/>
            <a:ahLst/>
            <a:cxnLst/>
            <a:rect l="l" t="t" r="r" b="b"/>
            <a:pathLst>
              <a:path w="3707922" h="4776156">
                <a:moveTo>
                  <a:pt x="70636" y="0"/>
                </a:moveTo>
                <a:lnTo>
                  <a:pt x="3637286" y="0"/>
                </a:lnTo>
                <a:cubicBezTo>
                  <a:pt x="3676297" y="0"/>
                  <a:pt x="3707922" y="31625"/>
                  <a:pt x="3707922" y="70636"/>
                </a:cubicBezTo>
                <a:lnTo>
                  <a:pt x="3707922" y="4705520"/>
                </a:lnTo>
                <a:cubicBezTo>
                  <a:pt x="3707922" y="4744532"/>
                  <a:pt x="3676297" y="4776156"/>
                  <a:pt x="3637286" y="4776156"/>
                </a:cubicBezTo>
                <a:lnTo>
                  <a:pt x="70636" y="4776156"/>
                </a:lnTo>
                <a:cubicBezTo>
                  <a:pt x="31625" y="4776156"/>
                  <a:pt x="0" y="4744532"/>
                  <a:pt x="0" y="4705520"/>
                </a:cubicBezTo>
                <a:lnTo>
                  <a:pt x="0" y="70636"/>
                </a:lnTo>
                <a:cubicBezTo>
                  <a:pt x="0" y="31651"/>
                  <a:pt x="31651" y="0"/>
                  <a:pt x="70636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32" name="Shape 30"/>
          <p:cNvSpPr/>
          <p:nvPr/>
        </p:nvSpPr>
        <p:spPr>
          <a:xfrm>
            <a:off x="6181584" y="1659030"/>
            <a:ext cx="491564" cy="491564"/>
          </a:xfrm>
          <a:custGeom>
            <a:avLst/>
            <a:gdLst/>
            <a:ahLst/>
            <a:cxnLst/>
            <a:rect l="l" t="t" r="r" b="b"/>
            <a:pathLst>
              <a:path w="423762" h="423762">
                <a:moveTo>
                  <a:pt x="70628" y="0"/>
                </a:moveTo>
                <a:lnTo>
                  <a:pt x="353134" y="0"/>
                </a:lnTo>
                <a:cubicBezTo>
                  <a:pt x="392141" y="0"/>
                  <a:pt x="423762" y="31621"/>
                  <a:pt x="423762" y="70628"/>
                </a:cubicBezTo>
                <a:lnTo>
                  <a:pt x="423762" y="353134"/>
                </a:lnTo>
                <a:cubicBezTo>
                  <a:pt x="423762" y="392141"/>
                  <a:pt x="392141" y="423762"/>
                  <a:pt x="353134" y="423762"/>
                </a:cubicBezTo>
                <a:lnTo>
                  <a:pt x="70628" y="423762"/>
                </a:lnTo>
                <a:cubicBezTo>
                  <a:pt x="31621" y="423762"/>
                  <a:pt x="0" y="392141"/>
                  <a:pt x="0" y="353134"/>
                </a:cubicBezTo>
                <a:lnTo>
                  <a:pt x="0" y="70628"/>
                </a:lnTo>
                <a:cubicBezTo>
                  <a:pt x="0" y="31621"/>
                  <a:pt x="31621" y="0"/>
                  <a:pt x="70628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3" name="Shape 31"/>
          <p:cNvSpPr/>
          <p:nvPr/>
        </p:nvSpPr>
        <p:spPr>
          <a:xfrm>
            <a:off x="6337758" y="1802403"/>
            <a:ext cx="179217" cy="204819"/>
          </a:xfrm>
          <a:custGeom>
            <a:avLst/>
            <a:gdLst/>
            <a:ahLst/>
            <a:cxnLst/>
            <a:rect l="l" t="t" r="r" b="b"/>
            <a:pathLst>
              <a:path w="154497" h="176568">
                <a:moveTo>
                  <a:pt x="116838" y="-3414"/>
                </a:moveTo>
                <a:cubicBezTo>
                  <a:pt x="120942" y="-448"/>
                  <a:pt x="122459" y="4931"/>
                  <a:pt x="120597" y="9622"/>
                </a:cubicBezTo>
                <a:lnTo>
                  <a:pt x="93560" y="77248"/>
                </a:lnTo>
                <a:lnTo>
                  <a:pt x="143461" y="77248"/>
                </a:lnTo>
                <a:cubicBezTo>
                  <a:pt x="148117" y="77248"/>
                  <a:pt x="152255" y="80145"/>
                  <a:pt x="153842" y="84525"/>
                </a:cubicBezTo>
                <a:cubicBezTo>
                  <a:pt x="155428" y="88905"/>
                  <a:pt x="154083" y="93802"/>
                  <a:pt x="150531" y="96767"/>
                </a:cubicBezTo>
                <a:lnTo>
                  <a:pt x="51212" y="179533"/>
                </a:lnTo>
                <a:cubicBezTo>
                  <a:pt x="47315" y="182775"/>
                  <a:pt x="41762" y="182948"/>
                  <a:pt x="37659" y="179982"/>
                </a:cubicBezTo>
                <a:cubicBezTo>
                  <a:pt x="33555" y="177016"/>
                  <a:pt x="32037" y="171636"/>
                  <a:pt x="33900" y="166946"/>
                </a:cubicBezTo>
                <a:lnTo>
                  <a:pt x="60937" y="99319"/>
                </a:lnTo>
                <a:lnTo>
                  <a:pt x="11035" y="99319"/>
                </a:lnTo>
                <a:cubicBezTo>
                  <a:pt x="6380" y="99319"/>
                  <a:pt x="2242" y="96423"/>
                  <a:pt x="655" y="92043"/>
                </a:cubicBezTo>
                <a:cubicBezTo>
                  <a:pt x="-931" y="87663"/>
                  <a:pt x="414" y="82766"/>
                  <a:pt x="3966" y="79800"/>
                </a:cubicBezTo>
                <a:lnTo>
                  <a:pt x="103285" y="-2966"/>
                </a:lnTo>
                <a:cubicBezTo>
                  <a:pt x="107182" y="-6207"/>
                  <a:pt x="112734" y="-6380"/>
                  <a:pt x="116838" y="-341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6796039" y="1638549"/>
            <a:ext cx="1249393" cy="2867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1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vLLM</a:t>
            </a:r>
            <a:endParaRPr lang="en-US" sz="1856" dirty="0"/>
          </a:p>
        </p:txBody>
      </p:sp>
      <p:sp>
        <p:nvSpPr>
          <p:cNvPr id="35" name="Text 33"/>
          <p:cNvSpPr/>
          <p:nvPr/>
        </p:nvSpPr>
        <p:spPr>
          <a:xfrm>
            <a:off x="6796039" y="1925294"/>
            <a:ext cx="1228911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高性能推理引擎</a:t>
            </a:r>
            <a:endParaRPr lang="en-US" sz="1856" dirty="0"/>
          </a:p>
        </p:txBody>
      </p:sp>
      <p:sp>
        <p:nvSpPr>
          <p:cNvPr id="36" name="Shape 34"/>
          <p:cNvSpPr/>
          <p:nvPr/>
        </p:nvSpPr>
        <p:spPr>
          <a:xfrm>
            <a:off x="6202066" y="2334932"/>
            <a:ext cx="3871071" cy="2140354"/>
          </a:xfrm>
          <a:custGeom>
            <a:avLst/>
            <a:gdLst/>
            <a:ahLst/>
            <a:cxnLst/>
            <a:rect l="l" t="t" r="r" b="b"/>
            <a:pathLst>
              <a:path w="3337130" h="1845133">
                <a:moveTo>
                  <a:pt x="35314" y="0"/>
                </a:moveTo>
                <a:lnTo>
                  <a:pt x="3266498" y="0"/>
                </a:lnTo>
                <a:cubicBezTo>
                  <a:pt x="3305507" y="0"/>
                  <a:pt x="3337130" y="31623"/>
                  <a:pt x="3337130" y="70632"/>
                </a:cubicBezTo>
                <a:lnTo>
                  <a:pt x="3337130" y="1774501"/>
                </a:lnTo>
                <a:cubicBezTo>
                  <a:pt x="3337130" y="1813510"/>
                  <a:pt x="3305507" y="1845133"/>
                  <a:pt x="3266498" y="1845133"/>
                </a:cubicBezTo>
                <a:lnTo>
                  <a:pt x="35314" y="1845133"/>
                </a:lnTo>
                <a:cubicBezTo>
                  <a:pt x="15810" y="1845133"/>
                  <a:pt x="0" y="1829322"/>
                  <a:pt x="0" y="1809819"/>
                </a:cubicBezTo>
                <a:lnTo>
                  <a:pt x="0" y="35314"/>
                </a:lnTo>
                <a:cubicBezTo>
                  <a:pt x="0" y="15823"/>
                  <a:pt x="15823" y="0"/>
                  <a:pt x="3531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7" name="Shape 35"/>
          <p:cNvSpPr/>
          <p:nvPr/>
        </p:nvSpPr>
        <p:spPr>
          <a:xfrm>
            <a:off x="6202066" y="2334932"/>
            <a:ext cx="40964" cy="2140354"/>
          </a:xfrm>
          <a:custGeom>
            <a:avLst/>
            <a:gdLst/>
            <a:ahLst/>
            <a:cxnLst/>
            <a:rect l="l" t="t" r="r" b="b"/>
            <a:pathLst>
              <a:path w="35314" h="1845133">
                <a:moveTo>
                  <a:pt x="35314" y="0"/>
                </a:moveTo>
                <a:lnTo>
                  <a:pt x="35314" y="0"/>
                </a:lnTo>
                <a:lnTo>
                  <a:pt x="35314" y="1845133"/>
                </a:lnTo>
                <a:lnTo>
                  <a:pt x="35314" y="1845133"/>
                </a:lnTo>
                <a:cubicBezTo>
                  <a:pt x="15810" y="1845133"/>
                  <a:pt x="0" y="1829322"/>
                  <a:pt x="0" y="1809819"/>
                </a:cubicBez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8" name="Text 36"/>
          <p:cNvSpPr/>
          <p:nvPr/>
        </p:nvSpPr>
        <p:spPr>
          <a:xfrm>
            <a:off x="6386403" y="2498786"/>
            <a:ext cx="3604807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迁移流程</a:t>
            </a:r>
            <a:endParaRPr lang="en-US" sz="1856" dirty="0"/>
          </a:p>
        </p:txBody>
      </p:sp>
      <p:sp>
        <p:nvSpPr>
          <p:cNvPr id="39" name="Text 37"/>
          <p:cNvSpPr/>
          <p:nvPr/>
        </p:nvSpPr>
        <p:spPr>
          <a:xfrm>
            <a:off x="6386403" y="2826495"/>
            <a:ext cx="215059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1.</a:t>
            </a:r>
            <a:endParaRPr lang="en-US" sz="1856" dirty="0"/>
          </a:p>
        </p:txBody>
      </p:sp>
      <p:sp>
        <p:nvSpPr>
          <p:cNvPr id="40" name="Text 38"/>
          <p:cNvSpPr/>
          <p:nvPr/>
        </p:nvSpPr>
        <p:spPr>
          <a:xfrm>
            <a:off x="6599621" y="2826495"/>
            <a:ext cx="3399988" cy="5018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学习vLLM模型实现（</a:t>
            </a:r>
            <a:r>
              <a:rPr lang="en-US" sz="1131" dirty="0">
                <a:solidFill>
                  <a:srgbClr val="7F7F7F"/>
                </a:solidFill>
                <a:highlight>
                  <a:srgbClr val="F8F8F8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vllm/model_executor/models/ </a:t>
            </a: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）</a:t>
            </a:r>
            <a:endParaRPr lang="en-US" sz="1856" dirty="0"/>
          </a:p>
        </p:txBody>
      </p:sp>
      <p:sp>
        <p:nvSpPr>
          <p:cNvPr id="41" name="Text 39"/>
          <p:cNvSpPr/>
          <p:nvPr/>
        </p:nvSpPr>
        <p:spPr>
          <a:xfrm>
            <a:off x="6386403" y="3405108"/>
            <a:ext cx="235541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2.</a:t>
            </a:r>
            <a:endParaRPr lang="en-US" sz="1856" dirty="0"/>
          </a:p>
        </p:txBody>
      </p:sp>
      <p:sp>
        <p:nvSpPr>
          <p:cNvPr id="42" name="Text 40"/>
          <p:cNvSpPr/>
          <p:nvPr/>
        </p:nvSpPr>
        <p:spPr>
          <a:xfrm>
            <a:off x="6620583" y="3405108"/>
            <a:ext cx="2304209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理解PagedAttention集成方式</a:t>
            </a:r>
            <a:endParaRPr lang="en-US" sz="1856" dirty="0"/>
          </a:p>
        </p:txBody>
      </p:sp>
      <p:sp>
        <p:nvSpPr>
          <p:cNvPr id="43" name="Text 41"/>
          <p:cNvSpPr/>
          <p:nvPr/>
        </p:nvSpPr>
        <p:spPr>
          <a:xfrm>
            <a:off x="6386403" y="3732817"/>
            <a:ext cx="235541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3.</a:t>
            </a:r>
            <a:endParaRPr lang="en-US" sz="1856" dirty="0"/>
          </a:p>
        </p:txBody>
      </p:sp>
      <p:sp>
        <p:nvSpPr>
          <p:cNvPr id="44" name="Text 42"/>
          <p:cNvSpPr/>
          <p:nvPr/>
        </p:nvSpPr>
        <p:spPr>
          <a:xfrm>
            <a:off x="6620423" y="3732817"/>
            <a:ext cx="1884331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复用调度策略和内存管理</a:t>
            </a:r>
            <a:endParaRPr lang="en-US" sz="1856" dirty="0"/>
          </a:p>
        </p:txBody>
      </p:sp>
      <p:sp>
        <p:nvSpPr>
          <p:cNvPr id="45" name="Text 43"/>
          <p:cNvSpPr/>
          <p:nvPr/>
        </p:nvSpPr>
        <p:spPr>
          <a:xfrm>
            <a:off x="6386403" y="4060528"/>
            <a:ext cx="235541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4.</a:t>
            </a:r>
            <a:endParaRPr lang="en-US" sz="1856" dirty="0"/>
          </a:p>
        </p:txBody>
      </p:sp>
      <p:sp>
        <p:nvSpPr>
          <p:cNvPr id="46" name="Text 44"/>
          <p:cNvSpPr/>
          <p:nvPr/>
        </p:nvSpPr>
        <p:spPr>
          <a:xfrm>
            <a:off x="6620423" y="4060528"/>
            <a:ext cx="1720476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适配NPU算子或后端</a:t>
            </a:r>
            <a:endParaRPr lang="en-US" sz="1856" dirty="0"/>
          </a:p>
        </p:txBody>
      </p:sp>
      <p:sp>
        <p:nvSpPr>
          <p:cNvPr id="47" name="Shape 45"/>
          <p:cNvSpPr/>
          <p:nvPr/>
        </p:nvSpPr>
        <p:spPr>
          <a:xfrm>
            <a:off x="6202066" y="4593056"/>
            <a:ext cx="3871071" cy="1556621"/>
          </a:xfrm>
          <a:custGeom>
            <a:avLst/>
            <a:gdLst/>
            <a:ahLst/>
            <a:cxnLst/>
            <a:rect l="l" t="t" r="r" b="b"/>
            <a:pathLst>
              <a:path w="3337130" h="1341915">
                <a:moveTo>
                  <a:pt x="35314" y="0"/>
                </a:moveTo>
                <a:lnTo>
                  <a:pt x="3266505" y="0"/>
                </a:lnTo>
                <a:cubicBezTo>
                  <a:pt x="3305510" y="0"/>
                  <a:pt x="3337130" y="31620"/>
                  <a:pt x="3337130" y="70625"/>
                </a:cubicBezTo>
                <a:lnTo>
                  <a:pt x="3337130" y="1271290"/>
                </a:lnTo>
                <a:cubicBezTo>
                  <a:pt x="3337130" y="1310295"/>
                  <a:pt x="3305510" y="1341915"/>
                  <a:pt x="3266505" y="1341915"/>
                </a:cubicBezTo>
                <a:lnTo>
                  <a:pt x="35314" y="1341915"/>
                </a:lnTo>
                <a:cubicBezTo>
                  <a:pt x="15810" y="1341915"/>
                  <a:pt x="0" y="1326104"/>
                  <a:pt x="0" y="1306601"/>
                </a:cubicBezTo>
                <a:lnTo>
                  <a:pt x="0" y="35314"/>
                </a:lnTo>
                <a:cubicBezTo>
                  <a:pt x="0" y="15823"/>
                  <a:pt x="15823" y="0"/>
                  <a:pt x="3531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8" name="Shape 46"/>
          <p:cNvSpPr/>
          <p:nvPr/>
        </p:nvSpPr>
        <p:spPr>
          <a:xfrm>
            <a:off x="6202066" y="4593056"/>
            <a:ext cx="40964" cy="1556621"/>
          </a:xfrm>
          <a:custGeom>
            <a:avLst/>
            <a:gdLst/>
            <a:ahLst/>
            <a:cxnLst/>
            <a:rect l="l" t="t" r="r" b="b"/>
            <a:pathLst>
              <a:path w="35314" h="1341915">
                <a:moveTo>
                  <a:pt x="35314" y="0"/>
                </a:moveTo>
                <a:lnTo>
                  <a:pt x="35314" y="0"/>
                </a:lnTo>
                <a:lnTo>
                  <a:pt x="35314" y="1341915"/>
                </a:lnTo>
                <a:lnTo>
                  <a:pt x="35314" y="1341915"/>
                </a:lnTo>
                <a:cubicBezTo>
                  <a:pt x="15810" y="1341915"/>
                  <a:pt x="0" y="1326104"/>
                  <a:pt x="0" y="1306601"/>
                </a:cubicBez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9" name="Text 47"/>
          <p:cNvSpPr/>
          <p:nvPr/>
        </p:nvSpPr>
        <p:spPr>
          <a:xfrm>
            <a:off x="6386403" y="4756911"/>
            <a:ext cx="3604807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优势与挑战</a:t>
            </a:r>
            <a:endParaRPr lang="en-US" sz="1856" dirty="0"/>
          </a:p>
        </p:txBody>
      </p:sp>
      <p:sp>
        <p:nvSpPr>
          <p:cNvPr id="50" name="Shape 48"/>
          <p:cNvSpPr/>
          <p:nvPr/>
        </p:nvSpPr>
        <p:spPr>
          <a:xfrm>
            <a:off x="6406885" y="5125584"/>
            <a:ext cx="163855" cy="163855"/>
          </a:xfrm>
          <a:custGeom>
            <a:avLst/>
            <a:gdLst/>
            <a:ahLst/>
            <a:cxnLst/>
            <a:rect l="l" t="t" r="r" b="b"/>
            <a:pathLst>
              <a:path w="141254" h="141254">
                <a:moveTo>
                  <a:pt x="70627" y="141254"/>
                </a:moveTo>
                <a:cubicBezTo>
                  <a:pt x="109607" y="141254"/>
                  <a:pt x="141254" y="109607"/>
                  <a:pt x="141254" y="70627"/>
                </a:cubicBezTo>
                <a:cubicBezTo>
                  <a:pt x="141254" y="31647"/>
                  <a:pt x="109607" y="0"/>
                  <a:pt x="70627" y="0"/>
                </a:cubicBezTo>
                <a:cubicBezTo>
                  <a:pt x="31647" y="0"/>
                  <a:pt x="0" y="31647"/>
                  <a:pt x="0" y="70627"/>
                </a:cubicBezTo>
                <a:cubicBezTo>
                  <a:pt x="0" y="109607"/>
                  <a:pt x="31647" y="141254"/>
                  <a:pt x="70627" y="141254"/>
                </a:cubicBezTo>
                <a:close/>
                <a:moveTo>
                  <a:pt x="64006" y="94905"/>
                </a:moveTo>
                <a:lnTo>
                  <a:pt x="64006" y="77248"/>
                </a:lnTo>
                <a:lnTo>
                  <a:pt x="46349" y="77248"/>
                </a:lnTo>
                <a:cubicBezTo>
                  <a:pt x="42680" y="77248"/>
                  <a:pt x="39728" y="74296"/>
                  <a:pt x="39728" y="70627"/>
                </a:cubicBezTo>
                <a:cubicBezTo>
                  <a:pt x="39728" y="66958"/>
                  <a:pt x="42680" y="64006"/>
                  <a:pt x="46349" y="64006"/>
                </a:cubicBezTo>
                <a:lnTo>
                  <a:pt x="64006" y="64006"/>
                </a:lnTo>
                <a:lnTo>
                  <a:pt x="64006" y="46349"/>
                </a:lnTo>
                <a:cubicBezTo>
                  <a:pt x="64006" y="42680"/>
                  <a:pt x="66958" y="39728"/>
                  <a:pt x="70627" y="39728"/>
                </a:cubicBezTo>
                <a:cubicBezTo>
                  <a:pt x="74296" y="39728"/>
                  <a:pt x="77248" y="42680"/>
                  <a:pt x="77248" y="46349"/>
                </a:cubicBezTo>
                <a:lnTo>
                  <a:pt x="77248" y="64006"/>
                </a:lnTo>
                <a:lnTo>
                  <a:pt x="94905" y="64006"/>
                </a:lnTo>
                <a:cubicBezTo>
                  <a:pt x="98574" y="64006"/>
                  <a:pt x="101526" y="66958"/>
                  <a:pt x="101526" y="70627"/>
                </a:cubicBezTo>
                <a:cubicBezTo>
                  <a:pt x="101526" y="74296"/>
                  <a:pt x="98574" y="77248"/>
                  <a:pt x="94905" y="77248"/>
                </a:cubicBezTo>
                <a:lnTo>
                  <a:pt x="77248" y="77248"/>
                </a:lnTo>
                <a:lnTo>
                  <a:pt x="77248" y="94905"/>
                </a:lnTo>
                <a:cubicBezTo>
                  <a:pt x="77248" y="98574"/>
                  <a:pt x="74296" y="101526"/>
                  <a:pt x="70627" y="101526"/>
                </a:cubicBezTo>
                <a:cubicBezTo>
                  <a:pt x="66958" y="101526"/>
                  <a:pt x="64006" y="98574"/>
                  <a:pt x="64006" y="94905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51" name="Text 49"/>
          <p:cNvSpPr/>
          <p:nvPr/>
        </p:nvSpPr>
        <p:spPr>
          <a:xfrm>
            <a:off x="6673149" y="5084620"/>
            <a:ext cx="2959627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优势：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推理优化齐全，性能较优</a:t>
            </a:r>
            <a:endParaRPr lang="zh-CN" altLang="en-US" sz="1288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406885" y="5445113"/>
            <a:ext cx="163855" cy="163855"/>
          </a:xfrm>
          <a:custGeom>
            <a:avLst/>
            <a:gdLst/>
            <a:ahLst/>
            <a:cxnLst/>
            <a:rect l="l" t="t" r="r" b="b"/>
            <a:pathLst>
              <a:path w="141254" h="141254">
                <a:moveTo>
                  <a:pt x="70627" y="141254"/>
                </a:moveTo>
                <a:cubicBezTo>
                  <a:pt x="109607" y="141254"/>
                  <a:pt x="141254" y="109607"/>
                  <a:pt x="141254" y="70627"/>
                </a:cubicBezTo>
                <a:cubicBezTo>
                  <a:pt x="141254" y="31647"/>
                  <a:pt x="109607" y="0"/>
                  <a:pt x="70627" y="0"/>
                </a:cubicBezTo>
                <a:cubicBezTo>
                  <a:pt x="31647" y="0"/>
                  <a:pt x="0" y="31647"/>
                  <a:pt x="0" y="70627"/>
                </a:cubicBezTo>
                <a:cubicBezTo>
                  <a:pt x="0" y="109607"/>
                  <a:pt x="31647" y="141254"/>
                  <a:pt x="70627" y="141254"/>
                </a:cubicBezTo>
                <a:close/>
                <a:moveTo>
                  <a:pt x="46349" y="64006"/>
                </a:moveTo>
                <a:lnTo>
                  <a:pt x="94905" y="64006"/>
                </a:lnTo>
                <a:cubicBezTo>
                  <a:pt x="98574" y="64006"/>
                  <a:pt x="101526" y="66958"/>
                  <a:pt x="101526" y="70627"/>
                </a:cubicBezTo>
                <a:cubicBezTo>
                  <a:pt x="101526" y="74296"/>
                  <a:pt x="98574" y="77248"/>
                  <a:pt x="94905" y="77248"/>
                </a:cubicBezTo>
                <a:lnTo>
                  <a:pt x="46349" y="77248"/>
                </a:lnTo>
                <a:cubicBezTo>
                  <a:pt x="42680" y="77248"/>
                  <a:pt x="39728" y="74296"/>
                  <a:pt x="39728" y="70627"/>
                </a:cubicBezTo>
                <a:cubicBezTo>
                  <a:pt x="39728" y="66958"/>
                  <a:pt x="42680" y="64006"/>
                  <a:pt x="46349" y="6400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55" name="Text 53"/>
          <p:cNvSpPr/>
          <p:nvPr/>
        </p:nvSpPr>
        <p:spPr>
          <a:xfrm>
            <a:off x="6673215" y="5404434"/>
            <a:ext cx="3350793" cy="246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挑战：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代码调用链较长，开发</a:t>
            </a:r>
            <a:r>
              <a:rPr lang="en-US" altLang="zh-CN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/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部署成本高</a:t>
            </a:r>
            <a:endParaRPr lang="zh-CN" altLang="en-US" sz="1288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181584" y="6272568"/>
            <a:ext cx="3891552" cy="491564"/>
          </a:xfrm>
          <a:custGeom>
            <a:avLst/>
            <a:gdLst/>
            <a:ahLst/>
            <a:cxnLst/>
            <a:rect l="l" t="t" r="r" b="b"/>
            <a:pathLst>
              <a:path w="3354786" h="423762">
                <a:moveTo>
                  <a:pt x="70628" y="0"/>
                </a:moveTo>
                <a:lnTo>
                  <a:pt x="3284158" y="0"/>
                </a:lnTo>
                <a:cubicBezTo>
                  <a:pt x="3323165" y="0"/>
                  <a:pt x="3354786" y="31621"/>
                  <a:pt x="3354786" y="70628"/>
                </a:cubicBezTo>
                <a:lnTo>
                  <a:pt x="3354786" y="353134"/>
                </a:lnTo>
                <a:cubicBezTo>
                  <a:pt x="3354786" y="392141"/>
                  <a:pt x="3323165" y="423762"/>
                  <a:pt x="3284158" y="423762"/>
                </a:cubicBezTo>
                <a:lnTo>
                  <a:pt x="70628" y="423762"/>
                </a:lnTo>
                <a:cubicBezTo>
                  <a:pt x="31621" y="423762"/>
                  <a:pt x="0" y="392141"/>
                  <a:pt x="0" y="353134"/>
                </a:cubicBezTo>
                <a:lnTo>
                  <a:pt x="0" y="70628"/>
                </a:lnTo>
                <a:cubicBezTo>
                  <a:pt x="0" y="31621"/>
                  <a:pt x="31621" y="0"/>
                  <a:pt x="70628" y="0"/>
                </a:cubicBezTo>
                <a:close/>
              </a:path>
            </a:pathLst>
          </a:custGeom>
          <a:solidFill>
            <a:srgbClr val="C00000">
              <a:alpha val="10196"/>
            </a:srgbClr>
          </a:solidFill>
        </p:spPr>
      </p:sp>
      <p:sp>
        <p:nvSpPr>
          <p:cNvPr id="57" name="Text 55"/>
          <p:cNvSpPr/>
          <p:nvPr/>
        </p:nvSpPr>
        <p:spPr>
          <a:xfrm>
            <a:off x="6304475" y="6395459"/>
            <a:ext cx="3727697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适用场景：</a:t>
            </a:r>
            <a:r>
              <a:rPr lang="en-US" sz="1288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高吞吐生产环境、在线服务</a:t>
            </a:r>
            <a:endParaRPr lang="en-US" sz="1856" dirty="0"/>
          </a:p>
        </p:txBody>
      </p:sp>
      <p:sp>
        <p:nvSpPr>
          <p:cNvPr id="58" name="Shape 56"/>
          <p:cNvSpPr/>
          <p:nvPr/>
        </p:nvSpPr>
        <p:spPr>
          <a:xfrm>
            <a:off x="10487333" y="1433730"/>
            <a:ext cx="4301190" cy="5540341"/>
          </a:xfrm>
          <a:custGeom>
            <a:avLst/>
            <a:gdLst/>
            <a:ahLst/>
            <a:cxnLst/>
            <a:rect l="l" t="t" r="r" b="b"/>
            <a:pathLst>
              <a:path w="3707922" h="4776156">
                <a:moveTo>
                  <a:pt x="70636" y="0"/>
                </a:moveTo>
                <a:lnTo>
                  <a:pt x="3637286" y="0"/>
                </a:lnTo>
                <a:cubicBezTo>
                  <a:pt x="3676297" y="0"/>
                  <a:pt x="3707922" y="31625"/>
                  <a:pt x="3707922" y="70636"/>
                </a:cubicBezTo>
                <a:lnTo>
                  <a:pt x="3707922" y="4705520"/>
                </a:lnTo>
                <a:cubicBezTo>
                  <a:pt x="3707922" y="4744532"/>
                  <a:pt x="3676297" y="4776156"/>
                  <a:pt x="3637286" y="4776156"/>
                </a:cubicBezTo>
                <a:lnTo>
                  <a:pt x="70636" y="4776156"/>
                </a:lnTo>
                <a:cubicBezTo>
                  <a:pt x="31625" y="4776156"/>
                  <a:pt x="0" y="4744532"/>
                  <a:pt x="0" y="4705520"/>
                </a:cubicBezTo>
                <a:lnTo>
                  <a:pt x="0" y="70636"/>
                </a:lnTo>
                <a:cubicBezTo>
                  <a:pt x="0" y="31651"/>
                  <a:pt x="31651" y="0"/>
                  <a:pt x="70636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59" name="Shape 57"/>
          <p:cNvSpPr/>
          <p:nvPr/>
        </p:nvSpPr>
        <p:spPr>
          <a:xfrm>
            <a:off x="10692152" y="1659030"/>
            <a:ext cx="491564" cy="491564"/>
          </a:xfrm>
          <a:custGeom>
            <a:avLst/>
            <a:gdLst/>
            <a:ahLst/>
            <a:cxnLst/>
            <a:rect l="l" t="t" r="r" b="b"/>
            <a:pathLst>
              <a:path w="423762" h="423762">
                <a:moveTo>
                  <a:pt x="70628" y="0"/>
                </a:moveTo>
                <a:lnTo>
                  <a:pt x="353134" y="0"/>
                </a:lnTo>
                <a:cubicBezTo>
                  <a:pt x="392141" y="0"/>
                  <a:pt x="423762" y="31621"/>
                  <a:pt x="423762" y="70628"/>
                </a:cubicBezTo>
                <a:lnTo>
                  <a:pt x="423762" y="353134"/>
                </a:lnTo>
                <a:cubicBezTo>
                  <a:pt x="423762" y="392141"/>
                  <a:pt x="392141" y="423762"/>
                  <a:pt x="353134" y="423762"/>
                </a:cubicBezTo>
                <a:lnTo>
                  <a:pt x="70628" y="423762"/>
                </a:lnTo>
                <a:cubicBezTo>
                  <a:pt x="31621" y="423762"/>
                  <a:pt x="0" y="392141"/>
                  <a:pt x="0" y="353134"/>
                </a:cubicBezTo>
                <a:lnTo>
                  <a:pt x="0" y="70628"/>
                </a:lnTo>
                <a:cubicBezTo>
                  <a:pt x="0" y="31621"/>
                  <a:pt x="31621" y="0"/>
                  <a:pt x="70628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60" name="Shape 58"/>
          <p:cNvSpPr/>
          <p:nvPr/>
        </p:nvSpPr>
        <p:spPr>
          <a:xfrm>
            <a:off x="10848326" y="1802403"/>
            <a:ext cx="179217" cy="204819"/>
          </a:xfrm>
          <a:custGeom>
            <a:avLst/>
            <a:gdLst/>
            <a:ahLst/>
            <a:cxnLst/>
            <a:rect l="l" t="t" r="r" b="b"/>
            <a:pathLst>
              <a:path w="154497" h="176568">
                <a:moveTo>
                  <a:pt x="27589" y="35865"/>
                </a:moveTo>
                <a:cubicBezTo>
                  <a:pt x="32157" y="35865"/>
                  <a:pt x="35865" y="32157"/>
                  <a:pt x="35865" y="27589"/>
                </a:cubicBezTo>
                <a:cubicBezTo>
                  <a:pt x="35865" y="23021"/>
                  <a:pt x="32157" y="19312"/>
                  <a:pt x="27589" y="19312"/>
                </a:cubicBezTo>
                <a:cubicBezTo>
                  <a:pt x="23021" y="19312"/>
                  <a:pt x="19312" y="23021"/>
                  <a:pt x="19312" y="27589"/>
                </a:cubicBezTo>
                <a:cubicBezTo>
                  <a:pt x="19312" y="32157"/>
                  <a:pt x="23021" y="35865"/>
                  <a:pt x="27589" y="35865"/>
                </a:cubicBezTo>
                <a:close/>
                <a:moveTo>
                  <a:pt x="55177" y="27589"/>
                </a:moveTo>
                <a:cubicBezTo>
                  <a:pt x="55177" y="38900"/>
                  <a:pt x="48384" y="48625"/>
                  <a:pt x="38624" y="52867"/>
                </a:cubicBezTo>
                <a:lnTo>
                  <a:pt x="38624" y="77248"/>
                </a:lnTo>
                <a:lnTo>
                  <a:pt x="99319" y="77248"/>
                </a:lnTo>
                <a:cubicBezTo>
                  <a:pt x="108458" y="77248"/>
                  <a:pt x="115873" y="69834"/>
                  <a:pt x="115873" y="60695"/>
                </a:cubicBezTo>
                <a:lnTo>
                  <a:pt x="115873" y="52867"/>
                </a:lnTo>
                <a:cubicBezTo>
                  <a:pt x="106113" y="48625"/>
                  <a:pt x="99319" y="38900"/>
                  <a:pt x="99319" y="27589"/>
                </a:cubicBezTo>
                <a:cubicBezTo>
                  <a:pt x="99319" y="12346"/>
                  <a:pt x="111665" y="0"/>
                  <a:pt x="126908" y="0"/>
                </a:cubicBezTo>
                <a:cubicBezTo>
                  <a:pt x="142151" y="0"/>
                  <a:pt x="154497" y="12346"/>
                  <a:pt x="154497" y="27589"/>
                </a:cubicBezTo>
                <a:cubicBezTo>
                  <a:pt x="154497" y="38900"/>
                  <a:pt x="147703" y="48625"/>
                  <a:pt x="137944" y="52867"/>
                </a:cubicBezTo>
                <a:lnTo>
                  <a:pt x="137944" y="60695"/>
                </a:lnTo>
                <a:cubicBezTo>
                  <a:pt x="137944" y="82042"/>
                  <a:pt x="120666" y="99319"/>
                  <a:pt x="99319" y="99319"/>
                </a:cubicBezTo>
                <a:lnTo>
                  <a:pt x="38624" y="99319"/>
                </a:lnTo>
                <a:lnTo>
                  <a:pt x="38624" y="123701"/>
                </a:lnTo>
                <a:cubicBezTo>
                  <a:pt x="48384" y="127943"/>
                  <a:pt x="55177" y="137668"/>
                  <a:pt x="55177" y="148979"/>
                </a:cubicBezTo>
                <a:cubicBezTo>
                  <a:pt x="55177" y="164222"/>
                  <a:pt x="42831" y="176568"/>
                  <a:pt x="27589" y="176568"/>
                </a:cubicBezTo>
                <a:cubicBezTo>
                  <a:pt x="12346" y="176568"/>
                  <a:pt x="0" y="164222"/>
                  <a:pt x="0" y="148979"/>
                </a:cubicBezTo>
                <a:cubicBezTo>
                  <a:pt x="0" y="137668"/>
                  <a:pt x="6794" y="127943"/>
                  <a:pt x="16553" y="123701"/>
                </a:cubicBezTo>
                <a:lnTo>
                  <a:pt x="16553" y="52901"/>
                </a:lnTo>
                <a:cubicBezTo>
                  <a:pt x="6794" y="48625"/>
                  <a:pt x="0" y="38900"/>
                  <a:pt x="0" y="27589"/>
                </a:cubicBezTo>
                <a:cubicBezTo>
                  <a:pt x="0" y="12346"/>
                  <a:pt x="12346" y="0"/>
                  <a:pt x="27589" y="0"/>
                </a:cubicBezTo>
                <a:cubicBezTo>
                  <a:pt x="42831" y="0"/>
                  <a:pt x="55177" y="12346"/>
                  <a:pt x="55177" y="27589"/>
                </a:cubicBezTo>
                <a:close/>
                <a:moveTo>
                  <a:pt x="135185" y="27589"/>
                </a:moveTo>
                <a:cubicBezTo>
                  <a:pt x="135185" y="23021"/>
                  <a:pt x="131476" y="19312"/>
                  <a:pt x="126908" y="19312"/>
                </a:cubicBezTo>
                <a:cubicBezTo>
                  <a:pt x="122340" y="19312"/>
                  <a:pt x="118631" y="23021"/>
                  <a:pt x="118631" y="27589"/>
                </a:cubicBezTo>
                <a:cubicBezTo>
                  <a:pt x="118631" y="32157"/>
                  <a:pt x="122340" y="35865"/>
                  <a:pt x="126908" y="35865"/>
                </a:cubicBezTo>
                <a:cubicBezTo>
                  <a:pt x="131476" y="35865"/>
                  <a:pt x="135185" y="32157"/>
                  <a:pt x="135185" y="27589"/>
                </a:cubicBezTo>
                <a:close/>
                <a:moveTo>
                  <a:pt x="27589" y="157256"/>
                </a:moveTo>
                <a:cubicBezTo>
                  <a:pt x="32157" y="157256"/>
                  <a:pt x="35865" y="153547"/>
                  <a:pt x="35865" y="148979"/>
                </a:cubicBezTo>
                <a:cubicBezTo>
                  <a:pt x="35865" y="144411"/>
                  <a:pt x="32157" y="140702"/>
                  <a:pt x="27589" y="140702"/>
                </a:cubicBezTo>
                <a:cubicBezTo>
                  <a:pt x="23021" y="140702"/>
                  <a:pt x="19312" y="144411"/>
                  <a:pt x="19312" y="148979"/>
                </a:cubicBezTo>
                <a:cubicBezTo>
                  <a:pt x="19312" y="153547"/>
                  <a:pt x="23021" y="157256"/>
                  <a:pt x="27589" y="15725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1" name="Text 59"/>
          <p:cNvSpPr/>
          <p:nvPr/>
        </p:nvSpPr>
        <p:spPr>
          <a:xfrm>
            <a:off x="11306608" y="1638549"/>
            <a:ext cx="921684" cy="2867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12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SGLang</a:t>
            </a:r>
            <a:endParaRPr lang="en-US" sz="1856" dirty="0"/>
          </a:p>
        </p:txBody>
      </p:sp>
      <p:sp>
        <p:nvSpPr>
          <p:cNvPr id="62" name="Text 60"/>
          <p:cNvSpPr/>
          <p:nvPr/>
        </p:nvSpPr>
        <p:spPr>
          <a:xfrm>
            <a:off x="11306608" y="1925294"/>
            <a:ext cx="901202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结构化生成</a:t>
            </a:r>
            <a:endParaRPr lang="en-US" sz="1856" dirty="0"/>
          </a:p>
        </p:txBody>
      </p:sp>
      <p:sp>
        <p:nvSpPr>
          <p:cNvPr id="63" name="Shape 61"/>
          <p:cNvSpPr/>
          <p:nvPr/>
        </p:nvSpPr>
        <p:spPr>
          <a:xfrm>
            <a:off x="10712634" y="2334932"/>
            <a:ext cx="3871071" cy="1884331"/>
          </a:xfrm>
          <a:custGeom>
            <a:avLst/>
            <a:gdLst/>
            <a:ahLst/>
            <a:cxnLst/>
            <a:rect l="l" t="t" r="r" b="b"/>
            <a:pathLst>
              <a:path w="3337130" h="1624423">
                <a:moveTo>
                  <a:pt x="35314" y="0"/>
                </a:moveTo>
                <a:lnTo>
                  <a:pt x="3266500" y="0"/>
                </a:lnTo>
                <a:cubicBezTo>
                  <a:pt x="3305508" y="0"/>
                  <a:pt x="3337130" y="31622"/>
                  <a:pt x="3337130" y="70630"/>
                </a:cubicBezTo>
                <a:lnTo>
                  <a:pt x="3337130" y="1553793"/>
                </a:lnTo>
                <a:cubicBezTo>
                  <a:pt x="3337130" y="1592801"/>
                  <a:pt x="3305508" y="1624423"/>
                  <a:pt x="3266500" y="1624423"/>
                </a:cubicBezTo>
                <a:lnTo>
                  <a:pt x="35314" y="1624423"/>
                </a:lnTo>
                <a:cubicBezTo>
                  <a:pt x="15810" y="1624423"/>
                  <a:pt x="0" y="1608612"/>
                  <a:pt x="0" y="1589109"/>
                </a:cubicBez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4" name="Shape 62"/>
          <p:cNvSpPr/>
          <p:nvPr/>
        </p:nvSpPr>
        <p:spPr>
          <a:xfrm>
            <a:off x="10712634" y="2334932"/>
            <a:ext cx="40964" cy="1884331"/>
          </a:xfrm>
          <a:custGeom>
            <a:avLst/>
            <a:gdLst/>
            <a:ahLst/>
            <a:cxnLst/>
            <a:rect l="l" t="t" r="r" b="b"/>
            <a:pathLst>
              <a:path w="35314" h="1624423">
                <a:moveTo>
                  <a:pt x="35314" y="0"/>
                </a:moveTo>
                <a:lnTo>
                  <a:pt x="35314" y="0"/>
                </a:lnTo>
                <a:lnTo>
                  <a:pt x="35314" y="1624423"/>
                </a:lnTo>
                <a:lnTo>
                  <a:pt x="35314" y="1624423"/>
                </a:lnTo>
                <a:cubicBezTo>
                  <a:pt x="15810" y="1624423"/>
                  <a:pt x="0" y="1608612"/>
                  <a:pt x="0" y="1589109"/>
                </a:cubicBez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65" name="Text 63"/>
          <p:cNvSpPr/>
          <p:nvPr/>
        </p:nvSpPr>
        <p:spPr>
          <a:xfrm>
            <a:off x="10896971" y="2498786"/>
            <a:ext cx="3604807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迁移流程</a:t>
            </a:r>
            <a:endParaRPr lang="en-US" sz="1856" dirty="0"/>
          </a:p>
        </p:txBody>
      </p:sp>
      <p:sp>
        <p:nvSpPr>
          <p:cNvPr id="66" name="Text 64"/>
          <p:cNvSpPr/>
          <p:nvPr/>
        </p:nvSpPr>
        <p:spPr>
          <a:xfrm>
            <a:off x="10896971" y="2826495"/>
            <a:ext cx="215059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1.</a:t>
            </a:r>
            <a:endParaRPr lang="en-US" sz="1856" dirty="0"/>
          </a:p>
        </p:txBody>
      </p:sp>
      <p:sp>
        <p:nvSpPr>
          <p:cNvPr id="67" name="Text 65"/>
          <p:cNvSpPr/>
          <p:nvPr/>
        </p:nvSpPr>
        <p:spPr>
          <a:xfrm>
            <a:off x="11110189" y="2826495"/>
            <a:ext cx="2580713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学习SGLang Runtime和模型定义</a:t>
            </a:r>
            <a:endParaRPr lang="en-US" sz="1856" dirty="0"/>
          </a:p>
        </p:txBody>
      </p:sp>
      <p:sp>
        <p:nvSpPr>
          <p:cNvPr id="68" name="Text 66"/>
          <p:cNvSpPr/>
          <p:nvPr/>
        </p:nvSpPr>
        <p:spPr>
          <a:xfrm>
            <a:off x="10896971" y="3154206"/>
            <a:ext cx="235541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2.</a:t>
            </a:r>
            <a:endParaRPr lang="en-US" sz="1856" dirty="0"/>
          </a:p>
        </p:txBody>
      </p:sp>
      <p:sp>
        <p:nvSpPr>
          <p:cNvPr id="69" name="Text 67"/>
          <p:cNvSpPr/>
          <p:nvPr/>
        </p:nvSpPr>
        <p:spPr>
          <a:xfrm>
            <a:off x="11131152" y="3154206"/>
            <a:ext cx="2283727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理解RadixAttention前缀缓存</a:t>
            </a:r>
            <a:endParaRPr lang="en-US" sz="1856" dirty="0"/>
          </a:p>
        </p:txBody>
      </p:sp>
      <p:sp>
        <p:nvSpPr>
          <p:cNvPr id="70" name="Text 68"/>
          <p:cNvSpPr/>
          <p:nvPr/>
        </p:nvSpPr>
        <p:spPr>
          <a:xfrm>
            <a:off x="10896971" y="3481915"/>
            <a:ext cx="235541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3.</a:t>
            </a:r>
            <a:endParaRPr lang="en-US" sz="1856" dirty="0"/>
          </a:p>
        </p:txBody>
      </p:sp>
      <p:sp>
        <p:nvSpPr>
          <p:cNvPr id="71" name="Text 69"/>
          <p:cNvSpPr/>
          <p:nvPr/>
        </p:nvSpPr>
        <p:spPr>
          <a:xfrm>
            <a:off x="11130992" y="3481915"/>
            <a:ext cx="1546380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复用结构化生成DSL</a:t>
            </a:r>
            <a:endParaRPr lang="en-US" sz="1856" dirty="0"/>
          </a:p>
        </p:txBody>
      </p:sp>
      <p:sp>
        <p:nvSpPr>
          <p:cNvPr id="72" name="Text 70"/>
          <p:cNvSpPr/>
          <p:nvPr/>
        </p:nvSpPr>
        <p:spPr>
          <a:xfrm>
            <a:off x="10896971" y="3809624"/>
            <a:ext cx="235541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00000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4.</a:t>
            </a:r>
            <a:endParaRPr lang="en-US" sz="1856" dirty="0"/>
          </a:p>
        </p:txBody>
      </p:sp>
      <p:sp>
        <p:nvSpPr>
          <p:cNvPr id="73" name="Text 71"/>
          <p:cNvSpPr/>
          <p:nvPr/>
        </p:nvSpPr>
        <p:spPr>
          <a:xfrm>
            <a:off x="11130992" y="3809624"/>
            <a:ext cx="1228911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集成自定义后端</a:t>
            </a:r>
            <a:endParaRPr lang="en-US" sz="1856" dirty="0"/>
          </a:p>
        </p:txBody>
      </p:sp>
      <p:sp>
        <p:nvSpPr>
          <p:cNvPr id="74" name="Shape 72"/>
          <p:cNvSpPr/>
          <p:nvPr/>
        </p:nvSpPr>
        <p:spPr>
          <a:xfrm>
            <a:off x="10712634" y="4342153"/>
            <a:ext cx="3871071" cy="1556621"/>
          </a:xfrm>
          <a:custGeom>
            <a:avLst/>
            <a:gdLst/>
            <a:ahLst/>
            <a:cxnLst/>
            <a:rect l="l" t="t" r="r" b="b"/>
            <a:pathLst>
              <a:path w="3337130" h="1341915">
                <a:moveTo>
                  <a:pt x="35314" y="0"/>
                </a:moveTo>
                <a:lnTo>
                  <a:pt x="3266505" y="0"/>
                </a:lnTo>
                <a:cubicBezTo>
                  <a:pt x="3305510" y="0"/>
                  <a:pt x="3337130" y="31620"/>
                  <a:pt x="3337130" y="70625"/>
                </a:cubicBezTo>
                <a:lnTo>
                  <a:pt x="3337130" y="1271290"/>
                </a:lnTo>
                <a:cubicBezTo>
                  <a:pt x="3337130" y="1310295"/>
                  <a:pt x="3305510" y="1341915"/>
                  <a:pt x="3266505" y="1341915"/>
                </a:cubicBezTo>
                <a:lnTo>
                  <a:pt x="35314" y="1341915"/>
                </a:lnTo>
                <a:cubicBezTo>
                  <a:pt x="15810" y="1341915"/>
                  <a:pt x="0" y="1326104"/>
                  <a:pt x="0" y="1306601"/>
                </a:cubicBezTo>
                <a:lnTo>
                  <a:pt x="0" y="35314"/>
                </a:lnTo>
                <a:cubicBezTo>
                  <a:pt x="0" y="15823"/>
                  <a:pt x="15823" y="0"/>
                  <a:pt x="3531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5" name="Shape 73"/>
          <p:cNvSpPr/>
          <p:nvPr/>
        </p:nvSpPr>
        <p:spPr>
          <a:xfrm>
            <a:off x="10712634" y="4342153"/>
            <a:ext cx="40964" cy="1556621"/>
          </a:xfrm>
          <a:custGeom>
            <a:avLst/>
            <a:gdLst/>
            <a:ahLst/>
            <a:cxnLst/>
            <a:rect l="l" t="t" r="r" b="b"/>
            <a:pathLst>
              <a:path w="35314" h="1341915">
                <a:moveTo>
                  <a:pt x="35314" y="0"/>
                </a:moveTo>
                <a:lnTo>
                  <a:pt x="35314" y="0"/>
                </a:lnTo>
                <a:lnTo>
                  <a:pt x="35314" y="1341915"/>
                </a:lnTo>
                <a:lnTo>
                  <a:pt x="35314" y="1341915"/>
                </a:lnTo>
                <a:cubicBezTo>
                  <a:pt x="15810" y="1341915"/>
                  <a:pt x="0" y="1326104"/>
                  <a:pt x="0" y="1306601"/>
                </a:cubicBez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76" name="Text 74"/>
          <p:cNvSpPr/>
          <p:nvPr/>
        </p:nvSpPr>
        <p:spPr>
          <a:xfrm>
            <a:off x="10896971" y="4506008"/>
            <a:ext cx="3604807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优势与挑战</a:t>
            </a:r>
            <a:endParaRPr lang="en-US" sz="1856" dirty="0"/>
          </a:p>
        </p:txBody>
      </p:sp>
      <p:sp>
        <p:nvSpPr>
          <p:cNvPr id="77" name="Shape 75"/>
          <p:cNvSpPr/>
          <p:nvPr/>
        </p:nvSpPr>
        <p:spPr>
          <a:xfrm>
            <a:off x="10917452" y="4874681"/>
            <a:ext cx="163855" cy="163855"/>
          </a:xfrm>
          <a:custGeom>
            <a:avLst/>
            <a:gdLst/>
            <a:ahLst/>
            <a:cxnLst/>
            <a:rect l="l" t="t" r="r" b="b"/>
            <a:pathLst>
              <a:path w="141254" h="141254">
                <a:moveTo>
                  <a:pt x="70627" y="141254"/>
                </a:moveTo>
                <a:cubicBezTo>
                  <a:pt x="109607" y="141254"/>
                  <a:pt x="141254" y="109607"/>
                  <a:pt x="141254" y="70627"/>
                </a:cubicBezTo>
                <a:cubicBezTo>
                  <a:pt x="141254" y="31647"/>
                  <a:pt x="109607" y="0"/>
                  <a:pt x="70627" y="0"/>
                </a:cubicBezTo>
                <a:cubicBezTo>
                  <a:pt x="31647" y="0"/>
                  <a:pt x="0" y="31647"/>
                  <a:pt x="0" y="70627"/>
                </a:cubicBezTo>
                <a:cubicBezTo>
                  <a:pt x="0" y="109607"/>
                  <a:pt x="31647" y="141254"/>
                  <a:pt x="70627" y="141254"/>
                </a:cubicBezTo>
                <a:close/>
                <a:moveTo>
                  <a:pt x="64006" y="94905"/>
                </a:moveTo>
                <a:lnTo>
                  <a:pt x="64006" y="77248"/>
                </a:lnTo>
                <a:lnTo>
                  <a:pt x="46349" y="77248"/>
                </a:lnTo>
                <a:cubicBezTo>
                  <a:pt x="42680" y="77248"/>
                  <a:pt x="39728" y="74296"/>
                  <a:pt x="39728" y="70627"/>
                </a:cubicBezTo>
                <a:cubicBezTo>
                  <a:pt x="39728" y="66958"/>
                  <a:pt x="42680" y="64006"/>
                  <a:pt x="46349" y="64006"/>
                </a:cubicBezTo>
                <a:lnTo>
                  <a:pt x="64006" y="64006"/>
                </a:lnTo>
                <a:lnTo>
                  <a:pt x="64006" y="46349"/>
                </a:lnTo>
                <a:cubicBezTo>
                  <a:pt x="64006" y="42680"/>
                  <a:pt x="66958" y="39728"/>
                  <a:pt x="70627" y="39728"/>
                </a:cubicBezTo>
                <a:cubicBezTo>
                  <a:pt x="74296" y="39728"/>
                  <a:pt x="77248" y="42680"/>
                  <a:pt x="77248" y="46349"/>
                </a:cubicBezTo>
                <a:lnTo>
                  <a:pt x="77248" y="64006"/>
                </a:lnTo>
                <a:lnTo>
                  <a:pt x="94905" y="64006"/>
                </a:lnTo>
                <a:cubicBezTo>
                  <a:pt x="98574" y="64006"/>
                  <a:pt x="101526" y="66958"/>
                  <a:pt x="101526" y="70627"/>
                </a:cubicBezTo>
                <a:cubicBezTo>
                  <a:pt x="101526" y="74296"/>
                  <a:pt x="98574" y="77248"/>
                  <a:pt x="94905" y="77248"/>
                </a:cubicBezTo>
                <a:lnTo>
                  <a:pt x="77248" y="77248"/>
                </a:lnTo>
                <a:lnTo>
                  <a:pt x="77248" y="94905"/>
                </a:lnTo>
                <a:cubicBezTo>
                  <a:pt x="77248" y="98574"/>
                  <a:pt x="74296" y="101526"/>
                  <a:pt x="70627" y="101526"/>
                </a:cubicBezTo>
                <a:cubicBezTo>
                  <a:pt x="66958" y="101526"/>
                  <a:pt x="64006" y="98574"/>
                  <a:pt x="64006" y="94905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8" name="Text 76"/>
          <p:cNvSpPr/>
          <p:nvPr/>
        </p:nvSpPr>
        <p:spPr>
          <a:xfrm>
            <a:off x="11183716" y="4833718"/>
            <a:ext cx="3184928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优势：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推理优化齐全，性能较优</a:t>
            </a:r>
            <a:endParaRPr lang="en-US" sz="1856" dirty="0"/>
          </a:p>
        </p:txBody>
      </p:sp>
      <p:sp>
        <p:nvSpPr>
          <p:cNvPr id="81" name="Shape 79"/>
          <p:cNvSpPr/>
          <p:nvPr/>
        </p:nvSpPr>
        <p:spPr>
          <a:xfrm>
            <a:off x="10917452" y="5147068"/>
            <a:ext cx="163855" cy="163855"/>
          </a:xfrm>
          <a:custGeom>
            <a:avLst/>
            <a:gdLst/>
            <a:ahLst/>
            <a:cxnLst/>
            <a:rect l="l" t="t" r="r" b="b"/>
            <a:pathLst>
              <a:path w="141254" h="141254">
                <a:moveTo>
                  <a:pt x="70627" y="141254"/>
                </a:moveTo>
                <a:cubicBezTo>
                  <a:pt x="109607" y="141254"/>
                  <a:pt x="141254" y="109607"/>
                  <a:pt x="141254" y="70627"/>
                </a:cubicBezTo>
                <a:cubicBezTo>
                  <a:pt x="141254" y="31647"/>
                  <a:pt x="109607" y="0"/>
                  <a:pt x="70627" y="0"/>
                </a:cubicBezTo>
                <a:cubicBezTo>
                  <a:pt x="31647" y="0"/>
                  <a:pt x="0" y="31647"/>
                  <a:pt x="0" y="70627"/>
                </a:cubicBezTo>
                <a:cubicBezTo>
                  <a:pt x="0" y="109607"/>
                  <a:pt x="31647" y="141254"/>
                  <a:pt x="70627" y="141254"/>
                </a:cubicBezTo>
                <a:close/>
                <a:moveTo>
                  <a:pt x="46349" y="64006"/>
                </a:moveTo>
                <a:lnTo>
                  <a:pt x="94905" y="64006"/>
                </a:lnTo>
                <a:cubicBezTo>
                  <a:pt x="98574" y="64006"/>
                  <a:pt x="101526" y="66958"/>
                  <a:pt x="101526" y="70627"/>
                </a:cubicBezTo>
                <a:cubicBezTo>
                  <a:pt x="101526" y="74296"/>
                  <a:pt x="98574" y="77248"/>
                  <a:pt x="94905" y="77248"/>
                </a:cubicBezTo>
                <a:lnTo>
                  <a:pt x="46349" y="77248"/>
                </a:lnTo>
                <a:cubicBezTo>
                  <a:pt x="42680" y="77248"/>
                  <a:pt x="39728" y="74296"/>
                  <a:pt x="39728" y="70627"/>
                </a:cubicBezTo>
                <a:cubicBezTo>
                  <a:pt x="39728" y="66958"/>
                  <a:pt x="42680" y="64006"/>
                  <a:pt x="46349" y="6400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82" name="Text 80"/>
          <p:cNvSpPr/>
          <p:nvPr/>
        </p:nvSpPr>
        <p:spPr>
          <a:xfrm>
            <a:off x="11183417" y="5106111"/>
            <a:ext cx="3172536" cy="246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挑战：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代码调用链较长，开发</a:t>
            </a:r>
            <a:r>
              <a:rPr lang="en-US" altLang="zh-CN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/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部署成本高</a:t>
            </a:r>
            <a:endParaRPr lang="en-US" sz="1856" dirty="0"/>
          </a:p>
        </p:txBody>
      </p:sp>
      <p:sp>
        <p:nvSpPr>
          <p:cNvPr id="83" name="Shape 81"/>
          <p:cNvSpPr/>
          <p:nvPr/>
        </p:nvSpPr>
        <p:spPr>
          <a:xfrm>
            <a:off x="10692152" y="6021666"/>
            <a:ext cx="3891552" cy="491564"/>
          </a:xfrm>
          <a:custGeom>
            <a:avLst/>
            <a:gdLst/>
            <a:ahLst/>
            <a:cxnLst/>
            <a:rect l="l" t="t" r="r" b="b"/>
            <a:pathLst>
              <a:path w="3354786" h="423762">
                <a:moveTo>
                  <a:pt x="70628" y="0"/>
                </a:moveTo>
                <a:lnTo>
                  <a:pt x="3284158" y="0"/>
                </a:lnTo>
                <a:cubicBezTo>
                  <a:pt x="3323165" y="0"/>
                  <a:pt x="3354786" y="31621"/>
                  <a:pt x="3354786" y="70628"/>
                </a:cubicBezTo>
                <a:lnTo>
                  <a:pt x="3354786" y="353134"/>
                </a:lnTo>
                <a:cubicBezTo>
                  <a:pt x="3354786" y="392141"/>
                  <a:pt x="3323165" y="423762"/>
                  <a:pt x="3284158" y="423762"/>
                </a:cubicBezTo>
                <a:lnTo>
                  <a:pt x="70628" y="423762"/>
                </a:lnTo>
                <a:cubicBezTo>
                  <a:pt x="31621" y="423762"/>
                  <a:pt x="0" y="392141"/>
                  <a:pt x="0" y="353134"/>
                </a:cubicBezTo>
                <a:lnTo>
                  <a:pt x="0" y="70628"/>
                </a:lnTo>
                <a:cubicBezTo>
                  <a:pt x="0" y="31621"/>
                  <a:pt x="31621" y="0"/>
                  <a:pt x="70628" y="0"/>
                </a:cubicBezTo>
                <a:close/>
              </a:path>
            </a:pathLst>
          </a:custGeom>
          <a:solidFill>
            <a:srgbClr val="333333">
              <a:alpha val="10196"/>
            </a:srgbClr>
          </a:solidFill>
        </p:spPr>
      </p:sp>
      <p:sp>
        <p:nvSpPr>
          <p:cNvPr id="84" name="Text 82"/>
          <p:cNvSpPr/>
          <p:nvPr/>
        </p:nvSpPr>
        <p:spPr>
          <a:xfrm>
            <a:off x="10815044" y="6144556"/>
            <a:ext cx="3727697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适用场景：</a:t>
            </a:r>
            <a:r>
              <a:rPr lang="en-US" sz="1288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多轮对话、结构化输出需求</a:t>
            </a:r>
            <a:endParaRPr lang="en-US" sz="1856" dirty="0"/>
          </a:p>
        </p:txBody>
      </p:sp>
      <p:sp>
        <p:nvSpPr>
          <p:cNvPr id="85" name="Shape 83"/>
          <p:cNvSpPr/>
          <p:nvPr/>
        </p:nvSpPr>
        <p:spPr>
          <a:xfrm>
            <a:off x="1466277" y="7132805"/>
            <a:ext cx="13323446" cy="819274"/>
          </a:xfrm>
          <a:custGeom>
            <a:avLst/>
            <a:gdLst/>
            <a:ahLst/>
            <a:cxnLst/>
            <a:rect l="l" t="t" r="r" b="b"/>
            <a:pathLst>
              <a:path w="11485729" h="706271">
                <a:moveTo>
                  <a:pt x="70627" y="0"/>
                </a:moveTo>
                <a:lnTo>
                  <a:pt x="11415102" y="0"/>
                </a:lnTo>
                <a:cubicBezTo>
                  <a:pt x="11454108" y="0"/>
                  <a:pt x="11485729" y="31621"/>
                  <a:pt x="11485729" y="70627"/>
                </a:cubicBezTo>
                <a:lnTo>
                  <a:pt x="11485729" y="635644"/>
                </a:lnTo>
                <a:cubicBezTo>
                  <a:pt x="11485729" y="674650"/>
                  <a:pt x="11454108" y="706271"/>
                  <a:pt x="11415102" y="706271"/>
                </a:cubicBezTo>
                <a:lnTo>
                  <a:pt x="70627" y="706271"/>
                </a:lnTo>
                <a:cubicBezTo>
                  <a:pt x="31621" y="706271"/>
                  <a:pt x="0" y="674650"/>
                  <a:pt x="0" y="635644"/>
                </a:cubicBezTo>
                <a:lnTo>
                  <a:pt x="0" y="70627"/>
                </a:lnTo>
                <a:cubicBezTo>
                  <a:pt x="0" y="31621"/>
                  <a:pt x="31621" y="0"/>
                  <a:pt x="70627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86" name="Shape 84"/>
          <p:cNvSpPr/>
          <p:nvPr/>
        </p:nvSpPr>
        <p:spPr>
          <a:xfrm>
            <a:off x="1691578" y="7419551"/>
            <a:ext cx="184337" cy="245782"/>
          </a:xfrm>
          <a:custGeom>
            <a:avLst/>
            <a:gdLst/>
            <a:ahLst/>
            <a:cxnLst/>
            <a:rect l="l" t="t" r="r" b="b"/>
            <a:pathLst>
              <a:path w="158911" h="211881">
                <a:moveTo>
                  <a:pt x="121211" y="158911"/>
                </a:moveTo>
                <a:cubicBezTo>
                  <a:pt x="124232" y="149683"/>
                  <a:pt x="130274" y="141323"/>
                  <a:pt x="137102" y="134122"/>
                </a:cubicBezTo>
                <a:cubicBezTo>
                  <a:pt x="150634" y="119887"/>
                  <a:pt x="158911" y="100644"/>
                  <a:pt x="158911" y="79455"/>
                </a:cubicBezTo>
                <a:cubicBezTo>
                  <a:pt x="158911" y="35589"/>
                  <a:pt x="123322" y="0"/>
                  <a:pt x="79455" y="0"/>
                </a:cubicBezTo>
                <a:cubicBezTo>
                  <a:pt x="35589" y="0"/>
                  <a:pt x="0" y="35589"/>
                  <a:pt x="0" y="79455"/>
                </a:cubicBezTo>
                <a:cubicBezTo>
                  <a:pt x="0" y="100644"/>
                  <a:pt x="8277" y="119887"/>
                  <a:pt x="21809" y="134122"/>
                </a:cubicBezTo>
                <a:cubicBezTo>
                  <a:pt x="28637" y="141323"/>
                  <a:pt x="34720" y="149683"/>
                  <a:pt x="37700" y="158911"/>
                </a:cubicBezTo>
                <a:lnTo>
                  <a:pt x="121170" y="158911"/>
                </a:lnTo>
                <a:close/>
                <a:moveTo>
                  <a:pt x="119183" y="178775"/>
                </a:moveTo>
                <a:lnTo>
                  <a:pt x="39728" y="178775"/>
                </a:lnTo>
                <a:lnTo>
                  <a:pt x="39728" y="185396"/>
                </a:lnTo>
                <a:cubicBezTo>
                  <a:pt x="39728" y="203687"/>
                  <a:pt x="54543" y="218503"/>
                  <a:pt x="72834" y="218503"/>
                </a:cubicBezTo>
                <a:lnTo>
                  <a:pt x="86077" y="218503"/>
                </a:lnTo>
                <a:cubicBezTo>
                  <a:pt x="104368" y="218503"/>
                  <a:pt x="119183" y="203687"/>
                  <a:pt x="119183" y="185396"/>
                </a:cubicBezTo>
                <a:lnTo>
                  <a:pt x="119183" y="178775"/>
                </a:lnTo>
                <a:close/>
                <a:moveTo>
                  <a:pt x="76145" y="46349"/>
                </a:moveTo>
                <a:cubicBezTo>
                  <a:pt x="59674" y="46349"/>
                  <a:pt x="46349" y="59674"/>
                  <a:pt x="46349" y="76145"/>
                </a:cubicBezTo>
                <a:cubicBezTo>
                  <a:pt x="46349" y="81649"/>
                  <a:pt x="41921" y="86077"/>
                  <a:pt x="36417" y="86077"/>
                </a:cubicBezTo>
                <a:cubicBezTo>
                  <a:pt x="30913" y="86077"/>
                  <a:pt x="26485" y="81649"/>
                  <a:pt x="26485" y="76145"/>
                </a:cubicBezTo>
                <a:cubicBezTo>
                  <a:pt x="26485" y="48708"/>
                  <a:pt x="48708" y="26485"/>
                  <a:pt x="76145" y="26485"/>
                </a:cubicBezTo>
                <a:cubicBezTo>
                  <a:pt x="81649" y="26485"/>
                  <a:pt x="86077" y="30913"/>
                  <a:pt x="86077" y="36417"/>
                </a:cubicBezTo>
                <a:cubicBezTo>
                  <a:pt x="86077" y="41921"/>
                  <a:pt x="81649" y="46349"/>
                  <a:pt x="76145" y="46349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87" name="Text 85"/>
          <p:cNvSpPr/>
          <p:nvPr/>
        </p:nvSpPr>
        <p:spPr>
          <a:xfrm>
            <a:off x="2060251" y="7317142"/>
            <a:ext cx="1802403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迁移策略建议</a:t>
            </a:r>
            <a:endParaRPr lang="en-US" sz="1856" dirty="0"/>
          </a:p>
        </p:txBody>
      </p:sp>
      <p:sp>
        <p:nvSpPr>
          <p:cNvPr id="88" name="Text 86"/>
          <p:cNvSpPr/>
          <p:nvPr/>
        </p:nvSpPr>
        <p:spPr>
          <a:xfrm>
            <a:off x="2060251" y="7562924"/>
            <a:ext cx="1792162" cy="2048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根据场景选择合适的迁移源</a:t>
            </a:r>
            <a:endParaRPr lang="en-US" sz="1856" dirty="0"/>
          </a:p>
        </p:txBody>
      </p:sp>
      <p:sp>
        <p:nvSpPr>
          <p:cNvPr id="89" name="Shape 87"/>
          <p:cNvSpPr/>
          <p:nvPr/>
        </p:nvSpPr>
        <p:spPr>
          <a:xfrm>
            <a:off x="4031709" y="7296660"/>
            <a:ext cx="10240" cy="491564"/>
          </a:xfrm>
          <a:custGeom>
            <a:avLst/>
            <a:gdLst/>
            <a:ahLst/>
            <a:cxnLst/>
            <a:rect l="l" t="t" r="r" b="b"/>
            <a:pathLst>
              <a:path w="8828" h="423762">
                <a:moveTo>
                  <a:pt x="0" y="0"/>
                </a:moveTo>
                <a:lnTo>
                  <a:pt x="8828" y="0"/>
                </a:lnTo>
                <a:lnTo>
                  <a:pt x="8828" y="423762"/>
                </a:lnTo>
                <a:lnTo>
                  <a:pt x="0" y="423762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</p:spPr>
      </p:sp>
      <p:sp>
        <p:nvSpPr>
          <p:cNvPr id="90" name="Text 88"/>
          <p:cNvSpPr/>
          <p:nvPr/>
        </p:nvSpPr>
        <p:spPr>
          <a:xfrm>
            <a:off x="4282612" y="7296660"/>
            <a:ext cx="10425263" cy="4915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快速验证：</a:t>
            </a: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从HuggingFace迁移，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模型较为齐全</a:t>
            </a: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。</a:t>
            </a: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生产部署：</a:t>
            </a:r>
            <a:r>
              <a:rPr 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从vLLM/SGLang迁移，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部署优化</a:t>
            </a:r>
            <a:r>
              <a:rPr lang="en-US" altLang="zh-CN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(PA/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并行</a:t>
            </a:r>
            <a:r>
              <a:rPr lang="en-US" altLang="zh-CN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/Session Cache)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较为齐全，更贴近真实业务上限生产场景</a:t>
            </a:r>
            <a:endParaRPr lang="zh-CN" altLang="en-US" sz="1288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91" name="Shape 52"/>
          <p:cNvSpPr/>
          <p:nvPr/>
        </p:nvSpPr>
        <p:spPr>
          <a:xfrm>
            <a:off x="6406885" y="5755958"/>
            <a:ext cx="163855" cy="163855"/>
          </a:xfrm>
          <a:custGeom>
            <a:avLst/>
            <a:gdLst/>
            <a:ahLst/>
            <a:cxnLst/>
            <a:rect l="l" t="t" r="r" b="b"/>
            <a:pathLst>
              <a:path w="141254" h="141254">
                <a:moveTo>
                  <a:pt x="70627" y="141254"/>
                </a:moveTo>
                <a:cubicBezTo>
                  <a:pt x="109607" y="141254"/>
                  <a:pt x="141254" y="109607"/>
                  <a:pt x="141254" y="70627"/>
                </a:cubicBezTo>
                <a:cubicBezTo>
                  <a:pt x="141254" y="31647"/>
                  <a:pt x="109607" y="0"/>
                  <a:pt x="70627" y="0"/>
                </a:cubicBezTo>
                <a:cubicBezTo>
                  <a:pt x="31647" y="0"/>
                  <a:pt x="0" y="31647"/>
                  <a:pt x="0" y="70627"/>
                </a:cubicBezTo>
                <a:cubicBezTo>
                  <a:pt x="0" y="109607"/>
                  <a:pt x="31647" y="141254"/>
                  <a:pt x="70627" y="141254"/>
                </a:cubicBezTo>
                <a:close/>
                <a:moveTo>
                  <a:pt x="46349" y="64006"/>
                </a:moveTo>
                <a:lnTo>
                  <a:pt x="94905" y="64006"/>
                </a:lnTo>
                <a:cubicBezTo>
                  <a:pt x="98574" y="64006"/>
                  <a:pt x="101526" y="66958"/>
                  <a:pt x="101526" y="70627"/>
                </a:cubicBezTo>
                <a:cubicBezTo>
                  <a:pt x="101526" y="74296"/>
                  <a:pt x="98574" y="77248"/>
                  <a:pt x="94905" y="77248"/>
                </a:cubicBezTo>
                <a:lnTo>
                  <a:pt x="46349" y="77248"/>
                </a:lnTo>
                <a:cubicBezTo>
                  <a:pt x="42680" y="77248"/>
                  <a:pt x="39728" y="74296"/>
                  <a:pt x="39728" y="70627"/>
                </a:cubicBezTo>
                <a:cubicBezTo>
                  <a:pt x="39728" y="66958"/>
                  <a:pt x="42680" y="64006"/>
                  <a:pt x="46349" y="6400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92" name="Text 53"/>
          <p:cNvSpPr/>
          <p:nvPr/>
        </p:nvSpPr>
        <p:spPr>
          <a:xfrm>
            <a:off x="6673215" y="5715279"/>
            <a:ext cx="3614496" cy="24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挑战：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掺杂框架本身调度耗时，优化复杂</a:t>
            </a:r>
            <a:endParaRPr lang="zh-CN" altLang="en-US" sz="1288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93" name="Shape 52"/>
          <p:cNvSpPr/>
          <p:nvPr/>
        </p:nvSpPr>
        <p:spPr>
          <a:xfrm>
            <a:off x="10917087" y="5445113"/>
            <a:ext cx="163855" cy="163855"/>
          </a:xfrm>
          <a:custGeom>
            <a:avLst/>
            <a:gdLst/>
            <a:ahLst/>
            <a:cxnLst/>
            <a:rect l="l" t="t" r="r" b="b"/>
            <a:pathLst>
              <a:path w="141254" h="141254">
                <a:moveTo>
                  <a:pt x="70627" y="141254"/>
                </a:moveTo>
                <a:cubicBezTo>
                  <a:pt x="109607" y="141254"/>
                  <a:pt x="141254" y="109607"/>
                  <a:pt x="141254" y="70627"/>
                </a:cubicBezTo>
                <a:cubicBezTo>
                  <a:pt x="141254" y="31647"/>
                  <a:pt x="109607" y="0"/>
                  <a:pt x="70627" y="0"/>
                </a:cubicBezTo>
                <a:cubicBezTo>
                  <a:pt x="31647" y="0"/>
                  <a:pt x="0" y="31647"/>
                  <a:pt x="0" y="70627"/>
                </a:cubicBezTo>
                <a:cubicBezTo>
                  <a:pt x="0" y="109607"/>
                  <a:pt x="31647" y="141254"/>
                  <a:pt x="70627" y="141254"/>
                </a:cubicBezTo>
                <a:close/>
                <a:moveTo>
                  <a:pt x="46349" y="64006"/>
                </a:moveTo>
                <a:lnTo>
                  <a:pt x="94905" y="64006"/>
                </a:lnTo>
                <a:cubicBezTo>
                  <a:pt x="98574" y="64006"/>
                  <a:pt x="101526" y="66958"/>
                  <a:pt x="101526" y="70627"/>
                </a:cubicBezTo>
                <a:cubicBezTo>
                  <a:pt x="101526" y="74296"/>
                  <a:pt x="98574" y="77248"/>
                  <a:pt x="94905" y="77248"/>
                </a:cubicBezTo>
                <a:lnTo>
                  <a:pt x="46349" y="77248"/>
                </a:lnTo>
                <a:cubicBezTo>
                  <a:pt x="42680" y="77248"/>
                  <a:pt x="39728" y="74296"/>
                  <a:pt x="39728" y="70627"/>
                </a:cubicBezTo>
                <a:cubicBezTo>
                  <a:pt x="39728" y="66958"/>
                  <a:pt x="42680" y="64006"/>
                  <a:pt x="46349" y="6400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94" name="Text 53"/>
          <p:cNvSpPr/>
          <p:nvPr/>
        </p:nvSpPr>
        <p:spPr>
          <a:xfrm>
            <a:off x="11183417" y="5404434"/>
            <a:ext cx="3614496" cy="24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挑战：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掺杂框架本身调度耗时，优化复杂</a:t>
            </a:r>
            <a:endParaRPr lang="zh-CN" altLang="en-US" sz="1288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95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96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dirty="0"/>
          </a:p>
        </p:txBody>
      </p:sp>
      <p:pic>
        <p:nvPicPr>
          <p:cNvPr id="97" name="CANN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940" y="368300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" name="Text 1"/>
          <p:cNvSpPr/>
          <p:nvPr/>
        </p:nvSpPr>
        <p:spPr>
          <a:xfrm>
            <a:off x="1383506" y="368300"/>
            <a:ext cx="451168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3.2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1903730" y="368300"/>
            <a:ext cx="5469255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模块化堆叠：像搭积木一样构建模型</a:t>
            </a:r>
            <a:endParaRPr lang="en-US" sz="1856" dirty="0"/>
          </a:p>
        </p:txBody>
      </p:sp>
      <p:sp>
        <p:nvSpPr>
          <p:cNvPr id="5" name="Text 3"/>
          <p:cNvSpPr/>
          <p:nvPr/>
        </p:nvSpPr>
        <p:spPr>
          <a:xfrm>
            <a:off x="1903730" y="847090"/>
            <a:ext cx="13010198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标准化接口 + 配置文件 = 灵活的模型组装</a:t>
            </a:r>
            <a:endParaRPr lang="en-US" sz="1856" dirty="0"/>
          </a:p>
        </p:txBody>
      </p:sp>
      <p:sp>
        <p:nvSpPr>
          <p:cNvPr id="6" name="Shape 4"/>
          <p:cNvSpPr/>
          <p:nvPr/>
        </p:nvSpPr>
        <p:spPr>
          <a:xfrm>
            <a:off x="1424940" y="1289050"/>
            <a:ext cx="7936865" cy="4097338"/>
          </a:xfrm>
          <a:custGeom>
            <a:avLst/>
            <a:gdLst/>
            <a:ahLst/>
            <a:cxnLst/>
            <a:rect l="l" t="t" r="r" b="b"/>
            <a:pathLst>
              <a:path w="6842125" h="3532188">
                <a:moveTo>
                  <a:pt x="63509" y="0"/>
                </a:moveTo>
                <a:lnTo>
                  <a:pt x="6778616" y="0"/>
                </a:lnTo>
                <a:cubicBezTo>
                  <a:pt x="6813691" y="0"/>
                  <a:pt x="6842125" y="28434"/>
                  <a:pt x="6842125" y="63509"/>
                </a:cubicBezTo>
                <a:lnTo>
                  <a:pt x="6842125" y="3468679"/>
                </a:lnTo>
                <a:cubicBezTo>
                  <a:pt x="6842125" y="3503754"/>
                  <a:pt x="6813691" y="3532188"/>
                  <a:pt x="6778616" y="3532188"/>
                </a:cubicBezTo>
                <a:lnTo>
                  <a:pt x="63509" y="3532188"/>
                </a:lnTo>
                <a:cubicBezTo>
                  <a:pt x="28434" y="3532188"/>
                  <a:pt x="0" y="3503754"/>
                  <a:pt x="0" y="3468679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7" name="Shape 5"/>
          <p:cNvSpPr/>
          <p:nvPr/>
        </p:nvSpPr>
        <p:spPr>
          <a:xfrm>
            <a:off x="1632109" y="1510030"/>
            <a:ext cx="184150" cy="1841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88057" y="-403"/>
                </a:moveTo>
                <a:cubicBezTo>
                  <a:pt x="82693" y="-3504"/>
                  <a:pt x="76057" y="-3504"/>
                  <a:pt x="70693" y="-403"/>
                </a:cubicBezTo>
                <a:lnTo>
                  <a:pt x="44586" y="14666"/>
                </a:lnTo>
                <a:cubicBezTo>
                  <a:pt x="39222" y="17766"/>
                  <a:pt x="35905" y="23502"/>
                  <a:pt x="35905" y="29704"/>
                </a:cubicBezTo>
                <a:lnTo>
                  <a:pt x="35905" y="61299"/>
                </a:lnTo>
                <a:lnTo>
                  <a:pt x="8527" y="77112"/>
                </a:lnTo>
                <a:cubicBezTo>
                  <a:pt x="3163" y="80212"/>
                  <a:pt x="-155" y="85948"/>
                  <a:pt x="-155" y="92149"/>
                </a:cubicBezTo>
                <a:lnTo>
                  <a:pt x="-155" y="122318"/>
                </a:lnTo>
                <a:cubicBezTo>
                  <a:pt x="-155" y="128519"/>
                  <a:pt x="3163" y="134255"/>
                  <a:pt x="8527" y="137356"/>
                </a:cubicBezTo>
                <a:lnTo>
                  <a:pt x="34665" y="152425"/>
                </a:lnTo>
                <a:cubicBezTo>
                  <a:pt x="40029" y="155525"/>
                  <a:pt x="46664" y="155525"/>
                  <a:pt x="52028" y="152425"/>
                </a:cubicBezTo>
                <a:lnTo>
                  <a:pt x="79406" y="136612"/>
                </a:lnTo>
                <a:lnTo>
                  <a:pt x="106784" y="152425"/>
                </a:lnTo>
                <a:cubicBezTo>
                  <a:pt x="112148" y="155525"/>
                  <a:pt x="118783" y="155525"/>
                  <a:pt x="124147" y="152425"/>
                </a:cubicBezTo>
                <a:lnTo>
                  <a:pt x="150223" y="137356"/>
                </a:lnTo>
                <a:cubicBezTo>
                  <a:pt x="155587" y="134255"/>
                  <a:pt x="158905" y="128519"/>
                  <a:pt x="158905" y="122318"/>
                </a:cubicBezTo>
                <a:lnTo>
                  <a:pt x="158905" y="92149"/>
                </a:lnTo>
                <a:cubicBezTo>
                  <a:pt x="158905" y="85948"/>
                  <a:pt x="155587" y="80212"/>
                  <a:pt x="150223" y="77112"/>
                </a:cubicBezTo>
                <a:lnTo>
                  <a:pt x="122845" y="61299"/>
                </a:lnTo>
                <a:lnTo>
                  <a:pt x="122845" y="29704"/>
                </a:lnTo>
                <a:cubicBezTo>
                  <a:pt x="122845" y="23502"/>
                  <a:pt x="119528" y="17766"/>
                  <a:pt x="114164" y="14666"/>
                </a:cubicBezTo>
                <a:lnTo>
                  <a:pt x="88057" y="-403"/>
                </a:lnTo>
                <a:close/>
                <a:moveTo>
                  <a:pt x="71934" y="90723"/>
                </a:moveTo>
                <a:lnTo>
                  <a:pt x="71934" y="123744"/>
                </a:lnTo>
                <a:lnTo>
                  <a:pt x="44555" y="139557"/>
                </a:lnTo>
                <a:cubicBezTo>
                  <a:pt x="44183" y="139774"/>
                  <a:pt x="43749" y="139898"/>
                  <a:pt x="43315" y="139898"/>
                </a:cubicBezTo>
                <a:lnTo>
                  <a:pt x="43315" y="107249"/>
                </a:lnTo>
                <a:lnTo>
                  <a:pt x="71934" y="90723"/>
                </a:lnTo>
                <a:close/>
                <a:moveTo>
                  <a:pt x="143681" y="90909"/>
                </a:moveTo>
                <a:cubicBezTo>
                  <a:pt x="143898" y="91281"/>
                  <a:pt x="144022" y="91715"/>
                  <a:pt x="144022" y="92149"/>
                </a:cubicBezTo>
                <a:lnTo>
                  <a:pt x="144022" y="122318"/>
                </a:lnTo>
                <a:cubicBezTo>
                  <a:pt x="144022" y="123217"/>
                  <a:pt x="143557" y="124023"/>
                  <a:pt x="142782" y="124458"/>
                </a:cubicBezTo>
                <a:lnTo>
                  <a:pt x="116644" y="139526"/>
                </a:lnTo>
                <a:cubicBezTo>
                  <a:pt x="116272" y="139743"/>
                  <a:pt x="115838" y="139867"/>
                  <a:pt x="115404" y="139867"/>
                </a:cubicBezTo>
                <a:lnTo>
                  <a:pt x="115404" y="107218"/>
                </a:lnTo>
                <a:lnTo>
                  <a:pt x="143681" y="90909"/>
                </a:lnTo>
                <a:close/>
                <a:moveTo>
                  <a:pt x="107993" y="29704"/>
                </a:moveTo>
                <a:lnTo>
                  <a:pt x="107993" y="61299"/>
                </a:lnTo>
                <a:lnTo>
                  <a:pt x="79375" y="77825"/>
                </a:lnTo>
                <a:lnTo>
                  <a:pt x="79375" y="44803"/>
                </a:lnTo>
                <a:lnTo>
                  <a:pt x="107652" y="28494"/>
                </a:lnTo>
                <a:cubicBezTo>
                  <a:pt x="107869" y="28866"/>
                  <a:pt x="107993" y="29301"/>
                  <a:pt x="107993" y="29735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8" name="Text 6"/>
          <p:cNvSpPr/>
          <p:nvPr/>
        </p:nvSpPr>
        <p:spPr>
          <a:xfrm>
            <a:off x="1839278" y="1473200"/>
            <a:ext cx="7430453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四大标准模块</a:t>
            </a:r>
            <a:endParaRPr lang="en-US" sz="1856" dirty="0"/>
          </a:p>
        </p:txBody>
      </p:sp>
      <p:sp>
        <p:nvSpPr>
          <p:cNvPr id="9" name="Shape 7"/>
          <p:cNvSpPr/>
          <p:nvPr/>
        </p:nvSpPr>
        <p:spPr>
          <a:xfrm>
            <a:off x="1627505" y="1878330"/>
            <a:ext cx="3692208" cy="1592898"/>
          </a:xfrm>
          <a:custGeom>
            <a:avLst/>
            <a:gdLst/>
            <a:ahLst/>
            <a:cxnLst/>
            <a:rect l="l" t="t" r="r" b="b"/>
            <a:pathLst>
              <a:path w="3182938" h="1373188">
                <a:moveTo>
                  <a:pt x="31750" y="0"/>
                </a:moveTo>
                <a:lnTo>
                  <a:pt x="3119441" y="0"/>
                </a:lnTo>
                <a:cubicBezTo>
                  <a:pt x="3154509" y="0"/>
                  <a:pt x="3182938" y="28428"/>
                  <a:pt x="3182938" y="63496"/>
                </a:cubicBezTo>
                <a:lnTo>
                  <a:pt x="3182938" y="1309691"/>
                </a:lnTo>
                <a:cubicBezTo>
                  <a:pt x="3182938" y="1344759"/>
                  <a:pt x="3154509" y="1373187"/>
                  <a:pt x="3119441" y="1373188"/>
                </a:cubicBezTo>
                <a:lnTo>
                  <a:pt x="31750" y="1373188"/>
                </a:lnTo>
                <a:cubicBezTo>
                  <a:pt x="14227" y="1373188"/>
                  <a:pt x="0" y="1358961"/>
                  <a:pt x="0" y="1341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1627505" y="1878330"/>
            <a:ext cx="36830" cy="1592898"/>
          </a:xfrm>
          <a:custGeom>
            <a:avLst/>
            <a:gdLst/>
            <a:ahLst/>
            <a:cxnLst/>
            <a:rect l="l" t="t" r="r" b="b"/>
            <a:pathLst>
              <a:path w="31750" h="1373188">
                <a:moveTo>
                  <a:pt x="31750" y="0"/>
                </a:moveTo>
                <a:lnTo>
                  <a:pt x="31750" y="0"/>
                </a:lnTo>
                <a:lnTo>
                  <a:pt x="31750" y="1373188"/>
                </a:lnTo>
                <a:lnTo>
                  <a:pt x="31750" y="1373188"/>
                </a:lnTo>
                <a:cubicBezTo>
                  <a:pt x="14227" y="1373188"/>
                  <a:pt x="0" y="1358961"/>
                  <a:pt x="0" y="1341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" name="Shape 9"/>
          <p:cNvSpPr/>
          <p:nvPr/>
        </p:nvSpPr>
        <p:spPr>
          <a:xfrm>
            <a:off x="1793240" y="2025650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2" name="Shape 10"/>
          <p:cNvSpPr/>
          <p:nvPr/>
        </p:nvSpPr>
        <p:spPr>
          <a:xfrm>
            <a:off x="1907183" y="2126933"/>
            <a:ext cx="145019" cy="16573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80367" y="17859"/>
                </a:moveTo>
                <a:cubicBezTo>
                  <a:pt x="80367" y="22799"/>
                  <a:pt x="76377" y="26789"/>
                  <a:pt x="71438" y="26789"/>
                </a:cubicBezTo>
                <a:lnTo>
                  <a:pt x="8930" y="26789"/>
                </a:lnTo>
                <a:cubicBezTo>
                  <a:pt x="3990" y="26789"/>
                  <a:pt x="0" y="22799"/>
                  <a:pt x="0" y="17859"/>
                </a:cubicBezTo>
                <a:cubicBezTo>
                  <a:pt x="0" y="12920"/>
                  <a:pt x="3990" y="8930"/>
                  <a:pt x="8930" y="8930"/>
                </a:cubicBezTo>
                <a:lnTo>
                  <a:pt x="71438" y="8930"/>
                </a:lnTo>
                <a:cubicBezTo>
                  <a:pt x="76377" y="8930"/>
                  <a:pt x="80367" y="12920"/>
                  <a:pt x="80367" y="17859"/>
                </a:cubicBezTo>
                <a:close/>
                <a:moveTo>
                  <a:pt x="80367" y="89297"/>
                </a:moveTo>
                <a:cubicBezTo>
                  <a:pt x="80367" y="94236"/>
                  <a:pt x="76377" y="98227"/>
                  <a:pt x="71438" y="98227"/>
                </a:cubicBezTo>
                <a:lnTo>
                  <a:pt x="8930" y="98227"/>
                </a:lnTo>
                <a:cubicBezTo>
                  <a:pt x="3990" y="98227"/>
                  <a:pt x="0" y="94236"/>
                  <a:pt x="0" y="89297"/>
                </a:cubicBezTo>
                <a:cubicBezTo>
                  <a:pt x="0" y="84358"/>
                  <a:pt x="3990" y="80367"/>
                  <a:pt x="8930" y="80367"/>
                </a:cubicBezTo>
                <a:lnTo>
                  <a:pt x="71438" y="80367"/>
                </a:lnTo>
                <a:cubicBezTo>
                  <a:pt x="76377" y="80367"/>
                  <a:pt x="80367" y="84358"/>
                  <a:pt x="80367" y="89297"/>
                </a:cubicBezTo>
                <a:close/>
                <a:moveTo>
                  <a:pt x="0" y="53578"/>
                </a:moveTo>
                <a:cubicBezTo>
                  <a:pt x="0" y="48639"/>
                  <a:pt x="3990" y="44648"/>
                  <a:pt x="8930" y="44648"/>
                </a:cubicBezTo>
                <a:lnTo>
                  <a:pt x="116086" y="44648"/>
                </a:lnTo>
                <a:cubicBezTo>
                  <a:pt x="121025" y="44648"/>
                  <a:pt x="125016" y="48639"/>
                  <a:pt x="125016" y="53578"/>
                </a:cubicBezTo>
                <a:cubicBezTo>
                  <a:pt x="125016" y="58517"/>
                  <a:pt x="121025" y="62508"/>
                  <a:pt x="116086" y="62508"/>
                </a:cubicBezTo>
                <a:lnTo>
                  <a:pt x="8930" y="62508"/>
                </a:lnTo>
                <a:cubicBezTo>
                  <a:pt x="3990" y="62508"/>
                  <a:pt x="0" y="58517"/>
                  <a:pt x="0" y="53578"/>
                </a:cubicBezTo>
                <a:close/>
                <a:moveTo>
                  <a:pt x="125016" y="125016"/>
                </a:moveTo>
                <a:cubicBezTo>
                  <a:pt x="125016" y="129955"/>
                  <a:pt x="121025" y="133945"/>
                  <a:pt x="116086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cubicBezTo>
                  <a:pt x="0" y="120076"/>
                  <a:pt x="3990" y="116086"/>
                  <a:pt x="8930" y="116086"/>
                </a:cubicBezTo>
                <a:lnTo>
                  <a:pt x="116086" y="116086"/>
                </a:lnTo>
                <a:cubicBezTo>
                  <a:pt x="121025" y="116086"/>
                  <a:pt x="125016" y="120076"/>
                  <a:pt x="125016" y="12501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2272030" y="2080895"/>
            <a:ext cx="1058863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Embedding</a:t>
            </a:r>
            <a:endParaRPr lang="en-US" sz="1856" dirty="0"/>
          </a:p>
        </p:txBody>
      </p:sp>
      <p:sp>
        <p:nvSpPr>
          <p:cNvPr id="14" name="Text 12"/>
          <p:cNvSpPr/>
          <p:nvPr/>
        </p:nvSpPr>
        <p:spPr>
          <a:xfrm>
            <a:off x="1793240" y="2504440"/>
            <a:ext cx="345281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功能：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Token向量化 + 位置编码</a:t>
            </a:r>
            <a:endParaRPr lang="en-US" sz="1856" dirty="0"/>
          </a:p>
        </p:txBody>
      </p:sp>
      <p:sp>
        <p:nvSpPr>
          <p:cNvPr id="15" name="Text 13"/>
          <p:cNvSpPr/>
          <p:nvPr/>
        </p:nvSpPr>
        <p:spPr>
          <a:xfrm>
            <a:off x="1793240" y="2803684"/>
            <a:ext cx="515692" cy="2117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接口：</a:t>
            </a:r>
            <a:endParaRPr lang="en-US" sz="1856" dirty="0"/>
          </a:p>
        </p:txBody>
      </p:sp>
      <p:sp>
        <p:nvSpPr>
          <p:cNvPr id="16" name="Shape 14"/>
          <p:cNvSpPr/>
          <p:nvPr/>
        </p:nvSpPr>
        <p:spPr>
          <a:xfrm>
            <a:off x="2235272" y="2854325"/>
            <a:ext cx="1987238" cy="151924"/>
          </a:xfrm>
          <a:custGeom>
            <a:avLst/>
            <a:gdLst/>
            <a:ahLst/>
            <a:cxnLst/>
            <a:rect l="l" t="t" r="r" b="b"/>
            <a:pathLst>
              <a:path w="1713136" h="130969">
                <a:moveTo>
                  <a:pt x="31749" y="0"/>
                </a:moveTo>
                <a:lnTo>
                  <a:pt x="1681386" y="0"/>
                </a:lnTo>
                <a:cubicBezTo>
                  <a:pt x="1698921" y="0"/>
                  <a:pt x="1713136" y="14215"/>
                  <a:pt x="1713136" y="31749"/>
                </a:cubicBezTo>
                <a:lnTo>
                  <a:pt x="1713136" y="99219"/>
                </a:lnTo>
                <a:cubicBezTo>
                  <a:pt x="1713136" y="116754"/>
                  <a:pt x="1698921" y="130969"/>
                  <a:pt x="1681386" y="130969"/>
                </a:cubicBezTo>
                <a:lnTo>
                  <a:pt x="31749" y="130969"/>
                </a:lnTo>
                <a:cubicBezTo>
                  <a:pt x="14215" y="130969"/>
                  <a:pt x="0" y="116754"/>
                  <a:pt x="0" y="9921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17" name="Text 15"/>
          <p:cNvSpPr/>
          <p:nvPr/>
        </p:nvSpPr>
        <p:spPr>
          <a:xfrm>
            <a:off x="2235272" y="2854325"/>
            <a:ext cx="2051690" cy="151924"/>
          </a:xfrm>
          <a:prstGeom prst="rect">
            <a:avLst/>
          </a:prstGeom>
          <a:noFill/>
        </p:spPr>
        <p:txBody>
          <a:bodyPr wrap="square" lIns="36830" tIns="0" rIns="3683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7F7F7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forward(input_ids, pos_ids)</a:t>
            </a:r>
            <a:endParaRPr lang="en-US" sz="1856" dirty="0"/>
          </a:p>
        </p:txBody>
      </p:sp>
      <p:sp>
        <p:nvSpPr>
          <p:cNvPr id="18" name="Text 16"/>
          <p:cNvSpPr/>
          <p:nvPr/>
        </p:nvSpPr>
        <p:spPr>
          <a:xfrm>
            <a:off x="1793240" y="3098324"/>
            <a:ext cx="345281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参数：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vocab_size, hidden_size, max_position</a:t>
            </a:r>
            <a:endParaRPr lang="en-US" sz="1856" dirty="0"/>
          </a:p>
        </p:txBody>
      </p:sp>
      <p:sp>
        <p:nvSpPr>
          <p:cNvPr id="19" name="Shape 17"/>
          <p:cNvSpPr/>
          <p:nvPr/>
        </p:nvSpPr>
        <p:spPr>
          <a:xfrm>
            <a:off x="5483577" y="1878330"/>
            <a:ext cx="3692208" cy="1592898"/>
          </a:xfrm>
          <a:custGeom>
            <a:avLst/>
            <a:gdLst/>
            <a:ahLst/>
            <a:cxnLst/>
            <a:rect l="l" t="t" r="r" b="b"/>
            <a:pathLst>
              <a:path w="3182938" h="1373188">
                <a:moveTo>
                  <a:pt x="31750" y="0"/>
                </a:moveTo>
                <a:lnTo>
                  <a:pt x="3119441" y="0"/>
                </a:lnTo>
                <a:cubicBezTo>
                  <a:pt x="3154509" y="0"/>
                  <a:pt x="3182938" y="28428"/>
                  <a:pt x="3182938" y="63496"/>
                </a:cubicBezTo>
                <a:lnTo>
                  <a:pt x="3182938" y="1309691"/>
                </a:lnTo>
                <a:cubicBezTo>
                  <a:pt x="3182938" y="1344759"/>
                  <a:pt x="3154509" y="1373187"/>
                  <a:pt x="3119441" y="1373188"/>
                </a:cubicBezTo>
                <a:lnTo>
                  <a:pt x="31750" y="1373188"/>
                </a:lnTo>
                <a:cubicBezTo>
                  <a:pt x="14227" y="1373188"/>
                  <a:pt x="0" y="1358961"/>
                  <a:pt x="0" y="1341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Shape 18"/>
          <p:cNvSpPr/>
          <p:nvPr/>
        </p:nvSpPr>
        <p:spPr>
          <a:xfrm>
            <a:off x="5483577" y="1878330"/>
            <a:ext cx="36830" cy="1592898"/>
          </a:xfrm>
          <a:custGeom>
            <a:avLst/>
            <a:gdLst/>
            <a:ahLst/>
            <a:cxnLst/>
            <a:rect l="l" t="t" r="r" b="b"/>
            <a:pathLst>
              <a:path w="31750" h="1373188">
                <a:moveTo>
                  <a:pt x="31750" y="0"/>
                </a:moveTo>
                <a:lnTo>
                  <a:pt x="31750" y="0"/>
                </a:lnTo>
                <a:lnTo>
                  <a:pt x="31750" y="1373188"/>
                </a:lnTo>
                <a:lnTo>
                  <a:pt x="31750" y="1373188"/>
                </a:lnTo>
                <a:cubicBezTo>
                  <a:pt x="14227" y="1373188"/>
                  <a:pt x="0" y="1358961"/>
                  <a:pt x="0" y="1341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1" name="Shape 19"/>
          <p:cNvSpPr/>
          <p:nvPr/>
        </p:nvSpPr>
        <p:spPr>
          <a:xfrm>
            <a:off x="5649312" y="2025650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2" name="Shape 20"/>
          <p:cNvSpPr/>
          <p:nvPr/>
        </p:nvSpPr>
        <p:spPr>
          <a:xfrm>
            <a:off x="5752897" y="2126933"/>
            <a:ext cx="165735" cy="16573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22324"/>
                </a:moveTo>
                <a:cubicBezTo>
                  <a:pt x="0" y="14929"/>
                  <a:pt x="6000" y="8930"/>
                  <a:pt x="13395" y="8930"/>
                </a:cubicBezTo>
                <a:lnTo>
                  <a:pt x="40184" y="8930"/>
                </a:lnTo>
                <a:cubicBezTo>
                  <a:pt x="47578" y="8930"/>
                  <a:pt x="53578" y="14929"/>
                  <a:pt x="53578" y="22324"/>
                </a:cubicBezTo>
                <a:lnTo>
                  <a:pt x="53578" y="26789"/>
                </a:lnTo>
                <a:lnTo>
                  <a:pt x="89297" y="26789"/>
                </a:lnTo>
                <a:lnTo>
                  <a:pt x="89297" y="22324"/>
                </a:lnTo>
                <a:cubicBezTo>
                  <a:pt x="89297" y="14929"/>
                  <a:pt x="95297" y="8930"/>
                  <a:pt x="102691" y="8930"/>
                </a:cubicBezTo>
                <a:lnTo>
                  <a:pt x="129480" y="8930"/>
                </a:lnTo>
                <a:cubicBezTo>
                  <a:pt x="136875" y="8930"/>
                  <a:pt x="142875" y="14929"/>
                  <a:pt x="142875" y="22324"/>
                </a:cubicBezTo>
                <a:lnTo>
                  <a:pt x="142875" y="49113"/>
                </a:lnTo>
                <a:cubicBezTo>
                  <a:pt x="142875" y="56508"/>
                  <a:pt x="136875" y="62508"/>
                  <a:pt x="129480" y="62508"/>
                </a:cubicBezTo>
                <a:lnTo>
                  <a:pt x="102691" y="62508"/>
                </a:lnTo>
                <a:cubicBezTo>
                  <a:pt x="95297" y="62508"/>
                  <a:pt x="89297" y="56508"/>
                  <a:pt x="89297" y="49113"/>
                </a:cubicBezTo>
                <a:lnTo>
                  <a:pt x="89297" y="44648"/>
                </a:lnTo>
                <a:lnTo>
                  <a:pt x="53578" y="44648"/>
                </a:lnTo>
                <a:lnTo>
                  <a:pt x="53578" y="49113"/>
                </a:lnTo>
                <a:cubicBezTo>
                  <a:pt x="53578" y="51150"/>
                  <a:pt x="53104" y="53104"/>
                  <a:pt x="52294" y="54834"/>
                </a:cubicBezTo>
                <a:lnTo>
                  <a:pt x="71438" y="80367"/>
                </a:lnTo>
                <a:lnTo>
                  <a:pt x="93762" y="80367"/>
                </a:lnTo>
                <a:cubicBezTo>
                  <a:pt x="101157" y="80367"/>
                  <a:pt x="107156" y="86367"/>
                  <a:pt x="107156" y="93762"/>
                </a:cubicBezTo>
                <a:lnTo>
                  <a:pt x="107156" y="120551"/>
                </a:lnTo>
                <a:cubicBezTo>
                  <a:pt x="107156" y="127946"/>
                  <a:pt x="101157" y="133945"/>
                  <a:pt x="93762" y="133945"/>
                </a:cubicBezTo>
                <a:lnTo>
                  <a:pt x="66973" y="133945"/>
                </a:lnTo>
                <a:cubicBezTo>
                  <a:pt x="59578" y="133945"/>
                  <a:pt x="53578" y="127946"/>
                  <a:pt x="53578" y="120551"/>
                </a:cubicBezTo>
                <a:lnTo>
                  <a:pt x="53578" y="93762"/>
                </a:lnTo>
                <a:cubicBezTo>
                  <a:pt x="53578" y="91725"/>
                  <a:pt x="54053" y="89771"/>
                  <a:pt x="54862" y="88041"/>
                </a:cubicBezTo>
                <a:lnTo>
                  <a:pt x="35719" y="62508"/>
                </a:lnTo>
                <a:lnTo>
                  <a:pt x="13395" y="62508"/>
                </a:lnTo>
                <a:cubicBezTo>
                  <a:pt x="6000" y="62508"/>
                  <a:pt x="0" y="56508"/>
                  <a:pt x="0" y="49113"/>
                </a:cubicBezTo>
                <a:lnTo>
                  <a:pt x="0" y="2232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6128102" y="2080895"/>
            <a:ext cx="883920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Attention</a:t>
            </a:r>
            <a:endParaRPr lang="en-US" sz="1856" dirty="0"/>
          </a:p>
        </p:txBody>
      </p:sp>
      <p:sp>
        <p:nvSpPr>
          <p:cNvPr id="24" name="Text 22"/>
          <p:cNvSpPr/>
          <p:nvPr/>
        </p:nvSpPr>
        <p:spPr>
          <a:xfrm>
            <a:off x="5649312" y="2504440"/>
            <a:ext cx="345281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功能：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注意力计算 + KV Cache管理</a:t>
            </a:r>
            <a:endParaRPr lang="en-US" sz="1856" dirty="0"/>
          </a:p>
        </p:txBody>
      </p:sp>
      <p:sp>
        <p:nvSpPr>
          <p:cNvPr id="25" name="Text 23"/>
          <p:cNvSpPr/>
          <p:nvPr/>
        </p:nvSpPr>
        <p:spPr>
          <a:xfrm>
            <a:off x="5649312" y="2803684"/>
            <a:ext cx="515692" cy="2117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接口：</a:t>
            </a:r>
            <a:endParaRPr lang="en-US" sz="1856" dirty="0"/>
          </a:p>
        </p:txBody>
      </p:sp>
      <p:sp>
        <p:nvSpPr>
          <p:cNvPr id="26" name="Shape 24"/>
          <p:cNvSpPr/>
          <p:nvPr/>
        </p:nvSpPr>
        <p:spPr>
          <a:xfrm>
            <a:off x="6091344" y="2854325"/>
            <a:ext cx="2270728" cy="151924"/>
          </a:xfrm>
          <a:custGeom>
            <a:avLst/>
            <a:gdLst/>
            <a:ahLst/>
            <a:cxnLst/>
            <a:rect l="l" t="t" r="r" b="b"/>
            <a:pathLst>
              <a:path w="1957524" h="130969">
                <a:moveTo>
                  <a:pt x="31749" y="0"/>
                </a:moveTo>
                <a:lnTo>
                  <a:pt x="1925774" y="0"/>
                </a:lnTo>
                <a:cubicBezTo>
                  <a:pt x="1943309" y="0"/>
                  <a:pt x="1957524" y="14215"/>
                  <a:pt x="1957524" y="31749"/>
                </a:cubicBezTo>
                <a:lnTo>
                  <a:pt x="1957524" y="99219"/>
                </a:lnTo>
                <a:cubicBezTo>
                  <a:pt x="1957524" y="116754"/>
                  <a:pt x="1943309" y="130969"/>
                  <a:pt x="1925774" y="130969"/>
                </a:cubicBezTo>
                <a:lnTo>
                  <a:pt x="31749" y="130969"/>
                </a:lnTo>
                <a:cubicBezTo>
                  <a:pt x="14215" y="130969"/>
                  <a:pt x="0" y="116754"/>
                  <a:pt x="0" y="9921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27" name="Text 25"/>
          <p:cNvSpPr/>
          <p:nvPr/>
        </p:nvSpPr>
        <p:spPr>
          <a:xfrm>
            <a:off x="6091344" y="2854325"/>
            <a:ext cx="2335180" cy="151924"/>
          </a:xfrm>
          <a:prstGeom prst="rect">
            <a:avLst/>
          </a:prstGeom>
          <a:noFill/>
        </p:spPr>
        <p:txBody>
          <a:bodyPr wrap="square" lIns="36830" tIns="0" rIns="3683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7F7F7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forward(hidden, kv_cache, mask)</a:t>
            </a:r>
            <a:endParaRPr lang="en-US" sz="1856" dirty="0"/>
          </a:p>
        </p:txBody>
      </p:sp>
      <p:sp>
        <p:nvSpPr>
          <p:cNvPr id="28" name="Text 26"/>
          <p:cNvSpPr/>
          <p:nvPr/>
        </p:nvSpPr>
        <p:spPr>
          <a:xfrm>
            <a:off x="5649312" y="3098324"/>
            <a:ext cx="345281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参数：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num_heads, num_kv_heads, head_dim</a:t>
            </a:r>
            <a:endParaRPr lang="en-US" sz="1856" dirty="0"/>
          </a:p>
        </p:txBody>
      </p:sp>
      <p:sp>
        <p:nvSpPr>
          <p:cNvPr id="29" name="Shape 27"/>
          <p:cNvSpPr/>
          <p:nvPr/>
        </p:nvSpPr>
        <p:spPr>
          <a:xfrm>
            <a:off x="1627505" y="3613944"/>
            <a:ext cx="3692208" cy="1592898"/>
          </a:xfrm>
          <a:custGeom>
            <a:avLst/>
            <a:gdLst/>
            <a:ahLst/>
            <a:cxnLst/>
            <a:rect l="l" t="t" r="r" b="b"/>
            <a:pathLst>
              <a:path w="3182938" h="1373188">
                <a:moveTo>
                  <a:pt x="31750" y="0"/>
                </a:moveTo>
                <a:lnTo>
                  <a:pt x="3119441" y="0"/>
                </a:lnTo>
                <a:cubicBezTo>
                  <a:pt x="3154509" y="0"/>
                  <a:pt x="3182938" y="28428"/>
                  <a:pt x="3182938" y="63496"/>
                </a:cubicBezTo>
                <a:lnTo>
                  <a:pt x="3182938" y="1309691"/>
                </a:lnTo>
                <a:cubicBezTo>
                  <a:pt x="3182938" y="1344759"/>
                  <a:pt x="3154509" y="1373187"/>
                  <a:pt x="3119441" y="1373188"/>
                </a:cubicBezTo>
                <a:lnTo>
                  <a:pt x="31750" y="1373188"/>
                </a:lnTo>
                <a:cubicBezTo>
                  <a:pt x="14227" y="1373188"/>
                  <a:pt x="0" y="1358961"/>
                  <a:pt x="0" y="1341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Shape 28"/>
          <p:cNvSpPr/>
          <p:nvPr/>
        </p:nvSpPr>
        <p:spPr>
          <a:xfrm>
            <a:off x="1627505" y="3613944"/>
            <a:ext cx="36830" cy="1592898"/>
          </a:xfrm>
          <a:custGeom>
            <a:avLst/>
            <a:gdLst/>
            <a:ahLst/>
            <a:cxnLst/>
            <a:rect l="l" t="t" r="r" b="b"/>
            <a:pathLst>
              <a:path w="31750" h="1373188">
                <a:moveTo>
                  <a:pt x="31750" y="0"/>
                </a:moveTo>
                <a:lnTo>
                  <a:pt x="31750" y="0"/>
                </a:lnTo>
                <a:lnTo>
                  <a:pt x="31750" y="1373188"/>
                </a:lnTo>
                <a:lnTo>
                  <a:pt x="31750" y="1373188"/>
                </a:lnTo>
                <a:cubicBezTo>
                  <a:pt x="14227" y="1373188"/>
                  <a:pt x="0" y="1358961"/>
                  <a:pt x="0" y="1341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1" name="Shape 29"/>
          <p:cNvSpPr/>
          <p:nvPr/>
        </p:nvSpPr>
        <p:spPr>
          <a:xfrm>
            <a:off x="1793240" y="3761264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2" name="Shape 30"/>
          <p:cNvSpPr/>
          <p:nvPr/>
        </p:nvSpPr>
        <p:spPr>
          <a:xfrm>
            <a:off x="1886466" y="3862546"/>
            <a:ext cx="186451" cy="16573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69205" y="24557"/>
                </a:moveTo>
                <a:lnTo>
                  <a:pt x="91529" y="24557"/>
                </a:lnTo>
                <a:lnTo>
                  <a:pt x="91529" y="37951"/>
                </a:lnTo>
                <a:lnTo>
                  <a:pt x="69205" y="37951"/>
                </a:lnTo>
                <a:lnTo>
                  <a:pt x="69205" y="24557"/>
                </a:lnTo>
                <a:close/>
                <a:moveTo>
                  <a:pt x="66973" y="8930"/>
                </a:moveTo>
                <a:cubicBezTo>
                  <a:pt x="59578" y="8930"/>
                  <a:pt x="53578" y="14929"/>
                  <a:pt x="53578" y="22324"/>
                </a:cubicBezTo>
                <a:lnTo>
                  <a:pt x="53578" y="40184"/>
                </a:lnTo>
                <a:cubicBezTo>
                  <a:pt x="53578" y="47578"/>
                  <a:pt x="59578" y="53578"/>
                  <a:pt x="66973" y="53578"/>
                </a:cubicBezTo>
                <a:lnTo>
                  <a:pt x="71438" y="53578"/>
                </a:lnTo>
                <a:lnTo>
                  <a:pt x="71438" y="62508"/>
                </a:lnTo>
                <a:lnTo>
                  <a:pt x="8930" y="62508"/>
                </a:lnTo>
                <a:cubicBezTo>
                  <a:pt x="3990" y="62508"/>
                  <a:pt x="0" y="66498"/>
                  <a:pt x="0" y="71438"/>
                </a:cubicBezTo>
                <a:cubicBezTo>
                  <a:pt x="0" y="76377"/>
                  <a:pt x="3990" y="80367"/>
                  <a:pt x="8930" y="80367"/>
                </a:cubicBezTo>
                <a:lnTo>
                  <a:pt x="35719" y="80367"/>
                </a:lnTo>
                <a:lnTo>
                  <a:pt x="35719" y="89297"/>
                </a:lnTo>
                <a:lnTo>
                  <a:pt x="31254" y="89297"/>
                </a:lnTo>
                <a:cubicBezTo>
                  <a:pt x="23859" y="89297"/>
                  <a:pt x="17859" y="95297"/>
                  <a:pt x="17859" y="102691"/>
                </a:cubicBezTo>
                <a:lnTo>
                  <a:pt x="17859" y="120551"/>
                </a:lnTo>
                <a:cubicBezTo>
                  <a:pt x="17859" y="127946"/>
                  <a:pt x="23859" y="133945"/>
                  <a:pt x="31254" y="133945"/>
                </a:cubicBezTo>
                <a:lnTo>
                  <a:pt x="58043" y="133945"/>
                </a:lnTo>
                <a:cubicBezTo>
                  <a:pt x="65438" y="133945"/>
                  <a:pt x="71438" y="127946"/>
                  <a:pt x="71438" y="120551"/>
                </a:cubicBezTo>
                <a:lnTo>
                  <a:pt x="71438" y="102691"/>
                </a:lnTo>
                <a:cubicBezTo>
                  <a:pt x="71438" y="95297"/>
                  <a:pt x="65438" y="89297"/>
                  <a:pt x="58043" y="89297"/>
                </a:cubicBezTo>
                <a:lnTo>
                  <a:pt x="53578" y="89297"/>
                </a:lnTo>
                <a:lnTo>
                  <a:pt x="53578" y="80367"/>
                </a:lnTo>
                <a:lnTo>
                  <a:pt x="107156" y="80367"/>
                </a:lnTo>
                <a:lnTo>
                  <a:pt x="107156" y="89297"/>
                </a:lnTo>
                <a:lnTo>
                  <a:pt x="102691" y="89297"/>
                </a:lnTo>
                <a:cubicBezTo>
                  <a:pt x="95297" y="89297"/>
                  <a:pt x="89297" y="95297"/>
                  <a:pt x="89297" y="102691"/>
                </a:cubicBezTo>
                <a:lnTo>
                  <a:pt x="89297" y="120551"/>
                </a:lnTo>
                <a:cubicBezTo>
                  <a:pt x="89297" y="127946"/>
                  <a:pt x="95297" y="133945"/>
                  <a:pt x="102691" y="133945"/>
                </a:cubicBezTo>
                <a:lnTo>
                  <a:pt x="129480" y="133945"/>
                </a:lnTo>
                <a:cubicBezTo>
                  <a:pt x="136875" y="133945"/>
                  <a:pt x="142875" y="127946"/>
                  <a:pt x="142875" y="120551"/>
                </a:cubicBezTo>
                <a:lnTo>
                  <a:pt x="142875" y="102691"/>
                </a:lnTo>
                <a:cubicBezTo>
                  <a:pt x="142875" y="95297"/>
                  <a:pt x="136875" y="89297"/>
                  <a:pt x="129480" y="89297"/>
                </a:cubicBezTo>
                <a:lnTo>
                  <a:pt x="125016" y="89297"/>
                </a:lnTo>
                <a:lnTo>
                  <a:pt x="125016" y="80367"/>
                </a:lnTo>
                <a:lnTo>
                  <a:pt x="151805" y="80367"/>
                </a:lnTo>
                <a:cubicBezTo>
                  <a:pt x="156744" y="80367"/>
                  <a:pt x="160734" y="76377"/>
                  <a:pt x="160734" y="71438"/>
                </a:cubicBezTo>
                <a:cubicBezTo>
                  <a:pt x="160734" y="66498"/>
                  <a:pt x="156744" y="62508"/>
                  <a:pt x="151805" y="62508"/>
                </a:cubicBezTo>
                <a:lnTo>
                  <a:pt x="89297" y="62508"/>
                </a:lnTo>
                <a:lnTo>
                  <a:pt x="89297" y="53578"/>
                </a:lnTo>
                <a:lnTo>
                  <a:pt x="93762" y="53578"/>
                </a:lnTo>
                <a:cubicBezTo>
                  <a:pt x="101157" y="53578"/>
                  <a:pt x="107156" y="47578"/>
                  <a:pt x="107156" y="40184"/>
                </a:cubicBezTo>
                <a:lnTo>
                  <a:pt x="107156" y="22324"/>
                </a:lnTo>
                <a:cubicBezTo>
                  <a:pt x="107156" y="14929"/>
                  <a:pt x="101157" y="8930"/>
                  <a:pt x="93762" y="8930"/>
                </a:cubicBezTo>
                <a:lnTo>
                  <a:pt x="66973" y="8930"/>
                </a:lnTo>
                <a:close/>
                <a:moveTo>
                  <a:pt x="125016" y="104924"/>
                </a:moveTo>
                <a:lnTo>
                  <a:pt x="127248" y="104924"/>
                </a:lnTo>
                <a:lnTo>
                  <a:pt x="127248" y="118318"/>
                </a:lnTo>
                <a:lnTo>
                  <a:pt x="104924" y="118318"/>
                </a:lnTo>
                <a:lnTo>
                  <a:pt x="104924" y="104924"/>
                </a:lnTo>
                <a:lnTo>
                  <a:pt x="125016" y="104924"/>
                </a:lnTo>
                <a:close/>
                <a:moveTo>
                  <a:pt x="53578" y="104924"/>
                </a:moveTo>
                <a:lnTo>
                  <a:pt x="55811" y="104924"/>
                </a:lnTo>
                <a:lnTo>
                  <a:pt x="55811" y="118318"/>
                </a:lnTo>
                <a:lnTo>
                  <a:pt x="33486" y="118318"/>
                </a:lnTo>
                <a:lnTo>
                  <a:pt x="33486" y="104924"/>
                </a:lnTo>
                <a:lnTo>
                  <a:pt x="53578" y="10492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2272030" y="3816509"/>
            <a:ext cx="902335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MOE/FFN</a:t>
            </a:r>
            <a:endParaRPr lang="en-US" sz="1856" dirty="0"/>
          </a:p>
        </p:txBody>
      </p:sp>
      <p:sp>
        <p:nvSpPr>
          <p:cNvPr id="34" name="Text 32"/>
          <p:cNvSpPr/>
          <p:nvPr/>
        </p:nvSpPr>
        <p:spPr>
          <a:xfrm>
            <a:off x="1793240" y="4240054"/>
            <a:ext cx="345281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功能：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前馈网络计算</a:t>
            </a:r>
            <a:endParaRPr lang="en-US" sz="1856" dirty="0"/>
          </a:p>
        </p:txBody>
      </p:sp>
      <p:sp>
        <p:nvSpPr>
          <p:cNvPr id="35" name="Text 33"/>
          <p:cNvSpPr/>
          <p:nvPr/>
        </p:nvSpPr>
        <p:spPr>
          <a:xfrm>
            <a:off x="1793240" y="4539298"/>
            <a:ext cx="515692" cy="2117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接口：</a:t>
            </a:r>
            <a:endParaRPr lang="en-US" sz="1856" dirty="0"/>
          </a:p>
        </p:txBody>
      </p:sp>
      <p:sp>
        <p:nvSpPr>
          <p:cNvPr id="36" name="Shape 34"/>
          <p:cNvSpPr/>
          <p:nvPr/>
        </p:nvSpPr>
        <p:spPr>
          <a:xfrm>
            <a:off x="2235272" y="4589939"/>
            <a:ext cx="2270728" cy="151924"/>
          </a:xfrm>
          <a:custGeom>
            <a:avLst/>
            <a:gdLst/>
            <a:ahLst/>
            <a:cxnLst/>
            <a:rect l="l" t="t" r="r" b="b"/>
            <a:pathLst>
              <a:path w="1957524" h="130969">
                <a:moveTo>
                  <a:pt x="31749" y="0"/>
                </a:moveTo>
                <a:lnTo>
                  <a:pt x="1925774" y="0"/>
                </a:lnTo>
                <a:cubicBezTo>
                  <a:pt x="1943309" y="0"/>
                  <a:pt x="1957524" y="14215"/>
                  <a:pt x="1957524" y="31749"/>
                </a:cubicBezTo>
                <a:lnTo>
                  <a:pt x="1957524" y="99219"/>
                </a:lnTo>
                <a:cubicBezTo>
                  <a:pt x="1957524" y="116754"/>
                  <a:pt x="1943309" y="130969"/>
                  <a:pt x="1925774" y="130969"/>
                </a:cubicBezTo>
                <a:lnTo>
                  <a:pt x="31749" y="130969"/>
                </a:lnTo>
                <a:cubicBezTo>
                  <a:pt x="14215" y="130969"/>
                  <a:pt x="0" y="116754"/>
                  <a:pt x="0" y="9921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37" name="Text 35"/>
          <p:cNvSpPr/>
          <p:nvPr/>
        </p:nvSpPr>
        <p:spPr>
          <a:xfrm>
            <a:off x="2235272" y="4589939"/>
            <a:ext cx="2335180" cy="151924"/>
          </a:xfrm>
          <a:prstGeom prst="rect">
            <a:avLst/>
          </a:prstGeom>
          <a:noFill/>
        </p:spPr>
        <p:txBody>
          <a:bodyPr wrap="square" lIns="36830" tIns="0" rIns="3683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7F7F7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forward(hidden, router_weights)</a:t>
            </a:r>
            <a:endParaRPr lang="en-US" sz="1856" dirty="0"/>
          </a:p>
        </p:txBody>
      </p:sp>
      <p:sp>
        <p:nvSpPr>
          <p:cNvPr id="38" name="Text 36"/>
          <p:cNvSpPr/>
          <p:nvPr/>
        </p:nvSpPr>
        <p:spPr>
          <a:xfrm>
            <a:off x="1793240" y="4833938"/>
            <a:ext cx="345281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参数：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intermediate_size, num_experts, top_k</a:t>
            </a:r>
            <a:endParaRPr lang="en-US" sz="1856" dirty="0"/>
          </a:p>
        </p:txBody>
      </p:sp>
      <p:sp>
        <p:nvSpPr>
          <p:cNvPr id="39" name="Shape 37"/>
          <p:cNvSpPr/>
          <p:nvPr/>
        </p:nvSpPr>
        <p:spPr>
          <a:xfrm>
            <a:off x="5483577" y="3613944"/>
            <a:ext cx="3692208" cy="1592898"/>
          </a:xfrm>
          <a:custGeom>
            <a:avLst/>
            <a:gdLst/>
            <a:ahLst/>
            <a:cxnLst/>
            <a:rect l="l" t="t" r="r" b="b"/>
            <a:pathLst>
              <a:path w="3182938" h="1373188">
                <a:moveTo>
                  <a:pt x="31750" y="0"/>
                </a:moveTo>
                <a:lnTo>
                  <a:pt x="3119441" y="0"/>
                </a:lnTo>
                <a:cubicBezTo>
                  <a:pt x="3154509" y="0"/>
                  <a:pt x="3182938" y="28428"/>
                  <a:pt x="3182938" y="63496"/>
                </a:cubicBezTo>
                <a:lnTo>
                  <a:pt x="3182938" y="1309691"/>
                </a:lnTo>
                <a:cubicBezTo>
                  <a:pt x="3182938" y="1344759"/>
                  <a:pt x="3154509" y="1373187"/>
                  <a:pt x="3119441" y="1373188"/>
                </a:cubicBezTo>
                <a:lnTo>
                  <a:pt x="31750" y="1373188"/>
                </a:lnTo>
                <a:cubicBezTo>
                  <a:pt x="14227" y="1373188"/>
                  <a:pt x="0" y="1358961"/>
                  <a:pt x="0" y="1341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Shape 38"/>
          <p:cNvSpPr/>
          <p:nvPr/>
        </p:nvSpPr>
        <p:spPr>
          <a:xfrm>
            <a:off x="5483577" y="3613944"/>
            <a:ext cx="36830" cy="1592898"/>
          </a:xfrm>
          <a:custGeom>
            <a:avLst/>
            <a:gdLst/>
            <a:ahLst/>
            <a:cxnLst/>
            <a:rect l="l" t="t" r="r" b="b"/>
            <a:pathLst>
              <a:path w="31750" h="1373188">
                <a:moveTo>
                  <a:pt x="31750" y="0"/>
                </a:moveTo>
                <a:lnTo>
                  <a:pt x="31750" y="0"/>
                </a:lnTo>
                <a:lnTo>
                  <a:pt x="31750" y="1373188"/>
                </a:lnTo>
                <a:lnTo>
                  <a:pt x="31750" y="1373188"/>
                </a:lnTo>
                <a:cubicBezTo>
                  <a:pt x="14227" y="1373188"/>
                  <a:pt x="0" y="1358961"/>
                  <a:pt x="0" y="1341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1" name="Shape 39"/>
          <p:cNvSpPr/>
          <p:nvPr/>
        </p:nvSpPr>
        <p:spPr>
          <a:xfrm>
            <a:off x="5649312" y="3761264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2" name="Shape 40"/>
          <p:cNvSpPr/>
          <p:nvPr/>
        </p:nvSpPr>
        <p:spPr>
          <a:xfrm>
            <a:off x="5752897" y="3862546"/>
            <a:ext cx="165735" cy="16573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3486" y="15627"/>
                </a:moveTo>
                <a:cubicBezTo>
                  <a:pt x="33486" y="7004"/>
                  <a:pt x="40491" y="0"/>
                  <a:pt x="49113" y="0"/>
                </a:cubicBezTo>
                <a:lnTo>
                  <a:pt x="55811" y="0"/>
                </a:lnTo>
                <a:cubicBezTo>
                  <a:pt x="60750" y="0"/>
                  <a:pt x="64740" y="3990"/>
                  <a:pt x="64740" y="8930"/>
                </a:cubicBezTo>
                <a:lnTo>
                  <a:pt x="64740" y="133945"/>
                </a:lnTo>
                <a:cubicBezTo>
                  <a:pt x="64740" y="138885"/>
                  <a:pt x="60750" y="142875"/>
                  <a:pt x="55811" y="142875"/>
                </a:cubicBezTo>
                <a:lnTo>
                  <a:pt x="46881" y="142875"/>
                </a:lnTo>
                <a:cubicBezTo>
                  <a:pt x="38565" y="142875"/>
                  <a:pt x="31561" y="137182"/>
                  <a:pt x="29580" y="129480"/>
                </a:cubicBezTo>
                <a:cubicBezTo>
                  <a:pt x="29384" y="129480"/>
                  <a:pt x="29217" y="129480"/>
                  <a:pt x="29021" y="129480"/>
                </a:cubicBezTo>
                <a:cubicBezTo>
                  <a:pt x="16687" y="129480"/>
                  <a:pt x="6697" y="119490"/>
                  <a:pt x="6697" y="107156"/>
                </a:cubicBezTo>
                <a:cubicBezTo>
                  <a:pt x="6697" y="102133"/>
                  <a:pt x="8372" y="97501"/>
                  <a:pt x="11162" y="93762"/>
                </a:cubicBezTo>
                <a:cubicBezTo>
                  <a:pt x="5748" y="89688"/>
                  <a:pt x="2232" y="83214"/>
                  <a:pt x="2232" y="75902"/>
                </a:cubicBezTo>
                <a:cubicBezTo>
                  <a:pt x="2232" y="67280"/>
                  <a:pt x="7144" y="59773"/>
                  <a:pt x="14288" y="56062"/>
                </a:cubicBezTo>
                <a:cubicBezTo>
                  <a:pt x="12306" y="52713"/>
                  <a:pt x="11162" y="48806"/>
                  <a:pt x="11162" y="44648"/>
                </a:cubicBezTo>
                <a:cubicBezTo>
                  <a:pt x="11162" y="32314"/>
                  <a:pt x="21152" y="22324"/>
                  <a:pt x="33486" y="22324"/>
                </a:cubicBezTo>
                <a:lnTo>
                  <a:pt x="33486" y="15627"/>
                </a:lnTo>
                <a:close/>
                <a:moveTo>
                  <a:pt x="109389" y="15627"/>
                </a:moveTo>
                <a:lnTo>
                  <a:pt x="109389" y="22324"/>
                </a:lnTo>
                <a:cubicBezTo>
                  <a:pt x="121723" y="22324"/>
                  <a:pt x="131713" y="32314"/>
                  <a:pt x="131713" y="44648"/>
                </a:cubicBezTo>
                <a:cubicBezTo>
                  <a:pt x="131713" y="48834"/>
                  <a:pt x="130569" y="52741"/>
                  <a:pt x="128588" y="56062"/>
                </a:cubicBezTo>
                <a:cubicBezTo>
                  <a:pt x="135759" y="59773"/>
                  <a:pt x="140643" y="67252"/>
                  <a:pt x="140643" y="75902"/>
                </a:cubicBezTo>
                <a:cubicBezTo>
                  <a:pt x="140643" y="83214"/>
                  <a:pt x="137127" y="89688"/>
                  <a:pt x="131713" y="93762"/>
                </a:cubicBezTo>
                <a:cubicBezTo>
                  <a:pt x="134503" y="97501"/>
                  <a:pt x="136178" y="102133"/>
                  <a:pt x="136178" y="107156"/>
                </a:cubicBezTo>
                <a:cubicBezTo>
                  <a:pt x="136178" y="119490"/>
                  <a:pt x="126188" y="129480"/>
                  <a:pt x="113854" y="129480"/>
                </a:cubicBezTo>
                <a:cubicBezTo>
                  <a:pt x="113658" y="129480"/>
                  <a:pt x="113491" y="129480"/>
                  <a:pt x="113295" y="129480"/>
                </a:cubicBezTo>
                <a:cubicBezTo>
                  <a:pt x="111314" y="137182"/>
                  <a:pt x="104310" y="142875"/>
                  <a:pt x="95994" y="142875"/>
                </a:cubicBezTo>
                <a:lnTo>
                  <a:pt x="87064" y="142875"/>
                </a:lnTo>
                <a:cubicBezTo>
                  <a:pt x="82125" y="142875"/>
                  <a:pt x="78135" y="138885"/>
                  <a:pt x="78135" y="133945"/>
                </a:cubicBezTo>
                <a:lnTo>
                  <a:pt x="78135" y="8930"/>
                </a:lnTo>
                <a:cubicBezTo>
                  <a:pt x="78135" y="3990"/>
                  <a:pt x="82125" y="0"/>
                  <a:pt x="87064" y="0"/>
                </a:cubicBezTo>
                <a:lnTo>
                  <a:pt x="93762" y="0"/>
                </a:lnTo>
                <a:cubicBezTo>
                  <a:pt x="102384" y="0"/>
                  <a:pt x="109389" y="7004"/>
                  <a:pt x="109389" y="1562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6128102" y="3816509"/>
            <a:ext cx="801053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LMHead</a:t>
            </a:r>
            <a:endParaRPr lang="en-US" sz="1856" dirty="0"/>
          </a:p>
        </p:txBody>
      </p:sp>
      <p:sp>
        <p:nvSpPr>
          <p:cNvPr id="44" name="Text 42"/>
          <p:cNvSpPr/>
          <p:nvPr/>
        </p:nvSpPr>
        <p:spPr>
          <a:xfrm>
            <a:off x="5649312" y="4240054"/>
            <a:ext cx="345281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功能：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输出预测 + 采样</a:t>
            </a:r>
            <a:endParaRPr lang="en-US" sz="1856" dirty="0"/>
          </a:p>
        </p:txBody>
      </p:sp>
      <p:sp>
        <p:nvSpPr>
          <p:cNvPr id="45" name="Text 43"/>
          <p:cNvSpPr/>
          <p:nvPr/>
        </p:nvSpPr>
        <p:spPr>
          <a:xfrm>
            <a:off x="5649312" y="4539298"/>
            <a:ext cx="515692" cy="2117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接口：</a:t>
            </a:r>
            <a:endParaRPr lang="en-US" sz="1856" dirty="0"/>
          </a:p>
        </p:txBody>
      </p:sp>
      <p:sp>
        <p:nvSpPr>
          <p:cNvPr id="46" name="Shape 44"/>
          <p:cNvSpPr/>
          <p:nvPr/>
        </p:nvSpPr>
        <p:spPr>
          <a:xfrm>
            <a:off x="6091344" y="4589939"/>
            <a:ext cx="2554218" cy="151924"/>
          </a:xfrm>
          <a:custGeom>
            <a:avLst/>
            <a:gdLst/>
            <a:ahLst/>
            <a:cxnLst/>
            <a:rect l="l" t="t" r="r" b="b"/>
            <a:pathLst>
              <a:path w="2201912" h="130969">
                <a:moveTo>
                  <a:pt x="31749" y="0"/>
                </a:moveTo>
                <a:lnTo>
                  <a:pt x="2170163" y="0"/>
                </a:lnTo>
                <a:cubicBezTo>
                  <a:pt x="2187697" y="0"/>
                  <a:pt x="2201912" y="14215"/>
                  <a:pt x="2201912" y="31749"/>
                </a:cubicBezTo>
                <a:lnTo>
                  <a:pt x="2201912" y="99219"/>
                </a:lnTo>
                <a:cubicBezTo>
                  <a:pt x="2201912" y="116754"/>
                  <a:pt x="2187697" y="130969"/>
                  <a:pt x="2170163" y="130969"/>
                </a:cubicBezTo>
                <a:lnTo>
                  <a:pt x="31749" y="130969"/>
                </a:lnTo>
                <a:cubicBezTo>
                  <a:pt x="14215" y="130969"/>
                  <a:pt x="0" y="116754"/>
                  <a:pt x="0" y="9921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47" name="Text 45"/>
          <p:cNvSpPr/>
          <p:nvPr/>
        </p:nvSpPr>
        <p:spPr>
          <a:xfrm>
            <a:off x="6091344" y="4589939"/>
            <a:ext cx="2618671" cy="151924"/>
          </a:xfrm>
          <a:prstGeom prst="rect">
            <a:avLst/>
          </a:prstGeom>
          <a:noFill/>
        </p:spPr>
        <p:txBody>
          <a:bodyPr wrap="square" lIns="36830" tIns="0" rIns="3683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7F7F7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forward(hidden, temperature, top_p)</a:t>
            </a:r>
            <a:endParaRPr lang="en-US" sz="1856" dirty="0"/>
          </a:p>
        </p:txBody>
      </p:sp>
      <p:sp>
        <p:nvSpPr>
          <p:cNvPr id="48" name="Text 46"/>
          <p:cNvSpPr/>
          <p:nvPr/>
        </p:nvSpPr>
        <p:spPr>
          <a:xfrm>
            <a:off x="5649312" y="4833938"/>
            <a:ext cx="345281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参数：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vocab_size, tie_weights</a:t>
            </a:r>
            <a:endParaRPr lang="en-US" sz="1856" dirty="0"/>
          </a:p>
        </p:txBody>
      </p:sp>
      <p:sp>
        <p:nvSpPr>
          <p:cNvPr id="65" name="Shape 63"/>
          <p:cNvSpPr/>
          <p:nvPr/>
        </p:nvSpPr>
        <p:spPr>
          <a:xfrm>
            <a:off x="9542272" y="1359764"/>
            <a:ext cx="5285105" cy="4204513"/>
          </a:xfrm>
          <a:custGeom>
            <a:avLst/>
            <a:gdLst/>
            <a:ahLst/>
            <a:cxnLst/>
            <a:rect l="l" t="t" r="r" b="b"/>
            <a:pathLst>
              <a:path w="4556125" h="5786438">
                <a:moveTo>
                  <a:pt x="63512" y="0"/>
                </a:moveTo>
                <a:lnTo>
                  <a:pt x="4492613" y="0"/>
                </a:lnTo>
                <a:cubicBezTo>
                  <a:pt x="4527690" y="0"/>
                  <a:pt x="4556125" y="28435"/>
                  <a:pt x="4556125" y="63512"/>
                </a:cubicBezTo>
                <a:lnTo>
                  <a:pt x="4556125" y="5722925"/>
                </a:lnTo>
                <a:cubicBezTo>
                  <a:pt x="4556125" y="5758002"/>
                  <a:pt x="4527690" y="5786438"/>
                  <a:pt x="4492613" y="5786438"/>
                </a:cubicBezTo>
                <a:lnTo>
                  <a:pt x="63512" y="5786438"/>
                </a:lnTo>
                <a:cubicBezTo>
                  <a:pt x="28435" y="5786438"/>
                  <a:pt x="0" y="5758002"/>
                  <a:pt x="0" y="5722925"/>
                </a:cubicBezTo>
                <a:lnTo>
                  <a:pt x="0" y="63512"/>
                </a:lnTo>
                <a:cubicBezTo>
                  <a:pt x="0" y="28459"/>
                  <a:pt x="28459" y="0"/>
                  <a:pt x="63512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66" name="Shape 64"/>
          <p:cNvSpPr/>
          <p:nvPr/>
        </p:nvSpPr>
        <p:spPr>
          <a:xfrm>
            <a:off x="9739096" y="1589952"/>
            <a:ext cx="186451" cy="16573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00682" y="335"/>
                </a:moveTo>
                <a:cubicBezTo>
                  <a:pt x="95938" y="-1032"/>
                  <a:pt x="90999" y="1730"/>
                  <a:pt x="89632" y="6474"/>
                </a:cubicBezTo>
                <a:lnTo>
                  <a:pt x="53913" y="131490"/>
                </a:lnTo>
                <a:cubicBezTo>
                  <a:pt x="52546" y="136234"/>
                  <a:pt x="55308" y="141173"/>
                  <a:pt x="60052" y="142540"/>
                </a:cubicBezTo>
                <a:cubicBezTo>
                  <a:pt x="64796" y="143907"/>
                  <a:pt x="69735" y="141145"/>
                  <a:pt x="71103" y="136401"/>
                </a:cubicBezTo>
                <a:lnTo>
                  <a:pt x="106821" y="11385"/>
                </a:lnTo>
                <a:cubicBezTo>
                  <a:pt x="108189" y="6641"/>
                  <a:pt x="105426" y="1702"/>
                  <a:pt x="100682" y="335"/>
                </a:cubicBezTo>
                <a:close/>
                <a:moveTo>
                  <a:pt x="118709" y="38314"/>
                </a:moveTo>
                <a:cubicBezTo>
                  <a:pt x="115221" y="41802"/>
                  <a:pt x="115221" y="47467"/>
                  <a:pt x="118709" y="50955"/>
                </a:cubicBezTo>
                <a:lnTo>
                  <a:pt x="139192" y="71438"/>
                </a:lnTo>
                <a:lnTo>
                  <a:pt x="118709" y="91920"/>
                </a:lnTo>
                <a:cubicBezTo>
                  <a:pt x="115221" y="95408"/>
                  <a:pt x="115221" y="101073"/>
                  <a:pt x="118709" y="104561"/>
                </a:cubicBezTo>
                <a:cubicBezTo>
                  <a:pt x="122197" y="108049"/>
                  <a:pt x="127862" y="108049"/>
                  <a:pt x="131350" y="104561"/>
                </a:cubicBezTo>
                <a:lnTo>
                  <a:pt x="158139" y="77772"/>
                </a:lnTo>
                <a:cubicBezTo>
                  <a:pt x="161627" y="74284"/>
                  <a:pt x="161627" y="68619"/>
                  <a:pt x="158139" y="65131"/>
                </a:cubicBezTo>
                <a:lnTo>
                  <a:pt x="131350" y="38342"/>
                </a:lnTo>
                <a:cubicBezTo>
                  <a:pt x="127862" y="34854"/>
                  <a:pt x="122197" y="34854"/>
                  <a:pt x="118709" y="38342"/>
                </a:cubicBezTo>
                <a:close/>
                <a:moveTo>
                  <a:pt x="42053" y="38314"/>
                </a:moveTo>
                <a:cubicBezTo>
                  <a:pt x="38565" y="34826"/>
                  <a:pt x="32900" y="34826"/>
                  <a:pt x="29412" y="38314"/>
                </a:cubicBezTo>
                <a:lnTo>
                  <a:pt x="2623" y="65103"/>
                </a:lnTo>
                <a:cubicBezTo>
                  <a:pt x="-865" y="68591"/>
                  <a:pt x="-865" y="74256"/>
                  <a:pt x="2623" y="77744"/>
                </a:cubicBezTo>
                <a:lnTo>
                  <a:pt x="29412" y="104533"/>
                </a:lnTo>
                <a:cubicBezTo>
                  <a:pt x="32900" y="108021"/>
                  <a:pt x="38565" y="108021"/>
                  <a:pt x="42053" y="104533"/>
                </a:cubicBezTo>
                <a:cubicBezTo>
                  <a:pt x="45541" y="101045"/>
                  <a:pt x="45541" y="95380"/>
                  <a:pt x="42053" y="91892"/>
                </a:cubicBezTo>
                <a:lnTo>
                  <a:pt x="21571" y="71438"/>
                </a:lnTo>
                <a:lnTo>
                  <a:pt x="42025" y="50955"/>
                </a:lnTo>
                <a:cubicBezTo>
                  <a:pt x="45514" y="47467"/>
                  <a:pt x="45514" y="41802"/>
                  <a:pt x="42025" y="38314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67" name="Text 65"/>
          <p:cNvSpPr/>
          <p:nvPr/>
        </p:nvSpPr>
        <p:spPr>
          <a:xfrm>
            <a:off x="9938209" y="1543914"/>
            <a:ext cx="4787900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示例</a:t>
            </a:r>
            <a:endParaRPr lang="en-US" sz="1856" dirty="0"/>
          </a:p>
        </p:txBody>
      </p:sp>
      <p:sp>
        <p:nvSpPr>
          <p:cNvPr id="68" name="Shape 66"/>
          <p:cNvSpPr/>
          <p:nvPr/>
        </p:nvSpPr>
        <p:spPr>
          <a:xfrm>
            <a:off x="9726436" y="1949044"/>
            <a:ext cx="4916805" cy="3241040"/>
          </a:xfrm>
          <a:custGeom>
            <a:avLst/>
            <a:gdLst/>
            <a:ahLst/>
            <a:cxnLst/>
            <a:rect l="l" t="t" r="r" b="b"/>
            <a:pathLst>
              <a:path w="4238625" h="2794000">
                <a:moveTo>
                  <a:pt x="63508" y="0"/>
                </a:moveTo>
                <a:lnTo>
                  <a:pt x="4175117" y="0"/>
                </a:lnTo>
                <a:cubicBezTo>
                  <a:pt x="4210192" y="0"/>
                  <a:pt x="4238625" y="28433"/>
                  <a:pt x="4238625" y="63508"/>
                </a:cubicBezTo>
                <a:lnTo>
                  <a:pt x="4238625" y="2730492"/>
                </a:lnTo>
                <a:cubicBezTo>
                  <a:pt x="4238625" y="2765567"/>
                  <a:pt x="4210192" y="2794000"/>
                  <a:pt x="4175117" y="2794000"/>
                </a:cubicBezTo>
                <a:lnTo>
                  <a:pt x="63508" y="2794000"/>
                </a:lnTo>
                <a:cubicBezTo>
                  <a:pt x="28433" y="2794000"/>
                  <a:pt x="0" y="2765567"/>
                  <a:pt x="0" y="2730492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69" name="Text 67"/>
          <p:cNvSpPr/>
          <p:nvPr/>
        </p:nvSpPr>
        <p:spPr>
          <a:xfrm>
            <a:off x="9873756" y="2096364"/>
            <a:ext cx="4686618" cy="294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class LLM(nn.Module):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def __init__(self, config):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self.embedding = build_module(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config.embedding)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self.layers = nn.ModuleList([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TransformerLayer(config) 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for _ in range(config.num_layers)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])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self.lm_head = build_module(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config.lm_head)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def forward(self, input_ids):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hidden = self.embedding(input_ids)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for layer in self.layers: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hidden = layer(hidden)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101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return self.lm_head(hidden)</a:t>
            </a:r>
            <a:endParaRPr lang="en-US" sz="1856" dirty="0"/>
          </a:p>
        </p:txBody>
      </p:sp>
      <p:sp>
        <p:nvSpPr>
          <p:cNvPr id="75" name="Shape 72"/>
          <p:cNvSpPr/>
          <p:nvPr/>
        </p:nvSpPr>
        <p:spPr>
          <a:xfrm>
            <a:off x="1649508" y="5782206"/>
            <a:ext cx="3871071" cy="1556621"/>
          </a:xfrm>
          <a:custGeom>
            <a:avLst/>
            <a:gdLst/>
            <a:ahLst/>
            <a:cxnLst/>
            <a:rect l="l" t="t" r="r" b="b"/>
            <a:pathLst>
              <a:path w="3337130" h="1341915">
                <a:moveTo>
                  <a:pt x="35314" y="0"/>
                </a:moveTo>
                <a:lnTo>
                  <a:pt x="3266505" y="0"/>
                </a:lnTo>
                <a:cubicBezTo>
                  <a:pt x="3305510" y="0"/>
                  <a:pt x="3337130" y="31620"/>
                  <a:pt x="3337130" y="70625"/>
                </a:cubicBezTo>
                <a:lnTo>
                  <a:pt x="3337130" y="1271290"/>
                </a:lnTo>
                <a:cubicBezTo>
                  <a:pt x="3337130" y="1310295"/>
                  <a:pt x="3305510" y="1341915"/>
                  <a:pt x="3266505" y="1341915"/>
                </a:cubicBezTo>
                <a:lnTo>
                  <a:pt x="35314" y="1341915"/>
                </a:lnTo>
                <a:cubicBezTo>
                  <a:pt x="15810" y="1341915"/>
                  <a:pt x="0" y="1326104"/>
                  <a:pt x="0" y="1306601"/>
                </a:cubicBezTo>
                <a:lnTo>
                  <a:pt x="0" y="35314"/>
                </a:lnTo>
                <a:cubicBezTo>
                  <a:pt x="0" y="15823"/>
                  <a:pt x="15823" y="0"/>
                  <a:pt x="3531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7" name="Text 74"/>
          <p:cNvSpPr/>
          <p:nvPr/>
        </p:nvSpPr>
        <p:spPr>
          <a:xfrm>
            <a:off x="1833845" y="5946061"/>
            <a:ext cx="3604807" cy="245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</a:t>
            </a:r>
            <a:r>
              <a:rPr lang="zh-CN" alt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点</a:t>
            </a: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与挑战</a:t>
            </a:r>
            <a:endParaRPr lang="en-US" sz="1856" dirty="0"/>
          </a:p>
        </p:txBody>
      </p:sp>
      <p:sp>
        <p:nvSpPr>
          <p:cNvPr id="78" name="Shape 75"/>
          <p:cNvSpPr/>
          <p:nvPr/>
        </p:nvSpPr>
        <p:spPr>
          <a:xfrm>
            <a:off x="1854326" y="6314734"/>
            <a:ext cx="163855" cy="163855"/>
          </a:xfrm>
          <a:custGeom>
            <a:avLst/>
            <a:gdLst/>
            <a:ahLst/>
            <a:cxnLst/>
            <a:rect l="l" t="t" r="r" b="b"/>
            <a:pathLst>
              <a:path w="141254" h="141254">
                <a:moveTo>
                  <a:pt x="70627" y="141254"/>
                </a:moveTo>
                <a:cubicBezTo>
                  <a:pt x="109607" y="141254"/>
                  <a:pt x="141254" y="109607"/>
                  <a:pt x="141254" y="70627"/>
                </a:cubicBezTo>
                <a:cubicBezTo>
                  <a:pt x="141254" y="31647"/>
                  <a:pt x="109607" y="0"/>
                  <a:pt x="70627" y="0"/>
                </a:cubicBezTo>
                <a:cubicBezTo>
                  <a:pt x="31647" y="0"/>
                  <a:pt x="0" y="31647"/>
                  <a:pt x="0" y="70627"/>
                </a:cubicBezTo>
                <a:cubicBezTo>
                  <a:pt x="0" y="109607"/>
                  <a:pt x="31647" y="141254"/>
                  <a:pt x="70627" y="141254"/>
                </a:cubicBezTo>
                <a:close/>
                <a:moveTo>
                  <a:pt x="64006" y="94905"/>
                </a:moveTo>
                <a:lnTo>
                  <a:pt x="64006" y="77248"/>
                </a:lnTo>
                <a:lnTo>
                  <a:pt x="46349" y="77248"/>
                </a:lnTo>
                <a:cubicBezTo>
                  <a:pt x="42680" y="77248"/>
                  <a:pt x="39728" y="74296"/>
                  <a:pt x="39728" y="70627"/>
                </a:cubicBezTo>
                <a:cubicBezTo>
                  <a:pt x="39728" y="66958"/>
                  <a:pt x="42680" y="64006"/>
                  <a:pt x="46349" y="64006"/>
                </a:cubicBezTo>
                <a:lnTo>
                  <a:pt x="64006" y="64006"/>
                </a:lnTo>
                <a:lnTo>
                  <a:pt x="64006" y="46349"/>
                </a:lnTo>
                <a:cubicBezTo>
                  <a:pt x="64006" y="42680"/>
                  <a:pt x="66958" y="39728"/>
                  <a:pt x="70627" y="39728"/>
                </a:cubicBezTo>
                <a:cubicBezTo>
                  <a:pt x="74296" y="39728"/>
                  <a:pt x="77248" y="42680"/>
                  <a:pt x="77248" y="46349"/>
                </a:cubicBezTo>
                <a:lnTo>
                  <a:pt x="77248" y="64006"/>
                </a:lnTo>
                <a:lnTo>
                  <a:pt x="94905" y="64006"/>
                </a:lnTo>
                <a:cubicBezTo>
                  <a:pt x="98574" y="64006"/>
                  <a:pt x="101526" y="66958"/>
                  <a:pt x="101526" y="70627"/>
                </a:cubicBezTo>
                <a:cubicBezTo>
                  <a:pt x="101526" y="74296"/>
                  <a:pt x="98574" y="77248"/>
                  <a:pt x="94905" y="77248"/>
                </a:cubicBezTo>
                <a:lnTo>
                  <a:pt x="77248" y="77248"/>
                </a:lnTo>
                <a:lnTo>
                  <a:pt x="77248" y="94905"/>
                </a:lnTo>
                <a:cubicBezTo>
                  <a:pt x="77248" y="98574"/>
                  <a:pt x="74296" y="101526"/>
                  <a:pt x="70627" y="101526"/>
                </a:cubicBezTo>
                <a:cubicBezTo>
                  <a:pt x="66958" y="101526"/>
                  <a:pt x="64006" y="98574"/>
                  <a:pt x="64006" y="94905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9" name="Text 76"/>
          <p:cNvSpPr/>
          <p:nvPr/>
        </p:nvSpPr>
        <p:spPr>
          <a:xfrm>
            <a:off x="2120290" y="6273622"/>
            <a:ext cx="5887644" cy="246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优势：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开发自由，对代码细节把控较强；优化点合入较为灵活</a:t>
            </a:r>
            <a:endParaRPr lang="zh-CN" altLang="en-US" sz="1288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  <a:sym typeface="MiSans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1854326" y="6587121"/>
            <a:ext cx="163855" cy="163855"/>
          </a:xfrm>
          <a:custGeom>
            <a:avLst/>
            <a:gdLst/>
            <a:ahLst/>
            <a:cxnLst/>
            <a:rect l="l" t="t" r="r" b="b"/>
            <a:pathLst>
              <a:path w="141254" h="141254">
                <a:moveTo>
                  <a:pt x="70627" y="141254"/>
                </a:moveTo>
                <a:cubicBezTo>
                  <a:pt x="109607" y="141254"/>
                  <a:pt x="141254" y="109607"/>
                  <a:pt x="141254" y="70627"/>
                </a:cubicBezTo>
                <a:cubicBezTo>
                  <a:pt x="141254" y="31647"/>
                  <a:pt x="109607" y="0"/>
                  <a:pt x="70627" y="0"/>
                </a:cubicBezTo>
                <a:cubicBezTo>
                  <a:pt x="31647" y="0"/>
                  <a:pt x="0" y="31647"/>
                  <a:pt x="0" y="70627"/>
                </a:cubicBezTo>
                <a:cubicBezTo>
                  <a:pt x="0" y="109607"/>
                  <a:pt x="31647" y="141254"/>
                  <a:pt x="70627" y="141254"/>
                </a:cubicBezTo>
                <a:close/>
                <a:moveTo>
                  <a:pt x="46349" y="64006"/>
                </a:moveTo>
                <a:lnTo>
                  <a:pt x="94905" y="64006"/>
                </a:lnTo>
                <a:cubicBezTo>
                  <a:pt x="98574" y="64006"/>
                  <a:pt x="101526" y="66958"/>
                  <a:pt x="101526" y="70627"/>
                </a:cubicBezTo>
                <a:cubicBezTo>
                  <a:pt x="101526" y="74296"/>
                  <a:pt x="98574" y="77248"/>
                  <a:pt x="94905" y="77248"/>
                </a:cubicBezTo>
                <a:lnTo>
                  <a:pt x="46349" y="77248"/>
                </a:lnTo>
                <a:cubicBezTo>
                  <a:pt x="42680" y="77248"/>
                  <a:pt x="39728" y="74296"/>
                  <a:pt x="39728" y="70627"/>
                </a:cubicBezTo>
                <a:cubicBezTo>
                  <a:pt x="39728" y="66958"/>
                  <a:pt x="42680" y="64006"/>
                  <a:pt x="46349" y="6400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82" name="Text 80"/>
          <p:cNvSpPr/>
          <p:nvPr/>
        </p:nvSpPr>
        <p:spPr>
          <a:xfrm>
            <a:off x="2120290" y="6587414"/>
            <a:ext cx="8901811" cy="204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挑战：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代码调用链较长；需花时间补齐基本功能，如</a:t>
            </a:r>
            <a:r>
              <a:rPr lang="en-US" altLang="zh-CN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Attention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、</a:t>
            </a:r>
            <a:r>
              <a:rPr lang="en-US" altLang="zh-CN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MOE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实现、</a:t>
            </a:r>
            <a:r>
              <a:rPr lang="en-US" altLang="zh-CN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KVCache</a:t>
            </a:r>
            <a:r>
              <a:rPr lang="zh-CN" altLang="en-US" sz="1288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、量化、并行切分等</a:t>
            </a:r>
            <a:endParaRPr lang="zh-CN" altLang="en-US" sz="1288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  <a:sym typeface="MiSans"/>
            </a:endParaRPr>
          </a:p>
        </p:txBody>
      </p:sp>
      <p:sp>
        <p:nvSpPr>
          <p:cNvPr id="83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84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</a:t>
            </a:r>
            <a:endParaRPr lang="en-US" dirty="0"/>
          </a:p>
        </p:txBody>
      </p:sp>
      <p:pic>
        <p:nvPicPr>
          <p:cNvPr id="85" name="CANN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940" y="368300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" name="Text 1"/>
          <p:cNvSpPr/>
          <p:nvPr/>
        </p:nvSpPr>
        <p:spPr>
          <a:xfrm>
            <a:off x="1383506" y="368300"/>
            <a:ext cx="451168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3.3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1903730" y="368300"/>
            <a:ext cx="4806315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模型改写：从相近架构快速适配</a:t>
            </a:r>
            <a:endParaRPr lang="en-US" sz="1856" dirty="0"/>
          </a:p>
        </p:txBody>
      </p:sp>
      <p:sp>
        <p:nvSpPr>
          <p:cNvPr id="5" name="Text 3"/>
          <p:cNvSpPr/>
          <p:nvPr/>
        </p:nvSpPr>
        <p:spPr>
          <a:xfrm>
            <a:off x="1903730" y="847090"/>
            <a:ext cx="13010198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识别相似性、差异化修改、权重映射、精度验证</a:t>
            </a:r>
            <a:endParaRPr lang="en-US" sz="1856" dirty="0"/>
          </a:p>
        </p:txBody>
      </p:sp>
      <p:sp>
        <p:nvSpPr>
          <p:cNvPr id="6" name="Shape 4"/>
          <p:cNvSpPr/>
          <p:nvPr/>
        </p:nvSpPr>
        <p:spPr>
          <a:xfrm>
            <a:off x="1424940" y="1289050"/>
            <a:ext cx="7273925" cy="2357120"/>
          </a:xfrm>
          <a:custGeom>
            <a:avLst/>
            <a:gdLst/>
            <a:ahLst/>
            <a:cxnLst/>
            <a:rect l="l" t="t" r="r" b="b"/>
            <a:pathLst>
              <a:path w="6270625" h="2032000">
                <a:moveTo>
                  <a:pt x="63500" y="0"/>
                </a:moveTo>
                <a:lnTo>
                  <a:pt x="6207125" y="0"/>
                </a:lnTo>
                <a:cubicBezTo>
                  <a:pt x="6242172" y="0"/>
                  <a:pt x="6270625" y="28453"/>
                  <a:pt x="6270625" y="63500"/>
                </a:cubicBezTo>
                <a:lnTo>
                  <a:pt x="6270625" y="1968500"/>
                </a:lnTo>
                <a:cubicBezTo>
                  <a:pt x="6270625" y="2003547"/>
                  <a:pt x="6242172" y="2032000"/>
                  <a:pt x="6207125" y="2032000"/>
                </a:cubicBezTo>
                <a:lnTo>
                  <a:pt x="63500" y="2032000"/>
                </a:lnTo>
                <a:cubicBezTo>
                  <a:pt x="28453" y="2032000"/>
                  <a:pt x="0" y="2003547"/>
                  <a:pt x="0" y="1968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7" name="Shape 5"/>
          <p:cNvSpPr/>
          <p:nvPr/>
        </p:nvSpPr>
        <p:spPr>
          <a:xfrm>
            <a:off x="1632109" y="1510030"/>
            <a:ext cx="184150" cy="1841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109141"/>
                </a:moveTo>
                <a:cubicBezTo>
                  <a:pt x="89134" y="109141"/>
                  <a:pt x="109141" y="89134"/>
                  <a:pt x="109141" y="64492"/>
                </a:cubicBezTo>
                <a:cubicBezTo>
                  <a:pt x="109141" y="39850"/>
                  <a:pt x="89134" y="19844"/>
                  <a:pt x="64492" y="19844"/>
                </a:cubicBezTo>
                <a:cubicBezTo>
                  <a:pt x="39850" y="19844"/>
                  <a:pt x="19844" y="39850"/>
                  <a:pt x="19844" y="64492"/>
                </a:cubicBezTo>
                <a:cubicBezTo>
                  <a:pt x="19844" y="89134"/>
                  <a:pt x="39850" y="109141"/>
                  <a:pt x="64492" y="109141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8" name="Text 6"/>
          <p:cNvSpPr/>
          <p:nvPr/>
        </p:nvSpPr>
        <p:spPr>
          <a:xfrm>
            <a:off x="1839278" y="1473200"/>
            <a:ext cx="6767513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识别模型相似性</a:t>
            </a:r>
            <a:endParaRPr lang="en-US" sz="1856" dirty="0"/>
          </a:p>
        </p:txBody>
      </p:sp>
      <p:sp>
        <p:nvSpPr>
          <p:cNvPr id="9" name="Shape 7"/>
          <p:cNvSpPr/>
          <p:nvPr/>
        </p:nvSpPr>
        <p:spPr>
          <a:xfrm>
            <a:off x="1627505" y="1878330"/>
            <a:ext cx="3360738" cy="1583690"/>
          </a:xfrm>
          <a:custGeom>
            <a:avLst/>
            <a:gdLst/>
            <a:ahLst/>
            <a:cxnLst/>
            <a:rect l="l" t="t" r="r" b="b"/>
            <a:pathLst>
              <a:path w="2897188" h="1365250">
                <a:moveTo>
                  <a:pt x="31750" y="0"/>
                </a:moveTo>
                <a:lnTo>
                  <a:pt x="2833690" y="0"/>
                </a:lnTo>
                <a:cubicBezTo>
                  <a:pt x="2868759" y="0"/>
                  <a:pt x="2897188" y="28429"/>
                  <a:pt x="2897188" y="63498"/>
                </a:cubicBezTo>
                <a:lnTo>
                  <a:pt x="2897188" y="1301752"/>
                </a:lnTo>
                <a:cubicBezTo>
                  <a:pt x="2897188" y="1336821"/>
                  <a:pt x="2868759" y="1365250"/>
                  <a:pt x="2833690" y="1365250"/>
                </a:cubicBez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1627505" y="1878330"/>
            <a:ext cx="36830" cy="1583690"/>
          </a:xfrm>
          <a:custGeom>
            <a:avLst/>
            <a:gdLst/>
            <a:ahLst/>
            <a:cxnLst/>
            <a:rect l="l" t="t" r="r" b="b"/>
            <a:pathLst>
              <a:path w="31750" h="1365250">
                <a:moveTo>
                  <a:pt x="31750" y="0"/>
                </a:moveTo>
                <a:lnTo>
                  <a:pt x="31750" y="0"/>
                </a:lnTo>
                <a:lnTo>
                  <a:pt x="31750" y="1365250"/>
                </a:ln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" name="Shape 9"/>
          <p:cNvSpPr/>
          <p:nvPr/>
        </p:nvSpPr>
        <p:spPr>
          <a:xfrm>
            <a:off x="1811655" y="2062480"/>
            <a:ext cx="147320" cy="14732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7671" y="1290"/>
                </a:moveTo>
                <a:cubicBezTo>
                  <a:pt x="61367" y="-422"/>
                  <a:pt x="65633" y="-422"/>
                  <a:pt x="69329" y="1290"/>
                </a:cubicBezTo>
                <a:lnTo>
                  <a:pt x="123552" y="26343"/>
                </a:lnTo>
                <a:cubicBezTo>
                  <a:pt x="125661" y="27310"/>
                  <a:pt x="127000" y="29418"/>
                  <a:pt x="127000" y="31750"/>
                </a:cubicBezTo>
                <a:cubicBezTo>
                  <a:pt x="127000" y="34082"/>
                  <a:pt x="125661" y="36190"/>
                  <a:pt x="123552" y="37157"/>
                </a:cubicBezTo>
                <a:lnTo>
                  <a:pt x="69329" y="62210"/>
                </a:lnTo>
                <a:cubicBezTo>
                  <a:pt x="65633" y="63922"/>
                  <a:pt x="61367" y="63922"/>
                  <a:pt x="57671" y="62210"/>
                </a:cubicBezTo>
                <a:lnTo>
                  <a:pt x="3448" y="37157"/>
                </a:lnTo>
                <a:cubicBezTo>
                  <a:pt x="1339" y="36165"/>
                  <a:pt x="0" y="34057"/>
                  <a:pt x="0" y="31750"/>
                </a:cubicBezTo>
                <a:cubicBezTo>
                  <a:pt x="0" y="29443"/>
                  <a:pt x="1339" y="27310"/>
                  <a:pt x="3448" y="26343"/>
                </a:cubicBezTo>
                <a:lnTo>
                  <a:pt x="57671" y="1290"/>
                </a:lnTo>
                <a:close/>
                <a:moveTo>
                  <a:pt x="11931" y="54173"/>
                </a:moveTo>
                <a:lnTo>
                  <a:pt x="52685" y="73000"/>
                </a:lnTo>
                <a:cubicBezTo>
                  <a:pt x="59556" y="76175"/>
                  <a:pt x="67469" y="76175"/>
                  <a:pt x="74340" y="73000"/>
                </a:cubicBezTo>
                <a:lnTo>
                  <a:pt x="115094" y="54173"/>
                </a:lnTo>
                <a:lnTo>
                  <a:pt x="123552" y="58093"/>
                </a:lnTo>
                <a:cubicBezTo>
                  <a:pt x="125661" y="59060"/>
                  <a:pt x="127000" y="61168"/>
                  <a:pt x="127000" y="63500"/>
                </a:cubicBezTo>
                <a:cubicBezTo>
                  <a:pt x="127000" y="65832"/>
                  <a:pt x="125661" y="67940"/>
                  <a:pt x="123552" y="68907"/>
                </a:cubicBezTo>
                <a:lnTo>
                  <a:pt x="69329" y="93960"/>
                </a:lnTo>
                <a:cubicBezTo>
                  <a:pt x="65633" y="95672"/>
                  <a:pt x="61367" y="95672"/>
                  <a:pt x="57671" y="93960"/>
                </a:cubicBezTo>
                <a:lnTo>
                  <a:pt x="3448" y="68907"/>
                </a:lnTo>
                <a:cubicBezTo>
                  <a:pt x="1339" y="67915"/>
                  <a:pt x="0" y="65807"/>
                  <a:pt x="0" y="63500"/>
                </a:cubicBezTo>
                <a:cubicBezTo>
                  <a:pt x="0" y="61193"/>
                  <a:pt x="1339" y="59060"/>
                  <a:pt x="3448" y="58093"/>
                </a:cubicBezTo>
                <a:lnTo>
                  <a:pt x="11906" y="54173"/>
                </a:lnTo>
                <a:close/>
                <a:moveTo>
                  <a:pt x="3448" y="89843"/>
                </a:moveTo>
                <a:lnTo>
                  <a:pt x="11906" y="85923"/>
                </a:lnTo>
                <a:lnTo>
                  <a:pt x="52660" y="104750"/>
                </a:lnTo>
                <a:cubicBezTo>
                  <a:pt x="59531" y="107925"/>
                  <a:pt x="67444" y="107925"/>
                  <a:pt x="74315" y="104750"/>
                </a:cubicBezTo>
                <a:lnTo>
                  <a:pt x="115069" y="85923"/>
                </a:lnTo>
                <a:lnTo>
                  <a:pt x="123527" y="89843"/>
                </a:lnTo>
                <a:cubicBezTo>
                  <a:pt x="125636" y="90810"/>
                  <a:pt x="126975" y="92918"/>
                  <a:pt x="126975" y="95250"/>
                </a:cubicBezTo>
                <a:cubicBezTo>
                  <a:pt x="126975" y="97582"/>
                  <a:pt x="125636" y="99690"/>
                  <a:pt x="123527" y="100657"/>
                </a:cubicBezTo>
                <a:lnTo>
                  <a:pt x="69304" y="125710"/>
                </a:lnTo>
                <a:cubicBezTo>
                  <a:pt x="65608" y="127422"/>
                  <a:pt x="61342" y="127422"/>
                  <a:pt x="57646" y="125710"/>
                </a:cubicBezTo>
                <a:lnTo>
                  <a:pt x="3448" y="100657"/>
                </a:lnTo>
                <a:cubicBezTo>
                  <a:pt x="1339" y="99665"/>
                  <a:pt x="0" y="97557"/>
                  <a:pt x="0" y="95250"/>
                </a:cubicBezTo>
                <a:cubicBezTo>
                  <a:pt x="0" y="92943"/>
                  <a:pt x="1339" y="90810"/>
                  <a:pt x="3448" y="89843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2" name="Text 10"/>
          <p:cNvSpPr/>
          <p:nvPr/>
        </p:nvSpPr>
        <p:spPr>
          <a:xfrm>
            <a:off x="1977390" y="2025650"/>
            <a:ext cx="293719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架构维度</a:t>
            </a:r>
            <a:endParaRPr lang="en-US" sz="1856" dirty="0"/>
          </a:p>
        </p:txBody>
      </p:sp>
      <p:sp>
        <p:nvSpPr>
          <p:cNvPr id="13" name="Text 11"/>
          <p:cNvSpPr/>
          <p:nvPr/>
        </p:nvSpPr>
        <p:spPr>
          <a:xfrm>
            <a:off x="1793240" y="2320290"/>
            <a:ext cx="312134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Attention类型（MHA/GQA/MLA）</a:t>
            </a:r>
            <a:endParaRPr lang="en-US" sz="1856" dirty="0"/>
          </a:p>
        </p:txBody>
      </p:sp>
      <p:sp>
        <p:nvSpPr>
          <p:cNvPr id="14" name="Text 12"/>
          <p:cNvSpPr/>
          <p:nvPr/>
        </p:nvSpPr>
        <p:spPr>
          <a:xfrm>
            <a:off x="1793240" y="2578100"/>
            <a:ext cx="312134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FFN/MOE结构</a:t>
            </a:r>
            <a:endParaRPr lang="en-US" sz="1856" dirty="0"/>
          </a:p>
        </p:txBody>
      </p:sp>
      <p:sp>
        <p:nvSpPr>
          <p:cNvPr id="15" name="Text 13"/>
          <p:cNvSpPr/>
          <p:nvPr/>
        </p:nvSpPr>
        <p:spPr>
          <a:xfrm>
            <a:off x="1793240" y="2835910"/>
            <a:ext cx="312134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层数（num_layers）</a:t>
            </a:r>
            <a:endParaRPr lang="en-US" sz="1856" dirty="0"/>
          </a:p>
        </p:txBody>
      </p:sp>
      <p:sp>
        <p:nvSpPr>
          <p:cNvPr id="16" name="Text 14"/>
          <p:cNvSpPr/>
          <p:nvPr/>
        </p:nvSpPr>
        <p:spPr>
          <a:xfrm>
            <a:off x="1793240" y="3093720"/>
            <a:ext cx="312134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隐藏维度（hidden_size）</a:t>
            </a:r>
            <a:endParaRPr lang="en-US" sz="1856" dirty="0"/>
          </a:p>
        </p:txBody>
      </p:sp>
      <p:sp>
        <p:nvSpPr>
          <p:cNvPr id="17" name="Shape 15"/>
          <p:cNvSpPr/>
          <p:nvPr/>
        </p:nvSpPr>
        <p:spPr>
          <a:xfrm>
            <a:off x="5153042" y="1878330"/>
            <a:ext cx="3360738" cy="1583690"/>
          </a:xfrm>
          <a:custGeom>
            <a:avLst/>
            <a:gdLst/>
            <a:ahLst/>
            <a:cxnLst/>
            <a:rect l="l" t="t" r="r" b="b"/>
            <a:pathLst>
              <a:path w="2897188" h="1365250">
                <a:moveTo>
                  <a:pt x="31750" y="0"/>
                </a:moveTo>
                <a:lnTo>
                  <a:pt x="2833690" y="0"/>
                </a:lnTo>
                <a:cubicBezTo>
                  <a:pt x="2868759" y="0"/>
                  <a:pt x="2897188" y="28429"/>
                  <a:pt x="2897188" y="63498"/>
                </a:cubicBezTo>
                <a:lnTo>
                  <a:pt x="2897188" y="1301752"/>
                </a:lnTo>
                <a:cubicBezTo>
                  <a:pt x="2897188" y="1336821"/>
                  <a:pt x="2868759" y="1365250"/>
                  <a:pt x="2833690" y="1365250"/>
                </a:cubicBez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5153042" y="1878330"/>
            <a:ext cx="36830" cy="1583690"/>
          </a:xfrm>
          <a:custGeom>
            <a:avLst/>
            <a:gdLst/>
            <a:ahLst/>
            <a:cxnLst/>
            <a:rect l="l" t="t" r="r" b="b"/>
            <a:pathLst>
              <a:path w="31750" h="1365250">
                <a:moveTo>
                  <a:pt x="31750" y="0"/>
                </a:moveTo>
                <a:lnTo>
                  <a:pt x="31750" y="0"/>
                </a:lnTo>
                <a:lnTo>
                  <a:pt x="31750" y="1365250"/>
                </a:ln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9" name="Shape 17"/>
          <p:cNvSpPr/>
          <p:nvPr/>
        </p:nvSpPr>
        <p:spPr>
          <a:xfrm>
            <a:off x="5337192" y="2062480"/>
            <a:ext cx="147320" cy="14732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15875"/>
                </a:moveTo>
                <a:cubicBezTo>
                  <a:pt x="3547" y="15875"/>
                  <a:pt x="0" y="19422"/>
                  <a:pt x="0" y="23812"/>
                </a:cubicBezTo>
                <a:cubicBezTo>
                  <a:pt x="0" y="28203"/>
                  <a:pt x="3547" y="31750"/>
                  <a:pt x="7938" y="31750"/>
                </a:cubicBezTo>
                <a:lnTo>
                  <a:pt x="29443" y="31750"/>
                </a:lnTo>
                <a:cubicBezTo>
                  <a:pt x="32494" y="38770"/>
                  <a:pt x="39489" y="43656"/>
                  <a:pt x="47625" y="43656"/>
                </a:cubicBezTo>
                <a:cubicBezTo>
                  <a:pt x="55761" y="43656"/>
                  <a:pt x="62756" y="38770"/>
                  <a:pt x="65807" y="31750"/>
                </a:cubicBezTo>
                <a:lnTo>
                  <a:pt x="119063" y="31750"/>
                </a:lnTo>
                <a:cubicBezTo>
                  <a:pt x="123453" y="31750"/>
                  <a:pt x="127000" y="28203"/>
                  <a:pt x="127000" y="23812"/>
                </a:cubicBezTo>
                <a:cubicBezTo>
                  <a:pt x="127000" y="19422"/>
                  <a:pt x="123453" y="15875"/>
                  <a:pt x="119063" y="15875"/>
                </a:cubicBezTo>
                <a:lnTo>
                  <a:pt x="65807" y="15875"/>
                </a:lnTo>
                <a:cubicBezTo>
                  <a:pt x="62756" y="8855"/>
                  <a:pt x="55761" y="3969"/>
                  <a:pt x="47625" y="3969"/>
                </a:cubicBezTo>
                <a:cubicBezTo>
                  <a:pt x="39489" y="3969"/>
                  <a:pt x="32494" y="8855"/>
                  <a:pt x="29443" y="15875"/>
                </a:cubicBezTo>
                <a:lnTo>
                  <a:pt x="7938" y="15875"/>
                </a:lnTo>
                <a:close/>
                <a:moveTo>
                  <a:pt x="7938" y="55563"/>
                </a:move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69131" y="71438"/>
                </a:lnTo>
                <a:cubicBezTo>
                  <a:pt x="72182" y="78457"/>
                  <a:pt x="79177" y="83344"/>
                  <a:pt x="87313" y="83344"/>
                </a:cubicBezTo>
                <a:cubicBezTo>
                  <a:pt x="95448" y="83344"/>
                  <a:pt x="102443" y="78457"/>
                  <a:pt x="105494" y="71438"/>
                </a:cubicBezTo>
                <a:lnTo>
                  <a:pt x="119063" y="71438"/>
                </a:lnTo>
                <a:cubicBezTo>
                  <a:pt x="123453" y="71438"/>
                  <a:pt x="127000" y="67890"/>
                  <a:pt x="127000" y="63500"/>
                </a:cubicBezTo>
                <a:cubicBezTo>
                  <a:pt x="127000" y="59110"/>
                  <a:pt x="123453" y="55563"/>
                  <a:pt x="119063" y="55563"/>
                </a:cubicBezTo>
                <a:lnTo>
                  <a:pt x="105494" y="55563"/>
                </a:lnTo>
                <a:cubicBezTo>
                  <a:pt x="102443" y="48543"/>
                  <a:pt x="95448" y="43656"/>
                  <a:pt x="87313" y="43656"/>
                </a:cubicBezTo>
                <a:cubicBezTo>
                  <a:pt x="79177" y="43656"/>
                  <a:pt x="72182" y="48543"/>
                  <a:pt x="69131" y="55563"/>
                </a:cubicBezTo>
                <a:lnTo>
                  <a:pt x="7938" y="55563"/>
                </a:lnTo>
                <a:close/>
                <a:moveTo>
                  <a:pt x="7938" y="95250"/>
                </a:moveTo>
                <a:cubicBezTo>
                  <a:pt x="3547" y="95250"/>
                  <a:pt x="0" y="98797"/>
                  <a:pt x="0" y="103188"/>
                </a:cubicBezTo>
                <a:cubicBezTo>
                  <a:pt x="0" y="107578"/>
                  <a:pt x="3547" y="111125"/>
                  <a:pt x="7938" y="111125"/>
                </a:cubicBezTo>
                <a:lnTo>
                  <a:pt x="21506" y="111125"/>
                </a:lnTo>
                <a:cubicBezTo>
                  <a:pt x="24557" y="118145"/>
                  <a:pt x="31552" y="123031"/>
                  <a:pt x="39688" y="123031"/>
                </a:cubicBezTo>
                <a:cubicBezTo>
                  <a:pt x="47823" y="123031"/>
                  <a:pt x="54818" y="118145"/>
                  <a:pt x="57869" y="111125"/>
                </a:cubicBez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cubicBezTo>
                  <a:pt x="127000" y="98797"/>
                  <a:pt x="123453" y="95250"/>
                  <a:pt x="119063" y="95250"/>
                </a:cubicBezTo>
                <a:lnTo>
                  <a:pt x="57869" y="95250"/>
                </a:lnTo>
                <a:cubicBezTo>
                  <a:pt x="54818" y="88230"/>
                  <a:pt x="47823" y="83344"/>
                  <a:pt x="39688" y="83344"/>
                </a:cubicBezTo>
                <a:cubicBezTo>
                  <a:pt x="31552" y="83344"/>
                  <a:pt x="24557" y="88230"/>
                  <a:pt x="21506" y="95250"/>
                </a:cubicBezTo>
                <a:lnTo>
                  <a:pt x="7938" y="95250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20" name="Text 18"/>
          <p:cNvSpPr/>
          <p:nvPr/>
        </p:nvSpPr>
        <p:spPr>
          <a:xfrm>
            <a:off x="5502927" y="2025650"/>
            <a:ext cx="293719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参数维度</a:t>
            </a:r>
            <a:endParaRPr lang="en-US" sz="1856" dirty="0"/>
          </a:p>
        </p:txBody>
      </p:sp>
      <p:sp>
        <p:nvSpPr>
          <p:cNvPr id="21" name="Text 19"/>
          <p:cNvSpPr/>
          <p:nvPr/>
        </p:nvSpPr>
        <p:spPr>
          <a:xfrm>
            <a:off x="5318777" y="2320290"/>
            <a:ext cx="312134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头数（num_heads, num_kv_heads）</a:t>
            </a:r>
            <a:endParaRPr lang="en-US" sz="1856" dirty="0"/>
          </a:p>
        </p:txBody>
      </p:sp>
      <p:sp>
        <p:nvSpPr>
          <p:cNvPr id="22" name="Text 20"/>
          <p:cNvSpPr/>
          <p:nvPr/>
        </p:nvSpPr>
        <p:spPr>
          <a:xfrm>
            <a:off x="5318777" y="2578100"/>
            <a:ext cx="312134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中间维度（intermediate_size）</a:t>
            </a:r>
            <a:endParaRPr lang="en-US" sz="1856" dirty="0"/>
          </a:p>
        </p:txBody>
      </p:sp>
      <p:sp>
        <p:nvSpPr>
          <p:cNvPr id="23" name="Text 21"/>
          <p:cNvSpPr/>
          <p:nvPr/>
        </p:nvSpPr>
        <p:spPr>
          <a:xfrm>
            <a:off x="5318777" y="2835910"/>
            <a:ext cx="312134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词汇表大小（vocab_size）</a:t>
            </a:r>
            <a:endParaRPr lang="en-US" sz="1856" dirty="0"/>
          </a:p>
        </p:txBody>
      </p:sp>
      <p:sp>
        <p:nvSpPr>
          <p:cNvPr id="24" name="Text 22"/>
          <p:cNvSpPr/>
          <p:nvPr/>
        </p:nvSpPr>
        <p:spPr>
          <a:xfrm>
            <a:off x="5318777" y="3093720"/>
            <a:ext cx="3121343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位置编码方式（RoPE/ALiBi）</a:t>
            </a:r>
            <a:endParaRPr lang="en-US" sz="1856" dirty="0"/>
          </a:p>
        </p:txBody>
      </p:sp>
      <p:sp>
        <p:nvSpPr>
          <p:cNvPr id="25" name="Shape 23"/>
          <p:cNvSpPr/>
          <p:nvPr/>
        </p:nvSpPr>
        <p:spPr>
          <a:xfrm>
            <a:off x="1424940" y="3793490"/>
            <a:ext cx="7273925" cy="3993109"/>
          </a:xfrm>
          <a:custGeom>
            <a:avLst/>
            <a:gdLst/>
            <a:ahLst/>
            <a:cxnLst/>
            <a:rect l="l" t="t" r="r" b="b"/>
            <a:pathLst>
              <a:path w="6270625" h="3619500">
                <a:moveTo>
                  <a:pt x="63486" y="0"/>
                </a:moveTo>
                <a:lnTo>
                  <a:pt x="6207139" y="0"/>
                </a:lnTo>
                <a:cubicBezTo>
                  <a:pt x="6242201" y="0"/>
                  <a:pt x="6270625" y="28424"/>
                  <a:pt x="6270625" y="63486"/>
                </a:cubicBezTo>
                <a:lnTo>
                  <a:pt x="6270625" y="3556014"/>
                </a:lnTo>
                <a:cubicBezTo>
                  <a:pt x="6270625" y="3591076"/>
                  <a:pt x="6242201" y="3619500"/>
                  <a:pt x="6207139" y="3619500"/>
                </a:cubicBezTo>
                <a:lnTo>
                  <a:pt x="63486" y="3619500"/>
                </a:lnTo>
                <a:cubicBezTo>
                  <a:pt x="28424" y="3619500"/>
                  <a:pt x="0" y="3591076"/>
                  <a:pt x="0" y="3556014"/>
                </a:cubicBezTo>
                <a:lnTo>
                  <a:pt x="0" y="63486"/>
                </a:lnTo>
                <a:cubicBezTo>
                  <a:pt x="0" y="28447"/>
                  <a:pt x="28447" y="0"/>
                  <a:pt x="63486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26" name="Shape 24"/>
          <p:cNvSpPr/>
          <p:nvPr/>
        </p:nvSpPr>
        <p:spPr>
          <a:xfrm>
            <a:off x="1632109" y="4014470"/>
            <a:ext cx="184150" cy="1841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6224" y="6728"/>
                </a:moveTo>
                <a:cubicBezTo>
                  <a:pt x="139433" y="-62"/>
                  <a:pt x="128457" y="-62"/>
                  <a:pt x="121667" y="6728"/>
                </a:cubicBezTo>
                <a:lnTo>
                  <a:pt x="114102" y="14294"/>
                </a:lnTo>
                <a:lnTo>
                  <a:pt x="144456" y="44648"/>
                </a:lnTo>
                <a:lnTo>
                  <a:pt x="152022" y="37083"/>
                </a:lnTo>
                <a:cubicBezTo>
                  <a:pt x="158812" y="30293"/>
                  <a:pt x="158812" y="19317"/>
                  <a:pt x="152022" y="12526"/>
                </a:cubicBezTo>
                <a:lnTo>
                  <a:pt x="146224" y="6728"/>
                </a:lnTo>
                <a:close/>
                <a:moveTo>
                  <a:pt x="53454" y="74941"/>
                </a:moveTo>
                <a:cubicBezTo>
                  <a:pt x="51563" y="76833"/>
                  <a:pt x="50105" y="79158"/>
                  <a:pt x="49268" y="81731"/>
                </a:cubicBezTo>
                <a:lnTo>
                  <a:pt x="40091" y="109265"/>
                </a:lnTo>
                <a:cubicBezTo>
                  <a:pt x="39191" y="111931"/>
                  <a:pt x="39905" y="114877"/>
                  <a:pt x="41889" y="116892"/>
                </a:cubicBezTo>
                <a:cubicBezTo>
                  <a:pt x="43873" y="118907"/>
                  <a:pt x="46819" y="119590"/>
                  <a:pt x="49516" y="118690"/>
                </a:cubicBezTo>
                <a:lnTo>
                  <a:pt x="77050" y="109513"/>
                </a:lnTo>
                <a:cubicBezTo>
                  <a:pt x="79592" y="108676"/>
                  <a:pt x="81917" y="107218"/>
                  <a:pt x="83840" y="105327"/>
                </a:cubicBezTo>
                <a:lnTo>
                  <a:pt x="133945" y="55159"/>
                </a:lnTo>
                <a:lnTo>
                  <a:pt x="103591" y="24805"/>
                </a:lnTo>
                <a:lnTo>
                  <a:pt x="53454" y="74941"/>
                </a:lnTo>
                <a:close/>
                <a:moveTo>
                  <a:pt x="29766" y="19844"/>
                </a:moveTo>
                <a:cubicBezTo>
                  <a:pt x="13333" y="19844"/>
                  <a:pt x="0" y="33176"/>
                  <a:pt x="0" y="49609"/>
                </a:cubicBezTo>
                <a:lnTo>
                  <a:pt x="0" y="128984"/>
                </a:lnTo>
                <a:cubicBezTo>
                  <a:pt x="0" y="145417"/>
                  <a:pt x="13333" y="158750"/>
                  <a:pt x="29766" y="158750"/>
                </a:cubicBezTo>
                <a:lnTo>
                  <a:pt x="109141" y="158750"/>
                </a:lnTo>
                <a:cubicBezTo>
                  <a:pt x="125574" y="158750"/>
                  <a:pt x="138906" y="145417"/>
                  <a:pt x="138906" y="128984"/>
                </a:cubicBezTo>
                <a:lnTo>
                  <a:pt x="138906" y="99219"/>
                </a:lnTo>
                <a:cubicBezTo>
                  <a:pt x="138906" y="93731"/>
                  <a:pt x="134472" y="89297"/>
                  <a:pt x="128984" y="89297"/>
                </a:cubicBezTo>
                <a:cubicBezTo>
                  <a:pt x="123496" y="89297"/>
                  <a:pt x="119062" y="93731"/>
                  <a:pt x="119062" y="99219"/>
                </a:cubicBezTo>
                <a:lnTo>
                  <a:pt x="119062" y="128984"/>
                </a:lnTo>
                <a:cubicBezTo>
                  <a:pt x="119062" y="134472"/>
                  <a:pt x="114629" y="138906"/>
                  <a:pt x="109141" y="138906"/>
                </a:cubicBezTo>
                <a:lnTo>
                  <a:pt x="29766" y="138906"/>
                </a:lnTo>
                <a:cubicBezTo>
                  <a:pt x="24278" y="138906"/>
                  <a:pt x="19844" y="134472"/>
                  <a:pt x="19844" y="128984"/>
                </a:cubicBezTo>
                <a:lnTo>
                  <a:pt x="19844" y="49609"/>
                </a:lnTo>
                <a:cubicBezTo>
                  <a:pt x="19844" y="44121"/>
                  <a:pt x="24278" y="39688"/>
                  <a:pt x="29766" y="39688"/>
                </a:cubicBezTo>
                <a:lnTo>
                  <a:pt x="59531" y="39688"/>
                </a:lnTo>
                <a:cubicBezTo>
                  <a:pt x="65019" y="39688"/>
                  <a:pt x="69453" y="35254"/>
                  <a:pt x="69453" y="29766"/>
                </a:cubicBezTo>
                <a:cubicBezTo>
                  <a:pt x="69453" y="24278"/>
                  <a:pt x="65019" y="19844"/>
                  <a:pt x="59531" y="19844"/>
                </a:cubicBezTo>
                <a:lnTo>
                  <a:pt x="29766" y="19844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27" name="Text 25"/>
          <p:cNvSpPr/>
          <p:nvPr/>
        </p:nvSpPr>
        <p:spPr>
          <a:xfrm>
            <a:off x="1839278" y="3977640"/>
            <a:ext cx="6767513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改写流程</a:t>
            </a:r>
            <a:endParaRPr lang="en-US" sz="1856" dirty="0"/>
          </a:p>
        </p:txBody>
      </p:sp>
      <p:sp>
        <p:nvSpPr>
          <p:cNvPr id="28" name="Shape 26"/>
          <p:cNvSpPr/>
          <p:nvPr/>
        </p:nvSpPr>
        <p:spPr>
          <a:xfrm>
            <a:off x="1627505" y="4382770"/>
            <a:ext cx="6887210" cy="773430"/>
          </a:xfrm>
          <a:custGeom>
            <a:avLst/>
            <a:gdLst/>
            <a:ahLst/>
            <a:cxnLst/>
            <a:rect l="l" t="t" r="r" b="b"/>
            <a:pathLst>
              <a:path w="5937250" h="666750">
                <a:moveTo>
                  <a:pt x="31750" y="0"/>
                </a:moveTo>
                <a:lnTo>
                  <a:pt x="5873749" y="0"/>
                </a:lnTo>
                <a:cubicBezTo>
                  <a:pt x="5908820" y="0"/>
                  <a:pt x="5937250" y="28430"/>
                  <a:pt x="5937250" y="63501"/>
                </a:cubicBezTo>
                <a:lnTo>
                  <a:pt x="5937250" y="603249"/>
                </a:lnTo>
                <a:cubicBezTo>
                  <a:pt x="5937250" y="638320"/>
                  <a:pt x="5908820" y="666750"/>
                  <a:pt x="5873749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9" name="Shape 27"/>
          <p:cNvSpPr/>
          <p:nvPr/>
        </p:nvSpPr>
        <p:spPr>
          <a:xfrm>
            <a:off x="1627505" y="4382770"/>
            <a:ext cx="36830" cy="77343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0" name="Shape 28"/>
          <p:cNvSpPr/>
          <p:nvPr/>
        </p:nvSpPr>
        <p:spPr>
          <a:xfrm>
            <a:off x="1793240" y="4530090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1" name="Text 29"/>
          <p:cNvSpPr/>
          <p:nvPr/>
        </p:nvSpPr>
        <p:spPr>
          <a:xfrm>
            <a:off x="1756410" y="4530090"/>
            <a:ext cx="368300" cy="29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1</a:t>
            </a:r>
            <a:endParaRPr lang="en-US" sz="1856" dirty="0"/>
          </a:p>
        </p:txBody>
      </p:sp>
      <p:sp>
        <p:nvSpPr>
          <p:cNvPr id="32" name="Text 30"/>
          <p:cNvSpPr/>
          <p:nvPr/>
        </p:nvSpPr>
        <p:spPr>
          <a:xfrm>
            <a:off x="2198370" y="4530090"/>
            <a:ext cx="624268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选择基准模型</a:t>
            </a:r>
            <a:endParaRPr lang="en-US" sz="1856" dirty="0"/>
          </a:p>
        </p:txBody>
      </p:sp>
      <p:sp>
        <p:nvSpPr>
          <p:cNvPr id="33" name="Text 31"/>
          <p:cNvSpPr/>
          <p:nvPr/>
        </p:nvSpPr>
        <p:spPr>
          <a:xfrm>
            <a:off x="2198370" y="4787900"/>
            <a:ext cx="624268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找到与目标模型架构最相似的已有实现（如Llama系列、Qwen系列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、</a:t>
            </a:r>
            <a:r>
              <a:rPr lang="en-US" altLang="zh-CN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DeepSeek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系列等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）</a:t>
            </a:r>
            <a:endParaRPr lang="en-US" sz="1856" dirty="0"/>
          </a:p>
        </p:txBody>
      </p:sp>
      <p:sp>
        <p:nvSpPr>
          <p:cNvPr id="34" name="Shape 32"/>
          <p:cNvSpPr/>
          <p:nvPr/>
        </p:nvSpPr>
        <p:spPr>
          <a:xfrm>
            <a:off x="1627505" y="5266690"/>
            <a:ext cx="6887210" cy="773430"/>
          </a:xfrm>
          <a:custGeom>
            <a:avLst/>
            <a:gdLst/>
            <a:ahLst/>
            <a:cxnLst/>
            <a:rect l="l" t="t" r="r" b="b"/>
            <a:pathLst>
              <a:path w="5937250" h="666750">
                <a:moveTo>
                  <a:pt x="31750" y="0"/>
                </a:moveTo>
                <a:lnTo>
                  <a:pt x="5873749" y="0"/>
                </a:lnTo>
                <a:cubicBezTo>
                  <a:pt x="5908820" y="0"/>
                  <a:pt x="5937250" y="28430"/>
                  <a:pt x="5937250" y="63501"/>
                </a:cubicBezTo>
                <a:lnTo>
                  <a:pt x="5937250" y="603249"/>
                </a:lnTo>
                <a:cubicBezTo>
                  <a:pt x="5937250" y="638320"/>
                  <a:pt x="5908820" y="666750"/>
                  <a:pt x="5873749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5" name="Shape 33"/>
          <p:cNvSpPr/>
          <p:nvPr/>
        </p:nvSpPr>
        <p:spPr>
          <a:xfrm>
            <a:off x="1627505" y="5266690"/>
            <a:ext cx="36830" cy="77343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36" name="Shape 34"/>
          <p:cNvSpPr/>
          <p:nvPr/>
        </p:nvSpPr>
        <p:spPr>
          <a:xfrm>
            <a:off x="1793240" y="5414010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37" name="Text 35"/>
          <p:cNvSpPr/>
          <p:nvPr/>
        </p:nvSpPr>
        <p:spPr>
          <a:xfrm>
            <a:off x="1756410" y="5414010"/>
            <a:ext cx="368300" cy="29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2</a:t>
            </a:r>
            <a:endParaRPr lang="en-US" sz="1856" dirty="0"/>
          </a:p>
        </p:txBody>
      </p:sp>
      <p:sp>
        <p:nvSpPr>
          <p:cNvPr id="38" name="Text 36"/>
          <p:cNvSpPr/>
          <p:nvPr/>
        </p:nvSpPr>
        <p:spPr>
          <a:xfrm>
            <a:off x="2198370" y="5414010"/>
            <a:ext cx="624268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差异化修改</a:t>
            </a:r>
            <a:endParaRPr lang="en-US" sz="1856" dirty="0"/>
          </a:p>
        </p:txBody>
      </p:sp>
      <p:sp>
        <p:nvSpPr>
          <p:cNvPr id="39" name="Text 37"/>
          <p:cNvSpPr/>
          <p:nvPr/>
        </p:nvSpPr>
        <p:spPr>
          <a:xfrm>
            <a:off x="2198370" y="5671820"/>
            <a:ext cx="624268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调整hidden_size、num_heads、intermediate_size等参数，替换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局部结构，</a:t>
            </a:r>
            <a:r>
              <a:rPr lang="en-US" altLang="zh-CN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tokenizer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等</a:t>
            </a:r>
            <a:endParaRPr lang="zh-CN" altLang="en-US" sz="1160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627505" y="6150610"/>
            <a:ext cx="6887210" cy="773430"/>
          </a:xfrm>
          <a:custGeom>
            <a:avLst/>
            <a:gdLst/>
            <a:ahLst/>
            <a:cxnLst/>
            <a:rect l="l" t="t" r="r" b="b"/>
            <a:pathLst>
              <a:path w="5937250" h="666750">
                <a:moveTo>
                  <a:pt x="31750" y="0"/>
                </a:moveTo>
                <a:lnTo>
                  <a:pt x="5873749" y="0"/>
                </a:lnTo>
                <a:cubicBezTo>
                  <a:pt x="5908820" y="0"/>
                  <a:pt x="5937250" y="28430"/>
                  <a:pt x="5937250" y="63501"/>
                </a:cubicBezTo>
                <a:lnTo>
                  <a:pt x="5937250" y="603249"/>
                </a:lnTo>
                <a:cubicBezTo>
                  <a:pt x="5937250" y="638320"/>
                  <a:pt x="5908820" y="666750"/>
                  <a:pt x="5873749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Shape 39"/>
          <p:cNvSpPr/>
          <p:nvPr/>
        </p:nvSpPr>
        <p:spPr>
          <a:xfrm>
            <a:off x="1627505" y="6150610"/>
            <a:ext cx="36830" cy="77343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2" name="Shape 40"/>
          <p:cNvSpPr/>
          <p:nvPr/>
        </p:nvSpPr>
        <p:spPr>
          <a:xfrm>
            <a:off x="1793240" y="6297930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3" name="Text 41"/>
          <p:cNvSpPr/>
          <p:nvPr/>
        </p:nvSpPr>
        <p:spPr>
          <a:xfrm>
            <a:off x="1756410" y="6297930"/>
            <a:ext cx="368300" cy="29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3</a:t>
            </a:r>
            <a:endParaRPr lang="en-US" sz="1856" dirty="0"/>
          </a:p>
        </p:txBody>
      </p:sp>
      <p:sp>
        <p:nvSpPr>
          <p:cNvPr id="44" name="Text 42"/>
          <p:cNvSpPr/>
          <p:nvPr/>
        </p:nvSpPr>
        <p:spPr>
          <a:xfrm>
            <a:off x="2198370" y="6297930"/>
            <a:ext cx="624268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权重映射</a:t>
            </a:r>
            <a:endParaRPr lang="en-US" sz="1856" dirty="0"/>
          </a:p>
        </p:txBody>
      </p:sp>
      <p:sp>
        <p:nvSpPr>
          <p:cNvPr id="45" name="Text 43"/>
          <p:cNvSpPr/>
          <p:nvPr/>
        </p:nvSpPr>
        <p:spPr>
          <a:xfrm>
            <a:off x="2198370" y="6555740"/>
            <a:ext cx="624268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创建权重映射表，将预训练权重加载到对应位置，处理命名差异</a:t>
            </a:r>
            <a:endParaRPr lang="en-US" sz="1856" dirty="0"/>
          </a:p>
        </p:txBody>
      </p:sp>
      <p:sp>
        <p:nvSpPr>
          <p:cNvPr id="46" name="Shape 44"/>
          <p:cNvSpPr/>
          <p:nvPr/>
        </p:nvSpPr>
        <p:spPr>
          <a:xfrm>
            <a:off x="1627505" y="7034530"/>
            <a:ext cx="6887210" cy="773430"/>
          </a:xfrm>
          <a:custGeom>
            <a:avLst/>
            <a:gdLst/>
            <a:ahLst/>
            <a:cxnLst/>
            <a:rect l="l" t="t" r="r" b="b"/>
            <a:pathLst>
              <a:path w="5937250" h="666750">
                <a:moveTo>
                  <a:pt x="31750" y="0"/>
                </a:moveTo>
                <a:lnTo>
                  <a:pt x="5873749" y="0"/>
                </a:lnTo>
                <a:cubicBezTo>
                  <a:pt x="5908820" y="0"/>
                  <a:pt x="5937250" y="28430"/>
                  <a:pt x="5937250" y="63501"/>
                </a:cubicBezTo>
                <a:lnTo>
                  <a:pt x="5937250" y="603249"/>
                </a:lnTo>
                <a:cubicBezTo>
                  <a:pt x="5937250" y="638320"/>
                  <a:pt x="5908820" y="666750"/>
                  <a:pt x="5873749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7" name="Shape 45"/>
          <p:cNvSpPr/>
          <p:nvPr/>
        </p:nvSpPr>
        <p:spPr>
          <a:xfrm>
            <a:off x="1627505" y="7034530"/>
            <a:ext cx="36830" cy="77343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8" name="Shape 46"/>
          <p:cNvSpPr/>
          <p:nvPr/>
        </p:nvSpPr>
        <p:spPr>
          <a:xfrm>
            <a:off x="1793240" y="7181850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9" name="Text 47"/>
          <p:cNvSpPr/>
          <p:nvPr/>
        </p:nvSpPr>
        <p:spPr>
          <a:xfrm>
            <a:off x="1756410" y="7181850"/>
            <a:ext cx="368300" cy="29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4</a:t>
            </a:r>
            <a:endParaRPr lang="en-US" sz="1856" dirty="0"/>
          </a:p>
        </p:txBody>
      </p:sp>
      <p:sp>
        <p:nvSpPr>
          <p:cNvPr id="50" name="Text 48"/>
          <p:cNvSpPr/>
          <p:nvPr/>
        </p:nvSpPr>
        <p:spPr>
          <a:xfrm>
            <a:off x="2198370" y="7181850"/>
            <a:ext cx="624268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精度验证</a:t>
            </a:r>
            <a:endParaRPr lang="en-US" sz="1856" dirty="0"/>
          </a:p>
        </p:txBody>
      </p:sp>
      <p:sp>
        <p:nvSpPr>
          <p:cNvPr id="51" name="Text 49"/>
          <p:cNvSpPr/>
          <p:nvPr/>
        </p:nvSpPr>
        <p:spPr>
          <a:xfrm>
            <a:off x="2198370" y="7439660"/>
            <a:ext cx="624268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对比改写模型与原模型输出，确保误差在可接受范围</a:t>
            </a:r>
            <a:endParaRPr lang="en-US" sz="1856" dirty="0"/>
          </a:p>
        </p:txBody>
      </p:sp>
      <p:sp>
        <p:nvSpPr>
          <p:cNvPr id="52" name="Shape 50"/>
          <p:cNvSpPr/>
          <p:nvPr/>
        </p:nvSpPr>
        <p:spPr>
          <a:xfrm>
            <a:off x="8881145" y="1289050"/>
            <a:ext cx="5948045" cy="3609340"/>
          </a:xfrm>
          <a:custGeom>
            <a:avLst/>
            <a:gdLst/>
            <a:ahLst/>
            <a:cxnLst/>
            <a:rect l="l" t="t" r="r" b="b"/>
            <a:pathLst>
              <a:path w="5127625" h="3111500">
                <a:moveTo>
                  <a:pt x="63506" y="0"/>
                </a:moveTo>
                <a:lnTo>
                  <a:pt x="5064119" y="0"/>
                </a:lnTo>
                <a:cubicBezTo>
                  <a:pt x="5099193" y="0"/>
                  <a:pt x="5127625" y="28432"/>
                  <a:pt x="5127625" y="63506"/>
                </a:cubicBezTo>
                <a:lnTo>
                  <a:pt x="5127625" y="3047994"/>
                </a:lnTo>
                <a:cubicBezTo>
                  <a:pt x="5127625" y="3083068"/>
                  <a:pt x="5099193" y="3111500"/>
                  <a:pt x="5064119" y="3111500"/>
                </a:cubicBezTo>
                <a:lnTo>
                  <a:pt x="63506" y="3111500"/>
                </a:lnTo>
                <a:cubicBezTo>
                  <a:pt x="28432" y="3111500"/>
                  <a:pt x="0" y="3083068"/>
                  <a:pt x="0" y="304799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53" name="Shape 51"/>
          <p:cNvSpPr/>
          <p:nvPr/>
        </p:nvSpPr>
        <p:spPr>
          <a:xfrm>
            <a:off x="9088313" y="1510030"/>
            <a:ext cx="184150" cy="1841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5835" y="46695"/>
                </a:moveTo>
                <a:lnTo>
                  <a:pt x="126070" y="76460"/>
                </a:lnTo>
                <a:cubicBezTo>
                  <a:pt x="123217" y="79313"/>
                  <a:pt x="118969" y="80150"/>
                  <a:pt x="115249" y="78600"/>
                </a:cubicBezTo>
                <a:cubicBezTo>
                  <a:pt x="111528" y="77050"/>
                  <a:pt x="109141" y="73453"/>
                  <a:pt x="109141" y="69453"/>
                </a:cubicBezTo>
                <a:lnTo>
                  <a:pt x="109141" y="49609"/>
                </a:lnTo>
                <a:lnTo>
                  <a:pt x="9922" y="49609"/>
                </a:lnTo>
                <a:cubicBezTo>
                  <a:pt x="4434" y="49609"/>
                  <a:pt x="0" y="45176"/>
                  <a:pt x="0" y="39688"/>
                </a:cubicBezTo>
                <a:cubicBezTo>
                  <a:pt x="0" y="34199"/>
                  <a:pt x="4434" y="29766"/>
                  <a:pt x="9922" y="29766"/>
                </a:cubicBezTo>
                <a:lnTo>
                  <a:pt x="109141" y="29766"/>
                </a:lnTo>
                <a:lnTo>
                  <a:pt x="109141" y="9922"/>
                </a:lnTo>
                <a:cubicBezTo>
                  <a:pt x="109141" y="5922"/>
                  <a:pt x="111559" y="2294"/>
                  <a:pt x="115280" y="744"/>
                </a:cubicBezTo>
                <a:cubicBezTo>
                  <a:pt x="119000" y="-806"/>
                  <a:pt x="123248" y="62"/>
                  <a:pt x="126101" y="2884"/>
                </a:cubicBezTo>
                <a:lnTo>
                  <a:pt x="155866" y="32649"/>
                </a:lnTo>
                <a:cubicBezTo>
                  <a:pt x="159742" y="36525"/>
                  <a:pt x="159742" y="42819"/>
                  <a:pt x="155866" y="46695"/>
                </a:cubicBezTo>
                <a:close/>
                <a:moveTo>
                  <a:pt x="32649" y="155835"/>
                </a:moveTo>
                <a:lnTo>
                  <a:pt x="2884" y="126070"/>
                </a:lnTo>
                <a:cubicBezTo>
                  <a:pt x="-992" y="122194"/>
                  <a:pt x="-992" y="115900"/>
                  <a:pt x="2884" y="112024"/>
                </a:cubicBezTo>
                <a:lnTo>
                  <a:pt x="32649" y="82259"/>
                </a:lnTo>
                <a:cubicBezTo>
                  <a:pt x="35502" y="79406"/>
                  <a:pt x="39750" y="78569"/>
                  <a:pt x="43470" y="80119"/>
                </a:cubicBezTo>
                <a:cubicBezTo>
                  <a:pt x="47191" y="81669"/>
                  <a:pt x="49609" y="85297"/>
                  <a:pt x="49609" y="89297"/>
                </a:cubicBezTo>
                <a:lnTo>
                  <a:pt x="49609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cubicBezTo>
                  <a:pt x="158750" y="124551"/>
                  <a:pt x="154316" y="128984"/>
                  <a:pt x="148828" y="128984"/>
                </a:cubicBezTo>
                <a:lnTo>
                  <a:pt x="49609" y="128984"/>
                </a:lnTo>
                <a:lnTo>
                  <a:pt x="49609" y="148828"/>
                </a:lnTo>
                <a:cubicBezTo>
                  <a:pt x="49609" y="152828"/>
                  <a:pt x="47191" y="156456"/>
                  <a:pt x="43470" y="158006"/>
                </a:cubicBezTo>
                <a:cubicBezTo>
                  <a:pt x="39750" y="159556"/>
                  <a:pt x="35502" y="158688"/>
                  <a:pt x="32649" y="15586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9295482" y="1473200"/>
            <a:ext cx="5441633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典型改写案例</a:t>
            </a:r>
            <a:endParaRPr lang="en-US" sz="1856" dirty="0"/>
          </a:p>
        </p:txBody>
      </p:sp>
      <p:sp>
        <p:nvSpPr>
          <p:cNvPr id="55" name="Shape 53"/>
          <p:cNvSpPr/>
          <p:nvPr/>
        </p:nvSpPr>
        <p:spPr>
          <a:xfrm>
            <a:off x="9065295" y="1878330"/>
            <a:ext cx="5579745" cy="847090"/>
          </a:xfrm>
          <a:custGeom>
            <a:avLst/>
            <a:gdLst/>
            <a:ahLst/>
            <a:cxnLst/>
            <a:rect l="l" t="t" r="r" b="b"/>
            <a:pathLst>
              <a:path w="4810125" h="730250">
                <a:moveTo>
                  <a:pt x="63503" y="0"/>
                </a:moveTo>
                <a:lnTo>
                  <a:pt x="4746622" y="0"/>
                </a:lnTo>
                <a:cubicBezTo>
                  <a:pt x="4781694" y="0"/>
                  <a:pt x="4810125" y="28431"/>
                  <a:pt x="4810125" y="63503"/>
                </a:cubicBezTo>
                <a:lnTo>
                  <a:pt x="4810125" y="666747"/>
                </a:lnTo>
                <a:cubicBezTo>
                  <a:pt x="4810125" y="701819"/>
                  <a:pt x="4781694" y="730250"/>
                  <a:pt x="474662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9212275" y="2044065"/>
            <a:ext cx="2687117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Qwen2 → Qwen3-235B</a:t>
            </a:r>
            <a:endParaRPr lang="en-US" sz="1856" dirty="0"/>
          </a:p>
        </p:txBody>
      </p:sp>
      <p:sp>
        <p:nvSpPr>
          <p:cNvPr id="57" name="Shape 55"/>
          <p:cNvSpPr/>
          <p:nvPr/>
        </p:nvSpPr>
        <p:spPr>
          <a:xfrm>
            <a:off x="13573373" y="2025650"/>
            <a:ext cx="929958" cy="257810"/>
          </a:xfrm>
          <a:custGeom>
            <a:avLst/>
            <a:gdLst/>
            <a:ahLst/>
            <a:cxnLst/>
            <a:rect l="l" t="t" r="r" b="b"/>
            <a:pathLst>
              <a:path w="801688" h="222250">
                <a:moveTo>
                  <a:pt x="31751" y="0"/>
                </a:moveTo>
                <a:lnTo>
                  <a:pt x="769937" y="0"/>
                </a:lnTo>
                <a:cubicBezTo>
                  <a:pt x="787472" y="0"/>
                  <a:pt x="801688" y="14215"/>
                  <a:pt x="801688" y="31751"/>
                </a:cubicBezTo>
                <a:lnTo>
                  <a:pt x="801688" y="190499"/>
                </a:lnTo>
                <a:cubicBezTo>
                  <a:pt x="801688" y="208035"/>
                  <a:pt x="787472" y="222250"/>
                  <a:pt x="769937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58" name="Text 56"/>
          <p:cNvSpPr/>
          <p:nvPr/>
        </p:nvSpPr>
        <p:spPr>
          <a:xfrm>
            <a:off x="13573373" y="2025650"/>
            <a:ext cx="994410" cy="257810"/>
          </a:xfrm>
          <a:prstGeom prst="rect">
            <a:avLst/>
          </a:prstGeom>
          <a:noFill/>
        </p:spPr>
        <p:txBody>
          <a:bodyPr wrap="square" lIns="73660" tIns="36830" rIns="73660" bIns="3683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相似度：70%</a:t>
            </a:r>
            <a:endParaRPr lang="en-US" sz="1856" dirty="0"/>
          </a:p>
        </p:txBody>
      </p:sp>
      <p:sp>
        <p:nvSpPr>
          <p:cNvPr id="59" name="Text 57"/>
          <p:cNvSpPr/>
          <p:nvPr/>
        </p:nvSpPr>
        <p:spPr>
          <a:xfrm>
            <a:off x="9212615" y="2357120"/>
            <a:ext cx="535876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修改：FFN</a:t>
            </a:r>
            <a:r>
              <a:rPr lang="zh-CN" altLang="en-US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替换成</a:t>
            </a:r>
            <a:r>
              <a:rPr lang="en-US" altLang="zh-CN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MOE</a:t>
            </a:r>
            <a:r>
              <a:rPr lang="zh-CN" altLang="en-US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，引入</a:t>
            </a:r>
            <a:r>
              <a:rPr lang="en-US" altLang="zh-CN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QK-Norm</a:t>
            </a:r>
            <a:r>
              <a:rPr lang="zh-CN" altLang="en-US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等</a:t>
            </a:r>
            <a:endParaRPr lang="zh-CN" altLang="en-US" sz="1160" dirty="0">
              <a:solidFill>
                <a:srgbClr val="FFFFFF">
                  <a:alpha val="90000"/>
                </a:srgbClr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9065295" y="2872740"/>
            <a:ext cx="5579745" cy="847090"/>
          </a:xfrm>
          <a:custGeom>
            <a:avLst/>
            <a:gdLst/>
            <a:ahLst/>
            <a:cxnLst/>
            <a:rect l="l" t="t" r="r" b="b"/>
            <a:pathLst>
              <a:path w="4810125" h="730250">
                <a:moveTo>
                  <a:pt x="63503" y="0"/>
                </a:moveTo>
                <a:lnTo>
                  <a:pt x="4746622" y="0"/>
                </a:lnTo>
                <a:cubicBezTo>
                  <a:pt x="4781694" y="0"/>
                  <a:pt x="4810125" y="28431"/>
                  <a:pt x="4810125" y="63503"/>
                </a:cubicBezTo>
                <a:lnTo>
                  <a:pt x="4810125" y="666747"/>
                </a:lnTo>
                <a:cubicBezTo>
                  <a:pt x="4810125" y="701819"/>
                  <a:pt x="4781694" y="730250"/>
                  <a:pt x="474662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9212275" y="3038475"/>
            <a:ext cx="3197581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DeepSeekV3 → Kimi K2 Thinking</a:t>
            </a:r>
            <a:endParaRPr lang="en-US" sz="1160" b="1" dirty="0">
              <a:solidFill>
                <a:srgbClr val="FFFFF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3574955" y="3020060"/>
            <a:ext cx="920750" cy="257810"/>
          </a:xfrm>
          <a:custGeom>
            <a:avLst/>
            <a:gdLst/>
            <a:ahLst/>
            <a:cxnLst/>
            <a:rect l="l" t="t" r="r" b="b"/>
            <a:pathLst>
              <a:path w="793750" h="222250">
                <a:moveTo>
                  <a:pt x="31751" y="0"/>
                </a:moveTo>
                <a:lnTo>
                  <a:pt x="761999" y="0"/>
                </a:lnTo>
                <a:cubicBezTo>
                  <a:pt x="779535" y="0"/>
                  <a:pt x="793750" y="14215"/>
                  <a:pt x="793750" y="31751"/>
                </a:cubicBezTo>
                <a:lnTo>
                  <a:pt x="793750" y="190499"/>
                </a:lnTo>
                <a:cubicBezTo>
                  <a:pt x="793750" y="208035"/>
                  <a:pt x="779535" y="222250"/>
                  <a:pt x="76199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63" name="Text 61"/>
          <p:cNvSpPr/>
          <p:nvPr/>
        </p:nvSpPr>
        <p:spPr>
          <a:xfrm>
            <a:off x="13574955" y="3020060"/>
            <a:ext cx="985203" cy="257810"/>
          </a:xfrm>
          <a:prstGeom prst="rect">
            <a:avLst/>
          </a:prstGeom>
          <a:noFill/>
        </p:spPr>
        <p:txBody>
          <a:bodyPr wrap="square" lIns="73660" tIns="36830" rIns="73660" bIns="3683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相似度：90%</a:t>
            </a:r>
            <a:endParaRPr lang="en-US" sz="1856" dirty="0"/>
          </a:p>
        </p:txBody>
      </p:sp>
      <p:sp>
        <p:nvSpPr>
          <p:cNvPr id="64" name="Text 62"/>
          <p:cNvSpPr/>
          <p:nvPr/>
        </p:nvSpPr>
        <p:spPr>
          <a:xfrm>
            <a:off x="9212615" y="3351530"/>
            <a:ext cx="535876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修改：</a:t>
            </a:r>
            <a:r>
              <a:rPr lang="zh-CN" altLang="en-US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减少</a:t>
            </a:r>
            <a:r>
              <a:rPr lang="en-US" altLang="zh-CN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attn heads</a:t>
            </a:r>
            <a:r>
              <a:rPr lang="en-US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、增加专家数</a:t>
            </a:r>
            <a:r>
              <a:rPr lang="zh-CN" altLang="en-US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，更换</a:t>
            </a:r>
            <a:r>
              <a:rPr lang="en-US" altLang="zh-CN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tokenizer</a:t>
            </a:r>
            <a:endParaRPr lang="en-US" altLang="zh-CN" sz="1160" dirty="0">
              <a:solidFill>
                <a:srgbClr val="FFFFFF">
                  <a:alpha val="90000"/>
                </a:srgbClr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9065295" y="3867150"/>
            <a:ext cx="5579745" cy="847090"/>
          </a:xfrm>
          <a:custGeom>
            <a:avLst/>
            <a:gdLst/>
            <a:ahLst/>
            <a:cxnLst/>
            <a:rect l="l" t="t" r="r" b="b"/>
            <a:pathLst>
              <a:path w="4810125" h="730250">
                <a:moveTo>
                  <a:pt x="63503" y="0"/>
                </a:moveTo>
                <a:lnTo>
                  <a:pt x="4746622" y="0"/>
                </a:lnTo>
                <a:cubicBezTo>
                  <a:pt x="4781694" y="0"/>
                  <a:pt x="4810125" y="28431"/>
                  <a:pt x="4810125" y="63503"/>
                </a:cubicBezTo>
                <a:lnTo>
                  <a:pt x="4810125" y="666747"/>
                </a:lnTo>
                <a:cubicBezTo>
                  <a:pt x="4810125" y="701819"/>
                  <a:pt x="4781694" y="730250"/>
                  <a:pt x="474662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66" name="Text 64"/>
          <p:cNvSpPr/>
          <p:nvPr/>
        </p:nvSpPr>
        <p:spPr>
          <a:xfrm>
            <a:off x="9212275" y="4032885"/>
            <a:ext cx="1752371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DeepSeekV3.2→ GLM5</a:t>
            </a:r>
            <a:endParaRPr lang="en-US" sz="1856" dirty="0"/>
          </a:p>
        </p:txBody>
      </p:sp>
      <p:sp>
        <p:nvSpPr>
          <p:cNvPr id="67" name="Shape 65"/>
          <p:cNvSpPr/>
          <p:nvPr/>
        </p:nvSpPr>
        <p:spPr>
          <a:xfrm>
            <a:off x="13573876" y="4014470"/>
            <a:ext cx="929958" cy="257810"/>
          </a:xfrm>
          <a:custGeom>
            <a:avLst/>
            <a:gdLst/>
            <a:ahLst/>
            <a:cxnLst/>
            <a:rect l="l" t="t" r="r" b="b"/>
            <a:pathLst>
              <a:path w="801688" h="222250">
                <a:moveTo>
                  <a:pt x="31751" y="0"/>
                </a:moveTo>
                <a:lnTo>
                  <a:pt x="769937" y="0"/>
                </a:lnTo>
                <a:cubicBezTo>
                  <a:pt x="787472" y="0"/>
                  <a:pt x="801688" y="14215"/>
                  <a:pt x="801688" y="31751"/>
                </a:cubicBezTo>
                <a:lnTo>
                  <a:pt x="801688" y="190499"/>
                </a:lnTo>
                <a:cubicBezTo>
                  <a:pt x="801688" y="208035"/>
                  <a:pt x="787472" y="222250"/>
                  <a:pt x="769937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68" name="Text 66"/>
          <p:cNvSpPr/>
          <p:nvPr/>
        </p:nvSpPr>
        <p:spPr>
          <a:xfrm>
            <a:off x="13573876" y="4014470"/>
            <a:ext cx="994410" cy="257810"/>
          </a:xfrm>
          <a:prstGeom prst="rect">
            <a:avLst/>
          </a:prstGeom>
          <a:noFill/>
        </p:spPr>
        <p:txBody>
          <a:bodyPr wrap="square" lIns="73660" tIns="36830" rIns="73660" bIns="3683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相似度：90%</a:t>
            </a:r>
            <a:endParaRPr lang="en-US" sz="1856" dirty="0"/>
          </a:p>
        </p:txBody>
      </p:sp>
      <p:sp>
        <p:nvSpPr>
          <p:cNvPr id="69" name="Text 67"/>
          <p:cNvSpPr/>
          <p:nvPr/>
        </p:nvSpPr>
        <p:spPr>
          <a:xfrm>
            <a:off x="9212615" y="4345940"/>
            <a:ext cx="535876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修改：</a:t>
            </a:r>
            <a:r>
              <a:rPr lang="zh-CN" altLang="en-US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更改</a:t>
            </a:r>
            <a:r>
              <a:rPr lang="en-US" altLang="zh-CN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hidden_size/attn heads/head_dim</a:t>
            </a:r>
            <a:r>
              <a:rPr lang="zh-CN" altLang="en-US" sz="1160" dirty="0">
                <a:solidFill>
                  <a:srgbClr val="FFFFFF">
                    <a:alpha val="90000"/>
                  </a:srgbClr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等超参</a:t>
            </a:r>
            <a:endParaRPr lang="zh-CN" altLang="en-US" sz="1160" dirty="0">
              <a:solidFill>
                <a:srgbClr val="FFFFFF">
                  <a:alpha val="90000"/>
                </a:srgbClr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8807485" y="5450840"/>
            <a:ext cx="5948045" cy="1068070"/>
          </a:xfrm>
          <a:custGeom>
            <a:avLst/>
            <a:gdLst/>
            <a:ahLst/>
            <a:cxnLst/>
            <a:rect l="l" t="t" r="r" b="b"/>
            <a:pathLst>
              <a:path w="5127625" h="920750">
                <a:moveTo>
                  <a:pt x="63504" y="0"/>
                </a:moveTo>
                <a:lnTo>
                  <a:pt x="5064121" y="0"/>
                </a:lnTo>
                <a:cubicBezTo>
                  <a:pt x="5099193" y="0"/>
                  <a:pt x="5127625" y="28432"/>
                  <a:pt x="5127625" y="63504"/>
                </a:cubicBezTo>
                <a:lnTo>
                  <a:pt x="5127625" y="857246"/>
                </a:lnTo>
                <a:cubicBezTo>
                  <a:pt x="5127625" y="892318"/>
                  <a:pt x="5099193" y="920750"/>
                  <a:pt x="506412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76" name="Shape 74"/>
          <p:cNvSpPr/>
          <p:nvPr/>
        </p:nvSpPr>
        <p:spPr>
          <a:xfrm>
            <a:off x="8991635" y="5634990"/>
            <a:ext cx="110490" cy="14732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7" name="Text 75"/>
          <p:cNvSpPr/>
          <p:nvPr/>
        </p:nvSpPr>
        <p:spPr>
          <a:xfrm>
            <a:off x="9138955" y="5598160"/>
            <a:ext cx="554291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实践建议</a:t>
            </a:r>
            <a:endParaRPr lang="en-US" sz="1856" dirty="0"/>
          </a:p>
        </p:txBody>
      </p:sp>
      <p:sp>
        <p:nvSpPr>
          <p:cNvPr id="78" name="Text 76"/>
          <p:cNvSpPr/>
          <p:nvPr/>
        </p:nvSpPr>
        <p:spPr>
          <a:xfrm>
            <a:off x="8954805" y="5892800"/>
            <a:ext cx="5727065" cy="478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改写前先对比两个模型的config.json，识别关键差异。建议从官方实现或HuggingFace的transformers库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，或</a:t>
            </a:r>
            <a:r>
              <a:rPr lang="en-US" altLang="zh-CN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vLLM/SGLang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中寻找基准模型，确保代码质量。</a:t>
            </a:r>
            <a:endParaRPr lang="en-US" sz="1856" dirty="0"/>
          </a:p>
        </p:txBody>
      </p:sp>
      <p:sp>
        <p:nvSpPr>
          <p:cNvPr id="79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80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</a:t>
            </a:r>
            <a:endParaRPr lang="en-US" dirty="0"/>
          </a:p>
        </p:txBody>
      </p:sp>
      <p:pic>
        <p:nvPicPr>
          <p:cNvPr id="81" name="CANN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1498600" y="1023413"/>
            <a:ext cx="2397633" cy="618744"/>
          </a:xfrm>
          <a:custGeom>
            <a:avLst/>
            <a:gdLst/>
            <a:ahLst/>
            <a:cxnLst/>
            <a:rect l="l" t="t" r="r" b="b"/>
            <a:pathLst>
              <a:path w="2066925" h="533400">
                <a:moveTo>
                  <a:pt x="0" y="0"/>
                </a:moveTo>
                <a:lnTo>
                  <a:pt x="2066925" y="0"/>
                </a:lnTo>
                <a:lnTo>
                  <a:pt x="20669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5" name="Text 2"/>
          <p:cNvSpPr/>
          <p:nvPr/>
        </p:nvSpPr>
        <p:spPr>
          <a:xfrm>
            <a:off x="1498600" y="1023413"/>
            <a:ext cx="2530221" cy="618744"/>
          </a:xfrm>
          <a:prstGeom prst="rect">
            <a:avLst/>
          </a:prstGeom>
          <a:noFill/>
        </p:spPr>
        <p:txBody>
          <a:bodyPr wrap="square" lIns="265176" tIns="132588" rIns="265176" bIns="132588" rtlCol="0" anchor="ctr"/>
          <a:lstStyle/>
          <a:p>
            <a:pPr>
              <a:lnSpc>
                <a:spcPct val="110000"/>
              </a:lnSpc>
            </a:pPr>
            <a:r>
              <a:rPr lang="en-US" sz="2088" b="1" kern="0" spc="90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CHAPTER 04</a:t>
            </a:r>
            <a:endParaRPr lang="en-US" sz="1856" dirty="0"/>
          </a:p>
        </p:txBody>
      </p:sp>
      <p:sp>
        <p:nvSpPr>
          <p:cNvPr id="6" name="Text 3"/>
          <p:cNvSpPr/>
          <p:nvPr/>
        </p:nvSpPr>
        <p:spPr>
          <a:xfrm>
            <a:off x="1498600" y="1995725"/>
            <a:ext cx="7159752" cy="1988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26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性能瓶颈</a:t>
            </a:r>
            <a:endParaRPr lang="en-US" sz="1856" dirty="0"/>
          </a:p>
          <a:p>
            <a:pPr>
              <a:lnSpc>
                <a:spcPct val="100000"/>
              </a:lnSpc>
            </a:pPr>
            <a:r>
              <a:rPr lang="en-US" sz="626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分析方法论</a:t>
            </a:r>
            <a:endParaRPr lang="en-US" sz="1856" dirty="0"/>
          </a:p>
        </p:txBody>
      </p:sp>
      <p:sp>
        <p:nvSpPr>
          <p:cNvPr id="7" name="Text 4"/>
          <p:cNvSpPr/>
          <p:nvPr/>
        </p:nvSpPr>
        <p:spPr>
          <a:xfrm>
            <a:off x="1498600" y="4338113"/>
            <a:ext cx="6927723" cy="5414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10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建立系统化的性能分析和优化思维框架</a:t>
            </a:r>
            <a:endParaRPr lang="en-US" sz="1856" dirty="0"/>
          </a:p>
        </p:txBody>
      </p:sp>
      <p:sp>
        <p:nvSpPr>
          <p:cNvPr id="8" name="Shape 5"/>
          <p:cNvSpPr/>
          <p:nvPr/>
        </p:nvSpPr>
        <p:spPr>
          <a:xfrm>
            <a:off x="1520698" y="5407105"/>
            <a:ext cx="2055114" cy="1524762"/>
          </a:xfrm>
          <a:custGeom>
            <a:avLst/>
            <a:gdLst/>
            <a:ahLst/>
            <a:cxnLst/>
            <a:rect l="l" t="t" r="r" b="b"/>
            <a:pathLst>
              <a:path w="1771650" h="1314450">
                <a:moveTo>
                  <a:pt x="38100" y="0"/>
                </a:moveTo>
                <a:lnTo>
                  <a:pt x="1695451" y="0"/>
                </a:lnTo>
                <a:cubicBezTo>
                  <a:pt x="1737535" y="0"/>
                  <a:pt x="1771650" y="34115"/>
                  <a:pt x="1771650" y="76199"/>
                </a:cubicBezTo>
                <a:lnTo>
                  <a:pt x="1771650" y="1238251"/>
                </a:lnTo>
                <a:cubicBezTo>
                  <a:pt x="1771650" y="1280335"/>
                  <a:pt x="1737535" y="1314450"/>
                  <a:pt x="1695451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1520698" y="5407105"/>
            <a:ext cx="44196" cy="1524762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0" name="Shape 7"/>
          <p:cNvSpPr/>
          <p:nvPr/>
        </p:nvSpPr>
        <p:spPr>
          <a:xfrm>
            <a:off x="1807972" y="5628085"/>
            <a:ext cx="331470" cy="33147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32172" y="116086"/>
                </a:moveTo>
                <a:cubicBezTo>
                  <a:pt x="232172" y="141703"/>
                  <a:pt x="223856" y="165367"/>
                  <a:pt x="209848" y="184565"/>
                </a:cubicBezTo>
                <a:lnTo>
                  <a:pt x="280504" y="255277"/>
                </a:lnTo>
                <a:cubicBezTo>
                  <a:pt x="287480" y="262254"/>
                  <a:pt x="287480" y="273583"/>
                  <a:pt x="280504" y="280560"/>
                </a:cubicBezTo>
                <a:cubicBezTo>
                  <a:pt x="273527" y="287536"/>
                  <a:pt x="262198" y="287536"/>
                  <a:pt x="255222" y="280560"/>
                </a:cubicBezTo>
                <a:lnTo>
                  <a:pt x="184565" y="209848"/>
                </a:lnTo>
                <a:cubicBezTo>
                  <a:pt x="165367" y="223856"/>
                  <a:pt x="141703" y="232172"/>
                  <a:pt x="116086" y="232172"/>
                </a:cubicBezTo>
                <a:cubicBezTo>
                  <a:pt x="51960" y="232172"/>
                  <a:pt x="0" y="180212"/>
                  <a:pt x="0" y="116086"/>
                </a:cubicBezTo>
                <a:cubicBezTo>
                  <a:pt x="0" y="51960"/>
                  <a:pt x="51960" y="0"/>
                  <a:pt x="116086" y="0"/>
                </a:cubicBezTo>
                <a:cubicBezTo>
                  <a:pt x="180212" y="0"/>
                  <a:pt x="232172" y="51960"/>
                  <a:pt x="232172" y="116086"/>
                </a:cubicBezTo>
                <a:close/>
                <a:moveTo>
                  <a:pt x="116086" y="196453"/>
                </a:moveTo>
                <a:cubicBezTo>
                  <a:pt x="160442" y="196453"/>
                  <a:pt x="196453" y="160442"/>
                  <a:pt x="196453" y="116086"/>
                </a:cubicBezTo>
                <a:cubicBezTo>
                  <a:pt x="196453" y="71730"/>
                  <a:pt x="160442" y="35719"/>
                  <a:pt x="116086" y="35719"/>
                </a:cubicBezTo>
                <a:cubicBezTo>
                  <a:pt x="71730" y="35719"/>
                  <a:pt x="35719" y="71730"/>
                  <a:pt x="35719" y="116086"/>
                </a:cubicBezTo>
                <a:cubicBezTo>
                  <a:pt x="35719" y="160442"/>
                  <a:pt x="71730" y="196453"/>
                  <a:pt x="116086" y="196453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1" name="Text 8"/>
          <p:cNvSpPr/>
          <p:nvPr/>
        </p:nvSpPr>
        <p:spPr>
          <a:xfrm>
            <a:off x="1763776" y="6092143"/>
            <a:ext cx="1690497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Host vs Device</a:t>
            </a:r>
            <a:endParaRPr lang="en-US" sz="1856" dirty="0"/>
          </a:p>
        </p:txBody>
      </p:sp>
      <p:sp>
        <p:nvSpPr>
          <p:cNvPr id="12" name="Text 9"/>
          <p:cNvSpPr/>
          <p:nvPr/>
        </p:nvSpPr>
        <p:spPr>
          <a:xfrm>
            <a:off x="1763776" y="6445711"/>
            <a:ext cx="167944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区分下发与执行瓶颈</a:t>
            </a:r>
            <a:endParaRPr lang="en-US" sz="1856" dirty="0"/>
          </a:p>
        </p:txBody>
      </p:sp>
      <p:sp>
        <p:nvSpPr>
          <p:cNvPr id="13" name="Shape 10"/>
          <p:cNvSpPr/>
          <p:nvPr>
            <p:custDataLst>
              <p:tags r:id="rId2"/>
            </p:custDataLst>
          </p:nvPr>
        </p:nvSpPr>
        <p:spPr>
          <a:xfrm>
            <a:off x="3863172" y="5407105"/>
            <a:ext cx="2055114" cy="1524762"/>
          </a:xfrm>
          <a:custGeom>
            <a:avLst/>
            <a:gdLst/>
            <a:ahLst/>
            <a:cxnLst/>
            <a:rect l="l" t="t" r="r" b="b"/>
            <a:pathLst>
              <a:path w="1771650" h="1314450">
                <a:moveTo>
                  <a:pt x="38100" y="0"/>
                </a:moveTo>
                <a:lnTo>
                  <a:pt x="1695451" y="0"/>
                </a:lnTo>
                <a:cubicBezTo>
                  <a:pt x="1737535" y="0"/>
                  <a:pt x="1771650" y="34115"/>
                  <a:pt x="1771650" y="76199"/>
                </a:cubicBezTo>
                <a:lnTo>
                  <a:pt x="1771650" y="1238251"/>
                </a:lnTo>
                <a:cubicBezTo>
                  <a:pt x="1771650" y="1280335"/>
                  <a:pt x="1737535" y="1314450"/>
                  <a:pt x="1695451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14" name="Shape 11"/>
          <p:cNvSpPr/>
          <p:nvPr>
            <p:custDataLst>
              <p:tags r:id="rId3"/>
            </p:custDataLst>
          </p:nvPr>
        </p:nvSpPr>
        <p:spPr>
          <a:xfrm>
            <a:off x="3863172" y="5407105"/>
            <a:ext cx="44196" cy="1524762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5" name="Shape 12"/>
          <p:cNvSpPr/>
          <p:nvPr>
            <p:custDataLst>
              <p:tags r:id="rId4"/>
            </p:custDataLst>
          </p:nvPr>
        </p:nvSpPr>
        <p:spPr>
          <a:xfrm>
            <a:off x="4150446" y="5628085"/>
            <a:ext cx="331470" cy="33147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183" y="-1395"/>
                </a:moveTo>
                <a:cubicBezTo>
                  <a:pt x="136234" y="-7758"/>
                  <a:pt x="149851" y="-7758"/>
                  <a:pt x="160902" y="-1395"/>
                </a:cubicBezTo>
                <a:lnTo>
                  <a:pt x="259073" y="55252"/>
                </a:lnTo>
                <a:cubicBezTo>
                  <a:pt x="270123" y="61615"/>
                  <a:pt x="276932" y="73447"/>
                  <a:pt x="276932" y="86171"/>
                </a:cubicBezTo>
                <a:lnTo>
                  <a:pt x="276932" y="199467"/>
                </a:lnTo>
                <a:cubicBezTo>
                  <a:pt x="276932" y="212248"/>
                  <a:pt x="270123" y="224024"/>
                  <a:pt x="259073" y="230386"/>
                </a:cubicBezTo>
                <a:lnTo>
                  <a:pt x="160902" y="287145"/>
                </a:lnTo>
                <a:cubicBezTo>
                  <a:pt x="149851" y="293508"/>
                  <a:pt x="136234" y="293508"/>
                  <a:pt x="125183" y="287145"/>
                </a:cubicBezTo>
                <a:lnTo>
                  <a:pt x="27068" y="230498"/>
                </a:lnTo>
                <a:cubicBezTo>
                  <a:pt x="16018" y="224135"/>
                  <a:pt x="9209" y="212303"/>
                  <a:pt x="9209" y="199579"/>
                </a:cubicBezTo>
                <a:lnTo>
                  <a:pt x="9209" y="86283"/>
                </a:lnTo>
                <a:cubicBezTo>
                  <a:pt x="9209" y="73502"/>
                  <a:pt x="16018" y="61726"/>
                  <a:pt x="27068" y="55364"/>
                </a:cubicBezTo>
                <a:lnTo>
                  <a:pt x="125183" y="-1395"/>
                </a:lnTo>
                <a:close/>
                <a:moveTo>
                  <a:pt x="241157" y="199523"/>
                </a:moveTo>
                <a:lnTo>
                  <a:pt x="241157" y="106821"/>
                </a:lnTo>
                <a:lnTo>
                  <a:pt x="160902" y="153144"/>
                </a:lnTo>
                <a:lnTo>
                  <a:pt x="160902" y="245845"/>
                </a:lnTo>
                <a:lnTo>
                  <a:pt x="241157" y="199523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16" name="Text 13"/>
          <p:cNvSpPr/>
          <p:nvPr>
            <p:custDataLst>
              <p:tags r:id="rId5"/>
            </p:custDataLst>
          </p:nvPr>
        </p:nvSpPr>
        <p:spPr>
          <a:xfrm>
            <a:off x="4106164" y="6092419"/>
            <a:ext cx="2173707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56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Device执行性能优化</a:t>
            </a:r>
            <a:endParaRPr lang="en-US" sz="1566" b="1" dirty="0">
              <a:solidFill>
                <a:srgbClr val="333333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17" name="Text 14"/>
          <p:cNvSpPr/>
          <p:nvPr>
            <p:custDataLst>
              <p:tags r:id="rId6"/>
            </p:custDataLst>
          </p:nvPr>
        </p:nvSpPr>
        <p:spPr>
          <a:xfrm>
            <a:off x="4106250" y="6445711"/>
            <a:ext cx="167944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计算/访存/通信</a:t>
            </a:r>
            <a:endParaRPr lang="en-US" sz="1856" dirty="0"/>
          </a:p>
        </p:txBody>
      </p:sp>
      <p:sp>
        <p:nvSpPr>
          <p:cNvPr id="18" name="Shape 15"/>
          <p:cNvSpPr/>
          <p:nvPr>
            <p:custDataLst>
              <p:tags r:id="rId7"/>
            </p:custDataLst>
          </p:nvPr>
        </p:nvSpPr>
        <p:spPr>
          <a:xfrm>
            <a:off x="6205647" y="5407105"/>
            <a:ext cx="2055114" cy="1524762"/>
          </a:xfrm>
          <a:custGeom>
            <a:avLst/>
            <a:gdLst/>
            <a:ahLst/>
            <a:cxnLst/>
            <a:rect l="l" t="t" r="r" b="b"/>
            <a:pathLst>
              <a:path w="1771650" h="1314450">
                <a:moveTo>
                  <a:pt x="38100" y="0"/>
                </a:moveTo>
                <a:lnTo>
                  <a:pt x="1695451" y="0"/>
                </a:lnTo>
                <a:cubicBezTo>
                  <a:pt x="1737535" y="0"/>
                  <a:pt x="1771650" y="34115"/>
                  <a:pt x="1771650" y="76199"/>
                </a:cubicBezTo>
                <a:lnTo>
                  <a:pt x="1771650" y="1238251"/>
                </a:lnTo>
                <a:cubicBezTo>
                  <a:pt x="1771650" y="1280335"/>
                  <a:pt x="1737535" y="1314450"/>
                  <a:pt x="1695451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19" name="Shape 16"/>
          <p:cNvSpPr/>
          <p:nvPr>
            <p:custDataLst>
              <p:tags r:id="rId8"/>
            </p:custDataLst>
          </p:nvPr>
        </p:nvSpPr>
        <p:spPr>
          <a:xfrm>
            <a:off x="6205647" y="5407105"/>
            <a:ext cx="44196" cy="1524762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0" name="Shape 17"/>
          <p:cNvSpPr/>
          <p:nvPr>
            <p:custDataLst>
              <p:tags r:id="rId9"/>
            </p:custDataLst>
          </p:nvPr>
        </p:nvSpPr>
        <p:spPr>
          <a:xfrm>
            <a:off x="6492921" y="5628085"/>
            <a:ext cx="331470" cy="33147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21" name="Text 18"/>
          <p:cNvSpPr/>
          <p:nvPr>
            <p:custDataLst>
              <p:tags r:id="rId10"/>
            </p:custDataLst>
          </p:nvPr>
        </p:nvSpPr>
        <p:spPr>
          <a:xfrm>
            <a:off x="6448725" y="6092143"/>
            <a:ext cx="1690497" cy="3093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综合优化</a:t>
            </a:r>
            <a:endParaRPr lang="en-US" sz="1856" dirty="0"/>
          </a:p>
        </p:txBody>
      </p:sp>
      <p:sp>
        <p:nvSpPr>
          <p:cNvPr id="22" name="Text 19"/>
          <p:cNvSpPr/>
          <p:nvPr>
            <p:custDataLst>
              <p:tags r:id="rId11"/>
            </p:custDataLst>
          </p:nvPr>
        </p:nvSpPr>
        <p:spPr>
          <a:xfrm>
            <a:off x="6448725" y="6445711"/>
            <a:ext cx="167944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2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从能跑到跑快</a:t>
            </a:r>
            <a:endParaRPr lang="en-US" sz="1856" dirty="0"/>
          </a:p>
        </p:txBody>
      </p:sp>
      <p:sp>
        <p:nvSpPr>
          <p:cNvPr id="23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24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dirty="0"/>
          </a:p>
        </p:txBody>
      </p:sp>
      <p:pic>
        <p:nvPicPr>
          <p:cNvPr id="25" name="CANN 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 68"/>
          <p:cNvPicPr/>
          <p:nvPr/>
        </p:nvPicPr>
        <p:blipFill>
          <a:blip r:embed="rId1"/>
          <a:stretch>
            <a:fillRect/>
          </a:stretch>
        </p:blipFill>
        <p:spPr>
          <a:xfrm>
            <a:off x="1916252" y="1323670"/>
            <a:ext cx="11403305" cy="410212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1424940" y="368300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3" name="Text 1"/>
          <p:cNvSpPr/>
          <p:nvPr/>
        </p:nvSpPr>
        <p:spPr>
          <a:xfrm>
            <a:off x="1383506" y="368300"/>
            <a:ext cx="451168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4.1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1903730" y="368300"/>
            <a:ext cx="7062153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第一步：区分Host下发瓶颈与Device执行瓶颈</a:t>
            </a:r>
            <a:endParaRPr lang="en-US" sz="1856" dirty="0"/>
          </a:p>
        </p:txBody>
      </p:sp>
      <p:sp>
        <p:nvSpPr>
          <p:cNvPr id="5" name="Text 3"/>
          <p:cNvSpPr/>
          <p:nvPr/>
        </p:nvSpPr>
        <p:spPr>
          <a:xfrm>
            <a:off x="1903730" y="847090"/>
            <a:ext cx="13010198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宏观定位是性能分析的起点</a:t>
            </a:r>
            <a:endParaRPr lang="en-US" sz="1856" dirty="0"/>
          </a:p>
        </p:txBody>
      </p:sp>
      <p:sp>
        <p:nvSpPr>
          <p:cNvPr id="21" name="Shape 19"/>
          <p:cNvSpPr/>
          <p:nvPr/>
        </p:nvSpPr>
        <p:spPr>
          <a:xfrm>
            <a:off x="1234161" y="5214391"/>
            <a:ext cx="6224270" cy="1731010"/>
          </a:xfrm>
          <a:custGeom>
            <a:avLst/>
            <a:gdLst/>
            <a:ahLst/>
            <a:cxnLst/>
            <a:rect l="l" t="t" r="r" b="b"/>
            <a:pathLst>
              <a:path w="5365750" h="1492250">
                <a:moveTo>
                  <a:pt x="31750" y="0"/>
                </a:moveTo>
                <a:lnTo>
                  <a:pt x="5302255" y="0"/>
                </a:lnTo>
                <a:cubicBezTo>
                  <a:pt x="5337322" y="0"/>
                  <a:pt x="5365750" y="28428"/>
                  <a:pt x="5365750" y="63495"/>
                </a:cubicBezTo>
                <a:lnTo>
                  <a:pt x="5365750" y="1428755"/>
                </a:lnTo>
                <a:cubicBezTo>
                  <a:pt x="5365750" y="1463822"/>
                  <a:pt x="5337322" y="1492250"/>
                  <a:pt x="5302255" y="1492250"/>
                </a:cubicBezTo>
                <a:lnTo>
                  <a:pt x="31750" y="1492250"/>
                </a:lnTo>
                <a:cubicBezTo>
                  <a:pt x="14215" y="1492250"/>
                  <a:pt x="0" y="1478035"/>
                  <a:pt x="0" y="1460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Shape 20"/>
          <p:cNvSpPr/>
          <p:nvPr/>
        </p:nvSpPr>
        <p:spPr>
          <a:xfrm>
            <a:off x="1879422" y="5763158"/>
            <a:ext cx="36830" cy="1731010"/>
          </a:xfrm>
          <a:custGeom>
            <a:avLst/>
            <a:gdLst/>
            <a:ahLst/>
            <a:cxnLst/>
            <a:rect l="l" t="t" r="r" b="b"/>
            <a:pathLst>
              <a:path w="31750" h="1492250">
                <a:moveTo>
                  <a:pt x="31750" y="0"/>
                </a:moveTo>
                <a:lnTo>
                  <a:pt x="31750" y="0"/>
                </a:lnTo>
                <a:lnTo>
                  <a:pt x="31750" y="1492250"/>
                </a:lnTo>
                <a:lnTo>
                  <a:pt x="31750" y="1492250"/>
                </a:lnTo>
                <a:cubicBezTo>
                  <a:pt x="14227" y="1492250"/>
                  <a:pt x="0" y="1478023"/>
                  <a:pt x="0" y="1460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F7F7F"/>
          </a:solidFill>
        </p:spPr>
      </p:sp>
      <p:sp>
        <p:nvSpPr>
          <p:cNvPr id="23" name="Shape 21"/>
          <p:cNvSpPr/>
          <p:nvPr/>
        </p:nvSpPr>
        <p:spPr>
          <a:xfrm>
            <a:off x="2068176" y="5826875"/>
            <a:ext cx="165735" cy="16573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5540" y="0"/>
                  <a:pt x="79307" y="2260"/>
                  <a:pt x="81260" y="5860"/>
                </a:cubicBezTo>
                <a:lnTo>
                  <a:pt x="141536" y="117481"/>
                </a:lnTo>
                <a:cubicBezTo>
                  <a:pt x="143405" y="120941"/>
                  <a:pt x="143321" y="125127"/>
                  <a:pt x="141312" y="128504"/>
                </a:cubicBezTo>
                <a:cubicBezTo>
                  <a:pt x="139303" y="131880"/>
                  <a:pt x="135648" y="133945"/>
                  <a:pt x="131713" y="133945"/>
                </a:cubicBezTo>
                <a:lnTo>
                  <a:pt x="11162" y="133945"/>
                </a:lnTo>
                <a:cubicBezTo>
                  <a:pt x="7227" y="133945"/>
                  <a:pt x="3600" y="131880"/>
                  <a:pt x="1563" y="128504"/>
                </a:cubicBezTo>
                <a:cubicBezTo>
                  <a:pt x="-474" y="125127"/>
                  <a:pt x="-530" y="120941"/>
                  <a:pt x="1339" y="117481"/>
                </a:cubicBezTo>
                <a:lnTo>
                  <a:pt x="61615" y="5860"/>
                </a:lnTo>
                <a:cubicBezTo>
                  <a:pt x="63568" y="2260"/>
                  <a:pt x="67335" y="0"/>
                  <a:pt x="71438" y="0"/>
                </a:cubicBezTo>
                <a:close/>
                <a:moveTo>
                  <a:pt x="71438" y="46881"/>
                </a:moveTo>
                <a:cubicBezTo>
                  <a:pt x="67726" y="46881"/>
                  <a:pt x="64740" y="49867"/>
                  <a:pt x="64740" y="53578"/>
                </a:cubicBezTo>
                <a:lnTo>
                  <a:pt x="64740" y="84832"/>
                </a:lnTo>
                <a:cubicBezTo>
                  <a:pt x="64740" y="88543"/>
                  <a:pt x="67726" y="91529"/>
                  <a:pt x="71438" y="91529"/>
                </a:cubicBezTo>
                <a:cubicBezTo>
                  <a:pt x="75149" y="91529"/>
                  <a:pt x="78135" y="88543"/>
                  <a:pt x="78135" y="84832"/>
                </a:cubicBezTo>
                <a:lnTo>
                  <a:pt x="78135" y="53578"/>
                </a:lnTo>
                <a:cubicBezTo>
                  <a:pt x="78135" y="49867"/>
                  <a:pt x="75149" y="46881"/>
                  <a:pt x="71438" y="46881"/>
                </a:cubicBezTo>
                <a:close/>
                <a:moveTo>
                  <a:pt x="78888" y="107156"/>
                </a:moveTo>
                <a:cubicBezTo>
                  <a:pt x="79058" y="104391"/>
                  <a:pt x="77678" y="101759"/>
                  <a:pt x="75308" y="100325"/>
                </a:cubicBezTo>
                <a:cubicBezTo>
                  <a:pt x="72937" y="98891"/>
                  <a:pt x="69966" y="98891"/>
                  <a:pt x="67595" y="100325"/>
                </a:cubicBezTo>
                <a:cubicBezTo>
                  <a:pt x="65224" y="101759"/>
                  <a:pt x="63845" y="104391"/>
                  <a:pt x="64015" y="107156"/>
                </a:cubicBezTo>
                <a:cubicBezTo>
                  <a:pt x="63845" y="109922"/>
                  <a:pt x="65224" y="112553"/>
                  <a:pt x="67595" y="113987"/>
                </a:cubicBezTo>
                <a:cubicBezTo>
                  <a:pt x="69966" y="115421"/>
                  <a:pt x="72937" y="115421"/>
                  <a:pt x="75308" y="113987"/>
                </a:cubicBezTo>
                <a:cubicBezTo>
                  <a:pt x="77678" y="112553"/>
                  <a:pt x="79058" y="109922"/>
                  <a:pt x="78888" y="107156"/>
                </a:cubicBezTo>
                <a:close/>
              </a:path>
            </a:pathLst>
          </a:custGeom>
          <a:solidFill>
            <a:srgbClr val="7F7F7F"/>
          </a:solidFill>
        </p:spPr>
      </p:sp>
      <p:sp>
        <p:nvSpPr>
          <p:cNvPr id="24" name="Text 22"/>
          <p:cNvSpPr/>
          <p:nvPr/>
        </p:nvSpPr>
        <p:spPr>
          <a:xfrm>
            <a:off x="2256930" y="5780837"/>
            <a:ext cx="5782310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Host</a:t>
            </a:r>
            <a:r>
              <a:rPr lang="zh-CN" alt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瓶颈</a:t>
            </a:r>
            <a:r>
              <a:rPr 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常见原因</a:t>
            </a:r>
            <a:r>
              <a:rPr lang="zh-CN" altLang="en-US" sz="130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和解决办法</a:t>
            </a:r>
            <a:endParaRPr lang="zh-CN" altLang="en-US" sz="1305" b="1" dirty="0">
              <a:solidFill>
                <a:srgbClr val="333333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045157" y="6088736"/>
            <a:ext cx="598487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</a:t>
            </a:r>
            <a:r>
              <a:rPr lang="zh-CN" alt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错误配置</a:t>
            </a: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：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误开</a:t>
            </a:r>
            <a:r>
              <a:rPr lang="en-US" altLang="zh-CN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ASCEND_LAUNCH_BLOCKING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，关闭即可</a:t>
            </a:r>
            <a:endParaRPr lang="zh-CN" altLang="en-US" sz="1160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045157" y="6383376"/>
            <a:ext cx="598487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 </a:t>
            </a: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CPU抢核：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进程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绑核，尽量保证其他</a:t>
            </a:r>
            <a:r>
              <a:rPr lang="en-US" altLang="zh-CN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host cpu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任务和</a:t>
            </a:r>
            <a:r>
              <a:rPr lang="en-US" altLang="zh-CN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kernel launch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不抢核</a:t>
            </a:r>
            <a:endParaRPr lang="en-US" altLang="zh-CN" sz="1160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045157" y="6678016"/>
            <a:ext cx="598487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</a:t>
            </a: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 Host和Device频繁同步：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消除冗余Host和Device同步动作</a:t>
            </a:r>
            <a:r>
              <a:rPr lang="en-US" altLang="zh-CN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(.cpu/.item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等</a:t>
            </a:r>
            <a:r>
              <a:rPr lang="en-US" altLang="zh-CN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)</a:t>
            </a:r>
            <a:endParaRPr lang="en-US" altLang="zh-CN" sz="1160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  <a:sym typeface="MiSan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045157" y="6972656"/>
            <a:ext cx="598487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</a:t>
            </a: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 细碎算子个数过多：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融合算子，减少kernel launch个数</a:t>
            </a:r>
            <a:endParaRPr lang="zh-CN" altLang="en-US" sz="1160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619312" y="6652235"/>
            <a:ext cx="4952898" cy="7366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00000">
              <a:alpha val="10196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8729802" y="6762725"/>
            <a:ext cx="458975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希望模型呈现Device瓶颈，将Device利用率打满</a:t>
            </a:r>
            <a:endParaRPr lang="en-US" sz="1160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729802" y="7057365"/>
            <a:ext cx="4790846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达到</a:t>
            </a:r>
            <a:r>
              <a:rPr lang="en-US" altLang="zh-CN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Device</a:t>
            </a:r>
            <a:r>
              <a:rPr lang="zh-CN" alt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瓶颈后，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需进一步区分是</a:t>
            </a: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计算瓶颈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、</a:t>
            </a: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访存瓶颈</a:t>
            </a:r>
            <a:r>
              <a:rPr lang="en-US" sz="1160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还是</a:t>
            </a:r>
            <a:r>
              <a:rPr lang="en-US" sz="1160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通信瓶颈</a:t>
            </a:r>
            <a:endParaRPr lang="en-US" sz="1856" dirty="0"/>
          </a:p>
        </p:txBody>
      </p:sp>
      <p:sp>
        <p:nvSpPr>
          <p:cNvPr id="70" name="Text 26"/>
          <p:cNvSpPr/>
          <p:nvPr/>
        </p:nvSpPr>
        <p:spPr>
          <a:xfrm>
            <a:off x="2045157" y="7249617"/>
            <a:ext cx="598487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160" dirty="0">
                <a:solidFill>
                  <a:schemeClr val="accent5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•</a:t>
            </a:r>
            <a:r>
              <a:rPr lang="en-US" sz="1160" b="1" dirty="0">
                <a:solidFill>
                  <a:schemeClr val="accent5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 </a:t>
            </a:r>
            <a:r>
              <a:rPr lang="zh-CN" altLang="en-US" sz="1160" dirty="0">
                <a:solidFill>
                  <a:schemeClr val="accent5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固定</a:t>
            </a:r>
            <a:r>
              <a:rPr lang="en-US" altLang="zh-CN" sz="1160" dirty="0">
                <a:solidFill>
                  <a:schemeClr val="accent5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Shape</a:t>
            </a:r>
            <a:r>
              <a:rPr lang="zh-CN" altLang="en-US" sz="1160" dirty="0">
                <a:solidFill>
                  <a:schemeClr val="accent5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场景未做图融合</a:t>
            </a:r>
            <a:r>
              <a:rPr lang="en-US" sz="1160" dirty="0">
                <a:solidFill>
                  <a:schemeClr val="accent5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：</a:t>
            </a:r>
            <a:r>
              <a:rPr lang="zh-CN" altLang="en-US" sz="1160" dirty="0">
                <a:solidFill>
                  <a:schemeClr val="accent5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使能图模式</a:t>
            </a:r>
            <a:r>
              <a:rPr lang="en-US" altLang="zh-CN" sz="1160" dirty="0">
                <a:solidFill>
                  <a:schemeClr val="accent5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(npugraph-ex/ge graph)</a:t>
            </a:r>
            <a:endParaRPr lang="en-US" altLang="zh-CN" sz="1160" dirty="0">
              <a:solidFill>
                <a:schemeClr val="accent5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71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72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</a:t>
            </a:r>
            <a:endParaRPr lang="en-US" dirty="0"/>
          </a:p>
        </p:txBody>
      </p:sp>
      <p:pic>
        <p:nvPicPr>
          <p:cNvPr id="73" name="CANN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44644" y="388004"/>
            <a:ext cx="388004" cy="388004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lnTo>
                  <a:pt x="167243" y="0"/>
                </a:lnTo>
                <a:cubicBezTo>
                  <a:pt x="259608" y="0"/>
                  <a:pt x="334486" y="74877"/>
                  <a:pt x="334486" y="167243"/>
                </a:cubicBezTo>
                <a:lnTo>
                  <a:pt x="334486" y="167243"/>
                </a:lnTo>
                <a:cubicBezTo>
                  <a:pt x="334486" y="259608"/>
                  <a:pt x="259608" y="334486"/>
                  <a:pt x="167243" y="334486"/>
                </a:cubicBezTo>
                <a:lnTo>
                  <a:pt x="167243" y="334486"/>
                </a:lnTo>
                <a:cubicBezTo>
                  <a:pt x="74877" y="334486"/>
                  <a:pt x="0" y="259608"/>
                  <a:pt x="0" y="167243"/>
                </a:cubicBezTo>
                <a:lnTo>
                  <a:pt x="0" y="167243"/>
                </a:lnTo>
                <a:cubicBezTo>
                  <a:pt x="0" y="74877"/>
                  <a:pt x="74877" y="0"/>
                  <a:pt x="167243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3" name="Text 1"/>
          <p:cNvSpPr/>
          <p:nvPr/>
        </p:nvSpPr>
        <p:spPr>
          <a:xfrm>
            <a:off x="1400993" y="388004"/>
            <a:ext cx="475304" cy="388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5" b="1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4.2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1949048" y="388004"/>
            <a:ext cx="4859741" cy="388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49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Device执行</a:t>
            </a:r>
            <a:r>
              <a:rPr lang="zh-CN" altLang="en-US" sz="2749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性能优化</a:t>
            </a:r>
            <a:endParaRPr lang="zh-CN" altLang="en-US" sz="2749" b="1" dirty="0">
              <a:solidFill>
                <a:srgbClr val="333333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49048" y="892408"/>
            <a:ext cx="12949610" cy="2716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计算瓶颈、访存瓶颈、通信瓶颈：针对性优化策略</a:t>
            </a:r>
            <a:endParaRPr lang="en-US" sz="1856" dirty="0"/>
          </a:p>
        </p:txBody>
      </p:sp>
      <p:sp>
        <p:nvSpPr>
          <p:cNvPr id="6" name="Shape 4"/>
          <p:cNvSpPr/>
          <p:nvPr/>
        </p:nvSpPr>
        <p:spPr>
          <a:xfrm>
            <a:off x="1444828" y="1358290"/>
            <a:ext cx="4326052" cy="3664585"/>
          </a:xfrm>
          <a:custGeom>
            <a:avLst/>
            <a:gdLst/>
            <a:ahLst/>
            <a:cxnLst/>
            <a:rect l="l" t="t" r="r" b="b"/>
            <a:pathLst>
              <a:path w="3729514" h="4582453">
                <a:moveTo>
                  <a:pt x="66907" y="0"/>
                </a:moveTo>
                <a:lnTo>
                  <a:pt x="3662607" y="0"/>
                </a:lnTo>
                <a:cubicBezTo>
                  <a:pt x="3699559" y="0"/>
                  <a:pt x="3729514" y="29956"/>
                  <a:pt x="3729514" y="66907"/>
                </a:cubicBezTo>
                <a:lnTo>
                  <a:pt x="3729514" y="4515545"/>
                </a:lnTo>
                <a:cubicBezTo>
                  <a:pt x="3729514" y="4552497"/>
                  <a:pt x="3699559" y="4582453"/>
                  <a:pt x="3662607" y="4582453"/>
                </a:cubicBezTo>
                <a:lnTo>
                  <a:pt x="66907" y="4582453"/>
                </a:lnTo>
                <a:cubicBezTo>
                  <a:pt x="29956" y="4582453"/>
                  <a:pt x="0" y="4552497"/>
                  <a:pt x="0" y="4515545"/>
                </a:cubicBezTo>
                <a:lnTo>
                  <a:pt x="0" y="66907"/>
                </a:lnTo>
                <a:cubicBezTo>
                  <a:pt x="0" y="29980"/>
                  <a:pt x="29980" y="0"/>
                  <a:pt x="66907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7" name="Shape 5"/>
          <p:cNvSpPr/>
          <p:nvPr/>
        </p:nvSpPr>
        <p:spPr>
          <a:xfrm>
            <a:off x="1638644" y="1571414"/>
            <a:ext cx="465604" cy="465604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66898" y="0"/>
                </a:moveTo>
                <a:lnTo>
                  <a:pt x="334484" y="0"/>
                </a:lnTo>
                <a:cubicBezTo>
                  <a:pt x="371407" y="0"/>
                  <a:pt x="401383" y="29976"/>
                  <a:pt x="401383" y="66898"/>
                </a:cubicBezTo>
                <a:lnTo>
                  <a:pt x="401383" y="334484"/>
                </a:lnTo>
                <a:cubicBezTo>
                  <a:pt x="401383" y="371407"/>
                  <a:pt x="371407" y="401383"/>
                  <a:pt x="334484" y="401383"/>
                </a:cubicBezTo>
                <a:lnTo>
                  <a:pt x="66898" y="401383"/>
                </a:lnTo>
                <a:cubicBezTo>
                  <a:pt x="29976" y="401383"/>
                  <a:pt x="0" y="371407"/>
                  <a:pt x="0" y="334484"/>
                </a:cubicBezTo>
                <a:lnTo>
                  <a:pt x="0" y="66898"/>
                </a:lnTo>
                <a:cubicBezTo>
                  <a:pt x="0" y="29976"/>
                  <a:pt x="29976" y="0"/>
                  <a:pt x="66898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8" name="Shape 6"/>
          <p:cNvSpPr/>
          <p:nvPr/>
        </p:nvSpPr>
        <p:spPr>
          <a:xfrm>
            <a:off x="1798697" y="1707215"/>
            <a:ext cx="145501" cy="194002"/>
          </a:xfrm>
          <a:custGeom>
            <a:avLst/>
            <a:gdLst/>
            <a:ahLst/>
            <a:cxnLst/>
            <a:rect l="l" t="t" r="r" b="b"/>
            <a:pathLst>
              <a:path w="125432" h="167243">
                <a:moveTo>
                  <a:pt x="20905" y="0"/>
                </a:moveTo>
                <a:cubicBezTo>
                  <a:pt x="9375" y="0"/>
                  <a:pt x="0" y="9375"/>
                  <a:pt x="0" y="20905"/>
                </a:cubicBezTo>
                <a:lnTo>
                  <a:pt x="0" y="146337"/>
                </a:lnTo>
                <a:cubicBezTo>
                  <a:pt x="0" y="157868"/>
                  <a:pt x="9375" y="167243"/>
                  <a:pt x="20905" y="167243"/>
                </a:cubicBezTo>
                <a:lnTo>
                  <a:pt x="104527" y="167243"/>
                </a:lnTo>
                <a:cubicBezTo>
                  <a:pt x="116057" y="167243"/>
                  <a:pt x="125432" y="157868"/>
                  <a:pt x="125432" y="146337"/>
                </a:cubicBezTo>
                <a:lnTo>
                  <a:pt x="125432" y="20905"/>
                </a:lnTo>
                <a:cubicBezTo>
                  <a:pt x="125432" y="9375"/>
                  <a:pt x="116057" y="0"/>
                  <a:pt x="104527" y="0"/>
                </a:cubicBezTo>
                <a:lnTo>
                  <a:pt x="20905" y="0"/>
                </a:lnTo>
                <a:close/>
                <a:moveTo>
                  <a:pt x="31358" y="20905"/>
                </a:moveTo>
                <a:lnTo>
                  <a:pt x="94074" y="20905"/>
                </a:lnTo>
                <a:cubicBezTo>
                  <a:pt x="99856" y="20905"/>
                  <a:pt x="104527" y="25576"/>
                  <a:pt x="104527" y="31358"/>
                </a:cubicBezTo>
                <a:lnTo>
                  <a:pt x="104527" y="41811"/>
                </a:lnTo>
                <a:cubicBezTo>
                  <a:pt x="104527" y="47592"/>
                  <a:pt x="99856" y="52263"/>
                  <a:pt x="94074" y="52263"/>
                </a:cubicBezTo>
                <a:lnTo>
                  <a:pt x="31358" y="52263"/>
                </a:lnTo>
                <a:cubicBezTo>
                  <a:pt x="25576" y="52263"/>
                  <a:pt x="20905" y="47592"/>
                  <a:pt x="20905" y="41811"/>
                </a:cubicBezTo>
                <a:lnTo>
                  <a:pt x="20905" y="31358"/>
                </a:lnTo>
                <a:cubicBezTo>
                  <a:pt x="20905" y="25576"/>
                  <a:pt x="25576" y="20905"/>
                  <a:pt x="31358" y="20905"/>
                </a:cubicBezTo>
                <a:close/>
                <a:moveTo>
                  <a:pt x="36584" y="75782"/>
                </a:moveTo>
                <a:cubicBezTo>
                  <a:pt x="36584" y="80109"/>
                  <a:pt x="33072" y="83621"/>
                  <a:pt x="28745" y="83621"/>
                </a:cubicBezTo>
                <a:cubicBezTo>
                  <a:pt x="24418" y="83621"/>
                  <a:pt x="20905" y="80109"/>
                  <a:pt x="20905" y="75782"/>
                </a:cubicBezTo>
                <a:cubicBezTo>
                  <a:pt x="20905" y="71455"/>
                  <a:pt x="24418" y="67942"/>
                  <a:pt x="28745" y="67942"/>
                </a:cubicBezTo>
                <a:cubicBezTo>
                  <a:pt x="33072" y="67942"/>
                  <a:pt x="36584" y="71455"/>
                  <a:pt x="36584" y="75782"/>
                </a:cubicBezTo>
                <a:close/>
                <a:moveTo>
                  <a:pt x="62716" y="83621"/>
                </a:moveTo>
                <a:cubicBezTo>
                  <a:pt x="58389" y="83621"/>
                  <a:pt x="54877" y="80109"/>
                  <a:pt x="54877" y="75782"/>
                </a:cubicBezTo>
                <a:cubicBezTo>
                  <a:pt x="54877" y="71455"/>
                  <a:pt x="58389" y="67942"/>
                  <a:pt x="62716" y="67942"/>
                </a:cubicBezTo>
                <a:cubicBezTo>
                  <a:pt x="67043" y="67942"/>
                  <a:pt x="70556" y="71455"/>
                  <a:pt x="70556" y="75782"/>
                </a:cubicBezTo>
                <a:cubicBezTo>
                  <a:pt x="70556" y="80109"/>
                  <a:pt x="67043" y="83621"/>
                  <a:pt x="62716" y="83621"/>
                </a:cubicBezTo>
                <a:close/>
                <a:moveTo>
                  <a:pt x="104527" y="75782"/>
                </a:moveTo>
                <a:cubicBezTo>
                  <a:pt x="104527" y="80109"/>
                  <a:pt x="101014" y="83621"/>
                  <a:pt x="96687" y="83621"/>
                </a:cubicBezTo>
                <a:cubicBezTo>
                  <a:pt x="92361" y="83621"/>
                  <a:pt x="88848" y="80109"/>
                  <a:pt x="88848" y="75782"/>
                </a:cubicBezTo>
                <a:cubicBezTo>
                  <a:pt x="88848" y="71455"/>
                  <a:pt x="92361" y="67942"/>
                  <a:pt x="96687" y="67942"/>
                </a:cubicBezTo>
                <a:cubicBezTo>
                  <a:pt x="101014" y="67942"/>
                  <a:pt x="104527" y="71455"/>
                  <a:pt x="104527" y="75782"/>
                </a:cubicBezTo>
                <a:close/>
                <a:moveTo>
                  <a:pt x="28745" y="114979"/>
                </a:moveTo>
                <a:cubicBezTo>
                  <a:pt x="24418" y="114979"/>
                  <a:pt x="20905" y="111467"/>
                  <a:pt x="20905" y="107140"/>
                </a:cubicBezTo>
                <a:cubicBezTo>
                  <a:pt x="20905" y="102813"/>
                  <a:pt x="24418" y="99300"/>
                  <a:pt x="28745" y="99300"/>
                </a:cubicBezTo>
                <a:cubicBezTo>
                  <a:pt x="33072" y="99300"/>
                  <a:pt x="36584" y="102813"/>
                  <a:pt x="36584" y="107140"/>
                </a:cubicBezTo>
                <a:cubicBezTo>
                  <a:pt x="36584" y="111467"/>
                  <a:pt x="33072" y="114979"/>
                  <a:pt x="28745" y="114979"/>
                </a:cubicBezTo>
                <a:close/>
                <a:moveTo>
                  <a:pt x="70556" y="107140"/>
                </a:moveTo>
                <a:cubicBezTo>
                  <a:pt x="70556" y="111467"/>
                  <a:pt x="67043" y="114979"/>
                  <a:pt x="62716" y="114979"/>
                </a:cubicBezTo>
                <a:cubicBezTo>
                  <a:pt x="58389" y="114979"/>
                  <a:pt x="54877" y="111467"/>
                  <a:pt x="54877" y="107140"/>
                </a:cubicBezTo>
                <a:cubicBezTo>
                  <a:pt x="54877" y="102813"/>
                  <a:pt x="58389" y="99300"/>
                  <a:pt x="62716" y="99300"/>
                </a:cubicBezTo>
                <a:cubicBezTo>
                  <a:pt x="67043" y="99300"/>
                  <a:pt x="70556" y="102813"/>
                  <a:pt x="70556" y="107140"/>
                </a:cubicBezTo>
                <a:close/>
                <a:moveTo>
                  <a:pt x="96687" y="114979"/>
                </a:moveTo>
                <a:cubicBezTo>
                  <a:pt x="92361" y="114979"/>
                  <a:pt x="88848" y="111467"/>
                  <a:pt x="88848" y="107140"/>
                </a:cubicBezTo>
                <a:cubicBezTo>
                  <a:pt x="88848" y="102813"/>
                  <a:pt x="92361" y="99300"/>
                  <a:pt x="96687" y="99300"/>
                </a:cubicBezTo>
                <a:cubicBezTo>
                  <a:pt x="101014" y="99300"/>
                  <a:pt x="104527" y="102813"/>
                  <a:pt x="104527" y="107140"/>
                </a:cubicBezTo>
                <a:cubicBezTo>
                  <a:pt x="104527" y="111467"/>
                  <a:pt x="101014" y="114979"/>
                  <a:pt x="96687" y="114979"/>
                </a:cubicBezTo>
                <a:close/>
                <a:moveTo>
                  <a:pt x="20905" y="138498"/>
                </a:moveTo>
                <a:cubicBezTo>
                  <a:pt x="20905" y="134154"/>
                  <a:pt x="24400" y="130658"/>
                  <a:pt x="28745" y="130658"/>
                </a:cubicBezTo>
                <a:lnTo>
                  <a:pt x="65329" y="130658"/>
                </a:lnTo>
                <a:cubicBezTo>
                  <a:pt x="69674" y="130658"/>
                  <a:pt x="73169" y="134154"/>
                  <a:pt x="73169" y="138498"/>
                </a:cubicBezTo>
                <a:cubicBezTo>
                  <a:pt x="73169" y="142842"/>
                  <a:pt x="69674" y="146337"/>
                  <a:pt x="65329" y="146337"/>
                </a:cubicBezTo>
                <a:lnTo>
                  <a:pt x="28745" y="146337"/>
                </a:lnTo>
                <a:cubicBezTo>
                  <a:pt x="24400" y="146337"/>
                  <a:pt x="20905" y="142842"/>
                  <a:pt x="20905" y="138498"/>
                </a:cubicBezTo>
                <a:close/>
                <a:moveTo>
                  <a:pt x="96687" y="130658"/>
                </a:moveTo>
                <a:cubicBezTo>
                  <a:pt x="101032" y="130658"/>
                  <a:pt x="104527" y="134154"/>
                  <a:pt x="104527" y="138498"/>
                </a:cubicBezTo>
                <a:cubicBezTo>
                  <a:pt x="104527" y="142842"/>
                  <a:pt x="101032" y="146337"/>
                  <a:pt x="96687" y="146337"/>
                </a:cubicBezTo>
                <a:cubicBezTo>
                  <a:pt x="92343" y="146337"/>
                  <a:pt x="88848" y="142842"/>
                  <a:pt x="88848" y="138498"/>
                </a:cubicBezTo>
                <a:cubicBezTo>
                  <a:pt x="88848" y="134154"/>
                  <a:pt x="92343" y="130658"/>
                  <a:pt x="96687" y="13065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2220650" y="1552013"/>
            <a:ext cx="1328911" cy="2716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计算瓶颈</a:t>
            </a:r>
            <a:endParaRPr lang="en-US" sz="1856" dirty="0"/>
          </a:p>
        </p:txBody>
      </p:sp>
      <p:sp>
        <p:nvSpPr>
          <p:cNvPr id="10" name="Text 8"/>
          <p:cNvSpPr/>
          <p:nvPr/>
        </p:nvSpPr>
        <p:spPr>
          <a:xfrm>
            <a:off x="2220650" y="1823615"/>
            <a:ext cx="1309511" cy="232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Compute Bound</a:t>
            </a:r>
            <a:endParaRPr lang="en-US" sz="1856" dirty="0"/>
          </a:p>
        </p:txBody>
      </p:sp>
      <p:sp>
        <p:nvSpPr>
          <p:cNvPr id="17" name="Shape 15"/>
          <p:cNvSpPr/>
          <p:nvPr/>
        </p:nvSpPr>
        <p:spPr>
          <a:xfrm>
            <a:off x="1657706" y="2682697"/>
            <a:ext cx="3918712" cy="1968195"/>
          </a:xfrm>
          <a:custGeom>
            <a:avLst/>
            <a:gdLst/>
            <a:ahLst/>
            <a:cxnLst/>
            <a:rect l="l" t="t" r="r" b="b"/>
            <a:pathLst>
              <a:path w="3378305" h="1538634">
                <a:moveTo>
                  <a:pt x="33449" y="0"/>
                </a:moveTo>
                <a:lnTo>
                  <a:pt x="3311405" y="0"/>
                </a:lnTo>
                <a:cubicBezTo>
                  <a:pt x="3348352" y="0"/>
                  <a:pt x="3378305" y="29952"/>
                  <a:pt x="3378305" y="66900"/>
                </a:cubicBezTo>
                <a:lnTo>
                  <a:pt x="3378305" y="1471734"/>
                </a:lnTo>
                <a:cubicBezTo>
                  <a:pt x="3378305" y="1508682"/>
                  <a:pt x="3348352" y="1538634"/>
                  <a:pt x="3311405" y="1538634"/>
                </a:cubicBezTo>
                <a:lnTo>
                  <a:pt x="33449" y="1538634"/>
                </a:lnTo>
                <a:cubicBezTo>
                  <a:pt x="14975" y="1538634"/>
                  <a:pt x="0" y="1523658"/>
                  <a:pt x="0" y="1505185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1658045" y="2682800"/>
            <a:ext cx="38801" cy="1784815"/>
          </a:xfrm>
          <a:custGeom>
            <a:avLst/>
            <a:gdLst/>
            <a:ahLst/>
            <a:cxnLst/>
            <a:rect l="l" t="t" r="r" b="b"/>
            <a:pathLst>
              <a:path w="33449" h="1538634">
                <a:moveTo>
                  <a:pt x="33449" y="0"/>
                </a:moveTo>
                <a:lnTo>
                  <a:pt x="33449" y="0"/>
                </a:lnTo>
                <a:lnTo>
                  <a:pt x="33449" y="1538634"/>
                </a:lnTo>
                <a:lnTo>
                  <a:pt x="33449" y="1538634"/>
                </a:lnTo>
                <a:cubicBezTo>
                  <a:pt x="14975" y="1538634"/>
                  <a:pt x="0" y="1523658"/>
                  <a:pt x="0" y="1505185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9" name="Text 17"/>
          <p:cNvSpPr/>
          <p:nvPr/>
        </p:nvSpPr>
        <p:spPr>
          <a:xfrm>
            <a:off x="1832646" y="2838001"/>
            <a:ext cx="3666631" cy="232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优化策略</a:t>
            </a:r>
            <a:endParaRPr lang="en-US" sz="1856" dirty="0"/>
          </a:p>
        </p:txBody>
      </p:sp>
      <p:sp>
        <p:nvSpPr>
          <p:cNvPr id="20" name="Shape 18"/>
          <p:cNvSpPr/>
          <p:nvPr/>
        </p:nvSpPr>
        <p:spPr>
          <a:xfrm>
            <a:off x="1852046" y="3187204"/>
            <a:ext cx="155201" cy="155201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1338" y="72803"/>
                </a:moveTo>
                <a:cubicBezTo>
                  <a:pt x="134604" y="69536"/>
                  <a:pt x="134604" y="64232"/>
                  <a:pt x="131338" y="60965"/>
                </a:cubicBezTo>
                <a:lnTo>
                  <a:pt x="89527" y="19155"/>
                </a:lnTo>
                <a:cubicBezTo>
                  <a:pt x="86261" y="15888"/>
                  <a:pt x="80956" y="15888"/>
                  <a:pt x="77690" y="19155"/>
                </a:cubicBezTo>
                <a:cubicBezTo>
                  <a:pt x="74423" y="22421"/>
                  <a:pt x="74423" y="27726"/>
                  <a:pt x="77690" y="30992"/>
                </a:cubicBezTo>
                <a:lnTo>
                  <a:pt x="105232" y="58535"/>
                </a:lnTo>
                <a:lnTo>
                  <a:pt x="8362" y="58535"/>
                </a:lnTo>
                <a:cubicBezTo>
                  <a:pt x="3737" y="58535"/>
                  <a:pt x="0" y="62272"/>
                  <a:pt x="0" y="66897"/>
                </a:cubicBezTo>
                <a:cubicBezTo>
                  <a:pt x="0" y="71522"/>
                  <a:pt x="3737" y="75259"/>
                  <a:pt x="8362" y="75259"/>
                </a:cubicBezTo>
                <a:lnTo>
                  <a:pt x="105232" y="75259"/>
                </a:lnTo>
                <a:lnTo>
                  <a:pt x="77690" y="102802"/>
                </a:lnTo>
                <a:cubicBezTo>
                  <a:pt x="74423" y="106069"/>
                  <a:pt x="74423" y="111373"/>
                  <a:pt x="77690" y="114640"/>
                </a:cubicBezTo>
                <a:cubicBezTo>
                  <a:pt x="80956" y="117906"/>
                  <a:pt x="86261" y="117906"/>
                  <a:pt x="89527" y="114640"/>
                </a:cubicBezTo>
                <a:lnTo>
                  <a:pt x="131338" y="72829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21" name="Text 19"/>
          <p:cNvSpPr/>
          <p:nvPr/>
        </p:nvSpPr>
        <p:spPr>
          <a:xfrm>
            <a:off x="2104085" y="3148228"/>
            <a:ext cx="3417087" cy="232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量化</a:t>
            </a: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：</a:t>
            </a: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W8A8/W4A4</a:t>
            </a:r>
            <a:r>
              <a:rPr lang="zh-CN" alt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量化，降低计算量</a:t>
            </a:r>
            <a:endParaRPr lang="zh-CN" altLang="en-US" sz="1224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852046" y="3497608"/>
            <a:ext cx="155201" cy="155201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1338" y="72803"/>
                </a:moveTo>
                <a:cubicBezTo>
                  <a:pt x="134604" y="69536"/>
                  <a:pt x="134604" y="64232"/>
                  <a:pt x="131338" y="60965"/>
                </a:cubicBezTo>
                <a:lnTo>
                  <a:pt x="89527" y="19155"/>
                </a:lnTo>
                <a:cubicBezTo>
                  <a:pt x="86261" y="15888"/>
                  <a:pt x="80956" y="15888"/>
                  <a:pt x="77690" y="19155"/>
                </a:cubicBezTo>
                <a:cubicBezTo>
                  <a:pt x="74423" y="22421"/>
                  <a:pt x="74423" y="27726"/>
                  <a:pt x="77690" y="30992"/>
                </a:cubicBezTo>
                <a:lnTo>
                  <a:pt x="105232" y="58535"/>
                </a:lnTo>
                <a:lnTo>
                  <a:pt x="8362" y="58535"/>
                </a:lnTo>
                <a:cubicBezTo>
                  <a:pt x="3737" y="58535"/>
                  <a:pt x="0" y="62272"/>
                  <a:pt x="0" y="66897"/>
                </a:cubicBezTo>
                <a:cubicBezTo>
                  <a:pt x="0" y="71522"/>
                  <a:pt x="3737" y="75259"/>
                  <a:pt x="8362" y="75259"/>
                </a:cubicBezTo>
                <a:lnTo>
                  <a:pt x="105232" y="75259"/>
                </a:lnTo>
                <a:lnTo>
                  <a:pt x="77690" y="102802"/>
                </a:lnTo>
                <a:cubicBezTo>
                  <a:pt x="74423" y="106069"/>
                  <a:pt x="74423" y="111373"/>
                  <a:pt x="77690" y="114640"/>
                </a:cubicBezTo>
                <a:cubicBezTo>
                  <a:pt x="80956" y="117906"/>
                  <a:pt x="86261" y="117906"/>
                  <a:pt x="89527" y="114640"/>
                </a:cubicBezTo>
                <a:lnTo>
                  <a:pt x="131338" y="72829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23" name="Text 21"/>
          <p:cNvSpPr/>
          <p:nvPr/>
        </p:nvSpPr>
        <p:spPr>
          <a:xfrm>
            <a:off x="2104085" y="3459074"/>
            <a:ext cx="3667531" cy="232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模型并行</a:t>
            </a: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：</a:t>
            </a: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TP/CP/EP</a:t>
            </a:r>
            <a:r>
              <a:rPr lang="zh-CN" alt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并行，</a:t>
            </a: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  <a:sym typeface="MiSans"/>
              </a:rPr>
              <a:t>多卡分担计算负载</a:t>
            </a:r>
            <a:endParaRPr lang="en-US" sz="1856" dirty="0"/>
          </a:p>
        </p:txBody>
      </p:sp>
      <p:sp>
        <p:nvSpPr>
          <p:cNvPr id="24" name="Shape 22"/>
          <p:cNvSpPr/>
          <p:nvPr/>
        </p:nvSpPr>
        <p:spPr>
          <a:xfrm>
            <a:off x="1852046" y="3808010"/>
            <a:ext cx="155201" cy="155201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1338" y="72803"/>
                </a:moveTo>
                <a:cubicBezTo>
                  <a:pt x="134604" y="69536"/>
                  <a:pt x="134604" y="64232"/>
                  <a:pt x="131338" y="60965"/>
                </a:cubicBezTo>
                <a:lnTo>
                  <a:pt x="89527" y="19155"/>
                </a:lnTo>
                <a:cubicBezTo>
                  <a:pt x="86261" y="15888"/>
                  <a:pt x="80956" y="15888"/>
                  <a:pt x="77690" y="19155"/>
                </a:cubicBezTo>
                <a:cubicBezTo>
                  <a:pt x="74423" y="22421"/>
                  <a:pt x="74423" y="27726"/>
                  <a:pt x="77690" y="30992"/>
                </a:cubicBezTo>
                <a:lnTo>
                  <a:pt x="105232" y="58535"/>
                </a:lnTo>
                <a:lnTo>
                  <a:pt x="8362" y="58535"/>
                </a:lnTo>
                <a:cubicBezTo>
                  <a:pt x="3737" y="58535"/>
                  <a:pt x="0" y="62272"/>
                  <a:pt x="0" y="66897"/>
                </a:cubicBezTo>
                <a:cubicBezTo>
                  <a:pt x="0" y="71522"/>
                  <a:pt x="3737" y="75259"/>
                  <a:pt x="8362" y="75259"/>
                </a:cubicBezTo>
                <a:lnTo>
                  <a:pt x="105232" y="75259"/>
                </a:lnTo>
                <a:lnTo>
                  <a:pt x="77690" y="102802"/>
                </a:lnTo>
                <a:cubicBezTo>
                  <a:pt x="74423" y="106069"/>
                  <a:pt x="74423" y="111373"/>
                  <a:pt x="77690" y="114640"/>
                </a:cubicBezTo>
                <a:cubicBezTo>
                  <a:pt x="80956" y="117906"/>
                  <a:pt x="86261" y="117906"/>
                  <a:pt x="89527" y="114640"/>
                </a:cubicBezTo>
                <a:lnTo>
                  <a:pt x="131338" y="72829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25" name="Text 23"/>
          <p:cNvSpPr/>
          <p:nvPr/>
        </p:nvSpPr>
        <p:spPr>
          <a:xfrm>
            <a:off x="2104085" y="3769182"/>
            <a:ext cx="3452444" cy="232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多流掩盖</a:t>
            </a: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：</a:t>
            </a: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Cube/Vector</a:t>
            </a:r>
            <a:r>
              <a:rPr lang="zh-CN" alt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多流并行掩盖部分耗时</a:t>
            </a:r>
            <a:endParaRPr lang="zh-CN" altLang="en-US" sz="1224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852046" y="4118413"/>
            <a:ext cx="155201" cy="155201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1338" y="72803"/>
                </a:moveTo>
                <a:cubicBezTo>
                  <a:pt x="134604" y="69536"/>
                  <a:pt x="134604" y="64232"/>
                  <a:pt x="131338" y="60965"/>
                </a:cubicBezTo>
                <a:lnTo>
                  <a:pt x="89527" y="19155"/>
                </a:lnTo>
                <a:cubicBezTo>
                  <a:pt x="86261" y="15888"/>
                  <a:pt x="80956" y="15888"/>
                  <a:pt x="77690" y="19155"/>
                </a:cubicBezTo>
                <a:cubicBezTo>
                  <a:pt x="74423" y="22421"/>
                  <a:pt x="74423" y="27726"/>
                  <a:pt x="77690" y="30992"/>
                </a:cubicBezTo>
                <a:lnTo>
                  <a:pt x="105232" y="58535"/>
                </a:lnTo>
                <a:lnTo>
                  <a:pt x="8362" y="58535"/>
                </a:lnTo>
                <a:cubicBezTo>
                  <a:pt x="3737" y="58535"/>
                  <a:pt x="0" y="62272"/>
                  <a:pt x="0" y="66897"/>
                </a:cubicBezTo>
                <a:cubicBezTo>
                  <a:pt x="0" y="71522"/>
                  <a:pt x="3737" y="75259"/>
                  <a:pt x="8362" y="75259"/>
                </a:cubicBezTo>
                <a:lnTo>
                  <a:pt x="105232" y="75259"/>
                </a:lnTo>
                <a:lnTo>
                  <a:pt x="77690" y="102802"/>
                </a:lnTo>
                <a:cubicBezTo>
                  <a:pt x="74423" y="106069"/>
                  <a:pt x="74423" y="111373"/>
                  <a:pt x="77690" y="114640"/>
                </a:cubicBezTo>
                <a:cubicBezTo>
                  <a:pt x="80956" y="117906"/>
                  <a:pt x="86261" y="117906"/>
                  <a:pt x="89527" y="114640"/>
                </a:cubicBezTo>
                <a:lnTo>
                  <a:pt x="131338" y="72829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27" name="Text 25"/>
          <p:cNvSpPr/>
          <p:nvPr/>
        </p:nvSpPr>
        <p:spPr>
          <a:xfrm>
            <a:off x="2104085" y="4079291"/>
            <a:ext cx="3040685" cy="232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算子优化：</a:t>
            </a: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FlashAttention</a:t>
            </a:r>
            <a:r>
              <a:rPr lang="zh-CN" alt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等</a:t>
            </a:r>
            <a:r>
              <a:rPr lang="en-US" altLang="zh-CN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CV/VV</a:t>
            </a: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融合</a:t>
            </a:r>
            <a:endParaRPr lang="en-US" altLang="zh-CN" sz="1224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638644" y="2194486"/>
            <a:ext cx="3938234" cy="465604"/>
          </a:xfrm>
          <a:custGeom>
            <a:avLst/>
            <a:gdLst/>
            <a:ahLst/>
            <a:cxnLst/>
            <a:rect l="l" t="t" r="r" b="b"/>
            <a:pathLst>
              <a:path w="3395029" h="401383">
                <a:moveTo>
                  <a:pt x="66898" y="0"/>
                </a:moveTo>
                <a:lnTo>
                  <a:pt x="3328130" y="0"/>
                </a:lnTo>
                <a:cubicBezTo>
                  <a:pt x="3365077" y="0"/>
                  <a:pt x="3395029" y="29951"/>
                  <a:pt x="3395029" y="66898"/>
                </a:cubicBezTo>
                <a:lnTo>
                  <a:pt x="3395029" y="334484"/>
                </a:lnTo>
                <a:cubicBezTo>
                  <a:pt x="3395029" y="371431"/>
                  <a:pt x="3365077" y="401383"/>
                  <a:pt x="3328130" y="401383"/>
                </a:cubicBezTo>
                <a:lnTo>
                  <a:pt x="66898" y="401383"/>
                </a:lnTo>
                <a:cubicBezTo>
                  <a:pt x="29976" y="401383"/>
                  <a:pt x="0" y="371407"/>
                  <a:pt x="0" y="334484"/>
                </a:cubicBezTo>
                <a:lnTo>
                  <a:pt x="0" y="66898"/>
                </a:lnTo>
                <a:cubicBezTo>
                  <a:pt x="0" y="29976"/>
                  <a:pt x="29976" y="0"/>
                  <a:pt x="66898" y="0"/>
                </a:cubicBezTo>
                <a:close/>
              </a:path>
            </a:pathLst>
          </a:custGeom>
          <a:solidFill>
            <a:srgbClr val="C00000">
              <a:alpha val="10196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1755046" y="2310887"/>
            <a:ext cx="3783033" cy="232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典型场景：</a:t>
            </a:r>
            <a:r>
              <a:rPr lang="en-US" sz="1224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Prefill阶段、大batch推理</a:t>
            </a:r>
            <a:endParaRPr lang="en-US" sz="1856" dirty="0"/>
          </a:p>
        </p:txBody>
      </p:sp>
      <p:sp>
        <p:nvSpPr>
          <p:cNvPr id="30" name="Shape 28"/>
          <p:cNvSpPr/>
          <p:nvPr/>
        </p:nvSpPr>
        <p:spPr>
          <a:xfrm>
            <a:off x="5963869" y="1358290"/>
            <a:ext cx="4326052" cy="3663848"/>
          </a:xfrm>
          <a:custGeom>
            <a:avLst/>
            <a:gdLst/>
            <a:ahLst/>
            <a:cxnLst/>
            <a:rect l="l" t="t" r="r" b="b"/>
            <a:pathLst>
              <a:path w="3729514" h="4582453">
                <a:moveTo>
                  <a:pt x="66907" y="0"/>
                </a:moveTo>
                <a:lnTo>
                  <a:pt x="3662607" y="0"/>
                </a:lnTo>
                <a:cubicBezTo>
                  <a:pt x="3699559" y="0"/>
                  <a:pt x="3729514" y="29956"/>
                  <a:pt x="3729514" y="66907"/>
                </a:cubicBezTo>
                <a:lnTo>
                  <a:pt x="3729514" y="4515545"/>
                </a:lnTo>
                <a:cubicBezTo>
                  <a:pt x="3729514" y="4552497"/>
                  <a:pt x="3699559" y="4582453"/>
                  <a:pt x="3662607" y="4582453"/>
                </a:cubicBezTo>
                <a:lnTo>
                  <a:pt x="66907" y="4582453"/>
                </a:lnTo>
                <a:cubicBezTo>
                  <a:pt x="29956" y="4582453"/>
                  <a:pt x="0" y="4552497"/>
                  <a:pt x="0" y="4515545"/>
                </a:cubicBezTo>
                <a:lnTo>
                  <a:pt x="0" y="66907"/>
                </a:lnTo>
                <a:cubicBezTo>
                  <a:pt x="0" y="29980"/>
                  <a:pt x="29980" y="0"/>
                  <a:pt x="66907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31" name="Shape 29"/>
          <p:cNvSpPr/>
          <p:nvPr/>
        </p:nvSpPr>
        <p:spPr>
          <a:xfrm>
            <a:off x="6158125" y="1571414"/>
            <a:ext cx="465604" cy="465604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66898" y="0"/>
                </a:moveTo>
                <a:lnTo>
                  <a:pt x="334484" y="0"/>
                </a:lnTo>
                <a:cubicBezTo>
                  <a:pt x="371407" y="0"/>
                  <a:pt x="401383" y="29976"/>
                  <a:pt x="401383" y="66898"/>
                </a:cubicBezTo>
                <a:lnTo>
                  <a:pt x="401383" y="334484"/>
                </a:lnTo>
                <a:cubicBezTo>
                  <a:pt x="401383" y="371407"/>
                  <a:pt x="371407" y="401383"/>
                  <a:pt x="334484" y="401383"/>
                </a:cubicBezTo>
                <a:lnTo>
                  <a:pt x="66898" y="401383"/>
                </a:lnTo>
                <a:cubicBezTo>
                  <a:pt x="29976" y="401383"/>
                  <a:pt x="0" y="371407"/>
                  <a:pt x="0" y="334484"/>
                </a:cubicBezTo>
                <a:lnTo>
                  <a:pt x="0" y="66898"/>
                </a:lnTo>
                <a:cubicBezTo>
                  <a:pt x="0" y="29976"/>
                  <a:pt x="29976" y="0"/>
                  <a:pt x="66898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32" name="Shape 30"/>
          <p:cNvSpPr/>
          <p:nvPr/>
        </p:nvSpPr>
        <p:spPr>
          <a:xfrm>
            <a:off x="6293926" y="1707215"/>
            <a:ext cx="194002" cy="194002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20905" y="20905"/>
                </a:moveTo>
                <a:cubicBezTo>
                  <a:pt x="9375" y="20905"/>
                  <a:pt x="0" y="30280"/>
                  <a:pt x="0" y="41811"/>
                </a:cubicBezTo>
                <a:lnTo>
                  <a:pt x="0" y="44228"/>
                </a:lnTo>
                <a:cubicBezTo>
                  <a:pt x="0" y="46449"/>
                  <a:pt x="1437" y="48344"/>
                  <a:pt x="3299" y="49552"/>
                </a:cubicBezTo>
                <a:cubicBezTo>
                  <a:pt x="7611" y="52361"/>
                  <a:pt x="10453" y="57196"/>
                  <a:pt x="10453" y="62716"/>
                </a:cubicBezTo>
                <a:cubicBezTo>
                  <a:pt x="10453" y="68236"/>
                  <a:pt x="7611" y="73071"/>
                  <a:pt x="3299" y="75880"/>
                </a:cubicBezTo>
                <a:cubicBezTo>
                  <a:pt x="1437" y="77088"/>
                  <a:pt x="0" y="78983"/>
                  <a:pt x="0" y="81204"/>
                </a:cubicBezTo>
                <a:lnTo>
                  <a:pt x="0" y="99300"/>
                </a:lnTo>
                <a:lnTo>
                  <a:pt x="167243" y="99300"/>
                </a:lnTo>
                <a:lnTo>
                  <a:pt x="167243" y="81204"/>
                </a:lnTo>
                <a:cubicBezTo>
                  <a:pt x="167243" y="78983"/>
                  <a:pt x="165806" y="77088"/>
                  <a:pt x="163944" y="75880"/>
                </a:cubicBezTo>
                <a:cubicBezTo>
                  <a:pt x="159632" y="73071"/>
                  <a:pt x="156790" y="68236"/>
                  <a:pt x="156790" y="62716"/>
                </a:cubicBezTo>
                <a:cubicBezTo>
                  <a:pt x="156790" y="57196"/>
                  <a:pt x="159632" y="52361"/>
                  <a:pt x="163944" y="49552"/>
                </a:cubicBezTo>
                <a:cubicBezTo>
                  <a:pt x="165806" y="48344"/>
                  <a:pt x="167243" y="46449"/>
                  <a:pt x="167243" y="44228"/>
                </a:cubicBezTo>
                <a:lnTo>
                  <a:pt x="167243" y="41811"/>
                </a:lnTo>
                <a:cubicBezTo>
                  <a:pt x="167243" y="30280"/>
                  <a:pt x="157868" y="20905"/>
                  <a:pt x="146337" y="20905"/>
                </a:cubicBezTo>
                <a:lnTo>
                  <a:pt x="20905" y="20905"/>
                </a:lnTo>
                <a:close/>
                <a:moveTo>
                  <a:pt x="167243" y="135885"/>
                </a:moveTo>
                <a:lnTo>
                  <a:pt x="167243" y="114979"/>
                </a:lnTo>
                <a:lnTo>
                  <a:pt x="0" y="114979"/>
                </a:lnTo>
                <a:lnTo>
                  <a:pt x="0" y="135885"/>
                </a:lnTo>
                <a:cubicBezTo>
                  <a:pt x="0" y="141666"/>
                  <a:pt x="4671" y="146337"/>
                  <a:pt x="10453" y="146337"/>
                </a:cubicBezTo>
                <a:lnTo>
                  <a:pt x="31358" y="146337"/>
                </a:lnTo>
                <a:lnTo>
                  <a:pt x="31358" y="138498"/>
                </a:lnTo>
                <a:cubicBezTo>
                  <a:pt x="31358" y="134154"/>
                  <a:pt x="34853" y="130658"/>
                  <a:pt x="39198" y="130658"/>
                </a:cubicBezTo>
                <a:cubicBezTo>
                  <a:pt x="43542" y="130658"/>
                  <a:pt x="47037" y="134154"/>
                  <a:pt x="47037" y="138498"/>
                </a:cubicBezTo>
                <a:lnTo>
                  <a:pt x="47037" y="146337"/>
                </a:lnTo>
                <a:lnTo>
                  <a:pt x="75782" y="146337"/>
                </a:lnTo>
                <a:lnTo>
                  <a:pt x="75782" y="138498"/>
                </a:lnTo>
                <a:cubicBezTo>
                  <a:pt x="75782" y="134154"/>
                  <a:pt x="79277" y="130658"/>
                  <a:pt x="83621" y="130658"/>
                </a:cubicBezTo>
                <a:cubicBezTo>
                  <a:pt x="87966" y="130658"/>
                  <a:pt x="91461" y="134154"/>
                  <a:pt x="91461" y="138498"/>
                </a:cubicBezTo>
                <a:lnTo>
                  <a:pt x="91461" y="146337"/>
                </a:lnTo>
                <a:lnTo>
                  <a:pt x="120206" y="146337"/>
                </a:lnTo>
                <a:lnTo>
                  <a:pt x="120206" y="138498"/>
                </a:lnTo>
                <a:cubicBezTo>
                  <a:pt x="120206" y="134154"/>
                  <a:pt x="123701" y="130658"/>
                  <a:pt x="128045" y="130658"/>
                </a:cubicBezTo>
                <a:cubicBezTo>
                  <a:pt x="132390" y="130658"/>
                  <a:pt x="135885" y="134154"/>
                  <a:pt x="135885" y="138498"/>
                </a:cubicBezTo>
                <a:lnTo>
                  <a:pt x="135885" y="146337"/>
                </a:lnTo>
                <a:lnTo>
                  <a:pt x="156790" y="146337"/>
                </a:lnTo>
                <a:cubicBezTo>
                  <a:pt x="162572" y="146337"/>
                  <a:pt x="167243" y="141666"/>
                  <a:pt x="167243" y="135885"/>
                </a:cubicBezTo>
                <a:close/>
                <a:moveTo>
                  <a:pt x="52263" y="52263"/>
                </a:moveTo>
                <a:lnTo>
                  <a:pt x="52263" y="73169"/>
                </a:lnTo>
                <a:cubicBezTo>
                  <a:pt x="52263" y="78950"/>
                  <a:pt x="47592" y="83621"/>
                  <a:pt x="41811" y="83621"/>
                </a:cubicBezTo>
                <a:cubicBezTo>
                  <a:pt x="36029" y="83621"/>
                  <a:pt x="31358" y="78950"/>
                  <a:pt x="31358" y="73169"/>
                </a:cubicBezTo>
                <a:lnTo>
                  <a:pt x="31358" y="52263"/>
                </a:lnTo>
                <a:cubicBezTo>
                  <a:pt x="31358" y="46482"/>
                  <a:pt x="36029" y="41811"/>
                  <a:pt x="41811" y="41811"/>
                </a:cubicBezTo>
                <a:cubicBezTo>
                  <a:pt x="47592" y="41811"/>
                  <a:pt x="52263" y="46482"/>
                  <a:pt x="52263" y="52263"/>
                </a:cubicBezTo>
                <a:close/>
                <a:moveTo>
                  <a:pt x="94074" y="52263"/>
                </a:moveTo>
                <a:lnTo>
                  <a:pt x="94074" y="73169"/>
                </a:lnTo>
                <a:cubicBezTo>
                  <a:pt x="94074" y="78950"/>
                  <a:pt x="89403" y="83621"/>
                  <a:pt x="83621" y="83621"/>
                </a:cubicBezTo>
                <a:cubicBezTo>
                  <a:pt x="77840" y="83621"/>
                  <a:pt x="73169" y="78950"/>
                  <a:pt x="73169" y="73169"/>
                </a:cubicBezTo>
                <a:lnTo>
                  <a:pt x="73169" y="52263"/>
                </a:lnTo>
                <a:cubicBezTo>
                  <a:pt x="73169" y="46482"/>
                  <a:pt x="77840" y="41811"/>
                  <a:pt x="83621" y="41811"/>
                </a:cubicBezTo>
                <a:cubicBezTo>
                  <a:pt x="89403" y="41811"/>
                  <a:pt x="94074" y="46482"/>
                  <a:pt x="94074" y="52263"/>
                </a:cubicBezTo>
                <a:close/>
                <a:moveTo>
                  <a:pt x="135885" y="52263"/>
                </a:moveTo>
                <a:lnTo>
                  <a:pt x="135885" y="73169"/>
                </a:lnTo>
                <a:cubicBezTo>
                  <a:pt x="135885" y="78950"/>
                  <a:pt x="131214" y="83621"/>
                  <a:pt x="125432" y="83621"/>
                </a:cubicBezTo>
                <a:cubicBezTo>
                  <a:pt x="119650" y="83621"/>
                  <a:pt x="114979" y="78950"/>
                  <a:pt x="114979" y="73169"/>
                </a:cubicBezTo>
                <a:lnTo>
                  <a:pt x="114979" y="52263"/>
                </a:lnTo>
                <a:cubicBezTo>
                  <a:pt x="114979" y="46482"/>
                  <a:pt x="119650" y="41811"/>
                  <a:pt x="125432" y="41811"/>
                </a:cubicBezTo>
                <a:cubicBezTo>
                  <a:pt x="131214" y="41811"/>
                  <a:pt x="135885" y="46482"/>
                  <a:pt x="135885" y="5226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6740131" y="1552013"/>
            <a:ext cx="1270710" cy="2716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访存瓶颈</a:t>
            </a:r>
            <a:endParaRPr lang="en-US" sz="1856" dirty="0"/>
          </a:p>
        </p:txBody>
      </p:sp>
      <p:sp>
        <p:nvSpPr>
          <p:cNvPr id="34" name="Text 32"/>
          <p:cNvSpPr/>
          <p:nvPr/>
        </p:nvSpPr>
        <p:spPr>
          <a:xfrm>
            <a:off x="6740131" y="1823615"/>
            <a:ext cx="1251311" cy="232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Memory Bound</a:t>
            </a:r>
            <a:endParaRPr lang="en-US" sz="1856" dirty="0"/>
          </a:p>
        </p:txBody>
      </p:sp>
      <p:sp>
        <p:nvSpPr>
          <p:cNvPr id="41" name="Shape 39"/>
          <p:cNvSpPr/>
          <p:nvPr/>
        </p:nvSpPr>
        <p:spPr>
          <a:xfrm>
            <a:off x="6177483" y="2682697"/>
            <a:ext cx="3918712" cy="1982191"/>
          </a:xfrm>
          <a:custGeom>
            <a:avLst/>
            <a:gdLst/>
            <a:ahLst/>
            <a:cxnLst/>
            <a:rect l="l" t="t" r="r" b="b"/>
            <a:pathLst>
              <a:path w="3378305" h="1538634">
                <a:moveTo>
                  <a:pt x="33449" y="0"/>
                </a:moveTo>
                <a:lnTo>
                  <a:pt x="3311405" y="0"/>
                </a:lnTo>
                <a:cubicBezTo>
                  <a:pt x="3348352" y="0"/>
                  <a:pt x="3378305" y="29952"/>
                  <a:pt x="3378305" y="66900"/>
                </a:cubicBezTo>
                <a:lnTo>
                  <a:pt x="3378305" y="1471734"/>
                </a:lnTo>
                <a:cubicBezTo>
                  <a:pt x="3378305" y="1508682"/>
                  <a:pt x="3348352" y="1538634"/>
                  <a:pt x="3311405" y="1538634"/>
                </a:cubicBezTo>
                <a:lnTo>
                  <a:pt x="33449" y="1538634"/>
                </a:lnTo>
                <a:cubicBezTo>
                  <a:pt x="14975" y="1538634"/>
                  <a:pt x="0" y="1523658"/>
                  <a:pt x="0" y="1505185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2" name="Shape 40"/>
          <p:cNvSpPr/>
          <p:nvPr/>
        </p:nvSpPr>
        <p:spPr>
          <a:xfrm>
            <a:off x="6177526" y="2682800"/>
            <a:ext cx="38801" cy="1784815"/>
          </a:xfrm>
          <a:custGeom>
            <a:avLst/>
            <a:gdLst/>
            <a:ahLst/>
            <a:cxnLst/>
            <a:rect l="l" t="t" r="r" b="b"/>
            <a:pathLst>
              <a:path w="33449" h="1538634">
                <a:moveTo>
                  <a:pt x="33449" y="0"/>
                </a:moveTo>
                <a:lnTo>
                  <a:pt x="33449" y="0"/>
                </a:lnTo>
                <a:lnTo>
                  <a:pt x="33449" y="1538634"/>
                </a:lnTo>
                <a:lnTo>
                  <a:pt x="33449" y="1538634"/>
                </a:lnTo>
                <a:cubicBezTo>
                  <a:pt x="14975" y="1538634"/>
                  <a:pt x="0" y="1523658"/>
                  <a:pt x="0" y="1505185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43" name="Text 41"/>
          <p:cNvSpPr/>
          <p:nvPr/>
        </p:nvSpPr>
        <p:spPr>
          <a:xfrm>
            <a:off x="6352127" y="2838001"/>
            <a:ext cx="3666631" cy="232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优化策略</a:t>
            </a:r>
            <a:endParaRPr lang="en-US" sz="1856" dirty="0"/>
          </a:p>
        </p:txBody>
      </p:sp>
      <p:sp>
        <p:nvSpPr>
          <p:cNvPr id="44" name="Shape 42"/>
          <p:cNvSpPr/>
          <p:nvPr/>
        </p:nvSpPr>
        <p:spPr>
          <a:xfrm>
            <a:off x="6371527" y="3187204"/>
            <a:ext cx="155201" cy="155201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1338" y="72803"/>
                </a:moveTo>
                <a:cubicBezTo>
                  <a:pt x="134604" y="69536"/>
                  <a:pt x="134604" y="64232"/>
                  <a:pt x="131338" y="60965"/>
                </a:cubicBezTo>
                <a:lnTo>
                  <a:pt x="89527" y="19155"/>
                </a:lnTo>
                <a:cubicBezTo>
                  <a:pt x="86261" y="15888"/>
                  <a:pt x="80956" y="15888"/>
                  <a:pt x="77690" y="19155"/>
                </a:cubicBezTo>
                <a:cubicBezTo>
                  <a:pt x="74423" y="22421"/>
                  <a:pt x="74423" y="27726"/>
                  <a:pt x="77690" y="30992"/>
                </a:cubicBezTo>
                <a:lnTo>
                  <a:pt x="105232" y="58535"/>
                </a:lnTo>
                <a:lnTo>
                  <a:pt x="8362" y="58535"/>
                </a:lnTo>
                <a:cubicBezTo>
                  <a:pt x="3737" y="58535"/>
                  <a:pt x="0" y="62272"/>
                  <a:pt x="0" y="66897"/>
                </a:cubicBezTo>
                <a:cubicBezTo>
                  <a:pt x="0" y="71522"/>
                  <a:pt x="3737" y="75259"/>
                  <a:pt x="8362" y="75259"/>
                </a:cubicBezTo>
                <a:lnTo>
                  <a:pt x="105232" y="75259"/>
                </a:lnTo>
                <a:lnTo>
                  <a:pt x="77690" y="102802"/>
                </a:lnTo>
                <a:cubicBezTo>
                  <a:pt x="74423" y="106069"/>
                  <a:pt x="74423" y="111373"/>
                  <a:pt x="77690" y="114640"/>
                </a:cubicBezTo>
                <a:cubicBezTo>
                  <a:pt x="80956" y="117906"/>
                  <a:pt x="86261" y="117906"/>
                  <a:pt x="89527" y="114640"/>
                </a:cubicBezTo>
                <a:lnTo>
                  <a:pt x="131338" y="72829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45" name="Text 43"/>
          <p:cNvSpPr/>
          <p:nvPr/>
        </p:nvSpPr>
        <p:spPr>
          <a:xfrm>
            <a:off x="6623863" y="3148228"/>
            <a:ext cx="2813812" cy="232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KV Cache/</a:t>
            </a:r>
            <a:r>
              <a:rPr lang="zh-CN" alt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权重</a:t>
            </a: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量化：</a:t>
            </a:r>
            <a:r>
              <a:rPr lang="zh-CN" alt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减少访存量</a:t>
            </a:r>
            <a:endParaRPr lang="zh-CN" altLang="en-US" sz="1224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371527" y="3497608"/>
            <a:ext cx="155201" cy="155201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1338" y="72803"/>
                </a:moveTo>
                <a:cubicBezTo>
                  <a:pt x="134604" y="69536"/>
                  <a:pt x="134604" y="64232"/>
                  <a:pt x="131338" y="60965"/>
                </a:cubicBezTo>
                <a:lnTo>
                  <a:pt x="89527" y="19155"/>
                </a:lnTo>
                <a:cubicBezTo>
                  <a:pt x="86261" y="15888"/>
                  <a:pt x="80956" y="15888"/>
                  <a:pt x="77690" y="19155"/>
                </a:cubicBezTo>
                <a:cubicBezTo>
                  <a:pt x="74423" y="22421"/>
                  <a:pt x="74423" y="27726"/>
                  <a:pt x="77690" y="30992"/>
                </a:cubicBezTo>
                <a:lnTo>
                  <a:pt x="105232" y="58535"/>
                </a:lnTo>
                <a:lnTo>
                  <a:pt x="8362" y="58535"/>
                </a:lnTo>
                <a:cubicBezTo>
                  <a:pt x="3737" y="58535"/>
                  <a:pt x="0" y="62272"/>
                  <a:pt x="0" y="66897"/>
                </a:cubicBezTo>
                <a:cubicBezTo>
                  <a:pt x="0" y="71522"/>
                  <a:pt x="3737" y="75259"/>
                  <a:pt x="8362" y="75259"/>
                </a:cubicBezTo>
                <a:lnTo>
                  <a:pt x="105232" y="75259"/>
                </a:lnTo>
                <a:lnTo>
                  <a:pt x="77690" y="102802"/>
                </a:lnTo>
                <a:cubicBezTo>
                  <a:pt x="74423" y="106069"/>
                  <a:pt x="74423" y="111373"/>
                  <a:pt x="77690" y="114640"/>
                </a:cubicBezTo>
                <a:cubicBezTo>
                  <a:pt x="80956" y="117906"/>
                  <a:pt x="86261" y="117906"/>
                  <a:pt x="89527" y="114640"/>
                </a:cubicBezTo>
                <a:lnTo>
                  <a:pt x="131338" y="72829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47" name="Text 45"/>
          <p:cNvSpPr/>
          <p:nvPr/>
        </p:nvSpPr>
        <p:spPr>
          <a:xfrm>
            <a:off x="6623863" y="3459074"/>
            <a:ext cx="3473069" cy="232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模型并行</a:t>
            </a: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：</a:t>
            </a: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TP/EP</a:t>
            </a:r>
            <a:r>
              <a:rPr lang="zh-CN" alt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并行，多卡分担访存量</a:t>
            </a:r>
            <a:endParaRPr lang="zh-CN" altLang="en-US" sz="1224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371527" y="3808010"/>
            <a:ext cx="155201" cy="155201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1338" y="72803"/>
                </a:moveTo>
                <a:cubicBezTo>
                  <a:pt x="134604" y="69536"/>
                  <a:pt x="134604" y="64232"/>
                  <a:pt x="131338" y="60965"/>
                </a:cubicBezTo>
                <a:lnTo>
                  <a:pt x="89527" y="19155"/>
                </a:lnTo>
                <a:cubicBezTo>
                  <a:pt x="86261" y="15888"/>
                  <a:pt x="80956" y="15888"/>
                  <a:pt x="77690" y="19155"/>
                </a:cubicBezTo>
                <a:cubicBezTo>
                  <a:pt x="74423" y="22421"/>
                  <a:pt x="74423" y="27726"/>
                  <a:pt x="77690" y="30992"/>
                </a:cubicBezTo>
                <a:lnTo>
                  <a:pt x="105232" y="58535"/>
                </a:lnTo>
                <a:lnTo>
                  <a:pt x="8362" y="58535"/>
                </a:lnTo>
                <a:cubicBezTo>
                  <a:pt x="3737" y="58535"/>
                  <a:pt x="0" y="62272"/>
                  <a:pt x="0" y="66897"/>
                </a:cubicBezTo>
                <a:cubicBezTo>
                  <a:pt x="0" y="71522"/>
                  <a:pt x="3737" y="75259"/>
                  <a:pt x="8362" y="75259"/>
                </a:cubicBezTo>
                <a:lnTo>
                  <a:pt x="105232" y="75259"/>
                </a:lnTo>
                <a:lnTo>
                  <a:pt x="77690" y="102802"/>
                </a:lnTo>
                <a:cubicBezTo>
                  <a:pt x="74423" y="106069"/>
                  <a:pt x="74423" y="111373"/>
                  <a:pt x="77690" y="114640"/>
                </a:cubicBezTo>
                <a:cubicBezTo>
                  <a:pt x="80956" y="117906"/>
                  <a:pt x="86261" y="117906"/>
                  <a:pt x="89527" y="114640"/>
                </a:cubicBezTo>
                <a:lnTo>
                  <a:pt x="131338" y="72829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49" name="Text 47"/>
          <p:cNvSpPr/>
          <p:nvPr/>
        </p:nvSpPr>
        <p:spPr>
          <a:xfrm>
            <a:off x="6623729" y="3769210"/>
            <a:ext cx="1862416" cy="232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算子融合：</a:t>
            </a: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减少HBM访问</a:t>
            </a:r>
            <a:endParaRPr lang="en-US" sz="1856" dirty="0"/>
          </a:p>
        </p:txBody>
      </p:sp>
      <p:sp>
        <p:nvSpPr>
          <p:cNvPr id="50" name="Shape 48"/>
          <p:cNvSpPr/>
          <p:nvPr/>
        </p:nvSpPr>
        <p:spPr>
          <a:xfrm>
            <a:off x="6371527" y="4118413"/>
            <a:ext cx="155201" cy="155201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1338" y="72803"/>
                </a:moveTo>
                <a:cubicBezTo>
                  <a:pt x="134604" y="69536"/>
                  <a:pt x="134604" y="64232"/>
                  <a:pt x="131338" y="60965"/>
                </a:cubicBezTo>
                <a:lnTo>
                  <a:pt x="89527" y="19155"/>
                </a:lnTo>
                <a:cubicBezTo>
                  <a:pt x="86261" y="15888"/>
                  <a:pt x="80956" y="15888"/>
                  <a:pt x="77690" y="19155"/>
                </a:cubicBezTo>
                <a:cubicBezTo>
                  <a:pt x="74423" y="22421"/>
                  <a:pt x="74423" y="27726"/>
                  <a:pt x="77690" y="30992"/>
                </a:cubicBezTo>
                <a:lnTo>
                  <a:pt x="105232" y="58535"/>
                </a:lnTo>
                <a:lnTo>
                  <a:pt x="8362" y="58535"/>
                </a:lnTo>
                <a:cubicBezTo>
                  <a:pt x="3737" y="58535"/>
                  <a:pt x="0" y="62272"/>
                  <a:pt x="0" y="66897"/>
                </a:cubicBezTo>
                <a:cubicBezTo>
                  <a:pt x="0" y="71522"/>
                  <a:pt x="3737" y="75259"/>
                  <a:pt x="8362" y="75259"/>
                </a:cubicBezTo>
                <a:lnTo>
                  <a:pt x="105232" y="75259"/>
                </a:lnTo>
                <a:lnTo>
                  <a:pt x="77690" y="102802"/>
                </a:lnTo>
                <a:cubicBezTo>
                  <a:pt x="74423" y="106069"/>
                  <a:pt x="74423" y="111373"/>
                  <a:pt x="77690" y="114640"/>
                </a:cubicBezTo>
                <a:cubicBezTo>
                  <a:pt x="80956" y="117906"/>
                  <a:pt x="86261" y="117906"/>
                  <a:pt x="89527" y="114640"/>
                </a:cubicBezTo>
                <a:lnTo>
                  <a:pt x="131338" y="72829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51" name="Text 49"/>
          <p:cNvSpPr/>
          <p:nvPr/>
        </p:nvSpPr>
        <p:spPr>
          <a:xfrm>
            <a:off x="6623863" y="4079291"/>
            <a:ext cx="3882619" cy="232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WeightPrefetch：</a:t>
            </a: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HBM</a:t>
            </a:r>
            <a:r>
              <a:rPr lang="zh-CN" alt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空闲时预取后续</a:t>
            </a:r>
            <a:r>
              <a:rPr lang="en-US" altLang="zh-CN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Weight</a:t>
            </a:r>
            <a:endParaRPr lang="en-US" altLang="zh-CN" sz="1224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041742" y="2194486"/>
            <a:ext cx="3938234" cy="465604"/>
          </a:xfrm>
          <a:custGeom>
            <a:avLst/>
            <a:gdLst/>
            <a:ahLst/>
            <a:cxnLst/>
            <a:rect l="l" t="t" r="r" b="b"/>
            <a:pathLst>
              <a:path w="3395029" h="401383">
                <a:moveTo>
                  <a:pt x="66898" y="0"/>
                </a:moveTo>
                <a:lnTo>
                  <a:pt x="3328130" y="0"/>
                </a:lnTo>
                <a:cubicBezTo>
                  <a:pt x="3365077" y="0"/>
                  <a:pt x="3395029" y="29951"/>
                  <a:pt x="3395029" y="66898"/>
                </a:cubicBezTo>
                <a:lnTo>
                  <a:pt x="3395029" y="334484"/>
                </a:lnTo>
                <a:cubicBezTo>
                  <a:pt x="3395029" y="371431"/>
                  <a:pt x="3365077" y="401383"/>
                  <a:pt x="3328130" y="401383"/>
                </a:cubicBezTo>
                <a:lnTo>
                  <a:pt x="66898" y="401383"/>
                </a:lnTo>
                <a:cubicBezTo>
                  <a:pt x="29976" y="401383"/>
                  <a:pt x="0" y="371407"/>
                  <a:pt x="0" y="334484"/>
                </a:cubicBezTo>
                <a:lnTo>
                  <a:pt x="0" y="66898"/>
                </a:lnTo>
                <a:cubicBezTo>
                  <a:pt x="0" y="29976"/>
                  <a:pt x="29976" y="0"/>
                  <a:pt x="66898" y="0"/>
                </a:cubicBezTo>
                <a:close/>
              </a:path>
            </a:pathLst>
          </a:custGeom>
          <a:solidFill>
            <a:srgbClr val="333333">
              <a:alpha val="10196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6158144" y="2310887"/>
            <a:ext cx="3783033" cy="232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典型场景：</a:t>
            </a:r>
            <a:r>
              <a:rPr lang="en-US" sz="1224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Decode阶段、长序列推理</a:t>
            </a:r>
            <a:endParaRPr lang="en-US" sz="1856" dirty="0"/>
          </a:p>
        </p:txBody>
      </p:sp>
      <p:sp>
        <p:nvSpPr>
          <p:cNvPr id="54" name="Shape 52"/>
          <p:cNvSpPr/>
          <p:nvPr/>
        </p:nvSpPr>
        <p:spPr>
          <a:xfrm>
            <a:off x="10483647" y="1358290"/>
            <a:ext cx="4326052" cy="3664585"/>
          </a:xfrm>
          <a:custGeom>
            <a:avLst/>
            <a:gdLst/>
            <a:ahLst/>
            <a:cxnLst/>
            <a:rect l="l" t="t" r="r" b="b"/>
            <a:pathLst>
              <a:path w="3729514" h="4582453">
                <a:moveTo>
                  <a:pt x="66907" y="0"/>
                </a:moveTo>
                <a:lnTo>
                  <a:pt x="3662607" y="0"/>
                </a:lnTo>
                <a:cubicBezTo>
                  <a:pt x="3699559" y="0"/>
                  <a:pt x="3729514" y="29956"/>
                  <a:pt x="3729514" y="66907"/>
                </a:cubicBezTo>
                <a:lnTo>
                  <a:pt x="3729514" y="4515545"/>
                </a:lnTo>
                <a:cubicBezTo>
                  <a:pt x="3729514" y="4552497"/>
                  <a:pt x="3699559" y="4582453"/>
                  <a:pt x="3662607" y="4582453"/>
                </a:cubicBezTo>
                <a:lnTo>
                  <a:pt x="66907" y="4582453"/>
                </a:lnTo>
                <a:cubicBezTo>
                  <a:pt x="29956" y="4582453"/>
                  <a:pt x="0" y="4552497"/>
                  <a:pt x="0" y="4515545"/>
                </a:cubicBezTo>
                <a:lnTo>
                  <a:pt x="0" y="66907"/>
                </a:lnTo>
                <a:cubicBezTo>
                  <a:pt x="0" y="29980"/>
                  <a:pt x="29980" y="0"/>
                  <a:pt x="66907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55" name="Shape 53"/>
          <p:cNvSpPr/>
          <p:nvPr/>
        </p:nvSpPr>
        <p:spPr>
          <a:xfrm>
            <a:off x="10677606" y="1571414"/>
            <a:ext cx="465604" cy="465604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66898" y="0"/>
                </a:moveTo>
                <a:lnTo>
                  <a:pt x="334484" y="0"/>
                </a:lnTo>
                <a:cubicBezTo>
                  <a:pt x="371407" y="0"/>
                  <a:pt x="401383" y="29976"/>
                  <a:pt x="401383" y="66898"/>
                </a:cubicBezTo>
                <a:lnTo>
                  <a:pt x="401383" y="334484"/>
                </a:lnTo>
                <a:cubicBezTo>
                  <a:pt x="401383" y="371407"/>
                  <a:pt x="371407" y="401383"/>
                  <a:pt x="334484" y="401383"/>
                </a:cubicBezTo>
                <a:lnTo>
                  <a:pt x="66898" y="401383"/>
                </a:lnTo>
                <a:cubicBezTo>
                  <a:pt x="29976" y="401383"/>
                  <a:pt x="0" y="371407"/>
                  <a:pt x="0" y="334484"/>
                </a:cubicBezTo>
                <a:lnTo>
                  <a:pt x="0" y="66898"/>
                </a:lnTo>
                <a:cubicBezTo>
                  <a:pt x="0" y="29976"/>
                  <a:pt x="29976" y="0"/>
                  <a:pt x="66898" y="0"/>
                </a:cubicBezTo>
                <a:close/>
              </a:path>
            </a:pathLst>
          </a:custGeom>
          <a:solidFill>
            <a:srgbClr val="7F7F7F"/>
          </a:solidFill>
        </p:spPr>
      </p:sp>
      <p:sp>
        <p:nvSpPr>
          <p:cNvPr id="56" name="Shape 54"/>
          <p:cNvSpPr/>
          <p:nvPr/>
        </p:nvSpPr>
        <p:spPr>
          <a:xfrm>
            <a:off x="10801281" y="1707215"/>
            <a:ext cx="218252" cy="194002"/>
          </a:xfrm>
          <a:custGeom>
            <a:avLst/>
            <a:gdLst/>
            <a:ahLst/>
            <a:cxnLst/>
            <a:rect l="l" t="t" r="r" b="b"/>
            <a:pathLst>
              <a:path w="188148" h="167243">
                <a:moveTo>
                  <a:pt x="81008" y="28745"/>
                </a:moveTo>
                <a:lnTo>
                  <a:pt x="107140" y="28745"/>
                </a:lnTo>
                <a:lnTo>
                  <a:pt x="107140" y="44424"/>
                </a:lnTo>
                <a:lnTo>
                  <a:pt x="81008" y="44424"/>
                </a:lnTo>
                <a:lnTo>
                  <a:pt x="81008" y="28745"/>
                </a:lnTo>
                <a:close/>
                <a:moveTo>
                  <a:pt x="78395" y="10453"/>
                </a:moveTo>
                <a:cubicBezTo>
                  <a:pt x="69739" y="10453"/>
                  <a:pt x="62716" y="17476"/>
                  <a:pt x="62716" y="26132"/>
                </a:cubicBezTo>
                <a:lnTo>
                  <a:pt x="62716" y="47037"/>
                </a:lnTo>
                <a:cubicBezTo>
                  <a:pt x="62716" y="55693"/>
                  <a:pt x="69739" y="62716"/>
                  <a:pt x="78395" y="62716"/>
                </a:cubicBezTo>
                <a:lnTo>
                  <a:pt x="83621" y="62716"/>
                </a:lnTo>
                <a:lnTo>
                  <a:pt x="83621" y="73169"/>
                </a:lnTo>
                <a:lnTo>
                  <a:pt x="10453" y="73169"/>
                </a:lnTo>
                <a:cubicBezTo>
                  <a:pt x="4671" y="73169"/>
                  <a:pt x="0" y="77840"/>
                  <a:pt x="0" y="83621"/>
                </a:cubicBezTo>
                <a:cubicBezTo>
                  <a:pt x="0" y="89403"/>
                  <a:pt x="4671" y="94074"/>
                  <a:pt x="10453" y="94074"/>
                </a:cubicBezTo>
                <a:lnTo>
                  <a:pt x="41811" y="94074"/>
                </a:lnTo>
                <a:lnTo>
                  <a:pt x="41811" y="104527"/>
                </a:lnTo>
                <a:lnTo>
                  <a:pt x="36584" y="104527"/>
                </a:lnTo>
                <a:cubicBezTo>
                  <a:pt x="27928" y="104527"/>
                  <a:pt x="20905" y="111550"/>
                  <a:pt x="20905" y="120206"/>
                </a:cubicBezTo>
                <a:lnTo>
                  <a:pt x="20905" y="141111"/>
                </a:lnTo>
                <a:cubicBezTo>
                  <a:pt x="20905" y="149767"/>
                  <a:pt x="27928" y="156790"/>
                  <a:pt x="36584" y="156790"/>
                </a:cubicBezTo>
                <a:lnTo>
                  <a:pt x="67942" y="156790"/>
                </a:lnTo>
                <a:cubicBezTo>
                  <a:pt x="76599" y="156790"/>
                  <a:pt x="83621" y="149767"/>
                  <a:pt x="83621" y="141111"/>
                </a:cubicBezTo>
                <a:lnTo>
                  <a:pt x="83621" y="120206"/>
                </a:lnTo>
                <a:cubicBezTo>
                  <a:pt x="83621" y="111550"/>
                  <a:pt x="76599" y="104527"/>
                  <a:pt x="67942" y="104527"/>
                </a:cubicBezTo>
                <a:lnTo>
                  <a:pt x="62716" y="104527"/>
                </a:lnTo>
                <a:lnTo>
                  <a:pt x="62716" y="94074"/>
                </a:lnTo>
                <a:lnTo>
                  <a:pt x="125432" y="94074"/>
                </a:lnTo>
                <a:lnTo>
                  <a:pt x="125432" y="104527"/>
                </a:lnTo>
                <a:lnTo>
                  <a:pt x="120206" y="104527"/>
                </a:lnTo>
                <a:cubicBezTo>
                  <a:pt x="111550" y="104527"/>
                  <a:pt x="104527" y="111550"/>
                  <a:pt x="104527" y="120206"/>
                </a:cubicBezTo>
                <a:lnTo>
                  <a:pt x="104527" y="141111"/>
                </a:lnTo>
                <a:cubicBezTo>
                  <a:pt x="104527" y="149767"/>
                  <a:pt x="111550" y="156790"/>
                  <a:pt x="120206" y="156790"/>
                </a:cubicBezTo>
                <a:lnTo>
                  <a:pt x="151564" y="156790"/>
                </a:lnTo>
                <a:cubicBezTo>
                  <a:pt x="160220" y="156790"/>
                  <a:pt x="167243" y="149767"/>
                  <a:pt x="167243" y="141111"/>
                </a:cubicBezTo>
                <a:lnTo>
                  <a:pt x="167243" y="120206"/>
                </a:lnTo>
                <a:cubicBezTo>
                  <a:pt x="167243" y="111550"/>
                  <a:pt x="160220" y="104527"/>
                  <a:pt x="151564" y="104527"/>
                </a:cubicBezTo>
                <a:lnTo>
                  <a:pt x="146337" y="104527"/>
                </a:lnTo>
                <a:lnTo>
                  <a:pt x="146337" y="94074"/>
                </a:lnTo>
                <a:lnTo>
                  <a:pt x="177695" y="94074"/>
                </a:lnTo>
                <a:cubicBezTo>
                  <a:pt x="183477" y="94074"/>
                  <a:pt x="188148" y="89403"/>
                  <a:pt x="188148" y="83621"/>
                </a:cubicBezTo>
                <a:cubicBezTo>
                  <a:pt x="188148" y="77840"/>
                  <a:pt x="183477" y="73169"/>
                  <a:pt x="177695" y="73169"/>
                </a:cubicBezTo>
                <a:lnTo>
                  <a:pt x="104527" y="73169"/>
                </a:lnTo>
                <a:lnTo>
                  <a:pt x="104527" y="62716"/>
                </a:lnTo>
                <a:lnTo>
                  <a:pt x="109753" y="62716"/>
                </a:lnTo>
                <a:cubicBezTo>
                  <a:pt x="118409" y="62716"/>
                  <a:pt x="125432" y="55693"/>
                  <a:pt x="125432" y="47037"/>
                </a:cubicBezTo>
                <a:lnTo>
                  <a:pt x="125432" y="26132"/>
                </a:lnTo>
                <a:cubicBezTo>
                  <a:pt x="125432" y="17476"/>
                  <a:pt x="118409" y="10453"/>
                  <a:pt x="109753" y="10453"/>
                </a:cubicBezTo>
                <a:lnTo>
                  <a:pt x="78395" y="10453"/>
                </a:lnTo>
                <a:close/>
                <a:moveTo>
                  <a:pt x="146337" y="122819"/>
                </a:moveTo>
                <a:lnTo>
                  <a:pt x="148951" y="122819"/>
                </a:lnTo>
                <a:lnTo>
                  <a:pt x="148951" y="138498"/>
                </a:lnTo>
                <a:lnTo>
                  <a:pt x="122819" y="138498"/>
                </a:lnTo>
                <a:lnTo>
                  <a:pt x="122819" y="122819"/>
                </a:lnTo>
                <a:lnTo>
                  <a:pt x="146337" y="122819"/>
                </a:lnTo>
                <a:close/>
                <a:moveTo>
                  <a:pt x="62716" y="122819"/>
                </a:moveTo>
                <a:lnTo>
                  <a:pt x="65329" y="122819"/>
                </a:lnTo>
                <a:lnTo>
                  <a:pt x="65329" y="138498"/>
                </a:lnTo>
                <a:lnTo>
                  <a:pt x="39198" y="138498"/>
                </a:lnTo>
                <a:lnTo>
                  <a:pt x="39198" y="122819"/>
                </a:lnTo>
                <a:lnTo>
                  <a:pt x="62716" y="12281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11259611" y="1552013"/>
            <a:ext cx="1862416" cy="2716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通信瓶颈</a:t>
            </a:r>
            <a:endParaRPr lang="en-US" sz="1856" dirty="0"/>
          </a:p>
        </p:txBody>
      </p:sp>
      <p:sp>
        <p:nvSpPr>
          <p:cNvPr id="58" name="Text 56"/>
          <p:cNvSpPr/>
          <p:nvPr/>
        </p:nvSpPr>
        <p:spPr>
          <a:xfrm>
            <a:off x="11259611" y="1823615"/>
            <a:ext cx="1843016" cy="232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Communication Bound</a:t>
            </a:r>
            <a:endParaRPr lang="en-US" sz="1856" dirty="0"/>
          </a:p>
        </p:txBody>
      </p:sp>
      <p:sp>
        <p:nvSpPr>
          <p:cNvPr id="65" name="Shape 63"/>
          <p:cNvSpPr/>
          <p:nvPr/>
        </p:nvSpPr>
        <p:spPr>
          <a:xfrm>
            <a:off x="10697261" y="2682697"/>
            <a:ext cx="3918712" cy="1958619"/>
          </a:xfrm>
          <a:custGeom>
            <a:avLst/>
            <a:gdLst/>
            <a:ahLst/>
            <a:cxnLst/>
            <a:rect l="l" t="t" r="r" b="b"/>
            <a:pathLst>
              <a:path w="3378305" h="1538634">
                <a:moveTo>
                  <a:pt x="33449" y="0"/>
                </a:moveTo>
                <a:lnTo>
                  <a:pt x="3311405" y="0"/>
                </a:lnTo>
                <a:cubicBezTo>
                  <a:pt x="3348352" y="0"/>
                  <a:pt x="3378305" y="29952"/>
                  <a:pt x="3378305" y="66900"/>
                </a:cubicBezTo>
                <a:lnTo>
                  <a:pt x="3378305" y="1471734"/>
                </a:lnTo>
                <a:cubicBezTo>
                  <a:pt x="3378305" y="1508682"/>
                  <a:pt x="3348352" y="1538634"/>
                  <a:pt x="3311405" y="1538634"/>
                </a:cubicBezTo>
                <a:lnTo>
                  <a:pt x="33449" y="1538634"/>
                </a:lnTo>
                <a:cubicBezTo>
                  <a:pt x="14975" y="1538634"/>
                  <a:pt x="0" y="1523658"/>
                  <a:pt x="0" y="1505185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6" name="Shape 64"/>
          <p:cNvSpPr/>
          <p:nvPr/>
        </p:nvSpPr>
        <p:spPr>
          <a:xfrm>
            <a:off x="10697006" y="2682800"/>
            <a:ext cx="38801" cy="1784815"/>
          </a:xfrm>
          <a:custGeom>
            <a:avLst/>
            <a:gdLst/>
            <a:ahLst/>
            <a:cxnLst/>
            <a:rect l="l" t="t" r="r" b="b"/>
            <a:pathLst>
              <a:path w="33449" h="1538634">
                <a:moveTo>
                  <a:pt x="33449" y="0"/>
                </a:moveTo>
                <a:lnTo>
                  <a:pt x="33449" y="0"/>
                </a:lnTo>
                <a:lnTo>
                  <a:pt x="33449" y="1538634"/>
                </a:lnTo>
                <a:lnTo>
                  <a:pt x="33449" y="1538634"/>
                </a:lnTo>
                <a:cubicBezTo>
                  <a:pt x="14975" y="1538634"/>
                  <a:pt x="0" y="1523658"/>
                  <a:pt x="0" y="1505185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7F7F7F"/>
          </a:solidFill>
        </p:spPr>
      </p:sp>
      <p:sp>
        <p:nvSpPr>
          <p:cNvPr id="67" name="Text 65"/>
          <p:cNvSpPr/>
          <p:nvPr/>
        </p:nvSpPr>
        <p:spPr>
          <a:xfrm>
            <a:off x="10871608" y="2838001"/>
            <a:ext cx="3666631" cy="232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优化策略</a:t>
            </a:r>
            <a:endParaRPr lang="en-US" sz="1856" dirty="0"/>
          </a:p>
        </p:txBody>
      </p:sp>
      <p:sp>
        <p:nvSpPr>
          <p:cNvPr id="68" name="Shape 66"/>
          <p:cNvSpPr/>
          <p:nvPr/>
        </p:nvSpPr>
        <p:spPr>
          <a:xfrm>
            <a:off x="10891007" y="3187204"/>
            <a:ext cx="155201" cy="155201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1338" y="72803"/>
                </a:moveTo>
                <a:cubicBezTo>
                  <a:pt x="134604" y="69536"/>
                  <a:pt x="134604" y="64232"/>
                  <a:pt x="131338" y="60965"/>
                </a:cubicBezTo>
                <a:lnTo>
                  <a:pt x="89527" y="19155"/>
                </a:lnTo>
                <a:cubicBezTo>
                  <a:pt x="86261" y="15888"/>
                  <a:pt x="80956" y="15888"/>
                  <a:pt x="77690" y="19155"/>
                </a:cubicBezTo>
                <a:cubicBezTo>
                  <a:pt x="74423" y="22421"/>
                  <a:pt x="74423" y="27726"/>
                  <a:pt x="77690" y="30992"/>
                </a:cubicBezTo>
                <a:lnTo>
                  <a:pt x="105232" y="58535"/>
                </a:lnTo>
                <a:lnTo>
                  <a:pt x="8362" y="58535"/>
                </a:lnTo>
                <a:cubicBezTo>
                  <a:pt x="3737" y="58535"/>
                  <a:pt x="0" y="62272"/>
                  <a:pt x="0" y="66897"/>
                </a:cubicBezTo>
                <a:cubicBezTo>
                  <a:pt x="0" y="71522"/>
                  <a:pt x="3737" y="75259"/>
                  <a:pt x="8362" y="75259"/>
                </a:cubicBezTo>
                <a:lnTo>
                  <a:pt x="105232" y="75259"/>
                </a:lnTo>
                <a:lnTo>
                  <a:pt x="77690" y="102802"/>
                </a:lnTo>
                <a:cubicBezTo>
                  <a:pt x="74423" y="106069"/>
                  <a:pt x="74423" y="111373"/>
                  <a:pt x="77690" y="114640"/>
                </a:cubicBezTo>
                <a:cubicBezTo>
                  <a:pt x="80956" y="117906"/>
                  <a:pt x="86261" y="117906"/>
                  <a:pt x="89527" y="114640"/>
                </a:cubicBezTo>
                <a:lnTo>
                  <a:pt x="131338" y="72829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69" name="Text 67"/>
          <p:cNvSpPr/>
          <p:nvPr/>
        </p:nvSpPr>
        <p:spPr>
          <a:xfrm>
            <a:off x="11142904" y="3148228"/>
            <a:ext cx="4003421" cy="232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并行策略优化</a:t>
            </a: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：</a:t>
            </a: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AllToAll vs AllGather/ReduceScatter</a:t>
            </a:r>
            <a:endParaRPr lang="en-US" sz="1224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0891007" y="3497608"/>
            <a:ext cx="155201" cy="155201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1338" y="72803"/>
                </a:moveTo>
                <a:cubicBezTo>
                  <a:pt x="134604" y="69536"/>
                  <a:pt x="134604" y="64232"/>
                  <a:pt x="131338" y="60965"/>
                </a:cubicBezTo>
                <a:lnTo>
                  <a:pt x="89527" y="19155"/>
                </a:lnTo>
                <a:cubicBezTo>
                  <a:pt x="86261" y="15888"/>
                  <a:pt x="80956" y="15888"/>
                  <a:pt x="77690" y="19155"/>
                </a:cubicBezTo>
                <a:cubicBezTo>
                  <a:pt x="74423" y="22421"/>
                  <a:pt x="74423" y="27726"/>
                  <a:pt x="77690" y="30992"/>
                </a:cubicBezTo>
                <a:lnTo>
                  <a:pt x="105232" y="58535"/>
                </a:lnTo>
                <a:lnTo>
                  <a:pt x="8362" y="58535"/>
                </a:lnTo>
                <a:cubicBezTo>
                  <a:pt x="3737" y="58535"/>
                  <a:pt x="0" y="62272"/>
                  <a:pt x="0" y="66897"/>
                </a:cubicBezTo>
                <a:cubicBezTo>
                  <a:pt x="0" y="71522"/>
                  <a:pt x="3737" y="75259"/>
                  <a:pt x="8362" y="75259"/>
                </a:cubicBezTo>
                <a:lnTo>
                  <a:pt x="105232" y="75259"/>
                </a:lnTo>
                <a:lnTo>
                  <a:pt x="77690" y="102802"/>
                </a:lnTo>
                <a:cubicBezTo>
                  <a:pt x="74423" y="106069"/>
                  <a:pt x="74423" y="111373"/>
                  <a:pt x="77690" y="114640"/>
                </a:cubicBezTo>
                <a:cubicBezTo>
                  <a:pt x="80956" y="117906"/>
                  <a:pt x="86261" y="117906"/>
                  <a:pt x="89527" y="114640"/>
                </a:cubicBezTo>
                <a:lnTo>
                  <a:pt x="131338" y="72829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71" name="Text 69"/>
          <p:cNvSpPr/>
          <p:nvPr/>
        </p:nvSpPr>
        <p:spPr>
          <a:xfrm>
            <a:off x="11143210" y="3458807"/>
            <a:ext cx="1940016" cy="232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量化</a:t>
            </a: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：</a:t>
            </a:r>
            <a:r>
              <a:rPr lang="zh-CN" alt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先量化，再通信</a:t>
            </a:r>
            <a:endParaRPr lang="zh-CN" altLang="en-US" sz="1224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10891007" y="3808010"/>
            <a:ext cx="155201" cy="155201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1338" y="72803"/>
                </a:moveTo>
                <a:cubicBezTo>
                  <a:pt x="134604" y="69536"/>
                  <a:pt x="134604" y="64232"/>
                  <a:pt x="131338" y="60965"/>
                </a:cubicBezTo>
                <a:lnTo>
                  <a:pt x="89527" y="19155"/>
                </a:lnTo>
                <a:cubicBezTo>
                  <a:pt x="86261" y="15888"/>
                  <a:pt x="80956" y="15888"/>
                  <a:pt x="77690" y="19155"/>
                </a:cubicBezTo>
                <a:cubicBezTo>
                  <a:pt x="74423" y="22421"/>
                  <a:pt x="74423" y="27726"/>
                  <a:pt x="77690" y="30992"/>
                </a:cubicBezTo>
                <a:lnTo>
                  <a:pt x="105232" y="58535"/>
                </a:lnTo>
                <a:lnTo>
                  <a:pt x="8362" y="58535"/>
                </a:lnTo>
                <a:cubicBezTo>
                  <a:pt x="3737" y="58535"/>
                  <a:pt x="0" y="62272"/>
                  <a:pt x="0" y="66897"/>
                </a:cubicBezTo>
                <a:cubicBezTo>
                  <a:pt x="0" y="71522"/>
                  <a:pt x="3737" y="75259"/>
                  <a:pt x="8362" y="75259"/>
                </a:cubicBezTo>
                <a:lnTo>
                  <a:pt x="105232" y="75259"/>
                </a:lnTo>
                <a:lnTo>
                  <a:pt x="77690" y="102802"/>
                </a:lnTo>
                <a:cubicBezTo>
                  <a:pt x="74423" y="106069"/>
                  <a:pt x="74423" y="111373"/>
                  <a:pt x="77690" y="114640"/>
                </a:cubicBezTo>
                <a:cubicBezTo>
                  <a:pt x="80956" y="117906"/>
                  <a:pt x="86261" y="117906"/>
                  <a:pt x="89527" y="114640"/>
                </a:cubicBezTo>
                <a:lnTo>
                  <a:pt x="131338" y="72829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73" name="Text 71"/>
          <p:cNvSpPr/>
          <p:nvPr/>
        </p:nvSpPr>
        <p:spPr>
          <a:xfrm>
            <a:off x="11142904" y="3769182"/>
            <a:ext cx="3573247" cy="232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通算融合</a:t>
            </a: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：</a:t>
            </a: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MM+AllReduce/Dispatch/Combine</a:t>
            </a:r>
            <a:endParaRPr lang="en-US" sz="1224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10891007" y="4118413"/>
            <a:ext cx="155201" cy="155201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1338" y="72803"/>
                </a:moveTo>
                <a:cubicBezTo>
                  <a:pt x="134604" y="69536"/>
                  <a:pt x="134604" y="64232"/>
                  <a:pt x="131338" y="60965"/>
                </a:cubicBezTo>
                <a:lnTo>
                  <a:pt x="89527" y="19155"/>
                </a:lnTo>
                <a:cubicBezTo>
                  <a:pt x="86261" y="15888"/>
                  <a:pt x="80956" y="15888"/>
                  <a:pt x="77690" y="19155"/>
                </a:cubicBezTo>
                <a:cubicBezTo>
                  <a:pt x="74423" y="22421"/>
                  <a:pt x="74423" y="27726"/>
                  <a:pt x="77690" y="30992"/>
                </a:cubicBezTo>
                <a:lnTo>
                  <a:pt x="105232" y="58535"/>
                </a:lnTo>
                <a:lnTo>
                  <a:pt x="8362" y="58535"/>
                </a:lnTo>
                <a:cubicBezTo>
                  <a:pt x="3737" y="58535"/>
                  <a:pt x="0" y="62272"/>
                  <a:pt x="0" y="66897"/>
                </a:cubicBezTo>
                <a:cubicBezTo>
                  <a:pt x="0" y="71522"/>
                  <a:pt x="3737" y="75259"/>
                  <a:pt x="8362" y="75259"/>
                </a:cubicBezTo>
                <a:lnTo>
                  <a:pt x="105232" y="75259"/>
                </a:lnTo>
                <a:lnTo>
                  <a:pt x="77690" y="102802"/>
                </a:lnTo>
                <a:cubicBezTo>
                  <a:pt x="74423" y="106069"/>
                  <a:pt x="74423" y="111373"/>
                  <a:pt x="77690" y="114640"/>
                </a:cubicBezTo>
                <a:cubicBezTo>
                  <a:pt x="80956" y="117906"/>
                  <a:pt x="86261" y="117906"/>
                  <a:pt x="89527" y="114640"/>
                </a:cubicBezTo>
                <a:lnTo>
                  <a:pt x="131338" y="72829"/>
                </a:lnTo>
                <a:close/>
              </a:path>
            </a:pathLst>
          </a:custGeom>
          <a:solidFill>
            <a:srgbClr val="7F7F7F"/>
          </a:solidFill>
        </p:spPr>
      </p:sp>
      <p:sp>
        <p:nvSpPr>
          <p:cNvPr id="75" name="Text 73"/>
          <p:cNvSpPr/>
          <p:nvPr/>
        </p:nvSpPr>
        <p:spPr>
          <a:xfrm>
            <a:off x="11142904" y="4079291"/>
            <a:ext cx="3674161" cy="3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多流并行</a:t>
            </a: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：</a:t>
            </a:r>
            <a:r>
              <a:rPr 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通信和Cube/Vector计算互相掩盖</a:t>
            </a:r>
            <a:endParaRPr lang="en-US" sz="1224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10677606" y="2194486"/>
            <a:ext cx="3938234" cy="465604"/>
          </a:xfrm>
          <a:custGeom>
            <a:avLst/>
            <a:gdLst/>
            <a:ahLst/>
            <a:cxnLst/>
            <a:rect l="l" t="t" r="r" b="b"/>
            <a:pathLst>
              <a:path w="3395029" h="401383">
                <a:moveTo>
                  <a:pt x="66898" y="0"/>
                </a:moveTo>
                <a:lnTo>
                  <a:pt x="3328130" y="0"/>
                </a:lnTo>
                <a:cubicBezTo>
                  <a:pt x="3365077" y="0"/>
                  <a:pt x="3395029" y="29951"/>
                  <a:pt x="3395029" y="66898"/>
                </a:cubicBezTo>
                <a:lnTo>
                  <a:pt x="3395029" y="334484"/>
                </a:lnTo>
                <a:cubicBezTo>
                  <a:pt x="3395029" y="371431"/>
                  <a:pt x="3365077" y="401383"/>
                  <a:pt x="3328130" y="401383"/>
                </a:cubicBezTo>
                <a:lnTo>
                  <a:pt x="66898" y="401383"/>
                </a:lnTo>
                <a:cubicBezTo>
                  <a:pt x="29976" y="401383"/>
                  <a:pt x="0" y="371407"/>
                  <a:pt x="0" y="334484"/>
                </a:cubicBezTo>
                <a:lnTo>
                  <a:pt x="0" y="66898"/>
                </a:lnTo>
                <a:cubicBezTo>
                  <a:pt x="0" y="29976"/>
                  <a:pt x="29976" y="0"/>
                  <a:pt x="66898" y="0"/>
                </a:cubicBezTo>
                <a:close/>
              </a:path>
            </a:pathLst>
          </a:custGeom>
          <a:solidFill>
            <a:srgbClr val="7F7F7F">
              <a:alpha val="10196"/>
            </a:srgbClr>
          </a:solidFill>
        </p:spPr>
      </p:sp>
      <p:sp>
        <p:nvSpPr>
          <p:cNvPr id="77" name="Text 75"/>
          <p:cNvSpPr/>
          <p:nvPr/>
        </p:nvSpPr>
        <p:spPr>
          <a:xfrm>
            <a:off x="10794007" y="2310887"/>
            <a:ext cx="3783033" cy="232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典型场景：</a:t>
            </a:r>
            <a:r>
              <a:rPr lang="en-US" sz="1224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MOE模型、分布式推理</a:t>
            </a:r>
            <a:endParaRPr lang="en-US" sz="1856" dirty="0"/>
          </a:p>
        </p:txBody>
      </p:sp>
      <p:sp>
        <p:nvSpPr>
          <p:cNvPr id="84" name="Shape 48"/>
          <p:cNvSpPr/>
          <p:nvPr/>
        </p:nvSpPr>
        <p:spPr>
          <a:xfrm>
            <a:off x="6378156" y="4424839"/>
            <a:ext cx="155201" cy="155201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1338" y="72803"/>
                </a:moveTo>
                <a:cubicBezTo>
                  <a:pt x="134604" y="69536"/>
                  <a:pt x="134604" y="64232"/>
                  <a:pt x="131338" y="60965"/>
                </a:cubicBezTo>
                <a:lnTo>
                  <a:pt x="89527" y="19155"/>
                </a:lnTo>
                <a:cubicBezTo>
                  <a:pt x="86261" y="15888"/>
                  <a:pt x="80956" y="15888"/>
                  <a:pt x="77690" y="19155"/>
                </a:cubicBezTo>
                <a:cubicBezTo>
                  <a:pt x="74423" y="22421"/>
                  <a:pt x="74423" y="27726"/>
                  <a:pt x="77690" y="30992"/>
                </a:cubicBezTo>
                <a:lnTo>
                  <a:pt x="105232" y="58535"/>
                </a:lnTo>
                <a:lnTo>
                  <a:pt x="8362" y="58535"/>
                </a:lnTo>
                <a:cubicBezTo>
                  <a:pt x="3737" y="58535"/>
                  <a:pt x="0" y="62272"/>
                  <a:pt x="0" y="66897"/>
                </a:cubicBezTo>
                <a:cubicBezTo>
                  <a:pt x="0" y="71522"/>
                  <a:pt x="3737" y="75259"/>
                  <a:pt x="8362" y="75259"/>
                </a:cubicBezTo>
                <a:lnTo>
                  <a:pt x="105232" y="75259"/>
                </a:lnTo>
                <a:lnTo>
                  <a:pt x="77690" y="102802"/>
                </a:lnTo>
                <a:cubicBezTo>
                  <a:pt x="74423" y="106069"/>
                  <a:pt x="74423" y="111373"/>
                  <a:pt x="77690" y="114640"/>
                </a:cubicBezTo>
                <a:cubicBezTo>
                  <a:pt x="80956" y="117906"/>
                  <a:pt x="86261" y="117906"/>
                  <a:pt x="89527" y="114640"/>
                </a:cubicBezTo>
                <a:lnTo>
                  <a:pt x="131338" y="72829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85" name="Text 49"/>
          <p:cNvSpPr/>
          <p:nvPr/>
        </p:nvSpPr>
        <p:spPr>
          <a:xfrm>
            <a:off x="6630492" y="4385716"/>
            <a:ext cx="3882619" cy="232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MTP</a:t>
            </a:r>
            <a:r>
              <a:rPr lang="zh-CN" alt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等投机算法</a:t>
            </a:r>
            <a:r>
              <a:rPr lang="en-US" sz="122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：</a:t>
            </a:r>
            <a:r>
              <a:rPr lang="zh-CN" altLang="en-US" sz="1224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计算换访存效率</a:t>
            </a:r>
            <a:endParaRPr lang="zh-CN" altLang="en-US" sz="1224" dirty="0">
              <a:solidFill>
                <a:srgbClr val="7F7F7F"/>
              </a:solidFill>
              <a:latin typeface="MiSans" panose="020B0503020204020204" charset="-122"/>
              <a:ea typeface="MiSans" panose="020B0503020204020204" charset="-122"/>
              <a:cs typeface="MiSans" panose="020B0503020204020204" charset="-122"/>
            </a:endParaRPr>
          </a:p>
        </p:txBody>
      </p:sp>
      <p:grpSp>
        <p:nvGrpSpPr>
          <p:cNvPr id="112" name="组合 111"/>
          <p:cNvGrpSpPr/>
          <p:nvPr/>
        </p:nvGrpSpPr>
        <p:grpSpPr>
          <a:xfrm>
            <a:off x="1403579" y="5199659"/>
            <a:ext cx="10916412" cy="2535377"/>
            <a:chOff x="471" y="7059"/>
            <a:chExt cx="14820" cy="3442"/>
          </a:xfrm>
        </p:grpSpPr>
        <p:sp>
          <p:nvSpPr>
            <p:cNvPr id="86" name="Shape 4"/>
            <p:cNvSpPr/>
            <p:nvPr/>
          </p:nvSpPr>
          <p:spPr>
            <a:xfrm>
              <a:off x="471" y="7059"/>
              <a:ext cx="14821" cy="3443"/>
            </a:xfrm>
            <a:custGeom>
              <a:avLst/>
              <a:gdLst/>
              <a:ahLst/>
              <a:cxnLst/>
              <a:rect l="l" t="t" r="r" b="b"/>
              <a:pathLst>
                <a:path w="6808409" h="3378609">
                  <a:moveTo>
                    <a:pt x="68248" y="0"/>
                  </a:moveTo>
                  <a:lnTo>
                    <a:pt x="6740161" y="0"/>
                  </a:lnTo>
                  <a:cubicBezTo>
                    <a:pt x="6777853" y="0"/>
                    <a:pt x="6808409" y="30556"/>
                    <a:pt x="6808409" y="68248"/>
                  </a:cubicBezTo>
                  <a:lnTo>
                    <a:pt x="6808409" y="3310361"/>
                  </a:lnTo>
                  <a:cubicBezTo>
                    <a:pt x="6808409" y="3348053"/>
                    <a:pt x="6777853" y="3378609"/>
                    <a:pt x="6740161" y="3378609"/>
                  </a:cubicBezTo>
                  <a:lnTo>
                    <a:pt x="68248" y="3378609"/>
                  </a:lnTo>
                  <a:cubicBezTo>
                    <a:pt x="30556" y="3378609"/>
                    <a:pt x="0" y="3348053"/>
                    <a:pt x="0" y="3310361"/>
                  </a:cubicBezTo>
                  <a:lnTo>
                    <a:pt x="0" y="68248"/>
                  </a:lnTo>
                  <a:cubicBezTo>
                    <a:pt x="0" y="30581"/>
                    <a:pt x="30581" y="0"/>
                    <a:pt x="68248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</p:spPr>
        </p:sp>
        <p:sp>
          <p:nvSpPr>
            <p:cNvPr id="87" name="Shape 5"/>
            <p:cNvSpPr/>
            <p:nvPr/>
          </p:nvSpPr>
          <p:spPr>
            <a:xfrm>
              <a:off x="830" y="7381"/>
              <a:ext cx="269" cy="269"/>
            </a:xfrm>
            <a:custGeom>
              <a:avLst/>
              <a:gdLst/>
              <a:ahLst/>
              <a:cxnLst/>
              <a:rect l="l" t="t" r="r" b="b"/>
              <a:pathLst>
                <a:path w="170637" h="170637">
                  <a:moveTo>
                    <a:pt x="85318" y="170637"/>
                  </a:moveTo>
                  <a:cubicBezTo>
                    <a:pt x="132407" y="170637"/>
                    <a:pt x="170637" y="132407"/>
                    <a:pt x="170637" y="85318"/>
                  </a:cubicBezTo>
                  <a:cubicBezTo>
                    <a:pt x="170637" y="38230"/>
                    <a:pt x="132407" y="0"/>
                    <a:pt x="85318" y="0"/>
                  </a:cubicBezTo>
                  <a:cubicBezTo>
                    <a:pt x="38230" y="0"/>
                    <a:pt x="0" y="38230"/>
                    <a:pt x="0" y="85318"/>
                  </a:cubicBezTo>
                  <a:cubicBezTo>
                    <a:pt x="0" y="132407"/>
                    <a:pt x="38230" y="170637"/>
                    <a:pt x="85318" y="170637"/>
                  </a:cubicBezTo>
                  <a:close/>
                  <a:moveTo>
                    <a:pt x="85318" y="45325"/>
                  </a:moveTo>
                  <a:cubicBezTo>
                    <a:pt x="89751" y="45325"/>
                    <a:pt x="93317" y="48891"/>
                    <a:pt x="93317" y="53324"/>
                  </a:cubicBezTo>
                  <a:lnTo>
                    <a:pt x="93317" y="90651"/>
                  </a:lnTo>
                  <a:cubicBezTo>
                    <a:pt x="93317" y="95083"/>
                    <a:pt x="89751" y="98649"/>
                    <a:pt x="85318" y="98649"/>
                  </a:cubicBezTo>
                  <a:cubicBezTo>
                    <a:pt x="80886" y="98649"/>
                    <a:pt x="77320" y="95083"/>
                    <a:pt x="77320" y="90651"/>
                  </a:cubicBezTo>
                  <a:lnTo>
                    <a:pt x="77320" y="53324"/>
                  </a:lnTo>
                  <a:cubicBezTo>
                    <a:pt x="77320" y="48891"/>
                    <a:pt x="80886" y="45325"/>
                    <a:pt x="85318" y="45325"/>
                  </a:cubicBezTo>
                  <a:close/>
                  <a:moveTo>
                    <a:pt x="76420" y="117313"/>
                  </a:moveTo>
                  <a:cubicBezTo>
                    <a:pt x="76218" y="114010"/>
                    <a:pt x="77865" y="110867"/>
                    <a:pt x="80696" y="109155"/>
                  </a:cubicBezTo>
                  <a:cubicBezTo>
                    <a:pt x="83528" y="107442"/>
                    <a:pt x="87076" y="107442"/>
                    <a:pt x="89907" y="109155"/>
                  </a:cubicBezTo>
                  <a:cubicBezTo>
                    <a:pt x="92739" y="110867"/>
                    <a:pt x="94386" y="114010"/>
                    <a:pt x="94184" y="117313"/>
                  </a:cubicBezTo>
                  <a:cubicBezTo>
                    <a:pt x="94386" y="120616"/>
                    <a:pt x="92739" y="123758"/>
                    <a:pt x="89907" y="125471"/>
                  </a:cubicBezTo>
                  <a:cubicBezTo>
                    <a:pt x="87076" y="127184"/>
                    <a:pt x="83528" y="127184"/>
                    <a:pt x="80696" y="125471"/>
                  </a:cubicBezTo>
                  <a:cubicBezTo>
                    <a:pt x="77865" y="123758"/>
                    <a:pt x="76218" y="120616"/>
                    <a:pt x="76420" y="117313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  <p:sp>
          <p:nvSpPr>
            <p:cNvPr id="88" name="Text 6"/>
            <p:cNvSpPr/>
            <p:nvPr/>
          </p:nvSpPr>
          <p:spPr>
            <a:xfrm>
              <a:off x="1132" y="7328"/>
              <a:ext cx="9983" cy="3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45" b="1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其他潜在瓶颈</a:t>
              </a:r>
              <a:endParaRPr lang="en-US" sz="1600" dirty="0"/>
            </a:p>
          </p:txBody>
        </p:sp>
        <p:sp>
          <p:nvSpPr>
            <p:cNvPr id="89" name="Shape 7"/>
            <p:cNvSpPr/>
            <p:nvPr/>
          </p:nvSpPr>
          <p:spPr>
            <a:xfrm>
              <a:off x="823" y="7919"/>
              <a:ext cx="4958" cy="1989"/>
            </a:xfrm>
            <a:custGeom>
              <a:avLst/>
              <a:gdLst/>
              <a:ahLst/>
              <a:cxnLst/>
              <a:rect l="l" t="t" r="r" b="b"/>
              <a:pathLst>
                <a:path w="3148249" h="1262712">
                  <a:moveTo>
                    <a:pt x="34127" y="0"/>
                  </a:moveTo>
                  <a:lnTo>
                    <a:pt x="3080000" y="0"/>
                  </a:lnTo>
                  <a:cubicBezTo>
                    <a:pt x="3117668" y="0"/>
                    <a:pt x="3148249" y="30582"/>
                    <a:pt x="3148249" y="68250"/>
                  </a:cubicBezTo>
                  <a:lnTo>
                    <a:pt x="3148249" y="1194463"/>
                  </a:lnTo>
                  <a:cubicBezTo>
                    <a:pt x="3148249" y="1232156"/>
                    <a:pt x="3117693" y="1262712"/>
                    <a:pt x="3080000" y="1262712"/>
                  </a:cubicBezTo>
                  <a:lnTo>
                    <a:pt x="34127" y="1262712"/>
                  </a:lnTo>
                  <a:cubicBezTo>
                    <a:pt x="15292" y="1262712"/>
                    <a:pt x="0" y="1247420"/>
                    <a:pt x="0" y="1228585"/>
                  </a:cubicBezTo>
                  <a:lnTo>
                    <a:pt x="0" y="34127"/>
                  </a:lnTo>
                  <a:cubicBezTo>
                    <a:pt x="0" y="15292"/>
                    <a:pt x="15292" y="0"/>
                    <a:pt x="341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0" name="Shape 8"/>
            <p:cNvSpPr/>
            <p:nvPr/>
          </p:nvSpPr>
          <p:spPr>
            <a:xfrm>
              <a:off x="823" y="7919"/>
              <a:ext cx="54" cy="1989"/>
            </a:xfrm>
            <a:custGeom>
              <a:avLst/>
              <a:gdLst/>
              <a:ahLst/>
              <a:cxnLst/>
              <a:rect l="l" t="t" r="r" b="b"/>
              <a:pathLst>
                <a:path w="34127" h="1262712">
                  <a:moveTo>
                    <a:pt x="34127" y="0"/>
                  </a:moveTo>
                  <a:lnTo>
                    <a:pt x="34127" y="0"/>
                  </a:lnTo>
                  <a:lnTo>
                    <a:pt x="34127" y="1262712"/>
                  </a:lnTo>
                  <a:lnTo>
                    <a:pt x="34127" y="1262712"/>
                  </a:lnTo>
                  <a:cubicBezTo>
                    <a:pt x="15279" y="1262712"/>
                    <a:pt x="0" y="1247433"/>
                    <a:pt x="0" y="1228585"/>
                  </a:cubicBezTo>
                  <a:lnTo>
                    <a:pt x="0" y="34127"/>
                  </a:lnTo>
                  <a:cubicBezTo>
                    <a:pt x="0" y="15279"/>
                    <a:pt x="15279" y="0"/>
                    <a:pt x="34127" y="0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  <p:sp>
          <p:nvSpPr>
            <p:cNvPr id="91" name="Shape 9"/>
            <p:cNvSpPr/>
            <p:nvPr/>
          </p:nvSpPr>
          <p:spPr>
            <a:xfrm>
              <a:off x="1092" y="8188"/>
              <a:ext cx="215" cy="215"/>
            </a:xfrm>
            <a:custGeom>
              <a:avLst/>
              <a:gdLst/>
              <a:ahLst/>
              <a:cxnLst/>
              <a:rect l="l" t="t" r="r" b="b"/>
              <a:pathLst>
                <a:path w="136509" h="136509">
                  <a:moveTo>
                    <a:pt x="68255" y="0"/>
                  </a:moveTo>
                  <a:cubicBezTo>
                    <a:pt x="105926" y="0"/>
                    <a:pt x="136509" y="30584"/>
                    <a:pt x="136509" y="68255"/>
                  </a:cubicBezTo>
                  <a:cubicBezTo>
                    <a:pt x="136509" y="105926"/>
                    <a:pt x="105926" y="136509"/>
                    <a:pt x="68255" y="136509"/>
                  </a:cubicBezTo>
                  <a:cubicBezTo>
                    <a:pt x="30584" y="136509"/>
                    <a:pt x="0" y="105926"/>
                    <a:pt x="0" y="68255"/>
                  </a:cubicBezTo>
                  <a:cubicBezTo>
                    <a:pt x="0" y="30584"/>
                    <a:pt x="30584" y="0"/>
                    <a:pt x="68255" y="0"/>
                  </a:cubicBezTo>
                  <a:close/>
                  <a:moveTo>
                    <a:pt x="61856" y="31994"/>
                  </a:moveTo>
                  <a:lnTo>
                    <a:pt x="61856" y="68255"/>
                  </a:lnTo>
                  <a:cubicBezTo>
                    <a:pt x="61856" y="70388"/>
                    <a:pt x="62922" y="72387"/>
                    <a:pt x="64709" y="73587"/>
                  </a:cubicBezTo>
                  <a:lnTo>
                    <a:pt x="90304" y="90651"/>
                  </a:lnTo>
                  <a:cubicBezTo>
                    <a:pt x="93237" y="92624"/>
                    <a:pt x="97210" y="91824"/>
                    <a:pt x="99183" y="88864"/>
                  </a:cubicBezTo>
                  <a:cubicBezTo>
                    <a:pt x="101156" y="85905"/>
                    <a:pt x="100356" y="81959"/>
                    <a:pt x="97396" y="79986"/>
                  </a:cubicBezTo>
                  <a:lnTo>
                    <a:pt x="74654" y="64842"/>
                  </a:lnTo>
                  <a:lnTo>
                    <a:pt x="74654" y="31994"/>
                  </a:lnTo>
                  <a:cubicBezTo>
                    <a:pt x="74654" y="28448"/>
                    <a:pt x="71801" y="25596"/>
                    <a:pt x="68255" y="25596"/>
                  </a:cubicBezTo>
                  <a:cubicBezTo>
                    <a:pt x="64709" y="25596"/>
                    <a:pt x="61856" y="28448"/>
                    <a:pt x="61856" y="31994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  <p:sp>
          <p:nvSpPr>
            <p:cNvPr id="92" name="Text 10"/>
            <p:cNvSpPr/>
            <p:nvPr/>
          </p:nvSpPr>
          <p:spPr>
            <a:xfrm>
              <a:off x="1334" y="8134"/>
              <a:ext cx="4340" cy="3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lang="en-US" sz="1075" b="1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头开销</a:t>
              </a:r>
              <a:endParaRPr lang="en-US" sz="107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endParaRPr>
            </a:p>
          </p:txBody>
        </p:sp>
        <p:sp>
          <p:nvSpPr>
            <p:cNvPr id="93" name="Text 11"/>
            <p:cNvSpPr/>
            <p:nvPr/>
          </p:nvSpPr>
          <p:spPr>
            <a:xfrm>
              <a:off x="1065" y="8564"/>
              <a:ext cx="4609" cy="69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l">
                <a:lnSpc>
                  <a:spcPct val="140000"/>
                </a:lnSpc>
                <a:buClrTx/>
                <a:buSzTx/>
                <a:buFontTx/>
              </a:pPr>
              <a:r>
                <a:rPr lang="en-US" sz="1075" dirty="0">
                  <a:solidFill>
                    <a:srgbClr val="7F7F7F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图启动开销、Mix算子调度开销、算子内头开销</a:t>
              </a:r>
              <a:endParaRPr lang="en-US" sz="107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endParaRPr>
            </a:p>
          </p:txBody>
        </p:sp>
        <p:sp>
          <p:nvSpPr>
            <p:cNvPr id="94" name="Text 12"/>
            <p:cNvSpPr/>
            <p:nvPr/>
          </p:nvSpPr>
          <p:spPr>
            <a:xfrm>
              <a:off x="1065" y="9370"/>
              <a:ext cx="4609" cy="3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75" b="1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优化：</a:t>
              </a:r>
              <a:r>
                <a:rPr lang="zh-CN" altLang="en-US" sz="1075" b="1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图编译</a:t>
              </a:r>
              <a:r>
                <a:rPr lang="en-US" sz="1075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缓存</a:t>
              </a:r>
              <a:r>
                <a:rPr lang="zh-CN" altLang="en-US" sz="1075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、</a:t>
              </a:r>
              <a:r>
                <a:rPr lang="en-US" altLang="zh-CN" sz="1075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SuperKernel</a:t>
              </a:r>
              <a:endParaRPr lang="en-US" altLang="zh-CN" sz="1075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endParaRPr>
            </a:p>
          </p:txBody>
        </p:sp>
        <p:sp>
          <p:nvSpPr>
            <p:cNvPr id="95" name="Shape 13"/>
            <p:cNvSpPr/>
            <p:nvPr/>
          </p:nvSpPr>
          <p:spPr>
            <a:xfrm>
              <a:off x="6020" y="7919"/>
              <a:ext cx="4958" cy="1989"/>
            </a:xfrm>
            <a:custGeom>
              <a:avLst/>
              <a:gdLst/>
              <a:ahLst/>
              <a:cxnLst/>
              <a:rect l="l" t="t" r="r" b="b"/>
              <a:pathLst>
                <a:path w="3148249" h="1262712">
                  <a:moveTo>
                    <a:pt x="34127" y="0"/>
                  </a:moveTo>
                  <a:lnTo>
                    <a:pt x="3080000" y="0"/>
                  </a:lnTo>
                  <a:cubicBezTo>
                    <a:pt x="3117668" y="0"/>
                    <a:pt x="3148249" y="30582"/>
                    <a:pt x="3148249" y="68250"/>
                  </a:cubicBezTo>
                  <a:lnTo>
                    <a:pt x="3148249" y="1194463"/>
                  </a:lnTo>
                  <a:cubicBezTo>
                    <a:pt x="3148249" y="1232156"/>
                    <a:pt x="3117693" y="1262712"/>
                    <a:pt x="3080000" y="1262712"/>
                  </a:cubicBezTo>
                  <a:lnTo>
                    <a:pt x="34127" y="1262712"/>
                  </a:lnTo>
                  <a:cubicBezTo>
                    <a:pt x="15292" y="1262712"/>
                    <a:pt x="0" y="1247420"/>
                    <a:pt x="0" y="1228585"/>
                  </a:cubicBezTo>
                  <a:lnTo>
                    <a:pt x="0" y="34127"/>
                  </a:lnTo>
                  <a:cubicBezTo>
                    <a:pt x="0" y="15292"/>
                    <a:pt x="15292" y="0"/>
                    <a:pt x="341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6" name="Shape 14"/>
            <p:cNvSpPr/>
            <p:nvPr/>
          </p:nvSpPr>
          <p:spPr>
            <a:xfrm>
              <a:off x="6020" y="7919"/>
              <a:ext cx="54" cy="1989"/>
            </a:xfrm>
            <a:custGeom>
              <a:avLst/>
              <a:gdLst/>
              <a:ahLst/>
              <a:cxnLst/>
              <a:rect l="l" t="t" r="r" b="b"/>
              <a:pathLst>
                <a:path w="34127" h="1262712">
                  <a:moveTo>
                    <a:pt x="34127" y="0"/>
                  </a:moveTo>
                  <a:lnTo>
                    <a:pt x="34127" y="0"/>
                  </a:lnTo>
                  <a:lnTo>
                    <a:pt x="34127" y="1262712"/>
                  </a:lnTo>
                  <a:lnTo>
                    <a:pt x="34127" y="1262712"/>
                  </a:lnTo>
                  <a:cubicBezTo>
                    <a:pt x="15279" y="1262712"/>
                    <a:pt x="0" y="1247433"/>
                    <a:pt x="0" y="1228585"/>
                  </a:cubicBezTo>
                  <a:lnTo>
                    <a:pt x="0" y="34127"/>
                  </a:lnTo>
                  <a:cubicBezTo>
                    <a:pt x="0" y="15279"/>
                    <a:pt x="15279" y="0"/>
                    <a:pt x="3412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97" name="Shape 15"/>
            <p:cNvSpPr/>
            <p:nvPr/>
          </p:nvSpPr>
          <p:spPr>
            <a:xfrm>
              <a:off x="6289" y="8188"/>
              <a:ext cx="215" cy="215"/>
            </a:xfrm>
            <a:custGeom>
              <a:avLst/>
              <a:gdLst/>
              <a:ahLst/>
              <a:cxnLst/>
              <a:rect l="l" t="t" r="r" b="b"/>
              <a:pathLst>
                <a:path w="136509" h="136509">
                  <a:moveTo>
                    <a:pt x="17064" y="17064"/>
                  </a:moveTo>
                  <a:cubicBezTo>
                    <a:pt x="7652" y="17064"/>
                    <a:pt x="0" y="24716"/>
                    <a:pt x="0" y="34127"/>
                  </a:cubicBezTo>
                  <a:lnTo>
                    <a:pt x="0" y="36100"/>
                  </a:lnTo>
                  <a:cubicBezTo>
                    <a:pt x="0" y="37913"/>
                    <a:pt x="1173" y="39460"/>
                    <a:pt x="2693" y="40446"/>
                  </a:cubicBezTo>
                  <a:cubicBezTo>
                    <a:pt x="6212" y="42739"/>
                    <a:pt x="8532" y="46685"/>
                    <a:pt x="8532" y="51191"/>
                  </a:cubicBezTo>
                  <a:cubicBezTo>
                    <a:pt x="8532" y="55697"/>
                    <a:pt x="6212" y="59643"/>
                    <a:pt x="2693" y="61936"/>
                  </a:cubicBezTo>
                  <a:cubicBezTo>
                    <a:pt x="1173" y="62922"/>
                    <a:pt x="0" y="64469"/>
                    <a:pt x="0" y="66282"/>
                  </a:cubicBezTo>
                  <a:lnTo>
                    <a:pt x="0" y="81052"/>
                  </a:lnTo>
                  <a:lnTo>
                    <a:pt x="136509" y="81052"/>
                  </a:lnTo>
                  <a:lnTo>
                    <a:pt x="136509" y="66282"/>
                  </a:lnTo>
                  <a:cubicBezTo>
                    <a:pt x="136509" y="64469"/>
                    <a:pt x="135336" y="62922"/>
                    <a:pt x="133817" y="61936"/>
                  </a:cubicBezTo>
                  <a:cubicBezTo>
                    <a:pt x="130297" y="59643"/>
                    <a:pt x="127978" y="55697"/>
                    <a:pt x="127978" y="51191"/>
                  </a:cubicBezTo>
                  <a:cubicBezTo>
                    <a:pt x="127978" y="46685"/>
                    <a:pt x="130297" y="42739"/>
                    <a:pt x="133817" y="40446"/>
                  </a:cubicBezTo>
                  <a:cubicBezTo>
                    <a:pt x="135336" y="39460"/>
                    <a:pt x="136509" y="37913"/>
                    <a:pt x="136509" y="36100"/>
                  </a:cubicBezTo>
                  <a:lnTo>
                    <a:pt x="136509" y="34127"/>
                  </a:lnTo>
                  <a:cubicBezTo>
                    <a:pt x="136509" y="24716"/>
                    <a:pt x="128857" y="17064"/>
                    <a:pt x="119446" y="17064"/>
                  </a:cubicBezTo>
                  <a:lnTo>
                    <a:pt x="17064" y="17064"/>
                  </a:lnTo>
                  <a:close/>
                  <a:moveTo>
                    <a:pt x="136509" y="110914"/>
                  </a:moveTo>
                  <a:lnTo>
                    <a:pt x="136509" y="93850"/>
                  </a:lnTo>
                  <a:lnTo>
                    <a:pt x="0" y="93850"/>
                  </a:lnTo>
                  <a:lnTo>
                    <a:pt x="0" y="110914"/>
                  </a:lnTo>
                  <a:cubicBezTo>
                    <a:pt x="0" y="115633"/>
                    <a:pt x="3813" y="119446"/>
                    <a:pt x="8532" y="119446"/>
                  </a:cubicBezTo>
                  <a:lnTo>
                    <a:pt x="25596" y="119446"/>
                  </a:lnTo>
                  <a:lnTo>
                    <a:pt x="25596" y="113047"/>
                  </a:lnTo>
                  <a:cubicBezTo>
                    <a:pt x="25596" y="109501"/>
                    <a:pt x="28448" y="106648"/>
                    <a:pt x="31994" y="106648"/>
                  </a:cubicBezTo>
                  <a:cubicBezTo>
                    <a:pt x="35540" y="106648"/>
                    <a:pt x="38393" y="109501"/>
                    <a:pt x="38393" y="113047"/>
                  </a:cubicBezTo>
                  <a:lnTo>
                    <a:pt x="38393" y="119446"/>
                  </a:lnTo>
                  <a:lnTo>
                    <a:pt x="61856" y="119446"/>
                  </a:lnTo>
                  <a:lnTo>
                    <a:pt x="61856" y="113047"/>
                  </a:lnTo>
                  <a:cubicBezTo>
                    <a:pt x="61856" y="109501"/>
                    <a:pt x="64709" y="106648"/>
                    <a:pt x="68255" y="106648"/>
                  </a:cubicBezTo>
                  <a:cubicBezTo>
                    <a:pt x="71801" y="106648"/>
                    <a:pt x="74654" y="109501"/>
                    <a:pt x="74654" y="113047"/>
                  </a:cubicBezTo>
                  <a:lnTo>
                    <a:pt x="74654" y="119446"/>
                  </a:lnTo>
                  <a:lnTo>
                    <a:pt x="98116" y="119446"/>
                  </a:lnTo>
                  <a:lnTo>
                    <a:pt x="98116" y="113047"/>
                  </a:lnTo>
                  <a:cubicBezTo>
                    <a:pt x="98116" y="109501"/>
                    <a:pt x="100969" y="106648"/>
                    <a:pt x="104515" y="106648"/>
                  </a:cubicBezTo>
                  <a:cubicBezTo>
                    <a:pt x="108061" y="106648"/>
                    <a:pt x="110914" y="109501"/>
                    <a:pt x="110914" y="113047"/>
                  </a:cubicBezTo>
                  <a:lnTo>
                    <a:pt x="110914" y="119446"/>
                  </a:lnTo>
                  <a:lnTo>
                    <a:pt x="127978" y="119446"/>
                  </a:lnTo>
                  <a:cubicBezTo>
                    <a:pt x="132697" y="119446"/>
                    <a:pt x="136509" y="115633"/>
                    <a:pt x="136509" y="110914"/>
                  </a:cubicBezTo>
                  <a:close/>
                  <a:moveTo>
                    <a:pt x="42659" y="42659"/>
                  </a:moveTo>
                  <a:lnTo>
                    <a:pt x="42659" y="59723"/>
                  </a:lnTo>
                  <a:cubicBezTo>
                    <a:pt x="42659" y="64442"/>
                    <a:pt x="38847" y="68255"/>
                    <a:pt x="34127" y="68255"/>
                  </a:cubicBezTo>
                  <a:cubicBezTo>
                    <a:pt x="29408" y="68255"/>
                    <a:pt x="25596" y="64442"/>
                    <a:pt x="25596" y="59723"/>
                  </a:cubicBezTo>
                  <a:lnTo>
                    <a:pt x="25596" y="42659"/>
                  </a:lnTo>
                  <a:cubicBezTo>
                    <a:pt x="25596" y="37940"/>
                    <a:pt x="29408" y="34127"/>
                    <a:pt x="34127" y="34127"/>
                  </a:cubicBezTo>
                  <a:cubicBezTo>
                    <a:pt x="38847" y="34127"/>
                    <a:pt x="42659" y="37940"/>
                    <a:pt x="42659" y="42659"/>
                  </a:cubicBezTo>
                  <a:close/>
                  <a:moveTo>
                    <a:pt x="76787" y="42659"/>
                  </a:moveTo>
                  <a:lnTo>
                    <a:pt x="76787" y="59723"/>
                  </a:lnTo>
                  <a:cubicBezTo>
                    <a:pt x="76787" y="64442"/>
                    <a:pt x="72974" y="68255"/>
                    <a:pt x="68255" y="68255"/>
                  </a:cubicBezTo>
                  <a:cubicBezTo>
                    <a:pt x="63536" y="68255"/>
                    <a:pt x="59723" y="64442"/>
                    <a:pt x="59723" y="59723"/>
                  </a:cubicBezTo>
                  <a:lnTo>
                    <a:pt x="59723" y="42659"/>
                  </a:lnTo>
                  <a:cubicBezTo>
                    <a:pt x="59723" y="37940"/>
                    <a:pt x="63536" y="34127"/>
                    <a:pt x="68255" y="34127"/>
                  </a:cubicBezTo>
                  <a:cubicBezTo>
                    <a:pt x="72974" y="34127"/>
                    <a:pt x="76787" y="37940"/>
                    <a:pt x="76787" y="42659"/>
                  </a:cubicBezTo>
                  <a:close/>
                  <a:moveTo>
                    <a:pt x="110914" y="42659"/>
                  </a:moveTo>
                  <a:lnTo>
                    <a:pt x="110914" y="59723"/>
                  </a:lnTo>
                  <a:cubicBezTo>
                    <a:pt x="110914" y="64442"/>
                    <a:pt x="107101" y="68255"/>
                    <a:pt x="102382" y="68255"/>
                  </a:cubicBezTo>
                  <a:cubicBezTo>
                    <a:pt x="97663" y="68255"/>
                    <a:pt x="93850" y="64442"/>
                    <a:pt x="93850" y="59723"/>
                  </a:cubicBezTo>
                  <a:lnTo>
                    <a:pt x="93850" y="42659"/>
                  </a:lnTo>
                  <a:cubicBezTo>
                    <a:pt x="93850" y="37940"/>
                    <a:pt x="97663" y="34127"/>
                    <a:pt x="102382" y="34127"/>
                  </a:cubicBezTo>
                  <a:cubicBezTo>
                    <a:pt x="107101" y="34127"/>
                    <a:pt x="110914" y="37940"/>
                    <a:pt x="110914" y="42659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98" name="Text 16"/>
            <p:cNvSpPr/>
            <p:nvPr/>
          </p:nvSpPr>
          <p:spPr>
            <a:xfrm>
              <a:off x="6531" y="8134"/>
              <a:ext cx="4340" cy="3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75" b="1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内存分配瓶颈</a:t>
              </a:r>
              <a:endParaRPr lang="en-US" sz="1600" dirty="0"/>
            </a:p>
          </p:txBody>
        </p:sp>
        <p:sp>
          <p:nvSpPr>
            <p:cNvPr id="99" name="Text 17"/>
            <p:cNvSpPr/>
            <p:nvPr/>
          </p:nvSpPr>
          <p:spPr>
            <a:xfrm>
              <a:off x="6262" y="8564"/>
              <a:ext cx="4609" cy="69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075" dirty="0">
                  <a:solidFill>
                    <a:srgbClr val="7F7F7F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频繁的显存分配/释放导致碎片，增加管理开销。</a:t>
              </a:r>
              <a:endParaRPr lang="en-US" sz="1600" dirty="0"/>
            </a:p>
          </p:txBody>
        </p:sp>
        <p:sp>
          <p:nvSpPr>
            <p:cNvPr id="100" name="Text 18"/>
            <p:cNvSpPr/>
            <p:nvPr/>
          </p:nvSpPr>
          <p:spPr>
            <a:xfrm>
              <a:off x="6262" y="9370"/>
              <a:ext cx="4609" cy="3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75" b="1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优化：</a:t>
              </a:r>
              <a:r>
                <a:rPr lang="zh-CN" altLang="en-US" sz="1075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量化、并行、</a:t>
              </a:r>
              <a:r>
                <a:rPr lang="en-US" altLang="zh-CN" sz="1075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Chunk</a:t>
              </a:r>
              <a:r>
                <a:rPr lang="zh-CN" altLang="en-US" sz="1075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推理、异常问题分析</a:t>
              </a:r>
              <a:endParaRPr lang="zh-CN" altLang="en-US" sz="1075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endParaRPr>
            </a:p>
          </p:txBody>
        </p:sp>
        <p:sp>
          <p:nvSpPr>
            <p:cNvPr id="101" name="Shape 19"/>
            <p:cNvSpPr/>
            <p:nvPr/>
          </p:nvSpPr>
          <p:spPr>
            <a:xfrm>
              <a:off x="11141" y="7919"/>
              <a:ext cx="3743" cy="1989"/>
            </a:xfrm>
            <a:custGeom>
              <a:avLst/>
              <a:gdLst/>
              <a:ahLst/>
              <a:cxnLst/>
              <a:rect l="l" t="t" r="r" b="b"/>
              <a:pathLst>
                <a:path w="3148249" h="1262712">
                  <a:moveTo>
                    <a:pt x="34127" y="0"/>
                  </a:moveTo>
                  <a:lnTo>
                    <a:pt x="3080000" y="0"/>
                  </a:lnTo>
                  <a:cubicBezTo>
                    <a:pt x="3117668" y="0"/>
                    <a:pt x="3148249" y="30582"/>
                    <a:pt x="3148249" y="68250"/>
                  </a:cubicBezTo>
                  <a:lnTo>
                    <a:pt x="3148249" y="1194463"/>
                  </a:lnTo>
                  <a:cubicBezTo>
                    <a:pt x="3148249" y="1232156"/>
                    <a:pt x="3117693" y="1262712"/>
                    <a:pt x="3080000" y="1262712"/>
                  </a:cubicBezTo>
                  <a:lnTo>
                    <a:pt x="34127" y="1262712"/>
                  </a:lnTo>
                  <a:cubicBezTo>
                    <a:pt x="15292" y="1262712"/>
                    <a:pt x="0" y="1247420"/>
                    <a:pt x="0" y="1228585"/>
                  </a:cubicBezTo>
                  <a:lnTo>
                    <a:pt x="0" y="34127"/>
                  </a:lnTo>
                  <a:cubicBezTo>
                    <a:pt x="0" y="15292"/>
                    <a:pt x="15292" y="0"/>
                    <a:pt x="341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2" name="Shape 20"/>
            <p:cNvSpPr/>
            <p:nvPr/>
          </p:nvSpPr>
          <p:spPr>
            <a:xfrm>
              <a:off x="11141" y="7919"/>
              <a:ext cx="54" cy="1989"/>
            </a:xfrm>
            <a:custGeom>
              <a:avLst/>
              <a:gdLst/>
              <a:ahLst/>
              <a:cxnLst/>
              <a:rect l="l" t="t" r="r" b="b"/>
              <a:pathLst>
                <a:path w="34127" h="1262712">
                  <a:moveTo>
                    <a:pt x="34127" y="0"/>
                  </a:moveTo>
                  <a:lnTo>
                    <a:pt x="34127" y="0"/>
                  </a:lnTo>
                  <a:lnTo>
                    <a:pt x="34127" y="1262712"/>
                  </a:lnTo>
                  <a:lnTo>
                    <a:pt x="34127" y="1262712"/>
                  </a:lnTo>
                  <a:cubicBezTo>
                    <a:pt x="15279" y="1262712"/>
                    <a:pt x="0" y="1247433"/>
                    <a:pt x="0" y="1228585"/>
                  </a:cubicBezTo>
                  <a:lnTo>
                    <a:pt x="0" y="34127"/>
                  </a:lnTo>
                  <a:cubicBezTo>
                    <a:pt x="0" y="15279"/>
                    <a:pt x="15279" y="0"/>
                    <a:pt x="34127" y="0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  <p:sp>
          <p:nvSpPr>
            <p:cNvPr id="103" name="Shape 21"/>
            <p:cNvSpPr/>
            <p:nvPr/>
          </p:nvSpPr>
          <p:spPr>
            <a:xfrm>
              <a:off x="11410" y="8188"/>
              <a:ext cx="215" cy="215"/>
            </a:xfrm>
            <a:custGeom>
              <a:avLst/>
              <a:gdLst/>
              <a:ahLst/>
              <a:cxnLst/>
              <a:rect l="l" t="t" r="r" b="b"/>
              <a:pathLst>
                <a:path w="136509" h="136509">
                  <a:moveTo>
                    <a:pt x="35674" y="9678"/>
                  </a:moveTo>
                  <a:cubicBezTo>
                    <a:pt x="38580" y="11705"/>
                    <a:pt x="39273" y="15704"/>
                    <a:pt x="37247" y="18583"/>
                  </a:cubicBezTo>
                  <a:lnTo>
                    <a:pt x="22316" y="39913"/>
                  </a:lnTo>
                  <a:cubicBezTo>
                    <a:pt x="21223" y="41459"/>
                    <a:pt x="19517" y="42446"/>
                    <a:pt x="17624" y="42606"/>
                  </a:cubicBezTo>
                  <a:cubicBezTo>
                    <a:pt x="15731" y="42766"/>
                    <a:pt x="13864" y="42126"/>
                    <a:pt x="12531" y="40793"/>
                  </a:cubicBezTo>
                  <a:lnTo>
                    <a:pt x="1866" y="30128"/>
                  </a:lnTo>
                  <a:cubicBezTo>
                    <a:pt x="-613" y="27622"/>
                    <a:pt x="-613" y="23569"/>
                    <a:pt x="1866" y="21063"/>
                  </a:cubicBezTo>
                  <a:cubicBezTo>
                    <a:pt x="4346" y="18557"/>
                    <a:pt x="8425" y="18583"/>
                    <a:pt x="10931" y="21063"/>
                  </a:cubicBezTo>
                  <a:lnTo>
                    <a:pt x="16210" y="26342"/>
                  </a:lnTo>
                  <a:lnTo>
                    <a:pt x="26769" y="11251"/>
                  </a:lnTo>
                  <a:cubicBezTo>
                    <a:pt x="28795" y="8345"/>
                    <a:pt x="32794" y="7652"/>
                    <a:pt x="35674" y="9678"/>
                  </a:cubicBezTo>
                  <a:close/>
                  <a:moveTo>
                    <a:pt x="35674" y="52338"/>
                  </a:moveTo>
                  <a:cubicBezTo>
                    <a:pt x="38580" y="54364"/>
                    <a:pt x="39273" y="58363"/>
                    <a:pt x="37247" y="61243"/>
                  </a:cubicBezTo>
                  <a:lnTo>
                    <a:pt x="22316" y="82572"/>
                  </a:lnTo>
                  <a:cubicBezTo>
                    <a:pt x="21223" y="84119"/>
                    <a:pt x="19517" y="85105"/>
                    <a:pt x="17624" y="85265"/>
                  </a:cubicBezTo>
                  <a:cubicBezTo>
                    <a:pt x="15731" y="85425"/>
                    <a:pt x="13864" y="84785"/>
                    <a:pt x="12531" y="83452"/>
                  </a:cubicBezTo>
                  <a:lnTo>
                    <a:pt x="1866" y="72787"/>
                  </a:lnTo>
                  <a:cubicBezTo>
                    <a:pt x="-640" y="70281"/>
                    <a:pt x="-640" y="66228"/>
                    <a:pt x="1866" y="63749"/>
                  </a:cubicBezTo>
                  <a:cubicBezTo>
                    <a:pt x="4373" y="61269"/>
                    <a:pt x="8425" y="61243"/>
                    <a:pt x="10905" y="63749"/>
                  </a:cubicBezTo>
                  <a:lnTo>
                    <a:pt x="16184" y="69028"/>
                  </a:lnTo>
                  <a:lnTo>
                    <a:pt x="26742" y="53937"/>
                  </a:lnTo>
                  <a:cubicBezTo>
                    <a:pt x="28768" y="51031"/>
                    <a:pt x="32768" y="50338"/>
                    <a:pt x="35647" y="52364"/>
                  </a:cubicBezTo>
                  <a:close/>
                  <a:moveTo>
                    <a:pt x="59723" y="25596"/>
                  </a:moveTo>
                  <a:cubicBezTo>
                    <a:pt x="59723" y="20876"/>
                    <a:pt x="63536" y="17064"/>
                    <a:pt x="68255" y="17064"/>
                  </a:cubicBezTo>
                  <a:lnTo>
                    <a:pt x="127978" y="17064"/>
                  </a:lnTo>
                  <a:cubicBezTo>
                    <a:pt x="132697" y="17064"/>
                    <a:pt x="136509" y="20876"/>
                    <a:pt x="136509" y="25596"/>
                  </a:cubicBezTo>
                  <a:cubicBezTo>
                    <a:pt x="136509" y="30315"/>
                    <a:pt x="132697" y="34127"/>
                    <a:pt x="127978" y="34127"/>
                  </a:cubicBezTo>
                  <a:lnTo>
                    <a:pt x="68255" y="34127"/>
                  </a:lnTo>
                  <a:cubicBezTo>
                    <a:pt x="63536" y="34127"/>
                    <a:pt x="59723" y="30315"/>
                    <a:pt x="59723" y="25596"/>
                  </a:cubicBezTo>
                  <a:close/>
                  <a:moveTo>
                    <a:pt x="59723" y="68255"/>
                  </a:moveTo>
                  <a:cubicBezTo>
                    <a:pt x="59723" y="63536"/>
                    <a:pt x="63536" y="59723"/>
                    <a:pt x="68255" y="59723"/>
                  </a:cubicBezTo>
                  <a:lnTo>
                    <a:pt x="127978" y="59723"/>
                  </a:lnTo>
                  <a:cubicBezTo>
                    <a:pt x="132697" y="59723"/>
                    <a:pt x="136509" y="63536"/>
                    <a:pt x="136509" y="68255"/>
                  </a:cubicBezTo>
                  <a:cubicBezTo>
                    <a:pt x="136509" y="72974"/>
                    <a:pt x="132697" y="76787"/>
                    <a:pt x="127978" y="76787"/>
                  </a:cubicBezTo>
                  <a:lnTo>
                    <a:pt x="68255" y="76787"/>
                  </a:lnTo>
                  <a:cubicBezTo>
                    <a:pt x="63536" y="76787"/>
                    <a:pt x="59723" y="72974"/>
                    <a:pt x="59723" y="68255"/>
                  </a:cubicBezTo>
                  <a:close/>
                  <a:moveTo>
                    <a:pt x="42659" y="110914"/>
                  </a:moveTo>
                  <a:cubicBezTo>
                    <a:pt x="42659" y="106195"/>
                    <a:pt x="46472" y="102382"/>
                    <a:pt x="51191" y="102382"/>
                  </a:cubicBezTo>
                  <a:lnTo>
                    <a:pt x="127978" y="102382"/>
                  </a:lnTo>
                  <a:cubicBezTo>
                    <a:pt x="132697" y="102382"/>
                    <a:pt x="136509" y="106195"/>
                    <a:pt x="136509" y="110914"/>
                  </a:cubicBezTo>
                  <a:cubicBezTo>
                    <a:pt x="136509" y="115633"/>
                    <a:pt x="132697" y="119446"/>
                    <a:pt x="127978" y="119446"/>
                  </a:cubicBezTo>
                  <a:lnTo>
                    <a:pt x="51191" y="119446"/>
                  </a:lnTo>
                  <a:cubicBezTo>
                    <a:pt x="46472" y="119446"/>
                    <a:pt x="42659" y="115633"/>
                    <a:pt x="42659" y="110914"/>
                  </a:cubicBezTo>
                  <a:close/>
                  <a:moveTo>
                    <a:pt x="17064" y="100249"/>
                  </a:moveTo>
                  <a:cubicBezTo>
                    <a:pt x="22950" y="100249"/>
                    <a:pt x="27728" y="105028"/>
                    <a:pt x="27728" y="110914"/>
                  </a:cubicBezTo>
                  <a:cubicBezTo>
                    <a:pt x="27728" y="116800"/>
                    <a:pt x="22950" y="121579"/>
                    <a:pt x="17064" y="121579"/>
                  </a:cubicBezTo>
                  <a:cubicBezTo>
                    <a:pt x="11178" y="121579"/>
                    <a:pt x="6399" y="116800"/>
                    <a:pt x="6399" y="110914"/>
                  </a:cubicBezTo>
                  <a:cubicBezTo>
                    <a:pt x="6399" y="105028"/>
                    <a:pt x="11178" y="100249"/>
                    <a:pt x="17064" y="100249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  <p:sp>
          <p:nvSpPr>
            <p:cNvPr id="104" name="Text 22"/>
            <p:cNvSpPr/>
            <p:nvPr/>
          </p:nvSpPr>
          <p:spPr>
            <a:xfrm>
              <a:off x="11652" y="8134"/>
              <a:ext cx="2705" cy="3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075" b="1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负载均衡</a:t>
              </a:r>
              <a:endParaRPr lang="zh-CN" altLang="en-US" sz="107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endParaRPr>
            </a:p>
          </p:txBody>
        </p:sp>
        <p:sp>
          <p:nvSpPr>
            <p:cNvPr id="105" name="Text 23"/>
            <p:cNvSpPr/>
            <p:nvPr/>
          </p:nvSpPr>
          <p:spPr>
            <a:xfrm>
              <a:off x="11383" y="8564"/>
              <a:ext cx="2930" cy="69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075" dirty="0">
                  <a:solidFill>
                    <a:srgbClr val="7F7F7F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DP</a:t>
              </a:r>
              <a:r>
                <a:rPr lang="zh-CN" altLang="en-US" sz="1075" dirty="0">
                  <a:solidFill>
                    <a:srgbClr val="7F7F7F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负载不均</a:t>
              </a:r>
              <a:r>
                <a:rPr lang="en-US" sz="1075" dirty="0">
                  <a:solidFill>
                    <a:srgbClr val="7F7F7F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，EP</a:t>
              </a:r>
              <a:r>
                <a:rPr lang="zh-CN" altLang="en-US" sz="1075" dirty="0">
                  <a:solidFill>
                    <a:srgbClr val="7F7F7F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负载不均</a:t>
              </a:r>
              <a:endParaRPr lang="zh-CN" altLang="en-US" sz="1075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endParaRPr>
            </a:p>
          </p:txBody>
        </p:sp>
        <p:sp>
          <p:nvSpPr>
            <p:cNvPr id="106" name="Text 24"/>
            <p:cNvSpPr/>
            <p:nvPr/>
          </p:nvSpPr>
          <p:spPr>
            <a:xfrm>
              <a:off x="11383" y="9371"/>
              <a:ext cx="3520" cy="3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75" b="1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优化：</a:t>
              </a:r>
              <a:r>
                <a:rPr lang="en-US" altLang="zh-CN" sz="1075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Chunk Prefill</a:t>
              </a:r>
              <a:r>
                <a:rPr lang="zh-CN" altLang="en-US" sz="1075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、</a:t>
              </a:r>
              <a:r>
                <a:rPr lang="en-US" altLang="zh-CN" sz="1075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EPLB</a:t>
              </a:r>
              <a:r>
                <a:rPr lang="zh-CN" altLang="en-US" sz="1075" dirty="0">
                  <a:solidFill>
                    <a:srgbClr val="333333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等</a:t>
              </a:r>
              <a:endParaRPr lang="zh-CN" altLang="en-US" sz="1075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endParaRP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12717755" y="5976772"/>
            <a:ext cx="1897482" cy="931062"/>
            <a:chOff x="15831" y="8114"/>
            <a:chExt cx="2576" cy="1264"/>
          </a:xfrm>
        </p:grpSpPr>
        <p:sp>
          <p:nvSpPr>
            <p:cNvPr id="107" name="Shape 56"/>
            <p:cNvSpPr/>
            <p:nvPr/>
          </p:nvSpPr>
          <p:spPr>
            <a:xfrm>
              <a:off x="15831" y="8114"/>
              <a:ext cx="2572" cy="1264"/>
            </a:xfrm>
            <a:custGeom>
              <a:avLst/>
              <a:gdLst/>
              <a:ahLst/>
              <a:cxnLst/>
              <a:rect l="l" t="t" r="r" b="b"/>
              <a:pathLst>
                <a:path w="5381625" h="635000">
                  <a:moveTo>
                    <a:pt x="63500" y="0"/>
                  </a:moveTo>
                  <a:lnTo>
                    <a:pt x="5318125" y="0"/>
                  </a:lnTo>
                  <a:cubicBezTo>
                    <a:pt x="5353172" y="0"/>
                    <a:pt x="5381625" y="28453"/>
                    <a:pt x="5381625" y="63500"/>
                  </a:cubicBezTo>
                  <a:lnTo>
                    <a:pt x="5381625" y="571500"/>
                  </a:lnTo>
                  <a:cubicBezTo>
                    <a:pt x="5381625" y="606547"/>
                    <a:pt x="5353172" y="635000"/>
                    <a:pt x="5318125" y="635000"/>
                  </a:cubicBezTo>
                  <a:lnTo>
                    <a:pt x="63500" y="635000"/>
                  </a:lnTo>
                  <a:cubicBezTo>
                    <a:pt x="28453" y="635000"/>
                    <a:pt x="0" y="606547"/>
                    <a:pt x="0" y="571500"/>
                  </a:cubicBezTo>
                  <a:lnTo>
                    <a:pt x="0" y="63500"/>
                  </a:lnTo>
                  <a:cubicBezTo>
                    <a:pt x="0" y="28453"/>
                    <a:pt x="28453" y="0"/>
                    <a:pt x="63500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</p:spPr>
        </p:sp>
        <p:sp>
          <p:nvSpPr>
            <p:cNvPr id="108" name="Text 57"/>
            <p:cNvSpPr/>
            <p:nvPr/>
          </p:nvSpPr>
          <p:spPr>
            <a:xfrm>
              <a:off x="15981" y="8264"/>
              <a:ext cx="2427" cy="3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lIns="0" tIns="0" rIns="0" bIns="0" rtlCol="0" anchor="ctr"/>
            <a:lstStyle/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1400" b="1" dirty="0">
                  <a:solidFill>
                    <a:schemeClr val="accent5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具体问题具体分析</a:t>
              </a:r>
              <a:endParaRPr lang="zh-CN" altLang="en-US" sz="1400" b="1" dirty="0">
                <a:solidFill>
                  <a:schemeClr val="accent5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endParaRPr>
            </a:p>
          </p:txBody>
        </p:sp>
        <p:sp>
          <p:nvSpPr>
            <p:cNvPr id="109" name="Text 58"/>
            <p:cNvSpPr/>
            <p:nvPr/>
          </p:nvSpPr>
          <p:spPr>
            <a:xfrm>
              <a:off x="16019" y="8814"/>
              <a:ext cx="2125" cy="3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400" b="1" dirty="0">
                  <a:solidFill>
                    <a:schemeClr val="accent5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做好</a:t>
              </a:r>
              <a:r>
                <a:rPr lang="en-US" altLang="zh-CN" sz="1400" b="1" dirty="0">
                  <a:solidFill>
                    <a:schemeClr val="accent5"/>
                  </a:solidFill>
                  <a:latin typeface="MiSans" panose="020B0503020204020204" charset="-122"/>
                  <a:ea typeface="MiSans" panose="020B0503020204020204" charset="-122"/>
                  <a:cs typeface="MiSans" panose="020B0503020204020204" charset="-122"/>
                </a:rPr>
                <a:t>Trade-Off</a:t>
              </a:r>
              <a:endParaRPr lang="en-US" altLang="zh-CN" sz="1400" b="1" dirty="0">
                <a:solidFill>
                  <a:schemeClr val="accent5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endParaRPr>
            </a:p>
          </p:txBody>
        </p:sp>
      </p:grpSp>
      <p:sp>
        <p:nvSpPr>
          <p:cNvPr id="114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115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17</a:t>
            </a:r>
            <a:endParaRPr lang="en-US" dirty="0"/>
          </a:p>
        </p:txBody>
      </p:sp>
      <p:pic>
        <p:nvPicPr>
          <p:cNvPr id="116" name="CANN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052318" y="-102094"/>
            <a:ext cx="2149350" cy="558831"/>
          </a:xfrm>
          <a:custGeom>
            <a:avLst/>
            <a:gdLst/>
            <a:ahLst/>
            <a:cxnLst/>
            <a:rect l="l" t="t" r="r" b="b"/>
            <a:pathLst>
              <a:path w="1852888" h="481751">
                <a:moveTo>
                  <a:pt x="0" y="0"/>
                </a:moveTo>
                <a:lnTo>
                  <a:pt x="1852888" y="0"/>
                </a:lnTo>
                <a:lnTo>
                  <a:pt x="1852888" y="481751"/>
                </a:lnTo>
                <a:lnTo>
                  <a:pt x="0" y="48175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5" name="Text 2"/>
          <p:cNvSpPr/>
          <p:nvPr/>
        </p:nvSpPr>
        <p:spPr>
          <a:xfrm>
            <a:off x="6998585" y="-102094"/>
            <a:ext cx="2256817" cy="558831"/>
          </a:xfrm>
          <a:prstGeom prst="rect">
            <a:avLst/>
          </a:prstGeom>
          <a:noFill/>
        </p:spPr>
        <p:txBody>
          <a:bodyPr wrap="square" lIns="257923" tIns="128961" rIns="257923" bIns="128961" rtlCol="0" anchor="ctr"/>
          <a:lstStyle/>
          <a:p>
            <a:pPr algn="ctr">
              <a:lnSpc>
                <a:spcPct val="120000"/>
              </a:lnSpc>
            </a:pPr>
            <a:r>
              <a:rPr lang="en-US" sz="1694" b="1" kern="0" spc="73" dirty="0">
                <a:solidFill>
                  <a:srgbClr val="FFFFF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CONCLUSION</a:t>
            </a:r>
            <a:endParaRPr lang="en-US" sz="1856" dirty="0"/>
          </a:p>
        </p:txBody>
      </p:sp>
      <p:sp>
        <p:nvSpPr>
          <p:cNvPr id="6" name="Text 3"/>
          <p:cNvSpPr/>
          <p:nvPr/>
        </p:nvSpPr>
        <p:spPr>
          <a:xfrm>
            <a:off x="5707547" y="1058555"/>
            <a:ext cx="4836037" cy="1612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07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从能跑到跑快：</a:t>
            </a:r>
            <a:endParaRPr lang="en-US" sz="1856" dirty="0"/>
          </a:p>
          <a:p>
            <a:pPr algn="ctr">
              <a:lnSpc>
                <a:spcPct val="100000"/>
              </a:lnSpc>
            </a:pPr>
            <a:r>
              <a:rPr lang="en-US" sz="507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持续优化的旅程</a:t>
            </a:r>
            <a:endParaRPr lang="en-US" sz="1856" dirty="0"/>
          </a:p>
        </p:txBody>
      </p:sp>
      <p:sp>
        <p:nvSpPr>
          <p:cNvPr id="7" name="Text 4"/>
          <p:cNvSpPr/>
          <p:nvPr/>
        </p:nvSpPr>
        <p:spPr>
          <a:xfrm>
            <a:off x="3246541" y="3014463"/>
            <a:ext cx="9758046" cy="838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30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大模型推理优化是一个系统工程，需要深入理解模型架构、推理阶段特性和硬件能力。</a:t>
            </a:r>
            <a:endParaRPr lang="en-US" sz="1856" dirty="0"/>
          </a:p>
        </p:txBody>
      </p:sp>
      <p:sp>
        <p:nvSpPr>
          <p:cNvPr id="8" name="Text 5"/>
          <p:cNvSpPr/>
          <p:nvPr/>
        </p:nvSpPr>
        <p:spPr>
          <a:xfrm>
            <a:off x="3257289" y="4110631"/>
            <a:ext cx="9736554" cy="6985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94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通过建立科学的瓶颈分析方法论，结合实际profiling工具，我们能够从</a:t>
            </a:r>
            <a:r>
              <a:rPr lang="en-US" sz="169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"模型能跑"</a:t>
            </a:r>
            <a:r>
              <a:rPr lang="en-US" sz="1694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走向</a:t>
            </a:r>
            <a:r>
              <a:rPr lang="en-US" sz="1694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"模型跑快"</a:t>
            </a:r>
            <a:r>
              <a:rPr lang="en-US" sz="1694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，最终实现低延迟、高吞吐、低成本的推理服务。</a:t>
            </a:r>
            <a:endParaRPr lang="en-US" sz="1856" dirty="0"/>
          </a:p>
        </p:txBody>
      </p:sp>
      <p:sp>
        <p:nvSpPr>
          <p:cNvPr id="9" name="Shape 6"/>
          <p:cNvSpPr/>
          <p:nvPr/>
        </p:nvSpPr>
        <p:spPr>
          <a:xfrm>
            <a:off x="2644724" y="5239039"/>
            <a:ext cx="2536232" cy="1740973"/>
          </a:xfrm>
          <a:custGeom>
            <a:avLst/>
            <a:gdLst/>
            <a:ahLst/>
            <a:cxnLst/>
            <a:rect l="l" t="t" r="r" b="b"/>
            <a:pathLst>
              <a:path w="2186407" h="1500839">
                <a:moveTo>
                  <a:pt x="37058" y="0"/>
                </a:moveTo>
                <a:lnTo>
                  <a:pt x="2112296" y="0"/>
                </a:lnTo>
                <a:cubicBezTo>
                  <a:pt x="2153226" y="0"/>
                  <a:pt x="2186407" y="33181"/>
                  <a:pt x="2186407" y="74111"/>
                </a:cubicBezTo>
                <a:lnTo>
                  <a:pt x="2186407" y="1426727"/>
                </a:lnTo>
                <a:cubicBezTo>
                  <a:pt x="2186407" y="1467658"/>
                  <a:pt x="2153226" y="1500839"/>
                  <a:pt x="2112296" y="1500839"/>
                </a:cubicBezTo>
                <a:lnTo>
                  <a:pt x="37058" y="1500839"/>
                </a:lnTo>
                <a:cubicBezTo>
                  <a:pt x="16591" y="1500839"/>
                  <a:pt x="0" y="1484248"/>
                  <a:pt x="0" y="146378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2644724" y="5239039"/>
            <a:ext cx="42987" cy="1740973"/>
          </a:xfrm>
          <a:custGeom>
            <a:avLst/>
            <a:gdLst/>
            <a:ahLst/>
            <a:cxnLst/>
            <a:rect l="l" t="t" r="r" b="b"/>
            <a:pathLst>
              <a:path w="37058" h="1500839">
                <a:moveTo>
                  <a:pt x="37058" y="0"/>
                </a:moveTo>
                <a:lnTo>
                  <a:pt x="37058" y="0"/>
                </a:lnTo>
                <a:lnTo>
                  <a:pt x="37058" y="1500839"/>
                </a:lnTo>
                <a:lnTo>
                  <a:pt x="37058" y="1500839"/>
                </a:lnTo>
                <a:cubicBezTo>
                  <a:pt x="16591" y="1500839"/>
                  <a:pt x="0" y="1484248"/>
                  <a:pt x="0" y="146378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" name="Shape 8"/>
          <p:cNvSpPr/>
          <p:nvPr/>
        </p:nvSpPr>
        <p:spPr>
          <a:xfrm>
            <a:off x="3765072" y="5453974"/>
            <a:ext cx="322402" cy="322402"/>
          </a:xfrm>
          <a:custGeom>
            <a:avLst/>
            <a:gdLst/>
            <a:ahLst/>
            <a:cxnLst/>
            <a:rect l="l" t="t" r="r" b="b"/>
            <a:pathLst>
              <a:path w="277933" h="277933">
                <a:moveTo>
                  <a:pt x="65141" y="30399"/>
                </a:moveTo>
                <a:cubicBezTo>
                  <a:pt x="65141" y="13625"/>
                  <a:pt x="78766" y="0"/>
                  <a:pt x="95540" y="0"/>
                </a:cubicBezTo>
                <a:lnTo>
                  <a:pt x="108568" y="0"/>
                </a:lnTo>
                <a:cubicBezTo>
                  <a:pt x="118176" y="0"/>
                  <a:pt x="125938" y="7763"/>
                  <a:pt x="125938" y="17371"/>
                </a:cubicBezTo>
                <a:lnTo>
                  <a:pt x="125938" y="260562"/>
                </a:lnTo>
                <a:cubicBezTo>
                  <a:pt x="125938" y="270171"/>
                  <a:pt x="118176" y="277933"/>
                  <a:pt x="108568" y="277933"/>
                </a:cubicBezTo>
                <a:lnTo>
                  <a:pt x="91197" y="277933"/>
                </a:lnTo>
                <a:cubicBezTo>
                  <a:pt x="75020" y="277933"/>
                  <a:pt x="61395" y="266859"/>
                  <a:pt x="57541" y="251877"/>
                </a:cubicBezTo>
                <a:cubicBezTo>
                  <a:pt x="57161" y="251877"/>
                  <a:pt x="56835" y="251877"/>
                  <a:pt x="56455" y="251877"/>
                </a:cubicBezTo>
                <a:cubicBezTo>
                  <a:pt x="32462" y="251877"/>
                  <a:pt x="13028" y="232443"/>
                  <a:pt x="13028" y="208450"/>
                </a:cubicBezTo>
                <a:cubicBezTo>
                  <a:pt x="13028" y="198679"/>
                  <a:pt x="16285" y="189668"/>
                  <a:pt x="21714" y="182394"/>
                </a:cubicBezTo>
                <a:cubicBezTo>
                  <a:pt x="11182" y="174468"/>
                  <a:pt x="4343" y="161874"/>
                  <a:pt x="4343" y="147652"/>
                </a:cubicBezTo>
                <a:cubicBezTo>
                  <a:pt x="4343" y="130878"/>
                  <a:pt x="13897" y="116276"/>
                  <a:pt x="27793" y="109056"/>
                </a:cubicBezTo>
                <a:cubicBezTo>
                  <a:pt x="23939" y="102542"/>
                  <a:pt x="21714" y="94942"/>
                  <a:pt x="21714" y="86854"/>
                </a:cubicBezTo>
                <a:cubicBezTo>
                  <a:pt x="21714" y="62861"/>
                  <a:pt x="41147" y="43427"/>
                  <a:pt x="65141" y="43427"/>
                </a:cubicBezTo>
                <a:lnTo>
                  <a:pt x="65141" y="30399"/>
                </a:lnTo>
                <a:close/>
                <a:moveTo>
                  <a:pt x="212793" y="30399"/>
                </a:moveTo>
                <a:lnTo>
                  <a:pt x="212793" y="43427"/>
                </a:lnTo>
                <a:cubicBezTo>
                  <a:pt x="236786" y="43427"/>
                  <a:pt x="256220" y="62861"/>
                  <a:pt x="256220" y="86854"/>
                </a:cubicBezTo>
                <a:cubicBezTo>
                  <a:pt x="256220" y="94997"/>
                  <a:pt x="253994" y="102596"/>
                  <a:pt x="250140" y="109056"/>
                </a:cubicBezTo>
                <a:cubicBezTo>
                  <a:pt x="264091" y="116276"/>
                  <a:pt x="273590" y="130824"/>
                  <a:pt x="273590" y="147652"/>
                </a:cubicBezTo>
                <a:cubicBezTo>
                  <a:pt x="273590" y="161874"/>
                  <a:pt x="266751" y="174468"/>
                  <a:pt x="256220" y="182394"/>
                </a:cubicBezTo>
                <a:cubicBezTo>
                  <a:pt x="261648" y="189668"/>
                  <a:pt x="264905" y="198679"/>
                  <a:pt x="264905" y="208450"/>
                </a:cubicBezTo>
                <a:cubicBezTo>
                  <a:pt x="264905" y="232443"/>
                  <a:pt x="245471" y="251877"/>
                  <a:pt x="221478" y="251877"/>
                </a:cubicBezTo>
                <a:cubicBezTo>
                  <a:pt x="221098" y="251877"/>
                  <a:pt x="220772" y="251877"/>
                  <a:pt x="220392" y="251877"/>
                </a:cubicBezTo>
                <a:cubicBezTo>
                  <a:pt x="216538" y="266859"/>
                  <a:pt x="202913" y="277933"/>
                  <a:pt x="186736" y="277933"/>
                </a:cubicBezTo>
                <a:lnTo>
                  <a:pt x="169366" y="277933"/>
                </a:lnTo>
                <a:cubicBezTo>
                  <a:pt x="159757" y="277933"/>
                  <a:pt x="151995" y="270171"/>
                  <a:pt x="151995" y="260562"/>
                </a:cubicBezTo>
                <a:lnTo>
                  <a:pt x="151995" y="17371"/>
                </a:lnTo>
                <a:cubicBezTo>
                  <a:pt x="151995" y="7763"/>
                  <a:pt x="159757" y="0"/>
                  <a:pt x="169366" y="0"/>
                </a:cubicBezTo>
                <a:lnTo>
                  <a:pt x="182394" y="0"/>
                </a:lnTo>
                <a:cubicBezTo>
                  <a:pt x="199167" y="0"/>
                  <a:pt x="212793" y="13625"/>
                  <a:pt x="212793" y="30399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2" name="Text 9"/>
          <p:cNvSpPr/>
          <p:nvPr/>
        </p:nvSpPr>
        <p:spPr>
          <a:xfrm>
            <a:off x="2832791" y="5905338"/>
            <a:ext cx="2181590" cy="300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2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架构理解</a:t>
            </a:r>
            <a:endParaRPr lang="en-US" sz="1856" dirty="0"/>
          </a:p>
        </p:txBody>
      </p:sp>
      <p:sp>
        <p:nvSpPr>
          <p:cNvPr id="13" name="Text 10"/>
          <p:cNvSpPr/>
          <p:nvPr/>
        </p:nvSpPr>
        <p:spPr>
          <a:xfrm>
            <a:off x="2838166" y="6249234"/>
            <a:ext cx="2170843" cy="515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掌握Transformer核心组件</a:t>
            </a:r>
            <a:endParaRPr lang="en-US" sz="1856" dirty="0"/>
          </a:p>
        </p:txBody>
      </p:sp>
      <p:sp>
        <p:nvSpPr>
          <p:cNvPr id="14" name="Shape 11"/>
          <p:cNvSpPr/>
          <p:nvPr/>
        </p:nvSpPr>
        <p:spPr>
          <a:xfrm>
            <a:off x="5460371" y="5239039"/>
            <a:ext cx="2536232" cy="1740973"/>
          </a:xfrm>
          <a:custGeom>
            <a:avLst/>
            <a:gdLst/>
            <a:ahLst/>
            <a:cxnLst/>
            <a:rect l="l" t="t" r="r" b="b"/>
            <a:pathLst>
              <a:path w="2186407" h="1500839">
                <a:moveTo>
                  <a:pt x="37058" y="0"/>
                </a:moveTo>
                <a:lnTo>
                  <a:pt x="2112296" y="0"/>
                </a:lnTo>
                <a:cubicBezTo>
                  <a:pt x="2153226" y="0"/>
                  <a:pt x="2186407" y="33181"/>
                  <a:pt x="2186407" y="74111"/>
                </a:cubicBezTo>
                <a:lnTo>
                  <a:pt x="2186407" y="1426727"/>
                </a:lnTo>
                <a:cubicBezTo>
                  <a:pt x="2186407" y="1467658"/>
                  <a:pt x="2153226" y="1500839"/>
                  <a:pt x="2112296" y="1500839"/>
                </a:cubicBezTo>
                <a:lnTo>
                  <a:pt x="37058" y="1500839"/>
                </a:lnTo>
                <a:cubicBezTo>
                  <a:pt x="16591" y="1500839"/>
                  <a:pt x="0" y="1484248"/>
                  <a:pt x="0" y="146378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5460371" y="5239039"/>
            <a:ext cx="42987" cy="1740973"/>
          </a:xfrm>
          <a:custGeom>
            <a:avLst/>
            <a:gdLst/>
            <a:ahLst/>
            <a:cxnLst/>
            <a:rect l="l" t="t" r="r" b="b"/>
            <a:pathLst>
              <a:path w="37058" h="1500839">
                <a:moveTo>
                  <a:pt x="37058" y="0"/>
                </a:moveTo>
                <a:lnTo>
                  <a:pt x="37058" y="0"/>
                </a:lnTo>
                <a:lnTo>
                  <a:pt x="37058" y="1500839"/>
                </a:lnTo>
                <a:lnTo>
                  <a:pt x="37058" y="1500839"/>
                </a:lnTo>
                <a:cubicBezTo>
                  <a:pt x="16591" y="1500839"/>
                  <a:pt x="0" y="1484248"/>
                  <a:pt x="0" y="146378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6" name="Shape 13"/>
          <p:cNvSpPr/>
          <p:nvPr/>
        </p:nvSpPr>
        <p:spPr>
          <a:xfrm>
            <a:off x="6580720" y="5453974"/>
            <a:ext cx="322402" cy="322402"/>
          </a:xfrm>
          <a:custGeom>
            <a:avLst/>
            <a:gdLst/>
            <a:ahLst/>
            <a:cxnLst/>
            <a:rect l="l" t="t" r="r" b="b"/>
            <a:pathLst>
              <a:path w="277933" h="277933">
                <a:moveTo>
                  <a:pt x="0" y="138967"/>
                </a:moveTo>
                <a:cubicBezTo>
                  <a:pt x="0" y="62269"/>
                  <a:pt x="62269" y="0"/>
                  <a:pt x="138967" y="0"/>
                </a:cubicBezTo>
                <a:cubicBezTo>
                  <a:pt x="215664" y="0"/>
                  <a:pt x="277933" y="62269"/>
                  <a:pt x="277933" y="138967"/>
                </a:cubicBezTo>
                <a:cubicBezTo>
                  <a:pt x="277933" y="215664"/>
                  <a:pt x="215664" y="277933"/>
                  <a:pt x="138967" y="277933"/>
                </a:cubicBezTo>
                <a:cubicBezTo>
                  <a:pt x="62269" y="277933"/>
                  <a:pt x="0" y="215664"/>
                  <a:pt x="0" y="138967"/>
                </a:cubicBezTo>
                <a:close/>
                <a:moveTo>
                  <a:pt x="156337" y="52112"/>
                </a:moveTo>
                <a:cubicBezTo>
                  <a:pt x="156337" y="42525"/>
                  <a:pt x="148554" y="34742"/>
                  <a:pt x="138967" y="34742"/>
                </a:cubicBezTo>
                <a:cubicBezTo>
                  <a:pt x="129379" y="34742"/>
                  <a:pt x="121596" y="42525"/>
                  <a:pt x="121596" y="52112"/>
                </a:cubicBezTo>
                <a:cubicBezTo>
                  <a:pt x="121596" y="61700"/>
                  <a:pt x="129379" y="69483"/>
                  <a:pt x="138967" y="69483"/>
                </a:cubicBezTo>
                <a:cubicBezTo>
                  <a:pt x="148554" y="69483"/>
                  <a:pt x="156337" y="61700"/>
                  <a:pt x="156337" y="52112"/>
                </a:cubicBezTo>
                <a:close/>
                <a:moveTo>
                  <a:pt x="138967" y="225821"/>
                </a:moveTo>
                <a:cubicBezTo>
                  <a:pt x="158129" y="225821"/>
                  <a:pt x="173708" y="210241"/>
                  <a:pt x="173708" y="191079"/>
                </a:cubicBezTo>
                <a:cubicBezTo>
                  <a:pt x="173708" y="182285"/>
                  <a:pt x="170451" y="174197"/>
                  <a:pt x="165023" y="168117"/>
                </a:cubicBezTo>
                <a:lnTo>
                  <a:pt x="202750" y="92717"/>
                </a:lnTo>
                <a:cubicBezTo>
                  <a:pt x="205953" y="86257"/>
                  <a:pt x="203347" y="78440"/>
                  <a:pt x="196942" y="75237"/>
                </a:cubicBezTo>
                <a:cubicBezTo>
                  <a:pt x="190536" y="72035"/>
                  <a:pt x="182665" y="74640"/>
                  <a:pt x="179462" y="81046"/>
                </a:cubicBezTo>
                <a:lnTo>
                  <a:pt x="141735" y="156446"/>
                </a:lnTo>
                <a:cubicBezTo>
                  <a:pt x="140812" y="156392"/>
                  <a:pt x="139889" y="156337"/>
                  <a:pt x="138967" y="156337"/>
                </a:cubicBezTo>
                <a:cubicBezTo>
                  <a:pt x="119804" y="156337"/>
                  <a:pt x="104225" y="171917"/>
                  <a:pt x="104225" y="191079"/>
                </a:cubicBezTo>
                <a:cubicBezTo>
                  <a:pt x="104225" y="210241"/>
                  <a:pt x="119804" y="225821"/>
                  <a:pt x="138967" y="225821"/>
                </a:cubicBezTo>
                <a:close/>
                <a:moveTo>
                  <a:pt x="95540" y="78169"/>
                </a:moveTo>
                <a:cubicBezTo>
                  <a:pt x="95540" y="68581"/>
                  <a:pt x="87756" y="60798"/>
                  <a:pt x="78169" y="60798"/>
                </a:cubicBezTo>
                <a:cubicBezTo>
                  <a:pt x="68581" y="60798"/>
                  <a:pt x="60798" y="68581"/>
                  <a:pt x="60798" y="78169"/>
                </a:cubicBezTo>
                <a:cubicBezTo>
                  <a:pt x="60798" y="87756"/>
                  <a:pt x="68581" y="95540"/>
                  <a:pt x="78169" y="95540"/>
                </a:cubicBezTo>
                <a:cubicBezTo>
                  <a:pt x="87756" y="95540"/>
                  <a:pt x="95540" y="87756"/>
                  <a:pt x="95540" y="78169"/>
                </a:cubicBezTo>
                <a:close/>
                <a:moveTo>
                  <a:pt x="52112" y="156337"/>
                </a:moveTo>
                <a:cubicBezTo>
                  <a:pt x="61700" y="156337"/>
                  <a:pt x="69483" y="148554"/>
                  <a:pt x="69483" y="138967"/>
                </a:cubicBezTo>
                <a:cubicBezTo>
                  <a:pt x="69483" y="129379"/>
                  <a:pt x="61700" y="121596"/>
                  <a:pt x="52112" y="121596"/>
                </a:cubicBezTo>
                <a:cubicBezTo>
                  <a:pt x="42525" y="121596"/>
                  <a:pt x="34742" y="129379"/>
                  <a:pt x="34742" y="138967"/>
                </a:cubicBezTo>
                <a:cubicBezTo>
                  <a:pt x="34742" y="148554"/>
                  <a:pt x="42525" y="156337"/>
                  <a:pt x="52112" y="156337"/>
                </a:cubicBezTo>
                <a:close/>
                <a:moveTo>
                  <a:pt x="243191" y="138967"/>
                </a:moveTo>
                <a:cubicBezTo>
                  <a:pt x="243191" y="129379"/>
                  <a:pt x="235408" y="121596"/>
                  <a:pt x="225821" y="121596"/>
                </a:cubicBezTo>
                <a:cubicBezTo>
                  <a:pt x="216233" y="121596"/>
                  <a:pt x="208450" y="129379"/>
                  <a:pt x="208450" y="138967"/>
                </a:cubicBezTo>
                <a:cubicBezTo>
                  <a:pt x="208450" y="148554"/>
                  <a:pt x="216233" y="156337"/>
                  <a:pt x="225821" y="156337"/>
                </a:cubicBezTo>
                <a:cubicBezTo>
                  <a:pt x="235408" y="156337"/>
                  <a:pt x="243191" y="148554"/>
                  <a:pt x="243191" y="138967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17" name="Text 14"/>
          <p:cNvSpPr/>
          <p:nvPr/>
        </p:nvSpPr>
        <p:spPr>
          <a:xfrm>
            <a:off x="5648440" y="5905338"/>
            <a:ext cx="2181590" cy="300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2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阶段特性</a:t>
            </a:r>
            <a:endParaRPr lang="en-US" sz="1856" dirty="0"/>
          </a:p>
        </p:txBody>
      </p:sp>
      <p:sp>
        <p:nvSpPr>
          <p:cNvPr id="18" name="Text 15"/>
          <p:cNvSpPr/>
          <p:nvPr/>
        </p:nvSpPr>
        <p:spPr>
          <a:xfrm>
            <a:off x="5653813" y="6249234"/>
            <a:ext cx="2170843" cy="2579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Prefill vs Decode差异</a:t>
            </a:r>
            <a:endParaRPr lang="en-US" sz="1856" dirty="0"/>
          </a:p>
        </p:txBody>
      </p:sp>
      <p:sp>
        <p:nvSpPr>
          <p:cNvPr id="19" name="Shape 16"/>
          <p:cNvSpPr/>
          <p:nvPr/>
        </p:nvSpPr>
        <p:spPr>
          <a:xfrm>
            <a:off x="8276019" y="5239039"/>
            <a:ext cx="2536232" cy="1740973"/>
          </a:xfrm>
          <a:custGeom>
            <a:avLst/>
            <a:gdLst/>
            <a:ahLst/>
            <a:cxnLst/>
            <a:rect l="l" t="t" r="r" b="b"/>
            <a:pathLst>
              <a:path w="2186407" h="1500839">
                <a:moveTo>
                  <a:pt x="37058" y="0"/>
                </a:moveTo>
                <a:lnTo>
                  <a:pt x="2112296" y="0"/>
                </a:lnTo>
                <a:cubicBezTo>
                  <a:pt x="2153226" y="0"/>
                  <a:pt x="2186407" y="33181"/>
                  <a:pt x="2186407" y="74111"/>
                </a:cubicBezTo>
                <a:lnTo>
                  <a:pt x="2186407" y="1426727"/>
                </a:lnTo>
                <a:cubicBezTo>
                  <a:pt x="2186407" y="1467658"/>
                  <a:pt x="2153226" y="1500839"/>
                  <a:pt x="2112296" y="1500839"/>
                </a:cubicBezTo>
                <a:lnTo>
                  <a:pt x="37058" y="1500839"/>
                </a:lnTo>
                <a:cubicBezTo>
                  <a:pt x="16591" y="1500839"/>
                  <a:pt x="0" y="1484248"/>
                  <a:pt x="0" y="146378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8276019" y="5239039"/>
            <a:ext cx="42987" cy="1740973"/>
          </a:xfrm>
          <a:custGeom>
            <a:avLst/>
            <a:gdLst/>
            <a:ahLst/>
            <a:cxnLst/>
            <a:rect l="l" t="t" r="r" b="b"/>
            <a:pathLst>
              <a:path w="37058" h="1500839">
                <a:moveTo>
                  <a:pt x="37058" y="0"/>
                </a:moveTo>
                <a:lnTo>
                  <a:pt x="37058" y="0"/>
                </a:lnTo>
                <a:lnTo>
                  <a:pt x="37058" y="1500839"/>
                </a:lnTo>
                <a:lnTo>
                  <a:pt x="37058" y="1500839"/>
                </a:lnTo>
                <a:cubicBezTo>
                  <a:pt x="16591" y="1500839"/>
                  <a:pt x="0" y="1484248"/>
                  <a:pt x="0" y="146378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1" name="Shape 18"/>
          <p:cNvSpPr/>
          <p:nvPr/>
        </p:nvSpPr>
        <p:spPr>
          <a:xfrm>
            <a:off x="9396368" y="5453974"/>
            <a:ext cx="322402" cy="322402"/>
          </a:xfrm>
          <a:custGeom>
            <a:avLst/>
            <a:gdLst/>
            <a:ahLst/>
            <a:cxnLst/>
            <a:rect l="l" t="t" r="r" b="b"/>
            <a:pathLst>
              <a:path w="277933" h="277933">
                <a:moveTo>
                  <a:pt x="69483" y="173708"/>
                </a:moveTo>
                <a:lnTo>
                  <a:pt x="13300" y="173708"/>
                </a:lnTo>
                <a:cubicBezTo>
                  <a:pt x="-217" y="173708"/>
                  <a:pt x="-8523" y="158997"/>
                  <a:pt x="-1574" y="147381"/>
                </a:cubicBezTo>
                <a:lnTo>
                  <a:pt x="27142" y="99502"/>
                </a:lnTo>
                <a:cubicBezTo>
                  <a:pt x="31865" y="91631"/>
                  <a:pt x="40333" y="86854"/>
                  <a:pt x="49507" y="86854"/>
                </a:cubicBezTo>
                <a:lnTo>
                  <a:pt x="101076" y="86854"/>
                </a:lnTo>
                <a:cubicBezTo>
                  <a:pt x="142386" y="16882"/>
                  <a:pt x="203999" y="13354"/>
                  <a:pt x="245200" y="19379"/>
                </a:cubicBezTo>
                <a:cubicBezTo>
                  <a:pt x="252148" y="20411"/>
                  <a:pt x="257577" y="25839"/>
                  <a:pt x="258554" y="32733"/>
                </a:cubicBezTo>
                <a:cubicBezTo>
                  <a:pt x="264579" y="73935"/>
                  <a:pt x="261051" y="135547"/>
                  <a:pt x="191079" y="176857"/>
                </a:cubicBezTo>
                <a:lnTo>
                  <a:pt x="191079" y="228426"/>
                </a:lnTo>
                <a:cubicBezTo>
                  <a:pt x="191079" y="237600"/>
                  <a:pt x="186302" y="246069"/>
                  <a:pt x="178431" y="250791"/>
                </a:cubicBezTo>
                <a:lnTo>
                  <a:pt x="130553" y="279507"/>
                </a:lnTo>
                <a:cubicBezTo>
                  <a:pt x="118990" y="286456"/>
                  <a:pt x="104225" y="278096"/>
                  <a:pt x="104225" y="264634"/>
                </a:cubicBezTo>
                <a:lnTo>
                  <a:pt x="104225" y="208450"/>
                </a:lnTo>
                <a:cubicBezTo>
                  <a:pt x="104225" y="189288"/>
                  <a:pt x="88645" y="173708"/>
                  <a:pt x="69483" y="173708"/>
                </a:cubicBezTo>
                <a:lnTo>
                  <a:pt x="69429" y="173708"/>
                </a:lnTo>
                <a:close/>
                <a:moveTo>
                  <a:pt x="217135" y="86854"/>
                </a:moveTo>
                <a:cubicBezTo>
                  <a:pt x="217135" y="72473"/>
                  <a:pt x="205460" y="60798"/>
                  <a:pt x="191079" y="60798"/>
                </a:cubicBezTo>
                <a:cubicBezTo>
                  <a:pt x="176698" y="60798"/>
                  <a:pt x="165023" y="72473"/>
                  <a:pt x="165023" y="86854"/>
                </a:cubicBezTo>
                <a:cubicBezTo>
                  <a:pt x="165023" y="101235"/>
                  <a:pt x="176698" y="112910"/>
                  <a:pt x="191079" y="112910"/>
                </a:cubicBezTo>
                <a:cubicBezTo>
                  <a:pt x="205460" y="112910"/>
                  <a:pt x="217135" y="101235"/>
                  <a:pt x="217135" y="86854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2" name="Text 19"/>
          <p:cNvSpPr/>
          <p:nvPr/>
        </p:nvSpPr>
        <p:spPr>
          <a:xfrm>
            <a:off x="8464088" y="5905338"/>
            <a:ext cx="2181590" cy="300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2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迁移部署</a:t>
            </a:r>
            <a:endParaRPr lang="en-US" sz="1856" dirty="0"/>
          </a:p>
        </p:txBody>
      </p:sp>
      <p:sp>
        <p:nvSpPr>
          <p:cNvPr id="23" name="Text 20"/>
          <p:cNvSpPr/>
          <p:nvPr/>
        </p:nvSpPr>
        <p:spPr>
          <a:xfrm>
            <a:off x="8469461" y="6249234"/>
            <a:ext cx="2170843" cy="2579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快速适配新模型</a:t>
            </a:r>
            <a:endParaRPr lang="en-US" sz="1856" dirty="0"/>
          </a:p>
        </p:txBody>
      </p:sp>
      <p:sp>
        <p:nvSpPr>
          <p:cNvPr id="24" name="Shape 21"/>
          <p:cNvSpPr/>
          <p:nvPr/>
        </p:nvSpPr>
        <p:spPr>
          <a:xfrm>
            <a:off x="11091668" y="5239039"/>
            <a:ext cx="2536232" cy="1740973"/>
          </a:xfrm>
          <a:custGeom>
            <a:avLst/>
            <a:gdLst/>
            <a:ahLst/>
            <a:cxnLst/>
            <a:rect l="l" t="t" r="r" b="b"/>
            <a:pathLst>
              <a:path w="2186407" h="1500839">
                <a:moveTo>
                  <a:pt x="37058" y="0"/>
                </a:moveTo>
                <a:lnTo>
                  <a:pt x="2112296" y="0"/>
                </a:lnTo>
                <a:cubicBezTo>
                  <a:pt x="2153226" y="0"/>
                  <a:pt x="2186407" y="33181"/>
                  <a:pt x="2186407" y="74111"/>
                </a:cubicBezTo>
                <a:lnTo>
                  <a:pt x="2186407" y="1426727"/>
                </a:lnTo>
                <a:cubicBezTo>
                  <a:pt x="2186407" y="1467658"/>
                  <a:pt x="2153226" y="1500839"/>
                  <a:pt x="2112296" y="1500839"/>
                </a:cubicBezTo>
                <a:lnTo>
                  <a:pt x="37058" y="1500839"/>
                </a:lnTo>
                <a:cubicBezTo>
                  <a:pt x="16591" y="1500839"/>
                  <a:pt x="0" y="1484248"/>
                  <a:pt x="0" y="146378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11091668" y="5239039"/>
            <a:ext cx="42987" cy="1740973"/>
          </a:xfrm>
          <a:custGeom>
            <a:avLst/>
            <a:gdLst/>
            <a:ahLst/>
            <a:cxnLst/>
            <a:rect l="l" t="t" r="r" b="b"/>
            <a:pathLst>
              <a:path w="37058" h="1500839">
                <a:moveTo>
                  <a:pt x="37058" y="0"/>
                </a:moveTo>
                <a:lnTo>
                  <a:pt x="37058" y="0"/>
                </a:lnTo>
                <a:lnTo>
                  <a:pt x="37058" y="1500839"/>
                </a:lnTo>
                <a:lnTo>
                  <a:pt x="37058" y="1500839"/>
                </a:lnTo>
                <a:cubicBezTo>
                  <a:pt x="16591" y="1500839"/>
                  <a:pt x="0" y="1484248"/>
                  <a:pt x="0" y="146378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6" name="Shape 23"/>
          <p:cNvSpPr/>
          <p:nvPr/>
        </p:nvSpPr>
        <p:spPr>
          <a:xfrm>
            <a:off x="12212015" y="5453974"/>
            <a:ext cx="322402" cy="322402"/>
          </a:xfrm>
          <a:custGeom>
            <a:avLst/>
            <a:gdLst/>
            <a:ahLst/>
            <a:cxnLst/>
            <a:rect l="l" t="t" r="r" b="b"/>
            <a:pathLst>
              <a:path w="277933" h="277933">
                <a:moveTo>
                  <a:pt x="225821" y="112910"/>
                </a:moveTo>
                <a:cubicBezTo>
                  <a:pt x="225821" y="137827"/>
                  <a:pt x="217732" y="160843"/>
                  <a:pt x="204107" y="179517"/>
                </a:cubicBezTo>
                <a:lnTo>
                  <a:pt x="272830" y="248294"/>
                </a:lnTo>
                <a:cubicBezTo>
                  <a:pt x="279616" y="255080"/>
                  <a:pt x="279616" y="266099"/>
                  <a:pt x="272830" y="272885"/>
                </a:cubicBezTo>
                <a:cubicBezTo>
                  <a:pt x="266045" y="279670"/>
                  <a:pt x="255025" y="279670"/>
                  <a:pt x="248240" y="272885"/>
                </a:cubicBezTo>
                <a:lnTo>
                  <a:pt x="179517" y="204107"/>
                </a:lnTo>
                <a:cubicBezTo>
                  <a:pt x="160843" y="217732"/>
                  <a:pt x="137827" y="225821"/>
                  <a:pt x="112910" y="225821"/>
                </a:cubicBezTo>
                <a:cubicBezTo>
                  <a:pt x="50538" y="225821"/>
                  <a:pt x="0" y="175282"/>
                  <a:pt x="0" y="112910"/>
                </a:cubicBezTo>
                <a:cubicBezTo>
                  <a:pt x="0" y="50538"/>
                  <a:pt x="50538" y="0"/>
                  <a:pt x="112910" y="0"/>
                </a:cubicBezTo>
                <a:cubicBezTo>
                  <a:pt x="175282" y="0"/>
                  <a:pt x="225821" y="50538"/>
                  <a:pt x="225821" y="112910"/>
                </a:cubicBezTo>
                <a:close/>
                <a:moveTo>
                  <a:pt x="112910" y="191079"/>
                </a:moveTo>
                <a:cubicBezTo>
                  <a:pt x="156053" y="191079"/>
                  <a:pt x="191079" y="156053"/>
                  <a:pt x="191079" y="112910"/>
                </a:cubicBezTo>
                <a:cubicBezTo>
                  <a:pt x="191079" y="69768"/>
                  <a:pt x="156053" y="34742"/>
                  <a:pt x="112910" y="34742"/>
                </a:cubicBezTo>
                <a:cubicBezTo>
                  <a:pt x="69768" y="34742"/>
                  <a:pt x="34742" y="69768"/>
                  <a:pt x="34742" y="112910"/>
                </a:cubicBezTo>
                <a:cubicBezTo>
                  <a:pt x="34742" y="156053"/>
                  <a:pt x="69768" y="191079"/>
                  <a:pt x="112910" y="191079"/>
                </a:cubicBezTo>
                <a:close/>
              </a:path>
            </a:pathLst>
          </a:custGeom>
          <a:solidFill>
            <a:srgbClr val="333333"/>
          </a:solidFill>
        </p:spPr>
      </p:sp>
      <p:sp>
        <p:nvSpPr>
          <p:cNvPr id="27" name="Text 24"/>
          <p:cNvSpPr/>
          <p:nvPr/>
        </p:nvSpPr>
        <p:spPr>
          <a:xfrm>
            <a:off x="11279735" y="5905338"/>
            <a:ext cx="2181590" cy="300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25" b="1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瓶颈分析</a:t>
            </a:r>
            <a:endParaRPr lang="en-US" sz="1856" dirty="0"/>
          </a:p>
        </p:txBody>
      </p:sp>
      <p:sp>
        <p:nvSpPr>
          <p:cNvPr id="28" name="Text 25"/>
          <p:cNvSpPr/>
          <p:nvPr/>
        </p:nvSpPr>
        <p:spPr>
          <a:xfrm>
            <a:off x="11285109" y="6249234"/>
            <a:ext cx="2170843" cy="2579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1" dirty="0">
                <a:solidFill>
                  <a:srgbClr val="7F7F7F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系统化性能优化</a:t>
            </a:r>
            <a:endParaRPr lang="en-US" sz="1856" dirty="0"/>
          </a:p>
        </p:txBody>
      </p:sp>
      <p:sp>
        <p:nvSpPr>
          <p:cNvPr id="29" name="Text 26"/>
          <p:cNvSpPr/>
          <p:nvPr/>
        </p:nvSpPr>
        <p:spPr>
          <a:xfrm>
            <a:off x="7093877" y="7409883"/>
            <a:ext cx="2063376" cy="300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25" dirty="0">
                <a:solidFill>
                  <a:srgbClr val="333333"/>
                </a:solidFill>
                <a:latin typeface="MiSans" panose="020B0503020204020204" charset="-122"/>
                <a:ea typeface="MiSans" panose="020B0503020204020204" charset="-122"/>
                <a:cs typeface="MiSans" panose="020B0503020204020204" charset="-122"/>
              </a:rPr>
              <a:t>感谢观看 | Thank You</a:t>
            </a:r>
            <a:endParaRPr lang="en-US" sz="1856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5068" y="456692"/>
            <a:ext cx="2353437" cy="2640711"/>
          </a:xfrm>
          <a:prstGeom prst="rect">
            <a:avLst/>
          </a:prstGeom>
        </p:spPr>
      </p:pic>
      <p:sp>
        <p:nvSpPr>
          <p:cNvPr id="31" name="Footer Link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dirty="0"/>
          </a:p>
        </p:txBody>
      </p:sp>
      <p:sp>
        <p:nvSpPr>
          <p:cNvPr id="32" name="Footer Page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dirty="0"/>
          </a:p>
        </p:txBody>
      </p:sp>
      <p:pic>
        <p:nvPicPr>
          <p:cNvPr id="33" name="CANN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2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3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4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5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6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7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8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9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10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11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12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13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14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15.xml><?xml version="1.0" encoding="utf-8"?>
<p:tagLst xmlns:p="http://schemas.openxmlformats.org/presentationml/2006/main">
  <p:tag name="KSO_WM_DIAGRAM_VIRTUALLY_FRAME" val="{&quot;height&quot;:103.49999999999996,&quot;left&quot;:31.5,&quot;top&quot;:367.0312598425197,&quot;width&quot;:625.6406299212598}"/>
</p:tagLst>
</file>

<file path=ppt/tags/tag16.xml><?xml version="1.0" encoding="utf-8"?>
<p:tagLst xmlns:p="http://schemas.openxmlformats.org/presentationml/2006/main">
  <p:tag name="KSO_WM_DIAGRAM_VIRTUALLY_FRAME" val="{&quot;height&quot;:103.49999999999996,&quot;left&quot;:190.50582677165355,&quot;top&quot;:367.0312598425197,&quot;width&quot;:298.50590551181097}"/>
</p:tagLst>
</file>

<file path=ppt/tags/tag17.xml><?xml version="1.0" encoding="utf-8"?>
<p:tagLst xmlns:p="http://schemas.openxmlformats.org/presentationml/2006/main">
  <p:tag name="KSO_WM_DIAGRAM_VIRTUALLY_FRAME" val="{&quot;height&quot;:103.49999999999996,&quot;left&quot;:190.50582677165355,&quot;top&quot;:367.0312598425197,&quot;width&quot;:298.50590551181097}"/>
</p:tagLst>
</file>

<file path=ppt/tags/tag18.xml><?xml version="1.0" encoding="utf-8"?>
<p:tagLst xmlns:p="http://schemas.openxmlformats.org/presentationml/2006/main">
  <p:tag name="KSO_WM_DIAGRAM_VIRTUALLY_FRAME" val="{&quot;height&quot;:103.49999999999996,&quot;left&quot;:190.50582677165355,&quot;top&quot;:367.0312598425197,&quot;width&quot;:298.50590551181097}"/>
</p:tagLst>
</file>

<file path=ppt/tags/tag19.xml><?xml version="1.0" encoding="utf-8"?>
<p:tagLst xmlns:p="http://schemas.openxmlformats.org/presentationml/2006/main">
  <p:tag name="KSO_WM_DIAGRAM_VIRTUALLY_FRAME" val="{&quot;height&quot;:103.49999999999996,&quot;left&quot;:190.50582677165355,&quot;top&quot;:367.0312598425197,&quot;width&quot;:298.50590551181097}"/>
</p:tagLst>
</file>

<file path=ppt/tags/tag20.xml><?xml version="1.0" encoding="utf-8"?>
<p:tagLst xmlns:p="http://schemas.openxmlformats.org/presentationml/2006/main">
  <p:tag name="KSO_WM_DIAGRAM_VIRTUALLY_FRAME" val="{&quot;height&quot;:103.49999999999996,&quot;left&quot;:190.50582677165355,&quot;top&quot;:367.0312598425197,&quot;width&quot;:298.50590551181097}"/>
</p:tagLst>
</file>

<file path=ppt/tags/tag21.xml><?xml version="1.0" encoding="utf-8"?>
<p:tagLst xmlns:p="http://schemas.openxmlformats.org/presentationml/2006/main">
  <p:tag name="KSO_WM_DIAGRAM_VIRTUALLY_FRAME" val="{&quot;height&quot;:103.49999999999996,&quot;left&quot;:190.50582677165355,&quot;top&quot;:367.0312598425197,&quot;width&quot;:298.50590551181097}"/>
</p:tagLst>
</file>

<file path=ppt/tags/tag22.xml><?xml version="1.0" encoding="utf-8"?>
<p:tagLst xmlns:p="http://schemas.openxmlformats.org/presentationml/2006/main">
  <p:tag name="KSO_WM_DIAGRAM_VIRTUALLY_FRAME" val="{&quot;height&quot;:103.49999999999996,&quot;left&quot;:190.50582677165355,&quot;top&quot;:367.0312598425197,&quot;width&quot;:298.50590551181097}"/>
</p:tagLst>
</file>

<file path=ppt/tags/tag23.xml><?xml version="1.0" encoding="utf-8"?>
<p:tagLst xmlns:p="http://schemas.openxmlformats.org/presentationml/2006/main">
  <p:tag name="KSO_WM_DIAGRAM_VIRTUALLY_FRAME" val="{&quot;height&quot;:103.49999999999996,&quot;left&quot;:190.50582677165355,&quot;top&quot;:367.0312598425197,&quot;width&quot;:298.50590551181097}"/>
</p:tagLst>
</file>

<file path=ppt/tags/tag24.xml><?xml version="1.0" encoding="utf-8"?>
<p:tagLst xmlns:p="http://schemas.openxmlformats.org/presentationml/2006/main">
  <p:tag name="KSO_WM_DIAGRAM_VIRTUALLY_FRAME" val="{&quot;height&quot;:103.49999999999996,&quot;left&quot;:190.50582677165355,&quot;top&quot;:367.0312598425197,&quot;width&quot;:298.50590551181097}"/>
</p:tagLst>
</file>

<file path=ppt/tags/tag25.xml><?xml version="1.0" encoding="utf-8"?>
<p:tagLst xmlns:p="http://schemas.openxmlformats.org/presentationml/2006/main">
  <p:tag name="KSO_WM_DIAGRAM_VIRTUALLY_FRAME" val="{&quot;height&quot;:103.49999999999996,&quot;left&quot;:190.50582677165355,&quot;top&quot;:367.0312598425197,&quot;width&quot;:298.50590551181097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6973</Words>
  <Application>WPS 演示</Application>
  <PresentationFormat>On-screen Show (16:9)</PresentationFormat>
  <Paragraphs>837</Paragraphs>
  <Slides>18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思源宋体</vt:lpstr>
      <vt:lpstr>思源宋体</vt:lpstr>
      <vt:lpstr>MiSans</vt:lpstr>
      <vt:lpstr>MiSans</vt:lpstr>
      <vt:lpstr>微软雅黑</vt:lpstr>
      <vt:lpstr>Calibri</vt:lpstr>
      <vt:lpstr>Arial Unicode MS</vt:lpstr>
      <vt:lpstr>等线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大模型推理优化基础介绍</dc:title>
  <dc:creator>Kimi</dc:creator>
  <dc:subject>大模型推理优化基础介绍</dc:subject>
  <cp:lastModifiedBy>刁莹煜</cp:lastModifiedBy>
  <cp:revision>70</cp:revision>
  <dcterms:created xsi:type="dcterms:W3CDTF">2026-03-30T08:10:00Z</dcterms:created>
  <dcterms:modified xsi:type="dcterms:W3CDTF">2026-04-16T13:53:05Z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大模型推理优化基础介绍","ContentProducer":"001191110108MACG2KBH8F10000","ProduceID":"19d3db04-e2c2-8248-8000-0000b817c9bb","ReservedCode1":"","ContentPropagator":"001191110108MACG2KBH8F20000","PropagateID":"19d3db04-e2c2-8248-8000-0000b817c9bb","ReservedCode2":""}</vt:lpwstr>
  </property>
  <property fmtid="{D5CDD505-2E9C-101B-9397-08002B2CF9AE}" pid="3" name="KSOProductBuildVer">
    <vt:lpwstr>2052-12.1.0.25865</vt:lpwstr>
  </property>
  <property fmtid="{D5CDD505-2E9C-101B-9397-08002B2CF9AE}" pid="4" name="ICV">
    <vt:lpwstr>26B4026330174328A1EFFC5AF08B5A27_12</vt:lpwstr>
  </property>
</Properties>
</file>