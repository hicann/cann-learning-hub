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3" r:id="rId9"/>
    <p:sldId id="266" r:id="rId10"/>
    <p:sldId id="303" r:id="rId11"/>
    <p:sldId id="268" r:id="rId12"/>
    <p:sldId id="305" r:id="rId13"/>
    <p:sldId id="304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  <p:sldId id="285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8" r:id="rId35"/>
    <p:sldId id="301" r:id="rId36"/>
  </p:sldIdLst>
  <p:sldSz cx="16256000" cy="9144000"/>
  <p:notesSz cx="6858000" cy="9144000"/>
  <p:embeddedFontLst>
    <p:embeddedFont>
      <p:font typeface="MiSans" charset="-122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  <p:embeddedFont>
      <p:font typeface="Liter" panose="02000503030000020004"/>
      <p:regular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按时间线展示量化算法的发展：RTN → GPTQ → AWQ → SmoothQuant → QuaRot。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量化带来的收益与代价之间的权衡，不同场景下的策略选择。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量化带来的收益与代价之间的权衡，不同场景下的策略选择。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量化带来的收益与代价之间的权衡，不同场景下的策略选择。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按时间线展示量化算法的发展：RTN → GPTQ → AWQ → SmoothQuant → QuaRot。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介绍FP8/MXFP8/W4A16等新兴低比特格式及其硬件支持现状。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量化带来的收益与代价之间的权衡，不同场景下的策略选择。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量化带来的收益与代价之间的权衡，不同场景下的策略选择。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展示cann-recipes-infer中量化产物的运行路径：Linear → MoE GMM → KV Cache。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介绍FP8/MXFP8/W4A16等新兴低比特格式及其硬件支持现状。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介绍FP8/MXFP8/W4A16等新兴低比特格式及其硬件支持现状。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介绍FP8/MXFP8/W4A16等新兴低比特格式及其硬件支持现状。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展示cann-recipes-infer中量化产物的运行路径：Linear → MoE GMM → KV Cache。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介绍FP8/MXFP8/W4A16等新兴低比特格式及其硬件支持现状。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量化带来的收益与代价之间的权衡，不同场景下的策略选择。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量化带来的收益与代价之间的权衡，不同场景下的策略选择。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hyperlink" Target="https://gitcode.com/cann/cann-recipes-inf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1447800" y="2032000"/>
            <a:ext cx="114300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8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多模生成场景推理优化</a:t>
            </a:r>
            <a:endParaRPr sz="48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1562100" y="3937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HunyuanVideo 开箱性能</a:t>
            </a:r>
            <a:endParaRPr sz="22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562100" y="44450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从热点定位到并行、Cache、量化与稀疏</a:t>
            </a:r>
            <a:endParaRPr sz="22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13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目录</a:t>
            </a:r>
            <a:endParaRPr sz="3200"/>
          </a:p>
        </p:txBody>
      </p:sp>
      <p:cxnSp>
        <p:nvCxnSpPr>
          <p:cNvPr id="26" name="Shape 1"/>
          <p:cNvCxnSpPr/>
          <p:nvPr/>
        </p:nvCxnSpPr>
        <p:spPr>
          <a:xfrm>
            <a:off x="762000" y="1270000"/>
            <a:ext cx="14732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olid"/>
            <a:headEnd type="none"/>
            <a:tailEnd type="none"/>
          </a:ln>
        </p:spPr>
      </p:cxnSp>
      <p:sp>
        <p:nvSpPr>
          <p:cNvPr id="4" name="Text 2"/>
          <p:cNvSpPr>
            <a:spLocks noGrp="1"/>
          </p:cNvSpPr>
          <p:nvPr/>
        </p:nvSpPr>
        <p:spPr>
          <a:xfrm>
            <a:off x="1016000" y="1651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endParaRPr sz="40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2032000" y="1651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背景</a:t>
            </a: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与</a:t>
            </a: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优化总览</a:t>
            </a:r>
            <a:endParaRPr sz="22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2032000" y="20574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推理主流程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636000" y="1651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40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9652000" y="1651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序列并行</a:t>
            </a:r>
            <a:endParaRPr sz="22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652000" y="20574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扩算力、Ulysses/Ring、UAA 与 VAE 并行</a:t>
            </a:r>
            <a:endParaRPr sz="1600">
              <a:solidFill>
                <a:srgbClr val="7F7F7F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16000" y="2667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40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2032000" y="2667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DiT Cache</a:t>
            </a:r>
            <a:endParaRPr sz="22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2032000" y="30734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FBCache、TeaCache 与 TaylorSeer</a:t>
            </a:r>
            <a:endParaRPr sz="16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636000" y="2667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endParaRPr sz="40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9652000" y="2667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低精度量化</a:t>
            </a:r>
            <a:endParaRPr sz="22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652000" y="30734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FA FP8、MXFP8 与 950PR 实测</a:t>
            </a:r>
            <a:endParaRPr sz="16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16000" y="3683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05</a:t>
            </a:r>
            <a:endParaRPr sz="40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2032000" y="3683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稀疏 Attention 与总结</a:t>
            </a:r>
            <a:endParaRPr sz="2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2032000" y="40894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TopK、SVG、组合策略与性能总表</a:t>
            </a:r>
            <a:endParaRPr sz="16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</a:t>
            </a:r>
            <a:endParaRPr sz="1300"/>
          </a:p>
        </p:txBody>
      </p:sp>
      <p:pic>
        <p:nvPicPr>
          <p:cNvPr id="4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96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endParaRPr sz="9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开箱性能与热点</a:t>
            </a:r>
            <a:endParaRPr sz="4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20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先定位 HunyuanVideo 的端到端瓶颈</a:t>
            </a:r>
            <a:endParaRPr sz="20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130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HunyuanVideo 推理主流程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生成一段视频，需要重复执行长序列 DiT 并最终完成 VAE 解码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36600" y="1993895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271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15621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文本编码</a:t>
            </a:r>
            <a:endParaRPr sz="18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00100" y="2602518"/>
            <a:ext cx="3352800" cy="10641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将 prompt 编码为条件特征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供 DiT 交叉注意力使用</a:t>
            </a:r>
            <a:endParaRPr sz="1600"/>
          </a:p>
        </p:txBody>
      </p:sp>
      <p:cxnSp>
        <p:nvCxnSpPr>
          <p:cNvPr id="128" name="Shape 6"/>
          <p:cNvCxnSpPr/>
          <p:nvPr/>
        </p:nvCxnSpPr>
        <p:spPr>
          <a:xfrm>
            <a:off x="4229100" y="3073394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10" name="Shape 7"/>
          <p:cNvSpPr>
            <a:spLocks noGrp="1"/>
          </p:cNvSpPr>
          <p:nvPr/>
        </p:nvSpPr>
        <p:spPr>
          <a:xfrm>
            <a:off x="4356100" y="297179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4483100" y="1993893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46736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2</a:t>
            </a:r>
            <a:endParaRPr sz="24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3086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Latent 初始化</a:t>
            </a:r>
            <a:endParaRPr sz="18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4673600" y="2628894"/>
            <a:ext cx="3048000" cy="11738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创建视频噪声 latent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确定时空尺寸</a:t>
            </a:r>
            <a:endParaRPr sz="1600"/>
          </a:p>
        </p:txBody>
      </p:sp>
      <p:cxnSp>
        <p:nvCxnSpPr>
          <p:cNvPr id="134" name="Shape 12"/>
          <p:cNvCxnSpPr/>
          <p:nvPr/>
        </p:nvCxnSpPr>
        <p:spPr>
          <a:xfrm>
            <a:off x="7975600" y="3073394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16" name="Shape 13"/>
          <p:cNvSpPr>
            <a:spLocks noGrp="1"/>
          </p:cNvSpPr>
          <p:nvPr/>
        </p:nvSpPr>
        <p:spPr>
          <a:xfrm>
            <a:off x="8102600" y="297179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8229600" y="1993895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84201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3</a:t>
            </a:r>
            <a:endParaRPr sz="24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90551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DiT 多步去噪</a:t>
            </a:r>
            <a:endParaRPr sz="18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8420100" y="2628894"/>
            <a:ext cx="3111500" cy="907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Attention 与 Linear 反复前向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累计完成 50 step</a:t>
            </a:r>
            <a:endParaRPr sz="1600"/>
          </a:p>
        </p:txBody>
      </p:sp>
      <p:cxnSp>
        <p:nvCxnSpPr>
          <p:cNvPr id="140" name="Shape 18"/>
          <p:cNvCxnSpPr/>
          <p:nvPr/>
        </p:nvCxnSpPr>
        <p:spPr>
          <a:xfrm>
            <a:off x="11722100" y="3073394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22" name="Shape 19"/>
          <p:cNvSpPr>
            <a:spLocks noGrp="1"/>
          </p:cNvSpPr>
          <p:nvPr/>
        </p:nvSpPr>
        <p:spPr>
          <a:xfrm>
            <a:off x="11849100" y="297179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23" name="Shape 20"/>
          <p:cNvSpPr>
            <a:spLocks noGrp="1"/>
          </p:cNvSpPr>
          <p:nvPr/>
        </p:nvSpPr>
        <p:spPr>
          <a:xfrm>
            <a:off x="11976100" y="1993894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21666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endParaRPr sz="24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128016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VAE 解码</a:t>
            </a:r>
            <a:endParaRPr sz="1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12166600" y="2628894"/>
            <a:ext cx="3048000" cy="12845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将 latent 还原为视频帧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卷积处理时空信息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62000" y="7492999"/>
            <a:ext cx="14732000" cy="5932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优化重点不在一次算子调用，而在长序列与多步迭代叠加后的累计成本。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endParaRPr sz="1300"/>
          </a:p>
        </p:txBody>
      </p:sp>
      <p:pic>
        <p:nvPicPr>
          <p:cNvPr id="1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45" name="Shape 2"/>
          <p:cNvSpPr>
            <a:spLocks noGrp="1"/>
          </p:cNvSpPr>
          <p:nvPr/>
        </p:nvSpPr>
        <p:spPr>
          <a:xfrm>
            <a:off x="749300" y="4760684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3"/>
          <p:cNvSpPr>
            <a:spLocks noGrp="1"/>
          </p:cNvSpPr>
          <p:nvPr/>
        </p:nvSpPr>
        <p:spPr>
          <a:xfrm>
            <a:off x="9398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5</a:t>
            </a:r>
            <a:endParaRPr sz="2400"/>
          </a:p>
        </p:txBody>
      </p:sp>
      <p:sp>
        <p:nvSpPr>
          <p:cNvPr id="52" name="Text 4"/>
          <p:cNvSpPr>
            <a:spLocks noGrp="1"/>
          </p:cNvSpPr>
          <p:nvPr/>
        </p:nvSpPr>
        <p:spPr>
          <a:xfrm>
            <a:off x="15748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保存视频</a:t>
            </a:r>
            <a:endParaRPr sz="1800"/>
          </a:p>
        </p:txBody>
      </p:sp>
      <p:sp>
        <p:nvSpPr>
          <p:cNvPr id="53" name="Text 5"/>
          <p:cNvSpPr>
            <a:spLocks noGrp="1"/>
          </p:cNvSpPr>
          <p:nvPr/>
        </p:nvSpPr>
        <p:spPr>
          <a:xfrm>
            <a:off x="812800" y="5369307"/>
            <a:ext cx="3352800" cy="10641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整理帧序列与编码结果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600"/>
              <a:t>写入最终视频文件</a:t>
            </a:r>
            <a:endParaRPr sz="1600"/>
          </a:p>
        </p:txBody>
      </p:sp>
      <p:cxnSp>
        <p:nvCxnSpPr>
          <p:cNvPr id="155" name="Shape 6"/>
          <p:cNvCxnSpPr/>
          <p:nvPr/>
        </p:nvCxnSpPr>
        <p:spPr>
          <a:xfrm>
            <a:off x="4241800" y="5840183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55" name="Shape 7"/>
          <p:cNvSpPr>
            <a:spLocks noGrp="1"/>
          </p:cNvSpPr>
          <p:nvPr/>
        </p:nvSpPr>
        <p:spPr>
          <a:xfrm>
            <a:off x="4368800" y="573858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56" name="Shape 8"/>
          <p:cNvSpPr>
            <a:spLocks noGrp="1"/>
          </p:cNvSpPr>
          <p:nvPr/>
        </p:nvSpPr>
        <p:spPr>
          <a:xfrm>
            <a:off x="4495800" y="4760682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9"/>
          <p:cNvSpPr>
            <a:spLocks noGrp="1"/>
          </p:cNvSpPr>
          <p:nvPr/>
        </p:nvSpPr>
        <p:spPr>
          <a:xfrm>
            <a:off x="46863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6</a:t>
            </a:r>
            <a:endParaRPr sz="2400"/>
          </a:p>
        </p:txBody>
      </p:sp>
      <p:sp>
        <p:nvSpPr>
          <p:cNvPr id="58" name="Text 10"/>
          <p:cNvSpPr>
            <a:spLocks noGrp="1"/>
          </p:cNvSpPr>
          <p:nvPr/>
        </p:nvSpPr>
        <p:spPr>
          <a:xfrm>
            <a:off x="53213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720×1280×129</a:t>
            </a:r>
            <a:endParaRPr sz="1800"/>
          </a:p>
        </p:txBody>
      </p:sp>
      <p:sp>
        <p:nvSpPr>
          <p:cNvPr id="59" name="Text 11"/>
          <p:cNvSpPr>
            <a:spLocks noGrp="1"/>
          </p:cNvSpPr>
          <p:nvPr/>
        </p:nvSpPr>
        <p:spPr>
          <a:xfrm>
            <a:off x="4686300" y="5395683"/>
            <a:ext cx="3048000" cy="10377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默认大规格视频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时间与空间维度同时展开</a:t>
            </a:r>
            <a:endParaRPr sz="1600"/>
          </a:p>
        </p:txBody>
      </p:sp>
      <p:cxnSp>
        <p:nvCxnSpPr>
          <p:cNvPr id="161" name="Shape 12"/>
          <p:cNvCxnSpPr/>
          <p:nvPr/>
        </p:nvCxnSpPr>
        <p:spPr>
          <a:xfrm>
            <a:off x="7988300" y="5840183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61" name="Shape 13"/>
          <p:cNvSpPr>
            <a:spLocks noGrp="1"/>
          </p:cNvSpPr>
          <p:nvPr/>
        </p:nvSpPr>
        <p:spPr>
          <a:xfrm>
            <a:off x="8115300" y="573858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62" name="Shape 14"/>
          <p:cNvSpPr>
            <a:spLocks noGrp="1"/>
          </p:cNvSpPr>
          <p:nvPr/>
        </p:nvSpPr>
        <p:spPr>
          <a:xfrm>
            <a:off x="8242300" y="4760684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Text 15"/>
          <p:cNvSpPr>
            <a:spLocks noGrp="1"/>
          </p:cNvSpPr>
          <p:nvPr/>
        </p:nvSpPr>
        <p:spPr>
          <a:xfrm>
            <a:off x="84328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7</a:t>
            </a:r>
            <a:endParaRPr sz="2400"/>
          </a:p>
        </p:txBody>
      </p:sp>
      <p:sp>
        <p:nvSpPr>
          <p:cNvPr id="64" name="Text 16"/>
          <p:cNvSpPr>
            <a:spLocks noGrp="1"/>
          </p:cNvSpPr>
          <p:nvPr/>
        </p:nvSpPr>
        <p:spPr>
          <a:xfrm>
            <a:off x="90678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约 119K token</a:t>
            </a:r>
            <a:endParaRPr sz="1800"/>
          </a:p>
        </p:txBody>
      </p:sp>
      <p:sp>
        <p:nvSpPr>
          <p:cNvPr id="65" name="Text 17"/>
          <p:cNvSpPr>
            <a:spLocks noGrp="1"/>
          </p:cNvSpPr>
          <p:nvPr/>
        </p:nvSpPr>
        <p:spPr>
          <a:xfrm>
            <a:off x="8432800" y="5395683"/>
            <a:ext cx="3111500" cy="907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DiT 序列极长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Full Attention 成本陡增</a:t>
            </a:r>
            <a:endParaRPr sz="1600"/>
          </a:p>
        </p:txBody>
      </p:sp>
      <p:cxnSp>
        <p:nvCxnSpPr>
          <p:cNvPr id="167" name="Shape 18"/>
          <p:cNvCxnSpPr/>
          <p:nvPr/>
        </p:nvCxnSpPr>
        <p:spPr>
          <a:xfrm>
            <a:off x="11734800" y="5840183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67" name="Shape 19"/>
          <p:cNvSpPr>
            <a:spLocks noGrp="1"/>
          </p:cNvSpPr>
          <p:nvPr/>
        </p:nvSpPr>
        <p:spPr>
          <a:xfrm>
            <a:off x="11861800" y="573858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68" name="Shape 20"/>
          <p:cNvSpPr>
            <a:spLocks noGrp="1"/>
          </p:cNvSpPr>
          <p:nvPr/>
        </p:nvSpPr>
        <p:spPr>
          <a:xfrm>
            <a:off x="11988800" y="4760683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Text 21"/>
          <p:cNvSpPr>
            <a:spLocks noGrp="1"/>
          </p:cNvSpPr>
          <p:nvPr/>
        </p:nvSpPr>
        <p:spPr>
          <a:xfrm>
            <a:off x="121793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8</a:t>
            </a:r>
            <a:endParaRPr sz="2400"/>
          </a:p>
        </p:txBody>
      </p:sp>
      <p:sp>
        <p:nvSpPr>
          <p:cNvPr id="70" name="Text 22"/>
          <p:cNvSpPr>
            <a:spLocks noGrp="1"/>
          </p:cNvSpPr>
          <p:nvPr/>
        </p:nvSpPr>
        <p:spPr>
          <a:xfrm>
            <a:off x="128143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重复 50 次</a:t>
            </a:r>
            <a:endParaRPr sz="1800"/>
          </a:p>
        </p:txBody>
      </p:sp>
      <p:sp>
        <p:nvSpPr>
          <p:cNvPr id="71" name="Text 23"/>
          <p:cNvSpPr>
            <a:spLocks noGrp="1"/>
          </p:cNvSpPr>
          <p:nvPr/>
        </p:nvSpPr>
        <p:spPr>
          <a:xfrm>
            <a:off x="12179300" y="5395683"/>
            <a:ext cx="3048000" cy="12845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同一套 DiT block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在去噪循环中持续执行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72" name="Text 1"/>
          <p:cNvSpPr>
            <a:spLocks noGrp="1"/>
          </p:cNvSpPr>
          <p:nvPr/>
        </p:nvSpPr>
        <p:spPr>
          <a:xfrm>
            <a:off x="762000" y="1511294"/>
            <a:ext cx="3429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核心执行链路</a:t>
            </a:r>
            <a:endParaRPr sz="2400" b="1"/>
          </a:p>
        </p:txBody>
      </p:sp>
      <p:sp>
        <p:nvSpPr>
          <p:cNvPr id="73" name="Text 1"/>
          <p:cNvSpPr>
            <a:spLocks noGrp="1"/>
          </p:cNvSpPr>
          <p:nvPr/>
        </p:nvSpPr>
        <p:spPr>
          <a:xfrm>
            <a:off x="723900" y="4265385"/>
            <a:ext cx="3429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默认规格与循环特征</a:t>
            </a:r>
            <a:endParaRPr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119K 序列与 50 次前向叠加放大成本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50000"/>
              </a:lnSpc>
              <a:buNone/>
            </a:pPr>
            <a:r>
              <a:rPr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单次长序列 Attention 已经昂贵，多步去噪又将相同成本反复累积</a:t>
            </a:r>
            <a:endParaRPr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序列长度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3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≈119K</a:t>
            </a:r>
            <a:endParaRPr sz="3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1016000" y="2946400"/>
            <a:ext cx="3175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时空 token 同时展开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Attention 矩阵快速膨胀</a:t>
            </a:r>
            <a:endParaRPr sz="1600"/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显存压力同步上升</a:t>
            </a:r>
            <a:endParaRPr sz="1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45085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4762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2705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迭代次数</a:t>
            </a:r>
            <a:endParaRPr sz="2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47625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50 Steps</a:t>
            </a:r>
            <a:endParaRPr sz="28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47625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DiT 主干重复执行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任何单步优化都会被放大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Cache 可减少完整前向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82550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8509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70AD47"/>
          </a:solidFill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90170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热点集中</a:t>
            </a:r>
            <a:endParaRPr sz="20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85090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85% Attention</a:t>
            </a:r>
            <a:endParaRPr sz="24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85090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算子级耗时高度集中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适合做专项优化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收益易传导到端到端</a:t>
            </a:r>
            <a:endParaRPr sz="160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120015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12255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ED7D3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127635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优化机会</a:t>
            </a:r>
            <a:endParaRPr sz="20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122555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Parallel + Reduce</a:t>
            </a:r>
            <a:endParaRPr sz="24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22555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/>
              <a:t>并行分摊超长序列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量化降低带宽与算力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稀疏跳过低贡献块</a:t>
            </a:r>
            <a:endParaRPr sz="16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704850" y="4954847"/>
            <a:ext cx="14732000" cy="1070066"/>
          </a:xfrm>
          <a:prstGeom prst="roundRect">
            <a:avLst>
              <a:gd name="adj" fmla="val 4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958850" y="5107247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51863" y="247650"/>
                </a:moveTo>
                <a:cubicBezTo>
                  <a:pt x="258141" y="233268"/>
                  <a:pt x="270695" y="220241"/>
                  <a:pt x="284883" y="209019"/>
                </a:cubicBezTo>
                <a:cubicBezTo>
                  <a:pt x="313002" y="186834"/>
                  <a:pt x="330200" y="156845"/>
                  <a:pt x="330200" y="123825"/>
                </a:cubicBezTo>
                <a:cubicBezTo>
                  <a:pt x="330200" y="55463"/>
                  <a:pt x="256249" y="0"/>
                  <a:pt x="165100" y="0"/>
                </a:cubicBezTo>
                <a:cubicBezTo>
                  <a:pt x="73951" y="0"/>
                  <a:pt x="0" y="55463"/>
                  <a:pt x="0" y="123825"/>
                </a:cubicBezTo>
                <a:cubicBezTo>
                  <a:pt x="0" y="156845"/>
                  <a:pt x="17198" y="186834"/>
                  <a:pt x="45317" y="209019"/>
                </a:cubicBezTo>
                <a:cubicBezTo>
                  <a:pt x="59505" y="220241"/>
                  <a:pt x="72145" y="233268"/>
                  <a:pt x="78337" y="247650"/>
                </a:cubicBezTo>
                <a:lnTo>
                  <a:pt x="251777" y="247650"/>
                </a:lnTo>
                <a:close/>
                <a:moveTo>
                  <a:pt x="247650" y="278606"/>
                </a:moveTo>
                <a:lnTo>
                  <a:pt x="82550" y="278606"/>
                </a:lnTo>
                <a:lnTo>
                  <a:pt x="82550" y="288925"/>
                </a:lnTo>
                <a:cubicBezTo>
                  <a:pt x="82550" y="317431"/>
                  <a:pt x="113334" y="340519"/>
                  <a:pt x="151342" y="340519"/>
                </a:cubicBezTo>
                <a:lnTo>
                  <a:pt x="178858" y="340519"/>
                </a:lnTo>
                <a:cubicBezTo>
                  <a:pt x="216866" y="340519"/>
                  <a:pt x="247650" y="317431"/>
                  <a:pt x="247650" y="288925"/>
                </a:cubicBezTo>
                <a:lnTo>
                  <a:pt x="247650" y="278606"/>
                </a:lnTo>
                <a:close/>
                <a:moveTo>
                  <a:pt x="158221" y="72231"/>
                </a:moveTo>
                <a:cubicBezTo>
                  <a:pt x="123997" y="72231"/>
                  <a:pt x="96308" y="92998"/>
                  <a:pt x="96308" y="118666"/>
                </a:cubicBezTo>
                <a:cubicBezTo>
                  <a:pt x="96308" y="127243"/>
                  <a:pt x="87107" y="134144"/>
                  <a:pt x="75671" y="134144"/>
                </a:cubicBezTo>
                <a:cubicBezTo>
                  <a:pt x="64234" y="134144"/>
                  <a:pt x="55033" y="127243"/>
                  <a:pt x="55033" y="118666"/>
                </a:cubicBezTo>
                <a:cubicBezTo>
                  <a:pt x="55033" y="75907"/>
                  <a:pt x="101210" y="41275"/>
                  <a:pt x="158221" y="41275"/>
                </a:cubicBezTo>
                <a:cubicBezTo>
                  <a:pt x="169657" y="41275"/>
                  <a:pt x="178858" y="48176"/>
                  <a:pt x="178858" y="56753"/>
                </a:cubicBezTo>
                <a:cubicBezTo>
                  <a:pt x="178858" y="65331"/>
                  <a:pt x="169657" y="72231"/>
                  <a:pt x="158221" y="7223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1460500" y="5109201"/>
            <a:ext cx="14795500" cy="63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结论：先扩展可用算力，再减少每一步真正需要执行的计算量。</a:t>
            </a:r>
            <a:endParaRPr sz="2000" b="1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762000" y="6665686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8</a:t>
            </a:r>
            <a:endParaRPr sz="1300"/>
          </a:p>
        </p:txBody>
      </p:sp>
      <p:pic>
        <p:nvPicPr>
          <p:cNvPr id="6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33" name="Text 17"/>
          <p:cNvSpPr>
            <a:spLocks noGrp="1"/>
          </p:cNvSpPr>
          <p:nvPr/>
        </p:nvSpPr>
        <p:spPr>
          <a:xfrm>
            <a:off x="670560" y="6937466"/>
            <a:ext cx="14914880" cy="980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后续方案都围绕 Attention 与 DiT 重复前向展开。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五类方案分别作用于不同瓶颈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选择方案前，需要明确它改变的是资源分配还是实际计算量</a:t>
            </a:r>
            <a:endParaRPr sz="1800"/>
          </a:p>
        </p:txBody>
      </p:sp>
      <p:graphicFrame>
        <p:nvGraphicFramePr>
          <p:cNvPr id="17" name="Table 0"/>
          <p:cNvGraphicFramePr/>
          <p:nvPr/>
        </p:nvGraphicFramePr>
        <p:xfrm>
          <a:off x="762000" y="1651000"/>
          <a:ext cx="14732000" cy="4191000"/>
        </p:xfrm>
        <a:graphic>
          <a:graphicData uri="http://schemas.openxmlformats.org/drawingml/2006/table">
            <a:tbl>
              <a:tblPr/>
              <a:tblGrid>
                <a:gridCol w="2209800"/>
                <a:gridCol w="3683000"/>
                <a:gridCol w="4419600"/>
                <a:gridCol w="4419600"/>
              </a:tblGrid>
              <a:tr h="544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方案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优化方向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核心机制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主要收益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F7F7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序列并行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增加算力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切分 token，通信恢复语义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DiT 计算/显存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VAE 并行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增加算力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空间切分与边界补偿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解码时延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DiT Cache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减少计算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复用或预测相邻 step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减少完整前向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0AD47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量化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减少计算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低精度表示热点张量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带宽/MatMul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ED7D3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稀疏 Attention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减少计算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仅计算高贡献 block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长序列 Attention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>
            <a:spLocks noGrp="1"/>
          </p:cNvSpPr>
          <p:nvPr/>
        </p:nvSpPr>
        <p:spPr>
          <a:xfrm>
            <a:off x="762000" y="61595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3"/>
          <p:cNvSpPr>
            <a:spLocks noGrp="1"/>
          </p:cNvSpPr>
          <p:nvPr/>
        </p:nvSpPr>
        <p:spPr>
          <a:xfrm>
            <a:off x="1016000" y="632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8" name="Text 4"/>
          <p:cNvSpPr>
            <a:spLocks noGrp="1"/>
          </p:cNvSpPr>
          <p:nvPr/>
        </p:nvSpPr>
        <p:spPr>
          <a:xfrm>
            <a:off x="1460500" y="6223000"/>
            <a:ext cx="13779500" cy="63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组合思路：并行搭骨架，Cache/量化/稀疏压缩骨架上的有效开销</a:t>
            </a:r>
            <a:endParaRPr sz="1800"/>
          </a:p>
        </p:txBody>
      </p:sp>
      <p:sp>
        <p:nvSpPr>
          <p:cNvPr id="9" name="Shape 5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0" name="Text 6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单一方案很难同时解决显存、时延和通信问题。</a:t>
            </a:r>
            <a:endParaRPr sz="16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11</a:t>
            </a:r>
            <a:endParaRPr sz="13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96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9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序列并行</a:t>
            </a:r>
            <a:endParaRPr sz="4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20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扩展算力与压缩开销需要组合使用</a:t>
            </a:r>
            <a:endParaRPr sz="20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130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Ulysses</a:t>
            </a:r>
            <a:r>
              <a:rPr 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lang="zh-CN" alt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序列</a:t>
            </a:r>
            <a:r>
              <a:rPr lang="zh-CN" alt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并行</a:t>
            </a:r>
            <a:endParaRPr lang="zh-CN" altLang="en-US" sz="3200" b="1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74420" y="1554480"/>
            <a:ext cx="6477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在 head 维度做并行</a:t>
            </a:r>
            <a:endParaRPr sz="18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Attention 前后执行 all-to-all</a:t>
            </a:r>
            <a:r>
              <a:rPr lang="zh-CN"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，从切分序列长度转为切分</a:t>
            </a:r>
            <a:r>
              <a:rPr lang="en-US" altLang="zh-CN"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head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受 head 数整除约束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通信集中但实现成熟</a:t>
            </a:r>
            <a:endParaRPr sz="1800"/>
          </a:p>
        </p:txBody>
      </p:sp>
      <p:sp>
        <p:nvSpPr>
          <p:cNvPr id="15" name="Shape 11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6" name="Text 12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转为切</a:t>
            </a:r>
            <a:r>
              <a:rPr lang="en-US" altLang="zh-CN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head</a:t>
            </a:r>
            <a:r>
              <a:rPr lang="zh-CN" altLang="en-US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，获得完整的序列</a:t>
            </a:r>
            <a:r>
              <a:rPr lang="zh-CN" altLang="en-US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长度</a:t>
            </a:r>
            <a:endParaRPr lang="zh-CN" altLang="en-US"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13</a:t>
            </a:r>
            <a:endParaRPr sz="13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56" y="3896414"/>
            <a:ext cx="15490328" cy="15020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Ring </a:t>
            </a:r>
            <a:r>
              <a:rPr 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Attention </a:t>
            </a:r>
            <a:r>
              <a:rPr lang="zh-CN" alt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序列</a:t>
            </a:r>
            <a:r>
              <a:rPr lang="zh-CN" alt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并行</a:t>
            </a:r>
            <a:endParaRPr lang="zh-CN" altLang="en-US" sz="3200" b="1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928370" y="1291590"/>
            <a:ext cx="6477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</a:t>
            </a:r>
            <a:r>
              <a:rPr lang="en-US"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lang="zh-CN" altLang="en-US"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轮询交换</a:t>
            </a:r>
            <a:r>
              <a:rPr lang="en-US" altLang="zh-CN"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kv</a:t>
            </a:r>
            <a:r>
              <a:rPr lang="zh-CN" altLang="en-US"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块</a:t>
            </a:r>
            <a:endParaRPr lang="zh-CN" altLang="en-US" sz="18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5" name="Shape 11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6" name="Text 12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转为切</a:t>
            </a:r>
            <a:r>
              <a:rPr lang="en-US" altLang="zh-CN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head</a:t>
            </a:r>
            <a:r>
              <a:rPr lang="zh-CN" altLang="en-US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，获得完整的序列</a:t>
            </a:r>
            <a:r>
              <a:rPr lang="zh-CN" altLang="en-US"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长度</a:t>
            </a:r>
            <a:endParaRPr lang="zh-CN" altLang="en-US"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13</a:t>
            </a:r>
            <a:endParaRPr sz="13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115" y="1988820"/>
            <a:ext cx="12891770" cy="4839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Ulysses 与 Ring 分别切分 head 和序列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混合并行在全局 all-to-all 压力与环形通信之间取得平衡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6985000" cy="2667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7118" y="13811"/>
                </a:moveTo>
                <a:cubicBezTo>
                  <a:pt x="213889" y="3889"/>
                  <a:pt x="192405" y="3889"/>
                  <a:pt x="179176" y="13811"/>
                </a:cubicBezTo>
                <a:lnTo>
                  <a:pt x="9843" y="140811"/>
                </a:lnTo>
                <a:cubicBezTo>
                  <a:pt x="-3387" y="150733"/>
                  <a:pt x="-3387" y="166846"/>
                  <a:pt x="9843" y="176768"/>
                </a:cubicBezTo>
                <a:cubicBezTo>
                  <a:pt x="23072" y="186690"/>
                  <a:pt x="44556" y="186690"/>
                  <a:pt x="57785" y="176768"/>
                </a:cubicBezTo>
                <a:lnTo>
                  <a:pt x="169333" y="93107"/>
                </a:lnTo>
                <a:lnTo>
                  <a:pt x="169333" y="387350"/>
                </a:lnTo>
                <a:cubicBezTo>
                  <a:pt x="169333" y="401399"/>
                  <a:pt x="184468" y="412750"/>
                  <a:pt x="203200" y="412750"/>
                </a:cubicBezTo>
                <a:cubicBezTo>
                  <a:pt x="221932" y="412750"/>
                  <a:pt x="237067" y="401399"/>
                  <a:pt x="237067" y="387350"/>
                </a:cubicBezTo>
                <a:lnTo>
                  <a:pt x="237067" y="93107"/>
                </a:lnTo>
                <a:lnTo>
                  <a:pt x="348615" y="176768"/>
                </a:lnTo>
                <a:cubicBezTo>
                  <a:pt x="361844" y="186690"/>
                  <a:pt x="383328" y="186690"/>
                  <a:pt x="396557" y="176768"/>
                </a:cubicBezTo>
                <a:cubicBezTo>
                  <a:pt x="409787" y="166846"/>
                  <a:pt x="409787" y="150733"/>
                  <a:pt x="396557" y="140811"/>
                </a:cubicBezTo>
                <a:lnTo>
                  <a:pt x="227224" y="13811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Ulysses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13000"/>
            <a:ext cx="6477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在 head 维度做并行</a:t>
            </a:r>
            <a:endParaRPr sz="18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Attention 前后执行 all-to-all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受 head 数整除约束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通信集中但实现成熟</a:t>
            </a:r>
            <a:endParaRPr sz="1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8001000" y="1651000"/>
            <a:ext cx="7493000" cy="2667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8255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9282" y="398939"/>
                </a:moveTo>
                <a:cubicBezTo>
                  <a:pt x="192511" y="408861"/>
                  <a:pt x="213995" y="408861"/>
                  <a:pt x="227224" y="398939"/>
                </a:cubicBezTo>
                <a:lnTo>
                  <a:pt x="396557" y="271939"/>
                </a:lnTo>
                <a:cubicBezTo>
                  <a:pt x="409787" y="262017"/>
                  <a:pt x="409787" y="245904"/>
                  <a:pt x="396557" y="235982"/>
                </a:cubicBezTo>
                <a:cubicBezTo>
                  <a:pt x="383328" y="226060"/>
                  <a:pt x="361844" y="226060"/>
                  <a:pt x="348615" y="235982"/>
                </a:cubicBezTo>
                <a:lnTo>
                  <a:pt x="237067" y="319643"/>
                </a:lnTo>
                <a:lnTo>
                  <a:pt x="237067" y="25400"/>
                </a:lnTo>
                <a:cubicBezTo>
                  <a:pt x="237067" y="11351"/>
                  <a:pt x="221932" y="0"/>
                  <a:pt x="203200" y="0"/>
                </a:cubicBezTo>
                <a:cubicBezTo>
                  <a:pt x="184468" y="0"/>
                  <a:pt x="169333" y="11351"/>
                  <a:pt x="169333" y="25400"/>
                </a:cubicBezTo>
                <a:lnTo>
                  <a:pt x="169333" y="319643"/>
                </a:lnTo>
                <a:lnTo>
                  <a:pt x="57785" y="235982"/>
                </a:lnTo>
                <a:cubicBezTo>
                  <a:pt x="44556" y="226060"/>
                  <a:pt x="23072" y="226060"/>
                  <a:pt x="9842" y="235982"/>
                </a:cubicBezTo>
                <a:cubicBezTo>
                  <a:pt x="-3387" y="245904"/>
                  <a:pt x="-3387" y="262017"/>
                  <a:pt x="9842" y="271939"/>
                </a:cubicBezTo>
                <a:lnTo>
                  <a:pt x="179176" y="39893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8763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RingAttention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8255000" y="2413000"/>
            <a:ext cx="6985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在序列维度交换 K/V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各 rank 环形传递分块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扩展长序列更自然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通信与计算可流水重叠</a:t>
            </a:r>
            <a:endParaRPr sz="1800"/>
          </a:p>
        </p:txBody>
      </p:sp>
      <p:sp>
        <p:nvSpPr>
          <p:cNvPr id="15" name="Shape 11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6" name="Text 12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当纯 Ulysses 受 head 数或 all-to-all 限制时，用 Ring 分担序列维通信。</a:t>
            </a:r>
            <a:endParaRPr sz="16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13</a:t>
            </a:r>
            <a:endParaRPr sz="13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651" y="4350109"/>
            <a:ext cx="8931376" cy="2837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混合并行度必须满足乘积约束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world_size = ulysses_degree × ring_degree</a:t>
            </a:r>
            <a:endParaRPr sz="1800"/>
          </a:p>
        </p:txBody>
      </p:sp>
      <p:graphicFrame>
        <p:nvGraphicFramePr>
          <p:cNvPr id="17" name="Table 0"/>
          <p:cNvGraphicFramePr/>
          <p:nvPr/>
        </p:nvGraphicFramePr>
        <p:xfrm>
          <a:off x="762000" y="1651000"/>
          <a:ext cx="14732000" cy="4191000"/>
        </p:xfrm>
        <a:graphic>
          <a:graphicData uri="http://schemas.openxmlformats.org/drawingml/2006/table">
            <a:tbl>
              <a:tblPr/>
              <a:tblGrid>
                <a:gridCol w="2209800"/>
                <a:gridCol w="3683000"/>
                <a:gridCol w="4419600"/>
                <a:gridCol w="4419600"/>
              </a:tblGrid>
              <a:tr h="544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8 卡组合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Ring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特点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F7F7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8×1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纯 Ulysses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4×2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4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平衡 head/序列通信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2×4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4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降低 all-to-all 压力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0AD47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1×8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纯 Ring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72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ED7D3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硬约束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≤ head_num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整除卡数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乘积等于 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>
            <a:spLocks noGrp="1"/>
          </p:cNvSpPr>
          <p:nvPr/>
        </p:nvSpPr>
        <p:spPr>
          <a:xfrm>
            <a:off x="762000" y="61595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3"/>
          <p:cNvSpPr>
            <a:spLocks noGrp="1"/>
          </p:cNvSpPr>
          <p:nvPr/>
        </p:nvSpPr>
        <p:spPr>
          <a:xfrm>
            <a:off x="1016000" y="632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8" name="Text 4"/>
          <p:cNvSpPr>
            <a:spLocks noGrp="1"/>
          </p:cNvSpPr>
          <p:nvPr/>
        </p:nvSpPr>
        <p:spPr>
          <a:xfrm>
            <a:off x="1460500" y="6223000"/>
            <a:ext cx="13779500" cy="63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选择依据：head 数、序列长度、互联带宽与通信实现</a:t>
            </a:r>
            <a:endParaRPr sz="1800"/>
          </a:p>
        </p:txBody>
      </p:sp>
      <p:sp>
        <p:nvSpPr>
          <p:cNvPr id="9" name="Shape 5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0" name="Text 6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并行度不是越大越好，必须同时满足模型结构和通信拓扑。</a:t>
            </a:r>
            <a:endParaRPr sz="16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14</a:t>
            </a:r>
            <a:endParaRPr sz="13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VAE 并行以空间切分分摊解码压力</a:t>
            </a:r>
            <a:endParaRPr sz="32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17</a:t>
            </a:r>
            <a:endParaRPr sz="13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345" y="982345"/>
            <a:ext cx="9719310" cy="358965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660" y="4800600"/>
            <a:ext cx="10012680" cy="3510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序列并行与 VAE 并行都属于无损优化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正确切分、通信和边界补偿不会改变模型数学计算结果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6985000" cy="2667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7118" y="13811"/>
                </a:moveTo>
                <a:cubicBezTo>
                  <a:pt x="213889" y="3889"/>
                  <a:pt x="192405" y="3889"/>
                  <a:pt x="179176" y="13811"/>
                </a:cubicBezTo>
                <a:lnTo>
                  <a:pt x="9843" y="140811"/>
                </a:lnTo>
                <a:cubicBezTo>
                  <a:pt x="-3387" y="150733"/>
                  <a:pt x="-3387" y="166846"/>
                  <a:pt x="9843" y="176768"/>
                </a:cubicBezTo>
                <a:cubicBezTo>
                  <a:pt x="23072" y="186690"/>
                  <a:pt x="44556" y="186690"/>
                  <a:pt x="57785" y="176768"/>
                </a:cubicBezTo>
                <a:lnTo>
                  <a:pt x="169333" y="93107"/>
                </a:lnTo>
                <a:lnTo>
                  <a:pt x="169333" y="387350"/>
                </a:lnTo>
                <a:cubicBezTo>
                  <a:pt x="169333" y="401399"/>
                  <a:pt x="184468" y="412750"/>
                  <a:pt x="203200" y="412750"/>
                </a:cubicBezTo>
                <a:cubicBezTo>
                  <a:pt x="221932" y="412750"/>
                  <a:pt x="237067" y="401399"/>
                  <a:pt x="237067" y="387350"/>
                </a:cubicBezTo>
                <a:lnTo>
                  <a:pt x="237067" y="93107"/>
                </a:lnTo>
                <a:lnTo>
                  <a:pt x="348615" y="176768"/>
                </a:lnTo>
                <a:cubicBezTo>
                  <a:pt x="361844" y="186690"/>
                  <a:pt x="383328" y="186690"/>
                  <a:pt x="396557" y="176768"/>
                </a:cubicBezTo>
                <a:cubicBezTo>
                  <a:pt x="409787" y="166846"/>
                  <a:pt x="409787" y="150733"/>
                  <a:pt x="396557" y="140811"/>
                </a:cubicBezTo>
                <a:lnTo>
                  <a:pt x="227224" y="13811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序列并行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13000"/>
            <a:ext cx="6477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切分视频 token</a:t>
            </a:r>
            <a:endParaRPr sz="18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Attention 内恢复完整上下文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主要优化 DiT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代价是通信与重排</a:t>
            </a:r>
            <a:endParaRPr sz="1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8001000" y="1651000"/>
            <a:ext cx="7493000" cy="2667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8255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9282" y="398939"/>
                </a:moveTo>
                <a:cubicBezTo>
                  <a:pt x="192511" y="408861"/>
                  <a:pt x="213995" y="408861"/>
                  <a:pt x="227224" y="398939"/>
                </a:cubicBezTo>
                <a:lnTo>
                  <a:pt x="396557" y="271939"/>
                </a:lnTo>
                <a:cubicBezTo>
                  <a:pt x="409787" y="262017"/>
                  <a:pt x="409787" y="245904"/>
                  <a:pt x="396557" y="235982"/>
                </a:cubicBezTo>
                <a:cubicBezTo>
                  <a:pt x="383328" y="226060"/>
                  <a:pt x="361844" y="226060"/>
                  <a:pt x="348615" y="235982"/>
                </a:cubicBezTo>
                <a:lnTo>
                  <a:pt x="237067" y="319643"/>
                </a:lnTo>
                <a:lnTo>
                  <a:pt x="237067" y="25400"/>
                </a:lnTo>
                <a:cubicBezTo>
                  <a:pt x="237067" y="11351"/>
                  <a:pt x="221932" y="0"/>
                  <a:pt x="203200" y="0"/>
                </a:cubicBezTo>
                <a:cubicBezTo>
                  <a:pt x="184468" y="0"/>
                  <a:pt x="169333" y="11351"/>
                  <a:pt x="169333" y="25400"/>
                </a:cubicBezTo>
                <a:lnTo>
                  <a:pt x="169333" y="319643"/>
                </a:lnTo>
                <a:lnTo>
                  <a:pt x="57785" y="235982"/>
                </a:lnTo>
                <a:cubicBezTo>
                  <a:pt x="44556" y="226060"/>
                  <a:pt x="23072" y="226060"/>
                  <a:pt x="9842" y="235982"/>
                </a:cubicBezTo>
                <a:cubicBezTo>
                  <a:pt x="-3387" y="245904"/>
                  <a:pt x="-3387" y="262017"/>
                  <a:pt x="9842" y="271939"/>
                </a:cubicBezTo>
                <a:lnTo>
                  <a:pt x="179176" y="39893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8763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VAE 并行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8255000" y="2413000"/>
            <a:ext cx="6985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切分空间区域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halo 补齐卷积感受野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主要优化解码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代价是边界交换</a:t>
            </a:r>
            <a:endParaRPr sz="18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762000" y="4635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无损优化判定</a:t>
            </a:r>
            <a:endParaRPr sz="2000"/>
          </a:p>
        </p:txBody>
      </p:sp>
      <p:graphicFrame>
        <p:nvGraphicFramePr>
          <p:cNvPr id="32" name="Table 0"/>
          <p:cNvGraphicFramePr/>
          <p:nvPr/>
        </p:nvGraphicFramePr>
        <p:xfrm>
          <a:off x="762000" y="5143500"/>
          <a:ext cx="14732000" cy="1778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7366000"/>
              </a:tblGrid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检查项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序列并行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VAE 并行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语义恢复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完整 Attention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完整感受野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优先验证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通信/布局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边界/拼接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6" name="Text 12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先用无损并行建立性能基线，再叠加有损优化。</a:t>
            </a:r>
            <a:endParaRPr sz="16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18</a:t>
            </a:r>
            <a:endParaRPr sz="13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96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9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DiT Cache</a:t>
            </a:r>
            <a:endParaRPr sz="4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20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利用相邻去噪 step 的连续性减少完整前向</a:t>
            </a:r>
            <a:endParaRPr sz="20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130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相邻去噪 step 的连续性允许复用计算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50000"/>
              </a:lnSpc>
              <a:buNone/>
            </a:pPr>
            <a:r>
              <a:rPr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视频生成不是 50 次彼此独立的前向，相邻状态通常高度相似</a:t>
            </a:r>
            <a:endParaRPr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连续去噪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3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Neighbor Steps</a:t>
            </a:r>
            <a:endParaRPr sz="3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1016000" y="2946400"/>
            <a:ext cx="3175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timestep 连续变化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中间特征具有相似性</a:t>
            </a:r>
            <a:endParaRPr sz="1600"/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为复用提供基础</a:t>
            </a:r>
            <a:endParaRPr sz="1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45085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4762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2705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完整前向昂贵</a:t>
            </a:r>
            <a:endParaRPr sz="2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47625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Full DiT</a:t>
            </a:r>
            <a:endParaRPr sz="28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47625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每个 step 重复所有 block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Attention 与 MLP 成本高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累计时延占主导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82550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8509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70AD47"/>
          </a:solidFill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90170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复用或预测</a:t>
            </a:r>
            <a:endParaRPr sz="20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85090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Reuse / Predict</a:t>
            </a:r>
            <a:endParaRPr sz="24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85090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复用历史残差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或预测当前模块输出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避免重复计算</a:t>
            </a:r>
            <a:endParaRPr sz="160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120015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12255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ED7D3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127635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减少执行次数</a:t>
            </a:r>
            <a:endParaRPr sz="20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122555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Skip Compute</a:t>
            </a:r>
            <a:endParaRPr sz="24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22555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/>
              <a:t>跳过完整 timestep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或跳过层内模块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直接缩短 DiT 时间</a:t>
            </a:r>
            <a:endParaRPr sz="160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762000" y="6665686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20</a:t>
            </a:r>
            <a:endParaRPr sz="1300"/>
          </a:p>
        </p:txBody>
      </p:sp>
      <p:pic>
        <p:nvPicPr>
          <p:cNvPr id="6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33" name="Text 17"/>
          <p:cNvSpPr>
            <a:spLocks noGrp="1"/>
          </p:cNvSpPr>
          <p:nvPr/>
        </p:nvSpPr>
        <p:spPr>
          <a:xfrm>
            <a:off x="670560" y="6937466"/>
            <a:ext cx="14914880" cy="980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不同 Cache 方法的主要差异在触发信号、复用粒度和预测方式。</a:t>
            </a:r>
            <a:endParaRPr sz="1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15" y="4250690"/>
            <a:ext cx="12611735" cy="23545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FBCache 与 TeaCache 都跳过完整 timestep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两者都在判定特征变化足够小时，复用上一轮 DiT 的残差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6985000" cy="2667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7118" y="13811"/>
                </a:moveTo>
                <a:cubicBezTo>
                  <a:pt x="213889" y="3889"/>
                  <a:pt x="192405" y="3889"/>
                  <a:pt x="179176" y="13811"/>
                </a:cubicBezTo>
                <a:lnTo>
                  <a:pt x="9843" y="140811"/>
                </a:lnTo>
                <a:cubicBezTo>
                  <a:pt x="-3387" y="150733"/>
                  <a:pt x="-3387" y="166846"/>
                  <a:pt x="9843" y="176768"/>
                </a:cubicBezTo>
                <a:cubicBezTo>
                  <a:pt x="23072" y="186690"/>
                  <a:pt x="44556" y="186690"/>
                  <a:pt x="57785" y="176768"/>
                </a:cubicBezTo>
                <a:lnTo>
                  <a:pt x="169333" y="93107"/>
                </a:lnTo>
                <a:lnTo>
                  <a:pt x="169333" y="387350"/>
                </a:lnTo>
                <a:cubicBezTo>
                  <a:pt x="169333" y="401399"/>
                  <a:pt x="184468" y="412750"/>
                  <a:pt x="203200" y="412750"/>
                </a:cubicBezTo>
                <a:cubicBezTo>
                  <a:pt x="221932" y="412750"/>
                  <a:pt x="237067" y="401399"/>
                  <a:pt x="237067" y="387350"/>
                </a:cubicBezTo>
                <a:lnTo>
                  <a:pt x="237067" y="93107"/>
                </a:lnTo>
                <a:lnTo>
                  <a:pt x="348615" y="176768"/>
                </a:lnTo>
                <a:cubicBezTo>
                  <a:pt x="361844" y="186690"/>
                  <a:pt x="383328" y="186690"/>
                  <a:pt x="396557" y="176768"/>
                </a:cubicBezTo>
                <a:cubicBezTo>
                  <a:pt x="409787" y="166846"/>
                  <a:pt x="409787" y="150733"/>
                  <a:pt x="396557" y="140811"/>
                </a:cubicBezTo>
                <a:lnTo>
                  <a:pt x="227224" y="13811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FBCache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13000"/>
            <a:ext cx="6477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观察第一个 DiT block 输出</a:t>
            </a:r>
            <a:endParaRPr sz="18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使用相对 L1 差异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低于阈值时复用残差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实现直接、调参直观</a:t>
            </a:r>
            <a:endParaRPr sz="1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8001000" y="1651000"/>
            <a:ext cx="7493000" cy="2667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8255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9282" y="398939"/>
                </a:moveTo>
                <a:cubicBezTo>
                  <a:pt x="192511" y="408861"/>
                  <a:pt x="213995" y="408861"/>
                  <a:pt x="227224" y="398939"/>
                </a:cubicBezTo>
                <a:lnTo>
                  <a:pt x="396557" y="271939"/>
                </a:lnTo>
                <a:cubicBezTo>
                  <a:pt x="409787" y="262017"/>
                  <a:pt x="409787" y="245904"/>
                  <a:pt x="396557" y="235982"/>
                </a:cubicBezTo>
                <a:cubicBezTo>
                  <a:pt x="383328" y="226060"/>
                  <a:pt x="361844" y="226060"/>
                  <a:pt x="348615" y="235982"/>
                </a:cubicBezTo>
                <a:lnTo>
                  <a:pt x="237067" y="319643"/>
                </a:lnTo>
                <a:lnTo>
                  <a:pt x="237067" y="25400"/>
                </a:lnTo>
                <a:cubicBezTo>
                  <a:pt x="237067" y="11351"/>
                  <a:pt x="221932" y="0"/>
                  <a:pt x="203200" y="0"/>
                </a:cubicBezTo>
                <a:cubicBezTo>
                  <a:pt x="184468" y="0"/>
                  <a:pt x="169333" y="11351"/>
                  <a:pt x="169333" y="25400"/>
                </a:cubicBezTo>
                <a:lnTo>
                  <a:pt x="169333" y="319643"/>
                </a:lnTo>
                <a:lnTo>
                  <a:pt x="57785" y="235982"/>
                </a:lnTo>
                <a:cubicBezTo>
                  <a:pt x="44556" y="226060"/>
                  <a:pt x="23072" y="226060"/>
                  <a:pt x="9842" y="235982"/>
                </a:cubicBezTo>
                <a:cubicBezTo>
                  <a:pt x="-3387" y="245904"/>
                  <a:pt x="-3387" y="262017"/>
                  <a:pt x="9842" y="271939"/>
                </a:cubicBezTo>
                <a:lnTo>
                  <a:pt x="179176" y="39893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8763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TeaCache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8255000" y="2413000"/>
            <a:ext cx="6985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观察 timestep modulation 后输入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用差异判断是否复用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多项式重缩放修正误差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跨模型需重新拟合系数</a:t>
            </a:r>
            <a:endParaRPr sz="18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762000" y="4635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核心差异</a:t>
            </a:r>
            <a:endParaRPr sz="2000"/>
          </a:p>
        </p:txBody>
      </p:sp>
      <p:graphicFrame>
        <p:nvGraphicFramePr>
          <p:cNvPr id="32" name="Table 0"/>
          <p:cNvGraphicFramePr/>
          <p:nvPr/>
        </p:nvGraphicFramePr>
        <p:xfrm>
          <a:off x="762000" y="5143500"/>
          <a:ext cx="14732000" cy="1778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7366000"/>
              </a:tblGrid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方法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判定信号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主要限制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FBCache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首 block 相对 L1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阈值依赖模型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TeaCache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调制后 noisy input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需重采多项式系数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6" name="Text 12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两种方法收益相近，工程选择主要看阈值稳定性与模型迁移成本。</a:t>
            </a:r>
            <a:endParaRPr sz="16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21</a:t>
            </a:r>
            <a:endParaRPr sz="13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TaylorSeer 在层内预测模块输出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它不直接复用整个 step，而是在 Attention/MLP 粒度维护历史与导数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4318000" cy="2286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3302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模块级 Cache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13000"/>
            <a:ext cx="3810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为 Attention 与 MLP 分别缓存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粒度比整步复用更细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可针对热点模块优化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5588000" y="1651000"/>
            <a:ext cx="4318000" cy="2286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5842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350000" y="1879600"/>
            <a:ext cx="3302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固定间隔</a:t>
            </a:r>
            <a:endParaRPr sz="20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5842000" y="2413000"/>
            <a:ext cx="3810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按配置周期更新真实输出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其余 step 使用预测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需要维护统一 step 计数</a:t>
            </a:r>
            <a:endParaRPr sz="16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10414000" y="1651000"/>
            <a:ext cx="5080000" cy="2286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10668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70AD47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11176000" y="1879600"/>
            <a:ext cx="4064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Taylor 预测</a:t>
            </a:r>
            <a:endParaRPr sz="20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10668000" y="2413000"/>
            <a:ext cx="4572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利用历史输出与导数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预测当前模块结果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阶数决定精度与开销</a:t>
            </a:r>
            <a:endParaRPr sz="16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762000" y="4318000"/>
            <a:ext cx="14732000" cy="2426677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1016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3500" y="72231"/>
                </a:moveTo>
                <a:cubicBezTo>
                  <a:pt x="74014" y="72231"/>
                  <a:pt x="82550" y="64762"/>
                  <a:pt x="82550" y="55563"/>
                </a:cubicBezTo>
                <a:cubicBezTo>
                  <a:pt x="82550" y="46363"/>
                  <a:pt x="74014" y="38894"/>
                  <a:pt x="63500" y="38894"/>
                </a:cubicBezTo>
                <a:cubicBezTo>
                  <a:pt x="52986" y="38894"/>
                  <a:pt x="44450" y="46363"/>
                  <a:pt x="44450" y="55563"/>
                </a:cubicBezTo>
                <a:cubicBezTo>
                  <a:pt x="44450" y="64762"/>
                  <a:pt x="52986" y="72231"/>
                  <a:pt x="63500" y="72231"/>
                </a:cubicBezTo>
                <a:close/>
                <a:moveTo>
                  <a:pt x="127000" y="55563"/>
                </a:moveTo>
                <a:cubicBezTo>
                  <a:pt x="127000" y="78343"/>
                  <a:pt x="111363" y="97929"/>
                  <a:pt x="88900" y="106472"/>
                </a:cubicBezTo>
                <a:lnTo>
                  <a:pt x="88900" y="155575"/>
                </a:lnTo>
                <a:lnTo>
                  <a:pt x="228600" y="155575"/>
                </a:lnTo>
                <a:cubicBezTo>
                  <a:pt x="249634" y="155575"/>
                  <a:pt x="266700" y="140643"/>
                  <a:pt x="266700" y="122238"/>
                </a:cubicBezTo>
                <a:lnTo>
                  <a:pt x="266700" y="106472"/>
                </a:lnTo>
                <a:cubicBezTo>
                  <a:pt x="244237" y="97929"/>
                  <a:pt x="228600" y="78343"/>
                  <a:pt x="228600" y="55563"/>
                </a:cubicBezTo>
                <a:cubicBezTo>
                  <a:pt x="228600" y="24864"/>
                  <a:pt x="257016" y="0"/>
                  <a:pt x="292100" y="0"/>
                </a:cubicBezTo>
                <a:cubicBezTo>
                  <a:pt x="327184" y="0"/>
                  <a:pt x="355600" y="24864"/>
                  <a:pt x="355600" y="55563"/>
                </a:cubicBezTo>
                <a:cubicBezTo>
                  <a:pt x="355600" y="78343"/>
                  <a:pt x="339963" y="97929"/>
                  <a:pt x="317500" y="106472"/>
                </a:cubicBezTo>
                <a:lnTo>
                  <a:pt x="317500" y="122238"/>
                </a:lnTo>
                <a:cubicBezTo>
                  <a:pt x="317500" y="165229"/>
                  <a:pt x="277733" y="200025"/>
                  <a:pt x="228600" y="200025"/>
                </a:cubicBezTo>
                <a:lnTo>
                  <a:pt x="88900" y="200025"/>
                </a:lnTo>
                <a:lnTo>
                  <a:pt x="88900" y="249128"/>
                </a:lnTo>
                <a:cubicBezTo>
                  <a:pt x="111363" y="257671"/>
                  <a:pt x="127000" y="277257"/>
                  <a:pt x="127000" y="300038"/>
                </a:cubicBezTo>
                <a:cubicBezTo>
                  <a:pt x="127000" y="330736"/>
                  <a:pt x="98584" y="355600"/>
                  <a:pt x="63500" y="355600"/>
                </a:cubicBezTo>
                <a:cubicBezTo>
                  <a:pt x="28416" y="355600"/>
                  <a:pt x="0" y="330736"/>
                  <a:pt x="0" y="300038"/>
                </a:cubicBezTo>
                <a:cubicBezTo>
                  <a:pt x="0" y="277257"/>
                  <a:pt x="15637" y="257671"/>
                  <a:pt x="38100" y="249128"/>
                </a:cubicBezTo>
                <a:lnTo>
                  <a:pt x="38100" y="106541"/>
                </a:lnTo>
                <a:cubicBezTo>
                  <a:pt x="15637" y="97929"/>
                  <a:pt x="0" y="78343"/>
                  <a:pt x="0" y="55563"/>
                </a:cubicBezTo>
                <a:cubicBezTo>
                  <a:pt x="0" y="24864"/>
                  <a:pt x="28416" y="0"/>
                  <a:pt x="63500" y="0"/>
                </a:cubicBezTo>
                <a:cubicBezTo>
                  <a:pt x="98584" y="0"/>
                  <a:pt x="127000" y="24864"/>
                  <a:pt x="127000" y="55563"/>
                </a:cubicBezTo>
                <a:close/>
                <a:moveTo>
                  <a:pt x="311150" y="55563"/>
                </a:moveTo>
                <a:cubicBezTo>
                  <a:pt x="311150" y="46363"/>
                  <a:pt x="302614" y="38894"/>
                  <a:pt x="292100" y="38894"/>
                </a:cubicBezTo>
                <a:cubicBezTo>
                  <a:pt x="281586" y="38894"/>
                  <a:pt x="273050" y="46363"/>
                  <a:pt x="273050" y="55563"/>
                </a:cubicBezTo>
                <a:cubicBezTo>
                  <a:pt x="273050" y="64762"/>
                  <a:pt x="281586" y="72231"/>
                  <a:pt x="292100" y="72231"/>
                </a:cubicBezTo>
                <a:cubicBezTo>
                  <a:pt x="302614" y="72231"/>
                  <a:pt x="311150" y="64762"/>
                  <a:pt x="311150" y="55563"/>
                </a:cubicBezTo>
                <a:close/>
                <a:moveTo>
                  <a:pt x="63500" y="316706"/>
                </a:moveTo>
                <a:cubicBezTo>
                  <a:pt x="74014" y="316706"/>
                  <a:pt x="82550" y="309237"/>
                  <a:pt x="82550" y="300038"/>
                </a:cubicBezTo>
                <a:cubicBezTo>
                  <a:pt x="82550" y="290838"/>
                  <a:pt x="74014" y="283369"/>
                  <a:pt x="63500" y="283369"/>
                </a:cubicBezTo>
                <a:cubicBezTo>
                  <a:pt x="52986" y="283369"/>
                  <a:pt x="44450" y="290838"/>
                  <a:pt x="44450" y="300038"/>
                </a:cubicBezTo>
                <a:cubicBezTo>
                  <a:pt x="44450" y="309237"/>
                  <a:pt x="52986" y="316706"/>
                  <a:pt x="63500" y="316706"/>
                </a:cubic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1498600" y="4470400"/>
            <a:ext cx="635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与 FBCache / TeaCache 的区别</a:t>
            </a:r>
            <a:endParaRPr sz="20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016000" y="5016500"/>
            <a:ext cx="142240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整步 Cache：判定后复用残差；TaylorSeer：层内按固定间隔，用 Taylor 展开预测输出。</a:t>
            </a:r>
            <a:endParaRPr sz="18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更细粒度带来更强控制力，也带来显著的缓存与导数内存开销。</a:t>
            </a:r>
            <a:endParaRPr sz="16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22</a:t>
            </a:r>
            <a:endParaRPr sz="1300"/>
          </a:p>
        </p:txBody>
      </p:sp>
      <p:pic>
        <p:nvPicPr>
          <p:cNvPr id="5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三种 Cache 方法的粒度与触发方式不同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选择方法时需要同时考虑收益、实现复杂度与跨模型迁移成本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905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FBCache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76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粒度：完整 timestep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信号：首 block 相对 L1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优点：实现简单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风险：阈值敏感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715000" y="1651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5969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029" y="25400"/>
                </a:moveTo>
                <a:cubicBezTo>
                  <a:pt x="12972" y="25400"/>
                  <a:pt x="0" y="36751"/>
                  <a:pt x="0" y="50800"/>
                </a:cubicBezTo>
                <a:lnTo>
                  <a:pt x="0" y="127000"/>
                </a:lnTo>
                <a:cubicBezTo>
                  <a:pt x="0" y="141049"/>
                  <a:pt x="12972" y="152400"/>
                  <a:pt x="29029" y="152400"/>
                </a:cubicBezTo>
                <a:cubicBezTo>
                  <a:pt x="45085" y="152400"/>
                  <a:pt x="58057" y="141049"/>
                  <a:pt x="58057" y="127000"/>
                </a:cubicBezTo>
                <a:lnTo>
                  <a:pt x="58057" y="76200"/>
                </a:lnTo>
                <a:lnTo>
                  <a:pt x="116114" y="76200"/>
                </a:lnTo>
                <a:cubicBezTo>
                  <a:pt x="132171" y="76200"/>
                  <a:pt x="145143" y="64849"/>
                  <a:pt x="145143" y="50800"/>
                </a:cubicBezTo>
                <a:cubicBezTo>
                  <a:pt x="145143" y="36751"/>
                  <a:pt x="132171" y="25400"/>
                  <a:pt x="116114" y="25400"/>
                </a:cubicBezTo>
                <a:lnTo>
                  <a:pt x="29029" y="25400"/>
                </a:lnTo>
                <a:close/>
                <a:moveTo>
                  <a:pt x="58057" y="279400"/>
                </a:moveTo>
                <a:cubicBezTo>
                  <a:pt x="58057" y="265351"/>
                  <a:pt x="45085" y="254000"/>
                  <a:pt x="29029" y="254000"/>
                </a:cubicBezTo>
                <a:cubicBezTo>
                  <a:pt x="12972" y="254000"/>
                  <a:pt x="0" y="265351"/>
                  <a:pt x="0" y="279400"/>
                </a:cubicBezTo>
                <a:lnTo>
                  <a:pt x="0" y="355600"/>
                </a:lnTo>
                <a:cubicBezTo>
                  <a:pt x="0" y="369649"/>
                  <a:pt x="12972" y="381000"/>
                  <a:pt x="29029" y="381000"/>
                </a:cubicBezTo>
                <a:lnTo>
                  <a:pt x="116114" y="381000"/>
                </a:lnTo>
                <a:cubicBezTo>
                  <a:pt x="132171" y="381000"/>
                  <a:pt x="145143" y="369649"/>
                  <a:pt x="145143" y="355600"/>
                </a:cubicBezTo>
                <a:cubicBezTo>
                  <a:pt x="145143" y="341551"/>
                  <a:pt x="132171" y="330200"/>
                  <a:pt x="116114" y="330200"/>
                </a:cubicBezTo>
                <a:lnTo>
                  <a:pt x="58057" y="330200"/>
                </a:lnTo>
                <a:lnTo>
                  <a:pt x="58057" y="279400"/>
                </a:lnTo>
                <a:close/>
                <a:moveTo>
                  <a:pt x="290286" y="25400"/>
                </a:moveTo>
                <a:cubicBezTo>
                  <a:pt x="274229" y="25400"/>
                  <a:pt x="261257" y="36751"/>
                  <a:pt x="261257" y="50800"/>
                </a:cubicBezTo>
                <a:cubicBezTo>
                  <a:pt x="261257" y="64849"/>
                  <a:pt x="274229" y="76200"/>
                  <a:pt x="290286" y="76200"/>
                </a:cubicBezTo>
                <a:lnTo>
                  <a:pt x="348343" y="76200"/>
                </a:lnTo>
                <a:lnTo>
                  <a:pt x="348343" y="127000"/>
                </a:lnTo>
                <a:cubicBezTo>
                  <a:pt x="348343" y="141049"/>
                  <a:pt x="361315" y="152400"/>
                  <a:pt x="377371" y="152400"/>
                </a:cubicBezTo>
                <a:cubicBezTo>
                  <a:pt x="393428" y="152400"/>
                  <a:pt x="406400" y="141049"/>
                  <a:pt x="406400" y="127000"/>
                </a:cubicBezTo>
                <a:lnTo>
                  <a:pt x="406400" y="50800"/>
                </a:lnTo>
                <a:cubicBezTo>
                  <a:pt x="406400" y="36751"/>
                  <a:pt x="393428" y="25400"/>
                  <a:pt x="377371" y="25400"/>
                </a:cubicBezTo>
                <a:lnTo>
                  <a:pt x="290286" y="25400"/>
                </a:lnTo>
                <a:close/>
                <a:moveTo>
                  <a:pt x="406400" y="279400"/>
                </a:moveTo>
                <a:cubicBezTo>
                  <a:pt x="406400" y="265351"/>
                  <a:pt x="393428" y="254000"/>
                  <a:pt x="377371" y="254000"/>
                </a:cubicBezTo>
                <a:cubicBezTo>
                  <a:pt x="361315" y="254000"/>
                  <a:pt x="348343" y="265351"/>
                  <a:pt x="348343" y="279400"/>
                </a:cubicBezTo>
                <a:lnTo>
                  <a:pt x="348343" y="330200"/>
                </a:lnTo>
                <a:lnTo>
                  <a:pt x="290286" y="330200"/>
                </a:lnTo>
                <a:cubicBezTo>
                  <a:pt x="274229" y="330200"/>
                  <a:pt x="261257" y="341551"/>
                  <a:pt x="261257" y="355600"/>
                </a:cubicBezTo>
                <a:cubicBezTo>
                  <a:pt x="261257" y="369649"/>
                  <a:pt x="274229" y="381000"/>
                  <a:pt x="290286" y="381000"/>
                </a:cubicBezTo>
                <a:lnTo>
                  <a:pt x="377371" y="381000"/>
                </a:lnTo>
                <a:cubicBezTo>
                  <a:pt x="393428" y="381000"/>
                  <a:pt x="406400" y="369649"/>
                  <a:pt x="406400" y="355600"/>
                </a:cubicBezTo>
                <a:lnTo>
                  <a:pt x="406400" y="27940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477000" y="1905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TeaCache</a:t>
            </a:r>
            <a:endParaRPr sz="20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969000" y="2476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粒度：完整 timestep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信号：调制后输入差异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优点：多项式修正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风险：跨模型重采系数</a:t>
            </a:r>
            <a:endParaRPr sz="16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0668000" y="1651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10922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45143" y="50800"/>
                </a:moveTo>
                <a:cubicBezTo>
                  <a:pt x="145143" y="36751"/>
                  <a:pt x="132171" y="25400"/>
                  <a:pt x="116114" y="25400"/>
                </a:cubicBezTo>
                <a:cubicBezTo>
                  <a:pt x="100058" y="25400"/>
                  <a:pt x="87086" y="36751"/>
                  <a:pt x="87086" y="50800"/>
                </a:cubicBezTo>
                <a:lnTo>
                  <a:pt x="87086" y="101600"/>
                </a:lnTo>
                <a:lnTo>
                  <a:pt x="29029" y="101600"/>
                </a:lnTo>
                <a:cubicBezTo>
                  <a:pt x="12972" y="101600"/>
                  <a:pt x="0" y="112951"/>
                  <a:pt x="0" y="127000"/>
                </a:cubicBezTo>
                <a:cubicBezTo>
                  <a:pt x="0" y="141049"/>
                  <a:pt x="12972" y="152400"/>
                  <a:pt x="29029" y="152400"/>
                </a:cubicBezTo>
                <a:lnTo>
                  <a:pt x="116114" y="152400"/>
                </a:lnTo>
                <a:cubicBezTo>
                  <a:pt x="132171" y="152400"/>
                  <a:pt x="145143" y="141049"/>
                  <a:pt x="145143" y="127000"/>
                </a:cubicBezTo>
                <a:lnTo>
                  <a:pt x="145143" y="50800"/>
                </a:lnTo>
                <a:close/>
                <a:moveTo>
                  <a:pt x="29029" y="254000"/>
                </a:moveTo>
                <a:cubicBezTo>
                  <a:pt x="12972" y="254000"/>
                  <a:pt x="0" y="265351"/>
                  <a:pt x="0" y="279400"/>
                </a:cubicBezTo>
                <a:cubicBezTo>
                  <a:pt x="0" y="293449"/>
                  <a:pt x="12972" y="304800"/>
                  <a:pt x="29029" y="304800"/>
                </a:cubicBezTo>
                <a:lnTo>
                  <a:pt x="87086" y="304800"/>
                </a:lnTo>
                <a:lnTo>
                  <a:pt x="87086" y="355600"/>
                </a:lnTo>
                <a:cubicBezTo>
                  <a:pt x="87086" y="369649"/>
                  <a:pt x="100058" y="381000"/>
                  <a:pt x="116114" y="381000"/>
                </a:cubicBezTo>
                <a:cubicBezTo>
                  <a:pt x="132171" y="381000"/>
                  <a:pt x="145143" y="369649"/>
                  <a:pt x="145143" y="355600"/>
                </a:cubicBezTo>
                <a:lnTo>
                  <a:pt x="145143" y="279400"/>
                </a:lnTo>
                <a:cubicBezTo>
                  <a:pt x="145143" y="265351"/>
                  <a:pt x="132171" y="254000"/>
                  <a:pt x="116114" y="254000"/>
                </a:cubicBezTo>
                <a:lnTo>
                  <a:pt x="29029" y="254000"/>
                </a:lnTo>
                <a:close/>
                <a:moveTo>
                  <a:pt x="319314" y="50800"/>
                </a:moveTo>
                <a:cubicBezTo>
                  <a:pt x="319314" y="36751"/>
                  <a:pt x="306342" y="25400"/>
                  <a:pt x="290286" y="25400"/>
                </a:cubicBezTo>
                <a:cubicBezTo>
                  <a:pt x="274229" y="25400"/>
                  <a:pt x="261257" y="36751"/>
                  <a:pt x="261257" y="50800"/>
                </a:cubicBezTo>
                <a:lnTo>
                  <a:pt x="261257" y="127000"/>
                </a:lnTo>
                <a:cubicBezTo>
                  <a:pt x="261257" y="141049"/>
                  <a:pt x="274229" y="152400"/>
                  <a:pt x="290286" y="152400"/>
                </a:cubicBezTo>
                <a:lnTo>
                  <a:pt x="377371" y="152400"/>
                </a:lnTo>
                <a:cubicBezTo>
                  <a:pt x="393428" y="152400"/>
                  <a:pt x="406400" y="141049"/>
                  <a:pt x="406400" y="127000"/>
                </a:cubicBezTo>
                <a:cubicBezTo>
                  <a:pt x="406400" y="112951"/>
                  <a:pt x="393428" y="101600"/>
                  <a:pt x="377371" y="101600"/>
                </a:cubicBezTo>
                <a:lnTo>
                  <a:pt x="319314" y="101600"/>
                </a:lnTo>
                <a:lnTo>
                  <a:pt x="319314" y="50800"/>
                </a:lnTo>
                <a:close/>
                <a:moveTo>
                  <a:pt x="290286" y="254000"/>
                </a:moveTo>
                <a:cubicBezTo>
                  <a:pt x="274229" y="254000"/>
                  <a:pt x="261257" y="265351"/>
                  <a:pt x="261257" y="279400"/>
                </a:cubicBezTo>
                <a:lnTo>
                  <a:pt x="261257" y="355600"/>
                </a:lnTo>
                <a:cubicBezTo>
                  <a:pt x="261257" y="369649"/>
                  <a:pt x="274229" y="381000"/>
                  <a:pt x="290286" y="381000"/>
                </a:cubicBezTo>
                <a:cubicBezTo>
                  <a:pt x="306342" y="381000"/>
                  <a:pt x="319314" y="369649"/>
                  <a:pt x="319314" y="355600"/>
                </a:cubicBezTo>
                <a:lnTo>
                  <a:pt x="319314" y="304800"/>
                </a:lnTo>
                <a:lnTo>
                  <a:pt x="377371" y="304800"/>
                </a:lnTo>
                <a:cubicBezTo>
                  <a:pt x="393428" y="304800"/>
                  <a:pt x="406400" y="293449"/>
                  <a:pt x="406400" y="279400"/>
                </a:cubicBezTo>
                <a:cubicBezTo>
                  <a:pt x="406400" y="265351"/>
                  <a:pt x="393428" y="254000"/>
                  <a:pt x="377371" y="254000"/>
                </a:cubicBezTo>
                <a:lnTo>
                  <a:pt x="290286" y="254000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11430000" y="19050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TaylorSeer</a:t>
            </a:r>
            <a:endParaRPr sz="2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10922000" y="2476500"/>
            <a:ext cx="4318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粒度：Attention / MLP</a:t>
            </a:r>
            <a:endParaRPr sz="1600"/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信号：固定间隔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优点：预测而非直接复用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风险：内存与实现复杂</a:t>
            </a:r>
            <a:endParaRPr sz="16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762000" y="5194300"/>
            <a:ext cx="14732000" cy="1605085"/>
          </a:xfrm>
          <a:prstGeom prst="roundRect">
            <a:avLst>
              <a:gd name="adj" fmla="val 4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1016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22781" y="155575"/>
                  <a:pt x="50800" y="155575"/>
                </a:cubicBezTo>
                <a:lnTo>
                  <a:pt x="304800" y="155575"/>
                </a:lnTo>
                <a:cubicBezTo>
                  <a:pt x="332819" y="155575"/>
                  <a:pt x="355600" y="135642"/>
                  <a:pt x="355600" y="1111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22250" y="72231"/>
                </a:moveTo>
                <a:cubicBezTo>
                  <a:pt x="232764" y="72231"/>
                  <a:pt x="241300" y="79700"/>
                  <a:pt x="241300" y="88900"/>
                </a:cubicBezTo>
                <a:cubicBezTo>
                  <a:pt x="241300" y="98100"/>
                  <a:pt x="232764" y="105569"/>
                  <a:pt x="222250" y="105569"/>
                </a:cubicBezTo>
                <a:cubicBezTo>
                  <a:pt x="211736" y="105569"/>
                  <a:pt x="203200" y="98100"/>
                  <a:pt x="203200" y="88900"/>
                </a:cubicBezTo>
                <a:cubicBezTo>
                  <a:pt x="203200" y="79700"/>
                  <a:pt x="211736" y="72231"/>
                  <a:pt x="222250" y="72231"/>
                </a:cubicBezTo>
                <a:close/>
                <a:moveTo>
                  <a:pt x="266700" y="88900"/>
                </a:moveTo>
                <a:cubicBezTo>
                  <a:pt x="266700" y="79700"/>
                  <a:pt x="275236" y="72231"/>
                  <a:pt x="285750" y="72231"/>
                </a:cubicBezTo>
                <a:cubicBezTo>
                  <a:pt x="296264" y="72231"/>
                  <a:pt x="304800" y="79700"/>
                  <a:pt x="304800" y="88900"/>
                </a:cubicBezTo>
                <a:cubicBezTo>
                  <a:pt x="304800" y="98100"/>
                  <a:pt x="296264" y="105569"/>
                  <a:pt x="285750" y="105569"/>
                </a:cubicBezTo>
                <a:cubicBezTo>
                  <a:pt x="275236" y="105569"/>
                  <a:pt x="266700" y="98100"/>
                  <a:pt x="266700" y="88900"/>
                </a:cubicBezTo>
                <a:close/>
                <a:moveTo>
                  <a:pt x="50800" y="200025"/>
                </a:moveTo>
                <a:cubicBezTo>
                  <a:pt x="22781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244475"/>
                </a:lnTo>
                <a:cubicBezTo>
                  <a:pt x="355600" y="219958"/>
                  <a:pt x="332819" y="200025"/>
                  <a:pt x="304800" y="200025"/>
                </a:cubicBezTo>
                <a:lnTo>
                  <a:pt x="50800" y="200025"/>
                </a:lnTo>
                <a:close/>
                <a:moveTo>
                  <a:pt x="222250" y="250031"/>
                </a:moveTo>
                <a:cubicBezTo>
                  <a:pt x="232764" y="250031"/>
                  <a:pt x="241300" y="257500"/>
                  <a:pt x="241300" y="266700"/>
                </a:cubicBezTo>
                <a:cubicBezTo>
                  <a:pt x="241300" y="275900"/>
                  <a:pt x="232764" y="283369"/>
                  <a:pt x="222250" y="283369"/>
                </a:cubicBezTo>
                <a:cubicBezTo>
                  <a:pt x="211736" y="283369"/>
                  <a:pt x="203200" y="275900"/>
                  <a:pt x="203200" y="266700"/>
                </a:cubicBezTo>
                <a:cubicBezTo>
                  <a:pt x="203200" y="257500"/>
                  <a:pt x="211736" y="250031"/>
                  <a:pt x="222250" y="250031"/>
                </a:cubicBezTo>
                <a:close/>
                <a:moveTo>
                  <a:pt x="266700" y="266700"/>
                </a:moveTo>
                <a:cubicBezTo>
                  <a:pt x="266700" y="257500"/>
                  <a:pt x="275236" y="250031"/>
                  <a:pt x="285750" y="250031"/>
                </a:cubicBezTo>
                <a:cubicBezTo>
                  <a:pt x="296264" y="250031"/>
                  <a:pt x="304800" y="257500"/>
                  <a:pt x="304800" y="266700"/>
                </a:cubicBezTo>
                <a:cubicBezTo>
                  <a:pt x="304800" y="275900"/>
                  <a:pt x="296264" y="283369"/>
                  <a:pt x="285750" y="283369"/>
                </a:cubicBezTo>
                <a:cubicBezTo>
                  <a:pt x="275236" y="283369"/>
                  <a:pt x="266700" y="275900"/>
                  <a:pt x="266700" y="266700"/>
                </a:cubicBezTo>
                <a:close/>
              </a:path>
            </a:pathLst>
          </a:custGeom>
          <a:solidFill>
            <a:srgbClr val="ED7D3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1498600" y="54229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选择建议</a:t>
            </a:r>
            <a:endParaRPr sz="20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1016000" y="5905500"/>
            <a:ext cx="14224000" cy="825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优先验证简单整步 Cache；只有在收益不足时，再评估模块级预测的额外复杂度。</a:t>
            </a:r>
            <a:endParaRPr sz="18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Cache 参数必须与模型、分辨率、采样器和 step 数共同标定。</a:t>
            </a:r>
            <a:endParaRPr sz="16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23</a:t>
            </a:r>
            <a:endParaRPr sz="13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96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endParaRPr sz="9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低精度量化</a:t>
            </a:r>
            <a:endParaRPr sz="4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20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用 FP8/MXFP8 降低 Attention 与 Linear 的带宽压力</a:t>
            </a:r>
            <a:endParaRPr sz="20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130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量化与反量化围绕 scale 完成映射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低精度表示减少存储、带宽和矩阵计算开销，反量化恢复近似实数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36600" y="1993895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271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15621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统计范围</a:t>
            </a:r>
            <a:endParaRPr sz="18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00100" y="2602518"/>
            <a:ext cx="3352800" cy="10641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观察张量分布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确定最大值或分块范围</a:t>
            </a:r>
            <a:endParaRPr sz="1600"/>
          </a:p>
        </p:txBody>
      </p:sp>
      <p:cxnSp>
        <p:nvCxnSpPr>
          <p:cNvPr id="128" name="Shape 6"/>
          <p:cNvCxnSpPr/>
          <p:nvPr/>
        </p:nvCxnSpPr>
        <p:spPr>
          <a:xfrm>
            <a:off x="4229100" y="3073394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10" name="Shape 7"/>
          <p:cNvSpPr>
            <a:spLocks noGrp="1"/>
          </p:cNvSpPr>
          <p:nvPr/>
        </p:nvSpPr>
        <p:spPr>
          <a:xfrm>
            <a:off x="4356100" y="297179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4483100" y="1993893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46736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2</a:t>
            </a:r>
            <a:endParaRPr sz="24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3086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计算 scale</a:t>
            </a:r>
            <a:endParaRPr sz="18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4673600" y="2628894"/>
            <a:ext cx="3048000" cy="11738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建立浮点值与低精度值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之间的缩放关系</a:t>
            </a:r>
            <a:endParaRPr sz="1600"/>
          </a:p>
        </p:txBody>
      </p:sp>
      <p:cxnSp>
        <p:nvCxnSpPr>
          <p:cNvPr id="134" name="Shape 12"/>
          <p:cNvCxnSpPr/>
          <p:nvPr/>
        </p:nvCxnSpPr>
        <p:spPr>
          <a:xfrm>
            <a:off x="7975600" y="3073394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16" name="Shape 13"/>
          <p:cNvSpPr>
            <a:spLocks noGrp="1"/>
          </p:cNvSpPr>
          <p:nvPr/>
        </p:nvSpPr>
        <p:spPr>
          <a:xfrm>
            <a:off x="8102600" y="297179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8229600" y="1993895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84201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3</a:t>
            </a:r>
            <a:endParaRPr sz="24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90551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Round / Clip</a:t>
            </a:r>
            <a:endParaRPr sz="18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8420100" y="2628894"/>
            <a:ext cx="3111500" cy="907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映射到可表示格点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超出范围时截断</a:t>
            </a:r>
            <a:endParaRPr sz="1600"/>
          </a:p>
        </p:txBody>
      </p:sp>
      <p:cxnSp>
        <p:nvCxnSpPr>
          <p:cNvPr id="140" name="Shape 18"/>
          <p:cNvCxnSpPr/>
          <p:nvPr/>
        </p:nvCxnSpPr>
        <p:spPr>
          <a:xfrm>
            <a:off x="11722100" y="3073394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22" name="Shape 19"/>
          <p:cNvSpPr>
            <a:spLocks noGrp="1"/>
          </p:cNvSpPr>
          <p:nvPr/>
        </p:nvSpPr>
        <p:spPr>
          <a:xfrm>
            <a:off x="11849100" y="297179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23" name="Shape 20"/>
          <p:cNvSpPr>
            <a:spLocks noGrp="1"/>
          </p:cNvSpPr>
          <p:nvPr/>
        </p:nvSpPr>
        <p:spPr>
          <a:xfrm>
            <a:off x="11976100" y="1993894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2166600" y="2095494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endParaRPr sz="24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12801600" y="2095494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低精度存储</a:t>
            </a:r>
            <a:endParaRPr sz="1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12166600" y="2628894"/>
            <a:ext cx="3048000" cy="12845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使用 FP8/MXFP8 等格式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减少读写与计算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62000" y="7492999"/>
            <a:ext cx="14732000" cy="5932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粒度越细通常精度越好，但 scale 数量、量化开销和实现复杂度也越高。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27</a:t>
            </a:r>
            <a:endParaRPr sz="1300"/>
          </a:p>
        </p:txBody>
      </p:sp>
      <p:pic>
        <p:nvPicPr>
          <p:cNvPr id="1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45" name="Shape 2"/>
          <p:cNvSpPr>
            <a:spLocks noGrp="1"/>
          </p:cNvSpPr>
          <p:nvPr/>
        </p:nvSpPr>
        <p:spPr>
          <a:xfrm>
            <a:off x="749300" y="4760684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3"/>
          <p:cNvSpPr>
            <a:spLocks noGrp="1"/>
          </p:cNvSpPr>
          <p:nvPr/>
        </p:nvSpPr>
        <p:spPr>
          <a:xfrm>
            <a:off x="9398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endParaRPr sz="2400"/>
          </a:p>
        </p:txBody>
      </p:sp>
      <p:sp>
        <p:nvSpPr>
          <p:cNvPr id="52" name="Text 4"/>
          <p:cNvSpPr>
            <a:spLocks noGrp="1"/>
          </p:cNvSpPr>
          <p:nvPr/>
        </p:nvSpPr>
        <p:spPr>
          <a:xfrm>
            <a:off x="15748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读取低精度值</a:t>
            </a:r>
            <a:endParaRPr sz="1800"/>
          </a:p>
        </p:txBody>
      </p:sp>
      <p:sp>
        <p:nvSpPr>
          <p:cNvPr id="53" name="Text 5"/>
          <p:cNvSpPr>
            <a:spLocks noGrp="1"/>
          </p:cNvSpPr>
          <p:nvPr/>
        </p:nvSpPr>
        <p:spPr>
          <a:xfrm>
            <a:off x="812800" y="5369307"/>
            <a:ext cx="3352800" cy="10641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加载量化后的 Q/K/V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600"/>
              <a:t>或权重与激活</a:t>
            </a:r>
            <a:endParaRPr sz="1600"/>
          </a:p>
        </p:txBody>
      </p:sp>
      <p:cxnSp>
        <p:nvCxnSpPr>
          <p:cNvPr id="155" name="Shape 6"/>
          <p:cNvCxnSpPr/>
          <p:nvPr/>
        </p:nvCxnSpPr>
        <p:spPr>
          <a:xfrm>
            <a:off x="4241800" y="5840183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55" name="Shape 7"/>
          <p:cNvSpPr>
            <a:spLocks noGrp="1"/>
          </p:cNvSpPr>
          <p:nvPr/>
        </p:nvSpPr>
        <p:spPr>
          <a:xfrm>
            <a:off x="4368800" y="573858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56" name="Shape 8"/>
          <p:cNvSpPr>
            <a:spLocks noGrp="1"/>
          </p:cNvSpPr>
          <p:nvPr/>
        </p:nvSpPr>
        <p:spPr>
          <a:xfrm>
            <a:off x="4495800" y="4760682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9"/>
          <p:cNvSpPr>
            <a:spLocks noGrp="1"/>
          </p:cNvSpPr>
          <p:nvPr/>
        </p:nvSpPr>
        <p:spPr>
          <a:xfrm>
            <a:off x="46863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2</a:t>
            </a:r>
            <a:endParaRPr sz="2400"/>
          </a:p>
        </p:txBody>
      </p:sp>
      <p:sp>
        <p:nvSpPr>
          <p:cNvPr id="58" name="Text 10"/>
          <p:cNvSpPr>
            <a:spLocks noGrp="1"/>
          </p:cNvSpPr>
          <p:nvPr/>
        </p:nvSpPr>
        <p:spPr>
          <a:xfrm>
            <a:off x="53213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读取 scale</a:t>
            </a:r>
            <a:endParaRPr sz="1800"/>
          </a:p>
        </p:txBody>
      </p:sp>
      <p:sp>
        <p:nvSpPr>
          <p:cNvPr id="59" name="Text 11"/>
          <p:cNvSpPr>
            <a:spLocks noGrp="1"/>
          </p:cNvSpPr>
          <p:nvPr/>
        </p:nvSpPr>
        <p:spPr>
          <a:xfrm>
            <a:off x="4686300" y="5395683"/>
            <a:ext cx="3048000" cy="10377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按 tensor/token/group/block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取得对应缩放因子</a:t>
            </a:r>
            <a:endParaRPr sz="1600"/>
          </a:p>
        </p:txBody>
      </p:sp>
      <p:cxnSp>
        <p:nvCxnSpPr>
          <p:cNvPr id="161" name="Shape 12"/>
          <p:cNvCxnSpPr/>
          <p:nvPr/>
        </p:nvCxnSpPr>
        <p:spPr>
          <a:xfrm>
            <a:off x="7988300" y="5840183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61" name="Shape 13"/>
          <p:cNvSpPr>
            <a:spLocks noGrp="1"/>
          </p:cNvSpPr>
          <p:nvPr/>
        </p:nvSpPr>
        <p:spPr>
          <a:xfrm>
            <a:off x="8115300" y="573858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62" name="Shape 14"/>
          <p:cNvSpPr>
            <a:spLocks noGrp="1"/>
          </p:cNvSpPr>
          <p:nvPr/>
        </p:nvSpPr>
        <p:spPr>
          <a:xfrm>
            <a:off x="8242300" y="4760684"/>
            <a:ext cx="3429000" cy="2035628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Text 15"/>
          <p:cNvSpPr>
            <a:spLocks noGrp="1"/>
          </p:cNvSpPr>
          <p:nvPr/>
        </p:nvSpPr>
        <p:spPr>
          <a:xfrm>
            <a:off x="84328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3</a:t>
            </a:r>
            <a:endParaRPr sz="2400"/>
          </a:p>
        </p:txBody>
      </p:sp>
      <p:sp>
        <p:nvSpPr>
          <p:cNvPr id="64" name="Text 16"/>
          <p:cNvSpPr>
            <a:spLocks noGrp="1"/>
          </p:cNvSpPr>
          <p:nvPr/>
        </p:nvSpPr>
        <p:spPr>
          <a:xfrm>
            <a:off x="90678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恢复近似值</a:t>
            </a:r>
            <a:endParaRPr sz="1800"/>
          </a:p>
        </p:txBody>
      </p:sp>
      <p:sp>
        <p:nvSpPr>
          <p:cNvPr id="65" name="Text 17"/>
          <p:cNvSpPr>
            <a:spLocks noGrp="1"/>
          </p:cNvSpPr>
          <p:nvPr/>
        </p:nvSpPr>
        <p:spPr>
          <a:xfrm>
            <a:off x="8432800" y="5395683"/>
            <a:ext cx="3111500" cy="907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低精度值乘 scale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得到近似浮点表示</a:t>
            </a:r>
            <a:endParaRPr sz="1600"/>
          </a:p>
        </p:txBody>
      </p:sp>
      <p:cxnSp>
        <p:nvCxnSpPr>
          <p:cNvPr id="167" name="Shape 18"/>
          <p:cNvCxnSpPr/>
          <p:nvPr/>
        </p:nvCxnSpPr>
        <p:spPr>
          <a:xfrm>
            <a:off x="11734800" y="5840183"/>
            <a:ext cx="254000" cy="0"/>
          </a:xfrm>
          <a:prstGeom prst="straightConnector1">
            <a:avLst/>
          </a:prstGeom>
          <a:ln w="25400">
            <a:solidFill>
              <a:srgbClr val="7F7F7F"/>
            </a:solidFill>
            <a:prstDash val="solid"/>
            <a:headEnd type="none"/>
            <a:tailEnd type="none"/>
          </a:ln>
        </p:spPr>
      </p:cxnSp>
      <p:sp>
        <p:nvSpPr>
          <p:cNvPr id="67" name="Shape 19"/>
          <p:cNvSpPr>
            <a:spLocks noGrp="1"/>
          </p:cNvSpPr>
          <p:nvPr/>
        </p:nvSpPr>
        <p:spPr>
          <a:xfrm>
            <a:off x="11861800" y="573858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7549" y="92631"/>
                </a:moveTo>
                <a:cubicBezTo>
                  <a:pt x="205486" y="97592"/>
                  <a:pt x="205486" y="105648"/>
                  <a:pt x="197549" y="110609"/>
                </a:cubicBezTo>
                <a:lnTo>
                  <a:pt x="75629" y="186809"/>
                </a:lnTo>
                <a:cubicBezTo>
                  <a:pt x="67691" y="191770"/>
                  <a:pt x="54801" y="191770"/>
                  <a:pt x="46863" y="186809"/>
                </a:cubicBezTo>
                <a:cubicBezTo>
                  <a:pt x="38926" y="181848"/>
                  <a:pt x="38926" y="173792"/>
                  <a:pt x="46863" y="168831"/>
                </a:cubicBezTo>
                <a:lnTo>
                  <a:pt x="154432" y="101600"/>
                </a:lnTo>
                <a:lnTo>
                  <a:pt x="46927" y="34369"/>
                </a:lnTo>
                <a:cubicBezTo>
                  <a:pt x="38989" y="29408"/>
                  <a:pt x="38989" y="21352"/>
                  <a:pt x="46927" y="16391"/>
                </a:cubicBezTo>
                <a:cubicBezTo>
                  <a:pt x="54864" y="11430"/>
                  <a:pt x="67755" y="11430"/>
                  <a:pt x="75692" y="16391"/>
                </a:cubicBezTo>
                <a:lnTo>
                  <a:pt x="197612" y="92591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68" name="Shape 20"/>
          <p:cNvSpPr>
            <a:spLocks noGrp="1"/>
          </p:cNvSpPr>
          <p:nvPr/>
        </p:nvSpPr>
        <p:spPr>
          <a:xfrm>
            <a:off x="11988800" y="4760683"/>
            <a:ext cx="3429000" cy="2035629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Text 21"/>
          <p:cNvSpPr>
            <a:spLocks noGrp="1"/>
          </p:cNvSpPr>
          <p:nvPr/>
        </p:nvSpPr>
        <p:spPr>
          <a:xfrm>
            <a:off x="12179300" y="4862283"/>
            <a:ext cx="635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endParaRPr sz="2400"/>
          </a:p>
        </p:txBody>
      </p:sp>
      <p:sp>
        <p:nvSpPr>
          <p:cNvPr id="70" name="Text 22"/>
          <p:cNvSpPr>
            <a:spLocks noGrp="1"/>
          </p:cNvSpPr>
          <p:nvPr/>
        </p:nvSpPr>
        <p:spPr>
          <a:xfrm>
            <a:off x="12814300" y="4862283"/>
            <a:ext cx="2413000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继续计算</a:t>
            </a:r>
            <a:endParaRPr sz="1800"/>
          </a:p>
        </p:txBody>
      </p:sp>
      <p:sp>
        <p:nvSpPr>
          <p:cNvPr id="71" name="Text 23"/>
          <p:cNvSpPr>
            <a:spLocks noGrp="1"/>
          </p:cNvSpPr>
          <p:nvPr/>
        </p:nvSpPr>
        <p:spPr>
          <a:xfrm>
            <a:off x="12179300" y="5395683"/>
            <a:ext cx="3048000" cy="12845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接入 Attention 或 MatMul</a:t>
            </a:r>
            <a:endParaRPr sz="1600"/>
          </a:p>
          <a:p>
            <a:pPr algn="l">
              <a:lnSpc>
                <a:spcPct val="150000"/>
              </a:lnSpc>
              <a:spcBef>
                <a:spcPts val="400"/>
              </a:spcBef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控制精度损失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72" name="Text 1"/>
          <p:cNvSpPr>
            <a:spLocks noGrp="1"/>
          </p:cNvSpPr>
          <p:nvPr/>
        </p:nvSpPr>
        <p:spPr>
          <a:xfrm>
            <a:off x="762000" y="1511294"/>
            <a:ext cx="3429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量化 Quantize</a:t>
            </a:r>
            <a:endParaRPr sz="2400" b="1"/>
          </a:p>
        </p:txBody>
      </p:sp>
      <p:sp>
        <p:nvSpPr>
          <p:cNvPr id="73" name="Text 1"/>
          <p:cNvSpPr>
            <a:spLocks noGrp="1"/>
          </p:cNvSpPr>
          <p:nvPr/>
        </p:nvSpPr>
        <p:spPr>
          <a:xfrm>
            <a:off x="723900" y="4265385"/>
            <a:ext cx="3429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反量化 DeQuantize</a:t>
            </a:r>
            <a:endParaRPr sz="24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FA 对 Q/K/V 采用差异化 per-block 量化</a:t>
            </a:r>
            <a:endParaRPr sz="32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FA 量化直接作用于最大热点，因此端到端收益通常高于普通 MatMul 量化。</a:t>
            </a:r>
            <a:endParaRPr sz="16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28</a:t>
            </a:r>
            <a:endParaRPr sz="13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2" name="图片 1" descr="FA-FP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0" y="992505"/>
            <a:ext cx="13423900" cy="62439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MXFP8 用 per-token 与 per-group 压缩 Linear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A8W8 矩阵量化进一步降低 DiT 线性层的显存和带宽需求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905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激活：Per-token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76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每个 token 独立 scale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适应激活分布变化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使用动态量化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保持局部精度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715000" y="1651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5969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029" y="25400"/>
                </a:moveTo>
                <a:cubicBezTo>
                  <a:pt x="12972" y="25400"/>
                  <a:pt x="0" y="36751"/>
                  <a:pt x="0" y="50800"/>
                </a:cubicBezTo>
                <a:lnTo>
                  <a:pt x="0" y="127000"/>
                </a:lnTo>
                <a:cubicBezTo>
                  <a:pt x="0" y="141049"/>
                  <a:pt x="12972" y="152400"/>
                  <a:pt x="29029" y="152400"/>
                </a:cubicBezTo>
                <a:cubicBezTo>
                  <a:pt x="45085" y="152400"/>
                  <a:pt x="58057" y="141049"/>
                  <a:pt x="58057" y="127000"/>
                </a:cubicBezTo>
                <a:lnTo>
                  <a:pt x="58057" y="76200"/>
                </a:lnTo>
                <a:lnTo>
                  <a:pt x="116114" y="76200"/>
                </a:lnTo>
                <a:cubicBezTo>
                  <a:pt x="132171" y="76200"/>
                  <a:pt x="145143" y="64849"/>
                  <a:pt x="145143" y="50800"/>
                </a:cubicBezTo>
                <a:cubicBezTo>
                  <a:pt x="145143" y="36751"/>
                  <a:pt x="132171" y="25400"/>
                  <a:pt x="116114" y="25400"/>
                </a:cubicBezTo>
                <a:lnTo>
                  <a:pt x="29029" y="25400"/>
                </a:lnTo>
                <a:close/>
                <a:moveTo>
                  <a:pt x="58057" y="279400"/>
                </a:moveTo>
                <a:cubicBezTo>
                  <a:pt x="58057" y="265351"/>
                  <a:pt x="45085" y="254000"/>
                  <a:pt x="29029" y="254000"/>
                </a:cubicBezTo>
                <a:cubicBezTo>
                  <a:pt x="12972" y="254000"/>
                  <a:pt x="0" y="265351"/>
                  <a:pt x="0" y="279400"/>
                </a:cubicBezTo>
                <a:lnTo>
                  <a:pt x="0" y="355600"/>
                </a:lnTo>
                <a:cubicBezTo>
                  <a:pt x="0" y="369649"/>
                  <a:pt x="12972" y="381000"/>
                  <a:pt x="29029" y="381000"/>
                </a:cubicBezTo>
                <a:lnTo>
                  <a:pt x="116114" y="381000"/>
                </a:lnTo>
                <a:cubicBezTo>
                  <a:pt x="132171" y="381000"/>
                  <a:pt x="145143" y="369649"/>
                  <a:pt x="145143" y="355600"/>
                </a:cubicBezTo>
                <a:cubicBezTo>
                  <a:pt x="145143" y="341551"/>
                  <a:pt x="132171" y="330200"/>
                  <a:pt x="116114" y="330200"/>
                </a:cubicBezTo>
                <a:lnTo>
                  <a:pt x="58057" y="330200"/>
                </a:lnTo>
                <a:lnTo>
                  <a:pt x="58057" y="279400"/>
                </a:lnTo>
                <a:close/>
                <a:moveTo>
                  <a:pt x="290286" y="25400"/>
                </a:moveTo>
                <a:cubicBezTo>
                  <a:pt x="274229" y="25400"/>
                  <a:pt x="261257" y="36751"/>
                  <a:pt x="261257" y="50800"/>
                </a:cubicBezTo>
                <a:cubicBezTo>
                  <a:pt x="261257" y="64849"/>
                  <a:pt x="274229" y="76200"/>
                  <a:pt x="290286" y="76200"/>
                </a:cubicBezTo>
                <a:lnTo>
                  <a:pt x="348343" y="76200"/>
                </a:lnTo>
                <a:lnTo>
                  <a:pt x="348343" y="127000"/>
                </a:lnTo>
                <a:cubicBezTo>
                  <a:pt x="348343" y="141049"/>
                  <a:pt x="361315" y="152400"/>
                  <a:pt x="377371" y="152400"/>
                </a:cubicBezTo>
                <a:cubicBezTo>
                  <a:pt x="393428" y="152400"/>
                  <a:pt x="406400" y="141049"/>
                  <a:pt x="406400" y="127000"/>
                </a:cubicBezTo>
                <a:lnTo>
                  <a:pt x="406400" y="50800"/>
                </a:lnTo>
                <a:cubicBezTo>
                  <a:pt x="406400" y="36751"/>
                  <a:pt x="393428" y="25400"/>
                  <a:pt x="377371" y="25400"/>
                </a:cubicBezTo>
                <a:lnTo>
                  <a:pt x="290286" y="25400"/>
                </a:lnTo>
                <a:close/>
                <a:moveTo>
                  <a:pt x="406400" y="279400"/>
                </a:moveTo>
                <a:cubicBezTo>
                  <a:pt x="406400" y="265351"/>
                  <a:pt x="393428" y="254000"/>
                  <a:pt x="377371" y="254000"/>
                </a:cubicBezTo>
                <a:cubicBezTo>
                  <a:pt x="361315" y="254000"/>
                  <a:pt x="348343" y="265351"/>
                  <a:pt x="348343" y="279400"/>
                </a:cubicBezTo>
                <a:lnTo>
                  <a:pt x="348343" y="330200"/>
                </a:lnTo>
                <a:lnTo>
                  <a:pt x="290286" y="330200"/>
                </a:lnTo>
                <a:cubicBezTo>
                  <a:pt x="274229" y="330200"/>
                  <a:pt x="261257" y="341551"/>
                  <a:pt x="261257" y="355600"/>
                </a:cubicBezTo>
                <a:cubicBezTo>
                  <a:pt x="261257" y="369649"/>
                  <a:pt x="274229" y="381000"/>
                  <a:pt x="290286" y="381000"/>
                </a:cubicBezTo>
                <a:lnTo>
                  <a:pt x="377371" y="381000"/>
                </a:lnTo>
                <a:cubicBezTo>
                  <a:pt x="393428" y="381000"/>
                  <a:pt x="406400" y="369649"/>
                  <a:pt x="406400" y="355600"/>
                </a:cubicBezTo>
                <a:lnTo>
                  <a:pt x="406400" y="27940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477000" y="1905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权重：Per-group 32</a:t>
            </a:r>
            <a:endParaRPr sz="20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969000" y="2476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每 32 个权重共享 scale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压缩 scale 开销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平衡精度和实现复杂度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适合 A8W8 MatMul</a:t>
            </a:r>
            <a:endParaRPr sz="16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0668000" y="1651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10922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45143" y="50800"/>
                </a:moveTo>
                <a:cubicBezTo>
                  <a:pt x="145143" y="36751"/>
                  <a:pt x="132171" y="25400"/>
                  <a:pt x="116114" y="25400"/>
                </a:cubicBezTo>
                <a:cubicBezTo>
                  <a:pt x="100058" y="25400"/>
                  <a:pt x="87086" y="36751"/>
                  <a:pt x="87086" y="50800"/>
                </a:cubicBezTo>
                <a:lnTo>
                  <a:pt x="87086" y="101600"/>
                </a:lnTo>
                <a:lnTo>
                  <a:pt x="29029" y="101600"/>
                </a:lnTo>
                <a:cubicBezTo>
                  <a:pt x="12972" y="101600"/>
                  <a:pt x="0" y="112951"/>
                  <a:pt x="0" y="127000"/>
                </a:cubicBezTo>
                <a:cubicBezTo>
                  <a:pt x="0" y="141049"/>
                  <a:pt x="12972" y="152400"/>
                  <a:pt x="29029" y="152400"/>
                </a:cubicBezTo>
                <a:lnTo>
                  <a:pt x="116114" y="152400"/>
                </a:lnTo>
                <a:cubicBezTo>
                  <a:pt x="132171" y="152400"/>
                  <a:pt x="145143" y="141049"/>
                  <a:pt x="145143" y="127000"/>
                </a:cubicBezTo>
                <a:lnTo>
                  <a:pt x="145143" y="50800"/>
                </a:lnTo>
                <a:close/>
                <a:moveTo>
                  <a:pt x="29029" y="254000"/>
                </a:moveTo>
                <a:cubicBezTo>
                  <a:pt x="12972" y="254000"/>
                  <a:pt x="0" y="265351"/>
                  <a:pt x="0" y="279400"/>
                </a:cubicBezTo>
                <a:cubicBezTo>
                  <a:pt x="0" y="293449"/>
                  <a:pt x="12972" y="304800"/>
                  <a:pt x="29029" y="304800"/>
                </a:cubicBezTo>
                <a:lnTo>
                  <a:pt x="87086" y="304800"/>
                </a:lnTo>
                <a:lnTo>
                  <a:pt x="87086" y="355600"/>
                </a:lnTo>
                <a:cubicBezTo>
                  <a:pt x="87086" y="369649"/>
                  <a:pt x="100058" y="381000"/>
                  <a:pt x="116114" y="381000"/>
                </a:cubicBezTo>
                <a:cubicBezTo>
                  <a:pt x="132171" y="381000"/>
                  <a:pt x="145143" y="369649"/>
                  <a:pt x="145143" y="355600"/>
                </a:cubicBezTo>
                <a:lnTo>
                  <a:pt x="145143" y="279400"/>
                </a:lnTo>
                <a:cubicBezTo>
                  <a:pt x="145143" y="265351"/>
                  <a:pt x="132171" y="254000"/>
                  <a:pt x="116114" y="254000"/>
                </a:cubicBezTo>
                <a:lnTo>
                  <a:pt x="29029" y="254000"/>
                </a:lnTo>
                <a:close/>
                <a:moveTo>
                  <a:pt x="319314" y="50800"/>
                </a:moveTo>
                <a:cubicBezTo>
                  <a:pt x="319314" y="36751"/>
                  <a:pt x="306342" y="25400"/>
                  <a:pt x="290286" y="25400"/>
                </a:cubicBezTo>
                <a:cubicBezTo>
                  <a:pt x="274229" y="25400"/>
                  <a:pt x="261257" y="36751"/>
                  <a:pt x="261257" y="50800"/>
                </a:cubicBezTo>
                <a:lnTo>
                  <a:pt x="261257" y="127000"/>
                </a:lnTo>
                <a:cubicBezTo>
                  <a:pt x="261257" y="141049"/>
                  <a:pt x="274229" y="152400"/>
                  <a:pt x="290286" y="152400"/>
                </a:cubicBezTo>
                <a:lnTo>
                  <a:pt x="377371" y="152400"/>
                </a:lnTo>
                <a:cubicBezTo>
                  <a:pt x="393428" y="152400"/>
                  <a:pt x="406400" y="141049"/>
                  <a:pt x="406400" y="127000"/>
                </a:cubicBezTo>
                <a:cubicBezTo>
                  <a:pt x="406400" y="112951"/>
                  <a:pt x="393428" y="101600"/>
                  <a:pt x="377371" y="101600"/>
                </a:cubicBezTo>
                <a:lnTo>
                  <a:pt x="319314" y="101600"/>
                </a:lnTo>
                <a:lnTo>
                  <a:pt x="319314" y="50800"/>
                </a:lnTo>
                <a:close/>
                <a:moveTo>
                  <a:pt x="290286" y="254000"/>
                </a:moveTo>
                <a:cubicBezTo>
                  <a:pt x="274229" y="254000"/>
                  <a:pt x="261257" y="265351"/>
                  <a:pt x="261257" y="279400"/>
                </a:cubicBezTo>
                <a:lnTo>
                  <a:pt x="261257" y="355600"/>
                </a:lnTo>
                <a:cubicBezTo>
                  <a:pt x="261257" y="369649"/>
                  <a:pt x="274229" y="381000"/>
                  <a:pt x="290286" y="381000"/>
                </a:cubicBezTo>
                <a:cubicBezTo>
                  <a:pt x="306342" y="381000"/>
                  <a:pt x="319314" y="369649"/>
                  <a:pt x="319314" y="355600"/>
                </a:cubicBezTo>
                <a:lnTo>
                  <a:pt x="319314" y="304800"/>
                </a:lnTo>
                <a:lnTo>
                  <a:pt x="377371" y="304800"/>
                </a:lnTo>
                <a:cubicBezTo>
                  <a:pt x="393428" y="304800"/>
                  <a:pt x="406400" y="293449"/>
                  <a:pt x="406400" y="279400"/>
                </a:cubicBezTo>
                <a:cubicBezTo>
                  <a:pt x="406400" y="265351"/>
                  <a:pt x="393428" y="254000"/>
                  <a:pt x="377371" y="254000"/>
                </a:cubicBezTo>
                <a:lnTo>
                  <a:pt x="290286" y="254000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11430000" y="19050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Scale：E8M0</a:t>
            </a:r>
            <a:endParaRPr sz="2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10922000" y="2476500"/>
            <a:ext cx="4318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纯指数格式</a:t>
            </a:r>
            <a:endParaRPr sz="1600"/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每个缩放因子仅 1 字节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配合 MXFP8 数据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避免高成本 scale</a:t>
            </a:r>
            <a:endParaRPr sz="16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762000" y="5194300"/>
            <a:ext cx="14732000" cy="1605085"/>
          </a:xfrm>
          <a:prstGeom prst="roundRect">
            <a:avLst>
              <a:gd name="adj" fmla="val 4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1016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22781" y="155575"/>
                  <a:pt x="50800" y="155575"/>
                </a:cubicBezTo>
                <a:lnTo>
                  <a:pt x="304800" y="155575"/>
                </a:lnTo>
                <a:cubicBezTo>
                  <a:pt x="332819" y="155575"/>
                  <a:pt x="355600" y="135642"/>
                  <a:pt x="355600" y="1111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22250" y="72231"/>
                </a:moveTo>
                <a:cubicBezTo>
                  <a:pt x="232764" y="72231"/>
                  <a:pt x="241300" y="79700"/>
                  <a:pt x="241300" y="88900"/>
                </a:cubicBezTo>
                <a:cubicBezTo>
                  <a:pt x="241300" y="98100"/>
                  <a:pt x="232764" y="105569"/>
                  <a:pt x="222250" y="105569"/>
                </a:cubicBezTo>
                <a:cubicBezTo>
                  <a:pt x="211736" y="105569"/>
                  <a:pt x="203200" y="98100"/>
                  <a:pt x="203200" y="88900"/>
                </a:cubicBezTo>
                <a:cubicBezTo>
                  <a:pt x="203200" y="79700"/>
                  <a:pt x="211736" y="72231"/>
                  <a:pt x="222250" y="72231"/>
                </a:cubicBezTo>
                <a:close/>
                <a:moveTo>
                  <a:pt x="266700" y="88900"/>
                </a:moveTo>
                <a:cubicBezTo>
                  <a:pt x="266700" y="79700"/>
                  <a:pt x="275236" y="72231"/>
                  <a:pt x="285750" y="72231"/>
                </a:cubicBezTo>
                <a:cubicBezTo>
                  <a:pt x="296264" y="72231"/>
                  <a:pt x="304800" y="79700"/>
                  <a:pt x="304800" y="88900"/>
                </a:cubicBezTo>
                <a:cubicBezTo>
                  <a:pt x="304800" y="98100"/>
                  <a:pt x="296264" y="105569"/>
                  <a:pt x="285750" y="105569"/>
                </a:cubicBezTo>
                <a:cubicBezTo>
                  <a:pt x="275236" y="105569"/>
                  <a:pt x="266700" y="98100"/>
                  <a:pt x="266700" y="88900"/>
                </a:cubicBezTo>
                <a:close/>
                <a:moveTo>
                  <a:pt x="50800" y="200025"/>
                </a:moveTo>
                <a:cubicBezTo>
                  <a:pt x="22781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244475"/>
                </a:lnTo>
                <a:cubicBezTo>
                  <a:pt x="355600" y="219958"/>
                  <a:pt x="332819" y="200025"/>
                  <a:pt x="304800" y="200025"/>
                </a:cubicBezTo>
                <a:lnTo>
                  <a:pt x="50800" y="200025"/>
                </a:lnTo>
                <a:close/>
                <a:moveTo>
                  <a:pt x="222250" y="250031"/>
                </a:moveTo>
                <a:cubicBezTo>
                  <a:pt x="232764" y="250031"/>
                  <a:pt x="241300" y="257500"/>
                  <a:pt x="241300" y="266700"/>
                </a:cubicBezTo>
                <a:cubicBezTo>
                  <a:pt x="241300" y="275900"/>
                  <a:pt x="232764" y="283369"/>
                  <a:pt x="222250" y="283369"/>
                </a:cubicBezTo>
                <a:cubicBezTo>
                  <a:pt x="211736" y="283369"/>
                  <a:pt x="203200" y="275900"/>
                  <a:pt x="203200" y="266700"/>
                </a:cubicBezTo>
                <a:cubicBezTo>
                  <a:pt x="203200" y="257500"/>
                  <a:pt x="211736" y="250031"/>
                  <a:pt x="222250" y="250031"/>
                </a:cubicBezTo>
                <a:close/>
                <a:moveTo>
                  <a:pt x="266700" y="266700"/>
                </a:moveTo>
                <a:cubicBezTo>
                  <a:pt x="266700" y="257500"/>
                  <a:pt x="275236" y="250031"/>
                  <a:pt x="285750" y="250031"/>
                </a:cubicBezTo>
                <a:cubicBezTo>
                  <a:pt x="296264" y="250031"/>
                  <a:pt x="304800" y="257500"/>
                  <a:pt x="304800" y="266700"/>
                </a:cubicBezTo>
                <a:cubicBezTo>
                  <a:pt x="304800" y="275900"/>
                  <a:pt x="296264" y="283369"/>
                  <a:pt x="285750" y="283369"/>
                </a:cubicBezTo>
                <a:cubicBezTo>
                  <a:pt x="275236" y="283369"/>
                  <a:pt x="266700" y="275900"/>
                  <a:pt x="266700" y="266700"/>
                </a:cubicBezTo>
                <a:close/>
              </a:path>
            </a:pathLst>
          </a:custGeom>
          <a:solidFill>
            <a:srgbClr val="ED7D3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1498600" y="54229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A5 算子与精度约束</a:t>
            </a:r>
            <a:endParaRPr sz="20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1016000" y="5905500"/>
            <a:ext cx="14224000" cy="825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npu_dynamic_mx_quant + npu_quant_matmul；根据精度实验避免量化 Norm 层。</a:t>
            </a:r>
            <a:endParaRPr sz="18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MXFP8 主要优化 Linear，FA FP8 主要优化 Attention，两者可以组合。</a:t>
            </a:r>
            <a:endParaRPr sz="16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30</a:t>
            </a:r>
            <a:endParaRPr sz="13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量化组合在单卡与八卡上保持一致趋势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950PR 实测数据汇总：FA 主导收益，MatMul 提供稳定增量</a:t>
            </a:r>
            <a:endParaRPr sz="1800"/>
          </a:p>
        </p:txBody>
      </p:sp>
      <p:graphicFrame>
        <p:nvGraphicFramePr>
          <p:cNvPr id="18" name="Table 0"/>
          <p:cNvGraphicFramePr/>
          <p:nvPr/>
        </p:nvGraphicFramePr>
        <p:xfrm>
          <a:off x="762000" y="1651000"/>
          <a:ext cx="14732000" cy="3888000"/>
        </p:xfrm>
        <a:graphic>
          <a:graphicData uri="http://schemas.openxmlformats.org/drawingml/2006/table">
            <a:tbl>
              <a:tblPr/>
              <a:tblGrid>
                <a:gridCol w="2651760"/>
                <a:gridCol w="1767840"/>
                <a:gridCol w="5156200"/>
                <a:gridCol w="5156200"/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场景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MatMul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FA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E2E Speedup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单卡 baseline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1.00×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单卡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1.06×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单卡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1.58×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单卡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1.64×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Ulysses8 baseline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1.00×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Ulysses8</a:t>
                      </a:r>
                      <a:endParaRPr sz="1800" b="1">
                        <a:solidFill>
                          <a:srgbClr val="4472C4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1.05×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0AD47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1.32×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0AD47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√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1.38×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>
            <a:spLocks noGrp="1"/>
          </p:cNvSpPr>
          <p:nvPr/>
        </p:nvSpPr>
        <p:spPr>
          <a:xfrm>
            <a:off x="762000" y="5786007"/>
            <a:ext cx="14732000" cy="1304341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Shape 3"/>
          <p:cNvSpPr>
            <a:spLocks noGrp="1"/>
          </p:cNvSpPr>
          <p:nvPr/>
        </p:nvSpPr>
        <p:spPr>
          <a:xfrm>
            <a:off x="1016000" y="6005141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6871" y="349071"/>
                </a:moveTo>
                <a:cubicBezTo>
                  <a:pt x="168447" y="357753"/>
                  <a:pt x="187246" y="357753"/>
                  <a:pt x="198821" y="349071"/>
                </a:cubicBezTo>
                <a:lnTo>
                  <a:pt x="346988" y="237946"/>
                </a:lnTo>
                <a:cubicBezTo>
                  <a:pt x="358563" y="229265"/>
                  <a:pt x="358563" y="215166"/>
                  <a:pt x="346988" y="206484"/>
                </a:cubicBezTo>
                <a:cubicBezTo>
                  <a:pt x="335412" y="197803"/>
                  <a:pt x="316614" y="197803"/>
                  <a:pt x="305038" y="206484"/>
                </a:cubicBezTo>
                <a:lnTo>
                  <a:pt x="207433" y="279688"/>
                </a:lnTo>
                <a:lnTo>
                  <a:pt x="207433" y="22225"/>
                </a:lnTo>
                <a:cubicBezTo>
                  <a:pt x="207433" y="9932"/>
                  <a:pt x="194191" y="0"/>
                  <a:pt x="177800" y="0"/>
                </a:cubicBezTo>
                <a:cubicBezTo>
                  <a:pt x="161409" y="0"/>
                  <a:pt x="148167" y="9932"/>
                  <a:pt x="148167" y="22225"/>
                </a:cubicBezTo>
                <a:lnTo>
                  <a:pt x="148167" y="279688"/>
                </a:lnTo>
                <a:lnTo>
                  <a:pt x="50562" y="206484"/>
                </a:lnTo>
                <a:cubicBezTo>
                  <a:pt x="38986" y="197802"/>
                  <a:pt x="20188" y="197802"/>
                  <a:pt x="8612" y="206484"/>
                </a:cubicBezTo>
                <a:cubicBezTo>
                  <a:pt x="-2963" y="215166"/>
                  <a:pt x="-2963" y="229265"/>
                  <a:pt x="8612" y="237946"/>
                </a:cubicBezTo>
                <a:lnTo>
                  <a:pt x="156779" y="349071"/>
                </a:lnTo>
                <a:close/>
              </a:path>
            </a:pathLst>
          </a:custGeom>
          <a:solidFill>
            <a:srgbClr val="4472C4"/>
          </a:solidFill>
        </p:spPr>
        <p:txBody>
          <a:bodyPr/>
          <a:lstStyle/>
          <a:p/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1498600" y="5941641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选择建议</a:t>
            </a:r>
            <a:endParaRPr sz="200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1016000" y="6449641"/>
            <a:ext cx="14224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先验证 FA FP8 精度与算子链路，再加入 MXFP8 Linear 量化获取增量收益。</a:t>
            </a:r>
            <a:endParaRPr sz="1800"/>
          </a:p>
        </p:txBody>
      </p:sp>
      <p:sp>
        <p:nvSpPr>
          <p:cNvPr id="10" name="Shape 6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1" name="Text 7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低精度方案需要同时验证性能、生成质量和硬件算子覆盖。</a:t>
            </a:r>
            <a:endParaRPr sz="16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34</a:t>
            </a:r>
            <a:endParaRPr sz="1300"/>
          </a:p>
        </p:txBody>
      </p:sp>
      <p:pic>
        <p:nvPicPr>
          <p:cNvPr id="2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96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05</a:t>
            </a:r>
            <a:endParaRPr sz="9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稀疏 Attention 与优化总结</a:t>
            </a:r>
            <a:endParaRPr sz="4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20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跳过低贡献 block，并将多种优化组合成可复现方案</a:t>
            </a:r>
            <a:endParaRPr sz="20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130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稀疏 Attention 只保留高贡献 block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50000"/>
              </a:lnSpc>
              <a:buNone/>
            </a:pPr>
            <a:r>
              <a:rPr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长序列 Attention 并非所有位置都对最终结果同等重要</a:t>
            </a:r>
            <a:endParaRPr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分块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3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Block</a:t>
            </a:r>
            <a:endParaRPr sz="3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1016000" y="2946400"/>
            <a:ext cx="3175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将 Q/K 按行或时空区域分块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以 block 为最小选择单位</a:t>
            </a:r>
            <a:endParaRPr sz="1600"/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降低选择成本</a:t>
            </a:r>
            <a:endParaRPr sz="1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45085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4762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2705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估计贡献</a:t>
            </a:r>
            <a:endParaRPr sz="2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47625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Score</a:t>
            </a:r>
            <a:endParaRPr sz="28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47625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计算简化 Attention 分数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评估每个 block 重要性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尽量保留高贡献部分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82550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8509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70AD47"/>
          </a:solidFill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90170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选择 Top-K</a:t>
            </a:r>
            <a:endParaRPr sz="20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85090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Keep</a:t>
            </a:r>
            <a:endParaRPr sz="24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85090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依据目标覆盖率选择 block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记录需要计算的索引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控制稀疏度与精度</a:t>
            </a:r>
            <a:endParaRPr sz="160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12001500" y="1651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12255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ED7D3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12763500" y="18796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跳过其余块</a:t>
            </a:r>
            <a:endParaRPr sz="20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12255500" y="23876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Skip</a:t>
            </a:r>
            <a:endParaRPr sz="24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2255500" y="2946400"/>
            <a:ext cx="2921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/>
              <a:t>构造稀疏 mask / SABI tensor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避免完整 QK 计算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减少有效 Attention 成本</a:t>
            </a:r>
            <a:endParaRPr sz="16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704850" y="4954847"/>
            <a:ext cx="14732000" cy="1070066"/>
          </a:xfrm>
          <a:prstGeom prst="roundRect">
            <a:avLst>
              <a:gd name="adj" fmla="val 4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958850" y="5107247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51863" y="247650"/>
                </a:moveTo>
                <a:cubicBezTo>
                  <a:pt x="258141" y="233268"/>
                  <a:pt x="270695" y="220241"/>
                  <a:pt x="284883" y="209019"/>
                </a:cubicBezTo>
                <a:cubicBezTo>
                  <a:pt x="313002" y="186834"/>
                  <a:pt x="330200" y="156845"/>
                  <a:pt x="330200" y="123825"/>
                </a:cubicBezTo>
                <a:cubicBezTo>
                  <a:pt x="330200" y="55463"/>
                  <a:pt x="256249" y="0"/>
                  <a:pt x="165100" y="0"/>
                </a:cubicBezTo>
                <a:cubicBezTo>
                  <a:pt x="73951" y="0"/>
                  <a:pt x="0" y="55463"/>
                  <a:pt x="0" y="123825"/>
                </a:cubicBezTo>
                <a:cubicBezTo>
                  <a:pt x="0" y="156845"/>
                  <a:pt x="17198" y="186834"/>
                  <a:pt x="45317" y="209019"/>
                </a:cubicBezTo>
                <a:cubicBezTo>
                  <a:pt x="59505" y="220241"/>
                  <a:pt x="72145" y="233268"/>
                  <a:pt x="78337" y="247650"/>
                </a:cubicBezTo>
                <a:lnTo>
                  <a:pt x="251777" y="247650"/>
                </a:lnTo>
                <a:close/>
                <a:moveTo>
                  <a:pt x="247650" y="278606"/>
                </a:moveTo>
                <a:lnTo>
                  <a:pt x="82550" y="278606"/>
                </a:lnTo>
                <a:lnTo>
                  <a:pt x="82550" y="288925"/>
                </a:lnTo>
                <a:cubicBezTo>
                  <a:pt x="82550" y="317431"/>
                  <a:pt x="113334" y="340519"/>
                  <a:pt x="151342" y="340519"/>
                </a:cubicBezTo>
                <a:lnTo>
                  <a:pt x="178858" y="340519"/>
                </a:lnTo>
                <a:cubicBezTo>
                  <a:pt x="216866" y="340519"/>
                  <a:pt x="247650" y="317431"/>
                  <a:pt x="247650" y="288925"/>
                </a:cubicBezTo>
                <a:lnTo>
                  <a:pt x="247650" y="278606"/>
                </a:lnTo>
                <a:close/>
                <a:moveTo>
                  <a:pt x="158221" y="72231"/>
                </a:moveTo>
                <a:cubicBezTo>
                  <a:pt x="123997" y="72231"/>
                  <a:pt x="96308" y="92998"/>
                  <a:pt x="96308" y="118666"/>
                </a:cubicBezTo>
                <a:cubicBezTo>
                  <a:pt x="96308" y="127243"/>
                  <a:pt x="87107" y="134144"/>
                  <a:pt x="75671" y="134144"/>
                </a:cubicBezTo>
                <a:cubicBezTo>
                  <a:pt x="64234" y="134144"/>
                  <a:pt x="55033" y="127243"/>
                  <a:pt x="55033" y="118666"/>
                </a:cubicBezTo>
                <a:cubicBezTo>
                  <a:pt x="55033" y="75907"/>
                  <a:pt x="101210" y="41275"/>
                  <a:pt x="158221" y="41275"/>
                </a:cubicBezTo>
                <a:cubicBezTo>
                  <a:pt x="169657" y="41275"/>
                  <a:pt x="178858" y="48176"/>
                  <a:pt x="178858" y="56753"/>
                </a:cubicBezTo>
                <a:cubicBezTo>
                  <a:pt x="178858" y="65331"/>
                  <a:pt x="169657" y="72231"/>
                  <a:pt x="158221" y="7223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1460500" y="5109201"/>
            <a:ext cx="14795500" cy="63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核心矛盾：稀疏度越高，速度潜力越大；覆盖率越高，生成精度越稳。</a:t>
            </a:r>
            <a:endParaRPr sz="2000" b="1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762000" y="6665686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36</a:t>
            </a:r>
            <a:endParaRPr sz="1300"/>
          </a:p>
        </p:txBody>
      </p:sp>
      <p:pic>
        <p:nvPicPr>
          <p:cNvPr id="6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33" name="Text 17"/>
          <p:cNvSpPr>
            <a:spLocks noGrp="1"/>
          </p:cNvSpPr>
          <p:nvPr/>
        </p:nvSpPr>
        <p:spPr>
          <a:xfrm>
            <a:off x="670560" y="6937466"/>
            <a:ext cx="14914880" cy="980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稀疏算法的关键是用低成本方法识别真正重要的 Attention block。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TopK 先离线确定每层所需稀疏度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Offline profiling 通过累计注意力覆盖率 CAC 连接速度与精度目标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4318000" cy="2286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3302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采集 Full Attention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13000"/>
            <a:ext cx="3810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使用代表性视频与 prompt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保存不同 step/layer/head 分数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作为稀疏选择基准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5588000" y="1651000"/>
            <a:ext cx="4318000" cy="2286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5842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350000" y="1879600"/>
            <a:ext cx="3302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计算 CAC</a:t>
            </a:r>
            <a:endParaRPr sz="20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5842000" y="2413000"/>
            <a:ext cx="3810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统计 Top-K 分数占总分数比例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CAC 越高，保留贡献越完整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同时稀疏度越低</a:t>
            </a:r>
            <a:endParaRPr sz="16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10414000" y="1651000"/>
            <a:ext cx="5080000" cy="2286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10668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70AD47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11176000" y="1879600"/>
            <a:ext cx="4064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生成稀疏配置</a:t>
            </a:r>
            <a:endParaRPr sz="20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10668000" y="2413000"/>
            <a:ext cx="4572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为 step/layer/head 记录 K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绑定分辨率与 SP 布局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供在线推理直接使用</a:t>
            </a:r>
            <a:endParaRPr sz="16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762000" y="4318000"/>
            <a:ext cx="14732000" cy="2426677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1016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3500" y="72231"/>
                </a:moveTo>
                <a:cubicBezTo>
                  <a:pt x="74014" y="72231"/>
                  <a:pt x="82550" y="64762"/>
                  <a:pt x="82550" y="55563"/>
                </a:cubicBezTo>
                <a:cubicBezTo>
                  <a:pt x="82550" y="46363"/>
                  <a:pt x="74014" y="38894"/>
                  <a:pt x="63500" y="38894"/>
                </a:cubicBezTo>
                <a:cubicBezTo>
                  <a:pt x="52986" y="38894"/>
                  <a:pt x="44450" y="46363"/>
                  <a:pt x="44450" y="55563"/>
                </a:cubicBezTo>
                <a:cubicBezTo>
                  <a:pt x="44450" y="64762"/>
                  <a:pt x="52986" y="72231"/>
                  <a:pt x="63500" y="72231"/>
                </a:cubicBezTo>
                <a:close/>
                <a:moveTo>
                  <a:pt x="127000" y="55563"/>
                </a:moveTo>
                <a:cubicBezTo>
                  <a:pt x="127000" y="78343"/>
                  <a:pt x="111363" y="97929"/>
                  <a:pt x="88900" y="106472"/>
                </a:cubicBezTo>
                <a:lnTo>
                  <a:pt x="88900" y="155575"/>
                </a:lnTo>
                <a:lnTo>
                  <a:pt x="228600" y="155575"/>
                </a:lnTo>
                <a:cubicBezTo>
                  <a:pt x="249634" y="155575"/>
                  <a:pt x="266700" y="140643"/>
                  <a:pt x="266700" y="122238"/>
                </a:cubicBezTo>
                <a:lnTo>
                  <a:pt x="266700" y="106472"/>
                </a:lnTo>
                <a:cubicBezTo>
                  <a:pt x="244237" y="97929"/>
                  <a:pt x="228600" y="78343"/>
                  <a:pt x="228600" y="55563"/>
                </a:cubicBezTo>
                <a:cubicBezTo>
                  <a:pt x="228600" y="24864"/>
                  <a:pt x="257016" y="0"/>
                  <a:pt x="292100" y="0"/>
                </a:cubicBezTo>
                <a:cubicBezTo>
                  <a:pt x="327184" y="0"/>
                  <a:pt x="355600" y="24864"/>
                  <a:pt x="355600" y="55563"/>
                </a:cubicBezTo>
                <a:cubicBezTo>
                  <a:pt x="355600" y="78343"/>
                  <a:pt x="339963" y="97929"/>
                  <a:pt x="317500" y="106472"/>
                </a:cubicBezTo>
                <a:lnTo>
                  <a:pt x="317500" y="122238"/>
                </a:lnTo>
                <a:cubicBezTo>
                  <a:pt x="317500" y="165229"/>
                  <a:pt x="277733" y="200025"/>
                  <a:pt x="228600" y="200025"/>
                </a:cubicBezTo>
                <a:lnTo>
                  <a:pt x="88900" y="200025"/>
                </a:lnTo>
                <a:lnTo>
                  <a:pt x="88900" y="249128"/>
                </a:lnTo>
                <a:cubicBezTo>
                  <a:pt x="111363" y="257671"/>
                  <a:pt x="127000" y="277257"/>
                  <a:pt x="127000" y="300038"/>
                </a:cubicBezTo>
                <a:cubicBezTo>
                  <a:pt x="127000" y="330736"/>
                  <a:pt x="98584" y="355600"/>
                  <a:pt x="63500" y="355600"/>
                </a:cubicBezTo>
                <a:cubicBezTo>
                  <a:pt x="28416" y="355600"/>
                  <a:pt x="0" y="330736"/>
                  <a:pt x="0" y="300038"/>
                </a:cubicBezTo>
                <a:cubicBezTo>
                  <a:pt x="0" y="277257"/>
                  <a:pt x="15637" y="257671"/>
                  <a:pt x="38100" y="249128"/>
                </a:cubicBezTo>
                <a:lnTo>
                  <a:pt x="38100" y="106541"/>
                </a:lnTo>
                <a:cubicBezTo>
                  <a:pt x="15637" y="97929"/>
                  <a:pt x="0" y="78343"/>
                  <a:pt x="0" y="55563"/>
                </a:cubicBezTo>
                <a:cubicBezTo>
                  <a:pt x="0" y="24864"/>
                  <a:pt x="28416" y="0"/>
                  <a:pt x="63500" y="0"/>
                </a:cubicBezTo>
                <a:cubicBezTo>
                  <a:pt x="98584" y="0"/>
                  <a:pt x="127000" y="24864"/>
                  <a:pt x="127000" y="55563"/>
                </a:cubicBezTo>
                <a:close/>
                <a:moveTo>
                  <a:pt x="311150" y="55563"/>
                </a:moveTo>
                <a:cubicBezTo>
                  <a:pt x="311150" y="46363"/>
                  <a:pt x="302614" y="38894"/>
                  <a:pt x="292100" y="38894"/>
                </a:cubicBezTo>
                <a:cubicBezTo>
                  <a:pt x="281586" y="38894"/>
                  <a:pt x="273050" y="46363"/>
                  <a:pt x="273050" y="55563"/>
                </a:cubicBezTo>
                <a:cubicBezTo>
                  <a:pt x="273050" y="64762"/>
                  <a:pt x="281586" y="72231"/>
                  <a:pt x="292100" y="72231"/>
                </a:cubicBezTo>
                <a:cubicBezTo>
                  <a:pt x="302614" y="72231"/>
                  <a:pt x="311150" y="64762"/>
                  <a:pt x="311150" y="55563"/>
                </a:cubicBezTo>
                <a:close/>
                <a:moveTo>
                  <a:pt x="63500" y="316706"/>
                </a:moveTo>
                <a:cubicBezTo>
                  <a:pt x="74014" y="316706"/>
                  <a:pt x="82550" y="309237"/>
                  <a:pt x="82550" y="300038"/>
                </a:cubicBezTo>
                <a:cubicBezTo>
                  <a:pt x="82550" y="290838"/>
                  <a:pt x="74014" y="283369"/>
                  <a:pt x="63500" y="283369"/>
                </a:cubicBezTo>
                <a:cubicBezTo>
                  <a:pt x="52986" y="283369"/>
                  <a:pt x="44450" y="290838"/>
                  <a:pt x="44450" y="300038"/>
                </a:cubicBezTo>
                <a:cubicBezTo>
                  <a:pt x="44450" y="309237"/>
                  <a:pt x="52986" y="316706"/>
                  <a:pt x="63500" y="316706"/>
                </a:cubic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1498600" y="4470400"/>
            <a:ext cx="635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CAC 定义</a:t>
            </a:r>
            <a:endParaRPr sz="20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016000" y="5016500"/>
            <a:ext cx="142240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CAC = Top-K block 的 Softmax Attention 分数之和 ÷ 全部 block 的 Attention 分数之和。</a:t>
            </a:r>
            <a:endParaRPr sz="18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离线阶段决定速度—精度边界，在线阶段只负责高效执行。</a:t>
            </a:r>
            <a:endParaRPr sz="16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37</a:t>
            </a:r>
            <a:endParaRPr sz="1300"/>
          </a:p>
        </p:txBody>
      </p:sp>
      <p:pic>
        <p:nvPicPr>
          <p:cNvPr id="5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Top K</a:t>
            </a:r>
            <a:r>
              <a:rPr lang="zh-CN" alt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执行</a:t>
            </a:r>
            <a:r>
              <a:rPr lang="zh-CN" altLang="en-US"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流程</a:t>
            </a:r>
            <a:endParaRPr lang="zh-CN" altLang="en-US" sz="3200" b="1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62000" y="7492999"/>
            <a:ext cx="14732000" cy="5932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稀疏配置、分辨率、SP 并行度和 Attention 实际布局必须完全一致。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38</a:t>
            </a:r>
            <a:endParaRPr sz="1300"/>
          </a:p>
        </p:txBody>
      </p:sp>
      <p:pic>
        <p:nvPicPr>
          <p:cNvPr id="1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9" name="图片 8" descr="top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240" y="956945"/>
            <a:ext cx="11144885" cy="63150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SVG 为每个 head 自适应选择时空模式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Sparse Video Generate 在 spatial 与 temporal 两种范式之间动态选择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4699000" cy="2361565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905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Spatial Mask</a:t>
            </a:r>
            <a:endParaRPr sz="20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76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保留空间邻域相关性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强调同一时间附近区域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适合纹理与局部结构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预先构造候选 mask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715000" y="1651000"/>
            <a:ext cx="4699000" cy="23622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5969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029" y="25400"/>
                </a:moveTo>
                <a:cubicBezTo>
                  <a:pt x="12972" y="25400"/>
                  <a:pt x="0" y="36751"/>
                  <a:pt x="0" y="50800"/>
                </a:cubicBezTo>
                <a:lnTo>
                  <a:pt x="0" y="127000"/>
                </a:lnTo>
                <a:cubicBezTo>
                  <a:pt x="0" y="141049"/>
                  <a:pt x="12972" y="152400"/>
                  <a:pt x="29029" y="152400"/>
                </a:cubicBezTo>
                <a:cubicBezTo>
                  <a:pt x="45085" y="152400"/>
                  <a:pt x="58057" y="141049"/>
                  <a:pt x="58057" y="127000"/>
                </a:cubicBezTo>
                <a:lnTo>
                  <a:pt x="58057" y="76200"/>
                </a:lnTo>
                <a:lnTo>
                  <a:pt x="116114" y="76200"/>
                </a:lnTo>
                <a:cubicBezTo>
                  <a:pt x="132171" y="76200"/>
                  <a:pt x="145143" y="64849"/>
                  <a:pt x="145143" y="50800"/>
                </a:cubicBezTo>
                <a:cubicBezTo>
                  <a:pt x="145143" y="36751"/>
                  <a:pt x="132171" y="25400"/>
                  <a:pt x="116114" y="25400"/>
                </a:cubicBezTo>
                <a:lnTo>
                  <a:pt x="29029" y="25400"/>
                </a:lnTo>
                <a:close/>
                <a:moveTo>
                  <a:pt x="58057" y="279400"/>
                </a:moveTo>
                <a:cubicBezTo>
                  <a:pt x="58057" y="265351"/>
                  <a:pt x="45085" y="254000"/>
                  <a:pt x="29029" y="254000"/>
                </a:cubicBezTo>
                <a:cubicBezTo>
                  <a:pt x="12972" y="254000"/>
                  <a:pt x="0" y="265351"/>
                  <a:pt x="0" y="279400"/>
                </a:cubicBezTo>
                <a:lnTo>
                  <a:pt x="0" y="355600"/>
                </a:lnTo>
                <a:cubicBezTo>
                  <a:pt x="0" y="369649"/>
                  <a:pt x="12972" y="381000"/>
                  <a:pt x="29029" y="381000"/>
                </a:cubicBezTo>
                <a:lnTo>
                  <a:pt x="116114" y="381000"/>
                </a:lnTo>
                <a:cubicBezTo>
                  <a:pt x="132171" y="381000"/>
                  <a:pt x="145143" y="369649"/>
                  <a:pt x="145143" y="355600"/>
                </a:cubicBezTo>
                <a:cubicBezTo>
                  <a:pt x="145143" y="341551"/>
                  <a:pt x="132171" y="330200"/>
                  <a:pt x="116114" y="330200"/>
                </a:cubicBezTo>
                <a:lnTo>
                  <a:pt x="58057" y="330200"/>
                </a:lnTo>
                <a:lnTo>
                  <a:pt x="58057" y="279400"/>
                </a:lnTo>
                <a:close/>
                <a:moveTo>
                  <a:pt x="290286" y="25400"/>
                </a:moveTo>
                <a:cubicBezTo>
                  <a:pt x="274229" y="25400"/>
                  <a:pt x="261257" y="36751"/>
                  <a:pt x="261257" y="50800"/>
                </a:cubicBezTo>
                <a:cubicBezTo>
                  <a:pt x="261257" y="64849"/>
                  <a:pt x="274229" y="76200"/>
                  <a:pt x="290286" y="76200"/>
                </a:cubicBezTo>
                <a:lnTo>
                  <a:pt x="348343" y="76200"/>
                </a:lnTo>
                <a:lnTo>
                  <a:pt x="348343" y="127000"/>
                </a:lnTo>
                <a:cubicBezTo>
                  <a:pt x="348343" y="141049"/>
                  <a:pt x="361315" y="152400"/>
                  <a:pt x="377371" y="152400"/>
                </a:cubicBezTo>
                <a:cubicBezTo>
                  <a:pt x="393428" y="152400"/>
                  <a:pt x="406400" y="141049"/>
                  <a:pt x="406400" y="127000"/>
                </a:cubicBezTo>
                <a:lnTo>
                  <a:pt x="406400" y="50800"/>
                </a:lnTo>
                <a:cubicBezTo>
                  <a:pt x="406400" y="36751"/>
                  <a:pt x="393428" y="25400"/>
                  <a:pt x="377371" y="25400"/>
                </a:cubicBezTo>
                <a:lnTo>
                  <a:pt x="290286" y="25400"/>
                </a:lnTo>
                <a:close/>
                <a:moveTo>
                  <a:pt x="406400" y="279400"/>
                </a:moveTo>
                <a:cubicBezTo>
                  <a:pt x="406400" y="265351"/>
                  <a:pt x="393428" y="254000"/>
                  <a:pt x="377371" y="254000"/>
                </a:cubicBezTo>
                <a:cubicBezTo>
                  <a:pt x="361315" y="254000"/>
                  <a:pt x="348343" y="265351"/>
                  <a:pt x="348343" y="279400"/>
                </a:cubicBezTo>
                <a:lnTo>
                  <a:pt x="348343" y="330200"/>
                </a:lnTo>
                <a:lnTo>
                  <a:pt x="290286" y="330200"/>
                </a:lnTo>
                <a:cubicBezTo>
                  <a:pt x="274229" y="330200"/>
                  <a:pt x="261257" y="341551"/>
                  <a:pt x="261257" y="355600"/>
                </a:cubicBezTo>
                <a:cubicBezTo>
                  <a:pt x="261257" y="369649"/>
                  <a:pt x="274229" y="381000"/>
                  <a:pt x="290286" y="381000"/>
                </a:cubicBezTo>
                <a:lnTo>
                  <a:pt x="377371" y="381000"/>
                </a:lnTo>
                <a:cubicBezTo>
                  <a:pt x="393428" y="381000"/>
                  <a:pt x="406400" y="369649"/>
                  <a:pt x="406400" y="355600"/>
                </a:cubicBezTo>
                <a:lnTo>
                  <a:pt x="406400" y="27940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477000" y="1905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Temporal Mask</a:t>
            </a:r>
            <a:endParaRPr sz="20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969000" y="2476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保留跨时间关联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强调运动与帧间一致性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适合动态内容</a:t>
            </a:r>
            <a:endParaRPr sz="1600"/>
          </a:p>
          <a:p>
            <a:pPr algn="l"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预先构造候选 mask</a:t>
            </a:r>
            <a:endParaRPr sz="16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0668000" y="1651000"/>
            <a:ext cx="4826000" cy="2381885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10922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45143" y="50800"/>
                </a:moveTo>
                <a:cubicBezTo>
                  <a:pt x="145143" y="36751"/>
                  <a:pt x="132171" y="25400"/>
                  <a:pt x="116114" y="25400"/>
                </a:cubicBezTo>
                <a:cubicBezTo>
                  <a:pt x="100058" y="25400"/>
                  <a:pt x="87086" y="36751"/>
                  <a:pt x="87086" y="50800"/>
                </a:cubicBezTo>
                <a:lnTo>
                  <a:pt x="87086" y="101600"/>
                </a:lnTo>
                <a:lnTo>
                  <a:pt x="29029" y="101600"/>
                </a:lnTo>
                <a:cubicBezTo>
                  <a:pt x="12972" y="101600"/>
                  <a:pt x="0" y="112951"/>
                  <a:pt x="0" y="127000"/>
                </a:cubicBezTo>
                <a:cubicBezTo>
                  <a:pt x="0" y="141049"/>
                  <a:pt x="12972" y="152400"/>
                  <a:pt x="29029" y="152400"/>
                </a:cubicBezTo>
                <a:lnTo>
                  <a:pt x="116114" y="152400"/>
                </a:lnTo>
                <a:cubicBezTo>
                  <a:pt x="132171" y="152400"/>
                  <a:pt x="145143" y="141049"/>
                  <a:pt x="145143" y="127000"/>
                </a:cubicBezTo>
                <a:lnTo>
                  <a:pt x="145143" y="50800"/>
                </a:lnTo>
                <a:close/>
                <a:moveTo>
                  <a:pt x="29029" y="254000"/>
                </a:moveTo>
                <a:cubicBezTo>
                  <a:pt x="12972" y="254000"/>
                  <a:pt x="0" y="265351"/>
                  <a:pt x="0" y="279400"/>
                </a:cubicBezTo>
                <a:cubicBezTo>
                  <a:pt x="0" y="293449"/>
                  <a:pt x="12972" y="304800"/>
                  <a:pt x="29029" y="304800"/>
                </a:cubicBezTo>
                <a:lnTo>
                  <a:pt x="87086" y="304800"/>
                </a:lnTo>
                <a:lnTo>
                  <a:pt x="87086" y="355600"/>
                </a:lnTo>
                <a:cubicBezTo>
                  <a:pt x="87086" y="369649"/>
                  <a:pt x="100058" y="381000"/>
                  <a:pt x="116114" y="381000"/>
                </a:cubicBezTo>
                <a:cubicBezTo>
                  <a:pt x="132171" y="381000"/>
                  <a:pt x="145143" y="369649"/>
                  <a:pt x="145143" y="355600"/>
                </a:cubicBezTo>
                <a:lnTo>
                  <a:pt x="145143" y="279400"/>
                </a:lnTo>
                <a:cubicBezTo>
                  <a:pt x="145143" y="265351"/>
                  <a:pt x="132171" y="254000"/>
                  <a:pt x="116114" y="254000"/>
                </a:cubicBezTo>
                <a:lnTo>
                  <a:pt x="29029" y="254000"/>
                </a:lnTo>
                <a:close/>
                <a:moveTo>
                  <a:pt x="319314" y="50800"/>
                </a:moveTo>
                <a:cubicBezTo>
                  <a:pt x="319314" y="36751"/>
                  <a:pt x="306342" y="25400"/>
                  <a:pt x="290286" y="25400"/>
                </a:cubicBezTo>
                <a:cubicBezTo>
                  <a:pt x="274229" y="25400"/>
                  <a:pt x="261257" y="36751"/>
                  <a:pt x="261257" y="50800"/>
                </a:cubicBezTo>
                <a:lnTo>
                  <a:pt x="261257" y="127000"/>
                </a:lnTo>
                <a:cubicBezTo>
                  <a:pt x="261257" y="141049"/>
                  <a:pt x="274229" y="152400"/>
                  <a:pt x="290286" y="152400"/>
                </a:cubicBezTo>
                <a:lnTo>
                  <a:pt x="377371" y="152400"/>
                </a:lnTo>
                <a:cubicBezTo>
                  <a:pt x="393428" y="152400"/>
                  <a:pt x="406400" y="141049"/>
                  <a:pt x="406400" y="127000"/>
                </a:cubicBezTo>
                <a:cubicBezTo>
                  <a:pt x="406400" y="112951"/>
                  <a:pt x="393428" y="101600"/>
                  <a:pt x="377371" y="101600"/>
                </a:cubicBezTo>
                <a:lnTo>
                  <a:pt x="319314" y="101600"/>
                </a:lnTo>
                <a:lnTo>
                  <a:pt x="319314" y="50800"/>
                </a:lnTo>
                <a:close/>
                <a:moveTo>
                  <a:pt x="290286" y="254000"/>
                </a:moveTo>
                <a:cubicBezTo>
                  <a:pt x="274229" y="254000"/>
                  <a:pt x="261257" y="265351"/>
                  <a:pt x="261257" y="279400"/>
                </a:cubicBezTo>
                <a:lnTo>
                  <a:pt x="261257" y="355600"/>
                </a:lnTo>
                <a:cubicBezTo>
                  <a:pt x="261257" y="369649"/>
                  <a:pt x="274229" y="381000"/>
                  <a:pt x="290286" y="381000"/>
                </a:cubicBezTo>
                <a:cubicBezTo>
                  <a:pt x="306342" y="381000"/>
                  <a:pt x="319314" y="369649"/>
                  <a:pt x="319314" y="355600"/>
                </a:cubicBezTo>
                <a:lnTo>
                  <a:pt x="319314" y="304800"/>
                </a:lnTo>
                <a:lnTo>
                  <a:pt x="377371" y="304800"/>
                </a:lnTo>
                <a:cubicBezTo>
                  <a:pt x="393428" y="304800"/>
                  <a:pt x="406400" y="293449"/>
                  <a:pt x="406400" y="279400"/>
                </a:cubicBezTo>
                <a:cubicBezTo>
                  <a:pt x="406400" y="265351"/>
                  <a:pt x="393428" y="254000"/>
                  <a:pt x="377371" y="254000"/>
                </a:cubicBezTo>
                <a:lnTo>
                  <a:pt x="290286" y="254000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11430000" y="19050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Per-head 选择</a:t>
            </a:r>
            <a:endParaRPr sz="2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10922000" y="2476500"/>
            <a:ext cx="431800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采样少量 Query</a:t>
            </a:r>
            <a:endParaRPr sz="1600"/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分别运行两种稀疏 Attention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与 Full Attention 比较 MSE</a:t>
            </a:r>
            <a:endParaRPr sz="16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选择误差更小的 pattern</a:t>
            </a:r>
            <a:endParaRPr sz="16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/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SVG 用少量额外评估换取 head 级自适应能力。</a:t>
            </a:r>
            <a:endParaRPr sz="16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39</a:t>
            </a:r>
            <a:endParaRPr sz="13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2" name="图片 1" descr="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25" y="4023360"/>
            <a:ext cx="9404985" cy="32689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TopK 与 SVG 在预计算和自适应之间取舍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两者都试图保留高贡献块，但选择机制和运行时成本不同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6985000" cy="2667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7118" y="13811"/>
                </a:moveTo>
                <a:cubicBezTo>
                  <a:pt x="213889" y="3889"/>
                  <a:pt x="192405" y="3889"/>
                  <a:pt x="179176" y="13811"/>
                </a:cubicBezTo>
                <a:lnTo>
                  <a:pt x="9843" y="140811"/>
                </a:lnTo>
                <a:cubicBezTo>
                  <a:pt x="-3387" y="150733"/>
                  <a:pt x="-3387" y="166846"/>
                  <a:pt x="9843" y="176768"/>
                </a:cubicBezTo>
                <a:cubicBezTo>
                  <a:pt x="23072" y="186690"/>
                  <a:pt x="44556" y="186690"/>
                  <a:pt x="57785" y="176768"/>
                </a:cubicBezTo>
                <a:lnTo>
                  <a:pt x="169333" y="93107"/>
                </a:lnTo>
                <a:lnTo>
                  <a:pt x="169333" y="387350"/>
                </a:lnTo>
                <a:cubicBezTo>
                  <a:pt x="169333" y="401399"/>
                  <a:pt x="184468" y="412750"/>
                  <a:pt x="203200" y="412750"/>
                </a:cubicBezTo>
                <a:cubicBezTo>
                  <a:pt x="221932" y="412750"/>
                  <a:pt x="237067" y="401399"/>
                  <a:pt x="237067" y="387350"/>
                </a:cubicBezTo>
                <a:lnTo>
                  <a:pt x="237067" y="93107"/>
                </a:lnTo>
                <a:lnTo>
                  <a:pt x="348615" y="176768"/>
                </a:lnTo>
                <a:cubicBezTo>
                  <a:pt x="361844" y="186690"/>
                  <a:pt x="383328" y="186690"/>
                  <a:pt x="396557" y="176768"/>
                </a:cubicBezTo>
                <a:cubicBezTo>
                  <a:pt x="409787" y="166846"/>
                  <a:pt x="409787" y="150733"/>
                  <a:pt x="396557" y="140811"/>
                </a:cubicBezTo>
                <a:lnTo>
                  <a:pt x="227224" y="13811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TopK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13000"/>
            <a:ext cx="6477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离线 profiling 决定稀疏度</a:t>
            </a:r>
            <a:endParaRPr sz="18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在线池化并计算近似分数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选择 block 更细粒度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配置与分辨率强绑定</a:t>
            </a:r>
            <a:endParaRPr sz="1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8001000" y="1651000"/>
            <a:ext cx="7493000" cy="2667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8255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9282" y="398939"/>
                </a:moveTo>
                <a:cubicBezTo>
                  <a:pt x="192511" y="408861"/>
                  <a:pt x="213995" y="408861"/>
                  <a:pt x="227224" y="398939"/>
                </a:cubicBezTo>
                <a:lnTo>
                  <a:pt x="396557" y="271939"/>
                </a:lnTo>
                <a:cubicBezTo>
                  <a:pt x="409787" y="262017"/>
                  <a:pt x="409787" y="245904"/>
                  <a:pt x="396557" y="235982"/>
                </a:cubicBezTo>
                <a:cubicBezTo>
                  <a:pt x="383328" y="226060"/>
                  <a:pt x="361844" y="226060"/>
                  <a:pt x="348615" y="235982"/>
                </a:cubicBezTo>
                <a:lnTo>
                  <a:pt x="237067" y="319643"/>
                </a:lnTo>
                <a:lnTo>
                  <a:pt x="237067" y="25400"/>
                </a:lnTo>
                <a:cubicBezTo>
                  <a:pt x="237067" y="11351"/>
                  <a:pt x="221932" y="0"/>
                  <a:pt x="203200" y="0"/>
                </a:cubicBezTo>
                <a:cubicBezTo>
                  <a:pt x="184468" y="0"/>
                  <a:pt x="169333" y="11351"/>
                  <a:pt x="169333" y="25400"/>
                </a:cubicBezTo>
                <a:lnTo>
                  <a:pt x="169333" y="319643"/>
                </a:lnTo>
                <a:lnTo>
                  <a:pt x="57785" y="235982"/>
                </a:lnTo>
                <a:cubicBezTo>
                  <a:pt x="44556" y="226060"/>
                  <a:pt x="23072" y="226060"/>
                  <a:pt x="9842" y="235982"/>
                </a:cubicBezTo>
                <a:cubicBezTo>
                  <a:pt x="-3387" y="245904"/>
                  <a:pt x="-3387" y="262017"/>
                  <a:pt x="9842" y="271939"/>
                </a:cubicBezTo>
                <a:lnTo>
                  <a:pt x="179176" y="39893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8763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SVG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8255000" y="2413000"/>
            <a:ext cx="6985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预设 spatial / temporal 两类 mask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在线采样并比较 MSE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每个 head 自适应选择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运行时多一次模式评估</a:t>
            </a:r>
            <a:endParaRPr sz="18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762000" y="4635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适用差异</a:t>
            </a:r>
            <a:endParaRPr sz="2000"/>
          </a:p>
        </p:txBody>
      </p:sp>
      <p:graphicFrame>
        <p:nvGraphicFramePr>
          <p:cNvPr id="32" name="Table 0"/>
          <p:cNvGraphicFramePr/>
          <p:nvPr/>
        </p:nvGraphicFramePr>
        <p:xfrm>
          <a:off x="762000" y="5143500"/>
          <a:ext cx="14732000" cy="1778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7366000"/>
              </a:tblGrid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维度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TopK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SVG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选择方式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块分数 Top-K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时空模式二选一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主要代价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近似打分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采样 + MSE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6" name="Text 12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TopK 更细粒度，SVG 更强调视频时空结构；都需要单独做精度验证。</a:t>
            </a:r>
            <a:endParaRPr sz="16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40</a:t>
            </a:r>
            <a:endParaRPr sz="13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先建立无损基线，再叠加有损优化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无损方案改变资源分配，有损方案减少或近似模型计算</a:t>
            </a:r>
            <a:endParaRPr sz="1800"/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762000" y="1651000"/>
            <a:ext cx="6985000" cy="2667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7118" y="13811"/>
                </a:moveTo>
                <a:cubicBezTo>
                  <a:pt x="213889" y="3889"/>
                  <a:pt x="192405" y="3889"/>
                  <a:pt x="179176" y="13811"/>
                </a:cubicBezTo>
                <a:lnTo>
                  <a:pt x="9843" y="140811"/>
                </a:lnTo>
                <a:cubicBezTo>
                  <a:pt x="-3387" y="150733"/>
                  <a:pt x="-3387" y="166846"/>
                  <a:pt x="9843" y="176768"/>
                </a:cubicBezTo>
                <a:cubicBezTo>
                  <a:pt x="23072" y="186690"/>
                  <a:pt x="44556" y="186690"/>
                  <a:pt x="57785" y="176768"/>
                </a:cubicBezTo>
                <a:lnTo>
                  <a:pt x="169333" y="93107"/>
                </a:lnTo>
                <a:lnTo>
                  <a:pt x="169333" y="387350"/>
                </a:lnTo>
                <a:cubicBezTo>
                  <a:pt x="169333" y="401399"/>
                  <a:pt x="184468" y="412750"/>
                  <a:pt x="203200" y="412750"/>
                </a:cubicBezTo>
                <a:cubicBezTo>
                  <a:pt x="221932" y="412750"/>
                  <a:pt x="237067" y="401399"/>
                  <a:pt x="237067" y="387350"/>
                </a:cubicBezTo>
                <a:lnTo>
                  <a:pt x="237067" y="93107"/>
                </a:lnTo>
                <a:lnTo>
                  <a:pt x="348615" y="176768"/>
                </a:lnTo>
                <a:cubicBezTo>
                  <a:pt x="361844" y="186690"/>
                  <a:pt x="383328" y="186690"/>
                  <a:pt x="396557" y="176768"/>
                </a:cubicBezTo>
                <a:cubicBezTo>
                  <a:pt x="409787" y="166846"/>
                  <a:pt x="409787" y="150733"/>
                  <a:pt x="396557" y="140811"/>
                </a:cubicBezTo>
                <a:lnTo>
                  <a:pt x="227224" y="13811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524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无损优化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16000" y="2413000"/>
            <a:ext cx="6477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序列并行</a:t>
            </a:r>
            <a:endParaRPr sz="180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VAE 并行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保持完整 Attention 上下文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保持完整卷积感受野</a:t>
            </a:r>
            <a:endParaRPr sz="1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8001000" y="1651000"/>
            <a:ext cx="7493000" cy="2667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8255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9282" y="398939"/>
                </a:moveTo>
                <a:cubicBezTo>
                  <a:pt x="192511" y="408861"/>
                  <a:pt x="213995" y="408861"/>
                  <a:pt x="227224" y="398939"/>
                </a:cubicBezTo>
                <a:lnTo>
                  <a:pt x="396557" y="271939"/>
                </a:lnTo>
                <a:cubicBezTo>
                  <a:pt x="409787" y="262017"/>
                  <a:pt x="409787" y="245904"/>
                  <a:pt x="396557" y="235982"/>
                </a:cubicBezTo>
                <a:cubicBezTo>
                  <a:pt x="383328" y="226060"/>
                  <a:pt x="361844" y="226060"/>
                  <a:pt x="348615" y="235982"/>
                </a:cubicBezTo>
                <a:lnTo>
                  <a:pt x="237067" y="319643"/>
                </a:lnTo>
                <a:lnTo>
                  <a:pt x="237067" y="25400"/>
                </a:lnTo>
                <a:cubicBezTo>
                  <a:pt x="237067" y="11351"/>
                  <a:pt x="221932" y="0"/>
                  <a:pt x="203200" y="0"/>
                </a:cubicBezTo>
                <a:cubicBezTo>
                  <a:pt x="184468" y="0"/>
                  <a:pt x="169333" y="11351"/>
                  <a:pt x="169333" y="25400"/>
                </a:cubicBezTo>
                <a:lnTo>
                  <a:pt x="169333" y="319643"/>
                </a:lnTo>
                <a:lnTo>
                  <a:pt x="57785" y="235982"/>
                </a:lnTo>
                <a:cubicBezTo>
                  <a:pt x="44556" y="226060"/>
                  <a:pt x="23072" y="226060"/>
                  <a:pt x="9842" y="235982"/>
                </a:cubicBezTo>
                <a:cubicBezTo>
                  <a:pt x="-3387" y="245904"/>
                  <a:pt x="-3387" y="262017"/>
                  <a:pt x="9842" y="271939"/>
                </a:cubicBezTo>
                <a:lnTo>
                  <a:pt x="179176" y="39893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8763000" y="1879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有损优化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8255000" y="2413000"/>
            <a:ext cx="6985000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DiT Cache：复用或预测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量化：降低数值精度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稀疏：跳过部分 block</a:t>
            </a:r>
            <a:endParaRPr sz="1800"/>
          </a:p>
          <a:p>
            <a:pPr algn="l">
              <a:lnSpc>
                <a:spcPct val="16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• 必须评估生成质量</a:t>
            </a:r>
            <a:endParaRPr sz="18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762000" y="4635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推荐顺序</a:t>
            </a:r>
            <a:endParaRPr sz="2000"/>
          </a:p>
        </p:txBody>
      </p:sp>
      <p:graphicFrame>
        <p:nvGraphicFramePr>
          <p:cNvPr id="32" name="Table 0"/>
          <p:cNvGraphicFramePr/>
          <p:nvPr/>
        </p:nvGraphicFramePr>
        <p:xfrm>
          <a:off x="762000" y="5143500"/>
          <a:ext cx="14732000" cy="1778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7366000"/>
              </a:tblGrid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阶段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目标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验证重点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 无损基线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先获得稳定加速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数学一致性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2. 有损叠加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继续压缩开销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固定条件质量对比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6" name="Text 12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固定 prompt、seed、分辨率和采样步数，是比较有损优化的最低要求。</a:t>
            </a:r>
            <a:endParaRPr sz="16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41</a:t>
            </a:r>
            <a:endParaRPr sz="13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组合优化将端到端速度提升至 7.73 倍</a:t>
            </a:r>
            <a:endParaRPr sz="32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762000" y="10541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默认 720×1280×129；从单卡 baseline 到多卡无损并行与 Cache 叠加</a:t>
            </a:r>
            <a:endParaRPr sz="1800"/>
          </a:p>
        </p:txBody>
      </p:sp>
      <p:graphicFrame>
        <p:nvGraphicFramePr>
          <p:cNvPr id="18" name="Table 0"/>
          <p:cNvGraphicFramePr/>
          <p:nvPr/>
        </p:nvGraphicFramePr>
        <p:xfrm>
          <a:off x="762000" y="1651000"/>
          <a:ext cx="14732000" cy="3888000"/>
        </p:xfrm>
        <a:graphic>
          <a:graphicData uri="http://schemas.openxmlformats.org/drawingml/2006/table">
            <a:tbl>
              <a:tblPr/>
              <a:tblGrid>
                <a:gridCol w="2651760"/>
                <a:gridCol w="1767840"/>
                <a:gridCol w="5156200"/>
                <a:gridCol w="5156200"/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配置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DiT(s)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VAE(s)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E2E Speedup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单卡 baseline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3634.48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133.15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1.00×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融合 + VAE 优化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3568.36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39.66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1.04×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C00000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FBCache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1693.89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83.03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2.12×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TeaCache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1737.92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88.56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2.06×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TaylorSeer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1405.68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92.85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2.51×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72C4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Ulysses5 + VAE 并行</a:t>
                      </a:r>
                      <a:endParaRPr sz="1800" b="1">
                        <a:solidFill>
                          <a:srgbClr val="4472C4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769.33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40.61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4.65×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0AD47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Ulysses8 + VAE 并行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467.67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22.78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7.60×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70AD47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Ulysses8 + VAE 优化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465.43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12.40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7.73×</a:t>
                      </a:r>
                      <a:endParaRPr sz="1800"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>
            <a:spLocks noGrp="1"/>
          </p:cNvSpPr>
          <p:nvPr/>
        </p:nvSpPr>
        <p:spPr>
          <a:xfrm>
            <a:off x="762000" y="5786007"/>
            <a:ext cx="14732000" cy="1304341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Shape 3"/>
          <p:cNvSpPr>
            <a:spLocks noGrp="1"/>
          </p:cNvSpPr>
          <p:nvPr/>
        </p:nvSpPr>
        <p:spPr>
          <a:xfrm>
            <a:off x="1016000" y="6005141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6871" y="349071"/>
                </a:moveTo>
                <a:cubicBezTo>
                  <a:pt x="168447" y="357753"/>
                  <a:pt x="187246" y="357753"/>
                  <a:pt x="198821" y="349071"/>
                </a:cubicBezTo>
                <a:lnTo>
                  <a:pt x="346988" y="237946"/>
                </a:lnTo>
                <a:cubicBezTo>
                  <a:pt x="358563" y="229265"/>
                  <a:pt x="358563" y="215166"/>
                  <a:pt x="346988" y="206484"/>
                </a:cubicBezTo>
                <a:cubicBezTo>
                  <a:pt x="335412" y="197803"/>
                  <a:pt x="316614" y="197803"/>
                  <a:pt x="305038" y="206484"/>
                </a:cubicBezTo>
                <a:lnTo>
                  <a:pt x="207433" y="279688"/>
                </a:lnTo>
                <a:lnTo>
                  <a:pt x="207433" y="22225"/>
                </a:lnTo>
                <a:cubicBezTo>
                  <a:pt x="207433" y="9932"/>
                  <a:pt x="194191" y="0"/>
                  <a:pt x="177800" y="0"/>
                </a:cubicBezTo>
                <a:cubicBezTo>
                  <a:pt x="161409" y="0"/>
                  <a:pt x="148167" y="9932"/>
                  <a:pt x="148167" y="22225"/>
                </a:cubicBezTo>
                <a:lnTo>
                  <a:pt x="148167" y="279688"/>
                </a:lnTo>
                <a:lnTo>
                  <a:pt x="50562" y="206484"/>
                </a:lnTo>
                <a:cubicBezTo>
                  <a:pt x="38986" y="197802"/>
                  <a:pt x="20188" y="197802"/>
                  <a:pt x="8612" y="206484"/>
                </a:cubicBezTo>
                <a:cubicBezTo>
                  <a:pt x="-2963" y="215166"/>
                  <a:pt x="-2963" y="229265"/>
                  <a:pt x="8612" y="237946"/>
                </a:cubicBezTo>
                <a:lnTo>
                  <a:pt x="156779" y="349071"/>
                </a:lnTo>
                <a:close/>
              </a:path>
            </a:pathLst>
          </a:custGeom>
          <a:solidFill>
            <a:srgbClr val="4472C4"/>
          </a:solidFill>
        </p:spPr>
        <p:txBody>
          <a:bodyPr/>
          <a:lstStyle/>
          <a:p/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1498600" y="5941641"/>
            <a:ext cx="3810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最佳无损组合</a:t>
            </a:r>
            <a:endParaRPr sz="200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1016000" y="6449641"/>
            <a:ext cx="14224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  <a:buNone/>
            </a:pPr>
            <a:r>
              <a:rPr sz="18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Ulysses8 + VAE 并行/优化将端到端从 3768.91s 降至 487.68s。</a:t>
            </a:r>
            <a:endParaRPr sz="1800"/>
          </a:p>
        </p:txBody>
      </p:sp>
      <p:sp>
        <p:nvSpPr>
          <p:cNvPr id="10" name="Shape 6"/>
          <p:cNvSpPr>
            <a:spLocks noGrp="1"/>
          </p:cNvSpPr>
          <p:nvPr/>
        </p:nvSpPr>
        <p:spPr>
          <a:xfrm>
            <a:off x="762000" y="7302500"/>
            <a:ext cx="14732000" cy="508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1" name="Text 7"/>
          <p:cNvSpPr>
            <a:spLocks noGrp="1"/>
          </p:cNvSpPr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最大收益来自先扩展多卡算力，再针对 DiT 与 VAE 各自优化。</a:t>
            </a:r>
            <a:endParaRPr sz="16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43</a:t>
            </a:r>
            <a:endParaRPr sz="1300"/>
          </a:p>
        </p:txBody>
      </p:sp>
      <p:pic>
        <p:nvPicPr>
          <p:cNvPr id="2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1168400" y="1612900"/>
            <a:ext cx="6350000" cy="12319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7200">
                <a:solidFill>
                  <a:srgbClr val="000000"/>
                </a:solidFill>
                <a:latin typeface="Liter" panose="02000503030000020004"/>
                <a:ea typeface="Liter" panose="02000503030000020004"/>
                <a:cs typeface="Liter" panose="02000503030000020004"/>
              </a:rPr>
              <a:t>Thank you.</a:t>
            </a:r>
            <a:endParaRPr sz="7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8534400" y="1524000"/>
            <a:ext cx="6261100" cy="5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核心要点回顾</a:t>
            </a:r>
            <a:endParaRPr sz="22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8534400" y="2095500"/>
            <a:ext cx="6261100" cy="25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• Attention 是 HunyuanVideo 的第一热点</a:t>
            </a:r>
            <a:endParaRPr sz="1600"/>
          </a:p>
          <a:p>
            <a:pPr algn="l">
              <a:lnSpc>
                <a:spcPct val="16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• 序列并行与 VAE 并行建立无损基线</a:t>
            </a:r>
            <a:endParaRPr sz="1600"/>
          </a:p>
          <a:p>
            <a:pPr algn="l">
              <a:lnSpc>
                <a:spcPct val="16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• DiT Cache 减少重复前向</a:t>
            </a:r>
            <a:endParaRPr sz="1600"/>
          </a:p>
          <a:p>
            <a:pPr algn="l">
              <a:lnSpc>
                <a:spcPct val="16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• FA FP8 与 MXFP8 压缩热点计算</a:t>
            </a:r>
            <a:endParaRPr sz="1600"/>
          </a:p>
          <a:p>
            <a:pPr algn="l">
              <a:lnSpc>
                <a:spcPct val="160000"/>
              </a:lnSpc>
              <a:buNone/>
            </a:pPr>
            <a:r>
              <a:rPr sz="16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• TopK / SVG 进一步减少有效 Attention</a:t>
            </a:r>
            <a:endParaRPr sz="16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68400" y="3556000"/>
            <a:ext cx="6350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开启多模生成推理优化实践</a:t>
            </a:r>
            <a:endParaRPr sz="2200"/>
          </a:p>
          <a:p>
            <a:pPr algn="l">
              <a:lnSpc>
                <a:spcPct val="160000"/>
              </a:lnSpc>
              <a:buNone/>
            </a:pPr>
            <a:r>
              <a:rPr sz="1600" b="1" u="sng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  <a:hlinkClick r:id="rId1"/>
              </a:rPr>
              <a:t>gitcode.com/cann/cann-recipes-infer</a:t>
            </a:r>
            <a:endParaRPr sz="22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900" y="5245100"/>
            <a:ext cx="2133600" cy="2133600"/>
          </a:xfrm>
          <a:prstGeom prst="rect">
            <a:avLst/>
          </a:prstGeom>
        </p:spPr>
      </p:pic>
      <p:pic>
        <p:nvPicPr>
          <p:cNvPr id="2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100" y="5194300"/>
            <a:ext cx="2247900" cy="2247900"/>
          </a:xfrm>
          <a:prstGeom prst="rect">
            <a:avLst/>
          </a:prstGeom>
        </p:spPr>
      </p:pic>
      <p:sp>
        <p:nvSpPr>
          <p:cNvPr id="8" name="Text 4"/>
          <p:cNvSpPr>
            <a:spLocks noGrp="1"/>
          </p:cNvSpPr>
          <p:nvPr/>
        </p:nvSpPr>
        <p:spPr>
          <a:xfrm>
            <a:off x="9410700" y="7378700"/>
            <a:ext cx="1905000" cy="330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30">
                <a:solidFill>
                  <a:srgbClr val="000000"/>
                </a:solidFill>
                <a:latin typeface="MiSans" charset="-122"/>
                <a:ea typeface="MiSans" charset="-122"/>
                <a:cs typeface="MiSans" charset="-122"/>
              </a:rPr>
              <a:t>上CANN社区获取干货</a:t>
            </a:r>
            <a:endParaRPr sz="133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11658600" y="7493000"/>
            <a:ext cx="2247900" cy="330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30">
                <a:solidFill>
                  <a:srgbClr val="000000"/>
                </a:solidFill>
                <a:latin typeface="MiSans" charset="-122"/>
                <a:ea typeface="MiSans" charset="-122"/>
                <a:cs typeface="MiSans" charset="-122"/>
              </a:rPr>
              <a:t>关注CANN公众号获取资讯</a:t>
            </a:r>
            <a:endParaRPr sz="1330"/>
          </a:p>
        </p:txBody>
      </p:sp>
      <p:sp>
        <p:nvSpPr>
          <p:cNvPr id="10" name="Text 6"/>
          <p:cNvSpPr>
            <a:spLocks noGrp="1"/>
          </p:cNvSpPr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https://gitcode.com/cann</a:t>
            </a:r>
            <a:endParaRPr sz="13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46</a:t>
            </a:r>
            <a:endParaRPr sz="1300"/>
          </a:p>
        </p:txBody>
      </p:sp>
      <p:pic>
        <p:nvPicPr>
          <p:cNvPr id="25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7306</Words>
  <Application>WPS 演示</Application>
  <PresentationFormat>Converted Presentation</PresentationFormat>
  <Paragraphs>1077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宋体</vt:lpstr>
      <vt:lpstr>Wingdings</vt:lpstr>
      <vt:lpstr>Arial</vt:lpstr>
      <vt:lpstr>MiSans</vt:lpstr>
      <vt:lpstr>Calibri</vt:lpstr>
      <vt:lpstr>微软雅黑</vt:lpstr>
      <vt:lpstr>Arial Unicode MS</vt:lpstr>
      <vt:lpstr>等线</vt:lpstr>
      <vt:lpstr>Liter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楠楠楠楠倪</cp:lastModifiedBy>
  <cp:revision>4</cp:revision>
  <dcterms:created xsi:type="dcterms:W3CDTF">2026-08-20T11:09:21Z</dcterms:created>
  <dcterms:modified xsi:type="dcterms:W3CDTF">2026-08-21T01:14:23Z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944A80FCE4EB4BA1A247606B3CE8EDB7_13</vt:lpwstr>
  </property>
</Properties>
</file>