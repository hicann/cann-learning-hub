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79" r:id="rId6"/>
    <p:sldId id="280" r:id="rId7"/>
    <p:sldId id="281" r:id="rId8"/>
    <p:sldId id="282" r:id="rId9"/>
    <p:sldId id="260" r:id="rId10"/>
    <p:sldId id="261" r:id="rId11"/>
    <p:sldId id="283" r:id="rId12"/>
    <p:sldId id="284" r:id="rId13"/>
    <p:sldId id="286" r:id="rId14"/>
    <p:sldId id="287" r:id="rId15"/>
    <p:sldId id="288" r:id="rId16"/>
    <p:sldId id="289" r:id="rId17"/>
    <p:sldId id="264" r:id="rId18"/>
    <p:sldId id="265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268" r:id="rId32"/>
    <p:sldId id="302" r:id="rId33"/>
    <p:sldId id="303" r:id="rId34"/>
    <p:sldId id="274" r:id="rId35"/>
  </p:sldIdLst>
  <p:sldSz cx="16256000" cy="9144000"/>
  <p:notesSz cx="9144000" cy="16256000"/>
  <p:embeddedFontLst>
    <p:embeddedFont>
      <p:font typeface="MiSans" panose="02010600030101010101" charset="-122"/>
      <p:regular r:id="rId37"/>
    </p:embeddedFont>
    <p:embeddedFont>
      <p:font typeface="等线 Light" panose="02010600030101010101" pitchFamily="2" charset="-122"/>
      <p:regular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ambria Math" panose="02040503050406030204" pitchFamily="18" charset="0"/>
      <p:regular r:id="rId43"/>
    </p:embeddedFont>
    <p:embeddedFont>
      <p:font typeface="Helvetica" panose="020B0604020202020204" pitchFamily="34" charset="0"/>
      <p:regular r:id="rId44"/>
      <p:bold r:id="rId45"/>
      <p:italic r:id="rId46"/>
      <p:boldItalic r:id="rId47"/>
    </p:embeddedFont>
    <p:embeddedFont>
      <p:font typeface="Liter" panose="02010600030101010101" charset="0"/>
      <p:regular r:id="rId48"/>
    </p:embeddedFont>
    <p:embeddedFont>
      <p:font typeface="等线" panose="02010600030101010101" pitchFamily="2" charset="-122"/>
      <p:regular r:id="rId49"/>
      <p:bold r:id="rId50"/>
    </p:embeddedFont>
    <p:embeddedFont>
      <p:font typeface="微软雅黑" panose="020B0503020204020204" pitchFamily="34" charset="-122"/>
      <p:regular r:id="rId51"/>
      <p:bold r:id="rId52"/>
    </p:embeddedFont>
    <p:embeddedFont>
      <p:font typeface="微软雅黑" panose="020B0503020204020204" pitchFamily="34" charset="-122"/>
      <p:regular r:id="rId51"/>
      <p:bold r:id="rId5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96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43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1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14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96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从四个维度展示大模型推理的成本压力，引出量化的必要性。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52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6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94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94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56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1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对比常见数值格式的位分布和动态范围，展示从FP32到INT8的演进。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53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8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39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86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92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269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88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05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51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23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0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6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7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98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W8A8量化原理：权重INT8 x 激活INT8，核心流程包括calibration、scale计算、量化执行。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5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code.com/cann/amct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hyperlink" Target="https://gitcode.com/cann/cann-recipes-infer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code.com/cann/cann-recipes-infer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g"/><Relationship Id="rId5" Type="http://schemas.openxmlformats.org/officeDocument/2006/relationships/image" Target="../media/image63.png"/><Relationship Id="rId4" Type="http://schemas.openxmlformats.org/officeDocument/2006/relationships/hyperlink" Target="https://gitcode.com/cann/am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2032000"/>
            <a:ext cx="1143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zh-CN" altLang="en-US" sz="4800" dirty="0"/>
              <a:t>大模型量化优化与实践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62100" y="3937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昇腾 CANN </a:t>
            </a: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启航</a:t>
            </a: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7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14732000" cy="0"/>
          </a:xfrm>
          <a:prstGeom prst="straightConnector1">
            <a:avLst/>
          </a:prstGeom>
          <a:noFill/>
          <a:ln w="25400">
            <a:solidFill>
              <a:srgbClr val="C0000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32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基础概念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32000" y="2057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 defTabSz="914478">
              <a:spcAft>
                <a:spcPts val="400"/>
              </a:spcAft>
              <a:defRPr sz="2000" b="0">
                <a:solidFill>
                  <a:srgbClr val="FDCB6E"/>
                </a:solidFill>
              </a:defRPr>
            </a:pP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量化背景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量化维度 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量化格式 </a:t>
            </a:r>
          </a:p>
        </p:txBody>
      </p:sp>
      <p:sp>
        <p:nvSpPr>
          <p:cNvPr id="7" name="Text 5"/>
          <p:cNvSpPr/>
          <p:nvPr/>
        </p:nvSpPr>
        <p:spPr>
          <a:xfrm>
            <a:off x="8636000" y="165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52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量化实践</a:t>
            </a:r>
            <a:endParaRPr lang="en-US" sz="2200" b="1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52000" y="2057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PTQ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固定范式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量化算法总览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量化示例 </a:t>
            </a:r>
          </a:p>
        </p:txBody>
      </p:sp>
      <p:sp>
        <p:nvSpPr>
          <p:cNvPr id="10" name="Text 8"/>
          <p:cNvSpPr/>
          <p:nvPr/>
        </p:nvSpPr>
        <p:spPr>
          <a:xfrm>
            <a:off x="1016000" y="266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03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量化工具</a:t>
            </a:r>
            <a:endParaRPr lang="en-US" sz="2200" b="1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32000" y="307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66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5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</a:t>
            </a:r>
            <a:r>
              <a:rPr lang="en-US" altLang="zh-CN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</a:t>
            </a:r>
            <a:endParaRPr lang="en-US" sz="2200" b="1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52000" y="307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AMCT-A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300" dirty="0"/>
          </a:p>
        </p:txBody>
      </p:sp>
      <p:pic>
        <p:nvPicPr>
          <p:cNvPr id="21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基础概念</a:t>
            </a: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量化背景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量化维度 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量化格式 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量化背景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61999" y="1054099"/>
            <a:ext cx="15392401" cy="1412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altLang="zh-CN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</a:t>
            </a: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</a:t>
            </a:r>
            <a:r>
              <a:rPr lang="en-US" altLang="zh-CN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</a:t>
            </a: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的技术迭代，虽然模型性能瓶颈发生变化，但是量化本质没变：数值从高精度</a:t>
            </a:r>
            <a:r>
              <a:rPr lang="en-US" altLang="zh-CN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(float32/bfloat16) -&gt; </a:t>
            </a: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低精度</a:t>
            </a:r>
            <a:r>
              <a:rPr lang="en-US" altLang="zh-CN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(4/8bit)</a:t>
            </a: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，甚至更低</a:t>
            </a:r>
            <a:r>
              <a:rPr lang="en-US" altLang="zh-CN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</a:t>
            </a: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altLang="zh-CN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进而通过降低数值比特实现显存占用减小、降低带宽压力、算力翻倍、高吞吐与低时延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1999" y="2770914"/>
            <a:ext cx="4321175" cy="25400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6000" y="29995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C00000"/>
          </a:solidFill>
          <a:ln/>
        </p:spPr>
      </p:sp>
      <p:sp>
        <p:nvSpPr>
          <p:cNvPr id="7" name="Text 4"/>
          <p:cNvSpPr/>
          <p:nvPr/>
        </p:nvSpPr>
        <p:spPr>
          <a:xfrm>
            <a:off x="1524000" y="2999514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核心瓶颈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15999" y="3533507"/>
            <a:ext cx="3984625" cy="1600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参数存储占用高，模型越大越明显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 </a:t>
            </a: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内存带宽常成为推理瓶颈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 </a:t>
            </a: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会显著放大长上下文成本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高精度计算限制吞吐并拉高时延</a:t>
            </a:r>
          </a:p>
        </p:txBody>
      </p:sp>
      <p:sp>
        <p:nvSpPr>
          <p:cNvPr id="10" name="Shape 7"/>
          <p:cNvSpPr/>
          <p:nvPr/>
        </p:nvSpPr>
        <p:spPr>
          <a:xfrm>
            <a:off x="5775326" y="2770914"/>
            <a:ext cx="4321174" cy="2540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29326" y="29995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12" name="Text 9"/>
          <p:cNvSpPr/>
          <p:nvPr/>
        </p:nvSpPr>
        <p:spPr>
          <a:xfrm>
            <a:off x="6537326" y="2999514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量化目标</a:t>
            </a:r>
          </a:p>
        </p:txBody>
      </p:sp>
      <p:sp>
        <p:nvSpPr>
          <p:cNvPr id="14" name="Text 11"/>
          <p:cNvSpPr/>
          <p:nvPr/>
        </p:nvSpPr>
        <p:spPr>
          <a:xfrm>
            <a:off x="6064250" y="3533506"/>
            <a:ext cx="3829051" cy="170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降低存储成本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降低带宽压力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提高吞吐与部署效率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在可接受精度损失下换取更高系统性能</a:t>
            </a:r>
          </a:p>
        </p:txBody>
      </p:sp>
      <p:sp>
        <p:nvSpPr>
          <p:cNvPr id="15" name="Shape 12"/>
          <p:cNvSpPr/>
          <p:nvPr/>
        </p:nvSpPr>
        <p:spPr>
          <a:xfrm>
            <a:off x="10788652" y="2770914"/>
            <a:ext cx="4530725" cy="25400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1042653" y="29995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70AD47"/>
          </a:solidFill>
          <a:ln/>
        </p:spPr>
      </p:sp>
      <p:sp>
        <p:nvSpPr>
          <p:cNvPr id="17" name="Text 14"/>
          <p:cNvSpPr/>
          <p:nvPr/>
        </p:nvSpPr>
        <p:spPr>
          <a:xfrm>
            <a:off x="11550653" y="2999514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</a:t>
            </a:r>
          </a:p>
        </p:txBody>
      </p:sp>
      <p:sp>
        <p:nvSpPr>
          <p:cNvPr id="19" name="Text 16"/>
          <p:cNvSpPr/>
          <p:nvPr/>
        </p:nvSpPr>
        <p:spPr>
          <a:xfrm>
            <a:off x="11042653" y="3533507"/>
            <a:ext cx="445882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量化不是为了低 </a:t>
            </a: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 </a:t>
            </a: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而低 </a:t>
            </a: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而是在精度、效率、实现复杂度之间做平衡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本质上是系统优化问题</a:t>
            </a:r>
          </a:p>
        </p:txBody>
      </p:sp>
      <p:sp>
        <p:nvSpPr>
          <p:cNvPr id="30" name="Text 2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300" dirty="0"/>
          </a:p>
        </p:txBody>
      </p:sp>
      <p:pic>
        <p:nvPicPr>
          <p:cNvPr id="32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量化维度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61999" y="1054099"/>
            <a:ext cx="15392401" cy="571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联合精度和性能，再考虑量化时间成本，可以从以下几个维度来拆解量化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300" dirty="0"/>
          </a:p>
        </p:txBody>
      </p:sp>
      <p:pic>
        <p:nvPicPr>
          <p:cNvPr id="32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CDD94941-120E-485D-B571-3B6591C2975C}"/>
              </a:ext>
            </a:extLst>
          </p:cNvPr>
          <p:cNvSpPr/>
          <p:nvPr/>
        </p:nvSpPr>
        <p:spPr>
          <a:xfrm>
            <a:off x="762000" y="1651000"/>
            <a:ext cx="3429000" cy="2251075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E03C2B3D-6BFF-458D-A5D4-B0C66F5738CA}"/>
              </a:ext>
            </a:extLst>
          </p:cNvPr>
          <p:cNvSpPr/>
          <p:nvPr/>
        </p:nvSpPr>
        <p:spPr>
          <a:xfrm>
            <a:off x="1016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C00000"/>
          </a:solidFill>
          <a:ln/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BC9625F-DBB7-4AA1-A010-B3DE23A34366}"/>
              </a:ext>
            </a:extLst>
          </p:cNvPr>
          <p:cNvSpPr/>
          <p:nvPr/>
        </p:nvSpPr>
        <p:spPr>
          <a:xfrm>
            <a:off x="1524000" y="18796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按阶段分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C9EC084-D76E-4E44-8927-B0B160D6D399}"/>
              </a:ext>
            </a:extLst>
          </p:cNvPr>
          <p:cNvSpPr/>
          <p:nvPr/>
        </p:nvSpPr>
        <p:spPr>
          <a:xfrm>
            <a:off x="1016001" y="2508250"/>
            <a:ext cx="307975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PTQ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QAT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PreTraining</a:t>
            </a: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-FP</a:t>
            </a: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0791882F-778C-4B41-B327-0EFA85F16998}"/>
              </a:ext>
            </a:extLst>
          </p:cNvPr>
          <p:cNvSpPr/>
          <p:nvPr/>
        </p:nvSpPr>
        <p:spPr>
          <a:xfrm>
            <a:off x="5060950" y="1651000"/>
            <a:ext cx="3105150" cy="2251075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B8F2E86D-F03C-4172-9DA6-1E39316456C2}"/>
              </a:ext>
            </a:extLst>
          </p:cNvPr>
          <p:cNvSpPr/>
          <p:nvPr/>
        </p:nvSpPr>
        <p:spPr>
          <a:xfrm>
            <a:off x="531495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3B92FA25-F471-4D45-9DB4-00479D46C8E1}"/>
              </a:ext>
            </a:extLst>
          </p:cNvPr>
          <p:cNvSpPr/>
          <p:nvPr/>
        </p:nvSpPr>
        <p:spPr>
          <a:xfrm>
            <a:off x="5822950" y="18796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按对象分</a:t>
            </a: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AE5EB455-BA77-4CED-9BA5-DA9C972D90DC}"/>
              </a:ext>
            </a:extLst>
          </p:cNvPr>
          <p:cNvSpPr/>
          <p:nvPr/>
        </p:nvSpPr>
        <p:spPr>
          <a:xfrm>
            <a:off x="5314950" y="2314575"/>
            <a:ext cx="292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pl-PL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W-only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pl-PL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 + 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pl-PL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 + A + 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pl-PL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</a:t>
            </a: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E6A21467-322C-4943-B818-BC863836C5F4}"/>
              </a:ext>
            </a:extLst>
          </p:cNvPr>
          <p:cNvSpPr/>
          <p:nvPr/>
        </p:nvSpPr>
        <p:spPr>
          <a:xfrm>
            <a:off x="8807450" y="1651000"/>
            <a:ext cx="3105150" cy="2251075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046EE34C-B6E6-4443-8DA5-6BF65D6FB396}"/>
              </a:ext>
            </a:extLst>
          </p:cNvPr>
          <p:cNvSpPr/>
          <p:nvPr/>
        </p:nvSpPr>
        <p:spPr>
          <a:xfrm>
            <a:off x="906145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70AD47"/>
          </a:solidFill>
          <a:ln/>
        </p:spPr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8059527B-9A30-44D3-8899-6D69395167BE}"/>
              </a:ext>
            </a:extLst>
          </p:cNvPr>
          <p:cNvSpPr/>
          <p:nvPr/>
        </p:nvSpPr>
        <p:spPr>
          <a:xfrm>
            <a:off x="9569450" y="18796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按粒度分</a:t>
            </a: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B0D59CB-0265-4685-9AE1-529217291E17}"/>
              </a:ext>
            </a:extLst>
          </p:cNvPr>
          <p:cNvSpPr/>
          <p:nvPr/>
        </p:nvSpPr>
        <p:spPr>
          <a:xfrm>
            <a:off x="9061450" y="2362200"/>
            <a:ext cx="2921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it-IT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per-tensor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it-IT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per-channel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it-IT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per-group/block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it-IT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per-token</a:t>
            </a: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7AD115A7-F3E3-493C-9201-55BC58BDC38C}"/>
              </a:ext>
            </a:extLst>
          </p:cNvPr>
          <p:cNvSpPr/>
          <p:nvPr/>
        </p:nvSpPr>
        <p:spPr>
          <a:xfrm>
            <a:off x="12553950" y="1651000"/>
            <a:ext cx="3105150" cy="2251075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26A653ED-E13B-4D26-9094-6038D02F2BCB}"/>
              </a:ext>
            </a:extLst>
          </p:cNvPr>
          <p:cNvSpPr/>
          <p:nvPr/>
        </p:nvSpPr>
        <p:spPr>
          <a:xfrm>
            <a:off x="1280795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ED7D31"/>
          </a:solidFill>
          <a:ln/>
        </p:spPr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1C6DE572-63A5-4695-8BA2-3B11ED4381EE}"/>
              </a:ext>
            </a:extLst>
          </p:cNvPr>
          <p:cNvSpPr/>
          <p:nvPr/>
        </p:nvSpPr>
        <p:spPr>
          <a:xfrm>
            <a:off x="13315950" y="18796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按格式分</a:t>
            </a:r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07523FEF-B652-409D-8429-9E677B354F76}"/>
              </a:ext>
            </a:extLst>
          </p:cNvPr>
          <p:cNvSpPr/>
          <p:nvPr/>
        </p:nvSpPr>
        <p:spPr>
          <a:xfrm>
            <a:off x="12871450" y="2387600"/>
            <a:ext cx="2921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/>
              <a:t>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/>
              <a:t>FP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/>
              <a:t>MXFP / NVFP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HiFP</a:t>
            </a:r>
            <a:endParaRPr lang="en-US" altLang="zh-CN" sz="16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54A320-C924-4108-8E3C-BD8FA964A62C}"/>
              </a:ext>
            </a:extLst>
          </p:cNvPr>
          <p:cNvSpPr/>
          <p:nvPr/>
        </p:nvSpPr>
        <p:spPr>
          <a:xfrm>
            <a:off x="761999" y="3972222"/>
            <a:ext cx="3268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少量校准数据集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(wiki, pile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65CE5A-8638-4B5D-89CD-4D08C1422F78}"/>
              </a:ext>
            </a:extLst>
          </p:cNvPr>
          <p:cNvSpPr/>
          <p:nvPr/>
        </p:nvSpPr>
        <p:spPr>
          <a:xfrm>
            <a:off x="758826" y="4393723"/>
            <a:ext cx="8128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基于已有的高精度权重做低</a:t>
            </a:r>
            <a:r>
              <a:rPr lang="en-US" altLang="zh-CN" sz="1600" dirty="0"/>
              <a:t>bit</a:t>
            </a:r>
            <a:r>
              <a:rPr lang="zh-CN" altLang="en-US" sz="1600" dirty="0"/>
              <a:t>量化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优点：成本低、部署快、实现简单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缺点：低 </a:t>
            </a:r>
            <a:r>
              <a:rPr lang="en-US" altLang="zh-CN" sz="1600" dirty="0"/>
              <a:t>bit </a:t>
            </a:r>
            <a:r>
              <a:rPr lang="zh-CN" altLang="en-US" sz="1600" dirty="0"/>
              <a:t>尤其是</a:t>
            </a:r>
            <a:r>
              <a:rPr lang="en-US" altLang="zh-CN" sz="1600" dirty="0"/>
              <a:t>Act</a:t>
            </a:r>
            <a:r>
              <a:rPr lang="zh-CN" altLang="en-US" sz="1600" dirty="0"/>
              <a:t>量化时更容易掉点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更适合快速部署和成熟推理路径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Train -&gt; PTQ -&gt; Deploy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D8D97C1-B04E-49CB-8DB2-C2AD20D510D5}"/>
              </a:ext>
            </a:extLst>
          </p:cNvPr>
          <p:cNvSpPr/>
          <p:nvPr/>
        </p:nvSpPr>
        <p:spPr>
          <a:xfrm>
            <a:off x="682158" y="5687367"/>
            <a:ext cx="3954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QAT：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一般需要全量数据集来保持全领域精度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A19BAF-C341-4533-926A-B1CF1F9557BF}"/>
              </a:ext>
            </a:extLst>
          </p:cNvPr>
          <p:cNvSpPr/>
          <p:nvPr/>
        </p:nvSpPr>
        <p:spPr>
          <a:xfrm>
            <a:off x="800100" y="6095831"/>
            <a:ext cx="502284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训练</a:t>
            </a:r>
            <a:r>
              <a:rPr lang="en-US" altLang="zh-CN" sz="1600" dirty="0"/>
              <a:t>/</a:t>
            </a:r>
            <a:r>
              <a:rPr lang="zh-CN" altLang="en-US" sz="1600" dirty="0"/>
              <a:t>微调阶段显式模拟量化误差</a:t>
            </a:r>
            <a:r>
              <a:rPr lang="en-US" altLang="zh-CN" sz="1600" dirty="0"/>
              <a:t>(PTQ</a:t>
            </a:r>
            <a:r>
              <a:rPr lang="zh-CN" altLang="en-US" sz="1600" dirty="0"/>
              <a:t>搞不定</a:t>
            </a:r>
            <a:r>
              <a:rPr lang="en-US" altLang="zh-C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优点：通常精度更好，更适合极低 </a:t>
            </a:r>
            <a:r>
              <a:rPr lang="en-US" altLang="zh-CN" sz="1600" dirty="0"/>
              <a:t>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缺点：训练资源和工程成本更高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更适合对精度要求高或 </a:t>
            </a:r>
            <a:r>
              <a:rPr lang="en-US" altLang="zh-CN" sz="1600" dirty="0"/>
              <a:t>PTQ </a:t>
            </a:r>
            <a:r>
              <a:rPr lang="zh-CN" altLang="en-US" sz="1600" dirty="0"/>
              <a:t>不足的场景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Train -&gt; QAT -&gt; Deploy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BDD3F6E-D17C-4618-9D63-CCA027239505}"/>
              </a:ext>
            </a:extLst>
          </p:cNvPr>
          <p:cNvSpPr/>
          <p:nvPr/>
        </p:nvSpPr>
        <p:spPr>
          <a:xfrm>
            <a:off x="758826" y="7351841"/>
            <a:ext cx="3242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Pretraining-FP：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原生训练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413A6AF-29BF-4BC5-9DE9-0C8B0F9098EA}"/>
              </a:ext>
            </a:extLst>
          </p:cNvPr>
          <p:cNvSpPr/>
          <p:nvPr/>
        </p:nvSpPr>
        <p:spPr>
          <a:xfrm>
            <a:off x="782748" y="7688377"/>
            <a:ext cx="22891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开箱即用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Train -&gt; Deploy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49DD7F-0AE0-4B8C-9FBC-6C281E1B8B38}"/>
              </a:ext>
            </a:extLst>
          </p:cNvPr>
          <p:cNvSpPr/>
          <p:nvPr/>
        </p:nvSpPr>
        <p:spPr>
          <a:xfrm>
            <a:off x="5203391" y="397222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F436466-AE6B-4F18-9A7E-91771FB7BF19}"/>
              </a:ext>
            </a:extLst>
          </p:cNvPr>
          <p:cNvSpPr/>
          <p:nvPr/>
        </p:nvSpPr>
        <p:spPr>
          <a:xfrm>
            <a:off x="5271774" y="4295934"/>
            <a:ext cx="3962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W+A</a:t>
            </a:r>
            <a:r>
              <a:rPr lang="zh-CN" altLang="en-US" sz="1600" dirty="0"/>
              <a:t>：训练标配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W+A+G</a:t>
            </a:r>
            <a:r>
              <a:rPr lang="zh-CN" altLang="en-US" sz="1600" dirty="0"/>
              <a:t>：全量化训练通路逐渐增多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02A7FD5-90CD-421F-A69F-AFDBC3B28F86}"/>
              </a:ext>
            </a:extLst>
          </p:cNvPr>
          <p:cNvSpPr/>
          <p:nvPr/>
        </p:nvSpPr>
        <p:spPr>
          <a:xfrm>
            <a:off x="5203392" y="495677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54833E6-F725-409F-AB4E-44E975474BF6}"/>
              </a:ext>
            </a:extLst>
          </p:cNvPr>
          <p:cNvSpPr/>
          <p:nvPr/>
        </p:nvSpPr>
        <p:spPr>
          <a:xfrm>
            <a:off x="5314950" y="5326107"/>
            <a:ext cx="39465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没有梯度不考虑</a:t>
            </a:r>
            <a:r>
              <a:rPr lang="en-US" altLang="zh-CN" sz="1600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W+A+KV Cache</a:t>
            </a:r>
            <a:r>
              <a:rPr lang="zh-CN" altLang="en-US" sz="1600" dirty="0"/>
              <a:t>基本操作，主要看量化粒度和数据格式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EA3F5-73D2-4C07-82C3-34E9A863507A}"/>
              </a:ext>
            </a:extLst>
          </p:cNvPr>
          <p:cNvSpPr/>
          <p:nvPr/>
        </p:nvSpPr>
        <p:spPr>
          <a:xfrm>
            <a:off x="9302557" y="4061091"/>
            <a:ext cx="61087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量化粒度：</a:t>
            </a:r>
            <a:endParaRPr lang="en-US" altLang="zh-CN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sz="1600" dirty="0"/>
              <a:t>影响量化误差，</a:t>
            </a:r>
            <a:r>
              <a:rPr lang="en-US" altLang="zh-CN" sz="1600" dirty="0"/>
              <a:t>Scaling</a:t>
            </a:r>
            <a:r>
              <a:rPr lang="zh-CN" altLang="en-US" sz="1600" dirty="0"/>
              <a:t>的缩放会造成以下影响：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为了容纳大值，</a:t>
            </a:r>
            <a:r>
              <a:rPr lang="en-US" altLang="zh-CN" sz="1600" dirty="0"/>
              <a:t>scale </a:t>
            </a:r>
            <a:r>
              <a:rPr lang="zh-CN" altLang="en-US" sz="1600" dirty="0"/>
              <a:t>变大，导致小值都被量化没了；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为了保住小值，</a:t>
            </a:r>
            <a:r>
              <a:rPr lang="en-US" altLang="zh-CN" sz="1600" dirty="0"/>
              <a:t>scale </a:t>
            </a:r>
            <a:r>
              <a:rPr lang="zh-CN" altLang="en-US" sz="1600" dirty="0"/>
              <a:t>变小，大值又容易饱和或截断。 </a:t>
            </a:r>
          </a:p>
        </p:txBody>
      </p: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8CE602A6-B344-4F1D-BC3C-03A34E579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44986"/>
              </p:ext>
            </p:extLst>
          </p:nvPr>
        </p:nvGraphicFramePr>
        <p:xfrm>
          <a:off x="9373032" y="5445669"/>
          <a:ext cx="6657543" cy="2275505"/>
        </p:xfrm>
        <a:graphic>
          <a:graphicData uri="http://schemas.openxmlformats.org/drawingml/2006/table">
            <a:tbl>
              <a:tblPr firstRow="1" bandRow="1"/>
              <a:tblGrid>
                <a:gridCol w="2266148">
                  <a:extLst>
                    <a:ext uri="{9D8B030D-6E8A-4147-A177-3AD203B41FA5}">
                      <a16:colId xmlns:a16="http://schemas.microsoft.com/office/drawing/2014/main" val="1387232711"/>
                    </a:ext>
                  </a:extLst>
                </a:gridCol>
                <a:gridCol w="1957748">
                  <a:extLst>
                    <a:ext uri="{9D8B030D-6E8A-4147-A177-3AD203B41FA5}">
                      <a16:colId xmlns:a16="http://schemas.microsoft.com/office/drawing/2014/main" val="1868242216"/>
                    </a:ext>
                  </a:extLst>
                </a:gridCol>
                <a:gridCol w="2433647">
                  <a:extLst>
                    <a:ext uri="{9D8B030D-6E8A-4147-A177-3AD203B41FA5}">
                      <a16:colId xmlns:a16="http://schemas.microsoft.com/office/drawing/2014/main" val="2039145801"/>
                    </a:ext>
                  </a:extLst>
                </a:gridCol>
              </a:tblGrid>
              <a:tr h="379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量化粒度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Scale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共享范围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特点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70292"/>
                  </a:ext>
                </a:extLst>
              </a:tr>
              <a:tr h="3792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Per-tensor: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[4096, 4096]</a:t>
                      </a:r>
                      <a:endParaRPr lang="zh-CN" altLang="en-US" sz="1200" dirty="0"/>
                    </a:p>
                  </a:txBody>
                  <a:tcPr anchor="ctr">
                    <a:lnL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整个</a:t>
                      </a:r>
                      <a:r>
                        <a:rPr lang="en-US" altLang="zh-CN" sz="1200" dirty="0"/>
                        <a:t>tensor: [1]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开销最小；误差大，受</a:t>
                      </a:r>
                      <a:r>
                        <a:rPr lang="en-US" altLang="zh-CN" sz="1200" dirty="0"/>
                        <a:t>outlier</a:t>
                      </a:r>
                      <a:r>
                        <a:rPr lang="zh-CN" altLang="en-US" sz="1200" dirty="0"/>
                        <a:t>影响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880531"/>
                  </a:ext>
                </a:extLst>
              </a:tr>
              <a:tr h="3792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Per-channel: [4096, 4096]</a:t>
                      </a:r>
                      <a:endParaRPr lang="zh-CN" altLang="en-US" sz="1200" dirty="0"/>
                    </a:p>
                  </a:txBody>
                  <a:tcPr anchor="ctr">
                    <a:lnL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每个通道</a:t>
                      </a:r>
                      <a:r>
                        <a:rPr lang="en-US" altLang="zh-CN" sz="1200" dirty="0"/>
                        <a:t>: [4096, 1]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Weight-int</a:t>
                      </a:r>
                      <a:r>
                        <a:rPr lang="zh-CN" altLang="en-US" sz="1200" dirty="0"/>
                        <a:t>常用量化粒度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304895"/>
                  </a:ext>
                </a:extLst>
              </a:tr>
              <a:tr h="3792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Per-group: [4096, 4096]</a:t>
                      </a:r>
                      <a:endParaRPr lang="zh-CN" altLang="en-US" sz="1200" dirty="0"/>
                    </a:p>
                  </a:txBody>
                  <a:tcPr anchor="ctr">
                    <a:lnL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32-group: [4096, 128, 1]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精度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性能兼容，</a:t>
                      </a:r>
                      <a:r>
                        <a:rPr lang="en-US" altLang="zh-CN" sz="1200" dirty="0"/>
                        <a:t>MXFP/NVFP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687854"/>
                  </a:ext>
                </a:extLst>
              </a:tr>
              <a:tr h="3792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Per-block: [4096, 4096]</a:t>
                      </a:r>
                      <a:endParaRPr lang="zh-CN" altLang="en-US" sz="1200" dirty="0"/>
                    </a:p>
                  </a:txBody>
                  <a:tcPr anchor="ctr">
                    <a:lnL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128-block: [32, 1, 32, 1]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适配</a:t>
                      </a:r>
                      <a:r>
                        <a:rPr lang="en-US" altLang="zh-CN" sz="1200" dirty="0"/>
                        <a:t>tile/block</a:t>
                      </a:r>
                      <a:r>
                        <a:rPr lang="zh-CN" altLang="en-US" sz="1200" dirty="0"/>
                        <a:t>分块，结合硬件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64022"/>
                  </a:ext>
                </a:extLst>
              </a:tr>
              <a:tr h="3792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200" dirty="0"/>
                        <a:t>Per-token: [4096, 4096]</a:t>
                      </a:r>
                      <a:endParaRPr lang="zh-CN" altLang="en-US" sz="1200" dirty="0"/>
                    </a:p>
                  </a:txBody>
                  <a:tcPr anchor="ctr">
                    <a:lnL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每个</a:t>
                      </a:r>
                      <a:r>
                        <a:rPr lang="en-US" altLang="zh-CN" sz="1200" dirty="0"/>
                        <a:t>token: [1, 4096]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200" dirty="0"/>
                        <a:t>动态范围，单</a:t>
                      </a:r>
                      <a:r>
                        <a:rPr lang="en-US" altLang="zh-CN" sz="1200" dirty="0"/>
                        <a:t>token</a:t>
                      </a:r>
                      <a:r>
                        <a:rPr lang="zh-CN" altLang="en-US" sz="1200" dirty="0"/>
                        <a:t>下为</a:t>
                      </a:r>
                      <a:r>
                        <a:rPr lang="en-US" altLang="zh-CN" sz="1200" dirty="0"/>
                        <a:t>per-tensor</a:t>
                      </a:r>
                      <a:endParaRPr lang="zh-CN" altLang="en-US" sz="12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7F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191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87449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量化格式</a:t>
            </a:r>
            <a:r>
              <a:rPr kumimoji="1" lang="en-US" altLang="zh-CN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-INT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61999" y="1054099"/>
            <a:ext cx="15392401" cy="571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最常见的线性量化，分为对称量化和非对称量化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的差异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位确定整数值域，再结合浮点值域，计算缩放系数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(scale)</a:t>
            </a:r>
          </a:p>
        </p:txBody>
      </p:sp>
      <p:sp>
        <p:nvSpPr>
          <p:cNvPr id="30" name="Text 2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pic>
        <p:nvPicPr>
          <p:cNvPr id="32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97D93D7-A986-4382-9B73-A4E5143F5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602" y="1822518"/>
            <a:ext cx="4143973" cy="399556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F34D333-5A08-43B0-819A-69F8F640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718" y="2589682"/>
            <a:ext cx="4225740" cy="24608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94C43BA-9438-4F7E-A57B-2B604AFFEEE2}"/>
              </a:ext>
            </a:extLst>
          </p:cNvPr>
          <p:cNvSpPr/>
          <p:nvPr/>
        </p:nvSpPr>
        <p:spPr>
          <a:xfrm>
            <a:off x="3959224" y="5176106"/>
            <a:ext cx="868997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：均匀量化，对长尾，离群值很敏感，不擅长局部变化跨度很大的数据，也是后来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MXFP/NVFP/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HiFloat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出现的重要背景，但生态最成熟，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卡标配，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A2, A3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47CCF9-C95B-443A-8D24-B2A9EE3BA099}"/>
              </a:ext>
            </a:extLst>
          </p:cNvPr>
          <p:cNvSpPr/>
          <p:nvPr/>
        </p:nvSpPr>
        <p:spPr>
          <a:xfrm>
            <a:off x="3959224" y="6184906"/>
            <a:ext cx="8128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[-0.8, 0.1, 0.03, -0.05, 20.0]</a:t>
            </a:r>
            <a:r>
              <a:rPr lang="zh-CN" altLang="en-US" dirty="0"/>
              <a:t>，若共用一个</a:t>
            </a:r>
            <a:r>
              <a:rPr lang="en-US" altLang="zh-CN" dirty="0"/>
              <a:t>scale</a:t>
            </a:r>
            <a:r>
              <a:rPr lang="zh-CN" altLang="en-US" dirty="0"/>
              <a:t>，大值决定量化范围，会造成小值全部量化为</a:t>
            </a:r>
            <a:r>
              <a:rPr lang="en-US" altLang="zh-CN" dirty="0"/>
              <a:t>0</a:t>
            </a:r>
            <a:r>
              <a:rPr lang="zh-CN" altLang="en-US" dirty="0"/>
              <a:t>，精度损失较大</a:t>
            </a:r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3E56DE84-B18B-4D09-98C3-7467873B93A7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4445470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量化格式</a:t>
            </a:r>
            <a:r>
              <a:rPr kumimoji="1" lang="en-US" altLang="zh-CN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-MXFP/NVFP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pic>
        <p:nvPicPr>
          <p:cNvPr id="32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F090305-FCE1-4404-AF5E-E5969E7EA916}"/>
              </a:ext>
            </a:extLst>
          </p:cNvPr>
          <p:cNvSpPr/>
          <p:nvPr/>
        </p:nvSpPr>
        <p:spPr>
          <a:xfrm>
            <a:off x="1012282" y="1095236"/>
            <a:ext cx="1401816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8E7BA2-EC06-4B6C-A909-E723A68074B1}"/>
              </a:ext>
            </a:extLst>
          </p:cNvPr>
          <p:cNvSpPr/>
          <p:nvPr/>
        </p:nvSpPr>
        <p:spPr>
          <a:xfrm>
            <a:off x="1174627" y="1774948"/>
            <a:ext cx="6116179" cy="3372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OCP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Microscaling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Formats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这套开放规范。它不是单个具体格式名，而是一类“块级共享缩放的低比特格式”的总称。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年发布了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规范，定义了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MXFP8(E4M3/E5M2)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MXFP4(E2M1)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MXINT8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等格式；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核心设计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个元素组成一个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，根据局部幅值分布来调整表示范围，共享一个更细粒度的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E8M0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，解决了每个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mantissa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太少，单点表示范围和精度不够的问题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26310C-628D-4EB9-8396-3AD92ADDA32D}"/>
              </a:ext>
            </a:extLst>
          </p:cNvPr>
          <p:cNvSpPr/>
          <p:nvPr/>
        </p:nvSpPr>
        <p:spPr>
          <a:xfrm>
            <a:off x="4216793" y="5884111"/>
            <a:ext cx="7753040" cy="227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Blackwell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架构提出的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4-bit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优化数据格式，目标是用极低位宽实现尽可能好的训练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推理效率，同时尽量维持可用精度；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核心设计：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NVFP4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element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E2M1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位符号、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位指数、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位尾数；但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NVFP4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不只是这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位本身。它的关键在于 两级缩放：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个值共享一个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FP8 E4M3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缩放因子；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级全局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：再加一个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FP32 scale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做整体对齐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EBC6C74-6755-4FC6-9407-9CEB24C53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807" y="1729911"/>
            <a:ext cx="6939377" cy="3285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E1586B2-06B2-4043-AF31-0D44216F935C}"/>
              </a:ext>
            </a:extLst>
          </p:cNvPr>
          <p:cNvSpPr/>
          <p:nvPr/>
        </p:nvSpPr>
        <p:spPr>
          <a:xfrm>
            <a:off x="10760495" y="2416137"/>
            <a:ext cx="36641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取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</a:rPr>
              <a:t>group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内最大值，计算共享指数位</a:t>
            </a:r>
            <a:endParaRPr lang="zh-CN" altLang="zh-CN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70E11E-BB90-4E35-AC33-BF99ADBB3F69}"/>
              </a:ext>
            </a:extLst>
          </p:cNvPr>
          <p:cNvSpPr/>
          <p:nvPr/>
        </p:nvSpPr>
        <p:spPr>
          <a:xfrm>
            <a:off x="10760495" y="2831967"/>
            <a:ext cx="36641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</a:rPr>
              <a:t>tensors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做一级缩放</a:t>
            </a:r>
            <a:endParaRPr lang="zh-CN" altLang="zh-CN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77E6C5-B707-4AA0-AC78-46F3B3995D80}"/>
              </a:ext>
            </a:extLst>
          </p:cNvPr>
          <p:cNvSpPr/>
          <p:nvPr/>
        </p:nvSpPr>
        <p:spPr>
          <a:xfrm>
            <a:off x="10668495" y="3552357"/>
            <a:ext cx="36641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缩放之后计算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</a:rPr>
              <a:t>tensor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自身的指数位和小数位</a:t>
            </a:r>
            <a:endParaRPr lang="zh-CN" altLang="zh-CN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CD6AFC-5F9E-45B6-BAC9-170D3FB16FE3}"/>
              </a:ext>
            </a:extLst>
          </p:cNvPr>
          <p:cNvSpPr/>
          <p:nvPr/>
        </p:nvSpPr>
        <p:spPr>
          <a:xfrm>
            <a:off x="10760495" y="4086500"/>
            <a:ext cx="16245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</a:rPr>
              <a:t>MXFP4/8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数值</a:t>
            </a:r>
            <a:endParaRPr lang="zh-CN" altLang="zh-CN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B6C864-BFF5-47BA-9459-8847F64BAB01}"/>
              </a:ext>
            </a:extLst>
          </p:cNvPr>
          <p:cNvSpPr/>
          <p:nvPr/>
        </p:nvSpPr>
        <p:spPr>
          <a:xfrm>
            <a:off x="10760495" y="4520563"/>
            <a:ext cx="16245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反量化回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</a:rPr>
              <a:t>bf16</a:t>
            </a:r>
            <a:endParaRPr lang="zh-CN" altLang="zh-CN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628DBB-7E9D-49CF-8BB6-502C03508C4A}"/>
              </a:ext>
            </a:extLst>
          </p:cNvPr>
          <p:cNvSpPr/>
          <p:nvPr/>
        </p:nvSpPr>
        <p:spPr>
          <a:xfrm>
            <a:off x="1012282" y="5244637"/>
            <a:ext cx="1401816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NVFP</a:t>
            </a:r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799A3206-56A9-47FB-A6CC-40DF561893D8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255499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量化格式</a:t>
            </a:r>
            <a:r>
              <a:rPr kumimoji="1" lang="en-US" altLang="zh-CN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-MXFP/NVFP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pic>
        <p:nvPicPr>
          <p:cNvPr id="32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F090305-FCE1-4404-AF5E-E5969E7EA916}"/>
              </a:ext>
            </a:extLst>
          </p:cNvPr>
          <p:cNvSpPr/>
          <p:nvPr/>
        </p:nvSpPr>
        <p:spPr>
          <a:xfrm>
            <a:off x="1012282" y="1104761"/>
            <a:ext cx="1401816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8E7BA2-EC06-4B6C-A909-E723A68074B1}"/>
              </a:ext>
            </a:extLst>
          </p:cNvPr>
          <p:cNvSpPr/>
          <p:nvPr/>
        </p:nvSpPr>
        <p:spPr>
          <a:xfrm>
            <a:off x="1012282" y="1689223"/>
            <a:ext cx="6116179" cy="2634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的核心不是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 scale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，而是“按数值区间改变有效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mantissa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精度”的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tapered precision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，试图解决的是低比特浮点里的一个根本矛盾：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大动态范围，就得给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exponent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更多位；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高局部精度，就得给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mantissa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更多位；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但总共只有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位，二者冲突。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的做法是：别对所有数都一视同仁，而是按不同数值区间动态分配精度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628DBB-7E9D-49CF-8BB6-502C03508C4A}"/>
              </a:ext>
            </a:extLst>
          </p:cNvPr>
          <p:cNvSpPr/>
          <p:nvPr/>
        </p:nvSpPr>
        <p:spPr>
          <a:xfrm>
            <a:off x="1012282" y="4542893"/>
            <a:ext cx="1401816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HiF4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1FBA833-5DDC-4D11-AD3A-8B280EA71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112" y="2034077"/>
            <a:ext cx="7811338" cy="179682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CCE4A4-D5C0-48FA-B43E-A112851EBFE6}"/>
              </a:ext>
            </a:extLst>
          </p:cNvPr>
          <p:cNvSpPr/>
          <p:nvPr/>
        </p:nvSpPr>
        <p:spPr>
          <a:xfrm>
            <a:off x="1069432" y="5139547"/>
            <a:ext cx="8128000" cy="1197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完全不同的设计路线：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HiF8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的核心是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mantissa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tapered precision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HiF4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的核心是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三级层次化缩放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three-level hierarchical scaling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46DB72-24E6-4C05-A457-49F0E29227D1}"/>
              </a:ext>
            </a:extLst>
          </p:cNvPr>
          <p:cNvSpPr/>
          <p:nvPr/>
        </p:nvSpPr>
        <p:spPr>
          <a:xfrm>
            <a:off x="1047750" y="6310683"/>
            <a:ext cx="7458076" cy="1346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 组成一个大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，共享一个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8-bit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无符号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E6M2 scale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细分成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sub-block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sub-block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再有一个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1-bit E1M0 scale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sub-block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细分成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micro-block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micro-block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还有一个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1-bit E1M0 scale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单个元素本身用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4-bit E1M2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 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F4F5AC38-D310-4C60-92AD-408E5A439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173" y="5118871"/>
            <a:ext cx="2116977" cy="152960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E439516-D6B3-48EE-B317-FB57CE96B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3163" y="5118871"/>
            <a:ext cx="1948837" cy="147479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8EAF29B-D433-4854-869C-7016C7D4D8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2013" y="5118872"/>
            <a:ext cx="2277902" cy="147479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1CFB98C-52C5-41EE-9591-5DD9C0C9DD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4661" y="6679572"/>
            <a:ext cx="4126555" cy="2001992"/>
          </a:xfrm>
          <a:prstGeom prst="rect">
            <a:avLst/>
          </a:prstGeom>
        </p:spPr>
      </p:pic>
      <p:sp>
        <p:nvSpPr>
          <p:cNvPr id="34" name="Text 28">
            <a:extLst>
              <a:ext uri="{FF2B5EF4-FFF2-40B4-BE49-F238E27FC236}">
                <a16:creationId xmlns:a16="http://schemas.microsoft.com/office/drawing/2014/main" id="{5F2BE8E4-39CA-416B-8CE3-0C4E6DD519E7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172193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量化实践</a:t>
            </a: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PTQ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固定范式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量化算法总览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量化示例 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940D2E95-885D-44C8-9701-3FEC55242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361" y="2194657"/>
            <a:ext cx="7225120" cy="5695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en-US" altLang="zh-CN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PTQ</a:t>
            </a: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固定范式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DE1847E-CF76-43D4-838A-323E9E532615}"/>
              </a:ext>
            </a:extLst>
          </p:cNvPr>
          <p:cNvSpPr/>
          <p:nvPr/>
        </p:nvSpPr>
        <p:spPr>
          <a:xfrm>
            <a:off x="825500" y="941174"/>
            <a:ext cx="1523365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大模型只开源权重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高精度，高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，不开源训练数据和训练环境，基本做不了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，即使全部开源了，训练成本也太大，目前对模型高效部署来说，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依然是最直接有效的量化形式。可能以后模型原生低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趋势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，一键部署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DF360B-1B9D-4C6C-B59E-5A2966A19ABE}"/>
              </a:ext>
            </a:extLst>
          </p:cNvPr>
          <p:cNvSpPr/>
          <p:nvPr/>
        </p:nvSpPr>
        <p:spPr>
          <a:xfrm>
            <a:off x="825500" y="1733830"/>
            <a:ext cx="8785225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准备工作：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量化开始前需要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的精度作为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，来衡量量化前后的精度损失。对小参数量非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模型可以单卡整网推理量化，但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本身参数量大，无法单机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单卡评测数据集精度，需要实现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block-wise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的推理环境，实现单机甚至单卡评测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DS, GLM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等旗舰模型的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wikitext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ppl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60C259F-6E57-4502-BAFA-3E38F937D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682" y="3226888"/>
            <a:ext cx="3962430" cy="238417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D5E6220-9CF3-4F41-BB44-3BF8A530E897}"/>
              </a:ext>
            </a:extLst>
          </p:cNvPr>
          <p:cNvSpPr/>
          <p:nvPr/>
        </p:nvSpPr>
        <p:spPr>
          <a:xfrm>
            <a:off x="1602198" y="2963124"/>
            <a:ext cx="1693284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Block-wise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4CFAAF2-35A0-47A4-83E7-531C006D1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322" y="3322950"/>
            <a:ext cx="3049149" cy="1579782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B406A04-36BE-4EC5-B235-1A446642080B}"/>
              </a:ext>
            </a:extLst>
          </p:cNvPr>
          <p:cNvSpPr/>
          <p:nvPr/>
        </p:nvSpPr>
        <p:spPr>
          <a:xfrm>
            <a:off x="3295482" y="6157893"/>
            <a:ext cx="5432425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quant module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：对需要量化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linear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cache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，插入伪量化节点，实现量化反量化操作，引入量化误差，实际推理还是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，对数据进行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等格式量化，不被硬件平台约束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D935F2-3E50-4001-932D-895D8262F4F8}"/>
              </a:ext>
            </a:extLst>
          </p:cNvPr>
          <p:cNvSpPr/>
          <p:nvPr/>
        </p:nvSpPr>
        <p:spPr>
          <a:xfrm>
            <a:off x="10155692" y="1634791"/>
            <a:ext cx="1678665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精度推理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en-US" altLang="zh-CN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PTQ</a:t>
            </a: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固定范式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299607C-194E-4F84-8753-9DE0122DA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795" y="927100"/>
            <a:ext cx="6148805" cy="715582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3F26E2-6C42-43C1-9CFB-B0B7EF321C8F}"/>
              </a:ext>
            </a:extLst>
          </p:cNvPr>
          <p:cNvSpPr/>
          <p:nvPr/>
        </p:nvSpPr>
        <p:spPr>
          <a:xfrm>
            <a:off x="8196494" y="2656621"/>
            <a:ext cx="3585931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校准集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基于通用的数据集来训练或者基于统计得到量化系数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02ECC2-11C2-4FF0-82BD-9ACC038FC8A7}"/>
              </a:ext>
            </a:extLst>
          </p:cNvPr>
          <p:cNvSpPr/>
          <p:nvPr/>
        </p:nvSpPr>
        <p:spPr>
          <a:xfrm>
            <a:off x="9693275" y="4179587"/>
            <a:ext cx="5784850" cy="2634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量化方案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训练的模型，一般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8bit(INT, FP)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量化直转基本精度无损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涉及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4bit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w-int4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一般需要校准，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a4-int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基本不可用；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w-mxfp4/hif4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直转下精度基本能无损；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精度损失较小，可通过量化算法缓解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涉及激活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4bit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下基本都要走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做校准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92860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量化算法总览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A9174A2-7AF3-41E2-B05F-6CBC6590A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954888"/>
              </p:ext>
            </p:extLst>
          </p:nvPr>
        </p:nvGraphicFramePr>
        <p:xfrm>
          <a:off x="762000" y="1011210"/>
          <a:ext cx="15386351" cy="452493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27354">
                  <a:extLst>
                    <a:ext uri="{9D8B030D-6E8A-4147-A177-3AD203B41FA5}">
                      <a16:colId xmlns:a16="http://schemas.microsoft.com/office/drawing/2014/main" val="3206248854"/>
                    </a:ext>
                  </a:extLst>
                </a:gridCol>
                <a:gridCol w="3118241">
                  <a:extLst>
                    <a:ext uri="{9D8B030D-6E8A-4147-A177-3AD203B41FA5}">
                      <a16:colId xmlns:a16="http://schemas.microsoft.com/office/drawing/2014/main" val="766482274"/>
                    </a:ext>
                  </a:extLst>
                </a:gridCol>
                <a:gridCol w="5013991">
                  <a:extLst>
                    <a:ext uri="{9D8B030D-6E8A-4147-A177-3AD203B41FA5}">
                      <a16:colId xmlns:a16="http://schemas.microsoft.com/office/drawing/2014/main" val="410623973"/>
                    </a:ext>
                  </a:extLst>
                </a:gridCol>
                <a:gridCol w="4526765">
                  <a:extLst>
                    <a:ext uri="{9D8B030D-6E8A-4147-A177-3AD203B41FA5}">
                      <a16:colId xmlns:a16="http://schemas.microsoft.com/office/drawing/2014/main" val="897050627"/>
                    </a:ext>
                  </a:extLst>
                </a:gridCol>
              </a:tblGrid>
              <a:tr h="4710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代表方法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核心思想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436154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缩放</a:t>
                      </a:r>
                      <a:r>
                        <a:rPr lang="en-US" altLang="zh-CN" sz="1600" dirty="0"/>
                        <a:t>/outlier</a:t>
                      </a:r>
                      <a:r>
                        <a:rPr lang="zh-CN" altLang="en-US" sz="1600" dirty="0"/>
                        <a:t>转移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SmoothQuant</a:t>
                      </a:r>
                      <a:r>
                        <a:rPr lang="en-US" altLang="zh-CN" sz="1600" dirty="0"/>
                        <a:t>, AWQ, </a:t>
                      </a:r>
                      <a:r>
                        <a:rPr lang="en-US" altLang="zh-CN" sz="1600" dirty="0" err="1"/>
                        <a:t>OmniQuant</a:t>
                      </a:r>
                      <a:r>
                        <a:rPr lang="en-US" altLang="zh-CN" sz="1600" dirty="0"/>
                        <a:t>,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LAC,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LWC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用 </a:t>
                      </a:r>
                      <a:r>
                        <a:rPr lang="en-US" altLang="zh-CN" sz="1600" dirty="0"/>
                        <a:t>channel/group scaling、</a:t>
                      </a:r>
                      <a:r>
                        <a:rPr lang="zh-CN" altLang="en-US" sz="1600" dirty="0"/>
                        <a:t>显著通道保护或 </a:t>
                      </a:r>
                      <a:r>
                        <a:rPr lang="en-US" altLang="zh-CN" sz="1600" dirty="0"/>
                        <a:t>learnable transformation，</a:t>
                      </a:r>
                      <a:r>
                        <a:rPr lang="zh-CN" altLang="en-US" sz="1600" dirty="0"/>
                        <a:t>迁移或重分配 </a:t>
                      </a:r>
                      <a:r>
                        <a:rPr lang="en-US" altLang="zh-CN" sz="1600" dirty="0"/>
                        <a:t>outlier </a:t>
                      </a:r>
                      <a:r>
                        <a:rPr lang="zh-CN" altLang="en-US" sz="1600" dirty="0"/>
                        <a:t>的量化影响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W8A8</a:t>
                      </a:r>
                      <a:r>
                        <a:rPr lang="zh-CN" altLang="en-US" sz="1600" dirty="0"/>
                        <a:t>、</a:t>
                      </a:r>
                      <a:r>
                        <a:rPr lang="en-US" altLang="zh-CN" sz="1600" dirty="0"/>
                        <a:t>W4A16</a:t>
                      </a:r>
                      <a:r>
                        <a:rPr lang="zh-CN" altLang="en-US" sz="1600" dirty="0"/>
                        <a:t>、</a:t>
                      </a:r>
                      <a:r>
                        <a:rPr lang="en-US" altLang="zh-CN" sz="1600" dirty="0"/>
                        <a:t>W4A4 </a:t>
                      </a:r>
                      <a:r>
                        <a:rPr lang="zh-CN" altLang="en-US" sz="1600" dirty="0"/>
                        <a:t>等；</a:t>
                      </a:r>
                      <a:r>
                        <a:rPr lang="en-US" altLang="zh-CN" sz="1600" dirty="0"/>
                        <a:t>activation </a:t>
                      </a:r>
                      <a:r>
                        <a:rPr lang="zh-CN" altLang="en-US" sz="1600" dirty="0"/>
                        <a:t>难量化或敏感通道明显时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542598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仿射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联合变换拟合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AffineQuant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>
                          <a:solidFill>
                            <a:srgbClr val="FF0000"/>
                          </a:solidFill>
                        </a:rPr>
                        <a:t>FlatQuant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OSTQuant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DartQuant</a:t>
                      </a:r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不只做缩放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旋转，而是直接学习更一般的 </a:t>
                      </a:r>
                      <a:r>
                        <a:rPr lang="en-US" altLang="zh-CN" sz="1600" dirty="0"/>
                        <a:t>affine </a:t>
                      </a:r>
                      <a:r>
                        <a:rPr lang="zh-CN" altLang="en-US" sz="1600" dirty="0"/>
                        <a:t>或 </a:t>
                      </a:r>
                      <a:r>
                        <a:rPr lang="en-US" altLang="zh-CN" sz="1600" dirty="0" err="1"/>
                        <a:t>orthogonal+scaling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变换，让分布更贴合 </a:t>
                      </a:r>
                      <a:r>
                        <a:rPr lang="en-US" altLang="zh-CN" sz="1600" dirty="0"/>
                        <a:t>quantizer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更低 </a:t>
                      </a:r>
                      <a:r>
                        <a:rPr lang="en-US" altLang="zh-CN" sz="1600" dirty="0"/>
                        <a:t>bit PTQ，</a:t>
                      </a:r>
                      <a:r>
                        <a:rPr lang="zh-CN" altLang="en-US" sz="1600" dirty="0"/>
                        <a:t>尤其 </a:t>
                      </a:r>
                      <a:r>
                        <a:rPr lang="en-US" altLang="zh-CN" sz="1600" dirty="0"/>
                        <a:t>W4A4、W3A16 </a:t>
                      </a:r>
                      <a:r>
                        <a:rPr lang="zh-CN" altLang="en-US" sz="1600" dirty="0"/>
                        <a:t>一类激进场景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364217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正交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旋转重分布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QuaRot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SpinQuant</a:t>
                      </a:r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通过正交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旋转变换打散通道级 </a:t>
                      </a:r>
                      <a:r>
                        <a:rPr lang="en-US" altLang="zh-CN" sz="1600" dirty="0"/>
                        <a:t>outlier</a:t>
                      </a:r>
                      <a:r>
                        <a:rPr lang="zh-CN" altLang="en-US" sz="1600" dirty="0"/>
                        <a:t>，均衡能量分布，让后续量化更稳定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低比特 </a:t>
                      </a:r>
                      <a:r>
                        <a:rPr lang="en-US" altLang="zh-CN" sz="1600" dirty="0"/>
                        <a:t>W/A/KV </a:t>
                      </a:r>
                      <a:r>
                        <a:rPr lang="zh-CN" altLang="en-US" sz="1600" dirty="0"/>
                        <a:t>量化，尤其 </a:t>
                      </a:r>
                      <a:r>
                        <a:rPr lang="en-US" altLang="zh-CN" sz="1600" dirty="0"/>
                        <a:t>channel/group outlier </a:t>
                      </a:r>
                      <a:r>
                        <a:rPr lang="zh-CN" altLang="en-US" sz="1600" dirty="0"/>
                        <a:t>明显时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203939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序列级 </a:t>
                      </a:r>
                      <a:r>
                        <a:rPr lang="en-US" altLang="zh-CN" sz="1600" dirty="0"/>
                        <a:t>/ token </a:t>
                      </a:r>
                      <a:r>
                        <a:rPr lang="zh-CN" altLang="en-US" sz="1600" dirty="0"/>
                        <a:t>级 </a:t>
                      </a:r>
                      <a:r>
                        <a:rPr lang="en-US" altLang="zh-CN" sz="1600" dirty="0"/>
                        <a:t>outlier </a:t>
                      </a:r>
                      <a:r>
                        <a:rPr lang="zh-CN" altLang="en-US" sz="1600" dirty="0"/>
                        <a:t>隔离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PrefixQuant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CushionCache</a:t>
                      </a:r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隔离 </a:t>
                      </a:r>
                      <a:r>
                        <a:rPr lang="en-US" altLang="zh-CN" sz="1600" dirty="0"/>
                        <a:t>token-wise </a:t>
                      </a:r>
                      <a:r>
                        <a:rPr lang="en-US" altLang="zh-CN" sz="1600" dirty="0" err="1"/>
                        <a:t>outlier、sink</a:t>
                      </a:r>
                      <a:r>
                        <a:rPr lang="en-US" altLang="zh-CN" sz="1600" dirty="0"/>
                        <a:t>/pivot token，</a:t>
                      </a:r>
                      <a:r>
                        <a:rPr lang="zh-CN" altLang="en-US" sz="1600" dirty="0"/>
                        <a:t>减少它们对量化范围与 </a:t>
                      </a:r>
                      <a:r>
                        <a:rPr lang="en-US" altLang="zh-CN" sz="1600" dirty="0"/>
                        <a:t>KV cache </a:t>
                      </a:r>
                      <a:r>
                        <a:rPr lang="zh-CN" altLang="en-US" sz="1600" dirty="0"/>
                        <a:t>的干扰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KV cache </a:t>
                      </a:r>
                      <a:r>
                        <a:rPr lang="zh-CN" altLang="en-US" sz="1600" dirty="0"/>
                        <a:t>量化、长上下文、</a:t>
                      </a:r>
                      <a:r>
                        <a:rPr lang="en-US" altLang="zh-CN" sz="1600" dirty="0"/>
                        <a:t>prefill/decode </a:t>
                      </a:r>
                      <a:r>
                        <a:rPr lang="zh-CN" altLang="en-US" sz="1600" dirty="0"/>
                        <a:t>中 </a:t>
                      </a:r>
                      <a:r>
                        <a:rPr lang="en-US" altLang="zh-CN" sz="1600" dirty="0"/>
                        <a:t>token outlier </a:t>
                      </a:r>
                      <a:r>
                        <a:rPr lang="zh-CN" altLang="en-US" sz="1600" dirty="0"/>
                        <a:t>明显时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776937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舍入优化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AdaRound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AutoRound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SignRound</a:t>
                      </a:r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不改变张量分布，直接优化 </a:t>
                      </a:r>
                      <a:r>
                        <a:rPr lang="en-US" altLang="zh-CN" sz="1600" dirty="0"/>
                        <a:t>rounding </a:t>
                      </a:r>
                      <a:r>
                        <a:rPr lang="zh-CN" altLang="en-US" sz="1600" dirty="0"/>
                        <a:t>与 </a:t>
                      </a:r>
                      <a:r>
                        <a:rPr lang="en-US" altLang="zh-CN" sz="1600" dirty="0"/>
                        <a:t>clipping </a:t>
                      </a:r>
                      <a:r>
                        <a:rPr lang="zh-CN" altLang="en-US" sz="1600" dirty="0"/>
                        <a:t>决策，避免 </a:t>
                      </a:r>
                      <a:r>
                        <a:rPr lang="en-US" altLang="zh-CN" sz="1600" dirty="0"/>
                        <a:t>nearest rounding </a:t>
                      </a:r>
                      <a:r>
                        <a:rPr lang="zh-CN" altLang="en-US" sz="1600" dirty="0"/>
                        <a:t>的次优性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PTQ </a:t>
                      </a:r>
                      <a:r>
                        <a:rPr lang="zh-CN" altLang="en-US" sz="1600" dirty="0"/>
                        <a:t>基线增强，尤其 </a:t>
                      </a:r>
                      <a:r>
                        <a:rPr lang="en-US" altLang="zh-CN" sz="1600" dirty="0"/>
                        <a:t>2–4 bit weight quantization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394048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二阶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误差补偿类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GPTQ, OBC/OBQ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按列或按块逐步量化，更新剩余未量化权重，使整体层输出误差不要迅速累积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Weight-only PTQ</a:t>
                      </a:r>
                      <a:r>
                        <a:rPr lang="zh-CN" altLang="en-US" sz="1600" dirty="0"/>
                        <a:t>，尤其是 </a:t>
                      </a:r>
                      <a:r>
                        <a:rPr lang="en-US" altLang="zh-CN" sz="1600" dirty="0"/>
                        <a:t>3–4 bit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456150"/>
                  </a:ext>
                </a:extLst>
              </a:tr>
              <a:tr h="542078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低秩补偿 </a:t>
                      </a:r>
                      <a:r>
                        <a:rPr lang="en-US" altLang="zh-CN" sz="1600" dirty="0"/>
                        <a:t>/ </a:t>
                      </a:r>
                      <a:r>
                        <a:rPr lang="zh-CN" altLang="en-US" sz="1600" dirty="0"/>
                        <a:t>残差分支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LRQ, </a:t>
                      </a:r>
                      <a:r>
                        <a:rPr lang="en-US" altLang="zh-CN" sz="1600" dirty="0" err="1"/>
                        <a:t>LoRA</a:t>
                      </a:r>
                      <a:r>
                        <a:rPr lang="en-US" altLang="zh-CN" sz="1600" dirty="0"/>
                        <a:t>-style compensation, SVD-style residual branch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主干做低比特量化，再用低秩 </a:t>
                      </a:r>
                      <a:r>
                        <a:rPr lang="en-US" altLang="zh-CN" sz="1600" dirty="0"/>
                        <a:t>scaling </a:t>
                      </a:r>
                      <a:r>
                        <a:rPr lang="zh-CN" altLang="en-US" sz="1600" dirty="0"/>
                        <a:t>或低秩残差分支补偿系统性误差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低 </a:t>
                      </a:r>
                      <a:r>
                        <a:rPr lang="en-US" altLang="zh-CN" sz="1600" dirty="0"/>
                        <a:t>bit PTQ</a:t>
                      </a:r>
                      <a:r>
                        <a:rPr lang="zh-CN" altLang="en-US" sz="1600" dirty="0"/>
                        <a:t>、主干误差较大但又不想走完整 </a:t>
                      </a:r>
                      <a:r>
                        <a:rPr lang="en-US" altLang="zh-CN" sz="1600" dirty="0"/>
                        <a:t>QAT </a:t>
                      </a:r>
                      <a:r>
                        <a:rPr lang="zh-CN" altLang="en-US" sz="1600" dirty="0"/>
                        <a:t>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62182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A3F1636-D028-4BAE-9BE5-59B6C6BEE04C}"/>
              </a:ext>
            </a:extLst>
          </p:cNvPr>
          <p:cNvSpPr txBox="1"/>
          <p:nvPr/>
        </p:nvSpPr>
        <p:spPr>
          <a:xfrm>
            <a:off x="244535" y="2010724"/>
            <a:ext cx="215444" cy="718145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分布重塑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C1C027C6-1702-458F-A549-D5EC201E3FAD}"/>
              </a:ext>
            </a:extLst>
          </p:cNvPr>
          <p:cNvSpPr/>
          <p:nvPr/>
        </p:nvSpPr>
        <p:spPr>
          <a:xfrm>
            <a:off x="509985" y="1496374"/>
            <a:ext cx="211534" cy="1732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CF9981F-C396-4E51-8634-062E7FAB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57" y="5711960"/>
            <a:ext cx="3194122" cy="23071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21C55C6-FCAD-4AC5-A82E-A591D60F8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160" y="5826601"/>
            <a:ext cx="5014821" cy="219252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309CFA1-A3A9-4085-9463-EA7F86A5D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062" y="6252964"/>
            <a:ext cx="2053979" cy="12897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F01F6CA-574B-40F8-9C3E-492192AA2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6122" y="5950051"/>
            <a:ext cx="3922808" cy="18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297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量化算法示例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B988A0-A2FA-4419-8988-8EC36019245A}"/>
              </a:ext>
            </a:extLst>
          </p:cNvPr>
          <p:cNvSpPr/>
          <p:nvPr/>
        </p:nvSpPr>
        <p:spPr>
          <a:xfrm>
            <a:off x="2095499" y="1213792"/>
            <a:ext cx="11934825" cy="1249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LAC(</a:t>
            </a:r>
            <a:r>
              <a:rPr lang="en-US" altLang="zh-CN" sz="2000" dirty="0"/>
              <a:t>learnable activation clipping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 LWC(</a:t>
            </a:r>
            <a:r>
              <a:rPr lang="en-US" altLang="zh-CN" sz="2000" dirty="0"/>
              <a:t>Learnable Weight Clipping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学习一个上下界的裁剪强度，把原始权重的最大最小值按比例缩小，主要处理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，从而让大多数权重获得更细的分辨率，权重离线做好，无额外计算代价，但是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activation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会有在线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的过程：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07F87C1-5179-4DF4-861F-F1B8B73BA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489" y="2520656"/>
            <a:ext cx="4839021" cy="555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DD5E2E6-0EA8-476A-86F2-601537AF2F4E}"/>
                  </a:ext>
                </a:extLst>
              </p:cNvPr>
              <p:cNvSpPr/>
              <p:nvPr/>
            </p:nvSpPr>
            <p:spPr>
              <a:xfrm>
                <a:off x="4235450" y="3317399"/>
                <a:ext cx="8128000" cy="152618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𝑚𝑖𝑛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是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weight(group/channel)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的原始最大最小值；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𝛽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是可学习参数；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.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sigmoid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，裁剪强度会被限制在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(0, 1)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DD5E2E6-0EA8-476A-86F2-601537AF2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450" y="3317399"/>
                <a:ext cx="8128000" cy="1526187"/>
              </a:xfrm>
              <a:prstGeom prst="rect">
                <a:avLst/>
              </a:prstGeom>
              <a:blipFill>
                <a:blip r:embed="rId5"/>
                <a:stretch>
                  <a:fillRect l="-450" b="-3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29F466C5-8617-47E1-A459-86F43F200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499" y="5384590"/>
            <a:ext cx="6011056" cy="81161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ED6E18-F8B0-4D05-BC39-8A8B0A93144A}"/>
              </a:ext>
            </a:extLst>
          </p:cNvPr>
          <p:cNvSpPr/>
          <p:nvPr/>
        </p:nvSpPr>
        <p:spPr>
          <a:xfrm>
            <a:off x="8445500" y="5306215"/>
            <a:ext cx="7232650" cy="129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权重转换常有一个系数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，就是经过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sigmoid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激活之后的量化系数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在线推理的数据侧的在线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的量化系数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153902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量化算法示例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B988A0-A2FA-4419-8988-8EC36019245A}"/>
              </a:ext>
            </a:extLst>
          </p:cNvPr>
          <p:cNvSpPr/>
          <p:nvPr/>
        </p:nvSpPr>
        <p:spPr>
          <a:xfrm>
            <a:off x="2095499" y="1213792"/>
            <a:ext cx="11934825" cy="972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LET(</a:t>
            </a:r>
            <a:r>
              <a:rPr lang="en-US" altLang="zh-CN" sz="2400" dirty="0"/>
              <a:t>learnable equivalent transformation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activation outlier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，通过等价变换将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activation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的量化难题转移到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上，一般对指定层做等价变换，同时将在线计算转移到上一层的权重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向量转移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，无任何计算代价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AF7753-EC73-4143-A9BE-B7B1246A8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463" y="2436819"/>
            <a:ext cx="6725325" cy="20234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EBA24D-61E2-4C3B-A198-BBEA760CA5C9}"/>
                  </a:ext>
                </a:extLst>
              </p:cNvPr>
              <p:cNvSpPr/>
              <p:nvPr/>
            </p:nvSpPr>
            <p:spPr>
              <a:xfrm>
                <a:off x="9754179" y="3991449"/>
                <a:ext cx="3064865" cy="341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down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EBA24D-61E2-4C3B-A198-BBEA760CA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179" y="3991449"/>
                <a:ext cx="3064865" cy="341376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FFC5941-BFF9-420E-B241-8E24C774B677}"/>
                  </a:ext>
                </a:extLst>
              </p:cNvPr>
              <p:cNvSpPr/>
              <p:nvPr/>
            </p:nvSpPr>
            <p:spPr>
              <a:xfrm>
                <a:off x="6370225" y="4460282"/>
                <a:ext cx="2752323" cy="3655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𝑢𝑝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FFC5941-BFF9-420E-B241-8E24C774B6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225" y="4460282"/>
                <a:ext cx="2752323" cy="365549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35EB087-1A35-4F9E-8979-1473A0539F41}"/>
                  </a:ext>
                </a:extLst>
              </p:cNvPr>
              <p:cNvSpPr/>
              <p:nvPr/>
            </p:nvSpPr>
            <p:spPr>
              <a:xfrm>
                <a:off x="6370225" y="3147818"/>
                <a:ext cx="2962064" cy="3665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𝑔𝑎𝑡𝑒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35EB087-1A35-4F9E-8979-1473A0539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225" y="3147818"/>
                <a:ext cx="2962064" cy="366575"/>
              </a:xfrm>
              <a:prstGeom prst="rect">
                <a:avLst/>
              </a:prstGeom>
              <a:blipFill>
                <a:blip r:embed="rId7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B5EE16A-F8FC-424B-813D-8475FE3109E6}"/>
                  </a:ext>
                </a:extLst>
              </p:cNvPr>
              <p:cNvSpPr/>
              <p:nvPr/>
            </p:nvSpPr>
            <p:spPr>
              <a:xfrm>
                <a:off x="5601664" y="5056757"/>
                <a:ext cx="5052671" cy="365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down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𝑢𝑝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B5EE16A-F8FC-424B-813D-8475FE3109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664" y="5056757"/>
                <a:ext cx="5052671" cy="365806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7D3A00C-FD6B-4E0D-88DC-E80DB499CC76}"/>
                  </a:ext>
                </a:extLst>
              </p:cNvPr>
              <p:cNvSpPr/>
              <p:nvPr/>
            </p:nvSpPr>
            <p:spPr>
              <a:xfrm>
                <a:off x="5601664" y="5567027"/>
                <a:ext cx="4890196" cy="365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down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𝑢𝑝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bSup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7D3A00C-FD6B-4E0D-88DC-E80DB499C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664" y="5567027"/>
                <a:ext cx="4890196" cy="365806"/>
              </a:xfrm>
              <a:prstGeom prst="rect">
                <a:avLst/>
              </a:prstGeom>
              <a:blipFill>
                <a:blip r:embed="rId9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3E2116E-B8C1-4444-B312-13CEFD458D43}"/>
                  </a:ext>
                </a:extLst>
              </p:cNvPr>
              <p:cNvSpPr/>
              <p:nvPr/>
            </p:nvSpPr>
            <p:spPr>
              <a:xfrm>
                <a:off x="3876674" y="3801990"/>
                <a:ext cx="313635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𝑊𝑒𝑖𝑔h𝑡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𝑛𝑜𝑟𝑚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3E2116E-B8C1-4444-B312-13CEFD458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674" y="3801990"/>
                <a:ext cx="3136356" cy="338554"/>
              </a:xfrm>
              <a:prstGeom prst="rect">
                <a:avLst/>
              </a:prstGeom>
              <a:blipFill>
                <a:blip r:embed="rId1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53522EB-0DA6-4B68-A351-D47B9C8D79FF}"/>
              </a:ext>
            </a:extLst>
          </p:cNvPr>
          <p:cNvSpPr/>
          <p:nvPr/>
        </p:nvSpPr>
        <p:spPr>
          <a:xfrm>
            <a:off x="4905613" y="6319829"/>
            <a:ext cx="6647974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一维向量等价变换可绕过非线性算子实现部署无成本的量化优化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90542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量化算法示例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B988A0-A2FA-4419-8988-8EC36019245A}"/>
              </a:ext>
            </a:extLst>
          </p:cNvPr>
          <p:cNvSpPr/>
          <p:nvPr/>
        </p:nvSpPr>
        <p:spPr>
          <a:xfrm>
            <a:off x="2095499" y="1213792"/>
            <a:ext cx="11934825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Rotation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在极低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下，重塑数据分布目前最好的方式还是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rotation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，旋转变换有很多种衍生方式，此处以标准的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hadamard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矩阵为例，该矩阵可以转为学习或者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3522EB-0DA6-4B68-A351-D47B9C8D79FF}"/>
              </a:ext>
            </a:extLst>
          </p:cNvPr>
          <p:cNvSpPr/>
          <p:nvPr/>
        </p:nvSpPr>
        <p:spPr>
          <a:xfrm>
            <a:off x="3815833" y="5403872"/>
            <a:ext cx="8624334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涉及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silu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激活函数的非线性操作，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无法消除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，需要多出额外计算量，同理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前面是一个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层，无法融入到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中，消除这部分计算代价。部署状态下，需要从精度和性能两方面综合评估是否引入这个计算代价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5AF61B4-3714-44DD-8DBC-8369A93FD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361" y="2414321"/>
            <a:ext cx="7259278" cy="2183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70FA41F-109C-4CF3-A6C9-E0ECA775B67D}"/>
                  </a:ext>
                </a:extLst>
              </p:cNvPr>
              <p:cNvSpPr/>
              <p:nvPr/>
            </p:nvSpPr>
            <p:spPr>
              <a:xfrm>
                <a:off x="9934938" y="4224224"/>
                <a:ext cx="2427716" cy="3731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down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70FA41F-109C-4CF3-A6C9-E0ECA775B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938" y="4224224"/>
                <a:ext cx="2427716" cy="373179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0558B2B-0927-4A72-A1C8-AA56E3A04C3E}"/>
                  </a:ext>
                </a:extLst>
              </p:cNvPr>
              <p:cNvSpPr/>
              <p:nvPr/>
            </p:nvSpPr>
            <p:spPr>
              <a:xfrm>
                <a:off x="6342281" y="4699617"/>
                <a:ext cx="2149691" cy="4037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up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0558B2B-0927-4A72-A1C8-AA56E3A04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281" y="4699617"/>
                <a:ext cx="2149691" cy="403700"/>
              </a:xfrm>
              <a:prstGeom prst="rect">
                <a:avLst/>
              </a:prstGeom>
              <a:blipFill>
                <a:blip r:embed="rId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480E72BF-6C2E-46BC-B987-DDC432028B74}"/>
                  </a:ext>
                </a:extLst>
              </p:cNvPr>
              <p:cNvSpPr/>
              <p:nvPr/>
            </p:nvSpPr>
            <p:spPr>
              <a:xfrm>
                <a:off x="6479195" y="3220790"/>
                <a:ext cx="2335319" cy="4015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𝑔𝑎𝑡𝑒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480E72BF-6C2E-46BC-B987-DDC432028B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95" y="3220790"/>
                <a:ext cx="2335319" cy="401585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00879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量化算法示例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A0C38FD-BAF7-4813-9910-44F6D2BACBF3}"/>
              </a:ext>
            </a:extLst>
          </p:cNvPr>
          <p:cNvSpPr/>
          <p:nvPr/>
        </p:nvSpPr>
        <p:spPr>
          <a:xfrm>
            <a:off x="1831975" y="1124897"/>
            <a:ext cx="1221740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优化手段：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全部后融到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linear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层，消除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层中的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，先全网提前融掉所有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norm-weight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继续前融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8D62C40-C9B2-47E7-BF66-0DABD78CE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203" y="1762481"/>
            <a:ext cx="4054031" cy="86471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6884CFD-A5EF-426F-9B4E-18B065A28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854" y="1865054"/>
            <a:ext cx="4359722" cy="7757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6547BEA-B27F-4AAA-ABAD-A71DE8A172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3365" y="1865054"/>
            <a:ext cx="1306849" cy="41819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08D5B83-2D84-4C38-A078-A88E3E5173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31087" y="2268168"/>
            <a:ext cx="1269127" cy="3377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634417-1DB3-43FC-A0EA-032983D9C253}"/>
              </a:ext>
            </a:extLst>
          </p:cNvPr>
          <p:cNvSpPr/>
          <p:nvPr/>
        </p:nvSpPr>
        <p:spPr>
          <a:xfrm>
            <a:off x="1888203" y="2828423"/>
            <a:ext cx="951865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全网用标准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hadamard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学统一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hadamard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下可以消除计算代价，具体需要按照实际网络结构来分析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87D527E-3C41-4B6A-AAEA-00229A8D3A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2476" y="3313289"/>
            <a:ext cx="10567738" cy="463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6163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量化工具</a:t>
            </a: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AMCT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工具设计背景 </a:t>
            </a: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3544AE29-57D6-4456-868A-6424F33AD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970" y="1260842"/>
            <a:ext cx="10001488" cy="577380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4ABFBF0-F765-4946-8357-42BCD6D4F7CD}"/>
              </a:ext>
            </a:extLst>
          </p:cNvPr>
          <p:cNvSpPr/>
          <p:nvPr/>
        </p:nvSpPr>
        <p:spPr>
          <a:xfrm>
            <a:off x="4735105" y="7355263"/>
            <a:ext cx="71096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简化整体流程，避免复杂繁琐重复的工作，搭建一体式工作流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ED6E804-1567-4642-A0BF-2DA1352AB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406" y="4680873"/>
            <a:ext cx="2731188" cy="19863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8946DF-BF06-4128-B3EF-CA7A1BE5C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971" y="4680873"/>
            <a:ext cx="2234608" cy="20088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BBD0A22-205B-4DE2-B4CD-EAC4C73AD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956" y="4642319"/>
            <a:ext cx="2087892" cy="19637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BFE1579-1F55-4727-92E0-4E4357991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1225" y="4651191"/>
            <a:ext cx="2133035" cy="1681599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B9ACBE00-0F9A-40B0-9A0D-7F3A2098EAAD}"/>
              </a:ext>
            </a:extLst>
          </p:cNvPr>
          <p:cNvSpPr/>
          <p:nvPr/>
        </p:nvSpPr>
        <p:spPr>
          <a:xfrm>
            <a:off x="3190395" y="1220255"/>
            <a:ext cx="2849036" cy="1051560"/>
          </a:xfrm>
          <a:prstGeom prst="roundRect">
            <a:avLst/>
          </a:prstGeom>
          <a:solidFill>
            <a:srgbClr val="FDE8EB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4722BFFE-1097-48C5-8FA6-11BAAF63163A}"/>
              </a:ext>
            </a:extLst>
          </p:cNvPr>
          <p:cNvSpPr txBox="1"/>
          <p:nvPr/>
        </p:nvSpPr>
        <p:spPr>
          <a:xfrm>
            <a:off x="3266173" y="1301557"/>
            <a:ext cx="2697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2400" dirty="0"/>
              <a:t>AMCT</a:t>
            </a:r>
            <a:endParaRPr sz="24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283235D-38AF-4072-BB12-26A07A1C7586}"/>
              </a:ext>
            </a:extLst>
          </p:cNvPr>
          <p:cNvSpPr txBox="1"/>
          <p:nvPr/>
        </p:nvSpPr>
        <p:spPr>
          <a:xfrm>
            <a:off x="3190395" y="1860335"/>
            <a:ext cx="28490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lang="en-US" altLang="zh-CN" dirty="0">
                <a:hlinkClick r:id="rId8"/>
              </a:rPr>
              <a:t>https://gitcode.com/cann/amct</a:t>
            </a:r>
            <a:r>
              <a:rPr lang="en-US" altLang="zh-CN" dirty="0"/>
              <a:t> </a:t>
            </a:r>
            <a:endParaRPr dirty="0"/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9A2946A1-EF3C-4692-A4FC-8A5DB7850616}"/>
              </a:ext>
            </a:extLst>
          </p:cNvPr>
          <p:cNvSpPr/>
          <p:nvPr/>
        </p:nvSpPr>
        <p:spPr>
          <a:xfrm>
            <a:off x="9076255" y="1216327"/>
            <a:ext cx="3882135" cy="1051560"/>
          </a:xfrm>
          <a:prstGeom prst="roundRect">
            <a:avLst/>
          </a:prstGeom>
          <a:solidFill>
            <a:srgbClr val="FDE8EB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8192F026-B5E4-4035-B587-0033C95F5253}"/>
              </a:ext>
            </a:extLst>
          </p:cNvPr>
          <p:cNvSpPr txBox="1"/>
          <p:nvPr/>
        </p:nvSpPr>
        <p:spPr>
          <a:xfrm>
            <a:off x="8945453" y="1307767"/>
            <a:ext cx="4205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2400" dirty="0"/>
              <a:t>CANN-RECIPES-INFER</a:t>
            </a:r>
            <a:endParaRPr sz="2400" dirty="0"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C8F7726F-11ED-4C61-A16F-F3C2802038C2}"/>
              </a:ext>
            </a:extLst>
          </p:cNvPr>
          <p:cNvSpPr txBox="1"/>
          <p:nvPr/>
        </p:nvSpPr>
        <p:spPr>
          <a:xfrm>
            <a:off x="8905394" y="1856407"/>
            <a:ext cx="428551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lang="en-US" altLang="zh-CN" dirty="0">
                <a:hlinkClick r:id="rId9"/>
              </a:rPr>
              <a:t>https://gitcode.com/cann/cann-recipes-infer</a:t>
            </a:r>
            <a:r>
              <a:rPr lang="en-US" altLang="zh-CN" dirty="0"/>
              <a:t> </a:t>
            </a:r>
            <a:endParaRPr dirty="0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14EFA7F0-351A-4493-B3CE-60DDCD79D838}"/>
              </a:ext>
            </a:extLst>
          </p:cNvPr>
          <p:cNvSpPr/>
          <p:nvPr/>
        </p:nvSpPr>
        <p:spPr>
          <a:xfrm>
            <a:off x="7174811" y="1571312"/>
            <a:ext cx="906780" cy="39624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DFE75A-6305-449B-9F99-6CBC8EAA53BB}"/>
              </a:ext>
            </a:extLst>
          </p:cNvPr>
          <p:cNvSpPr txBox="1"/>
          <p:nvPr/>
        </p:nvSpPr>
        <p:spPr>
          <a:xfrm>
            <a:off x="3488155" y="2398437"/>
            <a:ext cx="940927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生态一环，与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CANN-RECIPES-INFER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强关联，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工具量化优化的模型可一键部署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FE586D0-969D-4773-AD4B-8958CC17A1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3394" y="2864571"/>
            <a:ext cx="7053211" cy="165812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2D2A282-2574-4733-BA57-5A0C6DF9F903}"/>
              </a:ext>
            </a:extLst>
          </p:cNvPr>
          <p:cNvSpPr txBox="1"/>
          <p:nvPr/>
        </p:nvSpPr>
        <p:spPr>
          <a:xfrm>
            <a:off x="2902010" y="6925143"/>
            <a:ext cx="1018513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前期：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仓中大部分模型都要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量化人员定点优化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，同时将量化系数传到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桶，每个模型提供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定制化转换脚本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新模型量化，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提供通用接口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，权重可一键对接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仓，同时适配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等框架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778211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能力总结</a:t>
            </a: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934E213C-9968-40C0-B150-CD64B273B619}"/>
              </a:ext>
            </a:extLst>
          </p:cNvPr>
          <p:cNvSpPr/>
          <p:nvPr/>
        </p:nvSpPr>
        <p:spPr>
          <a:xfrm>
            <a:off x="3221514" y="1417993"/>
            <a:ext cx="2697480" cy="1051560"/>
          </a:xfrm>
          <a:prstGeom prst="roundRect">
            <a:avLst/>
          </a:prstGeom>
          <a:solidFill>
            <a:srgbClr val="FDE8EB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prstClr val="white"/>
              </a:solidFill>
              <a:latin typeface="等线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9B57C0CC-A829-4679-92B0-943856AD3689}"/>
              </a:ext>
            </a:extLst>
          </p:cNvPr>
          <p:cNvSpPr txBox="1"/>
          <p:nvPr/>
        </p:nvSpPr>
        <p:spPr>
          <a:xfrm>
            <a:off x="3221514" y="1509434"/>
            <a:ext cx="2697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 sz="3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b="1" dirty="0">
                <a:solidFill>
                  <a:srgbClr val="CF0A2C"/>
                </a:solidFill>
                <a:latin typeface="Microsoft YaHei"/>
                <a:ea typeface="等线" panose="02010600030101010101" pitchFamily="2" charset="-122"/>
              </a:rPr>
              <a:t>2</a:t>
            </a:r>
            <a:r>
              <a:rPr sz="3200" b="1" dirty="0">
                <a:solidFill>
                  <a:srgbClr val="CF0A2C"/>
                </a:solidFill>
                <a:latin typeface="Microsoft YaHei"/>
              </a:rPr>
              <a:t>0+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3FFB13A0-987A-473B-B33B-4148FEA807A2}"/>
              </a:ext>
            </a:extLst>
          </p:cNvPr>
          <p:cNvSpPr txBox="1"/>
          <p:nvPr/>
        </p:nvSpPr>
        <p:spPr>
          <a:xfrm>
            <a:off x="3221514" y="2058073"/>
            <a:ext cx="269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模型支持</a:t>
            </a:r>
            <a:endParaRPr sz="1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4B126471-4261-4270-94AF-752982ED187F}"/>
              </a:ext>
            </a:extLst>
          </p:cNvPr>
          <p:cNvSpPr/>
          <p:nvPr/>
        </p:nvSpPr>
        <p:spPr>
          <a:xfrm>
            <a:off x="6779260" y="1438500"/>
            <a:ext cx="2697480" cy="1051560"/>
          </a:xfrm>
          <a:prstGeom prst="roundRect">
            <a:avLst/>
          </a:prstGeom>
          <a:solidFill>
            <a:srgbClr val="FDE8EB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prstClr val="white"/>
              </a:solidFill>
              <a:latin typeface="等线"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8E0172AD-920F-4A0C-8004-1119B240EBCB}"/>
              </a:ext>
            </a:extLst>
          </p:cNvPr>
          <p:cNvSpPr txBox="1"/>
          <p:nvPr/>
        </p:nvSpPr>
        <p:spPr>
          <a:xfrm>
            <a:off x="6779260" y="1529941"/>
            <a:ext cx="2697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 sz="3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b="1" dirty="0">
                <a:solidFill>
                  <a:srgbClr val="CF0A2C"/>
                </a:solidFill>
                <a:latin typeface="Microsoft YaHei"/>
              </a:rPr>
              <a:t>7</a:t>
            </a:r>
            <a:endParaRPr sz="3200" b="1" dirty="0">
              <a:solidFill>
                <a:srgbClr val="CF0A2C"/>
              </a:solidFill>
              <a:latin typeface="Microsoft YaHei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315048A5-E8EC-48E0-A9AD-CBA051E06A03}"/>
              </a:ext>
            </a:extLst>
          </p:cNvPr>
          <p:cNvSpPr txBox="1"/>
          <p:nvPr/>
        </p:nvSpPr>
        <p:spPr>
          <a:xfrm>
            <a:off x="6779260" y="2078580"/>
            <a:ext cx="269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浮点格式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E3CD46B8-F259-4345-B012-6FDF5F3B2983}"/>
              </a:ext>
            </a:extLst>
          </p:cNvPr>
          <p:cNvSpPr/>
          <p:nvPr/>
        </p:nvSpPr>
        <p:spPr>
          <a:xfrm>
            <a:off x="10337006" y="1433009"/>
            <a:ext cx="2697480" cy="1051560"/>
          </a:xfrm>
          <a:prstGeom prst="roundRect">
            <a:avLst/>
          </a:prstGeom>
          <a:solidFill>
            <a:srgbClr val="FDE8EB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prstClr val="white"/>
              </a:solidFill>
              <a:latin typeface="等线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DF8E4C4-D592-42DA-BC83-5E0E252B088A}"/>
              </a:ext>
            </a:extLst>
          </p:cNvPr>
          <p:cNvSpPr txBox="1"/>
          <p:nvPr/>
        </p:nvSpPr>
        <p:spPr>
          <a:xfrm>
            <a:off x="10337006" y="1524450"/>
            <a:ext cx="2697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 sz="3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b="1" dirty="0">
                <a:solidFill>
                  <a:srgbClr val="CF0A2C"/>
                </a:solidFill>
                <a:latin typeface="Microsoft YaHei"/>
                <a:ea typeface="等线" panose="02010600030101010101" pitchFamily="2" charset="-122"/>
              </a:rPr>
              <a:t>10+</a:t>
            </a:r>
            <a:endParaRPr sz="3200" b="1" dirty="0">
              <a:solidFill>
                <a:srgbClr val="CF0A2C"/>
              </a:solidFill>
              <a:latin typeface="Microsoft YaHei"/>
            </a:endParaRP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7BC3DFA8-8E8B-4E4E-B9B5-F9C50B2E77F4}"/>
              </a:ext>
            </a:extLst>
          </p:cNvPr>
          <p:cNvSpPr txBox="1"/>
          <p:nvPr/>
        </p:nvSpPr>
        <p:spPr>
          <a:xfrm>
            <a:off x="10337006" y="2073089"/>
            <a:ext cx="269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sz="1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2CDA91D9-C507-46C6-A417-555B685BE4C7}"/>
              </a:ext>
            </a:extLst>
          </p:cNvPr>
          <p:cNvSpPr/>
          <p:nvPr/>
        </p:nvSpPr>
        <p:spPr>
          <a:xfrm>
            <a:off x="1415573" y="3117925"/>
            <a:ext cx="4026471" cy="1977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2800">
              <a:solidFill>
                <a:prstClr val="white"/>
              </a:solidFill>
              <a:latin typeface="等线"/>
            </a:endParaRP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ABCC57F0-173B-427D-B210-6143CBC2E012}"/>
              </a:ext>
            </a:extLst>
          </p:cNvPr>
          <p:cNvSpPr/>
          <p:nvPr/>
        </p:nvSpPr>
        <p:spPr>
          <a:xfrm>
            <a:off x="1415574" y="3117925"/>
            <a:ext cx="68306" cy="19779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2800">
              <a:solidFill>
                <a:prstClr val="white"/>
              </a:solidFill>
              <a:latin typeface="等线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55FB53B8-DFE3-4AF9-950E-ED96E81D2CC6}"/>
              </a:ext>
            </a:extLst>
          </p:cNvPr>
          <p:cNvSpPr txBox="1"/>
          <p:nvPr/>
        </p:nvSpPr>
        <p:spPr>
          <a:xfrm>
            <a:off x="1598454" y="3209366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 sz="1200" b="1">
                <a:solidFill>
                  <a:srgbClr val="CF0A2C"/>
                </a:solidFill>
                <a:latin typeface="Microsoft YaHei"/>
              </a:defRPr>
            </a:pPr>
            <a:r>
              <a:rPr sz="1600" b="1" dirty="0">
                <a:solidFill>
                  <a:srgbClr val="CF0A2C"/>
                </a:solidFill>
                <a:latin typeface="Microsoft YaHei"/>
              </a:rPr>
              <a:t>01  </a:t>
            </a:r>
            <a:r>
              <a:rPr sz="1600" b="1" dirty="0" err="1">
                <a:solidFill>
                  <a:srgbClr val="CF0A2C"/>
                </a:solidFill>
                <a:latin typeface="Microsoft YaHei"/>
              </a:rPr>
              <a:t>覆盖</a:t>
            </a:r>
            <a:r>
              <a:rPr lang="zh-CN" altLang="en-US" sz="1600" b="1" dirty="0">
                <a:solidFill>
                  <a:srgbClr val="CF0A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主流模型</a:t>
            </a:r>
            <a:endParaRPr sz="1600" b="1" dirty="0">
              <a:solidFill>
                <a:srgbClr val="CF0A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7FD7DCD7-969C-43D5-846C-23E7247341C7}"/>
              </a:ext>
            </a:extLst>
          </p:cNvPr>
          <p:cNvSpPr txBox="1"/>
          <p:nvPr/>
        </p:nvSpPr>
        <p:spPr>
          <a:xfrm>
            <a:off x="1598453" y="3575125"/>
            <a:ext cx="36031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>
                <a:latin typeface="Microsoft YaHei"/>
              </a:rPr>
              <a:t>支持 </a:t>
            </a:r>
            <a:r>
              <a:rPr lang="en-US" sz="1400" dirty="0">
                <a:latin typeface="Microsoft YaHei"/>
              </a:rPr>
              <a:t>DeepSeek v3.2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DeepSeek v4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Qwen3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Qwen3-Next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 Qwen3.5/3.6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GLM 5.1/5.2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Longcat Flash/Next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、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HunYuan3.0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等主流模型，覆盖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Dense/</a:t>
            </a:r>
            <a:r>
              <a:rPr lang="en-US" altLang="zh-CN" sz="1400" dirty="0" err="1">
                <a:latin typeface="Microsoft YaHei"/>
                <a:ea typeface="等线" panose="02010600030101010101" pitchFamily="2" charset="-122"/>
              </a:rPr>
              <a:t>MoE</a:t>
            </a:r>
            <a:r>
              <a:rPr lang="en-US" altLang="zh-CN" sz="1400" dirty="0">
                <a:latin typeface="Microsoft YaHei"/>
                <a:ea typeface="等线" panose="02010600030101010101" pitchFamily="2" charset="-122"/>
              </a:rPr>
              <a:t>, Attention(GQA, MHA, MLA)</a:t>
            </a:r>
            <a:r>
              <a:rPr lang="zh-CN" altLang="en-US" sz="1400" dirty="0">
                <a:latin typeface="Microsoft YaHei"/>
                <a:ea typeface="等线" panose="02010600030101010101" pitchFamily="2" charset="-122"/>
              </a:rPr>
              <a:t>等典型结构</a:t>
            </a:r>
            <a:endParaRPr lang="en-US" sz="1400" dirty="0">
              <a:latin typeface="Microsoft YaHei"/>
            </a:endParaRP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B4C193DB-17E6-4539-A74E-48838A5E3734}"/>
              </a:ext>
            </a:extLst>
          </p:cNvPr>
          <p:cNvSpPr/>
          <p:nvPr/>
        </p:nvSpPr>
        <p:spPr>
          <a:xfrm>
            <a:off x="6198615" y="3109633"/>
            <a:ext cx="4026471" cy="20776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2800">
              <a:solidFill>
                <a:prstClr val="white"/>
              </a:solidFill>
              <a:latin typeface="等线"/>
            </a:endParaRPr>
          </a:p>
        </p:txBody>
      </p:sp>
      <p:sp>
        <p:nvSpPr>
          <p:cNvPr id="39" name="Rectangle 21">
            <a:extLst>
              <a:ext uri="{FF2B5EF4-FFF2-40B4-BE49-F238E27FC236}">
                <a16:creationId xmlns:a16="http://schemas.microsoft.com/office/drawing/2014/main" id="{DD7DA075-B8ED-4657-9CCC-51CC776E37BB}"/>
              </a:ext>
            </a:extLst>
          </p:cNvPr>
          <p:cNvSpPr/>
          <p:nvPr/>
        </p:nvSpPr>
        <p:spPr>
          <a:xfrm>
            <a:off x="6198615" y="3109633"/>
            <a:ext cx="68383" cy="2077683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2800">
              <a:solidFill>
                <a:prstClr val="white"/>
              </a:solidFill>
              <a:latin typeface="等线"/>
            </a:endParaRP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EB063E0E-DB1C-421F-A832-1FD8D92C322C}"/>
              </a:ext>
            </a:extLst>
          </p:cNvPr>
          <p:cNvSpPr txBox="1"/>
          <p:nvPr/>
        </p:nvSpPr>
        <p:spPr>
          <a:xfrm>
            <a:off x="6381496" y="3201075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 sz="1200" b="1">
                <a:solidFill>
                  <a:srgbClr val="CF0A2C"/>
                </a:solidFill>
                <a:latin typeface="Microsoft YaHei"/>
              </a:defRPr>
            </a:pPr>
            <a:r>
              <a:rPr sz="1600" b="1" dirty="0">
                <a:solidFill>
                  <a:srgbClr val="CF0A2C"/>
                </a:solidFill>
                <a:latin typeface="Microsoft YaHei"/>
              </a:rPr>
              <a:t>02  </a:t>
            </a:r>
            <a:r>
              <a:rPr lang="zh-CN" altLang="en-US" sz="1600" b="1" dirty="0">
                <a:solidFill>
                  <a:srgbClr val="CF0A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量化格式</a:t>
            </a:r>
            <a:endParaRPr lang="en-US" altLang="zh-CN" sz="1600" b="1" dirty="0"/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F5943BC5-F0FD-4298-AFEC-26362B7813D7}"/>
              </a:ext>
            </a:extLst>
          </p:cNvPr>
          <p:cNvSpPr txBox="1"/>
          <p:nvPr/>
        </p:nvSpPr>
        <p:spPr>
          <a:xfrm>
            <a:off x="6381496" y="3682148"/>
            <a:ext cx="36075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Atlas-A3 Pod/950PR/DT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INT4/8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MXFP4/8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六种格式以及下一代的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HiF4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格式，快速验证同一模型在不同格式下的精度损失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24">
            <a:extLst>
              <a:ext uri="{FF2B5EF4-FFF2-40B4-BE49-F238E27FC236}">
                <a16:creationId xmlns:a16="http://schemas.microsoft.com/office/drawing/2014/main" id="{55952BAF-BE37-4FD1-B95B-2F5091FC7E92}"/>
              </a:ext>
            </a:extLst>
          </p:cNvPr>
          <p:cNvSpPr/>
          <p:nvPr/>
        </p:nvSpPr>
        <p:spPr>
          <a:xfrm>
            <a:off x="11095195" y="3042732"/>
            <a:ext cx="4344829" cy="20776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2800">
              <a:solidFill>
                <a:prstClr val="white"/>
              </a:solidFill>
              <a:latin typeface="等线"/>
            </a:endParaRP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796C6B0E-62C2-4C26-93B0-94F26898476D}"/>
              </a:ext>
            </a:extLst>
          </p:cNvPr>
          <p:cNvSpPr/>
          <p:nvPr/>
        </p:nvSpPr>
        <p:spPr>
          <a:xfrm>
            <a:off x="11095196" y="3042732"/>
            <a:ext cx="71764" cy="2077683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2800">
              <a:solidFill>
                <a:prstClr val="white"/>
              </a:solidFill>
              <a:latin typeface="等线"/>
            </a:endParaRP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34E0E603-DB73-4DEB-88B4-0B6E7AC9F4A9}"/>
              </a:ext>
            </a:extLst>
          </p:cNvPr>
          <p:cNvSpPr txBox="1"/>
          <p:nvPr/>
        </p:nvSpPr>
        <p:spPr>
          <a:xfrm>
            <a:off x="11278076" y="3134174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 sz="1200" b="1">
                <a:solidFill>
                  <a:srgbClr val="CF0A2C"/>
                </a:solidFill>
                <a:latin typeface="Microsoft YaHei"/>
              </a:defRPr>
            </a:pPr>
            <a:r>
              <a:rPr sz="1600" b="1" dirty="0">
                <a:solidFill>
                  <a:srgbClr val="CF0A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600" b="1" dirty="0">
                <a:solidFill>
                  <a:srgbClr val="CF0A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多种量化算法</a:t>
            </a:r>
            <a:endParaRPr sz="1600" b="1" dirty="0">
              <a:solidFill>
                <a:srgbClr val="CF0A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C28E10F8-6408-4F81-B37A-28A51CB6103A}"/>
              </a:ext>
            </a:extLst>
          </p:cNvPr>
          <p:cNvSpPr txBox="1"/>
          <p:nvPr/>
        </p:nvSpPr>
        <p:spPr>
          <a:xfrm>
            <a:off x="11278076" y="3499934"/>
            <a:ext cx="398732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支持同一模型在不同算法上的精度表现，快速沉淀面向相同架构下的精度补偿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recipe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，目前已支持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LWC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AutoRound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SVDQuant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GPTQ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Hadamard(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可学习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Flatquant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OmniQuant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SmoothQuant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等针对权重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、激活范围、舍入误差、块内分布等问题选择优化算法</a:t>
            </a: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467077D9-D0FC-44D4-BE02-A7FC638676F5}"/>
              </a:ext>
            </a:extLst>
          </p:cNvPr>
          <p:cNvSpPr/>
          <p:nvPr/>
        </p:nvSpPr>
        <p:spPr>
          <a:xfrm>
            <a:off x="3101435" y="5735689"/>
            <a:ext cx="2331720" cy="69962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Adapt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模型适配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46F08806-EF96-4B70-9ED1-F2E3002560F3}"/>
              </a:ext>
            </a:extLst>
          </p:cNvPr>
          <p:cNvSpPr/>
          <p:nvPr/>
        </p:nvSpPr>
        <p:spPr>
          <a:xfrm>
            <a:off x="5478875" y="5891138"/>
            <a:ext cx="182880" cy="282106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CCEA5547-E06F-4CBA-9BF7-DFFB7E4D589C}"/>
              </a:ext>
            </a:extLst>
          </p:cNvPr>
          <p:cNvSpPr/>
          <p:nvPr/>
        </p:nvSpPr>
        <p:spPr>
          <a:xfrm>
            <a:off x="5689187" y="5735689"/>
            <a:ext cx="2331720" cy="69962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Evaluate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精度评估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C5806AC4-82FA-427B-9266-10A42280B640}"/>
              </a:ext>
            </a:extLst>
          </p:cNvPr>
          <p:cNvSpPr/>
          <p:nvPr/>
        </p:nvSpPr>
        <p:spPr>
          <a:xfrm>
            <a:off x="8066627" y="5891138"/>
            <a:ext cx="182880" cy="282106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4CDC46EA-51DA-4391-ACE8-18E57C3CB76C}"/>
              </a:ext>
            </a:extLst>
          </p:cNvPr>
          <p:cNvSpPr/>
          <p:nvPr/>
        </p:nvSpPr>
        <p:spPr>
          <a:xfrm>
            <a:off x="8276939" y="5735689"/>
            <a:ext cx="2331720" cy="69962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</a:t>
            </a:r>
            <a:r>
              <a:rPr lang="en-US" b="1" dirty="0" err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E7F47975-E9F2-445C-9575-93CB63D7FA32}"/>
              </a:ext>
            </a:extLst>
          </p:cNvPr>
          <p:cNvSpPr/>
          <p:nvPr/>
        </p:nvSpPr>
        <p:spPr>
          <a:xfrm>
            <a:off x="10654379" y="5891138"/>
            <a:ext cx="182880" cy="282106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55B85A27-A443-4194-89E0-A32692ED2B1F}"/>
              </a:ext>
            </a:extLst>
          </p:cNvPr>
          <p:cNvSpPr/>
          <p:nvPr/>
        </p:nvSpPr>
        <p:spPr>
          <a:xfrm>
            <a:off x="10864691" y="5735689"/>
            <a:ext cx="2331720" cy="69962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663FD4-4370-453C-82D3-EC3FEBD71435}"/>
              </a:ext>
            </a:extLst>
          </p:cNvPr>
          <p:cNvSpPr/>
          <p:nvPr/>
        </p:nvSpPr>
        <p:spPr>
          <a:xfrm>
            <a:off x="3787143" y="6979809"/>
            <a:ext cx="79768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AMCT 将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模型适配、精度评估、量化优化、部署导出收敛为统一流程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999844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Adapt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模型适配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Evaluate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精度评估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</a:t>
            </a:r>
            <a:r>
              <a:rPr lang="en-US" sz="1600" b="1" dirty="0" err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80259D-9C14-47BD-8299-26966BB84D39}"/>
              </a:ext>
            </a:extLst>
          </p:cNvPr>
          <p:cNvSpPr/>
          <p:nvPr/>
        </p:nvSpPr>
        <p:spPr>
          <a:xfrm>
            <a:off x="666750" y="969366"/>
            <a:ext cx="1162050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通用模块拆解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：模型量化对象均集中在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 Layer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中，将其按以下方式拆解，针对其中量化模块灵活配置量化方案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70F685B9-9207-4E5D-AAE5-F5942D0B2378}"/>
              </a:ext>
            </a:extLst>
          </p:cNvPr>
          <p:cNvSpPr/>
          <p:nvPr/>
        </p:nvSpPr>
        <p:spPr>
          <a:xfrm>
            <a:off x="12028331" y="1306556"/>
            <a:ext cx="4078444" cy="65882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6FCC7AC-9E4B-4218-9AF3-0995DD4C5CD8}"/>
              </a:ext>
            </a:extLst>
          </p:cNvPr>
          <p:cNvSpPr txBox="1"/>
          <p:nvPr/>
        </p:nvSpPr>
        <p:spPr>
          <a:xfrm>
            <a:off x="13039033" y="1268222"/>
            <a:ext cx="204942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代码接口映射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A60B393-4D14-41D7-986F-5942C8D4543F}"/>
              </a:ext>
            </a:extLst>
          </p:cNvPr>
          <p:cNvSpPr/>
          <p:nvPr/>
        </p:nvSpPr>
        <p:spPr>
          <a:xfrm>
            <a:off x="12312602" y="1877244"/>
            <a:ext cx="3460132" cy="10645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</a:t>
            </a:r>
            <a:r>
              <a:rPr lang="zh-CN" altLang="en-US" sz="1400" i="1" dirty="0">
                <a:solidFill>
                  <a:schemeClr val="tx1"/>
                </a:solidFill>
              </a:rPr>
              <a:t>通过统一接口构建</a:t>
            </a:r>
            <a:r>
              <a:rPr lang="en-US" altLang="zh-CN" sz="1400" i="1" dirty="0">
                <a:solidFill>
                  <a:schemeClr val="tx1"/>
                </a:solidFill>
              </a:rPr>
              <a:t>quant block</a:t>
            </a:r>
          </a:p>
          <a:p>
            <a:r>
              <a:rPr lang="en-US" altLang="zh-CN" sz="1400" b="1" dirty="0">
                <a:solidFill>
                  <a:schemeClr val="tx1"/>
                </a:solidFill>
              </a:rPr>
              <a:t>def </a:t>
            </a:r>
            <a:r>
              <a:rPr lang="en-US" altLang="zh-CN" sz="1400" b="1" dirty="0" err="1">
                <a:solidFill>
                  <a:schemeClr val="tx1"/>
                </a:solidFill>
              </a:rPr>
              <a:t>build_quant_block</a:t>
            </a:r>
            <a:r>
              <a:rPr lang="en-US" altLang="zh-CN" sz="1400" b="1" dirty="0">
                <a:solidFill>
                  <a:schemeClr val="tx1"/>
                </a:solidFill>
              </a:rPr>
              <a:t> ()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A24EA21-D287-4F04-8A6E-0FFA7987A88B}"/>
              </a:ext>
            </a:extLst>
          </p:cNvPr>
          <p:cNvSpPr/>
          <p:nvPr/>
        </p:nvSpPr>
        <p:spPr>
          <a:xfrm>
            <a:off x="12312602" y="3295172"/>
            <a:ext cx="3460133" cy="13382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</a:t>
            </a:r>
            <a:r>
              <a:rPr lang="zh-CN" altLang="en-US" sz="1400" i="1" dirty="0">
                <a:solidFill>
                  <a:schemeClr val="tx1"/>
                </a:solidFill>
              </a:rPr>
              <a:t>继承基类，稀疏</a:t>
            </a:r>
            <a:r>
              <a:rPr lang="en-US" altLang="zh-CN" sz="1400" i="1" dirty="0">
                <a:solidFill>
                  <a:schemeClr val="tx1"/>
                </a:solidFill>
              </a:rPr>
              <a:t>/</a:t>
            </a:r>
            <a:r>
              <a:rPr lang="zh-CN" altLang="en-US" sz="1400" i="1" dirty="0">
                <a:solidFill>
                  <a:schemeClr val="tx1"/>
                </a:solidFill>
              </a:rPr>
              <a:t>稠密最终都指向</a:t>
            </a:r>
            <a:r>
              <a:rPr lang="en-US" altLang="zh-CN" sz="1400" i="1" dirty="0">
                <a:solidFill>
                  <a:schemeClr val="tx1"/>
                </a:solidFill>
              </a:rPr>
              <a:t>MLP</a:t>
            </a:r>
            <a:r>
              <a:rPr lang="zh-CN" altLang="en-US" sz="1400" i="1" dirty="0">
                <a:solidFill>
                  <a:schemeClr val="tx1"/>
                </a:solidFill>
              </a:rPr>
              <a:t>结构</a:t>
            </a:r>
            <a:endParaRPr lang="en-US" altLang="zh-CN" sz="1400" i="1" dirty="0">
              <a:solidFill>
                <a:schemeClr val="tx1"/>
              </a:solidFill>
            </a:endParaRPr>
          </a:p>
          <a:p>
            <a:r>
              <a:rPr lang="nb-NO" altLang="zh-CN" sz="1400" b="1" dirty="0">
                <a:solidFill>
                  <a:schemeClr val="tx1"/>
                </a:solidFill>
              </a:rPr>
              <a:t>class QuantQwen3MLP(QuantGatedMLP):</a:t>
            </a:r>
          </a:p>
          <a:p>
            <a:r>
              <a:rPr lang="nb-NO" altLang="zh-CN" sz="1400" b="1" dirty="0">
                <a:solidFill>
                  <a:schemeClr val="tx1"/>
                </a:solidFill>
              </a:rPr>
              <a:t>    pass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E9C92D3-6692-4846-A201-73D0E3FDB6B7}"/>
              </a:ext>
            </a:extLst>
          </p:cNvPr>
          <p:cNvSpPr/>
          <p:nvPr/>
        </p:nvSpPr>
        <p:spPr>
          <a:xfrm>
            <a:off x="12333680" y="4994041"/>
            <a:ext cx="3460133" cy="12336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Attention</a:t>
            </a:r>
            <a:r>
              <a:rPr lang="zh-CN" altLang="en-US" sz="1400" i="1" dirty="0">
                <a:solidFill>
                  <a:schemeClr val="tx1"/>
                </a:solidFill>
              </a:rPr>
              <a:t>继承源码，构建量化节点，</a:t>
            </a:r>
            <a:r>
              <a:rPr lang="en-US" altLang="zh-CN" sz="1400" i="1" dirty="0">
                <a:solidFill>
                  <a:schemeClr val="tx1"/>
                </a:solidFill>
              </a:rPr>
              <a:t>FA</a:t>
            </a:r>
            <a:r>
              <a:rPr lang="zh-CN" altLang="en-US" sz="1400" i="1" dirty="0">
                <a:solidFill>
                  <a:schemeClr val="tx1"/>
                </a:solidFill>
              </a:rPr>
              <a:t>计算需要统一替换方便</a:t>
            </a:r>
            <a:r>
              <a:rPr lang="en-US" altLang="zh-CN" sz="1400" i="1" dirty="0">
                <a:solidFill>
                  <a:schemeClr val="tx1"/>
                </a:solidFill>
              </a:rPr>
              <a:t>cache</a:t>
            </a:r>
            <a:r>
              <a:rPr lang="zh-CN" altLang="en-US" sz="1400" i="1" dirty="0">
                <a:solidFill>
                  <a:schemeClr val="tx1"/>
                </a:solidFill>
              </a:rPr>
              <a:t>量化</a:t>
            </a:r>
            <a:endParaRPr lang="en-US" altLang="zh-CN" sz="1400" i="1" dirty="0">
              <a:solidFill>
                <a:schemeClr val="tx1"/>
              </a:solidFill>
            </a:endParaRPr>
          </a:p>
          <a:p>
            <a:r>
              <a:rPr lang="nb-NO" altLang="zh-CN" sz="1400" b="1" dirty="0">
                <a:solidFill>
                  <a:schemeClr val="tx1"/>
                </a:solidFill>
              </a:rPr>
              <a:t>class QuantQwen3Attn(Qwen3Attention):</a:t>
            </a:r>
          </a:p>
          <a:p>
            <a:r>
              <a:rPr lang="nb-NO" altLang="zh-CN" sz="1400" b="1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DEF6B4F5-FB85-4144-801D-5D60B133CECF}"/>
              </a:ext>
            </a:extLst>
          </p:cNvPr>
          <p:cNvSpPr/>
          <p:nvPr/>
        </p:nvSpPr>
        <p:spPr>
          <a:xfrm>
            <a:off x="12333681" y="6615696"/>
            <a:ext cx="3460132" cy="8068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head</a:t>
            </a:r>
            <a:r>
              <a:rPr lang="zh-CN" altLang="en-US" sz="1400" i="1" dirty="0">
                <a:solidFill>
                  <a:schemeClr val="tx1"/>
                </a:solidFill>
              </a:rPr>
              <a:t>的输出，统一调</a:t>
            </a:r>
            <a:r>
              <a:rPr lang="en-US" altLang="zh-CN" sz="1400" i="1" dirty="0">
                <a:solidFill>
                  <a:schemeClr val="tx1"/>
                </a:solidFill>
              </a:rPr>
              <a:t>eval</a:t>
            </a:r>
            <a:r>
              <a:rPr lang="zh-CN" altLang="en-US" sz="1400" i="1" dirty="0">
                <a:solidFill>
                  <a:schemeClr val="tx1"/>
                </a:solidFill>
              </a:rPr>
              <a:t>接口</a:t>
            </a:r>
          </a:p>
          <a:p>
            <a:r>
              <a:rPr lang="en-US" altLang="zh-CN" sz="1400" b="1" dirty="0">
                <a:solidFill>
                  <a:schemeClr val="tx1"/>
                </a:solidFill>
              </a:rPr>
              <a:t>def </a:t>
            </a:r>
            <a:r>
              <a:rPr lang="en-US" altLang="zh-CN" sz="1400" b="1" dirty="0" err="1">
                <a:solidFill>
                  <a:schemeClr val="tx1"/>
                </a:solidFill>
              </a:rPr>
              <a:t>do_head_forward</a:t>
            </a:r>
            <a:r>
              <a:rPr lang="en-US" altLang="zh-CN" sz="1400" b="1" dirty="0">
                <a:solidFill>
                  <a:schemeClr val="tx1"/>
                </a:solidFill>
              </a:rPr>
              <a:t>()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FC827D-CA99-4CDF-BF19-6C2676D194E1}"/>
              </a:ext>
            </a:extLst>
          </p:cNvPr>
          <p:cNvSpPr/>
          <p:nvPr/>
        </p:nvSpPr>
        <p:spPr>
          <a:xfrm>
            <a:off x="762000" y="2137684"/>
            <a:ext cx="3877985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分模块量化，复用基类，最小化改动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72112A3A-A21E-4EDA-94FC-D0539F82C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628392"/>
            <a:ext cx="10783669" cy="3614026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E7996FEB-E6D0-4C67-9660-957EC5484895}"/>
              </a:ext>
            </a:extLst>
          </p:cNvPr>
          <p:cNvSpPr txBox="1"/>
          <p:nvPr/>
        </p:nvSpPr>
        <p:spPr>
          <a:xfrm>
            <a:off x="6610398" y="2200438"/>
            <a:ext cx="159300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 target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6C34954-C99A-47F1-8000-CA02F9B32B06}"/>
              </a:ext>
            </a:extLst>
          </p:cNvPr>
          <p:cNvSpPr/>
          <p:nvPr/>
        </p:nvSpPr>
        <p:spPr>
          <a:xfrm>
            <a:off x="6238874" y="2200439"/>
            <a:ext cx="2397125" cy="4152736"/>
          </a:xfrm>
          <a:prstGeom prst="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89238517-6532-4B10-8A96-EEB5614F6D27}"/>
              </a:ext>
            </a:extLst>
          </p:cNvPr>
          <p:cNvSpPr/>
          <p:nvPr/>
        </p:nvSpPr>
        <p:spPr>
          <a:xfrm>
            <a:off x="3506942" y="6536240"/>
            <a:ext cx="7039144" cy="1004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基础用法：</a:t>
            </a:r>
            <a:r>
              <a:rPr lang="zh-CN" altLang="en-US" sz="1400" dirty="0">
                <a:solidFill>
                  <a:schemeClr val="tx1"/>
                </a:solidFill>
              </a:rPr>
              <a:t>根据传参</a:t>
            </a:r>
            <a:r>
              <a:rPr lang="en-US" altLang="zh-CN" sz="1400" dirty="0">
                <a:solidFill>
                  <a:schemeClr val="tx1"/>
                </a:solidFill>
              </a:rPr>
              <a:t>: </a:t>
            </a:r>
          </a:p>
          <a:p>
            <a:r>
              <a:rPr lang="en-US" altLang="zh-CN" sz="1400" b="1" dirty="0">
                <a:solidFill>
                  <a:schemeClr val="tx1"/>
                </a:solidFill>
              </a:rPr>
              <a:t>--</a:t>
            </a:r>
            <a:r>
              <a:rPr lang="en-US" altLang="zh-CN" sz="1400" b="1" dirty="0" err="1">
                <a:solidFill>
                  <a:schemeClr val="tx1"/>
                </a:solidFill>
              </a:rPr>
              <a:t>quant_target</a:t>
            </a:r>
            <a:r>
              <a:rPr lang="en-US" altLang="zh-CN" sz="1400" b="1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choices=["</a:t>
            </a:r>
            <a:r>
              <a:rPr lang="en-US" altLang="zh-CN" sz="1400" dirty="0" err="1">
                <a:solidFill>
                  <a:schemeClr val="tx1"/>
                </a:solidFill>
              </a:rPr>
              <a:t>mlp</a:t>
            </a:r>
            <a:r>
              <a:rPr lang="en-US" altLang="zh-CN" sz="1400" dirty="0">
                <a:solidFill>
                  <a:schemeClr val="tx1"/>
                </a:solidFill>
              </a:rPr>
              <a:t>", "</a:t>
            </a:r>
            <a:r>
              <a:rPr lang="en-US" altLang="zh-CN" sz="1400" dirty="0" err="1">
                <a:solidFill>
                  <a:schemeClr val="tx1"/>
                </a:solidFill>
              </a:rPr>
              <a:t>moe</a:t>
            </a:r>
            <a:r>
              <a:rPr lang="en-US" altLang="zh-CN" sz="1400" dirty="0">
                <a:solidFill>
                  <a:schemeClr val="tx1"/>
                </a:solidFill>
              </a:rPr>
              <a:t>", "attn-linear", "attn-cache"] </a:t>
            </a:r>
            <a:r>
              <a:rPr lang="zh-CN" altLang="en-US" sz="1400" dirty="0">
                <a:solidFill>
                  <a:schemeClr val="tx1"/>
                </a:solidFill>
              </a:rPr>
              <a:t>来指定量化的模块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14191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Adapt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模型适配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Evaluate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精度评估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</a:t>
            </a:r>
            <a:r>
              <a:rPr lang="en-US" sz="1600" b="1" dirty="0" err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1CF5C9-FB99-44BE-8F7B-9F439D7C7D68}"/>
              </a:ext>
            </a:extLst>
          </p:cNvPr>
          <p:cNvSpPr/>
          <p:nvPr/>
        </p:nvSpPr>
        <p:spPr>
          <a:xfrm>
            <a:off x="968561" y="1037371"/>
            <a:ext cx="3631828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 Layer MOE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替换示例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2A4BCAC-7AD1-4850-9F00-672E187E1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711" y="1717956"/>
            <a:ext cx="8847814" cy="462649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CB58ED1-95E8-405A-852F-8430D9C5219E}"/>
              </a:ext>
            </a:extLst>
          </p:cNvPr>
          <p:cNvSpPr/>
          <p:nvPr/>
        </p:nvSpPr>
        <p:spPr>
          <a:xfrm>
            <a:off x="892174" y="6300230"/>
            <a:ext cx="9794875" cy="17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pack/unpack: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推理瓶颈不是单个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很大，而是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很多、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分发稀疏、每个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不均匀，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naive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的实现是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循环逐个处理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即将各个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成一个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 tensor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实现加速，但量化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中需要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unpack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单独优化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B0CC22B-36A8-4281-9AAD-9182A144A133}"/>
              </a:ext>
            </a:extLst>
          </p:cNvPr>
          <p:cNvSpPr/>
          <p:nvPr/>
        </p:nvSpPr>
        <p:spPr>
          <a:xfrm>
            <a:off x="11363325" y="1134604"/>
            <a:ext cx="4724399" cy="680924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A1CCD31-846F-4CA9-A267-A1514AF889A5}"/>
              </a:ext>
            </a:extLst>
          </p:cNvPr>
          <p:cNvSpPr txBox="1"/>
          <p:nvPr/>
        </p:nvSpPr>
        <p:spPr>
          <a:xfrm>
            <a:off x="12717562" y="1077221"/>
            <a:ext cx="1929093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代码接口映射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DF3950E-15E5-42D0-87B2-86EDA4D7B83A}"/>
              </a:ext>
            </a:extLst>
          </p:cNvPr>
          <p:cNvSpPr/>
          <p:nvPr/>
        </p:nvSpPr>
        <p:spPr>
          <a:xfrm>
            <a:off x="11649075" y="1612680"/>
            <a:ext cx="4237577" cy="40412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i="1" dirty="0">
                <a:solidFill>
                  <a:schemeClr val="tx1"/>
                </a:solidFill>
              </a:rPr>
              <a:t># </a:t>
            </a:r>
            <a:r>
              <a:rPr lang="zh-CN" altLang="en-US" sz="1600" i="1" dirty="0">
                <a:solidFill>
                  <a:schemeClr val="tx1"/>
                </a:solidFill>
              </a:rPr>
              <a:t>通过统一接口构建</a:t>
            </a:r>
            <a:r>
              <a:rPr lang="en-US" altLang="zh-CN" sz="1600" i="1" dirty="0">
                <a:solidFill>
                  <a:schemeClr val="tx1"/>
                </a:solidFill>
              </a:rPr>
              <a:t>quant block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</a:rPr>
              <a:t>def </a:t>
            </a:r>
            <a:r>
              <a:rPr lang="en-US" altLang="zh-CN" sz="1600" b="1" dirty="0" err="1">
                <a:solidFill>
                  <a:schemeClr val="tx1"/>
                </a:solidFill>
              </a:rPr>
              <a:t>pack_gated_expert_weights</a:t>
            </a:r>
            <a:r>
              <a:rPr lang="en-US" altLang="zh-CN" sz="1600" b="1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开源权重：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experts.0.up_proj.weight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experts.1.up_proj.weight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/>
                </a:solidFill>
              </a:rPr>
              <a:t>experts.N.up_proj.weight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</a:rPr>
              <a:t>↓ </a:t>
            </a:r>
            <a:r>
              <a:rPr lang="en-US" altLang="zh-CN" sz="1600" b="1" dirty="0">
                <a:solidFill>
                  <a:srgbClr val="FF0000"/>
                </a:solidFill>
              </a:rPr>
              <a:t>pack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/>
                </a:solidFill>
              </a:rPr>
              <a:t>experts.up_proj.weight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i="1" dirty="0">
                <a:solidFill>
                  <a:schemeClr val="tx1"/>
                </a:solidFill>
              </a:rPr>
              <a:t>(</a:t>
            </a:r>
            <a:r>
              <a:rPr lang="zh-CN" altLang="en-US" sz="1600" i="1" dirty="0">
                <a:solidFill>
                  <a:schemeClr val="tx1"/>
                </a:solidFill>
              </a:rPr>
              <a:t>新版</a:t>
            </a:r>
            <a:r>
              <a:rPr lang="en-US" altLang="zh-CN" sz="1600" i="1" dirty="0">
                <a:solidFill>
                  <a:schemeClr val="tx1"/>
                </a:solidFill>
              </a:rPr>
              <a:t>transformers+</a:t>
            </a:r>
            <a:r>
              <a:rPr lang="zh-CN" altLang="en-US" sz="1600" i="1" dirty="0">
                <a:solidFill>
                  <a:schemeClr val="tx1"/>
                </a:solidFill>
              </a:rPr>
              <a:t>逐</a:t>
            </a:r>
            <a:r>
              <a:rPr lang="en-US" altLang="zh-CN" sz="1600" i="1" dirty="0">
                <a:solidFill>
                  <a:schemeClr val="tx1"/>
                </a:solidFill>
              </a:rPr>
              <a:t>block</a:t>
            </a:r>
            <a:r>
              <a:rPr lang="zh-CN" altLang="en-US" sz="1600" i="1" dirty="0">
                <a:solidFill>
                  <a:schemeClr val="tx1"/>
                </a:solidFill>
              </a:rPr>
              <a:t>推理模式需要重新实现</a:t>
            </a:r>
            <a:r>
              <a:rPr lang="en-US" altLang="zh-CN" sz="1600" i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7E5415A-E948-48DB-A7E3-5CC4F2D97D76}"/>
              </a:ext>
            </a:extLst>
          </p:cNvPr>
          <p:cNvSpPr/>
          <p:nvPr/>
        </p:nvSpPr>
        <p:spPr>
          <a:xfrm>
            <a:off x="11649075" y="5792254"/>
            <a:ext cx="4237577" cy="8641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i="1" dirty="0">
                <a:solidFill>
                  <a:schemeClr val="tx1"/>
                </a:solidFill>
              </a:rPr>
              <a:t># </a:t>
            </a:r>
            <a:r>
              <a:rPr lang="zh-CN" altLang="en-US" sz="1600" i="1" dirty="0">
                <a:solidFill>
                  <a:schemeClr val="tx1"/>
                </a:solidFill>
              </a:rPr>
              <a:t>将</a:t>
            </a:r>
            <a:r>
              <a:rPr lang="en-US" altLang="zh-CN" sz="1600" i="1" dirty="0">
                <a:solidFill>
                  <a:schemeClr val="tx1"/>
                </a:solidFill>
              </a:rPr>
              <a:t>3D tensor</a:t>
            </a:r>
            <a:r>
              <a:rPr lang="zh-CN" altLang="en-US" sz="1600" i="1" dirty="0">
                <a:solidFill>
                  <a:schemeClr val="tx1"/>
                </a:solidFill>
              </a:rPr>
              <a:t>拆解成单个</a:t>
            </a:r>
            <a:r>
              <a:rPr lang="en-US" altLang="zh-CN" sz="1600" i="1" dirty="0">
                <a:solidFill>
                  <a:schemeClr val="tx1"/>
                </a:solidFill>
              </a:rPr>
              <a:t>expert</a:t>
            </a:r>
            <a:r>
              <a:rPr lang="zh-CN" altLang="en-US" sz="1600" i="1" dirty="0">
                <a:solidFill>
                  <a:schemeClr val="tx1"/>
                </a:solidFill>
              </a:rPr>
              <a:t>的单个</a:t>
            </a:r>
            <a:r>
              <a:rPr lang="en-US" altLang="zh-CN" sz="1600" i="1" dirty="0">
                <a:solidFill>
                  <a:schemeClr val="tx1"/>
                </a:solidFill>
              </a:rPr>
              <a:t>linear</a:t>
            </a:r>
            <a:r>
              <a:rPr lang="zh-CN" altLang="en-US" sz="1600" i="1" dirty="0">
                <a:solidFill>
                  <a:schemeClr val="tx1"/>
                </a:solidFill>
              </a:rPr>
              <a:t>，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class </a:t>
            </a:r>
            <a:r>
              <a:rPr lang="en-US" altLang="zh-CN" sz="1600" b="1" dirty="0" err="1">
                <a:solidFill>
                  <a:schemeClr val="tx1"/>
                </a:solidFill>
              </a:rPr>
              <a:t>ExpertLinearView</a:t>
            </a:r>
            <a:r>
              <a:rPr lang="en-US" altLang="zh-CN" sz="1600" b="1" dirty="0">
                <a:solidFill>
                  <a:schemeClr val="tx1"/>
                </a:solidFill>
              </a:rPr>
              <a:t>()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D3E936B-2EB0-4866-AC06-D8954B590D5C}"/>
              </a:ext>
            </a:extLst>
          </p:cNvPr>
          <p:cNvSpPr/>
          <p:nvPr/>
        </p:nvSpPr>
        <p:spPr>
          <a:xfrm>
            <a:off x="11649075" y="6778624"/>
            <a:ext cx="4237577" cy="8641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i="1" dirty="0">
                <a:solidFill>
                  <a:schemeClr val="tx1"/>
                </a:solidFill>
              </a:rPr>
              <a:t># </a:t>
            </a:r>
            <a:r>
              <a:rPr lang="zh-CN" altLang="en-US" sz="1600" i="1" dirty="0">
                <a:solidFill>
                  <a:schemeClr val="tx1"/>
                </a:solidFill>
              </a:rPr>
              <a:t>封装通用</a:t>
            </a:r>
            <a:r>
              <a:rPr lang="en-US" altLang="zh-CN" sz="1600" i="1" dirty="0">
                <a:solidFill>
                  <a:schemeClr val="tx1"/>
                </a:solidFill>
              </a:rPr>
              <a:t>MLP</a:t>
            </a:r>
            <a:r>
              <a:rPr lang="zh-CN" altLang="en-US" sz="1600" i="1" dirty="0">
                <a:solidFill>
                  <a:schemeClr val="tx1"/>
                </a:solidFill>
              </a:rPr>
              <a:t>，最大化复用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class QuantV4Expert(</a:t>
            </a:r>
            <a:r>
              <a:rPr lang="en-US" altLang="zh-CN" sz="1600" b="1" dirty="0" err="1">
                <a:solidFill>
                  <a:schemeClr val="tx1"/>
                </a:solidFill>
              </a:rPr>
              <a:t>QuantGatedMLP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4259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</a:t>
            </a:r>
            <a:r>
              <a:rPr lang="en-US" sz="1600" b="1" dirty="0" err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2260B9-A338-4068-AA6E-069C5357A175}"/>
              </a:ext>
            </a:extLst>
          </p:cNvPr>
          <p:cNvSpPr/>
          <p:nvPr/>
        </p:nvSpPr>
        <p:spPr>
          <a:xfrm>
            <a:off x="577849" y="984765"/>
            <a:ext cx="9109075" cy="1336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WikiText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一个标准语言建模数据集，来源于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Wikipedia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中高质量文章，常用于用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衡量语言模型建模能力。通过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可以快速衡量模型量化前后语言建模能力有没有明显退化，其轻量、稳定的特点，适合在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调参过程中快速评估算法效果。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B0B8FA-158B-430B-B477-B2EA79F5A76A}"/>
              </a:ext>
            </a:extLst>
          </p:cNvPr>
          <p:cNvSpPr/>
          <p:nvPr/>
        </p:nvSpPr>
        <p:spPr>
          <a:xfrm>
            <a:off x="577849" y="2405649"/>
            <a:ext cx="5032147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三通路并行执行，验证正确性后再执行量化评估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91027EE-F542-415F-B538-6F616F2F2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17" y="3349933"/>
            <a:ext cx="9492718" cy="3453978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84AECBA-68EA-40D8-AB1C-2F72FFD923E5}"/>
              </a:ext>
            </a:extLst>
          </p:cNvPr>
          <p:cNvSpPr/>
          <p:nvPr/>
        </p:nvSpPr>
        <p:spPr>
          <a:xfrm>
            <a:off x="10646006" y="1171388"/>
            <a:ext cx="5136919" cy="66975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D8E318-CEC9-421F-B453-06785A652A6A}"/>
              </a:ext>
            </a:extLst>
          </p:cNvPr>
          <p:cNvSpPr txBox="1"/>
          <p:nvPr/>
        </p:nvSpPr>
        <p:spPr>
          <a:xfrm>
            <a:off x="12080251" y="1124813"/>
            <a:ext cx="2386769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基础用法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382E172-0DBA-4AC6-A966-8F3567AEDC13}"/>
              </a:ext>
            </a:extLst>
          </p:cNvPr>
          <p:cNvSpPr/>
          <p:nvPr/>
        </p:nvSpPr>
        <p:spPr>
          <a:xfrm>
            <a:off x="10885626" y="1623223"/>
            <a:ext cx="4650338" cy="1401642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bf16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评测：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</a:rPr>
              <a:t>python -m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amct_pytorch.eval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--model ./Qwen3-235B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model_name</a:t>
            </a:r>
            <a:r>
              <a:rPr lang="en-US" altLang="zh-CN" sz="1200" dirty="0">
                <a:solidFill>
                  <a:schemeClr val="tx1"/>
                </a:solidFill>
              </a:rPr>
              <a:t> qwen3_moe --</a:t>
            </a:r>
            <a:r>
              <a:rPr lang="en-US" altLang="zh-CN" sz="1200" dirty="0" err="1">
                <a:solidFill>
                  <a:schemeClr val="tx1"/>
                </a:solidFill>
              </a:rPr>
              <a:t>seq_len</a:t>
            </a:r>
            <a:r>
              <a:rPr lang="en-US" altLang="zh-CN" sz="1200" dirty="0">
                <a:solidFill>
                  <a:schemeClr val="tx1"/>
                </a:solidFill>
              </a:rPr>
              <a:t> 4096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--granularity block --device npu:0 --</a:t>
            </a:r>
            <a:r>
              <a:rPr lang="en-US" altLang="zh-CN" sz="1200" dirty="0" err="1">
                <a:solidFill>
                  <a:schemeClr val="tx1"/>
                </a:solidFill>
              </a:rPr>
              <a:t>eval_mode</a:t>
            </a:r>
            <a:r>
              <a:rPr lang="en-US" altLang="zh-CN" sz="1200" dirty="0">
                <a:solidFill>
                  <a:schemeClr val="tx1"/>
                </a:solidFill>
              </a:rPr>
              <a:t> bf16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CDAA698-4FA7-434F-9BB6-4E3794BC0FDE}"/>
              </a:ext>
            </a:extLst>
          </p:cNvPr>
          <p:cNvSpPr/>
          <p:nvPr/>
        </p:nvSpPr>
        <p:spPr>
          <a:xfrm>
            <a:off x="10885626" y="3195101"/>
            <a:ext cx="4687388" cy="19494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通路验证：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替换需要量化的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module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，关闭量化开关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>
                <a:solidFill>
                  <a:schemeClr val="tx1"/>
                </a:solidFill>
              </a:rPr>
              <a:t>python -m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amct_pytorch.eval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--model ./Qwen3-235B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model_name</a:t>
            </a:r>
            <a:r>
              <a:rPr lang="en-US" altLang="zh-CN" sz="1200" dirty="0">
                <a:solidFill>
                  <a:schemeClr val="tx1"/>
                </a:solidFill>
              </a:rPr>
              <a:t> qwen3_moe --</a:t>
            </a:r>
            <a:r>
              <a:rPr lang="en-US" altLang="zh-CN" sz="1200" dirty="0" err="1">
                <a:solidFill>
                  <a:schemeClr val="tx1"/>
                </a:solidFill>
              </a:rPr>
              <a:t>seq_len</a:t>
            </a:r>
            <a:r>
              <a:rPr lang="en-US" altLang="zh-CN" sz="1200" dirty="0">
                <a:solidFill>
                  <a:schemeClr val="tx1"/>
                </a:solidFill>
              </a:rPr>
              <a:t> 4096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--granularity block --device npu:0 --</a:t>
            </a:r>
            <a:r>
              <a:rPr lang="en-US" altLang="zh-CN" sz="1200" dirty="0" err="1">
                <a:solidFill>
                  <a:schemeClr val="tx1"/>
                </a:solidFill>
              </a:rPr>
              <a:t>eval_mode</a:t>
            </a:r>
            <a:r>
              <a:rPr lang="en-US" altLang="zh-CN" sz="1200" dirty="0">
                <a:solidFill>
                  <a:schemeClr val="tx1"/>
                </a:solidFill>
              </a:rPr>
              <a:t> quant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quant_target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moe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quant_dtype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mxfp</a:t>
            </a:r>
            <a:r>
              <a:rPr lang="en-US" altLang="zh-CN" sz="1200" dirty="0">
                <a:solidFill>
                  <a:schemeClr val="tx1"/>
                </a:solidFill>
              </a:rPr>
              <a:t> 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bit_config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</a:t>
            </a:r>
            <a:r>
              <a:rPr lang="en-US" altLang="zh-CN" sz="1200" dirty="0">
                <a:solidFill>
                  <a:schemeClr val="tx1"/>
                </a:solidFill>
              </a:rPr>
              <a:t>/configs/</a:t>
            </a:r>
            <a:r>
              <a:rPr lang="en-US" altLang="zh-CN" sz="1200" b="1" dirty="0">
                <a:solidFill>
                  <a:schemeClr val="tx1"/>
                </a:solidFill>
              </a:rPr>
              <a:t>bf16.yaml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F6892AE-22C6-478D-89E8-23E453EA9999}"/>
              </a:ext>
            </a:extLst>
          </p:cNvPr>
          <p:cNvSpPr/>
          <p:nvPr/>
        </p:nvSpPr>
        <p:spPr>
          <a:xfrm>
            <a:off x="10854246" y="5325441"/>
            <a:ext cx="4724438" cy="21849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量化评估：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打开量化开关，对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模块做量化直转评估精度损失，评估是否需要进行下一步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优化：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</a:rPr>
              <a:t>python -m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amct_pytorch.eval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--model ./Qwen3-235B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model_name</a:t>
            </a:r>
            <a:r>
              <a:rPr lang="en-US" altLang="zh-CN" sz="1200" dirty="0">
                <a:solidFill>
                  <a:schemeClr val="tx1"/>
                </a:solidFill>
              </a:rPr>
              <a:t> qwen3_moe --</a:t>
            </a:r>
            <a:r>
              <a:rPr lang="en-US" altLang="zh-CN" sz="1200" dirty="0" err="1">
                <a:solidFill>
                  <a:schemeClr val="tx1"/>
                </a:solidFill>
              </a:rPr>
              <a:t>seq_len</a:t>
            </a:r>
            <a:r>
              <a:rPr lang="en-US" altLang="zh-CN" sz="1200" dirty="0">
                <a:solidFill>
                  <a:schemeClr val="tx1"/>
                </a:solidFill>
              </a:rPr>
              <a:t> 4096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--granularity block --device npu:0 --</a:t>
            </a:r>
            <a:r>
              <a:rPr lang="en-US" altLang="zh-CN" sz="1200" dirty="0" err="1">
                <a:solidFill>
                  <a:schemeClr val="tx1"/>
                </a:solidFill>
              </a:rPr>
              <a:t>eval_mode</a:t>
            </a:r>
            <a:r>
              <a:rPr lang="en-US" altLang="zh-CN" sz="1200" dirty="0">
                <a:solidFill>
                  <a:schemeClr val="tx1"/>
                </a:solidFill>
              </a:rPr>
              <a:t> quant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quant_target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moe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quant_dtype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mxfp</a:t>
            </a:r>
            <a:r>
              <a:rPr lang="en-US" altLang="zh-CN" sz="1200" dirty="0">
                <a:solidFill>
                  <a:schemeClr val="tx1"/>
                </a:solidFill>
              </a:rPr>
              <a:t> 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bit_config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</a:t>
            </a:r>
            <a:r>
              <a:rPr lang="en-US" altLang="zh-CN" sz="1200" dirty="0">
                <a:solidFill>
                  <a:schemeClr val="tx1"/>
                </a:solidFill>
              </a:rPr>
              <a:t>/configs/</a:t>
            </a:r>
            <a:r>
              <a:rPr lang="en-US" altLang="zh-CN" sz="1200" b="1" dirty="0">
                <a:solidFill>
                  <a:schemeClr val="tx1"/>
                </a:solidFill>
              </a:rPr>
              <a:t>w4a4.yaml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99803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6D4B73D-D162-4ED9-9C53-D4D097A7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644" y="1419702"/>
            <a:ext cx="12554712" cy="47464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523E753-0011-4B42-8629-E54376A27CB9}"/>
              </a:ext>
            </a:extLst>
          </p:cNvPr>
          <p:cNvSpPr/>
          <p:nvPr/>
        </p:nvSpPr>
        <p:spPr>
          <a:xfrm>
            <a:off x="1142395" y="1245050"/>
            <a:ext cx="1569660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数据格式现状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37FE90-13FE-4B5E-A217-602134CB9794}"/>
              </a:ext>
            </a:extLst>
          </p:cNvPr>
          <p:cNvSpPr/>
          <p:nvPr/>
        </p:nvSpPr>
        <p:spPr>
          <a:xfrm>
            <a:off x="1035050" y="6159153"/>
            <a:ext cx="1522095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通过传参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quant_dtype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指定数据类型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choices=['int', '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mxfp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 '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hifp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bit_config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指定量化的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yaml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文件路径，里面标明量化各层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CA494E9-EB72-4D2B-B864-9052FEA1D44E}"/>
              </a:ext>
            </a:extLst>
          </p:cNvPr>
          <p:cNvSpPr/>
          <p:nvPr/>
        </p:nvSpPr>
        <p:spPr>
          <a:xfrm>
            <a:off x="3021330" y="6752855"/>
            <a:ext cx="9503378" cy="14259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DFD9F45-E134-4002-9E04-0C73EAE0A95E}"/>
              </a:ext>
            </a:extLst>
          </p:cNvPr>
          <p:cNvSpPr/>
          <p:nvPr/>
        </p:nvSpPr>
        <p:spPr>
          <a:xfrm>
            <a:off x="3356609" y="6908181"/>
            <a:ext cx="1741855" cy="10044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</a:t>
            </a:r>
            <a:r>
              <a:rPr lang="zh-CN" altLang="en-US" sz="1400" i="1" dirty="0">
                <a:solidFill>
                  <a:schemeClr val="tx1"/>
                </a:solidFill>
              </a:rPr>
              <a:t>指定全模块</a:t>
            </a:r>
            <a:r>
              <a:rPr lang="en-US" altLang="zh-CN" sz="1400" i="1" dirty="0">
                <a:solidFill>
                  <a:schemeClr val="tx1"/>
                </a:solidFill>
              </a:rPr>
              <a:t>bit</a:t>
            </a:r>
            <a:r>
              <a:rPr lang="zh-CN" altLang="en-US" sz="1400" i="1" dirty="0">
                <a:solidFill>
                  <a:schemeClr val="tx1"/>
                </a:solidFill>
              </a:rPr>
              <a:t>位</a:t>
            </a:r>
            <a:endParaRPr lang="en-US" altLang="zh-CN" sz="1400" i="1" dirty="0">
              <a:solidFill>
                <a:schemeClr val="tx1"/>
              </a:solidFill>
            </a:endParaRPr>
          </a:p>
          <a:p>
            <a:r>
              <a:rPr lang="pl-PL" altLang="zh-CN" sz="1400" dirty="0">
                <a:solidFill>
                  <a:schemeClr val="tx1"/>
                </a:solidFill>
              </a:rPr>
              <a:t>w_bits: 8</a:t>
            </a:r>
          </a:p>
          <a:p>
            <a:r>
              <a:rPr lang="pl-PL" altLang="zh-CN" sz="1400" dirty="0">
                <a:solidFill>
                  <a:schemeClr val="tx1"/>
                </a:solidFill>
              </a:rPr>
              <a:t>a_bits: 8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16DCDAE-AFF2-42F3-B6E7-0F7F37E9A6FB}"/>
              </a:ext>
            </a:extLst>
          </p:cNvPr>
          <p:cNvSpPr/>
          <p:nvPr/>
        </p:nvSpPr>
        <p:spPr>
          <a:xfrm>
            <a:off x="5259704" y="6908181"/>
            <a:ext cx="2008097" cy="10044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</a:t>
            </a:r>
            <a:r>
              <a:rPr lang="en-US" altLang="zh-CN" sz="1400" b="1" i="1" dirty="0" err="1">
                <a:solidFill>
                  <a:schemeClr val="tx1"/>
                </a:solidFill>
              </a:rPr>
              <a:t>moe</a:t>
            </a:r>
            <a:r>
              <a:rPr lang="zh-CN" altLang="en-US" sz="1400" i="1" dirty="0">
                <a:solidFill>
                  <a:schemeClr val="tx1"/>
                </a:solidFill>
              </a:rPr>
              <a:t>某一层做</a:t>
            </a:r>
            <a:r>
              <a:rPr lang="en-US" altLang="zh-CN" sz="1400" i="1" dirty="0">
                <a:solidFill>
                  <a:schemeClr val="tx1"/>
                </a:solidFill>
              </a:rPr>
              <a:t>4bit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routed</a:t>
            </a:r>
            <a:r>
              <a:rPr lang="pl-PL" altLang="zh-CN" sz="1400" dirty="0">
                <a:solidFill>
                  <a:schemeClr val="tx1"/>
                </a:solidFill>
              </a:rPr>
              <a:t>: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</a:rPr>
              <a:t>down_proj</a:t>
            </a:r>
            <a:r>
              <a:rPr lang="en-US" altLang="zh-CN" sz="1400" dirty="0">
                <a:solidFill>
                  <a:schemeClr val="tx1"/>
                </a:solidFill>
              </a:rPr>
              <a:t>: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    </a:t>
            </a:r>
            <a:r>
              <a:rPr lang="pl-PL" altLang="zh-CN" sz="1400" dirty="0">
                <a:solidFill>
                  <a:schemeClr val="tx1"/>
                </a:solidFill>
              </a:rPr>
              <a:t> { w_bits: 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pl-PL" altLang="zh-CN" sz="1400" dirty="0">
                <a:solidFill>
                  <a:schemeClr val="tx1"/>
                </a:solidFill>
              </a:rPr>
              <a:t>, a_bits: 4 }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13414DD-1C07-493A-B446-ED16E8656EF3}"/>
              </a:ext>
            </a:extLst>
          </p:cNvPr>
          <p:cNvSpPr/>
          <p:nvPr/>
        </p:nvSpPr>
        <p:spPr>
          <a:xfrm>
            <a:off x="7416165" y="6908181"/>
            <a:ext cx="2202138" cy="10044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</a:t>
            </a:r>
            <a:r>
              <a:rPr lang="en-US" altLang="zh-CN" sz="1400" b="1" i="1" dirty="0">
                <a:solidFill>
                  <a:schemeClr val="tx1"/>
                </a:solidFill>
              </a:rPr>
              <a:t>attn-linear</a:t>
            </a:r>
            <a:r>
              <a:rPr lang="zh-CN" altLang="en-US" sz="1400" i="1" dirty="0">
                <a:solidFill>
                  <a:schemeClr val="tx1"/>
                </a:solidFill>
              </a:rPr>
              <a:t>某一层做</a:t>
            </a:r>
            <a:r>
              <a:rPr lang="en-US" altLang="zh-CN" sz="1400" i="1" dirty="0">
                <a:solidFill>
                  <a:schemeClr val="tx1"/>
                </a:solidFill>
              </a:rPr>
              <a:t>4bit</a:t>
            </a:r>
          </a:p>
          <a:p>
            <a:r>
              <a:rPr lang="pl-PL" altLang="zh-CN" sz="1400" dirty="0">
                <a:solidFill>
                  <a:schemeClr val="tx1"/>
                </a:solidFill>
              </a:rPr>
              <a:t>o_proj: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pl-PL" altLang="zh-CN" sz="1400" dirty="0">
                <a:solidFill>
                  <a:schemeClr val="tx1"/>
                </a:solidFill>
              </a:rPr>
              <a:t> { w_bits: 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pl-PL" altLang="zh-CN" sz="1400" dirty="0">
                <a:solidFill>
                  <a:schemeClr val="tx1"/>
                </a:solidFill>
              </a:rPr>
              <a:t>, a_bits: 4 }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72A490A-FD73-449B-B8FD-29A1C26269E1}"/>
              </a:ext>
            </a:extLst>
          </p:cNvPr>
          <p:cNvSpPr/>
          <p:nvPr/>
        </p:nvSpPr>
        <p:spPr>
          <a:xfrm>
            <a:off x="9917430" y="6908181"/>
            <a:ext cx="2202138" cy="10044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1" dirty="0">
                <a:solidFill>
                  <a:schemeClr val="tx1"/>
                </a:solidFill>
              </a:rPr>
              <a:t># </a:t>
            </a:r>
            <a:r>
              <a:rPr lang="en-US" altLang="zh-CN" sz="1400" b="1" i="1" dirty="0">
                <a:solidFill>
                  <a:schemeClr val="tx1"/>
                </a:solidFill>
              </a:rPr>
              <a:t>attn-cache</a:t>
            </a:r>
            <a:r>
              <a:rPr lang="zh-CN" altLang="en-US" sz="1400" i="1" dirty="0">
                <a:solidFill>
                  <a:schemeClr val="tx1"/>
                </a:solidFill>
              </a:rPr>
              <a:t>某一层做</a:t>
            </a:r>
            <a:r>
              <a:rPr lang="en-US" altLang="zh-CN" sz="1400" i="1" dirty="0">
                <a:solidFill>
                  <a:schemeClr val="tx1"/>
                </a:solidFill>
              </a:rPr>
              <a:t>4bit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k</a:t>
            </a:r>
            <a:r>
              <a:rPr lang="pl-PL" altLang="zh-CN" sz="1400" dirty="0">
                <a:solidFill>
                  <a:schemeClr val="tx1"/>
                </a:solidFill>
              </a:rPr>
              <a:t>: 4 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94663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DC36C2-1F69-482E-A1A2-F68DD8515AD3}"/>
              </a:ext>
            </a:extLst>
          </p:cNvPr>
          <p:cNvSpPr/>
          <p:nvPr/>
        </p:nvSpPr>
        <p:spPr>
          <a:xfrm>
            <a:off x="825500" y="1260380"/>
            <a:ext cx="1287145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新数据格式开发适配：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当前数据格式已适配主流数据格式，开发者如何适配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探索新的数据格式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E768607-3783-46C9-97B8-6BD7FC7A6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50" y="2052568"/>
            <a:ext cx="13038582" cy="4603365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6595992-481C-45A5-827E-0B2424DD0C93}"/>
              </a:ext>
            </a:extLst>
          </p:cNvPr>
          <p:cNvSpPr/>
          <p:nvPr/>
        </p:nvSpPr>
        <p:spPr>
          <a:xfrm>
            <a:off x="8267699" y="6787851"/>
            <a:ext cx="7637619" cy="7765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新增数据格式可以先不考虑</a:t>
            </a:r>
            <a:r>
              <a:rPr lang="en-US" altLang="zh-CN" sz="1600" dirty="0">
                <a:solidFill>
                  <a:schemeClr val="tx1"/>
                </a:solidFill>
              </a:rPr>
              <a:t>deploy</a:t>
            </a:r>
            <a:r>
              <a:rPr lang="zh-CN" altLang="en-US" sz="1600" dirty="0">
                <a:solidFill>
                  <a:schemeClr val="tx1"/>
                </a:solidFill>
              </a:rPr>
              <a:t>模式，只需要在</a:t>
            </a:r>
            <a:r>
              <a:rPr lang="en-US" altLang="zh-CN" sz="1600" dirty="0">
                <a:solidFill>
                  <a:schemeClr val="tx1"/>
                </a:solidFill>
              </a:rPr>
              <a:t>forward</a:t>
            </a:r>
            <a:r>
              <a:rPr lang="zh-CN" altLang="en-US" sz="1600" dirty="0">
                <a:solidFill>
                  <a:schemeClr val="tx1"/>
                </a:solidFill>
              </a:rPr>
              <a:t>里面增加量化反量化，引入相应量化误差即可</a:t>
            </a:r>
          </a:p>
        </p:txBody>
      </p:sp>
    </p:spTree>
    <p:extLst>
      <p:ext uri="{BB962C8B-B14F-4D97-AF65-F5344CB8AC3E}">
        <p14:creationId xmlns:p14="http://schemas.microsoft.com/office/powerpoint/2010/main" val="216417347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6CA80B-E0E3-41D1-840F-5CD8D809F5E2}"/>
              </a:ext>
            </a:extLst>
          </p:cNvPr>
          <p:cNvSpPr/>
          <p:nvPr/>
        </p:nvSpPr>
        <p:spPr>
          <a:xfrm>
            <a:off x="825500" y="1007942"/>
            <a:ext cx="390363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量化算法：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抑制优化量化误差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B0A54-F364-417C-AB74-F4F6CE97B7AF}"/>
              </a:ext>
            </a:extLst>
          </p:cNvPr>
          <p:cNvSpPr/>
          <p:nvPr/>
        </p:nvSpPr>
        <p:spPr>
          <a:xfrm>
            <a:off x="1502258" y="1527543"/>
            <a:ext cx="5612434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从基于统计的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smoothquant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可以学的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omniquant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73E804-761C-4814-A659-E4441A21903E}"/>
              </a:ext>
            </a:extLst>
          </p:cNvPr>
          <p:cNvSpPr/>
          <p:nvPr/>
        </p:nvSpPr>
        <p:spPr>
          <a:xfrm>
            <a:off x="8823204" y="1527543"/>
            <a:ext cx="5973495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从通用的正交变换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仿射变换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per-block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的仿射变换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19B940B-89A8-4C10-A101-C97539308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18" y="2143492"/>
            <a:ext cx="4980085" cy="162508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36A0F7A-8E46-4360-A6D6-42F34B5E3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090" y="4117706"/>
            <a:ext cx="4980085" cy="1734517"/>
          </a:xfrm>
          <a:prstGeom prst="rect">
            <a:avLst/>
          </a:prstGeom>
        </p:spPr>
      </p:pic>
      <p:sp>
        <p:nvSpPr>
          <p:cNvPr id="21" name="箭头: 下 20">
            <a:extLst>
              <a:ext uri="{FF2B5EF4-FFF2-40B4-BE49-F238E27FC236}">
                <a16:creationId xmlns:a16="http://schemas.microsoft.com/office/drawing/2014/main" id="{F3062852-D06E-4B66-BD06-8700F3B30C0F}"/>
              </a:ext>
            </a:extLst>
          </p:cNvPr>
          <p:cNvSpPr/>
          <p:nvPr/>
        </p:nvSpPr>
        <p:spPr>
          <a:xfrm>
            <a:off x="4821174" y="3768573"/>
            <a:ext cx="208927" cy="26976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BC5B4E7-78D0-4CBB-82E0-0D172CEE28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57" y="2097896"/>
            <a:ext cx="5973494" cy="183080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EE22C52-7EDE-4142-BBD2-B7071260F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446" y="4252588"/>
            <a:ext cx="5973494" cy="1795385"/>
          </a:xfrm>
          <a:prstGeom prst="rect">
            <a:avLst/>
          </a:prstGeom>
        </p:spPr>
      </p:pic>
      <p:sp>
        <p:nvSpPr>
          <p:cNvPr id="26" name="箭头: 下 25">
            <a:extLst>
              <a:ext uri="{FF2B5EF4-FFF2-40B4-BE49-F238E27FC236}">
                <a16:creationId xmlns:a16="http://schemas.microsoft.com/office/drawing/2014/main" id="{53DFBA5E-0965-4441-A0E9-E51052BBCAA2}"/>
              </a:ext>
            </a:extLst>
          </p:cNvPr>
          <p:cNvSpPr/>
          <p:nvPr/>
        </p:nvSpPr>
        <p:spPr>
          <a:xfrm>
            <a:off x="11960266" y="3954248"/>
            <a:ext cx="208927" cy="26976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6F61CF-D064-45A3-8533-2C05A3095E18}"/>
              </a:ext>
            </a:extLst>
          </p:cNvPr>
          <p:cNvSpPr/>
          <p:nvPr/>
        </p:nvSpPr>
        <p:spPr>
          <a:xfrm>
            <a:off x="1281652" y="5982354"/>
            <a:ext cx="8128000" cy="20394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整体趋势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74299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A4W4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的精度损失，主要针对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的抑制为主要研究方向，旋转变换逐渐成为标配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(global/block + Hadamard/affine transform)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9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A8W4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的精度损失，一般是权重引入的量化误差，可通过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的截断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(autoclip)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，舍入误差来优化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autoround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9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组合算法：整网的量化方案，一般会叠加多种量化算法来优化精度损失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227242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23E57B-99F4-4831-AFD5-7DA80F94313A}"/>
              </a:ext>
            </a:extLst>
          </p:cNvPr>
          <p:cNvSpPr/>
          <p:nvPr/>
        </p:nvSpPr>
        <p:spPr>
          <a:xfrm>
            <a:off x="1030922" y="1113571"/>
            <a:ext cx="2954655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工具内量化算法选型与分类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6CEAC7-C074-4B0B-85F0-1F374BC31EE7}"/>
              </a:ext>
            </a:extLst>
          </p:cNvPr>
          <p:cNvSpPr/>
          <p:nvPr/>
        </p:nvSpPr>
        <p:spPr>
          <a:xfrm>
            <a:off x="2424735" y="1845399"/>
            <a:ext cx="11430000" cy="347747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229F994-6DEF-46EC-A274-F13DFB7CDF8C}"/>
              </a:ext>
            </a:extLst>
          </p:cNvPr>
          <p:cNvSpPr/>
          <p:nvPr/>
        </p:nvSpPr>
        <p:spPr>
          <a:xfrm>
            <a:off x="2787176" y="2138619"/>
            <a:ext cx="3505801" cy="27818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面向激活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仅作用于激活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LAC (Learnable activation clipping)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仅作用激活的量化算法较少，一般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A8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精度有损下用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基本够用，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下会面向结构变换做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的转移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1775481-6DCB-4802-B456-9F88D98D16BB}"/>
              </a:ext>
            </a:extLst>
          </p:cNvPr>
          <p:cNvSpPr/>
          <p:nvPr/>
        </p:nvSpPr>
        <p:spPr>
          <a:xfrm>
            <a:off x="6492320" y="2138619"/>
            <a:ext cx="3487212" cy="27818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面向权重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仅作用于权重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LWC (Learnable activation clipping)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Autoround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(Learnable rounding offsets)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SVDQuant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仅作用权重的量化算法，一般面向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的精度损失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5E3EF39-D57B-4FD0-B09E-6C3126954D8A}"/>
              </a:ext>
            </a:extLst>
          </p:cNvPr>
          <p:cNvSpPr/>
          <p:nvPr/>
        </p:nvSpPr>
        <p:spPr>
          <a:xfrm>
            <a:off x="10197465" y="2138619"/>
            <a:ext cx="3356610" cy="27818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结构变换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同时作用于权重和激活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Omniquant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Hadamard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FlatQuant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同时作用于权重和激活，一般面向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A4W4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的精度损失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8F0E24-E684-4DED-8ABD-0864F4F1339B}"/>
              </a:ext>
            </a:extLst>
          </p:cNvPr>
          <p:cNvSpPr txBox="1"/>
          <p:nvPr/>
        </p:nvSpPr>
        <p:spPr>
          <a:xfrm>
            <a:off x="1030922" y="5665770"/>
            <a:ext cx="7955610" cy="74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选型标准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代码仓中的量化算法不以数量为目标，只以质量为目标，在各旗舰模型与下游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benchmark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上经过实际验证，后续新算法的合入也会以此严格标准进行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46E643D-D4FD-4977-91B4-0D5957F74E99}"/>
              </a:ext>
            </a:extLst>
          </p:cNvPr>
          <p:cNvSpPr txBox="1"/>
          <p:nvPr/>
        </p:nvSpPr>
        <p:spPr>
          <a:xfrm>
            <a:off x="1030923" y="6720363"/>
            <a:ext cx="7232632" cy="74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使用方式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通过传参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–-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algos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指定算法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lac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lwc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flatquant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;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形式的传参，会根据算法注册中的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进行自动将算法作用于目标对象，支持多算法叠加来穿刺量化精度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F4355B3-2B61-4952-88EA-1B0EE2C1E0CD}"/>
              </a:ext>
            </a:extLst>
          </p:cNvPr>
          <p:cNvSpPr/>
          <p:nvPr/>
        </p:nvSpPr>
        <p:spPr>
          <a:xfrm>
            <a:off x="9842580" y="5474157"/>
            <a:ext cx="5035470" cy="24924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算法调用示例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r>
              <a:rPr lang="zh-CN" altLang="en-US" sz="1200" dirty="0">
                <a:solidFill>
                  <a:schemeClr val="tx1"/>
                </a:solidFill>
              </a:rPr>
              <a:t>替换需要量化的</a:t>
            </a:r>
            <a:r>
              <a:rPr lang="en-US" altLang="zh-CN" sz="1200" dirty="0">
                <a:solidFill>
                  <a:schemeClr val="tx1"/>
                </a:solidFill>
              </a:rPr>
              <a:t>module</a:t>
            </a:r>
            <a:r>
              <a:rPr lang="zh-CN" altLang="en-US" sz="1200" dirty="0">
                <a:solidFill>
                  <a:schemeClr val="tx1"/>
                </a:solidFill>
              </a:rPr>
              <a:t>，关闭量化开关：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>
                <a:solidFill>
                  <a:schemeClr val="tx1"/>
                </a:solidFill>
              </a:rPr>
              <a:t>python -m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amct_pytorch.ptq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--model ./Qwen3-235B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model_name</a:t>
            </a:r>
            <a:r>
              <a:rPr lang="en-US" altLang="zh-CN" sz="1200" dirty="0">
                <a:solidFill>
                  <a:schemeClr val="tx1"/>
                </a:solidFill>
              </a:rPr>
              <a:t> qwen3_moe --</a:t>
            </a:r>
            <a:r>
              <a:rPr lang="en-US" altLang="zh-CN" sz="1200" dirty="0" err="1">
                <a:solidFill>
                  <a:schemeClr val="tx1"/>
                </a:solidFill>
              </a:rPr>
              <a:t>seq_len</a:t>
            </a:r>
            <a:r>
              <a:rPr lang="en-US" altLang="zh-CN" sz="1200" dirty="0">
                <a:solidFill>
                  <a:schemeClr val="tx1"/>
                </a:solidFill>
              </a:rPr>
              <a:t> 4096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--granularity block --device npu:0 --</a:t>
            </a:r>
            <a:r>
              <a:rPr lang="en-US" altLang="zh-CN" sz="1200" dirty="0" err="1">
                <a:solidFill>
                  <a:schemeClr val="tx1"/>
                </a:solidFill>
              </a:rPr>
              <a:t>eval_mode</a:t>
            </a:r>
            <a:r>
              <a:rPr lang="en-US" altLang="zh-CN" sz="1200" dirty="0">
                <a:solidFill>
                  <a:schemeClr val="tx1"/>
                </a:solidFill>
              </a:rPr>
              <a:t> quant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quant_target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moe</a:t>
            </a:r>
            <a:r>
              <a:rPr lang="en-US" altLang="zh-CN" sz="1200" dirty="0">
                <a:solidFill>
                  <a:schemeClr val="tx1"/>
                </a:solidFill>
              </a:rPr>
              <a:t>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quant_dtype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mxfp</a:t>
            </a:r>
            <a:r>
              <a:rPr lang="en-US" altLang="zh-CN" sz="1200" dirty="0">
                <a:solidFill>
                  <a:schemeClr val="tx1"/>
                </a:solidFill>
              </a:rPr>
              <a:t>  \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   --</a:t>
            </a:r>
            <a:r>
              <a:rPr lang="en-US" altLang="zh-CN" sz="1200" dirty="0" err="1">
                <a:solidFill>
                  <a:schemeClr val="tx1"/>
                </a:solidFill>
              </a:rPr>
              <a:t>bit_config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amct_pytorch</a:t>
            </a:r>
            <a:r>
              <a:rPr lang="en-US" altLang="zh-CN" sz="1200" dirty="0">
                <a:solidFill>
                  <a:schemeClr val="tx1"/>
                </a:solidFill>
              </a:rPr>
              <a:t>/configs/w4a4.yaml \</a:t>
            </a:r>
          </a:p>
          <a:p>
            <a:r>
              <a:rPr lang="en-US" altLang="zh-CN" sz="1200" b="1" dirty="0">
                <a:solidFill>
                  <a:schemeClr val="tx1"/>
                </a:solidFill>
              </a:rPr>
              <a:t>   -- </a:t>
            </a:r>
            <a:r>
              <a:rPr lang="en-US" altLang="zh-CN" sz="1200" b="1" dirty="0" err="1">
                <a:solidFill>
                  <a:schemeClr val="tx1"/>
                </a:solidFill>
              </a:rPr>
              <a:t>algos</a:t>
            </a:r>
            <a:r>
              <a:rPr lang="en-US" altLang="zh-CN" sz="1200" b="1" dirty="0">
                <a:solidFill>
                  <a:schemeClr val="tx1"/>
                </a:solidFill>
              </a:rPr>
              <a:t> lac </a:t>
            </a:r>
            <a:r>
              <a:rPr lang="en-US" altLang="zh-CN" sz="1200" b="1" dirty="0" err="1">
                <a:solidFill>
                  <a:schemeClr val="tx1"/>
                </a:solidFill>
              </a:rPr>
              <a:t>lwc</a:t>
            </a:r>
            <a:r>
              <a:rPr lang="en-US" altLang="zh-CN" sz="1200" b="1" dirty="0">
                <a:solidFill>
                  <a:schemeClr val="tx1"/>
                </a:solidFill>
              </a:rPr>
              <a:t> </a:t>
            </a:r>
            <a:r>
              <a:rPr lang="en-US" altLang="zh-CN" sz="1200" b="1" dirty="0" err="1">
                <a:solidFill>
                  <a:schemeClr val="tx1"/>
                </a:solidFill>
              </a:rPr>
              <a:t>flatquant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90359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8A2D52-51FE-442F-8416-7878978859FF}"/>
              </a:ext>
            </a:extLst>
          </p:cNvPr>
          <p:cNvSpPr/>
          <p:nvPr/>
        </p:nvSpPr>
        <p:spPr>
          <a:xfrm>
            <a:off x="762000" y="1052349"/>
            <a:ext cx="1158240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量化算法开发适配：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当前已适配常用并经过验证的算法，开发者如何适配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探索新的量化算法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A4A63A8-187D-4B70-8F4D-9C7B8C581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881" y="1554742"/>
            <a:ext cx="12934248" cy="427427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4BCF1C1-92B6-44CD-97DD-6AE343E49523}"/>
              </a:ext>
            </a:extLst>
          </p:cNvPr>
          <p:cNvSpPr/>
          <p:nvPr/>
        </p:nvSpPr>
        <p:spPr>
          <a:xfrm>
            <a:off x="5850664" y="5829013"/>
            <a:ext cx="3558988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算法集成模板，完善以下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个函数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84A4D79-89A2-4630-A2B0-CEF4CF7A6A51}"/>
              </a:ext>
            </a:extLst>
          </p:cNvPr>
          <p:cNvSpPr/>
          <p:nvPr/>
        </p:nvSpPr>
        <p:spPr>
          <a:xfrm>
            <a:off x="1346328" y="6393670"/>
            <a:ext cx="13417422" cy="147524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9A5B82B-30A1-474A-BB28-B1EE24C072CA}"/>
              </a:ext>
            </a:extLst>
          </p:cNvPr>
          <p:cNvSpPr/>
          <p:nvPr/>
        </p:nvSpPr>
        <p:spPr>
          <a:xfrm>
            <a:off x="1643348" y="6517610"/>
            <a:ext cx="2249988" cy="1172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算法参数初始化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__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__(self,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ctx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…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9F6B2F-7284-4985-B127-0BC58C14A492}"/>
              </a:ext>
            </a:extLst>
          </p:cNvPr>
          <p:cNvSpPr/>
          <p:nvPr/>
        </p:nvSpPr>
        <p:spPr>
          <a:xfrm>
            <a:off x="4259808" y="6517608"/>
            <a:ext cx="1670016" cy="1172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算法计算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forward(self):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….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E28F7D3-0220-488D-8C71-E701BBED3132}"/>
              </a:ext>
            </a:extLst>
          </p:cNvPr>
          <p:cNvSpPr/>
          <p:nvPr/>
        </p:nvSpPr>
        <p:spPr>
          <a:xfrm>
            <a:off x="9297780" y="6517609"/>
            <a:ext cx="2389035" cy="1172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保存学习参数的接口，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export_ptq_params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…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B8DB4CF-71B4-4D91-B0F7-98BA17A0FFDE}"/>
              </a:ext>
            </a:extLst>
          </p:cNvPr>
          <p:cNvSpPr/>
          <p:nvPr/>
        </p:nvSpPr>
        <p:spPr>
          <a:xfrm>
            <a:off x="6311114" y="6517610"/>
            <a:ext cx="2680056" cy="1172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收集可学习参数，赋予梯度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trainable_params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list(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self.parameters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D9E4180-24B8-4827-8708-B4FE9C4F8425}"/>
              </a:ext>
            </a:extLst>
          </p:cNvPr>
          <p:cNvSpPr/>
          <p:nvPr/>
        </p:nvSpPr>
        <p:spPr>
          <a:xfrm>
            <a:off x="12068105" y="6517610"/>
            <a:ext cx="2389035" cy="1172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加载学习参数的接口，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load_ptq_params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…</a:t>
            </a:r>
          </a:p>
        </p:txBody>
      </p:sp>
    </p:spTree>
    <p:extLst>
      <p:ext uri="{BB962C8B-B14F-4D97-AF65-F5344CB8AC3E}">
        <p14:creationId xmlns:p14="http://schemas.microsoft.com/office/powerpoint/2010/main" val="118765984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算法适配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29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Deploy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部署导出</a:t>
            </a:r>
            <a:endParaRPr 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DF4492-3D33-435D-AA48-8C11D5A250CF}"/>
              </a:ext>
            </a:extLst>
          </p:cNvPr>
          <p:cNvSpPr/>
          <p:nvPr/>
        </p:nvSpPr>
        <p:spPr>
          <a:xfrm>
            <a:off x="928045" y="969595"/>
            <a:ext cx="4341510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量化算法实践效果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DeepSeek-V4-Flash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CEB77A3-F281-41F5-B6CB-495BBCE5A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4494" y="1546146"/>
            <a:ext cx="5216611" cy="325750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7DD4406-2654-4C20-8D27-42B64E4FB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1" y="1546146"/>
            <a:ext cx="5208068" cy="3257505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E896C075-A0E5-4BCA-A21C-7AE66733E23E}"/>
              </a:ext>
            </a:extLst>
          </p:cNvPr>
          <p:cNvSpPr/>
          <p:nvPr/>
        </p:nvSpPr>
        <p:spPr>
          <a:xfrm>
            <a:off x="825500" y="4302249"/>
            <a:ext cx="496893" cy="179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50F7A4-F10B-433A-8ECA-A6AB67FBAFC6}"/>
              </a:ext>
            </a:extLst>
          </p:cNvPr>
          <p:cNvSpPr/>
          <p:nvPr/>
        </p:nvSpPr>
        <p:spPr>
          <a:xfrm>
            <a:off x="4226383" y="4351982"/>
            <a:ext cx="496893" cy="179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056860-AAC3-48BB-95C0-81563C8C6F59}"/>
              </a:ext>
            </a:extLst>
          </p:cNvPr>
          <p:cNvSpPr txBox="1"/>
          <p:nvPr/>
        </p:nvSpPr>
        <p:spPr>
          <a:xfrm>
            <a:off x="4498931" y="4169640"/>
            <a:ext cx="38109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7181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6421E70-04B0-4294-89B6-42F4C3E90077}"/>
              </a:ext>
            </a:extLst>
          </p:cNvPr>
          <p:cNvSpPr txBox="1"/>
          <p:nvPr/>
        </p:nvSpPr>
        <p:spPr>
          <a:xfrm>
            <a:off x="877726" y="4142296"/>
            <a:ext cx="39857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7091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6F61CD9-0161-43F9-83CA-C14B7C5DD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3778" y="3508901"/>
            <a:ext cx="563079" cy="405294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929075E-EB26-4F31-9483-EFE06F07EA5C}"/>
              </a:ext>
            </a:extLst>
          </p:cNvPr>
          <p:cNvCxnSpPr>
            <a:cxnSpLocks/>
          </p:cNvCxnSpPr>
          <p:nvPr/>
        </p:nvCxnSpPr>
        <p:spPr>
          <a:xfrm flipV="1">
            <a:off x="4226383" y="3905250"/>
            <a:ext cx="248446" cy="455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F2A2E634-D08C-41FF-A94E-384B15D7C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338" y="1546146"/>
            <a:ext cx="5186156" cy="3243800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E938E7A3-F5FB-4EC3-9C5A-DE227A4F87AA}"/>
              </a:ext>
            </a:extLst>
          </p:cNvPr>
          <p:cNvSpPr/>
          <p:nvPr/>
        </p:nvSpPr>
        <p:spPr>
          <a:xfrm>
            <a:off x="882392" y="4847494"/>
            <a:ext cx="3879147" cy="70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原始权重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bf16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的直方图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(</a:t>
            </a:r>
            <a:r>
              <a:rPr lang="en-US" altLang="zh-CN" sz="1400" b="1" i="1" dirty="0">
                <a:solidFill>
                  <a:srgbClr val="1D1D1A"/>
                </a:solidFill>
                <a:latin typeface="Calibri"/>
              </a:rPr>
              <a:t>Expert</a:t>
            </a:r>
            <a:r>
              <a:rPr lang="zh-CN" altLang="en-US" sz="1400" b="1" i="1" dirty="0">
                <a:solidFill>
                  <a:srgbClr val="1D1D1A"/>
                </a:solidFill>
                <a:latin typeface="Calibri"/>
              </a:rPr>
              <a:t>中其中一层的权重直方图，模型大部分层基本都是这种情况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)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68396B-D377-4D9B-A86D-D1239F663490}"/>
              </a:ext>
            </a:extLst>
          </p:cNvPr>
          <p:cNvSpPr/>
          <p:nvPr/>
        </p:nvSpPr>
        <p:spPr>
          <a:xfrm>
            <a:off x="6219622" y="4801358"/>
            <a:ext cx="4643866" cy="1028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直转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INT4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下，兼顾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outlier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值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</a:rPr>
              <a:t>，导致主体权重分布被压缩到少量离散点上，引入较大量化误差，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分布被完全打散，最终导致吐字乱码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EB7F598-B471-4616-B148-B487D2BF5694}"/>
              </a:ext>
            </a:extLst>
          </p:cNvPr>
          <p:cNvSpPr/>
          <p:nvPr/>
        </p:nvSpPr>
        <p:spPr>
          <a:xfrm>
            <a:off x="11567156" y="4847494"/>
            <a:ext cx="4128996" cy="70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通过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LWC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做</a:t>
            </a:r>
            <a:r>
              <a:rPr lang="en-US" altLang="zh-CN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outlier</a:t>
            </a:r>
            <a:r>
              <a:rPr lang="zh-CN" altLang="en-US" sz="14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截断，误差最小化，整体分布重新矫正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7ADA655B-D142-4413-9988-4F4263571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789298"/>
              </p:ext>
            </p:extLst>
          </p:nvPr>
        </p:nvGraphicFramePr>
        <p:xfrm>
          <a:off x="2821965" y="6076851"/>
          <a:ext cx="10374668" cy="1379110"/>
        </p:xfrm>
        <a:graphic>
          <a:graphicData uri="http://schemas.openxmlformats.org/drawingml/2006/table">
            <a:tbl>
              <a:tblPr/>
              <a:tblGrid>
                <a:gridCol w="1272963">
                  <a:extLst>
                    <a:ext uri="{9D8B030D-6E8A-4147-A177-3AD203B41FA5}">
                      <a16:colId xmlns:a16="http://schemas.microsoft.com/office/drawing/2014/main" val="2742050550"/>
                    </a:ext>
                  </a:extLst>
                </a:gridCol>
                <a:gridCol w="929092">
                  <a:extLst>
                    <a:ext uri="{9D8B030D-6E8A-4147-A177-3AD203B41FA5}">
                      <a16:colId xmlns:a16="http://schemas.microsoft.com/office/drawing/2014/main" val="1740502139"/>
                    </a:ext>
                  </a:extLst>
                </a:gridCol>
                <a:gridCol w="1028193">
                  <a:extLst>
                    <a:ext uri="{9D8B030D-6E8A-4147-A177-3AD203B41FA5}">
                      <a16:colId xmlns:a16="http://schemas.microsoft.com/office/drawing/2014/main" val="2283904991"/>
                    </a:ext>
                  </a:extLst>
                </a:gridCol>
                <a:gridCol w="1165555">
                  <a:extLst>
                    <a:ext uri="{9D8B030D-6E8A-4147-A177-3AD203B41FA5}">
                      <a16:colId xmlns:a16="http://schemas.microsoft.com/office/drawing/2014/main" val="2139263483"/>
                    </a:ext>
                  </a:extLst>
                </a:gridCol>
                <a:gridCol w="1165555">
                  <a:extLst>
                    <a:ext uri="{9D8B030D-6E8A-4147-A177-3AD203B41FA5}">
                      <a16:colId xmlns:a16="http://schemas.microsoft.com/office/drawing/2014/main" val="317665756"/>
                    </a:ext>
                  </a:extLst>
                </a:gridCol>
                <a:gridCol w="1165555">
                  <a:extLst>
                    <a:ext uri="{9D8B030D-6E8A-4147-A177-3AD203B41FA5}">
                      <a16:colId xmlns:a16="http://schemas.microsoft.com/office/drawing/2014/main" val="3365783969"/>
                    </a:ext>
                  </a:extLst>
                </a:gridCol>
                <a:gridCol w="1316645">
                  <a:extLst>
                    <a:ext uri="{9D8B030D-6E8A-4147-A177-3AD203B41FA5}">
                      <a16:colId xmlns:a16="http://schemas.microsoft.com/office/drawing/2014/main" val="1787599546"/>
                    </a:ext>
                  </a:extLst>
                </a:gridCol>
                <a:gridCol w="1165555">
                  <a:extLst>
                    <a:ext uri="{9D8B030D-6E8A-4147-A177-3AD203B41FA5}">
                      <a16:colId xmlns:a16="http://schemas.microsoft.com/office/drawing/2014/main" val="1271119828"/>
                    </a:ext>
                  </a:extLst>
                </a:gridCol>
                <a:gridCol w="1165555">
                  <a:extLst>
                    <a:ext uri="{9D8B030D-6E8A-4147-A177-3AD203B41FA5}">
                      <a16:colId xmlns:a16="http://schemas.microsoft.com/office/drawing/2014/main" val="1248734497"/>
                    </a:ext>
                  </a:extLst>
                </a:gridCol>
              </a:tblGrid>
              <a:tr h="2758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量化方案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11880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 Thinking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Thinking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710398"/>
                  </a:ext>
                </a:extLst>
              </a:tr>
              <a:tr h="275822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MMLU-Pro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CMMLU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ARC-E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ARC-C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MATH500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GPQA-Diamond 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DROP-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em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/f1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GPQA-Diamond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39493"/>
                  </a:ext>
                </a:extLst>
              </a:tr>
              <a:tr h="275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Baseline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83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71.2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87.4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711327"/>
                  </a:ext>
                </a:extLst>
              </a:tr>
              <a:tr h="2758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BF16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82.83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89.67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94.87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94.28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94.8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73.23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86.03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88.34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50781"/>
                  </a:ext>
                </a:extLst>
              </a:tr>
              <a:tr h="2758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Moe-W4A8-int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82.49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89.6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94.74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94.11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94.8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73.23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87.28</a:t>
                      </a: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87.88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821" marR="4821" marT="48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241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34985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部署导出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53" name="Text 15">
            <a:extLst>
              <a:ext uri="{FF2B5EF4-FFF2-40B4-BE49-F238E27FC236}">
                <a16:creationId xmlns:a16="http://schemas.microsoft.com/office/drawing/2014/main" id="{FD3A717D-6839-4116-9F49-B7C326AD24B6}"/>
              </a:ext>
            </a:extLst>
          </p:cNvPr>
          <p:cNvSpPr/>
          <p:nvPr/>
        </p:nvSpPr>
        <p:spPr>
          <a:xfrm>
            <a:off x="9409652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模型适配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73F39E91-5993-4823-94CE-D4B53DCD8B36}"/>
              </a:ext>
            </a:extLst>
          </p:cNvPr>
          <p:cNvSpPr/>
          <p:nvPr/>
        </p:nvSpPr>
        <p:spPr>
          <a:xfrm>
            <a:off x="10884884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63BF2DC-EC05-43F2-9C03-2E94DEC7494D}"/>
              </a:ext>
            </a:extLst>
          </p:cNvPr>
          <p:cNvSpPr/>
          <p:nvPr/>
        </p:nvSpPr>
        <p:spPr>
          <a:xfrm>
            <a:off x="11095196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精度评估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7375BF86-BCF0-48DB-B053-DD9A4693A861}"/>
              </a:ext>
            </a:extLst>
          </p:cNvPr>
          <p:cNvSpPr/>
          <p:nvPr/>
        </p:nvSpPr>
        <p:spPr>
          <a:xfrm>
            <a:off x="12581096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E7882FF-6114-4175-A3DC-E9364C6C4D8E}"/>
              </a:ext>
            </a:extLst>
          </p:cNvPr>
          <p:cNvSpPr/>
          <p:nvPr/>
        </p:nvSpPr>
        <p:spPr>
          <a:xfrm>
            <a:off x="12791408" y="379019"/>
            <a:ext cx="1429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Quantize</a:t>
            </a: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PTQ 优化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F35DC7A-25FC-434F-9FBB-D70CEBC0C63B}"/>
              </a:ext>
            </a:extLst>
          </p:cNvPr>
          <p:cNvSpPr/>
          <p:nvPr/>
        </p:nvSpPr>
        <p:spPr>
          <a:xfrm>
            <a:off x="14246828" y="534467"/>
            <a:ext cx="182880" cy="228600"/>
          </a:xfrm>
          <a:prstGeom prst="chevron">
            <a:avLst/>
          </a:prstGeom>
          <a:solidFill>
            <a:srgbClr val="BFC8D8"/>
          </a:solidFill>
          <a:ln w="12700">
            <a:solidFill>
              <a:srgbClr val="BFC8D8">
                <a:alpha val="0"/>
              </a:srgbClr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7A5BCCB-B4EC-4EF1-BC49-4077990A2CC8}"/>
              </a:ext>
            </a:extLst>
          </p:cNvPr>
          <p:cNvSpPr/>
          <p:nvPr/>
        </p:nvSpPr>
        <p:spPr>
          <a:xfrm>
            <a:off x="14457140" y="379019"/>
            <a:ext cx="1429512" cy="566928"/>
          </a:xfrm>
          <a:prstGeom prst="rect">
            <a:avLst/>
          </a:prstGeom>
          <a:solidFill>
            <a:srgbClr val="00B0F0"/>
          </a:solidFill>
          <a:ln w="12700">
            <a:solidFill>
              <a:srgbClr val="D6DC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Deploy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1600" b="1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部署导出</a:t>
            </a:r>
            <a:endParaRPr lang="en-US" sz="1600" b="1" dirty="0">
              <a:solidFill>
                <a:srgbClr val="1522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8F748927-4097-4CF9-BE97-C3D368CD4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146" y="1277981"/>
            <a:ext cx="11429999" cy="619819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7E5E10-9D93-47F7-B6F2-98D75E63B2EC}"/>
              </a:ext>
            </a:extLst>
          </p:cNvPr>
          <p:cNvSpPr/>
          <p:nvPr/>
        </p:nvSpPr>
        <p:spPr>
          <a:xfrm>
            <a:off x="1374343" y="1258077"/>
            <a:ext cx="87716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505579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</a:t>
            </a: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</a:t>
            </a: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AMCT-Agent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4152A7DA-9356-4F54-A01C-F1D5B9DE8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19" y="1138089"/>
            <a:ext cx="8658090" cy="54896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AMCT-Agent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优化工作流</a:t>
            </a: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15" name="圆角矩形">
            <a:extLst>
              <a:ext uri="{FF2B5EF4-FFF2-40B4-BE49-F238E27FC236}">
                <a16:creationId xmlns:a16="http://schemas.microsoft.com/office/drawing/2014/main" id="{B6C1F7D6-E779-499A-856A-F1E416E1BF1C}"/>
              </a:ext>
            </a:extLst>
          </p:cNvPr>
          <p:cNvSpPr/>
          <p:nvPr/>
        </p:nvSpPr>
        <p:spPr>
          <a:xfrm flipH="1">
            <a:off x="651190" y="1424431"/>
            <a:ext cx="5529053" cy="2475077"/>
          </a:xfrm>
          <a:prstGeom prst="roundRect">
            <a:avLst>
              <a:gd name="adj" fmla="val 4725"/>
            </a:avLst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</p:spPr>
        <p:txBody>
          <a:bodyPr wrap="square" lIns="0" rIns="0" rtlCol="0" anchor="ctr">
            <a:noAutofit/>
          </a:bodyPr>
          <a:lstStyle/>
          <a:p>
            <a:pPr algn="ctr" defTabSz="548201">
              <a:spcAft>
                <a:spcPts val="180"/>
              </a:spcAft>
              <a:defRPr/>
            </a:pPr>
            <a:endParaRPr sz="630" kern="0" dirty="0">
              <a:solidFill>
                <a:srgbClr val="1D1D1A">
                  <a:lumMod val="75000"/>
                  <a:lumOff val="25000"/>
                </a:srgbClr>
              </a:solidFill>
              <a:latin typeface="微软雅黑" panose="020B0503020204020204" pitchFamily="34" charset="-122"/>
              <a:cs typeface="Helvetica"/>
              <a:sym typeface="Microsoft YaHe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9CB2BD-9FFD-4765-8F5F-72C0FB69F403}"/>
              </a:ext>
            </a:extLst>
          </p:cNvPr>
          <p:cNvSpPr txBox="1"/>
          <p:nvPr/>
        </p:nvSpPr>
        <p:spPr>
          <a:xfrm>
            <a:off x="825499" y="1762987"/>
            <a:ext cx="5280025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查现状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：当前工具中指定的模型适配现状确定；</a:t>
            </a:r>
            <a:endParaRPr lang="en-US" altLang="zh-CN" sz="16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判阶段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：确定新模型导入或者量化的子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Agent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选择；</a:t>
            </a:r>
            <a:endParaRPr lang="en-US" altLang="zh-CN" sz="16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串流程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：借助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Quant Tools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进行量化实验；</a:t>
            </a:r>
            <a:endParaRPr lang="en-US" altLang="zh-CN" sz="16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出交付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：导出量化权重和量化方案介绍文件；</a:t>
            </a:r>
            <a:endParaRPr lang="en-US" altLang="zh-CN" sz="16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沉经验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：更新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casebook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，形成后续复用资产；</a:t>
            </a:r>
            <a:endParaRPr lang="en-US" altLang="zh-CN" sz="16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BA6E42-A7C6-45F9-B326-CACC44EA9455}"/>
              </a:ext>
            </a:extLst>
          </p:cNvPr>
          <p:cNvSpPr/>
          <p:nvPr/>
        </p:nvSpPr>
        <p:spPr>
          <a:xfrm>
            <a:off x="825500" y="1329561"/>
            <a:ext cx="1260475" cy="369332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1109" defTabSz="914400">
              <a:defRPr/>
            </a:pPr>
            <a:r>
              <a:rPr lang="zh-CN" altLang="en-US" b="1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整体流程</a:t>
            </a:r>
            <a:endParaRPr lang="en-US" altLang="zh-CN" b="1" dirty="0">
              <a:solidFill>
                <a:prstClr val="whit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BBB839-BAB3-4567-99B0-5BC3FDF34270}"/>
              </a:ext>
            </a:extLst>
          </p:cNvPr>
          <p:cNvSpPr txBox="1"/>
          <p:nvPr/>
        </p:nvSpPr>
        <p:spPr>
          <a:xfrm>
            <a:off x="1042943" y="733913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1000" dirty="0">
                <a:solidFill>
                  <a:prstClr val="white">
                    <a:lumMod val="50000"/>
                  </a:prstClr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prstClr val="white">
                  <a:lumMod val="50000"/>
                </a:prstClr>
              </a:solidFill>
              <a:latin typeface="等线 Light" panose="02010600030101010101" pitchFamily="2" charset="-122"/>
              <a:ea typeface="等线 Light" panose="02010600030101010101" pitchFamily="2" charset="-122"/>
              <a:cs typeface="Arial" panose="02080604020202020204" pitchFamily="34" charset="0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7BA8D795-6C5C-4DAC-A827-038421890078}"/>
              </a:ext>
            </a:extLst>
          </p:cNvPr>
          <p:cNvSpPr/>
          <p:nvPr/>
        </p:nvSpPr>
        <p:spPr>
          <a:xfrm flipH="1">
            <a:off x="6729858" y="4572001"/>
            <a:ext cx="4747765" cy="3479800"/>
          </a:xfrm>
          <a:prstGeom prst="roundRect">
            <a:avLst>
              <a:gd name="adj" fmla="val 4725"/>
            </a:avLst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</p:spPr>
        <p:txBody>
          <a:bodyPr wrap="square" lIns="0" rIns="0" rtlCol="0" anchor="ctr">
            <a:noAutofit/>
          </a:bodyPr>
          <a:lstStyle/>
          <a:p>
            <a:pPr algn="ctr" defTabSz="548201">
              <a:spcAft>
                <a:spcPts val="180"/>
              </a:spcAft>
              <a:defRPr/>
            </a:pPr>
            <a:endParaRPr lang="zh-CN" altLang="en-US" sz="630" kern="0" dirty="0">
              <a:solidFill>
                <a:srgbClr val="1D1D1A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等线" panose="02010600030101010101" pitchFamily="2" charset="-122"/>
              <a:cs typeface="Helvetica"/>
              <a:sym typeface="Microsoft YaHei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15CB51E9-1CB4-4B78-B7BA-74C972EFBEC7}"/>
              </a:ext>
            </a:extLst>
          </p:cNvPr>
          <p:cNvSpPr/>
          <p:nvPr/>
        </p:nvSpPr>
        <p:spPr>
          <a:xfrm flipH="1">
            <a:off x="682798" y="4578828"/>
            <a:ext cx="5422726" cy="3472972"/>
          </a:xfrm>
          <a:prstGeom prst="roundRect">
            <a:avLst>
              <a:gd name="adj" fmla="val 4725"/>
            </a:avLst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</p:spPr>
        <p:txBody>
          <a:bodyPr wrap="square" lIns="0" rIns="0" rtlCol="0" anchor="ctr">
            <a:noAutofit/>
          </a:bodyPr>
          <a:lstStyle/>
          <a:p>
            <a:pPr algn="ctr" defTabSz="548201">
              <a:spcAft>
                <a:spcPts val="180"/>
              </a:spcAft>
              <a:defRPr/>
            </a:pPr>
            <a:endParaRPr lang="zh-CN" altLang="en-US" sz="630" kern="0" dirty="0">
              <a:solidFill>
                <a:srgbClr val="1D1D1A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等线" panose="02010600030101010101" pitchFamily="2" charset="-122"/>
              <a:cs typeface="Helvetica"/>
              <a:sym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348835-80F2-49FF-A61A-90521A1C1EAE}"/>
              </a:ext>
            </a:extLst>
          </p:cNvPr>
          <p:cNvSpPr/>
          <p:nvPr/>
        </p:nvSpPr>
        <p:spPr>
          <a:xfrm>
            <a:off x="857111" y="4486740"/>
            <a:ext cx="1228864" cy="369332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1109" defTabSz="914400">
              <a:defRPr/>
            </a:pPr>
            <a:r>
              <a:rPr lang="zh-CN" altLang="en-US" b="1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模块介绍</a:t>
            </a:r>
            <a:endParaRPr lang="en-US" altLang="zh-CN" b="1" dirty="0">
              <a:solidFill>
                <a:prstClr val="whit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1EF8A6-2E14-45E6-AD66-A6C199188D9B}"/>
              </a:ext>
            </a:extLst>
          </p:cNvPr>
          <p:cNvSpPr txBox="1"/>
          <p:nvPr/>
        </p:nvSpPr>
        <p:spPr>
          <a:xfrm>
            <a:off x="682801" y="4886765"/>
            <a:ext cx="4451173" cy="139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Model adapter</a:t>
            </a:r>
            <a:r>
              <a:rPr lang="en-US" altLang="zh-CN" sz="12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(</a:t>
            </a:r>
            <a:r>
              <a:rPr lang="zh-CN" altLang="en-US" sz="12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只做新模型接入</a:t>
            </a:r>
            <a:r>
              <a:rPr lang="en-US" altLang="zh-CN" sz="12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)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模型注册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BF16 </a:t>
            </a: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基线测试与关闭量化后的浮点等价测试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最小</a:t>
            </a:r>
            <a:r>
              <a:rPr lang="en-US" altLang="zh-CN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PTQ</a:t>
            </a: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冒烟</a:t>
            </a:r>
            <a:endParaRPr lang="en-US" altLang="zh-CN" sz="14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3694F6-EBA4-4E1D-908B-9180E90D2881}"/>
              </a:ext>
            </a:extLst>
          </p:cNvPr>
          <p:cNvSpPr txBox="1"/>
          <p:nvPr/>
        </p:nvSpPr>
        <p:spPr>
          <a:xfrm>
            <a:off x="682803" y="6202312"/>
            <a:ext cx="5682482" cy="1716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Model quantization</a:t>
            </a:r>
            <a:r>
              <a:rPr lang="en-US" altLang="zh-CN" sz="12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(</a:t>
            </a:r>
            <a:r>
              <a:rPr lang="zh-CN" altLang="en-US" sz="12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量化阶段总控</a:t>
            </a:r>
            <a:r>
              <a:rPr lang="en-US" altLang="zh-CN" sz="12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)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量化方案推荐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：根据</a:t>
            </a:r>
            <a:r>
              <a:rPr lang="en-US" altLang="zh-CN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Casebook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给出量化方案，或用户指定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直转量化评测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：基于已有量化方案做直转量化测试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量化算法推荐及验证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：根据</a:t>
            </a:r>
            <a:r>
              <a:rPr lang="en-US" altLang="zh-CN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Casebook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推荐量化算法，并验证</a:t>
            </a:r>
            <a:endParaRPr lang="en-US" altLang="zh-CN" sz="14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量化权重导出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：导出量化部署权重及方案说明文档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74BCE6-682A-4250-9AF8-255951FE40EA}"/>
              </a:ext>
            </a:extLst>
          </p:cNvPr>
          <p:cNvSpPr/>
          <p:nvPr/>
        </p:nvSpPr>
        <p:spPr>
          <a:xfrm>
            <a:off x="6904174" y="4409477"/>
            <a:ext cx="1228864" cy="369332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1109" defTabSz="914400">
              <a:defRPr/>
            </a:pPr>
            <a:r>
              <a:rPr lang="zh-CN" altLang="en-US" b="1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流程优势</a:t>
            </a:r>
            <a:endParaRPr lang="en-US" altLang="zh-CN" b="1" dirty="0">
              <a:solidFill>
                <a:prstClr val="whit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954156-C22F-44E3-84FD-F483B0F71FF8}"/>
              </a:ext>
            </a:extLst>
          </p:cNvPr>
          <p:cNvSpPr txBox="1"/>
          <p:nvPr/>
        </p:nvSpPr>
        <p:spPr>
          <a:xfrm>
            <a:off x="6729863" y="5834969"/>
            <a:ext cx="4633462" cy="139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节省上下文</a:t>
            </a:r>
            <a:endParaRPr lang="en-US" altLang="zh-CN" sz="1600" b="1" dirty="0">
              <a:solidFill>
                <a:srgbClr val="252B3A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Repo-Map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 ：新模型</a:t>
            </a:r>
            <a:r>
              <a:rPr lang="en-US" altLang="zh-CN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/</a:t>
            </a:r>
            <a:r>
              <a:rPr lang="zh-CN" altLang="en-US" sz="14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新算法导入无需全局扫描所有函数，对关键锚点文件扫描，节省上下文，同时了解工具整体框架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E7DE92D-624C-4C58-A3E9-16683C7EF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215" y="6941488"/>
            <a:ext cx="2955347" cy="102468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7AB03B8-72F0-4712-8C46-D0899D3672EA}"/>
              </a:ext>
            </a:extLst>
          </p:cNvPr>
          <p:cNvSpPr txBox="1"/>
          <p:nvPr/>
        </p:nvSpPr>
        <p:spPr>
          <a:xfrm>
            <a:off x="6729863" y="4792820"/>
            <a:ext cx="5529053" cy="106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易用性</a:t>
            </a:r>
            <a:endParaRPr lang="en-US" altLang="zh-CN" sz="1600" b="1" dirty="0">
              <a:solidFill>
                <a:srgbClr val="252B3A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流程简单清晰</a:t>
            </a:r>
            <a:endParaRPr lang="en-US" altLang="zh-CN" sz="1400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集合适配、量化、算法优化、导出，整体性强</a:t>
            </a:r>
            <a:endParaRPr lang="en-US" altLang="zh-CN" sz="14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32728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AMCT-Agent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实践样例</a:t>
            </a:r>
          </a:p>
        </p:txBody>
      </p:sp>
      <p:sp>
        <p:nvSpPr>
          <p:cNvPr id="33" name="Text 30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33</a:t>
            </a:r>
            <a:endParaRPr lang="en-US" sz="1300" dirty="0"/>
          </a:p>
        </p:txBody>
      </p:sp>
      <p:pic>
        <p:nvPicPr>
          <p:cNvPr id="35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7DA98D6-6380-44AF-8DAB-97DDD9D05F05}"/>
              </a:ext>
            </a:extLst>
          </p:cNvPr>
          <p:cNvSpPr/>
          <p:nvPr/>
        </p:nvSpPr>
        <p:spPr>
          <a:xfrm>
            <a:off x="5249296" y="807487"/>
            <a:ext cx="6672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109" algn="ctr"/>
            <a:r>
              <a:rPr lang="zh-CN" altLang="en-US" sz="2000" b="1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面向</a:t>
            </a:r>
            <a:r>
              <a:rPr lang="en-US" altLang="zh-CN" sz="2000" b="1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950PR/DT</a:t>
            </a:r>
            <a:r>
              <a:rPr lang="zh-CN" altLang="en-US" sz="2000" b="1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的</a:t>
            </a:r>
            <a:r>
              <a:rPr lang="en-US" altLang="zh-CN" sz="2000" b="1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Hunyuan3</a:t>
            </a:r>
            <a:r>
              <a:rPr lang="zh-CN" altLang="en-US" sz="2000" b="1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端到端模型量化部署工作流</a:t>
            </a:r>
            <a:endParaRPr lang="en-US" altLang="zh-CN" sz="2000" b="1" dirty="0"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1A506-B88D-48E7-8DC7-C4D8DDF14CBF}"/>
              </a:ext>
            </a:extLst>
          </p:cNvPr>
          <p:cNvSpPr/>
          <p:nvPr/>
        </p:nvSpPr>
        <p:spPr>
          <a:xfrm>
            <a:off x="409575" y="1160305"/>
            <a:ext cx="8128000" cy="7922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等线" panose="020F0502020204030204"/>
                <a:ea typeface="方正兰亭粗黑简体" panose="02000000000000000000"/>
              </a:rPr>
              <a:t>通过“</a:t>
            </a:r>
            <a:r>
              <a:rPr lang="zh-CN" altLang="en-US" sz="16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模板填报 </a:t>
            </a:r>
            <a:r>
              <a:rPr lang="en-US" altLang="zh-CN" sz="16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+ Agent </a:t>
            </a:r>
            <a:r>
              <a:rPr lang="zh-CN" altLang="en-US" sz="16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编排</a:t>
            </a:r>
            <a:r>
              <a:rPr lang="zh-CN" altLang="en-US" sz="1600" dirty="0">
                <a:solidFill>
                  <a:prstClr val="black"/>
                </a:solidFill>
                <a:latin typeface="等线" panose="020F0502020204030204"/>
                <a:ea typeface="方正兰亭粗黑简体" panose="02000000000000000000"/>
              </a:rPr>
              <a:t>”的方式完成标准化闭环，用户只需补充关键信息，</a:t>
            </a:r>
            <a:r>
              <a:rPr lang="en-US" altLang="zh-CN" sz="1600" dirty="0">
                <a:solidFill>
                  <a:prstClr val="black"/>
                </a:solidFill>
                <a:latin typeface="等线" panose="020F0502020204030204"/>
                <a:ea typeface="方正兰亭粗黑简体" panose="02000000000000000000"/>
              </a:rPr>
              <a:t>Agent </a:t>
            </a:r>
            <a:r>
              <a:rPr lang="zh-CN" altLang="en-US" sz="1600" dirty="0">
                <a:solidFill>
                  <a:prstClr val="black"/>
                </a:solidFill>
                <a:latin typeface="等线" panose="020F0502020204030204"/>
                <a:ea typeface="方正兰亭粗黑简体" panose="02000000000000000000"/>
              </a:rPr>
              <a:t>即可按模型状态自动推进下一步工作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74998C2-BBCA-4F26-A72D-65EE40347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10" y="2044026"/>
            <a:ext cx="7646890" cy="4456628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9ED36F21-7591-4F8B-B0A4-4DA80565B568}"/>
              </a:ext>
            </a:extLst>
          </p:cNvPr>
          <p:cNvSpPr txBox="1"/>
          <p:nvPr/>
        </p:nvSpPr>
        <p:spPr>
          <a:xfrm>
            <a:off x="2688964" y="2070018"/>
            <a:ext cx="1569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指定</a:t>
            </a:r>
            <a:r>
              <a:rPr lang="en-US" altLang="zh-CN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HY3</a:t>
            </a:r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权重路径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3587040-F843-41FB-B8AC-B800C12200F4}"/>
              </a:ext>
            </a:extLst>
          </p:cNvPr>
          <p:cNvSpPr txBox="1"/>
          <p:nvPr/>
        </p:nvSpPr>
        <p:spPr>
          <a:xfrm>
            <a:off x="3264544" y="2360802"/>
            <a:ext cx="1916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自定义：例如 “</a:t>
            </a:r>
            <a:r>
              <a:rPr lang="en-US" altLang="zh-CN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hy3</a:t>
            </a:r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”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6E331E7-BC14-4F40-8F91-11BC9E64315D}"/>
              </a:ext>
            </a:extLst>
          </p:cNvPr>
          <p:cNvSpPr txBox="1"/>
          <p:nvPr/>
        </p:nvSpPr>
        <p:spPr>
          <a:xfrm>
            <a:off x="2127992" y="2627243"/>
            <a:ext cx="2691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指定已有环境或者</a:t>
            </a:r>
            <a:r>
              <a:rPr lang="en-US" altLang="zh-CN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agent</a:t>
            </a:r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自行创建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A81F3F9-E548-4D61-8A00-291388EC357E}"/>
              </a:ext>
            </a:extLst>
          </p:cNvPr>
          <p:cNvSpPr txBox="1"/>
          <p:nvPr/>
        </p:nvSpPr>
        <p:spPr>
          <a:xfrm>
            <a:off x="2360169" y="4577101"/>
            <a:ext cx="2889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指定 </a:t>
            </a:r>
            <a:r>
              <a:rPr lang="en-US" altLang="zh-CN" sz="1200" dirty="0" err="1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moe</a:t>
            </a:r>
            <a:r>
              <a:rPr lang="en-US" altLang="zh-CN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(A8W4); attn-linear(A8W8)</a:t>
            </a:r>
            <a:endParaRPr lang="zh-CN" altLang="en-US" sz="1200" dirty="0">
              <a:solidFill>
                <a:srgbClr val="FF0000"/>
              </a:solidFill>
              <a:latin typeface="等线" panose="020F0502020204030204"/>
              <a:ea typeface="方正兰亭粗黑简体" panose="0200000000000000000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B6D19AF-C4CA-464C-8420-0607E0B0D356}"/>
              </a:ext>
            </a:extLst>
          </p:cNvPr>
          <p:cNvSpPr txBox="1"/>
          <p:nvPr/>
        </p:nvSpPr>
        <p:spPr>
          <a:xfrm>
            <a:off x="2354817" y="4869260"/>
            <a:ext cx="1010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1200" dirty="0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指定 </a:t>
            </a:r>
            <a:r>
              <a:rPr lang="en-US" altLang="zh-CN" sz="1200" dirty="0" err="1">
                <a:solidFill>
                  <a:srgbClr val="FF0000"/>
                </a:solidFill>
                <a:latin typeface="等线" panose="020F0502020204030204"/>
                <a:ea typeface="方正兰亭粗黑简体" panose="02000000000000000000"/>
              </a:rPr>
              <a:t>mxfp</a:t>
            </a:r>
            <a:endParaRPr lang="zh-CN" altLang="en-US" sz="1200" dirty="0">
              <a:solidFill>
                <a:srgbClr val="FF0000"/>
              </a:solidFill>
              <a:latin typeface="等线" panose="020F0502020204030204"/>
              <a:ea typeface="方正兰亭粗黑简体" panose="0200000000000000000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F3F047-B505-4D96-B517-324134DC2B8F}"/>
              </a:ext>
            </a:extLst>
          </p:cNvPr>
          <p:cNvSpPr/>
          <p:nvPr/>
        </p:nvSpPr>
        <p:spPr>
          <a:xfrm>
            <a:off x="409575" y="6500654"/>
            <a:ext cx="8128000" cy="15723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量化格式差异</a:t>
            </a:r>
            <a:endParaRPr lang="en-US" altLang="zh-CN" b="1" dirty="0">
              <a:solidFill>
                <a:srgbClr val="252B3A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950PR/DT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系列芯片基于新增支持业界标准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FP8/MXFP8/MXFP4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等低数值精度数据格式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MX (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纯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cube)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fp8 (CV mix)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 MX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更方便做多流并行，计算和搬运的开销都会更小，在计算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bound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的场景，对比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FP8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收益明显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9D3C8A25-147E-4AAE-820E-D0EBC1DF0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1396" y="1550859"/>
            <a:ext cx="4686348" cy="4945029"/>
          </a:xfrm>
          <a:prstGeom prst="rect">
            <a:avLst/>
          </a:prstGeom>
        </p:spPr>
      </p:pic>
      <p:sp>
        <p:nvSpPr>
          <p:cNvPr id="39" name="箭头: 左右 38">
            <a:extLst>
              <a:ext uri="{FF2B5EF4-FFF2-40B4-BE49-F238E27FC236}">
                <a16:creationId xmlns:a16="http://schemas.microsoft.com/office/drawing/2014/main" id="{9ED579F7-59E1-45CC-A786-CB58F775ED30}"/>
              </a:ext>
            </a:extLst>
          </p:cNvPr>
          <p:cNvSpPr/>
          <p:nvPr/>
        </p:nvSpPr>
        <p:spPr>
          <a:xfrm>
            <a:off x="8413714" y="2567916"/>
            <a:ext cx="1361168" cy="330200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C0BFB2-5CC2-4E68-9F33-81CC13F56862}"/>
              </a:ext>
            </a:extLst>
          </p:cNvPr>
          <p:cNvSpPr/>
          <p:nvPr/>
        </p:nvSpPr>
        <p:spPr>
          <a:xfrm>
            <a:off x="8679495" y="6498210"/>
            <a:ext cx="7550150" cy="1572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FP8/MXFP8 W8A8 + </a:t>
            </a:r>
            <a:r>
              <a:rPr lang="en-US" altLang="zh-CN" b="1" dirty="0" err="1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MoE</a:t>
            </a:r>
            <a:r>
              <a:rPr lang="en-US" altLang="zh-CN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 W4A8</a:t>
            </a:r>
            <a:r>
              <a:rPr lang="zh-CN" altLang="en-US" b="1" dirty="0">
                <a:solidFill>
                  <a:srgbClr val="252B3A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推理</a:t>
            </a:r>
            <a:endParaRPr lang="en-US" altLang="zh-CN" b="1" dirty="0">
              <a:solidFill>
                <a:srgbClr val="252B3A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基于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950PR/DT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平台，支持了</a:t>
            </a:r>
            <a:r>
              <a:rPr lang="zh-CN" altLang="en-US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原生</a:t>
            </a:r>
            <a:r>
              <a:rPr lang="en-US" altLang="zh-CN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FP8</a:t>
            </a:r>
            <a:r>
              <a:rPr lang="zh-CN" altLang="en-US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量化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，同时也支持了使用</a:t>
            </a:r>
            <a:r>
              <a:rPr lang="en-US" altLang="zh-CN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MXFP8</a:t>
            </a:r>
            <a:r>
              <a:rPr lang="zh-CN" altLang="en-US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替换原生</a:t>
            </a:r>
            <a:r>
              <a:rPr lang="en-US" altLang="zh-CN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FP8</a:t>
            </a:r>
            <a:r>
              <a:rPr lang="zh-CN" altLang="en-US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格式的</a:t>
            </a:r>
            <a:r>
              <a:rPr lang="en-US" altLang="zh-CN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Linear</a:t>
            </a:r>
            <a:r>
              <a:rPr lang="zh-CN" altLang="en-US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模块，</a:t>
            </a:r>
            <a:r>
              <a:rPr lang="en-US" altLang="zh-CN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MOE</a:t>
            </a:r>
            <a:r>
              <a:rPr lang="zh-CN" altLang="en-US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部分替换</a:t>
            </a:r>
            <a:r>
              <a:rPr lang="en-US" altLang="zh-CN" sz="1600" dirty="0">
                <a:solidFill>
                  <a:srgbClr val="FF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MXFP4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，在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Prefill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和</a:t>
            </a:r>
            <a:r>
              <a:rPr lang="en-US" altLang="zh-CN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Decode</a:t>
            </a:r>
            <a:r>
              <a:rPr lang="zh-CN" altLang="en-US" sz="1600" dirty="0">
                <a:solidFill>
                  <a:srgbClr val="252B3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高吞吐场景可以进一步提升算力利用率，提高整体性能。</a:t>
            </a:r>
            <a:endParaRPr lang="en-US" altLang="zh-CN" sz="1600" dirty="0">
              <a:solidFill>
                <a:srgbClr val="252B3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1398589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400" y="1612900"/>
            <a:ext cx="6350000" cy="123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68400" y="3556000"/>
            <a:ext cx="6350000" cy="194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开启你的量化优化之旅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600" b="1" u="sng" dirty="0">
                <a:solidFill>
                  <a:srgbClr val="4472C4"/>
                </a:solidFill>
                <a:uFill>
                  <a:solidFill>
                    <a:srgbClr val="333333"/>
                  </a:solidFill>
                </a:uFill>
                <a:latin typeface="MiSans" pitchFamily="34" charset="0"/>
                <a:ea typeface="MiSans" pitchFamily="34" charset="-122"/>
                <a:cs typeface="Mi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gitcode.com/cann/</a:t>
            </a:r>
            <a:r>
              <a:rPr lang="en-US" sz="1600" b="1" u="sng" dirty="0" err="1">
                <a:solidFill>
                  <a:srgbClr val="4472C4"/>
                </a:solidFill>
                <a:uFill>
                  <a:solidFill>
                    <a:srgbClr val="333333"/>
                  </a:solidFill>
                </a:uFill>
                <a:latin typeface="MiSans" pitchFamily="34" charset="0"/>
                <a:ea typeface="MiSans" pitchFamily="34" charset="-122"/>
                <a:cs typeface="Mi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cann</a:t>
            </a:r>
            <a:r>
              <a:rPr lang="en-US" sz="1600" b="1" u="sng" dirty="0">
                <a:solidFill>
                  <a:srgbClr val="4472C4"/>
                </a:solidFill>
                <a:uFill>
                  <a:solidFill>
                    <a:srgbClr val="333333"/>
                  </a:solidFill>
                </a:uFill>
                <a:latin typeface="MiSans" pitchFamily="34" charset="0"/>
                <a:ea typeface="MiSans" pitchFamily="34" charset="-122"/>
                <a:cs typeface="Mi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-recipes-infer</a:t>
            </a:r>
            <a:endParaRPr lang="en-US" sz="1600" b="1" u="sng" dirty="0">
              <a:solidFill>
                <a:srgbClr val="4472C4"/>
              </a:solidFill>
              <a:uFill>
                <a:solidFill>
                  <a:srgbClr val="333333"/>
                </a:solidFill>
              </a:u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60000"/>
              </a:lnSpc>
            </a:pPr>
            <a:r>
              <a:rPr lang="en-US" sz="1600" b="1" u="sng" dirty="0">
                <a:solidFill>
                  <a:srgbClr val="4472C4"/>
                </a:solidFill>
                <a:uFill>
                  <a:solidFill>
                    <a:srgbClr val="333333"/>
                  </a:solidFill>
                </a:uFill>
                <a:latin typeface="MiSans" pitchFamily="34" charset="0"/>
                <a:ea typeface="MiSans" pitchFamily="34" charset="-122"/>
                <a:cs typeface="Mi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https://gitcode.com/cann/amct</a:t>
            </a:r>
            <a:r>
              <a:rPr lang="en-US" sz="1600" b="1" u="sng" dirty="0">
                <a:solidFill>
                  <a:srgbClr val="4472C4"/>
                </a:solidFill>
                <a:uFill>
                  <a:solidFill>
                    <a:srgbClr val="333333"/>
                  </a:solidFill>
                </a:u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</p:txBody>
      </p:sp>
      <p:pic>
        <p:nvPicPr>
          <p:cNvPr id="6" name="Image 0" descr="https://kimi-img.moonshot.cn/pub/slides/okc/4rfbomebqqupm/mnt/agents/output/template_pptd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900" y="5245100"/>
            <a:ext cx="2133600" cy="2133600"/>
          </a:xfrm>
          <a:prstGeom prst="rect">
            <a:avLst/>
          </a:prstGeom>
        </p:spPr>
      </p:pic>
      <p:pic>
        <p:nvPicPr>
          <p:cNvPr id="7" name="Image 1" descr="https://kimi-img.moonshot.cn/pub/slides/okc/4rfbomebqqupm/mnt/agents/output/template_pptd/images/image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5100" y="5194300"/>
            <a:ext cx="2247900" cy="2247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0700" y="7378700"/>
            <a:ext cx="190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上CANN社区获取干货</a:t>
            </a:r>
            <a:endParaRPr lang="en-US" sz="1330" dirty="0"/>
          </a:p>
        </p:txBody>
      </p:sp>
      <p:sp>
        <p:nvSpPr>
          <p:cNvPr id="9" name="Text 5"/>
          <p:cNvSpPr/>
          <p:nvPr/>
        </p:nvSpPr>
        <p:spPr>
          <a:xfrm>
            <a:off x="11658600" y="7493000"/>
            <a:ext cx="22479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关注CANN公众号获取资讯</a:t>
            </a:r>
            <a:endParaRPr lang="en-US" sz="1330" dirty="0"/>
          </a:p>
        </p:txBody>
      </p:sp>
      <p:sp>
        <p:nvSpPr>
          <p:cNvPr id="10" name="Text 6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34</a:t>
            </a:r>
            <a:endParaRPr lang="en-US" sz="1300" dirty="0"/>
          </a:p>
        </p:txBody>
      </p:sp>
      <p:pic>
        <p:nvPicPr>
          <p:cNvPr id="12" name="Image 2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12438</TotalTime>
  <Words>5288</Words>
  <Application>Microsoft Office PowerPoint</Application>
  <PresentationFormat>自定义</PresentationFormat>
  <Paragraphs>667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等线</vt:lpstr>
      <vt:lpstr>Helvetica</vt:lpstr>
      <vt:lpstr>Liter</vt:lpstr>
      <vt:lpstr>Cambria Math</vt:lpstr>
      <vt:lpstr>微软雅黑</vt:lpstr>
      <vt:lpstr>Wingdings</vt:lpstr>
      <vt:lpstr>Calibri</vt:lpstr>
      <vt:lpstr>Noto Sans CJK SC</vt:lpstr>
      <vt:lpstr>MiSans</vt:lpstr>
      <vt:lpstr>宋体</vt:lpstr>
      <vt:lpstr>Arial</vt:lpstr>
      <vt:lpstr>等线 Light</vt:lpstr>
      <vt:lpstr>方正兰亭粗黑简体</vt:lpstr>
      <vt:lpstr>方正兰亭黑简体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大模型量化基础</dc:title>
  <dc:subject>大模型量化基础</dc:subject>
  <dc:creator>Kimi</dc:creator>
  <cp:lastModifiedBy>liting (Z)</cp:lastModifiedBy>
  <cp:revision>143</cp:revision>
  <dcterms:created xsi:type="dcterms:W3CDTF">2026-06-24T11:04:41Z</dcterms:created>
  <dcterms:modified xsi:type="dcterms:W3CDTF">2026-08-25T07:05:17Z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{"Label":"大模型量化基础","ContentProducer":"001191110108MACG2KBH8F10000","ProduceID":"19ef9430-9822-8685-8000-00004df5db4b","ReservedCode1":"","ContentPropagator":"001191110108MACG2KBH8F20000","PropagateID":"19eee8b1-31f2-8433-8000-0941b2c9f6ec","ReservedCode2"</vt:lpwstr>
  </property>
</Properties>
</file>