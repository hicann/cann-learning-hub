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说明本课聚焦 SFT 训练性能，不从零讲完整 Transformer；先用前置衔接页把初阶知识接上。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用四条衔接说明学习路径：组件、数据、训练、证据。强调本课会复用初阶的可运行基线。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快速浏览四章地图，告诉学生每章都沿“优化点 → 实现路径 → correctness → trace → 稳态指标”推进。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章节过渡：先回答 Attention 为什么值得优化，再把语义和边界接到实际 kernel。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先用复杂度直觉解释优化空间：RMSNorm 逐 token，Attention 要建立 token-pair 关系。强调这不是说 RMSNorm 不重要，而是两者的增长维度不同。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用一个具体的张量语言把后续页面的符号补齐：Q 是查询，K 是可匹配的索引，V 是被加权汇总的内容；QKᵀ 的两个 S 位置轴解释了为什么 pair 数随 S² 增长。MHA 与 GQA 只在 K/V head 的共享方式上不同。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tutorials/sft_training_pipeline/05_attention_operators/05.02_attention_kernels.ipynb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把五种机制放在同一张地图上：SDPA 是接口与 dispatch，FlashAttention 是 IO/执行策略，GQA 是 head 规模，Document Mask 是样本语义，VarLen/TND 是边界驱动的结构优化。它们可以组合，不能互相替代。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  <a:p>
            <a:r>
              <a:t>- tutorials/sft_training_pipeline/05_attention_operators/05.05_torchtitan_attention_ops.ipynb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先读左侧流程，再读右侧三句总结：Eager 会物化完整 score 并反复往返 HBM；FlashAttention 用 tiling 和 online softmax 只保留最终输出。它减少 IO，但仍需要单独的 Document Mask 或 VarLen 处理 packed 样本隔离。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tutorials/sft_training_pipeline/05_attention_operators/05.02_attention_kernels.ipynb</a:t>
            </a:r>
          </a:p>
          <a:p>
            <a:r>
              <a:t>- tutorials/sft_training_pipeline/05_attention_operators/05.05_torchtitan_attention_ops.ipynb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先区分三个概念：Packing 提高容器利用率；causal 只表达时间顺序；labels=-100 只影响 Loss。由此引出样本级 mask。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把一张最小的 causal 下三角讲透：行是 Query，列是 Key；第 i 行只保留 j≤i 的历史位置。这里没有样本归属信息，所以 packed SFT 仍需要 block-causal 或 VarLen 边界。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tutorials/sft_training_pipeline/05_attention_operators/05.02_attention_kernels.ipynb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逐格解释两个矩阵：左边是一个大下三角，右边是多个互不相连的下三角。提醒学生先看 Query 行能看到哪些 Key 列。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 positions 的重置值开始，展示如何找起点、做相邻差分、形成 cu_seq，再把它和 TND layout 一起交给 FA v3。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position reset、cu_seq、TND 和 FA v3 参数拆开讲。cu_seq/actual_seq 描述边界，TND 描述 token layout，sparse_mode=7 表达 kernel 语义；当前 wrapper 隔离区间但没有在 Q/K/V 前删除 padding，因此不能把 TND 误说成 compact。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tutorials/sft_training_pipeline/05_attention_operators/05.02_attention_kernels.ipynb</a:t>
            </a:r>
          </a:p>
          <a:p>
            <a:r>
              <a:t>- tutorials/sft_training_pipeline/05_attention_operators/05.05_torchtitan_attention_ops.ipynb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把后端切换拆成四层：API、模型配置、dispatcher、设备 kernel。只有四层都对齐，才算真正切换成功。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章节过渡：第5章定义了边界与 backend；第6章把它们放进三条受控路线，先验证正确，再读性能。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tutorials/sft_training_pipeline/06_varlen_attention/*.ipynb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四个小矩阵是验证顺序，不是四个都能直接排名。A 只用于展示泄漏；B/C/D 才构成正确性与 backend 对照。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tutorials/sft_training_pipeline/06_varlen_attention/*.ipynb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解释四个分子为什么不能混用：slot TPS 反映容器，non-padding 和 supervised token 反映有效工作，raw sample/s 反映业务样本。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tutorials/sft_training_pipeline/06_varlen_attention/*.ipynb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说明控制变量：checkpoint、seed、数据顺序、设备数、序列长度和 GBS 固定，只改变 Attention route；采集 rank 0 的 Step 5 trace。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tutorials/sft_training_pipeline/06_varlen_attention/*.ipynb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profiler 和 wall-time 分开：profiler 解释发生了什么，profiler-off 的连续稳态 step 才能回答端到端快不快。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tutorials/sft_training_pipeline/06_varlen_attention/*.ipynb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章节过渡：Attention 语义和 VarLen 路径正确后，下一问是多卡如何分担状态、层内计算与长序列。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先把并行问题分成三类：训练状态、层内宽度、长序列激活。这样后面不会把 FSDP、TP、CP 当成同一件事。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按前向、反向、reshard 三步讲 FSDP。核心不是背 collective 名称，而是理解完整参数何时出现、梯度何时回到分片。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明确三种并行的切分维度，特别强调 CP 与 FSDP 不是同一问题的优劣比较。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用图解释 TP 的布局变化：列并行产生不同输出坐标的 Shard，行并行让同一坐标形成 Partial；启用 sequence parallel 后，模块边界还会出现 Shard(sequence) 与 Replicate 的转换。图是机制基线，实际 collective 次数和 shape 仍以 resolved config 与 trace 为准。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tutorials/sft_training_pipeline/07_distributed_comms/07.03_tp_collectives.ipynb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按四步讲 CP/Ulysses：本地先持有序列分片和全部 head，Pre-A2A 后变成完整序列和部分 head，Attention 完成后再反向交换。CP 改变的是数据归属，不负责生成 positions 或 cu_seq，因此边界 metadata 必须全局一致。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tutorials/sft_training_pipeline/07_distributed_comms/07.04_cp_collectives.ipynb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把逻辑字节、wire payload、collective elapsed 和 exposed time 分开记账。只有这样才能解释通信为什么影响 step。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用时间线区分 payload 和 exposed time：参数预取可以把下一层 AllGather 藏在当前层计算后面，但并不会减少数据量；如果通信尾部越过计算区间，仍会在关键路径暴露。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tutorials/sft_training_pipeline/07_distributed_comms/07.05_communication_volume_and_overlap.ipynb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章节过渡：第8章不再只讲机制，而是用固定 workload、双 rank trace 和显存记录回答容量与通信问题。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先验证两条后端路线是否使用同一份全局边界和 metadata，再允许进入 profiler。错误边界会让后续性能比较失去意义。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correctness gate 变成显式证据链：先固定 workload，再验证边界和输出，再从 trace 核对真实路径，最后才用 profiler-off 稳态指标报告结果。任何一层未通过，都不进入下一层的性能解释。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tutorials/sft_training_pipeline/08_comm_optimizations/08.02_varlen_cp_interaction.ipynb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大纲规定的 seq_len=16384 是待执行的受控实验条件。这里只写固定变量、采集字段和判断问题，不把旧版 4096/8192 条件数字带进来。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 profile 时分开三层：理论上哪类 activation 会缩小，实测两个 rank 的峰值是多少，AllToAll 暴露了多少。不要把三者混成一个百分比。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这是实验设计页，不是结果页。强调只切 TP2/FSDP2，统一 workload，丢弃编译步后用稳态中位数比较。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解释为什么吞吐比较必须以 optimizer step 归一化：GBS 是一次更新消费的全局 batch，local batch、DP replicas 与 accumulation 共同决定要跑多少 microbatch。这里的 64/(2×1)=32 只是公式示例，不是实验结果。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用问题—证据—结论三列逻辑收束第8章。每个结论只回答它有证据支持的问题，并写清 workload 边界。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总结五个动作：明确优化对象、验证接口正确、用 trace 证明路径、用稳态指标评价、绑定 workload 给出结论。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  <a:p>
            <a:r>
              <a:t>- tutorials/sft_training_pipeline/05_attention_operators/*.ipynb</a:t>
            </a:r>
          </a:p>
          <a:p>
            <a:r>
              <a:t>- tutorials/sft_training_pipeline/06_varlen_attention/*.ipynb</a:t>
            </a:r>
          </a:p>
          <a:p>
            <a:r>
              <a:t>- tutorials/sft_training_pipeline/07_distributed_comms/*.ipynb</a:t>
            </a:r>
          </a:p>
          <a:p>
            <a:r>
              <a:t>- tutorials/sft_training_pipeline/08_comm_optimizations/*.ipynb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结束页：提醒学生回到对应 notebook，按本课的 correctness → trace → steady state 顺序复现。</a:t>
            </a:r>
          </a:p>
          <a:p/>
          <a:p>
            <a:r>
              <a:t>[Sources]</a:t>
            </a:r>
          </a:p>
          <a:p>
            <a:r>
              <a:t>- /Users/liuyuanchen/Desktop/sft_05_08_ppt_outline.md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352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82880" indent="-182880" algn="l">
        <a:lnSpc>
          <a:spcPct val="90000"/>
        </a:lnSpc>
        <a:spcBef>
          <a:spcPts val="800"/>
        </a:spcBef>
        <a:buChar char="•"/>
        <a:defRPr sz="2240">
          <a:solidFill>
            <a:schemeClr val="tx1"/>
          </a:solidFill>
          <a:latin typeface="+mn-lt"/>
          <a:ea typeface="+mn-lt"/>
          <a:cs typeface="+mn-lt"/>
        </a:defRPr>
      </a:lvl1pPr>
      <a:lvl2pPr marL="548640" indent="-182880" algn="l">
        <a:lnSpc>
          <a:spcPct val="90000"/>
        </a:lnSpc>
        <a:spcBef>
          <a:spcPts val="400"/>
        </a:spcBef>
        <a:buChar char="•"/>
        <a:defRPr sz="1920">
          <a:solidFill>
            <a:schemeClr val="tx1"/>
          </a:solidFill>
          <a:latin typeface="+mn-lt"/>
          <a:ea typeface="+mn-lt"/>
          <a:cs typeface="+mn-lt"/>
        </a:defRPr>
      </a:lvl2pPr>
      <a:lvl3pPr marL="914400" indent="-182880" algn="l">
        <a:lnSpc>
          <a:spcPct val="90000"/>
        </a:lnSpc>
        <a:spcBef>
          <a:spcPts val="4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2801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4pPr>
      <a:lvl5pPr marL="164592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5pPr>
      <a:lvl6pPr marL="201168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6pPr>
      <a:lvl7pPr marL="237744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7pPr>
      <a:lvl8pPr marL="274320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8pPr>
      <a:lvl9pPr marL="31089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1pPr>
      <a:lvl2pPr marL="36576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2pPr>
      <a:lvl3pPr marL="73152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3pPr>
      <a:lvl4pPr marL="109728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4pPr>
      <a:lvl5pPr marL="146304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5pPr>
      <a:lvl6pPr marL="182880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6pPr>
      <a:lvl7pPr marL="219456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7pPr>
      <a:lvl8pPr marL="256032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8pPr>
      <a:lvl9pPr marL="292608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gitcode.com/cann/cann-learning-hub/tree/test/tutorials/sft_training_pipeline/05_attention_operators" TargetMode="Externa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" name="文本框 15"/>
          <p:cNvSpPr>
            <a:spLocks noGrp="1"/>
          </p:cNvSpPr>
          <p:nvPr/>
        </p:nvSpPr>
        <p:spPr>
          <a:xfrm>
            <a:off x="620201" y="6130454"/>
            <a:ext cx="382016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https://gitcode.com/cann/cann-learning-hub/tree/master/tutorials</a:t>
            </a:r>
            <a:endParaRPr sz="10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585009" y="1399429"/>
            <a:ext cx="5250815" cy="13220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4000" b="1">
                <a:latin typeface="微软雅黑"/>
                <a:ea typeface="微软雅黑"/>
                <a:cs typeface="微软雅黑"/>
              </a:rPr>
              <a:t>CANN大模型训练系列</a:t>
            </a:r>
            <a:endParaRPr sz="4000" b="1">
              <a:latin typeface="微软雅黑"/>
              <a:ea typeface="微软雅黑"/>
              <a:cs typeface="微软雅黑"/>
            </a:endParaRPr>
          </a:p>
          <a:p>
            <a:pPr algn="ctr">
              <a:buNone/>
            </a:pPr>
            <a:r>
              <a:rPr sz="4000" b="1">
                <a:latin typeface="微软雅黑"/>
                <a:ea typeface="微软雅黑"/>
                <a:cs typeface="微软雅黑"/>
              </a:rPr>
              <a:t>SFT性能优化 · 进阶课</a:t>
            </a:r>
            <a:endParaRPr sz="4000" b="1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285750"/>
            <a:ext cx="10896600" cy="571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前置衔接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447800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EEF4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结构</a:t>
            </a:r>
            <a:endParaRPr sz="28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衔接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2038350" y="1447800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初阶｜认识 Transformer 组件</a:t>
            </a:r>
            <a:endParaRPr sz="16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进阶前置｜看懂 Q/K/V、B/N/S/D 与 kernel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096000" y="1447800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FFF3E5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8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衔接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448550" y="1447800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初阶｜构造 input_ids / labels</a:t>
            </a:r>
            <a:endParaRPr sz="16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进阶前置｜理解 EOS、position、mask 与 Packing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85800" y="3400425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EDF7EC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训练</a:t>
            </a:r>
            <a:endParaRPr sz="28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衔接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2038350" y="3400425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初阶｜跑通 TorchTitan-NPU SFT</a:t>
            </a:r>
            <a:endParaRPr sz="16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进阶前置｜知道 FSDP、TP、CP 各自解决什么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096000" y="3400425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F7EFFA"/>
          </a:solidFill>
          <a:ln w="11430">
            <a:solidFill>
              <a:srgbClr val="8E44AD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证据</a:t>
            </a:r>
            <a:endParaRPr sz="28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衔接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7448550" y="3400425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初阶｜用 loss、吞吐与 trace 验证</a:t>
            </a:r>
            <a:endParaRPr sz="16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进阶前置｜按 correctness → trace → steady state 读结果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390650" y="535305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初阶先跑通闭环；本课在同一基线上定位“算什么、怎么切、如何证明”。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285750"/>
            <a:ext cx="10896600" cy="571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课程地图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447800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EEF4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8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PART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2038350" y="1447800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第5章</a:t>
            </a:r>
            <a:endParaRPr sz="16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注意力算子优化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问题与接入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096000" y="1447800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FFF3E5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28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PART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448550" y="1447800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第6章</a:t>
            </a:r>
            <a:endParaRPr sz="16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变长注意力优化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Packing → TND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85800" y="3400425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EDF7EC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28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PART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2038350" y="3400425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第7章</a:t>
            </a:r>
            <a:endParaRPr sz="16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分布式通信演示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FSDP · TP · CP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096000" y="3400425"/>
            <a:ext cx="1200150" cy="1676400"/>
          </a:xfrm>
          <a:prstGeom prst="roundRect">
            <a:avLst>
              <a:gd name="adj" fmla="val 9524"/>
            </a:avLst>
          </a:prstGeom>
          <a:solidFill>
            <a:srgbClr val="F7EFFA"/>
          </a:solidFill>
          <a:ln w="11430">
            <a:solidFill>
              <a:srgbClr val="8E44AD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28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PART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7448550" y="3400425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第8章</a:t>
            </a:r>
            <a:endParaRPr sz="16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通信优化与 VarLen 协同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容量与双 Rank Profile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428750" y="5540375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学习顺序：先修正 Attention 语义，再验证 VarLen，最后解释并行通信与容量。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20201" y="6130454"/>
            <a:ext cx="614997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</a:rPr>
              <a:t>https://gitcode.com/cann/cann-learning-hub/tree/master/tutorials/sft_training_pipeline/05_attention_operators</a:t>
            </a:r>
            <a:endParaRPr lang="en-US" altLang="zh-CN"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2190750"/>
            <a:ext cx="2857500" cy="1714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SFT性能优化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进阶课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4095750" y="1962150"/>
            <a:ext cx="0" cy="2343150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762500" y="195262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第5章  注意力算子优化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762500" y="266700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第6章  变长注意力优化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62500" y="338137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第7章  分布式通信演示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762500" y="409575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第8章  通信优化与 VarLen 协同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bpcsr1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bpcsr1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为什么 Attention 的优化空间通常比 RMSNorm 大？看它们随序列长度如何增长。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bpcsr1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bpcsr1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RMSNorm｜逐 token 归一化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bpcsr1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每个 token 只处理自己的 D 维向量，工作量随 B×S×D 线性增长，不建立 token 两两关系。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bpcsr1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bpcsr1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Attention｜建立 token-pair 关系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bpcsr1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QKᵀ 产生 [B,Nq,S,S] score；每个 query 要考虑可见 key，pair 数随 S² 增长。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bpcsr1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bpcsr1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长度翻倍，pair 约四倍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bpcsr1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S 从 2,048 到 4,096，逻辑 pair 约变 4 倍；score 读写与 kernel 调度都更紧张。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bpcsr1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bpcsr1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因此优化入口不同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bpcsr1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RMSNorm 侧重逐 token 融合；Attention 可从 IO、K/V head、mask/VarLen 与 backend 语义入手。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bpcsr1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bpcsr1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先判断瓶颈来自 token、head 还是 token-pair，再选优化层。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4" name="图片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85800" y="895350"/>
            <a:ext cx="10668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先看懂 Q、K、V 与 [B,S,N,D]，再理解 Attention 的 S²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85800" y="15049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Q（Query）</a:t>
            </a:r>
            <a:endParaRPr sz="2175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每个 token 发出的“问题”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形状 [B, S, Nq, D]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352800" y="15049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FF3E5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K（Key）</a:t>
            </a:r>
            <a:endParaRPr sz="2175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每个 token 提供的“索引”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形状 [B, S, Nkv, D]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019800" y="15049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EDF7EC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V（Value）</a:t>
            </a:r>
            <a:endParaRPr sz="24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被读取的内容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形状 [B, S, Nkv, D]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8686800" y="1504950"/>
            <a:ext cx="2819400" cy="1428750"/>
          </a:xfrm>
          <a:prstGeom prst="roundRect">
            <a:avLst>
              <a:gd name="adj" fmla="val 8000"/>
            </a:avLst>
          </a:prstGeom>
          <a:solidFill>
            <a:srgbClr val="F7EFFA"/>
          </a:solidFill>
          <a:ln w="11430">
            <a:solidFill>
              <a:srgbClr val="8E44AD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QKᵀ</a:t>
            </a:r>
            <a:endParaRPr sz="240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每个 Query 与可见 Key 配对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形状 [B, Nq, S, S]</a:t>
            </a:r>
            <a:endParaRPr sz="12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990600" y="3524250"/>
            <a:ext cx="4191000" cy="552450"/>
          </a:xfrm>
          <a:prstGeom prst="roundRect">
            <a:avLst>
              <a:gd name="adj" fmla="val 13793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76200" tIns="57150" rIns="76200" bIns="57150" anchor="ctr">
            <a:normAutofit fontScale="54648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MHA</a:t>
            </a:r>
            <a:endParaRPr sz="15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Nq = Nkv</a:t>
            </a:r>
            <a:endParaRPr sz="15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每个 Q head 对应一个 K/V head</a:t>
            </a:r>
            <a:endParaRPr sz="15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右箭头 78"/>
          <p:cNvSpPr>
            <a:spLocks noGrp="1"/>
          </p:cNvSpPr>
          <p:nvPr/>
        </p:nvSpPr>
        <p:spPr>
          <a:xfrm>
            <a:off x="5410200" y="3600450"/>
            <a:ext cx="762000" cy="400050"/>
          </a:xfrm>
          <a:prstGeom prst="rightArrow">
            <a:avLst/>
          </a:prstGeom>
          <a:solidFill>
            <a:srgbClr val="E60012"/>
          </a:solidFill>
          <a:ln w="0">
            <a:solidFill>
              <a:srgbClr val="E60012"/>
            </a:solidFill>
            <a:prstDash val="solid"/>
          </a:ln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6400800" y="3524250"/>
            <a:ext cx="4191000" cy="552450"/>
          </a:xfrm>
          <a:prstGeom prst="roundRect">
            <a:avLst>
              <a:gd name="adj" fmla="val 13793"/>
            </a:avLst>
          </a:prstGeom>
          <a:solidFill>
            <a:srgbClr val="EEF4FF"/>
          </a:solidFill>
          <a:ln w="9525">
            <a:solidFill>
              <a:srgbClr val="B8D2FF"/>
            </a:solidFill>
            <a:prstDash val="solid"/>
          </a:ln>
        </p:spPr>
        <p:txBody>
          <a:bodyPr wrap="square" lIns="76200" tIns="57150" rIns="76200" bIns="57150" anchor="ctr">
            <a:normAutofit fontScale="54648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GQA</a:t>
            </a:r>
            <a:endParaRPr sz="15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Nq &gt; Nkv</a:t>
            </a:r>
            <a:endParaRPr sz="15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多个 Q head 共享 K/V head</a:t>
            </a:r>
            <a:endParaRPr sz="15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2628900" y="4476750"/>
            <a:ext cx="69342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76200" tIns="57150" rIns="76200" bIns="57150" anchor="ctr">
            <a:normAutofit fontScale="91458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输出 = softmax(QKᵀ / √D) × V</a:t>
            </a:r>
            <a:endParaRPr sz="18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S² 来自 Query 位置 × Key 位置</a:t>
            </a:r>
            <a:endParaRPr sz="18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85800" y="55626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先记住：B 是批次，S 是序列长度，N 是 head 数，D 是每个 head 的维度。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这些机制各自解决不同问题，不要把 FlashAttention、Mask 与 VarLen 当成同一种优化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571625"/>
            <a:ext cx="2000250" cy="3381375"/>
          </a:xfrm>
          <a:prstGeom prst="roundRect">
            <a:avLst>
              <a:gd name="adj" fmla="val 571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SDPA</a:t>
            </a:r>
            <a:endParaRPr sz="1725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统一数学接口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决定候选 backend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1047750" y="5143500"/>
            <a:ext cx="12763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8D2FF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接口</a:t>
            </a:r>
            <a:endParaRPr sz="12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838450" y="1571625"/>
            <a:ext cx="2000250" cy="3381375"/>
          </a:xfrm>
          <a:prstGeom prst="roundRect">
            <a:avLst>
              <a:gd name="adj" fmla="val 571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FlashAttention</a:t>
            </a:r>
            <a:endParaRPr sz="1725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Tiling + online softmax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主要减少 HBM 往返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3200400" y="5143500"/>
            <a:ext cx="12763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FFD29A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IO</a:t>
            </a:r>
            <a:endParaRPr sz="120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991100" y="1571625"/>
            <a:ext cx="2000250" cy="3381375"/>
          </a:xfrm>
          <a:prstGeom prst="roundRect">
            <a:avLst>
              <a:gd name="adj" fmla="val 571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GQA</a:t>
            </a:r>
            <a:endParaRPr sz="172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减少 K/V head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影响投影、激活与缓存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5353050" y="5143500"/>
            <a:ext cx="12763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8DFB7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Head</a:t>
            </a:r>
            <a:endParaRPr sz="12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143750" y="1571625"/>
            <a:ext cx="2000250" cy="3381375"/>
          </a:xfrm>
          <a:prstGeom prst="roundRect">
            <a:avLst>
              <a:gd name="adj" fmla="val 5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Document Mask</a:t>
            </a:r>
            <a:endParaRPr sz="1725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定义样本可见性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修复 packed 语义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7505700" y="5143500"/>
            <a:ext cx="12763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D9B9E6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语义</a:t>
            </a:r>
            <a:endParaRPr sz="120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296400" y="1571625"/>
            <a:ext cx="2000250" cy="3381375"/>
          </a:xfrm>
          <a:prstGeom prst="roundRect">
            <a:avLst>
              <a:gd name="adj" fmla="val 5714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VarLen / TND</a:t>
            </a:r>
            <a:endParaRPr sz="172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用边界描述有效区间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让 kernel 跳过跨样本 pair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658350" y="5143500"/>
            <a:ext cx="12763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结构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85800" y="5667375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优化可以组合：FlashAttention 优化 IO，GQA 缩小 K/V，Mask / VarLen 决定“哪些 pair 应该算”。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FlashAttention 主要优化 IO：减少 HBM 往返，但不自动解决样本隔离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6667500" cy="400050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7620000" y="1524000"/>
            <a:ext cx="3886200" cy="1257300"/>
          </a:xfrm>
          <a:prstGeom prst="roundRect">
            <a:avLst>
              <a:gd name="adj" fmla="val 1071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Eager</a:t>
            </a:r>
            <a:endParaRPr sz="13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物化完整 S×S score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多次写回 / 读出 HBM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0000" y="2895600"/>
            <a:ext cx="3886200" cy="1257300"/>
          </a:xfrm>
          <a:prstGeom prst="roundRect">
            <a:avLst>
              <a:gd name="adj" fmla="val 1071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FlashAttention</a:t>
            </a:r>
            <a:endParaRPr sz="13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Q/K/V 分块进入片上存储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在线 softmax 与 PV 累加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20000" y="4267200"/>
            <a:ext cx="3886200" cy="1257300"/>
          </a:xfrm>
          <a:prstGeom prst="roundRect">
            <a:avLst>
              <a:gd name="adj" fmla="val 1071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输出一致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只写最终结果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不保存完整 score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577215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它与 VarLen 是可组合的两条轴：FlashAttention 改“怎么搬”，VarLen 改“哪些区间要算”。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adb0zj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adb0zj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Packed SFT 中，causal 只表达时间先后，不表达样本归属。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adb0zj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adb0zj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Packing 的目的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adb0zj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把多条短样本装进固定长度 container，提高 token 利用率；序列里可能同时出现 A、B、C 三份样本。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adb0zj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adb0zj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Causal 只表达顺序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adb0zj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is_causal=True 允许位置 i 看见 j≤i。B 的 token 仍可能读取 A 的 K/V，因为 A 在它之前。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adb0zj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adb0zj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labels=-100 不能隔离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adb0zj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IGNORE_INDEX 只是不让位置贡献 Loss；不会删除输入 token，也不会阻止它成为别人的 K/V。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adb0zj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adb0zj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先建立正确 baseline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adb0zj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block_causal = causal ∩ same_document；显式 mask 已写入因果关系时，SDPA 使用 is_causal=False。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adb0zj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adb0zj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错误路线只能做泄漏演示；生产对照从 greedy packing + block-causal 开始。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单条序列的 causal mask：第 i 行只能读取 0…i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causal-panel"/>
          <p:cNvSpPr>
            <a:spLocks noGrp="1"/>
          </p:cNvSpPr>
          <p:nvPr/>
        </p:nvSpPr>
        <p:spPr>
          <a:xfrm>
            <a:off x="876300" y="1657350"/>
            <a:ext cx="4476750" cy="3714750"/>
          </a:xfrm>
          <a:prstGeom prst="roundRect">
            <a:avLst>
              <a:gd name="adj" fmla="val 3077"/>
            </a:avLst>
          </a:prstGeom>
          <a:solidFill>
            <a:srgbClr val="EAF2FF"/>
          </a:solidFill>
          <a:ln w="9525">
            <a:solidFill>
              <a:srgbClr val="B7CEFF"/>
            </a:solidFill>
            <a:prstDash val="solid"/>
          </a:ln>
        </p:spPr>
      </p:sp>
      <p:sp>
        <p:nvSpPr>
          <p:cNvPr id="43" name="causal-panel-title"/>
          <p:cNvSpPr>
            <a:spLocks noGrp="1"/>
          </p:cNvSpPr>
          <p:nvPr/>
        </p:nvSpPr>
        <p:spPr>
          <a:xfrm>
            <a:off x="1066800" y="17907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单条序列：第 i 个 token 只能看 0…i</a:t>
            </a:r>
            <a:endParaRPr sz="150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causal-grid-cell-0-0"/>
          <p:cNvSpPr>
            <a:spLocks noGrp="1"/>
          </p:cNvSpPr>
          <p:nvPr/>
        </p:nvSpPr>
        <p:spPr>
          <a:xfrm>
            <a:off x="1809750" y="24765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5" name="causal-grid-cell-0-1"/>
          <p:cNvSpPr>
            <a:spLocks noGrp="1"/>
          </p:cNvSpPr>
          <p:nvPr/>
        </p:nvSpPr>
        <p:spPr>
          <a:xfrm>
            <a:off x="2209800" y="24765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6" name="causal-grid-cell-0-2"/>
          <p:cNvSpPr>
            <a:spLocks noGrp="1"/>
          </p:cNvSpPr>
          <p:nvPr/>
        </p:nvSpPr>
        <p:spPr>
          <a:xfrm>
            <a:off x="2609850" y="24765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7" name="causal-grid-cell-0-3"/>
          <p:cNvSpPr>
            <a:spLocks noGrp="1"/>
          </p:cNvSpPr>
          <p:nvPr/>
        </p:nvSpPr>
        <p:spPr>
          <a:xfrm>
            <a:off x="3009900" y="24765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8" name="causal-grid-cell-0-4"/>
          <p:cNvSpPr>
            <a:spLocks noGrp="1"/>
          </p:cNvSpPr>
          <p:nvPr/>
        </p:nvSpPr>
        <p:spPr>
          <a:xfrm>
            <a:off x="3409950" y="24765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9" name="causal-grid-cell-0-5"/>
          <p:cNvSpPr>
            <a:spLocks noGrp="1"/>
          </p:cNvSpPr>
          <p:nvPr/>
        </p:nvSpPr>
        <p:spPr>
          <a:xfrm>
            <a:off x="3810000" y="24765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0" name="causal-grid-cell-1-0"/>
          <p:cNvSpPr>
            <a:spLocks noGrp="1"/>
          </p:cNvSpPr>
          <p:nvPr/>
        </p:nvSpPr>
        <p:spPr>
          <a:xfrm>
            <a:off x="1809750" y="28765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1" name="causal-grid-cell-1-1"/>
          <p:cNvSpPr>
            <a:spLocks noGrp="1"/>
          </p:cNvSpPr>
          <p:nvPr/>
        </p:nvSpPr>
        <p:spPr>
          <a:xfrm>
            <a:off x="2209800" y="28765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2" name="causal-grid-cell-1-2"/>
          <p:cNvSpPr>
            <a:spLocks noGrp="1"/>
          </p:cNvSpPr>
          <p:nvPr/>
        </p:nvSpPr>
        <p:spPr>
          <a:xfrm>
            <a:off x="2609850" y="287655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3" name="causal-grid-cell-1-3"/>
          <p:cNvSpPr>
            <a:spLocks noGrp="1"/>
          </p:cNvSpPr>
          <p:nvPr/>
        </p:nvSpPr>
        <p:spPr>
          <a:xfrm>
            <a:off x="3009900" y="287655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4" name="causal-grid-cell-1-4"/>
          <p:cNvSpPr>
            <a:spLocks noGrp="1"/>
          </p:cNvSpPr>
          <p:nvPr/>
        </p:nvSpPr>
        <p:spPr>
          <a:xfrm>
            <a:off x="3409950" y="287655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5" name="causal-grid-cell-1-5"/>
          <p:cNvSpPr>
            <a:spLocks noGrp="1"/>
          </p:cNvSpPr>
          <p:nvPr/>
        </p:nvSpPr>
        <p:spPr>
          <a:xfrm>
            <a:off x="3810000" y="287655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6" name="causal-grid-cell-2-0"/>
          <p:cNvSpPr>
            <a:spLocks noGrp="1"/>
          </p:cNvSpPr>
          <p:nvPr/>
        </p:nvSpPr>
        <p:spPr>
          <a:xfrm>
            <a:off x="1809750" y="32766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7" name="causal-grid-cell-2-1"/>
          <p:cNvSpPr>
            <a:spLocks noGrp="1"/>
          </p:cNvSpPr>
          <p:nvPr/>
        </p:nvSpPr>
        <p:spPr>
          <a:xfrm>
            <a:off x="2209800" y="32766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8" name="causal-grid-cell-2-2"/>
          <p:cNvSpPr>
            <a:spLocks noGrp="1"/>
          </p:cNvSpPr>
          <p:nvPr/>
        </p:nvSpPr>
        <p:spPr>
          <a:xfrm>
            <a:off x="2609850" y="32766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9" name="causal-grid-cell-2-3"/>
          <p:cNvSpPr>
            <a:spLocks noGrp="1"/>
          </p:cNvSpPr>
          <p:nvPr/>
        </p:nvSpPr>
        <p:spPr>
          <a:xfrm>
            <a:off x="3009900" y="32766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0" name="causal-grid-cell-2-4"/>
          <p:cNvSpPr>
            <a:spLocks noGrp="1"/>
          </p:cNvSpPr>
          <p:nvPr/>
        </p:nvSpPr>
        <p:spPr>
          <a:xfrm>
            <a:off x="3409950" y="32766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1" name="causal-grid-cell-2-5"/>
          <p:cNvSpPr>
            <a:spLocks noGrp="1"/>
          </p:cNvSpPr>
          <p:nvPr/>
        </p:nvSpPr>
        <p:spPr>
          <a:xfrm>
            <a:off x="3810000" y="32766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2" name="causal-grid-cell-3-0"/>
          <p:cNvSpPr>
            <a:spLocks noGrp="1"/>
          </p:cNvSpPr>
          <p:nvPr/>
        </p:nvSpPr>
        <p:spPr>
          <a:xfrm>
            <a:off x="1809750" y="36766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3" name="causal-grid-cell-3-1"/>
          <p:cNvSpPr>
            <a:spLocks noGrp="1"/>
          </p:cNvSpPr>
          <p:nvPr/>
        </p:nvSpPr>
        <p:spPr>
          <a:xfrm>
            <a:off x="2209800" y="36766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4" name="causal-grid-cell-3-2"/>
          <p:cNvSpPr>
            <a:spLocks noGrp="1"/>
          </p:cNvSpPr>
          <p:nvPr/>
        </p:nvSpPr>
        <p:spPr>
          <a:xfrm>
            <a:off x="2609850" y="36766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5" name="causal-grid-cell-3-3"/>
          <p:cNvSpPr>
            <a:spLocks noGrp="1"/>
          </p:cNvSpPr>
          <p:nvPr/>
        </p:nvSpPr>
        <p:spPr>
          <a:xfrm>
            <a:off x="3009900" y="36766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6" name="causal-grid-cell-3-4"/>
          <p:cNvSpPr>
            <a:spLocks noGrp="1"/>
          </p:cNvSpPr>
          <p:nvPr/>
        </p:nvSpPr>
        <p:spPr>
          <a:xfrm>
            <a:off x="3409950" y="367665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7" name="causal-grid-cell-3-5"/>
          <p:cNvSpPr>
            <a:spLocks noGrp="1"/>
          </p:cNvSpPr>
          <p:nvPr/>
        </p:nvSpPr>
        <p:spPr>
          <a:xfrm>
            <a:off x="3810000" y="367665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8" name="causal-grid-cell-4-0"/>
          <p:cNvSpPr>
            <a:spLocks noGrp="1"/>
          </p:cNvSpPr>
          <p:nvPr/>
        </p:nvSpPr>
        <p:spPr>
          <a:xfrm>
            <a:off x="1809750" y="40767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9" name="causal-grid-cell-4-1"/>
          <p:cNvSpPr>
            <a:spLocks noGrp="1"/>
          </p:cNvSpPr>
          <p:nvPr/>
        </p:nvSpPr>
        <p:spPr>
          <a:xfrm>
            <a:off x="2209800" y="40767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0" name="causal-grid-cell-4-2"/>
          <p:cNvSpPr>
            <a:spLocks noGrp="1"/>
          </p:cNvSpPr>
          <p:nvPr/>
        </p:nvSpPr>
        <p:spPr>
          <a:xfrm>
            <a:off x="2609850" y="40767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1" name="causal-grid-cell-4-3"/>
          <p:cNvSpPr>
            <a:spLocks noGrp="1"/>
          </p:cNvSpPr>
          <p:nvPr/>
        </p:nvSpPr>
        <p:spPr>
          <a:xfrm>
            <a:off x="3009900" y="40767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2" name="causal-grid-cell-4-4"/>
          <p:cNvSpPr>
            <a:spLocks noGrp="1"/>
          </p:cNvSpPr>
          <p:nvPr/>
        </p:nvSpPr>
        <p:spPr>
          <a:xfrm>
            <a:off x="3409950" y="407670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3" name="causal-grid-cell-4-5"/>
          <p:cNvSpPr>
            <a:spLocks noGrp="1"/>
          </p:cNvSpPr>
          <p:nvPr/>
        </p:nvSpPr>
        <p:spPr>
          <a:xfrm>
            <a:off x="3810000" y="4076700"/>
            <a:ext cx="390525" cy="390525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4" name="causal-grid-cell-5-0"/>
          <p:cNvSpPr>
            <a:spLocks noGrp="1"/>
          </p:cNvSpPr>
          <p:nvPr/>
        </p:nvSpPr>
        <p:spPr>
          <a:xfrm>
            <a:off x="1809750" y="44767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5" name="causal-grid-cell-5-1"/>
          <p:cNvSpPr>
            <a:spLocks noGrp="1"/>
          </p:cNvSpPr>
          <p:nvPr/>
        </p:nvSpPr>
        <p:spPr>
          <a:xfrm>
            <a:off x="2209800" y="44767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6" name="causal-grid-cell-5-2"/>
          <p:cNvSpPr>
            <a:spLocks noGrp="1"/>
          </p:cNvSpPr>
          <p:nvPr/>
        </p:nvSpPr>
        <p:spPr>
          <a:xfrm>
            <a:off x="2609850" y="44767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7" name="causal-grid-cell-5-3"/>
          <p:cNvSpPr>
            <a:spLocks noGrp="1"/>
          </p:cNvSpPr>
          <p:nvPr/>
        </p:nvSpPr>
        <p:spPr>
          <a:xfrm>
            <a:off x="3009900" y="44767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8" name="causal-grid-cell-5-4"/>
          <p:cNvSpPr>
            <a:spLocks noGrp="1"/>
          </p:cNvSpPr>
          <p:nvPr/>
        </p:nvSpPr>
        <p:spPr>
          <a:xfrm>
            <a:off x="3409950" y="44767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9" name="causal-grid-cell-5-5"/>
          <p:cNvSpPr>
            <a:spLocks noGrp="1"/>
          </p:cNvSpPr>
          <p:nvPr/>
        </p:nvSpPr>
        <p:spPr>
          <a:xfrm>
            <a:off x="3810000" y="4476750"/>
            <a:ext cx="390525" cy="390525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80" name="causal-grid-col-0"/>
          <p:cNvSpPr>
            <a:spLocks noGrp="1"/>
          </p:cNvSpPr>
          <p:nvPr/>
        </p:nvSpPr>
        <p:spPr>
          <a:xfrm>
            <a:off x="1809750" y="2219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t0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causal-grid-row-0"/>
          <p:cNvSpPr>
            <a:spLocks noGrp="1"/>
          </p:cNvSpPr>
          <p:nvPr/>
        </p:nvSpPr>
        <p:spPr>
          <a:xfrm>
            <a:off x="1447800" y="2505075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t0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causal-grid-col-1"/>
          <p:cNvSpPr>
            <a:spLocks noGrp="1"/>
          </p:cNvSpPr>
          <p:nvPr/>
        </p:nvSpPr>
        <p:spPr>
          <a:xfrm>
            <a:off x="2209800" y="2219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t1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causal-grid-row-1"/>
          <p:cNvSpPr>
            <a:spLocks noGrp="1"/>
          </p:cNvSpPr>
          <p:nvPr/>
        </p:nvSpPr>
        <p:spPr>
          <a:xfrm>
            <a:off x="1447800" y="2905125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t1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causal-grid-col-2"/>
          <p:cNvSpPr>
            <a:spLocks noGrp="1"/>
          </p:cNvSpPr>
          <p:nvPr/>
        </p:nvSpPr>
        <p:spPr>
          <a:xfrm>
            <a:off x="2609850" y="2219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t2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causal-grid-row-2"/>
          <p:cNvSpPr>
            <a:spLocks noGrp="1"/>
          </p:cNvSpPr>
          <p:nvPr/>
        </p:nvSpPr>
        <p:spPr>
          <a:xfrm>
            <a:off x="1447800" y="3305175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t2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causal-grid-col-3"/>
          <p:cNvSpPr>
            <a:spLocks noGrp="1"/>
          </p:cNvSpPr>
          <p:nvPr/>
        </p:nvSpPr>
        <p:spPr>
          <a:xfrm>
            <a:off x="3009900" y="2219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t3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causal-grid-row-3"/>
          <p:cNvSpPr>
            <a:spLocks noGrp="1"/>
          </p:cNvSpPr>
          <p:nvPr/>
        </p:nvSpPr>
        <p:spPr>
          <a:xfrm>
            <a:off x="1447800" y="3705225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t3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8" name="causal-grid-col-4"/>
          <p:cNvSpPr>
            <a:spLocks noGrp="1"/>
          </p:cNvSpPr>
          <p:nvPr/>
        </p:nvSpPr>
        <p:spPr>
          <a:xfrm>
            <a:off x="3409950" y="2219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t4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causal-grid-row-4"/>
          <p:cNvSpPr>
            <a:spLocks noGrp="1"/>
          </p:cNvSpPr>
          <p:nvPr/>
        </p:nvSpPr>
        <p:spPr>
          <a:xfrm>
            <a:off x="1447800" y="4105275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t4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causal-grid-col-5"/>
          <p:cNvSpPr>
            <a:spLocks noGrp="1"/>
          </p:cNvSpPr>
          <p:nvPr/>
        </p:nvSpPr>
        <p:spPr>
          <a:xfrm>
            <a:off x="3810000" y="2219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t5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causal-grid-row-5"/>
          <p:cNvSpPr>
            <a:spLocks noGrp="1"/>
          </p:cNvSpPr>
          <p:nvPr/>
        </p:nvSpPr>
        <p:spPr>
          <a:xfrm>
            <a:off x="1447800" y="4505325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t5</a:t>
            </a:r>
            <a:endParaRPr sz="105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causal-grid-legend"/>
          <p:cNvSpPr>
            <a:spLocks noGrp="1"/>
          </p:cNvSpPr>
          <p:nvPr/>
        </p:nvSpPr>
        <p:spPr>
          <a:xfrm>
            <a:off x="1190625" y="490537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行 = Q，列 = K；蓝色 = 允许读取，灰色 = 屏蔽未来</a:t>
            </a:r>
            <a:endParaRPr sz="105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causal-explain"/>
          <p:cNvSpPr>
            <a:spLocks noGrp="1"/>
          </p:cNvSpPr>
          <p:nvPr/>
        </p:nvSpPr>
        <p:spPr>
          <a:xfrm>
            <a:off x="5905500" y="1657350"/>
            <a:ext cx="5600700" cy="3714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94" name="causal-q-row"/>
          <p:cNvSpPr>
            <a:spLocks noGrp="1"/>
          </p:cNvSpPr>
          <p:nvPr/>
        </p:nvSpPr>
        <p:spPr>
          <a:xfrm>
            <a:off x="6286500" y="2095500"/>
            <a:ext cx="4762500" cy="723900"/>
          </a:xfrm>
          <a:prstGeom prst="roundRect">
            <a:avLst>
              <a:gd name="adj" fmla="val 13158"/>
            </a:avLst>
          </a:prstGeom>
          <a:solidFill>
            <a:srgbClr val="FFF3E4"/>
          </a:solidFill>
          <a:ln w="9525">
            <a:solidFill>
              <a:srgbClr val="F6C98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Query 行 i：当前要计算哪个 token 的输出？</a:t>
            </a:r>
            <a:endParaRPr sz="142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causal-k-col"/>
          <p:cNvSpPr>
            <a:spLocks noGrp="1"/>
          </p:cNvSpPr>
          <p:nvPr/>
        </p:nvSpPr>
        <p:spPr>
          <a:xfrm>
            <a:off x="6286500" y="3067050"/>
            <a:ext cx="4762500" cy="723900"/>
          </a:xfrm>
          <a:prstGeom prst="roundRect">
            <a:avLst>
              <a:gd name="adj" fmla="val 13158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Key 列 j：它能读取哪些历史 token？只保留 j ≤ i</a:t>
            </a:r>
            <a:endParaRPr sz="142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causal-limit"/>
          <p:cNvSpPr>
            <a:spLocks noGrp="1"/>
          </p:cNvSpPr>
          <p:nvPr/>
        </p:nvSpPr>
        <p:spPr>
          <a:xfrm>
            <a:off x="6286500" y="4038600"/>
            <a:ext cx="4762500" cy="819150"/>
          </a:xfrm>
          <a:prstGeom prst="roundRect">
            <a:avLst>
              <a:gd name="adj" fmla="val 11628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Causal 只表达“先后顺序”，不知道 token 属于哪条样本。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Packed SFT 还需要样本边界。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causal-bottom"/>
          <p:cNvSpPr>
            <a:spLocks noGrp="1"/>
          </p:cNvSpPr>
          <p:nvPr/>
        </p:nvSpPr>
        <p:spPr>
          <a:xfrm>
            <a:off x="685800" y="5638800"/>
            <a:ext cx="10820400" cy="400050"/>
          </a:xfrm>
          <a:prstGeom prst="roundRect">
            <a:avLst>
              <a:gd name="adj" fmla="val 23810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95250" tIns="76200" rIns="95250" bIns="76200" anchor="ctr">
            <a:normAutofit fontScale="98736"/>
          </a:bodyPr>
          <a:lstStyle/>
          <a:p>
            <a:pPr algn="ctr"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先把一个下三角看懂；下一页再看多个样本装进同一个 container 后发生什么。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2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Packed SFT 的正确 Mask：每条样本都是独立的下三角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packed-causal-panel"/>
          <p:cNvSpPr>
            <a:spLocks noGrp="1"/>
          </p:cNvSpPr>
          <p:nvPr/>
        </p:nvSpPr>
        <p:spPr>
          <a:xfrm>
            <a:off x="685800" y="1504950"/>
            <a:ext cx="5105400" cy="3905250"/>
          </a:xfrm>
          <a:prstGeom prst="roundRect">
            <a:avLst>
              <a:gd name="adj" fmla="val 2927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</p:sp>
      <p:sp>
        <p:nvSpPr>
          <p:cNvPr id="43" name="packed-causal-title"/>
          <p:cNvSpPr>
            <a:spLocks noGrp="1"/>
          </p:cNvSpPr>
          <p:nvPr/>
        </p:nvSpPr>
        <p:spPr>
          <a:xfrm>
            <a:off x="876300" y="1657350"/>
            <a:ext cx="472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普通 Causal：一个大下三角，跨样本可见</a:t>
            </a:r>
            <a:endParaRPr sz="15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packed-causal-ribbon"/>
          <p:cNvSpPr>
            <a:spLocks noGrp="1"/>
          </p:cNvSpPr>
          <p:nvPr/>
        </p:nvSpPr>
        <p:spPr>
          <a:xfrm>
            <a:off x="1066800" y="2076450"/>
            <a:ext cx="434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A0  A1  A2  |  B0  B1  B2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packed-causal-grid-cell-0-0"/>
          <p:cNvSpPr>
            <a:spLocks noGrp="1"/>
          </p:cNvSpPr>
          <p:nvPr/>
        </p:nvSpPr>
        <p:spPr>
          <a:xfrm>
            <a:off x="1695450" y="260985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6" name="packed-causal-grid-cell-0-1"/>
          <p:cNvSpPr>
            <a:spLocks noGrp="1"/>
          </p:cNvSpPr>
          <p:nvPr/>
        </p:nvSpPr>
        <p:spPr>
          <a:xfrm>
            <a:off x="2028825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7" name="packed-causal-grid-cell-0-2"/>
          <p:cNvSpPr>
            <a:spLocks noGrp="1"/>
          </p:cNvSpPr>
          <p:nvPr/>
        </p:nvSpPr>
        <p:spPr>
          <a:xfrm>
            <a:off x="2362200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8" name="packed-causal-grid-cell-0-3"/>
          <p:cNvSpPr>
            <a:spLocks noGrp="1"/>
          </p:cNvSpPr>
          <p:nvPr/>
        </p:nvSpPr>
        <p:spPr>
          <a:xfrm>
            <a:off x="2695575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9" name="packed-causal-grid-cell-0-4"/>
          <p:cNvSpPr>
            <a:spLocks noGrp="1"/>
          </p:cNvSpPr>
          <p:nvPr/>
        </p:nvSpPr>
        <p:spPr>
          <a:xfrm>
            <a:off x="3028950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0" name="packed-causal-grid-cell-0-5"/>
          <p:cNvSpPr>
            <a:spLocks noGrp="1"/>
          </p:cNvSpPr>
          <p:nvPr/>
        </p:nvSpPr>
        <p:spPr>
          <a:xfrm>
            <a:off x="3362325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1" name="packed-causal-grid-cell-1-0"/>
          <p:cNvSpPr>
            <a:spLocks noGrp="1"/>
          </p:cNvSpPr>
          <p:nvPr/>
        </p:nvSpPr>
        <p:spPr>
          <a:xfrm>
            <a:off x="1695450" y="29432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2" name="packed-causal-grid-cell-1-1"/>
          <p:cNvSpPr>
            <a:spLocks noGrp="1"/>
          </p:cNvSpPr>
          <p:nvPr/>
        </p:nvSpPr>
        <p:spPr>
          <a:xfrm>
            <a:off x="2028825" y="29432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3" name="packed-causal-grid-cell-1-2"/>
          <p:cNvSpPr>
            <a:spLocks noGrp="1"/>
          </p:cNvSpPr>
          <p:nvPr/>
        </p:nvSpPr>
        <p:spPr>
          <a:xfrm>
            <a:off x="2362200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4" name="packed-causal-grid-cell-1-3"/>
          <p:cNvSpPr>
            <a:spLocks noGrp="1"/>
          </p:cNvSpPr>
          <p:nvPr/>
        </p:nvSpPr>
        <p:spPr>
          <a:xfrm>
            <a:off x="2695575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5" name="packed-causal-grid-cell-1-4"/>
          <p:cNvSpPr>
            <a:spLocks noGrp="1"/>
          </p:cNvSpPr>
          <p:nvPr/>
        </p:nvSpPr>
        <p:spPr>
          <a:xfrm>
            <a:off x="3028950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6" name="packed-causal-grid-cell-1-5"/>
          <p:cNvSpPr>
            <a:spLocks noGrp="1"/>
          </p:cNvSpPr>
          <p:nvPr/>
        </p:nvSpPr>
        <p:spPr>
          <a:xfrm>
            <a:off x="3362325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7" name="packed-causal-grid-cell-2-0"/>
          <p:cNvSpPr>
            <a:spLocks noGrp="1"/>
          </p:cNvSpPr>
          <p:nvPr/>
        </p:nvSpPr>
        <p:spPr>
          <a:xfrm>
            <a:off x="1695450" y="327660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8" name="packed-causal-grid-cell-2-1"/>
          <p:cNvSpPr>
            <a:spLocks noGrp="1"/>
          </p:cNvSpPr>
          <p:nvPr/>
        </p:nvSpPr>
        <p:spPr>
          <a:xfrm>
            <a:off x="2028825" y="327660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9" name="packed-causal-grid-cell-2-2"/>
          <p:cNvSpPr>
            <a:spLocks noGrp="1"/>
          </p:cNvSpPr>
          <p:nvPr/>
        </p:nvSpPr>
        <p:spPr>
          <a:xfrm>
            <a:off x="2362200" y="327660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0" name="packed-causal-grid-cell-2-3"/>
          <p:cNvSpPr>
            <a:spLocks noGrp="1"/>
          </p:cNvSpPr>
          <p:nvPr/>
        </p:nvSpPr>
        <p:spPr>
          <a:xfrm>
            <a:off x="2695575" y="327660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1" name="packed-causal-grid-cell-2-4"/>
          <p:cNvSpPr>
            <a:spLocks noGrp="1"/>
          </p:cNvSpPr>
          <p:nvPr/>
        </p:nvSpPr>
        <p:spPr>
          <a:xfrm>
            <a:off x="3028950" y="327660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2" name="packed-causal-grid-cell-2-5"/>
          <p:cNvSpPr>
            <a:spLocks noGrp="1"/>
          </p:cNvSpPr>
          <p:nvPr/>
        </p:nvSpPr>
        <p:spPr>
          <a:xfrm>
            <a:off x="3362325" y="327660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3" name="packed-causal-grid-cell-3-0"/>
          <p:cNvSpPr>
            <a:spLocks noGrp="1"/>
          </p:cNvSpPr>
          <p:nvPr/>
        </p:nvSpPr>
        <p:spPr>
          <a:xfrm>
            <a:off x="1695450" y="3609975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4" name="packed-causal-grid-cell-3-1"/>
          <p:cNvSpPr>
            <a:spLocks noGrp="1"/>
          </p:cNvSpPr>
          <p:nvPr/>
        </p:nvSpPr>
        <p:spPr>
          <a:xfrm>
            <a:off x="2028825" y="3609975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5" name="packed-causal-grid-cell-3-2"/>
          <p:cNvSpPr>
            <a:spLocks noGrp="1"/>
          </p:cNvSpPr>
          <p:nvPr/>
        </p:nvSpPr>
        <p:spPr>
          <a:xfrm>
            <a:off x="2362200" y="3609975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6" name="packed-causal-grid-cell-3-3"/>
          <p:cNvSpPr>
            <a:spLocks noGrp="1"/>
          </p:cNvSpPr>
          <p:nvPr/>
        </p:nvSpPr>
        <p:spPr>
          <a:xfrm>
            <a:off x="2695575" y="360997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7" name="packed-causal-grid-cell-3-4"/>
          <p:cNvSpPr>
            <a:spLocks noGrp="1"/>
          </p:cNvSpPr>
          <p:nvPr/>
        </p:nvSpPr>
        <p:spPr>
          <a:xfrm>
            <a:off x="3028950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8" name="packed-causal-grid-cell-3-5"/>
          <p:cNvSpPr>
            <a:spLocks noGrp="1"/>
          </p:cNvSpPr>
          <p:nvPr/>
        </p:nvSpPr>
        <p:spPr>
          <a:xfrm>
            <a:off x="3362325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9" name="packed-causal-grid-cell-4-0"/>
          <p:cNvSpPr>
            <a:spLocks noGrp="1"/>
          </p:cNvSpPr>
          <p:nvPr/>
        </p:nvSpPr>
        <p:spPr>
          <a:xfrm>
            <a:off x="1695450" y="3943350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0" name="packed-causal-grid-cell-4-1"/>
          <p:cNvSpPr>
            <a:spLocks noGrp="1"/>
          </p:cNvSpPr>
          <p:nvPr/>
        </p:nvSpPr>
        <p:spPr>
          <a:xfrm>
            <a:off x="2028825" y="3943350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1" name="packed-causal-grid-cell-4-2"/>
          <p:cNvSpPr>
            <a:spLocks noGrp="1"/>
          </p:cNvSpPr>
          <p:nvPr/>
        </p:nvSpPr>
        <p:spPr>
          <a:xfrm>
            <a:off x="2362200" y="3943350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2" name="packed-causal-grid-cell-4-3"/>
          <p:cNvSpPr>
            <a:spLocks noGrp="1"/>
          </p:cNvSpPr>
          <p:nvPr/>
        </p:nvSpPr>
        <p:spPr>
          <a:xfrm>
            <a:off x="2695575" y="394335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3" name="packed-causal-grid-cell-4-4"/>
          <p:cNvSpPr>
            <a:spLocks noGrp="1"/>
          </p:cNvSpPr>
          <p:nvPr/>
        </p:nvSpPr>
        <p:spPr>
          <a:xfrm>
            <a:off x="3028950" y="394335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4" name="packed-causal-grid-cell-4-5"/>
          <p:cNvSpPr>
            <a:spLocks noGrp="1"/>
          </p:cNvSpPr>
          <p:nvPr/>
        </p:nvSpPr>
        <p:spPr>
          <a:xfrm>
            <a:off x="3362325" y="39433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5" name="packed-causal-grid-cell-5-0"/>
          <p:cNvSpPr>
            <a:spLocks noGrp="1"/>
          </p:cNvSpPr>
          <p:nvPr/>
        </p:nvSpPr>
        <p:spPr>
          <a:xfrm>
            <a:off x="1695450" y="4276725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6" name="packed-causal-grid-cell-5-1"/>
          <p:cNvSpPr>
            <a:spLocks noGrp="1"/>
          </p:cNvSpPr>
          <p:nvPr/>
        </p:nvSpPr>
        <p:spPr>
          <a:xfrm>
            <a:off x="2028825" y="4276725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7" name="packed-causal-grid-cell-5-2"/>
          <p:cNvSpPr>
            <a:spLocks noGrp="1"/>
          </p:cNvSpPr>
          <p:nvPr/>
        </p:nvSpPr>
        <p:spPr>
          <a:xfrm>
            <a:off x="2362200" y="4276725"/>
            <a:ext cx="323850" cy="3238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8" name="packed-causal-grid-cell-5-3"/>
          <p:cNvSpPr>
            <a:spLocks noGrp="1"/>
          </p:cNvSpPr>
          <p:nvPr/>
        </p:nvSpPr>
        <p:spPr>
          <a:xfrm>
            <a:off x="2695575" y="42767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9" name="packed-causal-grid-cell-5-4"/>
          <p:cNvSpPr>
            <a:spLocks noGrp="1"/>
          </p:cNvSpPr>
          <p:nvPr/>
        </p:nvSpPr>
        <p:spPr>
          <a:xfrm>
            <a:off x="3028950" y="42767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80" name="packed-causal-grid-cell-5-5"/>
          <p:cNvSpPr>
            <a:spLocks noGrp="1"/>
          </p:cNvSpPr>
          <p:nvPr/>
        </p:nvSpPr>
        <p:spPr>
          <a:xfrm>
            <a:off x="3362325" y="42767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81" name="packed-causal-grid-col-0"/>
          <p:cNvSpPr>
            <a:spLocks noGrp="1"/>
          </p:cNvSpPr>
          <p:nvPr/>
        </p:nvSpPr>
        <p:spPr>
          <a:xfrm>
            <a:off x="1695450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packed-causal-grid-row-0"/>
          <p:cNvSpPr>
            <a:spLocks noGrp="1"/>
          </p:cNvSpPr>
          <p:nvPr/>
        </p:nvSpPr>
        <p:spPr>
          <a:xfrm>
            <a:off x="1333500" y="2638425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packed-causal-grid-col-1"/>
          <p:cNvSpPr>
            <a:spLocks noGrp="1"/>
          </p:cNvSpPr>
          <p:nvPr/>
        </p:nvSpPr>
        <p:spPr>
          <a:xfrm>
            <a:off x="2028825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packed-causal-grid-row-1"/>
          <p:cNvSpPr>
            <a:spLocks noGrp="1"/>
          </p:cNvSpPr>
          <p:nvPr/>
        </p:nvSpPr>
        <p:spPr>
          <a:xfrm>
            <a:off x="1333500" y="2971800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packed-causal-grid-col-2"/>
          <p:cNvSpPr>
            <a:spLocks noGrp="1"/>
          </p:cNvSpPr>
          <p:nvPr/>
        </p:nvSpPr>
        <p:spPr>
          <a:xfrm>
            <a:off x="2362200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packed-causal-grid-row-2"/>
          <p:cNvSpPr>
            <a:spLocks noGrp="1"/>
          </p:cNvSpPr>
          <p:nvPr/>
        </p:nvSpPr>
        <p:spPr>
          <a:xfrm>
            <a:off x="1333500" y="3305175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packed-causal-grid-col-3"/>
          <p:cNvSpPr>
            <a:spLocks noGrp="1"/>
          </p:cNvSpPr>
          <p:nvPr/>
        </p:nvSpPr>
        <p:spPr>
          <a:xfrm>
            <a:off x="2695575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8" name="packed-causal-grid-row-3"/>
          <p:cNvSpPr>
            <a:spLocks noGrp="1"/>
          </p:cNvSpPr>
          <p:nvPr/>
        </p:nvSpPr>
        <p:spPr>
          <a:xfrm>
            <a:off x="1333500" y="3638550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packed-causal-grid-col-4"/>
          <p:cNvSpPr>
            <a:spLocks noGrp="1"/>
          </p:cNvSpPr>
          <p:nvPr/>
        </p:nvSpPr>
        <p:spPr>
          <a:xfrm>
            <a:off x="3028950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packed-causal-grid-row-4"/>
          <p:cNvSpPr>
            <a:spLocks noGrp="1"/>
          </p:cNvSpPr>
          <p:nvPr/>
        </p:nvSpPr>
        <p:spPr>
          <a:xfrm>
            <a:off x="1333500" y="3971925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packed-causal-grid-col-5"/>
          <p:cNvSpPr>
            <a:spLocks noGrp="1"/>
          </p:cNvSpPr>
          <p:nvPr/>
        </p:nvSpPr>
        <p:spPr>
          <a:xfrm>
            <a:off x="3362325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packed-causal-grid-row-5"/>
          <p:cNvSpPr>
            <a:spLocks noGrp="1"/>
          </p:cNvSpPr>
          <p:nvPr/>
        </p:nvSpPr>
        <p:spPr>
          <a:xfrm>
            <a:off x="1333500" y="4305300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packed-causal-grid-q-label"/>
          <p:cNvSpPr>
            <a:spLocks noGrp="1"/>
          </p:cNvSpPr>
          <p:nvPr/>
        </p:nvSpPr>
        <p:spPr>
          <a:xfrm>
            <a:off x="1295400" y="46577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Q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packed-causal-grid-k-label"/>
          <p:cNvSpPr>
            <a:spLocks noGrp="1"/>
          </p:cNvSpPr>
          <p:nvPr/>
        </p:nvSpPr>
        <p:spPr>
          <a:xfrm>
            <a:off x="3505200" y="2124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K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packed-causal-explain"/>
          <p:cNvSpPr>
            <a:spLocks noGrp="1"/>
          </p:cNvSpPr>
          <p:nvPr/>
        </p:nvSpPr>
        <p:spPr>
          <a:xfrm>
            <a:off x="952500" y="48101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958"/>
          </a:bodyPr>
          <a:lstStyle/>
          <a:p>
            <a:pPr algn="ctr"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红色：B 的 Query 读取了 A 的 Key/Value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→ 样本语义泄漏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packed-block-panel"/>
          <p:cNvSpPr>
            <a:spLocks noGrp="1"/>
          </p:cNvSpPr>
          <p:nvPr/>
        </p:nvSpPr>
        <p:spPr>
          <a:xfrm>
            <a:off x="6400800" y="1504950"/>
            <a:ext cx="5105400" cy="3905250"/>
          </a:xfrm>
          <a:prstGeom prst="roundRect">
            <a:avLst>
              <a:gd name="adj" fmla="val 2927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</p:sp>
      <p:sp>
        <p:nvSpPr>
          <p:cNvPr id="97" name="packed-block-title"/>
          <p:cNvSpPr>
            <a:spLocks noGrp="1"/>
          </p:cNvSpPr>
          <p:nvPr/>
        </p:nvSpPr>
        <p:spPr>
          <a:xfrm>
            <a:off x="6591300" y="1657350"/>
            <a:ext cx="472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Block-Causal：多个互不相连的下三角</a:t>
            </a:r>
            <a:endParaRPr sz="15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8" name="packed-block-ribbon"/>
          <p:cNvSpPr>
            <a:spLocks noGrp="1"/>
          </p:cNvSpPr>
          <p:nvPr/>
        </p:nvSpPr>
        <p:spPr>
          <a:xfrm>
            <a:off x="6781800" y="2076450"/>
            <a:ext cx="434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A0  A1  A2  |  B0  B1  B2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" name="packed-block-grid-cell-0-0"/>
          <p:cNvSpPr>
            <a:spLocks noGrp="1"/>
          </p:cNvSpPr>
          <p:nvPr/>
        </p:nvSpPr>
        <p:spPr>
          <a:xfrm>
            <a:off x="7410450" y="260985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0" name="packed-block-grid-cell-0-1"/>
          <p:cNvSpPr>
            <a:spLocks noGrp="1"/>
          </p:cNvSpPr>
          <p:nvPr/>
        </p:nvSpPr>
        <p:spPr>
          <a:xfrm>
            <a:off x="7743825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1" name="packed-block-grid-cell-0-2"/>
          <p:cNvSpPr>
            <a:spLocks noGrp="1"/>
          </p:cNvSpPr>
          <p:nvPr/>
        </p:nvSpPr>
        <p:spPr>
          <a:xfrm>
            <a:off x="8077200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2" name="packed-block-grid-cell-0-3"/>
          <p:cNvSpPr>
            <a:spLocks noGrp="1"/>
          </p:cNvSpPr>
          <p:nvPr/>
        </p:nvSpPr>
        <p:spPr>
          <a:xfrm>
            <a:off x="8410575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3" name="packed-block-grid-cell-0-4"/>
          <p:cNvSpPr>
            <a:spLocks noGrp="1"/>
          </p:cNvSpPr>
          <p:nvPr/>
        </p:nvSpPr>
        <p:spPr>
          <a:xfrm>
            <a:off x="8743950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4" name="packed-block-grid-cell-0-5"/>
          <p:cNvSpPr>
            <a:spLocks noGrp="1"/>
          </p:cNvSpPr>
          <p:nvPr/>
        </p:nvSpPr>
        <p:spPr>
          <a:xfrm>
            <a:off x="9077325" y="26098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5" name="packed-block-grid-cell-1-0"/>
          <p:cNvSpPr>
            <a:spLocks noGrp="1"/>
          </p:cNvSpPr>
          <p:nvPr/>
        </p:nvSpPr>
        <p:spPr>
          <a:xfrm>
            <a:off x="7410450" y="29432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6" name="packed-block-grid-cell-1-1"/>
          <p:cNvSpPr>
            <a:spLocks noGrp="1"/>
          </p:cNvSpPr>
          <p:nvPr/>
        </p:nvSpPr>
        <p:spPr>
          <a:xfrm>
            <a:off x="7743825" y="2943225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7" name="packed-block-grid-cell-1-2"/>
          <p:cNvSpPr>
            <a:spLocks noGrp="1"/>
          </p:cNvSpPr>
          <p:nvPr/>
        </p:nvSpPr>
        <p:spPr>
          <a:xfrm>
            <a:off x="8077200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8" name="packed-block-grid-cell-1-3"/>
          <p:cNvSpPr>
            <a:spLocks noGrp="1"/>
          </p:cNvSpPr>
          <p:nvPr/>
        </p:nvSpPr>
        <p:spPr>
          <a:xfrm>
            <a:off x="8410575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9" name="packed-block-grid-cell-1-4"/>
          <p:cNvSpPr>
            <a:spLocks noGrp="1"/>
          </p:cNvSpPr>
          <p:nvPr/>
        </p:nvSpPr>
        <p:spPr>
          <a:xfrm>
            <a:off x="8743950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0" name="packed-block-grid-cell-1-5"/>
          <p:cNvSpPr>
            <a:spLocks noGrp="1"/>
          </p:cNvSpPr>
          <p:nvPr/>
        </p:nvSpPr>
        <p:spPr>
          <a:xfrm>
            <a:off x="9077325" y="29432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1" name="packed-block-grid-cell-2-0"/>
          <p:cNvSpPr>
            <a:spLocks noGrp="1"/>
          </p:cNvSpPr>
          <p:nvPr/>
        </p:nvSpPr>
        <p:spPr>
          <a:xfrm>
            <a:off x="7410450" y="327660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2" name="packed-block-grid-cell-2-1"/>
          <p:cNvSpPr>
            <a:spLocks noGrp="1"/>
          </p:cNvSpPr>
          <p:nvPr/>
        </p:nvSpPr>
        <p:spPr>
          <a:xfrm>
            <a:off x="7743825" y="327660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3" name="packed-block-grid-cell-2-2"/>
          <p:cNvSpPr>
            <a:spLocks noGrp="1"/>
          </p:cNvSpPr>
          <p:nvPr/>
        </p:nvSpPr>
        <p:spPr>
          <a:xfrm>
            <a:off x="8077200" y="3276600"/>
            <a:ext cx="323850" cy="3238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4" name="packed-block-grid-cell-2-3"/>
          <p:cNvSpPr>
            <a:spLocks noGrp="1"/>
          </p:cNvSpPr>
          <p:nvPr/>
        </p:nvSpPr>
        <p:spPr>
          <a:xfrm>
            <a:off x="8410575" y="327660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5" name="packed-block-grid-cell-2-4"/>
          <p:cNvSpPr>
            <a:spLocks noGrp="1"/>
          </p:cNvSpPr>
          <p:nvPr/>
        </p:nvSpPr>
        <p:spPr>
          <a:xfrm>
            <a:off x="8743950" y="327660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6" name="packed-block-grid-cell-2-5"/>
          <p:cNvSpPr>
            <a:spLocks noGrp="1"/>
          </p:cNvSpPr>
          <p:nvPr/>
        </p:nvSpPr>
        <p:spPr>
          <a:xfrm>
            <a:off x="9077325" y="327660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7" name="packed-block-grid-cell-3-0"/>
          <p:cNvSpPr>
            <a:spLocks noGrp="1"/>
          </p:cNvSpPr>
          <p:nvPr/>
        </p:nvSpPr>
        <p:spPr>
          <a:xfrm>
            <a:off x="7410450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8" name="packed-block-grid-cell-3-1"/>
          <p:cNvSpPr>
            <a:spLocks noGrp="1"/>
          </p:cNvSpPr>
          <p:nvPr/>
        </p:nvSpPr>
        <p:spPr>
          <a:xfrm>
            <a:off x="7743825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9" name="packed-block-grid-cell-3-2"/>
          <p:cNvSpPr>
            <a:spLocks noGrp="1"/>
          </p:cNvSpPr>
          <p:nvPr/>
        </p:nvSpPr>
        <p:spPr>
          <a:xfrm>
            <a:off x="8077200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0" name="packed-block-grid-cell-3-3"/>
          <p:cNvSpPr>
            <a:spLocks noGrp="1"/>
          </p:cNvSpPr>
          <p:nvPr/>
        </p:nvSpPr>
        <p:spPr>
          <a:xfrm>
            <a:off x="8410575" y="3609975"/>
            <a:ext cx="323850" cy="3238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1" name="packed-block-grid-cell-3-4"/>
          <p:cNvSpPr>
            <a:spLocks noGrp="1"/>
          </p:cNvSpPr>
          <p:nvPr/>
        </p:nvSpPr>
        <p:spPr>
          <a:xfrm>
            <a:off x="8743950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2" name="packed-block-grid-cell-3-5"/>
          <p:cNvSpPr>
            <a:spLocks noGrp="1"/>
          </p:cNvSpPr>
          <p:nvPr/>
        </p:nvSpPr>
        <p:spPr>
          <a:xfrm>
            <a:off x="9077325" y="360997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3" name="packed-block-grid-cell-4-0"/>
          <p:cNvSpPr>
            <a:spLocks noGrp="1"/>
          </p:cNvSpPr>
          <p:nvPr/>
        </p:nvSpPr>
        <p:spPr>
          <a:xfrm>
            <a:off x="7410450" y="39433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4" name="packed-block-grid-cell-4-1"/>
          <p:cNvSpPr>
            <a:spLocks noGrp="1"/>
          </p:cNvSpPr>
          <p:nvPr/>
        </p:nvSpPr>
        <p:spPr>
          <a:xfrm>
            <a:off x="7743825" y="39433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5" name="packed-block-grid-cell-4-2"/>
          <p:cNvSpPr>
            <a:spLocks noGrp="1"/>
          </p:cNvSpPr>
          <p:nvPr/>
        </p:nvSpPr>
        <p:spPr>
          <a:xfrm>
            <a:off x="8077200" y="39433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6" name="packed-block-grid-cell-4-3"/>
          <p:cNvSpPr>
            <a:spLocks noGrp="1"/>
          </p:cNvSpPr>
          <p:nvPr/>
        </p:nvSpPr>
        <p:spPr>
          <a:xfrm>
            <a:off x="8410575" y="3943350"/>
            <a:ext cx="323850" cy="3238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7" name="packed-block-grid-cell-4-4"/>
          <p:cNvSpPr>
            <a:spLocks noGrp="1"/>
          </p:cNvSpPr>
          <p:nvPr/>
        </p:nvSpPr>
        <p:spPr>
          <a:xfrm>
            <a:off x="8743950" y="3943350"/>
            <a:ext cx="323850" cy="3238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8" name="packed-block-grid-cell-4-5"/>
          <p:cNvSpPr>
            <a:spLocks noGrp="1"/>
          </p:cNvSpPr>
          <p:nvPr/>
        </p:nvSpPr>
        <p:spPr>
          <a:xfrm>
            <a:off x="9077325" y="3943350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9" name="packed-block-grid-cell-5-0"/>
          <p:cNvSpPr>
            <a:spLocks noGrp="1"/>
          </p:cNvSpPr>
          <p:nvPr/>
        </p:nvSpPr>
        <p:spPr>
          <a:xfrm>
            <a:off x="7410450" y="42767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0" name="packed-block-grid-cell-5-1"/>
          <p:cNvSpPr>
            <a:spLocks noGrp="1"/>
          </p:cNvSpPr>
          <p:nvPr/>
        </p:nvSpPr>
        <p:spPr>
          <a:xfrm>
            <a:off x="7743825" y="42767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1" name="packed-block-grid-cell-5-2"/>
          <p:cNvSpPr>
            <a:spLocks noGrp="1"/>
          </p:cNvSpPr>
          <p:nvPr/>
        </p:nvSpPr>
        <p:spPr>
          <a:xfrm>
            <a:off x="8077200" y="4276725"/>
            <a:ext cx="323850" cy="3238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2" name="packed-block-grid-cell-5-3"/>
          <p:cNvSpPr>
            <a:spLocks noGrp="1"/>
          </p:cNvSpPr>
          <p:nvPr/>
        </p:nvSpPr>
        <p:spPr>
          <a:xfrm>
            <a:off x="8410575" y="4276725"/>
            <a:ext cx="323850" cy="3238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3" name="packed-block-grid-cell-5-4"/>
          <p:cNvSpPr>
            <a:spLocks noGrp="1"/>
          </p:cNvSpPr>
          <p:nvPr/>
        </p:nvSpPr>
        <p:spPr>
          <a:xfrm>
            <a:off x="8743950" y="4276725"/>
            <a:ext cx="323850" cy="3238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4" name="packed-block-grid-cell-5-5"/>
          <p:cNvSpPr>
            <a:spLocks noGrp="1"/>
          </p:cNvSpPr>
          <p:nvPr/>
        </p:nvSpPr>
        <p:spPr>
          <a:xfrm>
            <a:off x="9077325" y="4276725"/>
            <a:ext cx="323850" cy="3238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5" name="packed-block-grid-col-0"/>
          <p:cNvSpPr>
            <a:spLocks noGrp="1"/>
          </p:cNvSpPr>
          <p:nvPr/>
        </p:nvSpPr>
        <p:spPr>
          <a:xfrm>
            <a:off x="7410450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6" name="packed-block-grid-row-0"/>
          <p:cNvSpPr>
            <a:spLocks noGrp="1"/>
          </p:cNvSpPr>
          <p:nvPr/>
        </p:nvSpPr>
        <p:spPr>
          <a:xfrm>
            <a:off x="7048500" y="2638425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7" name="packed-block-grid-col-1"/>
          <p:cNvSpPr>
            <a:spLocks noGrp="1"/>
          </p:cNvSpPr>
          <p:nvPr/>
        </p:nvSpPr>
        <p:spPr>
          <a:xfrm>
            <a:off x="7743825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8" name="packed-block-grid-row-1"/>
          <p:cNvSpPr>
            <a:spLocks noGrp="1"/>
          </p:cNvSpPr>
          <p:nvPr/>
        </p:nvSpPr>
        <p:spPr>
          <a:xfrm>
            <a:off x="7048500" y="2971800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9" name="packed-block-grid-col-2"/>
          <p:cNvSpPr>
            <a:spLocks noGrp="1"/>
          </p:cNvSpPr>
          <p:nvPr/>
        </p:nvSpPr>
        <p:spPr>
          <a:xfrm>
            <a:off x="8077200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packed-block-grid-row-2"/>
          <p:cNvSpPr>
            <a:spLocks noGrp="1"/>
          </p:cNvSpPr>
          <p:nvPr/>
        </p:nvSpPr>
        <p:spPr>
          <a:xfrm>
            <a:off x="7048500" y="3305175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1" name="packed-block-grid-col-3"/>
          <p:cNvSpPr>
            <a:spLocks noGrp="1"/>
          </p:cNvSpPr>
          <p:nvPr/>
        </p:nvSpPr>
        <p:spPr>
          <a:xfrm>
            <a:off x="8410575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packed-block-grid-row-3"/>
          <p:cNvSpPr>
            <a:spLocks noGrp="1"/>
          </p:cNvSpPr>
          <p:nvPr/>
        </p:nvSpPr>
        <p:spPr>
          <a:xfrm>
            <a:off x="7048500" y="3638550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packed-block-grid-col-4"/>
          <p:cNvSpPr>
            <a:spLocks noGrp="1"/>
          </p:cNvSpPr>
          <p:nvPr/>
        </p:nvSpPr>
        <p:spPr>
          <a:xfrm>
            <a:off x="8743950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packed-block-grid-row-4"/>
          <p:cNvSpPr>
            <a:spLocks noGrp="1"/>
          </p:cNvSpPr>
          <p:nvPr/>
        </p:nvSpPr>
        <p:spPr>
          <a:xfrm>
            <a:off x="7048500" y="3971925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packed-block-grid-col-5"/>
          <p:cNvSpPr>
            <a:spLocks noGrp="1"/>
          </p:cNvSpPr>
          <p:nvPr/>
        </p:nvSpPr>
        <p:spPr>
          <a:xfrm>
            <a:off x="9077325" y="23526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6" name="packed-block-grid-row-5"/>
          <p:cNvSpPr>
            <a:spLocks noGrp="1"/>
          </p:cNvSpPr>
          <p:nvPr/>
        </p:nvSpPr>
        <p:spPr>
          <a:xfrm>
            <a:off x="7048500" y="4305300"/>
            <a:ext cx="323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B2</a:t>
            </a:r>
            <a:endParaRPr sz="9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packed-block-grid-q-label"/>
          <p:cNvSpPr>
            <a:spLocks noGrp="1"/>
          </p:cNvSpPr>
          <p:nvPr/>
        </p:nvSpPr>
        <p:spPr>
          <a:xfrm>
            <a:off x="7010400" y="46577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Q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8" name="packed-block-grid-k-label"/>
          <p:cNvSpPr>
            <a:spLocks noGrp="1"/>
          </p:cNvSpPr>
          <p:nvPr/>
        </p:nvSpPr>
        <p:spPr>
          <a:xfrm>
            <a:off x="9220200" y="2124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K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9" name="packed-block-explain"/>
          <p:cNvSpPr>
            <a:spLocks noGrp="1"/>
          </p:cNvSpPr>
          <p:nvPr/>
        </p:nvSpPr>
        <p:spPr>
          <a:xfrm>
            <a:off x="6667500" y="48101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958"/>
          </a:bodyPr>
          <a:lstStyle/>
          <a:p>
            <a:pPr algn="ctr">
              <a:buNone/>
              <a:defRPr sz="12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块外全部不可见；每个块内部仍是 causal 下三角</a:t>
            </a:r>
            <a:endParaRPr sz="12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→ 语义先正确，再谈性能</a:t>
            </a:r>
            <a:endParaRPr sz="12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0" name="packed-boundary-note"/>
          <p:cNvSpPr>
            <a:spLocks noGrp="1"/>
          </p:cNvSpPr>
          <p:nvPr/>
        </p:nvSpPr>
        <p:spPr>
          <a:xfrm>
            <a:off x="685800" y="5619750"/>
            <a:ext cx="10820400" cy="419100"/>
          </a:xfrm>
          <a:prstGeom prst="roundRect">
            <a:avLst>
              <a:gd name="adj" fmla="val 22727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EOS 只结束消息；position reset 保留边界信号；labels=-100 只影响 Loss。样本级边界要进入 metadata。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样本边界如何到达 kernel：positions → cu_seq → actual_seq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boundary-lane-label"/>
          <p:cNvSpPr>
            <a:spLocks noGrp="1"/>
          </p:cNvSpPr>
          <p:nvPr/>
        </p:nvSpPr>
        <p:spPr>
          <a:xfrm>
            <a:off x="685800" y="14573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边界 metadata</a:t>
            </a:r>
            <a:endParaRPr sz="13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positions-node"/>
          <p:cNvSpPr>
            <a:spLocks noGrp="1"/>
          </p:cNvSpPr>
          <p:nvPr/>
        </p:nvSpPr>
        <p:spPr>
          <a:xfrm>
            <a:off x="685800" y="1809750"/>
            <a:ext cx="1905000" cy="838200"/>
          </a:xfrm>
          <a:prstGeom prst="roundRect">
            <a:avLst>
              <a:gd name="adj" fmla="val 11364"/>
            </a:avLst>
          </a:prstGeom>
          <a:solidFill>
            <a:srgbClr val="EAF2FF"/>
          </a:solidFill>
          <a:ln w="9525">
            <a:solidFill>
              <a:srgbClr val="B7CE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positions</a:t>
            </a:r>
            <a:endParaRPr sz="13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0 1 2 | 0 1 | 0 1 2</a:t>
            </a:r>
            <a:endParaRPr sz="13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positions-arrow"/>
          <p:cNvSpPr>
            <a:spLocks noGrp="1"/>
          </p:cNvSpPr>
          <p:nvPr/>
        </p:nvSpPr>
        <p:spPr>
          <a:xfrm>
            <a:off x="2667000" y="20478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7023"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tarts-node"/>
          <p:cNvSpPr>
            <a:spLocks noGrp="1"/>
          </p:cNvSpPr>
          <p:nvPr/>
        </p:nvSpPr>
        <p:spPr>
          <a:xfrm>
            <a:off x="2971800" y="1809750"/>
            <a:ext cx="1905000" cy="838200"/>
          </a:xfrm>
          <a:prstGeom prst="roundRect">
            <a:avLst>
              <a:gd name="adj" fmla="val 11364"/>
            </a:avLst>
          </a:prstGeom>
          <a:solidFill>
            <a:srgbClr val="FFF3E4"/>
          </a:solidFill>
          <a:ln w="9525">
            <a:solidFill>
              <a:srgbClr val="F6C98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rPr>
              <a:t>starts = [0, 3, 5]</a:t>
            </a:r>
            <a:endParaRPr sz="1350" b="1">
              <a:solidFill>
                <a:srgbClr val="F28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rPr>
              <a:t>找到每段起点</a:t>
            </a:r>
            <a:endParaRPr sz="1350" b="1">
              <a:solidFill>
                <a:srgbClr val="F28C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starts-arrow"/>
          <p:cNvSpPr>
            <a:spLocks noGrp="1"/>
          </p:cNvSpPr>
          <p:nvPr/>
        </p:nvSpPr>
        <p:spPr>
          <a:xfrm>
            <a:off x="4953000" y="20478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7023"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lengths-node"/>
          <p:cNvSpPr>
            <a:spLocks noGrp="1"/>
          </p:cNvSpPr>
          <p:nvPr/>
        </p:nvSpPr>
        <p:spPr>
          <a:xfrm>
            <a:off x="5257800" y="1809750"/>
            <a:ext cx="1905000" cy="838200"/>
          </a:xfrm>
          <a:prstGeom prst="roundRect">
            <a:avLst>
              <a:gd name="adj" fmla="val 11364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lengths = [3, 2, 3]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相邻起点做差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lengths-arrow"/>
          <p:cNvSpPr>
            <a:spLocks noGrp="1"/>
          </p:cNvSpPr>
          <p:nvPr/>
        </p:nvSpPr>
        <p:spPr>
          <a:xfrm>
            <a:off x="7239000" y="20478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7023"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useq-node"/>
          <p:cNvSpPr>
            <a:spLocks noGrp="1"/>
          </p:cNvSpPr>
          <p:nvPr/>
        </p:nvSpPr>
        <p:spPr>
          <a:xfrm>
            <a:off x="7543800" y="1809750"/>
            <a:ext cx="2095500" cy="838200"/>
          </a:xfrm>
          <a:prstGeom prst="roundRect">
            <a:avLst>
              <a:gd name="adj" fmla="val 11364"/>
            </a:avLst>
          </a:prstGeom>
          <a:solidFill>
            <a:srgbClr val="F5EDFA"/>
          </a:solidFill>
          <a:ln w="9525">
            <a:solidFill>
              <a:srgbClr val="D7B9E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cu_seq = [0, 3, 5, 8]</a:t>
            </a:r>
            <a:endParaRPr sz="13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累计长度</a:t>
            </a:r>
            <a:endParaRPr sz="13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cuseq-arrow"/>
          <p:cNvSpPr>
            <a:spLocks noGrp="1"/>
          </p:cNvSpPr>
          <p:nvPr/>
        </p:nvSpPr>
        <p:spPr>
          <a:xfrm>
            <a:off x="9715500" y="20478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7023"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actual-node"/>
          <p:cNvSpPr>
            <a:spLocks noGrp="1"/>
          </p:cNvSpPr>
          <p:nvPr/>
        </p:nvSpPr>
        <p:spPr>
          <a:xfrm>
            <a:off x="10020300" y="1809750"/>
            <a:ext cx="1485900" cy="838200"/>
          </a:xfrm>
          <a:prstGeom prst="roundRect">
            <a:avLst>
              <a:gd name="adj" fmla="val 11364"/>
            </a:avLst>
          </a:prstGeom>
          <a:solidFill>
            <a:srgbClr val="FFF3E4"/>
          </a:solidFill>
          <a:ln w="9525">
            <a:solidFill>
              <a:srgbClr val="F6C98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20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rPr>
              <a:t>actual_seq</a:t>
            </a:r>
            <a:endParaRPr sz="1200" b="1">
              <a:solidFill>
                <a:srgbClr val="F28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0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8C00"/>
                </a:solidFill>
                <a:latin typeface="微软雅黑"/>
                <a:ea typeface="微软雅黑"/>
                <a:cs typeface="微软雅黑"/>
              </a:rPr>
              <a:t>[3, 5, 8]</a:t>
            </a:r>
            <a:endParaRPr sz="1200" b="1">
              <a:solidFill>
                <a:srgbClr val="F28C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nsor-lane-label"/>
          <p:cNvSpPr>
            <a:spLocks noGrp="1"/>
          </p:cNvSpPr>
          <p:nvPr/>
        </p:nvSpPr>
        <p:spPr>
          <a:xfrm>
            <a:off x="685800" y="31432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张量 layout</a:t>
            </a:r>
            <a:endParaRPr sz="13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bsnd-node"/>
          <p:cNvSpPr>
            <a:spLocks noGrp="1"/>
          </p:cNvSpPr>
          <p:nvPr/>
        </p:nvSpPr>
        <p:spPr>
          <a:xfrm>
            <a:off x="685800" y="3524250"/>
            <a:ext cx="2381250" cy="9525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9525">
            <a:solidFill>
              <a:srgbClr val="B7CE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Q / K / V</a:t>
            </a:r>
            <a:endParaRPr sz="150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50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[B, S, N, D]</a:t>
            </a:r>
            <a:endParaRPr sz="150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bsnd-arrow"/>
          <p:cNvSpPr>
            <a:spLocks noGrp="1"/>
          </p:cNvSpPr>
          <p:nvPr/>
        </p:nvSpPr>
        <p:spPr>
          <a:xfrm>
            <a:off x="3181350" y="384810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685"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nd-node"/>
          <p:cNvSpPr>
            <a:spLocks noGrp="1"/>
          </p:cNvSpPr>
          <p:nvPr/>
        </p:nvSpPr>
        <p:spPr>
          <a:xfrm>
            <a:off x="3524250" y="3524250"/>
            <a:ext cx="2381250" cy="9525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9525">
            <a:solidFill>
              <a:srgbClr val="B7CE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reshape / flatten</a:t>
            </a:r>
            <a:endParaRPr sz="13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[T, N, D]，T = B×S</a:t>
            </a:r>
            <a:endParaRPr sz="13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nd-arrow"/>
          <p:cNvSpPr>
            <a:spLocks noGrp="1"/>
          </p:cNvSpPr>
          <p:nvPr/>
        </p:nvSpPr>
        <p:spPr>
          <a:xfrm>
            <a:off x="6019800" y="384810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685"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kernel-node"/>
          <p:cNvSpPr>
            <a:spLocks noGrp="1"/>
          </p:cNvSpPr>
          <p:nvPr/>
        </p:nvSpPr>
        <p:spPr>
          <a:xfrm>
            <a:off x="6381750" y="3333750"/>
            <a:ext cx="2476500" cy="1333500"/>
          </a:xfrm>
          <a:prstGeom prst="roundRect">
            <a:avLst>
              <a:gd name="adj" fmla="val 7143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FA v3 Kernel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input_layout = TND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actual_seq + sparse_mode = 7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merge-label"/>
          <p:cNvSpPr>
            <a:spLocks noGrp="1"/>
          </p:cNvSpPr>
          <p:nvPr/>
        </p:nvSpPr>
        <p:spPr>
          <a:xfrm>
            <a:off x="6762750" y="29527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actual_seq + TND → FA v3</a:t>
            </a:r>
            <a:endParaRPr sz="12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boundary-caveat"/>
          <p:cNvSpPr>
            <a:spLocks noGrp="1"/>
          </p:cNvSpPr>
          <p:nvPr/>
        </p:nvSpPr>
        <p:spPr>
          <a:xfrm>
            <a:off x="685800" y="4905375"/>
            <a:ext cx="10820400" cy="495300"/>
          </a:xfrm>
          <a:prstGeom prst="roundRect">
            <a:avLst>
              <a:gd name="adj" fmla="val 19231"/>
            </a:avLst>
          </a:prstGeom>
          <a:solidFill>
            <a:srgbClr val="FFF3E4"/>
          </a:solidFill>
          <a:ln w="9525">
            <a:solidFill>
              <a:srgbClr val="F6C98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positions 只标记新段起点；cu_seq 描述区间；TND 描述 token layout。三者在 FA v3 入口汇合。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version-caveat"/>
          <p:cNvSpPr>
            <a:spLocks noGrp="1"/>
          </p:cNvSpPr>
          <p:nvPr/>
        </p:nvSpPr>
        <p:spPr>
          <a:xfrm>
            <a:off x="685800" y="5600700"/>
            <a:ext cx="10820400" cy="419100"/>
          </a:xfrm>
          <a:prstGeom prst="roundRect">
            <a:avLst>
              <a:gd name="adj" fmla="val 22727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position reset 不等于 TND；trainer 必须生成 cu_seq，kernel 才能按段处理。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FA v3 入口要同时看到 TND、actual_seq 与 sparse_mode=7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图片 23"/>
          <p:cNvPicPr>
            <a:picLocks noChangeAspect="1"/>
          </p:cNvPicPr>
          <p:nvPr/>
        </p:nvPicPr>
        <p:blipFill>
          <a:blip r:embed="rId2"/>
          <a:srcRect l="3333" r="3333"/>
          <a:stretch>
            <a:fillRect/>
          </a:stretch>
        </p:blipFill>
        <p:spPr>
          <a:xfrm>
            <a:off x="685800" y="1524000"/>
            <a:ext cx="6667500" cy="400050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7620000" y="1524000"/>
            <a:ext cx="3886200" cy="1257300"/>
          </a:xfrm>
          <a:prstGeom prst="roundRect">
            <a:avLst>
              <a:gd name="adj" fmla="val 1071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Q/K/V</a:t>
            </a:r>
            <a:endParaRPr sz="13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[B, S, N, D] → [T, N, D]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TND 是 token-major layout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0000" y="2895600"/>
            <a:ext cx="3886200" cy="1257300"/>
          </a:xfrm>
          <a:prstGeom prst="roundRect">
            <a:avLst>
              <a:gd name="adj" fmla="val 1071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cu_seq</a:t>
            </a:r>
            <a:endParaRPr sz="13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[0, 3, 6, 8] → actual_seq [3, 6, 8]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边界契约由 trainer 生成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20000" y="4267200"/>
            <a:ext cx="3886200" cy="1257300"/>
          </a:xfrm>
          <a:prstGeom prst="roundRect">
            <a:avLst>
              <a:gd name="adj" fmla="val 1071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FA v3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input_layout = TND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sparse_mode = 7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56769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当前 Wrapper 按区间隔离 padding，但在 Q/K/V 前没有删除 padding token；TND 不是 compact。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ucbohh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第5章 注意力算子优化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ucbohh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切换到 VarLen 不是改一个开关：模块、边界和 kernel 必须同时匹配。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ucbohh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ucbohh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1｜数学/API 层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ucbohh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SDPA 表达 softmax(QKᵀ/√D+M)V；它描述“算什么”，不保证固定 kernel。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ucbohh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ucbohh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2｜模型配置层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ucbohh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inner_attention 选择模块；mask_type 表达 packed 样本的可见性语义。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ucbohh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ucbohh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3｜Dispatcher 层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ucbohh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device、dtype、shape、layout、mask 共同决定候选实现；枚举名不能替代 trace。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ucbohh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ucbohh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4｜设备 Kernel 层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ucbohh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NPUVarlenAttention.forward() 将 TND、actual_seq、sparse_mode=7 交给 FusionAttention V3。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ucbohh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ucbohh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完成标准：metadata 有人生产、模块能消费、device trace 命中预期 kernel。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20201" y="6130454"/>
            <a:ext cx="599376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</a:rPr>
              <a:t>https://gitcode.com/cann/cann-learning-hub/tree/master/tutorials/sft_training_pipeline/06_varlen_attention</a:t>
            </a:r>
            <a:endParaRPr lang="en-US" altLang="zh-CN"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2190750"/>
            <a:ext cx="2857500" cy="1714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SFT性能优化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进阶课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4095750" y="1962150"/>
            <a:ext cx="0" cy="2343150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762500" y="195262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第5章  注意力算子优化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762500" y="266700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第6章  变长注意力优化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62500" y="338137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第7章  分布式通信演示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762500" y="409575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第8章  通信优化与 VarLen 协同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2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第6章 变长注意力优化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验证路线：先通过 correctness gate，再比较 Packing 与 Attention backend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te-panel-0"/>
          <p:cNvSpPr>
            <a:spLocks noGrp="1"/>
          </p:cNvSpPr>
          <p:nvPr/>
        </p:nvSpPr>
        <p:spPr>
          <a:xfrm>
            <a:off x="685800" y="1476375"/>
            <a:ext cx="5105400" cy="1866900"/>
          </a:xfrm>
          <a:prstGeom prst="roundRect">
            <a:avLst>
              <a:gd name="adj" fmla="val 6122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</p:sp>
      <p:sp>
        <p:nvSpPr>
          <p:cNvPr id="35" name="route-title-0"/>
          <p:cNvSpPr>
            <a:spLocks noGrp="1"/>
          </p:cNvSpPr>
          <p:nvPr/>
        </p:nvSpPr>
        <p:spPr>
          <a:xfrm>
            <a:off x="857250" y="15906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A  Greedy + Causal（错误，仅作泄漏演示）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te-grid-0-cell-0-0"/>
          <p:cNvSpPr>
            <a:spLocks noGrp="1"/>
          </p:cNvSpPr>
          <p:nvPr/>
        </p:nvSpPr>
        <p:spPr>
          <a:xfrm>
            <a:off x="1047750" y="220027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7" name="route-grid-0-cell-0-1"/>
          <p:cNvSpPr>
            <a:spLocks noGrp="1"/>
          </p:cNvSpPr>
          <p:nvPr/>
        </p:nvSpPr>
        <p:spPr>
          <a:xfrm>
            <a:off x="1266825" y="22002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8" name="route-grid-0-cell-0-2"/>
          <p:cNvSpPr>
            <a:spLocks noGrp="1"/>
          </p:cNvSpPr>
          <p:nvPr/>
        </p:nvSpPr>
        <p:spPr>
          <a:xfrm>
            <a:off x="1485900" y="22002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9" name="route-grid-0-cell-0-3"/>
          <p:cNvSpPr>
            <a:spLocks noGrp="1"/>
          </p:cNvSpPr>
          <p:nvPr/>
        </p:nvSpPr>
        <p:spPr>
          <a:xfrm>
            <a:off x="1704975" y="22002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0" name="route-grid-0-cell-1-0"/>
          <p:cNvSpPr>
            <a:spLocks noGrp="1"/>
          </p:cNvSpPr>
          <p:nvPr/>
        </p:nvSpPr>
        <p:spPr>
          <a:xfrm>
            <a:off x="1047750" y="241935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1" name="route-grid-0-cell-1-1"/>
          <p:cNvSpPr>
            <a:spLocks noGrp="1"/>
          </p:cNvSpPr>
          <p:nvPr/>
        </p:nvSpPr>
        <p:spPr>
          <a:xfrm>
            <a:off x="1266825" y="241935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2" name="route-grid-0-cell-1-2"/>
          <p:cNvSpPr>
            <a:spLocks noGrp="1"/>
          </p:cNvSpPr>
          <p:nvPr/>
        </p:nvSpPr>
        <p:spPr>
          <a:xfrm>
            <a:off x="1485900" y="24193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3" name="route-grid-0-cell-1-3"/>
          <p:cNvSpPr>
            <a:spLocks noGrp="1"/>
          </p:cNvSpPr>
          <p:nvPr/>
        </p:nvSpPr>
        <p:spPr>
          <a:xfrm>
            <a:off x="1704975" y="24193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4" name="route-grid-0-cell-2-0"/>
          <p:cNvSpPr>
            <a:spLocks noGrp="1"/>
          </p:cNvSpPr>
          <p:nvPr/>
        </p:nvSpPr>
        <p:spPr>
          <a:xfrm>
            <a:off x="1047750" y="2638425"/>
            <a:ext cx="209550" cy="2095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5" name="route-grid-0-cell-2-1"/>
          <p:cNvSpPr>
            <a:spLocks noGrp="1"/>
          </p:cNvSpPr>
          <p:nvPr/>
        </p:nvSpPr>
        <p:spPr>
          <a:xfrm>
            <a:off x="1266825" y="2638425"/>
            <a:ext cx="209550" cy="2095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6" name="route-grid-0-cell-2-2"/>
          <p:cNvSpPr>
            <a:spLocks noGrp="1"/>
          </p:cNvSpPr>
          <p:nvPr/>
        </p:nvSpPr>
        <p:spPr>
          <a:xfrm>
            <a:off x="1485900" y="26384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7" name="route-grid-0-cell-2-3"/>
          <p:cNvSpPr>
            <a:spLocks noGrp="1"/>
          </p:cNvSpPr>
          <p:nvPr/>
        </p:nvSpPr>
        <p:spPr>
          <a:xfrm>
            <a:off x="1704975" y="263842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8" name="route-grid-0-cell-3-0"/>
          <p:cNvSpPr>
            <a:spLocks noGrp="1"/>
          </p:cNvSpPr>
          <p:nvPr/>
        </p:nvSpPr>
        <p:spPr>
          <a:xfrm>
            <a:off x="1047750" y="2857500"/>
            <a:ext cx="209550" cy="2095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9" name="route-grid-0-cell-3-1"/>
          <p:cNvSpPr>
            <a:spLocks noGrp="1"/>
          </p:cNvSpPr>
          <p:nvPr/>
        </p:nvSpPr>
        <p:spPr>
          <a:xfrm>
            <a:off x="1266825" y="2857500"/>
            <a:ext cx="209550" cy="209550"/>
          </a:xfrm>
          <a:prstGeom prst="rect">
            <a:avLst/>
          </a:prstGeom>
          <a:solidFill>
            <a:srgbClr val="E60012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0" name="route-grid-0-cell-3-2"/>
          <p:cNvSpPr>
            <a:spLocks noGrp="1"/>
          </p:cNvSpPr>
          <p:nvPr/>
        </p:nvSpPr>
        <p:spPr>
          <a:xfrm>
            <a:off x="1485900" y="285750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1" name="route-grid-0-cell-3-3"/>
          <p:cNvSpPr>
            <a:spLocks noGrp="1"/>
          </p:cNvSpPr>
          <p:nvPr/>
        </p:nvSpPr>
        <p:spPr>
          <a:xfrm>
            <a:off x="1704975" y="285750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2" name="route-grid-0-col-0"/>
          <p:cNvSpPr>
            <a:spLocks noGrp="1"/>
          </p:cNvSpPr>
          <p:nvPr/>
        </p:nvSpPr>
        <p:spPr>
          <a:xfrm>
            <a:off x="1047750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oute-grid-0-row-0"/>
          <p:cNvSpPr>
            <a:spLocks noGrp="1"/>
          </p:cNvSpPr>
          <p:nvPr/>
        </p:nvSpPr>
        <p:spPr>
          <a:xfrm>
            <a:off x="685800" y="222885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oute-grid-0-col-1"/>
          <p:cNvSpPr>
            <a:spLocks noGrp="1"/>
          </p:cNvSpPr>
          <p:nvPr/>
        </p:nvSpPr>
        <p:spPr>
          <a:xfrm>
            <a:off x="1266825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oute-grid-0-row-1"/>
          <p:cNvSpPr>
            <a:spLocks noGrp="1"/>
          </p:cNvSpPr>
          <p:nvPr/>
        </p:nvSpPr>
        <p:spPr>
          <a:xfrm>
            <a:off x="685800" y="244792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route-grid-0-col-2"/>
          <p:cNvSpPr>
            <a:spLocks noGrp="1"/>
          </p:cNvSpPr>
          <p:nvPr/>
        </p:nvSpPr>
        <p:spPr>
          <a:xfrm>
            <a:off x="1485900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route-grid-0-row-2"/>
          <p:cNvSpPr>
            <a:spLocks noGrp="1"/>
          </p:cNvSpPr>
          <p:nvPr/>
        </p:nvSpPr>
        <p:spPr>
          <a:xfrm>
            <a:off x="685800" y="266700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oute-grid-0-col-3"/>
          <p:cNvSpPr>
            <a:spLocks noGrp="1"/>
          </p:cNvSpPr>
          <p:nvPr/>
        </p:nvSpPr>
        <p:spPr>
          <a:xfrm>
            <a:off x="1704975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route-grid-0-row-3"/>
          <p:cNvSpPr>
            <a:spLocks noGrp="1"/>
          </p:cNvSpPr>
          <p:nvPr/>
        </p:nvSpPr>
        <p:spPr>
          <a:xfrm>
            <a:off x="685800" y="288607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7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route-grid-0-q-label"/>
          <p:cNvSpPr>
            <a:spLocks noGrp="1"/>
          </p:cNvSpPr>
          <p:nvPr/>
        </p:nvSpPr>
        <p:spPr>
          <a:xfrm>
            <a:off x="647700" y="3124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Q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route-grid-0-k-label"/>
          <p:cNvSpPr>
            <a:spLocks noGrp="1"/>
          </p:cNvSpPr>
          <p:nvPr/>
        </p:nvSpPr>
        <p:spPr>
          <a:xfrm>
            <a:off x="1733550" y="171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K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route-body-0"/>
          <p:cNvSpPr>
            <a:spLocks noGrp="1"/>
          </p:cNvSpPr>
          <p:nvPr/>
        </p:nvSpPr>
        <p:spPr>
          <a:xfrm>
            <a:off x="2305050" y="2219325"/>
            <a:ext cx="320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一个大下三角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跨样本可见，只用于错误演示。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oute-panel-1"/>
          <p:cNvSpPr>
            <a:spLocks noGrp="1"/>
          </p:cNvSpPr>
          <p:nvPr/>
        </p:nvSpPr>
        <p:spPr>
          <a:xfrm>
            <a:off x="6096000" y="1476375"/>
            <a:ext cx="5105400" cy="1866900"/>
          </a:xfrm>
          <a:prstGeom prst="roundRect">
            <a:avLst>
              <a:gd name="adj" fmla="val 6122"/>
            </a:avLst>
          </a:prstGeom>
          <a:solidFill>
            <a:srgbClr val="EAF2FF"/>
          </a:solidFill>
          <a:ln w="9525">
            <a:solidFill>
              <a:srgbClr val="B7CEFF"/>
            </a:solidFill>
            <a:prstDash val="solid"/>
          </a:ln>
        </p:spPr>
      </p:sp>
      <p:sp>
        <p:nvSpPr>
          <p:cNvPr id="64" name="route-title-1"/>
          <p:cNvSpPr>
            <a:spLocks noGrp="1"/>
          </p:cNvSpPr>
          <p:nvPr/>
        </p:nvSpPr>
        <p:spPr>
          <a:xfrm>
            <a:off x="6267450" y="15906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B  Non-greedy + Causal（正确参考）</a:t>
            </a:r>
            <a:endParaRPr sz="1275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route-grid-1-cell-0-0"/>
          <p:cNvSpPr>
            <a:spLocks noGrp="1"/>
          </p:cNvSpPr>
          <p:nvPr/>
        </p:nvSpPr>
        <p:spPr>
          <a:xfrm>
            <a:off x="6457950" y="220027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6" name="route-grid-1-cell-0-1"/>
          <p:cNvSpPr>
            <a:spLocks noGrp="1"/>
          </p:cNvSpPr>
          <p:nvPr/>
        </p:nvSpPr>
        <p:spPr>
          <a:xfrm>
            <a:off x="6677025" y="22002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7" name="route-grid-1-cell-0-2"/>
          <p:cNvSpPr>
            <a:spLocks noGrp="1"/>
          </p:cNvSpPr>
          <p:nvPr/>
        </p:nvSpPr>
        <p:spPr>
          <a:xfrm>
            <a:off x="6896100" y="22002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8" name="route-grid-1-cell-0-3"/>
          <p:cNvSpPr>
            <a:spLocks noGrp="1"/>
          </p:cNvSpPr>
          <p:nvPr/>
        </p:nvSpPr>
        <p:spPr>
          <a:xfrm>
            <a:off x="7115175" y="22002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9" name="route-grid-1-cell-1-0"/>
          <p:cNvSpPr>
            <a:spLocks noGrp="1"/>
          </p:cNvSpPr>
          <p:nvPr/>
        </p:nvSpPr>
        <p:spPr>
          <a:xfrm>
            <a:off x="6457950" y="241935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0" name="route-grid-1-cell-1-1"/>
          <p:cNvSpPr>
            <a:spLocks noGrp="1"/>
          </p:cNvSpPr>
          <p:nvPr/>
        </p:nvSpPr>
        <p:spPr>
          <a:xfrm>
            <a:off x="6677025" y="241935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1" name="route-grid-1-cell-1-2"/>
          <p:cNvSpPr>
            <a:spLocks noGrp="1"/>
          </p:cNvSpPr>
          <p:nvPr/>
        </p:nvSpPr>
        <p:spPr>
          <a:xfrm>
            <a:off x="6896100" y="24193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2" name="route-grid-1-cell-1-3"/>
          <p:cNvSpPr>
            <a:spLocks noGrp="1"/>
          </p:cNvSpPr>
          <p:nvPr/>
        </p:nvSpPr>
        <p:spPr>
          <a:xfrm>
            <a:off x="7115175" y="24193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3" name="route-grid-1-cell-2-0"/>
          <p:cNvSpPr>
            <a:spLocks noGrp="1"/>
          </p:cNvSpPr>
          <p:nvPr/>
        </p:nvSpPr>
        <p:spPr>
          <a:xfrm>
            <a:off x="6457950" y="26384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4" name="route-grid-1-cell-2-1"/>
          <p:cNvSpPr>
            <a:spLocks noGrp="1"/>
          </p:cNvSpPr>
          <p:nvPr/>
        </p:nvSpPr>
        <p:spPr>
          <a:xfrm>
            <a:off x="6677025" y="26384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5" name="route-grid-1-cell-2-2"/>
          <p:cNvSpPr>
            <a:spLocks noGrp="1"/>
          </p:cNvSpPr>
          <p:nvPr/>
        </p:nvSpPr>
        <p:spPr>
          <a:xfrm>
            <a:off x="6896100" y="26384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6" name="route-grid-1-cell-2-3"/>
          <p:cNvSpPr>
            <a:spLocks noGrp="1"/>
          </p:cNvSpPr>
          <p:nvPr/>
        </p:nvSpPr>
        <p:spPr>
          <a:xfrm>
            <a:off x="7115175" y="263842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7" name="route-grid-1-cell-3-0"/>
          <p:cNvSpPr>
            <a:spLocks noGrp="1"/>
          </p:cNvSpPr>
          <p:nvPr/>
        </p:nvSpPr>
        <p:spPr>
          <a:xfrm>
            <a:off x="6457950" y="285750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8" name="route-grid-1-cell-3-1"/>
          <p:cNvSpPr>
            <a:spLocks noGrp="1"/>
          </p:cNvSpPr>
          <p:nvPr/>
        </p:nvSpPr>
        <p:spPr>
          <a:xfrm>
            <a:off x="6677025" y="285750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9" name="route-grid-1-cell-3-2"/>
          <p:cNvSpPr>
            <a:spLocks noGrp="1"/>
          </p:cNvSpPr>
          <p:nvPr/>
        </p:nvSpPr>
        <p:spPr>
          <a:xfrm>
            <a:off x="6896100" y="285750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80" name="route-grid-1-cell-3-3"/>
          <p:cNvSpPr>
            <a:spLocks noGrp="1"/>
          </p:cNvSpPr>
          <p:nvPr/>
        </p:nvSpPr>
        <p:spPr>
          <a:xfrm>
            <a:off x="7115175" y="285750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81" name="route-grid-1-col-0"/>
          <p:cNvSpPr>
            <a:spLocks noGrp="1"/>
          </p:cNvSpPr>
          <p:nvPr/>
        </p:nvSpPr>
        <p:spPr>
          <a:xfrm>
            <a:off x="6457950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route-grid-1-row-0"/>
          <p:cNvSpPr>
            <a:spLocks noGrp="1"/>
          </p:cNvSpPr>
          <p:nvPr/>
        </p:nvSpPr>
        <p:spPr>
          <a:xfrm>
            <a:off x="6096000" y="222885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route-grid-1-col-1"/>
          <p:cNvSpPr>
            <a:spLocks noGrp="1"/>
          </p:cNvSpPr>
          <p:nvPr/>
        </p:nvSpPr>
        <p:spPr>
          <a:xfrm>
            <a:off x="6677025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route-grid-1-row-1"/>
          <p:cNvSpPr>
            <a:spLocks noGrp="1"/>
          </p:cNvSpPr>
          <p:nvPr/>
        </p:nvSpPr>
        <p:spPr>
          <a:xfrm>
            <a:off x="6096000" y="244792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route-grid-1-col-2"/>
          <p:cNvSpPr>
            <a:spLocks noGrp="1"/>
          </p:cNvSpPr>
          <p:nvPr/>
        </p:nvSpPr>
        <p:spPr>
          <a:xfrm>
            <a:off x="6896100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A2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route-grid-1-row-2"/>
          <p:cNvSpPr>
            <a:spLocks noGrp="1"/>
          </p:cNvSpPr>
          <p:nvPr/>
        </p:nvSpPr>
        <p:spPr>
          <a:xfrm>
            <a:off x="6096000" y="266700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A2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route-grid-1-col-3"/>
          <p:cNvSpPr>
            <a:spLocks noGrp="1"/>
          </p:cNvSpPr>
          <p:nvPr/>
        </p:nvSpPr>
        <p:spPr>
          <a:xfrm>
            <a:off x="7115175" y="1943100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A3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8" name="route-grid-1-row-3"/>
          <p:cNvSpPr>
            <a:spLocks noGrp="1"/>
          </p:cNvSpPr>
          <p:nvPr/>
        </p:nvSpPr>
        <p:spPr>
          <a:xfrm>
            <a:off x="6096000" y="288607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A3</a:t>
            </a:r>
            <a:endParaRPr sz="750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route-grid-1-q-label"/>
          <p:cNvSpPr>
            <a:spLocks noGrp="1"/>
          </p:cNvSpPr>
          <p:nvPr/>
        </p:nvSpPr>
        <p:spPr>
          <a:xfrm>
            <a:off x="6057900" y="3124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Q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route-grid-1-k-label"/>
          <p:cNvSpPr>
            <a:spLocks noGrp="1"/>
          </p:cNvSpPr>
          <p:nvPr/>
        </p:nvSpPr>
        <p:spPr>
          <a:xfrm>
            <a:off x="7143750" y="171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K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route-body-1"/>
          <p:cNvSpPr>
            <a:spLocks noGrp="1"/>
          </p:cNvSpPr>
          <p:nvPr/>
        </p:nvSpPr>
        <p:spPr>
          <a:xfrm>
            <a:off x="7715250" y="2219325"/>
            <a:ext cx="320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一个 container 只有一条样本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其余槽位是 padding，语义正确。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route-panel-2"/>
          <p:cNvSpPr>
            <a:spLocks noGrp="1"/>
          </p:cNvSpPr>
          <p:nvPr/>
        </p:nvSpPr>
        <p:spPr>
          <a:xfrm>
            <a:off x="685800" y="3638550"/>
            <a:ext cx="5105400" cy="1866900"/>
          </a:xfrm>
          <a:prstGeom prst="roundRect">
            <a:avLst>
              <a:gd name="adj" fmla="val 6122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</p:sp>
      <p:sp>
        <p:nvSpPr>
          <p:cNvPr id="93" name="route-title-2"/>
          <p:cNvSpPr>
            <a:spLocks noGrp="1"/>
          </p:cNvSpPr>
          <p:nvPr/>
        </p:nvSpPr>
        <p:spPr>
          <a:xfrm>
            <a:off x="857250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C  Greedy + Block-Causal（正确 dense）</a:t>
            </a:r>
            <a:endParaRPr sz="127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route-grid-2-cell-0-0"/>
          <p:cNvSpPr>
            <a:spLocks noGrp="1"/>
          </p:cNvSpPr>
          <p:nvPr/>
        </p:nvSpPr>
        <p:spPr>
          <a:xfrm>
            <a:off x="1047750" y="436245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95" name="route-grid-2-cell-0-1"/>
          <p:cNvSpPr>
            <a:spLocks noGrp="1"/>
          </p:cNvSpPr>
          <p:nvPr/>
        </p:nvSpPr>
        <p:spPr>
          <a:xfrm>
            <a:off x="1266825" y="43624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96" name="route-grid-2-cell-0-2"/>
          <p:cNvSpPr>
            <a:spLocks noGrp="1"/>
          </p:cNvSpPr>
          <p:nvPr/>
        </p:nvSpPr>
        <p:spPr>
          <a:xfrm>
            <a:off x="1485900" y="43624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97" name="route-grid-2-cell-0-3"/>
          <p:cNvSpPr>
            <a:spLocks noGrp="1"/>
          </p:cNvSpPr>
          <p:nvPr/>
        </p:nvSpPr>
        <p:spPr>
          <a:xfrm>
            <a:off x="1704975" y="43624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98" name="route-grid-2-cell-1-0"/>
          <p:cNvSpPr>
            <a:spLocks noGrp="1"/>
          </p:cNvSpPr>
          <p:nvPr/>
        </p:nvSpPr>
        <p:spPr>
          <a:xfrm>
            <a:off x="1047750" y="45815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99" name="route-grid-2-cell-1-1"/>
          <p:cNvSpPr>
            <a:spLocks noGrp="1"/>
          </p:cNvSpPr>
          <p:nvPr/>
        </p:nvSpPr>
        <p:spPr>
          <a:xfrm>
            <a:off x="1266825" y="45815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0" name="route-grid-2-cell-1-2"/>
          <p:cNvSpPr>
            <a:spLocks noGrp="1"/>
          </p:cNvSpPr>
          <p:nvPr/>
        </p:nvSpPr>
        <p:spPr>
          <a:xfrm>
            <a:off x="1485900" y="458152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1" name="route-grid-2-cell-1-3"/>
          <p:cNvSpPr>
            <a:spLocks noGrp="1"/>
          </p:cNvSpPr>
          <p:nvPr/>
        </p:nvSpPr>
        <p:spPr>
          <a:xfrm>
            <a:off x="1704975" y="458152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2" name="route-grid-2-cell-2-0"/>
          <p:cNvSpPr>
            <a:spLocks noGrp="1"/>
          </p:cNvSpPr>
          <p:nvPr/>
        </p:nvSpPr>
        <p:spPr>
          <a:xfrm>
            <a:off x="1047750" y="480060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3" name="route-grid-2-cell-2-1"/>
          <p:cNvSpPr>
            <a:spLocks noGrp="1"/>
          </p:cNvSpPr>
          <p:nvPr/>
        </p:nvSpPr>
        <p:spPr>
          <a:xfrm>
            <a:off x="1266825" y="480060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4" name="route-grid-2-cell-2-2"/>
          <p:cNvSpPr>
            <a:spLocks noGrp="1"/>
          </p:cNvSpPr>
          <p:nvPr/>
        </p:nvSpPr>
        <p:spPr>
          <a:xfrm>
            <a:off x="1485900" y="4800600"/>
            <a:ext cx="209550" cy="2095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5" name="route-grid-2-cell-2-3"/>
          <p:cNvSpPr>
            <a:spLocks noGrp="1"/>
          </p:cNvSpPr>
          <p:nvPr/>
        </p:nvSpPr>
        <p:spPr>
          <a:xfrm>
            <a:off x="1704975" y="480060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6" name="route-grid-2-cell-3-0"/>
          <p:cNvSpPr>
            <a:spLocks noGrp="1"/>
          </p:cNvSpPr>
          <p:nvPr/>
        </p:nvSpPr>
        <p:spPr>
          <a:xfrm>
            <a:off x="1047750" y="50196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7" name="route-grid-2-cell-3-1"/>
          <p:cNvSpPr>
            <a:spLocks noGrp="1"/>
          </p:cNvSpPr>
          <p:nvPr/>
        </p:nvSpPr>
        <p:spPr>
          <a:xfrm>
            <a:off x="1266825" y="50196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8" name="route-grid-2-cell-3-2"/>
          <p:cNvSpPr>
            <a:spLocks noGrp="1"/>
          </p:cNvSpPr>
          <p:nvPr/>
        </p:nvSpPr>
        <p:spPr>
          <a:xfrm>
            <a:off x="1485900" y="5019675"/>
            <a:ext cx="209550" cy="2095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9" name="route-grid-2-cell-3-3"/>
          <p:cNvSpPr>
            <a:spLocks noGrp="1"/>
          </p:cNvSpPr>
          <p:nvPr/>
        </p:nvSpPr>
        <p:spPr>
          <a:xfrm>
            <a:off x="1704975" y="5019675"/>
            <a:ext cx="209550" cy="2095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10" name="route-grid-2-col-0"/>
          <p:cNvSpPr>
            <a:spLocks noGrp="1"/>
          </p:cNvSpPr>
          <p:nvPr/>
        </p:nvSpPr>
        <p:spPr>
          <a:xfrm>
            <a:off x="1047750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1" name="route-grid-2-row-0"/>
          <p:cNvSpPr>
            <a:spLocks noGrp="1"/>
          </p:cNvSpPr>
          <p:nvPr/>
        </p:nvSpPr>
        <p:spPr>
          <a:xfrm>
            <a:off x="685800" y="439102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2" name="route-grid-2-col-1"/>
          <p:cNvSpPr>
            <a:spLocks noGrp="1"/>
          </p:cNvSpPr>
          <p:nvPr/>
        </p:nvSpPr>
        <p:spPr>
          <a:xfrm>
            <a:off x="1266825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3" name="route-grid-2-row-1"/>
          <p:cNvSpPr>
            <a:spLocks noGrp="1"/>
          </p:cNvSpPr>
          <p:nvPr/>
        </p:nvSpPr>
        <p:spPr>
          <a:xfrm>
            <a:off x="685800" y="461010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route-grid-2-col-2"/>
          <p:cNvSpPr>
            <a:spLocks noGrp="1"/>
          </p:cNvSpPr>
          <p:nvPr/>
        </p:nvSpPr>
        <p:spPr>
          <a:xfrm>
            <a:off x="1485900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route-grid-2-row-2"/>
          <p:cNvSpPr>
            <a:spLocks noGrp="1"/>
          </p:cNvSpPr>
          <p:nvPr/>
        </p:nvSpPr>
        <p:spPr>
          <a:xfrm>
            <a:off x="685800" y="482917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route-grid-2-col-3"/>
          <p:cNvSpPr>
            <a:spLocks noGrp="1"/>
          </p:cNvSpPr>
          <p:nvPr/>
        </p:nvSpPr>
        <p:spPr>
          <a:xfrm>
            <a:off x="1704975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7" name="route-grid-2-row-3"/>
          <p:cNvSpPr>
            <a:spLocks noGrp="1"/>
          </p:cNvSpPr>
          <p:nvPr/>
        </p:nvSpPr>
        <p:spPr>
          <a:xfrm>
            <a:off x="685800" y="504825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7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8" name="route-grid-2-q-label"/>
          <p:cNvSpPr>
            <a:spLocks noGrp="1"/>
          </p:cNvSpPr>
          <p:nvPr/>
        </p:nvSpPr>
        <p:spPr>
          <a:xfrm>
            <a:off x="647700" y="52863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Q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9" name="route-grid-2-k-label"/>
          <p:cNvSpPr>
            <a:spLocks noGrp="1"/>
          </p:cNvSpPr>
          <p:nvPr/>
        </p:nvSpPr>
        <p:spPr>
          <a:xfrm>
            <a:off x="1733550" y="38766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K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0" name="route-body-2"/>
          <p:cNvSpPr>
            <a:spLocks noGrp="1"/>
          </p:cNvSpPr>
          <p:nvPr/>
        </p:nvSpPr>
        <p:spPr>
          <a:xfrm>
            <a:off x="2305050" y="4381500"/>
            <a:ext cx="320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 container 内是多个对角下三角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适合做 dense backend 基线。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route-panel-3"/>
          <p:cNvSpPr>
            <a:spLocks noGrp="1"/>
          </p:cNvSpPr>
          <p:nvPr/>
        </p:nvSpPr>
        <p:spPr>
          <a:xfrm>
            <a:off x="6096000" y="3638550"/>
            <a:ext cx="5105400" cy="1866900"/>
          </a:xfrm>
          <a:prstGeom prst="roundRect">
            <a:avLst>
              <a:gd name="adj" fmla="val 6122"/>
            </a:avLst>
          </a:prstGeom>
          <a:solidFill>
            <a:srgbClr val="F5EDFA"/>
          </a:solidFill>
          <a:ln w="9525">
            <a:solidFill>
              <a:srgbClr val="D7B9E8"/>
            </a:solidFill>
            <a:prstDash val="solid"/>
          </a:ln>
        </p:spPr>
      </p:sp>
      <p:sp>
        <p:nvSpPr>
          <p:cNvPr id="122" name="route-title-3"/>
          <p:cNvSpPr>
            <a:spLocks noGrp="1"/>
          </p:cNvSpPr>
          <p:nvPr/>
        </p:nvSpPr>
        <p:spPr>
          <a:xfrm>
            <a:off x="6267450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D  Greedy + TND VarLen（正确 sparse）</a:t>
            </a:r>
            <a:endParaRPr sz="1275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3" name="route-grid-3-cell-0-0"/>
          <p:cNvSpPr>
            <a:spLocks noGrp="1"/>
          </p:cNvSpPr>
          <p:nvPr/>
        </p:nvSpPr>
        <p:spPr>
          <a:xfrm>
            <a:off x="6457950" y="4362450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4" name="route-grid-3-cell-0-1"/>
          <p:cNvSpPr>
            <a:spLocks noGrp="1"/>
          </p:cNvSpPr>
          <p:nvPr/>
        </p:nvSpPr>
        <p:spPr>
          <a:xfrm>
            <a:off x="6677025" y="43624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5" name="route-grid-3-cell-0-2"/>
          <p:cNvSpPr>
            <a:spLocks noGrp="1"/>
          </p:cNvSpPr>
          <p:nvPr/>
        </p:nvSpPr>
        <p:spPr>
          <a:xfrm>
            <a:off x="6896100" y="43624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6" name="route-grid-3-cell-0-3"/>
          <p:cNvSpPr>
            <a:spLocks noGrp="1"/>
          </p:cNvSpPr>
          <p:nvPr/>
        </p:nvSpPr>
        <p:spPr>
          <a:xfrm>
            <a:off x="7115175" y="436245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7" name="route-grid-3-cell-1-0"/>
          <p:cNvSpPr>
            <a:spLocks noGrp="1"/>
          </p:cNvSpPr>
          <p:nvPr/>
        </p:nvSpPr>
        <p:spPr>
          <a:xfrm>
            <a:off x="6457950" y="45815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8" name="route-grid-3-cell-1-1"/>
          <p:cNvSpPr>
            <a:spLocks noGrp="1"/>
          </p:cNvSpPr>
          <p:nvPr/>
        </p:nvSpPr>
        <p:spPr>
          <a:xfrm>
            <a:off x="6677025" y="4581525"/>
            <a:ext cx="209550" cy="209550"/>
          </a:xfrm>
          <a:prstGeom prst="rect">
            <a:avLst/>
          </a:prstGeom>
          <a:solidFill>
            <a:srgbClr val="3B78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9" name="route-grid-3-cell-1-2"/>
          <p:cNvSpPr>
            <a:spLocks noGrp="1"/>
          </p:cNvSpPr>
          <p:nvPr/>
        </p:nvSpPr>
        <p:spPr>
          <a:xfrm>
            <a:off x="6896100" y="458152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0" name="route-grid-3-cell-1-3"/>
          <p:cNvSpPr>
            <a:spLocks noGrp="1"/>
          </p:cNvSpPr>
          <p:nvPr/>
        </p:nvSpPr>
        <p:spPr>
          <a:xfrm>
            <a:off x="7115175" y="458152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1" name="route-grid-3-cell-2-0"/>
          <p:cNvSpPr>
            <a:spLocks noGrp="1"/>
          </p:cNvSpPr>
          <p:nvPr/>
        </p:nvSpPr>
        <p:spPr>
          <a:xfrm>
            <a:off x="6457950" y="480060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2" name="route-grid-3-cell-2-1"/>
          <p:cNvSpPr>
            <a:spLocks noGrp="1"/>
          </p:cNvSpPr>
          <p:nvPr/>
        </p:nvSpPr>
        <p:spPr>
          <a:xfrm>
            <a:off x="6677025" y="480060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3" name="route-grid-3-cell-2-2"/>
          <p:cNvSpPr>
            <a:spLocks noGrp="1"/>
          </p:cNvSpPr>
          <p:nvPr/>
        </p:nvSpPr>
        <p:spPr>
          <a:xfrm>
            <a:off x="6896100" y="4800600"/>
            <a:ext cx="209550" cy="2095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4" name="route-grid-3-cell-2-3"/>
          <p:cNvSpPr>
            <a:spLocks noGrp="1"/>
          </p:cNvSpPr>
          <p:nvPr/>
        </p:nvSpPr>
        <p:spPr>
          <a:xfrm>
            <a:off x="7115175" y="4800600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5" name="route-grid-3-cell-3-0"/>
          <p:cNvSpPr>
            <a:spLocks noGrp="1"/>
          </p:cNvSpPr>
          <p:nvPr/>
        </p:nvSpPr>
        <p:spPr>
          <a:xfrm>
            <a:off x="6457950" y="50196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6" name="route-grid-3-cell-3-1"/>
          <p:cNvSpPr>
            <a:spLocks noGrp="1"/>
          </p:cNvSpPr>
          <p:nvPr/>
        </p:nvSpPr>
        <p:spPr>
          <a:xfrm>
            <a:off x="6677025" y="5019675"/>
            <a:ext cx="209550" cy="209550"/>
          </a:xfrm>
          <a:prstGeom prst="rect">
            <a:avLst/>
          </a:prstGeom>
          <a:solidFill>
            <a:srgbClr val="F1F3F5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7" name="route-grid-3-cell-3-2"/>
          <p:cNvSpPr>
            <a:spLocks noGrp="1"/>
          </p:cNvSpPr>
          <p:nvPr/>
        </p:nvSpPr>
        <p:spPr>
          <a:xfrm>
            <a:off x="6896100" y="5019675"/>
            <a:ext cx="209550" cy="2095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8" name="route-grid-3-cell-3-3"/>
          <p:cNvSpPr>
            <a:spLocks noGrp="1"/>
          </p:cNvSpPr>
          <p:nvPr/>
        </p:nvSpPr>
        <p:spPr>
          <a:xfrm>
            <a:off x="7115175" y="5019675"/>
            <a:ext cx="209550" cy="209550"/>
          </a:xfrm>
          <a:prstGeom prst="rect">
            <a:avLst/>
          </a:prstGeom>
          <a:solidFill>
            <a:srgbClr val="43A04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9" name="route-grid-3-col-0"/>
          <p:cNvSpPr>
            <a:spLocks noGrp="1"/>
          </p:cNvSpPr>
          <p:nvPr/>
        </p:nvSpPr>
        <p:spPr>
          <a:xfrm>
            <a:off x="6457950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route-grid-3-row-0"/>
          <p:cNvSpPr>
            <a:spLocks noGrp="1"/>
          </p:cNvSpPr>
          <p:nvPr/>
        </p:nvSpPr>
        <p:spPr>
          <a:xfrm>
            <a:off x="6096000" y="439102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A0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1" name="route-grid-3-col-1"/>
          <p:cNvSpPr>
            <a:spLocks noGrp="1"/>
          </p:cNvSpPr>
          <p:nvPr/>
        </p:nvSpPr>
        <p:spPr>
          <a:xfrm>
            <a:off x="6677025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route-grid-3-row-1"/>
          <p:cNvSpPr>
            <a:spLocks noGrp="1"/>
          </p:cNvSpPr>
          <p:nvPr/>
        </p:nvSpPr>
        <p:spPr>
          <a:xfrm>
            <a:off x="6096000" y="461010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A1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route-grid-3-col-2"/>
          <p:cNvSpPr>
            <a:spLocks noGrp="1"/>
          </p:cNvSpPr>
          <p:nvPr/>
        </p:nvSpPr>
        <p:spPr>
          <a:xfrm>
            <a:off x="6896100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route-grid-3-row-2"/>
          <p:cNvSpPr>
            <a:spLocks noGrp="1"/>
          </p:cNvSpPr>
          <p:nvPr/>
        </p:nvSpPr>
        <p:spPr>
          <a:xfrm>
            <a:off x="6096000" y="4829175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B0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route-grid-3-col-3"/>
          <p:cNvSpPr>
            <a:spLocks noGrp="1"/>
          </p:cNvSpPr>
          <p:nvPr/>
        </p:nvSpPr>
        <p:spPr>
          <a:xfrm>
            <a:off x="7115175" y="4105275"/>
            <a:ext cx="219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6" name="route-grid-3-row-3"/>
          <p:cNvSpPr>
            <a:spLocks noGrp="1"/>
          </p:cNvSpPr>
          <p:nvPr/>
        </p:nvSpPr>
        <p:spPr>
          <a:xfrm>
            <a:off x="6096000" y="5048250"/>
            <a:ext cx="323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B1</a:t>
            </a:r>
            <a:endParaRPr sz="7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route-grid-3-q-label"/>
          <p:cNvSpPr>
            <a:spLocks noGrp="1"/>
          </p:cNvSpPr>
          <p:nvPr/>
        </p:nvSpPr>
        <p:spPr>
          <a:xfrm>
            <a:off x="6057900" y="52863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Q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8" name="route-grid-3-k-label"/>
          <p:cNvSpPr>
            <a:spLocks noGrp="1"/>
          </p:cNvSpPr>
          <p:nvPr/>
        </p:nvSpPr>
        <p:spPr>
          <a:xfrm>
            <a:off x="7143750" y="38766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K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9" name="route-body-3"/>
          <p:cNvSpPr>
            <a:spLocks noGrp="1"/>
          </p:cNvSpPr>
          <p:nvPr/>
        </p:nvSpPr>
        <p:spPr>
          <a:xfrm>
            <a:off x="7715250" y="4381500"/>
            <a:ext cx="320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同一份边界变成 cu_seq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TND kernel 按区间处理。</a:t>
            </a:r>
            <a:endParaRPr sz="120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0" name="route-comparison-note"/>
          <p:cNvSpPr>
            <a:spLocks noGrp="1"/>
          </p:cNvSpPr>
          <p:nvPr/>
        </p:nvSpPr>
        <p:spPr>
          <a:xfrm>
            <a:off x="685800" y="5772150"/>
            <a:ext cx="8572500" cy="361950"/>
          </a:xfrm>
          <a:prstGeom prst="roundRect">
            <a:avLst>
              <a:gd name="adj" fmla="val 26316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95250" tIns="76200" rIns="95250" bIns="76200" anchor="ctr">
            <a:normAutofit fontScale="84074"/>
          </a:bodyPr>
          <a:lstStyle/>
          <a:p>
            <a:pPr algn="ctr"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①→② 看 Padding；②→③ 验证边界；③→④ 比较 backend；A 不进入性能排名。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第6章 变长注意力优化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DataLoader 短程验证：区分容器、有效、监督 Token 与原始样本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85800" y="1428750"/>
            <a:ext cx="3505200" cy="1971675"/>
          </a:xfrm>
          <a:prstGeom prst="roundRect">
            <a:avLst>
              <a:gd name="adj" fmla="val 5797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15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完整样本不误拆，Padding 单独成段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43400" y="1428750"/>
            <a:ext cx="3505200" cy="1971675"/>
          </a:xfrm>
          <a:prstGeom prst="roundRect">
            <a:avLst>
              <a:gd name="adj" fmla="val 5797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container token/s</a:t>
            </a:r>
            <a:endParaRPr sz="150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固定槽位吞吐；不等于有效数据吞吐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001000" y="1428750"/>
            <a:ext cx="3505200" cy="1971675"/>
          </a:xfrm>
          <a:prstGeom prst="roundRect">
            <a:avLst>
              <a:gd name="adj" fmla="val 5797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non-padding token/s</a:t>
            </a:r>
            <a:endParaRPr sz="15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Packing 后真正进入计算的 token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85800" y="3552825"/>
            <a:ext cx="3505200" cy="1971675"/>
          </a:xfrm>
          <a:prstGeom prst="roundRect">
            <a:avLst>
              <a:gd name="adj" fmla="val 5797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supervised token/s</a:t>
            </a:r>
            <a:endParaRPr sz="150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labels != -100；实际贡献 Loss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4343400" y="3552825"/>
            <a:ext cx="3505200" cy="1971675"/>
          </a:xfrm>
          <a:prstGeom prst="roundRect">
            <a:avLst>
              <a:gd name="adj" fmla="val 5797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raw sample/s</a:t>
            </a:r>
            <a:endParaRPr sz="15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DataLoader 直接计数的原始样本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8001000" y="3552825"/>
            <a:ext cx="3505200" cy="1971675"/>
          </a:xfrm>
          <a:prstGeom prst="roundRect">
            <a:avLst>
              <a:gd name="adj" fmla="val 5797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执行</a:t>
            </a:r>
            <a:endParaRPr sz="15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Trace 命中预期 Backend，无意外 Fallback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85800" y="56769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两步短程：第1步编译/预热，第2步读性能数量级；样本边界与计数来自 DataLoader metadata，不扫描 EOS。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第6章 变长注意力优化</a:t>
            </a:r>
            <a:endParaRPr sz="27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895350"/>
            <a:ext cx="10668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算子路径验证：固定 workload，只切换三条 Attention 路线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85800" y="1485900"/>
            <a:ext cx="1066800" cy="1066800"/>
          </a:xfrm>
          <a:prstGeom prst="roundRect">
            <a:avLst>
              <a:gd name="adj" fmla="val 10714"/>
            </a:avLst>
          </a:prstGeom>
          <a:solidFill>
            <a:srgbClr val="EEF4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175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ROUTE</a:t>
            </a:r>
            <a:endParaRPr sz="9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924050" y="1485900"/>
            <a:ext cx="9582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Causal SDPA</a:t>
            </a:r>
            <a:endParaRPr sz="16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Non-greedy · is_causal=True · FlashAttentionScore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85800" y="2771775"/>
            <a:ext cx="1066800" cy="1066800"/>
          </a:xfrm>
          <a:prstGeom prst="roundRect">
            <a:avLst>
              <a:gd name="adj" fmla="val 10714"/>
            </a:avLst>
          </a:prstGeom>
          <a:solidFill>
            <a:srgbClr val="FFF3E5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175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ROUTE</a:t>
            </a:r>
            <a:endParaRPr sz="9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924050" y="2771775"/>
            <a:ext cx="9582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Block-SDPA</a:t>
            </a:r>
            <a:endParaRPr sz="16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Greedy · block-causal bool mask · FlashAttentionScore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85800" y="4057650"/>
            <a:ext cx="1066800" cy="1066800"/>
          </a:xfrm>
          <a:prstGeom prst="roundRect">
            <a:avLst>
              <a:gd name="adj" fmla="val 10714"/>
            </a:avLst>
          </a:prstGeom>
          <a:solidFill>
            <a:srgbClr val="EDF7EC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17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ROUTE</a:t>
            </a:r>
            <a:endParaRPr sz="90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924050" y="4057650"/>
            <a:ext cx="9582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TND VarLen</a:t>
            </a:r>
            <a:endParaRPr sz="16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Greedy · cu_seqlens + sparse_mode=7 · VarLenScore / UnpaddingScoreGrad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85800" y="568071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 fontScale="76856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trace 需确认：SDPA→aclnnFlashAttentionScore；VarLen→aclnnFlashAttentionVarLenScore / …UnpaddingScoreGrad。两条 Greedy 路线共享同一边界。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第6章 变长注意力优化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端到端指标：局部算子收益必须与稳态 step 一起解释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85800" y="1466850"/>
            <a:ext cx="5324475" cy="1962150"/>
          </a:xfrm>
          <a:prstGeom prst="roundRect">
            <a:avLst>
              <a:gd name="adj" fmla="val 5825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Attention device time</a:t>
            </a:r>
            <a:endParaRPr sz="1575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Profiler 中看 forward/backward 与 Attention total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181725" y="1466850"/>
            <a:ext cx="5324475" cy="1962150"/>
          </a:xfrm>
          <a:prstGeom prst="roundRect">
            <a:avLst>
              <a:gd name="adj" fmla="val 5825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Stage / step time</a:t>
            </a:r>
            <a:endParaRPr sz="1575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分别看 trace 与关闭 profiler 后的稳态重复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85800" y="3600450"/>
            <a:ext cx="5324475" cy="1962150"/>
          </a:xfrm>
          <a:prstGeom prst="roundRect">
            <a:avLst>
              <a:gd name="adj" fmla="val 5825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Peak memory</a:t>
            </a:r>
            <a:endParaRPr sz="157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报告 active / reserved，并区分 rank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181725" y="3600450"/>
            <a:ext cx="5324475" cy="1962150"/>
          </a:xfrm>
          <a:prstGeom prst="roundRect">
            <a:avLst>
              <a:gd name="adj" fmla="val 5825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结论边界</a:t>
            </a:r>
            <a:endParaRPr sz="1575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不以短程 loss 或少量 step 宣称收敛更快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85800" y="573405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VarLen/TND 的证据链：边界正确 → kernel 命中 → Attention 局部变化 → 稳态端到端结果。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20201" y="6130454"/>
            <a:ext cx="61410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</a:rPr>
              <a:t>https://gitcode.com/cann/cann-learning-hub/tree/master/tutorials/sft_training_pipeline/07_distributed_comms</a:t>
            </a:r>
            <a:endParaRPr lang="en-US" altLang="zh-CN"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2190750"/>
            <a:ext cx="2857500" cy="1714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SFT性能优化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进阶课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4095750" y="1962150"/>
            <a:ext cx="0" cy="2343150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762500" y="195262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第5章  注意力算子优化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762500" y="266700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第6章  变长注意力优化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62500" y="338137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第7章  分布式通信演示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762500" y="409575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第8章  通信优化与 VarLen 协同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8lgkct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8lgkct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单卡不够时，先分清瓶颈：训练状态、层内计算，还是长序列 activation。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8lgkct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8lgkct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单卡的现实边界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8lgkct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参数、梯度、优化器状态和 activation 共同占用显存；模型变大或上下文变长后，容量与计算同时受限。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8lgkct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8lgkct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并行的基本动作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8lgkct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把张量或序列所有权拆给多个 rank；完整计算需要聚合或交换，拆分带来同步成本。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8lgkct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8lgkct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三条路线的入口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8lgkct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Fully Sharded Data Parallel（FSDP）→训练状态；Tensor Parallelism（TP）→hidden/intermediate；Context Parallelism（CP）→长 sequence 的 token/head 布局。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8lgkct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8lgkct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新的关键路径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8lgkct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AllGather、ReduceScatter、AllReduce、AllToAll 的 payload、等待和 rank skew 可能暴露在 step。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8lgkct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8lgkct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第5/6章回答“算哪些 pair”；第7章回答“谁持有数据、何时交换”。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2640" b="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FSDP：训练状态分片，前向临时聚合，反向规约并重新分片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6667500" cy="400050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7620000" y="1524000"/>
            <a:ext cx="3886200" cy="914400"/>
          </a:xfrm>
          <a:prstGeom prst="roundRect">
            <a:avLst>
              <a:gd name="adj" fmla="val 1071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常态</a:t>
            </a:r>
            <a:endParaRPr sz="13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每个 rank 常驻参数、梯度和优化器状态的分片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0000" y="2552700"/>
            <a:ext cx="3886200" cy="914400"/>
          </a:xfrm>
          <a:prstGeom prst="roundRect">
            <a:avLst>
              <a:gd name="adj" fmla="val 1071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前向</a:t>
            </a:r>
            <a:endParaRPr sz="13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all-gather 拼接当前层完整参数；不做求和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20000" y="3581400"/>
            <a:ext cx="3886200" cy="914400"/>
          </a:xfrm>
          <a:prstGeom prst="roundRect">
            <a:avLst>
              <a:gd name="adj" fmla="val 1071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反向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梯度贡献先规约求和，再 reduce-scatter 回分片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620000" y="4610100"/>
            <a:ext cx="3886200" cy="91440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reshard=True</a:t>
            </a:r>
            <a:endParaRPr sz="13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可释放完整参数；下一阶段仍需再次 all-gather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85800" y="56388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FSDP 的问题域是训练状态显存与其通信，不是长序列激活。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753jx1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753jx1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 与 CP 解决不同问题：层内宽度 vs 单条长序列。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753jx1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753jx1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TP｜切层内宽度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753jx1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hidden/intermediate 按 rank 拆分；Partial/Shard 转换需要层内 collective。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753jx1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753jx1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CP｜切长序列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753jx1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同一条 sequence 分给多个 rank；Attention 前后 AllToAll 交换 sequence 与 head。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753jx1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753jx1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FSDP｜切训练状态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753jx1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参数、梯度、优化器状态分片；不按比例缩小长序列 activation。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753jx1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753jx1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不要混为优劣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753jx1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先按瓶颈选问题域，再按 mesh、GBS、workload 验证组合。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753jx1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753jx1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TP、CP、FSDP 的 collective、容量和所有权不同；不能用一个总 step 直接判高下。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 的通信由 Shard、Partial 和 Replicate 布局转换决定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6667500" cy="400050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7620000" y="1524000"/>
            <a:ext cx="3886200" cy="708660"/>
          </a:xfrm>
          <a:prstGeom prst="roundRect">
            <a:avLst>
              <a:gd name="adj" fmla="val 1071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2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经典列并行</a:t>
            </a:r>
            <a:endParaRPr sz="12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12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输出坐标不同，保持 Shard，无需立刻通信</a:t>
            </a:r>
            <a:endParaRPr sz="112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0000" y="2346960"/>
            <a:ext cx="3886200" cy="708660"/>
          </a:xfrm>
          <a:prstGeom prst="roundRect">
            <a:avLst>
              <a:gd name="adj" fmla="val 1071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2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经典行并行</a:t>
            </a:r>
            <a:endParaRPr sz="12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12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同一输出坐标形成 Partial，需要 AllReduce</a:t>
            </a:r>
            <a:endParaRPr sz="112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20000" y="3169920"/>
            <a:ext cx="3886200" cy="708660"/>
          </a:xfrm>
          <a:prstGeom prst="roundRect">
            <a:avLst>
              <a:gd name="adj" fmla="val 1071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2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 + SP 输入</a:t>
            </a:r>
            <a:endParaRPr sz="12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12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Shard(sequence) → Replicate，通常 AllGather</a:t>
            </a:r>
            <a:endParaRPr sz="112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620000" y="3992880"/>
            <a:ext cx="3886200" cy="70866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2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 + SP 输出</a:t>
            </a:r>
            <a:endParaRPr sz="12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12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Partial → Shard(sequence)，通常 ReduceScatter</a:t>
            </a:r>
            <a:endParaRPr sz="112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20000" y="4815840"/>
            <a:ext cx="3886200" cy="708660"/>
          </a:xfrm>
          <a:prstGeom prst="roundRect">
            <a:avLst>
              <a:gd name="adj" fmla="val 10714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33350" tIns="95250" rIns="133350" bIns="95250" anchor="ctr">
            <a:normAutofit fontScale="88690"/>
          </a:bodyPr>
          <a:lstStyle/>
          <a:p>
            <a:pPr algn="l">
              <a:buNone/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执行证据</a:t>
            </a:r>
            <a:endParaRPr sz="127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12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真实次数与 Shape 以 resolved config 和双 Rank Trace 为准</a:t>
            </a:r>
            <a:endParaRPr sz="112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5800" y="56388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经典 TP 只提供 Partial → Replicate 的教学基线，不能替代当前 TP + SP 的布局账本。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895350"/>
            <a:ext cx="10668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CP / Ulysses 在 Attention 前后交换 sequence 与 head 的数据归属</a:t>
            </a:r>
            <a:endParaRPr sz="12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cp-step-0"/>
          <p:cNvSpPr>
            <a:spLocks noGrp="1"/>
          </p:cNvSpPr>
          <p:nvPr/>
        </p:nvSpPr>
        <p:spPr>
          <a:xfrm>
            <a:off x="685800" y="1809750"/>
            <a:ext cx="2381250" cy="1581150"/>
          </a:xfrm>
          <a:prstGeom prst="roundRect">
            <a:avLst>
              <a:gd name="adj" fmla="val 7229"/>
            </a:avLst>
          </a:prstGeom>
          <a:solidFill>
            <a:srgbClr val="EAF2FF"/>
          </a:solidFill>
          <a:ln w="9525">
            <a:solidFill>
              <a:srgbClr val="B7CEFF"/>
            </a:solidFill>
            <a:prstDash val="solid"/>
          </a:ln>
        </p:spPr>
      </p:sp>
      <p:sp>
        <p:nvSpPr>
          <p:cNvPr id="34" name="cp-step-title-0"/>
          <p:cNvSpPr>
            <a:spLocks noGrp="1"/>
          </p:cNvSpPr>
          <p:nvPr/>
        </p:nvSpPr>
        <p:spPr>
          <a:xfrm>
            <a:off x="800100" y="1943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3B78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B78FF"/>
                </a:solidFill>
                <a:latin typeface="微软雅黑"/>
                <a:ea typeface="微软雅黑"/>
                <a:cs typeface="微软雅黑"/>
              </a:rPr>
              <a:t>1  本地布局</a:t>
            </a:r>
            <a:endParaRPr sz="1425" b="1">
              <a:solidFill>
                <a:srgbClr val="3B7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cp-step-body-0"/>
          <p:cNvSpPr>
            <a:spLocks noGrp="1"/>
          </p:cNvSpPr>
          <p:nvPr/>
        </p:nvSpPr>
        <p:spPr>
          <a:xfrm>
            <a:off x="800100" y="2381250"/>
            <a:ext cx="2152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每 rank：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[S / p, all heads]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序列分片，保留全部 heads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cp-step-arrow-0"/>
          <p:cNvSpPr>
            <a:spLocks noGrp="1"/>
          </p:cNvSpPr>
          <p:nvPr/>
        </p:nvSpPr>
        <p:spPr>
          <a:xfrm>
            <a:off x="3105150" y="240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cp-step-1"/>
          <p:cNvSpPr>
            <a:spLocks noGrp="1"/>
          </p:cNvSpPr>
          <p:nvPr/>
        </p:nvSpPr>
        <p:spPr>
          <a:xfrm>
            <a:off x="3333750" y="1809750"/>
            <a:ext cx="2381250" cy="1581150"/>
          </a:xfrm>
          <a:prstGeom prst="roundRect">
            <a:avLst>
              <a:gd name="adj" fmla="val 7229"/>
            </a:avLst>
          </a:prstGeom>
          <a:solidFill>
            <a:srgbClr val="FFF3E4"/>
          </a:solidFill>
          <a:ln w="9525">
            <a:solidFill>
              <a:srgbClr val="F6C98E"/>
            </a:solidFill>
            <a:prstDash val="solid"/>
          </a:ln>
        </p:spPr>
      </p:sp>
      <p:sp>
        <p:nvSpPr>
          <p:cNvPr id="38" name="cp-step-title-1"/>
          <p:cNvSpPr>
            <a:spLocks noGrp="1"/>
          </p:cNvSpPr>
          <p:nvPr/>
        </p:nvSpPr>
        <p:spPr>
          <a:xfrm>
            <a:off x="3448050" y="1943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F28C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8C00"/>
                </a:solidFill>
                <a:latin typeface="微软雅黑"/>
                <a:ea typeface="微软雅黑"/>
                <a:cs typeface="微软雅黑"/>
              </a:rPr>
              <a:t>2  Pre-A2A</a:t>
            </a:r>
            <a:endParaRPr sz="1425" b="1">
              <a:solidFill>
                <a:srgbClr val="F28C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cp-step-body-1"/>
          <p:cNvSpPr>
            <a:spLocks noGrp="1"/>
          </p:cNvSpPr>
          <p:nvPr/>
        </p:nvSpPr>
        <p:spPr>
          <a:xfrm>
            <a:off x="3448050" y="2381250"/>
            <a:ext cx="2152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scatter = sequence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gather = heads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交换数据归属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cp-step-arrow-1"/>
          <p:cNvSpPr>
            <a:spLocks noGrp="1"/>
          </p:cNvSpPr>
          <p:nvPr/>
        </p:nvSpPr>
        <p:spPr>
          <a:xfrm>
            <a:off x="5753100" y="240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cp-step-2"/>
          <p:cNvSpPr>
            <a:spLocks noGrp="1"/>
          </p:cNvSpPr>
          <p:nvPr/>
        </p:nvSpPr>
        <p:spPr>
          <a:xfrm>
            <a:off x="5981700" y="1809750"/>
            <a:ext cx="2381250" cy="1581150"/>
          </a:xfrm>
          <a:prstGeom prst="roundRect">
            <a:avLst>
              <a:gd name="adj" fmla="val 7229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</p:sp>
      <p:sp>
        <p:nvSpPr>
          <p:cNvPr id="42" name="cp-step-title-2"/>
          <p:cNvSpPr>
            <a:spLocks noGrp="1"/>
          </p:cNvSpPr>
          <p:nvPr/>
        </p:nvSpPr>
        <p:spPr>
          <a:xfrm>
            <a:off x="6096000" y="1943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3  Attention 布局</a:t>
            </a:r>
            <a:endParaRPr sz="142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cp-step-body-2"/>
          <p:cNvSpPr>
            <a:spLocks noGrp="1"/>
          </p:cNvSpPr>
          <p:nvPr/>
        </p:nvSpPr>
        <p:spPr>
          <a:xfrm>
            <a:off x="6096000" y="2381250"/>
            <a:ext cx="2152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每 rank：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[S, heads / p]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完整序列，部分 heads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cp-step-arrow-2"/>
          <p:cNvSpPr>
            <a:spLocks noGrp="1"/>
          </p:cNvSpPr>
          <p:nvPr/>
        </p:nvSpPr>
        <p:spPr>
          <a:xfrm>
            <a:off x="8401050" y="24003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800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cp-step-3"/>
          <p:cNvSpPr>
            <a:spLocks noGrp="1"/>
          </p:cNvSpPr>
          <p:nvPr/>
        </p:nvSpPr>
        <p:spPr>
          <a:xfrm>
            <a:off x="8629650" y="1809750"/>
            <a:ext cx="2381250" cy="1581150"/>
          </a:xfrm>
          <a:prstGeom prst="roundRect">
            <a:avLst>
              <a:gd name="adj" fmla="val 7229"/>
            </a:avLst>
          </a:prstGeom>
          <a:solidFill>
            <a:srgbClr val="F5EDFA"/>
          </a:solidFill>
          <a:ln w="9525">
            <a:solidFill>
              <a:srgbClr val="D7B9E8"/>
            </a:solidFill>
            <a:prstDash val="solid"/>
          </a:ln>
        </p:spPr>
      </p:sp>
      <p:sp>
        <p:nvSpPr>
          <p:cNvPr id="46" name="cp-step-title-3"/>
          <p:cNvSpPr>
            <a:spLocks noGrp="1"/>
          </p:cNvSpPr>
          <p:nvPr/>
        </p:nvSpPr>
        <p:spPr>
          <a:xfrm>
            <a:off x="8743950" y="1943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4  Reverse A2A</a:t>
            </a:r>
            <a:endParaRPr sz="1425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cp-step-body-3"/>
          <p:cNvSpPr>
            <a:spLocks noGrp="1"/>
          </p:cNvSpPr>
          <p:nvPr/>
        </p:nvSpPr>
        <p:spPr>
          <a:xfrm>
            <a:off x="8743950" y="2381250"/>
            <a:ext cx="2152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scatter = heads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gather = sequence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恢复 [S / p, all heads]</a:t>
            </a:r>
            <a:endParaRPr sz="12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cp-boundary-note"/>
          <p:cNvSpPr>
            <a:spLocks noGrp="1"/>
          </p:cNvSpPr>
          <p:nvPr/>
        </p:nvSpPr>
        <p:spPr>
          <a:xfrm>
            <a:off x="685800" y="3790950"/>
            <a:ext cx="108204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A2A 前后都携带同一份全局 positions / cu_seq，</a:t>
            </a:r>
            <a:endParaRPr sz="142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因此每个样本区间的边界保持不变。</a:t>
            </a:r>
            <a:endParaRPr sz="142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cp-scope-note"/>
          <p:cNvSpPr>
            <a:spLocks noGrp="1"/>
          </p:cNvSpPr>
          <p:nvPr/>
        </p:nvSpPr>
        <p:spPr>
          <a:xfrm>
            <a:off x="685800" y="4819650"/>
            <a:ext cx="10820400" cy="590550"/>
          </a:xfrm>
          <a:prstGeom prst="roundRect">
            <a:avLst>
              <a:gd name="adj" fmla="val 16129"/>
            </a:avLst>
          </a:prstGeom>
          <a:solidFill>
            <a:srgbClr val="FFF1F2"/>
          </a:solidFill>
          <a:ln w="9525">
            <a:solidFill>
              <a:srgbClr val="FFB9C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CP 只交换 Attention 的 sequence / head 数据归属，不负责定义样本边界。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cp-bottom"/>
          <p:cNvSpPr>
            <a:spLocks noGrp="1"/>
          </p:cNvSpPr>
          <p:nvPr/>
        </p:nvSpPr>
        <p:spPr>
          <a:xfrm>
            <a:off x="685800" y="5638800"/>
            <a:ext cx="10820400" cy="400050"/>
          </a:xfrm>
          <a:prstGeom prst="roundRect">
            <a:avLst>
              <a:gd name="adj" fmla="val 23810"/>
            </a:avLst>
          </a:prstGeom>
          <a:solidFill>
            <a:srgbClr val="EDF7EC"/>
          </a:solidFill>
          <a:ln w="9525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 fontScale="98736"/>
          </a:bodyPr>
          <a:lstStyle/>
          <a:p>
            <a:pPr algn="ctr">
              <a:buNone/>
              <a:defRPr sz="12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CP 分摊同一条长 sequence；代价是 Attention 前后的 AllToAll 与等待。</a:t>
            </a:r>
            <a:endParaRPr sz="127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通信账本：把“通信成本”拆成四本可核对的账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409700"/>
            <a:ext cx="5324475" cy="1581150"/>
          </a:xfrm>
          <a:prstGeom prst="roundRect">
            <a:avLst>
              <a:gd name="adj" fmla="val 7229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逻辑张量大小</a:t>
            </a:r>
            <a:endParaRPr sz="1575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collective 的输入与输出有多大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6181725" y="1409700"/>
            <a:ext cx="5324475" cy="1581150"/>
          </a:xfrm>
          <a:prstGeom prst="roundRect">
            <a:avLst>
              <a:gd name="adj" fmla="val 7229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wire payload</a:t>
            </a:r>
            <a:endParaRPr sz="1575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每个 rank 实际向对端发送多少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85800" y="3162300"/>
            <a:ext cx="5324475" cy="1581150"/>
          </a:xfrm>
          <a:prstGeom prst="roundRect">
            <a:avLst>
              <a:gd name="adj" fmla="val 7229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collective elapsed</a:t>
            </a:r>
            <a:endParaRPr sz="157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 iteration 的慢 rank 完成时间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181725" y="3162300"/>
            <a:ext cx="5324475" cy="1581150"/>
          </a:xfrm>
          <a:prstGeom prst="roundRect">
            <a:avLst>
              <a:gd name="adj" fmla="val 7229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关键路径暴露</a:t>
            </a:r>
            <a:endParaRPr sz="1575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Communication(Not Overlapped) 的时间</a:t>
            </a:r>
            <a:endParaRPr sz="135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314450" y="5010150"/>
            <a:ext cx="2952750" cy="5143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377DFF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AG / RS   (p−1)/p × M</a:t>
            </a:r>
            <a:endParaRPr sz="13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4629150" y="5010150"/>
            <a:ext cx="2952750" cy="5143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F57C00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AllReduce   2(p−1)/p × M</a:t>
            </a:r>
            <a:endParaRPr sz="13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943850" y="5010150"/>
            <a:ext cx="2952750" cy="5143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43A047"/>
            </a:solidFill>
            <a:prstDash val="solid"/>
          </a:ln>
        </p:spPr>
        <p:txBody>
          <a:bodyPr wrap="square" lIns="76200" tIns="28575" rIns="76200" bIns="28575" anchor="ctr">
            <a:normAutofit fontScale="82575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overlap 隐藏时间但不减少数据量；单个 HCCL 算子耗时不能等同于 step time。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85800" y="5720715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逻辑字节、wire payload、collective 延迟和 step 暴露时间不能混成一个“通信成本”。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第7章 分布式通信演示</a:t>
            </a:r>
            <a:endParaRPr sz="3450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Overlap 通过计算覆盖下一层 AllGather，而不是减少通信量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8" y="1333500"/>
            <a:ext cx="7858125" cy="3143250"/>
          </a:xfrm>
          <a:prstGeom prst="rect">
            <a:avLst/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685800" y="4552950"/>
            <a:ext cx="2619375" cy="1066800"/>
          </a:xfrm>
          <a:prstGeom prst="roundRect">
            <a:avLst>
              <a:gd name="adj" fmla="val 1071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当前层</a:t>
            </a:r>
            <a:endParaRPr sz="135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backward compute 持续进行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419475" y="4552950"/>
            <a:ext cx="2619375" cy="1066800"/>
          </a:xfrm>
          <a:prstGeom prst="roundRect">
            <a:avLst>
              <a:gd name="adj" fmla="val 1071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下一层</a:t>
            </a:r>
            <a:endParaRPr sz="135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参数 AllGather 异步提前启动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53150" y="4552950"/>
            <a:ext cx="2619375" cy="1066800"/>
          </a:xfrm>
          <a:prstGeom prst="roundRect">
            <a:avLst>
              <a:gd name="adj" fmla="val 1071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完全覆盖</a:t>
            </a:r>
            <a:endParaRPr sz="135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通信在计算结束前完成，关键路径少一次等待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886825" y="4552950"/>
            <a:ext cx="2619375" cy="106680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部分覆盖</a:t>
            </a:r>
            <a:endParaRPr sz="135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计算太短或通信太慢，尾部仍暴露在关键路径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85800" y="577215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Overlap 改变的是暴露时间，不是 payload；收益必须由完整训练 trace 与 profiler-off 吞吐验证。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20201" y="6130454"/>
            <a:ext cx="623760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</a:rPr>
              <a:t>https://gitcode.com/cann/cann-learning-hub/tree/master/tutorials/sft_training_pipeline/08_comm_optimizations</a:t>
            </a:r>
            <a:endParaRPr lang="en-US" altLang="zh-CN"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2190750"/>
            <a:ext cx="2857500" cy="1714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SFT性能优化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2000"/>
              </a:lnSpc>
              <a:buNone/>
              <a:defRPr sz="3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369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进阶课</a:t>
            </a:r>
            <a:endParaRPr sz="369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4095750" y="1962150"/>
            <a:ext cx="0" cy="2343150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762500" y="195262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第5章  注意力算子优化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762500" y="266700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第6章  变长注意力优化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62500" y="3381375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第7章  分布式通信演示</a:t>
            </a:r>
            <a:endParaRPr sz="1650" b="0">
              <a:solidFill>
                <a:srgbClr val="98A2B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762500" y="4095750"/>
            <a:ext cx="5905500" cy="495300"/>
          </a:xfrm>
          <a:prstGeom prst="roundRect">
            <a:avLst>
              <a:gd name="adj" fmla="val 7692"/>
            </a:avLst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wrap="square" lIns="209550" tIns="57150" rIns="1143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第8章  通信优化与 VarLen 协同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29400" y="6290945"/>
            <a:ext cx="406400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sz="27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验证一：VarLen+FSDP 与 VarLen+CP 先过 correctness gate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85800" y="1666875"/>
            <a:ext cx="1905000" cy="1352550"/>
          </a:xfrm>
          <a:prstGeom prst="roundRect">
            <a:avLst>
              <a:gd name="adj" fmla="val 8451"/>
            </a:avLst>
          </a:prstGeom>
          <a:solidFill>
            <a:srgbClr val="EEF4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positions</a:t>
            </a:r>
            <a:endParaRPr sz="15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两条路线使用同一份 positions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2647950" y="2133600"/>
            <a:ext cx="266700" cy="342900"/>
          </a:xfrm>
          <a:prstGeom prst="rightArrow">
            <a:avLst/>
          </a:prstGeom>
          <a:solidFill>
            <a:srgbClr val="377DFF"/>
          </a:solidFill>
          <a:ln w="0">
            <a:solidFill>
              <a:srgbClr val="377DFF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2838450" y="1666875"/>
            <a:ext cx="1905000" cy="1352550"/>
          </a:xfrm>
          <a:prstGeom prst="roundRect">
            <a:avLst>
              <a:gd name="adj" fmla="val 8451"/>
            </a:avLst>
          </a:prstGeom>
          <a:solidFill>
            <a:srgbClr val="FFF3E5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VarlenMetadata</a:t>
            </a:r>
            <a:endParaRPr sz="150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全局 cu_seq / actual_seq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4800600" y="2133600"/>
            <a:ext cx="266700" cy="342900"/>
          </a:xfrm>
          <a:prstGeom prst="rightArrow">
            <a:avLst/>
          </a:prstGeom>
          <a:solidFill>
            <a:srgbClr val="F57C00"/>
          </a:solidFill>
          <a:ln w="0">
            <a:solidFill>
              <a:srgbClr val="F57C00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4991100" y="1666875"/>
            <a:ext cx="1905000" cy="1352550"/>
          </a:xfrm>
          <a:prstGeom prst="roundRect">
            <a:avLst>
              <a:gd name="adj" fmla="val 8451"/>
            </a:avLst>
          </a:prstGeom>
          <a:solidFill>
            <a:srgbClr val="F7EFFA"/>
          </a:solidFill>
          <a:ln w="11430">
            <a:solidFill>
              <a:srgbClr val="8E44AD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CP pre-hook</a:t>
            </a:r>
            <a:endParaRPr sz="150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sequence ↔ head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6953250" y="2133600"/>
            <a:ext cx="266700" cy="342900"/>
          </a:xfrm>
          <a:prstGeom prst="rightArrow">
            <a:avLst/>
          </a:prstGeom>
          <a:solidFill>
            <a:srgbClr val="8E44AD"/>
          </a:solidFill>
          <a:ln w="0">
            <a:solidFill>
              <a:srgbClr val="8E44AD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7143750" y="1666875"/>
            <a:ext cx="1905000" cy="1352550"/>
          </a:xfrm>
          <a:prstGeom prst="roundRect">
            <a:avLst>
              <a:gd name="adj" fmla="val 8451"/>
            </a:avLst>
          </a:prstGeom>
          <a:solidFill>
            <a:srgbClr val="EDF7EC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TND Attention</a:t>
            </a:r>
            <a:endParaRPr sz="15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同一边界 + mode 7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9105900" y="2133600"/>
            <a:ext cx="266700" cy="342900"/>
          </a:xfrm>
          <a:prstGeom prst="rightArrow">
            <a:avLst/>
          </a:prstGeom>
          <a:solidFill>
            <a:srgbClr val="43A047"/>
          </a:solidFill>
          <a:ln w="0">
            <a:solidFill>
              <a:srgbClr val="43A047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9296400" y="1666875"/>
            <a:ext cx="1905000" cy="1352550"/>
          </a:xfrm>
          <a:prstGeom prst="roundRect">
            <a:avLst>
              <a:gd name="adj" fmla="val 8451"/>
            </a:avLst>
          </a:prstGeom>
          <a:solidFill>
            <a:srgbClr val="FFF1F2"/>
          </a:solidFill>
          <a:ln w="11430">
            <a:solidFill>
              <a:srgbClr val="E60012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reverse A2A</a:t>
            </a:r>
            <a:endParaRPr sz="150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7000"/>
              </a:lnSpc>
              <a:buNone/>
              <a:def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恢复本地 sequence</a:t>
            </a:r>
            <a:endParaRPr sz="1200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85800" y="3524250"/>
            <a:ext cx="5257800" cy="1619250"/>
          </a:xfrm>
          <a:prstGeom prst="roundRect">
            <a:avLst>
              <a:gd name="adj" fmla="val 7059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4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正确边界</a:t>
            </a:r>
            <a:endParaRPr sz="172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4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两张卡共享同一份全局边界；padding 独立成段；metadata 一致</a:t>
            </a:r>
            <a:endParaRPr sz="142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248400" y="3524250"/>
            <a:ext cx="5257800" cy="1619250"/>
          </a:xfrm>
          <a:prstGeom prst="roundRect">
            <a:avLst>
              <a:gd name="adj" fmla="val 7059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71450" tIns="114300" rIns="171450" bIns="1143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4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错误边界</a:t>
            </a:r>
            <a:endParaRPr sz="172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4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各 rank 重建局部 cu_seq 或扫描 EOS；只看 finite loss 就放行</a:t>
            </a:r>
            <a:endParaRPr sz="142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85800" y="57277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边界一旦错位，语义先错；此时任何性能数字都没有比较资格。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可靠性能结论要沿四步证据链逐层收敛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01 固定 workload</a:t>
            </a:r>
            <a:endParaRPr sz="142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锁定模型、数据、GBS、序列长度、Packing、Dtype 与 Mesh。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33718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02 验证语义</a:t>
            </a:r>
            <a:endParaRPr sz="142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验证 position 边界、全局 cu_seq、TND actual_seq、输出与 Loss。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0579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03 核对路径</a:t>
            </a:r>
            <a:endParaRPr sz="142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核对配置与双 Rank Trace，确认 kernel、collective、Shape、Wait、Skew 和峰值显存。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7439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04 报告结果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报告 profiler-off 稳态 step、三类 Token 吞吐和 Raw Sample/s。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524000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为什么要按顺序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上一层证据未通过，就不能解释下一层性能。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334125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结论边界</a:t>
            </a:r>
            <a:endParaRPr sz="142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性能结论只对固定 Workload、软件栈和数据分布成立。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5800" y="57277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先证明算对并跑到预期路径，再讨论快了多少、为什么快。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sz="3075"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85800" y="895350"/>
            <a:ext cx="10668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验证二：CP 是否降低 seq_len=16384 的单 rank 峰值？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85800" y="1381125"/>
            <a:ext cx="1066800" cy="819150"/>
          </a:xfrm>
          <a:prstGeom prst="roundRect">
            <a:avLst>
              <a:gd name="adj" fmla="val 13953"/>
            </a:avLst>
          </a:prstGeom>
          <a:solidFill>
            <a:srgbClr val="EEF4FF"/>
          </a:solidFill>
          <a:ln w="11430">
            <a:solidFill>
              <a:srgbClr val="377DFF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EVIDENCE</a:t>
            </a:r>
            <a:endParaRPr sz="75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885950" y="1381125"/>
            <a:ext cx="9620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52400" tIns="76200" rIns="152400" bIns="762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77DFF"/>
                </a:solidFill>
                <a:latin typeface="微软雅黑"/>
                <a:ea typeface="微软雅黑"/>
                <a:cs typeface="微软雅黑"/>
              </a:rPr>
              <a:t>01 固定输入</a:t>
            </a:r>
            <a:endParaRPr sz="1425" b="1">
              <a:solidFill>
                <a:srgbClr val="377D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checkpoint、tokenizer、seed、数据、dtype、activation checkpoint、训练步数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85800" y="2371725"/>
            <a:ext cx="1066800" cy="819150"/>
          </a:xfrm>
          <a:prstGeom prst="roundRect">
            <a:avLst>
              <a:gd name="adj" fmla="val 13953"/>
            </a:avLst>
          </a:prstGeom>
          <a:solidFill>
            <a:srgbClr val="FFF3E5"/>
          </a:solidFill>
          <a:ln w="11430">
            <a:solidFill>
              <a:srgbClr val="F57C00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EVIDENCE</a:t>
            </a:r>
            <a:endParaRPr sz="75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1885950" y="2371725"/>
            <a:ext cx="9620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52400" tIns="76200" rIns="152400" bIns="762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57C00"/>
                </a:solidFill>
                <a:latin typeface="微软雅黑"/>
                <a:ea typeface="微软雅黑"/>
                <a:cs typeface="微软雅黑"/>
              </a:rPr>
              <a:t>02 只切后端</a:t>
            </a:r>
            <a:endParaRPr sz="1425" b="1">
              <a:solidFill>
                <a:srgbClr val="F57C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 workload 仅切 no-CP 与 CP2；保留 rank0/rank1 profiler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5800" y="3362325"/>
            <a:ext cx="1066800" cy="819150"/>
          </a:xfrm>
          <a:prstGeom prst="roundRect">
            <a:avLst>
              <a:gd name="adj" fmla="val 13953"/>
            </a:avLst>
          </a:prstGeom>
          <a:solidFill>
            <a:srgbClr val="EDF7EC"/>
          </a:solidFill>
          <a:ln w="11430">
            <a:solidFill>
              <a:srgbClr val="43A047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EVIDENCE</a:t>
            </a:r>
            <a:endParaRPr sz="75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1885950" y="3362325"/>
            <a:ext cx="9620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52400" tIns="76200" rIns="152400" bIns="762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43A047"/>
                </a:solidFill>
                <a:latin typeface="微软雅黑"/>
                <a:ea typeface="微软雅黑"/>
                <a:cs typeface="微软雅黑"/>
              </a:rPr>
              <a:t>03 采集容量</a:t>
            </a:r>
            <a:endParaRPr sz="1425" b="1">
              <a:solidFill>
                <a:srgbClr val="43A04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peak active/reserved、OOM 状态、AllToAll 次数与 payload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85800" y="4352925"/>
            <a:ext cx="1066800" cy="819150"/>
          </a:xfrm>
          <a:prstGeom prst="roundRect">
            <a:avLst>
              <a:gd name="adj" fmla="val 13953"/>
            </a:avLst>
          </a:prstGeom>
          <a:solidFill>
            <a:srgbClr val="F7EFFA"/>
          </a:solidFill>
          <a:ln w="11430">
            <a:solidFill>
              <a:srgbClr val="8E44AD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EVIDENCE</a:t>
            </a:r>
            <a:endParaRPr sz="750" b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1885950" y="4352925"/>
            <a:ext cx="96202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52400" tIns="76200" rIns="152400" bIns="76200" anchor="ctr">
            <a:normAutofit/>
          </a:bodyPr>
          <a:lstStyle/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04 采集暴露</a:t>
            </a:r>
            <a:endParaRPr sz="1425" b="1">
              <a:solidFill>
                <a:srgbClr val="8E44A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7000"/>
              </a:lnSpc>
              <a:buNone/>
              <a:def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collective elapsed/wait、完整 optimizer step 的通信暴露</a:t>
            </a:r>
            <a:endParaRPr sz="1275" b="0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800100" y="5467350"/>
            <a:ext cx="2476500" cy="32385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memory_record.csv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3486150" y="5467350"/>
            <a:ext cx="2476500" cy="32385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communication.json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172200" y="5467350"/>
            <a:ext cx="2476500" cy="32385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step_trace_time.csv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8858250" y="5467350"/>
            <a:ext cx="2476500" cy="32385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9525">
            <a:solidFill>
              <a:srgbClr val="D9DCE1"/>
            </a:solidFill>
            <a:prstDash val="solid"/>
          </a:ln>
        </p:spPr>
        <p:txBody>
          <a:bodyPr wrap="square" lIns="76200" tIns="28575" rIns="76200" bIns="2857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rank0 + rank1</a:t>
            </a:r>
            <a:endParaRPr sz="975" b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800100" y="581025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本实验只回答容量问题：相同超长序列下，CP 是否降低单 rank 峰值并避免 OOM。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a5j42u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a5j42u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验证三：理论缩小的是 sequence-shaped activation，实测要看双 rank 峰值与通信暴露。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a5j42u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a5j42u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理论预期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a5j42u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sequence-shaped activation 约按 CP degree 缩小；固定状态与通信 buffer 不随之消失。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a5j42u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a5j42u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实测峰值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a5j42u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取 rank0/rank1 最大 peak active/reserved；不要只看单卡平均。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a5j42u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a5j42u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通信代价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a5j42u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用 AllToAll wait/device elapsed 与 step trace 交叉验证暴露；不要简单累加重叠事件。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a5j42u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a5j42u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吞吐边界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a5j42u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只有同 workload、profiler-off 稳态实验才比较 TPS。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a5j42u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a5j42u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显存下降与通信暴露是两类结论，必须分别报告。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验证四：TP2 与 FSDP2 的固定对照，只改变并行策略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01 固定 workload</a:t>
            </a:r>
            <a:endParaRPr sz="142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模型、Wordle 数据、bf16、seq_len、GBS、packing、activation checkpoint、compile、2 NPU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33718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02 两条路线</a:t>
            </a:r>
            <a:endParaRPr sz="142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TP=2 vs FSDP2(dp_shard=2)；其余配置不变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0579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03 采集 trace</a:t>
            </a:r>
            <a:endParaRPr sz="142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rank0/rank1、with_stack=true；丢弃首次编译 step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7439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04 报告口径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稳态 step 中位数、slot/有效/监督 token、peak memory、self time、通信 wait、rank skew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524000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比较前提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同一 workload 才能归因于 TP/FSDP2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334125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不会预设赢家</a:t>
            </a:r>
            <a:endParaRPr sz="142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当前 Notebook 尚无此对照结果，先设计再实测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5800" y="572770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这里只定义实验与指标，不把练习题或旧条件数字当成结果。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Optimizer Step 归一化决定吞吐指标能否横向比较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GBS</a:t>
            </a:r>
            <a:endParaRPr sz="142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一个 Optimizer Step 跨全部 DP Rank 消费的全局 Batch。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33718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Local Batch</a:t>
            </a:r>
            <a:endParaRPr sz="142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每个 Rank 在一次 Microbatch 中处理的 Container 数。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0579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DP Replicas</a:t>
            </a:r>
            <a:endParaRPr sz="142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共同承担 Global Batch 的数据并行副本数。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7439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Accumulation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为凑齐 GBS，需要累积的 Microbatch 次数。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524000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计算公式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accumulation = GBS / (local batch × DP replicas)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334125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示例（仅说明口径）</a:t>
            </a:r>
            <a:endParaRPr sz="142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64 / (2 × 1) = 32 microbatches；再按每个 Container 的 Token 数换算吞吐分子。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5800" y="571627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比较不同并行路线时，必须统一 Optimizer Step 和吞吐分子的统计口径。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320040"/>
            <a:ext cx="9448800" cy="502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 b="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第8章 通信优化与 VarLen 协同</a:t>
            </a:r>
            <a:endParaRPr b="1">
              <a:solidFill>
                <a:srgbClr val="2021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71550"/>
            <a:ext cx="106680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800" b="1">
                <a:solidFill>
                  <a:srgbClr val="26262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如何给出合法结论：每个问题绑定自己的证据</a:t>
            </a:r>
            <a:endParaRPr sz="1350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EF4FF"/>
          </a:solidFill>
          <a:ln w="11430">
            <a:solidFill>
              <a:srgbClr val="B8D2FF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超长序列能否跑</a:t>
            </a:r>
            <a:endParaRPr sz="142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双 rank peak + OOM → CP 是否缓解容量压力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33718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FF3E5"/>
          </a:solidFill>
          <a:ln w="11430">
            <a:solidFill>
              <a:srgbClr val="FFD29A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CP 通信代价</a:t>
            </a:r>
            <a:endParaRPr sz="142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AllToAll exposed time → 通信暴露是多少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05790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EDF7EC"/>
          </a:solidFill>
          <a:ln w="11430">
            <a:solidFill>
              <a:srgbClr val="B8DFB7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TP2/FSDP2 适配性</a:t>
            </a:r>
            <a:endParaRPr sz="142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同 workload 稳态对照 → 当前配置下 TPS/显存差异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743950" y="1543050"/>
            <a:ext cx="2419350" cy="2571750"/>
          </a:xfrm>
          <a:prstGeom prst="roundRect">
            <a:avLst>
              <a:gd name="adj" fmla="val 472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结论边界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CP、FSDP2、TP2 问题域不同；结论绑定模型、数据、硬件、并行度、软件版本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524000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7EFFA"/>
          </a:solidFill>
          <a:ln w="11430">
            <a:solidFill>
              <a:srgbClr val="D9B9E6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不要比较什么</a:t>
            </a:r>
            <a:endParaRPr sz="142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不要用一个总 step 或单个 HCCL 算子替代完整证据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334125" y="4476750"/>
            <a:ext cx="4333875" cy="1066800"/>
          </a:xfrm>
          <a:prstGeom prst="roundRect">
            <a:avLst>
              <a:gd name="adj" fmla="val 10714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报告什么</a:t>
            </a:r>
            <a:endParaRPr sz="142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  <a:p>
            <a:pPr algn="l">
              <a:buNone/>
            </a:pPr>
            <a:r>
              <a:rPr sz="1275">
                <a:solidFill>
                  <a:srgbClr val="202124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容量、通信暴露、稳态吞吐分别回答，不互相冒充</a:t>
            </a:r>
            <a:endParaRPr sz="1275">
              <a:solidFill>
                <a:srgbClr val="202124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5800" y="571627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1430">
            <a:solidFill>
              <a:srgbClr val="FFB9C0"/>
            </a:solidFill>
            <a:prstDash val="solid"/>
          </a:ln>
        </p:spPr>
        <p:txBody>
          <a:bodyPr wrap="square" lIns="152400" tIns="47625" rIns="1524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7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先回答问题，再选择证据；不要用一个指标替代全部结论。</a:t>
            </a:r>
            <a:endParaRPr sz="1275" b="1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619125" y="6124575"/>
            <a:ext cx="16071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等线 Light"/>
                <a:ea typeface="等线 Light"/>
                <a:cs typeface="等线 Light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26" name="background-title-a5j42u"/>
          <p:cNvSpPr>
            <a:spLocks noGrp="1"/>
          </p:cNvSpPr>
          <p:nvPr/>
        </p:nvSpPr>
        <p:spPr>
          <a:xfrm>
            <a:off x="609600" y="320040"/>
            <a:ext cx="1000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6665"/>
          </a:bodyPr>
          <a:lstStyle/>
          <a:p>
            <a:pPr algn="l">
              <a:lnSpc>
                <a:spcPct val="112000"/>
              </a:lnSpc>
              <a:buNone/>
              <a:def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2640">
                <a:solidFill>
                  <a:srgbClr val="111111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课程总结：优化不是切换一个后端</a:t>
            </a:r>
            <a:endParaRPr sz="2640">
              <a:solidFill>
                <a:srgbClr val="111111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7" name="background-claim-a5j42u"/>
          <p:cNvSpPr>
            <a:spLocks noGrp="1"/>
          </p:cNvSpPr>
          <p:nvPr/>
        </p:nvSpPr>
        <p:spPr>
          <a:xfrm>
            <a:off x="685800" y="9715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650" b="1">
                <a:solidFill>
                  <a:srgbClr val="2D2F33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一条可验证的证据链，把“更快”拆成可复现的问题。</a:t>
            </a:r>
            <a:endParaRPr sz="1650" b="1">
              <a:solidFill>
                <a:srgbClr val="2D2F33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28" name="background-card-a5j42u-0"/>
          <p:cNvSpPr>
            <a:spLocks noGrp="1"/>
          </p:cNvSpPr>
          <p:nvPr/>
        </p:nvSpPr>
        <p:spPr>
          <a:xfrm>
            <a:off x="6858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5F8FF"/>
          </a:solidFill>
          <a:ln w="9525">
            <a:solidFill>
              <a:srgbClr val="377DFF"/>
            </a:solidFill>
            <a:prstDash val="solid"/>
          </a:ln>
        </p:spPr>
      </p:sp>
      <p:sp>
        <p:nvSpPr>
          <p:cNvPr id="29" name="background-head-a5j42u-0"/>
          <p:cNvSpPr>
            <a:spLocks noGrp="1"/>
          </p:cNvSpPr>
          <p:nvPr/>
        </p:nvSpPr>
        <p:spPr>
          <a:xfrm>
            <a:off x="8763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377DFF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1｜明确优化对象</a:t>
            </a:r>
            <a:endParaRPr sz="1575" b="1">
              <a:solidFill>
                <a:srgbClr val="377DFF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0" name="background-body-a5j42u-0"/>
          <p:cNvSpPr>
            <a:spLocks noGrp="1"/>
          </p:cNvSpPr>
          <p:nvPr/>
        </p:nvSpPr>
        <p:spPr>
          <a:xfrm>
            <a:off x="8763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无效 Attention、训练状态、层内计算或长序列 activation。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1" name="background-card-a5j42u-1"/>
          <p:cNvSpPr>
            <a:spLocks noGrp="1"/>
          </p:cNvSpPr>
          <p:nvPr/>
        </p:nvSpPr>
        <p:spPr>
          <a:xfrm>
            <a:off x="6096000" y="1581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FF8F2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2" name="background-head-a5j42u-1"/>
          <p:cNvSpPr>
            <a:spLocks noGrp="1"/>
          </p:cNvSpPr>
          <p:nvPr/>
        </p:nvSpPr>
        <p:spPr>
          <a:xfrm>
            <a:off x="6286500" y="1752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F57C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2｜验证接口正确</a:t>
            </a:r>
            <a:endParaRPr sz="1575" b="1">
              <a:solidFill>
                <a:srgbClr val="F57C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3" name="background-body-a5j42u-1"/>
          <p:cNvSpPr>
            <a:spLocks noGrp="1"/>
          </p:cNvSpPr>
          <p:nvPr/>
        </p:nvSpPr>
        <p:spPr>
          <a:xfrm>
            <a:off x="6286500" y="2200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数据边界、配置、metadata 与状态先通过 correctness gate。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4" name="background-card-a5j42u-2"/>
          <p:cNvSpPr>
            <a:spLocks noGrp="1"/>
          </p:cNvSpPr>
          <p:nvPr/>
        </p:nvSpPr>
        <p:spPr>
          <a:xfrm>
            <a:off x="6858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2F9F1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5" name="background-head-a5j42u-2"/>
          <p:cNvSpPr>
            <a:spLocks noGrp="1"/>
          </p:cNvSpPr>
          <p:nvPr/>
        </p:nvSpPr>
        <p:spPr>
          <a:xfrm>
            <a:off x="8763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43A047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3｜证明真实路径</a:t>
            </a:r>
            <a:endParaRPr sz="1575" b="1">
              <a:solidFill>
                <a:srgbClr val="43A047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6" name="background-body-a5j42u-2"/>
          <p:cNvSpPr>
            <a:spLocks noGrp="1"/>
          </p:cNvSpPr>
          <p:nvPr/>
        </p:nvSpPr>
        <p:spPr>
          <a:xfrm>
            <a:off x="8763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trace 命中目标 kernel 与 collective，才知道切换真的生效。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7" name="background-card-a5j42u-3"/>
          <p:cNvSpPr>
            <a:spLocks noGrp="1"/>
          </p:cNvSpPr>
          <p:nvPr/>
        </p:nvSpPr>
        <p:spPr>
          <a:xfrm>
            <a:off x="6096000" y="3486150"/>
            <a:ext cx="5181600" cy="1619250"/>
          </a:xfrm>
          <a:prstGeom prst="roundRect">
            <a:avLst>
              <a:gd name="adj" fmla="val 7059"/>
            </a:avLst>
          </a:prstGeom>
          <a:solidFill>
            <a:srgbClr val="F8F0FB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38" name="background-head-a5j42u-3"/>
          <p:cNvSpPr>
            <a:spLocks noGrp="1"/>
          </p:cNvSpPr>
          <p:nvPr/>
        </p:nvSpPr>
        <p:spPr>
          <a:xfrm>
            <a:off x="6286500" y="36576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575" b="1">
                <a:solidFill>
                  <a:srgbClr val="8E44AD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4｜报告稳态指标</a:t>
            </a:r>
            <a:endParaRPr sz="1575" b="1">
              <a:solidFill>
                <a:srgbClr val="8E44AD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39" name="background-body-a5j42u-3"/>
          <p:cNvSpPr>
            <a:spLocks noGrp="1"/>
          </p:cNvSpPr>
          <p:nvPr/>
        </p:nvSpPr>
        <p:spPr>
          <a:xfrm>
            <a:off x="6286500" y="4105275"/>
            <a:ext cx="480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290">
                <a:solidFill>
                  <a:srgbClr val="3F4146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profiler-off step、三类 token 吞吐、memory 与通信分别报告。</a:t>
            </a:r>
            <a:endParaRPr sz="1290">
              <a:solidFill>
                <a:srgbClr val="3F4146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  <p:sp>
        <p:nvSpPr>
          <p:cNvPr id="40" name="background-callout-a5j42u"/>
          <p:cNvSpPr>
            <a:spLocks noGrp="1"/>
          </p:cNvSpPr>
          <p:nvPr/>
        </p:nvSpPr>
        <p:spPr>
          <a:xfrm>
            <a:off x="685800" y="55816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FF4F4"/>
          </a:solidFill>
          <a:ln w="9525">
            <a:solidFill>
              <a:srgbClr val="E60012"/>
            </a:solidFill>
            <a:prstDash val="solid"/>
          </a:ln>
        </p:spPr>
      </p:sp>
      <p:sp>
        <p:nvSpPr>
          <p:cNvPr id="41" name="background-callout-text-a5j42u"/>
          <p:cNvSpPr>
            <a:spLocks noGrp="1"/>
          </p:cNvSpPr>
          <p:nvPr/>
        </p:nvSpPr>
        <p:spPr>
          <a:xfrm>
            <a:off x="876300" y="55816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defRPr>
            </a:pPr>
            <a:r>
              <a:rPr sz="1315" b="1">
                <a:solidFill>
                  <a:srgbClr val="E60012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</a:rPr>
              <a:t>优化的终点不是一个百分比，而是一条能复核的证据链。</a:t>
            </a:r>
            <a:endParaRPr sz="1315" b="1">
              <a:solidFill>
                <a:srgbClr val="E60012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Arial" panose="020B0604020202090204"/>
                <a:ea typeface="Arial" panose="020B0604020202090204"/>
                <a:cs typeface="Arial" panose="020B0604020202090204"/>
              </a:rPr>
              <a:t>Thank you.</a:t>
            </a:r>
            <a:endParaRPr sz="54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chemeClr val="bg1">
                    <a:lumMod val="50000"/>
                  </a:schemeClr>
                </a:solidFill>
                <a:latin typeface="宋体"/>
                <a:ea typeface="宋体"/>
                <a:cs typeface="宋体"/>
              </a:rPr>
              <a:t>社区愿景：打造开放易用、技术领先的AI算力新生态</a:t>
            </a:r>
            <a:endParaRPr sz="1200">
              <a:solidFill>
                <a:schemeClr val="bg1">
                  <a:lumMod val="50000"/>
                </a:schemeClr>
              </a:solidFill>
              <a:latin typeface="宋体"/>
              <a:ea typeface="宋体"/>
              <a:cs typeface="宋体"/>
            </a:endParaRPr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chemeClr val="bg1">
                    <a:lumMod val="50000"/>
                  </a:schemeClr>
                </a:solidFill>
                <a:latin typeface="宋体"/>
                <a:ea typeface="宋体"/>
                <a:cs typeface="宋体"/>
              </a:rPr>
              <a:t>社区使命：使能开发者基于CANN社区自主研究创新，构筑根深叶茂、跨产业协同共享共赢的CANN生态</a:t>
            </a:r>
            <a:endParaRPr sz="1200">
              <a:solidFill>
                <a:schemeClr val="bg1">
                  <a:lumMod val="50000"/>
                </a:schemeClr>
              </a:solidFill>
              <a:latin typeface="宋体"/>
              <a:ea typeface="宋体"/>
              <a:cs typeface="宋体"/>
            </a:endParaRPr>
          </a:p>
          <a:p>
            <a:pPr>
              <a:lnSpc>
                <a:spcPct val="150000"/>
              </a:lnSpc>
              <a:buNone/>
            </a:pPr>
          </a:p>
          <a:p>
            <a:pPr>
              <a:lnSpc>
                <a:spcPct val="150000"/>
              </a:lnSpc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Vision: Building an Open, Easy-to-Use, and Technology-leading AI Computing Ecosystem</a:t>
            </a:r>
            <a:endParaRPr sz="1000">
              <a:solidFill>
                <a:schemeClr val="bg1">
                  <a:lumMod val="5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lnSpc>
                <a:spcPct val="150000"/>
              </a:lnSpc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sz="1000">
              <a:solidFill>
                <a:schemeClr val="bg1">
                  <a:lumMod val="5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>
            <a:spLocks noGrp="1"/>
          </p:cNvSpPr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上CANN社区获取干货</a:t>
            </a:r>
            <a:endParaRPr sz="1000"/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关注CANN公众号获取资讯</a:t>
            </a:r>
            <a:endParaRPr sz="1000"/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620201" y="6130454"/>
            <a:ext cx="382016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https://gitcode.com/cann/cann-learning-hub/tree/master/tutorials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2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  <p:pic>
        <p:nvPicPr>
          <p:cNvPr id="25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65102" y="3908076"/>
            <a:ext cx="1686678" cy="1676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11656</Words>
  <Application>WPS 演示</Application>
  <PresentationFormat>Converted Presentation</PresentationFormat>
  <Paragraphs>1031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60" baseType="lpstr">
      <vt:lpstr>Arial</vt:lpstr>
      <vt:lpstr>宋体</vt:lpstr>
      <vt:lpstr>Wingdings</vt:lpstr>
      <vt:lpstr>Arial</vt:lpstr>
      <vt:lpstr>Wingdings</vt:lpstr>
      <vt:lpstr>微软雅黑</vt:lpstr>
      <vt:lpstr>方正雅意黑 GB18030L2</vt:lpstr>
      <vt:lpstr>苹方-简</vt:lpstr>
      <vt:lpstr>等线 Light</vt:lpstr>
      <vt:lpstr>汉仪中等线KW</vt:lpstr>
      <vt:lpstr>微软雅黑</vt:lpstr>
      <vt:lpstr>等线</vt:lpstr>
      <vt:lpstr>Calibri</vt:lpstr>
      <vt:lpstr>Helvetica Neue</vt:lpstr>
      <vt:lpstr>汉仪书宋二KW</vt:lpstr>
      <vt:lpstr>宋体</vt:lpstr>
      <vt:lpstr>Arial Unicode MS</vt:lpstr>
      <vt:lpstr>宋体</vt:lpstr>
      <vt:lpstr>微软雅黑</vt:lpstr>
      <vt:lpstr>等线 Light</vt:lpstr>
      <vt:lpstr>WPS</vt:lpstr>
      <vt:lpstr>Office 主题​​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Crush</cp:lastModifiedBy>
  <cp:revision>2</cp:revision>
  <dcterms:created xsi:type="dcterms:W3CDTF">2026-09-21T14:02:59Z</dcterms:created>
  <dcterms:modified xsi:type="dcterms:W3CDTF">2026-09-21T14:02:59Z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F9F21D8AFEB44020D737B16A4E4C7A1D_42</vt:lpwstr>
  </property>
  <property fmtid="{D5CDD505-2E9C-101B-9397-08002B2CF9AE}" pid="3" name="KSOProductBuildVer">
    <vt:lpwstr>2052-12.1.26055.26055</vt:lpwstr>
  </property>
</Properties>
</file>