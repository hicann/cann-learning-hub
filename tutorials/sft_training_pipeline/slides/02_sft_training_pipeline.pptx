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media/native_sft_image.png" ContentType="image/png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media/native_sft_image2.png" ContentType="image/png"/>
  <Override PartName="/ppt/slides/slide1025.xml" ContentType="application/vnd.openxmlformats-officedocument.presentationml.slide+xml"/>
  <Override PartName="/ppt/media/native_sft_image3.png" ContentType="image/png"/>
  <Override PartName="/ppt/slides/slide1026.xml" ContentType="application/vnd.openxmlformats-officedocument.presentationml.slide+xml"/>
  <Override PartName="/ppt/media/native_sft_image4.png" ContentType="image/png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  <p:sldMasterId id="2147483663" r:id="rId4"/>
    <p:sldMasterId id="2147483665" r:id="rId5"/>
  </p:sldMasterIdLst>
  <p:sldIdLst>
    <p:sldId id="256" r:id="rIdAssemble1"/>
    <p:sldId id="257" r:id="rIdAssemble2"/>
    <p:sldId id="258" r:id="rIdAssemble3"/>
    <p:sldId id="259" r:id="rIdAssemble4"/>
    <p:sldId id="260" r:id="rIdAssemble5"/>
    <p:sldId id="261" r:id="rIdAssemble6"/>
    <p:sldId id="262" r:id="rIdAssemble7"/>
    <p:sldId id="263" r:id="rIdAssemble8"/>
    <p:sldId id="264" r:id="rIdAssemble9"/>
    <p:sldId id="265" r:id="rIdAssemble10"/>
    <p:sldId id="266" r:id="rIdAssemble11"/>
    <p:sldId id="267" r:id="rIdAssemble12"/>
    <p:sldId id="268" r:id="rIdAssemble13"/>
    <p:sldId id="269" r:id="rIdAssemble14"/>
    <p:sldId id="270" r:id="rIdAssemble15"/>
    <p:sldId id="271" r:id="rIdAssemble16"/>
    <p:sldId id="272" r:id="rIdAssemble17"/>
    <p:sldId id="273" r:id="rIdAssemble18"/>
    <p:sldId id="274" r:id="rIdAssemble19"/>
    <p:sldId id="275" r:id="rIdAssemble20"/>
    <p:sldId id="276" r:id="rIdAssemble21"/>
    <p:sldId id="277" r:id="rIdAssemble22"/>
    <p:sldId id="278" r:id="rIdAssemble23"/>
    <p:sldId id="279" r:id="rIdAssemble24"/>
    <p:sldId id="280" r:id="rIdAssemble25"/>
    <p:sldId id="281" r:id="rIdAssemble26"/>
    <p:sldId id="282" r:id="rIdAssemble27"/>
    <p:sldId id="283" r:id="rIdAssemble28"/>
    <p:sldId id="284" r:id="rIdAssemble29"/>
    <p:sldId id="285" r:id="rIdAssemble30"/>
    <p:sldId id="286" r:id="rIdAssemble31"/>
    <p:sldId id="287" r:id="rIdAssemble32"/>
    <p:sldId id="288" r:id="rIdAssemble33"/>
    <p:sldId id="289" r:id="rIdAssemble34"/>
    <p:sldId id="290" r:id="rIdAssemble35"/>
    <p:sldId id="291" r:id="rIdAssemble36"/>
  </p:sldIdLst>
  <p:sldSz cx="12192000" cy="6858000"/>
  <p:notesSz cx="6858000" cy="9144000"/>
  <p:custDataLst>
    <p:tags r:id="rId42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Times New Roman" panose="02020503050405090304"/>
        <a:ea typeface="微软雅黑"/>
        <a:cs typeface="Times New Roman" panose="020205030504050903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5" Type="http://schemas.openxmlformats.org/officeDocument/2006/relationships/slideMaster" Target="slideMasters/slideMaster4.xml"/><Relationship Id="rId42" Type="http://schemas.openxmlformats.org/officeDocument/2006/relationships/tags" Target="tags/tag1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Master" Target="slideMasters/slideMaster3.xml"/><Relationship Id="rId39" Type="http://schemas.openxmlformats.org/officeDocument/2006/relationships/presProps" Target="presProps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Assemble1" Type="http://schemas.openxmlformats.org/officeDocument/2006/relationships/slide" Target="slides/slide1001.xml"/><Relationship Id="rIdAssemble2" Type="http://schemas.openxmlformats.org/officeDocument/2006/relationships/slide" Target="slides/slide1002.xml"/><Relationship Id="rIdAssemble3" Type="http://schemas.openxmlformats.org/officeDocument/2006/relationships/slide" Target="slides/slide1003.xml"/><Relationship Id="rIdAssemble4" Type="http://schemas.openxmlformats.org/officeDocument/2006/relationships/slide" Target="slides/slide1004.xml"/><Relationship Id="rIdAssemble5" Type="http://schemas.openxmlformats.org/officeDocument/2006/relationships/slide" Target="slides/slide1005.xml"/><Relationship Id="rIdAssemble6" Type="http://schemas.openxmlformats.org/officeDocument/2006/relationships/slide" Target="slides/slide1006.xml"/><Relationship Id="rIdAssemble7" Type="http://schemas.openxmlformats.org/officeDocument/2006/relationships/slide" Target="slides/slide1007.xml"/><Relationship Id="rIdAssemble8" Type="http://schemas.openxmlformats.org/officeDocument/2006/relationships/slide" Target="slides/slide1008.xml"/><Relationship Id="rIdAssemble9" Type="http://schemas.openxmlformats.org/officeDocument/2006/relationships/slide" Target="slides/slide1009.xml"/><Relationship Id="rIdAssemble10" Type="http://schemas.openxmlformats.org/officeDocument/2006/relationships/slide" Target="slides/slide1010.xml"/><Relationship Id="rIdAssemble11" Type="http://schemas.openxmlformats.org/officeDocument/2006/relationships/slide" Target="slides/slide1011.xml"/><Relationship Id="rIdAssemble12" Type="http://schemas.openxmlformats.org/officeDocument/2006/relationships/slide" Target="slides/slide1012.xml"/><Relationship Id="rIdAssemble13" Type="http://schemas.openxmlformats.org/officeDocument/2006/relationships/slide" Target="slides/slide1013.xml"/><Relationship Id="rIdAssemble14" Type="http://schemas.openxmlformats.org/officeDocument/2006/relationships/slide" Target="slides/slide1014.xml"/><Relationship Id="rIdAssemble15" Type="http://schemas.openxmlformats.org/officeDocument/2006/relationships/slide" Target="slides/slide1015.xml"/><Relationship Id="rIdAssemble16" Type="http://schemas.openxmlformats.org/officeDocument/2006/relationships/slide" Target="slides/slide1016.xml"/><Relationship Id="rIdAssemble17" Type="http://schemas.openxmlformats.org/officeDocument/2006/relationships/slide" Target="slides/slide1017.xml"/><Relationship Id="rIdAssemble18" Type="http://schemas.openxmlformats.org/officeDocument/2006/relationships/slide" Target="slides/slide1018.xml"/><Relationship Id="rIdAssemble19" Type="http://schemas.openxmlformats.org/officeDocument/2006/relationships/slide" Target="slides/slide1019.xml"/><Relationship Id="rIdAssemble20" Type="http://schemas.openxmlformats.org/officeDocument/2006/relationships/slide" Target="slides/slide1020.xml"/><Relationship Id="rIdAssemble21" Type="http://schemas.openxmlformats.org/officeDocument/2006/relationships/slide" Target="slides/slide1021.xml"/><Relationship Id="rIdAssemble22" Type="http://schemas.openxmlformats.org/officeDocument/2006/relationships/slide" Target="slides/slide1022.xml"/><Relationship Id="rIdAssemble23" Type="http://schemas.openxmlformats.org/officeDocument/2006/relationships/slide" Target="slides/slide1023.xml"/><Relationship Id="rIdAssemble24" Type="http://schemas.openxmlformats.org/officeDocument/2006/relationships/slide" Target="slides/slide1024.xml"/><Relationship Id="rIdAssemble25" Type="http://schemas.openxmlformats.org/officeDocument/2006/relationships/slide" Target="slides/slide1025.xml"/><Relationship Id="rIdAssemble26" Type="http://schemas.openxmlformats.org/officeDocument/2006/relationships/slide" Target="slides/slide1026.xml"/><Relationship Id="rIdAssemble27" Type="http://schemas.openxmlformats.org/officeDocument/2006/relationships/slide" Target="slides/slide1027.xml"/><Relationship Id="rIdAssemble28" Type="http://schemas.openxmlformats.org/officeDocument/2006/relationships/slide" Target="slides/slide1028.xml"/><Relationship Id="rIdAssemble29" Type="http://schemas.openxmlformats.org/officeDocument/2006/relationships/slide" Target="slides/slide1029.xml"/><Relationship Id="rIdAssemble30" Type="http://schemas.openxmlformats.org/officeDocument/2006/relationships/slide" Target="slides/slide1030.xml"/><Relationship Id="rIdAssemble31" Type="http://schemas.openxmlformats.org/officeDocument/2006/relationships/slide" Target="slides/slide1031.xml"/><Relationship Id="rIdAssemble32" Type="http://schemas.openxmlformats.org/officeDocument/2006/relationships/slide" Target="slides/slide1032.xml"/><Relationship Id="rIdAssemble33" Type="http://schemas.openxmlformats.org/officeDocument/2006/relationships/slide" Target="slides/slide1033.xml"/><Relationship Id="rIdAssemble34" Type="http://schemas.openxmlformats.org/officeDocument/2006/relationships/slide" Target="slides/slide1034.xml"/><Relationship Id="rIdAssemble35" Type="http://schemas.openxmlformats.org/officeDocument/2006/relationships/slide" Target="slides/slide1035.xml"/><Relationship Id="rIdAssemble36" Type="http://schemas.openxmlformats.org/officeDocument/2006/relationships/slide" Target="slides/slide10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 algn="ctr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 algn="ctr">
              <a:buNone/>
              <a:defRPr sz="1800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 algn="ctr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2000" b="1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1800" b="1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2000" b="1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1800" b="1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1600" b="1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>
              <a:buNone/>
              <a:defRPr sz="2800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>
              <a:buNone/>
              <a:defRPr sz="2400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1400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1200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2800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2400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2000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Times New Roman" panose="02020503050405090304"/>
                <a:ea typeface="微软雅黑"/>
                <a:cs typeface="Times New Roman" panose="02020503050405090304"/>
              </a:defRPr>
            </a:lvl1pPr>
            <a:lvl2pPr marL="457200" indent="0">
              <a:buNone/>
              <a:defRPr sz="1400">
                <a:latin typeface="Times New Roman" panose="02020503050405090304"/>
                <a:ea typeface="微软雅黑"/>
                <a:cs typeface="Times New Roman" panose="02020503050405090304"/>
              </a:defRPr>
            </a:lvl2pPr>
            <a:lvl3pPr marL="914400" indent="0">
              <a:buNone/>
              <a:defRPr sz="1200">
                <a:latin typeface="Times New Roman" panose="02020503050405090304"/>
                <a:ea typeface="微软雅黑"/>
                <a:cs typeface="Times New Roman" panose="02020503050405090304"/>
              </a:defRPr>
            </a:lvl3pPr>
            <a:lvl4pPr marL="13716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4pPr>
            <a:lvl5pPr marL="18288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5pPr>
            <a:lvl6pPr marL="22860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6pPr>
            <a:lvl7pPr marL="27432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7pPr>
            <a:lvl8pPr marL="32004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8pPr>
            <a:lvl9pPr marL="3657600" indent="0">
              <a:buNone/>
              <a:defRPr sz="1000">
                <a:latin typeface="Times New Roman" panose="02020503050405090304"/>
                <a:ea typeface="微软雅黑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 algn="ctr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 algn="ctr">
              <a:buNone/>
              <a:defRPr sz="18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 algn="ctr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20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18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20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18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1600" b="1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>
              <a:buNone/>
              <a:defRPr sz="28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>
              <a:buNone/>
              <a:defRPr sz="24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14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28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24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2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  <a:lvl2pPr marL="457200" indent="0">
              <a:buNone/>
              <a:defRPr sz="14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2pPr>
            <a:lvl3pPr marL="914400" indent="0">
              <a:buNone/>
              <a:defRPr sz="12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3pPr>
            <a:lvl4pPr marL="13716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4pPr>
            <a:lvl5pPr marL="18288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5pPr>
            <a:lvl6pPr marL="22860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6pPr>
            <a:lvl7pPr marL="27432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7pPr>
            <a:lvl8pPr marL="32004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8pPr>
            <a:lvl9pPr marL="3657600" indent="0">
              <a:buNone/>
              <a:defRPr sz="1000"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'1.0' encoding='UTF-8' standalone='yes'?>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_rels/slideMaster4.xml.rels><?xml version='1.0' encoding='UTF-8' standalone='yes'?>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  <a:lvl2pPr marL="4572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2pPr>
      <a:lvl3pPr marL="9144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3pPr>
      <a:lvl4pPr marL="13716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4pPr>
      <a:lvl5pPr marL="18288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5pPr>
      <a:lvl6pPr marL="22860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6pPr>
      <a:lvl7pPr marL="27432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7pPr>
      <a:lvl8pPr marL="32004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8pPr>
      <a:lvl9pPr marL="3657600" algn="l">
        <a:buNone/>
        <a:defRPr sz="18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352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</p:titleStyle>
    <p:bodyStyle>
      <a:lvl1pPr marL="182880" indent="-182880" algn="l">
        <a:lnSpc>
          <a:spcPct val="90000"/>
        </a:lnSpc>
        <a:spcBef>
          <a:spcPts val="800"/>
        </a:spcBef>
        <a:buChar char="•"/>
        <a:defRPr sz="22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  <a:lvl2pPr marL="548640" indent="-182880" algn="l">
        <a:lnSpc>
          <a:spcPct val="90000"/>
        </a:lnSpc>
        <a:spcBef>
          <a:spcPts val="400"/>
        </a:spcBef>
        <a:buChar char="•"/>
        <a:defRPr sz="192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2pPr>
      <a:lvl3pPr marL="914400" indent="-182880" algn="l">
        <a:lnSpc>
          <a:spcPct val="90000"/>
        </a:lnSpc>
        <a:spcBef>
          <a:spcPts val="400"/>
        </a:spcBef>
        <a:buChar char="•"/>
        <a:defRPr sz="160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3pPr>
      <a:lvl4pPr marL="12801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4pPr>
      <a:lvl5pPr marL="164592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5pPr>
      <a:lvl6pPr marL="201168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6pPr>
      <a:lvl7pPr marL="237744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7pPr>
      <a:lvl8pPr marL="274320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8pPr>
      <a:lvl9pPr marL="31089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9pPr>
    </p:bodyStyle>
    <p:otherStyle>
      <a:lvl1pPr marL="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1pPr>
      <a:lvl2pPr marL="36576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2pPr>
      <a:lvl3pPr marL="73152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3pPr>
      <a:lvl4pPr marL="109728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4pPr>
      <a:lvl5pPr marL="146304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5pPr>
      <a:lvl6pPr marL="182880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6pPr>
      <a:lvl7pPr marL="219456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7pPr>
      <a:lvl8pPr marL="256032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8pPr>
      <a:lvl9pPr marL="2926080" algn="l">
        <a:buNone/>
        <a:defRPr sz="1440">
          <a:solidFill>
            <a:schemeClr val="tx1"/>
          </a:solidFill>
          <a:latin typeface="Times New Roman" panose="02020503050405090304"/>
          <a:ea typeface="微软雅黑"/>
          <a:cs typeface="Times New Roman" panose="020205030504050903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352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82880" indent="-182880" algn="l">
        <a:lnSpc>
          <a:spcPct val="90000"/>
        </a:lnSpc>
        <a:spcBef>
          <a:spcPts val="800"/>
        </a:spcBef>
        <a:buChar char="•"/>
        <a:defRPr sz="2240">
          <a:solidFill>
            <a:schemeClr val="tx1"/>
          </a:solidFill>
          <a:latin typeface="+mn-lt"/>
          <a:ea typeface="+mn-lt"/>
          <a:cs typeface="+mn-lt"/>
        </a:defRPr>
      </a:lvl1pPr>
      <a:lvl2pPr marL="548640" indent="-182880" algn="l">
        <a:lnSpc>
          <a:spcPct val="90000"/>
        </a:lnSpc>
        <a:spcBef>
          <a:spcPts val="400"/>
        </a:spcBef>
        <a:buChar char="•"/>
        <a:defRPr sz="1920">
          <a:solidFill>
            <a:schemeClr val="tx1"/>
          </a:solidFill>
          <a:latin typeface="+mn-lt"/>
          <a:ea typeface="+mn-lt"/>
          <a:cs typeface="+mn-lt"/>
        </a:defRPr>
      </a:lvl2pPr>
      <a:lvl3pPr marL="914400" indent="-182880" algn="l">
        <a:lnSpc>
          <a:spcPct val="90000"/>
        </a:lnSpc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3pPr>
      <a:lvl4pPr marL="12801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4pPr>
      <a:lvl5pPr marL="164592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5pPr>
      <a:lvl6pPr marL="201168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6pPr>
      <a:lvl7pPr marL="237744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7pPr>
      <a:lvl8pPr marL="274320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8pPr>
      <a:lvl9pPr marL="31089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1pPr>
      <a:lvl2pPr marL="36576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2pPr>
      <a:lvl3pPr marL="73152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3pPr>
      <a:lvl4pPr marL="109728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4pPr>
      <a:lvl5pPr marL="146304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5pPr>
      <a:lvl6pPr marL="182880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6pPr>
      <a:lvl7pPr marL="219456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7pPr>
      <a:lvl8pPr marL="256032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8pPr>
      <a:lvl9pPr marL="292608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503050405090304"/>
                <a:ea typeface="Times New Roman" panose="02020503050405090304"/>
                <a:cs typeface="Times New Roman" panose="02020503050405090304"/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1pPr>
      <a:lvl2pPr marL="4572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2pPr>
      <a:lvl3pPr marL="9144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3pPr>
      <a:lvl4pPr marL="13716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4pPr>
      <a:lvl5pPr marL="18288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5pPr>
      <a:lvl6pPr marL="22860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6pPr>
      <a:lvl7pPr marL="27432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7pPr>
      <a:lvl8pPr marL="32004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8pPr>
      <a:lvl9pPr marL="3657600" algn="l">
        <a:buNone/>
        <a:defRPr sz="1800">
          <a:solidFill>
            <a:schemeClr val="tx1"/>
          </a:solidFill>
          <a:latin typeface="Times New Roman" panose="02020503050405090304"/>
          <a:ea typeface="Times New Roman" panose="02020503050405090304"/>
          <a:cs typeface="Times New Roman" panose="02020503050405090304"/>
        </a:defRPr>
      </a:lvl9pPr>
    </p:otherStyle>
  </p:txStyles>
</p:sldMaster>
</file>

<file path=ppt/slides/_rels/slide100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code.com/cann/cann-learning-hub/tree/master/tutorials" TargetMode="External"/><Relationship Id="rId1" Type="http://schemas.openxmlformats.org/officeDocument/2006/relationships/image" Target="../media/image1.jpeg"/></Relationships>
</file>

<file path=ppt/slides/_rels/slide100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0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code.com/cann/cann-learning-hub/tree/master/tutorials/sft_training_pipeline/05_attention_operators" TargetMode="External"/><Relationship Id="rId1" Type="http://schemas.openxmlformats.org/officeDocument/2006/relationships/image" Target="../media/image7.png"/></Relationships>
</file>

<file path=ppt/slides/_rels/slide1004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05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06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07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08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09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0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1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code.com/cann/cann-learning-hub/tree/master/tutorials/sft_training_pipeline/06_varlen_attention" TargetMode="External"/><Relationship Id="rId1" Type="http://schemas.openxmlformats.org/officeDocument/2006/relationships/image" Target="../media/image7.png"/></Relationships>
</file>

<file path=ppt/slides/_rels/slide1013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4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5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6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7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8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19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0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2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code.com/cann/cann-learning-hub/tree/master/tutorials/sft_training_pipeline/07_distributed_comms" TargetMode="External"/><Relationship Id="rId1" Type="http://schemas.openxmlformats.org/officeDocument/2006/relationships/image" Target="../media/image7.png"/></Relationships>
</file>

<file path=ppt/slides/_rels/slide1023.xml.rels><?xml version='1.0' encoding='UTF-8' standalone='yes'?>
<Relationships xmlns="http://schemas.openxmlformats.org/package/2006/relationships"><Relationship Type="http://schemas.openxmlformats.org/officeDocument/2006/relationships/image" Target="../media/native_sft_image.png" Id="R173ed1a98a754d7f"/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4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5.xml.rels><?xml version='1.0' encoding='UTF-8' standalone='yes'?>
<Relationships xmlns="http://schemas.openxmlformats.org/package/2006/relationships"><Relationship Type="http://schemas.openxmlformats.org/officeDocument/2006/relationships/image" Target="../media/native_sft_image2.png" Id="R2425b3cb66814faf"/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6.xml.rels><?xml version='1.0' encoding='UTF-8' standalone='yes'?>
<Relationships xmlns="http://schemas.openxmlformats.org/package/2006/relationships"><Relationship Type="http://schemas.openxmlformats.org/officeDocument/2006/relationships/image" Target="../media/native_sft_image3.png" Id="R9834969bbf1e4c89"/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7.xml.rels><?xml version='1.0' encoding='UTF-8' standalone='yes'?>
<Relationships xmlns="http://schemas.openxmlformats.org/package/2006/relationships"><Relationship Type="http://schemas.openxmlformats.org/officeDocument/2006/relationships/image" Target="../media/native_sft_image4.png" Id="R55219ee20d3746cc"/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28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2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code.com/cann/cann-learning-hub/tree/master/tutorials/sft_training_pipeline/08_comm_optimizations" TargetMode="External"/><Relationship Id="rId1" Type="http://schemas.openxmlformats.org/officeDocument/2006/relationships/image" Target="../media/image7.png"/></Relationships>
</file>

<file path=ppt/slides/_rels/slide1030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31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32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33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34.xml.rels><?xml version='1.0' encoding='UTF-8' standalone='yes'?>
<Relationships xmlns="http://schemas.openxmlformats.org/package/2006/relationships"><Relationship Id="rIdAssemble1" Type="http://schemas.openxmlformats.org/officeDocument/2006/relationships/image" Target="../media/image2.png"/><Relationship Id="rIdAssemble2" Type="http://schemas.openxmlformats.org/officeDocument/2006/relationships/slideLayout" Target="../slideLayouts/slideLayout13.xml"/></Relationships>
</file>

<file path=ppt/slides/_rels/slide103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36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4.png"/><Relationship Id="rId3" Type="http://schemas.openxmlformats.org/officeDocument/2006/relationships/image" Target="../media/image13.jpeg"/><Relationship Id="rId2" Type="http://schemas.openxmlformats.org/officeDocument/2006/relationships/hyperlink" Target="https://gitcode.com/cann/cann-learning-hub/tree/master/tutorials" TargetMode="External"/><Relationship Id="rId1" Type="http://schemas.openxmlformats.org/officeDocument/2006/relationships/image" Target="../media/image7.png"/></Relationships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文本框 15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</a:t>
            </a:r>
            <a:endParaRPr sz="10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文本框 1"/>
          <p:cNvSpPr>
            <a:spLocks noGrp="1"/>
          </p:cNvSpPr>
          <p:nvPr/>
        </p:nvSpPr>
        <p:spPr>
          <a:xfrm>
            <a:off x="1604695" y="1399429"/>
            <a:ext cx="5211445" cy="33534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latin typeface="Times New Roman" panose="02020503050405090304"/>
                <a:ea typeface="微软雅黑"/>
                <a:cs typeface="Times New Roman" panose="02020503050405090304"/>
              </a:rPr>
              <a:t>CANN大模型训练系列</a:t>
            </a:r>
            <a:endParaRPr sz="40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r>
              <a:rPr sz="4000" b="1">
                <a:latin typeface="Times New Roman" panose="02020503050405090304"/>
                <a:ea typeface="微软雅黑"/>
                <a:cs typeface="Times New Roman" panose="02020503050405090304"/>
              </a:rPr>
              <a:t>SFT监督微调（中阶）</a:t>
            </a:r>
            <a:endParaRPr sz="40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l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 algn="ctr"/>
            <a:endParaRPr sz="2200" b="1"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slide-title"/>
          <p:cNvSpPr>
            <a:spLocks noGrp="1"/>
          </p:cNvSpPr>
          <p:nvPr/>
        </p:nvSpPr>
        <p:spPr>
          <a:xfrm>
            <a:off x="609600" y="320040"/>
            <a:ext cx="95250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课程目标</a:t>
            </a:r>
            <a:endParaRPr sz="27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5" name="intro"/>
          <p:cNvSpPr>
            <a:spLocks noGrp="1"/>
          </p:cNvSpPr>
          <p:nvPr/>
        </p:nvSpPr>
        <p:spPr>
          <a:xfrm>
            <a:off x="742950" y="1104900"/>
            <a:ext cx="107061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0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0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完成本课程后，能够解释注意力与通信优化，并用正确的边界和指标验证收益。</a:t>
            </a:r>
            <a:endParaRPr sz="200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goal-0-num"/>
          <p:cNvSpPr>
            <a:spLocks noGrp="1"/>
          </p:cNvSpPr>
          <p:nvPr/>
        </p:nvSpPr>
        <p:spPr>
          <a:xfrm>
            <a:off x="742950" y="19335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325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01</a:t>
            </a:r>
            <a:endParaRPr sz="2325" b="1">
              <a:solidFill>
                <a:srgbClr val="E60012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goal-0-head"/>
          <p:cNvSpPr>
            <a:spLocks noGrp="1"/>
          </p:cNvSpPr>
          <p:nvPr/>
        </p:nvSpPr>
        <p:spPr>
          <a:xfrm>
            <a:off x="1514475" y="1876425"/>
            <a:ext cx="9953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理解注意力算子</a:t>
            </a:r>
            <a:endParaRPr sz="202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goal-0-body"/>
          <p:cNvSpPr>
            <a:spLocks noGrp="1"/>
          </p:cNvSpPr>
          <p:nvPr/>
        </p:nvSpPr>
        <p:spPr>
          <a:xfrm>
            <a:off x="1514475" y="2286000"/>
            <a:ext cx="995362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读懂 causal 下三角，区分 SDPA、FlashAttention 与 GQA。</a:t>
            </a:r>
            <a:endParaRPr sz="180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goal-1-num"/>
          <p:cNvSpPr>
            <a:spLocks noGrp="1"/>
          </p:cNvSpPr>
          <p:nvPr/>
        </p:nvSpPr>
        <p:spPr>
          <a:xfrm>
            <a:off x="742950" y="28289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357AE8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325" b="1">
                <a:solidFill>
                  <a:srgbClr val="357AE8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02</a:t>
            </a:r>
            <a:endParaRPr sz="2325" b="1">
              <a:solidFill>
                <a:srgbClr val="357AE8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0" name="goal-1-head"/>
          <p:cNvSpPr>
            <a:spLocks noGrp="1"/>
          </p:cNvSpPr>
          <p:nvPr/>
        </p:nvSpPr>
        <p:spPr>
          <a:xfrm>
            <a:off x="1514475" y="2771775"/>
            <a:ext cx="9953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验证变长优化</a:t>
            </a:r>
            <a:endParaRPr sz="202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1" name="goal-1-body"/>
          <p:cNvSpPr>
            <a:spLocks noGrp="1"/>
          </p:cNvSpPr>
          <p:nvPr/>
        </p:nvSpPr>
        <p:spPr>
          <a:xfrm>
            <a:off x="1514475" y="3181350"/>
            <a:ext cx="995362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用分块下三角检查样本隔离，追踪累计长度与有效吞吐。</a:t>
            </a:r>
            <a:endParaRPr sz="180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2" name="goal-2-num"/>
          <p:cNvSpPr>
            <a:spLocks noGrp="1"/>
          </p:cNvSpPr>
          <p:nvPr/>
        </p:nvSpPr>
        <p:spPr>
          <a:xfrm>
            <a:off x="742950" y="37242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325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03</a:t>
            </a:r>
            <a:endParaRPr sz="2325" b="1">
              <a:solidFill>
                <a:srgbClr val="E60012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3" name="goal-2-head"/>
          <p:cNvSpPr>
            <a:spLocks noGrp="1"/>
          </p:cNvSpPr>
          <p:nvPr/>
        </p:nvSpPr>
        <p:spPr>
          <a:xfrm>
            <a:off x="1514475" y="3667125"/>
            <a:ext cx="9953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解释分布式通信</a:t>
            </a:r>
            <a:endParaRPr sz="202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4" name="goal-2-body"/>
          <p:cNvSpPr>
            <a:spLocks noGrp="1"/>
          </p:cNvSpPr>
          <p:nvPr/>
        </p:nvSpPr>
        <p:spPr>
          <a:xfrm>
            <a:off x="1514475" y="4076700"/>
            <a:ext cx="995362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辨认 FSDP、TP、CP 的 collective，理解布局与数据传输。</a:t>
            </a:r>
            <a:endParaRPr sz="180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5" name="goal-3-num"/>
          <p:cNvSpPr>
            <a:spLocks noGrp="1"/>
          </p:cNvSpPr>
          <p:nvPr/>
        </p:nvSpPr>
        <p:spPr>
          <a:xfrm>
            <a:off x="742950" y="46196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357AE8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325" b="1">
                <a:solidFill>
                  <a:srgbClr val="357AE8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04</a:t>
            </a:r>
            <a:endParaRPr sz="2325" b="1">
              <a:solidFill>
                <a:srgbClr val="357AE8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6" name="goal-3-head"/>
          <p:cNvSpPr>
            <a:spLocks noGrp="1"/>
          </p:cNvSpPr>
          <p:nvPr/>
        </p:nvSpPr>
        <p:spPr>
          <a:xfrm>
            <a:off x="1514475" y="4562475"/>
            <a:ext cx="9953625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02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评价协同收益</a:t>
            </a:r>
            <a:endParaRPr sz="202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7" name="goal-3-body"/>
          <p:cNvSpPr>
            <a:spLocks noGrp="1"/>
          </p:cNvSpPr>
          <p:nvPr/>
        </p:nvSpPr>
        <p:spPr>
          <a:xfrm>
            <a:off x="1514475" y="4972050"/>
            <a:ext cx="995362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区分容量、吞吐与通信证据，在版本边界内设计对照实验。</a:t>
            </a:r>
            <a:endParaRPr sz="180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8" name="key"/>
          <p:cNvSpPr>
            <a:spLocks noGrp="1"/>
          </p:cNvSpPr>
          <p:nvPr/>
        </p:nvSpPr>
        <p:spPr>
          <a:xfrm>
            <a:off x="742950" y="5857875"/>
            <a:ext cx="107061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E60012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延续初阶 Qwen3 / Wordle 训练，通过图示、配置和参考记录开展练习。</a:t>
            </a:r>
            <a:endParaRPr sz="1800" b="1">
              <a:solidFill>
                <a:srgbClr val="E60012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SFT 中阶课程</a:t>
            </a:r>
            <a:endParaRPr sz="40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5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https://gitcode.com/cann/cann-learning-hub/tree/master/tutorials/sft_training_pipeline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1 注意力算子优化</a:t>
            </a:r>
            <a:endParaRPr lang="zh-CN" altLang="en-US" sz="2400" b="0" i="0" u="none" cap="none">
              <a:ln>
                <a:noFill/>
              </a:ln>
              <a:solidFill>
                <a:srgbClr val="FFFFFF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2 变长注意力优化</a:t>
            </a:r>
            <a:endParaRPr lang="zh-CN" altLang="en-US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3 分布式通信演示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4 通信优化与 VarLen 协同</a:t>
            </a:r>
            <a:endParaRPr lang="en-US" alt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</p:sld>
</file>

<file path=ppt/slides/slide10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5A0FE8FD-D74D-4C57-8B1B-BC20A1AE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分清统一接口与实际执行的融合算子。">
            <a:extLst xmlns:a="http://schemas.openxmlformats.org/drawingml/2006/main">
              <a:ext uri="{FF2B5EF4-FFF2-40B4-BE49-F238E27FC236}">
                <a16:creationId xmlns:a16="http://schemas.microsoft.com/office/drawing/2014/main" id="{2388D488-DD4A-42B5-822E-9AD6EDCE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分清统一接口与实际执行的融合算子。</a:t>
            </a:r>
          </a:p>
        </p:txBody>
      </p:sp>
      <p:sp>
        <p:nvSpPr>
          <p:cNvPr id="6" name="Attention = softmax(QKᵀ / √D + mask) V">
            <a:extLst xmlns:a="http://schemas.openxmlformats.org/drawingml/2006/main">
              <a:ext uri="{FF2B5EF4-FFF2-40B4-BE49-F238E27FC236}">
                <a16:creationId xmlns:a16="http://schemas.microsoft.com/office/drawing/2014/main" id="{4213D966-BC2B-49C5-8E0C-DCA78DD5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10706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255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Attention = softmax(QKᵀ / √D + mask) V</a:t>
            </a:r>
          </a:p>
        </p:txBody>
      </p:sp>
      <p:sp>
        <p:nvSpPr>
          <p:cNvPr id="7" name="Q 查询当前要找什么，K 用于匹配，V 提供被汇总的信息。">
            <a:extLst xmlns:a="http://schemas.openxmlformats.org/drawingml/2006/main">
              <a:ext uri="{FF2B5EF4-FFF2-40B4-BE49-F238E27FC236}">
                <a16:creationId xmlns:a16="http://schemas.microsoft.com/office/drawing/2014/main" id="{8E2CB54C-9402-4801-9BED-5F0FF791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0706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Q 查询当前要找什么，K 用于匹配，V 提供被汇总的信息。</a:t>
            </a:r>
          </a:p>
        </p:txBody>
      </p:sp>
      <p:sp>
        <p:nvSpPr>
          <p:cNvPr id="8" name="SDPA 是统一接口，实际 backend 由输入与软件栈选择。">
            <a:extLst xmlns:a="http://schemas.openxmlformats.org/drawingml/2006/main">
              <a:ext uri="{FF2B5EF4-FFF2-40B4-BE49-F238E27FC236}">
                <a16:creationId xmlns:a16="http://schemas.microsoft.com/office/drawing/2014/main" id="{A7D9852C-106D-4287-81EB-5DF182A2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10706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SDPA 是统一接口，实际 backend 由输入与软件栈选择。</a:t>
            </a:r>
          </a:p>
        </p:txBody>
      </p:sp>
      <p:sp>
        <p:nvSpPr>
          <p:cNvPr id="9" name="FlashAttention 用分块与融合减少 HBM 往返。">
            <a:extLst xmlns:a="http://schemas.openxmlformats.org/drawingml/2006/main">
              <a:ext uri="{FF2B5EF4-FFF2-40B4-BE49-F238E27FC236}">
                <a16:creationId xmlns:a16="http://schemas.microsoft.com/office/drawing/2014/main" id="{6F1496B8-0F29-4D87-BAFD-B49D92C2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0706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FlashAttention 用分块与融合减少 HBM 往返。</a:t>
            </a:r>
          </a:p>
        </p:txBody>
      </p:sp>
      <p:sp>
        <p:nvSpPr>
          <p:cNvPr id="10" name="避免物化完整 score；dense 计算仍为 O(S²)。">
            <a:extLst xmlns:a="http://schemas.openxmlformats.org/drawingml/2006/main">
              <a:ext uri="{FF2B5EF4-FFF2-40B4-BE49-F238E27FC236}">
                <a16:creationId xmlns:a16="http://schemas.microsoft.com/office/drawing/2014/main" id="{367AF6EF-D0A6-4510-9D8D-6A966D15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10706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避免物化完整 score；dense 计算仍为 O(S²)。</a:t>
            </a:r>
          </a:p>
        </p:txBody>
      </p:sp>
      <p:sp>
        <p:nvSpPr>
          <p:cNvPr id="11" name="BF16、B=1、Nq=16、S=4096：单个 score 为 512 MiB。">
            <a:extLst xmlns:a="http://schemas.openxmlformats.org/drawingml/2006/main">
              <a:ext uri="{FF2B5EF4-FFF2-40B4-BE49-F238E27FC236}">
                <a16:creationId xmlns:a16="http://schemas.microsoft.com/office/drawing/2014/main" id="{84F0F4CC-156A-4E59-9204-F8CDB787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72025"/>
            <a:ext cx="10706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BF16、B=1、Nq=16、S=4096：单个 score 为 512 MiB。</a:t>
            </a:r>
          </a:p>
        </p:txBody>
      </p:sp>
      <p:sp>
        <p:nvSpPr>
          <p:cNvPr id="12" name="接口名称说明入口；设备事件才说明实际执行路径。">
            <a:extLst xmlns:a="http://schemas.openxmlformats.org/drawingml/2006/main">
              <a:ext uri="{FF2B5EF4-FFF2-40B4-BE49-F238E27FC236}">
                <a16:creationId xmlns:a16="http://schemas.microsoft.com/office/drawing/2014/main" id="{6240C709-5F96-4A52-9C75-24AD2748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接口名称说明入口；设备事件才说明实际执行路径。</a:t>
            </a:r>
          </a:p>
        </p:txBody>
      </p:sp>
    </p:spTree>
    <p:extLst>
      <p:ext uri="{BB962C8B-B14F-4D97-AF65-F5344CB8AC3E}">
        <p14:creationId xmlns:p14="http://schemas.microsoft.com/office/powerpoint/2010/main" val="225688626"/>
      </p:ext>
    </p:extLst>
  </p:cSld>
</p:sld>
</file>

<file path=ppt/slides/slide10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74596805-7689-4B9A-96D2-F561617D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Causal Attention：每个位置只能读取自己和之前的 token。">
            <a:extLst xmlns:a="http://schemas.openxmlformats.org/drawingml/2006/main">
              <a:ext uri="{FF2B5EF4-FFF2-40B4-BE49-F238E27FC236}">
                <a16:creationId xmlns:a16="http://schemas.microsoft.com/office/drawing/2014/main" id="{AA696573-7690-452E-9B52-A2BE332C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Causal Attention：每个位置只能读取自己和之前的 token。</a:t>
            </a:r>
          </a:p>
        </p:txBody>
      </p:sp>
      <p:sp>
        <p:nvSpPr>
          <p:cNvPr id="6" name="列 K：被读取的 token">
            <a:extLst xmlns:a="http://schemas.openxmlformats.org/drawingml/2006/main">
              <a:ext uri="{FF2B5EF4-FFF2-40B4-BE49-F238E27FC236}">
                <a16:creationId xmlns:a16="http://schemas.microsoft.com/office/drawing/2014/main" id="{78319286-1F16-49F2-A90D-2BF4A950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676400"/>
            <a:ext cx="3857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列 K：被读取的 token</a:t>
            </a:r>
          </a:p>
        </p:txBody>
      </p:sp>
      <p:sp>
        <p:nvSpPr>
          <p:cNvPr id="7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88ECB6F7-61D9-472B-AD77-94134B8C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" name="Q/K">
            <a:extLst xmlns:a="http://schemas.openxmlformats.org/drawingml/2006/main">
              <a:ext uri="{FF2B5EF4-FFF2-40B4-BE49-F238E27FC236}">
                <a16:creationId xmlns:a16="http://schemas.microsoft.com/office/drawing/2014/main" id="{C3B24A7D-A4E9-4836-A605-647BE3C0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9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FE9D98A0-1FF1-4901-BCB7-5240D130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" name="t1">
            <a:extLst xmlns:a="http://schemas.openxmlformats.org/drawingml/2006/main">
              <a:ext uri="{FF2B5EF4-FFF2-40B4-BE49-F238E27FC236}">
                <a16:creationId xmlns:a16="http://schemas.microsoft.com/office/drawing/2014/main" id="{58CBDC00-74AD-47AA-ABC1-18D310DC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t1</a:t>
            </a:r>
          </a:p>
        </p:txBody>
      </p:sp>
      <p:sp>
        <p:nvSpPr>
          <p:cNvPr id="11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C5B25EB2-2C6E-424F-836E-00601422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" name="t2">
            <a:extLst xmlns:a="http://schemas.openxmlformats.org/drawingml/2006/main">
              <a:ext uri="{FF2B5EF4-FFF2-40B4-BE49-F238E27FC236}">
                <a16:creationId xmlns:a16="http://schemas.microsoft.com/office/drawing/2014/main" id="{609DF6A4-D8E6-466F-81A8-F9E8DD68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t2</a:t>
            </a:r>
          </a:p>
        </p:txBody>
      </p:sp>
      <p:sp>
        <p:nvSpPr>
          <p:cNvPr id="13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DCFD9D3A-71EA-4841-A653-7870FFC5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" name="t3">
            <a:extLst xmlns:a="http://schemas.openxmlformats.org/drawingml/2006/main">
              <a:ext uri="{FF2B5EF4-FFF2-40B4-BE49-F238E27FC236}">
                <a16:creationId xmlns:a16="http://schemas.microsoft.com/office/drawing/2014/main" id="{1C8C1B88-7901-4458-AA90-00A0F1C4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t3</a:t>
            </a:r>
          </a:p>
        </p:txBody>
      </p:sp>
      <p:sp>
        <p:nvSpPr>
          <p:cNvPr id="15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9994841D-501C-4DC2-B6CD-6F7FA183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6" name="t4">
            <a:extLst xmlns:a="http://schemas.openxmlformats.org/drawingml/2006/main">
              <a:ext uri="{FF2B5EF4-FFF2-40B4-BE49-F238E27FC236}">
                <a16:creationId xmlns:a16="http://schemas.microsoft.com/office/drawing/2014/main" id="{F613AA3E-02B2-4A7E-B066-F23E6FF2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t4</a:t>
            </a:r>
          </a:p>
        </p:txBody>
      </p:sp>
      <p:sp>
        <p:nvSpPr>
          <p:cNvPr id="17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A2EB6BF5-F301-4AA6-9F83-38D9F4CA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8" name="t5">
            <a:extLst xmlns:a="http://schemas.openxmlformats.org/drawingml/2006/main">
              <a:ext uri="{FF2B5EF4-FFF2-40B4-BE49-F238E27FC236}">
                <a16:creationId xmlns:a16="http://schemas.microsoft.com/office/drawing/2014/main" id="{D1BF81EE-6B46-4C93-A643-00177130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t5</a:t>
            </a:r>
          </a:p>
        </p:txBody>
      </p:sp>
      <p:sp>
        <p:nvSpPr>
          <p:cNvPr id="19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57D12BE6-4377-4B38-9162-7026D427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764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0" name="t6">
            <a:extLst xmlns:a="http://schemas.openxmlformats.org/drawingml/2006/main">
              <a:ext uri="{FF2B5EF4-FFF2-40B4-BE49-F238E27FC236}">
                <a16:creationId xmlns:a16="http://schemas.microsoft.com/office/drawing/2014/main" id="{27E6BB35-2CEE-4B36-B44A-6E4FFD22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1704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t6</a:t>
            </a:r>
          </a:p>
        </p:txBody>
      </p:sp>
      <p:sp>
        <p:nvSpPr>
          <p:cNvPr id="21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4B5B5CC8-D451-4612-9D89-E42F029A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2" name="t1">
            <a:extLst xmlns:a="http://schemas.openxmlformats.org/drawingml/2006/main">
              <a:ext uri="{FF2B5EF4-FFF2-40B4-BE49-F238E27FC236}">
                <a16:creationId xmlns:a16="http://schemas.microsoft.com/office/drawing/2014/main" id="{BB64ADB2-398A-48DF-A80C-732EC50D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18137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t1</a:t>
            </a:r>
          </a:p>
        </p:txBody>
      </p:sp>
      <p:sp>
        <p:nvSpPr>
          <p:cNvPr id="23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C271BEBF-E879-4B6C-AA01-2726226A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4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8EACF06D-F8B3-4D22-A182-2666EC1C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5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1E2CBBA6-55CA-454E-B53A-C4C799C2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6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025AF43C-1061-41B0-BFD2-4C0EC860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7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EFA7DFF4-C55E-44FF-8776-06143BBF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8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F239D16E-8870-4AB3-A8E2-C2EF4124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241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9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64A6E2DE-E861-497A-9826-F5EBE5F5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0" name="t2">
            <a:extLst xmlns:a="http://schemas.openxmlformats.org/drawingml/2006/main">
              <a:ext uri="{FF2B5EF4-FFF2-40B4-BE49-F238E27FC236}">
                <a16:creationId xmlns:a16="http://schemas.microsoft.com/office/drawing/2014/main" id="{61F90366-70C0-42F6-8E50-5A2E6C98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581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t2</a:t>
            </a:r>
          </a:p>
        </p:txBody>
      </p:sp>
      <p:sp>
        <p:nvSpPr>
          <p:cNvPr id="31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29CBF437-1929-42C9-96AC-4B9494B3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2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B32E1B46-4854-4494-B14E-1E58FB7F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3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7A7AAD13-A301-497C-A715-3B89A9F4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4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97EEEE86-6713-46DE-90A2-826DDE9A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5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1CE93B1D-F66A-4F1F-A9F4-7728BED8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6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E694076E-B758-42F8-8599-CDC9ECE7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718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7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03C663C8-17E1-44F8-B50C-F2733AC3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8" name="t3">
            <a:extLst xmlns:a="http://schemas.openxmlformats.org/drawingml/2006/main">
              <a:ext uri="{FF2B5EF4-FFF2-40B4-BE49-F238E27FC236}">
                <a16:creationId xmlns:a16="http://schemas.microsoft.com/office/drawing/2014/main" id="{99651903-3595-47F1-B5F4-C06080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13487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t3</a:t>
            </a:r>
          </a:p>
        </p:txBody>
      </p:sp>
      <p:sp>
        <p:nvSpPr>
          <p:cNvPr id="39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C3BA6FF4-BD7C-4E80-8402-E0A61DD6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0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42EE42D5-9FF0-4855-99C3-D69F5C5E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1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07CA44EB-5B1E-4CEB-A744-42D6BCBD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2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F8785028-B4A1-4745-8F57-258E79CE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3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11DF0613-16C0-4282-BA77-2444256A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4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1CB6DAEC-2E6B-4FBD-B0A1-60652CAD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1947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5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08E1B8B8-46A9-45C1-80C5-6D39E6F2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6" name="t4">
            <a:extLst xmlns:a="http://schemas.openxmlformats.org/drawingml/2006/main">
              <a:ext uri="{FF2B5EF4-FFF2-40B4-BE49-F238E27FC236}">
                <a16:creationId xmlns:a16="http://schemas.microsoft.com/office/drawing/2014/main" id="{C1823A3B-9E1D-447B-AB75-DBF3B9B6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116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t4</a:t>
            </a:r>
          </a:p>
        </p:txBody>
      </p:sp>
      <p:sp>
        <p:nvSpPr>
          <p:cNvPr id="47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B70011E9-CCE4-431A-BC6A-DA888711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2DA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8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FFE12F00-083A-42FB-AF30-DB762FDD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2DA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9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B7A03119-1515-4A53-974C-AB262A5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2DA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0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6132FEF8-0B52-46E7-B144-2D57DE30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2DA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1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4A4550A4-1117-4153-B55C-15F7FB03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2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C6A10CA0-2049-4FDB-9044-DEEB19E4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6715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3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E1AAAC9C-7A2E-4063-8984-54F05468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4" name="t5">
            <a:extLst xmlns:a="http://schemas.openxmlformats.org/drawingml/2006/main">
              <a:ext uri="{FF2B5EF4-FFF2-40B4-BE49-F238E27FC236}">
                <a16:creationId xmlns:a16="http://schemas.microsoft.com/office/drawing/2014/main" id="{6FF33058-024D-4D5E-95C5-DF1A3F76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8837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t5</a:t>
            </a:r>
          </a:p>
        </p:txBody>
      </p:sp>
      <p:sp>
        <p:nvSpPr>
          <p:cNvPr id="55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0D0A1724-6827-4EAE-BA2E-C454FD54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6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3CEF5248-4257-41BE-9F27-B1840852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7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CF3A56D9-8F5F-45F5-A931-8A308E0E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8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CEB68C36-AD4E-4EE1-AB47-3A7EDCAC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9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993FAC69-A773-410A-9ADC-21B89A09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0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79CB471B-0C3B-4EF5-A6FC-6425D290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14825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1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15F3E484-F777-4F71-85ED-661FB827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2" name="t6">
            <a:extLst xmlns:a="http://schemas.openxmlformats.org/drawingml/2006/main">
              <a:ext uri="{FF2B5EF4-FFF2-40B4-BE49-F238E27FC236}">
                <a16:creationId xmlns:a16="http://schemas.microsoft.com/office/drawing/2014/main" id="{68A98B71-8945-4C6F-B568-909895C0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56512"/>
            <a:ext cx="44767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t6</a:t>
            </a:r>
          </a:p>
        </p:txBody>
      </p:sp>
      <p:sp>
        <p:nvSpPr>
          <p:cNvPr id="63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788C6B58-B054-484C-AC7D-82520CF4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4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F201DBA1-4921-4E32-8CDE-0D22F3FE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5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1208D809-68CE-47B7-8718-1941DB6D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6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A5210F6F-A608-4885-8EAE-6ADDB06F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7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C1475F89-05EA-4825-A920-17C3672A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8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8263AFE2-629C-47F4-8E87-ADC75BF0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62500"/>
            <a:ext cx="4476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9" name="行 Q：当前查询位置">
            <a:extLst xmlns:a="http://schemas.openxmlformats.org/drawingml/2006/main">
              <a:ext uri="{FF2B5EF4-FFF2-40B4-BE49-F238E27FC236}">
                <a16:creationId xmlns:a16="http://schemas.microsoft.com/office/drawing/2014/main" id="{C4397C80-C4A2-48BD-8EF4-2120B1AB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05425"/>
            <a:ext cx="4286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行 Q：当前查询位置</a:t>
            </a:r>
          </a:p>
        </p:txBody>
      </p:sp>
      <p:sp>
        <p:nvSpPr>
          <p:cNvPr id="70" name="Causal = 因果约束">
            <a:extLst xmlns:a="http://schemas.openxmlformats.org/drawingml/2006/main">
              <a:ext uri="{FF2B5EF4-FFF2-40B4-BE49-F238E27FC236}">
                <a16:creationId xmlns:a16="http://schemas.microsoft.com/office/drawing/2014/main" id="{0F727BFF-D845-439C-B395-3EE07E4C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478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1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Causal = 因果约束</a:t>
            </a:r>
          </a:p>
        </p:txBody>
      </p:sp>
      <p:sp>
        <p:nvSpPr>
          <p:cNvPr id="71" name="第 i 行只能读取 j ≤ i 的位置。&#10;蓝色下三角包含主对角线。">
            <a:extLst xmlns:a="http://schemas.openxmlformats.org/drawingml/2006/main">
              <a:ext uri="{FF2B5EF4-FFF2-40B4-BE49-F238E27FC236}">
                <a16:creationId xmlns:a16="http://schemas.microsoft.com/office/drawing/2014/main" id="{F2049336-9A71-4BFA-92D4-D20D71DE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第 i 行只能读取 j ≤ i 的位置。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蓝色下三角包含主对角线。</a:t>
            </a:r>
          </a:p>
        </p:txBody>
      </p:sp>
      <p:sp>
        <p:nvSpPr>
          <p:cNvPr id="72" name="t4 读取 t1～t4，用来预测 t5。&#10;因此不能提前读取 t5、t6，&#10;否则训练时就泄漏了答案">
            <a:extLst xmlns:a="http://schemas.openxmlformats.org/drawingml/2006/main">
              <a:ext uri="{FF2B5EF4-FFF2-40B4-BE49-F238E27FC236}">
                <a16:creationId xmlns:a16="http://schemas.microsoft.com/office/drawing/2014/main" id="{1C4B10E8-C722-47E4-B4AE-37349982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19475"/>
            <a:ext cx="542925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t4 读取 t1～t4，用来预测 t5。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因此不能提前读取 t5、t6，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否则训练时就泄漏了答案。</a:t>
            </a:r>
          </a:p>
        </p:txBody>
      </p:sp>
      <p:sp>
        <p:nvSpPr>
          <p:cNvPr id="73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798BED9C-DF7C-435E-B7FA-F44F4F0A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863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4" name="可见">
            <a:extLst xmlns:a="http://schemas.openxmlformats.org/drawingml/2006/main">
              <a:ext uri="{FF2B5EF4-FFF2-40B4-BE49-F238E27FC236}">
                <a16:creationId xmlns:a16="http://schemas.microsoft.com/office/drawing/2014/main" id="{9B73FEE0-1BBA-4430-B74C-2EA7FC4B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57750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可见</a:t>
            </a:r>
          </a:p>
        </p:txBody>
      </p:sp>
      <p:sp>
        <p:nvSpPr>
          <p:cNvPr id="75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2ABCB5BE-BD35-485B-9446-2D497E26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863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6" name="不可见">
            <a:extLst xmlns:a="http://schemas.openxmlformats.org/drawingml/2006/main">
              <a:ext uri="{FF2B5EF4-FFF2-40B4-BE49-F238E27FC236}">
                <a16:creationId xmlns:a16="http://schemas.microsoft.com/office/drawing/2014/main" id="{CC61341F-93E7-40BB-A934-9195C122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不可见</a:t>
            </a:r>
          </a:p>
        </p:txBody>
      </p:sp>
      <p:sp>
        <p:nvSpPr>
          <p:cNvPr id="77" name="色块表示读取许可，不表示注意力权重。">
            <a:extLst xmlns:a="http://schemas.openxmlformats.org/drawingml/2006/main">
              <a:ext uri="{FF2B5EF4-FFF2-40B4-BE49-F238E27FC236}">
                <a16:creationId xmlns:a16="http://schemas.microsoft.com/office/drawing/2014/main" id="{58F26FD3-02F5-42CC-9D88-D626C64D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305425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色块表示读取许可，不表示注意力权重。</a:t>
            </a:r>
          </a:p>
        </p:txBody>
      </p:sp>
      <p:sp>
        <p:nvSpPr>
          <p:cNvPr id="78" name="训练可并行计算多个位置，causal mask 负责阻止未来信息泄漏。">
            <a:extLst xmlns:a="http://schemas.openxmlformats.org/drawingml/2006/main">
              <a:ext uri="{FF2B5EF4-FFF2-40B4-BE49-F238E27FC236}">
                <a16:creationId xmlns:a16="http://schemas.microsoft.com/office/drawing/2014/main" id="{A2E20714-9633-4DED-8554-AA1194C7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训练可并行计算多个位置，causal mask 负责阻止未来信息泄漏。</a:t>
            </a:r>
          </a:p>
        </p:txBody>
      </p:sp>
    </p:spTree>
    <p:extLst>
      <p:ext uri="{BB962C8B-B14F-4D97-AF65-F5344CB8AC3E}">
        <p14:creationId xmlns:p14="http://schemas.microsoft.com/office/powerpoint/2010/main" val="589271920"/>
      </p:ext>
    </p:extLst>
  </p:cSld>
</p:sld>
</file>

<file path=ppt/slides/slide10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A6A0504F-8A93-45DD-95F8-0ADE111B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不同优化分别改变搬运、头数和可见范围。">
            <a:extLst xmlns:a="http://schemas.openxmlformats.org/drawingml/2006/main">
              <a:ext uri="{FF2B5EF4-FFF2-40B4-BE49-F238E27FC236}">
                <a16:creationId xmlns:a16="http://schemas.microsoft.com/office/drawing/2014/main" id="{496E8B05-8219-43C8-8D40-EEFD4F2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不同优化分别改变搬运、头数和可见范围。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048000"/>
                <a:gridCol w="3810000"/>
                <a:gridCol w="384810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机制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确定改变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不能直接推出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FlashAttention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分块融合，减少搬运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dense 复杂度变为线性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GQA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16Q 共享 8KV；KV 侧减半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score 与 QK/PV 同比减半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文档掩码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同文档内因果可见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按 mask 空白同比少算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VarLen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累计长度表达隔离区间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pair 比例等于整步加速比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同 D 对照：K/V 投影、紧凑 activation 与 KV cache 对应部分减半。">
            <a:extLst xmlns:a="http://schemas.openxmlformats.org/drawingml/2006/main">
              <a:ext uri="{FF2B5EF4-FFF2-40B4-BE49-F238E27FC236}">
                <a16:creationId xmlns:a16="http://schemas.microsoft.com/office/drawing/2014/main" id="{F3DC9C9A-F83B-4AE5-81ED-0A8FF5BE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同 D 对照：K/V 投影、紧凑 activation 与 KV cache 对应部分减半。</a:t>
            </a:r>
          </a:p>
        </p:txBody>
      </p:sp>
      <p:sp>
        <p:nvSpPr>
          <p:cNvPr id="8" name="GQA 减少 KV 侧规模；实际速度仍取决于具体内核和形状。">
            <a:extLst xmlns:a="http://schemas.openxmlformats.org/drawingml/2006/main">
              <a:ext uri="{FF2B5EF4-FFF2-40B4-BE49-F238E27FC236}">
                <a16:creationId xmlns:a16="http://schemas.microsoft.com/office/drawing/2014/main" id="{BC936B77-2866-4096-A420-E4FC8D56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GQA 减少 KV 侧规模；实际速度仍取决于具体内核和形状。</a:t>
            </a:r>
          </a:p>
        </p:txBody>
      </p:sp>
    </p:spTree>
    <p:extLst>
      <p:ext uri="{BB962C8B-B14F-4D97-AF65-F5344CB8AC3E}">
        <p14:creationId xmlns:p14="http://schemas.microsoft.com/office/powerpoint/2010/main" val="1782359431"/>
      </p:ext>
    </p:extLst>
  </p:cSld>
</p:sld>
</file>

<file path=ppt/slides/slide10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46A82DCC-E8EF-48C3-B56A-8C240544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固定语义与形状，再检查正确性、计时和 trace。">
            <a:extLst xmlns:a="http://schemas.openxmlformats.org/drawingml/2006/main">
              <a:ext uri="{FF2B5EF4-FFF2-40B4-BE49-F238E27FC236}">
                <a16:creationId xmlns:a16="http://schemas.microsoft.com/office/drawing/2014/main" id="{DAD6CD03-CA00-4D81-983B-756A6B6C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固定语义与形状，再检查正确性、计时和 trace。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048000"/>
                <a:gridCol w="3810000"/>
                <a:gridCol w="384810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对照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固定条件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验证什么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eager / SDPA / V3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B=1，同一 causal 输入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数值与实际路径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MHA / GQA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B=2，只改 Nkv=16/8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K/V 缩小的实际收益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causal / 文档掩码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六 token 的 CPU 示例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跨文档读取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VarLen 分段扫描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T=4096，只改累计长度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语义与跳算收益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F16、Nq=16、D=128、S/T=4096。GQA 组 B=2，其余 NPU 组 B=1">
            <a:extLst xmlns:a="http://schemas.openxmlformats.org/drawingml/2006/main">
              <a:ext uri="{FF2B5EF4-FFF2-40B4-BE49-F238E27FC236}">
                <a16:creationId xmlns:a16="http://schemas.microsoft.com/office/drawing/2014/main" id="{9DBFEF69-8DE6-4EA9-B359-1C2ED8E1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BF16、Nq=16、D=128、S/T=4096。GQA 组 B=2，其余 NPU 组 B=1。</a:t>
            </a:r>
          </a:p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复用固定输入，5 次预热、20 次重复，计时前后同步。</a:t>
            </a:r>
          </a:p>
        </p:txBody>
      </p:sp>
      <p:sp>
        <p:nvSpPr>
          <p:cNvPr id="8" name="先核对输出与梯度，再用重复 wall-time 和 trace 判断性能。">
            <a:extLst xmlns:a="http://schemas.openxmlformats.org/drawingml/2006/main">
              <a:ext uri="{FF2B5EF4-FFF2-40B4-BE49-F238E27FC236}">
                <a16:creationId xmlns:a16="http://schemas.microsoft.com/office/drawing/2014/main" id="{264960E3-EA37-4E8F-A2F2-864D9EE8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先核对输出与梯度，再用重复 wall-time 和 trace 判断性能。</a:t>
            </a:r>
          </a:p>
        </p:txBody>
      </p:sp>
    </p:spTree>
    <p:extLst>
      <p:ext uri="{BB962C8B-B14F-4D97-AF65-F5344CB8AC3E}">
        <p14:creationId xmlns:p14="http://schemas.microsoft.com/office/powerpoint/2010/main" val="960147935"/>
      </p:ext>
    </p:extLst>
  </p:cSld>
</p:sld>
</file>

<file path=ppt/slides/slide10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1F7B74F2-D72C-4FB8-9193-0BE49935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模型根据样本位置重置恢复文档边界。">
            <a:extLst xmlns:a="http://schemas.openxmlformats.org/drawingml/2006/main">
              <a:ext uri="{FF2B5EF4-FFF2-40B4-BE49-F238E27FC236}">
                <a16:creationId xmlns:a16="http://schemas.microsoft.com/office/drawing/2014/main" id="{E25C76CB-0755-4D04-942A-CB01BD3F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模型根据样本位置重置恢复文档边界。</a:t>
            </a:r>
          </a:p>
        </p:txBody>
      </p:sp>
      <p:sp>
        <p:nvSpPr>
          <p:cNvPr id="6" name="EOS 结束消息；一条多轮样本可含多个 EOS。">
            <a:extLst xmlns:a="http://schemas.openxmlformats.org/drawingml/2006/main">
              <a:ext uri="{FF2B5EF4-FFF2-40B4-BE49-F238E27FC236}">
                <a16:creationId xmlns:a16="http://schemas.microsoft.com/office/drawing/2014/main" id="{25F7C100-720A-43FD-BA6C-98343CEF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383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EOS 结束消息；一条多轮样本可含多个 EOS。</a:t>
            </a:r>
          </a:p>
        </p:txBody>
      </p:sp>
      <p:sp>
        <p:nvSpPr>
          <p:cNvPr id="7" name="labels=-100 只屏蔽 loss，不阻止读取 K/V。">
            <a:extLst xmlns:a="http://schemas.openxmlformats.org/drawingml/2006/main">
              <a:ext uri="{FF2B5EF4-FFF2-40B4-BE49-F238E27FC236}">
                <a16:creationId xmlns:a16="http://schemas.microsoft.com/office/drawing/2014/main" id="{D4A37199-41CC-4FF8-B0AD-5BF634F5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labels=-100 只屏蔽 loss，不阻止读取 K/V。</a:t>
            </a:r>
          </a:p>
        </p:txBody>
      </p:sp>
      <p:sp>
        <p:nvSpPr>
          <p:cNvPr id="8" name="新样本的 positions 从 0 重启，Decoder 据此恢复边界。">
            <a:extLst xmlns:a="http://schemas.openxmlformats.org/drawingml/2006/main">
              <a:ext uri="{FF2B5EF4-FFF2-40B4-BE49-F238E27FC236}">
                <a16:creationId xmlns:a16="http://schemas.microsoft.com/office/drawing/2014/main" id="{9A4F8AAB-EF90-4CEF-A957-B011073E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新样本的 positions 从 0 重启，Decoder 据此恢复边界。</a:t>
            </a:r>
          </a:p>
        </p:txBody>
      </p:sp>
      <p:sp>
        <p:nvSpPr>
          <p:cNvPr id="9" name="[0,1,2,0,1,0,1,2] → cu_seq=[0,3,5,8]">
            <a:extLst xmlns:a="http://schemas.openxmlformats.org/drawingml/2006/main">
              <a:ext uri="{FF2B5EF4-FFF2-40B4-BE49-F238E27FC236}">
                <a16:creationId xmlns:a16="http://schemas.microsoft.com/office/drawing/2014/main" id="{838CB7A7-1894-42C7-AF41-80507937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[0,1,2,0,1,0,1,2] → cu_seq=[0,3,5,8]</a:t>
            </a:r>
          </a:p>
        </p:txBody>
      </p:sp>
      <p:sp>
        <p:nvSpPr>
          <p:cNvPr id="10" name="累计边界还须转成 mask / metadata，才能隔离样本。">
            <a:extLst xmlns:a="http://schemas.openxmlformats.org/drawingml/2006/main">
              <a:ext uri="{FF2B5EF4-FFF2-40B4-BE49-F238E27FC236}">
                <a16:creationId xmlns:a16="http://schemas.microsoft.com/office/drawing/2014/main" id="{D8A4DD31-41E8-4120-A805-7C49EA30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434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累计边界还须转成 mask / metadata，才能隔离样本。</a:t>
            </a:r>
          </a:p>
        </p:txBody>
      </p:sp>
      <p:sp>
        <p:nvSpPr>
          <p:cNvPr id="11" name="位置重置保存边界，Decoder 生成的 mask 或 metadata 执行隔离。">
            <a:extLst xmlns:a="http://schemas.openxmlformats.org/drawingml/2006/main">
              <a:ext uri="{FF2B5EF4-FFF2-40B4-BE49-F238E27FC236}">
                <a16:creationId xmlns:a16="http://schemas.microsoft.com/office/drawing/2014/main" id="{7836668F-EF81-430A-B16C-BA8D8F4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位置重置保存边界，Decoder 生成的 mask 或 metadata 执行隔离。</a:t>
            </a:r>
          </a:p>
        </p:txBody>
      </p:sp>
    </p:spTree>
    <p:extLst>
      <p:ext uri="{BB962C8B-B14F-4D97-AF65-F5344CB8AC3E}">
        <p14:creationId xmlns:p14="http://schemas.microsoft.com/office/powerpoint/2010/main" val="880372942"/>
      </p:ext>
    </p:extLst>
  </p:cSld>
</p:sld>
</file>

<file path=ppt/slides/slide10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003029DE-0DED-4B43-B2E6-E9258C8C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同一可见区域，在不同接口中使用不同编码。">
            <a:extLst xmlns:a="http://schemas.openxmlformats.org/drawingml/2006/main">
              <a:ext uri="{FF2B5EF4-FFF2-40B4-BE49-F238E27FC236}">
                <a16:creationId xmlns:a16="http://schemas.microsoft.com/office/drawing/2014/main" id="{7060D025-EC65-4F39-97B7-D328D493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同一可见区域，在不同接口中使用不同编码。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5334000"/>
                <a:gridCol w="2686050"/>
                <a:gridCol w="268605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表示或接口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允许读取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禁止读取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加性 score mask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−∞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SDPA 的 bool attn_mask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True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False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Flex 的 mask_mod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True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False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本课 FA v3 的 atten_mask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False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True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FA v3 使用压缩 causal mask；样本边界另由 actual_seq 指定。">
            <a:extLst xmlns:a="http://schemas.openxmlformats.org/drawingml/2006/main">
              <a:ext uri="{FF2B5EF4-FFF2-40B4-BE49-F238E27FC236}">
                <a16:creationId xmlns:a16="http://schemas.microsoft.com/office/drawing/2014/main" id="{1F1E2766-AF10-49B2-962C-FEA725D7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FA v3 使用压缩 causal mask；样本边界另由 actual_seq 指定。</a:t>
            </a:r>
          </a:p>
        </p:txBody>
      </p:sp>
      <p:sp>
        <p:nvSpPr>
          <p:cNvPr id="8" name="蓝格表示逻辑可见性，转换到接口时先核对编码方向。">
            <a:extLst xmlns:a="http://schemas.openxmlformats.org/drawingml/2006/main">
              <a:ext uri="{FF2B5EF4-FFF2-40B4-BE49-F238E27FC236}">
                <a16:creationId xmlns:a16="http://schemas.microsoft.com/office/drawing/2014/main" id="{993138D2-A33E-4EC9-9726-D1B7E6D6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蓝格表示逻辑可见性，转换到接口时先核对编码方向。</a:t>
            </a:r>
          </a:p>
        </p:txBody>
      </p:sp>
    </p:spTree>
    <p:extLst>
      <p:ext uri="{BB962C8B-B14F-4D97-AF65-F5344CB8AC3E}">
        <p14:creationId xmlns:p14="http://schemas.microsoft.com/office/powerpoint/2010/main" val="454304812"/>
      </p:ext>
    </p:extLst>
  </p:cSld>
</p:sld>
</file>

<file path=ppt/slides/slide10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注意力算子优化">
            <a:extLst xmlns:a="http://schemas.openxmlformats.org/drawingml/2006/main">
              <a:ext uri="{FF2B5EF4-FFF2-40B4-BE49-F238E27FC236}">
                <a16:creationId xmlns:a16="http://schemas.microsoft.com/office/drawing/2014/main" id="{56E8C2D7-5C71-4141-8592-D5EB5B93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注意力算子优化</a:t>
            </a:r>
          </a:p>
        </p:txBody>
      </p:sp>
      <p:sp>
        <p:nvSpPr>
          <p:cNvPr id="5" name="配置与张量转换共同把区间信息交给 NPU。">
            <a:extLst xmlns:a="http://schemas.openxmlformats.org/drawingml/2006/main">
              <a:ext uri="{FF2B5EF4-FFF2-40B4-BE49-F238E27FC236}">
                <a16:creationId xmlns:a16="http://schemas.microsoft.com/office/drawing/2014/main" id="{4D5D1E46-26DC-4E3C-9BA0-602440B2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配置与张量转换共同把区间信息交给 NPU。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762125"/>
          <a:ext xmlns:a="http://schemas.openxmlformats.org/drawingml/2006/main" cx="10706100" cy="325755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286000"/>
                <a:gridCol w="8420100"/>
              </a:tblGrid>
              <a:tr h="4000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本课配置或数据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模型契约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model_registry("1.7B", attn_backend="varlen")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override.imports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torchtitan_npu.override.qwen3.varlen_attention.asc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build 前替换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Varlen Config → Asc Config，保留继承关系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张量与边界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BSND → TND；cu_seq[1:] → actual_seq（CPU int64）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NPU 调用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FA v3：TND + actual_seq + sparse_mode=7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课程固定版：NPU 0ea4b8d + TorchTitan 2807d3f，先应用 03.03">
            <a:extLst xmlns:a="http://schemas.openxmlformats.org/drawingml/2006/main">
              <a:ext uri="{FF2B5EF4-FFF2-40B4-BE49-F238E27FC236}">
                <a16:creationId xmlns:a16="http://schemas.microsoft.com/office/drawing/2014/main" id="{F6C4A117-989B-4846-AB73-3D669B47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课程固定版：NPU 0ea4b8d + TorchTitan 2807d3f，先应用 03.03 Wordle patch。</a:t>
            </a:r>
          </a:p>
        </p:txBody>
      </p:sp>
      <p:sp>
        <p:nvSpPr>
          <p:cNvPr id="8" name="先选择 VarLen 数据契约，再替换 NPU 计算实现。">
            <a:extLst xmlns:a="http://schemas.openxmlformats.org/drawingml/2006/main">
              <a:ext uri="{FF2B5EF4-FFF2-40B4-BE49-F238E27FC236}">
                <a16:creationId xmlns:a16="http://schemas.microsoft.com/office/drawing/2014/main" id="{9C62117B-15F3-4E56-ADD0-79646D2B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先选择 VarLen 数据契约，再替换 NPU 计算实现。</a:t>
            </a:r>
          </a:p>
        </p:txBody>
      </p:sp>
    </p:spTree>
    <p:extLst>
      <p:ext uri="{BB962C8B-B14F-4D97-AF65-F5344CB8AC3E}">
        <p14:creationId xmlns:p14="http://schemas.microsoft.com/office/powerpoint/2010/main" val="1091789276"/>
      </p:ext>
    </p:extLst>
  </p:cSld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slide-title"/>
          <p:cNvSpPr>
            <a:spLocks noGrp="1"/>
          </p:cNvSpPr>
          <p:nvPr/>
        </p:nvSpPr>
        <p:spPr>
          <a:xfrm>
            <a:off x="609600" y="320040"/>
            <a:ext cx="95250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注意力算子优化</a:t>
            </a:r>
            <a:endParaRPr sz="27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5" name="quiz-instruction"/>
          <p:cNvSpPr>
            <a:spLocks noGrp="1"/>
          </p:cNvSpPr>
          <p:nvPr/>
        </p:nvSpPr>
        <p:spPr>
          <a:xfrm>
            <a:off x="609600" y="971550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随堂检测：先独立作答，再说明你的判断依据。</a:t>
            </a:r>
            <a:endParaRPr sz="1725" b="0">
              <a:solidFill>
                <a:srgbClr val="555555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q1-label"/>
          <p:cNvSpPr>
            <a:spLocks noGrp="1"/>
          </p:cNvSpPr>
          <p:nvPr/>
        </p:nvSpPr>
        <p:spPr>
          <a:xfrm>
            <a:off x="609600" y="143827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Q1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q1-stem"/>
          <p:cNvSpPr>
            <a:spLocks noGrp="1"/>
          </p:cNvSpPr>
          <p:nvPr/>
        </p:nvSpPr>
        <p:spPr>
          <a:xfrm>
            <a:off x="1495425" y="144780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【判断】无需 trace，就能断定任意 SDPA 输入命中同一 kernel。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q2-label"/>
          <p:cNvSpPr>
            <a:spLocks noGrp="1"/>
          </p:cNvSpPr>
          <p:nvPr/>
        </p:nvSpPr>
        <p:spPr>
          <a:xfrm>
            <a:off x="609600" y="225742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FFD0D1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Q2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q2-stem"/>
          <p:cNvSpPr>
            <a:spLocks noGrp="1"/>
          </p:cNvSpPr>
          <p:nvPr/>
        </p:nvSpPr>
        <p:spPr>
          <a:xfrm>
            <a:off x="1495425" y="226695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【判断】trace 出现 VarLen 后，仍须检查起点和 cu_seq。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0" name="q3-label"/>
          <p:cNvSpPr>
            <a:spLocks noGrp="1"/>
          </p:cNvSpPr>
          <p:nvPr/>
        </p:nvSpPr>
        <p:spPr>
          <a:xfrm>
            <a:off x="609600" y="310515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BFECCC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Q3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1" name="q3-stem"/>
          <p:cNvSpPr>
            <a:spLocks noGrp="1"/>
          </p:cNvSpPr>
          <p:nvPr/>
        </p:nvSpPr>
        <p:spPr>
          <a:xfrm>
            <a:off x="1495425" y="311467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【单选】Nq 不变、Nkv 从 16 减到 8，哪项不减半？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2" name="q3-option0"/>
          <p:cNvSpPr>
            <a:spLocks noGrp="1"/>
          </p:cNvSpPr>
          <p:nvPr/>
        </p:nvSpPr>
        <p:spPr>
          <a:xfrm>
            <a:off x="149542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K/V 投影参数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3" name="q3-option1"/>
          <p:cNvSpPr>
            <a:spLocks noGrp="1"/>
          </p:cNvSpPr>
          <p:nvPr/>
        </p:nvSpPr>
        <p:spPr>
          <a:xfrm>
            <a:off x="650557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KV cache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4" name="q3-option2"/>
          <p:cNvSpPr>
            <a:spLocks noGrp="1"/>
          </p:cNvSpPr>
          <p:nvPr/>
        </p:nvSpPr>
        <p:spPr>
          <a:xfrm>
            <a:off x="149542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逻辑 score 大小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5" name="q3-option3"/>
          <p:cNvSpPr>
            <a:spLocks noGrp="1"/>
          </p:cNvSpPr>
          <p:nvPr/>
        </p:nvSpPr>
        <p:spPr>
          <a:xfrm>
            <a:off x="650557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K/V tensor 字节数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6" name="q4-label"/>
          <p:cNvSpPr>
            <a:spLocks noGrp="1"/>
          </p:cNvSpPr>
          <p:nvPr/>
        </p:nvSpPr>
        <p:spPr>
          <a:xfrm>
            <a:off x="609600" y="468630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Q4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7" name="q4-stem"/>
          <p:cNvSpPr>
            <a:spLocks noGrp="1"/>
          </p:cNvSpPr>
          <p:nvPr/>
        </p:nvSpPr>
        <p:spPr>
          <a:xfrm>
            <a:off x="1495425" y="469582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【单选】positions=[0,1,2,0,1,0,1,2]，cu_seq 是？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8" name="q4-option0"/>
          <p:cNvSpPr>
            <a:spLocks noGrp="1"/>
          </p:cNvSpPr>
          <p:nvPr/>
        </p:nvSpPr>
        <p:spPr>
          <a:xfrm>
            <a:off x="149542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[0,3,5,8]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9" name="q4-option1"/>
          <p:cNvSpPr>
            <a:spLocks noGrp="1"/>
          </p:cNvSpPr>
          <p:nvPr/>
        </p:nvSpPr>
        <p:spPr>
          <a:xfrm>
            <a:off x="650557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[0,2,4,8]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0" name="q4-option2"/>
          <p:cNvSpPr>
            <a:spLocks noGrp="1"/>
          </p:cNvSpPr>
          <p:nvPr/>
        </p:nvSpPr>
        <p:spPr>
          <a:xfrm>
            <a:off x="149542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[0,3,6,8]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1" name="q4-option3"/>
          <p:cNvSpPr>
            <a:spLocks noGrp="1"/>
          </p:cNvSpPr>
          <p:nvPr/>
        </p:nvSpPr>
        <p:spPr>
          <a:xfrm>
            <a:off x="650557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[0,1,2,3,8]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Times New Roman" panose="02020503050405090304"/>
                <a:ea typeface="微软雅黑"/>
                <a:cs typeface="Times New Roman" panose="02020503050405090304"/>
                <a:sym typeface="+mn-ea"/>
              </a:rPr>
              <a:t>SFT 中阶课程</a:t>
            </a:r>
            <a:endParaRPr sz="40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5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https://gitcode.com/cann/cann-learning-hub/tree/master/tutorials/sft_training_pipeline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1 注意力算子优化</a:t>
            </a:r>
            <a:endParaRPr lang="zh-CN" altLang="en-US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2 变长注意力优化</a:t>
            </a:r>
            <a:endParaRPr lang="zh-CN" altLang="en-US" sz="2400" b="0" i="0" u="none" cap="none">
              <a:ln>
                <a:noFill/>
              </a:ln>
              <a:solidFill>
                <a:schemeClr val="bg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3 分布式通信演示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4 通信优化与 VarLen 协同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</p:sld>
</file>

<file path=ppt/slides/slide10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2267E3E8-FCE1-45EC-AC16-52F319C5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装入更多有效 token，同时保持样本相互独立。">
            <a:extLst xmlns:a="http://schemas.openxmlformats.org/drawingml/2006/main">
              <a:ext uri="{FF2B5EF4-FFF2-40B4-BE49-F238E27FC236}">
                <a16:creationId xmlns:a16="http://schemas.microsoft.com/office/drawing/2014/main" id="{467D12E7-8E82-426E-AC6B-70B85D53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装入更多有效 token，同时保持样本相互独立。</a:t>
            </a:r>
          </a:p>
        </p:txBody>
      </p:sp>
      <p:sp>
        <p:nvSpPr>
          <p:cNvPr id="6" name="样本长度：180、260、410、120，共 970 tokens。">
            <a:extLst xmlns:a="http://schemas.openxmlformats.org/drawingml/2006/main">
              <a:ext uri="{FF2B5EF4-FFF2-40B4-BE49-F238E27FC236}">
                <a16:creationId xmlns:a16="http://schemas.microsoft.com/office/drawing/2014/main" id="{4410C674-B46E-4651-A6DC-A2264569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383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样本长度：180、260、410、120，共 970 tokens。</a:t>
            </a:r>
          </a:p>
        </p:txBody>
      </p:sp>
      <p:sp>
        <p:nvSpPr>
          <p:cNvPr id="7" name="各占 1024 slots：4 个容器，利用率约 23.7%。">
            <a:extLst xmlns:a="http://schemas.openxmlformats.org/drawingml/2006/main">
              <a:ext uri="{FF2B5EF4-FFF2-40B4-BE49-F238E27FC236}">
                <a16:creationId xmlns:a16="http://schemas.microsoft.com/office/drawing/2014/main" id="{164AE9D5-080C-47D5-8712-67E6E42A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各占 1024 slots：4 个容器，利用率约 23.7%。</a:t>
            </a:r>
          </a:p>
        </p:txBody>
      </p:sp>
      <p:sp>
        <p:nvSpPr>
          <p:cNvPr id="8" name="本例顺序 Greedy packing：1 个容器，利用率约 94.7%。">
            <a:extLst xmlns:a="http://schemas.openxmlformats.org/drawingml/2006/main">
              <a:ext uri="{FF2B5EF4-FFF2-40B4-BE49-F238E27FC236}">
                <a16:creationId xmlns:a16="http://schemas.microsoft.com/office/drawing/2014/main" id="{DEE92521-5D68-426F-8757-2485F66D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本例顺序 Greedy packing：1 个容器，利用率约 94.7%。</a:t>
            </a:r>
          </a:p>
        </p:txBody>
      </p:sp>
      <p:sp>
        <p:nvSpPr>
          <p:cNvPr id="9" name="同样本保留多轮因果依赖，不同样本完全隔离。">
            <a:extLst xmlns:a="http://schemas.openxmlformats.org/drawingml/2006/main">
              <a:ext uri="{FF2B5EF4-FFF2-40B4-BE49-F238E27FC236}">
                <a16:creationId xmlns:a16="http://schemas.microsoft.com/office/drawing/2014/main" id="{F72873B5-A0EE-48F6-82E6-77A7294A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同样本保留多轮因果依赖，不同样本完全隔离。</a:t>
            </a:r>
          </a:p>
        </p:txBody>
      </p:sp>
      <p:sp>
        <p:nvSpPr>
          <p:cNvPr id="10" name="普通 causal 只屏蔽未来，不能隔离更早的其他样本。">
            <a:extLst xmlns:a="http://schemas.openxmlformats.org/drawingml/2006/main">
              <a:ext uri="{FF2B5EF4-FFF2-40B4-BE49-F238E27FC236}">
                <a16:creationId xmlns:a16="http://schemas.microsoft.com/office/drawing/2014/main" id="{A07849A3-BCD9-4319-B011-97C86636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434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普通 causal 只屏蔽未来，不能隔离更早的其他样本。</a:t>
            </a:r>
          </a:p>
        </p:txBody>
      </p:sp>
      <p:sp>
        <p:nvSpPr>
          <p:cNvPr id="11" name="教学示例；利用率按真实 token / 容器 slots 计算。">
            <a:extLst xmlns:a="http://schemas.openxmlformats.org/drawingml/2006/main">
              <a:ext uri="{FF2B5EF4-FFF2-40B4-BE49-F238E27FC236}">
                <a16:creationId xmlns:a16="http://schemas.microsoft.com/office/drawing/2014/main" id="{766DA0BF-D26C-48D6-AAFD-3F885FA6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教学示例；利用率按真实 token / 容器 slots 计算。</a:t>
            </a:r>
          </a:p>
        </p:txBody>
      </p:sp>
      <p:sp>
        <p:nvSpPr>
          <p:cNvPr id="12" name="Packing 提高利用率，也必须保留正确的样本隔离语义。">
            <a:extLst xmlns:a="http://schemas.openxmlformats.org/drawingml/2006/main">
              <a:ext uri="{FF2B5EF4-FFF2-40B4-BE49-F238E27FC236}">
                <a16:creationId xmlns:a16="http://schemas.microsoft.com/office/drawing/2014/main" id="{4358AC9A-D755-49FE-95A7-ED164706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Packing 提高利用率，也必须保留正确的样本隔离语义。</a:t>
            </a:r>
          </a:p>
        </p:txBody>
      </p:sp>
    </p:spTree>
    <p:extLst>
      <p:ext uri="{BB962C8B-B14F-4D97-AF65-F5344CB8AC3E}">
        <p14:creationId xmlns:p14="http://schemas.microsoft.com/office/powerpoint/2010/main" val="1381457167"/>
      </p:ext>
    </p:extLst>
  </p:cSld>
</p:sld>
</file>

<file path=ppt/slides/slide10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B9CBFF65-B1D0-44BB-AD17-B10F82BF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A、B 各 3 个 token：独立样本拼接后，需要分块下三角。">
            <a:extLst xmlns:a="http://schemas.openxmlformats.org/drawingml/2006/main">
              <a:ext uri="{FF2B5EF4-FFF2-40B4-BE49-F238E27FC236}">
                <a16:creationId xmlns:a16="http://schemas.microsoft.com/office/drawing/2014/main" id="{30DB6878-5E18-4201-9DE3-0FF2AB46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A、B 各 3 个 token：独立样本拼接后，需要分块下三角。</a:t>
            </a:r>
          </a:p>
        </p:txBody>
      </p:sp>
      <p:sp>
        <p:nvSpPr>
          <p:cNvPr id="6" name="全局 causal">
            <a:extLst xmlns:a="http://schemas.openxmlformats.org/drawingml/2006/main">
              <a:ext uri="{FF2B5EF4-FFF2-40B4-BE49-F238E27FC236}">
                <a16:creationId xmlns:a16="http://schemas.microsoft.com/office/drawing/2014/main" id="{ECAAA258-19FE-4A07-87ED-2AECF3B7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743075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全局 causal</a:t>
            </a:r>
          </a:p>
        </p:txBody>
      </p:sp>
      <p:sp>
        <p:nvSpPr>
          <p:cNvPr id="7" name="分块 causal">
            <a:extLst xmlns:a="http://schemas.openxmlformats.org/drawingml/2006/main">
              <a:ext uri="{FF2B5EF4-FFF2-40B4-BE49-F238E27FC236}">
                <a16:creationId xmlns:a16="http://schemas.microsoft.com/office/drawing/2014/main" id="{AA2109E2-9AEA-4CF6-8DDA-CBCB9DD3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43075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分块 causal</a:t>
            </a:r>
          </a:p>
        </p:txBody>
      </p:sp>
      <p:sp>
        <p:nvSpPr>
          <p:cNvPr id="8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5295DC09-D2DB-4103-B9EE-D15170E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" name="Q/K">
            <a:extLst xmlns:a="http://schemas.openxmlformats.org/drawingml/2006/main">
              <a:ext uri="{FF2B5EF4-FFF2-40B4-BE49-F238E27FC236}">
                <a16:creationId xmlns:a16="http://schemas.microsoft.com/office/drawing/2014/main" id="{86BEFA7E-7076-4BFE-A8AB-810BFC44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10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3FAD0B8F-C65C-4652-ACBA-7E40C926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" name="A1">
            <a:extLst xmlns:a="http://schemas.openxmlformats.org/drawingml/2006/main">
              <a:ext uri="{FF2B5EF4-FFF2-40B4-BE49-F238E27FC236}">
                <a16:creationId xmlns:a16="http://schemas.microsoft.com/office/drawing/2014/main" id="{9DEA27CC-CBA5-4046-B53A-6B295D68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12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3FF01BE0-5C03-4352-BEC9-2DAE381B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58076F64-4EF6-4223-8FC6-FFE1F7FA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14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822A63A3-6338-431E-A255-7F0F646E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5" name="A3">
            <a:extLst xmlns:a="http://schemas.openxmlformats.org/drawingml/2006/main">
              <a:ext uri="{FF2B5EF4-FFF2-40B4-BE49-F238E27FC236}">
                <a16:creationId xmlns:a16="http://schemas.microsoft.com/office/drawing/2014/main" id="{FA730FE3-E5F0-4237-A5D7-76E2E10D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16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5D6F56DA-3E73-409C-9A82-E3653D40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7" name="B1">
            <a:extLst xmlns:a="http://schemas.openxmlformats.org/drawingml/2006/main">
              <a:ext uri="{FF2B5EF4-FFF2-40B4-BE49-F238E27FC236}">
                <a16:creationId xmlns:a16="http://schemas.microsoft.com/office/drawing/2014/main" id="{F370EE4A-E513-4001-B346-4EF4B2BC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18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6B302149-3808-4900-A3BF-D3D5561A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9" name="B2">
            <a:extLst xmlns:a="http://schemas.openxmlformats.org/drawingml/2006/main">
              <a:ext uri="{FF2B5EF4-FFF2-40B4-BE49-F238E27FC236}">
                <a16:creationId xmlns:a16="http://schemas.microsoft.com/office/drawing/2014/main" id="{A700BAA5-5DE6-494A-8F08-FB6D46E0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20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74864E46-CCD9-4E15-AEF6-C44F29B5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1" name="B3">
            <a:extLst xmlns:a="http://schemas.openxmlformats.org/drawingml/2006/main">
              <a:ext uri="{FF2B5EF4-FFF2-40B4-BE49-F238E27FC236}">
                <a16:creationId xmlns:a16="http://schemas.microsoft.com/office/drawing/2014/main" id="{248CD84F-5655-4644-AD72-D048EBB0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22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1E13CC3D-6919-4152-93D1-BD57EFA8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3" name="A1">
            <a:extLst xmlns:a="http://schemas.openxmlformats.org/drawingml/2006/main">
              <a:ext uri="{FF2B5EF4-FFF2-40B4-BE49-F238E27FC236}">
                <a16:creationId xmlns:a16="http://schemas.microsoft.com/office/drawing/2014/main" id="{E856F2F2-E71B-4690-9C11-FA81D06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43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24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D4C7EAAA-FB16-4EE5-9E04-4F719AAC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5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2F4E4D79-FB62-4125-AD62-110CBDE5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6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E8ED5FA8-5D6C-435C-8F49-6D2AB99E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7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AE93F9F4-8BFC-4D6B-AB0E-19096D4D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8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89ACAB93-CBAF-44A9-9816-BB9324FC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9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FBD67818-48B1-4153-821C-35AEDE5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0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71402478-BE0E-4320-B64E-A3BAB8C2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1" name="A2">
            <a:extLst xmlns:a="http://schemas.openxmlformats.org/drawingml/2006/main">
              <a:ext uri="{FF2B5EF4-FFF2-40B4-BE49-F238E27FC236}">
                <a16:creationId xmlns:a16="http://schemas.microsoft.com/office/drawing/2014/main" id="{B97CBD94-AA88-4A19-8EBF-6558B3A7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843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32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4C1D2983-E689-4A91-BCA0-B81CC1FC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3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18C2CF7F-70CD-4032-BA5C-687A254D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4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77BE2F33-BEA9-4127-8748-D6B5F315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5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D9DF2B47-EFAF-4F10-AAAE-6360A8B3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6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19F577FB-D6BB-4C08-8082-3C20FA0C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7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E5D4F377-F4FF-483D-988E-4FF0D870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8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F8E9FEA3-0561-4B17-A30B-AB6A017A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9" name="A3">
            <a:extLst xmlns:a="http://schemas.openxmlformats.org/drawingml/2006/main">
              <a:ext uri="{FF2B5EF4-FFF2-40B4-BE49-F238E27FC236}">
                <a16:creationId xmlns:a16="http://schemas.microsoft.com/office/drawing/2014/main" id="{D1C8B5D4-9D7D-4B4F-B20A-BC08E38C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44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40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3BBE1C03-EC06-4BA4-858F-09EDBDA2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1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E43F765D-EBB3-4DA6-9B9C-BA38AAA4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2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38758757-7E08-4C67-99A6-DBC6D6B1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3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016F8D2B-4DEF-41AA-80AA-B6C0CCAB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4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222611BD-A04D-4C3C-B5AE-8BFBEDF6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5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BCDC78A4-08F4-4D83-A4DF-D9632B2A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6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B2B86DDE-653D-4AD2-8029-C2C593EF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7" name="B1">
            <a:extLst xmlns:a="http://schemas.openxmlformats.org/drawingml/2006/main">
              <a:ext uri="{FF2B5EF4-FFF2-40B4-BE49-F238E27FC236}">
                <a16:creationId xmlns:a16="http://schemas.microsoft.com/office/drawing/2014/main" id="{043462A8-E812-47AD-A1AE-0B2C8199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44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48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B3949724-5C91-4366-9253-39C662E4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9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B247C9B4-A520-4EFA-B826-5826DC6C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0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5241E196-EA1E-4C80-9FBF-2FB000AF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1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04DEB7C4-5334-4E16-9BA5-ABACADAE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2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8A21AD1A-0EA1-4786-9297-7909573C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3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FFF55ECA-A56D-4A2B-98D3-FEB29EC3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4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DAD5DDFC-614D-4AF4-9849-46E9D589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5" name="B2">
            <a:extLst xmlns:a="http://schemas.openxmlformats.org/drawingml/2006/main">
              <a:ext uri="{FF2B5EF4-FFF2-40B4-BE49-F238E27FC236}">
                <a16:creationId xmlns:a16="http://schemas.microsoft.com/office/drawing/2014/main" id="{A7010635-9714-465F-98B7-C5508D4E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45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56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467D048B-A75C-4150-866B-54703C6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7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31E3B07F-FB63-4CA2-89A2-66A4F8A8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8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5A0CBD01-4614-4AD0-92F7-F1D321B5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9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FC49F1F5-7E37-4501-A476-DA6D44E9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0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D04D37C6-78D3-4153-A6BD-9044C56F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1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37CB1608-A378-4724-8073-5BC4C618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2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E5833E4B-54CF-4A9A-83F2-989B1EB9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3" name="B3">
            <a:extLst xmlns:a="http://schemas.openxmlformats.org/drawingml/2006/main">
              <a:ext uri="{FF2B5EF4-FFF2-40B4-BE49-F238E27FC236}">
                <a16:creationId xmlns:a16="http://schemas.microsoft.com/office/drawing/2014/main" id="{F19682B5-1456-4C6F-85D9-0375F959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45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64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F242DD92-849A-4B34-B364-D4BB68A4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5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CDF90248-4520-4B4A-AF17-2BA1B44E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6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CE7D8EFD-EC5E-4940-8254-C18CDDA9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7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0B562B03-5E52-450A-8589-F238C679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8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FCFCFE29-C8C7-41BA-AD1C-0EDDA9CA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9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2BDD1622-53D0-402E-BE78-9D711C7E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0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0FEBE790-3083-4B89-84F6-6BCB9FF0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200275"/>
            <a:ext cx="190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71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A0860C02-2848-4CFC-8905-379EF7A6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800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72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3872C9D0-A8D7-4E41-908D-39E7F6ED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3" name="Q/K">
            <a:extLst xmlns:a="http://schemas.openxmlformats.org/drawingml/2006/main">
              <a:ext uri="{FF2B5EF4-FFF2-40B4-BE49-F238E27FC236}">
                <a16:creationId xmlns:a16="http://schemas.microsoft.com/office/drawing/2014/main" id="{1F54D39B-517A-4997-A9C1-767DCE7A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74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94FC24F2-6C74-4BDE-9F05-CD56BD3A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5" name="A1">
            <a:extLst xmlns:a="http://schemas.openxmlformats.org/drawingml/2006/main">
              <a:ext uri="{FF2B5EF4-FFF2-40B4-BE49-F238E27FC236}">
                <a16:creationId xmlns:a16="http://schemas.microsoft.com/office/drawing/2014/main" id="{33BD4C4D-61CD-4D4C-BB87-46754083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76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B29095C0-DA74-4407-8935-682D38F6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7" name="A2">
            <a:extLst xmlns:a="http://schemas.openxmlformats.org/drawingml/2006/main">
              <a:ext uri="{FF2B5EF4-FFF2-40B4-BE49-F238E27FC236}">
                <a16:creationId xmlns:a16="http://schemas.microsoft.com/office/drawing/2014/main" id="{2275DAB3-82B1-459A-A8D8-E13DADF0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78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9978710C-461E-49C4-94FF-E8A45F2A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9" name="A3">
            <a:extLst xmlns:a="http://schemas.openxmlformats.org/drawingml/2006/main">
              <a:ext uri="{FF2B5EF4-FFF2-40B4-BE49-F238E27FC236}">
                <a16:creationId xmlns:a16="http://schemas.microsoft.com/office/drawing/2014/main" id="{5B4290D9-5D89-4C74-9020-3F2578CC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80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678746D7-D95D-42EE-B049-D2A23563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1" name="B1">
            <a:extLst xmlns:a="http://schemas.openxmlformats.org/drawingml/2006/main">
              <a:ext uri="{FF2B5EF4-FFF2-40B4-BE49-F238E27FC236}">
                <a16:creationId xmlns:a16="http://schemas.microsoft.com/office/drawing/2014/main" id="{46CAF238-A562-45DC-A4E9-7A7D9440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82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8D5F89A5-6A8B-44FF-8E83-923CB4F2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3" name="B2">
            <a:extLst xmlns:a="http://schemas.openxmlformats.org/drawingml/2006/main">
              <a:ext uri="{FF2B5EF4-FFF2-40B4-BE49-F238E27FC236}">
                <a16:creationId xmlns:a16="http://schemas.microsoft.com/office/drawing/2014/main" id="{B4383325-0104-43A3-AAF2-0C1A4D94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84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5CD6603B-EC50-47DD-8F46-F0940CF4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02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5" name="B3">
            <a:extLst xmlns:a="http://schemas.openxmlformats.org/drawingml/2006/main">
              <a:ext uri="{FF2B5EF4-FFF2-40B4-BE49-F238E27FC236}">
                <a16:creationId xmlns:a16="http://schemas.microsoft.com/office/drawing/2014/main" id="{11EF02E5-993B-434D-B5A3-D8BAA6B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842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86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5E3786D8-CB7E-412C-9AD7-DC988CF1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7" name="A1">
            <a:extLst xmlns:a="http://schemas.openxmlformats.org/drawingml/2006/main">
              <a:ext uri="{FF2B5EF4-FFF2-40B4-BE49-F238E27FC236}">
                <a16:creationId xmlns:a16="http://schemas.microsoft.com/office/drawing/2014/main" id="{EA9C4F96-52E8-47DB-BE8B-FC091F38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843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88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D9D63E14-8E23-47B8-8585-3AEA18FE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9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2C2840C7-0B62-4400-9992-791B2A39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0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FCE82D8E-7601-4A82-94D3-29DE69C6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1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6B9FDEB7-45BD-4265-85E3-5CFD5824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2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20DD4989-F1DC-4DFC-A3B8-3080234B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3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368B5E80-1455-443F-B7F9-6D035B37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4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F6EB579F-BA36-4C3B-9574-A5795FCD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5" name="A2">
            <a:extLst xmlns:a="http://schemas.openxmlformats.org/drawingml/2006/main">
              <a:ext uri="{FF2B5EF4-FFF2-40B4-BE49-F238E27FC236}">
                <a16:creationId xmlns:a16="http://schemas.microsoft.com/office/drawing/2014/main" id="{5662F25B-651C-4D5B-A099-909F0ED7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843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96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0443397C-4382-4382-8763-3B4CC79F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7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1D286BE1-0D7C-4CA7-958C-7256BFB8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8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97396861-64E6-4B1E-88CD-7963F234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9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5B0EDB84-4ED5-4F29-A363-12996AF5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0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57A6907E-7CF3-4089-BB6A-2D9E6A7F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1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980CBA73-2665-43D8-A065-2503E505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003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2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7464CA61-87AD-4761-A133-F3BEBD48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3" name="A3">
            <a:extLst xmlns:a="http://schemas.openxmlformats.org/drawingml/2006/main">
              <a:ext uri="{FF2B5EF4-FFF2-40B4-BE49-F238E27FC236}">
                <a16:creationId xmlns:a16="http://schemas.microsoft.com/office/drawing/2014/main" id="{88EF02CB-D6C8-48BA-9DDB-432FD525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844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104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B367170D-0204-48A7-9768-E8876688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5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3B69ACFD-791E-45F5-B6C8-3A9C8A02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6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CBAC8BBF-0EA2-44F8-A2A0-2FFA7768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7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E394113C-2FAF-423D-AEF2-08A151DC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8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94145D32-7D71-4169-81C2-0BDD5C6B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9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34696EB5-5FC4-4939-8AD1-58909BA4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004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0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1BF8A889-D50C-4475-BF2A-FA2220C7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1" name="B1">
            <a:extLst xmlns:a="http://schemas.openxmlformats.org/drawingml/2006/main">
              <a:ext uri="{FF2B5EF4-FFF2-40B4-BE49-F238E27FC236}">
                <a16:creationId xmlns:a16="http://schemas.microsoft.com/office/drawing/2014/main" id="{6E55ECCD-3B60-43E4-A785-B27CE1CA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844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112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7AC69B10-0DB4-4D16-8027-D2530B89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3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6D2E19B1-010A-4916-A4F8-B6947119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4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3BBDDEEF-F780-4D74-9839-1097B7B0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5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E6660DE8-F336-4E43-A5DE-45405DC4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6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3577D322-CCBE-4A8D-BF50-B89F5BBD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7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746DEC08-50B9-4FFD-AB3F-71760FE9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004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8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D67F0C6E-341B-4919-870F-5F661966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9" name="B2">
            <a:extLst xmlns:a="http://schemas.openxmlformats.org/drawingml/2006/main">
              <a:ext uri="{FF2B5EF4-FFF2-40B4-BE49-F238E27FC236}">
                <a16:creationId xmlns:a16="http://schemas.microsoft.com/office/drawing/2014/main" id="{4558B57D-7B3C-4683-BD52-449CBA99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8453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120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275B77F2-351A-4A8D-BA01-34FBEA95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1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5ACD31D7-328D-41ED-A6BD-001B373D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2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1A69E641-FA30-4CE6-8FA7-50AC1537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3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26C991C1-EDCB-4E33-9AD2-C117B52A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4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86B805F9-14B3-4C94-9BBE-E27CC167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5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427F9D90-E43A-4B9B-A46F-F8F8745A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005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6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A65B12A1-814C-4719-A10C-302215F1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7" name="B3">
            <a:extLst xmlns:a="http://schemas.openxmlformats.org/drawingml/2006/main">
              <a:ext uri="{FF2B5EF4-FFF2-40B4-BE49-F238E27FC236}">
                <a16:creationId xmlns:a16="http://schemas.microsoft.com/office/drawing/2014/main" id="{2E493B24-5C11-4853-B004-D0DD3924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84586"/>
            <a:ext cx="40005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128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7643856C-A024-4B4C-A52A-1E8E412D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9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A783460B-32EC-4D86-9746-35FF5943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0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50A0129C-BF35-4CA8-9217-B481C100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1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0EEDEFEF-77E1-41AC-B670-3E856E94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2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FB60DDD6-D3D6-454D-A946-5ADE8B64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3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B667BBDE-9368-4CB5-B075-24D181D8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0057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4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009C00E6-3529-4245-994A-12E74B5D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00275"/>
            <a:ext cx="190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35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A0A3E39B-1606-44DA-B68F-43F1E93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90950"/>
            <a:ext cx="2800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36" name="C(L) = L(L+1)/2">
            <a:extLst xmlns:a="http://schemas.openxmlformats.org/drawingml/2006/main">
              <a:ext uri="{FF2B5EF4-FFF2-40B4-BE49-F238E27FC236}">
                <a16:creationId xmlns:a16="http://schemas.microsoft.com/office/drawing/2014/main" id="{B5DE673C-8E64-4F33-8481-4EA04324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9527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C(L) = L(L+1)/2</a:t>
            </a:r>
          </a:p>
        </p:txBody>
      </p:sp>
      <p:sp>
        <p:nvSpPr>
          <p:cNvPr id="137" name="分段可见量&#10;Σ C(Lᵢ)">
            <a:extLst xmlns:a="http://schemas.openxmlformats.org/drawingml/2006/main">
              <a:ext uri="{FF2B5EF4-FFF2-40B4-BE49-F238E27FC236}">
                <a16:creationId xmlns:a16="http://schemas.microsoft.com/office/drawing/2014/main" id="{B5F6760C-1EAC-4D67-90C1-71162B2E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619500"/>
            <a:ext cx="228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分段可见量</a:t>
            </a:r>
          </a:p>
          <a:p xmlns:a="http://schemas.openxmlformats.org/drawingml/2006/main">
            <a:pPr algn="ctr">
              <a:def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Σ C(Lᵢ)</a:t>
            </a:r>
          </a:p>
        </p:txBody>
      </p:sp>
      <p:sp>
        <p:nvSpPr>
          <p:cNvPr id="138" name="21 个可见 pair，含 9 个跨样本 pair">
            <a:extLst xmlns:a="http://schemas.openxmlformats.org/drawingml/2006/main">
              <a:ext uri="{FF2B5EF4-FFF2-40B4-BE49-F238E27FC236}">
                <a16:creationId xmlns:a16="http://schemas.microsoft.com/office/drawing/2014/main" id="{C1701F28-D32B-400A-A3C4-6EB173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625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21 个可见 pair，含 9 个跨样本 pair</a:t>
            </a:r>
          </a:p>
        </p:txBody>
      </p:sp>
      <p:sp>
        <p:nvSpPr>
          <p:cNvPr id="139" name="6 + 6 = 12 个可见 pair">
            <a:extLst xmlns:a="http://schemas.openxmlformats.org/drawingml/2006/main">
              <a:ext uri="{FF2B5EF4-FFF2-40B4-BE49-F238E27FC236}">
                <a16:creationId xmlns:a16="http://schemas.microsoft.com/office/drawing/2014/main" id="{2BCA07B3-E73C-4864-89B9-FDBADC85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62550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6 + 6 = 12 个可见 pair</a:t>
            </a:r>
          </a:p>
        </p:txBody>
      </p:sp>
      <p:sp>
        <p:nvSpPr>
          <p:cNvPr id="140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3A44C59A-59B5-45B1-8DF3-4850112D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24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1" name="同样本可见">
            <a:extLst xmlns:a="http://schemas.openxmlformats.org/drawingml/2006/main">
              <a:ext uri="{FF2B5EF4-FFF2-40B4-BE49-F238E27FC236}">
                <a16:creationId xmlns:a16="http://schemas.microsoft.com/office/drawing/2014/main" id="{B1C5A809-AECB-42E3-BA66-F258C8E7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95925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同样本可见</a:t>
            </a:r>
          </a:p>
        </p:txBody>
      </p:sp>
      <p:sp>
        <p:nvSpPr>
          <p:cNvPr id="142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52768879-58B0-4F3E-AEDB-0115C5A4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524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5D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3" name="跨样本误读">
            <a:extLst xmlns:a="http://schemas.openxmlformats.org/drawingml/2006/main">
              <a:ext uri="{FF2B5EF4-FFF2-40B4-BE49-F238E27FC236}">
                <a16:creationId xmlns:a16="http://schemas.microsoft.com/office/drawing/2014/main" id="{49C157CD-3072-4F08-82CB-41C22FF4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495925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跨样本误读</a:t>
            </a:r>
          </a:p>
        </p:txBody>
      </p:sp>
      <p:sp>
        <p:nvSpPr>
          <p:cNvPr id="144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1715F562-BE71-4385-85F8-D9B32920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524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5" name="不可见">
            <a:extLst xmlns:a="http://schemas.openxmlformats.org/drawingml/2006/main">
              <a:ext uri="{FF2B5EF4-FFF2-40B4-BE49-F238E27FC236}">
                <a16:creationId xmlns:a16="http://schemas.microsoft.com/office/drawing/2014/main" id="{DD1947CA-3FCD-4BB0-AC14-8BA7AD05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495925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不可见</a:t>
            </a:r>
          </a:p>
        </p:txBody>
      </p:sp>
      <p:sp>
        <p:nvSpPr>
          <p:cNvPr id="146" name="普通 causal 只限制先后；分块 causal 同时限制样本归属。">
            <a:extLst xmlns:a="http://schemas.openxmlformats.org/drawingml/2006/main">
              <a:ext uri="{FF2B5EF4-FFF2-40B4-BE49-F238E27FC236}">
                <a16:creationId xmlns:a16="http://schemas.microsoft.com/office/drawing/2014/main" id="{E27A1E13-8C4B-410A-9738-04109064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普通 causal 只限制先后；分块 causal 同时限制样本归属。</a:t>
            </a:r>
          </a:p>
        </p:txBody>
      </p:sp>
    </p:spTree>
    <p:extLst>
      <p:ext uri="{BB962C8B-B14F-4D97-AF65-F5344CB8AC3E}">
        <p14:creationId xmlns:p14="http://schemas.microsoft.com/office/powerpoint/2010/main" val="464153361"/>
      </p:ext>
    </p:extLst>
  </p:cSld>
</p:sld>
</file>

<file path=ppt/slides/slide10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AC9E354B-783D-4036-966A-8DC9FBD0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Padding 自成隔离区间，但当前 SFT wrapper 仍保留这些位置。">
            <a:extLst xmlns:a="http://schemas.openxmlformats.org/drawingml/2006/main">
              <a:ext uri="{FF2B5EF4-FFF2-40B4-BE49-F238E27FC236}">
                <a16:creationId xmlns:a16="http://schemas.microsoft.com/office/drawing/2014/main" id="{DDD5111E-09F5-4AA5-BB8E-FE773784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Padding 自成隔离区间，但当前 SFT wrapper 仍保留这些位置。</a:t>
            </a:r>
          </a:p>
        </p:txBody>
      </p:sp>
      <p:sp>
        <p:nvSpPr>
          <p:cNvPr id="6" name="A × 4，B × 3，P × 3">
            <a:extLst xmlns:a="http://schemas.openxmlformats.org/drawingml/2006/main">
              <a:ext uri="{FF2B5EF4-FFF2-40B4-BE49-F238E27FC236}">
                <a16:creationId xmlns:a16="http://schemas.microsoft.com/office/drawing/2014/main" id="{F5164D62-3BAD-420F-8255-E1754CCA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85925"/>
            <a:ext cx="419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A × 4，B × 3，P × 3</a:t>
            </a:r>
          </a:p>
        </p:txBody>
      </p:sp>
      <p:sp>
        <p:nvSpPr>
          <p:cNvPr id="7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85F7FFE4-81B1-4347-B4A3-EE8F8CD0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" name="Q/K">
            <a:extLst xmlns:a="http://schemas.openxmlformats.org/drawingml/2006/main">
              <a:ext uri="{FF2B5EF4-FFF2-40B4-BE49-F238E27FC236}">
                <a16:creationId xmlns:a16="http://schemas.microsoft.com/office/drawing/2014/main" id="{2D5A3FE9-665F-4534-BA37-EDD83D64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9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3DAAB406-83E4-4CB2-BA11-F6E8605D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" name="A1">
            <a:extLst xmlns:a="http://schemas.openxmlformats.org/drawingml/2006/main">
              <a:ext uri="{FF2B5EF4-FFF2-40B4-BE49-F238E27FC236}">
                <a16:creationId xmlns:a16="http://schemas.microsoft.com/office/drawing/2014/main" id="{46E1DEB5-86AC-4C69-88F3-1996D3C0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11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681475BB-1E19-4997-B920-C0124BB9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" name="A2">
            <a:extLst xmlns:a="http://schemas.openxmlformats.org/drawingml/2006/main">
              <a:ext uri="{FF2B5EF4-FFF2-40B4-BE49-F238E27FC236}">
                <a16:creationId xmlns:a16="http://schemas.microsoft.com/office/drawing/2014/main" id="{419AD215-C3A2-435D-ABCA-9B1DB4AC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13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3C3BBA40-D242-4EFB-BFD2-5B5FA295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A6863F65-44D1-4B9D-8C03-DF611EA7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15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9A599C4B-B017-4607-9573-B26BCB13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6" name="A4">
            <a:extLst xmlns:a="http://schemas.openxmlformats.org/drawingml/2006/main">
              <a:ext uri="{FF2B5EF4-FFF2-40B4-BE49-F238E27FC236}">
                <a16:creationId xmlns:a16="http://schemas.microsoft.com/office/drawing/2014/main" id="{5E54669D-AA7C-46D9-9A54-79BA464E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A4</a:t>
            </a:r>
          </a:p>
        </p:txBody>
      </p:sp>
      <p:sp>
        <p:nvSpPr>
          <p:cNvPr id="17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FCE88EF8-7E39-4D4F-BD0F-A29C9A5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8" name="B1">
            <a:extLst xmlns:a="http://schemas.openxmlformats.org/drawingml/2006/main">
              <a:ext uri="{FF2B5EF4-FFF2-40B4-BE49-F238E27FC236}">
                <a16:creationId xmlns:a16="http://schemas.microsoft.com/office/drawing/2014/main" id="{502D6B8D-4E17-4E88-9AC7-9AA6C1FE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19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F1F88693-52CA-4230-BAAA-D971E041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0" name="B2">
            <a:extLst xmlns:a="http://schemas.openxmlformats.org/drawingml/2006/main">
              <a:ext uri="{FF2B5EF4-FFF2-40B4-BE49-F238E27FC236}">
                <a16:creationId xmlns:a16="http://schemas.microsoft.com/office/drawing/2014/main" id="{FE2A4F69-BA77-4855-AFC8-2D47E1B6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21" name="attention-cell-0-7">
            <a:extLst xmlns:a="http://schemas.openxmlformats.org/drawingml/2006/main">
              <a:ext uri="{FF2B5EF4-FFF2-40B4-BE49-F238E27FC236}">
                <a16:creationId xmlns:a16="http://schemas.microsoft.com/office/drawing/2014/main" id="{5B8A88EA-B45F-4441-81AD-52F7FAFE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2" name="B3">
            <a:extLst xmlns:a="http://schemas.openxmlformats.org/drawingml/2006/main">
              <a:ext uri="{FF2B5EF4-FFF2-40B4-BE49-F238E27FC236}">
                <a16:creationId xmlns:a16="http://schemas.microsoft.com/office/drawing/2014/main" id="{538C4520-BD62-4B85-AC44-CE291F95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23" name="attention-cell-0-8">
            <a:extLst xmlns:a="http://schemas.openxmlformats.org/drawingml/2006/main">
              <a:ext uri="{FF2B5EF4-FFF2-40B4-BE49-F238E27FC236}">
                <a16:creationId xmlns:a16="http://schemas.microsoft.com/office/drawing/2014/main" id="{3208D056-2F01-4517-A046-648FA0FE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4" name="P1">
            <a:extLst xmlns:a="http://schemas.openxmlformats.org/drawingml/2006/main">
              <a:ext uri="{FF2B5EF4-FFF2-40B4-BE49-F238E27FC236}">
                <a16:creationId xmlns:a16="http://schemas.microsoft.com/office/drawing/2014/main" id="{01535992-DD1F-4166-8D56-3277CDF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P1</a:t>
            </a:r>
          </a:p>
        </p:txBody>
      </p:sp>
      <p:sp>
        <p:nvSpPr>
          <p:cNvPr id="25" name="attention-cell-0-9">
            <a:extLst xmlns:a="http://schemas.openxmlformats.org/drawingml/2006/main">
              <a:ext uri="{FF2B5EF4-FFF2-40B4-BE49-F238E27FC236}">
                <a16:creationId xmlns:a16="http://schemas.microsoft.com/office/drawing/2014/main" id="{7E1ED1F9-19B0-40B7-94E0-EABF5AB6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6" name="P2">
            <a:extLst xmlns:a="http://schemas.openxmlformats.org/drawingml/2006/main">
              <a:ext uri="{FF2B5EF4-FFF2-40B4-BE49-F238E27FC236}">
                <a16:creationId xmlns:a16="http://schemas.microsoft.com/office/drawing/2014/main" id="{7E6D2720-0F37-4876-9F66-EEEBF5EB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P2</a:t>
            </a:r>
          </a:p>
        </p:txBody>
      </p:sp>
      <p:sp>
        <p:nvSpPr>
          <p:cNvPr id="27" name="attention-cell-0-10">
            <a:extLst xmlns:a="http://schemas.openxmlformats.org/drawingml/2006/main">
              <a:ext uri="{FF2B5EF4-FFF2-40B4-BE49-F238E27FC236}">
                <a16:creationId xmlns:a16="http://schemas.microsoft.com/office/drawing/2014/main" id="{BBF53AD1-05D0-4E3C-9F71-31F861BD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105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8" name="P3">
            <a:extLst xmlns:a="http://schemas.openxmlformats.org/drawingml/2006/main">
              <a:ext uri="{FF2B5EF4-FFF2-40B4-BE49-F238E27FC236}">
                <a16:creationId xmlns:a16="http://schemas.microsoft.com/office/drawing/2014/main" id="{74DAE261-7D49-4047-85D9-F9AF3D90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169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P3</a:t>
            </a:r>
          </a:p>
        </p:txBody>
      </p:sp>
      <p:sp>
        <p:nvSpPr>
          <p:cNvPr id="29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3B0AE143-78F0-41FC-817B-BB17FBA6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0" name="A1">
            <a:extLst xmlns:a="http://schemas.openxmlformats.org/drawingml/2006/main">
              <a:ext uri="{FF2B5EF4-FFF2-40B4-BE49-F238E27FC236}">
                <a16:creationId xmlns:a16="http://schemas.microsoft.com/office/drawing/2014/main" id="{F82EEF97-122E-4BC7-A951-C14F7103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738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31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0E831BB7-4E03-4568-BAC6-2A2ED61D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2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F8CEE801-53EC-4039-84A9-630FDDF4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3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E411FF39-2BEC-428D-84A3-BD495744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4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470D1CD3-B30A-4660-8E76-69E26FC8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5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D86E7E6C-A294-4330-9354-D53D11B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6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3059D376-994B-4A19-A4E7-193FFA41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7" name="attention-cell-1-7">
            <a:extLst xmlns:a="http://schemas.openxmlformats.org/drawingml/2006/main">
              <a:ext uri="{FF2B5EF4-FFF2-40B4-BE49-F238E27FC236}">
                <a16:creationId xmlns:a16="http://schemas.microsoft.com/office/drawing/2014/main" id="{CF8E2000-7C81-4E22-A6C6-96D6C6D3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8" name="attention-cell-1-8">
            <a:extLst xmlns:a="http://schemas.openxmlformats.org/drawingml/2006/main">
              <a:ext uri="{FF2B5EF4-FFF2-40B4-BE49-F238E27FC236}">
                <a16:creationId xmlns:a16="http://schemas.microsoft.com/office/drawing/2014/main" id="{E8A8FE0A-DB1B-48F4-A694-89560E2A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9" name="attention-cell-1-9">
            <a:extLst xmlns:a="http://schemas.openxmlformats.org/drawingml/2006/main">
              <a:ext uri="{FF2B5EF4-FFF2-40B4-BE49-F238E27FC236}">
                <a16:creationId xmlns:a16="http://schemas.microsoft.com/office/drawing/2014/main" id="{3053D995-E7FF-4CDA-9333-AA76ADCE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0" name="attention-cell-1-10">
            <a:extLst xmlns:a="http://schemas.openxmlformats.org/drawingml/2006/main">
              <a:ext uri="{FF2B5EF4-FFF2-40B4-BE49-F238E27FC236}">
                <a16:creationId xmlns:a16="http://schemas.microsoft.com/office/drawing/2014/main" id="{16EC676D-8441-47EB-ADDC-F49FDB0C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409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1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41ACBCA5-FA85-49C5-A2E0-64A879E6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2" name="A2">
            <a:extLst xmlns:a="http://schemas.openxmlformats.org/drawingml/2006/main">
              <a:ext uri="{FF2B5EF4-FFF2-40B4-BE49-F238E27FC236}">
                <a16:creationId xmlns:a16="http://schemas.microsoft.com/office/drawing/2014/main" id="{82CBD591-F9EA-40E5-B71A-C78F6453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786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43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E76709DA-B764-4831-9940-F6629090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4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86DA9EAA-7A3C-4F72-8B31-F288B994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5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7CAAACC2-4C10-4B2B-ABCE-741CB328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6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B996DC2E-4952-4117-B51A-34B4134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7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B8ED97C2-D06E-4822-9C42-ED3C19F4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8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E4391A18-746F-4A99-A354-812F2CC2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9" name="attention-cell-2-7">
            <a:extLst xmlns:a="http://schemas.openxmlformats.org/drawingml/2006/main">
              <a:ext uri="{FF2B5EF4-FFF2-40B4-BE49-F238E27FC236}">
                <a16:creationId xmlns:a16="http://schemas.microsoft.com/office/drawing/2014/main" id="{AA9C9F54-C68D-4A3E-B8C9-96FEEC18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0" name="attention-cell-2-8">
            <a:extLst xmlns:a="http://schemas.openxmlformats.org/drawingml/2006/main">
              <a:ext uri="{FF2B5EF4-FFF2-40B4-BE49-F238E27FC236}">
                <a16:creationId xmlns:a16="http://schemas.microsoft.com/office/drawing/2014/main" id="{8EC6FACA-7F4F-4EB3-81B0-AABF1B21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1" name="attention-cell-2-9">
            <a:extLst xmlns:a="http://schemas.openxmlformats.org/drawingml/2006/main">
              <a:ext uri="{FF2B5EF4-FFF2-40B4-BE49-F238E27FC236}">
                <a16:creationId xmlns:a16="http://schemas.microsoft.com/office/drawing/2014/main" id="{D91F2C7A-F6F2-4F99-B37D-5F4566F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2" name="attention-cell-2-10">
            <a:extLst xmlns:a="http://schemas.openxmlformats.org/drawingml/2006/main">
              <a:ext uri="{FF2B5EF4-FFF2-40B4-BE49-F238E27FC236}">
                <a16:creationId xmlns:a16="http://schemas.microsoft.com/office/drawing/2014/main" id="{D692EAF7-DE96-473F-9D68-90394458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14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3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8F13AE2F-AAD2-4C7A-8D99-A4C1F09C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4" name="A3">
            <a:extLst xmlns:a="http://schemas.openxmlformats.org/drawingml/2006/main">
              <a:ext uri="{FF2B5EF4-FFF2-40B4-BE49-F238E27FC236}">
                <a16:creationId xmlns:a16="http://schemas.microsoft.com/office/drawing/2014/main" id="{1AF29D98-31D0-4FB6-94C2-17E7A376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34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55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2DD6980D-E302-4D97-8A01-D2F0ED3E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6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ADCF9116-71B2-4758-A0EB-083B8FAF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7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1D3773E8-220F-4B3F-86DF-8CC290D5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8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19C228AA-EBC8-4A1C-B483-04DF6DCF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9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9623E510-71D2-4A27-B2FF-5154B461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0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CBEDABFE-24CC-4B3F-9FFA-DD7C2B03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1" name="attention-cell-3-7">
            <a:extLst xmlns:a="http://schemas.openxmlformats.org/drawingml/2006/main">
              <a:ext uri="{FF2B5EF4-FFF2-40B4-BE49-F238E27FC236}">
                <a16:creationId xmlns:a16="http://schemas.microsoft.com/office/drawing/2014/main" id="{15557836-B356-4BCA-ADAC-23D93932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2" name="attention-cell-3-8">
            <a:extLst xmlns:a="http://schemas.openxmlformats.org/drawingml/2006/main">
              <a:ext uri="{FF2B5EF4-FFF2-40B4-BE49-F238E27FC236}">
                <a16:creationId xmlns:a16="http://schemas.microsoft.com/office/drawing/2014/main" id="{D01FB5EF-E6BC-4777-B82C-62484933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3" name="attention-cell-3-9">
            <a:extLst xmlns:a="http://schemas.openxmlformats.org/drawingml/2006/main">
              <a:ext uri="{FF2B5EF4-FFF2-40B4-BE49-F238E27FC236}">
                <a16:creationId xmlns:a16="http://schemas.microsoft.com/office/drawing/2014/main" id="{C17AE3CA-8692-4B50-B524-2EA22141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4" name="attention-cell-3-10">
            <a:extLst xmlns:a="http://schemas.openxmlformats.org/drawingml/2006/main">
              <a:ext uri="{FF2B5EF4-FFF2-40B4-BE49-F238E27FC236}">
                <a16:creationId xmlns:a16="http://schemas.microsoft.com/office/drawing/2014/main" id="{E2B2DA78-20E2-4980-B2BB-8342BF2A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19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5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EE5F73FA-AE08-46F9-8FDF-0EC48C2A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6" name="A4">
            <a:extLst xmlns:a="http://schemas.openxmlformats.org/drawingml/2006/main">
              <a:ext uri="{FF2B5EF4-FFF2-40B4-BE49-F238E27FC236}">
                <a16:creationId xmlns:a16="http://schemas.microsoft.com/office/drawing/2014/main" id="{BAA8C407-DA9D-470D-B08A-7378F480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3882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A4</a:t>
            </a:r>
          </a:p>
        </p:txBody>
      </p:sp>
      <p:sp>
        <p:nvSpPr>
          <p:cNvPr id="67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16C61C61-785F-47DD-862D-936899F8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8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2F9945ED-9661-4F6B-A63A-AEFD181F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9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41C28FA8-65B6-403C-9461-0C074C65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0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B5526D30-D540-4682-9D76-1E45899C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1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63FBDE62-9F96-4300-8A72-EE9F557C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2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16FDAC1E-1C50-4D44-8378-6738461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3" name="attention-cell-4-7">
            <a:extLst xmlns:a="http://schemas.openxmlformats.org/drawingml/2006/main">
              <a:ext uri="{FF2B5EF4-FFF2-40B4-BE49-F238E27FC236}">
                <a16:creationId xmlns:a16="http://schemas.microsoft.com/office/drawing/2014/main" id="{A3D3C902-69C1-4ABA-90C0-708F89A4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4" name="attention-cell-4-8">
            <a:extLst xmlns:a="http://schemas.openxmlformats.org/drawingml/2006/main">
              <a:ext uri="{FF2B5EF4-FFF2-40B4-BE49-F238E27FC236}">
                <a16:creationId xmlns:a16="http://schemas.microsoft.com/office/drawing/2014/main" id="{2236064F-9EF8-49D7-B601-92F9E2C8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5" name="attention-cell-4-9">
            <a:extLst xmlns:a="http://schemas.openxmlformats.org/drawingml/2006/main">
              <a:ext uri="{FF2B5EF4-FFF2-40B4-BE49-F238E27FC236}">
                <a16:creationId xmlns:a16="http://schemas.microsoft.com/office/drawing/2014/main" id="{B562754B-006C-4105-8668-BBC58C14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6" name="attention-cell-4-10">
            <a:extLst xmlns:a="http://schemas.openxmlformats.org/drawingml/2006/main">
              <a:ext uri="{FF2B5EF4-FFF2-40B4-BE49-F238E27FC236}">
                <a16:creationId xmlns:a16="http://schemas.microsoft.com/office/drawing/2014/main" id="{F1A3D81F-03F6-45FD-B1E3-106320CC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324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7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23631FE4-90DC-4C83-882C-6311453E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8" name="B1">
            <a:extLst xmlns:a="http://schemas.openxmlformats.org/drawingml/2006/main">
              <a:ext uri="{FF2B5EF4-FFF2-40B4-BE49-F238E27FC236}">
                <a16:creationId xmlns:a16="http://schemas.microsoft.com/office/drawing/2014/main" id="{333EF935-2A18-4472-BB8D-3419BE1F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93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79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E69A2508-355B-4EBA-80FC-80F17ED6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0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B22F7588-619A-4D9E-BB52-8A198BAC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1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A1E2AD2C-6660-4107-8702-9AB4E78D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2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E5975B8D-3E43-4FA3-941D-390F3CC4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3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370BA4C5-7A24-48AF-9ED3-AC31CD7E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4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40233264-E1D4-42E1-9CDB-CCE9CC75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5" name="attention-cell-5-7">
            <a:extLst xmlns:a="http://schemas.openxmlformats.org/drawingml/2006/main">
              <a:ext uri="{FF2B5EF4-FFF2-40B4-BE49-F238E27FC236}">
                <a16:creationId xmlns:a16="http://schemas.microsoft.com/office/drawing/2014/main" id="{214DB0ED-D767-4887-A5EE-874D61B0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6" name="attention-cell-5-8">
            <a:extLst xmlns:a="http://schemas.openxmlformats.org/drawingml/2006/main">
              <a:ext uri="{FF2B5EF4-FFF2-40B4-BE49-F238E27FC236}">
                <a16:creationId xmlns:a16="http://schemas.microsoft.com/office/drawing/2014/main" id="{C9B609D8-471E-49DD-AB21-9B6D40F7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7" name="attention-cell-5-9">
            <a:extLst xmlns:a="http://schemas.openxmlformats.org/drawingml/2006/main">
              <a:ext uri="{FF2B5EF4-FFF2-40B4-BE49-F238E27FC236}">
                <a16:creationId xmlns:a16="http://schemas.microsoft.com/office/drawing/2014/main" id="{ACAC5BB4-CBAA-4DD7-91EA-A1721D1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8" name="attention-cell-5-10">
            <a:extLst xmlns:a="http://schemas.openxmlformats.org/drawingml/2006/main">
              <a:ext uri="{FF2B5EF4-FFF2-40B4-BE49-F238E27FC236}">
                <a16:creationId xmlns:a16="http://schemas.microsoft.com/office/drawing/2014/main" id="{754377B4-EE93-450F-AE23-911BB966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629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9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6641EE0B-C94C-4333-8B08-49D27B66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0" name="B2">
            <a:extLst xmlns:a="http://schemas.openxmlformats.org/drawingml/2006/main">
              <a:ext uri="{FF2B5EF4-FFF2-40B4-BE49-F238E27FC236}">
                <a16:creationId xmlns:a16="http://schemas.microsoft.com/office/drawing/2014/main" id="{193DED62-2422-4781-8AD7-B717DEB6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9978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91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C80796F0-27B7-4CE4-B481-2EB04BB4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2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EB1B8B90-2B9E-429D-BCD3-D28C244B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3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7DEE44D1-82F8-4227-A7C8-F8C13C78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4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DF054FA3-43BA-468B-BC02-C5A8FD4D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5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8922D56B-5433-4D23-91CE-60C7C7F0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6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498EB41D-04DB-4856-8A17-B7C0FD37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7" name="attention-cell-6-7">
            <a:extLst xmlns:a="http://schemas.openxmlformats.org/drawingml/2006/main">
              <a:ext uri="{FF2B5EF4-FFF2-40B4-BE49-F238E27FC236}">
                <a16:creationId xmlns:a16="http://schemas.microsoft.com/office/drawing/2014/main" id="{767CD598-D85F-4F6F-AF36-59DEB64C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8" name="attention-cell-6-8">
            <a:extLst xmlns:a="http://schemas.openxmlformats.org/drawingml/2006/main">
              <a:ext uri="{FF2B5EF4-FFF2-40B4-BE49-F238E27FC236}">
                <a16:creationId xmlns:a16="http://schemas.microsoft.com/office/drawing/2014/main" id="{F486D6E9-1752-4338-9FE1-EE2676CF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9" name="attention-cell-6-9">
            <a:extLst xmlns:a="http://schemas.openxmlformats.org/drawingml/2006/main">
              <a:ext uri="{FF2B5EF4-FFF2-40B4-BE49-F238E27FC236}">
                <a16:creationId xmlns:a16="http://schemas.microsoft.com/office/drawing/2014/main" id="{79003B09-0F51-42A0-94CC-AF5C964C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0" name="attention-cell-6-10">
            <a:extLst xmlns:a="http://schemas.openxmlformats.org/drawingml/2006/main">
              <a:ext uri="{FF2B5EF4-FFF2-40B4-BE49-F238E27FC236}">
                <a16:creationId xmlns:a16="http://schemas.microsoft.com/office/drawing/2014/main" id="{F0887034-6253-408B-9E84-2F54CAC3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9338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1" name="attention-cell-7-0">
            <a:extLst xmlns:a="http://schemas.openxmlformats.org/drawingml/2006/main">
              <a:ext uri="{FF2B5EF4-FFF2-40B4-BE49-F238E27FC236}">
                <a16:creationId xmlns:a16="http://schemas.microsoft.com/office/drawing/2014/main" id="{B885ABF9-9850-4DA1-9582-AF5E6A66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2" name="B3">
            <a:extLst xmlns:a="http://schemas.openxmlformats.org/drawingml/2006/main">
              <a:ext uri="{FF2B5EF4-FFF2-40B4-BE49-F238E27FC236}">
                <a16:creationId xmlns:a16="http://schemas.microsoft.com/office/drawing/2014/main" id="{A6D91544-589B-4831-8775-B4A78E63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3026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103" name="attention-cell-7-1">
            <a:extLst xmlns:a="http://schemas.openxmlformats.org/drawingml/2006/main">
              <a:ext uri="{FF2B5EF4-FFF2-40B4-BE49-F238E27FC236}">
                <a16:creationId xmlns:a16="http://schemas.microsoft.com/office/drawing/2014/main" id="{C9DBF7C8-95F8-4C50-90AB-77749C2F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4" name="attention-cell-7-2">
            <a:extLst xmlns:a="http://schemas.openxmlformats.org/drawingml/2006/main">
              <a:ext uri="{FF2B5EF4-FFF2-40B4-BE49-F238E27FC236}">
                <a16:creationId xmlns:a16="http://schemas.microsoft.com/office/drawing/2014/main" id="{A1733A8D-A00F-4BEF-93AA-D8853D41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5" name="attention-cell-7-3">
            <a:extLst xmlns:a="http://schemas.openxmlformats.org/drawingml/2006/main">
              <a:ext uri="{FF2B5EF4-FFF2-40B4-BE49-F238E27FC236}">
                <a16:creationId xmlns:a16="http://schemas.microsoft.com/office/drawing/2014/main" id="{26205E25-38D1-4761-87CF-AF10B157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6" name="attention-cell-7-4">
            <a:extLst xmlns:a="http://schemas.openxmlformats.org/drawingml/2006/main">
              <a:ext uri="{FF2B5EF4-FFF2-40B4-BE49-F238E27FC236}">
                <a16:creationId xmlns:a16="http://schemas.microsoft.com/office/drawing/2014/main" id="{77994D75-2853-4EAA-A527-16ADFCBD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7" name="attention-cell-7-5">
            <a:extLst xmlns:a="http://schemas.openxmlformats.org/drawingml/2006/main">
              <a:ext uri="{FF2B5EF4-FFF2-40B4-BE49-F238E27FC236}">
                <a16:creationId xmlns:a16="http://schemas.microsoft.com/office/drawing/2014/main" id="{C13F8389-0720-4632-BA41-29C9AABA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8" name="attention-cell-7-6">
            <a:extLst xmlns:a="http://schemas.openxmlformats.org/drawingml/2006/main">
              <a:ext uri="{FF2B5EF4-FFF2-40B4-BE49-F238E27FC236}">
                <a16:creationId xmlns:a16="http://schemas.microsoft.com/office/drawing/2014/main" id="{D5230A06-D439-46B3-918B-F2FEEFFE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9" name="attention-cell-7-7">
            <a:extLst xmlns:a="http://schemas.openxmlformats.org/drawingml/2006/main">
              <a:ext uri="{FF2B5EF4-FFF2-40B4-BE49-F238E27FC236}">
                <a16:creationId xmlns:a16="http://schemas.microsoft.com/office/drawing/2014/main" id="{A6CF59DA-4F5D-4D47-8904-4EE9E873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0" name="attention-cell-7-8">
            <a:extLst xmlns:a="http://schemas.openxmlformats.org/drawingml/2006/main">
              <a:ext uri="{FF2B5EF4-FFF2-40B4-BE49-F238E27FC236}">
                <a16:creationId xmlns:a16="http://schemas.microsoft.com/office/drawing/2014/main" id="{84CFA9B3-313E-4367-BF63-C0287E4F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1" name="attention-cell-7-9">
            <a:extLst xmlns:a="http://schemas.openxmlformats.org/drawingml/2006/main">
              <a:ext uri="{FF2B5EF4-FFF2-40B4-BE49-F238E27FC236}">
                <a16:creationId xmlns:a16="http://schemas.microsoft.com/office/drawing/2014/main" id="{984F4BFC-1CBF-42D3-AFCD-A24E9575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2" name="attention-cell-7-10">
            <a:extLst xmlns:a="http://schemas.openxmlformats.org/drawingml/2006/main">
              <a:ext uri="{FF2B5EF4-FFF2-40B4-BE49-F238E27FC236}">
                <a16:creationId xmlns:a16="http://schemas.microsoft.com/office/drawing/2014/main" id="{3E8E7D46-AC18-4E98-BAFC-E3423668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2386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3" name="attention-cell-8-0">
            <a:extLst xmlns:a="http://schemas.openxmlformats.org/drawingml/2006/main">
              <a:ext uri="{FF2B5EF4-FFF2-40B4-BE49-F238E27FC236}">
                <a16:creationId xmlns:a16="http://schemas.microsoft.com/office/drawing/2014/main" id="{FF199D41-6FFC-456E-8A8C-54ED0899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4" name="P1">
            <a:extLst xmlns:a="http://schemas.openxmlformats.org/drawingml/2006/main">
              <a:ext uri="{FF2B5EF4-FFF2-40B4-BE49-F238E27FC236}">
                <a16:creationId xmlns:a16="http://schemas.microsoft.com/office/drawing/2014/main" id="{F8E2595A-8D22-409E-B30E-01907215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6074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P1</a:t>
            </a:r>
          </a:p>
        </p:txBody>
      </p:sp>
      <p:sp>
        <p:nvSpPr>
          <p:cNvPr id="115" name="attention-cell-8-1">
            <a:extLst xmlns:a="http://schemas.openxmlformats.org/drawingml/2006/main">
              <a:ext uri="{FF2B5EF4-FFF2-40B4-BE49-F238E27FC236}">
                <a16:creationId xmlns:a16="http://schemas.microsoft.com/office/drawing/2014/main" id="{B1D5EB1D-17A5-4C30-8AAA-454D8E0E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6" name="attention-cell-8-2">
            <a:extLst xmlns:a="http://schemas.openxmlformats.org/drawingml/2006/main">
              <a:ext uri="{FF2B5EF4-FFF2-40B4-BE49-F238E27FC236}">
                <a16:creationId xmlns:a16="http://schemas.microsoft.com/office/drawing/2014/main" id="{A4A20167-D2D6-4CB1-B1F5-84B929DB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7" name="attention-cell-8-3">
            <a:extLst xmlns:a="http://schemas.openxmlformats.org/drawingml/2006/main">
              <a:ext uri="{FF2B5EF4-FFF2-40B4-BE49-F238E27FC236}">
                <a16:creationId xmlns:a16="http://schemas.microsoft.com/office/drawing/2014/main" id="{5642D497-AB18-4F8D-BCB1-668B1CC2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8" name="attention-cell-8-4">
            <a:extLst xmlns:a="http://schemas.openxmlformats.org/drawingml/2006/main">
              <a:ext uri="{FF2B5EF4-FFF2-40B4-BE49-F238E27FC236}">
                <a16:creationId xmlns:a16="http://schemas.microsoft.com/office/drawing/2014/main" id="{B2D11F0D-466D-4995-AA5F-227A98CC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9" name="attention-cell-8-5">
            <a:extLst xmlns:a="http://schemas.openxmlformats.org/drawingml/2006/main">
              <a:ext uri="{FF2B5EF4-FFF2-40B4-BE49-F238E27FC236}">
                <a16:creationId xmlns:a16="http://schemas.microsoft.com/office/drawing/2014/main" id="{B9EFA02C-E2B1-4747-B4CD-E2FA3D13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0" name="attention-cell-8-6">
            <a:extLst xmlns:a="http://schemas.openxmlformats.org/drawingml/2006/main">
              <a:ext uri="{FF2B5EF4-FFF2-40B4-BE49-F238E27FC236}">
                <a16:creationId xmlns:a16="http://schemas.microsoft.com/office/drawing/2014/main" id="{FBAA4F12-FC8C-482B-9F5E-3162E18F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1" name="attention-cell-8-7">
            <a:extLst xmlns:a="http://schemas.openxmlformats.org/drawingml/2006/main">
              <a:ext uri="{FF2B5EF4-FFF2-40B4-BE49-F238E27FC236}">
                <a16:creationId xmlns:a16="http://schemas.microsoft.com/office/drawing/2014/main" id="{986529BD-AB5A-46A5-A942-DDA409F7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2" name="attention-cell-8-8">
            <a:extLst xmlns:a="http://schemas.openxmlformats.org/drawingml/2006/main">
              <a:ext uri="{FF2B5EF4-FFF2-40B4-BE49-F238E27FC236}">
                <a16:creationId xmlns:a16="http://schemas.microsoft.com/office/drawing/2014/main" id="{6018BDAB-02CA-4A75-8D2D-8BE877A1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3" name="attention-cell-8-9">
            <a:extLst xmlns:a="http://schemas.openxmlformats.org/drawingml/2006/main">
              <a:ext uri="{FF2B5EF4-FFF2-40B4-BE49-F238E27FC236}">
                <a16:creationId xmlns:a16="http://schemas.microsoft.com/office/drawing/2014/main" id="{333C4EB0-0D18-4781-B00E-D9F89014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4" name="attention-cell-8-10">
            <a:extLst xmlns:a="http://schemas.openxmlformats.org/drawingml/2006/main">
              <a:ext uri="{FF2B5EF4-FFF2-40B4-BE49-F238E27FC236}">
                <a16:creationId xmlns:a16="http://schemas.microsoft.com/office/drawing/2014/main" id="{93490646-7112-4A0D-A43F-C482682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434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5" name="attention-cell-9-0">
            <a:extLst xmlns:a="http://schemas.openxmlformats.org/drawingml/2006/main">
              <a:ext uri="{FF2B5EF4-FFF2-40B4-BE49-F238E27FC236}">
                <a16:creationId xmlns:a16="http://schemas.microsoft.com/office/drawing/2014/main" id="{98BD8D18-BF98-482B-9868-B7E6BE8C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6" name="P2">
            <a:extLst xmlns:a="http://schemas.openxmlformats.org/drawingml/2006/main">
              <a:ext uri="{FF2B5EF4-FFF2-40B4-BE49-F238E27FC236}">
                <a16:creationId xmlns:a16="http://schemas.microsoft.com/office/drawing/2014/main" id="{A7F65098-344F-4DE4-8BDB-F276CCF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9122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P2</a:t>
            </a:r>
          </a:p>
        </p:txBody>
      </p:sp>
      <p:sp>
        <p:nvSpPr>
          <p:cNvPr id="127" name="attention-cell-9-1">
            <a:extLst xmlns:a="http://schemas.openxmlformats.org/drawingml/2006/main">
              <a:ext uri="{FF2B5EF4-FFF2-40B4-BE49-F238E27FC236}">
                <a16:creationId xmlns:a16="http://schemas.microsoft.com/office/drawing/2014/main" id="{0B7C6496-CD11-4A9D-810C-3A99A274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8" name="attention-cell-9-2">
            <a:extLst xmlns:a="http://schemas.openxmlformats.org/drawingml/2006/main">
              <a:ext uri="{FF2B5EF4-FFF2-40B4-BE49-F238E27FC236}">
                <a16:creationId xmlns:a16="http://schemas.microsoft.com/office/drawing/2014/main" id="{D45E946E-81FE-48D3-B727-9328D3EC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9" name="attention-cell-9-3">
            <a:extLst xmlns:a="http://schemas.openxmlformats.org/drawingml/2006/main">
              <a:ext uri="{FF2B5EF4-FFF2-40B4-BE49-F238E27FC236}">
                <a16:creationId xmlns:a16="http://schemas.microsoft.com/office/drawing/2014/main" id="{29F51B4A-B039-4917-A324-591B88CA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0" name="attention-cell-9-4">
            <a:extLst xmlns:a="http://schemas.openxmlformats.org/drawingml/2006/main">
              <a:ext uri="{FF2B5EF4-FFF2-40B4-BE49-F238E27FC236}">
                <a16:creationId xmlns:a16="http://schemas.microsoft.com/office/drawing/2014/main" id="{20BEE220-DB2D-402C-9ACD-1B1B909D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1" name="attention-cell-9-5">
            <a:extLst xmlns:a="http://schemas.openxmlformats.org/drawingml/2006/main">
              <a:ext uri="{FF2B5EF4-FFF2-40B4-BE49-F238E27FC236}">
                <a16:creationId xmlns:a16="http://schemas.microsoft.com/office/drawing/2014/main" id="{B7A8AD74-74C2-4089-A5FA-B3D804EE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2" name="attention-cell-9-6">
            <a:extLst xmlns:a="http://schemas.openxmlformats.org/drawingml/2006/main">
              <a:ext uri="{FF2B5EF4-FFF2-40B4-BE49-F238E27FC236}">
                <a16:creationId xmlns:a16="http://schemas.microsoft.com/office/drawing/2014/main" id="{8AFA0DE8-3E86-4338-BDE7-271D9A1C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3" name="attention-cell-9-7">
            <a:extLst xmlns:a="http://schemas.openxmlformats.org/drawingml/2006/main">
              <a:ext uri="{FF2B5EF4-FFF2-40B4-BE49-F238E27FC236}">
                <a16:creationId xmlns:a16="http://schemas.microsoft.com/office/drawing/2014/main" id="{8C4C6E98-7F2E-4368-ABBB-E82E08A6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4" name="attention-cell-9-8">
            <a:extLst xmlns:a="http://schemas.openxmlformats.org/drawingml/2006/main">
              <a:ext uri="{FF2B5EF4-FFF2-40B4-BE49-F238E27FC236}">
                <a16:creationId xmlns:a16="http://schemas.microsoft.com/office/drawing/2014/main" id="{B1C83D4F-E230-480B-99AC-4ABB8FAC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5" name="attention-cell-9-9">
            <a:extLst xmlns:a="http://schemas.openxmlformats.org/drawingml/2006/main">
              <a:ext uri="{FF2B5EF4-FFF2-40B4-BE49-F238E27FC236}">
                <a16:creationId xmlns:a16="http://schemas.microsoft.com/office/drawing/2014/main" id="{36AE52EF-C0D0-4CA5-8E67-153EE53B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6" name="attention-cell-9-10">
            <a:extLst xmlns:a="http://schemas.openxmlformats.org/drawingml/2006/main">
              <a:ext uri="{FF2B5EF4-FFF2-40B4-BE49-F238E27FC236}">
                <a16:creationId xmlns:a16="http://schemas.microsoft.com/office/drawing/2014/main" id="{02D03B25-E78F-45E7-A8AF-96B8C2AC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82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7" name="attention-cell-10-0">
            <a:extLst xmlns:a="http://schemas.openxmlformats.org/drawingml/2006/main">
              <a:ext uri="{FF2B5EF4-FFF2-40B4-BE49-F238E27FC236}">
                <a16:creationId xmlns:a16="http://schemas.microsoft.com/office/drawing/2014/main" id="{67E0D7F7-1211-478C-811D-07E33EB7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8" name="P3">
            <a:extLst xmlns:a="http://schemas.openxmlformats.org/drawingml/2006/main">
              <a:ext uri="{FF2B5EF4-FFF2-40B4-BE49-F238E27FC236}">
                <a16:creationId xmlns:a16="http://schemas.microsoft.com/office/drawing/2014/main" id="{4DF1D8AC-0652-48B8-A187-0ADCAB94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217033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P3</a:t>
            </a:r>
          </a:p>
        </p:txBody>
      </p:sp>
      <p:sp>
        <p:nvSpPr>
          <p:cNvPr id="139" name="attention-cell-10-1">
            <a:extLst xmlns:a="http://schemas.openxmlformats.org/drawingml/2006/main">
              <a:ext uri="{FF2B5EF4-FFF2-40B4-BE49-F238E27FC236}">
                <a16:creationId xmlns:a16="http://schemas.microsoft.com/office/drawing/2014/main" id="{2E28D497-FF49-48EE-803C-637046AF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0" name="attention-cell-10-2">
            <a:extLst xmlns:a="http://schemas.openxmlformats.org/drawingml/2006/main">
              <a:ext uri="{FF2B5EF4-FFF2-40B4-BE49-F238E27FC236}">
                <a16:creationId xmlns:a16="http://schemas.microsoft.com/office/drawing/2014/main" id="{663A869E-71AA-4599-9963-02FBE322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1" name="attention-cell-10-3">
            <a:extLst xmlns:a="http://schemas.openxmlformats.org/drawingml/2006/main">
              <a:ext uri="{FF2B5EF4-FFF2-40B4-BE49-F238E27FC236}">
                <a16:creationId xmlns:a16="http://schemas.microsoft.com/office/drawing/2014/main" id="{854ECD44-86F0-46DA-9C00-52B5DE6D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2" name="attention-cell-10-4">
            <a:extLst xmlns:a="http://schemas.openxmlformats.org/drawingml/2006/main">
              <a:ext uri="{FF2B5EF4-FFF2-40B4-BE49-F238E27FC236}">
                <a16:creationId xmlns:a16="http://schemas.microsoft.com/office/drawing/2014/main" id="{8DE36AA4-544D-4A27-A8C9-855D7E09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3" name="attention-cell-10-5">
            <a:extLst xmlns:a="http://schemas.openxmlformats.org/drawingml/2006/main">
              <a:ext uri="{FF2B5EF4-FFF2-40B4-BE49-F238E27FC236}">
                <a16:creationId xmlns:a16="http://schemas.microsoft.com/office/drawing/2014/main" id="{5F3CD8CE-DEFB-4A01-8015-119A8949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4" name="attention-cell-10-6">
            <a:extLst xmlns:a="http://schemas.openxmlformats.org/drawingml/2006/main">
              <a:ext uri="{FF2B5EF4-FFF2-40B4-BE49-F238E27FC236}">
                <a16:creationId xmlns:a16="http://schemas.microsoft.com/office/drawing/2014/main" id="{A7179A9F-24F5-47B5-B920-EAA055D1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5" name="attention-cell-10-7">
            <a:extLst xmlns:a="http://schemas.openxmlformats.org/drawingml/2006/main">
              <a:ext uri="{FF2B5EF4-FFF2-40B4-BE49-F238E27FC236}">
                <a16:creationId xmlns:a16="http://schemas.microsoft.com/office/drawing/2014/main" id="{7F25E529-30A1-4F76-9A18-81DA13A2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6" name="attention-cell-10-8">
            <a:extLst xmlns:a="http://schemas.openxmlformats.org/drawingml/2006/main">
              <a:ext uri="{FF2B5EF4-FFF2-40B4-BE49-F238E27FC236}">
                <a16:creationId xmlns:a16="http://schemas.microsoft.com/office/drawing/2014/main" id="{DC26669F-3AAF-4598-A3B5-66199118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7" name="attention-cell-10-9">
            <a:extLst xmlns:a="http://schemas.openxmlformats.org/drawingml/2006/main">
              <a:ext uri="{FF2B5EF4-FFF2-40B4-BE49-F238E27FC236}">
                <a16:creationId xmlns:a16="http://schemas.microsoft.com/office/drawing/2014/main" id="{E212AFB4-3D41-46AA-9447-D4B4E5AA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8" name="attention-cell-10-10">
            <a:extLst xmlns:a="http://schemas.openxmlformats.org/drawingml/2006/main">
              <a:ext uri="{FF2B5EF4-FFF2-40B4-BE49-F238E27FC236}">
                <a16:creationId xmlns:a16="http://schemas.microsoft.com/office/drawing/2014/main" id="{9614EBE7-693D-4C7B-A586-AEF7BF0B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53025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49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5D7861EC-8B3B-45D6-83FF-36A0902A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05025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50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00778867-C268-497C-B0C5-C354C979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19500"/>
            <a:ext cx="335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51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D57CDFEB-76E2-4796-869B-164F8062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05025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52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A8F0F2D8-27F3-4D77-B8AC-0E4F8890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533900"/>
            <a:ext cx="335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53" name="2 条真实样本，3 个隔离区间">
            <a:extLst xmlns:a="http://schemas.openxmlformats.org/drawingml/2006/main">
              <a:ext uri="{FF2B5EF4-FFF2-40B4-BE49-F238E27FC236}">
                <a16:creationId xmlns:a16="http://schemas.microsoft.com/office/drawing/2014/main" id="{AA07D97B-2DF7-491E-AB05-038C7381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00225"/>
            <a:ext cx="619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1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2 条真实样本，3 个隔离区间</a:t>
            </a:r>
          </a:p>
        </p:txBody>
      </p:sp>
      <p:sp>
        <p:nvSpPr>
          <p:cNvPr id="154" name="positions：0123 / 012 / 012&#10;cu_seq = [0, 4, 7, 10">
            <a:extLst xmlns:a="http://schemas.openxmlformats.org/drawingml/2006/main">
              <a:ext uri="{FF2B5EF4-FFF2-40B4-BE49-F238E27FC236}">
                <a16:creationId xmlns:a16="http://schemas.microsoft.com/office/drawing/2014/main" id="{D1686324-56EA-4453-BA59-97F34F52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57450"/>
            <a:ext cx="6191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1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positions：0123 / 012 / 012</a:t>
            </a:r>
          </a:p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1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cu_seq = [0, 4, 7, 10]</a:t>
            </a:r>
          </a:p>
        </p:txBody>
      </p:sp>
      <p:sp>
        <p:nvSpPr>
          <p:cNvPr id="155" name="可见 pair = 10 + 6 + 6 = 22&#10;最后 6 个位于 padding 区间。">
            <a:extLst xmlns:a="http://schemas.openxmlformats.org/drawingml/2006/main">
              <a:ext uri="{FF2B5EF4-FFF2-40B4-BE49-F238E27FC236}">
                <a16:creationId xmlns:a16="http://schemas.microsoft.com/office/drawing/2014/main" id="{82AD6C06-2780-4AF6-967B-7C73ED1F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57575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可见 pair = 10 + 6 + 6 = 22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95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最后 6 个位于 padding 区间。</a:t>
            </a:r>
          </a:p>
        </p:txBody>
      </p:sp>
      <p:sp>
        <p:nvSpPr>
          <p:cNvPr id="156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876EB120-7F10-4890-BFA7-4D0A58EB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958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57" name="样本内部可见">
            <a:extLst xmlns:a="http://schemas.openxmlformats.org/drawingml/2006/main">
              <a:ext uri="{FF2B5EF4-FFF2-40B4-BE49-F238E27FC236}">
                <a16:creationId xmlns:a16="http://schemas.microsoft.com/office/drawing/2014/main" id="{06B21657-DD0F-459B-9F0B-6546D9DC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67225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样本内部可见</a:t>
            </a:r>
          </a:p>
        </p:txBody>
      </p:sp>
      <p:sp>
        <p:nvSpPr>
          <p:cNvPr id="158" name="可见性图例">
            <a:extLst xmlns:a="http://schemas.openxmlformats.org/drawingml/2006/main">
              <a:ext uri="{FF2B5EF4-FFF2-40B4-BE49-F238E27FC236}">
                <a16:creationId xmlns:a16="http://schemas.microsoft.com/office/drawing/2014/main" id="{7D0E4DFF-350B-4826-B7D9-6FC2AC1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958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A1D5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59" name="Padding 内部可见">
            <a:extLst xmlns:a="http://schemas.openxmlformats.org/drawingml/2006/main">
              <a:ext uri="{FF2B5EF4-FFF2-40B4-BE49-F238E27FC236}">
                <a16:creationId xmlns:a16="http://schemas.microsoft.com/office/drawing/2014/main" id="{E4454DBC-43DE-4EAC-8830-D524E8D3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67225"/>
            <a:ext cx="2714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7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Padding 内部可见</a:t>
            </a:r>
          </a:p>
        </p:txBody>
      </p:sp>
      <p:sp>
        <p:nvSpPr>
          <p:cNvPr id="160" name="P 表示 padding，占位仍在张量中。&#10;labels = -100 只屏蔽 loss。">
            <a:extLst xmlns:a="http://schemas.openxmlformats.org/drawingml/2006/main">
              <a:ext uri="{FF2B5EF4-FFF2-40B4-BE49-F238E27FC236}">
                <a16:creationId xmlns:a16="http://schemas.microsoft.com/office/drawing/2014/main" id="{553D333E-9F24-4431-B076-52227415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62525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P 表示 padding，占位仍在张量中。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labels = -100 只屏蔽 loss。</a:t>
            </a:r>
          </a:p>
        </p:txBody>
      </p:sp>
      <p:sp>
        <p:nvSpPr>
          <p:cNvPr id="161" name="隔离 padding 不等于删除 padding；3 个区间只含 2 条真实样本。">
            <a:extLst xmlns:a="http://schemas.openxmlformats.org/drawingml/2006/main">
              <a:ext uri="{FF2B5EF4-FFF2-40B4-BE49-F238E27FC236}">
                <a16:creationId xmlns:a16="http://schemas.microsoft.com/office/drawing/2014/main" id="{D32E6AF2-1A6D-4283-9AFB-FD7FB319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隔离 padding 不等于删除 padding；3 个区间只含 2 条真实样本。</a:t>
            </a:r>
          </a:p>
        </p:txBody>
      </p:sp>
    </p:spTree>
    <p:extLst>
      <p:ext uri="{BB962C8B-B14F-4D97-AF65-F5344CB8AC3E}">
        <p14:creationId xmlns:p14="http://schemas.microsoft.com/office/powerpoint/2010/main" val="1804544580"/>
      </p:ext>
    </p:extLst>
  </p:cSld>
</p:sld>
</file>

<file path=ppt/slides/slide10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600F2CD9-0FAD-49DA-A336-B99AC701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有效吞吐需同时统计样本、输入和监督量。">
            <a:extLst xmlns:a="http://schemas.openxmlformats.org/drawingml/2006/main">
              <a:ext uri="{FF2B5EF4-FFF2-40B4-BE49-F238E27FC236}">
                <a16:creationId xmlns:a16="http://schemas.microsoft.com/office/drawing/2014/main" id="{BCE820DE-164A-47EE-BA6E-5BC6C7B2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有效吞吐需同时统计样本、输入和监督量。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048000"/>
                <a:gridCol w="3810000"/>
                <a:gridCol w="384810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统计分子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slot TPS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输入张量的容器位置数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包含 padding 占位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raw samples/s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成功打包的完整记录数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真实样本吞吐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non-padding tokens/s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各真实 input_ids 长度之和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真实输入吞吐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supervised tokens/s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(labels != -100).sum()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实际监督吞吐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固定版无 num_samples 字段；在 packing 时另计样本数与真实输入长度。&#10;06.">
            <a:extLst xmlns:a="http://schemas.openxmlformats.org/drawingml/2006/main">
              <a:ext uri="{FF2B5EF4-FFF2-40B4-BE49-F238E27FC236}">
                <a16:creationId xmlns:a16="http://schemas.microsoft.com/office/drawing/2014/main" id="{8A19081D-AB5A-420E-949B-6304A882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固定版无 num_samples 字段；在 packing 时另计样本数与真实输入长度。</a:t>
            </a:r>
          </a:p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06.04 的旧路线数据仅为历史参考。</a:t>
            </a:r>
          </a:p>
        </p:txBody>
      </p:sp>
      <p:sp>
        <p:nvSpPr>
          <p:cNvPr id="8" name="positions 归零数包含 padding；监督量也不能替代真实输入量。">
            <a:extLst xmlns:a="http://schemas.openxmlformats.org/drawingml/2006/main">
              <a:ext uri="{FF2B5EF4-FFF2-40B4-BE49-F238E27FC236}">
                <a16:creationId xmlns:a16="http://schemas.microsoft.com/office/drawing/2014/main" id="{4259340C-2B20-4F23-A1A4-C45FA838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positions 归零数包含 padding；监督量也不能替代真实输入量。</a:t>
            </a:r>
          </a:p>
        </p:txBody>
      </p:sp>
    </p:spTree>
    <p:extLst>
      <p:ext uri="{BB962C8B-B14F-4D97-AF65-F5344CB8AC3E}">
        <p14:creationId xmlns:p14="http://schemas.microsoft.com/office/powerpoint/2010/main" val="1029148058"/>
      </p:ext>
    </p:extLst>
  </p:cSld>
</p:sld>
</file>

<file path=ppt/slides/slide10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A51E760C-77C3-420B-B49B-87C135FF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可见区域相同，表示边界和执行计算的方式可以不同。">
            <a:extLst xmlns:a="http://schemas.openxmlformats.org/drawingml/2006/main">
              <a:ext uri="{FF2B5EF4-FFF2-40B4-BE49-F238E27FC236}">
                <a16:creationId xmlns:a16="http://schemas.microsoft.com/office/drawing/2014/main" id="{A14A581D-7163-4ABA-8FAD-EF4A19AE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可见区域相同，表示边界和执行计算的方式可以不同。</a:t>
            </a:r>
          </a:p>
        </p:txBody>
      </p:sp>
      <p:sp>
        <p:nvSpPr>
          <p:cNvPr id="6" name="显式 document mask">
            <a:extLst xmlns:a="http://schemas.openxmlformats.org/drawingml/2006/main">
              <a:ext uri="{FF2B5EF4-FFF2-40B4-BE49-F238E27FC236}">
                <a16:creationId xmlns:a16="http://schemas.microsoft.com/office/drawing/2014/main" id="{D914EFFF-D285-4181-8AF2-E9B2DD08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14500"/>
            <a:ext cx="457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显式 document mask</a:t>
            </a:r>
          </a:p>
        </p:txBody>
      </p:sp>
      <p:sp>
        <p:nvSpPr>
          <p:cNvPr id="7" name="VarLen 累计长度">
            <a:extLst xmlns:a="http://schemas.openxmlformats.org/drawingml/2006/main">
              <a:ext uri="{FF2B5EF4-FFF2-40B4-BE49-F238E27FC236}">
                <a16:creationId xmlns:a16="http://schemas.microsoft.com/office/drawing/2014/main" id="{A6D54CF5-6D16-4BD4-B33B-8EC06416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57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VarLen 累计长度</a:t>
            </a:r>
          </a:p>
        </p:txBody>
      </p:sp>
      <p:sp>
        <p:nvSpPr>
          <p:cNvPr id="8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3A05E71F-D021-49F2-9AAF-7AE00A07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" name="Q/K">
            <a:extLst xmlns:a="http://schemas.openxmlformats.org/drawingml/2006/main">
              <a:ext uri="{FF2B5EF4-FFF2-40B4-BE49-F238E27FC236}">
                <a16:creationId xmlns:a16="http://schemas.microsoft.com/office/drawing/2014/main" id="{592998B9-E286-4AE3-872F-879D120F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10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BAD26194-B49D-423A-A828-09041F4B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" name="A1">
            <a:extLst xmlns:a="http://schemas.openxmlformats.org/drawingml/2006/main">
              <a:ext uri="{FF2B5EF4-FFF2-40B4-BE49-F238E27FC236}">
                <a16:creationId xmlns:a16="http://schemas.microsoft.com/office/drawing/2014/main" id="{0D0D90D4-B8DF-42EA-9067-D1F2F2F7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12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253FF915-B305-4C80-88BA-49E55FE2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B611CABC-E73E-4155-B776-C23226AA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14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76AF6CE0-769D-4D15-BA30-D1466323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5" name="A3">
            <a:extLst xmlns:a="http://schemas.openxmlformats.org/drawingml/2006/main">
              <a:ext uri="{FF2B5EF4-FFF2-40B4-BE49-F238E27FC236}">
                <a16:creationId xmlns:a16="http://schemas.microsoft.com/office/drawing/2014/main" id="{82670D35-25C4-471B-A338-40C27418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16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5739701D-F44C-47BF-B133-3D7D9AA7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7" name="B1">
            <a:extLst xmlns:a="http://schemas.openxmlformats.org/drawingml/2006/main">
              <a:ext uri="{FF2B5EF4-FFF2-40B4-BE49-F238E27FC236}">
                <a16:creationId xmlns:a16="http://schemas.microsoft.com/office/drawing/2014/main" id="{3D28E0B6-B1B1-48C7-840B-FCD9CE6A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18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0DC62462-5D44-4416-A32B-BF0EA742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9" name="B2">
            <a:extLst xmlns:a="http://schemas.openxmlformats.org/drawingml/2006/main">
              <a:ext uri="{FF2B5EF4-FFF2-40B4-BE49-F238E27FC236}">
                <a16:creationId xmlns:a16="http://schemas.microsoft.com/office/drawing/2014/main" id="{AE9CD18F-AEAE-49FE-97DB-E1739D56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20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AFB8A6D9-5DCA-48A3-A2FD-EAB37174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1" name="B3">
            <a:extLst xmlns:a="http://schemas.openxmlformats.org/drawingml/2006/main">
              <a:ext uri="{FF2B5EF4-FFF2-40B4-BE49-F238E27FC236}">
                <a16:creationId xmlns:a16="http://schemas.microsoft.com/office/drawing/2014/main" id="{0A1AA131-30E8-40D2-9EDC-9A06384A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22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BE0FE145-15A6-4F01-924E-B99D486E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3" name="A1">
            <a:extLst xmlns:a="http://schemas.openxmlformats.org/drawingml/2006/main">
              <a:ext uri="{FF2B5EF4-FFF2-40B4-BE49-F238E27FC236}">
                <a16:creationId xmlns:a16="http://schemas.microsoft.com/office/drawing/2014/main" id="{3375A0AD-4914-441E-BA51-B177A0D6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8308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24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F6825000-BE8B-41E0-A1C3-FB7D5DA4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5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33DEFBBF-7DE5-4B6F-99BB-CD3C09DF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6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F2F9ABEC-2426-405E-AC4E-A31D73E4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7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99A18992-DBCE-49E9-9FE6-73BB644F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8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D4354454-7073-4C56-ABB8-6DF32095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29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F83DBC4E-C4DA-4B52-A69D-2041D12B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0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8D23F212-F2A6-4907-8F64-2C18CDB7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1" name="A2">
            <a:extLst xmlns:a="http://schemas.openxmlformats.org/drawingml/2006/main">
              <a:ext uri="{FF2B5EF4-FFF2-40B4-BE49-F238E27FC236}">
                <a16:creationId xmlns:a16="http://schemas.microsoft.com/office/drawing/2014/main" id="{346BED58-B277-4E9E-8B4C-10DF74CC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456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32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163EB0E3-6B3A-4048-BC84-FD042518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3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EA181F56-6A8A-43DA-B69A-D965A131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4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2C4988DA-1669-4293-A3FF-D7502281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5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937993B0-CD27-4C94-8C93-5908867A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6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D5AA9CCD-8967-437A-9A96-69F89C02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7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19091A5D-A6FA-49FA-B55F-0F5B3C60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8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15A78A71-003C-49E7-A06F-39B84FA5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39" name="A3">
            <a:extLst xmlns:a="http://schemas.openxmlformats.org/drawingml/2006/main">
              <a:ext uri="{FF2B5EF4-FFF2-40B4-BE49-F238E27FC236}">
                <a16:creationId xmlns:a16="http://schemas.microsoft.com/office/drawing/2014/main" id="{B2F1B679-BB92-4912-B938-08B5BFA4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2603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40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F9D68447-37F1-4595-8F07-22E9E984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1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419F4A21-BF65-4D65-9081-FA19A631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2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0B0336FF-9E92-4927-9E2F-3096A629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3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41330DDC-659C-4734-B4C7-5599E354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4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CE93F1BB-3B2A-4C84-8ACD-4B9CB592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5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6EF94798-BE7F-478A-9C5B-F4AB7207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6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62F4AD1A-2FEC-461E-86EB-FAA0B1AD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7" name="B1">
            <a:extLst xmlns:a="http://schemas.openxmlformats.org/drawingml/2006/main">
              <a:ext uri="{FF2B5EF4-FFF2-40B4-BE49-F238E27FC236}">
                <a16:creationId xmlns:a16="http://schemas.microsoft.com/office/drawing/2014/main" id="{60590B1C-3165-4B61-961E-BD866C4C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975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48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27BF0A36-2F96-45F1-A411-E8BCDEB0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49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5437BA2F-7228-40A1-9908-F459D59C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0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A2CCB240-5AFC-4316-AB59-969BDB60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1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22D3F192-B28B-4E8A-9EE6-6FFA066A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2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D29DD123-F437-405C-857C-620E47C1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3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F88071A1-FA2C-4C85-8F61-1F5731C4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4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ED869615-D997-4A6A-BFF8-BBE55A31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5" name="B2">
            <a:extLst xmlns:a="http://schemas.openxmlformats.org/drawingml/2006/main">
              <a:ext uri="{FF2B5EF4-FFF2-40B4-BE49-F238E27FC236}">
                <a16:creationId xmlns:a16="http://schemas.microsoft.com/office/drawing/2014/main" id="{7D29B125-723D-493D-9F5D-4B955364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6898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56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2A1EB995-F319-40CA-9567-2C7CF429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7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AE29C1E7-51B3-4633-8C03-585130BC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8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E58792D2-3FFF-4B4E-8D76-B548EA37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59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013ED35B-9583-4161-B930-C8333E8E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0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610A8D2C-BC12-4801-98A0-7E36CC96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1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92DB2923-6B09-4130-86DC-690EF289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2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C4FF4EBE-A258-4BB7-8A65-BA53F32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3" name="B3">
            <a:extLst xmlns:a="http://schemas.openxmlformats.org/drawingml/2006/main">
              <a:ext uri="{FF2B5EF4-FFF2-40B4-BE49-F238E27FC236}">
                <a16:creationId xmlns:a16="http://schemas.microsoft.com/office/drawing/2014/main" id="{EACAF0EE-56F5-46C5-9462-726B39FE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4046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64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84017BC9-C1ED-44FF-9CFF-D5EB3A5E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5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DE53FFC5-F1C4-4AF9-A9AD-F8751D3B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6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600CB8C3-1C2C-4F23-B204-FCB923B3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7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5D09FE1A-47DF-488C-ABF2-AD490465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8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CCB965B3-1098-4B4D-9D66-F711CF73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69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CA8BE5E5-09F0-4513-BD5D-983D068F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0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8B489B7F-9AD6-4053-9387-247F24F8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133600"/>
            <a:ext cx="190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71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FE8BF688-AB90-4920-B74E-5A76CA80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09975"/>
            <a:ext cx="2600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72" name="attention-cell-0-0">
            <a:extLst xmlns:a="http://schemas.openxmlformats.org/drawingml/2006/main">
              <a:ext uri="{FF2B5EF4-FFF2-40B4-BE49-F238E27FC236}">
                <a16:creationId xmlns:a16="http://schemas.microsoft.com/office/drawing/2014/main" id="{DF2B08C0-4F87-4094-BED7-BA721F04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3" name="Q/K">
            <a:extLst xmlns:a="http://schemas.openxmlformats.org/drawingml/2006/main">
              <a:ext uri="{FF2B5EF4-FFF2-40B4-BE49-F238E27FC236}">
                <a16:creationId xmlns:a16="http://schemas.microsoft.com/office/drawing/2014/main" id="{8ADD3E51-0CA7-4D04-9E8E-205B6DE7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Q/K</a:t>
            </a:r>
          </a:p>
        </p:txBody>
      </p:sp>
      <p:sp>
        <p:nvSpPr>
          <p:cNvPr id="74" name="attention-cell-0-1">
            <a:extLst xmlns:a="http://schemas.openxmlformats.org/drawingml/2006/main">
              <a:ext uri="{FF2B5EF4-FFF2-40B4-BE49-F238E27FC236}">
                <a16:creationId xmlns:a16="http://schemas.microsoft.com/office/drawing/2014/main" id="{79E67FDC-86B5-42CA-BC8C-202F2F50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5" name="A1">
            <a:extLst xmlns:a="http://schemas.openxmlformats.org/drawingml/2006/main">
              <a:ext uri="{FF2B5EF4-FFF2-40B4-BE49-F238E27FC236}">
                <a16:creationId xmlns:a16="http://schemas.microsoft.com/office/drawing/2014/main" id="{2A8F15FA-11E8-46C3-810A-D65F7D71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76" name="attention-cell-0-2">
            <a:extLst xmlns:a="http://schemas.openxmlformats.org/drawingml/2006/main">
              <a:ext uri="{FF2B5EF4-FFF2-40B4-BE49-F238E27FC236}">
                <a16:creationId xmlns:a16="http://schemas.microsoft.com/office/drawing/2014/main" id="{0F51CE49-2BD4-4071-98F6-E31BA22E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7" name="A2">
            <a:extLst xmlns:a="http://schemas.openxmlformats.org/drawingml/2006/main">
              <a:ext uri="{FF2B5EF4-FFF2-40B4-BE49-F238E27FC236}">
                <a16:creationId xmlns:a16="http://schemas.microsoft.com/office/drawing/2014/main" id="{A295CEF0-433D-4348-A8A1-AA3622F3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78" name="attention-cell-0-3">
            <a:extLst xmlns:a="http://schemas.openxmlformats.org/drawingml/2006/main">
              <a:ext uri="{FF2B5EF4-FFF2-40B4-BE49-F238E27FC236}">
                <a16:creationId xmlns:a16="http://schemas.microsoft.com/office/drawing/2014/main" id="{6F45E9E8-4CC2-49FA-B33F-428B69CE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79" name="A3">
            <a:extLst xmlns:a="http://schemas.openxmlformats.org/drawingml/2006/main">
              <a:ext uri="{FF2B5EF4-FFF2-40B4-BE49-F238E27FC236}">
                <a16:creationId xmlns:a16="http://schemas.microsoft.com/office/drawing/2014/main" id="{CB522EFB-E3BC-4C09-9536-7DF4406E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80" name="attention-cell-0-4">
            <a:extLst xmlns:a="http://schemas.openxmlformats.org/drawingml/2006/main">
              <a:ext uri="{FF2B5EF4-FFF2-40B4-BE49-F238E27FC236}">
                <a16:creationId xmlns:a16="http://schemas.microsoft.com/office/drawing/2014/main" id="{9F3D281E-1188-4C5E-9DF1-D2BC8F6A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1" name="B1">
            <a:extLst xmlns:a="http://schemas.openxmlformats.org/drawingml/2006/main">
              <a:ext uri="{FF2B5EF4-FFF2-40B4-BE49-F238E27FC236}">
                <a16:creationId xmlns:a16="http://schemas.microsoft.com/office/drawing/2014/main" id="{F7606737-6425-466A-856D-9E3917F6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82" name="attention-cell-0-5">
            <a:extLst xmlns:a="http://schemas.openxmlformats.org/drawingml/2006/main">
              <a:ext uri="{FF2B5EF4-FFF2-40B4-BE49-F238E27FC236}">
                <a16:creationId xmlns:a16="http://schemas.microsoft.com/office/drawing/2014/main" id="{51713344-831F-417A-8D4F-23B5ACD5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3" name="B2">
            <a:extLst xmlns:a="http://schemas.openxmlformats.org/drawingml/2006/main">
              <a:ext uri="{FF2B5EF4-FFF2-40B4-BE49-F238E27FC236}">
                <a16:creationId xmlns:a16="http://schemas.microsoft.com/office/drawing/2014/main" id="{F3E08C1D-A341-40E8-B8D5-908A839A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84" name="attention-cell-0-6">
            <a:extLst xmlns:a="http://schemas.openxmlformats.org/drawingml/2006/main">
              <a:ext uri="{FF2B5EF4-FFF2-40B4-BE49-F238E27FC236}">
                <a16:creationId xmlns:a16="http://schemas.microsoft.com/office/drawing/2014/main" id="{877E7CF0-D829-4122-AF77-CCEFF4D9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336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5" name="B3">
            <a:extLst xmlns:a="http://schemas.openxmlformats.org/drawingml/2006/main">
              <a:ext uri="{FF2B5EF4-FFF2-40B4-BE49-F238E27FC236}">
                <a16:creationId xmlns:a16="http://schemas.microsoft.com/office/drawing/2014/main" id="{2797C915-B5AB-4E3C-B899-FBC2065A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116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86" name="attention-cell-1-0">
            <a:extLst xmlns:a="http://schemas.openxmlformats.org/drawingml/2006/main">
              <a:ext uri="{FF2B5EF4-FFF2-40B4-BE49-F238E27FC236}">
                <a16:creationId xmlns:a16="http://schemas.microsoft.com/office/drawing/2014/main" id="{5A6259B1-A857-4FBA-9116-9E8BC2E6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7" name="A1">
            <a:extLst xmlns:a="http://schemas.openxmlformats.org/drawingml/2006/main">
              <a:ext uri="{FF2B5EF4-FFF2-40B4-BE49-F238E27FC236}">
                <a16:creationId xmlns:a16="http://schemas.microsoft.com/office/drawing/2014/main" id="{35A6002E-D41E-4B14-8EB4-8E566661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8308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A1</a:t>
            </a:r>
          </a:p>
        </p:txBody>
      </p:sp>
      <p:sp>
        <p:nvSpPr>
          <p:cNvPr id="88" name="attention-cell-1-1">
            <a:extLst xmlns:a="http://schemas.openxmlformats.org/drawingml/2006/main">
              <a:ext uri="{FF2B5EF4-FFF2-40B4-BE49-F238E27FC236}">
                <a16:creationId xmlns:a16="http://schemas.microsoft.com/office/drawing/2014/main" id="{68328FF0-8BF0-492D-B800-A0041366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89" name="attention-cell-1-2">
            <a:extLst xmlns:a="http://schemas.openxmlformats.org/drawingml/2006/main">
              <a:ext uri="{FF2B5EF4-FFF2-40B4-BE49-F238E27FC236}">
                <a16:creationId xmlns:a16="http://schemas.microsoft.com/office/drawing/2014/main" id="{6B3450EB-9A1E-41D0-8EF1-2D93D344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0" name="attention-cell-1-3">
            <a:extLst xmlns:a="http://schemas.openxmlformats.org/drawingml/2006/main">
              <a:ext uri="{FF2B5EF4-FFF2-40B4-BE49-F238E27FC236}">
                <a16:creationId xmlns:a16="http://schemas.microsoft.com/office/drawing/2014/main" id="{D02E5068-D943-47A2-B320-4C5B72F7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1" name="attention-cell-1-4">
            <a:extLst xmlns:a="http://schemas.openxmlformats.org/drawingml/2006/main">
              <a:ext uri="{FF2B5EF4-FFF2-40B4-BE49-F238E27FC236}">
                <a16:creationId xmlns:a16="http://schemas.microsoft.com/office/drawing/2014/main" id="{94531BE1-F70D-42F2-82FD-D249E63E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2" name="attention-cell-1-5">
            <a:extLst xmlns:a="http://schemas.openxmlformats.org/drawingml/2006/main">
              <a:ext uri="{FF2B5EF4-FFF2-40B4-BE49-F238E27FC236}">
                <a16:creationId xmlns:a16="http://schemas.microsoft.com/office/drawing/2014/main" id="{BB6444C5-24B6-40CD-9061-AF84DAD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3" name="attention-cell-1-6">
            <a:extLst xmlns:a="http://schemas.openxmlformats.org/drawingml/2006/main">
              <a:ext uri="{FF2B5EF4-FFF2-40B4-BE49-F238E27FC236}">
                <a16:creationId xmlns:a16="http://schemas.microsoft.com/office/drawing/2014/main" id="{E5B64160-4695-4469-B94A-1521EF70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5050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4" name="attention-cell-2-0">
            <a:extLst xmlns:a="http://schemas.openxmlformats.org/drawingml/2006/main">
              <a:ext uri="{FF2B5EF4-FFF2-40B4-BE49-F238E27FC236}">
                <a16:creationId xmlns:a16="http://schemas.microsoft.com/office/drawing/2014/main" id="{BF27933A-9772-48F1-BF8C-C0B4F432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5" name="A2">
            <a:extLst xmlns:a="http://schemas.openxmlformats.org/drawingml/2006/main">
              <a:ext uri="{FF2B5EF4-FFF2-40B4-BE49-F238E27FC236}">
                <a16:creationId xmlns:a16="http://schemas.microsoft.com/office/drawing/2014/main" id="{E0AD0531-1F71-4AF9-8DDC-F248333F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5456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A2</a:t>
            </a:r>
          </a:p>
        </p:txBody>
      </p:sp>
      <p:sp>
        <p:nvSpPr>
          <p:cNvPr id="96" name="attention-cell-2-1">
            <a:extLst xmlns:a="http://schemas.openxmlformats.org/drawingml/2006/main">
              <a:ext uri="{FF2B5EF4-FFF2-40B4-BE49-F238E27FC236}">
                <a16:creationId xmlns:a16="http://schemas.microsoft.com/office/drawing/2014/main" id="{ECDC1786-406F-4DBB-BD6B-FE8A7403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7" name="attention-cell-2-2">
            <a:extLst xmlns:a="http://schemas.openxmlformats.org/drawingml/2006/main">
              <a:ext uri="{FF2B5EF4-FFF2-40B4-BE49-F238E27FC236}">
                <a16:creationId xmlns:a16="http://schemas.microsoft.com/office/drawing/2014/main" id="{B4FCFC8E-80E2-41D3-9336-21CA16E4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8" name="attention-cell-2-3">
            <a:extLst xmlns:a="http://schemas.openxmlformats.org/drawingml/2006/main">
              <a:ext uri="{FF2B5EF4-FFF2-40B4-BE49-F238E27FC236}">
                <a16:creationId xmlns:a16="http://schemas.microsoft.com/office/drawing/2014/main" id="{52F97B42-3345-407C-87FE-5F5674C3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99" name="attention-cell-2-4">
            <a:extLst xmlns:a="http://schemas.openxmlformats.org/drawingml/2006/main">
              <a:ext uri="{FF2B5EF4-FFF2-40B4-BE49-F238E27FC236}">
                <a16:creationId xmlns:a16="http://schemas.microsoft.com/office/drawing/2014/main" id="{A6C4DB78-5B73-4719-AE3A-BA994A8D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0" name="attention-cell-2-5">
            <a:extLst xmlns:a="http://schemas.openxmlformats.org/drawingml/2006/main">
              <a:ext uri="{FF2B5EF4-FFF2-40B4-BE49-F238E27FC236}">
                <a16:creationId xmlns:a16="http://schemas.microsoft.com/office/drawing/2014/main" id="{2A4B219B-AE8C-4B3B-9BAD-FE11E921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1" name="attention-cell-2-6">
            <a:extLst xmlns:a="http://schemas.openxmlformats.org/drawingml/2006/main">
              <a:ext uri="{FF2B5EF4-FFF2-40B4-BE49-F238E27FC236}">
                <a16:creationId xmlns:a16="http://schemas.microsoft.com/office/drawing/2014/main" id="{A9E6AC91-53EF-4F19-BA12-F8DD693F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765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2" name="attention-cell-3-0">
            <a:extLst xmlns:a="http://schemas.openxmlformats.org/drawingml/2006/main">
              <a:ext uri="{FF2B5EF4-FFF2-40B4-BE49-F238E27FC236}">
                <a16:creationId xmlns:a16="http://schemas.microsoft.com/office/drawing/2014/main" id="{177FF599-153D-460C-AC79-BCCFE84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3" name="A3">
            <a:extLst xmlns:a="http://schemas.openxmlformats.org/drawingml/2006/main">
              <a:ext uri="{FF2B5EF4-FFF2-40B4-BE49-F238E27FC236}">
                <a16:creationId xmlns:a16="http://schemas.microsoft.com/office/drawing/2014/main" id="{CBCD63BB-DA64-42F9-9FE9-41BD075E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2603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A3</a:t>
            </a:r>
          </a:p>
        </p:txBody>
      </p:sp>
      <p:sp>
        <p:nvSpPr>
          <p:cNvPr id="104" name="attention-cell-3-1">
            <a:extLst xmlns:a="http://schemas.openxmlformats.org/drawingml/2006/main">
              <a:ext uri="{FF2B5EF4-FFF2-40B4-BE49-F238E27FC236}">
                <a16:creationId xmlns:a16="http://schemas.microsoft.com/office/drawing/2014/main" id="{B30DB72B-8388-4A8F-9723-0FF991DB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5" name="attention-cell-3-2">
            <a:extLst xmlns:a="http://schemas.openxmlformats.org/drawingml/2006/main">
              <a:ext uri="{FF2B5EF4-FFF2-40B4-BE49-F238E27FC236}">
                <a16:creationId xmlns:a16="http://schemas.microsoft.com/office/drawing/2014/main" id="{6D4EBE2D-B190-4D93-BC42-884ADFA6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6" name="attention-cell-3-3">
            <a:extLst xmlns:a="http://schemas.openxmlformats.org/drawingml/2006/main">
              <a:ext uri="{FF2B5EF4-FFF2-40B4-BE49-F238E27FC236}">
                <a16:creationId xmlns:a16="http://schemas.microsoft.com/office/drawing/2014/main" id="{7BF05C5C-0848-4A8D-9541-3525119A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7" name="attention-cell-3-4">
            <a:extLst xmlns:a="http://schemas.openxmlformats.org/drawingml/2006/main">
              <a:ext uri="{FF2B5EF4-FFF2-40B4-BE49-F238E27FC236}">
                <a16:creationId xmlns:a16="http://schemas.microsoft.com/office/drawing/2014/main" id="{391C6284-95AF-415D-AA4B-5E2750C3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8" name="attention-cell-3-5">
            <a:extLst xmlns:a="http://schemas.openxmlformats.org/drawingml/2006/main">
              <a:ext uri="{FF2B5EF4-FFF2-40B4-BE49-F238E27FC236}">
                <a16:creationId xmlns:a16="http://schemas.microsoft.com/office/drawing/2014/main" id="{5965F728-8FE4-49FE-A991-780534F3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09" name="attention-cell-3-6">
            <a:extLst xmlns:a="http://schemas.openxmlformats.org/drawingml/2006/main">
              <a:ext uri="{FF2B5EF4-FFF2-40B4-BE49-F238E27FC236}">
                <a16:creationId xmlns:a16="http://schemas.microsoft.com/office/drawing/2014/main" id="{5603CBB8-9253-4D35-832C-C8B5D6DE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4802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0" name="attention-cell-4-0">
            <a:extLst xmlns:a="http://schemas.openxmlformats.org/drawingml/2006/main">
              <a:ext uri="{FF2B5EF4-FFF2-40B4-BE49-F238E27FC236}">
                <a16:creationId xmlns:a16="http://schemas.microsoft.com/office/drawing/2014/main" id="{A82343DC-29ED-4967-BA66-9CCFE4AD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1" name="B1">
            <a:extLst xmlns:a="http://schemas.openxmlformats.org/drawingml/2006/main">
              <a:ext uri="{FF2B5EF4-FFF2-40B4-BE49-F238E27FC236}">
                <a16:creationId xmlns:a16="http://schemas.microsoft.com/office/drawing/2014/main" id="{E53E6DBA-52A3-407D-A70A-05843733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9751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B1</a:t>
            </a:r>
          </a:p>
        </p:txBody>
      </p:sp>
      <p:sp>
        <p:nvSpPr>
          <p:cNvPr id="112" name="attention-cell-4-1">
            <a:extLst xmlns:a="http://schemas.openxmlformats.org/drawingml/2006/main">
              <a:ext uri="{FF2B5EF4-FFF2-40B4-BE49-F238E27FC236}">
                <a16:creationId xmlns:a16="http://schemas.microsoft.com/office/drawing/2014/main" id="{686B53ED-ED34-4D86-9A18-862C1436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3" name="attention-cell-4-2">
            <a:extLst xmlns:a="http://schemas.openxmlformats.org/drawingml/2006/main">
              <a:ext uri="{FF2B5EF4-FFF2-40B4-BE49-F238E27FC236}">
                <a16:creationId xmlns:a16="http://schemas.microsoft.com/office/drawing/2014/main" id="{48D1A1D4-D5DE-4F0E-B4EC-A3FEDDF2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4" name="attention-cell-4-3">
            <a:extLst xmlns:a="http://schemas.openxmlformats.org/drawingml/2006/main">
              <a:ext uri="{FF2B5EF4-FFF2-40B4-BE49-F238E27FC236}">
                <a16:creationId xmlns:a16="http://schemas.microsoft.com/office/drawing/2014/main" id="{D41F07C1-6D95-4EB7-AB07-C3ACBBE3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5" name="attention-cell-4-4">
            <a:extLst xmlns:a="http://schemas.openxmlformats.org/drawingml/2006/main">
              <a:ext uri="{FF2B5EF4-FFF2-40B4-BE49-F238E27FC236}">
                <a16:creationId xmlns:a16="http://schemas.microsoft.com/office/drawing/2014/main" id="{A517C022-D16E-4B29-BA2A-AE510AC7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6" name="attention-cell-4-5">
            <a:extLst xmlns:a="http://schemas.openxmlformats.org/drawingml/2006/main">
              <a:ext uri="{FF2B5EF4-FFF2-40B4-BE49-F238E27FC236}">
                <a16:creationId xmlns:a16="http://schemas.microsoft.com/office/drawing/2014/main" id="{0F01E7EF-ED6A-4B7E-A0EC-316CC6EE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7" name="attention-cell-4-6">
            <a:extLst xmlns:a="http://schemas.openxmlformats.org/drawingml/2006/main">
              <a:ext uri="{FF2B5EF4-FFF2-40B4-BE49-F238E27FC236}">
                <a16:creationId xmlns:a16="http://schemas.microsoft.com/office/drawing/2014/main" id="{6F90758F-E569-4EFB-B0DA-4C4D9FA3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1950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8" name="attention-cell-5-0">
            <a:extLst xmlns:a="http://schemas.openxmlformats.org/drawingml/2006/main">
              <a:ext uri="{FF2B5EF4-FFF2-40B4-BE49-F238E27FC236}">
                <a16:creationId xmlns:a16="http://schemas.microsoft.com/office/drawing/2014/main" id="{929E5B38-9D1D-45F5-9CC7-8A277AC5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19" name="B2">
            <a:extLst xmlns:a="http://schemas.openxmlformats.org/drawingml/2006/main">
              <a:ext uri="{FF2B5EF4-FFF2-40B4-BE49-F238E27FC236}">
                <a16:creationId xmlns:a16="http://schemas.microsoft.com/office/drawing/2014/main" id="{A4537AAE-3BA4-40F2-9D46-9B3D5761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68985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B2</a:t>
            </a:r>
          </a:p>
        </p:txBody>
      </p:sp>
      <p:sp>
        <p:nvSpPr>
          <p:cNvPr id="120" name="attention-cell-5-1">
            <a:extLst xmlns:a="http://schemas.openxmlformats.org/drawingml/2006/main">
              <a:ext uri="{FF2B5EF4-FFF2-40B4-BE49-F238E27FC236}">
                <a16:creationId xmlns:a16="http://schemas.microsoft.com/office/drawing/2014/main" id="{8825010E-698C-487E-A2E4-1C4BCBE0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1" name="attention-cell-5-2">
            <a:extLst xmlns:a="http://schemas.openxmlformats.org/drawingml/2006/main">
              <a:ext uri="{FF2B5EF4-FFF2-40B4-BE49-F238E27FC236}">
                <a16:creationId xmlns:a16="http://schemas.microsoft.com/office/drawing/2014/main" id="{65ED1B33-817A-4CE4-8183-F456C269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2" name="attention-cell-5-3">
            <a:extLst xmlns:a="http://schemas.openxmlformats.org/drawingml/2006/main">
              <a:ext uri="{FF2B5EF4-FFF2-40B4-BE49-F238E27FC236}">
                <a16:creationId xmlns:a16="http://schemas.microsoft.com/office/drawing/2014/main" id="{E11F80E6-64AF-409E-8064-8EECABC7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3" name="attention-cell-5-4">
            <a:extLst xmlns:a="http://schemas.openxmlformats.org/drawingml/2006/main">
              <a:ext uri="{FF2B5EF4-FFF2-40B4-BE49-F238E27FC236}">
                <a16:creationId xmlns:a16="http://schemas.microsoft.com/office/drawing/2014/main" id="{60A25D0F-59CE-46AB-823D-AEDA5BB5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4" name="attention-cell-5-5">
            <a:extLst xmlns:a="http://schemas.openxmlformats.org/drawingml/2006/main">
              <a:ext uri="{FF2B5EF4-FFF2-40B4-BE49-F238E27FC236}">
                <a16:creationId xmlns:a16="http://schemas.microsoft.com/office/drawing/2014/main" id="{6CE6D33D-F617-4151-87DF-F1B53440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5" name="attention-cell-5-6">
            <a:extLst xmlns:a="http://schemas.openxmlformats.org/drawingml/2006/main">
              <a:ext uri="{FF2B5EF4-FFF2-40B4-BE49-F238E27FC236}">
                <a16:creationId xmlns:a16="http://schemas.microsoft.com/office/drawing/2014/main" id="{77287FA5-9550-4273-BB8B-B8FF9745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90975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6" name="attention-cell-6-0">
            <a:extLst xmlns:a="http://schemas.openxmlformats.org/drawingml/2006/main">
              <a:ext uri="{FF2B5EF4-FFF2-40B4-BE49-F238E27FC236}">
                <a16:creationId xmlns:a16="http://schemas.microsoft.com/office/drawing/2014/main" id="{5B19D052-962C-4E50-9B9D-B55188B9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7" name="B3">
            <a:extLst xmlns:a="http://schemas.openxmlformats.org/drawingml/2006/main">
              <a:ext uri="{FF2B5EF4-FFF2-40B4-BE49-F238E27FC236}">
                <a16:creationId xmlns:a16="http://schemas.microsoft.com/office/drawing/2014/main" id="{54427137-A7D9-418E-B99E-EAEDD13E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40460"/>
            <a:ext cx="371475" cy="27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238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B3</a:t>
            </a:r>
          </a:p>
        </p:txBody>
      </p:sp>
      <p:sp>
        <p:nvSpPr>
          <p:cNvPr id="128" name="attention-cell-6-1">
            <a:extLst xmlns:a="http://schemas.openxmlformats.org/drawingml/2006/main">
              <a:ext uri="{FF2B5EF4-FFF2-40B4-BE49-F238E27FC236}">
                <a16:creationId xmlns:a16="http://schemas.microsoft.com/office/drawing/2014/main" id="{72B005BE-EBFD-4D3C-8F5E-3C64089F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29" name="attention-cell-6-2">
            <a:extLst xmlns:a="http://schemas.openxmlformats.org/drawingml/2006/main">
              <a:ext uri="{FF2B5EF4-FFF2-40B4-BE49-F238E27FC236}">
                <a16:creationId xmlns:a16="http://schemas.microsoft.com/office/drawing/2014/main" id="{16250795-BAC4-47DD-9A76-18048783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0" name="attention-cell-6-3">
            <a:extLst xmlns:a="http://schemas.openxmlformats.org/drawingml/2006/main">
              <a:ext uri="{FF2B5EF4-FFF2-40B4-BE49-F238E27FC236}">
                <a16:creationId xmlns:a16="http://schemas.microsoft.com/office/drawing/2014/main" id="{C03D6311-B3E2-4D78-8BF3-38871313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F3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1" name="attention-cell-6-4">
            <a:extLst xmlns:a="http://schemas.openxmlformats.org/drawingml/2006/main">
              <a:ext uri="{FF2B5EF4-FFF2-40B4-BE49-F238E27FC236}">
                <a16:creationId xmlns:a16="http://schemas.microsoft.com/office/drawing/2014/main" id="{AA9A0A1D-C45A-4D69-903A-0FC053C6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2" name="attention-cell-6-5">
            <a:extLst xmlns:a="http://schemas.openxmlformats.org/drawingml/2006/main">
              <a:ext uri="{FF2B5EF4-FFF2-40B4-BE49-F238E27FC236}">
                <a16:creationId xmlns:a16="http://schemas.microsoft.com/office/drawing/2014/main" id="{EAAF6B82-E499-4704-A495-99CCE980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3" name="attention-cell-6-6">
            <a:extLst xmlns:a="http://schemas.openxmlformats.org/drawingml/2006/main">
              <a:ext uri="{FF2B5EF4-FFF2-40B4-BE49-F238E27FC236}">
                <a16:creationId xmlns:a16="http://schemas.microsoft.com/office/drawing/2014/main" id="{B38C2BB6-08F6-4055-843D-8669EA2F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62450"/>
            <a:ext cx="3714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AEEF"/>
          </a:solidFill>
          <a:ln xmlns:a="http://schemas.openxmlformats.org/drawingml/2006/main" w="9525">
            <a:solidFill>
              <a:srgbClr val="B8C0CB"/>
            </a:solidFill>
          </a:ln>
        </p:spPr>
      </p:sp>
      <p:sp>
        <p:nvSpPr>
          <p:cNvPr id="134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82248780-9531-41E2-B46C-C4EC5ADE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133600"/>
            <a:ext cx="190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35" name="样本分界线">
            <a:extLst xmlns:a="http://schemas.openxmlformats.org/drawingml/2006/main">
              <a:ext uri="{FF2B5EF4-FFF2-40B4-BE49-F238E27FC236}">
                <a16:creationId xmlns:a16="http://schemas.microsoft.com/office/drawing/2014/main" id="{DC86F988-E8D5-4751-A582-D754DD55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09975"/>
            <a:ext cx="2600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577"/>
          </a:solidFill>
          <a:ln xmlns:a="http://schemas.openxmlformats.org/drawingml/2006/main" w="9525">
            <a:solidFill>
              <a:srgbClr val="596577"/>
            </a:solidFill>
          </a:ln>
        </p:spPr>
      </p:sp>
      <p:sp>
        <p:nvSpPr>
          <p:cNvPr id="136" name="左右两图相同：每图 6 + 6 = 12 个可见 pair">
            <a:extLst xmlns:a="http://schemas.openxmlformats.org/drawingml/2006/main">
              <a:ext uri="{FF2B5EF4-FFF2-40B4-BE49-F238E27FC236}">
                <a16:creationId xmlns:a16="http://schemas.microsoft.com/office/drawing/2014/main" id="{C512BB7A-6D9E-4203-80BE-76D13002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76800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左右两图相同：每图 6 + 6 = 12 个可见 pair</a:t>
            </a:r>
          </a:p>
        </p:txBody>
      </p:sp>
      <p:sp>
        <p:nvSpPr>
          <p:cNvPr id="137" name="显式 mask 交给后端。&#10;遮蔽位置是否跳算，需查实现。">
            <a:extLst xmlns:a="http://schemas.openxmlformats.org/drawingml/2006/main">
              <a:ext uri="{FF2B5EF4-FFF2-40B4-BE49-F238E27FC236}">
                <a16:creationId xmlns:a16="http://schemas.microsoft.com/office/drawing/2014/main" id="{D85F4959-E8DB-4ED0-816A-DF09FD3A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86375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显式 mask 交给后端。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遮蔽位置是否跳算，需查实现。</a:t>
            </a:r>
          </a:p>
        </p:txBody>
      </p:sp>
      <p:sp>
        <p:nvSpPr>
          <p:cNvPr id="138" name="cu_seq=[0,3,6]，actual_seq=[3,6]&#10;TND 分段 kernel 跳过">
            <a:extLst xmlns:a="http://schemas.openxmlformats.org/drawingml/2006/main">
              <a:ext uri="{FF2B5EF4-FFF2-40B4-BE49-F238E27FC236}">
                <a16:creationId xmlns:a16="http://schemas.microsoft.com/office/drawing/2014/main" id="{FFE41F32-B29F-48B6-A5BC-F01F8E1F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28637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cu_seq=[0,3,6]，actual_seq=[3,6]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TND 分段 kernel 跳过跨区间工作。</a:t>
            </a:r>
          </a:p>
        </p:txBody>
      </p:sp>
      <p:sp>
        <p:nvSpPr>
          <p:cNvPr id="139" name="图中颜色只表示可见性；实际跳算与加速比取决于 kernel。">
            <a:extLst xmlns:a="http://schemas.openxmlformats.org/drawingml/2006/main">
              <a:ext uri="{FF2B5EF4-FFF2-40B4-BE49-F238E27FC236}">
                <a16:creationId xmlns:a16="http://schemas.microsoft.com/office/drawing/2014/main" id="{48F8214D-3FB5-4D82-9904-F2DF4DCD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578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图中颜色只表示可见性；实际跳算与加速比取决于 kernel。</a:t>
            </a:r>
          </a:p>
        </p:txBody>
      </p:sp>
    </p:spTree>
    <p:extLst>
      <p:ext uri="{BB962C8B-B14F-4D97-AF65-F5344CB8AC3E}">
        <p14:creationId xmlns:p14="http://schemas.microsoft.com/office/powerpoint/2010/main" val="1317535280"/>
      </p:ext>
    </p:extLst>
  </p:cSld>
</p:sld>
</file>

<file path=ppt/slides/slide10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89BC8DB2-1970-48B2-A8C4-B50684F2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在课程固定版本与补丁上，切换同一份数据的后端。">
            <a:extLst xmlns:a="http://schemas.openxmlformats.org/drawingml/2006/main">
              <a:ext uri="{FF2B5EF4-FFF2-40B4-BE49-F238E27FC236}">
                <a16:creationId xmlns:a16="http://schemas.microsoft.com/office/drawing/2014/main" id="{3BED06CC-7E5E-4588-B48A-B97550F5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在课程固定版本与补丁上，切换同一份数据的后端。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09750"/>
          <a:ext xmlns:a="http://schemas.openxmlformats.org/drawingml/2006/main" cx="10706100" cy="290512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857500"/>
                <a:gridCol w="7848600"/>
              </a:tblGrid>
              <a:tr h="4286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课程固定版本与补丁的入口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两路对照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Flex eager + BlockMask / NPU VarLen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recipe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sft_qwen3_1_7b_wordle_tnd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model_spec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attn_backend="varlen"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override.imports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CLI 替换列表，保留 VarLen 与 profiler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NPU 0ea4b8d + TorchTitan 2807d3f + Wordle patch；">
            <a:extLst xmlns:a="http://schemas.openxmlformats.org/drawingml/2006/main">
              <a:ext uri="{FF2B5EF4-FFF2-40B4-BE49-F238E27FC236}">
                <a16:creationId xmlns:a16="http://schemas.microsoft.com/office/drawing/2014/main" id="{64552D96-C2CB-464B-99FF-FDD4AD7F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NPU 0ea4b8d + TorchTitan 2807d3f + Wordle patch；LM 后端选 flex / varlen。</a:t>
            </a:r>
          </a:p>
        </p:txBody>
      </p:sp>
      <p:sp>
        <p:nvSpPr>
          <p:cNvPr id="8" name="本课 Qwen3 wrapper 限 CP=1、完整分段 causal；窗口字段未实现。">
            <a:extLst xmlns:a="http://schemas.openxmlformats.org/drawingml/2006/main">
              <a:ext uri="{FF2B5EF4-FFF2-40B4-BE49-F238E27FC236}">
                <a16:creationId xmlns:a16="http://schemas.microsoft.com/office/drawing/2014/main" id="{D80ED993-A81C-4FB7-A227-DD8A1655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本课 Qwen3 wrapper 限 CP=1、完整分段 causal；窗口字段未实现。</a:t>
            </a:r>
          </a:p>
        </p:txBody>
      </p:sp>
    </p:spTree>
    <p:extLst>
      <p:ext uri="{BB962C8B-B14F-4D97-AF65-F5344CB8AC3E}">
        <p14:creationId xmlns:p14="http://schemas.microsoft.com/office/powerpoint/2010/main" val="651716521"/>
      </p:ext>
    </p:extLst>
  </p:cSld>
</p:sld>
</file>

<file path=ppt/slides/slide10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EEAE0903-31B6-4A65-884F-5FFC3948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先验证边界与数值，再比较训练速度。">
            <a:extLst xmlns:a="http://schemas.openxmlformats.org/drawingml/2006/main">
              <a:ext uri="{FF2B5EF4-FFF2-40B4-BE49-F238E27FC236}">
                <a16:creationId xmlns:a16="http://schemas.microsoft.com/office/drawing/2014/main" id="{0A9A6C57-3D03-4E00-BDCB-8B0C08A7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先验证边界与数值，再比较训练速度。</a:t>
            </a:r>
          </a:p>
        </p:txBody>
      </p:sp>
      <p:sp>
        <p:nvSpPr>
          <p:cNvPr id="6" name="核对区间起点；cu_seq 从 0 严格递增至 B×S。">
            <a:extLst xmlns:a="http://schemas.openxmlformats.org/drawingml/2006/main">
              <a:ext uri="{FF2B5EF4-FFF2-40B4-BE49-F238E27FC236}">
                <a16:creationId xmlns:a16="http://schemas.microsoft.com/office/drawing/2014/main" id="{B2EF121A-4CE1-4C1D-AAB0-CEE6B1F7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38325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核对区间起点；cu_seq 从 0 严格递增至 B×S。</a:t>
            </a:r>
          </a:p>
        </p:txBody>
      </p:sp>
      <p:sp>
        <p:nvSpPr>
          <p:cNvPr id="7" name="max_q=max(diff(cu_seq))，计入 padding 区间。">
            <a:extLst xmlns:a="http://schemas.openxmlformats.org/drawingml/2006/main">
              <a:ext uri="{FF2B5EF4-FFF2-40B4-BE49-F238E27FC236}">
                <a16:creationId xmlns:a16="http://schemas.microsoft.com/office/drawing/2014/main" id="{1A58EA36-E78D-419D-80A5-A899086B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max_q=max(diff(cu_seq))，计入 padding 区间。</a:t>
            </a:r>
          </a:p>
        </p:txBody>
      </p:sp>
      <p:sp>
        <p:nvSpPr>
          <p:cNvPr id="8" name="改动 A 的 K/V，B 的有效输出应保持不变。">
            <a:extLst xmlns:a="http://schemas.openxmlformats.org/drawingml/2006/main">
              <a:ext uri="{FF2B5EF4-FFF2-40B4-BE49-F238E27FC236}">
                <a16:creationId xmlns:a16="http://schemas.microsoft.com/office/drawing/2014/main" id="{7EB422D9-F33B-44CA-B261-F74DA1E4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改动 A 的 K/V，B 的有效输出应保持不变。</a:t>
            </a:r>
          </a:p>
        </p:txBody>
      </p:sp>
      <p:sp>
        <p:nvSpPr>
          <p:cNvPr id="9" name="对同一分块 causal 参照，比较有效输出与 dQ/dK/dV。">
            <a:extLst xmlns:a="http://schemas.openxmlformats.org/drawingml/2006/main">
              <a:ext uri="{FF2B5EF4-FFF2-40B4-BE49-F238E27FC236}">
                <a16:creationId xmlns:a16="http://schemas.microsoft.com/office/drawing/2014/main" id="{6F2E2FA3-8FFA-4223-8ABB-ADFA324D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对同一分块 causal 参照，比较有效输出与 dQ/dK/dV。</a:t>
            </a:r>
          </a:p>
        </p:txBody>
      </p:sp>
      <p:sp>
        <p:nvSpPr>
          <p:cNvPr id="10" name="固定 checkpoint、batch 和 labels，核对 loss 与梯度。">
            <a:extLst xmlns:a="http://schemas.openxmlformats.org/drawingml/2006/main">
              <a:ext uri="{FF2B5EF4-FFF2-40B4-BE49-F238E27FC236}">
                <a16:creationId xmlns:a16="http://schemas.microsoft.com/office/drawing/2014/main" id="{4739E7F8-4505-4297-B5C4-6432F36C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固定 checkpoint、batch 和 labels，核对 loss 与梯度。</a:t>
            </a:r>
          </a:p>
        </p:txBody>
      </p:sp>
      <p:sp>
        <p:nvSpPr>
          <p:cNvPr id="11" name="关闭 profiler，同步预热并重复测 forward / fwd+bwd。">
            <a:extLst xmlns:a="http://schemas.openxmlformats.org/drawingml/2006/main">
              <a:ext uri="{FF2B5EF4-FFF2-40B4-BE49-F238E27FC236}">
                <a16:creationId xmlns:a16="http://schemas.microsoft.com/office/drawing/2014/main" id="{934476A3-19BD-4C6E-9B14-099BFA2F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10706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关闭 profiler，同步预热并重复测 forward / fwd+bwd。</a:t>
            </a:r>
          </a:p>
        </p:txBody>
      </p:sp>
      <p:sp>
        <p:nvSpPr>
          <p:cNvPr id="12" name="预先约定 dtype 与容差；loss 接近不能替代梯度和隔离检查。">
            <a:extLst xmlns:a="http://schemas.openxmlformats.org/drawingml/2006/main">
              <a:ext uri="{FF2B5EF4-FFF2-40B4-BE49-F238E27FC236}">
                <a16:creationId xmlns:a16="http://schemas.microsoft.com/office/drawing/2014/main" id="{FF46862A-3B76-4D23-B998-EFF00718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预先约定 dtype 与容差；loss 接近不能替代梯度和隔离检查。</a:t>
            </a:r>
          </a:p>
        </p:txBody>
      </p:sp>
      <p:sp>
        <p:nvSpPr>
          <p:cNvPr id="13" name="边界正确、数值一致、路径明确后，速度比较才有意义。">
            <a:extLst xmlns:a="http://schemas.openxmlformats.org/drawingml/2006/main">
              <a:ext uri="{FF2B5EF4-FFF2-40B4-BE49-F238E27FC236}">
                <a16:creationId xmlns:a16="http://schemas.microsoft.com/office/drawing/2014/main" id="{FA74037A-44DF-48A3-A21C-0E10B4E6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边界正确、数值一致、路径明确后，速度比较才有意义。</a:t>
            </a:r>
          </a:p>
        </p:txBody>
      </p:sp>
    </p:spTree>
    <p:extLst>
      <p:ext uri="{BB962C8B-B14F-4D97-AF65-F5344CB8AC3E}">
        <p14:creationId xmlns:p14="http://schemas.microsoft.com/office/powerpoint/2010/main" val="1852248331"/>
      </p:ext>
    </p:extLst>
  </p:cSld>
</p:sld>
</file>

<file path=ppt/slides/slide10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变长注意力优化">
            <a:extLst xmlns:a="http://schemas.openxmlformats.org/drawingml/2006/main">
              <a:ext uri="{FF2B5EF4-FFF2-40B4-BE49-F238E27FC236}">
                <a16:creationId xmlns:a16="http://schemas.microsoft.com/office/drawing/2014/main" id="{00A25E11-2158-4AE5-A3BA-45814553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变长注意力优化</a:t>
            </a:r>
          </a:p>
        </p:txBody>
      </p:sp>
      <p:sp>
        <p:nvSpPr>
          <p:cNvPr id="5" name="相同 packed 数据上的参考记录显示后端收益。">
            <a:extLst xmlns:a="http://schemas.openxmlformats.org/drawingml/2006/main">
              <a:ext uri="{FF2B5EF4-FFF2-40B4-BE49-F238E27FC236}">
                <a16:creationId xmlns:a16="http://schemas.microsoft.com/office/drawing/2014/main" id="{DE8F1852-0E73-414C-9364-047D750D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相同 packed 数据上的参考记录显示后端收益。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571875"/>
                <a:gridCol w="3571875"/>
                <a:gridCol w="356235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steps 7–10 参考汇总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Flex eager + packed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NPU VarLen + packed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slot TPS / device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1769.5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5804.5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折算 step 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4.630 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1.411 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日志峰值 reserved（GiB）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33.43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21.78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loss 均值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0.7504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0.7503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课程固定版本参考，非本次实测。2 rank、local batch 2、GBS 4、seq 40">
            <a:extLst xmlns:a="http://schemas.openxmlformats.org/drawingml/2006/main">
              <a:ext uri="{FF2B5EF4-FFF2-40B4-BE49-F238E27FC236}">
                <a16:creationId xmlns:a16="http://schemas.microsoft.com/office/drawing/2014/main" id="{E430532D-2AC8-4622-89D3-BFE195B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课程固定版本参考，非本次实测。2 rank、local batch 2、GBS 4、seq 4096。</a:t>
            </a:r>
          </a:p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steps 7–10；时间按 8192 slots / 每设备 TPS 折算。</a:t>
            </a:r>
          </a:p>
        </p:txBody>
      </p:sp>
      <p:sp>
        <p:nvSpPr>
          <p:cNvPr id="8" name="该记录无 device 耗时计数；稳定速度需关闭 profiler 后重复验证。">
            <a:extLst xmlns:a="http://schemas.openxmlformats.org/drawingml/2006/main">
              <a:ext uri="{FF2B5EF4-FFF2-40B4-BE49-F238E27FC236}">
                <a16:creationId xmlns:a16="http://schemas.microsoft.com/office/drawing/2014/main" id="{4CDD09B2-C579-43E9-9955-FF138E4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该记录无 device 耗时计数；稳定速度需关闭 profiler 后重复验证。</a:t>
            </a:r>
          </a:p>
        </p:txBody>
      </p:sp>
    </p:spTree>
    <p:extLst>
      <p:ext uri="{BB962C8B-B14F-4D97-AF65-F5344CB8AC3E}">
        <p14:creationId xmlns:p14="http://schemas.microsoft.com/office/powerpoint/2010/main" val="1188706588"/>
      </p:ext>
    </p:extLst>
  </p:cSld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slide-title"/>
          <p:cNvSpPr>
            <a:spLocks noGrp="1"/>
          </p:cNvSpPr>
          <p:nvPr/>
        </p:nvSpPr>
        <p:spPr>
          <a:xfrm>
            <a:off x="609600" y="320040"/>
            <a:ext cx="95250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变长注意力优化</a:t>
            </a:r>
            <a:endParaRPr sz="27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5" name="quiz-instruction"/>
          <p:cNvSpPr>
            <a:spLocks noGrp="1"/>
          </p:cNvSpPr>
          <p:nvPr/>
        </p:nvSpPr>
        <p:spPr>
          <a:xfrm>
            <a:off x="609600" y="971550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随堂检测：先独立作答，再说明你的判断依据。</a:t>
            </a:r>
            <a:endParaRPr sz="1725" b="0">
              <a:solidFill>
                <a:srgbClr val="555555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q1-label"/>
          <p:cNvSpPr>
            <a:spLocks noGrp="1"/>
          </p:cNvSpPr>
          <p:nvPr/>
        </p:nvSpPr>
        <p:spPr>
          <a:xfrm>
            <a:off x="609600" y="143827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Q1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q1-stem"/>
          <p:cNvSpPr>
            <a:spLocks noGrp="1"/>
          </p:cNvSpPr>
          <p:nvPr/>
        </p:nvSpPr>
        <p:spPr>
          <a:xfrm>
            <a:off x="1495425" y="144780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【判断】padding 可自成区间，区间数可能多于真实样本数。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q2-label"/>
          <p:cNvSpPr>
            <a:spLocks noGrp="1"/>
          </p:cNvSpPr>
          <p:nvPr/>
        </p:nvSpPr>
        <p:spPr>
          <a:xfrm>
            <a:off x="609600" y="225742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FFD0D1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Q2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q2-stem"/>
          <p:cNvSpPr>
            <a:spLocks noGrp="1"/>
          </p:cNvSpPr>
          <p:nvPr/>
        </p:nvSpPr>
        <p:spPr>
          <a:xfrm>
            <a:off x="1495425" y="226695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【判断】VarLen 会自动跳过 padding 的 MLP 和 Norm。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0" name="q3-label"/>
          <p:cNvSpPr>
            <a:spLocks noGrp="1"/>
          </p:cNvSpPr>
          <p:nvPr/>
        </p:nvSpPr>
        <p:spPr>
          <a:xfrm>
            <a:off x="609600" y="310515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BFECCC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Q3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1" name="q3-stem"/>
          <p:cNvSpPr>
            <a:spLocks noGrp="1"/>
          </p:cNvSpPr>
          <p:nvPr/>
        </p:nvSpPr>
        <p:spPr>
          <a:xfrm>
            <a:off x="1495425" y="311467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【单选】哪组指标最适合补充 slot TPS？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2" name="q3-option0"/>
          <p:cNvSpPr>
            <a:spLocks noGrp="1"/>
          </p:cNvSpPr>
          <p:nvPr/>
        </p:nvSpPr>
        <p:spPr>
          <a:xfrm>
            <a:off x="149542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样本、有效输入、监督量／秒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3" name="q3-option1"/>
          <p:cNvSpPr>
            <a:spLocks noGrp="1"/>
          </p:cNvSpPr>
          <p:nvPr/>
        </p:nvSpPr>
        <p:spPr>
          <a:xfrm>
            <a:off x="650557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参数量与层数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4" name="q3-option2"/>
          <p:cNvSpPr>
            <a:spLocks noGrp="1"/>
          </p:cNvSpPr>
          <p:nvPr/>
        </p:nvSpPr>
        <p:spPr>
          <a:xfrm>
            <a:off x="149542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第一步 loss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5" name="q3-option3"/>
          <p:cNvSpPr>
            <a:spLocks noGrp="1"/>
          </p:cNvSpPr>
          <p:nvPr/>
        </p:nvSpPr>
        <p:spPr>
          <a:xfrm>
            <a:off x="650557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最快一次 step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6" name="q4-label"/>
          <p:cNvSpPr>
            <a:spLocks noGrp="1"/>
          </p:cNvSpPr>
          <p:nvPr/>
        </p:nvSpPr>
        <p:spPr>
          <a:xfrm>
            <a:off x="609600" y="468630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Q4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7" name="q4-stem"/>
          <p:cNvSpPr>
            <a:spLocks noGrp="1"/>
          </p:cNvSpPr>
          <p:nvPr/>
        </p:nvSpPr>
        <p:spPr>
          <a:xfrm>
            <a:off x="1495425" y="469582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【单选】NPU VarLen 用哪组参数表达区间边界？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8" name="q4-option0"/>
          <p:cNvSpPr>
            <a:spLocks noGrp="1"/>
          </p:cNvSpPr>
          <p:nvPr/>
        </p:nvSpPr>
        <p:spPr>
          <a:xfrm>
            <a:off x="149542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BSND + sparse_mode=0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9" name="q4-option1"/>
          <p:cNvSpPr>
            <a:spLocks noGrp="1"/>
          </p:cNvSpPr>
          <p:nvPr/>
        </p:nvSpPr>
        <p:spPr>
          <a:xfrm>
            <a:off x="650557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TND + actual_seq + sparse_mode=7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0" name="q4-option2"/>
          <p:cNvSpPr>
            <a:spLocks noGrp="1"/>
          </p:cNvSpPr>
          <p:nvPr/>
        </p:nvSpPr>
        <p:spPr>
          <a:xfrm>
            <a:off x="149542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仅设置 is_causal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1" name="q4-option3"/>
          <p:cNvSpPr>
            <a:spLocks noGrp="1"/>
          </p:cNvSpPr>
          <p:nvPr/>
        </p:nvSpPr>
        <p:spPr>
          <a:xfrm>
            <a:off x="650557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仅修改 labels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SFT 中阶课程</a:t>
            </a:r>
            <a:endParaRPr sz="40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5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https://gitcode.com/cann/cann-learning-hub/tree/master/tutorials/sft_training_pipeline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1 注意力算子优化</a:t>
            </a:r>
            <a:endParaRPr lang="zh-CN" altLang="en-US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2 变长注意力优化</a:t>
            </a:r>
            <a:endParaRPr lang="zh-CN" altLang="en-US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3 分布式通信演示</a:t>
            </a:r>
            <a:endParaRPr lang="zh-CN" sz="2400" b="0" i="0" u="none" cap="none">
              <a:ln>
                <a:noFill/>
              </a:ln>
              <a:solidFill>
                <a:schemeClr val="bg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4 通信优化与 VarLen 协同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</p:sld>
</file>

<file path=ppt/slides/slide10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分布式通信演示">
            <a:extLst xmlns:a="http://schemas.openxmlformats.org/drawingml/2006/main">
              <a:ext uri="{FF2B5EF4-FFF2-40B4-BE49-F238E27FC236}">
                <a16:creationId xmlns:a16="http://schemas.microsoft.com/office/drawing/2014/main" id="{F21A4BDA-35F2-437B-B114-1F07CACA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分布式通信演示</a:t>
            </a:r>
          </a:p>
        </p:txBody>
      </p:sp>
      <p:sp>
        <p:nvSpPr>
          <p:cNvPr id="5" name="FSDP 临时收集参数；前向后重新分片，反向前还需再收集。">
            <a:extLst xmlns:a="http://schemas.openxmlformats.org/drawingml/2006/main">
              <a:ext uri="{FF2B5EF4-FFF2-40B4-BE49-F238E27FC236}">
                <a16:creationId xmlns:a16="http://schemas.microsoft.com/office/drawing/2014/main" id="{1515732A-ED35-43A5-92EF-BD4DF9A5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FSDP 临时收集参数；前向后重新分片，反向前还需再收集。</a:t>
            </a:r>
          </a:p>
        </p:txBody>
      </p:sp>
      <p:sp>
        <p:nvSpPr>
          <p:cNvPr id="6" name="图示：参数 AllGather">
            <a:extLst xmlns:a="http://schemas.openxmlformats.org/drawingml/2006/main">
              <a:ext uri="{FF2B5EF4-FFF2-40B4-BE49-F238E27FC236}">
                <a16:creationId xmlns:a16="http://schemas.microsoft.com/office/drawing/2014/main" id="{4218AFB2-1944-4CA6-8260-B089B495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478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图示：参数 AllGather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ed1a98a754d7f"/>
          <a:stretch xmlns:a="http://schemas.openxmlformats.org/drawingml/2006/main"/>
        </p:blipFill>
        <p:spPr>
          <a:xfrm xmlns:a="http://schemas.openxmlformats.org/drawingml/2006/main">
            <a:off x="814614" y="2000250"/>
            <a:ext cx="10562771" cy="23431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8" name=""/>
          <p:cNvGraphicFramePr/>
          <p:nvPr/>
        </p:nvGraphicFramePr>
        <p:xfrm>
          <a:off xmlns:a="http://schemas.openxmlformats.org/drawingml/2006/main" x="742950" y="4343400"/>
          <a:ext xmlns:a="http://schemas.openxmlformats.org/drawingml/2006/main" cx="10706100" cy="117157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571750"/>
                <a:gridCol w="4667250"/>
                <a:gridCol w="3467100"/>
              </a:tblGrid>
              <a:tr h="37147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数据变化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数值操作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AllGather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参数分片变为完整参数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拼接，不求和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ReduceScatter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梯度贡献变为本地分片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求和，再切分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前向后重新分片时，普通单元约为：前向 AG + 反向 AG + 梯度 RS。">
            <a:extLst xmlns:a="http://schemas.openxmlformats.org/drawingml/2006/main">
              <a:ext uri="{FF2B5EF4-FFF2-40B4-BE49-F238E27FC236}">
                <a16:creationId xmlns:a16="http://schemas.microsoft.com/office/drawing/2014/main" id="{4EF5F862-B541-4950-9C16-A578F783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575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前向后重新分片时，普通单元约为：前向 AG + 反向 AG + 梯度 RS。</a:t>
            </a:r>
          </a:p>
        </p:txBody>
      </p:sp>
      <p:sp>
        <p:nvSpPr>
          <p:cNvPr id="10" name="真实训练的 RS 字节数取决于 reduce_dtype；不能直接套用 BF16 demo。">
            <a:extLst xmlns:a="http://schemas.openxmlformats.org/drawingml/2006/main">
              <a:ext uri="{FF2B5EF4-FFF2-40B4-BE49-F238E27FC236}">
                <a16:creationId xmlns:a16="http://schemas.microsoft.com/office/drawing/2014/main" id="{712957B7-FE14-42A5-81B3-FFD7E28E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真实训练的 RS 字节数取决于 reduce_dtype；不能直接套用 BF16 demo。</a:t>
            </a:r>
          </a:p>
        </p:txBody>
      </p:sp>
    </p:spTree>
    <p:extLst>
      <p:ext uri="{BB962C8B-B14F-4D97-AF65-F5344CB8AC3E}">
        <p14:creationId xmlns:p14="http://schemas.microsoft.com/office/powerpoint/2010/main" val="1952246579"/>
      </p:ext>
    </p:extLst>
  </p:cSld>
</p:sld>
</file>

<file path=ppt/slides/slide10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分布式通信演示">
            <a:extLst xmlns:a="http://schemas.openxmlformats.org/drawingml/2006/main">
              <a:ext uri="{FF2B5EF4-FFF2-40B4-BE49-F238E27FC236}">
                <a16:creationId xmlns:a16="http://schemas.microsoft.com/office/drawing/2014/main" id="{897C0788-56C6-4452-B6AB-DFD117E2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分布式通信演示</a:t>
            </a:r>
          </a:p>
        </p:txBody>
      </p:sp>
      <p:sp>
        <p:nvSpPr>
          <p:cNvPr id="5" name="通信量先统一为每 rank 单向发送，再按实际 dtype 计算。">
            <a:extLst xmlns:a="http://schemas.openxmlformats.org/drawingml/2006/main">
              <a:ext uri="{FF2B5EF4-FFF2-40B4-BE49-F238E27FC236}">
                <a16:creationId xmlns:a16="http://schemas.microsoft.com/office/drawing/2014/main" id="{E9674669-F9BA-4399-914A-B4C0F252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通信量先统一为每 rank 单向发送，再按实际 dtype 计算。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809875"/>
                <a:gridCol w="4143375"/>
                <a:gridCol w="375285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逻辑输入 → 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每 rank 发送量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AllGather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M/p → 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(p−1)M/p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ReduceScatter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 → M/p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(p−1)M/p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AllReduce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M → 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2(p−1)M/p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AllToAll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本地 Mₗ → Mₗ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(p−1)Mₗ/p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 为通信组大小；M 为对应操作的完整张量字节数。公式为 ring/pairwise 基线，不是">
            <a:extLst xmlns:a="http://schemas.openxmlformats.org/drawingml/2006/main">
              <a:ext uri="{FF2B5EF4-FFF2-40B4-BE49-F238E27FC236}">
                <a16:creationId xmlns:a16="http://schemas.microsoft.com/office/drawing/2014/main" id="{11CF0E16-6CD0-4EE2-8AAC-D17B02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p 为通信组大小；M 为对应操作的完整张量字节数。公式为 ring/pairwise 基线，不是耗时。</a:t>
            </a:r>
          </a:p>
        </p:txBody>
      </p:sp>
      <p:sp>
        <p:nvSpPr>
          <p:cNvPr id="8" name="BF16 demo 的 AG/RS 各约 50.3 MB；课程默认 FP32 规约的 RS 约 ">
            <a:extLst xmlns:a="http://schemas.openxmlformats.org/drawingml/2006/main">
              <a:ext uri="{FF2B5EF4-FFF2-40B4-BE49-F238E27FC236}">
                <a16:creationId xmlns:a16="http://schemas.microsoft.com/office/drawing/2014/main" id="{B0D4466B-C1A5-4595-AA78-3D01D507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BF16 demo 的 AG/RS 各约 50.3 MB；课程默认 FP32 规约的 RS 约 100.7 MB。</a:t>
            </a:r>
          </a:p>
        </p:txBody>
      </p:sp>
    </p:spTree>
    <p:extLst>
      <p:ext uri="{BB962C8B-B14F-4D97-AF65-F5344CB8AC3E}">
        <p14:creationId xmlns:p14="http://schemas.microsoft.com/office/powerpoint/2010/main" val="1103153844"/>
      </p:ext>
    </p:extLst>
  </p:cSld>
</p:sld>
</file>

<file path=ppt/slides/slide10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分布式通信演示">
            <a:extLst xmlns:a="http://schemas.openxmlformats.org/drawingml/2006/main">
              <a:ext uri="{FF2B5EF4-FFF2-40B4-BE49-F238E27FC236}">
                <a16:creationId xmlns:a16="http://schemas.microsoft.com/office/drawing/2014/main" id="{204CF0E6-C33E-4C09-9582-F09B5CC6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分布式通信演示</a:t>
            </a:r>
          </a:p>
        </p:txBody>
      </p:sp>
      <p:sp>
        <p:nvSpPr>
          <p:cNvPr id="5" name="TP 的通信由分片结果需要变成什么布局决定">
            <a:extLst xmlns:a="http://schemas.openxmlformats.org/drawingml/2006/main">
              <a:ext uri="{FF2B5EF4-FFF2-40B4-BE49-F238E27FC236}">
                <a16:creationId xmlns:a16="http://schemas.microsoft.com/office/drawing/2014/main" id="{EB40CAC8-9D12-4A1D-BA06-80AD1ED8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TP 的通信由分片结果需要变成什么布局决定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5b3cb66814faf"/>
          <a:stretch xmlns:a="http://schemas.openxmlformats.org/drawingml/2006/main"/>
        </p:blipFill>
        <p:spPr>
          <a:xfrm xmlns:a="http://schemas.openxmlformats.org/drawingml/2006/main">
            <a:off x="1649080" y="1790700"/>
            <a:ext cx="8893841" cy="3209925"/>
          </a:xfrm>
          <a:prstGeom xmlns:a="http://schemas.openxmlformats.org/drawingml/2006/main" prst="rect">
            <a:avLst/>
          </a:prstGeom>
        </p:spPr>
      </p:pic>
      <p:sp>
        <p:nvSpPr>
          <p:cNvPr id="7" name="Shard：不同坐标的分片。Partial：同一坐标的部分和。">
            <a:extLst xmlns:a="http://schemas.openxmlformats.org/drawingml/2006/main">
              <a:ext uri="{FF2B5EF4-FFF2-40B4-BE49-F238E27FC236}">
                <a16:creationId xmlns:a16="http://schemas.microsoft.com/office/drawing/2014/main" id="{2053C90B-CA17-420B-BDB1-E7B8A315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38725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Shard：不同坐标的分片。Partial：同一坐标的部分和。</a:t>
            </a:r>
          </a:p>
        </p:txBody>
      </p:sp>
      <p:sp>
        <p:nvSpPr>
          <p:cNvPr id="8" name="图示为经典 TP（SP 关闭）；TP+SP 常采用 AllGather / ReduceScat">
            <a:extLst xmlns:a="http://schemas.openxmlformats.org/drawingml/2006/main">
              <a:ext uri="{FF2B5EF4-FFF2-40B4-BE49-F238E27FC236}">
                <a16:creationId xmlns:a16="http://schemas.microsoft.com/office/drawing/2014/main" id="{9D5E6237-D61F-4D66-9189-5A02B4F7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725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图示为经典 TP（SP 关闭）；TP+SP 常采用 AllGather / ReduceScatter。</a:t>
            </a:r>
          </a:p>
        </p:txBody>
      </p:sp>
      <p:sp>
        <p:nvSpPr>
          <p:cNvPr id="9" name="先看目标布局，再判断需要哪种通信">
            <a:extLst xmlns:a="http://schemas.openxmlformats.org/drawingml/2006/main">
              <a:ext uri="{FF2B5EF4-FFF2-40B4-BE49-F238E27FC236}">
                <a16:creationId xmlns:a16="http://schemas.microsoft.com/office/drawing/2014/main" id="{3435CABB-D833-4BC5-8ADB-60FA6CB2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先看目标布局，再判断需要哪种通信</a:t>
            </a:r>
          </a:p>
        </p:txBody>
      </p:sp>
    </p:spTree>
    <p:extLst>
      <p:ext uri="{BB962C8B-B14F-4D97-AF65-F5344CB8AC3E}">
        <p14:creationId xmlns:p14="http://schemas.microsoft.com/office/powerpoint/2010/main" val="233547376"/>
      </p:ext>
    </p:extLst>
  </p:cSld>
</p:sld>
</file>

<file path=ppt/slides/slide10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分布式通信演示">
            <a:extLst xmlns:a="http://schemas.openxmlformats.org/drawingml/2006/main">
              <a:ext uri="{FF2B5EF4-FFF2-40B4-BE49-F238E27FC236}">
                <a16:creationId xmlns:a16="http://schemas.microsoft.com/office/drawing/2014/main" id="{19552272-C3DC-4806-9B4D-51544CA8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分布式通信演示</a:t>
            </a:r>
          </a:p>
        </p:txBody>
      </p:sp>
      <p:sp>
        <p:nvSpPr>
          <p:cNvPr id="5" name="Ulysses CP 用 AllToAll 交换序列与注意力头的归属">
            <a:extLst xmlns:a="http://schemas.openxmlformats.org/drawingml/2006/main">
              <a:ext uri="{FF2B5EF4-FFF2-40B4-BE49-F238E27FC236}">
                <a16:creationId xmlns:a16="http://schemas.microsoft.com/office/drawing/2014/main" id="{6863B4DB-AAE4-4613-8E93-B1210331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Ulysses CP 用 AllToAll 交换序列与注意力头的归属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4969bbf1e4c89"/>
          <a:stretch xmlns:a="http://schemas.openxmlformats.org/drawingml/2006/main"/>
        </p:blipFill>
        <p:spPr>
          <a:xfrm xmlns:a="http://schemas.openxmlformats.org/drawingml/2006/main">
            <a:off x="2582365" y="1743075"/>
            <a:ext cx="7027271" cy="3352800"/>
          </a:xfrm>
          <a:prstGeom xmlns:a="http://schemas.openxmlformats.org/drawingml/2006/main" prst="rect">
            <a:avLst/>
          </a:prstGeom>
        </p:spPr>
      </p:pic>
      <p:sp>
        <p:nvSpPr>
          <p:cNvPr id="7" name="Q：[2, 2048, 16, 128] → [2, 4096, 8, 128]">
            <a:extLst xmlns:a="http://schemas.openxmlformats.org/drawingml/2006/main">
              <a:ext uri="{FF2B5EF4-FFF2-40B4-BE49-F238E27FC236}">
                <a16:creationId xmlns:a16="http://schemas.microsoft.com/office/drawing/2014/main" id="{B13FFDB9-107B-4AE6-8248-D31ACC63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24450"/>
            <a:ext cx="10706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Q：[2, 2048, 16, 128] → [2, 4096, 8, 128]</a:t>
            </a:r>
          </a:p>
        </p:txBody>
      </p:sp>
      <p:sp>
        <p:nvSpPr>
          <p:cNvPr id="8" name="填色表示 token 来源，外框表示当前持有者；AllToAll 只重排，不求和。">
            <a:extLst xmlns:a="http://schemas.openxmlformats.org/drawingml/2006/main">
              <a:ext uri="{FF2B5EF4-FFF2-40B4-BE49-F238E27FC236}">
                <a16:creationId xmlns:a16="http://schemas.microsoft.com/office/drawing/2014/main" id="{E535B7B5-42E7-4A23-A8BA-B9A11229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05450"/>
            <a:ext cx="1070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填色表示 token 来源，外框表示当前持有者；AllToAll 只重排，不求和。</a:t>
            </a:r>
          </a:p>
        </p:txBody>
      </p:sp>
      <p:sp>
        <p:nvSpPr>
          <p:cNvPr id="9" name="长上下文容量收益，需要支付布局交换与等待成本">
            <a:extLst xmlns:a="http://schemas.openxmlformats.org/drawingml/2006/main">
              <a:ext uri="{FF2B5EF4-FFF2-40B4-BE49-F238E27FC236}">
                <a16:creationId xmlns:a16="http://schemas.microsoft.com/office/drawing/2014/main" id="{D3D4481A-BCAB-42D6-8BC7-BFBAB886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长上下文容量收益，需要支付布局交换与等待成本</a:t>
            </a:r>
          </a:p>
        </p:txBody>
      </p:sp>
    </p:spTree>
    <p:extLst>
      <p:ext uri="{BB962C8B-B14F-4D97-AF65-F5344CB8AC3E}">
        <p14:creationId xmlns:p14="http://schemas.microsoft.com/office/powerpoint/2010/main" val="647859669"/>
      </p:ext>
    </p:extLst>
  </p:cSld>
</p:sld>
</file>

<file path=ppt/slides/slide10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分布式通信演示">
            <a:extLst xmlns:a="http://schemas.openxmlformats.org/drawingml/2006/main">
              <a:ext uri="{FF2B5EF4-FFF2-40B4-BE49-F238E27FC236}">
                <a16:creationId xmlns:a16="http://schemas.microsoft.com/office/drawing/2014/main" id="{D8D51719-DD2C-484D-B670-7838CE79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分布式通信演示</a:t>
            </a:r>
          </a:p>
        </p:txBody>
      </p:sp>
      <p:sp>
        <p:nvSpPr>
          <p:cNvPr id="5" name="Overlap 隐藏等待时间，但不减少交换字节数">
            <a:extLst xmlns:a="http://schemas.openxmlformats.org/drawingml/2006/main">
              <a:ext uri="{FF2B5EF4-FFF2-40B4-BE49-F238E27FC236}">
                <a16:creationId xmlns:a16="http://schemas.microsoft.com/office/drawing/2014/main" id="{47057F81-FE1A-46CB-AB7D-2CA36F93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Overlap 隐藏等待时间，但不减少交换字节数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19ee20d3746cc"/>
          <a:stretch xmlns:a="http://schemas.openxmlformats.org/drawingml/2006/main"/>
        </p:blipFill>
        <p:spPr>
          <a:xfrm xmlns:a="http://schemas.openxmlformats.org/drawingml/2006/main">
            <a:off x="1726406" y="1695450"/>
            <a:ext cx="8739188" cy="3495675"/>
          </a:xfrm>
          <a:prstGeom xmlns:a="http://schemas.openxmlformats.org/drawingml/2006/main" prst="rect">
            <a:avLst/>
          </a:prstGeom>
        </p:spPr>
      </p:pic>
      <p:sp>
        <p:nvSpPr>
          <p:cNvPr id="7" name="计时：每次先取最慢 rank，再统计 median / P95。">
            <a:extLst xmlns:a="http://schemas.openxmlformats.org/drawingml/2006/main">
              <a:ext uri="{FF2B5EF4-FFF2-40B4-BE49-F238E27FC236}">
                <a16:creationId xmlns:a16="http://schemas.microsoft.com/office/drawing/2014/main" id="{DCA0A14F-D825-4024-943B-B4E0BEC7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1070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计时：每次先取最慢 rank，再统计 median / P95。</a:t>
            </a:r>
          </a:p>
        </p:txBody>
      </p:sp>
      <p:sp>
        <p:nvSpPr>
          <p:cNvPr id="8" name="独立中位数之和是零 overlap 估算，不是 step time 或严格上界。">
            <a:extLst xmlns:a="http://schemas.openxmlformats.org/drawingml/2006/main">
              <a:ext uri="{FF2B5EF4-FFF2-40B4-BE49-F238E27FC236}">
                <a16:creationId xmlns:a16="http://schemas.microsoft.com/office/drawing/2014/main" id="{A020798A-F72D-4AA3-8808-1E73A48A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独立中位数之和是零 overlap 估算，不是 step time 或严格上界。</a:t>
            </a:r>
          </a:p>
        </p:txBody>
      </p:sp>
      <p:sp>
        <p:nvSpPr>
          <p:cNvPr id="9" name="Overlap 减少暴露时间，不减少交换字节数">
            <a:extLst xmlns:a="http://schemas.openxmlformats.org/drawingml/2006/main">
              <a:ext uri="{FF2B5EF4-FFF2-40B4-BE49-F238E27FC236}">
                <a16:creationId xmlns:a16="http://schemas.microsoft.com/office/drawing/2014/main" id="{6483B619-DF0E-4A8C-A2F7-4D11BDFF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00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Overlap 减少暴露时间，不减少交换字节数</a:t>
            </a:r>
          </a:p>
        </p:txBody>
      </p:sp>
    </p:spTree>
    <p:extLst>
      <p:ext uri="{BB962C8B-B14F-4D97-AF65-F5344CB8AC3E}">
        <p14:creationId xmlns:p14="http://schemas.microsoft.com/office/powerpoint/2010/main" val="239284298"/>
      </p:ext>
    </p:extLst>
  </p:cSld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slide-title"/>
          <p:cNvSpPr>
            <a:spLocks noGrp="1"/>
          </p:cNvSpPr>
          <p:nvPr/>
        </p:nvSpPr>
        <p:spPr>
          <a:xfrm>
            <a:off x="609600" y="320040"/>
            <a:ext cx="95250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分布式通信演示</a:t>
            </a:r>
            <a:endParaRPr sz="27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5" name="quiz-instruction"/>
          <p:cNvSpPr>
            <a:spLocks noGrp="1"/>
          </p:cNvSpPr>
          <p:nvPr/>
        </p:nvSpPr>
        <p:spPr>
          <a:xfrm>
            <a:off x="609600" y="971550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随堂检测：先独立作答，再说明你的判断依据。</a:t>
            </a:r>
            <a:endParaRPr sz="1725" b="0">
              <a:solidFill>
                <a:srgbClr val="555555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q1-label"/>
          <p:cNvSpPr>
            <a:spLocks noGrp="1"/>
          </p:cNvSpPr>
          <p:nvPr/>
        </p:nvSpPr>
        <p:spPr>
          <a:xfrm>
            <a:off x="609600" y="143827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Q1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q1-stem"/>
          <p:cNvSpPr>
            <a:spLocks noGrp="1"/>
          </p:cNvSpPr>
          <p:nvPr/>
        </p:nvSpPr>
        <p:spPr>
          <a:xfrm>
            <a:off x="1495425" y="144780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【判断】FSDP 常驻参数分片，计算某个 unit 时临时收集完整参数。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q2-label"/>
          <p:cNvSpPr>
            <a:spLocks noGrp="1"/>
          </p:cNvSpPr>
          <p:nvPr/>
        </p:nvSpPr>
        <p:spPr>
          <a:xfrm>
            <a:off x="609600" y="225742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FFD0D1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Q2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q2-stem"/>
          <p:cNvSpPr>
            <a:spLocks noGrp="1"/>
          </p:cNvSpPr>
          <p:nvPr/>
        </p:nvSpPr>
        <p:spPr>
          <a:xfrm>
            <a:off x="1495425" y="226695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【判断】Overlap 既减少通信等待，也减少 collective 的交换字节数。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0" name="q3-label"/>
          <p:cNvSpPr>
            <a:spLocks noGrp="1"/>
          </p:cNvSpPr>
          <p:nvPr/>
        </p:nvSpPr>
        <p:spPr>
          <a:xfrm>
            <a:off x="609600" y="310515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BFECCC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Q3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1" name="q3-stem"/>
          <p:cNvSpPr>
            <a:spLocks noGrp="1"/>
          </p:cNvSpPr>
          <p:nvPr/>
        </p:nvSpPr>
        <p:spPr>
          <a:xfrm>
            <a:off x="1495425" y="311467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【单选】哪种操作规约梯度贡献，并让各 rank 只留下本地分片？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2" name="q3-option0"/>
          <p:cNvSpPr>
            <a:spLocks noGrp="1"/>
          </p:cNvSpPr>
          <p:nvPr/>
        </p:nvSpPr>
        <p:spPr>
          <a:xfrm>
            <a:off x="149542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AllGather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3" name="q3-option1"/>
          <p:cNvSpPr>
            <a:spLocks noGrp="1"/>
          </p:cNvSpPr>
          <p:nvPr/>
        </p:nvSpPr>
        <p:spPr>
          <a:xfrm>
            <a:off x="650557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ReduceScatter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4" name="q3-option2"/>
          <p:cNvSpPr>
            <a:spLocks noGrp="1"/>
          </p:cNvSpPr>
          <p:nvPr/>
        </p:nvSpPr>
        <p:spPr>
          <a:xfrm>
            <a:off x="149542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AllToAll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5" name="q3-option3"/>
          <p:cNvSpPr>
            <a:spLocks noGrp="1"/>
          </p:cNvSpPr>
          <p:nvPr/>
        </p:nvSpPr>
        <p:spPr>
          <a:xfrm>
            <a:off x="650557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Broadcast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6" name="q4-label"/>
          <p:cNvSpPr>
            <a:spLocks noGrp="1"/>
          </p:cNvSpPr>
          <p:nvPr/>
        </p:nvSpPr>
        <p:spPr>
          <a:xfrm>
            <a:off x="609600" y="468630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Q4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7" name="q4-stem"/>
          <p:cNvSpPr>
            <a:spLocks noGrp="1"/>
          </p:cNvSpPr>
          <p:nvPr/>
        </p:nvSpPr>
        <p:spPr>
          <a:xfrm>
            <a:off x="1495425" y="469582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【单选】B=2、S=4096、Q头=16、D=128、CP=2，交换后 Q 形状？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8" name="q4-option0"/>
          <p:cNvSpPr>
            <a:spLocks noGrp="1"/>
          </p:cNvSpPr>
          <p:nvPr/>
        </p:nvSpPr>
        <p:spPr>
          <a:xfrm>
            <a:off x="149542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[2,2048,16,128]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9" name="q4-option1"/>
          <p:cNvSpPr>
            <a:spLocks noGrp="1"/>
          </p:cNvSpPr>
          <p:nvPr/>
        </p:nvSpPr>
        <p:spPr>
          <a:xfrm>
            <a:off x="650557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[2,4096,8,128]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0" name="q4-option2"/>
          <p:cNvSpPr>
            <a:spLocks noGrp="1"/>
          </p:cNvSpPr>
          <p:nvPr/>
        </p:nvSpPr>
        <p:spPr>
          <a:xfrm>
            <a:off x="149542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[2,4096,16,128]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1" name="q4-option3"/>
          <p:cNvSpPr>
            <a:spLocks noGrp="1"/>
          </p:cNvSpPr>
          <p:nvPr/>
        </p:nvSpPr>
        <p:spPr>
          <a:xfrm>
            <a:off x="650557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[2,2048,8,128]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Times New Roman" panose="02020503050405090304"/>
                <a:ea typeface="微软雅黑"/>
                <a:cs typeface="Times New Roman" panose="02020503050405090304"/>
                <a:sym typeface="+mn-ea"/>
              </a:rPr>
              <a:t>SFT 中阶课程</a:t>
            </a:r>
            <a:endParaRPr sz="40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5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https://gitcode.com/cann/cann-learning-hub/tree/master/tutorials/sft_training_pipeline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1 注意力算子优化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2 变长注意力优化</a:t>
            </a:r>
            <a:endParaRPr lang="zh-CN" altLang="en-US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666666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3 分布式通信演示</a:t>
            </a:r>
            <a:endParaRPr lang="zh-CN" sz="2400" b="0" i="0" u="none" cap="none">
              <a:ln>
                <a:noFill/>
              </a:ln>
              <a:solidFill>
                <a:srgbClr val="666666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prstClr val="white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Part 4 通信优化与 VarLen 协同</a:t>
            </a:r>
            <a:endParaRPr lang="en-US" altLang="zh-CN" sz="2400" b="0" i="0" u="none" cap="none">
              <a:ln>
                <a:noFill/>
              </a:ln>
              <a:solidFill>
                <a:prstClr val="white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</p:sld>
</file>

<file path=ppt/slides/slide10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通信优化与 VarLen 协同">
            <a:extLst xmlns:a="http://schemas.openxmlformats.org/drawingml/2006/main">
              <a:ext uri="{FF2B5EF4-FFF2-40B4-BE49-F238E27FC236}">
                <a16:creationId xmlns:a16="http://schemas.microsoft.com/office/drawing/2014/main" id="{D724ECBC-6E57-42E9-93E8-5CBED9F9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通信优化与 VarLen 协同</a:t>
            </a:r>
          </a:p>
        </p:txBody>
      </p:sp>
      <p:sp>
        <p:nvSpPr>
          <p:cNvPr id="5" name="VarLen 与 Ulysses CP 协同，必须保持全局样本边界。">
            <a:extLst xmlns:a="http://schemas.openxmlformats.org/drawingml/2006/main">
              <a:ext uri="{FF2B5EF4-FFF2-40B4-BE49-F238E27FC236}">
                <a16:creationId xmlns:a16="http://schemas.microsoft.com/office/drawing/2014/main" id="{D5B26679-3614-44D0-B620-B178405D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VarLen 与 Ulysses CP 协同，必须保持全局样本边界。</a:t>
            </a:r>
          </a:p>
        </p:txBody>
      </p:sp>
      <p:sp>
        <p:nvSpPr>
          <p:cNvPr id="6" name="VarLen 用累计长度保存 packed 样本边界">
            <a:extLst xmlns:a="http://schemas.openxmlformats.org/drawingml/2006/main">
              <a:ext uri="{FF2B5EF4-FFF2-40B4-BE49-F238E27FC236}">
                <a16:creationId xmlns:a16="http://schemas.microsoft.com/office/drawing/2014/main" id="{8B49475B-03CA-4915-9153-EFB32546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383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1">
                <a:solidFill>
                  <a:srgbClr val="357AE8"/>
                </a:solidFill>
                <a:latin typeface="Times New Roman"/>
                <a:ea typeface="微软雅黑"/>
                <a:cs typeface="Times New Roman"/>
              </a:rPr>
              <a:t>VarLen 用累计长度保存 packed 样本边界</a:t>
            </a:r>
          </a:p>
        </p:txBody>
      </p:sp>
      <p:sp>
        <p:nvSpPr>
          <p:cNvPr id="7" name="Ulysses 交换后：全局序列 × 部分注意力头">
            <a:extLst xmlns:a="http://schemas.openxmlformats.org/drawingml/2006/main">
              <a:ext uri="{FF2B5EF4-FFF2-40B4-BE49-F238E27FC236}">
                <a16:creationId xmlns:a16="http://schemas.microsoft.com/office/drawing/2014/main" id="{9176192A-87A9-4074-97BD-187A2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Ulysses 交换后：全局序列 × 部分注意力头</a:t>
            </a:r>
          </a:p>
        </p:txBody>
      </p:sp>
      <p:sp>
        <p:nvSpPr>
          <p:cNvPr id="8" name="各 rank 必须共享同一份全局 cu_seq">
            <a:extLst xmlns:a="http://schemas.openxmlformats.org/drawingml/2006/main">
              <a:ext uri="{FF2B5EF4-FFF2-40B4-BE49-F238E27FC236}">
                <a16:creationId xmlns:a16="http://schemas.microsoft.com/office/drawing/2014/main" id="{A406808C-3BB7-4607-A853-0B9EBF2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各 rank 必须共享同一份全局 cu_seq</a:t>
            </a:r>
          </a:p>
        </p:txBody>
      </p:sp>
      <p:sp>
        <p:nvSpPr>
          <p:cNvPr id="9" name="扩大容器会改变每步样本组合，不保证逐步 loss 相等">
            <a:extLst xmlns:a="http://schemas.openxmlformats.org/drawingml/2006/main">
              <a:ext uri="{FF2B5EF4-FFF2-40B4-BE49-F238E27FC236}">
                <a16:creationId xmlns:a16="http://schemas.microsoft.com/office/drawing/2014/main" id="{05D98961-5BA7-4789-AA19-73389325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扩大容器会改变每步样本组合，不保证逐步 loss 相等</a:t>
            </a:r>
          </a:p>
        </p:txBody>
      </p:sp>
      <p:sp>
        <p:nvSpPr>
          <p:cNvPr id="10" name="课程 pin：Qwen3 TND + CP2 在 override 前被拒绝">
            <a:extLst xmlns:a="http://schemas.openxmlformats.org/drawingml/2006/main">
              <a:ext uri="{FF2B5EF4-FFF2-40B4-BE49-F238E27FC236}">
                <a16:creationId xmlns:a16="http://schemas.microsoft.com/office/drawing/2014/main" id="{81A4849A-D3F6-4F52-BD2E-0171E447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43425"/>
            <a:ext cx="107061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25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课程 pin：Qwen3 TND + CP2 在 override 前被拒绝</a:t>
            </a:r>
          </a:p>
        </p:txBody>
      </p:sp>
      <p:sp>
        <p:nvSpPr>
          <p:cNvPr id="11" name="课程固定 TorchTitan 2807d3f；历史 CP 接线不同于当前 Qwen3.5 参考">
            <a:extLst xmlns:a="http://schemas.openxmlformats.org/drawingml/2006/main">
              <a:ext uri="{FF2B5EF4-FFF2-40B4-BE49-F238E27FC236}">
                <a16:creationId xmlns:a16="http://schemas.microsoft.com/office/drawing/2014/main" id="{B610EB99-0CA6-462A-AF8D-0918D5D0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课程固定 TorchTitan 2807d3f；历史 CP 接线不同于当前 Qwen3.5 参考实现。</a:t>
            </a:r>
          </a:p>
        </p:txBody>
      </p:sp>
      <p:sp>
        <p:nvSpPr>
          <p:cNvPr id="12" name="先保证全局样本隔离，再讨论容量与速度">
            <a:extLst xmlns:a="http://schemas.openxmlformats.org/drawingml/2006/main">
              <a:ext uri="{FF2B5EF4-FFF2-40B4-BE49-F238E27FC236}">
                <a16:creationId xmlns:a16="http://schemas.microsoft.com/office/drawing/2014/main" id="{D99EB0E9-2E9E-4635-B28D-78C1E99D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先保证全局样本隔离，再讨论容量与速度</a:t>
            </a:r>
          </a:p>
        </p:txBody>
      </p:sp>
    </p:spTree>
    <p:extLst>
      <p:ext uri="{BB962C8B-B14F-4D97-AF65-F5344CB8AC3E}">
        <p14:creationId xmlns:p14="http://schemas.microsoft.com/office/powerpoint/2010/main" val="11614800"/>
      </p:ext>
    </p:extLst>
  </p:cSld>
</p:sld>
</file>

<file path=ppt/slides/slide10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通信优化与 VarLen 协同">
            <a:extLst xmlns:a="http://schemas.openxmlformats.org/drawingml/2006/main">
              <a:ext uri="{FF2B5EF4-FFF2-40B4-BE49-F238E27FC236}">
                <a16:creationId xmlns:a16="http://schemas.microsoft.com/office/drawing/2014/main" id="{F2315DAA-C76A-4E5A-8E09-FCC2EFFB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通信优化与 VarLen 协同</a:t>
            </a:r>
          </a:p>
        </p:txBody>
      </p:sp>
      <p:sp>
        <p:nvSpPr>
          <p:cNvPr id="5" name="FSDP mesh 管状态分片，batch mesh 管独立数据。">
            <a:extLst xmlns:a="http://schemas.openxmlformats.org/drawingml/2006/main">
              <a:ext uri="{FF2B5EF4-FFF2-40B4-BE49-F238E27FC236}">
                <a16:creationId xmlns:a16="http://schemas.microsoft.com/office/drawing/2014/main" id="{A449FBD3-0253-4AE3-B1B0-B9FD5B26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FSDP mesh 管状态分片，batch mesh 管独立数据。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254317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4524375"/>
                <a:gridCol w="2057400"/>
                <a:gridCol w="2057400"/>
                <a:gridCol w="2066925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两卡路线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FSDP 分片度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batch degree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梯度累积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FSDP2：dp_shard=2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历史 CP2：dp_shard=1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TP2：dp_shard=1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固定 LBS=2、GBS=4、dp_replicate=1。GBS=LBS×batch degr">
            <a:extLst xmlns:a="http://schemas.openxmlformats.org/drawingml/2006/main">
              <a:ext uri="{FF2B5EF4-FFF2-40B4-BE49-F238E27FC236}">
                <a16:creationId xmlns:a16="http://schemas.microsoft.com/office/drawing/2014/main" id="{D6AEC95F-CE67-4EF5-95AD-D1C9A139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固定 LBS=2、GBS=4、dp_replicate=1。GBS=LBS×batch degree×累积；表中 CP2 为历史机制对照。</a:t>
            </a:r>
          </a:p>
        </p:txBody>
      </p:sp>
      <p:sp>
        <p:nvSpPr>
          <p:cNvPr id="8" name="默认 legacy 路径中，FSDP degree=dp_shard×CP；global bat">
            <a:extLst xmlns:a="http://schemas.openxmlformats.org/drawingml/2006/main">
              <a:ext uri="{FF2B5EF4-FFF2-40B4-BE49-F238E27FC236}">
                <a16:creationId xmlns:a16="http://schemas.microsoft.com/office/drawing/2014/main" id="{C896AC6C-78E5-4E43-80ED-61199C90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默认 legacy 路径中，FSDP degree=dp_shard×CP；global batch 不乘 CP 或 TP。</a:t>
            </a:r>
          </a:p>
        </p:txBody>
      </p:sp>
    </p:spTree>
    <p:extLst>
      <p:ext uri="{BB962C8B-B14F-4D97-AF65-F5344CB8AC3E}">
        <p14:creationId xmlns:p14="http://schemas.microsoft.com/office/powerpoint/2010/main" val="384741168"/>
      </p:ext>
    </p:extLst>
  </p:cSld>
</p:sld>
</file>

<file path=ppt/slides/slide10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通信优化与 VarLen 协同">
            <a:extLst xmlns:a="http://schemas.openxmlformats.org/drawingml/2006/main">
              <a:ext uri="{FF2B5EF4-FFF2-40B4-BE49-F238E27FC236}">
                <a16:creationId xmlns:a16="http://schemas.microsoft.com/office/drawing/2014/main" id="{8BCA27B3-92F2-4190-A95E-56D02FC5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通信优化与 VarLen 协同</a:t>
            </a:r>
          </a:p>
        </p:txBody>
      </p:sp>
      <p:sp>
        <p:nvSpPr>
          <p:cNvPr id="5" name="历史容量案例：大分配在 logits / loss，不能只看 QKV。">
            <a:extLst xmlns:a="http://schemas.openxmlformats.org/drawingml/2006/main">
              <a:ext uri="{FF2B5EF4-FFF2-40B4-BE49-F238E27FC236}">
                <a16:creationId xmlns:a16="http://schemas.microsoft.com/office/drawing/2014/main" id="{B845564E-55B7-401C-9E9A-FD653C97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历史容量案例：大分配在 logits / loss，不能只看 QKV。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254317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048000"/>
                <a:gridCol w="3810000"/>
                <a:gridCol w="384810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每 rank 单张量理论大小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no-CP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历史 CP2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QKV（GQA、BF16）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256 MiB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128 MiB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LM-head logits（BF16）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9.27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4.64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loss 输入（转 FP32）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18.55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9.27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旧记录：S=16384、LBS=2、GBS=4；no-CP OOM，CP2 跑完10步。各项不是">
            <a:extLst xmlns:a="http://schemas.openxmlformats.org/drawingml/2006/main">
              <a:ext uri="{FF2B5EF4-FFF2-40B4-BE49-F238E27FC236}">
                <a16:creationId xmlns:a16="http://schemas.microsoft.com/office/drawing/2014/main" id="{1A4AEFF3-2D39-4CA2-A01F-676D6026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旧记录：S=16384、LBS=2、GBS=4；no-CP OOM，CP2 跑完10步。各项不是可相加的整卡峰值。</a:t>
            </a:r>
          </a:p>
        </p:txBody>
      </p:sp>
      <p:sp>
        <p:nvSpPr>
          <p:cNvPr id="8" name="课程更新记录中，同长度 no-CP 已可运行；旧 OOM 不能套到当前配置。">
            <a:extLst xmlns:a="http://schemas.openxmlformats.org/drawingml/2006/main">
              <a:ext uri="{FF2B5EF4-FFF2-40B4-BE49-F238E27FC236}">
                <a16:creationId xmlns:a16="http://schemas.microsoft.com/office/drawing/2014/main" id="{962B2D2E-E131-4489-B39B-6FE71AA4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课程更新记录中，同长度 no-CP 已可运行；旧 OOM 不能套到当前配置。</a:t>
            </a:r>
          </a:p>
        </p:txBody>
      </p:sp>
    </p:spTree>
    <p:extLst>
      <p:ext uri="{BB962C8B-B14F-4D97-AF65-F5344CB8AC3E}">
        <p14:creationId xmlns:p14="http://schemas.microsoft.com/office/powerpoint/2010/main" val="1779812599"/>
      </p:ext>
    </p:extLst>
  </p:cSld>
</p:sld>
</file>

<file path=ppt/slides/slide10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通信优化与 VarLen 协同">
            <a:extLst xmlns:a="http://schemas.openxmlformats.org/drawingml/2006/main">
              <a:ext uri="{FF2B5EF4-FFF2-40B4-BE49-F238E27FC236}">
                <a16:creationId xmlns:a16="http://schemas.microsoft.com/office/drawing/2014/main" id="{815F7065-A78D-4825-A2EF-CEBAE90E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通信优化与 VarLen 协同</a:t>
            </a:r>
          </a:p>
        </p:txBody>
      </p:sp>
      <p:sp>
        <p:nvSpPr>
          <p:cNvPr id="5" name="性能归因要把形状、显存、事件与关键路径分开">
            <a:extLst xmlns:a="http://schemas.openxmlformats.org/drawingml/2006/main">
              <a:ext uri="{FF2B5EF4-FFF2-40B4-BE49-F238E27FC236}">
                <a16:creationId xmlns:a16="http://schemas.microsoft.com/office/drawing/2014/main" id="{67BADDEB-1660-4B90-9603-26F44739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性能归因要把形状、显存、事件与关键路径分开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048000"/>
                <a:gridCol w="3810000"/>
                <a:gridCol w="3848100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证据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不能替代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shape / 全局 cu_seq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布局与边界是否正确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完整数值等价验证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双 rank 显存 + OOM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能否运行、峰值在哪里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跨版本容量降幅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CPU / Dequeue 主机事件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调用与下发的事件账本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设备 kernel / 未重叠通信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设备时间线 + profiler-off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依赖关系与完整步吞吐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单算子性能排名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本轮缺 step trace 与完整设备时间线；c10d / Dequeue 的 dur 不能直">
            <a:extLst xmlns:a="http://schemas.openxmlformats.org/drawingml/2006/main">
              <a:ext uri="{FF2B5EF4-FFF2-40B4-BE49-F238E27FC236}">
                <a16:creationId xmlns:a16="http://schemas.microsoft.com/office/drawing/2014/main" id="{C5B5A726-260F-47F6-852F-4389E3F6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本轮缺 step trace 与完整设备时间线；c10d / Dequeue 的 dur 不能直接叫设备通信时间。</a:t>
            </a:r>
          </a:p>
        </p:txBody>
      </p:sp>
      <p:sp>
        <p:nvSpPr>
          <p:cNvPr id="8" name="事件时长之和，不能直接当作训练关键路径">
            <a:extLst xmlns:a="http://schemas.openxmlformats.org/drawingml/2006/main">
              <a:ext uri="{FF2B5EF4-FFF2-40B4-BE49-F238E27FC236}">
                <a16:creationId xmlns:a16="http://schemas.microsoft.com/office/drawing/2014/main" id="{B05748D1-1392-4ABE-ADF1-15E41DF5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事件时长之和，不能直接当作训练关键路径</a:t>
            </a:r>
          </a:p>
        </p:txBody>
      </p:sp>
    </p:spTree>
    <p:extLst>
      <p:ext uri="{BB962C8B-B14F-4D97-AF65-F5344CB8AC3E}">
        <p14:creationId xmlns:p14="http://schemas.microsoft.com/office/powerpoint/2010/main" val="619306927"/>
      </p:ext>
    </p:extLst>
  </p:cSld>
</p:sld>
</file>

<file path=ppt/slides/slide10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29"/>
          <p:cNvPicPr>
            <a:picLocks noChangeAspect="1"/>
          </p:cNvPicPr>
          <p:nvPr/>
        </p:nvPicPr>
        <p:blipFill>
          <a:blip r:embed="rIdAssembl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xmlns:a="http://schemas.openxmlformats.org/drawingml/2006/main"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通信优化与 VarLen 协同">
            <a:extLst xmlns:a="http://schemas.openxmlformats.org/drawingml/2006/main">
              <a:ext uri="{FF2B5EF4-FFF2-40B4-BE49-F238E27FC236}">
                <a16:creationId xmlns:a16="http://schemas.microsoft.com/office/drawing/2014/main" id="{EA5007BC-CC2A-4C5F-8019-A3D67CE3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700" b="1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通信优化与 VarLen 协同</a:t>
            </a:r>
          </a:p>
        </p:txBody>
      </p:sp>
      <p:sp>
        <p:nvSpPr>
          <p:cNvPr id="5" name="两卡 S=1024、GBS=4 的课程记录显示吞吐与显存的取舍">
            <a:extLst xmlns:a="http://schemas.openxmlformats.org/drawingml/2006/main">
              <a:ext uri="{FF2B5EF4-FFF2-40B4-BE49-F238E27FC236}">
                <a16:creationId xmlns:a16="http://schemas.microsoft.com/office/drawing/2014/main" id="{86C39D75-D0B2-4E45-B6DF-4BE956F5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defRPr>
            </a:pPr>
            <a:r>
              <a:rPr sz="2000" b="0">
                <a:solidFill>
                  <a:srgbClr val="111111"/>
                </a:solidFill>
                <a:latin typeface="Times New Roman"/>
                <a:ea typeface="微软雅黑"/>
                <a:cs typeface="Times New Roman"/>
              </a:rPr>
              <a:t>两卡 S=1024、GBS=4 的课程记录显示吞吐与显存的取舍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42950" y="1828800"/>
          <a:ext xmlns:a="http://schemas.openxmlformats.org/drawingml/2006/main" cx="10706100" cy="323850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4381500"/>
                <a:gridCol w="3286125"/>
                <a:gridCol w="3038475"/>
              </a:tblGrid>
              <a:tr h="45720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FSDP2：dp_shard=2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TP2：tp=2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slot TPS 中位数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（token/s/设备）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1614.8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560.5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峰值 reserved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（双 rank 最大）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12.57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10.67 GiB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采集步 Dequeue 事件数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（rank 0）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843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本次取舍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吞吐约 2.88×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1111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reserved 约低 15%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ase Flex；LBS=2；FSDP/TP 累积1/2次。steps 3–12 中位数含 p">
            <a:extLst xmlns:a="http://schemas.openxmlformats.org/drawingml/2006/main">
              <a:ext uri="{FF2B5EF4-FFF2-40B4-BE49-F238E27FC236}">
                <a16:creationId xmlns:a16="http://schemas.microsoft.com/office/drawing/2014/main" id="{6F019B1F-F32C-4DF2-8F60-BD4197B7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10706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defRPr>
            </a:pPr>
            <a:r>
              <a:rPr sz="1650" b="0">
                <a:solidFill>
                  <a:srgbClr val="555555"/>
                </a:solidFill>
                <a:latin typeface="Times New Roman"/>
                <a:ea typeface="微软雅黑"/>
                <a:cs typeface="Times New Roman"/>
              </a:rPr>
              <a:t>base Flex；LBS=2；FSDP/TP 累积1/2次。steps 3–12 中位数含 profiler 周期，TPS 包含 padding slots。</a:t>
            </a:r>
          </a:p>
        </p:txBody>
      </p:sp>
      <p:sp>
        <p:nvSpPr>
          <p:cNvPr id="8" name="仅在本配置下：FSDP2 吞吐更高，TP2 显存更低">
            <a:extLst xmlns:a="http://schemas.openxmlformats.org/drawingml/2006/main">
              <a:ext uri="{FF2B5EF4-FFF2-40B4-BE49-F238E27FC236}">
                <a16:creationId xmlns:a16="http://schemas.microsoft.com/office/drawing/2014/main" id="{97D768C2-0CD4-4D79-AC96-27323CE8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10706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defRPr>
            </a:pPr>
            <a:r>
              <a:rPr sz="1875" b="1">
                <a:solidFill>
                  <a:srgbClr val="E60012"/>
                </a:solidFill>
                <a:latin typeface="Times New Roman"/>
                <a:ea typeface="微软雅黑"/>
                <a:cs typeface="Times New Roman"/>
              </a:rPr>
              <a:t>仅在本配置下：FSDP2 吞吐更高，TP2 显存更低</a:t>
            </a:r>
          </a:p>
        </p:txBody>
      </p:sp>
    </p:spTree>
    <p:extLst>
      <p:ext uri="{BB962C8B-B14F-4D97-AF65-F5344CB8AC3E}">
        <p14:creationId xmlns:p14="http://schemas.microsoft.com/office/powerpoint/2010/main" val="245183616"/>
      </p:ext>
    </p:extLst>
  </p:cSld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slide-title"/>
          <p:cNvSpPr>
            <a:spLocks noGrp="1"/>
          </p:cNvSpPr>
          <p:nvPr/>
        </p:nvSpPr>
        <p:spPr>
          <a:xfrm>
            <a:off x="609600" y="320040"/>
            <a:ext cx="95250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7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通信优化与 VarLen 协同</a:t>
            </a:r>
            <a:endParaRPr sz="27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5" name="quiz-instruction"/>
          <p:cNvSpPr>
            <a:spLocks noGrp="1"/>
          </p:cNvSpPr>
          <p:nvPr/>
        </p:nvSpPr>
        <p:spPr>
          <a:xfrm>
            <a:off x="609600" y="971550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725" b="0">
                <a:solidFill>
                  <a:srgbClr val="555555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随堂检测：先独立作答，再说明你的判断依据。</a:t>
            </a:r>
            <a:endParaRPr sz="1725" b="0">
              <a:solidFill>
                <a:srgbClr val="555555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q1-label"/>
          <p:cNvSpPr>
            <a:spLocks noGrp="1"/>
          </p:cNvSpPr>
          <p:nvPr/>
        </p:nvSpPr>
        <p:spPr>
          <a:xfrm>
            <a:off x="609600" y="143827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Q1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q1-stem"/>
          <p:cNvSpPr>
            <a:spLocks noGrp="1"/>
          </p:cNvSpPr>
          <p:nvPr/>
        </p:nvSpPr>
        <p:spPr>
          <a:xfrm>
            <a:off x="1495425" y="144780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【判断】计算 global batch 时，应把 CP degree 当作数据并行副本数。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8" name="q2-label"/>
          <p:cNvSpPr>
            <a:spLocks noGrp="1"/>
          </p:cNvSpPr>
          <p:nvPr/>
        </p:nvSpPr>
        <p:spPr>
          <a:xfrm>
            <a:off x="609600" y="2257425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FFD0D1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Q2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9" name="q2-stem"/>
          <p:cNvSpPr>
            <a:spLocks noGrp="1"/>
          </p:cNvSpPr>
          <p:nvPr/>
        </p:nvSpPr>
        <p:spPr>
          <a:xfrm>
            <a:off x="1495425" y="226695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【判断】CP2 的 QKV 理论占用减半，不保证整卡峰值也减半。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0" name="q3-label"/>
          <p:cNvSpPr>
            <a:spLocks noGrp="1"/>
          </p:cNvSpPr>
          <p:nvPr/>
        </p:nvSpPr>
        <p:spPr>
          <a:xfrm>
            <a:off x="609600" y="310515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BFECCC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Q3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1" name="q3-stem"/>
          <p:cNvSpPr>
            <a:spLocks noGrp="1"/>
          </p:cNvSpPr>
          <p:nvPr/>
        </p:nvSpPr>
        <p:spPr>
          <a:xfrm>
            <a:off x="1495425" y="311467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【单选】本课程如何识别 packed 容器中的新样本或 padding 区间？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2" name="q3-option0"/>
          <p:cNvSpPr>
            <a:spLocks noGrp="1"/>
          </p:cNvSpPr>
          <p:nvPr/>
        </p:nvSpPr>
        <p:spPr>
          <a:xfrm>
            <a:off x="149542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遇到任意 EOS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3" name="q3-option1"/>
          <p:cNvSpPr>
            <a:spLocks noGrp="1"/>
          </p:cNvSpPr>
          <p:nvPr/>
        </p:nvSpPr>
        <p:spPr>
          <a:xfrm>
            <a:off x="6505575" y="376237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位置编号重新从 0 开始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4" name="q3-option2"/>
          <p:cNvSpPr>
            <a:spLocks noGrp="1"/>
          </p:cNvSpPr>
          <p:nvPr/>
        </p:nvSpPr>
        <p:spPr>
          <a:xfrm>
            <a:off x="149542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label 被屏蔽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5" name="q3-option3"/>
          <p:cNvSpPr>
            <a:spLocks noGrp="1"/>
          </p:cNvSpPr>
          <p:nvPr/>
        </p:nvSpPr>
        <p:spPr>
          <a:xfrm>
            <a:off x="6505575" y="417195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输出为 0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6" name="q4-label"/>
          <p:cNvSpPr>
            <a:spLocks noGrp="1"/>
          </p:cNvSpPr>
          <p:nvPr/>
        </p:nvSpPr>
        <p:spPr>
          <a:xfrm>
            <a:off x="609600" y="4686300"/>
            <a:ext cx="704850" cy="400050"/>
          </a:xfrm>
          <a:prstGeom prst="roundRect">
            <a:avLst>
              <a:gd name="adj" fmla="val 35714"/>
            </a:avLst>
          </a:prstGeom>
          <a:solidFill>
            <a:srgbClr val="C7E1FF"/>
          </a:solidFill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2175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Q4</a:t>
            </a:r>
            <a:endParaRPr sz="2175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7" name="q4-stem"/>
          <p:cNvSpPr>
            <a:spLocks noGrp="1"/>
          </p:cNvSpPr>
          <p:nvPr/>
        </p:nvSpPr>
        <p:spPr>
          <a:xfrm>
            <a:off x="1495425" y="4695825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800" b="1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【单选】本次 TP2 / FSDP2 实验直接支持哪项结论？</a:t>
            </a:r>
            <a:endParaRPr sz="1800" b="1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8" name="q4-option0"/>
          <p:cNvSpPr>
            <a:spLocks noGrp="1"/>
          </p:cNvSpPr>
          <p:nvPr/>
        </p:nvSpPr>
        <p:spPr>
          <a:xfrm>
            <a:off x="149542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A. 本配置 FSDP2 吞吐更高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19" name="q4-option1"/>
          <p:cNvSpPr>
            <a:spLocks noGrp="1"/>
          </p:cNvSpPr>
          <p:nvPr/>
        </p:nvSpPr>
        <p:spPr>
          <a:xfrm>
            <a:off x="6505575" y="5343525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B. FSDP2 永远更快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0" name="q4-option2"/>
          <p:cNvSpPr>
            <a:spLocks noGrp="1"/>
          </p:cNvSpPr>
          <p:nvPr/>
        </p:nvSpPr>
        <p:spPr>
          <a:xfrm>
            <a:off x="149542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C. 通信解释全部差距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21" name="q4-option3"/>
          <p:cNvSpPr>
            <a:spLocks noGrp="1"/>
          </p:cNvSpPr>
          <p:nvPr/>
        </p:nvSpPr>
        <p:spPr>
          <a:xfrm>
            <a:off x="6505575" y="5753100"/>
            <a:ext cx="4867275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defRPr>
            </a:pPr>
            <a:r>
              <a:rPr sz="1650" b="0">
                <a:solidFill>
                  <a:srgbClr val="111111"/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D. 已测得未重叠通信比例</a:t>
            </a:r>
            <a:endParaRPr sz="1650" b="0">
              <a:solidFill>
                <a:srgbClr val="111111"/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>
                <a:latin typeface="Times New Roman" panose="02020503050405090304"/>
                <a:ea typeface="微软雅黑"/>
                <a:cs typeface="Times New Roman" panose="02020503050405090304"/>
              </a:rPr>
              <a:t>Thank you.</a:t>
            </a:r>
            <a:endParaRPr sz="5400"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社区愿景：打造开放易用、技术领先的AI算力新生态</a:t>
            </a:r>
            <a:endParaRPr sz="12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社区使命：使能开发者基于CANN社区自主研究创新，构筑根深叶茂、跨产业协同共享共赢的CANN生态</a:t>
            </a:r>
            <a:endParaRPr sz="12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>
              <a:lnSpc>
                <a:spcPct val="150000"/>
              </a:lnSpc>
              <a:buNone/>
            </a:p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Vision: Building an Open, Easy-to-Use, and Technology-leading AI Computing Ecosystem</a:t>
            </a:r>
            <a:endParaRPr sz="10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sz="10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5" name="文本框 8"/>
          <p:cNvSpPr>
            <a:spLocks noGrp="1"/>
          </p:cNvSpPr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Times New Roman" panose="02020503050405090304"/>
                <a:ea typeface="微软雅黑"/>
                <a:cs typeface="Times New Roman" panose="02020503050405090304"/>
              </a:rPr>
              <a:t>上CANN社区获取干货</a:t>
            </a:r>
            <a:endParaRPr sz="1000"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6" name="文本框 10"/>
          <p:cNvSpPr>
            <a:spLocks noGrp="1"/>
          </p:cNvSpPr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Times New Roman" panose="02020503050405090304"/>
                <a:ea typeface="微软雅黑"/>
                <a:cs typeface="Times New Roman" panose="02020503050405090304"/>
              </a:rPr>
              <a:t>关注CANN公众号获取资讯</a:t>
            </a:r>
            <a:endParaRPr sz="1000"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sp>
        <p:nvSpPr>
          <p:cNvPr id="7" name="文本框 13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Times New Roman" panose="02020503050405090304"/>
                <a:ea typeface="微软雅黑"/>
                <a:cs typeface="Times New Roman" panose="02020503050405090304"/>
                <a:hlinkClick r:id="rId2"/>
              </a:rPr>
              <a:t>https://gitcode.com/cann/cann-learning-hub/tree/master/tutorials</a:t>
            </a:r>
            <a:endParaRPr sz="1000">
              <a:solidFill>
                <a:schemeClr val="bg1">
                  <a:lumMod val="50000"/>
                </a:schemeClr>
              </a:solidFill>
              <a:latin typeface="Times New Roman" panose="02020503050405090304"/>
              <a:ea typeface="微软雅黑"/>
              <a:cs typeface="Times New Roman" panose="02020503050405090304"/>
            </a:endParaRPr>
          </a:p>
        </p:txBody>
      </p:sp>
      <p:pic>
        <p:nvPicPr>
          <p:cNvPr id="8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965102" y="3908076"/>
            <a:ext cx="1686678" cy="1676872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10&quot;:[50059560,50059176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9144</Words>
  <Application>WPS 演示</Application>
  <PresentationFormat>Converted Presentation</PresentationFormat>
  <Paragraphs>1122</Paragraphs>
  <Slides>36</Slides>
  <Notes>0</Notes>
  <HiddenSlides>0</HiddenSlides>
  <MMClips>0</MMClips>
  <ScaleCrop>false</ScaleCrop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Crush</cp:lastModifiedBy>
  <cp:revision>54</cp:revision>
  <dcterms:created xsi:type="dcterms:W3CDTF">2026-09-22T07:43:47Z</dcterms:created>
  <dcterms:modified xsi:type="dcterms:W3CDTF">2026-09-22T07:43:47Z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F817FAF65BFCDA0A36A29E6A0D093824_42</vt:lpwstr>
  </property>
  <property fmtid="{D5CDD505-2E9C-101B-9397-08002B2CF9AE}" pid="3" name="KSOProductBuildVer">
    <vt:lpwstr>2052-12.1.26055.26055</vt:lpwstr>
  </property>
</Properties>
</file>