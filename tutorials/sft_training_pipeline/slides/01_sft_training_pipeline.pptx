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0" r:id="rId3"/>
    <p:sldMasterId id="2147483673" r:id="rId4"/>
  </p:sldMasterIdLst>
  <p:notesMasterIdLst>
    <p:notesMasterId r:id="rId6"/>
  </p:notesMasterIdLst>
  <p:handoutMasterIdLst>
    <p:handoutMasterId r:id="rId41"/>
  </p:handoutMasterIdLst>
  <p:sldIdLst>
    <p:sldId id="257" r:id="rId5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95" userDrawn="1">
          <p15:clr>
            <a:srgbClr val="A4A3A4"/>
          </p15:clr>
        </p15:guide>
        <p15:guide id="2" pos="384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95"/>
        <p:guide pos="3842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4.xml"/><Relationship Id="rId8" Type="http://schemas.openxmlformats.org/officeDocument/2006/relationships/slide" Target="slides/slide3.xml"/><Relationship Id="rId7" Type="http://schemas.openxmlformats.org/officeDocument/2006/relationships/slide" Target="slides/slide2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44" Type="http://schemas.openxmlformats.org/officeDocument/2006/relationships/tableStyles" Target="tableStyles.xml"/><Relationship Id="rId43" Type="http://schemas.openxmlformats.org/officeDocument/2006/relationships/viewProps" Target="viewProps.xml"/><Relationship Id="rId42" Type="http://schemas.openxmlformats.org/officeDocument/2006/relationships/presProps" Target="presProps.xml"/><Relationship Id="rId41" Type="http://schemas.openxmlformats.org/officeDocument/2006/relationships/handoutMaster" Target="handoutMasters/handoutMaster1.xml"/><Relationship Id="rId40" Type="http://schemas.openxmlformats.org/officeDocument/2006/relationships/slide" Target="slides/slide35.xml"/><Relationship Id="rId4" Type="http://schemas.openxmlformats.org/officeDocument/2006/relationships/slideMaster" Target="slideMasters/slideMaster3.xml"/><Relationship Id="rId39" Type="http://schemas.openxmlformats.org/officeDocument/2006/relationships/slide" Target="slides/slide34.xml"/><Relationship Id="rId38" Type="http://schemas.openxmlformats.org/officeDocument/2006/relationships/slide" Target="slides/slide33.xml"/><Relationship Id="rId37" Type="http://schemas.openxmlformats.org/officeDocument/2006/relationships/slide" Target="slides/slide32.xml"/><Relationship Id="rId36" Type="http://schemas.openxmlformats.org/officeDocument/2006/relationships/slide" Target="slides/slide31.xml"/><Relationship Id="rId35" Type="http://schemas.openxmlformats.org/officeDocument/2006/relationships/slide" Target="slides/slide30.xml"/><Relationship Id="rId34" Type="http://schemas.openxmlformats.org/officeDocument/2006/relationships/slide" Target="slides/slide29.xml"/><Relationship Id="rId33" Type="http://schemas.openxmlformats.org/officeDocument/2006/relationships/slide" Target="slides/slide28.xml"/><Relationship Id="rId32" Type="http://schemas.openxmlformats.org/officeDocument/2006/relationships/slide" Target="slides/slide27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3" Type="http://schemas.openxmlformats.org/officeDocument/2006/relationships/slideMaster" Target="slideMasters/slideMaster2.xml"/><Relationship Id="rId29" Type="http://schemas.openxmlformats.org/officeDocument/2006/relationships/slide" Target="slides/slide24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0" Type="http://schemas.openxmlformats.org/officeDocument/2006/relationships/slide" Target="slides/slide15.xml"/><Relationship Id="rId2" Type="http://schemas.openxmlformats.org/officeDocument/2006/relationships/theme" Target="theme/theme1.xml"/><Relationship Id="rId19" Type="http://schemas.openxmlformats.org/officeDocument/2006/relationships/slide" Target="slides/slide14.xml"/><Relationship Id="rId18" Type="http://schemas.openxmlformats.org/officeDocument/2006/relationships/slide" Target="slides/slide13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9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0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2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3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4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先讲一下训练的内容，在这讲一下后训练有什么</a:t>
            </a:r>
            <a:r>
              <a:t>SFT,RL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加一个开</a:t>
            </a:r>
            <a:r>
              <a:t>FSDP</a:t>
            </a:r>
            <a:r>
              <a:t>之后的结果做对比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04000"/>
            <a:ext cx="5342400" cy="4140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04000"/>
            <a:ext cx="5342400" cy="4140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397600"/>
            <a:ext cx="9799200" cy="11052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5040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buNone/>
              <a:defRPr sz="60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buNone/>
              <a:defRPr sz="60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6" name="页脚占位符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7" name="灯片编号占位符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8" name="页脚占位符 7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9" name="灯片编号占位符 8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4" name="页脚占位符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5" name="灯片编号占位符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/>
      <p:sp>
        <p:nvSpPr>
          <p:cNvPr id="2" name="日期占位符 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3" name="页脚占位符 2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4" name="灯片编号占位符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6" name="页脚占位符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7" name="灯片编号占位符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/>
        </p:txBody>
      </p:sp>
      <p:sp>
        <p:nvSpPr>
          <p:cNvPr id="4" name="文本占位符 3"/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6" name="页脚占位符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7" name="灯片编号占位符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/>
      <p:sp>
        <p:nvSpPr>
          <p:cNvPr id="2" name="竖排标题 1"/>
          <p:cNvSpPr>
            <a:spLocks noGrp="1"/>
          </p:cNvSpPr>
          <p:nvPr>
            <p:ph type="title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0.xml"/><Relationship Id="rId8" Type="http://schemas.openxmlformats.org/officeDocument/2006/relationships/slideLayout" Target="../slideLayouts/slideLayout19.xml"/><Relationship Id="rId7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3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23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" Type="http://schemas.openxmlformats.org/officeDocument/2006/relationships/slideLayout" Target="../slideLayouts/slideLayout12.xml"/></Relationships>
</file>

<file path=ppt/slideMasters/_rels/slideMaster3.xml.rels><?xml version="1.0" encoding="UTF-8" standalone="yes"?>
<Relationships xmlns="http://schemas.openxmlformats.org/package/2006/relationships"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2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ea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9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9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9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9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页脚占位符 4"/>
          <p:cNvSpPr>
            <a:spLocks noGrp="1"/>
          </p:cNvSpPr>
          <p:nvPr>
            <p:ph type="ft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灯片编号占位符 5"/>
          <p:cNvSpPr>
            <a:spLocks noGrp="1"/>
          </p:cNvSpPr>
          <p:nvPr>
            <p:ph type="sldNum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>
        <a:lnSpc>
          <a:spcPct val="90000"/>
        </a:lnSpc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352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182880" indent="-182880" algn="l">
        <a:lnSpc>
          <a:spcPct val="90000"/>
        </a:lnSpc>
        <a:spcBef>
          <a:spcPts val="800"/>
        </a:spcBef>
        <a:buChar char="•"/>
        <a:defRPr sz="2240">
          <a:solidFill>
            <a:schemeClr val="tx1"/>
          </a:solidFill>
          <a:latin typeface="+mn-lt"/>
          <a:ea typeface="+mn-lt"/>
          <a:cs typeface="+mn-lt"/>
        </a:defRPr>
      </a:lvl1pPr>
      <a:lvl2pPr marL="548640" indent="-182880" algn="l">
        <a:lnSpc>
          <a:spcPct val="90000"/>
        </a:lnSpc>
        <a:spcBef>
          <a:spcPts val="400"/>
        </a:spcBef>
        <a:buChar char="•"/>
        <a:defRPr sz="1920">
          <a:solidFill>
            <a:schemeClr val="tx1"/>
          </a:solidFill>
          <a:latin typeface="+mn-lt"/>
          <a:ea typeface="+mn-lt"/>
          <a:cs typeface="+mn-lt"/>
        </a:defRPr>
      </a:lvl2pPr>
      <a:lvl3pPr marL="914400" indent="-182880" algn="l">
        <a:lnSpc>
          <a:spcPct val="90000"/>
        </a:lnSpc>
        <a:spcBef>
          <a:spcPts val="400"/>
        </a:spcBef>
        <a:buChar char="•"/>
        <a:defRPr sz="1600">
          <a:solidFill>
            <a:schemeClr val="tx1"/>
          </a:solidFill>
          <a:latin typeface="+mn-lt"/>
          <a:ea typeface="+mn-lt"/>
          <a:cs typeface="+mn-lt"/>
        </a:defRPr>
      </a:lvl3pPr>
      <a:lvl4pPr marL="1280160" indent="-182880" algn="l">
        <a:lnSpc>
          <a:spcPct val="90000"/>
        </a:lnSpc>
        <a:spcBef>
          <a:spcPts val="400"/>
        </a:spcBef>
        <a:buChar char="•"/>
        <a:defRPr sz="1440">
          <a:solidFill>
            <a:schemeClr val="tx1"/>
          </a:solidFill>
          <a:latin typeface="+mn-lt"/>
          <a:ea typeface="+mn-lt"/>
          <a:cs typeface="+mn-lt"/>
        </a:defRPr>
      </a:lvl4pPr>
      <a:lvl5pPr marL="1645920" indent="-182880" algn="l">
        <a:lnSpc>
          <a:spcPct val="90000"/>
        </a:lnSpc>
        <a:spcBef>
          <a:spcPts val="400"/>
        </a:spcBef>
        <a:buChar char="•"/>
        <a:defRPr sz="1440">
          <a:solidFill>
            <a:schemeClr val="tx1"/>
          </a:solidFill>
          <a:latin typeface="+mn-lt"/>
          <a:ea typeface="+mn-lt"/>
          <a:cs typeface="+mn-lt"/>
        </a:defRPr>
      </a:lvl5pPr>
      <a:lvl6pPr marL="2011680" indent="-182880" algn="l">
        <a:lnSpc>
          <a:spcPct val="90000"/>
        </a:lnSpc>
        <a:spcBef>
          <a:spcPts val="400"/>
        </a:spcBef>
        <a:buChar char="•"/>
        <a:defRPr sz="1440">
          <a:solidFill>
            <a:schemeClr val="tx1"/>
          </a:solidFill>
          <a:latin typeface="+mn-lt"/>
          <a:ea typeface="+mn-lt"/>
          <a:cs typeface="+mn-lt"/>
        </a:defRPr>
      </a:lvl6pPr>
      <a:lvl7pPr marL="2377440" indent="-182880" algn="l">
        <a:lnSpc>
          <a:spcPct val="90000"/>
        </a:lnSpc>
        <a:spcBef>
          <a:spcPts val="400"/>
        </a:spcBef>
        <a:buChar char="•"/>
        <a:defRPr sz="1440">
          <a:solidFill>
            <a:schemeClr val="tx1"/>
          </a:solidFill>
          <a:latin typeface="+mn-lt"/>
          <a:ea typeface="+mn-lt"/>
          <a:cs typeface="+mn-lt"/>
        </a:defRPr>
      </a:lvl7pPr>
      <a:lvl8pPr marL="2743200" indent="-182880" algn="l">
        <a:lnSpc>
          <a:spcPct val="90000"/>
        </a:lnSpc>
        <a:spcBef>
          <a:spcPts val="400"/>
        </a:spcBef>
        <a:buChar char="•"/>
        <a:defRPr sz="1440">
          <a:solidFill>
            <a:schemeClr val="tx1"/>
          </a:solidFill>
          <a:latin typeface="+mn-lt"/>
          <a:ea typeface="+mn-lt"/>
          <a:cs typeface="+mn-lt"/>
        </a:defRPr>
      </a:lvl8pPr>
      <a:lvl9pPr marL="3108960" indent="-182880" algn="l">
        <a:lnSpc>
          <a:spcPct val="90000"/>
        </a:lnSpc>
        <a:spcBef>
          <a:spcPts val="400"/>
        </a:spcBef>
        <a:buChar char="•"/>
        <a:defRPr sz="144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440">
          <a:solidFill>
            <a:schemeClr val="tx1"/>
          </a:solidFill>
          <a:latin typeface="+mn-lt"/>
          <a:ea typeface="+mn-lt"/>
          <a:cs typeface="+mn-lt"/>
        </a:defRPr>
      </a:lvl1pPr>
      <a:lvl2pPr marL="365760" algn="l">
        <a:buNone/>
        <a:defRPr sz="1440">
          <a:solidFill>
            <a:schemeClr val="tx1"/>
          </a:solidFill>
          <a:latin typeface="+mn-lt"/>
          <a:ea typeface="+mn-lt"/>
          <a:cs typeface="+mn-lt"/>
        </a:defRPr>
      </a:lvl2pPr>
      <a:lvl3pPr marL="731520" algn="l">
        <a:buNone/>
        <a:defRPr sz="1440">
          <a:solidFill>
            <a:schemeClr val="tx1"/>
          </a:solidFill>
          <a:latin typeface="+mn-lt"/>
          <a:ea typeface="+mn-lt"/>
          <a:cs typeface="+mn-lt"/>
        </a:defRPr>
      </a:lvl3pPr>
      <a:lvl4pPr marL="1097280" algn="l">
        <a:buNone/>
        <a:defRPr sz="1440">
          <a:solidFill>
            <a:schemeClr val="tx1"/>
          </a:solidFill>
          <a:latin typeface="+mn-lt"/>
          <a:ea typeface="+mn-lt"/>
          <a:cs typeface="+mn-lt"/>
        </a:defRPr>
      </a:lvl4pPr>
      <a:lvl5pPr marL="1463040" algn="l">
        <a:buNone/>
        <a:defRPr sz="1440">
          <a:solidFill>
            <a:schemeClr val="tx1"/>
          </a:solidFill>
          <a:latin typeface="+mn-lt"/>
          <a:ea typeface="+mn-lt"/>
          <a:cs typeface="+mn-lt"/>
        </a:defRPr>
      </a:lvl5pPr>
      <a:lvl6pPr marL="1828800" algn="l">
        <a:buNone/>
        <a:defRPr sz="1440">
          <a:solidFill>
            <a:schemeClr val="tx1"/>
          </a:solidFill>
          <a:latin typeface="+mn-lt"/>
          <a:ea typeface="+mn-lt"/>
          <a:cs typeface="+mn-lt"/>
        </a:defRPr>
      </a:lvl6pPr>
      <a:lvl7pPr marL="2194560" algn="l">
        <a:buNone/>
        <a:defRPr sz="1440">
          <a:solidFill>
            <a:schemeClr val="tx1"/>
          </a:solidFill>
          <a:latin typeface="+mn-lt"/>
          <a:ea typeface="+mn-lt"/>
          <a:cs typeface="+mn-lt"/>
        </a:defRPr>
      </a:lvl7pPr>
      <a:lvl8pPr marL="2560320" algn="l">
        <a:buNone/>
        <a:defRPr sz="1440">
          <a:solidFill>
            <a:schemeClr val="tx1"/>
          </a:solidFill>
          <a:latin typeface="+mn-lt"/>
          <a:ea typeface="+mn-lt"/>
          <a:cs typeface="+mn-lt"/>
        </a:defRPr>
      </a:lvl8pPr>
      <a:lvl9pPr marL="2926080" algn="l">
        <a:buNone/>
        <a:defRPr sz="144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.xml"/><Relationship Id="rId3" Type="http://schemas.openxmlformats.org/officeDocument/2006/relationships/slideLayout" Target="../slideLayouts/slideLayout12.xml"/><Relationship Id="rId2" Type="http://schemas.openxmlformats.org/officeDocument/2006/relationships/hyperlink" Target="https://gitcode.com/cann/cann-learning-hub/tree/test/tutorials" TargetMode="External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.xml"/><Relationship Id="rId4" Type="http://schemas.openxmlformats.org/officeDocument/2006/relationships/slideLayout" Target="../slideLayouts/slideLayout24.xml"/><Relationship Id="rId3" Type="http://schemas.openxmlformats.org/officeDocument/2006/relationships/hyperlink" Target="https://gitcode.com/cann/cann-learning-hub/tree/test/contrib/tutorials/swan_llm_course/01_llm_basic" TargetMode="External"/><Relationship Id="rId2" Type="http://schemas.openxmlformats.org/officeDocument/2006/relationships/hyperlink" Target="https://gitcode.com/cann/cann-learning-hub/blob/test/contrib/tutorials/d2l_ai_pypto/03_pypto_linear_networks/03.03_linear_regression_concise.ipynb" TargetMode="External"/><Relationship Id="rId1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3.xml"/><Relationship Id="rId4" Type="http://schemas.openxmlformats.org/officeDocument/2006/relationships/slideLayout" Target="../slideLayouts/slideLayout24.xml"/><Relationship Id="rId3" Type="http://schemas.openxmlformats.org/officeDocument/2006/relationships/hyperlink" Target="https://gitcode.com/cann/torchtitan-npu/blob/master/docs/user-guides/installation.md" TargetMode="External"/><Relationship Id="rId2" Type="http://schemas.openxmlformats.org/officeDocument/2006/relationships/hyperlink" Target="https://gitcode.com/cann/cann-learning-hub/blob/test/tutorials/sft_training_pipeline/01_sft_and_wordle/01.01_chapter_intro.ipynb" TargetMode="External"/><Relationship Id="rId1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4.xml"/><Relationship Id="rId3" Type="http://schemas.openxmlformats.org/officeDocument/2006/relationships/slideLayout" Target="../slideLayouts/slideLayout12.xml"/><Relationship Id="rId2" Type="http://schemas.openxmlformats.org/officeDocument/2006/relationships/hyperlink" Target="https://gitcode.com/cann/cann-learning-hub/tree/test/tutorials/sft_training_pipeline/01_sft_and_wordle" TargetMode="External"/><Relationship Id="rId1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24.xml"/><Relationship Id="rId1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24.xml"/><Relationship Id="rId1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24.xml"/><Relationship Id="rId1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24.xml"/><Relationship Id="rId1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9.xml"/><Relationship Id="rId3" Type="http://schemas.openxmlformats.org/officeDocument/2006/relationships/slideLayout" Target="../slideLayouts/slideLayout12.xml"/><Relationship Id="rId2" Type="http://schemas.openxmlformats.org/officeDocument/2006/relationships/hyperlink" Target="https://gitcode.com/cann/cann-learning-hub/tree/test/tutorials/sft_training_pipeline/02_torchtitan_framework" TargetMode="External"/><Relationship Id="rId1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23.xml"/><Relationship Id="rId1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1.xml"/><Relationship Id="rId3" Type="http://schemas.openxmlformats.org/officeDocument/2006/relationships/slideLayout" Target="../slideLayouts/slideLayout23.xml"/><Relationship Id="rId2" Type="http://schemas.openxmlformats.org/officeDocument/2006/relationships/hyperlink" Target="https://gitcode.com/cann/torchtitan-npu" TargetMode="External"/><Relationship Id="rId1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24.xml"/><Relationship Id="rId1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3.xml"/><Relationship Id="rId4" Type="http://schemas.openxmlformats.org/officeDocument/2006/relationships/slideLayout" Target="../slideLayouts/slideLayout24.xml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24.xml"/><Relationship Id="rId1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5.xml"/><Relationship Id="rId3" Type="http://schemas.openxmlformats.org/officeDocument/2006/relationships/slideLayout" Target="../slideLayouts/slideLayout24.xml"/><Relationship Id="rId2" Type="http://schemas.openxmlformats.org/officeDocument/2006/relationships/image" Target="../media/image6.png"/><Relationship Id="rId1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24.xml"/><Relationship Id="rId1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7.xml"/><Relationship Id="rId3" Type="http://schemas.openxmlformats.org/officeDocument/2006/relationships/slideLayout" Target="../slideLayouts/slideLayout12.xml"/><Relationship Id="rId2" Type="http://schemas.openxmlformats.org/officeDocument/2006/relationships/hyperlink" Target="https://gitcode.com/cann/cann-learning-hub/tree/test/tutorials/sft_training_pipeline/03_sft_training" TargetMode="External"/><Relationship Id="rId1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8.xml"/><Relationship Id="rId3" Type="http://schemas.openxmlformats.org/officeDocument/2006/relationships/slideLayout" Target="../slideLayouts/slideLayout23.xml"/><Relationship Id="rId2" Type="http://schemas.openxmlformats.org/officeDocument/2006/relationships/image" Target="../media/image7.png"/><Relationship Id="rId1" Type="http://schemas.openxmlformats.org/officeDocument/2006/relationships/image" Target="../media/image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9.xml"/><Relationship Id="rId2" Type="http://schemas.openxmlformats.org/officeDocument/2006/relationships/slideLayout" Target="../slideLayouts/slideLayout24.xml"/><Relationship Id="rId1" Type="http://schemas.openxmlformats.org/officeDocument/2006/relationships/image" Target="../media/image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0.xml"/><Relationship Id="rId2" Type="http://schemas.openxmlformats.org/officeDocument/2006/relationships/slideLayout" Target="../slideLayouts/slideLayout23.xml"/><Relationship Id="rId1" Type="http://schemas.openxmlformats.org/officeDocument/2006/relationships/image" Target="../media/image2.png"/></Relationships>
</file>

<file path=ppt/slides/_rels/slide2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1.xml"/><Relationship Id="rId3" Type="http://schemas.openxmlformats.org/officeDocument/2006/relationships/slideLayout" Target="../slideLayouts/slideLayout23.xml"/><Relationship Id="rId2" Type="http://schemas.openxmlformats.org/officeDocument/2006/relationships/image" Target="../media/image8.png"/><Relationship Id="rId1" Type="http://schemas.openxmlformats.org/officeDocument/2006/relationships/image" Target="../media/image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2.xml"/><Relationship Id="rId2" Type="http://schemas.openxmlformats.org/officeDocument/2006/relationships/slideLayout" Target="../slideLayouts/slideLayout23.xml"/><Relationship Id="rId1" Type="http://schemas.openxmlformats.org/officeDocument/2006/relationships/image" Target="../media/image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3.xml"/><Relationship Id="rId2" Type="http://schemas.openxmlformats.org/officeDocument/2006/relationships/slideLayout" Target="../slideLayouts/slideLayout23.xml"/><Relationship Id="rId1" Type="http://schemas.openxmlformats.org/officeDocument/2006/relationships/image" Target="../media/image2.png"/></Relationships>
</file>

<file path=ppt/slides/_rels/slide2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4.xml"/><Relationship Id="rId3" Type="http://schemas.openxmlformats.org/officeDocument/2006/relationships/slideLayout" Target="../slideLayouts/slideLayout23.xml"/><Relationship Id="rId2" Type="http://schemas.openxmlformats.org/officeDocument/2006/relationships/image" Target="../media/image9.png"/><Relationship Id="rId1" Type="http://schemas.openxmlformats.org/officeDocument/2006/relationships/image" Target="../media/image2.png"/></Relationships>
</file>

<file path=ppt/slides/_rels/slide25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5.xml"/><Relationship Id="rId4" Type="http://schemas.openxmlformats.org/officeDocument/2006/relationships/slideLayout" Target="../slideLayouts/slideLayout23.xml"/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image" Target="../media/image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6.xml"/><Relationship Id="rId2" Type="http://schemas.openxmlformats.org/officeDocument/2006/relationships/slideLayout" Target="../slideLayouts/slideLayout23.xml"/><Relationship Id="rId1" Type="http://schemas.openxmlformats.org/officeDocument/2006/relationships/image" Target="../media/image2.png"/></Relationships>
</file>

<file path=ppt/slides/_rels/slide27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7.xml"/><Relationship Id="rId3" Type="http://schemas.openxmlformats.org/officeDocument/2006/relationships/slideLayout" Target="../slideLayouts/slideLayout12.xml"/><Relationship Id="rId2" Type="http://schemas.openxmlformats.org/officeDocument/2006/relationships/hyperlink" Target="https://gitcode.com/cann/cann-learning-hub/tree/test/tutorials/sft_training_pipeline/04_fused_operators" TargetMode="External"/><Relationship Id="rId1" Type="http://schemas.openxmlformats.org/officeDocument/2006/relationships/image" Target="../media/image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8.xml"/><Relationship Id="rId2" Type="http://schemas.openxmlformats.org/officeDocument/2006/relationships/slideLayout" Target="../slideLayouts/slideLayout23.xml"/><Relationship Id="rId1" Type="http://schemas.openxmlformats.org/officeDocument/2006/relationships/image" Target="../media/image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9.xml"/><Relationship Id="rId2" Type="http://schemas.openxmlformats.org/officeDocument/2006/relationships/slideLayout" Target="../slideLayouts/slideLayout23.xml"/><Relationship Id="rId1" Type="http://schemas.openxmlformats.org/officeDocument/2006/relationships/image" Target="../media/image2.png"/></Relationships>
</file>

<file path=ppt/slides/_rels/slide30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0.xml"/><Relationship Id="rId3" Type="http://schemas.openxmlformats.org/officeDocument/2006/relationships/slideLayout" Target="../slideLayouts/slideLayout23.xml"/><Relationship Id="rId2" Type="http://schemas.openxmlformats.org/officeDocument/2006/relationships/image" Target="../media/image12.png"/><Relationship Id="rId1" Type="http://schemas.openxmlformats.org/officeDocument/2006/relationships/image" Target="../media/image2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1.xml"/><Relationship Id="rId2" Type="http://schemas.openxmlformats.org/officeDocument/2006/relationships/slideLayout" Target="../slideLayouts/slideLayout23.xml"/><Relationship Id="rId1" Type="http://schemas.openxmlformats.org/officeDocument/2006/relationships/image" Target="../media/image2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2.xml"/><Relationship Id="rId2" Type="http://schemas.openxmlformats.org/officeDocument/2006/relationships/slideLayout" Target="../slideLayouts/slideLayout23.xml"/><Relationship Id="rId1" Type="http://schemas.openxmlformats.org/officeDocument/2006/relationships/image" Target="../media/image2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3.xml"/><Relationship Id="rId2" Type="http://schemas.openxmlformats.org/officeDocument/2006/relationships/slideLayout" Target="../slideLayouts/slideLayout23.xml"/><Relationship Id="rId1" Type="http://schemas.openxmlformats.org/officeDocument/2006/relationships/image" Target="../media/image2.png"/></Relationships>
</file>

<file path=ppt/slides/_rels/slide3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4.xml"/><Relationship Id="rId3" Type="http://schemas.openxmlformats.org/officeDocument/2006/relationships/slideLayout" Target="../slideLayouts/slideLayout23.xml"/><Relationship Id="rId2" Type="http://schemas.openxmlformats.org/officeDocument/2006/relationships/image" Target="../media/image13.png"/><Relationship Id="rId1" Type="http://schemas.openxmlformats.org/officeDocument/2006/relationships/image" Target="../media/image2.png"/></Relationships>
</file>

<file path=ppt/slides/_rels/slide35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35.xml"/><Relationship Id="rId5" Type="http://schemas.openxmlformats.org/officeDocument/2006/relationships/slideLayout" Target="../slideLayouts/slideLayout12.xml"/><Relationship Id="rId4" Type="http://schemas.openxmlformats.org/officeDocument/2006/relationships/image" Target="../media/image15.png"/><Relationship Id="rId3" Type="http://schemas.openxmlformats.org/officeDocument/2006/relationships/image" Target="../media/image14.jpeg"/><Relationship Id="rId2" Type="http://schemas.openxmlformats.org/officeDocument/2006/relationships/hyperlink" Target="https://gitcode.com/cann/cann-learning-hub/tree/test/tutorials" TargetMode="External"/><Relationship Id="rId1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16" name="文本框 15"/>
          <p:cNvSpPr>
            <a:spLocks noGrp="1"/>
          </p:cNvSpPr>
          <p:nvPr/>
        </p:nvSpPr>
        <p:spPr>
          <a:xfrm>
            <a:off x="620201" y="6130454"/>
            <a:ext cx="8763000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chemeClr val="bg1">
                    <a:lumMod val="50000"/>
                  </a:schemeClr>
                </a:solidFill>
                <a:latin typeface="+mj-ea"/>
                <a:ea typeface="+mj-ea"/>
                <a:cs typeface="+mj-ea"/>
                <a:hlinkClick r:id="rId2"/>
              </a:rPr>
              <a:t>https://gitcode.com/cann/cann-learning-hub/tree/test/tutorials</a:t>
            </a:r>
            <a:endParaRPr sz="1000">
              <a:solidFill>
                <a:schemeClr val="bg1">
                  <a:lumMod val="50000"/>
                </a:schemeClr>
              </a:solidFill>
              <a:latin typeface="+mj-ea"/>
              <a:ea typeface="+mj-ea"/>
              <a:cs typeface="+mj-ea"/>
              <a:hlinkClick r:id="rId2"/>
            </a:endParaRPr>
          </a:p>
        </p:txBody>
      </p:sp>
      <p:sp>
        <p:nvSpPr>
          <p:cNvPr id="2" name="文本框 1"/>
          <p:cNvSpPr>
            <a:spLocks noGrp="1"/>
          </p:cNvSpPr>
          <p:nvPr/>
        </p:nvSpPr>
        <p:spPr>
          <a:xfrm>
            <a:off x="1585009" y="1399429"/>
            <a:ext cx="5250815" cy="132207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buNone/>
            </a:pPr>
            <a:r>
              <a:rPr sz="4000" b="1">
                <a:latin typeface="微软雅黑"/>
                <a:ea typeface="微软雅黑"/>
                <a:cs typeface="微软雅黑"/>
              </a:rPr>
              <a:t>CANN大模型训练系列</a:t>
            </a:r>
            <a:endParaRPr sz="4000" b="1">
              <a:latin typeface="微软雅黑"/>
              <a:ea typeface="微软雅黑"/>
              <a:cs typeface="微软雅黑"/>
            </a:endParaRPr>
          </a:p>
          <a:p>
            <a:pPr algn="ctr">
              <a:buNone/>
            </a:pPr>
            <a:r>
              <a:rPr sz="4000" b="1">
                <a:latin typeface="微软雅黑"/>
                <a:ea typeface="微软雅黑"/>
                <a:cs typeface="微软雅黑"/>
              </a:rPr>
              <a:t>SFT监督微调</a:t>
            </a:r>
            <a:endParaRPr sz="4000" b="1"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1" name="图片 2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矩形 1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slide-title"/>
          <p:cNvSpPr>
            <a:spLocks noGrp="1"/>
          </p:cNvSpPr>
          <p:nvPr/>
        </p:nvSpPr>
        <p:spPr>
          <a:xfrm>
            <a:off x="609600" y="320040"/>
            <a:ext cx="937260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lnSpc>
                <a:spcPct val="108000"/>
              </a:lnSpc>
              <a:buNone/>
              <a:defRPr sz="3375" b="0">
                <a:solidFill>
                  <a:srgbClr val="111111"/>
                </a:solidFill>
                <a:latin typeface="微软雅黑"/>
                <a:ea typeface="微软雅黑"/>
                <a:cs typeface="微软雅黑"/>
              </a:defRPr>
            </a:pPr>
            <a:r>
              <a:rPr sz="2700">
                <a:solidFill>
                  <a:srgbClr val="111111"/>
                </a:solidFill>
                <a:latin typeface="微软雅黑"/>
                <a:ea typeface="微软雅黑"/>
                <a:cs typeface="微软雅黑"/>
              </a:rPr>
              <a:t>课前准备</a:t>
            </a:r>
            <a:endParaRPr sz="2700">
              <a:solidFill>
                <a:srgbClr val="11111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矩形: 圆角 4"/>
          <p:cNvSpPr>
            <a:spLocks noGrp="1"/>
          </p:cNvSpPr>
          <p:nvPr/>
        </p:nvSpPr>
        <p:spPr>
          <a:xfrm>
            <a:off x="685800" y="1295400"/>
            <a:ext cx="3810000" cy="3200400"/>
          </a:xfrm>
          <a:prstGeom prst="roundRect">
            <a:avLst>
              <a:gd name="adj" fmla="val 1429"/>
            </a:avLst>
          </a:prstGeom>
          <a:solidFill>
            <a:srgbClr val="FFF1F2"/>
          </a:solidFill>
          <a:ln w="9525">
            <a:solidFill>
              <a:srgbClr val="E60012"/>
            </a:solidFill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1028700" y="1714500"/>
            <a:ext cx="312420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3600" b="1">
                <a:solidFill>
                  <a:srgbClr val="E60012"/>
                </a:solidFill>
                <a:latin typeface="Arial" panose="020B0604020202090204"/>
                <a:ea typeface="Arial" panose="020B0604020202090204"/>
                <a:cs typeface="Arial" panose="020B0604020202090204"/>
              </a:defRPr>
            </a:pPr>
            <a:r>
              <a:rPr sz="2880" b="1">
                <a:solidFill>
                  <a:srgbClr val="E60012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PyTorch 训练闭环</a:t>
            </a:r>
            <a:endParaRPr sz="2880" b="1">
              <a:solidFill>
                <a:srgbClr val="E60012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1066800" y="2514600"/>
            <a:ext cx="30480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1909"/>
          </a:bodyPr>
          <a:lstStyle/>
          <a:p>
            <a:pPr algn="ctr">
              <a:lnSpc>
                <a:spcPct val="125000"/>
              </a:lnSpc>
              <a:buNone/>
              <a:defRPr sz="232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86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forward → loss → backward</a:t>
            </a:r>
            <a:endParaRPr sz="186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  <a:p>
            <a:pPr algn="ctr">
              <a:lnSpc>
                <a:spcPct val="125000"/>
              </a:lnSpc>
              <a:buNone/>
              <a:defRPr sz="232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86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→ optimizer.step()</a:t>
            </a:r>
            <a:endParaRPr sz="186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矩形: 圆角 7"/>
          <p:cNvSpPr>
            <a:spLocks noGrp="1"/>
          </p:cNvSpPr>
          <p:nvPr/>
        </p:nvSpPr>
        <p:spPr>
          <a:xfrm>
            <a:off x="1371600" y="3695700"/>
            <a:ext cx="2438400" cy="3048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/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1432560" y="3695700"/>
            <a:ext cx="231648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会读懂最小训练循环</a:t>
            </a:r>
            <a:endParaRPr sz="1080" b="1"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5257800" y="1257300"/>
            <a:ext cx="38100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8765"/>
          </a:bodyPr>
          <a:lstStyle/>
          <a:p>
            <a:pPr>
              <a:lnSpc>
                <a:spcPct val="108000"/>
              </a:lnSpc>
              <a:buNone/>
              <a:defRPr sz="225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Transformer 必备结构</a:t>
            </a:r>
            <a:endParaRPr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5257800" y="1790700"/>
            <a:ext cx="495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lnSpc>
                <a:spcPct val="108000"/>
              </a:lnSpc>
              <a:buNone/>
              <a:defRPr sz="187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01</a:t>
            </a:r>
            <a:endParaRPr sz="1500" b="1"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5829300" y="1790700"/>
            <a:ext cx="21336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lnSpc>
                <a:spcPct val="108000"/>
              </a:lnSpc>
              <a:buNone/>
              <a:defRPr sz="18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Attention</a:t>
            </a:r>
            <a:endParaRPr sz="150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5829300" y="2156460"/>
            <a:ext cx="2209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lnSpc>
                <a:spcPct val="118000"/>
              </a:lnSpc>
              <a:buNone/>
              <a:defRPr sz="142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14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用 Q / K / V 聚合上下文</a:t>
            </a:r>
            <a:endParaRPr sz="1140"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8229600" y="1790700"/>
            <a:ext cx="495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lnSpc>
                <a:spcPct val="108000"/>
              </a:lnSpc>
              <a:buNone/>
              <a:defRPr sz="1875" b="1">
                <a:solidFill>
                  <a:srgbClr val="377D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rPr>
              <a:t>02</a:t>
            </a:r>
            <a:endParaRPr sz="1500" b="1">
              <a:solidFill>
                <a:srgbClr val="377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8801100" y="1790700"/>
            <a:ext cx="21336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lnSpc>
                <a:spcPct val="108000"/>
              </a:lnSpc>
              <a:buNone/>
              <a:defRPr sz="18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FFN</a:t>
            </a:r>
            <a:endParaRPr sz="150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8801100" y="2156460"/>
            <a:ext cx="2209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lnSpc>
                <a:spcPct val="118000"/>
              </a:lnSpc>
              <a:buNone/>
              <a:defRPr sz="142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14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逐 token 做非线性变换</a:t>
            </a:r>
            <a:endParaRPr sz="1140"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5257800" y="2857500"/>
            <a:ext cx="495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lnSpc>
                <a:spcPct val="108000"/>
              </a:lnSpc>
              <a:buNone/>
              <a:defRPr sz="187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03</a:t>
            </a:r>
            <a:endParaRPr sz="1500" b="1"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5829300" y="2857500"/>
            <a:ext cx="21336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lnSpc>
                <a:spcPct val="108000"/>
              </a:lnSpc>
              <a:buNone/>
              <a:defRPr sz="18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LayerNorm</a:t>
            </a:r>
            <a:endParaRPr sz="150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5829300" y="3223260"/>
            <a:ext cx="2209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lnSpc>
                <a:spcPct val="118000"/>
              </a:lnSpc>
              <a:buNone/>
              <a:defRPr sz="142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14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稳定残差流与训练</a:t>
            </a:r>
            <a:endParaRPr sz="1140"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8229600" y="2857500"/>
            <a:ext cx="495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lnSpc>
                <a:spcPct val="108000"/>
              </a:lnSpc>
              <a:buNone/>
              <a:defRPr sz="1875" b="1">
                <a:solidFill>
                  <a:srgbClr val="377D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rPr>
              <a:t>04</a:t>
            </a:r>
            <a:endParaRPr sz="1500" b="1">
              <a:solidFill>
                <a:srgbClr val="377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8801100" y="2857500"/>
            <a:ext cx="21336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lnSpc>
                <a:spcPct val="108000"/>
              </a:lnSpc>
              <a:buNone/>
              <a:defRPr sz="18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残差连接</a:t>
            </a:r>
            <a:endParaRPr sz="150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8801100" y="3223260"/>
            <a:ext cx="2209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lnSpc>
                <a:spcPct val="118000"/>
              </a:lnSpc>
              <a:buNone/>
              <a:defRPr sz="142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14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保留信息并促进梯度传播</a:t>
            </a:r>
            <a:endParaRPr sz="1140"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5257800" y="3924300"/>
            <a:ext cx="495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lnSpc>
                <a:spcPct val="108000"/>
              </a:lnSpc>
              <a:buNone/>
              <a:defRPr sz="187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05</a:t>
            </a:r>
            <a:endParaRPr sz="1500" b="1"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5829300" y="3924300"/>
            <a:ext cx="21336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lnSpc>
                <a:spcPct val="108000"/>
              </a:lnSpc>
              <a:buNone/>
              <a:defRPr sz="18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数据与标签</a:t>
            </a:r>
            <a:endParaRPr sz="150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5829300" y="4290060"/>
            <a:ext cx="2209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lnSpc>
                <a:spcPct val="118000"/>
              </a:lnSpc>
              <a:buNone/>
              <a:defRPr sz="142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14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input_ids / labels / mask</a:t>
            </a:r>
            <a:endParaRPr sz="1140"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8229600" y="3924300"/>
            <a:ext cx="495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lnSpc>
                <a:spcPct val="108000"/>
              </a:lnSpc>
              <a:buNone/>
              <a:defRPr sz="1875" b="1">
                <a:solidFill>
                  <a:srgbClr val="377D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rPr>
              <a:t>06</a:t>
            </a:r>
            <a:endParaRPr sz="1500" b="1">
              <a:solidFill>
                <a:srgbClr val="377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8801100" y="3924300"/>
            <a:ext cx="21336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lnSpc>
                <a:spcPct val="108000"/>
              </a:lnSpc>
              <a:buNone/>
              <a:defRPr sz="18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检查标准</a:t>
            </a:r>
            <a:endParaRPr sz="150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8801100" y="4290060"/>
            <a:ext cx="2209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lnSpc>
                <a:spcPct val="118000"/>
              </a:lnSpc>
              <a:buNone/>
              <a:defRPr sz="142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14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能解释一次参数更新</a:t>
            </a:r>
            <a:endParaRPr sz="1140"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1676400" y="5257800"/>
            <a:ext cx="8839200" cy="396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defRPr sz="162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62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参考：</a:t>
            </a:r>
            <a:r>
              <a:rPr sz="1620" b="1" u="sng">
                <a:solidFill>
                  <a:srgbClr val="E60012"/>
                </a:solidFill>
                <a:latin typeface="微软雅黑"/>
                <a:ea typeface="微软雅黑"/>
                <a:cs typeface="微软雅黑"/>
                <a:hlinkClick r:id="rId2"/>
              </a:rPr>
              <a:t> PyTorch 训练闭环</a:t>
            </a:r>
            <a:r>
              <a:rPr sz="162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 ｜ </a:t>
            </a:r>
            <a:r>
              <a:rPr sz="1620" b="1" u="sng">
                <a:solidFill>
                  <a:srgbClr val="E60012"/>
                </a:solidFill>
                <a:latin typeface="微软雅黑"/>
                <a:ea typeface="微软雅黑"/>
                <a:cs typeface="微软雅黑"/>
                <a:hlinkClick r:id="rId3"/>
              </a:rPr>
              <a:t>Transformer 基础学习路径</a:t>
            </a:r>
            <a:endParaRPr sz="1620" b="1" u="sng">
              <a:solidFill>
                <a:srgbClr val="E60012"/>
              </a:solidFill>
              <a:latin typeface="微软雅黑"/>
              <a:ea typeface="微软雅黑"/>
              <a:cs typeface="微软雅黑"/>
              <a:hlinkClick r:id="rId3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48" name="图片 4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矩形 1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slide-title"/>
          <p:cNvSpPr>
            <a:spLocks noGrp="1"/>
          </p:cNvSpPr>
          <p:nvPr/>
        </p:nvSpPr>
        <p:spPr>
          <a:xfrm>
            <a:off x="609600" y="320040"/>
            <a:ext cx="937260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lnSpc>
                <a:spcPct val="108000"/>
              </a:lnSpc>
              <a:buNone/>
              <a:defRPr sz="3375" b="0">
                <a:solidFill>
                  <a:srgbClr val="111111"/>
                </a:solidFill>
                <a:latin typeface="微软雅黑"/>
                <a:ea typeface="微软雅黑"/>
                <a:cs typeface="微软雅黑"/>
              </a:defRPr>
            </a:pPr>
            <a:r>
              <a:rPr lang="zh-CN" sz="2700">
                <a:solidFill>
                  <a:srgbClr val="111111"/>
                </a:solidFill>
                <a:latin typeface="微软雅黑"/>
                <a:ea typeface="微软雅黑"/>
                <a:cs typeface="微软雅黑"/>
              </a:rPr>
              <a:t>课前</a:t>
            </a:r>
            <a:r>
              <a:rPr lang="zh-CN" sz="2700">
                <a:solidFill>
                  <a:srgbClr val="111111"/>
                </a:solidFill>
                <a:latin typeface="微软雅黑"/>
                <a:ea typeface="微软雅黑"/>
                <a:cs typeface="微软雅黑"/>
              </a:rPr>
              <a:t>准备</a:t>
            </a:r>
            <a:endParaRPr lang="zh-CN" sz="2700">
              <a:solidFill>
                <a:srgbClr val="11111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85800" y="1104900"/>
            <a:ext cx="1981200" cy="335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lnSpc>
                <a:spcPct val="108000"/>
              </a:lnSpc>
              <a:buNone/>
              <a:defRPr sz="21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68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最低可用条件</a:t>
            </a:r>
            <a:endParaRPr sz="168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685800" y="1524000"/>
            <a:ext cx="1905000" cy="381000"/>
          </a:xfrm>
          <a:prstGeom prst="rect">
            <a:avLst/>
          </a:prstGeom>
          <a:solidFill>
            <a:srgbClr val="E60012"/>
          </a:solidFill>
          <a:ln w="0">
            <a:noFill/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792480" y="1524000"/>
            <a:ext cx="169164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lnSpc>
                <a:spcPct val="108000"/>
              </a:lnSpc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检查项</a:t>
            </a:r>
            <a:endParaRPr sz="12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2590800" y="1524000"/>
            <a:ext cx="1676400" cy="381000"/>
          </a:xfrm>
          <a:prstGeom prst="rect">
            <a:avLst/>
          </a:prstGeom>
          <a:solidFill>
            <a:srgbClr val="262626"/>
          </a:solidFill>
          <a:ln w="0">
            <a:noFill/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2697480" y="1524000"/>
            <a:ext cx="146304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lnSpc>
                <a:spcPct val="108000"/>
              </a:lnSpc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目标</a:t>
            </a:r>
            <a:endParaRPr sz="12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4267200" y="1524000"/>
            <a:ext cx="1981200" cy="381000"/>
          </a:xfrm>
          <a:prstGeom prst="rect">
            <a:avLst/>
          </a:prstGeom>
          <a:solidFill>
            <a:srgbClr val="262626"/>
          </a:solidFill>
          <a:ln w="0">
            <a:noFill/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4373880" y="1524000"/>
            <a:ext cx="176784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lnSpc>
                <a:spcPct val="108000"/>
              </a:lnSpc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命令</a:t>
            </a:r>
            <a:endParaRPr sz="12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685800" y="1905000"/>
            <a:ext cx="1905000" cy="47244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792480" y="1965960"/>
            <a:ext cx="1691640" cy="350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lnSpc>
                <a:spcPct val="108000"/>
              </a:lnSpc>
              <a:buNone/>
              <a:defRPr sz="1425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CANN</a:t>
            </a:r>
            <a:endParaRPr sz="114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2590800" y="1905000"/>
            <a:ext cx="1676400" cy="47244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2697480" y="1965960"/>
            <a:ext cx="1463040" cy="350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lnSpc>
                <a:spcPct val="108000"/>
              </a:lnSpc>
              <a:buNone/>
              <a:defRPr sz="142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设备可见</a:t>
            </a:r>
            <a:endParaRPr sz="114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4267200" y="1905000"/>
            <a:ext cx="1981200" cy="47244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4373880" y="1965960"/>
            <a:ext cx="1767840" cy="350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lnSpc>
                <a:spcPct val="108000"/>
              </a:lnSpc>
              <a:buNone/>
              <a:defRPr sz="1425" b="0">
                <a:solidFill>
                  <a:srgbClr val="525252"/>
                </a:solidFill>
                <a:latin typeface="Consolas"/>
                <a:ea typeface="Consolas"/>
                <a:cs typeface="Consolas"/>
              </a:defRPr>
            </a:pPr>
            <a:r>
              <a:rPr sz="1140">
                <a:solidFill>
                  <a:srgbClr val="525252"/>
                </a:solidFill>
                <a:latin typeface="Consolas"/>
                <a:ea typeface="Consolas"/>
                <a:cs typeface="Consolas"/>
              </a:rPr>
              <a:t>npu-smi info</a:t>
            </a:r>
            <a:endParaRPr sz="1140">
              <a:solidFill>
                <a:srgbClr val="52525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685800" y="2377440"/>
            <a:ext cx="1905000" cy="4724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792480" y="2438400"/>
            <a:ext cx="1691640" cy="350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lnSpc>
                <a:spcPct val="108000"/>
              </a:lnSpc>
              <a:buNone/>
              <a:defRPr sz="1425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PyTorch</a:t>
            </a:r>
            <a:endParaRPr sz="114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2590800" y="2377440"/>
            <a:ext cx="1676400" cy="4724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2697480" y="2438400"/>
            <a:ext cx="1463040" cy="350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lnSpc>
                <a:spcPct val="108000"/>
              </a:lnSpc>
              <a:buNone/>
              <a:defRPr sz="142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可导入</a:t>
            </a:r>
            <a:endParaRPr sz="114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4267200" y="2377440"/>
            <a:ext cx="1981200" cy="4724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3" name="矩形 22"/>
          <p:cNvSpPr>
            <a:spLocks noGrp="1"/>
          </p:cNvSpPr>
          <p:nvPr/>
        </p:nvSpPr>
        <p:spPr>
          <a:xfrm>
            <a:off x="4373880" y="2438400"/>
            <a:ext cx="1767840" cy="350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lnSpc>
                <a:spcPct val="108000"/>
              </a:lnSpc>
              <a:buNone/>
              <a:defRPr sz="1425" b="0">
                <a:solidFill>
                  <a:srgbClr val="525252"/>
                </a:solidFill>
                <a:latin typeface="Consolas"/>
                <a:ea typeface="Consolas"/>
                <a:cs typeface="Consolas"/>
              </a:defRPr>
            </a:pPr>
            <a:r>
              <a:rPr sz="1140">
                <a:solidFill>
                  <a:srgbClr val="525252"/>
                </a:solidFill>
                <a:latin typeface="Consolas"/>
                <a:ea typeface="Consolas"/>
                <a:cs typeface="Consolas"/>
              </a:rPr>
              <a:t>import torch</a:t>
            </a:r>
            <a:endParaRPr sz="1140">
              <a:solidFill>
                <a:srgbClr val="52525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685800" y="2849880"/>
            <a:ext cx="1905000" cy="47244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5" name="矩形 24"/>
          <p:cNvSpPr>
            <a:spLocks noGrp="1"/>
          </p:cNvSpPr>
          <p:nvPr/>
        </p:nvSpPr>
        <p:spPr>
          <a:xfrm>
            <a:off x="792480" y="2910840"/>
            <a:ext cx="1691640" cy="350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lnSpc>
                <a:spcPct val="108000"/>
              </a:lnSpc>
              <a:buNone/>
              <a:defRPr sz="1425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torch_npu</a:t>
            </a:r>
            <a:endParaRPr sz="114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2590800" y="2849880"/>
            <a:ext cx="1676400" cy="47244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7" name="矩形 26"/>
          <p:cNvSpPr>
            <a:spLocks noGrp="1"/>
          </p:cNvSpPr>
          <p:nvPr/>
        </p:nvSpPr>
        <p:spPr>
          <a:xfrm>
            <a:off x="2697480" y="2910840"/>
            <a:ext cx="1463040" cy="350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lnSpc>
                <a:spcPct val="108000"/>
              </a:lnSpc>
              <a:buNone/>
              <a:defRPr sz="142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NPU 可用</a:t>
            </a:r>
            <a:endParaRPr sz="114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4267200" y="2849880"/>
            <a:ext cx="1981200" cy="47244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9" name="矩形 28"/>
          <p:cNvSpPr>
            <a:spLocks noGrp="1"/>
          </p:cNvSpPr>
          <p:nvPr/>
        </p:nvSpPr>
        <p:spPr>
          <a:xfrm>
            <a:off x="4373880" y="2910840"/>
            <a:ext cx="1767840" cy="350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3405"/>
          </a:bodyPr>
          <a:lstStyle/>
          <a:p>
            <a:pPr>
              <a:lnSpc>
                <a:spcPct val="108000"/>
              </a:lnSpc>
              <a:buNone/>
              <a:defRPr sz="1425" b="0">
                <a:solidFill>
                  <a:srgbClr val="525252"/>
                </a:solidFill>
                <a:latin typeface="Consolas"/>
                <a:ea typeface="Consolas"/>
                <a:cs typeface="Consolas"/>
              </a:defRPr>
            </a:pPr>
            <a:r>
              <a:rPr sz="1140">
                <a:solidFill>
                  <a:srgbClr val="525252"/>
                </a:solidFill>
                <a:latin typeface="Consolas"/>
                <a:ea typeface="Consolas"/>
                <a:cs typeface="Consolas"/>
              </a:rPr>
              <a:t>torch.npu.</a:t>
            </a:r>
            <a:endParaRPr sz="1140">
              <a:solidFill>
                <a:srgbClr val="525252"/>
              </a:solidFill>
              <a:latin typeface="Consolas"/>
              <a:ea typeface="Consolas"/>
              <a:cs typeface="Consolas"/>
            </a:endParaRPr>
          </a:p>
          <a:p>
            <a:pPr>
              <a:lnSpc>
                <a:spcPct val="108000"/>
              </a:lnSpc>
              <a:buNone/>
              <a:defRPr sz="1425" b="0">
                <a:solidFill>
                  <a:srgbClr val="525252"/>
                </a:solidFill>
                <a:latin typeface="Consolas"/>
                <a:ea typeface="Consolas"/>
                <a:cs typeface="Consolas"/>
              </a:defRPr>
            </a:pPr>
            <a:r>
              <a:rPr sz="1140">
                <a:solidFill>
                  <a:srgbClr val="525252"/>
                </a:solidFill>
                <a:latin typeface="Consolas"/>
                <a:ea typeface="Consolas"/>
                <a:cs typeface="Consolas"/>
              </a:rPr>
              <a:t>is_available()</a:t>
            </a:r>
            <a:endParaRPr sz="1140">
              <a:solidFill>
                <a:srgbClr val="52525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6629400" y="1104900"/>
            <a:ext cx="1981200" cy="335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lnSpc>
                <a:spcPct val="108000"/>
              </a:lnSpc>
              <a:buNone/>
              <a:defRPr sz="21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68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三步验证</a:t>
            </a:r>
            <a:endParaRPr sz="168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1" name="矩形 30"/>
          <p:cNvSpPr>
            <a:spLocks noGrp="1"/>
          </p:cNvSpPr>
          <p:nvPr/>
        </p:nvSpPr>
        <p:spPr>
          <a:xfrm>
            <a:off x="6629400" y="1562100"/>
            <a:ext cx="4953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lnSpc>
                <a:spcPct val="108000"/>
              </a:lnSpc>
              <a:buNone/>
              <a:defRPr sz="202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62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01</a:t>
            </a:r>
            <a:endParaRPr sz="1620" b="1"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2" name="矩形 31"/>
          <p:cNvSpPr>
            <a:spLocks noGrp="1"/>
          </p:cNvSpPr>
          <p:nvPr/>
        </p:nvSpPr>
        <p:spPr>
          <a:xfrm>
            <a:off x="7277100" y="1562100"/>
            <a:ext cx="32004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lnSpc>
                <a:spcPct val="108000"/>
              </a:lnSpc>
              <a:buNone/>
              <a:defRPr sz="18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识别设备</a:t>
            </a:r>
            <a:endParaRPr sz="150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3" name="矩形: 圆角 32"/>
          <p:cNvSpPr>
            <a:spLocks noGrp="1"/>
          </p:cNvSpPr>
          <p:nvPr/>
        </p:nvSpPr>
        <p:spPr>
          <a:xfrm>
            <a:off x="7277100" y="1943100"/>
            <a:ext cx="3810000" cy="495300"/>
          </a:xfrm>
          <a:prstGeom prst="roundRect">
            <a:avLst>
              <a:gd name="adj" fmla="val 9231"/>
            </a:avLst>
          </a:prstGeom>
          <a:solidFill>
            <a:srgbClr val="F5F5F5"/>
          </a:solidFill>
          <a:ln w="9525">
            <a:solidFill>
              <a:srgbClr val="D4D4D4"/>
            </a:solidFill>
            <a:prstDash val="solid"/>
          </a:ln>
        </p:spPr>
      </p:sp>
      <p:sp>
        <p:nvSpPr>
          <p:cNvPr id="34" name="矩形 33"/>
          <p:cNvSpPr>
            <a:spLocks noGrp="1"/>
          </p:cNvSpPr>
          <p:nvPr/>
        </p:nvSpPr>
        <p:spPr>
          <a:xfrm>
            <a:off x="7444740" y="2065020"/>
            <a:ext cx="3474720" cy="2514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lnSpc>
                <a:spcPct val="120000"/>
              </a:lnSpc>
              <a:buNone/>
              <a:defRPr sz="1125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90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npu-smi info</a:t>
            </a:r>
            <a:endParaRPr sz="90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5" name="矩形 34"/>
          <p:cNvSpPr>
            <a:spLocks noGrp="1"/>
          </p:cNvSpPr>
          <p:nvPr/>
        </p:nvSpPr>
        <p:spPr>
          <a:xfrm>
            <a:off x="6629400" y="2743200"/>
            <a:ext cx="4953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lnSpc>
                <a:spcPct val="108000"/>
              </a:lnSpc>
              <a:buNone/>
              <a:defRPr sz="202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62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02</a:t>
            </a:r>
            <a:endParaRPr sz="1620" b="1"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6" name="矩形 35"/>
          <p:cNvSpPr>
            <a:spLocks noGrp="1"/>
          </p:cNvSpPr>
          <p:nvPr/>
        </p:nvSpPr>
        <p:spPr>
          <a:xfrm>
            <a:off x="7277100" y="2743200"/>
            <a:ext cx="32004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lnSpc>
                <a:spcPct val="108000"/>
              </a:lnSpc>
              <a:buNone/>
              <a:defRPr sz="18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验证 Python 栈</a:t>
            </a:r>
            <a:endParaRPr sz="150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7" name="矩形: 圆角 36"/>
          <p:cNvSpPr>
            <a:spLocks noGrp="1"/>
          </p:cNvSpPr>
          <p:nvPr/>
        </p:nvSpPr>
        <p:spPr>
          <a:xfrm>
            <a:off x="7277100" y="3124200"/>
            <a:ext cx="3810000" cy="495300"/>
          </a:xfrm>
          <a:prstGeom prst="roundRect">
            <a:avLst>
              <a:gd name="adj" fmla="val 9231"/>
            </a:avLst>
          </a:prstGeom>
          <a:solidFill>
            <a:srgbClr val="F5F5F5"/>
          </a:solidFill>
          <a:ln w="9525">
            <a:solidFill>
              <a:srgbClr val="D4D4D4"/>
            </a:solidFill>
            <a:prstDash val="solid"/>
          </a:ln>
        </p:spPr>
      </p:sp>
      <p:sp>
        <p:nvSpPr>
          <p:cNvPr id="38" name="矩形 37"/>
          <p:cNvSpPr>
            <a:spLocks noGrp="1"/>
          </p:cNvSpPr>
          <p:nvPr/>
        </p:nvSpPr>
        <p:spPr>
          <a:xfrm>
            <a:off x="7444740" y="3246120"/>
            <a:ext cx="3474720" cy="2514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76389" lnSpcReduction="20000"/>
          </a:bodyPr>
          <a:lstStyle/>
          <a:p>
            <a:pPr>
              <a:lnSpc>
                <a:spcPct val="120000"/>
              </a:lnSpc>
              <a:buNone/>
              <a:defRPr sz="1125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90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python -c "import torch, torch_npu; \</a:t>
            </a:r>
            <a:endParaRPr sz="90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  <a:p>
            <a:pPr>
              <a:lnSpc>
                <a:spcPct val="120000"/>
              </a:lnSpc>
              <a:buNone/>
              <a:defRPr sz="1125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90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print(torch.npu.is_available())"</a:t>
            </a:r>
            <a:endParaRPr sz="90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9" name="矩形 38"/>
          <p:cNvSpPr>
            <a:spLocks noGrp="1"/>
          </p:cNvSpPr>
          <p:nvPr/>
        </p:nvSpPr>
        <p:spPr>
          <a:xfrm>
            <a:off x="6629400" y="3924300"/>
            <a:ext cx="4953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lnSpc>
                <a:spcPct val="108000"/>
              </a:lnSpc>
              <a:buNone/>
              <a:defRPr sz="202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62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03</a:t>
            </a:r>
            <a:endParaRPr sz="1620" b="1"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0" name="矩形 39"/>
          <p:cNvSpPr>
            <a:spLocks noGrp="1"/>
          </p:cNvSpPr>
          <p:nvPr/>
        </p:nvSpPr>
        <p:spPr>
          <a:xfrm>
            <a:off x="7277100" y="3924300"/>
            <a:ext cx="32004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lnSpc>
                <a:spcPct val="108000"/>
              </a:lnSpc>
              <a:buNone/>
              <a:defRPr sz="18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跑最小张量</a:t>
            </a:r>
            <a:endParaRPr sz="150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1" name="矩形: 圆角 40"/>
          <p:cNvSpPr>
            <a:spLocks noGrp="1"/>
          </p:cNvSpPr>
          <p:nvPr/>
        </p:nvSpPr>
        <p:spPr>
          <a:xfrm>
            <a:off x="7277100" y="4305300"/>
            <a:ext cx="3810000" cy="594360"/>
          </a:xfrm>
          <a:prstGeom prst="roundRect">
            <a:avLst>
              <a:gd name="adj" fmla="val 7692"/>
            </a:avLst>
          </a:prstGeom>
          <a:solidFill>
            <a:srgbClr val="F5F5F5"/>
          </a:solidFill>
          <a:ln w="9525">
            <a:solidFill>
              <a:srgbClr val="D4D4D4"/>
            </a:solidFill>
            <a:prstDash val="solid"/>
          </a:ln>
        </p:spPr>
      </p:sp>
      <p:sp>
        <p:nvSpPr>
          <p:cNvPr id="42" name="矩形 41"/>
          <p:cNvSpPr>
            <a:spLocks noGrp="1"/>
          </p:cNvSpPr>
          <p:nvPr/>
        </p:nvSpPr>
        <p:spPr>
          <a:xfrm>
            <a:off x="7444740" y="4427220"/>
            <a:ext cx="3474720" cy="350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lnSpc>
                <a:spcPct val="120000"/>
              </a:lnSpc>
              <a:buNone/>
              <a:defRPr sz="1125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90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python -c "import torch, torch_npu; \</a:t>
            </a:r>
            <a:endParaRPr sz="90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  <a:p>
            <a:pPr>
              <a:lnSpc>
                <a:spcPct val="120000"/>
              </a:lnSpc>
              <a:buNone/>
              <a:defRPr sz="1125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90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print(torch.ones(1).npu())"</a:t>
            </a:r>
            <a:endParaRPr sz="90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43" name="矩形: 圆角 42"/>
          <p:cNvSpPr>
            <a:spLocks noGrp="1"/>
          </p:cNvSpPr>
          <p:nvPr/>
        </p:nvSpPr>
        <p:spPr>
          <a:xfrm>
            <a:off x="685800" y="4076700"/>
            <a:ext cx="5257800" cy="1104900"/>
          </a:xfrm>
          <a:prstGeom prst="roundRect">
            <a:avLst>
              <a:gd name="adj" fmla="val 4138"/>
            </a:avLst>
          </a:prstGeom>
          <a:solidFill>
            <a:srgbClr val="EDF7EC"/>
          </a:solidFill>
          <a:ln w="9525">
            <a:solidFill>
              <a:srgbClr val="43A047"/>
            </a:solidFill>
            <a:prstDash val="solid"/>
          </a:ln>
        </p:spPr>
      </p:sp>
      <p:sp>
        <p:nvSpPr>
          <p:cNvPr id="44" name="矩形 43"/>
          <p:cNvSpPr>
            <a:spLocks noGrp="1"/>
          </p:cNvSpPr>
          <p:nvPr/>
        </p:nvSpPr>
        <p:spPr>
          <a:xfrm>
            <a:off x="990600" y="4305300"/>
            <a:ext cx="22860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lnSpc>
                <a:spcPct val="108000"/>
              </a:lnSpc>
              <a:buNone/>
              <a:defRPr sz="2025" b="1">
                <a:solidFill>
                  <a:srgbClr val="43A047"/>
                </a:solidFill>
                <a:latin typeface="微软雅黑"/>
                <a:ea typeface="微软雅黑"/>
                <a:cs typeface="微软雅黑"/>
              </a:defRPr>
            </a:pPr>
            <a:r>
              <a:rPr sz="1620" b="1">
                <a:solidFill>
                  <a:srgbClr val="43A047"/>
                </a:solidFill>
                <a:latin typeface="微软雅黑"/>
                <a:ea typeface="微软雅黑"/>
                <a:cs typeface="微软雅黑"/>
              </a:rPr>
              <a:t>通过标准</a:t>
            </a:r>
            <a:endParaRPr sz="1620" b="1">
              <a:solidFill>
                <a:srgbClr val="43A04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5" name="矩形 44"/>
          <p:cNvSpPr>
            <a:spLocks noGrp="1"/>
          </p:cNvSpPr>
          <p:nvPr/>
        </p:nvSpPr>
        <p:spPr>
          <a:xfrm>
            <a:off x="990600" y="4762500"/>
            <a:ext cx="46482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725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38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设备可见 → 依赖可导入 → 张量可落到 NPU</a:t>
            </a:r>
            <a:endParaRPr sz="138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6" name="矩形 45"/>
          <p:cNvSpPr>
            <a:spLocks noGrp="1"/>
          </p:cNvSpPr>
          <p:nvPr/>
        </p:nvSpPr>
        <p:spPr>
          <a:xfrm>
            <a:off x="2057400" y="5486400"/>
            <a:ext cx="8077200" cy="335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202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62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参考：</a:t>
            </a:r>
            <a:r>
              <a:rPr sz="1620" b="1">
                <a:solidFill>
                  <a:srgbClr val="E60012"/>
                </a:solidFill>
                <a:latin typeface="微软雅黑"/>
                <a:ea typeface="微软雅黑"/>
                <a:cs typeface="微软雅黑"/>
                <a:hlinkClick r:id="rId2"/>
              </a:rPr>
              <a:t>本章前置要求</a:t>
            </a:r>
            <a:r>
              <a:rPr sz="162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 ｜ </a:t>
            </a:r>
            <a:r>
              <a:rPr sz="1620" b="1">
                <a:solidFill>
                  <a:srgbClr val="E60012"/>
                </a:solidFill>
                <a:latin typeface="微软雅黑"/>
                <a:ea typeface="微软雅黑"/>
                <a:cs typeface="微软雅黑"/>
                <a:hlinkClick r:id="rId3"/>
              </a:rPr>
              <a:t>torchtitan-npu 安装指南</a:t>
            </a:r>
            <a:endParaRPr sz="1620" b="1">
              <a:solidFill>
                <a:srgbClr val="E60012"/>
              </a:solidFill>
              <a:latin typeface="微软雅黑"/>
              <a:ea typeface="微软雅黑"/>
              <a:cs typeface="微软雅黑"/>
              <a:hlinkClick r:id="rId3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0" name="矩形 9"/>
          <p:cNvSpPr>
            <a:spLocks noGrp="1"/>
          </p:cNvSpPr>
          <p:nvPr/>
        </p:nvSpPr>
        <p:spPr>
          <a:xfrm>
            <a:off x="547073" y="2601035"/>
            <a:ext cx="3380868" cy="835742"/>
          </a:xfrm>
          <a:prstGeom prst="rect">
            <a:avLst/>
          </a:prstGeom>
          <a:solidFill>
            <a:srgbClr val="FFFFFF"/>
          </a:solidFill>
          <a:ln w="12700" cmpd="sng">
            <a:noFill/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400">
                <a:solidFill>
                  <a:srgbClr val="DDDDDD">
                    <a:lumMod val="50000"/>
                  </a:srgbClr>
                </a:solidFill>
                <a:latin typeface="微软雅黑"/>
                <a:ea typeface="微软雅黑"/>
                <a:cs typeface="微软雅黑"/>
              </a:rPr>
              <a:t>SFT监督微调</a:t>
            </a:r>
            <a:endParaRPr sz="4400">
              <a:solidFill>
                <a:srgbClr val="DDDDDD">
                  <a:lumMod val="50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í$ľidè"/>
          <p:cNvSpPr>
            <a:spLocks noGrp="1"/>
          </p:cNvSpPr>
          <p:nvPr/>
        </p:nvSpPr>
        <p:spPr>
          <a:xfrm>
            <a:off x="3956272" y="1890392"/>
            <a:ext cx="0" cy="2769071"/>
          </a:xfrm>
          <a:prstGeom prst="line">
            <a:avLst/>
          </a:prstGeom>
          <a:solidFill>
            <a:srgbClr val="FFCC00"/>
          </a:solidFill>
          <a:ln w="12700"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none" w="med" len="med"/>
          </a:ln>
        </p:spPr>
      </p:sp>
      <p:pic>
        <p:nvPicPr>
          <p:cNvPr id="21" name="图片 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37202" y="6042990"/>
            <a:ext cx="1312676" cy="348426"/>
          </a:xfrm>
          <a:prstGeom prst="rect">
            <a:avLst/>
          </a:prstGeom>
        </p:spPr>
      </p:pic>
      <p:sp>
        <p:nvSpPr>
          <p:cNvPr id="17" name="文本框 16"/>
          <p:cNvSpPr>
            <a:spLocks noGrp="1"/>
          </p:cNvSpPr>
          <p:nvPr/>
        </p:nvSpPr>
        <p:spPr>
          <a:xfrm>
            <a:off x="620201" y="6130454"/>
            <a:ext cx="8763000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chemeClr val="bg1">
                    <a:lumMod val="50000"/>
                  </a:schemeClr>
                </a:solidFill>
                <a:latin typeface="+mj-ea"/>
                <a:ea typeface="+mj-ea"/>
                <a:cs typeface="+mj-ea"/>
                <a:hlinkClick r:id="rId2"/>
              </a:rPr>
              <a:t>https://gitcode.com/cann/cann-learning-hub/tree/test/tutorials/sft_training_pipeline/01_sft_and_wordle</a:t>
            </a:r>
            <a:endParaRPr sz="1000">
              <a:solidFill>
                <a:schemeClr val="bg1">
                  <a:lumMod val="50000"/>
                </a:schemeClr>
              </a:solidFill>
              <a:latin typeface="+mj-ea"/>
              <a:ea typeface="+mj-ea"/>
              <a:cs typeface="+mj-ea"/>
              <a:hlinkClick r:id="rId2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5157694" y="1530876"/>
            <a:ext cx="4587547" cy="596075"/>
          </a:xfrm>
          <a:prstGeom prst="rect">
            <a:avLst/>
          </a:prstGeom>
          <a:solidFill>
            <a:srgbClr val="C00000"/>
          </a:solidFill>
          <a:ln w="9525" cmpd="sng">
            <a:solidFill>
              <a:srgbClr val="FFFFFF">
                <a:lumMod val="65000"/>
              </a:srgbClr>
            </a:solidFill>
            <a:prstDash val="solid"/>
          </a:ln>
        </p:spPr>
        <p:txBody>
          <a:bodyPr rot="0" spcFirstLastPara="0" vert="horz" wrap="square" lIns="91440" tIns="45720" rIns="91440" bIns="45720" anchor="ctr">
            <a:noAutofit/>
          </a:bodyPr>
          <a:lstStyle/>
          <a:p>
            <a:pPr>
              <a:buNone/>
            </a:pPr>
            <a:r>
              <a:rPr sz="240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Part 1 SFT概念与Wordle任务</a:t>
            </a:r>
            <a:endParaRPr sz="2400">
              <a:solidFill>
                <a:schemeClr val="bg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5157694" y="2680975"/>
            <a:ext cx="4587549" cy="591795"/>
          </a:xfrm>
          <a:prstGeom prst="rect">
            <a:avLst/>
          </a:prstGeom>
          <a:solidFill>
            <a:srgbClr val="FFFFFF">
              <a:lumMod val="95000"/>
            </a:srgbClr>
          </a:solidFill>
          <a:ln w="9525" cmpd="sng">
            <a:solidFill>
              <a:srgbClr val="FFFFFF">
                <a:lumMod val="65000"/>
              </a:srgbClr>
            </a:solidFill>
            <a:prstDash val="solid"/>
          </a:ln>
        </p:spPr>
        <p:txBody>
          <a:bodyPr rot="0" spcFirstLastPara="0" vert="horz" wrap="square" lIns="91440" tIns="45720" rIns="91440" bIns="45720" anchor="ctr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0" i="0" u="none" cap="none">
                <a:ln>
                  <a:noFill/>
                </a:ln>
                <a:solidFill>
                  <a:srgbClr val="FFFFFF">
                    <a:lumMod val="75000"/>
                  </a:srgbClr>
                </a:solidFill>
                <a:latin typeface="微软雅黑"/>
                <a:ea typeface="微软雅黑"/>
                <a:cs typeface="微软雅黑"/>
              </a:rPr>
              <a:t>Part 2 </a:t>
            </a:r>
            <a:r>
              <a:rPr sz="2400">
                <a:solidFill>
                  <a:srgbClr val="FFFFFF">
                    <a:lumMod val="75000"/>
                  </a:srgbClr>
                </a:solidFill>
                <a:latin typeface="微软雅黑"/>
                <a:ea typeface="微软雅黑"/>
                <a:cs typeface="微软雅黑"/>
              </a:rPr>
              <a:t>TorchTian框架概述</a:t>
            </a:r>
            <a:endParaRPr sz="2400">
              <a:solidFill>
                <a:srgbClr val="FFFFFF">
                  <a:lumMod val="75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5157694" y="3712434"/>
            <a:ext cx="4587551" cy="587513"/>
          </a:xfrm>
          <a:prstGeom prst="rect">
            <a:avLst/>
          </a:prstGeom>
          <a:solidFill>
            <a:srgbClr val="FFFFFF">
              <a:lumMod val="95000"/>
            </a:srgbClr>
          </a:solidFill>
          <a:ln w="9525" cmpd="sng">
            <a:solidFill>
              <a:srgbClr val="FFFFFF">
                <a:lumMod val="65000"/>
              </a:srgbClr>
            </a:solidFill>
            <a:prstDash val="solid"/>
          </a:ln>
        </p:spPr>
        <p:txBody>
          <a:bodyPr rot="0" spcFirstLastPara="0" vert="horz" wrap="square" lIns="91440" tIns="45720" rIns="91440" bIns="45720" anchor="ctr">
            <a:noAutofit/>
          </a:bodyPr>
          <a:lstStyle/>
          <a:p>
            <a:pPr>
              <a:buNone/>
            </a:pPr>
            <a:r>
              <a:rPr sz="2400">
                <a:solidFill>
                  <a:srgbClr val="FFFFFF">
                    <a:lumMod val="75000"/>
                  </a:srgbClr>
                </a:solidFill>
                <a:latin typeface="微软雅黑"/>
                <a:ea typeface="微软雅黑"/>
                <a:cs typeface="微软雅黑"/>
              </a:rPr>
              <a:t>Part 3 训练配置与基线训练</a:t>
            </a:r>
            <a:endParaRPr sz="2400">
              <a:solidFill>
                <a:srgbClr val="FFFFFF">
                  <a:lumMod val="75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5157694" y="4739611"/>
            <a:ext cx="4587553" cy="587513"/>
          </a:xfrm>
          <a:prstGeom prst="rect">
            <a:avLst/>
          </a:prstGeom>
          <a:solidFill>
            <a:srgbClr val="FFFFFF">
              <a:lumMod val="95000"/>
            </a:srgbClr>
          </a:solidFill>
          <a:ln w="9525" cmpd="sng">
            <a:solidFill>
              <a:srgbClr val="FFFFFF">
                <a:lumMod val="65000"/>
              </a:srgbClr>
            </a:solidFill>
            <a:prstDash val="solid"/>
          </a:ln>
        </p:spPr>
        <p:txBody>
          <a:bodyPr rot="0" spcFirstLastPara="0" vert="horz" wrap="square" lIns="91440" tIns="45720" rIns="91440" bIns="45720" anchor="ctr">
            <a:noAutofit/>
          </a:bodyPr>
          <a:lstStyle/>
          <a:p>
            <a:pPr>
              <a:buNone/>
            </a:pPr>
            <a:r>
              <a:rPr sz="2400">
                <a:solidFill>
                  <a:srgbClr val="FFFFFF">
                    <a:lumMod val="75000"/>
                  </a:srgbClr>
                </a:solidFill>
                <a:latin typeface="微软雅黑"/>
                <a:ea typeface="微软雅黑"/>
                <a:cs typeface="微软雅黑"/>
              </a:rPr>
              <a:t>Part 4 融合算子优化与Profiling</a:t>
            </a:r>
            <a:endParaRPr sz="2400">
              <a:solidFill>
                <a:srgbClr val="FFFFFF">
                  <a:lumMod val="75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56" name="图片 54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矩形 1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slide-title"/>
          <p:cNvSpPr>
            <a:spLocks noGrp="1"/>
          </p:cNvSpPr>
          <p:nvPr/>
        </p:nvSpPr>
        <p:spPr>
          <a:xfrm>
            <a:off x="609600" y="320040"/>
            <a:ext cx="937260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lnSpc>
                <a:spcPct val="108000"/>
              </a:lnSpc>
              <a:buNone/>
              <a:defRPr sz="3375" b="0">
                <a:solidFill>
                  <a:srgbClr val="111111"/>
                </a:solidFill>
                <a:latin typeface="微软雅黑"/>
                <a:ea typeface="微软雅黑"/>
                <a:cs typeface="微软雅黑"/>
              </a:defRPr>
            </a:pPr>
            <a:r>
              <a:rPr sz="2700">
                <a:solidFill>
                  <a:srgbClr val="111111"/>
                </a:solidFill>
                <a:latin typeface="微软雅黑"/>
                <a:ea typeface="微软雅黑"/>
                <a:cs typeface="微软雅黑"/>
              </a:rPr>
              <a:t>预训练</a:t>
            </a:r>
            <a:r>
              <a:rPr sz="2700">
                <a:solidFill>
                  <a:srgbClr val="111111"/>
                </a:solidFill>
                <a:latin typeface="微软雅黑"/>
                <a:ea typeface="微软雅黑"/>
                <a:cs typeface="微软雅黑"/>
              </a:rPr>
              <a:t>、</a:t>
            </a:r>
            <a:r>
              <a:rPr sz="2700">
                <a:solidFill>
                  <a:srgbClr val="111111"/>
                </a:solidFill>
                <a:latin typeface="微软雅黑"/>
                <a:ea typeface="微软雅黑"/>
                <a:cs typeface="微软雅黑"/>
              </a:rPr>
              <a:t>SFT</a:t>
            </a:r>
            <a:r>
              <a:rPr sz="2700">
                <a:solidFill>
                  <a:srgbClr val="111111"/>
                </a:solidFill>
                <a:latin typeface="微软雅黑"/>
                <a:ea typeface="微软雅黑"/>
                <a:cs typeface="微软雅黑"/>
              </a:rPr>
              <a:t>和</a:t>
            </a:r>
            <a:r>
              <a:rPr sz="2700">
                <a:solidFill>
                  <a:srgbClr val="111111"/>
                </a:solidFill>
                <a:latin typeface="微软雅黑"/>
                <a:ea typeface="微软雅黑"/>
                <a:cs typeface="微软雅黑"/>
              </a:rPr>
              <a:t>RL</a:t>
            </a:r>
            <a:r>
              <a:rPr sz="2700">
                <a:solidFill>
                  <a:srgbClr val="111111"/>
                </a:solidFill>
                <a:latin typeface="微软雅黑"/>
                <a:ea typeface="微软雅黑"/>
                <a:cs typeface="微软雅黑"/>
              </a:rPr>
              <a:t>的角色分工</a:t>
            </a:r>
            <a:endParaRPr sz="2700">
              <a:solidFill>
                <a:srgbClr val="11111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85800" y="1143000"/>
            <a:ext cx="2209800" cy="472440"/>
          </a:xfrm>
          <a:prstGeom prst="rect">
            <a:avLst/>
          </a:prstGeom>
          <a:solidFill>
            <a:srgbClr val="262626"/>
          </a:solidFill>
          <a:ln w="0">
            <a:noFill/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800100" y="1143000"/>
            <a:ext cx="198120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lnSpc>
                <a:spcPct val="108000"/>
              </a:lnSpc>
              <a:buNone/>
              <a:defRPr sz="16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32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维度</a:t>
            </a:r>
            <a:endParaRPr sz="132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2895600" y="1143000"/>
            <a:ext cx="2590800" cy="472440"/>
          </a:xfrm>
          <a:prstGeom prst="rect">
            <a:avLst/>
          </a:prstGeom>
          <a:solidFill>
            <a:srgbClr val="262626"/>
          </a:solidFill>
          <a:ln w="0">
            <a:noFill/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3009900" y="1143000"/>
            <a:ext cx="236220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650" b="1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defRPr>
            </a:pPr>
            <a:r>
              <a:rPr sz="1320" b="1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Pretraining</a:t>
            </a:r>
            <a:endParaRPr sz="1320" b="1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5486400" y="1143000"/>
            <a:ext cx="2590800" cy="472440"/>
          </a:xfrm>
          <a:prstGeom prst="rect">
            <a:avLst/>
          </a:prstGeom>
          <a:solidFill>
            <a:srgbClr val="E60012"/>
          </a:solidFill>
          <a:ln w="0">
            <a:noFill/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5600700" y="1143000"/>
            <a:ext cx="236220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650" b="1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defRPr>
            </a:pPr>
            <a:r>
              <a:rPr sz="1320" b="1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SFT</a:t>
            </a:r>
            <a:endParaRPr sz="1320" b="1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8077200" y="1143000"/>
            <a:ext cx="3200400" cy="472440"/>
          </a:xfrm>
          <a:prstGeom prst="rect">
            <a:avLst/>
          </a:prstGeom>
          <a:solidFill>
            <a:srgbClr val="262626"/>
          </a:solidFill>
          <a:ln w="0">
            <a:noFill/>
            <a:prstDash val="solid"/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8191500" y="1143000"/>
            <a:ext cx="297180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650" b="1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defRPr>
            </a:pPr>
            <a:r>
              <a:rPr sz="1320" b="1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RL</a:t>
            </a:r>
            <a:endParaRPr sz="1320" b="1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685800" y="1615440"/>
            <a:ext cx="2209800" cy="70104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792480" y="1676400"/>
            <a:ext cx="1996440" cy="5791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lnSpc>
                <a:spcPct val="108000"/>
              </a:lnSpc>
              <a:buNone/>
              <a:defRPr sz="1575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26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学什么</a:t>
            </a:r>
            <a:endParaRPr sz="126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2895600" y="1615440"/>
            <a:ext cx="2590800" cy="70104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3002280" y="1676400"/>
            <a:ext cx="2377440" cy="5791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57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26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语言规律</a:t>
            </a:r>
            <a:endParaRPr sz="126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5486400" y="1615440"/>
            <a:ext cx="2590800" cy="701040"/>
          </a:xfrm>
          <a:prstGeom prst="rect">
            <a:avLst/>
          </a:prstGeom>
          <a:solidFill>
            <a:srgbClr val="FFF1F2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5593080" y="1676400"/>
            <a:ext cx="2377440" cy="5791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57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26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格式与基本规则</a:t>
            </a:r>
            <a:endParaRPr sz="1260" b="1"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8077200" y="1615440"/>
            <a:ext cx="3200400" cy="70104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0" name="矩形 19"/>
          <p:cNvSpPr>
            <a:spLocks noGrp="1"/>
          </p:cNvSpPr>
          <p:nvPr/>
        </p:nvSpPr>
        <p:spPr>
          <a:xfrm>
            <a:off x="8183880" y="1676400"/>
            <a:ext cx="2987040" cy="5791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57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26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多轮策略</a:t>
            </a:r>
            <a:endParaRPr sz="126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685800" y="2316480"/>
            <a:ext cx="2209800" cy="7010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792480" y="2377440"/>
            <a:ext cx="1996440" cy="5791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lnSpc>
                <a:spcPct val="108000"/>
              </a:lnSpc>
              <a:buNone/>
              <a:defRPr sz="1575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26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数据</a:t>
            </a:r>
            <a:endParaRPr sz="126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2895600" y="2316480"/>
            <a:ext cx="2590800" cy="7010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3002280" y="2377440"/>
            <a:ext cx="2377440" cy="5791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57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26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大规模任意文本</a:t>
            </a:r>
            <a:endParaRPr sz="126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5486400" y="2316480"/>
            <a:ext cx="2590800" cy="701040"/>
          </a:xfrm>
          <a:prstGeom prst="rect">
            <a:avLst/>
          </a:prstGeom>
          <a:solidFill>
            <a:srgbClr val="FFF9F9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5593080" y="2377440"/>
            <a:ext cx="2377440" cy="5791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57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26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标准对话记录</a:t>
            </a:r>
            <a:endParaRPr sz="1260" b="1"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8077200" y="2316480"/>
            <a:ext cx="3200400" cy="7010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8" name="矩形 27"/>
          <p:cNvSpPr>
            <a:spLocks noGrp="1"/>
          </p:cNvSpPr>
          <p:nvPr/>
        </p:nvSpPr>
        <p:spPr>
          <a:xfrm>
            <a:off x="8183880" y="2377440"/>
            <a:ext cx="2987040" cy="5791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57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26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模型探索 + 规则打分</a:t>
            </a:r>
            <a:endParaRPr sz="126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685800" y="3017520"/>
            <a:ext cx="2209800" cy="70104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30" name="矩形 29"/>
          <p:cNvSpPr>
            <a:spLocks noGrp="1"/>
          </p:cNvSpPr>
          <p:nvPr/>
        </p:nvSpPr>
        <p:spPr>
          <a:xfrm>
            <a:off x="792480" y="3078480"/>
            <a:ext cx="1996440" cy="5791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lnSpc>
                <a:spcPct val="108000"/>
              </a:lnSpc>
              <a:buNone/>
              <a:defRPr sz="1575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26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信号</a:t>
            </a:r>
            <a:endParaRPr sz="126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1" name="矩形 30"/>
          <p:cNvSpPr>
            <a:spLocks noGrp="1"/>
          </p:cNvSpPr>
          <p:nvPr/>
        </p:nvSpPr>
        <p:spPr>
          <a:xfrm>
            <a:off x="2895600" y="3017520"/>
            <a:ext cx="2590800" cy="70104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32" name="矩形 31"/>
          <p:cNvSpPr>
            <a:spLocks noGrp="1"/>
          </p:cNvSpPr>
          <p:nvPr/>
        </p:nvSpPr>
        <p:spPr>
          <a:xfrm>
            <a:off x="3002280" y="3078480"/>
            <a:ext cx="2377440" cy="5791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57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26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正确下一个 token</a:t>
            </a:r>
            <a:endParaRPr sz="126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3" name="矩形 32"/>
          <p:cNvSpPr>
            <a:spLocks noGrp="1"/>
          </p:cNvSpPr>
          <p:nvPr/>
        </p:nvSpPr>
        <p:spPr>
          <a:xfrm>
            <a:off x="5486400" y="3017520"/>
            <a:ext cx="2590800" cy="701040"/>
          </a:xfrm>
          <a:prstGeom prst="rect">
            <a:avLst/>
          </a:prstGeom>
          <a:solidFill>
            <a:srgbClr val="FFF1F2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34" name="矩形 33"/>
          <p:cNvSpPr>
            <a:spLocks noGrp="1"/>
          </p:cNvSpPr>
          <p:nvPr/>
        </p:nvSpPr>
        <p:spPr>
          <a:xfrm>
            <a:off x="5593080" y="3078480"/>
            <a:ext cx="2377440" cy="5791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57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26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标准 assistant 回复</a:t>
            </a:r>
            <a:endParaRPr sz="1260" b="1"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5" name="矩形 34"/>
          <p:cNvSpPr>
            <a:spLocks noGrp="1"/>
          </p:cNvSpPr>
          <p:nvPr/>
        </p:nvSpPr>
        <p:spPr>
          <a:xfrm>
            <a:off x="8077200" y="3017520"/>
            <a:ext cx="3200400" cy="70104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36" name="矩形 35"/>
          <p:cNvSpPr>
            <a:spLocks noGrp="1"/>
          </p:cNvSpPr>
          <p:nvPr/>
        </p:nvSpPr>
        <p:spPr>
          <a:xfrm>
            <a:off x="8183880" y="3078480"/>
            <a:ext cx="2987040" cy="5791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57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26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奖励分数</a:t>
            </a:r>
            <a:endParaRPr sz="126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7" name="矩形 36"/>
          <p:cNvSpPr>
            <a:spLocks noGrp="1"/>
          </p:cNvSpPr>
          <p:nvPr/>
        </p:nvSpPr>
        <p:spPr>
          <a:xfrm>
            <a:off x="685800" y="3718560"/>
            <a:ext cx="2209800" cy="7010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38" name="矩形 37"/>
          <p:cNvSpPr>
            <a:spLocks noGrp="1"/>
          </p:cNvSpPr>
          <p:nvPr/>
        </p:nvSpPr>
        <p:spPr>
          <a:xfrm>
            <a:off x="792480" y="3779520"/>
            <a:ext cx="1996440" cy="5791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lnSpc>
                <a:spcPct val="108000"/>
              </a:lnSpc>
              <a:buNone/>
              <a:defRPr sz="1575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26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Wordle 目标</a:t>
            </a:r>
            <a:endParaRPr sz="126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9" name="矩形 38"/>
          <p:cNvSpPr>
            <a:spLocks noGrp="1"/>
          </p:cNvSpPr>
          <p:nvPr/>
        </p:nvSpPr>
        <p:spPr>
          <a:xfrm>
            <a:off x="2895600" y="3718560"/>
            <a:ext cx="2590800" cy="7010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40" name="矩形 39"/>
          <p:cNvSpPr>
            <a:spLocks noGrp="1"/>
          </p:cNvSpPr>
          <p:nvPr/>
        </p:nvSpPr>
        <p:spPr>
          <a:xfrm>
            <a:off x="3002280" y="3779520"/>
            <a:ext cx="2377440" cy="5791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57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26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具备语言能力</a:t>
            </a:r>
            <a:endParaRPr sz="126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1" name="矩形 40"/>
          <p:cNvSpPr>
            <a:spLocks noGrp="1"/>
          </p:cNvSpPr>
          <p:nvPr/>
        </p:nvSpPr>
        <p:spPr>
          <a:xfrm>
            <a:off x="5486400" y="3718560"/>
            <a:ext cx="2590800" cy="701040"/>
          </a:xfrm>
          <a:prstGeom prst="rect">
            <a:avLst/>
          </a:prstGeom>
          <a:solidFill>
            <a:srgbClr val="FFF9F9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42" name="矩形 41"/>
          <p:cNvSpPr>
            <a:spLocks noGrp="1"/>
          </p:cNvSpPr>
          <p:nvPr/>
        </p:nvSpPr>
        <p:spPr>
          <a:xfrm>
            <a:off x="5593080" y="3779520"/>
            <a:ext cx="2377440" cy="5791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57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26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动作可解析、可评测</a:t>
            </a:r>
            <a:endParaRPr sz="1260" b="1"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3" name="矩形 42"/>
          <p:cNvSpPr>
            <a:spLocks noGrp="1"/>
          </p:cNvSpPr>
          <p:nvPr/>
        </p:nvSpPr>
        <p:spPr>
          <a:xfrm>
            <a:off x="8077200" y="3718560"/>
            <a:ext cx="3200400" cy="7010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44" name="矩形 43"/>
          <p:cNvSpPr>
            <a:spLocks noGrp="1"/>
          </p:cNvSpPr>
          <p:nvPr/>
        </p:nvSpPr>
        <p:spPr>
          <a:xfrm>
            <a:off x="8183880" y="3779520"/>
            <a:ext cx="2987040" cy="5791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57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26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更高猜中率、更少轮数</a:t>
            </a:r>
            <a:endParaRPr sz="126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5" name="矩形 44"/>
          <p:cNvSpPr>
            <a:spLocks noGrp="1"/>
          </p:cNvSpPr>
          <p:nvPr/>
        </p:nvSpPr>
        <p:spPr>
          <a:xfrm>
            <a:off x="685800" y="4419600"/>
            <a:ext cx="2209800" cy="70104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46" name="矩形 45"/>
          <p:cNvSpPr>
            <a:spLocks noGrp="1"/>
          </p:cNvSpPr>
          <p:nvPr/>
        </p:nvSpPr>
        <p:spPr>
          <a:xfrm>
            <a:off x="792480" y="4480560"/>
            <a:ext cx="1996440" cy="5791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lnSpc>
                <a:spcPct val="108000"/>
              </a:lnSpc>
              <a:buNone/>
              <a:defRPr sz="1575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26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主要指标</a:t>
            </a:r>
            <a:endParaRPr sz="126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7" name="矩形 46"/>
          <p:cNvSpPr>
            <a:spLocks noGrp="1"/>
          </p:cNvSpPr>
          <p:nvPr/>
        </p:nvSpPr>
        <p:spPr>
          <a:xfrm>
            <a:off x="2895600" y="4419600"/>
            <a:ext cx="2590800" cy="70104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48" name="矩形 47"/>
          <p:cNvSpPr>
            <a:spLocks noGrp="1"/>
          </p:cNvSpPr>
          <p:nvPr/>
        </p:nvSpPr>
        <p:spPr>
          <a:xfrm>
            <a:off x="3002280" y="4480560"/>
            <a:ext cx="2377440" cy="5791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57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26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语言建模 Loss</a:t>
            </a:r>
            <a:endParaRPr sz="126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9" name="矩形 48"/>
          <p:cNvSpPr>
            <a:spLocks noGrp="1"/>
          </p:cNvSpPr>
          <p:nvPr/>
        </p:nvSpPr>
        <p:spPr>
          <a:xfrm>
            <a:off x="5486400" y="4419600"/>
            <a:ext cx="2590800" cy="701040"/>
          </a:xfrm>
          <a:prstGeom prst="rect">
            <a:avLst/>
          </a:prstGeom>
          <a:solidFill>
            <a:srgbClr val="FFF1F2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50" name="矩形 49"/>
          <p:cNvSpPr>
            <a:spLocks noGrp="1"/>
          </p:cNvSpPr>
          <p:nvPr/>
        </p:nvSpPr>
        <p:spPr>
          <a:xfrm>
            <a:off x="5593080" y="4480560"/>
            <a:ext cx="2377440" cy="5791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575" b="1">
                <a:solidFill>
                  <a:srgbClr val="E60012"/>
                </a:solidFill>
                <a:latin typeface="Consolas"/>
                <a:ea typeface="Consolas"/>
                <a:cs typeface="Consolas"/>
              </a:defRPr>
            </a:pPr>
            <a:r>
              <a:rPr sz="1260" b="1">
                <a:solidFill>
                  <a:srgbClr val="E60012"/>
                </a:solidFill>
                <a:latin typeface="Consolas"/>
                <a:ea typeface="Consolas"/>
                <a:cs typeface="Consolas"/>
              </a:rPr>
              <a:t>format_reward</a:t>
            </a:r>
            <a:endParaRPr sz="1260" b="1">
              <a:solidFill>
                <a:srgbClr val="E6001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51" name="矩形 50"/>
          <p:cNvSpPr>
            <a:spLocks noGrp="1"/>
          </p:cNvSpPr>
          <p:nvPr/>
        </p:nvSpPr>
        <p:spPr>
          <a:xfrm>
            <a:off x="8077200" y="4419600"/>
            <a:ext cx="3200400" cy="70104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52" name="矩形 51"/>
          <p:cNvSpPr>
            <a:spLocks noGrp="1"/>
          </p:cNvSpPr>
          <p:nvPr/>
        </p:nvSpPr>
        <p:spPr>
          <a:xfrm>
            <a:off x="8183880" y="4480560"/>
            <a:ext cx="2987040" cy="5791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575" b="0">
                <a:solidFill>
                  <a:srgbClr val="525252"/>
                </a:solidFill>
                <a:latin typeface="Consolas"/>
                <a:ea typeface="Consolas"/>
                <a:cs typeface="Consolas"/>
              </a:defRPr>
            </a:pPr>
            <a:r>
              <a:rPr sz="1260">
                <a:solidFill>
                  <a:srgbClr val="525252"/>
                </a:solidFill>
                <a:latin typeface="Consolas"/>
                <a:ea typeface="Consolas"/>
                <a:cs typeface="Consolas"/>
              </a:rPr>
              <a:t>correct / partial / length</a:t>
            </a:r>
            <a:endParaRPr sz="1260">
              <a:solidFill>
                <a:srgbClr val="52525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53" name="矩形: 圆角 52"/>
          <p:cNvSpPr>
            <a:spLocks noGrp="1"/>
          </p:cNvSpPr>
          <p:nvPr/>
        </p:nvSpPr>
        <p:spPr>
          <a:xfrm>
            <a:off x="685800" y="5334000"/>
            <a:ext cx="10591800" cy="472440"/>
          </a:xfrm>
          <a:prstGeom prst="roundRect">
            <a:avLst>
              <a:gd name="adj" fmla="val 9677"/>
            </a:avLst>
          </a:prstGeom>
          <a:solidFill>
            <a:srgbClr val="FFF1F2"/>
          </a:solidFill>
          <a:ln w="9525">
            <a:solidFill>
              <a:srgbClr val="E60012"/>
            </a:solidFill>
            <a:prstDash val="solid"/>
          </a:ln>
        </p:spPr>
      </p:sp>
      <p:sp>
        <p:nvSpPr>
          <p:cNvPr id="54" name="矩形 53"/>
          <p:cNvSpPr>
            <a:spLocks noGrp="1"/>
          </p:cNvSpPr>
          <p:nvPr/>
        </p:nvSpPr>
        <p:spPr>
          <a:xfrm>
            <a:off x="952500" y="5334000"/>
            <a:ext cx="1005840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217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74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预训练提供能力，SFT</a:t>
            </a:r>
            <a:r>
              <a:rPr sz="174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4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对齐行为，RL</a:t>
            </a:r>
            <a:r>
              <a:rPr sz="174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4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优化决策</a:t>
            </a:r>
            <a:r>
              <a:rPr sz="174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。</a:t>
            </a:r>
            <a:endParaRPr sz="1740" b="1"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71" name="图片 69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矩形 1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slide-title"/>
          <p:cNvSpPr>
            <a:spLocks noGrp="1"/>
          </p:cNvSpPr>
          <p:nvPr/>
        </p:nvSpPr>
        <p:spPr>
          <a:xfrm>
            <a:off x="609600" y="320040"/>
            <a:ext cx="937260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lnSpc>
                <a:spcPct val="108000"/>
              </a:lnSpc>
              <a:buNone/>
              <a:defRPr sz="3375" b="0">
                <a:solidFill>
                  <a:srgbClr val="111111"/>
                </a:solidFill>
                <a:latin typeface="微软雅黑"/>
                <a:ea typeface="微软雅黑"/>
                <a:cs typeface="微软雅黑"/>
              </a:defRPr>
            </a:pPr>
            <a:r>
              <a:rPr sz="2700">
                <a:solidFill>
                  <a:srgbClr val="111111"/>
                </a:solidFill>
                <a:latin typeface="微软雅黑"/>
                <a:ea typeface="微软雅黑"/>
                <a:cs typeface="微软雅黑"/>
              </a:rPr>
              <a:t>Wordle 任务介绍</a:t>
            </a:r>
            <a:endParaRPr sz="2700">
              <a:solidFill>
                <a:srgbClr val="11111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85800" y="1181100"/>
            <a:ext cx="19812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lnSpc>
                <a:spcPct val="108000"/>
              </a:lnSpc>
              <a:buNone/>
              <a:defRPr sz="225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游戏规则</a:t>
            </a:r>
            <a:endParaRPr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685800" y="1600200"/>
            <a:ext cx="358140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lnSpc>
                <a:spcPct val="120000"/>
              </a:lnSpc>
              <a:buNone/>
              <a:defRPr sz="15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6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Wordle 是一个经典的英文猜词游戏，</a:t>
            </a:r>
            <a:endParaRPr sz="1260"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20000"/>
              </a:lnSpc>
              <a:buNone/>
              <a:defRPr sz="15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6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规则简单但富有策略深度。</a:t>
            </a:r>
            <a:endParaRPr sz="1260"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685800" y="2286000"/>
            <a:ext cx="7620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lnSpc>
                <a:spcPct val="108000"/>
              </a:lnSpc>
              <a:buNone/>
              <a:defRPr sz="172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38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目标</a:t>
            </a:r>
            <a:endParaRPr sz="1380" b="1"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1409700" y="2286000"/>
            <a:ext cx="27432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lnSpc>
                <a:spcPct val="108000"/>
              </a:lnSpc>
              <a:buNone/>
              <a:defRPr sz="157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26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猜出一个隐藏的 5 字母英文单词。</a:t>
            </a:r>
            <a:endParaRPr sz="126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685800" y="2705100"/>
            <a:ext cx="9144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lnSpc>
                <a:spcPct val="108000"/>
              </a:lnSpc>
              <a:buNone/>
              <a:defRPr sz="172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38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回合限制</a:t>
            </a:r>
            <a:endParaRPr sz="1380" b="1"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1638300" y="2705100"/>
            <a:ext cx="22860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lnSpc>
                <a:spcPct val="108000"/>
              </a:lnSpc>
              <a:buNone/>
              <a:defRPr sz="157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26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最多猜 6 轮。</a:t>
            </a:r>
            <a:endParaRPr sz="126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685800" y="3124200"/>
            <a:ext cx="9144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lnSpc>
                <a:spcPct val="108000"/>
              </a:lnSpc>
              <a:buNone/>
              <a:defRPr sz="172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38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反馈机制</a:t>
            </a:r>
            <a:endParaRPr sz="1380" b="1"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1638300" y="3093720"/>
            <a:ext cx="259080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lnSpc>
                <a:spcPct val="118000"/>
              </a:lnSpc>
              <a:buNone/>
              <a:defRPr sz="1500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20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每轮猜词后，系统对每个字母位置给出三种反馈：</a:t>
            </a:r>
            <a:endParaRPr sz="120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723900" y="3771900"/>
            <a:ext cx="441960" cy="441960"/>
          </a:xfrm>
          <a:prstGeom prst="rect">
            <a:avLst/>
          </a:prstGeom>
          <a:solidFill>
            <a:srgbClr val="6AAA64"/>
          </a:solidFill>
          <a:ln w="9525">
            <a:solidFill>
              <a:srgbClr val="6AAA64"/>
            </a:solidFill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723900" y="3771900"/>
            <a:ext cx="441960" cy="4419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defRPr>
            </a:pPr>
            <a:r>
              <a:rPr sz="1560" b="1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G</a:t>
            </a:r>
            <a:endParaRPr sz="1560" b="1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1371600" y="3771900"/>
            <a:ext cx="1600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lnSpc>
                <a:spcPct val="108000"/>
              </a:lnSpc>
              <a:buNone/>
              <a:defRPr sz="15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26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Green（绿色）</a:t>
            </a:r>
            <a:endParaRPr sz="126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1371600" y="4015740"/>
            <a:ext cx="2590800" cy="213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lnSpc>
                <a:spcPct val="108000"/>
              </a:lnSpc>
              <a:buNone/>
              <a:defRPr sz="142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14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字母正确，位置正确</a:t>
            </a:r>
            <a:endParaRPr sz="1140"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723900" y="4366260"/>
            <a:ext cx="441960" cy="441960"/>
          </a:xfrm>
          <a:prstGeom prst="rect">
            <a:avLst/>
          </a:prstGeom>
          <a:solidFill>
            <a:srgbClr val="C9B458"/>
          </a:solidFill>
          <a:ln w="9525">
            <a:solidFill>
              <a:srgbClr val="C9B458"/>
            </a:solidFill>
            <a:prstDash val="solid"/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723900" y="4366260"/>
            <a:ext cx="441960" cy="4419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defRPr>
            </a:pPr>
            <a:r>
              <a:rPr sz="1560" b="1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Y</a:t>
            </a:r>
            <a:endParaRPr sz="1560" b="1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1371600" y="4366260"/>
            <a:ext cx="1600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lnSpc>
                <a:spcPct val="108000"/>
              </a:lnSpc>
              <a:buNone/>
              <a:defRPr sz="15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26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Yellow（黄色）</a:t>
            </a:r>
            <a:endParaRPr sz="126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1371600" y="4610100"/>
            <a:ext cx="2590800" cy="213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lnSpc>
                <a:spcPct val="108000"/>
              </a:lnSpc>
              <a:buNone/>
              <a:defRPr sz="142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14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字母正确，但位置不对</a:t>
            </a:r>
            <a:endParaRPr sz="1140"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723900" y="4960620"/>
            <a:ext cx="441960" cy="441960"/>
          </a:xfrm>
          <a:prstGeom prst="rect">
            <a:avLst/>
          </a:prstGeom>
          <a:solidFill>
            <a:srgbClr val="787C7E"/>
          </a:solidFill>
          <a:ln w="9525">
            <a:solidFill>
              <a:srgbClr val="787C7E"/>
            </a:solidFill>
            <a:prstDash val="solid"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723900" y="4960620"/>
            <a:ext cx="441960" cy="4419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defRPr>
            </a:pPr>
            <a:r>
              <a:rPr sz="1560" b="1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X</a:t>
            </a:r>
            <a:endParaRPr sz="1560" b="1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1371600" y="4960620"/>
            <a:ext cx="1600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lnSpc>
                <a:spcPct val="108000"/>
              </a:lnSpc>
              <a:buNone/>
              <a:defRPr sz="15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26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Gray（灰色）</a:t>
            </a:r>
            <a:endParaRPr sz="126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1371600" y="5204460"/>
            <a:ext cx="2590800" cy="213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lnSpc>
                <a:spcPct val="108000"/>
              </a:lnSpc>
              <a:buNone/>
              <a:defRPr sz="142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14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字母不在目标单词中</a:t>
            </a:r>
            <a:endParaRPr sz="1140"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4648200" y="1104900"/>
            <a:ext cx="15240" cy="4229100"/>
          </a:xfrm>
          <a:prstGeom prst="rect">
            <a:avLst/>
          </a:prstGeom>
          <a:solidFill>
            <a:srgbClr val="E5E5E5"/>
          </a:solidFill>
          <a:ln w="0">
            <a:noFill/>
            <a:prstDash val="solid"/>
          </a:ln>
        </p:spPr>
      </p:sp>
      <p:sp>
        <p:nvSpPr>
          <p:cNvPr id="26" name="矩形: 圆角 25"/>
          <p:cNvSpPr>
            <a:spLocks noGrp="1"/>
          </p:cNvSpPr>
          <p:nvPr/>
        </p:nvSpPr>
        <p:spPr>
          <a:xfrm>
            <a:off x="5219700" y="1143000"/>
            <a:ext cx="1981200" cy="304800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0">
            <a:noFill/>
            <a:prstDash val="solid"/>
          </a:ln>
        </p:spPr>
      </p:sp>
      <p:sp>
        <p:nvSpPr>
          <p:cNvPr id="27" name="矩形 26"/>
          <p:cNvSpPr>
            <a:spLocks noGrp="1"/>
          </p:cNvSpPr>
          <p:nvPr/>
        </p:nvSpPr>
        <p:spPr>
          <a:xfrm>
            <a:off x="5280660" y="1143000"/>
            <a:ext cx="185928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示例目标：SMILE</a:t>
            </a:r>
            <a:endParaRPr sz="108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5219700" y="1874520"/>
            <a:ext cx="8382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lnSpc>
                <a:spcPct val="108000"/>
              </a:lnSpc>
              <a:buNone/>
              <a:defRPr sz="1575" b="1">
                <a:solidFill>
                  <a:srgbClr val="888888"/>
                </a:solidFill>
                <a:latin typeface="微软雅黑"/>
                <a:ea typeface="微软雅黑"/>
                <a:cs typeface="微软雅黑"/>
              </a:defRPr>
            </a:pPr>
            <a:r>
              <a:rPr sz="1260" b="1">
                <a:solidFill>
                  <a:srgbClr val="888888"/>
                </a:solidFill>
                <a:latin typeface="微软雅黑"/>
                <a:ea typeface="微软雅黑"/>
                <a:cs typeface="微软雅黑"/>
              </a:rPr>
              <a:t>第 1 轮</a:t>
            </a:r>
            <a:endParaRPr sz="1260" b="1">
              <a:solidFill>
                <a:srgbClr val="88888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6210300" y="1790700"/>
            <a:ext cx="518160" cy="518160"/>
          </a:xfrm>
          <a:prstGeom prst="rect">
            <a:avLst/>
          </a:prstGeom>
          <a:solidFill>
            <a:srgbClr val="787C7E"/>
          </a:solidFill>
          <a:ln w="9525">
            <a:solidFill>
              <a:srgbClr val="787C7E"/>
            </a:solidFill>
            <a:prstDash val="solid"/>
          </a:ln>
        </p:spPr>
      </p:sp>
      <p:sp>
        <p:nvSpPr>
          <p:cNvPr id="30" name="矩形 29"/>
          <p:cNvSpPr>
            <a:spLocks noGrp="1"/>
          </p:cNvSpPr>
          <p:nvPr/>
        </p:nvSpPr>
        <p:spPr>
          <a:xfrm>
            <a:off x="6210300" y="1790700"/>
            <a:ext cx="518160" cy="5181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2250" b="1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defRPr>
            </a:pPr>
            <a:r>
              <a:rPr b="1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C</a:t>
            </a:r>
            <a:endParaRPr b="1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31" name="矩形 30"/>
          <p:cNvSpPr>
            <a:spLocks noGrp="1"/>
          </p:cNvSpPr>
          <p:nvPr/>
        </p:nvSpPr>
        <p:spPr>
          <a:xfrm>
            <a:off x="6789420" y="1790700"/>
            <a:ext cx="518160" cy="518160"/>
          </a:xfrm>
          <a:prstGeom prst="rect">
            <a:avLst/>
          </a:prstGeom>
          <a:solidFill>
            <a:srgbClr val="787C7E"/>
          </a:solidFill>
          <a:ln w="9525">
            <a:solidFill>
              <a:srgbClr val="787C7E"/>
            </a:solidFill>
            <a:prstDash val="solid"/>
          </a:ln>
        </p:spPr>
      </p:sp>
      <p:sp>
        <p:nvSpPr>
          <p:cNvPr id="32" name="矩形 31"/>
          <p:cNvSpPr>
            <a:spLocks noGrp="1"/>
          </p:cNvSpPr>
          <p:nvPr/>
        </p:nvSpPr>
        <p:spPr>
          <a:xfrm>
            <a:off x="6789420" y="1790700"/>
            <a:ext cx="518160" cy="5181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2250" b="1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defRPr>
            </a:pPr>
            <a:r>
              <a:rPr b="1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R</a:t>
            </a:r>
            <a:endParaRPr b="1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33" name="矩形 32"/>
          <p:cNvSpPr>
            <a:spLocks noGrp="1"/>
          </p:cNvSpPr>
          <p:nvPr/>
        </p:nvSpPr>
        <p:spPr>
          <a:xfrm>
            <a:off x="7368540" y="1790700"/>
            <a:ext cx="518160" cy="518160"/>
          </a:xfrm>
          <a:prstGeom prst="rect">
            <a:avLst/>
          </a:prstGeom>
          <a:solidFill>
            <a:srgbClr val="787C7E"/>
          </a:solidFill>
          <a:ln w="9525">
            <a:solidFill>
              <a:srgbClr val="787C7E"/>
            </a:solidFill>
            <a:prstDash val="solid"/>
          </a:ln>
        </p:spPr>
      </p:sp>
      <p:sp>
        <p:nvSpPr>
          <p:cNvPr id="34" name="矩形 33"/>
          <p:cNvSpPr>
            <a:spLocks noGrp="1"/>
          </p:cNvSpPr>
          <p:nvPr/>
        </p:nvSpPr>
        <p:spPr>
          <a:xfrm>
            <a:off x="7368540" y="1790700"/>
            <a:ext cx="518160" cy="5181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2250" b="1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defRPr>
            </a:pPr>
            <a:r>
              <a:rPr b="1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A</a:t>
            </a:r>
            <a:endParaRPr b="1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35" name="矩形 34"/>
          <p:cNvSpPr>
            <a:spLocks noGrp="1"/>
          </p:cNvSpPr>
          <p:nvPr/>
        </p:nvSpPr>
        <p:spPr>
          <a:xfrm>
            <a:off x="7947660" y="1790700"/>
            <a:ext cx="518160" cy="518160"/>
          </a:xfrm>
          <a:prstGeom prst="rect">
            <a:avLst/>
          </a:prstGeom>
          <a:solidFill>
            <a:srgbClr val="787C7E"/>
          </a:solidFill>
          <a:ln w="9525">
            <a:solidFill>
              <a:srgbClr val="787C7E"/>
            </a:solidFill>
            <a:prstDash val="solid"/>
          </a:ln>
        </p:spPr>
      </p:sp>
      <p:sp>
        <p:nvSpPr>
          <p:cNvPr id="36" name="矩形 35"/>
          <p:cNvSpPr>
            <a:spLocks noGrp="1"/>
          </p:cNvSpPr>
          <p:nvPr/>
        </p:nvSpPr>
        <p:spPr>
          <a:xfrm>
            <a:off x="7947660" y="1790700"/>
            <a:ext cx="518160" cy="5181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2250" b="1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defRPr>
            </a:pPr>
            <a:r>
              <a:rPr b="1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N</a:t>
            </a:r>
            <a:endParaRPr b="1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37" name="矩形 36"/>
          <p:cNvSpPr>
            <a:spLocks noGrp="1"/>
          </p:cNvSpPr>
          <p:nvPr/>
        </p:nvSpPr>
        <p:spPr>
          <a:xfrm>
            <a:off x="8526780" y="1790700"/>
            <a:ext cx="518160" cy="518160"/>
          </a:xfrm>
          <a:prstGeom prst="rect">
            <a:avLst/>
          </a:prstGeom>
          <a:solidFill>
            <a:srgbClr val="6AAA64"/>
          </a:solidFill>
          <a:ln w="9525">
            <a:solidFill>
              <a:srgbClr val="6AAA64"/>
            </a:solidFill>
            <a:prstDash val="solid"/>
          </a:ln>
        </p:spPr>
      </p:sp>
      <p:sp>
        <p:nvSpPr>
          <p:cNvPr id="38" name="矩形 37"/>
          <p:cNvSpPr>
            <a:spLocks noGrp="1"/>
          </p:cNvSpPr>
          <p:nvPr/>
        </p:nvSpPr>
        <p:spPr>
          <a:xfrm>
            <a:off x="8526780" y="1790700"/>
            <a:ext cx="518160" cy="5181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2250" b="1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defRPr>
            </a:pPr>
            <a:r>
              <a:rPr b="1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E</a:t>
            </a:r>
            <a:endParaRPr b="1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39" name="矩形 38"/>
          <p:cNvSpPr>
            <a:spLocks noGrp="1"/>
          </p:cNvSpPr>
          <p:nvPr/>
        </p:nvSpPr>
        <p:spPr>
          <a:xfrm>
            <a:off x="9029700" y="1851660"/>
            <a:ext cx="4572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255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204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→</a:t>
            </a:r>
            <a:endParaRPr sz="2040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0" name="矩形 39"/>
          <p:cNvSpPr>
            <a:spLocks noGrp="1"/>
          </p:cNvSpPr>
          <p:nvPr/>
        </p:nvSpPr>
        <p:spPr>
          <a:xfrm>
            <a:off x="9601200" y="1805940"/>
            <a:ext cx="1752600" cy="4876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lnSpc>
                <a:spcPct val="108000"/>
              </a:lnSpc>
              <a:buNone/>
              <a:defRPr sz="157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26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排除 C/R/A/N，锁定 E</a:t>
            </a:r>
            <a:endParaRPr sz="126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1" name="矩形 40"/>
          <p:cNvSpPr>
            <a:spLocks noGrp="1"/>
          </p:cNvSpPr>
          <p:nvPr/>
        </p:nvSpPr>
        <p:spPr>
          <a:xfrm>
            <a:off x="5219700" y="2567940"/>
            <a:ext cx="6134100" cy="7620"/>
          </a:xfrm>
          <a:prstGeom prst="rect">
            <a:avLst/>
          </a:prstGeom>
          <a:solidFill>
            <a:srgbClr val="E5E5E5"/>
          </a:solidFill>
          <a:ln w="0">
            <a:noFill/>
            <a:prstDash val="solid"/>
          </a:ln>
        </p:spPr>
      </p:sp>
      <p:sp>
        <p:nvSpPr>
          <p:cNvPr id="42" name="矩形 41"/>
          <p:cNvSpPr>
            <a:spLocks noGrp="1"/>
          </p:cNvSpPr>
          <p:nvPr/>
        </p:nvSpPr>
        <p:spPr>
          <a:xfrm>
            <a:off x="5219700" y="3055620"/>
            <a:ext cx="8382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lnSpc>
                <a:spcPct val="108000"/>
              </a:lnSpc>
              <a:buNone/>
              <a:defRPr sz="1575" b="1">
                <a:solidFill>
                  <a:srgbClr val="888888"/>
                </a:solidFill>
                <a:latin typeface="微软雅黑"/>
                <a:ea typeface="微软雅黑"/>
                <a:cs typeface="微软雅黑"/>
              </a:defRPr>
            </a:pPr>
            <a:r>
              <a:rPr sz="1260" b="1">
                <a:solidFill>
                  <a:srgbClr val="888888"/>
                </a:solidFill>
                <a:latin typeface="微软雅黑"/>
                <a:ea typeface="微软雅黑"/>
                <a:cs typeface="微软雅黑"/>
              </a:rPr>
              <a:t>第 2 轮</a:t>
            </a:r>
            <a:endParaRPr sz="1260" b="1">
              <a:solidFill>
                <a:srgbClr val="88888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3" name="矩形 42"/>
          <p:cNvSpPr>
            <a:spLocks noGrp="1"/>
          </p:cNvSpPr>
          <p:nvPr/>
        </p:nvSpPr>
        <p:spPr>
          <a:xfrm>
            <a:off x="6210300" y="2971800"/>
            <a:ext cx="518160" cy="518160"/>
          </a:xfrm>
          <a:prstGeom prst="rect">
            <a:avLst/>
          </a:prstGeom>
          <a:solidFill>
            <a:srgbClr val="6AAA64"/>
          </a:solidFill>
          <a:ln w="9525">
            <a:solidFill>
              <a:srgbClr val="6AAA64"/>
            </a:solidFill>
            <a:prstDash val="solid"/>
          </a:ln>
        </p:spPr>
      </p:sp>
      <p:sp>
        <p:nvSpPr>
          <p:cNvPr id="44" name="矩形 43"/>
          <p:cNvSpPr>
            <a:spLocks noGrp="1"/>
          </p:cNvSpPr>
          <p:nvPr/>
        </p:nvSpPr>
        <p:spPr>
          <a:xfrm>
            <a:off x="6210300" y="2971800"/>
            <a:ext cx="518160" cy="5181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2250" b="1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defRPr>
            </a:pPr>
            <a:r>
              <a:rPr b="1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S</a:t>
            </a:r>
            <a:endParaRPr b="1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45" name="矩形 44"/>
          <p:cNvSpPr>
            <a:spLocks noGrp="1"/>
          </p:cNvSpPr>
          <p:nvPr/>
        </p:nvSpPr>
        <p:spPr>
          <a:xfrm>
            <a:off x="6789420" y="2971800"/>
            <a:ext cx="518160" cy="518160"/>
          </a:xfrm>
          <a:prstGeom prst="rect">
            <a:avLst/>
          </a:prstGeom>
          <a:solidFill>
            <a:srgbClr val="C9B458"/>
          </a:solidFill>
          <a:ln w="9525">
            <a:solidFill>
              <a:srgbClr val="C9B458"/>
            </a:solidFill>
            <a:prstDash val="solid"/>
          </a:ln>
        </p:spPr>
      </p:sp>
      <p:sp>
        <p:nvSpPr>
          <p:cNvPr id="46" name="矩形 45"/>
          <p:cNvSpPr>
            <a:spLocks noGrp="1"/>
          </p:cNvSpPr>
          <p:nvPr/>
        </p:nvSpPr>
        <p:spPr>
          <a:xfrm>
            <a:off x="6789420" y="2971800"/>
            <a:ext cx="518160" cy="5181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2250" b="1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defRPr>
            </a:pPr>
            <a:r>
              <a:rPr b="1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L</a:t>
            </a:r>
            <a:endParaRPr b="1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47" name="矩形 46"/>
          <p:cNvSpPr>
            <a:spLocks noGrp="1"/>
          </p:cNvSpPr>
          <p:nvPr/>
        </p:nvSpPr>
        <p:spPr>
          <a:xfrm>
            <a:off x="7368540" y="2971800"/>
            <a:ext cx="518160" cy="518160"/>
          </a:xfrm>
          <a:prstGeom prst="rect">
            <a:avLst/>
          </a:prstGeom>
          <a:solidFill>
            <a:srgbClr val="787C7E"/>
          </a:solidFill>
          <a:ln w="9525">
            <a:solidFill>
              <a:srgbClr val="787C7E"/>
            </a:solidFill>
            <a:prstDash val="solid"/>
          </a:ln>
        </p:spPr>
      </p:sp>
      <p:sp>
        <p:nvSpPr>
          <p:cNvPr id="48" name="矩形 47"/>
          <p:cNvSpPr>
            <a:spLocks noGrp="1"/>
          </p:cNvSpPr>
          <p:nvPr/>
        </p:nvSpPr>
        <p:spPr>
          <a:xfrm>
            <a:off x="7368540" y="2971800"/>
            <a:ext cx="518160" cy="5181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2250" b="1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defRPr>
            </a:pPr>
            <a:r>
              <a:rPr b="1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A</a:t>
            </a:r>
            <a:endParaRPr b="1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49" name="矩形 48"/>
          <p:cNvSpPr>
            <a:spLocks noGrp="1"/>
          </p:cNvSpPr>
          <p:nvPr/>
        </p:nvSpPr>
        <p:spPr>
          <a:xfrm>
            <a:off x="7947660" y="2971800"/>
            <a:ext cx="518160" cy="518160"/>
          </a:xfrm>
          <a:prstGeom prst="rect">
            <a:avLst/>
          </a:prstGeom>
          <a:solidFill>
            <a:srgbClr val="787C7E"/>
          </a:solidFill>
          <a:ln w="9525">
            <a:solidFill>
              <a:srgbClr val="787C7E"/>
            </a:solidFill>
            <a:prstDash val="solid"/>
          </a:ln>
        </p:spPr>
      </p:sp>
      <p:sp>
        <p:nvSpPr>
          <p:cNvPr id="50" name="矩形 49"/>
          <p:cNvSpPr>
            <a:spLocks noGrp="1"/>
          </p:cNvSpPr>
          <p:nvPr/>
        </p:nvSpPr>
        <p:spPr>
          <a:xfrm>
            <a:off x="7947660" y="2971800"/>
            <a:ext cx="518160" cy="5181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2250" b="1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defRPr>
            </a:pPr>
            <a:r>
              <a:rPr b="1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T</a:t>
            </a:r>
            <a:endParaRPr b="1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51" name="矩形 50"/>
          <p:cNvSpPr>
            <a:spLocks noGrp="1"/>
          </p:cNvSpPr>
          <p:nvPr/>
        </p:nvSpPr>
        <p:spPr>
          <a:xfrm>
            <a:off x="8526780" y="2971800"/>
            <a:ext cx="518160" cy="518160"/>
          </a:xfrm>
          <a:prstGeom prst="rect">
            <a:avLst/>
          </a:prstGeom>
          <a:solidFill>
            <a:srgbClr val="6AAA64"/>
          </a:solidFill>
          <a:ln w="9525">
            <a:solidFill>
              <a:srgbClr val="6AAA64"/>
            </a:solidFill>
            <a:prstDash val="solid"/>
          </a:ln>
        </p:spPr>
      </p:sp>
      <p:sp>
        <p:nvSpPr>
          <p:cNvPr id="52" name="矩形 51"/>
          <p:cNvSpPr>
            <a:spLocks noGrp="1"/>
          </p:cNvSpPr>
          <p:nvPr/>
        </p:nvSpPr>
        <p:spPr>
          <a:xfrm>
            <a:off x="8526780" y="2971800"/>
            <a:ext cx="518160" cy="5181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2250" b="1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defRPr>
            </a:pPr>
            <a:r>
              <a:rPr b="1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E</a:t>
            </a:r>
            <a:endParaRPr b="1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53" name="矩形 52"/>
          <p:cNvSpPr>
            <a:spLocks noGrp="1"/>
          </p:cNvSpPr>
          <p:nvPr/>
        </p:nvSpPr>
        <p:spPr>
          <a:xfrm>
            <a:off x="9029700" y="3032760"/>
            <a:ext cx="4572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255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204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→</a:t>
            </a:r>
            <a:endParaRPr sz="2040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4" name="矩形 53"/>
          <p:cNvSpPr>
            <a:spLocks noGrp="1"/>
          </p:cNvSpPr>
          <p:nvPr/>
        </p:nvSpPr>
        <p:spPr>
          <a:xfrm>
            <a:off x="9601200" y="2987040"/>
            <a:ext cx="1752600" cy="4876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lnSpc>
                <a:spcPct val="108000"/>
              </a:lnSpc>
              <a:buNone/>
              <a:defRPr sz="157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26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锁定 S，L 需要换位</a:t>
            </a:r>
            <a:endParaRPr sz="126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5" name="矩形 54"/>
          <p:cNvSpPr>
            <a:spLocks noGrp="1"/>
          </p:cNvSpPr>
          <p:nvPr/>
        </p:nvSpPr>
        <p:spPr>
          <a:xfrm>
            <a:off x="5219700" y="3749040"/>
            <a:ext cx="6134100" cy="7620"/>
          </a:xfrm>
          <a:prstGeom prst="rect">
            <a:avLst/>
          </a:prstGeom>
          <a:solidFill>
            <a:srgbClr val="E5E5E5"/>
          </a:solidFill>
          <a:ln w="0">
            <a:noFill/>
            <a:prstDash val="solid"/>
          </a:ln>
        </p:spPr>
      </p:sp>
      <p:sp>
        <p:nvSpPr>
          <p:cNvPr id="56" name="矩形 55"/>
          <p:cNvSpPr>
            <a:spLocks noGrp="1"/>
          </p:cNvSpPr>
          <p:nvPr/>
        </p:nvSpPr>
        <p:spPr>
          <a:xfrm>
            <a:off x="5219700" y="4236720"/>
            <a:ext cx="8382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lnSpc>
                <a:spcPct val="108000"/>
              </a:lnSpc>
              <a:buNone/>
              <a:defRPr sz="1575" b="1">
                <a:solidFill>
                  <a:srgbClr val="888888"/>
                </a:solidFill>
                <a:latin typeface="微软雅黑"/>
                <a:ea typeface="微软雅黑"/>
                <a:cs typeface="微软雅黑"/>
              </a:defRPr>
            </a:pPr>
            <a:r>
              <a:rPr sz="1260" b="1">
                <a:solidFill>
                  <a:srgbClr val="888888"/>
                </a:solidFill>
                <a:latin typeface="微软雅黑"/>
                <a:ea typeface="微软雅黑"/>
                <a:cs typeface="微软雅黑"/>
              </a:rPr>
              <a:t>第 3 轮</a:t>
            </a:r>
            <a:endParaRPr sz="1260" b="1">
              <a:solidFill>
                <a:srgbClr val="88888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7" name="矩形 56"/>
          <p:cNvSpPr>
            <a:spLocks noGrp="1"/>
          </p:cNvSpPr>
          <p:nvPr/>
        </p:nvSpPr>
        <p:spPr>
          <a:xfrm>
            <a:off x="6210300" y="4152900"/>
            <a:ext cx="518160" cy="518160"/>
          </a:xfrm>
          <a:prstGeom prst="rect">
            <a:avLst/>
          </a:prstGeom>
          <a:solidFill>
            <a:srgbClr val="6AAA64"/>
          </a:solidFill>
          <a:ln w="9525">
            <a:solidFill>
              <a:srgbClr val="6AAA64"/>
            </a:solidFill>
            <a:prstDash val="solid"/>
          </a:ln>
        </p:spPr>
      </p:sp>
      <p:sp>
        <p:nvSpPr>
          <p:cNvPr id="58" name="矩形 57"/>
          <p:cNvSpPr>
            <a:spLocks noGrp="1"/>
          </p:cNvSpPr>
          <p:nvPr/>
        </p:nvSpPr>
        <p:spPr>
          <a:xfrm>
            <a:off x="6210300" y="4152900"/>
            <a:ext cx="518160" cy="5181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2250" b="1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defRPr>
            </a:pPr>
            <a:r>
              <a:rPr b="1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S</a:t>
            </a:r>
            <a:endParaRPr b="1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59" name="矩形 58"/>
          <p:cNvSpPr>
            <a:spLocks noGrp="1"/>
          </p:cNvSpPr>
          <p:nvPr/>
        </p:nvSpPr>
        <p:spPr>
          <a:xfrm>
            <a:off x="6789420" y="4152900"/>
            <a:ext cx="518160" cy="518160"/>
          </a:xfrm>
          <a:prstGeom prst="rect">
            <a:avLst/>
          </a:prstGeom>
          <a:solidFill>
            <a:srgbClr val="6AAA64"/>
          </a:solidFill>
          <a:ln w="9525">
            <a:solidFill>
              <a:srgbClr val="6AAA64"/>
            </a:solidFill>
            <a:prstDash val="solid"/>
          </a:ln>
        </p:spPr>
      </p:sp>
      <p:sp>
        <p:nvSpPr>
          <p:cNvPr id="60" name="矩形 59"/>
          <p:cNvSpPr>
            <a:spLocks noGrp="1"/>
          </p:cNvSpPr>
          <p:nvPr/>
        </p:nvSpPr>
        <p:spPr>
          <a:xfrm>
            <a:off x="6789420" y="4152900"/>
            <a:ext cx="518160" cy="5181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2250" b="1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defRPr>
            </a:pPr>
            <a:r>
              <a:rPr b="1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M</a:t>
            </a:r>
            <a:endParaRPr b="1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61" name="矩形 60"/>
          <p:cNvSpPr>
            <a:spLocks noGrp="1"/>
          </p:cNvSpPr>
          <p:nvPr/>
        </p:nvSpPr>
        <p:spPr>
          <a:xfrm>
            <a:off x="7368540" y="4152900"/>
            <a:ext cx="518160" cy="518160"/>
          </a:xfrm>
          <a:prstGeom prst="rect">
            <a:avLst/>
          </a:prstGeom>
          <a:solidFill>
            <a:srgbClr val="6AAA64"/>
          </a:solidFill>
          <a:ln w="9525">
            <a:solidFill>
              <a:srgbClr val="6AAA64"/>
            </a:solidFill>
            <a:prstDash val="solid"/>
          </a:ln>
        </p:spPr>
      </p:sp>
      <p:sp>
        <p:nvSpPr>
          <p:cNvPr id="62" name="矩形 61"/>
          <p:cNvSpPr>
            <a:spLocks noGrp="1"/>
          </p:cNvSpPr>
          <p:nvPr/>
        </p:nvSpPr>
        <p:spPr>
          <a:xfrm>
            <a:off x="7368540" y="4152900"/>
            <a:ext cx="518160" cy="5181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2250" b="1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defRPr>
            </a:pPr>
            <a:r>
              <a:rPr b="1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I</a:t>
            </a:r>
            <a:endParaRPr b="1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63" name="矩形 62"/>
          <p:cNvSpPr>
            <a:spLocks noGrp="1"/>
          </p:cNvSpPr>
          <p:nvPr/>
        </p:nvSpPr>
        <p:spPr>
          <a:xfrm>
            <a:off x="7947660" y="4152900"/>
            <a:ext cx="518160" cy="518160"/>
          </a:xfrm>
          <a:prstGeom prst="rect">
            <a:avLst/>
          </a:prstGeom>
          <a:solidFill>
            <a:srgbClr val="6AAA64"/>
          </a:solidFill>
          <a:ln w="9525">
            <a:solidFill>
              <a:srgbClr val="6AAA64"/>
            </a:solidFill>
            <a:prstDash val="solid"/>
          </a:ln>
        </p:spPr>
      </p:sp>
      <p:sp>
        <p:nvSpPr>
          <p:cNvPr id="64" name="矩形 63"/>
          <p:cNvSpPr>
            <a:spLocks noGrp="1"/>
          </p:cNvSpPr>
          <p:nvPr/>
        </p:nvSpPr>
        <p:spPr>
          <a:xfrm>
            <a:off x="7947660" y="4152900"/>
            <a:ext cx="518160" cy="5181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2250" b="1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defRPr>
            </a:pPr>
            <a:r>
              <a:rPr b="1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L</a:t>
            </a:r>
            <a:endParaRPr b="1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65" name="矩形 64"/>
          <p:cNvSpPr>
            <a:spLocks noGrp="1"/>
          </p:cNvSpPr>
          <p:nvPr/>
        </p:nvSpPr>
        <p:spPr>
          <a:xfrm>
            <a:off x="8526780" y="4152900"/>
            <a:ext cx="518160" cy="518160"/>
          </a:xfrm>
          <a:prstGeom prst="rect">
            <a:avLst/>
          </a:prstGeom>
          <a:solidFill>
            <a:srgbClr val="6AAA64"/>
          </a:solidFill>
          <a:ln w="9525">
            <a:solidFill>
              <a:srgbClr val="6AAA64"/>
            </a:solidFill>
            <a:prstDash val="solid"/>
          </a:ln>
        </p:spPr>
      </p:sp>
      <p:sp>
        <p:nvSpPr>
          <p:cNvPr id="66" name="矩形 65"/>
          <p:cNvSpPr>
            <a:spLocks noGrp="1"/>
          </p:cNvSpPr>
          <p:nvPr/>
        </p:nvSpPr>
        <p:spPr>
          <a:xfrm>
            <a:off x="8526780" y="4152900"/>
            <a:ext cx="518160" cy="5181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2250" b="1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defRPr>
            </a:pPr>
            <a:r>
              <a:rPr b="1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E</a:t>
            </a:r>
            <a:endParaRPr b="1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67" name="矩形 66"/>
          <p:cNvSpPr>
            <a:spLocks noGrp="1"/>
          </p:cNvSpPr>
          <p:nvPr/>
        </p:nvSpPr>
        <p:spPr>
          <a:xfrm>
            <a:off x="9029700" y="4213860"/>
            <a:ext cx="4572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255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204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→</a:t>
            </a:r>
            <a:endParaRPr sz="2040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8" name="矩形 67"/>
          <p:cNvSpPr>
            <a:spLocks noGrp="1"/>
          </p:cNvSpPr>
          <p:nvPr/>
        </p:nvSpPr>
        <p:spPr>
          <a:xfrm>
            <a:off x="9601200" y="4168140"/>
            <a:ext cx="1752600" cy="4876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lnSpc>
                <a:spcPct val="108000"/>
              </a:lnSpc>
              <a:buNone/>
              <a:defRPr sz="157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26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全部正确</a:t>
            </a:r>
            <a:endParaRPr sz="126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9" name="矩形 68"/>
          <p:cNvSpPr>
            <a:spLocks noGrp="1"/>
          </p:cNvSpPr>
          <p:nvPr/>
        </p:nvSpPr>
        <p:spPr>
          <a:xfrm>
            <a:off x="5562600" y="5257800"/>
            <a:ext cx="5486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56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反馈越多，候选集合越小；下一轮必须满足全部历史约束。</a:t>
            </a:r>
            <a:endParaRPr sz="1560" b="1"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4" name="图片 20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矩形 1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slide-title"/>
          <p:cNvSpPr>
            <a:spLocks noGrp="1"/>
          </p:cNvSpPr>
          <p:nvPr/>
        </p:nvSpPr>
        <p:spPr>
          <a:xfrm>
            <a:off x="609600" y="320040"/>
            <a:ext cx="937260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lnSpc>
                <a:spcPct val="108000"/>
              </a:lnSpc>
              <a:buNone/>
              <a:defRPr sz="3375" b="0">
                <a:solidFill>
                  <a:srgbClr val="111111"/>
                </a:solidFill>
                <a:latin typeface="微软雅黑"/>
                <a:ea typeface="微软雅黑"/>
                <a:cs typeface="微软雅黑"/>
              </a:defRPr>
            </a:pPr>
            <a:r>
              <a:rPr sz="2700">
                <a:solidFill>
                  <a:srgbClr val="111111"/>
                </a:solidFill>
                <a:latin typeface="微软雅黑"/>
                <a:ea typeface="微软雅黑"/>
                <a:cs typeface="微软雅黑"/>
              </a:rPr>
              <a:t>Wordle任务</a:t>
            </a:r>
            <a:r>
              <a:rPr sz="2700">
                <a:solidFill>
                  <a:srgbClr val="111111"/>
                </a:solidFill>
                <a:latin typeface="微软雅黑"/>
                <a:ea typeface="微软雅黑"/>
                <a:cs typeface="微软雅黑"/>
              </a:rPr>
              <a:t>介绍</a:t>
            </a:r>
            <a:endParaRPr sz="2700">
              <a:solidFill>
                <a:srgbClr val="11111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85800" y="1181100"/>
            <a:ext cx="4724400" cy="396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lnSpc>
                <a:spcPct val="108000"/>
              </a:lnSpc>
              <a:buNone/>
              <a:defRPr sz="232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86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Wordle 是一个多轮决策任务</a:t>
            </a:r>
            <a:endParaRPr sz="1860" b="1"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: 圆角 5"/>
          <p:cNvSpPr>
            <a:spLocks noGrp="1"/>
          </p:cNvSpPr>
          <p:nvPr/>
        </p:nvSpPr>
        <p:spPr>
          <a:xfrm>
            <a:off x="685800" y="1714500"/>
            <a:ext cx="4724400" cy="1409700"/>
          </a:xfrm>
          <a:prstGeom prst="roundRect">
            <a:avLst>
              <a:gd name="adj" fmla="val 3243"/>
            </a:avLst>
          </a:prstGeom>
          <a:solidFill>
            <a:srgbClr val="FFF1F2"/>
          </a:solidFill>
          <a:ln w="9525">
            <a:solidFill>
              <a:srgbClr val="E60012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1028700" y="2019300"/>
            <a:ext cx="403860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7222"/>
          </a:bodyPr>
          <a:lstStyle/>
          <a:p>
            <a:pPr>
              <a:lnSpc>
                <a:spcPct val="125000"/>
              </a:lnSpc>
              <a:buNone/>
              <a:defRPr sz="1800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44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多轮决策是指：模型需要根据每一轮的新反馈持续调整下一步选择。当前动作会影响后续状态，因此不能用一次性的固定答案解决整个任务。</a:t>
            </a:r>
            <a:endParaRPr sz="144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685800" y="3543300"/>
            <a:ext cx="41148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lnSpc>
                <a:spcPct val="108000"/>
              </a:lnSpc>
              <a:buNone/>
              <a:defRPr sz="21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74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本教程的两阶段训练</a:t>
            </a:r>
            <a:endParaRPr sz="174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0" y="0"/>
            <a:ext cx="7620" cy="76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25000" lnSpcReduction="20000"/>
          </a:bodyPr>
          <a:lstStyle/>
          <a:p>
            <a:pPr>
              <a:lnSpc>
                <a:spcPct val="135000"/>
              </a:lnSpc>
              <a:buNone/>
              <a:defRPr sz="1875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5791200" y="1143000"/>
            <a:ext cx="15240" cy="4229100"/>
          </a:xfrm>
          <a:prstGeom prst="rect">
            <a:avLst/>
          </a:prstGeom>
          <a:solidFill>
            <a:srgbClr val="E5E5E5"/>
          </a:solidFill>
          <a:ln w="0">
            <a:noFill/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6248400" y="1181100"/>
            <a:ext cx="4267200" cy="396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lnSpc>
                <a:spcPct val="108000"/>
              </a:lnSpc>
              <a:buNone/>
              <a:defRPr sz="232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86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两阶段训练如何分工</a:t>
            </a:r>
            <a:endParaRPr sz="186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矩形: 圆角 11"/>
          <p:cNvSpPr>
            <a:spLocks noGrp="1"/>
          </p:cNvSpPr>
          <p:nvPr/>
        </p:nvSpPr>
        <p:spPr>
          <a:xfrm>
            <a:off x="6248400" y="1714500"/>
            <a:ext cx="4495800" cy="1181100"/>
          </a:xfrm>
          <a:prstGeom prst="roundRect">
            <a:avLst>
              <a:gd name="adj" fmla="val 3871"/>
            </a:avLst>
          </a:prstGeom>
          <a:solidFill>
            <a:srgbClr val="FFF1F2"/>
          </a:solidFill>
          <a:ln w="9525">
            <a:solidFill>
              <a:srgbClr val="E60012"/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6515100" y="1981200"/>
            <a:ext cx="106680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lnSpc>
                <a:spcPct val="108000"/>
              </a:lnSpc>
              <a:buNone/>
              <a:defRPr sz="322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258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SFT</a:t>
            </a:r>
            <a:endParaRPr sz="2580" b="1"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7772400" y="1905000"/>
            <a:ext cx="25908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lnSpc>
                <a:spcPct val="122000"/>
              </a:lnSpc>
              <a:buNone/>
              <a:defRPr sz="180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44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使用已有游戏记录模仿标准回复</a:t>
            </a:r>
            <a:endParaRPr sz="144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22000"/>
              </a:lnSpc>
              <a:buNone/>
              <a:defRPr sz="180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44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先解决“能否按规则行动”</a:t>
            </a:r>
            <a:endParaRPr sz="144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8229600" y="2971800"/>
            <a:ext cx="5334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2500" lnSpcReduction="20000"/>
          </a:bodyPr>
          <a:lstStyle/>
          <a:p>
            <a:pPr algn="ctr">
              <a:lnSpc>
                <a:spcPct val="108000"/>
              </a:lnSpc>
              <a:buNone/>
              <a:defRPr sz="225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↓</a:t>
            </a:r>
            <a:endParaRPr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矩形: 圆角 15"/>
          <p:cNvSpPr>
            <a:spLocks noGrp="1"/>
          </p:cNvSpPr>
          <p:nvPr/>
        </p:nvSpPr>
        <p:spPr>
          <a:xfrm>
            <a:off x="6248400" y="3352800"/>
            <a:ext cx="4495800" cy="1181100"/>
          </a:xfrm>
          <a:prstGeom prst="roundRect">
            <a:avLst>
              <a:gd name="adj" fmla="val 3871"/>
            </a:avLst>
          </a:prstGeom>
          <a:solidFill>
            <a:srgbClr val="EEF4FF"/>
          </a:solidFill>
          <a:ln w="9525">
            <a:solidFill>
              <a:srgbClr val="377DFF"/>
            </a:solidFill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6515100" y="3619500"/>
            <a:ext cx="106680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lnSpc>
                <a:spcPct val="108000"/>
              </a:lnSpc>
              <a:buNone/>
              <a:defRPr sz="3225" b="1">
                <a:solidFill>
                  <a:srgbClr val="377DFF"/>
                </a:solidFill>
                <a:latin typeface="微软雅黑"/>
                <a:ea typeface="微软雅黑"/>
                <a:cs typeface="微软雅黑"/>
              </a:defRPr>
            </a:pPr>
            <a:r>
              <a:rPr sz="258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rPr>
              <a:t>RL</a:t>
            </a:r>
            <a:endParaRPr sz="2580" b="1">
              <a:solidFill>
                <a:srgbClr val="377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7772400" y="3543300"/>
            <a:ext cx="25908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lnSpc>
                <a:spcPct val="122000"/>
              </a:lnSpc>
              <a:buNone/>
              <a:defRPr sz="180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44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在真实游戏中试错并接受奖励</a:t>
            </a:r>
            <a:endParaRPr sz="144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22000"/>
              </a:lnSpc>
              <a:buNone/>
              <a:defRPr sz="180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44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继续解决“怎样行动更优”</a:t>
            </a:r>
            <a:endParaRPr sz="144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9" name="矩形: 圆角 18"/>
          <p:cNvSpPr>
            <a:spLocks noGrp="1"/>
          </p:cNvSpPr>
          <p:nvPr/>
        </p:nvSpPr>
        <p:spPr>
          <a:xfrm>
            <a:off x="6248400" y="4914900"/>
            <a:ext cx="4495800" cy="548640"/>
          </a:xfrm>
          <a:prstGeom prst="roundRect">
            <a:avLst>
              <a:gd name="adj" fmla="val 8333"/>
            </a:avLst>
          </a:prstGeom>
          <a:solidFill>
            <a:srgbClr val="F5F5F5"/>
          </a:solidFill>
          <a:ln w="9525">
            <a:solidFill>
              <a:srgbClr val="D4D4D4"/>
            </a:solidFill>
            <a:prstDash val="solid"/>
          </a:ln>
        </p:spPr>
      </p:sp>
      <p:sp>
        <p:nvSpPr>
          <p:cNvPr id="20" name="矩形 19"/>
          <p:cNvSpPr>
            <a:spLocks noGrp="1"/>
          </p:cNvSpPr>
          <p:nvPr/>
        </p:nvSpPr>
        <p:spPr>
          <a:xfrm>
            <a:off x="6515100" y="4914900"/>
            <a:ext cx="396240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87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先用 SFT 对齐行为，再用 RL 优化决策。</a:t>
            </a:r>
            <a:endParaRPr sz="1500" b="1"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838200" y="4076700"/>
            <a:ext cx="4495800" cy="1104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lnSpc>
                <a:spcPct val="118000"/>
              </a:lnSpc>
              <a:buNone/>
              <a:defRPr sz="157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26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SFT（本教程</a:t>
            </a:r>
            <a:r>
              <a:rPr sz="126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）：</a:t>
            </a:r>
            <a:r>
              <a:rPr sz="126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用已有游戏记录学习规范行为</a:t>
            </a:r>
            <a:r>
              <a:rPr sz="126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，</a:t>
            </a:r>
            <a:endParaRPr sz="126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18000"/>
              </a:lnSpc>
              <a:buNone/>
              <a:defRPr sz="157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26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建立稳定起点</a:t>
            </a:r>
            <a:r>
              <a:rPr sz="126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。</a:t>
            </a:r>
            <a:endParaRPr sz="126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  <a:p>
            <a:pPr>
              <a:buNone/>
            </a:pPr>
          </a:p>
          <a:p>
            <a:pPr>
              <a:lnSpc>
                <a:spcPct val="118000"/>
              </a:lnSpc>
              <a:buNone/>
              <a:defRPr sz="157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26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RL（下一阶段</a:t>
            </a:r>
            <a:r>
              <a:rPr sz="126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）：</a:t>
            </a:r>
            <a:r>
              <a:rPr sz="126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在真实对局中试错</a:t>
            </a:r>
            <a:r>
              <a:rPr sz="126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，</a:t>
            </a:r>
            <a:endParaRPr sz="126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18000"/>
              </a:lnSpc>
              <a:buNone/>
              <a:defRPr sz="157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26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用奖励优化多轮策略</a:t>
            </a:r>
            <a:r>
              <a:rPr sz="126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。</a:t>
            </a:r>
            <a:endParaRPr sz="126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59" name="图片 57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矩形 1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slide-title"/>
          <p:cNvSpPr>
            <a:spLocks noGrp="1"/>
          </p:cNvSpPr>
          <p:nvPr/>
        </p:nvSpPr>
        <p:spPr>
          <a:xfrm>
            <a:off x="609600" y="320040"/>
            <a:ext cx="937260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lnSpc>
                <a:spcPct val="108000"/>
              </a:lnSpc>
              <a:buNone/>
              <a:defRPr sz="3375" b="0">
                <a:solidFill>
                  <a:srgbClr val="111111"/>
                </a:solidFill>
                <a:latin typeface="微软雅黑"/>
                <a:ea typeface="微软雅黑"/>
                <a:cs typeface="微软雅黑"/>
              </a:defRPr>
            </a:pPr>
            <a:r>
              <a:rPr sz="2700">
                <a:solidFill>
                  <a:srgbClr val="111111"/>
                </a:solidFill>
                <a:latin typeface="微软雅黑"/>
                <a:ea typeface="微软雅黑"/>
                <a:cs typeface="微软雅黑"/>
              </a:rPr>
              <a:t>Wordle </a:t>
            </a:r>
            <a:r>
              <a:rPr sz="2700">
                <a:solidFill>
                  <a:srgbClr val="111111"/>
                </a:solidFill>
                <a:latin typeface="微软雅黑"/>
                <a:ea typeface="微软雅黑"/>
                <a:cs typeface="微软雅黑"/>
              </a:rPr>
              <a:t>任务介绍</a:t>
            </a:r>
            <a:endParaRPr sz="2700">
              <a:solidFill>
                <a:srgbClr val="11111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85800" y="1104900"/>
            <a:ext cx="7620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lnSpc>
                <a:spcPct val="108000"/>
              </a:lnSpc>
              <a:buNone/>
              <a:defRPr sz="210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68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01</a:t>
            </a:r>
            <a:endParaRPr sz="1680" b="1"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: 圆角 5"/>
          <p:cNvSpPr>
            <a:spLocks noGrp="1"/>
          </p:cNvSpPr>
          <p:nvPr/>
        </p:nvSpPr>
        <p:spPr>
          <a:xfrm>
            <a:off x="685800" y="1447800"/>
            <a:ext cx="3048000" cy="1257300"/>
          </a:xfrm>
          <a:prstGeom prst="roundRect">
            <a:avLst>
              <a:gd name="adj" fmla="val 3636"/>
            </a:avLst>
          </a:prstGeom>
          <a:solidFill>
            <a:srgbClr val="FFF1F2"/>
          </a:solidFill>
          <a:ln w="9525">
            <a:solidFill>
              <a:srgbClr val="E60012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914400" y="1638300"/>
            <a:ext cx="25908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202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62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多轮决策清晰</a:t>
            </a:r>
            <a:endParaRPr sz="1620" b="1"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975360" y="2095500"/>
            <a:ext cx="246888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9206"/>
          </a:bodyPr>
          <a:lstStyle/>
          <a:p>
            <a:pPr algn="ctr">
              <a:lnSpc>
                <a:spcPct val="120000"/>
              </a:lnSpc>
              <a:buNone/>
              <a:defRPr sz="157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26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每轮反馈都会改变下一步选择，天然体现交互式决策。</a:t>
            </a:r>
            <a:endParaRPr sz="126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4305300" y="1104900"/>
            <a:ext cx="7620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lnSpc>
                <a:spcPct val="108000"/>
              </a:lnSpc>
              <a:buNone/>
              <a:defRPr sz="210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defRPr>
            </a:pPr>
            <a:r>
              <a:rPr sz="168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rPr>
              <a:t>02</a:t>
            </a:r>
            <a:endParaRPr sz="1680" b="1">
              <a:solidFill>
                <a:srgbClr val="377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矩形: 圆角 9"/>
          <p:cNvSpPr>
            <a:spLocks noGrp="1"/>
          </p:cNvSpPr>
          <p:nvPr/>
        </p:nvSpPr>
        <p:spPr>
          <a:xfrm>
            <a:off x="4305300" y="1447800"/>
            <a:ext cx="3048000" cy="1257300"/>
          </a:xfrm>
          <a:prstGeom prst="roundRect">
            <a:avLst>
              <a:gd name="adj" fmla="val 3636"/>
            </a:avLst>
          </a:prstGeom>
          <a:solidFill>
            <a:srgbClr val="EEF4FF"/>
          </a:solidFill>
          <a:ln w="9525">
            <a:solidFill>
              <a:srgbClr val="377DFF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4533900" y="1638300"/>
            <a:ext cx="25908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2025" b="1">
                <a:solidFill>
                  <a:srgbClr val="377DFF"/>
                </a:solidFill>
                <a:latin typeface="微软雅黑"/>
                <a:ea typeface="微软雅黑"/>
                <a:cs typeface="微软雅黑"/>
              </a:defRPr>
            </a:pPr>
            <a:r>
              <a:rPr sz="162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rPr>
              <a:t>SFT 定位明确</a:t>
            </a:r>
            <a:endParaRPr sz="1620" b="1">
              <a:solidFill>
                <a:srgbClr val="377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4594860" y="2095500"/>
            <a:ext cx="246888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9206"/>
          </a:bodyPr>
          <a:lstStyle/>
          <a:p>
            <a:pPr algn="ctr">
              <a:lnSpc>
                <a:spcPct val="120000"/>
              </a:lnSpc>
              <a:buNone/>
              <a:defRPr sz="157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26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先学习 &lt;guess&gt;word&lt;/guess&gt; 格式与基本反馈理解。</a:t>
            </a:r>
            <a:endParaRPr sz="126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7924800" y="1104900"/>
            <a:ext cx="7620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lnSpc>
                <a:spcPct val="108000"/>
              </a:lnSpc>
              <a:buNone/>
              <a:defRPr sz="2100" b="1">
                <a:solidFill>
                  <a:srgbClr val="6AAA64"/>
                </a:solidFill>
                <a:latin typeface="微软雅黑"/>
                <a:ea typeface="微软雅黑"/>
                <a:cs typeface="微软雅黑"/>
              </a:defRPr>
            </a:pPr>
            <a:r>
              <a:rPr sz="1680" b="1">
                <a:solidFill>
                  <a:srgbClr val="6AAA64"/>
                </a:solidFill>
                <a:latin typeface="微软雅黑"/>
                <a:ea typeface="微软雅黑"/>
                <a:cs typeface="微软雅黑"/>
              </a:rPr>
              <a:t>03</a:t>
            </a:r>
            <a:endParaRPr sz="1680" b="1">
              <a:solidFill>
                <a:srgbClr val="6AAA6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矩形: 圆角 13"/>
          <p:cNvSpPr>
            <a:spLocks noGrp="1"/>
          </p:cNvSpPr>
          <p:nvPr/>
        </p:nvSpPr>
        <p:spPr>
          <a:xfrm>
            <a:off x="7924800" y="1447800"/>
            <a:ext cx="3048000" cy="1257300"/>
          </a:xfrm>
          <a:prstGeom prst="roundRect">
            <a:avLst>
              <a:gd name="adj" fmla="val 3636"/>
            </a:avLst>
          </a:prstGeom>
          <a:solidFill>
            <a:srgbClr val="EDF7EC"/>
          </a:solidFill>
          <a:ln w="9525">
            <a:solidFill>
              <a:srgbClr val="6AAA64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8153400" y="1638300"/>
            <a:ext cx="25908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2025" b="1">
                <a:solidFill>
                  <a:srgbClr val="6AAA64"/>
                </a:solidFill>
                <a:latin typeface="微软雅黑"/>
                <a:ea typeface="微软雅黑"/>
                <a:cs typeface="微软雅黑"/>
              </a:defRPr>
            </a:pPr>
            <a:r>
              <a:rPr sz="1620" b="1">
                <a:solidFill>
                  <a:srgbClr val="6AAA64"/>
                </a:solidFill>
                <a:latin typeface="微软雅黑"/>
                <a:ea typeface="微软雅黑"/>
                <a:cs typeface="微软雅黑"/>
              </a:rPr>
              <a:t>评测指标明确</a:t>
            </a:r>
            <a:endParaRPr sz="1620" b="1">
              <a:solidFill>
                <a:srgbClr val="6AAA6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8214360" y="2095500"/>
            <a:ext cx="246888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9206"/>
          </a:bodyPr>
          <a:lstStyle/>
          <a:p>
            <a:pPr algn="ctr">
              <a:lnSpc>
                <a:spcPct val="120000"/>
              </a:lnSpc>
              <a:buNone/>
              <a:defRPr sz="157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26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格式、猜中率、部分正确和轮数都能被规则直接计算。</a:t>
            </a:r>
            <a:endParaRPr sz="126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685800" y="2933700"/>
            <a:ext cx="266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lnSpc>
                <a:spcPct val="108000"/>
              </a:lnSpc>
              <a:buNone/>
              <a:defRPr sz="195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56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评测指标如何分工</a:t>
            </a:r>
            <a:endParaRPr sz="156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685800" y="3276600"/>
            <a:ext cx="2514600" cy="365760"/>
          </a:xfrm>
          <a:prstGeom prst="rect">
            <a:avLst/>
          </a:prstGeom>
          <a:solidFill>
            <a:srgbClr val="E60012"/>
          </a:solidFill>
          <a:ln w="0">
            <a:noFill/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792480" y="3276600"/>
            <a:ext cx="230124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指标</a:t>
            </a:r>
            <a:endParaRPr sz="114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3200400" y="3276600"/>
            <a:ext cx="3810000" cy="365760"/>
          </a:xfrm>
          <a:prstGeom prst="rect">
            <a:avLst/>
          </a:prstGeom>
          <a:solidFill>
            <a:srgbClr val="262626"/>
          </a:solidFill>
          <a:ln w="0">
            <a:noFill/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3307080" y="3276600"/>
            <a:ext cx="359664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含义</a:t>
            </a:r>
            <a:endParaRPr sz="114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7010400" y="3276600"/>
            <a:ext cx="2133600" cy="365760"/>
          </a:xfrm>
          <a:prstGeom prst="rect">
            <a:avLst/>
          </a:prstGeom>
          <a:solidFill>
            <a:srgbClr val="262626"/>
          </a:solidFill>
          <a:ln w="0">
            <a:noFill/>
            <a:prstDash val="solid"/>
          </a:ln>
        </p:spPr>
      </p:sp>
      <p:sp>
        <p:nvSpPr>
          <p:cNvPr id="23" name="矩形 22"/>
          <p:cNvSpPr>
            <a:spLocks noGrp="1"/>
          </p:cNvSpPr>
          <p:nvPr/>
        </p:nvSpPr>
        <p:spPr>
          <a:xfrm>
            <a:off x="7117080" y="3276600"/>
            <a:ext cx="192024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SFT 阶段</a:t>
            </a:r>
            <a:endParaRPr sz="114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9144000" y="3276600"/>
            <a:ext cx="2133600" cy="365760"/>
          </a:xfrm>
          <a:prstGeom prst="rect">
            <a:avLst/>
          </a:prstGeom>
          <a:solidFill>
            <a:srgbClr val="262626"/>
          </a:solidFill>
          <a:ln w="0">
            <a:noFill/>
            <a:prstDash val="solid"/>
          </a:ln>
        </p:spPr>
      </p:sp>
      <p:sp>
        <p:nvSpPr>
          <p:cNvPr id="25" name="矩形 24"/>
          <p:cNvSpPr>
            <a:spLocks noGrp="1"/>
          </p:cNvSpPr>
          <p:nvPr/>
        </p:nvSpPr>
        <p:spPr>
          <a:xfrm>
            <a:off x="9250680" y="3276600"/>
            <a:ext cx="192024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RL 阶段</a:t>
            </a:r>
            <a:endParaRPr sz="114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685800" y="3642360"/>
            <a:ext cx="2514600" cy="42672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7" name="矩形 26"/>
          <p:cNvSpPr>
            <a:spLocks noGrp="1"/>
          </p:cNvSpPr>
          <p:nvPr/>
        </p:nvSpPr>
        <p:spPr>
          <a:xfrm>
            <a:off x="792480" y="3688080"/>
            <a:ext cx="2301240" cy="335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lnSpc>
                <a:spcPct val="108000"/>
              </a:lnSpc>
              <a:buNone/>
              <a:defRPr sz="1275" b="1">
                <a:solidFill>
                  <a:srgbClr val="525252"/>
                </a:solidFill>
                <a:latin typeface="Consolas"/>
                <a:ea typeface="Consolas"/>
                <a:cs typeface="Consolas"/>
              </a:defRPr>
            </a:pPr>
            <a:r>
              <a:rPr sz="1020" b="1">
                <a:solidFill>
                  <a:srgbClr val="525252"/>
                </a:solidFill>
                <a:latin typeface="Consolas"/>
                <a:ea typeface="Consolas"/>
                <a:cs typeface="Consolas"/>
              </a:rPr>
              <a:t>format_reward</a:t>
            </a:r>
            <a:endParaRPr sz="1020" b="1">
              <a:solidFill>
                <a:srgbClr val="52525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3200400" y="3642360"/>
            <a:ext cx="3810000" cy="42672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9" name="矩形 28"/>
          <p:cNvSpPr>
            <a:spLocks noGrp="1"/>
          </p:cNvSpPr>
          <p:nvPr/>
        </p:nvSpPr>
        <p:spPr>
          <a:xfrm>
            <a:off x="3307080" y="3688080"/>
            <a:ext cx="3596640" cy="335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lnSpc>
                <a:spcPct val="108000"/>
              </a:lnSpc>
              <a:buNone/>
              <a:defRPr sz="1350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8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是否按 &lt;guess&gt;word&lt;/guess&gt; 格式输出</a:t>
            </a:r>
            <a:endParaRPr sz="108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7010400" y="3642360"/>
            <a:ext cx="2133600" cy="426720"/>
          </a:xfrm>
          <a:prstGeom prst="rect">
            <a:avLst/>
          </a:prstGeom>
          <a:solidFill>
            <a:srgbClr val="FFF1F2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31" name="矩形 30"/>
          <p:cNvSpPr>
            <a:spLocks noGrp="1"/>
          </p:cNvSpPr>
          <p:nvPr/>
        </p:nvSpPr>
        <p:spPr>
          <a:xfrm>
            <a:off x="7117080" y="3688080"/>
            <a:ext cx="1920240" cy="335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主要目标</a:t>
            </a:r>
            <a:endParaRPr sz="1080" b="1"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2" name="矩形 31"/>
          <p:cNvSpPr>
            <a:spLocks noGrp="1"/>
          </p:cNvSpPr>
          <p:nvPr/>
        </p:nvSpPr>
        <p:spPr>
          <a:xfrm>
            <a:off x="9144000" y="3642360"/>
            <a:ext cx="2133600" cy="42672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33" name="矩形 32"/>
          <p:cNvSpPr>
            <a:spLocks noGrp="1"/>
          </p:cNvSpPr>
          <p:nvPr/>
        </p:nvSpPr>
        <p:spPr>
          <a:xfrm>
            <a:off x="9250680" y="3688080"/>
            <a:ext cx="1920240" cy="335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8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保持</a:t>
            </a:r>
            <a:endParaRPr sz="108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4" name="矩形 33"/>
          <p:cNvSpPr>
            <a:spLocks noGrp="1"/>
          </p:cNvSpPr>
          <p:nvPr/>
        </p:nvSpPr>
        <p:spPr>
          <a:xfrm>
            <a:off x="685800" y="4069080"/>
            <a:ext cx="2514600" cy="426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35" name="矩形 34"/>
          <p:cNvSpPr>
            <a:spLocks noGrp="1"/>
          </p:cNvSpPr>
          <p:nvPr/>
        </p:nvSpPr>
        <p:spPr>
          <a:xfrm>
            <a:off x="792480" y="4114800"/>
            <a:ext cx="2301240" cy="335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lnSpc>
                <a:spcPct val="108000"/>
              </a:lnSpc>
              <a:buNone/>
              <a:defRPr sz="1275" b="1">
                <a:solidFill>
                  <a:srgbClr val="525252"/>
                </a:solidFill>
                <a:latin typeface="Consolas"/>
                <a:ea typeface="Consolas"/>
                <a:cs typeface="Consolas"/>
              </a:defRPr>
            </a:pPr>
            <a:r>
              <a:rPr sz="1020" b="1">
                <a:solidFill>
                  <a:srgbClr val="525252"/>
                </a:solidFill>
                <a:latin typeface="Consolas"/>
                <a:ea typeface="Consolas"/>
                <a:cs typeface="Consolas"/>
              </a:rPr>
              <a:t>correct_answer</a:t>
            </a:r>
            <a:endParaRPr sz="1020" b="1">
              <a:solidFill>
                <a:srgbClr val="52525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6" name="矩形 35"/>
          <p:cNvSpPr>
            <a:spLocks noGrp="1"/>
          </p:cNvSpPr>
          <p:nvPr/>
        </p:nvSpPr>
        <p:spPr>
          <a:xfrm>
            <a:off x="3200400" y="4069080"/>
            <a:ext cx="3810000" cy="426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37" name="矩形 36"/>
          <p:cNvSpPr>
            <a:spLocks noGrp="1"/>
          </p:cNvSpPr>
          <p:nvPr/>
        </p:nvSpPr>
        <p:spPr>
          <a:xfrm>
            <a:off x="3307080" y="4114800"/>
            <a:ext cx="3596640" cy="335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lnSpc>
                <a:spcPct val="108000"/>
              </a:lnSpc>
              <a:buNone/>
              <a:defRPr sz="1350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8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是否在 6 轮内猜对</a:t>
            </a:r>
            <a:endParaRPr sz="108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8" name="矩形 37"/>
          <p:cNvSpPr>
            <a:spLocks noGrp="1"/>
          </p:cNvSpPr>
          <p:nvPr/>
        </p:nvSpPr>
        <p:spPr>
          <a:xfrm>
            <a:off x="7010400" y="4069080"/>
            <a:ext cx="2133600" cy="426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39" name="矩形 38"/>
          <p:cNvSpPr>
            <a:spLocks noGrp="1"/>
          </p:cNvSpPr>
          <p:nvPr/>
        </p:nvSpPr>
        <p:spPr>
          <a:xfrm>
            <a:off x="7117080" y="4114800"/>
            <a:ext cx="1920240" cy="335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8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基线</a:t>
            </a:r>
            <a:endParaRPr sz="108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0" name="矩形 39"/>
          <p:cNvSpPr>
            <a:spLocks noGrp="1"/>
          </p:cNvSpPr>
          <p:nvPr/>
        </p:nvSpPr>
        <p:spPr>
          <a:xfrm>
            <a:off x="9144000" y="4069080"/>
            <a:ext cx="2133600" cy="426720"/>
          </a:xfrm>
          <a:prstGeom prst="rect">
            <a:avLst/>
          </a:prstGeom>
          <a:solidFill>
            <a:srgbClr val="EEF4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41" name="矩形 40"/>
          <p:cNvSpPr>
            <a:spLocks noGrp="1"/>
          </p:cNvSpPr>
          <p:nvPr/>
        </p:nvSpPr>
        <p:spPr>
          <a:xfrm>
            <a:off x="9250680" y="4114800"/>
            <a:ext cx="1920240" cy="335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rPr>
              <a:t>主要目标</a:t>
            </a:r>
            <a:endParaRPr sz="1080" b="1">
              <a:solidFill>
                <a:srgbClr val="377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2" name="矩形 41"/>
          <p:cNvSpPr>
            <a:spLocks noGrp="1"/>
          </p:cNvSpPr>
          <p:nvPr/>
        </p:nvSpPr>
        <p:spPr>
          <a:xfrm>
            <a:off x="685800" y="4495800"/>
            <a:ext cx="2514600" cy="42672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43" name="矩形 42"/>
          <p:cNvSpPr>
            <a:spLocks noGrp="1"/>
          </p:cNvSpPr>
          <p:nvPr/>
        </p:nvSpPr>
        <p:spPr>
          <a:xfrm>
            <a:off x="792480" y="4541520"/>
            <a:ext cx="2301240" cy="335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lnSpc>
                <a:spcPct val="108000"/>
              </a:lnSpc>
              <a:buNone/>
              <a:defRPr sz="1275" b="1">
                <a:solidFill>
                  <a:srgbClr val="525252"/>
                </a:solidFill>
                <a:latin typeface="Consolas"/>
                <a:ea typeface="Consolas"/>
                <a:cs typeface="Consolas"/>
              </a:defRPr>
            </a:pPr>
            <a:r>
              <a:rPr sz="1020" b="1">
                <a:solidFill>
                  <a:srgbClr val="525252"/>
                </a:solidFill>
                <a:latin typeface="Consolas"/>
                <a:ea typeface="Consolas"/>
                <a:cs typeface="Consolas"/>
              </a:rPr>
              <a:t>partial_answer</a:t>
            </a:r>
            <a:endParaRPr sz="1020" b="1">
              <a:solidFill>
                <a:srgbClr val="52525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44" name="矩形 43"/>
          <p:cNvSpPr>
            <a:spLocks noGrp="1"/>
          </p:cNvSpPr>
          <p:nvPr/>
        </p:nvSpPr>
        <p:spPr>
          <a:xfrm>
            <a:off x="3200400" y="4495800"/>
            <a:ext cx="3810000" cy="42672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45" name="矩形 44"/>
          <p:cNvSpPr>
            <a:spLocks noGrp="1"/>
          </p:cNvSpPr>
          <p:nvPr/>
        </p:nvSpPr>
        <p:spPr>
          <a:xfrm>
            <a:off x="3307080" y="4541520"/>
            <a:ext cx="3596640" cy="335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lnSpc>
                <a:spcPct val="108000"/>
              </a:lnSpc>
              <a:buNone/>
              <a:defRPr sz="1350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8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部分字母或位置是否正确</a:t>
            </a:r>
            <a:endParaRPr sz="108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6" name="矩形 45"/>
          <p:cNvSpPr>
            <a:spLocks noGrp="1"/>
          </p:cNvSpPr>
          <p:nvPr/>
        </p:nvSpPr>
        <p:spPr>
          <a:xfrm>
            <a:off x="7010400" y="4495800"/>
            <a:ext cx="2133600" cy="42672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47" name="矩形 46"/>
          <p:cNvSpPr>
            <a:spLocks noGrp="1"/>
          </p:cNvSpPr>
          <p:nvPr/>
        </p:nvSpPr>
        <p:spPr>
          <a:xfrm>
            <a:off x="7117080" y="4541520"/>
            <a:ext cx="1920240" cy="335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8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基线</a:t>
            </a:r>
            <a:endParaRPr sz="108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8" name="矩形 47"/>
          <p:cNvSpPr>
            <a:spLocks noGrp="1"/>
          </p:cNvSpPr>
          <p:nvPr/>
        </p:nvSpPr>
        <p:spPr>
          <a:xfrm>
            <a:off x="9144000" y="4495800"/>
            <a:ext cx="2133600" cy="426720"/>
          </a:xfrm>
          <a:prstGeom prst="rect">
            <a:avLst/>
          </a:prstGeom>
          <a:solidFill>
            <a:srgbClr val="EEF4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49" name="矩形 48"/>
          <p:cNvSpPr>
            <a:spLocks noGrp="1"/>
          </p:cNvSpPr>
          <p:nvPr/>
        </p:nvSpPr>
        <p:spPr>
          <a:xfrm>
            <a:off x="9250680" y="4541520"/>
            <a:ext cx="1920240" cy="335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rPr>
              <a:t>主要目标</a:t>
            </a:r>
            <a:endParaRPr sz="1080" b="1">
              <a:solidFill>
                <a:srgbClr val="377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0" name="矩形 49"/>
          <p:cNvSpPr>
            <a:spLocks noGrp="1"/>
          </p:cNvSpPr>
          <p:nvPr/>
        </p:nvSpPr>
        <p:spPr>
          <a:xfrm>
            <a:off x="685800" y="4922520"/>
            <a:ext cx="2514600" cy="426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51" name="矩形 50"/>
          <p:cNvSpPr>
            <a:spLocks noGrp="1"/>
          </p:cNvSpPr>
          <p:nvPr/>
        </p:nvSpPr>
        <p:spPr>
          <a:xfrm>
            <a:off x="792480" y="4968240"/>
            <a:ext cx="2301240" cy="335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lnSpc>
                <a:spcPct val="108000"/>
              </a:lnSpc>
              <a:buNone/>
              <a:defRPr sz="1275" b="1">
                <a:solidFill>
                  <a:srgbClr val="525252"/>
                </a:solidFill>
                <a:latin typeface="Consolas"/>
                <a:ea typeface="Consolas"/>
                <a:cs typeface="Consolas"/>
              </a:defRPr>
            </a:pPr>
            <a:r>
              <a:rPr sz="1020" b="1">
                <a:solidFill>
                  <a:srgbClr val="525252"/>
                </a:solidFill>
                <a:latin typeface="Consolas"/>
                <a:ea typeface="Consolas"/>
                <a:cs typeface="Consolas"/>
              </a:rPr>
              <a:t>length_bonus</a:t>
            </a:r>
            <a:endParaRPr sz="1020" b="1">
              <a:solidFill>
                <a:srgbClr val="52525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52" name="矩形 51"/>
          <p:cNvSpPr>
            <a:spLocks noGrp="1"/>
          </p:cNvSpPr>
          <p:nvPr/>
        </p:nvSpPr>
        <p:spPr>
          <a:xfrm>
            <a:off x="3200400" y="4922520"/>
            <a:ext cx="3810000" cy="426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53" name="矩形 52"/>
          <p:cNvSpPr>
            <a:spLocks noGrp="1"/>
          </p:cNvSpPr>
          <p:nvPr/>
        </p:nvSpPr>
        <p:spPr>
          <a:xfrm>
            <a:off x="3307080" y="4968240"/>
            <a:ext cx="3596640" cy="335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lnSpc>
                <a:spcPct val="108000"/>
              </a:lnSpc>
              <a:buNone/>
              <a:defRPr sz="1350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8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猜对所用轮数是否更少</a:t>
            </a:r>
            <a:endParaRPr sz="108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4" name="矩形 53"/>
          <p:cNvSpPr>
            <a:spLocks noGrp="1"/>
          </p:cNvSpPr>
          <p:nvPr/>
        </p:nvSpPr>
        <p:spPr>
          <a:xfrm>
            <a:off x="7010400" y="4922520"/>
            <a:ext cx="2133600" cy="426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55" name="矩形 54"/>
          <p:cNvSpPr>
            <a:spLocks noGrp="1"/>
          </p:cNvSpPr>
          <p:nvPr/>
        </p:nvSpPr>
        <p:spPr>
          <a:xfrm>
            <a:off x="7117080" y="4968240"/>
            <a:ext cx="1920240" cy="335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8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基线</a:t>
            </a:r>
            <a:endParaRPr sz="108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6" name="矩形 55"/>
          <p:cNvSpPr>
            <a:spLocks noGrp="1"/>
          </p:cNvSpPr>
          <p:nvPr/>
        </p:nvSpPr>
        <p:spPr>
          <a:xfrm>
            <a:off x="9144000" y="4922520"/>
            <a:ext cx="2133600" cy="426720"/>
          </a:xfrm>
          <a:prstGeom prst="rect">
            <a:avLst/>
          </a:prstGeom>
          <a:solidFill>
            <a:srgbClr val="EEF4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57" name="矩形 56"/>
          <p:cNvSpPr>
            <a:spLocks noGrp="1"/>
          </p:cNvSpPr>
          <p:nvPr/>
        </p:nvSpPr>
        <p:spPr>
          <a:xfrm>
            <a:off x="9250680" y="4968240"/>
            <a:ext cx="1920240" cy="335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rPr>
              <a:t>主要目标</a:t>
            </a:r>
            <a:endParaRPr sz="1080" b="1">
              <a:solidFill>
                <a:srgbClr val="377DFF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0" name="矩形 9"/>
          <p:cNvSpPr>
            <a:spLocks noGrp="1"/>
          </p:cNvSpPr>
          <p:nvPr/>
        </p:nvSpPr>
        <p:spPr>
          <a:xfrm>
            <a:off x="547073" y="2601035"/>
            <a:ext cx="3380868" cy="835742"/>
          </a:xfrm>
          <a:prstGeom prst="rect">
            <a:avLst/>
          </a:prstGeom>
          <a:solidFill>
            <a:srgbClr val="FFFFFF"/>
          </a:solidFill>
          <a:ln w="12700" cmpd="sng">
            <a:noFill/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400" b="0" i="0" u="none" cap="none">
                <a:ln>
                  <a:noFill/>
                </a:ln>
                <a:solidFill>
                  <a:srgbClr val="DDDDDD">
                    <a:lumMod val="50000"/>
                  </a:srgbClr>
                </a:solidFill>
                <a:latin typeface="微软雅黑"/>
                <a:ea typeface="微软雅黑"/>
                <a:cs typeface="微软雅黑"/>
              </a:rPr>
              <a:t>SFT监督微调</a:t>
            </a:r>
            <a:endParaRPr sz="4400" b="0" i="0" u="none" cap="none">
              <a:ln>
                <a:noFill/>
              </a:ln>
              <a:solidFill>
                <a:srgbClr val="DDDDDD">
                  <a:lumMod val="50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í$ľidè"/>
          <p:cNvSpPr>
            <a:spLocks noGrp="1"/>
          </p:cNvSpPr>
          <p:nvPr/>
        </p:nvSpPr>
        <p:spPr>
          <a:xfrm>
            <a:off x="3956272" y="1890392"/>
            <a:ext cx="0" cy="2769071"/>
          </a:xfrm>
          <a:prstGeom prst="line">
            <a:avLst/>
          </a:prstGeom>
          <a:solidFill>
            <a:srgbClr val="FFCC00"/>
          </a:solidFill>
          <a:ln w="12700"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none" w="med" len="med"/>
          </a:ln>
        </p:spPr>
      </p:sp>
      <p:pic>
        <p:nvPicPr>
          <p:cNvPr id="21" name="图片 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37202" y="6042990"/>
            <a:ext cx="1312676" cy="348426"/>
          </a:xfrm>
          <a:prstGeom prst="rect">
            <a:avLst/>
          </a:prstGeom>
        </p:spPr>
      </p:pic>
      <p:sp>
        <p:nvSpPr>
          <p:cNvPr id="17" name="文本框 16"/>
          <p:cNvSpPr>
            <a:spLocks noGrp="1"/>
          </p:cNvSpPr>
          <p:nvPr/>
        </p:nvSpPr>
        <p:spPr>
          <a:xfrm>
            <a:off x="620201" y="6130454"/>
            <a:ext cx="8763000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u="none" cap="none">
                <a:ln>
                  <a:noFill/>
                </a:ln>
                <a:solidFill>
                  <a:prstClr val="white">
                    <a:lumMod val="50000"/>
                  </a:prstClr>
                </a:solidFill>
                <a:latin typeface="等线 Light"/>
                <a:ea typeface="等线 Light"/>
                <a:cs typeface="等线 Light"/>
                <a:hlinkClick r:id="rId2"/>
              </a:rPr>
              <a:t>https://gitcode.com/cann/cann-learning-hub/tree/test/tutorials/sft_training_pipeline/02_torchtitan_framework</a:t>
            </a:r>
            <a:endParaRPr sz="1000" b="0" i="0" u="none" cap="none">
              <a:ln>
                <a:noFill/>
              </a:ln>
              <a:solidFill>
                <a:prstClr val="white">
                  <a:lumMod val="50000"/>
                </a:prstClr>
              </a:solidFill>
              <a:latin typeface="等线 Light"/>
              <a:ea typeface="等线 Light"/>
              <a:cs typeface="等线 Light"/>
              <a:hlinkClick r:id="rId2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5157694" y="1530876"/>
            <a:ext cx="4587547" cy="596075"/>
          </a:xfrm>
          <a:prstGeom prst="rect">
            <a:avLst/>
          </a:prstGeom>
          <a:solidFill>
            <a:srgbClr val="F2F2F2"/>
          </a:solidFill>
          <a:ln w="9525" cmpd="sng">
            <a:solidFill>
              <a:srgbClr val="FFFFFF">
                <a:lumMod val="65000"/>
              </a:srgbClr>
            </a:solidFill>
            <a:prstDash val="solid"/>
          </a:ln>
        </p:spPr>
        <p:txBody>
          <a:bodyPr rot="0" spcFirstLastPara="0" vert="horz" wrap="square" lIns="91440" tIns="45720" rIns="91440" bIns="45720" anchor="ctr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0" i="0" u="none" cap="none">
                <a:ln>
                  <a:noFill/>
                </a:ln>
                <a:solidFill>
                  <a:srgbClr val="BFBFBF"/>
                </a:solidFill>
                <a:latin typeface="微软雅黑"/>
                <a:ea typeface="微软雅黑"/>
                <a:cs typeface="微软雅黑"/>
              </a:rPr>
              <a:t>Part 1 SFT概念与Wordle任务</a:t>
            </a:r>
            <a:endParaRPr sz="2400" b="0" i="0" u="none" cap="none">
              <a:ln>
                <a:noFill/>
              </a:ln>
              <a:solidFill>
                <a:srgbClr val="BFBFB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5157694" y="2680975"/>
            <a:ext cx="4587549" cy="591795"/>
          </a:xfrm>
          <a:prstGeom prst="rect">
            <a:avLst/>
          </a:prstGeom>
          <a:solidFill>
            <a:srgbClr val="C00000"/>
          </a:solidFill>
          <a:ln w="9525" cmpd="sng">
            <a:solidFill>
              <a:srgbClr val="FFFFFF">
                <a:lumMod val="65000"/>
              </a:srgbClr>
            </a:solidFill>
            <a:prstDash val="solid"/>
          </a:ln>
        </p:spPr>
        <p:txBody>
          <a:bodyPr rot="0" spcFirstLastPara="0" vert="horz" wrap="square" lIns="91440" tIns="45720" rIns="91440" bIns="45720" anchor="ctr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0" i="0" u="none" cap="none">
                <a:ln>
                  <a:noFill/>
                </a:ln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Part 2 TorchTian框架概述</a:t>
            </a:r>
            <a:endParaRPr sz="2400" b="0" i="0" u="none" cap="none">
              <a:ln>
                <a:noFill/>
              </a:ln>
              <a:solidFill>
                <a:schemeClr val="bg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5157694" y="3712434"/>
            <a:ext cx="4587551" cy="587513"/>
          </a:xfrm>
          <a:prstGeom prst="rect">
            <a:avLst/>
          </a:prstGeom>
          <a:solidFill>
            <a:srgbClr val="F2F2F2"/>
          </a:solidFill>
          <a:ln w="9525" cmpd="sng">
            <a:solidFill>
              <a:srgbClr val="FFFFFF">
                <a:lumMod val="65000"/>
              </a:srgbClr>
            </a:solidFill>
            <a:prstDash val="solid"/>
          </a:ln>
        </p:spPr>
        <p:txBody>
          <a:bodyPr rot="0" spcFirstLastPara="0" vert="horz" wrap="square" lIns="91440" tIns="45720" rIns="91440" bIns="45720" anchor="ctr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0" i="0" u="none" cap="none">
                <a:ln>
                  <a:noFill/>
                </a:ln>
                <a:solidFill>
                  <a:srgbClr val="FFFFFF">
                    <a:lumMod val="75000"/>
                  </a:srgbClr>
                </a:solidFill>
                <a:latin typeface="微软雅黑"/>
                <a:ea typeface="微软雅黑"/>
                <a:cs typeface="微软雅黑"/>
              </a:rPr>
              <a:t>Part 3 数据准备与基线训练</a:t>
            </a:r>
            <a:endParaRPr sz="2400" b="0" i="0" u="none" cap="none">
              <a:ln>
                <a:noFill/>
              </a:ln>
              <a:solidFill>
                <a:srgbClr val="FFFFFF">
                  <a:lumMod val="75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5157694" y="4739611"/>
            <a:ext cx="4587553" cy="587513"/>
          </a:xfrm>
          <a:prstGeom prst="rect">
            <a:avLst/>
          </a:prstGeom>
          <a:solidFill>
            <a:srgbClr val="FFFFFF">
              <a:lumMod val="95000"/>
            </a:srgbClr>
          </a:solidFill>
          <a:ln w="9525" cmpd="sng">
            <a:solidFill>
              <a:srgbClr val="FFFFFF">
                <a:lumMod val="65000"/>
              </a:srgbClr>
            </a:solidFill>
            <a:prstDash val="solid"/>
          </a:ln>
        </p:spPr>
        <p:txBody>
          <a:bodyPr rot="0" spcFirstLastPara="0" vert="horz" wrap="square" lIns="91440" tIns="45720" rIns="91440" bIns="45720" anchor="ctr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0" i="0" u="none" cap="none">
                <a:ln>
                  <a:noFill/>
                </a:ln>
                <a:solidFill>
                  <a:srgbClr val="FFFFFF">
                    <a:lumMod val="75000"/>
                  </a:srgbClr>
                </a:solidFill>
                <a:latin typeface="微软雅黑"/>
                <a:ea typeface="微软雅黑"/>
                <a:cs typeface="微软雅黑"/>
              </a:rPr>
              <a:t>Part 4 融合算子优化与Profiling</a:t>
            </a:r>
            <a:endParaRPr sz="2400" b="0" i="0" u="none" cap="none">
              <a:ln>
                <a:noFill/>
              </a:ln>
              <a:solidFill>
                <a:srgbClr val="FFFFFF">
                  <a:lumMod val="75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1" name="图片 2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矩形 1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slide-title"/>
          <p:cNvSpPr>
            <a:spLocks noGrp="1"/>
          </p:cNvSpPr>
          <p:nvPr/>
        </p:nvSpPr>
        <p:spPr>
          <a:xfrm>
            <a:off x="609600" y="320040"/>
            <a:ext cx="937260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lnSpc>
                <a:spcPct val="108000"/>
              </a:lnSpc>
              <a:buNone/>
              <a:defRPr sz="3375" b="0">
                <a:solidFill>
                  <a:srgbClr val="111111"/>
                </a:solidFill>
                <a:latin typeface="微软雅黑"/>
                <a:ea typeface="微软雅黑"/>
                <a:cs typeface="微软雅黑"/>
              </a:defRPr>
            </a:pPr>
            <a:r>
              <a:rPr sz="2700">
                <a:solidFill>
                  <a:srgbClr val="111111"/>
                </a:solidFill>
                <a:latin typeface="微软雅黑"/>
                <a:ea typeface="微软雅黑"/>
                <a:cs typeface="微软雅黑"/>
              </a:rPr>
              <a:t>TorchTitan</a:t>
            </a:r>
            <a:r>
              <a:rPr sz="2700">
                <a:solidFill>
                  <a:srgbClr val="111111"/>
                </a:solidFill>
                <a:latin typeface="微软雅黑"/>
                <a:ea typeface="微软雅黑"/>
                <a:cs typeface="微软雅黑"/>
              </a:rPr>
              <a:t>框架介绍</a:t>
            </a:r>
            <a:endParaRPr sz="2700">
              <a:solidFill>
                <a:srgbClr val="11111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矩形: 圆角 4"/>
          <p:cNvSpPr>
            <a:spLocks noGrp="1"/>
          </p:cNvSpPr>
          <p:nvPr/>
        </p:nvSpPr>
        <p:spPr>
          <a:xfrm>
            <a:off x="685800" y="1295400"/>
            <a:ext cx="3810000" cy="3200400"/>
          </a:xfrm>
          <a:prstGeom prst="roundRect">
            <a:avLst>
              <a:gd name="adj" fmla="val 1429"/>
            </a:avLst>
          </a:prstGeom>
          <a:solidFill>
            <a:srgbClr val="FFF1F2"/>
          </a:solidFill>
          <a:ln w="9525">
            <a:solidFill>
              <a:srgbClr val="E60012"/>
            </a:solidFill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1028700" y="1714500"/>
            <a:ext cx="312420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3600" b="1">
                <a:solidFill>
                  <a:srgbClr val="E60012"/>
                </a:solidFill>
                <a:latin typeface="Arial" panose="020B0604020202090204"/>
                <a:ea typeface="Arial" panose="020B0604020202090204"/>
                <a:cs typeface="Arial" panose="020B0604020202090204"/>
              </a:defRPr>
            </a:pPr>
            <a:r>
              <a:rPr sz="2880" b="1">
                <a:solidFill>
                  <a:srgbClr val="E60012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TorchTitan</a:t>
            </a:r>
            <a:endParaRPr sz="2880" b="1">
              <a:solidFill>
                <a:srgbClr val="E60012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1066800" y="2514600"/>
            <a:ext cx="30480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25000"/>
              </a:lnSpc>
              <a:buNone/>
              <a:defRPr sz="232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86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模型切分与模型定义解耦</a:t>
            </a:r>
            <a:endParaRPr sz="186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  <a:p>
            <a:pPr algn="ctr">
              <a:lnSpc>
                <a:spcPct val="125000"/>
              </a:lnSpc>
              <a:buNone/>
              <a:defRPr sz="232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86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无需手写通信逻辑</a:t>
            </a:r>
            <a:endParaRPr sz="186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矩形: 圆角 7"/>
          <p:cNvSpPr>
            <a:spLocks noGrp="1"/>
          </p:cNvSpPr>
          <p:nvPr/>
        </p:nvSpPr>
        <p:spPr>
          <a:xfrm>
            <a:off x="1371600" y="3695700"/>
            <a:ext cx="2438400" cy="3048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/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1432560" y="3695700"/>
            <a:ext cx="231648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简单易用</a:t>
            </a:r>
            <a:endParaRPr sz="1080" b="1"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5257800" y="1257300"/>
            <a:ext cx="38100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lnSpc>
                <a:spcPct val="108000"/>
              </a:lnSpc>
              <a:buNone/>
              <a:defRPr sz="225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框架统一管理</a:t>
            </a:r>
            <a:endParaRPr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5257800" y="1790700"/>
            <a:ext cx="495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lnSpc>
                <a:spcPct val="108000"/>
              </a:lnSpc>
              <a:buNone/>
              <a:defRPr sz="187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01</a:t>
            </a:r>
            <a:endParaRPr sz="1500" b="1"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5829300" y="1790700"/>
            <a:ext cx="21336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lnSpc>
                <a:spcPct val="108000"/>
              </a:lnSpc>
              <a:buNone/>
              <a:defRPr sz="18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分布式训练</a:t>
            </a:r>
            <a:endParaRPr sz="150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5829300" y="2156460"/>
            <a:ext cx="2209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lnSpc>
                <a:spcPct val="118000"/>
              </a:lnSpc>
              <a:buNone/>
              <a:defRPr sz="142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14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FSDP 参数分片与并行策略</a:t>
            </a:r>
            <a:endParaRPr sz="1140"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8229600" y="1790700"/>
            <a:ext cx="495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lnSpc>
                <a:spcPct val="108000"/>
              </a:lnSpc>
              <a:buNone/>
              <a:defRPr sz="1875" b="1">
                <a:solidFill>
                  <a:srgbClr val="377D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rPr>
              <a:t>02</a:t>
            </a:r>
            <a:endParaRPr sz="1500" b="1">
              <a:solidFill>
                <a:srgbClr val="377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8801100" y="1790700"/>
            <a:ext cx="21336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lnSpc>
                <a:spcPct val="108000"/>
              </a:lnSpc>
              <a:buNone/>
              <a:defRPr sz="18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数据处理</a:t>
            </a:r>
            <a:endParaRPr sz="150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8801100" y="2156460"/>
            <a:ext cx="2209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lnSpc>
                <a:spcPct val="118000"/>
              </a:lnSpc>
              <a:buNone/>
              <a:defRPr sz="142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14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tokenization、label masking、batch</a:t>
            </a:r>
            <a:endParaRPr sz="1140"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5257800" y="2857500"/>
            <a:ext cx="495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lnSpc>
                <a:spcPct val="108000"/>
              </a:lnSpc>
              <a:buNone/>
              <a:defRPr sz="187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03</a:t>
            </a:r>
            <a:endParaRPr sz="1500" b="1"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5829300" y="2857500"/>
            <a:ext cx="21336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lnSpc>
                <a:spcPct val="108000"/>
              </a:lnSpc>
              <a:buNone/>
              <a:defRPr sz="18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检查点</a:t>
            </a:r>
            <a:endParaRPr sz="150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5829300" y="3223260"/>
            <a:ext cx="2209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lnSpc>
                <a:spcPct val="118000"/>
              </a:lnSpc>
              <a:buNone/>
              <a:defRPr sz="142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14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中断恢复与 HF 权重导入导出</a:t>
            </a:r>
            <a:endParaRPr sz="1140"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8229600" y="2857500"/>
            <a:ext cx="495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lnSpc>
                <a:spcPct val="108000"/>
              </a:lnSpc>
              <a:buNone/>
              <a:defRPr sz="1875" b="1">
                <a:solidFill>
                  <a:srgbClr val="377D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rPr>
              <a:t>04</a:t>
            </a:r>
            <a:endParaRPr sz="1500" b="1">
              <a:solidFill>
                <a:srgbClr val="377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8801100" y="2857500"/>
            <a:ext cx="21336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lnSpc>
                <a:spcPct val="108000"/>
              </a:lnSpc>
              <a:buNone/>
              <a:defRPr sz="18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混合精度</a:t>
            </a:r>
            <a:endParaRPr sz="150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8801100" y="3223260"/>
            <a:ext cx="2209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lnSpc>
                <a:spcPct val="118000"/>
              </a:lnSpc>
              <a:buNone/>
              <a:defRPr sz="142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14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fp32 / bf16 切换以节省显存</a:t>
            </a:r>
            <a:endParaRPr sz="1140"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5257800" y="3924300"/>
            <a:ext cx="495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lnSpc>
                <a:spcPct val="108000"/>
              </a:lnSpc>
              <a:buNone/>
              <a:defRPr sz="187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05</a:t>
            </a:r>
            <a:endParaRPr sz="1500" b="1"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5829300" y="3924300"/>
            <a:ext cx="21336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lnSpc>
                <a:spcPct val="108000"/>
              </a:lnSpc>
              <a:buNone/>
              <a:defRPr sz="18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优化器</a:t>
            </a:r>
            <a:endParaRPr sz="150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5829300" y="4290060"/>
            <a:ext cx="2209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lnSpc>
                <a:spcPct val="118000"/>
              </a:lnSpc>
              <a:buNone/>
              <a:defRPr sz="142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14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Adam 状态与学习率调度</a:t>
            </a:r>
            <a:endParaRPr sz="1140"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8229600" y="3924300"/>
            <a:ext cx="495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lnSpc>
                <a:spcPct val="108000"/>
              </a:lnSpc>
              <a:buNone/>
              <a:defRPr sz="1875" b="1">
                <a:solidFill>
                  <a:srgbClr val="377D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rPr>
              <a:t>06</a:t>
            </a:r>
            <a:endParaRPr sz="1500" b="1">
              <a:solidFill>
                <a:srgbClr val="377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8801100" y="3924300"/>
            <a:ext cx="21336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lnSpc>
                <a:spcPct val="108000"/>
              </a:lnSpc>
              <a:buNone/>
              <a:defRPr sz="18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性能监控</a:t>
            </a:r>
            <a:endParaRPr sz="150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8801100" y="4290060"/>
            <a:ext cx="2209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lnSpc>
                <a:spcPct val="118000"/>
              </a:lnSpc>
              <a:buNone/>
              <a:defRPr sz="142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14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loss、grad norm、吞吐量日志</a:t>
            </a:r>
            <a:endParaRPr sz="1140"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1676400" y="5257800"/>
            <a:ext cx="8839200" cy="396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202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62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TorchTitan</a:t>
            </a:r>
            <a:r>
              <a:rPr sz="162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2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是</a:t>
            </a:r>
            <a:r>
              <a:rPr sz="162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PyTorch</a:t>
            </a:r>
            <a:r>
              <a:rPr sz="162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社区原生大模型训练框架，便于复用开源方案并降低迁移门槛</a:t>
            </a:r>
            <a:r>
              <a:rPr sz="162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。</a:t>
            </a:r>
            <a:endParaRPr sz="1620" b="1"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22" name="图片 2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矩形 1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slide-title"/>
          <p:cNvSpPr>
            <a:spLocks noGrp="1"/>
          </p:cNvSpPr>
          <p:nvPr/>
        </p:nvSpPr>
        <p:spPr>
          <a:xfrm>
            <a:off x="609600" y="320040"/>
            <a:ext cx="937260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lnSpc>
                <a:spcPct val="108000"/>
              </a:lnSpc>
              <a:buNone/>
              <a:defRPr sz="3375" b="0">
                <a:solidFill>
                  <a:srgbClr val="111111"/>
                </a:solidFill>
                <a:latin typeface="微软雅黑"/>
                <a:ea typeface="微软雅黑"/>
                <a:cs typeface="微软雅黑"/>
              </a:defRPr>
            </a:pPr>
            <a:r>
              <a:rPr sz="2700">
                <a:solidFill>
                  <a:srgbClr val="111111"/>
                </a:solidFill>
                <a:latin typeface="微软雅黑"/>
                <a:ea typeface="微软雅黑"/>
                <a:cs typeface="微软雅黑"/>
              </a:rPr>
              <a:t>TorchTitan-NPU</a:t>
            </a:r>
            <a:r>
              <a:rPr lang="zh-CN" sz="2700">
                <a:solidFill>
                  <a:srgbClr val="111111"/>
                </a:solidFill>
                <a:latin typeface="微软雅黑"/>
                <a:ea typeface="微软雅黑"/>
                <a:cs typeface="微软雅黑"/>
              </a:rPr>
              <a:t>介绍</a:t>
            </a:r>
            <a:endParaRPr lang="zh-CN" sz="2700">
              <a:solidFill>
                <a:srgbClr val="11111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1" name="icon-puzzle-body"/>
          <p:cNvSpPr>
            <a:spLocks noGrp="1"/>
          </p:cNvSpPr>
          <p:nvPr/>
        </p:nvSpPr>
        <p:spPr>
          <a:xfrm>
            <a:off x="800100" y="1114425"/>
            <a:ext cx="171450" cy="171450"/>
          </a:xfrm>
          <a:prstGeom prst="roundRect">
            <a:avLst>
              <a:gd name="adj" fmla="val 5556"/>
            </a:avLst>
          </a:prstGeom>
          <a:solidFill>
            <a:srgbClr val="58A978"/>
          </a:solidFill>
          <a:ln w="0">
            <a:solidFill>
              <a:srgbClr val="58A978"/>
            </a:solidFill>
            <a:prstDash val="solid"/>
          </a:ln>
        </p:spPr>
      </p:sp>
      <p:sp>
        <p:nvSpPr>
          <p:cNvPr id="32" name="icon-puzzle-tab"/>
          <p:cNvSpPr>
            <a:spLocks noGrp="1"/>
          </p:cNvSpPr>
          <p:nvPr/>
        </p:nvSpPr>
        <p:spPr>
          <a:xfrm>
            <a:off x="847725" y="1076325"/>
            <a:ext cx="76200" cy="76200"/>
          </a:xfrm>
          <a:prstGeom prst="ellipse">
            <a:avLst/>
          </a:prstGeom>
          <a:solidFill>
            <a:srgbClr val="58A978"/>
          </a:solidFill>
          <a:ln w="0">
            <a:solidFill>
              <a:srgbClr val="58A978"/>
            </a:solidFill>
            <a:prstDash val="solid"/>
          </a:ln>
        </p:spPr>
      </p:sp>
      <p:sp>
        <p:nvSpPr>
          <p:cNvPr id="33" name="icon-puzzle-tab"/>
          <p:cNvSpPr>
            <a:spLocks noGrp="1"/>
          </p:cNvSpPr>
          <p:nvPr/>
        </p:nvSpPr>
        <p:spPr>
          <a:xfrm>
            <a:off x="933450" y="1162050"/>
            <a:ext cx="76200" cy="76200"/>
          </a:xfrm>
          <a:prstGeom prst="ellipse">
            <a:avLst/>
          </a:prstGeom>
          <a:solidFill>
            <a:srgbClr val="58A978"/>
          </a:solidFill>
          <a:ln w="0">
            <a:solidFill>
              <a:srgbClr val="58A978"/>
            </a:solidFill>
            <a:prstDash val="solid"/>
          </a:ln>
        </p:spPr>
      </p:sp>
      <p:sp>
        <p:nvSpPr>
          <p:cNvPr id="34" name="icon-puzzle-tab"/>
          <p:cNvSpPr>
            <a:spLocks noGrp="1"/>
          </p:cNvSpPr>
          <p:nvPr/>
        </p:nvSpPr>
        <p:spPr>
          <a:xfrm>
            <a:off x="847725" y="1247775"/>
            <a:ext cx="76200" cy="76200"/>
          </a:xfrm>
          <a:prstGeom prst="ellipse">
            <a:avLst/>
          </a:prstGeom>
          <a:solidFill>
            <a:srgbClr val="58A978"/>
          </a:solidFill>
          <a:ln w="0">
            <a:solidFill>
              <a:srgbClr val="58A978"/>
            </a:solidFill>
            <a:prstDash val="solid"/>
          </a:ln>
        </p:spPr>
      </p:sp>
      <p:sp>
        <p:nvSpPr>
          <p:cNvPr id="35" name="icon-puzzle-tab"/>
          <p:cNvSpPr>
            <a:spLocks noGrp="1"/>
          </p:cNvSpPr>
          <p:nvPr/>
        </p:nvSpPr>
        <p:spPr>
          <a:xfrm>
            <a:off x="762000" y="1162050"/>
            <a:ext cx="76200" cy="76200"/>
          </a:xfrm>
          <a:prstGeom prst="ellipse">
            <a:avLst/>
          </a:prstGeom>
          <a:solidFill>
            <a:srgbClr val="58A978"/>
          </a:solidFill>
          <a:ln w="0">
            <a:solidFill>
              <a:srgbClr val="58A978"/>
            </a:solidFill>
            <a:prstDash val="solid"/>
          </a:ln>
        </p:spPr>
      </p:sp>
      <p:sp>
        <p:nvSpPr>
          <p:cNvPr id="36" name="bullet-免侵入式插件机制"/>
          <p:cNvSpPr>
            <a:spLocks noGrp="1"/>
          </p:cNvSpPr>
          <p:nvPr/>
        </p:nvSpPr>
        <p:spPr>
          <a:xfrm>
            <a:off x="1162050" y="1066800"/>
            <a:ext cx="3733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l">
              <a:defRPr sz="1500" b="1">
                <a:solidFill>
                  <a:srgbClr val="242424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42424"/>
                </a:solidFill>
                <a:latin typeface="微软雅黑"/>
                <a:ea typeface="微软雅黑"/>
                <a:cs typeface="微软雅黑"/>
              </a:rPr>
              <a:t>免侵入式插件机制</a:t>
            </a:r>
            <a:endParaRPr sz="1500" b="1">
              <a:solidFill>
                <a:srgbClr val="24242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7" name="icon-toggle-track"/>
          <p:cNvSpPr>
            <a:spLocks noGrp="1"/>
          </p:cNvSpPr>
          <p:nvPr/>
        </p:nvSpPr>
        <p:spPr>
          <a:xfrm>
            <a:off x="762000" y="1495425"/>
            <a:ext cx="285750" cy="152400"/>
          </a:xfrm>
          <a:prstGeom prst="roundRect">
            <a:avLst>
              <a:gd name="adj" fmla="val 50000"/>
            </a:avLst>
          </a:prstGeom>
          <a:solidFill>
            <a:srgbClr val="3E7BB6"/>
          </a:solidFill>
          <a:ln w="0">
            <a:solidFill>
              <a:srgbClr val="3E7BB6"/>
            </a:solidFill>
            <a:prstDash val="solid"/>
          </a:ln>
        </p:spPr>
      </p:sp>
      <p:sp>
        <p:nvSpPr>
          <p:cNvPr id="38" name="icon-toggle-knob"/>
          <p:cNvSpPr>
            <a:spLocks noGrp="1"/>
          </p:cNvSpPr>
          <p:nvPr/>
        </p:nvSpPr>
        <p:spPr>
          <a:xfrm>
            <a:off x="914400" y="1514475"/>
            <a:ext cx="114300" cy="114300"/>
          </a:xfrm>
          <a:prstGeom prst="ellipse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39" name="bullet-按需启用的开关配置"/>
          <p:cNvSpPr>
            <a:spLocks noGrp="1"/>
          </p:cNvSpPr>
          <p:nvPr/>
        </p:nvSpPr>
        <p:spPr>
          <a:xfrm>
            <a:off x="1162050" y="1438275"/>
            <a:ext cx="3733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l">
              <a:defRPr sz="1500" b="1">
                <a:solidFill>
                  <a:srgbClr val="242424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42424"/>
                </a:solidFill>
                <a:latin typeface="微软雅黑"/>
                <a:ea typeface="微软雅黑"/>
                <a:cs typeface="微软雅黑"/>
              </a:rPr>
              <a:t>按需启用的开关配置</a:t>
            </a:r>
            <a:endParaRPr sz="1500" b="1">
              <a:solidFill>
                <a:srgbClr val="24242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0" name="icon-matrix-cell"/>
          <p:cNvSpPr>
            <a:spLocks noGrp="1"/>
          </p:cNvSpPr>
          <p:nvPr/>
        </p:nvSpPr>
        <p:spPr>
          <a:xfrm>
            <a:off x="762000" y="1819275"/>
            <a:ext cx="57150" cy="57150"/>
          </a:xfrm>
          <a:prstGeom prst="rect">
            <a:avLst/>
          </a:prstGeom>
          <a:solidFill>
            <a:srgbClr val="E1B52A"/>
          </a:solidFill>
          <a:ln w="0">
            <a:solidFill>
              <a:srgbClr val="E1B52A"/>
            </a:solidFill>
            <a:prstDash val="solid"/>
          </a:ln>
        </p:spPr>
      </p:sp>
      <p:sp>
        <p:nvSpPr>
          <p:cNvPr id="41" name="icon-matrix-cell"/>
          <p:cNvSpPr>
            <a:spLocks noGrp="1"/>
          </p:cNvSpPr>
          <p:nvPr/>
        </p:nvSpPr>
        <p:spPr>
          <a:xfrm>
            <a:off x="838200" y="1819275"/>
            <a:ext cx="57150" cy="57150"/>
          </a:xfrm>
          <a:prstGeom prst="rect">
            <a:avLst/>
          </a:prstGeom>
          <a:solidFill>
            <a:srgbClr val="E1B52A"/>
          </a:solidFill>
          <a:ln w="0">
            <a:solidFill>
              <a:srgbClr val="E1B52A"/>
            </a:solidFill>
            <a:prstDash val="solid"/>
          </a:ln>
        </p:spPr>
      </p:sp>
      <p:sp>
        <p:nvSpPr>
          <p:cNvPr id="42" name="icon-matrix-cell"/>
          <p:cNvSpPr>
            <a:spLocks noGrp="1"/>
          </p:cNvSpPr>
          <p:nvPr/>
        </p:nvSpPr>
        <p:spPr>
          <a:xfrm>
            <a:off x="914400" y="1819275"/>
            <a:ext cx="57150" cy="57150"/>
          </a:xfrm>
          <a:prstGeom prst="rect">
            <a:avLst/>
          </a:prstGeom>
          <a:solidFill>
            <a:srgbClr val="E1B52A"/>
          </a:solidFill>
          <a:ln w="0">
            <a:solidFill>
              <a:srgbClr val="E1B52A"/>
            </a:solidFill>
            <a:prstDash val="solid"/>
          </a:ln>
        </p:spPr>
      </p:sp>
      <p:sp>
        <p:nvSpPr>
          <p:cNvPr id="43" name="icon-matrix-cell"/>
          <p:cNvSpPr>
            <a:spLocks noGrp="1"/>
          </p:cNvSpPr>
          <p:nvPr/>
        </p:nvSpPr>
        <p:spPr>
          <a:xfrm>
            <a:off x="762000" y="1895475"/>
            <a:ext cx="57150" cy="57150"/>
          </a:xfrm>
          <a:prstGeom prst="rect">
            <a:avLst/>
          </a:prstGeom>
          <a:solidFill>
            <a:srgbClr val="E1B52A"/>
          </a:solidFill>
          <a:ln w="0">
            <a:solidFill>
              <a:srgbClr val="E1B52A"/>
            </a:solidFill>
            <a:prstDash val="solid"/>
          </a:ln>
        </p:spPr>
      </p:sp>
      <p:sp>
        <p:nvSpPr>
          <p:cNvPr id="44" name="icon-matrix-cell"/>
          <p:cNvSpPr>
            <a:spLocks noGrp="1"/>
          </p:cNvSpPr>
          <p:nvPr/>
        </p:nvSpPr>
        <p:spPr>
          <a:xfrm>
            <a:off x="838200" y="1895475"/>
            <a:ext cx="57150" cy="57150"/>
          </a:xfrm>
          <a:prstGeom prst="rect">
            <a:avLst/>
          </a:prstGeom>
          <a:solidFill>
            <a:srgbClr val="E1B52A"/>
          </a:solidFill>
          <a:ln w="0">
            <a:solidFill>
              <a:srgbClr val="E1B52A"/>
            </a:solidFill>
            <a:prstDash val="solid"/>
          </a:ln>
        </p:spPr>
      </p:sp>
      <p:sp>
        <p:nvSpPr>
          <p:cNvPr id="45" name="icon-matrix-cell"/>
          <p:cNvSpPr>
            <a:spLocks noGrp="1"/>
          </p:cNvSpPr>
          <p:nvPr/>
        </p:nvSpPr>
        <p:spPr>
          <a:xfrm>
            <a:off x="914400" y="1895475"/>
            <a:ext cx="57150" cy="57150"/>
          </a:xfrm>
          <a:prstGeom prst="rect">
            <a:avLst/>
          </a:prstGeom>
          <a:solidFill>
            <a:srgbClr val="E1B52A"/>
          </a:solidFill>
          <a:ln w="0">
            <a:solidFill>
              <a:srgbClr val="E1B52A"/>
            </a:solidFill>
            <a:prstDash val="solid"/>
          </a:ln>
        </p:spPr>
      </p:sp>
      <p:sp>
        <p:nvSpPr>
          <p:cNvPr id="46" name="icon-matrix-cell"/>
          <p:cNvSpPr>
            <a:spLocks noGrp="1"/>
          </p:cNvSpPr>
          <p:nvPr/>
        </p:nvSpPr>
        <p:spPr>
          <a:xfrm>
            <a:off x="762000" y="1971675"/>
            <a:ext cx="57150" cy="57150"/>
          </a:xfrm>
          <a:prstGeom prst="rect">
            <a:avLst/>
          </a:prstGeom>
          <a:solidFill>
            <a:srgbClr val="E1B52A"/>
          </a:solidFill>
          <a:ln w="0">
            <a:solidFill>
              <a:srgbClr val="E1B52A"/>
            </a:solidFill>
            <a:prstDash val="solid"/>
          </a:ln>
        </p:spPr>
      </p:sp>
      <p:sp>
        <p:nvSpPr>
          <p:cNvPr id="47" name="icon-matrix-cell"/>
          <p:cNvSpPr>
            <a:spLocks noGrp="1"/>
          </p:cNvSpPr>
          <p:nvPr/>
        </p:nvSpPr>
        <p:spPr>
          <a:xfrm>
            <a:off x="838200" y="1971675"/>
            <a:ext cx="57150" cy="57150"/>
          </a:xfrm>
          <a:prstGeom prst="rect">
            <a:avLst/>
          </a:prstGeom>
          <a:solidFill>
            <a:srgbClr val="E1B52A"/>
          </a:solidFill>
          <a:ln w="0">
            <a:solidFill>
              <a:srgbClr val="E1B52A"/>
            </a:solidFill>
            <a:prstDash val="solid"/>
          </a:ln>
        </p:spPr>
      </p:sp>
      <p:sp>
        <p:nvSpPr>
          <p:cNvPr id="48" name="icon-matrix-cell"/>
          <p:cNvSpPr>
            <a:spLocks noGrp="1"/>
          </p:cNvSpPr>
          <p:nvPr/>
        </p:nvSpPr>
        <p:spPr>
          <a:xfrm>
            <a:off x="914400" y="1971675"/>
            <a:ext cx="57150" cy="57150"/>
          </a:xfrm>
          <a:prstGeom prst="rect">
            <a:avLst/>
          </a:prstGeom>
          <a:solidFill>
            <a:srgbClr val="E1B52A"/>
          </a:solidFill>
          <a:ln w="0">
            <a:solidFill>
              <a:srgbClr val="E1B52A"/>
            </a:solidFill>
            <a:prstDash val="solid"/>
          </a:ln>
        </p:spPr>
      </p:sp>
      <p:sp>
        <p:nvSpPr>
          <p:cNvPr id="49" name="bullet-自由组合的优化矩阵"/>
          <p:cNvSpPr>
            <a:spLocks noGrp="1"/>
          </p:cNvSpPr>
          <p:nvPr/>
        </p:nvSpPr>
        <p:spPr>
          <a:xfrm>
            <a:off x="1162050" y="1809750"/>
            <a:ext cx="3733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l">
              <a:defRPr sz="1500" b="1">
                <a:solidFill>
                  <a:srgbClr val="242424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42424"/>
                </a:solidFill>
                <a:latin typeface="微软雅黑"/>
                <a:ea typeface="微软雅黑"/>
                <a:cs typeface="微软雅黑"/>
              </a:rPr>
              <a:t>自由组合的优化矩阵</a:t>
            </a:r>
            <a:endParaRPr sz="1500" b="1">
              <a:solidFill>
                <a:srgbClr val="24242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0" name="icon-network-edge"/>
          <p:cNvSpPr>
            <a:spLocks noGrp="1"/>
          </p:cNvSpPr>
          <p:nvPr/>
        </p:nvSpPr>
        <p:spPr>
          <a:xfrm flipV="1">
            <a:off x="800100" y="2219325"/>
            <a:ext cx="95250" cy="104775"/>
          </a:xfrm>
          <a:prstGeom prst="line">
            <a:avLst/>
          </a:prstGeom>
          <a:noFill/>
          <a:ln w="12383">
            <a:solidFill>
              <a:srgbClr val="D97845"/>
            </a:solidFill>
            <a:prstDash val="solid"/>
          </a:ln>
        </p:spPr>
      </p:sp>
      <p:sp>
        <p:nvSpPr>
          <p:cNvPr id="51" name="icon-network-edge"/>
          <p:cNvSpPr>
            <a:spLocks noGrp="1"/>
          </p:cNvSpPr>
          <p:nvPr/>
        </p:nvSpPr>
        <p:spPr>
          <a:xfrm>
            <a:off x="895350" y="2219325"/>
            <a:ext cx="123825" cy="57150"/>
          </a:xfrm>
          <a:prstGeom prst="line">
            <a:avLst/>
          </a:prstGeom>
          <a:noFill/>
          <a:ln w="12383">
            <a:solidFill>
              <a:srgbClr val="D97845"/>
            </a:solidFill>
            <a:prstDash val="solid"/>
          </a:ln>
        </p:spPr>
      </p:sp>
      <p:sp>
        <p:nvSpPr>
          <p:cNvPr id="52" name="icon-network-edge"/>
          <p:cNvSpPr>
            <a:spLocks noGrp="1"/>
          </p:cNvSpPr>
          <p:nvPr/>
        </p:nvSpPr>
        <p:spPr>
          <a:xfrm flipH="1">
            <a:off x="971550" y="2276475"/>
            <a:ext cx="47625" cy="142875"/>
          </a:xfrm>
          <a:prstGeom prst="line">
            <a:avLst/>
          </a:prstGeom>
          <a:noFill/>
          <a:ln w="12383">
            <a:solidFill>
              <a:srgbClr val="D97845"/>
            </a:solidFill>
            <a:prstDash val="solid"/>
          </a:ln>
        </p:spPr>
      </p:sp>
      <p:sp>
        <p:nvSpPr>
          <p:cNvPr id="53" name="icon-network-edge"/>
          <p:cNvSpPr>
            <a:spLocks noGrp="1"/>
          </p:cNvSpPr>
          <p:nvPr/>
        </p:nvSpPr>
        <p:spPr>
          <a:xfrm flipH="1">
            <a:off x="847725" y="2419350"/>
            <a:ext cx="123825" cy="28575"/>
          </a:xfrm>
          <a:prstGeom prst="line">
            <a:avLst/>
          </a:prstGeom>
          <a:noFill/>
          <a:ln w="12383">
            <a:solidFill>
              <a:srgbClr val="D97845"/>
            </a:solidFill>
            <a:prstDash val="solid"/>
          </a:ln>
        </p:spPr>
      </p:sp>
      <p:sp>
        <p:nvSpPr>
          <p:cNvPr id="54" name="icon-network-edge"/>
          <p:cNvSpPr>
            <a:spLocks noGrp="1"/>
          </p:cNvSpPr>
          <p:nvPr/>
        </p:nvSpPr>
        <p:spPr>
          <a:xfrm flipH="1" flipV="1">
            <a:off x="800100" y="2324100"/>
            <a:ext cx="47625" cy="123825"/>
          </a:xfrm>
          <a:prstGeom prst="line">
            <a:avLst/>
          </a:prstGeom>
          <a:noFill/>
          <a:ln w="12383">
            <a:solidFill>
              <a:srgbClr val="D97845"/>
            </a:solidFill>
            <a:prstDash val="solid"/>
          </a:ln>
        </p:spPr>
      </p:sp>
      <p:sp>
        <p:nvSpPr>
          <p:cNvPr id="55" name="icon-network-edge"/>
          <p:cNvSpPr>
            <a:spLocks noGrp="1"/>
          </p:cNvSpPr>
          <p:nvPr/>
        </p:nvSpPr>
        <p:spPr>
          <a:xfrm>
            <a:off x="800100" y="2324100"/>
            <a:ext cx="171450" cy="95250"/>
          </a:xfrm>
          <a:prstGeom prst="line">
            <a:avLst/>
          </a:prstGeom>
          <a:noFill/>
          <a:ln w="12383">
            <a:solidFill>
              <a:srgbClr val="D97845"/>
            </a:solidFill>
            <a:prstDash val="solid"/>
          </a:ln>
        </p:spPr>
      </p:sp>
      <p:sp>
        <p:nvSpPr>
          <p:cNvPr id="56" name="icon-network-edge"/>
          <p:cNvSpPr>
            <a:spLocks noGrp="1"/>
          </p:cNvSpPr>
          <p:nvPr/>
        </p:nvSpPr>
        <p:spPr>
          <a:xfrm>
            <a:off x="895350" y="2219325"/>
            <a:ext cx="76200" cy="200025"/>
          </a:xfrm>
          <a:prstGeom prst="line">
            <a:avLst/>
          </a:prstGeom>
          <a:noFill/>
          <a:ln w="12383">
            <a:solidFill>
              <a:srgbClr val="D97845"/>
            </a:solidFill>
            <a:prstDash val="solid"/>
          </a:ln>
        </p:spPr>
      </p:sp>
      <p:sp>
        <p:nvSpPr>
          <p:cNvPr id="57" name="icon-network-node"/>
          <p:cNvSpPr>
            <a:spLocks noGrp="1"/>
          </p:cNvSpPr>
          <p:nvPr/>
        </p:nvSpPr>
        <p:spPr>
          <a:xfrm>
            <a:off x="771525" y="2295525"/>
            <a:ext cx="66675" cy="66675"/>
          </a:xfrm>
          <a:prstGeom prst="ellipse">
            <a:avLst/>
          </a:prstGeom>
          <a:solidFill>
            <a:srgbClr val="D97845"/>
          </a:solidFill>
          <a:ln w="0">
            <a:solidFill>
              <a:srgbClr val="D97845"/>
            </a:solidFill>
            <a:prstDash val="solid"/>
          </a:ln>
        </p:spPr>
      </p:sp>
      <p:sp>
        <p:nvSpPr>
          <p:cNvPr id="58" name="icon-network-node"/>
          <p:cNvSpPr>
            <a:spLocks noGrp="1"/>
          </p:cNvSpPr>
          <p:nvPr/>
        </p:nvSpPr>
        <p:spPr>
          <a:xfrm>
            <a:off x="866775" y="2190750"/>
            <a:ext cx="66675" cy="66675"/>
          </a:xfrm>
          <a:prstGeom prst="ellipse">
            <a:avLst/>
          </a:prstGeom>
          <a:solidFill>
            <a:srgbClr val="D97845"/>
          </a:solidFill>
          <a:ln w="0">
            <a:solidFill>
              <a:srgbClr val="D97845"/>
            </a:solidFill>
            <a:prstDash val="solid"/>
          </a:ln>
        </p:spPr>
      </p:sp>
      <p:sp>
        <p:nvSpPr>
          <p:cNvPr id="59" name="icon-network-node"/>
          <p:cNvSpPr>
            <a:spLocks noGrp="1"/>
          </p:cNvSpPr>
          <p:nvPr/>
        </p:nvSpPr>
        <p:spPr>
          <a:xfrm>
            <a:off x="990600" y="2247900"/>
            <a:ext cx="66675" cy="66675"/>
          </a:xfrm>
          <a:prstGeom prst="ellipse">
            <a:avLst/>
          </a:prstGeom>
          <a:solidFill>
            <a:srgbClr val="D97845"/>
          </a:solidFill>
          <a:ln w="0">
            <a:solidFill>
              <a:srgbClr val="D97845"/>
            </a:solidFill>
            <a:prstDash val="solid"/>
          </a:ln>
        </p:spPr>
      </p:sp>
      <p:sp>
        <p:nvSpPr>
          <p:cNvPr id="60" name="icon-network-node"/>
          <p:cNvSpPr>
            <a:spLocks noGrp="1"/>
          </p:cNvSpPr>
          <p:nvPr/>
        </p:nvSpPr>
        <p:spPr>
          <a:xfrm>
            <a:off x="942975" y="2390775"/>
            <a:ext cx="66675" cy="66675"/>
          </a:xfrm>
          <a:prstGeom prst="ellipse">
            <a:avLst/>
          </a:prstGeom>
          <a:solidFill>
            <a:srgbClr val="D97845"/>
          </a:solidFill>
          <a:ln w="0">
            <a:solidFill>
              <a:srgbClr val="D97845"/>
            </a:solidFill>
            <a:prstDash val="solid"/>
          </a:ln>
        </p:spPr>
      </p:sp>
      <p:sp>
        <p:nvSpPr>
          <p:cNvPr id="61" name="icon-network-node"/>
          <p:cNvSpPr>
            <a:spLocks noGrp="1"/>
          </p:cNvSpPr>
          <p:nvPr/>
        </p:nvSpPr>
        <p:spPr>
          <a:xfrm>
            <a:off x="819150" y="2419350"/>
            <a:ext cx="66675" cy="66675"/>
          </a:xfrm>
          <a:prstGeom prst="ellipse">
            <a:avLst/>
          </a:prstGeom>
          <a:solidFill>
            <a:srgbClr val="D97845"/>
          </a:solidFill>
          <a:ln w="0">
            <a:solidFill>
              <a:srgbClr val="D97845"/>
            </a:solidFill>
            <a:prstDash val="solid"/>
          </a:ln>
        </p:spPr>
      </p:sp>
      <p:sp>
        <p:nvSpPr>
          <p:cNvPr id="62" name="bullet-无缝对接 torch.compile+inductor"/>
          <p:cNvSpPr>
            <a:spLocks noGrp="1"/>
          </p:cNvSpPr>
          <p:nvPr/>
        </p:nvSpPr>
        <p:spPr>
          <a:xfrm>
            <a:off x="1162050" y="2181225"/>
            <a:ext cx="3733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l">
              <a:defRPr sz="1500" b="1">
                <a:solidFill>
                  <a:srgbClr val="242424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42424"/>
                </a:solidFill>
                <a:latin typeface="微软雅黑"/>
                <a:ea typeface="微软雅黑"/>
                <a:cs typeface="微软雅黑"/>
              </a:rPr>
              <a:t>无缝对接 torch.compile+inductor</a:t>
            </a:r>
            <a:endParaRPr sz="1500" b="1">
              <a:solidFill>
                <a:srgbClr val="24242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3" name="stack-outer"/>
          <p:cNvSpPr>
            <a:spLocks noGrp="1"/>
          </p:cNvSpPr>
          <p:nvPr/>
        </p:nvSpPr>
        <p:spPr>
          <a:xfrm>
            <a:off x="685800" y="2895600"/>
            <a:ext cx="4324350" cy="2857500"/>
          </a:xfrm>
          <a:prstGeom prst="roundRect">
            <a:avLst>
              <a:gd name="adj" fmla="val 3333"/>
            </a:avLst>
          </a:prstGeom>
          <a:noFill/>
          <a:ln w="10478">
            <a:solidFill>
              <a:srgbClr val="A8AFB5"/>
            </a:solidFill>
            <a:prstDash val="dash"/>
          </a:ln>
        </p:spPr>
      </p:sp>
      <p:sp>
        <p:nvSpPr>
          <p:cNvPr id="64" name="community-label"/>
          <p:cNvSpPr>
            <a:spLocks noGrp="1"/>
          </p:cNvSpPr>
          <p:nvPr/>
        </p:nvSpPr>
        <p:spPr>
          <a:xfrm>
            <a:off x="2867025" y="2724150"/>
            <a:ext cx="990600" cy="228600"/>
          </a:xfrm>
          <a:prstGeom prst="roundRect">
            <a:avLst>
              <a:gd name="adj" fmla="val 25000"/>
            </a:avLst>
          </a:prstGeom>
          <a:solidFill>
            <a:srgbClr val="EAF2F6"/>
          </a:solidFill>
          <a:ln w="9525">
            <a:solidFill>
              <a:srgbClr val="65747E"/>
            </a:solidFill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790" b="0">
                <a:solidFill>
                  <a:srgbClr val="222222"/>
                </a:solidFill>
                <a:latin typeface="Consolas"/>
                <a:ea typeface="Consolas"/>
                <a:cs typeface="Consolas"/>
              </a:defRPr>
            </a:pPr>
            <a:r>
              <a:rPr sz="790" b="0">
                <a:solidFill>
                  <a:srgbClr val="222222"/>
                </a:solidFill>
                <a:latin typeface="Consolas"/>
                <a:ea typeface="Consolas"/>
                <a:cs typeface="Consolas"/>
              </a:rPr>
              <a:t>Community-led</a:t>
            </a:r>
            <a:endParaRPr sz="790" b="0">
              <a:solidFill>
                <a:srgbClr val="22222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65" name="huawei-label"/>
          <p:cNvSpPr>
            <a:spLocks noGrp="1"/>
          </p:cNvSpPr>
          <p:nvPr/>
        </p:nvSpPr>
        <p:spPr>
          <a:xfrm>
            <a:off x="3943350" y="2724150"/>
            <a:ext cx="962025" cy="228600"/>
          </a:xfrm>
          <a:prstGeom prst="roundRect">
            <a:avLst>
              <a:gd name="adj" fmla="val 25000"/>
            </a:avLst>
          </a:prstGeom>
          <a:solidFill>
            <a:srgbClr val="F7DD71"/>
          </a:solidFill>
          <a:ln w="9525">
            <a:solidFill>
              <a:srgbClr val="8B7624"/>
            </a:solidFill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790" b="0">
                <a:solidFill>
                  <a:srgbClr val="222222"/>
                </a:solidFill>
                <a:latin typeface="Consolas"/>
                <a:ea typeface="Consolas"/>
                <a:cs typeface="Consolas"/>
              </a:defRPr>
            </a:pPr>
            <a:r>
              <a:rPr sz="790" b="0">
                <a:solidFill>
                  <a:srgbClr val="222222"/>
                </a:solidFill>
                <a:latin typeface="Consolas"/>
                <a:ea typeface="Consolas"/>
                <a:cs typeface="Consolas"/>
              </a:rPr>
              <a:t>Huawei-led</a:t>
            </a:r>
            <a:endParaRPr sz="790" b="0">
              <a:solidFill>
                <a:srgbClr val="22222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66" name="layer-torchtitan"/>
          <p:cNvSpPr>
            <a:spLocks noGrp="1"/>
          </p:cNvSpPr>
          <p:nvPr/>
        </p:nvSpPr>
        <p:spPr>
          <a:xfrm>
            <a:off x="800100" y="3038475"/>
            <a:ext cx="4095750" cy="561975"/>
          </a:xfrm>
          <a:prstGeom prst="roundRect">
            <a:avLst>
              <a:gd name="adj" fmla="val 13559"/>
            </a:avLst>
          </a:prstGeom>
          <a:noFill/>
          <a:ln w="10478">
            <a:solidFill>
              <a:srgbClr val="39434D"/>
            </a:solidFill>
            <a:prstDash val="solid"/>
          </a:ln>
        </p:spPr>
      </p:sp>
      <p:sp>
        <p:nvSpPr>
          <p:cNvPr id="67" name="layer-label-torchtitan"/>
          <p:cNvSpPr>
            <a:spLocks noGrp="1"/>
          </p:cNvSpPr>
          <p:nvPr/>
        </p:nvSpPr>
        <p:spPr>
          <a:xfrm>
            <a:off x="866775" y="3057525"/>
            <a:ext cx="1047750" cy="142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l">
              <a:defRPr sz="790" b="0">
                <a:solidFill>
                  <a:srgbClr val="222222"/>
                </a:solidFill>
                <a:latin typeface="Consolas"/>
                <a:ea typeface="Consolas"/>
                <a:cs typeface="Consolas"/>
              </a:defRPr>
            </a:pPr>
            <a:r>
              <a:rPr sz="790" b="0">
                <a:solidFill>
                  <a:srgbClr val="222222"/>
                </a:solidFill>
                <a:latin typeface="Consolas"/>
                <a:ea typeface="Consolas"/>
                <a:cs typeface="Consolas"/>
              </a:rPr>
              <a:t>torchtitan</a:t>
            </a:r>
            <a:endParaRPr sz="790" b="0">
              <a:solidFill>
                <a:srgbClr val="22222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68" name="tt-model"/>
          <p:cNvSpPr>
            <a:spLocks noGrp="1"/>
          </p:cNvSpPr>
          <p:nvPr/>
        </p:nvSpPr>
        <p:spPr>
          <a:xfrm>
            <a:off x="866775" y="3248025"/>
            <a:ext cx="781050" cy="247650"/>
          </a:xfrm>
          <a:prstGeom prst="roundRect">
            <a:avLst>
              <a:gd name="adj" fmla="val 19231"/>
            </a:avLst>
          </a:prstGeom>
          <a:pattFill prst="dnDiag">
            <a:fgClr>
              <a:srgbClr val="BCD0D8">
                <a:alpha val="45000"/>
              </a:srgbClr>
            </a:fgClr>
            <a:bgClr>
              <a:srgbClr val="EDF4F7"/>
            </a:bgClr>
          </a:pattFill>
          <a:ln w="8573">
            <a:solidFill>
              <a:srgbClr val="39434D"/>
            </a:solidFill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640" b="0">
                <a:solidFill>
                  <a:srgbClr val="222222"/>
                </a:solidFill>
                <a:latin typeface="Consolas"/>
                <a:ea typeface="Consolas"/>
                <a:cs typeface="Consolas"/>
              </a:defRPr>
            </a:pPr>
            <a:r>
              <a:rPr sz="640" b="0">
                <a:solidFill>
                  <a:srgbClr val="222222"/>
                </a:solidFill>
                <a:latin typeface="Consolas"/>
                <a:ea typeface="Consolas"/>
                <a:cs typeface="Consolas"/>
              </a:rPr>
              <a:t>Model Definition</a:t>
            </a:r>
            <a:endParaRPr sz="640" b="0">
              <a:solidFill>
                <a:srgbClr val="22222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69" name="tt-parallel"/>
          <p:cNvSpPr>
            <a:spLocks noGrp="1"/>
          </p:cNvSpPr>
          <p:nvPr/>
        </p:nvSpPr>
        <p:spPr>
          <a:xfrm>
            <a:off x="1695450" y="3248025"/>
            <a:ext cx="1057275" cy="247650"/>
          </a:xfrm>
          <a:prstGeom prst="roundRect">
            <a:avLst>
              <a:gd name="adj" fmla="val 19231"/>
            </a:avLst>
          </a:prstGeom>
          <a:pattFill prst="dnDiag">
            <a:fgClr>
              <a:srgbClr val="BCD0D8">
                <a:alpha val="45000"/>
              </a:srgbClr>
            </a:fgClr>
            <a:bgClr>
              <a:srgbClr val="EDF4F7"/>
            </a:bgClr>
          </a:pattFill>
          <a:ln w="8573">
            <a:solidFill>
              <a:srgbClr val="39434D"/>
            </a:solidFill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625" b="0">
                <a:solidFill>
                  <a:srgbClr val="222222"/>
                </a:solidFill>
                <a:latin typeface="Consolas"/>
                <a:ea typeface="Consolas"/>
                <a:cs typeface="Consolas"/>
              </a:defRPr>
            </a:pPr>
            <a:r>
              <a:rPr sz="625" b="0">
                <a:solidFill>
                  <a:srgbClr val="222222"/>
                </a:solidFill>
                <a:latin typeface="Consolas"/>
                <a:ea typeface="Consolas"/>
                <a:cs typeface="Consolas"/>
              </a:rPr>
              <a:t>EP/FSDP 5D</a:t>
            </a:r>
            <a:endParaRPr sz="625" b="0">
              <a:solidFill>
                <a:srgbClr val="222222"/>
              </a:solidFill>
              <a:latin typeface="Consolas"/>
              <a:ea typeface="Consolas"/>
              <a:cs typeface="Consolas"/>
            </a:endParaRPr>
          </a:p>
          <a:p>
            <a:pPr algn="ctr">
              <a:defRPr sz="625" b="0">
                <a:solidFill>
                  <a:srgbClr val="222222"/>
                </a:solidFill>
                <a:latin typeface="Consolas"/>
                <a:ea typeface="Consolas"/>
                <a:cs typeface="Consolas"/>
              </a:defRPr>
            </a:pPr>
            <a:r>
              <a:rPr sz="625" b="0">
                <a:solidFill>
                  <a:srgbClr val="222222"/>
                </a:solidFill>
                <a:latin typeface="Consolas"/>
                <a:ea typeface="Consolas"/>
                <a:cs typeface="Consolas"/>
              </a:rPr>
              <a:t>Parallelism</a:t>
            </a:r>
            <a:endParaRPr sz="625" b="0">
              <a:solidFill>
                <a:srgbClr val="22222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70" name="tt-compile"/>
          <p:cNvSpPr>
            <a:spLocks noGrp="1"/>
          </p:cNvSpPr>
          <p:nvPr/>
        </p:nvSpPr>
        <p:spPr>
          <a:xfrm>
            <a:off x="2800350" y="3248025"/>
            <a:ext cx="942975" cy="247650"/>
          </a:xfrm>
          <a:prstGeom prst="roundRect">
            <a:avLst>
              <a:gd name="adj" fmla="val 19231"/>
            </a:avLst>
          </a:prstGeom>
          <a:pattFill prst="dnDiag">
            <a:fgClr>
              <a:srgbClr val="BCD0D8">
                <a:alpha val="45000"/>
              </a:srgbClr>
            </a:fgClr>
            <a:bgClr>
              <a:srgbClr val="EDF4F7"/>
            </a:bgClr>
          </a:pattFill>
          <a:ln w="8573">
            <a:solidFill>
              <a:srgbClr val="39434D"/>
            </a:solidFill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615" b="0">
                <a:solidFill>
                  <a:srgbClr val="222222"/>
                </a:solidFill>
                <a:latin typeface="Consolas"/>
                <a:ea typeface="Consolas"/>
                <a:cs typeface="Consolas"/>
              </a:defRPr>
            </a:pPr>
            <a:r>
              <a:rPr sz="615" b="0">
                <a:solidFill>
                  <a:srgbClr val="222222"/>
                </a:solidFill>
                <a:latin typeface="Consolas"/>
                <a:ea typeface="Consolas"/>
                <a:cs typeface="Consolas"/>
              </a:rPr>
              <a:t>Torch.compile</a:t>
            </a:r>
            <a:endParaRPr sz="615" b="0">
              <a:solidFill>
                <a:srgbClr val="222222"/>
              </a:solidFill>
              <a:latin typeface="Consolas"/>
              <a:ea typeface="Consolas"/>
              <a:cs typeface="Consolas"/>
            </a:endParaRPr>
          </a:p>
          <a:p>
            <a:pPr algn="ctr">
              <a:defRPr sz="615" b="0">
                <a:solidFill>
                  <a:srgbClr val="222222"/>
                </a:solidFill>
                <a:latin typeface="Consolas"/>
                <a:ea typeface="Consolas"/>
                <a:cs typeface="Consolas"/>
              </a:defRPr>
            </a:pPr>
            <a:r>
              <a:rPr sz="615" b="0">
                <a:solidFill>
                  <a:srgbClr val="222222"/>
                </a:solidFill>
                <a:latin typeface="Consolas"/>
                <a:ea typeface="Consolas"/>
                <a:cs typeface="Consolas"/>
              </a:rPr>
              <a:t>support</a:t>
            </a:r>
            <a:endParaRPr sz="615" b="0">
              <a:solidFill>
                <a:srgbClr val="22222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71" name="tt-dcp"/>
          <p:cNvSpPr>
            <a:spLocks noGrp="1"/>
          </p:cNvSpPr>
          <p:nvPr/>
        </p:nvSpPr>
        <p:spPr>
          <a:xfrm>
            <a:off x="3790950" y="3248025"/>
            <a:ext cx="457200" cy="247650"/>
          </a:xfrm>
          <a:prstGeom prst="roundRect">
            <a:avLst>
              <a:gd name="adj" fmla="val 19231"/>
            </a:avLst>
          </a:prstGeom>
          <a:pattFill prst="dnDiag">
            <a:fgClr>
              <a:srgbClr val="BCD0D8">
                <a:alpha val="45000"/>
              </a:srgbClr>
            </a:fgClr>
            <a:bgClr>
              <a:srgbClr val="EDF4F7"/>
            </a:bgClr>
          </a:pattFill>
          <a:ln w="8573">
            <a:solidFill>
              <a:srgbClr val="39434D"/>
            </a:solidFill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655" b="0">
                <a:solidFill>
                  <a:srgbClr val="222222"/>
                </a:solidFill>
                <a:latin typeface="Consolas"/>
                <a:ea typeface="Consolas"/>
                <a:cs typeface="Consolas"/>
              </a:defRPr>
            </a:pPr>
            <a:r>
              <a:rPr sz="655" b="0">
                <a:solidFill>
                  <a:srgbClr val="222222"/>
                </a:solidFill>
                <a:latin typeface="Consolas"/>
                <a:ea typeface="Consolas"/>
                <a:cs typeface="Consolas"/>
              </a:rPr>
              <a:t>DCP</a:t>
            </a:r>
            <a:endParaRPr sz="655" b="0">
              <a:solidFill>
                <a:srgbClr val="22222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72" name="tt-more"/>
          <p:cNvSpPr>
            <a:spLocks noGrp="1"/>
          </p:cNvSpPr>
          <p:nvPr/>
        </p:nvSpPr>
        <p:spPr>
          <a:xfrm>
            <a:off x="4295775" y="3248025"/>
            <a:ext cx="533400" cy="247650"/>
          </a:xfrm>
          <a:prstGeom prst="roundRect">
            <a:avLst>
              <a:gd name="adj" fmla="val 19231"/>
            </a:avLst>
          </a:prstGeom>
          <a:pattFill prst="dnDiag">
            <a:fgClr>
              <a:srgbClr val="BCD0D8">
                <a:alpha val="45000"/>
              </a:srgbClr>
            </a:fgClr>
            <a:bgClr>
              <a:srgbClr val="EDF4F7"/>
            </a:bgClr>
          </a:pattFill>
          <a:ln w="8573">
            <a:solidFill>
              <a:srgbClr val="39434D"/>
            </a:solidFill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675" b="0">
                <a:solidFill>
                  <a:srgbClr val="222222"/>
                </a:solidFill>
                <a:latin typeface="Consolas"/>
                <a:ea typeface="Consolas"/>
                <a:cs typeface="Consolas"/>
              </a:defRPr>
            </a:pPr>
            <a:r>
              <a:rPr sz="675" b="0">
                <a:solidFill>
                  <a:srgbClr val="222222"/>
                </a:solidFill>
                <a:latin typeface="Consolas"/>
                <a:ea typeface="Consolas"/>
                <a:cs typeface="Consolas"/>
              </a:rPr>
              <a:t>……</a:t>
            </a:r>
            <a:endParaRPr sz="675" b="0">
              <a:solidFill>
                <a:srgbClr val="22222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73" name="layer-torchtitan-npu"/>
          <p:cNvSpPr>
            <a:spLocks noGrp="1"/>
          </p:cNvSpPr>
          <p:nvPr/>
        </p:nvSpPr>
        <p:spPr>
          <a:xfrm>
            <a:off x="800100" y="3657600"/>
            <a:ext cx="4095750" cy="723900"/>
          </a:xfrm>
          <a:prstGeom prst="roundRect">
            <a:avLst>
              <a:gd name="adj" fmla="val 10526"/>
            </a:avLst>
          </a:prstGeom>
          <a:noFill/>
          <a:ln w="10478">
            <a:solidFill>
              <a:srgbClr val="39434D"/>
            </a:solidFill>
            <a:prstDash val="solid"/>
          </a:ln>
        </p:spPr>
      </p:sp>
      <p:sp>
        <p:nvSpPr>
          <p:cNvPr id="74" name="layer-label-torchtitan-npu"/>
          <p:cNvSpPr>
            <a:spLocks noGrp="1"/>
          </p:cNvSpPr>
          <p:nvPr/>
        </p:nvSpPr>
        <p:spPr>
          <a:xfrm>
            <a:off x="866775" y="3676650"/>
            <a:ext cx="1333500" cy="142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l">
              <a:defRPr sz="790" b="0">
                <a:solidFill>
                  <a:srgbClr val="222222"/>
                </a:solidFill>
                <a:latin typeface="Consolas"/>
                <a:ea typeface="Consolas"/>
                <a:cs typeface="Consolas"/>
              </a:defRPr>
            </a:pPr>
            <a:r>
              <a:rPr sz="790" b="0">
                <a:solidFill>
                  <a:srgbClr val="222222"/>
                </a:solidFill>
                <a:latin typeface="Consolas"/>
                <a:ea typeface="Consolas"/>
                <a:cs typeface="Consolas"/>
              </a:rPr>
              <a:t>torchtitan-npu</a:t>
            </a:r>
            <a:endParaRPr sz="790" b="0">
              <a:solidFill>
                <a:srgbClr val="22222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75" name="ttnpu-injection"/>
          <p:cNvSpPr>
            <a:spLocks noGrp="1"/>
          </p:cNvSpPr>
          <p:nvPr/>
        </p:nvSpPr>
        <p:spPr>
          <a:xfrm>
            <a:off x="866775" y="3876675"/>
            <a:ext cx="666750" cy="400050"/>
          </a:xfrm>
          <a:prstGeom prst="roundRect">
            <a:avLst>
              <a:gd name="adj" fmla="val 11905"/>
            </a:avLst>
          </a:prstGeom>
          <a:pattFill prst="dnDiag">
            <a:fgClr>
              <a:srgbClr val="D3B22F">
                <a:alpha val="45000"/>
              </a:srgbClr>
            </a:fgClr>
            <a:bgClr>
              <a:srgbClr val="FBE88C"/>
            </a:bgClr>
          </a:pattFill>
          <a:ln w="8573">
            <a:solidFill>
              <a:srgbClr val="39434D"/>
            </a:solidFill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640" b="0">
                <a:solidFill>
                  <a:srgbClr val="222222"/>
                </a:solidFill>
                <a:latin typeface="Consolas"/>
                <a:ea typeface="Consolas"/>
                <a:cs typeface="Consolas"/>
              </a:defRPr>
            </a:pPr>
            <a:r>
              <a:rPr sz="640" b="0">
                <a:solidFill>
                  <a:srgbClr val="222222"/>
                </a:solidFill>
                <a:latin typeface="Consolas"/>
                <a:ea typeface="Consolas"/>
                <a:cs typeface="Consolas"/>
              </a:rPr>
              <a:t>Model</a:t>
            </a:r>
            <a:endParaRPr sz="640" b="0">
              <a:solidFill>
                <a:srgbClr val="222222"/>
              </a:solidFill>
              <a:latin typeface="Consolas"/>
              <a:ea typeface="Consolas"/>
              <a:cs typeface="Consolas"/>
            </a:endParaRPr>
          </a:p>
          <a:p>
            <a:pPr algn="ctr">
              <a:defRPr sz="640" b="0">
                <a:solidFill>
                  <a:srgbClr val="222222"/>
                </a:solidFill>
                <a:latin typeface="Consolas"/>
                <a:ea typeface="Consolas"/>
                <a:cs typeface="Consolas"/>
              </a:defRPr>
            </a:pPr>
            <a:r>
              <a:rPr sz="640" b="0">
                <a:solidFill>
                  <a:srgbClr val="222222"/>
                </a:solidFill>
                <a:latin typeface="Consolas"/>
                <a:ea typeface="Consolas"/>
                <a:cs typeface="Consolas"/>
              </a:rPr>
              <a:t>Injection</a:t>
            </a:r>
            <a:endParaRPr sz="640" b="0">
              <a:solidFill>
                <a:srgbClr val="22222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76" name="ttnpu-converter"/>
          <p:cNvSpPr>
            <a:spLocks noGrp="1"/>
          </p:cNvSpPr>
          <p:nvPr/>
        </p:nvSpPr>
        <p:spPr>
          <a:xfrm>
            <a:off x="1581150" y="3876675"/>
            <a:ext cx="1000125" cy="400050"/>
          </a:xfrm>
          <a:prstGeom prst="roundRect">
            <a:avLst>
              <a:gd name="adj" fmla="val 11905"/>
            </a:avLst>
          </a:prstGeom>
          <a:pattFill prst="dnDiag">
            <a:fgClr>
              <a:srgbClr val="D3B22F">
                <a:alpha val="45000"/>
              </a:srgbClr>
            </a:fgClr>
            <a:bgClr>
              <a:srgbClr val="FBE88C"/>
            </a:bgClr>
          </a:pattFill>
          <a:ln w="8573">
            <a:solidFill>
              <a:srgbClr val="39434D"/>
            </a:solidFill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595" b="0">
                <a:solidFill>
                  <a:srgbClr val="222222"/>
                </a:solidFill>
                <a:latin typeface="Consolas"/>
                <a:ea typeface="Consolas"/>
                <a:cs typeface="Consolas"/>
              </a:defRPr>
            </a:pPr>
            <a:r>
              <a:rPr sz="595" b="0">
                <a:solidFill>
                  <a:srgbClr val="222222"/>
                </a:solidFill>
                <a:latin typeface="Consolas"/>
                <a:ea typeface="Consolas"/>
                <a:cs typeface="Consolas"/>
              </a:rPr>
              <a:t>Module Converter</a:t>
            </a:r>
            <a:endParaRPr sz="595" b="0">
              <a:solidFill>
                <a:srgbClr val="222222"/>
              </a:solidFill>
              <a:latin typeface="Consolas"/>
              <a:ea typeface="Consolas"/>
              <a:cs typeface="Consolas"/>
            </a:endParaRPr>
          </a:p>
          <a:p>
            <a:pPr algn="ctr">
              <a:defRPr sz="595" b="0">
                <a:solidFill>
                  <a:srgbClr val="222222"/>
                </a:solidFill>
                <a:latin typeface="Consolas"/>
                <a:ea typeface="Consolas"/>
                <a:cs typeface="Consolas"/>
              </a:defRPr>
            </a:pPr>
            <a:r>
              <a:rPr sz="595" b="0">
                <a:solidFill>
                  <a:srgbClr val="222222"/>
                </a:solidFill>
                <a:latin typeface="Consolas"/>
                <a:ea typeface="Consolas"/>
                <a:cs typeface="Consolas"/>
              </a:rPr>
              <a:t>(NPU DSA/MoE/Quant)</a:t>
            </a:r>
            <a:endParaRPr sz="595" b="0">
              <a:solidFill>
                <a:srgbClr val="22222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77" name="ttnpu-native"/>
          <p:cNvSpPr>
            <a:spLocks noGrp="1"/>
          </p:cNvSpPr>
          <p:nvPr/>
        </p:nvSpPr>
        <p:spPr>
          <a:xfrm>
            <a:off x="2628900" y="3876675"/>
            <a:ext cx="962025" cy="400050"/>
          </a:xfrm>
          <a:prstGeom prst="roundRect">
            <a:avLst>
              <a:gd name="adj" fmla="val 11905"/>
            </a:avLst>
          </a:prstGeom>
          <a:pattFill prst="dnDiag">
            <a:fgClr>
              <a:srgbClr val="D3B22F">
                <a:alpha val="45000"/>
              </a:srgbClr>
            </a:fgClr>
            <a:bgClr>
              <a:srgbClr val="FBE88C"/>
            </a:bgClr>
          </a:pattFill>
          <a:ln w="8573">
            <a:solidFill>
              <a:srgbClr val="39434D"/>
            </a:solidFill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595" b="0">
                <a:solidFill>
                  <a:srgbClr val="222222"/>
                </a:solidFill>
                <a:latin typeface="Consolas"/>
                <a:ea typeface="Consolas"/>
                <a:cs typeface="Consolas"/>
              </a:defRPr>
            </a:pPr>
            <a:r>
              <a:rPr sz="595" b="0">
                <a:solidFill>
                  <a:srgbClr val="222222"/>
                </a:solidFill>
                <a:latin typeface="Consolas"/>
                <a:ea typeface="Consolas"/>
                <a:cs typeface="Consolas"/>
              </a:rPr>
              <a:t>Native Compatibility</a:t>
            </a:r>
            <a:endParaRPr sz="595" b="0">
              <a:solidFill>
                <a:srgbClr val="222222"/>
              </a:solidFill>
              <a:latin typeface="Consolas"/>
              <a:ea typeface="Consolas"/>
              <a:cs typeface="Consolas"/>
            </a:endParaRPr>
          </a:p>
          <a:p>
            <a:pPr algn="ctr">
              <a:defRPr sz="595" b="0">
                <a:solidFill>
                  <a:srgbClr val="222222"/>
                </a:solidFill>
                <a:latin typeface="Consolas"/>
                <a:ea typeface="Consolas"/>
                <a:cs typeface="Consolas"/>
              </a:defRPr>
            </a:pPr>
            <a:r>
              <a:rPr sz="595" b="0">
                <a:solidFill>
                  <a:srgbClr val="222222"/>
                </a:solidFill>
                <a:latin typeface="Consolas"/>
                <a:ea typeface="Consolas"/>
                <a:cs typeface="Consolas"/>
              </a:rPr>
              <a:t>(Compile/DFX)</a:t>
            </a:r>
            <a:endParaRPr sz="595" b="0">
              <a:solidFill>
                <a:srgbClr val="22222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78" name="ttnpu-enhanced"/>
          <p:cNvSpPr>
            <a:spLocks noGrp="1"/>
          </p:cNvSpPr>
          <p:nvPr/>
        </p:nvSpPr>
        <p:spPr>
          <a:xfrm>
            <a:off x="3638550" y="3876675"/>
            <a:ext cx="1190625" cy="400050"/>
          </a:xfrm>
          <a:prstGeom prst="roundRect">
            <a:avLst>
              <a:gd name="adj" fmla="val 11905"/>
            </a:avLst>
          </a:prstGeom>
          <a:pattFill prst="dnDiag">
            <a:fgClr>
              <a:srgbClr val="D3B22F">
                <a:alpha val="45000"/>
              </a:srgbClr>
            </a:fgClr>
            <a:bgClr>
              <a:srgbClr val="FBE88C"/>
            </a:bgClr>
          </a:pattFill>
          <a:ln w="8573">
            <a:solidFill>
              <a:srgbClr val="39434D"/>
            </a:solidFill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570" b="0">
                <a:solidFill>
                  <a:srgbClr val="222222"/>
                </a:solidFill>
                <a:latin typeface="Consolas"/>
                <a:ea typeface="Consolas"/>
                <a:cs typeface="Consolas"/>
              </a:defRPr>
            </a:pPr>
            <a:r>
              <a:rPr sz="570" b="0">
                <a:solidFill>
                  <a:srgbClr val="222222"/>
                </a:solidFill>
                <a:latin typeface="Consolas"/>
                <a:ea typeface="Consolas"/>
                <a:cs typeface="Consolas"/>
              </a:rPr>
              <a:t>Enhanced Features</a:t>
            </a:r>
            <a:endParaRPr sz="570" b="0">
              <a:solidFill>
                <a:srgbClr val="222222"/>
              </a:solidFill>
              <a:latin typeface="Consolas"/>
              <a:ea typeface="Consolas"/>
              <a:cs typeface="Consolas"/>
            </a:endParaRPr>
          </a:p>
          <a:p>
            <a:pPr algn="ctr">
              <a:defRPr sz="570" b="0">
                <a:solidFill>
                  <a:srgbClr val="222222"/>
                </a:solidFill>
                <a:latin typeface="Consolas"/>
                <a:ea typeface="Consolas"/>
                <a:cs typeface="Consolas"/>
              </a:defRPr>
            </a:pPr>
            <a:r>
              <a:rPr sz="570" b="0">
                <a:solidFill>
                  <a:srgbClr val="222222"/>
                </a:solidFill>
                <a:latin typeface="Consolas"/>
                <a:ea typeface="Consolas"/>
                <a:cs typeface="Consolas"/>
              </a:rPr>
              <a:t>(DSA CP/Optimizer Offload)</a:t>
            </a:r>
            <a:endParaRPr sz="570" b="0">
              <a:solidFill>
                <a:srgbClr val="22222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79" name="layer-pytorch-torchnpu"/>
          <p:cNvSpPr>
            <a:spLocks noGrp="1"/>
          </p:cNvSpPr>
          <p:nvPr/>
        </p:nvSpPr>
        <p:spPr>
          <a:xfrm>
            <a:off x="800100" y="4438650"/>
            <a:ext cx="4095750" cy="571500"/>
          </a:xfrm>
          <a:prstGeom prst="roundRect">
            <a:avLst>
              <a:gd name="adj" fmla="val 13333"/>
            </a:avLst>
          </a:prstGeom>
          <a:noFill/>
          <a:ln w="10478">
            <a:solidFill>
              <a:srgbClr val="39434D"/>
            </a:solidFill>
            <a:prstDash val="solid"/>
          </a:ln>
        </p:spPr>
      </p:sp>
      <p:sp>
        <p:nvSpPr>
          <p:cNvPr id="80" name="layer-label-pytorch"/>
          <p:cNvSpPr>
            <a:spLocks noGrp="1"/>
          </p:cNvSpPr>
          <p:nvPr/>
        </p:nvSpPr>
        <p:spPr>
          <a:xfrm>
            <a:off x="866775" y="4457700"/>
            <a:ext cx="904875" cy="142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l">
              <a:defRPr sz="790" b="0">
                <a:solidFill>
                  <a:srgbClr val="222222"/>
                </a:solidFill>
                <a:latin typeface="Consolas"/>
                <a:ea typeface="Consolas"/>
                <a:cs typeface="Consolas"/>
              </a:defRPr>
            </a:pPr>
            <a:r>
              <a:rPr sz="790" b="0">
                <a:solidFill>
                  <a:srgbClr val="222222"/>
                </a:solidFill>
                <a:latin typeface="Consolas"/>
                <a:ea typeface="Consolas"/>
                <a:cs typeface="Consolas"/>
              </a:rPr>
              <a:t>pytorch</a:t>
            </a:r>
            <a:endParaRPr sz="790" b="0">
              <a:solidFill>
                <a:srgbClr val="22222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1" name="layer-label-torchnpu"/>
          <p:cNvSpPr>
            <a:spLocks noGrp="1"/>
          </p:cNvSpPr>
          <p:nvPr/>
        </p:nvSpPr>
        <p:spPr>
          <a:xfrm>
            <a:off x="3295650" y="4457700"/>
            <a:ext cx="952500" cy="142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l">
              <a:defRPr sz="790" b="0">
                <a:solidFill>
                  <a:srgbClr val="222222"/>
                </a:solidFill>
                <a:latin typeface="Consolas"/>
                <a:ea typeface="Consolas"/>
                <a:cs typeface="Consolas"/>
              </a:defRPr>
            </a:pPr>
            <a:r>
              <a:rPr sz="790" b="0">
                <a:solidFill>
                  <a:srgbClr val="222222"/>
                </a:solidFill>
                <a:latin typeface="Consolas"/>
                <a:ea typeface="Consolas"/>
                <a:cs typeface="Consolas"/>
              </a:rPr>
              <a:t>torch-npu</a:t>
            </a:r>
            <a:endParaRPr sz="790" b="0">
              <a:solidFill>
                <a:srgbClr val="22222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2" name="pt-fsdp2"/>
          <p:cNvSpPr>
            <a:spLocks noGrp="1"/>
          </p:cNvSpPr>
          <p:nvPr/>
        </p:nvSpPr>
        <p:spPr>
          <a:xfrm>
            <a:off x="866775" y="4657725"/>
            <a:ext cx="552450" cy="247650"/>
          </a:xfrm>
          <a:prstGeom prst="roundRect">
            <a:avLst>
              <a:gd name="adj" fmla="val 19231"/>
            </a:avLst>
          </a:prstGeom>
          <a:pattFill prst="dnDiag">
            <a:fgClr>
              <a:srgbClr val="BCD0D8">
                <a:alpha val="45000"/>
              </a:srgbClr>
            </a:fgClr>
            <a:bgClr>
              <a:srgbClr val="EDF4F7"/>
            </a:bgClr>
          </a:pattFill>
          <a:ln w="8573">
            <a:solidFill>
              <a:srgbClr val="39434D"/>
            </a:solidFill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645" b="0">
                <a:solidFill>
                  <a:srgbClr val="222222"/>
                </a:solidFill>
                <a:latin typeface="Consolas"/>
                <a:ea typeface="Consolas"/>
                <a:cs typeface="Consolas"/>
              </a:defRPr>
            </a:pPr>
            <a:r>
              <a:rPr sz="645" b="0">
                <a:solidFill>
                  <a:srgbClr val="222222"/>
                </a:solidFill>
                <a:latin typeface="Consolas"/>
                <a:ea typeface="Consolas"/>
                <a:cs typeface="Consolas"/>
              </a:rPr>
              <a:t>FSDP2</a:t>
            </a:r>
            <a:endParaRPr sz="645" b="0">
              <a:solidFill>
                <a:srgbClr val="22222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3" name="pt-inductor"/>
          <p:cNvSpPr>
            <a:spLocks noGrp="1"/>
          </p:cNvSpPr>
          <p:nvPr/>
        </p:nvSpPr>
        <p:spPr>
          <a:xfrm>
            <a:off x="1466850" y="4657725"/>
            <a:ext cx="619125" cy="247650"/>
          </a:xfrm>
          <a:prstGeom prst="roundRect">
            <a:avLst>
              <a:gd name="adj" fmla="val 19231"/>
            </a:avLst>
          </a:prstGeom>
          <a:pattFill prst="dnDiag">
            <a:fgClr>
              <a:srgbClr val="BCD0D8">
                <a:alpha val="45000"/>
              </a:srgbClr>
            </a:fgClr>
            <a:bgClr>
              <a:srgbClr val="EDF4F7"/>
            </a:bgClr>
          </a:pattFill>
          <a:ln w="8573">
            <a:solidFill>
              <a:srgbClr val="39434D"/>
            </a:solidFill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640" b="0">
                <a:solidFill>
                  <a:srgbClr val="222222"/>
                </a:solidFill>
                <a:latin typeface="Consolas"/>
                <a:ea typeface="Consolas"/>
                <a:cs typeface="Consolas"/>
              </a:defRPr>
            </a:pPr>
            <a:r>
              <a:rPr sz="640" b="0">
                <a:solidFill>
                  <a:srgbClr val="222222"/>
                </a:solidFill>
                <a:latin typeface="Consolas"/>
                <a:ea typeface="Consolas"/>
                <a:cs typeface="Consolas"/>
              </a:rPr>
              <a:t>Inductor</a:t>
            </a:r>
            <a:endParaRPr sz="640" b="0">
              <a:solidFill>
                <a:srgbClr val="22222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4" name="pt-compile"/>
          <p:cNvSpPr>
            <a:spLocks noGrp="1"/>
          </p:cNvSpPr>
          <p:nvPr/>
        </p:nvSpPr>
        <p:spPr>
          <a:xfrm>
            <a:off x="2133600" y="4657725"/>
            <a:ext cx="809625" cy="247650"/>
          </a:xfrm>
          <a:prstGeom prst="roundRect">
            <a:avLst>
              <a:gd name="adj" fmla="val 19231"/>
            </a:avLst>
          </a:prstGeom>
          <a:pattFill prst="dnDiag">
            <a:fgClr>
              <a:srgbClr val="BCD0D8">
                <a:alpha val="45000"/>
              </a:srgbClr>
            </a:fgClr>
            <a:bgClr>
              <a:srgbClr val="EDF4F7"/>
            </a:bgClr>
          </a:pattFill>
          <a:ln w="8573">
            <a:solidFill>
              <a:srgbClr val="39434D"/>
            </a:solidFill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605" b="0">
                <a:solidFill>
                  <a:srgbClr val="222222"/>
                </a:solidFill>
                <a:latin typeface="Consolas"/>
                <a:ea typeface="Consolas"/>
                <a:cs typeface="Consolas"/>
              </a:defRPr>
            </a:pPr>
            <a:r>
              <a:rPr sz="605" b="0">
                <a:solidFill>
                  <a:srgbClr val="222222"/>
                </a:solidFill>
                <a:latin typeface="Consolas"/>
                <a:ea typeface="Consolas"/>
                <a:cs typeface="Consolas"/>
              </a:rPr>
              <a:t>Torch.compile</a:t>
            </a:r>
            <a:endParaRPr sz="605" b="0">
              <a:solidFill>
                <a:srgbClr val="22222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5" name="npu-dtensor"/>
          <p:cNvSpPr>
            <a:spLocks noGrp="1"/>
          </p:cNvSpPr>
          <p:nvPr/>
        </p:nvSpPr>
        <p:spPr>
          <a:xfrm>
            <a:off x="3028950" y="4657725"/>
            <a:ext cx="685800" cy="247650"/>
          </a:xfrm>
          <a:prstGeom prst="roundRect">
            <a:avLst>
              <a:gd name="adj" fmla="val 19231"/>
            </a:avLst>
          </a:prstGeom>
          <a:pattFill prst="dnDiag">
            <a:fgClr>
              <a:srgbClr val="D3B22F">
                <a:alpha val="45000"/>
              </a:srgbClr>
            </a:fgClr>
            <a:bgClr>
              <a:srgbClr val="FBE88C"/>
            </a:bgClr>
          </a:pattFill>
          <a:ln w="8573">
            <a:solidFill>
              <a:srgbClr val="39434D"/>
            </a:solidFill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615" b="0">
                <a:solidFill>
                  <a:srgbClr val="222222"/>
                </a:solidFill>
                <a:latin typeface="Consolas"/>
                <a:ea typeface="Consolas"/>
                <a:cs typeface="Consolas"/>
              </a:defRPr>
            </a:pPr>
            <a:r>
              <a:rPr sz="615" b="0">
                <a:solidFill>
                  <a:srgbClr val="222222"/>
                </a:solidFill>
                <a:latin typeface="Consolas"/>
                <a:ea typeface="Consolas"/>
                <a:cs typeface="Consolas"/>
              </a:rPr>
              <a:t>Dtensor API</a:t>
            </a:r>
            <a:endParaRPr sz="615" b="0">
              <a:solidFill>
                <a:srgbClr val="22222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6" name="npu-inductor-ext"/>
          <p:cNvSpPr>
            <a:spLocks noGrp="1"/>
          </p:cNvSpPr>
          <p:nvPr/>
        </p:nvSpPr>
        <p:spPr>
          <a:xfrm>
            <a:off x="3762375" y="4657725"/>
            <a:ext cx="685800" cy="247650"/>
          </a:xfrm>
          <a:prstGeom prst="roundRect">
            <a:avLst>
              <a:gd name="adj" fmla="val 19231"/>
            </a:avLst>
          </a:prstGeom>
          <a:pattFill prst="dnDiag">
            <a:fgClr>
              <a:srgbClr val="D3B22F">
                <a:alpha val="45000"/>
              </a:srgbClr>
            </a:fgClr>
            <a:bgClr>
              <a:srgbClr val="FBE88C"/>
            </a:bgClr>
          </a:pattFill>
          <a:ln w="8573">
            <a:solidFill>
              <a:srgbClr val="39434D"/>
            </a:solidFill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605" b="0">
                <a:solidFill>
                  <a:srgbClr val="222222"/>
                </a:solidFill>
                <a:latin typeface="Consolas"/>
                <a:ea typeface="Consolas"/>
                <a:cs typeface="Consolas"/>
              </a:defRPr>
            </a:pPr>
            <a:r>
              <a:rPr sz="605" b="0">
                <a:solidFill>
                  <a:srgbClr val="222222"/>
                </a:solidFill>
                <a:latin typeface="Consolas"/>
                <a:ea typeface="Consolas"/>
                <a:cs typeface="Consolas"/>
              </a:rPr>
              <a:t>Inductor-ext</a:t>
            </a:r>
            <a:endParaRPr sz="605" b="0">
              <a:solidFill>
                <a:srgbClr val="22222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7" name="npu-more"/>
          <p:cNvSpPr>
            <a:spLocks noGrp="1"/>
          </p:cNvSpPr>
          <p:nvPr/>
        </p:nvSpPr>
        <p:spPr>
          <a:xfrm>
            <a:off x="4495800" y="4657725"/>
            <a:ext cx="333375" cy="247650"/>
          </a:xfrm>
          <a:prstGeom prst="roundRect">
            <a:avLst>
              <a:gd name="adj" fmla="val 19231"/>
            </a:avLst>
          </a:prstGeom>
          <a:pattFill prst="dnDiag">
            <a:fgClr>
              <a:srgbClr val="D3B22F">
                <a:alpha val="45000"/>
              </a:srgbClr>
            </a:fgClr>
            <a:bgClr>
              <a:srgbClr val="FBE88C"/>
            </a:bgClr>
          </a:pattFill>
          <a:ln w="8573">
            <a:solidFill>
              <a:srgbClr val="39434D"/>
            </a:solidFill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675" b="0">
                <a:solidFill>
                  <a:srgbClr val="222222"/>
                </a:solidFill>
                <a:latin typeface="Consolas"/>
                <a:ea typeface="Consolas"/>
                <a:cs typeface="Consolas"/>
              </a:defRPr>
            </a:pPr>
            <a:r>
              <a:rPr sz="675" b="0">
                <a:solidFill>
                  <a:srgbClr val="222222"/>
                </a:solidFill>
                <a:latin typeface="Consolas"/>
                <a:ea typeface="Consolas"/>
                <a:cs typeface="Consolas"/>
              </a:rPr>
              <a:t>…</a:t>
            </a:r>
            <a:endParaRPr sz="675" b="0">
              <a:solidFill>
                <a:srgbClr val="22222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8" name="layer-cann"/>
          <p:cNvSpPr>
            <a:spLocks noGrp="1"/>
          </p:cNvSpPr>
          <p:nvPr/>
        </p:nvSpPr>
        <p:spPr>
          <a:xfrm>
            <a:off x="800100" y="5067300"/>
            <a:ext cx="4095750" cy="561975"/>
          </a:xfrm>
          <a:prstGeom prst="roundRect">
            <a:avLst>
              <a:gd name="adj" fmla="val 13559"/>
            </a:avLst>
          </a:prstGeom>
          <a:noFill/>
          <a:ln w="10478">
            <a:solidFill>
              <a:srgbClr val="39434D"/>
            </a:solidFill>
            <a:prstDash val="solid"/>
          </a:ln>
        </p:spPr>
      </p:sp>
      <p:sp>
        <p:nvSpPr>
          <p:cNvPr id="89" name="layer-label-cann"/>
          <p:cNvSpPr>
            <a:spLocks noGrp="1"/>
          </p:cNvSpPr>
          <p:nvPr/>
        </p:nvSpPr>
        <p:spPr>
          <a:xfrm>
            <a:off x="866775" y="5086350"/>
            <a:ext cx="762000" cy="142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l">
              <a:defRPr sz="790" b="0">
                <a:solidFill>
                  <a:srgbClr val="222222"/>
                </a:solidFill>
                <a:latin typeface="Consolas"/>
                <a:ea typeface="Consolas"/>
                <a:cs typeface="Consolas"/>
              </a:defRPr>
            </a:pPr>
            <a:r>
              <a:rPr sz="790" b="0">
                <a:solidFill>
                  <a:srgbClr val="222222"/>
                </a:solidFill>
                <a:latin typeface="Consolas"/>
                <a:ea typeface="Consolas"/>
                <a:cs typeface="Consolas"/>
              </a:rPr>
              <a:t>CANN</a:t>
            </a:r>
            <a:endParaRPr sz="790" b="0">
              <a:solidFill>
                <a:srgbClr val="22222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90" name="cann-autofuse"/>
          <p:cNvSpPr>
            <a:spLocks noGrp="1"/>
          </p:cNvSpPr>
          <p:nvPr/>
        </p:nvSpPr>
        <p:spPr>
          <a:xfrm>
            <a:off x="866775" y="5286375"/>
            <a:ext cx="866775" cy="238125"/>
          </a:xfrm>
          <a:prstGeom prst="roundRect">
            <a:avLst>
              <a:gd name="adj" fmla="val 20000"/>
            </a:avLst>
          </a:prstGeom>
          <a:pattFill prst="dnDiag">
            <a:fgClr>
              <a:srgbClr val="D3B22F">
                <a:alpha val="45000"/>
              </a:srgbClr>
            </a:fgClr>
            <a:bgClr>
              <a:srgbClr val="FBE88C"/>
            </a:bgClr>
          </a:pattFill>
          <a:ln w="8573">
            <a:solidFill>
              <a:srgbClr val="39434D"/>
            </a:solidFill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585" b="0">
                <a:solidFill>
                  <a:srgbClr val="222222"/>
                </a:solidFill>
                <a:latin typeface="Consolas"/>
                <a:ea typeface="Consolas"/>
                <a:cs typeface="Consolas"/>
              </a:defRPr>
            </a:pPr>
            <a:r>
              <a:rPr sz="585" b="0">
                <a:solidFill>
                  <a:srgbClr val="222222"/>
                </a:solidFill>
                <a:latin typeface="Consolas"/>
                <a:ea typeface="Consolas"/>
                <a:cs typeface="Consolas"/>
              </a:rPr>
              <a:t>AscendC Autofuse</a:t>
            </a:r>
            <a:endParaRPr sz="585" b="0">
              <a:solidFill>
                <a:srgbClr val="22222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91" name="cann-kernel"/>
          <p:cNvSpPr>
            <a:spLocks noGrp="1"/>
          </p:cNvSpPr>
          <p:nvPr/>
        </p:nvSpPr>
        <p:spPr>
          <a:xfrm>
            <a:off x="1781175" y="5286375"/>
            <a:ext cx="800100" cy="238125"/>
          </a:xfrm>
          <a:prstGeom prst="roundRect">
            <a:avLst>
              <a:gd name="adj" fmla="val 20000"/>
            </a:avLst>
          </a:prstGeom>
          <a:pattFill prst="dnDiag">
            <a:fgClr>
              <a:srgbClr val="D3B22F">
                <a:alpha val="45000"/>
              </a:srgbClr>
            </a:fgClr>
            <a:bgClr>
              <a:srgbClr val="FBE88C"/>
            </a:bgClr>
          </a:pattFill>
          <a:ln w="8573">
            <a:solidFill>
              <a:srgbClr val="39434D"/>
            </a:solidFill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595" b="0">
                <a:solidFill>
                  <a:srgbClr val="222222"/>
                </a:solidFill>
                <a:latin typeface="Consolas"/>
                <a:ea typeface="Consolas"/>
                <a:cs typeface="Consolas"/>
              </a:defRPr>
            </a:pPr>
            <a:r>
              <a:rPr sz="595" b="0">
                <a:solidFill>
                  <a:srgbClr val="222222"/>
                </a:solidFill>
                <a:latin typeface="Consolas"/>
                <a:ea typeface="Consolas"/>
                <a:cs typeface="Consolas"/>
              </a:rPr>
              <a:t>AscendC Kernel</a:t>
            </a:r>
            <a:endParaRPr sz="595" b="0">
              <a:solidFill>
                <a:srgbClr val="22222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92" name="cann-runtime"/>
          <p:cNvSpPr>
            <a:spLocks noGrp="1"/>
          </p:cNvSpPr>
          <p:nvPr/>
        </p:nvSpPr>
        <p:spPr>
          <a:xfrm>
            <a:off x="2628900" y="5286375"/>
            <a:ext cx="600075" cy="238125"/>
          </a:xfrm>
          <a:prstGeom prst="roundRect">
            <a:avLst>
              <a:gd name="adj" fmla="val 20000"/>
            </a:avLst>
          </a:prstGeom>
          <a:pattFill prst="dnDiag">
            <a:fgClr>
              <a:srgbClr val="D3B22F">
                <a:alpha val="45000"/>
              </a:srgbClr>
            </a:fgClr>
            <a:bgClr>
              <a:srgbClr val="FBE88C"/>
            </a:bgClr>
          </a:pattFill>
          <a:ln w="8573">
            <a:solidFill>
              <a:srgbClr val="39434D"/>
            </a:solidFill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625" b="0">
                <a:solidFill>
                  <a:srgbClr val="222222"/>
                </a:solidFill>
                <a:latin typeface="Consolas"/>
                <a:ea typeface="Consolas"/>
                <a:cs typeface="Consolas"/>
              </a:defRPr>
            </a:pPr>
            <a:r>
              <a:rPr sz="625" b="0">
                <a:solidFill>
                  <a:srgbClr val="222222"/>
                </a:solidFill>
                <a:latin typeface="Consolas"/>
                <a:ea typeface="Consolas"/>
                <a:cs typeface="Consolas"/>
              </a:rPr>
              <a:t>Runtime</a:t>
            </a:r>
            <a:endParaRPr sz="625" b="0">
              <a:solidFill>
                <a:srgbClr val="22222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93" name="cann-hccl"/>
          <p:cNvSpPr>
            <a:spLocks noGrp="1"/>
          </p:cNvSpPr>
          <p:nvPr/>
        </p:nvSpPr>
        <p:spPr>
          <a:xfrm>
            <a:off x="3276600" y="5286375"/>
            <a:ext cx="590550" cy="238125"/>
          </a:xfrm>
          <a:prstGeom prst="roundRect">
            <a:avLst>
              <a:gd name="adj" fmla="val 20000"/>
            </a:avLst>
          </a:prstGeom>
          <a:pattFill prst="dnDiag">
            <a:fgClr>
              <a:srgbClr val="D3B22F">
                <a:alpha val="45000"/>
              </a:srgbClr>
            </a:fgClr>
            <a:bgClr>
              <a:srgbClr val="FBE88C"/>
            </a:bgClr>
          </a:pattFill>
          <a:ln w="8573">
            <a:solidFill>
              <a:srgbClr val="39434D"/>
            </a:solidFill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640" b="0">
                <a:solidFill>
                  <a:srgbClr val="222222"/>
                </a:solidFill>
                <a:latin typeface="Consolas"/>
                <a:ea typeface="Consolas"/>
                <a:cs typeface="Consolas"/>
              </a:defRPr>
            </a:pPr>
            <a:r>
              <a:rPr sz="640" b="0">
                <a:solidFill>
                  <a:srgbClr val="222222"/>
                </a:solidFill>
                <a:latin typeface="Consolas"/>
                <a:ea typeface="Consolas"/>
                <a:cs typeface="Consolas"/>
              </a:rPr>
              <a:t>HCCL</a:t>
            </a:r>
            <a:endParaRPr sz="640" b="0">
              <a:solidFill>
                <a:srgbClr val="22222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94" name="cann-more"/>
          <p:cNvSpPr>
            <a:spLocks noGrp="1"/>
          </p:cNvSpPr>
          <p:nvPr/>
        </p:nvSpPr>
        <p:spPr>
          <a:xfrm>
            <a:off x="3914775" y="5286375"/>
            <a:ext cx="914400" cy="238125"/>
          </a:xfrm>
          <a:prstGeom prst="roundRect">
            <a:avLst>
              <a:gd name="adj" fmla="val 20000"/>
            </a:avLst>
          </a:prstGeom>
          <a:pattFill prst="dnDiag">
            <a:fgClr>
              <a:srgbClr val="D3B22F">
                <a:alpha val="45000"/>
              </a:srgbClr>
            </a:fgClr>
            <a:bgClr>
              <a:srgbClr val="FBE88C"/>
            </a:bgClr>
          </a:pattFill>
          <a:ln w="8573">
            <a:solidFill>
              <a:srgbClr val="39434D"/>
            </a:solidFill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675" b="0">
                <a:solidFill>
                  <a:srgbClr val="222222"/>
                </a:solidFill>
                <a:latin typeface="Consolas"/>
                <a:ea typeface="Consolas"/>
                <a:cs typeface="Consolas"/>
              </a:defRPr>
            </a:pPr>
            <a:r>
              <a:rPr sz="675" b="0">
                <a:solidFill>
                  <a:srgbClr val="222222"/>
                </a:solidFill>
                <a:latin typeface="Consolas"/>
                <a:ea typeface="Consolas"/>
                <a:cs typeface="Consolas"/>
              </a:rPr>
              <a:t>……</a:t>
            </a:r>
            <a:endParaRPr sz="675" b="0">
              <a:solidFill>
                <a:srgbClr val="22222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95" name="plugin-arrow"/>
          <p:cNvSpPr>
            <a:spLocks noGrp="1"/>
          </p:cNvSpPr>
          <p:nvPr/>
        </p:nvSpPr>
        <p:spPr>
          <a:xfrm>
            <a:off x="8058150" y="2190750"/>
            <a:ext cx="142875" cy="466725"/>
          </a:xfrm>
          <a:prstGeom prst="downArrow">
            <a:avLst/>
          </a:prstGeom>
          <a:solidFill>
            <a:srgbClr val="4B555E"/>
          </a:solidFill>
          <a:ln w="0">
            <a:solidFill>
              <a:srgbClr val="4B555E"/>
            </a:solidFill>
            <a:prstDash val="solid"/>
          </a:ln>
        </p:spPr>
      </p:sp>
      <p:sp>
        <p:nvSpPr>
          <p:cNvPr id="96" name="enhance-arrow"/>
          <p:cNvSpPr>
            <a:spLocks noGrp="1"/>
          </p:cNvSpPr>
          <p:nvPr/>
        </p:nvSpPr>
        <p:spPr>
          <a:xfrm>
            <a:off x="8058150" y="3724275"/>
            <a:ext cx="142875" cy="400050"/>
          </a:xfrm>
          <a:prstGeom prst="downArrow">
            <a:avLst/>
          </a:prstGeom>
          <a:solidFill>
            <a:srgbClr val="4B555E"/>
          </a:solidFill>
          <a:ln w="0">
            <a:solidFill>
              <a:srgbClr val="4B555E"/>
            </a:solidFill>
            <a:prstDash val="solid"/>
          </a:ln>
        </p:spPr>
      </p:sp>
      <p:sp>
        <p:nvSpPr>
          <p:cNvPr id="97" name="framework-group"/>
          <p:cNvSpPr>
            <a:spLocks noGrp="1"/>
          </p:cNvSpPr>
          <p:nvPr/>
        </p:nvSpPr>
        <p:spPr>
          <a:xfrm>
            <a:off x="5191125" y="1028700"/>
            <a:ext cx="6048375" cy="1200150"/>
          </a:xfrm>
          <a:prstGeom prst="rect">
            <a:avLst/>
          </a:prstGeom>
          <a:noFill/>
          <a:ln w="11430">
            <a:solidFill>
              <a:srgbClr val="39434D"/>
            </a:solidFill>
            <a:prstDash val="solid"/>
          </a:ln>
        </p:spPr>
      </p:sp>
      <p:sp>
        <p:nvSpPr>
          <p:cNvPr id="98" name="framework-title"/>
          <p:cNvSpPr>
            <a:spLocks noGrp="1"/>
          </p:cNvSpPr>
          <p:nvPr/>
        </p:nvSpPr>
        <p:spPr>
          <a:xfrm>
            <a:off x="5295900" y="1047750"/>
            <a:ext cx="583882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ctr">
              <a:defRPr sz="1015" b="1">
                <a:solidFill>
                  <a:srgbClr val="222222"/>
                </a:solidFill>
                <a:latin typeface="Consolas"/>
                <a:ea typeface="Consolas"/>
                <a:cs typeface="Consolas"/>
              </a:defRPr>
            </a:pPr>
            <a:r>
              <a:rPr sz="1015" b="1">
                <a:solidFill>
                  <a:srgbClr val="222222"/>
                </a:solidFill>
                <a:latin typeface="Consolas"/>
                <a:ea typeface="Consolas"/>
                <a:cs typeface="Consolas"/>
              </a:rPr>
              <a:t>torchtitan 框架</a:t>
            </a:r>
            <a:endParaRPr sz="1015" b="1">
              <a:solidFill>
                <a:srgbClr val="22222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99" name="framework-divider"/>
          <p:cNvSpPr>
            <a:spLocks noGrp="1"/>
          </p:cNvSpPr>
          <p:nvPr/>
        </p:nvSpPr>
        <p:spPr>
          <a:xfrm>
            <a:off x="5191125" y="1314450"/>
            <a:ext cx="6048375" cy="9525"/>
          </a:xfrm>
          <a:prstGeom prst="line">
            <a:avLst/>
          </a:prstGeom>
          <a:noFill/>
          <a:ln w="10478">
            <a:solidFill>
              <a:srgbClr val="39434D"/>
            </a:solidFill>
            <a:prstDash val="solid"/>
          </a:ln>
        </p:spPr>
      </p:sp>
      <p:sp>
        <p:nvSpPr>
          <p:cNvPr id="100" name="framework-parallel"/>
          <p:cNvSpPr>
            <a:spLocks noGrp="1"/>
          </p:cNvSpPr>
          <p:nvPr/>
        </p:nvSpPr>
        <p:spPr>
          <a:xfrm>
            <a:off x="5334000" y="1428750"/>
            <a:ext cx="1343025" cy="581025"/>
          </a:xfrm>
          <a:prstGeom prst="roundRect">
            <a:avLst>
              <a:gd name="adj" fmla="val 8197"/>
            </a:avLst>
          </a:prstGeom>
          <a:pattFill prst="dnDiag">
            <a:fgClr>
              <a:srgbClr val="E2A7B1">
                <a:alpha val="45000"/>
              </a:srgbClr>
            </a:fgClr>
            <a:bgClr>
              <a:srgbClr val="FBECEF"/>
            </a:bgClr>
          </a:pattFill>
          <a:ln w="8573">
            <a:solidFill>
              <a:srgbClr val="39434D"/>
            </a:solidFill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865" b="0">
                <a:solidFill>
                  <a:srgbClr val="222222"/>
                </a:solidFill>
                <a:latin typeface="Consolas"/>
                <a:ea typeface="Consolas"/>
                <a:cs typeface="Consolas"/>
              </a:defRPr>
            </a:pPr>
            <a:r>
              <a:rPr sz="865" b="0">
                <a:solidFill>
                  <a:srgbClr val="222222"/>
                </a:solidFill>
                <a:latin typeface="Consolas"/>
                <a:ea typeface="Consolas"/>
                <a:cs typeface="Consolas"/>
              </a:rPr>
              <a:t>Parallelism</a:t>
            </a:r>
            <a:endParaRPr sz="865" b="0">
              <a:solidFill>
                <a:srgbClr val="222222"/>
              </a:solidFill>
              <a:latin typeface="Consolas"/>
              <a:ea typeface="Consolas"/>
              <a:cs typeface="Consolas"/>
            </a:endParaRPr>
          </a:p>
          <a:p>
            <a:pPr algn="ctr">
              <a:defRPr sz="865" b="0">
                <a:solidFill>
                  <a:srgbClr val="222222"/>
                </a:solidFill>
                <a:latin typeface="Consolas"/>
                <a:ea typeface="Consolas"/>
                <a:cs typeface="Consolas"/>
              </a:defRPr>
            </a:pPr>
            <a:r>
              <a:rPr sz="865" b="0">
                <a:solidFill>
                  <a:srgbClr val="222222"/>
                </a:solidFill>
                <a:latin typeface="Consolas"/>
                <a:ea typeface="Consolas"/>
                <a:cs typeface="Consolas"/>
              </a:rPr>
              <a:t>FSDP2/TP/PP/EP/CP</a:t>
            </a:r>
            <a:endParaRPr sz="865" b="0">
              <a:solidFill>
                <a:srgbClr val="22222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01" name="framework-compile"/>
          <p:cNvSpPr>
            <a:spLocks noGrp="1"/>
          </p:cNvSpPr>
          <p:nvPr/>
        </p:nvSpPr>
        <p:spPr>
          <a:xfrm>
            <a:off x="6781800" y="1428750"/>
            <a:ext cx="1343025" cy="581025"/>
          </a:xfrm>
          <a:prstGeom prst="roundRect">
            <a:avLst>
              <a:gd name="adj" fmla="val 8197"/>
            </a:avLst>
          </a:prstGeom>
          <a:pattFill prst="dnDiag">
            <a:fgClr>
              <a:srgbClr val="80C9BD">
                <a:alpha val="45000"/>
              </a:srgbClr>
            </a:fgClr>
            <a:bgClr>
              <a:srgbClr val="E7F6F3"/>
            </a:bgClr>
          </a:pattFill>
          <a:ln w="8573">
            <a:solidFill>
              <a:srgbClr val="39434D"/>
            </a:solidFill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850" b="0">
                <a:solidFill>
                  <a:srgbClr val="222222"/>
                </a:solidFill>
                <a:latin typeface="Consolas"/>
                <a:ea typeface="Consolas"/>
                <a:cs typeface="Consolas"/>
              </a:defRPr>
            </a:pPr>
            <a:r>
              <a:rPr sz="850" b="0">
                <a:solidFill>
                  <a:srgbClr val="222222"/>
                </a:solidFill>
                <a:latin typeface="Consolas"/>
                <a:ea typeface="Consolas"/>
                <a:cs typeface="Consolas"/>
              </a:rPr>
              <a:t>torch.compile</a:t>
            </a:r>
            <a:endParaRPr sz="850" b="0">
              <a:solidFill>
                <a:srgbClr val="222222"/>
              </a:solidFill>
              <a:latin typeface="Consolas"/>
              <a:ea typeface="Consolas"/>
              <a:cs typeface="Consolas"/>
            </a:endParaRPr>
          </a:p>
          <a:p>
            <a:pPr algn="ctr">
              <a:defRPr sz="850" b="0">
                <a:solidFill>
                  <a:srgbClr val="222222"/>
                </a:solidFill>
                <a:latin typeface="Consolas"/>
                <a:ea typeface="Consolas"/>
                <a:cs typeface="Consolas"/>
              </a:defRPr>
            </a:pPr>
            <a:r>
              <a:rPr sz="850" b="0">
                <a:solidFill>
                  <a:srgbClr val="222222"/>
                </a:solidFill>
                <a:latin typeface="Consolas"/>
                <a:ea typeface="Consolas"/>
                <a:cs typeface="Consolas"/>
              </a:rPr>
              <a:t>Inductor+triton</a:t>
            </a:r>
            <a:endParaRPr sz="850" b="0">
              <a:solidFill>
                <a:srgbClr val="22222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02" name="framework-dtensor"/>
          <p:cNvSpPr>
            <a:spLocks noGrp="1"/>
          </p:cNvSpPr>
          <p:nvPr/>
        </p:nvSpPr>
        <p:spPr>
          <a:xfrm>
            <a:off x="8229600" y="1428750"/>
            <a:ext cx="1343025" cy="581025"/>
          </a:xfrm>
          <a:prstGeom prst="roundRect">
            <a:avLst>
              <a:gd name="adj" fmla="val 8197"/>
            </a:avLst>
          </a:prstGeom>
          <a:pattFill prst="dnDiag">
            <a:fgClr>
              <a:srgbClr val="8CB9D5">
                <a:alpha val="45000"/>
              </a:srgbClr>
            </a:fgClr>
            <a:bgClr>
              <a:srgbClr val="EAF3FA"/>
            </a:bgClr>
          </a:pattFill>
          <a:ln w="8573">
            <a:solidFill>
              <a:srgbClr val="39434D"/>
            </a:solidFill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805" b="0">
                <a:solidFill>
                  <a:srgbClr val="222222"/>
                </a:solidFill>
                <a:latin typeface="Consolas"/>
                <a:ea typeface="Consolas"/>
                <a:cs typeface="Consolas"/>
              </a:defRPr>
            </a:pPr>
            <a:r>
              <a:rPr sz="805" b="0">
                <a:solidFill>
                  <a:srgbClr val="222222"/>
                </a:solidFill>
                <a:latin typeface="Consolas"/>
                <a:ea typeface="Consolas"/>
                <a:cs typeface="Consolas"/>
              </a:rPr>
              <a:t>DTensor</a:t>
            </a:r>
            <a:endParaRPr sz="805" b="0">
              <a:solidFill>
                <a:srgbClr val="222222"/>
              </a:solidFill>
              <a:latin typeface="Consolas"/>
              <a:ea typeface="Consolas"/>
              <a:cs typeface="Consolas"/>
            </a:endParaRPr>
          </a:p>
          <a:p>
            <a:pPr algn="ctr">
              <a:defRPr sz="805" b="0">
                <a:solidFill>
                  <a:srgbClr val="222222"/>
                </a:solidFill>
                <a:latin typeface="Consolas"/>
                <a:ea typeface="Consolas"/>
                <a:cs typeface="Consolas"/>
              </a:defRPr>
            </a:pPr>
            <a:r>
              <a:rPr sz="805" b="0">
                <a:solidFill>
                  <a:srgbClr val="222222"/>
                </a:solidFill>
                <a:latin typeface="Consolas"/>
                <a:ea typeface="Consolas"/>
                <a:cs typeface="Consolas"/>
              </a:rPr>
              <a:t>shard/replicate/partial</a:t>
            </a:r>
            <a:endParaRPr sz="805" b="0">
              <a:solidFill>
                <a:srgbClr val="22222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03" name="framework-model"/>
          <p:cNvSpPr>
            <a:spLocks noGrp="1"/>
          </p:cNvSpPr>
          <p:nvPr/>
        </p:nvSpPr>
        <p:spPr>
          <a:xfrm>
            <a:off x="9677400" y="1428750"/>
            <a:ext cx="1419225" cy="581025"/>
          </a:xfrm>
          <a:prstGeom prst="roundRect">
            <a:avLst>
              <a:gd name="adj" fmla="val 8197"/>
            </a:avLst>
          </a:prstGeom>
          <a:pattFill prst="dnDiag">
            <a:fgClr>
              <a:srgbClr val="D2B85C">
                <a:alpha val="45000"/>
              </a:srgbClr>
            </a:fgClr>
            <a:bgClr>
              <a:srgbClr val="FCF5D9"/>
            </a:bgClr>
          </a:pattFill>
          <a:ln w="8573">
            <a:solidFill>
              <a:srgbClr val="39434D"/>
            </a:solidFill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790" b="0">
                <a:solidFill>
                  <a:srgbClr val="222222"/>
                </a:solidFill>
                <a:latin typeface="Consolas"/>
                <a:ea typeface="Consolas"/>
                <a:cs typeface="Consolas"/>
              </a:defRPr>
            </a:pPr>
            <a:r>
              <a:rPr sz="790" b="0">
                <a:solidFill>
                  <a:srgbClr val="222222"/>
                </a:solidFill>
                <a:latin typeface="Consolas"/>
                <a:ea typeface="Consolas"/>
                <a:cs typeface="Consolas"/>
              </a:rPr>
              <a:t>Model</a:t>
            </a:r>
            <a:endParaRPr sz="790" b="0">
              <a:solidFill>
                <a:srgbClr val="222222"/>
              </a:solidFill>
              <a:latin typeface="Consolas"/>
              <a:ea typeface="Consolas"/>
              <a:cs typeface="Consolas"/>
            </a:endParaRPr>
          </a:p>
          <a:p>
            <a:pPr algn="ctr">
              <a:defRPr sz="790" b="0">
                <a:solidFill>
                  <a:srgbClr val="222222"/>
                </a:solidFill>
                <a:latin typeface="Consolas"/>
                <a:ea typeface="Consolas"/>
                <a:cs typeface="Consolas"/>
              </a:defRPr>
            </a:pPr>
            <a:r>
              <a:rPr sz="790" b="0">
                <a:solidFill>
                  <a:srgbClr val="222222"/>
                </a:solidFill>
                <a:latin typeface="Consolas"/>
                <a:ea typeface="Consolas"/>
                <a:cs typeface="Consolas"/>
              </a:rPr>
              <a:t>Llama3/4 DeepSeekV3 Qwen</a:t>
            </a:r>
            <a:endParaRPr sz="790" b="0">
              <a:solidFill>
                <a:srgbClr val="22222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04" name="plugin-label"/>
          <p:cNvSpPr>
            <a:spLocks noGrp="1"/>
          </p:cNvSpPr>
          <p:nvPr/>
        </p:nvSpPr>
        <p:spPr>
          <a:xfrm>
            <a:off x="7581900" y="2257425"/>
            <a:ext cx="1085850" cy="247650"/>
          </a:xfrm>
          <a:prstGeom prst="rect">
            <a:avLst/>
          </a:prstGeom>
          <a:solidFill>
            <a:srgbClr val="FFFFFF"/>
          </a:solidFill>
          <a:ln w="11430">
            <a:solidFill>
              <a:srgbClr val="4B555E"/>
            </a:solidFill>
            <a:prstDash val="dot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9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插件式注入</a:t>
            </a:r>
            <a:endParaRPr sz="900" b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5" name="adapter-group"/>
          <p:cNvSpPr>
            <a:spLocks noGrp="1"/>
          </p:cNvSpPr>
          <p:nvPr/>
        </p:nvSpPr>
        <p:spPr>
          <a:xfrm>
            <a:off x="5191125" y="2590800"/>
            <a:ext cx="6048375" cy="1152525"/>
          </a:xfrm>
          <a:prstGeom prst="rect">
            <a:avLst/>
          </a:prstGeom>
          <a:noFill/>
          <a:ln w="11430">
            <a:solidFill>
              <a:srgbClr val="39434D"/>
            </a:solidFill>
            <a:prstDash val="solid"/>
          </a:ln>
        </p:spPr>
      </p:sp>
      <p:sp>
        <p:nvSpPr>
          <p:cNvPr id="106" name="adapter-title"/>
          <p:cNvSpPr>
            <a:spLocks noGrp="1"/>
          </p:cNvSpPr>
          <p:nvPr/>
        </p:nvSpPr>
        <p:spPr>
          <a:xfrm>
            <a:off x="5295900" y="2609850"/>
            <a:ext cx="583882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ctr">
              <a:defRPr sz="1015" b="1">
                <a:solidFill>
                  <a:srgbClr val="222222"/>
                </a:solidFill>
                <a:latin typeface="Consolas"/>
                <a:ea typeface="Consolas"/>
                <a:cs typeface="Consolas"/>
              </a:defRPr>
            </a:pPr>
            <a:r>
              <a:rPr sz="1015" b="1">
                <a:solidFill>
                  <a:srgbClr val="222222"/>
                </a:solidFill>
                <a:latin typeface="Consolas"/>
                <a:ea typeface="Consolas"/>
                <a:cs typeface="Consolas"/>
              </a:rPr>
              <a:t>torchtitan-npu 插件适配层</a:t>
            </a:r>
            <a:endParaRPr sz="1015" b="1">
              <a:solidFill>
                <a:srgbClr val="22222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07" name="adapter-divider"/>
          <p:cNvSpPr>
            <a:spLocks noGrp="1"/>
          </p:cNvSpPr>
          <p:nvPr/>
        </p:nvSpPr>
        <p:spPr>
          <a:xfrm>
            <a:off x="5191125" y="2876550"/>
            <a:ext cx="6048375" cy="9525"/>
          </a:xfrm>
          <a:prstGeom prst="line">
            <a:avLst/>
          </a:prstGeom>
          <a:noFill/>
          <a:ln w="10478">
            <a:solidFill>
              <a:srgbClr val="39434D"/>
            </a:solidFill>
            <a:prstDash val="solid"/>
          </a:ln>
        </p:spPr>
      </p:sp>
      <p:sp>
        <p:nvSpPr>
          <p:cNvPr id="108" name="adapter-patch"/>
          <p:cNvSpPr>
            <a:spLocks noGrp="1"/>
          </p:cNvSpPr>
          <p:nvPr/>
        </p:nvSpPr>
        <p:spPr>
          <a:xfrm>
            <a:off x="5334000" y="2990850"/>
            <a:ext cx="1343025" cy="552450"/>
          </a:xfrm>
          <a:prstGeom prst="roundRect">
            <a:avLst>
              <a:gd name="adj" fmla="val 8621"/>
            </a:avLst>
          </a:prstGeom>
          <a:pattFill prst="dnDiag">
            <a:fgClr>
              <a:srgbClr val="B4BAC0">
                <a:alpha val="40000"/>
              </a:srgbClr>
            </a:fgClr>
            <a:bgClr>
              <a:srgbClr val="F3F4F5"/>
            </a:bgClr>
          </a:pattFill>
          <a:ln w="8573">
            <a:solidFill>
              <a:srgbClr val="39434D"/>
            </a:solidFill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810" b="0">
                <a:solidFill>
                  <a:srgbClr val="222222"/>
                </a:solidFill>
                <a:latin typeface="Consolas"/>
                <a:ea typeface="Consolas"/>
                <a:cs typeface="Consolas"/>
              </a:defRPr>
            </a:pPr>
            <a:r>
              <a:rPr sz="810" b="0">
                <a:solidFill>
                  <a:srgbClr val="222222"/>
                </a:solidFill>
                <a:latin typeface="Consolas"/>
                <a:ea typeface="Consolas"/>
                <a:cs typeface="Consolas"/>
              </a:rPr>
              <a:t>Import-time Patch</a:t>
            </a:r>
            <a:endParaRPr sz="810" b="0">
              <a:solidFill>
                <a:srgbClr val="222222"/>
              </a:solidFill>
              <a:latin typeface="Consolas"/>
              <a:ea typeface="Consolas"/>
              <a:cs typeface="Consolas"/>
            </a:endParaRPr>
          </a:p>
          <a:p>
            <a:pPr algn="ctr">
              <a:defRPr sz="810" b="0">
                <a:solidFill>
                  <a:srgbClr val="222222"/>
                </a:solidFill>
                <a:latin typeface="Consolas"/>
                <a:ea typeface="Consolas"/>
                <a:cs typeface="Consolas"/>
              </a:defRPr>
            </a:pPr>
            <a:r>
              <a:rPr sz="810" b="0">
                <a:solidFill>
                  <a:srgbClr val="222222"/>
                </a:solidFill>
                <a:latin typeface="Consolas"/>
                <a:ea typeface="Consolas"/>
                <a:cs typeface="Consolas"/>
              </a:rPr>
              <a:t>patch按需导入</a:t>
            </a:r>
            <a:endParaRPr sz="810" b="0">
              <a:solidFill>
                <a:srgbClr val="22222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09" name="adapter-entry"/>
          <p:cNvSpPr>
            <a:spLocks noGrp="1"/>
          </p:cNvSpPr>
          <p:nvPr/>
        </p:nvSpPr>
        <p:spPr>
          <a:xfrm>
            <a:off x="6781800" y="2990850"/>
            <a:ext cx="1343025" cy="552450"/>
          </a:xfrm>
          <a:prstGeom prst="roundRect">
            <a:avLst>
              <a:gd name="adj" fmla="val 8621"/>
            </a:avLst>
          </a:prstGeom>
          <a:pattFill prst="dnDiag">
            <a:fgClr>
              <a:srgbClr val="B4BAC0">
                <a:alpha val="40000"/>
              </a:srgbClr>
            </a:fgClr>
            <a:bgClr>
              <a:srgbClr val="F3F4F5"/>
            </a:bgClr>
          </a:pattFill>
          <a:ln w="8573">
            <a:solidFill>
              <a:srgbClr val="39434D"/>
            </a:solidFill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735" b="0">
                <a:solidFill>
                  <a:srgbClr val="222222"/>
                </a:solidFill>
                <a:latin typeface="Consolas"/>
                <a:ea typeface="Consolas"/>
                <a:cs typeface="Consolas"/>
              </a:defRPr>
            </a:pPr>
            <a:r>
              <a:rPr sz="735" b="0">
                <a:solidFill>
                  <a:srgbClr val="222222"/>
                </a:solidFill>
                <a:latin typeface="Consolas"/>
                <a:ea typeface="Consolas"/>
                <a:cs typeface="Consolas"/>
              </a:rPr>
              <a:t>Entry/Custom_config</a:t>
            </a:r>
            <a:endParaRPr sz="735" b="0">
              <a:solidFill>
                <a:srgbClr val="222222"/>
              </a:solidFill>
              <a:latin typeface="Consolas"/>
              <a:ea typeface="Consolas"/>
              <a:cs typeface="Consolas"/>
            </a:endParaRPr>
          </a:p>
          <a:p>
            <a:pPr algn="ctr">
              <a:defRPr sz="735" b="0">
                <a:solidFill>
                  <a:srgbClr val="222222"/>
                </a:solidFill>
                <a:latin typeface="Consolas"/>
                <a:ea typeface="Consolas"/>
                <a:cs typeface="Consolas"/>
              </a:defRPr>
            </a:pPr>
            <a:r>
              <a:rPr sz="735" b="0">
                <a:solidFill>
                  <a:srgbClr val="222222"/>
                </a:solidFill>
                <a:latin typeface="Consolas"/>
                <a:ea typeface="Consolas"/>
                <a:cs typeface="Consolas"/>
              </a:rPr>
              <a:t>NPU参数与训练入口扩展</a:t>
            </a:r>
            <a:endParaRPr sz="735" b="0">
              <a:solidFill>
                <a:srgbClr val="22222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10" name="adapter-registry"/>
          <p:cNvSpPr>
            <a:spLocks noGrp="1"/>
          </p:cNvSpPr>
          <p:nvPr/>
        </p:nvSpPr>
        <p:spPr>
          <a:xfrm>
            <a:off x="8229600" y="2990850"/>
            <a:ext cx="1343025" cy="552450"/>
          </a:xfrm>
          <a:prstGeom prst="roundRect">
            <a:avLst>
              <a:gd name="adj" fmla="val 8621"/>
            </a:avLst>
          </a:prstGeom>
          <a:pattFill prst="dnDiag">
            <a:fgClr>
              <a:srgbClr val="8CB9D5">
                <a:alpha val="45000"/>
              </a:srgbClr>
            </a:fgClr>
            <a:bgClr>
              <a:srgbClr val="EAF3FA"/>
            </a:bgClr>
          </a:pattFill>
          <a:ln w="8573">
            <a:solidFill>
              <a:srgbClr val="39434D"/>
            </a:solidFill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795" b="0">
                <a:solidFill>
                  <a:srgbClr val="222222"/>
                </a:solidFill>
                <a:latin typeface="Consolas"/>
                <a:ea typeface="Consolas"/>
                <a:cs typeface="Consolas"/>
              </a:defRPr>
            </a:pPr>
            <a:r>
              <a:rPr sz="795" b="0">
                <a:solidFill>
                  <a:srgbClr val="222222"/>
                </a:solidFill>
                <a:latin typeface="Consolas"/>
                <a:ea typeface="Consolas"/>
                <a:cs typeface="Consolas"/>
              </a:rPr>
              <a:t>Converter Registry</a:t>
            </a:r>
            <a:endParaRPr sz="795" b="0">
              <a:solidFill>
                <a:srgbClr val="222222"/>
              </a:solidFill>
              <a:latin typeface="Consolas"/>
              <a:ea typeface="Consolas"/>
              <a:cs typeface="Consolas"/>
            </a:endParaRPr>
          </a:p>
          <a:p>
            <a:pPr algn="ctr">
              <a:defRPr sz="795" b="0">
                <a:solidFill>
                  <a:srgbClr val="222222"/>
                </a:solidFill>
                <a:latin typeface="Consolas"/>
                <a:ea typeface="Consolas"/>
                <a:cs typeface="Consolas"/>
              </a:defRPr>
            </a:pPr>
            <a:r>
              <a:rPr sz="795" b="0">
                <a:solidFill>
                  <a:srgbClr val="222222"/>
                </a:solidFill>
                <a:latin typeface="Consolas"/>
                <a:ea typeface="Consolas"/>
                <a:cs typeface="Consolas"/>
              </a:rPr>
              <a:t>插件注册</a:t>
            </a:r>
            <a:endParaRPr sz="795" b="0">
              <a:solidFill>
                <a:srgbClr val="22222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11" name="adapter-injection"/>
          <p:cNvSpPr>
            <a:spLocks noGrp="1"/>
          </p:cNvSpPr>
          <p:nvPr/>
        </p:nvSpPr>
        <p:spPr>
          <a:xfrm>
            <a:off x="9677400" y="2990850"/>
            <a:ext cx="1419225" cy="552450"/>
          </a:xfrm>
          <a:prstGeom prst="roundRect">
            <a:avLst>
              <a:gd name="adj" fmla="val 8621"/>
            </a:avLst>
          </a:prstGeom>
          <a:pattFill prst="dnDiag">
            <a:fgClr>
              <a:srgbClr val="D2B85C">
                <a:alpha val="45000"/>
              </a:srgbClr>
            </a:fgClr>
            <a:bgClr>
              <a:srgbClr val="FCF5D9"/>
            </a:bgClr>
          </a:pattFill>
          <a:ln w="8573">
            <a:solidFill>
              <a:srgbClr val="39434D"/>
            </a:solidFill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755" b="0">
                <a:solidFill>
                  <a:srgbClr val="222222"/>
                </a:solidFill>
                <a:latin typeface="Consolas"/>
                <a:ea typeface="Consolas"/>
                <a:cs typeface="Consolas"/>
              </a:defRPr>
            </a:pPr>
            <a:r>
              <a:rPr sz="755" b="0">
                <a:solidFill>
                  <a:srgbClr val="222222"/>
                </a:solidFill>
                <a:latin typeface="Consolas"/>
                <a:ea typeface="Consolas"/>
                <a:cs typeface="Consolas"/>
              </a:rPr>
              <a:t>Model Injection</a:t>
            </a:r>
            <a:endParaRPr sz="755" b="0">
              <a:solidFill>
                <a:srgbClr val="222222"/>
              </a:solidFill>
              <a:latin typeface="Consolas"/>
              <a:ea typeface="Consolas"/>
              <a:cs typeface="Consolas"/>
            </a:endParaRPr>
          </a:p>
          <a:p>
            <a:pPr algn="ctr">
              <a:defRPr sz="755" b="0">
                <a:solidFill>
                  <a:srgbClr val="222222"/>
                </a:solidFill>
                <a:latin typeface="Consolas"/>
                <a:ea typeface="Consolas"/>
                <a:cs typeface="Consolas"/>
              </a:defRPr>
            </a:pPr>
            <a:r>
              <a:rPr sz="755" b="0">
                <a:solidFill>
                  <a:srgbClr val="222222"/>
                </a:solidFill>
                <a:latin typeface="Consolas"/>
                <a:ea typeface="Consolas"/>
                <a:cs typeface="Consolas"/>
              </a:rPr>
              <a:t>DeepSeek V3.2/V4 支持</a:t>
            </a:r>
            <a:endParaRPr sz="755" b="0">
              <a:solidFill>
                <a:srgbClr val="22222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12" name="enhance-label"/>
          <p:cNvSpPr>
            <a:spLocks noGrp="1"/>
          </p:cNvSpPr>
          <p:nvPr/>
        </p:nvSpPr>
        <p:spPr>
          <a:xfrm>
            <a:off x="7486650" y="3790950"/>
            <a:ext cx="1276350" cy="247650"/>
          </a:xfrm>
          <a:prstGeom prst="rect">
            <a:avLst/>
          </a:prstGeom>
          <a:solidFill>
            <a:srgbClr val="FFFFFF"/>
          </a:solidFill>
          <a:ln w="11430">
            <a:solidFill>
              <a:srgbClr val="4B555E"/>
            </a:solidFill>
            <a:prstDash val="dot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9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非侵入能力增强</a:t>
            </a:r>
            <a:endParaRPr sz="900" b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3" name="capability-group"/>
          <p:cNvSpPr>
            <a:spLocks noGrp="1"/>
          </p:cNvSpPr>
          <p:nvPr/>
        </p:nvSpPr>
        <p:spPr>
          <a:xfrm>
            <a:off x="5191125" y="4114800"/>
            <a:ext cx="6048375" cy="1628775"/>
          </a:xfrm>
          <a:prstGeom prst="rect">
            <a:avLst/>
          </a:prstGeom>
          <a:noFill/>
          <a:ln w="11430">
            <a:solidFill>
              <a:srgbClr val="39434D"/>
            </a:solidFill>
            <a:prstDash val="solid"/>
          </a:ln>
        </p:spPr>
      </p:sp>
      <p:sp>
        <p:nvSpPr>
          <p:cNvPr id="114" name="capability-title"/>
          <p:cNvSpPr>
            <a:spLocks noGrp="1"/>
          </p:cNvSpPr>
          <p:nvPr/>
        </p:nvSpPr>
        <p:spPr>
          <a:xfrm>
            <a:off x="5295900" y="4133850"/>
            <a:ext cx="583882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ctr">
              <a:defRPr sz="1015" b="1">
                <a:solidFill>
                  <a:srgbClr val="222222"/>
                </a:solidFill>
                <a:latin typeface="Consolas"/>
                <a:ea typeface="Consolas"/>
                <a:cs typeface="Consolas"/>
              </a:defRPr>
            </a:pPr>
            <a:r>
              <a:rPr sz="1015" b="1">
                <a:solidFill>
                  <a:srgbClr val="222222"/>
                </a:solidFill>
                <a:latin typeface="Consolas"/>
                <a:ea typeface="Consolas"/>
                <a:cs typeface="Consolas"/>
              </a:rPr>
              <a:t>torchtitan-npu 能力增强层</a:t>
            </a:r>
            <a:endParaRPr sz="1015" b="1">
              <a:solidFill>
                <a:srgbClr val="22222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15" name="capability-divider"/>
          <p:cNvSpPr>
            <a:spLocks noGrp="1"/>
          </p:cNvSpPr>
          <p:nvPr/>
        </p:nvSpPr>
        <p:spPr>
          <a:xfrm>
            <a:off x="5191125" y="4400550"/>
            <a:ext cx="6048375" cy="9525"/>
          </a:xfrm>
          <a:prstGeom prst="line">
            <a:avLst/>
          </a:prstGeom>
          <a:noFill/>
          <a:ln w="10478">
            <a:solidFill>
              <a:srgbClr val="39434D"/>
            </a:solidFill>
            <a:prstDash val="solid"/>
          </a:ln>
        </p:spPr>
      </p:sp>
      <p:sp>
        <p:nvSpPr>
          <p:cNvPr id="116" name="capability-fused"/>
          <p:cNvSpPr>
            <a:spLocks noGrp="1"/>
          </p:cNvSpPr>
          <p:nvPr/>
        </p:nvSpPr>
        <p:spPr>
          <a:xfrm>
            <a:off x="5314950" y="4524375"/>
            <a:ext cx="1076325" cy="990600"/>
          </a:xfrm>
          <a:prstGeom prst="roundRect">
            <a:avLst>
              <a:gd name="adj" fmla="val 4808"/>
            </a:avLst>
          </a:prstGeom>
          <a:pattFill prst="dnDiag">
            <a:fgClr>
              <a:srgbClr val="8CB9D5">
                <a:alpha val="45000"/>
              </a:srgbClr>
            </a:fgClr>
            <a:bgClr>
              <a:srgbClr val="EAF3FA"/>
            </a:bgClr>
          </a:pattFill>
          <a:ln w="8573">
            <a:solidFill>
              <a:srgbClr val="39434D"/>
            </a:solidFill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755" b="0">
                <a:solidFill>
                  <a:srgbClr val="222222"/>
                </a:solidFill>
                <a:latin typeface="Consolas"/>
                <a:ea typeface="Consolas"/>
                <a:cs typeface="Consolas"/>
              </a:defRPr>
            </a:pPr>
            <a:r>
              <a:rPr sz="755" b="0">
                <a:solidFill>
                  <a:srgbClr val="222222"/>
                </a:solidFill>
                <a:latin typeface="Consolas"/>
                <a:ea typeface="Consolas"/>
                <a:cs typeface="Consolas"/>
              </a:rPr>
              <a:t>融合算子</a:t>
            </a:r>
            <a:endParaRPr sz="755" b="0">
              <a:solidFill>
                <a:srgbClr val="222222"/>
              </a:solidFill>
              <a:latin typeface="Consolas"/>
              <a:ea typeface="Consolas"/>
              <a:cs typeface="Consolas"/>
            </a:endParaRPr>
          </a:p>
          <a:p>
            <a:pPr algn="ctr">
              <a:defRPr sz="755" b="0">
                <a:solidFill>
                  <a:srgbClr val="222222"/>
                </a:solidFill>
                <a:latin typeface="Consolas"/>
                <a:ea typeface="Consolas"/>
                <a:cs typeface="Consolas"/>
              </a:defRPr>
            </a:pPr>
            <a:r>
              <a:rPr sz="755" b="0">
                <a:solidFill>
                  <a:srgbClr val="222222"/>
                </a:solidFill>
                <a:latin typeface="Consolas"/>
                <a:ea typeface="Consolas"/>
                <a:cs typeface="Consolas"/>
              </a:rPr>
              <a:t>SAS/LT/mHC/GMM</a:t>
            </a:r>
            <a:endParaRPr sz="755" b="0">
              <a:solidFill>
                <a:srgbClr val="222222"/>
              </a:solidFill>
              <a:latin typeface="Consolas"/>
              <a:ea typeface="Consolas"/>
              <a:cs typeface="Consolas"/>
            </a:endParaRPr>
          </a:p>
          <a:p>
            <a:pPr algn="ctr">
              <a:defRPr sz="755" b="0">
                <a:solidFill>
                  <a:srgbClr val="222222"/>
                </a:solidFill>
                <a:latin typeface="Consolas"/>
                <a:ea typeface="Consolas"/>
                <a:cs typeface="Consolas"/>
              </a:defRPr>
            </a:pPr>
            <a:r>
              <a:rPr sz="755" b="0">
                <a:solidFill>
                  <a:srgbClr val="222222"/>
                </a:solidFill>
                <a:latin typeface="Consolas"/>
                <a:ea typeface="Consolas"/>
                <a:cs typeface="Consolas"/>
              </a:rPr>
              <a:t>/Permute/RoPE/</a:t>
            </a:r>
            <a:endParaRPr sz="755" b="0">
              <a:solidFill>
                <a:srgbClr val="222222"/>
              </a:solidFill>
              <a:latin typeface="Consolas"/>
              <a:ea typeface="Consolas"/>
              <a:cs typeface="Consolas"/>
            </a:endParaRPr>
          </a:p>
          <a:p>
            <a:pPr algn="ctr">
              <a:defRPr sz="755" b="0">
                <a:solidFill>
                  <a:srgbClr val="222222"/>
                </a:solidFill>
                <a:latin typeface="Consolas"/>
                <a:ea typeface="Consolas"/>
                <a:cs typeface="Consolas"/>
              </a:defRPr>
            </a:pPr>
            <a:r>
              <a:rPr sz="755" b="0">
                <a:solidFill>
                  <a:srgbClr val="222222"/>
                </a:solidFill>
                <a:latin typeface="Consolas"/>
                <a:ea typeface="Consolas"/>
                <a:cs typeface="Consolas"/>
              </a:rPr>
              <a:t>RMSNorm</a:t>
            </a:r>
            <a:endParaRPr sz="755" b="0">
              <a:solidFill>
                <a:srgbClr val="22222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17" name="capability-compile"/>
          <p:cNvSpPr>
            <a:spLocks noGrp="1"/>
          </p:cNvSpPr>
          <p:nvPr/>
        </p:nvSpPr>
        <p:spPr>
          <a:xfrm>
            <a:off x="6486525" y="4524375"/>
            <a:ext cx="1076325" cy="990600"/>
          </a:xfrm>
          <a:prstGeom prst="roundRect">
            <a:avLst>
              <a:gd name="adj" fmla="val 4808"/>
            </a:avLst>
          </a:prstGeom>
          <a:pattFill prst="dnDiag">
            <a:fgClr>
              <a:srgbClr val="80C9BD">
                <a:alpha val="45000"/>
              </a:srgbClr>
            </a:fgClr>
            <a:bgClr>
              <a:srgbClr val="E7F6F3"/>
            </a:bgClr>
          </a:pattFill>
          <a:ln w="8573">
            <a:solidFill>
              <a:srgbClr val="39434D"/>
            </a:solidFill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765" b="0">
                <a:solidFill>
                  <a:srgbClr val="222222"/>
                </a:solidFill>
                <a:latin typeface="Consolas"/>
                <a:ea typeface="Consolas"/>
                <a:cs typeface="Consolas"/>
              </a:defRPr>
            </a:pPr>
            <a:r>
              <a:rPr sz="765" b="0">
                <a:solidFill>
                  <a:srgbClr val="222222"/>
                </a:solidFill>
                <a:latin typeface="Consolas"/>
                <a:ea typeface="Consolas"/>
                <a:cs typeface="Consolas"/>
              </a:rPr>
              <a:t>编译增强</a:t>
            </a:r>
            <a:endParaRPr sz="765" b="0">
              <a:solidFill>
                <a:srgbClr val="222222"/>
              </a:solidFill>
              <a:latin typeface="Consolas"/>
              <a:ea typeface="Consolas"/>
              <a:cs typeface="Consolas"/>
            </a:endParaRPr>
          </a:p>
          <a:p>
            <a:pPr algn="ctr">
              <a:defRPr sz="765" b="0">
                <a:solidFill>
                  <a:srgbClr val="222222"/>
                </a:solidFill>
                <a:latin typeface="Consolas"/>
                <a:ea typeface="Consolas"/>
                <a:cs typeface="Consolas"/>
              </a:defRPr>
            </a:pPr>
            <a:r>
              <a:rPr sz="765" b="0">
                <a:solidFill>
                  <a:srgbClr val="222222"/>
                </a:solidFill>
                <a:latin typeface="Consolas"/>
                <a:ea typeface="Consolas"/>
                <a:cs typeface="Consolas"/>
              </a:rPr>
              <a:t>torch.compile</a:t>
            </a:r>
            <a:endParaRPr sz="765" b="0">
              <a:solidFill>
                <a:srgbClr val="222222"/>
              </a:solidFill>
              <a:latin typeface="Consolas"/>
              <a:ea typeface="Consolas"/>
              <a:cs typeface="Consolas"/>
            </a:endParaRPr>
          </a:p>
          <a:p>
            <a:pPr algn="ctr">
              <a:defRPr sz="765" b="0">
                <a:solidFill>
                  <a:srgbClr val="222222"/>
                </a:solidFill>
                <a:latin typeface="Consolas"/>
                <a:ea typeface="Consolas"/>
                <a:cs typeface="Consolas"/>
              </a:defRPr>
            </a:pPr>
            <a:r>
              <a:rPr sz="765" b="0">
                <a:solidFill>
                  <a:srgbClr val="222222"/>
                </a:solidFill>
                <a:latin typeface="Consolas"/>
                <a:ea typeface="Consolas"/>
                <a:cs typeface="Consolas"/>
              </a:rPr>
              <a:t>Inductor+AutoFuse</a:t>
            </a:r>
            <a:endParaRPr sz="765" b="0">
              <a:solidFill>
                <a:srgbClr val="22222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18" name="capability-parallel"/>
          <p:cNvSpPr>
            <a:spLocks noGrp="1"/>
          </p:cNvSpPr>
          <p:nvPr/>
        </p:nvSpPr>
        <p:spPr>
          <a:xfrm>
            <a:off x="7658100" y="4524375"/>
            <a:ext cx="1076325" cy="990600"/>
          </a:xfrm>
          <a:prstGeom prst="roundRect">
            <a:avLst>
              <a:gd name="adj" fmla="val 4808"/>
            </a:avLst>
          </a:prstGeom>
          <a:pattFill prst="dnDiag">
            <a:fgClr>
              <a:srgbClr val="E2A7B1">
                <a:alpha val="45000"/>
              </a:srgbClr>
            </a:fgClr>
            <a:bgClr>
              <a:srgbClr val="FBECEF"/>
            </a:bgClr>
          </a:pattFill>
          <a:ln w="8573">
            <a:solidFill>
              <a:srgbClr val="39434D"/>
            </a:solidFill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755" b="0">
                <a:solidFill>
                  <a:srgbClr val="222222"/>
                </a:solidFill>
                <a:latin typeface="Consolas"/>
                <a:ea typeface="Consolas"/>
                <a:cs typeface="Consolas"/>
              </a:defRPr>
            </a:pPr>
            <a:r>
              <a:rPr sz="755" b="0">
                <a:solidFill>
                  <a:srgbClr val="222222"/>
                </a:solidFill>
                <a:latin typeface="Consolas"/>
                <a:ea typeface="Consolas"/>
                <a:cs typeface="Consolas"/>
              </a:rPr>
              <a:t>并行增强</a:t>
            </a:r>
            <a:endParaRPr sz="755" b="0">
              <a:solidFill>
                <a:srgbClr val="222222"/>
              </a:solidFill>
              <a:latin typeface="Consolas"/>
              <a:ea typeface="Consolas"/>
              <a:cs typeface="Consolas"/>
            </a:endParaRPr>
          </a:p>
          <a:p>
            <a:pPr algn="ctr">
              <a:defRPr sz="755" b="0">
                <a:solidFill>
                  <a:srgbClr val="222222"/>
                </a:solidFill>
                <a:latin typeface="Consolas"/>
                <a:ea typeface="Consolas"/>
                <a:cs typeface="Consolas"/>
              </a:defRPr>
            </a:pPr>
            <a:r>
              <a:rPr sz="755" b="0">
                <a:solidFill>
                  <a:srgbClr val="222222"/>
                </a:solidFill>
                <a:latin typeface="Consolas"/>
                <a:ea typeface="Consolas"/>
                <a:cs typeface="Consolas"/>
              </a:rPr>
              <a:t>Custom CP</a:t>
            </a:r>
            <a:endParaRPr sz="755" b="0">
              <a:solidFill>
                <a:srgbClr val="222222"/>
              </a:solidFill>
              <a:latin typeface="Consolas"/>
              <a:ea typeface="Consolas"/>
              <a:cs typeface="Consolas"/>
            </a:endParaRPr>
          </a:p>
          <a:p>
            <a:pPr algn="ctr">
              <a:defRPr sz="755" b="0">
                <a:solidFill>
                  <a:srgbClr val="222222"/>
                </a:solidFill>
                <a:latin typeface="Consolas"/>
                <a:ea typeface="Consolas"/>
                <a:cs typeface="Consolas"/>
              </a:defRPr>
            </a:pPr>
            <a:r>
              <a:rPr sz="755" b="0">
                <a:solidFill>
                  <a:srgbClr val="222222"/>
                </a:solidFill>
                <a:latin typeface="Consolas"/>
                <a:ea typeface="Consolas"/>
                <a:cs typeface="Consolas"/>
              </a:rPr>
              <a:t>Ulysses CP/DSA CP</a:t>
            </a:r>
            <a:endParaRPr sz="755" b="0">
              <a:solidFill>
                <a:srgbClr val="22222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19" name="capability-dfx"/>
          <p:cNvSpPr>
            <a:spLocks noGrp="1"/>
          </p:cNvSpPr>
          <p:nvPr/>
        </p:nvSpPr>
        <p:spPr>
          <a:xfrm>
            <a:off x="8829675" y="4524375"/>
            <a:ext cx="1076325" cy="990600"/>
          </a:xfrm>
          <a:prstGeom prst="roundRect">
            <a:avLst>
              <a:gd name="adj" fmla="val 4808"/>
            </a:avLst>
          </a:prstGeom>
          <a:pattFill prst="dnDiag">
            <a:fgClr>
              <a:srgbClr val="B4BAC0">
                <a:alpha val="40000"/>
              </a:srgbClr>
            </a:fgClr>
            <a:bgClr>
              <a:srgbClr val="F3F4F5"/>
            </a:bgClr>
          </a:pattFill>
          <a:ln w="8573">
            <a:solidFill>
              <a:srgbClr val="39434D"/>
            </a:solidFill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755" b="0">
                <a:solidFill>
                  <a:srgbClr val="222222"/>
                </a:solidFill>
                <a:latin typeface="Consolas"/>
                <a:ea typeface="Consolas"/>
                <a:cs typeface="Consolas"/>
              </a:defRPr>
            </a:pPr>
            <a:r>
              <a:rPr sz="755" b="0">
                <a:solidFill>
                  <a:srgbClr val="222222"/>
                </a:solidFill>
                <a:latin typeface="Consolas"/>
                <a:ea typeface="Consolas"/>
                <a:cs typeface="Consolas"/>
              </a:rPr>
              <a:t>DFX能力</a:t>
            </a:r>
            <a:endParaRPr sz="755" b="0">
              <a:solidFill>
                <a:srgbClr val="222222"/>
              </a:solidFill>
              <a:latin typeface="Consolas"/>
              <a:ea typeface="Consolas"/>
              <a:cs typeface="Consolas"/>
            </a:endParaRPr>
          </a:p>
          <a:p>
            <a:pPr algn="ctr">
              <a:defRPr sz="755" b="0">
                <a:solidFill>
                  <a:srgbClr val="222222"/>
                </a:solidFill>
                <a:latin typeface="Consolas"/>
                <a:ea typeface="Consolas"/>
                <a:cs typeface="Consolas"/>
              </a:defRPr>
            </a:pPr>
            <a:r>
              <a:rPr sz="755" b="0">
                <a:solidFill>
                  <a:srgbClr val="222222"/>
                </a:solidFill>
                <a:latin typeface="Consolas"/>
                <a:ea typeface="Consolas"/>
                <a:cs typeface="Consolas"/>
              </a:rPr>
              <a:t>Flight Recorder</a:t>
            </a:r>
            <a:endParaRPr sz="755" b="0">
              <a:solidFill>
                <a:srgbClr val="222222"/>
              </a:solidFill>
              <a:latin typeface="Consolas"/>
              <a:ea typeface="Consolas"/>
              <a:cs typeface="Consolas"/>
            </a:endParaRPr>
          </a:p>
          <a:p>
            <a:pPr algn="ctr">
              <a:defRPr sz="755" b="0">
                <a:solidFill>
                  <a:srgbClr val="222222"/>
                </a:solidFill>
                <a:latin typeface="Consolas"/>
                <a:ea typeface="Consolas"/>
                <a:cs typeface="Consolas"/>
              </a:defRPr>
            </a:pPr>
            <a:r>
              <a:rPr sz="755" b="0">
                <a:solidFill>
                  <a:srgbClr val="222222"/>
                </a:solidFill>
                <a:latin typeface="Consolas"/>
                <a:ea typeface="Consolas"/>
                <a:cs typeface="Consolas"/>
              </a:rPr>
              <a:t>Snapshot/profiling</a:t>
            </a:r>
            <a:endParaRPr sz="755" b="0">
              <a:solidFill>
                <a:srgbClr val="22222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20" name="capability-agent"/>
          <p:cNvSpPr>
            <a:spLocks noGrp="1"/>
          </p:cNvSpPr>
          <p:nvPr/>
        </p:nvSpPr>
        <p:spPr>
          <a:xfrm>
            <a:off x="10001250" y="4524375"/>
            <a:ext cx="1114425" cy="990600"/>
          </a:xfrm>
          <a:prstGeom prst="roundRect">
            <a:avLst>
              <a:gd name="adj" fmla="val 4808"/>
            </a:avLst>
          </a:prstGeom>
          <a:pattFill prst="dnDiag">
            <a:fgClr>
              <a:srgbClr val="B4BAC0">
                <a:alpha val="40000"/>
              </a:srgbClr>
            </a:fgClr>
            <a:bgClr>
              <a:srgbClr val="F3F4F5"/>
            </a:bgClr>
          </a:pattFill>
          <a:ln w="8573">
            <a:solidFill>
              <a:srgbClr val="39434D"/>
            </a:solidFill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765" b="0">
                <a:solidFill>
                  <a:srgbClr val="222222"/>
                </a:solidFill>
                <a:latin typeface="Consolas"/>
                <a:ea typeface="Consolas"/>
                <a:cs typeface="Consolas"/>
              </a:defRPr>
            </a:pPr>
            <a:r>
              <a:rPr sz="765" b="0">
                <a:solidFill>
                  <a:srgbClr val="222222"/>
                </a:solidFill>
                <a:latin typeface="Consolas"/>
                <a:ea typeface="Consolas"/>
                <a:cs typeface="Consolas"/>
              </a:rPr>
              <a:t>Agent Skills</a:t>
            </a:r>
            <a:endParaRPr sz="765" b="0">
              <a:solidFill>
                <a:srgbClr val="222222"/>
              </a:solidFill>
              <a:latin typeface="Consolas"/>
              <a:ea typeface="Consolas"/>
              <a:cs typeface="Consolas"/>
            </a:endParaRPr>
          </a:p>
          <a:p>
            <a:pPr algn="ctr">
              <a:defRPr sz="765" b="0">
                <a:solidFill>
                  <a:srgbClr val="222222"/>
                </a:solidFill>
                <a:latin typeface="Consolas"/>
                <a:ea typeface="Consolas"/>
                <a:cs typeface="Consolas"/>
              </a:defRPr>
            </a:pPr>
            <a:r>
              <a:rPr sz="765" b="0">
                <a:solidFill>
                  <a:srgbClr val="222222"/>
                </a:solidFill>
                <a:latin typeface="Consolas"/>
                <a:ea typeface="Consolas"/>
                <a:cs typeface="Consolas"/>
              </a:rPr>
              <a:t>accuracy-debug</a:t>
            </a:r>
            <a:endParaRPr sz="765" b="0">
              <a:solidFill>
                <a:srgbClr val="222222"/>
              </a:solidFill>
              <a:latin typeface="Consolas"/>
              <a:ea typeface="Consolas"/>
              <a:cs typeface="Consolas"/>
            </a:endParaRPr>
          </a:p>
          <a:p>
            <a:pPr algn="ctr">
              <a:defRPr sz="765" b="0">
                <a:solidFill>
                  <a:srgbClr val="222222"/>
                </a:solidFill>
                <a:latin typeface="Consolas"/>
                <a:ea typeface="Consolas"/>
                <a:cs typeface="Consolas"/>
              </a:defRPr>
            </a:pPr>
            <a:r>
              <a:rPr sz="765" b="0">
                <a:solidFill>
                  <a:srgbClr val="222222"/>
                </a:solidFill>
                <a:latin typeface="Consolas"/>
                <a:ea typeface="Consolas"/>
                <a:cs typeface="Consolas"/>
              </a:rPr>
              <a:t>OOM-analysis</a:t>
            </a:r>
            <a:endParaRPr sz="765" b="0">
              <a:solidFill>
                <a:srgbClr val="22222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21" name="repository-source"/>
          <p:cNvSpPr>
            <a:spLocks noGrp="1"/>
          </p:cNvSpPr>
          <p:nvPr/>
        </p:nvSpPr>
        <p:spPr>
          <a:xfrm>
            <a:off x="685800" y="5829300"/>
            <a:ext cx="704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l">
              <a:defRPr sz="825" b="0">
                <a:solidFill>
                  <a:srgbClr val="777777"/>
                </a:solidFill>
                <a:latin typeface="Consolas"/>
                <a:ea typeface="Consolas"/>
                <a:cs typeface="Consolas"/>
              </a:defRPr>
            </a:pPr>
            <a:r>
              <a:rPr sz="825" b="0">
                <a:solidFill>
                  <a:srgbClr val="777777"/>
                </a:solidFill>
                <a:latin typeface="Consolas"/>
                <a:ea typeface="Consolas"/>
                <a:cs typeface="Consolas"/>
              </a:rPr>
              <a:t>项目仓库：</a:t>
            </a:r>
            <a:r>
              <a:rPr sz="825" b="0">
                <a:solidFill>
                  <a:srgbClr val="777777"/>
                </a:solidFill>
                <a:latin typeface="Consolas"/>
                <a:ea typeface="Consolas"/>
                <a:cs typeface="Consolas"/>
                <a:hlinkClick r:id="rId2"/>
              </a:rPr>
              <a:t>gitcode.com/cann/torchtitan-npu</a:t>
            </a:r>
            <a:endParaRPr sz="825" b="0">
              <a:solidFill>
                <a:srgbClr val="777777"/>
              </a:solidFill>
              <a:latin typeface="Consolas"/>
              <a:ea typeface="Consolas"/>
              <a:cs typeface="Consolas"/>
              <a:hlinkClick r:id="rId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3" name="图片 3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矩形 1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slide-title"/>
          <p:cNvSpPr>
            <a:spLocks noGrp="1"/>
          </p:cNvSpPr>
          <p:nvPr/>
        </p:nvSpPr>
        <p:spPr>
          <a:xfrm>
            <a:off x="609600" y="320040"/>
            <a:ext cx="937260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lnSpc>
                <a:spcPct val="108000"/>
              </a:lnSpc>
              <a:buNone/>
              <a:defRPr sz="3375" b="0">
                <a:solidFill>
                  <a:srgbClr val="111111"/>
                </a:solidFill>
                <a:latin typeface="微软雅黑"/>
                <a:ea typeface="微软雅黑"/>
                <a:cs typeface="微软雅黑"/>
              </a:defRPr>
            </a:pPr>
            <a:r>
              <a:rPr sz="2700">
                <a:solidFill>
                  <a:srgbClr val="111111"/>
                </a:solidFill>
                <a:latin typeface="微软雅黑"/>
                <a:ea typeface="微软雅黑"/>
                <a:cs typeface="微软雅黑"/>
              </a:rPr>
              <a:t>FSDP</a:t>
            </a:r>
            <a:r>
              <a:rPr sz="2700">
                <a:solidFill>
                  <a:srgbClr val="111111"/>
                </a:solidFill>
                <a:latin typeface="微软雅黑"/>
                <a:ea typeface="微软雅黑"/>
                <a:cs typeface="微软雅黑"/>
              </a:rPr>
              <a:t>的应用</a:t>
            </a:r>
            <a:endParaRPr sz="2700">
              <a:solidFill>
                <a:srgbClr val="11111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85800" y="1181100"/>
            <a:ext cx="47244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lnSpc>
                <a:spcPct val="108000"/>
              </a:lnSpc>
              <a:buNone/>
              <a:defRPr sz="225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以</a:t>
            </a:r>
            <a:r>
              <a:rPr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Qwen3-1.7B </a:t>
            </a:r>
            <a:r>
              <a:rPr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训练显存构成</a:t>
            </a:r>
            <a:r>
              <a:rPr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为例</a:t>
            </a:r>
            <a:endParaRPr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685800" y="1752600"/>
            <a:ext cx="13716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lnSpc>
                <a:spcPct val="108000"/>
              </a:lnSpc>
              <a:buNone/>
              <a:defRPr sz="172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38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模型权重</a:t>
            </a:r>
            <a:endParaRPr sz="138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矩形: 圆角 6"/>
          <p:cNvSpPr>
            <a:spLocks noGrp="1"/>
          </p:cNvSpPr>
          <p:nvPr/>
        </p:nvSpPr>
        <p:spPr>
          <a:xfrm>
            <a:off x="2057400" y="1775460"/>
            <a:ext cx="466344" cy="259080"/>
          </a:xfrm>
          <a:prstGeom prst="roundRect">
            <a:avLst>
              <a:gd name="adj" fmla="val 17647"/>
            </a:avLst>
          </a:prstGeom>
          <a:solidFill>
            <a:srgbClr val="377DFF"/>
          </a:solidFill>
          <a:ln w="0">
            <a:noFill/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4953000" y="1752600"/>
            <a:ext cx="1143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8000"/>
              </a:lnSpc>
              <a:buNone/>
              <a:defRPr sz="165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32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≈ 3.4 GiB</a:t>
            </a:r>
            <a:endParaRPr sz="132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685800" y="2133600"/>
            <a:ext cx="4724400" cy="259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lnSpc>
                <a:spcPct val="108000"/>
              </a:lnSpc>
              <a:buNone/>
              <a:defRPr sz="1425" b="0">
                <a:solidFill>
                  <a:srgbClr val="888888"/>
                </a:solidFill>
                <a:latin typeface="微软雅黑"/>
                <a:ea typeface="微软雅黑"/>
                <a:cs typeface="微软雅黑"/>
              </a:defRPr>
            </a:pPr>
            <a:r>
              <a:rPr sz="1140">
                <a:solidFill>
                  <a:srgbClr val="888888"/>
                </a:solidFill>
                <a:latin typeface="微软雅黑"/>
                <a:ea typeface="微软雅黑"/>
                <a:cs typeface="微软雅黑"/>
              </a:rPr>
              <a:t>bf16，1 份</a:t>
            </a:r>
            <a:endParaRPr sz="1140">
              <a:solidFill>
                <a:srgbClr val="88888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685800" y="2552700"/>
            <a:ext cx="13716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lnSpc>
                <a:spcPct val="108000"/>
              </a:lnSpc>
              <a:buNone/>
              <a:defRPr sz="172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38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梯度</a:t>
            </a:r>
            <a:endParaRPr sz="138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矩形: 圆角 10"/>
          <p:cNvSpPr>
            <a:spLocks noGrp="1"/>
          </p:cNvSpPr>
          <p:nvPr/>
        </p:nvSpPr>
        <p:spPr>
          <a:xfrm>
            <a:off x="2057400" y="2575560"/>
            <a:ext cx="466344" cy="259080"/>
          </a:xfrm>
          <a:prstGeom prst="roundRect">
            <a:avLst>
              <a:gd name="adj" fmla="val 17647"/>
            </a:avLst>
          </a:prstGeom>
          <a:solidFill>
            <a:srgbClr val="43A047"/>
          </a:solidFill>
          <a:ln w="0">
            <a:noFill/>
            <a:prstDash val="solid"/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4953000" y="2552700"/>
            <a:ext cx="1143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8000"/>
              </a:lnSpc>
              <a:buNone/>
              <a:defRPr sz="165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32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≈ 3.4 GiB</a:t>
            </a:r>
            <a:endParaRPr sz="132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685800" y="2933700"/>
            <a:ext cx="4724400" cy="259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lnSpc>
                <a:spcPct val="108000"/>
              </a:lnSpc>
              <a:buNone/>
              <a:defRPr sz="1425" b="0">
                <a:solidFill>
                  <a:srgbClr val="888888"/>
                </a:solidFill>
                <a:latin typeface="微软雅黑"/>
                <a:ea typeface="微软雅黑"/>
                <a:cs typeface="微软雅黑"/>
              </a:defRPr>
            </a:pPr>
            <a:r>
              <a:rPr sz="1140">
                <a:solidFill>
                  <a:srgbClr val="888888"/>
                </a:solidFill>
                <a:latin typeface="微软雅黑"/>
                <a:ea typeface="微软雅黑"/>
                <a:cs typeface="微软雅黑"/>
              </a:rPr>
              <a:t>反向传播产生</a:t>
            </a:r>
            <a:endParaRPr sz="1140">
              <a:solidFill>
                <a:srgbClr val="88888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685800" y="3352800"/>
            <a:ext cx="13716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lnSpc>
                <a:spcPct val="108000"/>
              </a:lnSpc>
              <a:buNone/>
              <a:defRPr sz="172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38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优化器状态</a:t>
            </a:r>
            <a:endParaRPr sz="138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矩形: 圆角 14"/>
          <p:cNvSpPr>
            <a:spLocks noGrp="1"/>
          </p:cNvSpPr>
          <p:nvPr/>
        </p:nvSpPr>
        <p:spPr>
          <a:xfrm>
            <a:off x="2057400" y="3375660"/>
            <a:ext cx="2743200" cy="259080"/>
          </a:xfrm>
          <a:prstGeom prst="roundRect">
            <a:avLst>
              <a:gd name="adj" fmla="val 17647"/>
            </a:avLst>
          </a:prstGeom>
          <a:solidFill>
            <a:srgbClr val="E60012"/>
          </a:solidFill>
          <a:ln w="0">
            <a:noFill/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4953000" y="3352800"/>
            <a:ext cx="1143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8000"/>
              </a:lnSpc>
              <a:buNone/>
              <a:defRPr sz="165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32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≈ 20 GiB</a:t>
            </a:r>
            <a:endParaRPr sz="132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685800" y="3733800"/>
            <a:ext cx="4724400" cy="259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lnSpc>
                <a:spcPct val="108000"/>
              </a:lnSpc>
              <a:buNone/>
              <a:defRPr sz="1425" b="0">
                <a:solidFill>
                  <a:srgbClr val="888888"/>
                </a:solidFill>
                <a:latin typeface="微软雅黑"/>
                <a:ea typeface="微软雅黑"/>
                <a:cs typeface="微软雅黑"/>
              </a:defRPr>
            </a:pPr>
            <a:r>
              <a:rPr sz="1140">
                <a:solidFill>
                  <a:srgbClr val="888888"/>
                </a:solidFill>
                <a:latin typeface="微软雅黑"/>
                <a:ea typeface="微软雅黑"/>
                <a:cs typeface="微软雅黑"/>
              </a:rPr>
              <a:t>Adam m / v，fp32</a:t>
            </a:r>
            <a:endParaRPr sz="1140">
              <a:solidFill>
                <a:srgbClr val="88888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685800" y="4152900"/>
            <a:ext cx="13716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lnSpc>
                <a:spcPct val="108000"/>
              </a:lnSpc>
              <a:buNone/>
              <a:defRPr sz="172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38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激活值</a:t>
            </a:r>
            <a:endParaRPr sz="138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9" name="矩形: 圆角 18"/>
          <p:cNvSpPr>
            <a:spLocks noGrp="1"/>
          </p:cNvSpPr>
          <p:nvPr/>
        </p:nvSpPr>
        <p:spPr>
          <a:xfrm>
            <a:off x="2057400" y="4175760"/>
            <a:ext cx="1371600" cy="259080"/>
          </a:xfrm>
          <a:prstGeom prst="roundRect">
            <a:avLst>
              <a:gd name="adj" fmla="val 17647"/>
            </a:avLst>
          </a:prstGeom>
          <a:solidFill>
            <a:srgbClr val="C9A227"/>
          </a:solidFill>
          <a:ln w="0">
            <a:noFill/>
            <a:prstDash val="solid"/>
          </a:ln>
        </p:spPr>
      </p:sp>
      <p:sp>
        <p:nvSpPr>
          <p:cNvPr id="20" name="矩形 19"/>
          <p:cNvSpPr>
            <a:spLocks noGrp="1"/>
          </p:cNvSpPr>
          <p:nvPr/>
        </p:nvSpPr>
        <p:spPr>
          <a:xfrm>
            <a:off x="4953000" y="4152900"/>
            <a:ext cx="1143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8000"/>
              </a:lnSpc>
              <a:buNone/>
              <a:defRPr sz="165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32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≈ 10 GiB</a:t>
            </a:r>
            <a:endParaRPr sz="132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685800" y="4533900"/>
            <a:ext cx="4724400" cy="259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lnSpc>
                <a:spcPct val="108000"/>
              </a:lnSpc>
              <a:buNone/>
              <a:defRPr sz="1425" b="0">
                <a:solidFill>
                  <a:srgbClr val="888888"/>
                </a:solidFill>
                <a:latin typeface="微软雅黑"/>
                <a:ea typeface="微软雅黑"/>
                <a:cs typeface="微软雅黑"/>
              </a:defRPr>
            </a:pPr>
            <a:r>
              <a:rPr sz="1140">
                <a:solidFill>
                  <a:srgbClr val="888888"/>
                </a:solidFill>
                <a:latin typeface="微软雅黑"/>
                <a:ea typeface="微软雅黑"/>
                <a:cs typeface="微软雅黑"/>
              </a:rPr>
              <a:t>取决于 batch × seq_len</a:t>
            </a:r>
            <a:endParaRPr sz="1140">
              <a:solidFill>
                <a:srgbClr val="88888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矩形: 圆角 21"/>
          <p:cNvSpPr>
            <a:spLocks noGrp="1"/>
          </p:cNvSpPr>
          <p:nvPr/>
        </p:nvSpPr>
        <p:spPr>
          <a:xfrm>
            <a:off x="6248400" y="1219200"/>
            <a:ext cx="4724400" cy="1866900"/>
          </a:xfrm>
          <a:prstGeom prst="roundRect">
            <a:avLst>
              <a:gd name="adj" fmla="val 2449"/>
            </a:avLst>
          </a:prstGeom>
          <a:solidFill>
            <a:srgbClr val="FFF1F2"/>
          </a:solidFill>
          <a:ln w="9525">
            <a:solidFill>
              <a:srgbClr val="E60012"/>
            </a:solidFill>
            <a:prstDash val="solid"/>
          </a:ln>
        </p:spPr>
      </p:sp>
      <p:sp>
        <p:nvSpPr>
          <p:cNvPr id="23" name="矩形 22"/>
          <p:cNvSpPr>
            <a:spLocks noGrp="1"/>
          </p:cNvSpPr>
          <p:nvPr/>
        </p:nvSpPr>
        <p:spPr>
          <a:xfrm>
            <a:off x="6553200" y="1562100"/>
            <a:ext cx="1905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88596"/>
          </a:bodyPr>
          <a:lstStyle/>
          <a:p>
            <a:pPr>
              <a:lnSpc>
                <a:spcPct val="108000"/>
              </a:lnSpc>
              <a:buNone/>
              <a:defRPr sz="450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360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≈ 37 GiB</a:t>
            </a:r>
            <a:endParaRPr sz="3600" b="1"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8458200" y="1638300"/>
            <a:ext cx="6096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6451"/>
          </a:bodyPr>
          <a:lstStyle/>
          <a:p>
            <a:pPr algn="ctr">
              <a:lnSpc>
                <a:spcPct val="108000"/>
              </a:lnSpc>
              <a:buNone/>
              <a:defRPr sz="36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288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&gt;</a:t>
            </a:r>
            <a:endParaRPr sz="288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9144000" y="1638300"/>
            <a:ext cx="1447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33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264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32 GiB</a:t>
            </a:r>
            <a:endParaRPr sz="264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6591300" y="2400300"/>
            <a:ext cx="39624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210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68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完整训练状态超过单卡容量</a:t>
            </a:r>
            <a:endParaRPr sz="168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6477000" y="3619500"/>
            <a:ext cx="2286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lnSpc>
                <a:spcPct val="108000"/>
              </a:lnSpc>
              <a:buNone/>
              <a:defRPr sz="195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56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解决思路</a:t>
            </a:r>
            <a:endParaRPr sz="156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8" name="矩形: 圆角 27"/>
          <p:cNvSpPr>
            <a:spLocks noGrp="1"/>
          </p:cNvSpPr>
          <p:nvPr/>
        </p:nvSpPr>
        <p:spPr>
          <a:xfrm>
            <a:off x="6400800" y="4114800"/>
            <a:ext cx="4572000" cy="1104900"/>
          </a:xfrm>
          <a:prstGeom prst="roundRect">
            <a:avLst>
              <a:gd name="adj" fmla="val 4138"/>
            </a:avLst>
          </a:prstGeom>
          <a:solidFill>
            <a:srgbClr val="EEF4FF"/>
          </a:solidFill>
          <a:ln w="9525">
            <a:solidFill>
              <a:srgbClr val="377DFF"/>
            </a:solidFill>
            <a:prstDash val="solid"/>
          </a:ln>
        </p:spPr>
      </p:sp>
      <p:sp>
        <p:nvSpPr>
          <p:cNvPr id="29" name="矩形 28"/>
          <p:cNvSpPr>
            <a:spLocks noGrp="1"/>
          </p:cNvSpPr>
          <p:nvPr/>
        </p:nvSpPr>
        <p:spPr>
          <a:xfrm>
            <a:off x="6705600" y="4305300"/>
            <a:ext cx="13716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lnSpc>
                <a:spcPct val="108000"/>
              </a:lnSpc>
              <a:buNone/>
              <a:defRPr sz="3150" b="1">
                <a:solidFill>
                  <a:srgbClr val="377DFF"/>
                </a:solidFill>
                <a:latin typeface="Arial" panose="020B0604020202090204"/>
                <a:ea typeface="Arial" panose="020B0604020202090204"/>
                <a:cs typeface="Arial" panose="020B0604020202090204"/>
              </a:defRPr>
            </a:pPr>
            <a:r>
              <a:rPr sz="2520" b="1">
                <a:solidFill>
                  <a:srgbClr val="377D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FSDP</a:t>
            </a:r>
            <a:endParaRPr sz="2520" b="1">
              <a:solidFill>
                <a:srgbClr val="377D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8153400" y="4229100"/>
            <a:ext cx="24384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lnSpc>
                <a:spcPct val="122000"/>
              </a:lnSpc>
              <a:buNone/>
              <a:defRPr sz="180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44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把模型状态切成 N 份</a:t>
            </a:r>
            <a:endParaRPr sz="144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22000"/>
              </a:lnSpc>
              <a:buNone/>
              <a:defRPr sz="180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44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每张卡只保留自己负责的 1/N</a:t>
            </a:r>
            <a:endParaRPr sz="144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1" name="矩形 30"/>
          <p:cNvSpPr>
            <a:spLocks noGrp="1"/>
          </p:cNvSpPr>
          <p:nvPr/>
        </p:nvSpPr>
        <p:spPr>
          <a:xfrm>
            <a:off x="2286000" y="5410200"/>
            <a:ext cx="76200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202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62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问题不是模型“算不动”，而是完整训练状态“放不下”。</a:t>
            </a:r>
            <a:endParaRPr sz="1620" b="1"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6" name="图片 1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矩形 1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slide-title"/>
          <p:cNvSpPr>
            <a:spLocks noGrp="1"/>
          </p:cNvSpPr>
          <p:nvPr/>
        </p:nvSpPr>
        <p:spPr>
          <a:xfrm>
            <a:off x="609600" y="320040"/>
            <a:ext cx="937260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lnSpc>
                <a:spcPct val="108000"/>
              </a:lnSpc>
              <a:buNone/>
              <a:defRPr sz="3375" b="0">
                <a:solidFill>
                  <a:srgbClr val="111111"/>
                </a:solidFill>
                <a:latin typeface="微软雅黑"/>
                <a:ea typeface="微软雅黑"/>
                <a:cs typeface="微软雅黑"/>
              </a:defRPr>
            </a:pPr>
            <a:r>
              <a:rPr sz="2700">
                <a:solidFill>
                  <a:srgbClr val="111111"/>
                </a:solidFill>
                <a:latin typeface="微软雅黑"/>
                <a:ea typeface="微软雅黑"/>
                <a:cs typeface="微软雅黑"/>
              </a:rPr>
              <a:t>FSDP</a:t>
            </a:r>
            <a:r>
              <a:rPr sz="2700">
                <a:solidFill>
                  <a:srgbClr val="111111"/>
                </a:solidFill>
                <a:latin typeface="微软雅黑"/>
                <a:ea typeface="微软雅黑"/>
                <a:cs typeface="微软雅黑"/>
              </a:rPr>
              <a:t>概念介绍</a:t>
            </a:r>
            <a:endParaRPr sz="2700">
              <a:solidFill>
                <a:srgbClr val="11111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85800" y="1104900"/>
            <a:ext cx="45720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lnSpc>
                <a:spcPct val="108000"/>
              </a:lnSpc>
              <a:buNone/>
              <a:defRPr sz="2025" b="1">
                <a:solidFill>
                  <a:srgbClr val="377DFF"/>
                </a:solidFill>
                <a:latin typeface="微软雅黑"/>
                <a:ea typeface="微软雅黑"/>
                <a:cs typeface="微软雅黑"/>
              </a:defRPr>
            </a:pPr>
            <a:r>
              <a:rPr sz="162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rPr>
              <a:t>正向传播：all-gather</a:t>
            </a:r>
            <a:endParaRPr sz="1620" b="1">
              <a:solidFill>
                <a:srgbClr val="377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6438900" y="1104900"/>
            <a:ext cx="45720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lnSpc>
                <a:spcPct val="108000"/>
              </a:lnSpc>
              <a:buNone/>
              <a:defRPr sz="202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62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反向传播：reduce-scatter</a:t>
            </a:r>
            <a:endParaRPr sz="1620" b="1"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21" name="图片 1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636568"/>
            <a:ext cx="5181600" cy="2060864"/>
          </a:xfrm>
          <a:prstGeom prst="rect">
            <a:avLst/>
          </a:prstGeom>
        </p:spPr>
      </p:pic>
      <p:pic>
        <p:nvPicPr>
          <p:cNvPr id="22" name="图片 1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8400" y="2095033"/>
            <a:ext cx="5181600" cy="1143934"/>
          </a:xfrm>
          <a:prstGeom prst="rect">
            <a:avLst/>
          </a:prstGeom>
        </p:spPr>
      </p:pic>
      <p:sp>
        <p:nvSpPr>
          <p:cNvPr id="9" name="矩形 8"/>
          <p:cNvSpPr>
            <a:spLocks noGrp="1"/>
          </p:cNvSpPr>
          <p:nvPr/>
        </p:nvSpPr>
        <p:spPr>
          <a:xfrm>
            <a:off x="762000" y="3962400"/>
            <a:ext cx="4876800" cy="5181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18000"/>
              </a:lnSpc>
              <a:buNone/>
              <a:defRPr sz="1650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32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各卡只保存参数分片；计算前临时拼出完整参数，计算后立即释放。</a:t>
            </a:r>
            <a:endParaRPr sz="132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6400800" y="3962400"/>
            <a:ext cx="4876800" cy="5181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18000"/>
              </a:lnSpc>
              <a:buNone/>
              <a:defRPr sz="1650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32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先把各 rank 梯度求和，再按分片切回各卡；直接 scatter 得不到完整梯度。</a:t>
            </a:r>
            <a:endParaRPr sz="132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矩形: 圆角 10"/>
          <p:cNvSpPr>
            <a:spLocks noGrp="1"/>
          </p:cNvSpPr>
          <p:nvPr/>
        </p:nvSpPr>
        <p:spPr>
          <a:xfrm>
            <a:off x="1219200" y="4838700"/>
            <a:ext cx="9753600" cy="655320"/>
          </a:xfrm>
          <a:prstGeom prst="roundRect">
            <a:avLst>
              <a:gd name="adj" fmla="val 6977"/>
            </a:avLst>
          </a:prstGeom>
          <a:solidFill>
            <a:srgbClr val="EDF7EC"/>
          </a:solidFill>
          <a:ln w="9525">
            <a:solidFill>
              <a:srgbClr val="43A047"/>
            </a:solidFill>
            <a:prstDash val="solid"/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1562100" y="4838700"/>
            <a:ext cx="9067800" cy="655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875" b="1">
                <a:solidFill>
                  <a:srgbClr val="43A047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43A047"/>
                </a:solidFill>
                <a:latin typeface="微软雅黑"/>
                <a:ea typeface="微软雅黑"/>
                <a:cs typeface="微软雅黑"/>
              </a:rPr>
              <a:t>FSDP2：把通信拆到每一层，让参数传输与计算重叠，尽量把通信时间“藏”进计算。</a:t>
            </a:r>
            <a:endParaRPr sz="1500" b="1">
              <a:solidFill>
                <a:srgbClr val="43A047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1" name="图片 2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矩形 1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slide-title"/>
          <p:cNvSpPr>
            <a:spLocks noGrp="1"/>
          </p:cNvSpPr>
          <p:nvPr/>
        </p:nvSpPr>
        <p:spPr>
          <a:xfrm>
            <a:off x="609600" y="320040"/>
            <a:ext cx="937260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3375" b="0">
                <a:solidFill>
                  <a:srgbClr val="111111"/>
                </a:solidFill>
                <a:latin typeface="微软雅黑"/>
                <a:ea typeface="微软雅黑"/>
                <a:cs typeface="微软雅黑"/>
              </a:defRPr>
            </a:pPr>
            <a:r>
              <a:rPr lang="en-US" sz="2700" b="0" i="0" u="none" cap="none">
                <a:ln>
                  <a:noFill/>
                </a:ln>
                <a:solidFill>
                  <a:srgbClr val="111111"/>
                </a:solidFill>
                <a:latin typeface="微软雅黑"/>
                <a:ea typeface="微软雅黑"/>
                <a:cs typeface="微软雅黑"/>
              </a:rPr>
              <a:t>FSDP</a:t>
            </a:r>
            <a:r>
              <a:rPr lang="zh-CN" altLang="en-US" sz="2700" b="0" i="0" u="none" cap="none">
                <a:ln>
                  <a:noFill/>
                </a:ln>
                <a:solidFill>
                  <a:srgbClr val="111111"/>
                </a:solidFill>
                <a:latin typeface="微软雅黑"/>
                <a:ea typeface="微软雅黑"/>
                <a:cs typeface="微软雅黑"/>
              </a:rPr>
              <a:t>介绍</a:t>
            </a:r>
            <a:endParaRPr lang="zh-CN" altLang="en-US" sz="2700" b="0" i="0" u="none" cap="none">
              <a:ln>
                <a:noFill/>
              </a:ln>
              <a:solidFill>
                <a:srgbClr val="11111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矩形: 圆角 4"/>
          <p:cNvSpPr>
            <a:spLocks noGrp="1"/>
          </p:cNvSpPr>
          <p:nvPr/>
        </p:nvSpPr>
        <p:spPr>
          <a:xfrm>
            <a:off x="685800" y="1295400"/>
            <a:ext cx="3810000" cy="3200400"/>
          </a:xfrm>
          <a:prstGeom prst="roundRect">
            <a:avLst>
              <a:gd name="adj" fmla="val 1429"/>
            </a:avLst>
          </a:prstGeom>
          <a:solidFill>
            <a:srgbClr val="FFF1F2"/>
          </a:solidFill>
          <a:ln w="9525">
            <a:solidFill>
              <a:srgbClr val="E60012"/>
            </a:solidFill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1028700" y="1714500"/>
            <a:ext cx="312420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3600" b="1">
                <a:solidFill>
                  <a:srgbClr val="E60012"/>
                </a:solidFill>
                <a:latin typeface="Arial" panose="020B0604020202090204"/>
                <a:ea typeface="Arial" panose="020B0604020202090204"/>
                <a:cs typeface="Arial" panose="020B0604020202090204"/>
              </a:defRPr>
            </a:pPr>
            <a:r>
              <a:rPr sz="2880" b="1" i="0" u="none" cap="none">
                <a:ln>
                  <a:noFill/>
                </a:ln>
                <a:solidFill>
                  <a:srgbClr val="E60012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TorchTitan</a:t>
            </a:r>
            <a:endParaRPr sz="2880" b="1" i="0" u="none" cap="none">
              <a:ln>
                <a:noFill/>
              </a:ln>
              <a:solidFill>
                <a:srgbClr val="E60012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1066800" y="2514600"/>
            <a:ext cx="30480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ctr" defTabSz="91440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32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860" b="1" i="0" u="none" cap="none">
                <a:ln>
                  <a:noFill/>
                </a:ln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配置两张卡</a:t>
            </a:r>
            <a:endParaRPr sz="1860" b="1" i="0" u="none" cap="none">
              <a:ln>
                <a:noFill/>
              </a:ln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  <a:p>
            <a:pPr marL="0" marR="0" indent="0" algn="ctr" defTabSz="91440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32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860" b="1" i="0" u="none" cap="none">
                <a:ln>
                  <a:noFill/>
                </a:ln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自动开启 FSDP 分片</a:t>
            </a:r>
            <a:endParaRPr sz="1860" b="1" i="0" u="none" cap="none">
              <a:ln>
                <a:noFill/>
              </a:ln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矩形: 圆角 7"/>
          <p:cNvSpPr>
            <a:spLocks noGrp="1"/>
          </p:cNvSpPr>
          <p:nvPr/>
        </p:nvSpPr>
        <p:spPr>
          <a:xfrm>
            <a:off x="1371600" y="3695700"/>
            <a:ext cx="2438400" cy="3048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1432560" y="3695700"/>
            <a:ext cx="231648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35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 i="0" u="none" cap="none">
                <a:ln>
                  <a:noFill/>
                </a:ln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NGPU=2 · FSDP=auto</a:t>
            </a:r>
            <a:endParaRPr sz="1080" b="1" i="0" u="none" cap="none">
              <a:ln>
                <a:noFill/>
              </a:ln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5257800" y="1257300"/>
            <a:ext cx="38100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8765"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25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 i="0" u="none" cap="none">
                <a:ln>
                  <a:noFill/>
                </a:ln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每卡显存对比</a:t>
            </a:r>
            <a:endParaRPr sz="2250" b="1" i="0" u="none" cap="none">
              <a:ln>
                <a:noFill/>
              </a:ln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5257800" y="1790700"/>
            <a:ext cx="495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87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 i="0" u="none" cap="none">
                <a:ln>
                  <a:noFill/>
                </a:ln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01</a:t>
            </a:r>
            <a:endParaRPr sz="1500" b="1" i="0" u="none" cap="none">
              <a:ln>
                <a:noFill/>
              </a:ln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5829300" y="1790700"/>
            <a:ext cx="21336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8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 i="0" u="none" cap="none">
                <a:ln>
                  <a:noFill/>
                </a:ln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模型权重</a:t>
            </a:r>
            <a:endParaRPr sz="1500" b="1" i="0" u="none" cap="none">
              <a:ln>
                <a:noFill/>
              </a:ln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5829300" y="2156460"/>
            <a:ext cx="2209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l" defTabSz="91440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42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0" i="0" u="none" cap="none">
                <a:ln>
                  <a:noFill/>
                </a:ln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3.4 → 1.7 GiB</a:t>
            </a:r>
            <a:endParaRPr sz="1140" b="0" i="0" u="none" cap="none">
              <a:ln>
                <a:noFill/>
              </a:ln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8229600" y="1790700"/>
            <a:ext cx="495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875" b="1">
                <a:solidFill>
                  <a:srgbClr val="377D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 i="0" u="none" cap="none">
                <a:ln>
                  <a:noFill/>
                </a:ln>
                <a:solidFill>
                  <a:srgbClr val="377DFF"/>
                </a:solidFill>
                <a:latin typeface="微软雅黑"/>
                <a:ea typeface="微软雅黑"/>
                <a:cs typeface="微软雅黑"/>
              </a:rPr>
              <a:t>02</a:t>
            </a:r>
            <a:endParaRPr sz="1500" b="1" i="0" u="none" cap="none">
              <a:ln>
                <a:noFill/>
              </a:ln>
              <a:solidFill>
                <a:srgbClr val="377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8801100" y="1790700"/>
            <a:ext cx="21336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8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 i="0" u="none" cap="none">
                <a:ln>
                  <a:noFill/>
                </a:ln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梯度</a:t>
            </a:r>
            <a:endParaRPr sz="1500" b="1" i="0" u="none" cap="none">
              <a:ln>
                <a:noFill/>
              </a:ln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8801100" y="2156460"/>
            <a:ext cx="2209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l" defTabSz="91440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42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0" i="0" u="none" cap="none">
                <a:ln>
                  <a:noFill/>
                </a:ln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3.4 → 1.7 GiB</a:t>
            </a:r>
            <a:endParaRPr sz="1140" b="0" i="0" u="none" cap="none">
              <a:ln>
                <a:noFill/>
              </a:ln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5257800" y="2857500"/>
            <a:ext cx="495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87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 i="0" u="none" cap="none">
                <a:ln>
                  <a:noFill/>
                </a:ln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03</a:t>
            </a:r>
            <a:endParaRPr sz="1500" b="1" i="0" u="none" cap="none">
              <a:ln>
                <a:noFill/>
              </a:ln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5829300" y="2857500"/>
            <a:ext cx="21336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8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 i="0" u="none" cap="none">
                <a:ln>
                  <a:noFill/>
                </a:ln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优化器状态</a:t>
            </a:r>
            <a:endParaRPr sz="1500" b="1" i="0" u="none" cap="none">
              <a:ln>
                <a:noFill/>
              </a:ln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5829300" y="3223260"/>
            <a:ext cx="2209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l" defTabSz="91440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42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0" i="0" u="none" cap="none">
                <a:ln>
                  <a:noFill/>
                </a:ln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20 → 10 GiB</a:t>
            </a:r>
            <a:endParaRPr sz="1140" b="0" i="0" u="none" cap="none">
              <a:ln>
                <a:noFill/>
              </a:ln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8229600" y="2857500"/>
            <a:ext cx="495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875" b="1">
                <a:solidFill>
                  <a:srgbClr val="377D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 i="0" u="none" cap="none">
                <a:ln>
                  <a:noFill/>
                </a:ln>
                <a:solidFill>
                  <a:srgbClr val="377DFF"/>
                </a:solidFill>
                <a:latin typeface="微软雅黑"/>
                <a:ea typeface="微软雅黑"/>
                <a:cs typeface="微软雅黑"/>
              </a:rPr>
              <a:t>04</a:t>
            </a:r>
            <a:endParaRPr sz="1500" b="1" i="0" u="none" cap="none">
              <a:ln>
                <a:noFill/>
              </a:ln>
              <a:solidFill>
                <a:srgbClr val="377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8801100" y="2857500"/>
            <a:ext cx="21336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8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 i="0" u="none" cap="none">
                <a:ln>
                  <a:noFill/>
                </a:ln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激活值</a:t>
            </a:r>
            <a:endParaRPr sz="1500" b="1" i="0" u="none" cap="none">
              <a:ln>
                <a:noFill/>
              </a:ln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8801100" y="3223260"/>
            <a:ext cx="2209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l" defTabSz="91440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42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0" i="0" u="none" cap="none">
                <a:ln>
                  <a:noFill/>
                </a:ln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10 → 10 GiB（保守估算）</a:t>
            </a:r>
            <a:endParaRPr sz="1140" b="0" i="0" u="none" cap="none">
              <a:ln>
                <a:noFill/>
              </a:ln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5257800" y="3924300"/>
            <a:ext cx="495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87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 i="0" u="none" cap="none">
                <a:ln>
                  <a:noFill/>
                </a:ln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05</a:t>
            </a:r>
            <a:endParaRPr sz="1500" b="1" i="0" u="none" cap="none">
              <a:ln>
                <a:noFill/>
              </a:ln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5829300" y="3924300"/>
            <a:ext cx="21336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8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 i="0" u="none" cap="none">
                <a:ln>
                  <a:noFill/>
                </a:ln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模型状态</a:t>
            </a:r>
            <a:endParaRPr sz="1500" b="1" i="0" u="none" cap="none">
              <a:ln>
                <a:noFill/>
              </a:ln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5829300" y="4290060"/>
            <a:ext cx="2209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l" defTabSz="91440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42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0" i="0" u="none" cap="none">
                <a:ln>
                  <a:noFill/>
                </a:ln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26.8 ÷ 2 = 13.4 GiB</a:t>
            </a:r>
            <a:endParaRPr sz="1140" b="0" i="0" u="none" cap="none">
              <a:ln>
                <a:noFill/>
              </a:ln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8229600" y="3924300"/>
            <a:ext cx="495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875" b="1">
                <a:solidFill>
                  <a:srgbClr val="377D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 i="0" u="none" cap="none">
                <a:ln>
                  <a:noFill/>
                </a:ln>
                <a:solidFill>
                  <a:srgbClr val="377DFF"/>
                </a:solidFill>
                <a:latin typeface="微软雅黑"/>
                <a:ea typeface="微软雅黑"/>
                <a:cs typeface="微软雅黑"/>
              </a:rPr>
              <a:t>06</a:t>
            </a:r>
            <a:endParaRPr sz="1500" b="1" i="0" u="none" cap="none">
              <a:ln>
                <a:noFill/>
              </a:ln>
              <a:solidFill>
                <a:srgbClr val="377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8801100" y="3924300"/>
            <a:ext cx="21336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8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 i="0" u="none" cap="none">
                <a:ln>
                  <a:noFill/>
                </a:ln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每卡总计</a:t>
            </a:r>
            <a:endParaRPr sz="1500" b="1" i="0" u="none" cap="none">
              <a:ln>
                <a:noFill/>
              </a:ln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8801100" y="4290060"/>
            <a:ext cx="2209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l" defTabSz="91440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42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0" i="0" u="none" cap="none">
                <a:ln>
                  <a:noFill/>
                </a:ln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13.4 + 10 = 23.4 GiB</a:t>
            </a:r>
            <a:endParaRPr sz="1140" b="0" i="0" u="none" cap="none">
              <a:ln>
                <a:noFill/>
              </a:ln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1676400" y="5257800"/>
            <a:ext cx="8839200" cy="396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02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620" b="1" i="0" u="none" cap="none">
                <a:ln>
                  <a:noFill/>
                </a:ln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36.8 → 23.4 GiB / 卡：节省 13.4 GiB（约 36%），余量约 8.6 GiB。</a:t>
            </a:r>
            <a:endParaRPr sz="1620" b="1" i="0" u="none" cap="none">
              <a:ln>
                <a:noFill/>
              </a:ln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2" name="图片 1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矩形 1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slide-title"/>
          <p:cNvSpPr>
            <a:spLocks noGrp="1"/>
          </p:cNvSpPr>
          <p:nvPr/>
        </p:nvSpPr>
        <p:spPr>
          <a:xfrm>
            <a:off x="609600" y="320040"/>
            <a:ext cx="937260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lnSpc>
                <a:spcPct val="108000"/>
              </a:lnSpc>
              <a:buNone/>
              <a:defRPr sz="3375" b="0">
                <a:solidFill>
                  <a:srgbClr val="111111"/>
                </a:solidFill>
                <a:latin typeface="微软雅黑"/>
                <a:ea typeface="微软雅黑"/>
                <a:cs typeface="微软雅黑"/>
              </a:defRPr>
            </a:pPr>
            <a:r>
              <a:rPr sz="2700">
                <a:solidFill>
                  <a:srgbClr val="111111"/>
                </a:solidFill>
                <a:latin typeface="微软雅黑"/>
                <a:ea typeface="微软雅黑"/>
                <a:cs typeface="微软雅黑"/>
              </a:rPr>
              <a:t>如何启动</a:t>
            </a:r>
            <a:r>
              <a:rPr sz="2700">
                <a:solidFill>
                  <a:srgbClr val="111111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700">
                <a:solidFill>
                  <a:srgbClr val="111111"/>
                </a:solidFill>
                <a:latin typeface="微软雅黑"/>
                <a:ea typeface="微软雅黑"/>
                <a:cs typeface="微软雅黑"/>
              </a:rPr>
              <a:t>TorchTitan</a:t>
            </a:r>
            <a:r>
              <a:rPr sz="2700">
                <a:solidFill>
                  <a:srgbClr val="111111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700">
                <a:solidFill>
                  <a:srgbClr val="111111"/>
                </a:solidFill>
                <a:latin typeface="微软雅黑"/>
                <a:ea typeface="微软雅黑"/>
                <a:cs typeface="微软雅黑"/>
              </a:rPr>
              <a:t>训练</a:t>
            </a:r>
            <a:r>
              <a:rPr sz="2700">
                <a:solidFill>
                  <a:srgbClr val="111111"/>
                </a:solidFill>
                <a:latin typeface="微软雅黑"/>
                <a:ea typeface="微软雅黑"/>
                <a:cs typeface="微软雅黑"/>
              </a:rPr>
              <a:t>？</a:t>
            </a:r>
            <a:endParaRPr sz="2700">
              <a:solidFill>
                <a:srgbClr val="111111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25" name="图片 2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1287780"/>
            <a:ext cx="5486400" cy="3977640"/>
          </a:xfrm>
          <a:prstGeom prst="rect">
            <a:avLst/>
          </a:prstGeom>
        </p:spPr>
      </p:pic>
      <p:sp>
        <p:nvSpPr>
          <p:cNvPr id="6" name="矩形 5"/>
          <p:cNvSpPr>
            <a:spLocks noGrp="1"/>
          </p:cNvSpPr>
          <p:nvPr/>
        </p:nvSpPr>
        <p:spPr>
          <a:xfrm>
            <a:off x="6477000" y="1181100"/>
            <a:ext cx="2286000" cy="335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lnSpc>
                <a:spcPct val="108000"/>
              </a:lnSpc>
              <a:buNone/>
              <a:defRPr sz="21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68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启动命令</a:t>
            </a:r>
            <a:endParaRPr sz="168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矩形: 圆角 6"/>
          <p:cNvSpPr>
            <a:spLocks noGrp="1"/>
          </p:cNvSpPr>
          <p:nvPr/>
        </p:nvSpPr>
        <p:spPr>
          <a:xfrm>
            <a:off x="6400800" y="1638300"/>
            <a:ext cx="4724400" cy="1181100"/>
          </a:xfrm>
          <a:prstGeom prst="roundRect">
            <a:avLst>
              <a:gd name="adj" fmla="val 3871"/>
            </a:avLst>
          </a:prstGeom>
          <a:solidFill>
            <a:srgbClr val="F5F5F5"/>
          </a:solidFill>
          <a:ln w="9525">
            <a:solidFill>
              <a:srgbClr val="D4D4D4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6568440" y="1760220"/>
            <a:ext cx="4389120" cy="9372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lnSpc>
                <a:spcPct val="120000"/>
              </a:lnSpc>
              <a:buNone/>
              <a:defRPr sz="1350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108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NGPU=2 \</a:t>
            </a:r>
            <a:endParaRPr sz="108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  <a:p>
            <a:pPr>
              <a:lnSpc>
                <a:spcPct val="120000"/>
              </a:lnSpc>
              <a:buNone/>
              <a:defRPr sz="1350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108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MODULE=torchtitan_npu.models.qwen3 \</a:t>
            </a:r>
            <a:endParaRPr sz="108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  <a:p>
            <a:pPr>
              <a:lnSpc>
                <a:spcPct val="120000"/>
              </a:lnSpc>
              <a:buNone/>
              <a:defRPr sz="1350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108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CONFIG=sft_qwen3_1_7b_wordle \</a:t>
            </a:r>
            <a:endParaRPr sz="108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  <a:p>
            <a:pPr>
              <a:lnSpc>
                <a:spcPct val="120000"/>
              </a:lnSpc>
              <a:buNone/>
              <a:defRPr sz="1350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108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bash scripts/run_train.sh</a:t>
            </a:r>
            <a:endParaRPr sz="108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9" name="矩形: 圆角 8"/>
          <p:cNvSpPr>
            <a:spLocks noGrp="1"/>
          </p:cNvSpPr>
          <p:nvPr/>
        </p:nvSpPr>
        <p:spPr>
          <a:xfrm>
            <a:off x="6438900" y="3086100"/>
            <a:ext cx="1143000" cy="304800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0">
            <a:noFill/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6499860" y="3086100"/>
            <a:ext cx="102108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NGPU</a:t>
            </a:r>
            <a:endParaRPr sz="108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7772400" y="3086100"/>
            <a:ext cx="32004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lnSpc>
                <a:spcPct val="108000"/>
              </a:lnSpc>
              <a:buNone/>
              <a:defRPr sz="1575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26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使用的 NPU 卡数</a:t>
            </a:r>
            <a:endParaRPr sz="126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矩形: 圆角 11"/>
          <p:cNvSpPr>
            <a:spLocks noGrp="1"/>
          </p:cNvSpPr>
          <p:nvPr/>
        </p:nvSpPr>
        <p:spPr>
          <a:xfrm>
            <a:off x="6438900" y="3634740"/>
            <a:ext cx="1143000" cy="304800"/>
          </a:xfrm>
          <a:prstGeom prst="roundRect">
            <a:avLst>
              <a:gd name="adj" fmla="val 15000"/>
            </a:avLst>
          </a:prstGeom>
          <a:solidFill>
            <a:srgbClr val="FFF1F2"/>
          </a:solidFill>
          <a:ln w="0">
            <a:noFill/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6499860" y="3634740"/>
            <a:ext cx="102108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MODULE</a:t>
            </a:r>
            <a:endParaRPr sz="1080" b="1"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7772400" y="3634740"/>
            <a:ext cx="32004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lnSpc>
                <a:spcPct val="108000"/>
              </a:lnSpc>
              <a:buNone/>
              <a:defRPr sz="1575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26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加载哪个模型模块与 model_registry</a:t>
            </a:r>
            <a:endParaRPr sz="126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矩形: 圆角 14"/>
          <p:cNvSpPr>
            <a:spLocks noGrp="1"/>
          </p:cNvSpPr>
          <p:nvPr/>
        </p:nvSpPr>
        <p:spPr>
          <a:xfrm>
            <a:off x="6438900" y="4183380"/>
            <a:ext cx="1143000" cy="304800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0">
            <a:noFill/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6499860" y="4183380"/>
            <a:ext cx="102108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CONFIG</a:t>
            </a:r>
            <a:endParaRPr sz="108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7772400" y="4183380"/>
            <a:ext cx="32004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lnSpc>
                <a:spcPct val="108000"/>
              </a:lnSpc>
              <a:buNone/>
              <a:defRPr sz="1575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26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选择哪套训练配置</a:t>
            </a:r>
            <a:endParaRPr sz="126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8" name="矩形: 圆角 17"/>
          <p:cNvSpPr>
            <a:spLocks noGrp="1"/>
          </p:cNvSpPr>
          <p:nvPr/>
        </p:nvSpPr>
        <p:spPr>
          <a:xfrm>
            <a:off x="6400800" y="4762500"/>
            <a:ext cx="4724400" cy="723900"/>
          </a:xfrm>
          <a:prstGeom prst="roundRect">
            <a:avLst>
              <a:gd name="adj" fmla="val 6316"/>
            </a:avLst>
          </a:prstGeom>
          <a:solidFill>
            <a:srgbClr val="FFF1F2"/>
          </a:solidFill>
          <a:ln w="9525">
            <a:solidFill>
              <a:srgbClr val="E60012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6667500" y="4762500"/>
            <a:ext cx="41910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72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38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model_registry 决定：用哪个模型、如何 FSDP 分片、怎样加载权重、使用什么 loss。</a:t>
            </a:r>
            <a:endParaRPr sz="1380" b="1"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48" name="图片 4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矩形 1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slide-title"/>
          <p:cNvSpPr>
            <a:spLocks noGrp="1"/>
          </p:cNvSpPr>
          <p:nvPr/>
        </p:nvSpPr>
        <p:spPr>
          <a:xfrm>
            <a:off x="609600" y="320040"/>
            <a:ext cx="937260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lnSpc>
                <a:spcPct val="108000"/>
              </a:lnSpc>
              <a:buNone/>
              <a:defRPr sz="3375" b="0">
                <a:solidFill>
                  <a:srgbClr val="111111"/>
                </a:solidFill>
                <a:latin typeface="微软雅黑"/>
                <a:ea typeface="微软雅黑"/>
                <a:cs typeface="微软雅黑"/>
              </a:defRPr>
            </a:pPr>
            <a:r>
              <a:rPr sz="2700">
                <a:solidFill>
                  <a:srgbClr val="111111"/>
                </a:solidFill>
                <a:latin typeface="微软雅黑"/>
                <a:ea typeface="微软雅黑"/>
                <a:cs typeface="微软雅黑"/>
              </a:rPr>
              <a:t>环境配置</a:t>
            </a:r>
            <a:endParaRPr sz="2700">
              <a:solidFill>
                <a:srgbClr val="11111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85800" y="1104900"/>
            <a:ext cx="1981200" cy="335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lnSpc>
                <a:spcPct val="108000"/>
              </a:lnSpc>
              <a:buNone/>
              <a:defRPr sz="21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68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前置检查</a:t>
            </a:r>
            <a:endParaRPr sz="168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685800" y="1524000"/>
            <a:ext cx="1905000" cy="381000"/>
          </a:xfrm>
          <a:prstGeom prst="rect">
            <a:avLst/>
          </a:prstGeom>
          <a:solidFill>
            <a:srgbClr val="E60012"/>
          </a:solidFill>
          <a:ln w="0">
            <a:noFill/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792480" y="1524000"/>
            <a:ext cx="169164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lnSpc>
                <a:spcPct val="108000"/>
              </a:lnSpc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组件</a:t>
            </a:r>
            <a:endParaRPr sz="12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2590800" y="1524000"/>
            <a:ext cx="1676400" cy="381000"/>
          </a:xfrm>
          <a:prstGeom prst="rect">
            <a:avLst/>
          </a:prstGeom>
          <a:solidFill>
            <a:srgbClr val="262626"/>
          </a:solidFill>
          <a:ln w="0">
            <a:noFill/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2697480" y="1524000"/>
            <a:ext cx="146304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lnSpc>
                <a:spcPct val="108000"/>
              </a:lnSpc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版本</a:t>
            </a:r>
            <a:endParaRPr sz="12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4267200" y="1524000"/>
            <a:ext cx="1981200" cy="381000"/>
          </a:xfrm>
          <a:prstGeom prst="rect">
            <a:avLst/>
          </a:prstGeom>
          <a:solidFill>
            <a:srgbClr val="262626"/>
          </a:solidFill>
          <a:ln w="0">
            <a:noFill/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4373880" y="1524000"/>
            <a:ext cx="176784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lnSpc>
                <a:spcPct val="108000"/>
              </a:lnSpc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验证方式</a:t>
            </a:r>
            <a:endParaRPr sz="12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685800" y="1905000"/>
            <a:ext cx="1905000" cy="47244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792480" y="1965960"/>
            <a:ext cx="1691640" cy="350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lnSpc>
                <a:spcPct val="108000"/>
              </a:lnSpc>
              <a:buNone/>
              <a:defRPr sz="1425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CANN</a:t>
            </a:r>
            <a:endParaRPr sz="114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2590800" y="1905000"/>
            <a:ext cx="1676400" cy="47244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2697480" y="1965960"/>
            <a:ext cx="1463040" cy="350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lnSpc>
                <a:spcPct val="108000"/>
              </a:lnSpc>
              <a:buNone/>
              <a:defRPr sz="142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9.0.0</a:t>
            </a:r>
            <a:endParaRPr sz="114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4267200" y="1905000"/>
            <a:ext cx="1981200" cy="47244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4373880" y="1965960"/>
            <a:ext cx="1767840" cy="350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lnSpc>
                <a:spcPct val="108000"/>
              </a:lnSpc>
              <a:buNone/>
              <a:defRPr sz="1425" b="0">
                <a:solidFill>
                  <a:srgbClr val="525252"/>
                </a:solidFill>
                <a:latin typeface="Consolas"/>
                <a:ea typeface="Consolas"/>
                <a:cs typeface="Consolas"/>
              </a:defRPr>
            </a:pPr>
            <a:r>
              <a:rPr sz="1140">
                <a:solidFill>
                  <a:srgbClr val="525252"/>
                </a:solidFill>
                <a:latin typeface="Consolas"/>
                <a:ea typeface="Consolas"/>
                <a:cs typeface="Consolas"/>
              </a:rPr>
              <a:t>npu-smi info</a:t>
            </a:r>
            <a:endParaRPr sz="1140">
              <a:solidFill>
                <a:srgbClr val="52525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685800" y="2377440"/>
            <a:ext cx="1905000" cy="4724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792480" y="2438400"/>
            <a:ext cx="1691640" cy="350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lnSpc>
                <a:spcPct val="108000"/>
              </a:lnSpc>
              <a:buNone/>
              <a:defRPr sz="1425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PyTorch</a:t>
            </a:r>
            <a:endParaRPr sz="114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2590800" y="2377440"/>
            <a:ext cx="1676400" cy="4724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2697480" y="2438400"/>
            <a:ext cx="1463040" cy="350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lnSpc>
                <a:spcPct val="108000"/>
              </a:lnSpc>
              <a:buNone/>
              <a:defRPr sz="142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2.12.0</a:t>
            </a:r>
            <a:endParaRPr sz="114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4267200" y="2377440"/>
            <a:ext cx="1981200" cy="4724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3" name="矩形 22"/>
          <p:cNvSpPr>
            <a:spLocks noGrp="1"/>
          </p:cNvSpPr>
          <p:nvPr/>
        </p:nvSpPr>
        <p:spPr>
          <a:xfrm>
            <a:off x="4373880" y="2438400"/>
            <a:ext cx="1767840" cy="350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lnSpc>
                <a:spcPct val="108000"/>
              </a:lnSpc>
              <a:buNone/>
              <a:defRPr sz="1425" b="0">
                <a:solidFill>
                  <a:srgbClr val="525252"/>
                </a:solidFill>
                <a:latin typeface="Consolas"/>
                <a:ea typeface="Consolas"/>
                <a:cs typeface="Consolas"/>
              </a:defRPr>
            </a:pPr>
            <a:r>
              <a:rPr sz="1140">
                <a:solidFill>
                  <a:srgbClr val="525252"/>
                </a:solidFill>
                <a:latin typeface="Consolas"/>
                <a:ea typeface="Consolas"/>
                <a:cs typeface="Consolas"/>
              </a:rPr>
              <a:t>import torch</a:t>
            </a:r>
            <a:endParaRPr sz="1140">
              <a:solidFill>
                <a:srgbClr val="52525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685800" y="2849880"/>
            <a:ext cx="1905000" cy="47244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5" name="矩形 24"/>
          <p:cNvSpPr>
            <a:spLocks noGrp="1"/>
          </p:cNvSpPr>
          <p:nvPr/>
        </p:nvSpPr>
        <p:spPr>
          <a:xfrm>
            <a:off x="792480" y="2910840"/>
            <a:ext cx="1691640" cy="350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lnSpc>
                <a:spcPct val="108000"/>
              </a:lnSpc>
              <a:buNone/>
              <a:defRPr sz="1425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torch_npu</a:t>
            </a:r>
            <a:endParaRPr sz="114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2590800" y="2849880"/>
            <a:ext cx="1676400" cy="47244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7" name="矩形 26"/>
          <p:cNvSpPr>
            <a:spLocks noGrp="1"/>
          </p:cNvSpPr>
          <p:nvPr/>
        </p:nvSpPr>
        <p:spPr>
          <a:xfrm>
            <a:off x="2697480" y="2910840"/>
            <a:ext cx="1463040" cy="350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lnSpc>
                <a:spcPct val="108000"/>
              </a:lnSpc>
              <a:buNone/>
              <a:defRPr sz="142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2.12.0rc1</a:t>
            </a:r>
            <a:endParaRPr sz="114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4267200" y="2849880"/>
            <a:ext cx="1981200" cy="47244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9" name="矩形 28"/>
          <p:cNvSpPr>
            <a:spLocks noGrp="1"/>
          </p:cNvSpPr>
          <p:nvPr/>
        </p:nvSpPr>
        <p:spPr>
          <a:xfrm>
            <a:off x="4373880" y="2910840"/>
            <a:ext cx="1767840" cy="350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lnSpc>
                <a:spcPct val="108000"/>
              </a:lnSpc>
              <a:buNone/>
              <a:defRPr sz="1425" b="0">
                <a:solidFill>
                  <a:srgbClr val="525252"/>
                </a:solidFill>
                <a:latin typeface="Consolas"/>
                <a:ea typeface="Consolas"/>
                <a:cs typeface="Consolas"/>
              </a:defRPr>
            </a:pPr>
            <a:r>
              <a:rPr sz="1140">
                <a:solidFill>
                  <a:srgbClr val="525252"/>
                </a:solidFill>
                <a:latin typeface="Consolas"/>
                <a:ea typeface="Consolas"/>
                <a:cs typeface="Consolas"/>
              </a:rPr>
              <a:t>import torch_npu</a:t>
            </a:r>
            <a:endParaRPr sz="1140">
              <a:solidFill>
                <a:srgbClr val="52525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6629400" y="1104900"/>
            <a:ext cx="1981200" cy="335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lnSpc>
                <a:spcPct val="108000"/>
              </a:lnSpc>
              <a:buNone/>
              <a:defRPr sz="21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68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三步验证</a:t>
            </a:r>
            <a:endParaRPr sz="168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1" name="矩形 30"/>
          <p:cNvSpPr>
            <a:spLocks noGrp="1"/>
          </p:cNvSpPr>
          <p:nvPr/>
        </p:nvSpPr>
        <p:spPr>
          <a:xfrm>
            <a:off x="6629400" y="1562100"/>
            <a:ext cx="4953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lnSpc>
                <a:spcPct val="108000"/>
              </a:lnSpc>
              <a:buNone/>
              <a:defRPr sz="202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62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01</a:t>
            </a:r>
            <a:endParaRPr sz="1620" b="1"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2" name="矩形 31"/>
          <p:cNvSpPr>
            <a:spLocks noGrp="1"/>
          </p:cNvSpPr>
          <p:nvPr/>
        </p:nvSpPr>
        <p:spPr>
          <a:xfrm>
            <a:off x="7277100" y="1562100"/>
            <a:ext cx="32004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lnSpc>
                <a:spcPct val="108000"/>
              </a:lnSpc>
              <a:buNone/>
              <a:defRPr sz="18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克隆仓库</a:t>
            </a:r>
            <a:endParaRPr sz="150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3" name="矩形: 圆角 32"/>
          <p:cNvSpPr>
            <a:spLocks noGrp="1"/>
          </p:cNvSpPr>
          <p:nvPr/>
        </p:nvSpPr>
        <p:spPr>
          <a:xfrm>
            <a:off x="7277100" y="1943100"/>
            <a:ext cx="3810000" cy="495300"/>
          </a:xfrm>
          <a:prstGeom prst="roundRect">
            <a:avLst>
              <a:gd name="adj" fmla="val 9231"/>
            </a:avLst>
          </a:prstGeom>
          <a:solidFill>
            <a:srgbClr val="F5F5F5"/>
          </a:solidFill>
          <a:ln w="9525">
            <a:solidFill>
              <a:srgbClr val="D4D4D4"/>
            </a:solidFill>
            <a:prstDash val="solid"/>
          </a:ln>
        </p:spPr>
      </p:sp>
      <p:sp>
        <p:nvSpPr>
          <p:cNvPr id="34" name="矩形 33"/>
          <p:cNvSpPr>
            <a:spLocks noGrp="1"/>
          </p:cNvSpPr>
          <p:nvPr/>
        </p:nvSpPr>
        <p:spPr>
          <a:xfrm>
            <a:off x="7444740" y="2065020"/>
            <a:ext cx="3474720" cy="2514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lnSpc>
                <a:spcPct val="120000"/>
              </a:lnSpc>
              <a:buNone/>
              <a:defRPr sz="1125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90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git clone https://gitcode.com/cann/torchtitan-npu.git</a:t>
            </a:r>
            <a:endParaRPr sz="90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5" name="矩形 34"/>
          <p:cNvSpPr>
            <a:spLocks noGrp="1"/>
          </p:cNvSpPr>
          <p:nvPr/>
        </p:nvSpPr>
        <p:spPr>
          <a:xfrm>
            <a:off x="6629400" y="2743200"/>
            <a:ext cx="4953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lnSpc>
                <a:spcPct val="108000"/>
              </a:lnSpc>
              <a:buNone/>
              <a:defRPr sz="202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62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02</a:t>
            </a:r>
            <a:endParaRPr sz="1620" b="1"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6" name="矩形 35"/>
          <p:cNvSpPr>
            <a:spLocks noGrp="1"/>
          </p:cNvSpPr>
          <p:nvPr/>
        </p:nvSpPr>
        <p:spPr>
          <a:xfrm>
            <a:off x="7277100" y="2743200"/>
            <a:ext cx="32004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lnSpc>
                <a:spcPct val="108000"/>
              </a:lnSpc>
              <a:buNone/>
              <a:defRPr sz="18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安装依赖</a:t>
            </a:r>
            <a:endParaRPr sz="150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7" name="矩形: 圆角 36"/>
          <p:cNvSpPr>
            <a:spLocks noGrp="1"/>
          </p:cNvSpPr>
          <p:nvPr/>
        </p:nvSpPr>
        <p:spPr>
          <a:xfrm>
            <a:off x="7277100" y="3124200"/>
            <a:ext cx="3810000" cy="495300"/>
          </a:xfrm>
          <a:prstGeom prst="roundRect">
            <a:avLst>
              <a:gd name="adj" fmla="val 9231"/>
            </a:avLst>
          </a:prstGeom>
          <a:solidFill>
            <a:srgbClr val="F5F5F5"/>
          </a:solidFill>
          <a:ln w="9525">
            <a:solidFill>
              <a:srgbClr val="D4D4D4"/>
            </a:solidFill>
            <a:prstDash val="solid"/>
          </a:ln>
        </p:spPr>
      </p:sp>
      <p:sp>
        <p:nvSpPr>
          <p:cNvPr id="38" name="矩形 37"/>
          <p:cNvSpPr>
            <a:spLocks noGrp="1"/>
          </p:cNvSpPr>
          <p:nvPr/>
        </p:nvSpPr>
        <p:spPr>
          <a:xfrm>
            <a:off x="7444740" y="3246120"/>
            <a:ext cx="3474720" cy="2514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83889" lnSpcReduction="20000"/>
          </a:bodyPr>
          <a:lstStyle/>
          <a:p>
            <a:pPr>
              <a:lnSpc>
                <a:spcPct val="120000"/>
              </a:lnSpc>
              <a:buNone/>
              <a:defRPr sz="1125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90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pip install -r requirements.txt</a:t>
            </a:r>
            <a:endParaRPr sz="90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  <a:p>
            <a:pPr>
              <a:lnSpc>
                <a:spcPct val="120000"/>
              </a:lnSpc>
              <a:buNone/>
              <a:defRPr sz="1125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90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pip install -e .</a:t>
            </a:r>
            <a:endParaRPr sz="90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9" name="矩形 38"/>
          <p:cNvSpPr>
            <a:spLocks noGrp="1"/>
          </p:cNvSpPr>
          <p:nvPr/>
        </p:nvSpPr>
        <p:spPr>
          <a:xfrm>
            <a:off x="6629400" y="3924300"/>
            <a:ext cx="4953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lnSpc>
                <a:spcPct val="108000"/>
              </a:lnSpc>
              <a:buNone/>
              <a:defRPr sz="202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62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03</a:t>
            </a:r>
            <a:endParaRPr sz="1620" b="1"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0" name="矩形 39"/>
          <p:cNvSpPr>
            <a:spLocks noGrp="1"/>
          </p:cNvSpPr>
          <p:nvPr/>
        </p:nvSpPr>
        <p:spPr>
          <a:xfrm>
            <a:off x="7277100" y="3924300"/>
            <a:ext cx="32004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lnSpc>
                <a:spcPct val="108000"/>
              </a:lnSpc>
              <a:buNone/>
              <a:defRPr sz="18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运行 Debug</a:t>
            </a:r>
            <a:endParaRPr sz="150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1" name="矩形: 圆角 40"/>
          <p:cNvSpPr>
            <a:spLocks noGrp="1"/>
          </p:cNvSpPr>
          <p:nvPr/>
        </p:nvSpPr>
        <p:spPr>
          <a:xfrm>
            <a:off x="7277100" y="4305300"/>
            <a:ext cx="3810000" cy="594360"/>
          </a:xfrm>
          <a:prstGeom prst="roundRect">
            <a:avLst>
              <a:gd name="adj" fmla="val 7692"/>
            </a:avLst>
          </a:prstGeom>
          <a:solidFill>
            <a:srgbClr val="F5F5F5"/>
          </a:solidFill>
          <a:ln w="9525">
            <a:solidFill>
              <a:srgbClr val="D4D4D4"/>
            </a:solidFill>
            <a:prstDash val="solid"/>
          </a:ln>
        </p:spPr>
      </p:sp>
      <p:sp>
        <p:nvSpPr>
          <p:cNvPr id="42" name="矩形 41"/>
          <p:cNvSpPr>
            <a:spLocks noGrp="1"/>
          </p:cNvSpPr>
          <p:nvPr/>
        </p:nvSpPr>
        <p:spPr>
          <a:xfrm>
            <a:off x="7444740" y="4427220"/>
            <a:ext cx="3474720" cy="350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lnSpc>
                <a:spcPct val="120000"/>
              </a:lnSpc>
              <a:buNone/>
              <a:defRPr sz="1125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90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NGPU=2 CONFIG=sft_qwen3_1_7b_wordle_debug \</a:t>
            </a:r>
            <a:endParaRPr sz="90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  <a:p>
            <a:pPr>
              <a:lnSpc>
                <a:spcPct val="120000"/>
              </a:lnSpc>
              <a:buNone/>
              <a:defRPr sz="1125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90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bash scripts/run_train.sh</a:t>
            </a:r>
            <a:endParaRPr sz="90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43" name="矩形: 圆角 42"/>
          <p:cNvSpPr>
            <a:spLocks noGrp="1"/>
          </p:cNvSpPr>
          <p:nvPr/>
        </p:nvSpPr>
        <p:spPr>
          <a:xfrm>
            <a:off x="685800" y="4076700"/>
            <a:ext cx="5257800" cy="1104900"/>
          </a:xfrm>
          <a:prstGeom prst="roundRect">
            <a:avLst>
              <a:gd name="adj" fmla="val 4138"/>
            </a:avLst>
          </a:prstGeom>
          <a:solidFill>
            <a:srgbClr val="EDF7EC"/>
          </a:solidFill>
          <a:ln w="9525">
            <a:solidFill>
              <a:srgbClr val="43A047"/>
            </a:solidFill>
            <a:prstDash val="solid"/>
          </a:ln>
        </p:spPr>
      </p:sp>
      <p:sp>
        <p:nvSpPr>
          <p:cNvPr id="44" name="矩形 43"/>
          <p:cNvSpPr>
            <a:spLocks noGrp="1"/>
          </p:cNvSpPr>
          <p:nvPr/>
        </p:nvSpPr>
        <p:spPr>
          <a:xfrm>
            <a:off x="990600" y="4305300"/>
            <a:ext cx="22860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lnSpc>
                <a:spcPct val="108000"/>
              </a:lnSpc>
              <a:buNone/>
              <a:defRPr sz="2025" b="1">
                <a:solidFill>
                  <a:srgbClr val="43A047"/>
                </a:solidFill>
                <a:latin typeface="微软雅黑"/>
                <a:ea typeface="微软雅黑"/>
                <a:cs typeface="微软雅黑"/>
              </a:defRPr>
            </a:pPr>
            <a:r>
              <a:rPr sz="1620" b="1">
                <a:solidFill>
                  <a:srgbClr val="43A047"/>
                </a:solidFill>
                <a:latin typeface="微软雅黑"/>
                <a:ea typeface="微软雅黑"/>
                <a:cs typeface="微软雅黑"/>
              </a:rPr>
              <a:t>Debug 模型验证什么？</a:t>
            </a:r>
            <a:endParaRPr sz="1620" b="1">
              <a:solidFill>
                <a:srgbClr val="43A04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5" name="矩形 44"/>
          <p:cNvSpPr>
            <a:spLocks noGrp="1"/>
          </p:cNvSpPr>
          <p:nvPr/>
        </p:nvSpPr>
        <p:spPr>
          <a:xfrm>
            <a:off x="990600" y="4762500"/>
            <a:ext cx="46482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725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38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数据加载 → 模型构建 → 前向/反向 → 梯度更新</a:t>
            </a:r>
            <a:endParaRPr sz="138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6" name="矩形 45"/>
          <p:cNvSpPr>
            <a:spLocks noGrp="1"/>
          </p:cNvSpPr>
          <p:nvPr/>
        </p:nvSpPr>
        <p:spPr>
          <a:xfrm>
            <a:off x="2057400" y="5486400"/>
            <a:ext cx="8077200" cy="335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202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62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看到 Training completed，说明最小训练链路可用。</a:t>
            </a:r>
            <a:endParaRPr sz="1620" b="1"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0" name="矩形 9"/>
          <p:cNvSpPr>
            <a:spLocks noGrp="1"/>
          </p:cNvSpPr>
          <p:nvPr/>
        </p:nvSpPr>
        <p:spPr>
          <a:xfrm>
            <a:off x="547073" y="2601035"/>
            <a:ext cx="3380868" cy="835742"/>
          </a:xfrm>
          <a:prstGeom prst="rect">
            <a:avLst/>
          </a:prstGeom>
          <a:solidFill>
            <a:srgbClr val="FFFFFF"/>
          </a:solidFill>
          <a:ln w="12700" cmpd="sng">
            <a:noFill/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400" b="0" i="0" u="none" cap="none">
                <a:ln>
                  <a:noFill/>
                </a:ln>
                <a:solidFill>
                  <a:srgbClr val="DDDDDD">
                    <a:lumMod val="50000"/>
                  </a:srgbClr>
                </a:solidFill>
                <a:latin typeface="微软雅黑"/>
                <a:ea typeface="微软雅黑"/>
                <a:cs typeface="微软雅黑"/>
              </a:rPr>
              <a:t>SFT监督微调</a:t>
            </a:r>
            <a:endParaRPr sz="4400" b="0" i="0" u="none" cap="none">
              <a:ln>
                <a:noFill/>
              </a:ln>
              <a:solidFill>
                <a:srgbClr val="DDDDDD">
                  <a:lumMod val="50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í$ľidè"/>
          <p:cNvSpPr>
            <a:spLocks noGrp="1"/>
          </p:cNvSpPr>
          <p:nvPr/>
        </p:nvSpPr>
        <p:spPr>
          <a:xfrm>
            <a:off x="3956272" y="1890392"/>
            <a:ext cx="0" cy="2769071"/>
          </a:xfrm>
          <a:prstGeom prst="line">
            <a:avLst/>
          </a:prstGeom>
          <a:solidFill>
            <a:srgbClr val="FFCC00"/>
          </a:solidFill>
          <a:ln w="12700"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none" w="med" len="med"/>
          </a:ln>
        </p:spPr>
      </p:sp>
      <p:pic>
        <p:nvPicPr>
          <p:cNvPr id="21" name="图片 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37202" y="6042990"/>
            <a:ext cx="1312676" cy="348426"/>
          </a:xfrm>
          <a:prstGeom prst="rect">
            <a:avLst/>
          </a:prstGeom>
        </p:spPr>
      </p:pic>
      <p:sp>
        <p:nvSpPr>
          <p:cNvPr id="17" name="文本框 16"/>
          <p:cNvSpPr>
            <a:spLocks noGrp="1"/>
          </p:cNvSpPr>
          <p:nvPr/>
        </p:nvSpPr>
        <p:spPr>
          <a:xfrm>
            <a:off x="620201" y="6130454"/>
            <a:ext cx="8763000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u="none" cap="none">
                <a:ln>
                  <a:noFill/>
                </a:ln>
                <a:solidFill>
                  <a:prstClr val="white">
                    <a:lumMod val="50000"/>
                  </a:prstClr>
                </a:solidFill>
                <a:latin typeface="等线 Light"/>
                <a:ea typeface="等线 Light"/>
                <a:cs typeface="等线 Light"/>
                <a:hlinkClick r:id="rId2"/>
              </a:rPr>
              <a:t>https://gitcode.com/cann/cann-learning-hub/tree/test/tutorials/sft_training_pipeline/03_sft_training</a:t>
            </a:r>
            <a:endParaRPr sz="1000" b="0" i="0" u="none" cap="none">
              <a:ln>
                <a:noFill/>
              </a:ln>
              <a:solidFill>
                <a:prstClr val="white">
                  <a:lumMod val="50000"/>
                </a:prstClr>
              </a:solidFill>
              <a:latin typeface="等线 Light"/>
              <a:ea typeface="等线 Light"/>
              <a:cs typeface="等线 Light"/>
              <a:hlinkClick r:id="rId2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5157694" y="1530876"/>
            <a:ext cx="4587547" cy="596075"/>
          </a:xfrm>
          <a:prstGeom prst="rect">
            <a:avLst/>
          </a:prstGeom>
          <a:solidFill>
            <a:srgbClr val="F2F2F2"/>
          </a:solidFill>
          <a:ln w="9525" cmpd="sng">
            <a:solidFill>
              <a:srgbClr val="FFFFFF">
                <a:lumMod val="65000"/>
              </a:srgbClr>
            </a:solidFill>
            <a:prstDash val="solid"/>
          </a:ln>
        </p:spPr>
        <p:txBody>
          <a:bodyPr rot="0" spcFirstLastPara="0" vert="horz" wrap="square" lIns="91440" tIns="45720" rIns="91440" bIns="45720" anchor="ctr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0" i="0" u="none" cap="none">
                <a:ln>
                  <a:noFill/>
                </a:ln>
                <a:solidFill>
                  <a:srgbClr val="BFBFBF"/>
                </a:solidFill>
                <a:latin typeface="微软雅黑"/>
                <a:ea typeface="微软雅黑"/>
                <a:cs typeface="微软雅黑"/>
              </a:rPr>
              <a:t>Part 1 SFT概念与Wordle任务</a:t>
            </a:r>
            <a:endParaRPr sz="2400" b="0" i="0" u="none" cap="none">
              <a:ln>
                <a:noFill/>
              </a:ln>
              <a:solidFill>
                <a:srgbClr val="BFBFB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5157694" y="2680975"/>
            <a:ext cx="4587549" cy="591795"/>
          </a:xfrm>
          <a:prstGeom prst="rect">
            <a:avLst/>
          </a:prstGeom>
          <a:solidFill>
            <a:srgbClr val="FFFFFF">
              <a:lumMod val="95000"/>
            </a:srgbClr>
          </a:solidFill>
          <a:ln w="9525" cmpd="sng">
            <a:solidFill>
              <a:srgbClr val="FFFFFF">
                <a:lumMod val="65000"/>
              </a:srgbClr>
            </a:solidFill>
            <a:prstDash val="solid"/>
          </a:ln>
        </p:spPr>
        <p:txBody>
          <a:bodyPr rot="0" spcFirstLastPara="0" vert="horz" wrap="square" lIns="91440" tIns="45720" rIns="91440" bIns="45720" anchor="ctr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0" i="0" u="none" cap="none">
                <a:ln>
                  <a:noFill/>
                </a:ln>
                <a:solidFill>
                  <a:srgbClr val="FFFFFF">
                    <a:lumMod val="75000"/>
                  </a:srgbClr>
                </a:solidFill>
                <a:latin typeface="微软雅黑"/>
                <a:ea typeface="微软雅黑"/>
                <a:cs typeface="微软雅黑"/>
              </a:rPr>
              <a:t>Part 2 TorchTian框架概述</a:t>
            </a:r>
            <a:endParaRPr sz="2400" b="0" i="0" u="none" cap="none">
              <a:ln>
                <a:noFill/>
              </a:ln>
              <a:solidFill>
                <a:srgbClr val="FFFFFF">
                  <a:lumMod val="75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5157694" y="3712434"/>
            <a:ext cx="4587551" cy="587513"/>
          </a:xfrm>
          <a:prstGeom prst="rect">
            <a:avLst/>
          </a:prstGeom>
          <a:solidFill>
            <a:srgbClr val="C00000"/>
          </a:solidFill>
          <a:ln w="9525" cmpd="sng">
            <a:solidFill>
              <a:srgbClr val="FFFFFF">
                <a:lumMod val="65000"/>
              </a:srgbClr>
            </a:solidFill>
            <a:prstDash val="solid"/>
          </a:ln>
        </p:spPr>
        <p:txBody>
          <a:bodyPr rot="0" spcFirstLastPara="0" vert="horz" wrap="square" lIns="91440" tIns="45720" rIns="91440" bIns="45720" anchor="ctr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0" i="0" u="none" cap="none">
                <a:ln>
                  <a:noFill/>
                </a:ln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Part 3 数据准备与基线训练</a:t>
            </a:r>
            <a:endParaRPr sz="2400" b="0" i="0" u="none" cap="none">
              <a:ln>
                <a:noFill/>
              </a:ln>
              <a:solidFill>
                <a:schemeClr val="bg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5157694" y="4739611"/>
            <a:ext cx="4587553" cy="587513"/>
          </a:xfrm>
          <a:prstGeom prst="rect">
            <a:avLst/>
          </a:prstGeom>
          <a:solidFill>
            <a:srgbClr val="FFFFFF">
              <a:lumMod val="95000"/>
            </a:srgbClr>
          </a:solidFill>
          <a:ln w="9525" cmpd="sng">
            <a:solidFill>
              <a:srgbClr val="FFFFFF">
                <a:lumMod val="65000"/>
              </a:srgbClr>
            </a:solidFill>
            <a:prstDash val="solid"/>
          </a:ln>
        </p:spPr>
        <p:txBody>
          <a:bodyPr rot="0" spcFirstLastPara="0" vert="horz" wrap="square" lIns="91440" tIns="45720" rIns="91440" bIns="45720" anchor="ctr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0" i="0" u="none" cap="none">
                <a:ln>
                  <a:noFill/>
                </a:ln>
                <a:solidFill>
                  <a:srgbClr val="FFFFFF">
                    <a:lumMod val="75000"/>
                  </a:srgbClr>
                </a:solidFill>
                <a:latin typeface="微软雅黑"/>
                <a:ea typeface="微软雅黑"/>
                <a:cs typeface="微软雅黑"/>
              </a:rPr>
              <a:t>Part 4 融合算子优化与Profiling</a:t>
            </a:r>
            <a:endParaRPr sz="2400" b="0" i="0" u="none" cap="none">
              <a:ln>
                <a:noFill/>
              </a:ln>
              <a:solidFill>
                <a:srgbClr val="FFFFFF">
                  <a:lumMod val="75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3" name="图片 2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矩形 1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slide-title"/>
          <p:cNvSpPr>
            <a:spLocks noGrp="1"/>
          </p:cNvSpPr>
          <p:nvPr/>
        </p:nvSpPr>
        <p:spPr>
          <a:xfrm>
            <a:off x="609600" y="320040"/>
            <a:ext cx="944880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3300" b="0">
                <a:solidFill>
                  <a:srgbClr val="111111"/>
                </a:solidFill>
                <a:latin typeface="微软雅黑"/>
                <a:ea typeface="微软雅黑"/>
                <a:cs typeface="微软雅黑"/>
              </a:defRPr>
            </a:pPr>
            <a:r>
              <a:rPr sz="2640">
                <a:solidFill>
                  <a:srgbClr val="111111"/>
                </a:solidFill>
                <a:latin typeface="微软雅黑"/>
                <a:ea typeface="微软雅黑"/>
                <a:cs typeface="微软雅黑"/>
              </a:rPr>
              <a:t>数据准备与基线训练</a:t>
            </a:r>
            <a:endParaRPr sz="2640">
              <a:solidFill>
                <a:srgbClr val="11111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85800" y="1051560"/>
            <a:ext cx="6248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232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86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走完一次可验证的</a:t>
            </a:r>
            <a:r>
              <a:rPr sz="186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SFT </a:t>
            </a:r>
            <a:r>
              <a:rPr sz="186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闭环</a:t>
            </a:r>
            <a:endParaRPr sz="186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27" name="图片 2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5500" y="1562100"/>
            <a:ext cx="8001000" cy="1714500"/>
          </a:xfrm>
          <a:prstGeom prst="rect">
            <a:avLst/>
          </a:prstGeom>
        </p:spPr>
      </p:pic>
      <p:sp>
        <p:nvSpPr>
          <p:cNvPr id="7" name="矩形: 圆角 6"/>
          <p:cNvSpPr>
            <a:spLocks noGrp="1"/>
          </p:cNvSpPr>
          <p:nvPr/>
        </p:nvSpPr>
        <p:spPr>
          <a:xfrm>
            <a:off x="685800" y="3543300"/>
            <a:ext cx="3276600" cy="1143000"/>
          </a:xfrm>
          <a:prstGeom prst="roundRect">
            <a:avLst>
              <a:gd name="adj" fmla="val 4000"/>
            </a:avLst>
          </a:prstGeom>
          <a:solidFill>
            <a:srgbClr val="EEF4FF"/>
          </a:solidFill>
          <a:ln w="9525">
            <a:solidFill>
              <a:srgbClr val="377DFF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899160" y="3733800"/>
            <a:ext cx="5334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2175" b="1">
                <a:solidFill>
                  <a:srgbClr val="377DFF"/>
                </a:solidFill>
                <a:latin typeface="微软雅黑"/>
                <a:ea typeface="微软雅黑"/>
                <a:cs typeface="微软雅黑"/>
              </a:defRPr>
            </a:pPr>
            <a:r>
              <a:rPr sz="174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rPr>
              <a:t>01</a:t>
            </a:r>
            <a:endParaRPr sz="1740" b="1">
              <a:solidFill>
                <a:srgbClr val="377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1485900" y="3718560"/>
            <a:ext cx="1981200" cy="335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21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68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数据</a:t>
            </a:r>
            <a:endParaRPr sz="168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899160" y="4206240"/>
            <a:ext cx="2819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575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26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对话 JSON → input_ids / labels</a:t>
            </a:r>
            <a:endParaRPr sz="126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矩形: 圆角 10"/>
          <p:cNvSpPr>
            <a:spLocks noGrp="1"/>
          </p:cNvSpPr>
          <p:nvPr/>
        </p:nvSpPr>
        <p:spPr>
          <a:xfrm>
            <a:off x="4305300" y="3543300"/>
            <a:ext cx="3276600" cy="1143000"/>
          </a:xfrm>
          <a:prstGeom prst="roundRect">
            <a:avLst>
              <a:gd name="adj" fmla="val 4000"/>
            </a:avLst>
          </a:prstGeom>
          <a:solidFill>
            <a:srgbClr val="FFF3E5"/>
          </a:solidFill>
          <a:ln w="9525">
            <a:solidFill>
              <a:srgbClr val="F57C00"/>
            </a:solidFill>
            <a:prstDash val="solid"/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4518660" y="3733800"/>
            <a:ext cx="5334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2175" b="1">
                <a:solidFill>
                  <a:srgbClr val="F57C00"/>
                </a:solidFill>
                <a:latin typeface="微软雅黑"/>
                <a:ea typeface="微软雅黑"/>
                <a:cs typeface="微软雅黑"/>
              </a:defRPr>
            </a:pPr>
            <a:r>
              <a:rPr sz="1740" b="1">
                <a:solidFill>
                  <a:srgbClr val="F57C00"/>
                </a:solidFill>
                <a:latin typeface="微软雅黑"/>
                <a:ea typeface="微软雅黑"/>
                <a:cs typeface="微软雅黑"/>
              </a:rPr>
              <a:t>02</a:t>
            </a:r>
            <a:endParaRPr sz="1740" b="1">
              <a:solidFill>
                <a:srgbClr val="F57C0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5105400" y="3718560"/>
            <a:ext cx="1981200" cy="335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21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68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训练</a:t>
            </a:r>
            <a:endParaRPr sz="168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4518660" y="4206240"/>
            <a:ext cx="2819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575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26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20 步基线 SFT 跑通并收敛</a:t>
            </a:r>
            <a:endParaRPr sz="126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矩形: 圆角 14"/>
          <p:cNvSpPr>
            <a:spLocks noGrp="1"/>
          </p:cNvSpPr>
          <p:nvPr/>
        </p:nvSpPr>
        <p:spPr>
          <a:xfrm>
            <a:off x="7924800" y="3543300"/>
            <a:ext cx="3276600" cy="1143000"/>
          </a:xfrm>
          <a:prstGeom prst="roundRect">
            <a:avLst>
              <a:gd name="adj" fmla="val 4000"/>
            </a:avLst>
          </a:prstGeom>
          <a:solidFill>
            <a:srgbClr val="EDF7EC"/>
          </a:solidFill>
          <a:ln w="9525">
            <a:solidFill>
              <a:srgbClr val="43A047"/>
            </a:solidFill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8138160" y="3733800"/>
            <a:ext cx="5334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2175" b="1">
                <a:solidFill>
                  <a:srgbClr val="43A047"/>
                </a:solidFill>
                <a:latin typeface="微软雅黑"/>
                <a:ea typeface="微软雅黑"/>
                <a:cs typeface="微软雅黑"/>
              </a:defRPr>
            </a:pPr>
            <a:r>
              <a:rPr sz="1740" b="1">
                <a:solidFill>
                  <a:srgbClr val="43A047"/>
                </a:solidFill>
                <a:latin typeface="微软雅黑"/>
                <a:ea typeface="微软雅黑"/>
                <a:cs typeface="微软雅黑"/>
              </a:rPr>
              <a:t>03</a:t>
            </a:r>
            <a:endParaRPr sz="1740" b="1">
              <a:solidFill>
                <a:srgbClr val="43A04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8724900" y="3718560"/>
            <a:ext cx="1981200" cy="335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21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68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评测</a:t>
            </a:r>
            <a:endParaRPr sz="168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8138160" y="4206240"/>
            <a:ext cx="2819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575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26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用 vf-eval 比较 SFT 前后</a:t>
            </a:r>
            <a:endParaRPr sz="126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9" name="矩形: 圆角 18"/>
          <p:cNvSpPr>
            <a:spLocks noGrp="1"/>
          </p:cNvSpPr>
          <p:nvPr/>
        </p:nvSpPr>
        <p:spPr>
          <a:xfrm>
            <a:off x="1600200" y="5067300"/>
            <a:ext cx="8991600" cy="579120"/>
          </a:xfrm>
          <a:prstGeom prst="roundRect">
            <a:avLst>
              <a:gd name="adj" fmla="val 7895"/>
            </a:avLst>
          </a:prstGeom>
          <a:solidFill>
            <a:srgbClr val="FFF1F2"/>
          </a:solidFill>
          <a:ln w="9525">
            <a:solidFill>
              <a:srgbClr val="E60012"/>
            </a:solidFill>
            <a:prstDash val="solid"/>
          </a:ln>
        </p:spPr>
      </p:sp>
      <p:sp>
        <p:nvSpPr>
          <p:cNvPr id="20" name="矩形 19"/>
          <p:cNvSpPr>
            <a:spLocks noGrp="1"/>
          </p:cNvSpPr>
          <p:nvPr/>
        </p:nvSpPr>
        <p:spPr>
          <a:xfrm>
            <a:off x="1905000" y="5067300"/>
            <a:ext cx="8382000" cy="5791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202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62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验收目标：模型稳定输出 &lt;guess&gt;word&lt;/guess&gt;，但策略性猜词仍留给 RL。</a:t>
            </a:r>
            <a:endParaRPr sz="1620" b="1"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1" name="图片 1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矩形 1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slide-title"/>
          <p:cNvSpPr>
            <a:spLocks noGrp="1"/>
          </p:cNvSpPr>
          <p:nvPr/>
        </p:nvSpPr>
        <p:spPr>
          <a:xfrm>
            <a:off x="609600" y="320040"/>
            <a:ext cx="937260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3300" b="0">
                <a:solidFill>
                  <a:srgbClr val="111111"/>
                </a:solidFill>
                <a:latin typeface="微软雅黑"/>
                <a:ea typeface="微软雅黑"/>
                <a:cs typeface="微软雅黑"/>
              </a:defRPr>
            </a:pPr>
            <a:r>
              <a:rPr sz="2700">
                <a:sym typeface="+mn-ea"/>
              </a:rPr>
              <a:t>数据准备与基线训练</a:t>
            </a:r>
            <a:endParaRPr sz="2700">
              <a:solidFill>
                <a:srgbClr val="11111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85800" y="1143000"/>
            <a:ext cx="49530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lnSpc>
                <a:spcPct val="108000"/>
              </a:lnSpc>
              <a:buNone/>
              <a:defRPr sz="225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正式训练前还需要两类资源</a:t>
            </a:r>
            <a:endParaRPr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: 圆角 5"/>
          <p:cNvSpPr>
            <a:spLocks noGrp="1"/>
          </p:cNvSpPr>
          <p:nvPr/>
        </p:nvSpPr>
        <p:spPr>
          <a:xfrm>
            <a:off x="685800" y="1714500"/>
            <a:ext cx="4724400" cy="1333500"/>
          </a:xfrm>
          <a:prstGeom prst="roundRect">
            <a:avLst>
              <a:gd name="adj" fmla="val 3429"/>
            </a:avLst>
          </a:prstGeom>
          <a:solidFill>
            <a:srgbClr val="EEF4FF"/>
          </a:solidFill>
          <a:ln w="9525">
            <a:solidFill>
              <a:srgbClr val="377DFF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990600" y="1943100"/>
            <a:ext cx="2286000" cy="335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lnSpc>
                <a:spcPct val="108000"/>
              </a:lnSpc>
              <a:buNone/>
              <a:defRPr sz="210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defRPr>
            </a:pPr>
            <a:r>
              <a:rPr sz="168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rPr>
              <a:t>01  基座模型</a:t>
            </a:r>
            <a:endParaRPr sz="1680" b="1">
              <a:solidFill>
                <a:srgbClr val="377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990600" y="2438400"/>
            <a:ext cx="3962400" cy="4876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lnSpc>
                <a:spcPct val="120000"/>
              </a:lnSpc>
              <a:buNone/>
              <a:defRPr sz="1650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32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下载 Qwen3-1.7B 权重</a:t>
            </a:r>
            <a:endParaRPr sz="132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20000"/>
              </a:lnSpc>
              <a:buNone/>
              <a:defRPr sz="1650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32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保存到 assets/hf/Qwen3-1.7B</a:t>
            </a:r>
            <a:endParaRPr sz="132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矩形: 圆角 8"/>
          <p:cNvSpPr>
            <a:spLocks noGrp="1"/>
          </p:cNvSpPr>
          <p:nvPr/>
        </p:nvSpPr>
        <p:spPr>
          <a:xfrm>
            <a:off x="685800" y="3352800"/>
            <a:ext cx="4724400" cy="1333500"/>
          </a:xfrm>
          <a:prstGeom prst="roundRect">
            <a:avLst>
              <a:gd name="adj" fmla="val 3429"/>
            </a:avLst>
          </a:prstGeom>
          <a:solidFill>
            <a:srgbClr val="FBF7E8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990600" y="3581400"/>
            <a:ext cx="2438400" cy="335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lnSpc>
                <a:spcPct val="108000"/>
              </a:lnSpc>
              <a:buNone/>
              <a:defRPr sz="2100" b="1">
                <a:solidFill>
                  <a:srgbClr val="8B741F"/>
                </a:solidFill>
                <a:latin typeface="微软雅黑"/>
                <a:ea typeface="微软雅黑"/>
                <a:cs typeface="微软雅黑"/>
              </a:defRPr>
            </a:pPr>
            <a:r>
              <a:rPr sz="1680" b="1">
                <a:solidFill>
                  <a:srgbClr val="8B741F"/>
                </a:solidFill>
                <a:latin typeface="微软雅黑"/>
                <a:ea typeface="微软雅黑"/>
                <a:cs typeface="微软雅黑"/>
              </a:rPr>
              <a:t>02  Wordle 数据</a:t>
            </a:r>
            <a:endParaRPr sz="1680" b="1">
              <a:solidFill>
                <a:srgbClr val="8B741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990600" y="4076700"/>
            <a:ext cx="3962400" cy="4876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lnSpc>
                <a:spcPct val="120000"/>
              </a:lnSpc>
              <a:buNone/>
              <a:defRPr sz="1650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32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下载 willcb/V3-wordle</a:t>
            </a:r>
            <a:endParaRPr sz="132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20000"/>
              </a:lnSpc>
              <a:buNone/>
              <a:defRPr sz="1650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32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转换为 TorchTitan 使用的 parquet 格式</a:t>
            </a:r>
            <a:endParaRPr sz="132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6248400" y="1143000"/>
            <a:ext cx="38100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lnSpc>
                <a:spcPct val="108000"/>
              </a:lnSpc>
              <a:buNone/>
              <a:defRPr sz="225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正式训练入口</a:t>
            </a:r>
            <a:endParaRPr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矩形: 圆角 12"/>
          <p:cNvSpPr>
            <a:spLocks noGrp="1"/>
          </p:cNvSpPr>
          <p:nvPr/>
        </p:nvSpPr>
        <p:spPr>
          <a:xfrm>
            <a:off x="6172200" y="1714500"/>
            <a:ext cx="4953000" cy="1333500"/>
          </a:xfrm>
          <a:prstGeom prst="roundRect">
            <a:avLst>
              <a:gd name="adj" fmla="val 3429"/>
            </a:avLst>
          </a:prstGeom>
          <a:solidFill>
            <a:srgbClr val="F5F5F5"/>
          </a:solidFill>
          <a:ln w="9525">
            <a:solidFill>
              <a:srgbClr val="D4D4D4"/>
            </a:solidFill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6339840" y="1836420"/>
            <a:ext cx="4617720" cy="10896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lnSpc>
                <a:spcPct val="120000"/>
              </a:lnSpc>
              <a:buNone/>
              <a:defRPr sz="1350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108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NGPU=2 \</a:t>
            </a:r>
            <a:endParaRPr sz="108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  <a:p>
            <a:pPr>
              <a:lnSpc>
                <a:spcPct val="120000"/>
              </a:lnSpc>
              <a:buNone/>
              <a:defRPr sz="1350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108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MODULE=torchtitan_npu.models.qwen3 \</a:t>
            </a:r>
            <a:endParaRPr sz="108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  <a:p>
            <a:pPr>
              <a:lnSpc>
                <a:spcPct val="120000"/>
              </a:lnSpc>
              <a:buNone/>
              <a:defRPr sz="1350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108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CONFIG=sft_qwen3_1_7b_wordle \</a:t>
            </a:r>
            <a:endParaRPr sz="108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  <a:p>
            <a:pPr>
              <a:lnSpc>
                <a:spcPct val="120000"/>
              </a:lnSpc>
              <a:buNone/>
              <a:defRPr sz="1350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108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bash scripts/run_train.sh</a:t>
            </a:r>
            <a:endParaRPr sz="108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5" name="矩形: 圆角 14"/>
          <p:cNvSpPr>
            <a:spLocks noGrp="1"/>
          </p:cNvSpPr>
          <p:nvPr/>
        </p:nvSpPr>
        <p:spPr>
          <a:xfrm>
            <a:off x="6172200" y="3467100"/>
            <a:ext cx="4953000" cy="1219200"/>
          </a:xfrm>
          <a:prstGeom prst="roundRect">
            <a:avLst>
              <a:gd name="adj" fmla="val 3750"/>
            </a:avLst>
          </a:prstGeom>
          <a:solidFill>
            <a:srgbClr val="EDF7EC"/>
          </a:solidFill>
          <a:ln w="9525">
            <a:solidFill>
              <a:srgbClr val="43A047"/>
            </a:solidFill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6477000" y="3657600"/>
            <a:ext cx="2057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lnSpc>
                <a:spcPct val="108000"/>
              </a:lnSpc>
              <a:buNone/>
              <a:defRPr sz="2025" b="1">
                <a:solidFill>
                  <a:srgbClr val="43A047"/>
                </a:solidFill>
                <a:latin typeface="微软雅黑"/>
                <a:ea typeface="微软雅黑"/>
                <a:cs typeface="微软雅黑"/>
              </a:defRPr>
            </a:pPr>
            <a:r>
              <a:rPr sz="1620" b="1">
                <a:solidFill>
                  <a:srgbClr val="43A047"/>
                </a:solidFill>
                <a:latin typeface="微软雅黑"/>
                <a:ea typeface="微软雅黑"/>
                <a:cs typeface="微软雅黑"/>
              </a:rPr>
              <a:t>本章验收标准</a:t>
            </a:r>
            <a:endParaRPr sz="1620" b="1">
              <a:solidFill>
                <a:srgbClr val="43A04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6477000" y="4076700"/>
            <a:ext cx="41148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79946" lnSpcReduction="20000"/>
          </a:bodyPr>
          <a:lstStyle/>
          <a:p>
            <a:pPr>
              <a:lnSpc>
                <a:spcPct val="122000"/>
              </a:lnSpc>
              <a:buNone/>
              <a:defRPr sz="165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32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✓ 环境可识别 NPU</a:t>
            </a:r>
            <a:endParaRPr sz="132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22000"/>
              </a:lnSpc>
              <a:buNone/>
              <a:defRPr sz="165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32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✓ Debug 训练出现 loss 与吞吐日志</a:t>
            </a:r>
            <a:endParaRPr sz="132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22000"/>
              </a:lnSpc>
              <a:buNone/>
              <a:defRPr sz="165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32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✓ 最终输出 Training completed</a:t>
            </a:r>
            <a:endParaRPr sz="132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8" name="矩形: 圆角 17"/>
          <p:cNvSpPr>
            <a:spLocks noGrp="1"/>
          </p:cNvSpPr>
          <p:nvPr/>
        </p:nvSpPr>
        <p:spPr>
          <a:xfrm>
            <a:off x="685800" y="5181600"/>
            <a:ext cx="10439400" cy="518160"/>
          </a:xfrm>
          <a:prstGeom prst="roundRect">
            <a:avLst>
              <a:gd name="adj" fmla="val 8824"/>
            </a:avLst>
          </a:prstGeom>
          <a:solidFill>
            <a:srgbClr val="FFF1F2"/>
          </a:solidFill>
          <a:ln w="9525">
            <a:solidFill>
              <a:srgbClr val="E60012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990600" y="5181600"/>
            <a:ext cx="9829800" cy="5181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202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62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进入训练配置、数据准备、基线训练与推理评测</a:t>
            </a:r>
            <a:r>
              <a:rPr sz="162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。</a:t>
            </a:r>
            <a:endParaRPr sz="1620" b="1"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1" name="图片 2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矩形 1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slide-title"/>
          <p:cNvSpPr>
            <a:spLocks noGrp="1"/>
          </p:cNvSpPr>
          <p:nvPr/>
        </p:nvSpPr>
        <p:spPr>
          <a:xfrm>
            <a:off x="609600" y="320040"/>
            <a:ext cx="944880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3300" b="0">
                <a:solidFill>
                  <a:srgbClr val="111111"/>
                </a:solidFill>
                <a:latin typeface="微软雅黑"/>
                <a:ea typeface="微软雅黑"/>
                <a:cs typeface="微软雅黑"/>
              </a:defRPr>
            </a:pPr>
            <a:r>
              <a:rPr sz="2640">
                <a:sym typeface="+mn-ea"/>
              </a:rPr>
              <a:t>数据准备与基线训练</a:t>
            </a:r>
            <a:endParaRPr sz="2640">
              <a:solidFill>
                <a:srgbClr val="11111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85800" y="1104900"/>
            <a:ext cx="5181600" cy="350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21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74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原始样本保留一局完整的多轮轨迹</a:t>
            </a:r>
            <a:endParaRPr sz="174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: 圆角 5"/>
          <p:cNvSpPr>
            <a:spLocks noGrp="1"/>
          </p:cNvSpPr>
          <p:nvPr/>
        </p:nvSpPr>
        <p:spPr>
          <a:xfrm>
            <a:off x="685800" y="1600200"/>
            <a:ext cx="4953000" cy="3276600"/>
          </a:xfrm>
          <a:prstGeom prst="roundRect">
            <a:avLst>
              <a:gd name="adj" fmla="val 1395"/>
            </a:avLst>
          </a:prstGeom>
          <a:solidFill>
            <a:srgbClr val="F5F5F5"/>
          </a:solidFill>
          <a:ln w="9525">
            <a:solidFill>
              <a:srgbClr val="D4D4D4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838200" y="1706880"/>
            <a:ext cx="4648200" cy="3063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8000"/>
              </a:lnSpc>
              <a:buNone/>
              <a:defRPr sz="1200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96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{</a:t>
            </a:r>
            <a:endParaRPr sz="96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200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96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"prompt": [</a:t>
            </a:r>
            <a:endParaRPr sz="96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200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96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  {"role":"system", "content":"..."},</a:t>
            </a:r>
            <a:endParaRPr sz="96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200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96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  {"role":"user", "content":"X-X-X-X-X"},</a:t>
            </a:r>
            <a:endParaRPr sz="96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200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96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  {"role":"assistant", "content":"&lt;guess&gt;CRANE&lt;/guess&gt;"},</a:t>
            </a:r>
            <a:endParaRPr sz="96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200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96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  {"role":"user", "content":"G-X-X-X-Y"},</a:t>
            </a:r>
            <a:endParaRPr sz="96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200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96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  {"role":"assistant", "content":"&lt;guess&gt;STARE&lt;/guess&gt;"}</a:t>
            </a:r>
            <a:endParaRPr sz="96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200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96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],</a:t>
            </a:r>
            <a:endParaRPr sz="96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200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96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"completion": [{"role":"assistant",</a:t>
            </a:r>
            <a:endParaRPr sz="96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200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96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                "content":"&lt;guess&gt;SMILE&lt;/guess&gt;"}]</a:t>
            </a:r>
            <a:endParaRPr sz="96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200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96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}</a:t>
            </a:r>
            <a:endParaRPr sz="96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矩形: 圆角 7"/>
          <p:cNvSpPr>
            <a:spLocks noGrp="1"/>
          </p:cNvSpPr>
          <p:nvPr/>
        </p:nvSpPr>
        <p:spPr>
          <a:xfrm>
            <a:off x="685800" y="5067300"/>
            <a:ext cx="2362200" cy="518160"/>
          </a:xfrm>
          <a:prstGeom prst="roundRect">
            <a:avLst>
              <a:gd name="adj" fmla="val 8824"/>
            </a:avLst>
          </a:prstGeom>
          <a:solidFill>
            <a:srgbClr val="EEF4FF"/>
          </a:solidFill>
          <a:ln w="9525">
            <a:solidFill>
              <a:srgbClr val="377DFF"/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838200" y="5067300"/>
            <a:ext cx="2057400" cy="5181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500" b="1">
                <a:solidFill>
                  <a:srgbClr val="2057B7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2057B7"/>
                </a:solidFill>
                <a:latin typeface="微软雅黑"/>
                <a:ea typeface="微软雅黑"/>
                <a:cs typeface="微软雅黑"/>
              </a:rPr>
              <a:t>prompt：训练用多轮对话</a:t>
            </a:r>
            <a:endParaRPr sz="1200" b="1">
              <a:solidFill>
                <a:srgbClr val="2057B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矩形: 圆角 9"/>
          <p:cNvSpPr>
            <a:spLocks noGrp="1"/>
          </p:cNvSpPr>
          <p:nvPr/>
        </p:nvSpPr>
        <p:spPr>
          <a:xfrm>
            <a:off x="3276600" y="5067300"/>
            <a:ext cx="2362200" cy="518160"/>
          </a:xfrm>
          <a:prstGeom prst="roundRect">
            <a:avLst>
              <a:gd name="adj" fmla="val 8824"/>
            </a:avLst>
          </a:prstGeom>
          <a:solidFill>
            <a:srgbClr val="EDF7EC"/>
          </a:solidFill>
          <a:ln w="9525">
            <a:solidFill>
              <a:srgbClr val="43A047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3429000" y="5067300"/>
            <a:ext cx="2057400" cy="5181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500" b="1">
                <a:solidFill>
                  <a:srgbClr val="2E7D32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2E7D32"/>
                </a:solidFill>
                <a:latin typeface="微软雅黑"/>
                <a:ea typeface="微软雅黑"/>
                <a:cs typeface="微软雅黑"/>
              </a:rPr>
              <a:t>completion：评测用答案</a:t>
            </a:r>
            <a:endParaRPr sz="1200" b="1">
              <a:solidFill>
                <a:srgbClr val="2E7D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6400800" y="1104900"/>
            <a:ext cx="4953000" cy="350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21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74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sample_processor 完成四步转换</a:t>
            </a:r>
            <a:endParaRPr sz="174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6400800" y="1676400"/>
            <a:ext cx="533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95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defRPr>
            </a:pPr>
            <a:r>
              <a:rPr sz="156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rPr>
              <a:t>01</a:t>
            </a:r>
            <a:endParaRPr sz="1560" b="1">
              <a:solidFill>
                <a:srgbClr val="377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7086600" y="1676400"/>
            <a:ext cx="2286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Chat Template</a:t>
            </a:r>
            <a:endParaRPr sz="150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7086600" y="2042160"/>
            <a:ext cx="3962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0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加入角色边界：&lt;|im_start|&gt; / &lt;|im_end|&gt;</a:t>
            </a:r>
            <a:endParaRPr sz="1200"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7086600" y="2423160"/>
            <a:ext cx="3810000" cy="7620"/>
          </a:xfrm>
          <a:prstGeom prst="rect">
            <a:avLst/>
          </a:prstGeom>
          <a:solidFill>
            <a:srgbClr val="E5E5E5"/>
          </a:solidFill>
          <a:ln w="0">
            <a:noFill/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6400800" y="2552700"/>
            <a:ext cx="533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950" b="1">
                <a:solidFill>
                  <a:srgbClr val="F57C00"/>
                </a:solidFill>
                <a:latin typeface="微软雅黑"/>
                <a:ea typeface="微软雅黑"/>
                <a:cs typeface="微软雅黑"/>
              </a:defRPr>
            </a:pPr>
            <a:r>
              <a:rPr sz="1560" b="1">
                <a:solidFill>
                  <a:srgbClr val="F57C00"/>
                </a:solidFill>
                <a:latin typeface="微软雅黑"/>
                <a:ea typeface="微软雅黑"/>
                <a:cs typeface="微软雅黑"/>
              </a:rPr>
              <a:t>02</a:t>
            </a:r>
            <a:endParaRPr sz="1560" b="1">
              <a:solidFill>
                <a:srgbClr val="F57C0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7086600" y="2552700"/>
            <a:ext cx="2286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Tokenize</a:t>
            </a:r>
            <a:endParaRPr sz="150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7086600" y="2918460"/>
            <a:ext cx="3962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0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文本转换成整数 token ID</a:t>
            </a:r>
            <a:endParaRPr sz="1200"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7086600" y="3299460"/>
            <a:ext cx="3810000" cy="7620"/>
          </a:xfrm>
          <a:prstGeom prst="rect">
            <a:avLst/>
          </a:prstGeom>
          <a:solidFill>
            <a:srgbClr val="E5E5E5"/>
          </a:solidFill>
          <a:ln w="0">
            <a:noFill/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6400800" y="3429000"/>
            <a:ext cx="533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95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56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03</a:t>
            </a:r>
            <a:endParaRPr sz="1560" b="1"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7086600" y="3429000"/>
            <a:ext cx="2286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Label Mask</a:t>
            </a:r>
            <a:endParaRPr sz="150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7086600" y="3794760"/>
            <a:ext cx="3962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0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system / user 设为 -100</a:t>
            </a:r>
            <a:endParaRPr sz="1200"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7086600" y="4175760"/>
            <a:ext cx="3810000" cy="7620"/>
          </a:xfrm>
          <a:prstGeom prst="rect">
            <a:avLst/>
          </a:prstGeom>
          <a:solidFill>
            <a:srgbClr val="E5E5E5"/>
          </a:solidFill>
          <a:ln w="0">
            <a:noFill/>
            <a:prstDash val="solid"/>
          </a:ln>
        </p:spPr>
      </p:sp>
      <p:sp>
        <p:nvSpPr>
          <p:cNvPr id="25" name="矩形 24"/>
          <p:cNvSpPr>
            <a:spLocks noGrp="1"/>
          </p:cNvSpPr>
          <p:nvPr/>
        </p:nvSpPr>
        <p:spPr>
          <a:xfrm>
            <a:off x="6400800" y="4305300"/>
            <a:ext cx="533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950" b="1">
                <a:solidFill>
                  <a:srgbClr val="43A047"/>
                </a:solidFill>
                <a:latin typeface="微软雅黑"/>
                <a:ea typeface="微软雅黑"/>
                <a:cs typeface="微软雅黑"/>
              </a:defRPr>
            </a:pPr>
            <a:r>
              <a:rPr sz="1560" b="1">
                <a:solidFill>
                  <a:srgbClr val="43A047"/>
                </a:solidFill>
                <a:latin typeface="微软雅黑"/>
                <a:ea typeface="微软雅黑"/>
                <a:cs typeface="微软雅黑"/>
              </a:rPr>
              <a:t>04</a:t>
            </a:r>
            <a:endParaRPr sz="1560" b="1">
              <a:solidFill>
                <a:srgbClr val="43A04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7086600" y="4305300"/>
            <a:ext cx="2286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Batch</a:t>
            </a:r>
            <a:endParaRPr sz="150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7086600" y="4671060"/>
            <a:ext cx="3962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0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得到 input_ids 与 labels</a:t>
            </a:r>
            <a:endParaRPr sz="1200"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8" name="矩形: 圆角 27"/>
          <p:cNvSpPr>
            <a:spLocks noGrp="1"/>
          </p:cNvSpPr>
          <p:nvPr/>
        </p:nvSpPr>
        <p:spPr>
          <a:xfrm>
            <a:off x="6400800" y="5257800"/>
            <a:ext cx="4648200" cy="457200"/>
          </a:xfrm>
          <a:prstGeom prst="roundRect">
            <a:avLst>
              <a:gd name="adj" fmla="val 10000"/>
            </a:avLst>
          </a:prstGeom>
          <a:solidFill>
            <a:srgbClr val="FFF1F2"/>
          </a:solidFill>
          <a:ln w="9525">
            <a:solidFill>
              <a:srgbClr val="E60012"/>
            </a:solidFill>
            <a:prstDash val="solid"/>
          </a:ln>
        </p:spPr>
      </p:sp>
      <p:sp>
        <p:nvSpPr>
          <p:cNvPr id="29" name="矩形 28"/>
          <p:cNvSpPr>
            <a:spLocks noGrp="1"/>
          </p:cNvSpPr>
          <p:nvPr/>
        </p:nvSpPr>
        <p:spPr>
          <a:xfrm>
            <a:off x="6667500" y="5257800"/>
            <a:ext cx="4114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72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38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模型最终看到的是数字序列，不是 JSON。</a:t>
            </a:r>
            <a:endParaRPr sz="1380" b="1"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1" name="图片 1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矩形 1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r>
              <a:t> </a:t>
            </a:r>
          </a:p>
        </p:txBody>
      </p:sp>
      <p:sp>
        <p:nvSpPr>
          <p:cNvPr id="3" name="slide-title"/>
          <p:cNvSpPr>
            <a:spLocks noGrp="1"/>
          </p:cNvSpPr>
          <p:nvPr/>
        </p:nvSpPr>
        <p:spPr>
          <a:xfrm>
            <a:off x="609600" y="320040"/>
            <a:ext cx="944880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2850" b="0">
                <a:solidFill>
                  <a:srgbClr val="111111"/>
                </a:solidFill>
                <a:latin typeface="微软雅黑"/>
                <a:ea typeface="微软雅黑"/>
                <a:cs typeface="微软雅黑"/>
              </a:defRPr>
            </a:pPr>
            <a:r>
              <a:rPr sz="2280">
                <a:solidFill>
                  <a:srgbClr val="111111"/>
                </a:solidFill>
                <a:latin typeface="微软雅黑"/>
                <a:ea typeface="微软雅黑"/>
                <a:cs typeface="微软雅黑"/>
              </a:rPr>
              <a:t>SFT loss</a:t>
            </a:r>
            <a:r>
              <a:rPr sz="2280">
                <a:solidFill>
                  <a:srgbClr val="111111"/>
                </a:solidFill>
                <a:latin typeface="微软雅黑"/>
                <a:ea typeface="微软雅黑"/>
                <a:cs typeface="微软雅黑"/>
              </a:rPr>
              <a:t>计算</a:t>
            </a:r>
            <a:endParaRPr sz="2280">
              <a:solidFill>
                <a:srgbClr val="111111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24" name="图片 2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1288515"/>
            <a:ext cx="11125200" cy="2680771"/>
          </a:xfrm>
          <a:prstGeom prst="rect">
            <a:avLst/>
          </a:prstGeom>
        </p:spPr>
      </p:pic>
      <p:sp>
        <p:nvSpPr>
          <p:cNvPr id="6" name="矩形: 圆角 5"/>
          <p:cNvSpPr>
            <a:spLocks noGrp="1"/>
          </p:cNvSpPr>
          <p:nvPr/>
        </p:nvSpPr>
        <p:spPr>
          <a:xfrm>
            <a:off x="685800" y="4381500"/>
            <a:ext cx="3429000" cy="914400"/>
          </a:xfrm>
          <a:prstGeom prst="roundRect">
            <a:avLst>
              <a:gd name="adj" fmla="val 5000"/>
            </a:avLst>
          </a:prstGeom>
          <a:solidFill>
            <a:srgbClr val="F5F5F5"/>
          </a:solidFill>
          <a:ln w="9525">
            <a:solidFill>
              <a:srgbClr val="D4D4D4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853440" y="4533900"/>
            <a:ext cx="13716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32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system / user</a:t>
            </a:r>
            <a:endParaRPr sz="132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2286000" y="4533900"/>
            <a:ext cx="16002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8000"/>
              </a:lnSpc>
              <a:buNone/>
              <a:defRPr sz="1500" b="1">
                <a:solidFill>
                  <a:srgbClr val="525252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525252"/>
                </a:solidFill>
                <a:latin typeface="Consolas"/>
                <a:ea typeface="Consolas"/>
                <a:cs typeface="Consolas"/>
              </a:rPr>
              <a:t>label = -100</a:t>
            </a:r>
            <a:endParaRPr sz="1200" b="1">
              <a:solidFill>
                <a:srgbClr val="52525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853440" y="4937760"/>
            <a:ext cx="3086100" cy="259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提供上下文，但不作为预测目标</a:t>
            </a:r>
            <a:endParaRPr sz="114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矩形: 圆角 9"/>
          <p:cNvSpPr>
            <a:spLocks noGrp="1"/>
          </p:cNvSpPr>
          <p:nvPr/>
        </p:nvSpPr>
        <p:spPr>
          <a:xfrm>
            <a:off x="4419600" y="4381500"/>
            <a:ext cx="3429000" cy="914400"/>
          </a:xfrm>
          <a:prstGeom prst="roundRect">
            <a:avLst>
              <a:gd name="adj" fmla="val 5000"/>
            </a:avLst>
          </a:prstGeom>
          <a:solidFill>
            <a:srgbClr val="EDF7EC"/>
          </a:solidFill>
          <a:ln w="9525">
            <a:solidFill>
              <a:srgbClr val="43A047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4587240" y="4533900"/>
            <a:ext cx="13716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2E7D32"/>
                </a:solidFill>
                <a:latin typeface="微软雅黑"/>
                <a:ea typeface="微软雅黑"/>
                <a:cs typeface="微软雅黑"/>
              </a:defRPr>
            </a:pPr>
            <a:r>
              <a:rPr sz="1320" b="1">
                <a:solidFill>
                  <a:srgbClr val="2E7D32"/>
                </a:solidFill>
                <a:latin typeface="微软雅黑"/>
                <a:ea typeface="微软雅黑"/>
                <a:cs typeface="微软雅黑"/>
              </a:rPr>
              <a:t>assistant</a:t>
            </a:r>
            <a:endParaRPr sz="1320" b="1">
              <a:solidFill>
                <a:srgbClr val="2E7D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6019800" y="4533900"/>
            <a:ext cx="16002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8000"/>
              </a:lnSpc>
              <a:buNone/>
              <a:defRPr sz="1500" b="1">
                <a:solidFill>
                  <a:srgbClr val="2E7D32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2E7D32"/>
                </a:solidFill>
                <a:latin typeface="Consolas"/>
                <a:ea typeface="Consolas"/>
                <a:cs typeface="Consolas"/>
              </a:rPr>
              <a:t>label = token_id</a:t>
            </a:r>
            <a:endParaRPr sz="1200" b="1">
              <a:solidFill>
                <a:srgbClr val="2E7D3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4587240" y="4937760"/>
            <a:ext cx="3086100" cy="259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保留监督信号，计算交叉熵</a:t>
            </a:r>
            <a:endParaRPr sz="114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矩形: 圆角 13"/>
          <p:cNvSpPr>
            <a:spLocks noGrp="1"/>
          </p:cNvSpPr>
          <p:nvPr/>
        </p:nvSpPr>
        <p:spPr>
          <a:xfrm>
            <a:off x="8153400" y="4381500"/>
            <a:ext cx="3429000" cy="914400"/>
          </a:xfrm>
          <a:prstGeom prst="roundRect">
            <a:avLst>
              <a:gd name="adj" fmla="val 5000"/>
            </a:avLst>
          </a:prstGeom>
          <a:solidFill>
            <a:srgbClr val="FFF1F2"/>
          </a:solidFill>
          <a:ln w="9525">
            <a:solidFill>
              <a:srgbClr val="E60012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8321040" y="4533900"/>
            <a:ext cx="13716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32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训练目标</a:t>
            </a:r>
            <a:endParaRPr sz="1320" b="1"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9753600" y="4533900"/>
            <a:ext cx="16002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8000"/>
              </a:lnSpc>
              <a:buNone/>
              <a:defRPr sz="1500" b="1">
                <a:solidFill>
                  <a:srgbClr val="E60012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E60012"/>
                </a:solidFill>
                <a:latin typeface="Consolas"/>
                <a:ea typeface="Consolas"/>
                <a:cs typeface="Consolas"/>
              </a:rPr>
              <a:t>预测下一 token</a:t>
            </a:r>
            <a:endParaRPr sz="1200" b="1">
              <a:solidFill>
                <a:srgbClr val="E6001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8321040" y="4937760"/>
            <a:ext cx="3086100" cy="259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让模型学会“如何回复”</a:t>
            </a:r>
            <a:endParaRPr sz="114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1676400" y="5524500"/>
            <a:ext cx="8839200" cy="335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56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SFT </a:t>
            </a:r>
            <a:r>
              <a:rPr sz="156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不是复述整段对话，而是根据上下文学习正确的</a:t>
            </a:r>
            <a:r>
              <a:rPr sz="156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 assistant </a:t>
            </a:r>
            <a:r>
              <a:rPr sz="156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输出</a:t>
            </a:r>
            <a:r>
              <a:rPr sz="156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。</a:t>
            </a:r>
            <a:endParaRPr sz="1560" b="1"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8" name="图片 2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矩形 1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slide-title"/>
          <p:cNvSpPr>
            <a:spLocks noGrp="1"/>
          </p:cNvSpPr>
          <p:nvPr/>
        </p:nvSpPr>
        <p:spPr>
          <a:xfrm>
            <a:off x="609600" y="320040"/>
            <a:ext cx="944880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3300" b="0">
                <a:solidFill>
                  <a:srgbClr val="111111"/>
                </a:solidFill>
                <a:latin typeface="微软雅黑"/>
                <a:ea typeface="微软雅黑"/>
                <a:cs typeface="微软雅黑"/>
              </a:defRPr>
            </a:pPr>
            <a:r>
              <a:rPr sz="2640">
                <a:solidFill>
                  <a:srgbClr val="111111"/>
                </a:solidFill>
                <a:latin typeface="微软雅黑"/>
                <a:ea typeface="微软雅黑"/>
                <a:cs typeface="微软雅黑"/>
              </a:rPr>
              <a:t>基线训练</a:t>
            </a:r>
            <a:endParaRPr sz="2640">
              <a:solidFill>
                <a:srgbClr val="11111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矩形: 圆角 4"/>
          <p:cNvSpPr>
            <a:spLocks noGrp="1"/>
          </p:cNvSpPr>
          <p:nvPr/>
        </p:nvSpPr>
        <p:spPr>
          <a:xfrm>
            <a:off x="685800" y="1295400"/>
            <a:ext cx="3962400" cy="3429000"/>
          </a:xfrm>
          <a:prstGeom prst="roundRect">
            <a:avLst>
              <a:gd name="adj" fmla="val 1333"/>
            </a:avLst>
          </a:prstGeom>
          <a:solidFill>
            <a:srgbClr val="F5F5F5"/>
          </a:solidFill>
          <a:ln w="9525">
            <a:solidFill>
              <a:srgbClr val="D4D4D4"/>
            </a:solidFill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838200" y="1402080"/>
            <a:ext cx="3657600" cy="3215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8000"/>
              </a:lnSpc>
              <a:buNone/>
              <a:defRPr sz="1425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114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training=TrainingConfig(</a:t>
            </a:r>
            <a:endParaRPr sz="114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425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114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local_batch_size=2,</a:t>
            </a:r>
            <a:endParaRPr sz="114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425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114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global_batch_size=64,</a:t>
            </a:r>
            <a:endParaRPr sz="114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425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114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seq_len=1024,</a:t>
            </a:r>
            <a:endParaRPr sz="114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425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114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max_norm=1.0,</a:t>
            </a:r>
            <a:endParaRPr sz="114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425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114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steps=20,</a:t>
            </a:r>
            <a:endParaRPr sz="114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425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114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)</a:t>
            </a:r>
            <a:endParaRPr sz="114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  <a:p>
            <a:endParaRPr sz="1140"/>
          </a:p>
          <a:p>
            <a:pPr algn="l">
              <a:lnSpc>
                <a:spcPct val="118000"/>
              </a:lnSpc>
              <a:buNone/>
              <a:defRPr sz="1425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114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optimizer.lr = 1e-5</a:t>
            </a:r>
            <a:endParaRPr sz="114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425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114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min_lr_factor = 1.0</a:t>
            </a:r>
            <a:endParaRPr sz="114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7" name="矩形: 圆角 6"/>
          <p:cNvSpPr>
            <a:spLocks noGrp="1"/>
          </p:cNvSpPr>
          <p:nvPr/>
        </p:nvSpPr>
        <p:spPr>
          <a:xfrm>
            <a:off x="685800" y="4953000"/>
            <a:ext cx="3962400" cy="594360"/>
          </a:xfrm>
          <a:prstGeom prst="roundRect">
            <a:avLst>
              <a:gd name="adj" fmla="val 7692"/>
            </a:avLst>
          </a:prstGeom>
          <a:solidFill>
            <a:srgbClr val="EEF4FF"/>
          </a:solidFill>
          <a:ln w="9525">
            <a:solidFill>
              <a:srgbClr val="377DFF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914400" y="4953000"/>
            <a:ext cx="3505200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875" b="1">
                <a:solidFill>
                  <a:srgbClr val="2057B7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057B7"/>
                </a:solidFill>
                <a:latin typeface="微软雅黑"/>
                <a:ea typeface="微软雅黑"/>
                <a:cs typeface="微软雅黑"/>
              </a:rPr>
              <a:t>梯度累计次数 = 64 ÷ 2 = 32</a:t>
            </a:r>
            <a:endParaRPr sz="1500" b="1">
              <a:solidFill>
                <a:srgbClr val="2057B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矩形: 圆角 8"/>
          <p:cNvSpPr>
            <a:spLocks noGrp="1"/>
          </p:cNvSpPr>
          <p:nvPr/>
        </p:nvSpPr>
        <p:spPr>
          <a:xfrm>
            <a:off x="5181600" y="1295400"/>
            <a:ext cx="2667000" cy="1562100"/>
          </a:xfrm>
          <a:prstGeom prst="roundRect">
            <a:avLst>
              <a:gd name="adj" fmla="val 2927"/>
            </a:avLst>
          </a:prstGeom>
          <a:solidFill>
            <a:srgbClr val="EEF4FF"/>
          </a:solidFill>
          <a:ln w="9525">
            <a:solidFill>
              <a:srgbClr val="377DFF"/>
            </a:solidFill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5364480" y="1463040"/>
            <a:ext cx="22860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95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defRPr>
            </a:pPr>
            <a:r>
              <a:rPr sz="156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rPr>
              <a:t>Batch</a:t>
            </a:r>
            <a:endParaRPr sz="1560" b="1">
              <a:solidFill>
                <a:srgbClr val="377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5364480" y="1889760"/>
            <a:ext cx="2286000" cy="4419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每次每卡处理 2 条，累计 64 条再更新</a:t>
            </a:r>
            <a:endParaRPr sz="120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5364480" y="2423160"/>
            <a:ext cx="2286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08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降低显存压力，同时稳定梯度估计</a:t>
            </a:r>
            <a:endParaRPr sz="1080"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矩形: 圆角 12"/>
          <p:cNvSpPr>
            <a:spLocks noGrp="1"/>
          </p:cNvSpPr>
          <p:nvPr/>
        </p:nvSpPr>
        <p:spPr>
          <a:xfrm>
            <a:off x="8115300" y="1295400"/>
            <a:ext cx="2667000" cy="1562100"/>
          </a:xfrm>
          <a:prstGeom prst="roundRect">
            <a:avLst>
              <a:gd name="adj" fmla="val 2927"/>
            </a:avLst>
          </a:prstGeom>
          <a:solidFill>
            <a:srgbClr val="FFF3E5"/>
          </a:solidFill>
          <a:ln w="9525">
            <a:solidFill>
              <a:srgbClr val="F57C00"/>
            </a:solidFill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8298180" y="1463040"/>
            <a:ext cx="22860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950" b="1">
                <a:solidFill>
                  <a:srgbClr val="F57C00"/>
                </a:solidFill>
                <a:latin typeface="微软雅黑"/>
                <a:ea typeface="微软雅黑"/>
                <a:cs typeface="微软雅黑"/>
              </a:defRPr>
            </a:pPr>
            <a:r>
              <a:rPr sz="1560" b="1">
                <a:solidFill>
                  <a:srgbClr val="F57C00"/>
                </a:solidFill>
                <a:latin typeface="微软雅黑"/>
                <a:ea typeface="微软雅黑"/>
                <a:cs typeface="微软雅黑"/>
              </a:rPr>
              <a:t>Sequence</a:t>
            </a:r>
            <a:endParaRPr sz="1560" b="1">
              <a:solidFill>
                <a:srgbClr val="F57C0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8298180" y="1889760"/>
            <a:ext cx="2286000" cy="4419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每条样本最多 1024 tokens</a:t>
            </a:r>
            <a:endParaRPr sz="120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8298180" y="2423160"/>
            <a:ext cx="2286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08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超长对话截断，控制计算量</a:t>
            </a:r>
            <a:endParaRPr sz="1080"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: 圆角 16"/>
          <p:cNvSpPr>
            <a:spLocks noGrp="1"/>
          </p:cNvSpPr>
          <p:nvPr/>
        </p:nvSpPr>
        <p:spPr>
          <a:xfrm>
            <a:off x="5181600" y="3162300"/>
            <a:ext cx="2667000" cy="1562100"/>
          </a:xfrm>
          <a:prstGeom prst="roundRect">
            <a:avLst>
              <a:gd name="adj" fmla="val 2927"/>
            </a:avLst>
          </a:prstGeom>
          <a:solidFill>
            <a:srgbClr val="FFF1F2"/>
          </a:solidFill>
          <a:ln w="9525">
            <a:solidFill>
              <a:srgbClr val="E60012"/>
            </a:solidFill>
            <a:prstDash val="solid"/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5364480" y="3329940"/>
            <a:ext cx="22860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95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56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Gradient</a:t>
            </a:r>
            <a:endParaRPr sz="1560" b="1"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5364480" y="3756660"/>
            <a:ext cx="2286000" cy="4419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max_norm = 1.0</a:t>
            </a:r>
            <a:endParaRPr sz="120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5364480" y="4290060"/>
            <a:ext cx="2286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08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梯度过大时裁剪，避免训练震荡</a:t>
            </a:r>
            <a:endParaRPr sz="1080"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" name="矩形: 圆角 20"/>
          <p:cNvSpPr>
            <a:spLocks noGrp="1"/>
          </p:cNvSpPr>
          <p:nvPr/>
        </p:nvSpPr>
        <p:spPr>
          <a:xfrm>
            <a:off x="8115300" y="3162300"/>
            <a:ext cx="2667000" cy="1562100"/>
          </a:xfrm>
          <a:prstGeom prst="roundRect">
            <a:avLst>
              <a:gd name="adj" fmla="val 2927"/>
            </a:avLst>
          </a:prstGeom>
          <a:solidFill>
            <a:srgbClr val="EDF7EC"/>
          </a:solidFill>
          <a:ln w="9525">
            <a:solidFill>
              <a:srgbClr val="43A047"/>
            </a:solidFill>
            <a:prstDash val="solid"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8298180" y="3329940"/>
            <a:ext cx="22860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950" b="1">
                <a:solidFill>
                  <a:srgbClr val="43A047"/>
                </a:solidFill>
                <a:latin typeface="微软雅黑"/>
                <a:ea typeface="微软雅黑"/>
                <a:cs typeface="微软雅黑"/>
              </a:defRPr>
            </a:pPr>
            <a:r>
              <a:rPr sz="1560" b="1">
                <a:solidFill>
                  <a:srgbClr val="43A047"/>
                </a:solidFill>
                <a:latin typeface="微软雅黑"/>
                <a:ea typeface="微软雅黑"/>
                <a:cs typeface="微软雅黑"/>
              </a:rPr>
              <a:t>Schedule</a:t>
            </a:r>
            <a:endParaRPr sz="1560" b="1">
              <a:solidFill>
                <a:srgbClr val="43A04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8298180" y="3756660"/>
            <a:ext cx="2286000" cy="4419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20 步、学习率恒定 1e-5</a:t>
            </a:r>
            <a:endParaRPr sz="120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8298180" y="4290060"/>
            <a:ext cx="2286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08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短训练无需 warmup 或衰减</a:t>
            </a:r>
            <a:endParaRPr sz="1080"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5" name="矩形: 圆角 24"/>
          <p:cNvSpPr>
            <a:spLocks noGrp="1"/>
          </p:cNvSpPr>
          <p:nvPr/>
        </p:nvSpPr>
        <p:spPr>
          <a:xfrm>
            <a:off x="5181600" y="5181600"/>
            <a:ext cx="5600700" cy="487680"/>
          </a:xfrm>
          <a:prstGeom prst="roundRect">
            <a:avLst>
              <a:gd name="adj" fmla="val 9375"/>
            </a:avLst>
          </a:prstGeom>
          <a:solidFill>
            <a:srgbClr val="FFF1F2"/>
          </a:solidFill>
          <a:ln w="9525">
            <a:solidFill>
              <a:srgbClr val="E60012"/>
            </a:solidFill>
            <a:prstDash val="solid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5448300" y="5181600"/>
            <a:ext cx="5067300" cy="4876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44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20 步足够学格式，但不足以学会复杂搜索策略。</a:t>
            </a:r>
            <a:endParaRPr sz="1440" b="1"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0" name="图片 4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矩形 1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slide-title"/>
          <p:cNvSpPr>
            <a:spLocks noGrp="1"/>
          </p:cNvSpPr>
          <p:nvPr/>
        </p:nvSpPr>
        <p:spPr>
          <a:xfrm>
            <a:off x="609600" y="320040"/>
            <a:ext cx="944880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3300" b="0">
                <a:solidFill>
                  <a:srgbClr val="111111"/>
                </a:solidFill>
                <a:latin typeface="微软雅黑"/>
                <a:ea typeface="微软雅黑"/>
                <a:cs typeface="微软雅黑"/>
              </a:defRPr>
            </a:pPr>
            <a:r>
              <a:rPr sz="2640">
                <a:sym typeface="+mn-ea"/>
              </a:rPr>
              <a:t>基线训练</a:t>
            </a:r>
            <a:endParaRPr sz="2640">
              <a:solidFill>
                <a:srgbClr val="11111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85800" y="1104900"/>
            <a:ext cx="5334000" cy="350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21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74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先按模型规模排除不必要的并行维度</a:t>
            </a:r>
            <a:endParaRPr sz="174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685800" y="1600200"/>
            <a:ext cx="2133600" cy="411480"/>
          </a:xfrm>
          <a:prstGeom prst="rect">
            <a:avLst/>
          </a:prstGeom>
          <a:solidFill>
            <a:srgbClr val="262626"/>
          </a:solidFill>
          <a:ln w="9525">
            <a:solidFill>
              <a:srgbClr val="262626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777240" y="1630680"/>
            <a:ext cx="1950720" cy="350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任务条件</a:t>
            </a:r>
            <a:endParaRPr sz="12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2819400" y="1600200"/>
            <a:ext cx="2362200" cy="411480"/>
          </a:xfrm>
          <a:prstGeom prst="rect">
            <a:avLst/>
          </a:prstGeom>
          <a:solidFill>
            <a:srgbClr val="262626"/>
          </a:solidFill>
          <a:ln w="9525">
            <a:solidFill>
              <a:srgbClr val="262626"/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2910840" y="1630680"/>
            <a:ext cx="2179320" cy="350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判断</a:t>
            </a:r>
            <a:endParaRPr sz="12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5181600" y="1600200"/>
            <a:ext cx="1905000" cy="411480"/>
          </a:xfrm>
          <a:prstGeom prst="rect">
            <a:avLst/>
          </a:prstGeom>
          <a:solidFill>
            <a:srgbClr val="E60012"/>
          </a:solidFill>
          <a:ln w="9525">
            <a:solidFill>
              <a:srgbClr val="E60012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5273040" y="1630680"/>
            <a:ext cx="1722120" cy="350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配置结论</a:t>
            </a:r>
            <a:endParaRPr sz="12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685800" y="2011680"/>
            <a:ext cx="2133600" cy="50292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777240" y="2042160"/>
            <a:ext cx="1950720" cy="4419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1.7B，单层不大</a:t>
            </a:r>
            <a:endParaRPr sz="108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2819400" y="2011680"/>
            <a:ext cx="2362200" cy="50292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2910840" y="2042160"/>
            <a:ext cx="2179320" cy="4419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8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单卡放得下单层</a:t>
            </a:r>
            <a:endParaRPr sz="108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5181600" y="2011680"/>
            <a:ext cx="1905000" cy="50292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5273040" y="2042160"/>
            <a:ext cx="1722120" cy="4419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8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TP = 1</a:t>
            </a:r>
            <a:endParaRPr sz="108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685800" y="2514600"/>
            <a:ext cx="21336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777240" y="2545080"/>
            <a:ext cx="1950720" cy="4419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28 层</a:t>
            </a:r>
            <a:endParaRPr sz="108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2819400" y="2514600"/>
            <a:ext cx="23622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2910840" y="2545080"/>
            <a:ext cx="2179320" cy="4419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8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层数不深</a:t>
            </a:r>
            <a:endParaRPr sz="108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5181600" y="2514600"/>
            <a:ext cx="19050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3" name="矩形 22"/>
          <p:cNvSpPr>
            <a:spLocks noGrp="1"/>
          </p:cNvSpPr>
          <p:nvPr/>
        </p:nvSpPr>
        <p:spPr>
          <a:xfrm>
            <a:off x="5273040" y="2545080"/>
            <a:ext cx="1722120" cy="4419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8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PP = 1</a:t>
            </a:r>
            <a:endParaRPr sz="108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685800" y="3017520"/>
            <a:ext cx="2133600" cy="50292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5" name="矩形 24"/>
          <p:cNvSpPr>
            <a:spLocks noGrp="1"/>
          </p:cNvSpPr>
          <p:nvPr/>
        </p:nvSpPr>
        <p:spPr>
          <a:xfrm>
            <a:off x="777240" y="3048000"/>
            <a:ext cx="1950720" cy="4419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seq_len = 1024</a:t>
            </a:r>
            <a:endParaRPr sz="108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2819400" y="3017520"/>
            <a:ext cx="2362200" cy="50292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7" name="矩形 26"/>
          <p:cNvSpPr>
            <a:spLocks noGrp="1"/>
          </p:cNvSpPr>
          <p:nvPr/>
        </p:nvSpPr>
        <p:spPr>
          <a:xfrm>
            <a:off x="2910840" y="3048000"/>
            <a:ext cx="2179320" cy="4419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8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序列不长</a:t>
            </a:r>
            <a:endParaRPr sz="108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5181600" y="3017520"/>
            <a:ext cx="1905000" cy="50292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9" name="矩形 28"/>
          <p:cNvSpPr>
            <a:spLocks noGrp="1"/>
          </p:cNvSpPr>
          <p:nvPr/>
        </p:nvSpPr>
        <p:spPr>
          <a:xfrm>
            <a:off x="5273040" y="3048000"/>
            <a:ext cx="1722120" cy="4419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8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CP = 1</a:t>
            </a:r>
            <a:endParaRPr sz="108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685800" y="3520440"/>
            <a:ext cx="21336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31" name="矩形 30"/>
          <p:cNvSpPr>
            <a:spLocks noGrp="1"/>
          </p:cNvSpPr>
          <p:nvPr/>
        </p:nvSpPr>
        <p:spPr>
          <a:xfrm>
            <a:off x="777240" y="3550920"/>
            <a:ext cx="1950720" cy="4419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非 MoE</a:t>
            </a:r>
            <a:endParaRPr sz="108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2" name="矩形 31"/>
          <p:cNvSpPr>
            <a:spLocks noGrp="1"/>
          </p:cNvSpPr>
          <p:nvPr/>
        </p:nvSpPr>
        <p:spPr>
          <a:xfrm>
            <a:off x="2819400" y="3520440"/>
            <a:ext cx="23622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33" name="矩形 32"/>
          <p:cNvSpPr>
            <a:spLocks noGrp="1"/>
          </p:cNvSpPr>
          <p:nvPr/>
        </p:nvSpPr>
        <p:spPr>
          <a:xfrm>
            <a:off x="2910840" y="3550920"/>
            <a:ext cx="2179320" cy="4419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8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没有 expert</a:t>
            </a:r>
            <a:endParaRPr sz="108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4" name="矩形 33"/>
          <p:cNvSpPr>
            <a:spLocks noGrp="1"/>
          </p:cNvSpPr>
          <p:nvPr/>
        </p:nvSpPr>
        <p:spPr>
          <a:xfrm>
            <a:off x="5181600" y="3520440"/>
            <a:ext cx="19050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35" name="矩形 34"/>
          <p:cNvSpPr>
            <a:spLocks noGrp="1"/>
          </p:cNvSpPr>
          <p:nvPr/>
        </p:nvSpPr>
        <p:spPr>
          <a:xfrm>
            <a:off x="5273040" y="3550920"/>
            <a:ext cx="1722120" cy="4419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8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EP / ETP = 1</a:t>
            </a:r>
            <a:endParaRPr sz="108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6" name="矩形 35"/>
          <p:cNvSpPr>
            <a:spLocks noGrp="1"/>
          </p:cNvSpPr>
          <p:nvPr/>
        </p:nvSpPr>
        <p:spPr>
          <a:xfrm>
            <a:off x="685800" y="4023360"/>
            <a:ext cx="2133600" cy="502920"/>
          </a:xfrm>
          <a:prstGeom prst="rect">
            <a:avLst/>
          </a:prstGeom>
          <a:solidFill>
            <a:srgbClr val="FFF1F2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37" name="矩形 36"/>
          <p:cNvSpPr>
            <a:spLocks noGrp="1"/>
          </p:cNvSpPr>
          <p:nvPr/>
        </p:nvSpPr>
        <p:spPr>
          <a:xfrm>
            <a:off x="777240" y="4053840"/>
            <a:ext cx="1950720" cy="4419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多卡需加速 + 省显存</a:t>
            </a:r>
            <a:endParaRPr sz="108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8" name="矩形 37"/>
          <p:cNvSpPr>
            <a:spLocks noGrp="1"/>
          </p:cNvSpPr>
          <p:nvPr/>
        </p:nvSpPr>
        <p:spPr>
          <a:xfrm>
            <a:off x="2819400" y="4023360"/>
            <a:ext cx="2362200" cy="502920"/>
          </a:xfrm>
          <a:prstGeom prst="rect">
            <a:avLst/>
          </a:prstGeom>
          <a:solidFill>
            <a:srgbClr val="FFF1F2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39" name="矩形 38"/>
          <p:cNvSpPr>
            <a:spLocks noGrp="1"/>
          </p:cNvSpPr>
          <p:nvPr/>
        </p:nvSpPr>
        <p:spPr>
          <a:xfrm>
            <a:off x="2910840" y="4053840"/>
            <a:ext cx="2179320" cy="4419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8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参数与数据都可分片</a:t>
            </a:r>
            <a:endParaRPr sz="108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0" name="矩形 39"/>
          <p:cNvSpPr>
            <a:spLocks noGrp="1"/>
          </p:cNvSpPr>
          <p:nvPr/>
        </p:nvSpPr>
        <p:spPr>
          <a:xfrm>
            <a:off x="5181600" y="4023360"/>
            <a:ext cx="1905000" cy="502920"/>
          </a:xfrm>
          <a:prstGeom prst="rect">
            <a:avLst/>
          </a:prstGeom>
          <a:solidFill>
            <a:srgbClr val="FFF1F2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41" name="矩形 40"/>
          <p:cNvSpPr>
            <a:spLocks noGrp="1"/>
          </p:cNvSpPr>
          <p:nvPr/>
        </p:nvSpPr>
        <p:spPr>
          <a:xfrm>
            <a:off x="5273040" y="4053840"/>
            <a:ext cx="1722120" cy="4419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FSDP = auto</a:t>
            </a:r>
            <a:endParaRPr sz="1080" b="1"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2" name="矩形 41"/>
          <p:cNvSpPr>
            <a:spLocks noGrp="1"/>
          </p:cNvSpPr>
          <p:nvPr/>
        </p:nvSpPr>
        <p:spPr>
          <a:xfrm>
            <a:off x="7543800" y="1104900"/>
            <a:ext cx="3276600" cy="350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21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74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最终并行配置</a:t>
            </a:r>
            <a:endParaRPr sz="174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3" name="矩形: 圆角 42"/>
          <p:cNvSpPr>
            <a:spLocks noGrp="1"/>
          </p:cNvSpPr>
          <p:nvPr/>
        </p:nvSpPr>
        <p:spPr>
          <a:xfrm>
            <a:off x="7315200" y="1600200"/>
            <a:ext cx="3886200" cy="2095500"/>
          </a:xfrm>
          <a:prstGeom prst="roundRect">
            <a:avLst>
              <a:gd name="adj" fmla="val 2182"/>
            </a:avLst>
          </a:prstGeom>
          <a:solidFill>
            <a:srgbClr val="F5F5F5"/>
          </a:solidFill>
          <a:ln w="9525">
            <a:solidFill>
              <a:srgbClr val="D4D4D4"/>
            </a:solidFill>
            <a:prstDash val="solid"/>
          </a:ln>
        </p:spPr>
      </p:sp>
      <p:sp>
        <p:nvSpPr>
          <p:cNvPr id="44" name="矩形 43"/>
          <p:cNvSpPr>
            <a:spLocks noGrp="1"/>
          </p:cNvSpPr>
          <p:nvPr/>
        </p:nvSpPr>
        <p:spPr>
          <a:xfrm>
            <a:off x="7467600" y="1706880"/>
            <a:ext cx="3581400" cy="18821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8000"/>
              </a:lnSpc>
              <a:buNone/>
              <a:defRPr sz="1275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102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data_parallel_shard_degree = -1</a:t>
            </a:r>
            <a:endParaRPr sz="102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275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102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# -1：按卡数自动决定分片数</a:t>
            </a:r>
            <a:endParaRPr sz="102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  <a:p>
            <a:endParaRPr sz="1020"/>
          </a:p>
          <a:p>
            <a:pPr algn="l">
              <a:lnSpc>
                <a:spcPct val="118000"/>
              </a:lnSpc>
              <a:buNone/>
              <a:defRPr sz="1275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102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tensor_parallel_degree = 1</a:t>
            </a:r>
            <a:endParaRPr sz="102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275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102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pipeline_parallel_degree = 1</a:t>
            </a:r>
            <a:endParaRPr sz="102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275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102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context_parallel_degree = 1</a:t>
            </a:r>
            <a:endParaRPr sz="102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275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102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expert_parallel_degree = 1</a:t>
            </a:r>
            <a:endParaRPr sz="102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45" name="矩形: 圆角 44"/>
          <p:cNvSpPr>
            <a:spLocks noGrp="1"/>
          </p:cNvSpPr>
          <p:nvPr/>
        </p:nvSpPr>
        <p:spPr>
          <a:xfrm>
            <a:off x="7315200" y="3962400"/>
            <a:ext cx="3886200" cy="1295400"/>
          </a:xfrm>
          <a:prstGeom prst="roundRect">
            <a:avLst>
              <a:gd name="adj" fmla="val 3529"/>
            </a:avLst>
          </a:prstGeom>
          <a:solidFill>
            <a:srgbClr val="EDF7EC"/>
          </a:solidFill>
          <a:ln w="9525">
            <a:solidFill>
              <a:srgbClr val="43A047"/>
            </a:solidFill>
            <a:prstDash val="solid"/>
          </a:ln>
        </p:spPr>
      </p:sp>
      <p:sp>
        <p:nvSpPr>
          <p:cNvPr id="46" name="矩形 45"/>
          <p:cNvSpPr>
            <a:spLocks noGrp="1"/>
          </p:cNvSpPr>
          <p:nvPr/>
        </p:nvSpPr>
        <p:spPr>
          <a:xfrm>
            <a:off x="7581900" y="4152900"/>
            <a:ext cx="33528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2E7D32"/>
                </a:solidFill>
                <a:latin typeface="微软雅黑"/>
                <a:ea typeface="微软雅黑"/>
                <a:cs typeface="微软雅黑"/>
              </a:defRPr>
            </a:pPr>
            <a:r>
              <a:rPr sz="1560" b="1">
                <a:solidFill>
                  <a:srgbClr val="2E7D32"/>
                </a:solidFill>
                <a:latin typeface="微软雅黑"/>
                <a:ea typeface="微软雅黑"/>
                <a:cs typeface="微软雅黑"/>
              </a:rPr>
              <a:t>Activation Checkpoint</a:t>
            </a:r>
            <a:endParaRPr sz="1560" b="1">
              <a:solidFill>
                <a:srgbClr val="2E7D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7" name="矩形 46"/>
          <p:cNvSpPr>
            <a:spLocks noGrp="1"/>
          </p:cNvSpPr>
          <p:nvPr/>
        </p:nvSpPr>
        <p:spPr>
          <a:xfrm>
            <a:off x="7581900" y="4572000"/>
            <a:ext cx="3352800" cy="5638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4600" lnSpcReduction="10000"/>
          </a:bodyPr>
          <a:lstStyle/>
          <a:p>
            <a:pPr algn="ctr">
              <a:lnSpc>
                <a:spcPct val="118000"/>
              </a:lnSpc>
              <a:buNone/>
              <a:defRPr sz="150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selective 模式：只保留关键激活</a:t>
            </a:r>
            <a:endParaRPr sz="120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  <a:p>
            <a:pPr algn="ctr">
              <a:lnSpc>
                <a:spcPct val="118000"/>
              </a:lnSpc>
              <a:buNone/>
              <a:defRPr sz="150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反向传播时重算其余激活</a:t>
            </a:r>
            <a:endParaRPr sz="120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  <a:p>
            <a:pPr algn="ctr">
              <a:lnSpc>
                <a:spcPct val="118000"/>
              </a:lnSpc>
              <a:buNone/>
              <a:defRPr sz="150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本质是用计算换显存</a:t>
            </a:r>
            <a:endParaRPr sz="120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8" name="矩形 47"/>
          <p:cNvSpPr>
            <a:spLocks noGrp="1"/>
          </p:cNvSpPr>
          <p:nvPr/>
        </p:nvSpPr>
        <p:spPr>
          <a:xfrm>
            <a:off x="1600200" y="5562600"/>
            <a:ext cx="8991600" cy="335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56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配置不是越多越好；匹配模型规模，先用最简单的可行并行策略。</a:t>
            </a:r>
            <a:endParaRPr sz="1560" b="1"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5" name="图片 2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矩形 1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slide-title"/>
          <p:cNvSpPr>
            <a:spLocks noGrp="1"/>
          </p:cNvSpPr>
          <p:nvPr/>
        </p:nvSpPr>
        <p:spPr>
          <a:xfrm>
            <a:off x="609600" y="320040"/>
            <a:ext cx="944880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3300" b="0">
                <a:solidFill>
                  <a:srgbClr val="111111"/>
                </a:solidFill>
                <a:latin typeface="微软雅黑"/>
                <a:ea typeface="微软雅黑"/>
                <a:cs typeface="微软雅黑"/>
              </a:defRPr>
            </a:pPr>
            <a:r>
              <a:rPr sz="2640">
                <a:solidFill>
                  <a:srgbClr val="111111"/>
                </a:solidFill>
                <a:latin typeface="微软雅黑"/>
                <a:ea typeface="微软雅黑"/>
                <a:cs typeface="微软雅黑"/>
              </a:rPr>
              <a:t>基线</a:t>
            </a:r>
            <a:r>
              <a:rPr lang="zh-CN" sz="2640">
                <a:solidFill>
                  <a:srgbClr val="111111"/>
                </a:solidFill>
                <a:latin typeface="微软雅黑"/>
                <a:ea typeface="微软雅黑"/>
                <a:cs typeface="微软雅黑"/>
              </a:rPr>
              <a:t>训练</a:t>
            </a:r>
            <a:endParaRPr lang="zh-CN" sz="2640">
              <a:solidFill>
                <a:srgbClr val="111111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28" name="图片 2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13742"/>
            <a:ext cx="6248400" cy="2049518"/>
          </a:xfrm>
          <a:prstGeom prst="rect">
            <a:avLst/>
          </a:prstGeom>
        </p:spPr>
      </p:pic>
      <p:sp>
        <p:nvSpPr>
          <p:cNvPr id="6" name="矩形 5"/>
          <p:cNvSpPr>
            <a:spLocks noGrp="1"/>
          </p:cNvSpPr>
          <p:nvPr/>
        </p:nvSpPr>
        <p:spPr>
          <a:xfrm>
            <a:off x="7048500" y="1143000"/>
            <a:ext cx="22860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21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68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训练命令</a:t>
            </a:r>
            <a:endParaRPr sz="168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矩形: 圆角 6"/>
          <p:cNvSpPr>
            <a:spLocks noGrp="1"/>
          </p:cNvSpPr>
          <p:nvPr/>
        </p:nvSpPr>
        <p:spPr>
          <a:xfrm>
            <a:off x="6972300" y="1562100"/>
            <a:ext cx="4343400" cy="1447800"/>
          </a:xfrm>
          <a:prstGeom prst="roundRect">
            <a:avLst>
              <a:gd name="adj" fmla="val 3158"/>
            </a:avLst>
          </a:prstGeom>
          <a:solidFill>
            <a:srgbClr val="F5F5F5"/>
          </a:solidFill>
          <a:ln w="9525">
            <a:solidFill>
              <a:srgbClr val="D4D4D4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7124700" y="1668780"/>
            <a:ext cx="4038600" cy="1234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8000"/>
              </a:lnSpc>
              <a:buNone/>
              <a:defRPr sz="1200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96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NGPU=2 \</a:t>
            </a:r>
            <a:endParaRPr sz="96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200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96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MODULE=torchtitan_npu.models.qwen3 \</a:t>
            </a:r>
            <a:endParaRPr sz="96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200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96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CONFIG=sft_qwen3_1_7b_wordle \</a:t>
            </a:r>
            <a:endParaRPr sz="96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200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96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bash scripts/run_train.sh \</a:t>
            </a:r>
            <a:endParaRPr sz="96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200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96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--checkpoint.last_save_in_hf \</a:t>
            </a:r>
            <a:endParaRPr sz="96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200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96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--dataloader.dataset_path ./assets/data/wordle</a:t>
            </a:r>
            <a:endParaRPr sz="96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9" name="矩形: 圆角 8"/>
          <p:cNvSpPr>
            <a:spLocks noGrp="1"/>
          </p:cNvSpPr>
          <p:nvPr/>
        </p:nvSpPr>
        <p:spPr>
          <a:xfrm>
            <a:off x="7010400" y="3276600"/>
            <a:ext cx="1143000" cy="304800"/>
          </a:xfrm>
          <a:prstGeom prst="roundRect">
            <a:avLst>
              <a:gd name="adj" fmla="val 15000"/>
            </a:avLst>
          </a:prstGeom>
          <a:solidFill>
            <a:srgbClr val="EEF4FF"/>
          </a:solidFill>
          <a:ln w="0">
            <a:noFill/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7071360" y="3276600"/>
            <a:ext cx="102108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rPr>
              <a:t>loss</a:t>
            </a:r>
            <a:endParaRPr sz="1080" b="1">
              <a:solidFill>
                <a:srgbClr val="377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8305800" y="3276600"/>
            <a:ext cx="12954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575" b="1">
                <a:solidFill>
                  <a:srgbClr val="377DFF"/>
                </a:solidFill>
                <a:latin typeface="微软雅黑"/>
                <a:ea typeface="微软雅黑"/>
                <a:cs typeface="微软雅黑"/>
              </a:defRPr>
            </a:pPr>
            <a:r>
              <a:rPr sz="126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rPr>
              <a:t>1.25 → 0.49</a:t>
            </a:r>
            <a:endParaRPr sz="1260" b="1">
              <a:solidFill>
                <a:srgbClr val="377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9601200" y="3276600"/>
            <a:ext cx="16764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08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模型快速适应监督数据</a:t>
            </a:r>
            <a:endParaRPr sz="1080"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矩形: 圆角 12"/>
          <p:cNvSpPr>
            <a:spLocks noGrp="1"/>
          </p:cNvSpPr>
          <p:nvPr/>
        </p:nvSpPr>
        <p:spPr>
          <a:xfrm>
            <a:off x="7010400" y="3947160"/>
            <a:ext cx="1143000" cy="304800"/>
          </a:xfrm>
          <a:prstGeom prst="roundRect">
            <a:avLst>
              <a:gd name="adj" fmla="val 15000"/>
            </a:avLst>
          </a:prstGeom>
          <a:solidFill>
            <a:srgbClr val="FFF1F2"/>
          </a:solidFill>
          <a:ln w="0">
            <a:noFill/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7071360" y="3947160"/>
            <a:ext cx="102108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grad_norm</a:t>
            </a:r>
            <a:endParaRPr sz="1080" b="1"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8305800" y="3947160"/>
            <a:ext cx="12954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57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26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140.5 → ≈3</a:t>
            </a:r>
            <a:endParaRPr sz="1260" b="1"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9601200" y="3947160"/>
            <a:ext cx="16764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08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初始剧烈，随后稳定</a:t>
            </a:r>
            <a:endParaRPr sz="1080"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: 圆角 16"/>
          <p:cNvSpPr>
            <a:spLocks noGrp="1"/>
          </p:cNvSpPr>
          <p:nvPr/>
        </p:nvSpPr>
        <p:spPr>
          <a:xfrm>
            <a:off x="7010400" y="4617720"/>
            <a:ext cx="1143000" cy="304800"/>
          </a:xfrm>
          <a:prstGeom prst="roundRect">
            <a:avLst>
              <a:gd name="adj" fmla="val 15000"/>
            </a:avLst>
          </a:prstGeom>
          <a:solidFill>
            <a:srgbClr val="EDF7EC"/>
          </a:solidFill>
          <a:ln w="0">
            <a:noFill/>
            <a:prstDash val="solid"/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7071360" y="4617720"/>
            <a:ext cx="102108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43A047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43A047"/>
                </a:solidFill>
                <a:latin typeface="微软雅黑"/>
                <a:ea typeface="微软雅黑"/>
                <a:cs typeface="微软雅黑"/>
              </a:rPr>
              <a:t>tps</a:t>
            </a:r>
            <a:endParaRPr sz="1080" b="1">
              <a:solidFill>
                <a:srgbClr val="43A04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8305800" y="4617720"/>
            <a:ext cx="12954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575" b="1">
                <a:solidFill>
                  <a:srgbClr val="43A047"/>
                </a:solidFill>
                <a:latin typeface="微软雅黑"/>
                <a:ea typeface="微软雅黑"/>
                <a:cs typeface="微软雅黑"/>
              </a:defRPr>
            </a:pPr>
            <a:r>
              <a:rPr sz="1260" b="1">
                <a:solidFill>
                  <a:srgbClr val="43A047"/>
                </a:solidFill>
                <a:latin typeface="微软雅黑"/>
                <a:ea typeface="微软雅黑"/>
                <a:cs typeface="微软雅黑"/>
              </a:rPr>
              <a:t>≈400</a:t>
            </a:r>
            <a:endParaRPr sz="1260" b="1">
              <a:solidFill>
                <a:srgbClr val="43A04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9601200" y="4617720"/>
            <a:ext cx="16764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08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吞吐保持稳定</a:t>
            </a:r>
            <a:endParaRPr sz="1080"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" name="矩形: 圆角 20"/>
          <p:cNvSpPr>
            <a:spLocks noGrp="1"/>
          </p:cNvSpPr>
          <p:nvPr/>
        </p:nvSpPr>
        <p:spPr>
          <a:xfrm>
            <a:off x="6972300" y="5334000"/>
            <a:ext cx="4343400" cy="472440"/>
          </a:xfrm>
          <a:prstGeom prst="roundRect">
            <a:avLst>
              <a:gd name="adj" fmla="val 9677"/>
            </a:avLst>
          </a:prstGeom>
          <a:solidFill>
            <a:srgbClr val="FFF1F2"/>
          </a:solidFill>
          <a:ln w="9525">
            <a:solidFill>
              <a:srgbClr val="E60012"/>
            </a:solidFill>
            <a:prstDash val="solid"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7200900" y="5334000"/>
            <a:ext cx="388620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57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26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保存 HF 权重并补齐 tokenizer，才能进入推理。</a:t>
            </a:r>
            <a:endParaRPr sz="1260" b="1"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9" name="图片 2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矩形 1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slide-title"/>
          <p:cNvSpPr>
            <a:spLocks noGrp="1"/>
          </p:cNvSpPr>
          <p:nvPr/>
        </p:nvSpPr>
        <p:spPr>
          <a:xfrm>
            <a:off x="609600" y="320040"/>
            <a:ext cx="944880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3300" b="0">
                <a:solidFill>
                  <a:srgbClr val="111111"/>
                </a:solidFill>
                <a:latin typeface="微软雅黑"/>
                <a:ea typeface="微软雅黑"/>
                <a:cs typeface="微软雅黑"/>
              </a:defRPr>
            </a:pPr>
            <a:r>
              <a:rPr lang="zh-CN" sz="2640">
                <a:solidFill>
                  <a:srgbClr val="111111"/>
                </a:solidFill>
                <a:latin typeface="微软雅黑"/>
                <a:ea typeface="微软雅黑"/>
                <a:cs typeface="微软雅黑"/>
              </a:rPr>
              <a:t>基线</a:t>
            </a:r>
            <a:r>
              <a:rPr lang="zh-CN" sz="2640">
                <a:solidFill>
                  <a:srgbClr val="111111"/>
                </a:solidFill>
                <a:latin typeface="微软雅黑"/>
                <a:ea typeface="微软雅黑"/>
                <a:cs typeface="微软雅黑"/>
              </a:rPr>
              <a:t>训练</a:t>
            </a:r>
            <a:endParaRPr lang="zh-CN" sz="2640">
              <a:solidFill>
                <a:srgbClr val="11111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85800" y="1104900"/>
            <a:ext cx="4724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2025" b="1">
                <a:solidFill>
                  <a:srgbClr val="377DFF"/>
                </a:solidFill>
                <a:latin typeface="微软雅黑"/>
                <a:ea typeface="微软雅黑"/>
                <a:cs typeface="微软雅黑"/>
              </a:defRPr>
            </a:pPr>
            <a:r>
              <a:rPr sz="162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rPr>
              <a:t>OpenAI 兼容推理服务</a:t>
            </a:r>
            <a:endParaRPr sz="1620" b="1">
              <a:solidFill>
                <a:srgbClr val="377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6477000" y="1104900"/>
            <a:ext cx="4724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2025" b="1">
                <a:solidFill>
                  <a:srgbClr val="43A047"/>
                </a:solidFill>
                <a:latin typeface="微软雅黑"/>
                <a:ea typeface="微软雅黑"/>
                <a:cs typeface="微软雅黑"/>
              </a:defRPr>
            </a:pPr>
            <a:r>
              <a:rPr sz="1620" b="1">
                <a:solidFill>
                  <a:srgbClr val="43A047"/>
                </a:solidFill>
                <a:latin typeface="微软雅黑"/>
                <a:ea typeface="微软雅黑"/>
                <a:cs typeface="微软雅黑"/>
              </a:rPr>
              <a:t>vf-eval 多轮游戏环境</a:t>
            </a:r>
            <a:endParaRPr sz="1620" b="1">
              <a:solidFill>
                <a:srgbClr val="43A047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34" name="图片 3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359" y="1485900"/>
            <a:ext cx="4285282" cy="3009900"/>
          </a:xfrm>
          <a:prstGeom prst="rect">
            <a:avLst/>
          </a:prstGeom>
        </p:spPr>
      </p:pic>
      <p:pic>
        <p:nvPicPr>
          <p:cNvPr id="35" name="图片 3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5495" y="1485900"/>
            <a:ext cx="3947410" cy="3009900"/>
          </a:xfrm>
          <a:prstGeom prst="rect">
            <a:avLst/>
          </a:prstGeom>
        </p:spPr>
      </p:pic>
      <p:sp>
        <p:nvSpPr>
          <p:cNvPr id="9" name="矩形: 圆角 8"/>
          <p:cNvSpPr>
            <a:spLocks noGrp="1"/>
          </p:cNvSpPr>
          <p:nvPr/>
        </p:nvSpPr>
        <p:spPr>
          <a:xfrm>
            <a:off x="685800" y="4762500"/>
            <a:ext cx="2476500" cy="746760"/>
          </a:xfrm>
          <a:prstGeom prst="roundRect">
            <a:avLst>
              <a:gd name="adj" fmla="val 6122"/>
            </a:avLst>
          </a:prstGeom>
          <a:solidFill>
            <a:srgbClr val="F5F5F5"/>
          </a:solidFill>
          <a:ln w="9525">
            <a:solidFill>
              <a:srgbClr val="D4D4D4"/>
            </a:solidFill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807720" y="4892040"/>
            <a:ext cx="1371600" cy="2438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1080" b="1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correct_answer</a:t>
            </a:r>
            <a:endParaRPr sz="1080" b="1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2133600" y="4892040"/>
            <a:ext cx="891540" cy="2438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8000"/>
              </a:lnSpc>
              <a:buNone/>
              <a:defRPr sz="120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96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权重 1.0</a:t>
            </a:r>
            <a:endParaRPr sz="96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807720" y="5219700"/>
            <a:ext cx="22098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02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最终猜中</a:t>
            </a:r>
            <a:endParaRPr sz="1020"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矩形: 圆角 12"/>
          <p:cNvSpPr>
            <a:spLocks noGrp="1"/>
          </p:cNvSpPr>
          <p:nvPr/>
        </p:nvSpPr>
        <p:spPr>
          <a:xfrm>
            <a:off x="3429000" y="4762500"/>
            <a:ext cx="2476500" cy="746760"/>
          </a:xfrm>
          <a:prstGeom prst="roundRect">
            <a:avLst>
              <a:gd name="adj" fmla="val 6122"/>
            </a:avLst>
          </a:prstGeom>
          <a:solidFill>
            <a:srgbClr val="F5F5F5"/>
          </a:solidFill>
          <a:ln w="9525">
            <a:solidFill>
              <a:srgbClr val="D4D4D4"/>
            </a:solidFill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3550920" y="4892040"/>
            <a:ext cx="1371600" cy="2438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1080" b="1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partial_answer</a:t>
            </a:r>
            <a:endParaRPr sz="1080" b="1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4876800" y="4892040"/>
            <a:ext cx="891540" cy="2438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8000"/>
              </a:lnSpc>
              <a:buNone/>
              <a:defRPr sz="120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96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权重 0.2 / 0.1</a:t>
            </a:r>
            <a:endParaRPr sz="96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3550920" y="5219700"/>
            <a:ext cx="22098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02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绿 / 黄字母</a:t>
            </a:r>
            <a:endParaRPr sz="1020"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: 圆角 16"/>
          <p:cNvSpPr>
            <a:spLocks noGrp="1"/>
          </p:cNvSpPr>
          <p:nvPr/>
        </p:nvSpPr>
        <p:spPr>
          <a:xfrm>
            <a:off x="6172200" y="4762500"/>
            <a:ext cx="2476500" cy="746760"/>
          </a:xfrm>
          <a:prstGeom prst="roundRect">
            <a:avLst>
              <a:gd name="adj" fmla="val 6122"/>
            </a:avLst>
          </a:prstGeom>
          <a:solidFill>
            <a:srgbClr val="F5F5F5"/>
          </a:solidFill>
          <a:ln w="9525">
            <a:solidFill>
              <a:srgbClr val="D4D4D4"/>
            </a:solidFill>
            <a:prstDash val="solid"/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6294120" y="4892040"/>
            <a:ext cx="1371600" cy="2438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1080" b="1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length_bonus</a:t>
            </a:r>
            <a:endParaRPr sz="1080" b="1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7620000" y="4892040"/>
            <a:ext cx="891540" cy="2438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8000"/>
              </a:lnSpc>
              <a:buNone/>
              <a:defRPr sz="120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96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权重 1.0</a:t>
            </a:r>
            <a:endParaRPr sz="96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6294120" y="5219700"/>
            <a:ext cx="22098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02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更少轮数猜中</a:t>
            </a:r>
            <a:endParaRPr sz="1020"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" name="矩形: 圆角 20"/>
          <p:cNvSpPr>
            <a:spLocks noGrp="1"/>
          </p:cNvSpPr>
          <p:nvPr/>
        </p:nvSpPr>
        <p:spPr>
          <a:xfrm>
            <a:off x="8915400" y="4762500"/>
            <a:ext cx="2476500" cy="746760"/>
          </a:xfrm>
          <a:prstGeom prst="roundRect">
            <a:avLst>
              <a:gd name="adj" fmla="val 6122"/>
            </a:avLst>
          </a:prstGeom>
          <a:solidFill>
            <a:srgbClr val="FFF1F2"/>
          </a:solidFill>
          <a:ln w="9525">
            <a:solidFill>
              <a:srgbClr val="E60012"/>
            </a:solidFill>
            <a:prstDash val="solid"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9037320" y="4892040"/>
            <a:ext cx="1371600" cy="2438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E60012"/>
                </a:solidFill>
                <a:latin typeface="Consolas"/>
                <a:ea typeface="Consolas"/>
                <a:cs typeface="Consolas"/>
              </a:defRPr>
            </a:pPr>
            <a:r>
              <a:rPr sz="1080" b="1">
                <a:solidFill>
                  <a:srgbClr val="E60012"/>
                </a:solidFill>
                <a:latin typeface="Consolas"/>
                <a:ea typeface="Consolas"/>
                <a:cs typeface="Consolas"/>
              </a:rPr>
              <a:t>format_reward</a:t>
            </a:r>
            <a:endParaRPr sz="1080" b="1">
              <a:solidFill>
                <a:srgbClr val="E6001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10363200" y="4892040"/>
            <a:ext cx="891540" cy="2438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8000"/>
              </a:lnSpc>
              <a:buNone/>
              <a:defRPr sz="120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96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权重 0.2</a:t>
            </a:r>
            <a:endParaRPr sz="960" b="1"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9037320" y="5219700"/>
            <a:ext cx="22098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02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标签格式可解析</a:t>
            </a:r>
            <a:endParaRPr sz="1020"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1676400" y="5699760"/>
            <a:ext cx="88392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44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format_reward 是“能否进入游戏”的门槛指标：格式无法解析，后续奖励都无从计算。</a:t>
            </a:r>
            <a:endParaRPr sz="1440" b="1"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63" name="图片 6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矩形 1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slide-title"/>
          <p:cNvSpPr>
            <a:spLocks noGrp="1"/>
          </p:cNvSpPr>
          <p:nvPr/>
        </p:nvSpPr>
        <p:spPr>
          <a:xfrm>
            <a:off x="609600" y="320040"/>
            <a:ext cx="944880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3300" b="0">
                <a:solidFill>
                  <a:srgbClr val="111111"/>
                </a:solidFill>
                <a:latin typeface="微软雅黑"/>
                <a:ea typeface="微软雅黑"/>
                <a:cs typeface="微软雅黑"/>
              </a:defRPr>
            </a:pPr>
            <a:r>
              <a:rPr lang="zh-CN" sz="2640" b="0" i="0" u="none" cap="none">
                <a:ln>
                  <a:noFill/>
                </a:ln>
                <a:solidFill>
                  <a:srgbClr val="111111"/>
                </a:solidFill>
                <a:latin typeface="微软雅黑"/>
                <a:ea typeface="微软雅黑"/>
                <a:cs typeface="微软雅黑"/>
              </a:rPr>
              <a:t>基线</a:t>
            </a:r>
            <a:r>
              <a:rPr lang="zh-CN" sz="2640" b="0" i="0" u="none" cap="none">
                <a:ln>
                  <a:noFill/>
                </a:ln>
                <a:solidFill>
                  <a:srgbClr val="111111"/>
                </a:solidFill>
                <a:latin typeface="微软雅黑"/>
                <a:ea typeface="微软雅黑"/>
                <a:cs typeface="微软雅黑"/>
              </a:rPr>
              <a:t>训练</a:t>
            </a:r>
            <a:endParaRPr lang="zh-CN" sz="2640" b="0" i="0" u="none" cap="none">
              <a:ln>
                <a:noFill/>
              </a:ln>
              <a:solidFill>
                <a:srgbClr val="11111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85800" y="1104900"/>
            <a:ext cx="4572000" cy="350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1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740" b="1" i="0" u="none" cap="none">
                <a:ln>
                  <a:noFill/>
                </a:ln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SFT 前后评测对比</a:t>
            </a:r>
            <a:endParaRPr sz="1740" b="1" i="0" u="none" cap="none">
              <a:ln>
                <a:noFill/>
              </a:ln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685800" y="1600200"/>
            <a:ext cx="1981200" cy="411480"/>
          </a:xfrm>
          <a:prstGeom prst="rect">
            <a:avLst/>
          </a:prstGeom>
          <a:solidFill>
            <a:srgbClr val="262626"/>
          </a:solidFill>
          <a:ln w="9525">
            <a:solidFill>
              <a:srgbClr val="262626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777240" y="1630680"/>
            <a:ext cx="1798320" cy="350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 i="0" u="none" cap="none">
                <a:ln>
                  <a:noFill/>
                </a:ln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指标</a:t>
            </a:r>
            <a:endParaRPr sz="1200" b="1" i="0" u="none" cap="none">
              <a:ln>
                <a:noFill/>
              </a:ln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2667000" y="1600200"/>
            <a:ext cx="1371600" cy="411480"/>
          </a:xfrm>
          <a:prstGeom prst="rect">
            <a:avLst/>
          </a:prstGeom>
          <a:solidFill>
            <a:srgbClr val="262626"/>
          </a:solidFill>
          <a:ln w="9525">
            <a:solidFill>
              <a:srgbClr val="262626"/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2758440" y="1630680"/>
            <a:ext cx="1188720" cy="350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 i="0" u="none" cap="none">
                <a:ln>
                  <a:noFill/>
                </a:ln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SFT 前</a:t>
            </a:r>
            <a:endParaRPr sz="1200" b="1" i="0" u="none" cap="none">
              <a:ln>
                <a:noFill/>
              </a:ln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4038600" y="1600200"/>
            <a:ext cx="1371600" cy="411480"/>
          </a:xfrm>
          <a:prstGeom prst="rect">
            <a:avLst/>
          </a:prstGeom>
          <a:solidFill>
            <a:srgbClr val="E60012"/>
          </a:solidFill>
          <a:ln w="9525">
            <a:solidFill>
              <a:srgbClr val="E60012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4130040" y="1630680"/>
            <a:ext cx="1188720" cy="350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 i="0" u="none" cap="none">
                <a:ln>
                  <a:noFill/>
                </a:ln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SFT 后</a:t>
            </a:r>
            <a:endParaRPr sz="1200" b="1" i="0" u="none" cap="none">
              <a:ln>
                <a:noFill/>
              </a:ln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5410200" y="1600200"/>
            <a:ext cx="2971800" cy="411480"/>
          </a:xfrm>
          <a:prstGeom prst="rect">
            <a:avLst/>
          </a:prstGeom>
          <a:solidFill>
            <a:srgbClr val="262626"/>
          </a:solidFill>
          <a:ln w="9525">
            <a:solidFill>
              <a:srgbClr val="262626"/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5501640" y="1630680"/>
            <a:ext cx="2788920" cy="350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 i="0" u="none" cap="none">
                <a:ln>
                  <a:noFill/>
                </a:ln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含义</a:t>
            </a:r>
            <a:endParaRPr sz="1200" b="1" i="0" u="none" cap="none">
              <a:ln>
                <a:noFill/>
              </a:ln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685800" y="2011680"/>
            <a:ext cx="1981200" cy="51816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777240" y="2042160"/>
            <a:ext cx="179832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350" b="1">
                <a:solidFill>
                  <a:srgbClr val="525252"/>
                </a:solidFill>
                <a:latin typeface="Consolas"/>
                <a:ea typeface="Consolas"/>
                <a:cs typeface="Consolas"/>
              </a:defRPr>
            </a:pPr>
            <a:r>
              <a:rPr sz="1080" b="1" i="0" u="none" cap="none">
                <a:ln>
                  <a:noFill/>
                </a:ln>
                <a:solidFill>
                  <a:srgbClr val="525252"/>
                </a:solidFill>
                <a:latin typeface="Consolas"/>
                <a:ea typeface="Consolas"/>
                <a:cs typeface="Consolas"/>
              </a:rPr>
              <a:t>format_reward</a:t>
            </a:r>
            <a:endParaRPr sz="1080" b="1" i="0" u="none" cap="none">
              <a:ln>
                <a:noFill/>
              </a:ln>
              <a:solidFill>
                <a:srgbClr val="52525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2667000" y="2011680"/>
            <a:ext cx="1371600" cy="51816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2758440" y="2042160"/>
            <a:ext cx="118872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350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0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0.200</a:t>
            </a:r>
            <a:endParaRPr sz="1080" b="0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4038600" y="2011680"/>
            <a:ext cx="1371600" cy="51816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4130040" y="2042160"/>
            <a:ext cx="118872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350" b="1">
                <a:solidFill>
                  <a:srgbClr val="2E7D32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 i="0" u="none" cap="none">
                <a:ln>
                  <a:noFill/>
                </a:ln>
                <a:solidFill>
                  <a:srgbClr val="2E7D32"/>
                </a:solidFill>
                <a:latin typeface="微软雅黑"/>
                <a:ea typeface="微软雅黑"/>
                <a:cs typeface="微软雅黑"/>
              </a:rPr>
              <a:t>1.000</a:t>
            </a:r>
            <a:endParaRPr sz="1080" b="1" i="0" u="none" cap="none">
              <a:ln>
                <a:noFill/>
              </a:ln>
              <a:solidFill>
                <a:srgbClr val="2E7D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5410200" y="2011680"/>
            <a:ext cx="2971800" cy="51816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5501640" y="2042160"/>
            <a:ext cx="278892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350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0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100% 遵循 &lt;guess&gt; 格式</a:t>
            </a:r>
            <a:endParaRPr sz="1080" b="0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685800" y="2529840"/>
            <a:ext cx="1981200" cy="5181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3" name="矩形 22"/>
          <p:cNvSpPr>
            <a:spLocks noGrp="1"/>
          </p:cNvSpPr>
          <p:nvPr/>
        </p:nvSpPr>
        <p:spPr>
          <a:xfrm>
            <a:off x="777240" y="2560320"/>
            <a:ext cx="179832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350" b="1">
                <a:solidFill>
                  <a:srgbClr val="525252"/>
                </a:solidFill>
                <a:latin typeface="Consolas"/>
                <a:ea typeface="Consolas"/>
                <a:cs typeface="Consolas"/>
              </a:defRPr>
            </a:pPr>
            <a:r>
              <a:rPr sz="1080" b="1" i="0" u="none" cap="none">
                <a:ln>
                  <a:noFill/>
                </a:ln>
                <a:solidFill>
                  <a:srgbClr val="525252"/>
                </a:solidFill>
                <a:latin typeface="Consolas"/>
                <a:ea typeface="Consolas"/>
                <a:cs typeface="Consolas"/>
              </a:rPr>
              <a:t>avg reward</a:t>
            </a:r>
            <a:endParaRPr sz="1080" b="1" i="0" u="none" cap="none">
              <a:ln>
                <a:noFill/>
              </a:ln>
              <a:solidFill>
                <a:srgbClr val="52525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2667000" y="2529840"/>
            <a:ext cx="1371600" cy="5181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5" name="矩形 24"/>
          <p:cNvSpPr>
            <a:spLocks noGrp="1"/>
          </p:cNvSpPr>
          <p:nvPr/>
        </p:nvSpPr>
        <p:spPr>
          <a:xfrm>
            <a:off x="2758440" y="2560320"/>
            <a:ext cx="118872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350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0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0.04</a:t>
            </a:r>
            <a:endParaRPr sz="1080" b="0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4038600" y="2529840"/>
            <a:ext cx="1371600" cy="5181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7" name="矩形 26"/>
          <p:cNvSpPr>
            <a:spLocks noGrp="1"/>
          </p:cNvSpPr>
          <p:nvPr/>
        </p:nvSpPr>
        <p:spPr>
          <a:xfrm>
            <a:off x="4130040" y="2560320"/>
            <a:ext cx="118872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350" b="1">
                <a:solidFill>
                  <a:srgbClr val="2E7D32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 i="0" u="none" cap="none">
                <a:ln>
                  <a:noFill/>
                </a:ln>
                <a:solidFill>
                  <a:srgbClr val="2E7D32"/>
                </a:solidFill>
                <a:latin typeface="微软雅黑"/>
                <a:ea typeface="微软雅黑"/>
                <a:cs typeface="微软雅黑"/>
              </a:rPr>
              <a:t>0.40</a:t>
            </a:r>
            <a:endParaRPr sz="1080" b="1" i="0" u="none" cap="none">
              <a:ln>
                <a:noFill/>
              </a:ln>
              <a:solidFill>
                <a:srgbClr val="2E7D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5410200" y="2529840"/>
            <a:ext cx="2971800" cy="5181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9" name="矩形 28"/>
          <p:cNvSpPr>
            <a:spLocks noGrp="1"/>
          </p:cNvSpPr>
          <p:nvPr/>
        </p:nvSpPr>
        <p:spPr>
          <a:xfrm>
            <a:off x="5501640" y="2560320"/>
            <a:ext cx="278892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350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0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综合奖励提升 10 倍</a:t>
            </a:r>
            <a:endParaRPr sz="1080" b="0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685800" y="3048000"/>
            <a:ext cx="1981200" cy="51816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31" name="矩形 30"/>
          <p:cNvSpPr>
            <a:spLocks noGrp="1"/>
          </p:cNvSpPr>
          <p:nvPr/>
        </p:nvSpPr>
        <p:spPr>
          <a:xfrm>
            <a:off x="777240" y="3078480"/>
            <a:ext cx="179832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350" b="1">
                <a:solidFill>
                  <a:srgbClr val="525252"/>
                </a:solidFill>
                <a:latin typeface="Consolas"/>
                <a:ea typeface="Consolas"/>
                <a:cs typeface="Consolas"/>
              </a:defRPr>
            </a:pPr>
            <a:r>
              <a:rPr sz="1080" b="1" i="0" u="none" cap="none">
                <a:ln>
                  <a:noFill/>
                </a:ln>
                <a:solidFill>
                  <a:srgbClr val="525252"/>
                </a:solidFill>
                <a:latin typeface="Consolas"/>
                <a:ea typeface="Consolas"/>
                <a:cs typeface="Consolas"/>
              </a:rPr>
              <a:t>num_turns</a:t>
            </a:r>
            <a:endParaRPr sz="1080" b="1" i="0" u="none" cap="none">
              <a:ln>
                <a:noFill/>
              </a:ln>
              <a:solidFill>
                <a:srgbClr val="52525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2" name="矩形 31"/>
          <p:cNvSpPr>
            <a:spLocks noGrp="1"/>
          </p:cNvSpPr>
          <p:nvPr/>
        </p:nvSpPr>
        <p:spPr>
          <a:xfrm>
            <a:off x="2667000" y="3048000"/>
            <a:ext cx="1371600" cy="51816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33" name="矩形 32"/>
          <p:cNvSpPr>
            <a:spLocks noGrp="1"/>
          </p:cNvSpPr>
          <p:nvPr/>
        </p:nvSpPr>
        <p:spPr>
          <a:xfrm>
            <a:off x="2758440" y="3078480"/>
            <a:ext cx="118872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350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0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≈2</a:t>
            </a:r>
            <a:endParaRPr sz="1080" b="0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4" name="矩形 33"/>
          <p:cNvSpPr>
            <a:spLocks noGrp="1"/>
          </p:cNvSpPr>
          <p:nvPr/>
        </p:nvSpPr>
        <p:spPr>
          <a:xfrm>
            <a:off x="4038600" y="3048000"/>
            <a:ext cx="1371600" cy="51816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35" name="矩形 34"/>
          <p:cNvSpPr>
            <a:spLocks noGrp="1"/>
          </p:cNvSpPr>
          <p:nvPr/>
        </p:nvSpPr>
        <p:spPr>
          <a:xfrm>
            <a:off x="4130040" y="3078480"/>
            <a:ext cx="118872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350" b="1">
                <a:solidFill>
                  <a:srgbClr val="2E7D32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 i="0" u="none" cap="none">
                <a:ln>
                  <a:noFill/>
                </a:ln>
                <a:solidFill>
                  <a:srgbClr val="2E7D32"/>
                </a:solidFill>
                <a:latin typeface="微软雅黑"/>
                <a:ea typeface="微软雅黑"/>
                <a:cs typeface="微软雅黑"/>
              </a:rPr>
              <a:t>≈7</a:t>
            </a:r>
            <a:endParaRPr sz="1080" b="1" i="0" u="none" cap="none">
              <a:ln>
                <a:noFill/>
              </a:ln>
              <a:solidFill>
                <a:srgbClr val="2E7D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6" name="矩形 35"/>
          <p:cNvSpPr>
            <a:spLocks noGrp="1"/>
          </p:cNvSpPr>
          <p:nvPr/>
        </p:nvSpPr>
        <p:spPr>
          <a:xfrm>
            <a:off x="5410200" y="3048000"/>
            <a:ext cx="2971800" cy="51816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37" name="矩形 36"/>
          <p:cNvSpPr>
            <a:spLocks noGrp="1"/>
          </p:cNvSpPr>
          <p:nvPr/>
        </p:nvSpPr>
        <p:spPr>
          <a:xfrm>
            <a:off x="5501640" y="3078480"/>
            <a:ext cx="278892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350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0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能稳定完成多轮交互</a:t>
            </a:r>
            <a:endParaRPr sz="1080" b="0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8" name="矩形 37"/>
          <p:cNvSpPr>
            <a:spLocks noGrp="1"/>
          </p:cNvSpPr>
          <p:nvPr/>
        </p:nvSpPr>
        <p:spPr>
          <a:xfrm>
            <a:off x="685800" y="3566160"/>
            <a:ext cx="1981200" cy="5181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39" name="矩形 38"/>
          <p:cNvSpPr>
            <a:spLocks noGrp="1"/>
          </p:cNvSpPr>
          <p:nvPr/>
        </p:nvSpPr>
        <p:spPr>
          <a:xfrm>
            <a:off x="777240" y="3596640"/>
            <a:ext cx="179832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350" b="1">
                <a:solidFill>
                  <a:srgbClr val="525252"/>
                </a:solidFill>
                <a:latin typeface="Consolas"/>
                <a:ea typeface="Consolas"/>
                <a:cs typeface="Consolas"/>
              </a:defRPr>
            </a:pPr>
            <a:r>
              <a:rPr sz="1080" b="1" i="0" u="none" cap="none">
                <a:ln>
                  <a:noFill/>
                </a:ln>
                <a:solidFill>
                  <a:srgbClr val="525252"/>
                </a:solidFill>
                <a:latin typeface="Consolas"/>
                <a:ea typeface="Consolas"/>
                <a:cs typeface="Consolas"/>
              </a:rPr>
              <a:t>每轮推理时间</a:t>
            </a:r>
            <a:endParaRPr sz="1080" b="1" i="0" u="none" cap="none">
              <a:ln>
                <a:noFill/>
              </a:ln>
              <a:solidFill>
                <a:srgbClr val="52525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40" name="矩形 39"/>
          <p:cNvSpPr>
            <a:spLocks noGrp="1"/>
          </p:cNvSpPr>
          <p:nvPr/>
        </p:nvSpPr>
        <p:spPr>
          <a:xfrm>
            <a:off x="2667000" y="3566160"/>
            <a:ext cx="1371600" cy="5181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41" name="矩形 40"/>
          <p:cNvSpPr>
            <a:spLocks noGrp="1"/>
          </p:cNvSpPr>
          <p:nvPr/>
        </p:nvSpPr>
        <p:spPr>
          <a:xfrm>
            <a:off x="2758440" y="3596640"/>
            <a:ext cx="118872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350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0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25–58 s</a:t>
            </a:r>
            <a:endParaRPr sz="1080" b="0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2" name="矩形 41"/>
          <p:cNvSpPr>
            <a:spLocks noGrp="1"/>
          </p:cNvSpPr>
          <p:nvPr/>
        </p:nvSpPr>
        <p:spPr>
          <a:xfrm>
            <a:off x="4038600" y="3566160"/>
            <a:ext cx="1371600" cy="5181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43" name="矩形 42"/>
          <p:cNvSpPr>
            <a:spLocks noGrp="1"/>
          </p:cNvSpPr>
          <p:nvPr/>
        </p:nvSpPr>
        <p:spPr>
          <a:xfrm>
            <a:off x="4130040" y="3596640"/>
            <a:ext cx="118872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350" b="1">
                <a:solidFill>
                  <a:srgbClr val="2E7D32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 i="0" u="none" cap="none">
                <a:ln>
                  <a:noFill/>
                </a:ln>
                <a:solidFill>
                  <a:srgbClr val="2E7D32"/>
                </a:solidFill>
                <a:latin typeface="微软雅黑"/>
                <a:ea typeface="微软雅黑"/>
                <a:cs typeface="微软雅黑"/>
              </a:rPr>
              <a:t>≈2 s</a:t>
            </a:r>
            <a:endParaRPr sz="1080" b="1" i="0" u="none" cap="none">
              <a:ln>
                <a:noFill/>
              </a:ln>
              <a:solidFill>
                <a:srgbClr val="2E7D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4" name="矩形 43"/>
          <p:cNvSpPr>
            <a:spLocks noGrp="1"/>
          </p:cNvSpPr>
          <p:nvPr/>
        </p:nvSpPr>
        <p:spPr>
          <a:xfrm>
            <a:off x="5410200" y="3566160"/>
            <a:ext cx="2971800" cy="5181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45" name="矩形 44"/>
          <p:cNvSpPr>
            <a:spLocks noGrp="1"/>
          </p:cNvSpPr>
          <p:nvPr/>
        </p:nvSpPr>
        <p:spPr>
          <a:xfrm>
            <a:off x="5501640" y="3596640"/>
            <a:ext cx="278892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350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0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输出从冗长变得简洁</a:t>
            </a:r>
            <a:endParaRPr sz="1080" b="0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4" name="矩形: 圆角 53"/>
          <p:cNvSpPr>
            <a:spLocks noGrp="1"/>
          </p:cNvSpPr>
          <p:nvPr/>
        </p:nvSpPr>
        <p:spPr>
          <a:xfrm>
            <a:off x="8839200" y="1447800"/>
            <a:ext cx="2514600" cy="1790700"/>
          </a:xfrm>
          <a:prstGeom prst="roundRect">
            <a:avLst>
              <a:gd name="adj" fmla="val 2553"/>
            </a:avLst>
          </a:prstGeom>
          <a:solidFill>
            <a:srgbClr val="EDF7EC"/>
          </a:solidFill>
          <a:ln w="9525">
            <a:solidFill>
              <a:srgbClr val="43A047"/>
            </a:solidFill>
            <a:prstDash val="solid"/>
          </a:ln>
        </p:spPr>
      </p:sp>
      <p:sp>
        <p:nvSpPr>
          <p:cNvPr id="55" name="矩形 54"/>
          <p:cNvSpPr>
            <a:spLocks noGrp="1"/>
          </p:cNvSpPr>
          <p:nvPr/>
        </p:nvSpPr>
        <p:spPr>
          <a:xfrm>
            <a:off x="9105900" y="1676400"/>
            <a:ext cx="19812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025" b="1">
                <a:solidFill>
                  <a:srgbClr val="2E7D32"/>
                </a:solidFill>
                <a:latin typeface="微软雅黑"/>
                <a:ea typeface="微软雅黑"/>
                <a:cs typeface="微软雅黑"/>
              </a:defRPr>
            </a:pPr>
            <a:r>
              <a:rPr sz="1620" b="1" i="0" u="none" cap="none">
                <a:ln>
                  <a:noFill/>
                </a:ln>
                <a:solidFill>
                  <a:srgbClr val="2E7D32"/>
                </a:solidFill>
                <a:latin typeface="微软雅黑"/>
                <a:ea typeface="微软雅黑"/>
                <a:cs typeface="微软雅黑"/>
              </a:rPr>
              <a:t>SFT 做到了</a:t>
            </a:r>
            <a:endParaRPr sz="1620" b="1" i="0" u="none" cap="none">
              <a:ln>
                <a:noFill/>
              </a:ln>
              <a:solidFill>
                <a:srgbClr val="2E7D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6" name="矩形 55"/>
          <p:cNvSpPr>
            <a:spLocks noGrp="1"/>
          </p:cNvSpPr>
          <p:nvPr/>
        </p:nvSpPr>
        <p:spPr>
          <a:xfrm>
            <a:off x="9144000" y="2171700"/>
            <a:ext cx="19050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l" defTabSz="91440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575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260" b="1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✓ 格式对齐</a:t>
            </a:r>
            <a:endParaRPr sz="1260" b="1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  <a:p>
            <a:pPr marL="0" marR="0" indent="0" algn="l" defTabSz="91440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575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260" b="1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✓ 稳定多轮对话</a:t>
            </a:r>
            <a:endParaRPr sz="1260" b="1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  <a:p>
            <a:pPr marL="0" marR="0" indent="0" algn="l" defTabSz="91440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575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260" b="1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✓ 理解 G / Y / X 反馈</a:t>
            </a:r>
            <a:endParaRPr sz="1260" b="1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7" name="矩形: 圆角 56"/>
          <p:cNvSpPr>
            <a:spLocks noGrp="1"/>
          </p:cNvSpPr>
          <p:nvPr/>
        </p:nvSpPr>
        <p:spPr>
          <a:xfrm>
            <a:off x="8839200" y="3543300"/>
            <a:ext cx="2514600" cy="1447800"/>
          </a:xfrm>
          <a:prstGeom prst="roundRect">
            <a:avLst>
              <a:gd name="adj" fmla="val 3158"/>
            </a:avLst>
          </a:prstGeom>
          <a:solidFill>
            <a:srgbClr val="FFF1F2"/>
          </a:solidFill>
          <a:ln w="9525">
            <a:solidFill>
              <a:srgbClr val="E60012"/>
            </a:solidFill>
            <a:prstDash val="solid"/>
          </a:ln>
        </p:spPr>
      </p:sp>
      <p:sp>
        <p:nvSpPr>
          <p:cNvPr id="58" name="矩形 57"/>
          <p:cNvSpPr>
            <a:spLocks noGrp="1"/>
          </p:cNvSpPr>
          <p:nvPr/>
        </p:nvSpPr>
        <p:spPr>
          <a:xfrm>
            <a:off x="9105900" y="3771900"/>
            <a:ext cx="19812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02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620" b="1" i="0" u="none" cap="none">
                <a:ln>
                  <a:noFill/>
                </a:ln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RL 接着解决</a:t>
            </a:r>
            <a:endParaRPr sz="1620" b="1" i="0" u="none" cap="none">
              <a:ln>
                <a:noFill/>
              </a:ln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9" name="矩形 58"/>
          <p:cNvSpPr>
            <a:spLocks noGrp="1"/>
          </p:cNvSpPr>
          <p:nvPr/>
        </p:nvSpPr>
        <p:spPr>
          <a:xfrm>
            <a:off x="9144000" y="4229100"/>
            <a:ext cx="1905000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3479" lnSpcReduction="10000"/>
          </a:bodyPr>
          <a:lstStyle/>
          <a:p>
            <a:pPr marL="0" marR="0" indent="0" algn="ctr" defTabSz="9144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575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260" b="1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系统排除错误字母</a:t>
            </a:r>
            <a:endParaRPr sz="1260" b="1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  <a:p>
            <a:pPr marL="0" marR="0" indent="0" algn="ctr" defTabSz="9144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575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260" b="1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固定绿色位置</a:t>
            </a:r>
            <a:endParaRPr sz="1260" b="1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  <a:p>
            <a:pPr marL="0" marR="0" indent="0" algn="ctr" defTabSz="9144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575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260" b="1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用更少轮数猜中</a:t>
            </a:r>
            <a:endParaRPr sz="1260" b="1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0" name="矩形: 圆角 59"/>
          <p:cNvSpPr>
            <a:spLocks noGrp="1"/>
          </p:cNvSpPr>
          <p:nvPr/>
        </p:nvSpPr>
        <p:spPr>
          <a:xfrm>
            <a:off x="1371600" y="5372100"/>
            <a:ext cx="9448800" cy="518160"/>
          </a:xfrm>
          <a:prstGeom prst="roundRect">
            <a:avLst>
              <a:gd name="adj" fmla="val 8824"/>
            </a:avLst>
          </a:prstGeom>
          <a:solidFill>
            <a:srgbClr val="FFF1F2"/>
          </a:solidFill>
          <a:ln w="9525">
            <a:solidFill>
              <a:srgbClr val="E60012"/>
            </a:solidFill>
            <a:prstDash val="solid"/>
          </a:ln>
        </p:spPr>
      </p:sp>
      <p:sp>
        <p:nvSpPr>
          <p:cNvPr id="61" name="矩形 60"/>
          <p:cNvSpPr>
            <a:spLocks noGrp="1"/>
          </p:cNvSpPr>
          <p:nvPr/>
        </p:nvSpPr>
        <p:spPr>
          <a:xfrm>
            <a:off x="1676400" y="5372100"/>
            <a:ext cx="8839200" cy="5181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02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620" b="1" i="0" u="none" cap="none">
                <a:ln>
                  <a:noFill/>
                </a:ln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结论：SFT 先让模型成为“合格玩家”，RL 再让它成为“高水平玩家”。</a:t>
            </a:r>
            <a:endParaRPr sz="1620" b="1" i="0" u="none" cap="none">
              <a:ln>
                <a:noFill/>
              </a:ln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0" name="矩形 9"/>
          <p:cNvSpPr>
            <a:spLocks noGrp="1"/>
          </p:cNvSpPr>
          <p:nvPr/>
        </p:nvSpPr>
        <p:spPr>
          <a:xfrm>
            <a:off x="547073" y="2601035"/>
            <a:ext cx="3380868" cy="835742"/>
          </a:xfrm>
          <a:prstGeom prst="rect">
            <a:avLst/>
          </a:prstGeom>
          <a:solidFill>
            <a:srgbClr val="FFFFFF"/>
          </a:solidFill>
          <a:ln w="12700" cmpd="sng">
            <a:noFill/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400" b="0" i="0" u="none" cap="none">
                <a:ln>
                  <a:noFill/>
                </a:ln>
                <a:solidFill>
                  <a:srgbClr val="DDDDDD">
                    <a:lumMod val="50000"/>
                  </a:srgbClr>
                </a:solidFill>
                <a:latin typeface="微软雅黑"/>
                <a:ea typeface="微软雅黑"/>
                <a:cs typeface="微软雅黑"/>
              </a:rPr>
              <a:t>SFT监督微调</a:t>
            </a:r>
            <a:endParaRPr sz="4400" b="0" i="0" u="none" cap="none">
              <a:ln>
                <a:noFill/>
              </a:ln>
              <a:solidFill>
                <a:srgbClr val="DDDDDD">
                  <a:lumMod val="50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í$ľidè"/>
          <p:cNvSpPr>
            <a:spLocks noGrp="1"/>
          </p:cNvSpPr>
          <p:nvPr/>
        </p:nvSpPr>
        <p:spPr>
          <a:xfrm>
            <a:off x="3956272" y="1890392"/>
            <a:ext cx="0" cy="2769071"/>
          </a:xfrm>
          <a:prstGeom prst="line">
            <a:avLst/>
          </a:prstGeom>
          <a:solidFill>
            <a:srgbClr val="FFCC00"/>
          </a:solidFill>
          <a:ln w="12700"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none" w="med" len="med"/>
          </a:ln>
        </p:spPr>
      </p:sp>
      <p:pic>
        <p:nvPicPr>
          <p:cNvPr id="21" name="图片 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37202" y="6042990"/>
            <a:ext cx="1312676" cy="348426"/>
          </a:xfrm>
          <a:prstGeom prst="rect">
            <a:avLst/>
          </a:prstGeom>
        </p:spPr>
      </p:pic>
      <p:sp>
        <p:nvSpPr>
          <p:cNvPr id="17" name="文本框 16"/>
          <p:cNvSpPr>
            <a:spLocks noGrp="1"/>
          </p:cNvSpPr>
          <p:nvPr/>
        </p:nvSpPr>
        <p:spPr>
          <a:xfrm>
            <a:off x="620201" y="6130454"/>
            <a:ext cx="8763000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u="none" cap="none">
                <a:ln>
                  <a:noFill/>
                </a:ln>
                <a:solidFill>
                  <a:prstClr val="white">
                    <a:lumMod val="50000"/>
                  </a:prstClr>
                </a:solidFill>
                <a:latin typeface="等线 Light"/>
                <a:ea typeface="等线 Light"/>
                <a:cs typeface="等线 Light"/>
                <a:hlinkClick r:id="rId2"/>
              </a:rPr>
              <a:t>https://gitcode.com/cann/cann-learning-hub/tree/test/tutorials/sft_training_pipeline/04_fused_operators</a:t>
            </a:r>
            <a:endParaRPr sz="1000" b="0" i="0" u="none" cap="none">
              <a:ln>
                <a:noFill/>
              </a:ln>
              <a:solidFill>
                <a:prstClr val="white">
                  <a:lumMod val="50000"/>
                </a:prstClr>
              </a:solidFill>
              <a:latin typeface="等线 Light"/>
              <a:ea typeface="等线 Light"/>
              <a:cs typeface="等线 Light"/>
              <a:hlinkClick r:id="rId2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5157694" y="1530876"/>
            <a:ext cx="4587547" cy="596075"/>
          </a:xfrm>
          <a:prstGeom prst="rect">
            <a:avLst/>
          </a:prstGeom>
          <a:solidFill>
            <a:srgbClr val="F2F2F2"/>
          </a:solidFill>
          <a:ln w="9525" cmpd="sng">
            <a:solidFill>
              <a:srgbClr val="FFFFFF">
                <a:lumMod val="65000"/>
              </a:srgbClr>
            </a:solidFill>
            <a:prstDash val="solid"/>
          </a:ln>
        </p:spPr>
        <p:txBody>
          <a:bodyPr rot="0" spcFirstLastPara="0" vert="horz" wrap="square" lIns="91440" tIns="45720" rIns="91440" bIns="45720" anchor="ctr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0" i="0" u="none" cap="none">
                <a:ln>
                  <a:noFill/>
                </a:ln>
                <a:solidFill>
                  <a:srgbClr val="BFBFBF"/>
                </a:solidFill>
                <a:latin typeface="微软雅黑"/>
                <a:ea typeface="微软雅黑"/>
                <a:cs typeface="微软雅黑"/>
              </a:rPr>
              <a:t>Part 1 SFT概念与Wordle任务</a:t>
            </a:r>
            <a:endParaRPr sz="2400" b="0" i="0" u="none" cap="none">
              <a:ln>
                <a:noFill/>
              </a:ln>
              <a:solidFill>
                <a:srgbClr val="BFBFB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5157694" y="2680975"/>
            <a:ext cx="4587549" cy="591795"/>
          </a:xfrm>
          <a:prstGeom prst="rect">
            <a:avLst/>
          </a:prstGeom>
          <a:solidFill>
            <a:srgbClr val="FFFFFF">
              <a:lumMod val="95000"/>
            </a:srgbClr>
          </a:solidFill>
          <a:ln w="9525" cmpd="sng">
            <a:solidFill>
              <a:srgbClr val="FFFFFF">
                <a:lumMod val="65000"/>
              </a:srgbClr>
            </a:solidFill>
            <a:prstDash val="solid"/>
          </a:ln>
        </p:spPr>
        <p:txBody>
          <a:bodyPr rot="0" spcFirstLastPara="0" vert="horz" wrap="square" lIns="91440" tIns="45720" rIns="91440" bIns="45720" anchor="ctr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0" i="0" u="none" cap="none">
                <a:ln>
                  <a:noFill/>
                </a:ln>
                <a:solidFill>
                  <a:srgbClr val="FFFFFF">
                    <a:lumMod val="75000"/>
                  </a:srgbClr>
                </a:solidFill>
                <a:latin typeface="微软雅黑"/>
                <a:ea typeface="微软雅黑"/>
                <a:cs typeface="微软雅黑"/>
              </a:rPr>
              <a:t>Part 2 TorchTian框架概述</a:t>
            </a:r>
            <a:endParaRPr sz="2400" b="0" i="0" u="none" cap="none">
              <a:ln>
                <a:noFill/>
              </a:ln>
              <a:solidFill>
                <a:srgbClr val="FFFFFF">
                  <a:lumMod val="75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5157694" y="3712434"/>
            <a:ext cx="4587551" cy="587513"/>
          </a:xfrm>
          <a:prstGeom prst="rect">
            <a:avLst/>
          </a:prstGeom>
          <a:solidFill>
            <a:srgbClr val="F2F2F2"/>
          </a:solidFill>
          <a:ln w="9525" cmpd="sng">
            <a:solidFill>
              <a:srgbClr val="FFFFFF">
                <a:lumMod val="65000"/>
              </a:srgbClr>
            </a:solidFill>
            <a:prstDash val="solid"/>
          </a:ln>
        </p:spPr>
        <p:txBody>
          <a:bodyPr rot="0" spcFirstLastPara="0" vert="horz" wrap="square" lIns="91440" tIns="45720" rIns="91440" bIns="45720" anchor="ctr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0" i="0" u="none" cap="none">
                <a:ln>
                  <a:noFill/>
                </a:ln>
                <a:solidFill>
                  <a:srgbClr val="C2C2C2"/>
                </a:solidFill>
                <a:latin typeface="微软雅黑"/>
                <a:ea typeface="微软雅黑"/>
                <a:cs typeface="微软雅黑"/>
              </a:rPr>
              <a:t>Part 3 数据准备与基线训练</a:t>
            </a:r>
            <a:endParaRPr sz="2400" b="0" i="0" u="none" cap="none">
              <a:ln>
                <a:noFill/>
              </a:ln>
              <a:solidFill>
                <a:srgbClr val="C2C2C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5157694" y="4739611"/>
            <a:ext cx="4587553" cy="587513"/>
          </a:xfrm>
          <a:prstGeom prst="rect">
            <a:avLst/>
          </a:prstGeom>
          <a:solidFill>
            <a:srgbClr val="C00000"/>
          </a:solidFill>
          <a:ln w="9525" cmpd="sng">
            <a:solidFill>
              <a:srgbClr val="FFFFFF">
                <a:lumMod val="65000"/>
              </a:srgbClr>
            </a:solidFill>
            <a:prstDash val="solid"/>
          </a:ln>
        </p:spPr>
        <p:txBody>
          <a:bodyPr rot="0" spcFirstLastPara="0" vert="horz" wrap="square" lIns="91440" tIns="45720" rIns="91440" bIns="45720" anchor="ctr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0" i="0" u="none" cap="none">
                <a:ln>
                  <a:noFill/>
                </a:ln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Part 4 融合算子优化与Profiling</a:t>
            </a:r>
            <a:endParaRPr sz="2400" b="0" i="0" u="none" cap="none">
              <a:ln>
                <a:noFill/>
              </a:ln>
              <a:solidFill>
                <a:schemeClr val="bg1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1" name="图片 3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矩形 1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slide-title"/>
          <p:cNvSpPr>
            <a:spLocks noGrp="1"/>
          </p:cNvSpPr>
          <p:nvPr/>
        </p:nvSpPr>
        <p:spPr>
          <a:xfrm>
            <a:off x="609600" y="320040"/>
            <a:ext cx="944880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3300" b="0">
                <a:solidFill>
                  <a:srgbClr val="111111"/>
                </a:solidFill>
                <a:latin typeface="微软雅黑"/>
                <a:ea typeface="微软雅黑"/>
                <a:cs typeface="微软雅黑"/>
              </a:defRPr>
            </a:pPr>
            <a:r>
              <a:rPr sz="2640">
                <a:solidFill>
                  <a:srgbClr val="111111"/>
                </a:solidFill>
                <a:latin typeface="微软雅黑"/>
                <a:ea typeface="微软雅黑"/>
                <a:cs typeface="微软雅黑"/>
              </a:rPr>
              <a:t>融合算子优化与</a:t>
            </a:r>
            <a:r>
              <a:rPr sz="2640">
                <a:solidFill>
                  <a:srgbClr val="111111"/>
                </a:solidFill>
                <a:latin typeface="微软雅黑"/>
                <a:ea typeface="微软雅黑"/>
                <a:cs typeface="微软雅黑"/>
              </a:rPr>
              <a:t> Profiling</a:t>
            </a:r>
            <a:endParaRPr sz="2640">
              <a:solidFill>
                <a:srgbClr val="11111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85800" y="1104900"/>
            <a:ext cx="54864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232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86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模型已经会训练，下一步让硬件少等待</a:t>
            </a:r>
            <a:endParaRPr sz="186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: 圆角 5"/>
          <p:cNvSpPr>
            <a:spLocks noGrp="1"/>
          </p:cNvSpPr>
          <p:nvPr/>
        </p:nvSpPr>
        <p:spPr>
          <a:xfrm>
            <a:off x="685800" y="1714500"/>
            <a:ext cx="1638300" cy="1143000"/>
          </a:xfrm>
          <a:prstGeom prst="roundRect">
            <a:avLst>
              <a:gd name="adj" fmla="val 4000"/>
            </a:avLst>
          </a:prstGeom>
          <a:solidFill>
            <a:srgbClr val="EEF4FF"/>
          </a:solidFill>
          <a:ln w="9525">
            <a:solidFill>
              <a:srgbClr val="377DFF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838200" y="1866900"/>
            <a:ext cx="1333500" cy="4419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315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defRPr>
            </a:pPr>
            <a:r>
              <a:rPr sz="252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rPr>
              <a:t>5,600</a:t>
            </a:r>
            <a:endParaRPr sz="2520" b="1">
              <a:solidFill>
                <a:srgbClr val="377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838200" y="2339340"/>
            <a:ext cx="1333500" cy="213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666666"/>
                </a:solidFill>
                <a:latin typeface="Arial" panose="020B0604020202090204"/>
                <a:ea typeface="Arial" panose="020B0604020202090204"/>
                <a:cs typeface="Arial" panose="020B0604020202090204"/>
              </a:defRPr>
            </a:pPr>
            <a:r>
              <a:rPr sz="960" b="1">
                <a:solidFill>
                  <a:srgbClr val="666666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tokens/s</a:t>
            </a:r>
            <a:endParaRPr sz="960" b="1">
              <a:solidFill>
                <a:srgbClr val="666666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838200" y="2590800"/>
            <a:ext cx="1333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27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2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基线吞吐</a:t>
            </a:r>
            <a:endParaRPr sz="102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矩形: 圆角 9"/>
          <p:cNvSpPr>
            <a:spLocks noGrp="1"/>
          </p:cNvSpPr>
          <p:nvPr/>
        </p:nvSpPr>
        <p:spPr>
          <a:xfrm>
            <a:off x="2552700" y="1714500"/>
            <a:ext cx="1638300" cy="1143000"/>
          </a:xfrm>
          <a:prstGeom prst="roundRect">
            <a:avLst>
              <a:gd name="adj" fmla="val 4000"/>
            </a:avLst>
          </a:prstGeom>
          <a:solidFill>
            <a:srgbClr val="FFF3E5"/>
          </a:solidFill>
          <a:ln w="9525">
            <a:solidFill>
              <a:srgbClr val="F57C00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2705100" y="1866900"/>
            <a:ext cx="1333500" cy="4419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3150" b="1">
                <a:solidFill>
                  <a:srgbClr val="F57C00"/>
                </a:solidFill>
                <a:latin typeface="微软雅黑"/>
                <a:ea typeface="微软雅黑"/>
                <a:cs typeface="微软雅黑"/>
              </a:defRPr>
            </a:pPr>
            <a:r>
              <a:rPr sz="2520" b="1">
                <a:solidFill>
                  <a:srgbClr val="F57C00"/>
                </a:solidFill>
                <a:latin typeface="微软雅黑"/>
                <a:ea typeface="微软雅黑"/>
                <a:cs typeface="微软雅黑"/>
              </a:rPr>
              <a:t>16.5%</a:t>
            </a:r>
            <a:endParaRPr sz="2520" b="1">
              <a:solidFill>
                <a:srgbClr val="F57C0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2705100" y="2339340"/>
            <a:ext cx="1333500" cy="213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666666"/>
                </a:solidFill>
                <a:latin typeface="Arial" panose="020B0604020202090204"/>
                <a:ea typeface="Arial" panose="020B0604020202090204"/>
                <a:cs typeface="Arial" panose="020B0604020202090204"/>
              </a:defRPr>
            </a:pPr>
            <a:r>
              <a:rPr sz="960" b="1">
                <a:solidFill>
                  <a:srgbClr val="666666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MFU</a:t>
            </a:r>
            <a:endParaRPr sz="960" b="1">
              <a:solidFill>
                <a:srgbClr val="666666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2705100" y="2590800"/>
            <a:ext cx="1333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27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2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计算利用率偏低</a:t>
            </a:r>
            <a:endParaRPr sz="102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矩形: 圆角 13"/>
          <p:cNvSpPr>
            <a:spLocks noGrp="1"/>
          </p:cNvSpPr>
          <p:nvPr/>
        </p:nvSpPr>
        <p:spPr>
          <a:xfrm>
            <a:off x="4419600" y="1714500"/>
            <a:ext cx="1638300" cy="1143000"/>
          </a:xfrm>
          <a:prstGeom prst="roundRect">
            <a:avLst>
              <a:gd name="adj" fmla="val 4000"/>
            </a:avLst>
          </a:prstGeom>
          <a:solidFill>
            <a:srgbClr val="FFF1F2"/>
          </a:solidFill>
          <a:ln w="9525">
            <a:solidFill>
              <a:srgbClr val="E60012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4572000" y="1866900"/>
            <a:ext cx="1333500" cy="4419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315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252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2.89</a:t>
            </a:r>
            <a:endParaRPr sz="2520" b="1"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4572000" y="2339340"/>
            <a:ext cx="1333500" cy="213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666666"/>
                </a:solidFill>
                <a:latin typeface="Arial" panose="020B0604020202090204"/>
                <a:ea typeface="Arial" panose="020B0604020202090204"/>
                <a:cs typeface="Arial" panose="020B0604020202090204"/>
              </a:defRPr>
            </a:pPr>
            <a:r>
              <a:rPr sz="960" b="1">
                <a:solidFill>
                  <a:srgbClr val="666666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Memory / Compute</a:t>
            </a:r>
            <a:endParaRPr sz="960" b="1">
              <a:solidFill>
                <a:srgbClr val="666666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4572000" y="2590800"/>
            <a:ext cx="1333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27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2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整体 memory-bound</a:t>
            </a:r>
            <a:endParaRPr sz="102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8" name="矩形: 圆角 17"/>
          <p:cNvSpPr>
            <a:spLocks noGrp="1"/>
          </p:cNvSpPr>
          <p:nvPr/>
        </p:nvSpPr>
        <p:spPr>
          <a:xfrm>
            <a:off x="685800" y="3200400"/>
            <a:ext cx="5372100" cy="1676400"/>
          </a:xfrm>
          <a:prstGeom prst="roundRect">
            <a:avLst>
              <a:gd name="adj" fmla="val 2727"/>
            </a:avLst>
          </a:prstGeom>
          <a:solidFill>
            <a:srgbClr val="F5F5F5"/>
          </a:solidFill>
          <a:ln w="9525">
            <a:solidFill>
              <a:srgbClr val="D4D4D4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952500" y="3429000"/>
            <a:ext cx="4838700" cy="335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21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68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RMSNorm 的碎片化开销</a:t>
            </a:r>
            <a:endParaRPr sz="168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1028700" y="3962400"/>
            <a:ext cx="4686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875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28 层 × 2 个 RMSNorm = 56 个实例</a:t>
            </a:r>
            <a:endParaRPr sz="150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952500" y="4381500"/>
            <a:ext cx="4838700" cy="335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202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62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56 × 6 个 kernel = 336 次微小发射 / step</a:t>
            </a:r>
            <a:endParaRPr sz="1620" b="1"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6705600" y="1104900"/>
            <a:ext cx="38100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232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86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本章优化路径</a:t>
            </a:r>
            <a:endParaRPr sz="186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6705600" y="1676400"/>
            <a:ext cx="533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95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56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01</a:t>
            </a:r>
            <a:endParaRPr sz="1560" b="1"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7391400" y="1676400"/>
            <a:ext cx="266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识别瓶颈</a:t>
            </a:r>
            <a:endParaRPr sz="150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7391400" y="2042160"/>
            <a:ext cx="34290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0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kernel 碎片与 HBM 往返</a:t>
            </a:r>
            <a:endParaRPr sz="1200"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7391400" y="2423160"/>
            <a:ext cx="3352800" cy="7620"/>
          </a:xfrm>
          <a:prstGeom prst="rect">
            <a:avLst/>
          </a:prstGeom>
          <a:solidFill>
            <a:srgbClr val="E5E5E5"/>
          </a:solidFill>
          <a:ln w="0">
            <a:noFill/>
            <a:prstDash val="solid"/>
          </a:ln>
        </p:spPr>
      </p:sp>
      <p:sp>
        <p:nvSpPr>
          <p:cNvPr id="27" name="矩形 26"/>
          <p:cNvSpPr>
            <a:spLocks noGrp="1"/>
          </p:cNvSpPr>
          <p:nvPr/>
        </p:nvSpPr>
        <p:spPr>
          <a:xfrm>
            <a:off x="6705600" y="2552700"/>
            <a:ext cx="533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950" b="1">
                <a:solidFill>
                  <a:srgbClr val="F57C00"/>
                </a:solidFill>
                <a:latin typeface="微软雅黑"/>
                <a:ea typeface="微软雅黑"/>
                <a:cs typeface="微软雅黑"/>
              </a:defRPr>
            </a:pPr>
            <a:r>
              <a:rPr sz="1560" b="1">
                <a:solidFill>
                  <a:srgbClr val="F57C00"/>
                </a:solidFill>
                <a:latin typeface="微软雅黑"/>
                <a:ea typeface="微软雅黑"/>
                <a:cs typeface="微软雅黑"/>
              </a:rPr>
              <a:t>02</a:t>
            </a:r>
            <a:endParaRPr sz="1560" b="1">
              <a:solidFill>
                <a:srgbClr val="F57C0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7391400" y="2552700"/>
            <a:ext cx="266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接入融合算子</a:t>
            </a:r>
            <a:endParaRPr sz="150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7391400" y="2918460"/>
            <a:ext cx="34290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0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6 次发射合并为 1 次</a:t>
            </a:r>
            <a:endParaRPr sz="1200"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7391400" y="3299460"/>
            <a:ext cx="3352800" cy="7620"/>
          </a:xfrm>
          <a:prstGeom prst="rect">
            <a:avLst/>
          </a:prstGeom>
          <a:solidFill>
            <a:srgbClr val="E5E5E5"/>
          </a:solidFill>
          <a:ln w="0">
            <a:noFill/>
            <a:prstDash val="solid"/>
          </a:ln>
        </p:spPr>
      </p:sp>
      <p:sp>
        <p:nvSpPr>
          <p:cNvPr id="31" name="矩形 30"/>
          <p:cNvSpPr>
            <a:spLocks noGrp="1"/>
          </p:cNvSpPr>
          <p:nvPr/>
        </p:nvSpPr>
        <p:spPr>
          <a:xfrm>
            <a:off x="6705600" y="3429000"/>
            <a:ext cx="533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95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defRPr>
            </a:pPr>
            <a:r>
              <a:rPr sz="156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rPr>
              <a:t>03</a:t>
            </a:r>
            <a:endParaRPr sz="1560" b="1">
              <a:solidFill>
                <a:srgbClr val="377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2" name="矩形 31"/>
          <p:cNvSpPr>
            <a:spLocks noGrp="1"/>
          </p:cNvSpPr>
          <p:nvPr/>
        </p:nvSpPr>
        <p:spPr>
          <a:xfrm>
            <a:off x="7391400" y="3429000"/>
            <a:ext cx="266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运行 Profiling</a:t>
            </a:r>
            <a:endParaRPr sz="150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3" name="矩形 32"/>
          <p:cNvSpPr>
            <a:spLocks noGrp="1"/>
          </p:cNvSpPr>
          <p:nvPr/>
        </p:nvSpPr>
        <p:spPr>
          <a:xfrm>
            <a:off x="7391400" y="3794760"/>
            <a:ext cx="34290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0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baseline 与 fused 控制变量</a:t>
            </a:r>
            <a:endParaRPr sz="1200"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4" name="矩形 33"/>
          <p:cNvSpPr>
            <a:spLocks noGrp="1"/>
          </p:cNvSpPr>
          <p:nvPr/>
        </p:nvSpPr>
        <p:spPr>
          <a:xfrm>
            <a:off x="7391400" y="4175760"/>
            <a:ext cx="3352800" cy="7620"/>
          </a:xfrm>
          <a:prstGeom prst="rect">
            <a:avLst/>
          </a:prstGeom>
          <a:solidFill>
            <a:srgbClr val="E5E5E5"/>
          </a:solidFill>
          <a:ln w="0">
            <a:noFill/>
            <a:prstDash val="solid"/>
          </a:ln>
        </p:spPr>
      </p:sp>
      <p:sp>
        <p:nvSpPr>
          <p:cNvPr id="35" name="矩形 34"/>
          <p:cNvSpPr>
            <a:spLocks noGrp="1"/>
          </p:cNvSpPr>
          <p:nvPr/>
        </p:nvSpPr>
        <p:spPr>
          <a:xfrm>
            <a:off x="6705600" y="4305300"/>
            <a:ext cx="533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950" b="1">
                <a:solidFill>
                  <a:srgbClr val="43A047"/>
                </a:solidFill>
                <a:latin typeface="微软雅黑"/>
                <a:ea typeface="微软雅黑"/>
                <a:cs typeface="微软雅黑"/>
              </a:defRPr>
            </a:pPr>
            <a:r>
              <a:rPr sz="1560" b="1">
                <a:solidFill>
                  <a:srgbClr val="43A047"/>
                </a:solidFill>
                <a:latin typeface="微软雅黑"/>
                <a:ea typeface="微软雅黑"/>
                <a:cs typeface="微软雅黑"/>
              </a:rPr>
              <a:t>04</a:t>
            </a:r>
            <a:endParaRPr sz="1560" b="1">
              <a:solidFill>
                <a:srgbClr val="43A04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6" name="矩形 35"/>
          <p:cNvSpPr>
            <a:spLocks noGrp="1"/>
          </p:cNvSpPr>
          <p:nvPr/>
        </p:nvSpPr>
        <p:spPr>
          <a:xfrm>
            <a:off x="7391400" y="4305300"/>
            <a:ext cx="266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解释收益</a:t>
            </a:r>
            <a:endParaRPr sz="150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7" name="矩形 36"/>
          <p:cNvSpPr>
            <a:spLocks noGrp="1"/>
          </p:cNvSpPr>
          <p:nvPr/>
        </p:nvSpPr>
        <p:spPr>
          <a:xfrm>
            <a:off x="7391400" y="4671060"/>
            <a:ext cx="34290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0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用 trace 验证效果与边界</a:t>
            </a:r>
            <a:endParaRPr sz="1200"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8" name="矩形: 圆角 37"/>
          <p:cNvSpPr>
            <a:spLocks noGrp="1"/>
          </p:cNvSpPr>
          <p:nvPr/>
        </p:nvSpPr>
        <p:spPr>
          <a:xfrm>
            <a:off x="1828800" y="5257800"/>
            <a:ext cx="8534400" cy="502920"/>
          </a:xfrm>
          <a:prstGeom prst="roundRect">
            <a:avLst>
              <a:gd name="adj" fmla="val 9091"/>
            </a:avLst>
          </a:prstGeom>
          <a:solidFill>
            <a:srgbClr val="FFF1F2"/>
          </a:solidFill>
          <a:ln w="9525">
            <a:solidFill>
              <a:srgbClr val="E60012"/>
            </a:solidFill>
            <a:prstDash val="solid"/>
          </a:ln>
        </p:spPr>
      </p:sp>
      <p:sp>
        <p:nvSpPr>
          <p:cNvPr id="39" name="矩形 38"/>
          <p:cNvSpPr>
            <a:spLocks noGrp="1"/>
          </p:cNvSpPr>
          <p:nvPr/>
        </p:nvSpPr>
        <p:spPr>
          <a:xfrm>
            <a:off x="2133600" y="5257800"/>
            <a:ext cx="792480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202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62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核心目标：减少调度与访存，不改变模型行为。</a:t>
            </a:r>
            <a:endParaRPr sz="1620" b="1"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2" name="图片 2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矩形 1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slide-title"/>
          <p:cNvSpPr>
            <a:spLocks noGrp="1"/>
          </p:cNvSpPr>
          <p:nvPr/>
        </p:nvSpPr>
        <p:spPr>
          <a:xfrm>
            <a:off x="609600" y="320040"/>
            <a:ext cx="944880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3300" b="0">
                <a:solidFill>
                  <a:srgbClr val="111111"/>
                </a:solidFill>
                <a:latin typeface="微软雅黑"/>
                <a:ea typeface="微软雅黑"/>
                <a:cs typeface="微软雅黑"/>
              </a:defRPr>
            </a:pPr>
            <a:r>
              <a:rPr sz="2280">
                <a:sym typeface="+mn-ea"/>
              </a:rPr>
              <a:t>融合算子优化与 Profiling</a:t>
            </a:r>
            <a:endParaRPr sz="2280">
              <a:solidFill>
                <a:srgbClr val="11111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矩形: 圆角 4"/>
          <p:cNvSpPr>
            <a:spLocks noGrp="1"/>
          </p:cNvSpPr>
          <p:nvPr/>
        </p:nvSpPr>
        <p:spPr>
          <a:xfrm>
            <a:off x="685800" y="1257300"/>
            <a:ext cx="5410200" cy="3810000"/>
          </a:xfrm>
          <a:prstGeom prst="roundRect">
            <a:avLst>
              <a:gd name="adj" fmla="val 1200"/>
            </a:avLst>
          </a:prstGeom>
          <a:solidFill>
            <a:srgbClr val="F5F5F5"/>
          </a:solidFill>
          <a:ln w="9525">
            <a:solidFill>
              <a:srgbClr val="D4D4D4"/>
            </a:solidFill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838200" y="1363980"/>
            <a:ext cx="5105400" cy="3596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8000"/>
              </a:lnSpc>
              <a:buNone/>
              <a:defRPr sz="1350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108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class NPURMSNorm(RMSNorm):</a:t>
            </a:r>
            <a:endParaRPr sz="108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350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108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def __init__(self, parent):</a:t>
            </a:r>
            <a:endParaRPr sz="108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350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108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  self.__dict__.update(parent.__dict__)</a:t>
            </a:r>
            <a:endParaRPr sz="108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350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108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  self.eps = _get_eps(parent)</a:t>
            </a:r>
            <a:endParaRPr sz="108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  <a:p>
            <a:endParaRPr sz="1080"/>
          </a:p>
          <a:p>
            <a:pPr algn="l">
              <a:lnSpc>
                <a:spcPct val="118000"/>
              </a:lnSpc>
              <a:buNone/>
              <a:defRPr sz="1350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108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def forward(self, x):</a:t>
            </a:r>
            <a:endParaRPr sz="108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350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108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  resolved_eps = self.eps if self.eps is not None \</a:t>
            </a:r>
            <a:endParaRPr sz="108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350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108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    else torch.finfo(x.dtype).eps</a:t>
            </a:r>
            <a:endParaRPr sz="108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350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108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  return torch_npu.npu_rms_norm(</a:t>
            </a:r>
            <a:endParaRPr sz="108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350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108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    x, self.weight, resolved_eps</a:t>
            </a:r>
            <a:endParaRPr sz="108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350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108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  )[0]</a:t>
            </a:r>
            <a:endParaRPr sz="108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7" name="矩形: 圆角 6"/>
          <p:cNvSpPr>
            <a:spLocks noGrp="1"/>
          </p:cNvSpPr>
          <p:nvPr/>
        </p:nvSpPr>
        <p:spPr>
          <a:xfrm>
            <a:off x="6705600" y="1333500"/>
            <a:ext cx="4267200" cy="1028700"/>
          </a:xfrm>
          <a:prstGeom prst="roundRect">
            <a:avLst>
              <a:gd name="adj" fmla="val 4444"/>
            </a:avLst>
          </a:prstGeom>
          <a:solidFill>
            <a:srgbClr val="EEF4FF"/>
          </a:solidFill>
          <a:ln w="9525">
            <a:solidFill>
              <a:srgbClr val="377DFF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6934200" y="1501140"/>
            <a:ext cx="1143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95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defRPr>
            </a:pPr>
            <a:r>
              <a:rPr sz="156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rPr>
              <a:t>复用参数</a:t>
            </a:r>
            <a:endParaRPr sz="1560" b="1">
              <a:solidFill>
                <a:srgbClr val="377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8115300" y="1501140"/>
            <a:ext cx="25527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8000"/>
              </a:lnSpc>
              <a:buNone/>
              <a:defRPr sz="15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26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共享原模块的 weight Parameter</a:t>
            </a:r>
            <a:endParaRPr sz="126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6934200" y="1943100"/>
            <a:ext cx="3733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14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对优化器与 FSDP 透明</a:t>
            </a:r>
            <a:endParaRPr sz="1140"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矩形: 圆角 10"/>
          <p:cNvSpPr>
            <a:spLocks noGrp="1"/>
          </p:cNvSpPr>
          <p:nvPr/>
        </p:nvSpPr>
        <p:spPr>
          <a:xfrm>
            <a:off x="6705600" y="2628900"/>
            <a:ext cx="4267200" cy="1028700"/>
          </a:xfrm>
          <a:prstGeom prst="roundRect">
            <a:avLst>
              <a:gd name="adj" fmla="val 4444"/>
            </a:avLst>
          </a:prstGeom>
          <a:solidFill>
            <a:srgbClr val="FFF3E5"/>
          </a:solidFill>
          <a:ln w="9525">
            <a:solidFill>
              <a:srgbClr val="F57C00"/>
            </a:solidFill>
            <a:prstDash val="solid"/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6934200" y="2796540"/>
            <a:ext cx="1143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950" b="1">
                <a:solidFill>
                  <a:srgbClr val="F57C00"/>
                </a:solidFill>
                <a:latin typeface="微软雅黑"/>
                <a:ea typeface="微软雅黑"/>
                <a:cs typeface="微软雅黑"/>
              </a:defRPr>
            </a:pPr>
            <a:r>
              <a:rPr sz="1560" b="1">
                <a:solidFill>
                  <a:srgbClr val="F57C00"/>
                </a:solidFill>
                <a:latin typeface="微软雅黑"/>
                <a:ea typeface="微软雅黑"/>
                <a:cs typeface="微软雅黑"/>
              </a:rPr>
              <a:t>兼容 eps</a:t>
            </a:r>
            <a:endParaRPr sz="1560" b="1">
              <a:solidFill>
                <a:srgbClr val="F57C0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8115300" y="2796540"/>
            <a:ext cx="25527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88731"/>
          </a:bodyPr>
          <a:lstStyle/>
          <a:p>
            <a:pPr algn="r">
              <a:lnSpc>
                <a:spcPct val="108000"/>
              </a:lnSpc>
              <a:buNone/>
              <a:defRPr sz="15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26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_get_eps 统一 eps / variance_epsilon</a:t>
            </a:r>
            <a:endParaRPr sz="126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6934200" y="3238500"/>
            <a:ext cx="3733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14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缺省时按输入 dtype 取机器精度</a:t>
            </a:r>
            <a:endParaRPr sz="1140"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矩形: 圆角 14"/>
          <p:cNvSpPr>
            <a:spLocks noGrp="1"/>
          </p:cNvSpPr>
          <p:nvPr/>
        </p:nvSpPr>
        <p:spPr>
          <a:xfrm>
            <a:off x="6705600" y="3924300"/>
            <a:ext cx="4267200" cy="1028700"/>
          </a:xfrm>
          <a:prstGeom prst="roundRect">
            <a:avLst>
              <a:gd name="adj" fmla="val 4444"/>
            </a:avLst>
          </a:prstGeom>
          <a:solidFill>
            <a:srgbClr val="EDF7EC"/>
          </a:solidFill>
          <a:ln w="9525">
            <a:solidFill>
              <a:srgbClr val="43A047"/>
            </a:solidFill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6934200" y="4091940"/>
            <a:ext cx="1143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950" b="1">
                <a:solidFill>
                  <a:srgbClr val="43A047"/>
                </a:solidFill>
                <a:latin typeface="微软雅黑"/>
                <a:ea typeface="微软雅黑"/>
                <a:cs typeface="微软雅黑"/>
              </a:defRPr>
            </a:pPr>
            <a:r>
              <a:rPr sz="1560" b="1">
                <a:solidFill>
                  <a:srgbClr val="43A047"/>
                </a:solidFill>
                <a:latin typeface="微软雅黑"/>
                <a:ea typeface="微软雅黑"/>
                <a:cs typeface="微软雅黑"/>
              </a:rPr>
              <a:t>保持接口</a:t>
            </a:r>
            <a:endParaRPr sz="1560" b="1">
              <a:solidFill>
                <a:srgbClr val="43A04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8115300" y="4091940"/>
            <a:ext cx="25527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8000"/>
              </a:lnSpc>
              <a:buNone/>
              <a:defRPr sz="15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26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输入输出形状和 dtype 不变</a:t>
            </a:r>
            <a:endParaRPr sz="126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6934200" y="4533900"/>
            <a:ext cx="3733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14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[0] 取融合 API 的主输出</a:t>
            </a:r>
            <a:endParaRPr sz="1140"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9" name="矩形: 圆角 18"/>
          <p:cNvSpPr>
            <a:spLocks noGrp="1"/>
          </p:cNvSpPr>
          <p:nvPr/>
        </p:nvSpPr>
        <p:spPr>
          <a:xfrm>
            <a:off x="990600" y="5372100"/>
            <a:ext cx="10058400" cy="487680"/>
          </a:xfrm>
          <a:prstGeom prst="roundRect">
            <a:avLst>
              <a:gd name="adj" fmla="val 9375"/>
            </a:avLst>
          </a:prstGeom>
          <a:solidFill>
            <a:srgbClr val="FFF1F2"/>
          </a:solidFill>
          <a:ln w="9525">
            <a:solidFill>
              <a:srgbClr val="E60012"/>
            </a:solidFill>
            <a:prstDash val="solid"/>
          </a:ln>
        </p:spPr>
      </p:sp>
      <p:sp>
        <p:nvSpPr>
          <p:cNvPr id="20" name="矩形 19"/>
          <p:cNvSpPr>
            <a:spLocks noGrp="1"/>
          </p:cNvSpPr>
          <p:nvPr/>
        </p:nvSpPr>
        <p:spPr>
          <a:xfrm>
            <a:off x="1295400" y="5372100"/>
            <a:ext cx="9448800" cy="4876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87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优化只替换 forward 的执行路径，不复制参数、不改变训练目标。</a:t>
            </a:r>
            <a:endParaRPr sz="1500" b="1"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4" name="图片 1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矩形 1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slide-title"/>
          <p:cNvSpPr>
            <a:spLocks noGrp="1"/>
          </p:cNvSpPr>
          <p:nvPr/>
        </p:nvSpPr>
        <p:spPr>
          <a:xfrm>
            <a:off x="609600" y="320040"/>
            <a:ext cx="944880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3300" b="0">
                <a:solidFill>
                  <a:srgbClr val="111111"/>
                </a:solidFill>
                <a:latin typeface="微软雅黑"/>
                <a:ea typeface="微软雅黑"/>
                <a:cs typeface="微软雅黑"/>
              </a:defRPr>
            </a:pPr>
            <a:r>
              <a:rPr sz="2280">
                <a:sym typeface="+mn-ea"/>
              </a:rPr>
              <a:t>融合算子优化与 Profiling</a:t>
            </a:r>
            <a:endParaRPr sz="2280">
              <a:solidFill>
                <a:srgbClr val="111111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17" name="图片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1135" y="1104900"/>
            <a:ext cx="8389730" cy="4076700"/>
          </a:xfrm>
          <a:prstGeom prst="rect">
            <a:avLst/>
          </a:prstGeom>
        </p:spPr>
      </p:pic>
      <p:sp>
        <p:nvSpPr>
          <p:cNvPr id="6" name="矩形: 圆角 5"/>
          <p:cNvSpPr>
            <a:spLocks noGrp="1"/>
          </p:cNvSpPr>
          <p:nvPr/>
        </p:nvSpPr>
        <p:spPr>
          <a:xfrm>
            <a:off x="685800" y="5257800"/>
            <a:ext cx="3276600" cy="502920"/>
          </a:xfrm>
          <a:prstGeom prst="roundRect">
            <a:avLst>
              <a:gd name="adj" fmla="val 9091"/>
            </a:avLst>
          </a:prstGeom>
          <a:solidFill>
            <a:srgbClr val="F7EFFA"/>
          </a:solidFill>
          <a:ln w="9525">
            <a:solidFill>
              <a:srgbClr val="8E44AD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914400" y="5257800"/>
            <a:ext cx="281940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725" b="1">
                <a:solidFill>
                  <a:srgbClr val="8E44AD"/>
                </a:solidFill>
                <a:latin typeface="微软雅黑"/>
                <a:ea typeface="微软雅黑"/>
                <a:cs typeface="微软雅黑"/>
              </a:defRPr>
            </a:pPr>
            <a:r>
              <a:rPr sz="1380" b="1">
                <a:solidFill>
                  <a:srgbClr val="8E44AD"/>
                </a:solidFill>
                <a:latin typeface="微软雅黑"/>
                <a:ea typeface="微软雅黑"/>
                <a:cs typeface="微软雅黑"/>
              </a:rPr>
              <a:t>注册：名字 → 转换器</a:t>
            </a:r>
            <a:endParaRPr sz="1380" b="1">
              <a:solidFill>
                <a:srgbClr val="8E44A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矩形: 圆角 7"/>
          <p:cNvSpPr>
            <a:spLocks noGrp="1"/>
          </p:cNvSpPr>
          <p:nvPr/>
        </p:nvSpPr>
        <p:spPr>
          <a:xfrm>
            <a:off x="4457700" y="5257800"/>
            <a:ext cx="3276600" cy="502920"/>
          </a:xfrm>
          <a:prstGeom prst="roundRect">
            <a:avLst>
              <a:gd name="adj" fmla="val 9091"/>
            </a:avLst>
          </a:prstGeom>
          <a:solidFill>
            <a:srgbClr val="EEF4FF"/>
          </a:solidFill>
          <a:ln w="9525">
            <a:solidFill>
              <a:srgbClr val="377DFF"/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4686300" y="5257800"/>
            <a:ext cx="281940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725" b="1">
                <a:solidFill>
                  <a:srgbClr val="2057B7"/>
                </a:solidFill>
                <a:latin typeface="微软雅黑"/>
                <a:ea typeface="微软雅黑"/>
                <a:cs typeface="微软雅黑"/>
              </a:defRPr>
            </a:pPr>
            <a:r>
              <a:rPr sz="1380" b="1">
                <a:solidFill>
                  <a:srgbClr val="2057B7"/>
                </a:solidFill>
                <a:latin typeface="微软雅黑"/>
                <a:ea typeface="微软雅黑"/>
                <a:cs typeface="微软雅黑"/>
              </a:rPr>
              <a:t>配置：一行启用</a:t>
            </a:r>
            <a:endParaRPr sz="1380" b="1">
              <a:solidFill>
                <a:srgbClr val="2057B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矩形: 圆角 9"/>
          <p:cNvSpPr>
            <a:spLocks noGrp="1"/>
          </p:cNvSpPr>
          <p:nvPr/>
        </p:nvSpPr>
        <p:spPr>
          <a:xfrm>
            <a:off x="8229600" y="5257800"/>
            <a:ext cx="3276600" cy="502920"/>
          </a:xfrm>
          <a:prstGeom prst="roundRect">
            <a:avLst>
              <a:gd name="adj" fmla="val 9091"/>
            </a:avLst>
          </a:prstGeom>
          <a:solidFill>
            <a:srgbClr val="EDF7EC"/>
          </a:solidFill>
          <a:ln w="9525">
            <a:solidFill>
              <a:srgbClr val="43A047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8458200" y="5257800"/>
            <a:ext cx="281940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725" b="1">
                <a:solidFill>
                  <a:srgbClr val="2E7D32"/>
                </a:solidFill>
                <a:latin typeface="微软雅黑"/>
                <a:ea typeface="微软雅黑"/>
                <a:cs typeface="微软雅黑"/>
              </a:defRPr>
            </a:pPr>
            <a:r>
              <a:rPr sz="1380" b="1">
                <a:solidFill>
                  <a:srgbClr val="2E7D32"/>
                </a:solidFill>
                <a:latin typeface="微软雅黑"/>
                <a:ea typeface="微软雅黑"/>
                <a:cs typeface="微软雅黑"/>
              </a:rPr>
              <a:t>启动：遍历、匹配、替换</a:t>
            </a:r>
            <a:endParaRPr sz="1380" b="1">
              <a:solidFill>
                <a:srgbClr val="2E7D32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5" name="图片 2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矩形 1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slide-title"/>
          <p:cNvSpPr>
            <a:spLocks noGrp="1"/>
          </p:cNvSpPr>
          <p:nvPr/>
        </p:nvSpPr>
        <p:spPr>
          <a:xfrm>
            <a:off x="609600" y="320040"/>
            <a:ext cx="944880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3300" b="0">
                <a:solidFill>
                  <a:srgbClr val="111111"/>
                </a:solidFill>
                <a:latin typeface="微软雅黑"/>
                <a:ea typeface="微软雅黑"/>
                <a:cs typeface="微软雅黑"/>
              </a:defRPr>
            </a:pPr>
            <a:r>
              <a:rPr sz="2280">
                <a:sym typeface="+mn-ea"/>
              </a:rPr>
              <a:t>融合算子优化与 Profiling</a:t>
            </a:r>
            <a:endParaRPr sz="2280">
              <a:solidFill>
                <a:srgbClr val="11111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762000" y="1104900"/>
            <a:ext cx="4724400" cy="335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217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74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Baseline</a:t>
            </a:r>
            <a:endParaRPr sz="1740" b="1"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6705600" y="1104900"/>
            <a:ext cx="4724400" cy="335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2175" b="1">
                <a:solidFill>
                  <a:srgbClr val="43A047"/>
                </a:solidFill>
                <a:latin typeface="微软雅黑"/>
                <a:ea typeface="微软雅黑"/>
                <a:cs typeface="微软雅黑"/>
              </a:defRPr>
            </a:pPr>
            <a:r>
              <a:rPr sz="1740" b="1">
                <a:solidFill>
                  <a:srgbClr val="43A047"/>
                </a:solidFill>
                <a:latin typeface="微软雅黑"/>
                <a:ea typeface="微软雅黑"/>
                <a:cs typeface="微软雅黑"/>
              </a:rPr>
              <a:t>Fused</a:t>
            </a:r>
            <a:endParaRPr sz="1740" b="1">
              <a:solidFill>
                <a:srgbClr val="43A04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矩形: 圆角 6"/>
          <p:cNvSpPr>
            <a:spLocks noGrp="1"/>
          </p:cNvSpPr>
          <p:nvPr/>
        </p:nvSpPr>
        <p:spPr>
          <a:xfrm>
            <a:off x="762000" y="1562100"/>
            <a:ext cx="4724400" cy="2019300"/>
          </a:xfrm>
          <a:prstGeom prst="roundRect">
            <a:avLst>
              <a:gd name="adj" fmla="val 2264"/>
            </a:avLst>
          </a:prstGeom>
          <a:solidFill>
            <a:srgbClr val="F5F5F5"/>
          </a:solidFill>
          <a:ln w="9525">
            <a:solidFill>
              <a:srgbClr val="D4D4D4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914400" y="1668780"/>
            <a:ext cx="4419600" cy="18059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8000"/>
              </a:lnSpc>
              <a:buNone/>
              <a:defRPr sz="1350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108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converters = []</a:t>
            </a:r>
            <a:endParaRPr sz="108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  <a:p>
            <a:endParaRPr sz="1080"/>
          </a:p>
          <a:p>
            <a:pPr algn="l">
              <a:lnSpc>
                <a:spcPct val="118000"/>
              </a:lnSpc>
              <a:buNone/>
              <a:defRPr sz="1350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108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NGPU=2</a:t>
            </a:r>
            <a:endParaRPr sz="108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350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108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CONFIG=sft_qwen3_1_7b_wordle</a:t>
            </a:r>
            <a:endParaRPr sz="108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350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108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--training.steps=10</a:t>
            </a:r>
            <a:endParaRPr sz="108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350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108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--training.global_batch_size=4</a:t>
            </a:r>
            <a:endParaRPr sz="108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350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108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--profiling.enable_profiling</a:t>
            </a:r>
            <a:endParaRPr sz="108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9" name="矩形: 圆角 8"/>
          <p:cNvSpPr>
            <a:spLocks noGrp="1"/>
          </p:cNvSpPr>
          <p:nvPr/>
        </p:nvSpPr>
        <p:spPr>
          <a:xfrm>
            <a:off x="6705600" y="1562100"/>
            <a:ext cx="4724400" cy="2019300"/>
          </a:xfrm>
          <a:prstGeom prst="roundRect">
            <a:avLst>
              <a:gd name="adj" fmla="val 2264"/>
            </a:avLst>
          </a:prstGeom>
          <a:solidFill>
            <a:srgbClr val="F5F5F5"/>
          </a:solidFill>
          <a:ln w="9525">
            <a:solidFill>
              <a:srgbClr val="D4D4D4"/>
            </a:solidFill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6858000" y="1668780"/>
            <a:ext cx="4419600" cy="18059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8000"/>
              </a:lnSpc>
              <a:buNone/>
              <a:defRPr sz="1350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108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converters = [</a:t>
            </a:r>
            <a:endParaRPr sz="108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350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108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get_model_converter_config(</a:t>
            </a:r>
            <a:endParaRPr sz="108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350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108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  "npu_rms_norm"</a:t>
            </a:r>
            <a:endParaRPr sz="108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350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108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)</a:t>
            </a:r>
            <a:endParaRPr sz="108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350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108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]</a:t>
            </a:r>
            <a:endParaRPr sz="108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  <a:p>
            <a:endParaRPr sz="1080"/>
          </a:p>
          <a:p>
            <a:pPr algn="l">
              <a:lnSpc>
                <a:spcPct val="118000"/>
              </a:lnSpc>
              <a:buNone/>
              <a:defRPr sz="1350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108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其余命令与 Baseline 完全一致</a:t>
            </a:r>
            <a:endParaRPr sz="108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1" name="矩形: 圆角 10"/>
          <p:cNvSpPr>
            <a:spLocks noGrp="1"/>
          </p:cNvSpPr>
          <p:nvPr/>
        </p:nvSpPr>
        <p:spPr>
          <a:xfrm>
            <a:off x="762000" y="4000500"/>
            <a:ext cx="3429000" cy="1143000"/>
          </a:xfrm>
          <a:prstGeom prst="roundRect">
            <a:avLst>
              <a:gd name="adj" fmla="val 4000"/>
            </a:avLst>
          </a:prstGeom>
          <a:solidFill>
            <a:srgbClr val="EEF4FF"/>
          </a:solidFill>
          <a:ln w="9525">
            <a:solidFill>
              <a:srgbClr val="377DFF"/>
            </a:solidFill>
            <a:prstDash val="solid"/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929640" y="4175760"/>
            <a:ext cx="11811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725" b="1">
                <a:solidFill>
                  <a:srgbClr val="377DFF"/>
                </a:solidFill>
                <a:latin typeface="微软雅黑"/>
                <a:ea typeface="微软雅黑"/>
                <a:cs typeface="微软雅黑"/>
              </a:defRPr>
            </a:pPr>
            <a:r>
              <a:rPr sz="138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rPr>
              <a:t>采样窗口</a:t>
            </a:r>
            <a:endParaRPr sz="1380" b="1">
              <a:solidFill>
                <a:srgbClr val="377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2209800" y="4175760"/>
            <a:ext cx="17526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8000"/>
              </a:lnSpc>
              <a:buNone/>
              <a:defRPr sz="1650" b="1">
                <a:solidFill>
                  <a:srgbClr val="377DFF"/>
                </a:solidFill>
                <a:latin typeface="Consolas"/>
                <a:ea typeface="Consolas"/>
                <a:cs typeface="Consolas"/>
              </a:defRPr>
            </a:pPr>
            <a:r>
              <a:rPr sz="1320" b="1">
                <a:solidFill>
                  <a:srgbClr val="377DFF"/>
                </a:solidFill>
                <a:latin typeface="Consolas"/>
                <a:ea typeface="Consolas"/>
                <a:cs typeface="Consolas"/>
              </a:rPr>
              <a:t>step 5 → 6</a:t>
            </a:r>
            <a:endParaRPr sz="1320" b="1">
              <a:solidFill>
                <a:srgbClr val="377DF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929640" y="4648200"/>
            <a:ext cx="30861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跳过初始化与首次编译，只采稳态 1 步</a:t>
            </a:r>
            <a:endParaRPr sz="114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矩形: 圆角 14"/>
          <p:cNvSpPr>
            <a:spLocks noGrp="1"/>
          </p:cNvSpPr>
          <p:nvPr/>
        </p:nvSpPr>
        <p:spPr>
          <a:xfrm>
            <a:off x="4495800" y="4000500"/>
            <a:ext cx="3429000" cy="1143000"/>
          </a:xfrm>
          <a:prstGeom prst="roundRect">
            <a:avLst>
              <a:gd name="adj" fmla="val 4000"/>
            </a:avLst>
          </a:prstGeom>
          <a:solidFill>
            <a:srgbClr val="FFF3E5"/>
          </a:solidFill>
          <a:ln w="9525">
            <a:solidFill>
              <a:srgbClr val="F57C00"/>
            </a:solidFill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4663440" y="4175760"/>
            <a:ext cx="11811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725" b="1">
                <a:solidFill>
                  <a:srgbClr val="F57C00"/>
                </a:solidFill>
                <a:latin typeface="微软雅黑"/>
                <a:ea typeface="微软雅黑"/>
                <a:cs typeface="微软雅黑"/>
              </a:defRPr>
            </a:pPr>
            <a:r>
              <a:rPr sz="1380" b="1">
                <a:solidFill>
                  <a:srgbClr val="F57C00"/>
                </a:solidFill>
                <a:latin typeface="微软雅黑"/>
                <a:ea typeface="微软雅黑"/>
                <a:cs typeface="微软雅黑"/>
              </a:rPr>
              <a:t>全局 Batch</a:t>
            </a:r>
            <a:endParaRPr sz="1380" b="1">
              <a:solidFill>
                <a:srgbClr val="F57C0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5943600" y="4175760"/>
            <a:ext cx="17526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8000"/>
              </a:lnSpc>
              <a:buNone/>
              <a:defRPr sz="1650" b="1">
                <a:solidFill>
                  <a:srgbClr val="F57C00"/>
                </a:solidFill>
                <a:latin typeface="Consolas"/>
                <a:ea typeface="Consolas"/>
                <a:cs typeface="Consolas"/>
              </a:defRPr>
            </a:pPr>
            <a:r>
              <a:rPr sz="1320" b="1">
                <a:solidFill>
                  <a:srgbClr val="F57C00"/>
                </a:solidFill>
                <a:latin typeface="Consolas"/>
                <a:ea typeface="Consolas"/>
                <a:cs typeface="Consolas"/>
              </a:rPr>
              <a:t>64 → 4</a:t>
            </a:r>
            <a:endParaRPr sz="1320" b="1">
              <a:solidFill>
                <a:srgbClr val="F57C0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4663440" y="4648200"/>
            <a:ext cx="30861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只看算子耗时，缩短 profile 等待时间</a:t>
            </a:r>
            <a:endParaRPr sz="114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9" name="矩形: 圆角 18"/>
          <p:cNvSpPr>
            <a:spLocks noGrp="1"/>
          </p:cNvSpPr>
          <p:nvPr/>
        </p:nvSpPr>
        <p:spPr>
          <a:xfrm>
            <a:off x="8229600" y="4000500"/>
            <a:ext cx="3429000" cy="1143000"/>
          </a:xfrm>
          <a:prstGeom prst="roundRect">
            <a:avLst>
              <a:gd name="adj" fmla="val 4000"/>
            </a:avLst>
          </a:prstGeom>
          <a:solidFill>
            <a:srgbClr val="EDF7EC"/>
          </a:solidFill>
          <a:ln w="9525">
            <a:solidFill>
              <a:srgbClr val="43A047"/>
            </a:solidFill>
            <a:prstDash val="solid"/>
          </a:ln>
        </p:spPr>
      </p:sp>
      <p:sp>
        <p:nvSpPr>
          <p:cNvPr id="20" name="矩形 19"/>
          <p:cNvSpPr>
            <a:spLocks noGrp="1"/>
          </p:cNvSpPr>
          <p:nvPr/>
        </p:nvSpPr>
        <p:spPr>
          <a:xfrm>
            <a:off x="8397240" y="4175760"/>
            <a:ext cx="11811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725" b="1">
                <a:solidFill>
                  <a:srgbClr val="43A047"/>
                </a:solidFill>
                <a:latin typeface="微软雅黑"/>
                <a:ea typeface="微软雅黑"/>
                <a:cs typeface="微软雅黑"/>
              </a:defRPr>
            </a:pPr>
            <a:r>
              <a:rPr sz="1380" b="1">
                <a:solidFill>
                  <a:srgbClr val="43A047"/>
                </a:solidFill>
                <a:latin typeface="微软雅黑"/>
                <a:ea typeface="微软雅黑"/>
                <a:cs typeface="微软雅黑"/>
              </a:rPr>
              <a:t>记录内容</a:t>
            </a:r>
            <a:endParaRPr sz="1380" b="1">
              <a:solidFill>
                <a:srgbClr val="43A04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9677400" y="4175760"/>
            <a:ext cx="17526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8000"/>
              </a:lnSpc>
              <a:buNone/>
              <a:defRPr sz="1650" b="1">
                <a:solidFill>
                  <a:srgbClr val="43A047"/>
                </a:solidFill>
                <a:latin typeface="Consolas"/>
                <a:ea typeface="Consolas"/>
                <a:cs typeface="Consolas"/>
              </a:defRPr>
            </a:pPr>
            <a:r>
              <a:rPr sz="1320" b="1">
                <a:solidFill>
                  <a:srgbClr val="43A047"/>
                </a:solidFill>
                <a:latin typeface="Consolas"/>
                <a:ea typeface="Consolas"/>
                <a:cs typeface="Consolas"/>
              </a:rPr>
              <a:t>shape + memory</a:t>
            </a:r>
            <a:endParaRPr sz="1320" b="1">
              <a:solidFill>
                <a:srgbClr val="43A04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8397240" y="4648200"/>
            <a:ext cx="30861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同时观察算子调用、张量形状与显存</a:t>
            </a:r>
            <a:endParaRPr sz="114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1676400" y="5486400"/>
            <a:ext cx="8839200" cy="335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56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只有 converter 不同，性能差异才可以归因于 RMSNorm 融合。</a:t>
            </a:r>
            <a:endParaRPr sz="1560" b="1"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3" name="图片 4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矩形 1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slide-title"/>
          <p:cNvSpPr>
            <a:spLocks noGrp="1"/>
          </p:cNvSpPr>
          <p:nvPr/>
        </p:nvSpPr>
        <p:spPr>
          <a:xfrm>
            <a:off x="609600" y="320040"/>
            <a:ext cx="944880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3300" b="0">
                <a:solidFill>
                  <a:srgbClr val="111111"/>
                </a:solidFill>
                <a:latin typeface="微软雅黑"/>
                <a:ea typeface="微软雅黑"/>
                <a:cs typeface="微软雅黑"/>
              </a:defRPr>
            </a:pPr>
            <a:r>
              <a:rPr sz="2640">
                <a:sym typeface="+mn-ea"/>
              </a:rPr>
              <a:t>融合算子优化与 Profiling</a:t>
            </a:r>
            <a:endParaRPr sz="2640">
              <a:solidFill>
                <a:srgbClr val="11111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85800" y="1104900"/>
            <a:ext cx="4953000" cy="335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21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74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analyze_profile.py 的处理链路</a:t>
            </a:r>
            <a:endParaRPr sz="174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: 圆角 5"/>
          <p:cNvSpPr>
            <a:spLocks noGrp="1"/>
          </p:cNvSpPr>
          <p:nvPr/>
        </p:nvSpPr>
        <p:spPr>
          <a:xfrm>
            <a:off x="685800" y="1638300"/>
            <a:ext cx="2133600" cy="1104900"/>
          </a:xfrm>
          <a:prstGeom prst="roundRect">
            <a:avLst>
              <a:gd name="adj" fmla="val 4138"/>
            </a:avLst>
          </a:prstGeom>
          <a:solidFill>
            <a:srgbClr val="EEF4FF"/>
          </a:solidFill>
          <a:ln w="9525">
            <a:solidFill>
              <a:srgbClr val="377DFF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838200" y="1790700"/>
            <a:ext cx="3810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defRPr>
            </a:pPr>
            <a:r>
              <a:rPr sz="144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rPr>
              <a:t>01</a:t>
            </a:r>
            <a:endParaRPr sz="1440" b="1">
              <a:solidFill>
                <a:srgbClr val="377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1257300" y="1790700"/>
            <a:ext cx="13335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72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38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发现 trace</a:t>
            </a:r>
            <a:endParaRPr sz="138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838200" y="2247900"/>
            <a:ext cx="18288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666666"/>
                </a:solidFill>
                <a:latin typeface="Consolas"/>
                <a:ea typeface="Consolas"/>
                <a:cs typeface="Consolas"/>
              </a:defRPr>
            </a:pPr>
            <a:r>
              <a:rPr sz="1080">
                <a:solidFill>
                  <a:srgbClr val="666666"/>
                </a:solidFill>
                <a:latin typeface="Consolas"/>
                <a:ea typeface="Consolas"/>
                <a:cs typeface="Consolas"/>
              </a:rPr>
              <a:t>扫描 trace_view.json</a:t>
            </a:r>
            <a:endParaRPr sz="1080">
              <a:solidFill>
                <a:srgbClr val="666666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2895600" y="1981200"/>
            <a:ext cx="3810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2400" b="1">
                <a:solidFill>
                  <a:srgbClr val="A3A3A3"/>
                </a:solidFill>
                <a:latin typeface="微软雅黑"/>
                <a:ea typeface="微软雅黑"/>
                <a:cs typeface="微软雅黑"/>
              </a:defRPr>
            </a:pPr>
            <a:r>
              <a:rPr sz="1920" b="1">
                <a:solidFill>
                  <a:srgbClr val="A3A3A3"/>
                </a:solidFill>
                <a:latin typeface="微软雅黑"/>
                <a:ea typeface="微软雅黑"/>
                <a:cs typeface="微软雅黑"/>
              </a:rPr>
              <a:t>→</a:t>
            </a:r>
            <a:endParaRPr sz="1920" b="1">
              <a:solidFill>
                <a:srgbClr val="A3A3A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矩形: 圆角 10"/>
          <p:cNvSpPr>
            <a:spLocks noGrp="1"/>
          </p:cNvSpPr>
          <p:nvPr/>
        </p:nvSpPr>
        <p:spPr>
          <a:xfrm>
            <a:off x="3429000" y="1638300"/>
            <a:ext cx="2133600" cy="1104900"/>
          </a:xfrm>
          <a:prstGeom prst="roundRect">
            <a:avLst>
              <a:gd name="adj" fmla="val 4138"/>
            </a:avLst>
          </a:prstGeom>
          <a:solidFill>
            <a:srgbClr val="F7EFFA"/>
          </a:solidFill>
          <a:ln w="9525">
            <a:solidFill>
              <a:srgbClr val="8E44AD"/>
            </a:solidFill>
            <a:prstDash val="solid"/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3581400" y="1790700"/>
            <a:ext cx="3810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8E44AD"/>
                </a:solidFill>
                <a:latin typeface="微软雅黑"/>
                <a:ea typeface="微软雅黑"/>
                <a:cs typeface="微软雅黑"/>
              </a:defRPr>
            </a:pPr>
            <a:r>
              <a:rPr sz="1440" b="1">
                <a:solidFill>
                  <a:srgbClr val="8E44AD"/>
                </a:solidFill>
                <a:latin typeface="微软雅黑"/>
                <a:ea typeface="微软雅黑"/>
                <a:cs typeface="微软雅黑"/>
              </a:rPr>
              <a:t>02</a:t>
            </a:r>
            <a:endParaRPr sz="1440" b="1">
              <a:solidFill>
                <a:srgbClr val="8E44A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4000500" y="1790700"/>
            <a:ext cx="13335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72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38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确定顺序</a:t>
            </a:r>
            <a:endParaRPr sz="138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3581400" y="2247900"/>
            <a:ext cx="18288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08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按修改时间排序</a:t>
            </a:r>
            <a:endParaRPr sz="1080"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5638800" y="1981200"/>
            <a:ext cx="3810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2400" b="1">
                <a:solidFill>
                  <a:srgbClr val="A3A3A3"/>
                </a:solidFill>
                <a:latin typeface="微软雅黑"/>
                <a:ea typeface="微软雅黑"/>
                <a:cs typeface="微软雅黑"/>
              </a:defRPr>
            </a:pPr>
            <a:r>
              <a:rPr sz="1920" b="1">
                <a:solidFill>
                  <a:srgbClr val="A3A3A3"/>
                </a:solidFill>
                <a:latin typeface="微软雅黑"/>
                <a:ea typeface="微软雅黑"/>
                <a:cs typeface="微软雅黑"/>
              </a:rPr>
              <a:t>→</a:t>
            </a:r>
            <a:endParaRPr sz="1920" b="1">
              <a:solidFill>
                <a:srgbClr val="A3A3A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矩形: 圆角 15"/>
          <p:cNvSpPr>
            <a:spLocks noGrp="1"/>
          </p:cNvSpPr>
          <p:nvPr/>
        </p:nvSpPr>
        <p:spPr>
          <a:xfrm>
            <a:off x="6172200" y="1638300"/>
            <a:ext cx="2133600" cy="1104900"/>
          </a:xfrm>
          <a:prstGeom prst="roundRect">
            <a:avLst>
              <a:gd name="adj" fmla="val 4138"/>
            </a:avLst>
          </a:prstGeom>
          <a:solidFill>
            <a:srgbClr val="FFF3E5"/>
          </a:solidFill>
          <a:ln w="9525">
            <a:solidFill>
              <a:srgbClr val="F57C00"/>
            </a:solidFill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6324600" y="1790700"/>
            <a:ext cx="3810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F57C00"/>
                </a:solidFill>
                <a:latin typeface="微软雅黑"/>
                <a:ea typeface="微软雅黑"/>
                <a:cs typeface="微软雅黑"/>
              </a:defRPr>
            </a:pPr>
            <a:r>
              <a:rPr sz="1440" b="1">
                <a:solidFill>
                  <a:srgbClr val="F57C00"/>
                </a:solidFill>
                <a:latin typeface="微软雅黑"/>
                <a:ea typeface="微软雅黑"/>
                <a:cs typeface="微软雅黑"/>
              </a:rPr>
              <a:t>03</a:t>
            </a:r>
            <a:endParaRPr sz="1440" b="1">
              <a:solidFill>
                <a:srgbClr val="F57C0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6743700" y="1790700"/>
            <a:ext cx="13335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72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38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聚合事件</a:t>
            </a:r>
            <a:endParaRPr sz="138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6324600" y="2247900"/>
            <a:ext cx="18288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666666"/>
                </a:solidFill>
                <a:latin typeface="Consolas"/>
                <a:ea typeface="Consolas"/>
                <a:cs typeface="Consolas"/>
              </a:defRPr>
            </a:pPr>
            <a:r>
              <a:rPr sz="1080">
                <a:solidFill>
                  <a:srgbClr val="666666"/>
                </a:solidFill>
                <a:latin typeface="Consolas"/>
                <a:ea typeface="Consolas"/>
                <a:cs typeface="Consolas"/>
              </a:rPr>
              <a:t>按 ACL kernel 分类</a:t>
            </a:r>
            <a:endParaRPr sz="1080">
              <a:solidFill>
                <a:srgbClr val="666666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8382000" y="1981200"/>
            <a:ext cx="3810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2400" b="1">
                <a:solidFill>
                  <a:srgbClr val="A3A3A3"/>
                </a:solidFill>
                <a:latin typeface="微软雅黑"/>
                <a:ea typeface="微软雅黑"/>
                <a:cs typeface="微软雅黑"/>
              </a:defRPr>
            </a:pPr>
            <a:r>
              <a:rPr sz="1920" b="1">
                <a:solidFill>
                  <a:srgbClr val="A3A3A3"/>
                </a:solidFill>
                <a:latin typeface="微软雅黑"/>
                <a:ea typeface="微软雅黑"/>
                <a:cs typeface="微软雅黑"/>
              </a:rPr>
              <a:t>→</a:t>
            </a:r>
            <a:endParaRPr sz="1920" b="1">
              <a:solidFill>
                <a:srgbClr val="A3A3A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" name="矩形: 圆角 20"/>
          <p:cNvSpPr>
            <a:spLocks noGrp="1"/>
          </p:cNvSpPr>
          <p:nvPr/>
        </p:nvSpPr>
        <p:spPr>
          <a:xfrm>
            <a:off x="8915400" y="1638300"/>
            <a:ext cx="2133600" cy="1104900"/>
          </a:xfrm>
          <a:prstGeom prst="roundRect">
            <a:avLst>
              <a:gd name="adj" fmla="val 4138"/>
            </a:avLst>
          </a:prstGeom>
          <a:solidFill>
            <a:srgbClr val="EDF7EC"/>
          </a:solidFill>
          <a:ln w="9525">
            <a:solidFill>
              <a:srgbClr val="43A047"/>
            </a:solidFill>
            <a:prstDash val="solid"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9067800" y="1790700"/>
            <a:ext cx="3810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43A047"/>
                </a:solidFill>
                <a:latin typeface="微软雅黑"/>
                <a:ea typeface="微软雅黑"/>
                <a:cs typeface="微软雅黑"/>
              </a:defRPr>
            </a:pPr>
            <a:r>
              <a:rPr sz="1440" b="1">
                <a:solidFill>
                  <a:srgbClr val="43A047"/>
                </a:solidFill>
                <a:latin typeface="微软雅黑"/>
                <a:ea typeface="微软雅黑"/>
                <a:cs typeface="微软雅黑"/>
              </a:rPr>
              <a:t>04</a:t>
            </a:r>
            <a:endParaRPr sz="1440" b="1">
              <a:solidFill>
                <a:srgbClr val="43A04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9486900" y="1790700"/>
            <a:ext cx="13335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72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38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生成差异</a:t>
            </a:r>
            <a:endParaRPr sz="138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9067800" y="2247900"/>
            <a:ext cx="18288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08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对比 baseline / fused</a:t>
            </a:r>
            <a:endParaRPr sz="1080"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2133600" y="3086100"/>
            <a:ext cx="79248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65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32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自动发现与聚合保证两组 trace 使用同一分析口径</a:t>
            </a:r>
            <a:endParaRPr sz="132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6" name="矩形: 圆角 25"/>
          <p:cNvSpPr>
            <a:spLocks noGrp="1"/>
          </p:cNvSpPr>
          <p:nvPr/>
        </p:nvSpPr>
        <p:spPr>
          <a:xfrm>
            <a:off x="685800" y="3962400"/>
            <a:ext cx="3429000" cy="1295400"/>
          </a:xfrm>
          <a:prstGeom prst="roundRect">
            <a:avLst>
              <a:gd name="adj" fmla="val 3529"/>
            </a:avLst>
          </a:prstGeom>
          <a:solidFill>
            <a:srgbClr val="EEF4FF"/>
          </a:solidFill>
          <a:ln w="9525">
            <a:solidFill>
              <a:srgbClr val="377DFF"/>
            </a:solidFill>
            <a:prstDash val="solid"/>
          </a:ln>
        </p:spPr>
      </p:sp>
      <p:sp>
        <p:nvSpPr>
          <p:cNvPr id="27" name="矩形 26"/>
          <p:cNvSpPr>
            <a:spLocks noGrp="1"/>
          </p:cNvSpPr>
          <p:nvPr/>
        </p:nvSpPr>
        <p:spPr>
          <a:xfrm>
            <a:off x="868680" y="4152900"/>
            <a:ext cx="4572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2025" b="1">
                <a:solidFill>
                  <a:srgbClr val="377DFF"/>
                </a:solidFill>
                <a:latin typeface="微软雅黑"/>
                <a:ea typeface="微软雅黑"/>
                <a:cs typeface="微软雅黑"/>
              </a:defRPr>
            </a:pPr>
            <a:r>
              <a:rPr sz="162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rPr>
              <a:t>01</a:t>
            </a:r>
            <a:endParaRPr sz="1620" b="1">
              <a:solidFill>
                <a:srgbClr val="377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1409700" y="4152900"/>
            <a:ext cx="2438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44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ACL kernel 调用</a:t>
            </a:r>
            <a:endParaRPr sz="144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868680" y="4610100"/>
            <a:ext cx="306324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65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defRPr>
            </a:pPr>
            <a:r>
              <a:rPr sz="132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rPr>
              <a:t>118,482 → 86,591</a:t>
            </a:r>
            <a:endParaRPr sz="1320" b="1">
              <a:solidFill>
                <a:srgbClr val="377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868680" y="4960620"/>
            <a:ext cx="3063240" cy="1981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08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-26.9%</a:t>
            </a:r>
            <a:endParaRPr sz="1080"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1" name="矩形: 圆角 30"/>
          <p:cNvSpPr>
            <a:spLocks noGrp="1"/>
          </p:cNvSpPr>
          <p:nvPr/>
        </p:nvSpPr>
        <p:spPr>
          <a:xfrm>
            <a:off x="4419600" y="3962400"/>
            <a:ext cx="3429000" cy="1295400"/>
          </a:xfrm>
          <a:prstGeom prst="roundRect">
            <a:avLst>
              <a:gd name="adj" fmla="val 3529"/>
            </a:avLst>
          </a:prstGeom>
          <a:solidFill>
            <a:srgbClr val="EDF7EC"/>
          </a:solidFill>
          <a:ln w="9525">
            <a:solidFill>
              <a:srgbClr val="43A047"/>
            </a:solidFill>
            <a:prstDash val="solid"/>
          </a:ln>
        </p:spPr>
      </p:sp>
      <p:sp>
        <p:nvSpPr>
          <p:cNvPr id="32" name="矩形 31"/>
          <p:cNvSpPr>
            <a:spLocks noGrp="1"/>
          </p:cNvSpPr>
          <p:nvPr/>
        </p:nvSpPr>
        <p:spPr>
          <a:xfrm>
            <a:off x="4602480" y="4152900"/>
            <a:ext cx="4572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2025" b="1">
                <a:solidFill>
                  <a:srgbClr val="43A047"/>
                </a:solidFill>
                <a:latin typeface="微软雅黑"/>
                <a:ea typeface="微软雅黑"/>
                <a:cs typeface="微软雅黑"/>
              </a:defRPr>
            </a:pPr>
            <a:r>
              <a:rPr sz="1620" b="1">
                <a:solidFill>
                  <a:srgbClr val="43A047"/>
                </a:solidFill>
                <a:latin typeface="微软雅黑"/>
                <a:ea typeface="微软雅黑"/>
                <a:cs typeface="微软雅黑"/>
              </a:rPr>
              <a:t>02</a:t>
            </a:r>
            <a:endParaRPr sz="1620" b="1">
              <a:solidFill>
                <a:srgbClr val="43A04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3" name="矩形 32"/>
          <p:cNvSpPr>
            <a:spLocks noGrp="1"/>
          </p:cNvSpPr>
          <p:nvPr/>
        </p:nvSpPr>
        <p:spPr>
          <a:xfrm>
            <a:off x="5143500" y="4152900"/>
            <a:ext cx="2438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44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npu_rms_norm</a:t>
            </a:r>
            <a:endParaRPr sz="144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4" name="矩形 33"/>
          <p:cNvSpPr>
            <a:spLocks noGrp="1"/>
          </p:cNvSpPr>
          <p:nvPr/>
        </p:nvSpPr>
        <p:spPr>
          <a:xfrm>
            <a:off x="4602480" y="4610100"/>
            <a:ext cx="306324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650" b="1">
                <a:solidFill>
                  <a:srgbClr val="43A047"/>
                </a:solidFill>
                <a:latin typeface="Consolas"/>
                <a:ea typeface="Consolas"/>
                <a:cs typeface="Consolas"/>
              </a:defRPr>
            </a:pPr>
            <a:r>
              <a:rPr sz="1320" b="1">
                <a:solidFill>
                  <a:srgbClr val="43A047"/>
                </a:solidFill>
                <a:latin typeface="Consolas"/>
                <a:ea typeface="Consolas"/>
                <a:cs typeface="Consolas"/>
              </a:rPr>
              <a:t>无 → 562 次</a:t>
            </a:r>
            <a:endParaRPr sz="1320" b="1">
              <a:solidFill>
                <a:srgbClr val="43A04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5" name="矩形 34"/>
          <p:cNvSpPr>
            <a:spLocks noGrp="1"/>
          </p:cNvSpPr>
          <p:nvPr/>
        </p:nvSpPr>
        <p:spPr>
          <a:xfrm>
            <a:off x="4602480" y="4960620"/>
            <a:ext cx="3063240" cy="1981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08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转换器已生效</a:t>
            </a:r>
            <a:endParaRPr sz="1080"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6" name="矩形: 圆角 35"/>
          <p:cNvSpPr>
            <a:spLocks noGrp="1"/>
          </p:cNvSpPr>
          <p:nvPr/>
        </p:nvSpPr>
        <p:spPr>
          <a:xfrm>
            <a:off x="8153400" y="3962400"/>
            <a:ext cx="3429000" cy="1295400"/>
          </a:xfrm>
          <a:prstGeom prst="roundRect">
            <a:avLst>
              <a:gd name="adj" fmla="val 3529"/>
            </a:avLst>
          </a:prstGeom>
          <a:solidFill>
            <a:srgbClr val="FFF1F2"/>
          </a:solidFill>
          <a:ln w="9525">
            <a:solidFill>
              <a:srgbClr val="E60012"/>
            </a:solidFill>
            <a:prstDash val="solid"/>
          </a:ln>
        </p:spPr>
      </p:sp>
      <p:sp>
        <p:nvSpPr>
          <p:cNvPr id="37" name="矩形 36"/>
          <p:cNvSpPr>
            <a:spLocks noGrp="1"/>
          </p:cNvSpPr>
          <p:nvPr/>
        </p:nvSpPr>
        <p:spPr>
          <a:xfrm>
            <a:off x="8336280" y="4152900"/>
            <a:ext cx="4572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202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62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03</a:t>
            </a:r>
            <a:endParaRPr sz="1620" b="1"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8" name="矩形 37"/>
          <p:cNvSpPr>
            <a:spLocks noGrp="1"/>
          </p:cNvSpPr>
          <p:nvPr/>
        </p:nvSpPr>
        <p:spPr>
          <a:xfrm>
            <a:off x="8877300" y="4152900"/>
            <a:ext cx="2438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44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碎片化算子</a:t>
            </a:r>
            <a:endParaRPr sz="144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9" name="矩形 38"/>
          <p:cNvSpPr>
            <a:spLocks noGrp="1"/>
          </p:cNvSpPr>
          <p:nvPr/>
        </p:nvSpPr>
        <p:spPr>
          <a:xfrm>
            <a:off x="8336280" y="4610100"/>
            <a:ext cx="306324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65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32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Pow -59.2%  /  Mul -71.5%</a:t>
            </a:r>
            <a:endParaRPr sz="1320" b="1"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0" name="矩形 39"/>
          <p:cNvSpPr>
            <a:spLocks noGrp="1"/>
          </p:cNvSpPr>
          <p:nvPr/>
        </p:nvSpPr>
        <p:spPr>
          <a:xfrm>
            <a:off x="8336280" y="4960620"/>
            <a:ext cx="3063240" cy="1981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08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旧路径被吸收</a:t>
            </a:r>
            <a:endParaRPr sz="1080"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1" name="矩形 40"/>
          <p:cNvSpPr>
            <a:spLocks noGrp="1"/>
          </p:cNvSpPr>
          <p:nvPr/>
        </p:nvSpPr>
        <p:spPr>
          <a:xfrm>
            <a:off x="1600200" y="5600700"/>
            <a:ext cx="89916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87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三个信号同时满足，才能确认“配置启用了”且“执行路径真的变了”。</a:t>
            </a:r>
            <a:endParaRPr sz="1500" b="1"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72" name="图片 7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矩形 1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slide-title"/>
          <p:cNvSpPr>
            <a:spLocks noGrp="1"/>
          </p:cNvSpPr>
          <p:nvPr/>
        </p:nvSpPr>
        <p:spPr>
          <a:xfrm>
            <a:off x="609600" y="320040"/>
            <a:ext cx="944880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3300" b="0">
                <a:solidFill>
                  <a:srgbClr val="111111"/>
                </a:solidFill>
                <a:latin typeface="微软雅黑"/>
                <a:ea typeface="微软雅黑"/>
                <a:cs typeface="微软雅黑"/>
              </a:defRPr>
            </a:pPr>
            <a:r>
              <a:rPr sz="2640">
                <a:sym typeface="+mn-ea"/>
              </a:rPr>
              <a:t>融合算子优化与 Profiling</a:t>
            </a:r>
            <a:endParaRPr sz="2640">
              <a:solidFill>
                <a:srgbClr val="11111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85800" y="1104900"/>
            <a:ext cx="74676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6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32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单卡</a:t>
            </a:r>
            <a:r>
              <a:rPr sz="132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 Ascend 910</a:t>
            </a:r>
            <a:r>
              <a:rPr sz="132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C</a:t>
            </a:r>
            <a:r>
              <a:rPr sz="132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，Qwen3-1.7B，seq_len=1024，gbs=4</a:t>
            </a:r>
            <a:endParaRPr sz="1320"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685800" y="1600200"/>
            <a:ext cx="2286000" cy="411480"/>
          </a:xfrm>
          <a:prstGeom prst="rect">
            <a:avLst/>
          </a:prstGeom>
          <a:solidFill>
            <a:srgbClr val="262626"/>
          </a:solidFill>
          <a:ln w="9525">
            <a:solidFill>
              <a:srgbClr val="262626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777240" y="1630680"/>
            <a:ext cx="2103120" cy="350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指标</a:t>
            </a:r>
            <a:endParaRPr sz="12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2971800" y="1600200"/>
            <a:ext cx="1600200" cy="411480"/>
          </a:xfrm>
          <a:prstGeom prst="rect">
            <a:avLst/>
          </a:prstGeom>
          <a:solidFill>
            <a:srgbClr val="262626"/>
          </a:solidFill>
          <a:ln w="9525">
            <a:solidFill>
              <a:srgbClr val="262626"/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3063240" y="1630680"/>
            <a:ext cx="1417320" cy="350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Baseline</a:t>
            </a:r>
            <a:endParaRPr sz="12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4572000" y="1600200"/>
            <a:ext cx="1600200" cy="411480"/>
          </a:xfrm>
          <a:prstGeom prst="rect">
            <a:avLst/>
          </a:prstGeom>
          <a:solidFill>
            <a:srgbClr val="E60012"/>
          </a:solidFill>
          <a:ln w="9525">
            <a:solidFill>
              <a:srgbClr val="E60012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4663440" y="1630680"/>
            <a:ext cx="1417320" cy="350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Fused</a:t>
            </a:r>
            <a:endParaRPr sz="12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6172200" y="1600200"/>
            <a:ext cx="1600200" cy="411480"/>
          </a:xfrm>
          <a:prstGeom prst="rect">
            <a:avLst/>
          </a:prstGeom>
          <a:solidFill>
            <a:srgbClr val="262626"/>
          </a:solidFill>
          <a:ln w="9525">
            <a:solidFill>
              <a:srgbClr val="262626"/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6263640" y="1630680"/>
            <a:ext cx="1417320" cy="350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改善</a:t>
            </a:r>
            <a:endParaRPr sz="12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685800" y="2011680"/>
            <a:ext cx="2286000" cy="50292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777240" y="2042160"/>
            <a:ext cx="2103120" cy="4419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525252"/>
                </a:solidFill>
                <a:latin typeface="Consolas"/>
                <a:ea typeface="Consolas"/>
                <a:cs typeface="Consolas"/>
              </a:defRPr>
            </a:pPr>
            <a:r>
              <a:rPr sz="1080" b="1">
                <a:solidFill>
                  <a:srgbClr val="525252"/>
                </a:solidFill>
                <a:latin typeface="Consolas"/>
                <a:ea typeface="Consolas"/>
                <a:cs typeface="Consolas"/>
              </a:rPr>
              <a:t>Total time (ms)</a:t>
            </a:r>
            <a:endParaRPr sz="1080" b="1">
              <a:solidFill>
                <a:srgbClr val="52525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2971800" y="2011680"/>
            <a:ext cx="1600200" cy="50292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3063240" y="2042160"/>
            <a:ext cx="1417320" cy="4419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8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66,107</a:t>
            </a:r>
            <a:endParaRPr sz="108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4572000" y="2011680"/>
            <a:ext cx="1600200" cy="50292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4663440" y="2042160"/>
            <a:ext cx="1417320" cy="4419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8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63,924</a:t>
            </a:r>
            <a:endParaRPr sz="108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6172200" y="2011680"/>
            <a:ext cx="1600200" cy="50292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6263640" y="2042160"/>
            <a:ext cx="1417320" cy="4419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2E7D32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2E7D32"/>
                </a:solidFill>
                <a:latin typeface="微软雅黑"/>
                <a:ea typeface="微软雅黑"/>
                <a:cs typeface="微软雅黑"/>
              </a:rPr>
              <a:t>-3.3%</a:t>
            </a:r>
            <a:endParaRPr sz="1080" b="1">
              <a:solidFill>
                <a:srgbClr val="2E7D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685800" y="2514600"/>
            <a:ext cx="2286000" cy="502920"/>
          </a:xfrm>
          <a:prstGeom prst="rect">
            <a:avLst/>
          </a:prstGeom>
          <a:solidFill>
            <a:srgbClr val="FFF1F2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3" name="矩形 22"/>
          <p:cNvSpPr>
            <a:spLocks noGrp="1"/>
          </p:cNvSpPr>
          <p:nvPr/>
        </p:nvSpPr>
        <p:spPr>
          <a:xfrm>
            <a:off x="777240" y="2545080"/>
            <a:ext cx="2103120" cy="4419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525252"/>
                </a:solidFill>
                <a:latin typeface="Consolas"/>
                <a:ea typeface="Consolas"/>
                <a:cs typeface="Consolas"/>
              </a:defRPr>
            </a:pPr>
            <a:r>
              <a:rPr sz="1080" b="1">
                <a:solidFill>
                  <a:srgbClr val="525252"/>
                </a:solidFill>
                <a:latin typeface="Consolas"/>
                <a:ea typeface="Consolas"/>
                <a:cs typeface="Consolas"/>
              </a:rPr>
              <a:t>ACL kernel 发射</a:t>
            </a:r>
            <a:endParaRPr sz="1080" b="1">
              <a:solidFill>
                <a:srgbClr val="52525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2971800" y="2514600"/>
            <a:ext cx="1600200" cy="502920"/>
          </a:xfrm>
          <a:prstGeom prst="rect">
            <a:avLst/>
          </a:prstGeom>
          <a:solidFill>
            <a:srgbClr val="FFF1F2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5" name="矩形 24"/>
          <p:cNvSpPr>
            <a:spLocks noGrp="1"/>
          </p:cNvSpPr>
          <p:nvPr/>
        </p:nvSpPr>
        <p:spPr>
          <a:xfrm>
            <a:off x="3063240" y="2545080"/>
            <a:ext cx="1417320" cy="4419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8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118,482</a:t>
            </a:r>
            <a:endParaRPr sz="108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4572000" y="2514600"/>
            <a:ext cx="1600200" cy="502920"/>
          </a:xfrm>
          <a:prstGeom prst="rect">
            <a:avLst/>
          </a:prstGeom>
          <a:solidFill>
            <a:srgbClr val="FFF1F2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7" name="矩形 26"/>
          <p:cNvSpPr>
            <a:spLocks noGrp="1"/>
          </p:cNvSpPr>
          <p:nvPr/>
        </p:nvSpPr>
        <p:spPr>
          <a:xfrm>
            <a:off x="4663440" y="2545080"/>
            <a:ext cx="1417320" cy="4419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8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86,591</a:t>
            </a:r>
            <a:endParaRPr sz="108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6172200" y="2514600"/>
            <a:ext cx="1600200" cy="502920"/>
          </a:xfrm>
          <a:prstGeom prst="rect">
            <a:avLst/>
          </a:prstGeom>
          <a:solidFill>
            <a:srgbClr val="FFF1F2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9" name="矩形 28"/>
          <p:cNvSpPr>
            <a:spLocks noGrp="1"/>
          </p:cNvSpPr>
          <p:nvPr/>
        </p:nvSpPr>
        <p:spPr>
          <a:xfrm>
            <a:off x="6263640" y="2545080"/>
            <a:ext cx="1417320" cy="4419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-26.9%</a:t>
            </a:r>
            <a:endParaRPr sz="1080" b="1"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685800" y="3017520"/>
            <a:ext cx="2286000" cy="50292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31" name="矩形 30"/>
          <p:cNvSpPr>
            <a:spLocks noGrp="1"/>
          </p:cNvSpPr>
          <p:nvPr/>
        </p:nvSpPr>
        <p:spPr>
          <a:xfrm>
            <a:off x="777240" y="3048000"/>
            <a:ext cx="2103120" cy="4419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525252"/>
                </a:solidFill>
                <a:latin typeface="Consolas"/>
                <a:ea typeface="Consolas"/>
                <a:cs typeface="Consolas"/>
              </a:defRPr>
            </a:pPr>
            <a:r>
              <a:rPr sz="1080" b="1">
                <a:solidFill>
                  <a:srgbClr val="525252"/>
                </a:solidFill>
                <a:latin typeface="Consolas"/>
                <a:ea typeface="Consolas"/>
                <a:cs typeface="Consolas"/>
              </a:rPr>
              <a:t>Compute (ms)</a:t>
            </a:r>
            <a:endParaRPr sz="1080" b="1">
              <a:solidFill>
                <a:srgbClr val="52525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2" name="矩形 31"/>
          <p:cNvSpPr>
            <a:spLocks noGrp="1"/>
          </p:cNvSpPr>
          <p:nvPr/>
        </p:nvSpPr>
        <p:spPr>
          <a:xfrm>
            <a:off x="2971800" y="3017520"/>
            <a:ext cx="1600200" cy="50292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33" name="矩形 32"/>
          <p:cNvSpPr>
            <a:spLocks noGrp="1"/>
          </p:cNvSpPr>
          <p:nvPr/>
        </p:nvSpPr>
        <p:spPr>
          <a:xfrm>
            <a:off x="3063240" y="3048000"/>
            <a:ext cx="1417320" cy="4419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8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8,991</a:t>
            </a:r>
            <a:endParaRPr sz="108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4" name="矩形 33"/>
          <p:cNvSpPr>
            <a:spLocks noGrp="1"/>
          </p:cNvSpPr>
          <p:nvPr/>
        </p:nvSpPr>
        <p:spPr>
          <a:xfrm>
            <a:off x="4572000" y="3017520"/>
            <a:ext cx="1600200" cy="50292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35" name="矩形 34"/>
          <p:cNvSpPr>
            <a:spLocks noGrp="1"/>
          </p:cNvSpPr>
          <p:nvPr/>
        </p:nvSpPr>
        <p:spPr>
          <a:xfrm>
            <a:off x="4663440" y="3048000"/>
            <a:ext cx="1417320" cy="4419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8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8,856</a:t>
            </a:r>
            <a:endParaRPr sz="108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6" name="矩形 35"/>
          <p:cNvSpPr>
            <a:spLocks noGrp="1"/>
          </p:cNvSpPr>
          <p:nvPr/>
        </p:nvSpPr>
        <p:spPr>
          <a:xfrm>
            <a:off x="6172200" y="3017520"/>
            <a:ext cx="1600200" cy="50292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37" name="矩形 36"/>
          <p:cNvSpPr>
            <a:spLocks noGrp="1"/>
          </p:cNvSpPr>
          <p:nvPr/>
        </p:nvSpPr>
        <p:spPr>
          <a:xfrm>
            <a:off x="6263640" y="3048000"/>
            <a:ext cx="1417320" cy="4419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2E7D32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2E7D32"/>
                </a:solidFill>
                <a:latin typeface="微软雅黑"/>
                <a:ea typeface="微软雅黑"/>
                <a:cs typeface="微软雅黑"/>
              </a:rPr>
              <a:t>-1.5%</a:t>
            </a:r>
            <a:endParaRPr sz="1080" b="1">
              <a:solidFill>
                <a:srgbClr val="2E7D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8" name="矩形 37"/>
          <p:cNvSpPr>
            <a:spLocks noGrp="1"/>
          </p:cNvSpPr>
          <p:nvPr/>
        </p:nvSpPr>
        <p:spPr>
          <a:xfrm>
            <a:off x="685800" y="3520440"/>
            <a:ext cx="2286000" cy="502920"/>
          </a:xfrm>
          <a:prstGeom prst="rect">
            <a:avLst/>
          </a:prstGeom>
          <a:solidFill>
            <a:srgbClr val="FFF1F2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39" name="矩形 38"/>
          <p:cNvSpPr>
            <a:spLocks noGrp="1"/>
          </p:cNvSpPr>
          <p:nvPr/>
        </p:nvSpPr>
        <p:spPr>
          <a:xfrm>
            <a:off x="777240" y="3550920"/>
            <a:ext cx="2103120" cy="4419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525252"/>
                </a:solidFill>
                <a:latin typeface="Consolas"/>
                <a:ea typeface="Consolas"/>
                <a:cs typeface="Consolas"/>
              </a:defRPr>
            </a:pPr>
            <a:r>
              <a:rPr sz="1080" b="1">
                <a:solidFill>
                  <a:srgbClr val="525252"/>
                </a:solidFill>
                <a:latin typeface="Consolas"/>
                <a:ea typeface="Consolas"/>
                <a:cs typeface="Consolas"/>
              </a:rPr>
              <a:t>Memory (ms)</a:t>
            </a:r>
            <a:endParaRPr sz="1080" b="1">
              <a:solidFill>
                <a:srgbClr val="52525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40" name="矩形 39"/>
          <p:cNvSpPr>
            <a:spLocks noGrp="1"/>
          </p:cNvSpPr>
          <p:nvPr/>
        </p:nvSpPr>
        <p:spPr>
          <a:xfrm>
            <a:off x="2971800" y="3520440"/>
            <a:ext cx="1600200" cy="502920"/>
          </a:xfrm>
          <a:prstGeom prst="rect">
            <a:avLst/>
          </a:prstGeom>
          <a:solidFill>
            <a:srgbClr val="FFF1F2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41" name="矩形 40"/>
          <p:cNvSpPr>
            <a:spLocks noGrp="1"/>
          </p:cNvSpPr>
          <p:nvPr/>
        </p:nvSpPr>
        <p:spPr>
          <a:xfrm>
            <a:off x="3063240" y="3550920"/>
            <a:ext cx="1417320" cy="4419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8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1,367</a:t>
            </a:r>
            <a:endParaRPr sz="108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2" name="矩形 41"/>
          <p:cNvSpPr>
            <a:spLocks noGrp="1"/>
          </p:cNvSpPr>
          <p:nvPr/>
        </p:nvSpPr>
        <p:spPr>
          <a:xfrm>
            <a:off x="4572000" y="3520440"/>
            <a:ext cx="1600200" cy="502920"/>
          </a:xfrm>
          <a:prstGeom prst="rect">
            <a:avLst/>
          </a:prstGeom>
          <a:solidFill>
            <a:srgbClr val="FFF1F2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43" name="矩形 42"/>
          <p:cNvSpPr>
            <a:spLocks noGrp="1"/>
          </p:cNvSpPr>
          <p:nvPr/>
        </p:nvSpPr>
        <p:spPr>
          <a:xfrm>
            <a:off x="4663440" y="3550920"/>
            <a:ext cx="1417320" cy="4419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8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782</a:t>
            </a:r>
            <a:endParaRPr sz="108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4" name="矩形 43"/>
          <p:cNvSpPr>
            <a:spLocks noGrp="1"/>
          </p:cNvSpPr>
          <p:nvPr/>
        </p:nvSpPr>
        <p:spPr>
          <a:xfrm>
            <a:off x="6172200" y="3520440"/>
            <a:ext cx="1600200" cy="502920"/>
          </a:xfrm>
          <a:prstGeom prst="rect">
            <a:avLst/>
          </a:prstGeom>
          <a:solidFill>
            <a:srgbClr val="FFF1F2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45" name="矩形 44"/>
          <p:cNvSpPr>
            <a:spLocks noGrp="1"/>
          </p:cNvSpPr>
          <p:nvPr/>
        </p:nvSpPr>
        <p:spPr>
          <a:xfrm>
            <a:off x="6263640" y="3550920"/>
            <a:ext cx="1417320" cy="4419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-42.8%</a:t>
            </a:r>
            <a:endParaRPr sz="1080" b="1"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6" name="矩形 45"/>
          <p:cNvSpPr>
            <a:spLocks noGrp="1"/>
          </p:cNvSpPr>
          <p:nvPr/>
        </p:nvSpPr>
        <p:spPr>
          <a:xfrm>
            <a:off x="685800" y="4023360"/>
            <a:ext cx="2286000" cy="50292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47" name="矩形 46"/>
          <p:cNvSpPr>
            <a:spLocks noGrp="1"/>
          </p:cNvSpPr>
          <p:nvPr/>
        </p:nvSpPr>
        <p:spPr>
          <a:xfrm>
            <a:off x="777240" y="4053840"/>
            <a:ext cx="2103120" cy="4419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525252"/>
                </a:solidFill>
                <a:latin typeface="Consolas"/>
                <a:ea typeface="Consolas"/>
                <a:cs typeface="Consolas"/>
              </a:defRPr>
            </a:pPr>
            <a:r>
              <a:rPr sz="1080" b="1">
                <a:solidFill>
                  <a:srgbClr val="525252"/>
                </a:solidFill>
                <a:latin typeface="Consolas"/>
                <a:ea typeface="Consolas"/>
                <a:cs typeface="Consolas"/>
              </a:rPr>
              <a:t>Sync (ms)</a:t>
            </a:r>
            <a:endParaRPr sz="1080" b="1">
              <a:solidFill>
                <a:srgbClr val="52525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48" name="矩形 47"/>
          <p:cNvSpPr>
            <a:spLocks noGrp="1"/>
          </p:cNvSpPr>
          <p:nvPr/>
        </p:nvSpPr>
        <p:spPr>
          <a:xfrm>
            <a:off x="2971800" y="4023360"/>
            <a:ext cx="1600200" cy="50292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49" name="矩形 48"/>
          <p:cNvSpPr>
            <a:spLocks noGrp="1"/>
          </p:cNvSpPr>
          <p:nvPr/>
        </p:nvSpPr>
        <p:spPr>
          <a:xfrm>
            <a:off x="3063240" y="4053840"/>
            <a:ext cx="1417320" cy="4419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8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21,799</a:t>
            </a:r>
            <a:endParaRPr sz="108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0" name="矩形 49"/>
          <p:cNvSpPr>
            <a:spLocks noGrp="1"/>
          </p:cNvSpPr>
          <p:nvPr/>
        </p:nvSpPr>
        <p:spPr>
          <a:xfrm>
            <a:off x="4572000" y="4023360"/>
            <a:ext cx="1600200" cy="50292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51" name="矩形 50"/>
          <p:cNvSpPr>
            <a:spLocks noGrp="1"/>
          </p:cNvSpPr>
          <p:nvPr/>
        </p:nvSpPr>
        <p:spPr>
          <a:xfrm>
            <a:off x="4663440" y="4053840"/>
            <a:ext cx="1417320" cy="4419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8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21,557</a:t>
            </a:r>
            <a:endParaRPr sz="108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2" name="矩形 51"/>
          <p:cNvSpPr>
            <a:spLocks noGrp="1"/>
          </p:cNvSpPr>
          <p:nvPr/>
        </p:nvSpPr>
        <p:spPr>
          <a:xfrm>
            <a:off x="6172200" y="4023360"/>
            <a:ext cx="1600200" cy="50292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53" name="矩形 52"/>
          <p:cNvSpPr>
            <a:spLocks noGrp="1"/>
          </p:cNvSpPr>
          <p:nvPr/>
        </p:nvSpPr>
        <p:spPr>
          <a:xfrm>
            <a:off x="6263640" y="4053840"/>
            <a:ext cx="1417320" cy="4419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2E7D32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2E7D32"/>
                </a:solidFill>
                <a:latin typeface="微软雅黑"/>
                <a:ea typeface="微软雅黑"/>
                <a:cs typeface="微软雅黑"/>
              </a:rPr>
              <a:t>-1.1%</a:t>
            </a:r>
            <a:endParaRPr sz="1080" b="1">
              <a:solidFill>
                <a:srgbClr val="2E7D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4" name="矩形 53"/>
          <p:cNvSpPr>
            <a:spLocks noGrp="1"/>
          </p:cNvSpPr>
          <p:nvPr/>
        </p:nvSpPr>
        <p:spPr>
          <a:xfrm>
            <a:off x="685800" y="4526280"/>
            <a:ext cx="22860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55" name="矩形 54"/>
          <p:cNvSpPr>
            <a:spLocks noGrp="1"/>
          </p:cNvSpPr>
          <p:nvPr/>
        </p:nvSpPr>
        <p:spPr>
          <a:xfrm>
            <a:off x="777240" y="4556760"/>
            <a:ext cx="2103120" cy="4419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525252"/>
                </a:solidFill>
                <a:latin typeface="Consolas"/>
                <a:ea typeface="Consolas"/>
                <a:cs typeface="Consolas"/>
              </a:defRPr>
            </a:pPr>
            <a:r>
              <a:rPr sz="1080" b="1">
                <a:solidFill>
                  <a:srgbClr val="525252"/>
                </a:solidFill>
                <a:latin typeface="Consolas"/>
                <a:ea typeface="Consolas"/>
                <a:cs typeface="Consolas"/>
              </a:rPr>
              <a:t>Events</a:t>
            </a:r>
            <a:endParaRPr sz="1080" b="1">
              <a:solidFill>
                <a:srgbClr val="52525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56" name="矩形 55"/>
          <p:cNvSpPr>
            <a:spLocks noGrp="1"/>
          </p:cNvSpPr>
          <p:nvPr/>
        </p:nvSpPr>
        <p:spPr>
          <a:xfrm>
            <a:off x="2971800" y="4526280"/>
            <a:ext cx="16002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57" name="矩形 56"/>
          <p:cNvSpPr>
            <a:spLocks noGrp="1"/>
          </p:cNvSpPr>
          <p:nvPr/>
        </p:nvSpPr>
        <p:spPr>
          <a:xfrm>
            <a:off x="3063240" y="4556760"/>
            <a:ext cx="1417320" cy="4419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8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362,108</a:t>
            </a:r>
            <a:endParaRPr sz="108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8" name="矩形 57"/>
          <p:cNvSpPr>
            <a:spLocks noGrp="1"/>
          </p:cNvSpPr>
          <p:nvPr/>
        </p:nvSpPr>
        <p:spPr>
          <a:xfrm>
            <a:off x="4572000" y="4526280"/>
            <a:ext cx="16002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59" name="矩形 58"/>
          <p:cNvSpPr>
            <a:spLocks noGrp="1"/>
          </p:cNvSpPr>
          <p:nvPr/>
        </p:nvSpPr>
        <p:spPr>
          <a:xfrm>
            <a:off x="4663440" y="4556760"/>
            <a:ext cx="1417320" cy="4419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8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281,118</a:t>
            </a:r>
            <a:endParaRPr sz="108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0" name="矩形 59"/>
          <p:cNvSpPr>
            <a:spLocks noGrp="1"/>
          </p:cNvSpPr>
          <p:nvPr/>
        </p:nvSpPr>
        <p:spPr>
          <a:xfrm>
            <a:off x="6172200" y="4526280"/>
            <a:ext cx="16002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61" name="矩形 60"/>
          <p:cNvSpPr>
            <a:spLocks noGrp="1"/>
          </p:cNvSpPr>
          <p:nvPr/>
        </p:nvSpPr>
        <p:spPr>
          <a:xfrm>
            <a:off x="6263640" y="4556760"/>
            <a:ext cx="1417320" cy="4419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2E7D32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2E7D32"/>
                </a:solidFill>
                <a:latin typeface="微软雅黑"/>
                <a:ea typeface="微软雅黑"/>
                <a:cs typeface="微软雅黑"/>
              </a:rPr>
              <a:t>-22.4%</a:t>
            </a:r>
            <a:endParaRPr sz="1080" b="1">
              <a:solidFill>
                <a:srgbClr val="2E7D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2" name="矩形: 圆角 61"/>
          <p:cNvSpPr>
            <a:spLocks noGrp="1"/>
          </p:cNvSpPr>
          <p:nvPr/>
        </p:nvSpPr>
        <p:spPr>
          <a:xfrm>
            <a:off x="8305800" y="1600200"/>
            <a:ext cx="2819400" cy="1143000"/>
          </a:xfrm>
          <a:prstGeom prst="roundRect">
            <a:avLst>
              <a:gd name="adj" fmla="val 4000"/>
            </a:avLst>
          </a:prstGeom>
          <a:solidFill>
            <a:srgbClr val="FFF1F2"/>
          </a:solidFill>
          <a:ln w="9525">
            <a:solidFill>
              <a:srgbClr val="E60012"/>
            </a:solidFill>
            <a:prstDash val="solid"/>
          </a:ln>
        </p:spPr>
      </p:sp>
      <p:sp>
        <p:nvSpPr>
          <p:cNvPr id="63" name="矩形 62"/>
          <p:cNvSpPr>
            <a:spLocks noGrp="1"/>
          </p:cNvSpPr>
          <p:nvPr/>
        </p:nvSpPr>
        <p:spPr>
          <a:xfrm>
            <a:off x="8534400" y="1790700"/>
            <a:ext cx="2362200" cy="259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44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Memory</a:t>
            </a:r>
            <a:endParaRPr sz="144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4" name="矩形 63"/>
          <p:cNvSpPr>
            <a:spLocks noGrp="1"/>
          </p:cNvSpPr>
          <p:nvPr/>
        </p:nvSpPr>
        <p:spPr>
          <a:xfrm>
            <a:off x="8534400" y="2133600"/>
            <a:ext cx="23622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337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-42.8%</a:t>
            </a:r>
            <a:endParaRPr sz="2700" b="1"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5" name="矩形: 圆角 64"/>
          <p:cNvSpPr>
            <a:spLocks noGrp="1"/>
          </p:cNvSpPr>
          <p:nvPr/>
        </p:nvSpPr>
        <p:spPr>
          <a:xfrm>
            <a:off x="8305800" y="3009900"/>
            <a:ext cx="2819400" cy="1143000"/>
          </a:xfrm>
          <a:prstGeom prst="roundRect">
            <a:avLst>
              <a:gd name="adj" fmla="val 4000"/>
            </a:avLst>
          </a:prstGeom>
          <a:solidFill>
            <a:srgbClr val="EEF4FF"/>
          </a:solidFill>
          <a:ln w="9525">
            <a:solidFill>
              <a:srgbClr val="377DFF"/>
            </a:solidFill>
            <a:prstDash val="solid"/>
          </a:ln>
        </p:spPr>
      </p:sp>
      <p:sp>
        <p:nvSpPr>
          <p:cNvPr id="66" name="矩形 65"/>
          <p:cNvSpPr>
            <a:spLocks noGrp="1"/>
          </p:cNvSpPr>
          <p:nvPr/>
        </p:nvSpPr>
        <p:spPr>
          <a:xfrm>
            <a:off x="8534400" y="3200400"/>
            <a:ext cx="2362200" cy="259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44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ACL kernel</a:t>
            </a:r>
            <a:endParaRPr sz="144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7" name="矩形 66"/>
          <p:cNvSpPr>
            <a:spLocks noGrp="1"/>
          </p:cNvSpPr>
          <p:nvPr/>
        </p:nvSpPr>
        <p:spPr>
          <a:xfrm>
            <a:off x="8534400" y="3543300"/>
            <a:ext cx="23622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3375" b="1">
                <a:solidFill>
                  <a:srgbClr val="377DFF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rPr>
              <a:t>-26.9%</a:t>
            </a:r>
            <a:endParaRPr sz="2700" b="1">
              <a:solidFill>
                <a:srgbClr val="377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8" name="矩形: 圆角 67"/>
          <p:cNvSpPr>
            <a:spLocks noGrp="1"/>
          </p:cNvSpPr>
          <p:nvPr/>
        </p:nvSpPr>
        <p:spPr>
          <a:xfrm>
            <a:off x="8305800" y="4419600"/>
            <a:ext cx="2819400" cy="800100"/>
          </a:xfrm>
          <a:prstGeom prst="roundRect">
            <a:avLst>
              <a:gd name="adj" fmla="val 5714"/>
            </a:avLst>
          </a:prstGeom>
          <a:solidFill>
            <a:srgbClr val="EDF7EC"/>
          </a:solidFill>
          <a:ln w="9525">
            <a:solidFill>
              <a:srgbClr val="43A047"/>
            </a:solidFill>
            <a:prstDash val="solid"/>
          </a:ln>
        </p:spPr>
      </p:sp>
      <p:sp>
        <p:nvSpPr>
          <p:cNvPr id="69" name="矩形 68"/>
          <p:cNvSpPr>
            <a:spLocks noGrp="1"/>
          </p:cNvSpPr>
          <p:nvPr/>
        </p:nvSpPr>
        <p:spPr>
          <a:xfrm>
            <a:off x="8534400" y="4495800"/>
            <a:ext cx="23622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575" b="1">
                <a:solidFill>
                  <a:srgbClr val="2E7D32"/>
                </a:solidFill>
                <a:latin typeface="微软雅黑"/>
                <a:ea typeface="微软雅黑"/>
                <a:cs typeface="微软雅黑"/>
              </a:defRPr>
            </a:pPr>
            <a:r>
              <a:rPr sz="1260" b="1">
                <a:solidFill>
                  <a:srgbClr val="2E7D32"/>
                </a:solidFill>
                <a:latin typeface="微软雅黑"/>
                <a:ea typeface="微软雅黑"/>
                <a:cs typeface="微软雅黑"/>
              </a:rPr>
              <a:t>Compute 仅 -1.5%</a:t>
            </a:r>
            <a:endParaRPr sz="1260" b="1">
              <a:solidFill>
                <a:srgbClr val="2E7D32"/>
              </a:solidFill>
              <a:latin typeface="微软雅黑"/>
              <a:ea typeface="微软雅黑"/>
              <a:cs typeface="微软雅黑"/>
            </a:endParaRPr>
          </a:p>
          <a:p>
            <a:pPr algn="ctr">
              <a:lnSpc>
                <a:spcPct val="108000"/>
              </a:lnSpc>
              <a:buNone/>
              <a:defRPr sz="1575" b="1">
                <a:solidFill>
                  <a:srgbClr val="2E7D32"/>
                </a:solidFill>
                <a:latin typeface="微软雅黑"/>
                <a:ea typeface="微软雅黑"/>
                <a:cs typeface="微软雅黑"/>
              </a:defRPr>
            </a:pPr>
            <a:r>
              <a:rPr sz="1260" b="1">
                <a:solidFill>
                  <a:srgbClr val="2E7D32"/>
                </a:solidFill>
                <a:latin typeface="微软雅黑"/>
                <a:ea typeface="微软雅黑"/>
                <a:cs typeface="微软雅黑"/>
              </a:rPr>
              <a:t>说明融合没有减少数学计算量</a:t>
            </a:r>
            <a:endParaRPr sz="1260" b="1">
              <a:solidFill>
                <a:srgbClr val="2E7D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0" name="矩形 69"/>
          <p:cNvSpPr>
            <a:spLocks noGrp="1"/>
          </p:cNvSpPr>
          <p:nvPr/>
        </p:nvSpPr>
        <p:spPr>
          <a:xfrm>
            <a:off x="1600200" y="5600700"/>
            <a:ext cx="89916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87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最直接的收益来自更少的 HBM 往返和更少的 kernel 启动间隙。</a:t>
            </a:r>
            <a:endParaRPr sz="1500" b="1"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5" name="图片 2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矩形 1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slide-title"/>
          <p:cNvSpPr>
            <a:spLocks noGrp="1"/>
          </p:cNvSpPr>
          <p:nvPr/>
        </p:nvSpPr>
        <p:spPr>
          <a:xfrm>
            <a:off x="609600" y="320040"/>
            <a:ext cx="944880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3300" b="0">
                <a:solidFill>
                  <a:srgbClr val="111111"/>
                </a:solidFill>
                <a:latin typeface="微软雅黑"/>
                <a:ea typeface="微软雅黑"/>
                <a:cs typeface="微软雅黑"/>
              </a:defRPr>
            </a:pPr>
            <a:r>
              <a:rPr sz="2640">
                <a:sym typeface="+mn-ea"/>
              </a:rPr>
              <a:t>融合算子优化与 Profiling</a:t>
            </a:r>
            <a:endParaRPr sz="2640">
              <a:solidFill>
                <a:srgbClr val="111111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28" name="图片 2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163" y="1143000"/>
            <a:ext cx="5214276" cy="4152900"/>
          </a:xfrm>
          <a:prstGeom prst="rect">
            <a:avLst/>
          </a:prstGeom>
        </p:spPr>
      </p:pic>
      <p:sp>
        <p:nvSpPr>
          <p:cNvPr id="6" name="矩形 5"/>
          <p:cNvSpPr>
            <a:spLocks noGrp="1"/>
          </p:cNvSpPr>
          <p:nvPr/>
        </p:nvSpPr>
        <p:spPr>
          <a:xfrm>
            <a:off x="1752600" y="5257800"/>
            <a:ext cx="28194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725" b="1">
                <a:solidFill>
                  <a:srgbClr val="2E7D32"/>
                </a:solidFill>
                <a:latin typeface="微软雅黑"/>
                <a:ea typeface="微软雅黑"/>
                <a:cs typeface="微软雅黑"/>
              </a:defRPr>
            </a:pPr>
            <a:r>
              <a:rPr sz="1380" b="1">
                <a:solidFill>
                  <a:srgbClr val="2E7D32"/>
                </a:solidFill>
                <a:latin typeface="微软雅黑"/>
                <a:ea typeface="微软雅黑"/>
                <a:cs typeface="微软雅黑"/>
              </a:rPr>
              <a:t>端到端训练吞吐</a:t>
            </a:r>
            <a:endParaRPr sz="1380" b="1">
              <a:solidFill>
                <a:srgbClr val="2E7D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矩形: 圆角 6"/>
          <p:cNvSpPr>
            <a:spLocks noGrp="1"/>
          </p:cNvSpPr>
          <p:nvPr/>
        </p:nvSpPr>
        <p:spPr>
          <a:xfrm>
            <a:off x="6400800" y="1257300"/>
            <a:ext cx="4724400" cy="952500"/>
          </a:xfrm>
          <a:prstGeom prst="roundRect">
            <a:avLst>
              <a:gd name="adj" fmla="val 4800"/>
            </a:avLst>
          </a:prstGeom>
          <a:solidFill>
            <a:srgbClr val="EDF7EC"/>
          </a:solidFill>
          <a:ln w="9525">
            <a:solidFill>
              <a:srgbClr val="43A047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6629400" y="1409700"/>
            <a:ext cx="15240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43A047"/>
                </a:solidFill>
                <a:latin typeface="微软雅黑"/>
                <a:ea typeface="微软雅黑"/>
                <a:cs typeface="微软雅黑"/>
              </a:defRPr>
            </a:pPr>
            <a:r>
              <a:rPr sz="1440" b="1">
                <a:solidFill>
                  <a:srgbClr val="43A047"/>
                </a:solidFill>
                <a:latin typeface="微软雅黑"/>
                <a:ea typeface="微软雅黑"/>
                <a:cs typeface="微软雅黑"/>
              </a:rPr>
              <a:t>RMSNorm 耗时</a:t>
            </a:r>
            <a:endParaRPr sz="1440" b="1">
              <a:solidFill>
                <a:srgbClr val="43A04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8267700" y="1409700"/>
            <a:ext cx="25527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8000"/>
              </a:lnSpc>
              <a:buNone/>
              <a:defRPr sz="15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26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3.64 ms → 0.84 ms</a:t>
            </a:r>
            <a:endParaRPr sz="126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6629400" y="1805940"/>
            <a:ext cx="4191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43A047"/>
                </a:solidFill>
                <a:latin typeface="微软雅黑"/>
                <a:ea typeface="微软雅黑"/>
                <a:cs typeface="微软雅黑"/>
              </a:defRPr>
            </a:pPr>
            <a:r>
              <a:rPr sz="1440" b="1">
                <a:solidFill>
                  <a:srgbClr val="43A047"/>
                </a:solidFill>
                <a:latin typeface="微软雅黑"/>
                <a:ea typeface="微软雅黑"/>
                <a:cs typeface="微软雅黑"/>
              </a:rPr>
              <a:t>约 -77%</a:t>
            </a:r>
            <a:endParaRPr sz="1440" b="1">
              <a:solidFill>
                <a:srgbClr val="43A04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矩形: 圆角 10"/>
          <p:cNvSpPr>
            <a:spLocks noGrp="1"/>
          </p:cNvSpPr>
          <p:nvPr/>
        </p:nvSpPr>
        <p:spPr>
          <a:xfrm>
            <a:off x="6400800" y="2438400"/>
            <a:ext cx="4724400" cy="952500"/>
          </a:xfrm>
          <a:prstGeom prst="roundRect">
            <a:avLst>
              <a:gd name="adj" fmla="val 4800"/>
            </a:avLst>
          </a:prstGeom>
          <a:solidFill>
            <a:srgbClr val="EEF4FF"/>
          </a:solidFill>
          <a:ln w="9525">
            <a:solidFill>
              <a:srgbClr val="377DFF"/>
            </a:solidFill>
            <a:prstDash val="solid"/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6629400" y="2590800"/>
            <a:ext cx="15240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defRPr>
            </a:pPr>
            <a:r>
              <a:rPr sz="144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rPr>
              <a:t>Kernel 层面</a:t>
            </a:r>
            <a:endParaRPr sz="1440" b="1">
              <a:solidFill>
                <a:srgbClr val="377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8267700" y="2590800"/>
            <a:ext cx="25527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8000"/>
              </a:lnSpc>
              <a:buNone/>
              <a:defRPr sz="15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26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扣除 Sync 后</a:t>
            </a:r>
            <a:endParaRPr sz="126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6629400" y="2987040"/>
            <a:ext cx="4191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defRPr>
            </a:pPr>
            <a:r>
              <a:rPr sz="144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rPr>
              <a:t>约 -7.0%</a:t>
            </a:r>
            <a:endParaRPr sz="1440" b="1">
              <a:solidFill>
                <a:srgbClr val="377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矩形: 圆角 14"/>
          <p:cNvSpPr>
            <a:spLocks noGrp="1"/>
          </p:cNvSpPr>
          <p:nvPr/>
        </p:nvSpPr>
        <p:spPr>
          <a:xfrm>
            <a:off x="6400800" y="3619500"/>
            <a:ext cx="4724400" cy="952500"/>
          </a:xfrm>
          <a:prstGeom prst="roundRect">
            <a:avLst>
              <a:gd name="adj" fmla="val 4800"/>
            </a:avLst>
          </a:prstGeom>
          <a:solidFill>
            <a:srgbClr val="FFF3E5"/>
          </a:solidFill>
          <a:ln w="9525">
            <a:solidFill>
              <a:srgbClr val="F57C00"/>
            </a:solidFill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6629400" y="3771900"/>
            <a:ext cx="15240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F57C00"/>
                </a:solidFill>
                <a:latin typeface="微软雅黑"/>
                <a:ea typeface="微软雅黑"/>
                <a:cs typeface="微软雅黑"/>
              </a:defRPr>
            </a:pPr>
            <a:r>
              <a:rPr sz="1440" b="1">
                <a:solidFill>
                  <a:srgbClr val="F57C00"/>
                </a:solidFill>
                <a:latin typeface="微软雅黑"/>
                <a:ea typeface="微软雅黑"/>
                <a:cs typeface="微软雅黑"/>
              </a:rPr>
              <a:t>Peak memory</a:t>
            </a:r>
            <a:endParaRPr sz="1440" b="1">
              <a:solidFill>
                <a:srgbClr val="F57C0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8267700" y="3771900"/>
            <a:ext cx="25527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8000"/>
              </a:lnSpc>
              <a:buNone/>
              <a:defRPr sz="15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26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≈33.5 GiB → ≈33.5 GiB</a:t>
            </a:r>
            <a:endParaRPr sz="126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6629400" y="4168140"/>
            <a:ext cx="4191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F57C00"/>
                </a:solidFill>
                <a:latin typeface="微软雅黑"/>
                <a:ea typeface="微软雅黑"/>
                <a:cs typeface="微软雅黑"/>
              </a:defRPr>
            </a:pPr>
            <a:r>
              <a:rPr sz="1440" b="1">
                <a:solidFill>
                  <a:srgbClr val="F57C00"/>
                </a:solidFill>
                <a:latin typeface="微软雅黑"/>
                <a:ea typeface="微软雅黑"/>
                <a:cs typeface="微软雅黑"/>
              </a:rPr>
              <a:t>不变</a:t>
            </a:r>
            <a:endParaRPr sz="1440" b="1">
              <a:solidFill>
                <a:srgbClr val="F57C0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9" name="矩形: 圆角 18"/>
          <p:cNvSpPr>
            <a:spLocks noGrp="1"/>
          </p:cNvSpPr>
          <p:nvPr/>
        </p:nvSpPr>
        <p:spPr>
          <a:xfrm>
            <a:off x="6400800" y="4914900"/>
            <a:ext cx="4724400" cy="685800"/>
          </a:xfrm>
          <a:prstGeom prst="roundRect">
            <a:avLst>
              <a:gd name="adj" fmla="val 6667"/>
            </a:avLst>
          </a:prstGeom>
          <a:solidFill>
            <a:srgbClr val="FFF1F2"/>
          </a:solidFill>
          <a:ln w="9525">
            <a:solidFill>
              <a:srgbClr val="E60012"/>
            </a:solidFill>
            <a:prstDash val="solid"/>
          </a:ln>
        </p:spPr>
      </p:sp>
      <p:sp>
        <p:nvSpPr>
          <p:cNvPr id="20" name="矩形 19"/>
          <p:cNvSpPr>
            <a:spLocks noGrp="1"/>
          </p:cNvSpPr>
          <p:nvPr/>
        </p:nvSpPr>
        <p:spPr>
          <a:xfrm>
            <a:off x="6667500" y="4914900"/>
            <a:ext cx="41910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65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32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Sync 约占总耗时 33%，限制了单个融合算子对整体性能的放大效果。</a:t>
            </a:r>
            <a:endParaRPr sz="1320" b="1"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" name="矩形: 圆角 20"/>
          <p:cNvSpPr>
            <a:spLocks noGrp="1"/>
          </p:cNvSpPr>
          <p:nvPr/>
        </p:nvSpPr>
        <p:spPr>
          <a:xfrm>
            <a:off x="1371600" y="5791200"/>
            <a:ext cx="8229600" cy="441960"/>
          </a:xfrm>
          <a:prstGeom prst="roundRect">
            <a:avLst>
              <a:gd name="adj" fmla="val 10345"/>
            </a:avLst>
          </a:prstGeom>
          <a:solidFill>
            <a:srgbClr val="FFF1F2"/>
          </a:solidFill>
          <a:ln w="9525">
            <a:solidFill>
              <a:srgbClr val="E60012"/>
            </a:solidFill>
            <a:prstDash val="solid"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1676400" y="5791200"/>
            <a:ext cx="7620000" cy="4419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87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Profiling 的价值：不仅证明“更快”，还定位“快在哪里、为什么没有更快”。</a:t>
            </a:r>
            <a:endParaRPr sz="1500" b="1"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文本框 1"/>
          <p:cNvSpPr>
            <a:spLocks noGrp="1"/>
          </p:cNvSpPr>
          <p:nvPr/>
        </p:nvSpPr>
        <p:spPr>
          <a:xfrm>
            <a:off x="874644" y="1208599"/>
            <a:ext cx="3608680" cy="9233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400">
                <a:latin typeface="Arial" panose="020B0604020202090204"/>
                <a:ea typeface="Arial" panose="020B0604020202090204"/>
                <a:cs typeface="Arial" panose="020B0604020202090204"/>
              </a:rPr>
              <a:t>Thank you.</a:t>
            </a:r>
            <a:endParaRPr sz="5400"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3" name="文本框 2"/>
          <p:cNvSpPr>
            <a:spLocks noGrp="1"/>
          </p:cNvSpPr>
          <p:nvPr/>
        </p:nvSpPr>
        <p:spPr>
          <a:xfrm>
            <a:off x="6400801" y="1393264"/>
            <a:ext cx="4699220" cy="23259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sz="1200">
                <a:solidFill>
                  <a:schemeClr val="bg1">
                    <a:lumMod val="50000"/>
                  </a:schemeClr>
                </a:solidFill>
                <a:latin typeface="宋体"/>
                <a:ea typeface="宋体"/>
                <a:cs typeface="宋体"/>
              </a:rPr>
              <a:t>社区愿景：打造开放易用、技术领先的AI算力新生态</a:t>
            </a:r>
            <a:endParaRPr sz="1200">
              <a:solidFill>
                <a:schemeClr val="bg1">
                  <a:lumMod val="50000"/>
                </a:schemeClr>
              </a:solidFill>
              <a:latin typeface="宋体"/>
              <a:ea typeface="宋体"/>
              <a:cs typeface="宋体"/>
            </a:endParaRPr>
          </a:p>
          <a:p>
            <a:pPr>
              <a:lnSpc>
                <a:spcPct val="150000"/>
              </a:lnSpc>
              <a:buNone/>
            </a:pPr>
            <a:r>
              <a:rPr sz="1200">
                <a:solidFill>
                  <a:schemeClr val="bg1">
                    <a:lumMod val="50000"/>
                  </a:schemeClr>
                </a:solidFill>
                <a:latin typeface="宋体"/>
                <a:ea typeface="宋体"/>
                <a:cs typeface="宋体"/>
              </a:rPr>
              <a:t>社区使命：使能开发者基于CANN社区自主研究创新，构筑根深叶茂、跨产业协同共享共赢的CANN生态</a:t>
            </a:r>
            <a:endParaRPr sz="1200">
              <a:solidFill>
                <a:schemeClr val="bg1">
                  <a:lumMod val="50000"/>
                </a:schemeClr>
              </a:solidFill>
              <a:latin typeface="宋体"/>
              <a:ea typeface="宋体"/>
              <a:cs typeface="宋体"/>
            </a:endParaRPr>
          </a:p>
          <a:p>
            <a:pPr>
              <a:lnSpc>
                <a:spcPct val="150000"/>
              </a:lnSpc>
              <a:buNone/>
            </a:pPr>
          </a:p>
          <a:p>
            <a:pPr>
              <a:lnSpc>
                <a:spcPct val="150000"/>
              </a:lnSpc>
              <a:buNone/>
            </a:pPr>
            <a:r>
              <a:rPr sz="1000">
                <a:solidFill>
                  <a:schemeClr val="bg1">
                    <a:lumMod val="50000"/>
                  </a:schemeClr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Vision: Building an Open, Easy-to-Use, and Technology-leading AI Computing Ecosystem</a:t>
            </a:r>
            <a:endParaRPr sz="1000">
              <a:solidFill>
                <a:schemeClr val="bg1">
                  <a:lumMod val="50000"/>
                </a:schemeClr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>
              <a:lnSpc>
                <a:spcPct val="150000"/>
              </a:lnSpc>
              <a:buNone/>
            </a:pPr>
            <a:r>
              <a:rPr sz="1000">
                <a:solidFill>
                  <a:schemeClr val="bg1">
                    <a:lumMod val="50000"/>
                  </a:schemeClr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Mission: Enable developers to independently research and innovate based on the CANN community and build a win-win CANN ecosystem with deep roots and cross-industry collaboration and sharing.</a:t>
            </a:r>
            <a:endParaRPr sz="1000">
              <a:solidFill>
                <a:schemeClr val="bg1">
                  <a:lumMod val="50000"/>
                </a:schemeClr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pic>
        <p:nvPicPr>
          <p:cNvPr id="20" name="图片 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37202" y="6042990"/>
            <a:ext cx="1312676" cy="348426"/>
          </a:xfrm>
          <a:prstGeom prst="rect">
            <a:avLst/>
          </a:prstGeom>
        </p:spPr>
      </p:pic>
      <p:sp>
        <p:nvSpPr>
          <p:cNvPr id="9" name="文本框 8"/>
          <p:cNvSpPr>
            <a:spLocks noGrp="1"/>
          </p:cNvSpPr>
          <p:nvPr/>
        </p:nvSpPr>
        <p:spPr>
          <a:xfrm>
            <a:off x="7056392" y="5538463"/>
            <a:ext cx="1430200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上CANN社区获取干货</a:t>
            </a:r>
            <a:endParaRPr sz="1000"/>
          </a:p>
        </p:txBody>
      </p:sp>
      <p:sp>
        <p:nvSpPr>
          <p:cNvPr id="11" name="文本框 10"/>
          <p:cNvSpPr>
            <a:spLocks noGrp="1"/>
          </p:cNvSpPr>
          <p:nvPr/>
        </p:nvSpPr>
        <p:spPr>
          <a:xfrm>
            <a:off x="8741387" y="5538463"/>
            <a:ext cx="1686680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关注CANN公众号获取资讯</a:t>
            </a:r>
            <a:endParaRPr sz="1000"/>
          </a:p>
        </p:txBody>
      </p:sp>
      <p:sp>
        <p:nvSpPr>
          <p:cNvPr id="14" name="文本框 13"/>
          <p:cNvSpPr>
            <a:spLocks noGrp="1"/>
          </p:cNvSpPr>
          <p:nvPr/>
        </p:nvSpPr>
        <p:spPr>
          <a:xfrm>
            <a:off x="620201" y="6130454"/>
            <a:ext cx="8763000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chemeClr val="bg1">
                    <a:lumMod val="50000"/>
                  </a:schemeClr>
                </a:solidFill>
                <a:latin typeface="+mj-ea"/>
                <a:ea typeface="+mj-ea"/>
                <a:cs typeface="+mj-ea"/>
                <a:hlinkClick r:id="rId2"/>
              </a:rPr>
              <a:t>https://gitcode.com/cann/cann-learning-hub/tree/test/tutorials</a:t>
            </a:r>
            <a:endParaRPr sz="1000">
              <a:solidFill>
                <a:schemeClr val="bg1">
                  <a:lumMod val="50000"/>
                </a:schemeClr>
              </a:solidFill>
              <a:latin typeface="+mj-ea"/>
              <a:ea typeface="+mj-ea"/>
              <a:cs typeface="+mj-ea"/>
              <a:hlinkClick r:id="rId2"/>
            </a:endParaRPr>
          </a:p>
        </p:txBody>
      </p:sp>
      <p:pic>
        <p:nvPicPr>
          <p:cNvPr id="24" name="图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6584" y="3898269"/>
            <a:ext cx="1686679" cy="1686679"/>
          </a:xfrm>
          <a:prstGeom prst="rect">
            <a:avLst/>
          </a:prstGeom>
        </p:spPr>
      </p:pic>
      <p:pic>
        <p:nvPicPr>
          <p:cNvPr id="25" name="Picture 2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6965102" y="3908076"/>
            <a:ext cx="1686678" cy="1676872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9944</Words>
  <Application>WPS 演示</Application>
  <PresentationFormat>宽屏</PresentationFormat>
  <Paragraphs>1413</Paragraphs>
  <Slides>35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20</vt:i4>
      </vt:variant>
      <vt:variant>
        <vt:lpstr>主题</vt:lpstr>
      </vt:variant>
      <vt:variant>
        <vt:i4>3</vt:i4>
      </vt:variant>
      <vt:variant>
        <vt:lpstr>幻灯片标题</vt:lpstr>
      </vt:variant>
      <vt:variant>
        <vt:i4>35</vt:i4>
      </vt:variant>
    </vt:vector>
  </HeadingPairs>
  <TitlesOfParts>
    <vt:vector size="58" baseType="lpstr">
      <vt:lpstr>Arial</vt:lpstr>
      <vt:lpstr>宋体</vt:lpstr>
      <vt:lpstr>Wingdings</vt:lpstr>
      <vt:lpstr>Wingdings</vt:lpstr>
      <vt:lpstr>苹方-简</vt:lpstr>
      <vt:lpstr>微软雅黑</vt:lpstr>
      <vt:lpstr>汉仪旗黑</vt:lpstr>
      <vt:lpstr>宋体</vt:lpstr>
      <vt:lpstr>Arial Unicode MS</vt:lpstr>
      <vt:lpstr>宋体-简</vt:lpstr>
      <vt:lpstr>微软雅黑</vt:lpstr>
      <vt:lpstr>Arial</vt:lpstr>
      <vt:lpstr>Consolas</vt:lpstr>
      <vt:lpstr>等线 Light</vt:lpstr>
      <vt:lpstr>Thonburi</vt:lpstr>
      <vt:lpstr>等线</vt:lpstr>
      <vt:lpstr>Calibri</vt:lpstr>
      <vt:lpstr>Helvetica Neue</vt:lpstr>
      <vt:lpstr>儷宋 Pro</vt:lpstr>
      <vt:lpstr>宋体</vt:lpstr>
      <vt:lpstr>WPS</vt:lpstr>
      <vt:lpstr>Office 主题​​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liuyuanchen</cp:lastModifiedBy>
  <cp:revision>164</cp:revision>
  <dcterms:created xsi:type="dcterms:W3CDTF">2026-07-20T07:25:11Z</dcterms:created>
  <dcterms:modified xsi:type="dcterms:W3CDTF">2026-07-20T07:25:11Z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2052-12.1.26035.26035</vt:lpwstr>
  </property>
  <property fmtid="{D5CDD505-2E9C-101B-9397-08002B2CF9AE}" pid="3" name="ICV">
    <vt:lpwstr>43E4D0493CEDBA50ACCC5D6AD7564EFE_41</vt:lpwstr>
  </property>
</Properties>
</file>