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33.xml" ContentType="application/vnd.openxmlformats-officedocument.presentationml.slide+xml"/>
  <Override PartName="/ppt/notesSlides/notesSlide3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63" r:id="rId4"/>
    <p:sldMasterId id="2147483665" r:id="rId5"/>
  </p:sldMasterIdLst>
  <p:notesMasterIdLst>
    <p:notesMasterId r:id="rId7"/>
  </p:notesMasterIdLst>
  <p:sldIdLst>
    <p:sldId id="325" r:id="rId6"/>
    <p:sldId id="327" r:id="rId8"/>
    <p:sldId id="369" r:id="rId9"/>
    <p:sldId id="370" r:id="rId10"/>
    <p:sldId id="371" r:id="rId11"/>
    <p:sldId id="389" r:id="rId12"/>
    <p:sldId id="374" r:id="rId13"/>
    <p:sldId id="329" r:id="rId14"/>
    <p:sldId id="390" r:id="rId15"/>
    <p:sldId id="414" r:id="rId16"/>
    <p:sldId id="415" r:id="rId17"/>
    <p:sldId id="379" r:id="rId18"/>
    <p:sldId id="407" r:id="rId19"/>
    <p:sldId id="330" r:id="rId20"/>
    <p:sldId id="416" r:id="rId21"/>
    <p:sldId id="424" r:id="rId22"/>
    <p:sldId id="418" r:id="rId23"/>
    <p:sldId id="420" r:id="rId24"/>
    <p:sldId id="419" r:id="rId25"/>
    <p:sldId id="408" r:id="rId26"/>
    <p:sldId id="331" r:id="rId27"/>
    <p:sldId id="397" r:id="rId28"/>
    <p:sldId id="398" r:id="rId29"/>
    <p:sldId id="399" r:id="rId30"/>
    <p:sldId id="430" r:id="rId43"/>
    <p:sldId id="409" r:id="rId31"/>
    <p:sldId id="333" r:id="rId32"/>
    <p:sldId id="425" r:id="rId33"/>
    <p:sldId id="426" r:id="rId34"/>
    <p:sldId id="427" r:id="rId35"/>
    <p:sldId id="428" r:id="rId36"/>
    <p:sldId id="429" r:id="rId37"/>
    <p:sldId id="366" r:id="rId38"/>
  </p:sldIdLst>
  <p:sldSz cx="12192000" cy="6858000"/>
  <p:notesSz cx="6858000" cy="9144000"/>
  <p:custDataLst>
    <p:tags r:id="rId42"/>
  </p:custDataLst>
  <p:defaultTextStyle>
    <a:lvl1pPr marL="0" algn="l" defTabSz="914400" rtl="0" eaLnBrk="1" latinLnBrk="0" hangingPunct="1">
      <a:defRPr sz="1800" kern="1200">
        <a:solidFill>
          <a:schemeClr val="tx1"/>
        </a:solidFill>
        <a:latin typeface="Times New Roman" panose="02020503050405090304"/>
        <a:ea typeface="微软雅黑"/>
        <a:cs typeface="Times New Roman" panose="02020503050405090304"/>
      </a:defRPr>
    </a:lvl1pPr>
    <a:lvl2pPr marL="457200" algn="l" defTabSz="914400" rtl="0" eaLnBrk="1" latinLnBrk="0" hangingPunct="1">
      <a:defRPr sz="1800" kern="1200">
        <a:solidFill>
          <a:schemeClr val="tx1"/>
        </a:solidFill>
        <a:latin typeface="Times New Roman" panose="02020503050405090304"/>
        <a:ea typeface="微软雅黑"/>
        <a:cs typeface="Times New Roman" panose="02020503050405090304"/>
      </a:defRPr>
    </a:lvl2pPr>
    <a:lvl3pPr marL="914400" algn="l" defTabSz="914400" rtl="0" eaLnBrk="1" latinLnBrk="0" hangingPunct="1">
      <a:defRPr sz="1800" kern="1200">
        <a:solidFill>
          <a:schemeClr val="tx1"/>
        </a:solidFill>
        <a:latin typeface="Times New Roman" panose="02020503050405090304"/>
        <a:ea typeface="微软雅黑"/>
        <a:cs typeface="Times New Roman" panose="02020503050405090304"/>
      </a:defRPr>
    </a:lvl3pPr>
    <a:lvl4pPr marL="1371600" algn="l" defTabSz="914400" rtl="0" eaLnBrk="1" latinLnBrk="0" hangingPunct="1">
      <a:defRPr sz="1800" kern="1200">
        <a:solidFill>
          <a:schemeClr val="tx1"/>
        </a:solidFill>
        <a:latin typeface="Times New Roman" panose="02020503050405090304"/>
        <a:ea typeface="微软雅黑"/>
        <a:cs typeface="Times New Roman" panose="02020503050405090304"/>
      </a:defRPr>
    </a:lvl4pPr>
    <a:lvl5pPr marL="1828800" algn="l" defTabSz="914400" rtl="0" eaLnBrk="1" latinLnBrk="0" hangingPunct="1">
      <a:defRPr sz="1800" kern="1200">
        <a:solidFill>
          <a:schemeClr val="tx1"/>
        </a:solidFill>
        <a:latin typeface="Times New Roman" panose="02020503050405090304"/>
        <a:ea typeface="微软雅黑"/>
        <a:cs typeface="Times New Roman" panose="02020503050405090304"/>
      </a:defRPr>
    </a:lvl5pPr>
    <a:lvl6pPr marL="2286000" algn="l" defTabSz="914400" rtl="0" eaLnBrk="1" latinLnBrk="0" hangingPunct="1">
      <a:defRPr sz="1800" kern="1200">
        <a:solidFill>
          <a:schemeClr val="tx1"/>
        </a:solidFill>
        <a:latin typeface="Times New Roman" panose="02020503050405090304"/>
        <a:ea typeface="微软雅黑"/>
        <a:cs typeface="Times New Roman" panose="02020503050405090304"/>
      </a:defRPr>
    </a:lvl6pPr>
    <a:lvl7pPr marL="2743200" algn="l" defTabSz="914400" rtl="0" eaLnBrk="1" latinLnBrk="0" hangingPunct="1">
      <a:defRPr sz="1800" kern="1200">
        <a:solidFill>
          <a:schemeClr val="tx1"/>
        </a:solidFill>
        <a:latin typeface="Times New Roman" panose="02020503050405090304"/>
        <a:ea typeface="微软雅黑"/>
        <a:cs typeface="Times New Roman" panose="02020503050405090304"/>
      </a:defRPr>
    </a:lvl7pPr>
    <a:lvl8pPr marL="3200400" algn="l" defTabSz="914400" rtl="0" eaLnBrk="1" latinLnBrk="0" hangingPunct="1">
      <a:defRPr sz="1800" kern="1200">
        <a:solidFill>
          <a:schemeClr val="tx1"/>
        </a:solidFill>
        <a:latin typeface="Times New Roman" panose="02020503050405090304"/>
        <a:ea typeface="微软雅黑"/>
        <a:cs typeface="Times New Roman" panose="02020503050405090304"/>
      </a:defRPr>
    </a:lvl8pPr>
    <a:lvl9pPr marL="3657600" algn="l" defTabSz="914400" rtl="0" eaLnBrk="1" latinLnBrk="0" hangingPunct="1">
      <a:defRPr sz="1800" kern="1200">
        <a:solidFill>
          <a:schemeClr val="tx1"/>
        </a:solidFill>
        <a:latin typeface="Times New Roman" panose="02020503050405090304"/>
        <a:ea typeface="微软雅黑"/>
        <a:cs typeface="Times New Roman" panose="020205030504050903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2" Type="http://schemas.openxmlformats.org/officeDocument/2006/relationships/tags" Target="tags/tag1.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Master" Target="slideMasters/slideMaster3.xml"/><Relationship Id="rId39" Type="http://schemas.openxmlformats.org/officeDocument/2006/relationships/presProps" Target="presProps.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 Id="rId43"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atin typeface="Times New Roman" panose="02020503050405090304"/>
        <a:ea typeface="微软雅黑"/>
        <a:cs typeface="Times New Roman" panose="02020503050405090304"/>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Type="http://schemas.openxmlformats.org/officeDocument/2006/relationships/slide" Target="../slides/slide24.xml" Id="Rc1d80722e10c4fdd"/><Relationship Type="http://schemas.openxmlformats.org/officeDocument/2006/relationships/notesMaster" Target="../notesMasters/notesMaster1.xml" Id="Re2af443f0b57482e"/></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Type="http://schemas.openxmlformats.org/officeDocument/2006/relationships/slide" Target="../slides/slide33.xml" Id="R038132bbc57043a3"/><Relationship Type="http://schemas.openxmlformats.org/officeDocument/2006/relationships/notesMaster" Target="../notesMasters/notesMaster1.xml" Id="Rab7f586adb0f4b07"/></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1 页｜开场：用 Wordle 理解大模型训练</a:t>
            </a:r>
          </a:p>
          <a:p>
            <a:r>
              <a:t>建议约 5 分钟（包含互动）。课程累计 0–5 分钟。</a:t>
            </a:r>
          </a:p>
          <a:p/>
          <a:p>
            <a:r>
              <a:t>【00:00–01:00 任务引入】</a:t>
            </a:r>
          </a:p>
          <a:p>
            <a:r>
              <a:t>大家好，我是刘原辰。今天我们围绕一个具体问题展开：怎样把已经能够生成文字的模型，训练成一个能按照规则玩猜词游戏的模型？我们会使用同一个 Wordle 任务，从数据里的示范回答讲到训练过程，再看模型自己尝试、接受奖励以及出现异常时如何排查。请大家先想一想：如果模型回答得很流畅，却始终猜不中，我们应该增加训练时间、修改数据，还是重新设计评测？今天的内容会帮助大家给出有依据的判断。这里关注的是如何建立和检查训练流程，而不是单纯记住某一条启动命令。</a:t>
            </a:r>
          </a:p>
          <a:p/>
          <a:p>
            <a:r>
              <a:t>【01:00–02:00 了解学员起点】</a:t>
            </a:r>
          </a:p>
          <a:p>
            <a:r>
              <a:t>先做一个简短调查。用过大模型推理接口的同学举手；实际运行过微调的同学再举手；看过 loss 曲线、但不知道该不该继续训练的同学也可以举手。停留十秒，邀请一位同学用一句话说出自己的经历。如果大家经验</a:t>
            </a:r>
            <a:r>
              <a:rPr>
                <a:latin typeface="Times New Roman" panose="02020503050405090304" charset="0"/>
              </a:rPr>
              <a:t>差异较大，我们就用两个层次理解同一页：先理解它在解决什么问题，再看代码怎样实现。暂时不熟悉分布式训练也没有关系，后面会把训练进程、分片和显存逐项展开；熟悉训练的同学则可以重点核对自己习惯使用的假设是否适用于本课。</a:t>
            </a:r>
            <a:endParaRPr>
              <a:latin typeface="Times New Roman" panose="02020503050405090304" charset="0"/>
            </a:endParaRPr>
          </a:p>
          <a:p>
            <a:endParaRPr>
              <a:latin typeface="Times New Roman" panose="02020503050405090304" charset="0"/>
            </a:endParaRPr>
          </a:p>
          <a:p>
            <a:r>
              <a:t>【02:00–03:00 两种训练信号】</a:t>
            </a:r>
          </a:p>
          <a:p>
            <a:r>
              <a:t>先用一个生活中的区别建立直觉。有人教你猜词时，可以给你看几局示范，告诉你看到这种反馈后，下一步通常怎样猜，这接近监督微调。也可以让你自己玩，根据有没有猜中、用了几次机会来评价表现，再改进选择，这接近强化学习。两者都会涉及模型参数的更新，但学习依据不同。监督微调中的示范并不必然是最优策略，强化学习中的奖励也并不天然正确。我们会反复检查示范质量和奖励定义，而不会只因为训练程序正常结束，就宣布模型学会了任务。</a:t>
            </a:r>
          </a:p>
          <a:p/>
          <a:p>
            <a:r>
              <a:t>【03:00–04:00 课堂操作方式】</a:t>
            </a:r>
          </a:p>
          <a:p>
            <a:r>
              <a:t>本课程有代码、配置和已经保存的运行结果。课堂上先观察一个样本、计算一个小例子，再读相应代码或日志，最后用练习检查理解。完整训练可能明显长于单页讲解时间，所以演示长程结果时，会说明它来自教程参考运行；需要重新验证的实验，则安排在课后执行。建议准备一个简单记录表，分成现象、证据、推测和下一步四栏。比如看到奖励上升，先记下对应 step、任务正确率和一条实际回复，别立即把奖励上升翻译成模型全面变强。</a:t>
            </a:r>
          </a:p>
          <a:p/>
          <a:p>
            <a:r>
              <a:t>【04:00–05:00 提出个人问题】</a:t>
            </a:r>
          </a:p>
          <a:p>
            <a:r>
              <a:t>现在请大家用二十秒写下一个希望在课程结束时能回答的问题，尽量具体，比如“用户消息为什么不算监督损失”或者“熵降低是不是坏事”。请一位同学读出问题，我们先记录，不急着提前展开后面章节。课程的价值是形成一套可复用的判断方法：知道模型看到了什么、优化了什么，以及我们凭什么相信结果。带着这三个问题进入下一页。接下来会把课程目标变成几件可以现场做出来的事，结束时再回头核对，而不只用听过了来代替掌握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这门 SFT 课程围绕四件事展开。第一，理解模型如何从示范对话中学习，明确哪些 assistant 位置参与监督，以及对话怎样打包成定长序列。第二，读懂 TorchTitan-NPU 的训练配方和 FSDP 配置，能算清 batch 与梯度累积。第三，完成训练和权重导出，用同样的任务与生成条件比较基座模型和 SFT 模型，分别观察格式与猜中率。第四，通过 RMSNorm 融合实验，学习配置替换、采集 trace，并用完整训练步的指标判断实际收益。课堂结合已有配置、日志和结果开展练习，完整实验可以课后复现。</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4 页｜前置知识：预训练、SFT、RL 与部署</a:t>
            </a:r>
          </a:p>
          <a:p>
            <a:r>
              <a:t>建议约 5 分钟（包含互动）。课程累计 15–20 分钟。</a:t>
            </a:r>
          </a:p>
          <a:p/>
          <a:p>
            <a:r>
              <a:t>【00:00–01:00 看懂常见训练路径】</a:t>
            </a:r>
          </a:p>
          <a:p>
            <a:r>
              <a:t>请从左到右看图中的四个阶段。第一个机器人读书，代表从大规模文本中学习通用规律；第二个看示范，代表使用任务对话做监督微调；第三个参与游戏并获得反馈，代表强化学习；最后一个出现在设备上，代表部署时的成本和运行约束。这是常见工程路径，不是每个项目都必须严格走一遍的固定流程。一个项目可以跳过某一步，也可以反复开展数据收集和训练。我们用这个图定位任务，但不会据此认定一种能力只来自唯一一个阶段。</a:t>
            </a:r>
          </a:p>
          <a:p/>
          <a:p>
            <a:r>
              <a:t>【01:00–02:00 预训练的信号】</a:t>
            </a:r>
          </a:p>
          <a:p>
            <a:r>
              <a:t>预训练阶段，一个典型文本模型不断做下一个 token 预测。模型看到前文，对词表中的候选输出概率，训练数据中的实际后续 token 提供目标。它不需要每句话都有人工标注的问答标签，文本本身就能构造预测任务。大量这样的学习可以形成语言、知识关联和代码模式等能力。这里的关键不是把每本书原封不动存进一个数据库，而是通过参数调整，使模型在类似上下文下产生更合理的预测。它仍可能记忆部分内容，也仍可能生成错误信息。</a:t>
            </a:r>
          </a:p>
          <a:p/>
          <a:p>
            <a:r>
              <a:t>【02:00–03:00 SFT 的示范作用】</a:t>
            </a:r>
          </a:p>
          <a:p>
            <a:r>
              <a:t>到了监督微调阶段，数据更集中地体现我们期望的任务行为。比如收到 Wordle 规则和上一轮反馈后，示范回复给出思考段以及猜词标签，模型学习在这些条件下生成后续 token。本课程对 assistant 回复建立监督，对用户和环境消息保留上下文作用。这样既可能改善输出协议，也可能学到示范轨迹中的反馈利用方式。请注意，学到了什么要靠评测区分，不能把 SFT 简化成只会修格式，也不能仅凭示范数据就保证模型得到最优策略。</a:t>
            </a:r>
          </a:p>
          <a:p/>
          <a:p>
            <a:r>
              <a:t>【03:00–04:00 RL 与部署分别做什么】</a:t>
            </a:r>
          </a:p>
          <a:p>
            <a:r>
              <a:t>强化学习会让模型生成新的尝试，再依据环境和奖励函数评价这些尝试，并用训练算法调整策略。Wordle 有明确的隐藏答案和交互反馈，适合展示这种过程。奖励的设计决定哪些行为受到鼓励，因此评分是否可靠也是训练问题的一部分。最后的压缩和部署则主要关心参数表示、内存、速度和硬件约束，例如量化可能减少存储和计算开销，但也需要验证精度影响。它与用何种学习信号改进行为是不同的维度，不能因为模型变小就自动推断它更会完成任务。</a:t>
            </a:r>
          </a:p>
          <a:p/>
          <a:p>
            <a:r>
              <a:t>【04:00–05:00 用故障选择检查方向】</a:t>
            </a:r>
          </a:p>
          <a:p>
            <a:r>
              <a:t>给大家两个现象，各用十五秒判断优先检查什么。第一，模型能写英文，但完全不按猜词标签回复；可以先查提示、输出协议和 SFT 示范。第二，标签完整，猜词却总是忽略绿色位置；应进一步看示范质量、实际交互和任务评测，后面还会讨论 RL 的策略优化。请一位同学说明为什么不能只用增加训练步数处理这两种情况。讲师收束：阶段名称帮助我们理解学习信号，真正定位问题还需要看到数据和输出。下一页进入这些阶段共同可能改变的对象：模型参数。</a:t>
            </a:r>
          </a:p>
          <a:p/>
          <a:p>
            <a:r>
              <a:t>【对应资料与源码】</a:t>
            </a:r>
          </a:p>
          <a:p>
            <a:r>
              <a:t>/Users/liuyuanchen/develope/cann-learning-hub/tutorials/sft_training_pipeline/01_sft_and_wordle/01.01_chapter_intro.ipynb</a:t>
            </a:r>
          </a:p>
          <a:p>
            <a:r>
              <a:t>定位：章节目标、为什么需要两阶段训练</a:t>
            </a:r>
          </a:p>
          <a:p>
            <a:r>
              <a:t>用途：课程任务、监督与强化学习的关系</a:t>
            </a:r>
          </a:p>
          <a:p>
            <a:r>
              <a:t>/Users/liuyuanchen/develope/cann-learning-hub/tutorials/sft_training_pipeline/01_sft_and_wordle/01.03_sft_concepts.ipynb</a:t>
            </a:r>
          </a:p>
          <a:p>
            <a:r>
              <a:t>定位：共同的 next-token Cross-Entropy、Label Masking、小结</a:t>
            </a:r>
          </a:p>
          <a:p>
            <a:r>
              <a:t>用途：本课采用的学习信号与监督位置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5 页｜前置知识：模型结构、权重与参数更新</a:t>
            </a:r>
          </a:p>
          <a:p>
            <a:r>
              <a:t>建议约 5 分钟（包含互动）。课程累计 20–25 分钟。</a:t>
            </a:r>
          </a:p>
          <a:p/>
          <a:p>
            <a:r>
              <a:t>【00:00–01:00 用一个参数模型起步】</a:t>
            </a:r>
          </a:p>
          <a:p>
            <a:r>
              <a:t>先暂时把大模型缩小成一个熟悉的表达式：输出等于权重乘输入，再加一个偏置。表达式怎样连接，是结构；权重和偏置当前是多少，是参数。换一组数字，即使表达式完全相同，对同一个输入也会产生不同输出。大模型只是把这种思想扩展到大量矩阵、注意力和非线性运算中。右边的方块是在提醒我们，训练结果最终体现为许多数值，不是在告诉我们每个格子都直接对应一个单词或一条知识。这个区别会影响我们怎样理解微调和模型保存。</a:t>
            </a:r>
          </a:p>
          <a:p/>
          <a:p>
            <a:r>
              <a:t>【01:00–02:00 结构决定计算连接】</a:t>
            </a:r>
          </a:p>
          <a:p>
            <a:r>
              <a:t>模型结构规定输入如何逐层变换，例如哪些线性映射用于注意力，哪些中间表示进入前馈网络。权重则决定这些变换的具体行为。请大家设想两位同学使用相同的模型代码，一位加载基座权重，一位加载监督微调后的权重，他们运行的结构可能相同，回答却不同，因为参数经历了不同的学习过程。我们后面比较基座与 SFT 模型时，正是沿着这个思路控制比较条件。训练通常不是每做错一道题就临时增加一层，而是在既定参数化结构中调整可训练的数值。</a:t>
            </a:r>
          </a:p>
          <a:p/>
          <a:p>
            <a:r>
              <a:t>【02:00–03:00 一次变化怎样体现】</a:t>
            </a:r>
          </a:p>
          <a:p>
            <a:r>
              <a:t>举一个只用于理解更新的数字例子：某个权重当前是零点五，假设这一步梯度为二，采用学习率零点零一的简单梯度下降，那么更新后是零点四八。请大家心算一下变化量，再说明为什么不是把所有参数都一起减去零点零二。每个参数有自己的梯度，真实优化器还可能结合历史状态等信息，所以这个例子只说明梯度和学习率共同决定更新。这里不把梯度的正负解读成参数好坏，它描述的是当前损失对该参数局部变化的敏感程度。</a:t>
            </a:r>
          </a:p>
          <a:p/>
          <a:p>
            <a:r>
              <a:t>【03:00–04:00 权重开放意味着什么】</a:t>
            </a:r>
          </a:p>
          <a:p>
            <a:r>
              <a:t>再看页底的权重开放。能够下载参数文件，意味着可以在满足对应许可和运行条件时加载这些数值；它并不能单独证明训练数据、完整流程和所有代码都同样开放。判断一个项目提供了什么，要分别看权重、结构代码、训练配置、数据说明及许可文件。本课不展开许可证比较，而是提醒大家在复现时保存这些配套信息。只有一个权重文件，却不知道对应分词器和聊天模板，模型即使加载成功，也可能无法按预期解释输入和生成输出。</a:t>
            </a:r>
          </a:p>
          <a:p/>
          <a:p>
            <a:r>
              <a:t>【04:00–05:00 区分权重、梯度与激活】</a:t>
            </a:r>
          </a:p>
          <a:p>
            <a:r>
              <a:t>最后请大家把三个对象放到正确位置：训练得到并保存的权重，反向传播计算的梯度，以及一次前向中临时产生的激活。给二十秒，让一位同学用“长期保存”或“随运行产生”说明区别。讲师补充：优化器状态也是训练时的重要对象，后面估算显存会单独计算，不能只看权重文件大小。保存 checkpoint 时包含哪些对象，取决于保存方式与恢复需求。这一页记住结构组织计算，参数决定具体数值行为；下一页再把参数怎样被调整连成完整闭环。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6 页｜前置知识：前向、反向与优化器更新</a:t>
            </a:r>
          </a:p>
          <a:p>
            <a:r>
              <a:t>建议约 5 分钟（包含互动）。课程累计 25–30 分钟。</a:t>
            </a:r>
          </a:p>
          <a:p/>
          <a:p>
            <a:r>
              <a:t>【00:00–01:00 沿图解释前向】</a:t>
            </a:r>
          </a:p>
          <a:p>
            <a:r>
              <a:t>先沿着上方蓝色箭头读图。输入数据经过当前模型参数，得到预测结果。对语言模型来说，通常先得到词表上的分数，再用于计算目标 token 的概率；图中的三根柱子只是用少量类别帮助理解。右边的真实答案提供比较目标，损失衡量这次预测与目标的不匹配。请注意，前向计算已经决定了这一轮输出是什么，但此时并没有完成参数更新。对于常规推理，我们通常只需要使用既有参数完成这种计算和后续采样，不会自动执行训练闭环。</a:t>
            </a:r>
          </a:p>
          <a:p/>
          <a:p>
            <a:r>
              <a:t>【01:00–02:00 损失不只是对错开关】</a:t>
            </a:r>
          </a:p>
          <a:p>
            <a:r>
              <a:t>图中正确类别的预测概率是零点七，并不是只看它是否排第一就结束。对于一个目标类别，交叉熵可以直观理解成负的对数概率：目标概率从零点七提高到零点九，对应损失会降低；即使两次都预测对，训练信号仍有区别。这里用零点七的例子，是为了说明模型学习概率分配，而不是只有答错才更新。真实语言训练会汇总许多有效目标位置，哪些位置参与汇总则由任务和标签掩码决定，这也是后面 SFT 数据处理的重要环节。</a:t>
            </a:r>
          </a:p>
          <a:p/>
          <a:p>
            <a:r>
              <a:t>【02:00–03:00 反向计算什么】</a:t>
            </a:r>
          </a:p>
          <a:p>
            <a:r>
              <a:t>再看下方红色箭头。反向传播从损失出发，通过计算图逐层求出参数的梯度。梯度提供局部变化信息，帮助判断在当前状态下怎样调整参数可能减小损失。它并不是把正确答案直接沿着网络复制回去，也不是把每个中间层改成一个记忆格子。请大家留意图下方的明确分工：反向传播计算梯度，实际修改参数发生在优化器步骤。我们读 PyTorch 训练代码时，看到 backward 和 optimizer.step，就应该能把这两个调用分别放到正确位置。</a:t>
            </a:r>
          </a:p>
          <a:p/>
          <a:p>
            <a:r>
              <a:t>【03:00–04:00 更新与梯度累积】</a:t>
            </a:r>
          </a:p>
          <a:p>
            <a:r>
              <a:t>优化器接收梯度，结合学习率及自身维护的状态更新参数。简单梯度下降容易手算，Adam 则还利用梯度的一阶、二阶统计状态，本课后面会因此多出优化器显存。再补充梯度累积：有时先连续处理多个微批次，每次都做前向和反向，把梯度累计起来，然后才更新一次参数。这样一个训练 step 可以包含多次模型计算。我们以后看到全局 batch 等于每卡微批次乘数据并行度再乘累积次数，就能知道这个公式为什么对应一次优化器更新。</a:t>
            </a:r>
          </a:p>
          <a:p/>
          <a:p>
            <a:r>
              <a:t>【04:00–05:00 让学员还原代码次序】</a:t>
            </a:r>
          </a:p>
          <a:p>
            <a:r>
              <a:t>现在给四个调用名称：模型调用、loss 计算、backward、optimizer.step。请一位同学顺序讲一遍，并回答“如果只做 backward，没有 step，参数会按这一步的梯度自动更新吗”。答案是通常不会，梯度已产生，但还没有执行优化器更新。再追问：每次处理微批次都立刻清空梯度，会不会破坏想要的累积？会，因此清梯度的时机必须与累积边界一致。通过这个小练习，把图转成能检查代码的语言。接下来用同一个闭环解释预训练到底在预测什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7 页｜前置知识：预训练的预测目标</a:t>
            </a:r>
          </a:p>
          <a:p>
            <a:r>
              <a:t>建议约 5 分钟（包含互动）。课程累计 30–35 分钟。</a:t>
            </a:r>
          </a:p>
          <a:p/>
          <a:p>
            <a:r>
              <a:t>【00:00–01:00 从一句话进入预测】</a:t>
            </a:r>
          </a:p>
          <a:p>
            <a:r>
              <a:t>先看蓝色例子“中国的首都是”。我们很容易想到北京，但模型实际处理的单位是 token，它可能是一个汉字、一个词的一部分，或者某种符号组合，取决于分词器。训练时，给定前面的 token，用数据中真实出现的后续 token 作为目标。这里不要求大家提前掌握词表构建，只需要避免一个误解：预测下一个 token 不总等于预测下一个完整单词。后面设置序列长度时，四千零九十六也是 token 数限制，不是四千零九十六个中文字。</a:t>
            </a:r>
          </a:p>
          <a:p/>
          <a:p>
            <a:r>
              <a:t>【01:00–02:00 输入与标签怎样配对】</a:t>
            </a:r>
          </a:p>
          <a:p>
            <a:r>
              <a:t>用四个符号演示偏移标签。原序列是 t0、t1、t2、t3，输入取 t0、t1、t2，对应预测目标是 t1、t2、t3。请大家用十五秒，把这两行写在纸上，并用箭头把每个输入位置连接到它要预测的后一个 token。这样就知道为什么原始文本能提供大量监督位置，而不需要给每一句都额外制作一道人工选择题。真实模型还使用上下文，不是仅凭孤立的前一个符号预测；这种写法只是标明哪个输出位置与哪个目标位置进行损失比较。</a:t>
            </a:r>
          </a:p>
          <a:p/>
          <a:p>
            <a:r>
              <a:t>【02:00–03:00 能力从大量任务中形成】</a:t>
            </a:r>
          </a:p>
          <a:p>
            <a:r>
              <a:t>把这种预测任务放到大量不同文本中，模型需要利用语法、主题、事实关联和代码结构等信息，才能稳定提高目标 token 的概率。经过训练，这些规律可能支持很多看起来更复杂的行为。但预测目标本身不保证所有事实都真实，也不保证模型能够可靠区分自己知道什么和不知道什么。遇到训练分布之外的输入时，输出还可能失真。因此，“训练见过很多内容”只说明学习材料丰富，不能直接替代对具体任务正确性的检验。后面使用 Wordle，正是为了让任务结果可以明确检查。</a:t>
            </a:r>
          </a:p>
          <a:p/>
          <a:p>
            <a:r>
              <a:t>【03:00–04:00 续写与按要求回答】</a:t>
            </a:r>
          </a:p>
          <a:p>
            <a:r>
              <a:t>现在把输入改成“请用三句话给小学生解释什么是监督微调”。这个要求不仅需要相关知识，还要求回答对象、句数、表达方式和任务目标都合适。一个擅长续写的基础模型可能具有部分指令遵循能力，却不一定稳定满足这些要求。监督微调用更集中的指令与示范回答塑造期望行为，它不是把预训练全部推倒重来，而是在已有参数基础上继续学习。请把“可能不稳定”与“完全不知道什么叫指令”分开，这样才能准确理解为什么我们还需要后训练和任务评测。</a:t>
            </a:r>
          </a:p>
          <a:p/>
          <a:p>
            <a:r>
              <a:t>【04:00–05:00 做一个双维度判断】</a:t>
            </a:r>
          </a:p>
          <a:p>
            <a:r>
              <a:t>给大家一个二十秒的小任务：如果模型准确解释了概念，却写了十句话而非三句话，你会把它归为知识错误、格式错误，还是需要分开评价？请一位同学说明理由。我们会分别记录内容是否正确以及是否遵守输出约束，Wordle 中对应的也是格式与任务结果两类观察。最后再复述一遍：预训练和本课 SFT 都可以使用 next-token 交叉熵，差别主要在数据组织和哪些目标位置受监督。下一页先用三道题检查参数、计算流程和为什么继续做 SFT。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8 页｜前置知识：三道题的答案与解析</a:t>
            </a:r>
          </a:p>
          <a:p>
            <a:r>
              <a:t>建议约 5 分钟（包含互动）。课程累计 35–40 分钟。</a:t>
            </a:r>
          </a:p>
          <a:p/>
          <a:p>
            <a:r>
              <a:t>【答案速查】</a:t>
            </a:r>
          </a:p>
          <a:p>
            <a:r>
              <a:t>Q1：B；Q2：B；Q3：C</a:t>
            </a:r>
          </a:p>
          <a:p/>
          <a:p>
            <a:r>
              <a:t>【00:00–01:00 独立作答并找依据】</a:t>
            </a:r>
          </a:p>
          <a:p>
            <a:r>
              <a:t>这一页有三道单选题，请先独立记录选项，约四十秒后再交流。做题时不要只寻找听起来熟悉的词，要能指出对应的对象和步骤：参数是什么，梯度由谁计算，监督微调又提供了怎样的训练数据。讲师暂不报答案，观察大家在第二题是否犹豫。如果有人问某些特殊训练方法会不会增加参数，先说明本题围绕我们刚刚讨论的常规训练闭环作答，特殊方法并不能改变这里对主要学习过程的概括。最后十秒请学员标记最不确定的一题，解析时优先听这一题的理由。</a:t>
            </a:r>
          </a:p>
          <a:p/>
          <a:p>
            <a:r>
              <a:t>【01:00–02:00 Q1 答案 B，区分参数学习与存储】</a:t>
            </a:r>
          </a:p>
          <a:p>
            <a:r>
              <a:t>第一题选 B：不断调整模型中的大量参数。它对应我们刚才看到的损失、梯度和优化器更新。A“不断往模型里存更多文字”和 D“把训练数据直接复制进模型”都把训练误解成建立一个原文仓库；模型可能记忆部分数据，但训练机制仍然是优化参数，不是逐条复制文档。C“不断增加模型的层数”描述结构变化，不是本课训练循环每一步必须进行的操作。请一位选对的同学补充，为什么同一份模型代码加载不同 checkpoint 会有不同表现，用这个反例确认他理解了结构和数值的区别。</a:t>
            </a:r>
          </a:p>
          <a:p/>
          <a:p>
            <a:r>
              <a:t>【02:00–03:00 Q2 答案 B，补齐优化器步骤】</a:t>
            </a:r>
          </a:p>
          <a:p>
            <a:r>
              <a:t>第二题选 B：前向传播计算结果，反向传播根据误差计算参数该如何调整。这里把“如何调整”进一步准确化，就是计算梯度，真正修改参数还需要优化器执行更新。A 把前向与反向的作用颠倒了；C 说两者是同一件事，忽略了结果与导数的区别；D 把前向缩成读取数据，也忽略了模型实际进行的张量计算。请大家在 B 旁边补写“梯度”两个字，再画一条箭头指向 optimizer.step。这样即使题目使用通俗表达，我们也能保持对真实代码边界的理解。</a:t>
            </a:r>
          </a:p>
          <a:p/>
          <a:p>
            <a:r>
              <a:t>【03:00–04:00 Q3 答案 C，明确后训练需求】</a:t>
            </a:r>
          </a:p>
          <a:p>
            <a:r>
              <a:t>第三题选 C：模型学到很多知识后，仍不一定稳定地按照用户指令回答。SFT 通过任务对话和示范回答进一步塑造这种行为。A 说预训练后什么都不知道，与预训练学习通用规律的作用矛盾；B 说预训练只能学习图片，显然不符合我们讨论的文本模型；D 把 SFT 的作用归为无限增加参数，也混淆了训练数据与结构规模。这里还要避免另一个极端：基础模型可能具有一定指令能力，所以我们说的是稳定程度和目标行为需要继续改善，而不是完全不具备任何相关能力。</a:t>
            </a:r>
          </a:p>
          <a:p/>
          <a:p>
            <a:r>
              <a:t>【04:00–05:00 把三个答案迁移到场景】</a:t>
            </a:r>
          </a:p>
          <a:p>
            <a:r>
              <a:t>答案汇总是 B、B、C。请两位同学做一个简短接力：第一位说“模型能流畅续写，但不输出猜词标签”，第二位指出下一步应该检查的数据与训练环节。可接受的回答是先核对提示协议、标签示范及监督目标，再用相同条件的评测验证改进，不能只因为它会续写就判断微调没有必要。若时间允许，再问“运行一次推理会不会自动让参数学会这个协议”，答案通常不会，仍需要专门的训练或其他适配过程。通过这段接力，把三道概念题串回实际任务，下一节就开始看 Wordle 和 SFT 样本。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3 页｜SFT 导航：前置知识与训练闭环</a:t>
            </a:r>
          </a:p>
          <a:p>
            <a:r>
              <a:t>建议约 5 分钟（包含互动）。课程累计 10–15 分钟。</a:t>
            </a:r>
          </a:p>
          <a:p/>
          <a:p>
            <a:r>
              <a:t>【00:00–01:00 四段课程的依赖】</a:t>
            </a:r>
          </a:p>
          <a:p>
            <a:r>
              <a:t>这张目录可以看作四个相互依赖的问题。第一段回答训练究竟改变了模型的什么；第二段回答我们拿什么样的数据教模型完成 Wordle；第三段回答怎样借助框架把数据和模型组织成可运行的训练；第四段回答配置怎样落地，以及训练后怎样判断结果。现在高亮的是前置知识。请注意，这几段不是四个独立工具的介绍：数据中的一个角色标记可能影响损失，损失的计算方式又会影响我们怎样解读日志，因此需要始终沿着同一个任务往下看。</a:t>
            </a:r>
          </a:p>
          <a:p/>
          <a:p>
            <a:r>
              <a:t>【01:00–02:00 先做流程排序】</a:t>
            </a:r>
          </a:p>
          <a:p>
            <a:r>
              <a:t>先在纸上写四个词：模型输出、损失、梯度、参数更新。给大家十五秒，按一次训练更新的顺序排列，再让一位同学说明其中哪一步通常在推理时不会发生。正确顺序是先得到输出、比较目标形成损失，再算梯度、执行参数更新；常规推理主要使用已训练的参数生成输出。这里先允许口语化回答，后面会进一步区别反向传播和优化器。若有人把反向传播直接解释成修改参数，先记下这个疑问，等看到训练闭环图时再核对。</a:t>
            </a:r>
          </a:p>
          <a:p/>
          <a:p>
            <a:r>
              <a:t>【02:00–03:00 分清模型与运行过程】</a:t>
            </a:r>
          </a:p>
          <a:p>
            <a:r>
              <a:t>再做一个判断：我们给同一个模型换一道问题，它的权重就发生变化了吗？常规推理中，改变的是输入和由此产生的中间结果，不会因为收到了新问题就自动更新全部权重。继续追问：如果切换到另一份 checkpoint，结构可能一样，输出为什么不同？因为加载的参数数值可能已经改变。用这两个例子区分模型结构、权重文件和运行时上下文，可以避免后面把多轮聊天记忆误认为每轮都在训练，也能理解我们为什么要明确比较的是哪一份模型。</a:t>
            </a:r>
          </a:p>
          <a:p/>
          <a:p>
            <a:r>
              <a:t>【03:00–04:00 提前连接后续工程问题】</a:t>
            </a:r>
          </a:p>
          <a:p>
            <a:r>
              <a:t>把刚才的闭环接到后面的框架章节：如果参数和梯度太大，一张卡放不下，训练仍然需要完成同样的数学步骤，只是状态和计算要分布到多个进程。框架负责组织这些工作，不会替我们决定标签是否正确。再接到最后的评测章节：即使 loss 下降，也只说明模型在当前监督目标下更符合训练数据，任务能否完成还要实际验证。现在不必记 FSDP 的细节，只要先知道为什么不能把模型、数据、运行和评测割裂成四件事。</a:t>
            </a:r>
          </a:p>
          <a:p/>
          <a:p>
            <a:r>
              <a:t>【04:00–05:00 明确本节的检查点】</a:t>
            </a:r>
          </a:p>
          <a:p>
            <a:r>
              <a:t>这一段结束时，大家应能回答三个问题：训练主要调整什么，前向与反向分别产生什么，预训练之后为什么还要根据任务继续训练。请同桌互相选择一个问题，先用自己的话回答二十秒，另一位只指出一个尚不清楚的词。如果提到了 token、损失或参数，暂时保留这些词，后面逐个给出具体含义。目录页在这里充当课前诊断，帮助大家发现知识缺口。接下来先看一个大模型常见的培养过程，定位我们今天所讲的 SFT 和 RL。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10 页｜SFT 概述：从示范中学习条件行为</a:t>
            </a:r>
          </a:p>
          <a:p>
            <a:r>
              <a:t>建议约 5 分钟（包含互动）。课程累计 45–50 分钟。</a:t>
            </a:r>
          </a:p>
          <a:p/>
          <a:p>
            <a:r>
              <a:t>【00:00–01:00 解释监督与微调】</a:t>
            </a:r>
          </a:p>
          <a:p>
            <a:r>
              <a:t>SFT 的中文是监督微调。监督意味着数据提供了期望输出，微调意味着从已有模型参数继续训练，而不是每次都从随机初始化开始。右边的图给了翻译、解释、写邮件和总结等不同任务，它们共同的特点是：输入提出具体要求，示范回答体现怎样满足要求。对 Wordle，我们期望模型先读规则和反馈，再用指定协议给出一次猜测。这里的“标准答案”更准确地理解为训练示范，并不保证每条示范都唯一、完美或策略最优，数据质量仍然决定它值得学到什么。</a:t>
            </a:r>
          </a:p>
          <a:p/>
          <a:p>
            <a:r>
              <a:t>【01:00–02:00 从示范落到损失】</a:t>
            </a:r>
          </a:p>
          <a:p>
            <a:r>
              <a:t>把一条指令和回答串成文本后，模型仍然做下一个 token 预测。假如目标回复需要出现猜词标签，训练就会鼓励模型在相应上下文下提高这些目标 token 的概率。核心训练方式不因为出现了对话角色就完全改变，变化主要体现在数据分布和监督区间。请大家回忆前面的偏移标签：模型在每个位置预测后一个 token。本课只对 assistant 目标位置计算监督损失，因此不会把 system 或 user 的每一个目标 token 都当成要模仿的回答。这一点后面会通过实际数据处理再次说明。</a:t>
            </a:r>
          </a:p>
          <a:p/>
          <a:p>
            <a:r>
              <a:t>【02:00–03:00 为什么保留用户与环境消息】</a:t>
            </a:r>
          </a:p>
          <a:p>
            <a:r>
              <a:t>只对 assistant 计算损失，不表示把其余消息从输入里删除。模型必须看到用户规则以及环境反馈，才能知道下一段回答应该是什么。例如反馈已经确认最后一个字母为 E，示范中的下一次猜测保留 E，这个条件关系只有在反馈仍保留为上下文时才可学习。请用十五秒区分两件事：token 是否进入输入，token 对应目标是否直接计入监督损失。前者关系到模型可见信息，后者关系到训练目标。把这两个问题混为一谈，就容易误解标签掩码的意义。</a:t>
            </a:r>
          </a:p>
          <a:p/>
          <a:p>
            <a:r>
              <a:t>【03:00–04:00 能学什么与如何验证】</a:t>
            </a:r>
          </a:p>
          <a:p>
            <a:r>
              <a:t>通过高质量示范，SFT 可以改善回答格式、任务习惯以及示范包含的条件行为，因而也可能改变实际任务正确率。它不是只能学格式，但也不能因为 loss 下降就证明掌握了全部规则或得到最优策略。给大家一个例子：训练轨迹总在第二轮保留绿色位置，模型可能学会这种模式；如果遇到罕见的重复字母组合，是否仍能正确处理，就需要新的评测样本验证。后续 RL 会使用新交互的奖励继续优化，但这不意味着监督学习阶段完全不能获得策略相关的能力。</a:t>
            </a:r>
          </a:p>
          <a:p/>
          <a:p>
            <a:r>
              <a:t>【04:00–05:00 从概述转向数据检查】</a:t>
            </a:r>
          </a:p>
          <a:p>
            <a:r>
              <a:t>最后请大家做一个简短的数据审查练习：如果准备一千条示范，你会优先检查哪两项？可以检查协议是否统一、反馈是否正确、答案有没有泄漏、示范是否与反馈相符，以及训练与评测是否分开。请两位同学各说一项，并解释不检查会怎样影响训练。讲师强调，所谓高质量不能只凭句子流畅来判断，它必须符合任务和监督目标。我们接下来先把 Wordle 规则讲清楚，再对照一条完整样本看这些检查发生在哪里，这样后面的训练配置才有明确对象。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11 页｜Wordle 规则：逐位反馈与重复字母</a:t>
            </a:r>
          </a:p>
          <a:p>
            <a:r>
              <a:t>建议约 5 分钟（包含互动）。课程累计 50–55 分钟。</a:t>
            </a:r>
          </a:p>
          <a:p/>
          <a:p>
            <a:r>
              <a:t>【00:00–01:00 交代规则与答案边界】</a:t>
            </a:r>
          </a:p>
          <a:p>
            <a:r>
              <a:t>Wordle 的目标是最多用六次猜测，找出一个隐藏的五字母英文单词。每次猜测之后，环境对五个位置分别反馈颜色。绿色表示字母和位置都对；黄色表示字母存在，但这个位置不对；灰色需要结合重复字母解释，不能无条件理解成这个字母在答案里完全不存在。右侧把秘密词 SMILE 显示出来，是为了让我们核对反馈，实际运行时它应保留在环境一侧，模型不能直接看到。课堂看得到答案与模型输入包含答案，是两件不同的事。</a:t>
            </a:r>
          </a:p>
          <a:p/>
          <a:p>
            <a:r>
              <a:t>【01:00–02:00 手推右侧三次猜测】</a:t>
            </a:r>
          </a:p>
          <a:p>
            <a:r>
              <a:t>沿右侧例子逐轮看。第一次猜 CRANE，对 SMILE 的反馈是四个灰色加一个绿色，说明末位 E 正确，C、R、A、N 在这个例子里都不匹配。第二次猜 SLATE，S 与 E 都是绿色，L 为黄色，A 与 T 为灰色，所以可以确定首尾位置，并且 L 不能留在第二位。第三次猜 SMILE，五个位置全绿，提前结束，不必再把剩余三轮用完。请大家指出第二轮新增的信息是什么，答案不只包括 S，还包括 L 的存在及其位置排除。</a:t>
            </a:r>
          </a:p>
          <a:p/>
          <a:p>
            <a:r>
              <a:t>【02:00–03:00 解释重复字母的计数】</a:t>
            </a:r>
          </a:p>
          <a:p>
            <a:r>
              <a:t>用一个额外算例处理灰色的边界：秘密词 APPLE，猜词 ALLEY。先把位置正确的 A 标绿，再查看目标词尚未被匹配的字母数量。目标中只有一个 L，它可以分配给猜词中的第一个 L，于是这个 L 标黄；第二个 L 已经没有剩余匹配机会，标灰。E 存在但位置不对，标黄；Y 不存在，标灰。结果是 G、Y、X、Y、X。请学员用二十秒在纸上标颜色，再说明为什么第二个 L 的灰色并不意味着答案里完全没有 L。</a:t>
            </a:r>
          </a:p>
          <a:p/>
          <a:p>
            <a:r>
              <a:t>【03:00–04:00 区分候选答案与探测猜词】</a:t>
            </a:r>
          </a:p>
          <a:p>
            <a:r>
              <a:t>页底“下一轮必须满足全部历史约束”应作一个口头限定。作为仍可能是真正答案的候选词，当然要符合已经得到的信息；但下一次用来获取信息的探测猜词，是否必须满足这些条件，要看游戏模式和具体环境实现，不能把这句话当成所有 Wordle 环境都会强制执行的规则。右侧第二轮还用了上一轮已排除的 A，恰好说明本页更适合展示反馈计算，而不是宣称每步都是严格候选筛选的最优策略。我们重点学习怎样利用信息，并在实际评测中检查模型行为。</a:t>
            </a:r>
          </a:p>
          <a:p/>
          <a:p>
            <a:r>
              <a:t>【04:00–05:00 让学员提出下一步依据】</a:t>
            </a:r>
          </a:p>
          <a:p>
            <a:r>
              <a:t>现在暂时只保留第二轮反馈，请一位同学描述下一次猜测需要考虑的信息，不要求马上找到英文单词。理想回答包括首位 S、末位 E、包含 L 且不在第二位，并考虑已排除的字母和剩余机会。另一位同学检查他的推理中有没有把黄色当成绿色。讲师收束：环境负责提供确定反馈，模型负责在有限机会中选择动作，二者构成多轮任务。接下来我们会把这些动作和反馈存成对话数据，看看哪些片段作为上下文，哪些片段成为 SFT 的监督目标。不同游戏应分别保存猜词和反馈，不能把上一局的历史混入下一局。</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12 页｜Wordle 数据：消息顺序与监督目标</a:t>
            </a:r>
          </a:p>
          <a:p>
            <a:r>
              <a:t>建议约 5 分钟（包含互动）。课程累计 55–60 分钟。</a:t>
            </a:r>
          </a:p>
          <a:p/>
          <a:p>
            <a:r>
              <a:t>【00:00–01:00 先看存储结构】</a:t>
            </a:r>
          </a:p>
          <a:p>
            <a:r>
              <a:t>这页展示的是一条教学用的多轮数据片段。左侧分为 prompt、completion 和元数据，右侧逐项说明含义。先不要被 JSON 括号吓到，把它看成按时间排列的几段对话。prompt 中包含 system 规则和 user 的初始任务说明，告诉模型存在一个隐藏的五字母单词以及机会限制。这里没有把 plane 写进模型初始上下文。底部的 answer 是单独的元数据，环境或评测可以使用它，但不能因为它与对话存放在同一条数据记录中，就自动把它拼进用户消息。</a:t>
            </a:r>
          </a:p>
          <a:p/>
          <a:p>
            <a:r>
              <a:t>【01:00–02:00 completion 不是只有一条回答】</a:t>
            </a:r>
          </a:p>
          <a:p>
            <a:r>
              <a:t>接着看 completion。第一段是 assistant，猜了 crane；下一段是 user 角色的环境反馈；再下一段又是 assistant，根据反馈改猜 plane。字段名叫 completion，不意味着里面所有内容都由模型生成，它在这个数据格式中承载了后续多轮消息。处理器会按顺序把 prompt 和 completion 合并，保留每条消息的角色。请大家找出环境反馈的位置并指出它的作用：既承接上一次动作，又成为下一次生成的上下文。如果只读取第一段回答，就丢失了这种跨轮的条件关系。</a:t>
            </a:r>
          </a:p>
          <a:p/>
          <a:p>
            <a:r>
              <a:t>【02:00–03:00 核对内容与输出协议】</a:t>
            </a:r>
          </a:p>
          <a:p>
            <a:r>
              <a:t>这里的秘密词是 PLANE，第一次猜 CRANE 得到 X、X、G、G、G，因此 A、N、E 已经在正确位置。下一段示范保留这些字母，改猜 plane。标签里的方括号需要特别注意：本课固定 SFT verifier 会读取 guess 字段，并把解析结果与带方括号的答案文本比较，所以示例写成 &lt;guess&gt;[plane]&lt;/guess&gt;。这不是装饰，也不能随意换成其他标签或大小写。请用十秒检查，若删除方括号，模型语义上可能仍猜中了，但当前精确匹配评分可能给出不同结果。</a:t>
            </a:r>
          </a:p>
          <a:p/>
          <a:p>
            <a:r>
              <a:t>【03:00–04:00 输入内容与监督区间】</a:t>
            </a:r>
          </a:p>
          <a:p>
            <a:r>
              <a:t>模型读取合并后的消息序列，通过聊天模板和分词转成 token。对这门课的 SFT 来说，assistant 回复中的有效目标位置参与监督，用户与环境消息对应的目标位置被忽略，但这些消息仍留在输入上下文中。页底说学习“反馈到下一猜测”的格式，讲解时要再扩展一步：它也可以模仿示范中的条件行为，是否真正泛化则靠评测。训练时使用已有轨迹进行示范学习，不需要每处理一条样本都重新运行一局在线游戏，这也解释了多轮任务为什么可以先做离线 SFT。</a:t>
            </a:r>
          </a:p>
          <a:p/>
          <a:p>
            <a:r>
              <a:t>【04:00–05:00 元数据检查与课堂小练习】</a:t>
            </a:r>
          </a:p>
          <a:p>
            <a:r>
              <a:t>最后看 answer、reward 和 task。这里 reward=1.0 是样本里存储的元信息，不能直接当成后面 RL 自定义奖励公式算出的总分，也不能以为 SFT 会把它自动当作策略梯度权重。请学员用二十秒把每段标为“上下文”“监督目标”或“环境判分信息”，同一个 token 是否作为上下文与其是否受监督要分开考虑。讲师核对后强调，合并消息、角色掩码和元数据边界共同决定训练的任务是否正确。下一页再看怎样分别验证输出协议与游戏结果。这里展示的是片段，完整结束情况应查原数据，不能据此推断所有游戏的长度。</a:t>
            </a:r>
          </a:p>
          <a:p/>
          <a:p>
            <a:r>
              <a:t>【讲师须知：口径与版本】</a:t>
            </a:r>
          </a:p>
          <a:p>
            <a:r>
              <a:t>本页是示意片段，不是已经验证每一步最优的策略轨迹。</a:t>
            </a:r>
          </a:p>
          <a:p>
            <a:r>
              <a:t>metadata.reward=1.0不是本课RL自定义轨迹总奖励，也不是SFT自动采用的loss权重。</a:t>
            </a:r>
          </a:p>
          <a:p/>
          <a:p>
            <a:r>
              <a:t>【对应资料与源码】</a:t>
            </a:r>
          </a:p>
          <a:p>
            <a:r>
              <a:t>/Users/liuyuanchen/develope/cann-learning-hub/tutorials/sft_training_pipeline/01_sft_and_wordle/01.02_wordle_task_intro.ipynb</a:t>
            </a:r>
          </a:p>
          <a:p>
            <a:r>
              <a:t>定位：游戏规则、数据示例</a:t>
            </a:r>
          </a:p>
          <a:p>
            <a:r>
              <a:t>用途：反馈规则与多轮样本</a:t>
            </a:r>
          </a:p>
          <a:p>
            <a:r>
              <a:t>/Users/liuyuanchen/develope/cann-learning-hub/tutorials/sft_training_pipeline/01_sft_and_wordle/01.03_sft_concepts.ipynb</a:t>
            </a:r>
          </a:p>
          <a:p>
            <a:r>
              <a:t>定位：共同的 next-token Cross-Entropy、Label Masking、小结</a:t>
            </a:r>
          </a:p>
          <a:p>
            <a:r>
              <a:t>用途：本课采用的学习信号与监督位置</a:t>
            </a:r>
          </a:p>
          <a:p>
            <a:r>
              <a:t>https://github.com/PrimeIntellect-ai/verifiers/blob/d822f6aca7a967fc6698b1d595524c6278d84a5c/environments/wordle/wordle.py</a:t>
            </a:r>
          </a:p>
          <a:p>
            <a:r>
              <a:t>定位：check_answer_reward_func、count_turns_reward_func、partial_credit_reward_func、load_environment</a:t>
            </a:r>
          </a:p>
          <a:p>
            <a:r>
              <a:t>用途：课程固定评分器的实际规则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13 页｜SFT 评测：协议合规与任务结果</a:t>
            </a:r>
          </a:p>
          <a:p>
            <a:r>
              <a:t>建议约 5 分钟（包含互动）。课程累计 60–65 分钟。</a:t>
            </a:r>
          </a:p>
          <a:p/>
          <a:p>
            <a:r>
              <a:t>【00:00–01:00 先明确两类证据】</a:t>
            </a:r>
          </a:p>
          <a:p>
            <a:r>
              <a:t>训练结束后，我们至少需要两类证据。第一类是模型能否稳定生成环境可以解析的回复；第二类是它在完整游戏中到底能否猜中。请大家设想两份输出：一份标签完整，但每次都猜无关单词；另一份写出了正确单词，却没有遵守解析协议。前者格式可能合格但任务失败，后者语义上接近答案，当前系统却未必能按规则接收。评测不应只凭人眼看一句话，而要同时检查解析结果、逐轮过程和明确的评分定义，这就是表格把几项指标分开列出的原因。</a:t>
            </a:r>
          </a:p>
          <a:p/>
          <a:p>
            <a:r>
              <a:t>【01:00–02:00 格式分衡量什么】</a:t>
            </a:r>
          </a:p>
          <a:p>
            <a:r>
              <a:t>先看 format_reward。它反映评分器定义的格式合规程度，常见检查包括所需字段是否可以提取，具体是否给满分要看当前解析器规则。不要把格式分等于一翻译成完全遵守 Wordle 约束，更不能直接翻译成猜中了答案。比如把错误单词放进完整猜词标签，仍然可能满足格式检查。留十五秒，请一位同学给出一个“格式合规但任务失败”的例子，并解释为什么它不构成评分器故障：评分器只是回答了格式这个问题，任务结果由另一项指标检查。</a:t>
            </a:r>
          </a:p>
          <a:p/>
          <a:p>
            <a:r>
              <a:t>【02:00–03:00 正确性需要匹配实际解析器】</a:t>
            </a:r>
          </a:p>
          <a:p>
            <a:r>
              <a:t>再看 correct_answer 这个教学指标名，它关心解析出的猜词是否与目标精确匹配。课程固定 verifier 的实现函数是 check_answer_reward_func，比较的是解析出的字符串与带方括号的答案，因此规范示例中的方括号不能省略。环境在最多六轮内交互，猜中会提前结束。统计一组游戏结果时，要明确样本数、采样条件和所用版本。若运行日志直接显示函数名，应按实现对应到本页的含义，不要只因为显示名称不同就以为测量了另一种能力。</a:t>
            </a:r>
          </a:p>
          <a:p/>
          <a:p>
            <a:r>
              <a:t>【03:00–04:00 过程指标不能跨版本套公式】</a:t>
            </a:r>
          </a:p>
          <a:p>
            <a:r>
              <a:t>partial 和 length_bonus 用于观察部分匹配及效率，但必须查看对应实现。课程固定 SFT verifier 的部分分来自最后的环境反馈；轮次奖励函数会用正确性除以 assistant 消息数再加一的分母。它和后面 RL 页面所讲的自定义奖励算例不是同一套规则，因此不能把一个地方的总分直接拿来推算另一个地方的输出。讲师可以只展示这两条函数的关键运算，不需要逐行朗读代码。通过这个例子，让学员形成习惯：看到熟悉的指标名称，仍然先确认统计对象和计算定义。</a:t>
            </a:r>
          </a:p>
          <a:p/>
          <a:p>
            <a:r>
              <a:t>【04:00–05:00 设计公平的比较】</a:t>
            </a:r>
          </a:p>
          <a:p>
            <a:r>
              <a:t>最后做一个小实验设计：要比较基座模型和 SFT checkpoint，你会固定什么？给二十秒讨论，再收集任务集合、随机种子、生成参数、评测版本等答案，并说明还应保留逐局结果。假如两个模型使用不同采样温度或不同测试词，仅凭一次猜中率变化，很难把差异归因到训练。我们优先看格式是否改善，同时记录任务正确性和原始回复，避免只看平均 loss 或总奖励。接下来用四道题检查大家是否真正分清规则、消息拼接、格式和精确匹配这几个对象。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14 页｜SFT 与 Wordle：四道题的答案与解析</a:t>
            </a:r>
          </a:p>
          <a:p>
            <a:r>
              <a:t>建议约 5 分钟（包含互动）。课程累计 65–70 分钟。</a:t>
            </a:r>
          </a:p>
          <a:p/>
          <a:p>
            <a:r>
              <a:t>【答案速查】</a:t>
            </a:r>
          </a:p>
          <a:p>
            <a:r>
              <a:t>Q1：√；Q2：×；Q3：A；Q4：B</a:t>
            </a:r>
          </a:p>
          <a:p/>
          <a:p>
            <a:r>
              <a:t>【00:00–01:00 先独立判断，写出依据】</a:t>
            </a:r>
          </a:p>
          <a:p>
            <a:r>
              <a:t>这一页安排一分钟独立作答，前四十秒记录四个答案，后十秒给最容易混淆的一题补一句理由，最后十秒核对题型。前两题是判断，后两题是单选，不需要从文字里猜讲师偏好，只需回到游戏定义、数据顺序和评测职责。讲师暂不透露答案。若有人把格式分与正确性混为一谈，可以提醒他回想刚才“标签完整但猜错”的例子，但不直接替他选择。接下来每分钟解析一题，重点讲清为什么答案成立，以及选错会怎样影响真实训练或评测。</a:t>
            </a:r>
          </a:p>
          <a:p/>
          <a:p>
            <a:r>
              <a:t>【01:00–02:00 Q1 正确：最多六次机会】</a:t>
            </a:r>
          </a:p>
          <a:p>
            <a:r>
              <a:t>第一题答案是正确，记为√。标准 Wordle 的这一课程设置最多有六次猜词机会，这里的“最多”是上限，不是要求每局都进行完整六次。提前猜中就结束，所以第三轮猜中的游戏不会为了凑次数再继续三轮。请一位同学解释为什么要把上限写进任务描述：它决定交互何时停止，也影响我们如何理解一局游戏的成本。再补一个边界，实际实现对格式错误如何计轮，要看环境定义；不能把六次总机会擅自改成六次有效猜词、无效回复无限重试。后面的 RL 奖励版本对照还会用到这个区别。</a:t>
            </a:r>
          </a:p>
          <a:p/>
          <a:p>
            <a:r>
              <a:t>【02:00–03:00 Q2 错误：格式满分不保证猜中】</a:t>
            </a:r>
          </a:p>
          <a:p>
            <a:r>
              <a:t>第二题答案是错误，记为×。format_reward 等于一，只表示回复达到当前评分器定义的格式要求，不能证明猜词内容命中秘密词。例如目标是 plane，模型规范地输出另一个单词，格式检查仍可能通过，正确性则应失败。请学员给出自己的类似例子，讲师只核对它是否保持“协议正确、内容错误”这两个条件。进一步说，格式合格也不保证下一猜测满足全部历史线索，更不保证策略最优。如果训练只改善格式，应该如实报告这一改进，同时继续看任务结果和逐局输出。</a:t>
            </a:r>
          </a:p>
          <a:p/>
          <a:p>
            <a:r>
              <a:t>【03:00–04:00 Q3 答案 A：保留有序多轮上下文】</a:t>
            </a:r>
          </a:p>
          <a:p>
            <a:r>
              <a:t>第三题选 A，按顺序拼接 prompt 和 completion。规则、第一次回答、环境反馈和后续回答共同组成训练消息，顺序决定模型在每个时刻能看到什么。B 只读取 prompt，会缺少后续示范回答；C 只读取 completion，会缺少初始规则与任务背景；D 把 answer 追加到每条用户消息，会把隐藏答案变成可见提示，破坏我们想训练和评价的任务。这里拼接消息与设置监督掩码是两个步骤，合并后并不是每条消息都直接计算监督损失，还要根据 assistant 角色等条件确定有效目标位置。</a:t>
            </a:r>
          </a:p>
          <a:p/>
          <a:p>
            <a:r>
              <a:t>【04:00–05:00 Q4 答案 B：精确匹配的职责】</a:t>
            </a:r>
          </a:p>
          <a:p>
            <a:r>
              <a:t>第四题选 B，correct_answer 对应猜词内容与目标的精确匹配。A format_reward 关注格式；C length_bonus 关注实现所定义的效率奖励；D partial_answer 记录部分匹配信息，它们都不能替代是否猜中的直接判断。部分字母位置正确，也仍可能没有完成任务；用了较少轮数，也不意味着所猜单词正确。讲师最后汇总答案：√、×、A、B，再请一位同学用“规则、消息、格式、结果”四个词复述这一节。接下来进入 TorchTitan，看看这些数据和监督目标怎样由训练框架组织起来。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9 页｜SFT 导航：从训练基础进入任务与数据</a:t>
            </a:r>
          </a:p>
          <a:p>
            <a:r>
              <a:t>建议约 5 分钟（包含互动）。课程累计 40–45 分钟。</a:t>
            </a:r>
          </a:p>
          <a:p/>
          <a:p>
            <a:r>
              <a:t>【00:00–01:00 复述已有共同语言】</a:t>
            </a:r>
          </a:p>
          <a:p>
            <a:r>
              <a:t>现在高亮切换到第二部分。进入新内容前，请大家用一句话复述上一部分最重要的结论：训练通过数据和目标计算损失，反向传播得到梯度，优化器据此更新参数。我们已经知道模型可以怎样学习，但还没有决定具体教它什么。从这里开始，所有抽象术语都会落到 Wordle 的一条对话上。请一位同学先预测：为了教模型玩这个游戏，一条训练样本只需要秘密答案，还是还需要游戏规则和历史过程？把这个问题留在纸上，后面的数据页会逐项回答。</a:t>
            </a:r>
          </a:p>
          <a:p/>
          <a:p>
            <a:r>
              <a:t>【01:00–02:00 任务为何不能只看最终答案】</a:t>
            </a:r>
          </a:p>
          <a:p>
            <a:r>
              <a:t>如果只给模型一份秘密词列表，它可能知道有哪些英语单词，却不知道如何根据上一轮反馈选择下一次猜测。Wordle 是一个多轮任务，每一次决策都依赖当时可见的上下文。监督学习可以使用已经收集好的高质量轨迹，把“这个历史状态下示范者怎样回复”作为学习依据。任务具有交互性，并不意味着完全不能提前制作监督数据；关键在于示范是否覆盖需要的状态和行为。请大家把“任务在运行时动态交互”和“训练数据可以离线收集”这两个层面分开。</a:t>
            </a:r>
          </a:p>
          <a:p/>
          <a:p>
            <a:r>
              <a:t>【02:00–03:00 先定义可见信息】</a:t>
            </a:r>
          </a:p>
          <a:p>
            <a:r>
              <a:t>接着明确谁可以知道秘密答案。环境需要答案才能给出反馈，模型则只能看到规则和允许公开的历史交互。假如把答案直接放进每条用户消息中，模型看起来可能猜得很好，但这个实验已经改变了任务，无法说明它学会了根据反馈推理。留十五秒，请学员举一个自己熟悉任务中的类似信息边界，比如考试标签、测试集答案或推荐系统里事后才知道的点击。我们这里只借这些例子理解边界，不把所有元数据都一概删除；是否作为输入，需要看它在真实使用时是否可得。</a:t>
            </a:r>
          </a:p>
          <a:p/>
          <a:p>
            <a:r>
              <a:t>【03:00–04:00 本节三个学习问题】</a:t>
            </a:r>
          </a:p>
          <a:p>
            <a:r>
              <a:t>这一节将依次回答三个问题：游戏怎样评分，一局对话怎样组织，训练后的结果怎样评价。看到 SFT 概述时，重点寻找示范如何影响输出；看到 Wordle 规则时，重点寻找模型能使用的反馈；看到样本和评测时，重点核对数据字段与指标含义。请不要把每个标签名当成孤立术语去记忆。例如 assistant 这个角色，既决定这段话是谁生成的，也关系到本课哪些目标 token 参与监督。把角色、信息和训练目标对应起来，后面的代码才容易读懂。</a:t>
            </a:r>
          </a:p>
          <a:p/>
          <a:p>
            <a:r>
              <a:t>【04:00–05:00 安排本节的小检验】</a:t>
            </a:r>
          </a:p>
          <a:p>
            <a:r>
              <a:t>给大家一个二十秒的预判任务：一个模型输出完整标签，猜词却与目标无关，你会说它学会了游戏吗？请同桌各给出一项需要补看的证据。讲师把答案分成输出协议和任务表现两类，再说明这两类都要保存，不能互相替代。本节末尾会有四道题，分别检查回合上限、格式与正确性的区别、消息拼接以及猜中指标。接下来先用通俗解释和一个真实样本，把监督微调从缩写变成具体的训练行为；框架和硬件问题放到下一部分展开。</a:t>
            </a:r>
          </a:p>
          <a:p/>
          <a:p>
            <a:r>
              <a:t>【对应资料与源码】</a:t>
            </a:r>
          </a:p>
          <a:p>
            <a:r>
              <a:t>/Users/liuyuanchen/develope/cann-learning-hub/tutorials/sft_training_pipeline/01_sft_and_wordle/01.01_chapter_intro.ipynb</a:t>
            </a:r>
          </a:p>
          <a:p>
            <a:r>
              <a:t>定位：章节目标、为什么需要两阶段训练</a:t>
            </a:r>
          </a:p>
          <a:p>
            <a:r>
              <a:t>用途：课程任务、监督与强化学习的关系</a:t>
            </a:r>
          </a:p>
          <a:p>
            <a:r>
              <a:t>/Users/liuyuanchen/develope/cann-learning-hub/tutorials/sft_training_pipeline/01_sft_and_wordle/01.03_sft_concepts.ipynb</a:t>
            </a:r>
          </a:p>
          <a:p>
            <a:r>
              <a:t>定位：共同的 next-token Cross-Entropy、Label Masking、小结</a:t>
            </a:r>
          </a:p>
          <a:p>
            <a:r>
              <a:t>用途：本课采用的学习信号与监督位置</a:t>
            </a:r>
          </a:p>
          <a:p>
            <a:r>
              <a:t>/Users/liuyuanchen/develope/cann-learning-hub/tutorials/sft_training_pipeline/01_sft_and_wordle/01.02_wordle_task_intro.ipynb</a:t>
            </a:r>
          </a:p>
          <a:p>
            <a:r>
              <a:t>定位：游戏规则、数据示例</a:t>
            </a:r>
          </a:p>
          <a:p>
            <a:r>
              <a:t>用途：反馈规则与多轮样本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16 页｜TorchTitan框架介绍</a:t>
            </a:r>
          </a:p>
          <a:p>
            <a:r>
              <a:t>建议约 5 分钟（包含互动）。课程累计 75–80 分钟。</a:t>
            </a:r>
          </a:p>
          <a:p/>
          <a:p>
            <a:r>
              <a:t>【00:00–01:00 框架负责组织完整训练】</a:t>
            </a:r>
          </a:p>
          <a:p>
            <a:r>
              <a:t>这页列出的六项能力，可以沿着一条训练链理解。假设我们要训练 Qwen3 做 Wordle，首先要定义模型，然后把对话变成带标签的 token，再按照并行配置组织计算，最后更新参数、记录指标、保存检查点。TorchTitan 将这些环节做成可以组合的模块。这里的“模型切分与模型定义解耦”，是说网络数学结构与并行化入口分开组织，并不意味着框架能够任意切分一个陌生模型而无需适配。请大家找一找：词表大小属于模型定义，两个 rank 是否分片属于并行配置，它们应该由同一个参数控制吗？当然不是。</a:t>
            </a:r>
          </a:p>
          <a:p/>
          <a:p>
            <a:r>
              <a:t>【01:00–02:00 沿训练器找到具体职责】</a:t>
            </a:r>
          </a:p>
          <a:p>
            <a:r>
              <a:t>源码阅读可以从 Trainer 的初始化和 train_step 入手。课程固定上游版本的 Trainer 先构造损失函数、并行拓扑和模型，再建立优化器、数据加载器与检查点管理。train_step 会清理旧梯度，收集若干 microbatch，计算有效监督 token 数，逐批前向和反向，随后裁剪梯度、执行优化器更新，再推进学习率调度。请注意，这一顺序说明日志中的一步通常对应一次参数更新，而不是一条 Wordle 样本。给大家二十秒，在纸上把“裁剪梯度、前向反向、参数更新”排序；正确顺序能帮助我们解释后面 grad_norm 的含义。</a:t>
            </a:r>
          </a:p>
          <a:p/>
          <a:p>
            <a:r>
              <a:t>【02:00–03:00 数据与检查点为什么不能省】</a:t>
            </a:r>
          </a:p>
          <a:p>
            <a:r>
              <a:t>数据处理并非简单读取文本文件。框架必须调用任务处理函数整理消息，使用 tokenizer 编码，并标记哪些位置参与损失。若把环境反馈也当成助手回答监督，训练可以正常运行，却学错了目标。检查点也有两个用途：继续训练需要恢复模型之外的优化器、步数等状态；导出给推理服务时，通常关心模型权重布局和配置、tokenizer 是否齐全。请判断：只有一份 HF 权重，就一定能原地接着恢复所有优化器状态吗？不能。我们需要区分用于推理的导出产物和完整训练恢复产物，并用实际加载测试验证它们。</a:t>
            </a:r>
          </a:p>
          <a:p/>
          <a:p>
            <a:r>
              <a:t>【03:00–04:00 精度、优化器与监控的关系】</a:t>
            </a:r>
          </a:p>
          <a:p>
            <a:r>
              <a:t>混合精度的作用，是让适合的计算或通信使用更低精度，从而减少部分显存和数据传输，同时保留需要的数值稳定性。它不是把所有张量统一改成 bf16。Adam 的一阶、二阶状态、参数持久存储和通信精度都可能不同，所以估算显存要逐项查配置。监控也是同样的思路：loss 告诉我们监督目标上的误差，grad_norm 反映本次梯度规模，吞吐量告诉我们每秒处理多少数据。请思考：吞吐量变高但 loss 出现非有限值，是训练优化成功吗？不是，运行效率与数值有效性需要一起检查。</a:t>
            </a:r>
          </a:p>
          <a:p/>
          <a:p>
            <a:r>
              <a:t>【04:00–05:00 版本边界与小结练习】</a:t>
            </a:r>
          </a:p>
          <a:p>
            <a:r>
              <a:t>这次核对的最新 TorchTitan 主分支已经使用新的配置结构，训练核心位于 trainer.py，不能只搜索 train.py 就认为没有训练逻辑。课程的固定上游提交仍使用 local_batch_size 和 global_batch_size 的配方口径，最新主分支已引入按 token 数组织更新的配置。课堂复现依照课程固定版本，最新代码用于理解发展方向。请一位同学用一句话说明框架价值：它统一组织通用训练环节，让模型与任务适配可以复用这些能力。再请另一位同学补充边界：并行策略、数据格式、恢复方式仍需要明确配置与验证。下面看这些能力怎样接到 Ascend NPU。</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TorchTitan-NPU介绍</a:t>
            </a:r>
          </a:p>
          <a:p>
            <a:r>
              <a:t>建议约5分钟。</a:t>
            </a:r>
          </a:p>
          <a:p/>
          <a:p>
            <a:r>
              <a:t>【00:00–01:00 先讲清上游与NPU包的关系】</a:t>
            </a:r>
          </a:p>
          <a:p>
            <a:r>
              <a:t>这一页的核心，是上游提供的统一配置级组件替换机制。TorchTitan 负责组织模型、优化器、数据、并行和训练流程；NPU 扩展包可以复用这套训练主干，提供适合昇腾设备的实现。看左边的层次图：上层决定训练什么、怎样构建组件，中间的 PyTorch 与 torch_npu 提供张量和后端能力，底层由 CANN 支撑设备执行。这里的 Override 是用另一种配置和组件实现替换原实现。它不表示安装一个包后自动替换所有组件，也不意味着整个 NPU 包完全没有导入时补丁。</a:t>
            </a:r>
          </a:p>
          <a:p/>
          <a:p>
            <a:r>
              <a:t>【01:00–02:00 沿右图读配置替换流程】</a:t>
            </a:r>
          </a:p>
          <a:p>
            <a:r>
              <a:t>右侧先看上游的 Config 树。可替换对象覆盖模型组件、优化器、损失、数据加载与验证等 Configurable，而不局限于模型算子。NPU 包通过 @override 声明工厂函数针对哪类 Config，再由 override.imports 显式指定本次使用的完整 module.function 路径。框架在模型 update_from_config() 之后、任何组件 build() 之前收集匹配节点，检查冲突，再调用工厂返回替代 Config。图中“匹配节点”也可以使用完整路径 FQN 的通配规则缩小范围。例如只替换某几层，同一类组件可以在不同位置选择不同实现。</a:t>
            </a:r>
          </a:p>
          <a:p/>
          <a:p>
            <a:r>
              <a:t>【02:00–03:00 用真实RMSNorm例子解释换了什么】</a:t>
            </a:r>
          </a:p>
          <a:p>
            <a:r>
              <a:t>看最下方这个实际存在的 NPU 示例。原配置类型是 RMSNorm.Config，命令选择 torchtitan_npu.override.common.rms_norm.asc。asc 工厂用 @override(target=RMSNorm.Config) 注册，并通过 derive(cfg, AscRMSNorm.Config) 创建替代配置，继承共享字段。之后 build() 构建 AscRMSNorm，运行 forward 时调用 torch_npu.npu_rms_norm。请同学指出真正换成融合算子的阶段：配置阶段选定组件实现，实际计算发生在后续 forward。它不是运行中把任意同名算子动态拦截，也不能把只安装软件包当成已经启用这个工厂。</a:t>
            </a:r>
          </a:p>
          <a:p/>
          <a:p>
            <a:r>
              <a:t>【03:00–04:00 解释选择、组合与兼容边界】</a:t>
            </a:r>
          </a:p>
          <a:p>
            <a:r>
              <a:t>现在看左上角第三条。多个 override 能否同时启用，要看它们认领的具体节点是否冲突。两个替换操作作用于不同节点可以共存；认领同一节点，或者一个替换整块组件、另一个替换它里面的子节点，会在修改前报冲突。框架先在原配置树中收集匹配，替代结果不会再次遍历，所以不能靠调整列表顺序让一串 patch 任意叠加。请判断：同一文件里有 asc 和 golden 两个工厂，只列出 asc，会不会两者都生效？不会，启用范围精确到指定函数。查看启动日志中的节点路径和替换前后类型，比只看包能否导入更可靠。</a:t>
            </a:r>
          </a:p>
          <a:p/>
          <a:p>
            <a:r>
              <a:t>【04:00–05:00 讲清仍需验证的工程条件】</a:t>
            </a:r>
          </a:p>
          <a:p>
            <a:r>
              <a:t>最后说明三个机制的分工：组件实现替换优先放在 override；backend 缺口与必须随导入生效的临时兼容仍在 patches；TrainerEx 等训练配置和能力扩展仍然存在。接入编译链以后，仍需验证具体组件的兼容性。替代组件要遵守输入输出、DTensor 与分片规则，还要检查 checkpoint 布局以及 torch.compile 能否工作。NPU 编译链当前复用 Inductor，并通过 torch_npu 内置的 AscendC Codegen 对接 AutoFuse。请同学说出最小验证：确认日志实际替换了预期节点，跑通前向反向，并与参考实现比较数值。实际开跑使用 NPU 配套依赖，不能直接把任意最新上游 main 与现有 NPU 环境混装。</a:t>
            </a:r>
          </a:p>
          <a:p/>
          <a:p>
            <a:r>
              <a:t>【版本与讲师提示】</a:t>
            </a:r>
          </a:p>
          <a:p>
            <a:r>
              <a:t>核对日期：2026-09-15。</a:t>
            </a:r>
          </a:p>
          <a:p>
            <a:r>
              <a:t>上游 TorchTitan main：30af8876d172b58188a8018d48a9156afab5ea01。</a:t>
            </a:r>
          </a:p>
          <a:p>
            <a:r>
              <a:t>torchtitan-npu upstream/master：280b02349529c6389d1386949675401a07ecea0f。</a:t>
            </a:r>
          </a:p>
          <a:p>
            <a:r>
              <a:t>NPU requirements 仍固定 torchtitan==0.3.0、torch==2.14.0.dev20260719、torch_npu==2.14.0.dev20260808。上游机制说明与安装版本需分开理解。</a:t>
            </a:r>
          </a:p>
          <a:p>
            <a:r>
              <a:t>FQN 是从 Trainer.Config 根节点开始的完整配置路径；@override 的 target 默认也会匹配子类，exact=True 可限制为精确类型。</a:t>
            </a:r>
          </a:p>
          <a:p>
            <a:r>
              <a:t>“自由组合”不是无条件保证。冲突检查覆盖 override 认领的节点，不覆盖导入时 patch 的所有副作用。编译、并行与权重兼容属于替代组件需要履行的契约。</a:t>
            </a:r>
          </a:p>
          <a:p>
            <a:r>
              <a:t>底部 CLI 是附加到配套训练启动命令的参数片段，要求目标配置包含匹配的 RMSNorm.Config 节点，不是独立可执行的完整训练命令。</a:t>
            </a:r>
          </a:p>
          <a:p/>
          <a:p>
            <a:r>
              <a:t>【对应资料与源码】</a:t>
            </a:r>
          </a:p>
          <a:p>
            <a:r>
              <a:t>https://github.com/pytorch/torchtitan/blob/30af8876d172b58188a8018d48a9156afab5ea01/torchtitan/overrides/README.md</a:t>
            </a:r>
          </a:p>
          <a:p>
            <a:r>
              <a:t>定位：Design Overview、Application、Per-node conflict detection、Scope、Custom kernels and torch.compile。</a:t>
            </a:r>
          </a:p>
          <a:p>
            <a:r>
              <a:t>https://github.com/pytorch/torchtitan/blob/30af8876d172b58188a8018d48a9156afab5ea01/torchtitan/config/override.py</a:t>
            </a:r>
          </a:p>
          <a:p>
            <a:r>
              <a:t>定位：override 注册、OverrideConfig、apply_overrides。</a:t>
            </a:r>
          </a:p>
          <a:p>
            <a:r>
              <a:t>https://gitcode.com/cann/torchtitan-npu/blob/280b02349529c6389d1386949675401a07ecea0f/torchtitan_npu/override/README.md</a:t>
            </a:r>
          </a:p>
          <a:p>
            <a:r>
              <a:t>定位：启用方式、应用过程、与 patches 和 extensions 的分工。</a:t>
            </a:r>
          </a:p>
          <a:p>
            <a:r>
              <a:t>https://gitcode.com/cann/torchtitan-npu/blob/280b02349529c6389d1386949675401a07ecea0f/torchtitan_npu/override/common/rms_norm.py</a:t>
            </a:r>
          </a:p>
          <a:p>
            <a:r>
              <a:t>定位：AscRMSNorm.forward、第13–33行、asc 工厂。</a:t>
            </a:r>
          </a:p>
          <a:p>
            <a:r>
              <a:t>https://gitcode.com/cann/torchtitan-npu/blob/280b02349529c6389d1386949675401a07ecea0f/docs/feature_guides/torch_compile.md</a:t>
            </a:r>
          </a:p>
          <a:p>
            <a:r>
              <a:t>定位：torch.compile、Inductor、AscendC Codegen 与 AutoFuse。</a:t>
            </a:r>
          </a:p>
          <a:p>
            <a:r>
              <a:t>https://gitcode.com/cann/torchtitan-npu/blob/280b02349529c6389d1386949675401a07ecea0f/requirements.txt</a:t>
            </a:r>
          </a:p>
          <a:p>
            <a:r>
              <a:t>定位：课程演示所需核对的配套版本。</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18 页｜FSDP：Fully Sharded Data Parallel 的显存动机</a:t>
            </a:r>
          </a:p>
          <a:p>
            <a:r>
              <a:t>建议约 5 分钟（包含互动）。课程累计 85–90 分钟。</a:t>
            </a:r>
          </a:p>
          <a:p/>
          <a:p>
            <a:r>
              <a:t>【00:00–01:00 先说明这页数字的口径】</a:t>
            </a:r>
          </a:p>
          <a:p>
            <a:r>
              <a:t>这页要解释的是训练为什么比单纯加载权重更占显存。先把一个容易误导的地方说清楚：图中的数字是旧示意，不是本次设备实测，也混用了 GB 与 GiB 的口径。我们保留图来讨论组成，但不把三十七 GiB 当成 Qwen3 的固定占用。以十进制的十七亿参数计算，每个参数两个字节，权重约为三点四 GB；换成以二的三十次方为单位的 GiB，约是三点一七。请大家先记住方法：参数个数乘每元素字节数，再统一单位。模型名字只能提供参数规模，不能单独决定完整训练峰值。</a:t>
            </a:r>
          </a:p>
          <a:p/>
          <a:p>
            <a:r>
              <a:t>【01:00–02:00 逐项拆解模型状态】</a:t>
            </a:r>
          </a:p>
          <a:p>
            <a:r>
              <a:t>训练还要存梯度，以及 Adam 用来平滑更新的一阶和二阶状态。如果这两个状态都用 FP32，每个参数需要两份、每份四字节，总共八字节，十七亿参数就是十三点六 GB，约十二点六七 GiB。因此图上“Adam m/v 约二十 GiB”不能仅由这两项推出；如果还有主参数副本或其他缓冲，需要单列并写出精度。梯度也不一定是 bf16，可能采用 FP32 等口径。请同学计算：如果梯度是四字节而不是两字节，这一项会变成多少？答案是六点八 GB。精度假设不同，预算自然不同，不能混合后再求和。</a:t>
            </a:r>
          </a:p>
          <a:p/>
          <a:p>
            <a:r>
              <a:t>【02:00–03:00 激活为什么单独看】</a:t>
            </a:r>
          </a:p>
          <a:p>
            <a:r>
              <a:t>模型状态之外，前向过程会保存反向需要的中间结果，也就是激活。激活受每次送入的序列数、序列长度、隐藏维度、注意力实现和重计算策略影响。图里的十 GiB 只能作为假设，不能看成所有 Qwen3 运行都相同。请想象同一模型从一千零二十四 token 换到四千零九十六 token：权重数量没有变，但中间结果通常会增加。这里的因果很重要，若显存在加长序列后突然不足，首先应检查激活与临时张量，而不应说模型参数突然增加了。我们后面会用 local batch 和重计算调节这部分压力。</a:t>
            </a:r>
          </a:p>
          <a:p/>
          <a:p>
            <a:r>
              <a:t>【03:00–04:00 FSDP 分的是什么】</a:t>
            </a:r>
          </a:p>
          <a:p>
            <a:r>
              <a:t>FSDP 主要降低每个 rank 长期持有的模型状态：参数、梯度和优化器状态按分片组分布保存。把它想象成两位同学各保管半套资料，需要计算某一部分时再临时把相关资料收齐。不是把全部计算中间结果都平均分走，也不是两张卡自动变成一个连续大显存。请大家指出图中哪一项不能简单按卡数除以二：这里的激活通常不能只因为启用 FSDP 就直接减半。临时完整参数、通信缓冲也仍会出现，因此估算分片之后的常驻状态，还要为训练瞬间的额外需求留出空间。</a:t>
            </a:r>
          </a:p>
          <a:p/>
          <a:p>
            <a:r>
              <a:t>【04:00–05:00 把估算落实成排查方法】</a:t>
            </a:r>
          </a:p>
          <a:p>
            <a:r>
              <a:t>实际判断能否运行，应先固定模型、精度、local batch、seq_len 和并行配置，完成一个真实训练步，并观察峰值显存。只加载权重成功，只能证明加载阶段够用；出现 optimizer state 后，或者做反向时，还可能达到更高峰值。课程使用较小的 Qwen3，学习 FSDP 的目的也包括为更大模型、长序列和大 batch 建立方法，不能一概说它必然放不进单设备。最后做一个口头检查：显存预算至少分成模型状态、激活和临时开销，哪些能通过分片降低，哪些需要改变计算配置？下一页我们就看节省状态显存付出的通信代价。</a:t>
            </a:r>
          </a:p>
          <a:p/>
          <a:p>
            <a:r>
              <a:t>正文“3.4 GiB”实为把 1.7×10^9×2 字节按十进制计算的 3.4 GB；约等于 3.17 GiB。</a:t>
            </a:r>
          </a:p>
          <a:p>
            <a:r>
              <a:t>Adam m/v 两份 FP32 合计约 13.6 GB（12.67 GiB），不能直接得到正文约20 GiB。</a:t>
            </a:r>
          </a:p>
          <a:p>
            <a:r>
              <a:t>梯度精度、主参数副本及激活10 GiB均需注明具体实现/假设；37 GiB不是实測。</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20 页｜使用 FSDP 后的效果</a:t>
            </a:r>
          </a:p>
          <a:p>
            <a:r>
              <a:t>建议约 5 分钟（包含互动）。课程累计 95–100 分钟。</a:t>
            </a:r>
          </a:p>
          <a:p/>
          <a:p>
            <a:r>
              <a:t>【00:00–01:00 先把两卡与两份分片分开】</a:t>
            </a:r>
          </a:p>
          <a:p>
            <a:r>
              <a:t>这页想传达两份分片能够降低每卡模型状态占用，但左边“配置两张卡自动开启 FSDP”需要补足条件。NGPU 等于二，首先决定普通启动路径创建两个本地训练进程。实际是否按两份分片，还要看 DP replicate、TP、PP、CP 等并行维度以及 dp_shard 配置。课程条件中这些额外维度为一，自动分片才解析为二。请思考一个反例：如果两个进程被用于别的并行布局，能否仅凭进程数就断言参数一定对半分？不能。我们应该从最终打印的并行配置确认，而不是根据设备数量猜测。图中的 FSDP=auto 是说明性标记，实操时要找真实的 data_parallel_shard_degree 配置字段。</a:t>
            </a:r>
          </a:p>
          <a:p/>
          <a:p>
            <a:r>
              <a:t>【01:00–02:00 用统一假设重新计算】</a:t>
            </a:r>
          </a:p>
          <a:p>
            <a:r>
              <a:t>接着校正右侧的旧数字。本页沿用了上一页不一致的单位与优化器状态估算，所以二十三点四 GiB 不能作为实际每卡峰值。为了教会计算，我们现在明确采用一组演示假设：十七亿参数，持久权重按 BF16 两字节，梯度按 FP32 四字节，Adam 两个 FP32 状态八字节，不另算主参数副本。总计每参数十四字节，模型状态为二十三点八 GB。理想均匀分成两份，每卡十一点九 GB。请同学把三项分别除以二再相加，确认这与先求总和再除以二一致；真实 dtype 仍以运行配置为准。</a:t>
            </a:r>
          </a:p>
          <a:p/>
          <a:p>
            <a:r>
              <a:t>【02:00–03:00 为什么总显存不会减半】</a:t>
            </a:r>
          </a:p>
          <a:p>
            <a:r>
              <a:t>假设同一次运行激活为十 GB，并且这一部分不因为 FSDP 分片而降低，那么示意预算从三十三点八 GB 变成每卡二十一点九 GB。我们特意使用同一单位和同一假设，才有可比性。请注意，这还没有计入 all-gather 临时完整参数、通信缓冲和其他运行时开销，因此它是静态估算，不是峰值承诺。大家可以口算：如果模型状态越来越小、激活占比越来越大，单纯加更多分片还会带来同样大的总显存收益吗？不会，无法分摊的部分会逐渐主导总量，这就是为什么长序列场景还需要重计算等办法。</a:t>
            </a:r>
          </a:p>
          <a:p/>
          <a:p>
            <a:r>
              <a:t>【03:00–04:00 把配置与实测对上】</a:t>
            </a:r>
          </a:p>
          <a:p>
            <a:r>
              <a:t>实际验收要看三个证据。第一，启动日志是否显示两个 rank 和预期的 dp_shard；第二，数据并行的 batch 关系是否符合本次实验；第三，在完成真实前向、反向与优化器更新后，峰值显存是多少。如果只在加载后看空闲显存，可能还没有创建全部优化器状态；如果只看平均值，则可能错过短暂峰值。请大家在示例日志中分别圈出并行配置和显存记录，并说出哪一项能证明“本次确实采用两份分片”。单独看到 NGPU 等于二，证据还不完整。</a:t>
            </a:r>
          </a:p>
          <a:p/>
          <a:p>
            <a:r>
              <a:t>【04:00–05:00 从容量收益过渡到训练配置】</a:t>
            </a:r>
          </a:p>
          <a:p>
            <a:r>
              <a:t>最后把本页结论讲成一句可用的话：FSDP 用通信与调度换取每卡更低的模型状态常驻显存，实际容量收益取决于精度、分片组、激活与临时开销。我们不从旧示意直接推出设备一定剩下多少 GiB，更不能把“放得下”当成“训练得快”或“训练得好”。请两人一组设计最小验证实验：保持模型、序列长度和 local batch 一致，比较不同分片配置的峰值显存与步耗时。不要一次同时改变多个因素。下一页做四道小题，把进程数、参数收集、梯度归约与容量来源这四件事分清。</a:t>
            </a:r>
          </a:p>
          <a:p/>
          <a:p>
            <a:r>
              <a:t>【讲师须知：口径与版本】</a:t>
            </a:r>
          </a:p>
          <a:p>
            <a:r>
              <a:t>正文 36.8→23.4 GiB/卡及余量8.6 GiB沿用了不一致的旧精度/单位假设，不能作为验证结果。</a:t>
            </a:r>
          </a:p>
          <a:p>
            <a:r>
              <a:t>讲解采用另行明确的十进制示例：2+4+8字节/参数，模型状态23.8 GB，两份为11.9 GB；加假设激活10 GB得到21.9 GB，不含临时峰值。</a:t>
            </a:r>
          </a:p>
          <a:p>
            <a:r>
              <a:t>NGPU=2仅先决定普通启动路径的两个进程，FSDP degree=2依赖其他并行维度与分片配置。</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19 页｜FSDP 通信：正向 AllGather，反向 ReduceScatter</a:t>
            </a:r>
          </a:p>
          <a:p>
            <a:r>
              <a:t>建议约 5 分钟（包含互动）。课程累计 90–95 分钟。</a:t>
            </a:r>
          </a:p>
          <a:p/>
          <a:p>
            <a:r>
              <a:t>【00:00–01:00 先设定两个 rank 的例子】</a:t>
            </a:r>
          </a:p>
          <a:p>
            <a:r>
              <a:t>图上画了四个 rank，我们先缩成两个来推演，机制相同。中央“完整模型”框是概念示意，实际应理解为各 rank 临时收齐当前 unit 的参数后各自计算，并非把计算集中到一台设备。沿用两位同学分别保管资料的比喻。假设某个 FSDP unit 的参数分成两半，rank 零保管前半，rank 一保管后半；两人各自处理不同的一批训练数据。计算这个 unit 时，两边都需要完整参数，所以先通过 all-gather 收集分片。请注意，收集的是当前 unit 的参数组，不是全部训练数据，也不是每一层都无条件一次性还原整台模型。unit 可以是一个 Transformer block 等模块，具体边界由 fully_shard 如何包裹模型决定。理解这一点，才能解释为什么分片粒度会同时影响显存和通信调度。</a:t>
            </a:r>
          </a:p>
          <a:p/>
          <a:p>
            <a:r>
              <a:t>【01:00–02:00 正向结束后的取舍】</a:t>
            </a:r>
          </a:p>
          <a:p>
            <a:r>
              <a:t>正向得到中间结果后，完整参数要不要马上释放，取决于 reshard_after_forward 策略。若恢复分片，常驻显存低，但反向计算需要完整参数时通常要再次 all-gather；若暂时保留完整参数，可以减少这次收集，却会增加占用。所以这页标题只是概括，不能理解为 all-gather 只发生在正向。现在请大家选择：显存紧张且通信较快时，你更愿意尽早释放还是保留？没有脱离条件的最佳答案，我们是在显存与通信之间做取舍。最新上游的配置也明确保留 always、never 和 default 等策略。</a:t>
            </a:r>
          </a:p>
          <a:p/>
          <a:p>
            <a:r>
              <a:t>【02:00–03:00 反向怎样汇总梯度】</a:t>
            </a:r>
          </a:p>
          <a:p>
            <a:r>
              <a:t>反向时，不同 rank 根据自己那批数据算出梯度贡献。reduce-scatter 把对应位置的贡献归约，再将归约后的结果分片交还各 rank。用四个参数的玩具例子，rank 零只需长期保留前两个参数对应的梯度分片，rank 一保留后两个，优化器随后更新自己负责的参数状态。归约后的缩放还取决于框架的损失归一化，不能只记成所有情况都裸求和。请一位同学说明：如果各 rank 从不交换梯度信息，只独立修改自己的模型副本，会发生什么？它们会各自训练，不能构成本课程所说的一次同步数据并行更新。</a:t>
            </a:r>
          </a:p>
          <a:p/>
          <a:p>
            <a:r>
              <a:t>【03:00–04:00 重叠通信为什么有用】</a:t>
            </a:r>
          </a:p>
          <a:p>
            <a:r>
              <a:t>图中“把通信藏进计算”表达的是调度目标：当设备正在算当前模块时，提前准备下一个模块所需参数，尽量减少空等。但能否重叠、重叠多少，取决于算子耗时、通信带宽、分片粒度、预取顺序和设备资源争用，并不是调用 FSDP2 就消除了通信。也不能说逐模块包裹与重叠是 FSDP2 独有的概念，较早实现同样存在相应策略。请把一次训练时间想成计算段与通信段的时间线，标出可以同时发生的部分。重叠改善的是等待，传输的数据与带宽需求仍然存在。</a:t>
            </a:r>
          </a:p>
          <a:p/>
          <a:p>
            <a:r>
              <a:t>【04:00–05:00 用源码和日志收尾】</a:t>
            </a:r>
          </a:p>
          <a:p>
            <a:r>
              <a:t>看最新上游 distributed/fsdp.py 的 apply_fsdp，可以看到它对不同模块调用 fully_shard，并给部分首尾模块设置不同的恢复分片策略。这说明实际流程比“每一层同一动作”更细。课堂先掌握参数收集、局部计算、梯度归约分片、局部更新这条主线，再通过 profiler 验证实际等待。最后给二十秒，请按顺序说出常见完整分片场景：正向前收参数，正向后恢复分片，反向前必要时再收参数，反向后归约并分片梯度。下一页比较每卡存储时，请把临时收齐参数的那一瞬间也放进预算。</a:t>
            </a:r>
          </a:p>
          <a:p/>
          <a:p>
            <a:r>
              <a:t>【讲师须知：口径与版本】</a:t>
            </a:r>
          </a:p>
          <a:p>
            <a:r>
              <a:t>图中四rank共用一个“完整模型”框仅为概念画法；实际各rank收集当前FSDP unit参数并处理各自数据，不能理解为集中在单一设备计算。</a:t>
            </a:r>
          </a:p>
          <a:p>
            <a:r>
              <a:t>标题“正向 AllGather，反向 ReduceScatter”是概括：正向后若恢复分片，反向计算前通常还会 all-gather。</a:t>
            </a:r>
          </a:p>
          <a:p>
            <a:r>
              <a:t>按层或模块包裹与通信计算重叠不是 FSDP2 独有，也不保证通信被完全隐藏。</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21 页｜TorchTitan框架概述</a:t>
            </a:r>
          </a:p>
          <a:p>
            <a:r>
              <a:t>建议约 5 分钟（包含互动）。课程累计 100–105 分钟。</a:t>
            </a:r>
          </a:p>
          <a:p/>
          <a:p>
            <a:r>
              <a:t>【答案速查】</a:t>
            </a:r>
          </a:p>
          <a:p>
            <a:r>
              <a:t>Q1：√；Q2：×；Q3：A；Q4：A</a:t>
            </a:r>
          </a:p>
          <a:p/>
          <a:p>
            <a:r>
              <a:t>【00:00–01:00 独立作答并记录理由】</a:t>
            </a:r>
          </a:p>
          <a:p>
            <a:r>
              <a:t>这一分钟先独立作答，不讨论。前四十五秒，请写下两道判断题的对错，以及两道选择题的选项；每题旁边再写一个你判断时使用的关键词。最后十五秒，举手报出最没有把握的题号，暂时不公布答案。教师观察大家是把进程和分片混淆，还是把参数与梯度混淆，后面针对性追问。提醒大家，判断题只需要评价屏幕上的陈述，选择题每题只有一个正确选项。请不要仅凭“分布式听起来很复杂”去选最长的一项，而要把它放回刚才的一次前向、反向和更新流程里。</a:t>
            </a:r>
          </a:p>
          <a:p/>
          <a:p>
            <a:r>
              <a:t>【01:00–02:00 Q1 答案：正确；区分启动与分片】</a:t>
            </a:r>
          </a:p>
          <a:p>
            <a:r>
              <a:t>第一题答案是正确。题目限定单机普通训练启动路径，NGPU 等于二会传给 torchrun 的 nproc_per_node，创建两个本地训练进程，通常分别绑定两个可见设备。请一位同学指出这个结论证明了什么：它证明进程数，不直接证明所有并行维度怎样分配。另一位同学补充，它也不表示模型参数量变成两倍。课程常规两 rank 配置中，其他并行维度为一时，才能进一步得到预期的两份 FSDP 分片。最新启动脚本还存在专门的通信模拟分支；课堂题目按普通 torchrun 分支理解，实际排障时仍以进程和初始化日志为证据。</a:t>
            </a:r>
          </a:p>
          <a:p/>
          <a:p>
            <a:r>
              <a:t>【02:00–03:00 Q2 答案：错误；容量不是靠零通信】</a:t>
            </a:r>
          </a:p>
          <a:p>
            <a:r>
              <a:t>第二题答案是错误。FULL_SHARD 的容量优势来自每个 rank 长期保存的模型状态减少，而不是通信消失。恰恰相反，计算当前模块前需要收集参数，反向后需要归约并分片梯度；若正向后已经释放完整参数，反向前还可能再次收集。请把原句改成正确表述：“通过在 rank 之间分片模型状态，降低每个 rank 的常驻显存。”再追问一个反例：如果网络很慢，这种策略可能节省显存，却未必加快训练。分布式优化经常是在容量、通信和计算之间做取舍，不能把省显存自动等同于省时间，更不能等同于提高模型精度。</a:t>
            </a:r>
          </a:p>
          <a:p/>
          <a:p>
            <a:r>
              <a:t>【03:00–04:00 Q3 答案：A；逐项解析】</a:t>
            </a:r>
          </a:p>
          <a:p>
            <a:r>
              <a:t>第三题选 A，当前 FSDP unit 的参数组。forward 要用这些参数参与计算，而它们原先分散保存在各 rank，所以需要 all-gather 临时收齐。B“所有训练数据”不对，数据由加载器按数据并行分工提供，不是这次参数收集的对象。C“全部 optimizer state”不对，优化器状态通常按分片保存与更新，不需要为了每次前向把它们全部搬到每个 rank。D“profiler trace”是性能分析产物，属于观测记录。请大家画两个半圆表示参数分片，再画收集后两边各自计算的状态；注意只画当前 unit，避免画成永远复制整台模型。</a:t>
            </a:r>
          </a:p>
          <a:p/>
          <a:p>
            <a:r>
              <a:t>【04:00–05:00 Q4 答案：A；逐项解析与回扣】</a:t>
            </a:r>
          </a:p>
          <a:p>
            <a:r>
              <a:t>第四题也选 A，reduce-scatter 归约各 rank 的梯度贡献，并使每个 rank 保留相应梯度分片，用于后续局部状态更新。B“把完整模型复制到每个 rank”混淆了参数收集与梯度处理，也忽略了分片目标。C“下载 checkpoint”属于加载或恢复，不是反向通信。D“切分 input token”属于输入或其他并行数据组织，不能解释这里对梯度的归约。请大家最后用两个动词区分本页核心：参数是“收集来计算”，梯度是“归约后分片”。如果四题答对但说不清对象，请回看流程；理解通信传的是什么，比背英文名字更能帮助我们定位真实训练问题。</a:t>
            </a:r>
          </a:p>
          <a:p/>
          <a:p>
            <a:r>
              <a:t>【讲师须知：口径与版本】</a:t>
            </a:r>
          </a:p>
          <a:p>
            <a:r>
              <a:t>Q1 按课程单机普通 torchrun 启动路径判断；最新脚本的 COMM_MODE 模拟分支不在题目场景内。</a:t>
            </a:r>
          </a:p>
          <a:p>
            <a:r>
              <a:t>Q2 是题库容量优势题的错误选项改写成判断题，正确答案为错误。</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15 页｜SFT 初阶课程</a:t>
            </a:r>
          </a:p>
          <a:p>
            <a:r>
              <a:t>建议约 5 分钟（包含互动）。课程累计 70–75 分钟。</a:t>
            </a:r>
          </a:p>
          <a:p/>
          <a:p>
            <a:r>
              <a:t>【00:00–01:00 回顾任务，提出工程问题】</a:t>
            </a:r>
          </a:p>
          <a:p>
            <a:r>
              <a:t>前面我们已经知道，Wordle 样本是一段有角色、有反馈的对话，SFT 根据示范中的助手回复调整模型参数。现在请大家把自己放到工程师的位置：我已经下载了权重，也拿到了数据，下一步能不能直接按一个训练按钮？请用二十秒写下最担心的一件事。通常会有人写显存不够，有人写数据格式不对，也有人担心训练到一半中断。这些都不是另外一门课的问题，而是把监督学习真正运行起来必须处理的环节。本节的目标，就是能够把这些问题对应到框架中的明确职责，遇到故障时知道先看哪一层。</a:t>
            </a:r>
          </a:p>
          <a:p/>
          <a:p>
            <a:r>
              <a:t>【01:00–02:00 把单卡训练拆成五个动作】</a:t>
            </a:r>
          </a:p>
          <a:p>
            <a:r>
              <a:t>我们先不用分布式术语，口头走一遍单卡训练：读取一批 token，前向得到预测，利用目标位置计算损失，反向得到梯度，优化器更新参数。请大家跟着用五个手指顺序复述。如果程序能做到这些，数学意义上的训练就成立了，但一个完整实验还需要知道从哪份权重开始、处理了哪些数据、如何保存进度以及如何观察异常。框架的价值在于把这些共同环节组织起来。模型作者可以集中定义网络，而数据、并行、检查点等部分按照接口组合。后面阅读源码时，也按这条顺序找入口，不要一上来钻进某个复杂算子。</a:t>
            </a:r>
          </a:p>
          <a:p/>
          <a:p>
            <a:r>
              <a:t>【02:00–03:00 建立进程、设备和数据的联系】</a:t>
            </a:r>
          </a:p>
          <a:p>
            <a:r>
              <a:t>接着把同一流程搬到两个设备。想象两位同学各拿不同的练习题，使用同一套规则完成计算，然后共同决定一次参数更新。这里的两位同学对应两个训练进程，也叫两个 rank；每个进程通常绑定一个可见设备。现在请回答：多一个 rank，意味着模型结构多一层吗？不是，变化的是数据与模型状态如何分布。数据并行让不同 rank 处理不同数据，FSDP 进一步把长期保存的参数、梯度和优化器状态分片。我们稍后会区分这两种“分”，因为混淆数据分配与参数分片，是初学者看配置时最常见的障碍。</a:t>
            </a:r>
          </a:p>
          <a:p/>
          <a:p>
            <a:r>
              <a:t>【03:00–04:00 安排源码阅读路线】</a:t>
            </a:r>
          </a:p>
          <a:p>
            <a:r>
              <a:t>阅读本节代码时，先看启动脚本怎样把进程数、模型模块和配置传进去，再看训练器如何构建模型、数据加载器和优化器，最后才看并行化函数。课程验证过的版本有自己的入口与 Wordle 配方；我们还核对了最新上游，最新文件组织已经发生变化，不能把不同版本的文件名拼成一条启动命令。请两人一组，用二十秒预测：数据格式错误、显存不足、检查点找不到，这三类问题分别更可能在哪个阶段出现？重点不是立即背出函数名，而是先建立从启动、初始化、训练到保存的定位顺序。</a:t>
            </a:r>
          </a:p>
          <a:p/>
          <a:p>
            <a:r>
              <a:t>【04:00–05:00 确定本节验收标准】</a:t>
            </a:r>
          </a:p>
          <a:p>
            <a:r>
              <a:t>这一节结束时，希望大家能回答三个问题：两个 rank 如何共同完成一次更新，FSDP 为什么节省模型状态显存，以及 TorchTitan 与 NPU 插件分别承担什么职责。请把刚才写下的担心保留到本节结尾，再检查自己能否指出一个具体排查入口。课堂先使用已有代码和日志理解这条链路，完整安装与长时间训练放到对应实操环境完成。本节不是要求大家记住所有并行缩写，而是能够读懂本课程的两 rank 配置，并解释一次参数更新背后的数据与通信。接下来先看 TorchTitan 给我们提供的通用能力。</a:t>
            </a:r>
          </a:p>
          <a:p/>
          <a:p>
            <a:r>
              <a:t>【对应资料与源码】</a:t>
            </a:r>
          </a:p>
          <a:p>
            <a:r>
              <a:t>/Users/liuyuanchen/develope/cann-learning-hub/tutorials/sft_training_pipeline/02_torchtitan_framework/02.01_chapter_intro.ipynb</a:t>
            </a:r>
          </a:p>
          <a:p>
            <a:r>
              <a:t>定位：章节目标与内容安排</a:t>
            </a:r>
          </a:p>
          <a:p>
            <a:r>
              <a:t>用途：本章从分布式最小概念进入框架与环境。</a:t>
            </a:r>
          </a:p>
          <a:p>
            <a:r>
              <a:t>/Users/liuyuanchen/develope/cann-learning-hub/tutorials/sft_training_pipeline/02_torchtitan_framework/02.02_torchtitan_and_fsdp.ipynb</a:t>
            </a:r>
          </a:p>
          <a:p>
            <a:r>
              <a:t>定位：两 rank 拓扑；TorchTitan 训练启动流程</a:t>
            </a:r>
          </a:p>
          <a:p>
            <a:r>
              <a:t>用途：课程固定版本的工程主线。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23 页｜训练配置与基线训练</a:t>
            </a:r>
          </a:p>
          <a:p>
            <a:r>
              <a:t>建议约 5 分钟（包含互动）。课程累计 110–115 分钟。</a:t>
            </a:r>
          </a:p>
          <a:p/>
          <a:p>
            <a:r>
              <a:t>【00:00–01:00 从原始记录到消息列表】</a:t>
            </a:r>
          </a:p>
          <a:p>
            <a:r>
              <a:t>先指着左边第一步，说明原始样本与训练输入不是同一个对象。Wordle 数据包含 prompt、completion 和元数据，课程固定 NPU 版本的 process_wordle_sample 会按顺序连接前两个字段，并规范化消息内容；它返回 role/content 消息列表，不负责生成梯度或奖励向量。answer、reward、task 不能因为存在于记录中就全部塞进模型提示，尤其秘密词不能泄漏给模型。请大家用三十秒写出一局两次猜词的角色顺序：规则、用户任务、助手猜测、环境反馈、助手再次猜测。模型要学习的是在这些上下文中怎样给出助手回复。</a:t>
            </a:r>
          </a:p>
          <a:p/>
          <a:p>
            <a:r>
              <a:t>【01:00–02:00 解释 next-token 与监督位置】</a:t>
            </a:r>
          </a:p>
          <a:p>
            <a:r>
              <a:t>第二步由 chat template 保留角色边界，再由 tokenizer 转成 token ID。假设完整 token 序列是 t零到 t四，输入取 t零到 t三，目标取 t一到 t四，让每个位置预测下一个 token。第三步才决定哪些目标参与损失：对应非助手内容的位置设为负一百，这是忽略损失的标签标记，不是词表里的某个 token，也不是把上下文从输入中删掉。请判断：环境反馈不直接算监督损失，模型还能读到反馈吗？能，因为反馈仍在输入上下文中，影响后续助手位置的预测。这个区别是本页必须讲清楚的关键。</a:t>
            </a:r>
          </a:p>
          <a:p/>
          <a:p>
            <a:r>
              <a:t>【02:00–03:00 多轮支持来自具体补丁】</a:t>
            </a:r>
          </a:p>
          <a:p>
            <a:r>
              <a:t>这里还需要补充源码细节。课程固定的上游 ChatDataset 原本校验单轮 user/assistant 对，NPU 的 chat_dataset 补丁扩展了多轮消息验证与 tokenization。补丁扫描 ChatML 的助手角色头，找到每段助手输出范围，再把这些范围左移一个位置映射到 next-token labels，保留助手目标，屏蔽其他目标。请大家找一个容易出错的边界：如果不左移，会漏掉第一个助手 token 或监督到错误位置。因此排查 SFT 数据时，不能只看原始 JSON 好像正确，还应检查实际渲染文本、token 边界和未被屏蔽的 label 数量，确认至少存在有效监督。</a:t>
            </a:r>
          </a:p>
          <a:p/>
          <a:p>
            <a:r>
              <a:t>【03:00–04:00 澄清 packing 概念与当前配方】</a:t>
            </a:r>
          </a:p>
          <a:p>
            <a:r>
              <a:t>第四步在图上表示 packing 的一般机制：若启用跨对话打包，短对话可依次放入固定长度序列；放不下下一条时补齐当前序列，超长原样本按实现丢弃。但本页与课程固定配方有一个差异，讲课必须口头说明：固定 NPU f8b72f1 的普通 Wordle 配方使用 causal SDPA，补丁为防止跨对话注意力而关闭 greedy packing，每局单独补齐。只有另一个显式使用 block_causal 的 Wordle 配方才启用跨局打包。因此“可能包含多局”是开启 packing 时的概念，不能当成普通配方本次实际行为。请在日志里查对应警告来确认。</a:t>
            </a:r>
          </a:p>
          <a:p/>
          <a:p>
            <a:r>
              <a:t>【04:00–05:00 把数据检查落到三个动作】</a:t>
            </a:r>
          </a:p>
          <a:p>
            <a:r>
              <a:t>最后给大家三个具体检查动作。先抽一条记录，看消息顺序与协议是否正确；再检查 labels，把助手内容与有效监督位置对应起来；最后核对实际序列长度和打包模式。课程命令把 recipe 默认的一千零二十四覆盖为四千零九十六，覆盖是否生效要看日志，不能只看配置文件。请两人一组判断一个故障：loss 为零或没有有效 labels，你会先改学习率吗？应先检查角色模板、助手范围和被丢弃的样本。数据管线决定模型学什么，后面调参只有建立在监督信号正确的基础上，才有明确的解释。请再指着图中变灰的 token 说明：灰色表示该目标不计损失，并非从输入删除。</a:t>
            </a:r>
          </a:p>
          <a:p>
            <a:r>
              <a:t>正文第4步及结语应按“启用greedy packing时”理解；固定NPU f8b72f1 的普通Wordle配方实际关闭跨局packing，每条样本单独补齐。</a:t>
            </a:r>
          </a:p>
          <a:p>
            <a:r>
              <a:t>固定上游ac13自身只接受单轮，课程多轮能力来自固定NPU chat_dataset.py补丁，不是上游无条件支持。</a:t>
            </a:r>
          </a:p>
          <a:p>
            <a:r>
              <a:t>当前Notebook03.02对普通配方的packing文字与固定源码存在差异；讲解以已核对源码分支和本次日志为准。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24 页｜训练配置与基线训练</a:t>
            </a:r>
          </a:p>
          <a:p>
            <a:r>
              <a:t>建议约 5 分钟（包含互动）。课程累计 115–120 分钟。</a:t>
            </a:r>
          </a:p>
          <a:p/>
          <a:p>
            <a:r>
              <a:t>【00:00–01:00 把 batch 等式算成一次更新】</a:t>
            </a:r>
          </a:p>
          <a:p>
            <a:r>
              <a:t>这页最重要的是六十四等于二乘二乘十六。每个 rank 一次取两条定长序列，两个数据并行 rank 同时处理，相当于一个 microbatch 轮次共四条；累计十六轮后，才做一次优化器更新，所以全局 batch 为六十四。请大家先自己算二十秒，再回答：这里的六十四是六十四个 token 吗？不是，是旧配置口径下的序列条数；序列长度另外由四千零九十六控制。一条序列在是否打包、padding 多少方面可能不同，因此名义 token 槽位不等于实际参与损失的助手 token 数，更不能不加说明地当成六十四局有效完整游戏。</a:t>
            </a:r>
          </a:p>
          <a:p/>
          <a:p>
            <a:r>
              <a:t>【01:00–02:00 试跑与正式训练分别验什么】</a:t>
            </a:r>
          </a:p>
          <a:p>
            <a:r>
              <a:t>表格第一行只跑一个更新步，全局 batch 为四，所以两个 rank 各两条，累计一次即可。它要走通加载权重、加载真实 Wordle 数据、通信、前向、反向与更新的完整链路。第二行是二十个更新步，全局 batch 六十四，累计十六次。请把“二十步”理解为二十次参数更新，不是二十次前向，也不是二十条样本。大家可以计算：名义上二十乘六十四，共一千二百八十个序列元素参与更新；实际独立样本数还要考虑打包方式、迭代和丢弃。试跑成功之后，仍要核对正式运行没有误用旧输出目录恢复到别的状态。</a:t>
            </a:r>
          </a:p>
          <a:p/>
          <a:p>
            <a:r>
              <a:t>【02:00–03:00 从源码理解梯度累积与裁剪】</a:t>
            </a:r>
          </a:p>
          <a:p>
            <a:r>
              <a:t>固定上游 Trainer.train_step 先收集 microbatch，并统计 labels 不等于负一百的有效监督 token；再完成这些 microbatch 的前向反向，最后调用梯度裁剪和优化器更新。这样解释了为什么日志里的 grad_norm 可能大于 max_norm：通常记录的是裁剪函数返回的裁剪前范数。假设裁剪前范数为十、阈值为一，裁剪会按比例缩小整个梯度向量，而不是把某个 token 的损失改成一。请判断：看到一点二就说明裁剪失效吗？不能；更应检查是否为有限值、后续更新是否稳定，以及代码记录的是裁剪前还是裁剪后。</a:t>
            </a:r>
          </a:p>
          <a:p/>
          <a:p>
            <a:r>
              <a:t>【03:00–04:00 学习率与检查点的实际含义】</a:t>
            </a:r>
          </a:p>
          <a:p>
            <a:r>
              <a:t>本课程 recipe 使用学习率十的负五次方，warmup 为零、最小学习率因子为一，在这段短实验中保持常数。它是课程设置，不是所有 SFT 任务的最优默认值。检查日志要看连续窗口的 loss 与梯度趋势，不能挑一个好看的 step。产物方面，最后导出 HF 权重后，还需确保 config 和 tokenizer 等文件齐全，并实际重新加载。请大家区分两个目标：推理端能加载模型，不等于可以恢复所有训练状态；训练用检查点恢复则还关心优化器、学习率调度和进度。一个实验只有把日志与可用产物对应起来，才方便复现。</a:t>
            </a:r>
          </a:p>
          <a:p/>
          <a:p>
            <a:r>
              <a:t>【04:00–05:00 版本与打包模式的课堂核对】</a:t>
            </a:r>
          </a:p>
          <a:p>
            <a:r>
              <a:t>这页的等式对应课程固定版本，不直接套到最新 GitHub main。最新 trainer.py 已按每次更新的 token 预算与每个 DP rank 的 microbatch token 预算计算累积，因此参数名字与单位需要重新对照。另一个要口头提醒的细节，是固定 NPU 普通 Wordle 配方关闭跨局 greedy packing，本次四千零九十六长度下可能有较多 padding；若改成 block-causal 打包配方，吞吐与有效监督占比也可能变化。最后请每组在日志中找四个值：local batch、DP degree、累积次数、实际长度。只有它们与实验意图一致，才继续解释训练曲线。再核对每个输出目录中的步数，避免拿试跑产物误当正式二十步模型。</a:t>
            </a:r>
          </a:p>
          <a:p/>
          <a:p>
            <a:r>
              <a:t>【讲师须知：口径与版本】</a:t>
            </a:r>
          </a:p>
          <a:p>
            <a:r>
              <a:t>64为旧配置的序列元素口径，不是token数；64×4096为名义槽位，非有效监督token数。</a:t>
            </a:r>
          </a:p>
          <a:p>
            <a:r>
              <a:t>普通Wordle配方在固定NPU f8b72f1中禁用跨局packing，不能用packing示意声称本次每序列包含多局。</a:t>
            </a:r>
          </a:p>
          <a:p>
            <a:r>
              <a:t>最新main已换为token预算配置，不能直接复制课程旧batch参数；最新NPU f11db1e的配套依赖为0.3.0。</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vf-eval 加载 Wordle 环境并发起多轮请求；推理服务使用 transformers + torch_npu 加载 SFT 权重。XMLParser 检查 &lt;think&gt; 和 &lt;guess&gt; 字段。流程包括初始化、请求、解析、反馈、终止判断和循环。来源：用户提供的评测框架参考图。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26 页｜训练配置与基线训练</a:t>
            </a:r>
          </a:p>
          <a:p>
            <a:r>
              <a:t>建议约 5 分钟（包含互动）。课程累计 125–130 分钟。</a:t>
            </a:r>
          </a:p>
          <a:p/>
          <a:p>
            <a:r>
              <a:t>【答案速查】</a:t>
            </a:r>
          </a:p>
          <a:p>
            <a:r>
              <a:t>Q1：√；Q2：×；Q3：A；Q4：ABC</a:t>
            </a:r>
          </a:p>
          <a:p/>
          <a:p>
            <a:r>
              <a:t>【00:00–01:00 独立作答并区分题型】</a:t>
            </a:r>
          </a:p>
          <a:p>
            <a:r>
              <a:t>先留四十五秒独立完成四题，最后十五秒收集最没把握的题号。请注意第四题是多选题，其余选择题为单选。判断题请同时写一个计算过程或反例，不要只有勾叉。教师巡视时，记录是否有人把全局 batch 当作 token 数、把 packing 与原始样本划等号，或者把日志里的梯度范数当作裁剪后值。先不公布答案，让学生明确自己的依据。题目讨论的是屏幕给定条件，其中第二题询问 greedy packing 的一般机制，并非让大家猜测某个默认配方是否已经开启这项功能。</a:t>
            </a:r>
          </a:p>
          <a:p/>
          <a:p>
            <a:r>
              <a:t>【01:00–02:00 Q1 答案：正确；算清更新边界】</a:t>
            </a:r>
          </a:p>
          <a:p>
            <a:r>
              <a:t>第一题正确。全局 batch 六十四，local batch 二，DP degree 二，一轮 microbatch 全局处理二乘二等于四个序列元素，六十四除以四得到十六次梯度累积，之后完成一次优化器更新。请一个同学反向验证，把十六代回等式，另一个同学说出单位：这里是序列条数，不是单个 token。若 global batch 改为四且其他条件不变，累积就是一次，这对应课程试跑。再强调版本边界，等式使用课程固定旧配置，最新上游以 token 预算组织相同更新概念，需要按新字段重新换算，不能把旧参数名照搬后默认得到相同实验。</a:t>
            </a:r>
          </a:p>
          <a:p/>
          <a:p>
            <a:r>
              <a:t>【02:00–03:00 Q2 答案：错误；机制与开关分开】</a:t>
            </a:r>
          </a:p>
          <a:p>
            <a:r>
              <a:t>第二题错误。启用 greedy packing 时，一条定长序列可能按顺序容纳多局短对话，因此“必然只含一局”不成立。举个小例子，长度上限一千，两局处理后各三百和四百 token，可以进入同一打包序列；若下一局放不下，当前序列才补齐输出。请大家用这个反例解释，不必背定义。但还要纠正课堂实现差异：固定 NPU 的普通 Wordle 配方使用 causal SDPA，为避免跨局注意力而关闭跨局packing；显式 block-causal 配方才会启用。一般机制的答案与某次运行的开关状态是两个问题，实际状态看配置与日志。</a:t>
            </a:r>
          </a:p>
          <a:p/>
          <a:p>
            <a:r>
              <a:t>【03:00–04:00 Q3 答案：A；逐项解释梯度日志】</a:t>
            </a:r>
          </a:p>
          <a:p>
            <a:r>
              <a:t>第三题选 A，日志可以显示大于阈值的裁剪前范数，随后执行梯度裁剪。固定训练器在全部 microbatch 反向后调用 clip_grad_norm，再进行优化器更新，这个返回值反映裁剪前规模。B“一定发生 OOM”错误，范数是数值大小，OOM 是内存容量不足，不能互相推出。C“已经学会 Wordle”错误，梯度大小不能代替行为评测。D“FSDP 被关闭”错误，分片策略与范数是否超阈值没有这种逻辑关系。请同学补充真正应该警惕的信号：非有限值、连续数量级异常增长，以及与数据或学习率变化相伴的持续不稳定。</a:t>
            </a:r>
          </a:p>
          <a:p/>
          <a:p>
            <a:r>
              <a:t>【04:00–05:00 Q4 答案：A、B、C；逐项解释公平性】</a:t>
            </a:r>
          </a:p>
          <a:p>
            <a:r>
              <a:t>第四题选择 A、B、C。A 固定任务与工具 revision，避免题目或判分实现变化；B 固定 seed 与生成参数，减少任务顺序和采样规则不同造成的偏差；C 固定 rollout 数与并发设置，使采样预算和服务负载尽量可比。D 不选，两组共用同一个文件并覆盖结果，会丢失可复核的基座或 SFT 记录，应该分别保存并标明模型身份。请大家再补一句限制：固定随机种子并不保证跨设备、跨软件栈完全逐位一致，它是控制条件的一部分。最后用一句话结束本节：可信的训练结论，应同时拥有正确监督、稳定更新、可加载权重以及同条件评测证据。请在错题旁标出需要回看的证据。</a:t>
            </a:r>
          </a:p>
          <a:p/>
          <a:p>
            <a:r>
              <a:t>【讲师须知：口径与版本】</a:t>
            </a:r>
          </a:p>
          <a:p>
            <a:r>
              <a:t>Q2按greedy packing一般性质判错；不能据此断言固定普通Wordle配方已开启跨局packing。</a:t>
            </a:r>
          </a:p>
          <a:p>
            <a:r>
              <a:t>Q4的并发一致旨在控制服务负载与故障条件，不代表并发直接决定理论模型能力。</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22 页｜SFT 初阶课程</a:t>
            </a:r>
          </a:p>
          <a:p>
            <a:r>
              <a:t>建议约 5 分钟（包含互动）。课程累计 105–110 分钟。</a:t>
            </a:r>
          </a:p>
          <a:p/>
          <a:p>
            <a:r>
              <a:t>【00:00–01:00 从框架进入可复现的训练】</a:t>
            </a:r>
          </a:p>
          <a:p>
            <a:r>
              <a:t>现在进入训练配置与基线训练。上一节已经解释两个 rank 如何组织计算，也知道不能仅凭模型权重大小判断训练是否能运行。接下来我们把这些概念落实成一个最小闭环：数据进入训练器，完成一次可以核对的参数更新，保存可加载的模型，再与基座模型进行同条件评测。请大家先回答：如果终端出现“训练完成”，我们能否立刻说模型学会 Wordle？不能，完成只证明执行结束，还需要核对数据、日志和评测产物。这一章会把“能运行”和“有有效学习证据”分别验收。</a:t>
            </a:r>
          </a:p>
          <a:p/>
          <a:p>
            <a:r>
              <a:t>【01:00–02:00 三个阶段各回答一个问题】</a:t>
            </a:r>
          </a:p>
          <a:p>
            <a:r>
              <a:t>我们按三个阶段推进。数据准备回答“模型究竟在学哪些 token”；试跑与正式训练回答“配置是否生效，计算是否稳定，产物是否完整”；推理评测回答“模型行为是否改变”。请两人一组，用三十秒给这三类证据配对：首批样本与 labels，训练日志与 checkpoint，逐局评测记录。配对完成后，再想想为什么只看 loss 不够：损失是在已有示范与监督位置上计算，实际玩游戏时模型还要自行生成回复，面对自己造成的历史状态。两个场景相关，但不能用一个指标完全代替另一个。</a:t>
            </a:r>
          </a:p>
          <a:p/>
          <a:p>
            <a:r>
              <a:t>【02:00–03:00 先建立版本与实验身份】</a:t>
            </a:r>
          </a:p>
          <a:p>
            <a:r>
              <a:t>开始实操前，给每次实验建立清楚的身份：代码提交、模型来源、数据 revision、训练参数和输出目录。课程固定了已经验证的 NPU 与上游配套版本；最新 upstream/master 已经改变入口、依赖与部分数据接口，所以它适合用来对照阅读，不能替代旧配方后默认认为行为不变。请大家设计一个实验文件夹名字，能够区分基座评测、SFT 训练和 SFT 评测。再写下至少三个需要记录的配置。这样做的目的，是出现差异时能够追溯原因，避免把不同运行留下的日志、权重和汇总表拼在一起。</a:t>
            </a:r>
          </a:p>
          <a:p/>
          <a:p>
            <a:r>
              <a:t>【03:00–04:00 设置两种不同验收门槛】</a:t>
            </a:r>
          </a:p>
          <a:p>
            <a:r>
              <a:t>第一道门槛是一更新步试跑：确认数据加载、权重加载、两 rank 通信、前向、反向和更新都能完成。它使用较小全局 batch，目的是尽早暴露运行问题，不是产出精度结论。第二道门槛是课程二十更新步训练：检查最终配置、有限的数值趋势，以及导出权重能否重新加载。请判断：第一步 loss 比另一个同学高一点，就一定是环境出错吗？不一定，样本顺序、监督 token、初始权重和随机性都会影响数值。我们先看是否可比、是否有限、是否出现系统性异常，再讨论模型效果。</a:t>
            </a:r>
          </a:p>
          <a:p/>
          <a:p>
            <a:r>
              <a:t>【04:00–05:00 给学员一个贯穿本章的问题】</a:t>
            </a:r>
          </a:p>
          <a:p>
            <a:r>
              <a:t>这一章请一直带着一个问题：如果最终猜中率没有提高，我怎样判断问题发生在数据、训练还是评测？看数据要检查助手监督位置和协议；看训练要确认参数确实更新、梯度规模合理；看评测要确认基座和 SFT 使用相同任务与生成条件。请用二十秒先写一个最可能的故障，再在旁边写一个能够检验它的证据。我们会在后面逐步完善这张诊断卡。课堂先借助已有输出练习读懂证据，完整训练可在对应设备环境运行。下面从第一环节开始：一局多轮 Wordle 怎样变成训练器接收的定长序列。</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前面我们已经跑通 SFT，这一章关注同样的训练计算能否执行得更高效。算子可以理解成模型计算中的一个基本操作。RMSNorm 用来调整每个 token 的隐藏向量尺度。公式里的 mean(x²) 是向量各元素平方的平均值，ε 是防止分母过小的小常数，weight 是可训练权重。</a:t>
            </a:r>
          </a:p>
          <a:p/>
          <a:p>
            <a:r>
              <a:t>优化前后保留相同的数学目标，变化的是实现方式。当前参考 trace 中，原生实现经过类型转换、平方、求均值、加 ε、开方倒数和乘法，产生 8 次 ACLNN 调用。融合实现用 torch_npu.npu_rms_norm 一次调用完成，并返回输出 y 和反向传播所需的 rstd。</a:t>
            </a:r>
          </a:p>
          <a:p/>
          <a:p>
            <a:r>
              <a:t>ACLNN 是 Ascend 的算子调用接口。8 次接口调用减少为 1 次，说明执行链更集中，但不等于底层 kernel 数严格为 8 比 1，更不表示整个训练快 8 倍。这里的数字对应参考版本及指定的 shape、dtype，实际环境仍需查看 trace。</a:t>
            </a:r>
          </a:p>
          <a:p/>
          <a:p>
            <a:r>
              <a:t>课程来源：</a:t>
            </a:r>
          </a:p>
          <a:p>
            <a:r>
              <a:t>https://gitcode.com/cann/cann-learning-hub/blob/master/tutorials/sft_training_pipeline/04_fused_operators/04.01_chapter_intro.ipynb</a:t>
            </a:r>
          </a:p>
          <a:p>
            <a:r>
              <a:t>https://gitcode.com/cann/cann-learning-hub/blob/master/tutorials/sft_training_pipeline/04_fused_operators/04.02_adding_fused_operator.ipynb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这一页把前面学过的 Override 用在一个具体算子上。Config 是描述组件如何构建的配置，Override 表示按规则替换这份配置。</a:t>
            </a:r>
          </a:p>
          <a:p/>
          <a:p>
            <a:r>
              <a:t>第一步，@override 装饰器把 RMSNorm.Config 与替换函数登记起来。登记本身还没有替换模型。第二步，在 override.imports 中写入本页的完整启用项，选择本次训练要使用的替换。第三步，Trainer 在模型创建前遍历配置树，用 derive 把匹配配置转换成 AscRMSNorm.Config，并保留 eps、参数形状等共同字段。第四步，新的 Config 在 build 时创建 AscRMSNorm，它的 forward 调用 torch_npu.npu_rms_norm(x, weight, eps)[0]，取第一个返回值作为输出。</a:t>
            </a:r>
          </a:p>
          <a:p/>
          <a:p>
            <a:r>
              <a:t>因此，替换发生在模型构建、FSDP 并行化和优化器创建之前。无需在已经开始训练的模型上手工替换模块。实际检查时先看 resolved override 日志，再对照模型模块清单，并在 trace 中确认融合算子执行。配置节点数、模型模块数和一次运行中的调用次数不是同一个统计口径。</a:t>
            </a:r>
          </a:p>
          <a:p/>
          <a:p>
            <a:r>
              <a:t>课程来源：</a:t>
            </a:r>
          </a:p>
          <a:p>
            <a:r>
              <a:t>https://gitcode.com/cann/cann-learning-hub/blob/master/tutorials/sft_training_pipeline/04_fused_operators/04.02_adding_fused_operator.ipynb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Profiling 就是把程序的执行过程记录下来，观察时间花在哪里、调用了哪些算子、产生了哪些内存事件。我们分别运行原生 Baseline 和融合 Fused，两组只改变 RMSNorm 实现，模型、初始权重、数据与其他配置保持一致。</a:t>
            </a:r>
          </a:p>
          <a:p/>
          <a:p>
            <a:r>
              <a:t>本章将全局 batch 改为 4。每个 rank 每次仍处理 2 条长度为 4096 的序列，2 个数据并行 rank 合起来就是 4 条，所以梯度只需累积 1 次。相比上一章 global batch 64、累积 16 次，单次采样更短，但每个 rank 的 microbatch 形状保持不变。</a:t>
            </a:r>
          </a:p>
          <a:p/>
          <a:p>
            <a:r>
              <a:t>两组都启用 CANN profiler。Fused 额外启用 RMSNorm override。命令行的 override.imports 会替换原有列表，因此不能加入 RMSNorm 后漏掉 profiler。CANN profiler 参数使用 profile_ranks=[0]、profile_with_memory=true，只记录 rank 0，并保留内存分析数据。输出分别放入 outputs/profile_traces/baseline 和 outputs/profile_traces/fused_op。</a:t>
            </a:r>
          </a:p>
          <a:p/>
          <a:p>
            <a:r>
              <a:t>本轮训练 5 步，profile_freq 同时设为 5，沿用 warmup=3、active=1。对应第 1 步等待，第 2 到 4 步预热，第 5 步采集。只改 training.steps=5、保留默认 profile_freq=10，会在进入采集窗口之前结束。完整命令按 notebook 执行。</a:t>
            </a:r>
          </a:p>
          <a:p/>
          <a:p>
            <a:r>
              <a:t>课程来源：</a:t>
            </a:r>
          </a:p>
          <a:p>
            <a:r>
              <a:t>https://gitcode.com/cann/cann-learning-hub/blob/master/tutorials/sft_training_pipeline/04_fused_operators/04.03_running_and_profiling.ipynb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拿到两份 profiling 输出后，按三个问题阅读。第一，融合是否真正执行？除了日志和模块清单，还要在 fused 的 trace_view.json 中看到 npu::npu_rms_norm 等目标事件。文件里写了 override 并不自动证明实际执行过。</a:t>
            </a:r>
          </a:p>
          <a:p/>
          <a:p>
            <a:r>
              <a:t>第二，调用与存储有什么变化？查看同一目标 shape 下的调用链和 operator_memory.csv。教程的 BF16、shape=(2,4096,2048) 参考分析中，单次 RMSNorm 前向的原生累计逻辑结果存储约为 288.062 MiB，融合约为 32.031 MiB。这是框架可见的结果 storage 口径，包含输出和相关中间结果。它不是整张卡的峰值显存，也不是硬件实际读写 HBM 的流量，不能直接说显存峰值节省了同样的数量。</a:t>
            </a:r>
          </a:p>
          <a:p/>
          <a:p>
            <a:r>
              <a:t>第三，完整训练是否更快？step wall time 是一个完整训练步在实际时间上花了多久，TPS 是每秒处理的 token 数。保持模型、数据、batch 和统计口径一致，关闭 profiler 后完成预热，重复采样稳定步，比较整步耗时和吞吐。单个算子快了，整步也可能仍受其他计算或通信限制。</a:t>
            </a:r>
          </a:p>
          <a:p/>
          <a:p>
            <a:r>
              <a:t>本章 5 步命令的用途是采集第 5 步 trace。教程分析文件中的第 7 到 10 步性能数字属于另外的既有参考记录，不能写成这次 5 步运行的新测量结果。展示实验结果时应记录运行环境、配置、采样范围及统计口径。</a:t>
            </a:r>
          </a:p>
          <a:p/>
          <a:p>
            <a:r>
              <a:t>课程来源：</a:t>
            </a:r>
          </a:p>
          <a:p>
            <a:r>
              <a:t>https://gitcode.com/cann/cann-learning-hub/blob/master/tutorials/sft_training_pipeline/04_fused_operators/04.03_running_and_profiling.ipynb</a:t>
            </a:r>
          </a:p>
          <a:p>
            <a:r>
              <a:t>https://gitcode.com/cann/cann-learning-hub/blob/master/tutorials/sft_training_pipeline/04_fused_operators/04.04_profiling_output_analysis.ipynb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答案依次为：正确、正确、B、A。</a:t>
            </a:r>
          </a:p>
          <a:p/>
          <a:p>
            <a:r>
              <a:t>第一题：正确。先确认 override 的目标 Config，再核对 resolved override 日志和模型模块清单。配置节点数量、模块实例数量和 trace 调用数量是不同口径，不能混用。</a:t>
            </a:r>
          </a:p>
          <a:p/>
          <a:p>
            <a:r>
              <a:t>第二题：正确。要说明完整训练是否更快，应使用覆盖完整 step 的实际耗时，并保持两组的模型、数据、batch 与统计窗口一致。单个算子的耗时降低不足以代表整步收益。</a:t>
            </a:r>
          </a:p>
          <a:p/>
          <a:p>
            <a:r>
              <a:t>第三题：选 B。装饰器先注册目标 Config 与替换函数的映射。运行配置决定是否启用，Trainer 在模型 build 前真正应用替换。</a:t>
            </a:r>
          </a:p>
          <a:p/>
          <a:p>
            <a:r>
              <a:t>第四题：选 A。当前 local batch 为 2、数据并行度为 2，全局 batch 为 4 时，梯度累积为 1 次，可以缩短采样过程，同时保留两组相同的 microbatch shape。它不会减少模型参数，也不会跳过前向和反向。</a:t>
            </a:r>
          </a:p>
          <a:p/>
          <a:p>
            <a:r>
              <a:t>题目依据：04.05_chapter_practice.ipynb 第 1、2、6、4 题，适当缩短题干。</a:t>
            </a:r>
          </a:p>
          <a:p>
            <a:r>
              <a:t>https://gitcode.com/cann/cann-learning-hub/blob/master/tutorials/sft_training_pipeline/04_fused_operators/04.05_chapter_practice.ipynb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53 页｜课程结束｜复盘、成果与课后实践</a:t>
            </a:r>
          </a:p>
          <a:p>
            <a:r>
              <a:t>建议约 5 分钟（包含互动）。课程累计 260–265 分钟。</a:t>
            </a:r>
          </a:p>
          <a:p/>
          <a:p>
            <a:r>
              <a:t>【00:00–01:00 用一条主线回顾全课】</a:t>
            </a:r>
          </a:p>
          <a:p>
            <a:r>
              <a:t>今天的课程到这里结束，我们用最后五分钟把知识串成一条可以带走的工作流程。预训练让模型从大量文本学习预测规律；SFT 用示范对话塑造任务行为与输出协议；RL 通过模型实际尝试、环境反馈和奖励进一步改进策略。三者都可能更新模型参数，但学习信号与数据产生方式不同。请大家用自己的话分别补全三个句子：预训练主要从什么学，SFT 的监督位置在哪里，RL 的优势从哪里来。我们希望带走的不是“哪种方法永远更强”，而是能够根据已有数据、任务反馈和训练目标，解释为什么在这里先做 SFT，再进行 Wordle RL。</a:t>
            </a:r>
          </a:p>
          <a:p/>
          <a:p>
            <a:r>
              <a:t>【01:00–02:00 复盘工程链路与分工】</a:t>
            </a:r>
          </a:p>
          <a:p>
            <a:r>
              <a:t>再从工程角度回看一次。训练数据需要正确的角色与监督边界；TorchTitan 及 NPU 适配帮助组织模型训练和并行；RL 阶段由训练框架连接生成、环境、奖励与更新；验证与日志帮助判断模型行为是否改善。请大家在纸上画四个框：数据、训练、评测、排查，并为每个框写一个最容易出错的点。数据可能泄漏秘密词，训练可能误解 batch 或 mask，评测可能混淆 mean@5 与至少成功一次，排查可能只看 reward。能够指出风险发生在哪个环节，以及用什么证据检查，就已经从记住概念走向了独立完成实验。</a:t>
            </a:r>
          </a:p>
          <a:p/>
          <a:p>
            <a:r>
              <a:t>【02:00–03:00 设置一个完整的课后交付】</a:t>
            </a:r>
          </a:p>
          <a:p>
            <a:r>
              <a:t>课后建议提交一份小而完整的实验记录，不要求用很长训练制造漂亮曲线。第一部分保留模型起点、数据规模、代码提交和关键配置；第二部分提供 SFT 或 RL 的同条件评测结果，写清采样次数与任务集合；第三部分选择一条成功和一条失败轨迹，解释模型是否真正使用了反馈；最后设计或完成一项单变量短程实验，并说明为何继续、回退或调整。请注意，不只提交终端里“训练完成”的一行输出，也不只提交一张截图。让别人能够根据你的记录知道做了什么、如何评价、哪里还不确定，这才是可复查的课程成果。</a:t>
            </a:r>
          </a:p>
          <a:p/>
          <a:p>
            <a:r>
              <a:t>【03:00–04:00 用迁移情景检验是否真正理解】</a:t>
            </a:r>
          </a:p>
          <a:p>
            <a:r>
              <a:t>现在换一个小场景：如果把 Wordle 换成模型调用计算器完成多步算术任务，哪些方法可以直接迁移？请大家思考二十秒，再请两位同学回答。可以迁移的是多轮 AgentLoop、模型动作与工具反馈的来源区分、奖励与验证的拆分，以及单变量排查方法；需要重新设计的是工具协议、环境终止条件和任务奖励。工具返回的计算结果类似 Wordle 的颜色反馈，它应进入后续上下文，但不是模型自己生成的动作。通过这个类比，我们看到本课并不只是训练一个猜词模型，而是在练习怎样搭建并验证一个有反馈的学习过程。</a:t>
            </a:r>
          </a:p>
          <a:p/>
          <a:p>
            <a:r>
              <a:t>【04:00–05:00 给出资料路径与收束问题】</a:t>
            </a:r>
          </a:p>
          <a:p>
            <a:r>
              <a:t>页面上的课程地址和社区入口可以用于继续学习与交流。请先保存与课堂匹配的 Notebook、训练配置和代码版本，再根据更新说明尝试新版实现；尤其是奖励规则和运行依赖，不能只看仓库最新文件就假定与历史实验完全一致。最后请每个人写下一句：我现在能够独立完成的一个步骤是什么，还需要验证的一个问题是什么。可以是算清有效 batch，也可以是解释一条 rollout 的奖励，或者设计一次排障对照。带着这个具体问题去做课后实践，比从头再背一遍全部概念更有效。感谢大家，我们接下来可以围绕配置、轨迹或验证结果讨论尚未解决的问题。</a:t>
            </a:r>
          </a:p>
          <a:p/>
          <a:p>
            <a:r>
              <a:t>最后一页以课程复盘、迁移练习和课后交付展开约五分钟，不把社区宣传语逐句翻译或作为技术结论。</a:t>
            </a:r>
          </a:p>
          <a:p>
            <a:r>
              <a:t>所有课后训练成果均是建议交付，不暗示本次讲稿修订实际运行过训练。</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评测数据：format_reward，基础模型 0.6，SFT 0.95；correct_answer，0.0 / 0.0；partial_answer，0.0 / 0.25；reward，0.22 / 0.40。样本为 4 个任务，每题 2 局，共 8 局。数据来源：用户提供的 vf-eval 多轮交互评测结果截图。结论：SFT 改善格式，猜词策略仍需后续多轮 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p:sp>
        <p:nvSpPr>
          <p:cNvPr id="2" name="标题 1"/>
          <p:cNvSpPr>
            <a:spLocks noGrp="1"/>
          </p:cNvSpPr>
          <p:nvPr>
            <p:ph type="ctrTitle"/>
          </p:nvPr>
        </p:nvSpPr>
        <p:spPr>
          <a:xfrm>
            <a:off x="1524000" y="1122363"/>
            <a:ext cx="9144000" cy="2387600"/>
          </a:xfrm>
        </p:spPr>
        <p:txBody>
          <a:bodyPr anchor="b"/>
          <a:lstStyle>
            <a:lvl1pPr algn="ctr">
              <a:buNone/>
              <a:defRPr sz="6000">
                <a:latin typeface="Times New Roman" panose="02020503050405090304"/>
                <a:ea typeface="微软雅黑"/>
                <a:cs typeface="Times New Roman" panose="02020503050405090304"/>
              </a:defRPr>
            </a:lvl1pPr>
          </a:lstStyle>
          <a:p>
            <a:r>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atin typeface="Times New Roman" panose="02020503050405090304"/>
                <a:ea typeface="微软雅黑"/>
                <a:cs typeface="Times New Roman" panose="02020503050405090304"/>
              </a:defRPr>
            </a:lvl1pPr>
            <a:lvl2pPr marL="457200" indent="0" algn="ctr">
              <a:buNone/>
              <a:defRPr sz="2000">
                <a:latin typeface="Times New Roman" panose="02020503050405090304"/>
                <a:ea typeface="微软雅黑"/>
                <a:cs typeface="Times New Roman" panose="02020503050405090304"/>
              </a:defRPr>
            </a:lvl2pPr>
            <a:lvl3pPr marL="914400" indent="0" algn="ctr">
              <a:buNone/>
              <a:defRPr sz="1800">
                <a:latin typeface="Times New Roman" panose="02020503050405090304"/>
                <a:ea typeface="微软雅黑"/>
                <a:cs typeface="Times New Roman" panose="02020503050405090304"/>
              </a:defRPr>
            </a:lvl3pPr>
            <a:lvl4pPr marL="1371600" indent="0" algn="ctr">
              <a:buNone/>
              <a:defRPr sz="1600">
                <a:latin typeface="Times New Roman" panose="02020503050405090304"/>
                <a:ea typeface="微软雅黑"/>
                <a:cs typeface="Times New Roman" panose="02020503050405090304"/>
              </a:defRPr>
            </a:lvl4pPr>
            <a:lvl5pPr marL="1828800" indent="0" algn="ctr">
              <a:buNone/>
              <a:defRPr sz="1600">
                <a:latin typeface="Times New Roman" panose="02020503050405090304"/>
                <a:ea typeface="微软雅黑"/>
                <a:cs typeface="Times New Roman" panose="02020503050405090304"/>
              </a:defRPr>
            </a:lvl5pPr>
            <a:lvl6pPr marL="2286000" indent="0" algn="ctr">
              <a:buNone/>
              <a:defRPr sz="1600">
                <a:latin typeface="Times New Roman" panose="02020503050405090304"/>
                <a:ea typeface="微软雅黑"/>
                <a:cs typeface="Times New Roman" panose="02020503050405090304"/>
              </a:defRPr>
            </a:lvl6pPr>
            <a:lvl7pPr marL="2743200" indent="0" algn="ctr">
              <a:buNone/>
              <a:defRPr sz="1600">
                <a:latin typeface="Times New Roman" panose="02020503050405090304"/>
                <a:ea typeface="微软雅黑"/>
                <a:cs typeface="Times New Roman" panose="02020503050405090304"/>
              </a:defRPr>
            </a:lvl7pPr>
            <a:lvl8pPr marL="3200400" indent="0" algn="ctr">
              <a:buNone/>
              <a:defRPr sz="1600">
                <a:latin typeface="Times New Roman" panose="02020503050405090304"/>
                <a:ea typeface="微软雅黑"/>
                <a:cs typeface="Times New Roman" panose="02020503050405090304"/>
              </a:defRPr>
            </a:lvl8pPr>
            <a:lvl9pPr marL="3657600" indent="0" algn="ctr">
              <a:buNone/>
              <a:defRPr sz="1600">
                <a:latin typeface="Times New Roman" panose="02020503050405090304"/>
                <a:ea typeface="微软雅黑"/>
                <a:cs typeface="Times New Roman" panose="02020503050405090304"/>
              </a:defRPr>
            </a:lvl9pPr>
          </a:lstStyle>
          <a:p>
            <a:r>
              <a:t>单击此处编辑母版副标题样式</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内容占位符 2"/>
          <p:cNvSpPr>
            <a:spLocks noGrp="1"/>
          </p:cNvSpPr>
          <p:nvPr>
            <p:ph idx="1"/>
          </p:nvPr>
        </p:nvSpPr>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p:sp>
        <p:nvSpPr>
          <p:cNvPr id="2" name="标题 1"/>
          <p:cNvSpPr>
            <a:spLocks noGrp="1"/>
          </p:cNvSpPr>
          <p:nvPr>
            <p:ph type="title"/>
          </p:nvPr>
        </p:nvSpPr>
        <p:spPr>
          <a:xfrm>
            <a:off x="831850" y="1709738"/>
            <a:ext cx="10515600" cy="2852737"/>
          </a:xfrm>
        </p:spPr>
        <p:txBody>
          <a:bodyPr anchor="b"/>
          <a:lstStyle>
            <a:lvl1pPr>
              <a:buNone/>
              <a:defRPr sz="6000">
                <a:latin typeface="Times New Roman" panose="02020503050405090304"/>
                <a:ea typeface="微软雅黑"/>
                <a:cs typeface="Times New Roman" panose="02020503050405090304"/>
              </a:defRPr>
            </a:lvl1pPr>
          </a:lstStyle>
          <a:p>
            <a:r>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Times New Roman" panose="02020503050405090304"/>
                <a:ea typeface="微软雅黑"/>
                <a:cs typeface="Times New Roman" panose="02020503050405090304"/>
              </a:defRPr>
            </a:lvl1pPr>
            <a:lvl2pPr marL="457200" indent="0">
              <a:buNone/>
              <a:defRPr sz="2000">
                <a:solidFill>
                  <a:schemeClr val="tx1">
                    <a:tint val="75000"/>
                  </a:schemeClr>
                </a:solidFill>
                <a:latin typeface="Times New Roman" panose="02020503050405090304"/>
                <a:ea typeface="微软雅黑"/>
                <a:cs typeface="Times New Roman" panose="02020503050405090304"/>
              </a:defRPr>
            </a:lvl2pPr>
            <a:lvl3pPr marL="914400" indent="0">
              <a:buNone/>
              <a:defRPr sz="1800">
                <a:solidFill>
                  <a:schemeClr val="tx1">
                    <a:tint val="75000"/>
                  </a:schemeClr>
                </a:solidFill>
                <a:latin typeface="Times New Roman" panose="02020503050405090304"/>
                <a:ea typeface="微软雅黑"/>
                <a:cs typeface="Times New Roman" panose="02020503050405090304"/>
              </a:defRPr>
            </a:lvl3pPr>
            <a:lvl4pPr marL="1371600" indent="0">
              <a:buNone/>
              <a:defRPr sz="1600">
                <a:solidFill>
                  <a:schemeClr val="tx1">
                    <a:tint val="75000"/>
                  </a:schemeClr>
                </a:solidFill>
                <a:latin typeface="Times New Roman" panose="02020503050405090304"/>
                <a:ea typeface="微软雅黑"/>
                <a:cs typeface="Times New Roman" panose="02020503050405090304"/>
              </a:defRPr>
            </a:lvl4pPr>
            <a:lvl5pPr marL="1828800" indent="0">
              <a:buNone/>
              <a:defRPr sz="1600">
                <a:solidFill>
                  <a:schemeClr val="tx1">
                    <a:tint val="75000"/>
                  </a:schemeClr>
                </a:solidFill>
                <a:latin typeface="Times New Roman" panose="02020503050405090304"/>
                <a:ea typeface="微软雅黑"/>
                <a:cs typeface="Times New Roman" panose="02020503050405090304"/>
              </a:defRPr>
            </a:lvl5pPr>
            <a:lvl6pPr marL="2286000" indent="0">
              <a:buNone/>
              <a:defRPr sz="1600">
                <a:solidFill>
                  <a:schemeClr val="tx1">
                    <a:tint val="75000"/>
                  </a:schemeClr>
                </a:solidFill>
                <a:latin typeface="Times New Roman" panose="02020503050405090304"/>
                <a:ea typeface="微软雅黑"/>
                <a:cs typeface="Times New Roman" panose="02020503050405090304"/>
              </a:defRPr>
            </a:lvl6pPr>
            <a:lvl7pPr marL="2743200" indent="0">
              <a:buNone/>
              <a:defRPr sz="1600">
                <a:solidFill>
                  <a:schemeClr val="tx1">
                    <a:tint val="75000"/>
                  </a:schemeClr>
                </a:solidFill>
                <a:latin typeface="Times New Roman" panose="02020503050405090304"/>
                <a:ea typeface="微软雅黑"/>
                <a:cs typeface="Times New Roman" panose="02020503050405090304"/>
              </a:defRPr>
            </a:lvl7pPr>
            <a:lvl8pPr marL="3200400" indent="0">
              <a:buNone/>
              <a:defRPr sz="1600">
                <a:solidFill>
                  <a:schemeClr val="tx1">
                    <a:tint val="75000"/>
                  </a:schemeClr>
                </a:solidFill>
                <a:latin typeface="Times New Roman" panose="02020503050405090304"/>
                <a:ea typeface="微软雅黑"/>
                <a:cs typeface="Times New Roman" panose="02020503050405090304"/>
              </a:defRPr>
            </a:lvl8pPr>
            <a:lvl9pPr marL="3657600" indent="0">
              <a:buNone/>
              <a:defRPr sz="1600">
                <a:solidFill>
                  <a:schemeClr val="tx1">
                    <a:tint val="75000"/>
                  </a:schemeClr>
                </a:solidFill>
                <a:latin typeface="Times New Roman" panose="02020503050405090304"/>
                <a:ea typeface="微软雅黑"/>
                <a:cs typeface="Times New Roman" panose="02020503050405090304"/>
              </a:defRPr>
            </a:lvl9pPr>
          </a:lstStyle>
          <a:p>
            <a:pPr>
              <a:buNone/>
            </a:pPr>
            <a:r>
              <a:t>单击此处编辑母版文本样式</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内容占位符 2"/>
          <p:cNvSpPr>
            <a:spLocks noGrp="1"/>
          </p:cNvSpPr>
          <p:nvPr>
            <p:ph idx="1"/>
          </p:nvPr>
        </p:nvSpPr>
        <p:spPr>
          <a:xfrm>
            <a:off x="838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内容占位符 3"/>
          <p:cNvSpPr>
            <a:spLocks noGrp="1"/>
          </p:cNvSpPr>
          <p:nvPr>
            <p:ph idx="2"/>
          </p:nvPr>
        </p:nvSpPr>
        <p:spPr>
          <a:xfrm>
            <a:off x="6172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p:sp>
        <p:nvSpPr>
          <p:cNvPr id="2" name="标题 1"/>
          <p:cNvSpPr>
            <a:spLocks noGrp="1"/>
          </p:cNvSpPr>
          <p:nvPr>
            <p:ph type="title"/>
          </p:nvPr>
        </p:nvSpPr>
        <p:spPr>
          <a:xfrm>
            <a:off x="839788" y="365125"/>
            <a:ext cx="10515600" cy="1325563"/>
          </a:xfrm>
        </p:spPr>
        <p:txBody>
          <a:bodyPr/>
          <a:lstStyle/>
          <a:p>
            <a:r>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atin typeface="Times New Roman" panose="02020503050405090304"/>
                <a:ea typeface="微软雅黑"/>
                <a:cs typeface="Times New Roman" panose="02020503050405090304"/>
              </a:defRPr>
            </a:lvl1pPr>
            <a:lvl2pPr marL="457200" indent="0">
              <a:buNone/>
              <a:defRPr sz="2000" b="1">
                <a:latin typeface="Times New Roman" panose="02020503050405090304"/>
                <a:ea typeface="微软雅黑"/>
                <a:cs typeface="Times New Roman" panose="02020503050405090304"/>
              </a:defRPr>
            </a:lvl2pPr>
            <a:lvl3pPr marL="914400" indent="0">
              <a:buNone/>
              <a:defRPr sz="1800" b="1">
                <a:latin typeface="Times New Roman" panose="02020503050405090304"/>
                <a:ea typeface="微软雅黑"/>
                <a:cs typeface="Times New Roman" panose="02020503050405090304"/>
              </a:defRPr>
            </a:lvl3pPr>
            <a:lvl4pPr marL="1371600" indent="0">
              <a:buNone/>
              <a:defRPr sz="1600" b="1">
                <a:latin typeface="Times New Roman" panose="02020503050405090304"/>
                <a:ea typeface="微软雅黑"/>
                <a:cs typeface="Times New Roman" panose="02020503050405090304"/>
              </a:defRPr>
            </a:lvl4pPr>
            <a:lvl5pPr marL="1828800" indent="0">
              <a:buNone/>
              <a:defRPr sz="1600" b="1">
                <a:latin typeface="Times New Roman" panose="02020503050405090304"/>
                <a:ea typeface="微软雅黑"/>
                <a:cs typeface="Times New Roman" panose="02020503050405090304"/>
              </a:defRPr>
            </a:lvl5pPr>
            <a:lvl6pPr marL="2286000" indent="0">
              <a:buNone/>
              <a:defRPr sz="1600" b="1">
                <a:latin typeface="Times New Roman" panose="02020503050405090304"/>
                <a:ea typeface="微软雅黑"/>
                <a:cs typeface="Times New Roman" panose="02020503050405090304"/>
              </a:defRPr>
            </a:lvl6pPr>
            <a:lvl7pPr marL="2743200" indent="0">
              <a:buNone/>
              <a:defRPr sz="1600" b="1">
                <a:latin typeface="Times New Roman" panose="02020503050405090304"/>
                <a:ea typeface="微软雅黑"/>
                <a:cs typeface="Times New Roman" panose="02020503050405090304"/>
              </a:defRPr>
            </a:lvl7pPr>
            <a:lvl8pPr marL="3200400" indent="0">
              <a:buNone/>
              <a:defRPr sz="1600" b="1">
                <a:latin typeface="Times New Roman" panose="02020503050405090304"/>
                <a:ea typeface="微软雅黑"/>
                <a:cs typeface="Times New Roman" panose="02020503050405090304"/>
              </a:defRPr>
            </a:lvl8pPr>
            <a:lvl9pPr marL="3657600" indent="0">
              <a:buNone/>
              <a:defRPr sz="1600" b="1">
                <a:latin typeface="Times New Roman" panose="02020503050405090304"/>
                <a:ea typeface="微软雅黑"/>
                <a:cs typeface="Times New Roman" panose="02020503050405090304"/>
              </a:defRPr>
            </a:lvl9pPr>
          </a:lstStyle>
          <a:p>
            <a:pPr>
              <a:buNone/>
            </a:pPr>
            <a:r>
              <a:t>单击此处编辑母版文本样式</a:t>
            </a:r>
          </a:p>
        </p:txBody>
      </p:sp>
      <p:sp>
        <p:nvSpPr>
          <p:cNvPr id="4" name="内容占位符 3"/>
          <p:cNvSpPr>
            <a:spLocks noGrp="1"/>
          </p:cNvSpPr>
          <p:nvPr>
            <p:ph idx="2"/>
          </p:nvPr>
        </p:nvSpPr>
        <p:spPr>
          <a:xfrm>
            <a:off x="839788" y="2505075"/>
            <a:ext cx="5157787"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5" name="文本占位符 4"/>
          <p:cNvSpPr>
            <a:spLocks noGrp="1"/>
          </p:cNvSpPr>
          <p:nvPr>
            <p:ph type="body" idx="3"/>
          </p:nvPr>
        </p:nvSpPr>
        <p:spPr>
          <a:xfrm>
            <a:off x="6172200" y="1681163"/>
            <a:ext cx="5183188" cy="823912"/>
          </a:xfrm>
        </p:spPr>
        <p:txBody>
          <a:bodyPr anchor="b"/>
          <a:lstStyle>
            <a:lvl1pPr marL="0" indent="0">
              <a:buNone/>
              <a:defRPr sz="2400" b="1">
                <a:latin typeface="Times New Roman" panose="02020503050405090304"/>
                <a:ea typeface="微软雅黑"/>
                <a:cs typeface="Times New Roman" panose="02020503050405090304"/>
              </a:defRPr>
            </a:lvl1pPr>
            <a:lvl2pPr marL="457200" indent="0">
              <a:buNone/>
              <a:defRPr sz="2000" b="1">
                <a:latin typeface="Times New Roman" panose="02020503050405090304"/>
                <a:ea typeface="微软雅黑"/>
                <a:cs typeface="Times New Roman" panose="02020503050405090304"/>
              </a:defRPr>
            </a:lvl2pPr>
            <a:lvl3pPr marL="914400" indent="0">
              <a:buNone/>
              <a:defRPr sz="1800" b="1">
                <a:latin typeface="Times New Roman" panose="02020503050405090304"/>
                <a:ea typeface="微软雅黑"/>
                <a:cs typeface="Times New Roman" panose="02020503050405090304"/>
              </a:defRPr>
            </a:lvl3pPr>
            <a:lvl4pPr marL="1371600" indent="0">
              <a:buNone/>
              <a:defRPr sz="1600" b="1">
                <a:latin typeface="Times New Roman" panose="02020503050405090304"/>
                <a:ea typeface="微软雅黑"/>
                <a:cs typeface="Times New Roman" panose="02020503050405090304"/>
              </a:defRPr>
            </a:lvl4pPr>
            <a:lvl5pPr marL="1828800" indent="0">
              <a:buNone/>
              <a:defRPr sz="1600" b="1">
                <a:latin typeface="Times New Roman" panose="02020503050405090304"/>
                <a:ea typeface="微软雅黑"/>
                <a:cs typeface="Times New Roman" panose="02020503050405090304"/>
              </a:defRPr>
            </a:lvl5pPr>
            <a:lvl6pPr marL="2286000" indent="0">
              <a:buNone/>
              <a:defRPr sz="1600" b="1">
                <a:latin typeface="Times New Roman" panose="02020503050405090304"/>
                <a:ea typeface="微软雅黑"/>
                <a:cs typeface="Times New Roman" panose="02020503050405090304"/>
              </a:defRPr>
            </a:lvl6pPr>
            <a:lvl7pPr marL="2743200" indent="0">
              <a:buNone/>
              <a:defRPr sz="1600" b="1">
                <a:latin typeface="Times New Roman" panose="02020503050405090304"/>
                <a:ea typeface="微软雅黑"/>
                <a:cs typeface="Times New Roman" panose="02020503050405090304"/>
              </a:defRPr>
            </a:lvl7pPr>
            <a:lvl8pPr marL="3200400" indent="0">
              <a:buNone/>
              <a:defRPr sz="1600" b="1">
                <a:latin typeface="Times New Roman" panose="02020503050405090304"/>
                <a:ea typeface="微软雅黑"/>
                <a:cs typeface="Times New Roman" panose="02020503050405090304"/>
              </a:defRPr>
            </a:lvl8pPr>
            <a:lvl9pPr marL="3657600" indent="0">
              <a:buNone/>
              <a:defRPr sz="1600" b="1">
                <a:latin typeface="Times New Roman" panose="02020503050405090304"/>
                <a:ea typeface="微软雅黑"/>
                <a:cs typeface="Times New Roman" panose="02020503050405090304"/>
              </a:defRPr>
            </a:lvl9pPr>
          </a:lstStyle>
          <a:p>
            <a:pPr>
              <a:buNone/>
            </a:pPr>
            <a:r>
              <a:t>单击此处编辑母版文本样式</a:t>
            </a:r>
          </a:p>
        </p:txBody>
      </p:sp>
      <p:sp>
        <p:nvSpPr>
          <p:cNvPr id="6" name="内容占位符 5"/>
          <p:cNvSpPr>
            <a:spLocks noGrp="1"/>
          </p:cNvSpPr>
          <p:nvPr>
            <p:ph idx="4"/>
          </p:nvPr>
        </p:nvSpPr>
        <p:spPr>
          <a:xfrm>
            <a:off x="6172200" y="2505075"/>
            <a:ext cx="5183188"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7" name="日期占位符 6"/>
          <p:cNvSpPr>
            <a:spLocks noGrp="1"/>
          </p:cNvSpPr>
          <p:nvPr>
            <p:ph type="dt" idx="10"/>
          </p:nvPr>
        </p:nvSpPr>
        <p:spPr/>
        <p:txBody>
          <a:bodyPr/>
          <a:lstStyle/>
          <a:p/>
        </p:txBody>
      </p:sp>
      <p:sp>
        <p:nvSpPr>
          <p:cNvPr id="8" name="页脚占位符 7"/>
          <p:cNvSpPr>
            <a:spLocks noGrp="1"/>
          </p:cNvSpPr>
          <p:nvPr>
            <p:ph type="ftr" idx="11"/>
          </p:nvPr>
        </p:nvSpPr>
        <p:spPr/>
        <p:txBody>
          <a:bodyPr/>
          <a:lstStyle/>
          <a:p/>
        </p:txBody>
      </p:sp>
      <p:sp>
        <p:nvSpPr>
          <p:cNvPr id="9" name="灯片编号占位符 8"/>
          <p:cNvSpPr>
            <a:spLocks noGrp="1"/>
          </p:cNvSpPr>
          <p:nvPr>
            <p:ph type="sldNum" idx="12"/>
          </p:nvPr>
        </p:nvSpPr>
        <p:spPr/>
        <p:txBody>
          <a:body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p:txBody>
          <a:bodyPr/>
          <a:lstStyle/>
          <a:p/>
        </p:txBody>
      </p:sp>
      <p:sp>
        <p:nvSpPr>
          <p:cNvPr id="3" name="页脚占位符 2"/>
          <p:cNvSpPr>
            <a:spLocks noGrp="1"/>
          </p:cNvSpPr>
          <p:nvPr>
            <p:ph type="ftr" idx="11"/>
          </p:nvPr>
        </p:nvSpPr>
        <p:spPr/>
        <p:txBody>
          <a:bodyPr/>
          <a:lstStyle/>
          <a:p/>
        </p:txBody>
      </p:sp>
      <p:sp>
        <p:nvSpPr>
          <p:cNvPr id="4" name="灯片编号占位符 3"/>
          <p:cNvSpPr>
            <a:spLocks noGrp="1"/>
          </p:cNvSpPr>
          <p:nvPr>
            <p:ph type="sldNum" idx="12"/>
          </p:nvPr>
        </p:nvSpPr>
        <p:spPr/>
        <p:txBody>
          <a:body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p:sp>
        <p:nvSpPr>
          <p:cNvPr id="2" name="标题 1"/>
          <p:cNvSpPr>
            <a:spLocks noGrp="1"/>
          </p:cNvSpPr>
          <p:nvPr>
            <p:ph type="title"/>
          </p:nvPr>
        </p:nvSpPr>
        <p:spPr>
          <a:xfrm>
            <a:off x="839788" y="457200"/>
            <a:ext cx="3932237" cy="1600200"/>
          </a:xfrm>
        </p:spPr>
        <p:txBody>
          <a:bodyPr anchor="b"/>
          <a:lstStyle>
            <a:lvl1pPr>
              <a:buNone/>
              <a:defRPr sz="3200">
                <a:latin typeface="Times New Roman" panose="02020503050405090304"/>
                <a:ea typeface="微软雅黑"/>
                <a:cs typeface="Times New Roman" panose="02020503050405090304"/>
              </a:defRPr>
            </a:lvl1pPr>
          </a:lstStyle>
          <a:p>
            <a:r>
              <a:t>单击此处编辑母版标题样式</a:t>
            </a:r>
          </a:p>
        </p:txBody>
      </p:sp>
      <p:sp>
        <p:nvSpPr>
          <p:cNvPr id="3" name="内容占位符 2"/>
          <p:cNvSpPr>
            <a:spLocks noGrp="1"/>
          </p:cNvSpPr>
          <p:nvPr>
            <p:ph idx="1"/>
          </p:nvPr>
        </p:nvSpPr>
        <p:spPr>
          <a:xfrm>
            <a:off x="5183188" y="987425"/>
            <a:ext cx="6172200" cy="4873625"/>
          </a:xfrm>
        </p:spPr>
        <p:txBody>
          <a:bodyPr/>
          <a:lstStyle>
            <a:lvl1pPr>
              <a:buNone/>
              <a:defRPr sz="3200">
                <a:latin typeface="Times New Roman" panose="02020503050405090304"/>
                <a:ea typeface="微软雅黑"/>
                <a:cs typeface="Times New Roman" panose="02020503050405090304"/>
              </a:defRPr>
            </a:lvl1pPr>
            <a:lvl2pPr>
              <a:buNone/>
              <a:defRPr sz="2800">
                <a:latin typeface="Times New Roman" panose="02020503050405090304"/>
                <a:ea typeface="微软雅黑"/>
                <a:cs typeface="Times New Roman" panose="02020503050405090304"/>
              </a:defRPr>
            </a:lvl2pPr>
            <a:lvl3pPr>
              <a:buNone/>
              <a:defRPr sz="2400">
                <a:latin typeface="Times New Roman" panose="02020503050405090304"/>
                <a:ea typeface="微软雅黑"/>
                <a:cs typeface="Times New Roman" panose="02020503050405090304"/>
              </a:defRPr>
            </a:lvl3pPr>
            <a:lvl4pPr>
              <a:buNone/>
              <a:defRPr sz="2000">
                <a:latin typeface="Times New Roman" panose="02020503050405090304"/>
                <a:ea typeface="微软雅黑"/>
                <a:cs typeface="Times New Roman" panose="02020503050405090304"/>
              </a:defRPr>
            </a:lvl4pPr>
            <a:lvl5pPr>
              <a:buNone/>
              <a:defRPr sz="2000">
                <a:latin typeface="Times New Roman" panose="02020503050405090304"/>
                <a:ea typeface="微软雅黑"/>
                <a:cs typeface="Times New Roman" panose="02020503050405090304"/>
              </a:defRPr>
            </a:lvl5pPr>
            <a:lvl6pPr>
              <a:buNone/>
              <a:defRPr sz="2000">
                <a:latin typeface="Times New Roman" panose="02020503050405090304"/>
                <a:ea typeface="微软雅黑"/>
                <a:cs typeface="Times New Roman" panose="02020503050405090304"/>
              </a:defRPr>
            </a:lvl6pPr>
            <a:lvl7pPr>
              <a:buNone/>
              <a:defRPr sz="2000">
                <a:latin typeface="Times New Roman" panose="02020503050405090304"/>
                <a:ea typeface="微软雅黑"/>
                <a:cs typeface="Times New Roman" panose="02020503050405090304"/>
              </a:defRPr>
            </a:lvl7pPr>
            <a:lvl8pPr>
              <a:buNone/>
              <a:defRPr sz="2000">
                <a:latin typeface="Times New Roman" panose="02020503050405090304"/>
                <a:ea typeface="微软雅黑"/>
                <a:cs typeface="Times New Roman" panose="02020503050405090304"/>
              </a:defRPr>
            </a:lvl8pPr>
            <a:lvl9pPr>
              <a:buNone/>
              <a:defRPr sz="2000">
                <a:latin typeface="Times New Roman" panose="02020503050405090304"/>
                <a:ea typeface="微软雅黑"/>
                <a:cs typeface="Times New Roman" panose="02020503050405090304"/>
              </a:defRPr>
            </a:lvl9p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文本占位符 3"/>
          <p:cNvSpPr>
            <a:spLocks noGrp="1"/>
          </p:cNvSpPr>
          <p:nvPr>
            <p:ph type="body" idx="2"/>
          </p:nvPr>
        </p:nvSpPr>
        <p:spPr>
          <a:xfrm>
            <a:off x="839788" y="2057400"/>
            <a:ext cx="3932237" cy="3811588"/>
          </a:xfrm>
        </p:spPr>
        <p:txBody>
          <a:bodyPr/>
          <a:lstStyle>
            <a:lvl1pPr marL="0" indent="0">
              <a:buNone/>
              <a:defRPr sz="1600">
                <a:latin typeface="Times New Roman" panose="02020503050405090304"/>
                <a:ea typeface="微软雅黑"/>
                <a:cs typeface="Times New Roman" panose="02020503050405090304"/>
              </a:defRPr>
            </a:lvl1pPr>
            <a:lvl2pPr marL="457200" indent="0">
              <a:buNone/>
              <a:defRPr sz="1400">
                <a:latin typeface="Times New Roman" panose="02020503050405090304"/>
                <a:ea typeface="微软雅黑"/>
                <a:cs typeface="Times New Roman" panose="02020503050405090304"/>
              </a:defRPr>
            </a:lvl2pPr>
            <a:lvl3pPr marL="914400" indent="0">
              <a:buNone/>
              <a:defRPr sz="1200">
                <a:latin typeface="Times New Roman" panose="02020503050405090304"/>
                <a:ea typeface="微软雅黑"/>
                <a:cs typeface="Times New Roman" panose="02020503050405090304"/>
              </a:defRPr>
            </a:lvl3pPr>
            <a:lvl4pPr marL="1371600" indent="0">
              <a:buNone/>
              <a:defRPr sz="1000">
                <a:latin typeface="Times New Roman" panose="02020503050405090304"/>
                <a:ea typeface="微软雅黑"/>
                <a:cs typeface="Times New Roman" panose="02020503050405090304"/>
              </a:defRPr>
            </a:lvl4pPr>
            <a:lvl5pPr marL="1828800" indent="0">
              <a:buNone/>
              <a:defRPr sz="1000">
                <a:latin typeface="Times New Roman" panose="02020503050405090304"/>
                <a:ea typeface="微软雅黑"/>
                <a:cs typeface="Times New Roman" panose="02020503050405090304"/>
              </a:defRPr>
            </a:lvl5pPr>
            <a:lvl6pPr marL="2286000" indent="0">
              <a:buNone/>
              <a:defRPr sz="1000">
                <a:latin typeface="Times New Roman" panose="02020503050405090304"/>
                <a:ea typeface="微软雅黑"/>
                <a:cs typeface="Times New Roman" panose="02020503050405090304"/>
              </a:defRPr>
            </a:lvl6pPr>
            <a:lvl7pPr marL="2743200" indent="0">
              <a:buNone/>
              <a:defRPr sz="1000">
                <a:latin typeface="Times New Roman" panose="02020503050405090304"/>
                <a:ea typeface="微软雅黑"/>
                <a:cs typeface="Times New Roman" panose="02020503050405090304"/>
              </a:defRPr>
            </a:lvl7pPr>
            <a:lvl8pPr marL="3200400" indent="0">
              <a:buNone/>
              <a:defRPr sz="1000">
                <a:latin typeface="Times New Roman" panose="02020503050405090304"/>
                <a:ea typeface="微软雅黑"/>
                <a:cs typeface="Times New Roman" panose="02020503050405090304"/>
              </a:defRPr>
            </a:lvl8pPr>
            <a:lvl9pPr marL="3657600" indent="0">
              <a:buNone/>
              <a:defRPr sz="1000">
                <a:latin typeface="Times New Roman" panose="02020503050405090304"/>
                <a:ea typeface="微软雅黑"/>
                <a:cs typeface="Times New Roman" panose="02020503050405090304"/>
              </a:defRPr>
            </a:lvl9pPr>
          </a:lstStyle>
          <a:p>
            <a:pPr>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p:sp>
        <p:nvSpPr>
          <p:cNvPr id="2" name="标题 1"/>
          <p:cNvSpPr>
            <a:spLocks noGrp="1"/>
          </p:cNvSpPr>
          <p:nvPr>
            <p:ph type="title"/>
          </p:nvPr>
        </p:nvSpPr>
        <p:spPr>
          <a:xfrm>
            <a:off x="839788" y="457200"/>
            <a:ext cx="3932237" cy="1600200"/>
          </a:xfrm>
        </p:spPr>
        <p:txBody>
          <a:bodyPr anchor="b"/>
          <a:lstStyle>
            <a:lvl1pPr>
              <a:buNone/>
              <a:defRPr sz="3200">
                <a:latin typeface="Times New Roman" panose="02020503050405090304"/>
                <a:ea typeface="微软雅黑"/>
                <a:cs typeface="Times New Roman" panose="02020503050405090304"/>
              </a:defRPr>
            </a:lvl1pPr>
          </a:lstStyle>
          <a:p>
            <a:r>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atin typeface="Times New Roman" panose="02020503050405090304"/>
                <a:ea typeface="微软雅黑"/>
                <a:cs typeface="Times New Roman" panose="02020503050405090304"/>
              </a:defRPr>
            </a:lvl1pPr>
            <a:lvl2pPr marL="457200" indent="0">
              <a:buNone/>
              <a:defRPr sz="2800">
                <a:latin typeface="Times New Roman" panose="02020503050405090304"/>
                <a:ea typeface="微软雅黑"/>
                <a:cs typeface="Times New Roman" panose="02020503050405090304"/>
              </a:defRPr>
            </a:lvl2pPr>
            <a:lvl3pPr marL="914400" indent="0">
              <a:buNone/>
              <a:defRPr sz="2400">
                <a:latin typeface="Times New Roman" panose="02020503050405090304"/>
                <a:ea typeface="微软雅黑"/>
                <a:cs typeface="Times New Roman" panose="02020503050405090304"/>
              </a:defRPr>
            </a:lvl3pPr>
            <a:lvl4pPr marL="1371600" indent="0">
              <a:buNone/>
              <a:defRPr sz="2000">
                <a:latin typeface="Times New Roman" panose="02020503050405090304"/>
                <a:ea typeface="微软雅黑"/>
                <a:cs typeface="Times New Roman" panose="02020503050405090304"/>
              </a:defRPr>
            </a:lvl4pPr>
            <a:lvl5pPr marL="1828800" indent="0">
              <a:buNone/>
              <a:defRPr sz="2000">
                <a:latin typeface="Times New Roman" panose="02020503050405090304"/>
                <a:ea typeface="微软雅黑"/>
                <a:cs typeface="Times New Roman" panose="02020503050405090304"/>
              </a:defRPr>
            </a:lvl5pPr>
            <a:lvl6pPr marL="2286000" indent="0">
              <a:buNone/>
              <a:defRPr sz="2000">
                <a:latin typeface="Times New Roman" panose="02020503050405090304"/>
                <a:ea typeface="微软雅黑"/>
                <a:cs typeface="Times New Roman" panose="02020503050405090304"/>
              </a:defRPr>
            </a:lvl6pPr>
            <a:lvl7pPr marL="2743200" indent="0">
              <a:buNone/>
              <a:defRPr sz="2000">
                <a:latin typeface="Times New Roman" panose="02020503050405090304"/>
                <a:ea typeface="微软雅黑"/>
                <a:cs typeface="Times New Roman" panose="02020503050405090304"/>
              </a:defRPr>
            </a:lvl7pPr>
            <a:lvl8pPr marL="3200400" indent="0">
              <a:buNone/>
              <a:defRPr sz="2000">
                <a:latin typeface="Times New Roman" panose="02020503050405090304"/>
                <a:ea typeface="微软雅黑"/>
                <a:cs typeface="Times New Roman" panose="02020503050405090304"/>
              </a:defRPr>
            </a:lvl8pPr>
            <a:lvl9pPr marL="3657600" indent="0">
              <a:buNone/>
              <a:defRPr sz="2000">
                <a:latin typeface="Times New Roman" panose="02020503050405090304"/>
                <a:ea typeface="微软雅黑"/>
                <a:cs typeface="Times New Roman" panose="02020503050405090304"/>
              </a:defRPr>
            </a:lvl9pPr>
          </a:lstStyle>
          <a:p/>
        </p:txBody>
      </p:sp>
      <p:sp>
        <p:nvSpPr>
          <p:cNvPr id="4" name="文本占位符 3"/>
          <p:cNvSpPr>
            <a:spLocks noGrp="1"/>
          </p:cNvSpPr>
          <p:nvPr>
            <p:ph type="body" idx="2"/>
          </p:nvPr>
        </p:nvSpPr>
        <p:spPr>
          <a:xfrm>
            <a:off x="839788" y="2057400"/>
            <a:ext cx="3932237" cy="3811588"/>
          </a:xfrm>
        </p:spPr>
        <p:txBody>
          <a:bodyPr/>
          <a:lstStyle>
            <a:lvl1pPr marL="0" indent="0">
              <a:buNone/>
              <a:defRPr sz="1600">
                <a:latin typeface="Times New Roman" panose="02020503050405090304"/>
                <a:ea typeface="微软雅黑"/>
                <a:cs typeface="Times New Roman" panose="02020503050405090304"/>
              </a:defRPr>
            </a:lvl1pPr>
            <a:lvl2pPr marL="457200" indent="0">
              <a:buNone/>
              <a:defRPr sz="1400">
                <a:latin typeface="Times New Roman" panose="02020503050405090304"/>
                <a:ea typeface="微软雅黑"/>
                <a:cs typeface="Times New Roman" panose="02020503050405090304"/>
              </a:defRPr>
            </a:lvl2pPr>
            <a:lvl3pPr marL="914400" indent="0">
              <a:buNone/>
              <a:defRPr sz="1200">
                <a:latin typeface="Times New Roman" panose="02020503050405090304"/>
                <a:ea typeface="微软雅黑"/>
                <a:cs typeface="Times New Roman" panose="02020503050405090304"/>
              </a:defRPr>
            </a:lvl3pPr>
            <a:lvl4pPr marL="1371600" indent="0">
              <a:buNone/>
              <a:defRPr sz="1000">
                <a:latin typeface="Times New Roman" panose="02020503050405090304"/>
                <a:ea typeface="微软雅黑"/>
                <a:cs typeface="Times New Roman" panose="02020503050405090304"/>
              </a:defRPr>
            </a:lvl4pPr>
            <a:lvl5pPr marL="1828800" indent="0">
              <a:buNone/>
              <a:defRPr sz="1000">
                <a:latin typeface="Times New Roman" panose="02020503050405090304"/>
                <a:ea typeface="微软雅黑"/>
                <a:cs typeface="Times New Roman" panose="02020503050405090304"/>
              </a:defRPr>
            </a:lvl5pPr>
            <a:lvl6pPr marL="2286000" indent="0">
              <a:buNone/>
              <a:defRPr sz="1000">
                <a:latin typeface="Times New Roman" panose="02020503050405090304"/>
                <a:ea typeface="微软雅黑"/>
                <a:cs typeface="Times New Roman" panose="02020503050405090304"/>
              </a:defRPr>
            </a:lvl6pPr>
            <a:lvl7pPr marL="2743200" indent="0">
              <a:buNone/>
              <a:defRPr sz="1000">
                <a:latin typeface="Times New Roman" panose="02020503050405090304"/>
                <a:ea typeface="微软雅黑"/>
                <a:cs typeface="Times New Roman" panose="02020503050405090304"/>
              </a:defRPr>
            </a:lvl7pPr>
            <a:lvl8pPr marL="3200400" indent="0">
              <a:buNone/>
              <a:defRPr sz="1000">
                <a:latin typeface="Times New Roman" panose="02020503050405090304"/>
                <a:ea typeface="微软雅黑"/>
                <a:cs typeface="Times New Roman" panose="02020503050405090304"/>
              </a:defRPr>
            </a:lvl8pPr>
            <a:lvl9pPr marL="3657600" indent="0">
              <a:buNone/>
              <a:defRPr sz="1000">
                <a:latin typeface="Times New Roman" panose="02020503050405090304"/>
                <a:ea typeface="微软雅黑"/>
                <a:cs typeface="Times New Roman" panose="02020503050405090304"/>
              </a:defRPr>
            </a:lvl9pPr>
          </a:lstStyle>
          <a:p>
            <a:pPr>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竖排文字占位符 2"/>
          <p:cNvSpPr>
            <a:spLocks noGrp="1"/>
          </p:cNvSpPr>
          <p:nvPr>
            <p:ph type="body" idx="1"/>
          </p:nvPr>
        </p:nvSpPr>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p:sp>
        <p:nvSpPr>
          <p:cNvPr id="2" name="竖排标题 1"/>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p:cNvSpPr>
            <a:spLocks noGrp="1"/>
          </p:cNvSpPr>
          <p:nvPr>
            <p:ph type="body" idx="1"/>
          </p:nvPr>
        </p:nvSpPr>
        <p:spPr>
          <a:xfrm>
            <a:off x="838200" y="365125"/>
            <a:ext cx="7734300" cy="5811838"/>
          </a:xfrm>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p:sp>
        <p:nvSpPr>
          <p:cNvPr id="2" name="标题 1"/>
          <p:cNvSpPr>
            <a:spLocks noGrp="1"/>
          </p:cNvSpPr>
          <p:nvPr>
            <p:ph type="ctrTitle"/>
          </p:nvPr>
        </p:nvSpPr>
        <p:spPr>
          <a:xfrm>
            <a:off x="1524000" y="1122363"/>
            <a:ext cx="9144000" cy="2387600"/>
          </a:xfrm>
        </p:spPr>
        <p:txBody>
          <a:bodyPr anchor="b"/>
          <a:lstStyle>
            <a:lvl1pPr algn="ctr">
              <a:buNone/>
              <a:defRPr sz="6000">
                <a:latin typeface="Times New Roman" panose="02020503050405090304"/>
                <a:ea typeface="Times New Roman" panose="02020503050405090304"/>
                <a:cs typeface="Times New Roman" panose="02020503050405090304"/>
              </a:defRPr>
            </a:lvl1pPr>
          </a:lstStyle>
          <a:p>
            <a:r>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atin typeface="Times New Roman" panose="02020503050405090304"/>
                <a:ea typeface="Times New Roman" panose="02020503050405090304"/>
                <a:cs typeface="Times New Roman" panose="02020503050405090304"/>
              </a:defRPr>
            </a:lvl1pPr>
            <a:lvl2pPr marL="457200" indent="0" algn="ctr">
              <a:buNone/>
              <a:defRPr sz="2000">
                <a:latin typeface="Times New Roman" panose="02020503050405090304"/>
                <a:ea typeface="Times New Roman" panose="02020503050405090304"/>
                <a:cs typeface="Times New Roman" panose="02020503050405090304"/>
              </a:defRPr>
            </a:lvl2pPr>
            <a:lvl3pPr marL="914400" indent="0" algn="ctr">
              <a:buNone/>
              <a:defRPr sz="1800">
                <a:latin typeface="Times New Roman" panose="02020503050405090304"/>
                <a:ea typeface="Times New Roman" panose="02020503050405090304"/>
                <a:cs typeface="Times New Roman" panose="02020503050405090304"/>
              </a:defRPr>
            </a:lvl3pPr>
            <a:lvl4pPr marL="1371600" indent="0" algn="ctr">
              <a:buNone/>
              <a:defRPr sz="1600">
                <a:latin typeface="Times New Roman" panose="02020503050405090304"/>
                <a:ea typeface="Times New Roman" panose="02020503050405090304"/>
                <a:cs typeface="Times New Roman" panose="02020503050405090304"/>
              </a:defRPr>
            </a:lvl4pPr>
            <a:lvl5pPr marL="1828800" indent="0" algn="ctr">
              <a:buNone/>
              <a:defRPr sz="1600">
                <a:latin typeface="Times New Roman" panose="02020503050405090304"/>
                <a:ea typeface="Times New Roman" panose="02020503050405090304"/>
                <a:cs typeface="Times New Roman" panose="02020503050405090304"/>
              </a:defRPr>
            </a:lvl5pPr>
            <a:lvl6pPr marL="2286000" indent="0" algn="ctr">
              <a:buNone/>
              <a:defRPr sz="1600">
                <a:latin typeface="Times New Roman" panose="02020503050405090304"/>
                <a:ea typeface="Times New Roman" panose="02020503050405090304"/>
                <a:cs typeface="Times New Roman" panose="02020503050405090304"/>
              </a:defRPr>
            </a:lvl6pPr>
            <a:lvl7pPr marL="2743200" indent="0" algn="ctr">
              <a:buNone/>
              <a:defRPr sz="1600">
                <a:latin typeface="Times New Roman" panose="02020503050405090304"/>
                <a:ea typeface="Times New Roman" panose="02020503050405090304"/>
                <a:cs typeface="Times New Roman" panose="02020503050405090304"/>
              </a:defRPr>
            </a:lvl7pPr>
            <a:lvl8pPr marL="3200400" indent="0" algn="ctr">
              <a:buNone/>
              <a:defRPr sz="1600">
                <a:latin typeface="Times New Roman" panose="02020503050405090304"/>
                <a:ea typeface="Times New Roman" panose="02020503050405090304"/>
                <a:cs typeface="Times New Roman" panose="02020503050405090304"/>
              </a:defRPr>
            </a:lvl8pPr>
            <a:lvl9pPr marL="3657600" indent="0" algn="ctr">
              <a:buNone/>
              <a:defRPr sz="1600">
                <a:latin typeface="Times New Roman" panose="02020503050405090304"/>
                <a:ea typeface="Times New Roman" panose="02020503050405090304"/>
                <a:cs typeface="Times New Roman" panose="02020503050405090304"/>
              </a:defRPr>
            </a:lvl9pPr>
          </a:lstStyle>
          <a:p>
            <a:r>
              <a:t>单击此处编辑母版副标题样式</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内容占位符 2"/>
          <p:cNvSpPr>
            <a:spLocks noGrp="1"/>
          </p:cNvSpPr>
          <p:nvPr>
            <p:ph idx="1"/>
          </p:nvPr>
        </p:nvSpPr>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p:sp>
        <p:nvSpPr>
          <p:cNvPr id="2" name="标题 1"/>
          <p:cNvSpPr>
            <a:spLocks noGrp="1"/>
          </p:cNvSpPr>
          <p:nvPr>
            <p:ph type="title"/>
          </p:nvPr>
        </p:nvSpPr>
        <p:spPr>
          <a:xfrm>
            <a:off x="831850" y="1709738"/>
            <a:ext cx="10515600" cy="2852737"/>
          </a:xfrm>
        </p:spPr>
        <p:txBody>
          <a:bodyPr anchor="b"/>
          <a:lstStyle>
            <a:lvl1pPr>
              <a:buNone/>
              <a:defRPr sz="6000">
                <a:latin typeface="Times New Roman" panose="02020503050405090304"/>
                <a:ea typeface="Times New Roman" panose="02020503050405090304"/>
                <a:cs typeface="Times New Roman" panose="02020503050405090304"/>
              </a:defRPr>
            </a:lvl1pPr>
          </a:lstStyle>
          <a:p>
            <a:r>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Times New Roman" panose="02020503050405090304"/>
                <a:ea typeface="Times New Roman" panose="02020503050405090304"/>
                <a:cs typeface="Times New Roman" panose="02020503050405090304"/>
              </a:defRPr>
            </a:lvl1pPr>
            <a:lvl2pPr marL="457200" indent="0">
              <a:buNone/>
              <a:defRPr sz="2000">
                <a:solidFill>
                  <a:schemeClr val="tx1">
                    <a:tint val="75000"/>
                  </a:schemeClr>
                </a:solidFill>
                <a:latin typeface="Times New Roman" panose="02020503050405090304"/>
                <a:ea typeface="Times New Roman" panose="02020503050405090304"/>
                <a:cs typeface="Times New Roman" panose="02020503050405090304"/>
              </a:defRPr>
            </a:lvl2pPr>
            <a:lvl3pPr marL="914400" indent="0">
              <a:buNone/>
              <a:defRPr sz="1800">
                <a:solidFill>
                  <a:schemeClr val="tx1">
                    <a:tint val="75000"/>
                  </a:schemeClr>
                </a:solidFill>
                <a:latin typeface="Times New Roman" panose="02020503050405090304"/>
                <a:ea typeface="Times New Roman" panose="02020503050405090304"/>
                <a:cs typeface="Times New Roman" panose="02020503050405090304"/>
              </a:defRPr>
            </a:lvl3pPr>
            <a:lvl4pPr marL="1371600" indent="0">
              <a:buNone/>
              <a:defRPr sz="1600">
                <a:solidFill>
                  <a:schemeClr val="tx1">
                    <a:tint val="75000"/>
                  </a:schemeClr>
                </a:solidFill>
                <a:latin typeface="Times New Roman" panose="02020503050405090304"/>
                <a:ea typeface="Times New Roman" panose="02020503050405090304"/>
                <a:cs typeface="Times New Roman" panose="02020503050405090304"/>
              </a:defRPr>
            </a:lvl4pPr>
            <a:lvl5pPr marL="1828800" indent="0">
              <a:buNone/>
              <a:defRPr sz="1600">
                <a:solidFill>
                  <a:schemeClr val="tx1">
                    <a:tint val="75000"/>
                  </a:schemeClr>
                </a:solidFill>
                <a:latin typeface="Times New Roman" panose="02020503050405090304"/>
                <a:ea typeface="Times New Roman" panose="02020503050405090304"/>
                <a:cs typeface="Times New Roman" panose="02020503050405090304"/>
              </a:defRPr>
            </a:lvl5pPr>
            <a:lvl6pPr marL="2286000" indent="0">
              <a:buNone/>
              <a:defRPr sz="1600">
                <a:solidFill>
                  <a:schemeClr val="tx1">
                    <a:tint val="75000"/>
                  </a:schemeClr>
                </a:solidFill>
                <a:latin typeface="Times New Roman" panose="02020503050405090304"/>
                <a:ea typeface="Times New Roman" panose="02020503050405090304"/>
                <a:cs typeface="Times New Roman" panose="02020503050405090304"/>
              </a:defRPr>
            </a:lvl6pPr>
            <a:lvl7pPr marL="2743200" indent="0">
              <a:buNone/>
              <a:defRPr sz="1600">
                <a:solidFill>
                  <a:schemeClr val="tx1">
                    <a:tint val="75000"/>
                  </a:schemeClr>
                </a:solidFill>
                <a:latin typeface="Times New Roman" panose="02020503050405090304"/>
                <a:ea typeface="Times New Roman" panose="02020503050405090304"/>
                <a:cs typeface="Times New Roman" panose="02020503050405090304"/>
              </a:defRPr>
            </a:lvl7pPr>
            <a:lvl8pPr marL="3200400" indent="0">
              <a:buNone/>
              <a:defRPr sz="1600">
                <a:solidFill>
                  <a:schemeClr val="tx1">
                    <a:tint val="75000"/>
                  </a:schemeClr>
                </a:solidFill>
                <a:latin typeface="Times New Roman" panose="02020503050405090304"/>
                <a:ea typeface="Times New Roman" panose="02020503050405090304"/>
                <a:cs typeface="Times New Roman" panose="02020503050405090304"/>
              </a:defRPr>
            </a:lvl8pPr>
            <a:lvl9pPr marL="3657600" indent="0">
              <a:buNone/>
              <a:defRPr sz="1600">
                <a:solidFill>
                  <a:schemeClr val="tx1">
                    <a:tint val="75000"/>
                  </a:schemeClr>
                </a:solidFill>
                <a:latin typeface="Times New Roman" panose="02020503050405090304"/>
                <a:ea typeface="Times New Roman" panose="02020503050405090304"/>
                <a:cs typeface="Times New Roman" panose="02020503050405090304"/>
              </a:defRPr>
            </a:lvl9pPr>
          </a:lstStyle>
          <a:p>
            <a:pPr>
              <a:buNone/>
            </a:pPr>
            <a:r>
              <a:t>单击此处编辑母版文本样式</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内容占位符 2"/>
          <p:cNvSpPr>
            <a:spLocks noGrp="1"/>
          </p:cNvSpPr>
          <p:nvPr>
            <p:ph idx="1"/>
          </p:nvPr>
        </p:nvSpPr>
        <p:spPr>
          <a:xfrm>
            <a:off x="838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内容占位符 3"/>
          <p:cNvSpPr>
            <a:spLocks noGrp="1"/>
          </p:cNvSpPr>
          <p:nvPr>
            <p:ph idx="2"/>
          </p:nvPr>
        </p:nvSpPr>
        <p:spPr>
          <a:xfrm>
            <a:off x="6172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p:sp>
        <p:nvSpPr>
          <p:cNvPr id="2" name="标题 1"/>
          <p:cNvSpPr>
            <a:spLocks noGrp="1"/>
          </p:cNvSpPr>
          <p:nvPr>
            <p:ph type="title"/>
          </p:nvPr>
        </p:nvSpPr>
        <p:spPr>
          <a:xfrm>
            <a:off x="839788" y="365125"/>
            <a:ext cx="10515600" cy="1325563"/>
          </a:xfrm>
        </p:spPr>
        <p:txBody>
          <a:bodyPr/>
          <a:lstStyle/>
          <a:p>
            <a:r>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atin typeface="Times New Roman" panose="02020503050405090304"/>
                <a:ea typeface="Times New Roman" panose="02020503050405090304"/>
                <a:cs typeface="Times New Roman" panose="02020503050405090304"/>
              </a:defRPr>
            </a:lvl1pPr>
            <a:lvl2pPr marL="457200" indent="0">
              <a:buNone/>
              <a:defRPr sz="2000" b="1">
                <a:latin typeface="Times New Roman" panose="02020503050405090304"/>
                <a:ea typeface="Times New Roman" panose="02020503050405090304"/>
                <a:cs typeface="Times New Roman" panose="02020503050405090304"/>
              </a:defRPr>
            </a:lvl2pPr>
            <a:lvl3pPr marL="914400" indent="0">
              <a:buNone/>
              <a:defRPr sz="1800" b="1">
                <a:latin typeface="Times New Roman" panose="02020503050405090304"/>
                <a:ea typeface="Times New Roman" panose="02020503050405090304"/>
                <a:cs typeface="Times New Roman" panose="02020503050405090304"/>
              </a:defRPr>
            </a:lvl3pPr>
            <a:lvl4pPr marL="1371600" indent="0">
              <a:buNone/>
              <a:defRPr sz="1600" b="1">
                <a:latin typeface="Times New Roman" panose="02020503050405090304"/>
                <a:ea typeface="Times New Roman" panose="02020503050405090304"/>
                <a:cs typeface="Times New Roman" panose="02020503050405090304"/>
              </a:defRPr>
            </a:lvl4pPr>
            <a:lvl5pPr marL="1828800" indent="0">
              <a:buNone/>
              <a:defRPr sz="1600" b="1">
                <a:latin typeface="Times New Roman" panose="02020503050405090304"/>
                <a:ea typeface="Times New Roman" panose="02020503050405090304"/>
                <a:cs typeface="Times New Roman" panose="02020503050405090304"/>
              </a:defRPr>
            </a:lvl5pPr>
            <a:lvl6pPr marL="2286000" indent="0">
              <a:buNone/>
              <a:defRPr sz="1600" b="1">
                <a:latin typeface="Times New Roman" panose="02020503050405090304"/>
                <a:ea typeface="Times New Roman" panose="02020503050405090304"/>
                <a:cs typeface="Times New Roman" panose="02020503050405090304"/>
              </a:defRPr>
            </a:lvl6pPr>
            <a:lvl7pPr marL="2743200" indent="0">
              <a:buNone/>
              <a:defRPr sz="1600" b="1">
                <a:latin typeface="Times New Roman" panose="02020503050405090304"/>
                <a:ea typeface="Times New Roman" panose="02020503050405090304"/>
                <a:cs typeface="Times New Roman" panose="02020503050405090304"/>
              </a:defRPr>
            </a:lvl7pPr>
            <a:lvl8pPr marL="3200400" indent="0">
              <a:buNone/>
              <a:defRPr sz="1600" b="1">
                <a:latin typeface="Times New Roman" panose="02020503050405090304"/>
                <a:ea typeface="Times New Roman" panose="02020503050405090304"/>
                <a:cs typeface="Times New Roman" panose="02020503050405090304"/>
              </a:defRPr>
            </a:lvl8pPr>
            <a:lvl9pPr marL="3657600" indent="0">
              <a:buNone/>
              <a:defRPr sz="1600" b="1">
                <a:latin typeface="Times New Roman" panose="02020503050405090304"/>
                <a:ea typeface="Times New Roman" panose="02020503050405090304"/>
                <a:cs typeface="Times New Roman" panose="02020503050405090304"/>
              </a:defRPr>
            </a:lvl9pPr>
          </a:lstStyle>
          <a:p>
            <a:pPr>
              <a:buNone/>
            </a:pPr>
            <a:r>
              <a:t>单击此处编辑母版文本样式</a:t>
            </a:r>
          </a:p>
        </p:txBody>
      </p:sp>
      <p:sp>
        <p:nvSpPr>
          <p:cNvPr id="4" name="内容占位符 3"/>
          <p:cNvSpPr>
            <a:spLocks noGrp="1"/>
          </p:cNvSpPr>
          <p:nvPr>
            <p:ph idx="2"/>
          </p:nvPr>
        </p:nvSpPr>
        <p:spPr>
          <a:xfrm>
            <a:off x="839788" y="2505075"/>
            <a:ext cx="5157787"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5" name="文本占位符 4"/>
          <p:cNvSpPr>
            <a:spLocks noGrp="1"/>
          </p:cNvSpPr>
          <p:nvPr>
            <p:ph type="body" idx="3"/>
          </p:nvPr>
        </p:nvSpPr>
        <p:spPr>
          <a:xfrm>
            <a:off x="6172200" y="1681163"/>
            <a:ext cx="5183188" cy="823912"/>
          </a:xfrm>
        </p:spPr>
        <p:txBody>
          <a:bodyPr anchor="b"/>
          <a:lstStyle>
            <a:lvl1pPr marL="0" indent="0">
              <a:buNone/>
              <a:defRPr sz="2400" b="1">
                <a:latin typeface="Times New Roman" panose="02020503050405090304"/>
                <a:ea typeface="Times New Roman" panose="02020503050405090304"/>
                <a:cs typeface="Times New Roman" panose="02020503050405090304"/>
              </a:defRPr>
            </a:lvl1pPr>
            <a:lvl2pPr marL="457200" indent="0">
              <a:buNone/>
              <a:defRPr sz="2000" b="1">
                <a:latin typeface="Times New Roman" panose="02020503050405090304"/>
                <a:ea typeface="Times New Roman" panose="02020503050405090304"/>
                <a:cs typeface="Times New Roman" panose="02020503050405090304"/>
              </a:defRPr>
            </a:lvl2pPr>
            <a:lvl3pPr marL="914400" indent="0">
              <a:buNone/>
              <a:defRPr sz="1800" b="1">
                <a:latin typeface="Times New Roman" panose="02020503050405090304"/>
                <a:ea typeface="Times New Roman" panose="02020503050405090304"/>
                <a:cs typeface="Times New Roman" panose="02020503050405090304"/>
              </a:defRPr>
            </a:lvl3pPr>
            <a:lvl4pPr marL="1371600" indent="0">
              <a:buNone/>
              <a:defRPr sz="1600" b="1">
                <a:latin typeface="Times New Roman" panose="02020503050405090304"/>
                <a:ea typeface="Times New Roman" panose="02020503050405090304"/>
                <a:cs typeface="Times New Roman" panose="02020503050405090304"/>
              </a:defRPr>
            </a:lvl4pPr>
            <a:lvl5pPr marL="1828800" indent="0">
              <a:buNone/>
              <a:defRPr sz="1600" b="1">
                <a:latin typeface="Times New Roman" panose="02020503050405090304"/>
                <a:ea typeface="Times New Roman" panose="02020503050405090304"/>
                <a:cs typeface="Times New Roman" panose="02020503050405090304"/>
              </a:defRPr>
            </a:lvl5pPr>
            <a:lvl6pPr marL="2286000" indent="0">
              <a:buNone/>
              <a:defRPr sz="1600" b="1">
                <a:latin typeface="Times New Roman" panose="02020503050405090304"/>
                <a:ea typeface="Times New Roman" panose="02020503050405090304"/>
                <a:cs typeface="Times New Roman" panose="02020503050405090304"/>
              </a:defRPr>
            </a:lvl6pPr>
            <a:lvl7pPr marL="2743200" indent="0">
              <a:buNone/>
              <a:defRPr sz="1600" b="1">
                <a:latin typeface="Times New Roman" panose="02020503050405090304"/>
                <a:ea typeface="Times New Roman" panose="02020503050405090304"/>
                <a:cs typeface="Times New Roman" panose="02020503050405090304"/>
              </a:defRPr>
            </a:lvl7pPr>
            <a:lvl8pPr marL="3200400" indent="0">
              <a:buNone/>
              <a:defRPr sz="1600" b="1">
                <a:latin typeface="Times New Roman" panose="02020503050405090304"/>
                <a:ea typeface="Times New Roman" panose="02020503050405090304"/>
                <a:cs typeface="Times New Roman" panose="02020503050405090304"/>
              </a:defRPr>
            </a:lvl8pPr>
            <a:lvl9pPr marL="3657600" indent="0">
              <a:buNone/>
              <a:defRPr sz="1600" b="1">
                <a:latin typeface="Times New Roman" panose="02020503050405090304"/>
                <a:ea typeface="Times New Roman" panose="02020503050405090304"/>
                <a:cs typeface="Times New Roman" panose="02020503050405090304"/>
              </a:defRPr>
            </a:lvl9pPr>
          </a:lstStyle>
          <a:p>
            <a:pPr>
              <a:buNone/>
            </a:pPr>
            <a:r>
              <a:t>单击此处编辑母版文本样式</a:t>
            </a:r>
          </a:p>
        </p:txBody>
      </p:sp>
      <p:sp>
        <p:nvSpPr>
          <p:cNvPr id="6" name="内容占位符 5"/>
          <p:cNvSpPr>
            <a:spLocks noGrp="1"/>
          </p:cNvSpPr>
          <p:nvPr>
            <p:ph idx="4"/>
          </p:nvPr>
        </p:nvSpPr>
        <p:spPr>
          <a:xfrm>
            <a:off x="6172200" y="2505075"/>
            <a:ext cx="5183188"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7" name="日期占位符 6"/>
          <p:cNvSpPr>
            <a:spLocks noGrp="1"/>
          </p:cNvSpPr>
          <p:nvPr>
            <p:ph type="dt" idx="10"/>
          </p:nvPr>
        </p:nvSpPr>
        <p:spPr/>
        <p:txBody>
          <a:bodyPr/>
          <a:lstStyle/>
          <a:p/>
        </p:txBody>
      </p:sp>
      <p:sp>
        <p:nvSpPr>
          <p:cNvPr id="8" name="页脚占位符 7"/>
          <p:cNvSpPr>
            <a:spLocks noGrp="1"/>
          </p:cNvSpPr>
          <p:nvPr>
            <p:ph type="ftr" idx="11"/>
          </p:nvPr>
        </p:nvSpPr>
        <p:spPr/>
        <p:txBody>
          <a:bodyPr/>
          <a:lstStyle/>
          <a:p/>
        </p:txBody>
      </p:sp>
      <p:sp>
        <p:nvSpPr>
          <p:cNvPr id="9" name="灯片编号占位符 8"/>
          <p:cNvSpPr>
            <a:spLocks noGrp="1"/>
          </p:cNvSpPr>
          <p:nvPr>
            <p:ph type="sldNum" idx="12"/>
          </p:nvPr>
        </p:nvSpPr>
        <p:spPr/>
        <p:txBody>
          <a:body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p:txBody>
          <a:bodyPr/>
          <a:lstStyle/>
          <a:p/>
        </p:txBody>
      </p:sp>
      <p:sp>
        <p:nvSpPr>
          <p:cNvPr id="3" name="页脚占位符 2"/>
          <p:cNvSpPr>
            <a:spLocks noGrp="1"/>
          </p:cNvSpPr>
          <p:nvPr>
            <p:ph type="ftr" idx="11"/>
          </p:nvPr>
        </p:nvSpPr>
        <p:spPr/>
        <p:txBody>
          <a:bodyPr/>
          <a:lstStyle/>
          <a:p/>
        </p:txBody>
      </p:sp>
      <p:sp>
        <p:nvSpPr>
          <p:cNvPr id="4" name="灯片编号占位符 3"/>
          <p:cNvSpPr>
            <a:spLocks noGrp="1"/>
          </p:cNvSpPr>
          <p:nvPr>
            <p:ph type="sldNum" idx="12"/>
          </p:nvPr>
        </p:nvSpPr>
        <p:spPr/>
        <p:txBody>
          <a:body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p:sp>
        <p:nvSpPr>
          <p:cNvPr id="2" name="标题 1"/>
          <p:cNvSpPr>
            <a:spLocks noGrp="1"/>
          </p:cNvSpPr>
          <p:nvPr>
            <p:ph type="title"/>
          </p:nvPr>
        </p:nvSpPr>
        <p:spPr>
          <a:xfrm>
            <a:off x="839788" y="457200"/>
            <a:ext cx="3932237" cy="1600200"/>
          </a:xfrm>
        </p:spPr>
        <p:txBody>
          <a:bodyPr anchor="b"/>
          <a:lstStyle>
            <a:lvl1pPr>
              <a:buNone/>
              <a:defRPr sz="3200">
                <a:latin typeface="Times New Roman" panose="02020503050405090304"/>
                <a:ea typeface="Times New Roman" panose="02020503050405090304"/>
                <a:cs typeface="Times New Roman" panose="02020503050405090304"/>
              </a:defRPr>
            </a:lvl1pPr>
          </a:lstStyle>
          <a:p>
            <a:r>
              <a:t>单击此处编辑母版标题样式</a:t>
            </a:r>
          </a:p>
        </p:txBody>
      </p:sp>
      <p:sp>
        <p:nvSpPr>
          <p:cNvPr id="3" name="内容占位符 2"/>
          <p:cNvSpPr>
            <a:spLocks noGrp="1"/>
          </p:cNvSpPr>
          <p:nvPr>
            <p:ph idx="1"/>
          </p:nvPr>
        </p:nvSpPr>
        <p:spPr>
          <a:xfrm>
            <a:off x="5183188" y="987425"/>
            <a:ext cx="6172200" cy="4873625"/>
          </a:xfrm>
        </p:spPr>
        <p:txBody>
          <a:bodyPr/>
          <a:lstStyle>
            <a:lvl1pPr>
              <a:buNone/>
              <a:defRPr sz="3200">
                <a:latin typeface="Times New Roman" panose="02020503050405090304"/>
                <a:ea typeface="Times New Roman" panose="02020503050405090304"/>
                <a:cs typeface="Times New Roman" panose="02020503050405090304"/>
              </a:defRPr>
            </a:lvl1pPr>
            <a:lvl2pPr>
              <a:buNone/>
              <a:defRPr sz="2800">
                <a:latin typeface="Times New Roman" panose="02020503050405090304"/>
                <a:ea typeface="Times New Roman" panose="02020503050405090304"/>
                <a:cs typeface="Times New Roman" panose="02020503050405090304"/>
              </a:defRPr>
            </a:lvl2pPr>
            <a:lvl3pPr>
              <a:buNone/>
              <a:defRPr sz="2400">
                <a:latin typeface="Times New Roman" panose="02020503050405090304"/>
                <a:ea typeface="Times New Roman" panose="02020503050405090304"/>
                <a:cs typeface="Times New Roman" panose="02020503050405090304"/>
              </a:defRPr>
            </a:lvl3pPr>
            <a:lvl4pPr>
              <a:buNone/>
              <a:defRPr sz="2000">
                <a:latin typeface="Times New Roman" panose="02020503050405090304"/>
                <a:ea typeface="Times New Roman" panose="02020503050405090304"/>
                <a:cs typeface="Times New Roman" panose="02020503050405090304"/>
              </a:defRPr>
            </a:lvl4pPr>
            <a:lvl5pPr>
              <a:buNone/>
              <a:defRPr sz="2000">
                <a:latin typeface="Times New Roman" panose="02020503050405090304"/>
                <a:ea typeface="Times New Roman" panose="02020503050405090304"/>
                <a:cs typeface="Times New Roman" panose="02020503050405090304"/>
              </a:defRPr>
            </a:lvl5pPr>
            <a:lvl6pPr>
              <a:buNone/>
              <a:defRPr sz="2000">
                <a:latin typeface="Times New Roman" panose="02020503050405090304"/>
                <a:ea typeface="Times New Roman" panose="02020503050405090304"/>
                <a:cs typeface="Times New Roman" panose="02020503050405090304"/>
              </a:defRPr>
            </a:lvl6pPr>
            <a:lvl7pPr>
              <a:buNone/>
              <a:defRPr sz="2000">
                <a:latin typeface="Times New Roman" panose="02020503050405090304"/>
                <a:ea typeface="Times New Roman" panose="02020503050405090304"/>
                <a:cs typeface="Times New Roman" panose="02020503050405090304"/>
              </a:defRPr>
            </a:lvl7pPr>
            <a:lvl8pPr>
              <a:buNone/>
              <a:defRPr sz="2000">
                <a:latin typeface="Times New Roman" panose="02020503050405090304"/>
                <a:ea typeface="Times New Roman" panose="02020503050405090304"/>
                <a:cs typeface="Times New Roman" panose="02020503050405090304"/>
              </a:defRPr>
            </a:lvl8pPr>
            <a:lvl9pPr>
              <a:buNone/>
              <a:defRPr sz="2000">
                <a:latin typeface="Times New Roman" panose="02020503050405090304"/>
                <a:ea typeface="Times New Roman" panose="02020503050405090304"/>
                <a:cs typeface="Times New Roman" panose="02020503050405090304"/>
              </a:defRPr>
            </a:lvl9p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文本占位符 3"/>
          <p:cNvSpPr>
            <a:spLocks noGrp="1"/>
          </p:cNvSpPr>
          <p:nvPr>
            <p:ph type="body" idx="2"/>
          </p:nvPr>
        </p:nvSpPr>
        <p:spPr>
          <a:xfrm>
            <a:off x="839788" y="2057400"/>
            <a:ext cx="3932237" cy="3811588"/>
          </a:xfrm>
        </p:spPr>
        <p:txBody>
          <a:bodyPr/>
          <a:lstStyle>
            <a:lvl1pPr marL="0" indent="0">
              <a:buNone/>
              <a:defRPr sz="1600">
                <a:latin typeface="Times New Roman" panose="02020503050405090304"/>
                <a:ea typeface="Times New Roman" panose="02020503050405090304"/>
                <a:cs typeface="Times New Roman" panose="02020503050405090304"/>
              </a:defRPr>
            </a:lvl1pPr>
            <a:lvl2pPr marL="457200" indent="0">
              <a:buNone/>
              <a:defRPr sz="1400">
                <a:latin typeface="Times New Roman" panose="02020503050405090304"/>
                <a:ea typeface="Times New Roman" panose="02020503050405090304"/>
                <a:cs typeface="Times New Roman" panose="02020503050405090304"/>
              </a:defRPr>
            </a:lvl2pPr>
            <a:lvl3pPr marL="914400" indent="0">
              <a:buNone/>
              <a:defRPr sz="1200">
                <a:latin typeface="Times New Roman" panose="02020503050405090304"/>
                <a:ea typeface="Times New Roman" panose="02020503050405090304"/>
                <a:cs typeface="Times New Roman" panose="02020503050405090304"/>
              </a:defRPr>
            </a:lvl3pPr>
            <a:lvl4pPr marL="1371600" indent="0">
              <a:buNone/>
              <a:defRPr sz="1000">
                <a:latin typeface="Times New Roman" panose="02020503050405090304"/>
                <a:ea typeface="Times New Roman" panose="02020503050405090304"/>
                <a:cs typeface="Times New Roman" panose="02020503050405090304"/>
              </a:defRPr>
            </a:lvl4pPr>
            <a:lvl5pPr marL="1828800" indent="0">
              <a:buNone/>
              <a:defRPr sz="1000">
                <a:latin typeface="Times New Roman" panose="02020503050405090304"/>
                <a:ea typeface="Times New Roman" panose="02020503050405090304"/>
                <a:cs typeface="Times New Roman" panose="02020503050405090304"/>
              </a:defRPr>
            </a:lvl5pPr>
            <a:lvl6pPr marL="2286000" indent="0">
              <a:buNone/>
              <a:defRPr sz="1000">
                <a:latin typeface="Times New Roman" panose="02020503050405090304"/>
                <a:ea typeface="Times New Roman" panose="02020503050405090304"/>
                <a:cs typeface="Times New Roman" panose="02020503050405090304"/>
              </a:defRPr>
            </a:lvl6pPr>
            <a:lvl7pPr marL="2743200" indent="0">
              <a:buNone/>
              <a:defRPr sz="1000">
                <a:latin typeface="Times New Roman" panose="02020503050405090304"/>
                <a:ea typeface="Times New Roman" panose="02020503050405090304"/>
                <a:cs typeface="Times New Roman" panose="02020503050405090304"/>
              </a:defRPr>
            </a:lvl7pPr>
            <a:lvl8pPr marL="3200400" indent="0">
              <a:buNone/>
              <a:defRPr sz="1000">
                <a:latin typeface="Times New Roman" panose="02020503050405090304"/>
                <a:ea typeface="Times New Roman" panose="02020503050405090304"/>
                <a:cs typeface="Times New Roman" panose="02020503050405090304"/>
              </a:defRPr>
            </a:lvl8pPr>
            <a:lvl9pPr marL="3657600" indent="0">
              <a:buNone/>
              <a:defRPr sz="1000">
                <a:latin typeface="Times New Roman" panose="02020503050405090304"/>
                <a:ea typeface="Times New Roman" panose="02020503050405090304"/>
                <a:cs typeface="Times New Roman" panose="02020503050405090304"/>
              </a:defRPr>
            </a:lvl9pPr>
          </a:lstStyle>
          <a:p>
            <a:pPr>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p:sp>
        <p:nvSpPr>
          <p:cNvPr id="2" name="标题 1"/>
          <p:cNvSpPr>
            <a:spLocks noGrp="1"/>
          </p:cNvSpPr>
          <p:nvPr>
            <p:ph type="title"/>
          </p:nvPr>
        </p:nvSpPr>
        <p:spPr>
          <a:xfrm>
            <a:off x="839788" y="457200"/>
            <a:ext cx="3932237" cy="1600200"/>
          </a:xfrm>
        </p:spPr>
        <p:txBody>
          <a:bodyPr anchor="b"/>
          <a:lstStyle>
            <a:lvl1pPr>
              <a:buNone/>
              <a:defRPr sz="3200">
                <a:latin typeface="Times New Roman" panose="02020503050405090304"/>
                <a:ea typeface="Times New Roman" panose="02020503050405090304"/>
                <a:cs typeface="Times New Roman" panose="02020503050405090304"/>
              </a:defRPr>
            </a:lvl1pPr>
          </a:lstStyle>
          <a:p>
            <a:r>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atin typeface="Times New Roman" panose="02020503050405090304"/>
                <a:ea typeface="Times New Roman" panose="02020503050405090304"/>
                <a:cs typeface="Times New Roman" panose="02020503050405090304"/>
              </a:defRPr>
            </a:lvl1pPr>
            <a:lvl2pPr marL="457200" indent="0">
              <a:buNone/>
              <a:defRPr sz="2800">
                <a:latin typeface="Times New Roman" panose="02020503050405090304"/>
                <a:ea typeface="Times New Roman" panose="02020503050405090304"/>
                <a:cs typeface="Times New Roman" panose="02020503050405090304"/>
              </a:defRPr>
            </a:lvl2pPr>
            <a:lvl3pPr marL="914400" indent="0">
              <a:buNone/>
              <a:defRPr sz="2400">
                <a:latin typeface="Times New Roman" panose="02020503050405090304"/>
                <a:ea typeface="Times New Roman" panose="02020503050405090304"/>
                <a:cs typeface="Times New Roman" panose="02020503050405090304"/>
              </a:defRPr>
            </a:lvl3pPr>
            <a:lvl4pPr marL="1371600" indent="0">
              <a:buNone/>
              <a:defRPr sz="2000">
                <a:latin typeface="Times New Roman" panose="02020503050405090304"/>
                <a:ea typeface="Times New Roman" panose="02020503050405090304"/>
                <a:cs typeface="Times New Roman" panose="02020503050405090304"/>
              </a:defRPr>
            </a:lvl4pPr>
            <a:lvl5pPr marL="1828800" indent="0">
              <a:buNone/>
              <a:defRPr sz="2000">
                <a:latin typeface="Times New Roman" panose="02020503050405090304"/>
                <a:ea typeface="Times New Roman" panose="02020503050405090304"/>
                <a:cs typeface="Times New Roman" panose="02020503050405090304"/>
              </a:defRPr>
            </a:lvl5pPr>
            <a:lvl6pPr marL="2286000" indent="0">
              <a:buNone/>
              <a:defRPr sz="2000">
                <a:latin typeface="Times New Roman" panose="02020503050405090304"/>
                <a:ea typeface="Times New Roman" panose="02020503050405090304"/>
                <a:cs typeface="Times New Roman" panose="02020503050405090304"/>
              </a:defRPr>
            </a:lvl6pPr>
            <a:lvl7pPr marL="2743200" indent="0">
              <a:buNone/>
              <a:defRPr sz="2000">
                <a:latin typeface="Times New Roman" panose="02020503050405090304"/>
                <a:ea typeface="Times New Roman" panose="02020503050405090304"/>
                <a:cs typeface="Times New Roman" panose="02020503050405090304"/>
              </a:defRPr>
            </a:lvl7pPr>
            <a:lvl8pPr marL="3200400" indent="0">
              <a:buNone/>
              <a:defRPr sz="2000">
                <a:latin typeface="Times New Roman" panose="02020503050405090304"/>
                <a:ea typeface="Times New Roman" panose="02020503050405090304"/>
                <a:cs typeface="Times New Roman" panose="02020503050405090304"/>
              </a:defRPr>
            </a:lvl8pPr>
            <a:lvl9pPr marL="3657600" indent="0">
              <a:buNone/>
              <a:defRPr sz="2000">
                <a:latin typeface="Times New Roman" panose="02020503050405090304"/>
                <a:ea typeface="Times New Roman" panose="02020503050405090304"/>
                <a:cs typeface="Times New Roman" panose="02020503050405090304"/>
              </a:defRPr>
            </a:lvl9pPr>
          </a:lstStyle>
          <a:p/>
        </p:txBody>
      </p:sp>
      <p:sp>
        <p:nvSpPr>
          <p:cNvPr id="4" name="文本占位符 3"/>
          <p:cNvSpPr>
            <a:spLocks noGrp="1"/>
          </p:cNvSpPr>
          <p:nvPr>
            <p:ph type="body" idx="2"/>
          </p:nvPr>
        </p:nvSpPr>
        <p:spPr>
          <a:xfrm>
            <a:off x="839788" y="2057400"/>
            <a:ext cx="3932237" cy="3811588"/>
          </a:xfrm>
        </p:spPr>
        <p:txBody>
          <a:bodyPr/>
          <a:lstStyle>
            <a:lvl1pPr marL="0" indent="0">
              <a:buNone/>
              <a:defRPr sz="1600">
                <a:latin typeface="Times New Roman" panose="02020503050405090304"/>
                <a:ea typeface="Times New Roman" panose="02020503050405090304"/>
                <a:cs typeface="Times New Roman" panose="02020503050405090304"/>
              </a:defRPr>
            </a:lvl1pPr>
            <a:lvl2pPr marL="457200" indent="0">
              <a:buNone/>
              <a:defRPr sz="1400">
                <a:latin typeface="Times New Roman" panose="02020503050405090304"/>
                <a:ea typeface="Times New Roman" panose="02020503050405090304"/>
                <a:cs typeface="Times New Roman" panose="02020503050405090304"/>
              </a:defRPr>
            </a:lvl2pPr>
            <a:lvl3pPr marL="914400" indent="0">
              <a:buNone/>
              <a:defRPr sz="1200">
                <a:latin typeface="Times New Roman" panose="02020503050405090304"/>
                <a:ea typeface="Times New Roman" panose="02020503050405090304"/>
                <a:cs typeface="Times New Roman" panose="02020503050405090304"/>
              </a:defRPr>
            </a:lvl3pPr>
            <a:lvl4pPr marL="1371600" indent="0">
              <a:buNone/>
              <a:defRPr sz="1000">
                <a:latin typeface="Times New Roman" panose="02020503050405090304"/>
                <a:ea typeface="Times New Roman" panose="02020503050405090304"/>
                <a:cs typeface="Times New Roman" panose="02020503050405090304"/>
              </a:defRPr>
            </a:lvl4pPr>
            <a:lvl5pPr marL="1828800" indent="0">
              <a:buNone/>
              <a:defRPr sz="1000">
                <a:latin typeface="Times New Roman" panose="02020503050405090304"/>
                <a:ea typeface="Times New Roman" panose="02020503050405090304"/>
                <a:cs typeface="Times New Roman" panose="02020503050405090304"/>
              </a:defRPr>
            </a:lvl5pPr>
            <a:lvl6pPr marL="2286000" indent="0">
              <a:buNone/>
              <a:defRPr sz="1000">
                <a:latin typeface="Times New Roman" panose="02020503050405090304"/>
                <a:ea typeface="Times New Roman" panose="02020503050405090304"/>
                <a:cs typeface="Times New Roman" panose="02020503050405090304"/>
              </a:defRPr>
            </a:lvl6pPr>
            <a:lvl7pPr marL="2743200" indent="0">
              <a:buNone/>
              <a:defRPr sz="1000">
                <a:latin typeface="Times New Roman" panose="02020503050405090304"/>
                <a:ea typeface="Times New Roman" panose="02020503050405090304"/>
                <a:cs typeface="Times New Roman" panose="02020503050405090304"/>
              </a:defRPr>
            </a:lvl7pPr>
            <a:lvl8pPr marL="3200400" indent="0">
              <a:buNone/>
              <a:defRPr sz="1000">
                <a:latin typeface="Times New Roman" panose="02020503050405090304"/>
                <a:ea typeface="Times New Roman" panose="02020503050405090304"/>
                <a:cs typeface="Times New Roman" panose="02020503050405090304"/>
              </a:defRPr>
            </a:lvl8pPr>
            <a:lvl9pPr marL="3657600" indent="0">
              <a:buNone/>
              <a:defRPr sz="1000">
                <a:latin typeface="Times New Roman" panose="02020503050405090304"/>
                <a:ea typeface="Times New Roman" panose="02020503050405090304"/>
                <a:cs typeface="Times New Roman" panose="02020503050405090304"/>
              </a:defRPr>
            </a:lvl9pPr>
          </a:lstStyle>
          <a:p>
            <a:pPr>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竖排文字占位符 2"/>
          <p:cNvSpPr>
            <a:spLocks noGrp="1"/>
          </p:cNvSpPr>
          <p:nvPr>
            <p:ph type="body" idx="1"/>
          </p:nvPr>
        </p:nvSpPr>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p:sp>
        <p:nvSpPr>
          <p:cNvPr id="2" name="竖排标题 1"/>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p:cNvSpPr>
            <a:spLocks noGrp="1"/>
          </p:cNvSpPr>
          <p:nvPr>
            <p:ph type="body" idx="1"/>
          </p:nvPr>
        </p:nvSpPr>
        <p:spPr>
          <a:xfrm>
            <a:off x="838200" y="365125"/>
            <a:ext cx="7734300" cy="5811838"/>
          </a:xfrm>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3" Type="http://schemas.openxmlformats.org/officeDocument/2006/relationships/theme" Target="../theme/theme4.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latin typeface="Times New Roman" panose="02020503050405090304"/>
                <a:ea typeface="微软雅黑"/>
                <a:cs typeface="Times New Roman" panose="02020503050405090304"/>
              </a:defRPr>
            </a:lvl1pPr>
          </a:lstStyle>
          <a:p/>
        </p:txBody>
      </p:sp>
      <p:sp>
        <p:nvSpPr>
          <p:cNvPr id="5" name="页脚占位符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latin typeface="Times New Roman" panose="02020503050405090304"/>
                <a:ea typeface="微软雅黑"/>
                <a:cs typeface="Times New Roman" panose="02020503050405090304"/>
              </a:defRPr>
            </a:lvl1pPr>
          </a:lstStyle>
          <a:p/>
        </p:txBody>
      </p:sp>
      <p:sp>
        <p:nvSpPr>
          <p:cNvPr id="6" name="灯片编号占位符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latin typeface="Times New Roman" panose="02020503050405090304"/>
                <a:ea typeface="微软雅黑"/>
                <a:cs typeface="Times New Roman" panose="02020503050405090304"/>
              </a:defRPr>
            </a:lvl1pPr>
          </a:lstStyl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a:lnSpc>
          <a:spcPct val="90000"/>
        </a:lnSpc>
        <a:buNone/>
        <a:defRPr sz="4400">
          <a:solidFill>
            <a:schemeClr val="tx1"/>
          </a:solidFill>
          <a:latin typeface="Times New Roman" panose="02020503050405090304"/>
          <a:ea typeface="微软雅黑"/>
          <a:cs typeface="Times New Roman" panose="02020503050405090304"/>
        </a:defRPr>
      </a:lvl1pPr>
    </p:titleStyle>
    <p:bodyStyle>
      <a:lvl1pPr marL="228600" indent="-228600" algn="l">
        <a:lnSpc>
          <a:spcPct val="90000"/>
        </a:lnSpc>
        <a:spcBef>
          <a:spcPts val="1000"/>
        </a:spcBef>
        <a:buChar char="•"/>
        <a:defRPr sz="2800">
          <a:solidFill>
            <a:schemeClr val="tx1"/>
          </a:solidFill>
          <a:latin typeface="Times New Roman" panose="02020503050405090304"/>
          <a:ea typeface="微软雅黑"/>
          <a:cs typeface="Times New Roman" panose="02020503050405090304"/>
        </a:defRPr>
      </a:lvl1pPr>
      <a:lvl2pPr marL="685800" indent="-228600" algn="l">
        <a:lnSpc>
          <a:spcPct val="90000"/>
        </a:lnSpc>
        <a:spcBef>
          <a:spcPts val="500"/>
        </a:spcBef>
        <a:buChar char="•"/>
        <a:defRPr sz="2400">
          <a:solidFill>
            <a:schemeClr val="tx1"/>
          </a:solidFill>
          <a:latin typeface="Times New Roman" panose="02020503050405090304"/>
          <a:ea typeface="微软雅黑"/>
          <a:cs typeface="Times New Roman" panose="02020503050405090304"/>
        </a:defRPr>
      </a:lvl2pPr>
      <a:lvl3pPr marL="1143000" indent="-228600" algn="l">
        <a:lnSpc>
          <a:spcPct val="90000"/>
        </a:lnSpc>
        <a:spcBef>
          <a:spcPts val="500"/>
        </a:spcBef>
        <a:buChar char="•"/>
        <a:defRPr sz="2000">
          <a:solidFill>
            <a:schemeClr val="tx1"/>
          </a:solidFill>
          <a:latin typeface="Times New Roman" panose="02020503050405090304"/>
          <a:ea typeface="微软雅黑"/>
          <a:cs typeface="Times New Roman" panose="02020503050405090304"/>
        </a:defRPr>
      </a:lvl3pPr>
      <a:lvl4pPr marL="1600200" indent="-228600" algn="l">
        <a:lnSpc>
          <a:spcPct val="90000"/>
        </a:lnSpc>
        <a:spcBef>
          <a:spcPts val="500"/>
        </a:spcBef>
        <a:buChar char="•"/>
        <a:defRPr sz="1800">
          <a:solidFill>
            <a:schemeClr val="tx1"/>
          </a:solidFill>
          <a:latin typeface="Times New Roman" panose="02020503050405090304"/>
          <a:ea typeface="微软雅黑"/>
          <a:cs typeface="Times New Roman" panose="02020503050405090304"/>
        </a:defRPr>
      </a:lvl4pPr>
      <a:lvl5pPr marL="2057400" indent="-228600" algn="l">
        <a:lnSpc>
          <a:spcPct val="90000"/>
        </a:lnSpc>
        <a:spcBef>
          <a:spcPts val="500"/>
        </a:spcBef>
        <a:buChar char="•"/>
        <a:defRPr sz="1800">
          <a:solidFill>
            <a:schemeClr val="tx1"/>
          </a:solidFill>
          <a:latin typeface="Times New Roman" panose="02020503050405090304"/>
          <a:ea typeface="微软雅黑"/>
          <a:cs typeface="Times New Roman" panose="02020503050405090304"/>
        </a:defRPr>
      </a:lvl5pPr>
      <a:lvl6pPr marL="2514600" indent="-228600" algn="l">
        <a:lnSpc>
          <a:spcPct val="90000"/>
        </a:lnSpc>
        <a:spcBef>
          <a:spcPts val="500"/>
        </a:spcBef>
        <a:buChar char="•"/>
        <a:defRPr sz="1800">
          <a:solidFill>
            <a:schemeClr val="tx1"/>
          </a:solidFill>
          <a:latin typeface="Times New Roman" panose="02020503050405090304"/>
          <a:ea typeface="微软雅黑"/>
          <a:cs typeface="Times New Roman" panose="02020503050405090304"/>
        </a:defRPr>
      </a:lvl6pPr>
      <a:lvl7pPr marL="2971800" indent="-228600" algn="l">
        <a:lnSpc>
          <a:spcPct val="90000"/>
        </a:lnSpc>
        <a:spcBef>
          <a:spcPts val="500"/>
        </a:spcBef>
        <a:buChar char="•"/>
        <a:defRPr sz="1800">
          <a:solidFill>
            <a:schemeClr val="tx1"/>
          </a:solidFill>
          <a:latin typeface="Times New Roman" panose="02020503050405090304"/>
          <a:ea typeface="微软雅黑"/>
          <a:cs typeface="Times New Roman" panose="02020503050405090304"/>
        </a:defRPr>
      </a:lvl7pPr>
      <a:lvl8pPr marL="3429000" indent="-228600" algn="l">
        <a:lnSpc>
          <a:spcPct val="90000"/>
        </a:lnSpc>
        <a:spcBef>
          <a:spcPts val="500"/>
        </a:spcBef>
        <a:buChar char="•"/>
        <a:defRPr sz="1800">
          <a:solidFill>
            <a:schemeClr val="tx1"/>
          </a:solidFill>
          <a:latin typeface="Times New Roman" panose="02020503050405090304"/>
          <a:ea typeface="微软雅黑"/>
          <a:cs typeface="Times New Roman" panose="02020503050405090304"/>
        </a:defRPr>
      </a:lvl8pPr>
      <a:lvl9pPr marL="3886200" indent="-228600" algn="l">
        <a:lnSpc>
          <a:spcPct val="90000"/>
        </a:lnSpc>
        <a:spcBef>
          <a:spcPts val="500"/>
        </a:spcBef>
        <a:buChar char="•"/>
        <a:defRPr sz="1800">
          <a:solidFill>
            <a:schemeClr val="tx1"/>
          </a:solidFill>
          <a:latin typeface="Times New Roman" panose="02020503050405090304"/>
          <a:ea typeface="微软雅黑"/>
          <a:cs typeface="Times New Roman" panose="02020503050405090304"/>
        </a:defRPr>
      </a:lvl9pPr>
    </p:bodyStyle>
    <p:otherStyle>
      <a:lvl1pPr marL="0" algn="l">
        <a:buNone/>
        <a:defRPr sz="1800">
          <a:solidFill>
            <a:schemeClr val="tx1"/>
          </a:solidFill>
          <a:latin typeface="Times New Roman" panose="02020503050405090304"/>
          <a:ea typeface="微软雅黑"/>
          <a:cs typeface="Times New Roman" panose="02020503050405090304"/>
        </a:defRPr>
      </a:lvl1pPr>
      <a:lvl2pPr marL="457200" algn="l">
        <a:buNone/>
        <a:defRPr sz="1800">
          <a:solidFill>
            <a:schemeClr val="tx1"/>
          </a:solidFill>
          <a:latin typeface="Times New Roman" panose="02020503050405090304"/>
          <a:ea typeface="微软雅黑"/>
          <a:cs typeface="Times New Roman" panose="02020503050405090304"/>
        </a:defRPr>
      </a:lvl2pPr>
      <a:lvl3pPr marL="914400" algn="l">
        <a:buNone/>
        <a:defRPr sz="1800">
          <a:solidFill>
            <a:schemeClr val="tx1"/>
          </a:solidFill>
          <a:latin typeface="Times New Roman" panose="02020503050405090304"/>
          <a:ea typeface="微软雅黑"/>
          <a:cs typeface="Times New Roman" panose="02020503050405090304"/>
        </a:defRPr>
      </a:lvl3pPr>
      <a:lvl4pPr marL="1371600" algn="l">
        <a:buNone/>
        <a:defRPr sz="1800">
          <a:solidFill>
            <a:schemeClr val="tx1"/>
          </a:solidFill>
          <a:latin typeface="Times New Roman" panose="02020503050405090304"/>
          <a:ea typeface="微软雅黑"/>
          <a:cs typeface="Times New Roman" panose="02020503050405090304"/>
        </a:defRPr>
      </a:lvl4pPr>
      <a:lvl5pPr marL="1828800" algn="l">
        <a:buNone/>
        <a:defRPr sz="1800">
          <a:solidFill>
            <a:schemeClr val="tx1"/>
          </a:solidFill>
          <a:latin typeface="Times New Roman" panose="02020503050405090304"/>
          <a:ea typeface="微软雅黑"/>
          <a:cs typeface="Times New Roman" panose="02020503050405090304"/>
        </a:defRPr>
      </a:lvl5pPr>
      <a:lvl6pPr marL="2286000" algn="l">
        <a:buNone/>
        <a:defRPr sz="1800">
          <a:solidFill>
            <a:schemeClr val="tx1"/>
          </a:solidFill>
          <a:latin typeface="Times New Roman" panose="02020503050405090304"/>
          <a:ea typeface="微软雅黑"/>
          <a:cs typeface="Times New Roman" panose="02020503050405090304"/>
        </a:defRPr>
      </a:lvl6pPr>
      <a:lvl7pPr marL="2743200" algn="l">
        <a:buNone/>
        <a:defRPr sz="1800">
          <a:solidFill>
            <a:schemeClr val="tx1"/>
          </a:solidFill>
          <a:latin typeface="Times New Roman" panose="02020503050405090304"/>
          <a:ea typeface="微软雅黑"/>
          <a:cs typeface="Times New Roman" panose="02020503050405090304"/>
        </a:defRPr>
      </a:lvl7pPr>
      <a:lvl8pPr marL="3200400" algn="l">
        <a:buNone/>
        <a:defRPr sz="1800">
          <a:solidFill>
            <a:schemeClr val="tx1"/>
          </a:solidFill>
          <a:latin typeface="Times New Roman" panose="02020503050405090304"/>
          <a:ea typeface="微软雅黑"/>
          <a:cs typeface="Times New Roman" panose="02020503050405090304"/>
        </a:defRPr>
      </a:lvl8pPr>
      <a:lvl9pPr marL="3657600" algn="l">
        <a:buNone/>
        <a:defRPr sz="1800">
          <a:solidFill>
            <a:schemeClr val="tx1"/>
          </a:solidFill>
          <a:latin typeface="Times New Roman" panose="02020503050405090304"/>
          <a:ea typeface="微软雅黑"/>
          <a:cs typeface="Times New Roman" panose="020205030504050903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62" r:id="rId1"/>
  </p:sldLayoutIdLst>
  <p:txStyles>
    <p:titleStyle>
      <a:lvl1pPr algn="l">
        <a:lnSpc>
          <a:spcPct val="90000"/>
        </a:lnSpc>
        <a:spcBef>
          <a:spcPts val="0"/>
        </a:spcBef>
        <a:buNone/>
        <a:defRPr sz="3520">
          <a:solidFill>
            <a:schemeClr val="tx1"/>
          </a:solidFill>
          <a:latin typeface="Times New Roman" panose="02020503050405090304"/>
          <a:ea typeface="微软雅黑"/>
          <a:cs typeface="Times New Roman" panose="02020503050405090304"/>
        </a:defRPr>
      </a:lvl1pPr>
    </p:titleStyle>
    <p:bodyStyle>
      <a:lvl1pPr marL="182880" indent="-182880" algn="l">
        <a:lnSpc>
          <a:spcPct val="90000"/>
        </a:lnSpc>
        <a:spcBef>
          <a:spcPts val="800"/>
        </a:spcBef>
        <a:buChar char="•"/>
        <a:defRPr sz="2240">
          <a:solidFill>
            <a:schemeClr val="tx1"/>
          </a:solidFill>
          <a:latin typeface="Times New Roman" panose="02020503050405090304"/>
          <a:ea typeface="微软雅黑"/>
          <a:cs typeface="Times New Roman" panose="02020503050405090304"/>
        </a:defRPr>
      </a:lvl1pPr>
      <a:lvl2pPr marL="548640" indent="-182880" algn="l">
        <a:lnSpc>
          <a:spcPct val="90000"/>
        </a:lnSpc>
        <a:spcBef>
          <a:spcPts val="400"/>
        </a:spcBef>
        <a:buChar char="•"/>
        <a:defRPr sz="1920">
          <a:solidFill>
            <a:schemeClr val="tx1"/>
          </a:solidFill>
          <a:latin typeface="Times New Roman" panose="02020503050405090304"/>
          <a:ea typeface="微软雅黑"/>
          <a:cs typeface="Times New Roman" panose="02020503050405090304"/>
        </a:defRPr>
      </a:lvl2pPr>
      <a:lvl3pPr marL="914400" indent="-182880" algn="l">
        <a:lnSpc>
          <a:spcPct val="90000"/>
        </a:lnSpc>
        <a:spcBef>
          <a:spcPts val="400"/>
        </a:spcBef>
        <a:buChar char="•"/>
        <a:defRPr sz="1600">
          <a:solidFill>
            <a:schemeClr val="tx1"/>
          </a:solidFill>
          <a:latin typeface="Times New Roman" panose="02020503050405090304"/>
          <a:ea typeface="微软雅黑"/>
          <a:cs typeface="Times New Roman" panose="02020503050405090304"/>
        </a:defRPr>
      </a:lvl3pPr>
      <a:lvl4pPr marL="1280160" indent="-182880" algn="l">
        <a:lnSpc>
          <a:spcPct val="90000"/>
        </a:lnSpc>
        <a:spcBef>
          <a:spcPts val="400"/>
        </a:spcBef>
        <a:buChar char="•"/>
        <a:defRPr sz="1440">
          <a:solidFill>
            <a:schemeClr val="tx1"/>
          </a:solidFill>
          <a:latin typeface="Times New Roman" panose="02020503050405090304"/>
          <a:ea typeface="微软雅黑"/>
          <a:cs typeface="Times New Roman" panose="02020503050405090304"/>
        </a:defRPr>
      </a:lvl4pPr>
      <a:lvl5pPr marL="1645920" indent="-182880" algn="l">
        <a:lnSpc>
          <a:spcPct val="90000"/>
        </a:lnSpc>
        <a:spcBef>
          <a:spcPts val="400"/>
        </a:spcBef>
        <a:buChar char="•"/>
        <a:defRPr sz="1440">
          <a:solidFill>
            <a:schemeClr val="tx1"/>
          </a:solidFill>
          <a:latin typeface="Times New Roman" panose="02020503050405090304"/>
          <a:ea typeface="微软雅黑"/>
          <a:cs typeface="Times New Roman" panose="02020503050405090304"/>
        </a:defRPr>
      </a:lvl5pPr>
      <a:lvl6pPr marL="2011680" indent="-182880" algn="l">
        <a:lnSpc>
          <a:spcPct val="90000"/>
        </a:lnSpc>
        <a:spcBef>
          <a:spcPts val="400"/>
        </a:spcBef>
        <a:buChar char="•"/>
        <a:defRPr sz="1440">
          <a:solidFill>
            <a:schemeClr val="tx1"/>
          </a:solidFill>
          <a:latin typeface="Times New Roman" panose="02020503050405090304"/>
          <a:ea typeface="微软雅黑"/>
          <a:cs typeface="Times New Roman" panose="02020503050405090304"/>
        </a:defRPr>
      </a:lvl6pPr>
      <a:lvl7pPr marL="2377440" indent="-182880" algn="l">
        <a:lnSpc>
          <a:spcPct val="90000"/>
        </a:lnSpc>
        <a:spcBef>
          <a:spcPts val="400"/>
        </a:spcBef>
        <a:buChar char="•"/>
        <a:defRPr sz="1440">
          <a:solidFill>
            <a:schemeClr val="tx1"/>
          </a:solidFill>
          <a:latin typeface="Times New Roman" panose="02020503050405090304"/>
          <a:ea typeface="微软雅黑"/>
          <a:cs typeface="Times New Roman" panose="02020503050405090304"/>
        </a:defRPr>
      </a:lvl7pPr>
      <a:lvl8pPr marL="2743200" indent="-182880" algn="l">
        <a:lnSpc>
          <a:spcPct val="90000"/>
        </a:lnSpc>
        <a:spcBef>
          <a:spcPts val="400"/>
        </a:spcBef>
        <a:buChar char="•"/>
        <a:defRPr sz="1440">
          <a:solidFill>
            <a:schemeClr val="tx1"/>
          </a:solidFill>
          <a:latin typeface="Times New Roman" panose="02020503050405090304"/>
          <a:ea typeface="微软雅黑"/>
          <a:cs typeface="Times New Roman" panose="02020503050405090304"/>
        </a:defRPr>
      </a:lvl8pPr>
      <a:lvl9pPr marL="3108960" indent="-182880" algn="l">
        <a:lnSpc>
          <a:spcPct val="90000"/>
        </a:lnSpc>
        <a:spcBef>
          <a:spcPts val="400"/>
        </a:spcBef>
        <a:buChar char="•"/>
        <a:defRPr sz="1440">
          <a:solidFill>
            <a:schemeClr val="tx1"/>
          </a:solidFill>
          <a:latin typeface="Times New Roman" panose="02020503050405090304"/>
          <a:ea typeface="微软雅黑"/>
          <a:cs typeface="Times New Roman" panose="02020503050405090304"/>
        </a:defRPr>
      </a:lvl9pPr>
    </p:bodyStyle>
    <p:otherStyle>
      <a:lvl1pPr marL="0" algn="l">
        <a:buNone/>
        <a:defRPr sz="1440">
          <a:solidFill>
            <a:schemeClr val="tx1"/>
          </a:solidFill>
          <a:latin typeface="Times New Roman" panose="02020503050405090304"/>
          <a:ea typeface="微软雅黑"/>
          <a:cs typeface="Times New Roman" panose="02020503050405090304"/>
        </a:defRPr>
      </a:lvl1pPr>
      <a:lvl2pPr marL="365760" algn="l">
        <a:buNone/>
        <a:defRPr sz="1440">
          <a:solidFill>
            <a:schemeClr val="tx1"/>
          </a:solidFill>
          <a:latin typeface="Times New Roman" panose="02020503050405090304"/>
          <a:ea typeface="微软雅黑"/>
          <a:cs typeface="Times New Roman" panose="02020503050405090304"/>
        </a:defRPr>
      </a:lvl2pPr>
      <a:lvl3pPr marL="731520" algn="l">
        <a:buNone/>
        <a:defRPr sz="1440">
          <a:solidFill>
            <a:schemeClr val="tx1"/>
          </a:solidFill>
          <a:latin typeface="Times New Roman" panose="02020503050405090304"/>
          <a:ea typeface="微软雅黑"/>
          <a:cs typeface="Times New Roman" panose="02020503050405090304"/>
        </a:defRPr>
      </a:lvl3pPr>
      <a:lvl4pPr marL="1097280" algn="l">
        <a:buNone/>
        <a:defRPr sz="1440">
          <a:solidFill>
            <a:schemeClr val="tx1"/>
          </a:solidFill>
          <a:latin typeface="Times New Roman" panose="02020503050405090304"/>
          <a:ea typeface="微软雅黑"/>
          <a:cs typeface="Times New Roman" panose="02020503050405090304"/>
        </a:defRPr>
      </a:lvl4pPr>
      <a:lvl5pPr marL="1463040" algn="l">
        <a:buNone/>
        <a:defRPr sz="1440">
          <a:solidFill>
            <a:schemeClr val="tx1"/>
          </a:solidFill>
          <a:latin typeface="Times New Roman" panose="02020503050405090304"/>
          <a:ea typeface="微软雅黑"/>
          <a:cs typeface="Times New Roman" panose="02020503050405090304"/>
        </a:defRPr>
      </a:lvl5pPr>
      <a:lvl6pPr marL="1828800" algn="l">
        <a:buNone/>
        <a:defRPr sz="1440">
          <a:solidFill>
            <a:schemeClr val="tx1"/>
          </a:solidFill>
          <a:latin typeface="Times New Roman" panose="02020503050405090304"/>
          <a:ea typeface="微软雅黑"/>
          <a:cs typeface="Times New Roman" panose="02020503050405090304"/>
        </a:defRPr>
      </a:lvl6pPr>
      <a:lvl7pPr marL="2194560" algn="l">
        <a:buNone/>
        <a:defRPr sz="1440">
          <a:solidFill>
            <a:schemeClr val="tx1"/>
          </a:solidFill>
          <a:latin typeface="Times New Roman" panose="02020503050405090304"/>
          <a:ea typeface="微软雅黑"/>
          <a:cs typeface="Times New Roman" panose="02020503050405090304"/>
        </a:defRPr>
      </a:lvl7pPr>
      <a:lvl8pPr marL="2560320" algn="l">
        <a:buNone/>
        <a:defRPr sz="1440">
          <a:solidFill>
            <a:schemeClr val="tx1"/>
          </a:solidFill>
          <a:latin typeface="Times New Roman" panose="02020503050405090304"/>
          <a:ea typeface="微软雅黑"/>
          <a:cs typeface="Times New Roman" panose="02020503050405090304"/>
        </a:defRPr>
      </a:lvl8pPr>
      <a:lvl9pPr marL="2926080" algn="l">
        <a:buNone/>
        <a:defRPr sz="1440">
          <a:solidFill>
            <a:schemeClr val="tx1"/>
          </a:solidFill>
          <a:latin typeface="Times New Roman" panose="02020503050405090304"/>
          <a:ea typeface="微软雅黑"/>
          <a:cs typeface="Times New Roman" panose="020205030504050903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64" r:id="rId1"/>
  </p:sldLayoutIdLst>
  <p:txStyles>
    <p:titleStyle>
      <a:lvl1pPr algn="l">
        <a:lnSpc>
          <a:spcPct val="90000"/>
        </a:lnSpc>
        <a:spcBef>
          <a:spcPts val="0"/>
        </a:spcBef>
        <a:buNone/>
        <a:defRPr sz="3520">
          <a:solidFill>
            <a:schemeClr val="tx1"/>
          </a:solidFill>
          <a:latin typeface="+mj-lt"/>
          <a:ea typeface="+mj-lt"/>
          <a:cs typeface="+mj-lt"/>
        </a:defRPr>
      </a:lvl1pPr>
    </p:titleStyle>
    <p:bodyStyle>
      <a:lvl1pPr marL="182880" indent="-182880" algn="l">
        <a:lnSpc>
          <a:spcPct val="90000"/>
        </a:lnSpc>
        <a:spcBef>
          <a:spcPts val="800"/>
        </a:spcBef>
        <a:buChar char="•"/>
        <a:defRPr sz="2240">
          <a:solidFill>
            <a:schemeClr val="tx1"/>
          </a:solidFill>
          <a:latin typeface="+mn-lt"/>
          <a:ea typeface="+mn-lt"/>
          <a:cs typeface="+mn-lt"/>
        </a:defRPr>
      </a:lvl1pPr>
      <a:lvl2pPr marL="548640" indent="-182880" algn="l">
        <a:lnSpc>
          <a:spcPct val="90000"/>
        </a:lnSpc>
        <a:spcBef>
          <a:spcPts val="400"/>
        </a:spcBef>
        <a:buChar char="•"/>
        <a:defRPr sz="1920">
          <a:solidFill>
            <a:schemeClr val="tx1"/>
          </a:solidFill>
          <a:latin typeface="+mn-lt"/>
          <a:ea typeface="+mn-lt"/>
          <a:cs typeface="+mn-lt"/>
        </a:defRPr>
      </a:lvl2pPr>
      <a:lvl3pPr marL="914400" indent="-182880" algn="l">
        <a:lnSpc>
          <a:spcPct val="90000"/>
        </a:lnSpc>
        <a:spcBef>
          <a:spcPts val="400"/>
        </a:spcBef>
        <a:buChar char="•"/>
        <a:defRPr sz="1600">
          <a:solidFill>
            <a:schemeClr val="tx1"/>
          </a:solidFill>
          <a:latin typeface="+mn-lt"/>
          <a:ea typeface="+mn-lt"/>
          <a:cs typeface="+mn-lt"/>
        </a:defRPr>
      </a:lvl3pPr>
      <a:lvl4pPr marL="1280160" indent="-182880" algn="l">
        <a:lnSpc>
          <a:spcPct val="90000"/>
        </a:lnSpc>
        <a:spcBef>
          <a:spcPts val="400"/>
        </a:spcBef>
        <a:buChar char="•"/>
        <a:defRPr sz="1440">
          <a:solidFill>
            <a:schemeClr val="tx1"/>
          </a:solidFill>
          <a:latin typeface="+mn-lt"/>
          <a:ea typeface="+mn-lt"/>
          <a:cs typeface="+mn-lt"/>
        </a:defRPr>
      </a:lvl4pPr>
      <a:lvl5pPr marL="1645920" indent="-182880" algn="l">
        <a:lnSpc>
          <a:spcPct val="90000"/>
        </a:lnSpc>
        <a:spcBef>
          <a:spcPts val="400"/>
        </a:spcBef>
        <a:buChar char="•"/>
        <a:defRPr sz="1440">
          <a:solidFill>
            <a:schemeClr val="tx1"/>
          </a:solidFill>
          <a:latin typeface="+mn-lt"/>
          <a:ea typeface="+mn-lt"/>
          <a:cs typeface="+mn-lt"/>
        </a:defRPr>
      </a:lvl5pPr>
      <a:lvl6pPr marL="2011680" indent="-182880" algn="l">
        <a:lnSpc>
          <a:spcPct val="90000"/>
        </a:lnSpc>
        <a:spcBef>
          <a:spcPts val="400"/>
        </a:spcBef>
        <a:buChar char="•"/>
        <a:defRPr sz="1440">
          <a:solidFill>
            <a:schemeClr val="tx1"/>
          </a:solidFill>
          <a:latin typeface="+mn-lt"/>
          <a:ea typeface="+mn-lt"/>
          <a:cs typeface="+mn-lt"/>
        </a:defRPr>
      </a:lvl6pPr>
      <a:lvl7pPr marL="2377440" indent="-182880" algn="l">
        <a:lnSpc>
          <a:spcPct val="90000"/>
        </a:lnSpc>
        <a:spcBef>
          <a:spcPts val="400"/>
        </a:spcBef>
        <a:buChar char="•"/>
        <a:defRPr sz="1440">
          <a:solidFill>
            <a:schemeClr val="tx1"/>
          </a:solidFill>
          <a:latin typeface="+mn-lt"/>
          <a:ea typeface="+mn-lt"/>
          <a:cs typeface="+mn-lt"/>
        </a:defRPr>
      </a:lvl7pPr>
      <a:lvl8pPr marL="2743200" indent="-182880" algn="l">
        <a:lnSpc>
          <a:spcPct val="90000"/>
        </a:lnSpc>
        <a:spcBef>
          <a:spcPts val="400"/>
        </a:spcBef>
        <a:buChar char="•"/>
        <a:defRPr sz="1440">
          <a:solidFill>
            <a:schemeClr val="tx1"/>
          </a:solidFill>
          <a:latin typeface="+mn-lt"/>
          <a:ea typeface="+mn-lt"/>
          <a:cs typeface="+mn-lt"/>
        </a:defRPr>
      </a:lvl8pPr>
      <a:lvl9pPr marL="3108960" indent="-182880" algn="l">
        <a:lnSpc>
          <a:spcPct val="90000"/>
        </a:lnSpc>
        <a:spcBef>
          <a:spcPts val="400"/>
        </a:spcBef>
        <a:buChar char="•"/>
        <a:defRPr sz="1440">
          <a:solidFill>
            <a:schemeClr val="tx1"/>
          </a:solidFill>
          <a:latin typeface="+mn-lt"/>
          <a:ea typeface="+mn-lt"/>
          <a:cs typeface="+mn-lt"/>
        </a:defRPr>
      </a:lvl9pPr>
    </p:bodyStyle>
    <p:otherStyle>
      <a:lvl1pPr marL="0" algn="l">
        <a:buNone/>
        <a:defRPr sz="1440">
          <a:solidFill>
            <a:schemeClr val="tx1"/>
          </a:solidFill>
          <a:latin typeface="+mn-lt"/>
          <a:ea typeface="+mn-lt"/>
          <a:cs typeface="+mn-lt"/>
        </a:defRPr>
      </a:lvl1pPr>
      <a:lvl2pPr marL="365760" algn="l">
        <a:buNone/>
        <a:defRPr sz="1440">
          <a:solidFill>
            <a:schemeClr val="tx1"/>
          </a:solidFill>
          <a:latin typeface="+mn-lt"/>
          <a:ea typeface="+mn-lt"/>
          <a:cs typeface="+mn-lt"/>
        </a:defRPr>
      </a:lvl2pPr>
      <a:lvl3pPr marL="731520" algn="l">
        <a:buNone/>
        <a:defRPr sz="1440">
          <a:solidFill>
            <a:schemeClr val="tx1"/>
          </a:solidFill>
          <a:latin typeface="+mn-lt"/>
          <a:ea typeface="+mn-lt"/>
          <a:cs typeface="+mn-lt"/>
        </a:defRPr>
      </a:lvl3pPr>
      <a:lvl4pPr marL="1097280" algn="l">
        <a:buNone/>
        <a:defRPr sz="1440">
          <a:solidFill>
            <a:schemeClr val="tx1"/>
          </a:solidFill>
          <a:latin typeface="+mn-lt"/>
          <a:ea typeface="+mn-lt"/>
          <a:cs typeface="+mn-lt"/>
        </a:defRPr>
      </a:lvl4pPr>
      <a:lvl5pPr marL="1463040" algn="l">
        <a:buNone/>
        <a:defRPr sz="1440">
          <a:solidFill>
            <a:schemeClr val="tx1"/>
          </a:solidFill>
          <a:latin typeface="+mn-lt"/>
          <a:ea typeface="+mn-lt"/>
          <a:cs typeface="+mn-lt"/>
        </a:defRPr>
      </a:lvl5pPr>
      <a:lvl6pPr marL="1828800" algn="l">
        <a:buNone/>
        <a:defRPr sz="1440">
          <a:solidFill>
            <a:schemeClr val="tx1"/>
          </a:solidFill>
          <a:latin typeface="+mn-lt"/>
          <a:ea typeface="+mn-lt"/>
          <a:cs typeface="+mn-lt"/>
        </a:defRPr>
      </a:lvl6pPr>
      <a:lvl7pPr marL="2194560" algn="l">
        <a:buNone/>
        <a:defRPr sz="1440">
          <a:solidFill>
            <a:schemeClr val="tx1"/>
          </a:solidFill>
          <a:latin typeface="+mn-lt"/>
          <a:ea typeface="+mn-lt"/>
          <a:cs typeface="+mn-lt"/>
        </a:defRPr>
      </a:lvl7pPr>
      <a:lvl8pPr marL="2560320" algn="l">
        <a:buNone/>
        <a:defRPr sz="1440">
          <a:solidFill>
            <a:schemeClr val="tx1"/>
          </a:solidFill>
          <a:latin typeface="+mn-lt"/>
          <a:ea typeface="+mn-lt"/>
          <a:cs typeface="+mn-lt"/>
        </a:defRPr>
      </a:lvl8pPr>
      <a:lvl9pPr marL="2926080" algn="l">
        <a:buNone/>
        <a:defRPr sz="1440">
          <a:solidFill>
            <a:schemeClr val="tx1"/>
          </a:solidFill>
          <a:latin typeface="+mn-lt"/>
          <a:ea typeface="+mn-lt"/>
          <a:cs typeface="+mn-lt"/>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latin typeface="Times New Roman" panose="02020503050405090304"/>
                <a:ea typeface="Times New Roman" panose="02020503050405090304"/>
                <a:cs typeface="Times New Roman" panose="02020503050405090304"/>
              </a:defRPr>
            </a:lvl1pPr>
          </a:lstStyle>
          <a:p/>
        </p:txBody>
      </p:sp>
      <p:sp>
        <p:nvSpPr>
          <p:cNvPr id="5" name="页脚占位符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latin typeface="Times New Roman" panose="02020503050405090304"/>
                <a:ea typeface="Times New Roman" panose="02020503050405090304"/>
                <a:cs typeface="Times New Roman" panose="02020503050405090304"/>
              </a:defRPr>
            </a:lvl1pPr>
          </a:lstStyle>
          <a:p/>
        </p:txBody>
      </p:sp>
      <p:sp>
        <p:nvSpPr>
          <p:cNvPr id="6" name="灯片编号占位符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latin typeface="Times New Roman" panose="02020503050405090304"/>
                <a:ea typeface="Times New Roman" panose="02020503050405090304"/>
                <a:cs typeface="Times New Roman" panose="02020503050405090304"/>
              </a:defRPr>
            </a:lvl1pPr>
          </a:lstStyle>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Lst>
  <p:txStyles>
    <p:titleStyle>
      <a:lvl1pPr algn="l">
        <a:lnSpc>
          <a:spcPct val="90000"/>
        </a:lnSpc>
        <a:buNone/>
        <a:defRPr sz="4400">
          <a:solidFill>
            <a:schemeClr val="tx1"/>
          </a:solidFill>
          <a:latin typeface="Times New Roman" panose="02020503050405090304"/>
          <a:ea typeface="Times New Roman" panose="02020503050405090304"/>
          <a:cs typeface="Times New Roman" panose="02020503050405090304"/>
        </a:defRPr>
      </a:lvl1pPr>
    </p:titleStyle>
    <p:bodyStyle>
      <a:lvl1pPr marL="228600" indent="-228600" algn="l">
        <a:lnSpc>
          <a:spcPct val="90000"/>
        </a:lnSpc>
        <a:spcBef>
          <a:spcPts val="1000"/>
        </a:spcBef>
        <a:buChar char="•"/>
        <a:defRPr sz="2800">
          <a:solidFill>
            <a:schemeClr val="tx1"/>
          </a:solidFill>
          <a:latin typeface="Times New Roman" panose="02020503050405090304"/>
          <a:ea typeface="Times New Roman" panose="02020503050405090304"/>
          <a:cs typeface="Times New Roman" panose="02020503050405090304"/>
        </a:defRPr>
      </a:lvl1pPr>
      <a:lvl2pPr marL="685800" indent="-228600" algn="l">
        <a:lnSpc>
          <a:spcPct val="90000"/>
        </a:lnSpc>
        <a:spcBef>
          <a:spcPts val="500"/>
        </a:spcBef>
        <a:buChar char="•"/>
        <a:defRPr sz="2400">
          <a:solidFill>
            <a:schemeClr val="tx1"/>
          </a:solidFill>
          <a:latin typeface="Times New Roman" panose="02020503050405090304"/>
          <a:ea typeface="Times New Roman" panose="02020503050405090304"/>
          <a:cs typeface="Times New Roman" panose="02020503050405090304"/>
        </a:defRPr>
      </a:lvl2pPr>
      <a:lvl3pPr marL="1143000" indent="-228600" algn="l">
        <a:lnSpc>
          <a:spcPct val="90000"/>
        </a:lnSpc>
        <a:spcBef>
          <a:spcPts val="500"/>
        </a:spcBef>
        <a:buChar char="•"/>
        <a:defRPr sz="2000">
          <a:solidFill>
            <a:schemeClr val="tx1"/>
          </a:solidFill>
          <a:latin typeface="Times New Roman" panose="02020503050405090304"/>
          <a:ea typeface="Times New Roman" panose="02020503050405090304"/>
          <a:cs typeface="Times New Roman" panose="02020503050405090304"/>
        </a:defRPr>
      </a:lvl3pPr>
      <a:lvl4pPr marL="1600200" indent="-228600" algn="l">
        <a:lnSpc>
          <a:spcPct val="90000"/>
        </a:lnSpc>
        <a:spcBef>
          <a:spcPts val="500"/>
        </a:spcBef>
        <a:buChar char="•"/>
        <a:defRPr sz="1800">
          <a:solidFill>
            <a:schemeClr val="tx1"/>
          </a:solidFill>
          <a:latin typeface="Times New Roman" panose="02020503050405090304"/>
          <a:ea typeface="Times New Roman" panose="02020503050405090304"/>
          <a:cs typeface="Times New Roman" panose="02020503050405090304"/>
        </a:defRPr>
      </a:lvl4pPr>
      <a:lvl5pPr marL="2057400" indent="-228600" algn="l">
        <a:lnSpc>
          <a:spcPct val="90000"/>
        </a:lnSpc>
        <a:spcBef>
          <a:spcPts val="500"/>
        </a:spcBef>
        <a:buChar char="•"/>
        <a:defRPr sz="1800">
          <a:solidFill>
            <a:schemeClr val="tx1"/>
          </a:solidFill>
          <a:latin typeface="Times New Roman" panose="02020503050405090304"/>
          <a:ea typeface="Times New Roman" panose="02020503050405090304"/>
          <a:cs typeface="Times New Roman" panose="02020503050405090304"/>
        </a:defRPr>
      </a:lvl5pPr>
      <a:lvl6pPr marL="2514600" indent="-228600" algn="l">
        <a:lnSpc>
          <a:spcPct val="90000"/>
        </a:lnSpc>
        <a:spcBef>
          <a:spcPts val="500"/>
        </a:spcBef>
        <a:buChar char="•"/>
        <a:defRPr sz="1800">
          <a:solidFill>
            <a:schemeClr val="tx1"/>
          </a:solidFill>
          <a:latin typeface="Times New Roman" panose="02020503050405090304"/>
          <a:ea typeface="Times New Roman" panose="02020503050405090304"/>
          <a:cs typeface="Times New Roman" panose="02020503050405090304"/>
        </a:defRPr>
      </a:lvl6pPr>
      <a:lvl7pPr marL="2971800" indent="-228600" algn="l">
        <a:lnSpc>
          <a:spcPct val="90000"/>
        </a:lnSpc>
        <a:spcBef>
          <a:spcPts val="500"/>
        </a:spcBef>
        <a:buChar char="•"/>
        <a:defRPr sz="1800">
          <a:solidFill>
            <a:schemeClr val="tx1"/>
          </a:solidFill>
          <a:latin typeface="Times New Roman" panose="02020503050405090304"/>
          <a:ea typeface="Times New Roman" panose="02020503050405090304"/>
          <a:cs typeface="Times New Roman" panose="02020503050405090304"/>
        </a:defRPr>
      </a:lvl7pPr>
      <a:lvl8pPr marL="3429000" indent="-228600" algn="l">
        <a:lnSpc>
          <a:spcPct val="90000"/>
        </a:lnSpc>
        <a:spcBef>
          <a:spcPts val="500"/>
        </a:spcBef>
        <a:buChar char="•"/>
        <a:defRPr sz="1800">
          <a:solidFill>
            <a:schemeClr val="tx1"/>
          </a:solidFill>
          <a:latin typeface="Times New Roman" panose="02020503050405090304"/>
          <a:ea typeface="Times New Roman" panose="02020503050405090304"/>
          <a:cs typeface="Times New Roman" panose="02020503050405090304"/>
        </a:defRPr>
      </a:lvl8pPr>
      <a:lvl9pPr marL="3886200" indent="-228600" algn="l">
        <a:lnSpc>
          <a:spcPct val="90000"/>
        </a:lnSpc>
        <a:spcBef>
          <a:spcPts val="500"/>
        </a:spcBef>
        <a:buChar char="•"/>
        <a:defRPr sz="1800">
          <a:solidFill>
            <a:schemeClr val="tx1"/>
          </a:solidFill>
          <a:latin typeface="Times New Roman" panose="02020503050405090304"/>
          <a:ea typeface="Times New Roman" panose="02020503050405090304"/>
          <a:cs typeface="Times New Roman" panose="02020503050405090304"/>
        </a:defRPr>
      </a:lvl9pPr>
    </p:bodyStyle>
    <p:otherStyle>
      <a:lvl1pPr marL="0" algn="l">
        <a:buNone/>
        <a:defRPr sz="1800">
          <a:solidFill>
            <a:schemeClr val="tx1"/>
          </a:solidFill>
          <a:latin typeface="Times New Roman" panose="02020503050405090304"/>
          <a:ea typeface="Times New Roman" panose="02020503050405090304"/>
          <a:cs typeface="Times New Roman" panose="02020503050405090304"/>
        </a:defRPr>
      </a:lvl1pPr>
      <a:lvl2pPr marL="457200" algn="l">
        <a:buNone/>
        <a:defRPr sz="1800">
          <a:solidFill>
            <a:schemeClr val="tx1"/>
          </a:solidFill>
          <a:latin typeface="Times New Roman" panose="02020503050405090304"/>
          <a:ea typeface="Times New Roman" panose="02020503050405090304"/>
          <a:cs typeface="Times New Roman" panose="02020503050405090304"/>
        </a:defRPr>
      </a:lvl2pPr>
      <a:lvl3pPr marL="914400" algn="l">
        <a:buNone/>
        <a:defRPr sz="1800">
          <a:solidFill>
            <a:schemeClr val="tx1"/>
          </a:solidFill>
          <a:latin typeface="Times New Roman" panose="02020503050405090304"/>
          <a:ea typeface="Times New Roman" panose="02020503050405090304"/>
          <a:cs typeface="Times New Roman" panose="02020503050405090304"/>
        </a:defRPr>
      </a:lvl3pPr>
      <a:lvl4pPr marL="1371600" algn="l">
        <a:buNone/>
        <a:defRPr sz="1800">
          <a:solidFill>
            <a:schemeClr val="tx1"/>
          </a:solidFill>
          <a:latin typeface="Times New Roman" panose="02020503050405090304"/>
          <a:ea typeface="Times New Roman" panose="02020503050405090304"/>
          <a:cs typeface="Times New Roman" panose="02020503050405090304"/>
        </a:defRPr>
      </a:lvl4pPr>
      <a:lvl5pPr marL="1828800" algn="l">
        <a:buNone/>
        <a:defRPr sz="1800">
          <a:solidFill>
            <a:schemeClr val="tx1"/>
          </a:solidFill>
          <a:latin typeface="Times New Roman" panose="02020503050405090304"/>
          <a:ea typeface="Times New Roman" panose="02020503050405090304"/>
          <a:cs typeface="Times New Roman" panose="02020503050405090304"/>
        </a:defRPr>
      </a:lvl5pPr>
      <a:lvl6pPr marL="2286000" algn="l">
        <a:buNone/>
        <a:defRPr sz="1800">
          <a:solidFill>
            <a:schemeClr val="tx1"/>
          </a:solidFill>
          <a:latin typeface="Times New Roman" panose="02020503050405090304"/>
          <a:ea typeface="Times New Roman" panose="02020503050405090304"/>
          <a:cs typeface="Times New Roman" panose="02020503050405090304"/>
        </a:defRPr>
      </a:lvl6pPr>
      <a:lvl7pPr marL="2743200" algn="l">
        <a:buNone/>
        <a:defRPr sz="1800">
          <a:solidFill>
            <a:schemeClr val="tx1"/>
          </a:solidFill>
          <a:latin typeface="Times New Roman" panose="02020503050405090304"/>
          <a:ea typeface="Times New Roman" panose="02020503050405090304"/>
          <a:cs typeface="Times New Roman" panose="02020503050405090304"/>
        </a:defRPr>
      </a:lvl7pPr>
      <a:lvl8pPr marL="3200400" algn="l">
        <a:buNone/>
        <a:defRPr sz="1800">
          <a:solidFill>
            <a:schemeClr val="tx1"/>
          </a:solidFill>
          <a:latin typeface="Times New Roman" panose="02020503050405090304"/>
          <a:ea typeface="Times New Roman" panose="02020503050405090304"/>
          <a:cs typeface="Times New Roman" panose="02020503050405090304"/>
        </a:defRPr>
      </a:lvl8pPr>
      <a:lvl9pPr marL="3657600" algn="l">
        <a:buNone/>
        <a:defRPr sz="1800">
          <a:solidFill>
            <a:schemeClr val="tx1"/>
          </a:solidFill>
          <a:latin typeface="Times New Roman" panose="02020503050405090304"/>
          <a:ea typeface="Times New Roman" panose="02020503050405090304"/>
          <a:cs typeface="Times New Roman" panose="020205030504050903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hyperlink" Target="https://gitcode.com/cann/cann-learning-hub/tree/master/tutorials" TargetMode="Externa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hyperlink" Target="https://gitcode.com/cann/cann-learning-hub/tree/master/tutorials/sft_training_pipeline/01_sft_and_wordle" TargetMode="Externa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3.xml"/><Relationship Id="rId2" Type="http://schemas.openxmlformats.org/officeDocument/2006/relationships/image" Target="../media/image8.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4.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4.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hyperlink" Target="https://gitcode.com/cann/cann-learning-hub/tree/master/tutorials/sft_training_pipeline/02_torchtitan_framework" TargetMode="Externa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6.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hyperlink" Target="https://gitcode.com/cann/cann-learning-hub/tree/master/tutorials/sft_training_pipeline/03_sft_training" TargetMode="Externa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3.xml"/><Relationship Id="rId2" Type="http://schemas.openxmlformats.org/officeDocument/2006/relationships/image" Target="../media/image11.pn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Type="http://schemas.openxmlformats.org/officeDocument/2006/relationships/slideLayout" Target="../slideLayouts/slideLayout13.xml" Id="R7926def3e55348c9"/><Relationship Type="http://schemas.openxmlformats.org/officeDocument/2006/relationships/image" Target="../media/image2.png" Id="R662863a3d1734bce"/><Relationship Type="http://schemas.openxmlformats.org/officeDocument/2006/relationships/image" Target="../media/image12.png" Id="R4fa68431620e4f09"/><Relationship Type="http://schemas.openxmlformats.org/officeDocument/2006/relationships/notesSlide" Target="../notesSlides/notesSlide24.xml" Id="R6ce7706e78af4071"/></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hyperlink" Target="https://gitcode.com/cann/cann-learning-hub/tree/master/tutorials/sft_training_pipeline/04_fused_operators" TargetMode="External"/><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1.xml"/><Relationship Id="rId4" Type="http://schemas.openxmlformats.org/officeDocument/2006/relationships/image" Target="../media/image14.png"/><Relationship Id="rId3" Type="http://schemas.openxmlformats.org/officeDocument/2006/relationships/image" Target="../media/image13.jpeg"/><Relationship Id="rId2" Type="http://schemas.openxmlformats.org/officeDocument/2006/relationships/hyperlink" Target="https://gitcode.com/cann/cann-learning-hub/tree/master/tutorials" TargetMode="External"/><Relationship Id="rId1" Type="http://schemas.openxmlformats.org/officeDocument/2006/relationships/image" Target="../media/image7.png"/></Relationships>
</file>

<file path=ppt/slides/_rels/slide33.xml.rels><?xml version='1.0' encoding='UTF-8' standalone='yes'?>
<Relationships xmlns="http://schemas.openxmlformats.org/package/2006/relationships"><Relationship Type="http://schemas.openxmlformats.org/officeDocument/2006/relationships/slideLayout" Target="../slideLayouts/slideLayout13.xml" Id="Rb17a73962e4a40bf"/><Relationship Type="http://schemas.openxmlformats.org/officeDocument/2006/relationships/image" Target="../media/image2.png" Id="R70e1c4609c714fa5"/><Relationship Type="http://schemas.openxmlformats.org/officeDocument/2006/relationships/notesSlide" Target="../notesSlides/notesSlide33.xml" Id="R755994e1b37847e6"/></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16" name="文本框 15"/>
          <p:cNvSpPr>
            <a:spLocks noGrp="1"/>
          </p:cNvSpPr>
          <p:nvPr/>
        </p:nvSpPr>
        <p:spPr>
          <a:xfrm>
            <a:off x="620201" y="6130454"/>
            <a:ext cx="8763000" cy="246221"/>
          </a:xfrm>
          <a:prstGeom prst="rect">
            <a:avLst/>
          </a:prstGeom>
          <a:noFill/>
        </p:spPr>
        <p:txBody>
          <a:bodyPr wrap="none">
            <a:spAutoFit/>
          </a:bodyPr>
          <a:lstStyle/>
          <a:p>
            <a:r>
              <a:rPr sz="1000">
                <a:solidFill>
                  <a:schemeClr val="bg1">
                    <a:lumMod val="50000"/>
                  </a:schemeClr>
                </a:solidFill>
                <a:latin typeface="Times New Roman" panose="02020503050405090304"/>
                <a:ea typeface="微软雅黑"/>
                <a:cs typeface="Times New Roman" panose="02020503050405090304"/>
                <a:hlinkClick r:id="rId2"/>
              </a:rPr>
              <a:t>https://gitcode.com/cann/cann-learning-hub/tree/master/tutorials</a:t>
            </a:r>
            <a:endParaRPr sz="1000">
              <a:solidFill>
                <a:schemeClr val="bg1">
                  <a:lumMod val="50000"/>
                </a:schemeClr>
              </a:solidFill>
              <a:latin typeface="Times New Roman" panose="02020503050405090304"/>
              <a:ea typeface="微软雅黑"/>
              <a:cs typeface="Times New Roman" panose="02020503050405090304"/>
            </a:endParaRPr>
          </a:p>
        </p:txBody>
      </p:sp>
      <p:sp>
        <p:nvSpPr>
          <p:cNvPr id="2" name="文本框 1"/>
          <p:cNvSpPr>
            <a:spLocks noGrp="1"/>
          </p:cNvSpPr>
          <p:nvPr/>
        </p:nvSpPr>
        <p:spPr>
          <a:xfrm>
            <a:off x="1604695" y="1399429"/>
            <a:ext cx="5211445" cy="3353435"/>
          </a:xfrm>
          <a:prstGeom prst="rect">
            <a:avLst/>
          </a:prstGeom>
          <a:noFill/>
        </p:spPr>
        <p:txBody>
          <a:bodyPr wrap="none">
            <a:spAutoFit/>
          </a:bodyPr>
          <a:lstStyle/>
          <a:p>
            <a:pPr algn="ctr"/>
            <a:r>
              <a:rPr sz="4000" b="1">
                <a:latin typeface="Times New Roman" panose="02020503050405090304"/>
                <a:ea typeface="微软雅黑"/>
                <a:cs typeface="Times New Roman" panose="02020503050405090304"/>
              </a:rPr>
              <a:t>CANN大模型训练系列</a:t>
            </a:r>
            <a:endParaRPr sz="4000" b="1">
              <a:latin typeface="Times New Roman" panose="02020503050405090304"/>
              <a:ea typeface="微软雅黑"/>
              <a:cs typeface="Times New Roman" panose="02020503050405090304"/>
            </a:endParaRPr>
          </a:p>
          <a:p>
            <a:pPr algn="ctr"/>
            <a:r>
              <a:rPr sz="4000" b="1">
                <a:latin typeface="Times New Roman" panose="02020503050405090304"/>
                <a:ea typeface="微软雅黑"/>
                <a:cs typeface="Times New Roman" panose="02020503050405090304"/>
              </a:rPr>
              <a:t>SFT监督微调 </a:t>
            </a:r>
            <a:endParaRPr sz="4000" b="1">
              <a:latin typeface="Times New Roman" panose="02020503050405090304"/>
              <a:ea typeface="微软雅黑"/>
              <a:cs typeface="Times New Roman" panose="02020503050405090304"/>
            </a:endParaRPr>
          </a:p>
          <a:p>
            <a:pPr algn="ctr"/>
            <a:endParaRPr sz="2200" b="1">
              <a:latin typeface="Times New Roman" panose="02020503050405090304"/>
              <a:ea typeface="微软雅黑"/>
              <a:cs typeface="Times New Roman" panose="02020503050405090304"/>
            </a:endParaRPr>
          </a:p>
          <a:p>
            <a:pPr algn="ctr"/>
            <a:endParaRPr sz="2200" b="1">
              <a:latin typeface="Times New Roman" panose="02020503050405090304"/>
              <a:ea typeface="微软雅黑"/>
              <a:cs typeface="Times New Roman" panose="02020503050405090304"/>
            </a:endParaRPr>
          </a:p>
          <a:p>
            <a:pPr algn="ctr"/>
            <a:endParaRPr sz="2200" b="1">
              <a:latin typeface="Times New Roman" panose="02020503050405090304"/>
              <a:ea typeface="微软雅黑"/>
              <a:cs typeface="Times New Roman" panose="02020503050405090304"/>
            </a:endParaRPr>
          </a:p>
          <a:p>
            <a:pPr algn="ctr"/>
            <a:endParaRPr sz="2200" b="1">
              <a:latin typeface="Times New Roman" panose="02020503050405090304"/>
              <a:ea typeface="微软雅黑"/>
              <a:cs typeface="Times New Roman" panose="02020503050405090304"/>
            </a:endParaRPr>
          </a:p>
          <a:p>
            <a:pPr algn="l"/>
            <a:endParaRPr sz="2200" b="1">
              <a:latin typeface="Times New Roman" panose="02020503050405090304"/>
              <a:ea typeface="微软雅黑"/>
              <a:cs typeface="Times New Roman" panose="02020503050405090304"/>
            </a:endParaRPr>
          </a:p>
          <a:p>
            <a:pPr algn="ctr"/>
            <a:endParaRPr sz="2200" b="1">
              <a:latin typeface="Times New Roman" panose="02020503050405090304"/>
              <a:ea typeface="微软雅黑"/>
              <a:cs typeface="Times New Roman" panose="0202050305040509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33"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课程目标</a:t>
            </a:r>
            <a:endParaRPr sz="2700" b="1">
              <a:solidFill>
                <a:srgbClr val="111111"/>
              </a:solidFill>
              <a:latin typeface="Times New Roman" panose="02020503050405090304"/>
              <a:ea typeface="微软雅黑"/>
              <a:cs typeface="Times New Roman" panose="02020503050405090304"/>
            </a:endParaRPr>
          </a:p>
        </p:txBody>
      </p:sp>
      <p:sp>
        <p:nvSpPr>
          <p:cNvPr id="19" name="intro"/>
          <p:cNvSpPr>
            <a:spLocks noGrp="1"/>
          </p:cNvSpPr>
          <p:nvPr/>
        </p:nvSpPr>
        <p:spPr>
          <a:xfrm>
            <a:off x="742950" y="1104900"/>
            <a:ext cx="10706100" cy="400050"/>
          </a:xfrm>
          <a:prstGeom prst="rect">
            <a:avLst/>
          </a:prstGeom>
          <a:noFill/>
          <a:ln w="0">
            <a:noFill/>
          </a:ln>
        </p:spPr>
        <p:txBody>
          <a:bodyPr wrap="none" lIns="0" tIns="0" rIns="0" bIns="0" anchor="t">
            <a:noAutofit/>
          </a:bodyPr>
          <a:lstStyle/>
          <a:p>
            <a:pPr>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完成本课程后，能够跑通 Wordle SFT，并验证训练效果与性能优化。</a:t>
            </a:r>
            <a:endParaRPr sz="2000" b="0">
              <a:solidFill>
                <a:srgbClr val="111111"/>
              </a:solidFill>
              <a:latin typeface="Times New Roman" panose="02020503050405090304"/>
              <a:ea typeface="微软雅黑"/>
              <a:cs typeface="Times New Roman" panose="02020503050405090304"/>
            </a:endParaRPr>
          </a:p>
        </p:txBody>
      </p:sp>
      <p:sp>
        <p:nvSpPr>
          <p:cNvPr id="20" name="goal-0-num"/>
          <p:cNvSpPr>
            <a:spLocks noGrp="1"/>
          </p:cNvSpPr>
          <p:nvPr/>
        </p:nvSpPr>
        <p:spPr>
          <a:xfrm>
            <a:off x="742950" y="1933575"/>
            <a:ext cx="571500" cy="419100"/>
          </a:xfrm>
          <a:prstGeom prst="rect">
            <a:avLst/>
          </a:prstGeom>
          <a:noFill/>
          <a:ln w="0">
            <a:noFill/>
          </a:ln>
        </p:spPr>
        <p:txBody>
          <a:bodyPr wrap="none" lIns="0" tIns="0" rIns="0" bIns="0" anchor="t">
            <a:noAutofit/>
          </a:bodyPr>
          <a:lstStyle/>
          <a:p>
            <a:pPr>
              <a:lnSpc>
                <a:spcPct val="108000"/>
              </a:lnSpc>
              <a:buNone/>
              <a:defRPr sz="2325" b="1">
                <a:solidFill>
                  <a:srgbClr val="E60012"/>
                </a:solidFill>
                <a:latin typeface="Times New Roman" panose="02020503050405090304"/>
                <a:ea typeface="微软雅黑"/>
                <a:cs typeface="Times New Roman" panose="02020503050405090304"/>
              </a:defRPr>
            </a:pPr>
            <a:r>
              <a:rPr sz="2325" b="1">
                <a:solidFill>
                  <a:srgbClr val="E60012"/>
                </a:solidFill>
                <a:latin typeface="Times New Roman" panose="02020503050405090304"/>
                <a:ea typeface="微软雅黑"/>
                <a:cs typeface="Times New Roman" panose="02020503050405090304"/>
              </a:rPr>
              <a:t>01</a:t>
            </a:r>
            <a:endParaRPr sz="2325" b="1">
              <a:solidFill>
                <a:srgbClr val="E60012"/>
              </a:solidFill>
              <a:latin typeface="Times New Roman" panose="02020503050405090304"/>
              <a:ea typeface="微软雅黑"/>
              <a:cs typeface="Times New Roman" panose="02020503050405090304"/>
            </a:endParaRPr>
          </a:p>
        </p:txBody>
      </p:sp>
      <p:sp>
        <p:nvSpPr>
          <p:cNvPr id="21" name="goal-0-head"/>
          <p:cNvSpPr>
            <a:spLocks noGrp="1"/>
          </p:cNvSpPr>
          <p:nvPr/>
        </p:nvSpPr>
        <p:spPr>
          <a:xfrm>
            <a:off x="1514475" y="1876425"/>
            <a:ext cx="9953625" cy="352425"/>
          </a:xfrm>
          <a:prstGeom prst="rect">
            <a:avLst/>
          </a:prstGeom>
          <a:noFill/>
          <a:ln w="0">
            <a:noFill/>
          </a:ln>
        </p:spPr>
        <p:txBody>
          <a:bodyPr wrap="none" lIns="0" tIns="0" rIns="0" bIns="0" anchor="t">
            <a:noAutofit/>
          </a:bodyPr>
          <a:lstStyle/>
          <a:p>
            <a:pPr>
              <a:lnSpc>
                <a:spcPct val="108000"/>
              </a:lnSpc>
              <a:buNone/>
              <a:defRPr sz="2025" b="1">
                <a:solidFill>
                  <a:srgbClr val="111111"/>
                </a:solidFill>
                <a:latin typeface="Times New Roman" panose="02020503050405090304"/>
                <a:ea typeface="微软雅黑"/>
                <a:cs typeface="Times New Roman" panose="02020503050405090304"/>
              </a:defRPr>
            </a:pPr>
            <a:r>
              <a:rPr sz="2025" b="1">
                <a:solidFill>
                  <a:srgbClr val="111111"/>
                </a:solidFill>
                <a:latin typeface="Times New Roman" panose="02020503050405090304"/>
                <a:ea typeface="微软雅黑"/>
                <a:cs typeface="Times New Roman" panose="02020503050405090304"/>
              </a:rPr>
              <a:t>理解监督微调</a:t>
            </a:r>
            <a:endParaRPr sz="2025" b="1">
              <a:solidFill>
                <a:srgbClr val="111111"/>
              </a:solidFill>
              <a:latin typeface="Times New Roman" panose="02020503050405090304"/>
              <a:ea typeface="微软雅黑"/>
              <a:cs typeface="Times New Roman" panose="02020503050405090304"/>
            </a:endParaRPr>
          </a:p>
        </p:txBody>
      </p:sp>
      <p:sp>
        <p:nvSpPr>
          <p:cNvPr id="22" name="goal-0-body"/>
          <p:cNvSpPr>
            <a:spLocks noGrp="1"/>
          </p:cNvSpPr>
          <p:nvPr/>
        </p:nvSpPr>
        <p:spPr>
          <a:xfrm>
            <a:off x="1514475" y="2286000"/>
            <a:ext cx="9953625" cy="36195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识别 assistant 监督位置，理解示范学习与定长序列打包。</a:t>
            </a:r>
            <a:endParaRPr sz="1800" b="0">
              <a:solidFill>
                <a:srgbClr val="111111"/>
              </a:solidFill>
              <a:latin typeface="Times New Roman" panose="02020503050405090304"/>
              <a:ea typeface="微软雅黑"/>
              <a:cs typeface="Times New Roman" panose="02020503050405090304"/>
            </a:endParaRPr>
          </a:p>
        </p:txBody>
      </p:sp>
      <p:sp>
        <p:nvSpPr>
          <p:cNvPr id="23" name="goal-1-num"/>
          <p:cNvSpPr>
            <a:spLocks noGrp="1"/>
          </p:cNvSpPr>
          <p:nvPr/>
        </p:nvSpPr>
        <p:spPr>
          <a:xfrm>
            <a:off x="742950" y="2828925"/>
            <a:ext cx="571500" cy="419100"/>
          </a:xfrm>
          <a:prstGeom prst="rect">
            <a:avLst/>
          </a:prstGeom>
          <a:noFill/>
          <a:ln w="0">
            <a:noFill/>
          </a:ln>
        </p:spPr>
        <p:txBody>
          <a:bodyPr wrap="none" lIns="0" tIns="0" rIns="0" bIns="0" anchor="t">
            <a:noAutofit/>
          </a:bodyPr>
          <a:lstStyle/>
          <a:p>
            <a:pPr>
              <a:lnSpc>
                <a:spcPct val="108000"/>
              </a:lnSpc>
              <a:buNone/>
              <a:defRPr sz="2325" b="1">
                <a:solidFill>
                  <a:srgbClr val="357AE8"/>
                </a:solidFill>
                <a:latin typeface="Times New Roman" panose="02020503050405090304"/>
                <a:ea typeface="微软雅黑"/>
                <a:cs typeface="Times New Roman" panose="02020503050405090304"/>
              </a:defRPr>
            </a:pPr>
            <a:r>
              <a:rPr sz="2325" b="1">
                <a:solidFill>
                  <a:srgbClr val="357AE8"/>
                </a:solidFill>
                <a:latin typeface="Times New Roman" panose="02020503050405090304"/>
                <a:ea typeface="微软雅黑"/>
                <a:cs typeface="Times New Roman" panose="02020503050405090304"/>
              </a:rPr>
              <a:t>02</a:t>
            </a:r>
            <a:endParaRPr sz="2325" b="1">
              <a:solidFill>
                <a:srgbClr val="357AE8"/>
              </a:solidFill>
              <a:latin typeface="Times New Roman" panose="02020503050405090304"/>
              <a:ea typeface="微软雅黑"/>
              <a:cs typeface="Times New Roman" panose="02020503050405090304"/>
            </a:endParaRPr>
          </a:p>
        </p:txBody>
      </p:sp>
      <p:sp>
        <p:nvSpPr>
          <p:cNvPr id="24" name="goal-1-head"/>
          <p:cNvSpPr>
            <a:spLocks noGrp="1"/>
          </p:cNvSpPr>
          <p:nvPr/>
        </p:nvSpPr>
        <p:spPr>
          <a:xfrm>
            <a:off x="1514475" y="2771775"/>
            <a:ext cx="9953625" cy="352425"/>
          </a:xfrm>
          <a:prstGeom prst="rect">
            <a:avLst/>
          </a:prstGeom>
          <a:noFill/>
          <a:ln w="0">
            <a:noFill/>
          </a:ln>
        </p:spPr>
        <p:txBody>
          <a:bodyPr wrap="none" lIns="0" tIns="0" rIns="0" bIns="0" anchor="t">
            <a:noAutofit/>
          </a:bodyPr>
          <a:lstStyle/>
          <a:p>
            <a:pPr>
              <a:lnSpc>
                <a:spcPct val="108000"/>
              </a:lnSpc>
              <a:buNone/>
              <a:defRPr sz="2025" b="1">
                <a:solidFill>
                  <a:srgbClr val="111111"/>
                </a:solidFill>
                <a:latin typeface="Times New Roman" panose="02020503050405090304"/>
                <a:ea typeface="微软雅黑"/>
                <a:cs typeface="Times New Roman" panose="02020503050405090304"/>
              </a:defRPr>
            </a:pPr>
            <a:r>
              <a:rPr sz="2025" b="1">
                <a:solidFill>
                  <a:srgbClr val="111111"/>
                </a:solidFill>
                <a:latin typeface="Times New Roman" panose="02020503050405090304"/>
                <a:ea typeface="微软雅黑"/>
                <a:cs typeface="Times New Roman" panose="02020503050405090304"/>
              </a:rPr>
              <a:t>配置分布式训练</a:t>
            </a:r>
            <a:endParaRPr sz="2025" b="1">
              <a:solidFill>
                <a:srgbClr val="111111"/>
              </a:solidFill>
              <a:latin typeface="Times New Roman" panose="02020503050405090304"/>
              <a:ea typeface="微软雅黑"/>
              <a:cs typeface="Times New Roman" panose="02020503050405090304"/>
            </a:endParaRPr>
          </a:p>
        </p:txBody>
      </p:sp>
      <p:sp>
        <p:nvSpPr>
          <p:cNvPr id="25" name="goal-1-body"/>
          <p:cNvSpPr>
            <a:spLocks noGrp="1"/>
          </p:cNvSpPr>
          <p:nvPr/>
        </p:nvSpPr>
        <p:spPr>
          <a:xfrm>
            <a:off x="1514475" y="3181350"/>
            <a:ext cx="9953625" cy="36195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读懂 TorchTitan 配方与 FSDP 配置，计算 batch 和梯度累积次数。</a:t>
            </a:r>
            <a:endParaRPr sz="1800" b="0">
              <a:solidFill>
                <a:srgbClr val="111111"/>
              </a:solidFill>
              <a:latin typeface="Times New Roman" panose="02020503050405090304"/>
              <a:ea typeface="微软雅黑"/>
              <a:cs typeface="Times New Roman" panose="02020503050405090304"/>
            </a:endParaRPr>
          </a:p>
        </p:txBody>
      </p:sp>
      <p:sp>
        <p:nvSpPr>
          <p:cNvPr id="26" name="goal-2-num"/>
          <p:cNvSpPr>
            <a:spLocks noGrp="1"/>
          </p:cNvSpPr>
          <p:nvPr/>
        </p:nvSpPr>
        <p:spPr>
          <a:xfrm>
            <a:off x="742950" y="3724275"/>
            <a:ext cx="571500" cy="419100"/>
          </a:xfrm>
          <a:prstGeom prst="rect">
            <a:avLst/>
          </a:prstGeom>
          <a:noFill/>
          <a:ln w="0">
            <a:noFill/>
          </a:ln>
        </p:spPr>
        <p:txBody>
          <a:bodyPr wrap="none" lIns="0" tIns="0" rIns="0" bIns="0" anchor="t">
            <a:noAutofit/>
          </a:bodyPr>
          <a:lstStyle/>
          <a:p>
            <a:pPr>
              <a:lnSpc>
                <a:spcPct val="108000"/>
              </a:lnSpc>
              <a:buNone/>
              <a:defRPr sz="2325" b="1">
                <a:solidFill>
                  <a:srgbClr val="E60012"/>
                </a:solidFill>
                <a:latin typeface="Times New Roman" panose="02020503050405090304"/>
                <a:ea typeface="微软雅黑"/>
                <a:cs typeface="Times New Roman" panose="02020503050405090304"/>
              </a:defRPr>
            </a:pPr>
            <a:r>
              <a:rPr sz="2325" b="1">
                <a:solidFill>
                  <a:srgbClr val="E60012"/>
                </a:solidFill>
                <a:latin typeface="Times New Roman" panose="02020503050405090304"/>
                <a:ea typeface="微软雅黑"/>
                <a:cs typeface="Times New Roman" panose="02020503050405090304"/>
              </a:rPr>
              <a:t>03</a:t>
            </a:r>
            <a:endParaRPr sz="2325" b="1">
              <a:solidFill>
                <a:srgbClr val="E60012"/>
              </a:solidFill>
              <a:latin typeface="Times New Roman" panose="02020503050405090304"/>
              <a:ea typeface="微软雅黑"/>
              <a:cs typeface="Times New Roman" panose="02020503050405090304"/>
            </a:endParaRPr>
          </a:p>
        </p:txBody>
      </p:sp>
      <p:sp>
        <p:nvSpPr>
          <p:cNvPr id="27" name="goal-2-head"/>
          <p:cNvSpPr>
            <a:spLocks noGrp="1"/>
          </p:cNvSpPr>
          <p:nvPr/>
        </p:nvSpPr>
        <p:spPr>
          <a:xfrm>
            <a:off x="1514475" y="3667125"/>
            <a:ext cx="9953625" cy="352425"/>
          </a:xfrm>
          <a:prstGeom prst="rect">
            <a:avLst/>
          </a:prstGeom>
          <a:noFill/>
          <a:ln w="0">
            <a:noFill/>
          </a:ln>
        </p:spPr>
        <p:txBody>
          <a:bodyPr wrap="none" lIns="0" tIns="0" rIns="0" bIns="0" anchor="t">
            <a:noAutofit/>
          </a:bodyPr>
          <a:lstStyle/>
          <a:p>
            <a:pPr>
              <a:lnSpc>
                <a:spcPct val="108000"/>
              </a:lnSpc>
              <a:buNone/>
              <a:defRPr sz="2025" b="1">
                <a:solidFill>
                  <a:srgbClr val="111111"/>
                </a:solidFill>
                <a:latin typeface="Times New Roman" panose="02020503050405090304"/>
                <a:ea typeface="微软雅黑"/>
                <a:cs typeface="Times New Roman" panose="02020503050405090304"/>
              </a:defRPr>
            </a:pPr>
            <a:r>
              <a:rPr sz="2025" b="1">
                <a:solidFill>
                  <a:srgbClr val="111111"/>
                </a:solidFill>
                <a:latin typeface="Times New Roman" panose="02020503050405090304"/>
                <a:ea typeface="微软雅黑"/>
                <a:cs typeface="Times New Roman" panose="02020503050405090304"/>
              </a:rPr>
              <a:t>完成训练与评测</a:t>
            </a:r>
            <a:endParaRPr sz="2025" b="1">
              <a:solidFill>
                <a:srgbClr val="111111"/>
              </a:solidFill>
              <a:latin typeface="Times New Roman" panose="02020503050405090304"/>
              <a:ea typeface="微软雅黑"/>
              <a:cs typeface="Times New Roman" panose="02020503050405090304"/>
            </a:endParaRPr>
          </a:p>
        </p:txBody>
      </p:sp>
      <p:sp>
        <p:nvSpPr>
          <p:cNvPr id="28" name="goal-2-body"/>
          <p:cNvSpPr>
            <a:spLocks noGrp="1"/>
          </p:cNvSpPr>
          <p:nvPr/>
        </p:nvSpPr>
        <p:spPr>
          <a:xfrm>
            <a:off x="1514475" y="4076700"/>
            <a:ext cx="9953625" cy="36195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跑通 SFT、导出权重，在相同条件下比较基座与微调模型。</a:t>
            </a:r>
            <a:endParaRPr sz="1800" b="0">
              <a:solidFill>
                <a:srgbClr val="111111"/>
              </a:solidFill>
              <a:latin typeface="Times New Roman" panose="02020503050405090304"/>
              <a:ea typeface="微软雅黑"/>
              <a:cs typeface="Times New Roman" panose="02020503050405090304"/>
            </a:endParaRPr>
          </a:p>
        </p:txBody>
      </p:sp>
      <p:sp>
        <p:nvSpPr>
          <p:cNvPr id="29" name="goal-3-num"/>
          <p:cNvSpPr>
            <a:spLocks noGrp="1"/>
          </p:cNvSpPr>
          <p:nvPr/>
        </p:nvSpPr>
        <p:spPr>
          <a:xfrm>
            <a:off x="742950" y="4619625"/>
            <a:ext cx="571500" cy="419100"/>
          </a:xfrm>
          <a:prstGeom prst="rect">
            <a:avLst/>
          </a:prstGeom>
          <a:noFill/>
          <a:ln w="0">
            <a:noFill/>
          </a:ln>
        </p:spPr>
        <p:txBody>
          <a:bodyPr wrap="none" lIns="0" tIns="0" rIns="0" bIns="0" anchor="t">
            <a:noAutofit/>
          </a:bodyPr>
          <a:lstStyle/>
          <a:p>
            <a:pPr>
              <a:lnSpc>
                <a:spcPct val="108000"/>
              </a:lnSpc>
              <a:buNone/>
              <a:defRPr sz="2325" b="1">
                <a:solidFill>
                  <a:srgbClr val="357AE8"/>
                </a:solidFill>
                <a:latin typeface="Times New Roman" panose="02020503050405090304"/>
                <a:ea typeface="微软雅黑"/>
                <a:cs typeface="Times New Roman" panose="02020503050405090304"/>
              </a:defRPr>
            </a:pPr>
            <a:r>
              <a:rPr sz="2325" b="1">
                <a:solidFill>
                  <a:srgbClr val="357AE8"/>
                </a:solidFill>
                <a:latin typeface="Times New Roman" panose="02020503050405090304"/>
                <a:ea typeface="微软雅黑"/>
                <a:cs typeface="Times New Roman" panose="02020503050405090304"/>
              </a:rPr>
              <a:t>04</a:t>
            </a:r>
            <a:endParaRPr sz="2325" b="1">
              <a:solidFill>
                <a:srgbClr val="357AE8"/>
              </a:solidFill>
              <a:latin typeface="Times New Roman" panose="02020503050405090304"/>
              <a:ea typeface="微软雅黑"/>
              <a:cs typeface="Times New Roman" panose="02020503050405090304"/>
            </a:endParaRPr>
          </a:p>
        </p:txBody>
      </p:sp>
      <p:sp>
        <p:nvSpPr>
          <p:cNvPr id="30" name="goal-3-head"/>
          <p:cNvSpPr>
            <a:spLocks noGrp="1"/>
          </p:cNvSpPr>
          <p:nvPr/>
        </p:nvSpPr>
        <p:spPr>
          <a:xfrm>
            <a:off x="1514475" y="4562475"/>
            <a:ext cx="9953625" cy="352425"/>
          </a:xfrm>
          <a:prstGeom prst="rect">
            <a:avLst/>
          </a:prstGeom>
          <a:noFill/>
          <a:ln w="0">
            <a:noFill/>
          </a:ln>
        </p:spPr>
        <p:txBody>
          <a:bodyPr wrap="none" lIns="0" tIns="0" rIns="0" bIns="0" anchor="t">
            <a:noAutofit/>
          </a:bodyPr>
          <a:lstStyle/>
          <a:p>
            <a:pPr>
              <a:lnSpc>
                <a:spcPct val="108000"/>
              </a:lnSpc>
              <a:buNone/>
              <a:defRPr sz="2025" b="1">
                <a:solidFill>
                  <a:srgbClr val="111111"/>
                </a:solidFill>
                <a:latin typeface="Times New Roman" panose="02020503050405090304"/>
                <a:ea typeface="微软雅黑"/>
                <a:cs typeface="Times New Roman" panose="02020503050405090304"/>
              </a:defRPr>
            </a:pPr>
            <a:r>
              <a:rPr sz="2025" b="1">
                <a:solidFill>
                  <a:srgbClr val="111111"/>
                </a:solidFill>
                <a:latin typeface="Times New Roman" panose="02020503050405090304"/>
                <a:ea typeface="微软雅黑"/>
                <a:cs typeface="Times New Roman" panose="02020503050405090304"/>
              </a:rPr>
              <a:t>验证融合优化</a:t>
            </a:r>
            <a:endParaRPr sz="2025" b="1">
              <a:solidFill>
                <a:srgbClr val="111111"/>
              </a:solidFill>
              <a:latin typeface="Times New Roman" panose="02020503050405090304"/>
              <a:ea typeface="微软雅黑"/>
              <a:cs typeface="Times New Roman" panose="02020503050405090304"/>
            </a:endParaRPr>
          </a:p>
        </p:txBody>
      </p:sp>
      <p:sp>
        <p:nvSpPr>
          <p:cNvPr id="31" name="goal-3-body"/>
          <p:cNvSpPr>
            <a:spLocks noGrp="1"/>
          </p:cNvSpPr>
          <p:nvPr/>
        </p:nvSpPr>
        <p:spPr>
          <a:xfrm>
            <a:off x="1514475" y="4972050"/>
            <a:ext cx="9953625" cy="36195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接入 RMSNorm override，用 trace 和步级指标验证优化。</a:t>
            </a:r>
            <a:endParaRPr sz="1800" b="0">
              <a:solidFill>
                <a:srgbClr val="111111"/>
              </a:solidFill>
              <a:latin typeface="Times New Roman" panose="02020503050405090304"/>
              <a:ea typeface="微软雅黑"/>
              <a:cs typeface="Times New Roman" panose="02020503050405090304"/>
            </a:endParaRPr>
          </a:p>
        </p:txBody>
      </p:sp>
      <p:sp>
        <p:nvSpPr>
          <p:cNvPr id="32" name="key"/>
          <p:cNvSpPr>
            <a:spLocks noGrp="1"/>
          </p:cNvSpPr>
          <p:nvPr/>
        </p:nvSpPr>
        <p:spPr>
          <a:xfrm>
            <a:off x="742950" y="5857875"/>
            <a:ext cx="10706100" cy="304800"/>
          </a:xfrm>
          <a:prstGeom prst="rect">
            <a:avLst/>
          </a:prstGeom>
          <a:noFill/>
          <a:ln w="0">
            <a:noFill/>
          </a:ln>
        </p:spPr>
        <p:txBody>
          <a:bodyPr wrap="none" lIns="0" tIns="0" rIns="0" bIns="0" anchor="t">
            <a:noAutofit/>
          </a:bodyPr>
          <a:lstStyle/>
          <a:p>
            <a:pPr>
              <a:lnSpc>
                <a:spcPct val="108000"/>
              </a:lnSpc>
              <a:buNone/>
              <a:defRPr sz="1800" b="1">
                <a:solidFill>
                  <a:srgbClr val="E60012"/>
                </a:solidFill>
                <a:latin typeface="Times New Roman" panose="02020503050405090304"/>
                <a:ea typeface="微软雅黑"/>
                <a:cs typeface="Times New Roman" panose="02020503050405090304"/>
              </a:defRPr>
            </a:pPr>
            <a:r>
              <a:rPr sz="1800" b="1">
                <a:solidFill>
                  <a:srgbClr val="E60012"/>
                </a:solidFill>
                <a:latin typeface="Times New Roman" panose="02020503050405090304"/>
                <a:ea typeface="微软雅黑"/>
                <a:cs typeface="Times New Roman" panose="02020503050405090304"/>
              </a:rPr>
              <a:t>课堂结合配置、训练日志与性能记录开展练习，完整实验可在课后复现。</a:t>
            </a:r>
            <a:endParaRPr sz="1800" b="1">
              <a:solidFill>
                <a:srgbClr val="E60012"/>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0"/>
                                        </p:tgtEl>
                                        <p:attrNameLst>
                                          <p:attrName>style.visibility</p:attrName>
                                        </p:attrNameLst>
                                      </p:cBhvr>
                                      <p:to>
                                        <p:strVal val="visible"/>
                                      </p:to>
                                    </p:set>
                                    <p:animEffect transition="in" filter="fade">
                                      <p:cBhvr>
                                        <p:cTn id="7" dur="350"/>
                                        <p:tgtEl>
                                          <p:spTgt spid="20"/>
                                        </p:tgtEl>
                                      </p:cBhvr>
                                    </p:animEffect>
                                  </p:childTnLst>
                                </p:cTn>
                              </p:par>
                              <p:par>
                                <p:cTn id="8" presetID="10" presetClass="entr" presetSubtype="0" fill="hold" grpId="0" nodeType="withEffect">
                                  <p:stCondLst>
                                    <p:cond delay="0"/>
                                  </p:stCondLst>
                                  <p:childTnLst>
                                    <p:set>
                                      <p:cBhvr>
                                        <p:cTn id="9" dur="1" fill="hold"/>
                                        <p:tgtEl>
                                          <p:spTgt spid="21"/>
                                        </p:tgtEl>
                                        <p:attrNameLst>
                                          <p:attrName>style.visibility</p:attrName>
                                        </p:attrNameLst>
                                      </p:cBhvr>
                                      <p:to>
                                        <p:strVal val="visible"/>
                                      </p:to>
                                    </p:set>
                                    <p:animEffect transition="in" filter="fade">
                                      <p:cBhvr>
                                        <p:cTn id="10" dur="350"/>
                                        <p:tgtEl>
                                          <p:spTgt spid="21"/>
                                        </p:tgtEl>
                                      </p:cBhvr>
                                    </p:animEffect>
                                  </p:childTnLst>
                                </p:cTn>
                              </p:par>
                              <p:par>
                                <p:cTn id="11" presetID="10" presetClass="entr" presetSubtype="0" fill="hold" grpId="0" nodeType="withEffect">
                                  <p:stCondLst>
                                    <p:cond delay="0"/>
                                  </p:stCondLst>
                                  <p:childTnLst>
                                    <p:set>
                                      <p:cBhvr>
                                        <p:cTn id="12" dur="1" fill="hold"/>
                                        <p:tgtEl>
                                          <p:spTgt spid="22"/>
                                        </p:tgtEl>
                                        <p:attrNameLst>
                                          <p:attrName>style.visibility</p:attrName>
                                        </p:attrNameLst>
                                      </p:cBhvr>
                                      <p:to>
                                        <p:strVal val="visible"/>
                                      </p:to>
                                    </p:set>
                                    <p:animEffect transition="in" filter="fade">
                                      <p:cBhvr>
                                        <p:cTn id="13" dur="350"/>
                                        <p:tgtEl>
                                          <p:spTgt spid="22"/>
                                        </p:tgtEl>
                                      </p:cBhvr>
                                    </p:animEffect>
                                  </p:childTnLst>
                                </p:cTn>
                              </p:par>
                              <p:par>
                                <p:cTn id="14" presetID="10" presetClass="entr" presetSubtype="0" fill="hold" grpId="0" nodeType="withEffect">
                                  <p:stCondLst>
                                    <p:cond delay="0"/>
                                  </p:stCondLst>
                                  <p:childTnLst>
                                    <p:set>
                                      <p:cBhvr>
                                        <p:cTn id="15" dur="1" fill="hold"/>
                                        <p:tgtEl>
                                          <p:spTgt spid="19"/>
                                        </p:tgtEl>
                                        <p:attrNameLst>
                                          <p:attrName>style.visibility</p:attrName>
                                        </p:attrNameLst>
                                      </p:cBhvr>
                                      <p:to>
                                        <p:strVal val="visible"/>
                                      </p:to>
                                    </p:set>
                                    <p:animEffect transition="in" filter="fade">
                                      <p:cBhvr>
                                        <p:cTn id="16" dur="35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tgtEl>
                                          <p:spTgt spid="23"/>
                                        </p:tgtEl>
                                        <p:attrNameLst>
                                          <p:attrName>style.visibility</p:attrName>
                                        </p:attrNameLst>
                                      </p:cBhvr>
                                      <p:to>
                                        <p:strVal val="visible"/>
                                      </p:to>
                                    </p:set>
                                    <p:animEffect transition="in" filter="fade">
                                      <p:cBhvr>
                                        <p:cTn id="21" dur="350"/>
                                        <p:tgtEl>
                                          <p:spTgt spid="23"/>
                                        </p:tgtEl>
                                      </p:cBhvr>
                                    </p:animEffect>
                                  </p:childTnLst>
                                </p:cTn>
                              </p:par>
                              <p:par>
                                <p:cTn id="22" presetID="10" presetClass="entr" presetSubtype="0" fill="hold" grpId="0" nodeType="withEffect">
                                  <p:stCondLst>
                                    <p:cond delay="0"/>
                                  </p:stCondLst>
                                  <p:childTnLst>
                                    <p:set>
                                      <p:cBhvr>
                                        <p:cTn id="23" dur="1" fill="hold"/>
                                        <p:tgtEl>
                                          <p:spTgt spid="24"/>
                                        </p:tgtEl>
                                        <p:attrNameLst>
                                          <p:attrName>style.visibility</p:attrName>
                                        </p:attrNameLst>
                                      </p:cBhvr>
                                      <p:to>
                                        <p:strVal val="visible"/>
                                      </p:to>
                                    </p:set>
                                    <p:animEffect transition="in" filter="fade">
                                      <p:cBhvr>
                                        <p:cTn id="24" dur="350"/>
                                        <p:tgtEl>
                                          <p:spTgt spid="24"/>
                                        </p:tgtEl>
                                      </p:cBhvr>
                                    </p:animEffect>
                                  </p:childTnLst>
                                </p:cTn>
                              </p:par>
                              <p:par>
                                <p:cTn id="25" presetID="10" presetClass="entr" presetSubtype="0" fill="hold" grpId="0" nodeType="withEffect">
                                  <p:stCondLst>
                                    <p:cond delay="0"/>
                                  </p:stCondLst>
                                  <p:childTnLst>
                                    <p:set>
                                      <p:cBhvr>
                                        <p:cTn id="26" dur="1" fill="hold"/>
                                        <p:tgtEl>
                                          <p:spTgt spid="25"/>
                                        </p:tgtEl>
                                        <p:attrNameLst>
                                          <p:attrName>style.visibility</p:attrName>
                                        </p:attrNameLst>
                                      </p:cBhvr>
                                      <p:to>
                                        <p:strVal val="visible"/>
                                      </p:to>
                                    </p:set>
                                    <p:animEffect transition="in" filter="fade">
                                      <p:cBhvr>
                                        <p:cTn id="27" dur="35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tgtEl>
                                          <p:spTgt spid="26"/>
                                        </p:tgtEl>
                                        <p:attrNameLst>
                                          <p:attrName>style.visibility</p:attrName>
                                        </p:attrNameLst>
                                      </p:cBhvr>
                                      <p:to>
                                        <p:strVal val="visible"/>
                                      </p:to>
                                    </p:set>
                                    <p:animEffect transition="in" filter="fade">
                                      <p:cBhvr>
                                        <p:cTn id="32" dur="350"/>
                                        <p:tgtEl>
                                          <p:spTgt spid="26"/>
                                        </p:tgtEl>
                                      </p:cBhvr>
                                    </p:animEffect>
                                  </p:childTnLst>
                                </p:cTn>
                              </p:par>
                              <p:par>
                                <p:cTn id="33" presetID="10" presetClass="entr" presetSubtype="0" fill="hold" grpId="0" nodeType="withEffect">
                                  <p:stCondLst>
                                    <p:cond delay="0"/>
                                  </p:stCondLst>
                                  <p:childTnLst>
                                    <p:set>
                                      <p:cBhvr>
                                        <p:cTn id="34" dur="1" fill="hold"/>
                                        <p:tgtEl>
                                          <p:spTgt spid="27"/>
                                        </p:tgtEl>
                                        <p:attrNameLst>
                                          <p:attrName>style.visibility</p:attrName>
                                        </p:attrNameLst>
                                      </p:cBhvr>
                                      <p:to>
                                        <p:strVal val="visible"/>
                                      </p:to>
                                    </p:set>
                                    <p:animEffect transition="in" filter="fade">
                                      <p:cBhvr>
                                        <p:cTn id="35" dur="350"/>
                                        <p:tgtEl>
                                          <p:spTgt spid="27"/>
                                        </p:tgtEl>
                                      </p:cBhvr>
                                    </p:animEffect>
                                  </p:childTnLst>
                                </p:cTn>
                              </p:par>
                              <p:par>
                                <p:cTn id="36" presetID="10" presetClass="entr" presetSubtype="0" fill="hold" grpId="0" nodeType="withEffect">
                                  <p:stCondLst>
                                    <p:cond delay="0"/>
                                  </p:stCondLst>
                                  <p:childTnLst>
                                    <p:set>
                                      <p:cBhvr>
                                        <p:cTn id="37" dur="1" fill="hold"/>
                                        <p:tgtEl>
                                          <p:spTgt spid="28"/>
                                        </p:tgtEl>
                                        <p:attrNameLst>
                                          <p:attrName>style.visibility</p:attrName>
                                        </p:attrNameLst>
                                      </p:cBhvr>
                                      <p:to>
                                        <p:strVal val="visible"/>
                                      </p:to>
                                    </p:set>
                                    <p:animEffect transition="in" filter="fade">
                                      <p:cBhvr>
                                        <p:cTn id="38" dur="35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tgtEl>
                                          <p:spTgt spid="29"/>
                                        </p:tgtEl>
                                        <p:attrNameLst>
                                          <p:attrName>style.visibility</p:attrName>
                                        </p:attrNameLst>
                                      </p:cBhvr>
                                      <p:to>
                                        <p:strVal val="visible"/>
                                      </p:to>
                                    </p:set>
                                    <p:animEffect transition="in" filter="fade">
                                      <p:cBhvr>
                                        <p:cTn id="43" dur="350"/>
                                        <p:tgtEl>
                                          <p:spTgt spid="29"/>
                                        </p:tgtEl>
                                      </p:cBhvr>
                                    </p:animEffect>
                                  </p:childTnLst>
                                </p:cTn>
                              </p:par>
                              <p:par>
                                <p:cTn id="44" presetID="10" presetClass="entr" presetSubtype="0" fill="hold" grpId="0" nodeType="withEffect">
                                  <p:stCondLst>
                                    <p:cond delay="0"/>
                                  </p:stCondLst>
                                  <p:childTnLst>
                                    <p:set>
                                      <p:cBhvr>
                                        <p:cTn id="45" dur="1" fill="hold"/>
                                        <p:tgtEl>
                                          <p:spTgt spid="30"/>
                                        </p:tgtEl>
                                        <p:attrNameLst>
                                          <p:attrName>style.visibility</p:attrName>
                                        </p:attrNameLst>
                                      </p:cBhvr>
                                      <p:to>
                                        <p:strVal val="visible"/>
                                      </p:to>
                                    </p:set>
                                    <p:animEffect transition="in" filter="fade">
                                      <p:cBhvr>
                                        <p:cTn id="46" dur="350"/>
                                        <p:tgtEl>
                                          <p:spTgt spid="30"/>
                                        </p:tgtEl>
                                      </p:cBhvr>
                                    </p:animEffect>
                                  </p:childTnLst>
                                </p:cTn>
                              </p:par>
                              <p:par>
                                <p:cTn id="47" presetID="10" presetClass="entr" presetSubtype="0" fill="hold" grpId="0" nodeType="withEffect">
                                  <p:stCondLst>
                                    <p:cond delay="0"/>
                                  </p:stCondLst>
                                  <p:childTnLst>
                                    <p:set>
                                      <p:cBhvr>
                                        <p:cTn id="48" dur="1" fill="hold"/>
                                        <p:tgtEl>
                                          <p:spTgt spid="31"/>
                                        </p:tgtEl>
                                        <p:attrNameLst>
                                          <p:attrName>style.visibility</p:attrName>
                                        </p:attrNameLst>
                                      </p:cBhvr>
                                      <p:to>
                                        <p:strVal val="visible"/>
                                      </p:to>
                                    </p:set>
                                    <p:animEffect transition="in" filter="fade">
                                      <p:cBhvr>
                                        <p:cTn id="49" dur="350"/>
                                        <p:tgtEl>
                                          <p:spTgt spid="31"/>
                                        </p:tgtEl>
                                      </p:cBhvr>
                                    </p:animEffect>
                                  </p:childTnLst>
                                </p:cTn>
                              </p:par>
                              <p:par>
                                <p:cTn id="50" presetID="10" presetClass="entr" presetSubtype="0" fill="hold" grpId="0" nodeType="withEffect">
                                  <p:stCondLst>
                                    <p:cond delay="0"/>
                                  </p:stCondLst>
                                  <p:childTnLst>
                                    <p:set>
                                      <p:cBhvr>
                                        <p:cTn id="51" dur="1" fill="hold"/>
                                        <p:tgtEl>
                                          <p:spTgt spid="32"/>
                                        </p:tgtEl>
                                        <p:attrNameLst>
                                          <p:attrName>style.visibility</p:attrName>
                                        </p:attrNameLst>
                                      </p:cBhvr>
                                      <p:to>
                                        <p:strVal val="visible"/>
                                      </p:to>
                                    </p:set>
                                    <p:animEffect transition="in" filter="fade">
                                      <p:cBhvr>
                                        <p:cTn id="52" dur="3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30"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前置知识</a:t>
            </a:r>
            <a:endParaRPr sz="2700" b="1">
              <a:solidFill>
                <a:srgbClr val="111111"/>
              </a:solidFill>
              <a:latin typeface="Times New Roman" panose="02020503050405090304"/>
              <a:ea typeface="微软雅黑"/>
              <a:cs typeface="Times New Roman" panose="02020503050405090304"/>
            </a:endParaRPr>
          </a:p>
        </p:txBody>
      </p:sp>
      <p:sp>
        <p:nvSpPr>
          <p:cNvPr id="19" name="intro"/>
          <p:cNvSpPr>
            <a:spLocks noGrp="1"/>
          </p:cNvSpPr>
          <p:nvPr/>
        </p:nvSpPr>
        <p:spPr>
          <a:xfrm>
            <a:off x="742950" y="1104900"/>
            <a:ext cx="10706100" cy="400050"/>
          </a:xfrm>
          <a:prstGeom prst="rect">
            <a:avLst/>
          </a:prstGeom>
          <a:noFill/>
          <a:ln w="0">
            <a:noFill/>
          </a:ln>
        </p:spPr>
        <p:txBody>
          <a:bodyPr wrap="none" lIns="0" tIns="0" rIns="0" bIns="0" anchor="t">
            <a:noAutofit/>
          </a:bodyPr>
          <a:lstStyle/>
          <a:p>
            <a:pPr>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大模型通常先学习通用规律，再适配任务与部署需求。</a:t>
            </a:r>
            <a:endParaRPr sz="2000" b="0">
              <a:solidFill>
                <a:srgbClr val="111111"/>
              </a:solidFill>
              <a:latin typeface="Times New Roman" panose="02020503050405090304"/>
              <a:ea typeface="微软雅黑"/>
              <a:cs typeface="Times New Roman" panose="02020503050405090304"/>
            </a:endParaRPr>
          </a:p>
        </p:txBody>
      </p:sp>
      <p:pic>
        <p:nvPicPr>
          <p:cNvPr id="34" name="training-stages"/>
          <p:cNvPicPr>
            <a:picLocks noChangeAspect="1"/>
          </p:cNvPicPr>
          <p:nvPr/>
        </p:nvPicPr>
        <p:blipFill>
          <a:blip r:embed="rId2"/>
          <a:stretch>
            <a:fillRect/>
          </a:stretch>
        </p:blipFill>
        <p:spPr>
          <a:xfrm>
            <a:off x="1281348" y="1695450"/>
            <a:ext cx="9667404" cy="3438525"/>
          </a:xfrm>
          <a:prstGeom prst="rect">
            <a:avLst/>
          </a:prstGeom>
        </p:spPr>
      </p:pic>
      <p:sp>
        <p:nvSpPr>
          <p:cNvPr id="21" name="stage-0-head"/>
          <p:cNvSpPr>
            <a:spLocks noGrp="1"/>
          </p:cNvSpPr>
          <p:nvPr/>
        </p:nvSpPr>
        <p:spPr>
          <a:xfrm>
            <a:off x="742950" y="4552950"/>
            <a:ext cx="2619375" cy="361950"/>
          </a:xfrm>
          <a:prstGeom prst="rect">
            <a:avLst/>
          </a:prstGeom>
          <a:noFill/>
          <a:ln w="0">
            <a:noFill/>
          </a:ln>
        </p:spPr>
        <p:txBody>
          <a:bodyPr wrap="none" lIns="0" tIns="0" rIns="0" bIns="0" anchor="t">
            <a:noAutofit/>
          </a:bodyPr>
          <a:lstStyle/>
          <a:p>
            <a:pPr>
              <a:lnSpc>
                <a:spcPct val="108000"/>
              </a:lnSpc>
              <a:buNone/>
              <a:defRPr sz="2025" b="1">
                <a:solidFill>
                  <a:srgbClr val="357AE8"/>
                </a:solidFill>
                <a:latin typeface="Times New Roman" panose="02020503050405090304"/>
                <a:ea typeface="微软雅黑"/>
                <a:cs typeface="Times New Roman" panose="02020503050405090304"/>
              </a:defRPr>
            </a:pPr>
            <a:r>
              <a:rPr sz="2025" b="1">
                <a:solidFill>
                  <a:srgbClr val="357AE8"/>
                </a:solidFill>
                <a:latin typeface="Times New Roman" panose="02020503050405090304"/>
                <a:ea typeface="微软雅黑"/>
                <a:cs typeface="Times New Roman" panose="02020503050405090304"/>
              </a:rPr>
              <a:t>预训练</a:t>
            </a:r>
            <a:endParaRPr sz="2025" b="1">
              <a:solidFill>
                <a:srgbClr val="357AE8"/>
              </a:solidFill>
              <a:latin typeface="Times New Roman" panose="02020503050405090304"/>
              <a:ea typeface="微软雅黑"/>
              <a:cs typeface="Times New Roman" panose="02020503050405090304"/>
            </a:endParaRPr>
          </a:p>
        </p:txBody>
      </p:sp>
      <p:sp>
        <p:nvSpPr>
          <p:cNvPr id="22" name="stage-0-body"/>
          <p:cNvSpPr>
            <a:spLocks noGrp="1"/>
          </p:cNvSpPr>
          <p:nvPr/>
        </p:nvSpPr>
        <p:spPr>
          <a:xfrm>
            <a:off x="742950" y="5038725"/>
            <a:ext cx="2619375" cy="64770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从海量语料学习</a:t>
            </a:r>
            <a:endParaRPr sz="1800" b="0">
              <a:solidFill>
                <a:srgbClr val="111111"/>
              </a:solidFill>
              <a:latin typeface="Times New Roman" panose="02020503050405090304"/>
              <a:ea typeface="微软雅黑"/>
              <a:cs typeface="Times New Roman" panose="02020503050405090304"/>
            </a:endParaRPr>
          </a:p>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预测下一个 token</a:t>
            </a:r>
            <a:endParaRPr sz="1800" b="0">
              <a:solidFill>
                <a:srgbClr val="111111"/>
              </a:solidFill>
              <a:latin typeface="Times New Roman" panose="02020503050405090304"/>
              <a:ea typeface="微软雅黑"/>
              <a:cs typeface="Times New Roman" panose="02020503050405090304"/>
            </a:endParaRPr>
          </a:p>
        </p:txBody>
      </p:sp>
      <p:sp>
        <p:nvSpPr>
          <p:cNvPr id="23" name="stage-1-head"/>
          <p:cNvSpPr>
            <a:spLocks noGrp="1"/>
          </p:cNvSpPr>
          <p:nvPr/>
        </p:nvSpPr>
        <p:spPr>
          <a:xfrm>
            <a:off x="3467100" y="4552950"/>
            <a:ext cx="2619375" cy="361950"/>
          </a:xfrm>
          <a:prstGeom prst="rect">
            <a:avLst/>
          </a:prstGeom>
          <a:noFill/>
          <a:ln w="0">
            <a:noFill/>
          </a:ln>
        </p:spPr>
        <p:txBody>
          <a:bodyPr wrap="none" lIns="0" tIns="0" rIns="0" bIns="0" anchor="t">
            <a:noAutofit/>
          </a:bodyPr>
          <a:lstStyle/>
          <a:p>
            <a:pPr>
              <a:lnSpc>
                <a:spcPct val="108000"/>
              </a:lnSpc>
              <a:buNone/>
              <a:defRPr sz="2025" b="1">
                <a:solidFill>
                  <a:srgbClr val="E60012"/>
                </a:solidFill>
                <a:latin typeface="Times New Roman" panose="02020503050405090304"/>
                <a:ea typeface="微软雅黑"/>
                <a:cs typeface="Times New Roman" panose="02020503050405090304"/>
              </a:defRPr>
            </a:pPr>
            <a:r>
              <a:rPr sz="2025" b="1">
                <a:solidFill>
                  <a:srgbClr val="E60012"/>
                </a:solidFill>
                <a:latin typeface="Times New Roman" panose="02020503050405090304"/>
                <a:ea typeface="微软雅黑"/>
                <a:cs typeface="Times New Roman" panose="02020503050405090304"/>
              </a:rPr>
              <a:t>SFT 监督微调</a:t>
            </a:r>
            <a:endParaRPr sz="2025" b="1">
              <a:solidFill>
                <a:srgbClr val="E60012"/>
              </a:solidFill>
              <a:latin typeface="Times New Roman" panose="02020503050405090304"/>
              <a:ea typeface="微软雅黑"/>
              <a:cs typeface="Times New Roman" panose="02020503050405090304"/>
            </a:endParaRPr>
          </a:p>
        </p:txBody>
      </p:sp>
      <p:sp>
        <p:nvSpPr>
          <p:cNvPr id="24" name="stage-1-body"/>
          <p:cNvSpPr>
            <a:spLocks noGrp="1"/>
          </p:cNvSpPr>
          <p:nvPr/>
        </p:nvSpPr>
        <p:spPr>
          <a:xfrm>
            <a:off x="3467100" y="5038725"/>
            <a:ext cx="2619375" cy="64770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从指令与示范回复中</a:t>
            </a:r>
            <a:endParaRPr sz="1800" b="0">
              <a:solidFill>
                <a:srgbClr val="111111"/>
              </a:solidFill>
              <a:latin typeface="Times New Roman" panose="02020503050405090304"/>
              <a:ea typeface="微软雅黑"/>
              <a:cs typeface="Times New Roman" panose="02020503050405090304"/>
            </a:endParaRPr>
          </a:p>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学习任务行为</a:t>
            </a:r>
            <a:endParaRPr sz="1800" b="0">
              <a:solidFill>
                <a:srgbClr val="111111"/>
              </a:solidFill>
              <a:latin typeface="Times New Roman" panose="02020503050405090304"/>
              <a:ea typeface="微软雅黑"/>
              <a:cs typeface="Times New Roman" panose="02020503050405090304"/>
            </a:endParaRPr>
          </a:p>
        </p:txBody>
      </p:sp>
      <p:sp>
        <p:nvSpPr>
          <p:cNvPr id="25" name="stage-2-head"/>
          <p:cNvSpPr>
            <a:spLocks noGrp="1"/>
          </p:cNvSpPr>
          <p:nvPr/>
        </p:nvSpPr>
        <p:spPr>
          <a:xfrm>
            <a:off x="6191250" y="4552950"/>
            <a:ext cx="2619375" cy="361950"/>
          </a:xfrm>
          <a:prstGeom prst="rect">
            <a:avLst/>
          </a:prstGeom>
          <a:noFill/>
          <a:ln w="0">
            <a:noFill/>
          </a:ln>
        </p:spPr>
        <p:txBody>
          <a:bodyPr wrap="none" lIns="0" tIns="0" rIns="0" bIns="0" anchor="t">
            <a:noAutofit/>
          </a:bodyPr>
          <a:lstStyle/>
          <a:p>
            <a:pPr>
              <a:lnSpc>
                <a:spcPct val="108000"/>
              </a:lnSpc>
              <a:buNone/>
              <a:defRPr sz="2025" b="1">
                <a:solidFill>
                  <a:srgbClr val="357AE8"/>
                </a:solidFill>
                <a:latin typeface="Times New Roman" panose="02020503050405090304"/>
                <a:ea typeface="微软雅黑"/>
                <a:cs typeface="Times New Roman" panose="02020503050405090304"/>
              </a:defRPr>
            </a:pPr>
            <a:r>
              <a:rPr sz="2025" b="1">
                <a:solidFill>
                  <a:srgbClr val="357AE8"/>
                </a:solidFill>
                <a:latin typeface="Times New Roman" panose="02020503050405090304"/>
                <a:ea typeface="微软雅黑"/>
                <a:cs typeface="Times New Roman" panose="02020503050405090304"/>
              </a:rPr>
              <a:t>RL 强化学习</a:t>
            </a:r>
            <a:endParaRPr sz="2025" b="1">
              <a:solidFill>
                <a:srgbClr val="357AE8"/>
              </a:solidFill>
              <a:latin typeface="Times New Roman" panose="02020503050405090304"/>
              <a:ea typeface="微软雅黑"/>
              <a:cs typeface="Times New Roman" panose="02020503050405090304"/>
            </a:endParaRPr>
          </a:p>
        </p:txBody>
      </p:sp>
      <p:sp>
        <p:nvSpPr>
          <p:cNvPr id="26" name="stage-2-body"/>
          <p:cNvSpPr>
            <a:spLocks noGrp="1"/>
          </p:cNvSpPr>
          <p:nvPr/>
        </p:nvSpPr>
        <p:spPr>
          <a:xfrm>
            <a:off x="6191250" y="5038725"/>
            <a:ext cx="2619375" cy="64770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通过环境反馈与奖励</a:t>
            </a:r>
            <a:endParaRPr sz="1800" b="0">
              <a:solidFill>
                <a:srgbClr val="111111"/>
              </a:solidFill>
              <a:latin typeface="Times New Roman" panose="02020503050405090304"/>
              <a:ea typeface="微软雅黑"/>
              <a:cs typeface="Times New Roman" panose="02020503050405090304"/>
            </a:endParaRPr>
          </a:p>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继续改进策略</a:t>
            </a:r>
            <a:endParaRPr sz="1800" b="0">
              <a:solidFill>
                <a:srgbClr val="111111"/>
              </a:solidFill>
              <a:latin typeface="Times New Roman" panose="02020503050405090304"/>
              <a:ea typeface="微软雅黑"/>
              <a:cs typeface="Times New Roman" panose="02020503050405090304"/>
            </a:endParaRPr>
          </a:p>
        </p:txBody>
      </p:sp>
      <p:sp>
        <p:nvSpPr>
          <p:cNvPr id="27" name="stage-3-head"/>
          <p:cNvSpPr>
            <a:spLocks noGrp="1"/>
          </p:cNvSpPr>
          <p:nvPr/>
        </p:nvSpPr>
        <p:spPr>
          <a:xfrm>
            <a:off x="8915400" y="4552950"/>
            <a:ext cx="2619375" cy="361950"/>
          </a:xfrm>
          <a:prstGeom prst="rect">
            <a:avLst/>
          </a:prstGeom>
          <a:noFill/>
          <a:ln w="0">
            <a:noFill/>
          </a:ln>
        </p:spPr>
        <p:txBody>
          <a:bodyPr wrap="none" lIns="0" tIns="0" rIns="0" bIns="0" anchor="t">
            <a:noAutofit/>
          </a:bodyPr>
          <a:lstStyle/>
          <a:p>
            <a:pPr>
              <a:lnSpc>
                <a:spcPct val="108000"/>
              </a:lnSpc>
              <a:buNone/>
              <a:defRPr sz="2025" b="1">
                <a:solidFill>
                  <a:srgbClr val="357AE8"/>
                </a:solidFill>
                <a:latin typeface="Times New Roman" panose="02020503050405090304"/>
                <a:ea typeface="微软雅黑"/>
                <a:cs typeface="Times New Roman" panose="02020503050405090304"/>
              </a:defRPr>
            </a:pPr>
            <a:r>
              <a:rPr sz="2025" b="1">
                <a:solidFill>
                  <a:srgbClr val="357AE8"/>
                </a:solidFill>
                <a:latin typeface="Times New Roman" panose="02020503050405090304"/>
                <a:ea typeface="微软雅黑"/>
                <a:cs typeface="Times New Roman" panose="02020503050405090304"/>
              </a:rPr>
              <a:t>压缩与部署</a:t>
            </a:r>
            <a:endParaRPr sz="2025" b="1">
              <a:solidFill>
                <a:srgbClr val="357AE8"/>
              </a:solidFill>
              <a:latin typeface="Times New Roman" panose="02020503050405090304"/>
              <a:ea typeface="微软雅黑"/>
              <a:cs typeface="Times New Roman" panose="02020503050405090304"/>
            </a:endParaRPr>
          </a:p>
        </p:txBody>
      </p:sp>
      <p:sp>
        <p:nvSpPr>
          <p:cNvPr id="28" name="stage-3-body"/>
          <p:cNvSpPr>
            <a:spLocks noGrp="1"/>
          </p:cNvSpPr>
          <p:nvPr/>
        </p:nvSpPr>
        <p:spPr>
          <a:xfrm>
            <a:off x="8915400" y="5038725"/>
            <a:ext cx="2619375" cy="64770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结合量化等技术</a:t>
            </a:r>
            <a:endParaRPr sz="1800" b="0">
              <a:solidFill>
                <a:srgbClr val="111111"/>
              </a:solidFill>
              <a:latin typeface="Times New Roman" panose="02020503050405090304"/>
              <a:ea typeface="微软雅黑"/>
              <a:cs typeface="Times New Roman" panose="02020503050405090304"/>
            </a:endParaRPr>
          </a:p>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满足部署约束</a:t>
            </a:r>
            <a:endParaRPr sz="1800" b="0">
              <a:solidFill>
                <a:srgbClr val="111111"/>
              </a:solidFill>
              <a:latin typeface="Times New Roman" panose="02020503050405090304"/>
              <a:ea typeface="微软雅黑"/>
              <a:cs typeface="Times New Roman" panose="02020503050405090304"/>
            </a:endParaRPr>
          </a:p>
        </p:txBody>
      </p:sp>
      <p:sp>
        <p:nvSpPr>
          <p:cNvPr id="29" name="key"/>
          <p:cNvSpPr>
            <a:spLocks noGrp="1"/>
          </p:cNvSpPr>
          <p:nvPr/>
        </p:nvSpPr>
        <p:spPr>
          <a:xfrm>
            <a:off x="742950" y="5857875"/>
            <a:ext cx="10706100" cy="304800"/>
          </a:xfrm>
          <a:prstGeom prst="rect">
            <a:avLst/>
          </a:prstGeom>
          <a:noFill/>
          <a:ln w="0">
            <a:noFill/>
          </a:ln>
        </p:spPr>
        <p:txBody>
          <a:bodyPr wrap="none" lIns="0" tIns="0" rIns="0" bIns="0" anchor="t">
            <a:noAutofit/>
          </a:bodyPr>
          <a:lstStyle/>
          <a:p>
            <a:pPr>
              <a:lnSpc>
                <a:spcPct val="108000"/>
              </a:lnSpc>
              <a:buNone/>
              <a:defRPr sz="1800" b="1">
                <a:solidFill>
                  <a:srgbClr val="E60012"/>
                </a:solidFill>
                <a:latin typeface="Times New Roman" panose="02020503050405090304"/>
                <a:ea typeface="微软雅黑"/>
                <a:cs typeface="Times New Roman" panose="02020503050405090304"/>
              </a:defRPr>
            </a:pPr>
            <a:r>
              <a:rPr sz="1800" b="1">
                <a:solidFill>
                  <a:srgbClr val="E60012"/>
                </a:solidFill>
                <a:latin typeface="Times New Roman" panose="02020503050405090304"/>
                <a:ea typeface="微软雅黑"/>
                <a:cs typeface="Times New Roman" panose="02020503050405090304"/>
              </a:rPr>
              <a:t>本课程聚焦 SFT 与 RL，并用 Wordle 贯穿数据、训练、评测和排障。</a:t>
            </a:r>
            <a:endParaRPr sz="1800" b="1">
              <a:solidFill>
                <a:srgbClr val="E60012"/>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19"/>
                                        </p:tgtEl>
                                        <p:attrNameLst>
                                          <p:attrName>style.visibility</p:attrName>
                                        </p:attrNameLst>
                                      </p:cBhvr>
                                      <p:to>
                                        <p:strVal val="visible"/>
                                      </p:to>
                                    </p:set>
                                    <p:animEffect transition="in" filter="fade">
                                      <p:cBhvr>
                                        <p:cTn id="7" dur="350"/>
                                        <p:tgtEl>
                                          <p:spTgt spid="19"/>
                                        </p:tgtEl>
                                      </p:cBhvr>
                                    </p:animEffect>
                                  </p:childTnLst>
                                </p:cTn>
                              </p:par>
                              <p:par>
                                <p:cTn id="8" presetID="10" presetClass="entr" presetSubtype="0" fill="hold" grpId="0" nodeType="withEffect">
                                  <p:stCondLst>
                                    <p:cond delay="0"/>
                                  </p:stCondLst>
                                  <p:childTnLst>
                                    <p:set>
                                      <p:cBhvr>
                                        <p:cTn id="9" dur="1" fill="hold"/>
                                        <p:tgtEl>
                                          <p:spTgt spid="34"/>
                                        </p:tgtEl>
                                        <p:attrNameLst>
                                          <p:attrName>style.visibility</p:attrName>
                                        </p:attrNameLst>
                                      </p:cBhvr>
                                      <p:to>
                                        <p:strVal val="visible"/>
                                      </p:to>
                                    </p:set>
                                    <p:animEffect transition="in" filter="fade">
                                      <p:cBhvr>
                                        <p:cTn id="10" dur="350"/>
                                        <p:tgtEl>
                                          <p:spTgt spid="3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21"/>
                                        </p:tgtEl>
                                        <p:attrNameLst>
                                          <p:attrName>style.visibility</p:attrName>
                                        </p:attrNameLst>
                                      </p:cBhvr>
                                      <p:to>
                                        <p:strVal val="visible"/>
                                      </p:to>
                                    </p:set>
                                    <p:animEffect transition="in" filter="fade">
                                      <p:cBhvr>
                                        <p:cTn id="15" dur="350"/>
                                        <p:tgtEl>
                                          <p:spTgt spid="21"/>
                                        </p:tgtEl>
                                      </p:cBhvr>
                                    </p:animEffect>
                                  </p:childTnLst>
                                </p:cTn>
                              </p:par>
                              <p:par>
                                <p:cTn id="16" presetID="10" presetClass="entr" presetSubtype="0" fill="hold" grpId="0" nodeType="withEffect">
                                  <p:stCondLst>
                                    <p:cond delay="0"/>
                                  </p:stCondLst>
                                  <p:childTnLst>
                                    <p:set>
                                      <p:cBhvr>
                                        <p:cTn id="17" dur="1" fill="hold"/>
                                        <p:tgtEl>
                                          <p:spTgt spid="22"/>
                                        </p:tgtEl>
                                        <p:attrNameLst>
                                          <p:attrName>style.visibility</p:attrName>
                                        </p:attrNameLst>
                                      </p:cBhvr>
                                      <p:to>
                                        <p:strVal val="visible"/>
                                      </p:to>
                                    </p:set>
                                    <p:animEffect transition="in" filter="fade">
                                      <p:cBhvr>
                                        <p:cTn id="18" dur="35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tgtEl>
                                          <p:spTgt spid="23"/>
                                        </p:tgtEl>
                                        <p:attrNameLst>
                                          <p:attrName>style.visibility</p:attrName>
                                        </p:attrNameLst>
                                      </p:cBhvr>
                                      <p:to>
                                        <p:strVal val="visible"/>
                                      </p:to>
                                    </p:set>
                                    <p:animEffect transition="in" filter="fade">
                                      <p:cBhvr>
                                        <p:cTn id="23" dur="350"/>
                                        <p:tgtEl>
                                          <p:spTgt spid="23"/>
                                        </p:tgtEl>
                                      </p:cBhvr>
                                    </p:animEffect>
                                  </p:childTnLst>
                                </p:cTn>
                              </p:par>
                              <p:par>
                                <p:cTn id="24" presetID="10" presetClass="entr" presetSubtype="0" fill="hold" grpId="0" nodeType="withEffect">
                                  <p:stCondLst>
                                    <p:cond delay="0"/>
                                  </p:stCondLst>
                                  <p:childTnLst>
                                    <p:set>
                                      <p:cBhvr>
                                        <p:cTn id="25" dur="1" fill="hold"/>
                                        <p:tgtEl>
                                          <p:spTgt spid="24"/>
                                        </p:tgtEl>
                                        <p:attrNameLst>
                                          <p:attrName>style.visibility</p:attrName>
                                        </p:attrNameLst>
                                      </p:cBhvr>
                                      <p:to>
                                        <p:strVal val="visible"/>
                                      </p:to>
                                    </p:set>
                                    <p:animEffect transition="in" filter="fade">
                                      <p:cBhvr>
                                        <p:cTn id="26" dur="350"/>
                                        <p:tgtEl>
                                          <p:spTgt spid="24"/>
                                        </p:tgtEl>
                                      </p:cBhvr>
                                    </p:animEffect>
                                  </p:childTnLst>
                                </p:cTn>
                              </p:par>
                              <p:par>
                                <p:cTn id="27" presetID="10" presetClass="entr" presetSubtype="0" fill="hold" grpId="0" nodeType="withEffect">
                                  <p:stCondLst>
                                    <p:cond delay="0"/>
                                  </p:stCondLst>
                                  <p:childTnLst>
                                    <p:set>
                                      <p:cBhvr>
                                        <p:cTn id="28" dur="1" fill="hold"/>
                                        <p:tgtEl>
                                          <p:spTgt spid="25"/>
                                        </p:tgtEl>
                                        <p:attrNameLst>
                                          <p:attrName>style.visibility</p:attrName>
                                        </p:attrNameLst>
                                      </p:cBhvr>
                                      <p:to>
                                        <p:strVal val="visible"/>
                                      </p:to>
                                    </p:set>
                                    <p:animEffect transition="in" filter="fade">
                                      <p:cBhvr>
                                        <p:cTn id="29" dur="350"/>
                                        <p:tgtEl>
                                          <p:spTgt spid="25"/>
                                        </p:tgtEl>
                                      </p:cBhvr>
                                    </p:animEffect>
                                  </p:childTnLst>
                                </p:cTn>
                              </p:par>
                              <p:par>
                                <p:cTn id="30" presetID="10" presetClass="entr" presetSubtype="0" fill="hold" grpId="0" nodeType="withEffect">
                                  <p:stCondLst>
                                    <p:cond delay="0"/>
                                  </p:stCondLst>
                                  <p:childTnLst>
                                    <p:set>
                                      <p:cBhvr>
                                        <p:cTn id="31" dur="1" fill="hold"/>
                                        <p:tgtEl>
                                          <p:spTgt spid="26"/>
                                        </p:tgtEl>
                                        <p:attrNameLst>
                                          <p:attrName>style.visibility</p:attrName>
                                        </p:attrNameLst>
                                      </p:cBhvr>
                                      <p:to>
                                        <p:strVal val="visible"/>
                                      </p:to>
                                    </p:set>
                                    <p:animEffect transition="in" filter="fade">
                                      <p:cBhvr>
                                        <p:cTn id="32" dur="35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tgtEl>
                                          <p:spTgt spid="27"/>
                                        </p:tgtEl>
                                        <p:attrNameLst>
                                          <p:attrName>style.visibility</p:attrName>
                                        </p:attrNameLst>
                                      </p:cBhvr>
                                      <p:to>
                                        <p:strVal val="visible"/>
                                      </p:to>
                                    </p:set>
                                    <p:animEffect transition="in" filter="fade">
                                      <p:cBhvr>
                                        <p:cTn id="37" dur="350"/>
                                        <p:tgtEl>
                                          <p:spTgt spid="27"/>
                                        </p:tgtEl>
                                      </p:cBhvr>
                                    </p:animEffect>
                                  </p:childTnLst>
                                </p:cTn>
                              </p:par>
                              <p:par>
                                <p:cTn id="38" presetID="10" presetClass="entr" presetSubtype="0" fill="hold" grpId="0" nodeType="withEffect">
                                  <p:stCondLst>
                                    <p:cond delay="0"/>
                                  </p:stCondLst>
                                  <p:childTnLst>
                                    <p:set>
                                      <p:cBhvr>
                                        <p:cTn id="39" dur="1" fill="hold"/>
                                        <p:tgtEl>
                                          <p:spTgt spid="28"/>
                                        </p:tgtEl>
                                        <p:attrNameLst>
                                          <p:attrName>style.visibility</p:attrName>
                                        </p:attrNameLst>
                                      </p:cBhvr>
                                      <p:to>
                                        <p:strVal val="visible"/>
                                      </p:to>
                                    </p:set>
                                    <p:animEffect transition="in" filter="fade">
                                      <p:cBhvr>
                                        <p:cTn id="40" dur="350"/>
                                        <p:tgtEl>
                                          <p:spTgt spid="28"/>
                                        </p:tgtEl>
                                      </p:cBhvr>
                                    </p:animEffect>
                                  </p:childTnLst>
                                </p:cTn>
                              </p:par>
                              <p:par>
                                <p:cTn id="41" presetID="10" presetClass="entr" presetSubtype="0" fill="hold" grpId="0" nodeType="withEffect">
                                  <p:stCondLst>
                                    <p:cond delay="0"/>
                                  </p:stCondLst>
                                  <p:childTnLst>
                                    <p:set>
                                      <p:cBhvr>
                                        <p:cTn id="42" dur="1" fill="hold"/>
                                        <p:tgtEl>
                                          <p:spTgt spid="29"/>
                                        </p:tgtEl>
                                        <p:attrNameLst>
                                          <p:attrName>style.visibility</p:attrName>
                                        </p:attrNameLst>
                                      </p:cBhvr>
                                      <p:to>
                                        <p:strVal val="visible"/>
                                      </p:to>
                                    </p:set>
                                    <p:animEffect transition="in" filter="fade">
                                      <p:cBhvr>
                                        <p:cTn id="43" dur="3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9"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前置知识</a:t>
            </a:r>
            <a:endParaRPr sz="2700" b="1">
              <a:solidFill>
                <a:srgbClr val="111111"/>
              </a:solidFill>
              <a:latin typeface="Times New Roman" panose="02020503050405090304"/>
              <a:ea typeface="微软雅黑"/>
              <a:cs typeface="Times New Roman" panose="02020503050405090304"/>
            </a:endParaRPr>
          </a:p>
        </p:txBody>
      </p:sp>
      <p:sp>
        <p:nvSpPr>
          <p:cNvPr id="19" name="intro"/>
          <p:cNvSpPr>
            <a:spLocks noGrp="1"/>
          </p:cNvSpPr>
          <p:nvPr/>
        </p:nvSpPr>
        <p:spPr>
          <a:xfrm>
            <a:off x="742950" y="1104900"/>
            <a:ext cx="10706100" cy="400050"/>
          </a:xfrm>
          <a:prstGeom prst="rect">
            <a:avLst/>
          </a:prstGeom>
          <a:noFill/>
          <a:ln w="0">
            <a:noFill/>
          </a:ln>
        </p:spPr>
        <p:txBody>
          <a:bodyPr wrap="none" lIns="0" tIns="0" rIns="0" bIns="0" anchor="t">
            <a:noAutofit/>
          </a:bodyPr>
          <a:lstStyle/>
          <a:p>
            <a:pPr>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模型权重是一组参数，训练根据数据和损失不断调整这些数字。</a:t>
            </a:r>
            <a:endParaRPr sz="2000" b="0">
              <a:solidFill>
                <a:srgbClr val="111111"/>
              </a:solidFill>
              <a:latin typeface="Times New Roman" panose="02020503050405090304"/>
              <a:ea typeface="微软雅黑"/>
              <a:cs typeface="Times New Roman" panose="02020503050405090304"/>
            </a:endParaRPr>
          </a:p>
        </p:txBody>
      </p:sp>
      <p:pic>
        <p:nvPicPr>
          <p:cNvPr id="33" name="weight-matrix"/>
          <p:cNvPicPr>
            <a:picLocks noChangeAspect="1"/>
          </p:cNvPicPr>
          <p:nvPr/>
        </p:nvPicPr>
        <p:blipFill>
          <a:blip r:embed="rId2"/>
          <a:stretch>
            <a:fillRect/>
          </a:stretch>
        </p:blipFill>
        <p:spPr>
          <a:xfrm>
            <a:off x="7526208" y="1876425"/>
            <a:ext cx="3378459" cy="3143250"/>
          </a:xfrm>
          <a:prstGeom prst="rect">
            <a:avLst/>
          </a:prstGeom>
        </p:spPr>
      </p:pic>
      <p:sp>
        <p:nvSpPr>
          <p:cNvPr id="21" name="weight-0-head"/>
          <p:cNvSpPr>
            <a:spLocks noGrp="1"/>
          </p:cNvSpPr>
          <p:nvPr/>
        </p:nvSpPr>
        <p:spPr>
          <a:xfrm>
            <a:off x="742950" y="2009775"/>
            <a:ext cx="6000750" cy="361950"/>
          </a:xfrm>
          <a:prstGeom prst="rect">
            <a:avLst/>
          </a:prstGeom>
          <a:noFill/>
          <a:ln w="0">
            <a:noFill/>
          </a:ln>
        </p:spPr>
        <p:txBody>
          <a:bodyPr wrap="none" lIns="0" tIns="0" rIns="0" bIns="0" anchor="t">
            <a:noAutofit/>
          </a:bodyPr>
          <a:lstStyle/>
          <a:p>
            <a:pPr>
              <a:lnSpc>
                <a:spcPct val="108000"/>
              </a:lnSpc>
              <a:buNone/>
              <a:defRPr sz="2025" b="1">
                <a:solidFill>
                  <a:srgbClr val="357AE8"/>
                </a:solidFill>
                <a:latin typeface="Times New Roman" panose="02020503050405090304"/>
                <a:ea typeface="微软雅黑"/>
                <a:cs typeface="Times New Roman" panose="02020503050405090304"/>
              </a:defRPr>
            </a:pPr>
            <a:r>
              <a:rPr sz="2025" b="1">
                <a:solidFill>
                  <a:srgbClr val="357AE8"/>
                </a:solidFill>
                <a:latin typeface="Times New Roman" panose="02020503050405090304"/>
                <a:ea typeface="微软雅黑"/>
                <a:cs typeface="Times New Roman" panose="02020503050405090304"/>
              </a:rPr>
              <a:t>模型结构</a:t>
            </a:r>
            <a:endParaRPr sz="2025" b="1">
              <a:solidFill>
                <a:srgbClr val="357AE8"/>
              </a:solidFill>
              <a:latin typeface="Times New Roman" panose="02020503050405090304"/>
              <a:ea typeface="微软雅黑"/>
              <a:cs typeface="Times New Roman" panose="02020503050405090304"/>
            </a:endParaRPr>
          </a:p>
        </p:txBody>
      </p:sp>
      <p:sp>
        <p:nvSpPr>
          <p:cNvPr id="22" name="weight-0-body"/>
          <p:cNvSpPr>
            <a:spLocks noGrp="1"/>
          </p:cNvSpPr>
          <p:nvPr/>
        </p:nvSpPr>
        <p:spPr>
          <a:xfrm>
            <a:off x="742950" y="2447925"/>
            <a:ext cx="6381750" cy="371475"/>
          </a:xfrm>
          <a:prstGeom prst="rect">
            <a:avLst/>
          </a:prstGeom>
          <a:noFill/>
          <a:ln w="0">
            <a:noFill/>
          </a:ln>
        </p:spPr>
        <p:txBody>
          <a:bodyPr wrap="none" lIns="0" tIns="0" rIns="0" bIns="0" anchor="t">
            <a:noAutofit/>
          </a:bodyPr>
          <a:lstStyle/>
          <a:p>
            <a:pPr>
              <a:lnSpc>
                <a:spcPct val="108000"/>
              </a:lnSpc>
              <a:buNone/>
              <a:defRPr sz="1875" b="0">
                <a:solidFill>
                  <a:srgbClr val="111111"/>
                </a:solidFill>
                <a:latin typeface="Times New Roman" panose="02020503050405090304"/>
                <a:ea typeface="微软雅黑"/>
                <a:cs typeface="Times New Roman" panose="02020503050405090304"/>
              </a:defRPr>
            </a:pPr>
            <a:r>
              <a:rPr sz="1875" b="0">
                <a:solidFill>
                  <a:srgbClr val="111111"/>
                </a:solidFill>
                <a:latin typeface="Times New Roman" panose="02020503050405090304"/>
                <a:ea typeface="微软雅黑"/>
                <a:cs typeface="Times New Roman" panose="02020503050405090304"/>
              </a:rPr>
              <a:t>决定参数如何参与计算。</a:t>
            </a:r>
            <a:endParaRPr sz="1875" b="0">
              <a:solidFill>
                <a:srgbClr val="111111"/>
              </a:solidFill>
              <a:latin typeface="Times New Roman" panose="02020503050405090304"/>
              <a:ea typeface="微软雅黑"/>
              <a:cs typeface="Times New Roman" panose="02020503050405090304"/>
            </a:endParaRPr>
          </a:p>
        </p:txBody>
      </p:sp>
      <p:sp>
        <p:nvSpPr>
          <p:cNvPr id="23" name="weight-1-head"/>
          <p:cNvSpPr>
            <a:spLocks noGrp="1"/>
          </p:cNvSpPr>
          <p:nvPr/>
        </p:nvSpPr>
        <p:spPr>
          <a:xfrm>
            <a:off x="742950" y="2990850"/>
            <a:ext cx="6000750" cy="361950"/>
          </a:xfrm>
          <a:prstGeom prst="rect">
            <a:avLst/>
          </a:prstGeom>
          <a:noFill/>
          <a:ln w="0">
            <a:noFill/>
          </a:ln>
        </p:spPr>
        <p:txBody>
          <a:bodyPr wrap="none" lIns="0" tIns="0" rIns="0" bIns="0" anchor="t">
            <a:noAutofit/>
          </a:bodyPr>
          <a:lstStyle/>
          <a:p>
            <a:pPr>
              <a:lnSpc>
                <a:spcPct val="108000"/>
              </a:lnSpc>
              <a:buNone/>
              <a:defRPr sz="2025" b="1">
                <a:solidFill>
                  <a:srgbClr val="E60012"/>
                </a:solidFill>
                <a:latin typeface="Times New Roman" panose="02020503050405090304"/>
                <a:ea typeface="微软雅黑"/>
                <a:cs typeface="Times New Roman" panose="02020503050405090304"/>
              </a:defRPr>
            </a:pPr>
            <a:r>
              <a:rPr sz="2025" b="1">
                <a:solidFill>
                  <a:srgbClr val="E60012"/>
                </a:solidFill>
                <a:latin typeface="Times New Roman" panose="02020503050405090304"/>
                <a:ea typeface="微软雅黑"/>
                <a:cs typeface="Times New Roman" panose="02020503050405090304"/>
              </a:rPr>
              <a:t>模型权重</a:t>
            </a:r>
            <a:endParaRPr sz="2025" b="1">
              <a:solidFill>
                <a:srgbClr val="E60012"/>
              </a:solidFill>
              <a:latin typeface="Times New Roman" panose="02020503050405090304"/>
              <a:ea typeface="微软雅黑"/>
              <a:cs typeface="Times New Roman" panose="02020503050405090304"/>
            </a:endParaRPr>
          </a:p>
        </p:txBody>
      </p:sp>
      <p:sp>
        <p:nvSpPr>
          <p:cNvPr id="24" name="weight-1-body"/>
          <p:cNvSpPr>
            <a:spLocks noGrp="1"/>
          </p:cNvSpPr>
          <p:nvPr/>
        </p:nvSpPr>
        <p:spPr>
          <a:xfrm>
            <a:off x="742950" y="3429000"/>
            <a:ext cx="6381750" cy="371475"/>
          </a:xfrm>
          <a:prstGeom prst="rect">
            <a:avLst/>
          </a:prstGeom>
          <a:noFill/>
          <a:ln w="0">
            <a:noFill/>
          </a:ln>
        </p:spPr>
        <p:txBody>
          <a:bodyPr wrap="none" lIns="0" tIns="0" rIns="0" bIns="0" anchor="t">
            <a:noAutofit/>
          </a:bodyPr>
          <a:lstStyle/>
          <a:p>
            <a:pPr>
              <a:lnSpc>
                <a:spcPct val="108000"/>
              </a:lnSpc>
              <a:buNone/>
              <a:defRPr sz="1875" b="0">
                <a:solidFill>
                  <a:srgbClr val="111111"/>
                </a:solidFill>
                <a:latin typeface="Times New Roman" panose="02020503050405090304"/>
                <a:ea typeface="微软雅黑"/>
                <a:cs typeface="Times New Roman" panose="02020503050405090304"/>
              </a:defRPr>
            </a:pPr>
            <a:r>
              <a:rPr sz="1875" b="0">
                <a:solidFill>
                  <a:srgbClr val="111111"/>
                </a:solidFill>
                <a:latin typeface="Times New Roman" panose="02020503050405090304"/>
                <a:ea typeface="微软雅黑"/>
                <a:cs typeface="Times New Roman" panose="02020503050405090304"/>
              </a:rPr>
              <a:t>训练得到的大量数值，影响模型输出。</a:t>
            </a:r>
            <a:endParaRPr sz="1875" b="0">
              <a:solidFill>
                <a:srgbClr val="111111"/>
              </a:solidFill>
              <a:latin typeface="Times New Roman" panose="02020503050405090304"/>
              <a:ea typeface="微软雅黑"/>
              <a:cs typeface="Times New Roman" panose="02020503050405090304"/>
            </a:endParaRPr>
          </a:p>
        </p:txBody>
      </p:sp>
      <p:sp>
        <p:nvSpPr>
          <p:cNvPr id="25" name="weight-2-head"/>
          <p:cNvSpPr>
            <a:spLocks noGrp="1"/>
          </p:cNvSpPr>
          <p:nvPr/>
        </p:nvSpPr>
        <p:spPr>
          <a:xfrm>
            <a:off x="742950" y="3971925"/>
            <a:ext cx="6000750" cy="361950"/>
          </a:xfrm>
          <a:prstGeom prst="rect">
            <a:avLst/>
          </a:prstGeom>
          <a:noFill/>
          <a:ln w="0">
            <a:noFill/>
          </a:ln>
        </p:spPr>
        <p:txBody>
          <a:bodyPr wrap="none" lIns="0" tIns="0" rIns="0" bIns="0" anchor="t">
            <a:noAutofit/>
          </a:bodyPr>
          <a:lstStyle/>
          <a:p>
            <a:pPr>
              <a:lnSpc>
                <a:spcPct val="108000"/>
              </a:lnSpc>
              <a:buNone/>
              <a:defRPr sz="2025" b="1">
                <a:solidFill>
                  <a:srgbClr val="357AE8"/>
                </a:solidFill>
                <a:latin typeface="Times New Roman" panose="02020503050405090304"/>
                <a:ea typeface="微软雅黑"/>
                <a:cs typeface="Times New Roman" panose="02020503050405090304"/>
              </a:defRPr>
            </a:pPr>
            <a:r>
              <a:rPr sz="2025" b="1">
                <a:solidFill>
                  <a:srgbClr val="357AE8"/>
                </a:solidFill>
                <a:latin typeface="Times New Roman" panose="02020503050405090304"/>
                <a:ea typeface="微软雅黑"/>
                <a:cs typeface="Times New Roman" panose="02020503050405090304"/>
              </a:rPr>
              <a:t>训练过程</a:t>
            </a:r>
            <a:endParaRPr sz="2025" b="1">
              <a:solidFill>
                <a:srgbClr val="357AE8"/>
              </a:solidFill>
              <a:latin typeface="Times New Roman" panose="02020503050405090304"/>
              <a:ea typeface="微软雅黑"/>
              <a:cs typeface="Times New Roman" panose="02020503050405090304"/>
            </a:endParaRPr>
          </a:p>
        </p:txBody>
      </p:sp>
      <p:sp>
        <p:nvSpPr>
          <p:cNvPr id="26" name="weight-2-body"/>
          <p:cNvSpPr>
            <a:spLocks noGrp="1"/>
          </p:cNvSpPr>
          <p:nvPr/>
        </p:nvSpPr>
        <p:spPr>
          <a:xfrm>
            <a:off x="742950" y="4410075"/>
            <a:ext cx="6381750" cy="371475"/>
          </a:xfrm>
          <a:prstGeom prst="rect">
            <a:avLst/>
          </a:prstGeom>
          <a:noFill/>
          <a:ln w="0">
            <a:noFill/>
          </a:ln>
        </p:spPr>
        <p:txBody>
          <a:bodyPr wrap="none" lIns="0" tIns="0" rIns="0" bIns="0" anchor="t">
            <a:noAutofit/>
          </a:bodyPr>
          <a:lstStyle/>
          <a:p>
            <a:pPr>
              <a:lnSpc>
                <a:spcPct val="108000"/>
              </a:lnSpc>
              <a:buNone/>
              <a:defRPr sz="1875" b="0">
                <a:solidFill>
                  <a:srgbClr val="111111"/>
                </a:solidFill>
                <a:latin typeface="Times New Roman" panose="02020503050405090304"/>
                <a:ea typeface="微软雅黑"/>
                <a:cs typeface="Times New Roman" panose="02020503050405090304"/>
              </a:defRPr>
            </a:pPr>
            <a:r>
              <a:rPr sz="1875" b="0">
                <a:solidFill>
                  <a:srgbClr val="111111"/>
                </a:solidFill>
                <a:latin typeface="Times New Roman" panose="02020503050405090304"/>
                <a:ea typeface="微软雅黑"/>
                <a:cs typeface="Times New Roman" panose="02020503050405090304"/>
              </a:rPr>
              <a:t>先计算结果和损失，再求梯度并更新参数。</a:t>
            </a:r>
            <a:endParaRPr sz="1875" b="0">
              <a:solidFill>
                <a:srgbClr val="111111"/>
              </a:solidFill>
              <a:latin typeface="Times New Roman" panose="02020503050405090304"/>
              <a:ea typeface="微软雅黑"/>
              <a:cs typeface="Times New Roman" panose="02020503050405090304"/>
            </a:endParaRPr>
          </a:p>
        </p:txBody>
      </p:sp>
      <p:sp>
        <p:nvSpPr>
          <p:cNvPr id="27" name="openness"/>
          <p:cNvSpPr>
            <a:spLocks noGrp="1"/>
          </p:cNvSpPr>
          <p:nvPr/>
        </p:nvSpPr>
        <p:spPr>
          <a:xfrm>
            <a:off x="742950" y="5305425"/>
            <a:ext cx="10706100" cy="381000"/>
          </a:xfrm>
          <a:prstGeom prst="rect">
            <a:avLst/>
          </a:prstGeom>
          <a:noFill/>
          <a:ln w="0">
            <a:noFill/>
          </a:ln>
        </p:spPr>
        <p:txBody>
          <a:bodyPr wrap="none" lIns="0" tIns="0" rIns="0" bIns="0" anchor="t">
            <a:noAutofit/>
          </a:bodyPr>
          <a:lstStyle/>
          <a:p>
            <a:pPr>
              <a:lnSpc>
                <a:spcPct val="108000"/>
              </a:lnSpc>
              <a:buNone/>
              <a:defRPr sz="1875" b="0">
                <a:solidFill>
                  <a:srgbClr val="111111"/>
                </a:solidFill>
                <a:latin typeface="Times New Roman" panose="02020503050405090304"/>
                <a:ea typeface="微软雅黑"/>
                <a:cs typeface="Times New Roman" panose="02020503050405090304"/>
              </a:defRPr>
            </a:pPr>
            <a:r>
              <a:rPr sz="1875" b="0">
                <a:solidFill>
                  <a:srgbClr val="111111"/>
                </a:solidFill>
                <a:latin typeface="Times New Roman" panose="02020503050405090304"/>
                <a:ea typeface="微软雅黑"/>
                <a:cs typeface="Times New Roman" panose="02020503050405090304"/>
              </a:rPr>
              <a:t>权重是否开放：能否下载模型参数，具体使用范围还要看许可证。</a:t>
            </a:r>
            <a:endParaRPr sz="1875" b="0">
              <a:solidFill>
                <a:srgbClr val="111111"/>
              </a:solidFill>
              <a:latin typeface="Times New Roman" panose="02020503050405090304"/>
              <a:ea typeface="微软雅黑"/>
              <a:cs typeface="Times New Roman" panose="02020503050405090304"/>
            </a:endParaRPr>
          </a:p>
        </p:txBody>
      </p:sp>
      <p:sp>
        <p:nvSpPr>
          <p:cNvPr id="28" name="key"/>
          <p:cNvSpPr>
            <a:spLocks noGrp="1"/>
          </p:cNvSpPr>
          <p:nvPr/>
        </p:nvSpPr>
        <p:spPr>
          <a:xfrm>
            <a:off x="742950" y="5857875"/>
            <a:ext cx="10706100" cy="304800"/>
          </a:xfrm>
          <a:prstGeom prst="rect">
            <a:avLst/>
          </a:prstGeom>
          <a:noFill/>
          <a:ln w="0">
            <a:noFill/>
          </a:ln>
        </p:spPr>
        <p:txBody>
          <a:bodyPr wrap="none" lIns="0" tIns="0" rIns="0" bIns="0" anchor="t">
            <a:noAutofit/>
          </a:bodyPr>
          <a:lstStyle/>
          <a:p>
            <a:pPr>
              <a:lnSpc>
                <a:spcPct val="108000"/>
              </a:lnSpc>
              <a:buNone/>
              <a:defRPr sz="1800" b="1">
                <a:solidFill>
                  <a:srgbClr val="E60012"/>
                </a:solidFill>
                <a:latin typeface="Times New Roman" panose="02020503050405090304"/>
                <a:ea typeface="微软雅黑"/>
                <a:cs typeface="Times New Roman" panose="02020503050405090304"/>
              </a:defRPr>
            </a:pPr>
            <a:r>
              <a:rPr sz="1800" b="1">
                <a:solidFill>
                  <a:srgbClr val="E60012"/>
                </a:solidFill>
                <a:latin typeface="Times New Roman" panose="02020503050405090304"/>
                <a:ea typeface="微软雅黑"/>
                <a:cs typeface="Times New Roman" panose="02020503050405090304"/>
              </a:rPr>
              <a:t>公开权重与完整开源的含义不同，不能只凭“数字是否公开”判断。</a:t>
            </a:r>
            <a:endParaRPr sz="1800" b="1">
              <a:solidFill>
                <a:srgbClr val="E60012"/>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19"/>
                                        </p:tgtEl>
                                        <p:attrNameLst>
                                          <p:attrName>style.visibility</p:attrName>
                                        </p:attrNameLst>
                                      </p:cBhvr>
                                      <p:to>
                                        <p:strVal val="visible"/>
                                      </p:to>
                                    </p:set>
                                    <p:animEffect transition="in" filter="fade">
                                      <p:cBhvr>
                                        <p:cTn id="7" dur="350"/>
                                        <p:tgtEl>
                                          <p:spTgt spid="19"/>
                                        </p:tgtEl>
                                      </p:cBhvr>
                                    </p:animEffect>
                                  </p:childTnLst>
                                </p:cTn>
                              </p:par>
                              <p:par>
                                <p:cTn id="8" presetID="10" presetClass="entr" presetSubtype="0" fill="hold" grpId="0" nodeType="withEffect">
                                  <p:stCondLst>
                                    <p:cond delay="0"/>
                                  </p:stCondLst>
                                  <p:childTnLst>
                                    <p:set>
                                      <p:cBhvr>
                                        <p:cTn id="9" dur="1" fill="hold"/>
                                        <p:tgtEl>
                                          <p:spTgt spid="33"/>
                                        </p:tgtEl>
                                        <p:attrNameLst>
                                          <p:attrName>style.visibility</p:attrName>
                                        </p:attrNameLst>
                                      </p:cBhvr>
                                      <p:to>
                                        <p:strVal val="visible"/>
                                      </p:to>
                                    </p:set>
                                    <p:animEffect transition="in" filter="fade">
                                      <p:cBhvr>
                                        <p:cTn id="10" dur="350"/>
                                        <p:tgtEl>
                                          <p:spTgt spid="3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21"/>
                                        </p:tgtEl>
                                        <p:attrNameLst>
                                          <p:attrName>style.visibility</p:attrName>
                                        </p:attrNameLst>
                                      </p:cBhvr>
                                      <p:to>
                                        <p:strVal val="visible"/>
                                      </p:to>
                                    </p:set>
                                    <p:animEffect transition="in" filter="fade">
                                      <p:cBhvr>
                                        <p:cTn id="15" dur="350"/>
                                        <p:tgtEl>
                                          <p:spTgt spid="21"/>
                                        </p:tgtEl>
                                      </p:cBhvr>
                                    </p:animEffect>
                                  </p:childTnLst>
                                </p:cTn>
                              </p:par>
                              <p:par>
                                <p:cTn id="16" presetID="10" presetClass="entr" presetSubtype="0" fill="hold" grpId="0" nodeType="withEffect">
                                  <p:stCondLst>
                                    <p:cond delay="0"/>
                                  </p:stCondLst>
                                  <p:childTnLst>
                                    <p:set>
                                      <p:cBhvr>
                                        <p:cTn id="17" dur="1" fill="hold"/>
                                        <p:tgtEl>
                                          <p:spTgt spid="22"/>
                                        </p:tgtEl>
                                        <p:attrNameLst>
                                          <p:attrName>style.visibility</p:attrName>
                                        </p:attrNameLst>
                                      </p:cBhvr>
                                      <p:to>
                                        <p:strVal val="visible"/>
                                      </p:to>
                                    </p:set>
                                    <p:animEffect transition="in" filter="fade">
                                      <p:cBhvr>
                                        <p:cTn id="18" dur="350"/>
                                        <p:tgtEl>
                                          <p:spTgt spid="22"/>
                                        </p:tgtEl>
                                      </p:cBhvr>
                                    </p:animEffect>
                                  </p:childTnLst>
                                </p:cTn>
                              </p:par>
                              <p:par>
                                <p:cTn id="19" presetID="10" presetClass="entr" presetSubtype="0" fill="hold" grpId="0" nodeType="withEffect">
                                  <p:stCondLst>
                                    <p:cond delay="0"/>
                                  </p:stCondLst>
                                  <p:childTnLst>
                                    <p:set>
                                      <p:cBhvr>
                                        <p:cTn id="20" dur="1" fill="hold"/>
                                        <p:tgtEl>
                                          <p:spTgt spid="23"/>
                                        </p:tgtEl>
                                        <p:attrNameLst>
                                          <p:attrName>style.visibility</p:attrName>
                                        </p:attrNameLst>
                                      </p:cBhvr>
                                      <p:to>
                                        <p:strVal val="visible"/>
                                      </p:to>
                                    </p:set>
                                    <p:animEffect transition="in" filter="fade">
                                      <p:cBhvr>
                                        <p:cTn id="21" dur="350"/>
                                        <p:tgtEl>
                                          <p:spTgt spid="23"/>
                                        </p:tgtEl>
                                      </p:cBhvr>
                                    </p:animEffect>
                                  </p:childTnLst>
                                </p:cTn>
                              </p:par>
                              <p:par>
                                <p:cTn id="22" presetID="10" presetClass="entr" presetSubtype="0" fill="hold" grpId="0" nodeType="withEffect">
                                  <p:stCondLst>
                                    <p:cond delay="0"/>
                                  </p:stCondLst>
                                  <p:childTnLst>
                                    <p:set>
                                      <p:cBhvr>
                                        <p:cTn id="23" dur="1" fill="hold"/>
                                        <p:tgtEl>
                                          <p:spTgt spid="24"/>
                                        </p:tgtEl>
                                        <p:attrNameLst>
                                          <p:attrName>style.visibility</p:attrName>
                                        </p:attrNameLst>
                                      </p:cBhvr>
                                      <p:to>
                                        <p:strVal val="visible"/>
                                      </p:to>
                                    </p:set>
                                    <p:animEffect transition="in" filter="fade">
                                      <p:cBhvr>
                                        <p:cTn id="24" dur="350"/>
                                        <p:tgtEl>
                                          <p:spTgt spid="2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tgtEl>
                                          <p:spTgt spid="25"/>
                                        </p:tgtEl>
                                        <p:attrNameLst>
                                          <p:attrName>style.visibility</p:attrName>
                                        </p:attrNameLst>
                                      </p:cBhvr>
                                      <p:to>
                                        <p:strVal val="visible"/>
                                      </p:to>
                                    </p:set>
                                    <p:animEffect transition="in" filter="fade">
                                      <p:cBhvr>
                                        <p:cTn id="29" dur="350"/>
                                        <p:tgtEl>
                                          <p:spTgt spid="25"/>
                                        </p:tgtEl>
                                      </p:cBhvr>
                                    </p:animEffect>
                                  </p:childTnLst>
                                </p:cTn>
                              </p:par>
                              <p:par>
                                <p:cTn id="30" presetID="10" presetClass="entr" presetSubtype="0" fill="hold" grpId="0" nodeType="withEffect">
                                  <p:stCondLst>
                                    <p:cond delay="0"/>
                                  </p:stCondLst>
                                  <p:childTnLst>
                                    <p:set>
                                      <p:cBhvr>
                                        <p:cTn id="31" dur="1" fill="hold"/>
                                        <p:tgtEl>
                                          <p:spTgt spid="26"/>
                                        </p:tgtEl>
                                        <p:attrNameLst>
                                          <p:attrName>style.visibility</p:attrName>
                                        </p:attrNameLst>
                                      </p:cBhvr>
                                      <p:to>
                                        <p:strVal val="visible"/>
                                      </p:to>
                                    </p:set>
                                    <p:animEffect transition="in" filter="fade">
                                      <p:cBhvr>
                                        <p:cTn id="32" dur="35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tgtEl>
                                          <p:spTgt spid="27"/>
                                        </p:tgtEl>
                                        <p:attrNameLst>
                                          <p:attrName>style.visibility</p:attrName>
                                        </p:attrNameLst>
                                      </p:cBhvr>
                                      <p:to>
                                        <p:strVal val="visible"/>
                                      </p:to>
                                    </p:set>
                                    <p:animEffect transition="in" filter="fade">
                                      <p:cBhvr>
                                        <p:cTn id="37" dur="350"/>
                                        <p:tgtEl>
                                          <p:spTgt spid="27"/>
                                        </p:tgtEl>
                                      </p:cBhvr>
                                    </p:animEffect>
                                  </p:childTnLst>
                                </p:cTn>
                              </p:par>
                              <p:par>
                                <p:cTn id="38" presetID="10" presetClass="entr" presetSubtype="0" fill="hold" grpId="0" nodeType="withEffect">
                                  <p:stCondLst>
                                    <p:cond delay="0"/>
                                  </p:stCondLst>
                                  <p:childTnLst>
                                    <p:set>
                                      <p:cBhvr>
                                        <p:cTn id="39" dur="1" fill="hold"/>
                                        <p:tgtEl>
                                          <p:spTgt spid="28"/>
                                        </p:tgtEl>
                                        <p:attrNameLst>
                                          <p:attrName>style.visibility</p:attrName>
                                        </p:attrNameLst>
                                      </p:cBhvr>
                                      <p:to>
                                        <p:strVal val="visible"/>
                                      </p:to>
                                    </p:set>
                                    <p:animEffect transition="in" filter="fade">
                                      <p:cBhvr>
                                        <p:cTn id="40" dur="3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40"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lang="zh-CN" sz="2700" b="1">
                <a:solidFill>
                  <a:srgbClr val="111111"/>
                </a:solidFill>
                <a:latin typeface="Times New Roman" panose="02020503050405090304"/>
                <a:ea typeface="微软雅黑"/>
                <a:cs typeface="Times New Roman" panose="02020503050405090304"/>
              </a:rPr>
              <a:t>前置知识</a:t>
            </a:r>
            <a:endParaRPr lang="zh-CN" sz="2700" b="1">
              <a:solidFill>
                <a:srgbClr val="111111"/>
              </a:solidFill>
              <a:latin typeface="Times New Roman" panose="02020503050405090304"/>
              <a:ea typeface="微软雅黑"/>
              <a:cs typeface="Times New Roman" panose="02020503050405090304"/>
            </a:endParaRPr>
          </a:p>
        </p:txBody>
      </p:sp>
      <p:pic>
        <p:nvPicPr>
          <p:cNvPr id="5" name="图片 4" descr="ChatGPT Image Sep 8, 2026, 11_13_18 PM"/>
          <p:cNvPicPr>
            <a:picLocks noChangeAspect="1"/>
          </p:cNvPicPr>
          <p:nvPr/>
        </p:nvPicPr>
        <p:blipFill>
          <a:blip r:embed="rId2"/>
          <a:srcRect t="8264" b="9775"/>
          <a:stretch>
            <a:fillRect/>
          </a:stretch>
        </p:blipFill>
        <p:spPr>
          <a:xfrm>
            <a:off x="1172210" y="1085215"/>
            <a:ext cx="9081135" cy="3375660"/>
          </a:xfrm>
          <a:prstGeom prst="rect">
            <a:avLst/>
          </a:prstGeom>
        </p:spPr>
      </p:pic>
      <p:sp>
        <p:nvSpPr>
          <p:cNvPr id="6" name="文本框 5"/>
          <p:cNvSpPr txBox="1"/>
          <p:nvPr/>
        </p:nvSpPr>
        <p:spPr>
          <a:xfrm>
            <a:off x="1349375" y="4723130"/>
            <a:ext cx="8618220" cy="706755"/>
          </a:xfrm>
          <a:prstGeom prst="rect">
            <a:avLst/>
          </a:prstGeom>
          <a:noFill/>
        </p:spPr>
        <p:txBody>
          <a:bodyPr wrap="square" rtlCol="0">
            <a:spAutoFit/>
          </a:bodyPr>
          <a:p>
            <a:pPr algn="ctr"/>
            <a:r>
              <a:rPr sz="1950">
                <a:solidFill>
                  <a:srgbClr val="E60012"/>
                </a:solidFill>
                <a:latin typeface="Times New Roman" panose="02020503050405090304"/>
                <a:ea typeface="微软雅黑"/>
                <a:cs typeface="Times New Roman" panose="02020503050405090304"/>
              </a:rPr>
              <a:t>前向传播：用当前参数计算预测结果，再与目标比较得到损失。</a:t>
            </a:r>
            <a:endParaRPr sz="1950">
              <a:solidFill>
                <a:srgbClr val="E60012"/>
              </a:solidFill>
              <a:latin typeface="Times New Roman" panose="02020503050405090304"/>
              <a:ea typeface="微软雅黑"/>
              <a:cs typeface="Times New Roman" panose="02020503050405090304"/>
            </a:endParaRPr>
          </a:p>
          <a:p>
            <a:pPr algn="ctr"/>
            <a:r>
              <a:rPr sz="1950">
                <a:solidFill>
                  <a:srgbClr val="E60012"/>
                </a:solidFill>
                <a:latin typeface="Times New Roman" panose="02020503050405090304"/>
                <a:ea typeface="微软雅黑"/>
                <a:cs typeface="Times New Roman" panose="02020503050405090304"/>
              </a:rPr>
              <a:t>反向传播：从损失计算梯度。优化器：结合梯度与学习率更新参数。</a:t>
            </a:r>
            <a:endParaRPr sz="1950">
              <a:solidFill>
                <a:srgbClr val="E60012"/>
              </a:solidFill>
              <a:latin typeface="Times New Roman" panose="02020503050405090304"/>
              <a:ea typeface="微软雅黑"/>
              <a:cs typeface="Times New Roman" panose="0202050305040509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5"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前置知识</a:t>
            </a:r>
            <a:endParaRPr sz="2700" b="1">
              <a:solidFill>
                <a:srgbClr val="111111"/>
              </a:solidFill>
              <a:latin typeface="Times New Roman" panose="02020503050405090304"/>
              <a:ea typeface="微软雅黑"/>
              <a:cs typeface="Times New Roman" panose="02020503050405090304"/>
            </a:endParaRPr>
          </a:p>
        </p:txBody>
      </p:sp>
      <p:pic>
        <p:nvPicPr>
          <p:cNvPr id="28" name="pretrain-art"/>
          <p:cNvPicPr>
            <a:picLocks noChangeAspect="1"/>
          </p:cNvPicPr>
          <p:nvPr/>
        </p:nvPicPr>
        <p:blipFill>
          <a:blip r:embed="rId2"/>
          <a:stretch>
            <a:fillRect/>
          </a:stretch>
        </p:blipFill>
        <p:spPr>
          <a:xfrm>
            <a:off x="8931502" y="200025"/>
            <a:ext cx="3253921" cy="5781675"/>
          </a:xfrm>
          <a:prstGeom prst="rect">
            <a:avLst/>
          </a:prstGeom>
        </p:spPr>
      </p:pic>
      <p:sp>
        <p:nvSpPr>
          <p:cNvPr id="20" name="pretrain-head"/>
          <p:cNvSpPr>
            <a:spLocks noGrp="1"/>
          </p:cNvSpPr>
          <p:nvPr/>
        </p:nvSpPr>
        <p:spPr>
          <a:xfrm>
            <a:off x="742950" y="1285875"/>
            <a:ext cx="7953375" cy="419100"/>
          </a:xfrm>
          <a:prstGeom prst="rect">
            <a:avLst/>
          </a:prstGeom>
          <a:noFill/>
          <a:ln w="0">
            <a:noFill/>
          </a:ln>
        </p:spPr>
        <p:txBody>
          <a:bodyPr wrap="none" lIns="0" tIns="0" rIns="0" bIns="0" anchor="t">
            <a:noAutofit/>
          </a:bodyPr>
          <a:lstStyle/>
          <a:p>
            <a:pPr>
              <a:lnSpc>
                <a:spcPct val="108000"/>
              </a:lnSpc>
              <a:buNone/>
              <a:defRPr sz="2175" b="1">
                <a:solidFill>
                  <a:srgbClr val="E60012"/>
                </a:solidFill>
                <a:latin typeface="Times New Roman" panose="02020503050405090304"/>
                <a:ea typeface="微软雅黑"/>
                <a:cs typeface="Times New Roman" panose="02020503050405090304"/>
              </a:defRPr>
            </a:pPr>
            <a:r>
              <a:rPr sz="2175" b="1">
                <a:solidFill>
                  <a:srgbClr val="E60012"/>
                </a:solidFill>
                <a:latin typeface="Times New Roman" panose="02020503050405090304"/>
                <a:ea typeface="微软雅黑"/>
                <a:cs typeface="Times New Roman" panose="02020503050405090304"/>
              </a:rPr>
              <a:t>预训练：从海量语料学习通用规律</a:t>
            </a:r>
            <a:endParaRPr sz="2175" b="1">
              <a:solidFill>
                <a:srgbClr val="E60012"/>
              </a:solidFill>
              <a:latin typeface="Times New Roman" panose="02020503050405090304"/>
              <a:ea typeface="微软雅黑"/>
              <a:cs typeface="Times New Roman" panose="02020503050405090304"/>
            </a:endParaRPr>
          </a:p>
        </p:txBody>
      </p:sp>
      <p:sp>
        <p:nvSpPr>
          <p:cNvPr id="21" name="pretrain-task"/>
          <p:cNvSpPr>
            <a:spLocks noGrp="1"/>
          </p:cNvSpPr>
          <p:nvPr/>
        </p:nvSpPr>
        <p:spPr>
          <a:xfrm>
            <a:off x="742950" y="1933575"/>
            <a:ext cx="7953375" cy="1314450"/>
          </a:xfrm>
          <a:prstGeom prst="rect">
            <a:avLst/>
          </a:prstGeom>
          <a:noFill/>
          <a:ln w="0">
            <a:noFill/>
          </a:ln>
        </p:spPr>
        <p:txBody>
          <a:bodyPr wrap="none" lIns="0" tIns="0" rIns="0" bIns="0" anchor="t">
            <a:noAutofit/>
          </a:bodyPr>
          <a:lstStyle/>
          <a:p>
            <a:pPr>
              <a:lnSpc>
                <a:spcPct val="108000"/>
              </a:lnSpc>
              <a:buNone/>
              <a:defRPr sz="2100" b="0">
                <a:solidFill>
                  <a:srgbClr val="111111"/>
                </a:solidFill>
                <a:latin typeface="Times New Roman" panose="02020503050405090304"/>
                <a:ea typeface="微软雅黑"/>
                <a:cs typeface="Times New Roman" panose="02020503050405090304"/>
              </a:defRPr>
            </a:pPr>
            <a:r>
              <a:rPr sz="2100" b="0">
                <a:solidFill>
                  <a:srgbClr val="111111"/>
                </a:solidFill>
                <a:latin typeface="Times New Roman" panose="02020503050405090304"/>
                <a:ea typeface="微软雅黑"/>
                <a:cs typeface="Times New Roman" panose="02020503050405090304"/>
              </a:rPr>
              <a:t>给定前面的文本，预测下一个 token。</a:t>
            </a:r>
            <a:endParaRPr sz="2100" b="0">
              <a:solidFill>
                <a:srgbClr val="111111"/>
              </a:solidFill>
              <a:latin typeface="Times New Roman" panose="02020503050405090304"/>
              <a:ea typeface="微软雅黑"/>
              <a:cs typeface="Times New Roman" panose="02020503050405090304"/>
            </a:endParaRPr>
          </a:p>
          <a:p>
            <a:pPr>
              <a:lnSpc>
                <a:spcPct val="108000"/>
              </a:lnSpc>
              <a:buNone/>
              <a:defRPr sz="2100" b="0">
                <a:solidFill>
                  <a:srgbClr val="111111"/>
                </a:solidFill>
                <a:latin typeface="Times New Roman" panose="02020503050405090304"/>
                <a:ea typeface="微软雅黑"/>
                <a:cs typeface="Times New Roman" panose="02020503050405090304"/>
              </a:defRPr>
            </a:pPr>
            <a:r>
              <a:rPr sz="2100" b="0">
                <a:solidFill>
                  <a:srgbClr val="111111"/>
                </a:solidFill>
                <a:latin typeface="Times New Roman" panose="02020503050405090304"/>
                <a:ea typeface="微软雅黑"/>
                <a:cs typeface="Times New Roman" panose="02020503050405090304"/>
              </a:rPr>
              <a:t>在大量书籍、网页和代码中反复练习，</a:t>
            </a:r>
            <a:endParaRPr sz="2100" b="0">
              <a:solidFill>
                <a:srgbClr val="111111"/>
              </a:solidFill>
              <a:latin typeface="Times New Roman" panose="02020503050405090304"/>
              <a:ea typeface="微软雅黑"/>
              <a:cs typeface="Times New Roman" panose="02020503050405090304"/>
            </a:endParaRPr>
          </a:p>
          <a:p>
            <a:pPr>
              <a:lnSpc>
                <a:spcPct val="108000"/>
              </a:lnSpc>
              <a:buNone/>
              <a:defRPr sz="2100" b="0">
                <a:solidFill>
                  <a:srgbClr val="111111"/>
                </a:solidFill>
                <a:latin typeface="Times New Roman" panose="02020503050405090304"/>
                <a:ea typeface="微软雅黑"/>
                <a:cs typeface="Times New Roman" panose="02020503050405090304"/>
              </a:defRPr>
            </a:pPr>
            <a:r>
              <a:rPr sz="2100" b="0">
                <a:solidFill>
                  <a:srgbClr val="111111"/>
                </a:solidFill>
                <a:latin typeface="Times New Roman" panose="02020503050405090304"/>
                <a:ea typeface="微软雅黑"/>
                <a:cs typeface="Times New Roman" panose="02020503050405090304"/>
              </a:rPr>
              <a:t>学习语言规律、事实关联与代码模式。</a:t>
            </a:r>
            <a:endParaRPr sz="2100" b="0">
              <a:solidFill>
                <a:srgbClr val="111111"/>
              </a:solidFill>
              <a:latin typeface="Times New Roman" panose="02020503050405090304"/>
              <a:ea typeface="微软雅黑"/>
              <a:cs typeface="Times New Roman" panose="02020503050405090304"/>
            </a:endParaRPr>
          </a:p>
        </p:txBody>
      </p:sp>
      <p:sp>
        <p:nvSpPr>
          <p:cNvPr id="22" name="pretrain-example"/>
          <p:cNvSpPr>
            <a:spLocks noGrp="1"/>
          </p:cNvSpPr>
          <p:nvPr/>
        </p:nvSpPr>
        <p:spPr>
          <a:xfrm>
            <a:off x="742950" y="3495675"/>
            <a:ext cx="7953375" cy="390525"/>
          </a:xfrm>
          <a:prstGeom prst="rect">
            <a:avLst/>
          </a:prstGeom>
          <a:noFill/>
          <a:ln w="0">
            <a:noFill/>
          </a:ln>
        </p:spPr>
        <p:txBody>
          <a:bodyPr wrap="none" lIns="0" tIns="0" rIns="0" bIns="0" anchor="t">
            <a:noAutofit/>
          </a:bodyPr>
          <a:lstStyle/>
          <a:p>
            <a:pPr>
              <a:lnSpc>
                <a:spcPct val="108000"/>
              </a:lnSpc>
              <a:buNone/>
              <a:defRPr sz="1950" b="1">
                <a:solidFill>
                  <a:srgbClr val="357AE8"/>
                </a:solidFill>
                <a:latin typeface="Times New Roman" panose="02020503050405090304"/>
                <a:ea typeface="微软雅黑"/>
                <a:cs typeface="Times New Roman" panose="02020503050405090304"/>
              </a:defRPr>
            </a:pPr>
            <a:r>
              <a:rPr sz="1950" b="1">
                <a:solidFill>
                  <a:srgbClr val="357AE8"/>
                </a:solidFill>
                <a:latin typeface="Times New Roman" panose="02020503050405090304"/>
                <a:ea typeface="微软雅黑"/>
                <a:cs typeface="Times New Roman" panose="02020503050405090304"/>
              </a:rPr>
              <a:t>“中国的首都是” 后面，哪个 token 更可能出现？</a:t>
            </a:r>
            <a:endParaRPr sz="1950" b="1">
              <a:solidFill>
                <a:srgbClr val="357AE8"/>
              </a:solidFill>
              <a:latin typeface="Times New Roman" panose="02020503050405090304"/>
              <a:ea typeface="微软雅黑"/>
              <a:cs typeface="Times New Roman" panose="02020503050405090304"/>
            </a:endParaRPr>
          </a:p>
        </p:txBody>
      </p:sp>
      <p:sp>
        <p:nvSpPr>
          <p:cNvPr id="23" name="pretrain-gap"/>
          <p:cNvSpPr>
            <a:spLocks noGrp="1"/>
          </p:cNvSpPr>
          <p:nvPr/>
        </p:nvSpPr>
        <p:spPr>
          <a:xfrm>
            <a:off x="742950" y="4324350"/>
            <a:ext cx="7953375" cy="866775"/>
          </a:xfrm>
          <a:prstGeom prst="rect">
            <a:avLst/>
          </a:prstGeom>
          <a:noFill/>
          <a:ln w="0">
            <a:noFill/>
          </a:ln>
        </p:spPr>
        <p:txBody>
          <a:bodyPr wrap="none" lIns="0" tIns="0" rIns="0" bIns="0" anchor="t">
            <a:noAutofit/>
          </a:bodyPr>
          <a:lstStyle/>
          <a:p>
            <a:pPr>
              <a:lnSpc>
                <a:spcPct val="108000"/>
              </a:lnSpc>
              <a:buNone/>
              <a:defRPr sz="2100" b="0">
                <a:solidFill>
                  <a:srgbClr val="111111"/>
                </a:solidFill>
                <a:latin typeface="Times New Roman" panose="02020503050405090304"/>
                <a:ea typeface="微软雅黑"/>
                <a:cs typeface="Times New Roman" panose="02020503050405090304"/>
              </a:defRPr>
            </a:pPr>
            <a:r>
              <a:rPr sz="2100" b="0">
                <a:solidFill>
                  <a:srgbClr val="111111"/>
                </a:solidFill>
                <a:latin typeface="Times New Roman" panose="02020503050405090304"/>
                <a:ea typeface="微软雅黑"/>
                <a:cs typeface="Times New Roman" panose="02020503050405090304"/>
              </a:rPr>
              <a:t>擅长续写，仍可能无法稳定遵循用户要求。</a:t>
            </a:r>
            <a:endParaRPr sz="2100" b="0">
              <a:solidFill>
                <a:srgbClr val="111111"/>
              </a:solidFill>
              <a:latin typeface="Times New Roman" panose="02020503050405090304"/>
              <a:ea typeface="微软雅黑"/>
              <a:cs typeface="Times New Roman" panose="02020503050405090304"/>
            </a:endParaRPr>
          </a:p>
          <a:p>
            <a:pPr>
              <a:lnSpc>
                <a:spcPct val="108000"/>
              </a:lnSpc>
              <a:buNone/>
              <a:defRPr sz="2100" b="0">
                <a:solidFill>
                  <a:srgbClr val="111111"/>
                </a:solidFill>
                <a:latin typeface="Times New Roman" panose="02020503050405090304"/>
                <a:ea typeface="微软雅黑"/>
                <a:cs typeface="Times New Roman" panose="02020503050405090304"/>
              </a:defRPr>
            </a:pPr>
            <a:r>
              <a:rPr sz="2100" b="0">
                <a:solidFill>
                  <a:srgbClr val="111111"/>
                </a:solidFill>
                <a:latin typeface="Times New Roman" panose="02020503050405090304"/>
                <a:ea typeface="微软雅黑"/>
                <a:cs typeface="Times New Roman" panose="02020503050405090304"/>
              </a:rPr>
              <a:t>SFT 用指令与示范回答，进一步塑造助手行为。</a:t>
            </a:r>
            <a:endParaRPr sz="2100" b="0">
              <a:solidFill>
                <a:srgbClr val="111111"/>
              </a:solidFill>
              <a:latin typeface="Times New Roman" panose="02020503050405090304"/>
              <a:ea typeface="微软雅黑"/>
              <a:cs typeface="Times New Roman" panose="02020503050405090304"/>
            </a:endParaRPr>
          </a:p>
        </p:txBody>
      </p:sp>
      <p:sp>
        <p:nvSpPr>
          <p:cNvPr id="24" name="pretrain-key"/>
          <p:cNvSpPr>
            <a:spLocks noGrp="1"/>
          </p:cNvSpPr>
          <p:nvPr/>
        </p:nvSpPr>
        <p:spPr>
          <a:xfrm>
            <a:off x="742950" y="5629275"/>
            <a:ext cx="7953375" cy="352425"/>
          </a:xfrm>
          <a:prstGeom prst="rect">
            <a:avLst/>
          </a:prstGeom>
          <a:noFill/>
          <a:ln w="0">
            <a:noFill/>
          </a:ln>
        </p:spPr>
        <p:txBody>
          <a:bodyPr wrap="none" lIns="0" tIns="0" rIns="0" bIns="0" anchor="t">
            <a:noAutofit/>
          </a:bodyPr>
          <a:lstStyle/>
          <a:p>
            <a:pPr>
              <a:lnSpc>
                <a:spcPct val="108000"/>
              </a:lnSpc>
              <a:buNone/>
              <a:defRPr sz="1950" b="1">
                <a:solidFill>
                  <a:srgbClr val="E60012"/>
                </a:solidFill>
                <a:latin typeface="Times New Roman" panose="02020503050405090304"/>
                <a:ea typeface="微软雅黑"/>
                <a:cs typeface="Times New Roman" panose="02020503050405090304"/>
              </a:defRPr>
            </a:pPr>
            <a:r>
              <a:rPr sz="1950" b="1">
                <a:solidFill>
                  <a:srgbClr val="E60012"/>
                </a:solidFill>
                <a:latin typeface="Times New Roman" panose="02020503050405090304"/>
                <a:ea typeface="微软雅黑"/>
                <a:cs typeface="Times New Roman" panose="02020503050405090304"/>
              </a:rPr>
              <a:t>预测能力与指令遵循能力，需要分别检验。</a:t>
            </a:r>
            <a:endParaRPr sz="1950" b="1">
              <a:solidFill>
                <a:srgbClr val="E60012"/>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0"/>
                                        </p:tgtEl>
                                        <p:attrNameLst>
                                          <p:attrName>style.visibility</p:attrName>
                                        </p:attrNameLst>
                                      </p:cBhvr>
                                      <p:to>
                                        <p:strVal val="visible"/>
                                      </p:to>
                                    </p:set>
                                    <p:animEffect transition="in" filter="fade">
                                      <p:cBhvr>
                                        <p:cTn id="7" dur="350"/>
                                        <p:tgtEl>
                                          <p:spTgt spid="20"/>
                                        </p:tgtEl>
                                      </p:cBhvr>
                                    </p:animEffect>
                                  </p:childTnLst>
                                </p:cTn>
                              </p:par>
                              <p:par>
                                <p:cTn id="8" presetID="10" presetClass="entr" presetSubtype="0" fill="hold" grpId="0" nodeType="withEffect">
                                  <p:stCondLst>
                                    <p:cond delay="0"/>
                                  </p:stCondLst>
                                  <p:childTnLst>
                                    <p:set>
                                      <p:cBhvr>
                                        <p:cTn id="9" dur="1" fill="hold"/>
                                        <p:tgtEl>
                                          <p:spTgt spid="28"/>
                                        </p:tgtEl>
                                        <p:attrNameLst>
                                          <p:attrName>style.visibility</p:attrName>
                                        </p:attrNameLst>
                                      </p:cBhvr>
                                      <p:to>
                                        <p:strVal val="visible"/>
                                      </p:to>
                                    </p:set>
                                    <p:animEffect transition="in" filter="fade">
                                      <p:cBhvr>
                                        <p:cTn id="10" dur="35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21"/>
                                        </p:tgtEl>
                                        <p:attrNameLst>
                                          <p:attrName>style.visibility</p:attrName>
                                        </p:attrNameLst>
                                      </p:cBhvr>
                                      <p:to>
                                        <p:strVal val="visible"/>
                                      </p:to>
                                    </p:set>
                                    <p:animEffect transition="in" filter="fade">
                                      <p:cBhvr>
                                        <p:cTn id="15" dur="35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tgtEl>
                                          <p:spTgt spid="22"/>
                                        </p:tgtEl>
                                        <p:attrNameLst>
                                          <p:attrName>style.visibility</p:attrName>
                                        </p:attrNameLst>
                                      </p:cBhvr>
                                      <p:to>
                                        <p:strVal val="visible"/>
                                      </p:to>
                                    </p:set>
                                    <p:animEffect transition="in" filter="fade">
                                      <p:cBhvr>
                                        <p:cTn id="20" dur="350"/>
                                        <p:tgtEl>
                                          <p:spTgt spid="2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tgtEl>
                                          <p:spTgt spid="23"/>
                                        </p:tgtEl>
                                        <p:attrNameLst>
                                          <p:attrName>style.visibility</p:attrName>
                                        </p:attrNameLst>
                                      </p:cBhvr>
                                      <p:to>
                                        <p:strVal val="visible"/>
                                      </p:to>
                                    </p:set>
                                    <p:animEffect transition="in" filter="fade">
                                      <p:cBhvr>
                                        <p:cTn id="25" dur="350"/>
                                        <p:tgtEl>
                                          <p:spTgt spid="23"/>
                                        </p:tgtEl>
                                      </p:cBhvr>
                                    </p:animEffect>
                                  </p:childTnLst>
                                </p:cTn>
                              </p:par>
                              <p:par>
                                <p:cTn id="26" presetID="10" presetClass="entr" presetSubtype="0" fill="hold" grpId="0" nodeType="withEffect">
                                  <p:stCondLst>
                                    <p:cond delay="0"/>
                                  </p:stCondLst>
                                  <p:childTnLst>
                                    <p:set>
                                      <p:cBhvr>
                                        <p:cTn id="27" dur="1" fill="hold"/>
                                        <p:tgtEl>
                                          <p:spTgt spid="24"/>
                                        </p:tgtEl>
                                        <p:attrNameLst>
                                          <p:attrName>style.visibility</p:attrName>
                                        </p:attrNameLst>
                                      </p:cBhvr>
                                      <p:to>
                                        <p:strVal val="visible"/>
                                      </p:to>
                                    </p:set>
                                    <p:animEffect transition="in" filter="fade">
                                      <p:cBhvr>
                                        <p:cTn id="28"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39" name="图片 38"/>
          <p:cNvPicPr>
            <a:picLocks noChangeAspect="1"/>
          </p:cNvPicPr>
          <p:nvPr/>
        </p:nvPicPr>
        <p:blipFill>
          <a:blip r:embed="rId1"/>
          <a:stretch>
            <a:fillRect/>
          </a:stretch>
        </p:blipFill>
        <p:spPr>
          <a:xfrm>
            <a:off x="0" y="0"/>
            <a:ext cx="12192000" cy="6858000"/>
          </a:xfrm>
          <a:prstGeom prst="rect">
            <a:avLst/>
          </a:prstGeom>
        </p:spPr>
      </p:pic>
      <p:sp>
        <p:nvSpPr>
          <p:cNvPr id="2" name="模板标题遮盖"/>
          <p:cNvSpPr>
            <a:spLocks noGrp="1"/>
          </p:cNvSpPr>
          <p:nvPr/>
        </p:nvSpPr>
        <p:spPr>
          <a:xfrm>
            <a:off x="419100" y="180975"/>
            <a:ext cx="9429750" cy="800100"/>
          </a:xfrm>
          <a:prstGeom prst="rect">
            <a:avLst/>
          </a:prstGeom>
          <a:solidFill>
            <a:srgbClr val="FFFFFF"/>
          </a:solidFill>
          <a:ln w="0">
            <a:noFill/>
          </a:ln>
        </p:spPr>
      </p:sp>
      <p:sp>
        <p:nvSpPr>
          <p:cNvPr id="3" name="slide-title"/>
          <p:cNvSpPr>
            <a:spLocks noGrp="1"/>
          </p:cNvSpPr>
          <p:nvPr/>
        </p:nvSpPr>
        <p:spPr>
          <a:xfrm>
            <a:off x="609600" y="295275"/>
            <a:ext cx="10477500" cy="447675"/>
          </a:xfrm>
          <a:prstGeom prst="rect">
            <a:avLst/>
          </a:prstGeom>
          <a:noFill/>
          <a:ln w="0">
            <a:noFill/>
          </a:ln>
        </p:spPr>
        <p:txBody>
          <a:bodyPr wrap="none" lIns="0" tIns="0" rIns="0" bIns="0" anchor="ctr">
            <a:noAutofit/>
          </a:bodyPr>
          <a:lstStyle/>
          <a:p>
            <a:pPr algn="l">
              <a:lnSpc>
                <a:spcPct val="115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前置知识</a:t>
            </a:r>
            <a:endParaRPr sz="2700" b="1">
              <a:solidFill>
                <a:srgbClr val="111111"/>
              </a:solidFill>
              <a:latin typeface="Times New Roman" panose="02020503050405090304"/>
              <a:ea typeface="微软雅黑"/>
              <a:cs typeface="Times New Roman" panose="02020503050405090304"/>
            </a:endParaRPr>
          </a:p>
        </p:txBody>
      </p:sp>
      <p:sp>
        <p:nvSpPr>
          <p:cNvPr id="4" name="说明"/>
          <p:cNvSpPr>
            <a:spLocks noGrp="1"/>
          </p:cNvSpPr>
          <p:nvPr/>
        </p:nvSpPr>
        <p:spPr>
          <a:xfrm>
            <a:off x="609600" y="781050"/>
            <a:ext cx="10820400" cy="304800"/>
          </a:xfrm>
          <a:prstGeom prst="rect">
            <a:avLst/>
          </a:prstGeom>
          <a:noFill/>
          <a:ln w="0">
            <a:noFill/>
          </a:ln>
        </p:spPr>
        <p:txBody>
          <a:bodyPr wrap="none" lIns="0" tIns="0" rIns="0" bIns="0" anchor="ctr">
            <a:noAutofit/>
          </a:bodyPr>
          <a:lstStyle/>
          <a:p>
            <a:pPr algn="l">
              <a:lnSpc>
                <a:spcPct val="115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请选择一个正确的选项，检验一下你是否掌握了刚才的内容。</a:t>
            </a:r>
            <a:endParaRPr sz="1650" b="0">
              <a:solidFill>
                <a:srgbClr val="111111"/>
              </a:solidFill>
              <a:latin typeface="Times New Roman" panose="02020503050405090304"/>
              <a:ea typeface="微软雅黑"/>
              <a:cs typeface="Times New Roman" panose="02020503050405090304"/>
            </a:endParaRPr>
          </a:p>
        </p:txBody>
      </p:sp>
      <p:sp>
        <p:nvSpPr>
          <p:cNvPr id="5" name="题号1"/>
          <p:cNvSpPr>
            <a:spLocks noGrp="1"/>
          </p:cNvSpPr>
          <p:nvPr/>
        </p:nvSpPr>
        <p:spPr>
          <a:xfrm>
            <a:off x="609600" y="1285875"/>
            <a:ext cx="695325" cy="400050"/>
          </a:xfrm>
          <a:prstGeom prst="roundRect">
            <a:avLst>
              <a:gd name="adj" fmla="val 35714"/>
            </a:avLst>
          </a:prstGeom>
          <a:solidFill>
            <a:srgbClr val="C7E1FF"/>
          </a:solidFill>
          <a:ln w="0">
            <a:noFill/>
          </a:ln>
        </p:spPr>
        <p:txBody>
          <a:bodyPr lIns="0" tIns="0" rIns="0" bIns="0" anchor="ctr"/>
          <a:lstStyle/>
          <a:p>
            <a:pPr algn="ctr">
              <a:defRPr sz="2100" b="1">
                <a:solidFill>
                  <a:srgbClr val="111111"/>
                </a:solidFill>
                <a:latin typeface="Times New Roman" panose="02020503050405090304"/>
                <a:ea typeface="微软雅黑"/>
                <a:cs typeface="Times New Roman" panose="02020503050405090304"/>
              </a:defRPr>
            </a:pPr>
            <a:r>
              <a:rPr sz="2100" b="1">
                <a:solidFill>
                  <a:srgbClr val="111111"/>
                </a:solidFill>
                <a:latin typeface="Times New Roman" panose="02020503050405090304"/>
                <a:ea typeface="微软雅黑"/>
                <a:cs typeface="Times New Roman" panose="02020503050405090304"/>
              </a:rPr>
              <a:t>Q1</a:t>
            </a:r>
            <a:endParaRPr sz="2100" b="1">
              <a:solidFill>
                <a:srgbClr val="111111"/>
              </a:solidFill>
              <a:latin typeface="Times New Roman" panose="02020503050405090304"/>
              <a:ea typeface="微软雅黑"/>
              <a:cs typeface="Times New Roman" panose="02020503050405090304"/>
            </a:endParaRPr>
          </a:p>
        </p:txBody>
      </p:sp>
      <p:sp>
        <p:nvSpPr>
          <p:cNvPr id="6" name="问题1"/>
          <p:cNvSpPr>
            <a:spLocks noGrp="1"/>
          </p:cNvSpPr>
          <p:nvPr/>
        </p:nvSpPr>
        <p:spPr>
          <a:xfrm>
            <a:off x="1466850" y="1304925"/>
            <a:ext cx="10001250" cy="361950"/>
          </a:xfrm>
          <a:prstGeom prst="rect">
            <a:avLst/>
          </a:prstGeom>
          <a:noFill/>
          <a:ln w="0">
            <a:noFill/>
          </a:ln>
        </p:spPr>
        <p:txBody>
          <a:bodyPr wrap="none" lIns="0" tIns="0" rIns="0" bIns="0" anchor="ctr">
            <a:noAutofit/>
          </a:bodyPr>
          <a:lstStyle/>
          <a:p>
            <a:pPr algn="l">
              <a:lnSpc>
                <a:spcPct val="115000"/>
              </a:lnSpc>
              <a:buNone/>
              <a:defRPr sz="1950" b="1">
                <a:solidFill>
                  <a:srgbClr val="111111"/>
                </a:solidFill>
                <a:latin typeface="Times New Roman" panose="02020503050405090304"/>
                <a:ea typeface="微软雅黑"/>
                <a:cs typeface="Times New Roman" panose="02020503050405090304"/>
              </a:defRPr>
            </a:pPr>
            <a:r>
              <a:rPr sz="1950" b="1">
                <a:solidFill>
                  <a:srgbClr val="111111"/>
                </a:solidFill>
                <a:latin typeface="Times New Roman" panose="02020503050405090304"/>
                <a:ea typeface="微软雅黑"/>
                <a:cs typeface="Times New Roman" panose="02020503050405090304"/>
              </a:rPr>
              <a:t>大模型训练的本质是什么？</a:t>
            </a:r>
            <a:endParaRPr sz="1950" b="1">
              <a:solidFill>
                <a:srgbClr val="111111"/>
              </a:solidFill>
              <a:latin typeface="Times New Roman" panose="02020503050405090304"/>
              <a:ea typeface="微软雅黑"/>
              <a:cs typeface="Times New Roman" panose="02020503050405090304"/>
            </a:endParaRPr>
          </a:p>
        </p:txBody>
      </p:sp>
      <p:sp>
        <p:nvSpPr>
          <p:cNvPr id="7" name="选项1A"/>
          <p:cNvSpPr>
            <a:spLocks noGrp="1"/>
          </p:cNvSpPr>
          <p:nvPr/>
        </p:nvSpPr>
        <p:spPr>
          <a:xfrm>
            <a:off x="1466850" y="1809750"/>
            <a:ext cx="266700" cy="266700"/>
          </a:xfrm>
          <a:prstGeom prst="rect">
            <a:avLst/>
          </a:prstGeom>
          <a:noFill/>
          <a:ln w="0">
            <a:noFill/>
          </a:ln>
        </p:spPr>
        <p:txBody>
          <a:bodyPr wrap="none" lIns="0" tIns="0" rIns="0" bIns="0" anchor="ctr">
            <a:noAutofit/>
          </a:bodyPr>
          <a:lstStyle/>
          <a:p>
            <a:pPr algn="l">
              <a:lnSpc>
                <a:spcPct val="115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A.</a:t>
            </a:r>
            <a:endParaRPr sz="1575" b="0">
              <a:solidFill>
                <a:srgbClr val="111111"/>
              </a:solidFill>
              <a:latin typeface="Times New Roman" panose="02020503050405090304"/>
              <a:ea typeface="微软雅黑"/>
              <a:cs typeface="Times New Roman" panose="02020503050405090304"/>
            </a:endParaRPr>
          </a:p>
        </p:txBody>
      </p:sp>
      <p:sp>
        <p:nvSpPr>
          <p:cNvPr id="8" name="选项内容1A"/>
          <p:cNvSpPr>
            <a:spLocks noGrp="1"/>
          </p:cNvSpPr>
          <p:nvPr/>
        </p:nvSpPr>
        <p:spPr>
          <a:xfrm>
            <a:off x="1781175" y="1809750"/>
            <a:ext cx="4257675" cy="266700"/>
          </a:xfrm>
          <a:prstGeom prst="rect">
            <a:avLst/>
          </a:prstGeom>
          <a:noFill/>
          <a:ln w="0">
            <a:noFill/>
          </a:ln>
        </p:spPr>
        <p:txBody>
          <a:bodyPr wrap="none" lIns="0" tIns="0" rIns="0" bIns="0" anchor="ctr">
            <a:noAutofit/>
          </a:bodyPr>
          <a:lstStyle/>
          <a:p>
            <a:pPr algn="l">
              <a:lnSpc>
                <a:spcPct val="115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不断往模型里存更多文字</a:t>
            </a:r>
            <a:endParaRPr sz="1575" b="0">
              <a:solidFill>
                <a:srgbClr val="111111"/>
              </a:solidFill>
              <a:latin typeface="Times New Roman" panose="02020503050405090304"/>
              <a:ea typeface="微软雅黑"/>
              <a:cs typeface="Times New Roman" panose="02020503050405090304"/>
            </a:endParaRPr>
          </a:p>
        </p:txBody>
      </p:sp>
      <p:sp>
        <p:nvSpPr>
          <p:cNvPr id="9" name="选项1B"/>
          <p:cNvSpPr>
            <a:spLocks noGrp="1"/>
          </p:cNvSpPr>
          <p:nvPr/>
        </p:nvSpPr>
        <p:spPr>
          <a:xfrm>
            <a:off x="6429375" y="1809750"/>
            <a:ext cx="266700" cy="266700"/>
          </a:xfrm>
          <a:prstGeom prst="rect">
            <a:avLst/>
          </a:prstGeom>
          <a:noFill/>
          <a:ln w="0">
            <a:noFill/>
          </a:ln>
        </p:spPr>
        <p:txBody>
          <a:bodyPr wrap="none" lIns="0" tIns="0" rIns="0" bIns="0" anchor="ctr">
            <a:noAutofit/>
          </a:bodyPr>
          <a:lstStyle/>
          <a:p>
            <a:pPr algn="l">
              <a:lnSpc>
                <a:spcPct val="115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B.</a:t>
            </a:r>
            <a:endParaRPr sz="1575" b="0">
              <a:solidFill>
                <a:srgbClr val="111111"/>
              </a:solidFill>
              <a:latin typeface="Times New Roman" panose="02020503050405090304"/>
              <a:ea typeface="微软雅黑"/>
              <a:cs typeface="Times New Roman" panose="02020503050405090304"/>
            </a:endParaRPr>
          </a:p>
        </p:txBody>
      </p:sp>
      <p:sp>
        <p:nvSpPr>
          <p:cNvPr id="10" name="选项内容1B"/>
          <p:cNvSpPr>
            <a:spLocks noGrp="1"/>
          </p:cNvSpPr>
          <p:nvPr/>
        </p:nvSpPr>
        <p:spPr>
          <a:xfrm>
            <a:off x="6743700" y="1809750"/>
            <a:ext cx="4829175" cy="266700"/>
          </a:xfrm>
          <a:prstGeom prst="rect">
            <a:avLst/>
          </a:prstGeom>
          <a:noFill/>
          <a:ln w="0">
            <a:noFill/>
          </a:ln>
        </p:spPr>
        <p:txBody>
          <a:bodyPr wrap="none" lIns="0" tIns="0" rIns="0" bIns="0" anchor="ctr">
            <a:noAutofit/>
          </a:bodyPr>
          <a:lstStyle/>
          <a:p>
            <a:pPr algn="l">
              <a:lnSpc>
                <a:spcPct val="115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不断调整模型中的大量参数</a:t>
            </a:r>
            <a:endParaRPr sz="1575" b="0">
              <a:solidFill>
                <a:srgbClr val="111111"/>
              </a:solidFill>
              <a:latin typeface="Times New Roman" panose="02020503050405090304"/>
              <a:ea typeface="微软雅黑"/>
              <a:cs typeface="Times New Roman" panose="02020503050405090304"/>
            </a:endParaRPr>
          </a:p>
        </p:txBody>
      </p:sp>
      <p:sp>
        <p:nvSpPr>
          <p:cNvPr id="11" name="选项1C"/>
          <p:cNvSpPr>
            <a:spLocks noGrp="1"/>
          </p:cNvSpPr>
          <p:nvPr/>
        </p:nvSpPr>
        <p:spPr>
          <a:xfrm>
            <a:off x="1466850" y="2190750"/>
            <a:ext cx="266700" cy="266700"/>
          </a:xfrm>
          <a:prstGeom prst="rect">
            <a:avLst/>
          </a:prstGeom>
          <a:noFill/>
          <a:ln w="0">
            <a:noFill/>
          </a:ln>
        </p:spPr>
        <p:txBody>
          <a:bodyPr wrap="none" lIns="0" tIns="0" rIns="0" bIns="0" anchor="ctr">
            <a:noAutofit/>
          </a:bodyPr>
          <a:lstStyle/>
          <a:p>
            <a:pPr algn="l">
              <a:lnSpc>
                <a:spcPct val="115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C.</a:t>
            </a:r>
            <a:endParaRPr sz="1575" b="0">
              <a:solidFill>
                <a:srgbClr val="111111"/>
              </a:solidFill>
              <a:latin typeface="Times New Roman" panose="02020503050405090304"/>
              <a:ea typeface="微软雅黑"/>
              <a:cs typeface="Times New Roman" panose="02020503050405090304"/>
            </a:endParaRPr>
          </a:p>
        </p:txBody>
      </p:sp>
      <p:sp>
        <p:nvSpPr>
          <p:cNvPr id="12" name="选项内容1C"/>
          <p:cNvSpPr>
            <a:spLocks noGrp="1"/>
          </p:cNvSpPr>
          <p:nvPr/>
        </p:nvSpPr>
        <p:spPr>
          <a:xfrm>
            <a:off x="1781175" y="2190750"/>
            <a:ext cx="4257675" cy="266700"/>
          </a:xfrm>
          <a:prstGeom prst="rect">
            <a:avLst/>
          </a:prstGeom>
          <a:noFill/>
          <a:ln w="0">
            <a:noFill/>
          </a:ln>
        </p:spPr>
        <p:txBody>
          <a:bodyPr wrap="none" lIns="0" tIns="0" rIns="0" bIns="0" anchor="ctr">
            <a:noAutofit/>
          </a:bodyPr>
          <a:lstStyle/>
          <a:p>
            <a:pPr algn="l">
              <a:lnSpc>
                <a:spcPct val="115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不断增加模型的层数</a:t>
            </a:r>
            <a:endParaRPr sz="1575" b="0">
              <a:solidFill>
                <a:srgbClr val="111111"/>
              </a:solidFill>
              <a:latin typeface="Times New Roman" panose="02020503050405090304"/>
              <a:ea typeface="微软雅黑"/>
              <a:cs typeface="Times New Roman" panose="02020503050405090304"/>
            </a:endParaRPr>
          </a:p>
        </p:txBody>
      </p:sp>
      <p:sp>
        <p:nvSpPr>
          <p:cNvPr id="13" name="选项1D"/>
          <p:cNvSpPr>
            <a:spLocks noGrp="1"/>
          </p:cNvSpPr>
          <p:nvPr/>
        </p:nvSpPr>
        <p:spPr>
          <a:xfrm>
            <a:off x="6429375" y="2190750"/>
            <a:ext cx="266700" cy="266700"/>
          </a:xfrm>
          <a:prstGeom prst="rect">
            <a:avLst/>
          </a:prstGeom>
          <a:noFill/>
          <a:ln w="0">
            <a:noFill/>
          </a:ln>
        </p:spPr>
        <p:txBody>
          <a:bodyPr wrap="none" lIns="0" tIns="0" rIns="0" bIns="0" anchor="ctr">
            <a:noAutofit/>
          </a:bodyPr>
          <a:lstStyle/>
          <a:p>
            <a:pPr algn="l">
              <a:lnSpc>
                <a:spcPct val="115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D.</a:t>
            </a:r>
            <a:endParaRPr sz="1575" b="0">
              <a:solidFill>
                <a:srgbClr val="111111"/>
              </a:solidFill>
              <a:latin typeface="Times New Roman" panose="02020503050405090304"/>
              <a:ea typeface="微软雅黑"/>
              <a:cs typeface="Times New Roman" panose="02020503050405090304"/>
            </a:endParaRPr>
          </a:p>
        </p:txBody>
      </p:sp>
      <p:sp>
        <p:nvSpPr>
          <p:cNvPr id="14" name="选项内容1D"/>
          <p:cNvSpPr>
            <a:spLocks noGrp="1"/>
          </p:cNvSpPr>
          <p:nvPr/>
        </p:nvSpPr>
        <p:spPr>
          <a:xfrm>
            <a:off x="6743700" y="2190750"/>
            <a:ext cx="4829175" cy="266700"/>
          </a:xfrm>
          <a:prstGeom prst="rect">
            <a:avLst/>
          </a:prstGeom>
          <a:noFill/>
          <a:ln w="0">
            <a:noFill/>
          </a:ln>
        </p:spPr>
        <p:txBody>
          <a:bodyPr wrap="none" lIns="0" tIns="0" rIns="0" bIns="0" anchor="ctr">
            <a:noAutofit/>
          </a:bodyPr>
          <a:lstStyle/>
          <a:p>
            <a:pPr algn="l">
              <a:lnSpc>
                <a:spcPct val="115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把训练数据直接复制进模型</a:t>
            </a:r>
            <a:endParaRPr sz="1575" b="0">
              <a:solidFill>
                <a:srgbClr val="111111"/>
              </a:solidFill>
              <a:latin typeface="Times New Roman" panose="02020503050405090304"/>
              <a:ea typeface="微软雅黑"/>
              <a:cs typeface="Times New Roman" panose="02020503050405090304"/>
            </a:endParaRPr>
          </a:p>
        </p:txBody>
      </p:sp>
      <p:sp>
        <p:nvSpPr>
          <p:cNvPr id="15" name="分隔线"/>
          <p:cNvSpPr>
            <a:spLocks noGrp="1"/>
          </p:cNvSpPr>
          <p:nvPr/>
        </p:nvSpPr>
        <p:spPr>
          <a:xfrm>
            <a:off x="609600" y="2667000"/>
            <a:ext cx="10972800" cy="0"/>
          </a:xfrm>
          <a:prstGeom prst="line">
            <a:avLst/>
          </a:prstGeom>
          <a:noFill/>
          <a:ln w="9525">
            <a:solidFill>
              <a:srgbClr val="DCE1E7"/>
            </a:solidFill>
          </a:ln>
        </p:spPr>
      </p:sp>
      <p:sp>
        <p:nvSpPr>
          <p:cNvPr id="16" name="题号2"/>
          <p:cNvSpPr>
            <a:spLocks noGrp="1"/>
          </p:cNvSpPr>
          <p:nvPr/>
        </p:nvSpPr>
        <p:spPr>
          <a:xfrm>
            <a:off x="609600" y="2857500"/>
            <a:ext cx="695325" cy="400050"/>
          </a:xfrm>
          <a:prstGeom prst="roundRect">
            <a:avLst>
              <a:gd name="adj" fmla="val 35714"/>
            </a:avLst>
          </a:prstGeom>
          <a:solidFill>
            <a:srgbClr val="FFD0D1"/>
          </a:solidFill>
          <a:ln w="0">
            <a:noFill/>
          </a:ln>
        </p:spPr>
        <p:txBody>
          <a:bodyPr lIns="0" tIns="0" rIns="0" bIns="0" anchor="ctr"/>
          <a:lstStyle/>
          <a:p>
            <a:pPr algn="ctr">
              <a:defRPr sz="2100" b="1">
                <a:solidFill>
                  <a:srgbClr val="111111"/>
                </a:solidFill>
                <a:latin typeface="Times New Roman" panose="02020503050405090304"/>
                <a:ea typeface="微软雅黑"/>
                <a:cs typeface="Times New Roman" panose="02020503050405090304"/>
              </a:defRPr>
            </a:pPr>
            <a:r>
              <a:rPr sz="2100" b="1">
                <a:solidFill>
                  <a:srgbClr val="111111"/>
                </a:solidFill>
                <a:latin typeface="Times New Roman" panose="02020503050405090304"/>
                <a:ea typeface="微软雅黑"/>
                <a:cs typeface="Times New Roman" panose="02020503050405090304"/>
              </a:rPr>
              <a:t>Q2</a:t>
            </a:r>
            <a:endParaRPr sz="2100" b="1">
              <a:solidFill>
                <a:srgbClr val="111111"/>
              </a:solidFill>
              <a:latin typeface="Times New Roman" panose="02020503050405090304"/>
              <a:ea typeface="微软雅黑"/>
              <a:cs typeface="Times New Roman" panose="02020503050405090304"/>
            </a:endParaRPr>
          </a:p>
        </p:txBody>
      </p:sp>
      <p:sp>
        <p:nvSpPr>
          <p:cNvPr id="17" name="问题2"/>
          <p:cNvSpPr>
            <a:spLocks noGrp="1"/>
          </p:cNvSpPr>
          <p:nvPr/>
        </p:nvSpPr>
        <p:spPr>
          <a:xfrm>
            <a:off x="1466850" y="2876550"/>
            <a:ext cx="10001250" cy="361950"/>
          </a:xfrm>
          <a:prstGeom prst="rect">
            <a:avLst/>
          </a:prstGeom>
          <a:noFill/>
          <a:ln w="0">
            <a:noFill/>
          </a:ln>
        </p:spPr>
        <p:txBody>
          <a:bodyPr wrap="none" lIns="0" tIns="0" rIns="0" bIns="0" anchor="ctr">
            <a:noAutofit/>
          </a:bodyPr>
          <a:lstStyle/>
          <a:p>
            <a:pPr algn="l">
              <a:lnSpc>
                <a:spcPct val="115000"/>
              </a:lnSpc>
              <a:buNone/>
              <a:defRPr sz="1950" b="1">
                <a:solidFill>
                  <a:srgbClr val="111111"/>
                </a:solidFill>
                <a:latin typeface="Times New Roman" panose="02020503050405090304"/>
                <a:ea typeface="微软雅黑"/>
                <a:cs typeface="Times New Roman" panose="02020503050405090304"/>
              </a:defRPr>
            </a:pPr>
            <a:r>
              <a:rPr sz="1950" b="1">
                <a:solidFill>
                  <a:srgbClr val="111111"/>
                </a:solidFill>
                <a:latin typeface="Times New Roman" panose="02020503050405090304"/>
                <a:ea typeface="微软雅黑"/>
                <a:cs typeface="Times New Roman" panose="02020503050405090304"/>
              </a:rPr>
              <a:t>在模型训练过程中，前向传播和反向传播分别做什么？</a:t>
            </a:r>
            <a:endParaRPr sz="1950" b="1">
              <a:solidFill>
                <a:srgbClr val="111111"/>
              </a:solidFill>
              <a:latin typeface="Times New Roman" panose="02020503050405090304"/>
              <a:ea typeface="微软雅黑"/>
              <a:cs typeface="Times New Roman" panose="02020503050405090304"/>
            </a:endParaRPr>
          </a:p>
        </p:txBody>
      </p:sp>
      <p:sp>
        <p:nvSpPr>
          <p:cNvPr id="18" name="选项2A"/>
          <p:cNvSpPr>
            <a:spLocks noGrp="1"/>
          </p:cNvSpPr>
          <p:nvPr/>
        </p:nvSpPr>
        <p:spPr>
          <a:xfrm>
            <a:off x="1466850" y="3400425"/>
            <a:ext cx="266700" cy="266700"/>
          </a:xfrm>
          <a:prstGeom prst="rect">
            <a:avLst/>
          </a:prstGeom>
          <a:noFill/>
          <a:ln w="0">
            <a:noFill/>
          </a:ln>
        </p:spPr>
        <p:txBody>
          <a:bodyPr wrap="none" lIns="0" tIns="0" rIns="0" bIns="0" anchor="ctr">
            <a:noAutofit/>
          </a:bodyPr>
          <a:lstStyle/>
          <a:p>
            <a:pPr algn="l">
              <a:lnSpc>
                <a:spcPct val="115000"/>
              </a:lnSpc>
              <a:buNone/>
              <a:defRPr sz="1500" b="0">
                <a:solidFill>
                  <a:srgbClr val="111111"/>
                </a:solidFill>
                <a:latin typeface="Times New Roman" panose="02020503050405090304"/>
                <a:ea typeface="微软雅黑"/>
                <a:cs typeface="Times New Roman" panose="02020503050405090304"/>
              </a:defRPr>
            </a:pPr>
            <a:r>
              <a:rPr sz="1500" b="0">
                <a:solidFill>
                  <a:srgbClr val="111111"/>
                </a:solidFill>
                <a:latin typeface="Times New Roman" panose="02020503050405090304"/>
                <a:ea typeface="微软雅黑"/>
                <a:cs typeface="Times New Roman" panose="02020503050405090304"/>
              </a:rPr>
              <a:t>A.</a:t>
            </a:r>
            <a:endParaRPr sz="1500" b="0">
              <a:solidFill>
                <a:srgbClr val="111111"/>
              </a:solidFill>
              <a:latin typeface="Times New Roman" panose="02020503050405090304"/>
              <a:ea typeface="微软雅黑"/>
              <a:cs typeface="Times New Roman" panose="02020503050405090304"/>
            </a:endParaRPr>
          </a:p>
        </p:txBody>
      </p:sp>
      <p:sp>
        <p:nvSpPr>
          <p:cNvPr id="19" name="选项内容2A"/>
          <p:cNvSpPr>
            <a:spLocks noGrp="1"/>
          </p:cNvSpPr>
          <p:nvPr/>
        </p:nvSpPr>
        <p:spPr>
          <a:xfrm>
            <a:off x="1781175" y="3400425"/>
            <a:ext cx="4352925" cy="266700"/>
          </a:xfrm>
          <a:prstGeom prst="rect">
            <a:avLst/>
          </a:prstGeom>
          <a:noFill/>
          <a:ln w="0">
            <a:noFill/>
          </a:ln>
        </p:spPr>
        <p:txBody>
          <a:bodyPr wrap="none" lIns="0" tIns="0" rIns="0" bIns="0" anchor="ctr">
            <a:noAutofit/>
          </a:bodyPr>
          <a:lstStyle/>
          <a:p>
            <a:pPr algn="l">
              <a:lnSpc>
                <a:spcPct val="115000"/>
              </a:lnSpc>
              <a:buNone/>
              <a:defRPr sz="1500" b="0">
                <a:solidFill>
                  <a:srgbClr val="111111"/>
                </a:solidFill>
                <a:latin typeface="Times New Roman" panose="02020503050405090304"/>
                <a:ea typeface="微软雅黑"/>
                <a:cs typeface="Times New Roman" panose="02020503050405090304"/>
              </a:defRPr>
            </a:pPr>
            <a:r>
              <a:rPr sz="1500" b="0">
                <a:solidFill>
                  <a:srgbClr val="111111"/>
                </a:solidFill>
                <a:latin typeface="Times New Roman" panose="02020503050405090304"/>
                <a:ea typeface="微软雅黑"/>
                <a:cs typeface="Times New Roman" panose="02020503050405090304"/>
              </a:rPr>
              <a:t>前向传播修改参数，反向传播生成答案</a:t>
            </a:r>
            <a:endParaRPr sz="1500" b="0">
              <a:solidFill>
                <a:srgbClr val="111111"/>
              </a:solidFill>
              <a:latin typeface="Times New Roman" panose="02020503050405090304"/>
              <a:ea typeface="微软雅黑"/>
              <a:cs typeface="Times New Roman" panose="02020503050405090304"/>
            </a:endParaRPr>
          </a:p>
        </p:txBody>
      </p:sp>
      <p:sp>
        <p:nvSpPr>
          <p:cNvPr id="20" name="选项2B"/>
          <p:cNvSpPr>
            <a:spLocks noGrp="1"/>
          </p:cNvSpPr>
          <p:nvPr/>
        </p:nvSpPr>
        <p:spPr>
          <a:xfrm>
            <a:off x="6429375" y="3343275"/>
            <a:ext cx="266700" cy="266700"/>
          </a:xfrm>
          <a:prstGeom prst="rect">
            <a:avLst/>
          </a:prstGeom>
          <a:noFill/>
          <a:ln w="0">
            <a:noFill/>
          </a:ln>
        </p:spPr>
        <p:txBody>
          <a:bodyPr wrap="none" lIns="0" tIns="0" rIns="0" bIns="0" anchor="ctr">
            <a:noAutofit/>
          </a:bodyPr>
          <a:lstStyle/>
          <a:p>
            <a:pPr algn="l">
              <a:lnSpc>
                <a:spcPct val="115000"/>
              </a:lnSpc>
              <a:buNone/>
              <a:defRPr sz="1500" b="0">
                <a:solidFill>
                  <a:srgbClr val="111111"/>
                </a:solidFill>
                <a:latin typeface="Times New Roman" panose="02020503050405090304"/>
                <a:ea typeface="微软雅黑"/>
                <a:cs typeface="Times New Roman" panose="02020503050405090304"/>
              </a:defRPr>
            </a:pPr>
            <a:r>
              <a:rPr sz="1500" b="0">
                <a:solidFill>
                  <a:srgbClr val="111111"/>
                </a:solidFill>
                <a:latin typeface="Times New Roman" panose="02020503050405090304"/>
                <a:ea typeface="微软雅黑"/>
                <a:cs typeface="Times New Roman" panose="02020503050405090304"/>
              </a:rPr>
              <a:t>B.</a:t>
            </a:r>
            <a:endParaRPr sz="1500" b="0">
              <a:solidFill>
                <a:srgbClr val="111111"/>
              </a:solidFill>
              <a:latin typeface="Times New Roman" panose="02020503050405090304"/>
              <a:ea typeface="微软雅黑"/>
              <a:cs typeface="Times New Roman" panose="02020503050405090304"/>
            </a:endParaRPr>
          </a:p>
        </p:txBody>
      </p:sp>
      <p:sp>
        <p:nvSpPr>
          <p:cNvPr id="21" name="选项内容2B"/>
          <p:cNvSpPr>
            <a:spLocks noGrp="1"/>
          </p:cNvSpPr>
          <p:nvPr/>
        </p:nvSpPr>
        <p:spPr>
          <a:xfrm>
            <a:off x="6743700" y="3343275"/>
            <a:ext cx="4829175" cy="266700"/>
          </a:xfrm>
          <a:prstGeom prst="rect">
            <a:avLst/>
          </a:prstGeom>
          <a:noFill/>
          <a:ln w="0">
            <a:noFill/>
          </a:ln>
        </p:spPr>
        <p:txBody>
          <a:bodyPr wrap="none" lIns="0" tIns="0" rIns="0" bIns="0" anchor="ctr">
            <a:noAutofit/>
          </a:bodyPr>
          <a:lstStyle/>
          <a:p>
            <a:pPr algn="l">
              <a:lnSpc>
                <a:spcPct val="115000"/>
              </a:lnSpc>
              <a:buNone/>
              <a:defRPr sz="1500" b="0">
                <a:solidFill>
                  <a:srgbClr val="111111"/>
                </a:solidFill>
                <a:latin typeface="Times New Roman" panose="02020503050405090304"/>
                <a:ea typeface="微软雅黑"/>
                <a:cs typeface="Times New Roman" panose="02020503050405090304"/>
              </a:defRPr>
            </a:pPr>
            <a:r>
              <a:rPr sz="1500" b="0">
                <a:solidFill>
                  <a:srgbClr val="111111"/>
                </a:solidFill>
                <a:latin typeface="Times New Roman" panose="02020503050405090304"/>
                <a:ea typeface="微软雅黑"/>
                <a:cs typeface="Times New Roman" panose="02020503050405090304"/>
              </a:rPr>
              <a:t>前向传播计算结果，反向传播根据误差</a:t>
            </a:r>
            <a:endParaRPr sz="1500" b="0">
              <a:solidFill>
                <a:srgbClr val="111111"/>
              </a:solidFill>
              <a:latin typeface="Times New Roman" panose="02020503050405090304"/>
              <a:ea typeface="微软雅黑"/>
              <a:cs typeface="Times New Roman" panose="02020503050405090304"/>
            </a:endParaRPr>
          </a:p>
        </p:txBody>
      </p:sp>
      <p:sp>
        <p:nvSpPr>
          <p:cNvPr id="22" name="选项内容2B续行"/>
          <p:cNvSpPr>
            <a:spLocks noGrp="1"/>
          </p:cNvSpPr>
          <p:nvPr/>
        </p:nvSpPr>
        <p:spPr>
          <a:xfrm>
            <a:off x="6743700" y="3619500"/>
            <a:ext cx="4829175" cy="266700"/>
          </a:xfrm>
          <a:prstGeom prst="rect">
            <a:avLst/>
          </a:prstGeom>
          <a:noFill/>
          <a:ln w="0">
            <a:noFill/>
          </a:ln>
        </p:spPr>
        <p:txBody>
          <a:bodyPr wrap="none" lIns="0" tIns="0" rIns="0" bIns="0" anchor="ctr">
            <a:noAutofit/>
          </a:bodyPr>
          <a:lstStyle/>
          <a:p>
            <a:pPr algn="l">
              <a:lnSpc>
                <a:spcPct val="115000"/>
              </a:lnSpc>
              <a:buNone/>
              <a:defRPr sz="1500" b="0">
                <a:solidFill>
                  <a:srgbClr val="111111"/>
                </a:solidFill>
                <a:latin typeface="Times New Roman" panose="02020503050405090304"/>
                <a:ea typeface="微软雅黑"/>
                <a:cs typeface="Times New Roman" panose="02020503050405090304"/>
              </a:defRPr>
            </a:pPr>
            <a:r>
              <a:rPr sz="1500" b="0">
                <a:solidFill>
                  <a:srgbClr val="111111"/>
                </a:solidFill>
                <a:latin typeface="Times New Roman" panose="02020503050405090304"/>
                <a:ea typeface="微软雅黑"/>
                <a:cs typeface="Times New Roman" panose="02020503050405090304"/>
              </a:rPr>
              <a:t>计算参数该如何调整</a:t>
            </a:r>
            <a:endParaRPr sz="1500" b="0">
              <a:solidFill>
                <a:srgbClr val="111111"/>
              </a:solidFill>
              <a:latin typeface="Times New Roman" panose="02020503050405090304"/>
              <a:ea typeface="微软雅黑"/>
              <a:cs typeface="Times New Roman" panose="02020503050405090304"/>
            </a:endParaRPr>
          </a:p>
        </p:txBody>
      </p:sp>
      <p:sp>
        <p:nvSpPr>
          <p:cNvPr id="23" name="选项2C"/>
          <p:cNvSpPr>
            <a:spLocks noGrp="1"/>
          </p:cNvSpPr>
          <p:nvPr/>
        </p:nvSpPr>
        <p:spPr>
          <a:xfrm>
            <a:off x="1466850" y="3924300"/>
            <a:ext cx="266700" cy="266700"/>
          </a:xfrm>
          <a:prstGeom prst="rect">
            <a:avLst/>
          </a:prstGeom>
          <a:noFill/>
          <a:ln w="0">
            <a:noFill/>
          </a:ln>
        </p:spPr>
        <p:txBody>
          <a:bodyPr wrap="none" lIns="0" tIns="0" rIns="0" bIns="0" anchor="ctr">
            <a:noAutofit/>
          </a:bodyPr>
          <a:lstStyle/>
          <a:p>
            <a:pPr algn="l">
              <a:lnSpc>
                <a:spcPct val="115000"/>
              </a:lnSpc>
              <a:buNone/>
              <a:defRPr sz="1500" b="0">
                <a:solidFill>
                  <a:srgbClr val="111111"/>
                </a:solidFill>
                <a:latin typeface="Times New Roman" panose="02020503050405090304"/>
                <a:ea typeface="微软雅黑"/>
                <a:cs typeface="Times New Roman" panose="02020503050405090304"/>
              </a:defRPr>
            </a:pPr>
            <a:r>
              <a:rPr sz="1500" b="0">
                <a:solidFill>
                  <a:srgbClr val="111111"/>
                </a:solidFill>
                <a:latin typeface="Times New Roman" panose="02020503050405090304"/>
                <a:ea typeface="微软雅黑"/>
                <a:cs typeface="Times New Roman" panose="02020503050405090304"/>
              </a:rPr>
              <a:t>C.</a:t>
            </a:r>
            <a:endParaRPr sz="1500" b="0">
              <a:solidFill>
                <a:srgbClr val="111111"/>
              </a:solidFill>
              <a:latin typeface="Times New Roman" panose="02020503050405090304"/>
              <a:ea typeface="微软雅黑"/>
              <a:cs typeface="Times New Roman" panose="02020503050405090304"/>
            </a:endParaRPr>
          </a:p>
        </p:txBody>
      </p:sp>
      <p:sp>
        <p:nvSpPr>
          <p:cNvPr id="24" name="选项内容2C"/>
          <p:cNvSpPr>
            <a:spLocks noGrp="1"/>
          </p:cNvSpPr>
          <p:nvPr/>
        </p:nvSpPr>
        <p:spPr>
          <a:xfrm>
            <a:off x="1781175" y="3924300"/>
            <a:ext cx="4352925" cy="266700"/>
          </a:xfrm>
          <a:prstGeom prst="rect">
            <a:avLst/>
          </a:prstGeom>
          <a:noFill/>
          <a:ln w="0">
            <a:noFill/>
          </a:ln>
        </p:spPr>
        <p:txBody>
          <a:bodyPr wrap="none" lIns="0" tIns="0" rIns="0" bIns="0" anchor="ctr">
            <a:noAutofit/>
          </a:bodyPr>
          <a:lstStyle/>
          <a:p>
            <a:pPr algn="l">
              <a:lnSpc>
                <a:spcPct val="115000"/>
              </a:lnSpc>
              <a:buNone/>
              <a:defRPr sz="1500" b="0">
                <a:solidFill>
                  <a:srgbClr val="111111"/>
                </a:solidFill>
                <a:latin typeface="Times New Roman" panose="02020503050405090304"/>
                <a:ea typeface="微软雅黑"/>
                <a:cs typeface="Times New Roman" panose="02020503050405090304"/>
              </a:defRPr>
            </a:pPr>
            <a:r>
              <a:rPr sz="1500" b="0">
                <a:solidFill>
                  <a:srgbClr val="111111"/>
                </a:solidFill>
                <a:latin typeface="Times New Roman" panose="02020503050405090304"/>
                <a:ea typeface="微软雅黑"/>
                <a:cs typeface="Times New Roman" panose="02020503050405090304"/>
              </a:rPr>
              <a:t>两者做的是同一件事</a:t>
            </a:r>
            <a:endParaRPr sz="1500" b="0">
              <a:solidFill>
                <a:srgbClr val="111111"/>
              </a:solidFill>
              <a:latin typeface="Times New Roman" panose="02020503050405090304"/>
              <a:ea typeface="微软雅黑"/>
              <a:cs typeface="Times New Roman" panose="02020503050405090304"/>
            </a:endParaRPr>
          </a:p>
        </p:txBody>
      </p:sp>
      <p:sp>
        <p:nvSpPr>
          <p:cNvPr id="25" name="选项2D"/>
          <p:cNvSpPr>
            <a:spLocks noGrp="1"/>
          </p:cNvSpPr>
          <p:nvPr/>
        </p:nvSpPr>
        <p:spPr>
          <a:xfrm>
            <a:off x="6429375" y="3924300"/>
            <a:ext cx="266700" cy="266700"/>
          </a:xfrm>
          <a:prstGeom prst="rect">
            <a:avLst/>
          </a:prstGeom>
          <a:noFill/>
          <a:ln w="0">
            <a:noFill/>
          </a:ln>
        </p:spPr>
        <p:txBody>
          <a:bodyPr wrap="none" lIns="0" tIns="0" rIns="0" bIns="0" anchor="ctr">
            <a:noAutofit/>
          </a:bodyPr>
          <a:lstStyle/>
          <a:p>
            <a:pPr algn="l">
              <a:lnSpc>
                <a:spcPct val="115000"/>
              </a:lnSpc>
              <a:buNone/>
              <a:defRPr sz="1500" b="0">
                <a:solidFill>
                  <a:srgbClr val="111111"/>
                </a:solidFill>
                <a:latin typeface="Times New Roman" panose="02020503050405090304"/>
                <a:ea typeface="微软雅黑"/>
                <a:cs typeface="Times New Roman" panose="02020503050405090304"/>
              </a:defRPr>
            </a:pPr>
            <a:r>
              <a:rPr sz="1500" b="0">
                <a:solidFill>
                  <a:srgbClr val="111111"/>
                </a:solidFill>
                <a:latin typeface="Times New Roman" panose="02020503050405090304"/>
                <a:ea typeface="微软雅黑"/>
                <a:cs typeface="Times New Roman" panose="02020503050405090304"/>
              </a:rPr>
              <a:t>D.</a:t>
            </a:r>
            <a:endParaRPr sz="1500" b="0">
              <a:solidFill>
                <a:srgbClr val="111111"/>
              </a:solidFill>
              <a:latin typeface="Times New Roman" panose="02020503050405090304"/>
              <a:ea typeface="微软雅黑"/>
              <a:cs typeface="Times New Roman" panose="02020503050405090304"/>
            </a:endParaRPr>
          </a:p>
        </p:txBody>
      </p:sp>
      <p:sp>
        <p:nvSpPr>
          <p:cNvPr id="26" name="选项内容2D"/>
          <p:cNvSpPr>
            <a:spLocks noGrp="1"/>
          </p:cNvSpPr>
          <p:nvPr/>
        </p:nvSpPr>
        <p:spPr>
          <a:xfrm>
            <a:off x="6743700" y="3924300"/>
            <a:ext cx="4829175" cy="266700"/>
          </a:xfrm>
          <a:prstGeom prst="rect">
            <a:avLst/>
          </a:prstGeom>
          <a:noFill/>
          <a:ln w="0">
            <a:noFill/>
          </a:ln>
        </p:spPr>
        <p:txBody>
          <a:bodyPr wrap="none" lIns="0" tIns="0" rIns="0" bIns="0" anchor="ctr">
            <a:noAutofit/>
          </a:bodyPr>
          <a:lstStyle/>
          <a:p>
            <a:pPr algn="l">
              <a:lnSpc>
                <a:spcPct val="115000"/>
              </a:lnSpc>
              <a:buNone/>
              <a:defRPr sz="1500" b="0">
                <a:solidFill>
                  <a:srgbClr val="111111"/>
                </a:solidFill>
                <a:latin typeface="Times New Roman" panose="02020503050405090304"/>
                <a:ea typeface="微软雅黑"/>
                <a:cs typeface="Times New Roman" panose="02020503050405090304"/>
              </a:defRPr>
            </a:pPr>
            <a:r>
              <a:rPr sz="1500" b="0">
                <a:solidFill>
                  <a:srgbClr val="111111"/>
                </a:solidFill>
                <a:latin typeface="Times New Roman" panose="02020503050405090304"/>
                <a:ea typeface="微软雅黑"/>
                <a:cs typeface="Times New Roman" panose="02020503050405090304"/>
              </a:rPr>
              <a:t>前向传播只负责读取训练数据</a:t>
            </a:r>
            <a:endParaRPr sz="1500" b="0">
              <a:solidFill>
                <a:srgbClr val="111111"/>
              </a:solidFill>
              <a:latin typeface="Times New Roman" panose="02020503050405090304"/>
              <a:ea typeface="微软雅黑"/>
              <a:cs typeface="Times New Roman" panose="02020503050405090304"/>
            </a:endParaRPr>
          </a:p>
        </p:txBody>
      </p:sp>
      <p:sp>
        <p:nvSpPr>
          <p:cNvPr id="27" name="分隔线"/>
          <p:cNvSpPr>
            <a:spLocks noGrp="1"/>
          </p:cNvSpPr>
          <p:nvPr/>
        </p:nvSpPr>
        <p:spPr>
          <a:xfrm>
            <a:off x="609600" y="4381500"/>
            <a:ext cx="10972800" cy="0"/>
          </a:xfrm>
          <a:prstGeom prst="line">
            <a:avLst/>
          </a:prstGeom>
          <a:noFill/>
          <a:ln w="9525">
            <a:solidFill>
              <a:srgbClr val="DCE1E7"/>
            </a:solidFill>
          </a:ln>
        </p:spPr>
      </p:sp>
      <p:sp>
        <p:nvSpPr>
          <p:cNvPr id="28" name="题号3"/>
          <p:cNvSpPr>
            <a:spLocks noGrp="1"/>
          </p:cNvSpPr>
          <p:nvPr/>
        </p:nvSpPr>
        <p:spPr>
          <a:xfrm>
            <a:off x="609600" y="4572000"/>
            <a:ext cx="695325" cy="400050"/>
          </a:xfrm>
          <a:prstGeom prst="roundRect">
            <a:avLst>
              <a:gd name="adj" fmla="val 35714"/>
            </a:avLst>
          </a:prstGeom>
          <a:solidFill>
            <a:srgbClr val="BFECCC"/>
          </a:solidFill>
          <a:ln w="0">
            <a:noFill/>
          </a:ln>
        </p:spPr>
        <p:txBody>
          <a:bodyPr lIns="0" tIns="0" rIns="0" bIns="0" anchor="ctr"/>
          <a:lstStyle/>
          <a:p>
            <a:pPr algn="ctr">
              <a:defRPr sz="2100" b="1">
                <a:solidFill>
                  <a:srgbClr val="111111"/>
                </a:solidFill>
                <a:latin typeface="Times New Roman" panose="02020503050405090304"/>
                <a:ea typeface="微软雅黑"/>
                <a:cs typeface="Times New Roman" panose="02020503050405090304"/>
              </a:defRPr>
            </a:pPr>
            <a:r>
              <a:rPr sz="2100" b="1">
                <a:solidFill>
                  <a:srgbClr val="111111"/>
                </a:solidFill>
                <a:latin typeface="Times New Roman" panose="02020503050405090304"/>
                <a:ea typeface="微软雅黑"/>
                <a:cs typeface="Times New Roman" panose="02020503050405090304"/>
              </a:rPr>
              <a:t>Q3</a:t>
            </a:r>
            <a:endParaRPr sz="2100" b="1">
              <a:solidFill>
                <a:srgbClr val="111111"/>
              </a:solidFill>
              <a:latin typeface="Times New Roman" panose="02020503050405090304"/>
              <a:ea typeface="微软雅黑"/>
              <a:cs typeface="Times New Roman" panose="02020503050405090304"/>
            </a:endParaRPr>
          </a:p>
        </p:txBody>
      </p:sp>
      <p:sp>
        <p:nvSpPr>
          <p:cNvPr id="29" name="问题3"/>
          <p:cNvSpPr>
            <a:spLocks noGrp="1"/>
          </p:cNvSpPr>
          <p:nvPr/>
        </p:nvSpPr>
        <p:spPr>
          <a:xfrm>
            <a:off x="1466850" y="4591050"/>
            <a:ext cx="10096500" cy="361950"/>
          </a:xfrm>
          <a:prstGeom prst="rect">
            <a:avLst/>
          </a:prstGeom>
          <a:noFill/>
          <a:ln w="0">
            <a:noFill/>
          </a:ln>
        </p:spPr>
        <p:txBody>
          <a:bodyPr wrap="none" lIns="0" tIns="0" rIns="0" bIns="0" anchor="ctr">
            <a:noAutofit/>
          </a:bodyPr>
          <a:lstStyle/>
          <a:p>
            <a:pPr algn="l">
              <a:lnSpc>
                <a:spcPct val="115000"/>
              </a:lnSpc>
              <a:buNone/>
              <a:defRPr sz="1950" b="1">
                <a:solidFill>
                  <a:srgbClr val="111111"/>
                </a:solidFill>
                <a:latin typeface="Times New Roman" panose="02020503050405090304"/>
                <a:ea typeface="微软雅黑"/>
                <a:cs typeface="Times New Roman" panose="02020503050405090304"/>
              </a:defRPr>
            </a:pPr>
            <a:r>
              <a:rPr sz="1950" b="1">
                <a:solidFill>
                  <a:srgbClr val="111111"/>
                </a:solidFill>
                <a:latin typeface="Times New Roman" panose="02020503050405090304"/>
                <a:ea typeface="微软雅黑"/>
                <a:cs typeface="Times New Roman" panose="02020503050405090304"/>
              </a:rPr>
              <a:t>为什么大模型完成预训练后，还需要进行 SFT（监督微调）？</a:t>
            </a:r>
            <a:endParaRPr sz="1950" b="1">
              <a:solidFill>
                <a:srgbClr val="111111"/>
              </a:solidFill>
              <a:latin typeface="Times New Roman" panose="02020503050405090304"/>
              <a:ea typeface="微软雅黑"/>
              <a:cs typeface="Times New Roman" panose="02020503050405090304"/>
            </a:endParaRPr>
          </a:p>
        </p:txBody>
      </p:sp>
      <p:sp>
        <p:nvSpPr>
          <p:cNvPr id="30" name="选项3A"/>
          <p:cNvSpPr>
            <a:spLocks noGrp="1"/>
          </p:cNvSpPr>
          <p:nvPr/>
        </p:nvSpPr>
        <p:spPr>
          <a:xfrm>
            <a:off x="1466850" y="5095875"/>
            <a:ext cx="266700" cy="266700"/>
          </a:xfrm>
          <a:prstGeom prst="rect">
            <a:avLst/>
          </a:prstGeom>
          <a:noFill/>
          <a:ln w="0">
            <a:noFill/>
          </a:ln>
        </p:spPr>
        <p:txBody>
          <a:bodyPr wrap="none" lIns="0" tIns="0" rIns="0" bIns="0" anchor="ctr">
            <a:noAutofit/>
          </a:bodyPr>
          <a:lstStyle/>
          <a:p>
            <a:pPr algn="l">
              <a:lnSpc>
                <a:spcPct val="115000"/>
              </a:lnSpc>
              <a:buNone/>
              <a:defRPr sz="1500" b="0">
                <a:solidFill>
                  <a:srgbClr val="111111"/>
                </a:solidFill>
                <a:latin typeface="Times New Roman" panose="02020503050405090304"/>
                <a:ea typeface="微软雅黑"/>
                <a:cs typeface="Times New Roman" panose="02020503050405090304"/>
              </a:defRPr>
            </a:pPr>
            <a:r>
              <a:rPr sz="1500" b="0">
                <a:solidFill>
                  <a:srgbClr val="111111"/>
                </a:solidFill>
                <a:latin typeface="Times New Roman" panose="02020503050405090304"/>
                <a:ea typeface="微软雅黑"/>
                <a:cs typeface="Times New Roman" panose="02020503050405090304"/>
              </a:rPr>
              <a:t>A.</a:t>
            </a:r>
            <a:endParaRPr sz="1500" b="0">
              <a:solidFill>
                <a:srgbClr val="111111"/>
              </a:solidFill>
              <a:latin typeface="Times New Roman" panose="02020503050405090304"/>
              <a:ea typeface="微软雅黑"/>
              <a:cs typeface="Times New Roman" panose="02020503050405090304"/>
            </a:endParaRPr>
          </a:p>
        </p:txBody>
      </p:sp>
      <p:sp>
        <p:nvSpPr>
          <p:cNvPr id="31" name="选项内容3A"/>
          <p:cNvSpPr>
            <a:spLocks noGrp="1"/>
          </p:cNvSpPr>
          <p:nvPr/>
        </p:nvSpPr>
        <p:spPr>
          <a:xfrm>
            <a:off x="1781175" y="5095875"/>
            <a:ext cx="4352925" cy="266700"/>
          </a:xfrm>
          <a:prstGeom prst="rect">
            <a:avLst/>
          </a:prstGeom>
          <a:noFill/>
          <a:ln w="0">
            <a:noFill/>
          </a:ln>
        </p:spPr>
        <p:txBody>
          <a:bodyPr wrap="none" lIns="0" tIns="0" rIns="0" bIns="0" anchor="ctr">
            <a:noAutofit/>
          </a:bodyPr>
          <a:lstStyle/>
          <a:p>
            <a:pPr algn="l">
              <a:lnSpc>
                <a:spcPct val="115000"/>
              </a:lnSpc>
              <a:buNone/>
              <a:defRPr sz="1500" b="0">
                <a:solidFill>
                  <a:srgbClr val="111111"/>
                </a:solidFill>
                <a:latin typeface="Times New Roman" panose="02020503050405090304"/>
                <a:ea typeface="微软雅黑"/>
                <a:cs typeface="Times New Roman" panose="02020503050405090304"/>
              </a:defRPr>
            </a:pPr>
            <a:r>
              <a:rPr sz="1500" b="0">
                <a:solidFill>
                  <a:srgbClr val="111111"/>
                </a:solidFill>
                <a:latin typeface="Times New Roman" panose="02020503050405090304"/>
                <a:ea typeface="微软雅黑"/>
                <a:cs typeface="Times New Roman" panose="02020503050405090304"/>
              </a:rPr>
              <a:t>因为预训练后模型什么都不知道</a:t>
            </a:r>
            <a:endParaRPr sz="1500" b="0">
              <a:solidFill>
                <a:srgbClr val="111111"/>
              </a:solidFill>
              <a:latin typeface="Times New Roman" panose="02020503050405090304"/>
              <a:ea typeface="微软雅黑"/>
              <a:cs typeface="Times New Roman" panose="02020503050405090304"/>
            </a:endParaRPr>
          </a:p>
        </p:txBody>
      </p:sp>
      <p:sp>
        <p:nvSpPr>
          <p:cNvPr id="32" name="选项3B"/>
          <p:cNvSpPr>
            <a:spLocks noGrp="1"/>
          </p:cNvSpPr>
          <p:nvPr/>
        </p:nvSpPr>
        <p:spPr>
          <a:xfrm>
            <a:off x="6429375" y="5095875"/>
            <a:ext cx="266700" cy="266700"/>
          </a:xfrm>
          <a:prstGeom prst="rect">
            <a:avLst/>
          </a:prstGeom>
          <a:noFill/>
          <a:ln w="0">
            <a:noFill/>
          </a:ln>
        </p:spPr>
        <p:txBody>
          <a:bodyPr wrap="none" lIns="0" tIns="0" rIns="0" bIns="0" anchor="ctr">
            <a:noAutofit/>
          </a:bodyPr>
          <a:lstStyle/>
          <a:p>
            <a:pPr algn="l">
              <a:lnSpc>
                <a:spcPct val="115000"/>
              </a:lnSpc>
              <a:buNone/>
              <a:defRPr sz="1500" b="0">
                <a:solidFill>
                  <a:srgbClr val="111111"/>
                </a:solidFill>
                <a:latin typeface="Times New Roman" panose="02020503050405090304"/>
                <a:ea typeface="微软雅黑"/>
                <a:cs typeface="Times New Roman" panose="02020503050405090304"/>
              </a:defRPr>
            </a:pPr>
            <a:r>
              <a:rPr sz="1500" b="0">
                <a:solidFill>
                  <a:srgbClr val="111111"/>
                </a:solidFill>
                <a:latin typeface="Times New Roman" panose="02020503050405090304"/>
                <a:ea typeface="微软雅黑"/>
                <a:cs typeface="Times New Roman" panose="02020503050405090304"/>
              </a:rPr>
              <a:t>B.</a:t>
            </a:r>
            <a:endParaRPr sz="1500" b="0">
              <a:solidFill>
                <a:srgbClr val="111111"/>
              </a:solidFill>
              <a:latin typeface="Times New Roman" panose="02020503050405090304"/>
              <a:ea typeface="微软雅黑"/>
              <a:cs typeface="Times New Roman" panose="02020503050405090304"/>
            </a:endParaRPr>
          </a:p>
        </p:txBody>
      </p:sp>
      <p:sp>
        <p:nvSpPr>
          <p:cNvPr id="33" name="选项内容3B"/>
          <p:cNvSpPr>
            <a:spLocks noGrp="1"/>
          </p:cNvSpPr>
          <p:nvPr/>
        </p:nvSpPr>
        <p:spPr>
          <a:xfrm>
            <a:off x="6743700" y="5095875"/>
            <a:ext cx="4829175" cy="266700"/>
          </a:xfrm>
          <a:prstGeom prst="rect">
            <a:avLst/>
          </a:prstGeom>
          <a:noFill/>
          <a:ln w="0">
            <a:noFill/>
          </a:ln>
        </p:spPr>
        <p:txBody>
          <a:bodyPr wrap="none" lIns="0" tIns="0" rIns="0" bIns="0" anchor="ctr">
            <a:noAutofit/>
          </a:bodyPr>
          <a:lstStyle/>
          <a:p>
            <a:pPr algn="l">
              <a:lnSpc>
                <a:spcPct val="115000"/>
              </a:lnSpc>
              <a:buNone/>
              <a:defRPr sz="1500" b="0">
                <a:solidFill>
                  <a:srgbClr val="111111"/>
                </a:solidFill>
                <a:latin typeface="Times New Roman" panose="02020503050405090304"/>
                <a:ea typeface="微软雅黑"/>
                <a:cs typeface="Times New Roman" panose="02020503050405090304"/>
              </a:defRPr>
            </a:pPr>
            <a:r>
              <a:rPr sz="1500" b="0">
                <a:solidFill>
                  <a:srgbClr val="111111"/>
                </a:solidFill>
                <a:latin typeface="Times New Roman" panose="02020503050405090304"/>
                <a:ea typeface="微软雅黑"/>
                <a:cs typeface="Times New Roman" panose="02020503050405090304"/>
              </a:rPr>
              <a:t>因为预训练只能学习图片</a:t>
            </a:r>
            <a:endParaRPr sz="1500" b="0">
              <a:solidFill>
                <a:srgbClr val="111111"/>
              </a:solidFill>
              <a:latin typeface="Times New Roman" panose="02020503050405090304"/>
              <a:ea typeface="微软雅黑"/>
              <a:cs typeface="Times New Roman" panose="02020503050405090304"/>
            </a:endParaRPr>
          </a:p>
        </p:txBody>
      </p:sp>
      <p:sp>
        <p:nvSpPr>
          <p:cNvPr id="34" name="选项3C"/>
          <p:cNvSpPr>
            <a:spLocks noGrp="1"/>
          </p:cNvSpPr>
          <p:nvPr/>
        </p:nvSpPr>
        <p:spPr>
          <a:xfrm>
            <a:off x="1466850" y="5476875"/>
            <a:ext cx="266700" cy="266700"/>
          </a:xfrm>
          <a:prstGeom prst="rect">
            <a:avLst/>
          </a:prstGeom>
          <a:noFill/>
          <a:ln w="0">
            <a:noFill/>
          </a:ln>
        </p:spPr>
        <p:txBody>
          <a:bodyPr wrap="none" lIns="0" tIns="0" rIns="0" bIns="0" anchor="ctr">
            <a:noAutofit/>
          </a:bodyPr>
          <a:lstStyle/>
          <a:p>
            <a:pPr algn="l">
              <a:lnSpc>
                <a:spcPct val="115000"/>
              </a:lnSpc>
              <a:buNone/>
              <a:defRPr sz="1500" b="0">
                <a:solidFill>
                  <a:srgbClr val="111111"/>
                </a:solidFill>
                <a:latin typeface="Times New Roman" panose="02020503050405090304"/>
                <a:ea typeface="微软雅黑"/>
                <a:cs typeface="Times New Roman" panose="02020503050405090304"/>
              </a:defRPr>
            </a:pPr>
            <a:r>
              <a:rPr sz="1500" b="0">
                <a:solidFill>
                  <a:srgbClr val="111111"/>
                </a:solidFill>
                <a:latin typeface="Times New Roman" panose="02020503050405090304"/>
                <a:ea typeface="微软雅黑"/>
                <a:cs typeface="Times New Roman" panose="02020503050405090304"/>
              </a:rPr>
              <a:t>C.</a:t>
            </a:r>
            <a:endParaRPr sz="1500" b="0">
              <a:solidFill>
                <a:srgbClr val="111111"/>
              </a:solidFill>
              <a:latin typeface="Times New Roman" panose="02020503050405090304"/>
              <a:ea typeface="微软雅黑"/>
              <a:cs typeface="Times New Roman" panose="02020503050405090304"/>
            </a:endParaRPr>
          </a:p>
        </p:txBody>
      </p:sp>
      <p:sp>
        <p:nvSpPr>
          <p:cNvPr id="35" name="选项内容3C"/>
          <p:cNvSpPr>
            <a:spLocks noGrp="1"/>
          </p:cNvSpPr>
          <p:nvPr/>
        </p:nvSpPr>
        <p:spPr>
          <a:xfrm>
            <a:off x="1781175" y="5476875"/>
            <a:ext cx="4352925" cy="266700"/>
          </a:xfrm>
          <a:prstGeom prst="rect">
            <a:avLst/>
          </a:prstGeom>
          <a:noFill/>
          <a:ln w="0">
            <a:noFill/>
          </a:ln>
        </p:spPr>
        <p:txBody>
          <a:bodyPr wrap="none" lIns="0" tIns="0" rIns="0" bIns="0" anchor="ctr">
            <a:noAutofit/>
          </a:bodyPr>
          <a:lstStyle/>
          <a:p>
            <a:pPr algn="l">
              <a:lnSpc>
                <a:spcPct val="115000"/>
              </a:lnSpc>
              <a:buNone/>
              <a:defRPr sz="1500" b="0">
                <a:solidFill>
                  <a:srgbClr val="111111"/>
                </a:solidFill>
                <a:latin typeface="Times New Roman" panose="02020503050405090304"/>
                <a:ea typeface="微软雅黑"/>
                <a:cs typeface="Times New Roman" panose="02020503050405090304"/>
              </a:defRPr>
            </a:pPr>
            <a:r>
              <a:rPr sz="1500" b="0">
                <a:solidFill>
                  <a:srgbClr val="111111"/>
                </a:solidFill>
                <a:latin typeface="Times New Roman" panose="02020503050405090304"/>
                <a:ea typeface="微软雅黑"/>
                <a:cs typeface="Times New Roman" panose="02020503050405090304"/>
              </a:rPr>
              <a:t>因为模型虽然学了很多知识，但不一定</a:t>
            </a:r>
            <a:endParaRPr sz="1500" b="0">
              <a:solidFill>
                <a:srgbClr val="111111"/>
              </a:solidFill>
              <a:latin typeface="Times New Roman" panose="02020503050405090304"/>
              <a:ea typeface="微软雅黑"/>
              <a:cs typeface="Times New Roman" panose="02020503050405090304"/>
            </a:endParaRPr>
          </a:p>
        </p:txBody>
      </p:sp>
      <p:sp>
        <p:nvSpPr>
          <p:cNvPr id="36" name="选项内容3C续行"/>
          <p:cNvSpPr>
            <a:spLocks noGrp="1"/>
          </p:cNvSpPr>
          <p:nvPr/>
        </p:nvSpPr>
        <p:spPr>
          <a:xfrm>
            <a:off x="1781175" y="5753100"/>
            <a:ext cx="4352925" cy="266700"/>
          </a:xfrm>
          <a:prstGeom prst="rect">
            <a:avLst/>
          </a:prstGeom>
          <a:noFill/>
          <a:ln w="0">
            <a:noFill/>
          </a:ln>
        </p:spPr>
        <p:txBody>
          <a:bodyPr wrap="none" lIns="0" tIns="0" rIns="0" bIns="0" anchor="ctr">
            <a:noAutofit/>
          </a:bodyPr>
          <a:lstStyle/>
          <a:p>
            <a:pPr algn="l">
              <a:lnSpc>
                <a:spcPct val="115000"/>
              </a:lnSpc>
              <a:buNone/>
              <a:defRPr sz="1500" b="0">
                <a:solidFill>
                  <a:srgbClr val="111111"/>
                </a:solidFill>
                <a:latin typeface="Times New Roman" panose="02020503050405090304"/>
                <a:ea typeface="微软雅黑"/>
                <a:cs typeface="Times New Roman" panose="02020503050405090304"/>
              </a:defRPr>
            </a:pPr>
            <a:r>
              <a:rPr sz="1500" b="0">
                <a:solidFill>
                  <a:srgbClr val="111111"/>
                </a:solidFill>
                <a:latin typeface="Times New Roman" panose="02020503050405090304"/>
                <a:ea typeface="微软雅黑"/>
                <a:cs typeface="Times New Roman" panose="02020503050405090304"/>
              </a:rPr>
              <a:t>知道如何按照用户指令回答</a:t>
            </a:r>
            <a:endParaRPr sz="1500" b="0">
              <a:solidFill>
                <a:srgbClr val="111111"/>
              </a:solidFill>
              <a:latin typeface="Times New Roman" panose="02020503050405090304"/>
              <a:ea typeface="微软雅黑"/>
              <a:cs typeface="Times New Roman" panose="02020503050405090304"/>
            </a:endParaRPr>
          </a:p>
        </p:txBody>
      </p:sp>
      <p:sp>
        <p:nvSpPr>
          <p:cNvPr id="37" name="选项3D"/>
          <p:cNvSpPr>
            <a:spLocks noGrp="1"/>
          </p:cNvSpPr>
          <p:nvPr/>
        </p:nvSpPr>
        <p:spPr>
          <a:xfrm>
            <a:off x="6429375" y="5476875"/>
            <a:ext cx="266700" cy="266700"/>
          </a:xfrm>
          <a:prstGeom prst="rect">
            <a:avLst/>
          </a:prstGeom>
          <a:noFill/>
          <a:ln w="0">
            <a:noFill/>
          </a:ln>
        </p:spPr>
        <p:txBody>
          <a:bodyPr wrap="none" lIns="0" tIns="0" rIns="0" bIns="0" anchor="ctr">
            <a:noAutofit/>
          </a:bodyPr>
          <a:lstStyle/>
          <a:p>
            <a:pPr algn="l">
              <a:lnSpc>
                <a:spcPct val="115000"/>
              </a:lnSpc>
              <a:buNone/>
              <a:defRPr sz="1500" b="0">
                <a:solidFill>
                  <a:srgbClr val="111111"/>
                </a:solidFill>
                <a:latin typeface="Times New Roman" panose="02020503050405090304"/>
                <a:ea typeface="微软雅黑"/>
                <a:cs typeface="Times New Roman" panose="02020503050405090304"/>
              </a:defRPr>
            </a:pPr>
            <a:r>
              <a:rPr sz="1500" b="0">
                <a:solidFill>
                  <a:srgbClr val="111111"/>
                </a:solidFill>
                <a:latin typeface="Times New Roman" panose="02020503050405090304"/>
                <a:ea typeface="微软雅黑"/>
                <a:cs typeface="Times New Roman" panose="02020503050405090304"/>
              </a:rPr>
              <a:t>D.</a:t>
            </a:r>
            <a:endParaRPr sz="1500" b="0">
              <a:solidFill>
                <a:srgbClr val="111111"/>
              </a:solidFill>
              <a:latin typeface="Times New Roman" panose="02020503050405090304"/>
              <a:ea typeface="微软雅黑"/>
              <a:cs typeface="Times New Roman" panose="02020503050405090304"/>
            </a:endParaRPr>
          </a:p>
        </p:txBody>
      </p:sp>
      <p:sp>
        <p:nvSpPr>
          <p:cNvPr id="38" name="选项内容3D"/>
          <p:cNvSpPr>
            <a:spLocks noGrp="1"/>
          </p:cNvSpPr>
          <p:nvPr/>
        </p:nvSpPr>
        <p:spPr>
          <a:xfrm>
            <a:off x="6743700" y="5476875"/>
            <a:ext cx="4829175" cy="266700"/>
          </a:xfrm>
          <a:prstGeom prst="rect">
            <a:avLst/>
          </a:prstGeom>
          <a:noFill/>
          <a:ln w="0">
            <a:noFill/>
          </a:ln>
        </p:spPr>
        <p:txBody>
          <a:bodyPr wrap="none" lIns="0" tIns="0" rIns="0" bIns="0" anchor="ctr">
            <a:noAutofit/>
          </a:bodyPr>
          <a:lstStyle/>
          <a:p>
            <a:pPr algn="l">
              <a:lnSpc>
                <a:spcPct val="115000"/>
              </a:lnSpc>
              <a:buNone/>
              <a:defRPr sz="1500" b="0">
                <a:solidFill>
                  <a:srgbClr val="111111"/>
                </a:solidFill>
                <a:latin typeface="Times New Roman" panose="02020503050405090304"/>
                <a:ea typeface="微软雅黑"/>
                <a:cs typeface="Times New Roman" panose="02020503050405090304"/>
              </a:defRPr>
            </a:pPr>
            <a:r>
              <a:rPr sz="1500" b="0">
                <a:solidFill>
                  <a:srgbClr val="111111"/>
                </a:solidFill>
                <a:latin typeface="Times New Roman" panose="02020503050405090304"/>
                <a:ea typeface="微软雅黑"/>
                <a:cs typeface="Times New Roman" panose="02020503050405090304"/>
              </a:rPr>
              <a:t>因为 SFT 可以无限增加模型参数</a:t>
            </a:r>
            <a:endParaRPr sz="1500" b="0">
              <a:solidFill>
                <a:srgbClr val="111111"/>
              </a:solidFill>
              <a:latin typeface="Times New Roman" panose="02020503050405090304"/>
              <a:ea typeface="微软雅黑"/>
              <a:cs typeface="Times New Roman" panose="0202050305040509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a:spLocks noGrp="1"/>
          </p:cNvSpPr>
          <p:nvPr/>
        </p:nvSpPr>
        <p:spPr>
          <a:xfrm>
            <a:off x="547073" y="2601035"/>
            <a:ext cx="3380868" cy="835742"/>
          </a:xfrm>
          <a:prstGeom prst="rect">
            <a:avLst/>
          </a:prstGeom>
          <a:solidFill>
            <a:srgbClr val="FFFFFF"/>
          </a:solidFill>
          <a:ln w="12700" cmpd="sng">
            <a:noFill/>
            <a:prstDash val="solid"/>
          </a:ln>
        </p:spPr>
        <p:txBody>
          <a:bodyPr anchor="ctr"/>
          <a:lstStyle/>
          <a:p>
            <a:pPr marL="0" indent="0" algn="ctr">
              <a:lnSpc>
                <a:spcPct val="100000"/>
              </a:lnSpc>
              <a:spcBef>
                <a:spcPts val="0"/>
              </a:spcBef>
              <a:spcAft>
                <a:spcPts val="0"/>
              </a:spcAft>
              <a:buNone/>
            </a:pPr>
            <a:r>
              <a:rPr lang="en-US" sz="4000" b="0" i="0" u="none" cap="none">
                <a:ln>
                  <a:noFill/>
                </a:ln>
                <a:solidFill>
                  <a:srgbClr val="DDDDDD">
                    <a:lumMod val="50000"/>
                  </a:srgbClr>
                </a:solidFill>
                <a:latin typeface="Times New Roman" panose="02020503050405090304"/>
                <a:ea typeface="微软雅黑"/>
                <a:cs typeface="Times New Roman" panose="02020503050405090304"/>
              </a:rPr>
              <a:t>SFT</a:t>
            </a:r>
            <a:r>
              <a:rPr sz="4000" b="0" i="0" u="none" cap="none">
                <a:ln>
                  <a:noFill/>
                </a:ln>
                <a:solidFill>
                  <a:srgbClr val="DDDDDD">
                    <a:lumMod val="50000"/>
                  </a:srgbClr>
                </a:solidFill>
                <a:latin typeface="Times New Roman" panose="02020503050405090304"/>
                <a:ea typeface="微软雅黑"/>
                <a:cs typeface="Times New Roman" panose="02020503050405090304"/>
              </a:rPr>
              <a:t> 初阶课程</a:t>
            </a:r>
            <a:endParaRPr sz="4000" b="0" i="0" u="none" cap="none">
              <a:ln>
                <a:noFill/>
              </a:ln>
              <a:solidFill>
                <a:srgbClr val="DDDDDD">
                  <a:lumMod val="50000"/>
                </a:srgbClr>
              </a:solidFill>
              <a:latin typeface="Times New Roman" panose="02020503050405090304"/>
              <a:ea typeface="微软雅黑"/>
              <a:cs typeface="Times New Roman" panose="02020503050405090304"/>
            </a:endParaRPr>
          </a:p>
        </p:txBody>
      </p:sp>
      <p:sp>
        <p:nvSpPr>
          <p:cNvPr id="15" name="í$ľidè"/>
          <p:cNvSpPr>
            <a:spLocks noGrp="1"/>
          </p:cNvSpPr>
          <p:nvPr/>
        </p:nvSpPr>
        <p:spPr>
          <a:xfrm>
            <a:off x="3956272" y="1890392"/>
            <a:ext cx="0" cy="2769071"/>
          </a:xfrm>
          <a:prstGeom prst="line">
            <a:avLst/>
          </a:prstGeom>
          <a:solidFill>
            <a:srgbClr val="FFCC00"/>
          </a:solidFill>
          <a:ln w="12700">
            <a:solidFill>
              <a:schemeClr val="bg1">
                <a:lumMod val="65000"/>
              </a:schemeClr>
            </a:solidFill>
            <a:prstDash val="solid"/>
            <a:headEnd type="none" w="med" len="med"/>
            <a:tailEnd type="none" w="med" len="med"/>
          </a:ln>
        </p:spPr>
      </p:sp>
      <p:pic>
        <p:nvPicPr>
          <p:cNvPr id="21" name="图片 7"/>
          <p:cNvPicPr>
            <a:picLocks noChangeAspect="1"/>
          </p:cNvPicPr>
          <p:nvPr/>
        </p:nvPicPr>
        <p:blipFill>
          <a:blip r:embed="rId1"/>
          <a:stretch>
            <a:fillRect/>
          </a:stretch>
        </p:blipFill>
        <p:spPr>
          <a:xfrm>
            <a:off x="10137202" y="6042990"/>
            <a:ext cx="1312676" cy="348426"/>
          </a:xfrm>
          <a:prstGeom prst="rect">
            <a:avLst/>
          </a:prstGeom>
        </p:spPr>
      </p:pic>
      <p:sp>
        <p:nvSpPr>
          <p:cNvPr id="17" name="文本框 16"/>
          <p:cNvSpPr>
            <a:spLocks noGrp="1"/>
          </p:cNvSpPr>
          <p:nvPr/>
        </p:nvSpPr>
        <p:spPr>
          <a:xfrm>
            <a:off x="620201" y="6130454"/>
            <a:ext cx="8763000" cy="246221"/>
          </a:xfrm>
          <a:prstGeom prst="rect">
            <a:avLst/>
          </a:prstGeom>
          <a:noFill/>
        </p:spPr>
        <p:txBody>
          <a:bodyPr wrap="none">
            <a:spAutoFit/>
          </a:bodyPr>
          <a:lstStyle/>
          <a:p>
            <a:pPr marL="0" indent="0" algn="l">
              <a:lnSpc>
                <a:spcPct val="100000"/>
              </a:lnSpc>
              <a:spcBef>
                <a:spcPts val="0"/>
              </a:spcBef>
              <a:spcAft>
                <a:spcPts val="0"/>
              </a:spcAft>
              <a:buNone/>
            </a:pPr>
            <a:r>
              <a:rPr sz="1000" b="0" i="0" u="none" cap="none">
                <a:ln>
                  <a:noFill/>
                </a:ln>
                <a:solidFill>
                  <a:prstClr val="white">
                    <a:lumMod val="50000"/>
                  </a:prstClr>
                </a:solidFill>
                <a:latin typeface="Times New Roman" panose="02020503050405090304"/>
                <a:ea typeface="微软雅黑"/>
                <a:cs typeface="Times New Roman" panose="02020503050405090304"/>
                <a:hlinkClick r:id="rId2"/>
              </a:rPr>
              <a:t>https://gitcode.com/cann/cann-learning-hub/tree/master/tutorials/sft_training_pipeline</a:t>
            </a:r>
            <a:endParaRPr sz="1000" b="0" i="0" u="none" cap="none">
              <a:ln>
                <a:noFill/>
              </a:ln>
              <a:solidFill>
                <a:prstClr val="white">
                  <a:lumMod val="50000"/>
                </a:prstClr>
              </a:solidFill>
              <a:latin typeface="Times New Roman" panose="02020503050405090304"/>
              <a:ea typeface="微软雅黑"/>
              <a:cs typeface="Times New Roman" panose="02020503050405090304"/>
            </a:endParaRPr>
          </a:p>
        </p:txBody>
      </p:sp>
      <p:sp>
        <p:nvSpPr>
          <p:cNvPr id="12" name="矩形 11"/>
          <p:cNvSpPr>
            <a:spLocks noGrp="1"/>
          </p:cNvSpPr>
          <p:nvPr/>
        </p:nvSpPr>
        <p:spPr>
          <a:xfrm>
            <a:off x="5157694" y="1530876"/>
            <a:ext cx="4587547" cy="596075"/>
          </a:xfrm>
          <a:prstGeom prst="rect">
            <a:avLst/>
          </a:prstGeom>
          <a:solidFill>
            <a:srgbClr val="C00000"/>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FFFFFF"/>
                </a:solidFill>
                <a:latin typeface="Times New Roman" panose="02020503050405090304"/>
                <a:ea typeface="微软雅黑"/>
                <a:cs typeface="Times New Roman" panose="02020503050405090304"/>
              </a:rPr>
              <a:t>Part 1 </a:t>
            </a:r>
            <a:r>
              <a:rPr lang="en-US" altLang="zh-CN" sz="2400" b="0" i="0" u="none" cap="none">
                <a:ln>
                  <a:noFill/>
                </a:ln>
                <a:solidFill>
                  <a:srgbClr val="FFFFFF"/>
                </a:solidFill>
                <a:latin typeface="Times New Roman" panose="02020503050405090304"/>
                <a:ea typeface="微软雅黑"/>
                <a:cs typeface="Times New Roman" panose="02020503050405090304"/>
              </a:rPr>
              <a:t>SFT</a:t>
            </a:r>
            <a:r>
              <a:rPr lang="zh-CN" altLang="en-US" sz="2400" b="0" i="0" u="none" cap="none">
                <a:ln>
                  <a:noFill/>
                </a:ln>
                <a:solidFill>
                  <a:srgbClr val="FFFFFF"/>
                </a:solidFill>
                <a:latin typeface="Times New Roman" panose="02020503050405090304"/>
                <a:ea typeface="微软雅黑"/>
                <a:cs typeface="Times New Roman" panose="02020503050405090304"/>
              </a:rPr>
              <a:t>概念与</a:t>
            </a:r>
            <a:r>
              <a:rPr lang="en-US" altLang="zh-CN" sz="2400" b="0" i="0" u="none" cap="none">
                <a:ln>
                  <a:noFill/>
                </a:ln>
                <a:solidFill>
                  <a:srgbClr val="FFFFFF"/>
                </a:solidFill>
                <a:latin typeface="Times New Roman" panose="02020503050405090304"/>
                <a:ea typeface="微软雅黑"/>
                <a:cs typeface="Times New Roman" panose="02020503050405090304"/>
              </a:rPr>
              <a:t>Wordle</a:t>
            </a:r>
            <a:r>
              <a:rPr lang="zh-CN" altLang="en-US" sz="2400" b="0" i="0" u="none" cap="none">
                <a:ln>
                  <a:noFill/>
                </a:ln>
                <a:solidFill>
                  <a:srgbClr val="FFFFFF"/>
                </a:solidFill>
                <a:latin typeface="Times New Roman" panose="02020503050405090304"/>
                <a:ea typeface="微软雅黑"/>
                <a:cs typeface="Times New Roman" panose="02020503050405090304"/>
              </a:rPr>
              <a:t>任务</a:t>
            </a:r>
            <a:endParaRPr lang="zh-CN" altLang="en-US" sz="2400" b="0" i="0" u="none" cap="none">
              <a:ln>
                <a:noFill/>
              </a:ln>
              <a:solidFill>
                <a:srgbClr val="FFFFFF"/>
              </a:solidFill>
              <a:latin typeface="Times New Roman" panose="02020503050405090304"/>
              <a:ea typeface="微软雅黑"/>
              <a:cs typeface="Times New Roman" panose="02020503050405090304"/>
            </a:endParaRPr>
          </a:p>
        </p:txBody>
      </p:sp>
      <p:sp>
        <p:nvSpPr>
          <p:cNvPr id="13" name="矩形 12"/>
          <p:cNvSpPr>
            <a:spLocks noGrp="1"/>
          </p:cNvSpPr>
          <p:nvPr/>
        </p:nvSpPr>
        <p:spPr>
          <a:xfrm>
            <a:off x="5157694" y="2680975"/>
            <a:ext cx="4587549" cy="591795"/>
          </a:xfrm>
          <a:prstGeom prst="rect">
            <a:avLst/>
          </a:prstGeom>
          <a:solidFill>
            <a:srgbClr val="FFFFFF">
              <a:lumMod val="95000"/>
            </a:srgbClr>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2 </a:t>
            </a:r>
            <a:r>
              <a:rPr lang="en-US" sz="2400" b="0" i="0" u="none" cap="none">
                <a:ln>
                  <a:noFill/>
                </a:ln>
                <a:solidFill>
                  <a:srgbClr val="666666"/>
                </a:solidFill>
                <a:latin typeface="Times New Roman" panose="02020503050405090304"/>
                <a:ea typeface="微软雅黑"/>
                <a:cs typeface="Times New Roman" panose="02020503050405090304"/>
              </a:rPr>
              <a:t>TorchTitan</a:t>
            </a:r>
            <a:r>
              <a:rPr lang="zh-CN" altLang="en-US" sz="2400" b="0" i="0" u="none" cap="none">
                <a:ln>
                  <a:noFill/>
                </a:ln>
                <a:solidFill>
                  <a:srgbClr val="666666"/>
                </a:solidFill>
                <a:latin typeface="Times New Roman" panose="02020503050405090304"/>
                <a:ea typeface="微软雅黑"/>
                <a:cs typeface="Times New Roman" panose="02020503050405090304"/>
              </a:rPr>
              <a:t>框架</a:t>
            </a:r>
            <a:r>
              <a:rPr lang="zh-CN" altLang="en-US" sz="2400" b="0" i="0" u="none" cap="none">
                <a:ln>
                  <a:noFill/>
                </a:ln>
                <a:solidFill>
                  <a:srgbClr val="666666"/>
                </a:solidFill>
                <a:latin typeface="Times New Roman" panose="02020503050405090304"/>
                <a:ea typeface="微软雅黑"/>
                <a:cs typeface="Times New Roman" panose="02020503050405090304"/>
              </a:rPr>
              <a:t>概述</a:t>
            </a:r>
            <a:endParaRPr lang="zh-CN" altLang="en-US" sz="2400" b="0" i="0" u="none" cap="none">
              <a:ln>
                <a:noFill/>
              </a:ln>
              <a:solidFill>
                <a:srgbClr val="666666"/>
              </a:solidFill>
              <a:latin typeface="Times New Roman" panose="02020503050405090304"/>
              <a:ea typeface="微软雅黑"/>
              <a:cs typeface="Times New Roman" panose="02020503050405090304"/>
            </a:endParaRPr>
          </a:p>
        </p:txBody>
      </p:sp>
      <p:sp>
        <p:nvSpPr>
          <p:cNvPr id="14" name="矩形 13"/>
          <p:cNvSpPr>
            <a:spLocks noGrp="1"/>
          </p:cNvSpPr>
          <p:nvPr/>
        </p:nvSpPr>
        <p:spPr>
          <a:xfrm>
            <a:off x="5157694" y="3712434"/>
            <a:ext cx="4587551" cy="587513"/>
          </a:xfrm>
          <a:prstGeom prst="rect">
            <a:avLst/>
          </a:prstGeom>
          <a:solidFill>
            <a:srgbClr val="F2F2F2"/>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3 </a:t>
            </a:r>
            <a:r>
              <a:rPr lang="zh-CN" sz="2400" b="0" i="0" u="none" cap="none">
                <a:ln>
                  <a:noFill/>
                </a:ln>
                <a:solidFill>
                  <a:srgbClr val="666666"/>
                </a:solidFill>
                <a:latin typeface="Times New Roman" panose="02020503050405090304"/>
                <a:ea typeface="微软雅黑"/>
                <a:cs typeface="Times New Roman" panose="02020503050405090304"/>
              </a:rPr>
              <a:t>训练配置与基线</a:t>
            </a:r>
            <a:r>
              <a:rPr lang="zh-CN" sz="2400" b="0" i="0" u="none" cap="none">
                <a:ln>
                  <a:noFill/>
                </a:ln>
                <a:solidFill>
                  <a:srgbClr val="666666"/>
                </a:solidFill>
                <a:latin typeface="Times New Roman" panose="02020503050405090304"/>
                <a:ea typeface="微软雅黑"/>
                <a:cs typeface="Times New Roman" panose="02020503050405090304"/>
              </a:rPr>
              <a:t>训练</a:t>
            </a:r>
            <a:endParaRPr lang="zh-CN" sz="2400" b="0" i="0" u="none" cap="none">
              <a:ln>
                <a:noFill/>
              </a:ln>
              <a:solidFill>
                <a:srgbClr val="666666"/>
              </a:solidFill>
              <a:latin typeface="Times New Roman" panose="02020503050405090304"/>
              <a:ea typeface="微软雅黑"/>
              <a:cs typeface="Times New Roman" panose="02020503050405090304"/>
            </a:endParaRPr>
          </a:p>
        </p:txBody>
      </p:sp>
      <p:sp>
        <p:nvSpPr>
          <p:cNvPr id="7" name="矩形 6"/>
          <p:cNvSpPr>
            <a:spLocks noGrp="1"/>
          </p:cNvSpPr>
          <p:nvPr/>
        </p:nvSpPr>
        <p:spPr>
          <a:xfrm>
            <a:off x="5157694" y="4739611"/>
            <a:ext cx="4587553" cy="587513"/>
          </a:xfrm>
          <a:prstGeom prst="rect">
            <a:avLst/>
          </a:prstGeom>
          <a:solidFill>
            <a:srgbClr val="F2F2F2"/>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4 </a:t>
            </a:r>
            <a:r>
              <a:rPr lang="zh-CN" sz="2400" b="0" i="0" u="none" cap="none">
                <a:ln>
                  <a:noFill/>
                </a:ln>
                <a:solidFill>
                  <a:srgbClr val="666666"/>
                </a:solidFill>
                <a:latin typeface="Times New Roman" panose="02020503050405090304"/>
                <a:ea typeface="微软雅黑"/>
                <a:cs typeface="Times New Roman" panose="02020503050405090304"/>
              </a:rPr>
              <a:t>融合算子优化与</a:t>
            </a:r>
            <a:r>
              <a:rPr lang="en-US" altLang="zh-CN" sz="2400" b="0" i="0" u="none" cap="none">
                <a:ln>
                  <a:noFill/>
                </a:ln>
                <a:solidFill>
                  <a:srgbClr val="666666"/>
                </a:solidFill>
                <a:latin typeface="Times New Roman" panose="02020503050405090304"/>
                <a:ea typeface="微软雅黑"/>
                <a:cs typeface="Times New Roman" panose="02020503050405090304"/>
              </a:rPr>
              <a:t>Profiling</a:t>
            </a:r>
            <a:endParaRPr lang="en-US" altLang="zh-CN" sz="2400" b="0" i="0" u="none" cap="none">
              <a:ln>
                <a:noFill/>
              </a:ln>
              <a:solidFill>
                <a:srgbClr val="666666"/>
              </a:solidFill>
              <a:latin typeface="Times New Roman" panose="02020503050405090304"/>
              <a:ea typeface="微软雅黑"/>
              <a:cs typeface="Times New Roman" panose="0202050305040509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9"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SFT概念与Wordle任务</a:t>
            </a:r>
            <a:endParaRPr sz="2700" b="1">
              <a:solidFill>
                <a:srgbClr val="111111"/>
              </a:solidFill>
              <a:latin typeface="Times New Roman" panose="02020503050405090304"/>
              <a:ea typeface="微软雅黑"/>
              <a:cs typeface="Times New Roman" panose="02020503050405090304"/>
            </a:endParaRPr>
          </a:p>
        </p:txBody>
      </p:sp>
      <p:pic>
        <p:nvPicPr>
          <p:cNvPr id="12" name="图片 3"/>
          <p:cNvPicPr>
            <a:picLocks noChangeAspect="1"/>
          </p:cNvPicPr>
          <p:nvPr/>
        </p:nvPicPr>
        <p:blipFill>
          <a:blip r:embed="rId2"/>
          <a:stretch>
            <a:fillRect/>
          </a:stretch>
        </p:blipFill>
        <p:spPr>
          <a:xfrm>
            <a:off x="8505190" y="198120"/>
            <a:ext cx="3240405" cy="5758180"/>
          </a:xfrm>
          <a:prstGeom prst="rect">
            <a:avLst/>
          </a:prstGeom>
        </p:spPr>
      </p:pic>
      <p:sp>
        <p:nvSpPr>
          <p:cNvPr id="6" name="矩形: 圆角 5"/>
          <p:cNvSpPr>
            <a:spLocks noGrp="1"/>
          </p:cNvSpPr>
          <p:nvPr/>
        </p:nvSpPr>
        <p:spPr>
          <a:xfrm>
            <a:off x="609600" y="1232535"/>
            <a:ext cx="7557770" cy="4723765"/>
          </a:xfrm>
          <a:prstGeom prst="roundRect">
            <a:avLst>
              <a:gd name="adj" fmla="val 3243"/>
            </a:avLst>
          </a:prstGeom>
          <a:noFill/>
          <a:ln w="0">
            <a:noFill/>
          </a:ln>
        </p:spPr>
        <p:txBody>
          <a:bodyPr/>
          <a:lstStyle/>
          <a:p>
            <a:r>
              <a:rPr sz="2000">
                <a:latin typeface="Times New Roman" panose="02020503050405090304"/>
                <a:ea typeface="微软雅黑"/>
                <a:cs typeface="Times New Roman" panose="02020503050405090304"/>
              </a:rPr>
              <a:t>SFT</a:t>
            </a:r>
            <a:r>
              <a:rPr sz="2000">
                <a:latin typeface="Times New Roman" panose="02020503050405090304"/>
                <a:ea typeface="微软雅黑"/>
                <a:cs typeface="Times New Roman" panose="02020503050405090304"/>
              </a:rPr>
              <a:t>（</a:t>
            </a:r>
            <a:r>
              <a:rPr sz="2000">
                <a:latin typeface="Times New Roman" panose="02020503050405090304"/>
                <a:ea typeface="微软雅黑"/>
                <a:cs typeface="Times New Roman" panose="02020503050405090304"/>
              </a:rPr>
              <a:t>Supervised Fine-Tuning</a:t>
            </a:r>
            <a:r>
              <a:rPr sz="2000">
                <a:latin typeface="Times New Roman" panose="02020503050405090304"/>
                <a:ea typeface="微软雅黑"/>
                <a:cs typeface="Times New Roman" panose="02020503050405090304"/>
              </a:rPr>
              <a:t>，</a:t>
            </a:r>
            <a:r>
              <a:rPr sz="2000">
                <a:latin typeface="Times New Roman" panose="02020503050405090304"/>
                <a:ea typeface="微软雅黑"/>
                <a:cs typeface="Times New Roman" panose="02020503050405090304"/>
              </a:rPr>
              <a:t>监督微调）</a:t>
            </a:r>
            <a:endParaRPr sz="2000">
              <a:latin typeface="Times New Roman" panose="02020503050405090304"/>
              <a:ea typeface="微软雅黑"/>
              <a:cs typeface="Times New Roman" panose="02020503050405090304"/>
            </a:endParaRPr>
          </a:p>
          <a:p>
            <a:endParaRPr sz="2000">
              <a:latin typeface="Times New Roman" panose="02020503050405090304"/>
              <a:ea typeface="微软雅黑"/>
              <a:cs typeface="Times New Roman" panose="02020503050405090304"/>
            </a:endParaRPr>
          </a:p>
          <a:p>
            <a:r>
              <a:rPr sz="2000" b="1">
                <a:latin typeface="Times New Roman" panose="02020503050405090304"/>
                <a:ea typeface="微软雅黑"/>
                <a:cs typeface="Times New Roman" panose="02020503050405090304"/>
              </a:rPr>
              <a:t>通俗理解：</a:t>
            </a:r>
            <a:endParaRPr sz="2000" b="1">
              <a:latin typeface="Times New Roman" panose="02020503050405090304"/>
              <a:ea typeface="微软雅黑"/>
              <a:cs typeface="Times New Roman" panose="02020503050405090304"/>
            </a:endParaRPr>
          </a:p>
          <a:p>
            <a:r>
              <a:rPr sz="2000">
                <a:latin typeface="Times New Roman" panose="02020503050405090304"/>
                <a:ea typeface="微软雅黑"/>
                <a:cs typeface="Times New Roman" panose="02020503050405090304"/>
              </a:rPr>
              <a:t>预训练让模型“学知识”，</a:t>
            </a:r>
            <a:r>
              <a:rPr sz="2000">
                <a:latin typeface="Times New Roman" panose="02020503050405090304"/>
                <a:ea typeface="微软雅黑"/>
                <a:cs typeface="Times New Roman" panose="02020503050405090304"/>
              </a:rPr>
              <a:t>SFT</a:t>
            </a:r>
            <a:r>
              <a:rPr sz="2000">
                <a:latin typeface="Times New Roman" panose="02020503050405090304"/>
                <a:ea typeface="微软雅黑"/>
                <a:cs typeface="Times New Roman" panose="02020503050405090304"/>
              </a:rPr>
              <a:t> </a:t>
            </a:r>
            <a:r>
              <a:rPr sz="2000">
                <a:latin typeface="Times New Roman" panose="02020503050405090304"/>
                <a:ea typeface="微软雅黑"/>
                <a:cs typeface="Times New Roman" panose="02020503050405090304"/>
              </a:rPr>
              <a:t>则是用大量高质量的 「指令—回答」示例，进一步教模型学会“</a:t>
            </a:r>
            <a:r>
              <a:rPr sz="2000">
                <a:solidFill>
                  <a:srgbClr val="FF0000"/>
                </a:solidFill>
                <a:latin typeface="Times New Roman" panose="02020503050405090304"/>
                <a:ea typeface="微软雅黑"/>
                <a:cs typeface="Times New Roman" panose="02020503050405090304"/>
              </a:rPr>
              <a:t>按要求回答</a:t>
            </a:r>
            <a:r>
              <a:rPr sz="2000">
                <a:latin typeface="Times New Roman" panose="02020503050405090304"/>
                <a:ea typeface="微软雅黑"/>
                <a:cs typeface="Times New Roman" panose="02020503050405090304"/>
              </a:rPr>
              <a:t>”。</a:t>
            </a:r>
            <a:endParaRPr sz="2000">
              <a:latin typeface="Times New Roman" panose="02020503050405090304"/>
              <a:ea typeface="微软雅黑"/>
              <a:cs typeface="Times New Roman" panose="02020503050405090304"/>
            </a:endParaRPr>
          </a:p>
          <a:p>
            <a:endParaRPr sz="2000">
              <a:latin typeface="Times New Roman" panose="02020503050405090304"/>
              <a:ea typeface="微软雅黑"/>
              <a:cs typeface="Times New Roman" panose="02020503050405090304"/>
            </a:endParaRPr>
          </a:p>
          <a:p>
            <a:r>
              <a:rPr sz="2000" b="1">
                <a:latin typeface="Times New Roman" panose="02020503050405090304"/>
                <a:ea typeface="微软雅黑"/>
                <a:cs typeface="Times New Roman" panose="02020503050405090304"/>
              </a:rPr>
              <a:t>核心作用：</a:t>
            </a:r>
            <a:endParaRPr sz="2000" b="1">
              <a:latin typeface="Times New Roman" panose="02020503050405090304"/>
              <a:ea typeface="微软雅黑"/>
              <a:cs typeface="Times New Roman" panose="02020503050405090304"/>
            </a:endParaRPr>
          </a:p>
          <a:p>
            <a:pPr marL="285750" indent="-285750">
              <a:buFont typeface="Arial" panose="020B0604020202090204"/>
              <a:buChar char="•"/>
            </a:pPr>
            <a:r>
              <a:rPr sz="2000">
                <a:latin typeface="Times New Roman" panose="02020503050405090304"/>
                <a:ea typeface="微软雅黑"/>
                <a:cs typeface="Times New Roman" panose="02020503050405090304"/>
              </a:rPr>
              <a:t>理解用户指令</a:t>
            </a:r>
            <a:endParaRPr sz="2000">
              <a:latin typeface="Times New Roman" panose="02020503050405090304"/>
              <a:ea typeface="微软雅黑"/>
              <a:cs typeface="Times New Roman" panose="02020503050405090304"/>
            </a:endParaRPr>
          </a:p>
          <a:p>
            <a:pPr marL="285750" indent="-285750">
              <a:buFont typeface="Arial" panose="020B0604020202090204"/>
              <a:buChar char="•"/>
            </a:pPr>
            <a:r>
              <a:rPr sz="2000">
                <a:latin typeface="Times New Roman" panose="02020503050405090304"/>
                <a:ea typeface="微软雅黑"/>
                <a:cs typeface="Times New Roman" panose="02020503050405090304"/>
              </a:rPr>
              <a:t>按要求回答</a:t>
            </a:r>
            <a:endParaRPr sz="2000">
              <a:latin typeface="Times New Roman" panose="02020503050405090304"/>
              <a:ea typeface="微软雅黑"/>
              <a:cs typeface="Times New Roman" panose="02020503050405090304"/>
            </a:endParaRPr>
          </a:p>
          <a:p>
            <a:pPr marL="285750" indent="-285750">
              <a:buFont typeface="Arial" panose="020B0604020202090204"/>
              <a:buChar char="•"/>
            </a:pPr>
            <a:r>
              <a:rPr sz="2000">
                <a:latin typeface="Times New Roman" panose="02020503050405090304"/>
                <a:ea typeface="微软雅黑"/>
                <a:cs typeface="Times New Roman" panose="02020503050405090304"/>
              </a:rPr>
              <a:t>遵循指定格式和风格</a:t>
            </a:r>
            <a:endParaRPr sz="2000">
              <a:latin typeface="Times New Roman" panose="02020503050405090304"/>
              <a:ea typeface="微软雅黑"/>
              <a:cs typeface="Times New Roman" panose="02020503050405090304"/>
            </a:endParaRPr>
          </a:p>
          <a:p>
            <a:pPr marL="285750" indent="-285750">
              <a:buFont typeface="Arial" panose="020B0604020202090204"/>
              <a:buChar char="•"/>
            </a:pPr>
            <a:r>
              <a:rPr sz="2000">
                <a:latin typeface="Times New Roman" panose="02020503050405090304"/>
                <a:ea typeface="微软雅黑"/>
                <a:cs typeface="Times New Roman" panose="02020503050405090304"/>
              </a:rPr>
              <a:t>提高回答的稳定性和可用性</a:t>
            </a:r>
            <a:endParaRPr sz="2000">
              <a:latin typeface="Times New Roman" panose="02020503050405090304"/>
              <a:ea typeface="微软雅黑"/>
              <a:cs typeface="Times New Roman" panose="02020503050405090304"/>
            </a:endParaRPr>
          </a:p>
          <a:p>
            <a:pPr indent="0">
              <a:buFont typeface="Arial" panose="020B0604020202090204"/>
              <a:buNone/>
            </a:pPr>
            <a:endParaRPr sz="2000">
              <a:latin typeface="Times New Roman" panose="02020503050405090304"/>
              <a:ea typeface="微软雅黑"/>
              <a:cs typeface="Times New Roman" panose="02020503050405090304"/>
            </a:endParaRPr>
          </a:p>
          <a:p>
            <a:pPr indent="0">
              <a:buFont typeface="Arial" panose="020B0604020202090204"/>
              <a:buNone/>
            </a:pPr>
            <a:r>
              <a:rPr sz="2000">
                <a:solidFill>
                  <a:srgbClr val="FF0000"/>
                </a:solidFill>
                <a:latin typeface="Times New Roman" panose="02020503050405090304"/>
                <a:ea typeface="微软雅黑"/>
                <a:cs typeface="Times New Roman" panose="02020503050405090304"/>
              </a:rPr>
              <a:t>SFT=</a:t>
            </a:r>
            <a:r>
              <a:rPr sz="2000">
                <a:solidFill>
                  <a:srgbClr val="FF0000"/>
                </a:solidFill>
                <a:latin typeface="Times New Roman" panose="02020503050405090304"/>
                <a:ea typeface="微软雅黑"/>
                <a:cs typeface="Times New Roman" panose="02020503050405090304"/>
              </a:rPr>
              <a:t>用标准答案示范</a:t>
            </a:r>
            <a:r>
              <a:rPr sz="2000">
                <a:solidFill>
                  <a:srgbClr val="FF0000"/>
                </a:solidFill>
                <a:latin typeface="Times New Roman" panose="02020503050405090304"/>
                <a:ea typeface="微软雅黑"/>
                <a:cs typeface="Times New Roman" panose="02020503050405090304"/>
              </a:rPr>
              <a:t>，</a:t>
            </a:r>
            <a:r>
              <a:rPr sz="2000">
                <a:solidFill>
                  <a:srgbClr val="FF0000"/>
                </a:solidFill>
                <a:latin typeface="Times New Roman" panose="02020503050405090304"/>
                <a:ea typeface="微软雅黑"/>
                <a:cs typeface="Times New Roman" panose="02020503050405090304"/>
              </a:rPr>
              <a:t>教模型学会“按要求回答”</a:t>
            </a:r>
            <a:endParaRPr sz="2000">
              <a:solidFill>
                <a:srgbClr val="FF0000"/>
              </a:solidFill>
              <a:latin typeface="Times New Roman" panose="02020503050405090304"/>
              <a:ea typeface="微软雅黑"/>
              <a:cs typeface="Times New Roman" panose="0202050305040509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71" name="图片 6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372600" cy="502920"/>
          </a:xfrm>
          <a:prstGeom prst="rect">
            <a:avLst/>
          </a:prstGeom>
          <a:noFill/>
          <a:ln w="0">
            <a:noFill/>
            <a:prstDash val="solid"/>
          </a:ln>
        </p:spPr>
        <p:txBody>
          <a:bodyPr wrap="square" lIns="0" tIns="0" rIns="0" bIns="0" anchor="ctr">
            <a:normAutofit/>
          </a:bodyPr>
          <a:lstStyle/>
          <a:p>
            <a:pPr>
              <a:lnSpc>
                <a:spcPct val="108000"/>
              </a:lnSpc>
              <a:buNone/>
              <a:defRPr sz="3375" b="0">
                <a:solidFill>
                  <a:srgbClr val="111111"/>
                </a:solidFill>
                <a:latin typeface="微软雅黑"/>
                <a:ea typeface="微软雅黑"/>
                <a:cs typeface="微软雅黑"/>
              </a:defRPr>
            </a:pPr>
            <a:r>
              <a:rPr sz="2700" b="1">
                <a:solidFill>
                  <a:srgbClr val="111111"/>
                </a:solidFill>
                <a:latin typeface="微软雅黑"/>
                <a:ea typeface="微软雅黑"/>
                <a:cs typeface="微软雅黑"/>
              </a:rPr>
              <a:t>Wordle 任务介绍</a:t>
            </a:r>
            <a:endParaRPr sz="2700" b="1">
              <a:solidFill>
                <a:srgbClr val="111111"/>
              </a:solidFill>
              <a:latin typeface="微软雅黑"/>
              <a:ea typeface="微软雅黑"/>
              <a:cs typeface="微软雅黑"/>
            </a:endParaRPr>
          </a:p>
        </p:txBody>
      </p:sp>
      <p:sp>
        <p:nvSpPr>
          <p:cNvPr id="5" name="矩形 4"/>
          <p:cNvSpPr>
            <a:spLocks noGrp="1"/>
          </p:cNvSpPr>
          <p:nvPr/>
        </p:nvSpPr>
        <p:spPr>
          <a:xfrm>
            <a:off x="685800" y="1181100"/>
            <a:ext cx="1981200" cy="365760"/>
          </a:xfrm>
          <a:prstGeom prst="rect">
            <a:avLst/>
          </a:prstGeom>
          <a:noFill/>
          <a:ln w="0">
            <a:noFill/>
            <a:prstDash val="solid"/>
          </a:ln>
        </p:spPr>
        <p:txBody>
          <a:bodyPr wrap="square" lIns="0" tIns="0" rIns="0" bIns="0" anchor="t">
            <a:normAutofit/>
          </a:bodyPr>
          <a:lstStyle/>
          <a:p>
            <a:pPr>
              <a:lnSpc>
                <a:spcPct val="108000"/>
              </a:lnSpc>
              <a:buNone/>
              <a:defRPr sz="2250" b="1">
                <a:solidFill>
                  <a:srgbClr val="262626"/>
                </a:solidFill>
                <a:latin typeface="微软雅黑"/>
                <a:ea typeface="微软雅黑"/>
                <a:cs typeface="微软雅黑"/>
              </a:defRPr>
            </a:pPr>
            <a:r>
              <a:rPr b="1">
                <a:solidFill>
                  <a:srgbClr val="262626"/>
                </a:solidFill>
                <a:latin typeface="微软雅黑"/>
                <a:ea typeface="微软雅黑"/>
                <a:cs typeface="微软雅黑"/>
              </a:rPr>
              <a:t>游戏规则</a:t>
            </a:r>
            <a:endParaRPr b="1">
              <a:solidFill>
                <a:srgbClr val="262626"/>
              </a:solidFill>
              <a:latin typeface="微软雅黑"/>
              <a:ea typeface="微软雅黑"/>
              <a:cs typeface="微软雅黑"/>
            </a:endParaRPr>
          </a:p>
        </p:txBody>
      </p:sp>
      <p:sp>
        <p:nvSpPr>
          <p:cNvPr id="6" name="矩形 5"/>
          <p:cNvSpPr>
            <a:spLocks noGrp="1"/>
          </p:cNvSpPr>
          <p:nvPr/>
        </p:nvSpPr>
        <p:spPr>
          <a:xfrm>
            <a:off x="685800" y="1600200"/>
            <a:ext cx="3581400" cy="502920"/>
          </a:xfrm>
          <a:prstGeom prst="rect">
            <a:avLst/>
          </a:prstGeom>
          <a:noFill/>
          <a:ln w="0">
            <a:noFill/>
            <a:prstDash val="solid"/>
          </a:ln>
        </p:spPr>
        <p:txBody>
          <a:bodyPr wrap="square" lIns="0" tIns="0" rIns="0" bIns="0" anchor="t">
            <a:normAutofit/>
          </a:bodyPr>
          <a:lstStyle/>
          <a:p>
            <a:pPr>
              <a:lnSpc>
                <a:spcPct val="120000"/>
              </a:lnSpc>
              <a:buNone/>
              <a:defRPr sz="1575" b="0">
                <a:solidFill>
                  <a:srgbClr val="666666"/>
                </a:solidFill>
                <a:latin typeface="微软雅黑"/>
                <a:ea typeface="微软雅黑"/>
                <a:cs typeface="微软雅黑"/>
              </a:defRPr>
            </a:pPr>
            <a:r>
              <a:rPr sz="1260">
                <a:solidFill>
                  <a:srgbClr val="666666"/>
                </a:solidFill>
                <a:latin typeface="微软雅黑"/>
                <a:ea typeface="微软雅黑"/>
                <a:cs typeface="微软雅黑"/>
              </a:rPr>
              <a:t>Wordle 是一个经典的英文猜词游戏，</a:t>
            </a:r>
            <a:endParaRPr sz="1260">
              <a:solidFill>
                <a:srgbClr val="666666"/>
              </a:solidFill>
              <a:latin typeface="微软雅黑"/>
              <a:ea typeface="微软雅黑"/>
              <a:cs typeface="微软雅黑"/>
            </a:endParaRPr>
          </a:p>
          <a:p>
            <a:pPr>
              <a:lnSpc>
                <a:spcPct val="120000"/>
              </a:lnSpc>
              <a:buNone/>
              <a:defRPr sz="1575" b="0">
                <a:solidFill>
                  <a:srgbClr val="666666"/>
                </a:solidFill>
                <a:latin typeface="微软雅黑"/>
                <a:ea typeface="微软雅黑"/>
                <a:cs typeface="微软雅黑"/>
              </a:defRPr>
            </a:pPr>
            <a:r>
              <a:rPr sz="1260">
                <a:solidFill>
                  <a:srgbClr val="666666"/>
                </a:solidFill>
                <a:latin typeface="微软雅黑"/>
                <a:ea typeface="微软雅黑"/>
                <a:cs typeface="微软雅黑"/>
              </a:rPr>
              <a:t>规则简单但富有策略深度。</a:t>
            </a:r>
            <a:endParaRPr sz="1260">
              <a:solidFill>
                <a:srgbClr val="666666"/>
              </a:solidFill>
              <a:latin typeface="微软雅黑"/>
              <a:ea typeface="微软雅黑"/>
              <a:cs typeface="微软雅黑"/>
            </a:endParaRPr>
          </a:p>
        </p:txBody>
      </p:sp>
      <p:sp>
        <p:nvSpPr>
          <p:cNvPr id="7" name="矩形 6"/>
          <p:cNvSpPr>
            <a:spLocks noGrp="1"/>
          </p:cNvSpPr>
          <p:nvPr/>
        </p:nvSpPr>
        <p:spPr>
          <a:xfrm>
            <a:off x="685800" y="2286000"/>
            <a:ext cx="762000" cy="289560"/>
          </a:xfrm>
          <a:prstGeom prst="rect">
            <a:avLst/>
          </a:prstGeom>
          <a:noFill/>
          <a:ln w="0">
            <a:noFill/>
            <a:prstDash val="solid"/>
          </a:ln>
        </p:spPr>
        <p:txBody>
          <a:bodyPr wrap="square" lIns="0" tIns="0" rIns="0" bIns="0" anchor="t">
            <a:normAutofit/>
          </a:bodyPr>
          <a:lstStyle/>
          <a:p>
            <a:pPr>
              <a:lnSpc>
                <a:spcPct val="108000"/>
              </a:lnSpc>
              <a:buNone/>
              <a:defRPr sz="1725" b="1">
                <a:solidFill>
                  <a:srgbClr val="E60012"/>
                </a:solidFill>
                <a:latin typeface="微软雅黑"/>
                <a:ea typeface="微软雅黑"/>
                <a:cs typeface="微软雅黑"/>
              </a:defRPr>
            </a:pPr>
            <a:r>
              <a:rPr sz="1380" b="1">
                <a:solidFill>
                  <a:srgbClr val="E60012"/>
                </a:solidFill>
                <a:latin typeface="微软雅黑"/>
                <a:ea typeface="微软雅黑"/>
                <a:cs typeface="微软雅黑"/>
              </a:rPr>
              <a:t>目标</a:t>
            </a:r>
            <a:endParaRPr sz="1380" b="1">
              <a:solidFill>
                <a:srgbClr val="E60012"/>
              </a:solidFill>
              <a:latin typeface="微软雅黑"/>
              <a:ea typeface="微软雅黑"/>
              <a:cs typeface="微软雅黑"/>
            </a:endParaRPr>
          </a:p>
        </p:txBody>
      </p:sp>
      <p:sp>
        <p:nvSpPr>
          <p:cNvPr id="8" name="矩形 7"/>
          <p:cNvSpPr>
            <a:spLocks noGrp="1"/>
          </p:cNvSpPr>
          <p:nvPr/>
        </p:nvSpPr>
        <p:spPr>
          <a:xfrm>
            <a:off x="1409700" y="2286000"/>
            <a:ext cx="2743200" cy="289560"/>
          </a:xfrm>
          <a:prstGeom prst="rect">
            <a:avLst/>
          </a:prstGeom>
          <a:noFill/>
          <a:ln w="0">
            <a:noFill/>
            <a:prstDash val="solid"/>
          </a:ln>
        </p:spPr>
        <p:txBody>
          <a:bodyPr wrap="square" lIns="0" tIns="0" rIns="0" bIns="0" anchor="t">
            <a:normAutofit/>
          </a:bodyPr>
          <a:lstStyle/>
          <a:p>
            <a:pPr>
              <a:lnSpc>
                <a:spcPct val="108000"/>
              </a:lnSpc>
              <a:buNone/>
              <a:defRPr sz="1575" b="0">
                <a:solidFill>
                  <a:srgbClr val="525252"/>
                </a:solidFill>
                <a:latin typeface="微软雅黑"/>
                <a:ea typeface="微软雅黑"/>
                <a:cs typeface="微软雅黑"/>
              </a:defRPr>
            </a:pPr>
            <a:r>
              <a:rPr sz="1260">
                <a:solidFill>
                  <a:srgbClr val="525252"/>
                </a:solidFill>
                <a:latin typeface="微软雅黑"/>
                <a:ea typeface="微软雅黑"/>
                <a:cs typeface="微软雅黑"/>
              </a:rPr>
              <a:t>猜出一个隐藏的 5 字母英文单词。</a:t>
            </a:r>
            <a:endParaRPr sz="1260">
              <a:solidFill>
                <a:srgbClr val="525252"/>
              </a:solidFill>
              <a:latin typeface="微软雅黑"/>
              <a:ea typeface="微软雅黑"/>
              <a:cs typeface="微软雅黑"/>
            </a:endParaRPr>
          </a:p>
        </p:txBody>
      </p:sp>
      <p:sp>
        <p:nvSpPr>
          <p:cNvPr id="9" name="矩形 8"/>
          <p:cNvSpPr>
            <a:spLocks noGrp="1"/>
          </p:cNvSpPr>
          <p:nvPr/>
        </p:nvSpPr>
        <p:spPr>
          <a:xfrm>
            <a:off x="685800" y="2705100"/>
            <a:ext cx="914400" cy="289560"/>
          </a:xfrm>
          <a:prstGeom prst="rect">
            <a:avLst/>
          </a:prstGeom>
          <a:noFill/>
          <a:ln w="0">
            <a:noFill/>
            <a:prstDash val="solid"/>
          </a:ln>
        </p:spPr>
        <p:txBody>
          <a:bodyPr wrap="square" lIns="0" tIns="0" rIns="0" bIns="0" anchor="t">
            <a:normAutofit/>
          </a:bodyPr>
          <a:lstStyle/>
          <a:p>
            <a:pPr>
              <a:lnSpc>
                <a:spcPct val="108000"/>
              </a:lnSpc>
              <a:buNone/>
              <a:defRPr sz="1725" b="1">
                <a:solidFill>
                  <a:srgbClr val="E60012"/>
                </a:solidFill>
                <a:latin typeface="微软雅黑"/>
                <a:ea typeface="微软雅黑"/>
                <a:cs typeface="微软雅黑"/>
              </a:defRPr>
            </a:pPr>
            <a:r>
              <a:rPr sz="1380" b="1">
                <a:solidFill>
                  <a:srgbClr val="E60012"/>
                </a:solidFill>
                <a:latin typeface="微软雅黑"/>
                <a:ea typeface="微软雅黑"/>
                <a:cs typeface="微软雅黑"/>
              </a:rPr>
              <a:t>回合限制</a:t>
            </a:r>
            <a:endParaRPr sz="1380" b="1">
              <a:solidFill>
                <a:srgbClr val="E60012"/>
              </a:solidFill>
              <a:latin typeface="微软雅黑"/>
              <a:ea typeface="微软雅黑"/>
              <a:cs typeface="微软雅黑"/>
            </a:endParaRPr>
          </a:p>
        </p:txBody>
      </p:sp>
      <p:sp>
        <p:nvSpPr>
          <p:cNvPr id="10" name="矩形 9"/>
          <p:cNvSpPr>
            <a:spLocks noGrp="1"/>
          </p:cNvSpPr>
          <p:nvPr/>
        </p:nvSpPr>
        <p:spPr>
          <a:xfrm>
            <a:off x="1638300" y="2705100"/>
            <a:ext cx="2286000" cy="289560"/>
          </a:xfrm>
          <a:prstGeom prst="rect">
            <a:avLst/>
          </a:prstGeom>
          <a:noFill/>
          <a:ln w="0">
            <a:noFill/>
            <a:prstDash val="solid"/>
          </a:ln>
        </p:spPr>
        <p:txBody>
          <a:bodyPr wrap="square" lIns="0" tIns="0" rIns="0" bIns="0" anchor="t">
            <a:normAutofit/>
          </a:bodyPr>
          <a:lstStyle/>
          <a:p>
            <a:pPr>
              <a:lnSpc>
                <a:spcPct val="108000"/>
              </a:lnSpc>
              <a:buNone/>
              <a:defRPr sz="1575" b="0">
                <a:solidFill>
                  <a:srgbClr val="525252"/>
                </a:solidFill>
                <a:latin typeface="微软雅黑"/>
                <a:ea typeface="微软雅黑"/>
                <a:cs typeface="微软雅黑"/>
              </a:defRPr>
            </a:pPr>
            <a:r>
              <a:rPr sz="1260">
                <a:solidFill>
                  <a:srgbClr val="525252"/>
                </a:solidFill>
                <a:latin typeface="微软雅黑"/>
                <a:ea typeface="微软雅黑"/>
                <a:cs typeface="微软雅黑"/>
              </a:rPr>
              <a:t>最多猜 6 轮。</a:t>
            </a:r>
            <a:endParaRPr sz="1260">
              <a:solidFill>
                <a:srgbClr val="525252"/>
              </a:solidFill>
              <a:latin typeface="微软雅黑"/>
              <a:ea typeface="微软雅黑"/>
              <a:cs typeface="微软雅黑"/>
            </a:endParaRPr>
          </a:p>
        </p:txBody>
      </p:sp>
      <p:sp>
        <p:nvSpPr>
          <p:cNvPr id="11" name="矩形 10"/>
          <p:cNvSpPr>
            <a:spLocks noGrp="1"/>
          </p:cNvSpPr>
          <p:nvPr/>
        </p:nvSpPr>
        <p:spPr>
          <a:xfrm>
            <a:off x="685800" y="3124200"/>
            <a:ext cx="914400" cy="289560"/>
          </a:xfrm>
          <a:prstGeom prst="rect">
            <a:avLst/>
          </a:prstGeom>
          <a:noFill/>
          <a:ln w="0">
            <a:noFill/>
            <a:prstDash val="solid"/>
          </a:ln>
        </p:spPr>
        <p:txBody>
          <a:bodyPr wrap="square" lIns="0" tIns="0" rIns="0" bIns="0" anchor="t">
            <a:normAutofit/>
          </a:bodyPr>
          <a:lstStyle/>
          <a:p>
            <a:pPr>
              <a:lnSpc>
                <a:spcPct val="108000"/>
              </a:lnSpc>
              <a:buNone/>
              <a:defRPr sz="1725" b="1">
                <a:solidFill>
                  <a:srgbClr val="E60012"/>
                </a:solidFill>
                <a:latin typeface="微软雅黑"/>
                <a:ea typeface="微软雅黑"/>
                <a:cs typeface="微软雅黑"/>
              </a:defRPr>
            </a:pPr>
            <a:r>
              <a:rPr sz="1380" b="1">
                <a:solidFill>
                  <a:srgbClr val="E60012"/>
                </a:solidFill>
                <a:latin typeface="微软雅黑"/>
                <a:ea typeface="微软雅黑"/>
                <a:cs typeface="微软雅黑"/>
              </a:rPr>
              <a:t>反馈机制</a:t>
            </a:r>
            <a:endParaRPr sz="1380" b="1">
              <a:solidFill>
                <a:srgbClr val="E60012"/>
              </a:solidFill>
              <a:latin typeface="微软雅黑"/>
              <a:ea typeface="微软雅黑"/>
              <a:cs typeface="微软雅黑"/>
            </a:endParaRPr>
          </a:p>
        </p:txBody>
      </p:sp>
      <p:sp>
        <p:nvSpPr>
          <p:cNvPr id="12" name="矩形 11"/>
          <p:cNvSpPr>
            <a:spLocks noGrp="1"/>
          </p:cNvSpPr>
          <p:nvPr/>
        </p:nvSpPr>
        <p:spPr>
          <a:xfrm>
            <a:off x="1638300" y="3093720"/>
            <a:ext cx="2590800" cy="472440"/>
          </a:xfrm>
          <a:prstGeom prst="rect">
            <a:avLst/>
          </a:prstGeom>
          <a:noFill/>
          <a:ln w="0">
            <a:noFill/>
            <a:prstDash val="solid"/>
          </a:ln>
        </p:spPr>
        <p:txBody>
          <a:bodyPr wrap="square" lIns="0" tIns="0" rIns="0" bIns="0" anchor="t">
            <a:normAutofit/>
          </a:bodyPr>
          <a:lstStyle/>
          <a:p>
            <a:pPr>
              <a:lnSpc>
                <a:spcPct val="118000"/>
              </a:lnSpc>
              <a:buNone/>
              <a:defRPr sz="1500" b="0">
                <a:solidFill>
                  <a:srgbClr val="525252"/>
                </a:solidFill>
                <a:latin typeface="微软雅黑"/>
                <a:ea typeface="微软雅黑"/>
                <a:cs typeface="微软雅黑"/>
              </a:defRPr>
            </a:pPr>
            <a:r>
              <a:rPr sz="1200">
                <a:solidFill>
                  <a:srgbClr val="525252"/>
                </a:solidFill>
                <a:latin typeface="微软雅黑"/>
                <a:ea typeface="微软雅黑"/>
                <a:cs typeface="微软雅黑"/>
              </a:rPr>
              <a:t>每轮猜词后，系统对每个字母位置给出三种反馈：</a:t>
            </a:r>
            <a:endParaRPr sz="1200">
              <a:solidFill>
                <a:srgbClr val="525252"/>
              </a:solidFill>
              <a:latin typeface="微软雅黑"/>
              <a:ea typeface="微软雅黑"/>
              <a:cs typeface="微软雅黑"/>
            </a:endParaRPr>
          </a:p>
        </p:txBody>
      </p:sp>
      <p:sp>
        <p:nvSpPr>
          <p:cNvPr id="13" name="矩形 12"/>
          <p:cNvSpPr>
            <a:spLocks noGrp="1"/>
          </p:cNvSpPr>
          <p:nvPr/>
        </p:nvSpPr>
        <p:spPr>
          <a:xfrm>
            <a:off x="723900" y="3771900"/>
            <a:ext cx="441960" cy="441960"/>
          </a:xfrm>
          <a:prstGeom prst="rect">
            <a:avLst/>
          </a:prstGeom>
          <a:solidFill>
            <a:srgbClr val="6AAA64"/>
          </a:solidFill>
          <a:ln w="9525">
            <a:solidFill>
              <a:srgbClr val="6AAA64"/>
            </a:solidFill>
            <a:prstDash val="solid"/>
          </a:ln>
        </p:spPr>
      </p:sp>
      <p:sp>
        <p:nvSpPr>
          <p:cNvPr id="14" name="矩形 13"/>
          <p:cNvSpPr>
            <a:spLocks noGrp="1"/>
          </p:cNvSpPr>
          <p:nvPr/>
        </p:nvSpPr>
        <p:spPr>
          <a:xfrm>
            <a:off x="723900" y="3771900"/>
            <a:ext cx="441960" cy="441960"/>
          </a:xfrm>
          <a:prstGeom prst="rect">
            <a:avLst/>
          </a:prstGeom>
          <a:noFill/>
          <a:ln w="0">
            <a:noFill/>
            <a:prstDash val="solid"/>
          </a:ln>
        </p:spPr>
        <p:txBody>
          <a:bodyPr wrap="square" lIns="0" tIns="0" rIns="0" bIns="0" anchor="ctr">
            <a:normAutofit/>
          </a:bodyPr>
          <a:lstStyle/>
          <a:p>
            <a:pPr algn="ctr">
              <a:lnSpc>
                <a:spcPct val="108000"/>
              </a:lnSpc>
              <a:buNone/>
              <a:defRPr sz="1950" b="1">
                <a:solidFill>
                  <a:srgbClr val="FFFFFF"/>
                </a:solidFill>
                <a:latin typeface="Arial" panose="020B0604020202090204"/>
                <a:ea typeface="Arial" panose="020B0604020202090204"/>
                <a:cs typeface="Arial" panose="020B0604020202090204"/>
              </a:defRPr>
            </a:pPr>
            <a:r>
              <a:rPr sz="1560" b="1">
                <a:solidFill>
                  <a:srgbClr val="FFFFFF"/>
                </a:solidFill>
                <a:latin typeface="Arial" panose="020B0604020202090204"/>
                <a:ea typeface="Arial" panose="020B0604020202090204"/>
                <a:cs typeface="Arial" panose="020B0604020202090204"/>
              </a:rPr>
              <a:t>G</a:t>
            </a:r>
            <a:endParaRPr sz="1560" b="1">
              <a:solidFill>
                <a:srgbClr val="FFFFFF"/>
              </a:solidFill>
              <a:latin typeface="Arial" panose="020B0604020202090204"/>
              <a:ea typeface="Arial" panose="020B0604020202090204"/>
              <a:cs typeface="Arial" panose="020B0604020202090204"/>
            </a:endParaRPr>
          </a:p>
        </p:txBody>
      </p:sp>
      <p:sp>
        <p:nvSpPr>
          <p:cNvPr id="15" name="矩形 14"/>
          <p:cNvSpPr>
            <a:spLocks noGrp="1"/>
          </p:cNvSpPr>
          <p:nvPr/>
        </p:nvSpPr>
        <p:spPr>
          <a:xfrm>
            <a:off x="1371600" y="3771900"/>
            <a:ext cx="1600200" cy="228600"/>
          </a:xfrm>
          <a:prstGeom prst="rect">
            <a:avLst/>
          </a:prstGeom>
          <a:noFill/>
          <a:ln w="0">
            <a:noFill/>
            <a:prstDash val="solid"/>
          </a:ln>
        </p:spPr>
        <p:txBody>
          <a:bodyPr wrap="square" lIns="0" tIns="0" rIns="0" bIns="0" anchor="t">
            <a:normAutofit/>
          </a:bodyPr>
          <a:lstStyle/>
          <a:p>
            <a:pPr>
              <a:lnSpc>
                <a:spcPct val="108000"/>
              </a:lnSpc>
              <a:buNone/>
              <a:defRPr sz="1575" b="1">
                <a:solidFill>
                  <a:srgbClr val="262626"/>
                </a:solidFill>
                <a:latin typeface="微软雅黑"/>
                <a:ea typeface="微软雅黑"/>
                <a:cs typeface="微软雅黑"/>
              </a:defRPr>
            </a:pPr>
            <a:r>
              <a:rPr sz="1260" b="1">
                <a:solidFill>
                  <a:srgbClr val="262626"/>
                </a:solidFill>
                <a:latin typeface="微软雅黑"/>
                <a:ea typeface="微软雅黑"/>
                <a:cs typeface="微软雅黑"/>
              </a:rPr>
              <a:t>Green（绿色）</a:t>
            </a:r>
            <a:endParaRPr sz="1260" b="1">
              <a:solidFill>
                <a:srgbClr val="262626"/>
              </a:solidFill>
              <a:latin typeface="微软雅黑"/>
              <a:ea typeface="微软雅黑"/>
              <a:cs typeface="微软雅黑"/>
            </a:endParaRPr>
          </a:p>
        </p:txBody>
      </p:sp>
      <p:sp>
        <p:nvSpPr>
          <p:cNvPr id="16" name="矩形 15"/>
          <p:cNvSpPr>
            <a:spLocks noGrp="1"/>
          </p:cNvSpPr>
          <p:nvPr/>
        </p:nvSpPr>
        <p:spPr>
          <a:xfrm>
            <a:off x="1371600" y="4015740"/>
            <a:ext cx="2590800" cy="213360"/>
          </a:xfrm>
          <a:prstGeom prst="rect">
            <a:avLst/>
          </a:prstGeom>
          <a:noFill/>
          <a:ln w="0">
            <a:noFill/>
            <a:prstDash val="solid"/>
          </a:ln>
        </p:spPr>
        <p:txBody>
          <a:bodyPr wrap="square" lIns="0" tIns="0" rIns="0" bIns="0" anchor="t">
            <a:normAutofit/>
          </a:bodyPr>
          <a:lstStyle/>
          <a:p>
            <a:pPr>
              <a:lnSpc>
                <a:spcPct val="108000"/>
              </a:lnSpc>
              <a:buNone/>
              <a:defRPr sz="1425" b="0">
                <a:solidFill>
                  <a:srgbClr val="666666"/>
                </a:solidFill>
                <a:latin typeface="微软雅黑"/>
                <a:ea typeface="微软雅黑"/>
                <a:cs typeface="微软雅黑"/>
              </a:defRPr>
            </a:pPr>
            <a:r>
              <a:rPr sz="1140">
                <a:solidFill>
                  <a:srgbClr val="666666"/>
                </a:solidFill>
                <a:latin typeface="微软雅黑"/>
                <a:ea typeface="微软雅黑"/>
                <a:cs typeface="微软雅黑"/>
              </a:rPr>
              <a:t>字母正确，位置正确</a:t>
            </a:r>
            <a:endParaRPr sz="1140">
              <a:solidFill>
                <a:srgbClr val="666666"/>
              </a:solidFill>
              <a:latin typeface="微软雅黑"/>
              <a:ea typeface="微软雅黑"/>
              <a:cs typeface="微软雅黑"/>
            </a:endParaRPr>
          </a:p>
        </p:txBody>
      </p:sp>
      <p:sp>
        <p:nvSpPr>
          <p:cNvPr id="17" name="矩形 16"/>
          <p:cNvSpPr>
            <a:spLocks noGrp="1"/>
          </p:cNvSpPr>
          <p:nvPr/>
        </p:nvSpPr>
        <p:spPr>
          <a:xfrm>
            <a:off x="723900" y="4366260"/>
            <a:ext cx="441960" cy="441960"/>
          </a:xfrm>
          <a:prstGeom prst="rect">
            <a:avLst/>
          </a:prstGeom>
          <a:solidFill>
            <a:srgbClr val="C9B458"/>
          </a:solidFill>
          <a:ln w="9525">
            <a:solidFill>
              <a:srgbClr val="C9B458"/>
            </a:solidFill>
            <a:prstDash val="solid"/>
          </a:ln>
        </p:spPr>
      </p:sp>
      <p:sp>
        <p:nvSpPr>
          <p:cNvPr id="18" name="矩形 17"/>
          <p:cNvSpPr>
            <a:spLocks noGrp="1"/>
          </p:cNvSpPr>
          <p:nvPr/>
        </p:nvSpPr>
        <p:spPr>
          <a:xfrm>
            <a:off x="723900" y="4366260"/>
            <a:ext cx="441960" cy="441960"/>
          </a:xfrm>
          <a:prstGeom prst="rect">
            <a:avLst/>
          </a:prstGeom>
          <a:noFill/>
          <a:ln w="0">
            <a:noFill/>
            <a:prstDash val="solid"/>
          </a:ln>
        </p:spPr>
        <p:txBody>
          <a:bodyPr wrap="square" lIns="0" tIns="0" rIns="0" bIns="0" anchor="ctr">
            <a:normAutofit/>
          </a:bodyPr>
          <a:lstStyle/>
          <a:p>
            <a:pPr algn="ctr">
              <a:lnSpc>
                <a:spcPct val="108000"/>
              </a:lnSpc>
              <a:buNone/>
              <a:defRPr sz="1950" b="1">
                <a:solidFill>
                  <a:srgbClr val="FFFFFF"/>
                </a:solidFill>
                <a:latin typeface="Arial" panose="020B0604020202090204"/>
                <a:ea typeface="Arial" panose="020B0604020202090204"/>
                <a:cs typeface="Arial" panose="020B0604020202090204"/>
              </a:defRPr>
            </a:pPr>
            <a:r>
              <a:rPr sz="1560" b="1">
                <a:solidFill>
                  <a:srgbClr val="FFFFFF"/>
                </a:solidFill>
                <a:latin typeface="Arial" panose="020B0604020202090204"/>
                <a:ea typeface="Arial" panose="020B0604020202090204"/>
                <a:cs typeface="Arial" panose="020B0604020202090204"/>
              </a:rPr>
              <a:t>Y</a:t>
            </a:r>
            <a:endParaRPr sz="1560" b="1">
              <a:solidFill>
                <a:srgbClr val="FFFFFF"/>
              </a:solidFill>
              <a:latin typeface="Arial" panose="020B0604020202090204"/>
              <a:ea typeface="Arial" panose="020B0604020202090204"/>
              <a:cs typeface="Arial" panose="020B0604020202090204"/>
            </a:endParaRPr>
          </a:p>
        </p:txBody>
      </p:sp>
      <p:sp>
        <p:nvSpPr>
          <p:cNvPr id="19" name="矩形 18"/>
          <p:cNvSpPr>
            <a:spLocks noGrp="1"/>
          </p:cNvSpPr>
          <p:nvPr/>
        </p:nvSpPr>
        <p:spPr>
          <a:xfrm>
            <a:off x="1371600" y="4366260"/>
            <a:ext cx="1600200" cy="228600"/>
          </a:xfrm>
          <a:prstGeom prst="rect">
            <a:avLst/>
          </a:prstGeom>
          <a:noFill/>
          <a:ln w="0">
            <a:noFill/>
            <a:prstDash val="solid"/>
          </a:ln>
        </p:spPr>
        <p:txBody>
          <a:bodyPr wrap="square" lIns="0" tIns="0" rIns="0" bIns="0" anchor="t">
            <a:normAutofit/>
          </a:bodyPr>
          <a:lstStyle/>
          <a:p>
            <a:pPr>
              <a:lnSpc>
                <a:spcPct val="108000"/>
              </a:lnSpc>
              <a:buNone/>
              <a:defRPr sz="1575" b="1">
                <a:solidFill>
                  <a:srgbClr val="262626"/>
                </a:solidFill>
                <a:latin typeface="微软雅黑"/>
                <a:ea typeface="微软雅黑"/>
                <a:cs typeface="微软雅黑"/>
              </a:defRPr>
            </a:pPr>
            <a:r>
              <a:rPr sz="1260" b="1">
                <a:solidFill>
                  <a:srgbClr val="262626"/>
                </a:solidFill>
                <a:latin typeface="微软雅黑"/>
                <a:ea typeface="微软雅黑"/>
                <a:cs typeface="微软雅黑"/>
              </a:rPr>
              <a:t>Yellow（黄色）</a:t>
            </a:r>
            <a:endParaRPr sz="1260" b="1">
              <a:solidFill>
                <a:srgbClr val="262626"/>
              </a:solidFill>
              <a:latin typeface="微软雅黑"/>
              <a:ea typeface="微软雅黑"/>
              <a:cs typeface="微软雅黑"/>
            </a:endParaRPr>
          </a:p>
        </p:txBody>
      </p:sp>
      <p:sp>
        <p:nvSpPr>
          <p:cNvPr id="20" name="矩形 19"/>
          <p:cNvSpPr>
            <a:spLocks noGrp="1"/>
          </p:cNvSpPr>
          <p:nvPr/>
        </p:nvSpPr>
        <p:spPr>
          <a:xfrm>
            <a:off x="1371600" y="4610100"/>
            <a:ext cx="2590800" cy="213360"/>
          </a:xfrm>
          <a:prstGeom prst="rect">
            <a:avLst/>
          </a:prstGeom>
          <a:noFill/>
          <a:ln w="0">
            <a:noFill/>
            <a:prstDash val="solid"/>
          </a:ln>
        </p:spPr>
        <p:txBody>
          <a:bodyPr wrap="square" lIns="0" tIns="0" rIns="0" bIns="0" anchor="t">
            <a:normAutofit/>
          </a:bodyPr>
          <a:lstStyle/>
          <a:p>
            <a:pPr>
              <a:lnSpc>
                <a:spcPct val="108000"/>
              </a:lnSpc>
              <a:buNone/>
              <a:defRPr sz="1425" b="0">
                <a:solidFill>
                  <a:srgbClr val="666666"/>
                </a:solidFill>
                <a:latin typeface="微软雅黑"/>
                <a:ea typeface="微软雅黑"/>
                <a:cs typeface="微软雅黑"/>
              </a:defRPr>
            </a:pPr>
            <a:r>
              <a:rPr sz="1140">
                <a:solidFill>
                  <a:srgbClr val="666666"/>
                </a:solidFill>
                <a:latin typeface="微软雅黑"/>
                <a:ea typeface="微软雅黑"/>
                <a:cs typeface="微软雅黑"/>
              </a:rPr>
              <a:t>字母正确，但位置不对</a:t>
            </a:r>
            <a:endParaRPr sz="1140">
              <a:solidFill>
                <a:srgbClr val="666666"/>
              </a:solidFill>
              <a:latin typeface="微软雅黑"/>
              <a:ea typeface="微软雅黑"/>
              <a:cs typeface="微软雅黑"/>
            </a:endParaRPr>
          </a:p>
        </p:txBody>
      </p:sp>
      <p:sp>
        <p:nvSpPr>
          <p:cNvPr id="21" name="矩形 20"/>
          <p:cNvSpPr>
            <a:spLocks noGrp="1"/>
          </p:cNvSpPr>
          <p:nvPr/>
        </p:nvSpPr>
        <p:spPr>
          <a:xfrm>
            <a:off x="723900" y="4960620"/>
            <a:ext cx="441960" cy="441960"/>
          </a:xfrm>
          <a:prstGeom prst="rect">
            <a:avLst/>
          </a:prstGeom>
          <a:solidFill>
            <a:srgbClr val="787C7E"/>
          </a:solidFill>
          <a:ln w="9525">
            <a:solidFill>
              <a:srgbClr val="787C7E"/>
            </a:solidFill>
            <a:prstDash val="solid"/>
          </a:ln>
        </p:spPr>
      </p:sp>
      <p:sp>
        <p:nvSpPr>
          <p:cNvPr id="22" name="矩形 21"/>
          <p:cNvSpPr>
            <a:spLocks noGrp="1"/>
          </p:cNvSpPr>
          <p:nvPr/>
        </p:nvSpPr>
        <p:spPr>
          <a:xfrm>
            <a:off x="723900" y="4960620"/>
            <a:ext cx="441960" cy="441960"/>
          </a:xfrm>
          <a:prstGeom prst="rect">
            <a:avLst/>
          </a:prstGeom>
          <a:noFill/>
          <a:ln w="0">
            <a:noFill/>
            <a:prstDash val="solid"/>
          </a:ln>
        </p:spPr>
        <p:txBody>
          <a:bodyPr wrap="square" lIns="0" tIns="0" rIns="0" bIns="0" anchor="ctr">
            <a:normAutofit/>
          </a:bodyPr>
          <a:lstStyle/>
          <a:p>
            <a:pPr algn="ctr">
              <a:lnSpc>
                <a:spcPct val="108000"/>
              </a:lnSpc>
              <a:buNone/>
              <a:defRPr sz="1950" b="1">
                <a:solidFill>
                  <a:srgbClr val="FFFFFF"/>
                </a:solidFill>
                <a:latin typeface="Arial" panose="020B0604020202090204"/>
                <a:ea typeface="Arial" panose="020B0604020202090204"/>
                <a:cs typeface="Arial" panose="020B0604020202090204"/>
              </a:defRPr>
            </a:pPr>
            <a:r>
              <a:rPr sz="1560" b="1">
                <a:solidFill>
                  <a:srgbClr val="FFFFFF"/>
                </a:solidFill>
                <a:latin typeface="Arial" panose="020B0604020202090204"/>
                <a:ea typeface="Arial" panose="020B0604020202090204"/>
                <a:cs typeface="Arial" panose="020B0604020202090204"/>
              </a:rPr>
              <a:t>X</a:t>
            </a:r>
            <a:endParaRPr sz="1560" b="1">
              <a:solidFill>
                <a:srgbClr val="FFFFFF"/>
              </a:solidFill>
              <a:latin typeface="Arial" panose="020B0604020202090204"/>
              <a:ea typeface="Arial" panose="020B0604020202090204"/>
              <a:cs typeface="Arial" panose="020B0604020202090204"/>
            </a:endParaRPr>
          </a:p>
        </p:txBody>
      </p:sp>
      <p:sp>
        <p:nvSpPr>
          <p:cNvPr id="23" name="矩形 22"/>
          <p:cNvSpPr>
            <a:spLocks noGrp="1"/>
          </p:cNvSpPr>
          <p:nvPr/>
        </p:nvSpPr>
        <p:spPr>
          <a:xfrm>
            <a:off x="1371600" y="4960620"/>
            <a:ext cx="1600200" cy="228600"/>
          </a:xfrm>
          <a:prstGeom prst="rect">
            <a:avLst/>
          </a:prstGeom>
          <a:noFill/>
          <a:ln w="0">
            <a:noFill/>
            <a:prstDash val="solid"/>
          </a:ln>
        </p:spPr>
        <p:txBody>
          <a:bodyPr wrap="square" lIns="0" tIns="0" rIns="0" bIns="0" anchor="t">
            <a:normAutofit/>
          </a:bodyPr>
          <a:lstStyle/>
          <a:p>
            <a:pPr>
              <a:lnSpc>
                <a:spcPct val="108000"/>
              </a:lnSpc>
              <a:buNone/>
              <a:defRPr sz="1575" b="1">
                <a:solidFill>
                  <a:srgbClr val="262626"/>
                </a:solidFill>
                <a:latin typeface="微软雅黑"/>
                <a:ea typeface="微软雅黑"/>
                <a:cs typeface="微软雅黑"/>
              </a:defRPr>
            </a:pPr>
            <a:r>
              <a:rPr sz="1260" b="1">
                <a:solidFill>
                  <a:srgbClr val="262626"/>
                </a:solidFill>
                <a:latin typeface="微软雅黑"/>
                <a:ea typeface="微软雅黑"/>
                <a:cs typeface="微软雅黑"/>
              </a:rPr>
              <a:t>Gray（灰色）</a:t>
            </a:r>
            <a:endParaRPr sz="1260" b="1">
              <a:solidFill>
                <a:srgbClr val="262626"/>
              </a:solidFill>
              <a:latin typeface="微软雅黑"/>
              <a:ea typeface="微软雅黑"/>
              <a:cs typeface="微软雅黑"/>
            </a:endParaRPr>
          </a:p>
        </p:txBody>
      </p:sp>
      <p:sp>
        <p:nvSpPr>
          <p:cNvPr id="24" name="矩形 23"/>
          <p:cNvSpPr>
            <a:spLocks noGrp="1"/>
          </p:cNvSpPr>
          <p:nvPr/>
        </p:nvSpPr>
        <p:spPr>
          <a:xfrm>
            <a:off x="1371600" y="5204460"/>
            <a:ext cx="2590800" cy="213360"/>
          </a:xfrm>
          <a:prstGeom prst="rect">
            <a:avLst/>
          </a:prstGeom>
          <a:noFill/>
          <a:ln w="0">
            <a:noFill/>
            <a:prstDash val="solid"/>
          </a:ln>
        </p:spPr>
        <p:txBody>
          <a:bodyPr wrap="square" lIns="0" tIns="0" rIns="0" bIns="0" anchor="t">
            <a:normAutofit/>
          </a:bodyPr>
          <a:lstStyle/>
          <a:p>
            <a:pPr>
              <a:lnSpc>
                <a:spcPct val="108000"/>
              </a:lnSpc>
              <a:buNone/>
              <a:defRPr sz="1425" b="0">
                <a:solidFill>
                  <a:srgbClr val="666666"/>
                </a:solidFill>
                <a:latin typeface="微软雅黑"/>
                <a:ea typeface="微软雅黑"/>
                <a:cs typeface="微软雅黑"/>
              </a:defRPr>
            </a:pPr>
            <a:r>
              <a:rPr sz="1140">
                <a:solidFill>
                  <a:srgbClr val="666666"/>
                </a:solidFill>
                <a:latin typeface="微软雅黑"/>
                <a:ea typeface="微软雅黑"/>
                <a:cs typeface="微软雅黑"/>
              </a:rPr>
              <a:t>字母不在目标单词中</a:t>
            </a:r>
            <a:endParaRPr sz="1140">
              <a:solidFill>
                <a:srgbClr val="666666"/>
              </a:solidFill>
              <a:latin typeface="微软雅黑"/>
              <a:ea typeface="微软雅黑"/>
              <a:cs typeface="微软雅黑"/>
            </a:endParaRPr>
          </a:p>
        </p:txBody>
      </p:sp>
      <p:sp>
        <p:nvSpPr>
          <p:cNvPr id="25" name="矩形 24"/>
          <p:cNvSpPr>
            <a:spLocks noGrp="1"/>
          </p:cNvSpPr>
          <p:nvPr/>
        </p:nvSpPr>
        <p:spPr>
          <a:xfrm>
            <a:off x="4648200" y="1104900"/>
            <a:ext cx="15240" cy="4229100"/>
          </a:xfrm>
          <a:prstGeom prst="rect">
            <a:avLst/>
          </a:prstGeom>
          <a:solidFill>
            <a:srgbClr val="E5E5E5"/>
          </a:solidFill>
          <a:ln w="0">
            <a:noFill/>
            <a:prstDash val="solid"/>
          </a:ln>
        </p:spPr>
      </p:sp>
      <p:sp>
        <p:nvSpPr>
          <p:cNvPr id="26" name="矩形: 圆角 25"/>
          <p:cNvSpPr>
            <a:spLocks noGrp="1"/>
          </p:cNvSpPr>
          <p:nvPr/>
        </p:nvSpPr>
        <p:spPr>
          <a:xfrm>
            <a:off x="5219700" y="1143000"/>
            <a:ext cx="1981200" cy="304800"/>
          </a:xfrm>
          <a:prstGeom prst="roundRect">
            <a:avLst>
              <a:gd name="adj" fmla="val 15000"/>
            </a:avLst>
          </a:prstGeom>
          <a:solidFill>
            <a:srgbClr val="F5F5F5"/>
          </a:solidFill>
          <a:ln w="0">
            <a:noFill/>
            <a:prstDash val="solid"/>
          </a:ln>
        </p:spPr>
      </p:sp>
      <p:sp>
        <p:nvSpPr>
          <p:cNvPr id="27" name="矩形 26"/>
          <p:cNvSpPr>
            <a:spLocks noGrp="1"/>
          </p:cNvSpPr>
          <p:nvPr/>
        </p:nvSpPr>
        <p:spPr>
          <a:xfrm>
            <a:off x="5280660" y="1143000"/>
            <a:ext cx="1859280" cy="304800"/>
          </a:xfrm>
          <a:prstGeom prst="rect">
            <a:avLst/>
          </a:prstGeom>
          <a:noFill/>
          <a:ln w="0">
            <a:noFill/>
            <a:prstDash val="solid"/>
          </a:ln>
        </p:spPr>
        <p:txBody>
          <a:bodyPr wrap="square" lIns="0" tIns="0" rIns="0" bIns="0" anchor="ctr">
            <a:normAutofit/>
          </a:bodyPr>
          <a:lstStyle/>
          <a:p>
            <a:pPr algn="ctr">
              <a:lnSpc>
                <a:spcPct val="108000"/>
              </a:lnSpc>
              <a:buNone/>
              <a:defRPr sz="1350" b="1">
                <a:solidFill>
                  <a:srgbClr val="262626"/>
                </a:solidFill>
                <a:latin typeface="微软雅黑"/>
                <a:ea typeface="微软雅黑"/>
                <a:cs typeface="微软雅黑"/>
              </a:defRPr>
            </a:pPr>
            <a:r>
              <a:rPr sz="1080" b="1">
                <a:solidFill>
                  <a:srgbClr val="262626"/>
                </a:solidFill>
                <a:latin typeface="微软雅黑"/>
                <a:ea typeface="微软雅黑"/>
                <a:cs typeface="微软雅黑"/>
              </a:rPr>
              <a:t>示例目标：SMILE</a:t>
            </a:r>
            <a:endParaRPr sz="1080" b="1">
              <a:solidFill>
                <a:srgbClr val="262626"/>
              </a:solidFill>
              <a:latin typeface="微软雅黑"/>
              <a:ea typeface="微软雅黑"/>
              <a:cs typeface="微软雅黑"/>
            </a:endParaRPr>
          </a:p>
        </p:txBody>
      </p:sp>
      <p:sp>
        <p:nvSpPr>
          <p:cNvPr id="28" name="矩形 27"/>
          <p:cNvSpPr>
            <a:spLocks noGrp="1"/>
          </p:cNvSpPr>
          <p:nvPr/>
        </p:nvSpPr>
        <p:spPr>
          <a:xfrm>
            <a:off x="5219700" y="1874520"/>
            <a:ext cx="838200" cy="304800"/>
          </a:xfrm>
          <a:prstGeom prst="rect">
            <a:avLst/>
          </a:prstGeom>
          <a:noFill/>
          <a:ln w="0">
            <a:noFill/>
            <a:prstDash val="solid"/>
          </a:ln>
        </p:spPr>
        <p:txBody>
          <a:bodyPr wrap="square" lIns="0" tIns="0" rIns="0" bIns="0" anchor="t">
            <a:normAutofit/>
          </a:bodyPr>
          <a:lstStyle/>
          <a:p>
            <a:pPr>
              <a:lnSpc>
                <a:spcPct val="108000"/>
              </a:lnSpc>
              <a:buNone/>
              <a:defRPr sz="1575" b="1">
                <a:solidFill>
                  <a:srgbClr val="888888"/>
                </a:solidFill>
                <a:latin typeface="微软雅黑"/>
                <a:ea typeface="微软雅黑"/>
                <a:cs typeface="微软雅黑"/>
              </a:defRPr>
            </a:pPr>
            <a:r>
              <a:rPr sz="1260" b="1">
                <a:solidFill>
                  <a:srgbClr val="888888"/>
                </a:solidFill>
                <a:latin typeface="微软雅黑"/>
                <a:ea typeface="微软雅黑"/>
                <a:cs typeface="微软雅黑"/>
              </a:rPr>
              <a:t>第 1 轮</a:t>
            </a:r>
            <a:endParaRPr sz="1260" b="1">
              <a:solidFill>
                <a:srgbClr val="888888"/>
              </a:solidFill>
              <a:latin typeface="微软雅黑"/>
              <a:ea typeface="微软雅黑"/>
              <a:cs typeface="微软雅黑"/>
            </a:endParaRPr>
          </a:p>
        </p:txBody>
      </p:sp>
      <p:sp>
        <p:nvSpPr>
          <p:cNvPr id="29" name="矩形 28"/>
          <p:cNvSpPr>
            <a:spLocks noGrp="1"/>
          </p:cNvSpPr>
          <p:nvPr/>
        </p:nvSpPr>
        <p:spPr>
          <a:xfrm>
            <a:off x="6210300" y="1790700"/>
            <a:ext cx="518160" cy="518160"/>
          </a:xfrm>
          <a:prstGeom prst="rect">
            <a:avLst/>
          </a:prstGeom>
          <a:solidFill>
            <a:srgbClr val="787C7E"/>
          </a:solidFill>
          <a:ln w="9525">
            <a:solidFill>
              <a:srgbClr val="787C7E"/>
            </a:solidFill>
            <a:prstDash val="solid"/>
          </a:ln>
        </p:spPr>
      </p:sp>
      <p:sp>
        <p:nvSpPr>
          <p:cNvPr id="30" name="矩形 29"/>
          <p:cNvSpPr>
            <a:spLocks noGrp="1"/>
          </p:cNvSpPr>
          <p:nvPr/>
        </p:nvSpPr>
        <p:spPr>
          <a:xfrm>
            <a:off x="6210300" y="1790700"/>
            <a:ext cx="518160" cy="518160"/>
          </a:xfrm>
          <a:prstGeom prst="rect">
            <a:avLst/>
          </a:prstGeom>
          <a:noFill/>
          <a:ln w="0">
            <a:noFill/>
            <a:prstDash val="solid"/>
          </a:ln>
        </p:spPr>
        <p:txBody>
          <a:bodyPr wrap="square" lIns="0" tIns="0" rIns="0" bIns="0" anchor="ctr">
            <a:normAutofit/>
          </a:bodyPr>
          <a:lstStyle/>
          <a:p>
            <a:pPr algn="ctr">
              <a:lnSpc>
                <a:spcPct val="108000"/>
              </a:lnSpc>
              <a:buNone/>
              <a:defRPr sz="2250" b="1">
                <a:solidFill>
                  <a:srgbClr val="FFFFFF"/>
                </a:solidFill>
                <a:latin typeface="Arial" panose="020B0604020202090204"/>
                <a:ea typeface="Arial" panose="020B0604020202090204"/>
                <a:cs typeface="Arial" panose="020B0604020202090204"/>
              </a:defRPr>
            </a:pPr>
            <a:r>
              <a:rPr b="1">
                <a:solidFill>
                  <a:srgbClr val="FFFFFF"/>
                </a:solidFill>
                <a:latin typeface="Arial" panose="020B0604020202090204"/>
                <a:ea typeface="Arial" panose="020B0604020202090204"/>
                <a:cs typeface="Arial" panose="020B0604020202090204"/>
              </a:rPr>
              <a:t>C</a:t>
            </a:r>
            <a:endParaRPr b="1">
              <a:solidFill>
                <a:srgbClr val="FFFFFF"/>
              </a:solidFill>
              <a:latin typeface="Arial" panose="020B0604020202090204"/>
              <a:ea typeface="Arial" panose="020B0604020202090204"/>
              <a:cs typeface="Arial" panose="020B0604020202090204"/>
            </a:endParaRPr>
          </a:p>
        </p:txBody>
      </p:sp>
      <p:sp>
        <p:nvSpPr>
          <p:cNvPr id="31" name="矩形 30"/>
          <p:cNvSpPr>
            <a:spLocks noGrp="1"/>
          </p:cNvSpPr>
          <p:nvPr/>
        </p:nvSpPr>
        <p:spPr>
          <a:xfrm>
            <a:off x="6789420" y="1790700"/>
            <a:ext cx="518160" cy="518160"/>
          </a:xfrm>
          <a:prstGeom prst="rect">
            <a:avLst/>
          </a:prstGeom>
          <a:solidFill>
            <a:srgbClr val="787C7E"/>
          </a:solidFill>
          <a:ln w="9525">
            <a:solidFill>
              <a:srgbClr val="787C7E"/>
            </a:solidFill>
            <a:prstDash val="solid"/>
          </a:ln>
        </p:spPr>
      </p:sp>
      <p:sp>
        <p:nvSpPr>
          <p:cNvPr id="32" name="矩形 31"/>
          <p:cNvSpPr>
            <a:spLocks noGrp="1"/>
          </p:cNvSpPr>
          <p:nvPr/>
        </p:nvSpPr>
        <p:spPr>
          <a:xfrm>
            <a:off x="6789420" y="1790700"/>
            <a:ext cx="518160" cy="518160"/>
          </a:xfrm>
          <a:prstGeom prst="rect">
            <a:avLst/>
          </a:prstGeom>
          <a:noFill/>
          <a:ln w="0">
            <a:noFill/>
            <a:prstDash val="solid"/>
          </a:ln>
        </p:spPr>
        <p:txBody>
          <a:bodyPr wrap="square" lIns="0" tIns="0" rIns="0" bIns="0" anchor="ctr">
            <a:normAutofit/>
          </a:bodyPr>
          <a:lstStyle/>
          <a:p>
            <a:pPr algn="ctr">
              <a:lnSpc>
                <a:spcPct val="108000"/>
              </a:lnSpc>
              <a:buNone/>
              <a:defRPr sz="2250" b="1">
                <a:solidFill>
                  <a:srgbClr val="FFFFFF"/>
                </a:solidFill>
                <a:latin typeface="Arial" panose="020B0604020202090204"/>
                <a:ea typeface="Arial" panose="020B0604020202090204"/>
                <a:cs typeface="Arial" panose="020B0604020202090204"/>
              </a:defRPr>
            </a:pPr>
            <a:r>
              <a:rPr b="1">
                <a:solidFill>
                  <a:srgbClr val="FFFFFF"/>
                </a:solidFill>
                <a:latin typeface="Arial" panose="020B0604020202090204"/>
                <a:ea typeface="Arial" panose="020B0604020202090204"/>
                <a:cs typeface="Arial" panose="020B0604020202090204"/>
              </a:rPr>
              <a:t>R</a:t>
            </a:r>
            <a:endParaRPr b="1">
              <a:solidFill>
                <a:srgbClr val="FFFFFF"/>
              </a:solidFill>
              <a:latin typeface="Arial" panose="020B0604020202090204"/>
              <a:ea typeface="Arial" panose="020B0604020202090204"/>
              <a:cs typeface="Arial" panose="020B0604020202090204"/>
            </a:endParaRPr>
          </a:p>
        </p:txBody>
      </p:sp>
      <p:sp>
        <p:nvSpPr>
          <p:cNvPr id="33" name="矩形 32"/>
          <p:cNvSpPr>
            <a:spLocks noGrp="1"/>
          </p:cNvSpPr>
          <p:nvPr/>
        </p:nvSpPr>
        <p:spPr>
          <a:xfrm>
            <a:off x="7368540" y="1790700"/>
            <a:ext cx="518160" cy="518160"/>
          </a:xfrm>
          <a:prstGeom prst="rect">
            <a:avLst/>
          </a:prstGeom>
          <a:solidFill>
            <a:srgbClr val="787C7E"/>
          </a:solidFill>
          <a:ln w="9525">
            <a:solidFill>
              <a:srgbClr val="787C7E"/>
            </a:solidFill>
            <a:prstDash val="solid"/>
          </a:ln>
        </p:spPr>
      </p:sp>
      <p:sp>
        <p:nvSpPr>
          <p:cNvPr id="34" name="矩形 33"/>
          <p:cNvSpPr>
            <a:spLocks noGrp="1"/>
          </p:cNvSpPr>
          <p:nvPr/>
        </p:nvSpPr>
        <p:spPr>
          <a:xfrm>
            <a:off x="7368540" y="1790700"/>
            <a:ext cx="518160" cy="518160"/>
          </a:xfrm>
          <a:prstGeom prst="rect">
            <a:avLst/>
          </a:prstGeom>
          <a:noFill/>
          <a:ln w="0">
            <a:noFill/>
            <a:prstDash val="solid"/>
          </a:ln>
        </p:spPr>
        <p:txBody>
          <a:bodyPr wrap="square" lIns="0" tIns="0" rIns="0" bIns="0" anchor="ctr">
            <a:normAutofit/>
          </a:bodyPr>
          <a:lstStyle/>
          <a:p>
            <a:pPr algn="ctr">
              <a:lnSpc>
                <a:spcPct val="108000"/>
              </a:lnSpc>
              <a:buNone/>
              <a:defRPr sz="2250" b="1">
                <a:solidFill>
                  <a:srgbClr val="FFFFFF"/>
                </a:solidFill>
                <a:latin typeface="Arial" panose="020B0604020202090204"/>
                <a:ea typeface="Arial" panose="020B0604020202090204"/>
                <a:cs typeface="Arial" panose="020B0604020202090204"/>
              </a:defRPr>
            </a:pPr>
            <a:r>
              <a:rPr b="1">
                <a:solidFill>
                  <a:srgbClr val="FFFFFF"/>
                </a:solidFill>
                <a:latin typeface="Arial" panose="020B0604020202090204"/>
                <a:ea typeface="Arial" panose="020B0604020202090204"/>
                <a:cs typeface="Arial" panose="020B0604020202090204"/>
              </a:rPr>
              <a:t>A</a:t>
            </a:r>
            <a:endParaRPr b="1">
              <a:solidFill>
                <a:srgbClr val="FFFFFF"/>
              </a:solidFill>
              <a:latin typeface="Arial" panose="020B0604020202090204"/>
              <a:ea typeface="Arial" panose="020B0604020202090204"/>
              <a:cs typeface="Arial" panose="020B0604020202090204"/>
            </a:endParaRPr>
          </a:p>
        </p:txBody>
      </p:sp>
      <p:sp>
        <p:nvSpPr>
          <p:cNvPr id="35" name="矩形 34"/>
          <p:cNvSpPr>
            <a:spLocks noGrp="1"/>
          </p:cNvSpPr>
          <p:nvPr/>
        </p:nvSpPr>
        <p:spPr>
          <a:xfrm>
            <a:off x="7947660" y="1790700"/>
            <a:ext cx="518160" cy="518160"/>
          </a:xfrm>
          <a:prstGeom prst="rect">
            <a:avLst/>
          </a:prstGeom>
          <a:solidFill>
            <a:srgbClr val="787C7E"/>
          </a:solidFill>
          <a:ln w="9525">
            <a:solidFill>
              <a:srgbClr val="787C7E"/>
            </a:solidFill>
            <a:prstDash val="solid"/>
          </a:ln>
        </p:spPr>
      </p:sp>
      <p:sp>
        <p:nvSpPr>
          <p:cNvPr id="36" name="矩形 35"/>
          <p:cNvSpPr>
            <a:spLocks noGrp="1"/>
          </p:cNvSpPr>
          <p:nvPr/>
        </p:nvSpPr>
        <p:spPr>
          <a:xfrm>
            <a:off x="7947660" y="1790700"/>
            <a:ext cx="518160" cy="518160"/>
          </a:xfrm>
          <a:prstGeom prst="rect">
            <a:avLst/>
          </a:prstGeom>
          <a:noFill/>
          <a:ln w="0">
            <a:noFill/>
            <a:prstDash val="solid"/>
          </a:ln>
        </p:spPr>
        <p:txBody>
          <a:bodyPr wrap="square" lIns="0" tIns="0" rIns="0" bIns="0" anchor="ctr">
            <a:normAutofit/>
          </a:bodyPr>
          <a:lstStyle/>
          <a:p>
            <a:pPr algn="ctr">
              <a:lnSpc>
                <a:spcPct val="108000"/>
              </a:lnSpc>
              <a:buNone/>
              <a:defRPr sz="2250" b="1">
                <a:solidFill>
                  <a:srgbClr val="FFFFFF"/>
                </a:solidFill>
                <a:latin typeface="Arial" panose="020B0604020202090204"/>
                <a:ea typeface="Arial" panose="020B0604020202090204"/>
                <a:cs typeface="Arial" panose="020B0604020202090204"/>
              </a:defRPr>
            </a:pPr>
            <a:r>
              <a:rPr b="1">
                <a:solidFill>
                  <a:srgbClr val="FFFFFF"/>
                </a:solidFill>
                <a:latin typeface="Arial" panose="020B0604020202090204"/>
                <a:ea typeface="Arial" panose="020B0604020202090204"/>
                <a:cs typeface="Arial" panose="020B0604020202090204"/>
              </a:rPr>
              <a:t>N</a:t>
            </a:r>
            <a:endParaRPr b="1">
              <a:solidFill>
                <a:srgbClr val="FFFFFF"/>
              </a:solidFill>
              <a:latin typeface="Arial" panose="020B0604020202090204"/>
              <a:ea typeface="Arial" panose="020B0604020202090204"/>
              <a:cs typeface="Arial" panose="020B0604020202090204"/>
            </a:endParaRPr>
          </a:p>
        </p:txBody>
      </p:sp>
      <p:sp>
        <p:nvSpPr>
          <p:cNvPr id="37" name="矩形 36"/>
          <p:cNvSpPr>
            <a:spLocks noGrp="1"/>
          </p:cNvSpPr>
          <p:nvPr/>
        </p:nvSpPr>
        <p:spPr>
          <a:xfrm>
            <a:off x="8526780" y="1790700"/>
            <a:ext cx="518160" cy="518160"/>
          </a:xfrm>
          <a:prstGeom prst="rect">
            <a:avLst/>
          </a:prstGeom>
          <a:solidFill>
            <a:srgbClr val="6AAA64"/>
          </a:solidFill>
          <a:ln w="9525">
            <a:solidFill>
              <a:srgbClr val="6AAA64"/>
            </a:solidFill>
            <a:prstDash val="solid"/>
          </a:ln>
        </p:spPr>
      </p:sp>
      <p:sp>
        <p:nvSpPr>
          <p:cNvPr id="38" name="矩形 37"/>
          <p:cNvSpPr>
            <a:spLocks noGrp="1"/>
          </p:cNvSpPr>
          <p:nvPr/>
        </p:nvSpPr>
        <p:spPr>
          <a:xfrm>
            <a:off x="8526780" y="1790700"/>
            <a:ext cx="518160" cy="518160"/>
          </a:xfrm>
          <a:prstGeom prst="rect">
            <a:avLst/>
          </a:prstGeom>
          <a:noFill/>
          <a:ln w="0">
            <a:noFill/>
            <a:prstDash val="solid"/>
          </a:ln>
        </p:spPr>
        <p:txBody>
          <a:bodyPr wrap="square" lIns="0" tIns="0" rIns="0" bIns="0" anchor="ctr">
            <a:normAutofit/>
          </a:bodyPr>
          <a:lstStyle/>
          <a:p>
            <a:pPr algn="ctr">
              <a:lnSpc>
                <a:spcPct val="108000"/>
              </a:lnSpc>
              <a:buNone/>
              <a:defRPr sz="2250" b="1">
                <a:solidFill>
                  <a:srgbClr val="FFFFFF"/>
                </a:solidFill>
                <a:latin typeface="Arial" panose="020B0604020202090204"/>
                <a:ea typeface="Arial" panose="020B0604020202090204"/>
                <a:cs typeface="Arial" panose="020B0604020202090204"/>
              </a:defRPr>
            </a:pPr>
            <a:r>
              <a:rPr b="1">
                <a:solidFill>
                  <a:srgbClr val="FFFFFF"/>
                </a:solidFill>
                <a:latin typeface="Arial" panose="020B0604020202090204"/>
                <a:ea typeface="Arial" panose="020B0604020202090204"/>
                <a:cs typeface="Arial" panose="020B0604020202090204"/>
              </a:rPr>
              <a:t>E</a:t>
            </a:r>
            <a:endParaRPr b="1">
              <a:solidFill>
                <a:srgbClr val="FFFFFF"/>
              </a:solidFill>
              <a:latin typeface="Arial" panose="020B0604020202090204"/>
              <a:ea typeface="Arial" panose="020B0604020202090204"/>
              <a:cs typeface="Arial" panose="020B0604020202090204"/>
            </a:endParaRPr>
          </a:p>
        </p:txBody>
      </p:sp>
      <p:sp>
        <p:nvSpPr>
          <p:cNvPr id="39" name="矩形 38"/>
          <p:cNvSpPr>
            <a:spLocks noGrp="1"/>
          </p:cNvSpPr>
          <p:nvPr/>
        </p:nvSpPr>
        <p:spPr>
          <a:xfrm>
            <a:off x="9029700" y="1851660"/>
            <a:ext cx="457200" cy="381000"/>
          </a:xfrm>
          <a:prstGeom prst="rect">
            <a:avLst/>
          </a:prstGeom>
          <a:noFill/>
          <a:ln w="0">
            <a:noFill/>
            <a:prstDash val="solid"/>
          </a:ln>
        </p:spPr>
        <p:txBody>
          <a:bodyPr wrap="square" lIns="0" tIns="0" rIns="0" bIns="0" anchor="ctr">
            <a:normAutofit/>
          </a:bodyPr>
          <a:lstStyle/>
          <a:p>
            <a:pPr algn="ctr">
              <a:lnSpc>
                <a:spcPct val="108000"/>
              </a:lnSpc>
              <a:buNone/>
              <a:defRPr sz="2550" b="0">
                <a:solidFill>
                  <a:srgbClr val="262626"/>
                </a:solidFill>
                <a:latin typeface="微软雅黑"/>
                <a:ea typeface="微软雅黑"/>
                <a:cs typeface="微软雅黑"/>
              </a:defRPr>
            </a:pPr>
            <a:r>
              <a:rPr sz="2040">
                <a:solidFill>
                  <a:srgbClr val="262626"/>
                </a:solidFill>
                <a:latin typeface="微软雅黑"/>
                <a:ea typeface="微软雅黑"/>
                <a:cs typeface="微软雅黑"/>
              </a:rPr>
              <a:t>→</a:t>
            </a:r>
            <a:endParaRPr sz="2040">
              <a:solidFill>
                <a:srgbClr val="262626"/>
              </a:solidFill>
              <a:latin typeface="微软雅黑"/>
              <a:ea typeface="微软雅黑"/>
              <a:cs typeface="微软雅黑"/>
            </a:endParaRPr>
          </a:p>
        </p:txBody>
      </p:sp>
      <p:sp>
        <p:nvSpPr>
          <p:cNvPr id="40" name="矩形 39"/>
          <p:cNvSpPr>
            <a:spLocks noGrp="1"/>
          </p:cNvSpPr>
          <p:nvPr/>
        </p:nvSpPr>
        <p:spPr>
          <a:xfrm>
            <a:off x="9601200" y="1805940"/>
            <a:ext cx="1752600" cy="487680"/>
          </a:xfrm>
          <a:prstGeom prst="rect">
            <a:avLst/>
          </a:prstGeom>
          <a:noFill/>
          <a:ln w="0">
            <a:noFill/>
            <a:prstDash val="solid"/>
          </a:ln>
        </p:spPr>
        <p:txBody>
          <a:bodyPr wrap="square" lIns="0" tIns="0" rIns="0" bIns="0" anchor="ctr">
            <a:normAutofit/>
          </a:bodyPr>
          <a:lstStyle/>
          <a:p>
            <a:pPr>
              <a:lnSpc>
                <a:spcPct val="108000"/>
              </a:lnSpc>
              <a:buNone/>
              <a:defRPr sz="1575" b="0">
                <a:solidFill>
                  <a:srgbClr val="525252"/>
                </a:solidFill>
                <a:latin typeface="微软雅黑"/>
                <a:ea typeface="微软雅黑"/>
                <a:cs typeface="微软雅黑"/>
              </a:defRPr>
            </a:pPr>
            <a:r>
              <a:rPr sz="1260">
                <a:solidFill>
                  <a:srgbClr val="525252"/>
                </a:solidFill>
                <a:latin typeface="微软雅黑"/>
                <a:ea typeface="微软雅黑"/>
                <a:cs typeface="微软雅黑"/>
              </a:rPr>
              <a:t>排除 C/R/A/N，锁定 E</a:t>
            </a:r>
            <a:endParaRPr sz="1260">
              <a:solidFill>
                <a:srgbClr val="525252"/>
              </a:solidFill>
              <a:latin typeface="微软雅黑"/>
              <a:ea typeface="微软雅黑"/>
              <a:cs typeface="微软雅黑"/>
            </a:endParaRPr>
          </a:p>
        </p:txBody>
      </p:sp>
      <p:sp>
        <p:nvSpPr>
          <p:cNvPr id="41" name="矩形 40"/>
          <p:cNvSpPr>
            <a:spLocks noGrp="1"/>
          </p:cNvSpPr>
          <p:nvPr/>
        </p:nvSpPr>
        <p:spPr>
          <a:xfrm>
            <a:off x="5219700" y="2567940"/>
            <a:ext cx="6134100" cy="7620"/>
          </a:xfrm>
          <a:prstGeom prst="rect">
            <a:avLst/>
          </a:prstGeom>
          <a:solidFill>
            <a:srgbClr val="E5E5E5"/>
          </a:solidFill>
          <a:ln w="0">
            <a:noFill/>
            <a:prstDash val="solid"/>
          </a:ln>
        </p:spPr>
      </p:sp>
      <p:sp>
        <p:nvSpPr>
          <p:cNvPr id="42" name="矩形 41"/>
          <p:cNvSpPr>
            <a:spLocks noGrp="1"/>
          </p:cNvSpPr>
          <p:nvPr/>
        </p:nvSpPr>
        <p:spPr>
          <a:xfrm>
            <a:off x="5219700" y="3055620"/>
            <a:ext cx="838200" cy="304800"/>
          </a:xfrm>
          <a:prstGeom prst="rect">
            <a:avLst/>
          </a:prstGeom>
          <a:noFill/>
          <a:ln w="0">
            <a:noFill/>
            <a:prstDash val="solid"/>
          </a:ln>
        </p:spPr>
        <p:txBody>
          <a:bodyPr wrap="square" lIns="0" tIns="0" rIns="0" bIns="0" anchor="t">
            <a:normAutofit/>
          </a:bodyPr>
          <a:lstStyle/>
          <a:p>
            <a:pPr>
              <a:lnSpc>
                <a:spcPct val="108000"/>
              </a:lnSpc>
              <a:buNone/>
              <a:defRPr sz="1575" b="1">
                <a:solidFill>
                  <a:srgbClr val="888888"/>
                </a:solidFill>
                <a:latin typeface="微软雅黑"/>
                <a:ea typeface="微软雅黑"/>
                <a:cs typeface="微软雅黑"/>
              </a:defRPr>
            </a:pPr>
            <a:r>
              <a:rPr sz="1260" b="1">
                <a:solidFill>
                  <a:srgbClr val="888888"/>
                </a:solidFill>
                <a:latin typeface="微软雅黑"/>
                <a:ea typeface="微软雅黑"/>
                <a:cs typeface="微软雅黑"/>
              </a:rPr>
              <a:t>第 2 轮</a:t>
            </a:r>
            <a:endParaRPr sz="1260" b="1">
              <a:solidFill>
                <a:srgbClr val="888888"/>
              </a:solidFill>
              <a:latin typeface="微软雅黑"/>
              <a:ea typeface="微软雅黑"/>
              <a:cs typeface="微软雅黑"/>
            </a:endParaRPr>
          </a:p>
        </p:txBody>
      </p:sp>
      <p:sp>
        <p:nvSpPr>
          <p:cNvPr id="43" name="矩形 42"/>
          <p:cNvSpPr>
            <a:spLocks noGrp="1"/>
          </p:cNvSpPr>
          <p:nvPr/>
        </p:nvSpPr>
        <p:spPr>
          <a:xfrm>
            <a:off x="6210300" y="2971800"/>
            <a:ext cx="518160" cy="518160"/>
          </a:xfrm>
          <a:prstGeom prst="rect">
            <a:avLst/>
          </a:prstGeom>
          <a:solidFill>
            <a:srgbClr val="6AAA64"/>
          </a:solidFill>
          <a:ln w="9525">
            <a:solidFill>
              <a:srgbClr val="6AAA64"/>
            </a:solidFill>
            <a:prstDash val="solid"/>
          </a:ln>
        </p:spPr>
      </p:sp>
      <p:sp>
        <p:nvSpPr>
          <p:cNvPr id="44" name="矩形 43"/>
          <p:cNvSpPr>
            <a:spLocks noGrp="1"/>
          </p:cNvSpPr>
          <p:nvPr/>
        </p:nvSpPr>
        <p:spPr>
          <a:xfrm>
            <a:off x="6210300" y="2971800"/>
            <a:ext cx="518160" cy="518160"/>
          </a:xfrm>
          <a:prstGeom prst="rect">
            <a:avLst/>
          </a:prstGeom>
          <a:noFill/>
          <a:ln w="0">
            <a:noFill/>
            <a:prstDash val="solid"/>
          </a:ln>
        </p:spPr>
        <p:txBody>
          <a:bodyPr wrap="square" lIns="0" tIns="0" rIns="0" bIns="0" anchor="ctr">
            <a:normAutofit/>
          </a:bodyPr>
          <a:lstStyle/>
          <a:p>
            <a:pPr algn="ctr">
              <a:lnSpc>
                <a:spcPct val="108000"/>
              </a:lnSpc>
              <a:buNone/>
              <a:defRPr sz="2250" b="1">
                <a:solidFill>
                  <a:srgbClr val="FFFFFF"/>
                </a:solidFill>
                <a:latin typeface="Arial" panose="020B0604020202090204"/>
                <a:ea typeface="Arial" panose="020B0604020202090204"/>
                <a:cs typeface="Arial" panose="020B0604020202090204"/>
              </a:defRPr>
            </a:pPr>
            <a:r>
              <a:rPr b="1">
                <a:solidFill>
                  <a:srgbClr val="FFFFFF"/>
                </a:solidFill>
                <a:latin typeface="Arial" panose="020B0604020202090204"/>
                <a:ea typeface="Arial" panose="020B0604020202090204"/>
                <a:cs typeface="Arial" panose="020B0604020202090204"/>
              </a:rPr>
              <a:t>S</a:t>
            </a:r>
            <a:endParaRPr b="1">
              <a:solidFill>
                <a:srgbClr val="FFFFFF"/>
              </a:solidFill>
              <a:latin typeface="Arial" panose="020B0604020202090204"/>
              <a:ea typeface="Arial" panose="020B0604020202090204"/>
              <a:cs typeface="Arial" panose="020B0604020202090204"/>
            </a:endParaRPr>
          </a:p>
        </p:txBody>
      </p:sp>
      <p:sp>
        <p:nvSpPr>
          <p:cNvPr id="45" name="矩形 44"/>
          <p:cNvSpPr>
            <a:spLocks noGrp="1"/>
          </p:cNvSpPr>
          <p:nvPr/>
        </p:nvSpPr>
        <p:spPr>
          <a:xfrm>
            <a:off x="6789420" y="2971800"/>
            <a:ext cx="518160" cy="518160"/>
          </a:xfrm>
          <a:prstGeom prst="rect">
            <a:avLst/>
          </a:prstGeom>
          <a:solidFill>
            <a:srgbClr val="C9B458"/>
          </a:solidFill>
          <a:ln w="9525">
            <a:solidFill>
              <a:srgbClr val="C9B458"/>
            </a:solidFill>
            <a:prstDash val="solid"/>
          </a:ln>
        </p:spPr>
      </p:sp>
      <p:sp>
        <p:nvSpPr>
          <p:cNvPr id="46" name="矩形 45"/>
          <p:cNvSpPr>
            <a:spLocks noGrp="1"/>
          </p:cNvSpPr>
          <p:nvPr/>
        </p:nvSpPr>
        <p:spPr>
          <a:xfrm>
            <a:off x="6789420" y="2971800"/>
            <a:ext cx="518160" cy="518160"/>
          </a:xfrm>
          <a:prstGeom prst="rect">
            <a:avLst/>
          </a:prstGeom>
          <a:noFill/>
          <a:ln w="0">
            <a:noFill/>
            <a:prstDash val="solid"/>
          </a:ln>
        </p:spPr>
        <p:txBody>
          <a:bodyPr wrap="square" lIns="0" tIns="0" rIns="0" bIns="0" anchor="ctr">
            <a:normAutofit/>
          </a:bodyPr>
          <a:lstStyle/>
          <a:p>
            <a:pPr algn="ctr">
              <a:lnSpc>
                <a:spcPct val="108000"/>
              </a:lnSpc>
              <a:buNone/>
              <a:defRPr sz="2250" b="1">
                <a:solidFill>
                  <a:srgbClr val="FFFFFF"/>
                </a:solidFill>
                <a:latin typeface="Arial" panose="020B0604020202090204"/>
                <a:ea typeface="Arial" panose="020B0604020202090204"/>
                <a:cs typeface="Arial" panose="020B0604020202090204"/>
              </a:defRPr>
            </a:pPr>
            <a:r>
              <a:rPr b="1">
                <a:solidFill>
                  <a:srgbClr val="FFFFFF"/>
                </a:solidFill>
                <a:latin typeface="Arial" panose="020B0604020202090204"/>
                <a:ea typeface="Arial" panose="020B0604020202090204"/>
                <a:cs typeface="Arial" panose="020B0604020202090204"/>
              </a:rPr>
              <a:t>L</a:t>
            </a:r>
            <a:endParaRPr b="1">
              <a:solidFill>
                <a:srgbClr val="FFFFFF"/>
              </a:solidFill>
              <a:latin typeface="Arial" panose="020B0604020202090204"/>
              <a:ea typeface="Arial" panose="020B0604020202090204"/>
              <a:cs typeface="Arial" panose="020B0604020202090204"/>
            </a:endParaRPr>
          </a:p>
        </p:txBody>
      </p:sp>
      <p:sp>
        <p:nvSpPr>
          <p:cNvPr id="47" name="矩形 46"/>
          <p:cNvSpPr>
            <a:spLocks noGrp="1"/>
          </p:cNvSpPr>
          <p:nvPr/>
        </p:nvSpPr>
        <p:spPr>
          <a:xfrm>
            <a:off x="7368540" y="2971800"/>
            <a:ext cx="518160" cy="518160"/>
          </a:xfrm>
          <a:prstGeom prst="rect">
            <a:avLst/>
          </a:prstGeom>
          <a:solidFill>
            <a:srgbClr val="787C7E"/>
          </a:solidFill>
          <a:ln w="9525">
            <a:solidFill>
              <a:srgbClr val="787C7E"/>
            </a:solidFill>
            <a:prstDash val="solid"/>
          </a:ln>
        </p:spPr>
      </p:sp>
      <p:sp>
        <p:nvSpPr>
          <p:cNvPr id="48" name="矩形 47"/>
          <p:cNvSpPr>
            <a:spLocks noGrp="1"/>
          </p:cNvSpPr>
          <p:nvPr/>
        </p:nvSpPr>
        <p:spPr>
          <a:xfrm>
            <a:off x="7368540" y="2971800"/>
            <a:ext cx="518160" cy="518160"/>
          </a:xfrm>
          <a:prstGeom prst="rect">
            <a:avLst/>
          </a:prstGeom>
          <a:noFill/>
          <a:ln w="0">
            <a:noFill/>
            <a:prstDash val="solid"/>
          </a:ln>
        </p:spPr>
        <p:txBody>
          <a:bodyPr wrap="square" lIns="0" tIns="0" rIns="0" bIns="0" anchor="ctr">
            <a:normAutofit/>
          </a:bodyPr>
          <a:lstStyle/>
          <a:p>
            <a:pPr algn="ctr">
              <a:lnSpc>
                <a:spcPct val="108000"/>
              </a:lnSpc>
              <a:buNone/>
              <a:defRPr sz="2250" b="1">
                <a:solidFill>
                  <a:srgbClr val="FFFFFF"/>
                </a:solidFill>
                <a:latin typeface="Arial" panose="020B0604020202090204"/>
                <a:ea typeface="Arial" panose="020B0604020202090204"/>
                <a:cs typeface="Arial" panose="020B0604020202090204"/>
              </a:defRPr>
            </a:pPr>
            <a:r>
              <a:rPr b="1">
                <a:solidFill>
                  <a:srgbClr val="FFFFFF"/>
                </a:solidFill>
                <a:latin typeface="Arial" panose="020B0604020202090204"/>
                <a:ea typeface="Arial" panose="020B0604020202090204"/>
                <a:cs typeface="Arial" panose="020B0604020202090204"/>
              </a:rPr>
              <a:t>A</a:t>
            </a:r>
            <a:endParaRPr b="1">
              <a:solidFill>
                <a:srgbClr val="FFFFFF"/>
              </a:solidFill>
              <a:latin typeface="Arial" panose="020B0604020202090204"/>
              <a:ea typeface="Arial" panose="020B0604020202090204"/>
              <a:cs typeface="Arial" panose="020B0604020202090204"/>
            </a:endParaRPr>
          </a:p>
        </p:txBody>
      </p:sp>
      <p:sp>
        <p:nvSpPr>
          <p:cNvPr id="49" name="矩形 48"/>
          <p:cNvSpPr>
            <a:spLocks noGrp="1"/>
          </p:cNvSpPr>
          <p:nvPr/>
        </p:nvSpPr>
        <p:spPr>
          <a:xfrm>
            <a:off x="7947660" y="2971800"/>
            <a:ext cx="518160" cy="518160"/>
          </a:xfrm>
          <a:prstGeom prst="rect">
            <a:avLst/>
          </a:prstGeom>
          <a:solidFill>
            <a:srgbClr val="787C7E"/>
          </a:solidFill>
          <a:ln w="9525">
            <a:solidFill>
              <a:srgbClr val="787C7E"/>
            </a:solidFill>
            <a:prstDash val="solid"/>
          </a:ln>
        </p:spPr>
      </p:sp>
      <p:sp>
        <p:nvSpPr>
          <p:cNvPr id="50" name="矩形 49"/>
          <p:cNvSpPr>
            <a:spLocks noGrp="1"/>
          </p:cNvSpPr>
          <p:nvPr/>
        </p:nvSpPr>
        <p:spPr>
          <a:xfrm>
            <a:off x="7947660" y="2971800"/>
            <a:ext cx="518160" cy="518160"/>
          </a:xfrm>
          <a:prstGeom prst="rect">
            <a:avLst/>
          </a:prstGeom>
          <a:noFill/>
          <a:ln w="0">
            <a:noFill/>
            <a:prstDash val="solid"/>
          </a:ln>
        </p:spPr>
        <p:txBody>
          <a:bodyPr wrap="square" lIns="0" tIns="0" rIns="0" bIns="0" anchor="ctr">
            <a:normAutofit/>
          </a:bodyPr>
          <a:lstStyle/>
          <a:p>
            <a:pPr algn="ctr">
              <a:lnSpc>
                <a:spcPct val="108000"/>
              </a:lnSpc>
              <a:buNone/>
              <a:defRPr sz="2250" b="1">
                <a:solidFill>
                  <a:srgbClr val="FFFFFF"/>
                </a:solidFill>
                <a:latin typeface="Arial" panose="020B0604020202090204"/>
                <a:ea typeface="Arial" panose="020B0604020202090204"/>
                <a:cs typeface="Arial" panose="020B0604020202090204"/>
              </a:defRPr>
            </a:pPr>
            <a:r>
              <a:rPr b="1">
                <a:solidFill>
                  <a:srgbClr val="FFFFFF"/>
                </a:solidFill>
                <a:latin typeface="Arial" panose="020B0604020202090204"/>
                <a:ea typeface="Arial" panose="020B0604020202090204"/>
                <a:cs typeface="Arial" panose="020B0604020202090204"/>
              </a:rPr>
              <a:t>T</a:t>
            </a:r>
            <a:endParaRPr b="1">
              <a:solidFill>
                <a:srgbClr val="FFFFFF"/>
              </a:solidFill>
              <a:latin typeface="Arial" panose="020B0604020202090204"/>
              <a:ea typeface="Arial" panose="020B0604020202090204"/>
              <a:cs typeface="Arial" panose="020B0604020202090204"/>
            </a:endParaRPr>
          </a:p>
        </p:txBody>
      </p:sp>
      <p:sp>
        <p:nvSpPr>
          <p:cNvPr id="51" name="矩形 50"/>
          <p:cNvSpPr>
            <a:spLocks noGrp="1"/>
          </p:cNvSpPr>
          <p:nvPr/>
        </p:nvSpPr>
        <p:spPr>
          <a:xfrm>
            <a:off x="8526780" y="2971800"/>
            <a:ext cx="518160" cy="518160"/>
          </a:xfrm>
          <a:prstGeom prst="rect">
            <a:avLst/>
          </a:prstGeom>
          <a:solidFill>
            <a:srgbClr val="6AAA64"/>
          </a:solidFill>
          <a:ln w="9525">
            <a:solidFill>
              <a:srgbClr val="6AAA64"/>
            </a:solidFill>
            <a:prstDash val="solid"/>
          </a:ln>
        </p:spPr>
      </p:sp>
      <p:sp>
        <p:nvSpPr>
          <p:cNvPr id="52" name="矩形 51"/>
          <p:cNvSpPr>
            <a:spLocks noGrp="1"/>
          </p:cNvSpPr>
          <p:nvPr/>
        </p:nvSpPr>
        <p:spPr>
          <a:xfrm>
            <a:off x="8526780" y="2971800"/>
            <a:ext cx="518160" cy="518160"/>
          </a:xfrm>
          <a:prstGeom prst="rect">
            <a:avLst/>
          </a:prstGeom>
          <a:noFill/>
          <a:ln w="0">
            <a:noFill/>
            <a:prstDash val="solid"/>
          </a:ln>
        </p:spPr>
        <p:txBody>
          <a:bodyPr wrap="square" lIns="0" tIns="0" rIns="0" bIns="0" anchor="ctr">
            <a:normAutofit/>
          </a:bodyPr>
          <a:lstStyle/>
          <a:p>
            <a:pPr algn="ctr">
              <a:lnSpc>
                <a:spcPct val="108000"/>
              </a:lnSpc>
              <a:buNone/>
              <a:defRPr sz="2250" b="1">
                <a:solidFill>
                  <a:srgbClr val="FFFFFF"/>
                </a:solidFill>
                <a:latin typeface="Arial" panose="020B0604020202090204"/>
                <a:ea typeface="Arial" panose="020B0604020202090204"/>
                <a:cs typeface="Arial" panose="020B0604020202090204"/>
              </a:defRPr>
            </a:pPr>
            <a:r>
              <a:rPr b="1">
                <a:solidFill>
                  <a:srgbClr val="FFFFFF"/>
                </a:solidFill>
                <a:latin typeface="Arial" panose="020B0604020202090204"/>
                <a:ea typeface="Arial" panose="020B0604020202090204"/>
                <a:cs typeface="Arial" panose="020B0604020202090204"/>
              </a:rPr>
              <a:t>E</a:t>
            </a:r>
            <a:endParaRPr b="1">
              <a:solidFill>
                <a:srgbClr val="FFFFFF"/>
              </a:solidFill>
              <a:latin typeface="Arial" panose="020B0604020202090204"/>
              <a:ea typeface="Arial" panose="020B0604020202090204"/>
              <a:cs typeface="Arial" panose="020B0604020202090204"/>
            </a:endParaRPr>
          </a:p>
        </p:txBody>
      </p:sp>
      <p:sp>
        <p:nvSpPr>
          <p:cNvPr id="53" name="矩形 52"/>
          <p:cNvSpPr>
            <a:spLocks noGrp="1"/>
          </p:cNvSpPr>
          <p:nvPr/>
        </p:nvSpPr>
        <p:spPr>
          <a:xfrm>
            <a:off x="9029700" y="3032760"/>
            <a:ext cx="457200" cy="381000"/>
          </a:xfrm>
          <a:prstGeom prst="rect">
            <a:avLst/>
          </a:prstGeom>
          <a:noFill/>
          <a:ln w="0">
            <a:noFill/>
            <a:prstDash val="solid"/>
          </a:ln>
        </p:spPr>
        <p:txBody>
          <a:bodyPr wrap="square" lIns="0" tIns="0" rIns="0" bIns="0" anchor="ctr">
            <a:normAutofit/>
          </a:bodyPr>
          <a:lstStyle/>
          <a:p>
            <a:pPr algn="ctr">
              <a:lnSpc>
                <a:spcPct val="108000"/>
              </a:lnSpc>
              <a:buNone/>
              <a:defRPr sz="2550" b="0">
                <a:solidFill>
                  <a:srgbClr val="262626"/>
                </a:solidFill>
                <a:latin typeface="微软雅黑"/>
                <a:ea typeface="微软雅黑"/>
                <a:cs typeface="微软雅黑"/>
              </a:defRPr>
            </a:pPr>
            <a:r>
              <a:rPr sz="2040">
                <a:solidFill>
                  <a:srgbClr val="262626"/>
                </a:solidFill>
                <a:latin typeface="微软雅黑"/>
                <a:ea typeface="微软雅黑"/>
                <a:cs typeface="微软雅黑"/>
              </a:rPr>
              <a:t>→</a:t>
            </a:r>
            <a:endParaRPr sz="2040">
              <a:solidFill>
                <a:srgbClr val="262626"/>
              </a:solidFill>
              <a:latin typeface="微软雅黑"/>
              <a:ea typeface="微软雅黑"/>
              <a:cs typeface="微软雅黑"/>
            </a:endParaRPr>
          </a:p>
        </p:txBody>
      </p:sp>
      <p:sp>
        <p:nvSpPr>
          <p:cNvPr id="54" name="矩形 53"/>
          <p:cNvSpPr>
            <a:spLocks noGrp="1"/>
          </p:cNvSpPr>
          <p:nvPr/>
        </p:nvSpPr>
        <p:spPr>
          <a:xfrm>
            <a:off x="9601200" y="2987040"/>
            <a:ext cx="1752600" cy="487680"/>
          </a:xfrm>
          <a:prstGeom prst="rect">
            <a:avLst/>
          </a:prstGeom>
          <a:noFill/>
          <a:ln w="0">
            <a:noFill/>
            <a:prstDash val="solid"/>
          </a:ln>
        </p:spPr>
        <p:txBody>
          <a:bodyPr wrap="square" lIns="0" tIns="0" rIns="0" bIns="0" anchor="ctr">
            <a:normAutofit/>
          </a:bodyPr>
          <a:lstStyle/>
          <a:p>
            <a:pPr>
              <a:lnSpc>
                <a:spcPct val="108000"/>
              </a:lnSpc>
              <a:buNone/>
              <a:defRPr sz="1575" b="0">
                <a:solidFill>
                  <a:srgbClr val="525252"/>
                </a:solidFill>
                <a:latin typeface="微软雅黑"/>
                <a:ea typeface="微软雅黑"/>
                <a:cs typeface="微软雅黑"/>
              </a:defRPr>
            </a:pPr>
            <a:r>
              <a:rPr sz="1260">
                <a:solidFill>
                  <a:srgbClr val="525252"/>
                </a:solidFill>
                <a:latin typeface="微软雅黑"/>
                <a:ea typeface="微软雅黑"/>
                <a:cs typeface="微软雅黑"/>
              </a:rPr>
              <a:t>锁定 S，L 需要换位</a:t>
            </a:r>
            <a:endParaRPr sz="1260">
              <a:solidFill>
                <a:srgbClr val="525252"/>
              </a:solidFill>
              <a:latin typeface="微软雅黑"/>
              <a:ea typeface="微软雅黑"/>
              <a:cs typeface="微软雅黑"/>
            </a:endParaRPr>
          </a:p>
        </p:txBody>
      </p:sp>
      <p:sp>
        <p:nvSpPr>
          <p:cNvPr id="55" name="矩形 54"/>
          <p:cNvSpPr>
            <a:spLocks noGrp="1"/>
          </p:cNvSpPr>
          <p:nvPr/>
        </p:nvSpPr>
        <p:spPr>
          <a:xfrm>
            <a:off x="5219700" y="3749040"/>
            <a:ext cx="6134100" cy="7620"/>
          </a:xfrm>
          <a:prstGeom prst="rect">
            <a:avLst/>
          </a:prstGeom>
          <a:solidFill>
            <a:srgbClr val="E5E5E5"/>
          </a:solidFill>
          <a:ln w="0">
            <a:noFill/>
            <a:prstDash val="solid"/>
          </a:ln>
        </p:spPr>
      </p:sp>
      <p:sp>
        <p:nvSpPr>
          <p:cNvPr id="56" name="矩形 55"/>
          <p:cNvSpPr>
            <a:spLocks noGrp="1"/>
          </p:cNvSpPr>
          <p:nvPr/>
        </p:nvSpPr>
        <p:spPr>
          <a:xfrm>
            <a:off x="5219700" y="4236720"/>
            <a:ext cx="838200" cy="304800"/>
          </a:xfrm>
          <a:prstGeom prst="rect">
            <a:avLst/>
          </a:prstGeom>
          <a:noFill/>
          <a:ln w="0">
            <a:noFill/>
            <a:prstDash val="solid"/>
          </a:ln>
        </p:spPr>
        <p:txBody>
          <a:bodyPr wrap="square" lIns="0" tIns="0" rIns="0" bIns="0" anchor="t">
            <a:normAutofit/>
          </a:bodyPr>
          <a:lstStyle/>
          <a:p>
            <a:pPr>
              <a:lnSpc>
                <a:spcPct val="108000"/>
              </a:lnSpc>
              <a:buNone/>
              <a:defRPr sz="1575" b="1">
                <a:solidFill>
                  <a:srgbClr val="888888"/>
                </a:solidFill>
                <a:latin typeface="微软雅黑"/>
                <a:ea typeface="微软雅黑"/>
                <a:cs typeface="微软雅黑"/>
              </a:defRPr>
            </a:pPr>
            <a:r>
              <a:rPr sz="1260" b="1">
                <a:solidFill>
                  <a:srgbClr val="888888"/>
                </a:solidFill>
                <a:latin typeface="微软雅黑"/>
                <a:ea typeface="微软雅黑"/>
                <a:cs typeface="微软雅黑"/>
              </a:rPr>
              <a:t>第 3 轮</a:t>
            </a:r>
            <a:endParaRPr sz="1260" b="1">
              <a:solidFill>
                <a:srgbClr val="888888"/>
              </a:solidFill>
              <a:latin typeface="微软雅黑"/>
              <a:ea typeface="微软雅黑"/>
              <a:cs typeface="微软雅黑"/>
            </a:endParaRPr>
          </a:p>
        </p:txBody>
      </p:sp>
      <p:sp>
        <p:nvSpPr>
          <p:cNvPr id="57" name="矩形 56"/>
          <p:cNvSpPr>
            <a:spLocks noGrp="1"/>
          </p:cNvSpPr>
          <p:nvPr/>
        </p:nvSpPr>
        <p:spPr>
          <a:xfrm>
            <a:off x="6210300" y="4152900"/>
            <a:ext cx="518160" cy="518160"/>
          </a:xfrm>
          <a:prstGeom prst="rect">
            <a:avLst/>
          </a:prstGeom>
          <a:solidFill>
            <a:srgbClr val="6AAA64"/>
          </a:solidFill>
          <a:ln w="9525">
            <a:solidFill>
              <a:srgbClr val="6AAA64"/>
            </a:solidFill>
            <a:prstDash val="solid"/>
          </a:ln>
        </p:spPr>
      </p:sp>
      <p:sp>
        <p:nvSpPr>
          <p:cNvPr id="58" name="矩形 57"/>
          <p:cNvSpPr>
            <a:spLocks noGrp="1"/>
          </p:cNvSpPr>
          <p:nvPr/>
        </p:nvSpPr>
        <p:spPr>
          <a:xfrm>
            <a:off x="6210300" y="4152900"/>
            <a:ext cx="518160" cy="518160"/>
          </a:xfrm>
          <a:prstGeom prst="rect">
            <a:avLst/>
          </a:prstGeom>
          <a:noFill/>
          <a:ln w="0">
            <a:noFill/>
            <a:prstDash val="solid"/>
          </a:ln>
        </p:spPr>
        <p:txBody>
          <a:bodyPr wrap="square" lIns="0" tIns="0" rIns="0" bIns="0" anchor="ctr">
            <a:normAutofit/>
          </a:bodyPr>
          <a:lstStyle/>
          <a:p>
            <a:pPr algn="ctr">
              <a:lnSpc>
                <a:spcPct val="108000"/>
              </a:lnSpc>
              <a:buNone/>
              <a:defRPr sz="2250" b="1">
                <a:solidFill>
                  <a:srgbClr val="FFFFFF"/>
                </a:solidFill>
                <a:latin typeface="Arial" panose="020B0604020202090204"/>
                <a:ea typeface="Arial" panose="020B0604020202090204"/>
                <a:cs typeface="Arial" panose="020B0604020202090204"/>
              </a:defRPr>
            </a:pPr>
            <a:r>
              <a:rPr b="1">
                <a:solidFill>
                  <a:srgbClr val="FFFFFF"/>
                </a:solidFill>
                <a:latin typeface="Arial" panose="020B0604020202090204"/>
                <a:ea typeface="Arial" panose="020B0604020202090204"/>
                <a:cs typeface="Arial" panose="020B0604020202090204"/>
              </a:rPr>
              <a:t>S</a:t>
            </a:r>
            <a:endParaRPr b="1">
              <a:solidFill>
                <a:srgbClr val="FFFFFF"/>
              </a:solidFill>
              <a:latin typeface="Arial" panose="020B0604020202090204"/>
              <a:ea typeface="Arial" panose="020B0604020202090204"/>
              <a:cs typeface="Arial" panose="020B0604020202090204"/>
            </a:endParaRPr>
          </a:p>
        </p:txBody>
      </p:sp>
      <p:sp>
        <p:nvSpPr>
          <p:cNvPr id="59" name="矩形 58"/>
          <p:cNvSpPr>
            <a:spLocks noGrp="1"/>
          </p:cNvSpPr>
          <p:nvPr/>
        </p:nvSpPr>
        <p:spPr>
          <a:xfrm>
            <a:off x="6789420" y="4152900"/>
            <a:ext cx="518160" cy="518160"/>
          </a:xfrm>
          <a:prstGeom prst="rect">
            <a:avLst/>
          </a:prstGeom>
          <a:solidFill>
            <a:srgbClr val="6AAA64"/>
          </a:solidFill>
          <a:ln w="9525">
            <a:solidFill>
              <a:srgbClr val="6AAA64"/>
            </a:solidFill>
            <a:prstDash val="solid"/>
          </a:ln>
        </p:spPr>
      </p:sp>
      <p:sp>
        <p:nvSpPr>
          <p:cNvPr id="60" name="矩形 59"/>
          <p:cNvSpPr>
            <a:spLocks noGrp="1"/>
          </p:cNvSpPr>
          <p:nvPr/>
        </p:nvSpPr>
        <p:spPr>
          <a:xfrm>
            <a:off x="6789420" y="4152900"/>
            <a:ext cx="518160" cy="518160"/>
          </a:xfrm>
          <a:prstGeom prst="rect">
            <a:avLst/>
          </a:prstGeom>
          <a:noFill/>
          <a:ln w="0">
            <a:noFill/>
            <a:prstDash val="solid"/>
          </a:ln>
        </p:spPr>
        <p:txBody>
          <a:bodyPr wrap="square" lIns="0" tIns="0" rIns="0" bIns="0" anchor="ctr">
            <a:normAutofit/>
          </a:bodyPr>
          <a:lstStyle/>
          <a:p>
            <a:pPr algn="ctr">
              <a:lnSpc>
                <a:spcPct val="108000"/>
              </a:lnSpc>
              <a:buNone/>
              <a:defRPr sz="2250" b="1">
                <a:solidFill>
                  <a:srgbClr val="FFFFFF"/>
                </a:solidFill>
                <a:latin typeface="Arial" panose="020B0604020202090204"/>
                <a:ea typeface="Arial" panose="020B0604020202090204"/>
                <a:cs typeface="Arial" panose="020B0604020202090204"/>
              </a:defRPr>
            </a:pPr>
            <a:r>
              <a:rPr b="1">
                <a:solidFill>
                  <a:srgbClr val="FFFFFF"/>
                </a:solidFill>
                <a:latin typeface="Arial" panose="020B0604020202090204"/>
                <a:ea typeface="Arial" panose="020B0604020202090204"/>
                <a:cs typeface="Arial" panose="020B0604020202090204"/>
              </a:rPr>
              <a:t>M</a:t>
            </a:r>
            <a:endParaRPr b="1">
              <a:solidFill>
                <a:srgbClr val="FFFFFF"/>
              </a:solidFill>
              <a:latin typeface="Arial" panose="020B0604020202090204"/>
              <a:ea typeface="Arial" panose="020B0604020202090204"/>
              <a:cs typeface="Arial" panose="020B0604020202090204"/>
            </a:endParaRPr>
          </a:p>
        </p:txBody>
      </p:sp>
      <p:sp>
        <p:nvSpPr>
          <p:cNvPr id="61" name="矩形 60"/>
          <p:cNvSpPr>
            <a:spLocks noGrp="1"/>
          </p:cNvSpPr>
          <p:nvPr/>
        </p:nvSpPr>
        <p:spPr>
          <a:xfrm>
            <a:off x="7368540" y="4152900"/>
            <a:ext cx="518160" cy="518160"/>
          </a:xfrm>
          <a:prstGeom prst="rect">
            <a:avLst/>
          </a:prstGeom>
          <a:solidFill>
            <a:srgbClr val="6AAA64"/>
          </a:solidFill>
          <a:ln w="9525">
            <a:solidFill>
              <a:srgbClr val="6AAA64"/>
            </a:solidFill>
            <a:prstDash val="solid"/>
          </a:ln>
        </p:spPr>
      </p:sp>
      <p:sp>
        <p:nvSpPr>
          <p:cNvPr id="62" name="矩形 61"/>
          <p:cNvSpPr>
            <a:spLocks noGrp="1"/>
          </p:cNvSpPr>
          <p:nvPr/>
        </p:nvSpPr>
        <p:spPr>
          <a:xfrm>
            <a:off x="7368540" y="4152900"/>
            <a:ext cx="518160" cy="518160"/>
          </a:xfrm>
          <a:prstGeom prst="rect">
            <a:avLst/>
          </a:prstGeom>
          <a:noFill/>
          <a:ln w="0">
            <a:noFill/>
            <a:prstDash val="solid"/>
          </a:ln>
        </p:spPr>
        <p:txBody>
          <a:bodyPr wrap="square" lIns="0" tIns="0" rIns="0" bIns="0" anchor="ctr">
            <a:normAutofit/>
          </a:bodyPr>
          <a:lstStyle/>
          <a:p>
            <a:pPr algn="ctr">
              <a:lnSpc>
                <a:spcPct val="108000"/>
              </a:lnSpc>
              <a:buNone/>
              <a:defRPr sz="2250" b="1">
                <a:solidFill>
                  <a:srgbClr val="FFFFFF"/>
                </a:solidFill>
                <a:latin typeface="Arial" panose="020B0604020202090204"/>
                <a:ea typeface="Arial" panose="020B0604020202090204"/>
                <a:cs typeface="Arial" panose="020B0604020202090204"/>
              </a:defRPr>
            </a:pPr>
            <a:r>
              <a:rPr b="1">
                <a:solidFill>
                  <a:srgbClr val="FFFFFF"/>
                </a:solidFill>
                <a:latin typeface="Arial" panose="020B0604020202090204"/>
                <a:ea typeface="Arial" panose="020B0604020202090204"/>
                <a:cs typeface="Arial" panose="020B0604020202090204"/>
              </a:rPr>
              <a:t>I</a:t>
            </a:r>
            <a:endParaRPr b="1">
              <a:solidFill>
                <a:srgbClr val="FFFFFF"/>
              </a:solidFill>
              <a:latin typeface="Arial" panose="020B0604020202090204"/>
              <a:ea typeface="Arial" panose="020B0604020202090204"/>
              <a:cs typeface="Arial" panose="020B0604020202090204"/>
            </a:endParaRPr>
          </a:p>
        </p:txBody>
      </p:sp>
      <p:sp>
        <p:nvSpPr>
          <p:cNvPr id="63" name="矩形 62"/>
          <p:cNvSpPr>
            <a:spLocks noGrp="1"/>
          </p:cNvSpPr>
          <p:nvPr/>
        </p:nvSpPr>
        <p:spPr>
          <a:xfrm>
            <a:off x="7947660" y="4152900"/>
            <a:ext cx="518160" cy="518160"/>
          </a:xfrm>
          <a:prstGeom prst="rect">
            <a:avLst/>
          </a:prstGeom>
          <a:solidFill>
            <a:srgbClr val="6AAA64"/>
          </a:solidFill>
          <a:ln w="9525">
            <a:solidFill>
              <a:srgbClr val="6AAA64"/>
            </a:solidFill>
            <a:prstDash val="solid"/>
          </a:ln>
        </p:spPr>
      </p:sp>
      <p:sp>
        <p:nvSpPr>
          <p:cNvPr id="64" name="矩形 63"/>
          <p:cNvSpPr>
            <a:spLocks noGrp="1"/>
          </p:cNvSpPr>
          <p:nvPr/>
        </p:nvSpPr>
        <p:spPr>
          <a:xfrm>
            <a:off x="7947660" y="4152900"/>
            <a:ext cx="518160" cy="518160"/>
          </a:xfrm>
          <a:prstGeom prst="rect">
            <a:avLst/>
          </a:prstGeom>
          <a:noFill/>
          <a:ln w="0">
            <a:noFill/>
            <a:prstDash val="solid"/>
          </a:ln>
        </p:spPr>
        <p:txBody>
          <a:bodyPr wrap="square" lIns="0" tIns="0" rIns="0" bIns="0" anchor="ctr">
            <a:normAutofit/>
          </a:bodyPr>
          <a:lstStyle/>
          <a:p>
            <a:pPr algn="ctr">
              <a:lnSpc>
                <a:spcPct val="108000"/>
              </a:lnSpc>
              <a:buNone/>
              <a:defRPr sz="2250" b="1">
                <a:solidFill>
                  <a:srgbClr val="FFFFFF"/>
                </a:solidFill>
                <a:latin typeface="Arial" panose="020B0604020202090204"/>
                <a:ea typeface="Arial" panose="020B0604020202090204"/>
                <a:cs typeface="Arial" panose="020B0604020202090204"/>
              </a:defRPr>
            </a:pPr>
            <a:r>
              <a:rPr b="1">
                <a:solidFill>
                  <a:srgbClr val="FFFFFF"/>
                </a:solidFill>
                <a:latin typeface="Arial" panose="020B0604020202090204"/>
                <a:ea typeface="Arial" panose="020B0604020202090204"/>
                <a:cs typeface="Arial" panose="020B0604020202090204"/>
              </a:rPr>
              <a:t>L</a:t>
            </a:r>
            <a:endParaRPr b="1">
              <a:solidFill>
                <a:srgbClr val="FFFFFF"/>
              </a:solidFill>
              <a:latin typeface="Arial" panose="020B0604020202090204"/>
              <a:ea typeface="Arial" panose="020B0604020202090204"/>
              <a:cs typeface="Arial" panose="020B0604020202090204"/>
            </a:endParaRPr>
          </a:p>
        </p:txBody>
      </p:sp>
      <p:sp>
        <p:nvSpPr>
          <p:cNvPr id="65" name="矩形 64"/>
          <p:cNvSpPr>
            <a:spLocks noGrp="1"/>
          </p:cNvSpPr>
          <p:nvPr/>
        </p:nvSpPr>
        <p:spPr>
          <a:xfrm>
            <a:off x="8526780" y="4152900"/>
            <a:ext cx="518160" cy="518160"/>
          </a:xfrm>
          <a:prstGeom prst="rect">
            <a:avLst/>
          </a:prstGeom>
          <a:solidFill>
            <a:srgbClr val="6AAA64"/>
          </a:solidFill>
          <a:ln w="9525">
            <a:solidFill>
              <a:srgbClr val="6AAA64"/>
            </a:solidFill>
            <a:prstDash val="solid"/>
          </a:ln>
        </p:spPr>
      </p:sp>
      <p:sp>
        <p:nvSpPr>
          <p:cNvPr id="66" name="矩形 65"/>
          <p:cNvSpPr>
            <a:spLocks noGrp="1"/>
          </p:cNvSpPr>
          <p:nvPr/>
        </p:nvSpPr>
        <p:spPr>
          <a:xfrm>
            <a:off x="8526780" y="4152900"/>
            <a:ext cx="518160" cy="518160"/>
          </a:xfrm>
          <a:prstGeom prst="rect">
            <a:avLst/>
          </a:prstGeom>
          <a:noFill/>
          <a:ln w="0">
            <a:noFill/>
            <a:prstDash val="solid"/>
          </a:ln>
        </p:spPr>
        <p:txBody>
          <a:bodyPr wrap="square" lIns="0" tIns="0" rIns="0" bIns="0" anchor="ctr">
            <a:normAutofit/>
          </a:bodyPr>
          <a:lstStyle/>
          <a:p>
            <a:pPr algn="ctr">
              <a:lnSpc>
                <a:spcPct val="108000"/>
              </a:lnSpc>
              <a:buNone/>
              <a:defRPr sz="2250" b="1">
                <a:solidFill>
                  <a:srgbClr val="FFFFFF"/>
                </a:solidFill>
                <a:latin typeface="Arial" panose="020B0604020202090204"/>
                <a:ea typeface="Arial" panose="020B0604020202090204"/>
                <a:cs typeface="Arial" panose="020B0604020202090204"/>
              </a:defRPr>
            </a:pPr>
            <a:r>
              <a:rPr b="1">
                <a:solidFill>
                  <a:srgbClr val="FFFFFF"/>
                </a:solidFill>
                <a:latin typeface="Arial" panose="020B0604020202090204"/>
                <a:ea typeface="Arial" panose="020B0604020202090204"/>
                <a:cs typeface="Arial" panose="020B0604020202090204"/>
              </a:rPr>
              <a:t>E</a:t>
            </a:r>
            <a:endParaRPr b="1">
              <a:solidFill>
                <a:srgbClr val="FFFFFF"/>
              </a:solidFill>
              <a:latin typeface="Arial" panose="020B0604020202090204"/>
              <a:ea typeface="Arial" panose="020B0604020202090204"/>
              <a:cs typeface="Arial" panose="020B0604020202090204"/>
            </a:endParaRPr>
          </a:p>
        </p:txBody>
      </p:sp>
      <p:sp>
        <p:nvSpPr>
          <p:cNvPr id="67" name="矩形 66"/>
          <p:cNvSpPr>
            <a:spLocks noGrp="1"/>
          </p:cNvSpPr>
          <p:nvPr/>
        </p:nvSpPr>
        <p:spPr>
          <a:xfrm>
            <a:off x="9029700" y="4213860"/>
            <a:ext cx="457200" cy="381000"/>
          </a:xfrm>
          <a:prstGeom prst="rect">
            <a:avLst/>
          </a:prstGeom>
          <a:noFill/>
          <a:ln w="0">
            <a:noFill/>
            <a:prstDash val="solid"/>
          </a:ln>
        </p:spPr>
        <p:txBody>
          <a:bodyPr wrap="square" lIns="0" tIns="0" rIns="0" bIns="0" anchor="ctr">
            <a:normAutofit/>
          </a:bodyPr>
          <a:lstStyle/>
          <a:p>
            <a:pPr algn="ctr">
              <a:lnSpc>
                <a:spcPct val="108000"/>
              </a:lnSpc>
              <a:buNone/>
              <a:defRPr sz="2550" b="0">
                <a:solidFill>
                  <a:srgbClr val="262626"/>
                </a:solidFill>
                <a:latin typeface="微软雅黑"/>
                <a:ea typeface="微软雅黑"/>
                <a:cs typeface="微软雅黑"/>
              </a:defRPr>
            </a:pPr>
            <a:r>
              <a:rPr sz="2040">
                <a:solidFill>
                  <a:srgbClr val="262626"/>
                </a:solidFill>
                <a:latin typeface="微软雅黑"/>
                <a:ea typeface="微软雅黑"/>
                <a:cs typeface="微软雅黑"/>
              </a:rPr>
              <a:t>→</a:t>
            </a:r>
            <a:endParaRPr sz="2040">
              <a:solidFill>
                <a:srgbClr val="262626"/>
              </a:solidFill>
              <a:latin typeface="微软雅黑"/>
              <a:ea typeface="微软雅黑"/>
              <a:cs typeface="微软雅黑"/>
            </a:endParaRPr>
          </a:p>
        </p:txBody>
      </p:sp>
      <p:sp>
        <p:nvSpPr>
          <p:cNvPr id="68" name="矩形 67"/>
          <p:cNvSpPr>
            <a:spLocks noGrp="1"/>
          </p:cNvSpPr>
          <p:nvPr/>
        </p:nvSpPr>
        <p:spPr>
          <a:xfrm>
            <a:off x="9601200" y="4168140"/>
            <a:ext cx="1752600" cy="487680"/>
          </a:xfrm>
          <a:prstGeom prst="rect">
            <a:avLst/>
          </a:prstGeom>
          <a:noFill/>
          <a:ln w="0">
            <a:noFill/>
            <a:prstDash val="solid"/>
          </a:ln>
        </p:spPr>
        <p:txBody>
          <a:bodyPr wrap="square" lIns="0" tIns="0" rIns="0" bIns="0" anchor="ctr">
            <a:normAutofit/>
          </a:bodyPr>
          <a:lstStyle/>
          <a:p>
            <a:pPr>
              <a:lnSpc>
                <a:spcPct val="108000"/>
              </a:lnSpc>
              <a:buNone/>
              <a:defRPr sz="1575" b="0">
                <a:solidFill>
                  <a:srgbClr val="525252"/>
                </a:solidFill>
                <a:latin typeface="微软雅黑"/>
                <a:ea typeface="微软雅黑"/>
                <a:cs typeface="微软雅黑"/>
              </a:defRPr>
            </a:pPr>
            <a:r>
              <a:rPr sz="1260">
                <a:solidFill>
                  <a:srgbClr val="525252"/>
                </a:solidFill>
                <a:latin typeface="微软雅黑"/>
                <a:ea typeface="微软雅黑"/>
                <a:cs typeface="微软雅黑"/>
              </a:rPr>
              <a:t>全部正确</a:t>
            </a:r>
            <a:endParaRPr sz="1260">
              <a:solidFill>
                <a:srgbClr val="525252"/>
              </a:solidFill>
              <a:latin typeface="微软雅黑"/>
              <a:ea typeface="微软雅黑"/>
              <a:cs typeface="微软雅黑"/>
            </a:endParaRPr>
          </a:p>
        </p:txBody>
      </p:sp>
      <p:sp>
        <p:nvSpPr>
          <p:cNvPr id="69" name="矩形 68"/>
          <p:cNvSpPr>
            <a:spLocks noGrp="1"/>
          </p:cNvSpPr>
          <p:nvPr/>
        </p:nvSpPr>
        <p:spPr>
          <a:xfrm>
            <a:off x="5562600" y="5257800"/>
            <a:ext cx="5486400" cy="419100"/>
          </a:xfrm>
          <a:prstGeom prst="rect">
            <a:avLst/>
          </a:prstGeom>
          <a:noFill/>
          <a:ln w="0">
            <a:noFill/>
            <a:prstDash val="solid"/>
          </a:ln>
        </p:spPr>
        <p:txBody>
          <a:bodyPr wrap="square" lIns="0" tIns="0" rIns="0" bIns="0" anchor="t">
            <a:normAutofit/>
          </a:bodyPr>
          <a:lstStyle/>
          <a:p>
            <a:pPr algn="ctr">
              <a:lnSpc>
                <a:spcPct val="108000"/>
              </a:lnSpc>
              <a:buNone/>
              <a:defRPr sz="1950" b="1">
                <a:solidFill>
                  <a:srgbClr val="E60012"/>
                </a:solidFill>
                <a:latin typeface="微软雅黑"/>
                <a:ea typeface="微软雅黑"/>
                <a:cs typeface="微软雅黑"/>
              </a:defRPr>
            </a:pPr>
            <a:r>
              <a:rPr sz="1560" b="1">
                <a:solidFill>
                  <a:srgbClr val="E60012"/>
                </a:solidFill>
                <a:latin typeface="微软雅黑"/>
                <a:ea typeface="微软雅黑"/>
                <a:cs typeface="微软雅黑"/>
              </a:rPr>
              <a:t>反馈越多，候选集合越小；下一轮必须满足全部历史约束。</a:t>
            </a:r>
            <a:endParaRPr sz="1560" b="1">
              <a:solidFill>
                <a:srgbClr val="E60012"/>
              </a:solidFill>
              <a:latin typeface="微软雅黑"/>
              <a:ea typeface="微软雅黑"/>
              <a:cs typeface="微软雅黑"/>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108" name="图片 6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71" name="矩形 70"/>
          <p:cNvSpPr>
            <a:spLocks noGrp="1"/>
          </p:cNvSpPr>
          <p:nvPr/>
        </p:nvSpPr>
        <p:spPr>
          <a:xfrm>
            <a:off x="609600" y="323850"/>
            <a:ext cx="10668000" cy="504825"/>
          </a:xfrm>
          <a:prstGeom prst="rect">
            <a:avLst/>
          </a:prstGeom>
          <a:noFill/>
          <a:ln w="0">
            <a:noFill/>
          </a:ln>
        </p:spPr>
        <p:txBody>
          <a:bodyPr wrap="square" lIns="0" tIns="0" rIns="0" bIns="0" anchor="ctr">
            <a:noAutofit/>
          </a:bodyPr>
          <a:lstStyle/>
          <a:p>
            <a:pPr algn="l">
              <a:lnSpc>
                <a:spcPct val="115000"/>
              </a:lnSpc>
              <a:buNone/>
              <a:defRPr sz="2700" b="1">
                <a:solidFill>
                  <a:srgbClr val="111111"/>
                </a:solidFill>
                <a:latin typeface="微软雅黑"/>
                <a:ea typeface="微软雅黑"/>
                <a:cs typeface="微软雅黑"/>
              </a:defRPr>
            </a:pPr>
            <a:r>
              <a:rPr sz="2700" b="1">
                <a:solidFill>
                  <a:srgbClr val="111111"/>
                </a:solidFill>
                <a:latin typeface="微软雅黑"/>
                <a:ea typeface="微软雅黑"/>
                <a:cs typeface="微软雅黑"/>
              </a:rPr>
              <a:t>Wordle 数据示例</a:t>
            </a:r>
            <a:endParaRPr sz="2700" b="1">
              <a:solidFill>
                <a:srgbClr val="111111"/>
              </a:solidFill>
              <a:latin typeface="微软雅黑"/>
              <a:ea typeface="微软雅黑"/>
              <a:cs typeface="微软雅黑"/>
            </a:endParaRPr>
          </a:p>
        </p:txBody>
      </p:sp>
      <p:sp>
        <p:nvSpPr>
          <p:cNvPr id="72" name="矩形 71"/>
          <p:cNvSpPr>
            <a:spLocks noGrp="1"/>
          </p:cNvSpPr>
          <p:nvPr/>
        </p:nvSpPr>
        <p:spPr>
          <a:xfrm>
            <a:off x="685800" y="981075"/>
            <a:ext cx="6667500" cy="266700"/>
          </a:xfrm>
          <a:prstGeom prst="rect">
            <a:avLst/>
          </a:prstGeom>
          <a:noFill/>
          <a:ln w="0">
            <a:noFill/>
          </a:ln>
        </p:spPr>
        <p:txBody>
          <a:bodyPr wrap="square" lIns="0" tIns="0" rIns="0" bIns="0" anchor="t">
            <a:noAutofit/>
          </a:bodyPr>
          <a:lstStyle/>
          <a:p>
            <a:pPr algn="l">
              <a:lnSpc>
                <a:spcPct val="115000"/>
              </a:lnSpc>
              <a:buNone/>
              <a:defRPr sz="1275" b="0">
                <a:solidFill>
                  <a:srgbClr val="666666"/>
                </a:solidFill>
                <a:latin typeface="微软雅黑"/>
                <a:ea typeface="微软雅黑"/>
                <a:cs typeface="微软雅黑"/>
              </a:defRPr>
            </a:pPr>
            <a:endParaRPr sz="1275" b="0">
              <a:solidFill>
                <a:srgbClr val="666666"/>
              </a:solidFill>
              <a:latin typeface="微软雅黑"/>
              <a:ea typeface="微软雅黑"/>
              <a:cs typeface="微软雅黑"/>
            </a:endParaRPr>
          </a:p>
        </p:txBody>
      </p:sp>
      <p:sp>
        <p:nvSpPr>
          <p:cNvPr id="73" name="矩形 72"/>
          <p:cNvSpPr>
            <a:spLocks noGrp="1"/>
          </p:cNvSpPr>
          <p:nvPr/>
        </p:nvSpPr>
        <p:spPr>
          <a:xfrm>
            <a:off x="685800" y="1352550"/>
            <a:ext cx="5143500" cy="323850"/>
          </a:xfrm>
          <a:prstGeom prst="rect">
            <a:avLst/>
          </a:prstGeom>
          <a:noFill/>
          <a:ln w="0">
            <a:noFill/>
          </a:ln>
        </p:spPr>
        <p:txBody>
          <a:bodyPr wrap="square" lIns="0" tIns="0" rIns="0" bIns="0" anchor="t">
            <a:noAutofit/>
          </a:bodyPr>
          <a:lstStyle/>
          <a:p>
            <a:pPr algn="l">
              <a:lnSpc>
                <a:spcPct val="115000"/>
              </a:lnSpc>
              <a:buNone/>
              <a:defRPr sz="1875" b="1">
                <a:solidFill>
                  <a:srgbClr val="E60012"/>
                </a:solidFill>
                <a:latin typeface="微软雅黑"/>
                <a:ea typeface="微软雅黑"/>
                <a:cs typeface="微软雅黑"/>
              </a:defRPr>
            </a:pPr>
            <a:r>
              <a:rPr sz="1875" b="1">
                <a:solidFill>
                  <a:srgbClr val="E60012"/>
                </a:solidFill>
                <a:latin typeface="微软雅黑"/>
                <a:ea typeface="微软雅黑"/>
                <a:cs typeface="微软雅黑"/>
              </a:rPr>
              <a:t>数据原样（JSON）</a:t>
            </a:r>
            <a:endParaRPr sz="1875" b="1">
              <a:solidFill>
                <a:srgbClr val="E60012"/>
              </a:solidFill>
              <a:latin typeface="微软雅黑"/>
              <a:ea typeface="微软雅黑"/>
              <a:cs typeface="微软雅黑"/>
            </a:endParaRPr>
          </a:p>
        </p:txBody>
      </p:sp>
      <p:sp>
        <p:nvSpPr>
          <p:cNvPr id="74" name="矩形 73"/>
          <p:cNvSpPr>
            <a:spLocks noGrp="1"/>
          </p:cNvSpPr>
          <p:nvPr/>
        </p:nvSpPr>
        <p:spPr>
          <a:xfrm>
            <a:off x="6477000" y="1352550"/>
            <a:ext cx="4762500" cy="323850"/>
          </a:xfrm>
          <a:prstGeom prst="rect">
            <a:avLst/>
          </a:prstGeom>
          <a:noFill/>
          <a:ln w="0">
            <a:noFill/>
          </a:ln>
        </p:spPr>
        <p:txBody>
          <a:bodyPr wrap="square" lIns="0" tIns="0" rIns="0" bIns="0" anchor="t">
            <a:noAutofit/>
          </a:bodyPr>
          <a:lstStyle/>
          <a:p>
            <a:pPr algn="l">
              <a:lnSpc>
                <a:spcPct val="115000"/>
              </a:lnSpc>
              <a:buNone/>
              <a:defRPr sz="1875" b="1">
                <a:solidFill>
                  <a:srgbClr val="377DFF"/>
                </a:solidFill>
                <a:latin typeface="微软雅黑"/>
                <a:ea typeface="微软雅黑"/>
                <a:cs typeface="微软雅黑"/>
              </a:defRPr>
            </a:pPr>
            <a:r>
              <a:rPr sz="1875" b="1">
                <a:solidFill>
                  <a:srgbClr val="377DFF"/>
                </a:solidFill>
                <a:latin typeface="微软雅黑"/>
                <a:ea typeface="微软雅黑"/>
                <a:cs typeface="微软雅黑"/>
              </a:rPr>
              <a:t>字段解析</a:t>
            </a:r>
            <a:endParaRPr sz="1875" b="1">
              <a:solidFill>
                <a:srgbClr val="377DFF"/>
              </a:solidFill>
              <a:latin typeface="微软雅黑"/>
              <a:ea typeface="微软雅黑"/>
              <a:cs typeface="微软雅黑"/>
            </a:endParaRPr>
          </a:p>
        </p:txBody>
      </p:sp>
      <p:sp>
        <p:nvSpPr>
          <p:cNvPr id="75" name="圆角矩形 74"/>
          <p:cNvSpPr>
            <a:spLocks noGrp="1"/>
          </p:cNvSpPr>
          <p:nvPr/>
        </p:nvSpPr>
        <p:spPr>
          <a:xfrm>
            <a:off x="685800" y="1762125"/>
            <a:ext cx="5219700" cy="3524250"/>
          </a:xfrm>
          <a:prstGeom prst="roundRect">
            <a:avLst>
              <a:gd name="adj" fmla="val 1800"/>
            </a:avLst>
          </a:prstGeom>
          <a:solidFill>
            <a:srgbClr val="F7F7F8"/>
          </a:solidFill>
          <a:ln w="9525">
            <a:solidFill>
              <a:srgbClr val="D9DDE5"/>
            </a:solidFill>
          </a:ln>
        </p:spPr>
      </p:sp>
      <p:sp>
        <p:nvSpPr>
          <p:cNvPr id="76" name="矩形 75"/>
          <p:cNvSpPr>
            <a:spLocks noGrp="1"/>
          </p:cNvSpPr>
          <p:nvPr/>
        </p:nvSpPr>
        <p:spPr>
          <a:xfrm>
            <a:off x="914400" y="1952625"/>
            <a:ext cx="1428750" cy="285750"/>
          </a:xfrm>
          <a:prstGeom prst="rect">
            <a:avLst/>
          </a:prstGeom>
          <a:noFill/>
          <a:ln w="0">
            <a:noFill/>
          </a:ln>
        </p:spPr>
        <p:txBody>
          <a:bodyPr wrap="square" lIns="0" tIns="0" rIns="0" bIns="0" anchor="t">
            <a:noAutofit/>
          </a:bodyPr>
          <a:lstStyle/>
          <a:p>
            <a:pPr algn="l">
              <a:lnSpc>
                <a:spcPct val="115000"/>
              </a:lnSpc>
              <a:buNone/>
              <a:defRPr sz="1575" b="1">
                <a:solidFill>
                  <a:srgbClr val="E60012"/>
                </a:solidFill>
                <a:latin typeface="微软雅黑"/>
                <a:ea typeface="微软雅黑"/>
                <a:cs typeface="微软雅黑"/>
              </a:defRPr>
            </a:pPr>
            <a:r>
              <a:rPr sz="1575" b="1">
                <a:solidFill>
                  <a:srgbClr val="E60012"/>
                </a:solidFill>
                <a:latin typeface="微软雅黑"/>
                <a:ea typeface="微软雅黑"/>
                <a:cs typeface="微软雅黑"/>
              </a:rPr>
              <a:t>prompt</a:t>
            </a:r>
            <a:endParaRPr sz="1575" b="1">
              <a:solidFill>
                <a:srgbClr val="E60012"/>
              </a:solidFill>
              <a:latin typeface="微软雅黑"/>
              <a:ea typeface="微软雅黑"/>
              <a:cs typeface="微软雅黑"/>
            </a:endParaRPr>
          </a:p>
        </p:txBody>
      </p:sp>
      <p:sp>
        <p:nvSpPr>
          <p:cNvPr id="77" name="矩形 76"/>
          <p:cNvSpPr>
            <a:spLocks noGrp="1"/>
          </p:cNvSpPr>
          <p:nvPr/>
        </p:nvSpPr>
        <p:spPr>
          <a:xfrm>
            <a:off x="914400" y="2305050"/>
            <a:ext cx="4762500" cy="819150"/>
          </a:xfrm>
          <a:prstGeom prst="rect">
            <a:avLst/>
          </a:prstGeom>
          <a:noFill/>
          <a:ln w="0">
            <a:noFill/>
          </a:ln>
        </p:spPr>
        <p:txBody>
          <a:bodyPr wrap="square" lIns="0" tIns="0" rIns="0" bIns="0" anchor="t">
            <a:noAutofit/>
          </a:bodyPr>
          <a:lstStyle/>
          <a:p>
            <a:pPr algn="l">
              <a:lnSpc>
                <a:spcPct val="105000"/>
              </a:lnSpc>
              <a:buNone/>
              <a:defRPr sz="1090" b="0">
                <a:solidFill>
                  <a:srgbClr val="262626"/>
                </a:solidFill>
                <a:latin typeface="微软雅黑"/>
                <a:ea typeface="微软雅黑"/>
                <a:cs typeface="微软雅黑"/>
              </a:defRPr>
            </a:pPr>
            <a:r>
              <a:rPr sz="1090" b="0">
                <a:solidFill>
                  <a:srgbClr val="262626"/>
                </a:solidFill>
                <a:latin typeface="微软雅黑"/>
                <a:ea typeface="微软雅黑"/>
                <a:cs typeface="微软雅黑"/>
              </a:rPr>
              <a:t>[{"role":"system","content":"Follow the Wordle game</a:t>
            </a:r>
            <a:endParaRPr sz="1090" b="0">
              <a:solidFill>
                <a:srgbClr val="262626"/>
              </a:solidFill>
              <a:latin typeface="微软雅黑"/>
              <a:ea typeface="微软雅黑"/>
              <a:cs typeface="微软雅黑"/>
            </a:endParaRPr>
          </a:p>
          <a:p>
            <a:pPr algn="l">
              <a:lnSpc>
                <a:spcPct val="105000"/>
              </a:lnSpc>
              <a:buNone/>
              <a:defRPr sz="1090" b="0">
                <a:solidFill>
                  <a:srgbClr val="262626"/>
                </a:solidFill>
                <a:latin typeface="微软雅黑"/>
                <a:ea typeface="微软雅黑"/>
                <a:cs typeface="微软雅黑"/>
              </a:defRPr>
            </a:pPr>
            <a:r>
              <a:rPr sz="1090" b="0">
                <a:solidFill>
                  <a:srgbClr val="262626"/>
                </a:solidFill>
                <a:latin typeface="微软雅黑"/>
                <a:ea typeface="微软雅黑"/>
                <a:cs typeface="微软雅黑"/>
              </a:rPr>
              <a:t>  instructions and required format."},</a:t>
            </a:r>
            <a:endParaRPr sz="1090" b="0">
              <a:solidFill>
                <a:srgbClr val="262626"/>
              </a:solidFill>
              <a:latin typeface="微软雅黑"/>
              <a:ea typeface="微软雅黑"/>
              <a:cs typeface="微软雅黑"/>
            </a:endParaRPr>
          </a:p>
          <a:p>
            <a:pPr algn="l">
              <a:lnSpc>
                <a:spcPct val="105000"/>
              </a:lnSpc>
              <a:buNone/>
              <a:defRPr sz="1090" b="0">
                <a:solidFill>
                  <a:srgbClr val="262626"/>
                </a:solidFill>
                <a:latin typeface="微软雅黑"/>
                <a:ea typeface="微软雅黑"/>
                <a:cs typeface="微软雅黑"/>
              </a:defRPr>
            </a:pPr>
            <a:r>
              <a:rPr sz="1090" b="0">
                <a:solidFill>
                  <a:srgbClr val="262626"/>
                </a:solidFill>
                <a:latin typeface="微软雅黑"/>
                <a:ea typeface="微软雅黑"/>
                <a:cs typeface="微软雅黑"/>
              </a:rPr>
              <a:t> {"role":"user","content":"A secret 5-letter word has been</a:t>
            </a:r>
            <a:endParaRPr sz="1090" b="0">
              <a:solidFill>
                <a:srgbClr val="262626"/>
              </a:solidFill>
              <a:latin typeface="微软雅黑"/>
              <a:ea typeface="微软雅黑"/>
              <a:cs typeface="微软雅黑"/>
            </a:endParaRPr>
          </a:p>
          <a:p>
            <a:pPr algn="l">
              <a:lnSpc>
                <a:spcPct val="105000"/>
              </a:lnSpc>
              <a:buNone/>
              <a:defRPr sz="1090" b="0">
                <a:solidFill>
                  <a:srgbClr val="262626"/>
                </a:solidFill>
                <a:latin typeface="微软雅黑"/>
                <a:ea typeface="微软雅黑"/>
                <a:cs typeface="微软雅黑"/>
              </a:defRPr>
            </a:pPr>
            <a:r>
              <a:rPr sz="1090" b="0">
                <a:solidFill>
                  <a:srgbClr val="262626"/>
                </a:solidFill>
                <a:latin typeface="微软雅黑"/>
                <a:ea typeface="微软雅黑"/>
                <a:cs typeface="微软雅黑"/>
              </a:rPr>
              <a:t>  chosen. You have 6 attempts."}]</a:t>
            </a:r>
            <a:endParaRPr sz="1090" b="0">
              <a:solidFill>
                <a:srgbClr val="262626"/>
              </a:solidFill>
              <a:latin typeface="微软雅黑"/>
              <a:ea typeface="微软雅黑"/>
              <a:cs typeface="微软雅黑"/>
            </a:endParaRPr>
          </a:p>
        </p:txBody>
      </p:sp>
      <p:sp>
        <p:nvSpPr>
          <p:cNvPr id="78" name="矩形 77"/>
          <p:cNvSpPr>
            <a:spLocks noGrp="1"/>
          </p:cNvSpPr>
          <p:nvPr/>
        </p:nvSpPr>
        <p:spPr>
          <a:xfrm>
            <a:off x="914400" y="3257550"/>
            <a:ext cx="1619250" cy="285750"/>
          </a:xfrm>
          <a:prstGeom prst="rect">
            <a:avLst/>
          </a:prstGeom>
          <a:noFill/>
          <a:ln w="0">
            <a:noFill/>
          </a:ln>
        </p:spPr>
        <p:txBody>
          <a:bodyPr wrap="square" lIns="0" tIns="0" rIns="0" bIns="0" anchor="t">
            <a:noAutofit/>
          </a:bodyPr>
          <a:lstStyle/>
          <a:p>
            <a:pPr algn="l">
              <a:lnSpc>
                <a:spcPct val="115000"/>
              </a:lnSpc>
              <a:buNone/>
              <a:defRPr sz="1575" b="1">
                <a:solidFill>
                  <a:srgbClr val="377DFF"/>
                </a:solidFill>
                <a:latin typeface="微软雅黑"/>
                <a:ea typeface="微软雅黑"/>
                <a:cs typeface="微软雅黑"/>
              </a:defRPr>
            </a:pPr>
            <a:r>
              <a:rPr sz="1575" b="1">
                <a:solidFill>
                  <a:srgbClr val="377DFF"/>
                </a:solidFill>
                <a:latin typeface="微软雅黑"/>
                <a:ea typeface="微软雅黑"/>
                <a:cs typeface="微软雅黑"/>
              </a:rPr>
              <a:t>completion</a:t>
            </a:r>
            <a:endParaRPr sz="1575" b="1">
              <a:solidFill>
                <a:srgbClr val="377DFF"/>
              </a:solidFill>
              <a:latin typeface="微软雅黑"/>
              <a:ea typeface="微软雅黑"/>
              <a:cs typeface="微软雅黑"/>
            </a:endParaRPr>
          </a:p>
        </p:txBody>
      </p:sp>
      <p:sp>
        <p:nvSpPr>
          <p:cNvPr id="79" name="矩形 78"/>
          <p:cNvSpPr>
            <a:spLocks noGrp="1"/>
          </p:cNvSpPr>
          <p:nvPr/>
        </p:nvSpPr>
        <p:spPr>
          <a:xfrm>
            <a:off x="914400" y="3600450"/>
            <a:ext cx="4762500" cy="1428750"/>
          </a:xfrm>
          <a:prstGeom prst="rect">
            <a:avLst/>
          </a:prstGeom>
          <a:noFill/>
          <a:ln w="0">
            <a:noFill/>
          </a:ln>
        </p:spPr>
        <p:txBody>
          <a:bodyPr wrap="square" lIns="0" tIns="0" rIns="0" bIns="0" anchor="t">
            <a:noAutofit/>
          </a:bodyPr>
          <a:lstStyle/>
          <a:p>
            <a:pPr algn="l">
              <a:lnSpc>
                <a:spcPct val="105000"/>
              </a:lnSpc>
              <a:buNone/>
              <a:defRPr sz="1090" b="0">
                <a:solidFill>
                  <a:srgbClr val="262626"/>
                </a:solidFill>
                <a:latin typeface="微软雅黑"/>
                <a:ea typeface="微软雅黑"/>
                <a:cs typeface="微软雅黑"/>
              </a:defRPr>
            </a:pPr>
            <a:r>
              <a:rPr sz="1090" b="0">
                <a:solidFill>
                  <a:srgbClr val="262626"/>
                </a:solidFill>
                <a:latin typeface="微软雅黑"/>
                <a:ea typeface="微软雅黑"/>
                <a:cs typeface="微软雅黑"/>
              </a:rPr>
              <a:t>[{"role":"assistant","content":"&lt;think&gt;Test common letters.&lt;/think&gt;</a:t>
            </a:r>
            <a:endParaRPr sz="1090" b="0">
              <a:solidFill>
                <a:srgbClr val="262626"/>
              </a:solidFill>
              <a:latin typeface="微软雅黑"/>
              <a:ea typeface="微软雅黑"/>
              <a:cs typeface="微软雅黑"/>
            </a:endParaRPr>
          </a:p>
          <a:p>
            <a:pPr algn="l">
              <a:lnSpc>
                <a:spcPct val="105000"/>
              </a:lnSpc>
              <a:buNone/>
              <a:defRPr sz="1090" b="0">
                <a:solidFill>
                  <a:srgbClr val="262626"/>
                </a:solidFill>
                <a:latin typeface="微软雅黑"/>
                <a:ea typeface="微软雅黑"/>
                <a:cs typeface="微软雅黑"/>
              </a:defRPr>
            </a:pPr>
            <a:r>
              <a:rPr sz="1090" b="0">
                <a:solidFill>
                  <a:srgbClr val="262626"/>
                </a:solidFill>
                <a:latin typeface="微软雅黑"/>
                <a:ea typeface="微软雅黑"/>
                <a:cs typeface="微软雅黑"/>
              </a:rPr>
              <a:t>  &lt;guess&gt;[crane]&lt;/guess&gt;"},</a:t>
            </a:r>
            <a:endParaRPr sz="1090" b="0">
              <a:solidFill>
                <a:srgbClr val="262626"/>
              </a:solidFill>
              <a:latin typeface="微软雅黑"/>
              <a:ea typeface="微软雅黑"/>
              <a:cs typeface="微软雅黑"/>
            </a:endParaRPr>
          </a:p>
          <a:p>
            <a:pPr algn="l">
              <a:lnSpc>
                <a:spcPct val="105000"/>
              </a:lnSpc>
              <a:buNone/>
              <a:defRPr sz="1090" b="0">
                <a:solidFill>
                  <a:srgbClr val="262626"/>
                </a:solidFill>
                <a:latin typeface="微软雅黑"/>
                <a:ea typeface="微软雅黑"/>
                <a:cs typeface="微软雅黑"/>
              </a:defRPr>
            </a:pPr>
            <a:r>
              <a:rPr sz="1090" b="0">
                <a:solidFill>
                  <a:srgbClr val="262626"/>
                </a:solidFill>
                <a:latin typeface="微软雅黑"/>
                <a:ea typeface="微软雅黑"/>
                <a:cs typeface="微软雅黑"/>
              </a:rPr>
              <a:t> {"role":"user","content":"CRANE -&gt; X X G G G. You have</a:t>
            </a:r>
            <a:endParaRPr sz="1090" b="0">
              <a:solidFill>
                <a:srgbClr val="262626"/>
              </a:solidFill>
              <a:latin typeface="微软雅黑"/>
              <a:ea typeface="微软雅黑"/>
              <a:cs typeface="微软雅黑"/>
            </a:endParaRPr>
          </a:p>
          <a:p>
            <a:pPr algn="l">
              <a:lnSpc>
                <a:spcPct val="105000"/>
              </a:lnSpc>
              <a:buNone/>
              <a:defRPr sz="1090" b="0">
                <a:solidFill>
                  <a:srgbClr val="262626"/>
                </a:solidFill>
                <a:latin typeface="微软雅黑"/>
                <a:ea typeface="微软雅黑"/>
                <a:cs typeface="微软雅黑"/>
              </a:defRPr>
            </a:pPr>
            <a:r>
              <a:rPr sz="1090" b="0">
                <a:solidFill>
                  <a:srgbClr val="262626"/>
                </a:solidFill>
                <a:latin typeface="微软雅黑"/>
                <a:ea typeface="微软雅黑"/>
                <a:cs typeface="微软雅黑"/>
              </a:rPr>
              <a:t>  5 guesses left."},</a:t>
            </a:r>
            <a:endParaRPr sz="1090" b="0">
              <a:solidFill>
                <a:srgbClr val="262626"/>
              </a:solidFill>
              <a:latin typeface="微软雅黑"/>
              <a:ea typeface="微软雅黑"/>
              <a:cs typeface="微软雅黑"/>
            </a:endParaRPr>
          </a:p>
          <a:p>
            <a:pPr algn="l">
              <a:lnSpc>
                <a:spcPct val="105000"/>
              </a:lnSpc>
              <a:buNone/>
              <a:defRPr sz="1090" b="0">
                <a:solidFill>
                  <a:srgbClr val="262626"/>
                </a:solidFill>
                <a:latin typeface="微软雅黑"/>
                <a:ea typeface="微软雅黑"/>
                <a:cs typeface="微软雅黑"/>
              </a:defRPr>
            </a:pPr>
            <a:r>
              <a:rPr sz="1090" b="0">
                <a:solidFill>
                  <a:srgbClr val="262626"/>
                </a:solidFill>
                <a:latin typeface="微软雅黑"/>
                <a:ea typeface="微软雅黑"/>
                <a:cs typeface="微软雅黑"/>
              </a:rPr>
              <a:t> {"role":"assistant","content":"&lt;think&gt;Keep A, N, E fixed.&lt;/think&gt;</a:t>
            </a:r>
            <a:endParaRPr sz="1090" b="0">
              <a:solidFill>
                <a:srgbClr val="262626"/>
              </a:solidFill>
              <a:latin typeface="微软雅黑"/>
              <a:ea typeface="微软雅黑"/>
              <a:cs typeface="微软雅黑"/>
            </a:endParaRPr>
          </a:p>
          <a:p>
            <a:pPr algn="l">
              <a:lnSpc>
                <a:spcPct val="105000"/>
              </a:lnSpc>
              <a:buNone/>
              <a:defRPr sz="1090" b="0">
                <a:solidFill>
                  <a:srgbClr val="262626"/>
                </a:solidFill>
                <a:latin typeface="微软雅黑"/>
                <a:ea typeface="微软雅黑"/>
                <a:cs typeface="微软雅黑"/>
              </a:defRPr>
            </a:pPr>
            <a:r>
              <a:rPr sz="1090" b="0">
                <a:solidFill>
                  <a:srgbClr val="262626"/>
                </a:solidFill>
                <a:latin typeface="微软雅黑"/>
                <a:ea typeface="微软雅黑"/>
                <a:cs typeface="微软雅黑"/>
              </a:rPr>
              <a:t>  &lt;guess&gt;[plane]&lt;/guess&gt;"}]</a:t>
            </a:r>
            <a:endParaRPr sz="1090" b="0">
              <a:solidFill>
                <a:srgbClr val="262626"/>
              </a:solidFill>
              <a:latin typeface="微软雅黑"/>
              <a:ea typeface="微软雅黑"/>
              <a:cs typeface="微软雅黑"/>
            </a:endParaRPr>
          </a:p>
        </p:txBody>
      </p:sp>
      <p:sp>
        <p:nvSpPr>
          <p:cNvPr id="80" name="矩形 79"/>
          <p:cNvSpPr>
            <a:spLocks noGrp="1"/>
          </p:cNvSpPr>
          <p:nvPr/>
        </p:nvSpPr>
        <p:spPr>
          <a:xfrm>
            <a:off x="914400" y="4810125"/>
            <a:ext cx="1428750" cy="228600"/>
          </a:xfrm>
          <a:prstGeom prst="rect">
            <a:avLst/>
          </a:prstGeom>
          <a:noFill/>
          <a:ln w="0">
            <a:noFill/>
          </a:ln>
        </p:spPr>
        <p:txBody>
          <a:bodyPr wrap="square" lIns="0" tIns="0" rIns="0" bIns="0" anchor="t">
            <a:noAutofit/>
          </a:bodyPr>
          <a:lstStyle/>
          <a:p>
            <a:pPr algn="l">
              <a:lnSpc>
                <a:spcPct val="115000"/>
              </a:lnSpc>
              <a:buNone/>
              <a:defRPr sz="1275" b="1">
                <a:solidFill>
                  <a:srgbClr val="E60012"/>
                </a:solidFill>
                <a:latin typeface="微软雅黑"/>
                <a:ea typeface="微软雅黑"/>
                <a:cs typeface="微软雅黑"/>
              </a:defRPr>
            </a:pPr>
            <a:r>
              <a:rPr sz="1275" b="1">
                <a:solidFill>
                  <a:srgbClr val="E60012"/>
                </a:solidFill>
                <a:latin typeface="微软雅黑"/>
                <a:ea typeface="微软雅黑"/>
                <a:cs typeface="微软雅黑"/>
              </a:rPr>
              <a:t>metadata</a:t>
            </a:r>
            <a:endParaRPr sz="1275" b="1">
              <a:solidFill>
                <a:srgbClr val="E60012"/>
              </a:solidFill>
              <a:latin typeface="微软雅黑"/>
              <a:ea typeface="微软雅黑"/>
              <a:cs typeface="微软雅黑"/>
            </a:endParaRPr>
          </a:p>
        </p:txBody>
      </p:sp>
      <p:sp>
        <p:nvSpPr>
          <p:cNvPr id="81" name="矩形 80"/>
          <p:cNvSpPr>
            <a:spLocks noGrp="1"/>
          </p:cNvSpPr>
          <p:nvPr/>
        </p:nvSpPr>
        <p:spPr>
          <a:xfrm>
            <a:off x="914400" y="5048250"/>
            <a:ext cx="4762500" cy="209550"/>
          </a:xfrm>
          <a:prstGeom prst="rect">
            <a:avLst/>
          </a:prstGeom>
          <a:noFill/>
          <a:ln w="0">
            <a:noFill/>
          </a:ln>
        </p:spPr>
        <p:txBody>
          <a:bodyPr wrap="square" lIns="0" tIns="0" rIns="0" bIns="0" anchor="t">
            <a:noAutofit/>
          </a:bodyPr>
          <a:lstStyle/>
          <a:p>
            <a:pPr algn="l">
              <a:lnSpc>
                <a:spcPct val="115000"/>
              </a:lnSpc>
              <a:buNone/>
              <a:defRPr sz="1090" b="0">
                <a:solidFill>
                  <a:srgbClr val="262626"/>
                </a:solidFill>
                <a:latin typeface="微软雅黑"/>
                <a:ea typeface="微软雅黑"/>
                <a:cs typeface="微软雅黑"/>
              </a:defRPr>
            </a:pPr>
            <a:r>
              <a:rPr sz="1090" b="0">
                <a:solidFill>
                  <a:srgbClr val="262626"/>
                </a:solidFill>
                <a:latin typeface="微软雅黑"/>
                <a:ea typeface="微软雅黑"/>
                <a:cs typeface="微软雅黑"/>
              </a:rPr>
              <a:t>answer: "plane"    reward: 1.0    task: "wordle"</a:t>
            </a:r>
            <a:endParaRPr sz="1090" b="0">
              <a:solidFill>
                <a:srgbClr val="262626"/>
              </a:solidFill>
              <a:latin typeface="微软雅黑"/>
              <a:ea typeface="微软雅黑"/>
              <a:cs typeface="微软雅黑"/>
            </a:endParaRPr>
          </a:p>
        </p:txBody>
      </p:sp>
      <p:sp>
        <p:nvSpPr>
          <p:cNvPr id="82" name="矩形 81"/>
          <p:cNvSpPr>
            <a:spLocks noGrp="1"/>
          </p:cNvSpPr>
          <p:nvPr/>
        </p:nvSpPr>
        <p:spPr>
          <a:xfrm>
            <a:off x="6477000" y="1809750"/>
            <a:ext cx="438150" cy="285750"/>
          </a:xfrm>
          <a:prstGeom prst="rect">
            <a:avLst/>
          </a:prstGeom>
          <a:noFill/>
          <a:ln w="0">
            <a:noFill/>
          </a:ln>
        </p:spPr>
        <p:txBody>
          <a:bodyPr wrap="square" lIns="0" tIns="0" rIns="0" bIns="0" anchor="t">
            <a:noAutofit/>
          </a:bodyPr>
          <a:lstStyle/>
          <a:p>
            <a:pPr algn="l">
              <a:lnSpc>
                <a:spcPct val="115000"/>
              </a:lnSpc>
              <a:buNone/>
              <a:defRPr sz="1725" b="1">
                <a:solidFill>
                  <a:srgbClr val="377DFF"/>
                </a:solidFill>
                <a:latin typeface="微软雅黑"/>
                <a:ea typeface="微软雅黑"/>
                <a:cs typeface="微软雅黑"/>
              </a:defRPr>
            </a:pPr>
            <a:r>
              <a:rPr sz="1725" b="1">
                <a:solidFill>
                  <a:srgbClr val="377DFF"/>
                </a:solidFill>
                <a:latin typeface="微软雅黑"/>
                <a:ea typeface="微软雅黑"/>
                <a:cs typeface="微软雅黑"/>
              </a:rPr>
              <a:t>01</a:t>
            </a:r>
            <a:endParaRPr sz="1725" b="1">
              <a:solidFill>
                <a:srgbClr val="377DFF"/>
              </a:solidFill>
              <a:latin typeface="微软雅黑"/>
              <a:ea typeface="微软雅黑"/>
              <a:cs typeface="微软雅黑"/>
            </a:endParaRPr>
          </a:p>
        </p:txBody>
      </p:sp>
      <p:sp>
        <p:nvSpPr>
          <p:cNvPr id="83" name="矩形 82"/>
          <p:cNvSpPr>
            <a:spLocks noGrp="1"/>
          </p:cNvSpPr>
          <p:nvPr/>
        </p:nvSpPr>
        <p:spPr>
          <a:xfrm>
            <a:off x="7029450" y="1809750"/>
            <a:ext cx="1809750" cy="285750"/>
          </a:xfrm>
          <a:prstGeom prst="rect">
            <a:avLst/>
          </a:prstGeom>
          <a:noFill/>
          <a:ln w="0">
            <a:noFill/>
          </a:ln>
        </p:spPr>
        <p:txBody>
          <a:bodyPr wrap="square" lIns="0" tIns="0" rIns="0" bIns="0" anchor="t">
            <a:noAutofit/>
          </a:bodyPr>
          <a:lstStyle/>
          <a:p>
            <a:pPr algn="l">
              <a:lnSpc>
                <a:spcPct val="115000"/>
              </a:lnSpc>
              <a:buNone/>
              <a:defRPr sz="1575" b="1">
                <a:solidFill>
                  <a:srgbClr val="262626"/>
                </a:solidFill>
                <a:latin typeface="微软雅黑"/>
                <a:ea typeface="微软雅黑"/>
                <a:cs typeface="微软雅黑"/>
              </a:defRPr>
            </a:pPr>
            <a:r>
              <a:rPr sz="1575" b="1">
                <a:solidFill>
                  <a:srgbClr val="262626"/>
                </a:solidFill>
                <a:latin typeface="微软雅黑"/>
                <a:ea typeface="微软雅黑"/>
                <a:cs typeface="微软雅黑"/>
              </a:rPr>
              <a:t>prompt</a:t>
            </a:r>
            <a:endParaRPr sz="1575" b="1">
              <a:solidFill>
                <a:srgbClr val="262626"/>
              </a:solidFill>
              <a:latin typeface="微软雅黑"/>
              <a:ea typeface="微软雅黑"/>
              <a:cs typeface="微软雅黑"/>
            </a:endParaRPr>
          </a:p>
        </p:txBody>
      </p:sp>
      <p:sp>
        <p:nvSpPr>
          <p:cNvPr id="84" name="矩形 83"/>
          <p:cNvSpPr>
            <a:spLocks noGrp="1"/>
          </p:cNvSpPr>
          <p:nvPr/>
        </p:nvSpPr>
        <p:spPr>
          <a:xfrm>
            <a:off x="7029450" y="2095500"/>
            <a:ext cx="4248150" cy="400050"/>
          </a:xfrm>
          <a:prstGeom prst="rect">
            <a:avLst/>
          </a:prstGeom>
          <a:noFill/>
          <a:ln w="0">
            <a:noFill/>
          </a:ln>
        </p:spPr>
        <p:txBody>
          <a:bodyPr wrap="square" lIns="0" tIns="0" rIns="0" bIns="0" anchor="t">
            <a:noAutofit/>
          </a:bodyPr>
          <a:lstStyle/>
          <a:p>
            <a:pPr algn="l">
              <a:lnSpc>
                <a:spcPct val="104000"/>
              </a:lnSpc>
              <a:buNone/>
              <a:defRPr sz="1240" b="0">
                <a:solidFill>
                  <a:srgbClr val="525252"/>
                </a:solidFill>
                <a:latin typeface="微软雅黑"/>
                <a:ea typeface="微软雅黑"/>
                <a:cs typeface="微软雅黑"/>
              </a:defRPr>
            </a:pPr>
            <a:r>
              <a:rPr sz="1240" b="0">
                <a:solidFill>
                  <a:srgbClr val="525252"/>
                </a:solidFill>
                <a:latin typeface="微软雅黑"/>
                <a:ea typeface="微软雅黑"/>
                <a:cs typeface="微软雅黑"/>
              </a:rPr>
              <a:t>规则与任务边界，模型先知道要完成什么。</a:t>
            </a:r>
            <a:endParaRPr sz="1240" b="0">
              <a:solidFill>
                <a:srgbClr val="525252"/>
              </a:solidFill>
              <a:latin typeface="微软雅黑"/>
              <a:ea typeface="微软雅黑"/>
              <a:cs typeface="微软雅黑"/>
            </a:endParaRPr>
          </a:p>
        </p:txBody>
      </p:sp>
      <p:sp>
        <p:nvSpPr>
          <p:cNvPr id="85" name="矩形 84"/>
          <p:cNvSpPr>
            <a:spLocks noGrp="1"/>
          </p:cNvSpPr>
          <p:nvPr/>
        </p:nvSpPr>
        <p:spPr>
          <a:xfrm>
            <a:off x="6477000" y="2505075"/>
            <a:ext cx="438150" cy="285750"/>
          </a:xfrm>
          <a:prstGeom prst="rect">
            <a:avLst/>
          </a:prstGeom>
          <a:noFill/>
          <a:ln w="0">
            <a:noFill/>
          </a:ln>
        </p:spPr>
        <p:txBody>
          <a:bodyPr wrap="square" lIns="0" tIns="0" rIns="0" bIns="0" anchor="t">
            <a:noAutofit/>
          </a:bodyPr>
          <a:lstStyle/>
          <a:p>
            <a:pPr algn="l">
              <a:lnSpc>
                <a:spcPct val="115000"/>
              </a:lnSpc>
              <a:buNone/>
              <a:defRPr sz="1725" b="1">
                <a:solidFill>
                  <a:srgbClr val="377DFF"/>
                </a:solidFill>
                <a:latin typeface="微软雅黑"/>
                <a:ea typeface="微软雅黑"/>
                <a:cs typeface="微软雅黑"/>
              </a:defRPr>
            </a:pPr>
            <a:r>
              <a:rPr sz="1725" b="1">
                <a:solidFill>
                  <a:srgbClr val="377DFF"/>
                </a:solidFill>
                <a:latin typeface="微软雅黑"/>
                <a:ea typeface="微软雅黑"/>
                <a:cs typeface="微软雅黑"/>
              </a:rPr>
              <a:t>02</a:t>
            </a:r>
            <a:endParaRPr sz="1725" b="1">
              <a:solidFill>
                <a:srgbClr val="377DFF"/>
              </a:solidFill>
              <a:latin typeface="微软雅黑"/>
              <a:ea typeface="微软雅黑"/>
              <a:cs typeface="微软雅黑"/>
            </a:endParaRPr>
          </a:p>
        </p:txBody>
      </p:sp>
      <p:sp>
        <p:nvSpPr>
          <p:cNvPr id="86" name="矩形 85"/>
          <p:cNvSpPr>
            <a:spLocks noGrp="1"/>
          </p:cNvSpPr>
          <p:nvPr/>
        </p:nvSpPr>
        <p:spPr>
          <a:xfrm>
            <a:off x="7029450" y="2505075"/>
            <a:ext cx="1809750" cy="285750"/>
          </a:xfrm>
          <a:prstGeom prst="rect">
            <a:avLst/>
          </a:prstGeom>
          <a:noFill/>
          <a:ln w="0">
            <a:noFill/>
          </a:ln>
        </p:spPr>
        <p:txBody>
          <a:bodyPr wrap="square" lIns="0" tIns="0" rIns="0" bIns="0" anchor="t">
            <a:noAutofit/>
          </a:bodyPr>
          <a:lstStyle/>
          <a:p>
            <a:pPr algn="l">
              <a:lnSpc>
                <a:spcPct val="115000"/>
              </a:lnSpc>
              <a:buNone/>
              <a:defRPr sz="1575" b="1">
                <a:solidFill>
                  <a:srgbClr val="262626"/>
                </a:solidFill>
                <a:latin typeface="微软雅黑"/>
                <a:ea typeface="微软雅黑"/>
                <a:cs typeface="微软雅黑"/>
              </a:defRPr>
            </a:pPr>
            <a:r>
              <a:rPr sz="1575" b="1">
                <a:solidFill>
                  <a:srgbClr val="262626"/>
                </a:solidFill>
                <a:latin typeface="微软雅黑"/>
                <a:ea typeface="微软雅黑"/>
                <a:cs typeface="微软雅黑"/>
              </a:rPr>
              <a:t>首次 completion</a:t>
            </a:r>
            <a:endParaRPr sz="1575" b="1">
              <a:solidFill>
                <a:srgbClr val="262626"/>
              </a:solidFill>
              <a:latin typeface="微软雅黑"/>
              <a:ea typeface="微软雅黑"/>
              <a:cs typeface="微软雅黑"/>
            </a:endParaRPr>
          </a:p>
        </p:txBody>
      </p:sp>
      <p:sp>
        <p:nvSpPr>
          <p:cNvPr id="87" name="矩形 86"/>
          <p:cNvSpPr>
            <a:spLocks noGrp="1"/>
          </p:cNvSpPr>
          <p:nvPr/>
        </p:nvSpPr>
        <p:spPr>
          <a:xfrm>
            <a:off x="7029450" y="2790825"/>
            <a:ext cx="4248150" cy="400050"/>
          </a:xfrm>
          <a:prstGeom prst="rect">
            <a:avLst/>
          </a:prstGeom>
          <a:noFill/>
          <a:ln w="0">
            <a:noFill/>
          </a:ln>
        </p:spPr>
        <p:txBody>
          <a:bodyPr wrap="square" lIns="0" tIns="0" rIns="0" bIns="0" anchor="t">
            <a:noAutofit/>
          </a:bodyPr>
          <a:lstStyle/>
          <a:p>
            <a:pPr algn="l">
              <a:lnSpc>
                <a:spcPct val="104000"/>
              </a:lnSpc>
              <a:buNone/>
              <a:defRPr sz="1240" b="0">
                <a:solidFill>
                  <a:srgbClr val="525252"/>
                </a:solidFill>
                <a:latin typeface="微软雅黑"/>
                <a:ea typeface="微软雅黑"/>
                <a:cs typeface="微软雅黑"/>
              </a:defRPr>
            </a:pPr>
            <a:r>
              <a:rPr sz="1240" b="0">
                <a:solidFill>
                  <a:srgbClr val="525252"/>
                </a:solidFill>
                <a:latin typeface="微软雅黑"/>
                <a:ea typeface="微软雅黑"/>
                <a:cs typeface="微软雅黑"/>
              </a:rPr>
              <a:t>按协议输出思考段和猜词：&lt;think&gt;…&lt;/think&gt;&lt;guess&gt;[word]&lt;/guess&gt;。</a:t>
            </a:r>
            <a:endParaRPr sz="1240" b="0">
              <a:solidFill>
                <a:srgbClr val="525252"/>
              </a:solidFill>
              <a:latin typeface="微软雅黑"/>
              <a:ea typeface="微软雅黑"/>
              <a:cs typeface="微软雅黑"/>
            </a:endParaRPr>
          </a:p>
        </p:txBody>
      </p:sp>
      <p:sp>
        <p:nvSpPr>
          <p:cNvPr id="88" name="矩形 87"/>
          <p:cNvSpPr>
            <a:spLocks noGrp="1"/>
          </p:cNvSpPr>
          <p:nvPr/>
        </p:nvSpPr>
        <p:spPr>
          <a:xfrm>
            <a:off x="6477000" y="3200400"/>
            <a:ext cx="438150" cy="285750"/>
          </a:xfrm>
          <a:prstGeom prst="rect">
            <a:avLst/>
          </a:prstGeom>
          <a:noFill/>
          <a:ln w="0">
            <a:noFill/>
          </a:ln>
        </p:spPr>
        <p:txBody>
          <a:bodyPr wrap="square" lIns="0" tIns="0" rIns="0" bIns="0" anchor="t">
            <a:noAutofit/>
          </a:bodyPr>
          <a:lstStyle/>
          <a:p>
            <a:pPr algn="l">
              <a:lnSpc>
                <a:spcPct val="115000"/>
              </a:lnSpc>
              <a:buNone/>
              <a:defRPr sz="1725" b="1">
                <a:solidFill>
                  <a:srgbClr val="E60012"/>
                </a:solidFill>
                <a:latin typeface="微软雅黑"/>
                <a:ea typeface="微软雅黑"/>
                <a:cs typeface="微软雅黑"/>
              </a:defRPr>
            </a:pPr>
            <a:r>
              <a:rPr sz="1725" b="1">
                <a:solidFill>
                  <a:srgbClr val="E60012"/>
                </a:solidFill>
                <a:latin typeface="微软雅黑"/>
                <a:ea typeface="微软雅黑"/>
                <a:cs typeface="微软雅黑"/>
              </a:rPr>
              <a:t>03</a:t>
            </a:r>
            <a:endParaRPr sz="1725" b="1">
              <a:solidFill>
                <a:srgbClr val="E60012"/>
              </a:solidFill>
              <a:latin typeface="微软雅黑"/>
              <a:ea typeface="微软雅黑"/>
              <a:cs typeface="微软雅黑"/>
            </a:endParaRPr>
          </a:p>
        </p:txBody>
      </p:sp>
      <p:sp>
        <p:nvSpPr>
          <p:cNvPr id="89" name="矩形 88"/>
          <p:cNvSpPr>
            <a:spLocks noGrp="1"/>
          </p:cNvSpPr>
          <p:nvPr/>
        </p:nvSpPr>
        <p:spPr>
          <a:xfrm>
            <a:off x="7029450" y="3200400"/>
            <a:ext cx="1809750" cy="285750"/>
          </a:xfrm>
          <a:prstGeom prst="rect">
            <a:avLst/>
          </a:prstGeom>
          <a:noFill/>
          <a:ln w="0">
            <a:noFill/>
          </a:ln>
        </p:spPr>
        <p:txBody>
          <a:bodyPr wrap="square" lIns="0" tIns="0" rIns="0" bIns="0" anchor="t">
            <a:noAutofit/>
          </a:bodyPr>
          <a:lstStyle/>
          <a:p>
            <a:pPr algn="l">
              <a:lnSpc>
                <a:spcPct val="115000"/>
              </a:lnSpc>
              <a:buNone/>
              <a:defRPr sz="1575" b="1">
                <a:solidFill>
                  <a:srgbClr val="E60012"/>
                </a:solidFill>
                <a:latin typeface="微软雅黑"/>
                <a:ea typeface="微软雅黑"/>
                <a:cs typeface="微软雅黑"/>
              </a:defRPr>
            </a:pPr>
            <a:r>
              <a:rPr sz="1575" b="1">
                <a:solidFill>
                  <a:srgbClr val="E60012"/>
                </a:solidFill>
                <a:latin typeface="微软雅黑"/>
                <a:ea typeface="微软雅黑"/>
                <a:cs typeface="微软雅黑"/>
              </a:rPr>
              <a:t>环境反馈</a:t>
            </a:r>
            <a:endParaRPr sz="1575" b="1">
              <a:solidFill>
                <a:srgbClr val="E60012"/>
              </a:solidFill>
              <a:latin typeface="微软雅黑"/>
              <a:ea typeface="微软雅黑"/>
              <a:cs typeface="微软雅黑"/>
            </a:endParaRPr>
          </a:p>
        </p:txBody>
      </p:sp>
      <p:sp>
        <p:nvSpPr>
          <p:cNvPr id="90" name="矩形 89"/>
          <p:cNvSpPr>
            <a:spLocks noGrp="1"/>
          </p:cNvSpPr>
          <p:nvPr/>
        </p:nvSpPr>
        <p:spPr>
          <a:xfrm>
            <a:off x="7029450" y="3486150"/>
            <a:ext cx="4248150" cy="400050"/>
          </a:xfrm>
          <a:prstGeom prst="rect">
            <a:avLst/>
          </a:prstGeom>
          <a:noFill/>
          <a:ln w="0">
            <a:noFill/>
          </a:ln>
        </p:spPr>
        <p:txBody>
          <a:bodyPr wrap="square" lIns="0" tIns="0" rIns="0" bIns="0" anchor="t">
            <a:noAutofit/>
          </a:bodyPr>
          <a:lstStyle/>
          <a:p>
            <a:pPr algn="l">
              <a:lnSpc>
                <a:spcPct val="104000"/>
              </a:lnSpc>
              <a:buNone/>
              <a:defRPr sz="1240" b="0">
                <a:solidFill>
                  <a:srgbClr val="525252"/>
                </a:solidFill>
                <a:latin typeface="微软雅黑"/>
                <a:ea typeface="微软雅黑"/>
                <a:cs typeface="微软雅黑"/>
              </a:defRPr>
            </a:pPr>
            <a:r>
              <a:rPr sz="1240" b="0">
                <a:solidFill>
                  <a:srgbClr val="525252"/>
                </a:solidFill>
                <a:latin typeface="微软雅黑"/>
                <a:ea typeface="微软雅黑"/>
                <a:cs typeface="微软雅黑"/>
              </a:rPr>
              <a:t>CRANE 对目标 PLANE 得到 X X G G G：A、N、E 位置正确。</a:t>
            </a:r>
            <a:endParaRPr sz="1240" b="0">
              <a:solidFill>
                <a:srgbClr val="525252"/>
              </a:solidFill>
              <a:latin typeface="微软雅黑"/>
              <a:ea typeface="微软雅黑"/>
              <a:cs typeface="微软雅黑"/>
            </a:endParaRPr>
          </a:p>
        </p:txBody>
      </p:sp>
      <p:sp>
        <p:nvSpPr>
          <p:cNvPr id="101" name="矩形 100"/>
          <p:cNvSpPr>
            <a:spLocks noGrp="1"/>
          </p:cNvSpPr>
          <p:nvPr/>
        </p:nvSpPr>
        <p:spPr>
          <a:xfrm>
            <a:off x="6477000" y="3895725"/>
            <a:ext cx="438150" cy="285750"/>
          </a:xfrm>
          <a:prstGeom prst="rect">
            <a:avLst/>
          </a:prstGeom>
          <a:noFill/>
          <a:ln w="0">
            <a:noFill/>
          </a:ln>
        </p:spPr>
        <p:txBody>
          <a:bodyPr wrap="square" lIns="0" tIns="0" rIns="0" bIns="0" anchor="t">
            <a:noAutofit/>
          </a:bodyPr>
          <a:lstStyle/>
          <a:p>
            <a:pPr algn="l">
              <a:lnSpc>
                <a:spcPct val="115000"/>
              </a:lnSpc>
              <a:buNone/>
              <a:defRPr sz="1725" b="1">
                <a:solidFill>
                  <a:srgbClr val="377DFF"/>
                </a:solidFill>
                <a:latin typeface="微软雅黑"/>
                <a:ea typeface="微软雅黑"/>
                <a:cs typeface="微软雅黑"/>
              </a:defRPr>
            </a:pPr>
            <a:r>
              <a:rPr sz="1725" b="1">
                <a:solidFill>
                  <a:srgbClr val="377DFF"/>
                </a:solidFill>
                <a:latin typeface="微软雅黑"/>
                <a:ea typeface="微软雅黑"/>
                <a:cs typeface="微软雅黑"/>
              </a:rPr>
              <a:t>04</a:t>
            </a:r>
            <a:endParaRPr sz="1725" b="1">
              <a:solidFill>
                <a:srgbClr val="377DFF"/>
              </a:solidFill>
              <a:latin typeface="微软雅黑"/>
              <a:ea typeface="微软雅黑"/>
              <a:cs typeface="微软雅黑"/>
            </a:endParaRPr>
          </a:p>
        </p:txBody>
      </p:sp>
      <p:sp>
        <p:nvSpPr>
          <p:cNvPr id="102" name="矩形 101"/>
          <p:cNvSpPr>
            <a:spLocks noGrp="1"/>
          </p:cNvSpPr>
          <p:nvPr/>
        </p:nvSpPr>
        <p:spPr>
          <a:xfrm>
            <a:off x="7029450" y="3895725"/>
            <a:ext cx="1809750" cy="285750"/>
          </a:xfrm>
          <a:prstGeom prst="rect">
            <a:avLst/>
          </a:prstGeom>
          <a:noFill/>
          <a:ln w="0">
            <a:noFill/>
          </a:ln>
        </p:spPr>
        <p:txBody>
          <a:bodyPr wrap="square" lIns="0" tIns="0" rIns="0" bIns="0" anchor="t">
            <a:noAutofit/>
          </a:bodyPr>
          <a:lstStyle/>
          <a:p>
            <a:pPr algn="l">
              <a:lnSpc>
                <a:spcPct val="115000"/>
              </a:lnSpc>
              <a:buNone/>
              <a:defRPr sz="1575" b="1">
                <a:solidFill>
                  <a:srgbClr val="262626"/>
                </a:solidFill>
                <a:latin typeface="微软雅黑"/>
                <a:ea typeface="微软雅黑"/>
                <a:cs typeface="微软雅黑"/>
              </a:defRPr>
            </a:pPr>
            <a:r>
              <a:rPr sz="1575" b="1">
                <a:solidFill>
                  <a:srgbClr val="262626"/>
                </a:solidFill>
                <a:latin typeface="微软雅黑"/>
                <a:ea typeface="微软雅黑"/>
                <a:cs typeface="微软雅黑"/>
              </a:rPr>
              <a:t>下一轮 completion</a:t>
            </a:r>
            <a:endParaRPr sz="1575" b="1">
              <a:solidFill>
                <a:srgbClr val="262626"/>
              </a:solidFill>
              <a:latin typeface="微软雅黑"/>
              <a:ea typeface="微软雅黑"/>
              <a:cs typeface="微软雅黑"/>
            </a:endParaRPr>
          </a:p>
        </p:txBody>
      </p:sp>
      <p:sp>
        <p:nvSpPr>
          <p:cNvPr id="103" name="矩形 102"/>
          <p:cNvSpPr>
            <a:spLocks noGrp="1"/>
          </p:cNvSpPr>
          <p:nvPr/>
        </p:nvSpPr>
        <p:spPr>
          <a:xfrm>
            <a:off x="7029450" y="4181475"/>
            <a:ext cx="4248150" cy="400050"/>
          </a:xfrm>
          <a:prstGeom prst="rect">
            <a:avLst/>
          </a:prstGeom>
          <a:noFill/>
          <a:ln w="0">
            <a:noFill/>
          </a:ln>
        </p:spPr>
        <p:txBody>
          <a:bodyPr wrap="square" lIns="0" tIns="0" rIns="0" bIns="0" anchor="t">
            <a:noAutofit/>
          </a:bodyPr>
          <a:lstStyle/>
          <a:p>
            <a:pPr algn="l">
              <a:lnSpc>
                <a:spcPct val="104000"/>
              </a:lnSpc>
              <a:buNone/>
              <a:defRPr sz="1240" b="0">
                <a:solidFill>
                  <a:srgbClr val="525252"/>
                </a:solidFill>
                <a:latin typeface="微软雅黑"/>
                <a:ea typeface="微软雅黑"/>
                <a:cs typeface="微软雅黑"/>
              </a:defRPr>
            </a:pPr>
            <a:r>
              <a:rPr sz="1240" b="0">
                <a:solidFill>
                  <a:srgbClr val="525252"/>
                </a:solidFill>
                <a:latin typeface="微软雅黑"/>
                <a:ea typeface="微软雅黑"/>
                <a:cs typeface="微软雅黑"/>
              </a:rPr>
              <a:t>保留已确认信息，改猜 plane；反馈继续追加到上下文。</a:t>
            </a:r>
            <a:endParaRPr sz="1240" b="0">
              <a:solidFill>
                <a:srgbClr val="525252"/>
              </a:solidFill>
              <a:latin typeface="微软雅黑"/>
              <a:ea typeface="微软雅黑"/>
              <a:cs typeface="微软雅黑"/>
            </a:endParaRPr>
          </a:p>
        </p:txBody>
      </p:sp>
      <p:sp>
        <p:nvSpPr>
          <p:cNvPr id="104" name="矩形 103"/>
          <p:cNvSpPr>
            <a:spLocks noGrp="1"/>
          </p:cNvSpPr>
          <p:nvPr/>
        </p:nvSpPr>
        <p:spPr>
          <a:xfrm>
            <a:off x="6477000" y="4591050"/>
            <a:ext cx="438150" cy="285750"/>
          </a:xfrm>
          <a:prstGeom prst="rect">
            <a:avLst/>
          </a:prstGeom>
          <a:noFill/>
          <a:ln w="0">
            <a:noFill/>
          </a:ln>
        </p:spPr>
        <p:txBody>
          <a:bodyPr wrap="square" lIns="0" tIns="0" rIns="0" bIns="0" anchor="t">
            <a:noAutofit/>
          </a:bodyPr>
          <a:lstStyle/>
          <a:p>
            <a:pPr algn="l">
              <a:lnSpc>
                <a:spcPct val="115000"/>
              </a:lnSpc>
              <a:buNone/>
              <a:defRPr sz="1725" b="1">
                <a:solidFill>
                  <a:srgbClr val="377DFF"/>
                </a:solidFill>
                <a:latin typeface="微软雅黑"/>
                <a:ea typeface="微软雅黑"/>
                <a:cs typeface="微软雅黑"/>
              </a:defRPr>
            </a:pPr>
            <a:r>
              <a:rPr sz="1725" b="1">
                <a:solidFill>
                  <a:srgbClr val="377DFF"/>
                </a:solidFill>
                <a:latin typeface="微软雅黑"/>
                <a:ea typeface="微软雅黑"/>
                <a:cs typeface="微软雅黑"/>
              </a:rPr>
              <a:t>05</a:t>
            </a:r>
            <a:endParaRPr sz="1725" b="1">
              <a:solidFill>
                <a:srgbClr val="377DFF"/>
              </a:solidFill>
              <a:latin typeface="微软雅黑"/>
              <a:ea typeface="微软雅黑"/>
              <a:cs typeface="微软雅黑"/>
            </a:endParaRPr>
          </a:p>
        </p:txBody>
      </p:sp>
      <p:sp>
        <p:nvSpPr>
          <p:cNvPr id="105" name="矩形 104"/>
          <p:cNvSpPr>
            <a:spLocks noGrp="1"/>
          </p:cNvSpPr>
          <p:nvPr/>
        </p:nvSpPr>
        <p:spPr>
          <a:xfrm>
            <a:off x="7029450" y="4591050"/>
            <a:ext cx="1809750" cy="285750"/>
          </a:xfrm>
          <a:prstGeom prst="rect">
            <a:avLst/>
          </a:prstGeom>
          <a:noFill/>
          <a:ln w="0">
            <a:noFill/>
          </a:ln>
        </p:spPr>
        <p:txBody>
          <a:bodyPr wrap="square" lIns="0" tIns="0" rIns="0" bIns="0" anchor="t">
            <a:noAutofit/>
          </a:bodyPr>
          <a:lstStyle/>
          <a:p>
            <a:pPr algn="l">
              <a:lnSpc>
                <a:spcPct val="115000"/>
              </a:lnSpc>
              <a:buNone/>
              <a:defRPr sz="1575" b="1">
                <a:solidFill>
                  <a:srgbClr val="262626"/>
                </a:solidFill>
                <a:latin typeface="微软雅黑"/>
                <a:ea typeface="微软雅黑"/>
                <a:cs typeface="微软雅黑"/>
              </a:defRPr>
            </a:pPr>
            <a:r>
              <a:rPr sz="1575" b="1">
                <a:solidFill>
                  <a:srgbClr val="262626"/>
                </a:solidFill>
                <a:latin typeface="微软雅黑"/>
                <a:ea typeface="微软雅黑"/>
                <a:cs typeface="微软雅黑"/>
              </a:rPr>
              <a:t>结果元数据</a:t>
            </a:r>
            <a:endParaRPr sz="1575" b="1">
              <a:solidFill>
                <a:srgbClr val="262626"/>
              </a:solidFill>
              <a:latin typeface="微软雅黑"/>
              <a:ea typeface="微软雅黑"/>
              <a:cs typeface="微软雅黑"/>
            </a:endParaRPr>
          </a:p>
        </p:txBody>
      </p:sp>
      <p:sp>
        <p:nvSpPr>
          <p:cNvPr id="106" name="矩形 105"/>
          <p:cNvSpPr>
            <a:spLocks noGrp="1"/>
          </p:cNvSpPr>
          <p:nvPr/>
        </p:nvSpPr>
        <p:spPr>
          <a:xfrm>
            <a:off x="7029450" y="4876800"/>
            <a:ext cx="4248150" cy="400050"/>
          </a:xfrm>
          <a:prstGeom prst="rect">
            <a:avLst/>
          </a:prstGeom>
          <a:noFill/>
          <a:ln w="0">
            <a:noFill/>
          </a:ln>
        </p:spPr>
        <p:txBody>
          <a:bodyPr wrap="square" lIns="0" tIns="0" rIns="0" bIns="0" anchor="t">
            <a:noAutofit/>
          </a:bodyPr>
          <a:lstStyle/>
          <a:p>
            <a:pPr algn="l">
              <a:lnSpc>
                <a:spcPct val="104000"/>
              </a:lnSpc>
              <a:buNone/>
              <a:defRPr sz="1240" b="0">
                <a:solidFill>
                  <a:srgbClr val="525252"/>
                </a:solidFill>
                <a:latin typeface="微软雅黑"/>
                <a:ea typeface="微软雅黑"/>
                <a:cs typeface="微软雅黑"/>
              </a:defRPr>
            </a:pPr>
            <a:r>
              <a:rPr sz="1240" b="0">
                <a:solidFill>
                  <a:srgbClr val="525252"/>
                </a:solidFill>
                <a:latin typeface="微软雅黑"/>
                <a:ea typeface="微软雅黑"/>
                <a:cs typeface="微软雅黑"/>
              </a:rPr>
              <a:t>answer=plane；reward=1.0；task=wordle。</a:t>
            </a:r>
            <a:endParaRPr sz="1240" b="0">
              <a:solidFill>
                <a:srgbClr val="525252"/>
              </a:solidFill>
              <a:latin typeface="微软雅黑"/>
              <a:ea typeface="微软雅黑"/>
              <a:cs typeface="微软雅黑"/>
            </a:endParaRPr>
          </a:p>
        </p:txBody>
      </p:sp>
      <p:sp>
        <p:nvSpPr>
          <p:cNvPr id="107" name="矩形 106"/>
          <p:cNvSpPr>
            <a:spLocks noGrp="1"/>
          </p:cNvSpPr>
          <p:nvPr/>
        </p:nvSpPr>
        <p:spPr>
          <a:xfrm>
            <a:off x="685800" y="5581650"/>
            <a:ext cx="10648950" cy="361950"/>
          </a:xfrm>
          <a:prstGeom prst="rect">
            <a:avLst/>
          </a:prstGeom>
          <a:noFill/>
          <a:ln w="0">
            <a:noFill/>
          </a:ln>
        </p:spPr>
        <p:txBody>
          <a:bodyPr wrap="square" lIns="0" tIns="0" rIns="0" bIns="0" anchor="t">
            <a:noAutofit/>
          </a:bodyPr>
          <a:lstStyle/>
          <a:p>
            <a:pPr algn="l">
              <a:lnSpc>
                <a:spcPct val="115000"/>
              </a:lnSpc>
              <a:buNone/>
              <a:defRPr sz="1350" b="1">
                <a:solidFill>
                  <a:srgbClr val="E60012"/>
                </a:solidFill>
                <a:latin typeface="微软雅黑"/>
                <a:ea typeface="微软雅黑"/>
                <a:cs typeface="微软雅黑"/>
              </a:defRPr>
            </a:pPr>
            <a:r>
              <a:rPr sz="1350" b="1">
                <a:solidFill>
                  <a:srgbClr val="E60012"/>
                </a:solidFill>
                <a:latin typeface="微软雅黑"/>
                <a:ea typeface="微软雅黑"/>
                <a:cs typeface="微软雅黑"/>
              </a:rPr>
              <a:t>processor 将 prompt + completion 拼成消息序列；SFT 只对 assistant 输出计算监督，学习“反馈到下一猜测”的格式。</a:t>
            </a:r>
            <a:endParaRPr sz="1350" b="1">
              <a:solidFill>
                <a:srgbClr val="E60012"/>
              </a:solidFill>
              <a:latin typeface="微软雅黑"/>
              <a:ea typeface="微软雅黑"/>
              <a:cs typeface="微软雅黑"/>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5"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SFT概念与Wordle任务</a:t>
            </a:r>
            <a:endParaRPr sz="2700" b="1">
              <a:solidFill>
                <a:srgbClr val="111111"/>
              </a:solidFill>
              <a:latin typeface="Times New Roman" panose="02020503050405090304"/>
              <a:ea typeface="微软雅黑"/>
              <a:cs typeface="Times New Roman" panose="02020503050405090304"/>
            </a:endParaRPr>
          </a:p>
        </p:txBody>
      </p:sp>
      <p:sp>
        <p:nvSpPr>
          <p:cNvPr id="19" name="intro"/>
          <p:cNvSpPr>
            <a:spLocks noGrp="1"/>
          </p:cNvSpPr>
          <p:nvPr/>
        </p:nvSpPr>
        <p:spPr>
          <a:xfrm>
            <a:off x="742950" y="1104900"/>
            <a:ext cx="10706100" cy="400050"/>
          </a:xfrm>
          <a:prstGeom prst="rect">
            <a:avLst/>
          </a:prstGeom>
          <a:noFill/>
          <a:ln w="0">
            <a:noFill/>
          </a:ln>
        </p:spPr>
        <p:txBody>
          <a:bodyPr wrap="none" lIns="0" tIns="0" rIns="0" bIns="0" anchor="t">
            <a:noAutofit/>
          </a:bodyPr>
          <a:lstStyle/>
          <a:p>
            <a:pPr>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评测同时检查输出协议与任务结果，二者分别记录。</a:t>
            </a:r>
            <a:endParaRPr sz="2000" b="0">
              <a:solidFill>
                <a:srgbClr val="111111"/>
              </a:solidFill>
              <a:latin typeface="Times New Roman" panose="02020503050405090304"/>
              <a:ea typeface="微软雅黑"/>
              <a:cs typeface="Times New Roman" panose="02020503050405090304"/>
            </a:endParaRPr>
          </a:p>
        </p:txBody>
      </p:sp>
      <p:graphicFrame>
        <p:nvGraphicFramePr>
          <p:cNvPr id="29" name="eval-metrics"/>
          <p:cNvGraphicFramePr/>
          <p:nvPr/>
        </p:nvGraphicFramePr>
        <p:xfrm>
          <a:off x="742950" y="1943100"/>
          <a:ext cx="10706100" cy="2428875"/>
        </p:xfrm>
        <a:graphic>
          <a:graphicData uri="http://schemas.openxmlformats.org/drawingml/2006/table">
            <a:tbl>
              <a:tblPr/>
              <a:tblGrid>
                <a:gridCol w="2667000"/>
                <a:gridCol w="3962400"/>
                <a:gridCol w="4076700"/>
              </a:tblGrid>
              <a:tr h="428625">
                <a:tc>
                  <a:txBody>
                    <a:bodyPr>
                      <a:spAutoFit/>
                    </a:bodyPr>
                    <a:lstStyle/>
                    <a:p>
                      <a:pPr algn="ctr"/>
                      <a:r>
                        <a:rPr sz="1875" b="1">
                          <a:solidFill>
                            <a:srgbClr val="111111"/>
                          </a:solidFill>
                          <a:latin typeface="Times New Roman" panose="02020503050405090304"/>
                          <a:ea typeface="微软雅黑"/>
                          <a:cs typeface="Times New Roman" panose="02020503050405090304"/>
                        </a:rPr>
                        <a:t>指标</a:t>
                      </a:r>
                      <a:endParaRPr sz="1875"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1">
                          <a:solidFill>
                            <a:srgbClr val="111111"/>
                          </a:solidFill>
                          <a:latin typeface="Times New Roman" panose="02020503050405090304"/>
                          <a:ea typeface="微软雅黑"/>
                          <a:cs typeface="Times New Roman" panose="02020503050405090304"/>
                        </a:rPr>
                        <a:t>检查什么</a:t>
                      </a:r>
                      <a:endParaRPr sz="1875"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1">
                          <a:solidFill>
                            <a:srgbClr val="111111"/>
                          </a:solidFill>
                          <a:latin typeface="Times New Roman" panose="02020503050405090304"/>
                          <a:ea typeface="微软雅黑"/>
                          <a:cs typeface="Times New Roman" panose="02020503050405090304"/>
                        </a:rPr>
                        <a:t>解读边界</a:t>
                      </a:r>
                      <a:endParaRPr sz="1875" b="1">
                        <a:solidFill>
                          <a:srgbClr val="111111"/>
                        </a:solidFill>
                        <a:latin typeface="Times New Roman" panose="02020503050405090304"/>
                        <a:ea typeface="微软雅黑"/>
                        <a:cs typeface="Times New Roman" panose="02020503050405090304"/>
                      </a:endParaRPr>
                    </a:p>
                  </a:txBody>
                  <a:tcPr anchor="ctr">
                    <a:solidFill>
                      <a:srgbClr val="FFFFFF"/>
                    </a:solidFill>
                  </a:tcPr>
                </a:tc>
              </a:tr>
              <a:tr h="666750">
                <a:tc>
                  <a:txBody>
                    <a:bodyPr>
                      <a:spAutoFit/>
                    </a:bodyPr>
                    <a:lstStyle/>
                    <a:p>
                      <a:pPr algn="ctr"/>
                      <a:r>
                        <a:rPr sz="1875" b="0">
                          <a:solidFill>
                            <a:srgbClr val="111111"/>
                          </a:solidFill>
                          <a:latin typeface="Times New Roman" panose="02020503050405090304"/>
                          <a:ea typeface="微软雅黑"/>
                          <a:cs typeface="Times New Roman" panose="02020503050405090304"/>
                        </a:rPr>
                        <a:t>format_reward</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111111"/>
                          </a:solidFill>
                          <a:latin typeface="Times New Roman" panose="02020503050405090304"/>
                          <a:ea typeface="微软雅黑"/>
                          <a:cs typeface="Times New Roman" panose="02020503050405090304"/>
                        </a:rPr>
                        <a:t>输出格式的合规程度</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111111"/>
                          </a:solidFill>
                          <a:latin typeface="Times New Roman" panose="02020503050405090304"/>
                          <a:ea typeface="微软雅黑"/>
                          <a:cs typeface="Times New Roman" panose="02020503050405090304"/>
                        </a:rPr>
                        <a:t>高格式分不保证猜中</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666750">
                <a:tc>
                  <a:txBody>
                    <a:bodyPr>
                      <a:spAutoFit/>
                    </a:bodyPr>
                    <a:lstStyle/>
                    <a:p>
                      <a:pPr algn="ctr"/>
                      <a:r>
                        <a:rPr sz="1875" b="0">
                          <a:solidFill>
                            <a:srgbClr val="111111"/>
                          </a:solidFill>
                          <a:latin typeface="Times New Roman" panose="02020503050405090304"/>
                          <a:ea typeface="微软雅黑"/>
                          <a:cs typeface="Times New Roman" panose="02020503050405090304"/>
                        </a:rPr>
                        <a:t>correct_answer</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111111"/>
                          </a:solidFill>
                          <a:latin typeface="Times New Roman" panose="02020503050405090304"/>
                          <a:ea typeface="微软雅黑"/>
                          <a:cs typeface="Times New Roman" panose="02020503050405090304"/>
                        </a:rPr>
                        <a:t>解析后的猜词是否命中目标</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111111"/>
                          </a:solidFill>
                          <a:latin typeface="Times New Roman" panose="02020503050405090304"/>
                          <a:ea typeface="微软雅黑"/>
                          <a:cs typeface="Times New Roman" panose="02020503050405090304"/>
                        </a:rPr>
                        <a:t>在相同任务与采样条件下比较</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666750">
                <a:tc>
                  <a:txBody>
                    <a:bodyPr>
                      <a:spAutoFit/>
                    </a:bodyPr>
                    <a:lstStyle/>
                    <a:p>
                      <a:pPr algn="ctr"/>
                      <a:r>
                        <a:rPr sz="1875" b="0">
                          <a:solidFill>
                            <a:srgbClr val="111111"/>
                          </a:solidFill>
                          <a:latin typeface="Times New Roman" panose="02020503050405090304"/>
                          <a:ea typeface="微软雅黑"/>
                          <a:cs typeface="Times New Roman" panose="02020503050405090304"/>
                        </a:rPr>
                        <a:t>partial / length_bonus</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111111"/>
                          </a:solidFill>
                          <a:latin typeface="Times New Roman" panose="02020503050405090304"/>
                          <a:ea typeface="微软雅黑"/>
                          <a:cs typeface="Times New Roman" panose="02020503050405090304"/>
                        </a:rPr>
                        <a:t>部分匹配和效率等过程表现</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111111"/>
                          </a:solidFill>
                          <a:latin typeface="Times New Roman" panose="02020503050405090304"/>
                          <a:ea typeface="微软雅黑"/>
                          <a:cs typeface="Times New Roman" panose="02020503050405090304"/>
                        </a:rPr>
                        <a:t>按当前 verifier 的定义解释</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bl>
          </a:graphicData>
        </a:graphic>
      </p:graphicFrame>
      <p:sp>
        <p:nvSpPr>
          <p:cNvPr id="21" name="eval-protocol-head"/>
          <p:cNvSpPr>
            <a:spLocks noGrp="1"/>
          </p:cNvSpPr>
          <p:nvPr/>
        </p:nvSpPr>
        <p:spPr>
          <a:xfrm>
            <a:off x="742950" y="4676775"/>
            <a:ext cx="2190750" cy="333375"/>
          </a:xfrm>
          <a:prstGeom prst="rect">
            <a:avLst/>
          </a:prstGeom>
          <a:noFill/>
          <a:ln w="0">
            <a:noFill/>
          </a:ln>
        </p:spPr>
        <p:txBody>
          <a:bodyPr wrap="none" lIns="0" tIns="0" rIns="0" bIns="0" anchor="t">
            <a:noAutofit/>
          </a:bodyPr>
          <a:lstStyle/>
          <a:p>
            <a:pPr>
              <a:lnSpc>
                <a:spcPct val="108000"/>
              </a:lnSpc>
              <a:buNone/>
              <a:defRPr sz="1875" b="1">
                <a:solidFill>
                  <a:srgbClr val="357AE8"/>
                </a:solidFill>
                <a:latin typeface="Times New Roman" panose="02020503050405090304"/>
                <a:ea typeface="微软雅黑"/>
                <a:cs typeface="Times New Roman" panose="02020503050405090304"/>
              </a:defRPr>
            </a:pPr>
            <a:r>
              <a:rPr sz="1875" b="1">
                <a:solidFill>
                  <a:srgbClr val="357AE8"/>
                </a:solidFill>
                <a:latin typeface="Times New Roman" panose="02020503050405090304"/>
                <a:ea typeface="微软雅黑"/>
                <a:cs typeface="Times New Roman" panose="02020503050405090304"/>
              </a:rPr>
              <a:t>规范示例</a:t>
            </a:r>
            <a:endParaRPr sz="1875" b="1">
              <a:solidFill>
                <a:srgbClr val="357AE8"/>
              </a:solidFill>
              <a:latin typeface="Times New Roman" panose="02020503050405090304"/>
              <a:ea typeface="微软雅黑"/>
              <a:cs typeface="Times New Roman" panose="02020503050405090304"/>
            </a:endParaRPr>
          </a:p>
        </p:txBody>
      </p:sp>
      <p:sp>
        <p:nvSpPr>
          <p:cNvPr id="22" name="eval-protocol"/>
          <p:cNvSpPr>
            <a:spLocks noGrp="1"/>
          </p:cNvSpPr>
          <p:nvPr/>
        </p:nvSpPr>
        <p:spPr>
          <a:xfrm>
            <a:off x="3028950" y="4676775"/>
            <a:ext cx="8420100" cy="352425"/>
          </a:xfrm>
          <a:prstGeom prst="rect">
            <a:avLst/>
          </a:prstGeom>
          <a:noFill/>
          <a:ln w="0">
            <a:noFill/>
          </a:ln>
        </p:spPr>
        <p:txBody>
          <a:bodyPr wrap="none" lIns="0" tIns="0" rIns="0" bIns="0" anchor="t">
            <a:noAutofit/>
          </a:bodyPr>
          <a:lstStyle/>
          <a:p>
            <a:pPr>
              <a:lnSpc>
                <a:spcPct val="108000"/>
              </a:lnSpc>
              <a:buNone/>
              <a:defRPr sz="1875" b="0">
                <a:solidFill>
                  <a:srgbClr val="111111"/>
                </a:solidFill>
                <a:latin typeface="Times New Roman" panose="02020503050405090304"/>
                <a:ea typeface="微软雅黑"/>
                <a:cs typeface="Times New Roman" panose="02020503050405090304"/>
              </a:defRPr>
            </a:pPr>
            <a:r>
              <a:rPr sz="1875" b="0">
                <a:solidFill>
                  <a:srgbClr val="111111"/>
                </a:solidFill>
                <a:latin typeface="Times New Roman" panose="02020503050405090304"/>
                <a:ea typeface="微软雅黑"/>
                <a:cs typeface="Times New Roman" panose="02020503050405090304"/>
              </a:rPr>
              <a:t>&lt;think&gt;…&lt;/think&gt;&lt;guess&gt;[plane]&lt;/guess&gt;</a:t>
            </a:r>
            <a:endParaRPr sz="1875" b="0">
              <a:solidFill>
                <a:srgbClr val="111111"/>
              </a:solidFill>
              <a:latin typeface="Times New Roman" panose="02020503050405090304"/>
              <a:ea typeface="微软雅黑"/>
              <a:cs typeface="Times New Roman" panose="02020503050405090304"/>
            </a:endParaRPr>
          </a:p>
        </p:txBody>
      </p:sp>
      <p:sp>
        <p:nvSpPr>
          <p:cNvPr id="23" name="eval-end"/>
          <p:cNvSpPr>
            <a:spLocks noGrp="1"/>
          </p:cNvSpPr>
          <p:nvPr/>
        </p:nvSpPr>
        <p:spPr>
          <a:xfrm>
            <a:off x="742950" y="5267325"/>
            <a:ext cx="10706100" cy="342900"/>
          </a:xfrm>
          <a:prstGeom prst="rect">
            <a:avLst/>
          </a:prstGeom>
          <a:noFill/>
          <a:ln w="0">
            <a:noFill/>
          </a:ln>
        </p:spPr>
        <p:txBody>
          <a:bodyPr wrap="none" lIns="0" tIns="0" rIns="0" bIns="0" anchor="t">
            <a:noAutofit/>
          </a:bodyPr>
          <a:lstStyle/>
          <a:p>
            <a:pPr>
              <a:lnSpc>
                <a:spcPct val="108000"/>
              </a:lnSpc>
              <a:buNone/>
              <a:defRPr sz="1875" b="0">
                <a:solidFill>
                  <a:srgbClr val="111111"/>
                </a:solidFill>
                <a:latin typeface="Times New Roman" panose="02020503050405090304"/>
                <a:ea typeface="微软雅黑"/>
                <a:cs typeface="Times New Roman" panose="02020503050405090304"/>
              </a:defRPr>
            </a:pPr>
            <a:r>
              <a:rPr sz="1875" b="0">
                <a:solidFill>
                  <a:srgbClr val="111111"/>
                </a:solidFill>
                <a:latin typeface="Times New Roman" panose="02020503050405090304"/>
                <a:ea typeface="微软雅黑"/>
                <a:cs typeface="Times New Roman" panose="02020503050405090304"/>
              </a:rPr>
              <a:t>环境最多交互 6 轮，猜中即结束，并保存逐局结果。</a:t>
            </a:r>
            <a:endParaRPr sz="1875" b="0">
              <a:solidFill>
                <a:srgbClr val="111111"/>
              </a:solidFill>
              <a:latin typeface="Times New Roman" panose="02020503050405090304"/>
              <a:ea typeface="微软雅黑"/>
              <a:cs typeface="Times New Roman" panose="02020503050405090304"/>
            </a:endParaRPr>
          </a:p>
        </p:txBody>
      </p:sp>
      <p:sp>
        <p:nvSpPr>
          <p:cNvPr id="24" name="key"/>
          <p:cNvSpPr>
            <a:spLocks noGrp="1"/>
          </p:cNvSpPr>
          <p:nvPr/>
        </p:nvSpPr>
        <p:spPr>
          <a:xfrm>
            <a:off x="742950" y="5857875"/>
            <a:ext cx="10706100" cy="304800"/>
          </a:xfrm>
          <a:prstGeom prst="rect">
            <a:avLst/>
          </a:prstGeom>
          <a:noFill/>
          <a:ln w="0">
            <a:noFill/>
          </a:ln>
        </p:spPr>
        <p:txBody>
          <a:bodyPr wrap="none" lIns="0" tIns="0" rIns="0" bIns="0" anchor="t">
            <a:noAutofit/>
          </a:bodyPr>
          <a:lstStyle/>
          <a:p>
            <a:pPr>
              <a:lnSpc>
                <a:spcPct val="108000"/>
              </a:lnSpc>
              <a:buNone/>
              <a:defRPr sz="1800" b="1">
                <a:solidFill>
                  <a:srgbClr val="E60012"/>
                </a:solidFill>
                <a:latin typeface="Times New Roman" panose="02020503050405090304"/>
                <a:ea typeface="微软雅黑"/>
                <a:cs typeface="Times New Roman" panose="02020503050405090304"/>
              </a:defRPr>
            </a:pPr>
            <a:r>
              <a:rPr sz="1800" b="1">
                <a:solidFill>
                  <a:srgbClr val="E60012"/>
                </a:solidFill>
                <a:latin typeface="Times New Roman" panose="02020503050405090304"/>
                <a:ea typeface="微软雅黑"/>
                <a:cs typeface="Times New Roman" panose="02020503050405090304"/>
              </a:rPr>
              <a:t>SFT 的任务能力也需要实测，格式改善与策略改善应分别判断。</a:t>
            </a:r>
            <a:endParaRPr sz="1800" b="1">
              <a:solidFill>
                <a:srgbClr val="E60012"/>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19"/>
                                        </p:tgtEl>
                                        <p:attrNameLst>
                                          <p:attrName>style.visibility</p:attrName>
                                        </p:attrNameLst>
                                      </p:cBhvr>
                                      <p:to>
                                        <p:strVal val="visible"/>
                                      </p:to>
                                    </p:set>
                                    <p:animEffect transition="in" filter="fade">
                                      <p:cBhvr>
                                        <p:cTn id="7" dur="35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29"/>
                                        </p:tgtEl>
                                        <p:attrNameLst>
                                          <p:attrName>style.visibility</p:attrName>
                                        </p:attrNameLst>
                                      </p:cBhvr>
                                      <p:to>
                                        <p:strVal val="visible"/>
                                      </p:to>
                                    </p:set>
                                    <p:animEffect transition="in" filter="fade">
                                      <p:cBhvr>
                                        <p:cTn id="12" dur="35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21"/>
                                        </p:tgtEl>
                                        <p:attrNameLst>
                                          <p:attrName>style.visibility</p:attrName>
                                        </p:attrNameLst>
                                      </p:cBhvr>
                                      <p:to>
                                        <p:strVal val="visible"/>
                                      </p:to>
                                    </p:set>
                                    <p:animEffect transition="in" filter="fade">
                                      <p:cBhvr>
                                        <p:cTn id="17" dur="350"/>
                                        <p:tgtEl>
                                          <p:spTgt spid="21"/>
                                        </p:tgtEl>
                                      </p:cBhvr>
                                    </p:animEffect>
                                  </p:childTnLst>
                                </p:cTn>
                              </p:par>
                              <p:par>
                                <p:cTn id="18" presetID="10" presetClass="entr" presetSubtype="0" fill="hold" grpId="0" nodeType="withEffect">
                                  <p:stCondLst>
                                    <p:cond delay="0"/>
                                  </p:stCondLst>
                                  <p:childTnLst>
                                    <p:set>
                                      <p:cBhvr>
                                        <p:cTn id="19" dur="1" fill="hold"/>
                                        <p:tgtEl>
                                          <p:spTgt spid="22"/>
                                        </p:tgtEl>
                                        <p:attrNameLst>
                                          <p:attrName>style.visibility</p:attrName>
                                        </p:attrNameLst>
                                      </p:cBhvr>
                                      <p:to>
                                        <p:strVal val="visible"/>
                                      </p:to>
                                    </p:set>
                                    <p:animEffect transition="in" filter="fade">
                                      <p:cBhvr>
                                        <p:cTn id="20" dur="350"/>
                                        <p:tgtEl>
                                          <p:spTgt spid="22"/>
                                        </p:tgtEl>
                                      </p:cBhvr>
                                    </p:animEffect>
                                  </p:childTnLst>
                                </p:cTn>
                              </p:par>
                              <p:par>
                                <p:cTn id="21" presetID="10" presetClass="entr" presetSubtype="0" fill="hold" grpId="0" nodeType="withEffect">
                                  <p:stCondLst>
                                    <p:cond delay="0"/>
                                  </p:stCondLst>
                                  <p:childTnLst>
                                    <p:set>
                                      <p:cBhvr>
                                        <p:cTn id="22" dur="1" fill="hold"/>
                                        <p:tgtEl>
                                          <p:spTgt spid="23"/>
                                        </p:tgtEl>
                                        <p:attrNameLst>
                                          <p:attrName>style.visibility</p:attrName>
                                        </p:attrNameLst>
                                      </p:cBhvr>
                                      <p:to>
                                        <p:strVal val="visible"/>
                                      </p:to>
                                    </p:set>
                                    <p:animEffect transition="in" filter="fade">
                                      <p:cBhvr>
                                        <p:cTn id="23" dur="350"/>
                                        <p:tgtEl>
                                          <p:spTgt spid="2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tgtEl>
                                          <p:spTgt spid="24"/>
                                        </p:tgtEl>
                                        <p:attrNameLst>
                                          <p:attrName>style.visibility</p:attrName>
                                        </p:attrNameLst>
                                      </p:cBhvr>
                                      <p:to>
                                        <p:strVal val="visible"/>
                                      </p:to>
                                    </p:set>
                                    <p:animEffect transition="in" filter="fade">
                                      <p:cBhvr>
                                        <p:cTn id="28"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36"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SFT概念与Wordle任务</a:t>
            </a:r>
            <a:endParaRPr sz="2700" b="1">
              <a:solidFill>
                <a:srgbClr val="111111"/>
              </a:solidFill>
              <a:latin typeface="Times New Roman" panose="02020503050405090304"/>
              <a:ea typeface="微软雅黑"/>
              <a:cs typeface="Times New Roman" panose="02020503050405090304"/>
            </a:endParaRPr>
          </a:p>
        </p:txBody>
      </p:sp>
      <p:sp>
        <p:nvSpPr>
          <p:cNvPr id="19" name="quiz-instruction"/>
          <p:cNvSpPr>
            <a:spLocks noGrp="1"/>
          </p:cNvSpPr>
          <p:nvPr/>
        </p:nvSpPr>
        <p:spPr>
          <a:xfrm>
            <a:off x="609600" y="971550"/>
            <a:ext cx="10953750" cy="323850"/>
          </a:xfrm>
          <a:prstGeom prst="rect">
            <a:avLst/>
          </a:prstGeom>
          <a:noFill/>
          <a:ln w="0">
            <a:noFill/>
          </a:ln>
        </p:spPr>
        <p:txBody>
          <a:bodyPr wrap="none" lIns="0" tIns="0" rIns="0" bIns="0" anchor="t">
            <a:noAutofit/>
          </a:bodyPr>
          <a:lstStyle/>
          <a:p>
            <a:pPr>
              <a:lnSpc>
                <a:spcPct val="108000"/>
              </a:lnSpc>
              <a:buNone/>
              <a:defRPr sz="1725" b="0">
                <a:solidFill>
                  <a:srgbClr val="555555"/>
                </a:solidFill>
                <a:latin typeface="Times New Roman" panose="02020503050405090304"/>
                <a:ea typeface="微软雅黑"/>
                <a:cs typeface="Times New Roman" panose="02020503050405090304"/>
              </a:defRPr>
            </a:pPr>
            <a:r>
              <a:rPr sz="1725" b="0">
                <a:solidFill>
                  <a:srgbClr val="555555"/>
                </a:solidFill>
                <a:latin typeface="Times New Roman" panose="02020503050405090304"/>
                <a:ea typeface="微软雅黑"/>
                <a:cs typeface="Times New Roman" panose="02020503050405090304"/>
              </a:rPr>
              <a:t>随堂检测：先独立作答，再说明你的判断依据。</a:t>
            </a:r>
            <a:endParaRPr sz="1725" b="0">
              <a:solidFill>
                <a:srgbClr val="555555"/>
              </a:solidFill>
              <a:latin typeface="Times New Roman" panose="02020503050405090304"/>
              <a:ea typeface="微软雅黑"/>
              <a:cs typeface="Times New Roman" panose="02020503050405090304"/>
            </a:endParaRPr>
          </a:p>
        </p:txBody>
      </p:sp>
      <p:sp>
        <p:nvSpPr>
          <p:cNvPr id="20" name="q1-label"/>
          <p:cNvSpPr>
            <a:spLocks noGrp="1"/>
          </p:cNvSpPr>
          <p:nvPr/>
        </p:nvSpPr>
        <p:spPr>
          <a:xfrm>
            <a:off x="609600" y="1438275"/>
            <a:ext cx="704850" cy="400050"/>
          </a:xfrm>
          <a:prstGeom prst="roundRect">
            <a:avLst>
              <a:gd name="adj" fmla="val 35714"/>
            </a:avLst>
          </a:prstGeom>
          <a:solidFill>
            <a:srgbClr val="C7E1FF"/>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Q1</a:t>
            </a:r>
            <a:endParaRPr sz="2175" b="1">
              <a:solidFill>
                <a:srgbClr val="111111"/>
              </a:solidFill>
              <a:latin typeface="Times New Roman" panose="02020503050405090304"/>
              <a:ea typeface="微软雅黑"/>
              <a:cs typeface="Times New Roman" panose="02020503050405090304"/>
            </a:endParaRPr>
          </a:p>
        </p:txBody>
      </p:sp>
      <p:sp>
        <p:nvSpPr>
          <p:cNvPr id="21" name="q1-stem"/>
          <p:cNvSpPr>
            <a:spLocks noGrp="1"/>
          </p:cNvSpPr>
          <p:nvPr/>
        </p:nvSpPr>
        <p:spPr>
          <a:xfrm>
            <a:off x="1495425" y="1447800"/>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【判断】标准 Wordle 每局最多有 6 次猜词机会。</a:t>
            </a:r>
            <a:endParaRPr sz="1800" b="1">
              <a:solidFill>
                <a:srgbClr val="111111"/>
              </a:solidFill>
              <a:latin typeface="Times New Roman" panose="02020503050405090304"/>
              <a:ea typeface="微软雅黑"/>
              <a:cs typeface="Times New Roman" panose="02020503050405090304"/>
            </a:endParaRPr>
          </a:p>
        </p:txBody>
      </p:sp>
      <p:sp>
        <p:nvSpPr>
          <p:cNvPr id="22" name="q2-label"/>
          <p:cNvSpPr>
            <a:spLocks noGrp="1"/>
          </p:cNvSpPr>
          <p:nvPr/>
        </p:nvSpPr>
        <p:spPr>
          <a:xfrm>
            <a:off x="609600" y="2257425"/>
            <a:ext cx="704850" cy="400050"/>
          </a:xfrm>
          <a:prstGeom prst="roundRect">
            <a:avLst>
              <a:gd name="adj" fmla="val 35714"/>
            </a:avLst>
          </a:prstGeom>
          <a:solidFill>
            <a:srgbClr val="FFD0D1"/>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Q2</a:t>
            </a:r>
            <a:endParaRPr sz="2175" b="1">
              <a:solidFill>
                <a:srgbClr val="111111"/>
              </a:solidFill>
              <a:latin typeface="Times New Roman" panose="02020503050405090304"/>
              <a:ea typeface="微软雅黑"/>
              <a:cs typeface="Times New Roman" panose="02020503050405090304"/>
            </a:endParaRPr>
          </a:p>
        </p:txBody>
      </p:sp>
      <p:sp>
        <p:nvSpPr>
          <p:cNvPr id="23" name="q2-stem"/>
          <p:cNvSpPr>
            <a:spLocks noGrp="1"/>
          </p:cNvSpPr>
          <p:nvPr/>
        </p:nvSpPr>
        <p:spPr>
          <a:xfrm>
            <a:off x="1495425" y="2266950"/>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【判断】format_reward = 1，说明回复一定猜中目标词。</a:t>
            </a:r>
            <a:endParaRPr sz="1800" b="1">
              <a:solidFill>
                <a:srgbClr val="111111"/>
              </a:solidFill>
              <a:latin typeface="Times New Roman" panose="02020503050405090304"/>
              <a:ea typeface="微软雅黑"/>
              <a:cs typeface="Times New Roman" panose="02020503050405090304"/>
            </a:endParaRPr>
          </a:p>
        </p:txBody>
      </p:sp>
      <p:sp>
        <p:nvSpPr>
          <p:cNvPr id="24" name="q3-label"/>
          <p:cNvSpPr>
            <a:spLocks noGrp="1"/>
          </p:cNvSpPr>
          <p:nvPr/>
        </p:nvSpPr>
        <p:spPr>
          <a:xfrm>
            <a:off x="609600" y="3105150"/>
            <a:ext cx="704850" cy="400050"/>
          </a:xfrm>
          <a:prstGeom prst="roundRect">
            <a:avLst>
              <a:gd name="adj" fmla="val 35714"/>
            </a:avLst>
          </a:prstGeom>
          <a:solidFill>
            <a:srgbClr val="BFECCC"/>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Q3</a:t>
            </a:r>
            <a:endParaRPr sz="2175" b="1">
              <a:solidFill>
                <a:srgbClr val="111111"/>
              </a:solidFill>
              <a:latin typeface="Times New Roman" panose="02020503050405090304"/>
              <a:ea typeface="微软雅黑"/>
              <a:cs typeface="Times New Roman" panose="02020503050405090304"/>
            </a:endParaRPr>
          </a:p>
        </p:txBody>
      </p:sp>
      <p:sp>
        <p:nvSpPr>
          <p:cNvPr id="25" name="q3-stem"/>
          <p:cNvSpPr>
            <a:spLocks noGrp="1"/>
          </p:cNvSpPr>
          <p:nvPr/>
        </p:nvSpPr>
        <p:spPr>
          <a:xfrm>
            <a:off x="1495425" y="3114675"/>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【单选】Wordle 样本如何构造训练对话？</a:t>
            </a:r>
            <a:endParaRPr sz="1800" b="1">
              <a:solidFill>
                <a:srgbClr val="111111"/>
              </a:solidFill>
              <a:latin typeface="Times New Roman" panose="02020503050405090304"/>
              <a:ea typeface="微软雅黑"/>
              <a:cs typeface="Times New Roman" panose="02020503050405090304"/>
            </a:endParaRPr>
          </a:p>
        </p:txBody>
      </p:sp>
      <p:sp>
        <p:nvSpPr>
          <p:cNvPr id="26" name="q3-option0"/>
          <p:cNvSpPr>
            <a:spLocks noGrp="1"/>
          </p:cNvSpPr>
          <p:nvPr/>
        </p:nvSpPr>
        <p:spPr>
          <a:xfrm>
            <a:off x="1495425" y="376237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A. 按顺序拼接 prompt 和 completion</a:t>
            </a:r>
            <a:endParaRPr sz="1650" b="0">
              <a:solidFill>
                <a:srgbClr val="111111"/>
              </a:solidFill>
              <a:latin typeface="Times New Roman" panose="02020503050405090304"/>
              <a:ea typeface="微软雅黑"/>
              <a:cs typeface="Times New Roman" panose="02020503050405090304"/>
            </a:endParaRPr>
          </a:p>
        </p:txBody>
      </p:sp>
      <p:sp>
        <p:nvSpPr>
          <p:cNvPr id="27" name="q3-option1"/>
          <p:cNvSpPr>
            <a:spLocks noGrp="1"/>
          </p:cNvSpPr>
          <p:nvPr/>
        </p:nvSpPr>
        <p:spPr>
          <a:xfrm>
            <a:off x="6505575" y="376237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B. 只读取 prompt</a:t>
            </a:r>
            <a:endParaRPr sz="1650" b="0">
              <a:solidFill>
                <a:srgbClr val="111111"/>
              </a:solidFill>
              <a:latin typeface="Times New Roman" panose="02020503050405090304"/>
              <a:ea typeface="微软雅黑"/>
              <a:cs typeface="Times New Roman" panose="02020503050405090304"/>
            </a:endParaRPr>
          </a:p>
        </p:txBody>
      </p:sp>
      <p:sp>
        <p:nvSpPr>
          <p:cNvPr id="28" name="q3-option2"/>
          <p:cNvSpPr>
            <a:spLocks noGrp="1"/>
          </p:cNvSpPr>
          <p:nvPr/>
        </p:nvSpPr>
        <p:spPr>
          <a:xfrm>
            <a:off x="1495425" y="417195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C. 只读取 completion</a:t>
            </a:r>
            <a:endParaRPr sz="1650" b="0">
              <a:solidFill>
                <a:srgbClr val="111111"/>
              </a:solidFill>
              <a:latin typeface="Times New Roman" panose="02020503050405090304"/>
              <a:ea typeface="微软雅黑"/>
              <a:cs typeface="Times New Roman" panose="02020503050405090304"/>
            </a:endParaRPr>
          </a:p>
        </p:txBody>
      </p:sp>
      <p:sp>
        <p:nvSpPr>
          <p:cNvPr id="29" name="q3-option3"/>
          <p:cNvSpPr>
            <a:spLocks noGrp="1"/>
          </p:cNvSpPr>
          <p:nvPr/>
        </p:nvSpPr>
        <p:spPr>
          <a:xfrm>
            <a:off x="6505575" y="417195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D. 把 answer 追加到每条 user 消息</a:t>
            </a:r>
            <a:endParaRPr sz="1650" b="0">
              <a:solidFill>
                <a:srgbClr val="111111"/>
              </a:solidFill>
              <a:latin typeface="Times New Roman" panose="02020503050405090304"/>
              <a:ea typeface="微软雅黑"/>
              <a:cs typeface="Times New Roman" panose="02020503050405090304"/>
            </a:endParaRPr>
          </a:p>
        </p:txBody>
      </p:sp>
      <p:sp>
        <p:nvSpPr>
          <p:cNvPr id="30" name="q4-label"/>
          <p:cNvSpPr>
            <a:spLocks noGrp="1"/>
          </p:cNvSpPr>
          <p:nvPr/>
        </p:nvSpPr>
        <p:spPr>
          <a:xfrm>
            <a:off x="609600" y="4686300"/>
            <a:ext cx="704850" cy="400050"/>
          </a:xfrm>
          <a:prstGeom prst="roundRect">
            <a:avLst>
              <a:gd name="adj" fmla="val 35714"/>
            </a:avLst>
          </a:prstGeom>
          <a:solidFill>
            <a:srgbClr val="C7E1FF"/>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Q4</a:t>
            </a:r>
            <a:endParaRPr sz="2175" b="1">
              <a:solidFill>
                <a:srgbClr val="111111"/>
              </a:solidFill>
              <a:latin typeface="Times New Roman" panose="02020503050405090304"/>
              <a:ea typeface="微软雅黑"/>
              <a:cs typeface="Times New Roman" panose="02020503050405090304"/>
            </a:endParaRPr>
          </a:p>
        </p:txBody>
      </p:sp>
      <p:sp>
        <p:nvSpPr>
          <p:cNvPr id="31" name="q4-stem"/>
          <p:cNvSpPr>
            <a:spLocks noGrp="1"/>
          </p:cNvSpPr>
          <p:nvPr/>
        </p:nvSpPr>
        <p:spPr>
          <a:xfrm>
            <a:off x="1495425" y="4695825"/>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【单选】哪个指标记录猜词内容与目标答案的精确匹配？</a:t>
            </a:r>
            <a:endParaRPr sz="1800" b="1">
              <a:solidFill>
                <a:srgbClr val="111111"/>
              </a:solidFill>
              <a:latin typeface="Times New Roman" panose="02020503050405090304"/>
              <a:ea typeface="微软雅黑"/>
              <a:cs typeface="Times New Roman" panose="02020503050405090304"/>
            </a:endParaRPr>
          </a:p>
        </p:txBody>
      </p:sp>
      <p:sp>
        <p:nvSpPr>
          <p:cNvPr id="32" name="q4-option0"/>
          <p:cNvSpPr>
            <a:spLocks noGrp="1"/>
          </p:cNvSpPr>
          <p:nvPr/>
        </p:nvSpPr>
        <p:spPr>
          <a:xfrm>
            <a:off x="1495425" y="534352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A. format_reward</a:t>
            </a:r>
            <a:endParaRPr sz="1650" b="0">
              <a:solidFill>
                <a:srgbClr val="111111"/>
              </a:solidFill>
              <a:latin typeface="Times New Roman" panose="02020503050405090304"/>
              <a:ea typeface="微软雅黑"/>
              <a:cs typeface="Times New Roman" panose="02020503050405090304"/>
            </a:endParaRPr>
          </a:p>
        </p:txBody>
      </p:sp>
      <p:sp>
        <p:nvSpPr>
          <p:cNvPr id="33" name="q4-option1"/>
          <p:cNvSpPr>
            <a:spLocks noGrp="1"/>
          </p:cNvSpPr>
          <p:nvPr/>
        </p:nvSpPr>
        <p:spPr>
          <a:xfrm>
            <a:off x="6505575" y="534352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B. correct_answer</a:t>
            </a:r>
            <a:endParaRPr sz="1650" b="0">
              <a:solidFill>
                <a:srgbClr val="111111"/>
              </a:solidFill>
              <a:latin typeface="Times New Roman" panose="02020503050405090304"/>
              <a:ea typeface="微软雅黑"/>
              <a:cs typeface="Times New Roman" panose="02020503050405090304"/>
            </a:endParaRPr>
          </a:p>
        </p:txBody>
      </p:sp>
      <p:sp>
        <p:nvSpPr>
          <p:cNvPr id="34" name="q4-option2"/>
          <p:cNvSpPr>
            <a:spLocks noGrp="1"/>
          </p:cNvSpPr>
          <p:nvPr/>
        </p:nvSpPr>
        <p:spPr>
          <a:xfrm>
            <a:off x="1495425" y="575310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C. length_bonus</a:t>
            </a:r>
            <a:endParaRPr sz="1650" b="0">
              <a:solidFill>
                <a:srgbClr val="111111"/>
              </a:solidFill>
              <a:latin typeface="Times New Roman" panose="02020503050405090304"/>
              <a:ea typeface="微软雅黑"/>
              <a:cs typeface="Times New Roman" panose="02020503050405090304"/>
            </a:endParaRPr>
          </a:p>
        </p:txBody>
      </p:sp>
      <p:sp>
        <p:nvSpPr>
          <p:cNvPr id="35" name="q4-option3"/>
          <p:cNvSpPr>
            <a:spLocks noGrp="1"/>
          </p:cNvSpPr>
          <p:nvPr/>
        </p:nvSpPr>
        <p:spPr>
          <a:xfrm>
            <a:off x="6505575" y="575310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D. partial_answer</a:t>
            </a:r>
            <a:endParaRPr sz="1650" b="0">
              <a:solidFill>
                <a:srgbClr val="111111"/>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0"/>
                                        </p:tgtEl>
                                        <p:attrNameLst>
                                          <p:attrName>style.visibility</p:attrName>
                                        </p:attrNameLst>
                                      </p:cBhvr>
                                      <p:to>
                                        <p:strVal val="visible"/>
                                      </p:to>
                                    </p:set>
                                    <p:animEffect transition="in" filter="fade">
                                      <p:cBhvr>
                                        <p:cTn id="7" dur="350"/>
                                        <p:tgtEl>
                                          <p:spTgt spid="20"/>
                                        </p:tgtEl>
                                      </p:cBhvr>
                                    </p:animEffect>
                                  </p:childTnLst>
                                </p:cTn>
                              </p:par>
                              <p:par>
                                <p:cTn id="8" presetID="10" presetClass="entr" presetSubtype="0" fill="hold" grpId="0" nodeType="withEffect">
                                  <p:stCondLst>
                                    <p:cond delay="0"/>
                                  </p:stCondLst>
                                  <p:childTnLst>
                                    <p:set>
                                      <p:cBhvr>
                                        <p:cTn id="9" dur="1" fill="hold"/>
                                        <p:tgtEl>
                                          <p:spTgt spid="21"/>
                                        </p:tgtEl>
                                        <p:attrNameLst>
                                          <p:attrName>style.visibility</p:attrName>
                                        </p:attrNameLst>
                                      </p:cBhvr>
                                      <p:to>
                                        <p:strVal val="visible"/>
                                      </p:to>
                                    </p:set>
                                    <p:animEffect transition="in" filter="fade">
                                      <p:cBhvr>
                                        <p:cTn id="10" dur="35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22"/>
                                        </p:tgtEl>
                                        <p:attrNameLst>
                                          <p:attrName>style.visibility</p:attrName>
                                        </p:attrNameLst>
                                      </p:cBhvr>
                                      <p:to>
                                        <p:strVal val="visible"/>
                                      </p:to>
                                    </p:set>
                                    <p:animEffect transition="in" filter="fade">
                                      <p:cBhvr>
                                        <p:cTn id="15" dur="350"/>
                                        <p:tgtEl>
                                          <p:spTgt spid="22"/>
                                        </p:tgtEl>
                                      </p:cBhvr>
                                    </p:animEffect>
                                  </p:childTnLst>
                                </p:cTn>
                              </p:par>
                              <p:par>
                                <p:cTn id="16" presetID="10" presetClass="entr" presetSubtype="0" fill="hold" grpId="0" nodeType="withEffect">
                                  <p:stCondLst>
                                    <p:cond delay="0"/>
                                  </p:stCondLst>
                                  <p:childTnLst>
                                    <p:set>
                                      <p:cBhvr>
                                        <p:cTn id="17" dur="1" fill="hold"/>
                                        <p:tgtEl>
                                          <p:spTgt spid="23"/>
                                        </p:tgtEl>
                                        <p:attrNameLst>
                                          <p:attrName>style.visibility</p:attrName>
                                        </p:attrNameLst>
                                      </p:cBhvr>
                                      <p:to>
                                        <p:strVal val="visible"/>
                                      </p:to>
                                    </p:set>
                                    <p:animEffect transition="in" filter="fade">
                                      <p:cBhvr>
                                        <p:cTn id="18" dur="35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tgtEl>
                                          <p:spTgt spid="24"/>
                                        </p:tgtEl>
                                        <p:attrNameLst>
                                          <p:attrName>style.visibility</p:attrName>
                                        </p:attrNameLst>
                                      </p:cBhvr>
                                      <p:to>
                                        <p:strVal val="visible"/>
                                      </p:to>
                                    </p:set>
                                    <p:animEffect transition="in" filter="fade">
                                      <p:cBhvr>
                                        <p:cTn id="23" dur="350"/>
                                        <p:tgtEl>
                                          <p:spTgt spid="24"/>
                                        </p:tgtEl>
                                      </p:cBhvr>
                                    </p:animEffect>
                                  </p:childTnLst>
                                </p:cTn>
                              </p:par>
                              <p:par>
                                <p:cTn id="24" presetID="10" presetClass="entr" presetSubtype="0" fill="hold" grpId="0" nodeType="withEffect">
                                  <p:stCondLst>
                                    <p:cond delay="0"/>
                                  </p:stCondLst>
                                  <p:childTnLst>
                                    <p:set>
                                      <p:cBhvr>
                                        <p:cTn id="25" dur="1" fill="hold"/>
                                        <p:tgtEl>
                                          <p:spTgt spid="25"/>
                                        </p:tgtEl>
                                        <p:attrNameLst>
                                          <p:attrName>style.visibility</p:attrName>
                                        </p:attrNameLst>
                                      </p:cBhvr>
                                      <p:to>
                                        <p:strVal val="visible"/>
                                      </p:to>
                                    </p:set>
                                    <p:animEffect transition="in" filter="fade">
                                      <p:cBhvr>
                                        <p:cTn id="26" dur="350"/>
                                        <p:tgtEl>
                                          <p:spTgt spid="25"/>
                                        </p:tgtEl>
                                      </p:cBhvr>
                                    </p:animEffect>
                                  </p:childTnLst>
                                </p:cTn>
                              </p:par>
                              <p:par>
                                <p:cTn id="27" presetID="10" presetClass="entr" presetSubtype="0" fill="hold" grpId="0" nodeType="withEffect">
                                  <p:stCondLst>
                                    <p:cond delay="0"/>
                                  </p:stCondLst>
                                  <p:childTnLst>
                                    <p:set>
                                      <p:cBhvr>
                                        <p:cTn id="28" dur="1" fill="hold"/>
                                        <p:tgtEl>
                                          <p:spTgt spid="26"/>
                                        </p:tgtEl>
                                        <p:attrNameLst>
                                          <p:attrName>style.visibility</p:attrName>
                                        </p:attrNameLst>
                                      </p:cBhvr>
                                      <p:to>
                                        <p:strVal val="visible"/>
                                      </p:to>
                                    </p:set>
                                    <p:animEffect transition="in" filter="fade">
                                      <p:cBhvr>
                                        <p:cTn id="29" dur="350"/>
                                        <p:tgtEl>
                                          <p:spTgt spid="26"/>
                                        </p:tgtEl>
                                      </p:cBhvr>
                                    </p:animEffect>
                                  </p:childTnLst>
                                </p:cTn>
                              </p:par>
                              <p:par>
                                <p:cTn id="30" presetID="10" presetClass="entr" presetSubtype="0" fill="hold" grpId="0" nodeType="withEffect">
                                  <p:stCondLst>
                                    <p:cond delay="0"/>
                                  </p:stCondLst>
                                  <p:childTnLst>
                                    <p:set>
                                      <p:cBhvr>
                                        <p:cTn id="31" dur="1" fill="hold"/>
                                        <p:tgtEl>
                                          <p:spTgt spid="27"/>
                                        </p:tgtEl>
                                        <p:attrNameLst>
                                          <p:attrName>style.visibility</p:attrName>
                                        </p:attrNameLst>
                                      </p:cBhvr>
                                      <p:to>
                                        <p:strVal val="visible"/>
                                      </p:to>
                                    </p:set>
                                    <p:animEffect transition="in" filter="fade">
                                      <p:cBhvr>
                                        <p:cTn id="32" dur="350"/>
                                        <p:tgtEl>
                                          <p:spTgt spid="27"/>
                                        </p:tgtEl>
                                      </p:cBhvr>
                                    </p:animEffect>
                                  </p:childTnLst>
                                </p:cTn>
                              </p:par>
                              <p:par>
                                <p:cTn id="33" presetID="10" presetClass="entr" presetSubtype="0" fill="hold" grpId="0" nodeType="withEffect">
                                  <p:stCondLst>
                                    <p:cond delay="0"/>
                                  </p:stCondLst>
                                  <p:childTnLst>
                                    <p:set>
                                      <p:cBhvr>
                                        <p:cTn id="34" dur="1" fill="hold"/>
                                        <p:tgtEl>
                                          <p:spTgt spid="28"/>
                                        </p:tgtEl>
                                        <p:attrNameLst>
                                          <p:attrName>style.visibility</p:attrName>
                                        </p:attrNameLst>
                                      </p:cBhvr>
                                      <p:to>
                                        <p:strVal val="visible"/>
                                      </p:to>
                                    </p:set>
                                    <p:animEffect transition="in" filter="fade">
                                      <p:cBhvr>
                                        <p:cTn id="35" dur="350"/>
                                        <p:tgtEl>
                                          <p:spTgt spid="28"/>
                                        </p:tgtEl>
                                      </p:cBhvr>
                                    </p:animEffect>
                                  </p:childTnLst>
                                </p:cTn>
                              </p:par>
                              <p:par>
                                <p:cTn id="36" presetID="10" presetClass="entr" presetSubtype="0" fill="hold" grpId="0" nodeType="withEffect">
                                  <p:stCondLst>
                                    <p:cond delay="0"/>
                                  </p:stCondLst>
                                  <p:childTnLst>
                                    <p:set>
                                      <p:cBhvr>
                                        <p:cTn id="37" dur="1" fill="hold"/>
                                        <p:tgtEl>
                                          <p:spTgt spid="29"/>
                                        </p:tgtEl>
                                        <p:attrNameLst>
                                          <p:attrName>style.visibility</p:attrName>
                                        </p:attrNameLst>
                                      </p:cBhvr>
                                      <p:to>
                                        <p:strVal val="visible"/>
                                      </p:to>
                                    </p:set>
                                    <p:animEffect transition="in" filter="fade">
                                      <p:cBhvr>
                                        <p:cTn id="38" dur="35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tgtEl>
                                          <p:spTgt spid="30"/>
                                        </p:tgtEl>
                                        <p:attrNameLst>
                                          <p:attrName>style.visibility</p:attrName>
                                        </p:attrNameLst>
                                      </p:cBhvr>
                                      <p:to>
                                        <p:strVal val="visible"/>
                                      </p:to>
                                    </p:set>
                                    <p:animEffect transition="in" filter="fade">
                                      <p:cBhvr>
                                        <p:cTn id="43" dur="350"/>
                                        <p:tgtEl>
                                          <p:spTgt spid="30"/>
                                        </p:tgtEl>
                                      </p:cBhvr>
                                    </p:animEffect>
                                  </p:childTnLst>
                                </p:cTn>
                              </p:par>
                              <p:par>
                                <p:cTn id="44" presetID="10" presetClass="entr" presetSubtype="0" fill="hold" grpId="0" nodeType="withEffect">
                                  <p:stCondLst>
                                    <p:cond delay="0"/>
                                  </p:stCondLst>
                                  <p:childTnLst>
                                    <p:set>
                                      <p:cBhvr>
                                        <p:cTn id="45" dur="1" fill="hold"/>
                                        <p:tgtEl>
                                          <p:spTgt spid="31"/>
                                        </p:tgtEl>
                                        <p:attrNameLst>
                                          <p:attrName>style.visibility</p:attrName>
                                        </p:attrNameLst>
                                      </p:cBhvr>
                                      <p:to>
                                        <p:strVal val="visible"/>
                                      </p:to>
                                    </p:set>
                                    <p:animEffect transition="in" filter="fade">
                                      <p:cBhvr>
                                        <p:cTn id="46" dur="350"/>
                                        <p:tgtEl>
                                          <p:spTgt spid="31"/>
                                        </p:tgtEl>
                                      </p:cBhvr>
                                    </p:animEffect>
                                  </p:childTnLst>
                                </p:cTn>
                              </p:par>
                              <p:par>
                                <p:cTn id="47" presetID="10" presetClass="entr" presetSubtype="0" fill="hold" grpId="0" nodeType="withEffect">
                                  <p:stCondLst>
                                    <p:cond delay="0"/>
                                  </p:stCondLst>
                                  <p:childTnLst>
                                    <p:set>
                                      <p:cBhvr>
                                        <p:cTn id="48" dur="1" fill="hold"/>
                                        <p:tgtEl>
                                          <p:spTgt spid="32"/>
                                        </p:tgtEl>
                                        <p:attrNameLst>
                                          <p:attrName>style.visibility</p:attrName>
                                        </p:attrNameLst>
                                      </p:cBhvr>
                                      <p:to>
                                        <p:strVal val="visible"/>
                                      </p:to>
                                    </p:set>
                                    <p:animEffect transition="in" filter="fade">
                                      <p:cBhvr>
                                        <p:cTn id="49" dur="350"/>
                                        <p:tgtEl>
                                          <p:spTgt spid="32"/>
                                        </p:tgtEl>
                                      </p:cBhvr>
                                    </p:animEffect>
                                  </p:childTnLst>
                                </p:cTn>
                              </p:par>
                              <p:par>
                                <p:cTn id="50" presetID="10" presetClass="entr" presetSubtype="0" fill="hold" grpId="0" nodeType="withEffect">
                                  <p:stCondLst>
                                    <p:cond delay="0"/>
                                  </p:stCondLst>
                                  <p:childTnLst>
                                    <p:set>
                                      <p:cBhvr>
                                        <p:cTn id="51" dur="1" fill="hold"/>
                                        <p:tgtEl>
                                          <p:spTgt spid="33"/>
                                        </p:tgtEl>
                                        <p:attrNameLst>
                                          <p:attrName>style.visibility</p:attrName>
                                        </p:attrNameLst>
                                      </p:cBhvr>
                                      <p:to>
                                        <p:strVal val="visible"/>
                                      </p:to>
                                    </p:set>
                                    <p:animEffect transition="in" filter="fade">
                                      <p:cBhvr>
                                        <p:cTn id="52" dur="350"/>
                                        <p:tgtEl>
                                          <p:spTgt spid="33"/>
                                        </p:tgtEl>
                                      </p:cBhvr>
                                    </p:animEffect>
                                  </p:childTnLst>
                                </p:cTn>
                              </p:par>
                              <p:par>
                                <p:cTn id="53" presetID="10" presetClass="entr" presetSubtype="0" fill="hold" grpId="0" nodeType="withEffect">
                                  <p:stCondLst>
                                    <p:cond delay="0"/>
                                  </p:stCondLst>
                                  <p:childTnLst>
                                    <p:set>
                                      <p:cBhvr>
                                        <p:cTn id="54" dur="1" fill="hold"/>
                                        <p:tgtEl>
                                          <p:spTgt spid="34"/>
                                        </p:tgtEl>
                                        <p:attrNameLst>
                                          <p:attrName>style.visibility</p:attrName>
                                        </p:attrNameLst>
                                      </p:cBhvr>
                                      <p:to>
                                        <p:strVal val="visible"/>
                                      </p:to>
                                    </p:set>
                                    <p:animEffect transition="in" filter="fade">
                                      <p:cBhvr>
                                        <p:cTn id="55" dur="350"/>
                                        <p:tgtEl>
                                          <p:spTgt spid="34"/>
                                        </p:tgtEl>
                                      </p:cBhvr>
                                    </p:animEffect>
                                  </p:childTnLst>
                                </p:cTn>
                              </p:par>
                              <p:par>
                                <p:cTn id="56" presetID="10" presetClass="entr" presetSubtype="0" fill="hold" grpId="0" nodeType="withEffect">
                                  <p:stCondLst>
                                    <p:cond delay="0"/>
                                  </p:stCondLst>
                                  <p:childTnLst>
                                    <p:set>
                                      <p:cBhvr>
                                        <p:cTn id="57" dur="1" fill="hold"/>
                                        <p:tgtEl>
                                          <p:spTgt spid="35"/>
                                        </p:tgtEl>
                                        <p:attrNameLst>
                                          <p:attrName>style.visibility</p:attrName>
                                        </p:attrNameLst>
                                      </p:cBhvr>
                                      <p:to>
                                        <p:strVal val="visible"/>
                                      </p:to>
                                    </p:set>
                                    <p:animEffect transition="in" filter="fade">
                                      <p:cBhvr>
                                        <p:cTn id="58" dur="3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a:spLocks noGrp="1"/>
          </p:cNvSpPr>
          <p:nvPr/>
        </p:nvSpPr>
        <p:spPr>
          <a:xfrm>
            <a:off x="547073" y="2601035"/>
            <a:ext cx="3380868" cy="835742"/>
          </a:xfrm>
          <a:prstGeom prst="rect">
            <a:avLst/>
          </a:prstGeom>
          <a:solidFill>
            <a:srgbClr val="FFFFFF"/>
          </a:solidFill>
          <a:ln w="12700" cmpd="sng">
            <a:noFill/>
            <a:prstDash val="solid"/>
          </a:ln>
        </p:spPr>
        <p:txBody>
          <a:bodyPr anchor="ctr"/>
          <a:lstStyle/>
          <a:p>
            <a:pPr marL="0" indent="0" algn="ctr">
              <a:lnSpc>
                <a:spcPct val="100000"/>
              </a:lnSpc>
              <a:spcBef>
                <a:spcPts val="0"/>
              </a:spcBef>
              <a:spcAft>
                <a:spcPts val="0"/>
              </a:spcAft>
              <a:buNone/>
            </a:pPr>
            <a:r>
              <a:rPr lang="en-US" sz="4000">
                <a:ln>
                  <a:noFill/>
                </a:ln>
                <a:solidFill>
                  <a:srgbClr val="DDDDDD">
                    <a:lumMod val="50000"/>
                  </a:srgbClr>
                </a:solidFill>
                <a:latin typeface="Times New Roman" panose="02020503050405090304"/>
                <a:ea typeface="微软雅黑"/>
                <a:cs typeface="Times New Roman" panose="02020503050405090304"/>
                <a:sym typeface="+mn-ea"/>
              </a:rPr>
              <a:t>SFT</a:t>
            </a:r>
            <a:r>
              <a:rPr sz="4000" b="0" i="0" u="none" cap="none">
                <a:ln>
                  <a:noFill/>
                </a:ln>
                <a:solidFill>
                  <a:srgbClr val="DDDDDD">
                    <a:lumMod val="50000"/>
                  </a:srgbClr>
                </a:solidFill>
                <a:latin typeface="Times New Roman" panose="02020503050405090304"/>
                <a:ea typeface="微软雅黑"/>
                <a:cs typeface="Times New Roman" panose="02020503050405090304"/>
              </a:rPr>
              <a:t> 初阶课程</a:t>
            </a:r>
            <a:endParaRPr sz="4000" b="0" i="0" u="none" cap="none">
              <a:ln>
                <a:noFill/>
              </a:ln>
              <a:solidFill>
                <a:srgbClr val="DDDDDD">
                  <a:lumMod val="50000"/>
                </a:srgbClr>
              </a:solidFill>
              <a:latin typeface="Times New Roman" panose="02020503050405090304"/>
              <a:ea typeface="微软雅黑"/>
              <a:cs typeface="Times New Roman" panose="02020503050405090304"/>
            </a:endParaRPr>
          </a:p>
        </p:txBody>
      </p:sp>
      <p:sp>
        <p:nvSpPr>
          <p:cNvPr id="15" name="í$ľidè"/>
          <p:cNvSpPr>
            <a:spLocks noGrp="1"/>
          </p:cNvSpPr>
          <p:nvPr/>
        </p:nvSpPr>
        <p:spPr>
          <a:xfrm>
            <a:off x="3956272" y="1890392"/>
            <a:ext cx="0" cy="2769071"/>
          </a:xfrm>
          <a:prstGeom prst="line">
            <a:avLst/>
          </a:prstGeom>
          <a:solidFill>
            <a:srgbClr val="FFCC00"/>
          </a:solidFill>
          <a:ln w="12700">
            <a:solidFill>
              <a:schemeClr val="bg1">
                <a:lumMod val="65000"/>
              </a:schemeClr>
            </a:solidFill>
            <a:prstDash val="solid"/>
            <a:headEnd type="none" w="med" len="med"/>
            <a:tailEnd type="none" w="med" len="med"/>
          </a:ln>
        </p:spPr>
      </p:sp>
      <p:pic>
        <p:nvPicPr>
          <p:cNvPr id="21" name="图片 7"/>
          <p:cNvPicPr>
            <a:picLocks noChangeAspect="1"/>
          </p:cNvPicPr>
          <p:nvPr/>
        </p:nvPicPr>
        <p:blipFill>
          <a:blip r:embed="rId1"/>
          <a:stretch>
            <a:fillRect/>
          </a:stretch>
        </p:blipFill>
        <p:spPr>
          <a:xfrm>
            <a:off x="10137202" y="6042990"/>
            <a:ext cx="1312676" cy="348426"/>
          </a:xfrm>
          <a:prstGeom prst="rect">
            <a:avLst/>
          </a:prstGeom>
        </p:spPr>
      </p:pic>
      <p:sp>
        <p:nvSpPr>
          <p:cNvPr id="17" name="文本框 16"/>
          <p:cNvSpPr>
            <a:spLocks noGrp="1"/>
          </p:cNvSpPr>
          <p:nvPr/>
        </p:nvSpPr>
        <p:spPr>
          <a:xfrm>
            <a:off x="620201" y="6130454"/>
            <a:ext cx="8763000" cy="246221"/>
          </a:xfrm>
          <a:prstGeom prst="rect">
            <a:avLst/>
          </a:prstGeom>
          <a:noFill/>
        </p:spPr>
        <p:txBody>
          <a:bodyPr wrap="none">
            <a:spAutoFit/>
          </a:bodyPr>
          <a:lstStyle/>
          <a:p>
            <a:pPr marL="0" indent="0" algn="l">
              <a:lnSpc>
                <a:spcPct val="100000"/>
              </a:lnSpc>
              <a:spcBef>
                <a:spcPts val="0"/>
              </a:spcBef>
              <a:spcAft>
                <a:spcPts val="0"/>
              </a:spcAft>
              <a:buNone/>
            </a:pPr>
            <a:r>
              <a:rPr sz="1000" b="0" i="0" u="none" cap="none">
                <a:ln>
                  <a:noFill/>
                </a:ln>
                <a:solidFill>
                  <a:prstClr val="white">
                    <a:lumMod val="50000"/>
                  </a:prstClr>
                </a:solidFill>
                <a:latin typeface="Times New Roman" panose="02020503050405090304"/>
                <a:ea typeface="微软雅黑"/>
                <a:cs typeface="Times New Roman" panose="02020503050405090304"/>
                <a:hlinkClick r:id="rId2"/>
              </a:rPr>
              <a:t>https://gitcode.com/cann/cann-learning-hub/tree/master/tutorials/sft_training_pipeline</a:t>
            </a:r>
            <a:endParaRPr sz="1000" b="0" i="0" u="none" cap="none">
              <a:ln>
                <a:noFill/>
              </a:ln>
              <a:solidFill>
                <a:prstClr val="white">
                  <a:lumMod val="50000"/>
                </a:prstClr>
              </a:solidFill>
              <a:latin typeface="Times New Roman" panose="02020503050405090304"/>
              <a:ea typeface="微软雅黑"/>
              <a:cs typeface="Times New Roman" panose="02020503050405090304"/>
            </a:endParaRPr>
          </a:p>
        </p:txBody>
      </p:sp>
      <p:sp>
        <p:nvSpPr>
          <p:cNvPr id="12" name="矩形 11"/>
          <p:cNvSpPr>
            <a:spLocks noGrp="1"/>
          </p:cNvSpPr>
          <p:nvPr/>
        </p:nvSpPr>
        <p:spPr>
          <a:xfrm>
            <a:off x="5157694" y="1530876"/>
            <a:ext cx="4587547" cy="596075"/>
          </a:xfrm>
          <a:prstGeom prst="rect">
            <a:avLst/>
          </a:prstGeom>
          <a:solidFill>
            <a:srgbClr val="F2F2F2"/>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1 </a:t>
            </a:r>
            <a:r>
              <a:rPr lang="en-US" sz="2400" b="0" i="0" u="none" cap="none">
                <a:ln>
                  <a:noFill/>
                </a:ln>
                <a:solidFill>
                  <a:srgbClr val="666666"/>
                </a:solidFill>
                <a:latin typeface="Times New Roman" panose="02020503050405090304"/>
                <a:ea typeface="微软雅黑"/>
                <a:cs typeface="Times New Roman" panose="02020503050405090304"/>
              </a:rPr>
              <a:t>SFT</a:t>
            </a:r>
            <a:r>
              <a:rPr lang="zh-CN" altLang="en-US" sz="2400" b="0" i="0" u="none" cap="none">
                <a:ln>
                  <a:noFill/>
                </a:ln>
                <a:solidFill>
                  <a:srgbClr val="666666"/>
                </a:solidFill>
                <a:latin typeface="Times New Roman" panose="02020503050405090304"/>
                <a:ea typeface="微软雅黑"/>
                <a:cs typeface="Times New Roman" panose="02020503050405090304"/>
              </a:rPr>
              <a:t>概念与</a:t>
            </a:r>
            <a:r>
              <a:rPr lang="en-US" altLang="zh-CN" sz="2400" b="0" i="0" u="none" cap="none">
                <a:ln>
                  <a:noFill/>
                </a:ln>
                <a:solidFill>
                  <a:srgbClr val="666666"/>
                </a:solidFill>
                <a:latin typeface="Times New Roman" panose="02020503050405090304"/>
                <a:ea typeface="微软雅黑"/>
                <a:cs typeface="Times New Roman" panose="02020503050405090304"/>
              </a:rPr>
              <a:t>Wordle</a:t>
            </a:r>
            <a:r>
              <a:rPr lang="zh-CN" altLang="en-US" sz="2400" b="0" i="0" u="none" cap="none">
                <a:ln>
                  <a:noFill/>
                </a:ln>
                <a:solidFill>
                  <a:srgbClr val="666666"/>
                </a:solidFill>
                <a:latin typeface="Times New Roman" panose="02020503050405090304"/>
                <a:ea typeface="微软雅黑"/>
                <a:cs typeface="Times New Roman" panose="02020503050405090304"/>
              </a:rPr>
              <a:t>任务</a:t>
            </a:r>
            <a:endParaRPr lang="zh-CN" altLang="en-US" sz="2400" b="0" i="0" u="none" cap="none">
              <a:ln>
                <a:noFill/>
              </a:ln>
              <a:solidFill>
                <a:srgbClr val="666666"/>
              </a:solidFill>
              <a:latin typeface="Times New Roman" panose="02020503050405090304"/>
              <a:ea typeface="微软雅黑"/>
              <a:cs typeface="Times New Roman" panose="02020503050405090304"/>
            </a:endParaRPr>
          </a:p>
        </p:txBody>
      </p:sp>
      <p:sp>
        <p:nvSpPr>
          <p:cNvPr id="13" name="矩形 12"/>
          <p:cNvSpPr>
            <a:spLocks noGrp="1"/>
          </p:cNvSpPr>
          <p:nvPr/>
        </p:nvSpPr>
        <p:spPr>
          <a:xfrm>
            <a:off x="5157694" y="2680975"/>
            <a:ext cx="4587549" cy="591795"/>
          </a:xfrm>
          <a:prstGeom prst="rect">
            <a:avLst/>
          </a:prstGeom>
          <a:solidFill>
            <a:srgbClr val="C00000"/>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chemeClr val="bg1"/>
                </a:solidFill>
                <a:latin typeface="Times New Roman" panose="02020503050405090304"/>
                <a:ea typeface="微软雅黑"/>
                <a:cs typeface="Times New Roman" panose="02020503050405090304"/>
              </a:rPr>
              <a:t>Part 2 </a:t>
            </a:r>
            <a:r>
              <a:rPr lang="en-US" sz="2400" b="0" i="0" u="none" cap="none">
                <a:ln>
                  <a:noFill/>
                </a:ln>
                <a:solidFill>
                  <a:schemeClr val="bg1"/>
                </a:solidFill>
                <a:latin typeface="Times New Roman" panose="02020503050405090304"/>
                <a:ea typeface="微软雅黑"/>
                <a:cs typeface="Times New Roman" panose="02020503050405090304"/>
              </a:rPr>
              <a:t>TorchTitan</a:t>
            </a:r>
            <a:r>
              <a:rPr lang="zh-CN" altLang="en-US" sz="2400" b="0" i="0" u="none" cap="none">
                <a:ln>
                  <a:noFill/>
                </a:ln>
                <a:solidFill>
                  <a:schemeClr val="bg1"/>
                </a:solidFill>
                <a:latin typeface="Times New Roman" panose="02020503050405090304"/>
                <a:ea typeface="微软雅黑"/>
                <a:cs typeface="Times New Roman" panose="02020503050405090304"/>
              </a:rPr>
              <a:t>框架</a:t>
            </a:r>
            <a:r>
              <a:rPr lang="zh-CN" altLang="en-US" sz="2400" b="0" i="0" u="none" cap="none">
                <a:ln>
                  <a:noFill/>
                </a:ln>
                <a:solidFill>
                  <a:schemeClr val="bg1"/>
                </a:solidFill>
                <a:latin typeface="Times New Roman" panose="02020503050405090304"/>
                <a:ea typeface="微软雅黑"/>
                <a:cs typeface="Times New Roman" panose="02020503050405090304"/>
              </a:rPr>
              <a:t>概述</a:t>
            </a:r>
            <a:endParaRPr lang="zh-CN" altLang="en-US" sz="2400" b="0" i="0" u="none" cap="none">
              <a:ln>
                <a:noFill/>
              </a:ln>
              <a:solidFill>
                <a:schemeClr val="bg1"/>
              </a:solidFill>
              <a:latin typeface="Times New Roman" panose="02020503050405090304"/>
              <a:ea typeface="微软雅黑"/>
              <a:cs typeface="Times New Roman" panose="02020503050405090304"/>
            </a:endParaRPr>
          </a:p>
        </p:txBody>
      </p:sp>
      <p:sp>
        <p:nvSpPr>
          <p:cNvPr id="14" name="矩形 13"/>
          <p:cNvSpPr>
            <a:spLocks noGrp="1"/>
          </p:cNvSpPr>
          <p:nvPr/>
        </p:nvSpPr>
        <p:spPr>
          <a:xfrm>
            <a:off x="5157694" y="3712434"/>
            <a:ext cx="4587551" cy="587513"/>
          </a:xfrm>
          <a:prstGeom prst="rect">
            <a:avLst/>
          </a:prstGeom>
          <a:solidFill>
            <a:srgbClr val="F2F2F2"/>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3 </a:t>
            </a:r>
            <a:r>
              <a:rPr lang="zh-CN" sz="2400" b="0" i="0" u="none" cap="none">
                <a:ln>
                  <a:noFill/>
                </a:ln>
                <a:solidFill>
                  <a:srgbClr val="666666"/>
                </a:solidFill>
                <a:latin typeface="Times New Roman" panose="02020503050405090304"/>
                <a:ea typeface="微软雅黑"/>
                <a:cs typeface="Times New Roman" panose="02020503050405090304"/>
              </a:rPr>
              <a:t>训练配置与基线</a:t>
            </a:r>
            <a:r>
              <a:rPr lang="zh-CN" sz="2400" b="0" i="0" u="none" cap="none">
                <a:ln>
                  <a:noFill/>
                </a:ln>
                <a:solidFill>
                  <a:srgbClr val="666666"/>
                </a:solidFill>
                <a:latin typeface="Times New Roman" panose="02020503050405090304"/>
                <a:ea typeface="微软雅黑"/>
                <a:cs typeface="Times New Roman" panose="02020503050405090304"/>
              </a:rPr>
              <a:t>训练</a:t>
            </a:r>
            <a:endParaRPr lang="zh-CN" sz="2400" b="0" i="0" u="none" cap="none">
              <a:ln>
                <a:noFill/>
              </a:ln>
              <a:solidFill>
                <a:srgbClr val="666666"/>
              </a:solidFill>
              <a:latin typeface="Times New Roman" panose="02020503050405090304"/>
              <a:ea typeface="微软雅黑"/>
              <a:cs typeface="Times New Roman" panose="02020503050405090304"/>
            </a:endParaRPr>
          </a:p>
        </p:txBody>
      </p:sp>
      <p:sp>
        <p:nvSpPr>
          <p:cNvPr id="7" name="矩形 6"/>
          <p:cNvSpPr>
            <a:spLocks noGrp="1"/>
          </p:cNvSpPr>
          <p:nvPr/>
        </p:nvSpPr>
        <p:spPr>
          <a:xfrm>
            <a:off x="5157694" y="4739611"/>
            <a:ext cx="4587553" cy="587513"/>
          </a:xfrm>
          <a:prstGeom prst="rect">
            <a:avLst/>
          </a:prstGeom>
          <a:solidFill>
            <a:srgbClr val="F2F2F2"/>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4 </a:t>
            </a:r>
            <a:r>
              <a:rPr lang="zh-CN" sz="2400">
                <a:ln>
                  <a:noFill/>
                </a:ln>
                <a:solidFill>
                  <a:srgbClr val="666666"/>
                </a:solidFill>
                <a:sym typeface="+mn-ea"/>
              </a:rPr>
              <a:t>融合算子优化与</a:t>
            </a:r>
            <a:r>
              <a:rPr lang="en-US" altLang="zh-CN" sz="2400">
                <a:ln>
                  <a:noFill/>
                </a:ln>
                <a:solidFill>
                  <a:srgbClr val="666666"/>
                </a:solidFill>
                <a:sym typeface="+mn-ea"/>
              </a:rPr>
              <a:t>Profiling</a:t>
            </a:r>
            <a:endParaRPr lang="zh-CN" sz="2400" b="0" i="0" u="none" cap="none">
              <a:ln>
                <a:noFill/>
              </a:ln>
              <a:solidFill>
                <a:srgbClr val="666666"/>
              </a:solidFill>
              <a:latin typeface="Times New Roman" panose="02020503050405090304"/>
              <a:ea typeface="微软雅黑"/>
              <a:cs typeface="Times New Roman" panose="0202050305040509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1"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372600" cy="502920"/>
          </a:xfrm>
          <a:prstGeom prst="rect">
            <a:avLst/>
          </a:prstGeom>
          <a:noFill/>
          <a:ln w="0">
            <a:noFill/>
            <a:prstDash val="solid"/>
          </a:ln>
        </p:spPr>
        <p:txBody>
          <a:bodyPr wrap="square" lIns="0" tIns="0" rIns="0" bIns="0" anchor="ctr">
            <a:normAutofit/>
          </a:bodyPr>
          <a:lstStyle/>
          <a:p>
            <a:pPr>
              <a:lnSpc>
                <a:spcPct val="108000"/>
              </a:lnSpc>
              <a:buNone/>
              <a:defRPr sz="3375" b="0">
                <a:solidFill>
                  <a:srgbClr val="111111"/>
                </a:solidFill>
                <a:latin typeface="微软雅黑"/>
                <a:ea typeface="微软雅黑"/>
                <a:cs typeface="微软雅黑"/>
              </a:defRPr>
            </a:pPr>
            <a:r>
              <a:rPr sz="2700" b="1">
                <a:solidFill>
                  <a:srgbClr val="111111"/>
                </a:solidFill>
                <a:latin typeface="微软雅黑"/>
                <a:ea typeface="微软雅黑"/>
                <a:cs typeface="微软雅黑"/>
              </a:rPr>
              <a:t>TorchTitan</a:t>
            </a:r>
            <a:r>
              <a:rPr sz="2700" b="1">
                <a:solidFill>
                  <a:srgbClr val="111111"/>
                </a:solidFill>
                <a:latin typeface="微软雅黑"/>
                <a:ea typeface="微软雅黑"/>
                <a:cs typeface="微软雅黑"/>
              </a:rPr>
              <a:t>框架介绍</a:t>
            </a:r>
            <a:endParaRPr sz="2700" b="1">
              <a:solidFill>
                <a:srgbClr val="111111"/>
              </a:solidFill>
              <a:latin typeface="微软雅黑"/>
              <a:ea typeface="微软雅黑"/>
              <a:cs typeface="微软雅黑"/>
            </a:endParaRPr>
          </a:p>
        </p:txBody>
      </p:sp>
      <p:sp>
        <p:nvSpPr>
          <p:cNvPr id="5" name="矩形: 圆角 4"/>
          <p:cNvSpPr>
            <a:spLocks noGrp="1"/>
          </p:cNvSpPr>
          <p:nvPr/>
        </p:nvSpPr>
        <p:spPr>
          <a:xfrm>
            <a:off x="685800" y="1295400"/>
            <a:ext cx="3810000" cy="3200400"/>
          </a:xfrm>
          <a:prstGeom prst="roundRect">
            <a:avLst>
              <a:gd name="adj" fmla="val 1429"/>
            </a:avLst>
          </a:prstGeom>
          <a:solidFill>
            <a:srgbClr val="FFF1F2"/>
          </a:solidFill>
          <a:ln w="9525">
            <a:solidFill>
              <a:srgbClr val="E60012"/>
            </a:solidFill>
            <a:prstDash val="solid"/>
          </a:ln>
        </p:spPr>
      </p:sp>
      <p:sp>
        <p:nvSpPr>
          <p:cNvPr id="6" name="矩形 5"/>
          <p:cNvSpPr>
            <a:spLocks noGrp="1"/>
          </p:cNvSpPr>
          <p:nvPr/>
        </p:nvSpPr>
        <p:spPr>
          <a:xfrm>
            <a:off x="1028700" y="1714500"/>
            <a:ext cx="3124200" cy="502920"/>
          </a:xfrm>
          <a:prstGeom prst="rect">
            <a:avLst/>
          </a:prstGeom>
          <a:noFill/>
          <a:ln w="0">
            <a:noFill/>
            <a:prstDash val="solid"/>
          </a:ln>
        </p:spPr>
        <p:txBody>
          <a:bodyPr wrap="square" lIns="0" tIns="0" rIns="0" bIns="0" anchor="t">
            <a:normAutofit/>
          </a:bodyPr>
          <a:lstStyle/>
          <a:p>
            <a:pPr algn="ctr">
              <a:lnSpc>
                <a:spcPct val="108000"/>
              </a:lnSpc>
              <a:buNone/>
              <a:defRPr sz="3600" b="1">
                <a:solidFill>
                  <a:srgbClr val="E60012"/>
                </a:solidFill>
                <a:latin typeface="Arial" panose="020B0604020202090204"/>
                <a:ea typeface="Arial" panose="020B0604020202090204"/>
                <a:cs typeface="Arial" panose="020B0604020202090204"/>
              </a:defRPr>
            </a:pPr>
            <a:r>
              <a:rPr sz="2880" b="1">
                <a:solidFill>
                  <a:srgbClr val="E60012"/>
                </a:solidFill>
                <a:latin typeface="Arial" panose="020B0604020202090204"/>
                <a:ea typeface="Arial" panose="020B0604020202090204"/>
                <a:cs typeface="Arial" panose="020B0604020202090204"/>
              </a:rPr>
              <a:t>TorchTitan</a:t>
            </a:r>
            <a:endParaRPr sz="2880" b="1">
              <a:solidFill>
                <a:srgbClr val="E60012"/>
              </a:solidFill>
              <a:latin typeface="Arial" panose="020B0604020202090204"/>
              <a:ea typeface="Arial" panose="020B0604020202090204"/>
              <a:cs typeface="Arial" panose="020B0604020202090204"/>
            </a:endParaRPr>
          </a:p>
        </p:txBody>
      </p:sp>
      <p:sp>
        <p:nvSpPr>
          <p:cNvPr id="7" name="矩形 6"/>
          <p:cNvSpPr>
            <a:spLocks noGrp="1"/>
          </p:cNvSpPr>
          <p:nvPr/>
        </p:nvSpPr>
        <p:spPr>
          <a:xfrm>
            <a:off x="1066800" y="2514600"/>
            <a:ext cx="3048000" cy="762000"/>
          </a:xfrm>
          <a:prstGeom prst="rect">
            <a:avLst/>
          </a:prstGeom>
          <a:noFill/>
          <a:ln w="0">
            <a:noFill/>
            <a:prstDash val="solid"/>
          </a:ln>
        </p:spPr>
        <p:txBody>
          <a:bodyPr wrap="square" lIns="0" tIns="0" rIns="0" bIns="0" anchor="t">
            <a:normAutofit/>
          </a:bodyPr>
          <a:lstStyle/>
          <a:p>
            <a:pPr algn="ctr">
              <a:lnSpc>
                <a:spcPct val="125000"/>
              </a:lnSpc>
              <a:buNone/>
              <a:defRPr sz="2325" b="1">
                <a:solidFill>
                  <a:srgbClr val="262626"/>
                </a:solidFill>
                <a:latin typeface="微软雅黑"/>
                <a:ea typeface="微软雅黑"/>
                <a:cs typeface="微软雅黑"/>
              </a:defRPr>
            </a:pPr>
            <a:r>
              <a:rPr sz="1860" b="1">
                <a:solidFill>
                  <a:srgbClr val="262626"/>
                </a:solidFill>
                <a:latin typeface="微软雅黑"/>
                <a:ea typeface="微软雅黑"/>
                <a:cs typeface="微软雅黑"/>
              </a:rPr>
              <a:t>模型切分与模型定义解耦</a:t>
            </a:r>
            <a:endParaRPr sz="1860" b="1">
              <a:solidFill>
                <a:srgbClr val="262626"/>
              </a:solidFill>
              <a:latin typeface="微软雅黑"/>
              <a:ea typeface="微软雅黑"/>
              <a:cs typeface="微软雅黑"/>
            </a:endParaRPr>
          </a:p>
          <a:p>
            <a:pPr algn="ctr">
              <a:lnSpc>
                <a:spcPct val="125000"/>
              </a:lnSpc>
              <a:buNone/>
              <a:defRPr sz="2325" b="1">
                <a:solidFill>
                  <a:srgbClr val="262626"/>
                </a:solidFill>
                <a:latin typeface="微软雅黑"/>
                <a:ea typeface="微软雅黑"/>
                <a:cs typeface="微软雅黑"/>
              </a:defRPr>
            </a:pPr>
            <a:r>
              <a:rPr sz="1860" b="1">
                <a:solidFill>
                  <a:srgbClr val="262626"/>
                </a:solidFill>
                <a:latin typeface="微软雅黑"/>
                <a:ea typeface="微软雅黑"/>
                <a:cs typeface="微软雅黑"/>
              </a:rPr>
              <a:t>无需手写通信逻辑</a:t>
            </a:r>
            <a:endParaRPr sz="1860" b="1">
              <a:solidFill>
                <a:srgbClr val="262626"/>
              </a:solidFill>
              <a:latin typeface="微软雅黑"/>
              <a:ea typeface="微软雅黑"/>
              <a:cs typeface="微软雅黑"/>
            </a:endParaRPr>
          </a:p>
        </p:txBody>
      </p:sp>
      <p:sp>
        <p:nvSpPr>
          <p:cNvPr id="8" name="矩形: 圆角 7"/>
          <p:cNvSpPr>
            <a:spLocks noGrp="1"/>
          </p:cNvSpPr>
          <p:nvPr/>
        </p:nvSpPr>
        <p:spPr>
          <a:xfrm>
            <a:off x="1371600" y="3695700"/>
            <a:ext cx="2438400" cy="304800"/>
          </a:xfrm>
          <a:prstGeom prst="roundRect">
            <a:avLst>
              <a:gd name="adj" fmla="val 15000"/>
            </a:avLst>
          </a:prstGeom>
          <a:solidFill>
            <a:srgbClr val="FFFFFF"/>
          </a:solidFill>
          <a:ln w="0">
            <a:noFill/>
            <a:prstDash val="solid"/>
          </a:ln>
        </p:spPr>
        <p:txBody>
          <a:bodyPr/>
          <a:lstStyle/>
          <a:p/>
        </p:txBody>
      </p:sp>
      <p:sp>
        <p:nvSpPr>
          <p:cNvPr id="9" name="矩形 8"/>
          <p:cNvSpPr>
            <a:spLocks noGrp="1"/>
          </p:cNvSpPr>
          <p:nvPr/>
        </p:nvSpPr>
        <p:spPr>
          <a:xfrm>
            <a:off x="1432560" y="3695700"/>
            <a:ext cx="2316480" cy="304800"/>
          </a:xfrm>
          <a:prstGeom prst="rect">
            <a:avLst/>
          </a:prstGeom>
          <a:noFill/>
          <a:ln w="0">
            <a:noFill/>
            <a:prstDash val="solid"/>
          </a:ln>
        </p:spPr>
        <p:txBody>
          <a:bodyPr wrap="square" lIns="0" tIns="0" rIns="0" bIns="0" anchor="ctr">
            <a:normAutofit/>
          </a:bodyPr>
          <a:lstStyle/>
          <a:p>
            <a:pPr algn="ctr">
              <a:lnSpc>
                <a:spcPct val="108000"/>
              </a:lnSpc>
              <a:buNone/>
              <a:defRPr sz="1350" b="1">
                <a:solidFill>
                  <a:srgbClr val="E60012"/>
                </a:solidFill>
                <a:latin typeface="微软雅黑"/>
                <a:ea typeface="微软雅黑"/>
                <a:cs typeface="微软雅黑"/>
              </a:defRPr>
            </a:pPr>
            <a:r>
              <a:rPr sz="1080" b="1">
                <a:solidFill>
                  <a:srgbClr val="E60012"/>
                </a:solidFill>
                <a:latin typeface="微软雅黑"/>
                <a:ea typeface="微软雅黑"/>
                <a:cs typeface="微软雅黑"/>
              </a:rPr>
              <a:t>简单易用</a:t>
            </a:r>
            <a:endParaRPr sz="1080" b="1">
              <a:solidFill>
                <a:srgbClr val="E60012"/>
              </a:solidFill>
              <a:latin typeface="微软雅黑"/>
              <a:ea typeface="微软雅黑"/>
              <a:cs typeface="微软雅黑"/>
            </a:endParaRPr>
          </a:p>
        </p:txBody>
      </p:sp>
      <p:sp>
        <p:nvSpPr>
          <p:cNvPr id="10" name="矩形 9"/>
          <p:cNvSpPr>
            <a:spLocks noGrp="1"/>
          </p:cNvSpPr>
          <p:nvPr/>
        </p:nvSpPr>
        <p:spPr>
          <a:xfrm>
            <a:off x="5257800" y="1257300"/>
            <a:ext cx="3810000" cy="365760"/>
          </a:xfrm>
          <a:prstGeom prst="rect">
            <a:avLst/>
          </a:prstGeom>
          <a:noFill/>
          <a:ln w="0">
            <a:noFill/>
            <a:prstDash val="solid"/>
          </a:ln>
        </p:spPr>
        <p:txBody>
          <a:bodyPr wrap="square" lIns="0" tIns="0" rIns="0" bIns="0" anchor="t">
            <a:normAutofit/>
          </a:bodyPr>
          <a:lstStyle/>
          <a:p>
            <a:pPr>
              <a:lnSpc>
                <a:spcPct val="108000"/>
              </a:lnSpc>
              <a:buNone/>
              <a:defRPr sz="2250" b="1">
                <a:solidFill>
                  <a:srgbClr val="262626"/>
                </a:solidFill>
                <a:latin typeface="微软雅黑"/>
                <a:ea typeface="微软雅黑"/>
                <a:cs typeface="微软雅黑"/>
              </a:defRPr>
            </a:pPr>
            <a:r>
              <a:rPr b="1">
                <a:solidFill>
                  <a:srgbClr val="262626"/>
                </a:solidFill>
                <a:latin typeface="微软雅黑"/>
                <a:ea typeface="微软雅黑"/>
                <a:cs typeface="微软雅黑"/>
              </a:rPr>
              <a:t>框架统一管理</a:t>
            </a:r>
            <a:endParaRPr b="1">
              <a:solidFill>
                <a:srgbClr val="262626"/>
              </a:solidFill>
              <a:latin typeface="微软雅黑"/>
              <a:ea typeface="微软雅黑"/>
              <a:cs typeface="微软雅黑"/>
            </a:endParaRPr>
          </a:p>
        </p:txBody>
      </p:sp>
      <p:sp>
        <p:nvSpPr>
          <p:cNvPr id="11" name="矩形 10"/>
          <p:cNvSpPr>
            <a:spLocks noGrp="1"/>
          </p:cNvSpPr>
          <p:nvPr/>
        </p:nvSpPr>
        <p:spPr>
          <a:xfrm>
            <a:off x="5257800" y="1790700"/>
            <a:ext cx="495300" cy="304800"/>
          </a:xfrm>
          <a:prstGeom prst="rect">
            <a:avLst/>
          </a:prstGeom>
          <a:noFill/>
          <a:ln w="0">
            <a:noFill/>
            <a:prstDash val="solid"/>
          </a:ln>
        </p:spPr>
        <p:txBody>
          <a:bodyPr wrap="square" lIns="0" tIns="0" rIns="0" bIns="0" anchor="t">
            <a:normAutofit/>
          </a:bodyPr>
          <a:lstStyle/>
          <a:p>
            <a:pPr>
              <a:lnSpc>
                <a:spcPct val="108000"/>
              </a:lnSpc>
              <a:buNone/>
              <a:defRPr sz="1875" b="1">
                <a:solidFill>
                  <a:srgbClr val="E60012"/>
                </a:solidFill>
                <a:latin typeface="微软雅黑"/>
                <a:ea typeface="微软雅黑"/>
                <a:cs typeface="微软雅黑"/>
              </a:defRPr>
            </a:pPr>
            <a:r>
              <a:rPr sz="1500" b="1">
                <a:solidFill>
                  <a:srgbClr val="E60012"/>
                </a:solidFill>
                <a:latin typeface="微软雅黑"/>
                <a:ea typeface="微软雅黑"/>
                <a:cs typeface="微软雅黑"/>
              </a:rPr>
              <a:t>01</a:t>
            </a:r>
            <a:endParaRPr sz="1500" b="1">
              <a:solidFill>
                <a:srgbClr val="E60012"/>
              </a:solidFill>
              <a:latin typeface="微软雅黑"/>
              <a:ea typeface="微软雅黑"/>
              <a:cs typeface="微软雅黑"/>
            </a:endParaRPr>
          </a:p>
        </p:txBody>
      </p:sp>
      <p:sp>
        <p:nvSpPr>
          <p:cNvPr id="12" name="矩形 11"/>
          <p:cNvSpPr>
            <a:spLocks noGrp="1"/>
          </p:cNvSpPr>
          <p:nvPr/>
        </p:nvSpPr>
        <p:spPr>
          <a:xfrm>
            <a:off x="5829300" y="1790700"/>
            <a:ext cx="2133600" cy="289560"/>
          </a:xfrm>
          <a:prstGeom prst="rect">
            <a:avLst/>
          </a:prstGeom>
          <a:noFill/>
          <a:ln w="0">
            <a:noFill/>
            <a:prstDash val="solid"/>
          </a:ln>
        </p:spPr>
        <p:txBody>
          <a:bodyPr wrap="square" lIns="0" tIns="0" rIns="0" bIns="0" anchor="t">
            <a:normAutofit/>
          </a:bodyPr>
          <a:lstStyle/>
          <a:p>
            <a:pPr>
              <a:lnSpc>
                <a:spcPct val="108000"/>
              </a:lnSpc>
              <a:buNone/>
              <a:defRPr sz="1875" b="1">
                <a:solidFill>
                  <a:srgbClr val="262626"/>
                </a:solidFill>
                <a:latin typeface="微软雅黑"/>
                <a:ea typeface="微软雅黑"/>
                <a:cs typeface="微软雅黑"/>
              </a:defRPr>
            </a:pPr>
            <a:r>
              <a:rPr sz="1500" b="1">
                <a:solidFill>
                  <a:srgbClr val="262626"/>
                </a:solidFill>
                <a:latin typeface="微软雅黑"/>
                <a:ea typeface="微软雅黑"/>
                <a:cs typeface="微软雅黑"/>
              </a:rPr>
              <a:t>分布式训练</a:t>
            </a:r>
            <a:endParaRPr sz="1500" b="1">
              <a:solidFill>
                <a:srgbClr val="262626"/>
              </a:solidFill>
              <a:latin typeface="微软雅黑"/>
              <a:ea typeface="微软雅黑"/>
              <a:cs typeface="微软雅黑"/>
            </a:endParaRPr>
          </a:p>
        </p:txBody>
      </p:sp>
      <p:sp>
        <p:nvSpPr>
          <p:cNvPr id="13" name="矩形 12"/>
          <p:cNvSpPr>
            <a:spLocks noGrp="1"/>
          </p:cNvSpPr>
          <p:nvPr/>
        </p:nvSpPr>
        <p:spPr>
          <a:xfrm>
            <a:off x="5829300" y="2156460"/>
            <a:ext cx="2209800" cy="419100"/>
          </a:xfrm>
          <a:prstGeom prst="rect">
            <a:avLst/>
          </a:prstGeom>
          <a:noFill/>
          <a:ln w="0">
            <a:noFill/>
            <a:prstDash val="solid"/>
          </a:ln>
        </p:spPr>
        <p:txBody>
          <a:bodyPr wrap="square" lIns="0" tIns="0" rIns="0" bIns="0" anchor="t">
            <a:normAutofit fontScale="68144"/>
          </a:bodyPr>
          <a:lstStyle/>
          <a:p>
            <a:pPr>
              <a:lnSpc>
                <a:spcPct val="118000"/>
              </a:lnSpc>
              <a:buNone/>
              <a:defRPr sz="1425" b="0">
                <a:solidFill>
                  <a:srgbClr val="666666"/>
                </a:solidFill>
                <a:latin typeface="微软雅黑"/>
                <a:ea typeface="微软雅黑"/>
                <a:cs typeface="微软雅黑"/>
              </a:defRPr>
            </a:pPr>
            <a:r>
              <a:rPr sz="1140">
                <a:solidFill>
                  <a:srgbClr val="666666"/>
                </a:solidFill>
                <a:latin typeface="微软雅黑"/>
                <a:ea typeface="微软雅黑"/>
                <a:cs typeface="微软雅黑"/>
              </a:rPr>
              <a:t>Fully Sharded Data Parallel（FSDP，完全分片数据并行）参数分片与并行策略</a:t>
            </a:r>
            <a:endParaRPr sz="1140">
              <a:solidFill>
                <a:srgbClr val="666666"/>
              </a:solidFill>
              <a:latin typeface="微软雅黑"/>
              <a:ea typeface="微软雅黑"/>
              <a:cs typeface="微软雅黑"/>
            </a:endParaRPr>
          </a:p>
        </p:txBody>
      </p:sp>
      <p:sp>
        <p:nvSpPr>
          <p:cNvPr id="14" name="矩形 13"/>
          <p:cNvSpPr>
            <a:spLocks noGrp="1"/>
          </p:cNvSpPr>
          <p:nvPr/>
        </p:nvSpPr>
        <p:spPr>
          <a:xfrm>
            <a:off x="8229600" y="1790700"/>
            <a:ext cx="495300" cy="304800"/>
          </a:xfrm>
          <a:prstGeom prst="rect">
            <a:avLst/>
          </a:prstGeom>
          <a:noFill/>
          <a:ln w="0">
            <a:noFill/>
            <a:prstDash val="solid"/>
          </a:ln>
        </p:spPr>
        <p:txBody>
          <a:bodyPr wrap="square" lIns="0" tIns="0" rIns="0" bIns="0" anchor="t">
            <a:normAutofit/>
          </a:bodyPr>
          <a:lstStyle/>
          <a:p>
            <a:pPr>
              <a:lnSpc>
                <a:spcPct val="108000"/>
              </a:lnSpc>
              <a:buNone/>
              <a:defRPr sz="1875" b="1">
                <a:solidFill>
                  <a:srgbClr val="377DFF"/>
                </a:solidFill>
                <a:latin typeface="微软雅黑"/>
                <a:ea typeface="微软雅黑"/>
                <a:cs typeface="微软雅黑"/>
              </a:defRPr>
            </a:pPr>
            <a:r>
              <a:rPr sz="1500" b="1">
                <a:solidFill>
                  <a:srgbClr val="377DFF"/>
                </a:solidFill>
                <a:latin typeface="微软雅黑"/>
                <a:ea typeface="微软雅黑"/>
                <a:cs typeface="微软雅黑"/>
              </a:rPr>
              <a:t>02</a:t>
            </a:r>
            <a:endParaRPr sz="1500" b="1">
              <a:solidFill>
                <a:srgbClr val="377DFF"/>
              </a:solidFill>
              <a:latin typeface="微软雅黑"/>
              <a:ea typeface="微软雅黑"/>
              <a:cs typeface="微软雅黑"/>
            </a:endParaRPr>
          </a:p>
        </p:txBody>
      </p:sp>
      <p:sp>
        <p:nvSpPr>
          <p:cNvPr id="15" name="矩形 14"/>
          <p:cNvSpPr>
            <a:spLocks noGrp="1"/>
          </p:cNvSpPr>
          <p:nvPr/>
        </p:nvSpPr>
        <p:spPr>
          <a:xfrm>
            <a:off x="8801100" y="1790700"/>
            <a:ext cx="2133600" cy="289560"/>
          </a:xfrm>
          <a:prstGeom prst="rect">
            <a:avLst/>
          </a:prstGeom>
          <a:noFill/>
          <a:ln w="0">
            <a:noFill/>
            <a:prstDash val="solid"/>
          </a:ln>
        </p:spPr>
        <p:txBody>
          <a:bodyPr wrap="square" lIns="0" tIns="0" rIns="0" bIns="0" anchor="t">
            <a:normAutofit/>
          </a:bodyPr>
          <a:lstStyle/>
          <a:p>
            <a:pPr>
              <a:lnSpc>
                <a:spcPct val="108000"/>
              </a:lnSpc>
              <a:buNone/>
              <a:defRPr sz="1875" b="1">
                <a:solidFill>
                  <a:srgbClr val="262626"/>
                </a:solidFill>
                <a:latin typeface="微软雅黑"/>
                <a:ea typeface="微软雅黑"/>
                <a:cs typeface="微软雅黑"/>
              </a:defRPr>
            </a:pPr>
            <a:r>
              <a:rPr sz="1500" b="1">
                <a:solidFill>
                  <a:srgbClr val="262626"/>
                </a:solidFill>
                <a:latin typeface="微软雅黑"/>
                <a:ea typeface="微软雅黑"/>
                <a:cs typeface="微软雅黑"/>
              </a:rPr>
              <a:t>数据处理</a:t>
            </a:r>
            <a:endParaRPr sz="1500" b="1">
              <a:solidFill>
                <a:srgbClr val="262626"/>
              </a:solidFill>
              <a:latin typeface="微软雅黑"/>
              <a:ea typeface="微软雅黑"/>
              <a:cs typeface="微软雅黑"/>
            </a:endParaRPr>
          </a:p>
        </p:txBody>
      </p:sp>
      <p:sp>
        <p:nvSpPr>
          <p:cNvPr id="16" name="矩形 15"/>
          <p:cNvSpPr>
            <a:spLocks noGrp="1"/>
          </p:cNvSpPr>
          <p:nvPr/>
        </p:nvSpPr>
        <p:spPr>
          <a:xfrm>
            <a:off x="8801100" y="2156460"/>
            <a:ext cx="2209800" cy="419100"/>
          </a:xfrm>
          <a:prstGeom prst="rect">
            <a:avLst/>
          </a:prstGeom>
          <a:noFill/>
          <a:ln w="0">
            <a:noFill/>
            <a:prstDash val="solid"/>
          </a:ln>
        </p:spPr>
        <p:txBody>
          <a:bodyPr wrap="square" lIns="0" tIns="0" rIns="0" bIns="0" anchor="t">
            <a:normAutofit/>
          </a:bodyPr>
          <a:lstStyle/>
          <a:p>
            <a:pPr>
              <a:lnSpc>
                <a:spcPct val="118000"/>
              </a:lnSpc>
              <a:buNone/>
              <a:defRPr sz="1425" b="0">
                <a:solidFill>
                  <a:srgbClr val="666666"/>
                </a:solidFill>
                <a:latin typeface="微软雅黑"/>
                <a:ea typeface="微软雅黑"/>
                <a:cs typeface="微软雅黑"/>
              </a:defRPr>
            </a:pPr>
            <a:r>
              <a:rPr sz="1140">
                <a:solidFill>
                  <a:srgbClr val="666666"/>
                </a:solidFill>
                <a:latin typeface="微软雅黑"/>
                <a:ea typeface="微软雅黑"/>
                <a:cs typeface="微软雅黑"/>
              </a:rPr>
              <a:t>tokenization、label masking、batch</a:t>
            </a:r>
            <a:endParaRPr sz="1140">
              <a:solidFill>
                <a:srgbClr val="666666"/>
              </a:solidFill>
              <a:latin typeface="微软雅黑"/>
              <a:ea typeface="微软雅黑"/>
              <a:cs typeface="微软雅黑"/>
            </a:endParaRPr>
          </a:p>
        </p:txBody>
      </p:sp>
      <p:sp>
        <p:nvSpPr>
          <p:cNvPr id="17" name="矩形 16"/>
          <p:cNvSpPr>
            <a:spLocks noGrp="1"/>
          </p:cNvSpPr>
          <p:nvPr/>
        </p:nvSpPr>
        <p:spPr>
          <a:xfrm>
            <a:off x="5257800" y="2857500"/>
            <a:ext cx="495300" cy="304800"/>
          </a:xfrm>
          <a:prstGeom prst="rect">
            <a:avLst/>
          </a:prstGeom>
          <a:noFill/>
          <a:ln w="0">
            <a:noFill/>
            <a:prstDash val="solid"/>
          </a:ln>
        </p:spPr>
        <p:txBody>
          <a:bodyPr wrap="square" lIns="0" tIns="0" rIns="0" bIns="0" anchor="t">
            <a:normAutofit/>
          </a:bodyPr>
          <a:lstStyle/>
          <a:p>
            <a:pPr>
              <a:lnSpc>
                <a:spcPct val="108000"/>
              </a:lnSpc>
              <a:buNone/>
              <a:defRPr sz="1875" b="1">
                <a:solidFill>
                  <a:srgbClr val="E60012"/>
                </a:solidFill>
                <a:latin typeface="微软雅黑"/>
                <a:ea typeface="微软雅黑"/>
                <a:cs typeface="微软雅黑"/>
              </a:defRPr>
            </a:pPr>
            <a:r>
              <a:rPr sz="1500" b="1">
                <a:solidFill>
                  <a:srgbClr val="E60012"/>
                </a:solidFill>
                <a:latin typeface="微软雅黑"/>
                <a:ea typeface="微软雅黑"/>
                <a:cs typeface="微软雅黑"/>
              </a:rPr>
              <a:t>03</a:t>
            </a:r>
            <a:endParaRPr sz="1500" b="1">
              <a:solidFill>
                <a:srgbClr val="E60012"/>
              </a:solidFill>
              <a:latin typeface="微软雅黑"/>
              <a:ea typeface="微软雅黑"/>
              <a:cs typeface="微软雅黑"/>
            </a:endParaRPr>
          </a:p>
        </p:txBody>
      </p:sp>
      <p:sp>
        <p:nvSpPr>
          <p:cNvPr id="18" name="矩形 17"/>
          <p:cNvSpPr>
            <a:spLocks noGrp="1"/>
          </p:cNvSpPr>
          <p:nvPr/>
        </p:nvSpPr>
        <p:spPr>
          <a:xfrm>
            <a:off x="5829300" y="2857500"/>
            <a:ext cx="2133600" cy="289560"/>
          </a:xfrm>
          <a:prstGeom prst="rect">
            <a:avLst/>
          </a:prstGeom>
          <a:noFill/>
          <a:ln w="0">
            <a:noFill/>
            <a:prstDash val="solid"/>
          </a:ln>
        </p:spPr>
        <p:txBody>
          <a:bodyPr wrap="square" lIns="0" tIns="0" rIns="0" bIns="0" anchor="t">
            <a:normAutofit/>
          </a:bodyPr>
          <a:lstStyle/>
          <a:p>
            <a:pPr>
              <a:lnSpc>
                <a:spcPct val="108000"/>
              </a:lnSpc>
              <a:buNone/>
              <a:defRPr sz="1875" b="1">
                <a:solidFill>
                  <a:srgbClr val="262626"/>
                </a:solidFill>
                <a:latin typeface="微软雅黑"/>
                <a:ea typeface="微软雅黑"/>
                <a:cs typeface="微软雅黑"/>
              </a:defRPr>
            </a:pPr>
            <a:r>
              <a:rPr lang="en-US" sz="1500" b="1">
                <a:solidFill>
                  <a:srgbClr val="262626"/>
                </a:solidFill>
                <a:latin typeface="微软雅黑"/>
                <a:ea typeface="微软雅黑"/>
                <a:cs typeface="微软雅黑"/>
              </a:rPr>
              <a:t>checkpoint</a:t>
            </a:r>
            <a:endParaRPr lang="en-US" sz="1500" b="1">
              <a:solidFill>
                <a:srgbClr val="262626"/>
              </a:solidFill>
              <a:latin typeface="微软雅黑"/>
              <a:ea typeface="微软雅黑"/>
              <a:cs typeface="微软雅黑"/>
            </a:endParaRPr>
          </a:p>
        </p:txBody>
      </p:sp>
      <p:sp>
        <p:nvSpPr>
          <p:cNvPr id="19" name="矩形 18"/>
          <p:cNvSpPr>
            <a:spLocks noGrp="1"/>
          </p:cNvSpPr>
          <p:nvPr/>
        </p:nvSpPr>
        <p:spPr>
          <a:xfrm>
            <a:off x="5829300" y="3223260"/>
            <a:ext cx="2209800" cy="419100"/>
          </a:xfrm>
          <a:prstGeom prst="rect">
            <a:avLst/>
          </a:prstGeom>
          <a:noFill/>
          <a:ln w="0">
            <a:noFill/>
            <a:prstDash val="solid"/>
          </a:ln>
        </p:spPr>
        <p:txBody>
          <a:bodyPr wrap="square" lIns="0" tIns="0" rIns="0" bIns="0" anchor="t">
            <a:normAutofit/>
          </a:bodyPr>
          <a:lstStyle/>
          <a:p>
            <a:pPr>
              <a:lnSpc>
                <a:spcPct val="118000"/>
              </a:lnSpc>
              <a:buNone/>
              <a:defRPr sz="1425" b="0">
                <a:solidFill>
                  <a:srgbClr val="666666"/>
                </a:solidFill>
                <a:latin typeface="微软雅黑"/>
                <a:ea typeface="微软雅黑"/>
                <a:cs typeface="微软雅黑"/>
              </a:defRPr>
            </a:pPr>
            <a:r>
              <a:rPr sz="1140">
                <a:solidFill>
                  <a:srgbClr val="666666"/>
                </a:solidFill>
                <a:latin typeface="微软雅黑"/>
                <a:ea typeface="微软雅黑"/>
                <a:cs typeface="微软雅黑"/>
              </a:rPr>
              <a:t>中断恢复与 HF 权重导入导出</a:t>
            </a:r>
            <a:endParaRPr sz="1140">
              <a:solidFill>
                <a:srgbClr val="666666"/>
              </a:solidFill>
              <a:latin typeface="微软雅黑"/>
              <a:ea typeface="微软雅黑"/>
              <a:cs typeface="微软雅黑"/>
            </a:endParaRPr>
          </a:p>
        </p:txBody>
      </p:sp>
      <p:sp>
        <p:nvSpPr>
          <p:cNvPr id="20" name="矩形 19"/>
          <p:cNvSpPr>
            <a:spLocks noGrp="1"/>
          </p:cNvSpPr>
          <p:nvPr/>
        </p:nvSpPr>
        <p:spPr>
          <a:xfrm>
            <a:off x="8229600" y="2857500"/>
            <a:ext cx="495300" cy="304800"/>
          </a:xfrm>
          <a:prstGeom prst="rect">
            <a:avLst/>
          </a:prstGeom>
          <a:noFill/>
          <a:ln w="0">
            <a:noFill/>
            <a:prstDash val="solid"/>
          </a:ln>
        </p:spPr>
        <p:txBody>
          <a:bodyPr wrap="square" lIns="0" tIns="0" rIns="0" bIns="0" anchor="t">
            <a:normAutofit/>
          </a:bodyPr>
          <a:lstStyle/>
          <a:p>
            <a:pPr>
              <a:lnSpc>
                <a:spcPct val="108000"/>
              </a:lnSpc>
              <a:buNone/>
              <a:defRPr sz="1875" b="1">
                <a:solidFill>
                  <a:srgbClr val="377DFF"/>
                </a:solidFill>
                <a:latin typeface="微软雅黑"/>
                <a:ea typeface="微软雅黑"/>
                <a:cs typeface="微软雅黑"/>
              </a:defRPr>
            </a:pPr>
            <a:r>
              <a:rPr sz="1500" b="1">
                <a:solidFill>
                  <a:srgbClr val="377DFF"/>
                </a:solidFill>
                <a:latin typeface="微软雅黑"/>
                <a:ea typeface="微软雅黑"/>
                <a:cs typeface="微软雅黑"/>
              </a:rPr>
              <a:t>04</a:t>
            </a:r>
            <a:endParaRPr sz="1500" b="1">
              <a:solidFill>
                <a:srgbClr val="377DFF"/>
              </a:solidFill>
              <a:latin typeface="微软雅黑"/>
              <a:ea typeface="微软雅黑"/>
              <a:cs typeface="微软雅黑"/>
            </a:endParaRPr>
          </a:p>
        </p:txBody>
      </p:sp>
      <p:sp>
        <p:nvSpPr>
          <p:cNvPr id="21" name="矩形 20"/>
          <p:cNvSpPr>
            <a:spLocks noGrp="1"/>
          </p:cNvSpPr>
          <p:nvPr/>
        </p:nvSpPr>
        <p:spPr>
          <a:xfrm>
            <a:off x="8801100" y="2857500"/>
            <a:ext cx="2133600" cy="289560"/>
          </a:xfrm>
          <a:prstGeom prst="rect">
            <a:avLst/>
          </a:prstGeom>
          <a:noFill/>
          <a:ln w="0">
            <a:noFill/>
            <a:prstDash val="solid"/>
          </a:ln>
        </p:spPr>
        <p:txBody>
          <a:bodyPr wrap="square" lIns="0" tIns="0" rIns="0" bIns="0" anchor="t">
            <a:normAutofit/>
          </a:bodyPr>
          <a:lstStyle/>
          <a:p>
            <a:pPr>
              <a:lnSpc>
                <a:spcPct val="108000"/>
              </a:lnSpc>
              <a:buNone/>
              <a:defRPr sz="1875" b="1">
                <a:solidFill>
                  <a:srgbClr val="262626"/>
                </a:solidFill>
                <a:latin typeface="微软雅黑"/>
                <a:ea typeface="微软雅黑"/>
                <a:cs typeface="微软雅黑"/>
              </a:defRPr>
            </a:pPr>
            <a:r>
              <a:rPr sz="1500" b="1">
                <a:solidFill>
                  <a:srgbClr val="262626"/>
                </a:solidFill>
                <a:latin typeface="微软雅黑"/>
                <a:ea typeface="微软雅黑"/>
                <a:cs typeface="微软雅黑"/>
              </a:rPr>
              <a:t>混合精度</a:t>
            </a:r>
            <a:endParaRPr sz="1500" b="1">
              <a:solidFill>
                <a:srgbClr val="262626"/>
              </a:solidFill>
              <a:latin typeface="微软雅黑"/>
              <a:ea typeface="微软雅黑"/>
              <a:cs typeface="微软雅黑"/>
            </a:endParaRPr>
          </a:p>
        </p:txBody>
      </p:sp>
      <p:sp>
        <p:nvSpPr>
          <p:cNvPr id="22" name="矩形 21"/>
          <p:cNvSpPr>
            <a:spLocks noGrp="1"/>
          </p:cNvSpPr>
          <p:nvPr/>
        </p:nvSpPr>
        <p:spPr>
          <a:xfrm>
            <a:off x="8801100" y="3223260"/>
            <a:ext cx="2209800" cy="419100"/>
          </a:xfrm>
          <a:prstGeom prst="rect">
            <a:avLst/>
          </a:prstGeom>
          <a:noFill/>
          <a:ln w="0">
            <a:noFill/>
            <a:prstDash val="solid"/>
          </a:ln>
        </p:spPr>
        <p:txBody>
          <a:bodyPr wrap="square" lIns="0" tIns="0" rIns="0" bIns="0" anchor="t">
            <a:normAutofit/>
          </a:bodyPr>
          <a:lstStyle/>
          <a:p>
            <a:pPr>
              <a:lnSpc>
                <a:spcPct val="118000"/>
              </a:lnSpc>
              <a:buNone/>
              <a:defRPr sz="1425" b="0">
                <a:solidFill>
                  <a:srgbClr val="666666"/>
                </a:solidFill>
                <a:latin typeface="微软雅黑"/>
                <a:ea typeface="微软雅黑"/>
                <a:cs typeface="微软雅黑"/>
              </a:defRPr>
            </a:pPr>
            <a:r>
              <a:rPr sz="1140">
                <a:solidFill>
                  <a:srgbClr val="666666"/>
                </a:solidFill>
                <a:latin typeface="微软雅黑"/>
                <a:ea typeface="微软雅黑"/>
                <a:cs typeface="微软雅黑"/>
              </a:rPr>
              <a:t>fp32 / bf16 切换以节省显存</a:t>
            </a:r>
            <a:endParaRPr sz="1140">
              <a:solidFill>
                <a:srgbClr val="666666"/>
              </a:solidFill>
              <a:latin typeface="微软雅黑"/>
              <a:ea typeface="微软雅黑"/>
              <a:cs typeface="微软雅黑"/>
            </a:endParaRPr>
          </a:p>
        </p:txBody>
      </p:sp>
      <p:sp>
        <p:nvSpPr>
          <p:cNvPr id="23" name="矩形 22"/>
          <p:cNvSpPr>
            <a:spLocks noGrp="1"/>
          </p:cNvSpPr>
          <p:nvPr/>
        </p:nvSpPr>
        <p:spPr>
          <a:xfrm>
            <a:off x="5257800" y="3924300"/>
            <a:ext cx="495300" cy="304800"/>
          </a:xfrm>
          <a:prstGeom prst="rect">
            <a:avLst/>
          </a:prstGeom>
          <a:noFill/>
          <a:ln w="0">
            <a:noFill/>
            <a:prstDash val="solid"/>
          </a:ln>
        </p:spPr>
        <p:txBody>
          <a:bodyPr wrap="square" lIns="0" tIns="0" rIns="0" bIns="0" anchor="t">
            <a:normAutofit/>
          </a:bodyPr>
          <a:lstStyle/>
          <a:p>
            <a:pPr>
              <a:lnSpc>
                <a:spcPct val="108000"/>
              </a:lnSpc>
              <a:buNone/>
              <a:defRPr sz="1875" b="1">
                <a:solidFill>
                  <a:srgbClr val="E60012"/>
                </a:solidFill>
                <a:latin typeface="微软雅黑"/>
                <a:ea typeface="微软雅黑"/>
                <a:cs typeface="微软雅黑"/>
              </a:defRPr>
            </a:pPr>
            <a:r>
              <a:rPr sz="1500" b="1">
                <a:solidFill>
                  <a:srgbClr val="E60012"/>
                </a:solidFill>
                <a:latin typeface="微软雅黑"/>
                <a:ea typeface="微软雅黑"/>
                <a:cs typeface="微软雅黑"/>
              </a:rPr>
              <a:t>05</a:t>
            </a:r>
            <a:endParaRPr sz="1500" b="1">
              <a:solidFill>
                <a:srgbClr val="E60012"/>
              </a:solidFill>
              <a:latin typeface="微软雅黑"/>
              <a:ea typeface="微软雅黑"/>
              <a:cs typeface="微软雅黑"/>
            </a:endParaRPr>
          </a:p>
        </p:txBody>
      </p:sp>
      <p:sp>
        <p:nvSpPr>
          <p:cNvPr id="24" name="矩形 23"/>
          <p:cNvSpPr>
            <a:spLocks noGrp="1"/>
          </p:cNvSpPr>
          <p:nvPr/>
        </p:nvSpPr>
        <p:spPr>
          <a:xfrm>
            <a:off x="5829300" y="3924300"/>
            <a:ext cx="2133600" cy="289560"/>
          </a:xfrm>
          <a:prstGeom prst="rect">
            <a:avLst/>
          </a:prstGeom>
          <a:noFill/>
          <a:ln w="0">
            <a:noFill/>
            <a:prstDash val="solid"/>
          </a:ln>
        </p:spPr>
        <p:txBody>
          <a:bodyPr wrap="square" lIns="0" tIns="0" rIns="0" bIns="0" anchor="t">
            <a:normAutofit/>
          </a:bodyPr>
          <a:lstStyle/>
          <a:p>
            <a:pPr>
              <a:lnSpc>
                <a:spcPct val="108000"/>
              </a:lnSpc>
              <a:buNone/>
              <a:defRPr sz="1875" b="1">
                <a:solidFill>
                  <a:srgbClr val="262626"/>
                </a:solidFill>
                <a:latin typeface="微软雅黑"/>
                <a:ea typeface="微软雅黑"/>
                <a:cs typeface="微软雅黑"/>
              </a:defRPr>
            </a:pPr>
            <a:r>
              <a:rPr sz="1500" b="1">
                <a:solidFill>
                  <a:srgbClr val="262626"/>
                </a:solidFill>
                <a:latin typeface="微软雅黑"/>
                <a:ea typeface="微软雅黑"/>
                <a:cs typeface="微软雅黑"/>
              </a:rPr>
              <a:t>优化器</a:t>
            </a:r>
            <a:endParaRPr sz="1500" b="1">
              <a:solidFill>
                <a:srgbClr val="262626"/>
              </a:solidFill>
              <a:latin typeface="微软雅黑"/>
              <a:ea typeface="微软雅黑"/>
              <a:cs typeface="微软雅黑"/>
            </a:endParaRPr>
          </a:p>
        </p:txBody>
      </p:sp>
      <p:sp>
        <p:nvSpPr>
          <p:cNvPr id="25" name="矩形 24"/>
          <p:cNvSpPr>
            <a:spLocks noGrp="1"/>
          </p:cNvSpPr>
          <p:nvPr/>
        </p:nvSpPr>
        <p:spPr>
          <a:xfrm>
            <a:off x="5829300" y="4290060"/>
            <a:ext cx="2209800" cy="419100"/>
          </a:xfrm>
          <a:prstGeom prst="rect">
            <a:avLst/>
          </a:prstGeom>
          <a:noFill/>
          <a:ln w="0">
            <a:noFill/>
            <a:prstDash val="solid"/>
          </a:ln>
        </p:spPr>
        <p:txBody>
          <a:bodyPr wrap="square" lIns="0" tIns="0" rIns="0" bIns="0" anchor="t">
            <a:normAutofit/>
          </a:bodyPr>
          <a:lstStyle/>
          <a:p>
            <a:pPr>
              <a:lnSpc>
                <a:spcPct val="118000"/>
              </a:lnSpc>
              <a:buNone/>
              <a:defRPr sz="1425" b="0">
                <a:solidFill>
                  <a:srgbClr val="666666"/>
                </a:solidFill>
                <a:latin typeface="微软雅黑"/>
                <a:ea typeface="微软雅黑"/>
                <a:cs typeface="微软雅黑"/>
              </a:defRPr>
            </a:pPr>
            <a:r>
              <a:rPr sz="1140">
                <a:solidFill>
                  <a:srgbClr val="666666"/>
                </a:solidFill>
                <a:latin typeface="微软雅黑"/>
                <a:ea typeface="微软雅黑"/>
                <a:cs typeface="微软雅黑"/>
              </a:rPr>
              <a:t>Adam 状态与学习率调度</a:t>
            </a:r>
            <a:endParaRPr sz="1140">
              <a:solidFill>
                <a:srgbClr val="666666"/>
              </a:solidFill>
              <a:latin typeface="微软雅黑"/>
              <a:ea typeface="微软雅黑"/>
              <a:cs typeface="微软雅黑"/>
            </a:endParaRPr>
          </a:p>
        </p:txBody>
      </p:sp>
      <p:sp>
        <p:nvSpPr>
          <p:cNvPr id="26" name="矩形 25"/>
          <p:cNvSpPr>
            <a:spLocks noGrp="1"/>
          </p:cNvSpPr>
          <p:nvPr/>
        </p:nvSpPr>
        <p:spPr>
          <a:xfrm>
            <a:off x="8229600" y="3924300"/>
            <a:ext cx="495300" cy="304800"/>
          </a:xfrm>
          <a:prstGeom prst="rect">
            <a:avLst/>
          </a:prstGeom>
          <a:noFill/>
          <a:ln w="0">
            <a:noFill/>
            <a:prstDash val="solid"/>
          </a:ln>
        </p:spPr>
        <p:txBody>
          <a:bodyPr wrap="square" lIns="0" tIns="0" rIns="0" bIns="0" anchor="t">
            <a:normAutofit/>
          </a:bodyPr>
          <a:lstStyle/>
          <a:p>
            <a:pPr>
              <a:lnSpc>
                <a:spcPct val="108000"/>
              </a:lnSpc>
              <a:buNone/>
              <a:defRPr sz="1875" b="1">
                <a:solidFill>
                  <a:srgbClr val="377DFF"/>
                </a:solidFill>
                <a:latin typeface="微软雅黑"/>
                <a:ea typeface="微软雅黑"/>
                <a:cs typeface="微软雅黑"/>
              </a:defRPr>
            </a:pPr>
            <a:r>
              <a:rPr sz="1500" b="1">
                <a:solidFill>
                  <a:srgbClr val="377DFF"/>
                </a:solidFill>
                <a:latin typeface="微软雅黑"/>
                <a:ea typeface="微软雅黑"/>
                <a:cs typeface="微软雅黑"/>
              </a:rPr>
              <a:t>06</a:t>
            </a:r>
            <a:endParaRPr sz="1500" b="1">
              <a:solidFill>
                <a:srgbClr val="377DFF"/>
              </a:solidFill>
              <a:latin typeface="微软雅黑"/>
              <a:ea typeface="微软雅黑"/>
              <a:cs typeface="微软雅黑"/>
            </a:endParaRPr>
          </a:p>
        </p:txBody>
      </p:sp>
      <p:sp>
        <p:nvSpPr>
          <p:cNvPr id="27" name="矩形 26"/>
          <p:cNvSpPr>
            <a:spLocks noGrp="1"/>
          </p:cNvSpPr>
          <p:nvPr/>
        </p:nvSpPr>
        <p:spPr>
          <a:xfrm>
            <a:off x="8801100" y="3924300"/>
            <a:ext cx="2133600" cy="289560"/>
          </a:xfrm>
          <a:prstGeom prst="rect">
            <a:avLst/>
          </a:prstGeom>
          <a:noFill/>
          <a:ln w="0">
            <a:noFill/>
            <a:prstDash val="solid"/>
          </a:ln>
        </p:spPr>
        <p:txBody>
          <a:bodyPr wrap="square" lIns="0" tIns="0" rIns="0" bIns="0" anchor="t">
            <a:normAutofit/>
          </a:bodyPr>
          <a:lstStyle/>
          <a:p>
            <a:pPr>
              <a:lnSpc>
                <a:spcPct val="108000"/>
              </a:lnSpc>
              <a:buNone/>
              <a:defRPr sz="1875" b="1">
                <a:solidFill>
                  <a:srgbClr val="262626"/>
                </a:solidFill>
                <a:latin typeface="微软雅黑"/>
                <a:ea typeface="微软雅黑"/>
                <a:cs typeface="微软雅黑"/>
              </a:defRPr>
            </a:pPr>
            <a:r>
              <a:rPr sz="1500" b="1">
                <a:solidFill>
                  <a:srgbClr val="262626"/>
                </a:solidFill>
                <a:latin typeface="微软雅黑"/>
                <a:ea typeface="微软雅黑"/>
                <a:cs typeface="微软雅黑"/>
              </a:rPr>
              <a:t>性能监控</a:t>
            </a:r>
            <a:endParaRPr sz="1500" b="1">
              <a:solidFill>
                <a:srgbClr val="262626"/>
              </a:solidFill>
              <a:latin typeface="微软雅黑"/>
              <a:ea typeface="微软雅黑"/>
              <a:cs typeface="微软雅黑"/>
            </a:endParaRPr>
          </a:p>
        </p:txBody>
      </p:sp>
      <p:sp>
        <p:nvSpPr>
          <p:cNvPr id="28" name="矩形 27"/>
          <p:cNvSpPr>
            <a:spLocks noGrp="1"/>
          </p:cNvSpPr>
          <p:nvPr/>
        </p:nvSpPr>
        <p:spPr>
          <a:xfrm>
            <a:off x="8801100" y="4290060"/>
            <a:ext cx="2209800" cy="419100"/>
          </a:xfrm>
          <a:prstGeom prst="rect">
            <a:avLst/>
          </a:prstGeom>
          <a:noFill/>
          <a:ln w="0">
            <a:noFill/>
            <a:prstDash val="solid"/>
          </a:ln>
        </p:spPr>
        <p:txBody>
          <a:bodyPr wrap="square" lIns="0" tIns="0" rIns="0" bIns="0" anchor="t">
            <a:normAutofit/>
          </a:bodyPr>
          <a:lstStyle/>
          <a:p>
            <a:pPr>
              <a:lnSpc>
                <a:spcPct val="118000"/>
              </a:lnSpc>
              <a:buNone/>
              <a:defRPr sz="1425" b="0">
                <a:solidFill>
                  <a:srgbClr val="666666"/>
                </a:solidFill>
                <a:latin typeface="微软雅黑"/>
                <a:ea typeface="微软雅黑"/>
                <a:cs typeface="微软雅黑"/>
              </a:defRPr>
            </a:pPr>
            <a:r>
              <a:rPr sz="1140">
                <a:solidFill>
                  <a:srgbClr val="666666"/>
                </a:solidFill>
                <a:latin typeface="微软雅黑"/>
                <a:ea typeface="微软雅黑"/>
                <a:cs typeface="微软雅黑"/>
              </a:rPr>
              <a:t>loss、grad norm、吞吐量日志</a:t>
            </a:r>
            <a:endParaRPr sz="1140">
              <a:solidFill>
                <a:srgbClr val="666666"/>
              </a:solidFill>
              <a:latin typeface="微软雅黑"/>
              <a:ea typeface="微软雅黑"/>
              <a:cs typeface="微软雅黑"/>
            </a:endParaRPr>
          </a:p>
        </p:txBody>
      </p:sp>
      <p:sp>
        <p:nvSpPr>
          <p:cNvPr id="29" name="矩形 28"/>
          <p:cNvSpPr>
            <a:spLocks noGrp="1"/>
          </p:cNvSpPr>
          <p:nvPr/>
        </p:nvSpPr>
        <p:spPr>
          <a:xfrm>
            <a:off x="1676400" y="5257800"/>
            <a:ext cx="8839200" cy="396240"/>
          </a:xfrm>
          <a:prstGeom prst="rect">
            <a:avLst/>
          </a:prstGeom>
          <a:noFill/>
          <a:ln w="0">
            <a:noFill/>
            <a:prstDash val="solid"/>
          </a:ln>
        </p:spPr>
        <p:txBody>
          <a:bodyPr wrap="square" lIns="0" tIns="0" rIns="0" bIns="0" anchor="t">
            <a:normAutofit/>
          </a:bodyPr>
          <a:lstStyle/>
          <a:p>
            <a:pPr algn="ctr">
              <a:lnSpc>
                <a:spcPct val="108000"/>
              </a:lnSpc>
              <a:buNone/>
              <a:defRPr sz="2025" b="1">
                <a:solidFill>
                  <a:srgbClr val="E60012"/>
                </a:solidFill>
                <a:latin typeface="微软雅黑"/>
                <a:ea typeface="微软雅黑"/>
                <a:cs typeface="微软雅黑"/>
              </a:defRPr>
            </a:pPr>
            <a:r>
              <a:rPr sz="1620" b="1">
                <a:solidFill>
                  <a:srgbClr val="E60012"/>
                </a:solidFill>
                <a:latin typeface="微软雅黑"/>
                <a:ea typeface="微软雅黑"/>
                <a:cs typeface="微软雅黑"/>
              </a:rPr>
              <a:t>TorchTitan</a:t>
            </a:r>
            <a:r>
              <a:rPr sz="1620" b="1">
                <a:solidFill>
                  <a:srgbClr val="E60012"/>
                </a:solidFill>
                <a:latin typeface="微软雅黑"/>
                <a:ea typeface="微软雅黑"/>
                <a:cs typeface="微软雅黑"/>
              </a:rPr>
              <a:t> </a:t>
            </a:r>
            <a:r>
              <a:rPr sz="1620" b="1">
                <a:solidFill>
                  <a:srgbClr val="E60012"/>
                </a:solidFill>
                <a:latin typeface="微软雅黑"/>
                <a:ea typeface="微软雅黑"/>
                <a:cs typeface="微软雅黑"/>
              </a:rPr>
              <a:t>是</a:t>
            </a:r>
            <a:r>
              <a:rPr sz="1620" b="1">
                <a:solidFill>
                  <a:srgbClr val="E60012"/>
                </a:solidFill>
                <a:latin typeface="微软雅黑"/>
                <a:ea typeface="微软雅黑"/>
                <a:cs typeface="微软雅黑"/>
              </a:rPr>
              <a:t>PyTorch</a:t>
            </a:r>
            <a:r>
              <a:rPr sz="1620" b="1">
                <a:solidFill>
                  <a:srgbClr val="E60012"/>
                </a:solidFill>
                <a:latin typeface="微软雅黑"/>
                <a:ea typeface="微软雅黑"/>
                <a:cs typeface="微软雅黑"/>
              </a:rPr>
              <a:t>社区原生大模型训练框架，便于复用开源方案并降低迁移门槛</a:t>
            </a:r>
            <a:r>
              <a:rPr sz="1620" b="1">
                <a:solidFill>
                  <a:srgbClr val="E60012"/>
                </a:solidFill>
                <a:latin typeface="微软雅黑"/>
                <a:ea typeface="微软雅黑"/>
                <a:cs typeface="微软雅黑"/>
              </a:rPr>
              <a:t>。</a:t>
            </a:r>
            <a:endParaRPr sz="1620" b="1">
              <a:solidFill>
                <a:srgbClr val="E60012"/>
              </a:solidFill>
              <a:latin typeface="微软雅黑"/>
              <a:ea typeface="微软雅黑"/>
              <a:cs typeface="微软雅黑"/>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3"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372600" cy="502920"/>
          </a:xfrm>
          <a:prstGeom prst="rect">
            <a:avLst/>
          </a:prstGeom>
          <a:noFill/>
          <a:ln w="0">
            <a:noFill/>
            <a:prstDash val="solid"/>
          </a:ln>
        </p:spPr>
        <p:txBody>
          <a:bodyPr wrap="square" lIns="0" tIns="0" rIns="0" bIns="0" anchor="ctr">
            <a:normAutofit/>
          </a:bodyPr>
          <a:lstStyle/>
          <a:p>
            <a:pPr>
              <a:lnSpc>
                <a:spcPct val="108000"/>
              </a:lnSpc>
              <a:buNone/>
              <a:defRPr sz="3375" b="0">
                <a:solidFill>
                  <a:srgbClr val="111111"/>
                </a:solidFill>
                <a:latin typeface="微软雅黑"/>
                <a:ea typeface="微软雅黑"/>
                <a:cs typeface="微软雅黑"/>
              </a:defRPr>
            </a:pPr>
            <a:r>
              <a:rPr sz="2700" b="1">
                <a:solidFill>
                  <a:srgbClr val="111111"/>
                </a:solidFill>
                <a:latin typeface="微软雅黑"/>
                <a:ea typeface="微软雅黑"/>
                <a:cs typeface="微软雅黑"/>
              </a:rPr>
              <a:t>TorchTitan-NPU</a:t>
            </a:r>
            <a:r>
              <a:rPr sz="2700" b="1">
                <a:solidFill>
                  <a:srgbClr val="111111"/>
                </a:solidFill>
                <a:latin typeface="微软雅黑"/>
                <a:ea typeface="微软雅黑"/>
                <a:cs typeface="微软雅黑"/>
              </a:rPr>
              <a:t>介绍</a:t>
            </a:r>
            <a:endParaRPr sz="2700" b="1">
              <a:solidFill>
                <a:srgbClr val="111111"/>
              </a:solidFill>
              <a:latin typeface="微软雅黑"/>
              <a:ea typeface="微软雅黑"/>
              <a:cs typeface="微软雅黑"/>
            </a:endParaRPr>
          </a:p>
        </p:txBody>
      </p:sp>
      <p:sp>
        <p:nvSpPr>
          <p:cNvPr id="31" name="icon-puzzle-body"/>
          <p:cNvSpPr>
            <a:spLocks noGrp="1"/>
          </p:cNvSpPr>
          <p:nvPr/>
        </p:nvSpPr>
        <p:spPr>
          <a:xfrm>
            <a:off x="800100" y="1114425"/>
            <a:ext cx="171450" cy="171450"/>
          </a:xfrm>
          <a:prstGeom prst="roundRect">
            <a:avLst>
              <a:gd name="adj" fmla="val 5556"/>
            </a:avLst>
          </a:prstGeom>
          <a:solidFill>
            <a:srgbClr val="58A978"/>
          </a:solidFill>
          <a:ln w="0">
            <a:solidFill>
              <a:srgbClr val="58A978"/>
            </a:solidFill>
            <a:prstDash val="solid"/>
          </a:ln>
        </p:spPr>
      </p:sp>
      <p:sp>
        <p:nvSpPr>
          <p:cNvPr id="32" name="icon-puzzle-tab"/>
          <p:cNvSpPr>
            <a:spLocks noGrp="1"/>
          </p:cNvSpPr>
          <p:nvPr/>
        </p:nvSpPr>
        <p:spPr>
          <a:xfrm>
            <a:off x="847725" y="1076325"/>
            <a:ext cx="76200" cy="76200"/>
          </a:xfrm>
          <a:prstGeom prst="ellipse">
            <a:avLst/>
          </a:prstGeom>
          <a:solidFill>
            <a:srgbClr val="58A978"/>
          </a:solidFill>
          <a:ln w="0">
            <a:solidFill>
              <a:srgbClr val="58A978"/>
            </a:solidFill>
            <a:prstDash val="solid"/>
          </a:ln>
        </p:spPr>
      </p:sp>
      <p:sp>
        <p:nvSpPr>
          <p:cNvPr id="33" name="icon-puzzle-tab"/>
          <p:cNvSpPr>
            <a:spLocks noGrp="1"/>
          </p:cNvSpPr>
          <p:nvPr/>
        </p:nvSpPr>
        <p:spPr>
          <a:xfrm>
            <a:off x="933450" y="1162050"/>
            <a:ext cx="76200" cy="76200"/>
          </a:xfrm>
          <a:prstGeom prst="ellipse">
            <a:avLst/>
          </a:prstGeom>
          <a:solidFill>
            <a:srgbClr val="58A978"/>
          </a:solidFill>
          <a:ln w="0">
            <a:solidFill>
              <a:srgbClr val="58A978"/>
            </a:solidFill>
            <a:prstDash val="solid"/>
          </a:ln>
        </p:spPr>
      </p:sp>
      <p:sp>
        <p:nvSpPr>
          <p:cNvPr id="34" name="icon-puzzle-tab"/>
          <p:cNvSpPr>
            <a:spLocks noGrp="1"/>
          </p:cNvSpPr>
          <p:nvPr/>
        </p:nvSpPr>
        <p:spPr>
          <a:xfrm>
            <a:off x="847725" y="1247775"/>
            <a:ext cx="76200" cy="76200"/>
          </a:xfrm>
          <a:prstGeom prst="ellipse">
            <a:avLst/>
          </a:prstGeom>
          <a:solidFill>
            <a:srgbClr val="58A978"/>
          </a:solidFill>
          <a:ln w="0">
            <a:solidFill>
              <a:srgbClr val="58A978"/>
            </a:solidFill>
            <a:prstDash val="solid"/>
          </a:ln>
        </p:spPr>
      </p:sp>
      <p:sp>
        <p:nvSpPr>
          <p:cNvPr id="35" name="icon-puzzle-tab"/>
          <p:cNvSpPr>
            <a:spLocks noGrp="1"/>
          </p:cNvSpPr>
          <p:nvPr/>
        </p:nvSpPr>
        <p:spPr>
          <a:xfrm>
            <a:off x="762000" y="1162050"/>
            <a:ext cx="76200" cy="76200"/>
          </a:xfrm>
          <a:prstGeom prst="ellipse">
            <a:avLst/>
          </a:prstGeom>
          <a:solidFill>
            <a:srgbClr val="58A978"/>
          </a:solidFill>
          <a:ln w="0">
            <a:solidFill>
              <a:srgbClr val="58A978"/>
            </a:solidFill>
            <a:prstDash val="solid"/>
          </a:ln>
        </p:spPr>
      </p:sp>
      <p:sp>
        <p:nvSpPr>
          <p:cNvPr id="36" name="bullet-免侵入式插件机制"/>
          <p:cNvSpPr>
            <a:spLocks noGrp="1"/>
          </p:cNvSpPr>
          <p:nvPr/>
        </p:nvSpPr>
        <p:spPr>
          <a:xfrm>
            <a:off x="1162050" y="1066800"/>
            <a:ext cx="3733800" cy="304800"/>
          </a:xfrm>
          <a:prstGeom prst="rect">
            <a:avLst/>
          </a:prstGeom>
          <a:noFill/>
          <a:ln w="0">
            <a:noFill/>
            <a:prstDash val="solid"/>
          </a:ln>
        </p:spPr>
        <p:txBody>
          <a:bodyPr wrap="square" lIns="19050" tIns="0" rIns="19050" bIns="0" anchor="ctr">
            <a:noAutofit/>
          </a:bodyPr>
          <a:lstStyle/>
          <a:p>
            <a:pPr algn="l">
              <a:buNone/>
              <a:defRPr sz="1600" b="1">
                <a:solidFill>
                  <a:srgbClr val="222222"/>
                </a:solidFill>
                <a:latin typeface="微软雅黑"/>
                <a:ea typeface="微软雅黑"/>
                <a:cs typeface="微软雅黑"/>
              </a:defRPr>
            </a:pPr>
            <a:r>
              <a:rPr sz="1600" b="1">
                <a:solidFill>
                  <a:srgbClr val="222222"/>
                </a:solidFill>
                <a:latin typeface="微软雅黑"/>
                <a:ea typeface="微软雅黑"/>
                <a:cs typeface="微软雅黑"/>
              </a:rPr>
              <a:t>复用上游配置级 Override</a:t>
            </a:r>
            <a:endParaRPr sz="1500" b="1">
              <a:solidFill>
                <a:srgbClr val="242424"/>
              </a:solidFill>
              <a:latin typeface="微软雅黑"/>
              <a:ea typeface="微软雅黑"/>
              <a:cs typeface="微软雅黑"/>
            </a:endParaRPr>
          </a:p>
        </p:txBody>
      </p:sp>
      <p:sp>
        <p:nvSpPr>
          <p:cNvPr id="37" name="icon-toggle-track"/>
          <p:cNvSpPr>
            <a:spLocks noGrp="1"/>
          </p:cNvSpPr>
          <p:nvPr/>
        </p:nvSpPr>
        <p:spPr>
          <a:xfrm>
            <a:off x="762000" y="1495425"/>
            <a:ext cx="285750" cy="152400"/>
          </a:xfrm>
          <a:prstGeom prst="roundRect">
            <a:avLst>
              <a:gd name="adj" fmla="val 50000"/>
            </a:avLst>
          </a:prstGeom>
          <a:solidFill>
            <a:srgbClr val="3E7BB6"/>
          </a:solidFill>
          <a:ln w="0">
            <a:solidFill>
              <a:srgbClr val="3E7BB6"/>
            </a:solidFill>
            <a:prstDash val="solid"/>
          </a:ln>
        </p:spPr>
      </p:sp>
      <p:sp>
        <p:nvSpPr>
          <p:cNvPr id="38" name="icon-toggle-knob"/>
          <p:cNvSpPr>
            <a:spLocks noGrp="1"/>
          </p:cNvSpPr>
          <p:nvPr/>
        </p:nvSpPr>
        <p:spPr>
          <a:xfrm>
            <a:off x="914400" y="1514475"/>
            <a:ext cx="114300" cy="114300"/>
          </a:xfrm>
          <a:prstGeom prst="ellipse">
            <a:avLst/>
          </a:prstGeom>
          <a:solidFill>
            <a:srgbClr val="FFFFFF"/>
          </a:solidFill>
          <a:ln w="0">
            <a:solidFill>
              <a:srgbClr val="FFFFFF"/>
            </a:solidFill>
            <a:prstDash val="solid"/>
          </a:ln>
        </p:spPr>
      </p:sp>
      <p:sp>
        <p:nvSpPr>
          <p:cNvPr id="39" name="bullet-按需启用的开关配置"/>
          <p:cNvSpPr>
            <a:spLocks noGrp="1"/>
          </p:cNvSpPr>
          <p:nvPr/>
        </p:nvSpPr>
        <p:spPr>
          <a:xfrm>
            <a:off x="1162050" y="1438275"/>
            <a:ext cx="3733800" cy="304800"/>
          </a:xfrm>
          <a:prstGeom prst="rect">
            <a:avLst/>
          </a:prstGeom>
          <a:noFill/>
          <a:ln w="0">
            <a:noFill/>
            <a:prstDash val="solid"/>
          </a:ln>
        </p:spPr>
        <p:txBody>
          <a:bodyPr wrap="square" lIns="19050" tIns="0" rIns="19050" bIns="0" anchor="ctr">
            <a:noAutofit/>
          </a:bodyPr>
          <a:lstStyle/>
          <a:p>
            <a:pPr algn="l">
              <a:buNone/>
              <a:defRPr sz="1600" b="1">
                <a:solidFill>
                  <a:srgbClr val="222222"/>
                </a:solidFill>
                <a:latin typeface="微软雅黑"/>
                <a:ea typeface="微软雅黑"/>
                <a:cs typeface="微软雅黑"/>
              </a:defRPr>
            </a:pPr>
            <a:r>
              <a:rPr sz="1600" b="1">
                <a:solidFill>
                  <a:srgbClr val="222222"/>
                </a:solidFill>
                <a:latin typeface="微软雅黑"/>
                <a:ea typeface="微软雅黑"/>
                <a:cs typeface="微软雅黑"/>
              </a:rPr>
              <a:t>按需启用 NPU 组件替换</a:t>
            </a:r>
            <a:endParaRPr sz="1500" b="1">
              <a:solidFill>
                <a:srgbClr val="242424"/>
              </a:solidFill>
              <a:latin typeface="微软雅黑"/>
              <a:ea typeface="微软雅黑"/>
              <a:cs typeface="微软雅黑"/>
            </a:endParaRPr>
          </a:p>
        </p:txBody>
      </p:sp>
      <p:sp>
        <p:nvSpPr>
          <p:cNvPr id="40" name="icon-matrix-cell"/>
          <p:cNvSpPr>
            <a:spLocks noGrp="1"/>
          </p:cNvSpPr>
          <p:nvPr/>
        </p:nvSpPr>
        <p:spPr>
          <a:xfrm>
            <a:off x="762000" y="1819275"/>
            <a:ext cx="57150" cy="57150"/>
          </a:xfrm>
          <a:prstGeom prst="rect">
            <a:avLst/>
          </a:prstGeom>
          <a:solidFill>
            <a:srgbClr val="E1B52A"/>
          </a:solidFill>
          <a:ln w="0">
            <a:solidFill>
              <a:srgbClr val="E1B52A"/>
            </a:solidFill>
            <a:prstDash val="solid"/>
          </a:ln>
        </p:spPr>
      </p:sp>
      <p:sp>
        <p:nvSpPr>
          <p:cNvPr id="41" name="icon-matrix-cell"/>
          <p:cNvSpPr>
            <a:spLocks noGrp="1"/>
          </p:cNvSpPr>
          <p:nvPr/>
        </p:nvSpPr>
        <p:spPr>
          <a:xfrm>
            <a:off x="838200" y="1819275"/>
            <a:ext cx="57150" cy="57150"/>
          </a:xfrm>
          <a:prstGeom prst="rect">
            <a:avLst/>
          </a:prstGeom>
          <a:solidFill>
            <a:srgbClr val="E1B52A"/>
          </a:solidFill>
          <a:ln w="0">
            <a:solidFill>
              <a:srgbClr val="E1B52A"/>
            </a:solidFill>
            <a:prstDash val="solid"/>
          </a:ln>
        </p:spPr>
      </p:sp>
      <p:sp>
        <p:nvSpPr>
          <p:cNvPr id="42" name="icon-matrix-cell"/>
          <p:cNvSpPr>
            <a:spLocks noGrp="1"/>
          </p:cNvSpPr>
          <p:nvPr/>
        </p:nvSpPr>
        <p:spPr>
          <a:xfrm>
            <a:off x="914400" y="1819275"/>
            <a:ext cx="57150" cy="57150"/>
          </a:xfrm>
          <a:prstGeom prst="rect">
            <a:avLst/>
          </a:prstGeom>
          <a:solidFill>
            <a:srgbClr val="E1B52A"/>
          </a:solidFill>
          <a:ln w="0">
            <a:solidFill>
              <a:srgbClr val="E1B52A"/>
            </a:solidFill>
            <a:prstDash val="solid"/>
          </a:ln>
        </p:spPr>
      </p:sp>
      <p:sp>
        <p:nvSpPr>
          <p:cNvPr id="43" name="icon-matrix-cell"/>
          <p:cNvSpPr>
            <a:spLocks noGrp="1"/>
          </p:cNvSpPr>
          <p:nvPr/>
        </p:nvSpPr>
        <p:spPr>
          <a:xfrm>
            <a:off x="762000" y="1895475"/>
            <a:ext cx="57150" cy="57150"/>
          </a:xfrm>
          <a:prstGeom prst="rect">
            <a:avLst/>
          </a:prstGeom>
          <a:solidFill>
            <a:srgbClr val="E1B52A"/>
          </a:solidFill>
          <a:ln w="0">
            <a:solidFill>
              <a:srgbClr val="E1B52A"/>
            </a:solidFill>
            <a:prstDash val="solid"/>
          </a:ln>
        </p:spPr>
      </p:sp>
      <p:sp>
        <p:nvSpPr>
          <p:cNvPr id="44" name="icon-matrix-cell"/>
          <p:cNvSpPr>
            <a:spLocks noGrp="1"/>
          </p:cNvSpPr>
          <p:nvPr/>
        </p:nvSpPr>
        <p:spPr>
          <a:xfrm>
            <a:off x="838200" y="1895475"/>
            <a:ext cx="57150" cy="57150"/>
          </a:xfrm>
          <a:prstGeom prst="rect">
            <a:avLst/>
          </a:prstGeom>
          <a:solidFill>
            <a:srgbClr val="E1B52A"/>
          </a:solidFill>
          <a:ln w="0">
            <a:solidFill>
              <a:srgbClr val="E1B52A"/>
            </a:solidFill>
            <a:prstDash val="solid"/>
          </a:ln>
        </p:spPr>
      </p:sp>
      <p:sp>
        <p:nvSpPr>
          <p:cNvPr id="45" name="icon-matrix-cell"/>
          <p:cNvSpPr>
            <a:spLocks noGrp="1"/>
          </p:cNvSpPr>
          <p:nvPr/>
        </p:nvSpPr>
        <p:spPr>
          <a:xfrm>
            <a:off x="914400" y="1895475"/>
            <a:ext cx="57150" cy="57150"/>
          </a:xfrm>
          <a:prstGeom prst="rect">
            <a:avLst/>
          </a:prstGeom>
          <a:solidFill>
            <a:srgbClr val="E1B52A"/>
          </a:solidFill>
          <a:ln w="0">
            <a:solidFill>
              <a:srgbClr val="E1B52A"/>
            </a:solidFill>
            <a:prstDash val="solid"/>
          </a:ln>
        </p:spPr>
      </p:sp>
      <p:sp>
        <p:nvSpPr>
          <p:cNvPr id="46" name="icon-matrix-cell"/>
          <p:cNvSpPr>
            <a:spLocks noGrp="1"/>
          </p:cNvSpPr>
          <p:nvPr/>
        </p:nvSpPr>
        <p:spPr>
          <a:xfrm>
            <a:off x="762000" y="1971675"/>
            <a:ext cx="57150" cy="57150"/>
          </a:xfrm>
          <a:prstGeom prst="rect">
            <a:avLst/>
          </a:prstGeom>
          <a:solidFill>
            <a:srgbClr val="E1B52A"/>
          </a:solidFill>
          <a:ln w="0">
            <a:solidFill>
              <a:srgbClr val="E1B52A"/>
            </a:solidFill>
            <a:prstDash val="solid"/>
          </a:ln>
        </p:spPr>
      </p:sp>
      <p:sp>
        <p:nvSpPr>
          <p:cNvPr id="47" name="icon-matrix-cell"/>
          <p:cNvSpPr>
            <a:spLocks noGrp="1"/>
          </p:cNvSpPr>
          <p:nvPr/>
        </p:nvSpPr>
        <p:spPr>
          <a:xfrm>
            <a:off x="838200" y="1971675"/>
            <a:ext cx="57150" cy="57150"/>
          </a:xfrm>
          <a:prstGeom prst="rect">
            <a:avLst/>
          </a:prstGeom>
          <a:solidFill>
            <a:srgbClr val="E1B52A"/>
          </a:solidFill>
          <a:ln w="0">
            <a:solidFill>
              <a:srgbClr val="E1B52A"/>
            </a:solidFill>
            <a:prstDash val="solid"/>
          </a:ln>
        </p:spPr>
      </p:sp>
      <p:sp>
        <p:nvSpPr>
          <p:cNvPr id="48" name="icon-matrix-cell"/>
          <p:cNvSpPr>
            <a:spLocks noGrp="1"/>
          </p:cNvSpPr>
          <p:nvPr/>
        </p:nvSpPr>
        <p:spPr>
          <a:xfrm>
            <a:off x="914400" y="1971675"/>
            <a:ext cx="57150" cy="57150"/>
          </a:xfrm>
          <a:prstGeom prst="rect">
            <a:avLst/>
          </a:prstGeom>
          <a:solidFill>
            <a:srgbClr val="E1B52A"/>
          </a:solidFill>
          <a:ln w="0">
            <a:solidFill>
              <a:srgbClr val="E1B52A"/>
            </a:solidFill>
            <a:prstDash val="solid"/>
          </a:ln>
        </p:spPr>
      </p:sp>
      <p:sp>
        <p:nvSpPr>
          <p:cNvPr id="49" name="bullet-自由组合的优化矩阵"/>
          <p:cNvSpPr>
            <a:spLocks noGrp="1"/>
          </p:cNvSpPr>
          <p:nvPr/>
        </p:nvSpPr>
        <p:spPr>
          <a:xfrm>
            <a:off x="1162050" y="1809750"/>
            <a:ext cx="3733800" cy="304800"/>
          </a:xfrm>
          <a:prstGeom prst="rect">
            <a:avLst/>
          </a:prstGeom>
          <a:noFill/>
          <a:ln w="0">
            <a:noFill/>
            <a:prstDash val="solid"/>
          </a:ln>
        </p:spPr>
        <p:txBody>
          <a:bodyPr wrap="square" lIns="19050" tIns="0" rIns="19050" bIns="0" anchor="ctr">
            <a:noAutofit/>
          </a:bodyPr>
          <a:lstStyle/>
          <a:p>
            <a:pPr algn="l">
              <a:buNone/>
              <a:defRPr sz="1600" b="1">
                <a:solidFill>
                  <a:srgbClr val="222222"/>
                </a:solidFill>
                <a:latin typeface="微软雅黑"/>
                <a:ea typeface="微软雅黑"/>
                <a:cs typeface="微软雅黑"/>
              </a:defRPr>
            </a:pPr>
            <a:r>
              <a:rPr sz="1600" b="1">
                <a:solidFill>
                  <a:srgbClr val="222222"/>
                </a:solidFill>
                <a:latin typeface="微软雅黑"/>
                <a:ea typeface="微软雅黑"/>
                <a:cs typeface="微软雅黑"/>
              </a:rPr>
              <a:t>按节点匹配并检查冲突</a:t>
            </a:r>
            <a:endParaRPr sz="1500" b="1">
              <a:solidFill>
                <a:srgbClr val="242424"/>
              </a:solidFill>
              <a:latin typeface="微软雅黑"/>
              <a:ea typeface="微软雅黑"/>
              <a:cs typeface="微软雅黑"/>
            </a:endParaRPr>
          </a:p>
        </p:txBody>
      </p:sp>
      <p:sp>
        <p:nvSpPr>
          <p:cNvPr id="50" name="icon-network-edge"/>
          <p:cNvSpPr>
            <a:spLocks noGrp="1"/>
          </p:cNvSpPr>
          <p:nvPr/>
        </p:nvSpPr>
        <p:spPr>
          <a:xfrm flipV="1">
            <a:off x="800100" y="2219325"/>
            <a:ext cx="95250" cy="104775"/>
          </a:xfrm>
          <a:prstGeom prst="line">
            <a:avLst/>
          </a:prstGeom>
          <a:noFill/>
          <a:ln w="12383">
            <a:solidFill>
              <a:srgbClr val="D97845"/>
            </a:solidFill>
            <a:prstDash val="solid"/>
          </a:ln>
        </p:spPr>
      </p:sp>
      <p:sp>
        <p:nvSpPr>
          <p:cNvPr id="51" name="icon-network-edge"/>
          <p:cNvSpPr>
            <a:spLocks noGrp="1"/>
          </p:cNvSpPr>
          <p:nvPr/>
        </p:nvSpPr>
        <p:spPr>
          <a:xfrm>
            <a:off x="895350" y="2219325"/>
            <a:ext cx="123825" cy="57150"/>
          </a:xfrm>
          <a:prstGeom prst="line">
            <a:avLst/>
          </a:prstGeom>
          <a:noFill/>
          <a:ln w="12383">
            <a:solidFill>
              <a:srgbClr val="D97845"/>
            </a:solidFill>
            <a:prstDash val="solid"/>
          </a:ln>
        </p:spPr>
      </p:sp>
      <p:sp>
        <p:nvSpPr>
          <p:cNvPr id="52" name="icon-network-edge"/>
          <p:cNvSpPr>
            <a:spLocks noGrp="1"/>
          </p:cNvSpPr>
          <p:nvPr/>
        </p:nvSpPr>
        <p:spPr>
          <a:xfrm flipH="1">
            <a:off x="971550" y="2276475"/>
            <a:ext cx="47625" cy="142875"/>
          </a:xfrm>
          <a:prstGeom prst="line">
            <a:avLst/>
          </a:prstGeom>
          <a:noFill/>
          <a:ln w="12383">
            <a:solidFill>
              <a:srgbClr val="D97845"/>
            </a:solidFill>
            <a:prstDash val="solid"/>
          </a:ln>
        </p:spPr>
      </p:sp>
      <p:sp>
        <p:nvSpPr>
          <p:cNvPr id="53" name="icon-network-edge"/>
          <p:cNvSpPr>
            <a:spLocks noGrp="1"/>
          </p:cNvSpPr>
          <p:nvPr/>
        </p:nvSpPr>
        <p:spPr>
          <a:xfrm flipH="1">
            <a:off x="847725" y="2419350"/>
            <a:ext cx="123825" cy="28575"/>
          </a:xfrm>
          <a:prstGeom prst="line">
            <a:avLst/>
          </a:prstGeom>
          <a:noFill/>
          <a:ln w="12383">
            <a:solidFill>
              <a:srgbClr val="D97845"/>
            </a:solidFill>
            <a:prstDash val="solid"/>
          </a:ln>
        </p:spPr>
      </p:sp>
      <p:sp>
        <p:nvSpPr>
          <p:cNvPr id="54" name="icon-network-edge"/>
          <p:cNvSpPr>
            <a:spLocks noGrp="1"/>
          </p:cNvSpPr>
          <p:nvPr/>
        </p:nvSpPr>
        <p:spPr>
          <a:xfrm flipH="1" flipV="1">
            <a:off x="800100" y="2324100"/>
            <a:ext cx="47625" cy="123825"/>
          </a:xfrm>
          <a:prstGeom prst="line">
            <a:avLst/>
          </a:prstGeom>
          <a:noFill/>
          <a:ln w="12383">
            <a:solidFill>
              <a:srgbClr val="D97845"/>
            </a:solidFill>
            <a:prstDash val="solid"/>
          </a:ln>
        </p:spPr>
      </p:sp>
      <p:sp>
        <p:nvSpPr>
          <p:cNvPr id="55" name="icon-network-edge"/>
          <p:cNvSpPr>
            <a:spLocks noGrp="1"/>
          </p:cNvSpPr>
          <p:nvPr/>
        </p:nvSpPr>
        <p:spPr>
          <a:xfrm>
            <a:off x="800100" y="2324100"/>
            <a:ext cx="171450" cy="95250"/>
          </a:xfrm>
          <a:prstGeom prst="line">
            <a:avLst/>
          </a:prstGeom>
          <a:noFill/>
          <a:ln w="12383">
            <a:solidFill>
              <a:srgbClr val="D97845"/>
            </a:solidFill>
            <a:prstDash val="solid"/>
          </a:ln>
        </p:spPr>
      </p:sp>
      <p:sp>
        <p:nvSpPr>
          <p:cNvPr id="56" name="icon-network-edge"/>
          <p:cNvSpPr>
            <a:spLocks noGrp="1"/>
          </p:cNvSpPr>
          <p:nvPr/>
        </p:nvSpPr>
        <p:spPr>
          <a:xfrm>
            <a:off x="895350" y="2219325"/>
            <a:ext cx="76200" cy="200025"/>
          </a:xfrm>
          <a:prstGeom prst="line">
            <a:avLst/>
          </a:prstGeom>
          <a:noFill/>
          <a:ln w="12383">
            <a:solidFill>
              <a:srgbClr val="D97845"/>
            </a:solidFill>
            <a:prstDash val="solid"/>
          </a:ln>
        </p:spPr>
      </p:sp>
      <p:sp>
        <p:nvSpPr>
          <p:cNvPr id="57" name="icon-network-node"/>
          <p:cNvSpPr>
            <a:spLocks noGrp="1"/>
          </p:cNvSpPr>
          <p:nvPr/>
        </p:nvSpPr>
        <p:spPr>
          <a:xfrm>
            <a:off x="771525" y="2295525"/>
            <a:ext cx="66675" cy="66675"/>
          </a:xfrm>
          <a:prstGeom prst="ellipse">
            <a:avLst/>
          </a:prstGeom>
          <a:solidFill>
            <a:srgbClr val="D97845"/>
          </a:solidFill>
          <a:ln w="0">
            <a:solidFill>
              <a:srgbClr val="D97845"/>
            </a:solidFill>
            <a:prstDash val="solid"/>
          </a:ln>
        </p:spPr>
      </p:sp>
      <p:sp>
        <p:nvSpPr>
          <p:cNvPr id="58" name="icon-network-node"/>
          <p:cNvSpPr>
            <a:spLocks noGrp="1"/>
          </p:cNvSpPr>
          <p:nvPr/>
        </p:nvSpPr>
        <p:spPr>
          <a:xfrm>
            <a:off x="866775" y="2190750"/>
            <a:ext cx="66675" cy="66675"/>
          </a:xfrm>
          <a:prstGeom prst="ellipse">
            <a:avLst/>
          </a:prstGeom>
          <a:solidFill>
            <a:srgbClr val="D97845"/>
          </a:solidFill>
          <a:ln w="0">
            <a:solidFill>
              <a:srgbClr val="D97845"/>
            </a:solidFill>
            <a:prstDash val="solid"/>
          </a:ln>
        </p:spPr>
      </p:sp>
      <p:sp>
        <p:nvSpPr>
          <p:cNvPr id="59" name="icon-network-node"/>
          <p:cNvSpPr>
            <a:spLocks noGrp="1"/>
          </p:cNvSpPr>
          <p:nvPr/>
        </p:nvSpPr>
        <p:spPr>
          <a:xfrm>
            <a:off x="990600" y="2247900"/>
            <a:ext cx="66675" cy="66675"/>
          </a:xfrm>
          <a:prstGeom prst="ellipse">
            <a:avLst/>
          </a:prstGeom>
          <a:solidFill>
            <a:srgbClr val="D97845"/>
          </a:solidFill>
          <a:ln w="0">
            <a:solidFill>
              <a:srgbClr val="D97845"/>
            </a:solidFill>
            <a:prstDash val="solid"/>
          </a:ln>
        </p:spPr>
      </p:sp>
      <p:sp>
        <p:nvSpPr>
          <p:cNvPr id="60" name="icon-network-node"/>
          <p:cNvSpPr>
            <a:spLocks noGrp="1"/>
          </p:cNvSpPr>
          <p:nvPr/>
        </p:nvSpPr>
        <p:spPr>
          <a:xfrm>
            <a:off x="942975" y="2390775"/>
            <a:ext cx="66675" cy="66675"/>
          </a:xfrm>
          <a:prstGeom prst="ellipse">
            <a:avLst/>
          </a:prstGeom>
          <a:solidFill>
            <a:srgbClr val="D97845"/>
          </a:solidFill>
          <a:ln w="0">
            <a:solidFill>
              <a:srgbClr val="D97845"/>
            </a:solidFill>
            <a:prstDash val="solid"/>
          </a:ln>
        </p:spPr>
      </p:sp>
      <p:sp>
        <p:nvSpPr>
          <p:cNvPr id="61" name="icon-network-node"/>
          <p:cNvSpPr>
            <a:spLocks noGrp="1"/>
          </p:cNvSpPr>
          <p:nvPr/>
        </p:nvSpPr>
        <p:spPr>
          <a:xfrm>
            <a:off x="819150" y="2419350"/>
            <a:ext cx="66675" cy="66675"/>
          </a:xfrm>
          <a:prstGeom prst="ellipse">
            <a:avLst/>
          </a:prstGeom>
          <a:solidFill>
            <a:srgbClr val="D97845"/>
          </a:solidFill>
          <a:ln w="0">
            <a:solidFill>
              <a:srgbClr val="D97845"/>
            </a:solidFill>
            <a:prstDash val="solid"/>
          </a:ln>
        </p:spPr>
      </p:sp>
      <p:sp>
        <p:nvSpPr>
          <p:cNvPr id="62" name="bullet-无缝对接 torch.compile+inductor"/>
          <p:cNvSpPr>
            <a:spLocks noGrp="1"/>
          </p:cNvSpPr>
          <p:nvPr/>
        </p:nvSpPr>
        <p:spPr>
          <a:xfrm>
            <a:off x="1162050" y="2181225"/>
            <a:ext cx="3733800" cy="304800"/>
          </a:xfrm>
          <a:prstGeom prst="rect">
            <a:avLst/>
          </a:prstGeom>
          <a:noFill/>
          <a:ln w="0">
            <a:noFill/>
            <a:prstDash val="solid"/>
          </a:ln>
        </p:spPr>
        <p:txBody>
          <a:bodyPr wrap="square" lIns="19050" tIns="0" rIns="19050" bIns="0" anchor="ctr">
            <a:noAutofit/>
          </a:bodyPr>
          <a:lstStyle/>
          <a:p>
            <a:pPr algn="l">
              <a:buNone/>
              <a:defRPr sz="1600" b="1">
                <a:solidFill>
                  <a:srgbClr val="222222"/>
                </a:solidFill>
                <a:latin typeface="微软雅黑"/>
                <a:ea typeface="微软雅黑"/>
                <a:cs typeface="微软雅黑"/>
              </a:defRPr>
            </a:pPr>
            <a:r>
              <a:rPr sz="1600" b="1">
                <a:solidFill>
                  <a:srgbClr val="222222"/>
                </a:solidFill>
                <a:latin typeface="微软雅黑"/>
                <a:ea typeface="微软雅黑"/>
                <a:cs typeface="微软雅黑"/>
              </a:rPr>
              <a:t>编译与并行兼容需验证</a:t>
            </a:r>
            <a:endParaRPr sz="1500" b="1">
              <a:solidFill>
                <a:srgbClr val="242424"/>
              </a:solidFill>
              <a:latin typeface="微软雅黑"/>
              <a:ea typeface="微软雅黑"/>
              <a:cs typeface="微软雅黑"/>
            </a:endParaRPr>
          </a:p>
        </p:txBody>
      </p:sp>
      <p:sp>
        <p:nvSpPr>
          <p:cNvPr id="63" name="stack-outer"/>
          <p:cNvSpPr>
            <a:spLocks noGrp="1"/>
          </p:cNvSpPr>
          <p:nvPr/>
        </p:nvSpPr>
        <p:spPr>
          <a:xfrm>
            <a:off x="685800" y="2895600"/>
            <a:ext cx="4324350" cy="2857500"/>
          </a:xfrm>
          <a:prstGeom prst="roundRect">
            <a:avLst>
              <a:gd name="adj" fmla="val 3333"/>
            </a:avLst>
          </a:prstGeom>
          <a:noFill/>
          <a:ln w="10478">
            <a:solidFill>
              <a:srgbClr val="A8AFB5"/>
            </a:solidFill>
            <a:prstDash val="dash"/>
          </a:ln>
        </p:spPr>
      </p:sp>
      <p:sp>
        <p:nvSpPr>
          <p:cNvPr id="64" name="community-label"/>
          <p:cNvSpPr>
            <a:spLocks noGrp="1"/>
          </p:cNvSpPr>
          <p:nvPr/>
        </p:nvSpPr>
        <p:spPr>
          <a:xfrm>
            <a:off x="2867025" y="2724150"/>
            <a:ext cx="990600" cy="228600"/>
          </a:xfrm>
          <a:prstGeom prst="roundRect">
            <a:avLst>
              <a:gd name="adj" fmla="val 25000"/>
            </a:avLst>
          </a:prstGeom>
          <a:solidFill>
            <a:srgbClr val="EAF2F6"/>
          </a:solidFill>
          <a:ln w="9525">
            <a:solidFill>
              <a:srgbClr val="65747E"/>
            </a:solidFill>
            <a:prstDash val="solid"/>
          </a:ln>
        </p:spPr>
        <p:txBody>
          <a:bodyPr wrap="square" lIns="38100" tIns="19050" rIns="38100" bIns="19050" anchor="ctr">
            <a:noAutofit/>
          </a:bodyPr>
          <a:lstStyle/>
          <a:p>
            <a:pPr algn="ctr">
              <a:buNone/>
              <a:defRPr sz="865" b="0">
                <a:solidFill>
                  <a:srgbClr val="222222"/>
                </a:solidFill>
                <a:latin typeface="微软雅黑"/>
                <a:ea typeface="微软雅黑"/>
                <a:cs typeface="微软雅黑"/>
              </a:defRPr>
            </a:pPr>
            <a:r>
              <a:rPr sz="865" b="0">
                <a:solidFill>
                  <a:srgbClr val="222222"/>
                </a:solidFill>
                <a:latin typeface="微软雅黑"/>
                <a:ea typeface="微软雅黑"/>
                <a:cs typeface="微软雅黑"/>
              </a:rPr>
              <a:t>上游核心</a:t>
            </a:r>
            <a:endParaRPr sz="790" b="0">
              <a:solidFill>
                <a:srgbClr val="222222"/>
              </a:solidFill>
              <a:latin typeface="Consolas"/>
              <a:ea typeface="Consolas"/>
              <a:cs typeface="Consolas"/>
            </a:endParaRPr>
          </a:p>
        </p:txBody>
      </p:sp>
      <p:sp>
        <p:nvSpPr>
          <p:cNvPr id="65" name="huawei-label"/>
          <p:cNvSpPr>
            <a:spLocks noGrp="1"/>
          </p:cNvSpPr>
          <p:nvPr/>
        </p:nvSpPr>
        <p:spPr>
          <a:xfrm>
            <a:off x="3943350" y="2724150"/>
            <a:ext cx="962025" cy="228600"/>
          </a:xfrm>
          <a:prstGeom prst="roundRect">
            <a:avLst>
              <a:gd name="adj" fmla="val 25000"/>
            </a:avLst>
          </a:prstGeom>
          <a:solidFill>
            <a:srgbClr val="F7DD71"/>
          </a:solidFill>
          <a:ln w="9525">
            <a:solidFill>
              <a:srgbClr val="8B7624"/>
            </a:solidFill>
            <a:prstDash val="solid"/>
          </a:ln>
        </p:spPr>
        <p:txBody>
          <a:bodyPr wrap="square" lIns="38100" tIns="19050" rIns="38100" bIns="19050" anchor="ctr">
            <a:noAutofit/>
          </a:bodyPr>
          <a:lstStyle/>
          <a:p>
            <a:pPr algn="ctr">
              <a:buNone/>
              <a:defRPr sz="865" b="0">
                <a:solidFill>
                  <a:srgbClr val="222222"/>
                </a:solidFill>
                <a:latin typeface="微软雅黑"/>
                <a:ea typeface="微软雅黑"/>
                <a:cs typeface="微软雅黑"/>
              </a:defRPr>
            </a:pPr>
            <a:r>
              <a:rPr sz="865" b="0">
                <a:solidFill>
                  <a:srgbClr val="222222"/>
                </a:solidFill>
                <a:latin typeface="微软雅黑"/>
                <a:ea typeface="微软雅黑"/>
                <a:cs typeface="微软雅黑"/>
              </a:rPr>
              <a:t>NPU 扩展</a:t>
            </a:r>
            <a:endParaRPr sz="790" b="0">
              <a:solidFill>
                <a:srgbClr val="222222"/>
              </a:solidFill>
              <a:latin typeface="Consolas"/>
              <a:ea typeface="Consolas"/>
              <a:cs typeface="Consolas"/>
            </a:endParaRPr>
          </a:p>
        </p:txBody>
      </p:sp>
      <p:sp>
        <p:nvSpPr>
          <p:cNvPr id="66" name="layer-torchtitan"/>
          <p:cNvSpPr>
            <a:spLocks noGrp="1"/>
          </p:cNvSpPr>
          <p:nvPr/>
        </p:nvSpPr>
        <p:spPr>
          <a:xfrm>
            <a:off x="800100" y="3819525"/>
            <a:ext cx="4095750" cy="561975"/>
          </a:xfrm>
          <a:prstGeom prst="roundRect">
            <a:avLst>
              <a:gd name="adj" fmla="val 13559"/>
            </a:avLst>
          </a:prstGeom>
          <a:noFill/>
          <a:ln w="10478">
            <a:solidFill>
              <a:srgbClr val="39434D"/>
            </a:solidFill>
            <a:prstDash val="solid"/>
          </a:ln>
        </p:spPr>
      </p:sp>
      <p:sp>
        <p:nvSpPr>
          <p:cNvPr id="67" name="layer-label-torchtitan"/>
          <p:cNvSpPr>
            <a:spLocks noGrp="1"/>
          </p:cNvSpPr>
          <p:nvPr/>
        </p:nvSpPr>
        <p:spPr>
          <a:xfrm>
            <a:off x="866775" y="3838575"/>
            <a:ext cx="1047750" cy="142875"/>
          </a:xfrm>
          <a:prstGeom prst="rect">
            <a:avLst/>
          </a:prstGeom>
          <a:noFill/>
          <a:ln w="0">
            <a:noFill/>
            <a:prstDash val="solid"/>
          </a:ln>
        </p:spPr>
        <p:txBody>
          <a:bodyPr wrap="square" lIns="19050" tIns="0" rIns="19050" bIns="0" anchor="ctr">
            <a:noAutofit/>
          </a:bodyPr>
          <a:lstStyle/>
          <a:p>
            <a:pPr algn="l">
              <a:buNone/>
              <a:defRPr sz="915" b="0">
                <a:solidFill>
                  <a:srgbClr val="222222"/>
                </a:solidFill>
                <a:latin typeface="微软雅黑"/>
                <a:ea typeface="微软雅黑"/>
                <a:cs typeface="微软雅黑"/>
              </a:defRPr>
            </a:pPr>
            <a:r>
              <a:rPr sz="915" b="0">
                <a:solidFill>
                  <a:srgbClr val="222222"/>
                </a:solidFill>
                <a:latin typeface="微软雅黑"/>
                <a:ea typeface="微软雅黑"/>
                <a:cs typeface="微软雅黑"/>
              </a:rPr>
              <a:t>TorchTitan</a:t>
            </a:r>
            <a:endParaRPr sz="790" b="0">
              <a:solidFill>
                <a:srgbClr val="222222"/>
              </a:solidFill>
              <a:latin typeface="Consolas"/>
              <a:ea typeface="Consolas"/>
              <a:cs typeface="Consolas"/>
            </a:endParaRPr>
          </a:p>
        </p:txBody>
      </p:sp>
      <p:sp>
        <p:nvSpPr>
          <p:cNvPr id="68" name="tt-model"/>
          <p:cNvSpPr>
            <a:spLocks noGrp="1"/>
          </p:cNvSpPr>
          <p:nvPr/>
        </p:nvSpPr>
        <p:spPr>
          <a:xfrm>
            <a:off x="866775" y="4029075"/>
            <a:ext cx="781050" cy="247650"/>
          </a:xfrm>
          <a:prstGeom prst="roundRect">
            <a:avLst>
              <a:gd name="adj" fmla="val 19231"/>
            </a:avLst>
          </a:prstGeom>
          <a:pattFill prst="dnDiag">
            <a:fgClr>
              <a:srgbClr val="BCD0D8">
                <a:alpha val="45000"/>
              </a:srgbClr>
            </a:fgClr>
            <a:bgClr>
              <a:srgbClr val="EDF4F7"/>
            </a:bgClr>
          </a:pattFill>
          <a:ln w="8573">
            <a:solidFill>
              <a:srgbClr val="39434D"/>
            </a:solidFill>
            <a:prstDash val="solid"/>
          </a:ln>
        </p:spPr>
        <p:txBody>
          <a:bodyPr wrap="square" lIns="19050" tIns="9525" rIns="19050" bIns="9525" anchor="ctr">
            <a:noAutofit/>
          </a:bodyPr>
          <a:lstStyle/>
          <a:p>
            <a:pPr algn="ctr">
              <a:buNone/>
              <a:defRPr sz="865" b="0">
                <a:solidFill>
                  <a:srgbClr val="222222"/>
                </a:solidFill>
                <a:latin typeface="微软雅黑"/>
                <a:ea typeface="微软雅黑"/>
                <a:cs typeface="微软雅黑"/>
              </a:defRPr>
            </a:pPr>
            <a:r>
              <a:rPr sz="865" b="0">
                <a:solidFill>
                  <a:srgbClr val="222222"/>
                </a:solidFill>
                <a:latin typeface="微软雅黑"/>
                <a:ea typeface="微软雅黑"/>
                <a:cs typeface="微软雅黑"/>
              </a:rPr>
              <a:t>模型定义</a:t>
            </a:r>
            <a:endParaRPr sz="640" b="0">
              <a:solidFill>
                <a:srgbClr val="222222"/>
              </a:solidFill>
              <a:latin typeface="Consolas"/>
              <a:ea typeface="Consolas"/>
              <a:cs typeface="Consolas"/>
            </a:endParaRPr>
          </a:p>
        </p:txBody>
      </p:sp>
      <p:sp>
        <p:nvSpPr>
          <p:cNvPr id="69" name="tt-parallel"/>
          <p:cNvSpPr>
            <a:spLocks noGrp="1"/>
          </p:cNvSpPr>
          <p:nvPr/>
        </p:nvSpPr>
        <p:spPr>
          <a:xfrm>
            <a:off x="1695450" y="4029075"/>
            <a:ext cx="1057275" cy="247650"/>
          </a:xfrm>
          <a:prstGeom prst="roundRect">
            <a:avLst>
              <a:gd name="adj" fmla="val 19231"/>
            </a:avLst>
          </a:prstGeom>
          <a:pattFill prst="dnDiag">
            <a:fgClr>
              <a:srgbClr val="BCD0D8">
                <a:alpha val="45000"/>
              </a:srgbClr>
            </a:fgClr>
            <a:bgClr>
              <a:srgbClr val="EDF4F7"/>
            </a:bgClr>
          </a:pattFill>
          <a:ln w="8573">
            <a:solidFill>
              <a:srgbClr val="39434D"/>
            </a:solidFill>
            <a:prstDash val="solid"/>
          </a:ln>
        </p:spPr>
        <p:txBody>
          <a:bodyPr wrap="square" lIns="19050" tIns="9525" rIns="19050" bIns="9525" anchor="ctr">
            <a:noAutofit/>
          </a:bodyPr>
          <a:lstStyle/>
          <a:p>
            <a:pPr algn="ctr">
              <a:buNone/>
              <a:defRPr sz="865" b="0">
                <a:solidFill>
                  <a:srgbClr val="222222"/>
                </a:solidFill>
                <a:latin typeface="微软雅黑"/>
                <a:ea typeface="微软雅黑"/>
                <a:cs typeface="微软雅黑"/>
              </a:defRPr>
            </a:pPr>
            <a:r>
              <a:rPr sz="865" b="0">
                <a:solidFill>
                  <a:srgbClr val="222222"/>
                </a:solidFill>
                <a:latin typeface="微软雅黑"/>
                <a:ea typeface="微软雅黑"/>
                <a:cs typeface="微软雅黑"/>
              </a:rPr>
              <a:t>TP / FSDP / EP</a:t>
            </a:r>
            <a:endParaRPr sz="625" b="0">
              <a:solidFill>
                <a:srgbClr val="222222"/>
              </a:solidFill>
              <a:latin typeface="Consolas"/>
              <a:ea typeface="Consolas"/>
              <a:cs typeface="Consolas"/>
            </a:endParaRPr>
          </a:p>
        </p:txBody>
      </p:sp>
      <p:sp>
        <p:nvSpPr>
          <p:cNvPr id="70" name="tt-compile"/>
          <p:cNvSpPr>
            <a:spLocks noGrp="1"/>
          </p:cNvSpPr>
          <p:nvPr/>
        </p:nvSpPr>
        <p:spPr>
          <a:xfrm>
            <a:off x="2800350" y="4029075"/>
            <a:ext cx="942975" cy="247650"/>
          </a:xfrm>
          <a:prstGeom prst="roundRect">
            <a:avLst>
              <a:gd name="adj" fmla="val 19231"/>
            </a:avLst>
          </a:prstGeom>
          <a:pattFill prst="dnDiag">
            <a:fgClr>
              <a:srgbClr val="BCD0D8">
                <a:alpha val="45000"/>
              </a:srgbClr>
            </a:fgClr>
            <a:bgClr>
              <a:srgbClr val="EDF4F7"/>
            </a:bgClr>
          </a:pattFill>
          <a:ln w="8573">
            <a:solidFill>
              <a:srgbClr val="39434D"/>
            </a:solidFill>
            <a:prstDash val="solid"/>
          </a:ln>
        </p:spPr>
        <p:txBody>
          <a:bodyPr wrap="square" lIns="19050" tIns="9525" rIns="19050" bIns="9525" anchor="ctr">
            <a:noAutofit/>
          </a:bodyPr>
          <a:lstStyle/>
          <a:p>
            <a:pPr algn="ctr">
              <a:buNone/>
              <a:defRPr sz="865" b="0">
                <a:solidFill>
                  <a:srgbClr val="222222"/>
                </a:solidFill>
                <a:latin typeface="微软雅黑"/>
                <a:ea typeface="微软雅黑"/>
                <a:cs typeface="微软雅黑"/>
              </a:defRPr>
            </a:pPr>
            <a:r>
              <a:rPr sz="865" b="0">
                <a:solidFill>
                  <a:srgbClr val="222222"/>
                </a:solidFill>
                <a:latin typeface="微软雅黑"/>
                <a:ea typeface="微软雅黑"/>
                <a:cs typeface="微软雅黑"/>
              </a:rPr>
              <a:t>torch.compile</a:t>
            </a:r>
            <a:endParaRPr sz="615" b="0">
              <a:solidFill>
                <a:srgbClr val="222222"/>
              </a:solidFill>
              <a:latin typeface="Consolas"/>
              <a:ea typeface="Consolas"/>
              <a:cs typeface="Consolas"/>
            </a:endParaRPr>
          </a:p>
        </p:txBody>
      </p:sp>
      <p:sp>
        <p:nvSpPr>
          <p:cNvPr id="71" name="tt-dcp"/>
          <p:cNvSpPr>
            <a:spLocks noGrp="1"/>
          </p:cNvSpPr>
          <p:nvPr/>
        </p:nvSpPr>
        <p:spPr>
          <a:xfrm>
            <a:off x="3790950" y="4029075"/>
            <a:ext cx="457200" cy="247650"/>
          </a:xfrm>
          <a:prstGeom prst="roundRect">
            <a:avLst>
              <a:gd name="adj" fmla="val 19231"/>
            </a:avLst>
          </a:prstGeom>
          <a:pattFill prst="dnDiag">
            <a:fgClr>
              <a:srgbClr val="BCD0D8">
                <a:alpha val="45000"/>
              </a:srgbClr>
            </a:fgClr>
            <a:bgClr>
              <a:srgbClr val="EDF4F7"/>
            </a:bgClr>
          </a:pattFill>
          <a:ln w="8573">
            <a:solidFill>
              <a:srgbClr val="39434D"/>
            </a:solidFill>
            <a:prstDash val="solid"/>
          </a:ln>
        </p:spPr>
        <p:txBody>
          <a:bodyPr wrap="square" lIns="19050" tIns="9525" rIns="19050" bIns="9525" anchor="ctr">
            <a:normAutofit/>
          </a:bodyPr>
          <a:lstStyle/>
          <a:p>
            <a:pPr algn="ctr">
              <a:buNone/>
              <a:defRPr sz="655" b="0">
                <a:solidFill>
                  <a:srgbClr val="222222"/>
                </a:solidFill>
                <a:latin typeface="Consolas"/>
                <a:ea typeface="Consolas"/>
                <a:cs typeface="Consolas"/>
              </a:defRPr>
            </a:pPr>
            <a:r>
              <a:rPr sz="655" b="0">
                <a:solidFill>
                  <a:srgbClr val="222222"/>
                </a:solidFill>
                <a:latin typeface="Consolas"/>
                <a:ea typeface="Consolas"/>
                <a:cs typeface="Consolas"/>
              </a:rPr>
              <a:t>DCP</a:t>
            </a:r>
            <a:endParaRPr sz="655" b="0">
              <a:solidFill>
                <a:srgbClr val="222222"/>
              </a:solidFill>
              <a:latin typeface="Consolas"/>
              <a:ea typeface="Consolas"/>
              <a:cs typeface="Consolas"/>
            </a:endParaRPr>
          </a:p>
        </p:txBody>
      </p:sp>
      <p:sp>
        <p:nvSpPr>
          <p:cNvPr id="72" name="tt-more"/>
          <p:cNvSpPr>
            <a:spLocks noGrp="1"/>
          </p:cNvSpPr>
          <p:nvPr/>
        </p:nvSpPr>
        <p:spPr>
          <a:xfrm>
            <a:off x="4295775" y="4029075"/>
            <a:ext cx="533400" cy="247650"/>
          </a:xfrm>
          <a:prstGeom prst="roundRect">
            <a:avLst>
              <a:gd name="adj" fmla="val 19231"/>
            </a:avLst>
          </a:prstGeom>
          <a:pattFill prst="dnDiag">
            <a:fgClr>
              <a:srgbClr val="BCD0D8">
                <a:alpha val="45000"/>
              </a:srgbClr>
            </a:fgClr>
            <a:bgClr>
              <a:srgbClr val="EDF4F7"/>
            </a:bgClr>
          </a:pattFill>
          <a:ln w="8573">
            <a:solidFill>
              <a:srgbClr val="39434D"/>
            </a:solidFill>
            <a:prstDash val="solid"/>
          </a:ln>
        </p:spPr>
        <p:txBody>
          <a:bodyPr wrap="square" lIns="19050" tIns="9525" rIns="19050" bIns="9525" anchor="ctr">
            <a:noAutofit/>
          </a:bodyPr>
          <a:lstStyle/>
          <a:p>
            <a:pPr algn="ctr">
              <a:buNone/>
              <a:defRPr sz="865" b="0">
                <a:solidFill>
                  <a:srgbClr val="222222"/>
                </a:solidFill>
                <a:latin typeface="微软雅黑"/>
                <a:ea typeface="微软雅黑"/>
                <a:cs typeface="微软雅黑"/>
              </a:defRPr>
            </a:pPr>
            <a:r>
              <a:rPr sz="865" b="0">
                <a:solidFill>
                  <a:srgbClr val="222222"/>
                </a:solidFill>
                <a:latin typeface="微软雅黑"/>
                <a:ea typeface="微软雅黑"/>
                <a:cs typeface="微软雅黑"/>
              </a:rPr>
              <a:t>Override</a:t>
            </a:r>
            <a:endParaRPr sz="675" b="0">
              <a:solidFill>
                <a:srgbClr val="222222"/>
              </a:solidFill>
              <a:latin typeface="Consolas"/>
              <a:ea typeface="Consolas"/>
              <a:cs typeface="Consolas"/>
            </a:endParaRPr>
          </a:p>
        </p:txBody>
      </p:sp>
      <p:sp>
        <p:nvSpPr>
          <p:cNvPr id="73" name="layer-torchtitan-npu"/>
          <p:cNvSpPr>
            <a:spLocks noGrp="1"/>
          </p:cNvSpPr>
          <p:nvPr/>
        </p:nvSpPr>
        <p:spPr>
          <a:xfrm>
            <a:off x="800100" y="3038475"/>
            <a:ext cx="4095750" cy="723900"/>
          </a:xfrm>
          <a:prstGeom prst="roundRect">
            <a:avLst>
              <a:gd name="adj" fmla="val 10526"/>
            </a:avLst>
          </a:prstGeom>
          <a:noFill/>
          <a:ln w="10478">
            <a:solidFill>
              <a:srgbClr val="39434D"/>
            </a:solidFill>
            <a:prstDash val="solid"/>
          </a:ln>
        </p:spPr>
      </p:sp>
      <p:sp>
        <p:nvSpPr>
          <p:cNvPr id="74" name="layer-label-torchtitan-npu"/>
          <p:cNvSpPr>
            <a:spLocks noGrp="1"/>
          </p:cNvSpPr>
          <p:nvPr/>
        </p:nvSpPr>
        <p:spPr>
          <a:xfrm>
            <a:off x="866775" y="3057525"/>
            <a:ext cx="1333500" cy="142875"/>
          </a:xfrm>
          <a:prstGeom prst="rect">
            <a:avLst/>
          </a:prstGeom>
          <a:noFill/>
          <a:ln w="0">
            <a:noFill/>
            <a:prstDash val="solid"/>
          </a:ln>
        </p:spPr>
        <p:txBody>
          <a:bodyPr wrap="square" lIns="19050" tIns="0" rIns="19050" bIns="0" anchor="ctr">
            <a:noAutofit/>
          </a:bodyPr>
          <a:lstStyle/>
          <a:p>
            <a:pPr algn="l">
              <a:buNone/>
              <a:defRPr sz="915" b="0">
                <a:solidFill>
                  <a:srgbClr val="222222"/>
                </a:solidFill>
                <a:latin typeface="微软雅黑"/>
                <a:ea typeface="微软雅黑"/>
                <a:cs typeface="微软雅黑"/>
              </a:defRPr>
            </a:pPr>
            <a:r>
              <a:rPr sz="915" b="0">
                <a:solidFill>
                  <a:srgbClr val="222222"/>
                </a:solidFill>
                <a:latin typeface="微软雅黑"/>
                <a:ea typeface="微软雅黑"/>
                <a:cs typeface="微软雅黑"/>
              </a:rPr>
              <a:t>torchtitan-npu</a:t>
            </a:r>
            <a:endParaRPr sz="790" b="0">
              <a:solidFill>
                <a:srgbClr val="222222"/>
              </a:solidFill>
              <a:latin typeface="Consolas"/>
              <a:ea typeface="Consolas"/>
              <a:cs typeface="Consolas"/>
            </a:endParaRPr>
          </a:p>
        </p:txBody>
      </p:sp>
      <p:sp>
        <p:nvSpPr>
          <p:cNvPr id="75" name="ttnpu-injection"/>
          <p:cNvSpPr>
            <a:spLocks noGrp="1"/>
          </p:cNvSpPr>
          <p:nvPr/>
        </p:nvSpPr>
        <p:spPr>
          <a:xfrm>
            <a:off x="866775" y="3257550"/>
            <a:ext cx="666750" cy="400050"/>
          </a:xfrm>
          <a:prstGeom prst="roundRect">
            <a:avLst>
              <a:gd name="adj" fmla="val 11905"/>
            </a:avLst>
          </a:prstGeom>
          <a:pattFill prst="dnDiag">
            <a:fgClr>
              <a:srgbClr val="D3B22F">
                <a:alpha val="45000"/>
              </a:srgbClr>
            </a:fgClr>
            <a:bgClr>
              <a:srgbClr val="FBE88C"/>
            </a:bgClr>
          </a:pattFill>
          <a:ln w="8573">
            <a:solidFill>
              <a:srgbClr val="39434D"/>
            </a:solidFill>
            <a:prstDash val="solid"/>
          </a:ln>
        </p:spPr>
        <p:txBody>
          <a:bodyPr wrap="square" lIns="19050" tIns="9525" rIns="19050" bIns="9525" anchor="ctr">
            <a:noAutofit/>
          </a:bodyPr>
          <a:lstStyle/>
          <a:p>
            <a:pPr algn="ctr">
              <a:buNone/>
              <a:defRPr sz="865" b="0">
                <a:solidFill>
                  <a:srgbClr val="222222"/>
                </a:solidFill>
                <a:latin typeface="微软雅黑"/>
                <a:ea typeface="微软雅黑"/>
                <a:cs typeface="微软雅黑"/>
              </a:defRPr>
            </a:pPr>
            <a:r>
              <a:rPr sz="865" b="0">
                <a:solidFill>
                  <a:srgbClr val="222222"/>
                </a:solidFill>
                <a:latin typeface="微软雅黑"/>
                <a:ea typeface="微软雅黑"/>
                <a:cs typeface="微软雅黑"/>
              </a:rPr>
              <a:t>模型扩展</a:t>
            </a:r>
            <a:endParaRPr sz="640" b="0">
              <a:solidFill>
                <a:srgbClr val="222222"/>
              </a:solidFill>
              <a:latin typeface="Consolas"/>
              <a:ea typeface="Consolas"/>
              <a:cs typeface="Consolas"/>
            </a:endParaRPr>
          </a:p>
        </p:txBody>
      </p:sp>
      <p:sp>
        <p:nvSpPr>
          <p:cNvPr id="76" name="ttnpu-converter"/>
          <p:cNvSpPr>
            <a:spLocks noGrp="1"/>
          </p:cNvSpPr>
          <p:nvPr/>
        </p:nvSpPr>
        <p:spPr>
          <a:xfrm>
            <a:off x="1581150" y="3257550"/>
            <a:ext cx="1000125" cy="400050"/>
          </a:xfrm>
          <a:prstGeom prst="roundRect">
            <a:avLst>
              <a:gd name="adj" fmla="val 11905"/>
            </a:avLst>
          </a:prstGeom>
          <a:pattFill prst="dnDiag">
            <a:fgClr>
              <a:srgbClr val="D3B22F">
                <a:alpha val="45000"/>
              </a:srgbClr>
            </a:fgClr>
            <a:bgClr>
              <a:srgbClr val="FBE88C"/>
            </a:bgClr>
          </a:pattFill>
          <a:ln w="8573">
            <a:solidFill>
              <a:srgbClr val="39434D"/>
            </a:solidFill>
            <a:prstDash val="solid"/>
          </a:ln>
        </p:spPr>
        <p:txBody>
          <a:bodyPr wrap="square" lIns="19050" tIns="9525" rIns="19050" bIns="9525" anchor="ctr">
            <a:noAutofit/>
          </a:bodyPr>
          <a:lstStyle/>
          <a:p>
            <a:pPr algn="ctr">
              <a:buNone/>
              <a:defRPr sz="865" b="0">
                <a:solidFill>
                  <a:srgbClr val="222222"/>
                </a:solidFill>
                <a:latin typeface="微软雅黑"/>
                <a:ea typeface="微软雅黑"/>
                <a:cs typeface="微软雅黑"/>
              </a:defRPr>
            </a:pPr>
            <a:r>
              <a:rPr sz="865" b="0">
                <a:solidFill>
                  <a:srgbClr val="222222"/>
                </a:solidFill>
                <a:latin typeface="微软雅黑"/>
                <a:ea typeface="微软雅黑"/>
                <a:cs typeface="微软雅黑"/>
              </a:rPr>
              <a:t>组件 Override</a:t>
            </a:r>
            <a:endParaRPr sz="595" b="0">
              <a:solidFill>
                <a:srgbClr val="222222"/>
              </a:solidFill>
              <a:latin typeface="Consolas"/>
              <a:ea typeface="Consolas"/>
              <a:cs typeface="Consolas"/>
            </a:endParaRPr>
          </a:p>
        </p:txBody>
      </p:sp>
      <p:sp>
        <p:nvSpPr>
          <p:cNvPr id="77" name="ttnpu-native"/>
          <p:cNvSpPr>
            <a:spLocks noGrp="1"/>
          </p:cNvSpPr>
          <p:nvPr/>
        </p:nvSpPr>
        <p:spPr>
          <a:xfrm>
            <a:off x="2628900" y="3257550"/>
            <a:ext cx="962025" cy="400050"/>
          </a:xfrm>
          <a:prstGeom prst="roundRect">
            <a:avLst>
              <a:gd name="adj" fmla="val 11905"/>
            </a:avLst>
          </a:prstGeom>
          <a:pattFill prst="dnDiag">
            <a:fgClr>
              <a:srgbClr val="D3B22F">
                <a:alpha val="45000"/>
              </a:srgbClr>
            </a:fgClr>
            <a:bgClr>
              <a:srgbClr val="FBE88C"/>
            </a:bgClr>
          </a:pattFill>
          <a:ln w="8573">
            <a:solidFill>
              <a:srgbClr val="39434D"/>
            </a:solidFill>
            <a:prstDash val="solid"/>
          </a:ln>
        </p:spPr>
        <p:txBody>
          <a:bodyPr wrap="square" lIns="19050" tIns="9525" rIns="19050" bIns="9525" anchor="ctr">
            <a:noAutofit/>
          </a:bodyPr>
          <a:lstStyle/>
          <a:p>
            <a:pPr algn="ctr">
              <a:buNone/>
              <a:defRPr sz="865" b="0">
                <a:solidFill>
                  <a:srgbClr val="222222"/>
                </a:solidFill>
                <a:latin typeface="微软雅黑"/>
                <a:ea typeface="微软雅黑"/>
                <a:cs typeface="微软雅黑"/>
              </a:defRPr>
            </a:pPr>
            <a:r>
              <a:rPr sz="865" b="0">
                <a:solidFill>
                  <a:srgbClr val="222222"/>
                </a:solidFill>
                <a:latin typeface="微软雅黑"/>
                <a:ea typeface="微软雅黑"/>
                <a:cs typeface="微软雅黑"/>
              </a:rPr>
              <a:t>兼容 Patch</a:t>
            </a:r>
            <a:endParaRPr sz="595" b="0">
              <a:solidFill>
                <a:srgbClr val="222222"/>
              </a:solidFill>
              <a:latin typeface="Consolas"/>
              <a:ea typeface="Consolas"/>
              <a:cs typeface="Consolas"/>
            </a:endParaRPr>
          </a:p>
        </p:txBody>
      </p:sp>
      <p:sp>
        <p:nvSpPr>
          <p:cNvPr id="78" name="ttnpu-enhanced"/>
          <p:cNvSpPr>
            <a:spLocks noGrp="1"/>
          </p:cNvSpPr>
          <p:nvPr/>
        </p:nvSpPr>
        <p:spPr>
          <a:xfrm>
            <a:off x="3638550" y="3257550"/>
            <a:ext cx="1190625" cy="400050"/>
          </a:xfrm>
          <a:prstGeom prst="roundRect">
            <a:avLst>
              <a:gd name="adj" fmla="val 11905"/>
            </a:avLst>
          </a:prstGeom>
          <a:pattFill prst="dnDiag">
            <a:fgClr>
              <a:srgbClr val="D3B22F">
                <a:alpha val="45000"/>
              </a:srgbClr>
            </a:fgClr>
            <a:bgClr>
              <a:srgbClr val="FBE88C"/>
            </a:bgClr>
          </a:pattFill>
          <a:ln w="8573">
            <a:solidFill>
              <a:srgbClr val="39434D"/>
            </a:solidFill>
            <a:prstDash val="solid"/>
          </a:ln>
        </p:spPr>
        <p:txBody>
          <a:bodyPr wrap="square" lIns="19050" tIns="9525" rIns="19050" bIns="9525" anchor="ctr">
            <a:noAutofit/>
          </a:bodyPr>
          <a:lstStyle/>
          <a:p>
            <a:pPr algn="ctr">
              <a:buNone/>
              <a:defRPr sz="865" b="0">
                <a:solidFill>
                  <a:srgbClr val="222222"/>
                </a:solidFill>
                <a:latin typeface="微软雅黑"/>
                <a:ea typeface="微软雅黑"/>
                <a:cs typeface="微软雅黑"/>
              </a:defRPr>
            </a:pPr>
            <a:r>
              <a:rPr sz="865" b="0">
                <a:solidFill>
                  <a:srgbClr val="222222"/>
                </a:solidFill>
                <a:latin typeface="微软雅黑"/>
                <a:ea typeface="微软雅黑"/>
                <a:cs typeface="微软雅黑"/>
              </a:rPr>
              <a:t>配置与并行扩展</a:t>
            </a:r>
            <a:endParaRPr sz="570" b="0">
              <a:solidFill>
                <a:srgbClr val="222222"/>
              </a:solidFill>
              <a:latin typeface="Consolas"/>
              <a:ea typeface="Consolas"/>
              <a:cs typeface="Consolas"/>
            </a:endParaRPr>
          </a:p>
        </p:txBody>
      </p:sp>
      <p:sp>
        <p:nvSpPr>
          <p:cNvPr id="79" name="layer-pytorch-torchnpu"/>
          <p:cNvSpPr>
            <a:spLocks noGrp="1"/>
          </p:cNvSpPr>
          <p:nvPr/>
        </p:nvSpPr>
        <p:spPr>
          <a:xfrm>
            <a:off x="800100" y="4438650"/>
            <a:ext cx="4095750" cy="571500"/>
          </a:xfrm>
          <a:prstGeom prst="roundRect">
            <a:avLst>
              <a:gd name="adj" fmla="val 13333"/>
            </a:avLst>
          </a:prstGeom>
          <a:noFill/>
          <a:ln w="10478">
            <a:solidFill>
              <a:srgbClr val="39434D"/>
            </a:solidFill>
            <a:prstDash val="solid"/>
          </a:ln>
        </p:spPr>
      </p:sp>
      <p:sp>
        <p:nvSpPr>
          <p:cNvPr id="80" name="layer-label-pytorch"/>
          <p:cNvSpPr>
            <a:spLocks noGrp="1"/>
          </p:cNvSpPr>
          <p:nvPr/>
        </p:nvSpPr>
        <p:spPr>
          <a:xfrm>
            <a:off x="866775" y="4457700"/>
            <a:ext cx="904875" cy="142875"/>
          </a:xfrm>
          <a:prstGeom prst="rect">
            <a:avLst/>
          </a:prstGeom>
          <a:noFill/>
          <a:ln w="0">
            <a:noFill/>
            <a:prstDash val="solid"/>
          </a:ln>
        </p:spPr>
        <p:txBody>
          <a:bodyPr wrap="square" lIns="19050" tIns="0" rIns="19050" bIns="0" anchor="ctr">
            <a:noAutofit/>
          </a:bodyPr>
          <a:lstStyle/>
          <a:p>
            <a:pPr algn="l">
              <a:buNone/>
              <a:defRPr sz="915" b="0">
                <a:solidFill>
                  <a:srgbClr val="222222"/>
                </a:solidFill>
                <a:latin typeface="微软雅黑"/>
                <a:ea typeface="微软雅黑"/>
                <a:cs typeface="微软雅黑"/>
              </a:defRPr>
            </a:pPr>
            <a:r>
              <a:rPr sz="915" b="0">
                <a:solidFill>
                  <a:srgbClr val="222222"/>
                </a:solidFill>
                <a:latin typeface="微软雅黑"/>
                <a:ea typeface="微软雅黑"/>
                <a:cs typeface="微软雅黑"/>
              </a:rPr>
              <a:t>PyTorch</a:t>
            </a:r>
            <a:endParaRPr sz="790" b="0">
              <a:solidFill>
                <a:srgbClr val="222222"/>
              </a:solidFill>
              <a:latin typeface="Consolas"/>
              <a:ea typeface="Consolas"/>
              <a:cs typeface="Consolas"/>
            </a:endParaRPr>
          </a:p>
        </p:txBody>
      </p:sp>
      <p:sp>
        <p:nvSpPr>
          <p:cNvPr id="81" name="layer-label-torchnpu"/>
          <p:cNvSpPr>
            <a:spLocks noGrp="1"/>
          </p:cNvSpPr>
          <p:nvPr/>
        </p:nvSpPr>
        <p:spPr>
          <a:xfrm>
            <a:off x="3295650" y="4457700"/>
            <a:ext cx="952500" cy="142875"/>
          </a:xfrm>
          <a:prstGeom prst="rect">
            <a:avLst/>
          </a:prstGeom>
          <a:noFill/>
          <a:ln w="0">
            <a:noFill/>
            <a:prstDash val="solid"/>
          </a:ln>
        </p:spPr>
        <p:txBody>
          <a:bodyPr wrap="square" lIns="19050" tIns="0" rIns="19050" bIns="0" anchor="ctr">
            <a:noAutofit/>
          </a:bodyPr>
          <a:lstStyle/>
          <a:p>
            <a:pPr algn="l">
              <a:buNone/>
              <a:defRPr sz="915" b="0">
                <a:solidFill>
                  <a:srgbClr val="222222"/>
                </a:solidFill>
                <a:latin typeface="微软雅黑"/>
                <a:ea typeface="微软雅黑"/>
                <a:cs typeface="微软雅黑"/>
              </a:defRPr>
            </a:pPr>
            <a:r>
              <a:rPr sz="915" b="0">
                <a:solidFill>
                  <a:srgbClr val="222222"/>
                </a:solidFill>
                <a:latin typeface="微软雅黑"/>
                <a:ea typeface="微软雅黑"/>
                <a:cs typeface="微软雅黑"/>
              </a:rPr>
              <a:t>torch_npu</a:t>
            </a:r>
            <a:endParaRPr sz="790" b="0">
              <a:solidFill>
                <a:srgbClr val="222222"/>
              </a:solidFill>
              <a:latin typeface="Consolas"/>
              <a:ea typeface="Consolas"/>
              <a:cs typeface="Consolas"/>
            </a:endParaRPr>
          </a:p>
        </p:txBody>
      </p:sp>
      <p:sp>
        <p:nvSpPr>
          <p:cNvPr id="82" name="pt-fsdp2"/>
          <p:cNvSpPr>
            <a:spLocks noGrp="1"/>
          </p:cNvSpPr>
          <p:nvPr/>
        </p:nvSpPr>
        <p:spPr>
          <a:xfrm>
            <a:off x="866775" y="4657725"/>
            <a:ext cx="552450" cy="247650"/>
          </a:xfrm>
          <a:prstGeom prst="roundRect">
            <a:avLst>
              <a:gd name="adj" fmla="val 19231"/>
            </a:avLst>
          </a:prstGeom>
          <a:pattFill prst="dnDiag">
            <a:fgClr>
              <a:srgbClr val="BCD0D8">
                <a:alpha val="45000"/>
              </a:srgbClr>
            </a:fgClr>
            <a:bgClr>
              <a:srgbClr val="EDF4F7"/>
            </a:bgClr>
          </a:pattFill>
          <a:ln w="8573">
            <a:solidFill>
              <a:srgbClr val="39434D"/>
            </a:solidFill>
            <a:prstDash val="solid"/>
          </a:ln>
        </p:spPr>
        <p:txBody>
          <a:bodyPr wrap="square" lIns="19050" tIns="9525" rIns="19050" bIns="9525" anchor="ctr">
            <a:normAutofit/>
          </a:bodyPr>
          <a:lstStyle/>
          <a:p>
            <a:pPr algn="ctr">
              <a:buNone/>
              <a:defRPr sz="645" b="0">
                <a:solidFill>
                  <a:srgbClr val="222222"/>
                </a:solidFill>
                <a:latin typeface="Consolas"/>
                <a:ea typeface="Consolas"/>
                <a:cs typeface="Consolas"/>
              </a:defRPr>
            </a:pPr>
            <a:r>
              <a:rPr sz="645" b="0">
                <a:solidFill>
                  <a:srgbClr val="222222"/>
                </a:solidFill>
                <a:latin typeface="Consolas"/>
                <a:ea typeface="Consolas"/>
                <a:cs typeface="Consolas"/>
              </a:rPr>
              <a:t>FSDP2</a:t>
            </a:r>
            <a:endParaRPr sz="645" b="0">
              <a:solidFill>
                <a:srgbClr val="222222"/>
              </a:solidFill>
              <a:latin typeface="Consolas"/>
              <a:ea typeface="Consolas"/>
              <a:cs typeface="Consolas"/>
            </a:endParaRPr>
          </a:p>
        </p:txBody>
      </p:sp>
      <p:sp>
        <p:nvSpPr>
          <p:cNvPr id="83" name="pt-inductor"/>
          <p:cNvSpPr>
            <a:spLocks noGrp="1"/>
          </p:cNvSpPr>
          <p:nvPr/>
        </p:nvSpPr>
        <p:spPr>
          <a:xfrm>
            <a:off x="1466850" y="4657725"/>
            <a:ext cx="619125" cy="247650"/>
          </a:xfrm>
          <a:prstGeom prst="roundRect">
            <a:avLst>
              <a:gd name="adj" fmla="val 19231"/>
            </a:avLst>
          </a:prstGeom>
          <a:pattFill prst="dnDiag">
            <a:fgClr>
              <a:srgbClr val="BCD0D8">
                <a:alpha val="45000"/>
              </a:srgbClr>
            </a:fgClr>
            <a:bgClr>
              <a:srgbClr val="EDF4F7"/>
            </a:bgClr>
          </a:pattFill>
          <a:ln w="8573">
            <a:solidFill>
              <a:srgbClr val="39434D"/>
            </a:solidFill>
            <a:prstDash val="solid"/>
          </a:ln>
        </p:spPr>
        <p:txBody>
          <a:bodyPr wrap="square" lIns="19050" tIns="9525" rIns="19050" bIns="9525" anchor="ctr">
            <a:normAutofit/>
          </a:bodyPr>
          <a:lstStyle/>
          <a:p>
            <a:pPr algn="ctr">
              <a:buNone/>
              <a:defRPr sz="640" b="0">
                <a:solidFill>
                  <a:srgbClr val="222222"/>
                </a:solidFill>
                <a:latin typeface="Consolas"/>
                <a:ea typeface="Consolas"/>
                <a:cs typeface="Consolas"/>
              </a:defRPr>
            </a:pPr>
            <a:r>
              <a:rPr sz="640" b="0">
                <a:solidFill>
                  <a:srgbClr val="222222"/>
                </a:solidFill>
                <a:latin typeface="Consolas"/>
                <a:ea typeface="Consolas"/>
                <a:cs typeface="Consolas"/>
              </a:rPr>
              <a:t>Inductor</a:t>
            </a:r>
            <a:endParaRPr sz="640" b="0">
              <a:solidFill>
                <a:srgbClr val="222222"/>
              </a:solidFill>
              <a:latin typeface="Consolas"/>
              <a:ea typeface="Consolas"/>
              <a:cs typeface="Consolas"/>
            </a:endParaRPr>
          </a:p>
        </p:txBody>
      </p:sp>
      <p:sp>
        <p:nvSpPr>
          <p:cNvPr id="84" name="pt-compile"/>
          <p:cNvSpPr>
            <a:spLocks noGrp="1"/>
          </p:cNvSpPr>
          <p:nvPr/>
        </p:nvSpPr>
        <p:spPr>
          <a:xfrm>
            <a:off x="2133600" y="4657725"/>
            <a:ext cx="809625" cy="247650"/>
          </a:xfrm>
          <a:prstGeom prst="roundRect">
            <a:avLst>
              <a:gd name="adj" fmla="val 19231"/>
            </a:avLst>
          </a:prstGeom>
          <a:pattFill prst="dnDiag">
            <a:fgClr>
              <a:srgbClr val="BCD0D8">
                <a:alpha val="45000"/>
              </a:srgbClr>
            </a:fgClr>
            <a:bgClr>
              <a:srgbClr val="EDF4F7"/>
            </a:bgClr>
          </a:pattFill>
          <a:ln w="8573">
            <a:solidFill>
              <a:srgbClr val="39434D"/>
            </a:solidFill>
            <a:prstDash val="solid"/>
          </a:ln>
        </p:spPr>
        <p:txBody>
          <a:bodyPr wrap="square" lIns="19050" tIns="9525" rIns="19050" bIns="9525" anchor="ctr">
            <a:noAutofit/>
          </a:bodyPr>
          <a:lstStyle/>
          <a:p>
            <a:pPr algn="ctr">
              <a:buNone/>
              <a:defRPr sz="865" b="0">
                <a:solidFill>
                  <a:srgbClr val="222222"/>
                </a:solidFill>
                <a:latin typeface="微软雅黑"/>
                <a:ea typeface="微软雅黑"/>
                <a:cs typeface="微软雅黑"/>
              </a:defRPr>
            </a:pPr>
            <a:r>
              <a:rPr sz="865" b="0">
                <a:solidFill>
                  <a:srgbClr val="222222"/>
                </a:solidFill>
                <a:latin typeface="微软雅黑"/>
                <a:ea typeface="微软雅黑"/>
                <a:cs typeface="微软雅黑"/>
              </a:rPr>
              <a:t>torch.compile</a:t>
            </a:r>
            <a:endParaRPr sz="605" b="0">
              <a:solidFill>
                <a:srgbClr val="222222"/>
              </a:solidFill>
              <a:latin typeface="Consolas"/>
              <a:ea typeface="Consolas"/>
              <a:cs typeface="Consolas"/>
            </a:endParaRPr>
          </a:p>
        </p:txBody>
      </p:sp>
      <p:sp>
        <p:nvSpPr>
          <p:cNvPr id="85" name="npu-dtensor"/>
          <p:cNvSpPr>
            <a:spLocks noGrp="1"/>
          </p:cNvSpPr>
          <p:nvPr/>
        </p:nvSpPr>
        <p:spPr>
          <a:xfrm>
            <a:off x="3028950" y="4657725"/>
            <a:ext cx="685800" cy="247650"/>
          </a:xfrm>
          <a:prstGeom prst="roundRect">
            <a:avLst>
              <a:gd name="adj" fmla="val 19231"/>
            </a:avLst>
          </a:prstGeom>
          <a:pattFill prst="dnDiag">
            <a:fgClr>
              <a:srgbClr val="D3B22F">
                <a:alpha val="45000"/>
              </a:srgbClr>
            </a:fgClr>
            <a:bgClr>
              <a:srgbClr val="FBE88C"/>
            </a:bgClr>
          </a:pattFill>
          <a:ln w="8573">
            <a:solidFill>
              <a:srgbClr val="39434D"/>
            </a:solidFill>
            <a:prstDash val="solid"/>
          </a:ln>
        </p:spPr>
        <p:txBody>
          <a:bodyPr wrap="square" lIns="19050" tIns="9525" rIns="19050" bIns="9525" anchor="ctr">
            <a:noAutofit/>
          </a:bodyPr>
          <a:lstStyle/>
          <a:p>
            <a:pPr algn="ctr">
              <a:buNone/>
              <a:defRPr sz="865" b="0">
                <a:solidFill>
                  <a:srgbClr val="222222"/>
                </a:solidFill>
                <a:latin typeface="微软雅黑"/>
                <a:ea typeface="微软雅黑"/>
                <a:cs typeface="微软雅黑"/>
              </a:defRPr>
            </a:pPr>
            <a:r>
              <a:rPr sz="865" b="0">
                <a:solidFill>
                  <a:srgbClr val="222222"/>
                </a:solidFill>
                <a:latin typeface="微软雅黑"/>
                <a:ea typeface="微软雅黑"/>
                <a:cs typeface="微软雅黑"/>
              </a:rPr>
              <a:t>DTensor API</a:t>
            </a:r>
            <a:endParaRPr sz="615" b="0">
              <a:solidFill>
                <a:srgbClr val="222222"/>
              </a:solidFill>
              <a:latin typeface="Consolas"/>
              <a:ea typeface="Consolas"/>
              <a:cs typeface="Consolas"/>
            </a:endParaRPr>
          </a:p>
        </p:txBody>
      </p:sp>
      <p:sp>
        <p:nvSpPr>
          <p:cNvPr id="86" name="npu-inductor-ext"/>
          <p:cNvSpPr>
            <a:spLocks noGrp="1"/>
          </p:cNvSpPr>
          <p:nvPr/>
        </p:nvSpPr>
        <p:spPr>
          <a:xfrm>
            <a:off x="3762375" y="4657725"/>
            <a:ext cx="685800" cy="247650"/>
          </a:xfrm>
          <a:prstGeom prst="roundRect">
            <a:avLst>
              <a:gd name="adj" fmla="val 19231"/>
            </a:avLst>
          </a:prstGeom>
          <a:pattFill prst="dnDiag">
            <a:fgClr>
              <a:srgbClr val="D3B22F">
                <a:alpha val="45000"/>
              </a:srgbClr>
            </a:fgClr>
            <a:bgClr>
              <a:srgbClr val="FBE88C"/>
            </a:bgClr>
          </a:pattFill>
          <a:ln w="8573">
            <a:solidFill>
              <a:srgbClr val="39434D"/>
            </a:solidFill>
            <a:prstDash val="solid"/>
          </a:ln>
        </p:spPr>
        <p:txBody>
          <a:bodyPr wrap="square" lIns="19050" tIns="9525" rIns="19050" bIns="9525" anchor="ctr">
            <a:noAutofit/>
          </a:bodyPr>
          <a:lstStyle/>
          <a:p>
            <a:pPr algn="ctr">
              <a:buNone/>
              <a:defRPr sz="865" b="0">
                <a:solidFill>
                  <a:srgbClr val="222222"/>
                </a:solidFill>
                <a:latin typeface="微软雅黑"/>
                <a:ea typeface="微软雅黑"/>
                <a:cs typeface="微软雅黑"/>
              </a:defRPr>
            </a:pPr>
            <a:r>
              <a:rPr sz="865" b="0">
                <a:solidFill>
                  <a:srgbClr val="222222"/>
                </a:solidFill>
                <a:latin typeface="微软雅黑"/>
                <a:ea typeface="微软雅黑"/>
                <a:cs typeface="微软雅黑"/>
              </a:rPr>
              <a:t>AscendC</a:t>
            </a:r>
            <a:endParaRPr sz="605" b="0">
              <a:solidFill>
                <a:srgbClr val="222222"/>
              </a:solidFill>
              <a:latin typeface="Consolas"/>
              <a:ea typeface="Consolas"/>
              <a:cs typeface="Consolas"/>
            </a:endParaRPr>
          </a:p>
          <a:p>
            <a:pPr algn="ctr">
              <a:buNone/>
              <a:defRPr sz="865" b="0">
                <a:solidFill>
                  <a:srgbClr val="222222"/>
                </a:solidFill>
                <a:latin typeface="微软雅黑"/>
                <a:ea typeface="微软雅黑"/>
                <a:cs typeface="微软雅黑"/>
              </a:defRPr>
            </a:pPr>
            <a:r>
              <a:rPr sz="865" b="0">
                <a:solidFill>
                  <a:srgbClr val="222222"/>
                </a:solidFill>
                <a:latin typeface="微软雅黑"/>
                <a:ea typeface="微软雅黑"/>
                <a:cs typeface="微软雅黑"/>
              </a:rPr>
              <a:t>Codegen</a:t>
            </a:r>
            <a:endParaRPr sz="605" b="0">
              <a:solidFill>
                <a:srgbClr val="222222"/>
              </a:solidFill>
              <a:latin typeface="Consolas"/>
              <a:ea typeface="Consolas"/>
              <a:cs typeface="Consolas"/>
            </a:endParaRPr>
          </a:p>
        </p:txBody>
      </p:sp>
      <p:sp>
        <p:nvSpPr>
          <p:cNvPr id="87" name="npu-more"/>
          <p:cNvSpPr>
            <a:spLocks noGrp="1"/>
          </p:cNvSpPr>
          <p:nvPr/>
        </p:nvSpPr>
        <p:spPr>
          <a:xfrm>
            <a:off x="4495800" y="4657725"/>
            <a:ext cx="333375" cy="247650"/>
          </a:xfrm>
          <a:prstGeom prst="roundRect">
            <a:avLst>
              <a:gd name="adj" fmla="val 19231"/>
            </a:avLst>
          </a:prstGeom>
          <a:pattFill prst="dnDiag">
            <a:fgClr>
              <a:srgbClr val="D3B22F">
                <a:alpha val="45000"/>
              </a:srgbClr>
            </a:fgClr>
            <a:bgClr>
              <a:srgbClr val="FBE88C"/>
            </a:bgClr>
          </a:pattFill>
          <a:ln w="8573">
            <a:solidFill>
              <a:srgbClr val="39434D"/>
            </a:solidFill>
            <a:prstDash val="solid"/>
          </a:ln>
        </p:spPr>
        <p:txBody>
          <a:bodyPr wrap="square" lIns="19050" tIns="9525" rIns="19050" bIns="9525" anchor="ctr">
            <a:normAutofit/>
          </a:bodyPr>
          <a:lstStyle/>
          <a:p>
            <a:pPr algn="ctr">
              <a:buNone/>
              <a:defRPr sz="675" b="0">
                <a:solidFill>
                  <a:srgbClr val="222222"/>
                </a:solidFill>
                <a:latin typeface="Consolas"/>
                <a:ea typeface="Consolas"/>
                <a:cs typeface="Consolas"/>
              </a:defRPr>
            </a:pPr>
            <a:r>
              <a:rPr sz="675" b="0">
                <a:solidFill>
                  <a:srgbClr val="222222"/>
                </a:solidFill>
                <a:latin typeface="Consolas"/>
                <a:ea typeface="Consolas"/>
                <a:cs typeface="Consolas"/>
              </a:rPr>
              <a:t>…</a:t>
            </a:r>
            <a:endParaRPr sz="675" b="0">
              <a:solidFill>
                <a:srgbClr val="222222"/>
              </a:solidFill>
              <a:latin typeface="Consolas"/>
              <a:ea typeface="Consolas"/>
              <a:cs typeface="Consolas"/>
            </a:endParaRPr>
          </a:p>
        </p:txBody>
      </p:sp>
      <p:sp>
        <p:nvSpPr>
          <p:cNvPr id="88" name="layer-cann"/>
          <p:cNvSpPr>
            <a:spLocks noGrp="1"/>
          </p:cNvSpPr>
          <p:nvPr/>
        </p:nvSpPr>
        <p:spPr>
          <a:xfrm>
            <a:off x="800100" y="5067300"/>
            <a:ext cx="4095750" cy="561975"/>
          </a:xfrm>
          <a:prstGeom prst="roundRect">
            <a:avLst>
              <a:gd name="adj" fmla="val 13559"/>
            </a:avLst>
          </a:prstGeom>
          <a:noFill/>
          <a:ln w="10478">
            <a:solidFill>
              <a:srgbClr val="39434D"/>
            </a:solidFill>
            <a:prstDash val="solid"/>
          </a:ln>
        </p:spPr>
      </p:sp>
      <p:sp>
        <p:nvSpPr>
          <p:cNvPr id="89" name="layer-label-cann"/>
          <p:cNvSpPr>
            <a:spLocks noGrp="1"/>
          </p:cNvSpPr>
          <p:nvPr/>
        </p:nvSpPr>
        <p:spPr>
          <a:xfrm>
            <a:off x="866775" y="5086350"/>
            <a:ext cx="762000" cy="142875"/>
          </a:xfrm>
          <a:prstGeom prst="rect">
            <a:avLst/>
          </a:prstGeom>
          <a:noFill/>
          <a:ln w="0">
            <a:noFill/>
            <a:prstDash val="solid"/>
          </a:ln>
        </p:spPr>
        <p:txBody>
          <a:bodyPr wrap="square" lIns="19050" tIns="0" rIns="19050" bIns="0" anchor="ctr">
            <a:normAutofit/>
          </a:bodyPr>
          <a:lstStyle/>
          <a:p>
            <a:pPr algn="l">
              <a:buNone/>
              <a:defRPr sz="790" b="0">
                <a:solidFill>
                  <a:srgbClr val="222222"/>
                </a:solidFill>
                <a:latin typeface="Consolas"/>
                <a:ea typeface="Consolas"/>
                <a:cs typeface="Consolas"/>
              </a:defRPr>
            </a:pPr>
            <a:r>
              <a:rPr sz="790" b="0">
                <a:solidFill>
                  <a:srgbClr val="222222"/>
                </a:solidFill>
                <a:latin typeface="Consolas"/>
                <a:ea typeface="Consolas"/>
                <a:cs typeface="Consolas"/>
              </a:rPr>
              <a:t>CANN</a:t>
            </a:r>
            <a:endParaRPr sz="790" b="0">
              <a:solidFill>
                <a:srgbClr val="222222"/>
              </a:solidFill>
              <a:latin typeface="Consolas"/>
              <a:ea typeface="Consolas"/>
              <a:cs typeface="Consolas"/>
            </a:endParaRPr>
          </a:p>
        </p:txBody>
      </p:sp>
      <p:sp>
        <p:nvSpPr>
          <p:cNvPr id="90" name="cann-autofuse"/>
          <p:cNvSpPr>
            <a:spLocks noGrp="1"/>
          </p:cNvSpPr>
          <p:nvPr/>
        </p:nvSpPr>
        <p:spPr>
          <a:xfrm>
            <a:off x="866775" y="5286375"/>
            <a:ext cx="866775" cy="238125"/>
          </a:xfrm>
          <a:prstGeom prst="roundRect">
            <a:avLst>
              <a:gd name="adj" fmla="val 20000"/>
            </a:avLst>
          </a:prstGeom>
          <a:pattFill prst="dnDiag">
            <a:fgClr>
              <a:srgbClr val="D3B22F">
                <a:alpha val="45000"/>
              </a:srgbClr>
            </a:fgClr>
            <a:bgClr>
              <a:srgbClr val="FBE88C"/>
            </a:bgClr>
          </a:pattFill>
          <a:ln w="8573">
            <a:solidFill>
              <a:srgbClr val="39434D"/>
            </a:solidFill>
            <a:prstDash val="solid"/>
          </a:ln>
        </p:spPr>
        <p:txBody>
          <a:bodyPr wrap="square" lIns="19050" tIns="9525" rIns="19050" bIns="9525" anchor="ctr">
            <a:noAutofit/>
          </a:bodyPr>
          <a:lstStyle/>
          <a:p>
            <a:pPr algn="ctr">
              <a:buNone/>
              <a:defRPr sz="865" b="0">
                <a:solidFill>
                  <a:srgbClr val="222222"/>
                </a:solidFill>
                <a:latin typeface="微软雅黑"/>
                <a:ea typeface="微软雅黑"/>
                <a:cs typeface="微软雅黑"/>
              </a:defRPr>
            </a:pPr>
            <a:r>
              <a:rPr sz="865" b="0">
                <a:solidFill>
                  <a:srgbClr val="222222"/>
                </a:solidFill>
                <a:latin typeface="微软雅黑"/>
                <a:ea typeface="微软雅黑"/>
                <a:cs typeface="微软雅黑"/>
              </a:rPr>
              <a:t>AscendC</a:t>
            </a:r>
            <a:endParaRPr sz="585" b="0">
              <a:solidFill>
                <a:srgbClr val="222222"/>
              </a:solidFill>
              <a:latin typeface="Consolas"/>
              <a:ea typeface="Consolas"/>
              <a:cs typeface="Consolas"/>
            </a:endParaRPr>
          </a:p>
          <a:p>
            <a:pPr algn="ctr">
              <a:buNone/>
              <a:defRPr sz="865" b="0">
                <a:solidFill>
                  <a:srgbClr val="222222"/>
                </a:solidFill>
                <a:latin typeface="微软雅黑"/>
                <a:ea typeface="微软雅黑"/>
                <a:cs typeface="微软雅黑"/>
              </a:defRPr>
            </a:pPr>
            <a:r>
              <a:rPr sz="865" b="0">
                <a:solidFill>
                  <a:srgbClr val="222222"/>
                </a:solidFill>
                <a:latin typeface="微软雅黑"/>
                <a:ea typeface="微软雅黑"/>
                <a:cs typeface="微软雅黑"/>
              </a:rPr>
              <a:t>AutoFuse</a:t>
            </a:r>
            <a:endParaRPr sz="585" b="0">
              <a:solidFill>
                <a:srgbClr val="222222"/>
              </a:solidFill>
              <a:latin typeface="Consolas"/>
              <a:ea typeface="Consolas"/>
              <a:cs typeface="Consolas"/>
            </a:endParaRPr>
          </a:p>
        </p:txBody>
      </p:sp>
      <p:sp>
        <p:nvSpPr>
          <p:cNvPr id="91" name="cann-kernel"/>
          <p:cNvSpPr>
            <a:spLocks noGrp="1"/>
          </p:cNvSpPr>
          <p:nvPr/>
        </p:nvSpPr>
        <p:spPr>
          <a:xfrm>
            <a:off x="1781175" y="5286375"/>
            <a:ext cx="800100" cy="238125"/>
          </a:xfrm>
          <a:prstGeom prst="roundRect">
            <a:avLst>
              <a:gd name="adj" fmla="val 20000"/>
            </a:avLst>
          </a:prstGeom>
          <a:pattFill prst="dnDiag">
            <a:fgClr>
              <a:srgbClr val="D3B22F">
                <a:alpha val="45000"/>
              </a:srgbClr>
            </a:fgClr>
            <a:bgClr>
              <a:srgbClr val="FBE88C"/>
            </a:bgClr>
          </a:pattFill>
          <a:ln w="8573">
            <a:solidFill>
              <a:srgbClr val="39434D"/>
            </a:solidFill>
            <a:prstDash val="solid"/>
          </a:ln>
        </p:spPr>
        <p:txBody>
          <a:bodyPr wrap="square" lIns="19050" tIns="9525" rIns="19050" bIns="9525" anchor="ctr">
            <a:noAutofit/>
          </a:bodyPr>
          <a:lstStyle/>
          <a:p>
            <a:pPr algn="ctr">
              <a:buNone/>
              <a:defRPr sz="865" b="0">
                <a:solidFill>
                  <a:srgbClr val="222222"/>
                </a:solidFill>
                <a:latin typeface="微软雅黑"/>
                <a:ea typeface="微软雅黑"/>
                <a:cs typeface="微软雅黑"/>
              </a:defRPr>
            </a:pPr>
            <a:r>
              <a:rPr sz="865" b="0">
                <a:solidFill>
                  <a:srgbClr val="222222"/>
                </a:solidFill>
                <a:latin typeface="微软雅黑"/>
                <a:ea typeface="微软雅黑"/>
                <a:cs typeface="微软雅黑"/>
              </a:rPr>
              <a:t>AscendC</a:t>
            </a:r>
            <a:endParaRPr sz="595" b="0">
              <a:solidFill>
                <a:srgbClr val="222222"/>
              </a:solidFill>
              <a:latin typeface="Consolas"/>
              <a:ea typeface="Consolas"/>
              <a:cs typeface="Consolas"/>
            </a:endParaRPr>
          </a:p>
          <a:p>
            <a:pPr algn="ctr">
              <a:buNone/>
              <a:defRPr sz="865" b="0">
                <a:solidFill>
                  <a:srgbClr val="222222"/>
                </a:solidFill>
                <a:latin typeface="微软雅黑"/>
                <a:ea typeface="微软雅黑"/>
                <a:cs typeface="微软雅黑"/>
              </a:defRPr>
            </a:pPr>
            <a:r>
              <a:rPr sz="865" b="0">
                <a:solidFill>
                  <a:srgbClr val="222222"/>
                </a:solidFill>
                <a:latin typeface="微软雅黑"/>
                <a:ea typeface="微软雅黑"/>
                <a:cs typeface="微软雅黑"/>
              </a:rPr>
              <a:t>Kernel</a:t>
            </a:r>
            <a:endParaRPr sz="595" b="0">
              <a:solidFill>
                <a:srgbClr val="222222"/>
              </a:solidFill>
              <a:latin typeface="Consolas"/>
              <a:ea typeface="Consolas"/>
              <a:cs typeface="Consolas"/>
            </a:endParaRPr>
          </a:p>
        </p:txBody>
      </p:sp>
      <p:sp>
        <p:nvSpPr>
          <p:cNvPr id="92" name="cann-runtime"/>
          <p:cNvSpPr>
            <a:spLocks noGrp="1"/>
          </p:cNvSpPr>
          <p:nvPr/>
        </p:nvSpPr>
        <p:spPr>
          <a:xfrm>
            <a:off x="2628900" y="5286375"/>
            <a:ext cx="600075" cy="238125"/>
          </a:xfrm>
          <a:prstGeom prst="roundRect">
            <a:avLst>
              <a:gd name="adj" fmla="val 20000"/>
            </a:avLst>
          </a:prstGeom>
          <a:pattFill prst="dnDiag">
            <a:fgClr>
              <a:srgbClr val="D3B22F">
                <a:alpha val="45000"/>
              </a:srgbClr>
            </a:fgClr>
            <a:bgClr>
              <a:srgbClr val="FBE88C"/>
            </a:bgClr>
          </a:pattFill>
          <a:ln w="8573">
            <a:solidFill>
              <a:srgbClr val="39434D"/>
            </a:solidFill>
            <a:prstDash val="solid"/>
          </a:ln>
        </p:spPr>
        <p:txBody>
          <a:bodyPr wrap="square" lIns="19050" tIns="9525" rIns="19050" bIns="9525" anchor="ctr">
            <a:normAutofit/>
          </a:bodyPr>
          <a:lstStyle/>
          <a:p>
            <a:pPr algn="ctr">
              <a:buNone/>
              <a:defRPr sz="625" b="0">
                <a:solidFill>
                  <a:srgbClr val="222222"/>
                </a:solidFill>
                <a:latin typeface="Consolas"/>
                <a:ea typeface="Consolas"/>
                <a:cs typeface="Consolas"/>
              </a:defRPr>
            </a:pPr>
            <a:r>
              <a:rPr sz="625" b="0">
                <a:solidFill>
                  <a:srgbClr val="222222"/>
                </a:solidFill>
                <a:latin typeface="Consolas"/>
                <a:ea typeface="Consolas"/>
                <a:cs typeface="Consolas"/>
              </a:rPr>
              <a:t>Runtime</a:t>
            </a:r>
            <a:endParaRPr sz="625" b="0">
              <a:solidFill>
                <a:srgbClr val="222222"/>
              </a:solidFill>
              <a:latin typeface="Consolas"/>
              <a:ea typeface="Consolas"/>
              <a:cs typeface="Consolas"/>
            </a:endParaRPr>
          </a:p>
        </p:txBody>
      </p:sp>
      <p:sp>
        <p:nvSpPr>
          <p:cNvPr id="93" name="cann-hccl"/>
          <p:cNvSpPr>
            <a:spLocks noGrp="1"/>
          </p:cNvSpPr>
          <p:nvPr/>
        </p:nvSpPr>
        <p:spPr>
          <a:xfrm>
            <a:off x="3276600" y="5286375"/>
            <a:ext cx="590550" cy="238125"/>
          </a:xfrm>
          <a:prstGeom prst="roundRect">
            <a:avLst>
              <a:gd name="adj" fmla="val 20000"/>
            </a:avLst>
          </a:prstGeom>
          <a:pattFill prst="dnDiag">
            <a:fgClr>
              <a:srgbClr val="D3B22F">
                <a:alpha val="45000"/>
              </a:srgbClr>
            </a:fgClr>
            <a:bgClr>
              <a:srgbClr val="FBE88C"/>
            </a:bgClr>
          </a:pattFill>
          <a:ln w="8573">
            <a:solidFill>
              <a:srgbClr val="39434D"/>
            </a:solidFill>
            <a:prstDash val="solid"/>
          </a:ln>
        </p:spPr>
        <p:txBody>
          <a:bodyPr wrap="square" lIns="19050" tIns="9525" rIns="19050" bIns="9525" anchor="ctr">
            <a:normAutofit/>
          </a:bodyPr>
          <a:lstStyle/>
          <a:p>
            <a:pPr algn="ctr">
              <a:buNone/>
              <a:defRPr sz="640" b="0">
                <a:solidFill>
                  <a:srgbClr val="222222"/>
                </a:solidFill>
                <a:latin typeface="Consolas"/>
                <a:ea typeface="Consolas"/>
                <a:cs typeface="Consolas"/>
              </a:defRPr>
            </a:pPr>
            <a:r>
              <a:rPr sz="640" b="0">
                <a:solidFill>
                  <a:srgbClr val="222222"/>
                </a:solidFill>
                <a:latin typeface="Consolas"/>
                <a:ea typeface="Consolas"/>
                <a:cs typeface="Consolas"/>
              </a:rPr>
              <a:t>HCCL</a:t>
            </a:r>
            <a:endParaRPr sz="640" b="0">
              <a:solidFill>
                <a:srgbClr val="222222"/>
              </a:solidFill>
              <a:latin typeface="Consolas"/>
              <a:ea typeface="Consolas"/>
              <a:cs typeface="Consolas"/>
            </a:endParaRPr>
          </a:p>
        </p:txBody>
      </p:sp>
      <p:sp>
        <p:nvSpPr>
          <p:cNvPr id="94" name="cann-more"/>
          <p:cNvSpPr>
            <a:spLocks noGrp="1"/>
          </p:cNvSpPr>
          <p:nvPr/>
        </p:nvSpPr>
        <p:spPr>
          <a:xfrm>
            <a:off x="3914775" y="5286375"/>
            <a:ext cx="914400" cy="238125"/>
          </a:xfrm>
          <a:prstGeom prst="roundRect">
            <a:avLst>
              <a:gd name="adj" fmla="val 20000"/>
            </a:avLst>
          </a:prstGeom>
          <a:pattFill prst="dnDiag">
            <a:fgClr>
              <a:srgbClr val="D3B22F">
                <a:alpha val="45000"/>
              </a:srgbClr>
            </a:fgClr>
            <a:bgClr>
              <a:srgbClr val="FBE88C"/>
            </a:bgClr>
          </a:pattFill>
          <a:ln w="8573">
            <a:solidFill>
              <a:srgbClr val="39434D"/>
            </a:solidFill>
            <a:prstDash val="solid"/>
          </a:ln>
        </p:spPr>
        <p:txBody>
          <a:bodyPr wrap="square" lIns="19050" tIns="9525" rIns="19050" bIns="9525" anchor="ctr">
            <a:normAutofit/>
          </a:bodyPr>
          <a:lstStyle/>
          <a:p>
            <a:pPr algn="ctr">
              <a:buNone/>
              <a:defRPr sz="675" b="0">
                <a:solidFill>
                  <a:srgbClr val="222222"/>
                </a:solidFill>
                <a:latin typeface="Consolas"/>
                <a:ea typeface="Consolas"/>
                <a:cs typeface="Consolas"/>
              </a:defRPr>
            </a:pPr>
            <a:r>
              <a:rPr sz="675" b="0">
                <a:solidFill>
                  <a:srgbClr val="222222"/>
                </a:solidFill>
                <a:latin typeface="Consolas"/>
                <a:ea typeface="Consolas"/>
                <a:cs typeface="Consolas"/>
              </a:rPr>
              <a:t>……</a:t>
            </a:r>
            <a:endParaRPr sz="675" b="0">
              <a:solidFill>
                <a:srgbClr val="222222"/>
              </a:solidFill>
              <a:latin typeface="Consolas"/>
              <a:ea typeface="Consolas"/>
              <a:cs typeface="Consolas"/>
            </a:endParaRPr>
          </a:p>
        </p:txBody>
      </p:sp>
      <p:sp>
        <p:nvSpPr>
          <p:cNvPr id="95" name="plugin-arrow"/>
          <p:cNvSpPr>
            <a:spLocks noGrp="1"/>
          </p:cNvSpPr>
          <p:nvPr/>
        </p:nvSpPr>
        <p:spPr>
          <a:xfrm>
            <a:off x="8058150" y="2190750"/>
            <a:ext cx="142875" cy="466725"/>
          </a:xfrm>
          <a:prstGeom prst="downArrow">
            <a:avLst/>
          </a:prstGeom>
          <a:solidFill>
            <a:srgbClr val="4B555E"/>
          </a:solidFill>
          <a:ln w="0">
            <a:solidFill>
              <a:srgbClr val="4B555E"/>
            </a:solidFill>
            <a:prstDash val="solid"/>
          </a:ln>
        </p:spPr>
      </p:sp>
      <p:sp>
        <p:nvSpPr>
          <p:cNvPr id="96" name="enhance-arrow"/>
          <p:cNvSpPr>
            <a:spLocks noGrp="1"/>
          </p:cNvSpPr>
          <p:nvPr/>
        </p:nvSpPr>
        <p:spPr>
          <a:xfrm>
            <a:off x="8058150" y="3724275"/>
            <a:ext cx="142875" cy="400050"/>
          </a:xfrm>
          <a:prstGeom prst="downArrow">
            <a:avLst/>
          </a:prstGeom>
          <a:solidFill>
            <a:srgbClr val="4B555E"/>
          </a:solidFill>
          <a:ln w="0">
            <a:solidFill>
              <a:srgbClr val="4B555E"/>
            </a:solidFill>
            <a:prstDash val="solid"/>
          </a:ln>
        </p:spPr>
      </p:sp>
      <p:sp>
        <p:nvSpPr>
          <p:cNvPr id="97" name="framework-group"/>
          <p:cNvSpPr>
            <a:spLocks noGrp="1"/>
          </p:cNvSpPr>
          <p:nvPr/>
        </p:nvSpPr>
        <p:spPr>
          <a:xfrm>
            <a:off x="5191125" y="1028700"/>
            <a:ext cx="6048375" cy="1200150"/>
          </a:xfrm>
          <a:prstGeom prst="rect">
            <a:avLst/>
          </a:prstGeom>
          <a:noFill/>
          <a:ln w="11430">
            <a:solidFill>
              <a:srgbClr val="39434D"/>
            </a:solidFill>
            <a:prstDash val="solid"/>
          </a:ln>
        </p:spPr>
      </p:sp>
      <p:sp>
        <p:nvSpPr>
          <p:cNvPr id="98" name="framework-title"/>
          <p:cNvSpPr>
            <a:spLocks noGrp="1"/>
          </p:cNvSpPr>
          <p:nvPr/>
        </p:nvSpPr>
        <p:spPr>
          <a:xfrm>
            <a:off x="5295900" y="1047750"/>
            <a:ext cx="5838825" cy="238125"/>
          </a:xfrm>
          <a:prstGeom prst="rect">
            <a:avLst/>
          </a:prstGeom>
          <a:noFill/>
          <a:ln w="0">
            <a:noFill/>
            <a:prstDash val="solid"/>
          </a:ln>
        </p:spPr>
        <p:txBody>
          <a:bodyPr wrap="square" lIns="19050" tIns="0" rIns="19050" bIns="0" anchor="ctr">
            <a:noAutofit/>
          </a:bodyPr>
          <a:lstStyle/>
          <a:p>
            <a:pPr algn="ctr">
              <a:buNone/>
              <a:defRPr sz="1165" b="1">
                <a:solidFill>
                  <a:srgbClr val="222222"/>
                </a:solidFill>
                <a:latin typeface="微软雅黑"/>
                <a:ea typeface="微软雅黑"/>
                <a:cs typeface="微软雅黑"/>
              </a:defRPr>
            </a:pPr>
            <a:r>
              <a:rPr sz="1165" b="1">
                <a:solidFill>
                  <a:srgbClr val="222222"/>
                </a:solidFill>
                <a:latin typeface="微软雅黑"/>
                <a:ea typeface="微软雅黑"/>
                <a:cs typeface="微软雅黑"/>
              </a:rPr>
              <a:t>上游 TorchTitan：统一的 Config 构建体系</a:t>
            </a:r>
            <a:endParaRPr sz="1015" b="1">
              <a:solidFill>
                <a:srgbClr val="222222"/>
              </a:solidFill>
              <a:latin typeface="Consolas"/>
              <a:ea typeface="Consolas"/>
              <a:cs typeface="Consolas"/>
            </a:endParaRPr>
          </a:p>
        </p:txBody>
      </p:sp>
      <p:sp>
        <p:nvSpPr>
          <p:cNvPr id="99" name="framework-divider"/>
          <p:cNvSpPr>
            <a:spLocks noGrp="1"/>
          </p:cNvSpPr>
          <p:nvPr/>
        </p:nvSpPr>
        <p:spPr>
          <a:xfrm>
            <a:off x="5191125" y="1314450"/>
            <a:ext cx="6048375" cy="9525"/>
          </a:xfrm>
          <a:prstGeom prst="line">
            <a:avLst/>
          </a:prstGeom>
          <a:noFill/>
          <a:ln w="10478">
            <a:solidFill>
              <a:srgbClr val="39434D"/>
            </a:solidFill>
            <a:prstDash val="solid"/>
          </a:ln>
        </p:spPr>
      </p:sp>
      <p:sp>
        <p:nvSpPr>
          <p:cNvPr id="100" name="framework-parallel"/>
          <p:cNvSpPr>
            <a:spLocks noGrp="1"/>
          </p:cNvSpPr>
          <p:nvPr/>
        </p:nvSpPr>
        <p:spPr>
          <a:xfrm>
            <a:off x="5334000" y="1428750"/>
            <a:ext cx="1343025" cy="581025"/>
          </a:xfrm>
          <a:prstGeom prst="roundRect">
            <a:avLst>
              <a:gd name="adj" fmla="val 8197"/>
            </a:avLst>
          </a:prstGeom>
          <a:pattFill prst="dnDiag">
            <a:fgClr>
              <a:srgbClr val="E2A7B1">
                <a:alpha val="45000"/>
              </a:srgbClr>
            </a:fgClr>
            <a:bgClr>
              <a:srgbClr val="FBECEF"/>
            </a:bgClr>
          </a:pattFill>
          <a:ln w="8573">
            <a:solidFill>
              <a:srgbClr val="39434D"/>
            </a:solidFill>
            <a:prstDash val="solid"/>
          </a:ln>
        </p:spPr>
        <p:txBody>
          <a:bodyPr wrap="square" lIns="19050" tIns="9525" rIns="19050" bIns="9525" anchor="ctr">
            <a:noAutofit/>
          </a:bodyPr>
          <a:lstStyle/>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模型组件</a:t>
            </a:r>
            <a:endParaRPr sz="865" b="0">
              <a:solidFill>
                <a:srgbClr val="222222"/>
              </a:solidFill>
              <a:latin typeface="Consolas"/>
              <a:ea typeface="Consolas"/>
              <a:cs typeface="Consolas"/>
            </a:endParaRPr>
          </a:p>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RMSNorm / MoE</a:t>
            </a:r>
            <a:endParaRPr sz="865" b="0">
              <a:solidFill>
                <a:srgbClr val="222222"/>
              </a:solidFill>
              <a:latin typeface="Consolas"/>
              <a:ea typeface="Consolas"/>
              <a:cs typeface="Consolas"/>
            </a:endParaRPr>
          </a:p>
        </p:txBody>
      </p:sp>
      <p:sp>
        <p:nvSpPr>
          <p:cNvPr id="101" name="framework-compile"/>
          <p:cNvSpPr>
            <a:spLocks noGrp="1"/>
          </p:cNvSpPr>
          <p:nvPr/>
        </p:nvSpPr>
        <p:spPr>
          <a:xfrm>
            <a:off x="6781800" y="1428750"/>
            <a:ext cx="1343025" cy="581025"/>
          </a:xfrm>
          <a:prstGeom prst="roundRect">
            <a:avLst>
              <a:gd name="adj" fmla="val 8197"/>
            </a:avLst>
          </a:prstGeom>
          <a:pattFill prst="dnDiag">
            <a:fgClr>
              <a:srgbClr val="80C9BD">
                <a:alpha val="45000"/>
              </a:srgbClr>
            </a:fgClr>
            <a:bgClr>
              <a:srgbClr val="E7F6F3"/>
            </a:bgClr>
          </a:pattFill>
          <a:ln w="8573">
            <a:solidFill>
              <a:srgbClr val="39434D"/>
            </a:solidFill>
            <a:prstDash val="solid"/>
          </a:ln>
        </p:spPr>
        <p:txBody>
          <a:bodyPr wrap="square" lIns="19050" tIns="9525" rIns="19050" bIns="9525" anchor="ctr">
            <a:noAutofit/>
          </a:bodyPr>
          <a:lstStyle/>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训练组件</a:t>
            </a:r>
            <a:endParaRPr sz="850" b="0">
              <a:solidFill>
                <a:srgbClr val="222222"/>
              </a:solidFill>
              <a:latin typeface="Consolas"/>
              <a:ea typeface="Consolas"/>
              <a:cs typeface="Consolas"/>
            </a:endParaRPr>
          </a:p>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Optimizer / Loss</a:t>
            </a:r>
            <a:endParaRPr sz="850" b="0">
              <a:solidFill>
                <a:srgbClr val="222222"/>
              </a:solidFill>
              <a:latin typeface="Consolas"/>
              <a:ea typeface="Consolas"/>
              <a:cs typeface="Consolas"/>
            </a:endParaRPr>
          </a:p>
        </p:txBody>
      </p:sp>
      <p:sp>
        <p:nvSpPr>
          <p:cNvPr id="102" name="framework-dtensor"/>
          <p:cNvSpPr>
            <a:spLocks noGrp="1"/>
          </p:cNvSpPr>
          <p:nvPr/>
        </p:nvSpPr>
        <p:spPr>
          <a:xfrm>
            <a:off x="8229600" y="1428750"/>
            <a:ext cx="1343025" cy="581025"/>
          </a:xfrm>
          <a:prstGeom prst="roundRect">
            <a:avLst>
              <a:gd name="adj" fmla="val 8197"/>
            </a:avLst>
          </a:prstGeom>
          <a:pattFill prst="dnDiag">
            <a:fgClr>
              <a:srgbClr val="8CB9D5">
                <a:alpha val="45000"/>
              </a:srgbClr>
            </a:fgClr>
            <a:bgClr>
              <a:srgbClr val="EAF3FA"/>
            </a:bgClr>
          </a:pattFill>
          <a:ln w="8573">
            <a:solidFill>
              <a:srgbClr val="39434D"/>
            </a:solidFill>
            <a:prstDash val="solid"/>
          </a:ln>
        </p:spPr>
        <p:txBody>
          <a:bodyPr wrap="square" lIns="19050" tIns="9525" rIns="19050" bIns="9525" anchor="ctr">
            <a:noAutofit/>
          </a:bodyPr>
          <a:lstStyle/>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数据与验证</a:t>
            </a:r>
            <a:endParaRPr sz="805" b="0">
              <a:solidFill>
                <a:srgbClr val="222222"/>
              </a:solidFill>
              <a:latin typeface="Consolas"/>
              <a:ea typeface="Consolas"/>
              <a:cs typeface="Consolas"/>
            </a:endParaRPr>
          </a:p>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Dataloader / Validator</a:t>
            </a:r>
            <a:endParaRPr sz="805" b="0">
              <a:solidFill>
                <a:srgbClr val="222222"/>
              </a:solidFill>
              <a:latin typeface="Consolas"/>
              <a:ea typeface="Consolas"/>
              <a:cs typeface="Consolas"/>
            </a:endParaRPr>
          </a:p>
        </p:txBody>
      </p:sp>
      <p:sp>
        <p:nvSpPr>
          <p:cNvPr id="103" name="framework-model"/>
          <p:cNvSpPr>
            <a:spLocks noGrp="1"/>
          </p:cNvSpPr>
          <p:nvPr/>
        </p:nvSpPr>
        <p:spPr>
          <a:xfrm>
            <a:off x="9677400" y="1428750"/>
            <a:ext cx="1419225" cy="581025"/>
          </a:xfrm>
          <a:prstGeom prst="roundRect">
            <a:avLst>
              <a:gd name="adj" fmla="val 8197"/>
            </a:avLst>
          </a:prstGeom>
          <a:pattFill prst="dnDiag">
            <a:fgClr>
              <a:srgbClr val="D2B85C">
                <a:alpha val="45000"/>
              </a:srgbClr>
            </a:fgClr>
            <a:bgClr>
              <a:srgbClr val="FCF5D9"/>
            </a:bgClr>
          </a:pattFill>
          <a:ln w="8573">
            <a:solidFill>
              <a:srgbClr val="39434D"/>
            </a:solidFill>
            <a:prstDash val="solid"/>
          </a:ln>
        </p:spPr>
        <p:txBody>
          <a:bodyPr wrap="square" lIns="19050" tIns="9525" rIns="19050" bIns="9525" anchor="ctr">
            <a:noAutofit/>
          </a:bodyPr>
          <a:lstStyle/>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训练组织</a:t>
            </a:r>
            <a:endParaRPr sz="790" b="0">
              <a:solidFill>
                <a:srgbClr val="222222"/>
              </a:solidFill>
              <a:latin typeface="Consolas"/>
              <a:ea typeface="Consolas"/>
              <a:cs typeface="Consolas"/>
            </a:endParaRPr>
          </a:p>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并行 / 检查点 / 编译</a:t>
            </a:r>
            <a:endParaRPr sz="790" b="0">
              <a:solidFill>
                <a:srgbClr val="222222"/>
              </a:solidFill>
              <a:latin typeface="Consolas"/>
              <a:ea typeface="Consolas"/>
              <a:cs typeface="Consolas"/>
            </a:endParaRPr>
          </a:p>
        </p:txBody>
      </p:sp>
      <p:sp>
        <p:nvSpPr>
          <p:cNvPr id="104" name="plugin-label"/>
          <p:cNvSpPr>
            <a:spLocks noGrp="1"/>
          </p:cNvSpPr>
          <p:nvPr/>
        </p:nvSpPr>
        <p:spPr>
          <a:xfrm>
            <a:off x="7581900" y="2257425"/>
            <a:ext cx="1085850" cy="247650"/>
          </a:xfrm>
          <a:prstGeom prst="rect">
            <a:avLst/>
          </a:prstGeom>
          <a:solidFill>
            <a:srgbClr val="FFFFFF"/>
          </a:solidFill>
          <a:ln w="11430">
            <a:solidFill>
              <a:srgbClr val="4B555E"/>
            </a:solidFill>
            <a:prstDash val="dot"/>
          </a:ln>
        </p:spPr>
        <p:txBody>
          <a:bodyPr wrap="square" lIns="38100" tIns="19050" rIns="38100" bIns="19050" anchor="ctr">
            <a:noAutofit/>
          </a:bodyPr>
          <a:lstStyle/>
          <a:p>
            <a:pPr algn="ctr">
              <a:buNone/>
              <a:defRPr sz="915" b="0">
                <a:solidFill>
                  <a:srgbClr val="222222"/>
                </a:solidFill>
                <a:latin typeface="微软雅黑"/>
                <a:ea typeface="微软雅黑"/>
                <a:cs typeface="微软雅黑"/>
              </a:defRPr>
            </a:pPr>
            <a:r>
              <a:rPr sz="915" b="0">
                <a:solidFill>
                  <a:srgbClr val="222222"/>
                </a:solidFill>
                <a:latin typeface="微软雅黑"/>
                <a:ea typeface="微软雅黑"/>
                <a:cs typeface="微软雅黑"/>
              </a:rPr>
              <a:t>显式选择实现</a:t>
            </a:r>
            <a:endParaRPr sz="900" b="0">
              <a:solidFill>
                <a:srgbClr val="222222"/>
              </a:solidFill>
              <a:latin typeface="微软雅黑"/>
              <a:ea typeface="微软雅黑"/>
              <a:cs typeface="微软雅黑"/>
            </a:endParaRPr>
          </a:p>
        </p:txBody>
      </p:sp>
      <p:sp>
        <p:nvSpPr>
          <p:cNvPr id="105" name="adapter-group"/>
          <p:cNvSpPr>
            <a:spLocks noGrp="1"/>
          </p:cNvSpPr>
          <p:nvPr/>
        </p:nvSpPr>
        <p:spPr>
          <a:xfrm>
            <a:off x="5191125" y="2590800"/>
            <a:ext cx="6048375" cy="1152525"/>
          </a:xfrm>
          <a:prstGeom prst="rect">
            <a:avLst/>
          </a:prstGeom>
          <a:noFill/>
          <a:ln w="11430">
            <a:solidFill>
              <a:srgbClr val="39434D"/>
            </a:solidFill>
            <a:prstDash val="solid"/>
          </a:ln>
        </p:spPr>
      </p:sp>
      <p:sp>
        <p:nvSpPr>
          <p:cNvPr id="106" name="adapter-title"/>
          <p:cNvSpPr>
            <a:spLocks noGrp="1"/>
          </p:cNvSpPr>
          <p:nvPr/>
        </p:nvSpPr>
        <p:spPr>
          <a:xfrm>
            <a:off x="5295900" y="2609850"/>
            <a:ext cx="5838825" cy="238125"/>
          </a:xfrm>
          <a:prstGeom prst="rect">
            <a:avLst/>
          </a:prstGeom>
          <a:noFill/>
          <a:ln w="0">
            <a:noFill/>
            <a:prstDash val="solid"/>
          </a:ln>
        </p:spPr>
        <p:txBody>
          <a:bodyPr wrap="square" lIns="19050" tIns="0" rIns="19050" bIns="0" anchor="ctr">
            <a:noAutofit/>
          </a:bodyPr>
          <a:lstStyle/>
          <a:p>
            <a:pPr algn="ctr">
              <a:buNone/>
              <a:defRPr sz="1165" b="1">
                <a:solidFill>
                  <a:srgbClr val="222222"/>
                </a:solidFill>
                <a:latin typeface="微软雅黑"/>
                <a:ea typeface="微软雅黑"/>
                <a:cs typeface="微软雅黑"/>
              </a:defRPr>
            </a:pPr>
            <a:r>
              <a:rPr sz="1165" b="1">
                <a:solidFill>
                  <a:srgbClr val="222222"/>
                </a:solidFill>
                <a:latin typeface="微软雅黑"/>
                <a:ea typeface="微软雅黑"/>
                <a:cs typeface="微软雅黑"/>
              </a:rPr>
              <a:t>torchtitan-npu：通过 Override 接入 NPU 组件</a:t>
            </a:r>
            <a:endParaRPr sz="1015" b="1">
              <a:solidFill>
                <a:srgbClr val="222222"/>
              </a:solidFill>
              <a:latin typeface="Consolas"/>
              <a:ea typeface="Consolas"/>
              <a:cs typeface="Consolas"/>
            </a:endParaRPr>
          </a:p>
        </p:txBody>
      </p:sp>
      <p:sp>
        <p:nvSpPr>
          <p:cNvPr id="107" name="adapter-divider"/>
          <p:cNvSpPr>
            <a:spLocks noGrp="1"/>
          </p:cNvSpPr>
          <p:nvPr/>
        </p:nvSpPr>
        <p:spPr>
          <a:xfrm>
            <a:off x="5191125" y="2876550"/>
            <a:ext cx="6048375" cy="9525"/>
          </a:xfrm>
          <a:prstGeom prst="line">
            <a:avLst/>
          </a:prstGeom>
          <a:noFill/>
          <a:ln w="10478">
            <a:solidFill>
              <a:srgbClr val="39434D"/>
            </a:solidFill>
            <a:prstDash val="solid"/>
          </a:ln>
        </p:spPr>
      </p:sp>
      <p:sp>
        <p:nvSpPr>
          <p:cNvPr id="108" name="adapter-patch"/>
          <p:cNvSpPr>
            <a:spLocks noGrp="1"/>
          </p:cNvSpPr>
          <p:nvPr/>
        </p:nvSpPr>
        <p:spPr>
          <a:xfrm>
            <a:off x="5334000" y="2990850"/>
            <a:ext cx="1343025" cy="552450"/>
          </a:xfrm>
          <a:prstGeom prst="roundRect">
            <a:avLst>
              <a:gd name="adj" fmla="val 8621"/>
            </a:avLst>
          </a:prstGeom>
          <a:pattFill prst="dnDiag">
            <a:fgClr>
              <a:srgbClr val="B4BAC0">
                <a:alpha val="40000"/>
              </a:srgbClr>
            </a:fgClr>
            <a:bgClr>
              <a:srgbClr val="F3F4F5"/>
            </a:bgClr>
          </a:pattFill>
          <a:ln w="8573">
            <a:solidFill>
              <a:srgbClr val="39434D"/>
            </a:solidFill>
            <a:prstDash val="solid"/>
          </a:ln>
        </p:spPr>
        <p:txBody>
          <a:bodyPr wrap="square" lIns="19050" tIns="9525" rIns="19050" bIns="9525" anchor="ctr">
            <a:noAutofit/>
          </a:bodyPr>
          <a:lstStyle/>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1  指定工厂</a:t>
            </a:r>
            <a:endParaRPr sz="810" b="0">
              <a:solidFill>
                <a:srgbClr val="222222"/>
              </a:solidFill>
              <a:latin typeface="Consolas"/>
              <a:ea typeface="Consolas"/>
              <a:cs typeface="Consolas"/>
            </a:endParaRPr>
          </a:p>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override.imports</a:t>
            </a:r>
            <a:endParaRPr sz="810" b="0">
              <a:solidFill>
                <a:srgbClr val="222222"/>
              </a:solidFill>
              <a:latin typeface="Consolas"/>
              <a:ea typeface="Consolas"/>
              <a:cs typeface="Consolas"/>
            </a:endParaRPr>
          </a:p>
        </p:txBody>
      </p:sp>
      <p:sp>
        <p:nvSpPr>
          <p:cNvPr id="109" name="adapter-entry"/>
          <p:cNvSpPr>
            <a:spLocks noGrp="1"/>
          </p:cNvSpPr>
          <p:nvPr/>
        </p:nvSpPr>
        <p:spPr>
          <a:xfrm>
            <a:off x="6781800" y="2990850"/>
            <a:ext cx="1343025" cy="552450"/>
          </a:xfrm>
          <a:prstGeom prst="roundRect">
            <a:avLst>
              <a:gd name="adj" fmla="val 8621"/>
            </a:avLst>
          </a:prstGeom>
          <a:pattFill prst="dnDiag">
            <a:fgClr>
              <a:srgbClr val="B4BAC0">
                <a:alpha val="40000"/>
              </a:srgbClr>
            </a:fgClr>
            <a:bgClr>
              <a:srgbClr val="F3F4F5"/>
            </a:bgClr>
          </a:pattFill>
          <a:ln w="8573">
            <a:solidFill>
              <a:srgbClr val="39434D"/>
            </a:solidFill>
            <a:prstDash val="solid"/>
          </a:ln>
        </p:spPr>
        <p:txBody>
          <a:bodyPr wrap="square" lIns="19050" tIns="9525" rIns="19050" bIns="9525" anchor="ctr">
            <a:noAutofit/>
          </a:bodyPr>
          <a:lstStyle/>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2  匹配节点</a:t>
            </a:r>
            <a:endParaRPr sz="735" b="0">
              <a:solidFill>
                <a:srgbClr val="222222"/>
              </a:solidFill>
              <a:latin typeface="Consolas"/>
              <a:ea typeface="Consolas"/>
              <a:cs typeface="Consolas"/>
            </a:endParaRPr>
          </a:p>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@override + FQN</a:t>
            </a:r>
            <a:endParaRPr sz="735" b="0">
              <a:solidFill>
                <a:srgbClr val="222222"/>
              </a:solidFill>
              <a:latin typeface="Consolas"/>
              <a:ea typeface="Consolas"/>
              <a:cs typeface="Consolas"/>
            </a:endParaRPr>
          </a:p>
        </p:txBody>
      </p:sp>
      <p:sp>
        <p:nvSpPr>
          <p:cNvPr id="110" name="adapter-registry"/>
          <p:cNvSpPr>
            <a:spLocks noGrp="1"/>
          </p:cNvSpPr>
          <p:nvPr/>
        </p:nvSpPr>
        <p:spPr>
          <a:xfrm>
            <a:off x="8229600" y="2990850"/>
            <a:ext cx="1343025" cy="552450"/>
          </a:xfrm>
          <a:prstGeom prst="roundRect">
            <a:avLst>
              <a:gd name="adj" fmla="val 8621"/>
            </a:avLst>
          </a:prstGeom>
          <a:pattFill prst="dnDiag">
            <a:fgClr>
              <a:srgbClr val="8CB9D5">
                <a:alpha val="45000"/>
              </a:srgbClr>
            </a:fgClr>
            <a:bgClr>
              <a:srgbClr val="EAF3FA"/>
            </a:bgClr>
          </a:pattFill>
          <a:ln w="8573">
            <a:solidFill>
              <a:srgbClr val="39434D"/>
            </a:solidFill>
            <a:prstDash val="solid"/>
          </a:ln>
        </p:spPr>
        <p:txBody>
          <a:bodyPr wrap="square" lIns="19050" tIns="9525" rIns="19050" bIns="9525" anchor="ctr">
            <a:noAutofit/>
          </a:bodyPr>
          <a:lstStyle/>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3  检查冲突</a:t>
            </a:r>
            <a:endParaRPr sz="795" b="0">
              <a:solidFill>
                <a:srgbClr val="222222"/>
              </a:solidFill>
              <a:latin typeface="Consolas"/>
              <a:ea typeface="Consolas"/>
              <a:cs typeface="Consolas"/>
            </a:endParaRPr>
          </a:p>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同节点 / 祖先后代</a:t>
            </a:r>
            <a:endParaRPr sz="795" b="0">
              <a:solidFill>
                <a:srgbClr val="222222"/>
              </a:solidFill>
              <a:latin typeface="Consolas"/>
              <a:ea typeface="Consolas"/>
              <a:cs typeface="Consolas"/>
            </a:endParaRPr>
          </a:p>
        </p:txBody>
      </p:sp>
      <p:sp>
        <p:nvSpPr>
          <p:cNvPr id="111" name="adapter-injection"/>
          <p:cNvSpPr>
            <a:spLocks noGrp="1"/>
          </p:cNvSpPr>
          <p:nvPr/>
        </p:nvSpPr>
        <p:spPr>
          <a:xfrm>
            <a:off x="9677400" y="2990850"/>
            <a:ext cx="1419225" cy="552450"/>
          </a:xfrm>
          <a:prstGeom prst="roundRect">
            <a:avLst>
              <a:gd name="adj" fmla="val 8621"/>
            </a:avLst>
          </a:prstGeom>
          <a:pattFill prst="dnDiag">
            <a:fgClr>
              <a:srgbClr val="D2B85C">
                <a:alpha val="45000"/>
              </a:srgbClr>
            </a:fgClr>
            <a:bgClr>
              <a:srgbClr val="FCF5D9"/>
            </a:bgClr>
          </a:pattFill>
          <a:ln w="8573">
            <a:solidFill>
              <a:srgbClr val="39434D"/>
            </a:solidFill>
            <a:prstDash val="solid"/>
          </a:ln>
        </p:spPr>
        <p:txBody>
          <a:bodyPr wrap="square" lIns="19050" tIns="9525" rIns="19050" bIns="9525" anchor="ctr">
            <a:noAutofit/>
          </a:bodyPr>
          <a:lstStyle/>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4  替换 Config</a:t>
            </a:r>
            <a:endParaRPr sz="755" b="0">
              <a:solidFill>
                <a:srgbClr val="222222"/>
              </a:solidFill>
              <a:latin typeface="Consolas"/>
              <a:ea typeface="Consolas"/>
              <a:cs typeface="Consolas"/>
            </a:endParaRPr>
          </a:p>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后续 build() 构建</a:t>
            </a:r>
            <a:endParaRPr sz="755" b="0">
              <a:solidFill>
                <a:srgbClr val="222222"/>
              </a:solidFill>
              <a:latin typeface="Consolas"/>
              <a:ea typeface="Consolas"/>
              <a:cs typeface="Consolas"/>
            </a:endParaRPr>
          </a:p>
        </p:txBody>
      </p:sp>
      <p:sp>
        <p:nvSpPr>
          <p:cNvPr id="112" name="enhance-label"/>
          <p:cNvSpPr>
            <a:spLocks noGrp="1"/>
          </p:cNvSpPr>
          <p:nvPr/>
        </p:nvSpPr>
        <p:spPr>
          <a:xfrm>
            <a:off x="7486650" y="3790950"/>
            <a:ext cx="1276350" cy="247650"/>
          </a:xfrm>
          <a:prstGeom prst="rect">
            <a:avLst/>
          </a:prstGeom>
          <a:solidFill>
            <a:srgbClr val="FFFFFF"/>
          </a:solidFill>
          <a:ln w="11430">
            <a:solidFill>
              <a:srgbClr val="4B555E"/>
            </a:solidFill>
            <a:prstDash val="dot"/>
          </a:ln>
        </p:spPr>
        <p:txBody>
          <a:bodyPr wrap="square" lIns="38100" tIns="19050" rIns="38100" bIns="19050" anchor="ctr">
            <a:noAutofit/>
          </a:bodyPr>
          <a:lstStyle/>
          <a:p>
            <a:pPr algn="ctr">
              <a:buNone/>
              <a:defRPr sz="915" b="0">
                <a:solidFill>
                  <a:srgbClr val="222222"/>
                </a:solidFill>
                <a:latin typeface="微软雅黑"/>
                <a:ea typeface="微软雅黑"/>
                <a:cs typeface="微软雅黑"/>
              </a:defRPr>
            </a:pPr>
            <a:r>
              <a:rPr sz="915" b="0">
                <a:solidFill>
                  <a:srgbClr val="222222"/>
                </a:solidFill>
                <a:latin typeface="微软雅黑"/>
                <a:ea typeface="微软雅黑"/>
                <a:cs typeface="微软雅黑"/>
              </a:rPr>
              <a:t>RMSNorm 示例</a:t>
            </a:r>
            <a:endParaRPr sz="900" b="0">
              <a:solidFill>
                <a:srgbClr val="222222"/>
              </a:solidFill>
              <a:latin typeface="微软雅黑"/>
              <a:ea typeface="微软雅黑"/>
              <a:cs typeface="微软雅黑"/>
            </a:endParaRPr>
          </a:p>
        </p:txBody>
      </p:sp>
      <p:sp>
        <p:nvSpPr>
          <p:cNvPr id="113" name="capability-group"/>
          <p:cNvSpPr>
            <a:spLocks noGrp="1"/>
          </p:cNvSpPr>
          <p:nvPr/>
        </p:nvSpPr>
        <p:spPr>
          <a:xfrm>
            <a:off x="5191125" y="4114800"/>
            <a:ext cx="6048375" cy="1628775"/>
          </a:xfrm>
          <a:prstGeom prst="rect">
            <a:avLst/>
          </a:prstGeom>
          <a:noFill/>
          <a:ln w="11430">
            <a:solidFill>
              <a:srgbClr val="39434D"/>
            </a:solidFill>
            <a:prstDash val="solid"/>
          </a:ln>
        </p:spPr>
      </p:sp>
      <p:sp>
        <p:nvSpPr>
          <p:cNvPr id="114" name="capability-title"/>
          <p:cNvSpPr>
            <a:spLocks noGrp="1"/>
          </p:cNvSpPr>
          <p:nvPr/>
        </p:nvSpPr>
        <p:spPr>
          <a:xfrm>
            <a:off x="5295900" y="4133850"/>
            <a:ext cx="5838825" cy="238125"/>
          </a:xfrm>
          <a:prstGeom prst="rect">
            <a:avLst/>
          </a:prstGeom>
          <a:noFill/>
          <a:ln w="0">
            <a:noFill/>
            <a:prstDash val="solid"/>
          </a:ln>
        </p:spPr>
        <p:txBody>
          <a:bodyPr wrap="square" lIns="19050" tIns="0" rIns="19050" bIns="0" anchor="ctr">
            <a:noAutofit/>
          </a:bodyPr>
          <a:lstStyle/>
          <a:p>
            <a:pPr algn="ctr">
              <a:buNone/>
              <a:defRPr sz="1165" b="1">
                <a:solidFill>
                  <a:srgbClr val="222222"/>
                </a:solidFill>
                <a:latin typeface="微软雅黑"/>
                <a:ea typeface="微软雅黑"/>
                <a:cs typeface="微软雅黑"/>
              </a:defRPr>
            </a:pPr>
            <a:r>
              <a:rPr sz="1165" b="1">
                <a:solidFill>
                  <a:srgbClr val="222222"/>
                </a:solidFill>
                <a:latin typeface="微软雅黑"/>
                <a:ea typeface="微软雅黑"/>
                <a:cs typeface="微软雅黑"/>
              </a:rPr>
              <a:t>具体实例：配置替换后构建 AscendC RMSNorm</a:t>
            </a:r>
            <a:endParaRPr sz="1015" b="1">
              <a:solidFill>
                <a:srgbClr val="222222"/>
              </a:solidFill>
              <a:latin typeface="Consolas"/>
              <a:ea typeface="Consolas"/>
              <a:cs typeface="Consolas"/>
            </a:endParaRPr>
          </a:p>
        </p:txBody>
      </p:sp>
      <p:sp>
        <p:nvSpPr>
          <p:cNvPr id="115" name="capability-divider"/>
          <p:cNvSpPr>
            <a:spLocks noGrp="1"/>
          </p:cNvSpPr>
          <p:nvPr/>
        </p:nvSpPr>
        <p:spPr>
          <a:xfrm>
            <a:off x="5191125" y="4400550"/>
            <a:ext cx="6048375" cy="9525"/>
          </a:xfrm>
          <a:prstGeom prst="line">
            <a:avLst/>
          </a:prstGeom>
          <a:noFill/>
          <a:ln w="10478">
            <a:solidFill>
              <a:srgbClr val="39434D"/>
            </a:solidFill>
            <a:prstDash val="solid"/>
          </a:ln>
        </p:spPr>
      </p:sp>
      <p:sp>
        <p:nvSpPr>
          <p:cNvPr id="116" name="capability-fused"/>
          <p:cNvSpPr>
            <a:spLocks noGrp="1"/>
          </p:cNvSpPr>
          <p:nvPr/>
        </p:nvSpPr>
        <p:spPr>
          <a:xfrm>
            <a:off x="5314950" y="4524375"/>
            <a:ext cx="1076325" cy="990600"/>
          </a:xfrm>
          <a:prstGeom prst="roundRect">
            <a:avLst>
              <a:gd name="adj" fmla="val 4808"/>
            </a:avLst>
          </a:prstGeom>
          <a:pattFill prst="dnDiag">
            <a:fgClr>
              <a:srgbClr val="8CB9D5">
                <a:alpha val="45000"/>
              </a:srgbClr>
            </a:fgClr>
            <a:bgClr>
              <a:srgbClr val="EAF3FA"/>
            </a:bgClr>
          </a:pattFill>
          <a:ln w="8573">
            <a:solidFill>
              <a:srgbClr val="39434D"/>
            </a:solidFill>
            <a:prstDash val="solid"/>
          </a:ln>
        </p:spPr>
        <p:txBody>
          <a:bodyPr wrap="square" lIns="19050" tIns="9525" rIns="19050" bIns="9525" anchor="ctr">
            <a:noAutofit/>
          </a:bodyPr>
          <a:lstStyle/>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原 Config</a:t>
            </a:r>
            <a:endParaRPr sz="755" b="0">
              <a:solidFill>
                <a:srgbClr val="222222"/>
              </a:solidFill>
              <a:latin typeface="Consolas"/>
              <a:ea typeface="Consolas"/>
              <a:cs typeface="Consolas"/>
            </a:endParaRPr>
          </a:p>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RMSNorm</a:t>
            </a:r>
            <a:endParaRPr sz="755" b="0">
              <a:solidFill>
                <a:srgbClr val="222222"/>
              </a:solidFill>
              <a:latin typeface="Consolas"/>
              <a:ea typeface="Consolas"/>
              <a:cs typeface="Consolas"/>
            </a:endParaRPr>
          </a:p>
        </p:txBody>
      </p:sp>
      <p:sp>
        <p:nvSpPr>
          <p:cNvPr id="117" name="capability-compile"/>
          <p:cNvSpPr>
            <a:spLocks noGrp="1"/>
          </p:cNvSpPr>
          <p:nvPr/>
        </p:nvSpPr>
        <p:spPr>
          <a:xfrm>
            <a:off x="6486525" y="4524375"/>
            <a:ext cx="1076325" cy="990600"/>
          </a:xfrm>
          <a:prstGeom prst="roundRect">
            <a:avLst>
              <a:gd name="adj" fmla="val 4808"/>
            </a:avLst>
          </a:prstGeom>
          <a:pattFill prst="dnDiag">
            <a:fgClr>
              <a:srgbClr val="80C9BD">
                <a:alpha val="45000"/>
              </a:srgbClr>
            </a:fgClr>
            <a:bgClr>
              <a:srgbClr val="E7F6F3"/>
            </a:bgClr>
          </a:pattFill>
          <a:ln w="8573">
            <a:solidFill>
              <a:srgbClr val="39434D"/>
            </a:solidFill>
            <a:prstDash val="solid"/>
          </a:ln>
        </p:spPr>
        <p:txBody>
          <a:bodyPr wrap="square" lIns="19050" tIns="9525" rIns="19050" bIns="9525" anchor="ctr">
            <a:noAutofit/>
          </a:bodyPr>
          <a:lstStyle/>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调用工厂</a:t>
            </a:r>
            <a:endParaRPr sz="765" b="0">
              <a:solidFill>
                <a:srgbClr val="222222"/>
              </a:solidFill>
              <a:latin typeface="Consolas"/>
              <a:ea typeface="Consolas"/>
              <a:cs typeface="Consolas"/>
            </a:endParaRPr>
          </a:p>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rms_norm.asc</a:t>
            </a:r>
            <a:endParaRPr sz="765" b="0">
              <a:solidFill>
                <a:srgbClr val="222222"/>
              </a:solidFill>
              <a:latin typeface="Consolas"/>
              <a:ea typeface="Consolas"/>
              <a:cs typeface="Consolas"/>
            </a:endParaRPr>
          </a:p>
        </p:txBody>
      </p:sp>
      <p:sp>
        <p:nvSpPr>
          <p:cNvPr id="118" name="capability-parallel"/>
          <p:cNvSpPr>
            <a:spLocks noGrp="1"/>
          </p:cNvSpPr>
          <p:nvPr/>
        </p:nvSpPr>
        <p:spPr>
          <a:xfrm>
            <a:off x="7658100" y="4524375"/>
            <a:ext cx="1076325" cy="990600"/>
          </a:xfrm>
          <a:prstGeom prst="roundRect">
            <a:avLst>
              <a:gd name="adj" fmla="val 4808"/>
            </a:avLst>
          </a:prstGeom>
          <a:pattFill prst="dnDiag">
            <a:fgClr>
              <a:srgbClr val="E2A7B1">
                <a:alpha val="45000"/>
              </a:srgbClr>
            </a:fgClr>
            <a:bgClr>
              <a:srgbClr val="FBECEF"/>
            </a:bgClr>
          </a:pattFill>
          <a:ln w="8573">
            <a:solidFill>
              <a:srgbClr val="39434D"/>
            </a:solidFill>
            <a:prstDash val="solid"/>
          </a:ln>
        </p:spPr>
        <p:txBody>
          <a:bodyPr wrap="square" lIns="19050" tIns="9525" rIns="19050" bIns="9525" anchor="ctr">
            <a:noAutofit/>
          </a:bodyPr>
          <a:lstStyle/>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替代 Config</a:t>
            </a:r>
            <a:endParaRPr sz="755" b="0">
              <a:solidFill>
                <a:srgbClr val="222222"/>
              </a:solidFill>
              <a:latin typeface="Consolas"/>
              <a:ea typeface="Consolas"/>
              <a:cs typeface="Consolas"/>
            </a:endParaRPr>
          </a:p>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AscRMSNorm</a:t>
            </a:r>
            <a:endParaRPr sz="755" b="0">
              <a:solidFill>
                <a:srgbClr val="222222"/>
              </a:solidFill>
              <a:latin typeface="Consolas"/>
              <a:ea typeface="Consolas"/>
              <a:cs typeface="Consolas"/>
            </a:endParaRPr>
          </a:p>
        </p:txBody>
      </p:sp>
      <p:sp>
        <p:nvSpPr>
          <p:cNvPr id="119" name="capability-dfx"/>
          <p:cNvSpPr>
            <a:spLocks noGrp="1"/>
          </p:cNvSpPr>
          <p:nvPr/>
        </p:nvSpPr>
        <p:spPr>
          <a:xfrm>
            <a:off x="8829675" y="4524375"/>
            <a:ext cx="1076325" cy="990600"/>
          </a:xfrm>
          <a:prstGeom prst="roundRect">
            <a:avLst>
              <a:gd name="adj" fmla="val 4808"/>
            </a:avLst>
          </a:prstGeom>
          <a:pattFill prst="dnDiag">
            <a:fgClr>
              <a:srgbClr val="B4BAC0">
                <a:alpha val="40000"/>
              </a:srgbClr>
            </a:fgClr>
            <a:bgClr>
              <a:srgbClr val="F3F4F5"/>
            </a:bgClr>
          </a:pattFill>
          <a:ln w="8573">
            <a:solidFill>
              <a:srgbClr val="39434D"/>
            </a:solidFill>
            <a:prstDash val="solid"/>
          </a:ln>
        </p:spPr>
        <p:txBody>
          <a:bodyPr wrap="square" lIns="19050" tIns="9525" rIns="19050" bIns="9525" anchor="ctr">
            <a:noAutofit/>
          </a:bodyPr>
          <a:lstStyle/>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构建组件</a:t>
            </a:r>
            <a:endParaRPr sz="755" b="0">
              <a:solidFill>
                <a:srgbClr val="222222"/>
              </a:solidFill>
              <a:latin typeface="Consolas"/>
              <a:ea typeface="Consolas"/>
              <a:cs typeface="Consolas"/>
            </a:endParaRPr>
          </a:p>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build()</a:t>
            </a:r>
            <a:endParaRPr sz="755" b="0">
              <a:solidFill>
                <a:srgbClr val="222222"/>
              </a:solidFill>
              <a:latin typeface="Consolas"/>
              <a:ea typeface="Consolas"/>
              <a:cs typeface="Consolas"/>
            </a:endParaRPr>
          </a:p>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AscRMSNorm</a:t>
            </a:r>
            <a:endParaRPr sz="755" b="0">
              <a:solidFill>
                <a:srgbClr val="222222"/>
              </a:solidFill>
              <a:latin typeface="Consolas"/>
              <a:ea typeface="Consolas"/>
              <a:cs typeface="Consolas"/>
            </a:endParaRPr>
          </a:p>
        </p:txBody>
      </p:sp>
      <p:sp>
        <p:nvSpPr>
          <p:cNvPr id="120" name="capability-agent"/>
          <p:cNvSpPr>
            <a:spLocks noGrp="1"/>
          </p:cNvSpPr>
          <p:nvPr/>
        </p:nvSpPr>
        <p:spPr>
          <a:xfrm>
            <a:off x="10001250" y="4524375"/>
            <a:ext cx="1114425" cy="990600"/>
          </a:xfrm>
          <a:prstGeom prst="roundRect">
            <a:avLst>
              <a:gd name="adj" fmla="val 4808"/>
            </a:avLst>
          </a:prstGeom>
          <a:pattFill prst="dnDiag">
            <a:fgClr>
              <a:srgbClr val="B4BAC0">
                <a:alpha val="40000"/>
              </a:srgbClr>
            </a:fgClr>
            <a:bgClr>
              <a:srgbClr val="F3F4F5"/>
            </a:bgClr>
          </a:pattFill>
          <a:ln w="8573">
            <a:solidFill>
              <a:srgbClr val="39434D"/>
            </a:solidFill>
            <a:prstDash val="solid"/>
          </a:ln>
        </p:spPr>
        <p:txBody>
          <a:bodyPr wrap="square" lIns="19050" tIns="9525" rIns="19050" bIns="9525" anchor="ctr">
            <a:noAutofit/>
          </a:bodyPr>
          <a:lstStyle/>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NPU 融合算子</a:t>
            </a:r>
            <a:endParaRPr sz="765" b="0">
              <a:solidFill>
                <a:srgbClr val="222222"/>
              </a:solidFill>
              <a:latin typeface="Consolas"/>
              <a:ea typeface="Consolas"/>
              <a:cs typeface="Consolas"/>
            </a:endParaRPr>
          </a:p>
          <a:p>
            <a:pPr algn="ctr">
              <a:buNone/>
              <a:defRPr sz="975" b="0">
                <a:solidFill>
                  <a:srgbClr val="222222"/>
                </a:solidFill>
                <a:latin typeface="微软雅黑"/>
                <a:ea typeface="微软雅黑"/>
                <a:cs typeface="微软雅黑"/>
              </a:defRPr>
            </a:pPr>
            <a:r>
              <a:rPr sz="975" b="0">
                <a:solidFill>
                  <a:srgbClr val="222222"/>
                </a:solidFill>
                <a:latin typeface="微软雅黑"/>
                <a:ea typeface="微软雅黑"/>
                <a:cs typeface="微软雅黑"/>
              </a:rPr>
              <a:t>npu_rms_norm</a:t>
            </a:r>
            <a:endParaRPr sz="765" b="0">
              <a:solidFill>
                <a:srgbClr val="222222"/>
              </a:solidFill>
              <a:latin typeface="Consolas"/>
              <a:ea typeface="Consolas"/>
              <a:cs typeface="Consolas"/>
            </a:endParaRPr>
          </a:p>
        </p:txBody>
      </p:sp>
      <p:sp>
        <p:nvSpPr>
          <p:cNvPr id="121" name="repository-source"/>
          <p:cNvSpPr>
            <a:spLocks noGrp="1"/>
          </p:cNvSpPr>
          <p:nvPr/>
        </p:nvSpPr>
        <p:spPr>
          <a:xfrm>
            <a:off x="685800" y="5867400"/>
            <a:ext cx="10287000" cy="238125"/>
          </a:xfrm>
          <a:prstGeom prst="rect">
            <a:avLst/>
          </a:prstGeom>
          <a:noFill/>
          <a:ln w="0">
            <a:noFill/>
            <a:prstDash val="solid"/>
          </a:ln>
        </p:spPr>
        <p:txBody>
          <a:bodyPr wrap="square" lIns="19050" tIns="0" rIns="19050" bIns="0" anchor="ctr">
            <a:noAutofit/>
          </a:bodyPr>
          <a:lstStyle/>
          <a:p>
            <a:pPr algn="l">
              <a:buNone/>
              <a:defRPr sz="1050" b="0">
                <a:solidFill>
                  <a:srgbClr val="333333"/>
                </a:solidFill>
                <a:latin typeface="Consolas"/>
                <a:ea typeface="Consolas"/>
                <a:cs typeface="Consolas"/>
              </a:defRPr>
            </a:pPr>
            <a:r>
              <a:rPr sz="1050" b="0">
                <a:solidFill>
                  <a:srgbClr val="333333"/>
                </a:solidFill>
                <a:latin typeface="Consolas"/>
                <a:ea typeface="Consolas"/>
                <a:cs typeface="Consolas"/>
              </a:rPr>
              <a:t>启用示例：--override.imports torchtitan_npu.override.common.rms_norm.asc</a:t>
            </a:r>
            <a:endParaRPr sz="825" b="0">
              <a:solidFill>
                <a:srgbClr val="777777"/>
              </a:solidFill>
              <a:latin typeface="Consolas"/>
              <a:ea typeface="Consolas"/>
              <a:cs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3" name="图片 31"/>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372600" cy="502920"/>
          </a:xfrm>
          <a:prstGeom prst="rect">
            <a:avLst/>
          </a:prstGeom>
          <a:noFill/>
          <a:ln w="0">
            <a:noFill/>
            <a:prstDash val="solid"/>
          </a:ln>
        </p:spPr>
        <p:txBody>
          <a:bodyPr wrap="square" lIns="0" tIns="0" rIns="0" bIns="0" anchor="ctr">
            <a:normAutofit/>
          </a:bodyPr>
          <a:lstStyle/>
          <a:p>
            <a:pPr>
              <a:lnSpc>
                <a:spcPct val="108000"/>
              </a:lnSpc>
              <a:buNone/>
              <a:defRPr sz="3375" b="0">
                <a:solidFill>
                  <a:srgbClr val="111111"/>
                </a:solidFill>
                <a:latin typeface="微软雅黑"/>
                <a:ea typeface="微软雅黑"/>
                <a:cs typeface="微软雅黑"/>
              </a:defRPr>
            </a:pPr>
            <a:r>
              <a:rPr sz="2700" b="1">
                <a:solidFill>
                  <a:srgbClr val="111111"/>
                </a:solidFill>
                <a:latin typeface="微软雅黑"/>
                <a:ea typeface="微软雅黑"/>
                <a:cs typeface="微软雅黑"/>
              </a:rPr>
              <a:t>FSDP：Fully Sharded Data Parallel 的显存动机</a:t>
            </a:r>
            <a:endParaRPr sz="2700" b="1">
              <a:solidFill>
                <a:srgbClr val="111111"/>
              </a:solidFill>
              <a:latin typeface="微软雅黑"/>
              <a:ea typeface="微软雅黑"/>
              <a:cs typeface="微软雅黑"/>
            </a:endParaRPr>
          </a:p>
        </p:txBody>
      </p:sp>
      <p:sp>
        <p:nvSpPr>
          <p:cNvPr id="5" name="矩形 4"/>
          <p:cNvSpPr>
            <a:spLocks noGrp="1"/>
          </p:cNvSpPr>
          <p:nvPr/>
        </p:nvSpPr>
        <p:spPr>
          <a:xfrm>
            <a:off x="685800" y="1181100"/>
            <a:ext cx="4724400" cy="365760"/>
          </a:xfrm>
          <a:prstGeom prst="rect">
            <a:avLst/>
          </a:prstGeom>
          <a:noFill/>
          <a:ln w="0">
            <a:noFill/>
            <a:prstDash val="solid"/>
          </a:ln>
        </p:spPr>
        <p:txBody>
          <a:bodyPr wrap="square" lIns="0" tIns="0" rIns="0" bIns="0" anchor="t">
            <a:normAutofit/>
          </a:bodyPr>
          <a:lstStyle/>
          <a:p>
            <a:pPr>
              <a:lnSpc>
                <a:spcPct val="108000"/>
              </a:lnSpc>
              <a:buNone/>
              <a:defRPr sz="2250" b="1">
                <a:solidFill>
                  <a:srgbClr val="262626"/>
                </a:solidFill>
                <a:latin typeface="微软雅黑"/>
                <a:ea typeface="微软雅黑"/>
                <a:cs typeface="微软雅黑"/>
              </a:defRPr>
            </a:pPr>
            <a:r>
              <a:rPr b="1">
                <a:solidFill>
                  <a:srgbClr val="262626"/>
                </a:solidFill>
                <a:latin typeface="微软雅黑"/>
                <a:ea typeface="微软雅黑"/>
                <a:cs typeface="微软雅黑"/>
              </a:rPr>
              <a:t>以</a:t>
            </a:r>
            <a:r>
              <a:rPr b="1">
                <a:solidFill>
                  <a:srgbClr val="262626"/>
                </a:solidFill>
                <a:latin typeface="微软雅黑"/>
                <a:ea typeface="微软雅黑"/>
                <a:cs typeface="微软雅黑"/>
              </a:rPr>
              <a:t>Qwen3-1.7B </a:t>
            </a:r>
            <a:r>
              <a:rPr b="1">
                <a:solidFill>
                  <a:srgbClr val="262626"/>
                </a:solidFill>
                <a:latin typeface="微软雅黑"/>
                <a:ea typeface="微软雅黑"/>
                <a:cs typeface="微软雅黑"/>
              </a:rPr>
              <a:t>训练显存构成</a:t>
            </a:r>
            <a:r>
              <a:rPr b="1">
                <a:solidFill>
                  <a:srgbClr val="262626"/>
                </a:solidFill>
                <a:latin typeface="微软雅黑"/>
                <a:ea typeface="微软雅黑"/>
                <a:cs typeface="微软雅黑"/>
              </a:rPr>
              <a:t>为例</a:t>
            </a:r>
            <a:endParaRPr b="1">
              <a:solidFill>
                <a:srgbClr val="262626"/>
              </a:solidFill>
              <a:latin typeface="微软雅黑"/>
              <a:ea typeface="微软雅黑"/>
              <a:cs typeface="微软雅黑"/>
            </a:endParaRPr>
          </a:p>
        </p:txBody>
      </p:sp>
      <p:sp>
        <p:nvSpPr>
          <p:cNvPr id="6" name="矩形 5"/>
          <p:cNvSpPr>
            <a:spLocks noGrp="1"/>
          </p:cNvSpPr>
          <p:nvPr/>
        </p:nvSpPr>
        <p:spPr>
          <a:xfrm>
            <a:off x="685800" y="1752600"/>
            <a:ext cx="1371600" cy="304800"/>
          </a:xfrm>
          <a:prstGeom prst="rect">
            <a:avLst/>
          </a:prstGeom>
          <a:noFill/>
          <a:ln w="0">
            <a:noFill/>
            <a:prstDash val="solid"/>
          </a:ln>
        </p:spPr>
        <p:txBody>
          <a:bodyPr wrap="square" lIns="0" tIns="0" rIns="0" bIns="0" anchor="t">
            <a:normAutofit/>
          </a:bodyPr>
          <a:lstStyle/>
          <a:p>
            <a:pPr>
              <a:lnSpc>
                <a:spcPct val="108000"/>
              </a:lnSpc>
              <a:buNone/>
              <a:defRPr sz="1725" b="1">
                <a:solidFill>
                  <a:srgbClr val="262626"/>
                </a:solidFill>
                <a:latin typeface="微软雅黑"/>
                <a:ea typeface="微软雅黑"/>
                <a:cs typeface="微软雅黑"/>
              </a:defRPr>
            </a:pPr>
            <a:r>
              <a:rPr sz="1380" b="1">
                <a:solidFill>
                  <a:srgbClr val="262626"/>
                </a:solidFill>
                <a:latin typeface="微软雅黑"/>
                <a:ea typeface="微软雅黑"/>
                <a:cs typeface="微软雅黑"/>
              </a:rPr>
              <a:t>模型权重</a:t>
            </a:r>
            <a:endParaRPr sz="1380" b="1">
              <a:solidFill>
                <a:srgbClr val="262626"/>
              </a:solidFill>
              <a:latin typeface="微软雅黑"/>
              <a:ea typeface="微软雅黑"/>
              <a:cs typeface="微软雅黑"/>
            </a:endParaRPr>
          </a:p>
        </p:txBody>
      </p:sp>
      <p:sp>
        <p:nvSpPr>
          <p:cNvPr id="7" name="矩形: 圆角 6"/>
          <p:cNvSpPr>
            <a:spLocks noGrp="1"/>
          </p:cNvSpPr>
          <p:nvPr/>
        </p:nvSpPr>
        <p:spPr>
          <a:xfrm>
            <a:off x="2057400" y="1775460"/>
            <a:ext cx="466344" cy="259080"/>
          </a:xfrm>
          <a:prstGeom prst="roundRect">
            <a:avLst>
              <a:gd name="adj" fmla="val 17647"/>
            </a:avLst>
          </a:prstGeom>
          <a:solidFill>
            <a:srgbClr val="377DFF"/>
          </a:solidFill>
          <a:ln w="0">
            <a:noFill/>
            <a:prstDash val="solid"/>
          </a:ln>
        </p:spPr>
      </p:sp>
      <p:sp>
        <p:nvSpPr>
          <p:cNvPr id="8" name="矩形 7"/>
          <p:cNvSpPr>
            <a:spLocks noGrp="1"/>
          </p:cNvSpPr>
          <p:nvPr/>
        </p:nvSpPr>
        <p:spPr>
          <a:xfrm>
            <a:off x="4953000" y="1752600"/>
            <a:ext cx="1143000" cy="304800"/>
          </a:xfrm>
          <a:prstGeom prst="rect">
            <a:avLst/>
          </a:prstGeom>
          <a:noFill/>
          <a:ln w="0">
            <a:noFill/>
            <a:prstDash val="solid"/>
          </a:ln>
        </p:spPr>
        <p:txBody>
          <a:bodyPr wrap="square" lIns="0" tIns="0" rIns="0" bIns="0" anchor="t">
            <a:normAutofit/>
          </a:bodyPr>
          <a:lstStyle/>
          <a:p>
            <a:pPr algn="r">
              <a:lnSpc>
                <a:spcPct val="108000"/>
              </a:lnSpc>
              <a:buNone/>
              <a:defRPr sz="1650" b="1">
                <a:solidFill>
                  <a:srgbClr val="525252"/>
                </a:solidFill>
                <a:latin typeface="微软雅黑"/>
                <a:ea typeface="微软雅黑"/>
                <a:cs typeface="微软雅黑"/>
              </a:defRPr>
            </a:pPr>
            <a:r>
              <a:rPr sz="1320" b="1">
                <a:solidFill>
                  <a:srgbClr val="525252"/>
                </a:solidFill>
                <a:latin typeface="微软雅黑"/>
                <a:ea typeface="微软雅黑"/>
                <a:cs typeface="微软雅黑"/>
              </a:rPr>
              <a:t>≈ 3.4 GiB</a:t>
            </a:r>
            <a:endParaRPr sz="1320" b="1">
              <a:solidFill>
                <a:srgbClr val="525252"/>
              </a:solidFill>
              <a:latin typeface="微软雅黑"/>
              <a:ea typeface="微软雅黑"/>
              <a:cs typeface="微软雅黑"/>
            </a:endParaRPr>
          </a:p>
        </p:txBody>
      </p:sp>
      <p:sp>
        <p:nvSpPr>
          <p:cNvPr id="9" name="矩形 8"/>
          <p:cNvSpPr>
            <a:spLocks noGrp="1"/>
          </p:cNvSpPr>
          <p:nvPr/>
        </p:nvSpPr>
        <p:spPr>
          <a:xfrm>
            <a:off x="685800" y="2133600"/>
            <a:ext cx="4724400" cy="259080"/>
          </a:xfrm>
          <a:prstGeom prst="rect">
            <a:avLst/>
          </a:prstGeom>
          <a:noFill/>
          <a:ln w="0">
            <a:noFill/>
            <a:prstDash val="solid"/>
          </a:ln>
        </p:spPr>
        <p:txBody>
          <a:bodyPr wrap="square" lIns="0" tIns="0" rIns="0" bIns="0" anchor="t">
            <a:normAutofit/>
          </a:bodyPr>
          <a:lstStyle/>
          <a:p>
            <a:pPr>
              <a:lnSpc>
                <a:spcPct val="108000"/>
              </a:lnSpc>
              <a:buNone/>
              <a:defRPr sz="1425" b="0">
                <a:solidFill>
                  <a:srgbClr val="888888"/>
                </a:solidFill>
                <a:latin typeface="微软雅黑"/>
                <a:ea typeface="微软雅黑"/>
                <a:cs typeface="微软雅黑"/>
              </a:defRPr>
            </a:pPr>
            <a:r>
              <a:rPr sz="1140">
                <a:solidFill>
                  <a:srgbClr val="888888"/>
                </a:solidFill>
                <a:latin typeface="微软雅黑"/>
                <a:ea typeface="微软雅黑"/>
                <a:cs typeface="微软雅黑"/>
              </a:rPr>
              <a:t>bf16，1 份</a:t>
            </a:r>
            <a:endParaRPr sz="1140">
              <a:solidFill>
                <a:srgbClr val="888888"/>
              </a:solidFill>
              <a:latin typeface="微软雅黑"/>
              <a:ea typeface="微软雅黑"/>
              <a:cs typeface="微软雅黑"/>
            </a:endParaRPr>
          </a:p>
        </p:txBody>
      </p:sp>
      <p:sp>
        <p:nvSpPr>
          <p:cNvPr id="10" name="矩形 9"/>
          <p:cNvSpPr>
            <a:spLocks noGrp="1"/>
          </p:cNvSpPr>
          <p:nvPr/>
        </p:nvSpPr>
        <p:spPr>
          <a:xfrm>
            <a:off x="685800" y="2552700"/>
            <a:ext cx="1371600" cy="304800"/>
          </a:xfrm>
          <a:prstGeom prst="rect">
            <a:avLst/>
          </a:prstGeom>
          <a:noFill/>
          <a:ln w="0">
            <a:noFill/>
            <a:prstDash val="solid"/>
          </a:ln>
        </p:spPr>
        <p:txBody>
          <a:bodyPr wrap="square" lIns="0" tIns="0" rIns="0" bIns="0" anchor="t">
            <a:normAutofit/>
          </a:bodyPr>
          <a:lstStyle/>
          <a:p>
            <a:pPr>
              <a:lnSpc>
                <a:spcPct val="108000"/>
              </a:lnSpc>
              <a:buNone/>
              <a:defRPr sz="1725" b="1">
                <a:solidFill>
                  <a:srgbClr val="262626"/>
                </a:solidFill>
                <a:latin typeface="微软雅黑"/>
                <a:ea typeface="微软雅黑"/>
                <a:cs typeface="微软雅黑"/>
              </a:defRPr>
            </a:pPr>
            <a:r>
              <a:rPr sz="1380" b="1">
                <a:solidFill>
                  <a:srgbClr val="262626"/>
                </a:solidFill>
                <a:latin typeface="微软雅黑"/>
                <a:ea typeface="微软雅黑"/>
                <a:cs typeface="微软雅黑"/>
              </a:rPr>
              <a:t>梯度</a:t>
            </a:r>
            <a:endParaRPr sz="1380" b="1">
              <a:solidFill>
                <a:srgbClr val="262626"/>
              </a:solidFill>
              <a:latin typeface="微软雅黑"/>
              <a:ea typeface="微软雅黑"/>
              <a:cs typeface="微软雅黑"/>
            </a:endParaRPr>
          </a:p>
        </p:txBody>
      </p:sp>
      <p:sp>
        <p:nvSpPr>
          <p:cNvPr id="11" name="矩形: 圆角 10"/>
          <p:cNvSpPr>
            <a:spLocks noGrp="1"/>
          </p:cNvSpPr>
          <p:nvPr/>
        </p:nvSpPr>
        <p:spPr>
          <a:xfrm>
            <a:off x="2057400" y="2575560"/>
            <a:ext cx="466344" cy="259080"/>
          </a:xfrm>
          <a:prstGeom prst="roundRect">
            <a:avLst>
              <a:gd name="adj" fmla="val 17647"/>
            </a:avLst>
          </a:prstGeom>
          <a:solidFill>
            <a:srgbClr val="43A047"/>
          </a:solidFill>
          <a:ln w="0">
            <a:noFill/>
            <a:prstDash val="solid"/>
          </a:ln>
        </p:spPr>
      </p:sp>
      <p:sp>
        <p:nvSpPr>
          <p:cNvPr id="12" name="矩形 11"/>
          <p:cNvSpPr>
            <a:spLocks noGrp="1"/>
          </p:cNvSpPr>
          <p:nvPr/>
        </p:nvSpPr>
        <p:spPr>
          <a:xfrm>
            <a:off x="4953000" y="2552700"/>
            <a:ext cx="1143000" cy="304800"/>
          </a:xfrm>
          <a:prstGeom prst="rect">
            <a:avLst/>
          </a:prstGeom>
          <a:noFill/>
          <a:ln w="0">
            <a:noFill/>
            <a:prstDash val="solid"/>
          </a:ln>
        </p:spPr>
        <p:txBody>
          <a:bodyPr wrap="square" lIns="0" tIns="0" rIns="0" bIns="0" anchor="t">
            <a:normAutofit/>
          </a:bodyPr>
          <a:lstStyle/>
          <a:p>
            <a:pPr algn="r">
              <a:lnSpc>
                <a:spcPct val="108000"/>
              </a:lnSpc>
              <a:buNone/>
              <a:defRPr sz="1650" b="1">
                <a:solidFill>
                  <a:srgbClr val="525252"/>
                </a:solidFill>
                <a:latin typeface="微软雅黑"/>
                <a:ea typeface="微软雅黑"/>
                <a:cs typeface="微软雅黑"/>
              </a:defRPr>
            </a:pPr>
            <a:r>
              <a:rPr sz="1320" b="1">
                <a:solidFill>
                  <a:srgbClr val="525252"/>
                </a:solidFill>
                <a:latin typeface="微软雅黑"/>
                <a:ea typeface="微软雅黑"/>
                <a:cs typeface="微软雅黑"/>
              </a:rPr>
              <a:t>≈ 3.4 GiB</a:t>
            </a:r>
            <a:endParaRPr sz="1320" b="1">
              <a:solidFill>
                <a:srgbClr val="525252"/>
              </a:solidFill>
              <a:latin typeface="微软雅黑"/>
              <a:ea typeface="微软雅黑"/>
              <a:cs typeface="微软雅黑"/>
            </a:endParaRPr>
          </a:p>
        </p:txBody>
      </p:sp>
      <p:sp>
        <p:nvSpPr>
          <p:cNvPr id="13" name="矩形 12"/>
          <p:cNvSpPr>
            <a:spLocks noGrp="1"/>
          </p:cNvSpPr>
          <p:nvPr/>
        </p:nvSpPr>
        <p:spPr>
          <a:xfrm>
            <a:off x="685800" y="2933700"/>
            <a:ext cx="4724400" cy="259080"/>
          </a:xfrm>
          <a:prstGeom prst="rect">
            <a:avLst/>
          </a:prstGeom>
          <a:noFill/>
          <a:ln w="0">
            <a:noFill/>
            <a:prstDash val="solid"/>
          </a:ln>
        </p:spPr>
        <p:txBody>
          <a:bodyPr wrap="square" lIns="0" tIns="0" rIns="0" bIns="0" anchor="t">
            <a:normAutofit/>
          </a:bodyPr>
          <a:lstStyle/>
          <a:p>
            <a:pPr>
              <a:lnSpc>
                <a:spcPct val="108000"/>
              </a:lnSpc>
              <a:buNone/>
              <a:defRPr sz="1425" b="0">
                <a:solidFill>
                  <a:srgbClr val="888888"/>
                </a:solidFill>
                <a:latin typeface="微软雅黑"/>
                <a:ea typeface="微软雅黑"/>
                <a:cs typeface="微软雅黑"/>
              </a:defRPr>
            </a:pPr>
            <a:r>
              <a:rPr sz="1140">
                <a:solidFill>
                  <a:srgbClr val="888888"/>
                </a:solidFill>
                <a:latin typeface="微软雅黑"/>
                <a:ea typeface="微软雅黑"/>
                <a:cs typeface="微软雅黑"/>
              </a:rPr>
              <a:t>反向传播产生</a:t>
            </a:r>
            <a:endParaRPr sz="1140">
              <a:solidFill>
                <a:srgbClr val="888888"/>
              </a:solidFill>
              <a:latin typeface="微软雅黑"/>
              <a:ea typeface="微软雅黑"/>
              <a:cs typeface="微软雅黑"/>
            </a:endParaRPr>
          </a:p>
        </p:txBody>
      </p:sp>
      <p:sp>
        <p:nvSpPr>
          <p:cNvPr id="14" name="矩形 13"/>
          <p:cNvSpPr>
            <a:spLocks noGrp="1"/>
          </p:cNvSpPr>
          <p:nvPr/>
        </p:nvSpPr>
        <p:spPr>
          <a:xfrm>
            <a:off x="685800" y="3352800"/>
            <a:ext cx="1371600" cy="304800"/>
          </a:xfrm>
          <a:prstGeom prst="rect">
            <a:avLst/>
          </a:prstGeom>
          <a:noFill/>
          <a:ln w="0">
            <a:noFill/>
            <a:prstDash val="solid"/>
          </a:ln>
        </p:spPr>
        <p:txBody>
          <a:bodyPr wrap="square" lIns="0" tIns="0" rIns="0" bIns="0" anchor="t">
            <a:normAutofit/>
          </a:bodyPr>
          <a:lstStyle/>
          <a:p>
            <a:pPr>
              <a:lnSpc>
                <a:spcPct val="108000"/>
              </a:lnSpc>
              <a:buNone/>
              <a:defRPr sz="1725" b="1">
                <a:solidFill>
                  <a:srgbClr val="262626"/>
                </a:solidFill>
                <a:latin typeface="微软雅黑"/>
                <a:ea typeface="微软雅黑"/>
                <a:cs typeface="微软雅黑"/>
              </a:defRPr>
            </a:pPr>
            <a:r>
              <a:rPr sz="1380" b="1">
                <a:solidFill>
                  <a:srgbClr val="262626"/>
                </a:solidFill>
                <a:latin typeface="微软雅黑"/>
                <a:ea typeface="微软雅黑"/>
                <a:cs typeface="微软雅黑"/>
              </a:rPr>
              <a:t>优化器状态</a:t>
            </a:r>
            <a:endParaRPr sz="1380" b="1">
              <a:solidFill>
                <a:srgbClr val="262626"/>
              </a:solidFill>
              <a:latin typeface="微软雅黑"/>
              <a:ea typeface="微软雅黑"/>
              <a:cs typeface="微软雅黑"/>
            </a:endParaRPr>
          </a:p>
        </p:txBody>
      </p:sp>
      <p:sp>
        <p:nvSpPr>
          <p:cNvPr id="15" name="矩形: 圆角 14"/>
          <p:cNvSpPr>
            <a:spLocks noGrp="1"/>
          </p:cNvSpPr>
          <p:nvPr/>
        </p:nvSpPr>
        <p:spPr>
          <a:xfrm>
            <a:off x="2057400" y="3375660"/>
            <a:ext cx="2743200" cy="259080"/>
          </a:xfrm>
          <a:prstGeom prst="roundRect">
            <a:avLst>
              <a:gd name="adj" fmla="val 17647"/>
            </a:avLst>
          </a:prstGeom>
          <a:solidFill>
            <a:srgbClr val="E60012"/>
          </a:solidFill>
          <a:ln w="0">
            <a:noFill/>
            <a:prstDash val="solid"/>
          </a:ln>
        </p:spPr>
      </p:sp>
      <p:sp>
        <p:nvSpPr>
          <p:cNvPr id="16" name="矩形 15"/>
          <p:cNvSpPr>
            <a:spLocks noGrp="1"/>
          </p:cNvSpPr>
          <p:nvPr/>
        </p:nvSpPr>
        <p:spPr>
          <a:xfrm>
            <a:off x="4953000" y="3352800"/>
            <a:ext cx="1143000" cy="304800"/>
          </a:xfrm>
          <a:prstGeom prst="rect">
            <a:avLst/>
          </a:prstGeom>
          <a:noFill/>
          <a:ln w="0">
            <a:noFill/>
            <a:prstDash val="solid"/>
          </a:ln>
        </p:spPr>
        <p:txBody>
          <a:bodyPr wrap="square" lIns="0" tIns="0" rIns="0" bIns="0" anchor="t">
            <a:normAutofit/>
          </a:bodyPr>
          <a:lstStyle/>
          <a:p>
            <a:pPr algn="r">
              <a:lnSpc>
                <a:spcPct val="108000"/>
              </a:lnSpc>
              <a:buNone/>
              <a:defRPr sz="1650" b="1">
                <a:solidFill>
                  <a:srgbClr val="525252"/>
                </a:solidFill>
                <a:latin typeface="微软雅黑"/>
                <a:ea typeface="微软雅黑"/>
                <a:cs typeface="微软雅黑"/>
              </a:defRPr>
            </a:pPr>
            <a:r>
              <a:rPr sz="1320" b="1">
                <a:solidFill>
                  <a:srgbClr val="525252"/>
                </a:solidFill>
                <a:latin typeface="微软雅黑"/>
                <a:ea typeface="微软雅黑"/>
                <a:cs typeface="微软雅黑"/>
              </a:rPr>
              <a:t>≈ 20 GiB</a:t>
            </a:r>
            <a:endParaRPr sz="1320" b="1">
              <a:solidFill>
                <a:srgbClr val="525252"/>
              </a:solidFill>
              <a:latin typeface="微软雅黑"/>
              <a:ea typeface="微软雅黑"/>
              <a:cs typeface="微软雅黑"/>
            </a:endParaRPr>
          </a:p>
        </p:txBody>
      </p:sp>
      <p:sp>
        <p:nvSpPr>
          <p:cNvPr id="17" name="矩形 16"/>
          <p:cNvSpPr>
            <a:spLocks noGrp="1"/>
          </p:cNvSpPr>
          <p:nvPr/>
        </p:nvSpPr>
        <p:spPr>
          <a:xfrm>
            <a:off x="685800" y="3733800"/>
            <a:ext cx="4724400" cy="259080"/>
          </a:xfrm>
          <a:prstGeom prst="rect">
            <a:avLst/>
          </a:prstGeom>
          <a:noFill/>
          <a:ln w="0">
            <a:noFill/>
            <a:prstDash val="solid"/>
          </a:ln>
        </p:spPr>
        <p:txBody>
          <a:bodyPr wrap="square" lIns="0" tIns="0" rIns="0" bIns="0" anchor="t">
            <a:normAutofit/>
          </a:bodyPr>
          <a:lstStyle/>
          <a:p>
            <a:pPr>
              <a:lnSpc>
                <a:spcPct val="108000"/>
              </a:lnSpc>
              <a:buNone/>
              <a:defRPr sz="1425" b="0">
                <a:solidFill>
                  <a:srgbClr val="888888"/>
                </a:solidFill>
                <a:latin typeface="微软雅黑"/>
                <a:ea typeface="微软雅黑"/>
                <a:cs typeface="微软雅黑"/>
              </a:defRPr>
            </a:pPr>
            <a:r>
              <a:rPr sz="1140">
                <a:solidFill>
                  <a:srgbClr val="888888"/>
                </a:solidFill>
                <a:latin typeface="微软雅黑"/>
                <a:ea typeface="微软雅黑"/>
                <a:cs typeface="微软雅黑"/>
              </a:rPr>
              <a:t>Adam m / v，fp32</a:t>
            </a:r>
            <a:endParaRPr sz="1140">
              <a:solidFill>
                <a:srgbClr val="888888"/>
              </a:solidFill>
              <a:latin typeface="微软雅黑"/>
              <a:ea typeface="微软雅黑"/>
              <a:cs typeface="微软雅黑"/>
            </a:endParaRPr>
          </a:p>
        </p:txBody>
      </p:sp>
      <p:sp>
        <p:nvSpPr>
          <p:cNvPr id="18" name="矩形 17"/>
          <p:cNvSpPr>
            <a:spLocks noGrp="1"/>
          </p:cNvSpPr>
          <p:nvPr/>
        </p:nvSpPr>
        <p:spPr>
          <a:xfrm>
            <a:off x="685800" y="4152900"/>
            <a:ext cx="1371600" cy="304800"/>
          </a:xfrm>
          <a:prstGeom prst="rect">
            <a:avLst/>
          </a:prstGeom>
          <a:noFill/>
          <a:ln w="0">
            <a:noFill/>
            <a:prstDash val="solid"/>
          </a:ln>
        </p:spPr>
        <p:txBody>
          <a:bodyPr wrap="square" lIns="0" tIns="0" rIns="0" bIns="0" anchor="t">
            <a:normAutofit/>
          </a:bodyPr>
          <a:lstStyle/>
          <a:p>
            <a:pPr>
              <a:lnSpc>
                <a:spcPct val="108000"/>
              </a:lnSpc>
              <a:buNone/>
              <a:defRPr sz="1725" b="1">
                <a:solidFill>
                  <a:srgbClr val="262626"/>
                </a:solidFill>
                <a:latin typeface="微软雅黑"/>
                <a:ea typeface="微软雅黑"/>
                <a:cs typeface="微软雅黑"/>
              </a:defRPr>
            </a:pPr>
            <a:r>
              <a:rPr sz="1380" b="1">
                <a:solidFill>
                  <a:srgbClr val="262626"/>
                </a:solidFill>
                <a:latin typeface="微软雅黑"/>
                <a:ea typeface="微软雅黑"/>
                <a:cs typeface="微软雅黑"/>
              </a:rPr>
              <a:t>激活值</a:t>
            </a:r>
            <a:endParaRPr sz="1380" b="1">
              <a:solidFill>
                <a:srgbClr val="262626"/>
              </a:solidFill>
              <a:latin typeface="微软雅黑"/>
              <a:ea typeface="微软雅黑"/>
              <a:cs typeface="微软雅黑"/>
            </a:endParaRPr>
          </a:p>
        </p:txBody>
      </p:sp>
      <p:sp>
        <p:nvSpPr>
          <p:cNvPr id="19" name="矩形: 圆角 18"/>
          <p:cNvSpPr>
            <a:spLocks noGrp="1"/>
          </p:cNvSpPr>
          <p:nvPr/>
        </p:nvSpPr>
        <p:spPr>
          <a:xfrm>
            <a:off x="2057400" y="4175760"/>
            <a:ext cx="1371600" cy="259080"/>
          </a:xfrm>
          <a:prstGeom prst="roundRect">
            <a:avLst>
              <a:gd name="adj" fmla="val 17647"/>
            </a:avLst>
          </a:prstGeom>
          <a:solidFill>
            <a:srgbClr val="C9A227"/>
          </a:solidFill>
          <a:ln w="0">
            <a:noFill/>
            <a:prstDash val="solid"/>
          </a:ln>
        </p:spPr>
      </p:sp>
      <p:sp>
        <p:nvSpPr>
          <p:cNvPr id="20" name="矩形 19"/>
          <p:cNvSpPr>
            <a:spLocks noGrp="1"/>
          </p:cNvSpPr>
          <p:nvPr/>
        </p:nvSpPr>
        <p:spPr>
          <a:xfrm>
            <a:off x="4953000" y="4152900"/>
            <a:ext cx="1143000" cy="304800"/>
          </a:xfrm>
          <a:prstGeom prst="rect">
            <a:avLst/>
          </a:prstGeom>
          <a:noFill/>
          <a:ln w="0">
            <a:noFill/>
            <a:prstDash val="solid"/>
          </a:ln>
        </p:spPr>
        <p:txBody>
          <a:bodyPr wrap="square" lIns="0" tIns="0" rIns="0" bIns="0" anchor="t">
            <a:normAutofit/>
          </a:bodyPr>
          <a:lstStyle/>
          <a:p>
            <a:pPr algn="r">
              <a:lnSpc>
                <a:spcPct val="108000"/>
              </a:lnSpc>
              <a:buNone/>
              <a:defRPr sz="1650" b="1">
                <a:solidFill>
                  <a:srgbClr val="525252"/>
                </a:solidFill>
                <a:latin typeface="微软雅黑"/>
                <a:ea typeface="微软雅黑"/>
                <a:cs typeface="微软雅黑"/>
              </a:defRPr>
            </a:pPr>
            <a:r>
              <a:rPr sz="1320" b="1">
                <a:solidFill>
                  <a:srgbClr val="525252"/>
                </a:solidFill>
                <a:latin typeface="微软雅黑"/>
                <a:ea typeface="微软雅黑"/>
                <a:cs typeface="微软雅黑"/>
              </a:rPr>
              <a:t>≈ 10 GiB</a:t>
            </a:r>
            <a:endParaRPr sz="1320" b="1">
              <a:solidFill>
                <a:srgbClr val="525252"/>
              </a:solidFill>
              <a:latin typeface="微软雅黑"/>
              <a:ea typeface="微软雅黑"/>
              <a:cs typeface="微软雅黑"/>
            </a:endParaRPr>
          </a:p>
        </p:txBody>
      </p:sp>
      <p:sp>
        <p:nvSpPr>
          <p:cNvPr id="21" name="矩形 20"/>
          <p:cNvSpPr>
            <a:spLocks noGrp="1"/>
          </p:cNvSpPr>
          <p:nvPr/>
        </p:nvSpPr>
        <p:spPr>
          <a:xfrm>
            <a:off x="685800" y="4533900"/>
            <a:ext cx="4724400" cy="259080"/>
          </a:xfrm>
          <a:prstGeom prst="rect">
            <a:avLst/>
          </a:prstGeom>
          <a:noFill/>
          <a:ln w="0">
            <a:noFill/>
            <a:prstDash val="solid"/>
          </a:ln>
        </p:spPr>
        <p:txBody>
          <a:bodyPr wrap="square" lIns="0" tIns="0" rIns="0" bIns="0" anchor="t">
            <a:normAutofit/>
          </a:bodyPr>
          <a:lstStyle/>
          <a:p>
            <a:pPr>
              <a:lnSpc>
                <a:spcPct val="108000"/>
              </a:lnSpc>
              <a:buNone/>
              <a:defRPr sz="1425" b="0">
                <a:solidFill>
                  <a:srgbClr val="888888"/>
                </a:solidFill>
                <a:latin typeface="微软雅黑"/>
                <a:ea typeface="微软雅黑"/>
                <a:cs typeface="微软雅黑"/>
              </a:defRPr>
            </a:pPr>
            <a:r>
              <a:rPr sz="1140">
                <a:solidFill>
                  <a:srgbClr val="888888"/>
                </a:solidFill>
                <a:latin typeface="微软雅黑"/>
                <a:ea typeface="微软雅黑"/>
                <a:cs typeface="微软雅黑"/>
              </a:rPr>
              <a:t>取决于 batch × seq_len</a:t>
            </a:r>
            <a:endParaRPr sz="1140">
              <a:solidFill>
                <a:srgbClr val="888888"/>
              </a:solidFill>
              <a:latin typeface="微软雅黑"/>
              <a:ea typeface="微软雅黑"/>
              <a:cs typeface="微软雅黑"/>
            </a:endParaRPr>
          </a:p>
        </p:txBody>
      </p:sp>
      <p:sp>
        <p:nvSpPr>
          <p:cNvPr id="22" name="矩形: 圆角 21"/>
          <p:cNvSpPr>
            <a:spLocks noGrp="1"/>
          </p:cNvSpPr>
          <p:nvPr/>
        </p:nvSpPr>
        <p:spPr>
          <a:xfrm>
            <a:off x="6248400" y="1219200"/>
            <a:ext cx="4724400" cy="1866900"/>
          </a:xfrm>
          <a:prstGeom prst="roundRect">
            <a:avLst>
              <a:gd name="adj" fmla="val 2449"/>
            </a:avLst>
          </a:prstGeom>
          <a:solidFill>
            <a:srgbClr val="FFF1F2"/>
          </a:solidFill>
          <a:ln w="9525">
            <a:solidFill>
              <a:srgbClr val="E60012"/>
            </a:solidFill>
            <a:prstDash val="solid"/>
          </a:ln>
        </p:spPr>
      </p:sp>
      <p:sp>
        <p:nvSpPr>
          <p:cNvPr id="23" name="矩形 22"/>
          <p:cNvSpPr>
            <a:spLocks noGrp="1"/>
          </p:cNvSpPr>
          <p:nvPr/>
        </p:nvSpPr>
        <p:spPr>
          <a:xfrm>
            <a:off x="6553200" y="1562100"/>
            <a:ext cx="1905000" cy="609600"/>
          </a:xfrm>
          <a:prstGeom prst="rect">
            <a:avLst/>
          </a:prstGeom>
          <a:noFill/>
          <a:ln w="0">
            <a:noFill/>
            <a:prstDash val="solid"/>
          </a:ln>
        </p:spPr>
        <p:txBody>
          <a:bodyPr wrap="square" lIns="0" tIns="0" rIns="0" bIns="0" anchor="t">
            <a:normAutofit fontScale="88596"/>
          </a:bodyPr>
          <a:lstStyle/>
          <a:p>
            <a:pPr>
              <a:lnSpc>
                <a:spcPct val="108000"/>
              </a:lnSpc>
              <a:buNone/>
              <a:defRPr sz="4500" b="1">
                <a:solidFill>
                  <a:srgbClr val="E60012"/>
                </a:solidFill>
                <a:latin typeface="微软雅黑"/>
                <a:ea typeface="微软雅黑"/>
                <a:cs typeface="微软雅黑"/>
              </a:defRPr>
            </a:pPr>
            <a:r>
              <a:rPr sz="3600" b="1">
                <a:solidFill>
                  <a:srgbClr val="E60012"/>
                </a:solidFill>
                <a:latin typeface="微软雅黑"/>
                <a:ea typeface="微软雅黑"/>
                <a:cs typeface="微软雅黑"/>
              </a:rPr>
              <a:t>≈ 37 GiB</a:t>
            </a:r>
            <a:endParaRPr sz="3600" b="1">
              <a:solidFill>
                <a:srgbClr val="E60012"/>
              </a:solidFill>
              <a:latin typeface="微软雅黑"/>
              <a:ea typeface="微软雅黑"/>
              <a:cs typeface="微软雅黑"/>
            </a:endParaRPr>
          </a:p>
        </p:txBody>
      </p:sp>
      <p:sp>
        <p:nvSpPr>
          <p:cNvPr id="24" name="矩形 23"/>
          <p:cNvSpPr>
            <a:spLocks noGrp="1"/>
          </p:cNvSpPr>
          <p:nvPr/>
        </p:nvSpPr>
        <p:spPr>
          <a:xfrm>
            <a:off x="8458200" y="1638300"/>
            <a:ext cx="609600" cy="457200"/>
          </a:xfrm>
          <a:prstGeom prst="rect">
            <a:avLst/>
          </a:prstGeom>
          <a:noFill/>
          <a:ln w="0">
            <a:noFill/>
            <a:prstDash val="solid"/>
          </a:ln>
        </p:spPr>
        <p:txBody>
          <a:bodyPr wrap="square" lIns="0" tIns="0" rIns="0" bIns="0" anchor="t">
            <a:normAutofit fontScale="96451"/>
          </a:bodyPr>
          <a:lstStyle/>
          <a:p>
            <a:pPr algn="ctr">
              <a:lnSpc>
                <a:spcPct val="108000"/>
              </a:lnSpc>
              <a:buNone/>
              <a:defRPr sz="3600" b="1">
                <a:solidFill>
                  <a:srgbClr val="262626"/>
                </a:solidFill>
                <a:latin typeface="微软雅黑"/>
                <a:ea typeface="微软雅黑"/>
                <a:cs typeface="微软雅黑"/>
              </a:defRPr>
            </a:pPr>
            <a:r>
              <a:rPr sz="2880" b="1">
                <a:solidFill>
                  <a:srgbClr val="262626"/>
                </a:solidFill>
                <a:latin typeface="微软雅黑"/>
                <a:ea typeface="微软雅黑"/>
                <a:cs typeface="微软雅黑"/>
              </a:rPr>
              <a:t>&gt;</a:t>
            </a:r>
            <a:endParaRPr sz="2880" b="1">
              <a:solidFill>
                <a:srgbClr val="262626"/>
              </a:solidFill>
              <a:latin typeface="微软雅黑"/>
              <a:ea typeface="微软雅黑"/>
              <a:cs typeface="微软雅黑"/>
            </a:endParaRPr>
          </a:p>
        </p:txBody>
      </p:sp>
      <p:sp>
        <p:nvSpPr>
          <p:cNvPr id="25" name="矩形 24"/>
          <p:cNvSpPr>
            <a:spLocks noGrp="1"/>
          </p:cNvSpPr>
          <p:nvPr/>
        </p:nvSpPr>
        <p:spPr>
          <a:xfrm>
            <a:off x="9144000" y="1638300"/>
            <a:ext cx="1447800" cy="457200"/>
          </a:xfrm>
          <a:prstGeom prst="rect">
            <a:avLst/>
          </a:prstGeom>
          <a:noFill/>
          <a:ln w="0">
            <a:noFill/>
            <a:prstDash val="solid"/>
          </a:ln>
        </p:spPr>
        <p:txBody>
          <a:bodyPr wrap="square" lIns="0" tIns="0" rIns="0" bIns="0" anchor="t">
            <a:normAutofit/>
          </a:bodyPr>
          <a:lstStyle/>
          <a:p>
            <a:pPr algn="ctr">
              <a:lnSpc>
                <a:spcPct val="108000"/>
              </a:lnSpc>
              <a:buNone/>
              <a:defRPr sz="3300" b="1">
                <a:solidFill>
                  <a:srgbClr val="262626"/>
                </a:solidFill>
                <a:latin typeface="微软雅黑"/>
                <a:ea typeface="微软雅黑"/>
                <a:cs typeface="微软雅黑"/>
              </a:defRPr>
            </a:pPr>
            <a:r>
              <a:rPr sz="2640" b="1">
                <a:solidFill>
                  <a:srgbClr val="262626"/>
                </a:solidFill>
                <a:latin typeface="微软雅黑"/>
                <a:ea typeface="微软雅黑"/>
                <a:cs typeface="微软雅黑"/>
              </a:rPr>
              <a:t>32 GiB</a:t>
            </a:r>
            <a:endParaRPr sz="2640" b="1">
              <a:solidFill>
                <a:srgbClr val="262626"/>
              </a:solidFill>
              <a:latin typeface="微软雅黑"/>
              <a:ea typeface="微软雅黑"/>
              <a:cs typeface="微软雅黑"/>
            </a:endParaRPr>
          </a:p>
        </p:txBody>
      </p:sp>
      <p:sp>
        <p:nvSpPr>
          <p:cNvPr id="26" name="矩形 25"/>
          <p:cNvSpPr>
            <a:spLocks noGrp="1"/>
          </p:cNvSpPr>
          <p:nvPr/>
        </p:nvSpPr>
        <p:spPr>
          <a:xfrm>
            <a:off x="6591300" y="2400300"/>
            <a:ext cx="3962400" cy="365760"/>
          </a:xfrm>
          <a:prstGeom prst="rect">
            <a:avLst/>
          </a:prstGeom>
          <a:noFill/>
          <a:ln w="0">
            <a:noFill/>
            <a:prstDash val="solid"/>
          </a:ln>
        </p:spPr>
        <p:txBody>
          <a:bodyPr wrap="square" lIns="0" tIns="0" rIns="0" bIns="0" anchor="t">
            <a:normAutofit/>
          </a:bodyPr>
          <a:lstStyle/>
          <a:p>
            <a:pPr algn="ctr">
              <a:lnSpc>
                <a:spcPct val="108000"/>
              </a:lnSpc>
              <a:buNone/>
              <a:defRPr sz="2100" b="1">
                <a:solidFill>
                  <a:srgbClr val="525252"/>
                </a:solidFill>
                <a:latin typeface="微软雅黑"/>
                <a:ea typeface="微软雅黑"/>
                <a:cs typeface="微软雅黑"/>
              </a:defRPr>
            </a:pPr>
            <a:r>
              <a:rPr sz="1680" b="1">
                <a:solidFill>
                  <a:srgbClr val="525252"/>
                </a:solidFill>
                <a:latin typeface="微软雅黑"/>
                <a:ea typeface="微软雅黑"/>
                <a:cs typeface="微软雅黑"/>
              </a:rPr>
              <a:t>完整训练状态超过单卡容量</a:t>
            </a:r>
            <a:endParaRPr sz="1680" b="1">
              <a:solidFill>
                <a:srgbClr val="525252"/>
              </a:solidFill>
              <a:latin typeface="微软雅黑"/>
              <a:ea typeface="微软雅黑"/>
              <a:cs typeface="微软雅黑"/>
            </a:endParaRPr>
          </a:p>
        </p:txBody>
      </p:sp>
      <p:sp>
        <p:nvSpPr>
          <p:cNvPr id="27" name="矩形 26"/>
          <p:cNvSpPr>
            <a:spLocks noGrp="1"/>
          </p:cNvSpPr>
          <p:nvPr/>
        </p:nvSpPr>
        <p:spPr>
          <a:xfrm>
            <a:off x="6477000" y="3619500"/>
            <a:ext cx="2286000" cy="342900"/>
          </a:xfrm>
          <a:prstGeom prst="rect">
            <a:avLst/>
          </a:prstGeom>
          <a:noFill/>
          <a:ln w="0">
            <a:noFill/>
            <a:prstDash val="solid"/>
          </a:ln>
        </p:spPr>
        <p:txBody>
          <a:bodyPr wrap="square" lIns="0" tIns="0" rIns="0" bIns="0" anchor="t">
            <a:normAutofit/>
          </a:bodyPr>
          <a:lstStyle/>
          <a:p>
            <a:pPr>
              <a:lnSpc>
                <a:spcPct val="108000"/>
              </a:lnSpc>
              <a:buNone/>
              <a:defRPr sz="1950" b="1">
                <a:solidFill>
                  <a:srgbClr val="262626"/>
                </a:solidFill>
                <a:latin typeface="微软雅黑"/>
                <a:ea typeface="微软雅黑"/>
                <a:cs typeface="微软雅黑"/>
              </a:defRPr>
            </a:pPr>
            <a:r>
              <a:rPr sz="1560" b="1">
                <a:solidFill>
                  <a:srgbClr val="262626"/>
                </a:solidFill>
                <a:latin typeface="微软雅黑"/>
                <a:ea typeface="微软雅黑"/>
                <a:cs typeface="微软雅黑"/>
              </a:rPr>
              <a:t>解决思路</a:t>
            </a:r>
            <a:endParaRPr sz="1560" b="1">
              <a:solidFill>
                <a:srgbClr val="262626"/>
              </a:solidFill>
              <a:latin typeface="微软雅黑"/>
              <a:ea typeface="微软雅黑"/>
              <a:cs typeface="微软雅黑"/>
            </a:endParaRPr>
          </a:p>
        </p:txBody>
      </p:sp>
      <p:sp>
        <p:nvSpPr>
          <p:cNvPr id="28" name="矩形: 圆角 27"/>
          <p:cNvSpPr>
            <a:spLocks noGrp="1"/>
          </p:cNvSpPr>
          <p:nvPr/>
        </p:nvSpPr>
        <p:spPr>
          <a:xfrm>
            <a:off x="6400800" y="4114800"/>
            <a:ext cx="4572000" cy="1104900"/>
          </a:xfrm>
          <a:prstGeom prst="roundRect">
            <a:avLst>
              <a:gd name="adj" fmla="val 4138"/>
            </a:avLst>
          </a:prstGeom>
          <a:solidFill>
            <a:srgbClr val="EEF4FF"/>
          </a:solidFill>
          <a:ln w="9525">
            <a:solidFill>
              <a:srgbClr val="377DFF"/>
            </a:solidFill>
            <a:prstDash val="solid"/>
          </a:ln>
        </p:spPr>
      </p:sp>
      <p:sp>
        <p:nvSpPr>
          <p:cNvPr id="29" name="矩形 28"/>
          <p:cNvSpPr>
            <a:spLocks noGrp="1"/>
          </p:cNvSpPr>
          <p:nvPr/>
        </p:nvSpPr>
        <p:spPr>
          <a:xfrm>
            <a:off x="6705600" y="4305300"/>
            <a:ext cx="1371600" cy="419100"/>
          </a:xfrm>
          <a:prstGeom prst="rect">
            <a:avLst/>
          </a:prstGeom>
          <a:noFill/>
          <a:ln w="0">
            <a:noFill/>
            <a:prstDash val="solid"/>
          </a:ln>
        </p:spPr>
        <p:txBody>
          <a:bodyPr wrap="square" lIns="0" tIns="0" rIns="0" bIns="0" anchor="t">
            <a:normAutofit/>
          </a:bodyPr>
          <a:lstStyle/>
          <a:p>
            <a:pPr>
              <a:lnSpc>
                <a:spcPct val="108000"/>
              </a:lnSpc>
              <a:buNone/>
              <a:defRPr sz="3150" b="1">
                <a:solidFill>
                  <a:srgbClr val="377DFF"/>
                </a:solidFill>
                <a:latin typeface="Arial" panose="020B0604020202090204"/>
                <a:ea typeface="Arial" panose="020B0604020202090204"/>
                <a:cs typeface="Arial" panose="020B0604020202090204"/>
              </a:defRPr>
            </a:pPr>
            <a:r>
              <a:rPr sz="2520" b="1">
                <a:solidFill>
                  <a:srgbClr val="377DFF"/>
                </a:solidFill>
                <a:latin typeface="Arial" panose="020B0604020202090204"/>
                <a:ea typeface="Arial" panose="020B0604020202090204"/>
                <a:cs typeface="Arial" panose="020B0604020202090204"/>
              </a:rPr>
              <a:t>FSDP</a:t>
            </a:r>
            <a:endParaRPr sz="2520" b="1">
              <a:solidFill>
                <a:srgbClr val="377DFF"/>
              </a:solidFill>
              <a:latin typeface="Arial" panose="020B0604020202090204"/>
              <a:ea typeface="Arial" panose="020B0604020202090204"/>
              <a:cs typeface="Arial" panose="020B0604020202090204"/>
            </a:endParaRPr>
          </a:p>
        </p:txBody>
      </p:sp>
      <p:sp>
        <p:nvSpPr>
          <p:cNvPr id="30" name="矩形 29"/>
          <p:cNvSpPr>
            <a:spLocks noGrp="1"/>
          </p:cNvSpPr>
          <p:nvPr/>
        </p:nvSpPr>
        <p:spPr>
          <a:xfrm>
            <a:off x="8153400" y="4229100"/>
            <a:ext cx="2438400" cy="609600"/>
          </a:xfrm>
          <a:prstGeom prst="rect">
            <a:avLst/>
          </a:prstGeom>
          <a:noFill/>
          <a:ln w="0">
            <a:noFill/>
            <a:prstDash val="solid"/>
          </a:ln>
        </p:spPr>
        <p:txBody>
          <a:bodyPr wrap="square" lIns="0" tIns="0" rIns="0" bIns="0" anchor="t">
            <a:normAutofit/>
          </a:bodyPr>
          <a:lstStyle/>
          <a:p>
            <a:pPr>
              <a:lnSpc>
                <a:spcPct val="122000"/>
              </a:lnSpc>
              <a:buNone/>
              <a:defRPr sz="1800" b="1">
                <a:solidFill>
                  <a:srgbClr val="525252"/>
                </a:solidFill>
                <a:latin typeface="微软雅黑"/>
                <a:ea typeface="微软雅黑"/>
                <a:cs typeface="微软雅黑"/>
              </a:defRPr>
            </a:pPr>
            <a:r>
              <a:rPr sz="1440" b="1">
                <a:solidFill>
                  <a:srgbClr val="525252"/>
                </a:solidFill>
                <a:latin typeface="微软雅黑"/>
                <a:ea typeface="微软雅黑"/>
                <a:cs typeface="微软雅黑"/>
              </a:rPr>
              <a:t>把模型状态切成 N 份</a:t>
            </a:r>
            <a:endParaRPr sz="1440" b="1">
              <a:solidFill>
                <a:srgbClr val="525252"/>
              </a:solidFill>
              <a:latin typeface="微软雅黑"/>
              <a:ea typeface="微软雅黑"/>
              <a:cs typeface="微软雅黑"/>
            </a:endParaRPr>
          </a:p>
          <a:p>
            <a:pPr>
              <a:lnSpc>
                <a:spcPct val="122000"/>
              </a:lnSpc>
              <a:buNone/>
              <a:defRPr sz="1800" b="1">
                <a:solidFill>
                  <a:srgbClr val="525252"/>
                </a:solidFill>
                <a:latin typeface="微软雅黑"/>
                <a:ea typeface="微软雅黑"/>
                <a:cs typeface="微软雅黑"/>
              </a:defRPr>
            </a:pPr>
            <a:r>
              <a:rPr sz="1440" b="1">
                <a:solidFill>
                  <a:srgbClr val="525252"/>
                </a:solidFill>
                <a:latin typeface="微软雅黑"/>
                <a:ea typeface="微软雅黑"/>
                <a:cs typeface="微软雅黑"/>
              </a:rPr>
              <a:t>每张卡只保留自己负责的 1/N</a:t>
            </a:r>
            <a:endParaRPr sz="1440" b="1">
              <a:solidFill>
                <a:srgbClr val="525252"/>
              </a:solidFill>
              <a:latin typeface="微软雅黑"/>
              <a:ea typeface="微软雅黑"/>
              <a:cs typeface="微软雅黑"/>
            </a:endParaRPr>
          </a:p>
        </p:txBody>
      </p:sp>
      <p:sp>
        <p:nvSpPr>
          <p:cNvPr id="31" name="矩形 30"/>
          <p:cNvSpPr>
            <a:spLocks noGrp="1"/>
          </p:cNvSpPr>
          <p:nvPr/>
        </p:nvSpPr>
        <p:spPr>
          <a:xfrm>
            <a:off x="2286000" y="5410200"/>
            <a:ext cx="7620000" cy="365760"/>
          </a:xfrm>
          <a:prstGeom prst="rect">
            <a:avLst/>
          </a:prstGeom>
          <a:noFill/>
          <a:ln w="0">
            <a:noFill/>
            <a:prstDash val="solid"/>
          </a:ln>
        </p:spPr>
        <p:txBody>
          <a:bodyPr wrap="square" lIns="0" tIns="0" rIns="0" bIns="0" anchor="t">
            <a:normAutofit/>
          </a:bodyPr>
          <a:lstStyle/>
          <a:p>
            <a:pPr algn="ctr">
              <a:lnSpc>
                <a:spcPct val="108000"/>
              </a:lnSpc>
              <a:buNone/>
              <a:defRPr sz="2025" b="1">
                <a:solidFill>
                  <a:srgbClr val="E60012"/>
                </a:solidFill>
                <a:latin typeface="微软雅黑"/>
                <a:ea typeface="微软雅黑"/>
                <a:cs typeface="微软雅黑"/>
              </a:defRPr>
            </a:pPr>
            <a:r>
              <a:rPr sz="1620" b="1">
                <a:solidFill>
                  <a:srgbClr val="E60012"/>
                </a:solidFill>
                <a:latin typeface="微软雅黑"/>
                <a:ea typeface="微软雅黑"/>
                <a:cs typeface="微软雅黑"/>
              </a:rPr>
              <a:t>问题不是模型“算不动”，而是完整训练状态“放不下”。</a:t>
            </a:r>
            <a:endParaRPr sz="1620" b="1">
              <a:solidFill>
                <a:srgbClr val="E60012"/>
              </a:solidFill>
              <a:latin typeface="微软雅黑"/>
              <a:ea typeface="微软雅黑"/>
              <a:cs typeface="微软雅黑"/>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1"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372600" cy="502920"/>
          </a:xfrm>
          <a:prstGeom prst="rect">
            <a:avLst/>
          </a:prstGeom>
          <a:noFill/>
          <a:ln w="0">
            <a:noFill/>
            <a:prstDash val="solid"/>
          </a:ln>
        </p:spPr>
        <p:txBody>
          <a:bodyPr wrap="square" lIns="0" tIns="0" rIns="0" bIns="0" anchor="ctr">
            <a:normAutofit/>
          </a:bodyPr>
          <a:lstStyle/>
          <a:p>
            <a:pPr marL="0" marR="0" indent="0" algn="l" defTabSz="914400">
              <a:lnSpc>
                <a:spcPct val="108000"/>
              </a:lnSpc>
              <a:spcBef>
                <a:spcPts val="0"/>
              </a:spcBef>
              <a:spcAft>
                <a:spcPts val="0"/>
              </a:spcAft>
              <a:buClrTx/>
              <a:buSzTx/>
              <a:buFontTx/>
              <a:buNone/>
              <a:defRPr sz="3375" b="0">
                <a:solidFill>
                  <a:srgbClr val="111111"/>
                </a:solidFill>
                <a:latin typeface="微软雅黑"/>
                <a:ea typeface="微软雅黑"/>
                <a:cs typeface="微软雅黑"/>
              </a:defRPr>
            </a:pPr>
            <a:r>
              <a:rPr sz="2700" b="1" i="0" u="none" cap="none">
                <a:ln>
                  <a:noFill/>
                </a:ln>
                <a:solidFill>
                  <a:srgbClr val="111111"/>
                </a:solidFill>
                <a:latin typeface="微软雅黑"/>
                <a:ea typeface="微软雅黑"/>
                <a:cs typeface="微软雅黑"/>
              </a:rPr>
              <a:t>使用 FSDP 后的效果</a:t>
            </a:r>
            <a:endParaRPr sz="2700" b="1" i="0" u="none" cap="none">
              <a:ln>
                <a:noFill/>
              </a:ln>
              <a:solidFill>
                <a:srgbClr val="111111"/>
              </a:solidFill>
              <a:latin typeface="微软雅黑"/>
              <a:ea typeface="微软雅黑"/>
              <a:cs typeface="微软雅黑"/>
            </a:endParaRPr>
          </a:p>
        </p:txBody>
      </p:sp>
      <p:sp>
        <p:nvSpPr>
          <p:cNvPr id="5" name="矩形: 圆角 4"/>
          <p:cNvSpPr>
            <a:spLocks noGrp="1"/>
          </p:cNvSpPr>
          <p:nvPr/>
        </p:nvSpPr>
        <p:spPr>
          <a:xfrm>
            <a:off x="685800" y="1295400"/>
            <a:ext cx="3810000" cy="3200400"/>
          </a:xfrm>
          <a:prstGeom prst="roundRect">
            <a:avLst>
              <a:gd name="adj" fmla="val 1429"/>
            </a:avLst>
          </a:prstGeom>
          <a:solidFill>
            <a:srgbClr val="FFF1F2"/>
          </a:solidFill>
          <a:ln w="9525">
            <a:solidFill>
              <a:srgbClr val="E60012"/>
            </a:solidFill>
            <a:prstDash val="solid"/>
          </a:ln>
        </p:spPr>
      </p:sp>
      <p:sp>
        <p:nvSpPr>
          <p:cNvPr id="6" name="矩形 5"/>
          <p:cNvSpPr>
            <a:spLocks noGrp="1"/>
          </p:cNvSpPr>
          <p:nvPr/>
        </p:nvSpPr>
        <p:spPr>
          <a:xfrm>
            <a:off x="1028700" y="1714500"/>
            <a:ext cx="3124200" cy="502920"/>
          </a:xfrm>
          <a:prstGeom prst="rect">
            <a:avLst/>
          </a:prstGeom>
          <a:noFill/>
          <a:ln w="0">
            <a:noFill/>
            <a:prstDash val="solid"/>
          </a:ln>
        </p:spPr>
        <p:txBody>
          <a:bodyPr wrap="square" lIns="0" tIns="0" rIns="0" bIns="0" anchor="t">
            <a:normAutofit/>
          </a:bodyPr>
          <a:lstStyle/>
          <a:p>
            <a:pPr marL="0" marR="0" indent="0" algn="ctr" defTabSz="914400">
              <a:lnSpc>
                <a:spcPct val="108000"/>
              </a:lnSpc>
              <a:spcBef>
                <a:spcPts val="0"/>
              </a:spcBef>
              <a:spcAft>
                <a:spcPts val="0"/>
              </a:spcAft>
              <a:buClrTx/>
              <a:buSzTx/>
              <a:buFontTx/>
              <a:buNone/>
              <a:defRPr sz="3600" b="1">
                <a:solidFill>
                  <a:srgbClr val="E60012"/>
                </a:solidFill>
                <a:latin typeface="Arial" panose="020B0604020202090204"/>
                <a:ea typeface="Arial" panose="020B0604020202090204"/>
                <a:cs typeface="Arial" panose="020B0604020202090204"/>
              </a:defRPr>
            </a:pPr>
            <a:r>
              <a:rPr sz="2880" b="1" i="0" u="none" cap="none">
                <a:ln>
                  <a:noFill/>
                </a:ln>
                <a:solidFill>
                  <a:srgbClr val="E60012"/>
                </a:solidFill>
                <a:latin typeface="Arial" panose="020B0604020202090204"/>
                <a:ea typeface="Arial" panose="020B0604020202090204"/>
                <a:cs typeface="Arial" panose="020B0604020202090204"/>
              </a:rPr>
              <a:t>TorchTitan</a:t>
            </a:r>
            <a:endParaRPr sz="2880" b="1" i="0" u="none" cap="none">
              <a:ln>
                <a:noFill/>
              </a:ln>
              <a:solidFill>
                <a:srgbClr val="E60012"/>
              </a:solidFill>
              <a:latin typeface="Arial" panose="020B0604020202090204"/>
              <a:ea typeface="Arial" panose="020B0604020202090204"/>
              <a:cs typeface="Arial" panose="020B0604020202090204"/>
            </a:endParaRPr>
          </a:p>
        </p:txBody>
      </p:sp>
      <p:sp>
        <p:nvSpPr>
          <p:cNvPr id="7" name="矩形 6"/>
          <p:cNvSpPr>
            <a:spLocks noGrp="1"/>
          </p:cNvSpPr>
          <p:nvPr/>
        </p:nvSpPr>
        <p:spPr>
          <a:xfrm>
            <a:off x="1066800" y="2514600"/>
            <a:ext cx="3048000" cy="762000"/>
          </a:xfrm>
          <a:prstGeom prst="rect">
            <a:avLst/>
          </a:prstGeom>
          <a:noFill/>
          <a:ln w="0">
            <a:noFill/>
            <a:prstDash val="solid"/>
          </a:ln>
        </p:spPr>
        <p:txBody>
          <a:bodyPr wrap="square" lIns="0" tIns="0" rIns="0" bIns="0" anchor="t">
            <a:normAutofit/>
          </a:bodyPr>
          <a:lstStyle/>
          <a:p>
            <a:pPr marL="0" marR="0" indent="0" algn="ctr" defTabSz="914400">
              <a:lnSpc>
                <a:spcPct val="125000"/>
              </a:lnSpc>
              <a:spcBef>
                <a:spcPts val="0"/>
              </a:spcBef>
              <a:spcAft>
                <a:spcPts val="0"/>
              </a:spcAft>
              <a:buClrTx/>
              <a:buSzTx/>
              <a:buFontTx/>
              <a:buNone/>
              <a:defRPr sz="2325" b="1">
                <a:solidFill>
                  <a:srgbClr val="262626"/>
                </a:solidFill>
                <a:latin typeface="微软雅黑"/>
                <a:ea typeface="微软雅黑"/>
                <a:cs typeface="微软雅黑"/>
              </a:defRPr>
            </a:pPr>
            <a:r>
              <a:rPr sz="1860" b="1" i="0" u="none" cap="none">
                <a:ln>
                  <a:noFill/>
                </a:ln>
                <a:solidFill>
                  <a:srgbClr val="262626"/>
                </a:solidFill>
                <a:latin typeface="微软雅黑"/>
                <a:ea typeface="微软雅黑"/>
                <a:cs typeface="微软雅黑"/>
              </a:rPr>
              <a:t>配置两张卡</a:t>
            </a:r>
            <a:endParaRPr sz="1860" b="1" i="0" u="none" cap="none">
              <a:ln>
                <a:noFill/>
              </a:ln>
              <a:solidFill>
                <a:srgbClr val="262626"/>
              </a:solidFill>
              <a:latin typeface="微软雅黑"/>
              <a:ea typeface="微软雅黑"/>
              <a:cs typeface="微软雅黑"/>
            </a:endParaRPr>
          </a:p>
          <a:p>
            <a:pPr marL="0" marR="0" indent="0" algn="ctr" defTabSz="914400">
              <a:lnSpc>
                <a:spcPct val="125000"/>
              </a:lnSpc>
              <a:spcBef>
                <a:spcPts val="0"/>
              </a:spcBef>
              <a:spcAft>
                <a:spcPts val="0"/>
              </a:spcAft>
              <a:buClrTx/>
              <a:buSzTx/>
              <a:buFontTx/>
              <a:buNone/>
              <a:defRPr sz="2325" b="1">
                <a:solidFill>
                  <a:srgbClr val="262626"/>
                </a:solidFill>
                <a:latin typeface="微软雅黑"/>
                <a:ea typeface="微软雅黑"/>
                <a:cs typeface="微软雅黑"/>
              </a:defRPr>
            </a:pPr>
            <a:r>
              <a:rPr sz="1860" b="1" i="0" u="none" cap="none">
                <a:ln>
                  <a:noFill/>
                </a:ln>
                <a:solidFill>
                  <a:srgbClr val="262626"/>
                </a:solidFill>
                <a:latin typeface="微软雅黑"/>
                <a:ea typeface="微软雅黑"/>
                <a:cs typeface="微软雅黑"/>
              </a:rPr>
              <a:t>自动开启 FSDP 分片</a:t>
            </a:r>
            <a:endParaRPr sz="1860" b="1" i="0" u="none" cap="none">
              <a:ln>
                <a:noFill/>
              </a:ln>
              <a:solidFill>
                <a:srgbClr val="262626"/>
              </a:solidFill>
              <a:latin typeface="微软雅黑"/>
              <a:ea typeface="微软雅黑"/>
              <a:cs typeface="微软雅黑"/>
            </a:endParaRPr>
          </a:p>
        </p:txBody>
      </p:sp>
      <p:sp>
        <p:nvSpPr>
          <p:cNvPr id="8" name="矩形: 圆角 7"/>
          <p:cNvSpPr>
            <a:spLocks noGrp="1"/>
          </p:cNvSpPr>
          <p:nvPr/>
        </p:nvSpPr>
        <p:spPr>
          <a:xfrm>
            <a:off x="1371600" y="3695700"/>
            <a:ext cx="2438400" cy="304800"/>
          </a:xfrm>
          <a:prstGeom prst="roundRect">
            <a:avLst>
              <a:gd name="adj" fmla="val 15000"/>
            </a:avLst>
          </a:prstGeom>
          <a:solidFill>
            <a:srgbClr val="FFFFFF"/>
          </a:solidFill>
          <a:ln w="0">
            <a:noFill/>
            <a:prstDash val="solid"/>
          </a:ln>
        </p:spPr>
      </p:sp>
      <p:sp>
        <p:nvSpPr>
          <p:cNvPr id="9" name="矩形 8"/>
          <p:cNvSpPr>
            <a:spLocks noGrp="1"/>
          </p:cNvSpPr>
          <p:nvPr/>
        </p:nvSpPr>
        <p:spPr>
          <a:xfrm>
            <a:off x="1432560" y="3695700"/>
            <a:ext cx="2316480" cy="304800"/>
          </a:xfrm>
          <a:prstGeom prst="rect">
            <a:avLst/>
          </a:prstGeom>
          <a:noFill/>
          <a:ln w="0">
            <a:noFill/>
            <a:prstDash val="solid"/>
          </a:ln>
        </p:spPr>
        <p:txBody>
          <a:bodyPr wrap="square" lIns="0" tIns="0" rIns="0" bIns="0" anchor="ctr">
            <a:normAutofit/>
          </a:bodyPr>
          <a:lstStyle/>
          <a:p>
            <a:pPr marL="0" marR="0" indent="0" algn="ctr" defTabSz="914400">
              <a:lnSpc>
                <a:spcPct val="108000"/>
              </a:lnSpc>
              <a:spcBef>
                <a:spcPts val="0"/>
              </a:spcBef>
              <a:spcAft>
                <a:spcPts val="0"/>
              </a:spcAft>
              <a:buClrTx/>
              <a:buSzTx/>
              <a:buFontTx/>
              <a:buNone/>
              <a:defRPr sz="1350" b="1">
                <a:solidFill>
                  <a:srgbClr val="E60012"/>
                </a:solidFill>
                <a:latin typeface="微软雅黑"/>
                <a:ea typeface="微软雅黑"/>
                <a:cs typeface="微软雅黑"/>
              </a:defRPr>
            </a:pPr>
            <a:r>
              <a:rPr sz="1080" b="1" i="0" u="none" cap="none">
                <a:ln>
                  <a:noFill/>
                </a:ln>
                <a:solidFill>
                  <a:srgbClr val="E60012"/>
                </a:solidFill>
                <a:latin typeface="微软雅黑"/>
                <a:ea typeface="微软雅黑"/>
                <a:cs typeface="微软雅黑"/>
              </a:rPr>
              <a:t>NGPU=2 · FSDP=auto</a:t>
            </a:r>
            <a:endParaRPr sz="1080" b="1" i="0" u="none" cap="none">
              <a:ln>
                <a:noFill/>
              </a:ln>
              <a:solidFill>
                <a:srgbClr val="E60012"/>
              </a:solidFill>
              <a:latin typeface="微软雅黑"/>
              <a:ea typeface="微软雅黑"/>
              <a:cs typeface="微软雅黑"/>
            </a:endParaRPr>
          </a:p>
        </p:txBody>
      </p:sp>
      <p:sp>
        <p:nvSpPr>
          <p:cNvPr id="10" name="矩形 9"/>
          <p:cNvSpPr>
            <a:spLocks noGrp="1"/>
          </p:cNvSpPr>
          <p:nvPr/>
        </p:nvSpPr>
        <p:spPr>
          <a:xfrm>
            <a:off x="5257800" y="1257300"/>
            <a:ext cx="3810000" cy="365760"/>
          </a:xfrm>
          <a:prstGeom prst="rect">
            <a:avLst/>
          </a:prstGeom>
          <a:noFill/>
          <a:ln w="0">
            <a:noFill/>
            <a:prstDash val="solid"/>
          </a:ln>
        </p:spPr>
        <p:txBody>
          <a:bodyPr wrap="square" lIns="0" tIns="0" rIns="0" bIns="0" anchor="t">
            <a:normAutofit fontScale="98765"/>
          </a:bodyPr>
          <a:lstStyle/>
          <a:p>
            <a:pPr marL="0" marR="0" indent="0" algn="l" defTabSz="914400">
              <a:lnSpc>
                <a:spcPct val="108000"/>
              </a:lnSpc>
              <a:spcBef>
                <a:spcPts val="0"/>
              </a:spcBef>
              <a:spcAft>
                <a:spcPts val="0"/>
              </a:spcAft>
              <a:buClrTx/>
              <a:buSzTx/>
              <a:buFontTx/>
              <a:buNone/>
              <a:defRPr sz="2250" b="1">
                <a:solidFill>
                  <a:srgbClr val="262626"/>
                </a:solidFill>
                <a:latin typeface="微软雅黑"/>
                <a:ea typeface="微软雅黑"/>
                <a:cs typeface="微软雅黑"/>
              </a:defRPr>
            </a:pPr>
            <a:r>
              <a:rPr sz="2250" b="1" i="0" u="none" cap="none">
                <a:ln>
                  <a:noFill/>
                </a:ln>
                <a:solidFill>
                  <a:srgbClr val="262626"/>
                </a:solidFill>
                <a:latin typeface="微软雅黑"/>
                <a:ea typeface="微软雅黑"/>
                <a:cs typeface="微软雅黑"/>
              </a:rPr>
              <a:t>每卡显存对比</a:t>
            </a:r>
            <a:endParaRPr sz="2250" b="1" i="0" u="none" cap="none">
              <a:ln>
                <a:noFill/>
              </a:ln>
              <a:solidFill>
                <a:srgbClr val="262626"/>
              </a:solidFill>
              <a:latin typeface="微软雅黑"/>
              <a:ea typeface="微软雅黑"/>
              <a:cs typeface="微软雅黑"/>
            </a:endParaRPr>
          </a:p>
        </p:txBody>
      </p:sp>
      <p:sp>
        <p:nvSpPr>
          <p:cNvPr id="11" name="矩形 10"/>
          <p:cNvSpPr>
            <a:spLocks noGrp="1"/>
          </p:cNvSpPr>
          <p:nvPr/>
        </p:nvSpPr>
        <p:spPr>
          <a:xfrm>
            <a:off x="5257800" y="1790700"/>
            <a:ext cx="495300" cy="304800"/>
          </a:xfrm>
          <a:prstGeom prst="rect">
            <a:avLst/>
          </a:prstGeom>
          <a:noFill/>
          <a:ln w="0">
            <a:noFill/>
            <a:prstDash val="solid"/>
          </a:ln>
        </p:spPr>
        <p:txBody>
          <a:bodyPr wrap="square" lIns="0" tIns="0" rIns="0" bIns="0" anchor="t">
            <a:normAutofit/>
          </a:bodyPr>
          <a:lstStyle/>
          <a:p>
            <a:pPr marL="0" marR="0" indent="0" algn="l" defTabSz="914400">
              <a:lnSpc>
                <a:spcPct val="108000"/>
              </a:lnSpc>
              <a:spcBef>
                <a:spcPts val="0"/>
              </a:spcBef>
              <a:spcAft>
                <a:spcPts val="0"/>
              </a:spcAft>
              <a:buClrTx/>
              <a:buSzTx/>
              <a:buFontTx/>
              <a:buNone/>
              <a:defRPr sz="1875" b="1">
                <a:solidFill>
                  <a:srgbClr val="E60012"/>
                </a:solidFill>
                <a:latin typeface="微软雅黑"/>
                <a:ea typeface="微软雅黑"/>
                <a:cs typeface="微软雅黑"/>
              </a:defRPr>
            </a:pPr>
            <a:r>
              <a:rPr sz="1500" b="1" i="0" u="none" cap="none">
                <a:ln>
                  <a:noFill/>
                </a:ln>
                <a:solidFill>
                  <a:srgbClr val="E60012"/>
                </a:solidFill>
                <a:latin typeface="微软雅黑"/>
                <a:ea typeface="微软雅黑"/>
                <a:cs typeface="微软雅黑"/>
              </a:rPr>
              <a:t>01</a:t>
            </a:r>
            <a:endParaRPr sz="1500" b="1" i="0" u="none" cap="none">
              <a:ln>
                <a:noFill/>
              </a:ln>
              <a:solidFill>
                <a:srgbClr val="E60012"/>
              </a:solidFill>
              <a:latin typeface="微软雅黑"/>
              <a:ea typeface="微软雅黑"/>
              <a:cs typeface="微软雅黑"/>
            </a:endParaRPr>
          </a:p>
        </p:txBody>
      </p:sp>
      <p:sp>
        <p:nvSpPr>
          <p:cNvPr id="12" name="矩形 11"/>
          <p:cNvSpPr>
            <a:spLocks noGrp="1"/>
          </p:cNvSpPr>
          <p:nvPr/>
        </p:nvSpPr>
        <p:spPr>
          <a:xfrm>
            <a:off x="5829300" y="1790700"/>
            <a:ext cx="2133600" cy="289560"/>
          </a:xfrm>
          <a:prstGeom prst="rect">
            <a:avLst/>
          </a:prstGeom>
          <a:noFill/>
          <a:ln w="0">
            <a:noFill/>
            <a:prstDash val="solid"/>
          </a:ln>
        </p:spPr>
        <p:txBody>
          <a:bodyPr wrap="square" lIns="0" tIns="0" rIns="0" bIns="0" anchor="t">
            <a:normAutofit/>
          </a:bodyPr>
          <a:lstStyle/>
          <a:p>
            <a:pPr marL="0" marR="0" indent="0" algn="l" defTabSz="914400">
              <a:lnSpc>
                <a:spcPct val="108000"/>
              </a:lnSpc>
              <a:spcBef>
                <a:spcPts val="0"/>
              </a:spcBef>
              <a:spcAft>
                <a:spcPts val="0"/>
              </a:spcAft>
              <a:buClrTx/>
              <a:buSzTx/>
              <a:buFontTx/>
              <a:buNone/>
              <a:defRPr sz="1875" b="1">
                <a:solidFill>
                  <a:srgbClr val="262626"/>
                </a:solidFill>
                <a:latin typeface="微软雅黑"/>
                <a:ea typeface="微软雅黑"/>
                <a:cs typeface="微软雅黑"/>
              </a:defRPr>
            </a:pPr>
            <a:r>
              <a:rPr sz="1500" b="1" i="0" u="none" cap="none">
                <a:ln>
                  <a:noFill/>
                </a:ln>
                <a:solidFill>
                  <a:srgbClr val="262626"/>
                </a:solidFill>
                <a:latin typeface="微软雅黑"/>
                <a:ea typeface="微软雅黑"/>
                <a:cs typeface="微软雅黑"/>
              </a:rPr>
              <a:t>模型权重</a:t>
            </a:r>
            <a:endParaRPr sz="1500" b="1" i="0" u="none" cap="none">
              <a:ln>
                <a:noFill/>
              </a:ln>
              <a:solidFill>
                <a:srgbClr val="262626"/>
              </a:solidFill>
              <a:latin typeface="微软雅黑"/>
              <a:ea typeface="微软雅黑"/>
              <a:cs typeface="微软雅黑"/>
            </a:endParaRPr>
          </a:p>
        </p:txBody>
      </p:sp>
      <p:sp>
        <p:nvSpPr>
          <p:cNvPr id="13" name="矩形 12"/>
          <p:cNvSpPr>
            <a:spLocks noGrp="1"/>
          </p:cNvSpPr>
          <p:nvPr/>
        </p:nvSpPr>
        <p:spPr>
          <a:xfrm>
            <a:off x="5829300" y="2156460"/>
            <a:ext cx="2209800" cy="419100"/>
          </a:xfrm>
          <a:prstGeom prst="rect">
            <a:avLst/>
          </a:prstGeom>
          <a:noFill/>
          <a:ln w="0">
            <a:noFill/>
            <a:prstDash val="solid"/>
          </a:ln>
        </p:spPr>
        <p:txBody>
          <a:bodyPr wrap="square" lIns="0" tIns="0" rIns="0" bIns="0" anchor="t">
            <a:normAutofit/>
          </a:bodyPr>
          <a:lstStyle/>
          <a:p>
            <a:pPr marL="0" marR="0" indent="0" algn="l" defTabSz="914400">
              <a:lnSpc>
                <a:spcPct val="118000"/>
              </a:lnSpc>
              <a:spcBef>
                <a:spcPts val="0"/>
              </a:spcBef>
              <a:spcAft>
                <a:spcPts val="0"/>
              </a:spcAft>
              <a:buClrTx/>
              <a:buSzTx/>
              <a:buFontTx/>
              <a:buNone/>
              <a:defRPr sz="1425" b="0">
                <a:solidFill>
                  <a:srgbClr val="666666"/>
                </a:solidFill>
                <a:latin typeface="微软雅黑"/>
                <a:ea typeface="微软雅黑"/>
                <a:cs typeface="微软雅黑"/>
              </a:defRPr>
            </a:pPr>
            <a:r>
              <a:rPr sz="1140" b="0" i="0" u="none" cap="none">
                <a:ln>
                  <a:noFill/>
                </a:ln>
                <a:solidFill>
                  <a:srgbClr val="666666"/>
                </a:solidFill>
                <a:latin typeface="微软雅黑"/>
                <a:ea typeface="微软雅黑"/>
                <a:cs typeface="微软雅黑"/>
              </a:rPr>
              <a:t>3.4 → 1.7 GiB</a:t>
            </a:r>
            <a:endParaRPr sz="1140" b="0" i="0" u="none" cap="none">
              <a:ln>
                <a:noFill/>
              </a:ln>
              <a:solidFill>
                <a:srgbClr val="666666"/>
              </a:solidFill>
              <a:latin typeface="微软雅黑"/>
              <a:ea typeface="微软雅黑"/>
              <a:cs typeface="微软雅黑"/>
            </a:endParaRPr>
          </a:p>
        </p:txBody>
      </p:sp>
      <p:sp>
        <p:nvSpPr>
          <p:cNvPr id="14" name="矩形 13"/>
          <p:cNvSpPr>
            <a:spLocks noGrp="1"/>
          </p:cNvSpPr>
          <p:nvPr/>
        </p:nvSpPr>
        <p:spPr>
          <a:xfrm>
            <a:off x="8229600" y="1790700"/>
            <a:ext cx="495300" cy="304800"/>
          </a:xfrm>
          <a:prstGeom prst="rect">
            <a:avLst/>
          </a:prstGeom>
          <a:noFill/>
          <a:ln w="0">
            <a:noFill/>
            <a:prstDash val="solid"/>
          </a:ln>
        </p:spPr>
        <p:txBody>
          <a:bodyPr wrap="square" lIns="0" tIns="0" rIns="0" bIns="0" anchor="t">
            <a:normAutofit/>
          </a:bodyPr>
          <a:lstStyle/>
          <a:p>
            <a:pPr marL="0" marR="0" indent="0" algn="l" defTabSz="914400">
              <a:lnSpc>
                <a:spcPct val="108000"/>
              </a:lnSpc>
              <a:spcBef>
                <a:spcPts val="0"/>
              </a:spcBef>
              <a:spcAft>
                <a:spcPts val="0"/>
              </a:spcAft>
              <a:buClrTx/>
              <a:buSzTx/>
              <a:buFontTx/>
              <a:buNone/>
              <a:defRPr sz="1875" b="1">
                <a:solidFill>
                  <a:srgbClr val="377DFF"/>
                </a:solidFill>
                <a:latin typeface="微软雅黑"/>
                <a:ea typeface="微软雅黑"/>
                <a:cs typeface="微软雅黑"/>
              </a:defRPr>
            </a:pPr>
            <a:r>
              <a:rPr sz="1500" b="1" i="0" u="none" cap="none">
                <a:ln>
                  <a:noFill/>
                </a:ln>
                <a:solidFill>
                  <a:srgbClr val="377DFF"/>
                </a:solidFill>
                <a:latin typeface="微软雅黑"/>
                <a:ea typeface="微软雅黑"/>
                <a:cs typeface="微软雅黑"/>
              </a:rPr>
              <a:t>02</a:t>
            </a:r>
            <a:endParaRPr sz="1500" b="1" i="0" u="none" cap="none">
              <a:ln>
                <a:noFill/>
              </a:ln>
              <a:solidFill>
                <a:srgbClr val="377DFF"/>
              </a:solidFill>
              <a:latin typeface="微软雅黑"/>
              <a:ea typeface="微软雅黑"/>
              <a:cs typeface="微软雅黑"/>
            </a:endParaRPr>
          </a:p>
        </p:txBody>
      </p:sp>
      <p:sp>
        <p:nvSpPr>
          <p:cNvPr id="15" name="矩形 14"/>
          <p:cNvSpPr>
            <a:spLocks noGrp="1"/>
          </p:cNvSpPr>
          <p:nvPr/>
        </p:nvSpPr>
        <p:spPr>
          <a:xfrm>
            <a:off x="8801100" y="1790700"/>
            <a:ext cx="2133600" cy="289560"/>
          </a:xfrm>
          <a:prstGeom prst="rect">
            <a:avLst/>
          </a:prstGeom>
          <a:noFill/>
          <a:ln w="0">
            <a:noFill/>
            <a:prstDash val="solid"/>
          </a:ln>
        </p:spPr>
        <p:txBody>
          <a:bodyPr wrap="square" lIns="0" tIns="0" rIns="0" bIns="0" anchor="t">
            <a:normAutofit/>
          </a:bodyPr>
          <a:lstStyle/>
          <a:p>
            <a:pPr marL="0" marR="0" indent="0" algn="l" defTabSz="914400">
              <a:lnSpc>
                <a:spcPct val="108000"/>
              </a:lnSpc>
              <a:spcBef>
                <a:spcPts val="0"/>
              </a:spcBef>
              <a:spcAft>
                <a:spcPts val="0"/>
              </a:spcAft>
              <a:buClrTx/>
              <a:buSzTx/>
              <a:buFontTx/>
              <a:buNone/>
              <a:defRPr sz="1875" b="1">
                <a:solidFill>
                  <a:srgbClr val="262626"/>
                </a:solidFill>
                <a:latin typeface="微软雅黑"/>
                <a:ea typeface="微软雅黑"/>
                <a:cs typeface="微软雅黑"/>
              </a:defRPr>
            </a:pPr>
            <a:r>
              <a:rPr sz="1500" b="1" i="0" u="none" cap="none">
                <a:ln>
                  <a:noFill/>
                </a:ln>
                <a:solidFill>
                  <a:srgbClr val="262626"/>
                </a:solidFill>
                <a:latin typeface="微软雅黑"/>
                <a:ea typeface="微软雅黑"/>
                <a:cs typeface="微软雅黑"/>
              </a:rPr>
              <a:t>梯度</a:t>
            </a:r>
            <a:endParaRPr sz="1500" b="1" i="0" u="none" cap="none">
              <a:ln>
                <a:noFill/>
              </a:ln>
              <a:solidFill>
                <a:srgbClr val="262626"/>
              </a:solidFill>
              <a:latin typeface="微软雅黑"/>
              <a:ea typeface="微软雅黑"/>
              <a:cs typeface="微软雅黑"/>
            </a:endParaRPr>
          </a:p>
        </p:txBody>
      </p:sp>
      <p:sp>
        <p:nvSpPr>
          <p:cNvPr id="16" name="矩形 15"/>
          <p:cNvSpPr>
            <a:spLocks noGrp="1"/>
          </p:cNvSpPr>
          <p:nvPr/>
        </p:nvSpPr>
        <p:spPr>
          <a:xfrm>
            <a:off x="8801100" y="2156460"/>
            <a:ext cx="2209800" cy="419100"/>
          </a:xfrm>
          <a:prstGeom prst="rect">
            <a:avLst/>
          </a:prstGeom>
          <a:noFill/>
          <a:ln w="0">
            <a:noFill/>
            <a:prstDash val="solid"/>
          </a:ln>
        </p:spPr>
        <p:txBody>
          <a:bodyPr wrap="square" lIns="0" tIns="0" rIns="0" bIns="0" anchor="t">
            <a:normAutofit/>
          </a:bodyPr>
          <a:lstStyle/>
          <a:p>
            <a:pPr marL="0" marR="0" indent="0" algn="l" defTabSz="914400">
              <a:lnSpc>
                <a:spcPct val="118000"/>
              </a:lnSpc>
              <a:spcBef>
                <a:spcPts val="0"/>
              </a:spcBef>
              <a:spcAft>
                <a:spcPts val="0"/>
              </a:spcAft>
              <a:buClrTx/>
              <a:buSzTx/>
              <a:buFontTx/>
              <a:buNone/>
              <a:defRPr sz="1425" b="0">
                <a:solidFill>
                  <a:srgbClr val="666666"/>
                </a:solidFill>
                <a:latin typeface="微软雅黑"/>
                <a:ea typeface="微软雅黑"/>
                <a:cs typeface="微软雅黑"/>
              </a:defRPr>
            </a:pPr>
            <a:r>
              <a:rPr sz="1140" b="0" i="0" u="none" cap="none">
                <a:ln>
                  <a:noFill/>
                </a:ln>
                <a:solidFill>
                  <a:srgbClr val="666666"/>
                </a:solidFill>
                <a:latin typeface="微软雅黑"/>
                <a:ea typeface="微软雅黑"/>
                <a:cs typeface="微软雅黑"/>
              </a:rPr>
              <a:t>3.4 → 1.7 GiB</a:t>
            </a:r>
            <a:endParaRPr sz="1140" b="0" i="0" u="none" cap="none">
              <a:ln>
                <a:noFill/>
              </a:ln>
              <a:solidFill>
                <a:srgbClr val="666666"/>
              </a:solidFill>
              <a:latin typeface="微软雅黑"/>
              <a:ea typeface="微软雅黑"/>
              <a:cs typeface="微软雅黑"/>
            </a:endParaRPr>
          </a:p>
        </p:txBody>
      </p:sp>
      <p:sp>
        <p:nvSpPr>
          <p:cNvPr id="17" name="矩形 16"/>
          <p:cNvSpPr>
            <a:spLocks noGrp="1"/>
          </p:cNvSpPr>
          <p:nvPr/>
        </p:nvSpPr>
        <p:spPr>
          <a:xfrm>
            <a:off x="5257800" y="2857500"/>
            <a:ext cx="495300" cy="304800"/>
          </a:xfrm>
          <a:prstGeom prst="rect">
            <a:avLst/>
          </a:prstGeom>
          <a:noFill/>
          <a:ln w="0">
            <a:noFill/>
            <a:prstDash val="solid"/>
          </a:ln>
        </p:spPr>
        <p:txBody>
          <a:bodyPr wrap="square" lIns="0" tIns="0" rIns="0" bIns="0" anchor="t">
            <a:normAutofit/>
          </a:bodyPr>
          <a:lstStyle/>
          <a:p>
            <a:pPr marL="0" marR="0" indent="0" algn="l" defTabSz="914400">
              <a:lnSpc>
                <a:spcPct val="108000"/>
              </a:lnSpc>
              <a:spcBef>
                <a:spcPts val="0"/>
              </a:spcBef>
              <a:spcAft>
                <a:spcPts val="0"/>
              </a:spcAft>
              <a:buClrTx/>
              <a:buSzTx/>
              <a:buFontTx/>
              <a:buNone/>
              <a:defRPr sz="1875" b="1">
                <a:solidFill>
                  <a:srgbClr val="E60012"/>
                </a:solidFill>
                <a:latin typeface="微软雅黑"/>
                <a:ea typeface="微软雅黑"/>
                <a:cs typeface="微软雅黑"/>
              </a:defRPr>
            </a:pPr>
            <a:r>
              <a:rPr sz="1500" b="1" i="0" u="none" cap="none">
                <a:ln>
                  <a:noFill/>
                </a:ln>
                <a:solidFill>
                  <a:srgbClr val="E60012"/>
                </a:solidFill>
                <a:latin typeface="微软雅黑"/>
                <a:ea typeface="微软雅黑"/>
                <a:cs typeface="微软雅黑"/>
              </a:rPr>
              <a:t>03</a:t>
            </a:r>
            <a:endParaRPr sz="1500" b="1" i="0" u="none" cap="none">
              <a:ln>
                <a:noFill/>
              </a:ln>
              <a:solidFill>
                <a:srgbClr val="E60012"/>
              </a:solidFill>
              <a:latin typeface="微软雅黑"/>
              <a:ea typeface="微软雅黑"/>
              <a:cs typeface="微软雅黑"/>
            </a:endParaRPr>
          </a:p>
        </p:txBody>
      </p:sp>
      <p:sp>
        <p:nvSpPr>
          <p:cNvPr id="18" name="矩形 17"/>
          <p:cNvSpPr>
            <a:spLocks noGrp="1"/>
          </p:cNvSpPr>
          <p:nvPr/>
        </p:nvSpPr>
        <p:spPr>
          <a:xfrm>
            <a:off x="5829300" y="2857500"/>
            <a:ext cx="2133600" cy="289560"/>
          </a:xfrm>
          <a:prstGeom prst="rect">
            <a:avLst/>
          </a:prstGeom>
          <a:noFill/>
          <a:ln w="0">
            <a:noFill/>
            <a:prstDash val="solid"/>
          </a:ln>
        </p:spPr>
        <p:txBody>
          <a:bodyPr wrap="square" lIns="0" tIns="0" rIns="0" bIns="0" anchor="t">
            <a:normAutofit/>
          </a:bodyPr>
          <a:lstStyle/>
          <a:p>
            <a:pPr marL="0" marR="0" indent="0" algn="l" defTabSz="914400">
              <a:lnSpc>
                <a:spcPct val="108000"/>
              </a:lnSpc>
              <a:spcBef>
                <a:spcPts val="0"/>
              </a:spcBef>
              <a:spcAft>
                <a:spcPts val="0"/>
              </a:spcAft>
              <a:buClrTx/>
              <a:buSzTx/>
              <a:buFontTx/>
              <a:buNone/>
              <a:defRPr sz="1875" b="1">
                <a:solidFill>
                  <a:srgbClr val="262626"/>
                </a:solidFill>
                <a:latin typeface="微软雅黑"/>
                <a:ea typeface="微软雅黑"/>
                <a:cs typeface="微软雅黑"/>
              </a:defRPr>
            </a:pPr>
            <a:r>
              <a:rPr sz="1500" b="1" i="0" u="none" cap="none">
                <a:ln>
                  <a:noFill/>
                </a:ln>
                <a:solidFill>
                  <a:srgbClr val="262626"/>
                </a:solidFill>
                <a:latin typeface="微软雅黑"/>
                <a:ea typeface="微软雅黑"/>
                <a:cs typeface="微软雅黑"/>
              </a:rPr>
              <a:t>优化器状态</a:t>
            </a:r>
            <a:endParaRPr sz="1500" b="1" i="0" u="none" cap="none">
              <a:ln>
                <a:noFill/>
              </a:ln>
              <a:solidFill>
                <a:srgbClr val="262626"/>
              </a:solidFill>
              <a:latin typeface="微软雅黑"/>
              <a:ea typeface="微软雅黑"/>
              <a:cs typeface="微软雅黑"/>
            </a:endParaRPr>
          </a:p>
        </p:txBody>
      </p:sp>
      <p:sp>
        <p:nvSpPr>
          <p:cNvPr id="19" name="矩形 18"/>
          <p:cNvSpPr>
            <a:spLocks noGrp="1"/>
          </p:cNvSpPr>
          <p:nvPr/>
        </p:nvSpPr>
        <p:spPr>
          <a:xfrm>
            <a:off x="5829300" y="3223260"/>
            <a:ext cx="2209800" cy="419100"/>
          </a:xfrm>
          <a:prstGeom prst="rect">
            <a:avLst/>
          </a:prstGeom>
          <a:noFill/>
          <a:ln w="0">
            <a:noFill/>
            <a:prstDash val="solid"/>
          </a:ln>
        </p:spPr>
        <p:txBody>
          <a:bodyPr wrap="square" lIns="0" tIns="0" rIns="0" bIns="0" anchor="t">
            <a:normAutofit/>
          </a:bodyPr>
          <a:lstStyle/>
          <a:p>
            <a:pPr marL="0" marR="0" indent="0" algn="l" defTabSz="914400">
              <a:lnSpc>
                <a:spcPct val="118000"/>
              </a:lnSpc>
              <a:spcBef>
                <a:spcPts val="0"/>
              </a:spcBef>
              <a:spcAft>
                <a:spcPts val="0"/>
              </a:spcAft>
              <a:buClrTx/>
              <a:buSzTx/>
              <a:buFontTx/>
              <a:buNone/>
              <a:defRPr sz="1425" b="0">
                <a:solidFill>
                  <a:srgbClr val="666666"/>
                </a:solidFill>
                <a:latin typeface="微软雅黑"/>
                <a:ea typeface="微软雅黑"/>
                <a:cs typeface="微软雅黑"/>
              </a:defRPr>
            </a:pPr>
            <a:r>
              <a:rPr sz="1140" b="0" i="0" u="none" cap="none">
                <a:ln>
                  <a:noFill/>
                </a:ln>
                <a:solidFill>
                  <a:srgbClr val="666666"/>
                </a:solidFill>
                <a:latin typeface="微软雅黑"/>
                <a:ea typeface="微软雅黑"/>
                <a:cs typeface="微软雅黑"/>
              </a:rPr>
              <a:t>20 → 10 GiB</a:t>
            </a:r>
            <a:endParaRPr sz="1140" b="0" i="0" u="none" cap="none">
              <a:ln>
                <a:noFill/>
              </a:ln>
              <a:solidFill>
                <a:srgbClr val="666666"/>
              </a:solidFill>
              <a:latin typeface="微软雅黑"/>
              <a:ea typeface="微软雅黑"/>
              <a:cs typeface="微软雅黑"/>
            </a:endParaRPr>
          </a:p>
        </p:txBody>
      </p:sp>
      <p:sp>
        <p:nvSpPr>
          <p:cNvPr id="20" name="矩形 19"/>
          <p:cNvSpPr>
            <a:spLocks noGrp="1"/>
          </p:cNvSpPr>
          <p:nvPr/>
        </p:nvSpPr>
        <p:spPr>
          <a:xfrm>
            <a:off x="8229600" y="2857500"/>
            <a:ext cx="495300" cy="304800"/>
          </a:xfrm>
          <a:prstGeom prst="rect">
            <a:avLst/>
          </a:prstGeom>
          <a:noFill/>
          <a:ln w="0">
            <a:noFill/>
            <a:prstDash val="solid"/>
          </a:ln>
        </p:spPr>
        <p:txBody>
          <a:bodyPr wrap="square" lIns="0" tIns="0" rIns="0" bIns="0" anchor="t">
            <a:normAutofit/>
          </a:bodyPr>
          <a:lstStyle/>
          <a:p>
            <a:pPr marL="0" marR="0" indent="0" algn="l" defTabSz="914400">
              <a:lnSpc>
                <a:spcPct val="108000"/>
              </a:lnSpc>
              <a:spcBef>
                <a:spcPts val="0"/>
              </a:spcBef>
              <a:spcAft>
                <a:spcPts val="0"/>
              </a:spcAft>
              <a:buClrTx/>
              <a:buSzTx/>
              <a:buFontTx/>
              <a:buNone/>
              <a:defRPr sz="1875" b="1">
                <a:solidFill>
                  <a:srgbClr val="377DFF"/>
                </a:solidFill>
                <a:latin typeface="微软雅黑"/>
                <a:ea typeface="微软雅黑"/>
                <a:cs typeface="微软雅黑"/>
              </a:defRPr>
            </a:pPr>
            <a:r>
              <a:rPr sz="1500" b="1" i="0" u="none" cap="none">
                <a:ln>
                  <a:noFill/>
                </a:ln>
                <a:solidFill>
                  <a:srgbClr val="377DFF"/>
                </a:solidFill>
                <a:latin typeface="微软雅黑"/>
                <a:ea typeface="微软雅黑"/>
                <a:cs typeface="微软雅黑"/>
              </a:rPr>
              <a:t>04</a:t>
            </a:r>
            <a:endParaRPr sz="1500" b="1" i="0" u="none" cap="none">
              <a:ln>
                <a:noFill/>
              </a:ln>
              <a:solidFill>
                <a:srgbClr val="377DFF"/>
              </a:solidFill>
              <a:latin typeface="微软雅黑"/>
              <a:ea typeface="微软雅黑"/>
              <a:cs typeface="微软雅黑"/>
            </a:endParaRPr>
          </a:p>
        </p:txBody>
      </p:sp>
      <p:sp>
        <p:nvSpPr>
          <p:cNvPr id="21" name="矩形 20"/>
          <p:cNvSpPr>
            <a:spLocks noGrp="1"/>
          </p:cNvSpPr>
          <p:nvPr/>
        </p:nvSpPr>
        <p:spPr>
          <a:xfrm>
            <a:off x="8801100" y="2857500"/>
            <a:ext cx="2133600" cy="289560"/>
          </a:xfrm>
          <a:prstGeom prst="rect">
            <a:avLst/>
          </a:prstGeom>
          <a:noFill/>
          <a:ln w="0">
            <a:noFill/>
            <a:prstDash val="solid"/>
          </a:ln>
        </p:spPr>
        <p:txBody>
          <a:bodyPr wrap="square" lIns="0" tIns="0" rIns="0" bIns="0" anchor="t">
            <a:normAutofit/>
          </a:bodyPr>
          <a:lstStyle/>
          <a:p>
            <a:pPr marL="0" marR="0" indent="0" algn="l" defTabSz="914400">
              <a:lnSpc>
                <a:spcPct val="108000"/>
              </a:lnSpc>
              <a:spcBef>
                <a:spcPts val="0"/>
              </a:spcBef>
              <a:spcAft>
                <a:spcPts val="0"/>
              </a:spcAft>
              <a:buClrTx/>
              <a:buSzTx/>
              <a:buFontTx/>
              <a:buNone/>
              <a:defRPr sz="1875" b="1">
                <a:solidFill>
                  <a:srgbClr val="262626"/>
                </a:solidFill>
                <a:latin typeface="微软雅黑"/>
                <a:ea typeface="微软雅黑"/>
                <a:cs typeface="微软雅黑"/>
              </a:defRPr>
            </a:pPr>
            <a:r>
              <a:rPr sz="1500" b="1" i="0" u="none" cap="none">
                <a:ln>
                  <a:noFill/>
                </a:ln>
                <a:solidFill>
                  <a:srgbClr val="262626"/>
                </a:solidFill>
                <a:latin typeface="微软雅黑"/>
                <a:ea typeface="微软雅黑"/>
                <a:cs typeface="微软雅黑"/>
              </a:rPr>
              <a:t>激活值</a:t>
            </a:r>
            <a:endParaRPr sz="1500" b="1" i="0" u="none" cap="none">
              <a:ln>
                <a:noFill/>
              </a:ln>
              <a:solidFill>
                <a:srgbClr val="262626"/>
              </a:solidFill>
              <a:latin typeface="微软雅黑"/>
              <a:ea typeface="微软雅黑"/>
              <a:cs typeface="微软雅黑"/>
            </a:endParaRPr>
          </a:p>
        </p:txBody>
      </p:sp>
      <p:sp>
        <p:nvSpPr>
          <p:cNvPr id="22" name="矩形 21"/>
          <p:cNvSpPr>
            <a:spLocks noGrp="1"/>
          </p:cNvSpPr>
          <p:nvPr/>
        </p:nvSpPr>
        <p:spPr>
          <a:xfrm>
            <a:off x="8801100" y="3223260"/>
            <a:ext cx="2209800" cy="419100"/>
          </a:xfrm>
          <a:prstGeom prst="rect">
            <a:avLst/>
          </a:prstGeom>
          <a:noFill/>
          <a:ln w="0">
            <a:noFill/>
            <a:prstDash val="solid"/>
          </a:ln>
        </p:spPr>
        <p:txBody>
          <a:bodyPr wrap="square" lIns="0" tIns="0" rIns="0" bIns="0" anchor="t">
            <a:normAutofit/>
          </a:bodyPr>
          <a:lstStyle/>
          <a:p>
            <a:pPr marL="0" marR="0" indent="0" algn="l" defTabSz="914400">
              <a:lnSpc>
                <a:spcPct val="118000"/>
              </a:lnSpc>
              <a:spcBef>
                <a:spcPts val="0"/>
              </a:spcBef>
              <a:spcAft>
                <a:spcPts val="0"/>
              </a:spcAft>
              <a:buClrTx/>
              <a:buSzTx/>
              <a:buFontTx/>
              <a:buNone/>
              <a:defRPr sz="1425" b="0">
                <a:solidFill>
                  <a:srgbClr val="666666"/>
                </a:solidFill>
                <a:latin typeface="微软雅黑"/>
                <a:ea typeface="微软雅黑"/>
                <a:cs typeface="微软雅黑"/>
              </a:defRPr>
            </a:pPr>
            <a:r>
              <a:rPr sz="1140" b="0" i="0" u="none" cap="none">
                <a:ln>
                  <a:noFill/>
                </a:ln>
                <a:solidFill>
                  <a:srgbClr val="666666"/>
                </a:solidFill>
                <a:latin typeface="微软雅黑"/>
                <a:ea typeface="微软雅黑"/>
                <a:cs typeface="微软雅黑"/>
              </a:rPr>
              <a:t>10 → 10 GiB（保守估算）</a:t>
            </a:r>
            <a:endParaRPr sz="1140" b="0" i="0" u="none" cap="none">
              <a:ln>
                <a:noFill/>
              </a:ln>
              <a:solidFill>
                <a:srgbClr val="666666"/>
              </a:solidFill>
              <a:latin typeface="微软雅黑"/>
              <a:ea typeface="微软雅黑"/>
              <a:cs typeface="微软雅黑"/>
            </a:endParaRPr>
          </a:p>
        </p:txBody>
      </p:sp>
      <p:sp>
        <p:nvSpPr>
          <p:cNvPr id="23" name="矩形 22"/>
          <p:cNvSpPr>
            <a:spLocks noGrp="1"/>
          </p:cNvSpPr>
          <p:nvPr/>
        </p:nvSpPr>
        <p:spPr>
          <a:xfrm>
            <a:off x="5257800" y="3924300"/>
            <a:ext cx="495300" cy="304800"/>
          </a:xfrm>
          <a:prstGeom prst="rect">
            <a:avLst/>
          </a:prstGeom>
          <a:noFill/>
          <a:ln w="0">
            <a:noFill/>
            <a:prstDash val="solid"/>
          </a:ln>
        </p:spPr>
        <p:txBody>
          <a:bodyPr wrap="square" lIns="0" tIns="0" rIns="0" bIns="0" anchor="t">
            <a:normAutofit/>
          </a:bodyPr>
          <a:lstStyle/>
          <a:p>
            <a:pPr marL="0" marR="0" indent="0" algn="l" defTabSz="914400">
              <a:lnSpc>
                <a:spcPct val="108000"/>
              </a:lnSpc>
              <a:spcBef>
                <a:spcPts val="0"/>
              </a:spcBef>
              <a:spcAft>
                <a:spcPts val="0"/>
              </a:spcAft>
              <a:buClrTx/>
              <a:buSzTx/>
              <a:buFontTx/>
              <a:buNone/>
              <a:defRPr sz="1875" b="1">
                <a:solidFill>
                  <a:srgbClr val="E60012"/>
                </a:solidFill>
                <a:latin typeface="微软雅黑"/>
                <a:ea typeface="微软雅黑"/>
                <a:cs typeface="微软雅黑"/>
              </a:defRPr>
            </a:pPr>
            <a:r>
              <a:rPr sz="1500" b="1" i="0" u="none" cap="none">
                <a:ln>
                  <a:noFill/>
                </a:ln>
                <a:solidFill>
                  <a:srgbClr val="E60012"/>
                </a:solidFill>
                <a:latin typeface="微软雅黑"/>
                <a:ea typeface="微软雅黑"/>
                <a:cs typeface="微软雅黑"/>
              </a:rPr>
              <a:t>05</a:t>
            </a:r>
            <a:endParaRPr sz="1500" b="1" i="0" u="none" cap="none">
              <a:ln>
                <a:noFill/>
              </a:ln>
              <a:solidFill>
                <a:srgbClr val="E60012"/>
              </a:solidFill>
              <a:latin typeface="微软雅黑"/>
              <a:ea typeface="微软雅黑"/>
              <a:cs typeface="微软雅黑"/>
            </a:endParaRPr>
          </a:p>
        </p:txBody>
      </p:sp>
      <p:sp>
        <p:nvSpPr>
          <p:cNvPr id="24" name="矩形 23"/>
          <p:cNvSpPr>
            <a:spLocks noGrp="1"/>
          </p:cNvSpPr>
          <p:nvPr/>
        </p:nvSpPr>
        <p:spPr>
          <a:xfrm>
            <a:off x="5829300" y="3924300"/>
            <a:ext cx="2133600" cy="289560"/>
          </a:xfrm>
          <a:prstGeom prst="rect">
            <a:avLst/>
          </a:prstGeom>
          <a:noFill/>
          <a:ln w="0">
            <a:noFill/>
            <a:prstDash val="solid"/>
          </a:ln>
        </p:spPr>
        <p:txBody>
          <a:bodyPr wrap="square" lIns="0" tIns="0" rIns="0" bIns="0" anchor="t">
            <a:normAutofit/>
          </a:bodyPr>
          <a:lstStyle/>
          <a:p>
            <a:pPr marL="0" marR="0" indent="0" algn="l" defTabSz="914400">
              <a:lnSpc>
                <a:spcPct val="108000"/>
              </a:lnSpc>
              <a:spcBef>
                <a:spcPts val="0"/>
              </a:spcBef>
              <a:spcAft>
                <a:spcPts val="0"/>
              </a:spcAft>
              <a:buClrTx/>
              <a:buSzTx/>
              <a:buFontTx/>
              <a:buNone/>
              <a:defRPr sz="1875" b="1">
                <a:solidFill>
                  <a:srgbClr val="262626"/>
                </a:solidFill>
                <a:latin typeface="微软雅黑"/>
                <a:ea typeface="微软雅黑"/>
                <a:cs typeface="微软雅黑"/>
              </a:defRPr>
            </a:pPr>
            <a:r>
              <a:rPr sz="1500" b="1" i="0" u="none" cap="none">
                <a:ln>
                  <a:noFill/>
                </a:ln>
                <a:solidFill>
                  <a:srgbClr val="262626"/>
                </a:solidFill>
                <a:latin typeface="微软雅黑"/>
                <a:ea typeface="微软雅黑"/>
                <a:cs typeface="微软雅黑"/>
              </a:rPr>
              <a:t>模型状态</a:t>
            </a:r>
            <a:endParaRPr sz="1500" b="1" i="0" u="none" cap="none">
              <a:ln>
                <a:noFill/>
              </a:ln>
              <a:solidFill>
                <a:srgbClr val="262626"/>
              </a:solidFill>
              <a:latin typeface="微软雅黑"/>
              <a:ea typeface="微软雅黑"/>
              <a:cs typeface="微软雅黑"/>
            </a:endParaRPr>
          </a:p>
        </p:txBody>
      </p:sp>
      <p:sp>
        <p:nvSpPr>
          <p:cNvPr id="25" name="矩形 24"/>
          <p:cNvSpPr>
            <a:spLocks noGrp="1"/>
          </p:cNvSpPr>
          <p:nvPr/>
        </p:nvSpPr>
        <p:spPr>
          <a:xfrm>
            <a:off x="5829300" y="4290060"/>
            <a:ext cx="2209800" cy="419100"/>
          </a:xfrm>
          <a:prstGeom prst="rect">
            <a:avLst/>
          </a:prstGeom>
          <a:noFill/>
          <a:ln w="0">
            <a:noFill/>
            <a:prstDash val="solid"/>
          </a:ln>
        </p:spPr>
        <p:txBody>
          <a:bodyPr wrap="square" lIns="0" tIns="0" rIns="0" bIns="0" anchor="t">
            <a:normAutofit/>
          </a:bodyPr>
          <a:lstStyle/>
          <a:p>
            <a:pPr marL="0" marR="0" indent="0" algn="l" defTabSz="914400">
              <a:lnSpc>
                <a:spcPct val="118000"/>
              </a:lnSpc>
              <a:spcBef>
                <a:spcPts val="0"/>
              </a:spcBef>
              <a:spcAft>
                <a:spcPts val="0"/>
              </a:spcAft>
              <a:buClrTx/>
              <a:buSzTx/>
              <a:buFontTx/>
              <a:buNone/>
              <a:defRPr sz="1425" b="0">
                <a:solidFill>
                  <a:srgbClr val="666666"/>
                </a:solidFill>
                <a:latin typeface="微软雅黑"/>
                <a:ea typeface="微软雅黑"/>
                <a:cs typeface="微软雅黑"/>
              </a:defRPr>
            </a:pPr>
            <a:r>
              <a:rPr sz="1140" b="0" i="0" u="none" cap="none">
                <a:ln>
                  <a:noFill/>
                </a:ln>
                <a:solidFill>
                  <a:srgbClr val="666666"/>
                </a:solidFill>
                <a:latin typeface="微软雅黑"/>
                <a:ea typeface="微软雅黑"/>
                <a:cs typeface="微软雅黑"/>
              </a:rPr>
              <a:t>26.8 ÷ 2 = 13.4 GiB</a:t>
            </a:r>
            <a:endParaRPr sz="1140" b="0" i="0" u="none" cap="none">
              <a:ln>
                <a:noFill/>
              </a:ln>
              <a:solidFill>
                <a:srgbClr val="666666"/>
              </a:solidFill>
              <a:latin typeface="微软雅黑"/>
              <a:ea typeface="微软雅黑"/>
              <a:cs typeface="微软雅黑"/>
            </a:endParaRPr>
          </a:p>
        </p:txBody>
      </p:sp>
      <p:sp>
        <p:nvSpPr>
          <p:cNvPr id="26" name="矩形 25"/>
          <p:cNvSpPr>
            <a:spLocks noGrp="1"/>
          </p:cNvSpPr>
          <p:nvPr/>
        </p:nvSpPr>
        <p:spPr>
          <a:xfrm>
            <a:off x="8229600" y="3924300"/>
            <a:ext cx="495300" cy="304800"/>
          </a:xfrm>
          <a:prstGeom prst="rect">
            <a:avLst/>
          </a:prstGeom>
          <a:noFill/>
          <a:ln w="0">
            <a:noFill/>
            <a:prstDash val="solid"/>
          </a:ln>
        </p:spPr>
        <p:txBody>
          <a:bodyPr wrap="square" lIns="0" tIns="0" rIns="0" bIns="0" anchor="t">
            <a:normAutofit/>
          </a:bodyPr>
          <a:lstStyle/>
          <a:p>
            <a:pPr marL="0" marR="0" indent="0" algn="l" defTabSz="914400">
              <a:lnSpc>
                <a:spcPct val="108000"/>
              </a:lnSpc>
              <a:spcBef>
                <a:spcPts val="0"/>
              </a:spcBef>
              <a:spcAft>
                <a:spcPts val="0"/>
              </a:spcAft>
              <a:buClrTx/>
              <a:buSzTx/>
              <a:buFontTx/>
              <a:buNone/>
              <a:defRPr sz="1875" b="1">
                <a:solidFill>
                  <a:srgbClr val="377DFF"/>
                </a:solidFill>
                <a:latin typeface="微软雅黑"/>
                <a:ea typeface="微软雅黑"/>
                <a:cs typeface="微软雅黑"/>
              </a:defRPr>
            </a:pPr>
            <a:r>
              <a:rPr sz="1500" b="1" i="0" u="none" cap="none">
                <a:ln>
                  <a:noFill/>
                </a:ln>
                <a:solidFill>
                  <a:srgbClr val="377DFF"/>
                </a:solidFill>
                <a:latin typeface="微软雅黑"/>
                <a:ea typeface="微软雅黑"/>
                <a:cs typeface="微软雅黑"/>
              </a:rPr>
              <a:t>06</a:t>
            </a:r>
            <a:endParaRPr sz="1500" b="1" i="0" u="none" cap="none">
              <a:ln>
                <a:noFill/>
              </a:ln>
              <a:solidFill>
                <a:srgbClr val="377DFF"/>
              </a:solidFill>
              <a:latin typeface="微软雅黑"/>
              <a:ea typeface="微软雅黑"/>
              <a:cs typeface="微软雅黑"/>
            </a:endParaRPr>
          </a:p>
        </p:txBody>
      </p:sp>
      <p:sp>
        <p:nvSpPr>
          <p:cNvPr id="27" name="矩形 26"/>
          <p:cNvSpPr>
            <a:spLocks noGrp="1"/>
          </p:cNvSpPr>
          <p:nvPr/>
        </p:nvSpPr>
        <p:spPr>
          <a:xfrm>
            <a:off x="8801100" y="3924300"/>
            <a:ext cx="2133600" cy="289560"/>
          </a:xfrm>
          <a:prstGeom prst="rect">
            <a:avLst/>
          </a:prstGeom>
          <a:noFill/>
          <a:ln w="0">
            <a:noFill/>
            <a:prstDash val="solid"/>
          </a:ln>
        </p:spPr>
        <p:txBody>
          <a:bodyPr wrap="square" lIns="0" tIns="0" rIns="0" bIns="0" anchor="t">
            <a:normAutofit/>
          </a:bodyPr>
          <a:lstStyle/>
          <a:p>
            <a:pPr marL="0" marR="0" indent="0" algn="l" defTabSz="914400">
              <a:lnSpc>
                <a:spcPct val="108000"/>
              </a:lnSpc>
              <a:spcBef>
                <a:spcPts val="0"/>
              </a:spcBef>
              <a:spcAft>
                <a:spcPts val="0"/>
              </a:spcAft>
              <a:buClrTx/>
              <a:buSzTx/>
              <a:buFontTx/>
              <a:buNone/>
              <a:defRPr sz="1875" b="1">
                <a:solidFill>
                  <a:srgbClr val="262626"/>
                </a:solidFill>
                <a:latin typeface="微软雅黑"/>
                <a:ea typeface="微软雅黑"/>
                <a:cs typeface="微软雅黑"/>
              </a:defRPr>
            </a:pPr>
            <a:r>
              <a:rPr sz="1500" b="1" i="0" u="none" cap="none">
                <a:ln>
                  <a:noFill/>
                </a:ln>
                <a:solidFill>
                  <a:srgbClr val="262626"/>
                </a:solidFill>
                <a:latin typeface="微软雅黑"/>
                <a:ea typeface="微软雅黑"/>
                <a:cs typeface="微软雅黑"/>
              </a:rPr>
              <a:t>每卡总计</a:t>
            </a:r>
            <a:endParaRPr sz="1500" b="1" i="0" u="none" cap="none">
              <a:ln>
                <a:noFill/>
              </a:ln>
              <a:solidFill>
                <a:srgbClr val="262626"/>
              </a:solidFill>
              <a:latin typeface="微软雅黑"/>
              <a:ea typeface="微软雅黑"/>
              <a:cs typeface="微软雅黑"/>
            </a:endParaRPr>
          </a:p>
        </p:txBody>
      </p:sp>
      <p:sp>
        <p:nvSpPr>
          <p:cNvPr id="28" name="矩形 27"/>
          <p:cNvSpPr>
            <a:spLocks noGrp="1"/>
          </p:cNvSpPr>
          <p:nvPr/>
        </p:nvSpPr>
        <p:spPr>
          <a:xfrm>
            <a:off x="8801100" y="4290060"/>
            <a:ext cx="2209800" cy="419100"/>
          </a:xfrm>
          <a:prstGeom prst="rect">
            <a:avLst/>
          </a:prstGeom>
          <a:noFill/>
          <a:ln w="0">
            <a:noFill/>
            <a:prstDash val="solid"/>
          </a:ln>
        </p:spPr>
        <p:txBody>
          <a:bodyPr wrap="square" lIns="0" tIns="0" rIns="0" bIns="0" anchor="t">
            <a:normAutofit/>
          </a:bodyPr>
          <a:lstStyle/>
          <a:p>
            <a:pPr marL="0" marR="0" indent="0" algn="l" defTabSz="914400">
              <a:lnSpc>
                <a:spcPct val="118000"/>
              </a:lnSpc>
              <a:spcBef>
                <a:spcPts val="0"/>
              </a:spcBef>
              <a:spcAft>
                <a:spcPts val="0"/>
              </a:spcAft>
              <a:buClrTx/>
              <a:buSzTx/>
              <a:buFontTx/>
              <a:buNone/>
              <a:defRPr sz="1425" b="0">
                <a:solidFill>
                  <a:srgbClr val="666666"/>
                </a:solidFill>
                <a:latin typeface="微软雅黑"/>
                <a:ea typeface="微软雅黑"/>
                <a:cs typeface="微软雅黑"/>
              </a:defRPr>
            </a:pPr>
            <a:r>
              <a:rPr sz="1140" b="0" i="0" u="none" cap="none">
                <a:ln>
                  <a:noFill/>
                </a:ln>
                <a:solidFill>
                  <a:srgbClr val="666666"/>
                </a:solidFill>
                <a:latin typeface="微软雅黑"/>
                <a:ea typeface="微软雅黑"/>
                <a:cs typeface="微软雅黑"/>
              </a:rPr>
              <a:t>13.4 + 10 = 23.4 GiB</a:t>
            </a:r>
            <a:endParaRPr sz="1140" b="0" i="0" u="none" cap="none">
              <a:ln>
                <a:noFill/>
              </a:ln>
              <a:solidFill>
                <a:srgbClr val="666666"/>
              </a:solidFill>
              <a:latin typeface="微软雅黑"/>
              <a:ea typeface="微软雅黑"/>
              <a:cs typeface="微软雅黑"/>
            </a:endParaRPr>
          </a:p>
        </p:txBody>
      </p:sp>
      <p:sp>
        <p:nvSpPr>
          <p:cNvPr id="29" name="矩形 28"/>
          <p:cNvSpPr>
            <a:spLocks noGrp="1"/>
          </p:cNvSpPr>
          <p:nvPr/>
        </p:nvSpPr>
        <p:spPr>
          <a:xfrm>
            <a:off x="1676400" y="5257800"/>
            <a:ext cx="8839200" cy="396240"/>
          </a:xfrm>
          <a:prstGeom prst="rect">
            <a:avLst/>
          </a:prstGeom>
          <a:noFill/>
          <a:ln w="0">
            <a:noFill/>
            <a:prstDash val="solid"/>
          </a:ln>
        </p:spPr>
        <p:txBody>
          <a:bodyPr wrap="square" lIns="0" tIns="0" rIns="0" bIns="0" anchor="t">
            <a:normAutofit/>
          </a:bodyPr>
          <a:lstStyle/>
          <a:p>
            <a:pPr marL="0" marR="0" indent="0" algn="ctr" defTabSz="914400">
              <a:lnSpc>
                <a:spcPct val="108000"/>
              </a:lnSpc>
              <a:spcBef>
                <a:spcPts val="0"/>
              </a:spcBef>
              <a:spcAft>
                <a:spcPts val="0"/>
              </a:spcAft>
              <a:buClrTx/>
              <a:buSzTx/>
              <a:buFontTx/>
              <a:buNone/>
              <a:defRPr sz="2025" b="1">
                <a:solidFill>
                  <a:srgbClr val="E60012"/>
                </a:solidFill>
                <a:latin typeface="微软雅黑"/>
                <a:ea typeface="微软雅黑"/>
                <a:cs typeface="微软雅黑"/>
              </a:defRPr>
            </a:pPr>
            <a:r>
              <a:rPr sz="1620" b="1" i="0" u="none" cap="none">
                <a:ln>
                  <a:noFill/>
                </a:ln>
                <a:solidFill>
                  <a:srgbClr val="E60012"/>
                </a:solidFill>
                <a:latin typeface="微软雅黑"/>
                <a:ea typeface="微软雅黑"/>
                <a:cs typeface="微软雅黑"/>
              </a:rPr>
              <a:t>36.8 → 23.4 GiB / 卡：节省 13.4 GiB（约 36%），余量约 8.6 GiB。</a:t>
            </a:r>
            <a:endParaRPr sz="1620" b="1" i="0" u="none" cap="none">
              <a:ln>
                <a:noFill/>
              </a:ln>
              <a:solidFill>
                <a:srgbClr val="E60012"/>
              </a:solidFill>
              <a:latin typeface="微软雅黑"/>
              <a:ea typeface="微软雅黑"/>
              <a:cs typeface="微软雅黑"/>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 name="图片 12"/>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372600" cy="502920"/>
          </a:xfrm>
          <a:prstGeom prst="rect">
            <a:avLst/>
          </a:prstGeom>
          <a:noFill/>
          <a:ln w="0">
            <a:noFill/>
            <a:prstDash val="solid"/>
          </a:ln>
        </p:spPr>
        <p:txBody>
          <a:bodyPr wrap="square" lIns="0" tIns="0" rIns="0" bIns="0" anchor="ctr">
            <a:normAutofit/>
          </a:bodyPr>
          <a:lstStyle/>
          <a:p>
            <a:pPr>
              <a:lnSpc>
                <a:spcPct val="108000"/>
              </a:lnSpc>
              <a:buNone/>
              <a:defRPr sz="3375" b="0">
                <a:solidFill>
                  <a:srgbClr val="111111"/>
                </a:solidFill>
                <a:latin typeface="微软雅黑"/>
                <a:ea typeface="微软雅黑"/>
                <a:cs typeface="微软雅黑"/>
              </a:defRPr>
            </a:pPr>
            <a:r>
              <a:rPr sz="2700" b="1">
                <a:solidFill>
                  <a:srgbClr val="111111"/>
                </a:solidFill>
                <a:latin typeface="微软雅黑"/>
                <a:ea typeface="微软雅黑"/>
                <a:cs typeface="微软雅黑"/>
              </a:rPr>
              <a:t>FSDP 通信：正向 AllGather，反向 ReduceScatter</a:t>
            </a:r>
            <a:endParaRPr sz="2700" b="1">
              <a:solidFill>
                <a:srgbClr val="111111"/>
              </a:solidFill>
              <a:latin typeface="微软雅黑"/>
              <a:ea typeface="微软雅黑"/>
              <a:cs typeface="微软雅黑"/>
            </a:endParaRPr>
          </a:p>
        </p:txBody>
      </p:sp>
      <p:sp>
        <p:nvSpPr>
          <p:cNvPr id="5" name="矩形 4"/>
          <p:cNvSpPr>
            <a:spLocks noGrp="1"/>
          </p:cNvSpPr>
          <p:nvPr/>
        </p:nvSpPr>
        <p:spPr>
          <a:xfrm>
            <a:off x="685800" y="1104900"/>
            <a:ext cx="4572000" cy="320040"/>
          </a:xfrm>
          <a:prstGeom prst="rect">
            <a:avLst/>
          </a:prstGeom>
          <a:noFill/>
          <a:ln w="0">
            <a:noFill/>
            <a:prstDash val="solid"/>
          </a:ln>
        </p:spPr>
        <p:txBody>
          <a:bodyPr wrap="square" lIns="0" tIns="0" rIns="0" bIns="0" anchor="t">
            <a:normAutofit/>
          </a:bodyPr>
          <a:lstStyle/>
          <a:p>
            <a:pPr>
              <a:lnSpc>
                <a:spcPct val="108000"/>
              </a:lnSpc>
              <a:buNone/>
              <a:defRPr sz="2025" b="1">
                <a:solidFill>
                  <a:srgbClr val="377DFF"/>
                </a:solidFill>
                <a:latin typeface="微软雅黑"/>
                <a:ea typeface="微软雅黑"/>
                <a:cs typeface="微软雅黑"/>
              </a:defRPr>
            </a:pPr>
            <a:r>
              <a:rPr sz="1620" b="1">
                <a:solidFill>
                  <a:srgbClr val="377DFF"/>
                </a:solidFill>
                <a:latin typeface="微软雅黑"/>
                <a:ea typeface="微软雅黑"/>
                <a:cs typeface="微软雅黑"/>
              </a:rPr>
              <a:t>正向传播：all-gather</a:t>
            </a:r>
            <a:endParaRPr sz="1620" b="1">
              <a:solidFill>
                <a:srgbClr val="377DFF"/>
              </a:solidFill>
              <a:latin typeface="微软雅黑"/>
              <a:ea typeface="微软雅黑"/>
              <a:cs typeface="微软雅黑"/>
            </a:endParaRPr>
          </a:p>
        </p:txBody>
      </p:sp>
      <p:sp>
        <p:nvSpPr>
          <p:cNvPr id="6" name="矩形 5"/>
          <p:cNvSpPr>
            <a:spLocks noGrp="1"/>
          </p:cNvSpPr>
          <p:nvPr/>
        </p:nvSpPr>
        <p:spPr>
          <a:xfrm>
            <a:off x="6438900" y="1104900"/>
            <a:ext cx="4572000" cy="320040"/>
          </a:xfrm>
          <a:prstGeom prst="rect">
            <a:avLst/>
          </a:prstGeom>
          <a:noFill/>
          <a:ln w="0">
            <a:noFill/>
            <a:prstDash val="solid"/>
          </a:ln>
        </p:spPr>
        <p:txBody>
          <a:bodyPr wrap="square" lIns="0" tIns="0" rIns="0" bIns="0" anchor="t">
            <a:normAutofit/>
          </a:bodyPr>
          <a:lstStyle/>
          <a:p>
            <a:pPr>
              <a:lnSpc>
                <a:spcPct val="108000"/>
              </a:lnSpc>
              <a:buNone/>
              <a:defRPr sz="2025" b="1">
                <a:solidFill>
                  <a:srgbClr val="E60012"/>
                </a:solidFill>
                <a:latin typeface="微软雅黑"/>
                <a:ea typeface="微软雅黑"/>
                <a:cs typeface="微软雅黑"/>
              </a:defRPr>
            </a:pPr>
            <a:r>
              <a:rPr sz="1620" b="1">
                <a:solidFill>
                  <a:srgbClr val="E60012"/>
                </a:solidFill>
                <a:latin typeface="微软雅黑"/>
                <a:ea typeface="微软雅黑"/>
                <a:cs typeface="微软雅黑"/>
              </a:rPr>
              <a:t>反向传播：reduce-scatter</a:t>
            </a:r>
            <a:endParaRPr sz="1620" b="1">
              <a:solidFill>
                <a:srgbClr val="E60012"/>
              </a:solidFill>
              <a:latin typeface="微软雅黑"/>
              <a:ea typeface="微软雅黑"/>
              <a:cs typeface="微软雅黑"/>
            </a:endParaRPr>
          </a:p>
        </p:txBody>
      </p:sp>
      <p:pic>
        <p:nvPicPr>
          <p:cNvPr id="21" name="图片 18"/>
          <p:cNvPicPr>
            <a:picLocks noChangeAspect="1"/>
          </p:cNvPicPr>
          <p:nvPr/>
        </p:nvPicPr>
        <p:blipFill>
          <a:blip r:embed="rId2"/>
          <a:stretch>
            <a:fillRect/>
          </a:stretch>
        </p:blipFill>
        <p:spPr>
          <a:xfrm>
            <a:off x="609600" y="1636568"/>
            <a:ext cx="5181600" cy="2060864"/>
          </a:xfrm>
          <a:prstGeom prst="rect">
            <a:avLst/>
          </a:prstGeom>
        </p:spPr>
      </p:pic>
      <p:pic>
        <p:nvPicPr>
          <p:cNvPr id="22" name="图片 19"/>
          <p:cNvPicPr>
            <a:picLocks noChangeAspect="1"/>
          </p:cNvPicPr>
          <p:nvPr/>
        </p:nvPicPr>
        <p:blipFill>
          <a:blip r:embed="rId3"/>
          <a:stretch>
            <a:fillRect/>
          </a:stretch>
        </p:blipFill>
        <p:spPr>
          <a:xfrm>
            <a:off x="6248400" y="2095033"/>
            <a:ext cx="5181600" cy="1143934"/>
          </a:xfrm>
          <a:prstGeom prst="rect">
            <a:avLst/>
          </a:prstGeom>
        </p:spPr>
      </p:pic>
      <p:sp>
        <p:nvSpPr>
          <p:cNvPr id="9" name="矩形 8"/>
          <p:cNvSpPr>
            <a:spLocks noGrp="1"/>
          </p:cNvSpPr>
          <p:nvPr/>
        </p:nvSpPr>
        <p:spPr>
          <a:xfrm>
            <a:off x="762000" y="3962400"/>
            <a:ext cx="4876800" cy="518160"/>
          </a:xfrm>
          <a:prstGeom prst="rect">
            <a:avLst/>
          </a:prstGeom>
          <a:noFill/>
          <a:ln w="0">
            <a:noFill/>
            <a:prstDash val="solid"/>
          </a:ln>
        </p:spPr>
        <p:txBody>
          <a:bodyPr wrap="square" lIns="0" tIns="0" rIns="0" bIns="0" anchor="t">
            <a:normAutofit/>
          </a:bodyPr>
          <a:lstStyle/>
          <a:p>
            <a:pPr algn="ctr">
              <a:lnSpc>
                <a:spcPct val="118000"/>
              </a:lnSpc>
              <a:buNone/>
              <a:defRPr sz="1650" b="0">
                <a:solidFill>
                  <a:srgbClr val="525252"/>
                </a:solidFill>
                <a:latin typeface="微软雅黑"/>
                <a:ea typeface="微软雅黑"/>
                <a:cs typeface="微软雅黑"/>
              </a:defRPr>
            </a:pPr>
            <a:r>
              <a:rPr sz="1320">
                <a:solidFill>
                  <a:srgbClr val="525252"/>
                </a:solidFill>
                <a:latin typeface="微软雅黑"/>
                <a:ea typeface="微软雅黑"/>
                <a:cs typeface="微软雅黑"/>
              </a:rPr>
              <a:t>正向：输入 → logits → loss；all-gather 临时还原本层完整参数，计算后释放。</a:t>
            </a:r>
            <a:endParaRPr sz="1320">
              <a:solidFill>
                <a:srgbClr val="525252"/>
              </a:solidFill>
              <a:latin typeface="微软雅黑"/>
              <a:ea typeface="微软雅黑"/>
              <a:cs typeface="微软雅黑"/>
            </a:endParaRPr>
          </a:p>
        </p:txBody>
      </p:sp>
      <p:sp>
        <p:nvSpPr>
          <p:cNvPr id="10" name="矩形 9"/>
          <p:cNvSpPr>
            <a:spLocks noGrp="1"/>
          </p:cNvSpPr>
          <p:nvPr/>
        </p:nvSpPr>
        <p:spPr>
          <a:xfrm>
            <a:off x="6400800" y="3962400"/>
            <a:ext cx="4876800" cy="518160"/>
          </a:xfrm>
          <a:prstGeom prst="rect">
            <a:avLst/>
          </a:prstGeom>
          <a:noFill/>
          <a:ln w="0">
            <a:noFill/>
            <a:prstDash val="solid"/>
          </a:ln>
        </p:spPr>
        <p:txBody>
          <a:bodyPr wrap="square" lIns="0" tIns="0" rIns="0" bIns="0" anchor="t">
            <a:normAutofit/>
          </a:bodyPr>
          <a:lstStyle/>
          <a:p>
            <a:pPr algn="ctr">
              <a:lnSpc>
                <a:spcPct val="118000"/>
              </a:lnSpc>
              <a:buNone/>
              <a:defRPr sz="1650" b="0">
                <a:solidFill>
                  <a:srgbClr val="525252"/>
                </a:solidFill>
                <a:latin typeface="微软雅黑"/>
                <a:ea typeface="微软雅黑"/>
                <a:cs typeface="微软雅黑"/>
              </a:defRPr>
            </a:pPr>
            <a:r>
              <a:rPr sz="1320">
                <a:solidFill>
                  <a:srgbClr val="525252"/>
                </a:solidFill>
                <a:latin typeface="微软雅黑"/>
                <a:ea typeface="微软雅黑"/>
                <a:cs typeface="微软雅黑"/>
              </a:rPr>
              <a:t>反向：loss → 梯度；reduce-scatter 求和并重新分片，optimizer.step 更新各卡持有的状态。</a:t>
            </a:r>
            <a:endParaRPr sz="1320">
              <a:solidFill>
                <a:srgbClr val="525252"/>
              </a:solidFill>
              <a:latin typeface="微软雅黑"/>
              <a:ea typeface="微软雅黑"/>
              <a:cs typeface="微软雅黑"/>
            </a:endParaRPr>
          </a:p>
        </p:txBody>
      </p:sp>
      <p:sp>
        <p:nvSpPr>
          <p:cNvPr id="11" name="矩形: 圆角 10"/>
          <p:cNvSpPr>
            <a:spLocks noGrp="1"/>
          </p:cNvSpPr>
          <p:nvPr/>
        </p:nvSpPr>
        <p:spPr>
          <a:xfrm>
            <a:off x="1219200" y="4838700"/>
            <a:ext cx="9753600" cy="655320"/>
          </a:xfrm>
          <a:prstGeom prst="roundRect">
            <a:avLst>
              <a:gd name="adj" fmla="val 6977"/>
            </a:avLst>
          </a:prstGeom>
          <a:solidFill>
            <a:srgbClr val="EDF7EC"/>
          </a:solidFill>
          <a:ln w="9525">
            <a:solidFill>
              <a:srgbClr val="43A047"/>
            </a:solidFill>
            <a:prstDash val="solid"/>
          </a:ln>
        </p:spPr>
      </p:sp>
      <p:sp>
        <p:nvSpPr>
          <p:cNvPr id="12" name="矩形 11"/>
          <p:cNvSpPr>
            <a:spLocks noGrp="1"/>
          </p:cNvSpPr>
          <p:nvPr/>
        </p:nvSpPr>
        <p:spPr>
          <a:xfrm>
            <a:off x="1562100" y="4838700"/>
            <a:ext cx="9067800" cy="655320"/>
          </a:xfrm>
          <a:prstGeom prst="rect">
            <a:avLst/>
          </a:prstGeom>
          <a:noFill/>
          <a:ln w="0">
            <a:noFill/>
            <a:prstDash val="solid"/>
          </a:ln>
        </p:spPr>
        <p:txBody>
          <a:bodyPr wrap="square" lIns="0" tIns="0" rIns="0" bIns="0" anchor="ctr">
            <a:normAutofit/>
          </a:bodyPr>
          <a:lstStyle/>
          <a:p>
            <a:pPr algn="ctr">
              <a:lnSpc>
                <a:spcPct val="108000"/>
              </a:lnSpc>
              <a:buNone/>
              <a:defRPr sz="1875" b="1">
                <a:solidFill>
                  <a:srgbClr val="43A047"/>
                </a:solidFill>
                <a:latin typeface="微软雅黑"/>
                <a:ea typeface="微软雅黑"/>
                <a:cs typeface="微软雅黑"/>
              </a:defRPr>
            </a:pPr>
            <a:r>
              <a:rPr sz="1500" b="1">
                <a:solidFill>
                  <a:srgbClr val="43A047"/>
                </a:solidFill>
                <a:latin typeface="微软雅黑"/>
                <a:ea typeface="微软雅黑"/>
                <a:cs typeface="微软雅黑"/>
              </a:rPr>
              <a:t>FSDP2：把通信拆到每一层，让参数传输与计算重叠，尽量把通信时间“藏”进计算。</a:t>
            </a:r>
            <a:endParaRPr sz="1500" b="1">
              <a:solidFill>
                <a:srgbClr val="43A047"/>
              </a:solidFill>
              <a:latin typeface="微软雅黑"/>
              <a:ea typeface="微软雅黑"/>
              <a:cs typeface="微软雅黑"/>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36"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TorchTitan框架概述</a:t>
            </a:r>
            <a:endParaRPr sz="2700" b="1">
              <a:solidFill>
                <a:srgbClr val="111111"/>
              </a:solidFill>
              <a:latin typeface="Times New Roman" panose="02020503050405090304"/>
              <a:ea typeface="微软雅黑"/>
              <a:cs typeface="Times New Roman" panose="02020503050405090304"/>
            </a:endParaRPr>
          </a:p>
        </p:txBody>
      </p:sp>
      <p:sp>
        <p:nvSpPr>
          <p:cNvPr id="19" name="quiz-instruction"/>
          <p:cNvSpPr>
            <a:spLocks noGrp="1"/>
          </p:cNvSpPr>
          <p:nvPr/>
        </p:nvSpPr>
        <p:spPr>
          <a:xfrm>
            <a:off x="609600" y="971550"/>
            <a:ext cx="10953750" cy="323850"/>
          </a:xfrm>
          <a:prstGeom prst="rect">
            <a:avLst/>
          </a:prstGeom>
          <a:noFill/>
          <a:ln w="0">
            <a:noFill/>
          </a:ln>
        </p:spPr>
        <p:txBody>
          <a:bodyPr wrap="none" lIns="0" tIns="0" rIns="0" bIns="0" anchor="t">
            <a:noAutofit/>
          </a:bodyPr>
          <a:lstStyle/>
          <a:p>
            <a:pPr>
              <a:lnSpc>
                <a:spcPct val="108000"/>
              </a:lnSpc>
              <a:buNone/>
              <a:defRPr sz="1725" b="0">
                <a:solidFill>
                  <a:srgbClr val="555555"/>
                </a:solidFill>
                <a:latin typeface="Times New Roman" panose="02020503050405090304"/>
                <a:ea typeface="微软雅黑"/>
                <a:cs typeface="Times New Roman" panose="02020503050405090304"/>
              </a:defRPr>
            </a:pPr>
            <a:r>
              <a:rPr sz="1725" b="0">
                <a:solidFill>
                  <a:srgbClr val="555555"/>
                </a:solidFill>
                <a:latin typeface="Times New Roman" panose="02020503050405090304"/>
                <a:ea typeface="微软雅黑"/>
                <a:cs typeface="Times New Roman" panose="02020503050405090304"/>
              </a:rPr>
              <a:t>随堂检测：先独立作答，再说明你的判断依据。</a:t>
            </a:r>
            <a:endParaRPr sz="1725" b="0">
              <a:solidFill>
                <a:srgbClr val="555555"/>
              </a:solidFill>
              <a:latin typeface="Times New Roman" panose="02020503050405090304"/>
              <a:ea typeface="微软雅黑"/>
              <a:cs typeface="Times New Roman" panose="02020503050405090304"/>
            </a:endParaRPr>
          </a:p>
        </p:txBody>
      </p:sp>
      <p:sp>
        <p:nvSpPr>
          <p:cNvPr id="20" name="q1-label"/>
          <p:cNvSpPr>
            <a:spLocks noGrp="1"/>
          </p:cNvSpPr>
          <p:nvPr/>
        </p:nvSpPr>
        <p:spPr>
          <a:xfrm>
            <a:off x="609600" y="1438275"/>
            <a:ext cx="704850" cy="400050"/>
          </a:xfrm>
          <a:prstGeom prst="roundRect">
            <a:avLst>
              <a:gd name="adj" fmla="val 35714"/>
            </a:avLst>
          </a:prstGeom>
          <a:solidFill>
            <a:srgbClr val="C7E1FF"/>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Q1</a:t>
            </a:r>
            <a:endParaRPr sz="2175" b="1">
              <a:solidFill>
                <a:srgbClr val="111111"/>
              </a:solidFill>
              <a:latin typeface="Times New Roman" panose="02020503050405090304"/>
              <a:ea typeface="微软雅黑"/>
              <a:cs typeface="Times New Roman" panose="02020503050405090304"/>
            </a:endParaRPr>
          </a:p>
        </p:txBody>
      </p:sp>
      <p:sp>
        <p:nvSpPr>
          <p:cNvPr id="21" name="q1-stem"/>
          <p:cNvSpPr>
            <a:spLocks noGrp="1"/>
          </p:cNvSpPr>
          <p:nvPr/>
        </p:nvSpPr>
        <p:spPr>
          <a:xfrm>
            <a:off x="1495425" y="1447800"/>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【判断】单机运行 NGPU = 2，会启动 2 个训练进程。</a:t>
            </a:r>
            <a:endParaRPr sz="1800" b="1">
              <a:solidFill>
                <a:srgbClr val="111111"/>
              </a:solidFill>
              <a:latin typeface="Times New Roman" panose="02020503050405090304"/>
              <a:ea typeface="微软雅黑"/>
              <a:cs typeface="Times New Roman" panose="02020503050405090304"/>
            </a:endParaRPr>
          </a:p>
        </p:txBody>
      </p:sp>
      <p:sp>
        <p:nvSpPr>
          <p:cNvPr id="22" name="q2-label"/>
          <p:cNvSpPr>
            <a:spLocks noGrp="1"/>
          </p:cNvSpPr>
          <p:nvPr/>
        </p:nvSpPr>
        <p:spPr>
          <a:xfrm>
            <a:off x="609600" y="2257425"/>
            <a:ext cx="704850" cy="400050"/>
          </a:xfrm>
          <a:prstGeom prst="roundRect">
            <a:avLst>
              <a:gd name="adj" fmla="val 35714"/>
            </a:avLst>
          </a:prstGeom>
          <a:solidFill>
            <a:srgbClr val="FFD0D1"/>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Q2</a:t>
            </a:r>
            <a:endParaRPr sz="2175" b="1">
              <a:solidFill>
                <a:srgbClr val="111111"/>
              </a:solidFill>
              <a:latin typeface="Times New Roman" panose="02020503050405090304"/>
              <a:ea typeface="微软雅黑"/>
              <a:cs typeface="Times New Roman" panose="02020503050405090304"/>
            </a:endParaRPr>
          </a:p>
        </p:txBody>
      </p:sp>
      <p:sp>
        <p:nvSpPr>
          <p:cNvPr id="23" name="q2-stem"/>
          <p:cNvSpPr>
            <a:spLocks noGrp="1"/>
          </p:cNvSpPr>
          <p:nvPr/>
        </p:nvSpPr>
        <p:spPr>
          <a:xfrm>
            <a:off x="1495425" y="2266950"/>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【判断】FULL_SHARD 的容量优势来自消除所有通信。</a:t>
            </a:r>
            <a:endParaRPr sz="1800" b="1">
              <a:solidFill>
                <a:srgbClr val="111111"/>
              </a:solidFill>
              <a:latin typeface="Times New Roman" panose="02020503050405090304"/>
              <a:ea typeface="微软雅黑"/>
              <a:cs typeface="Times New Roman" panose="02020503050405090304"/>
            </a:endParaRPr>
          </a:p>
        </p:txBody>
      </p:sp>
      <p:sp>
        <p:nvSpPr>
          <p:cNvPr id="24" name="q3-label"/>
          <p:cNvSpPr>
            <a:spLocks noGrp="1"/>
          </p:cNvSpPr>
          <p:nvPr/>
        </p:nvSpPr>
        <p:spPr>
          <a:xfrm>
            <a:off x="609600" y="3105150"/>
            <a:ext cx="704850" cy="400050"/>
          </a:xfrm>
          <a:prstGeom prst="roundRect">
            <a:avLst>
              <a:gd name="adj" fmla="val 35714"/>
            </a:avLst>
          </a:prstGeom>
          <a:solidFill>
            <a:srgbClr val="BFECCC"/>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Q3</a:t>
            </a:r>
            <a:endParaRPr sz="2175" b="1">
              <a:solidFill>
                <a:srgbClr val="111111"/>
              </a:solidFill>
              <a:latin typeface="Times New Roman" panose="02020503050405090304"/>
              <a:ea typeface="微软雅黑"/>
              <a:cs typeface="Times New Roman" panose="02020503050405090304"/>
            </a:endParaRPr>
          </a:p>
        </p:txBody>
      </p:sp>
      <p:sp>
        <p:nvSpPr>
          <p:cNvPr id="25" name="q3-stem"/>
          <p:cNvSpPr>
            <a:spLocks noGrp="1"/>
          </p:cNvSpPr>
          <p:nvPr/>
        </p:nvSpPr>
        <p:spPr>
          <a:xfrm>
            <a:off x="1495425" y="3114675"/>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【单选】FULL_SHARD 在 forward 前 all-gather 收集什么？</a:t>
            </a:r>
            <a:endParaRPr sz="1800" b="1">
              <a:solidFill>
                <a:srgbClr val="111111"/>
              </a:solidFill>
              <a:latin typeface="Times New Roman" panose="02020503050405090304"/>
              <a:ea typeface="微软雅黑"/>
              <a:cs typeface="Times New Roman" panose="02020503050405090304"/>
            </a:endParaRPr>
          </a:p>
        </p:txBody>
      </p:sp>
      <p:sp>
        <p:nvSpPr>
          <p:cNvPr id="26" name="q3-option0"/>
          <p:cNvSpPr>
            <a:spLocks noGrp="1"/>
          </p:cNvSpPr>
          <p:nvPr/>
        </p:nvSpPr>
        <p:spPr>
          <a:xfrm>
            <a:off x="1495425" y="3762375"/>
            <a:ext cx="4867275" cy="495300"/>
          </a:xfrm>
          <a:prstGeom prst="rect">
            <a:avLst/>
          </a:prstGeom>
          <a:noFill/>
          <a:ln w="0">
            <a:noFill/>
          </a:ln>
        </p:spPr>
        <p:txBody>
          <a:bodyPr wrap="none" lIns="0" tIns="0" rIns="0" bIns="0" anchor="t">
            <a:noAutofit/>
          </a:bodyPr>
          <a:lstStyle/>
          <a:p>
            <a:pPr algn="l">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A. </a:t>
            </a:r>
            <a:r>
              <a:rPr lang="zh-CN" sz="1650" b="0">
                <a:solidFill>
                  <a:srgbClr val="111111"/>
                </a:solidFill>
                <a:latin typeface="Times New Roman" panose="02020503050405090304"/>
                <a:ea typeface="微软雅黑"/>
                <a:cs typeface="Times New Roman" panose="02020503050405090304"/>
              </a:rPr>
              <a:t>当前</a:t>
            </a:r>
            <a:r>
              <a:rPr lang="zh-CN" altLang="en-US" sz="1650" b="0">
                <a:solidFill>
                  <a:srgbClr val="111111"/>
                </a:solidFill>
                <a:latin typeface="Times New Roman" panose="02020503050405090304"/>
                <a:ea typeface="微软雅黑"/>
                <a:cs typeface="Times New Roman" panose="02020503050405090304"/>
              </a:rPr>
              <a:t>计算单元的完整参数，由各卡的参数</a:t>
            </a:r>
            <a:endParaRPr lang="zh-CN" altLang="en-US" sz="1650" b="0">
              <a:solidFill>
                <a:srgbClr val="111111"/>
              </a:solidFill>
              <a:latin typeface="Times New Roman" panose="02020503050405090304"/>
              <a:ea typeface="微软雅黑"/>
              <a:cs typeface="Times New Roman" panose="02020503050405090304"/>
            </a:endParaRPr>
          </a:p>
          <a:p>
            <a:pPr algn="l">
              <a:lnSpc>
                <a:spcPct val="108000"/>
              </a:lnSpc>
              <a:buNone/>
              <a:defRPr sz="1650" b="0">
                <a:solidFill>
                  <a:srgbClr val="111111"/>
                </a:solidFill>
                <a:latin typeface="Times New Roman" panose="02020503050405090304"/>
                <a:ea typeface="微软雅黑"/>
                <a:cs typeface="Times New Roman" panose="02020503050405090304"/>
              </a:defRPr>
            </a:pPr>
            <a:r>
              <a:rPr lang="en-US" altLang="zh-CN" sz="1650" b="0">
                <a:solidFill>
                  <a:srgbClr val="111111"/>
                </a:solidFill>
                <a:latin typeface="Times New Roman" panose="02020503050405090304"/>
                <a:ea typeface="微软雅黑"/>
                <a:cs typeface="Times New Roman" panose="02020503050405090304"/>
              </a:rPr>
              <a:t>     </a:t>
            </a:r>
            <a:r>
              <a:rPr lang="zh-CN" altLang="en-US" sz="1650" b="0">
                <a:solidFill>
                  <a:srgbClr val="111111"/>
                </a:solidFill>
                <a:latin typeface="Times New Roman" panose="02020503050405090304"/>
                <a:ea typeface="微软雅黑"/>
                <a:cs typeface="Times New Roman" panose="02020503050405090304"/>
              </a:rPr>
              <a:t>分片聚合得到。</a:t>
            </a:r>
            <a:endParaRPr lang="zh-CN" altLang="en-US" sz="1650" b="0">
              <a:solidFill>
                <a:srgbClr val="111111"/>
              </a:solidFill>
              <a:latin typeface="Times New Roman" panose="02020503050405090304"/>
              <a:ea typeface="微软雅黑"/>
              <a:cs typeface="Times New Roman" panose="02020503050405090304"/>
            </a:endParaRPr>
          </a:p>
        </p:txBody>
      </p:sp>
      <p:sp>
        <p:nvSpPr>
          <p:cNvPr id="27" name="q3-option1"/>
          <p:cNvSpPr>
            <a:spLocks noGrp="1"/>
          </p:cNvSpPr>
          <p:nvPr/>
        </p:nvSpPr>
        <p:spPr>
          <a:xfrm>
            <a:off x="6505575" y="376237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B. 所有训练数据</a:t>
            </a:r>
            <a:endParaRPr sz="1650" b="0">
              <a:solidFill>
                <a:srgbClr val="111111"/>
              </a:solidFill>
              <a:latin typeface="Times New Roman" panose="02020503050405090304"/>
              <a:ea typeface="微软雅黑"/>
              <a:cs typeface="Times New Roman" panose="02020503050405090304"/>
            </a:endParaRPr>
          </a:p>
        </p:txBody>
      </p:sp>
      <p:sp>
        <p:nvSpPr>
          <p:cNvPr id="28" name="q3-option2"/>
          <p:cNvSpPr>
            <a:spLocks noGrp="1"/>
          </p:cNvSpPr>
          <p:nvPr/>
        </p:nvSpPr>
        <p:spPr>
          <a:xfrm>
            <a:off x="1495425" y="432054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C. 全部 optimizer state</a:t>
            </a:r>
            <a:endParaRPr sz="1650" b="0">
              <a:solidFill>
                <a:srgbClr val="111111"/>
              </a:solidFill>
              <a:latin typeface="Times New Roman" panose="02020503050405090304"/>
              <a:ea typeface="微软雅黑"/>
              <a:cs typeface="Times New Roman" panose="02020503050405090304"/>
            </a:endParaRPr>
          </a:p>
        </p:txBody>
      </p:sp>
      <p:sp>
        <p:nvSpPr>
          <p:cNvPr id="29" name="q3-option3"/>
          <p:cNvSpPr>
            <a:spLocks noGrp="1"/>
          </p:cNvSpPr>
          <p:nvPr/>
        </p:nvSpPr>
        <p:spPr>
          <a:xfrm>
            <a:off x="6543675" y="432054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D. profiler trace</a:t>
            </a:r>
            <a:endParaRPr sz="1650" b="0">
              <a:solidFill>
                <a:srgbClr val="111111"/>
              </a:solidFill>
              <a:latin typeface="Times New Roman" panose="02020503050405090304"/>
              <a:ea typeface="微软雅黑"/>
              <a:cs typeface="Times New Roman" panose="02020503050405090304"/>
            </a:endParaRPr>
          </a:p>
        </p:txBody>
      </p:sp>
      <p:sp>
        <p:nvSpPr>
          <p:cNvPr id="30" name="q4-label"/>
          <p:cNvSpPr>
            <a:spLocks noGrp="1"/>
          </p:cNvSpPr>
          <p:nvPr/>
        </p:nvSpPr>
        <p:spPr>
          <a:xfrm>
            <a:off x="609600" y="4686300"/>
            <a:ext cx="704850" cy="400050"/>
          </a:xfrm>
          <a:prstGeom prst="roundRect">
            <a:avLst>
              <a:gd name="adj" fmla="val 35714"/>
            </a:avLst>
          </a:prstGeom>
          <a:solidFill>
            <a:srgbClr val="C7E1FF"/>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Q4</a:t>
            </a:r>
            <a:endParaRPr sz="2175" b="1">
              <a:solidFill>
                <a:srgbClr val="111111"/>
              </a:solidFill>
              <a:latin typeface="Times New Roman" panose="02020503050405090304"/>
              <a:ea typeface="微软雅黑"/>
              <a:cs typeface="Times New Roman" panose="02020503050405090304"/>
            </a:endParaRPr>
          </a:p>
        </p:txBody>
      </p:sp>
      <p:sp>
        <p:nvSpPr>
          <p:cNvPr id="31" name="q4-stem"/>
          <p:cNvSpPr>
            <a:spLocks noGrp="1"/>
          </p:cNvSpPr>
          <p:nvPr/>
        </p:nvSpPr>
        <p:spPr>
          <a:xfrm>
            <a:off x="1495425" y="4695825"/>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【单选】backward 中，reduce-scatter 完成什么？</a:t>
            </a:r>
            <a:endParaRPr sz="1800" b="1">
              <a:solidFill>
                <a:srgbClr val="111111"/>
              </a:solidFill>
              <a:latin typeface="Times New Roman" panose="02020503050405090304"/>
              <a:ea typeface="微软雅黑"/>
              <a:cs typeface="Times New Roman" panose="02020503050405090304"/>
            </a:endParaRPr>
          </a:p>
        </p:txBody>
      </p:sp>
      <p:sp>
        <p:nvSpPr>
          <p:cNvPr id="32" name="q4-option0"/>
          <p:cNvSpPr>
            <a:spLocks noGrp="1"/>
          </p:cNvSpPr>
          <p:nvPr/>
        </p:nvSpPr>
        <p:spPr>
          <a:xfrm>
            <a:off x="1495425" y="534352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A. 归约梯度贡献，每个 rank 保留梯度分片</a:t>
            </a:r>
            <a:endParaRPr sz="1650" b="0">
              <a:solidFill>
                <a:srgbClr val="111111"/>
              </a:solidFill>
              <a:latin typeface="Times New Roman" panose="02020503050405090304"/>
              <a:ea typeface="微软雅黑"/>
              <a:cs typeface="Times New Roman" panose="02020503050405090304"/>
            </a:endParaRPr>
          </a:p>
        </p:txBody>
      </p:sp>
      <p:sp>
        <p:nvSpPr>
          <p:cNvPr id="33" name="q4-option1"/>
          <p:cNvSpPr>
            <a:spLocks noGrp="1"/>
          </p:cNvSpPr>
          <p:nvPr/>
        </p:nvSpPr>
        <p:spPr>
          <a:xfrm>
            <a:off x="6505575" y="534352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B. 把完整模型复制到每个 rank</a:t>
            </a:r>
            <a:endParaRPr sz="1650" b="0">
              <a:solidFill>
                <a:srgbClr val="111111"/>
              </a:solidFill>
              <a:latin typeface="Times New Roman" panose="02020503050405090304"/>
              <a:ea typeface="微软雅黑"/>
              <a:cs typeface="Times New Roman" panose="02020503050405090304"/>
            </a:endParaRPr>
          </a:p>
        </p:txBody>
      </p:sp>
      <p:sp>
        <p:nvSpPr>
          <p:cNvPr id="34" name="q4-option2"/>
          <p:cNvSpPr>
            <a:spLocks noGrp="1"/>
          </p:cNvSpPr>
          <p:nvPr/>
        </p:nvSpPr>
        <p:spPr>
          <a:xfrm>
            <a:off x="1495425" y="575310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C. 下载 checkpoint</a:t>
            </a:r>
            <a:endParaRPr sz="1650" b="0">
              <a:solidFill>
                <a:srgbClr val="111111"/>
              </a:solidFill>
              <a:latin typeface="Times New Roman" panose="02020503050405090304"/>
              <a:ea typeface="微软雅黑"/>
              <a:cs typeface="Times New Roman" panose="02020503050405090304"/>
            </a:endParaRPr>
          </a:p>
        </p:txBody>
      </p:sp>
      <p:sp>
        <p:nvSpPr>
          <p:cNvPr id="35" name="q4-option3"/>
          <p:cNvSpPr>
            <a:spLocks noGrp="1"/>
          </p:cNvSpPr>
          <p:nvPr/>
        </p:nvSpPr>
        <p:spPr>
          <a:xfrm>
            <a:off x="6505575" y="575310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D. 切分 input token</a:t>
            </a:r>
            <a:endParaRPr sz="1650" b="0">
              <a:solidFill>
                <a:srgbClr val="111111"/>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0"/>
                                        </p:tgtEl>
                                        <p:attrNameLst>
                                          <p:attrName>style.visibility</p:attrName>
                                        </p:attrNameLst>
                                      </p:cBhvr>
                                      <p:to>
                                        <p:strVal val="visible"/>
                                      </p:to>
                                    </p:set>
                                    <p:animEffect transition="in" filter="fade">
                                      <p:cBhvr>
                                        <p:cTn id="7" dur="350"/>
                                        <p:tgtEl>
                                          <p:spTgt spid="20"/>
                                        </p:tgtEl>
                                      </p:cBhvr>
                                    </p:animEffect>
                                  </p:childTnLst>
                                </p:cTn>
                              </p:par>
                              <p:par>
                                <p:cTn id="8" presetID="10" presetClass="entr" presetSubtype="0" fill="hold" grpId="0" nodeType="withEffect">
                                  <p:stCondLst>
                                    <p:cond delay="0"/>
                                  </p:stCondLst>
                                  <p:childTnLst>
                                    <p:set>
                                      <p:cBhvr>
                                        <p:cTn id="9" dur="1" fill="hold"/>
                                        <p:tgtEl>
                                          <p:spTgt spid="21"/>
                                        </p:tgtEl>
                                        <p:attrNameLst>
                                          <p:attrName>style.visibility</p:attrName>
                                        </p:attrNameLst>
                                      </p:cBhvr>
                                      <p:to>
                                        <p:strVal val="visible"/>
                                      </p:to>
                                    </p:set>
                                    <p:animEffect transition="in" filter="fade">
                                      <p:cBhvr>
                                        <p:cTn id="10" dur="35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22"/>
                                        </p:tgtEl>
                                        <p:attrNameLst>
                                          <p:attrName>style.visibility</p:attrName>
                                        </p:attrNameLst>
                                      </p:cBhvr>
                                      <p:to>
                                        <p:strVal val="visible"/>
                                      </p:to>
                                    </p:set>
                                    <p:animEffect transition="in" filter="fade">
                                      <p:cBhvr>
                                        <p:cTn id="15" dur="350"/>
                                        <p:tgtEl>
                                          <p:spTgt spid="22"/>
                                        </p:tgtEl>
                                      </p:cBhvr>
                                    </p:animEffect>
                                  </p:childTnLst>
                                </p:cTn>
                              </p:par>
                              <p:par>
                                <p:cTn id="16" presetID="10" presetClass="entr" presetSubtype="0" fill="hold" grpId="0" nodeType="withEffect">
                                  <p:stCondLst>
                                    <p:cond delay="0"/>
                                  </p:stCondLst>
                                  <p:childTnLst>
                                    <p:set>
                                      <p:cBhvr>
                                        <p:cTn id="17" dur="1" fill="hold"/>
                                        <p:tgtEl>
                                          <p:spTgt spid="23"/>
                                        </p:tgtEl>
                                        <p:attrNameLst>
                                          <p:attrName>style.visibility</p:attrName>
                                        </p:attrNameLst>
                                      </p:cBhvr>
                                      <p:to>
                                        <p:strVal val="visible"/>
                                      </p:to>
                                    </p:set>
                                    <p:animEffect transition="in" filter="fade">
                                      <p:cBhvr>
                                        <p:cTn id="18" dur="35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tgtEl>
                                          <p:spTgt spid="24"/>
                                        </p:tgtEl>
                                        <p:attrNameLst>
                                          <p:attrName>style.visibility</p:attrName>
                                        </p:attrNameLst>
                                      </p:cBhvr>
                                      <p:to>
                                        <p:strVal val="visible"/>
                                      </p:to>
                                    </p:set>
                                    <p:animEffect transition="in" filter="fade">
                                      <p:cBhvr>
                                        <p:cTn id="23" dur="350"/>
                                        <p:tgtEl>
                                          <p:spTgt spid="24"/>
                                        </p:tgtEl>
                                      </p:cBhvr>
                                    </p:animEffect>
                                  </p:childTnLst>
                                </p:cTn>
                              </p:par>
                              <p:par>
                                <p:cTn id="24" presetID="10" presetClass="entr" presetSubtype="0" fill="hold" grpId="0" nodeType="withEffect">
                                  <p:stCondLst>
                                    <p:cond delay="0"/>
                                  </p:stCondLst>
                                  <p:childTnLst>
                                    <p:set>
                                      <p:cBhvr>
                                        <p:cTn id="25" dur="1" fill="hold"/>
                                        <p:tgtEl>
                                          <p:spTgt spid="25"/>
                                        </p:tgtEl>
                                        <p:attrNameLst>
                                          <p:attrName>style.visibility</p:attrName>
                                        </p:attrNameLst>
                                      </p:cBhvr>
                                      <p:to>
                                        <p:strVal val="visible"/>
                                      </p:to>
                                    </p:set>
                                    <p:animEffect transition="in" filter="fade">
                                      <p:cBhvr>
                                        <p:cTn id="26" dur="350"/>
                                        <p:tgtEl>
                                          <p:spTgt spid="25"/>
                                        </p:tgtEl>
                                      </p:cBhvr>
                                    </p:animEffect>
                                  </p:childTnLst>
                                </p:cTn>
                              </p:par>
                              <p:par>
                                <p:cTn id="27" presetID="10" presetClass="entr" presetSubtype="0" fill="hold" grpId="0" nodeType="withEffect">
                                  <p:stCondLst>
                                    <p:cond delay="0"/>
                                  </p:stCondLst>
                                  <p:childTnLst>
                                    <p:set>
                                      <p:cBhvr>
                                        <p:cTn id="28" dur="1" fill="hold"/>
                                        <p:tgtEl>
                                          <p:spTgt spid="26"/>
                                        </p:tgtEl>
                                        <p:attrNameLst>
                                          <p:attrName>style.visibility</p:attrName>
                                        </p:attrNameLst>
                                      </p:cBhvr>
                                      <p:to>
                                        <p:strVal val="visible"/>
                                      </p:to>
                                    </p:set>
                                    <p:animEffect transition="in" filter="fade">
                                      <p:cBhvr>
                                        <p:cTn id="29" dur="350"/>
                                        <p:tgtEl>
                                          <p:spTgt spid="26"/>
                                        </p:tgtEl>
                                      </p:cBhvr>
                                    </p:animEffect>
                                  </p:childTnLst>
                                </p:cTn>
                              </p:par>
                              <p:par>
                                <p:cTn id="30" presetID="10" presetClass="entr" presetSubtype="0" fill="hold" grpId="0" nodeType="withEffect">
                                  <p:stCondLst>
                                    <p:cond delay="0"/>
                                  </p:stCondLst>
                                  <p:childTnLst>
                                    <p:set>
                                      <p:cBhvr>
                                        <p:cTn id="31" dur="1" fill="hold"/>
                                        <p:tgtEl>
                                          <p:spTgt spid="27"/>
                                        </p:tgtEl>
                                        <p:attrNameLst>
                                          <p:attrName>style.visibility</p:attrName>
                                        </p:attrNameLst>
                                      </p:cBhvr>
                                      <p:to>
                                        <p:strVal val="visible"/>
                                      </p:to>
                                    </p:set>
                                    <p:animEffect transition="in" filter="fade">
                                      <p:cBhvr>
                                        <p:cTn id="32" dur="350"/>
                                        <p:tgtEl>
                                          <p:spTgt spid="27"/>
                                        </p:tgtEl>
                                      </p:cBhvr>
                                    </p:animEffect>
                                  </p:childTnLst>
                                </p:cTn>
                              </p:par>
                              <p:par>
                                <p:cTn id="33" presetID="10" presetClass="entr" presetSubtype="0" fill="hold" grpId="0" nodeType="withEffect">
                                  <p:stCondLst>
                                    <p:cond delay="0"/>
                                  </p:stCondLst>
                                  <p:childTnLst>
                                    <p:set>
                                      <p:cBhvr>
                                        <p:cTn id="34" dur="1" fill="hold"/>
                                        <p:tgtEl>
                                          <p:spTgt spid="28"/>
                                        </p:tgtEl>
                                        <p:attrNameLst>
                                          <p:attrName>style.visibility</p:attrName>
                                        </p:attrNameLst>
                                      </p:cBhvr>
                                      <p:to>
                                        <p:strVal val="visible"/>
                                      </p:to>
                                    </p:set>
                                    <p:animEffect transition="in" filter="fade">
                                      <p:cBhvr>
                                        <p:cTn id="35" dur="350"/>
                                        <p:tgtEl>
                                          <p:spTgt spid="28"/>
                                        </p:tgtEl>
                                      </p:cBhvr>
                                    </p:animEffect>
                                  </p:childTnLst>
                                </p:cTn>
                              </p:par>
                              <p:par>
                                <p:cTn id="36" presetID="10" presetClass="entr" presetSubtype="0" fill="hold" grpId="0" nodeType="withEffect">
                                  <p:stCondLst>
                                    <p:cond delay="0"/>
                                  </p:stCondLst>
                                  <p:childTnLst>
                                    <p:set>
                                      <p:cBhvr>
                                        <p:cTn id="37" dur="1" fill="hold"/>
                                        <p:tgtEl>
                                          <p:spTgt spid="29"/>
                                        </p:tgtEl>
                                        <p:attrNameLst>
                                          <p:attrName>style.visibility</p:attrName>
                                        </p:attrNameLst>
                                      </p:cBhvr>
                                      <p:to>
                                        <p:strVal val="visible"/>
                                      </p:to>
                                    </p:set>
                                    <p:animEffect transition="in" filter="fade">
                                      <p:cBhvr>
                                        <p:cTn id="38" dur="35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tgtEl>
                                          <p:spTgt spid="30"/>
                                        </p:tgtEl>
                                        <p:attrNameLst>
                                          <p:attrName>style.visibility</p:attrName>
                                        </p:attrNameLst>
                                      </p:cBhvr>
                                      <p:to>
                                        <p:strVal val="visible"/>
                                      </p:to>
                                    </p:set>
                                    <p:animEffect transition="in" filter="fade">
                                      <p:cBhvr>
                                        <p:cTn id="43" dur="350"/>
                                        <p:tgtEl>
                                          <p:spTgt spid="30"/>
                                        </p:tgtEl>
                                      </p:cBhvr>
                                    </p:animEffect>
                                  </p:childTnLst>
                                </p:cTn>
                              </p:par>
                              <p:par>
                                <p:cTn id="44" presetID="10" presetClass="entr" presetSubtype="0" fill="hold" grpId="0" nodeType="withEffect">
                                  <p:stCondLst>
                                    <p:cond delay="0"/>
                                  </p:stCondLst>
                                  <p:childTnLst>
                                    <p:set>
                                      <p:cBhvr>
                                        <p:cTn id="45" dur="1" fill="hold"/>
                                        <p:tgtEl>
                                          <p:spTgt spid="31"/>
                                        </p:tgtEl>
                                        <p:attrNameLst>
                                          <p:attrName>style.visibility</p:attrName>
                                        </p:attrNameLst>
                                      </p:cBhvr>
                                      <p:to>
                                        <p:strVal val="visible"/>
                                      </p:to>
                                    </p:set>
                                    <p:animEffect transition="in" filter="fade">
                                      <p:cBhvr>
                                        <p:cTn id="46" dur="350"/>
                                        <p:tgtEl>
                                          <p:spTgt spid="31"/>
                                        </p:tgtEl>
                                      </p:cBhvr>
                                    </p:animEffect>
                                  </p:childTnLst>
                                </p:cTn>
                              </p:par>
                              <p:par>
                                <p:cTn id="47" presetID="10" presetClass="entr" presetSubtype="0" fill="hold" grpId="0" nodeType="withEffect">
                                  <p:stCondLst>
                                    <p:cond delay="0"/>
                                  </p:stCondLst>
                                  <p:childTnLst>
                                    <p:set>
                                      <p:cBhvr>
                                        <p:cTn id="48" dur="1" fill="hold"/>
                                        <p:tgtEl>
                                          <p:spTgt spid="32"/>
                                        </p:tgtEl>
                                        <p:attrNameLst>
                                          <p:attrName>style.visibility</p:attrName>
                                        </p:attrNameLst>
                                      </p:cBhvr>
                                      <p:to>
                                        <p:strVal val="visible"/>
                                      </p:to>
                                    </p:set>
                                    <p:animEffect transition="in" filter="fade">
                                      <p:cBhvr>
                                        <p:cTn id="49" dur="350"/>
                                        <p:tgtEl>
                                          <p:spTgt spid="32"/>
                                        </p:tgtEl>
                                      </p:cBhvr>
                                    </p:animEffect>
                                  </p:childTnLst>
                                </p:cTn>
                              </p:par>
                              <p:par>
                                <p:cTn id="50" presetID="10" presetClass="entr" presetSubtype="0" fill="hold" grpId="0" nodeType="withEffect">
                                  <p:stCondLst>
                                    <p:cond delay="0"/>
                                  </p:stCondLst>
                                  <p:childTnLst>
                                    <p:set>
                                      <p:cBhvr>
                                        <p:cTn id="51" dur="1" fill="hold"/>
                                        <p:tgtEl>
                                          <p:spTgt spid="33"/>
                                        </p:tgtEl>
                                        <p:attrNameLst>
                                          <p:attrName>style.visibility</p:attrName>
                                        </p:attrNameLst>
                                      </p:cBhvr>
                                      <p:to>
                                        <p:strVal val="visible"/>
                                      </p:to>
                                    </p:set>
                                    <p:animEffect transition="in" filter="fade">
                                      <p:cBhvr>
                                        <p:cTn id="52" dur="350"/>
                                        <p:tgtEl>
                                          <p:spTgt spid="33"/>
                                        </p:tgtEl>
                                      </p:cBhvr>
                                    </p:animEffect>
                                  </p:childTnLst>
                                </p:cTn>
                              </p:par>
                              <p:par>
                                <p:cTn id="53" presetID="10" presetClass="entr" presetSubtype="0" fill="hold" grpId="0" nodeType="withEffect">
                                  <p:stCondLst>
                                    <p:cond delay="0"/>
                                  </p:stCondLst>
                                  <p:childTnLst>
                                    <p:set>
                                      <p:cBhvr>
                                        <p:cTn id="54" dur="1" fill="hold"/>
                                        <p:tgtEl>
                                          <p:spTgt spid="34"/>
                                        </p:tgtEl>
                                        <p:attrNameLst>
                                          <p:attrName>style.visibility</p:attrName>
                                        </p:attrNameLst>
                                      </p:cBhvr>
                                      <p:to>
                                        <p:strVal val="visible"/>
                                      </p:to>
                                    </p:set>
                                    <p:animEffect transition="in" filter="fade">
                                      <p:cBhvr>
                                        <p:cTn id="55" dur="350"/>
                                        <p:tgtEl>
                                          <p:spTgt spid="34"/>
                                        </p:tgtEl>
                                      </p:cBhvr>
                                    </p:animEffect>
                                  </p:childTnLst>
                                </p:cTn>
                              </p:par>
                              <p:par>
                                <p:cTn id="56" presetID="10" presetClass="entr" presetSubtype="0" fill="hold" grpId="0" nodeType="withEffect">
                                  <p:stCondLst>
                                    <p:cond delay="0"/>
                                  </p:stCondLst>
                                  <p:childTnLst>
                                    <p:set>
                                      <p:cBhvr>
                                        <p:cTn id="57" dur="1" fill="hold"/>
                                        <p:tgtEl>
                                          <p:spTgt spid="35"/>
                                        </p:tgtEl>
                                        <p:attrNameLst>
                                          <p:attrName>style.visibility</p:attrName>
                                        </p:attrNameLst>
                                      </p:cBhvr>
                                      <p:to>
                                        <p:strVal val="visible"/>
                                      </p:to>
                                    </p:set>
                                    <p:animEffect transition="in" filter="fade">
                                      <p:cBhvr>
                                        <p:cTn id="58" dur="3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a:spLocks noGrp="1"/>
          </p:cNvSpPr>
          <p:nvPr/>
        </p:nvSpPr>
        <p:spPr>
          <a:xfrm>
            <a:off x="547073" y="2601035"/>
            <a:ext cx="3380868" cy="835742"/>
          </a:xfrm>
          <a:prstGeom prst="rect">
            <a:avLst/>
          </a:prstGeom>
          <a:solidFill>
            <a:srgbClr val="FFFFFF"/>
          </a:solidFill>
          <a:ln w="12700" cmpd="sng">
            <a:noFill/>
            <a:prstDash val="solid"/>
          </a:ln>
        </p:spPr>
        <p:txBody>
          <a:bodyPr anchor="ctr"/>
          <a:lstStyle/>
          <a:p>
            <a:pPr marL="0" indent="0" algn="ctr">
              <a:lnSpc>
                <a:spcPct val="100000"/>
              </a:lnSpc>
              <a:spcBef>
                <a:spcPts val="0"/>
              </a:spcBef>
              <a:spcAft>
                <a:spcPts val="0"/>
              </a:spcAft>
              <a:buNone/>
            </a:pPr>
            <a:r>
              <a:rPr lang="en-US" sz="4000" b="0" i="0" u="none" cap="none">
                <a:ln>
                  <a:noFill/>
                </a:ln>
                <a:solidFill>
                  <a:srgbClr val="DDDDDD">
                    <a:lumMod val="50000"/>
                  </a:srgbClr>
                </a:solidFill>
                <a:latin typeface="Times New Roman" panose="02020503050405090304"/>
                <a:ea typeface="微软雅黑"/>
                <a:cs typeface="Times New Roman" panose="02020503050405090304"/>
              </a:rPr>
              <a:t>SFT</a:t>
            </a:r>
            <a:r>
              <a:rPr sz="4000" b="0" i="0" u="none" cap="none">
                <a:ln>
                  <a:noFill/>
                </a:ln>
                <a:solidFill>
                  <a:srgbClr val="DDDDDD">
                    <a:lumMod val="50000"/>
                  </a:srgbClr>
                </a:solidFill>
                <a:latin typeface="Times New Roman" panose="02020503050405090304"/>
                <a:ea typeface="微软雅黑"/>
                <a:cs typeface="Times New Roman" panose="02020503050405090304"/>
              </a:rPr>
              <a:t> 初阶课程</a:t>
            </a:r>
            <a:endParaRPr sz="4000" b="0" i="0" u="none" cap="none">
              <a:ln>
                <a:noFill/>
              </a:ln>
              <a:solidFill>
                <a:srgbClr val="DDDDDD">
                  <a:lumMod val="50000"/>
                </a:srgbClr>
              </a:solidFill>
              <a:latin typeface="Times New Roman" panose="02020503050405090304"/>
              <a:ea typeface="微软雅黑"/>
              <a:cs typeface="Times New Roman" panose="02020503050405090304"/>
            </a:endParaRPr>
          </a:p>
        </p:txBody>
      </p:sp>
      <p:sp>
        <p:nvSpPr>
          <p:cNvPr id="15" name="í$ľidè"/>
          <p:cNvSpPr>
            <a:spLocks noGrp="1"/>
          </p:cNvSpPr>
          <p:nvPr/>
        </p:nvSpPr>
        <p:spPr>
          <a:xfrm>
            <a:off x="3956272" y="1890392"/>
            <a:ext cx="0" cy="2769071"/>
          </a:xfrm>
          <a:prstGeom prst="line">
            <a:avLst/>
          </a:prstGeom>
          <a:solidFill>
            <a:srgbClr val="FFCC00"/>
          </a:solidFill>
          <a:ln w="12700">
            <a:solidFill>
              <a:schemeClr val="bg1">
                <a:lumMod val="65000"/>
              </a:schemeClr>
            </a:solidFill>
            <a:prstDash val="solid"/>
            <a:headEnd type="none" w="med" len="med"/>
            <a:tailEnd type="none" w="med" len="med"/>
          </a:ln>
        </p:spPr>
      </p:sp>
      <p:pic>
        <p:nvPicPr>
          <p:cNvPr id="21" name="图片 7"/>
          <p:cNvPicPr>
            <a:picLocks noChangeAspect="1"/>
          </p:cNvPicPr>
          <p:nvPr/>
        </p:nvPicPr>
        <p:blipFill>
          <a:blip r:embed="rId1"/>
          <a:stretch>
            <a:fillRect/>
          </a:stretch>
        </p:blipFill>
        <p:spPr>
          <a:xfrm>
            <a:off x="10137202" y="6042990"/>
            <a:ext cx="1312676" cy="348426"/>
          </a:xfrm>
          <a:prstGeom prst="rect">
            <a:avLst/>
          </a:prstGeom>
        </p:spPr>
      </p:pic>
      <p:sp>
        <p:nvSpPr>
          <p:cNvPr id="17" name="文本框 16"/>
          <p:cNvSpPr>
            <a:spLocks noGrp="1"/>
          </p:cNvSpPr>
          <p:nvPr/>
        </p:nvSpPr>
        <p:spPr>
          <a:xfrm>
            <a:off x="620201" y="6130454"/>
            <a:ext cx="8763000" cy="246221"/>
          </a:xfrm>
          <a:prstGeom prst="rect">
            <a:avLst/>
          </a:prstGeom>
          <a:noFill/>
        </p:spPr>
        <p:txBody>
          <a:bodyPr wrap="none">
            <a:spAutoFit/>
          </a:bodyPr>
          <a:lstStyle/>
          <a:p>
            <a:pPr marL="0" indent="0" algn="l">
              <a:lnSpc>
                <a:spcPct val="100000"/>
              </a:lnSpc>
              <a:spcBef>
                <a:spcPts val="0"/>
              </a:spcBef>
              <a:spcAft>
                <a:spcPts val="0"/>
              </a:spcAft>
              <a:buNone/>
            </a:pPr>
            <a:r>
              <a:rPr sz="1000" b="0" i="0" u="none" cap="none">
                <a:ln>
                  <a:noFill/>
                </a:ln>
                <a:solidFill>
                  <a:prstClr val="white">
                    <a:lumMod val="50000"/>
                  </a:prstClr>
                </a:solidFill>
                <a:latin typeface="Times New Roman" panose="02020503050405090304"/>
                <a:ea typeface="微软雅黑"/>
                <a:cs typeface="Times New Roman" panose="02020503050405090304"/>
                <a:hlinkClick r:id="rId2"/>
              </a:rPr>
              <a:t>https://gitcode.com/cann/cann-learning-hub/tree/master/tutorials/sft_training_pipeline</a:t>
            </a:r>
            <a:endParaRPr sz="1000" b="0" i="0" u="none" cap="none">
              <a:ln>
                <a:noFill/>
              </a:ln>
              <a:solidFill>
                <a:prstClr val="white">
                  <a:lumMod val="50000"/>
                </a:prstClr>
              </a:solidFill>
              <a:latin typeface="Times New Roman" panose="02020503050405090304"/>
              <a:ea typeface="微软雅黑"/>
              <a:cs typeface="Times New Roman" panose="02020503050405090304"/>
            </a:endParaRPr>
          </a:p>
        </p:txBody>
      </p:sp>
      <p:sp>
        <p:nvSpPr>
          <p:cNvPr id="12" name="矩形 11"/>
          <p:cNvSpPr>
            <a:spLocks noGrp="1"/>
          </p:cNvSpPr>
          <p:nvPr/>
        </p:nvSpPr>
        <p:spPr>
          <a:xfrm>
            <a:off x="5157694" y="1530876"/>
            <a:ext cx="4587547" cy="596075"/>
          </a:xfrm>
          <a:prstGeom prst="rect">
            <a:avLst/>
          </a:prstGeom>
          <a:solidFill>
            <a:srgbClr val="F2F2F2"/>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1 </a:t>
            </a:r>
            <a:r>
              <a:rPr lang="en-US" sz="2400" b="0" i="0" u="none" cap="none">
                <a:ln>
                  <a:noFill/>
                </a:ln>
                <a:solidFill>
                  <a:srgbClr val="666666"/>
                </a:solidFill>
                <a:latin typeface="Times New Roman" panose="02020503050405090304"/>
                <a:ea typeface="微软雅黑"/>
                <a:cs typeface="Times New Roman" panose="02020503050405090304"/>
              </a:rPr>
              <a:t>SFT</a:t>
            </a:r>
            <a:r>
              <a:rPr lang="zh-CN" altLang="en-US" sz="2400" b="0" i="0" u="none" cap="none">
                <a:ln>
                  <a:noFill/>
                </a:ln>
                <a:solidFill>
                  <a:srgbClr val="666666"/>
                </a:solidFill>
                <a:latin typeface="Times New Roman" panose="02020503050405090304"/>
                <a:ea typeface="微软雅黑"/>
                <a:cs typeface="Times New Roman" panose="02020503050405090304"/>
              </a:rPr>
              <a:t>概念与</a:t>
            </a:r>
            <a:r>
              <a:rPr lang="en-US" altLang="zh-CN" sz="2400" b="0" i="0" u="none" cap="none">
                <a:ln>
                  <a:noFill/>
                </a:ln>
                <a:solidFill>
                  <a:srgbClr val="666666"/>
                </a:solidFill>
                <a:latin typeface="Times New Roman" panose="02020503050405090304"/>
                <a:ea typeface="微软雅黑"/>
                <a:cs typeface="Times New Roman" panose="02020503050405090304"/>
              </a:rPr>
              <a:t>Wordle</a:t>
            </a:r>
            <a:r>
              <a:rPr lang="zh-CN" altLang="en-US" sz="2400" b="0" i="0" u="none" cap="none">
                <a:ln>
                  <a:noFill/>
                </a:ln>
                <a:solidFill>
                  <a:srgbClr val="666666"/>
                </a:solidFill>
                <a:latin typeface="Times New Roman" panose="02020503050405090304"/>
                <a:ea typeface="微软雅黑"/>
                <a:cs typeface="Times New Roman" panose="02020503050405090304"/>
              </a:rPr>
              <a:t>任务</a:t>
            </a:r>
            <a:endParaRPr lang="zh-CN" altLang="en-US" sz="2400" b="0" i="0" u="none" cap="none">
              <a:ln>
                <a:noFill/>
              </a:ln>
              <a:solidFill>
                <a:srgbClr val="666666"/>
              </a:solidFill>
              <a:latin typeface="Times New Roman" panose="02020503050405090304"/>
              <a:ea typeface="微软雅黑"/>
              <a:cs typeface="Times New Roman" panose="02020503050405090304"/>
            </a:endParaRPr>
          </a:p>
        </p:txBody>
      </p:sp>
      <p:sp>
        <p:nvSpPr>
          <p:cNvPr id="13" name="矩形 12"/>
          <p:cNvSpPr>
            <a:spLocks noGrp="1"/>
          </p:cNvSpPr>
          <p:nvPr/>
        </p:nvSpPr>
        <p:spPr>
          <a:xfrm>
            <a:off x="5157694" y="2680975"/>
            <a:ext cx="4587549" cy="591795"/>
          </a:xfrm>
          <a:prstGeom prst="rect">
            <a:avLst/>
          </a:prstGeom>
          <a:solidFill>
            <a:srgbClr val="FFFFFF">
              <a:lumMod val="95000"/>
            </a:srgbClr>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2 </a:t>
            </a:r>
            <a:r>
              <a:rPr lang="en-US" sz="2400" b="0" i="0" u="none" cap="none">
                <a:ln>
                  <a:noFill/>
                </a:ln>
                <a:solidFill>
                  <a:srgbClr val="666666"/>
                </a:solidFill>
                <a:latin typeface="Times New Roman" panose="02020503050405090304"/>
                <a:ea typeface="微软雅黑"/>
                <a:cs typeface="Times New Roman" panose="02020503050405090304"/>
              </a:rPr>
              <a:t>TorchTitan</a:t>
            </a:r>
            <a:r>
              <a:rPr lang="zh-CN" altLang="en-US" sz="2400" b="0" i="0" u="none" cap="none">
                <a:ln>
                  <a:noFill/>
                </a:ln>
                <a:solidFill>
                  <a:srgbClr val="666666"/>
                </a:solidFill>
                <a:latin typeface="Times New Roman" panose="02020503050405090304"/>
                <a:ea typeface="微软雅黑"/>
                <a:cs typeface="Times New Roman" panose="02020503050405090304"/>
              </a:rPr>
              <a:t>框架</a:t>
            </a:r>
            <a:r>
              <a:rPr lang="zh-CN" altLang="en-US" sz="2400" b="0" i="0" u="none" cap="none">
                <a:ln>
                  <a:noFill/>
                </a:ln>
                <a:solidFill>
                  <a:srgbClr val="666666"/>
                </a:solidFill>
                <a:latin typeface="Times New Roman" panose="02020503050405090304"/>
                <a:ea typeface="微软雅黑"/>
                <a:cs typeface="Times New Roman" panose="02020503050405090304"/>
              </a:rPr>
              <a:t>概述</a:t>
            </a:r>
            <a:endParaRPr lang="zh-CN" altLang="en-US" sz="2400" b="0" i="0" u="none" cap="none">
              <a:ln>
                <a:noFill/>
              </a:ln>
              <a:solidFill>
                <a:srgbClr val="666666"/>
              </a:solidFill>
              <a:latin typeface="Times New Roman" panose="02020503050405090304"/>
              <a:ea typeface="微软雅黑"/>
              <a:cs typeface="Times New Roman" panose="02020503050405090304"/>
            </a:endParaRPr>
          </a:p>
        </p:txBody>
      </p:sp>
      <p:sp>
        <p:nvSpPr>
          <p:cNvPr id="14" name="矩形 13"/>
          <p:cNvSpPr>
            <a:spLocks noGrp="1"/>
          </p:cNvSpPr>
          <p:nvPr/>
        </p:nvSpPr>
        <p:spPr>
          <a:xfrm>
            <a:off x="5157694" y="3712434"/>
            <a:ext cx="4587551" cy="587513"/>
          </a:xfrm>
          <a:prstGeom prst="rect">
            <a:avLst/>
          </a:prstGeom>
          <a:solidFill>
            <a:srgbClr val="C00000"/>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chemeClr val="bg1"/>
                </a:solidFill>
                <a:latin typeface="Times New Roman" panose="02020503050405090304"/>
                <a:ea typeface="微软雅黑"/>
                <a:cs typeface="Times New Roman" panose="02020503050405090304"/>
              </a:rPr>
              <a:t>Part 3 </a:t>
            </a:r>
            <a:r>
              <a:rPr lang="zh-CN" sz="2400" b="0" i="0" u="none" cap="none">
                <a:ln>
                  <a:noFill/>
                </a:ln>
                <a:solidFill>
                  <a:schemeClr val="bg1"/>
                </a:solidFill>
                <a:latin typeface="Times New Roman" panose="02020503050405090304"/>
                <a:ea typeface="微软雅黑"/>
                <a:cs typeface="Times New Roman" panose="02020503050405090304"/>
              </a:rPr>
              <a:t>训练配置与基线</a:t>
            </a:r>
            <a:r>
              <a:rPr lang="zh-CN" sz="2400" b="0" i="0" u="none" cap="none">
                <a:ln>
                  <a:noFill/>
                </a:ln>
                <a:solidFill>
                  <a:schemeClr val="bg1"/>
                </a:solidFill>
                <a:latin typeface="Times New Roman" panose="02020503050405090304"/>
                <a:ea typeface="微软雅黑"/>
                <a:cs typeface="Times New Roman" panose="02020503050405090304"/>
              </a:rPr>
              <a:t>训练</a:t>
            </a:r>
            <a:endParaRPr lang="zh-CN" sz="2400" b="0" i="0" u="none" cap="none">
              <a:ln>
                <a:noFill/>
              </a:ln>
              <a:solidFill>
                <a:schemeClr val="bg1"/>
              </a:solidFill>
              <a:latin typeface="Times New Roman" panose="02020503050405090304"/>
              <a:ea typeface="微软雅黑"/>
              <a:cs typeface="Times New Roman" panose="02020503050405090304"/>
            </a:endParaRPr>
          </a:p>
        </p:txBody>
      </p:sp>
      <p:sp>
        <p:nvSpPr>
          <p:cNvPr id="7" name="矩形 6"/>
          <p:cNvSpPr>
            <a:spLocks noGrp="1"/>
          </p:cNvSpPr>
          <p:nvPr/>
        </p:nvSpPr>
        <p:spPr>
          <a:xfrm>
            <a:off x="5157694" y="4739611"/>
            <a:ext cx="4587553" cy="587513"/>
          </a:xfrm>
          <a:prstGeom prst="rect">
            <a:avLst/>
          </a:prstGeom>
          <a:solidFill>
            <a:srgbClr val="F2F2F2"/>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4 </a:t>
            </a:r>
            <a:r>
              <a:rPr lang="zh-CN" sz="2400">
                <a:ln>
                  <a:noFill/>
                </a:ln>
                <a:solidFill>
                  <a:srgbClr val="666666"/>
                </a:solidFill>
                <a:sym typeface="+mn-ea"/>
              </a:rPr>
              <a:t>融合算子优化与</a:t>
            </a:r>
            <a:r>
              <a:rPr lang="en-US" altLang="zh-CN" sz="2400">
                <a:ln>
                  <a:noFill/>
                </a:ln>
                <a:solidFill>
                  <a:srgbClr val="666666"/>
                </a:solidFill>
                <a:sym typeface="+mn-ea"/>
              </a:rPr>
              <a:t>Profiling</a:t>
            </a:r>
            <a:endParaRPr lang="zh-CN" sz="2400" b="0" i="0" u="none" cap="none">
              <a:ln>
                <a:noFill/>
              </a:ln>
              <a:solidFill>
                <a:srgbClr val="666666"/>
              </a:solidFill>
              <a:latin typeface="Times New Roman" panose="02020503050405090304"/>
              <a:ea typeface="微软雅黑"/>
              <a:cs typeface="Times New Roman" panose="020205030504050903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31"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训练配置与基线训练</a:t>
            </a:r>
            <a:endParaRPr sz="2700" b="1">
              <a:solidFill>
                <a:srgbClr val="111111"/>
              </a:solidFill>
              <a:latin typeface="Times New Roman" panose="02020503050405090304"/>
              <a:ea typeface="微软雅黑"/>
              <a:cs typeface="Times New Roman" panose="02020503050405090304"/>
            </a:endParaRPr>
          </a:p>
        </p:txBody>
      </p:sp>
      <p:sp>
        <p:nvSpPr>
          <p:cNvPr id="19" name="data-intro"/>
          <p:cNvSpPr>
            <a:spLocks noGrp="1"/>
          </p:cNvSpPr>
          <p:nvPr/>
        </p:nvSpPr>
        <p:spPr>
          <a:xfrm>
            <a:off x="742950" y="1104900"/>
            <a:ext cx="11049000" cy="400050"/>
          </a:xfrm>
          <a:prstGeom prst="rect">
            <a:avLst/>
          </a:prstGeom>
          <a:noFill/>
          <a:ln w="0">
            <a:noFill/>
          </a:ln>
        </p:spPr>
        <p:txBody>
          <a:bodyPr wrap="none" lIns="0" tIns="0" rIns="0" bIns="0" anchor="t">
            <a:noAutofit/>
          </a:bodyPr>
          <a:lstStyle/>
          <a:p>
            <a:pPr>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原始样本是一局多轮对话，模型从 assistant 的回复中学习。</a:t>
            </a:r>
            <a:endParaRPr sz="2000" b="0">
              <a:solidFill>
                <a:srgbClr val="111111"/>
              </a:solidFill>
              <a:latin typeface="Times New Roman" panose="02020503050405090304"/>
              <a:ea typeface="微软雅黑"/>
              <a:cs typeface="Times New Roman" panose="02020503050405090304"/>
            </a:endParaRPr>
          </a:p>
        </p:txBody>
      </p:sp>
      <p:sp>
        <p:nvSpPr>
          <p:cNvPr id="20" name="data-fields"/>
          <p:cNvSpPr>
            <a:spLocks noGrp="1"/>
          </p:cNvSpPr>
          <p:nvPr/>
        </p:nvSpPr>
        <p:spPr>
          <a:xfrm>
            <a:off x="742950" y="1571625"/>
            <a:ext cx="11049000" cy="323850"/>
          </a:xfrm>
          <a:prstGeom prst="rect">
            <a:avLst/>
          </a:prstGeom>
          <a:noFill/>
          <a:ln w="0">
            <a:noFill/>
          </a:ln>
        </p:spPr>
        <p:txBody>
          <a:bodyPr wrap="none" lIns="0" tIns="0" rIns="0" bIns="0" anchor="t">
            <a:noAutofit/>
          </a:bodyPr>
          <a:lstStyle/>
          <a:p>
            <a:pPr>
              <a:lnSpc>
                <a:spcPct val="108000"/>
              </a:lnSpc>
              <a:buNone/>
              <a:defRPr sz="1725" b="0">
                <a:solidFill>
                  <a:srgbClr val="111111"/>
                </a:solidFill>
                <a:latin typeface="Times New Roman" panose="02020503050405090304"/>
                <a:ea typeface="微软雅黑"/>
                <a:cs typeface="Times New Roman" panose="02020503050405090304"/>
              </a:defRPr>
            </a:pPr>
            <a:r>
              <a:rPr sz="1725" b="0">
                <a:solidFill>
                  <a:srgbClr val="111111"/>
                </a:solidFill>
                <a:latin typeface="Times New Roman" panose="02020503050405090304"/>
                <a:ea typeface="微软雅黑"/>
                <a:cs typeface="Times New Roman" panose="02020503050405090304"/>
              </a:rPr>
              <a:t>prompt + completion 组成训练对话，answer / reward / task 是元数据。</a:t>
            </a:r>
            <a:endParaRPr sz="1725" b="0">
              <a:solidFill>
                <a:srgbClr val="111111"/>
              </a:solidFill>
              <a:latin typeface="Times New Roman" panose="02020503050405090304"/>
              <a:ea typeface="微软雅黑"/>
              <a:cs typeface="Times New Roman" panose="02020503050405090304"/>
            </a:endParaRPr>
          </a:p>
        </p:txBody>
      </p:sp>
      <p:pic>
        <p:nvPicPr>
          <p:cNvPr id="36" name="data-pipeline"/>
          <p:cNvPicPr>
            <a:picLocks noChangeAspect="1"/>
          </p:cNvPicPr>
          <p:nvPr/>
        </p:nvPicPr>
        <p:blipFill>
          <a:blip r:embed="rId2"/>
          <a:srcRect t="12900" b="12900"/>
          <a:stretch>
            <a:fillRect/>
          </a:stretch>
        </p:blipFill>
        <p:spPr>
          <a:xfrm>
            <a:off x="742950" y="1981200"/>
            <a:ext cx="10706100" cy="2647950"/>
          </a:xfrm>
          <a:prstGeom prst="rect">
            <a:avLst/>
          </a:prstGeom>
        </p:spPr>
      </p:pic>
      <p:sp>
        <p:nvSpPr>
          <p:cNvPr id="22" name="messages-heading"/>
          <p:cNvSpPr>
            <a:spLocks noGrp="1"/>
          </p:cNvSpPr>
          <p:nvPr/>
        </p:nvSpPr>
        <p:spPr>
          <a:xfrm>
            <a:off x="742950" y="4629150"/>
            <a:ext cx="2571750" cy="342900"/>
          </a:xfrm>
          <a:prstGeom prst="rect">
            <a:avLst/>
          </a:prstGeom>
          <a:noFill/>
          <a:ln w="0">
            <a:noFill/>
          </a:ln>
        </p:spPr>
        <p:txBody>
          <a:bodyPr wrap="none" lIns="0" tIns="0" rIns="0" bIns="0" anchor="t">
            <a:noAutofit/>
          </a:bodyPr>
          <a:lstStyle/>
          <a:p>
            <a:pPr>
              <a:lnSpc>
                <a:spcPct val="108000"/>
              </a:lnSpc>
              <a:buNone/>
              <a:defRPr sz="1875" b="1">
                <a:solidFill>
                  <a:srgbClr val="357AE8"/>
                </a:solidFill>
                <a:latin typeface="Times New Roman" panose="02020503050405090304"/>
                <a:ea typeface="微软雅黑"/>
                <a:cs typeface="Times New Roman" panose="02020503050405090304"/>
              </a:defRPr>
            </a:pPr>
            <a:r>
              <a:rPr sz="1875" b="1">
                <a:solidFill>
                  <a:srgbClr val="357AE8"/>
                </a:solidFill>
                <a:latin typeface="Times New Roman" panose="02020503050405090304"/>
                <a:ea typeface="微软雅黑"/>
                <a:cs typeface="Times New Roman" panose="02020503050405090304"/>
              </a:rPr>
              <a:t>01  整理消息</a:t>
            </a:r>
            <a:endParaRPr sz="1875" b="1">
              <a:solidFill>
                <a:srgbClr val="357AE8"/>
              </a:solidFill>
              <a:latin typeface="Times New Roman" panose="02020503050405090304"/>
              <a:ea typeface="微软雅黑"/>
              <a:cs typeface="Times New Roman" panose="02020503050405090304"/>
            </a:endParaRPr>
          </a:p>
        </p:txBody>
      </p:sp>
      <p:sp>
        <p:nvSpPr>
          <p:cNvPr id="23" name="messages-body"/>
          <p:cNvSpPr>
            <a:spLocks noGrp="1"/>
          </p:cNvSpPr>
          <p:nvPr/>
        </p:nvSpPr>
        <p:spPr>
          <a:xfrm>
            <a:off x="742950" y="5067300"/>
            <a:ext cx="2647950" cy="609600"/>
          </a:xfrm>
          <a:prstGeom prst="rect">
            <a:avLst/>
          </a:prstGeom>
          <a:noFill/>
          <a:ln w="0">
            <a:noFill/>
          </a:ln>
        </p:spPr>
        <p:txBody>
          <a:bodyPr wrap="none" lIns="0" tIns="0" rIns="0" bIns="0" anchor="t">
            <a:noAutofit/>
          </a:bodyPr>
          <a:lstStyle/>
          <a:p>
            <a:pPr>
              <a:lnSpc>
                <a:spcPct val="108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chat_processor</a:t>
            </a:r>
            <a:endParaRPr sz="1575" b="0">
              <a:solidFill>
                <a:srgbClr val="111111"/>
              </a:solidFill>
              <a:latin typeface="Times New Roman" panose="02020503050405090304"/>
              <a:ea typeface="微软雅黑"/>
              <a:cs typeface="Times New Roman" panose="02020503050405090304"/>
            </a:endParaRPr>
          </a:p>
          <a:p>
            <a:pPr>
              <a:lnSpc>
                <a:spcPct val="108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连接多轮 role / content</a:t>
            </a:r>
            <a:endParaRPr sz="1575" b="0">
              <a:solidFill>
                <a:srgbClr val="111111"/>
              </a:solidFill>
              <a:latin typeface="Times New Roman" panose="02020503050405090304"/>
              <a:ea typeface="微软雅黑"/>
              <a:cs typeface="Times New Roman" panose="02020503050405090304"/>
            </a:endParaRPr>
          </a:p>
        </p:txBody>
      </p:sp>
      <p:sp>
        <p:nvSpPr>
          <p:cNvPr id="24" name="tokens-heading"/>
          <p:cNvSpPr>
            <a:spLocks noGrp="1"/>
          </p:cNvSpPr>
          <p:nvPr/>
        </p:nvSpPr>
        <p:spPr>
          <a:xfrm>
            <a:off x="3467100" y="4629150"/>
            <a:ext cx="2571750" cy="342900"/>
          </a:xfrm>
          <a:prstGeom prst="rect">
            <a:avLst/>
          </a:prstGeom>
          <a:noFill/>
          <a:ln w="0">
            <a:noFill/>
          </a:ln>
        </p:spPr>
        <p:txBody>
          <a:bodyPr wrap="none" lIns="0" tIns="0" rIns="0" bIns="0" anchor="t">
            <a:noAutofit/>
          </a:bodyPr>
          <a:lstStyle/>
          <a:p>
            <a:pPr>
              <a:lnSpc>
                <a:spcPct val="108000"/>
              </a:lnSpc>
              <a:buNone/>
              <a:defRPr sz="1875" b="1">
                <a:solidFill>
                  <a:srgbClr val="357AE8"/>
                </a:solidFill>
                <a:latin typeface="Times New Roman" panose="02020503050405090304"/>
                <a:ea typeface="微软雅黑"/>
                <a:cs typeface="Times New Roman" panose="02020503050405090304"/>
              </a:defRPr>
            </a:pPr>
            <a:r>
              <a:rPr sz="1875" b="1">
                <a:solidFill>
                  <a:srgbClr val="357AE8"/>
                </a:solidFill>
                <a:latin typeface="Times New Roman" panose="02020503050405090304"/>
                <a:ea typeface="微软雅黑"/>
                <a:cs typeface="Times New Roman" panose="02020503050405090304"/>
              </a:rPr>
              <a:t>02  转成 token</a:t>
            </a:r>
            <a:endParaRPr sz="1875" b="1">
              <a:solidFill>
                <a:srgbClr val="357AE8"/>
              </a:solidFill>
              <a:latin typeface="Times New Roman" panose="02020503050405090304"/>
              <a:ea typeface="微软雅黑"/>
              <a:cs typeface="Times New Roman" panose="02020503050405090304"/>
            </a:endParaRPr>
          </a:p>
        </p:txBody>
      </p:sp>
      <p:sp>
        <p:nvSpPr>
          <p:cNvPr id="25" name="tokens-body"/>
          <p:cNvSpPr>
            <a:spLocks noGrp="1"/>
          </p:cNvSpPr>
          <p:nvPr/>
        </p:nvSpPr>
        <p:spPr>
          <a:xfrm>
            <a:off x="3467100" y="5067300"/>
            <a:ext cx="2647950" cy="609600"/>
          </a:xfrm>
          <a:prstGeom prst="rect">
            <a:avLst/>
          </a:prstGeom>
          <a:noFill/>
          <a:ln w="0">
            <a:noFill/>
          </a:ln>
        </p:spPr>
        <p:txBody>
          <a:bodyPr wrap="none" lIns="0" tIns="0" rIns="0" bIns="0" anchor="t">
            <a:noAutofit/>
          </a:bodyPr>
          <a:lstStyle/>
          <a:p>
            <a:pPr>
              <a:lnSpc>
                <a:spcPct val="108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chat template 保留角色边界</a:t>
            </a:r>
            <a:endParaRPr sz="1575" b="0">
              <a:solidFill>
                <a:srgbClr val="111111"/>
              </a:solidFill>
              <a:latin typeface="Times New Roman" panose="02020503050405090304"/>
              <a:ea typeface="微软雅黑"/>
              <a:cs typeface="Times New Roman" panose="02020503050405090304"/>
            </a:endParaRPr>
          </a:p>
          <a:p>
            <a:pPr>
              <a:lnSpc>
                <a:spcPct val="108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tokenizer 编码为 token ID</a:t>
            </a:r>
            <a:endParaRPr sz="1575" b="0">
              <a:solidFill>
                <a:srgbClr val="111111"/>
              </a:solidFill>
              <a:latin typeface="Times New Roman" panose="02020503050405090304"/>
              <a:ea typeface="微软雅黑"/>
              <a:cs typeface="Times New Roman" panose="02020503050405090304"/>
            </a:endParaRPr>
          </a:p>
        </p:txBody>
      </p:sp>
      <p:sp>
        <p:nvSpPr>
          <p:cNvPr id="26" name="labels-heading"/>
          <p:cNvSpPr>
            <a:spLocks noGrp="1"/>
          </p:cNvSpPr>
          <p:nvPr/>
        </p:nvSpPr>
        <p:spPr>
          <a:xfrm>
            <a:off x="6191250" y="4629150"/>
            <a:ext cx="2571750" cy="342900"/>
          </a:xfrm>
          <a:prstGeom prst="rect">
            <a:avLst/>
          </a:prstGeom>
          <a:noFill/>
          <a:ln w="0">
            <a:noFill/>
          </a:ln>
        </p:spPr>
        <p:txBody>
          <a:bodyPr wrap="none" lIns="0" tIns="0" rIns="0" bIns="0" anchor="t">
            <a:noAutofit/>
          </a:bodyPr>
          <a:lstStyle/>
          <a:p>
            <a:pPr>
              <a:lnSpc>
                <a:spcPct val="108000"/>
              </a:lnSpc>
              <a:buNone/>
              <a:defRPr sz="1875" b="1">
                <a:solidFill>
                  <a:srgbClr val="E60012"/>
                </a:solidFill>
                <a:latin typeface="Times New Roman" panose="02020503050405090304"/>
                <a:ea typeface="微软雅黑"/>
                <a:cs typeface="Times New Roman" panose="02020503050405090304"/>
              </a:defRPr>
            </a:pPr>
            <a:r>
              <a:rPr sz="1875" b="1">
                <a:solidFill>
                  <a:srgbClr val="E60012"/>
                </a:solidFill>
                <a:latin typeface="Times New Roman" panose="02020503050405090304"/>
                <a:ea typeface="微软雅黑"/>
                <a:cs typeface="Times New Roman" panose="02020503050405090304"/>
              </a:rPr>
              <a:t>03  构造监督目标</a:t>
            </a:r>
            <a:endParaRPr sz="1875" b="1">
              <a:solidFill>
                <a:srgbClr val="E60012"/>
              </a:solidFill>
              <a:latin typeface="Times New Roman" panose="02020503050405090304"/>
              <a:ea typeface="微软雅黑"/>
              <a:cs typeface="Times New Roman" panose="02020503050405090304"/>
            </a:endParaRPr>
          </a:p>
        </p:txBody>
      </p:sp>
      <p:sp>
        <p:nvSpPr>
          <p:cNvPr id="27" name="labels-body"/>
          <p:cNvSpPr>
            <a:spLocks noGrp="1"/>
          </p:cNvSpPr>
          <p:nvPr/>
        </p:nvSpPr>
        <p:spPr>
          <a:xfrm>
            <a:off x="6191250" y="5067300"/>
            <a:ext cx="2647950" cy="609600"/>
          </a:xfrm>
          <a:prstGeom prst="rect">
            <a:avLst/>
          </a:prstGeom>
          <a:noFill/>
          <a:ln w="0">
            <a:noFill/>
          </a:ln>
        </p:spPr>
        <p:txBody>
          <a:bodyPr wrap="none" lIns="0" tIns="0" rIns="0" bIns="0" anchor="t">
            <a:noAutofit/>
          </a:bodyPr>
          <a:lstStyle/>
          <a:p>
            <a:pPr>
              <a:lnSpc>
                <a:spcPct val="108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label 对应下一个 token</a:t>
            </a:r>
            <a:endParaRPr sz="1575" b="0">
              <a:solidFill>
                <a:srgbClr val="111111"/>
              </a:solidFill>
              <a:latin typeface="Times New Roman" panose="02020503050405090304"/>
              <a:ea typeface="微软雅黑"/>
              <a:cs typeface="Times New Roman" panose="02020503050405090304"/>
            </a:endParaRPr>
          </a:p>
          <a:p>
            <a:pPr>
              <a:lnSpc>
                <a:spcPct val="108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非 assistant 目标设为 −100</a:t>
            </a:r>
            <a:endParaRPr sz="1575" b="0">
              <a:solidFill>
                <a:srgbClr val="111111"/>
              </a:solidFill>
              <a:latin typeface="Times New Roman" panose="02020503050405090304"/>
              <a:ea typeface="微软雅黑"/>
              <a:cs typeface="Times New Roman" panose="02020503050405090304"/>
            </a:endParaRPr>
          </a:p>
        </p:txBody>
      </p:sp>
      <p:sp>
        <p:nvSpPr>
          <p:cNvPr id="28" name="packing-heading"/>
          <p:cNvSpPr>
            <a:spLocks noGrp="1"/>
          </p:cNvSpPr>
          <p:nvPr/>
        </p:nvSpPr>
        <p:spPr>
          <a:xfrm>
            <a:off x="8915400" y="4629150"/>
            <a:ext cx="2571750" cy="342900"/>
          </a:xfrm>
          <a:prstGeom prst="rect">
            <a:avLst/>
          </a:prstGeom>
          <a:noFill/>
          <a:ln w="0">
            <a:noFill/>
          </a:ln>
        </p:spPr>
        <p:txBody>
          <a:bodyPr wrap="none" lIns="0" tIns="0" rIns="0" bIns="0" anchor="t">
            <a:noAutofit/>
          </a:bodyPr>
          <a:lstStyle/>
          <a:p>
            <a:pPr>
              <a:lnSpc>
                <a:spcPct val="108000"/>
              </a:lnSpc>
              <a:buNone/>
              <a:defRPr sz="1875" b="1">
                <a:solidFill>
                  <a:srgbClr val="357AE8"/>
                </a:solidFill>
                <a:latin typeface="Times New Roman" panose="02020503050405090304"/>
                <a:ea typeface="微软雅黑"/>
                <a:cs typeface="Times New Roman" panose="02020503050405090304"/>
              </a:defRPr>
            </a:pPr>
            <a:r>
              <a:rPr sz="1875" b="1">
                <a:solidFill>
                  <a:srgbClr val="357AE8"/>
                </a:solidFill>
                <a:latin typeface="Times New Roman" panose="02020503050405090304"/>
                <a:ea typeface="微软雅黑"/>
                <a:cs typeface="Times New Roman" panose="02020503050405090304"/>
              </a:rPr>
              <a:t>04  打包定长序列</a:t>
            </a:r>
            <a:endParaRPr sz="1875" b="1">
              <a:solidFill>
                <a:srgbClr val="357AE8"/>
              </a:solidFill>
              <a:latin typeface="Times New Roman" panose="02020503050405090304"/>
              <a:ea typeface="微软雅黑"/>
              <a:cs typeface="Times New Roman" panose="02020503050405090304"/>
            </a:endParaRPr>
          </a:p>
        </p:txBody>
      </p:sp>
      <p:sp>
        <p:nvSpPr>
          <p:cNvPr id="29" name="packing-body"/>
          <p:cNvSpPr>
            <a:spLocks noGrp="1"/>
          </p:cNvSpPr>
          <p:nvPr/>
        </p:nvSpPr>
        <p:spPr>
          <a:xfrm>
            <a:off x="8915400" y="5067300"/>
            <a:ext cx="2647950" cy="609600"/>
          </a:xfrm>
          <a:prstGeom prst="rect">
            <a:avLst/>
          </a:prstGeom>
          <a:noFill/>
          <a:ln w="0">
            <a:noFill/>
          </a:ln>
        </p:spPr>
        <p:txBody>
          <a:bodyPr wrap="none" lIns="0" tIns="0" rIns="0" bIns="0" anchor="t">
            <a:noAutofit/>
          </a:bodyPr>
          <a:lstStyle/>
          <a:p>
            <a:pPr>
              <a:lnSpc>
                <a:spcPct val="108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短对话合并，不足补齐</a:t>
            </a:r>
            <a:endParaRPr sz="1575" b="0">
              <a:solidFill>
                <a:srgbClr val="111111"/>
              </a:solidFill>
              <a:latin typeface="Times New Roman" panose="02020503050405090304"/>
              <a:ea typeface="微软雅黑"/>
              <a:cs typeface="Times New Roman" panose="02020503050405090304"/>
            </a:endParaRPr>
          </a:p>
          <a:p>
            <a:pPr>
              <a:lnSpc>
                <a:spcPct val="108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本章 seq_len = 4096</a:t>
            </a:r>
            <a:endParaRPr sz="1575" b="0">
              <a:solidFill>
                <a:srgbClr val="111111"/>
              </a:solidFill>
              <a:latin typeface="Times New Roman" panose="02020503050405090304"/>
              <a:ea typeface="微软雅黑"/>
              <a:cs typeface="Times New Roman" panose="02020503050405090304"/>
            </a:endParaRPr>
          </a:p>
        </p:txBody>
      </p:sp>
      <p:sp>
        <p:nvSpPr>
          <p:cNvPr id="30" name="data-key"/>
          <p:cNvSpPr>
            <a:spLocks noGrp="1"/>
          </p:cNvSpPr>
          <p:nvPr/>
        </p:nvSpPr>
        <p:spPr>
          <a:xfrm>
            <a:off x="742950" y="5857875"/>
            <a:ext cx="10953750" cy="304800"/>
          </a:xfrm>
          <a:prstGeom prst="rect">
            <a:avLst/>
          </a:prstGeom>
          <a:noFill/>
          <a:ln w="0">
            <a:noFill/>
          </a:ln>
        </p:spPr>
        <p:txBody>
          <a:bodyPr wrap="none" lIns="0" tIns="0" rIns="0" bIns="0" anchor="t">
            <a:noAutofit/>
          </a:bodyPr>
          <a:lstStyle/>
          <a:p>
            <a:pPr>
              <a:lnSpc>
                <a:spcPct val="108000"/>
              </a:lnSpc>
              <a:buNone/>
              <a:defRPr sz="1800" b="1">
                <a:solidFill>
                  <a:srgbClr val="E60012"/>
                </a:solidFill>
                <a:latin typeface="Times New Roman" panose="02020503050405090304"/>
                <a:ea typeface="微软雅黑"/>
                <a:cs typeface="Times New Roman" panose="02020503050405090304"/>
              </a:defRPr>
            </a:pPr>
            <a:r>
              <a:rPr sz="1800" b="1">
                <a:solidFill>
                  <a:srgbClr val="E60012"/>
                </a:solidFill>
                <a:latin typeface="Times New Roman" panose="02020503050405090304"/>
                <a:ea typeface="微软雅黑"/>
                <a:cs typeface="Times New Roman" panose="02020503050405090304"/>
              </a:rPr>
              <a:t>一条 packed sequence 可能包含多局游戏，只有 assistant 目标位置计算 loss。</a:t>
            </a:r>
            <a:endParaRPr sz="1800" b="1">
              <a:solidFill>
                <a:srgbClr val="E60012"/>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19"/>
                                        </p:tgtEl>
                                        <p:attrNameLst>
                                          <p:attrName>style.visibility</p:attrName>
                                        </p:attrNameLst>
                                      </p:cBhvr>
                                      <p:to>
                                        <p:strVal val="visible"/>
                                      </p:to>
                                    </p:set>
                                    <p:animEffect transition="in" filter="fade">
                                      <p:cBhvr>
                                        <p:cTn id="7" dur="350"/>
                                        <p:tgtEl>
                                          <p:spTgt spid="19"/>
                                        </p:tgtEl>
                                      </p:cBhvr>
                                    </p:animEffect>
                                  </p:childTnLst>
                                </p:cTn>
                              </p:par>
                              <p:par>
                                <p:cTn id="8" presetID="10" presetClass="entr" presetSubtype="0" fill="hold" grpId="0" nodeType="withEffect">
                                  <p:stCondLst>
                                    <p:cond delay="0"/>
                                  </p:stCondLst>
                                  <p:childTnLst>
                                    <p:set>
                                      <p:cBhvr>
                                        <p:cTn id="9" dur="1" fill="hold"/>
                                        <p:tgtEl>
                                          <p:spTgt spid="20"/>
                                        </p:tgtEl>
                                        <p:attrNameLst>
                                          <p:attrName>style.visibility</p:attrName>
                                        </p:attrNameLst>
                                      </p:cBhvr>
                                      <p:to>
                                        <p:strVal val="visible"/>
                                      </p:to>
                                    </p:set>
                                    <p:animEffect transition="in" filter="fade">
                                      <p:cBhvr>
                                        <p:cTn id="10" dur="35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36"/>
                                        </p:tgtEl>
                                        <p:attrNameLst>
                                          <p:attrName>style.visibility</p:attrName>
                                        </p:attrNameLst>
                                      </p:cBhvr>
                                      <p:to>
                                        <p:strVal val="visible"/>
                                      </p:to>
                                    </p:set>
                                    <p:animEffect transition="in" filter="fade">
                                      <p:cBhvr>
                                        <p:cTn id="15" dur="350"/>
                                        <p:tgtEl>
                                          <p:spTgt spid="36"/>
                                        </p:tgtEl>
                                      </p:cBhvr>
                                    </p:animEffect>
                                  </p:childTnLst>
                                </p:cTn>
                              </p:par>
                              <p:par>
                                <p:cTn id="16" presetID="10" presetClass="entr" presetSubtype="0" fill="hold" grpId="0" nodeType="withEffect">
                                  <p:stCondLst>
                                    <p:cond delay="0"/>
                                  </p:stCondLst>
                                  <p:childTnLst>
                                    <p:set>
                                      <p:cBhvr>
                                        <p:cTn id="17" dur="1" fill="hold"/>
                                        <p:tgtEl>
                                          <p:spTgt spid="22"/>
                                        </p:tgtEl>
                                        <p:attrNameLst>
                                          <p:attrName>style.visibility</p:attrName>
                                        </p:attrNameLst>
                                      </p:cBhvr>
                                      <p:to>
                                        <p:strVal val="visible"/>
                                      </p:to>
                                    </p:set>
                                    <p:animEffect transition="in" filter="fade">
                                      <p:cBhvr>
                                        <p:cTn id="18" dur="350"/>
                                        <p:tgtEl>
                                          <p:spTgt spid="22"/>
                                        </p:tgtEl>
                                      </p:cBhvr>
                                    </p:animEffect>
                                  </p:childTnLst>
                                </p:cTn>
                              </p:par>
                              <p:par>
                                <p:cTn id="19" presetID="10" presetClass="entr" presetSubtype="0" fill="hold" grpId="0" nodeType="withEffect">
                                  <p:stCondLst>
                                    <p:cond delay="0"/>
                                  </p:stCondLst>
                                  <p:childTnLst>
                                    <p:set>
                                      <p:cBhvr>
                                        <p:cTn id="20" dur="1" fill="hold"/>
                                        <p:tgtEl>
                                          <p:spTgt spid="23"/>
                                        </p:tgtEl>
                                        <p:attrNameLst>
                                          <p:attrName>style.visibility</p:attrName>
                                        </p:attrNameLst>
                                      </p:cBhvr>
                                      <p:to>
                                        <p:strVal val="visible"/>
                                      </p:to>
                                    </p:set>
                                    <p:animEffect transition="in" filter="fade">
                                      <p:cBhvr>
                                        <p:cTn id="21" dur="350"/>
                                        <p:tgtEl>
                                          <p:spTgt spid="23"/>
                                        </p:tgtEl>
                                      </p:cBhvr>
                                    </p:animEffect>
                                  </p:childTnLst>
                                </p:cTn>
                              </p:par>
                              <p:par>
                                <p:cTn id="22" presetID="10" presetClass="entr" presetSubtype="0" fill="hold" grpId="0" nodeType="withEffect">
                                  <p:stCondLst>
                                    <p:cond delay="0"/>
                                  </p:stCondLst>
                                  <p:childTnLst>
                                    <p:set>
                                      <p:cBhvr>
                                        <p:cTn id="23" dur="1" fill="hold"/>
                                        <p:tgtEl>
                                          <p:spTgt spid="24"/>
                                        </p:tgtEl>
                                        <p:attrNameLst>
                                          <p:attrName>style.visibility</p:attrName>
                                        </p:attrNameLst>
                                      </p:cBhvr>
                                      <p:to>
                                        <p:strVal val="visible"/>
                                      </p:to>
                                    </p:set>
                                    <p:animEffect transition="in" filter="fade">
                                      <p:cBhvr>
                                        <p:cTn id="24" dur="350"/>
                                        <p:tgtEl>
                                          <p:spTgt spid="24"/>
                                        </p:tgtEl>
                                      </p:cBhvr>
                                    </p:animEffect>
                                  </p:childTnLst>
                                </p:cTn>
                              </p:par>
                              <p:par>
                                <p:cTn id="25" presetID="10" presetClass="entr" presetSubtype="0" fill="hold" grpId="0" nodeType="withEffect">
                                  <p:stCondLst>
                                    <p:cond delay="0"/>
                                  </p:stCondLst>
                                  <p:childTnLst>
                                    <p:set>
                                      <p:cBhvr>
                                        <p:cTn id="26" dur="1" fill="hold"/>
                                        <p:tgtEl>
                                          <p:spTgt spid="25"/>
                                        </p:tgtEl>
                                        <p:attrNameLst>
                                          <p:attrName>style.visibility</p:attrName>
                                        </p:attrNameLst>
                                      </p:cBhvr>
                                      <p:to>
                                        <p:strVal val="visible"/>
                                      </p:to>
                                    </p:set>
                                    <p:animEffect transition="in" filter="fade">
                                      <p:cBhvr>
                                        <p:cTn id="27" dur="35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tgtEl>
                                          <p:spTgt spid="26"/>
                                        </p:tgtEl>
                                        <p:attrNameLst>
                                          <p:attrName>style.visibility</p:attrName>
                                        </p:attrNameLst>
                                      </p:cBhvr>
                                      <p:to>
                                        <p:strVal val="visible"/>
                                      </p:to>
                                    </p:set>
                                    <p:animEffect transition="in" filter="fade">
                                      <p:cBhvr>
                                        <p:cTn id="32" dur="350"/>
                                        <p:tgtEl>
                                          <p:spTgt spid="26"/>
                                        </p:tgtEl>
                                      </p:cBhvr>
                                    </p:animEffect>
                                  </p:childTnLst>
                                </p:cTn>
                              </p:par>
                              <p:par>
                                <p:cTn id="33" presetID="10" presetClass="entr" presetSubtype="0" fill="hold" grpId="0" nodeType="withEffect">
                                  <p:stCondLst>
                                    <p:cond delay="0"/>
                                  </p:stCondLst>
                                  <p:childTnLst>
                                    <p:set>
                                      <p:cBhvr>
                                        <p:cTn id="34" dur="1" fill="hold"/>
                                        <p:tgtEl>
                                          <p:spTgt spid="27"/>
                                        </p:tgtEl>
                                        <p:attrNameLst>
                                          <p:attrName>style.visibility</p:attrName>
                                        </p:attrNameLst>
                                      </p:cBhvr>
                                      <p:to>
                                        <p:strVal val="visible"/>
                                      </p:to>
                                    </p:set>
                                    <p:animEffect transition="in" filter="fade">
                                      <p:cBhvr>
                                        <p:cTn id="35" dur="350"/>
                                        <p:tgtEl>
                                          <p:spTgt spid="27"/>
                                        </p:tgtEl>
                                      </p:cBhvr>
                                    </p:animEffect>
                                  </p:childTnLst>
                                </p:cTn>
                              </p:par>
                              <p:par>
                                <p:cTn id="36" presetID="10" presetClass="entr" presetSubtype="0" fill="hold" grpId="0" nodeType="withEffect">
                                  <p:stCondLst>
                                    <p:cond delay="0"/>
                                  </p:stCondLst>
                                  <p:childTnLst>
                                    <p:set>
                                      <p:cBhvr>
                                        <p:cTn id="37" dur="1" fill="hold"/>
                                        <p:tgtEl>
                                          <p:spTgt spid="28"/>
                                        </p:tgtEl>
                                        <p:attrNameLst>
                                          <p:attrName>style.visibility</p:attrName>
                                        </p:attrNameLst>
                                      </p:cBhvr>
                                      <p:to>
                                        <p:strVal val="visible"/>
                                      </p:to>
                                    </p:set>
                                    <p:animEffect transition="in" filter="fade">
                                      <p:cBhvr>
                                        <p:cTn id="38" dur="350"/>
                                        <p:tgtEl>
                                          <p:spTgt spid="28"/>
                                        </p:tgtEl>
                                      </p:cBhvr>
                                    </p:animEffect>
                                  </p:childTnLst>
                                </p:cTn>
                              </p:par>
                              <p:par>
                                <p:cTn id="39" presetID="10" presetClass="entr" presetSubtype="0" fill="hold" grpId="0" nodeType="withEffect">
                                  <p:stCondLst>
                                    <p:cond delay="0"/>
                                  </p:stCondLst>
                                  <p:childTnLst>
                                    <p:set>
                                      <p:cBhvr>
                                        <p:cTn id="40" dur="1" fill="hold"/>
                                        <p:tgtEl>
                                          <p:spTgt spid="29"/>
                                        </p:tgtEl>
                                        <p:attrNameLst>
                                          <p:attrName>style.visibility</p:attrName>
                                        </p:attrNameLst>
                                      </p:cBhvr>
                                      <p:to>
                                        <p:strVal val="visible"/>
                                      </p:to>
                                    </p:set>
                                    <p:animEffect transition="in" filter="fade">
                                      <p:cBhvr>
                                        <p:cTn id="41" dur="350"/>
                                        <p:tgtEl>
                                          <p:spTgt spid="2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tgtEl>
                                          <p:spTgt spid="30"/>
                                        </p:tgtEl>
                                        <p:attrNameLst>
                                          <p:attrName>style.visibility</p:attrName>
                                        </p:attrNameLst>
                                      </p:cBhvr>
                                      <p:to>
                                        <p:strVal val="visible"/>
                                      </p:to>
                                    </p:set>
                                    <p:animEffect transition="in" filter="fade">
                                      <p:cBhvr>
                                        <p:cTn id="46" dur="3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9"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训练配置与基线训练</a:t>
            </a:r>
            <a:endParaRPr sz="2700" b="1">
              <a:solidFill>
                <a:srgbClr val="111111"/>
              </a:solidFill>
              <a:latin typeface="Times New Roman" panose="02020503050405090304"/>
              <a:ea typeface="微软雅黑"/>
              <a:cs typeface="Times New Roman" panose="02020503050405090304"/>
            </a:endParaRPr>
          </a:p>
        </p:txBody>
      </p:sp>
      <p:sp>
        <p:nvSpPr>
          <p:cNvPr id="19" name="training-config"/>
          <p:cNvSpPr>
            <a:spLocks noGrp="1"/>
          </p:cNvSpPr>
          <p:nvPr/>
        </p:nvSpPr>
        <p:spPr>
          <a:xfrm>
            <a:off x="742950" y="1104900"/>
            <a:ext cx="11049000" cy="400050"/>
          </a:xfrm>
          <a:prstGeom prst="rect">
            <a:avLst/>
          </a:prstGeom>
          <a:noFill/>
          <a:ln w="0">
            <a:noFill/>
          </a:ln>
        </p:spPr>
        <p:txBody>
          <a:bodyPr wrap="none" lIns="0" tIns="0" rIns="0" bIns="0" anchor="t">
            <a:noAutofit/>
          </a:bodyPr>
          <a:lstStyle/>
          <a:p>
            <a:pPr>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本章配置：Qwen3-1.7B，2 个 rank，seq_len = 4096。</a:t>
            </a:r>
            <a:endParaRPr sz="2000" b="0">
              <a:solidFill>
                <a:srgbClr val="111111"/>
              </a:solidFill>
              <a:latin typeface="Times New Roman" panose="02020503050405090304"/>
              <a:ea typeface="微软雅黑"/>
              <a:cs typeface="Times New Roman" panose="02020503050405090304"/>
            </a:endParaRPr>
          </a:p>
        </p:txBody>
      </p:sp>
      <p:sp>
        <p:nvSpPr>
          <p:cNvPr id="20" name="batch-formula"/>
          <p:cNvSpPr>
            <a:spLocks noGrp="1"/>
          </p:cNvSpPr>
          <p:nvPr/>
        </p:nvSpPr>
        <p:spPr>
          <a:xfrm>
            <a:off x="742950" y="1657350"/>
            <a:ext cx="10706100" cy="561975"/>
          </a:xfrm>
          <a:prstGeom prst="rect">
            <a:avLst/>
          </a:prstGeom>
          <a:noFill/>
          <a:ln w="0">
            <a:noFill/>
          </a:ln>
        </p:spPr>
        <p:txBody>
          <a:bodyPr wrap="none" lIns="0" tIns="0" rIns="0" bIns="0" anchor="t">
            <a:noAutofit/>
          </a:bodyPr>
          <a:lstStyle/>
          <a:p>
            <a:pPr>
              <a:lnSpc>
                <a:spcPct val="108000"/>
              </a:lnSpc>
              <a:buNone/>
              <a:defRPr sz="3225" b="1">
                <a:solidFill>
                  <a:srgbClr val="E60012"/>
                </a:solidFill>
                <a:latin typeface="Times New Roman" panose="02020503050405090304"/>
                <a:ea typeface="微软雅黑"/>
                <a:cs typeface="Times New Roman" panose="02020503050405090304"/>
              </a:defRPr>
            </a:pPr>
            <a:r>
              <a:rPr sz="3225" b="1">
                <a:solidFill>
                  <a:srgbClr val="E60012"/>
                </a:solidFill>
                <a:latin typeface="Times New Roman" panose="02020503050405090304"/>
                <a:ea typeface="微软雅黑"/>
                <a:cs typeface="Times New Roman" panose="02020503050405090304"/>
              </a:rPr>
              <a:t>64 = 2 × 2 × 16</a:t>
            </a:r>
            <a:endParaRPr sz="3225" b="1">
              <a:solidFill>
                <a:srgbClr val="E60012"/>
              </a:solidFill>
              <a:latin typeface="Times New Roman" panose="02020503050405090304"/>
              <a:ea typeface="微软雅黑"/>
              <a:cs typeface="Times New Roman" panose="02020503050405090304"/>
            </a:endParaRPr>
          </a:p>
        </p:txBody>
      </p:sp>
      <p:sp>
        <p:nvSpPr>
          <p:cNvPr id="21" name="batch-legend"/>
          <p:cNvSpPr>
            <a:spLocks noGrp="1"/>
          </p:cNvSpPr>
          <p:nvPr/>
        </p:nvSpPr>
        <p:spPr>
          <a:xfrm>
            <a:off x="742950" y="2276475"/>
            <a:ext cx="10706100" cy="361950"/>
          </a:xfrm>
          <a:prstGeom prst="rect">
            <a:avLst/>
          </a:prstGeom>
          <a:noFill/>
          <a:ln w="0">
            <a:noFill/>
          </a:ln>
        </p:spPr>
        <p:txBody>
          <a:bodyPr wrap="none" lIns="0" tIns="0" rIns="0" bIns="0" anchor="t">
            <a:noAutofit/>
          </a:bodyPr>
          <a:lstStyle/>
          <a:p>
            <a:pPr>
              <a:lnSpc>
                <a:spcPct val="108000"/>
              </a:lnSpc>
              <a:buNone/>
              <a:defRPr sz="1875" b="0">
                <a:solidFill>
                  <a:srgbClr val="111111"/>
                </a:solidFill>
                <a:latin typeface="Times New Roman" panose="02020503050405090304"/>
                <a:ea typeface="微软雅黑"/>
                <a:cs typeface="Times New Roman" panose="02020503050405090304"/>
              </a:defRPr>
            </a:pPr>
            <a:r>
              <a:rPr sz="1875" b="0">
                <a:solidFill>
                  <a:srgbClr val="111111"/>
                </a:solidFill>
                <a:latin typeface="Times New Roman" panose="02020503050405090304"/>
                <a:ea typeface="微软雅黑"/>
                <a:cs typeface="Times New Roman" panose="02020503050405090304"/>
              </a:rPr>
              <a:t>全局 batch = 每 rank 每次序列数 × DP 并行度 × 梯度累积次数</a:t>
            </a:r>
            <a:endParaRPr sz="1875" b="0">
              <a:solidFill>
                <a:srgbClr val="111111"/>
              </a:solidFill>
              <a:latin typeface="Times New Roman" panose="02020503050405090304"/>
              <a:ea typeface="微软雅黑"/>
              <a:cs typeface="Times New Roman" panose="02020503050405090304"/>
            </a:endParaRPr>
          </a:p>
        </p:txBody>
      </p:sp>
      <p:graphicFrame>
        <p:nvGraphicFramePr>
          <p:cNvPr id="35" name="training-phases-table"/>
          <p:cNvGraphicFramePr/>
          <p:nvPr/>
        </p:nvGraphicFramePr>
        <p:xfrm>
          <a:off x="742950" y="2857500"/>
          <a:ext cx="10706100" cy="1466850"/>
        </p:xfrm>
        <a:graphic>
          <a:graphicData uri="http://schemas.openxmlformats.org/drawingml/2006/table">
            <a:tbl>
              <a:tblPr/>
              <a:tblGrid>
                <a:gridCol w="2047875"/>
                <a:gridCol w="1428750"/>
                <a:gridCol w="1619250"/>
                <a:gridCol w="1428750"/>
                <a:gridCol w="4181475"/>
              </a:tblGrid>
              <a:tr h="457200">
                <a:tc>
                  <a:txBody>
                    <a:bodyPr>
                      <a:spAutoFit/>
                    </a:bodyPr>
                    <a:lstStyle/>
                    <a:p>
                      <a:pPr algn="ctr"/>
                      <a:r>
                        <a:rPr sz="1800" b="1">
                          <a:solidFill>
                            <a:srgbClr val="111111"/>
                          </a:solidFill>
                          <a:latin typeface="Times New Roman" panose="02020503050405090304"/>
                          <a:ea typeface="微软雅黑"/>
                          <a:cs typeface="Times New Roman" panose="02020503050405090304"/>
                        </a:rPr>
                        <a:t>阶段</a:t>
                      </a:r>
                      <a:endParaRPr sz="180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1">
                          <a:solidFill>
                            <a:srgbClr val="111111"/>
                          </a:solidFill>
                          <a:latin typeface="Times New Roman" panose="02020503050405090304"/>
                          <a:ea typeface="微软雅黑"/>
                          <a:cs typeface="Times New Roman" panose="02020503050405090304"/>
                        </a:rPr>
                        <a:t>更新步数</a:t>
                      </a:r>
                      <a:endParaRPr sz="180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1">
                          <a:solidFill>
                            <a:srgbClr val="111111"/>
                          </a:solidFill>
                          <a:latin typeface="Times New Roman" panose="02020503050405090304"/>
                          <a:ea typeface="微软雅黑"/>
                          <a:cs typeface="Times New Roman" panose="02020503050405090304"/>
                        </a:rPr>
                        <a:t>全局 batch</a:t>
                      </a:r>
                      <a:endParaRPr sz="180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1">
                          <a:solidFill>
                            <a:srgbClr val="111111"/>
                          </a:solidFill>
                          <a:latin typeface="Times New Roman" panose="02020503050405090304"/>
                          <a:ea typeface="微软雅黑"/>
                          <a:cs typeface="Times New Roman" panose="02020503050405090304"/>
                        </a:rPr>
                        <a:t>累积次数</a:t>
                      </a:r>
                      <a:endParaRPr sz="180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1">
                          <a:solidFill>
                            <a:srgbClr val="111111"/>
                          </a:solidFill>
                          <a:latin typeface="Times New Roman" panose="02020503050405090304"/>
                          <a:ea typeface="微软雅黑"/>
                          <a:cs typeface="Times New Roman" panose="02020503050405090304"/>
                        </a:rPr>
                        <a:t>目标</a:t>
                      </a:r>
                      <a:endParaRPr sz="1800" b="1">
                        <a:solidFill>
                          <a:srgbClr val="111111"/>
                        </a:solidFill>
                        <a:latin typeface="Times New Roman" panose="02020503050405090304"/>
                        <a:ea typeface="微软雅黑"/>
                        <a:cs typeface="Times New Roman" panose="02020503050405090304"/>
                      </a:endParaRPr>
                    </a:p>
                  </a:txBody>
                  <a:tcPr anchor="ctr">
                    <a:solidFill>
                      <a:srgbClr val="FFFFFF"/>
                    </a:solidFill>
                  </a:tcPr>
                </a:tc>
              </a:tr>
              <a:tr h="504825">
                <a:tc>
                  <a:txBody>
                    <a:bodyPr>
                      <a:spAutoFit/>
                    </a:bodyPr>
                    <a:lstStyle/>
                    <a:p>
                      <a:pPr algn="ctr"/>
                      <a:r>
                        <a:rPr sz="1800" b="0">
                          <a:solidFill>
                            <a:srgbClr val="111111"/>
                          </a:solidFill>
                          <a:latin typeface="Times New Roman" panose="02020503050405090304"/>
                          <a:ea typeface="微软雅黑"/>
                          <a:cs typeface="Times New Roman" panose="02020503050405090304"/>
                        </a:rPr>
                        <a:t>1-step 试跑</a:t>
                      </a:r>
                      <a:endParaRPr sz="18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0">
                          <a:solidFill>
                            <a:srgbClr val="111111"/>
                          </a:solidFill>
                          <a:latin typeface="Times New Roman" panose="02020503050405090304"/>
                          <a:ea typeface="微软雅黑"/>
                          <a:cs typeface="Times New Roman" panose="02020503050405090304"/>
                        </a:rPr>
                        <a:t>1</a:t>
                      </a:r>
                      <a:endParaRPr sz="18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0">
                          <a:solidFill>
                            <a:srgbClr val="111111"/>
                          </a:solidFill>
                          <a:latin typeface="Times New Roman" panose="02020503050405090304"/>
                          <a:ea typeface="微软雅黑"/>
                          <a:cs typeface="Times New Roman" panose="02020503050405090304"/>
                        </a:rPr>
                        <a:t>4</a:t>
                      </a:r>
                      <a:endParaRPr sz="18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0">
                          <a:solidFill>
                            <a:srgbClr val="111111"/>
                          </a:solidFill>
                          <a:latin typeface="Times New Roman" panose="02020503050405090304"/>
                          <a:ea typeface="微软雅黑"/>
                          <a:cs typeface="Times New Roman" panose="02020503050405090304"/>
                        </a:rPr>
                        <a:t>1</a:t>
                      </a:r>
                      <a:endParaRPr sz="18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0">
                          <a:solidFill>
                            <a:srgbClr val="111111"/>
                          </a:solidFill>
                          <a:latin typeface="Times New Roman" panose="02020503050405090304"/>
                          <a:ea typeface="微软雅黑"/>
                          <a:cs typeface="Times New Roman" panose="02020503050405090304"/>
                        </a:rPr>
                        <a:t>确认完整训练链路可运行</a:t>
                      </a:r>
                      <a:endParaRPr sz="1800"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504825">
                <a:tc>
                  <a:txBody>
                    <a:bodyPr>
                      <a:spAutoFit/>
                    </a:bodyPr>
                    <a:lstStyle/>
                    <a:p>
                      <a:pPr algn="ctr"/>
                      <a:r>
                        <a:rPr sz="1800" b="0">
                          <a:solidFill>
                            <a:srgbClr val="111111"/>
                          </a:solidFill>
                          <a:latin typeface="Times New Roman" panose="02020503050405090304"/>
                          <a:ea typeface="微软雅黑"/>
                          <a:cs typeface="Times New Roman" panose="02020503050405090304"/>
                        </a:rPr>
                        <a:t>正式 SFT</a:t>
                      </a:r>
                      <a:endParaRPr sz="18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0">
                          <a:solidFill>
                            <a:srgbClr val="111111"/>
                          </a:solidFill>
                          <a:latin typeface="Times New Roman" panose="02020503050405090304"/>
                          <a:ea typeface="微软雅黑"/>
                          <a:cs typeface="Times New Roman" panose="02020503050405090304"/>
                        </a:rPr>
                        <a:t>20</a:t>
                      </a:r>
                      <a:endParaRPr sz="18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0">
                          <a:solidFill>
                            <a:srgbClr val="111111"/>
                          </a:solidFill>
                          <a:latin typeface="Times New Roman" panose="02020503050405090304"/>
                          <a:ea typeface="微软雅黑"/>
                          <a:cs typeface="Times New Roman" panose="02020503050405090304"/>
                        </a:rPr>
                        <a:t>64</a:t>
                      </a:r>
                      <a:endParaRPr sz="18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0">
                          <a:solidFill>
                            <a:srgbClr val="111111"/>
                          </a:solidFill>
                          <a:latin typeface="Times New Roman" panose="02020503050405090304"/>
                          <a:ea typeface="微软雅黑"/>
                          <a:cs typeface="Times New Roman" panose="02020503050405090304"/>
                        </a:rPr>
                        <a:t>16</a:t>
                      </a:r>
                      <a:endParaRPr sz="18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0">
                          <a:solidFill>
                            <a:srgbClr val="111111"/>
                          </a:solidFill>
                          <a:latin typeface="Times New Roman" panose="02020503050405090304"/>
                          <a:ea typeface="微软雅黑"/>
                          <a:cs typeface="Times New Roman" panose="02020503050405090304"/>
                        </a:rPr>
                        <a:t>得到可重新加载的模型</a:t>
                      </a:r>
                      <a:endParaRPr sz="1800" b="0">
                        <a:solidFill>
                          <a:srgbClr val="111111"/>
                        </a:solidFill>
                        <a:latin typeface="Times New Roman" panose="02020503050405090304"/>
                        <a:ea typeface="微软雅黑"/>
                        <a:cs typeface="Times New Roman" panose="02020503050405090304"/>
                      </a:endParaRPr>
                    </a:p>
                  </a:txBody>
                  <a:tcPr anchor="ctr">
                    <a:solidFill>
                      <a:srgbClr val="FFFFFF"/>
                    </a:solidFill>
                  </a:tcPr>
                </a:tc>
              </a:tr>
            </a:tbl>
          </a:graphicData>
        </a:graphic>
      </p:graphicFrame>
      <p:sp>
        <p:nvSpPr>
          <p:cNvPr id="23" name="logs-heading"/>
          <p:cNvSpPr>
            <a:spLocks noGrp="1"/>
          </p:cNvSpPr>
          <p:nvPr/>
        </p:nvSpPr>
        <p:spPr>
          <a:xfrm>
            <a:off x="742950" y="4476750"/>
            <a:ext cx="4762500" cy="342900"/>
          </a:xfrm>
          <a:prstGeom prst="rect">
            <a:avLst/>
          </a:prstGeom>
          <a:noFill/>
          <a:ln w="0">
            <a:noFill/>
          </a:ln>
        </p:spPr>
        <p:txBody>
          <a:bodyPr wrap="none" lIns="0" tIns="0" rIns="0" bIns="0" anchor="t">
            <a:noAutofit/>
          </a:bodyPr>
          <a:lstStyle/>
          <a:p>
            <a:pPr>
              <a:lnSpc>
                <a:spcPct val="108000"/>
              </a:lnSpc>
              <a:buNone/>
              <a:defRPr sz="1950" b="1">
                <a:solidFill>
                  <a:srgbClr val="E60012"/>
                </a:solidFill>
                <a:latin typeface="Times New Roman" panose="02020503050405090304"/>
                <a:ea typeface="微软雅黑"/>
                <a:cs typeface="Times New Roman" panose="02020503050405090304"/>
              </a:defRPr>
            </a:pPr>
            <a:r>
              <a:rPr sz="1950" b="1">
                <a:solidFill>
                  <a:srgbClr val="E60012"/>
                </a:solidFill>
                <a:latin typeface="Times New Roman" panose="02020503050405090304"/>
                <a:ea typeface="微软雅黑"/>
                <a:cs typeface="Times New Roman" panose="02020503050405090304"/>
              </a:rPr>
              <a:t>看日志</a:t>
            </a:r>
            <a:endParaRPr sz="1950" b="1">
              <a:solidFill>
                <a:srgbClr val="E60012"/>
              </a:solidFill>
              <a:latin typeface="Times New Roman" panose="02020503050405090304"/>
              <a:ea typeface="微软雅黑"/>
              <a:cs typeface="Times New Roman" panose="02020503050405090304"/>
            </a:endParaRPr>
          </a:p>
        </p:txBody>
      </p:sp>
      <p:sp>
        <p:nvSpPr>
          <p:cNvPr id="24" name="logs-body"/>
          <p:cNvSpPr>
            <a:spLocks noGrp="1"/>
          </p:cNvSpPr>
          <p:nvPr/>
        </p:nvSpPr>
        <p:spPr>
          <a:xfrm>
            <a:off x="742950" y="4895850"/>
            <a:ext cx="5334000" cy="59055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loss、grad_norm 保持有限值。</a:t>
            </a:r>
            <a:endParaRPr sz="1800" b="0">
              <a:solidFill>
                <a:srgbClr val="111111"/>
              </a:solidFill>
              <a:latin typeface="Times New Roman" panose="02020503050405090304"/>
              <a:ea typeface="微软雅黑"/>
              <a:cs typeface="Times New Roman" panose="02020503050405090304"/>
            </a:endParaRPr>
          </a:p>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观察整体趋势，检查 NaN / Inf。</a:t>
            </a:r>
            <a:endParaRPr sz="1800" b="0">
              <a:solidFill>
                <a:srgbClr val="111111"/>
              </a:solidFill>
              <a:latin typeface="Times New Roman" panose="02020503050405090304"/>
              <a:ea typeface="微软雅黑"/>
              <a:cs typeface="Times New Roman" panose="02020503050405090304"/>
            </a:endParaRPr>
          </a:p>
        </p:txBody>
      </p:sp>
      <p:sp>
        <p:nvSpPr>
          <p:cNvPr id="25" name="checkpoint-heading"/>
          <p:cNvSpPr>
            <a:spLocks noGrp="1"/>
          </p:cNvSpPr>
          <p:nvPr/>
        </p:nvSpPr>
        <p:spPr>
          <a:xfrm>
            <a:off x="6477000" y="4476750"/>
            <a:ext cx="5048250" cy="342900"/>
          </a:xfrm>
          <a:prstGeom prst="rect">
            <a:avLst/>
          </a:prstGeom>
          <a:noFill/>
          <a:ln w="0">
            <a:noFill/>
          </a:ln>
        </p:spPr>
        <p:txBody>
          <a:bodyPr wrap="none" lIns="0" tIns="0" rIns="0" bIns="0" anchor="t">
            <a:noAutofit/>
          </a:bodyPr>
          <a:lstStyle/>
          <a:p>
            <a:pPr>
              <a:lnSpc>
                <a:spcPct val="108000"/>
              </a:lnSpc>
              <a:buNone/>
              <a:defRPr sz="1950" b="1">
                <a:solidFill>
                  <a:srgbClr val="357AE8"/>
                </a:solidFill>
                <a:latin typeface="Times New Roman" panose="02020503050405090304"/>
                <a:ea typeface="微软雅黑"/>
                <a:cs typeface="Times New Roman" panose="02020503050405090304"/>
              </a:defRPr>
            </a:pPr>
            <a:r>
              <a:rPr sz="1950" b="1">
                <a:solidFill>
                  <a:srgbClr val="357AE8"/>
                </a:solidFill>
                <a:latin typeface="Times New Roman" panose="02020503050405090304"/>
                <a:ea typeface="微软雅黑"/>
                <a:cs typeface="Times New Roman" panose="02020503050405090304"/>
              </a:rPr>
              <a:t>看产物</a:t>
            </a:r>
            <a:endParaRPr sz="1950" b="1">
              <a:solidFill>
                <a:srgbClr val="357AE8"/>
              </a:solidFill>
              <a:latin typeface="Times New Roman" panose="02020503050405090304"/>
              <a:ea typeface="微软雅黑"/>
              <a:cs typeface="Times New Roman" panose="02020503050405090304"/>
            </a:endParaRPr>
          </a:p>
        </p:txBody>
      </p:sp>
      <p:sp>
        <p:nvSpPr>
          <p:cNvPr id="26" name="checkpoint-body"/>
          <p:cNvSpPr>
            <a:spLocks noGrp="1"/>
          </p:cNvSpPr>
          <p:nvPr/>
        </p:nvSpPr>
        <p:spPr>
          <a:xfrm>
            <a:off x="6477000" y="4895850"/>
            <a:ext cx="5048250" cy="59055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HF 权重 + config + tokenizer。</a:t>
            </a:r>
            <a:endParaRPr sz="1800" b="0">
              <a:solidFill>
                <a:srgbClr val="111111"/>
              </a:solidFill>
              <a:latin typeface="Times New Roman" panose="02020503050405090304"/>
              <a:ea typeface="微软雅黑"/>
              <a:cs typeface="Times New Roman" panose="02020503050405090304"/>
            </a:endParaRPr>
          </a:p>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确认 checkpoint 能重新加载。</a:t>
            </a:r>
            <a:endParaRPr sz="1800" b="0">
              <a:solidFill>
                <a:srgbClr val="111111"/>
              </a:solidFill>
              <a:latin typeface="Times New Roman" panose="02020503050405090304"/>
              <a:ea typeface="微软雅黑"/>
              <a:cs typeface="Times New Roman" panose="02020503050405090304"/>
            </a:endParaRPr>
          </a:p>
        </p:txBody>
      </p:sp>
      <p:sp>
        <p:nvSpPr>
          <p:cNvPr id="27" name="grad-key"/>
          <p:cNvSpPr>
            <a:spLocks noGrp="1"/>
          </p:cNvSpPr>
          <p:nvPr/>
        </p:nvSpPr>
        <p:spPr>
          <a:xfrm>
            <a:off x="742950" y="5524500"/>
            <a:ext cx="10858500" cy="295275"/>
          </a:xfrm>
          <a:prstGeom prst="rect">
            <a:avLst/>
          </a:prstGeom>
          <a:noFill/>
          <a:ln w="0">
            <a:noFill/>
          </a:ln>
        </p:spPr>
        <p:txBody>
          <a:bodyPr wrap="none" lIns="0" tIns="0" rIns="0" bIns="0" anchor="t">
            <a:noAutofit/>
          </a:bodyPr>
          <a:lstStyle/>
          <a:p>
            <a:pPr>
              <a:lnSpc>
                <a:spcPct val="108000"/>
              </a:lnSpc>
              <a:buNone/>
              <a:defRPr sz="1725" b="1">
                <a:solidFill>
                  <a:srgbClr val="E60012"/>
                </a:solidFill>
                <a:latin typeface="Times New Roman" panose="02020503050405090304"/>
                <a:ea typeface="微软雅黑"/>
                <a:cs typeface="Times New Roman" panose="02020503050405090304"/>
              </a:defRPr>
            </a:pPr>
            <a:r>
              <a:rPr sz="1725" b="1">
                <a:solidFill>
                  <a:srgbClr val="E60012"/>
                </a:solidFill>
                <a:latin typeface="Times New Roman" panose="02020503050405090304"/>
                <a:ea typeface="微软雅黑"/>
                <a:cs typeface="Times New Roman" panose="02020503050405090304"/>
              </a:rPr>
              <a:t>grad_norm 是裁剪前数值，大于 max_norm 不代表裁剪失效。</a:t>
            </a:r>
            <a:endParaRPr sz="1725" b="1">
              <a:solidFill>
                <a:srgbClr val="E60012"/>
              </a:solidFill>
              <a:latin typeface="Times New Roman" panose="02020503050405090304"/>
              <a:ea typeface="微软雅黑"/>
              <a:cs typeface="Times New Roman" panose="02020503050405090304"/>
            </a:endParaRPr>
          </a:p>
        </p:txBody>
      </p:sp>
      <p:sp>
        <p:nvSpPr>
          <p:cNvPr id="28" name="recipe-details"/>
          <p:cNvSpPr>
            <a:spLocks noGrp="1"/>
          </p:cNvSpPr>
          <p:nvPr/>
        </p:nvSpPr>
        <p:spPr>
          <a:xfrm>
            <a:off x="742950" y="5886450"/>
            <a:ext cx="10477500" cy="257175"/>
          </a:xfrm>
          <a:prstGeom prst="rect">
            <a:avLst/>
          </a:prstGeom>
          <a:noFill/>
          <a:ln w="0">
            <a:noFill/>
          </a:ln>
        </p:spPr>
        <p:txBody>
          <a:bodyPr wrap="none" lIns="0" tIns="0" rIns="0" bIns="0" anchor="t">
            <a:noAutofit/>
          </a:bodyPr>
          <a:lstStyle/>
          <a:p>
            <a:pPr>
              <a:lnSpc>
                <a:spcPct val="108000"/>
              </a:lnSpc>
              <a:buNone/>
              <a:defRPr sz="1500" b="0">
                <a:solidFill>
                  <a:srgbClr val="111111"/>
                </a:solidFill>
                <a:latin typeface="Times New Roman" panose="02020503050405090304"/>
                <a:ea typeface="微软雅黑"/>
                <a:cs typeface="Times New Roman" panose="02020503050405090304"/>
              </a:defRPr>
            </a:pPr>
            <a:r>
              <a:rPr sz="1500" b="0">
                <a:solidFill>
                  <a:srgbClr val="111111"/>
                </a:solidFill>
                <a:latin typeface="Times New Roman" panose="02020503050405090304"/>
                <a:ea typeface="微软雅黑"/>
                <a:cs typeface="Times New Roman" panose="02020503050405090304"/>
              </a:rPr>
              <a:t>本例 lr = 1e−5（恒定），max_norm = 1.0。20 step 指 20 次参数更新。</a:t>
            </a:r>
            <a:endParaRPr sz="1500" b="0">
              <a:solidFill>
                <a:srgbClr val="111111"/>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19"/>
                                        </p:tgtEl>
                                        <p:attrNameLst>
                                          <p:attrName>style.visibility</p:attrName>
                                        </p:attrNameLst>
                                      </p:cBhvr>
                                      <p:to>
                                        <p:strVal val="visible"/>
                                      </p:to>
                                    </p:set>
                                    <p:animEffect transition="in" filter="fade">
                                      <p:cBhvr>
                                        <p:cTn id="7" dur="35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20"/>
                                        </p:tgtEl>
                                        <p:attrNameLst>
                                          <p:attrName>style.visibility</p:attrName>
                                        </p:attrNameLst>
                                      </p:cBhvr>
                                      <p:to>
                                        <p:strVal val="visible"/>
                                      </p:to>
                                    </p:set>
                                    <p:animEffect transition="in" filter="fade">
                                      <p:cBhvr>
                                        <p:cTn id="12" dur="350"/>
                                        <p:tgtEl>
                                          <p:spTgt spid="20"/>
                                        </p:tgtEl>
                                      </p:cBhvr>
                                    </p:animEffect>
                                  </p:childTnLst>
                                </p:cTn>
                              </p:par>
                              <p:par>
                                <p:cTn id="13" presetID="10" presetClass="entr" presetSubtype="0" fill="hold" grpId="0" nodeType="withEffect">
                                  <p:stCondLst>
                                    <p:cond delay="0"/>
                                  </p:stCondLst>
                                  <p:childTnLst>
                                    <p:set>
                                      <p:cBhvr>
                                        <p:cTn id="14" dur="1" fill="hold"/>
                                        <p:tgtEl>
                                          <p:spTgt spid="21"/>
                                        </p:tgtEl>
                                        <p:attrNameLst>
                                          <p:attrName>style.visibility</p:attrName>
                                        </p:attrNameLst>
                                      </p:cBhvr>
                                      <p:to>
                                        <p:strVal val="visible"/>
                                      </p:to>
                                    </p:set>
                                    <p:animEffect transition="in" filter="fade">
                                      <p:cBhvr>
                                        <p:cTn id="15" dur="35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tgtEl>
                                          <p:spTgt spid="35"/>
                                        </p:tgtEl>
                                        <p:attrNameLst>
                                          <p:attrName>style.visibility</p:attrName>
                                        </p:attrNameLst>
                                      </p:cBhvr>
                                      <p:to>
                                        <p:strVal val="visible"/>
                                      </p:to>
                                    </p:set>
                                    <p:animEffect transition="in" filter="fade">
                                      <p:cBhvr>
                                        <p:cTn id="20" dur="350"/>
                                        <p:tgtEl>
                                          <p:spTgt spid="3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tgtEl>
                                          <p:spTgt spid="23"/>
                                        </p:tgtEl>
                                        <p:attrNameLst>
                                          <p:attrName>style.visibility</p:attrName>
                                        </p:attrNameLst>
                                      </p:cBhvr>
                                      <p:to>
                                        <p:strVal val="visible"/>
                                      </p:to>
                                    </p:set>
                                    <p:animEffect transition="in" filter="fade">
                                      <p:cBhvr>
                                        <p:cTn id="25" dur="350"/>
                                        <p:tgtEl>
                                          <p:spTgt spid="23"/>
                                        </p:tgtEl>
                                      </p:cBhvr>
                                    </p:animEffect>
                                  </p:childTnLst>
                                </p:cTn>
                              </p:par>
                              <p:par>
                                <p:cTn id="26" presetID="10" presetClass="entr" presetSubtype="0" fill="hold" grpId="0" nodeType="withEffect">
                                  <p:stCondLst>
                                    <p:cond delay="0"/>
                                  </p:stCondLst>
                                  <p:childTnLst>
                                    <p:set>
                                      <p:cBhvr>
                                        <p:cTn id="27" dur="1" fill="hold"/>
                                        <p:tgtEl>
                                          <p:spTgt spid="24"/>
                                        </p:tgtEl>
                                        <p:attrNameLst>
                                          <p:attrName>style.visibility</p:attrName>
                                        </p:attrNameLst>
                                      </p:cBhvr>
                                      <p:to>
                                        <p:strVal val="visible"/>
                                      </p:to>
                                    </p:set>
                                    <p:animEffect transition="in" filter="fade">
                                      <p:cBhvr>
                                        <p:cTn id="28" dur="350"/>
                                        <p:tgtEl>
                                          <p:spTgt spid="24"/>
                                        </p:tgtEl>
                                      </p:cBhvr>
                                    </p:animEffect>
                                  </p:childTnLst>
                                </p:cTn>
                              </p:par>
                              <p:par>
                                <p:cTn id="29" presetID="10" presetClass="entr" presetSubtype="0" fill="hold" grpId="0" nodeType="withEffect">
                                  <p:stCondLst>
                                    <p:cond delay="0"/>
                                  </p:stCondLst>
                                  <p:childTnLst>
                                    <p:set>
                                      <p:cBhvr>
                                        <p:cTn id="30" dur="1" fill="hold"/>
                                        <p:tgtEl>
                                          <p:spTgt spid="25"/>
                                        </p:tgtEl>
                                        <p:attrNameLst>
                                          <p:attrName>style.visibility</p:attrName>
                                        </p:attrNameLst>
                                      </p:cBhvr>
                                      <p:to>
                                        <p:strVal val="visible"/>
                                      </p:to>
                                    </p:set>
                                    <p:animEffect transition="in" filter="fade">
                                      <p:cBhvr>
                                        <p:cTn id="31" dur="350"/>
                                        <p:tgtEl>
                                          <p:spTgt spid="25"/>
                                        </p:tgtEl>
                                      </p:cBhvr>
                                    </p:animEffect>
                                  </p:childTnLst>
                                </p:cTn>
                              </p:par>
                              <p:par>
                                <p:cTn id="32" presetID="10" presetClass="entr" presetSubtype="0" fill="hold" grpId="0" nodeType="withEffect">
                                  <p:stCondLst>
                                    <p:cond delay="0"/>
                                  </p:stCondLst>
                                  <p:childTnLst>
                                    <p:set>
                                      <p:cBhvr>
                                        <p:cTn id="33" dur="1" fill="hold"/>
                                        <p:tgtEl>
                                          <p:spTgt spid="26"/>
                                        </p:tgtEl>
                                        <p:attrNameLst>
                                          <p:attrName>style.visibility</p:attrName>
                                        </p:attrNameLst>
                                      </p:cBhvr>
                                      <p:to>
                                        <p:strVal val="visible"/>
                                      </p:to>
                                    </p:set>
                                    <p:animEffect transition="in" filter="fade">
                                      <p:cBhvr>
                                        <p:cTn id="34" dur="350"/>
                                        <p:tgtEl>
                                          <p:spTgt spid="26"/>
                                        </p:tgtEl>
                                      </p:cBhvr>
                                    </p:animEffect>
                                  </p:childTnLst>
                                </p:cTn>
                              </p:par>
                              <p:par>
                                <p:cTn id="35" presetID="10" presetClass="entr" presetSubtype="0" fill="hold" grpId="0" nodeType="withEffect">
                                  <p:stCondLst>
                                    <p:cond delay="0"/>
                                  </p:stCondLst>
                                  <p:childTnLst>
                                    <p:set>
                                      <p:cBhvr>
                                        <p:cTn id="36" dur="1" fill="hold"/>
                                        <p:tgtEl>
                                          <p:spTgt spid="27"/>
                                        </p:tgtEl>
                                        <p:attrNameLst>
                                          <p:attrName>style.visibility</p:attrName>
                                        </p:attrNameLst>
                                      </p:cBhvr>
                                      <p:to>
                                        <p:strVal val="visible"/>
                                      </p:to>
                                    </p:set>
                                    <p:animEffect transition="in" filter="fade">
                                      <p:cBhvr>
                                        <p:cTn id="37" dur="350"/>
                                        <p:tgtEl>
                                          <p:spTgt spid="27"/>
                                        </p:tgtEl>
                                      </p:cBhvr>
                                    </p:animEffect>
                                  </p:childTnLst>
                                </p:cTn>
                              </p:par>
                              <p:par>
                                <p:cTn id="38" presetID="10" presetClass="entr" presetSubtype="0" fill="hold" grpId="0" nodeType="withEffect">
                                  <p:stCondLst>
                                    <p:cond delay="0"/>
                                  </p:stCondLst>
                                  <p:childTnLst>
                                    <p:set>
                                      <p:cBhvr>
                                        <p:cTn id="39" dur="1" fill="hold"/>
                                        <p:tgtEl>
                                          <p:spTgt spid="28"/>
                                        </p:tgtEl>
                                        <p:attrNameLst>
                                          <p:attrName>style.visibility</p:attrName>
                                        </p:attrNameLst>
                                      </p:cBhvr>
                                      <p:to>
                                        <p:strVal val="visible"/>
                                      </p:to>
                                    </p:set>
                                    <p:animEffect transition="in" filter="fade">
                                      <p:cBhvr>
                                        <p:cTn id="40" dur="3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3" name="">
            <a:extLst xmlns:a="http://schemas.openxmlformats.org/drawingml/2006/main">
              <a:ext uri="{FF2B5EF4-FFF2-40B4-BE49-F238E27FC236}">
                <a16:creationId xmlns:a16="http://schemas.microsoft.com/office/drawing/2014/main" id="{27D7BFEA-9754-4084-899B-6CD1E7BABF02}"/>
              </a:ext>
            </a:extLst>
          </p:cNvPr>
          <p:cNvPicPr>
            <a:picLocks xmlns:a="http://schemas.openxmlformats.org/drawingml/2006/main" noChangeAspect="1"/>
          </p:cNvPicPr>
          <p:nvPr/>
        </p:nvPicPr>
        <p:blipFill>
          <a:blip xmlns:r="http://schemas.openxmlformats.org/officeDocument/2006/relationships" xmlns:a="http://schemas.openxmlformats.org/drawingml/2006/main" r:embed="R662863a3d1734bc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le-background">
            <a:extLst xmlns:a="http://schemas.openxmlformats.org/drawingml/2006/main">
              <a:ext uri="{FF2B5EF4-FFF2-40B4-BE49-F238E27FC236}">
                <a16:creationId xmlns:a16="http://schemas.microsoft.com/office/drawing/2014/main" id="{4967C080-D649-4439-B85D-BF1A1CF587C0}"/>
              </a:ext>
            </a:extLst>
          </p:cNvPr>
          <p:cNvSpPr>
            <a:spLocks xmlns:a="http://schemas.openxmlformats.org/drawingml/2006/main" noGrp="1"/>
          </p:cNvSpPr>
          <p:nvPr/>
        </p:nvSpPr>
        <p:spPr>
          <a:xfrm xmlns:a="http://schemas.openxmlformats.org/drawingml/2006/main">
            <a:off x="426720" y="198120"/>
            <a:ext cx="9220200" cy="73152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slide-title">
            <a:extLst xmlns:a="http://schemas.openxmlformats.org/drawingml/2006/main">
              <a:ext uri="{FF2B5EF4-FFF2-40B4-BE49-F238E27FC236}">
                <a16:creationId xmlns:a16="http://schemas.microsoft.com/office/drawing/2014/main" id="{54A55F6A-9F3A-4F85-9681-AE42E397715A}"/>
              </a:ext>
            </a:extLst>
          </p:cNvPr>
          <p:cNvSpPr>
            <a:spLocks xmlns:a="http://schemas.openxmlformats.org/drawingml/2006/main" noGrp="1"/>
          </p:cNvSpPr>
          <p:nvPr/>
        </p:nvSpPr>
        <p:spPr>
          <a:xfrm xmlns:a="http://schemas.openxmlformats.org/drawingml/2006/main">
            <a:off x="609600" y="320040"/>
            <a:ext cx="952500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700" b="1">
                <a:solidFill>
                  <a:srgbClr val="111111"/>
                </a:solidFill>
                <a:latin typeface="Times New Roman"/>
                <a:ea typeface="Times New Roman"/>
                <a:cs typeface="Times New Roman"/>
              </a:defRPr>
            </a:defPPr>
          </a:lstStyle>
          <a:p xmlns:a="http://schemas.openxmlformats.org/drawingml/2006/main">
            <a:pPr>
              <a:defRPr sz="2700" b="1">
                <a:solidFill>
                  <a:srgbClr val="111111"/>
                </a:solidFill>
                <a:latin typeface="Times New Roman"/>
                <a:ea typeface="Times New Roman"/>
                <a:cs typeface="Times New Roman"/>
              </a:defRPr>
            </a:pPr>
            <a:r>
              <a:rPr sz="2700" b="1">
                <a:solidFill>
                  <a:srgbClr val="111111"/>
                </a:solidFill>
                <a:latin typeface="Times New Roman"/>
                <a:ea typeface="Times New Roman"/>
                <a:cs typeface="Times New Roman"/>
              </a:rPr>
              <a:t>训练配置与基线训练</a:t>
            </a:r>
          </a:p>
        </p:txBody>
      </p:sp>
      <p:sp>
        <p:nvSpPr>
          <p:cNvPr id="4" name="eval-subtitle">
            <a:extLst xmlns:a="http://schemas.openxmlformats.org/drawingml/2006/main">
              <a:ext uri="{FF2B5EF4-FFF2-40B4-BE49-F238E27FC236}">
                <a16:creationId xmlns:a16="http://schemas.microsoft.com/office/drawing/2014/main" id="{02034E6B-9B22-45F0-A652-7BAA30E5E466}"/>
              </a:ext>
            </a:extLst>
          </p:cNvPr>
          <p:cNvSpPr>
            <a:spLocks xmlns:a="http://schemas.openxmlformats.org/drawingml/2006/main" noGrp="1"/>
          </p:cNvSpPr>
          <p:nvPr/>
        </p:nvSpPr>
        <p:spPr>
          <a:xfrm xmlns:a="http://schemas.openxmlformats.org/drawingml/2006/main">
            <a:off x="742950" y="1000125"/>
            <a:ext cx="676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1">
                <a:solidFill>
                  <a:srgbClr val="357AE8"/>
                </a:solidFill>
                <a:latin typeface="Times New Roman"/>
                <a:ea typeface="Times New Roman"/>
                <a:cs typeface="Times New Roman"/>
              </a:defRPr>
            </a:defPPr>
          </a:lstStyle>
          <a:p xmlns:a="http://schemas.openxmlformats.org/drawingml/2006/main">
            <a:pPr>
              <a:defRPr sz="2025" b="1">
                <a:solidFill>
                  <a:srgbClr val="357AE8"/>
                </a:solidFill>
                <a:latin typeface="Times New Roman"/>
                <a:ea typeface="Times New Roman"/>
                <a:cs typeface="Times New Roman"/>
              </a:defRPr>
            </a:pPr>
            <a:r>
              <a:rPr sz="2025" b="1">
                <a:solidFill>
                  <a:srgbClr val="357AE8"/>
                </a:solidFill>
                <a:latin typeface="Times New Roman"/>
                <a:ea typeface="Times New Roman"/>
                <a:cs typeface="Times New Roman"/>
              </a:rPr>
              <a:t>vf-eval 多轮交互评测框架</a:t>
            </a:r>
          </a:p>
        </p:txBody>
      </p:sp>
      <p:sp>
        <p:nvSpPr>
          <p:cNvPr id="5" name="serve-bullet">
            <a:extLst xmlns:a="http://schemas.openxmlformats.org/drawingml/2006/main">
              <a:ext uri="{FF2B5EF4-FFF2-40B4-BE49-F238E27FC236}">
                <a16:creationId xmlns:a16="http://schemas.microsoft.com/office/drawing/2014/main" id="{19DCE800-3DD2-4E38-88C0-1B21801353BA}"/>
              </a:ext>
            </a:extLst>
          </p:cNvPr>
          <p:cNvSpPr>
            <a:spLocks xmlns:a="http://schemas.openxmlformats.org/drawingml/2006/main" noGrp="1"/>
          </p:cNvSpPr>
          <p:nvPr/>
        </p:nvSpPr>
        <p:spPr>
          <a:xfrm xmlns:a="http://schemas.openxmlformats.org/drawingml/2006/main">
            <a:off x="619125" y="1504950"/>
            <a:ext cx="114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111111"/>
                </a:solidFill>
                <a:latin typeface="Times New Roman"/>
                <a:ea typeface="Times New Roman"/>
                <a:cs typeface="Times New Roman"/>
              </a:defRPr>
            </a:defPPr>
          </a:lstStyle>
          <a:p xmlns:a="http://schemas.openxmlformats.org/drawingml/2006/main">
            <a:pPr>
              <a:defRPr sz="1500">
                <a:solidFill>
                  <a:srgbClr val="111111"/>
                </a:solidFill>
                <a:latin typeface="Times New Roman"/>
                <a:ea typeface="Times New Roman"/>
                <a:cs typeface="Times New Roman"/>
              </a:defRPr>
            </a:pPr>
            <a:r>
              <a:rPr sz="1500">
                <a:solidFill>
                  <a:srgbClr val="111111"/>
                </a:solidFill>
                <a:latin typeface="Times New Roman"/>
                <a:ea typeface="Times New Roman"/>
                <a:cs typeface="Times New Roman"/>
              </a:rPr>
              <a:t>-</a:t>
            </a:r>
          </a:p>
        </p:txBody>
      </p:sp>
      <p:sp>
        <p:nvSpPr>
          <p:cNvPr id="6" name="serve-body">
            <a:extLst xmlns:a="http://schemas.openxmlformats.org/drawingml/2006/main">
              <a:ext uri="{FF2B5EF4-FFF2-40B4-BE49-F238E27FC236}">
                <a16:creationId xmlns:a16="http://schemas.microsoft.com/office/drawing/2014/main" id="{44CCF248-A0CA-4A88-BDFE-DFE3F0AA245D}"/>
              </a:ext>
            </a:extLst>
          </p:cNvPr>
          <p:cNvSpPr>
            <a:spLocks xmlns:a="http://schemas.openxmlformats.org/drawingml/2006/main" noGrp="1"/>
          </p:cNvSpPr>
          <p:nvPr/>
        </p:nvSpPr>
        <p:spPr>
          <a:xfrm xmlns:a="http://schemas.openxmlformats.org/drawingml/2006/main">
            <a:off x="781050" y="1504950"/>
            <a:ext cx="64865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63">
                <a:solidFill>
                  <a:srgbClr val="111111"/>
                </a:solidFill>
                <a:latin typeface="Times New Roman"/>
                <a:ea typeface="Times New Roman"/>
                <a:cs typeface="Times New Roman"/>
              </a:defRPr>
            </a:defPPr>
          </a:lstStyle>
          <a:p xmlns:a="http://schemas.openxmlformats.org/drawingml/2006/main">
            <a:pPr>
              <a:defRPr sz="1463">
                <a:solidFill>
                  <a:srgbClr val="111111"/>
                </a:solidFill>
                <a:latin typeface="Times New Roman"/>
                <a:ea typeface="Times New Roman"/>
                <a:cs typeface="Times New Roman"/>
              </a:defRPr>
            </a:pPr>
            <a:r>
              <a:rPr sz="1463">
                <a:solidFill>
                  <a:srgbClr val="111111"/>
                </a:solidFill>
                <a:latin typeface="Times New Roman"/>
                <a:ea typeface="Times New Roman"/>
                <a:cs typeface="Times New Roman"/>
              </a:rPr>
              <a:t>使用极简的 OpenAI 兼容推理服务，通过 transformers + torch_npu</a:t>
            </a:r>
          </a:p>
          <a:p xmlns:a="http://schemas.openxmlformats.org/drawingml/2006/main">
            <a:pPr>
              <a:defRPr sz="1463">
                <a:solidFill>
                  <a:srgbClr val="111111"/>
                </a:solidFill>
                <a:latin typeface="Times New Roman"/>
                <a:ea typeface="Times New Roman"/>
                <a:cs typeface="Times New Roman"/>
              </a:defRPr>
            </a:pPr>
            <a:r>
              <a:rPr sz="1463">
                <a:solidFill>
                  <a:srgbClr val="111111"/>
                </a:solidFill>
                <a:latin typeface="Times New Roman"/>
                <a:ea typeface="Times New Roman"/>
                <a:cs typeface="Times New Roman"/>
              </a:rPr>
              <a:t>直接加载 SFT 权重。</a:t>
            </a:r>
          </a:p>
        </p:txBody>
      </p:sp>
      <p:sp>
        <p:nvSpPr>
          <p:cNvPr id="7" name="eval-bullet">
            <a:extLst xmlns:a="http://schemas.openxmlformats.org/drawingml/2006/main">
              <a:ext uri="{FF2B5EF4-FFF2-40B4-BE49-F238E27FC236}">
                <a16:creationId xmlns:a16="http://schemas.microsoft.com/office/drawing/2014/main" id="{0A8AD3F4-90E5-4920-8C35-BB4EF33BB94F}"/>
              </a:ext>
            </a:extLst>
          </p:cNvPr>
          <p:cNvSpPr>
            <a:spLocks xmlns:a="http://schemas.openxmlformats.org/drawingml/2006/main" noGrp="1"/>
          </p:cNvSpPr>
          <p:nvPr/>
        </p:nvSpPr>
        <p:spPr>
          <a:xfrm xmlns:a="http://schemas.openxmlformats.org/drawingml/2006/main">
            <a:off x="619125" y="2076450"/>
            <a:ext cx="114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111111"/>
                </a:solidFill>
                <a:latin typeface="Times New Roman"/>
                <a:ea typeface="Times New Roman"/>
                <a:cs typeface="Times New Roman"/>
              </a:defRPr>
            </a:defPPr>
          </a:lstStyle>
          <a:p xmlns:a="http://schemas.openxmlformats.org/drawingml/2006/main">
            <a:pPr>
              <a:defRPr sz="1500">
                <a:solidFill>
                  <a:srgbClr val="111111"/>
                </a:solidFill>
                <a:latin typeface="Times New Roman"/>
                <a:ea typeface="Times New Roman"/>
                <a:cs typeface="Times New Roman"/>
              </a:defRPr>
            </a:pPr>
            <a:r>
              <a:rPr sz="1500">
                <a:solidFill>
                  <a:srgbClr val="111111"/>
                </a:solidFill>
                <a:latin typeface="Times New Roman"/>
                <a:ea typeface="Times New Roman"/>
                <a:cs typeface="Times New Roman"/>
              </a:rPr>
              <a:t>-</a:t>
            </a:r>
          </a:p>
        </p:txBody>
      </p:sp>
      <p:sp>
        <p:nvSpPr>
          <p:cNvPr id="8" name="eval-body">
            <a:extLst xmlns:a="http://schemas.openxmlformats.org/drawingml/2006/main">
              <a:ext uri="{FF2B5EF4-FFF2-40B4-BE49-F238E27FC236}">
                <a16:creationId xmlns:a16="http://schemas.microsoft.com/office/drawing/2014/main" id="{45719298-F661-49D8-A86A-D216541E8DA3}"/>
              </a:ext>
            </a:extLst>
          </p:cNvPr>
          <p:cNvSpPr>
            <a:spLocks xmlns:a="http://schemas.openxmlformats.org/drawingml/2006/main" noGrp="1"/>
          </p:cNvSpPr>
          <p:nvPr/>
        </p:nvSpPr>
        <p:spPr>
          <a:xfrm xmlns:a="http://schemas.openxmlformats.org/drawingml/2006/main">
            <a:off x="781050" y="2076450"/>
            <a:ext cx="64865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63">
                <a:solidFill>
                  <a:srgbClr val="111111"/>
                </a:solidFill>
                <a:latin typeface="Times New Roman"/>
                <a:ea typeface="Times New Roman"/>
                <a:cs typeface="Times New Roman"/>
              </a:defRPr>
            </a:defPPr>
          </a:lstStyle>
          <a:p xmlns:a="http://schemas.openxmlformats.org/drawingml/2006/main">
            <a:pPr>
              <a:defRPr sz="1463">
                <a:solidFill>
                  <a:srgbClr val="111111"/>
                </a:solidFill>
                <a:latin typeface="Times New Roman"/>
                <a:ea typeface="Times New Roman"/>
                <a:cs typeface="Times New Roman"/>
              </a:defRPr>
            </a:pPr>
            <a:r>
              <a:rPr sz="1463">
                <a:solidFill>
                  <a:srgbClr val="111111"/>
                </a:solidFill>
                <a:latin typeface="Times New Roman"/>
                <a:ea typeface="Times New Roman"/>
                <a:cs typeface="Times New Roman"/>
              </a:rPr>
              <a:t>vf-eval 是 Prime-RL 使用的 verifiers 包提供的命令行评测工具。</a:t>
            </a:r>
          </a:p>
          <a:p xmlns:a="http://schemas.openxmlformats.org/drawingml/2006/main">
            <a:pPr>
              <a:defRPr sz="1463">
                <a:solidFill>
                  <a:srgbClr val="111111"/>
                </a:solidFill>
                <a:latin typeface="Times New Roman"/>
                <a:ea typeface="Times New Roman"/>
                <a:cs typeface="Times New Roman"/>
              </a:defRPr>
            </a:pPr>
            <a:r>
              <a:rPr sz="1463">
                <a:solidFill>
                  <a:srgbClr val="111111"/>
                </a:solidFill>
                <a:latin typeface="Times New Roman"/>
                <a:ea typeface="Times New Roman"/>
                <a:cs typeface="Times New Roman"/>
              </a:rPr>
              <a:t>它加载 Wordle 环境，发送多轮对话请求，模拟完整游戏并计算 reward。</a:t>
            </a:r>
          </a:p>
        </p:txBody>
      </p:sp>
      <p:sp>
        <p:nvSpPr>
          <p:cNvPr id="9" name="feedback-bullet">
            <a:extLst xmlns:a="http://schemas.openxmlformats.org/drawingml/2006/main">
              <a:ext uri="{FF2B5EF4-FFF2-40B4-BE49-F238E27FC236}">
                <a16:creationId xmlns:a16="http://schemas.microsoft.com/office/drawing/2014/main" id="{38E14938-E89E-4057-8EC2-E5FD11CB091D}"/>
              </a:ext>
            </a:extLst>
          </p:cNvPr>
          <p:cNvSpPr>
            <a:spLocks xmlns:a="http://schemas.openxmlformats.org/drawingml/2006/main" noGrp="1"/>
          </p:cNvSpPr>
          <p:nvPr/>
        </p:nvSpPr>
        <p:spPr>
          <a:xfrm xmlns:a="http://schemas.openxmlformats.org/drawingml/2006/main">
            <a:off x="619125" y="2647950"/>
            <a:ext cx="114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111111"/>
                </a:solidFill>
                <a:latin typeface="Times New Roman"/>
                <a:ea typeface="Times New Roman"/>
                <a:cs typeface="Times New Roman"/>
              </a:defRPr>
            </a:defPPr>
          </a:lstStyle>
          <a:p xmlns:a="http://schemas.openxmlformats.org/drawingml/2006/main">
            <a:pPr>
              <a:defRPr sz="1500">
                <a:solidFill>
                  <a:srgbClr val="111111"/>
                </a:solidFill>
                <a:latin typeface="Times New Roman"/>
                <a:ea typeface="Times New Roman"/>
                <a:cs typeface="Times New Roman"/>
              </a:defRPr>
            </a:pPr>
            <a:r>
              <a:rPr sz="1500">
                <a:solidFill>
                  <a:srgbClr val="111111"/>
                </a:solidFill>
                <a:latin typeface="Times New Roman"/>
                <a:ea typeface="Times New Roman"/>
                <a:cs typeface="Times New Roman"/>
              </a:rPr>
              <a:t>-</a:t>
            </a:r>
          </a:p>
        </p:txBody>
      </p:sp>
      <p:sp>
        <p:nvSpPr>
          <p:cNvPr id="10" name="feedback-body">
            <a:extLst xmlns:a="http://schemas.openxmlformats.org/drawingml/2006/main">
              <a:ext uri="{FF2B5EF4-FFF2-40B4-BE49-F238E27FC236}">
                <a16:creationId xmlns:a16="http://schemas.microsoft.com/office/drawing/2014/main" id="{7BCCD8A5-CA5C-4F27-B0F8-3917BEDC9EE2}"/>
              </a:ext>
            </a:extLst>
          </p:cNvPr>
          <p:cNvSpPr>
            <a:spLocks xmlns:a="http://schemas.openxmlformats.org/drawingml/2006/main" noGrp="1"/>
          </p:cNvSpPr>
          <p:nvPr/>
        </p:nvSpPr>
        <p:spPr>
          <a:xfrm xmlns:a="http://schemas.openxmlformats.org/drawingml/2006/main">
            <a:off x="781050" y="2647950"/>
            <a:ext cx="64865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63">
                <a:solidFill>
                  <a:srgbClr val="111111"/>
                </a:solidFill>
                <a:latin typeface="Times New Roman"/>
                <a:ea typeface="Times New Roman"/>
                <a:cs typeface="Times New Roman"/>
              </a:defRPr>
            </a:defPPr>
          </a:lstStyle>
          <a:p xmlns:a="http://schemas.openxmlformats.org/drawingml/2006/main">
            <a:pPr>
              <a:defRPr sz="1463">
                <a:solidFill>
                  <a:srgbClr val="111111"/>
                </a:solidFill>
                <a:latin typeface="Times New Roman"/>
                <a:ea typeface="Times New Roman"/>
                <a:cs typeface="Times New Roman"/>
              </a:defRPr>
            </a:pPr>
            <a:r>
              <a:rPr sz="1463">
                <a:solidFill>
                  <a:srgbClr val="111111"/>
                </a:solidFill>
                <a:latin typeface="Times New Roman"/>
                <a:ea typeface="Times New Roman"/>
                <a:cs typeface="Times New Roman"/>
              </a:rPr>
              <a:t>每次 assistant 回复后，环境解析猜词并返回 G/Y/X 反馈。猜中或</a:t>
            </a:r>
          </a:p>
          <a:p xmlns:a="http://schemas.openxmlformats.org/drawingml/2006/main">
            <a:pPr>
              <a:defRPr sz="1463">
                <a:solidFill>
                  <a:srgbClr val="111111"/>
                </a:solidFill>
                <a:latin typeface="Times New Roman"/>
                <a:ea typeface="Times New Roman"/>
                <a:cs typeface="Times New Roman"/>
              </a:defRPr>
            </a:pPr>
            <a:r>
              <a:rPr sz="1463">
                <a:solidFill>
                  <a:srgbClr val="111111"/>
                </a:solidFill>
                <a:latin typeface="Times New Roman"/>
                <a:ea typeface="Times New Roman"/>
                <a:cs typeface="Times New Roman"/>
              </a:rPr>
              <a:t>达到回合上限时结束 rollout，否则将反馈作为下一轮 user 消息</a:t>
            </a:r>
          </a:p>
          <a:p xmlns:a="http://schemas.openxmlformats.org/drawingml/2006/main">
            <a:pPr>
              <a:defRPr sz="1463">
                <a:solidFill>
                  <a:srgbClr val="111111"/>
                </a:solidFill>
                <a:latin typeface="Times New Roman"/>
                <a:ea typeface="Times New Roman"/>
                <a:cs typeface="Times New Roman"/>
              </a:defRPr>
            </a:pPr>
            <a:r>
              <a:rPr sz="1463">
                <a:solidFill>
                  <a:srgbClr val="111111"/>
                </a:solidFill>
                <a:latin typeface="Times New Roman"/>
                <a:ea typeface="Times New Roman"/>
                <a:cs typeface="Times New Roman"/>
              </a:rPr>
              <a:t>送回模型。</a:t>
            </a:r>
          </a:p>
        </p:txBody>
      </p:sp>
      <p:sp>
        <p:nvSpPr>
          <p:cNvPr id="11" name="parser-bullet">
            <a:extLst xmlns:a="http://schemas.openxmlformats.org/drawingml/2006/main">
              <a:ext uri="{FF2B5EF4-FFF2-40B4-BE49-F238E27FC236}">
                <a16:creationId xmlns:a16="http://schemas.microsoft.com/office/drawing/2014/main" id="{B296BF17-C124-41E8-8835-31872054A012}"/>
              </a:ext>
            </a:extLst>
          </p:cNvPr>
          <p:cNvSpPr>
            <a:spLocks xmlns:a="http://schemas.openxmlformats.org/drawingml/2006/main" noGrp="1"/>
          </p:cNvSpPr>
          <p:nvPr/>
        </p:nvSpPr>
        <p:spPr>
          <a:xfrm xmlns:a="http://schemas.openxmlformats.org/drawingml/2006/main">
            <a:off x="619125" y="3429000"/>
            <a:ext cx="114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111111"/>
                </a:solidFill>
                <a:latin typeface="Times New Roman"/>
                <a:ea typeface="Times New Roman"/>
                <a:cs typeface="Times New Roman"/>
              </a:defRPr>
            </a:defPPr>
          </a:lstStyle>
          <a:p xmlns:a="http://schemas.openxmlformats.org/drawingml/2006/main">
            <a:pPr>
              <a:defRPr sz="1500">
                <a:solidFill>
                  <a:srgbClr val="111111"/>
                </a:solidFill>
                <a:latin typeface="Times New Roman"/>
                <a:ea typeface="Times New Roman"/>
                <a:cs typeface="Times New Roman"/>
              </a:defRPr>
            </a:pPr>
            <a:r>
              <a:rPr sz="1500">
                <a:solidFill>
                  <a:srgbClr val="111111"/>
                </a:solidFill>
                <a:latin typeface="Times New Roman"/>
                <a:ea typeface="Times New Roman"/>
                <a:cs typeface="Times New Roman"/>
              </a:rPr>
              <a:t>-</a:t>
            </a:r>
          </a:p>
        </p:txBody>
      </p:sp>
      <p:sp>
        <p:nvSpPr>
          <p:cNvPr id="12" name="parser-body">
            <a:extLst xmlns:a="http://schemas.openxmlformats.org/drawingml/2006/main">
              <a:ext uri="{FF2B5EF4-FFF2-40B4-BE49-F238E27FC236}">
                <a16:creationId xmlns:a16="http://schemas.microsoft.com/office/drawing/2014/main" id="{D3BA4B52-784C-4FD6-8843-E00D32887E48}"/>
              </a:ext>
            </a:extLst>
          </p:cNvPr>
          <p:cNvSpPr>
            <a:spLocks xmlns:a="http://schemas.openxmlformats.org/drawingml/2006/main" noGrp="1"/>
          </p:cNvSpPr>
          <p:nvPr/>
        </p:nvSpPr>
        <p:spPr>
          <a:xfrm xmlns:a="http://schemas.openxmlformats.org/drawingml/2006/main">
            <a:off x="781050" y="3429000"/>
            <a:ext cx="64865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63">
                <a:solidFill>
                  <a:srgbClr val="111111"/>
                </a:solidFill>
                <a:latin typeface="Times New Roman"/>
                <a:ea typeface="Times New Roman"/>
                <a:cs typeface="Times New Roman"/>
              </a:defRPr>
            </a:defPPr>
          </a:lstStyle>
          <a:p xmlns:a="http://schemas.openxmlformats.org/drawingml/2006/main">
            <a:pPr>
              <a:defRPr sz="1463">
                <a:solidFill>
                  <a:srgbClr val="111111"/>
                </a:solidFill>
                <a:latin typeface="Times New Roman"/>
                <a:ea typeface="Times New Roman"/>
                <a:cs typeface="Times New Roman"/>
              </a:defRPr>
            </a:pPr>
            <a:r>
              <a:rPr sz="1463">
                <a:solidFill>
                  <a:srgbClr val="111111"/>
                </a:solidFill>
                <a:latin typeface="Times New Roman"/>
                <a:ea typeface="Times New Roman"/>
                <a:cs typeface="Times New Roman"/>
              </a:rPr>
              <a:t>XMLParser 检查 &lt;think&gt;…&lt;/think&gt; 和 &lt;guess&gt;…&lt;/guess&gt; 字段，</a:t>
            </a:r>
          </a:p>
          <a:p xmlns:a="http://schemas.openxmlformats.org/drawingml/2006/main">
            <a:pPr>
              <a:defRPr sz="1463">
                <a:solidFill>
                  <a:srgbClr val="111111"/>
                </a:solidFill>
                <a:latin typeface="Times New Roman"/>
                <a:ea typeface="Times New Roman"/>
                <a:cs typeface="Times New Roman"/>
              </a:defRPr>
            </a:pPr>
            <a:r>
              <a:rPr sz="1463">
                <a:solidFill>
                  <a:srgbClr val="111111"/>
                </a:solidFill>
                <a:latin typeface="Times New Roman"/>
                <a:ea typeface="Times New Roman"/>
                <a:cs typeface="Times New Roman"/>
              </a:rPr>
              <a:t>并据此计算 format_reward_func。</a:t>
            </a:r>
          </a:p>
        </p:txBody>
      </p:sp>
      <p:pic>
        <p:nvPicPr>
          <p:cNvPr id="13" name="">
            <a:extLst xmlns:a="http://schemas.openxmlformats.org/drawingml/2006/main">
              <a:ext uri="{FF2B5EF4-FFF2-40B4-BE49-F238E27FC236}">
                <a16:creationId xmlns:a16="http://schemas.microsoft.com/office/drawing/2014/main" id="{D930A575-DEC1-4FC2-90F3-8165EED099F5}"/>
              </a:ext>
            </a:extLst>
          </p:cNvPr>
          <p:cNvPicPr>
            <a:picLocks xmlns:a="http://schemas.openxmlformats.org/drawingml/2006/main" noChangeAspect="1"/>
          </p:cNvPicPr>
          <p:nvPr/>
        </p:nvPicPr>
        <p:blipFill>
          <a:blip xmlns:r="http://schemas.openxmlformats.org/officeDocument/2006/relationships" xmlns:a="http://schemas.openxmlformats.org/drawingml/2006/main" r:embed="R4fa68431620e4f09"/>
          <a:stretch xmlns:a="http://schemas.openxmlformats.org/drawingml/2006/main"/>
        </p:blipFill>
        <p:spPr>
          <a:xfrm xmlns:a="http://schemas.openxmlformats.org/drawingml/2006/main">
            <a:off x="1819277" y="3895725"/>
            <a:ext cx="3333745" cy="2222497"/>
          </a:xfrm>
          <a:prstGeom xmlns:a="http://schemas.openxmlformats.org/drawingml/2006/main" prst="rect">
            <a:avLst/>
          </a:prstGeom>
        </p:spPr>
      </p:pic>
      <p:sp>
        <p:nvSpPr>
          <p:cNvPr id="14" name="flow-title">
            <a:extLst xmlns:a="http://schemas.openxmlformats.org/drawingml/2006/main">
              <a:ext uri="{FF2B5EF4-FFF2-40B4-BE49-F238E27FC236}">
                <a16:creationId xmlns:a16="http://schemas.microsoft.com/office/drawing/2014/main" id="{E7C937D6-8C6E-4FD8-BA3B-45EF9E66BB5B}"/>
              </a:ext>
            </a:extLst>
          </p:cNvPr>
          <p:cNvSpPr>
            <a:spLocks xmlns:a="http://schemas.openxmlformats.org/drawingml/2006/main" noGrp="1"/>
          </p:cNvSpPr>
          <p:nvPr/>
        </p:nvSpPr>
        <p:spPr>
          <a:xfrm xmlns:a="http://schemas.openxmlformats.org/drawingml/2006/main">
            <a:off x="7581900" y="10858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1">
                <a:solidFill>
                  <a:srgbClr val="111111"/>
                </a:solidFill>
                <a:latin typeface="Times New Roman"/>
                <a:ea typeface="Times New Roman"/>
                <a:cs typeface="Times New Roman"/>
              </a:defRPr>
            </a:defPPr>
          </a:lstStyle>
          <a:p xmlns:a="http://schemas.openxmlformats.org/drawingml/2006/main">
            <a:pPr algn="ctr">
              <a:defRPr sz="1275" b="1">
                <a:solidFill>
                  <a:srgbClr val="111111"/>
                </a:solidFill>
                <a:latin typeface="Times New Roman"/>
                <a:ea typeface="Times New Roman"/>
                <a:cs typeface="Times New Roman"/>
              </a:defRPr>
            </a:pPr>
            <a:r>
              <a:rPr sz="1275" b="1">
                <a:solidFill>
                  <a:srgbClr val="111111"/>
                </a:solidFill>
                <a:latin typeface="Times New Roman"/>
                <a:ea typeface="Times New Roman"/>
                <a:cs typeface="Times New Roman"/>
              </a:rPr>
              <a:t>vf-eval：一局 Wordle 的条件循环</a:t>
            </a:r>
          </a:p>
        </p:txBody>
      </p:sp>
      <p:sp>
        <p:nvSpPr>
          <p:cNvPr id="15" name="flow-1">
            <a:extLst xmlns:a="http://schemas.openxmlformats.org/drawingml/2006/main">
              <a:ext uri="{FF2B5EF4-FFF2-40B4-BE49-F238E27FC236}">
                <a16:creationId xmlns:a16="http://schemas.microsoft.com/office/drawing/2014/main" id="{96A9B240-484B-4035-BC34-12120C198FAD}"/>
              </a:ext>
            </a:extLst>
          </p:cNvPr>
          <p:cNvSpPr>
            <a:spLocks xmlns:a="http://schemas.openxmlformats.org/drawingml/2006/main" noGrp="1"/>
          </p:cNvSpPr>
          <p:nvPr/>
        </p:nvSpPr>
        <p:spPr>
          <a:xfrm xmlns:a="http://schemas.openxmlformats.org/drawingml/2006/main">
            <a:off x="7753350" y="1466850"/>
            <a:ext cx="2476500" cy="495300"/>
          </a:xfrm>
          <a:prstGeom xmlns:a="http://schemas.openxmlformats.org/drawingml/2006/main" prst="roundRect">
            <a:avLst>
              <a:gd name="adj" fmla="val 13462"/>
            </a:avLst>
          </a:prstGeom>
          <a:solidFill xmlns:a="http://schemas.openxmlformats.org/drawingml/2006/main">
            <a:srgbClr val="EAF7EF"/>
          </a:solidFill>
          <a:ln xmlns:a="http://schemas.openxmlformats.org/drawingml/2006/main" w="15240">
            <a:solidFill>
              <a:srgbClr val="59A47B"/>
            </a:solidFill>
          </a:ln>
        </p:spPr>
        <p:txBody>
          <a:bodyPr xmlns:a="http://schemas.openxmlformats.org/drawingml/2006/main" wrap="square" lIns="76200" tIns="47625" rIns="76200" bIns="47625" anchor="ctr">
            <a:noAutofit/>
          </a:bodyPr>
          <a:lstStyle xmlns:a="http://schemas.openxmlformats.org/drawingml/2006/main">
            <a:defPPr algn="ctr">
              <a:defRPr sz="1275">
                <a:solidFill>
                  <a:srgbClr val="222222"/>
                </a:solidFill>
                <a:latin typeface="Times New Roman"/>
                <a:ea typeface="Times New Roman"/>
                <a:cs typeface="Times New Roman"/>
              </a:defRPr>
            </a:defPPr>
          </a:lstStyle>
          <a:p xmlns:a="http://schemas.openxmlformats.org/drawingml/2006/main">
            <a:pPr algn="ctr">
              <a:defRPr sz="1275">
                <a:solidFill>
                  <a:srgbClr val="222222"/>
                </a:solidFill>
                <a:latin typeface="Times New Roman"/>
                <a:ea typeface="Times New Roman"/>
                <a:cs typeface="Times New Roman"/>
              </a:defRPr>
            </a:pPr>
            <a:r>
              <a:rPr sz="1275">
                <a:solidFill>
                  <a:srgbClr val="222222"/>
                </a:solidFill>
                <a:latin typeface="Times New Roman"/>
                <a:ea typeface="Times New Roman"/>
                <a:cs typeface="Times New Roman"/>
              </a:rPr>
              <a:t>1. 环境选择秘密词</a:t>
            </a:r>
          </a:p>
          <a:p xmlns:a="http://schemas.openxmlformats.org/drawingml/2006/main">
            <a:pPr algn="ctr">
              <a:defRPr sz="1275">
                <a:solidFill>
                  <a:srgbClr val="222222"/>
                </a:solidFill>
                <a:latin typeface="Times New Roman"/>
                <a:ea typeface="Times New Roman"/>
                <a:cs typeface="Times New Roman"/>
              </a:defRPr>
            </a:pPr>
            <a:r>
              <a:rPr sz="1275">
                <a:solidFill>
                  <a:srgbClr val="222222"/>
                </a:solidFill>
                <a:latin typeface="Times New Roman"/>
                <a:ea typeface="Times New Roman"/>
                <a:cs typeface="Times New Roman"/>
              </a:rPr>
              <a:t>初始化轮次与对话历史</a:t>
            </a:r>
          </a:p>
        </p:txBody>
      </p:sp>
      <p:sp>
        <p:nvSpPr>
          <p:cNvPr id="16" name="flow-2">
            <a:extLst xmlns:a="http://schemas.openxmlformats.org/drawingml/2006/main">
              <a:ext uri="{FF2B5EF4-FFF2-40B4-BE49-F238E27FC236}">
                <a16:creationId xmlns:a16="http://schemas.microsoft.com/office/drawing/2014/main" id="{A1D743A4-9603-48D9-B034-5026F634A07C}"/>
              </a:ext>
            </a:extLst>
          </p:cNvPr>
          <p:cNvSpPr>
            <a:spLocks xmlns:a="http://schemas.openxmlformats.org/drawingml/2006/main" noGrp="1"/>
          </p:cNvSpPr>
          <p:nvPr/>
        </p:nvSpPr>
        <p:spPr>
          <a:xfrm xmlns:a="http://schemas.openxmlformats.org/drawingml/2006/main">
            <a:off x="7753350" y="2171700"/>
            <a:ext cx="2476500" cy="495300"/>
          </a:xfrm>
          <a:prstGeom xmlns:a="http://schemas.openxmlformats.org/drawingml/2006/main" prst="roundRect">
            <a:avLst>
              <a:gd name="adj" fmla="val 13462"/>
            </a:avLst>
          </a:prstGeom>
          <a:solidFill xmlns:a="http://schemas.openxmlformats.org/drawingml/2006/main">
            <a:srgbClr val="EDF4FD"/>
          </a:solidFill>
          <a:ln xmlns:a="http://schemas.openxmlformats.org/drawingml/2006/main" w="15240">
            <a:solidFill>
              <a:srgbClr val="608AC5"/>
            </a:solidFill>
          </a:ln>
        </p:spPr>
        <p:txBody>
          <a:bodyPr xmlns:a="http://schemas.openxmlformats.org/drawingml/2006/main" wrap="square" lIns="76200" tIns="47625" rIns="76200" bIns="47625" anchor="ctr">
            <a:noAutofit/>
          </a:bodyPr>
          <a:lstStyle xmlns:a="http://schemas.openxmlformats.org/drawingml/2006/main">
            <a:defPPr algn="ctr">
              <a:defRPr sz="1275">
                <a:solidFill>
                  <a:srgbClr val="222222"/>
                </a:solidFill>
                <a:latin typeface="Times New Roman"/>
                <a:ea typeface="Times New Roman"/>
                <a:cs typeface="Times New Roman"/>
              </a:defRPr>
            </a:defPPr>
          </a:lstStyle>
          <a:p xmlns:a="http://schemas.openxmlformats.org/drawingml/2006/main">
            <a:pPr algn="ctr">
              <a:defRPr sz="1275">
                <a:solidFill>
                  <a:srgbClr val="222222"/>
                </a:solidFill>
                <a:latin typeface="Times New Roman"/>
                <a:ea typeface="Times New Roman"/>
                <a:cs typeface="Times New Roman"/>
              </a:defRPr>
            </a:pPr>
            <a:r>
              <a:rPr sz="1275">
                <a:solidFill>
                  <a:srgbClr val="222222"/>
                </a:solidFill>
                <a:latin typeface="Times New Roman"/>
                <a:ea typeface="Times New Roman"/>
                <a:cs typeface="Times New Roman"/>
              </a:rPr>
              <a:t>2. 发送规则与当前对话</a:t>
            </a:r>
          </a:p>
          <a:p xmlns:a="http://schemas.openxmlformats.org/drawingml/2006/main">
            <a:pPr algn="ctr">
              <a:defRPr sz="1275">
                <a:solidFill>
                  <a:srgbClr val="222222"/>
                </a:solidFill>
                <a:latin typeface="Times New Roman"/>
                <a:ea typeface="Times New Roman"/>
                <a:cs typeface="Times New Roman"/>
              </a:defRPr>
            </a:pPr>
            <a:r>
              <a:rPr sz="1275">
                <a:solidFill>
                  <a:srgbClr val="222222"/>
                </a:solidFill>
                <a:latin typeface="Times New Roman"/>
                <a:ea typeface="Times New Roman"/>
                <a:cs typeface="Times New Roman"/>
              </a:rPr>
              <a:t>调用 OpenAI 兼容推理服务</a:t>
            </a:r>
          </a:p>
        </p:txBody>
      </p:sp>
      <p:sp>
        <p:nvSpPr>
          <p:cNvPr id="17" name="flow-3">
            <a:extLst xmlns:a="http://schemas.openxmlformats.org/drawingml/2006/main">
              <a:ext uri="{FF2B5EF4-FFF2-40B4-BE49-F238E27FC236}">
                <a16:creationId xmlns:a16="http://schemas.microsoft.com/office/drawing/2014/main" id="{6A2A673A-353B-4EBE-8708-9BB38984E4A3}"/>
              </a:ext>
            </a:extLst>
          </p:cNvPr>
          <p:cNvSpPr>
            <a:spLocks xmlns:a="http://schemas.openxmlformats.org/drawingml/2006/main" noGrp="1"/>
          </p:cNvSpPr>
          <p:nvPr/>
        </p:nvSpPr>
        <p:spPr>
          <a:xfrm xmlns:a="http://schemas.openxmlformats.org/drawingml/2006/main">
            <a:off x="7753350" y="2876550"/>
            <a:ext cx="2476500" cy="495300"/>
          </a:xfrm>
          <a:prstGeom xmlns:a="http://schemas.openxmlformats.org/drawingml/2006/main" prst="roundRect">
            <a:avLst>
              <a:gd name="adj" fmla="val 13462"/>
            </a:avLst>
          </a:prstGeom>
          <a:solidFill xmlns:a="http://schemas.openxmlformats.org/drawingml/2006/main">
            <a:srgbClr val="F2EFFA"/>
          </a:solidFill>
          <a:ln xmlns:a="http://schemas.openxmlformats.org/drawingml/2006/main" w="15240">
            <a:solidFill>
              <a:srgbClr val="8879B2"/>
            </a:solidFill>
          </a:ln>
        </p:spPr>
        <p:txBody>
          <a:bodyPr xmlns:a="http://schemas.openxmlformats.org/drawingml/2006/main" wrap="square" lIns="76200" tIns="47625" rIns="76200" bIns="47625" anchor="ctr">
            <a:noAutofit/>
          </a:bodyPr>
          <a:lstStyle xmlns:a="http://schemas.openxmlformats.org/drawingml/2006/main">
            <a:defPPr algn="ctr">
              <a:defRPr sz="1275">
                <a:solidFill>
                  <a:srgbClr val="222222"/>
                </a:solidFill>
                <a:latin typeface="Times New Roman"/>
                <a:ea typeface="Times New Roman"/>
                <a:cs typeface="Times New Roman"/>
              </a:defRPr>
            </a:defPPr>
          </a:lstStyle>
          <a:p xmlns:a="http://schemas.openxmlformats.org/drawingml/2006/main">
            <a:pPr algn="ctr">
              <a:defRPr sz="1275">
                <a:solidFill>
                  <a:srgbClr val="222222"/>
                </a:solidFill>
                <a:latin typeface="Times New Roman"/>
                <a:ea typeface="Times New Roman"/>
                <a:cs typeface="Times New Roman"/>
              </a:defRPr>
            </a:pPr>
            <a:r>
              <a:rPr sz="1275">
                <a:solidFill>
                  <a:srgbClr val="222222"/>
                </a:solidFill>
                <a:latin typeface="Times New Roman"/>
                <a:ea typeface="Times New Roman"/>
                <a:cs typeface="Times New Roman"/>
              </a:rPr>
              <a:t>3. 模型返回本轮猜词</a:t>
            </a:r>
          </a:p>
          <a:p xmlns:a="http://schemas.openxmlformats.org/drawingml/2006/main">
            <a:pPr algn="ctr">
              <a:defRPr sz="1275">
                <a:solidFill>
                  <a:srgbClr val="222222"/>
                </a:solidFill>
                <a:latin typeface="Times New Roman"/>
                <a:ea typeface="Times New Roman"/>
                <a:cs typeface="Times New Roman"/>
              </a:defRPr>
            </a:pPr>
            <a:r>
              <a:rPr sz="1275">
                <a:solidFill>
                  <a:srgbClr val="222222"/>
                </a:solidFill>
                <a:latin typeface="Times New Roman"/>
                <a:ea typeface="Times New Roman"/>
                <a:cs typeface="Times New Roman"/>
              </a:rPr>
              <a:t>解析 &lt;guess&gt; 字段</a:t>
            </a:r>
          </a:p>
        </p:txBody>
      </p:sp>
      <p:sp>
        <p:nvSpPr>
          <p:cNvPr id="18" name="flow-4">
            <a:extLst xmlns:a="http://schemas.openxmlformats.org/drawingml/2006/main">
              <a:ext uri="{FF2B5EF4-FFF2-40B4-BE49-F238E27FC236}">
                <a16:creationId xmlns:a16="http://schemas.microsoft.com/office/drawing/2014/main" id="{99CFD54C-A165-445B-8E43-CA5F65F0302D}"/>
              </a:ext>
            </a:extLst>
          </p:cNvPr>
          <p:cNvSpPr>
            <a:spLocks xmlns:a="http://schemas.openxmlformats.org/drawingml/2006/main" noGrp="1"/>
          </p:cNvSpPr>
          <p:nvPr/>
        </p:nvSpPr>
        <p:spPr>
          <a:xfrm xmlns:a="http://schemas.openxmlformats.org/drawingml/2006/main">
            <a:off x="7753350" y="3581400"/>
            <a:ext cx="2476500" cy="495300"/>
          </a:xfrm>
          <a:prstGeom xmlns:a="http://schemas.openxmlformats.org/drawingml/2006/main" prst="roundRect">
            <a:avLst>
              <a:gd name="adj" fmla="val 13462"/>
            </a:avLst>
          </a:prstGeom>
          <a:solidFill xmlns:a="http://schemas.openxmlformats.org/drawingml/2006/main">
            <a:srgbClr val="FEF3E8"/>
          </a:solidFill>
          <a:ln xmlns:a="http://schemas.openxmlformats.org/drawingml/2006/main" w="15240">
            <a:solidFill>
              <a:srgbClr val="D19453"/>
            </a:solidFill>
          </a:ln>
        </p:spPr>
        <p:txBody>
          <a:bodyPr xmlns:a="http://schemas.openxmlformats.org/drawingml/2006/main" wrap="square" lIns="76200" tIns="47625" rIns="76200" bIns="47625" anchor="ctr">
            <a:noAutofit/>
          </a:bodyPr>
          <a:lstStyle xmlns:a="http://schemas.openxmlformats.org/drawingml/2006/main">
            <a:defPPr algn="ctr">
              <a:defRPr sz="1275">
                <a:solidFill>
                  <a:srgbClr val="222222"/>
                </a:solidFill>
                <a:latin typeface="Times New Roman"/>
                <a:ea typeface="Times New Roman"/>
                <a:cs typeface="Times New Roman"/>
              </a:defRPr>
            </a:defPPr>
          </a:lstStyle>
          <a:p xmlns:a="http://schemas.openxmlformats.org/drawingml/2006/main">
            <a:pPr algn="ctr">
              <a:defRPr sz="1275">
                <a:solidFill>
                  <a:srgbClr val="222222"/>
                </a:solidFill>
                <a:latin typeface="Times New Roman"/>
                <a:ea typeface="Times New Roman"/>
                <a:cs typeface="Times New Roman"/>
              </a:defRPr>
            </a:pPr>
            <a:r>
              <a:rPr sz="1275">
                <a:solidFill>
                  <a:srgbClr val="222222"/>
                </a:solidFill>
                <a:latin typeface="Times New Roman"/>
                <a:ea typeface="Times New Roman"/>
                <a:cs typeface="Times New Roman"/>
              </a:rPr>
              <a:t>4. 环境计算 G / Y / X 反馈</a:t>
            </a:r>
          </a:p>
          <a:p xmlns:a="http://schemas.openxmlformats.org/drawingml/2006/main">
            <a:pPr algn="ctr">
              <a:defRPr sz="1275">
                <a:solidFill>
                  <a:srgbClr val="222222"/>
                </a:solidFill>
                <a:latin typeface="Times New Roman"/>
                <a:ea typeface="Times New Roman"/>
                <a:cs typeface="Times New Roman"/>
              </a:defRPr>
            </a:pPr>
            <a:r>
              <a:rPr sz="1275">
                <a:solidFill>
                  <a:srgbClr val="222222"/>
                </a:solidFill>
                <a:latin typeface="Times New Roman"/>
                <a:ea typeface="Times New Roman"/>
                <a:cs typeface="Times New Roman"/>
              </a:rPr>
              <a:t>更新轮次和游戏状态</a:t>
            </a:r>
          </a:p>
        </p:txBody>
      </p:sp>
      <p:sp>
        <p:nvSpPr>
          <p:cNvPr id="19" name="flow-check">
            <a:extLst xmlns:a="http://schemas.openxmlformats.org/drawingml/2006/main">
              <a:ext uri="{FF2B5EF4-FFF2-40B4-BE49-F238E27FC236}">
                <a16:creationId xmlns:a16="http://schemas.microsoft.com/office/drawing/2014/main" id="{FF7DFE75-CC22-408A-9E28-8DF84ED6BDAC}"/>
              </a:ext>
            </a:extLst>
          </p:cNvPr>
          <p:cNvSpPr>
            <a:spLocks xmlns:a="http://schemas.openxmlformats.org/drawingml/2006/main" noGrp="1"/>
          </p:cNvSpPr>
          <p:nvPr/>
        </p:nvSpPr>
        <p:spPr>
          <a:xfrm xmlns:a="http://schemas.openxmlformats.org/drawingml/2006/main">
            <a:off x="7972425" y="4286250"/>
            <a:ext cx="2038350" cy="942975"/>
          </a:xfrm>
          <a:prstGeom xmlns:a="http://schemas.openxmlformats.org/drawingml/2006/main" prst="diamond">
            <a:avLst/>
          </a:prstGeom>
          <a:solidFill xmlns:a="http://schemas.openxmlformats.org/drawingml/2006/main">
            <a:srgbClr val="FFF3D7"/>
          </a:solidFill>
          <a:ln xmlns:a="http://schemas.openxmlformats.org/drawingml/2006/main" w="15240">
            <a:solidFill>
              <a:srgbClr val="C5914A"/>
            </a:solidFill>
          </a:ln>
        </p:spPr>
        <p:txBody>
          <a:bodyPr xmlns:a="http://schemas.openxmlformats.org/drawingml/2006/main" wrap="square" lIns="76200" tIns="47625" rIns="76200" bIns="47625" anchor="ctr">
            <a:noAutofit/>
          </a:bodyPr>
          <a:lstStyle xmlns:a="http://schemas.openxmlformats.org/drawingml/2006/main">
            <a:defPPr algn="ctr">
              <a:defRPr sz="1238">
                <a:solidFill>
                  <a:srgbClr val="222222"/>
                </a:solidFill>
                <a:latin typeface="Times New Roman"/>
                <a:ea typeface="Times New Roman"/>
                <a:cs typeface="Times New Roman"/>
              </a:defRPr>
            </a:defPPr>
          </a:lstStyle>
          <a:p xmlns:a="http://schemas.openxmlformats.org/drawingml/2006/main">
            <a:r>
              <a:t/>
            </a:r>
          </a:p>
        </p:txBody>
      </p:sp>
      <p:sp>
        <p:nvSpPr>
          <p:cNvPr id="20" name="flow-check-label">
            <a:extLst xmlns:a="http://schemas.openxmlformats.org/drawingml/2006/main">
              <a:ext uri="{FF2B5EF4-FFF2-40B4-BE49-F238E27FC236}">
                <a16:creationId xmlns:a16="http://schemas.microsoft.com/office/drawing/2014/main" id="{FE00D89D-3746-4886-AC57-9BCC527E4B85}"/>
              </a:ext>
            </a:extLst>
          </p:cNvPr>
          <p:cNvSpPr>
            <a:spLocks xmlns:a="http://schemas.openxmlformats.org/drawingml/2006/main" noGrp="1"/>
          </p:cNvSpPr>
          <p:nvPr/>
        </p:nvSpPr>
        <p:spPr>
          <a:xfrm xmlns:a="http://schemas.openxmlformats.org/drawingml/2006/main">
            <a:off x="8191500" y="4524375"/>
            <a:ext cx="160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a:solidFill>
                  <a:srgbClr val="111111"/>
                </a:solidFill>
                <a:latin typeface="Times New Roman"/>
                <a:ea typeface="Times New Roman"/>
                <a:cs typeface="Times New Roman"/>
              </a:defRPr>
            </a:defPPr>
          </a:lstStyle>
          <a:p xmlns:a="http://schemas.openxmlformats.org/drawingml/2006/main">
            <a:pPr algn="ctr">
              <a:defRPr sz="1200">
                <a:solidFill>
                  <a:srgbClr val="111111"/>
                </a:solidFill>
                <a:latin typeface="Times New Roman"/>
                <a:ea typeface="Times New Roman"/>
                <a:cs typeface="Times New Roman"/>
              </a:defRPr>
            </a:pPr>
            <a:r>
              <a:rPr sz="1200">
                <a:solidFill>
                  <a:srgbClr val="111111"/>
                </a:solidFill>
                <a:latin typeface="Times New Roman"/>
                <a:ea typeface="Times New Roman"/>
                <a:cs typeface="Times New Roman"/>
              </a:rPr>
              <a:t>猜中或已完成</a:t>
            </a:r>
          </a:p>
          <a:p xmlns:a="http://schemas.openxmlformats.org/drawingml/2006/main">
            <a:pPr algn="ctr">
              <a:defRPr sz="1200">
                <a:solidFill>
                  <a:srgbClr val="111111"/>
                </a:solidFill>
                <a:latin typeface="Times New Roman"/>
                <a:ea typeface="Times New Roman"/>
                <a:cs typeface="Times New Roman"/>
              </a:defRPr>
            </a:pPr>
            <a:r>
              <a:rPr sz="1200">
                <a:solidFill>
                  <a:srgbClr val="111111"/>
                </a:solidFill>
                <a:latin typeface="Times New Roman"/>
                <a:ea typeface="Times New Roman"/>
                <a:cs typeface="Times New Roman"/>
              </a:rPr>
              <a:t>第 6 次猜测？</a:t>
            </a:r>
          </a:p>
        </p:txBody>
      </p:sp>
      <p:sp>
        <p:nvSpPr>
          <p:cNvPr id="21" name="flow-5">
            <a:extLst xmlns:a="http://schemas.openxmlformats.org/drawingml/2006/main">
              <a:ext uri="{FF2B5EF4-FFF2-40B4-BE49-F238E27FC236}">
                <a16:creationId xmlns:a16="http://schemas.microsoft.com/office/drawing/2014/main" id="{2C92F83A-2864-42BB-BA28-A9E0C8CBA66E}"/>
              </a:ext>
            </a:extLst>
          </p:cNvPr>
          <p:cNvSpPr>
            <a:spLocks xmlns:a="http://schemas.openxmlformats.org/drawingml/2006/main" noGrp="1"/>
          </p:cNvSpPr>
          <p:nvPr/>
        </p:nvSpPr>
        <p:spPr>
          <a:xfrm xmlns:a="http://schemas.openxmlformats.org/drawingml/2006/main">
            <a:off x="10382250" y="4367213"/>
            <a:ext cx="1428750" cy="781050"/>
          </a:xfrm>
          <a:prstGeom xmlns:a="http://schemas.openxmlformats.org/drawingml/2006/main" prst="roundRect">
            <a:avLst>
              <a:gd name="adj" fmla="val 8537"/>
            </a:avLst>
          </a:prstGeom>
          <a:solidFill xmlns:a="http://schemas.openxmlformats.org/drawingml/2006/main">
            <a:srgbClr val="F3F5F7"/>
          </a:solidFill>
          <a:ln xmlns:a="http://schemas.openxmlformats.org/drawingml/2006/main" w="15240">
            <a:solidFill>
              <a:srgbClr val="7B8795"/>
            </a:solidFill>
          </a:ln>
        </p:spPr>
        <p:txBody>
          <a:bodyPr xmlns:a="http://schemas.openxmlformats.org/drawingml/2006/main" wrap="square" lIns="76200" tIns="47625" rIns="76200" bIns="47625" anchor="ctr">
            <a:noAutofit/>
          </a:bodyPr>
          <a:lstStyle xmlns:a="http://schemas.openxmlformats.org/drawingml/2006/main">
            <a:defPPr algn="ctr">
              <a:defRPr sz="1088">
                <a:solidFill>
                  <a:srgbClr val="222222"/>
                </a:solidFill>
                <a:latin typeface="Times New Roman"/>
                <a:ea typeface="Times New Roman"/>
                <a:cs typeface="Times New Roman"/>
              </a:defRPr>
            </a:defPPr>
          </a:lstStyle>
          <a:p xmlns:a="http://schemas.openxmlformats.org/drawingml/2006/main">
            <a:pPr algn="ctr">
              <a:defRPr sz="1088">
                <a:solidFill>
                  <a:srgbClr val="222222"/>
                </a:solidFill>
                <a:latin typeface="Times New Roman"/>
                <a:ea typeface="Times New Roman"/>
                <a:cs typeface="Times New Roman"/>
              </a:defRPr>
            </a:pPr>
            <a:r>
              <a:rPr sz="1088">
                <a:solidFill>
                  <a:srgbClr val="222222"/>
                </a:solidFill>
                <a:latin typeface="Times New Roman"/>
                <a:ea typeface="Times New Roman"/>
                <a:cs typeface="Times New Roman"/>
              </a:rPr>
              <a:t>5. 追加反馈</a:t>
            </a:r>
          </a:p>
          <a:p xmlns:a="http://schemas.openxmlformats.org/drawingml/2006/main">
            <a:pPr algn="ctr">
              <a:defRPr sz="1088">
                <a:solidFill>
                  <a:srgbClr val="222222"/>
                </a:solidFill>
                <a:latin typeface="Times New Roman"/>
                <a:ea typeface="Times New Roman"/>
                <a:cs typeface="Times New Roman"/>
              </a:defRPr>
            </a:pPr>
            <a:r>
              <a:rPr sz="1088">
                <a:solidFill>
                  <a:srgbClr val="222222"/>
                </a:solidFill>
                <a:latin typeface="Times New Roman"/>
                <a:ea typeface="Times New Roman"/>
                <a:cs typeface="Times New Roman"/>
              </a:rPr>
              <a:t>保留完整对话历史</a:t>
            </a:r>
          </a:p>
          <a:p xmlns:a="http://schemas.openxmlformats.org/drawingml/2006/main">
            <a:pPr algn="ctr">
              <a:defRPr sz="1088">
                <a:solidFill>
                  <a:srgbClr val="222222"/>
                </a:solidFill>
                <a:latin typeface="Times New Roman"/>
                <a:ea typeface="Times New Roman"/>
                <a:cs typeface="Times New Roman"/>
              </a:defRPr>
            </a:pPr>
            <a:r>
              <a:rPr sz="1088">
                <a:solidFill>
                  <a:srgbClr val="222222"/>
                </a:solidFill>
                <a:latin typeface="Times New Roman"/>
                <a:ea typeface="Times New Roman"/>
                <a:cs typeface="Times New Roman"/>
              </a:rPr>
              <a:t>进入下一轮</a:t>
            </a:r>
          </a:p>
        </p:txBody>
      </p:sp>
      <p:sp>
        <p:nvSpPr>
          <p:cNvPr id="22" name="flow-6">
            <a:extLst xmlns:a="http://schemas.openxmlformats.org/drawingml/2006/main">
              <a:ext uri="{FF2B5EF4-FFF2-40B4-BE49-F238E27FC236}">
                <a16:creationId xmlns:a16="http://schemas.microsoft.com/office/drawing/2014/main" id="{C2D8F5CC-C093-4B5E-B992-66189E061D94}"/>
              </a:ext>
            </a:extLst>
          </p:cNvPr>
          <p:cNvSpPr>
            <a:spLocks xmlns:a="http://schemas.openxmlformats.org/drawingml/2006/main" noGrp="1"/>
          </p:cNvSpPr>
          <p:nvPr/>
        </p:nvSpPr>
        <p:spPr>
          <a:xfrm xmlns:a="http://schemas.openxmlformats.org/drawingml/2006/main">
            <a:off x="7753350" y="5467350"/>
            <a:ext cx="2476500" cy="495300"/>
          </a:xfrm>
          <a:prstGeom xmlns:a="http://schemas.openxmlformats.org/drawingml/2006/main" prst="roundRect">
            <a:avLst>
              <a:gd name="adj" fmla="val 13462"/>
            </a:avLst>
          </a:prstGeom>
          <a:solidFill xmlns:a="http://schemas.openxmlformats.org/drawingml/2006/main">
            <a:srgbClr val="EAF7EF"/>
          </a:solidFill>
          <a:ln xmlns:a="http://schemas.openxmlformats.org/drawingml/2006/main" w="15240">
            <a:solidFill>
              <a:srgbClr val="59A47B"/>
            </a:solidFill>
          </a:ln>
        </p:spPr>
        <p:txBody>
          <a:bodyPr xmlns:a="http://schemas.openxmlformats.org/drawingml/2006/main" wrap="square" lIns="76200" tIns="47625" rIns="76200" bIns="47625" anchor="ctr">
            <a:noAutofit/>
          </a:bodyPr>
          <a:lstStyle xmlns:a="http://schemas.openxmlformats.org/drawingml/2006/main">
            <a:defPPr algn="ctr">
              <a:defRPr sz="1275">
                <a:solidFill>
                  <a:srgbClr val="222222"/>
                </a:solidFill>
                <a:latin typeface="Times New Roman"/>
                <a:ea typeface="Times New Roman"/>
                <a:cs typeface="Times New Roman"/>
              </a:defRPr>
            </a:defPPr>
          </a:lstStyle>
          <a:p xmlns:a="http://schemas.openxmlformats.org/drawingml/2006/main">
            <a:pPr algn="ctr">
              <a:defRPr sz="1275">
                <a:solidFill>
                  <a:srgbClr val="222222"/>
                </a:solidFill>
                <a:latin typeface="Times New Roman"/>
                <a:ea typeface="Times New Roman"/>
                <a:cs typeface="Times New Roman"/>
              </a:defRPr>
            </a:pPr>
            <a:r>
              <a:rPr sz="1275">
                <a:solidFill>
                  <a:srgbClr val="222222"/>
                </a:solidFill>
                <a:latin typeface="Times New Roman"/>
                <a:ea typeface="Times New Roman"/>
                <a:cs typeface="Times New Roman"/>
              </a:rPr>
              <a:t>6. 游戏结束并计算 reward</a:t>
            </a:r>
          </a:p>
          <a:p xmlns:a="http://schemas.openxmlformats.org/drawingml/2006/main">
            <a:pPr algn="ctr">
              <a:defRPr sz="1275">
                <a:solidFill>
                  <a:srgbClr val="222222"/>
                </a:solidFill>
                <a:latin typeface="Times New Roman"/>
                <a:ea typeface="Times New Roman"/>
                <a:cs typeface="Times New Roman"/>
              </a:defRPr>
            </a:pPr>
            <a:r>
              <a:rPr sz="1275">
                <a:solidFill>
                  <a:srgbClr val="222222"/>
                </a:solidFill>
                <a:latin typeface="Times New Roman"/>
                <a:ea typeface="Times New Roman"/>
                <a:cs typeface="Times New Roman"/>
              </a:rPr>
              <a:t>保存逐局结果</a:t>
            </a:r>
          </a:p>
        </p:txBody>
      </p:sp>
      <p:cxnSp>
        <p:nvCxnSpPr>
          <p:cNvPr id="23" name="">
            <a:extLst xmlns:a="http://schemas.openxmlformats.org/drawingml/2006/main">
              <a:ext uri="{FF2B5EF4-FFF2-40B4-BE49-F238E27FC236}">
                <a16:creationId xmlns:a16="http://schemas.microsoft.com/office/drawing/2014/main" id="{C1299745-95C1-438B-A0C6-F7313FD87C88}"/>
              </a:ext>
            </a:extLst>
          </p:cNvPr>
          <p:cNvCxnSpPr>
            <a:stCxn xmlns:a="http://schemas.openxmlformats.org/drawingml/2006/main" id="15" idx="2"/>
            <a:endCxn xmlns:a="http://schemas.openxmlformats.org/drawingml/2006/main" id="16" idx="0"/>
          </p:cNvCxnSpPr>
          <p:nvPr/>
        </p:nvCxnSpPr>
        <p:spPr>
          <a:xfrm xmlns:a="http://schemas.openxmlformats.org/drawingml/2006/main">
            <a:off x="8991600" y="1962150"/>
            <a:ext cx="0" cy="209550"/>
          </a:xfrm>
          <a:prstGeom xmlns:a="http://schemas.openxmlformats.org/drawingml/2006/main" prst="straightConnector1">
            <a:avLst/>
          </a:prstGeom>
          <a:ln xmlns:a="http://schemas.openxmlformats.org/drawingml/2006/main" w="19050">
            <a:solidFill>
              <a:srgbClr val="263442"/>
            </a:solidFill>
            <a:tailEnd type="triangle" w="med" len="med"/>
          </a:ln>
        </p:spPr>
      </p:cxnSp>
      <p:cxnSp>
        <p:nvCxnSpPr>
          <p:cNvPr id="24" name="">
            <a:extLst xmlns:a="http://schemas.openxmlformats.org/drawingml/2006/main">
              <a:ext uri="{FF2B5EF4-FFF2-40B4-BE49-F238E27FC236}">
                <a16:creationId xmlns:a16="http://schemas.microsoft.com/office/drawing/2014/main" id="{3D4C0A15-E5F7-4D06-86BD-B52D8085BD3F}"/>
              </a:ext>
            </a:extLst>
          </p:cNvPr>
          <p:cNvCxnSpPr>
            <a:stCxn xmlns:a="http://schemas.openxmlformats.org/drawingml/2006/main" id="16" idx="2"/>
            <a:endCxn xmlns:a="http://schemas.openxmlformats.org/drawingml/2006/main" id="17" idx="0"/>
          </p:cNvCxnSpPr>
          <p:nvPr/>
        </p:nvCxnSpPr>
        <p:spPr>
          <a:xfrm xmlns:a="http://schemas.openxmlformats.org/drawingml/2006/main">
            <a:off x="8991600" y="2667000"/>
            <a:ext cx="0" cy="209550"/>
          </a:xfrm>
          <a:prstGeom xmlns:a="http://schemas.openxmlformats.org/drawingml/2006/main" prst="straightConnector1">
            <a:avLst/>
          </a:prstGeom>
          <a:ln xmlns:a="http://schemas.openxmlformats.org/drawingml/2006/main" w="19050">
            <a:solidFill>
              <a:srgbClr val="263442"/>
            </a:solidFill>
            <a:tailEnd type="triangle" w="med" len="med"/>
          </a:ln>
        </p:spPr>
      </p:cxnSp>
      <p:cxnSp>
        <p:nvCxnSpPr>
          <p:cNvPr id="25" name="">
            <a:extLst xmlns:a="http://schemas.openxmlformats.org/drawingml/2006/main">
              <a:ext uri="{FF2B5EF4-FFF2-40B4-BE49-F238E27FC236}">
                <a16:creationId xmlns:a16="http://schemas.microsoft.com/office/drawing/2014/main" id="{6E464471-8C7B-4DFE-9D13-49A5401D71F7}"/>
              </a:ext>
            </a:extLst>
          </p:cNvPr>
          <p:cNvCxnSpPr>
            <a:stCxn xmlns:a="http://schemas.openxmlformats.org/drawingml/2006/main" id="17" idx="2"/>
            <a:endCxn xmlns:a="http://schemas.openxmlformats.org/drawingml/2006/main" id="18" idx="0"/>
          </p:cNvCxnSpPr>
          <p:nvPr/>
        </p:nvCxnSpPr>
        <p:spPr>
          <a:xfrm xmlns:a="http://schemas.openxmlformats.org/drawingml/2006/main">
            <a:off x="8991600" y="3371850"/>
            <a:ext cx="0" cy="209550"/>
          </a:xfrm>
          <a:prstGeom xmlns:a="http://schemas.openxmlformats.org/drawingml/2006/main" prst="straightConnector1">
            <a:avLst/>
          </a:prstGeom>
          <a:ln xmlns:a="http://schemas.openxmlformats.org/drawingml/2006/main" w="19050">
            <a:solidFill>
              <a:srgbClr val="263442"/>
            </a:solidFill>
            <a:tailEnd type="triangle" w="med" len="med"/>
          </a:ln>
        </p:spPr>
      </p:cxnSp>
      <p:cxnSp>
        <p:nvCxnSpPr>
          <p:cNvPr id="26" name="">
            <a:extLst xmlns:a="http://schemas.openxmlformats.org/drawingml/2006/main">
              <a:ext uri="{FF2B5EF4-FFF2-40B4-BE49-F238E27FC236}">
                <a16:creationId xmlns:a16="http://schemas.microsoft.com/office/drawing/2014/main" id="{DD99ADBD-FCAF-4AFC-86B7-C9370FECD077}"/>
              </a:ext>
            </a:extLst>
          </p:cNvPr>
          <p:cNvCxnSpPr>
            <a:stCxn xmlns:a="http://schemas.openxmlformats.org/drawingml/2006/main" id="18" idx="2"/>
            <a:endCxn xmlns:a="http://schemas.openxmlformats.org/drawingml/2006/main" id="19" idx="0"/>
          </p:cNvCxnSpPr>
          <p:nvPr/>
        </p:nvCxnSpPr>
        <p:spPr>
          <a:xfrm xmlns:a="http://schemas.openxmlformats.org/drawingml/2006/main">
            <a:off x="8991600" y="4076700"/>
            <a:ext cx="0" cy="209550"/>
          </a:xfrm>
          <a:prstGeom xmlns:a="http://schemas.openxmlformats.org/drawingml/2006/main" prst="straightConnector1">
            <a:avLst/>
          </a:prstGeom>
          <a:ln xmlns:a="http://schemas.openxmlformats.org/drawingml/2006/main" w="19050">
            <a:solidFill>
              <a:srgbClr val="263442"/>
            </a:solidFill>
            <a:tailEnd type="triangle" w="med" len="med"/>
          </a:ln>
        </p:spPr>
      </p:cxnSp>
      <p:cxnSp>
        <p:nvCxnSpPr>
          <p:cNvPr id="27" name="">
            <a:extLst xmlns:a="http://schemas.openxmlformats.org/drawingml/2006/main">
              <a:ext uri="{FF2B5EF4-FFF2-40B4-BE49-F238E27FC236}">
                <a16:creationId xmlns:a16="http://schemas.microsoft.com/office/drawing/2014/main" id="{E0228DE8-F8B1-4B9C-B024-E1B25625D1FC}"/>
              </a:ext>
            </a:extLst>
          </p:cNvPr>
          <p:cNvCxnSpPr>
            <a:stCxn xmlns:a="http://schemas.openxmlformats.org/drawingml/2006/main" id="19" idx="2"/>
            <a:endCxn xmlns:a="http://schemas.openxmlformats.org/drawingml/2006/main" id="22" idx="0"/>
          </p:cNvCxnSpPr>
          <p:nvPr/>
        </p:nvCxnSpPr>
        <p:spPr>
          <a:xfrm xmlns:a="http://schemas.openxmlformats.org/drawingml/2006/main">
            <a:off x="8991600" y="5229225"/>
            <a:ext cx="0" cy="238125"/>
          </a:xfrm>
          <a:prstGeom xmlns:a="http://schemas.openxmlformats.org/drawingml/2006/main" prst="straightConnector1">
            <a:avLst/>
          </a:prstGeom>
          <a:ln xmlns:a="http://schemas.openxmlformats.org/drawingml/2006/main" w="19050">
            <a:solidFill>
              <a:srgbClr val="263442"/>
            </a:solidFill>
            <a:tailEnd type="triangle" w="med" len="med"/>
          </a:ln>
        </p:spPr>
      </p:cxnSp>
      <p:cxnSp>
        <p:nvCxnSpPr>
          <p:cNvPr id="28" name="">
            <a:extLst xmlns:a="http://schemas.openxmlformats.org/drawingml/2006/main">
              <a:ext uri="{FF2B5EF4-FFF2-40B4-BE49-F238E27FC236}">
                <a16:creationId xmlns:a16="http://schemas.microsoft.com/office/drawing/2014/main" id="{F51925BB-16D5-4DF5-BEF5-DF18E3151E39}"/>
              </a:ext>
            </a:extLst>
          </p:cNvPr>
          <p:cNvCxnSpPr>
            <a:stCxn xmlns:a="http://schemas.openxmlformats.org/drawingml/2006/main" id="19" idx="3"/>
            <a:endCxn xmlns:a="http://schemas.openxmlformats.org/drawingml/2006/main" id="21" idx="1"/>
          </p:cNvCxnSpPr>
          <p:nvPr/>
        </p:nvCxnSpPr>
        <p:spPr>
          <a:xfrm xmlns:a="http://schemas.openxmlformats.org/drawingml/2006/main">
            <a:off x="10010775" y="4757738"/>
            <a:ext cx="371475" cy="0"/>
          </a:xfrm>
          <a:prstGeom xmlns:a="http://schemas.openxmlformats.org/drawingml/2006/main" prst="straightConnector1">
            <a:avLst/>
          </a:prstGeom>
          <a:ln xmlns:a="http://schemas.openxmlformats.org/drawingml/2006/main" w="19050">
            <a:solidFill>
              <a:srgbClr val="263442"/>
            </a:solidFill>
            <a:tailEnd type="triangle" w="med" len="med"/>
          </a:ln>
        </p:spPr>
      </p:cxnSp>
      <p:cxnSp>
        <p:nvCxnSpPr>
          <p:cNvPr id="29" name="">
            <a:extLst xmlns:a="http://schemas.openxmlformats.org/drawingml/2006/main">
              <a:ext uri="{FF2B5EF4-FFF2-40B4-BE49-F238E27FC236}">
                <a16:creationId xmlns:a16="http://schemas.microsoft.com/office/drawing/2014/main" id="{B454C2AA-C2D6-49A9-A03F-E3CAF47195F9}"/>
              </a:ext>
            </a:extLst>
          </p:cNvPr>
          <p:cNvCxnSpPr>
            <a:stCxn xmlns:a="http://schemas.openxmlformats.org/drawingml/2006/main" id="21" idx="0"/>
            <a:endCxn xmlns:a="http://schemas.openxmlformats.org/drawingml/2006/main" id="17" idx="3"/>
          </p:cNvCxnSpPr>
          <p:nvPr/>
        </p:nvCxnSpPr>
        <p:spPr>
          <a:xfrm xmlns:a="http://schemas.openxmlformats.org/drawingml/2006/main" flipH="1" flipV="1">
            <a:off x="10229850" y="3124200"/>
            <a:ext cx="866775" cy="1243013"/>
          </a:xfrm>
          <a:prstGeom xmlns:a="http://schemas.openxmlformats.org/drawingml/2006/main" prst="bentConnector5">
            <a:avLst>
              <a:gd name="adj1" fmla="val 0"/>
              <a:gd name="adj2" fmla="val 18391"/>
              <a:gd name="adj3" fmla="val 73626"/>
            </a:avLst>
          </a:prstGeom>
          <a:ln xmlns:a="http://schemas.openxmlformats.org/drawingml/2006/main" w="19050">
            <a:solidFill>
              <a:srgbClr val="263442"/>
            </a:solidFill>
            <a:tailEnd type="triangle" w="med" len="med"/>
          </a:ln>
        </p:spPr>
      </p:cxnSp>
      <p:sp>
        <p:nvSpPr>
          <p:cNvPr id="30" name="flow-no">
            <a:extLst xmlns:a="http://schemas.openxmlformats.org/drawingml/2006/main">
              <a:ext uri="{FF2B5EF4-FFF2-40B4-BE49-F238E27FC236}">
                <a16:creationId xmlns:a16="http://schemas.microsoft.com/office/drawing/2014/main" id="{03C9CACB-352E-4F81-8094-529ED9295217}"/>
              </a:ext>
            </a:extLst>
          </p:cNvPr>
          <p:cNvSpPr>
            <a:spLocks xmlns:a="http://schemas.openxmlformats.org/drawingml/2006/main" noGrp="1"/>
          </p:cNvSpPr>
          <p:nvPr/>
        </p:nvSpPr>
        <p:spPr>
          <a:xfrm xmlns:a="http://schemas.openxmlformats.org/drawingml/2006/main">
            <a:off x="10058400" y="4495800"/>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a:solidFill>
                  <a:srgbClr val="111111"/>
                </a:solidFill>
                <a:latin typeface="Times New Roman"/>
                <a:ea typeface="Times New Roman"/>
                <a:cs typeface="Times New Roman"/>
              </a:defRPr>
            </a:defPPr>
          </a:lstStyle>
          <a:p xmlns:a="http://schemas.openxmlformats.org/drawingml/2006/main">
            <a:pPr algn="ctr">
              <a:defRPr sz="1125">
                <a:solidFill>
                  <a:srgbClr val="111111"/>
                </a:solidFill>
                <a:latin typeface="Times New Roman"/>
                <a:ea typeface="Times New Roman"/>
                <a:cs typeface="Times New Roman"/>
              </a:defRPr>
            </a:pPr>
            <a:r>
              <a:rPr sz="1125">
                <a:solidFill>
                  <a:srgbClr val="111111"/>
                </a:solidFill>
                <a:latin typeface="Times New Roman"/>
                <a:ea typeface="Times New Roman"/>
                <a:cs typeface="Times New Roman"/>
              </a:rPr>
              <a:t>否</a:t>
            </a:r>
          </a:p>
        </p:txBody>
      </p:sp>
      <p:sp>
        <p:nvSpPr>
          <p:cNvPr id="31" name="flow-yes">
            <a:extLst xmlns:a="http://schemas.openxmlformats.org/drawingml/2006/main">
              <a:ext uri="{FF2B5EF4-FFF2-40B4-BE49-F238E27FC236}">
                <a16:creationId xmlns:a16="http://schemas.microsoft.com/office/drawing/2014/main" id="{D9E1B178-73AB-460B-96CE-FD52564883F8}"/>
              </a:ext>
            </a:extLst>
          </p:cNvPr>
          <p:cNvSpPr>
            <a:spLocks xmlns:a="http://schemas.openxmlformats.org/drawingml/2006/main" noGrp="1"/>
          </p:cNvSpPr>
          <p:nvPr/>
        </p:nvSpPr>
        <p:spPr>
          <a:xfrm xmlns:a="http://schemas.openxmlformats.org/drawingml/2006/main">
            <a:off x="9086850" y="5238750"/>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a:solidFill>
                  <a:srgbClr val="111111"/>
                </a:solidFill>
                <a:latin typeface="Times New Roman"/>
                <a:ea typeface="Times New Roman"/>
                <a:cs typeface="Times New Roman"/>
              </a:defRPr>
            </a:defPPr>
          </a:lstStyle>
          <a:p xmlns:a="http://schemas.openxmlformats.org/drawingml/2006/main">
            <a:pPr algn="ctr">
              <a:defRPr sz="1125">
                <a:solidFill>
                  <a:srgbClr val="111111"/>
                </a:solidFill>
                <a:latin typeface="Times New Roman"/>
                <a:ea typeface="Times New Roman"/>
                <a:cs typeface="Times New Roman"/>
              </a:defRPr>
            </a:pPr>
            <a:r>
              <a:rPr sz="1125">
                <a:solidFill>
                  <a:srgbClr val="111111"/>
                </a:solidFill>
                <a:latin typeface="Times New Roman"/>
                <a:ea typeface="Times New Roman"/>
                <a:cs typeface="Times New Roman"/>
              </a:rPr>
              <a:t>是</a:t>
            </a:r>
          </a:p>
        </p:txBody>
      </p:sp>
      <p:sp>
        <p:nvSpPr>
          <p:cNvPr id="32" name="flow-loop-note">
            <a:extLst xmlns:a="http://schemas.openxmlformats.org/drawingml/2006/main">
              <a:ext uri="{FF2B5EF4-FFF2-40B4-BE49-F238E27FC236}">
                <a16:creationId xmlns:a16="http://schemas.microsoft.com/office/drawing/2014/main" id="{555E2C6D-4D5E-46F0-A0F7-699114F9A2AB}"/>
              </a:ext>
            </a:extLst>
          </p:cNvPr>
          <p:cNvSpPr>
            <a:spLocks xmlns:a="http://schemas.openxmlformats.org/drawingml/2006/main" noGrp="1"/>
          </p:cNvSpPr>
          <p:nvPr/>
        </p:nvSpPr>
        <p:spPr>
          <a:xfrm xmlns:a="http://schemas.openxmlformats.org/drawingml/2006/main">
            <a:off x="10287000" y="2800350"/>
            <a:ext cx="15144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a:solidFill>
                  <a:srgbClr val="111111"/>
                </a:solidFill>
                <a:latin typeface="Times New Roman"/>
                <a:ea typeface="Times New Roman"/>
                <a:cs typeface="Times New Roman"/>
              </a:defRPr>
            </a:defPPr>
          </a:lstStyle>
          <a:p xmlns:a="http://schemas.openxmlformats.org/drawingml/2006/main">
            <a:pPr algn="ctr">
              <a:defRPr sz="1013">
                <a:solidFill>
                  <a:srgbClr val="111111"/>
                </a:solidFill>
                <a:latin typeface="Times New Roman"/>
                <a:ea typeface="Times New Roman"/>
                <a:cs typeface="Times New Roman"/>
              </a:defRPr>
            </a:pPr>
            <a:r>
              <a:rPr sz="1013">
                <a:solidFill>
                  <a:srgbClr val="111111"/>
                </a:solidFill>
                <a:latin typeface="Times New Roman"/>
                <a:ea typeface="Times New Roman"/>
                <a:cs typeface="Times New Roman"/>
              </a:rPr>
              <a:t>仅在游戏未结束时循环</a:t>
            </a:r>
          </a:p>
        </p:txBody>
      </p:sp>
    </p:spTree>
    <p:extLst>
      <p:ext uri="{BB962C8B-B14F-4D97-AF65-F5344CB8AC3E}">
        <p14:creationId xmlns:p14="http://schemas.microsoft.com/office/powerpoint/2010/main" val="594655575"/>
      </p:ext>
    </p:extLst>
  </p:cSld>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36"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训练配置与基线训练</a:t>
            </a:r>
            <a:endParaRPr sz="2700" b="1">
              <a:solidFill>
                <a:srgbClr val="111111"/>
              </a:solidFill>
              <a:latin typeface="Times New Roman" panose="02020503050405090304"/>
              <a:ea typeface="微软雅黑"/>
              <a:cs typeface="Times New Roman" panose="02020503050405090304"/>
            </a:endParaRPr>
          </a:p>
        </p:txBody>
      </p:sp>
      <p:sp>
        <p:nvSpPr>
          <p:cNvPr id="19" name="quiz-instruction"/>
          <p:cNvSpPr>
            <a:spLocks noGrp="1"/>
          </p:cNvSpPr>
          <p:nvPr/>
        </p:nvSpPr>
        <p:spPr>
          <a:xfrm>
            <a:off x="609600" y="971550"/>
            <a:ext cx="10953750" cy="323850"/>
          </a:xfrm>
          <a:prstGeom prst="rect">
            <a:avLst/>
          </a:prstGeom>
          <a:noFill/>
          <a:ln w="0">
            <a:noFill/>
          </a:ln>
        </p:spPr>
        <p:txBody>
          <a:bodyPr wrap="none" lIns="0" tIns="0" rIns="0" bIns="0" anchor="t">
            <a:noAutofit/>
          </a:bodyPr>
          <a:lstStyle/>
          <a:p>
            <a:pPr>
              <a:lnSpc>
                <a:spcPct val="108000"/>
              </a:lnSpc>
              <a:buNone/>
              <a:defRPr sz="1725" b="0">
                <a:solidFill>
                  <a:srgbClr val="555555"/>
                </a:solidFill>
                <a:latin typeface="Times New Roman" panose="02020503050405090304"/>
                <a:ea typeface="微软雅黑"/>
                <a:cs typeface="Times New Roman" panose="02020503050405090304"/>
              </a:defRPr>
            </a:pPr>
            <a:r>
              <a:rPr sz="1725" b="0">
                <a:solidFill>
                  <a:srgbClr val="555555"/>
                </a:solidFill>
                <a:latin typeface="Times New Roman" panose="02020503050405090304"/>
                <a:ea typeface="微软雅黑"/>
                <a:cs typeface="Times New Roman" panose="02020503050405090304"/>
              </a:rPr>
              <a:t>随堂检测：先独立作答，再说明你的判断依据。</a:t>
            </a:r>
            <a:endParaRPr sz="1725" b="0">
              <a:solidFill>
                <a:srgbClr val="555555"/>
              </a:solidFill>
              <a:latin typeface="Times New Roman" panose="02020503050405090304"/>
              <a:ea typeface="微软雅黑"/>
              <a:cs typeface="Times New Roman" panose="02020503050405090304"/>
            </a:endParaRPr>
          </a:p>
        </p:txBody>
      </p:sp>
      <p:sp>
        <p:nvSpPr>
          <p:cNvPr id="20" name="q1-label"/>
          <p:cNvSpPr>
            <a:spLocks noGrp="1"/>
          </p:cNvSpPr>
          <p:nvPr/>
        </p:nvSpPr>
        <p:spPr>
          <a:xfrm>
            <a:off x="609600" y="1438275"/>
            <a:ext cx="704850" cy="400050"/>
          </a:xfrm>
          <a:prstGeom prst="roundRect">
            <a:avLst>
              <a:gd name="adj" fmla="val 35714"/>
            </a:avLst>
          </a:prstGeom>
          <a:solidFill>
            <a:srgbClr val="C7E1FF"/>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Q1</a:t>
            </a:r>
            <a:endParaRPr sz="2175" b="1">
              <a:solidFill>
                <a:srgbClr val="111111"/>
              </a:solidFill>
              <a:latin typeface="Times New Roman" panose="02020503050405090304"/>
              <a:ea typeface="微软雅黑"/>
              <a:cs typeface="Times New Roman" panose="02020503050405090304"/>
            </a:endParaRPr>
          </a:p>
        </p:txBody>
      </p:sp>
      <p:sp>
        <p:nvSpPr>
          <p:cNvPr id="21" name="q1-stem"/>
          <p:cNvSpPr>
            <a:spLocks noGrp="1"/>
          </p:cNvSpPr>
          <p:nvPr/>
        </p:nvSpPr>
        <p:spPr>
          <a:xfrm>
            <a:off x="1495425" y="1447800"/>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【判断】全局 batch = 64、local batch = 2、DP = 2 时，梯度累积 16 次。</a:t>
            </a:r>
            <a:endParaRPr sz="1800" b="1">
              <a:solidFill>
                <a:srgbClr val="111111"/>
              </a:solidFill>
              <a:latin typeface="Times New Roman" panose="02020503050405090304"/>
              <a:ea typeface="微软雅黑"/>
              <a:cs typeface="Times New Roman" panose="02020503050405090304"/>
            </a:endParaRPr>
          </a:p>
        </p:txBody>
      </p:sp>
      <p:sp>
        <p:nvSpPr>
          <p:cNvPr id="22" name="q2-label"/>
          <p:cNvSpPr>
            <a:spLocks noGrp="1"/>
          </p:cNvSpPr>
          <p:nvPr/>
        </p:nvSpPr>
        <p:spPr>
          <a:xfrm>
            <a:off x="609600" y="2257425"/>
            <a:ext cx="704850" cy="400050"/>
          </a:xfrm>
          <a:prstGeom prst="roundRect">
            <a:avLst>
              <a:gd name="adj" fmla="val 35714"/>
            </a:avLst>
          </a:prstGeom>
          <a:solidFill>
            <a:srgbClr val="FFD0D1"/>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Q2</a:t>
            </a:r>
            <a:endParaRPr sz="2175" b="1">
              <a:solidFill>
                <a:srgbClr val="111111"/>
              </a:solidFill>
              <a:latin typeface="Times New Roman" panose="02020503050405090304"/>
              <a:ea typeface="微软雅黑"/>
              <a:cs typeface="Times New Roman" panose="02020503050405090304"/>
            </a:endParaRPr>
          </a:p>
        </p:txBody>
      </p:sp>
      <p:sp>
        <p:nvSpPr>
          <p:cNvPr id="23" name="q2-stem"/>
          <p:cNvSpPr>
            <a:spLocks noGrp="1"/>
          </p:cNvSpPr>
          <p:nvPr/>
        </p:nvSpPr>
        <p:spPr>
          <a:xfrm>
            <a:off x="1495425" y="2266950"/>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【判断】每条定长序列必然只含一局 Wordle。</a:t>
            </a:r>
            <a:endParaRPr sz="1800" b="1">
              <a:solidFill>
                <a:srgbClr val="111111"/>
              </a:solidFill>
              <a:latin typeface="Times New Roman" panose="02020503050405090304"/>
              <a:ea typeface="微软雅黑"/>
              <a:cs typeface="Times New Roman" panose="02020503050405090304"/>
            </a:endParaRPr>
          </a:p>
        </p:txBody>
      </p:sp>
      <p:sp>
        <p:nvSpPr>
          <p:cNvPr id="24" name="q3-label"/>
          <p:cNvSpPr>
            <a:spLocks noGrp="1"/>
          </p:cNvSpPr>
          <p:nvPr/>
        </p:nvSpPr>
        <p:spPr>
          <a:xfrm>
            <a:off x="609600" y="3105150"/>
            <a:ext cx="704850" cy="400050"/>
          </a:xfrm>
          <a:prstGeom prst="roundRect">
            <a:avLst>
              <a:gd name="adj" fmla="val 35714"/>
            </a:avLst>
          </a:prstGeom>
          <a:solidFill>
            <a:srgbClr val="BFECCC"/>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Q3</a:t>
            </a:r>
            <a:endParaRPr sz="2175" b="1">
              <a:solidFill>
                <a:srgbClr val="111111"/>
              </a:solidFill>
              <a:latin typeface="Times New Roman" panose="02020503050405090304"/>
              <a:ea typeface="微软雅黑"/>
              <a:cs typeface="Times New Roman" panose="02020503050405090304"/>
            </a:endParaRPr>
          </a:p>
        </p:txBody>
      </p:sp>
      <p:sp>
        <p:nvSpPr>
          <p:cNvPr id="25" name="q3-stem"/>
          <p:cNvSpPr>
            <a:spLocks noGrp="1"/>
          </p:cNvSpPr>
          <p:nvPr/>
        </p:nvSpPr>
        <p:spPr>
          <a:xfrm>
            <a:off x="1495425" y="3114675"/>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【单选】裁剪前 grad_norm 大于 max_norm = 1.0，哪项解释正确？</a:t>
            </a:r>
            <a:endParaRPr sz="1800" b="1">
              <a:solidFill>
                <a:srgbClr val="111111"/>
              </a:solidFill>
              <a:latin typeface="Times New Roman" panose="02020503050405090304"/>
              <a:ea typeface="微软雅黑"/>
              <a:cs typeface="Times New Roman" panose="02020503050405090304"/>
            </a:endParaRPr>
          </a:p>
        </p:txBody>
      </p:sp>
      <p:sp>
        <p:nvSpPr>
          <p:cNvPr id="26" name="q3-option0"/>
          <p:cNvSpPr>
            <a:spLocks noGrp="1"/>
          </p:cNvSpPr>
          <p:nvPr/>
        </p:nvSpPr>
        <p:spPr>
          <a:xfrm>
            <a:off x="1495425" y="376237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A. 日志值可大于阈值，随后执行梯度裁剪</a:t>
            </a:r>
            <a:endParaRPr sz="1650" b="0">
              <a:solidFill>
                <a:srgbClr val="111111"/>
              </a:solidFill>
              <a:latin typeface="Times New Roman" panose="02020503050405090304"/>
              <a:ea typeface="微软雅黑"/>
              <a:cs typeface="Times New Roman" panose="02020503050405090304"/>
            </a:endParaRPr>
          </a:p>
        </p:txBody>
      </p:sp>
      <p:sp>
        <p:nvSpPr>
          <p:cNvPr id="27" name="q3-option1"/>
          <p:cNvSpPr>
            <a:spLocks noGrp="1"/>
          </p:cNvSpPr>
          <p:nvPr/>
        </p:nvSpPr>
        <p:spPr>
          <a:xfrm>
            <a:off x="6505575" y="376237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B. 一定发生 OOM</a:t>
            </a:r>
            <a:endParaRPr sz="1650" b="0">
              <a:solidFill>
                <a:srgbClr val="111111"/>
              </a:solidFill>
              <a:latin typeface="Times New Roman" panose="02020503050405090304"/>
              <a:ea typeface="微软雅黑"/>
              <a:cs typeface="Times New Roman" panose="02020503050405090304"/>
            </a:endParaRPr>
          </a:p>
        </p:txBody>
      </p:sp>
      <p:sp>
        <p:nvSpPr>
          <p:cNvPr id="28" name="q3-option2"/>
          <p:cNvSpPr>
            <a:spLocks noGrp="1"/>
          </p:cNvSpPr>
          <p:nvPr/>
        </p:nvSpPr>
        <p:spPr>
          <a:xfrm>
            <a:off x="1495425" y="417195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C. 模型已经学会 Wordle</a:t>
            </a:r>
            <a:endParaRPr sz="1650" b="0">
              <a:solidFill>
                <a:srgbClr val="111111"/>
              </a:solidFill>
              <a:latin typeface="Times New Roman" panose="02020503050405090304"/>
              <a:ea typeface="微软雅黑"/>
              <a:cs typeface="Times New Roman" panose="02020503050405090304"/>
            </a:endParaRPr>
          </a:p>
        </p:txBody>
      </p:sp>
      <p:sp>
        <p:nvSpPr>
          <p:cNvPr id="29" name="q3-option3"/>
          <p:cNvSpPr>
            <a:spLocks noGrp="1"/>
          </p:cNvSpPr>
          <p:nvPr/>
        </p:nvSpPr>
        <p:spPr>
          <a:xfrm>
            <a:off x="6505575" y="417195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D. FSDP 被关闭</a:t>
            </a:r>
            <a:endParaRPr sz="1650" b="0">
              <a:solidFill>
                <a:srgbClr val="111111"/>
              </a:solidFill>
              <a:latin typeface="Times New Roman" panose="02020503050405090304"/>
              <a:ea typeface="微软雅黑"/>
              <a:cs typeface="Times New Roman" panose="02020503050405090304"/>
            </a:endParaRPr>
          </a:p>
        </p:txBody>
      </p:sp>
      <p:sp>
        <p:nvSpPr>
          <p:cNvPr id="30" name="q4-label"/>
          <p:cNvSpPr>
            <a:spLocks noGrp="1"/>
          </p:cNvSpPr>
          <p:nvPr/>
        </p:nvSpPr>
        <p:spPr>
          <a:xfrm>
            <a:off x="609600" y="4686300"/>
            <a:ext cx="704850" cy="400050"/>
          </a:xfrm>
          <a:prstGeom prst="roundRect">
            <a:avLst>
              <a:gd name="adj" fmla="val 35714"/>
            </a:avLst>
          </a:prstGeom>
          <a:solidFill>
            <a:srgbClr val="C7E1FF"/>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Q4</a:t>
            </a:r>
            <a:endParaRPr sz="2175" b="1">
              <a:solidFill>
                <a:srgbClr val="111111"/>
              </a:solidFill>
              <a:latin typeface="Times New Roman" panose="02020503050405090304"/>
              <a:ea typeface="微软雅黑"/>
              <a:cs typeface="Times New Roman" panose="02020503050405090304"/>
            </a:endParaRPr>
          </a:p>
        </p:txBody>
      </p:sp>
      <p:sp>
        <p:nvSpPr>
          <p:cNvPr id="31" name="q4-stem"/>
          <p:cNvSpPr>
            <a:spLocks noGrp="1"/>
          </p:cNvSpPr>
          <p:nvPr/>
        </p:nvSpPr>
        <p:spPr>
          <a:xfrm>
            <a:off x="1495425" y="4695825"/>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【多选】公平比较 base 与 SFT 的评测，应保持哪些条件一致？</a:t>
            </a:r>
            <a:endParaRPr sz="1800" b="1">
              <a:solidFill>
                <a:srgbClr val="111111"/>
              </a:solidFill>
              <a:latin typeface="Times New Roman" panose="02020503050405090304"/>
              <a:ea typeface="微软雅黑"/>
              <a:cs typeface="Times New Roman" panose="02020503050405090304"/>
            </a:endParaRPr>
          </a:p>
        </p:txBody>
      </p:sp>
      <p:sp>
        <p:nvSpPr>
          <p:cNvPr id="32" name="q4-option0"/>
          <p:cNvSpPr>
            <a:spLocks noGrp="1"/>
          </p:cNvSpPr>
          <p:nvPr/>
        </p:nvSpPr>
        <p:spPr>
          <a:xfrm>
            <a:off x="1495425" y="534352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A. 评测任务与工具 revision</a:t>
            </a:r>
            <a:endParaRPr sz="1650" b="0">
              <a:solidFill>
                <a:srgbClr val="111111"/>
              </a:solidFill>
              <a:latin typeface="Times New Roman" panose="02020503050405090304"/>
              <a:ea typeface="微软雅黑"/>
              <a:cs typeface="Times New Roman" panose="02020503050405090304"/>
            </a:endParaRPr>
          </a:p>
        </p:txBody>
      </p:sp>
      <p:sp>
        <p:nvSpPr>
          <p:cNvPr id="33" name="q4-option1"/>
          <p:cNvSpPr>
            <a:spLocks noGrp="1"/>
          </p:cNvSpPr>
          <p:nvPr/>
        </p:nvSpPr>
        <p:spPr>
          <a:xfrm>
            <a:off x="6505575" y="534352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B. seed 与生成参数</a:t>
            </a:r>
            <a:endParaRPr sz="1650" b="0">
              <a:solidFill>
                <a:srgbClr val="111111"/>
              </a:solidFill>
              <a:latin typeface="Times New Roman" panose="02020503050405090304"/>
              <a:ea typeface="微软雅黑"/>
              <a:cs typeface="Times New Roman" panose="02020503050405090304"/>
            </a:endParaRPr>
          </a:p>
        </p:txBody>
      </p:sp>
      <p:sp>
        <p:nvSpPr>
          <p:cNvPr id="34" name="q4-option2"/>
          <p:cNvSpPr>
            <a:spLocks noGrp="1"/>
          </p:cNvSpPr>
          <p:nvPr/>
        </p:nvSpPr>
        <p:spPr>
          <a:xfrm>
            <a:off x="1495425" y="575310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C. rollout 数和并发设置</a:t>
            </a:r>
            <a:endParaRPr sz="1650" b="0">
              <a:solidFill>
                <a:srgbClr val="111111"/>
              </a:solidFill>
              <a:latin typeface="Times New Roman" panose="02020503050405090304"/>
              <a:ea typeface="微软雅黑"/>
              <a:cs typeface="Times New Roman" panose="02020503050405090304"/>
            </a:endParaRPr>
          </a:p>
        </p:txBody>
      </p:sp>
      <p:sp>
        <p:nvSpPr>
          <p:cNvPr id="35" name="q4-option3"/>
          <p:cNvSpPr>
            <a:spLocks noGrp="1"/>
          </p:cNvSpPr>
          <p:nvPr/>
        </p:nvSpPr>
        <p:spPr>
          <a:xfrm>
            <a:off x="6505575" y="575310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D. 两组共用一个文件并覆盖结果</a:t>
            </a:r>
            <a:endParaRPr sz="1650" b="0">
              <a:solidFill>
                <a:srgbClr val="111111"/>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0"/>
                                        </p:tgtEl>
                                        <p:attrNameLst>
                                          <p:attrName>style.visibility</p:attrName>
                                        </p:attrNameLst>
                                      </p:cBhvr>
                                      <p:to>
                                        <p:strVal val="visible"/>
                                      </p:to>
                                    </p:set>
                                    <p:animEffect transition="in" filter="fade">
                                      <p:cBhvr>
                                        <p:cTn id="7" dur="350"/>
                                        <p:tgtEl>
                                          <p:spTgt spid="20"/>
                                        </p:tgtEl>
                                      </p:cBhvr>
                                    </p:animEffect>
                                  </p:childTnLst>
                                </p:cTn>
                              </p:par>
                              <p:par>
                                <p:cTn id="8" presetID="10" presetClass="entr" presetSubtype="0" fill="hold" grpId="0" nodeType="withEffect">
                                  <p:stCondLst>
                                    <p:cond delay="0"/>
                                  </p:stCondLst>
                                  <p:childTnLst>
                                    <p:set>
                                      <p:cBhvr>
                                        <p:cTn id="9" dur="1" fill="hold"/>
                                        <p:tgtEl>
                                          <p:spTgt spid="21"/>
                                        </p:tgtEl>
                                        <p:attrNameLst>
                                          <p:attrName>style.visibility</p:attrName>
                                        </p:attrNameLst>
                                      </p:cBhvr>
                                      <p:to>
                                        <p:strVal val="visible"/>
                                      </p:to>
                                    </p:set>
                                    <p:animEffect transition="in" filter="fade">
                                      <p:cBhvr>
                                        <p:cTn id="10" dur="35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22"/>
                                        </p:tgtEl>
                                        <p:attrNameLst>
                                          <p:attrName>style.visibility</p:attrName>
                                        </p:attrNameLst>
                                      </p:cBhvr>
                                      <p:to>
                                        <p:strVal val="visible"/>
                                      </p:to>
                                    </p:set>
                                    <p:animEffect transition="in" filter="fade">
                                      <p:cBhvr>
                                        <p:cTn id="15" dur="350"/>
                                        <p:tgtEl>
                                          <p:spTgt spid="22"/>
                                        </p:tgtEl>
                                      </p:cBhvr>
                                    </p:animEffect>
                                  </p:childTnLst>
                                </p:cTn>
                              </p:par>
                              <p:par>
                                <p:cTn id="16" presetID="10" presetClass="entr" presetSubtype="0" fill="hold" grpId="0" nodeType="withEffect">
                                  <p:stCondLst>
                                    <p:cond delay="0"/>
                                  </p:stCondLst>
                                  <p:childTnLst>
                                    <p:set>
                                      <p:cBhvr>
                                        <p:cTn id="17" dur="1" fill="hold"/>
                                        <p:tgtEl>
                                          <p:spTgt spid="23"/>
                                        </p:tgtEl>
                                        <p:attrNameLst>
                                          <p:attrName>style.visibility</p:attrName>
                                        </p:attrNameLst>
                                      </p:cBhvr>
                                      <p:to>
                                        <p:strVal val="visible"/>
                                      </p:to>
                                    </p:set>
                                    <p:animEffect transition="in" filter="fade">
                                      <p:cBhvr>
                                        <p:cTn id="18" dur="35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tgtEl>
                                          <p:spTgt spid="24"/>
                                        </p:tgtEl>
                                        <p:attrNameLst>
                                          <p:attrName>style.visibility</p:attrName>
                                        </p:attrNameLst>
                                      </p:cBhvr>
                                      <p:to>
                                        <p:strVal val="visible"/>
                                      </p:to>
                                    </p:set>
                                    <p:animEffect transition="in" filter="fade">
                                      <p:cBhvr>
                                        <p:cTn id="23" dur="350"/>
                                        <p:tgtEl>
                                          <p:spTgt spid="24"/>
                                        </p:tgtEl>
                                      </p:cBhvr>
                                    </p:animEffect>
                                  </p:childTnLst>
                                </p:cTn>
                              </p:par>
                              <p:par>
                                <p:cTn id="24" presetID="10" presetClass="entr" presetSubtype="0" fill="hold" grpId="0" nodeType="withEffect">
                                  <p:stCondLst>
                                    <p:cond delay="0"/>
                                  </p:stCondLst>
                                  <p:childTnLst>
                                    <p:set>
                                      <p:cBhvr>
                                        <p:cTn id="25" dur="1" fill="hold"/>
                                        <p:tgtEl>
                                          <p:spTgt spid="25"/>
                                        </p:tgtEl>
                                        <p:attrNameLst>
                                          <p:attrName>style.visibility</p:attrName>
                                        </p:attrNameLst>
                                      </p:cBhvr>
                                      <p:to>
                                        <p:strVal val="visible"/>
                                      </p:to>
                                    </p:set>
                                    <p:animEffect transition="in" filter="fade">
                                      <p:cBhvr>
                                        <p:cTn id="26" dur="350"/>
                                        <p:tgtEl>
                                          <p:spTgt spid="25"/>
                                        </p:tgtEl>
                                      </p:cBhvr>
                                    </p:animEffect>
                                  </p:childTnLst>
                                </p:cTn>
                              </p:par>
                              <p:par>
                                <p:cTn id="27" presetID="10" presetClass="entr" presetSubtype="0" fill="hold" grpId="0" nodeType="withEffect">
                                  <p:stCondLst>
                                    <p:cond delay="0"/>
                                  </p:stCondLst>
                                  <p:childTnLst>
                                    <p:set>
                                      <p:cBhvr>
                                        <p:cTn id="28" dur="1" fill="hold"/>
                                        <p:tgtEl>
                                          <p:spTgt spid="26"/>
                                        </p:tgtEl>
                                        <p:attrNameLst>
                                          <p:attrName>style.visibility</p:attrName>
                                        </p:attrNameLst>
                                      </p:cBhvr>
                                      <p:to>
                                        <p:strVal val="visible"/>
                                      </p:to>
                                    </p:set>
                                    <p:animEffect transition="in" filter="fade">
                                      <p:cBhvr>
                                        <p:cTn id="29" dur="350"/>
                                        <p:tgtEl>
                                          <p:spTgt spid="26"/>
                                        </p:tgtEl>
                                      </p:cBhvr>
                                    </p:animEffect>
                                  </p:childTnLst>
                                </p:cTn>
                              </p:par>
                              <p:par>
                                <p:cTn id="30" presetID="10" presetClass="entr" presetSubtype="0" fill="hold" grpId="0" nodeType="withEffect">
                                  <p:stCondLst>
                                    <p:cond delay="0"/>
                                  </p:stCondLst>
                                  <p:childTnLst>
                                    <p:set>
                                      <p:cBhvr>
                                        <p:cTn id="31" dur="1" fill="hold"/>
                                        <p:tgtEl>
                                          <p:spTgt spid="27"/>
                                        </p:tgtEl>
                                        <p:attrNameLst>
                                          <p:attrName>style.visibility</p:attrName>
                                        </p:attrNameLst>
                                      </p:cBhvr>
                                      <p:to>
                                        <p:strVal val="visible"/>
                                      </p:to>
                                    </p:set>
                                    <p:animEffect transition="in" filter="fade">
                                      <p:cBhvr>
                                        <p:cTn id="32" dur="350"/>
                                        <p:tgtEl>
                                          <p:spTgt spid="27"/>
                                        </p:tgtEl>
                                      </p:cBhvr>
                                    </p:animEffect>
                                  </p:childTnLst>
                                </p:cTn>
                              </p:par>
                              <p:par>
                                <p:cTn id="33" presetID="10" presetClass="entr" presetSubtype="0" fill="hold" grpId="0" nodeType="withEffect">
                                  <p:stCondLst>
                                    <p:cond delay="0"/>
                                  </p:stCondLst>
                                  <p:childTnLst>
                                    <p:set>
                                      <p:cBhvr>
                                        <p:cTn id="34" dur="1" fill="hold"/>
                                        <p:tgtEl>
                                          <p:spTgt spid="28"/>
                                        </p:tgtEl>
                                        <p:attrNameLst>
                                          <p:attrName>style.visibility</p:attrName>
                                        </p:attrNameLst>
                                      </p:cBhvr>
                                      <p:to>
                                        <p:strVal val="visible"/>
                                      </p:to>
                                    </p:set>
                                    <p:animEffect transition="in" filter="fade">
                                      <p:cBhvr>
                                        <p:cTn id="35" dur="350"/>
                                        <p:tgtEl>
                                          <p:spTgt spid="28"/>
                                        </p:tgtEl>
                                      </p:cBhvr>
                                    </p:animEffect>
                                  </p:childTnLst>
                                </p:cTn>
                              </p:par>
                              <p:par>
                                <p:cTn id="36" presetID="10" presetClass="entr" presetSubtype="0" fill="hold" grpId="0" nodeType="withEffect">
                                  <p:stCondLst>
                                    <p:cond delay="0"/>
                                  </p:stCondLst>
                                  <p:childTnLst>
                                    <p:set>
                                      <p:cBhvr>
                                        <p:cTn id="37" dur="1" fill="hold"/>
                                        <p:tgtEl>
                                          <p:spTgt spid="29"/>
                                        </p:tgtEl>
                                        <p:attrNameLst>
                                          <p:attrName>style.visibility</p:attrName>
                                        </p:attrNameLst>
                                      </p:cBhvr>
                                      <p:to>
                                        <p:strVal val="visible"/>
                                      </p:to>
                                    </p:set>
                                    <p:animEffect transition="in" filter="fade">
                                      <p:cBhvr>
                                        <p:cTn id="38" dur="35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tgtEl>
                                          <p:spTgt spid="30"/>
                                        </p:tgtEl>
                                        <p:attrNameLst>
                                          <p:attrName>style.visibility</p:attrName>
                                        </p:attrNameLst>
                                      </p:cBhvr>
                                      <p:to>
                                        <p:strVal val="visible"/>
                                      </p:to>
                                    </p:set>
                                    <p:animEffect transition="in" filter="fade">
                                      <p:cBhvr>
                                        <p:cTn id="43" dur="350"/>
                                        <p:tgtEl>
                                          <p:spTgt spid="30"/>
                                        </p:tgtEl>
                                      </p:cBhvr>
                                    </p:animEffect>
                                  </p:childTnLst>
                                </p:cTn>
                              </p:par>
                              <p:par>
                                <p:cTn id="44" presetID="10" presetClass="entr" presetSubtype="0" fill="hold" grpId="0" nodeType="withEffect">
                                  <p:stCondLst>
                                    <p:cond delay="0"/>
                                  </p:stCondLst>
                                  <p:childTnLst>
                                    <p:set>
                                      <p:cBhvr>
                                        <p:cTn id="45" dur="1" fill="hold"/>
                                        <p:tgtEl>
                                          <p:spTgt spid="31"/>
                                        </p:tgtEl>
                                        <p:attrNameLst>
                                          <p:attrName>style.visibility</p:attrName>
                                        </p:attrNameLst>
                                      </p:cBhvr>
                                      <p:to>
                                        <p:strVal val="visible"/>
                                      </p:to>
                                    </p:set>
                                    <p:animEffect transition="in" filter="fade">
                                      <p:cBhvr>
                                        <p:cTn id="46" dur="350"/>
                                        <p:tgtEl>
                                          <p:spTgt spid="31"/>
                                        </p:tgtEl>
                                      </p:cBhvr>
                                    </p:animEffect>
                                  </p:childTnLst>
                                </p:cTn>
                              </p:par>
                              <p:par>
                                <p:cTn id="47" presetID="10" presetClass="entr" presetSubtype="0" fill="hold" grpId="0" nodeType="withEffect">
                                  <p:stCondLst>
                                    <p:cond delay="0"/>
                                  </p:stCondLst>
                                  <p:childTnLst>
                                    <p:set>
                                      <p:cBhvr>
                                        <p:cTn id="48" dur="1" fill="hold"/>
                                        <p:tgtEl>
                                          <p:spTgt spid="32"/>
                                        </p:tgtEl>
                                        <p:attrNameLst>
                                          <p:attrName>style.visibility</p:attrName>
                                        </p:attrNameLst>
                                      </p:cBhvr>
                                      <p:to>
                                        <p:strVal val="visible"/>
                                      </p:to>
                                    </p:set>
                                    <p:animEffect transition="in" filter="fade">
                                      <p:cBhvr>
                                        <p:cTn id="49" dur="350"/>
                                        <p:tgtEl>
                                          <p:spTgt spid="32"/>
                                        </p:tgtEl>
                                      </p:cBhvr>
                                    </p:animEffect>
                                  </p:childTnLst>
                                </p:cTn>
                              </p:par>
                              <p:par>
                                <p:cTn id="50" presetID="10" presetClass="entr" presetSubtype="0" fill="hold" grpId="0" nodeType="withEffect">
                                  <p:stCondLst>
                                    <p:cond delay="0"/>
                                  </p:stCondLst>
                                  <p:childTnLst>
                                    <p:set>
                                      <p:cBhvr>
                                        <p:cTn id="51" dur="1" fill="hold"/>
                                        <p:tgtEl>
                                          <p:spTgt spid="33"/>
                                        </p:tgtEl>
                                        <p:attrNameLst>
                                          <p:attrName>style.visibility</p:attrName>
                                        </p:attrNameLst>
                                      </p:cBhvr>
                                      <p:to>
                                        <p:strVal val="visible"/>
                                      </p:to>
                                    </p:set>
                                    <p:animEffect transition="in" filter="fade">
                                      <p:cBhvr>
                                        <p:cTn id="52" dur="350"/>
                                        <p:tgtEl>
                                          <p:spTgt spid="33"/>
                                        </p:tgtEl>
                                      </p:cBhvr>
                                    </p:animEffect>
                                  </p:childTnLst>
                                </p:cTn>
                              </p:par>
                              <p:par>
                                <p:cTn id="53" presetID="10" presetClass="entr" presetSubtype="0" fill="hold" grpId="0" nodeType="withEffect">
                                  <p:stCondLst>
                                    <p:cond delay="0"/>
                                  </p:stCondLst>
                                  <p:childTnLst>
                                    <p:set>
                                      <p:cBhvr>
                                        <p:cTn id="54" dur="1" fill="hold"/>
                                        <p:tgtEl>
                                          <p:spTgt spid="34"/>
                                        </p:tgtEl>
                                        <p:attrNameLst>
                                          <p:attrName>style.visibility</p:attrName>
                                        </p:attrNameLst>
                                      </p:cBhvr>
                                      <p:to>
                                        <p:strVal val="visible"/>
                                      </p:to>
                                    </p:set>
                                    <p:animEffect transition="in" filter="fade">
                                      <p:cBhvr>
                                        <p:cTn id="55" dur="350"/>
                                        <p:tgtEl>
                                          <p:spTgt spid="34"/>
                                        </p:tgtEl>
                                      </p:cBhvr>
                                    </p:animEffect>
                                  </p:childTnLst>
                                </p:cTn>
                              </p:par>
                              <p:par>
                                <p:cTn id="56" presetID="10" presetClass="entr" presetSubtype="0" fill="hold" grpId="0" nodeType="withEffect">
                                  <p:stCondLst>
                                    <p:cond delay="0"/>
                                  </p:stCondLst>
                                  <p:childTnLst>
                                    <p:set>
                                      <p:cBhvr>
                                        <p:cTn id="57" dur="1" fill="hold"/>
                                        <p:tgtEl>
                                          <p:spTgt spid="35"/>
                                        </p:tgtEl>
                                        <p:attrNameLst>
                                          <p:attrName>style.visibility</p:attrName>
                                        </p:attrNameLst>
                                      </p:cBhvr>
                                      <p:to>
                                        <p:strVal val="visible"/>
                                      </p:to>
                                    </p:set>
                                    <p:animEffect transition="in" filter="fade">
                                      <p:cBhvr>
                                        <p:cTn id="58" dur="3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a:spLocks noGrp="1"/>
          </p:cNvSpPr>
          <p:nvPr/>
        </p:nvSpPr>
        <p:spPr>
          <a:xfrm>
            <a:off x="547073" y="2601035"/>
            <a:ext cx="3380868" cy="835742"/>
          </a:xfrm>
          <a:prstGeom prst="rect">
            <a:avLst/>
          </a:prstGeom>
          <a:solidFill>
            <a:srgbClr val="FFFFFF"/>
          </a:solidFill>
          <a:ln w="12700" cmpd="sng">
            <a:noFill/>
            <a:prstDash val="solid"/>
          </a:ln>
        </p:spPr>
        <p:txBody>
          <a:bodyPr anchor="ctr"/>
          <a:lstStyle/>
          <a:p>
            <a:pPr marL="0" indent="0" algn="ctr">
              <a:lnSpc>
                <a:spcPct val="100000"/>
              </a:lnSpc>
              <a:spcBef>
                <a:spcPts val="0"/>
              </a:spcBef>
              <a:spcAft>
                <a:spcPts val="0"/>
              </a:spcAft>
              <a:buNone/>
            </a:pPr>
            <a:r>
              <a:rPr lang="en-US" sz="4000">
                <a:ln>
                  <a:noFill/>
                </a:ln>
                <a:solidFill>
                  <a:srgbClr val="DDDDDD">
                    <a:lumMod val="50000"/>
                  </a:srgbClr>
                </a:solidFill>
                <a:latin typeface="Times New Roman" panose="02020503050405090304"/>
                <a:ea typeface="微软雅黑"/>
                <a:cs typeface="Times New Roman" panose="02020503050405090304"/>
                <a:sym typeface="+mn-ea"/>
              </a:rPr>
              <a:t>SFT</a:t>
            </a:r>
            <a:r>
              <a:rPr sz="4000">
                <a:ln>
                  <a:noFill/>
                </a:ln>
                <a:solidFill>
                  <a:srgbClr val="DDDDDD">
                    <a:lumMod val="50000"/>
                  </a:srgbClr>
                </a:solidFill>
                <a:latin typeface="Times New Roman" panose="02020503050405090304"/>
                <a:ea typeface="微软雅黑"/>
                <a:cs typeface="Times New Roman" panose="02020503050405090304"/>
                <a:sym typeface="+mn-ea"/>
              </a:rPr>
              <a:t> 初阶课程</a:t>
            </a:r>
            <a:endParaRPr sz="4000" b="0" i="0" u="none" cap="none">
              <a:ln>
                <a:noFill/>
              </a:ln>
              <a:solidFill>
                <a:srgbClr val="DDDDDD">
                  <a:lumMod val="50000"/>
                </a:srgbClr>
              </a:solidFill>
              <a:latin typeface="Times New Roman" panose="02020503050405090304"/>
              <a:ea typeface="微软雅黑"/>
              <a:cs typeface="Times New Roman" panose="02020503050405090304"/>
            </a:endParaRPr>
          </a:p>
        </p:txBody>
      </p:sp>
      <p:sp>
        <p:nvSpPr>
          <p:cNvPr id="15" name="í$ľidè"/>
          <p:cNvSpPr>
            <a:spLocks noGrp="1"/>
          </p:cNvSpPr>
          <p:nvPr/>
        </p:nvSpPr>
        <p:spPr>
          <a:xfrm>
            <a:off x="3956272" y="1890392"/>
            <a:ext cx="0" cy="2769071"/>
          </a:xfrm>
          <a:prstGeom prst="line">
            <a:avLst/>
          </a:prstGeom>
          <a:solidFill>
            <a:srgbClr val="FFCC00"/>
          </a:solidFill>
          <a:ln w="12700">
            <a:solidFill>
              <a:schemeClr val="bg1">
                <a:lumMod val="65000"/>
              </a:schemeClr>
            </a:solidFill>
            <a:prstDash val="solid"/>
            <a:headEnd type="none" w="med" len="med"/>
            <a:tailEnd type="none" w="med" len="med"/>
          </a:ln>
        </p:spPr>
      </p:sp>
      <p:pic>
        <p:nvPicPr>
          <p:cNvPr id="21" name="图片 7"/>
          <p:cNvPicPr>
            <a:picLocks noChangeAspect="1"/>
          </p:cNvPicPr>
          <p:nvPr/>
        </p:nvPicPr>
        <p:blipFill>
          <a:blip r:embed="rId1"/>
          <a:stretch>
            <a:fillRect/>
          </a:stretch>
        </p:blipFill>
        <p:spPr>
          <a:xfrm>
            <a:off x="10137202" y="6042990"/>
            <a:ext cx="1312676" cy="348426"/>
          </a:xfrm>
          <a:prstGeom prst="rect">
            <a:avLst/>
          </a:prstGeom>
        </p:spPr>
      </p:pic>
      <p:sp>
        <p:nvSpPr>
          <p:cNvPr id="17" name="文本框 16"/>
          <p:cNvSpPr>
            <a:spLocks noGrp="1"/>
          </p:cNvSpPr>
          <p:nvPr/>
        </p:nvSpPr>
        <p:spPr>
          <a:xfrm>
            <a:off x="620201" y="6130454"/>
            <a:ext cx="8763000" cy="246221"/>
          </a:xfrm>
          <a:prstGeom prst="rect">
            <a:avLst/>
          </a:prstGeom>
          <a:noFill/>
        </p:spPr>
        <p:txBody>
          <a:bodyPr wrap="none">
            <a:spAutoFit/>
          </a:bodyPr>
          <a:lstStyle/>
          <a:p>
            <a:pPr marL="0" indent="0" algn="l">
              <a:lnSpc>
                <a:spcPct val="100000"/>
              </a:lnSpc>
              <a:spcBef>
                <a:spcPts val="0"/>
              </a:spcBef>
              <a:spcAft>
                <a:spcPts val="0"/>
              </a:spcAft>
              <a:buNone/>
            </a:pPr>
            <a:r>
              <a:rPr sz="1000" b="0" i="0" u="none" cap="none">
                <a:ln>
                  <a:noFill/>
                </a:ln>
                <a:solidFill>
                  <a:prstClr val="white">
                    <a:lumMod val="50000"/>
                  </a:prstClr>
                </a:solidFill>
                <a:latin typeface="Times New Roman" panose="02020503050405090304"/>
                <a:ea typeface="微软雅黑"/>
                <a:cs typeface="Times New Roman" panose="02020503050405090304"/>
                <a:hlinkClick r:id="rId2"/>
              </a:rPr>
              <a:t>https://gitcode.com/cann/cann-learning-hub/tree/master/tutorials/sft_training_pipeline</a:t>
            </a:r>
            <a:endParaRPr sz="1000" b="0" i="0" u="none" cap="none">
              <a:ln>
                <a:noFill/>
              </a:ln>
              <a:solidFill>
                <a:prstClr val="white">
                  <a:lumMod val="50000"/>
                </a:prstClr>
              </a:solidFill>
              <a:latin typeface="Times New Roman" panose="02020503050405090304"/>
              <a:ea typeface="微软雅黑"/>
              <a:cs typeface="Times New Roman" panose="02020503050405090304"/>
            </a:endParaRPr>
          </a:p>
        </p:txBody>
      </p:sp>
      <p:sp>
        <p:nvSpPr>
          <p:cNvPr id="12" name="矩形 11"/>
          <p:cNvSpPr>
            <a:spLocks noGrp="1"/>
          </p:cNvSpPr>
          <p:nvPr/>
        </p:nvSpPr>
        <p:spPr>
          <a:xfrm>
            <a:off x="5157694" y="1530876"/>
            <a:ext cx="4587547" cy="596075"/>
          </a:xfrm>
          <a:prstGeom prst="rect">
            <a:avLst/>
          </a:prstGeom>
          <a:solidFill>
            <a:srgbClr val="F2F2F2"/>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1 </a:t>
            </a:r>
            <a:r>
              <a:rPr lang="en-US" sz="2400">
                <a:ln>
                  <a:noFill/>
                </a:ln>
                <a:solidFill>
                  <a:srgbClr val="666666"/>
                </a:solidFill>
                <a:sym typeface="+mn-ea"/>
              </a:rPr>
              <a:t>SFT</a:t>
            </a:r>
            <a:r>
              <a:rPr lang="zh-CN" altLang="en-US" sz="2400">
                <a:ln>
                  <a:noFill/>
                </a:ln>
                <a:solidFill>
                  <a:srgbClr val="666666"/>
                </a:solidFill>
                <a:sym typeface="+mn-ea"/>
              </a:rPr>
              <a:t>概念与</a:t>
            </a:r>
            <a:r>
              <a:rPr lang="en-US" altLang="zh-CN" sz="2400">
                <a:ln>
                  <a:noFill/>
                </a:ln>
                <a:solidFill>
                  <a:srgbClr val="666666"/>
                </a:solidFill>
                <a:sym typeface="+mn-ea"/>
              </a:rPr>
              <a:t>Wordle</a:t>
            </a:r>
            <a:r>
              <a:rPr lang="zh-CN" altLang="en-US" sz="2400">
                <a:ln>
                  <a:noFill/>
                </a:ln>
                <a:solidFill>
                  <a:srgbClr val="666666"/>
                </a:solidFill>
                <a:sym typeface="+mn-ea"/>
              </a:rPr>
              <a:t>任务</a:t>
            </a:r>
            <a:endParaRPr lang="zh-CN" sz="2400" b="0" i="0" u="none" cap="none">
              <a:ln>
                <a:noFill/>
              </a:ln>
              <a:solidFill>
                <a:srgbClr val="666666"/>
              </a:solidFill>
              <a:latin typeface="Times New Roman" panose="02020503050405090304"/>
              <a:ea typeface="微软雅黑"/>
              <a:cs typeface="Times New Roman" panose="02020503050405090304"/>
            </a:endParaRPr>
          </a:p>
        </p:txBody>
      </p:sp>
      <p:sp>
        <p:nvSpPr>
          <p:cNvPr id="13" name="矩形 12"/>
          <p:cNvSpPr>
            <a:spLocks noGrp="1"/>
          </p:cNvSpPr>
          <p:nvPr/>
        </p:nvSpPr>
        <p:spPr>
          <a:xfrm>
            <a:off x="5157694" y="2680975"/>
            <a:ext cx="4587549" cy="591795"/>
          </a:xfrm>
          <a:prstGeom prst="rect">
            <a:avLst/>
          </a:prstGeom>
          <a:solidFill>
            <a:srgbClr val="FFFFFF">
              <a:lumMod val="95000"/>
            </a:srgbClr>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2</a:t>
            </a:r>
            <a:r>
              <a:rPr lang="en-US" sz="2400" b="0" i="0" u="none" cap="none">
                <a:ln>
                  <a:noFill/>
                </a:ln>
                <a:solidFill>
                  <a:srgbClr val="666666"/>
                </a:solidFill>
                <a:latin typeface="Times New Roman" panose="02020503050405090304"/>
                <a:ea typeface="微软雅黑"/>
                <a:cs typeface="Times New Roman" panose="02020503050405090304"/>
              </a:rPr>
              <a:t> </a:t>
            </a:r>
            <a:r>
              <a:rPr lang="en-US" sz="2400">
                <a:ln>
                  <a:noFill/>
                </a:ln>
                <a:solidFill>
                  <a:srgbClr val="666666"/>
                </a:solidFill>
                <a:sym typeface="+mn-ea"/>
              </a:rPr>
              <a:t>TorchTitan</a:t>
            </a:r>
            <a:r>
              <a:rPr lang="zh-CN" altLang="en-US" sz="2400">
                <a:ln>
                  <a:noFill/>
                </a:ln>
                <a:solidFill>
                  <a:srgbClr val="666666"/>
                </a:solidFill>
                <a:sym typeface="+mn-ea"/>
              </a:rPr>
              <a:t>框架概述</a:t>
            </a:r>
            <a:endParaRPr lang="zh-CN" altLang="en-US" sz="2400" b="0" i="0" u="none" cap="none">
              <a:ln>
                <a:noFill/>
              </a:ln>
              <a:solidFill>
                <a:srgbClr val="666666"/>
              </a:solidFill>
              <a:latin typeface="Times New Roman" panose="02020503050405090304"/>
              <a:ea typeface="微软雅黑"/>
              <a:cs typeface="Times New Roman" panose="02020503050405090304"/>
            </a:endParaRPr>
          </a:p>
        </p:txBody>
      </p:sp>
      <p:sp>
        <p:nvSpPr>
          <p:cNvPr id="14" name="矩形 13"/>
          <p:cNvSpPr>
            <a:spLocks noGrp="1"/>
          </p:cNvSpPr>
          <p:nvPr/>
        </p:nvSpPr>
        <p:spPr>
          <a:xfrm>
            <a:off x="5157694" y="3712434"/>
            <a:ext cx="4587551" cy="587513"/>
          </a:xfrm>
          <a:prstGeom prst="rect">
            <a:avLst/>
          </a:prstGeom>
          <a:solidFill>
            <a:srgbClr val="F2F2F2"/>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3 </a:t>
            </a:r>
            <a:r>
              <a:rPr lang="zh-CN" sz="2400" b="0" i="0" u="none" cap="none">
                <a:ln>
                  <a:noFill/>
                </a:ln>
                <a:solidFill>
                  <a:srgbClr val="666666"/>
                </a:solidFill>
                <a:latin typeface="Times New Roman" panose="02020503050405090304"/>
                <a:ea typeface="微软雅黑"/>
                <a:cs typeface="Times New Roman" panose="02020503050405090304"/>
              </a:rPr>
              <a:t>训练配置与基线</a:t>
            </a:r>
            <a:r>
              <a:rPr lang="zh-CN" sz="2400" b="0" i="0" u="none" cap="none">
                <a:ln>
                  <a:noFill/>
                </a:ln>
                <a:solidFill>
                  <a:srgbClr val="666666"/>
                </a:solidFill>
                <a:latin typeface="Times New Roman" panose="02020503050405090304"/>
                <a:ea typeface="微软雅黑"/>
                <a:cs typeface="Times New Roman" panose="02020503050405090304"/>
              </a:rPr>
              <a:t>训练</a:t>
            </a:r>
            <a:endParaRPr lang="zh-CN" sz="2400" b="0" i="0" u="none" cap="none">
              <a:ln>
                <a:noFill/>
              </a:ln>
              <a:solidFill>
                <a:srgbClr val="666666"/>
              </a:solidFill>
              <a:latin typeface="Times New Roman" panose="02020503050405090304"/>
              <a:ea typeface="微软雅黑"/>
              <a:cs typeface="Times New Roman" panose="02020503050405090304"/>
            </a:endParaRPr>
          </a:p>
        </p:txBody>
      </p:sp>
      <p:sp>
        <p:nvSpPr>
          <p:cNvPr id="7" name="矩形 6"/>
          <p:cNvSpPr>
            <a:spLocks noGrp="1"/>
          </p:cNvSpPr>
          <p:nvPr/>
        </p:nvSpPr>
        <p:spPr>
          <a:xfrm>
            <a:off x="5157694" y="4739611"/>
            <a:ext cx="4587553" cy="587513"/>
          </a:xfrm>
          <a:prstGeom prst="rect">
            <a:avLst/>
          </a:prstGeom>
          <a:solidFill>
            <a:srgbClr val="C00000"/>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prstClr val="white"/>
                </a:solidFill>
                <a:latin typeface="Times New Roman" panose="02020503050405090304"/>
                <a:ea typeface="微软雅黑"/>
                <a:cs typeface="Times New Roman" panose="02020503050405090304"/>
              </a:rPr>
              <a:t>Part 4 </a:t>
            </a:r>
            <a:r>
              <a:rPr lang="zh-CN" sz="2400" b="0" i="0" u="none" cap="none">
                <a:ln>
                  <a:noFill/>
                </a:ln>
                <a:solidFill>
                  <a:prstClr val="white"/>
                </a:solidFill>
                <a:latin typeface="Times New Roman" panose="02020503050405090304"/>
                <a:ea typeface="微软雅黑"/>
                <a:cs typeface="Times New Roman" panose="02020503050405090304"/>
              </a:rPr>
              <a:t>融合算子优化与</a:t>
            </a:r>
            <a:r>
              <a:rPr lang="en-US" altLang="zh-CN" sz="2400" b="0" i="0" u="none" cap="none">
                <a:ln>
                  <a:noFill/>
                </a:ln>
                <a:solidFill>
                  <a:prstClr val="white"/>
                </a:solidFill>
                <a:latin typeface="Times New Roman" panose="02020503050405090304"/>
                <a:ea typeface="微软雅黑"/>
                <a:cs typeface="Times New Roman" panose="02020503050405090304"/>
              </a:rPr>
              <a:t>Profiling</a:t>
            </a:r>
            <a:endParaRPr lang="en-US" altLang="zh-CN" sz="2400" b="0" i="0" u="none" cap="none">
              <a:ln>
                <a:noFill/>
              </a:ln>
              <a:solidFill>
                <a:prstClr val="white"/>
              </a:solidFill>
              <a:latin typeface="Times New Roman" panose="02020503050405090304"/>
              <a:ea typeface="微软雅黑"/>
              <a:cs typeface="Times New Roman" panose="020205030504050903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图片 29"/>
          <p:cNvPicPr>
            <a:picLocks noChangeAspect="1"/>
          </p:cNvPicPr>
          <p:nvPr/>
        </p:nvPicPr>
        <p:blipFill>
          <a:blip r:embed="rId1"/>
          <a:stretch>
            <a:fillRect/>
          </a:stretch>
        </p:blipFill>
        <p:spPr>
          <a:xfrm>
            <a:off x="0" y="0"/>
            <a:ext cx="12192000" cy="6858000"/>
          </a:xfrm>
          <a:prstGeom prst="rect">
            <a:avLst/>
          </a:prstGeom>
        </p:spPr>
      </p:pic>
      <p:sp>
        <p:nvSpPr>
          <p:cNvPr id="3" name="矩形 1"/>
          <p:cNvSpPr>
            <a:spLocks noGrp="1"/>
          </p:cNvSpPr>
          <p:nvPr/>
        </p:nvSpPr>
        <p:spPr>
          <a:xfrm>
            <a:off x="426720" y="198120"/>
            <a:ext cx="9220200" cy="731520"/>
          </a:xfrm>
          <a:prstGeom prst="rect">
            <a:avLst/>
          </a:prstGeom>
          <a:solidFill>
            <a:srgbClr val="FFFFFF"/>
          </a:solidFill>
          <a:ln w="0">
            <a:noFill/>
            <a:prstDash val="solid"/>
          </a:ln>
        </p:spPr>
      </p:sp>
      <p:sp>
        <p:nvSpPr>
          <p:cNvPr id="4" name="融合算子优化与 Profiling"/>
          <p:cNvSpPr>
            <a:spLocks noGrp="1"/>
          </p:cNvSpPr>
          <p:nvPr/>
        </p:nvSpPr>
        <p:spPr>
          <a:xfrm>
            <a:off x="609600" y="323850"/>
            <a:ext cx="10477500" cy="504825"/>
          </a:xfrm>
          <a:prstGeom prst="rect">
            <a:avLst/>
          </a:prstGeom>
          <a:noFill/>
          <a:ln w="0">
            <a:noFill/>
          </a:ln>
        </p:spPr>
        <p:txBody>
          <a:bodyPr wrap="none" lIns="0" tIns="0" rIns="0" bIns="0" anchor="t">
            <a:noAutofit/>
          </a:bodyPr>
          <a:lstStyle/>
          <a:p>
            <a:pPr algn="l">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融合算子优化与 Profiling</a:t>
            </a:r>
            <a:endParaRPr sz="2700" b="1">
              <a:solidFill>
                <a:srgbClr val="111111"/>
              </a:solidFill>
              <a:latin typeface="Times New Roman" panose="02020503050405090304"/>
              <a:ea typeface="微软雅黑"/>
              <a:cs typeface="Times New Roman" panose="02020503050405090304"/>
            </a:endParaRPr>
          </a:p>
        </p:txBody>
      </p:sp>
      <p:sp>
        <p:nvSpPr>
          <p:cNvPr id="5" name="本章以 RMSNorm 为例：保持计算目标，优化算子的执行方式。"/>
          <p:cNvSpPr>
            <a:spLocks noGrp="1"/>
          </p:cNvSpPr>
          <p:nvPr/>
        </p:nvSpPr>
        <p:spPr>
          <a:xfrm>
            <a:off x="742950" y="1104900"/>
            <a:ext cx="10706100" cy="400050"/>
          </a:xfrm>
          <a:prstGeom prst="rect">
            <a:avLst/>
          </a:prstGeom>
          <a:noFill/>
          <a:ln w="0">
            <a:noFill/>
          </a:ln>
        </p:spPr>
        <p:txBody>
          <a:bodyPr wrap="none" lIns="0" tIns="0" rIns="0" bIns="0" anchor="t">
            <a:noAutofit/>
          </a:bodyPr>
          <a:lstStyle/>
          <a:p>
            <a:pPr algn="l">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本章以 RMSNorm 为例：保持计算目标，优化算子的执行方式。</a:t>
            </a:r>
            <a:endParaRPr sz="2000" b="0">
              <a:solidFill>
                <a:srgbClr val="111111"/>
              </a:solidFill>
              <a:latin typeface="Times New Roman" panose="02020503050405090304"/>
              <a:ea typeface="微软雅黑"/>
              <a:cs typeface="Times New Roman" panose="02020503050405090304"/>
            </a:endParaRPr>
          </a:p>
        </p:txBody>
      </p:sp>
      <p:sp>
        <p:nvSpPr>
          <p:cNvPr id="6" name="RMSNorm：对每个 token 的隐藏向量做归一化。"/>
          <p:cNvSpPr>
            <a:spLocks noGrp="1"/>
          </p:cNvSpPr>
          <p:nvPr/>
        </p:nvSpPr>
        <p:spPr>
          <a:xfrm>
            <a:off x="742950" y="1609725"/>
            <a:ext cx="10706100" cy="342900"/>
          </a:xfrm>
          <a:prstGeom prst="rect">
            <a:avLst/>
          </a:prstGeom>
          <a:noFill/>
          <a:ln w="0">
            <a:noFill/>
          </a:ln>
        </p:spPr>
        <p:txBody>
          <a:bodyPr wrap="none" lIns="0" tIns="0" rIns="0" bIns="0" anchor="t">
            <a:noAutofit/>
          </a:bodyPr>
          <a:lstStyle/>
          <a:p>
            <a:pPr algn="l">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RMSNorm：对每个 token 的隐藏向量做归一化。</a:t>
            </a:r>
            <a:endParaRPr sz="1800" b="0">
              <a:solidFill>
                <a:srgbClr val="111111"/>
              </a:solidFill>
              <a:latin typeface="Times New Roman" panose="02020503050405090304"/>
              <a:ea typeface="微软雅黑"/>
              <a:cs typeface="Times New Roman" panose="02020503050405090304"/>
            </a:endParaRPr>
          </a:p>
        </p:txBody>
      </p:sp>
      <p:sp>
        <p:nvSpPr>
          <p:cNvPr id="7" name="y = weight × x ÷ √(mean(x²) + ε)"/>
          <p:cNvSpPr>
            <a:spLocks noGrp="1"/>
          </p:cNvSpPr>
          <p:nvPr/>
        </p:nvSpPr>
        <p:spPr>
          <a:xfrm>
            <a:off x="742950" y="2095500"/>
            <a:ext cx="10706100" cy="457200"/>
          </a:xfrm>
          <a:prstGeom prst="rect">
            <a:avLst/>
          </a:prstGeom>
          <a:noFill/>
          <a:ln w="0">
            <a:noFill/>
          </a:ln>
        </p:spPr>
        <p:txBody>
          <a:bodyPr wrap="none" lIns="0" tIns="0" rIns="0" bIns="0" anchor="t">
            <a:noAutofit/>
          </a:bodyPr>
          <a:lstStyle/>
          <a:p>
            <a:pPr algn="l">
              <a:defRPr sz="2400" b="1">
                <a:solidFill>
                  <a:srgbClr val="E60012"/>
                </a:solidFill>
                <a:latin typeface="Times New Roman" panose="02020503050405090304"/>
                <a:ea typeface="微软雅黑"/>
                <a:cs typeface="Times New Roman" panose="02020503050405090304"/>
              </a:defRPr>
            </a:pPr>
            <a:r>
              <a:rPr sz="2400" b="1">
                <a:solidFill>
                  <a:srgbClr val="E60012"/>
                </a:solidFill>
                <a:latin typeface="Times New Roman" panose="02020503050405090304"/>
                <a:ea typeface="微软雅黑"/>
                <a:cs typeface="Times New Roman" panose="02020503050405090304"/>
              </a:rPr>
              <a:t>y = weight × x ÷ √(mean(x²) + ε)</a:t>
            </a:r>
            <a:endParaRPr sz="2400" b="1">
              <a:solidFill>
                <a:srgbClr val="E60012"/>
              </a:solidFill>
              <a:latin typeface="Times New Roman" panose="02020503050405090304"/>
              <a:ea typeface="微软雅黑"/>
              <a:cs typeface="Times New Roman" panose="02020503050405090304"/>
            </a:endParaRPr>
          </a:p>
        </p:txBody>
      </p:sp>
      <p:graphicFrame>
        <p:nvGraphicFramePr>
          <p:cNvPr id="8" name="表格 7"/>
          <p:cNvGraphicFramePr/>
          <p:nvPr/>
        </p:nvGraphicFramePr>
        <p:xfrm>
          <a:off x="742950" y="2724150"/>
          <a:ext cx="10706100" cy="2266950"/>
        </p:xfrm>
        <a:graphic>
          <a:graphicData uri="http://schemas.openxmlformats.org/drawingml/2006/table">
            <a:tbl>
              <a:tblPr/>
              <a:tblGrid>
                <a:gridCol w="2076450"/>
                <a:gridCol w="4286250"/>
                <a:gridCol w="4343400"/>
              </a:tblGrid>
              <a:tr h="419100">
                <a:tc>
                  <a:txBody>
                    <a:bodyPr wrap="square">
                      <a:spAutoFit/>
                    </a:bodyPr>
                    <a:lstStyle/>
                    <a:p>
                      <a:pPr algn="ctr"/>
                      <a:r>
                        <a:rPr sz="1800" b="1">
                          <a:solidFill>
                            <a:srgbClr val="111111"/>
                          </a:solidFill>
                          <a:latin typeface="Times New Roman" panose="02020503050405090304"/>
                          <a:ea typeface="微软雅黑"/>
                          <a:cs typeface="Times New Roman" panose="02020503050405090304"/>
                        </a:rPr>
                        <a:t>比较项</a:t>
                      </a:r>
                      <a:endParaRPr sz="1800" b="1">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800" b="1">
                          <a:solidFill>
                            <a:srgbClr val="111111"/>
                          </a:solidFill>
                          <a:latin typeface="Times New Roman" panose="02020503050405090304"/>
                          <a:ea typeface="微软雅黑"/>
                          <a:cs typeface="Times New Roman" panose="02020503050405090304"/>
                        </a:rPr>
                        <a:t>原生 RMSNorm</a:t>
                      </a:r>
                      <a:endParaRPr sz="1800" b="1">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800" b="1">
                          <a:solidFill>
                            <a:srgbClr val="111111"/>
                          </a:solidFill>
                          <a:latin typeface="Times New Roman" panose="02020503050405090304"/>
                          <a:ea typeface="微软雅黑"/>
                          <a:cs typeface="Times New Roman" panose="02020503050405090304"/>
                        </a:rPr>
                        <a:t>Ascend 融合 RMSNorm</a:t>
                      </a:r>
                      <a:endParaRPr sz="1800" b="1">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r>
              <a:tr h="552450">
                <a:tc>
                  <a:txBody>
                    <a:bodyPr wrap="square">
                      <a:spAutoFit/>
                    </a:bodyPr>
                    <a:lstStyle/>
                    <a:p>
                      <a:pPr algn="ctr"/>
                      <a:r>
                        <a:rPr sz="1800" b="0">
                          <a:solidFill>
                            <a:srgbClr val="111111"/>
                          </a:solidFill>
                          <a:latin typeface="Times New Roman" panose="02020503050405090304"/>
                          <a:ea typeface="微软雅黑"/>
                          <a:cs typeface="Times New Roman" panose="02020503050405090304"/>
                        </a:rPr>
                        <a:t>计算入口</a:t>
                      </a:r>
                      <a:endParaRPr sz="1800"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800" b="0">
                          <a:solidFill>
                            <a:srgbClr val="111111"/>
                          </a:solidFill>
                          <a:latin typeface="Times New Roman" panose="02020503050405090304"/>
                          <a:ea typeface="微软雅黑"/>
                          <a:cs typeface="Times New Roman" panose="02020503050405090304"/>
                        </a:rPr>
                        <a:t>F.rms_norm</a:t>
                      </a:r>
                      <a:endParaRPr sz="1800"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800" b="0">
                          <a:solidFill>
                            <a:srgbClr val="111111"/>
                          </a:solidFill>
                          <a:latin typeface="Times New Roman" panose="02020503050405090304"/>
                          <a:ea typeface="微软雅黑"/>
                          <a:cs typeface="Times New Roman" panose="02020503050405090304"/>
                        </a:rPr>
                        <a:t>torch_npu.npu_rms_norm</a:t>
                      </a:r>
                      <a:endParaRPr sz="1800"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r>
              <a:tr h="742950">
                <a:tc>
                  <a:txBody>
                    <a:bodyPr wrap="square">
                      <a:spAutoFit/>
                    </a:bodyPr>
                    <a:lstStyle/>
                    <a:p>
                      <a:pPr algn="ctr"/>
                      <a:r>
                        <a:rPr sz="1800" b="0">
                          <a:solidFill>
                            <a:srgbClr val="111111"/>
                          </a:solidFill>
                          <a:latin typeface="Times New Roman" panose="02020503050405090304"/>
                          <a:ea typeface="微软雅黑"/>
                          <a:cs typeface="Times New Roman" panose="02020503050405090304"/>
                        </a:rPr>
                        <a:t>执行方式</a:t>
                      </a:r>
                      <a:endParaRPr sz="1800"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800" b="0">
                          <a:solidFill>
                            <a:srgbClr val="111111"/>
                          </a:solidFill>
                          <a:latin typeface="Times New Roman" panose="02020503050405090304"/>
                          <a:ea typeface="微软雅黑"/>
                          <a:cs typeface="Times New Roman" panose="02020503050405090304"/>
                        </a:rPr>
                        <a:t>拆成类型转换、平方、</a:t>
                      </a:r>
                      <a:endParaRPr sz="1800" b="0">
                        <a:solidFill>
                          <a:srgbClr val="111111"/>
                        </a:solidFill>
                        <a:latin typeface="Times New Roman" panose="02020503050405090304"/>
                        <a:ea typeface="微软雅黑"/>
                        <a:cs typeface="Times New Roman" panose="02020503050405090304"/>
                      </a:endParaRPr>
                    </a:p>
                    <a:p>
                      <a:pPr algn="ctr"/>
                      <a:r>
                        <a:rPr sz="1800" b="0">
                          <a:solidFill>
                            <a:srgbClr val="111111"/>
                          </a:solidFill>
                          <a:latin typeface="Times New Roman" panose="02020503050405090304"/>
                          <a:ea typeface="微软雅黑"/>
                          <a:cs typeface="Times New Roman" panose="02020503050405090304"/>
                        </a:rPr>
                        <a:t>归约和乘法等操作</a:t>
                      </a:r>
                      <a:endParaRPr sz="1800"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800" b="0">
                          <a:solidFill>
                            <a:srgbClr val="111111"/>
                          </a:solidFill>
                          <a:latin typeface="Times New Roman" panose="02020503050405090304"/>
                          <a:ea typeface="微软雅黑"/>
                          <a:cs typeface="Times New Roman" panose="02020503050405090304"/>
                        </a:rPr>
                        <a:t>一次融合 API 完成计算</a:t>
                      </a:r>
                      <a:endParaRPr sz="1800"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r>
              <a:tr h="552450">
                <a:tc>
                  <a:txBody>
                    <a:bodyPr wrap="square">
                      <a:spAutoFit/>
                    </a:bodyPr>
                    <a:lstStyle/>
                    <a:p>
                      <a:pPr algn="ctr"/>
                      <a:r>
                        <a:rPr sz="1800" b="0">
                          <a:solidFill>
                            <a:srgbClr val="111111"/>
                          </a:solidFill>
                          <a:latin typeface="Times New Roman" panose="02020503050405090304"/>
                          <a:ea typeface="微软雅黑"/>
                          <a:cs typeface="Times New Roman" panose="02020503050405090304"/>
                        </a:rPr>
                        <a:t>参考 trace</a:t>
                      </a:r>
                      <a:endParaRPr sz="1800"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800" b="0">
                          <a:solidFill>
                            <a:srgbClr val="111111"/>
                          </a:solidFill>
                          <a:latin typeface="Times New Roman" panose="02020503050405090304"/>
                          <a:ea typeface="微软雅黑"/>
                          <a:cs typeface="Times New Roman" panose="02020503050405090304"/>
                        </a:rPr>
                        <a:t>8 次 ACLNN 调用</a:t>
                      </a:r>
                      <a:endParaRPr sz="1800"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800" b="0">
                          <a:solidFill>
                            <a:srgbClr val="111111"/>
                          </a:solidFill>
                          <a:latin typeface="Times New Roman" panose="02020503050405090304"/>
                          <a:ea typeface="微软雅黑"/>
                          <a:cs typeface="Times New Roman" panose="02020503050405090304"/>
                        </a:rPr>
                        <a:t>1 次 aclnnRmsNorm 调用</a:t>
                      </a:r>
                      <a:endParaRPr sz="1800"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r>
            </a:tbl>
          </a:graphicData>
        </a:graphic>
      </p:graphicFrame>
      <p:sp>
        <p:nvSpPr>
          <p:cNvPr id="9" name="参考输入：BF16，shape = (2, 4096, 2048)。调"/>
          <p:cNvSpPr>
            <a:spLocks noGrp="1"/>
          </p:cNvSpPr>
          <p:nvPr/>
        </p:nvSpPr>
        <p:spPr>
          <a:xfrm>
            <a:off x="742950" y="5133975"/>
            <a:ext cx="10706100" cy="323850"/>
          </a:xfrm>
          <a:prstGeom prst="rect">
            <a:avLst/>
          </a:prstGeom>
          <a:noFill/>
          <a:ln w="0">
            <a:noFill/>
          </a:ln>
        </p:spPr>
        <p:txBody>
          <a:bodyPr wrap="none" lIns="0" tIns="0" rIns="0" bIns="0" anchor="t">
            <a:noAutofit/>
          </a:bodyPr>
          <a:lstStyle/>
          <a:p>
            <a:pPr algn="l">
              <a:defRPr sz="1650" b="0">
                <a:solidFill>
                  <a:srgbClr val="555555"/>
                </a:solidFill>
                <a:latin typeface="Times New Roman" panose="02020503050405090304"/>
                <a:ea typeface="微软雅黑"/>
                <a:cs typeface="Times New Roman" panose="02020503050405090304"/>
              </a:defRPr>
            </a:pPr>
            <a:r>
              <a:rPr sz="1650" b="0">
                <a:solidFill>
                  <a:srgbClr val="555555"/>
                </a:solidFill>
                <a:latin typeface="Times New Roman" panose="02020503050405090304"/>
                <a:ea typeface="微软雅黑"/>
                <a:cs typeface="Times New Roman" panose="02020503050405090304"/>
              </a:rPr>
              <a:t>参考输入：BF16，shape = (2, 4096, 2048)。调用数随实现与环境变化。</a:t>
            </a:r>
            <a:endParaRPr sz="1650" b="0">
              <a:solidFill>
                <a:srgbClr val="555555"/>
              </a:solidFill>
              <a:latin typeface="Times New Roman" panose="02020503050405090304"/>
              <a:ea typeface="微软雅黑"/>
              <a:cs typeface="Times New Roman" panose="02020503050405090304"/>
            </a:endParaRPr>
          </a:p>
        </p:txBody>
      </p:sp>
      <p:sp>
        <p:nvSpPr>
          <p:cNvPr id="10" name="融合减少调用开销和中间结果物化，实际训练收益需要测量。"/>
          <p:cNvSpPr>
            <a:spLocks noGrp="1"/>
          </p:cNvSpPr>
          <p:nvPr/>
        </p:nvSpPr>
        <p:spPr>
          <a:xfrm>
            <a:off x="742950" y="5657850"/>
            <a:ext cx="10706100" cy="333375"/>
          </a:xfrm>
          <a:prstGeom prst="rect">
            <a:avLst/>
          </a:prstGeom>
          <a:noFill/>
          <a:ln w="0">
            <a:noFill/>
          </a:ln>
        </p:spPr>
        <p:txBody>
          <a:bodyPr wrap="none" lIns="0" tIns="0" rIns="0" bIns="0" anchor="t">
            <a:noAutofit/>
          </a:bodyPr>
          <a:lstStyle/>
          <a:p>
            <a:pPr algn="l">
              <a:defRPr sz="1875" b="1">
                <a:solidFill>
                  <a:srgbClr val="E60012"/>
                </a:solidFill>
                <a:latin typeface="Times New Roman" panose="02020503050405090304"/>
                <a:ea typeface="微软雅黑"/>
                <a:cs typeface="Times New Roman" panose="02020503050405090304"/>
              </a:defRPr>
            </a:pPr>
            <a:r>
              <a:rPr sz="1875" b="1">
                <a:solidFill>
                  <a:srgbClr val="E60012"/>
                </a:solidFill>
                <a:latin typeface="Times New Roman" panose="02020503050405090304"/>
                <a:ea typeface="微软雅黑"/>
                <a:cs typeface="Times New Roman" panose="02020503050405090304"/>
              </a:rPr>
              <a:t>融合减少调用开销和中间结果物化，实际训练收益需要测量。</a:t>
            </a:r>
            <a:endParaRPr sz="1875" b="1">
              <a:solidFill>
                <a:srgbClr val="E60012"/>
              </a:solidFill>
              <a:latin typeface="Times New Roman" panose="02020503050405090304"/>
              <a:ea typeface="微软雅黑"/>
              <a:cs typeface="Times New Roman" panose="020205030504050903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图片 29"/>
          <p:cNvPicPr>
            <a:picLocks noChangeAspect="1"/>
          </p:cNvPicPr>
          <p:nvPr/>
        </p:nvPicPr>
        <p:blipFill>
          <a:blip r:embed="rId1"/>
          <a:stretch>
            <a:fillRect/>
          </a:stretch>
        </p:blipFill>
        <p:spPr>
          <a:xfrm>
            <a:off x="0" y="0"/>
            <a:ext cx="12192000" cy="6858000"/>
          </a:xfrm>
          <a:prstGeom prst="rect">
            <a:avLst/>
          </a:prstGeom>
        </p:spPr>
      </p:pic>
      <p:sp>
        <p:nvSpPr>
          <p:cNvPr id="3" name="矩形 1"/>
          <p:cNvSpPr>
            <a:spLocks noGrp="1"/>
          </p:cNvSpPr>
          <p:nvPr/>
        </p:nvSpPr>
        <p:spPr>
          <a:xfrm>
            <a:off x="426720" y="198120"/>
            <a:ext cx="9220200" cy="731520"/>
          </a:xfrm>
          <a:prstGeom prst="rect">
            <a:avLst/>
          </a:prstGeom>
          <a:solidFill>
            <a:srgbClr val="FFFFFF"/>
          </a:solidFill>
          <a:ln w="0">
            <a:noFill/>
            <a:prstDash val="solid"/>
          </a:ln>
        </p:spPr>
      </p:sp>
      <p:sp>
        <p:nvSpPr>
          <p:cNvPr id="4" name="融合算子优化与 Profiling"/>
          <p:cNvSpPr>
            <a:spLocks noGrp="1"/>
          </p:cNvSpPr>
          <p:nvPr/>
        </p:nvSpPr>
        <p:spPr>
          <a:xfrm>
            <a:off x="609600" y="323850"/>
            <a:ext cx="10477500" cy="504825"/>
          </a:xfrm>
          <a:prstGeom prst="rect">
            <a:avLst/>
          </a:prstGeom>
          <a:noFill/>
          <a:ln w="0">
            <a:noFill/>
          </a:ln>
        </p:spPr>
        <p:txBody>
          <a:bodyPr wrap="none" lIns="0" tIns="0" rIns="0" bIns="0" anchor="t">
            <a:noAutofit/>
          </a:bodyPr>
          <a:lstStyle/>
          <a:p>
            <a:pPr algn="l">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融合算子优化与 Profiling</a:t>
            </a:r>
            <a:endParaRPr sz="2700" b="1">
              <a:solidFill>
                <a:srgbClr val="111111"/>
              </a:solidFill>
              <a:latin typeface="Times New Roman" panose="02020503050405090304"/>
              <a:ea typeface="微软雅黑"/>
              <a:cs typeface="Times New Roman" panose="02020503050405090304"/>
            </a:endParaRPr>
          </a:p>
        </p:txBody>
      </p:sp>
      <p:sp>
        <p:nvSpPr>
          <p:cNvPr id="5" name="通过 Config Override，在模型构建前接入融合 RMSNo"/>
          <p:cNvSpPr>
            <a:spLocks noGrp="1"/>
          </p:cNvSpPr>
          <p:nvPr/>
        </p:nvSpPr>
        <p:spPr>
          <a:xfrm>
            <a:off x="742950" y="1104900"/>
            <a:ext cx="10706100" cy="400050"/>
          </a:xfrm>
          <a:prstGeom prst="rect">
            <a:avLst/>
          </a:prstGeom>
          <a:noFill/>
          <a:ln w="0">
            <a:noFill/>
          </a:ln>
        </p:spPr>
        <p:txBody>
          <a:bodyPr wrap="none" lIns="0" tIns="0" rIns="0" bIns="0" anchor="t">
            <a:noAutofit/>
          </a:bodyPr>
          <a:lstStyle/>
          <a:p>
            <a:pPr algn="l">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通过 Config Override，在模型构建前接入融合 RMSNorm。</a:t>
            </a:r>
            <a:endParaRPr sz="2000" b="0">
              <a:solidFill>
                <a:srgbClr val="111111"/>
              </a:solidFill>
              <a:latin typeface="Times New Roman" panose="02020503050405090304"/>
              <a:ea typeface="微软雅黑"/>
              <a:cs typeface="Times New Roman" panose="02020503050405090304"/>
            </a:endParaRPr>
          </a:p>
        </p:txBody>
      </p:sp>
      <p:graphicFrame>
        <p:nvGraphicFramePr>
          <p:cNvPr id="6" name="表格 5"/>
          <p:cNvGraphicFramePr/>
          <p:nvPr/>
        </p:nvGraphicFramePr>
        <p:xfrm>
          <a:off x="742950" y="1752600"/>
          <a:ext cx="10706100" cy="2914650"/>
        </p:xfrm>
        <a:graphic>
          <a:graphicData uri="http://schemas.openxmlformats.org/drawingml/2006/table">
            <a:tbl>
              <a:tblPr/>
              <a:tblGrid>
                <a:gridCol w="1733550"/>
                <a:gridCol w="5086350"/>
                <a:gridCol w="3886200"/>
              </a:tblGrid>
              <a:tr h="438150">
                <a:tc>
                  <a:txBody>
                    <a:bodyPr wrap="square">
                      <a:spAutoFit/>
                    </a:bodyPr>
                    <a:lstStyle/>
                    <a:p>
                      <a:pPr algn="ctr"/>
                      <a:r>
                        <a:rPr sz="1725" b="1">
                          <a:solidFill>
                            <a:srgbClr val="111111"/>
                          </a:solidFill>
                          <a:latin typeface="Times New Roman" panose="02020503050405090304"/>
                          <a:ea typeface="微软雅黑"/>
                          <a:cs typeface="Times New Roman" panose="02020503050405090304"/>
                        </a:rPr>
                        <a:t>环节</a:t>
                      </a:r>
                      <a:endParaRPr sz="1725" b="1">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1">
                          <a:solidFill>
                            <a:srgbClr val="111111"/>
                          </a:solidFill>
                          <a:latin typeface="Times New Roman" panose="02020503050405090304"/>
                          <a:ea typeface="微软雅黑"/>
                          <a:cs typeface="Times New Roman" panose="02020503050405090304"/>
                        </a:rPr>
                        <a:t>本章实现</a:t>
                      </a:r>
                      <a:endParaRPr sz="1725" b="1">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1">
                          <a:solidFill>
                            <a:srgbClr val="111111"/>
                          </a:solidFill>
                          <a:latin typeface="Times New Roman" panose="02020503050405090304"/>
                          <a:ea typeface="微软雅黑"/>
                          <a:cs typeface="Times New Roman" panose="02020503050405090304"/>
                        </a:rPr>
                        <a:t>作用</a:t>
                      </a:r>
                      <a:endParaRPr sz="1725" b="1">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r>
              <a:tr h="628650">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注册</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@override(target=RMSNorm.Config)</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登记目标配置与替换函数</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r>
              <a:tr h="609600">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启用</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override.imports</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选择本次运行使用的替换</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r>
              <a:tr h="628650">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替换配置</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derive(cfg, AscRMSNorm.Config)</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保留 eps、权重形状等共同字段</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r>
              <a:tr h="609600">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构建组件</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Config.build()</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创建 AscRMSNorm，调用融合算子</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r>
            </a:tbl>
          </a:graphicData>
        </a:graphic>
      </p:graphicFrame>
      <p:sp>
        <p:nvSpPr>
          <p:cNvPr id="7" name="启用项"/>
          <p:cNvSpPr>
            <a:spLocks noGrp="1"/>
          </p:cNvSpPr>
          <p:nvPr/>
        </p:nvSpPr>
        <p:spPr>
          <a:xfrm>
            <a:off x="742950" y="4867275"/>
            <a:ext cx="10706100" cy="304800"/>
          </a:xfrm>
          <a:prstGeom prst="rect">
            <a:avLst/>
          </a:prstGeom>
          <a:noFill/>
          <a:ln w="0">
            <a:noFill/>
          </a:ln>
        </p:spPr>
        <p:txBody>
          <a:bodyPr wrap="none" lIns="0" tIns="0" rIns="0" bIns="0" anchor="t">
            <a:noAutofit/>
          </a:bodyPr>
          <a:lstStyle/>
          <a:p>
            <a:pPr algn="l">
              <a:defRPr sz="1950" b="1">
                <a:solidFill>
                  <a:srgbClr val="357AE8"/>
                </a:solidFill>
                <a:latin typeface="Times New Roman" panose="02020503050405090304"/>
                <a:ea typeface="微软雅黑"/>
                <a:cs typeface="Times New Roman" panose="02020503050405090304"/>
              </a:defRPr>
            </a:pPr>
            <a:r>
              <a:rPr sz="1950" b="1">
                <a:solidFill>
                  <a:srgbClr val="357AE8"/>
                </a:solidFill>
                <a:latin typeface="Times New Roman" panose="02020503050405090304"/>
                <a:ea typeface="微软雅黑"/>
                <a:cs typeface="Times New Roman" panose="02020503050405090304"/>
              </a:rPr>
              <a:t>启用项</a:t>
            </a:r>
            <a:endParaRPr sz="1950" b="1">
              <a:solidFill>
                <a:srgbClr val="357AE8"/>
              </a:solidFill>
              <a:latin typeface="Times New Roman" panose="02020503050405090304"/>
              <a:ea typeface="微软雅黑"/>
              <a:cs typeface="Times New Roman" panose="02020503050405090304"/>
            </a:endParaRPr>
          </a:p>
        </p:txBody>
      </p:sp>
      <p:sp>
        <p:nvSpPr>
          <p:cNvPr id="8" name="torchtitan_npu.override.common.rms_"/>
          <p:cNvSpPr>
            <a:spLocks noGrp="1"/>
          </p:cNvSpPr>
          <p:nvPr/>
        </p:nvSpPr>
        <p:spPr>
          <a:xfrm>
            <a:off x="742950" y="5238750"/>
            <a:ext cx="10706100" cy="342900"/>
          </a:xfrm>
          <a:prstGeom prst="rect">
            <a:avLst/>
          </a:prstGeom>
          <a:noFill/>
          <a:ln w="0">
            <a:noFill/>
          </a:ln>
        </p:spPr>
        <p:txBody>
          <a:bodyPr wrap="none" lIns="0" tIns="0" rIns="0" bIns="0" anchor="t">
            <a:noAutofit/>
          </a:bodyPr>
          <a:lstStyle/>
          <a:p>
            <a:pPr algn="l">
              <a:defRPr sz="1875" b="0">
                <a:solidFill>
                  <a:srgbClr val="111111"/>
                </a:solidFill>
                <a:latin typeface="Times New Roman" panose="02020503050405090304"/>
                <a:ea typeface="微软雅黑"/>
                <a:cs typeface="Times New Roman" panose="02020503050405090304"/>
              </a:defRPr>
            </a:pPr>
            <a:r>
              <a:rPr sz="1875" b="0">
                <a:solidFill>
                  <a:srgbClr val="111111"/>
                </a:solidFill>
                <a:latin typeface="Times New Roman" panose="02020503050405090304"/>
                <a:ea typeface="微软雅黑"/>
                <a:cs typeface="Times New Roman" panose="02020503050405090304"/>
              </a:rPr>
              <a:t>torchtitan_npu.override.common.rms_norm.asc</a:t>
            </a:r>
            <a:endParaRPr sz="1875" b="0">
              <a:solidFill>
                <a:srgbClr val="111111"/>
              </a:solidFill>
              <a:latin typeface="Times New Roman" panose="02020503050405090304"/>
              <a:ea typeface="微软雅黑"/>
              <a:cs typeface="Times New Roman" panose="02020503050405090304"/>
            </a:endParaRPr>
          </a:p>
        </p:txBody>
      </p:sp>
      <p:sp>
        <p:nvSpPr>
          <p:cNvPr id="9" name="先替换 Config，再 build 模型，之后才进行并行化与优化器构"/>
          <p:cNvSpPr>
            <a:spLocks noGrp="1"/>
          </p:cNvSpPr>
          <p:nvPr/>
        </p:nvSpPr>
        <p:spPr>
          <a:xfrm>
            <a:off x="742950" y="5715000"/>
            <a:ext cx="10706100" cy="342900"/>
          </a:xfrm>
          <a:prstGeom prst="rect">
            <a:avLst/>
          </a:prstGeom>
          <a:noFill/>
          <a:ln w="0">
            <a:noFill/>
          </a:ln>
        </p:spPr>
        <p:txBody>
          <a:bodyPr wrap="none" lIns="0" tIns="0" rIns="0" bIns="0" anchor="t">
            <a:noAutofit/>
          </a:bodyPr>
          <a:lstStyle/>
          <a:p>
            <a:pPr algn="l">
              <a:defRPr sz="1875" b="1">
                <a:solidFill>
                  <a:srgbClr val="E60012"/>
                </a:solidFill>
                <a:latin typeface="Times New Roman" panose="02020503050405090304"/>
                <a:ea typeface="微软雅黑"/>
                <a:cs typeface="Times New Roman" panose="02020503050405090304"/>
              </a:defRPr>
            </a:pPr>
            <a:r>
              <a:rPr sz="1875" b="1">
                <a:solidFill>
                  <a:srgbClr val="E60012"/>
                </a:solidFill>
                <a:latin typeface="Times New Roman" panose="02020503050405090304"/>
                <a:ea typeface="微软雅黑"/>
                <a:cs typeface="Times New Roman" panose="02020503050405090304"/>
              </a:rPr>
              <a:t>先替换 Config，再 build 模型，之后才进行并行化与优化器构建。</a:t>
            </a:r>
            <a:endParaRPr sz="1875" b="1">
              <a:solidFill>
                <a:srgbClr val="E60012"/>
              </a:solidFill>
              <a:latin typeface="Times New Roman" panose="02020503050405090304"/>
              <a:ea typeface="微软雅黑"/>
              <a:cs typeface="Times New Roman" panose="020205030504050903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图片 29"/>
          <p:cNvPicPr>
            <a:picLocks noChangeAspect="1"/>
          </p:cNvPicPr>
          <p:nvPr/>
        </p:nvPicPr>
        <p:blipFill>
          <a:blip r:embed="rId1"/>
          <a:stretch>
            <a:fillRect/>
          </a:stretch>
        </p:blipFill>
        <p:spPr>
          <a:xfrm>
            <a:off x="0" y="0"/>
            <a:ext cx="12192000" cy="6858000"/>
          </a:xfrm>
          <a:prstGeom prst="rect">
            <a:avLst/>
          </a:prstGeom>
        </p:spPr>
      </p:pic>
      <p:sp>
        <p:nvSpPr>
          <p:cNvPr id="3" name="矩形 1"/>
          <p:cNvSpPr>
            <a:spLocks noGrp="1"/>
          </p:cNvSpPr>
          <p:nvPr/>
        </p:nvSpPr>
        <p:spPr>
          <a:xfrm>
            <a:off x="426720" y="198120"/>
            <a:ext cx="9220200" cy="731520"/>
          </a:xfrm>
          <a:prstGeom prst="rect">
            <a:avLst/>
          </a:prstGeom>
          <a:solidFill>
            <a:srgbClr val="FFFFFF"/>
          </a:solidFill>
          <a:ln w="0">
            <a:noFill/>
            <a:prstDash val="solid"/>
          </a:ln>
        </p:spPr>
      </p:sp>
      <p:sp>
        <p:nvSpPr>
          <p:cNvPr id="4" name="融合算子优化与 Profiling"/>
          <p:cNvSpPr>
            <a:spLocks noGrp="1"/>
          </p:cNvSpPr>
          <p:nvPr/>
        </p:nvSpPr>
        <p:spPr>
          <a:xfrm>
            <a:off x="609600" y="323850"/>
            <a:ext cx="10477500" cy="504825"/>
          </a:xfrm>
          <a:prstGeom prst="rect">
            <a:avLst/>
          </a:prstGeom>
          <a:noFill/>
          <a:ln w="0">
            <a:noFill/>
          </a:ln>
        </p:spPr>
        <p:txBody>
          <a:bodyPr wrap="none" lIns="0" tIns="0" rIns="0" bIns="0" anchor="t">
            <a:noAutofit/>
          </a:bodyPr>
          <a:lstStyle/>
          <a:p>
            <a:pPr algn="l">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融合算子优化与 Profiling</a:t>
            </a:r>
            <a:endParaRPr sz="2700" b="1">
              <a:solidFill>
                <a:srgbClr val="111111"/>
              </a:solidFill>
              <a:latin typeface="Times New Roman" panose="02020503050405090304"/>
              <a:ea typeface="微软雅黑"/>
              <a:cs typeface="Times New Roman" panose="02020503050405090304"/>
            </a:endParaRPr>
          </a:p>
        </p:txBody>
      </p:sp>
      <p:sp>
        <p:nvSpPr>
          <p:cNvPr id="5" name="Profiling：记录算子的调用、耗时和内存事件，定位性能开销。"/>
          <p:cNvSpPr>
            <a:spLocks noGrp="1"/>
          </p:cNvSpPr>
          <p:nvPr/>
        </p:nvSpPr>
        <p:spPr>
          <a:xfrm>
            <a:off x="742950" y="1104900"/>
            <a:ext cx="10706100" cy="400050"/>
          </a:xfrm>
          <a:prstGeom prst="rect">
            <a:avLst/>
          </a:prstGeom>
          <a:noFill/>
          <a:ln w="0">
            <a:noFill/>
          </a:ln>
        </p:spPr>
        <p:txBody>
          <a:bodyPr wrap="none" lIns="0" tIns="0" rIns="0" bIns="0" anchor="t">
            <a:noAutofit/>
          </a:bodyPr>
          <a:lstStyle/>
          <a:p>
            <a:pPr algn="l">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Profiling：记录算子的调用、耗时和内存事件，定位性能开销。</a:t>
            </a:r>
            <a:endParaRPr sz="2000" b="0">
              <a:solidFill>
                <a:srgbClr val="111111"/>
              </a:solidFill>
              <a:latin typeface="Times New Roman" panose="02020503050405090304"/>
              <a:ea typeface="微软雅黑"/>
              <a:cs typeface="Times New Roman" panose="02020503050405090304"/>
            </a:endParaRPr>
          </a:p>
        </p:txBody>
      </p:sp>
      <p:sp>
        <p:nvSpPr>
          <p:cNvPr id="6" name="两组使用相同模型与数据，seq_len = 4096，全局 batch"/>
          <p:cNvSpPr>
            <a:spLocks noGrp="1"/>
          </p:cNvSpPr>
          <p:nvPr/>
        </p:nvSpPr>
        <p:spPr>
          <a:xfrm>
            <a:off x="742950" y="1581150"/>
            <a:ext cx="10706100" cy="323850"/>
          </a:xfrm>
          <a:prstGeom prst="rect">
            <a:avLst/>
          </a:prstGeom>
          <a:noFill/>
          <a:ln w="0">
            <a:noFill/>
          </a:ln>
        </p:spPr>
        <p:txBody>
          <a:bodyPr wrap="none" lIns="0" tIns="0" rIns="0" bIns="0" anchor="t">
            <a:noAutofit/>
          </a:bodyPr>
          <a:lstStyle/>
          <a:p>
            <a:pPr algn="l">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两组使用相同模型与数据，seq_len = 4096，全局 batch = 4。</a:t>
            </a:r>
            <a:endParaRPr sz="1800" b="0">
              <a:solidFill>
                <a:srgbClr val="111111"/>
              </a:solidFill>
              <a:latin typeface="Times New Roman" panose="02020503050405090304"/>
              <a:ea typeface="微软雅黑"/>
              <a:cs typeface="Times New Roman" panose="02020503050405090304"/>
            </a:endParaRPr>
          </a:p>
        </p:txBody>
      </p:sp>
      <p:sp>
        <p:nvSpPr>
          <p:cNvPr id="7" name="4 = 每 rank 2 条序列 × 2 个数据并行 rank × 累"/>
          <p:cNvSpPr>
            <a:spLocks noGrp="1"/>
          </p:cNvSpPr>
          <p:nvPr/>
        </p:nvSpPr>
        <p:spPr>
          <a:xfrm>
            <a:off x="742950" y="2019300"/>
            <a:ext cx="10706100" cy="400050"/>
          </a:xfrm>
          <a:prstGeom prst="rect">
            <a:avLst/>
          </a:prstGeom>
          <a:noFill/>
          <a:ln w="0">
            <a:noFill/>
          </a:ln>
        </p:spPr>
        <p:txBody>
          <a:bodyPr wrap="none" lIns="0" tIns="0" rIns="0" bIns="0" anchor="t">
            <a:noAutofit/>
          </a:bodyPr>
          <a:lstStyle/>
          <a:p>
            <a:pPr algn="l">
              <a:defRPr sz="2100" b="1">
                <a:solidFill>
                  <a:srgbClr val="E60012"/>
                </a:solidFill>
                <a:latin typeface="Times New Roman" panose="02020503050405090304"/>
                <a:ea typeface="微软雅黑"/>
                <a:cs typeface="Times New Roman" panose="02020503050405090304"/>
              </a:defRPr>
            </a:pPr>
            <a:r>
              <a:rPr sz="2100" b="1">
                <a:solidFill>
                  <a:srgbClr val="E60012"/>
                </a:solidFill>
                <a:latin typeface="Times New Roman" panose="02020503050405090304"/>
                <a:ea typeface="微软雅黑"/>
                <a:cs typeface="Times New Roman" panose="02020503050405090304"/>
              </a:rPr>
              <a:t>4 = 每 rank 2 条序列 × 2 个数据并行 rank × 累积 1 次</a:t>
            </a:r>
            <a:endParaRPr sz="2100" b="1">
              <a:solidFill>
                <a:srgbClr val="E60012"/>
              </a:solidFill>
              <a:latin typeface="Times New Roman" panose="02020503050405090304"/>
              <a:ea typeface="微软雅黑"/>
              <a:cs typeface="Times New Roman" panose="02020503050405090304"/>
            </a:endParaRPr>
          </a:p>
        </p:txBody>
      </p:sp>
      <p:graphicFrame>
        <p:nvGraphicFramePr>
          <p:cNvPr id="8" name="表格 7"/>
          <p:cNvGraphicFramePr/>
          <p:nvPr/>
        </p:nvGraphicFramePr>
        <p:xfrm>
          <a:off x="742950" y="2590800"/>
          <a:ext cx="10706100" cy="1514475"/>
        </p:xfrm>
        <a:graphic>
          <a:graphicData uri="http://schemas.openxmlformats.org/drawingml/2006/table">
            <a:tbl>
              <a:tblPr/>
              <a:tblGrid>
                <a:gridCol w="2000250"/>
                <a:gridCol w="4305300"/>
                <a:gridCol w="4400550"/>
              </a:tblGrid>
              <a:tr h="409575">
                <a:tc>
                  <a:txBody>
                    <a:bodyPr wrap="square">
                      <a:spAutoFit/>
                    </a:bodyPr>
                    <a:lstStyle/>
                    <a:p>
                      <a:pPr algn="ctr"/>
                      <a:r>
                        <a:rPr sz="1800" b="1">
                          <a:solidFill>
                            <a:srgbClr val="111111"/>
                          </a:solidFill>
                          <a:latin typeface="Times New Roman" panose="02020503050405090304"/>
                          <a:ea typeface="微软雅黑"/>
                          <a:cs typeface="Times New Roman" panose="02020503050405090304"/>
                        </a:rPr>
                        <a:t>实验</a:t>
                      </a:r>
                      <a:endParaRPr sz="1800" b="1">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800" b="1">
                          <a:solidFill>
                            <a:srgbClr val="111111"/>
                          </a:solidFill>
                          <a:latin typeface="Times New Roman" panose="02020503050405090304"/>
                          <a:ea typeface="微软雅黑"/>
                          <a:cs typeface="Times New Roman" panose="02020503050405090304"/>
                        </a:rPr>
                        <a:t>启用的 override</a:t>
                      </a:r>
                      <a:endParaRPr sz="1800" b="1">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800" b="1">
                          <a:solidFill>
                            <a:srgbClr val="111111"/>
                          </a:solidFill>
                          <a:latin typeface="Times New Roman" panose="02020503050405090304"/>
                          <a:ea typeface="微软雅黑"/>
                          <a:cs typeface="Times New Roman" panose="02020503050405090304"/>
                        </a:rPr>
                        <a:t>输出目录</a:t>
                      </a:r>
                      <a:endParaRPr sz="1800" b="1">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r>
              <a:tr h="552450">
                <a:tc>
                  <a:txBody>
                    <a:bodyPr wrap="square">
                      <a:spAutoFit/>
                    </a:bodyPr>
                    <a:lstStyle/>
                    <a:p>
                      <a:pPr algn="ctr"/>
                      <a:r>
                        <a:rPr sz="1800" b="0">
                          <a:solidFill>
                            <a:srgbClr val="111111"/>
                          </a:solidFill>
                          <a:latin typeface="Times New Roman" panose="02020503050405090304"/>
                          <a:ea typeface="微软雅黑"/>
                          <a:cs typeface="Times New Roman" panose="02020503050405090304"/>
                        </a:rPr>
                        <a:t>Baseline</a:t>
                      </a:r>
                      <a:endParaRPr sz="1800"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800" b="0">
                          <a:solidFill>
                            <a:srgbClr val="111111"/>
                          </a:solidFill>
                          <a:latin typeface="Times New Roman" panose="02020503050405090304"/>
                          <a:ea typeface="微软雅黑"/>
                          <a:cs typeface="Times New Roman" panose="02020503050405090304"/>
                        </a:rPr>
                        <a:t>CANN profiler</a:t>
                      </a:r>
                      <a:endParaRPr sz="1800"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800" b="0">
                          <a:solidFill>
                            <a:srgbClr val="111111"/>
                          </a:solidFill>
                          <a:latin typeface="Times New Roman" panose="02020503050405090304"/>
                          <a:ea typeface="微软雅黑"/>
                          <a:cs typeface="Times New Roman" panose="02020503050405090304"/>
                        </a:rPr>
                        <a:t>profile_traces/baseline</a:t>
                      </a:r>
                      <a:endParaRPr sz="1800"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r>
              <a:tr h="552450">
                <a:tc>
                  <a:txBody>
                    <a:bodyPr wrap="square">
                      <a:spAutoFit/>
                    </a:bodyPr>
                    <a:lstStyle/>
                    <a:p>
                      <a:pPr algn="ctr"/>
                      <a:r>
                        <a:rPr sz="1800" b="0">
                          <a:solidFill>
                            <a:srgbClr val="111111"/>
                          </a:solidFill>
                          <a:latin typeface="Times New Roman" panose="02020503050405090304"/>
                          <a:ea typeface="微软雅黑"/>
                          <a:cs typeface="Times New Roman" panose="02020503050405090304"/>
                        </a:rPr>
                        <a:t>Fused</a:t>
                      </a:r>
                      <a:endParaRPr sz="1800"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800" b="0">
                          <a:solidFill>
                            <a:srgbClr val="111111"/>
                          </a:solidFill>
                          <a:latin typeface="Times New Roman" panose="02020503050405090304"/>
                          <a:ea typeface="微软雅黑"/>
                          <a:cs typeface="Times New Roman" panose="02020503050405090304"/>
                        </a:rPr>
                        <a:t>CANN profiler + RMSNorm</a:t>
                      </a:r>
                      <a:endParaRPr sz="1800"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800" b="0">
                          <a:solidFill>
                            <a:srgbClr val="111111"/>
                          </a:solidFill>
                          <a:latin typeface="Times New Roman" panose="02020503050405090304"/>
                          <a:ea typeface="微软雅黑"/>
                          <a:cs typeface="Times New Roman" panose="02020503050405090304"/>
                        </a:rPr>
                        <a:t>profile_traces/fused_op</a:t>
                      </a:r>
                      <a:endParaRPr sz="1800"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r>
            </a:tbl>
          </a:graphicData>
        </a:graphic>
      </p:graphicFrame>
      <p:sp>
        <p:nvSpPr>
          <p:cNvPr id="9" name="采集窗口：训练 5 步，profile_freq = 5，warmup"/>
          <p:cNvSpPr>
            <a:spLocks noGrp="1"/>
          </p:cNvSpPr>
          <p:nvPr/>
        </p:nvSpPr>
        <p:spPr>
          <a:xfrm>
            <a:off x="742950" y="4343400"/>
            <a:ext cx="10706100" cy="342900"/>
          </a:xfrm>
          <a:prstGeom prst="rect">
            <a:avLst/>
          </a:prstGeom>
          <a:noFill/>
          <a:ln w="0">
            <a:noFill/>
          </a:ln>
        </p:spPr>
        <p:txBody>
          <a:bodyPr wrap="none" lIns="0" tIns="0" rIns="0" bIns="0" anchor="t">
            <a:noAutofit/>
          </a:bodyPr>
          <a:lstStyle/>
          <a:p>
            <a:pPr algn="l">
              <a:defRPr sz="1800" b="1">
                <a:solidFill>
                  <a:srgbClr val="357AE8"/>
                </a:solidFill>
                <a:latin typeface="Times New Roman" panose="02020503050405090304"/>
                <a:ea typeface="微软雅黑"/>
                <a:cs typeface="Times New Roman" panose="02020503050405090304"/>
              </a:defRPr>
            </a:pPr>
            <a:r>
              <a:rPr sz="1800" b="1">
                <a:solidFill>
                  <a:srgbClr val="357AE8"/>
                </a:solidFill>
                <a:latin typeface="Times New Roman" panose="02020503050405090304"/>
                <a:ea typeface="微软雅黑"/>
                <a:cs typeface="Times New Roman" panose="02020503050405090304"/>
              </a:rPr>
              <a:t>采集窗口：训练 5 步，profile_freq = 5，warmup = 3，active = 1</a:t>
            </a:r>
            <a:endParaRPr sz="1800" b="1">
              <a:solidFill>
                <a:srgbClr val="357AE8"/>
              </a:solidFill>
              <a:latin typeface="Times New Roman" panose="02020503050405090304"/>
              <a:ea typeface="微软雅黑"/>
              <a:cs typeface="Times New Roman" panose="02020503050405090304"/>
            </a:endParaRPr>
          </a:p>
        </p:txBody>
      </p:sp>
      <p:graphicFrame>
        <p:nvGraphicFramePr>
          <p:cNvPr id="10" name="表格 9"/>
          <p:cNvGraphicFramePr/>
          <p:nvPr/>
        </p:nvGraphicFramePr>
        <p:xfrm>
          <a:off x="742950" y="4800600"/>
          <a:ext cx="10706100" cy="800100"/>
        </p:xfrm>
        <a:graphic>
          <a:graphicData uri="http://schemas.openxmlformats.org/drawingml/2006/table">
            <a:tbl>
              <a:tblPr/>
              <a:tblGrid>
                <a:gridCol w="3562350"/>
                <a:gridCol w="3562350"/>
                <a:gridCol w="3581400"/>
              </a:tblGrid>
              <a:tr h="361950">
                <a:tc>
                  <a:txBody>
                    <a:bodyPr wrap="square">
                      <a:spAutoFit/>
                    </a:bodyPr>
                    <a:lstStyle/>
                    <a:p>
                      <a:pPr algn="ctr"/>
                      <a:r>
                        <a:rPr sz="1725" b="1">
                          <a:solidFill>
                            <a:srgbClr val="111111"/>
                          </a:solidFill>
                          <a:latin typeface="Times New Roman" panose="02020503050405090304"/>
                          <a:ea typeface="微软雅黑"/>
                          <a:cs typeface="Times New Roman" panose="02020503050405090304"/>
                        </a:rPr>
                        <a:t>Step 1</a:t>
                      </a:r>
                      <a:endParaRPr sz="1725" b="1">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1">
                          <a:solidFill>
                            <a:srgbClr val="111111"/>
                          </a:solidFill>
                          <a:latin typeface="Times New Roman" panose="02020503050405090304"/>
                          <a:ea typeface="微软雅黑"/>
                          <a:cs typeface="Times New Roman" panose="02020503050405090304"/>
                        </a:rPr>
                        <a:t>Step 2～4</a:t>
                      </a:r>
                      <a:endParaRPr sz="1725" b="1">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1">
                          <a:solidFill>
                            <a:srgbClr val="111111"/>
                          </a:solidFill>
                          <a:latin typeface="Times New Roman" panose="02020503050405090304"/>
                          <a:ea typeface="微软雅黑"/>
                          <a:cs typeface="Times New Roman" panose="02020503050405090304"/>
                        </a:rPr>
                        <a:t>Step 5</a:t>
                      </a:r>
                      <a:endParaRPr sz="1725" b="1">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r>
              <a:tr h="438150">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等待</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预热</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采集 rank 0</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r>
            </a:tbl>
          </a:graphicData>
        </a:graphic>
      </p:graphicFrame>
      <p:sp>
        <p:nvSpPr>
          <p:cNvPr id="11" name="CLI 的 override.imports 会替换原列表，Fused"/>
          <p:cNvSpPr>
            <a:spLocks noGrp="1"/>
          </p:cNvSpPr>
          <p:nvPr/>
        </p:nvSpPr>
        <p:spPr>
          <a:xfrm>
            <a:off x="742950" y="5791200"/>
            <a:ext cx="10706100" cy="323850"/>
          </a:xfrm>
          <a:prstGeom prst="rect">
            <a:avLst/>
          </a:prstGeom>
          <a:noFill/>
          <a:ln w="0">
            <a:noFill/>
          </a:ln>
        </p:spPr>
        <p:txBody>
          <a:bodyPr wrap="none" lIns="0" tIns="0" rIns="0" bIns="0" anchor="t">
            <a:noAutofit/>
          </a:bodyPr>
          <a:lstStyle/>
          <a:p>
            <a:pPr algn="l">
              <a:defRPr sz="1800" b="1">
                <a:solidFill>
                  <a:srgbClr val="E60012"/>
                </a:solidFill>
                <a:latin typeface="Times New Roman" panose="02020503050405090304"/>
                <a:ea typeface="微软雅黑"/>
                <a:cs typeface="Times New Roman" panose="02020503050405090304"/>
              </a:defRPr>
            </a:pPr>
            <a:r>
              <a:rPr sz="1800" b="1">
                <a:solidFill>
                  <a:srgbClr val="E60012"/>
                </a:solidFill>
                <a:latin typeface="Times New Roman" panose="02020503050405090304"/>
                <a:ea typeface="微软雅黑"/>
                <a:cs typeface="Times New Roman" panose="02020503050405090304"/>
              </a:rPr>
              <a:t>CLI 的 override.imports 会替换原列表，Fused 必须保留两项 override。</a:t>
            </a:r>
            <a:endParaRPr sz="1800" b="1">
              <a:solidFill>
                <a:srgbClr val="E60012"/>
              </a:solidFill>
              <a:latin typeface="Times New Roman" panose="02020503050405090304"/>
              <a:ea typeface="微软雅黑"/>
              <a:cs typeface="Times New Roman" panose="020205030504050903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图片 29"/>
          <p:cNvPicPr>
            <a:picLocks noChangeAspect="1"/>
          </p:cNvPicPr>
          <p:nvPr/>
        </p:nvPicPr>
        <p:blipFill>
          <a:blip r:embed="rId1"/>
          <a:stretch>
            <a:fillRect/>
          </a:stretch>
        </p:blipFill>
        <p:spPr>
          <a:xfrm>
            <a:off x="0" y="0"/>
            <a:ext cx="12192000" cy="6858000"/>
          </a:xfrm>
          <a:prstGeom prst="rect">
            <a:avLst/>
          </a:prstGeom>
        </p:spPr>
      </p:pic>
      <p:sp>
        <p:nvSpPr>
          <p:cNvPr id="3" name="矩形 1"/>
          <p:cNvSpPr>
            <a:spLocks noGrp="1"/>
          </p:cNvSpPr>
          <p:nvPr/>
        </p:nvSpPr>
        <p:spPr>
          <a:xfrm>
            <a:off x="426720" y="198120"/>
            <a:ext cx="9220200" cy="731520"/>
          </a:xfrm>
          <a:prstGeom prst="rect">
            <a:avLst/>
          </a:prstGeom>
          <a:solidFill>
            <a:srgbClr val="FFFFFF"/>
          </a:solidFill>
          <a:ln w="0">
            <a:noFill/>
            <a:prstDash val="solid"/>
          </a:ln>
        </p:spPr>
      </p:sp>
      <p:sp>
        <p:nvSpPr>
          <p:cNvPr id="4" name="融合算子优化与 Profiling"/>
          <p:cNvSpPr>
            <a:spLocks noGrp="1"/>
          </p:cNvSpPr>
          <p:nvPr/>
        </p:nvSpPr>
        <p:spPr>
          <a:xfrm>
            <a:off x="609600" y="323850"/>
            <a:ext cx="10477500" cy="504825"/>
          </a:xfrm>
          <a:prstGeom prst="rect">
            <a:avLst/>
          </a:prstGeom>
          <a:noFill/>
          <a:ln w="0">
            <a:noFill/>
          </a:ln>
        </p:spPr>
        <p:txBody>
          <a:bodyPr wrap="none" lIns="0" tIns="0" rIns="0" bIns="0" anchor="t">
            <a:noAutofit/>
          </a:bodyPr>
          <a:lstStyle/>
          <a:p>
            <a:pPr algn="l">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融合算子优化与 Profiling</a:t>
            </a:r>
            <a:endParaRPr sz="2700" b="1">
              <a:solidFill>
                <a:srgbClr val="111111"/>
              </a:solidFill>
              <a:latin typeface="Times New Roman" panose="02020503050405090304"/>
              <a:ea typeface="微软雅黑"/>
              <a:cs typeface="Times New Roman" panose="02020503050405090304"/>
            </a:endParaRPr>
          </a:p>
        </p:txBody>
      </p:sp>
      <p:sp>
        <p:nvSpPr>
          <p:cNvPr id="5" name="先确认替换生效，再区分算子变化与完整训练的性能收益。"/>
          <p:cNvSpPr>
            <a:spLocks noGrp="1"/>
          </p:cNvSpPr>
          <p:nvPr/>
        </p:nvSpPr>
        <p:spPr>
          <a:xfrm>
            <a:off x="742950" y="1104900"/>
            <a:ext cx="10706100" cy="400050"/>
          </a:xfrm>
          <a:prstGeom prst="rect">
            <a:avLst/>
          </a:prstGeom>
          <a:noFill/>
          <a:ln w="0">
            <a:noFill/>
          </a:ln>
        </p:spPr>
        <p:txBody>
          <a:bodyPr wrap="none" lIns="0" tIns="0" rIns="0" bIns="0" anchor="t">
            <a:noAutofit/>
          </a:bodyPr>
          <a:lstStyle/>
          <a:p>
            <a:pPr algn="l">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先确认替换生效，再区分算子变化与完整训练的性能收益。</a:t>
            </a:r>
            <a:endParaRPr sz="2000" b="0">
              <a:solidFill>
                <a:srgbClr val="111111"/>
              </a:solidFill>
              <a:latin typeface="Times New Roman" panose="02020503050405090304"/>
              <a:ea typeface="微软雅黑"/>
              <a:cs typeface="Times New Roman" panose="02020503050405090304"/>
            </a:endParaRPr>
          </a:p>
        </p:txBody>
      </p:sp>
      <p:graphicFrame>
        <p:nvGraphicFramePr>
          <p:cNvPr id="6" name="表格 5"/>
          <p:cNvGraphicFramePr/>
          <p:nvPr/>
        </p:nvGraphicFramePr>
        <p:xfrm>
          <a:off x="742950" y="1743075"/>
          <a:ext cx="10706100" cy="2895600"/>
        </p:xfrm>
        <a:graphic>
          <a:graphicData uri="http://schemas.openxmlformats.org/drawingml/2006/table">
            <a:tbl>
              <a:tblPr/>
              <a:tblGrid>
                <a:gridCol w="2438400"/>
                <a:gridCol w="4591050"/>
                <a:gridCol w="3676650"/>
              </a:tblGrid>
              <a:tr h="438150">
                <a:tc>
                  <a:txBody>
                    <a:bodyPr wrap="square">
                      <a:spAutoFit/>
                    </a:bodyPr>
                    <a:lstStyle/>
                    <a:p>
                      <a:pPr algn="ctr"/>
                      <a:r>
                        <a:rPr sz="1725" b="1">
                          <a:solidFill>
                            <a:srgbClr val="111111"/>
                          </a:solidFill>
                          <a:latin typeface="Times New Roman" panose="02020503050405090304"/>
                          <a:ea typeface="微软雅黑"/>
                          <a:cs typeface="Times New Roman" panose="02020503050405090304"/>
                        </a:rPr>
                        <a:t>要回答的问题</a:t>
                      </a:r>
                      <a:endParaRPr sz="1725" b="1">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1">
                          <a:solidFill>
                            <a:srgbClr val="111111"/>
                          </a:solidFill>
                          <a:latin typeface="Times New Roman" panose="02020503050405090304"/>
                          <a:ea typeface="微软雅黑"/>
                          <a:cs typeface="Times New Roman" panose="02020503050405090304"/>
                        </a:rPr>
                        <a:t>查看什么</a:t>
                      </a:r>
                      <a:endParaRPr sz="1725" b="1">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1">
                          <a:solidFill>
                            <a:srgbClr val="111111"/>
                          </a:solidFill>
                          <a:latin typeface="Times New Roman" panose="02020503050405090304"/>
                          <a:ea typeface="微软雅黑"/>
                          <a:cs typeface="Times New Roman" panose="02020503050405090304"/>
                        </a:rPr>
                        <a:t>能够说明什么</a:t>
                      </a:r>
                      <a:endParaRPr sz="1725" b="1">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r>
              <a:tr h="819150">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融合是否执行？</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resolved override、模块清单</a:t>
                      </a:r>
                      <a:endParaRPr sz="1725" b="0">
                        <a:solidFill>
                          <a:srgbClr val="111111"/>
                        </a:solidFill>
                        <a:latin typeface="Times New Roman" panose="02020503050405090304"/>
                        <a:ea typeface="微软雅黑"/>
                        <a:cs typeface="Times New Roman" panose="02020503050405090304"/>
                      </a:endParaRPr>
                    </a:p>
                    <a:p>
                      <a:pPr algn="ctr"/>
                      <a:r>
                        <a:rPr sz="1725" b="0">
                          <a:solidFill>
                            <a:srgbClr val="111111"/>
                          </a:solidFill>
                          <a:latin typeface="Times New Roman" panose="02020503050405090304"/>
                          <a:ea typeface="微软雅黑"/>
                          <a:cs typeface="Times New Roman" panose="02020503050405090304"/>
                        </a:rPr>
                        <a:t>trace_view.json 中的目标事件</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核对替换对象与执行路径</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r>
              <a:tr h="819150">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调用与存储如何变化？</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ACLNN 调用链</a:t>
                      </a:r>
                      <a:endParaRPr sz="1725" b="0">
                        <a:solidFill>
                          <a:srgbClr val="111111"/>
                        </a:solidFill>
                        <a:latin typeface="Times New Roman" panose="02020503050405090304"/>
                        <a:ea typeface="微软雅黑"/>
                        <a:cs typeface="Times New Roman" panose="02020503050405090304"/>
                      </a:endParaRPr>
                    </a:p>
                    <a:p>
                      <a:pPr algn="ctr"/>
                      <a:r>
                        <a:rPr sz="1725" b="0">
                          <a:solidFill>
                            <a:srgbClr val="111111"/>
                          </a:solidFill>
                          <a:latin typeface="Times New Roman" panose="02020503050405090304"/>
                          <a:ea typeface="微软雅黑"/>
                          <a:cs typeface="Times New Roman" panose="02020503050405090304"/>
                        </a:rPr>
                        <a:t>operator_memory.csv</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分析调用开销与逻辑结果存储</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r>
              <a:tr h="819150">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训练是否更快？</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完整 step wall time、TPS</a:t>
                      </a:r>
                      <a:endParaRPr sz="1725" b="0">
                        <a:solidFill>
                          <a:srgbClr val="111111"/>
                        </a:solidFill>
                        <a:latin typeface="Times New Roman" panose="02020503050405090304"/>
                        <a:ea typeface="微软雅黑"/>
                        <a:cs typeface="Times New Roman" panose="02020503050405090304"/>
                      </a:endParaRPr>
                    </a:p>
                    <a:p>
                      <a:pPr algn="ctr"/>
                      <a:r>
                        <a:rPr sz="1725" b="0">
                          <a:solidFill>
                            <a:srgbClr val="111111"/>
                          </a:solidFill>
                          <a:latin typeface="Times New Roman" panose="02020503050405090304"/>
                          <a:ea typeface="微软雅黑"/>
                          <a:cs typeface="Times New Roman" panose="02020503050405090304"/>
                        </a:rPr>
                        <a:t>同配置重复测量</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c>
                  <a:txBody>
                    <a:bodyPr wrap="square">
                      <a:spAutoFit/>
                    </a:bodyPr>
                    <a:lstStyle/>
                    <a:p>
                      <a:pPr algn="ctr"/>
                      <a:r>
                        <a:rPr sz="1725" b="0">
                          <a:solidFill>
                            <a:srgbClr val="111111"/>
                          </a:solidFill>
                          <a:latin typeface="Times New Roman" panose="02020503050405090304"/>
                          <a:ea typeface="微软雅黑"/>
                          <a:cs typeface="Times New Roman" panose="02020503050405090304"/>
                        </a:rPr>
                        <a:t>比较整步耗时与 token 吞吐</a:t>
                      </a:r>
                      <a:endParaRPr sz="1725" b="0">
                        <a:solidFill>
                          <a:srgbClr val="111111"/>
                        </a:solidFill>
                        <a:latin typeface="Times New Roman" panose="02020503050405090304"/>
                        <a:ea typeface="微软雅黑"/>
                        <a:cs typeface="Times New Roman" panose="02020503050405090304"/>
                      </a:endParaRPr>
                    </a:p>
                  </a:txBody>
                  <a:tcPr marL="95250" marR="95250" marT="57150" marB="57150" anchor="ctr">
                    <a:lnL w="9525">
                      <a:solidFill>
                        <a:srgbClr val="111111"/>
                      </a:solidFill>
                      <a:prstDash val="solid"/>
                    </a:lnL>
                    <a:lnR w="9525">
                      <a:solidFill>
                        <a:srgbClr val="111111"/>
                      </a:solidFill>
                      <a:prstDash val="solid"/>
                    </a:lnR>
                    <a:lnT w="9525">
                      <a:solidFill>
                        <a:srgbClr val="111111"/>
                      </a:solidFill>
                      <a:prstDash val="solid"/>
                    </a:lnT>
                    <a:lnB w="9525">
                      <a:solidFill>
                        <a:srgbClr val="111111"/>
                      </a:solidFill>
                      <a:prstDash val="solid"/>
                    </a:lnB>
                    <a:solidFill>
                      <a:srgbClr val="FFFFFF"/>
                    </a:solidFill>
                  </a:tcPr>
                </a:tc>
              </a:tr>
            </a:tbl>
          </a:graphicData>
        </a:graphic>
      </p:graphicFrame>
      <p:sp>
        <p:nvSpPr>
          <p:cNvPr id="7" name="单次 RMSNorm 前向的累计逻辑结果存储：288.062 → 32"/>
          <p:cNvSpPr>
            <a:spLocks noGrp="1"/>
          </p:cNvSpPr>
          <p:nvPr/>
        </p:nvSpPr>
        <p:spPr>
          <a:xfrm>
            <a:off x="742950" y="4886325"/>
            <a:ext cx="10706100" cy="361950"/>
          </a:xfrm>
          <a:prstGeom prst="rect">
            <a:avLst/>
          </a:prstGeom>
          <a:noFill/>
          <a:ln w="0">
            <a:noFill/>
          </a:ln>
        </p:spPr>
        <p:txBody>
          <a:bodyPr wrap="none" lIns="0" tIns="0" rIns="0" bIns="0" anchor="t">
            <a:noAutofit/>
          </a:bodyPr>
          <a:lstStyle/>
          <a:p>
            <a:pPr algn="l">
              <a:defRPr sz="2025" b="1">
                <a:solidFill>
                  <a:srgbClr val="357AE8"/>
                </a:solidFill>
                <a:latin typeface="Times New Roman" panose="02020503050405090304"/>
                <a:ea typeface="微软雅黑"/>
                <a:cs typeface="Times New Roman" panose="02020503050405090304"/>
              </a:defRPr>
            </a:pPr>
            <a:r>
              <a:rPr sz="2025" b="1">
                <a:solidFill>
                  <a:srgbClr val="357AE8"/>
                </a:solidFill>
                <a:latin typeface="Times New Roman" panose="02020503050405090304"/>
                <a:ea typeface="微软雅黑"/>
                <a:cs typeface="Times New Roman" panose="02020503050405090304"/>
              </a:rPr>
              <a:t>单次 RMSNorm 前向的累计逻辑结果存储：288.062 → 32.031 MiB</a:t>
            </a:r>
            <a:endParaRPr sz="2025" b="1">
              <a:solidFill>
                <a:srgbClr val="357AE8"/>
              </a:solidFill>
              <a:latin typeface="Times New Roman" panose="02020503050405090304"/>
              <a:ea typeface="微软雅黑"/>
              <a:cs typeface="Times New Roman" panose="02020503050405090304"/>
            </a:endParaRPr>
          </a:p>
        </p:txBody>
      </p:sp>
      <p:sp>
        <p:nvSpPr>
          <p:cNvPr id="8" name="BF16，shape = (2, 4096, 2048)。该数字并非峰"/>
          <p:cNvSpPr>
            <a:spLocks noGrp="1"/>
          </p:cNvSpPr>
          <p:nvPr/>
        </p:nvSpPr>
        <p:spPr>
          <a:xfrm>
            <a:off x="742950" y="5324475"/>
            <a:ext cx="10706100" cy="314325"/>
          </a:xfrm>
          <a:prstGeom prst="rect">
            <a:avLst/>
          </a:prstGeom>
          <a:noFill/>
          <a:ln w="0">
            <a:noFill/>
          </a:ln>
        </p:spPr>
        <p:txBody>
          <a:bodyPr wrap="none" lIns="0" tIns="0" rIns="0" bIns="0" anchor="t">
            <a:noAutofit/>
          </a:bodyPr>
          <a:lstStyle/>
          <a:p>
            <a:pPr algn="l">
              <a:defRPr sz="1650" b="0">
                <a:solidFill>
                  <a:srgbClr val="555555"/>
                </a:solidFill>
                <a:latin typeface="Times New Roman" panose="02020503050405090304"/>
                <a:ea typeface="微软雅黑"/>
                <a:cs typeface="Times New Roman" panose="02020503050405090304"/>
              </a:defRPr>
            </a:pPr>
            <a:r>
              <a:rPr sz="1650" b="0">
                <a:solidFill>
                  <a:srgbClr val="555555"/>
                </a:solidFill>
                <a:latin typeface="Times New Roman" panose="02020503050405090304"/>
                <a:ea typeface="微软雅黑"/>
                <a:cs typeface="Times New Roman" panose="02020503050405090304"/>
              </a:rPr>
              <a:t>BF16，shape = (2, 4096, 2048)。该数字并非峰值显存或实际 HBM 流量。</a:t>
            </a:r>
            <a:endParaRPr sz="1650" b="0">
              <a:solidFill>
                <a:srgbClr val="555555"/>
              </a:solidFill>
              <a:latin typeface="Times New Roman" panose="02020503050405090304"/>
              <a:ea typeface="微软雅黑"/>
              <a:cs typeface="Times New Roman" panose="02020503050405090304"/>
            </a:endParaRPr>
          </a:p>
        </p:txBody>
      </p:sp>
      <p:sp>
        <p:nvSpPr>
          <p:cNvPr id="9" name="trace 用于定位原因，完整 step time / TPS 用于判"/>
          <p:cNvSpPr>
            <a:spLocks noGrp="1"/>
          </p:cNvSpPr>
          <p:nvPr/>
        </p:nvSpPr>
        <p:spPr>
          <a:xfrm>
            <a:off x="742950" y="5772150"/>
            <a:ext cx="10706100" cy="323850"/>
          </a:xfrm>
          <a:prstGeom prst="rect">
            <a:avLst/>
          </a:prstGeom>
          <a:noFill/>
          <a:ln w="0">
            <a:noFill/>
          </a:ln>
        </p:spPr>
        <p:txBody>
          <a:bodyPr wrap="none" lIns="0" tIns="0" rIns="0" bIns="0" anchor="t">
            <a:noAutofit/>
          </a:bodyPr>
          <a:lstStyle/>
          <a:p>
            <a:pPr algn="l">
              <a:defRPr sz="1875" b="1">
                <a:solidFill>
                  <a:srgbClr val="E60012"/>
                </a:solidFill>
                <a:latin typeface="Times New Roman" panose="02020503050405090304"/>
                <a:ea typeface="微软雅黑"/>
                <a:cs typeface="Times New Roman" panose="02020503050405090304"/>
              </a:defRPr>
            </a:pPr>
            <a:r>
              <a:rPr sz="1875" b="1">
                <a:solidFill>
                  <a:srgbClr val="E60012"/>
                </a:solidFill>
                <a:latin typeface="Times New Roman" panose="02020503050405090304"/>
                <a:ea typeface="微软雅黑"/>
                <a:cs typeface="Times New Roman" panose="02020503050405090304"/>
              </a:rPr>
              <a:t>trace 用于定位原因，完整 step time / TPS 用于判断端到端收益。</a:t>
            </a:r>
            <a:endParaRPr sz="1875" b="1">
              <a:solidFill>
                <a:srgbClr val="E60012"/>
              </a:solidFill>
              <a:latin typeface="Times New Roman" panose="02020503050405090304"/>
              <a:ea typeface="微软雅黑"/>
              <a:cs typeface="Times New Roman" panose="020205030504050903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36"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融合算子优化与 Profiling</a:t>
            </a:r>
            <a:endParaRPr sz="2700" b="1">
              <a:solidFill>
                <a:srgbClr val="111111"/>
              </a:solidFill>
              <a:latin typeface="Times New Roman" panose="02020503050405090304"/>
              <a:ea typeface="微软雅黑"/>
              <a:cs typeface="Times New Roman" panose="02020503050405090304"/>
            </a:endParaRPr>
          </a:p>
        </p:txBody>
      </p:sp>
      <p:sp>
        <p:nvSpPr>
          <p:cNvPr id="19" name="quiz-instruction"/>
          <p:cNvSpPr>
            <a:spLocks noGrp="1"/>
          </p:cNvSpPr>
          <p:nvPr/>
        </p:nvSpPr>
        <p:spPr>
          <a:xfrm>
            <a:off x="609600" y="971550"/>
            <a:ext cx="10953750" cy="323850"/>
          </a:xfrm>
          <a:prstGeom prst="rect">
            <a:avLst/>
          </a:prstGeom>
          <a:noFill/>
          <a:ln w="0">
            <a:noFill/>
          </a:ln>
        </p:spPr>
        <p:txBody>
          <a:bodyPr wrap="none" lIns="0" tIns="0" rIns="0" bIns="0" anchor="t">
            <a:noAutofit/>
          </a:bodyPr>
          <a:lstStyle/>
          <a:p>
            <a:pPr>
              <a:lnSpc>
                <a:spcPct val="108000"/>
              </a:lnSpc>
              <a:buNone/>
              <a:defRPr sz="1725" b="0">
                <a:solidFill>
                  <a:srgbClr val="555555"/>
                </a:solidFill>
                <a:latin typeface="Times New Roman" panose="02020503050405090304"/>
                <a:ea typeface="微软雅黑"/>
                <a:cs typeface="Times New Roman" panose="02020503050405090304"/>
              </a:defRPr>
            </a:pPr>
            <a:r>
              <a:rPr sz="1725" b="0">
                <a:solidFill>
                  <a:srgbClr val="555555"/>
                </a:solidFill>
                <a:latin typeface="Times New Roman" panose="02020503050405090304"/>
                <a:ea typeface="微软雅黑"/>
                <a:cs typeface="Times New Roman" panose="02020503050405090304"/>
              </a:rPr>
              <a:t>随堂检测：先独立作答，再说明你的判断依据。</a:t>
            </a:r>
            <a:endParaRPr sz="1725" b="0">
              <a:solidFill>
                <a:srgbClr val="555555"/>
              </a:solidFill>
              <a:latin typeface="Times New Roman" panose="02020503050405090304"/>
              <a:ea typeface="微软雅黑"/>
              <a:cs typeface="Times New Roman" panose="02020503050405090304"/>
            </a:endParaRPr>
          </a:p>
        </p:txBody>
      </p:sp>
      <p:sp>
        <p:nvSpPr>
          <p:cNvPr id="20" name="q1-label"/>
          <p:cNvSpPr>
            <a:spLocks noGrp="1"/>
          </p:cNvSpPr>
          <p:nvPr/>
        </p:nvSpPr>
        <p:spPr>
          <a:xfrm>
            <a:off x="609600" y="1438275"/>
            <a:ext cx="704850" cy="400050"/>
          </a:xfrm>
          <a:prstGeom prst="roundRect">
            <a:avLst>
              <a:gd name="adj" fmla="val 35714"/>
            </a:avLst>
          </a:prstGeom>
          <a:solidFill>
            <a:srgbClr val="C7E1FF"/>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Q1</a:t>
            </a:r>
            <a:endParaRPr sz="2175" b="1">
              <a:solidFill>
                <a:srgbClr val="111111"/>
              </a:solidFill>
              <a:latin typeface="Times New Roman" panose="02020503050405090304"/>
              <a:ea typeface="微软雅黑"/>
              <a:cs typeface="Times New Roman" panose="02020503050405090304"/>
            </a:endParaRPr>
          </a:p>
        </p:txBody>
      </p:sp>
      <p:sp>
        <p:nvSpPr>
          <p:cNvPr id="21" name="q1-stem"/>
          <p:cNvSpPr>
            <a:spLocks noGrp="1"/>
          </p:cNvSpPr>
          <p:nvPr/>
        </p:nvSpPr>
        <p:spPr>
          <a:xfrm>
            <a:off x="1495425" y="1447800"/>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【判断】统计 RMSNorm 替换数量，应核对目标 Config、日志与模型模块清单。</a:t>
            </a:r>
            <a:endParaRPr sz="1800" b="1">
              <a:solidFill>
                <a:srgbClr val="111111"/>
              </a:solidFill>
              <a:latin typeface="Times New Roman" panose="02020503050405090304"/>
              <a:ea typeface="微软雅黑"/>
              <a:cs typeface="Times New Roman" panose="02020503050405090304"/>
            </a:endParaRPr>
          </a:p>
        </p:txBody>
      </p:sp>
      <p:sp>
        <p:nvSpPr>
          <p:cNvPr id="22" name="q2-label"/>
          <p:cNvSpPr>
            <a:spLocks noGrp="1"/>
          </p:cNvSpPr>
          <p:nvPr/>
        </p:nvSpPr>
        <p:spPr>
          <a:xfrm>
            <a:off x="609600" y="2257425"/>
            <a:ext cx="704850" cy="400050"/>
          </a:xfrm>
          <a:prstGeom prst="roundRect">
            <a:avLst>
              <a:gd name="adj" fmla="val 35714"/>
            </a:avLst>
          </a:prstGeom>
          <a:solidFill>
            <a:srgbClr val="FFD0D1"/>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Q2</a:t>
            </a:r>
            <a:endParaRPr sz="2175" b="1">
              <a:solidFill>
                <a:srgbClr val="111111"/>
              </a:solidFill>
              <a:latin typeface="Times New Roman" panose="02020503050405090304"/>
              <a:ea typeface="微软雅黑"/>
              <a:cs typeface="Times New Roman" panose="02020503050405090304"/>
            </a:endParaRPr>
          </a:p>
        </p:txBody>
      </p:sp>
      <p:sp>
        <p:nvSpPr>
          <p:cNvPr id="23" name="q2-stem"/>
          <p:cNvSpPr>
            <a:spLocks noGrp="1"/>
          </p:cNvSpPr>
          <p:nvPr/>
        </p:nvSpPr>
        <p:spPr>
          <a:xfrm>
            <a:off x="1495425" y="2266950"/>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【判断】端到端速度对比应覆盖完整训练 step，并保持两组配置一致。</a:t>
            </a:r>
            <a:endParaRPr sz="1800" b="1">
              <a:solidFill>
                <a:srgbClr val="111111"/>
              </a:solidFill>
              <a:latin typeface="Times New Roman" panose="02020503050405090304"/>
              <a:ea typeface="微软雅黑"/>
              <a:cs typeface="Times New Roman" panose="02020503050405090304"/>
            </a:endParaRPr>
          </a:p>
        </p:txBody>
      </p:sp>
      <p:sp>
        <p:nvSpPr>
          <p:cNvPr id="24" name="q3-label"/>
          <p:cNvSpPr>
            <a:spLocks noGrp="1"/>
          </p:cNvSpPr>
          <p:nvPr/>
        </p:nvSpPr>
        <p:spPr>
          <a:xfrm>
            <a:off x="609600" y="3105150"/>
            <a:ext cx="704850" cy="400050"/>
          </a:xfrm>
          <a:prstGeom prst="roundRect">
            <a:avLst>
              <a:gd name="adj" fmla="val 35714"/>
            </a:avLst>
          </a:prstGeom>
          <a:solidFill>
            <a:srgbClr val="BFECCC"/>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Q3</a:t>
            </a:r>
            <a:endParaRPr sz="2175" b="1">
              <a:solidFill>
                <a:srgbClr val="111111"/>
              </a:solidFill>
              <a:latin typeface="Times New Roman" panose="02020503050405090304"/>
              <a:ea typeface="微软雅黑"/>
              <a:cs typeface="Times New Roman" panose="02020503050405090304"/>
            </a:endParaRPr>
          </a:p>
        </p:txBody>
      </p:sp>
      <p:sp>
        <p:nvSpPr>
          <p:cNvPr id="25" name="q3-stem"/>
          <p:cNvSpPr>
            <a:spLocks noGrp="1"/>
          </p:cNvSpPr>
          <p:nvPr/>
        </p:nvSpPr>
        <p:spPr>
          <a:xfrm>
            <a:off x="1495425" y="3114675"/>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【单选】@override(target=RMSNorm.Config) 的主要作用是什么？</a:t>
            </a:r>
            <a:endParaRPr sz="1800" b="1">
              <a:solidFill>
                <a:srgbClr val="111111"/>
              </a:solidFill>
              <a:latin typeface="Times New Roman" panose="02020503050405090304"/>
              <a:ea typeface="微软雅黑"/>
              <a:cs typeface="Times New Roman" panose="02020503050405090304"/>
            </a:endParaRPr>
          </a:p>
        </p:txBody>
      </p:sp>
      <p:sp>
        <p:nvSpPr>
          <p:cNvPr id="26" name="q3-option0"/>
          <p:cNvSpPr>
            <a:spLocks noGrp="1"/>
          </p:cNvSpPr>
          <p:nvPr/>
        </p:nvSpPr>
        <p:spPr>
          <a:xfrm>
            <a:off x="1495425" y="376237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A. 直接执行模型替换</a:t>
            </a:r>
            <a:endParaRPr sz="1650" b="0">
              <a:solidFill>
                <a:srgbClr val="111111"/>
              </a:solidFill>
              <a:latin typeface="Times New Roman" panose="02020503050405090304"/>
              <a:ea typeface="微软雅黑"/>
              <a:cs typeface="Times New Roman" panose="02020503050405090304"/>
            </a:endParaRPr>
          </a:p>
        </p:txBody>
      </p:sp>
      <p:sp>
        <p:nvSpPr>
          <p:cNvPr id="27" name="q3-option1"/>
          <p:cNvSpPr>
            <a:spLocks noGrp="1"/>
          </p:cNvSpPr>
          <p:nvPr/>
        </p:nvSpPr>
        <p:spPr>
          <a:xfrm>
            <a:off x="6505575" y="376237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B. 注册替换函数与目标 Config 的映射</a:t>
            </a:r>
            <a:endParaRPr sz="1650" b="0">
              <a:solidFill>
                <a:srgbClr val="111111"/>
              </a:solidFill>
              <a:latin typeface="Times New Roman" panose="02020503050405090304"/>
              <a:ea typeface="微软雅黑"/>
              <a:cs typeface="Times New Roman" panose="02020503050405090304"/>
            </a:endParaRPr>
          </a:p>
        </p:txBody>
      </p:sp>
      <p:sp>
        <p:nvSpPr>
          <p:cNvPr id="28" name="q3-option2"/>
          <p:cNvSpPr>
            <a:spLocks noGrp="1"/>
          </p:cNvSpPr>
          <p:nvPr/>
        </p:nvSpPr>
        <p:spPr>
          <a:xfrm>
            <a:off x="1495425" y="417195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C. 初始化每个 RMSNorm 的权重</a:t>
            </a:r>
            <a:endParaRPr sz="1650" b="0">
              <a:solidFill>
                <a:srgbClr val="111111"/>
              </a:solidFill>
              <a:latin typeface="Times New Roman" panose="02020503050405090304"/>
              <a:ea typeface="微软雅黑"/>
              <a:cs typeface="Times New Roman" panose="02020503050405090304"/>
            </a:endParaRPr>
          </a:p>
        </p:txBody>
      </p:sp>
      <p:sp>
        <p:nvSpPr>
          <p:cNvPr id="29" name="q3-option3"/>
          <p:cNvSpPr>
            <a:spLocks noGrp="1"/>
          </p:cNvSpPr>
          <p:nvPr/>
        </p:nvSpPr>
        <p:spPr>
          <a:xfrm>
            <a:off x="6505575" y="417195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D. 启动 NPU Profiler</a:t>
            </a:r>
            <a:endParaRPr sz="1650" b="0">
              <a:solidFill>
                <a:srgbClr val="111111"/>
              </a:solidFill>
              <a:latin typeface="Times New Roman" panose="02020503050405090304"/>
              <a:ea typeface="微软雅黑"/>
              <a:cs typeface="Times New Roman" panose="02020503050405090304"/>
            </a:endParaRPr>
          </a:p>
        </p:txBody>
      </p:sp>
      <p:sp>
        <p:nvSpPr>
          <p:cNvPr id="30" name="q4-label"/>
          <p:cNvSpPr>
            <a:spLocks noGrp="1"/>
          </p:cNvSpPr>
          <p:nvPr/>
        </p:nvSpPr>
        <p:spPr>
          <a:xfrm>
            <a:off x="609600" y="4686300"/>
            <a:ext cx="704850" cy="400050"/>
          </a:xfrm>
          <a:prstGeom prst="roundRect">
            <a:avLst>
              <a:gd name="adj" fmla="val 35714"/>
            </a:avLst>
          </a:prstGeom>
          <a:solidFill>
            <a:srgbClr val="C7E1FF"/>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Q4</a:t>
            </a:r>
            <a:endParaRPr sz="2175" b="1">
              <a:solidFill>
                <a:srgbClr val="111111"/>
              </a:solidFill>
              <a:latin typeface="Times New Roman" panose="02020503050405090304"/>
              <a:ea typeface="微软雅黑"/>
              <a:cs typeface="Times New Roman" panose="02020503050405090304"/>
            </a:endParaRPr>
          </a:p>
        </p:txBody>
      </p:sp>
      <p:sp>
        <p:nvSpPr>
          <p:cNvPr id="31" name="q4-stem"/>
          <p:cNvSpPr>
            <a:spLocks noGrp="1"/>
          </p:cNvSpPr>
          <p:nvPr/>
        </p:nvSpPr>
        <p:spPr>
          <a:xfrm>
            <a:off x="1495425" y="4695825"/>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【单选】Profiling 使用较小的 global_batch_size，主要是为了什么？</a:t>
            </a:r>
            <a:endParaRPr sz="1800" b="1">
              <a:solidFill>
                <a:srgbClr val="111111"/>
              </a:solidFill>
              <a:latin typeface="Times New Roman" panose="02020503050405090304"/>
              <a:ea typeface="微软雅黑"/>
              <a:cs typeface="Times New Roman" panose="02020503050405090304"/>
            </a:endParaRPr>
          </a:p>
        </p:txBody>
      </p:sp>
      <p:sp>
        <p:nvSpPr>
          <p:cNvPr id="32" name="q4-option0"/>
          <p:cNvSpPr>
            <a:spLocks noGrp="1"/>
          </p:cNvSpPr>
          <p:nvPr/>
        </p:nvSpPr>
        <p:spPr>
          <a:xfrm>
            <a:off x="1495425" y="534352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A. 缩短采样时间，保持两组配置一致</a:t>
            </a:r>
            <a:endParaRPr sz="1650" b="0">
              <a:solidFill>
                <a:srgbClr val="111111"/>
              </a:solidFill>
              <a:latin typeface="Times New Roman" panose="02020503050405090304"/>
              <a:ea typeface="微软雅黑"/>
              <a:cs typeface="Times New Roman" panose="02020503050405090304"/>
            </a:endParaRPr>
          </a:p>
        </p:txBody>
      </p:sp>
      <p:sp>
        <p:nvSpPr>
          <p:cNvPr id="33" name="q4-option1"/>
          <p:cNvSpPr>
            <a:spLocks noGrp="1"/>
          </p:cNvSpPr>
          <p:nvPr/>
        </p:nvSpPr>
        <p:spPr>
          <a:xfrm>
            <a:off x="6505575" y="534352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B. 让模型参数量变小</a:t>
            </a:r>
            <a:endParaRPr sz="1650" b="0">
              <a:solidFill>
                <a:srgbClr val="111111"/>
              </a:solidFill>
              <a:latin typeface="Times New Roman" panose="02020503050405090304"/>
              <a:ea typeface="微软雅黑"/>
              <a:cs typeface="Times New Roman" panose="02020503050405090304"/>
            </a:endParaRPr>
          </a:p>
        </p:txBody>
      </p:sp>
      <p:sp>
        <p:nvSpPr>
          <p:cNvPr id="34" name="q4-option2"/>
          <p:cNvSpPr>
            <a:spLocks noGrp="1"/>
          </p:cNvSpPr>
          <p:nvPr/>
        </p:nvSpPr>
        <p:spPr>
          <a:xfrm>
            <a:off x="1495425" y="575310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C. 自动提高融合算子的精度</a:t>
            </a:r>
            <a:endParaRPr sz="1650" b="0">
              <a:solidFill>
                <a:srgbClr val="111111"/>
              </a:solidFill>
              <a:latin typeface="Times New Roman" panose="02020503050405090304"/>
              <a:ea typeface="微软雅黑"/>
              <a:cs typeface="Times New Roman" panose="02020503050405090304"/>
            </a:endParaRPr>
          </a:p>
        </p:txBody>
      </p:sp>
      <p:sp>
        <p:nvSpPr>
          <p:cNvPr id="35" name="q4-option3"/>
          <p:cNvSpPr>
            <a:spLocks noGrp="1"/>
          </p:cNvSpPr>
          <p:nvPr/>
        </p:nvSpPr>
        <p:spPr>
          <a:xfrm>
            <a:off x="6505575" y="575310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D. 跳过前向和反向计算</a:t>
            </a:r>
            <a:endParaRPr sz="1650" b="0">
              <a:solidFill>
                <a:srgbClr val="111111"/>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0"/>
                                        </p:tgtEl>
                                        <p:attrNameLst>
                                          <p:attrName>style.visibility</p:attrName>
                                        </p:attrNameLst>
                                      </p:cBhvr>
                                      <p:to>
                                        <p:strVal val="visible"/>
                                      </p:to>
                                    </p:set>
                                    <p:animEffect transition="in" filter="fade">
                                      <p:cBhvr>
                                        <p:cTn id="7" dur="350"/>
                                        <p:tgtEl>
                                          <p:spTgt spid="20"/>
                                        </p:tgtEl>
                                      </p:cBhvr>
                                    </p:animEffect>
                                  </p:childTnLst>
                                </p:cTn>
                              </p:par>
                              <p:par>
                                <p:cTn id="8" presetID="10" presetClass="entr" presetSubtype="0" fill="hold" grpId="0" nodeType="withEffect">
                                  <p:stCondLst>
                                    <p:cond delay="0"/>
                                  </p:stCondLst>
                                  <p:childTnLst>
                                    <p:set>
                                      <p:cBhvr>
                                        <p:cTn id="9" dur="1" fill="hold"/>
                                        <p:tgtEl>
                                          <p:spTgt spid="21"/>
                                        </p:tgtEl>
                                        <p:attrNameLst>
                                          <p:attrName>style.visibility</p:attrName>
                                        </p:attrNameLst>
                                      </p:cBhvr>
                                      <p:to>
                                        <p:strVal val="visible"/>
                                      </p:to>
                                    </p:set>
                                    <p:animEffect transition="in" filter="fade">
                                      <p:cBhvr>
                                        <p:cTn id="10" dur="35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22"/>
                                        </p:tgtEl>
                                        <p:attrNameLst>
                                          <p:attrName>style.visibility</p:attrName>
                                        </p:attrNameLst>
                                      </p:cBhvr>
                                      <p:to>
                                        <p:strVal val="visible"/>
                                      </p:to>
                                    </p:set>
                                    <p:animEffect transition="in" filter="fade">
                                      <p:cBhvr>
                                        <p:cTn id="15" dur="350"/>
                                        <p:tgtEl>
                                          <p:spTgt spid="22"/>
                                        </p:tgtEl>
                                      </p:cBhvr>
                                    </p:animEffect>
                                  </p:childTnLst>
                                </p:cTn>
                              </p:par>
                              <p:par>
                                <p:cTn id="16" presetID="10" presetClass="entr" presetSubtype="0" fill="hold" grpId="0" nodeType="withEffect">
                                  <p:stCondLst>
                                    <p:cond delay="0"/>
                                  </p:stCondLst>
                                  <p:childTnLst>
                                    <p:set>
                                      <p:cBhvr>
                                        <p:cTn id="17" dur="1" fill="hold"/>
                                        <p:tgtEl>
                                          <p:spTgt spid="23"/>
                                        </p:tgtEl>
                                        <p:attrNameLst>
                                          <p:attrName>style.visibility</p:attrName>
                                        </p:attrNameLst>
                                      </p:cBhvr>
                                      <p:to>
                                        <p:strVal val="visible"/>
                                      </p:to>
                                    </p:set>
                                    <p:animEffect transition="in" filter="fade">
                                      <p:cBhvr>
                                        <p:cTn id="18" dur="35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tgtEl>
                                          <p:spTgt spid="24"/>
                                        </p:tgtEl>
                                        <p:attrNameLst>
                                          <p:attrName>style.visibility</p:attrName>
                                        </p:attrNameLst>
                                      </p:cBhvr>
                                      <p:to>
                                        <p:strVal val="visible"/>
                                      </p:to>
                                    </p:set>
                                    <p:animEffect transition="in" filter="fade">
                                      <p:cBhvr>
                                        <p:cTn id="23" dur="350"/>
                                        <p:tgtEl>
                                          <p:spTgt spid="24"/>
                                        </p:tgtEl>
                                      </p:cBhvr>
                                    </p:animEffect>
                                  </p:childTnLst>
                                </p:cTn>
                              </p:par>
                              <p:par>
                                <p:cTn id="24" presetID="10" presetClass="entr" presetSubtype="0" fill="hold" grpId="0" nodeType="withEffect">
                                  <p:stCondLst>
                                    <p:cond delay="0"/>
                                  </p:stCondLst>
                                  <p:childTnLst>
                                    <p:set>
                                      <p:cBhvr>
                                        <p:cTn id="25" dur="1" fill="hold"/>
                                        <p:tgtEl>
                                          <p:spTgt spid="25"/>
                                        </p:tgtEl>
                                        <p:attrNameLst>
                                          <p:attrName>style.visibility</p:attrName>
                                        </p:attrNameLst>
                                      </p:cBhvr>
                                      <p:to>
                                        <p:strVal val="visible"/>
                                      </p:to>
                                    </p:set>
                                    <p:animEffect transition="in" filter="fade">
                                      <p:cBhvr>
                                        <p:cTn id="26" dur="350"/>
                                        <p:tgtEl>
                                          <p:spTgt spid="25"/>
                                        </p:tgtEl>
                                      </p:cBhvr>
                                    </p:animEffect>
                                  </p:childTnLst>
                                </p:cTn>
                              </p:par>
                              <p:par>
                                <p:cTn id="27" presetID="10" presetClass="entr" presetSubtype="0" fill="hold" grpId="0" nodeType="withEffect">
                                  <p:stCondLst>
                                    <p:cond delay="0"/>
                                  </p:stCondLst>
                                  <p:childTnLst>
                                    <p:set>
                                      <p:cBhvr>
                                        <p:cTn id="28" dur="1" fill="hold"/>
                                        <p:tgtEl>
                                          <p:spTgt spid="26"/>
                                        </p:tgtEl>
                                        <p:attrNameLst>
                                          <p:attrName>style.visibility</p:attrName>
                                        </p:attrNameLst>
                                      </p:cBhvr>
                                      <p:to>
                                        <p:strVal val="visible"/>
                                      </p:to>
                                    </p:set>
                                    <p:animEffect transition="in" filter="fade">
                                      <p:cBhvr>
                                        <p:cTn id="29" dur="350"/>
                                        <p:tgtEl>
                                          <p:spTgt spid="26"/>
                                        </p:tgtEl>
                                      </p:cBhvr>
                                    </p:animEffect>
                                  </p:childTnLst>
                                </p:cTn>
                              </p:par>
                              <p:par>
                                <p:cTn id="30" presetID="10" presetClass="entr" presetSubtype="0" fill="hold" grpId="0" nodeType="withEffect">
                                  <p:stCondLst>
                                    <p:cond delay="0"/>
                                  </p:stCondLst>
                                  <p:childTnLst>
                                    <p:set>
                                      <p:cBhvr>
                                        <p:cTn id="31" dur="1" fill="hold"/>
                                        <p:tgtEl>
                                          <p:spTgt spid="27"/>
                                        </p:tgtEl>
                                        <p:attrNameLst>
                                          <p:attrName>style.visibility</p:attrName>
                                        </p:attrNameLst>
                                      </p:cBhvr>
                                      <p:to>
                                        <p:strVal val="visible"/>
                                      </p:to>
                                    </p:set>
                                    <p:animEffect transition="in" filter="fade">
                                      <p:cBhvr>
                                        <p:cTn id="32" dur="350"/>
                                        <p:tgtEl>
                                          <p:spTgt spid="27"/>
                                        </p:tgtEl>
                                      </p:cBhvr>
                                    </p:animEffect>
                                  </p:childTnLst>
                                </p:cTn>
                              </p:par>
                              <p:par>
                                <p:cTn id="33" presetID="10" presetClass="entr" presetSubtype="0" fill="hold" grpId="0" nodeType="withEffect">
                                  <p:stCondLst>
                                    <p:cond delay="0"/>
                                  </p:stCondLst>
                                  <p:childTnLst>
                                    <p:set>
                                      <p:cBhvr>
                                        <p:cTn id="34" dur="1" fill="hold"/>
                                        <p:tgtEl>
                                          <p:spTgt spid="28"/>
                                        </p:tgtEl>
                                        <p:attrNameLst>
                                          <p:attrName>style.visibility</p:attrName>
                                        </p:attrNameLst>
                                      </p:cBhvr>
                                      <p:to>
                                        <p:strVal val="visible"/>
                                      </p:to>
                                    </p:set>
                                    <p:animEffect transition="in" filter="fade">
                                      <p:cBhvr>
                                        <p:cTn id="35" dur="350"/>
                                        <p:tgtEl>
                                          <p:spTgt spid="28"/>
                                        </p:tgtEl>
                                      </p:cBhvr>
                                    </p:animEffect>
                                  </p:childTnLst>
                                </p:cTn>
                              </p:par>
                              <p:par>
                                <p:cTn id="36" presetID="10" presetClass="entr" presetSubtype="0" fill="hold" grpId="0" nodeType="withEffect">
                                  <p:stCondLst>
                                    <p:cond delay="0"/>
                                  </p:stCondLst>
                                  <p:childTnLst>
                                    <p:set>
                                      <p:cBhvr>
                                        <p:cTn id="37" dur="1" fill="hold"/>
                                        <p:tgtEl>
                                          <p:spTgt spid="29"/>
                                        </p:tgtEl>
                                        <p:attrNameLst>
                                          <p:attrName>style.visibility</p:attrName>
                                        </p:attrNameLst>
                                      </p:cBhvr>
                                      <p:to>
                                        <p:strVal val="visible"/>
                                      </p:to>
                                    </p:set>
                                    <p:animEffect transition="in" filter="fade">
                                      <p:cBhvr>
                                        <p:cTn id="38" dur="35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tgtEl>
                                          <p:spTgt spid="30"/>
                                        </p:tgtEl>
                                        <p:attrNameLst>
                                          <p:attrName>style.visibility</p:attrName>
                                        </p:attrNameLst>
                                      </p:cBhvr>
                                      <p:to>
                                        <p:strVal val="visible"/>
                                      </p:to>
                                    </p:set>
                                    <p:animEffect transition="in" filter="fade">
                                      <p:cBhvr>
                                        <p:cTn id="43" dur="350"/>
                                        <p:tgtEl>
                                          <p:spTgt spid="30"/>
                                        </p:tgtEl>
                                      </p:cBhvr>
                                    </p:animEffect>
                                  </p:childTnLst>
                                </p:cTn>
                              </p:par>
                              <p:par>
                                <p:cTn id="44" presetID="10" presetClass="entr" presetSubtype="0" fill="hold" grpId="0" nodeType="withEffect">
                                  <p:stCondLst>
                                    <p:cond delay="0"/>
                                  </p:stCondLst>
                                  <p:childTnLst>
                                    <p:set>
                                      <p:cBhvr>
                                        <p:cTn id="45" dur="1" fill="hold"/>
                                        <p:tgtEl>
                                          <p:spTgt spid="31"/>
                                        </p:tgtEl>
                                        <p:attrNameLst>
                                          <p:attrName>style.visibility</p:attrName>
                                        </p:attrNameLst>
                                      </p:cBhvr>
                                      <p:to>
                                        <p:strVal val="visible"/>
                                      </p:to>
                                    </p:set>
                                    <p:animEffect transition="in" filter="fade">
                                      <p:cBhvr>
                                        <p:cTn id="46" dur="350"/>
                                        <p:tgtEl>
                                          <p:spTgt spid="31"/>
                                        </p:tgtEl>
                                      </p:cBhvr>
                                    </p:animEffect>
                                  </p:childTnLst>
                                </p:cTn>
                              </p:par>
                              <p:par>
                                <p:cTn id="47" presetID="10" presetClass="entr" presetSubtype="0" fill="hold" grpId="0" nodeType="withEffect">
                                  <p:stCondLst>
                                    <p:cond delay="0"/>
                                  </p:stCondLst>
                                  <p:childTnLst>
                                    <p:set>
                                      <p:cBhvr>
                                        <p:cTn id="48" dur="1" fill="hold"/>
                                        <p:tgtEl>
                                          <p:spTgt spid="32"/>
                                        </p:tgtEl>
                                        <p:attrNameLst>
                                          <p:attrName>style.visibility</p:attrName>
                                        </p:attrNameLst>
                                      </p:cBhvr>
                                      <p:to>
                                        <p:strVal val="visible"/>
                                      </p:to>
                                    </p:set>
                                    <p:animEffect transition="in" filter="fade">
                                      <p:cBhvr>
                                        <p:cTn id="49" dur="350"/>
                                        <p:tgtEl>
                                          <p:spTgt spid="32"/>
                                        </p:tgtEl>
                                      </p:cBhvr>
                                    </p:animEffect>
                                  </p:childTnLst>
                                </p:cTn>
                              </p:par>
                              <p:par>
                                <p:cTn id="50" presetID="10" presetClass="entr" presetSubtype="0" fill="hold" grpId="0" nodeType="withEffect">
                                  <p:stCondLst>
                                    <p:cond delay="0"/>
                                  </p:stCondLst>
                                  <p:childTnLst>
                                    <p:set>
                                      <p:cBhvr>
                                        <p:cTn id="51" dur="1" fill="hold"/>
                                        <p:tgtEl>
                                          <p:spTgt spid="33"/>
                                        </p:tgtEl>
                                        <p:attrNameLst>
                                          <p:attrName>style.visibility</p:attrName>
                                        </p:attrNameLst>
                                      </p:cBhvr>
                                      <p:to>
                                        <p:strVal val="visible"/>
                                      </p:to>
                                    </p:set>
                                    <p:animEffect transition="in" filter="fade">
                                      <p:cBhvr>
                                        <p:cTn id="52" dur="350"/>
                                        <p:tgtEl>
                                          <p:spTgt spid="33"/>
                                        </p:tgtEl>
                                      </p:cBhvr>
                                    </p:animEffect>
                                  </p:childTnLst>
                                </p:cTn>
                              </p:par>
                              <p:par>
                                <p:cTn id="53" presetID="10" presetClass="entr" presetSubtype="0" fill="hold" grpId="0" nodeType="withEffect">
                                  <p:stCondLst>
                                    <p:cond delay="0"/>
                                  </p:stCondLst>
                                  <p:childTnLst>
                                    <p:set>
                                      <p:cBhvr>
                                        <p:cTn id="54" dur="1" fill="hold"/>
                                        <p:tgtEl>
                                          <p:spTgt spid="34"/>
                                        </p:tgtEl>
                                        <p:attrNameLst>
                                          <p:attrName>style.visibility</p:attrName>
                                        </p:attrNameLst>
                                      </p:cBhvr>
                                      <p:to>
                                        <p:strVal val="visible"/>
                                      </p:to>
                                    </p:set>
                                    <p:animEffect transition="in" filter="fade">
                                      <p:cBhvr>
                                        <p:cTn id="55" dur="350"/>
                                        <p:tgtEl>
                                          <p:spTgt spid="34"/>
                                        </p:tgtEl>
                                      </p:cBhvr>
                                    </p:animEffect>
                                  </p:childTnLst>
                                </p:cTn>
                              </p:par>
                              <p:par>
                                <p:cTn id="56" presetID="10" presetClass="entr" presetSubtype="0" fill="hold" grpId="0" nodeType="withEffect">
                                  <p:stCondLst>
                                    <p:cond delay="0"/>
                                  </p:stCondLst>
                                  <p:childTnLst>
                                    <p:set>
                                      <p:cBhvr>
                                        <p:cTn id="57" dur="1" fill="hold"/>
                                        <p:tgtEl>
                                          <p:spTgt spid="35"/>
                                        </p:tgtEl>
                                        <p:attrNameLst>
                                          <p:attrName>style.visibility</p:attrName>
                                        </p:attrNameLst>
                                      </p:cBhvr>
                                      <p:to>
                                        <p:strVal val="visible"/>
                                      </p:to>
                                    </p:set>
                                    <p:animEffect transition="in" filter="fade">
                                      <p:cBhvr>
                                        <p:cTn id="58" dur="3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a:spLocks noGrp="1"/>
          </p:cNvSpPr>
          <p:nvPr/>
        </p:nvSpPr>
        <p:spPr>
          <a:xfrm>
            <a:off x="874644" y="1208599"/>
            <a:ext cx="3608680" cy="923330"/>
          </a:xfrm>
          <a:prstGeom prst="rect">
            <a:avLst/>
          </a:prstGeom>
          <a:noFill/>
        </p:spPr>
        <p:txBody>
          <a:bodyPr wrap="none">
            <a:spAutoFit/>
          </a:bodyPr>
          <a:lstStyle/>
          <a:p>
            <a:r>
              <a:rPr sz="5400">
                <a:latin typeface="Times New Roman" panose="02020503050405090304"/>
                <a:ea typeface="微软雅黑"/>
                <a:cs typeface="Times New Roman" panose="02020503050405090304"/>
              </a:rPr>
              <a:t>Thank you.</a:t>
            </a:r>
            <a:endParaRPr sz="5400">
              <a:latin typeface="Times New Roman" panose="02020503050405090304"/>
              <a:ea typeface="微软雅黑"/>
              <a:cs typeface="Times New Roman" panose="02020503050405090304"/>
            </a:endParaRPr>
          </a:p>
        </p:txBody>
      </p:sp>
      <p:sp>
        <p:nvSpPr>
          <p:cNvPr id="3" name="文本框 2"/>
          <p:cNvSpPr>
            <a:spLocks noGrp="1"/>
          </p:cNvSpPr>
          <p:nvPr/>
        </p:nvSpPr>
        <p:spPr>
          <a:xfrm>
            <a:off x="6400801" y="1393264"/>
            <a:ext cx="4699220" cy="2325958"/>
          </a:xfrm>
          <a:prstGeom prst="rect">
            <a:avLst/>
          </a:prstGeom>
          <a:noFill/>
        </p:spPr>
        <p:txBody>
          <a:bodyPr wrap="square">
            <a:spAutoFit/>
          </a:bodyPr>
          <a:lstStyle/>
          <a:p>
            <a:pPr>
              <a:lnSpc>
                <a:spcPct val="150000"/>
              </a:lnSpc>
              <a:buNone/>
            </a:pPr>
            <a:r>
              <a:rPr sz="1200">
                <a:solidFill>
                  <a:schemeClr val="bg1">
                    <a:lumMod val="50000"/>
                  </a:schemeClr>
                </a:solidFill>
                <a:latin typeface="Times New Roman" panose="02020503050405090304"/>
                <a:ea typeface="微软雅黑"/>
                <a:cs typeface="Times New Roman" panose="02020503050405090304"/>
              </a:rPr>
              <a:t>社区愿景：打造开放易用、技术领先的AI算力新生态</a:t>
            </a:r>
            <a:endParaRPr sz="1200">
              <a:solidFill>
                <a:schemeClr val="bg1">
                  <a:lumMod val="50000"/>
                </a:schemeClr>
              </a:solidFill>
              <a:latin typeface="Times New Roman" panose="02020503050405090304"/>
              <a:ea typeface="微软雅黑"/>
              <a:cs typeface="Times New Roman" panose="02020503050405090304"/>
            </a:endParaRPr>
          </a:p>
          <a:p>
            <a:pPr>
              <a:lnSpc>
                <a:spcPct val="150000"/>
              </a:lnSpc>
              <a:buNone/>
            </a:pPr>
            <a:r>
              <a:rPr sz="1200">
                <a:solidFill>
                  <a:schemeClr val="bg1">
                    <a:lumMod val="50000"/>
                  </a:schemeClr>
                </a:solidFill>
                <a:latin typeface="Times New Roman" panose="02020503050405090304"/>
                <a:ea typeface="微软雅黑"/>
                <a:cs typeface="Times New Roman" panose="02020503050405090304"/>
              </a:rPr>
              <a:t>社区使命：使能开发者基于CANN社区自主研究创新，构筑根深叶茂、跨产业协同共享共赢的CANN生态</a:t>
            </a:r>
            <a:endParaRPr sz="1200">
              <a:solidFill>
                <a:schemeClr val="bg1">
                  <a:lumMod val="50000"/>
                </a:schemeClr>
              </a:solidFill>
              <a:latin typeface="Times New Roman" panose="02020503050405090304"/>
              <a:ea typeface="微软雅黑"/>
              <a:cs typeface="Times New Roman" panose="02020503050405090304"/>
            </a:endParaRPr>
          </a:p>
          <a:p>
            <a:pPr>
              <a:lnSpc>
                <a:spcPct val="150000"/>
              </a:lnSpc>
              <a:buNone/>
            </a:pPr>
          </a:p>
          <a:p>
            <a:pPr>
              <a:lnSpc>
                <a:spcPct val="150000"/>
              </a:lnSpc>
              <a:buNone/>
            </a:pPr>
            <a:r>
              <a:rPr sz="1000">
                <a:solidFill>
                  <a:schemeClr val="bg1">
                    <a:lumMod val="50000"/>
                  </a:schemeClr>
                </a:solidFill>
                <a:latin typeface="Times New Roman" panose="02020503050405090304"/>
                <a:ea typeface="微软雅黑"/>
                <a:cs typeface="Times New Roman" panose="02020503050405090304"/>
              </a:rPr>
              <a:t>Vision: Building an Open, Easy-to-Use, and Technology-leading AI Computing Ecosystem</a:t>
            </a:r>
            <a:endParaRPr sz="1000">
              <a:solidFill>
                <a:schemeClr val="bg1">
                  <a:lumMod val="50000"/>
                </a:schemeClr>
              </a:solidFill>
              <a:latin typeface="Times New Roman" panose="02020503050405090304"/>
              <a:ea typeface="微软雅黑"/>
              <a:cs typeface="Times New Roman" panose="02020503050405090304"/>
            </a:endParaRPr>
          </a:p>
          <a:p>
            <a:pPr>
              <a:lnSpc>
                <a:spcPct val="150000"/>
              </a:lnSpc>
              <a:buNone/>
            </a:pPr>
            <a:r>
              <a:rPr sz="1000">
                <a:solidFill>
                  <a:schemeClr val="bg1">
                    <a:lumMod val="50000"/>
                  </a:schemeClr>
                </a:solidFill>
                <a:latin typeface="Times New Roman" panose="02020503050405090304"/>
                <a:ea typeface="微软雅黑"/>
                <a:cs typeface="Times New Roman" panose="02020503050405090304"/>
              </a:rPr>
              <a:t>Mission: Enable developers to independently research and innovate based on the CANN community and build a win-win CANN ecosystem with deep roots and cross-industry collaboration and sharing.</a:t>
            </a:r>
            <a:endParaRPr sz="1000">
              <a:solidFill>
                <a:schemeClr val="bg1">
                  <a:lumMod val="50000"/>
                </a:schemeClr>
              </a:solidFill>
              <a:latin typeface="Times New Roman" panose="02020503050405090304"/>
              <a:ea typeface="微软雅黑"/>
              <a:cs typeface="Times New Roman" panose="02020503050405090304"/>
            </a:endParaRPr>
          </a:p>
        </p:txBody>
      </p:sp>
      <p:pic>
        <p:nvPicPr>
          <p:cNvPr id="20" name="图片 7"/>
          <p:cNvPicPr>
            <a:picLocks noChangeAspect="1"/>
          </p:cNvPicPr>
          <p:nvPr/>
        </p:nvPicPr>
        <p:blipFill>
          <a:blip r:embed="rId1"/>
          <a:stretch>
            <a:fillRect/>
          </a:stretch>
        </p:blipFill>
        <p:spPr>
          <a:xfrm>
            <a:off x="10137202" y="6042990"/>
            <a:ext cx="1312676" cy="348426"/>
          </a:xfrm>
          <a:prstGeom prst="rect">
            <a:avLst/>
          </a:prstGeom>
        </p:spPr>
      </p:pic>
      <p:sp>
        <p:nvSpPr>
          <p:cNvPr id="9" name="文本框 8"/>
          <p:cNvSpPr>
            <a:spLocks noGrp="1"/>
          </p:cNvSpPr>
          <p:nvPr/>
        </p:nvSpPr>
        <p:spPr>
          <a:xfrm>
            <a:off x="7056392" y="5538463"/>
            <a:ext cx="1430200" cy="246221"/>
          </a:xfrm>
          <a:prstGeom prst="rect">
            <a:avLst/>
          </a:prstGeom>
          <a:noFill/>
        </p:spPr>
        <p:txBody>
          <a:bodyPr wrap="none">
            <a:spAutoFit/>
          </a:bodyPr>
          <a:lstStyle/>
          <a:p>
            <a:r>
              <a:rPr sz="1000">
                <a:latin typeface="Times New Roman" panose="02020503050405090304"/>
                <a:ea typeface="微软雅黑"/>
                <a:cs typeface="Times New Roman" panose="02020503050405090304"/>
              </a:rPr>
              <a:t>上CANN社区获取干货</a:t>
            </a:r>
            <a:endParaRPr sz="1000">
              <a:latin typeface="Times New Roman" panose="02020503050405090304"/>
              <a:ea typeface="微软雅黑"/>
              <a:cs typeface="Times New Roman" panose="02020503050405090304"/>
            </a:endParaRPr>
          </a:p>
        </p:txBody>
      </p:sp>
      <p:sp>
        <p:nvSpPr>
          <p:cNvPr id="11" name="文本框 10"/>
          <p:cNvSpPr>
            <a:spLocks noGrp="1"/>
          </p:cNvSpPr>
          <p:nvPr/>
        </p:nvSpPr>
        <p:spPr>
          <a:xfrm>
            <a:off x="8741387" y="5538463"/>
            <a:ext cx="1686680" cy="246221"/>
          </a:xfrm>
          <a:prstGeom prst="rect">
            <a:avLst/>
          </a:prstGeom>
          <a:noFill/>
        </p:spPr>
        <p:txBody>
          <a:bodyPr wrap="none">
            <a:spAutoFit/>
          </a:bodyPr>
          <a:lstStyle/>
          <a:p>
            <a:r>
              <a:rPr sz="1000">
                <a:latin typeface="Times New Roman" panose="02020503050405090304"/>
                <a:ea typeface="微软雅黑"/>
                <a:cs typeface="Times New Roman" panose="02020503050405090304"/>
              </a:rPr>
              <a:t>关注CANN公众号获取资讯</a:t>
            </a:r>
            <a:endParaRPr sz="1000">
              <a:latin typeface="Times New Roman" panose="02020503050405090304"/>
              <a:ea typeface="微软雅黑"/>
              <a:cs typeface="Times New Roman" panose="02020503050405090304"/>
            </a:endParaRPr>
          </a:p>
        </p:txBody>
      </p:sp>
      <p:sp>
        <p:nvSpPr>
          <p:cNvPr id="14" name="文本框 13"/>
          <p:cNvSpPr>
            <a:spLocks noGrp="1"/>
          </p:cNvSpPr>
          <p:nvPr/>
        </p:nvSpPr>
        <p:spPr>
          <a:xfrm>
            <a:off x="620201" y="6130454"/>
            <a:ext cx="8763000" cy="246221"/>
          </a:xfrm>
          <a:prstGeom prst="rect">
            <a:avLst/>
          </a:prstGeom>
          <a:noFill/>
        </p:spPr>
        <p:txBody>
          <a:bodyPr wrap="none">
            <a:spAutoFit/>
          </a:bodyPr>
          <a:lstStyle/>
          <a:p>
            <a:r>
              <a:rPr sz="1000">
                <a:solidFill>
                  <a:schemeClr val="bg1">
                    <a:lumMod val="50000"/>
                  </a:schemeClr>
                </a:solidFill>
                <a:latin typeface="Times New Roman" panose="02020503050405090304"/>
                <a:ea typeface="微软雅黑"/>
                <a:cs typeface="Times New Roman" panose="02020503050405090304"/>
                <a:hlinkClick r:id="rId2"/>
              </a:rPr>
              <a:t>https://gitcode.com/cann/cann-learning-hub/tree/master/tutorials</a:t>
            </a:r>
            <a:endParaRPr sz="1000">
              <a:solidFill>
                <a:schemeClr val="bg1">
                  <a:lumMod val="50000"/>
                </a:schemeClr>
              </a:solidFill>
              <a:latin typeface="Times New Roman" panose="02020503050405090304"/>
              <a:ea typeface="微软雅黑"/>
              <a:cs typeface="Times New Roman" panose="02020503050405090304"/>
            </a:endParaRPr>
          </a:p>
        </p:txBody>
      </p:sp>
      <p:pic>
        <p:nvPicPr>
          <p:cNvPr id="24" name="图片 5"/>
          <p:cNvPicPr>
            <a:picLocks noChangeAspect="1"/>
          </p:cNvPicPr>
          <p:nvPr/>
        </p:nvPicPr>
        <p:blipFill>
          <a:blip r:embed="rId3"/>
          <a:stretch>
            <a:fillRect/>
          </a:stretch>
        </p:blipFill>
        <p:spPr>
          <a:xfrm>
            <a:off x="8696584" y="3898269"/>
            <a:ext cx="1686679" cy="1686679"/>
          </a:xfrm>
          <a:prstGeom prst="rect">
            <a:avLst/>
          </a:prstGeom>
        </p:spPr>
      </p:pic>
      <p:pic>
        <p:nvPicPr>
          <p:cNvPr id="25" name="Picture 2"/>
          <p:cNvPicPr>
            <a:picLocks noChangeAspect="1"/>
          </p:cNvPicPr>
          <p:nvPr/>
        </p:nvPicPr>
        <p:blipFill>
          <a:blip r:embed="rId4"/>
          <a:srcRect/>
          <a:stretch>
            <a:fillRect/>
          </a:stretch>
        </p:blipFill>
        <p:spPr>
          <a:xfrm>
            <a:off x="6965102" y="3908076"/>
            <a:ext cx="1686678" cy="1676872"/>
          </a:xfrm>
          <a:prstGeom prst="rect">
            <a:avLst/>
          </a:prstGeom>
        </p:spPr>
      </p:pic>
    </p:spTree>
  </p:cSld>
  <p:clrMapOvr>
    <a:masterClrMapping/>
  </p:clrMapOvr>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8B32B95-424E-498B-B1AF-6D805F0312B8}"/>
              </a:ext>
            </a:extLst>
          </p:cNvPr>
          <p:cNvPicPr>
            <a:picLocks xmlns:a="http://schemas.openxmlformats.org/drawingml/2006/main" noChangeAspect="1"/>
          </p:cNvPicPr>
          <p:nvPr/>
        </p:nvPicPr>
        <p:blipFill>
          <a:blip xmlns:r="http://schemas.openxmlformats.org/officeDocument/2006/relationships" xmlns:a="http://schemas.openxmlformats.org/drawingml/2006/main" r:embed="R70e1c4609c714fa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le-background">
            <a:extLst xmlns:a="http://schemas.openxmlformats.org/drawingml/2006/main">
              <a:ext uri="{FF2B5EF4-FFF2-40B4-BE49-F238E27FC236}">
                <a16:creationId xmlns:a16="http://schemas.microsoft.com/office/drawing/2014/main" id="{EFBF3EAB-E1B0-4313-8E8E-CF26499B534B}"/>
              </a:ext>
            </a:extLst>
          </p:cNvPr>
          <p:cNvSpPr>
            <a:spLocks xmlns:a="http://schemas.openxmlformats.org/drawingml/2006/main" noGrp="1"/>
          </p:cNvSpPr>
          <p:nvPr/>
        </p:nvSpPr>
        <p:spPr>
          <a:xfrm xmlns:a="http://schemas.openxmlformats.org/drawingml/2006/main">
            <a:off x="426720" y="198120"/>
            <a:ext cx="9220200" cy="73152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slide-title">
            <a:extLst xmlns:a="http://schemas.openxmlformats.org/drawingml/2006/main">
              <a:ext uri="{FF2B5EF4-FFF2-40B4-BE49-F238E27FC236}">
                <a16:creationId xmlns:a16="http://schemas.microsoft.com/office/drawing/2014/main" id="{09542DFE-55C2-402F-A67C-C093B0722445}"/>
              </a:ext>
            </a:extLst>
          </p:cNvPr>
          <p:cNvSpPr>
            <a:spLocks xmlns:a="http://schemas.openxmlformats.org/drawingml/2006/main" noGrp="1"/>
          </p:cNvSpPr>
          <p:nvPr/>
        </p:nvSpPr>
        <p:spPr>
          <a:xfrm xmlns:a="http://schemas.openxmlformats.org/drawingml/2006/main">
            <a:off x="609600" y="320040"/>
            <a:ext cx="952500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700" b="1">
                <a:solidFill>
                  <a:srgbClr val="111111"/>
                </a:solidFill>
                <a:latin typeface="Times New Roman"/>
                <a:ea typeface="Times New Roman"/>
                <a:cs typeface="Times New Roman"/>
              </a:defRPr>
            </a:defPPr>
          </a:lstStyle>
          <a:p xmlns:a="http://schemas.openxmlformats.org/drawingml/2006/main">
            <a:pPr>
              <a:defRPr sz="2700" b="1">
                <a:solidFill>
                  <a:srgbClr val="111111"/>
                </a:solidFill>
                <a:latin typeface="Times New Roman"/>
                <a:ea typeface="Times New Roman"/>
                <a:cs typeface="Times New Roman"/>
              </a:defRPr>
            </a:pPr>
            <a:r>
              <a:rPr sz="2700" b="1">
                <a:solidFill>
                  <a:srgbClr val="111111"/>
                </a:solidFill>
                <a:latin typeface="Times New Roman"/>
                <a:ea typeface="Times New Roman"/>
                <a:cs typeface="Times New Roman"/>
              </a:rPr>
              <a:t>训练配置与基线训练</a:t>
            </a:r>
          </a:p>
        </p:txBody>
      </p:sp>
      <p:sp>
        <p:nvSpPr>
          <p:cNvPr id="4" name="eval-subtitle">
            <a:extLst xmlns:a="http://schemas.openxmlformats.org/drawingml/2006/main">
              <a:ext uri="{FF2B5EF4-FFF2-40B4-BE49-F238E27FC236}">
                <a16:creationId xmlns:a16="http://schemas.microsoft.com/office/drawing/2014/main" id="{774E33A7-4E05-49C3-8D73-9097FA5A0468}"/>
              </a:ext>
            </a:extLst>
          </p:cNvPr>
          <p:cNvSpPr>
            <a:spLocks xmlns:a="http://schemas.openxmlformats.org/drawingml/2006/main" noGrp="1"/>
          </p:cNvSpPr>
          <p:nvPr/>
        </p:nvSpPr>
        <p:spPr>
          <a:xfrm xmlns:a="http://schemas.openxmlformats.org/drawingml/2006/main">
            <a:off x="742950" y="1000125"/>
            <a:ext cx="676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1">
                <a:solidFill>
                  <a:srgbClr val="357AE8"/>
                </a:solidFill>
                <a:latin typeface="Times New Roman"/>
                <a:ea typeface="Times New Roman"/>
                <a:cs typeface="Times New Roman"/>
              </a:defRPr>
            </a:defPPr>
          </a:lstStyle>
          <a:p xmlns:a="http://schemas.openxmlformats.org/drawingml/2006/main">
            <a:pPr>
              <a:defRPr sz="2025" b="1">
                <a:solidFill>
                  <a:srgbClr val="357AE8"/>
                </a:solidFill>
                <a:latin typeface="Times New Roman"/>
                <a:ea typeface="Times New Roman"/>
                <a:cs typeface="Times New Roman"/>
              </a:defRPr>
            </a:pPr>
            <a:r>
              <a:rPr sz="2025" b="1">
                <a:solidFill>
                  <a:srgbClr val="357AE8"/>
                </a:solidFill>
                <a:latin typeface="Times New Roman"/>
                <a:ea typeface="Times New Roman"/>
                <a:cs typeface="Times New Roman"/>
              </a:rPr>
              <a:t>vf-eval 多轮交互评测结果</a:t>
            </a:r>
          </a:p>
        </p:txBody>
      </p:sp>
      <p:sp>
        <p:nvSpPr>
          <p:cNvPr id="5" name="eval-intro">
            <a:extLst xmlns:a="http://schemas.openxmlformats.org/drawingml/2006/main">
              <a:ext uri="{FF2B5EF4-FFF2-40B4-BE49-F238E27FC236}">
                <a16:creationId xmlns:a16="http://schemas.microsoft.com/office/drawing/2014/main" id="{F3996AF3-EE92-48A4-8487-DD52AC875C9F}"/>
              </a:ext>
            </a:extLst>
          </p:cNvPr>
          <p:cNvSpPr>
            <a:spLocks xmlns:a="http://schemas.openxmlformats.org/drawingml/2006/main" noGrp="1"/>
          </p:cNvSpPr>
          <p:nvPr/>
        </p:nvSpPr>
        <p:spPr>
          <a:xfrm xmlns:a="http://schemas.openxmlformats.org/drawingml/2006/main">
            <a:off x="742950" y="1438275"/>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111111"/>
                </a:solidFill>
                <a:latin typeface="Times New Roman"/>
                <a:ea typeface="Times New Roman"/>
                <a:cs typeface="Times New Roman"/>
              </a:defRPr>
            </a:defPPr>
          </a:lstStyle>
          <a:p xmlns:a="http://schemas.openxmlformats.org/drawingml/2006/main">
            <a:pPr>
              <a:defRPr sz="1875">
                <a:solidFill>
                  <a:srgbClr val="111111"/>
                </a:solidFill>
                <a:latin typeface="Times New Roman"/>
                <a:ea typeface="Times New Roman"/>
                <a:cs typeface="Times New Roman"/>
              </a:defRPr>
            </a:pPr>
            <a:r>
              <a:rPr sz="1875">
                <a:solidFill>
                  <a:srgbClr val="111111"/>
                </a:solidFill>
                <a:latin typeface="Times New Roman"/>
                <a:ea typeface="Times New Roman"/>
                <a:cs typeface="Times New Roman"/>
              </a:rPr>
              <a:t>在同一批 Wordle 任务上，分别评测基座模型与 SFT checkpoint。</a:t>
            </a:r>
          </a:p>
        </p:txBody>
      </p:sp>
      <p:sp>
        <p:nvSpPr>
          <p:cNvPr id="6" name="eval-controls">
            <a:extLst xmlns:a="http://schemas.openxmlformats.org/drawingml/2006/main">
              <a:ext uri="{FF2B5EF4-FFF2-40B4-BE49-F238E27FC236}">
                <a16:creationId xmlns:a16="http://schemas.microsoft.com/office/drawing/2014/main" id="{ADD10538-D372-4FE6-B504-295F2A6F49A5}"/>
              </a:ext>
            </a:extLst>
          </p:cNvPr>
          <p:cNvSpPr>
            <a:spLocks xmlns:a="http://schemas.openxmlformats.org/drawingml/2006/main" noGrp="1"/>
          </p:cNvSpPr>
          <p:nvPr/>
        </p:nvSpPr>
        <p:spPr>
          <a:xfrm xmlns:a="http://schemas.openxmlformats.org/drawingml/2006/main">
            <a:off x="742950" y="1838325"/>
            <a:ext cx="10801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a:solidFill>
                  <a:srgbClr val="111111"/>
                </a:solidFill>
                <a:latin typeface="Times New Roman"/>
                <a:ea typeface="Times New Roman"/>
                <a:cs typeface="Times New Roman"/>
              </a:defRPr>
            </a:defPPr>
          </a:lstStyle>
          <a:p xmlns:a="http://schemas.openxmlformats.org/drawingml/2006/main">
            <a:pPr>
              <a:defRPr sz="1725">
                <a:solidFill>
                  <a:srgbClr val="111111"/>
                </a:solidFill>
                <a:latin typeface="Times New Roman"/>
                <a:ea typeface="Times New Roman"/>
                <a:cs typeface="Times New Roman"/>
              </a:defRPr>
            </a:pPr>
            <a:r>
              <a:rPr sz="1725">
                <a:solidFill>
                  <a:srgbClr val="111111"/>
                </a:solidFill>
                <a:latin typeface="Times New Roman"/>
                <a:ea typeface="Times New Roman"/>
                <a:cs typeface="Times New Roman"/>
              </a:rPr>
              <a:t>固定任务、seed、生成参数、rollout 数与并发，保存逐局结果。</a:t>
            </a:r>
          </a:p>
        </p:txBody>
      </p:sp>
      <p:graphicFrame>
        <p:nvGraphicFramePr>
          <p:cNvPr id="7" name="eval-results-table">
            <a:extLst xmlns:a="http://schemas.openxmlformats.org/drawingml/2006/main">
              <a:ext uri="{FF2B5EF4-FFF2-40B4-BE49-F238E27FC236}">
                <a16:creationId xmlns:a16="http://schemas.microsoft.com/office/drawing/2014/main" id="{314FE03C-9E3B-43D4-A8C6-758B802B6949}"/>
              </a:ext>
            </a:extLst>
          </p:cNvPr>
          <p:cNvGraphicFramePr/>
          <p:nvPr/>
        </p:nvGraphicFramePr>
        <p:xfrm>
          <a:off xmlns:a="http://schemas.openxmlformats.org/drawingml/2006/main" x="742950" y="2286000"/>
          <a:ext xmlns:a="http://schemas.openxmlformats.org/drawingml/2006/main" cx="10706100" cy="2724150"/>
        </p:xfrm>
        <a:graphic xmlns:a="http://schemas.openxmlformats.org/drawingml/2006/main">
          <a:graphicData uri="http://schemas.openxmlformats.org/drawingml/2006/table">
            <a:tbl>
              <a:tblPr firstRow="0" bandRow="0" bandCol="0"/>
              <a:tblGrid>
                <a:gridCol w="2228850"/>
                <a:gridCol w="3390900"/>
                <a:gridCol w="2400300"/>
                <a:gridCol w="2686050"/>
              </a:tblGrid>
              <a:tr h="514350">
                <a:tc>
                  <a:txBody>
                    <a:bodyPr wrap="square" lIns="114300" tIns="76200" rIns="114300" bIns="76200">
                      <a:noAutofit/>
                    </a:bodyPr>
                    <a:lstStyle/>
                    <a:p>
                      <a:pPr algn="ctr"/>
                      <a:r>
                        <a:rPr sz="1725" b="1">
                          <a:solidFill>
                            <a:srgbClr val="111111"/>
                          </a:solidFill>
                          <a:latin typeface="Times New Roman"/>
                          <a:ea typeface="Times New Roman"/>
                          <a:cs typeface="Times New Roman"/>
                        </a:rPr>
                        <a:t>分别观察</a:t>
                      </a:r>
                    </a:p>
                  </a:txBody>
                  <a:tcPr marL="91440" marR="91440" marT="45720" marB="45720" anchor="ctr">
                    <a:solidFill>
                      <a:srgbClr val="F3F3F3"/>
                    </a:solidFill>
                  </a:tcPr>
                </a:tc>
                <a:tc>
                  <a:txBody>
                    <a:bodyPr wrap="square" lIns="114300" tIns="76200" rIns="114300" bIns="76200">
                      <a:noAutofit/>
                    </a:bodyPr>
                    <a:lstStyle/>
                    <a:p>
                      <a:pPr algn="ctr"/>
                      <a:r>
                        <a:rPr sz="1725" b="1">
                          <a:solidFill>
                            <a:srgbClr val="111111"/>
                          </a:solidFill>
                          <a:latin typeface="Times New Roman"/>
                          <a:ea typeface="Times New Roman"/>
                          <a:cs typeface="Times New Roman"/>
                        </a:rPr>
                        <a:t>回答的问题</a:t>
                      </a:r>
                    </a:p>
                  </a:txBody>
                  <a:tcPr marL="91440" marR="91440" marT="45720" marB="45720" anchor="ctr">
                    <a:solidFill>
                      <a:srgbClr val="F3F3F3"/>
                    </a:solidFill>
                  </a:tcPr>
                </a:tc>
                <a:tc>
                  <a:txBody>
                    <a:bodyPr wrap="square" lIns="114300" tIns="76200" rIns="114300" bIns="76200">
                      <a:noAutofit/>
                    </a:bodyPr>
                    <a:lstStyle/>
                    <a:p>
                      <a:pPr algn="ctr"/>
                      <a:r>
                        <a:rPr sz="1725" b="1">
                          <a:solidFill>
                            <a:srgbClr val="111111"/>
                          </a:solidFill>
                          <a:latin typeface="Times New Roman"/>
                          <a:ea typeface="Times New Roman"/>
                          <a:cs typeface="Times New Roman"/>
                        </a:rPr>
                        <a:t>基础模型指标</a:t>
                      </a:r>
                    </a:p>
                  </a:txBody>
                  <a:tcPr marL="91440" marR="91440" marT="45720" marB="45720" anchor="ctr">
                    <a:solidFill>
                      <a:srgbClr val="F3F3F3"/>
                    </a:solidFill>
                  </a:tcPr>
                </a:tc>
                <a:tc>
                  <a:txBody>
                    <a:bodyPr wrap="square" lIns="114300" tIns="76200" rIns="114300" bIns="76200">
                      <a:noAutofit/>
                    </a:bodyPr>
                    <a:lstStyle/>
                    <a:p>
                      <a:pPr algn="ctr"/>
                      <a:r>
                        <a:rPr sz="1725" b="1">
                          <a:solidFill>
                            <a:srgbClr val="111111"/>
                          </a:solidFill>
                          <a:latin typeface="Times New Roman"/>
                          <a:ea typeface="Times New Roman"/>
                          <a:cs typeface="Times New Roman"/>
                        </a:rPr>
                        <a:t>SFT 模型指标</a:t>
                      </a:r>
                    </a:p>
                  </a:txBody>
                  <a:tcPr marL="91440" marR="91440" marT="45720" marB="45720" anchor="ctr">
                    <a:solidFill>
                      <a:srgbClr val="F3F3F3"/>
                    </a:solidFill>
                  </a:tcPr>
                </a:tc>
              </a:tr>
              <a:tr h="552450">
                <a:tc>
                  <a:txBody>
                    <a:bodyPr wrap="square" lIns="114300" tIns="76200" rIns="114300" bIns="76200">
                      <a:noAutofit/>
                    </a:bodyPr>
                    <a:lstStyle/>
                    <a:p>
                      <a:pPr algn="ctr"/>
                      <a:r>
                        <a:rPr sz="1650" b="0">
                          <a:solidFill>
                            <a:srgbClr val="111111"/>
                          </a:solidFill>
                          <a:latin typeface="Times New Roman"/>
                          <a:ea typeface="Times New Roman"/>
                          <a:cs typeface="Times New Roman"/>
                        </a:rPr>
                        <a:t>format_reward</a:t>
                      </a:r>
                    </a:p>
                  </a:txBody>
                  <a:tcPr marL="91440" marR="91440" marT="45720" marB="45720" anchor="ctr">
                    <a:solidFill>
                      <a:srgbClr val="FFFFFF"/>
                    </a:solidFill>
                  </a:tcPr>
                </a:tc>
                <a:tc>
                  <a:txBody>
                    <a:bodyPr wrap="square" lIns="114300" tIns="76200" rIns="114300" bIns="76200">
                      <a:noAutofit/>
                    </a:bodyPr>
                    <a:lstStyle/>
                    <a:p>
                      <a:pPr algn="l"/>
                      <a:r>
                        <a:rPr sz="1650" b="0">
                          <a:solidFill>
                            <a:srgbClr val="111111"/>
                          </a:solidFill>
                          <a:latin typeface="Times New Roman"/>
                          <a:ea typeface="Times New Roman"/>
                          <a:cs typeface="Times New Roman"/>
                        </a:rPr>
                        <a:t>回复格式是否合规？</a:t>
                      </a:r>
                    </a:p>
                  </a:txBody>
                  <a:tcPr marL="91440" marR="91440" marT="45720" marB="45720" anchor="ctr">
                    <a:solidFill>
                      <a:srgbClr val="FFFFFF"/>
                    </a:solidFill>
                  </a:tcPr>
                </a:tc>
                <a:tc>
                  <a:txBody>
                    <a:bodyPr wrap="square" lIns="114300" tIns="76200" rIns="114300" bIns="76200">
                      <a:noAutofit/>
                    </a:bodyPr>
                    <a:lstStyle/>
                    <a:p>
                      <a:pPr algn="ctr"/>
                      <a:r>
                        <a:rPr sz="1650" b="0">
                          <a:solidFill>
                            <a:srgbClr val="111111"/>
                          </a:solidFill>
                          <a:latin typeface="Times New Roman"/>
                          <a:ea typeface="Times New Roman"/>
                          <a:cs typeface="Times New Roman"/>
                        </a:rPr>
                        <a:t>0.6</a:t>
                      </a:r>
                    </a:p>
                  </a:txBody>
                  <a:tcPr marL="91440" marR="91440" marT="45720" marB="45720" anchor="ctr">
                    <a:solidFill>
                      <a:srgbClr val="FFFFFF"/>
                    </a:solidFill>
                  </a:tcPr>
                </a:tc>
                <a:tc>
                  <a:txBody>
                    <a:bodyPr wrap="square" lIns="114300" tIns="76200" rIns="114300" bIns="76200">
                      <a:noAutofit/>
                    </a:bodyPr>
                    <a:lstStyle/>
                    <a:p>
                      <a:pPr algn="ctr"/>
                      <a:r>
                        <a:rPr sz="1650" b="0">
                          <a:solidFill>
                            <a:srgbClr val="111111"/>
                          </a:solidFill>
                          <a:latin typeface="Times New Roman"/>
                          <a:ea typeface="Times New Roman"/>
                          <a:cs typeface="Times New Roman"/>
                        </a:rPr>
                        <a:t>0.95</a:t>
                      </a:r>
                    </a:p>
                  </a:txBody>
                  <a:tcPr marL="91440" marR="91440" marT="45720" marB="45720" anchor="ctr">
                    <a:solidFill>
                      <a:srgbClr val="FFFFFF"/>
                    </a:solidFill>
                  </a:tcPr>
                </a:tc>
              </a:tr>
              <a:tr h="552450">
                <a:tc>
                  <a:txBody>
                    <a:bodyPr wrap="square" lIns="114300" tIns="76200" rIns="114300" bIns="76200">
                      <a:noAutofit/>
                    </a:bodyPr>
                    <a:lstStyle/>
                    <a:p>
                      <a:pPr algn="ctr"/>
                      <a:r>
                        <a:rPr sz="1650" b="0">
                          <a:solidFill>
                            <a:srgbClr val="111111"/>
                          </a:solidFill>
                          <a:latin typeface="Times New Roman"/>
                          <a:ea typeface="Times New Roman"/>
                          <a:cs typeface="Times New Roman"/>
                        </a:rPr>
                        <a:t>correct_answer</a:t>
                      </a:r>
                    </a:p>
                  </a:txBody>
                  <a:tcPr marL="91440" marR="91440" marT="45720" marB="45720" anchor="ctr">
                    <a:solidFill>
                      <a:srgbClr val="FFFFFF"/>
                    </a:solidFill>
                  </a:tcPr>
                </a:tc>
                <a:tc>
                  <a:txBody>
                    <a:bodyPr wrap="square" lIns="114300" tIns="76200" rIns="114300" bIns="76200">
                      <a:noAutofit/>
                    </a:bodyPr>
                    <a:lstStyle/>
                    <a:p>
                      <a:pPr algn="l"/>
                      <a:r>
                        <a:rPr sz="1650" b="0">
                          <a:solidFill>
                            <a:srgbClr val="111111"/>
                          </a:solidFill>
                          <a:latin typeface="Times New Roman"/>
                          <a:ea typeface="Times New Roman"/>
                          <a:cs typeface="Times New Roman"/>
                        </a:rPr>
                        <a:t>是否在 6 次内猜中？</a:t>
                      </a:r>
                    </a:p>
                  </a:txBody>
                  <a:tcPr marL="91440" marR="91440" marT="45720" marB="45720" anchor="ctr">
                    <a:solidFill>
                      <a:srgbClr val="FFFFFF"/>
                    </a:solidFill>
                  </a:tcPr>
                </a:tc>
                <a:tc>
                  <a:txBody>
                    <a:bodyPr wrap="square" lIns="114300" tIns="76200" rIns="114300" bIns="76200">
                      <a:noAutofit/>
                    </a:bodyPr>
                    <a:lstStyle/>
                    <a:p>
                      <a:pPr algn="ctr"/>
                      <a:r>
                        <a:rPr sz="1650" b="0">
                          <a:solidFill>
                            <a:srgbClr val="111111"/>
                          </a:solidFill>
                          <a:latin typeface="Times New Roman"/>
                          <a:ea typeface="Times New Roman"/>
                          <a:cs typeface="Times New Roman"/>
                        </a:rPr>
                        <a:t>0.0</a:t>
                      </a:r>
                    </a:p>
                  </a:txBody>
                  <a:tcPr marL="91440" marR="91440" marT="45720" marB="45720" anchor="ctr">
                    <a:solidFill>
                      <a:srgbClr val="FFFFFF"/>
                    </a:solidFill>
                  </a:tcPr>
                </a:tc>
                <a:tc>
                  <a:txBody>
                    <a:bodyPr wrap="square" lIns="114300" tIns="76200" rIns="114300" bIns="76200">
                      <a:noAutofit/>
                    </a:bodyPr>
                    <a:lstStyle/>
                    <a:p>
                      <a:pPr algn="ctr"/>
                      <a:r>
                        <a:rPr sz="1650" b="0">
                          <a:solidFill>
                            <a:srgbClr val="111111"/>
                          </a:solidFill>
                          <a:latin typeface="Times New Roman"/>
                          <a:ea typeface="Times New Roman"/>
                          <a:cs typeface="Times New Roman"/>
                        </a:rPr>
                        <a:t>0.0</a:t>
                      </a:r>
                    </a:p>
                  </a:txBody>
                  <a:tcPr marL="91440" marR="91440" marT="45720" marB="45720" anchor="ctr">
                    <a:solidFill>
                      <a:srgbClr val="FFFFFF"/>
                    </a:solidFill>
                  </a:tcPr>
                </a:tc>
              </a:tr>
              <a:tr h="552450">
                <a:tc>
                  <a:txBody>
                    <a:bodyPr wrap="square" lIns="114300" tIns="76200" rIns="114300" bIns="76200">
                      <a:noAutofit/>
                    </a:bodyPr>
                    <a:lstStyle/>
                    <a:p>
                      <a:pPr algn="ctr"/>
                      <a:r>
                        <a:rPr sz="1650" b="0">
                          <a:solidFill>
                            <a:srgbClr val="111111"/>
                          </a:solidFill>
                          <a:latin typeface="Times New Roman"/>
                          <a:ea typeface="Times New Roman"/>
                          <a:cs typeface="Times New Roman"/>
                        </a:rPr>
                        <a:t>partial_answer</a:t>
                      </a:r>
                    </a:p>
                  </a:txBody>
                  <a:tcPr marL="91440" marR="91440" marT="45720" marB="45720" anchor="ctr">
                    <a:solidFill>
                      <a:srgbClr val="FFFFFF"/>
                    </a:solidFill>
                  </a:tcPr>
                </a:tc>
                <a:tc>
                  <a:txBody>
                    <a:bodyPr wrap="square" lIns="114300" tIns="76200" rIns="114300" bIns="76200">
                      <a:noAutofit/>
                    </a:bodyPr>
                    <a:lstStyle/>
                    <a:p>
                      <a:pPr algn="l"/>
                      <a:r>
                        <a:rPr sz="1650" b="0">
                          <a:solidFill>
                            <a:srgbClr val="111111"/>
                          </a:solidFill>
                          <a:latin typeface="Times New Roman"/>
                          <a:ea typeface="Times New Roman"/>
                          <a:cs typeface="Times New Roman"/>
                        </a:rPr>
                        <a:t>获得多少部分字母奖励？</a:t>
                      </a:r>
                    </a:p>
                  </a:txBody>
                  <a:tcPr marL="91440" marR="91440" marT="45720" marB="45720" anchor="ctr">
                    <a:solidFill>
                      <a:srgbClr val="FFFFFF"/>
                    </a:solidFill>
                  </a:tcPr>
                </a:tc>
                <a:tc>
                  <a:txBody>
                    <a:bodyPr wrap="square" lIns="114300" tIns="76200" rIns="114300" bIns="76200">
                      <a:noAutofit/>
                    </a:bodyPr>
                    <a:lstStyle/>
                    <a:p>
                      <a:pPr algn="ctr"/>
                      <a:r>
                        <a:rPr sz="1650" b="0">
                          <a:solidFill>
                            <a:srgbClr val="111111"/>
                          </a:solidFill>
                          <a:latin typeface="Times New Roman"/>
                          <a:ea typeface="Times New Roman"/>
                          <a:cs typeface="Times New Roman"/>
                        </a:rPr>
                        <a:t>0.0</a:t>
                      </a:r>
                    </a:p>
                  </a:txBody>
                  <a:tcPr marL="91440" marR="91440" marT="45720" marB="45720" anchor="ctr">
                    <a:solidFill>
                      <a:srgbClr val="FFFFFF"/>
                    </a:solidFill>
                  </a:tcPr>
                </a:tc>
                <a:tc>
                  <a:txBody>
                    <a:bodyPr wrap="square" lIns="114300" tIns="76200" rIns="114300" bIns="76200">
                      <a:noAutofit/>
                    </a:bodyPr>
                    <a:lstStyle/>
                    <a:p>
                      <a:pPr algn="ctr"/>
                      <a:r>
                        <a:rPr sz="1650" b="0">
                          <a:solidFill>
                            <a:srgbClr val="111111"/>
                          </a:solidFill>
                          <a:latin typeface="Times New Roman"/>
                          <a:ea typeface="Times New Roman"/>
                          <a:cs typeface="Times New Roman"/>
                        </a:rPr>
                        <a:t>0.25</a:t>
                      </a:r>
                    </a:p>
                  </a:txBody>
                  <a:tcPr marL="91440" marR="91440" marT="45720" marB="45720" anchor="ctr">
                    <a:solidFill>
                      <a:srgbClr val="FFFFFF"/>
                    </a:solidFill>
                  </a:tcPr>
                </a:tc>
              </a:tr>
              <a:tr h="552450">
                <a:tc>
                  <a:txBody>
                    <a:bodyPr wrap="square" lIns="114300" tIns="76200" rIns="114300" bIns="76200">
                      <a:noAutofit/>
                    </a:bodyPr>
                    <a:lstStyle/>
                    <a:p>
                      <a:pPr algn="ctr"/>
                      <a:r>
                        <a:rPr sz="1650" b="0">
                          <a:solidFill>
                            <a:srgbClr val="111111"/>
                          </a:solidFill>
                          <a:latin typeface="Times New Roman"/>
                          <a:ea typeface="Times New Roman"/>
                          <a:cs typeface="Times New Roman"/>
                        </a:rPr>
                        <a:t>reward</a:t>
                      </a:r>
                    </a:p>
                  </a:txBody>
                  <a:tcPr marL="91440" marR="91440" marT="45720" marB="45720" anchor="ctr">
                    <a:solidFill>
                      <a:srgbClr val="FFFFFF"/>
                    </a:solidFill>
                  </a:tcPr>
                </a:tc>
                <a:tc>
                  <a:txBody>
                    <a:bodyPr wrap="square" lIns="114300" tIns="76200" rIns="114300" bIns="76200">
                      <a:noAutofit/>
                    </a:bodyPr>
                    <a:lstStyle/>
                    <a:p>
                      <a:pPr algn="l"/>
                      <a:r>
                        <a:rPr sz="1650" b="0">
                          <a:solidFill>
                            <a:srgbClr val="111111"/>
                          </a:solidFill>
                          <a:latin typeface="Times New Roman"/>
                          <a:ea typeface="Times New Roman"/>
                          <a:cs typeface="Times New Roman"/>
                        </a:rPr>
                        <a:t>模型总体表现如何？</a:t>
                      </a:r>
                    </a:p>
                  </a:txBody>
                  <a:tcPr marL="91440" marR="91440" marT="45720" marB="45720" anchor="ctr">
                    <a:solidFill>
                      <a:srgbClr val="FFFFFF"/>
                    </a:solidFill>
                  </a:tcPr>
                </a:tc>
                <a:tc>
                  <a:txBody>
                    <a:bodyPr wrap="square" lIns="114300" tIns="76200" rIns="114300" bIns="76200">
                      <a:noAutofit/>
                    </a:bodyPr>
                    <a:lstStyle/>
                    <a:p>
                      <a:pPr algn="ctr"/>
                      <a:r>
                        <a:rPr sz="1650" b="0">
                          <a:solidFill>
                            <a:srgbClr val="111111"/>
                          </a:solidFill>
                          <a:latin typeface="Times New Roman"/>
                          <a:ea typeface="Times New Roman"/>
                          <a:cs typeface="Times New Roman"/>
                        </a:rPr>
                        <a:t>0.22</a:t>
                      </a:r>
                    </a:p>
                  </a:txBody>
                  <a:tcPr marL="91440" marR="91440" marT="45720" marB="45720" anchor="ctr">
                    <a:solidFill>
                      <a:srgbClr val="FFFFFF"/>
                    </a:solidFill>
                  </a:tcPr>
                </a:tc>
                <a:tc>
                  <a:txBody>
                    <a:bodyPr wrap="square" lIns="114300" tIns="76200" rIns="114300" bIns="76200">
                      <a:noAutofit/>
                    </a:bodyPr>
                    <a:lstStyle/>
                    <a:p>
                      <a:pPr algn="ctr"/>
                      <a:r>
                        <a:rPr sz="1650" b="0">
                          <a:solidFill>
                            <a:srgbClr val="111111"/>
                          </a:solidFill>
                          <a:latin typeface="Times New Roman"/>
                          <a:ea typeface="Times New Roman"/>
                          <a:cs typeface="Times New Roman"/>
                        </a:rPr>
                        <a:t>0.40</a:t>
                      </a:r>
                    </a:p>
                  </a:txBody>
                  <a:tcPr marL="91440" marR="91440" marT="45720" marB="45720" anchor="ctr">
                    <a:solidFill>
                      <a:srgbClr val="FFFFFF"/>
                    </a:solidFill>
                  </a:tcPr>
                </a:tc>
              </a:tr>
            </a:tbl>
          </a:graphicData>
        </a:graphic>
      </p:graphicFrame>
      <p:sp>
        <p:nvSpPr>
          <p:cNvPr id="8" name="eval-sample">
            <a:extLst xmlns:a="http://schemas.openxmlformats.org/drawingml/2006/main">
              <a:ext uri="{FF2B5EF4-FFF2-40B4-BE49-F238E27FC236}">
                <a16:creationId xmlns:a16="http://schemas.microsoft.com/office/drawing/2014/main" id="{18CE3D9F-FC21-46CD-A315-402C2BB86466}"/>
              </a:ext>
            </a:extLst>
          </p:cNvPr>
          <p:cNvSpPr>
            <a:spLocks xmlns:a="http://schemas.openxmlformats.org/drawingml/2006/main" noGrp="1"/>
          </p:cNvSpPr>
          <p:nvPr/>
        </p:nvSpPr>
        <p:spPr>
          <a:xfrm xmlns:a="http://schemas.openxmlformats.org/drawingml/2006/main">
            <a:off x="742950" y="514350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a:solidFill>
                  <a:srgbClr val="111111"/>
                </a:solidFill>
                <a:latin typeface="Times New Roman"/>
                <a:ea typeface="Times New Roman"/>
                <a:cs typeface="Times New Roman"/>
              </a:defRPr>
            </a:defPPr>
          </a:lstStyle>
          <a:p xmlns:a="http://schemas.openxmlformats.org/drawingml/2006/main">
            <a:pPr>
              <a:defRPr sz="1500">
                <a:solidFill>
                  <a:srgbClr val="111111"/>
                </a:solidFill>
                <a:latin typeface="Times New Roman"/>
                <a:ea typeface="Times New Roman"/>
                <a:cs typeface="Times New Roman"/>
              </a:defRPr>
            </a:pPr>
            <a:r>
              <a:rPr sz="1500">
                <a:solidFill>
                  <a:srgbClr val="111111"/>
                </a:solidFill>
                <a:latin typeface="Times New Roman"/>
                <a:ea typeface="Times New Roman"/>
                <a:cs typeface="Times New Roman"/>
              </a:rPr>
              <a:t>本例：4 个任务 × 每题 2 局 = 8 局评测。结论：</a:t>
            </a:r>
          </a:p>
        </p:txBody>
      </p:sp>
      <p:sp>
        <p:nvSpPr>
          <p:cNvPr id="9" name="eval-conclusion">
            <a:extLst xmlns:a="http://schemas.openxmlformats.org/drawingml/2006/main">
              <a:ext uri="{FF2B5EF4-FFF2-40B4-BE49-F238E27FC236}">
                <a16:creationId xmlns:a16="http://schemas.microsoft.com/office/drawing/2014/main" id="{8F17C922-BA19-40F3-91C8-457A4AF66991}"/>
              </a:ext>
            </a:extLst>
          </p:cNvPr>
          <p:cNvSpPr>
            <a:spLocks xmlns:a="http://schemas.openxmlformats.org/drawingml/2006/main" noGrp="1"/>
          </p:cNvSpPr>
          <p:nvPr/>
        </p:nvSpPr>
        <p:spPr>
          <a:xfrm xmlns:a="http://schemas.openxmlformats.org/drawingml/2006/main">
            <a:off x="742950" y="5476875"/>
            <a:ext cx="10115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88">
                <a:solidFill>
                  <a:srgbClr val="111111"/>
                </a:solidFill>
                <a:latin typeface="Times New Roman"/>
                <a:ea typeface="Times New Roman"/>
                <a:cs typeface="Times New Roman"/>
              </a:defRPr>
            </a:defPPr>
          </a:lstStyle>
          <a:p xmlns:a="http://schemas.openxmlformats.org/drawingml/2006/main">
            <a:pPr>
              <a:defRPr sz="1388">
                <a:solidFill>
                  <a:srgbClr val="111111"/>
                </a:solidFill>
                <a:latin typeface="Times New Roman"/>
                <a:ea typeface="Times New Roman"/>
                <a:cs typeface="Times New Roman"/>
              </a:defRPr>
            </a:pPr>
            <a:r>
              <a:rPr sz="1388">
                <a:solidFill>
                  <a:srgbClr val="111111"/>
                </a:solidFill>
                <a:latin typeface="Times New Roman"/>
                <a:ea typeface="Times New Roman"/>
                <a:cs typeface="Times New Roman"/>
              </a:rPr>
              <a:t>SFT 达到预期目标：回复格式明显改善，能够生成环境可解析的 &lt;guess&gt; 字段。</a:t>
            </a:r>
          </a:p>
          <a:p xmlns:a="http://schemas.openxmlformats.org/drawingml/2006/main">
            <a:pPr>
              <a:defRPr sz="1388">
                <a:solidFill>
                  <a:srgbClr val="111111"/>
                </a:solidFill>
                <a:latin typeface="Times New Roman"/>
                <a:ea typeface="Times New Roman"/>
                <a:cs typeface="Times New Roman"/>
              </a:defRPr>
            </a:pPr>
            <a:r>
              <a:rPr sz="1388">
                <a:solidFill>
                  <a:srgbClr val="111111"/>
                </a:solidFill>
                <a:latin typeface="Times New Roman"/>
                <a:ea typeface="Times New Roman"/>
                <a:cs typeface="Times New Roman"/>
              </a:rPr>
              <a:t>策略提升仍需 RL：本例 correct_answer 仍为 0，猜词策略尚未稳定。</a:t>
            </a:r>
          </a:p>
          <a:p xmlns:a="http://schemas.openxmlformats.org/drawingml/2006/main">
            <a:pPr>
              <a:defRPr sz="1388">
                <a:solidFill>
                  <a:srgbClr val="111111"/>
                </a:solidFill>
                <a:latin typeface="Times New Roman"/>
                <a:ea typeface="Times New Roman"/>
                <a:cs typeface="Times New Roman"/>
              </a:defRPr>
            </a:pPr>
            <a:r>
              <a:rPr sz="1388">
                <a:solidFill>
                  <a:srgbClr val="111111"/>
                </a:solidFill>
                <a:latin typeface="Times New Roman"/>
                <a:ea typeface="Times New Roman"/>
                <a:cs typeface="Times New Roman"/>
              </a:rPr>
              <a:t>下一步执行多轮强化学习（RL），利用 Wordle 逐轮 G/Y/X 反馈进行策略优化。</a:t>
            </a:r>
          </a:p>
        </p:txBody>
      </p:sp>
    </p:spTree>
    <p:extLst>
      <p:ext uri="{BB962C8B-B14F-4D97-AF65-F5344CB8AC3E}">
        <p14:creationId xmlns:p14="http://schemas.microsoft.com/office/powerpoint/2010/main" val="425976907"/>
      </p:ext>
    </p:extLst>
  </p:cSld>
</p:sld>
</file>

<file path=ppt/tags/tag1.xml><?xml version="1.0" encoding="utf-8"?>
<p:tagLst xmlns:p="http://schemas.openxmlformats.org/presentationml/2006/main">
  <p:tag name="resource_record_key" val="{&quot;10&quot;:[50059560,5005917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9144</Words>
  <Application>WPS 演示</Application>
  <PresentationFormat>Converted Presentation</PresentationFormat>
  <Paragraphs>1122</Paragraphs>
  <Slides>33</Slides>
  <Notes>33</Notes>
  <HiddenSlides>0</HiddenSlides>
  <MMClips>0</MMClips>
  <ScaleCrop>false</ScaleCrop>
  <HeadingPairs>
    <vt:vector size="6" baseType="variant">
      <vt:variant>
        <vt:lpstr>已用的字体</vt:lpstr>
      </vt:variant>
      <vt:variant>
        <vt:i4>19</vt:i4>
      </vt:variant>
      <vt:variant>
        <vt:lpstr>主题</vt:lpstr>
      </vt:variant>
      <vt:variant>
        <vt:i4>4</vt:i4>
      </vt:variant>
      <vt:variant>
        <vt:lpstr>幻灯片标题</vt:lpstr>
      </vt:variant>
      <vt:variant>
        <vt:i4>33</vt:i4>
      </vt:variant>
    </vt:vector>
  </HeadingPairs>
  <TitlesOfParts>
    <vt:vector size="56" baseType="lpstr">
      <vt:lpstr>Arial</vt:lpstr>
      <vt:lpstr>宋体</vt:lpstr>
      <vt:lpstr>Wingdings</vt:lpstr>
      <vt:lpstr>Times New Roman</vt:lpstr>
      <vt:lpstr>微软雅黑</vt:lpstr>
      <vt:lpstr>方正雅意黑 GB18030L2</vt:lpstr>
      <vt:lpstr>Times New Roman</vt:lpstr>
      <vt:lpstr>Arial</vt:lpstr>
      <vt:lpstr>微软雅黑</vt:lpstr>
      <vt:lpstr>汉仪书宋二KW</vt:lpstr>
      <vt:lpstr>宋体</vt:lpstr>
      <vt:lpstr>Arial Unicode MS</vt:lpstr>
      <vt:lpstr>Consolas</vt:lpstr>
      <vt:lpstr>等线</vt:lpstr>
      <vt:lpstr>汉仪中等线KW</vt:lpstr>
      <vt:lpstr>Thonburi</vt:lpstr>
      <vt:lpstr>Consolas</vt:lpstr>
      <vt:lpstr>微软雅黑</vt:lpstr>
      <vt:lpstr>苹方-简</vt:lpstr>
      <vt:lpstr>Office 主题​​</vt:lpstr>
      <vt:lpstr>ChatGPT</vt:lpstr>
      <vt:lpstr>1_ChatGPT</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训练配置与基线训练</vt:lpstr>
      <vt:lpstr>训练配置与基线训练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Crush</cp:lastModifiedBy>
  <cp:revision>54</cp:revision>
  <dcterms:created xsi:type="dcterms:W3CDTF">2026-09-22T07:43:47Z</dcterms:created>
  <dcterms:modified xsi:type="dcterms:W3CDTF">2026-09-22T07:43:47Z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F817FAF65BFCDA0A36A29E6A0D093824_42</vt:lpwstr>
  </property>
  <property fmtid="{D5CDD505-2E9C-101B-9397-08002B2CF9AE}" pid="3" name="KSOProductBuildVer">
    <vt:lpwstr>2052-12.1.26055.26055</vt:lpwstr>
  </property>
</Properties>
</file>