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1008.xml" ContentType="application/vnd.openxmlformats-officedocument.presentationml.slide+xml"/>
  <Override PartName="/ppt/slides/slide1009.xml" ContentType="application/vnd.openxmlformats-officedocument.presentationml.slide+xml"/>
  <Override PartName="/ppt/slides/slide1010.xml" ContentType="application/vnd.openxmlformats-officedocument.presentationml.slide+xml"/>
  <Override PartName="/ppt/slides/slide1011.xml" ContentType="application/vnd.openxmlformats-officedocument.presentationml.slide+xml"/>
  <Override PartName="/ppt/slides/slide1012.xml" ContentType="application/vnd.openxmlformats-officedocument.presentationml.slide+xml"/>
  <Override PartName="/ppt/slides/slide1013.xml" ContentType="application/vnd.openxmlformats-officedocument.presentationml.slide+xml"/>
  <Override PartName="/ppt/slides/slide1014.xml" ContentType="application/vnd.openxmlformats-officedocument.presentationml.slide+xml"/>
  <Override PartName="/ppt/slides/slide1015.xml" ContentType="application/vnd.openxmlformats-officedocument.presentationml.slide+xml"/>
  <Override PartName="/ppt/slides/slide1016.xml" ContentType="application/vnd.openxmlformats-officedocument.presentationml.slide+xml"/>
  <Override PartName="/ppt/slides/slide1017.xml" ContentType="application/vnd.openxmlformats-officedocument.presentationml.slide+xml"/>
  <Override PartName="/ppt/slides/slide1018.xml" ContentType="application/vnd.openxmlformats-officedocument.presentationml.slide+xml"/>
  <Override PartName="/ppt/slides/slide1019.xml" ContentType="application/vnd.openxmlformats-officedocument.presentationml.slide+xml"/>
  <Override PartName="/ppt/slides/slide1020.xml" ContentType="application/vnd.openxmlformats-officedocument.presentationml.slide+xml"/>
  <Override PartName="/ppt/slides/slide1021.xml" ContentType="application/vnd.openxmlformats-officedocument.presentationml.slide+xml"/>
  <Override PartName="/ppt/slides/slide1022.xml" ContentType="application/vnd.openxmlformats-officedocument.presentationml.slide+xml"/>
  <Override PartName="/ppt/slides/slide1023.xml" ContentType="application/vnd.openxmlformats-officedocument.presentationml.slide+xml"/>
  <Override PartName="/ppt/slides/slide1024.xml" ContentType="application/vnd.openxmlformats-officedocument.presentationml.slide+xml"/>
  <Override PartName="/ppt/slides/slide1025.xml" ContentType="application/vnd.openxmlformats-officedocument.presentationml.slide+xml"/>
  <Override PartName="/ppt/slides/slide1026.xml" ContentType="application/vnd.openxmlformats-officedocument.presentationml.slide+xml"/>
  <Override PartName="/ppt/slides/slide1027.xml" ContentType="application/vnd.openxmlformats-officedocument.presentationml.slide+xml"/>
  <Override PartName="/ppt/slides/slide1028.xml" ContentType="application/vnd.openxmlformats-officedocument.presentationml.slide+xml"/>
  <Override PartName="/ppt/slides/slide1029.xml" ContentType="application/vnd.openxmlformats-officedocument.presentationml.slide+xml"/>
  <Override PartName="/ppt/slides/slide1030.xml" ContentType="application/vnd.openxmlformats-officedocument.presentationml.slide+xml"/>
  <Override PartName="/ppt/slides/slide1031.xml" ContentType="application/vnd.openxmlformats-officedocument.presentationml.slide+xml"/>
  <Override PartName="/ppt/slides/slide1032.xml" ContentType="application/vnd.openxmlformats-officedocument.presentationml.slide+xml"/>
  <Override PartName="/ppt/slides/slide103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63" r:id="rId4"/>
    <p:sldMasterId id="2147483665" r:id="rId5"/>
  </p:sldMasterIdLst>
  <p:sldIdLst>
    <p:sldId id="256" r:id="rIdAssemble1"/>
    <p:sldId id="257" r:id="rIdAssemble2"/>
    <p:sldId id="258" r:id="rIdAssemble3"/>
    <p:sldId id="259" r:id="rIdAssemble4"/>
    <p:sldId id="260" r:id="rIdAssemble5"/>
    <p:sldId id="261" r:id="rIdAssemble6"/>
    <p:sldId id="262" r:id="rIdAssemble7"/>
    <p:sldId id="263" r:id="rIdAssemble8"/>
    <p:sldId id="264" r:id="rIdAssemble9"/>
    <p:sldId id="265" r:id="rIdAssemble10"/>
    <p:sldId id="266" r:id="rIdAssemble11"/>
    <p:sldId id="267" r:id="rIdAssemble12"/>
    <p:sldId id="268" r:id="rIdAssemble13"/>
    <p:sldId id="269" r:id="rIdAssemble14"/>
    <p:sldId id="270" r:id="rIdAssemble15"/>
    <p:sldId id="271" r:id="rIdAssemble16"/>
    <p:sldId id="272" r:id="rIdAssemble17"/>
    <p:sldId id="273" r:id="rIdAssemble18"/>
    <p:sldId id="274" r:id="rIdAssemble19"/>
    <p:sldId id="275" r:id="rIdAssemble20"/>
    <p:sldId id="276" r:id="rIdAssemble21"/>
    <p:sldId id="277" r:id="rIdAssemble22"/>
    <p:sldId id="278" r:id="rIdAssemble23"/>
    <p:sldId id="279" r:id="rIdAssemble24"/>
    <p:sldId id="280" r:id="rIdAssemble25"/>
    <p:sldId id="281" r:id="rIdAssemble26"/>
    <p:sldId id="282" r:id="rIdAssemble27"/>
    <p:sldId id="283" r:id="rIdAssemble28"/>
    <p:sldId id="284" r:id="rIdAssemble29"/>
    <p:sldId id="285" r:id="rIdAssemble30"/>
    <p:sldId id="286" r:id="rIdAssemble31"/>
    <p:sldId id="287" r:id="rIdAssemble32"/>
    <p:sldId id="288" r:id="rIdAssemble33"/>
  </p:sldIdLst>
  <p:sldSz cx="12192000" cy="6858000"/>
  <p:notesSz cx="6858000" cy="9144000"/>
  <p:custDataLst>
    <p:tags r:id="rId3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 panose="02020503050405090304"/>
        <a:ea typeface="微软雅黑"/>
        <a:cs typeface="Times New Roman" panose="020205030504050903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8" Type="http://schemas.openxmlformats.org/officeDocument/2006/relationships/tags" Target="tags/tag1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Assemble1" Type="http://schemas.openxmlformats.org/officeDocument/2006/relationships/slide" Target="slides/slide1001.xml"/><Relationship Id="rIdAssemble2" Type="http://schemas.openxmlformats.org/officeDocument/2006/relationships/slide" Target="slides/slide1002.xml"/><Relationship Id="rIdAssemble3" Type="http://schemas.openxmlformats.org/officeDocument/2006/relationships/slide" Target="slides/slide1003.xml"/><Relationship Id="rIdAssemble4" Type="http://schemas.openxmlformats.org/officeDocument/2006/relationships/slide" Target="slides/slide1004.xml"/><Relationship Id="rIdAssemble5" Type="http://schemas.openxmlformats.org/officeDocument/2006/relationships/slide" Target="slides/slide1005.xml"/><Relationship Id="rIdAssemble6" Type="http://schemas.openxmlformats.org/officeDocument/2006/relationships/slide" Target="slides/slide1006.xml"/><Relationship Id="rIdAssemble7" Type="http://schemas.openxmlformats.org/officeDocument/2006/relationships/slide" Target="slides/slide1007.xml"/><Relationship Id="rIdAssemble8" Type="http://schemas.openxmlformats.org/officeDocument/2006/relationships/slide" Target="slides/slide1008.xml"/><Relationship Id="rIdAssemble9" Type="http://schemas.openxmlformats.org/officeDocument/2006/relationships/slide" Target="slides/slide1009.xml"/><Relationship Id="rIdAssemble10" Type="http://schemas.openxmlformats.org/officeDocument/2006/relationships/slide" Target="slides/slide1010.xml"/><Relationship Id="rIdAssemble11" Type="http://schemas.openxmlformats.org/officeDocument/2006/relationships/slide" Target="slides/slide1011.xml"/><Relationship Id="rIdAssemble12" Type="http://schemas.openxmlformats.org/officeDocument/2006/relationships/slide" Target="slides/slide1012.xml"/><Relationship Id="rIdAssemble13" Type="http://schemas.openxmlformats.org/officeDocument/2006/relationships/slide" Target="slides/slide1013.xml"/><Relationship Id="rIdAssemble14" Type="http://schemas.openxmlformats.org/officeDocument/2006/relationships/slide" Target="slides/slide1014.xml"/><Relationship Id="rIdAssemble15" Type="http://schemas.openxmlformats.org/officeDocument/2006/relationships/slide" Target="slides/slide1015.xml"/><Relationship Id="rIdAssemble16" Type="http://schemas.openxmlformats.org/officeDocument/2006/relationships/slide" Target="slides/slide1016.xml"/><Relationship Id="rIdAssemble17" Type="http://schemas.openxmlformats.org/officeDocument/2006/relationships/slide" Target="slides/slide1017.xml"/><Relationship Id="rIdAssemble18" Type="http://schemas.openxmlformats.org/officeDocument/2006/relationships/slide" Target="slides/slide1018.xml"/><Relationship Id="rIdAssemble19" Type="http://schemas.openxmlformats.org/officeDocument/2006/relationships/slide" Target="slides/slide1019.xml"/><Relationship Id="rIdAssemble20" Type="http://schemas.openxmlformats.org/officeDocument/2006/relationships/slide" Target="slides/slide1020.xml"/><Relationship Id="rIdAssemble21" Type="http://schemas.openxmlformats.org/officeDocument/2006/relationships/slide" Target="slides/slide1021.xml"/><Relationship Id="rIdAssemble22" Type="http://schemas.openxmlformats.org/officeDocument/2006/relationships/slide" Target="slides/slide1022.xml"/><Relationship Id="rIdAssemble23" Type="http://schemas.openxmlformats.org/officeDocument/2006/relationships/slide" Target="slides/slide1023.xml"/><Relationship Id="rIdAssemble24" Type="http://schemas.openxmlformats.org/officeDocument/2006/relationships/slide" Target="slides/slide1024.xml"/><Relationship Id="rIdAssemble25" Type="http://schemas.openxmlformats.org/officeDocument/2006/relationships/slide" Target="slides/slide1025.xml"/><Relationship Id="rIdAssemble26" Type="http://schemas.openxmlformats.org/officeDocument/2006/relationships/slide" Target="slides/slide1026.xml"/><Relationship Id="rIdAssemble27" Type="http://schemas.openxmlformats.org/officeDocument/2006/relationships/slide" Target="slides/slide1027.xml"/><Relationship Id="rIdAssemble28" Type="http://schemas.openxmlformats.org/officeDocument/2006/relationships/slide" Target="slides/slide1028.xml"/><Relationship Id="rIdAssemble29" Type="http://schemas.openxmlformats.org/officeDocument/2006/relationships/slide" Target="slides/slide1029.xml"/><Relationship Id="rIdAssemble30" Type="http://schemas.openxmlformats.org/officeDocument/2006/relationships/slide" Target="slides/slide1030.xml"/><Relationship Id="rIdAssemble31" Type="http://schemas.openxmlformats.org/officeDocument/2006/relationships/slide" Target="slides/slide1031.xml"/><Relationship Id="rIdAssemble32" Type="http://schemas.openxmlformats.org/officeDocument/2006/relationships/slide" Target="slides/slide1032.xml"/><Relationship Id="rIdAssemble33" Type="http://schemas.openxmlformats.org/officeDocument/2006/relationships/slide" Target="slides/slide10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 algn="ctr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 algn="ctr">
              <a:buNone/>
              <a:defRPr sz="1800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 algn="ctr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 algn="ctr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 algn="ctr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 algn="ctr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 algn="ctr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 algn="ctr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>
              <a:buNone/>
              <a:defRPr sz="2000" b="1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>
              <a:buNone/>
              <a:defRPr sz="1800" b="1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>
              <a:buNone/>
              <a:defRPr sz="2000" b="1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>
              <a:buNone/>
              <a:defRPr sz="1800" b="1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>
              <a:buNone/>
              <a:defRPr sz="1600" b="1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>
              <a:buNone/>
              <a:defRPr sz="2800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>
              <a:buNone/>
              <a:defRPr sz="2400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>
              <a:buNone/>
              <a:defRPr sz="1400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>
              <a:buNone/>
              <a:defRPr sz="1200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>
              <a:buNone/>
              <a:defRPr sz="2800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>
              <a:buNone/>
              <a:defRPr sz="2400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>
              <a:buNone/>
              <a:defRPr sz="2000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503050405090304"/>
                <a:ea typeface="微软雅黑"/>
                <a:cs typeface="Times New Roman" panose="02020503050405090304"/>
              </a:defRPr>
            </a:lvl1pPr>
            <a:lvl2pPr marL="457200" indent="0">
              <a:buNone/>
              <a:defRPr sz="1400">
                <a:latin typeface="Times New Roman" panose="02020503050405090304"/>
                <a:ea typeface="微软雅黑"/>
                <a:cs typeface="Times New Roman" panose="02020503050405090304"/>
              </a:defRPr>
            </a:lvl2pPr>
            <a:lvl3pPr marL="914400" indent="0">
              <a:buNone/>
              <a:defRPr sz="1200">
                <a:latin typeface="Times New Roman" panose="02020503050405090304"/>
                <a:ea typeface="微软雅黑"/>
                <a:cs typeface="Times New Roman" panose="02020503050405090304"/>
              </a:defRPr>
            </a:lvl3pPr>
            <a:lvl4pPr marL="13716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4pPr>
            <a:lvl5pPr marL="18288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5pPr>
            <a:lvl6pPr marL="22860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6pPr>
            <a:lvl7pPr marL="27432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7pPr>
            <a:lvl8pPr marL="32004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8pPr>
            <a:lvl9pPr marL="3657600" indent="0">
              <a:buNone/>
              <a:defRPr sz="1000">
                <a:latin typeface="Times New Roman" panose="02020503050405090304"/>
                <a:ea typeface="微软雅黑"/>
                <a:cs typeface="Times New Roman" panose="02020503050405090304"/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'1.0' encoding='UTF-8' standalone='yes'?>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'1.0' encoding='UTF-8' standalone='yes'?>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1pPr>
      <a:lvl2pPr marL="4572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2pPr>
      <a:lvl3pPr marL="9144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3pPr>
      <a:lvl4pPr marL="13716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4pPr>
      <a:lvl5pPr marL="18288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5pPr>
      <a:lvl6pPr marL="22860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6pPr>
      <a:lvl7pPr marL="27432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7pPr>
      <a:lvl8pPr marL="32004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8pPr>
      <a:lvl9pPr marL="3657600" algn="l">
        <a:buNone/>
        <a:defRPr sz="18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352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1pPr>
    </p:titleStyle>
    <p:bodyStyle>
      <a:lvl1pPr marL="182880" indent="-182880" algn="l">
        <a:lnSpc>
          <a:spcPct val="90000"/>
        </a:lnSpc>
        <a:spcBef>
          <a:spcPts val="800"/>
        </a:spcBef>
        <a:buChar char="•"/>
        <a:defRPr sz="22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1pPr>
      <a:lvl2pPr marL="548640" indent="-182880" algn="l">
        <a:lnSpc>
          <a:spcPct val="90000"/>
        </a:lnSpc>
        <a:spcBef>
          <a:spcPts val="400"/>
        </a:spcBef>
        <a:buChar char="•"/>
        <a:defRPr sz="192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2pPr>
      <a:lvl3pPr marL="914400" indent="-182880" algn="l">
        <a:lnSpc>
          <a:spcPct val="90000"/>
        </a:lnSpc>
        <a:spcBef>
          <a:spcPts val="400"/>
        </a:spcBef>
        <a:buChar char="•"/>
        <a:defRPr sz="160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3pPr>
      <a:lvl4pPr marL="12801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4pPr>
      <a:lvl5pPr marL="164592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5pPr>
      <a:lvl6pPr marL="201168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6pPr>
      <a:lvl7pPr marL="237744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7pPr>
      <a:lvl8pPr marL="274320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8pPr>
      <a:lvl9pPr marL="31089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9pPr>
    </p:bodyStyle>
    <p:otherStyle>
      <a:lvl1pPr marL="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1pPr>
      <a:lvl2pPr marL="36576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2pPr>
      <a:lvl3pPr marL="73152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3pPr>
      <a:lvl4pPr marL="109728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4pPr>
      <a:lvl5pPr marL="146304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5pPr>
      <a:lvl6pPr marL="182880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6pPr>
      <a:lvl7pPr marL="219456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7pPr>
      <a:lvl8pPr marL="256032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8pPr>
      <a:lvl9pPr marL="2926080" algn="l">
        <a:buNone/>
        <a:defRPr sz="1440">
          <a:solidFill>
            <a:schemeClr val="tx1"/>
          </a:solidFill>
          <a:latin typeface="Times New Roman" panose="02020503050405090304"/>
          <a:ea typeface="微软雅黑"/>
          <a:cs typeface="Times New Roman" panose="020205030504050903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352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82880" indent="-182880" algn="l">
        <a:lnSpc>
          <a:spcPct val="90000"/>
        </a:lnSpc>
        <a:spcBef>
          <a:spcPts val="800"/>
        </a:spcBef>
        <a:buChar char="•"/>
        <a:defRPr sz="2240">
          <a:solidFill>
            <a:schemeClr val="tx1"/>
          </a:solidFill>
          <a:latin typeface="+mn-lt"/>
          <a:ea typeface="+mn-lt"/>
          <a:cs typeface="+mn-lt"/>
        </a:defRPr>
      </a:lvl1pPr>
      <a:lvl2pPr marL="548640" indent="-182880" algn="l">
        <a:lnSpc>
          <a:spcPct val="90000"/>
        </a:lnSpc>
        <a:spcBef>
          <a:spcPts val="400"/>
        </a:spcBef>
        <a:buChar char="•"/>
        <a:defRPr sz="1920">
          <a:solidFill>
            <a:schemeClr val="tx1"/>
          </a:solidFill>
          <a:latin typeface="+mn-lt"/>
          <a:ea typeface="+mn-lt"/>
          <a:cs typeface="+mn-lt"/>
        </a:defRPr>
      </a:lvl2pPr>
      <a:lvl3pPr marL="914400" indent="-182880" algn="l">
        <a:lnSpc>
          <a:spcPct val="90000"/>
        </a:lnSpc>
        <a:spcBef>
          <a:spcPts val="400"/>
        </a:spcBef>
        <a:buChar char="•"/>
        <a:defRPr sz="1600">
          <a:solidFill>
            <a:schemeClr val="tx1"/>
          </a:solidFill>
          <a:latin typeface="+mn-lt"/>
          <a:ea typeface="+mn-lt"/>
          <a:cs typeface="+mn-lt"/>
        </a:defRPr>
      </a:lvl3pPr>
      <a:lvl4pPr marL="12801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4pPr>
      <a:lvl5pPr marL="164592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5pPr>
      <a:lvl6pPr marL="201168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6pPr>
      <a:lvl7pPr marL="237744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7pPr>
      <a:lvl8pPr marL="274320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8pPr>
      <a:lvl9pPr marL="3108960" indent="-182880" algn="l">
        <a:lnSpc>
          <a:spcPct val="90000"/>
        </a:lnSpc>
        <a:spcBef>
          <a:spcPts val="400"/>
        </a:spcBef>
        <a:buChar char="•"/>
        <a:defRPr sz="144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1pPr>
      <a:lvl2pPr marL="36576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2pPr>
      <a:lvl3pPr marL="73152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3pPr>
      <a:lvl4pPr marL="109728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4pPr>
      <a:lvl5pPr marL="146304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5pPr>
      <a:lvl6pPr marL="182880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6pPr>
      <a:lvl7pPr marL="219456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7pPr>
      <a:lvl8pPr marL="256032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8pPr>
      <a:lvl9pPr marL="2926080" algn="l">
        <a:buNone/>
        <a:defRPr sz="144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00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code.com/cann" TargetMode="External"/><Relationship Id="rId1" Type="http://schemas.openxmlformats.org/officeDocument/2006/relationships/image" Target="../media/image1.jpeg"/></Relationships>
</file>

<file path=ppt/slides/_rels/slide100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03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0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code.com/cann" TargetMode="External"/><Relationship Id="rId1" Type="http://schemas.openxmlformats.org/officeDocument/2006/relationships/image" Target="../media/image3.png"/></Relationships>
</file>

<file path=ppt/slides/_rels/slide1005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06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07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08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09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0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1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code.com/cann" TargetMode="External"/><Relationship Id="rId1" Type="http://schemas.openxmlformats.org/officeDocument/2006/relationships/image" Target="../media/image3.png"/></Relationships>
</file>

<file path=ppt/slides/_rels/slide1012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3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4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5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6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7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1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1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code.com/cann" TargetMode="External"/><Relationship Id="rId1" Type="http://schemas.openxmlformats.org/officeDocument/2006/relationships/image" Target="../media/image3.png"/></Relationships>
</file>

<file path=ppt/slides/_rels/slide1020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1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2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3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4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5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2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gitcode.com/cann" TargetMode="External"/><Relationship Id="rId1" Type="http://schemas.openxmlformats.org/officeDocument/2006/relationships/image" Target="../media/image3.png"/></Relationships>
</file>

<file path=ppt/slides/_rels/slide1028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29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30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31.xml.rels><?xml version='1.0' encoding='UTF-8' standalone='yes'?>
<Relationships xmlns="http://schemas.openxmlformats.org/package/2006/relationships"><Relationship Id="rIdAssemble1" Type="http://schemas.openxmlformats.org/officeDocument/2006/relationships/image" Target="../media/image2.png"/><Relationship Id="rIdAssemble2" Type="http://schemas.openxmlformats.org/officeDocument/2006/relationships/slideLayout" Target="../slideLayouts/slideLayout13.xml"/></Relationships>
</file>

<file path=ppt/slides/_rels/slide103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33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hyperlink" Target="https://gitcode.com/cann" TargetMode="External"/><Relationship Id="rId1" Type="http://schemas.openxmlformats.org/officeDocument/2006/relationships/image" Target="../media/image3.png"/></Relationships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5"/>
          <p:cNvSpPr>
            <a:spLocks noGrp="1"/>
          </p:cNvSpPr>
          <p:nvPr/>
        </p:nvSpPr>
        <p:spPr>
          <a:xfrm>
            <a:off x="620201" y="6130454"/>
            <a:ext cx="87630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bg1">
                    <a:lumMod val="50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  <a:hlinkClick r:id="rId2"/>
              </a:rPr>
              <a:t>https://gitcode.com/cann</a:t>
            </a:r>
            <a:endParaRPr sz="1000">
              <a:solidFill>
                <a:schemeClr val="bg1">
                  <a:lumMod val="50000"/>
                </a:scheme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3" name="文本框 1"/>
          <p:cNvSpPr>
            <a:spLocks noGrp="1"/>
          </p:cNvSpPr>
          <p:nvPr/>
        </p:nvSpPr>
        <p:spPr>
          <a:xfrm>
            <a:off x="1604694" y="1399429"/>
            <a:ext cx="5211445" cy="3353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latin typeface="Times New Roman" panose="02020503050405090304"/>
                <a:ea typeface="微软雅黑"/>
                <a:cs typeface="Times New Roman" panose="02020503050405090304"/>
              </a:rPr>
              <a:t>CANN大模型训练系列</a:t>
            </a:r>
            <a:endParaRPr sz="40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ctr"/>
            <a:r>
              <a:rPr sz="4000" b="1">
                <a:latin typeface="Times New Roman" panose="02020503050405090304"/>
                <a:ea typeface="微软雅黑"/>
                <a:cs typeface="Times New Roman" panose="02020503050405090304"/>
              </a:rPr>
              <a:t>RL强化学习（中阶）</a:t>
            </a:r>
            <a:endParaRPr sz="40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ctr"/>
            <a:endParaRPr sz="22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ctr"/>
            <a:endParaRPr sz="22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ctr"/>
            <a:endParaRPr sz="22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ctr"/>
            <a:endParaRPr sz="22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l"/>
            <a:endParaRPr sz="2200" b="1"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 algn="ctr"/>
            <a:endParaRPr sz="2200" b="1"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609600" y="320040"/>
            <a:ext cx="95250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课程目标</a:t>
            </a:r>
            <a:endParaRPr sz="27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5" name="intro"/>
          <p:cNvSpPr>
            <a:spLocks noGrp="1"/>
          </p:cNvSpPr>
          <p:nvPr/>
        </p:nvSpPr>
        <p:spPr>
          <a:xfrm>
            <a:off x="742950" y="1104900"/>
            <a:ext cx="107061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0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围绕同一个 Wordle 任务，看懂后端分工，并完成一次有依据的运行验证。</a:t>
            </a:r>
            <a:endParaRPr sz="200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goal-0-num"/>
          <p:cNvSpPr>
            <a:spLocks noGrp="1"/>
          </p:cNvSpPr>
          <p:nvPr/>
        </p:nvSpPr>
        <p:spPr>
          <a:xfrm>
            <a:off x="742950" y="1933575"/>
            <a:ext cx="571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E60012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325" b="1">
                <a:solidFill>
                  <a:srgbClr val="E60012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01</a:t>
            </a:r>
            <a:endParaRPr sz="2325" b="1">
              <a:solidFill>
                <a:srgbClr val="E60012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goal-0-head"/>
          <p:cNvSpPr>
            <a:spLocks noGrp="1"/>
          </p:cNvSpPr>
          <p:nvPr/>
        </p:nvSpPr>
        <p:spPr>
          <a:xfrm>
            <a:off x="1514475" y="1876425"/>
            <a:ext cx="9953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说清训练分工</a:t>
            </a:r>
            <a:endParaRPr sz="202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goal-0-body"/>
          <p:cNvSpPr>
            <a:spLocks noGrp="1"/>
          </p:cNvSpPr>
          <p:nvPr/>
        </p:nvSpPr>
        <p:spPr>
          <a:xfrm>
            <a:off x="1514475" y="2286000"/>
            <a:ext cx="9953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区分 Actor、Ref 与 vLLM，追踪数据和权重的流向。</a:t>
            </a:r>
            <a:endParaRPr sz="180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goal-1-num"/>
          <p:cNvSpPr>
            <a:spLocks noGrp="1"/>
          </p:cNvSpPr>
          <p:nvPr/>
        </p:nvSpPr>
        <p:spPr>
          <a:xfrm>
            <a:off x="742950" y="2828925"/>
            <a:ext cx="571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357AE8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325" b="1">
                <a:solidFill>
                  <a:srgbClr val="357AE8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02</a:t>
            </a:r>
            <a:endParaRPr sz="2325" b="1">
              <a:solidFill>
                <a:srgbClr val="357AE8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0" name="goal-1-head"/>
          <p:cNvSpPr>
            <a:spLocks noGrp="1"/>
          </p:cNvSpPr>
          <p:nvPr/>
        </p:nvSpPr>
        <p:spPr>
          <a:xfrm>
            <a:off x="1514475" y="2771775"/>
            <a:ext cx="9953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读懂显存与变长</a:t>
            </a:r>
            <a:endParaRPr sz="202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1" name="goal-1-body"/>
          <p:cNvSpPr>
            <a:spLocks noGrp="1"/>
          </p:cNvSpPr>
          <p:nvPr/>
        </p:nvSpPr>
        <p:spPr>
          <a:xfrm>
            <a:off x="1514475" y="3181350"/>
            <a:ext cx="9953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理解参数分片、CPU 搬移、激活重算与 token 打包。</a:t>
            </a:r>
            <a:endParaRPr sz="180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2" name="goal-2-num"/>
          <p:cNvSpPr>
            <a:spLocks noGrp="1"/>
          </p:cNvSpPr>
          <p:nvPr/>
        </p:nvSpPr>
        <p:spPr>
          <a:xfrm>
            <a:off x="742950" y="3724275"/>
            <a:ext cx="571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E60012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325" b="1">
                <a:solidFill>
                  <a:srgbClr val="E60012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03</a:t>
            </a:r>
            <a:endParaRPr sz="2325" b="1">
              <a:solidFill>
                <a:srgbClr val="E60012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3" name="goal-2-head"/>
          <p:cNvSpPr>
            <a:spLocks noGrp="1"/>
          </p:cNvSpPr>
          <p:nvPr/>
        </p:nvSpPr>
        <p:spPr>
          <a:xfrm>
            <a:off x="1514475" y="3667125"/>
            <a:ext cx="9953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跑通三轮训练</a:t>
            </a:r>
            <a:endParaRPr sz="202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4" name="goal-2-body"/>
          <p:cNvSpPr>
            <a:spLocks noGrp="1"/>
          </p:cNvSpPr>
          <p:nvPr/>
        </p:nvSpPr>
        <p:spPr>
          <a:xfrm>
            <a:off x="1514475" y="4076700"/>
            <a:ext cx="9953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检查命令和阶段日志，区分 RL step 与参数更新。</a:t>
            </a:r>
            <a:endParaRPr sz="180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5" name="goal-3-num"/>
          <p:cNvSpPr>
            <a:spLocks noGrp="1"/>
          </p:cNvSpPr>
          <p:nvPr/>
        </p:nvSpPr>
        <p:spPr>
          <a:xfrm>
            <a:off x="742950" y="4619625"/>
            <a:ext cx="571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325" b="1">
                <a:solidFill>
                  <a:srgbClr val="357AE8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325" b="1">
                <a:solidFill>
                  <a:srgbClr val="357AE8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04</a:t>
            </a:r>
            <a:endParaRPr sz="2325" b="1">
              <a:solidFill>
                <a:srgbClr val="357AE8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6" name="goal-3-head"/>
          <p:cNvSpPr>
            <a:spLocks noGrp="1"/>
          </p:cNvSpPr>
          <p:nvPr/>
        </p:nvSpPr>
        <p:spPr>
          <a:xfrm>
            <a:off x="1514475" y="4562475"/>
            <a:ext cx="9953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02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判断切换收益</a:t>
            </a:r>
            <a:endParaRPr sz="202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7" name="goal-3-body"/>
          <p:cNvSpPr>
            <a:spLocks noGrp="1"/>
          </p:cNvSpPr>
          <p:nvPr/>
        </p:nvSpPr>
        <p:spPr>
          <a:xfrm>
            <a:off x="1514475" y="4972050"/>
            <a:ext cx="9953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分别检查链路、阶段性能、任务质量与恢复能力。</a:t>
            </a:r>
            <a:endParaRPr sz="180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8" name="key"/>
          <p:cNvSpPr>
            <a:spLocks noGrp="1"/>
          </p:cNvSpPr>
          <p:nvPr/>
        </p:nvSpPr>
        <p:spPr>
          <a:xfrm>
            <a:off x="742950" y="5857875"/>
            <a:ext cx="10706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E60012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E60012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先看图理解机制，再对照配置与日志完成实验。</a:t>
            </a:r>
            <a:endParaRPr sz="1800" b="1">
              <a:solidFill>
                <a:srgbClr val="E60012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为什么已经能训练还要换后端？">
            <a:extLst xmlns:a="http://schemas.openxmlformats.org/drawingml/2006/main">
              <a:ext uri="{FF2B5EF4-FFF2-40B4-BE49-F238E27FC236}">
                <a16:creationId xmlns:a16="http://schemas.microsoft.com/office/drawing/2014/main" id="{F580FC06-EFFB-445E-9DF7-2005E1C4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为什么已经能训练还要换后端？</a:t>
            </a:r>
          </a:p>
        </p:txBody>
      </p:sp>
      <p:sp>
        <p:nvSpPr>
          <p:cNvPr id="5" name="同一个 Wordle 任务，为什么还要研究执行后端？">
            <a:extLst xmlns:a="http://schemas.openxmlformats.org/drawingml/2006/main">
              <a:ext uri="{FF2B5EF4-FFF2-40B4-BE49-F238E27FC236}">
                <a16:creationId xmlns:a16="http://schemas.microsoft.com/office/drawing/2014/main" id="{DFC8FD72-F5BC-43C0-8291-3CA17D45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同一个 Wordle 任务，为什么还要研究执行后端？</a:t>
            </a:r>
          </a:p>
        </p:txBody>
      </p:sp>
      <p:sp>
        <p:nvSpPr>
          <p:cNvPr id="6" name="Qwen3 玩 Wordle 任务与评分规则不变">
            <a:extLst xmlns:a="http://schemas.openxmlformats.org/drawingml/2006/main">
              <a:ext uri="{FF2B5EF4-FFF2-40B4-BE49-F238E27FC236}">
                <a16:creationId xmlns:a16="http://schemas.microsoft.com/office/drawing/2014/main" id="{C21930B6-0404-4DE2-914C-BAF95B68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098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6666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Qwen3 玩 Wordle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任务与评分规则不变</a:t>
            </a:r>
          </a:p>
        </p:txBody>
      </p:sp>
      <p:sp>
        <p:nvSpPr>
          <p:cNvPr id="7" name="初阶训练后端">
            <a:extLst xmlns:a="http://schemas.openxmlformats.org/drawingml/2006/main">
              <a:ext uri="{FF2B5EF4-FFF2-40B4-BE49-F238E27FC236}">
                <a16:creationId xmlns:a16="http://schemas.microsoft.com/office/drawing/2014/main" id="{1F75AB79-3DC7-4B7D-83E5-6386FE70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6666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初阶训练后端</a:t>
            </a:r>
          </a:p>
        </p:txBody>
      </p:sp>
      <p:sp>
        <p:nvSpPr>
          <p:cNvPr id="8" name="TorchTitan-NPU">
            <a:extLst xmlns:a="http://schemas.openxmlformats.org/drawingml/2006/main">
              <a:ext uri="{FF2B5EF4-FFF2-40B4-BE49-F238E27FC236}">
                <a16:creationId xmlns:a16="http://schemas.microsoft.com/office/drawing/2014/main" id="{543055E0-6878-4919-B205-299A0F32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95725"/>
            <a:ext cx="276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</a:t>
            </a:r>
          </a:p>
        </p:txBody>
      </p:sp>
      <p:cxnSp>
        <p:nvCxnSpPr>
          <p:cNvPr id="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667125" y="2343150"/>
            <a:ext cx="1095375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67125" y="3333750"/>
            <a:ext cx="1095375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1" name="已经能完成训练">
            <a:extLst xmlns:a="http://schemas.openxmlformats.org/drawingml/2006/main">
              <a:ext uri="{FF2B5EF4-FFF2-40B4-BE49-F238E27FC236}">
                <a16:creationId xmlns:a16="http://schemas.microsoft.com/office/drawing/2014/main" id="{851236DB-1481-4DCB-AB17-29EF7856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已经能完成训练</a:t>
            </a:r>
          </a:p>
        </p:txBody>
      </p:sp>
      <p:sp>
        <p:nvSpPr>
          <p:cNvPr id="12" name="模型更大：分摊训练状态&#10;轨迹更长：优化变长计算&#10;设备有限：管理显存驻留">
            <a:extLst xmlns:a="http://schemas.openxmlformats.org/drawingml/2006/main">
              <a:ext uri="{FF2B5EF4-FFF2-40B4-BE49-F238E27FC236}">
                <a16:creationId xmlns:a16="http://schemas.microsoft.com/office/drawing/2014/main" id="{9961DB16-C7DC-40E9-B00D-E9FA942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352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模型更大：分摊训练状态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轨迹更长：优化变长计算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设备有限：管理显存驻留</a:t>
            </a:r>
          </a:p>
        </p:txBody>
      </p:sp>
      <p:sp>
        <p:nvSpPr>
          <p:cNvPr id="13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D3BCF6BE-E9A5-406E-9A69-9147CF12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266950"/>
            <a:ext cx="2952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</a:ln>
        </p:spPr>
      </p:sp>
      <p:sp>
        <p:nvSpPr>
          <p:cNvPr id="14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E532A4F2-4702-47BD-B0AD-4B32BCE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71950"/>
            <a:ext cx="2952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5" name="改变执行方式后，再测容量、速度与任务表现。">
            <a:extLst xmlns:a="http://schemas.openxmlformats.org/drawingml/2006/main">
              <a:ext uri="{FF2B5EF4-FFF2-40B4-BE49-F238E27FC236}">
                <a16:creationId xmlns:a16="http://schemas.microsoft.com/office/drawing/2014/main" id="{FB6689CB-6670-4526-B180-D0AE7FDE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05400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改变执行方式后，再测容量、速度与任务表现。</a:t>
            </a:r>
          </a:p>
        </p:txBody>
      </p:sp>
      <p:sp>
        <p:nvSpPr>
          <p:cNvPr id="16" name="能运行是起点；是否值得换，要用同条件实验回答。">
            <a:extLst xmlns:a="http://schemas.openxmlformats.org/drawingml/2006/main">
              <a:ext uri="{FF2B5EF4-FFF2-40B4-BE49-F238E27FC236}">
                <a16:creationId xmlns:a16="http://schemas.microsoft.com/office/drawing/2014/main" id="{B6A777BF-D425-422D-B6E9-7B8B2C37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能运行是起点；是否值得换，要用同条件实验回答。</a:t>
            </a:r>
          </a:p>
        </p:txBody>
      </p:sp>
    </p:spTree>
    <p:extLst>
      <p:ext uri="{BB962C8B-B14F-4D97-AF65-F5344CB8AC3E}">
        <p14:creationId xmlns:p14="http://schemas.microsoft.com/office/powerpoint/2010/main" val="435847496"/>
      </p:ext>
    </p:extLst>
  </p:cSld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9"/>
          <p:cNvSpPr>
            <a:spLocks noGrp="1"/>
          </p:cNvSpPr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u="none" cap="none">
                <a:ln>
                  <a:noFill/>
                </a:ln>
                <a:solidFill>
                  <a:srgbClr val="DDDDDD">
                    <a:lumMod val="50000"/>
                  </a:srgb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RL 中阶课程</a:t>
            </a:r>
            <a:endParaRPr sz="4000" b="0" i="0" u="none" cap="none">
              <a:ln>
                <a:noFill/>
              </a:ln>
              <a:solidFill>
                <a:srgbClr val="DDDDDD">
                  <a:lumMod val="50000"/>
                </a:srgb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3" name="í$ľidè"/>
          <p:cNvSpPr>
            <a:spLocks noGrp="1"/>
          </p:cNvSpPr>
          <p:nvPr/>
        </p:nv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5" name="文本框 16"/>
          <p:cNvSpPr>
            <a:spLocks noGrp="1"/>
          </p:cNvSpPr>
          <p:nvPr/>
        </p:nvSpPr>
        <p:spPr>
          <a:xfrm>
            <a:off x="620201" y="6130454"/>
            <a:ext cx="87630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Times New Roman" panose="02020503050405090304"/>
                <a:ea typeface="微软雅黑"/>
                <a:cs typeface="Times New Roman" panose="02020503050405090304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矩形 11"/>
          <p:cNvSpPr>
            <a:spLocks noGrp="1"/>
          </p:cNvSpPr>
          <p:nvPr/>
        </p:nvSpPr>
        <p:spPr>
          <a:xfrm>
            <a:off x="5157694" y="1530876"/>
            <a:ext cx="4587547" cy="596075"/>
          </a:xfrm>
          <a:prstGeom prst="rect">
            <a:avLst/>
          </a:prstGeom>
          <a:solidFill>
            <a:srgbClr val="C00000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FFFFFF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1 切换边界与接入契约</a:t>
            </a:r>
            <a:endParaRPr sz="2400" b="0" i="0" u="none" cap="none">
              <a:ln>
                <a:noFill/>
              </a:ln>
              <a:solidFill>
                <a:srgbClr val="FFFFFF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矩形 12"/>
          <p:cNvSpPr>
            <a:spLocks noGrp="1"/>
          </p:cNvSpPr>
          <p:nvPr/>
        </p:nvSpPr>
        <p:spPr>
          <a:xfrm>
            <a:off x="5157694" y="2680975"/>
            <a:ext cx="4587549" cy="591795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2 TorchTitan-NPU 能力</a:t>
            </a:r>
            <a:endParaRPr sz="2400"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矩形 13"/>
          <p:cNvSpPr>
            <a:spLocks noGrp="1"/>
          </p:cNvSpPr>
          <p:nvPr/>
        </p:nvSpPr>
        <p:spPr>
          <a:xfrm>
            <a:off x="5157694" y="3712434"/>
            <a:ext cx="4587551" cy="587513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3 配置与运行验证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矩形 6"/>
          <p:cNvSpPr>
            <a:spLocks noGrp="1"/>
          </p:cNvSpPr>
          <p:nvPr/>
        </p:nvSpPr>
        <p:spPr>
          <a:xfrm>
            <a:off x="5157694" y="4739611"/>
            <a:ext cx="4587553" cy="587513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4 评价与迁移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切换边界与接入契约">
            <a:extLst xmlns:a="http://schemas.openxmlformats.org/drawingml/2006/main">
              <a:ext uri="{FF2B5EF4-FFF2-40B4-BE49-F238E27FC236}">
                <a16:creationId xmlns:a16="http://schemas.microsoft.com/office/drawing/2014/main" id="{957FD0A6-CB42-4A10-B54F-3225CC2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切换边界与接入契约</a:t>
            </a:r>
          </a:p>
        </p:txBody>
      </p:sp>
      <p:sp>
        <p:nvSpPr>
          <p:cNvPr id="5" name="先记住四个角色：生成、反馈、学习、参照。">
            <a:extLst xmlns:a="http://schemas.openxmlformats.org/drawingml/2006/main">
              <a:ext uri="{FF2B5EF4-FFF2-40B4-BE49-F238E27FC236}">
                <a16:creationId xmlns:a16="http://schemas.microsoft.com/office/drawing/2014/main" id="{5763E5BB-504D-4E32-BD41-B6B9D54B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先记住四个角色：生成、反馈、学习、参照。</a:t>
            </a:r>
          </a:p>
        </p:txBody>
      </p:sp>
      <p:sp>
        <p:nvSpPr>
          <p:cNvPr id="6" name="vLLM 用 Qwen3 生成猜词">
            <a:extLst xmlns:a="http://schemas.openxmlformats.org/drawingml/2006/main">
              <a:ext uri="{FF2B5EF4-FFF2-40B4-BE49-F238E27FC236}">
                <a16:creationId xmlns:a16="http://schemas.microsoft.com/office/drawing/2014/main" id="{D60A3F70-CBA2-4D94-820A-82850B2A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vLLM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用 Qwen3 生成猜词</a:t>
            </a:r>
          </a:p>
        </p:txBody>
      </p:sp>
      <p:sp>
        <p:nvSpPr>
          <p:cNvPr id="7" name="Wordle 环境 按秘密词返回反馈">
            <a:extLst xmlns:a="http://schemas.openxmlformats.org/drawingml/2006/main">
              <a:ext uri="{FF2B5EF4-FFF2-40B4-BE49-F238E27FC236}">
                <a16:creationId xmlns:a16="http://schemas.microsoft.com/office/drawing/2014/main" id="{C9372EE0-D8CD-46A9-B851-1E60138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9075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Wordle 环境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按秘密词返回反馈</a:t>
            </a:r>
          </a:p>
        </p:txBody>
      </p:sp>
      <p:sp>
        <p:nvSpPr>
          <p:cNvPr id="8" name="完整轨迹 + 奖励">
            <a:extLst xmlns:a="http://schemas.openxmlformats.org/drawingml/2006/main">
              <a:ext uri="{FF2B5EF4-FFF2-40B4-BE49-F238E27FC236}">
                <a16:creationId xmlns:a16="http://schemas.microsoft.com/office/drawing/2014/main" id="{9C05AA47-5ED8-4AFC-877D-F9081BDF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完整轨迹 + 奖励</a:t>
            </a:r>
          </a:p>
        </p:txBody>
      </p:sp>
      <p:cxnSp>
        <p:nvCxnSpPr>
          <p:cNvPr id="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33750" y="2647950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0" name="猜词">
            <a:extLst xmlns:a="http://schemas.openxmlformats.org/drawingml/2006/main">
              <a:ext uri="{FF2B5EF4-FFF2-40B4-BE49-F238E27FC236}">
                <a16:creationId xmlns:a16="http://schemas.microsoft.com/office/drawing/2014/main" id="{64660906-9EF3-4FCC-A85A-2313B727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847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猜词</a:t>
            </a:r>
          </a:p>
        </p:txBody>
      </p: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81875" y="26479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2" name="一局结束">
            <a:extLst xmlns:a="http://schemas.openxmlformats.org/drawingml/2006/main">
              <a:ext uri="{FF2B5EF4-FFF2-40B4-BE49-F238E27FC236}">
                <a16:creationId xmlns:a16="http://schemas.microsoft.com/office/drawing/2014/main" id="{831E2BFA-5431-409A-9987-D67DE1C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854B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27854B"/>
                </a:solidFill>
                <a:latin typeface="Times New Roman"/>
                <a:ea typeface="微软雅黑"/>
                <a:cs typeface="Times New Roman"/>
              </a:rPr>
              <a:t>一局结束</a:t>
            </a:r>
          </a:p>
        </p:txBody>
      </p:sp>
      <p:sp>
        <p:nvSpPr>
          <p:cNvPr id="13" name="Actor 学习模型 前向、反向、更新">
            <a:extLst xmlns:a="http://schemas.openxmlformats.org/drawingml/2006/main">
              <a:ext uri="{FF2B5EF4-FFF2-40B4-BE49-F238E27FC236}">
                <a16:creationId xmlns:a16="http://schemas.microsoft.com/office/drawing/2014/main" id="{4F4684EC-13F4-47E0-B5EF-8E28C590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95775"/>
            <a:ext cx="27908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E60012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学习模型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前向、反向、更新</a:t>
            </a:r>
          </a:p>
        </p:txBody>
      </p:sp>
      <p:sp>
        <p:nvSpPr>
          <p:cNvPr id="14" name="Ref 参考模型 参数保持冻结">
            <a:extLst xmlns:a="http://schemas.openxmlformats.org/drawingml/2006/main">
              <a:ext uri="{FF2B5EF4-FFF2-40B4-BE49-F238E27FC236}">
                <a16:creationId xmlns:a16="http://schemas.microsoft.com/office/drawing/2014/main" id="{3822E071-2629-4A27-8E53-84D4C6EA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95775"/>
            <a:ext cx="26860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6666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Ref 参考模型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参数保持冻结</a:t>
            </a:r>
          </a:p>
        </p:txBody>
      </p:sp>
      <p:cxnSp>
        <p:nvCxnSpPr>
          <p:cNvPr id="15" name=""/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015538" y="3105150"/>
            <a:ext cx="52388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27854B"/>
            </a:solidFill>
            <a:prstDash val="solid"/>
            <a:tailEnd type="triangle" w="med" len="med"/>
          </a:ln>
        </p:spPr>
      </p:cxnSp>
      <p:cxnSp>
        <p:nvCxnSpPr>
          <p:cNvPr id="16" name=""/>
          <p:cNvCxnSpPr>
            <a:stCxn xmlns:a="http://schemas.openxmlformats.org/drawingml/2006/main" id="1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81875" y="47672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66666"/>
            </a:solidFill>
            <a:prstDash val="solid"/>
            <a:tailEnd type="triangle" w="med" len="med"/>
          </a:ln>
        </p:spPr>
      </p:cxnSp>
      <p:sp>
        <p:nvSpPr>
          <p:cNvPr id="17" name="参考概率">
            <a:extLst xmlns:a="http://schemas.openxmlformats.org/drawingml/2006/main">
              <a:ext uri="{FF2B5EF4-FFF2-40B4-BE49-F238E27FC236}">
                <a16:creationId xmlns:a16="http://schemas.microsoft.com/office/drawing/2014/main" id="{F44AF2F8-1321-45D8-BD00-D4252CD7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参考概率</a:t>
            </a:r>
          </a:p>
        </p:txBody>
      </p:sp>
      <p:sp>
        <p:nvSpPr>
          <p:cNvPr id="18" name="关系线">
            <a:extLst xmlns:a="http://schemas.openxmlformats.org/drawingml/2006/main">
              <a:ext uri="{FF2B5EF4-FFF2-40B4-BE49-F238E27FC236}">
                <a16:creationId xmlns:a16="http://schemas.microsoft.com/office/drawing/2014/main" id="{D0725719-3177-4C6A-A671-B2B6A8F0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29325" y="310515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854B"/>
            </a:solidFill>
          </a:ln>
        </p:spPr>
      </p:sp>
      <p:sp>
        <p:nvSpPr>
          <p:cNvPr id="19" name="关系线">
            <a:extLst xmlns:a="http://schemas.openxmlformats.org/drawingml/2006/main">
              <a:ext uri="{FF2B5EF4-FFF2-40B4-BE49-F238E27FC236}">
                <a16:creationId xmlns:a16="http://schemas.microsoft.com/office/drawing/2014/main" id="{EDEDB168-1A65-4453-92D1-18CA297B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95500" y="355282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854B"/>
            </a:solidFill>
          </a:ln>
        </p:spPr>
      </p:sp>
      <p:sp>
        <p:nvSpPr>
          <p:cNvPr id="20" name="关系线">
            <a:extLst xmlns:a="http://schemas.openxmlformats.org/drawingml/2006/main">
              <a:ext uri="{FF2B5EF4-FFF2-40B4-BE49-F238E27FC236}">
                <a16:creationId xmlns:a16="http://schemas.microsoft.com/office/drawing/2014/main" id="{90EC084E-A61F-424F-AFB5-5ACBEF6F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095500" y="32385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854B"/>
            </a:solidFill>
          </a:ln>
        </p:spPr>
      </p:sp>
      <p:sp>
        <p:nvSpPr>
          <p:cNvPr id="21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2D444183-A944-40F2-B8A3-32F8CB0D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105150"/>
            <a:ext cx="209550" cy="2190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27854B"/>
          </a:solidFill>
          <a:ln xmlns:a="http://schemas.openxmlformats.org/drawingml/2006/main" w="0">
            <a:solidFill>
              <a:srgbClr val="27854B"/>
            </a:solidFill>
          </a:ln>
        </p:spPr>
      </p:sp>
      <p:sp>
        <p:nvSpPr>
          <p:cNvPr id="22" name="反馈进入下一轮上下文">
            <a:extLst xmlns:a="http://schemas.openxmlformats.org/drawingml/2006/main">
              <a:ext uri="{FF2B5EF4-FFF2-40B4-BE49-F238E27FC236}">
                <a16:creationId xmlns:a16="http://schemas.microsoft.com/office/drawing/2014/main" id="{3B17A90C-D6D2-4B38-8E76-A6032853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854B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27854B"/>
                </a:solidFill>
                <a:latin typeface="Times New Roman"/>
                <a:ea typeface="微软雅黑"/>
                <a:cs typeface="Times New Roman"/>
              </a:rPr>
              <a:t>反馈进入下一轮上下文</a:t>
            </a:r>
          </a:p>
        </p:txBody>
      </p:sp>
      <p:sp>
        <p:nvSpPr>
          <p:cNvPr id="23" name="本课切换 Actor / Ref 的执行引擎">
            <a:extLst xmlns:a="http://schemas.openxmlformats.org/drawingml/2006/main">
              <a:ext uri="{FF2B5EF4-FFF2-40B4-BE49-F238E27FC236}">
                <a16:creationId xmlns:a16="http://schemas.microsoft.com/office/drawing/2014/main" id="{C8C149A3-B94F-4C71-A2A9-1CDD8FDB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本课切换 Actor / Ref 的执行引擎</a:t>
            </a:r>
          </a:p>
        </p:txBody>
      </p:sp>
      <p:sp>
        <p:nvSpPr>
          <p:cNvPr id="24" name="秘密词留在环境侧，不作为答案直接交给模型。">
            <a:extLst xmlns:a="http://schemas.openxmlformats.org/drawingml/2006/main">
              <a:ext uri="{FF2B5EF4-FFF2-40B4-BE49-F238E27FC236}">
                <a16:creationId xmlns:a16="http://schemas.microsoft.com/office/drawing/2014/main" id="{0498DE8E-7B42-4931-B929-5134393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秘密词留在环境侧，不作为答案直接交给模型。</a:t>
            </a:r>
          </a:p>
        </p:txBody>
      </p:sp>
      <p:sp>
        <p:nvSpPr>
          <p:cNvPr id="25" name="vLLM 继续生成，TorchTitan-NPU 接手 Actor / Ref 的训练计算。">
            <a:extLst xmlns:a="http://schemas.openxmlformats.org/drawingml/2006/main">
              <a:ext uri="{FF2B5EF4-FFF2-40B4-BE49-F238E27FC236}">
                <a16:creationId xmlns:a16="http://schemas.microsoft.com/office/drawing/2014/main" id="{2EA1A11B-ACE7-4EBE-89BA-BFB50ACE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vLLM 继续生成，TorchTitan-NPU 接手 Actor / Ref 的训练计算。</a:t>
            </a:r>
          </a:p>
        </p:txBody>
      </p:sp>
    </p:spTree>
    <p:extLst>
      <p:ext uri="{BB962C8B-B14F-4D97-AF65-F5344CB8AC3E}">
        <p14:creationId xmlns:p14="http://schemas.microsoft.com/office/powerpoint/2010/main" val="1586449208"/>
      </p:ext>
    </p:extLst>
  </p:cSld>
</p:sld>
</file>

<file path=ppt/slides/slide10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切换边界与接入契约">
            <a:extLst xmlns:a="http://schemas.openxmlformats.org/drawingml/2006/main">
              <a:ext uri="{FF2B5EF4-FFF2-40B4-BE49-F238E27FC236}">
                <a16:creationId xmlns:a16="http://schemas.microsoft.com/office/drawing/2014/main" id="{91E1B4A1-5F68-4A72-97FD-C1667183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切换边界与接入契约</a:t>
            </a:r>
          </a:p>
        </p:txBody>
      </p:sp>
      <p:sp>
        <p:nvSpPr>
          <p:cNvPr id="5" name="一个后端选择器，如何落实成真正执行的模型？">
            <a:extLst xmlns:a="http://schemas.openxmlformats.org/drawingml/2006/main">
              <a:ext uri="{FF2B5EF4-FFF2-40B4-BE49-F238E27FC236}">
                <a16:creationId xmlns:a16="http://schemas.microsoft.com/office/drawing/2014/main" id="{2327AC35-B3A2-4F92-9929-864CE3B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一个后端选择器，如何落实成真正执行的模型？</a:t>
            </a:r>
          </a:p>
        </p:txBody>
      </p:sp>
      <p:sp>
        <p:nvSpPr>
          <p:cNvPr id="6" name="启动配置 model_engine=torchtitan">
            <a:extLst xmlns:a="http://schemas.openxmlformats.org/drawingml/2006/main">
              <a:ext uri="{FF2B5EF4-FFF2-40B4-BE49-F238E27FC236}">
                <a16:creationId xmlns:a16="http://schemas.microsoft.com/office/drawing/2014/main" id="{F7C96C42-E4E9-4983-A724-BA9C6648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14575"/>
            <a:ext cx="31813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启动配置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model_engine=torchtitan</a:t>
            </a:r>
          </a:p>
        </p:txBody>
      </p:sp>
      <p:sp>
        <p:nvSpPr>
          <p:cNvPr id="7" name="unified worker 创建 TorchTitan Engine">
            <a:extLst xmlns:a="http://schemas.openxmlformats.org/drawingml/2006/main">
              <a:ext uri="{FF2B5EF4-FFF2-40B4-BE49-F238E27FC236}">
                <a16:creationId xmlns:a16="http://schemas.microsoft.com/office/drawing/2014/main" id="{DFB98965-11B3-4C75-BAD1-9B64A601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31051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unified worker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创建 TorchTitan Engine</a:t>
            </a:r>
          </a:p>
        </p:txBody>
      </p:sp>
      <p:sp>
        <p:nvSpPr>
          <p:cNvPr id="8" name="Qwen3 model spec 构建模型与注意力">
            <a:extLst xmlns:a="http://schemas.openxmlformats.org/drawingml/2006/main">
              <a:ext uri="{FF2B5EF4-FFF2-40B4-BE49-F238E27FC236}">
                <a16:creationId xmlns:a16="http://schemas.microsoft.com/office/drawing/2014/main" id="{2976161A-0792-4BCA-9859-AF090D9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14575"/>
            <a:ext cx="29718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Qwen3 model spec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构建模型与注意力</a:t>
            </a:r>
          </a:p>
        </p:txBody>
      </p:sp>
      <p:cxnSp>
        <p:nvCxnSpPr>
          <p:cNvPr id="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10025" y="2824163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72400" y="28241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1" name="选择实现">
            <a:extLst xmlns:a="http://schemas.openxmlformats.org/drawingml/2006/main">
              <a:ext uri="{FF2B5EF4-FFF2-40B4-BE49-F238E27FC236}">
                <a16:creationId xmlns:a16="http://schemas.microsoft.com/office/drawing/2014/main" id="{88E54DD1-754D-416E-8919-1F4A8495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57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选择实现</a:t>
            </a:r>
          </a:p>
        </p:txBody>
      </p:sp>
      <p:sp>
        <p:nvSpPr>
          <p:cNvPr id="12" name="接收配置">
            <a:extLst xmlns:a="http://schemas.openxmlformats.org/drawingml/2006/main">
              <a:ext uri="{FF2B5EF4-FFF2-40B4-BE49-F238E27FC236}">
                <a16:creationId xmlns:a16="http://schemas.microsoft.com/office/drawing/2014/main" id="{FFD1F698-7599-4DE7-B123-3455BEA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57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接收配置</a:t>
            </a:r>
          </a:p>
        </p:txBody>
      </p:sp>
      <p:sp>
        <p:nvSpPr>
          <p:cNvPr id="13" name="实际计算">
            <a:extLst xmlns:a="http://schemas.openxmlformats.org/drawingml/2006/main">
              <a:ext uri="{FF2B5EF4-FFF2-40B4-BE49-F238E27FC236}">
                <a16:creationId xmlns:a16="http://schemas.microsoft.com/office/drawing/2014/main" id="{3D785AA0-FABC-4B4E-9A8C-464E0F86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实际计算</a:t>
            </a:r>
          </a:p>
        </p:txBody>
      </p:sp>
      <p:sp>
        <p:nvSpPr>
          <p:cNvPr id="14" name="关系线">
            <a:extLst xmlns:a="http://schemas.openxmlformats.org/drawingml/2006/main">
              <a:ext uri="{FF2B5EF4-FFF2-40B4-BE49-F238E27FC236}">
                <a16:creationId xmlns:a16="http://schemas.microsoft.com/office/drawing/2014/main" id="{9C1F8A3E-39BE-400F-984E-BF22708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381250" y="33337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5" name="关系线">
            <a:extLst xmlns:a="http://schemas.openxmlformats.org/drawingml/2006/main">
              <a:ext uri="{FF2B5EF4-FFF2-40B4-BE49-F238E27FC236}">
                <a16:creationId xmlns:a16="http://schemas.microsoft.com/office/drawing/2014/main" id="{130C02BF-A038-4E1A-B947-079939AA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972675" y="33337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6" name="actor.torchtitan.*&#10;ref.torchtitan.*">
            <a:extLst xmlns:a="http://schemas.openxmlformats.org/drawingml/2006/main">
              <a:ext uri="{FF2B5EF4-FFF2-40B4-BE49-F238E27FC236}">
                <a16:creationId xmlns:a16="http://schemas.microsoft.com/office/drawing/2014/main" id="{39E05F3C-2798-40A1-8134-AFF9222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3952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actor.torchtitan.*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ref.torchtitan.*</a:t>
            </a:r>
          </a:p>
        </p:txBody>
      </p:sp>
      <p:sp>
        <p:nvSpPr>
          <p:cNvPr id="17" name="attn_type=varlen&#10;选择变长注意力路径">
            <a:extLst xmlns:a="http://schemas.openxmlformats.org/drawingml/2006/main">
              <a:ext uri="{FF2B5EF4-FFF2-40B4-BE49-F238E27FC236}">
                <a16:creationId xmlns:a16="http://schemas.microsoft.com/office/drawing/2014/main" id="{DEA9C365-C049-4703-9851-2B9FC1B2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24325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attn_type=varlen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选择变长注意力路径</a:t>
            </a:r>
          </a:p>
        </p:txBody>
      </p:sp>
      <p:sp>
        <p:nvSpPr>
          <p:cNvPr id="18" name="Engine = 执行引擎；model spec = 模型构建说明。">
            <a:extLst xmlns:a="http://schemas.openxmlformats.org/drawingml/2006/main">
              <a:ext uri="{FF2B5EF4-FFF2-40B4-BE49-F238E27FC236}">
                <a16:creationId xmlns:a16="http://schemas.microsoft.com/office/drawing/2014/main" id="{8935BF4A-4E30-47AE-839E-CD373901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Engine = 执行引擎；model spec = 模型构建说明。</a:t>
            </a:r>
          </a:p>
        </p:txBody>
      </p:sp>
      <p:sp>
        <p:nvSpPr>
          <p:cNvPr id="19" name="命令里写了名称，还要在日志中确认对应引擎确实运行。">
            <a:extLst xmlns:a="http://schemas.openxmlformats.org/drawingml/2006/main">
              <a:ext uri="{FF2B5EF4-FFF2-40B4-BE49-F238E27FC236}">
                <a16:creationId xmlns:a16="http://schemas.microsoft.com/office/drawing/2014/main" id="{C47B3E26-9851-4D36-9D3C-9ECDCB3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命令里写了名称，还要在日志中确认对应引擎确实运行。</a:t>
            </a:r>
          </a:p>
        </p:txBody>
      </p:sp>
    </p:spTree>
    <p:extLst>
      <p:ext uri="{BB962C8B-B14F-4D97-AF65-F5344CB8AC3E}">
        <p14:creationId xmlns:p14="http://schemas.microsoft.com/office/powerpoint/2010/main" val="414226367"/>
      </p:ext>
    </p:extLst>
  </p:cSld>
</p:sld>
</file>

<file path=ppt/slides/slide10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切换边界与接入契约">
            <a:extLst xmlns:a="http://schemas.openxmlformats.org/drawingml/2006/main">
              <a:ext uri="{FF2B5EF4-FFF2-40B4-BE49-F238E27FC236}">
                <a16:creationId xmlns:a16="http://schemas.microsoft.com/office/drawing/2014/main" id="{783F8147-B786-46BE-8741-0E1A20E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切换边界与接入契约</a:t>
            </a:r>
          </a:p>
        </p:txBody>
      </p:sp>
      <p:sp>
        <p:nvSpPr>
          <p:cNvPr id="5" name="复现实验时，使用课程配方固定的这一组版本。">
            <a:extLst xmlns:a="http://schemas.openxmlformats.org/drawingml/2006/main">
              <a:ext uri="{FF2B5EF4-FFF2-40B4-BE49-F238E27FC236}">
                <a16:creationId xmlns:a16="http://schemas.microsoft.com/office/drawing/2014/main" id="{C30A2204-A671-429C-9E78-87579F45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复现实验时，使用课程配方固定的这一组版本。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706100" cy="3048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905250"/>
                <a:gridCol w="6800850"/>
              </a:tblGrid>
              <a:tr h="4572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固定源码与适配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Wordle 训练配方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cann-recipes-train fe64966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verl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e9aa879 + 课程适配补丁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上游 TorchTitan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ac13e53 + Qwen3 补丁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TorchTitan-NPU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5901515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复现查 versions.env；SFT 的 OverrideConfig 与此 RL 快照的 Co">
            <a:extLst xmlns:a="http://schemas.openxmlformats.org/drawingml/2006/main">
              <a:ext uri="{FF2B5EF4-FFF2-40B4-BE49-F238E27FC236}">
                <a16:creationId xmlns:a16="http://schemas.microsoft.com/office/drawing/2014/main" id="{B500BB03-38BA-4C11-BD2C-0770B9A9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复现查 versions.env；SFT 的 OverrideConfig 与此 RL 快照的 Converter 不同。</a:t>
            </a:r>
          </a:p>
        </p:txBody>
      </p:sp>
      <p:sp>
        <p:nvSpPr>
          <p:cNvPr id="8" name="版本与补丁是一组配套条件，不能只替换其中一个组件。">
            <a:extLst xmlns:a="http://schemas.openxmlformats.org/drawingml/2006/main">
              <a:ext uri="{FF2B5EF4-FFF2-40B4-BE49-F238E27FC236}">
                <a16:creationId xmlns:a16="http://schemas.microsoft.com/office/drawing/2014/main" id="{5A590D7E-4CA0-4EE9-B910-54D5387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版本与补丁是一组配套条件，不能只替换其中一个组件。</a:t>
            </a:r>
          </a:p>
        </p:txBody>
      </p:sp>
    </p:spTree>
    <p:extLst>
      <p:ext uri="{BB962C8B-B14F-4D97-AF65-F5344CB8AC3E}">
        <p14:creationId xmlns:p14="http://schemas.microsoft.com/office/powerpoint/2010/main" val="1300457238"/>
      </p:ext>
    </p:extLst>
  </p:cSld>
</p:sld>
</file>

<file path=ppt/slides/slide10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切换边界与接入契约">
            <a:extLst xmlns:a="http://schemas.openxmlformats.org/drawingml/2006/main">
              <a:ext uri="{FF2B5EF4-FFF2-40B4-BE49-F238E27FC236}">
                <a16:creationId xmlns:a16="http://schemas.microsoft.com/office/drawing/2014/main" id="{336420BD-C6F2-4F1F-AA88-819FDE8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切换边界与接入契约</a:t>
            </a:r>
          </a:p>
        </p:txBody>
      </p:sp>
      <p:sp>
        <p:nvSpPr>
          <p:cNvPr id="5" name="把两条不同长度的轨迹合起来算，怎样保持一一对应？">
            <a:extLst xmlns:a="http://schemas.openxmlformats.org/drawingml/2006/main">
              <a:ext uri="{FF2B5EF4-FFF2-40B4-BE49-F238E27FC236}">
                <a16:creationId xmlns:a16="http://schemas.microsoft.com/office/drawing/2014/main" id="{C152DC28-7F61-4B29-BC62-85B47CE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把两条不同长度的轨迹合起来算，怎样保持一一对应？</a:t>
            </a:r>
          </a:p>
        </p:txBody>
      </p:sp>
      <p:sp>
        <p:nvSpPr>
          <p:cNvPr id="6" name="两条样本">
            <a:extLst xmlns:a="http://schemas.openxmlformats.org/drawingml/2006/main">
              <a:ext uri="{FF2B5EF4-FFF2-40B4-BE49-F238E27FC236}">
                <a16:creationId xmlns:a16="http://schemas.microsoft.com/office/drawing/2014/main" id="{EB132D8D-19FF-4B68-B4D4-AB2082E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两条样本</a:t>
            </a:r>
          </a:p>
        </p:txBody>
      </p:sp>
      <p:sp>
        <p:nvSpPr>
          <p:cNvPr id="7" name="A1">
            <a:extLst xmlns:a="http://schemas.openxmlformats.org/drawingml/2006/main">
              <a:ext uri="{FF2B5EF4-FFF2-40B4-BE49-F238E27FC236}">
                <a16:creationId xmlns:a16="http://schemas.microsoft.com/office/drawing/2014/main" id="{42214318-6C67-478E-A1D5-B02D4F22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A1</a:t>
            </a:r>
          </a:p>
        </p:txBody>
      </p:sp>
      <p:sp>
        <p:nvSpPr>
          <p:cNvPr id="8" name="A2">
            <a:extLst xmlns:a="http://schemas.openxmlformats.org/drawingml/2006/main">
              <a:ext uri="{FF2B5EF4-FFF2-40B4-BE49-F238E27FC236}">
                <a16:creationId xmlns:a16="http://schemas.microsoft.com/office/drawing/2014/main" id="{D46F4A2F-A113-457A-B5CB-11F24E5C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98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A2</a:t>
            </a:r>
          </a:p>
        </p:txBody>
      </p:sp>
      <p:sp>
        <p:nvSpPr>
          <p:cNvPr id="9" name="A3">
            <a:extLst xmlns:a="http://schemas.openxmlformats.org/drawingml/2006/main">
              <a:ext uri="{FF2B5EF4-FFF2-40B4-BE49-F238E27FC236}">
                <a16:creationId xmlns:a16="http://schemas.microsoft.com/office/drawing/2014/main" id="{A9E0D441-5ADB-40C9-98C6-7D3867EB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4098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A3</a:t>
            </a:r>
          </a:p>
        </p:txBody>
      </p:sp>
      <p:sp>
        <p:nvSpPr>
          <p:cNvPr id="10" name="PAD">
            <a:extLst xmlns:a="http://schemas.openxmlformats.org/drawingml/2006/main">
              <a:ext uri="{FF2B5EF4-FFF2-40B4-BE49-F238E27FC236}">
                <a16:creationId xmlns:a16="http://schemas.microsoft.com/office/drawing/2014/main" id="{E06358A4-EA8D-4CA8-9E93-D9314F73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98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PAD</a:t>
            </a:r>
          </a:p>
        </p:txBody>
      </p:sp>
      <p:sp>
        <p:nvSpPr>
          <p:cNvPr id="11" name="B1">
            <a:extLst xmlns:a="http://schemas.openxmlformats.org/drawingml/2006/main">
              <a:ext uri="{FF2B5EF4-FFF2-40B4-BE49-F238E27FC236}">
                <a16:creationId xmlns:a16="http://schemas.microsoft.com/office/drawing/2014/main" id="{547A21BA-CAD9-4C59-8432-197A5FB5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57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B1</a:t>
            </a:r>
          </a:p>
        </p:txBody>
      </p:sp>
      <p:sp>
        <p:nvSpPr>
          <p:cNvPr id="12" name="B2">
            <a:extLst xmlns:a="http://schemas.openxmlformats.org/drawingml/2006/main">
              <a:ext uri="{FF2B5EF4-FFF2-40B4-BE49-F238E27FC236}">
                <a16:creationId xmlns:a16="http://schemas.microsoft.com/office/drawing/2014/main" id="{292DF15A-0239-4046-B6A0-D3D0AFFD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57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B2</a:t>
            </a:r>
          </a:p>
        </p:txBody>
      </p:sp>
      <p:sp>
        <p:nvSpPr>
          <p:cNvPr id="13" name="PAD">
            <a:extLst xmlns:a="http://schemas.openxmlformats.org/drawingml/2006/main">
              <a:ext uri="{FF2B5EF4-FFF2-40B4-BE49-F238E27FC236}">
                <a16:creationId xmlns:a16="http://schemas.microsoft.com/office/drawing/2014/main" id="{4370A93D-F23D-42E1-9898-2E92A27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PAD</a:t>
            </a:r>
          </a:p>
        </p:txBody>
      </p:sp>
      <p:sp>
        <p:nvSpPr>
          <p:cNvPr id="14" name="PAD">
            <a:extLst xmlns:a="http://schemas.openxmlformats.org/drawingml/2006/main">
              <a:ext uri="{FF2B5EF4-FFF2-40B4-BE49-F238E27FC236}">
                <a16:creationId xmlns:a16="http://schemas.microsoft.com/office/drawing/2014/main" id="{E3D7497A-FFFC-41EA-B757-AF3C5CA5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575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PAD</a:t>
            </a:r>
          </a:p>
        </p:txBody>
      </p:sp>
      <p:sp>
        <p:nvSpPr>
          <p:cNvPr id="15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D119040E-F2D7-4AD5-A0FF-3785DA48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76550"/>
            <a:ext cx="5524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6" name="去 padding">
            <a:extLst xmlns:a="http://schemas.openxmlformats.org/drawingml/2006/main">
              <a:ext uri="{FF2B5EF4-FFF2-40B4-BE49-F238E27FC236}">
                <a16:creationId xmlns:a16="http://schemas.microsoft.com/office/drawing/2014/main" id="{52F2D627-7958-4C15-BBBA-3770D56D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647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去 padding</a:t>
            </a:r>
          </a:p>
        </p:txBody>
      </p:sp>
      <p:sp>
        <p:nvSpPr>
          <p:cNvPr id="17" name="packed 连续 token">
            <a:extLst xmlns:a="http://schemas.openxmlformats.org/drawingml/2006/main">
              <a:ext uri="{FF2B5EF4-FFF2-40B4-BE49-F238E27FC236}">
                <a16:creationId xmlns:a16="http://schemas.microsoft.com/office/drawing/2014/main" id="{D518E92D-A03D-41D8-B28C-4DF8A93E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packed 连续 token</a:t>
            </a:r>
          </a:p>
        </p:txBody>
      </p:sp>
      <p:sp>
        <p:nvSpPr>
          <p:cNvPr id="18" name="A1">
            <a:extLst xmlns:a="http://schemas.openxmlformats.org/drawingml/2006/main">
              <a:ext uri="{FF2B5EF4-FFF2-40B4-BE49-F238E27FC236}">
                <a16:creationId xmlns:a16="http://schemas.microsoft.com/office/drawing/2014/main" id="{DD550044-2409-4394-AD13-590FABC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581275"/>
            <a:ext cx="51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A1</a:t>
            </a:r>
          </a:p>
        </p:txBody>
      </p:sp>
      <p:sp>
        <p:nvSpPr>
          <p:cNvPr id="19" name="A2">
            <a:extLst xmlns:a="http://schemas.openxmlformats.org/drawingml/2006/main">
              <a:ext uri="{FF2B5EF4-FFF2-40B4-BE49-F238E27FC236}">
                <a16:creationId xmlns:a16="http://schemas.microsoft.com/office/drawing/2014/main" id="{21ACB6C4-8AFE-4064-821B-8F8683D4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81275"/>
            <a:ext cx="51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A2</a:t>
            </a:r>
          </a:p>
        </p:txBody>
      </p:sp>
      <p:sp>
        <p:nvSpPr>
          <p:cNvPr id="20" name="A3">
            <a:extLst xmlns:a="http://schemas.openxmlformats.org/drawingml/2006/main">
              <a:ext uri="{FF2B5EF4-FFF2-40B4-BE49-F238E27FC236}">
                <a16:creationId xmlns:a16="http://schemas.microsoft.com/office/drawing/2014/main" id="{7B015B6D-D3E8-4FB3-B4C9-F070ED2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81275"/>
            <a:ext cx="51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A3</a:t>
            </a:r>
          </a:p>
        </p:txBody>
      </p:sp>
      <p:sp>
        <p:nvSpPr>
          <p:cNvPr id="21" name="B1">
            <a:extLst xmlns:a="http://schemas.openxmlformats.org/drawingml/2006/main">
              <a:ext uri="{FF2B5EF4-FFF2-40B4-BE49-F238E27FC236}">
                <a16:creationId xmlns:a16="http://schemas.microsoft.com/office/drawing/2014/main" id="{F8417782-2C55-4FCF-86A8-EC9D893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81275"/>
            <a:ext cx="51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B1</a:t>
            </a:r>
          </a:p>
        </p:txBody>
      </p:sp>
      <p:sp>
        <p:nvSpPr>
          <p:cNvPr id="22" name="B2">
            <a:extLst xmlns:a="http://schemas.openxmlformats.org/drawingml/2006/main">
              <a:ext uri="{FF2B5EF4-FFF2-40B4-BE49-F238E27FC236}">
                <a16:creationId xmlns:a16="http://schemas.microsoft.com/office/drawing/2014/main" id="{724085F2-95CB-4973-BFF4-52AF2CB0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81275"/>
            <a:ext cx="51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B2</a:t>
            </a:r>
          </a:p>
        </p:txBody>
      </p:sp>
      <p:sp>
        <p:nvSpPr>
          <p:cNvPr id="23" name="offsets = [0, 3, 5]&#10;记录每条样本的起止位置">
            <a:extLst xmlns:a="http://schemas.openxmlformats.org/drawingml/2006/main">
              <a:ext uri="{FF2B5EF4-FFF2-40B4-BE49-F238E27FC236}">
                <a16:creationId xmlns:a16="http://schemas.microsoft.com/office/drawing/2014/main" id="{AF53A4C7-1C1E-4251-B939-64DA8742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670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offsets = [0, 3, 5]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记录每条样本的起止位置</a:t>
            </a:r>
          </a:p>
        </p:txBody>
      </p:sp>
      <p:sp>
        <p:nvSpPr>
          <p:cNvPr id="24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6F368E68-62A8-4342-B4A3-AD4EA959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95575"/>
            <a:ext cx="4762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25" name="Actor / Ref 计算 token 概率">
            <a:extLst xmlns:a="http://schemas.openxmlformats.org/drawingml/2006/main">
              <a:ext uri="{FF2B5EF4-FFF2-40B4-BE49-F238E27FC236}">
                <a16:creationId xmlns:a16="http://schemas.microsoft.com/office/drawing/2014/main" id="{75DDE705-C7C9-4258-8931-11693BD8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71725"/>
            <a:ext cx="3114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/ Ref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计算 token 概率</a:t>
            </a:r>
          </a:p>
        </p:txBody>
      </p:sp>
      <p:sp>
        <p:nvSpPr>
          <p:cNvPr id="26" name="计算完成后，按同一份边界还原">
            <a:extLst xmlns:a="http://schemas.openxmlformats.org/drawingml/2006/main">
              <a:ext uri="{FF2B5EF4-FFF2-40B4-BE49-F238E27FC236}">
                <a16:creationId xmlns:a16="http://schemas.microsoft.com/office/drawing/2014/main" id="{1DDEDAA4-1E2F-4A14-A2E9-306CD750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95775"/>
            <a:ext cx="642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计算完成后，按同一份边界还原</a:t>
            </a:r>
          </a:p>
        </p:txBody>
      </p:sp>
      <p:sp>
        <p:nvSpPr>
          <p:cNvPr id="27" name="pA1">
            <a:extLst xmlns:a="http://schemas.openxmlformats.org/drawingml/2006/main">
              <a:ext uri="{FF2B5EF4-FFF2-40B4-BE49-F238E27FC236}">
                <a16:creationId xmlns:a16="http://schemas.microsoft.com/office/drawing/2014/main" id="{2054A76E-5E27-47C8-9D38-91B22D70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600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pA1</a:t>
            </a:r>
          </a:p>
        </p:txBody>
      </p:sp>
      <p:sp>
        <p:nvSpPr>
          <p:cNvPr id="28" name="pA2">
            <a:extLst xmlns:a="http://schemas.openxmlformats.org/drawingml/2006/main">
              <a:ext uri="{FF2B5EF4-FFF2-40B4-BE49-F238E27FC236}">
                <a16:creationId xmlns:a16="http://schemas.microsoft.com/office/drawing/2014/main" id="{B46E3A8E-EE68-451A-B6C9-5948EB0A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14875"/>
            <a:ext cx="600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pA2</a:t>
            </a:r>
          </a:p>
        </p:txBody>
      </p:sp>
      <p:sp>
        <p:nvSpPr>
          <p:cNvPr id="29" name="pA3">
            <a:extLst xmlns:a="http://schemas.openxmlformats.org/drawingml/2006/main">
              <a:ext uri="{FF2B5EF4-FFF2-40B4-BE49-F238E27FC236}">
                <a16:creationId xmlns:a16="http://schemas.microsoft.com/office/drawing/2014/main" id="{0D7E00E2-BA3F-4E61-BD51-49143A44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14875"/>
            <a:ext cx="600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pA3</a:t>
            </a:r>
          </a:p>
        </p:txBody>
      </p:sp>
      <p:sp>
        <p:nvSpPr>
          <p:cNvPr id="30" name="pB1">
            <a:extLst xmlns:a="http://schemas.openxmlformats.org/drawingml/2006/main">
              <a:ext uri="{FF2B5EF4-FFF2-40B4-BE49-F238E27FC236}">
                <a16:creationId xmlns:a16="http://schemas.microsoft.com/office/drawing/2014/main" id="{1BC1FC51-DC4B-4E72-801A-7E28CD31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600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pB1</a:t>
            </a:r>
          </a:p>
        </p:txBody>
      </p:sp>
      <p:sp>
        <p:nvSpPr>
          <p:cNvPr id="31" name="pB2">
            <a:extLst xmlns:a="http://schemas.openxmlformats.org/drawingml/2006/main">
              <a:ext uri="{FF2B5EF4-FFF2-40B4-BE49-F238E27FC236}">
                <a16:creationId xmlns:a16="http://schemas.microsoft.com/office/drawing/2014/main" id="{5983B380-BB89-4DD4-A3B7-6CF174C7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57800"/>
            <a:ext cx="600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pB2</a:t>
            </a:r>
          </a:p>
        </p:txBody>
      </p:sp>
      <p:sp>
        <p:nvSpPr>
          <p:cNvPr id="32" name="关系线">
            <a:extLst xmlns:a="http://schemas.openxmlformats.org/drawingml/2006/main">
              <a:ext uri="{FF2B5EF4-FFF2-40B4-BE49-F238E27FC236}">
                <a16:creationId xmlns:a16="http://schemas.microsoft.com/office/drawing/2014/main" id="{F235C5BE-FB38-4EFD-8E27-6EAC8757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67875" y="3305175"/>
            <a:ext cx="0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AE8"/>
            </a:solidFill>
          </a:ln>
        </p:spPr>
      </p:sp>
      <p:sp>
        <p:nvSpPr>
          <p:cNvPr id="33" name="关系线">
            <a:extLst xmlns:a="http://schemas.openxmlformats.org/drawingml/2006/main">
              <a:ext uri="{FF2B5EF4-FFF2-40B4-BE49-F238E27FC236}">
                <a16:creationId xmlns:a16="http://schemas.microsoft.com/office/drawing/2014/main" id="{30656E80-AD82-4E91-92BB-7BC1BCA1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686175" y="4895850"/>
            <a:ext cx="598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AE8"/>
            </a:solidFill>
          </a:ln>
        </p:spPr>
      </p:sp>
      <p:sp>
        <p:nvSpPr>
          <p:cNvPr id="34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483E672D-5ECC-478A-8975-9DB410DA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00600"/>
            <a:ext cx="666750" cy="1905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35" name="VarlenMetadata 把样本边界交给注意力算子。">
            <a:extLst xmlns:a="http://schemas.openxmlformats.org/drawingml/2006/main">
              <a:ext uri="{FF2B5EF4-FFF2-40B4-BE49-F238E27FC236}">
                <a16:creationId xmlns:a16="http://schemas.microsoft.com/office/drawing/2014/main" id="{6E4AAADC-CBFC-42E2-A437-63CDC658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VarlenMetadata 把样本边界交给注意力算子。</a:t>
            </a:r>
          </a:p>
        </p:txBody>
      </p:sp>
      <p:sp>
        <p:nvSpPr>
          <p:cNvPr id="36" name="每个返回的 log-prob，都必须对应原来的样本和 token。">
            <a:extLst xmlns:a="http://schemas.openxmlformats.org/drawingml/2006/main">
              <a:ext uri="{FF2B5EF4-FFF2-40B4-BE49-F238E27FC236}">
                <a16:creationId xmlns:a16="http://schemas.microsoft.com/office/drawing/2014/main" id="{81D3491A-FCA6-4D38-AF29-08F11EB5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每个返回的 log-prob，都必须对应原来的样本和 token。</a:t>
            </a:r>
          </a:p>
        </p:txBody>
      </p:sp>
    </p:spTree>
    <p:extLst>
      <p:ext uri="{BB962C8B-B14F-4D97-AF65-F5344CB8AC3E}">
        <p14:creationId xmlns:p14="http://schemas.microsoft.com/office/powerpoint/2010/main" val="254228660"/>
      </p:ext>
    </p:extLst>
  </p:cSld>
</p:sld>
</file>

<file path=ppt/slides/slide10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切换边界与接入契约">
            <a:extLst xmlns:a="http://schemas.openxmlformats.org/drawingml/2006/main">
              <a:ext uri="{FF2B5EF4-FFF2-40B4-BE49-F238E27FC236}">
                <a16:creationId xmlns:a16="http://schemas.microsoft.com/office/drawing/2014/main" id="{F767ACAD-AEF1-4EF8-AB6E-1547B4F4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切换边界与接入契约</a:t>
            </a:r>
          </a:p>
        </p:txBody>
      </p:sp>
      <p:sp>
        <p:nvSpPr>
          <p:cNvPr id="5" name="Actor 学完以后，下一轮生成怎样用上新参数？">
            <a:extLst xmlns:a="http://schemas.openxmlformats.org/drawingml/2006/main">
              <a:ext uri="{FF2B5EF4-FFF2-40B4-BE49-F238E27FC236}">
                <a16:creationId xmlns:a16="http://schemas.microsoft.com/office/drawing/2014/main" id="{6774216C-BBD5-4940-8B6D-01AD987C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学完以后，下一轮生成怎样用上新参数？</a:t>
            </a:r>
          </a:p>
        </p:txBody>
      </p:sp>
      <p:sp>
        <p:nvSpPr>
          <p:cNvPr id="6" name="Actor 完成更新">
            <a:extLst xmlns:a="http://schemas.openxmlformats.org/drawingml/2006/main">
              <a:ext uri="{FF2B5EF4-FFF2-40B4-BE49-F238E27FC236}">
                <a16:creationId xmlns:a16="http://schemas.microsoft.com/office/drawing/2014/main" id="{4B27BED8-AFA2-4C54-9D9F-9D0D227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5622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E60012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完成更新</a:t>
            </a:r>
          </a:p>
        </p:txBody>
      </p:sp>
      <p:sp>
        <p:nvSpPr>
          <p:cNvPr id="7" name="读取参数分片 get_per_tensor_param()">
            <a:extLst xmlns:a="http://schemas.openxmlformats.org/drawingml/2006/main">
              <a:ext uri="{FF2B5EF4-FFF2-40B4-BE49-F238E27FC236}">
                <a16:creationId xmlns:a16="http://schemas.microsoft.com/office/drawing/2014/main" id="{682A3B42-A288-4DEE-BDBC-80480A98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14550"/>
            <a:ext cx="3086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读取参数分片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get_per_tensor_param()</a:t>
            </a:r>
          </a:p>
        </p:txBody>
      </p:sp>
      <p:sp>
        <p:nvSpPr>
          <p:cNvPr id="8" name="映射参数名称 需要时物化完整张量">
            <a:extLst xmlns:a="http://schemas.openxmlformats.org/drawingml/2006/main">
              <a:ext uri="{FF2B5EF4-FFF2-40B4-BE49-F238E27FC236}">
                <a16:creationId xmlns:a16="http://schemas.microsoft.com/office/drawing/2014/main" id="{B81DC23B-458A-48EC-A0F2-02A88E4B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14550"/>
            <a:ext cx="27717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映射参数名称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需要时物化完整张量</a:t>
            </a:r>
          </a:p>
        </p:txBody>
      </p:sp>
      <p:cxnSp>
        <p:nvCxnSpPr>
          <p:cNvPr id="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00425" y="2624138"/>
            <a:ext cx="11239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10475" y="26289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1" name="下一轮 Wordle 使用新策略生成">
            <a:extLst xmlns:a="http://schemas.openxmlformats.org/drawingml/2006/main">
              <a:ext uri="{FF2B5EF4-FFF2-40B4-BE49-F238E27FC236}">
                <a16:creationId xmlns:a16="http://schemas.microsoft.com/office/drawing/2014/main" id="{1BD96A4C-EE2E-4D87-9B41-314AF31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43375"/>
            <a:ext cx="2952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下一轮 Wordle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使用新策略生成</a:t>
            </a:r>
          </a:p>
        </p:txBody>
      </p:sp>
      <p:sp>
        <p:nvSpPr>
          <p:cNvPr id="12" name="vLLM update_weights()">
            <a:extLst xmlns:a="http://schemas.openxmlformats.org/drawingml/2006/main">
              <a:ext uri="{FF2B5EF4-FFF2-40B4-BE49-F238E27FC236}">
                <a16:creationId xmlns:a16="http://schemas.microsoft.com/office/drawing/2014/main" id="{31C06CDB-7424-4B5D-90C3-885F6C4C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43375"/>
            <a:ext cx="28384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vLLM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update_weights()</a:t>
            </a:r>
          </a:p>
        </p:txBody>
      </p:sp>
      <p:cxnSp>
        <p:nvCxnSpPr>
          <p:cNvPr id="13" name=""/>
          <p:cNvCxnSpPr>
            <a:stCxn xmlns:a="http://schemas.openxmlformats.org/drawingml/2006/main" id="8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143875" y="3143250"/>
            <a:ext cx="1900238" cy="1471613"/>
          </a:xfrm>
          <a:prstGeom xmlns:a="http://schemas.openxmlformats.org/drawingml/2006/main" prst="bentConnector5">
            <a:avLst>
              <a:gd name="adj1" fmla="val 0"/>
              <a:gd name="adj2" fmla="val 15534"/>
              <a:gd name="adj3" fmla="val 8797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4" name=""/>
          <p:cNvCxnSpPr>
            <a:stCxn xmlns:a="http://schemas.openxmlformats.org/drawingml/2006/main" id="12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781425" y="46148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7854B"/>
            </a:solidFill>
            <a:prstDash val="solid"/>
            <a:tailEnd type="triangle" w="med" len="med"/>
          </a:ln>
        </p:spPr>
      </p:cxnSp>
      <p:sp>
        <p:nvSpPr>
          <p:cNvPr id="15" name="DTensor：带有分片布局的张量">
            <a:extLst xmlns:a="http://schemas.openxmlformats.org/drawingml/2006/main">
              <a:ext uri="{FF2B5EF4-FFF2-40B4-BE49-F238E27FC236}">
                <a16:creationId xmlns:a16="http://schemas.microsoft.com/office/drawing/2014/main" id="{6C144485-A745-49A6-9745-9DD044A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67341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DTensor：带有分片布局的张量</a:t>
            </a:r>
          </a:p>
        </p:txBody>
      </p:sp>
      <p:sp>
        <p:nvSpPr>
          <p:cNvPr id="16" name="Ref 继续保持冻结">
            <a:extLst xmlns:a="http://schemas.openxmlformats.org/drawingml/2006/main">
              <a:ext uri="{FF2B5EF4-FFF2-40B4-BE49-F238E27FC236}">
                <a16:creationId xmlns:a16="http://schemas.microsoft.com/office/drawing/2014/main" id="{855DEF1D-BE48-4C2F-8B0F-48AEA825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38650"/>
            <a:ext cx="27908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Ref 继续保持冻结</a:t>
            </a:r>
          </a:p>
        </p:txBody>
      </p:sp>
      <p:sp>
        <p:nvSpPr>
          <p:cNvPr id="17" name="内部权重同步必须完成；保存 checkpoint 是另一件事。">
            <a:extLst xmlns:a="http://schemas.openxmlformats.org/drawingml/2006/main">
              <a:ext uri="{FF2B5EF4-FFF2-40B4-BE49-F238E27FC236}">
                <a16:creationId xmlns:a16="http://schemas.microsoft.com/office/drawing/2014/main" id="{A604EED2-0365-43FE-BD2D-AB0EE9F3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内部权重同步必须完成；保存 checkpoint 是另一件事。</a:t>
            </a:r>
          </a:p>
        </p:txBody>
      </p:sp>
    </p:spTree>
    <p:extLst>
      <p:ext uri="{BB962C8B-B14F-4D97-AF65-F5344CB8AC3E}">
        <p14:creationId xmlns:p14="http://schemas.microsoft.com/office/powerpoint/2010/main" val="1800978259"/>
      </p:ext>
    </p:extLst>
  </p:cSld>
</p:sld>
</file>

<file path=ppt/slides/slide10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609600" y="320040"/>
            <a:ext cx="95250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切换边界与接入契约</a:t>
            </a:r>
            <a:endParaRPr sz="27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5" name="quiz-instruction"/>
          <p:cNvSpPr>
            <a:spLocks noGrp="1"/>
          </p:cNvSpPr>
          <p:nvPr/>
        </p:nvSpPr>
        <p:spPr>
          <a:xfrm>
            <a:off x="609600" y="9715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随堂检测：先独立作答，再说明你的判断依据。</a:t>
            </a:r>
            <a:endParaRPr sz="1725" b="0">
              <a:solidFill>
                <a:srgbClr val="555555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q1-label"/>
          <p:cNvSpPr>
            <a:spLocks noGrp="1"/>
          </p:cNvSpPr>
          <p:nvPr/>
        </p:nvSpPr>
        <p:spPr>
          <a:xfrm>
            <a:off x="609600" y="143827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Q1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q1-stem"/>
          <p:cNvSpPr>
            <a:spLocks noGrp="1"/>
          </p:cNvSpPr>
          <p:nvPr/>
        </p:nvSpPr>
        <p:spPr>
          <a:xfrm>
            <a:off x="1495425" y="144780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【判断】切换后，Wordle 奖励与 GRPO 语义保持不变。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q2-label"/>
          <p:cNvSpPr>
            <a:spLocks noGrp="1"/>
          </p:cNvSpPr>
          <p:nvPr/>
        </p:nvSpPr>
        <p:spPr>
          <a:xfrm>
            <a:off x="609600" y="225742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FFD0D1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Q2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q2-stem"/>
          <p:cNvSpPr>
            <a:spLocks noGrp="1"/>
          </p:cNvSpPr>
          <p:nvPr/>
        </p:nvSpPr>
        <p:spPr>
          <a:xfrm>
            <a:off x="1495425" y="226695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【判断】Actor 更新后，Actor 与 Ref 都向 vLLM 同步新权重。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0" name="q3-label"/>
          <p:cNvSpPr>
            <a:spLocks noGrp="1"/>
          </p:cNvSpPr>
          <p:nvPr/>
        </p:nvSpPr>
        <p:spPr>
          <a:xfrm>
            <a:off x="609600" y="310515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BFECCC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Q3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1" name="q3-stem"/>
          <p:cNvSpPr>
            <a:spLocks noGrp="1"/>
          </p:cNvSpPr>
          <p:nvPr/>
        </p:nvSpPr>
        <p:spPr>
          <a:xfrm>
            <a:off x="1495425" y="311467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【单选】哪项配置选择 TorchTitan Engine？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2" name="q3-option0"/>
          <p:cNvSpPr>
            <a:spLocks noGrp="1"/>
          </p:cNvSpPr>
          <p:nvPr/>
        </p:nvSpPr>
        <p:spPr>
          <a:xfrm>
            <a:off x="149542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model_engine=torchtitan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3" name="q3-option1"/>
          <p:cNvSpPr>
            <a:spLocks noGrp="1"/>
          </p:cNvSpPr>
          <p:nvPr/>
        </p:nvSpPr>
        <p:spPr>
          <a:xfrm>
            <a:off x="650557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rollout.name=vllm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4" name="q3-option2"/>
          <p:cNvSpPr>
            <a:spLocks noGrp="1"/>
          </p:cNvSpPr>
          <p:nvPr/>
        </p:nvSpPr>
        <p:spPr>
          <a:xfrm>
            <a:off x="149542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adv_estimator=grpo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5" name="q3-option3"/>
          <p:cNvSpPr>
            <a:spLocks noGrp="1"/>
          </p:cNvSpPr>
          <p:nvPr/>
        </p:nvSpPr>
        <p:spPr>
          <a:xfrm>
            <a:off x="650557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trainer.device=npu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6" name="q4-label"/>
          <p:cNvSpPr>
            <a:spLocks noGrp="1"/>
          </p:cNvSpPr>
          <p:nvPr/>
        </p:nvSpPr>
        <p:spPr>
          <a:xfrm>
            <a:off x="609600" y="468630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Q4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7" name="q4-stem"/>
          <p:cNvSpPr>
            <a:spLocks noGrp="1"/>
          </p:cNvSpPr>
          <p:nvPr/>
        </p:nvSpPr>
        <p:spPr>
          <a:xfrm>
            <a:off x="1495425" y="469582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【单选】更新成功但生成端长期使用旧策略，应先查什么？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8" name="q4-option0"/>
          <p:cNvSpPr>
            <a:spLocks noGrp="1"/>
          </p:cNvSpPr>
          <p:nvPr/>
        </p:nvSpPr>
        <p:spPr>
          <a:xfrm>
            <a:off x="149542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词表大小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9" name="q4-option1"/>
          <p:cNvSpPr>
            <a:spLocks noGrp="1"/>
          </p:cNvSpPr>
          <p:nvPr/>
        </p:nvSpPr>
        <p:spPr>
          <a:xfrm>
            <a:off x="650557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奖励权重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0" name="q4-option2"/>
          <p:cNvSpPr>
            <a:spLocks noGrp="1"/>
          </p:cNvSpPr>
          <p:nvPr/>
        </p:nvSpPr>
        <p:spPr>
          <a:xfrm>
            <a:off x="149542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Actor 权重同步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1" name="q4-option3"/>
          <p:cNvSpPr>
            <a:spLocks noGrp="1"/>
          </p:cNvSpPr>
          <p:nvPr/>
        </p:nvSpPr>
        <p:spPr>
          <a:xfrm>
            <a:off x="650557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测试词数量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9"/>
          <p:cNvSpPr>
            <a:spLocks noGrp="1"/>
          </p:cNvSpPr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u="none" cap="none">
                <a:ln>
                  <a:noFill/>
                </a:ln>
                <a:solidFill>
                  <a:srgbClr val="DDDDDD">
                    <a:lumMod val="50000"/>
                  </a:srgb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RL 中阶课程</a:t>
            </a:r>
            <a:endParaRPr sz="4000" b="0" i="0" u="none" cap="none">
              <a:ln>
                <a:noFill/>
              </a:ln>
              <a:solidFill>
                <a:srgbClr val="DDDDDD">
                  <a:lumMod val="50000"/>
                </a:srgb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3" name="í$ľidè"/>
          <p:cNvSpPr>
            <a:spLocks noGrp="1"/>
          </p:cNvSpPr>
          <p:nvPr/>
        </p:nv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5" name="文本框 16"/>
          <p:cNvSpPr>
            <a:spLocks noGrp="1"/>
          </p:cNvSpPr>
          <p:nvPr/>
        </p:nvSpPr>
        <p:spPr>
          <a:xfrm>
            <a:off x="620201" y="6130454"/>
            <a:ext cx="87630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Times New Roman" panose="02020503050405090304"/>
                <a:ea typeface="微软雅黑"/>
                <a:cs typeface="Times New Roman" panose="02020503050405090304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矩形 11"/>
          <p:cNvSpPr>
            <a:spLocks noGrp="1"/>
          </p:cNvSpPr>
          <p:nvPr/>
        </p:nvSpPr>
        <p:spPr>
          <a:xfrm>
            <a:off x="5157694" y="1530876"/>
            <a:ext cx="4587547" cy="596075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1 切换边界与接入契约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矩形 12"/>
          <p:cNvSpPr>
            <a:spLocks noGrp="1"/>
          </p:cNvSpPr>
          <p:nvPr/>
        </p:nvSpPr>
        <p:spPr>
          <a:xfrm>
            <a:off x="5157694" y="2680975"/>
            <a:ext cx="4587549" cy="591795"/>
          </a:xfrm>
          <a:prstGeom prst="rect">
            <a:avLst/>
          </a:prstGeom>
          <a:solidFill>
            <a:srgbClr val="C00000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chemeClr val="bg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2 TorchTitan-NPU 能力</a:t>
            </a:r>
            <a:endParaRPr sz="2400">
              <a:solidFill>
                <a:schemeClr val="bg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矩形 13"/>
          <p:cNvSpPr>
            <a:spLocks noGrp="1"/>
          </p:cNvSpPr>
          <p:nvPr/>
        </p:nvSpPr>
        <p:spPr>
          <a:xfrm>
            <a:off x="5157694" y="3712434"/>
            <a:ext cx="4587551" cy="587513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3 配置与运行验证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矩形 6"/>
          <p:cNvSpPr>
            <a:spLocks noGrp="1"/>
          </p:cNvSpPr>
          <p:nvPr/>
        </p:nvSpPr>
        <p:spPr>
          <a:xfrm>
            <a:off x="5157694" y="4739611"/>
            <a:ext cx="4587553" cy="587513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4 评价与迁移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TorchTitan-NPU 能力">
            <a:extLst xmlns:a="http://schemas.openxmlformats.org/drawingml/2006/main">
              <a:ext uri="{FF2B5EF4-FFF2-40B4-BE49-F238E27FC236}">
                <a16:creationId xmlns:a16="http://schemas.microsoft.com/office/drawing/2014/main" id="{7F5DD400-85CF-4ECB-92E5-503877BB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 能力</a:t>
            </a:r>
          </a:p>
        </p:txBody>
      </p:sp>
      <p:sp>
        <p:nvSpPr>
          <p:cNvPr id="5" name="两张 NPU 平时各存一半，计算当前单元时临时聚齐。">
            <a:extLst xmlns:a="http://schemas.openxmlformats.org/drawingml/2006/main">
              <a:ext uri="{FF2B5EF4-FFF2-40B4-BE49-F238E27FC236}">
                <a16:creationId xmlns:a16="http://schemas.microsoft.com/office/drawing/2014/main" id="{69975C73-0019-4266-B7B7-B88594A9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两张 NPU 平时各存一半，计算当前单元时临时聚齐。</a:t>
            </a:r>
          </a:p>
        </p:txBody>
      </p:sp>
      <p:sp>
        <p:nvSpPr>
          <p:cNvPr id="6" name="平时：分片驻留">
            <a:extLst xmlns:a="http://schemas.openxmlformats.org/drawingml/2006/main">
              <a:ext uri="{FF2B5EF4-FFF2-40B4-BE49-F238E27FC236}">
                <a16:creationId xmlns:a16="http://schemas.microsoft.com/office/drawing/2014/main" id="{000FDE12-F235-45DA-BEB1-8389234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平时：分片驻留</a:t>
            </a:r>
          </a:p>
        </p:txBody>
      </p:sp>
      <p:sp>
        <p:nvSpPr>
          <p:cNvPr id="7" name="计算前：AllGather">
            <a:extLst xmlns:a="http://schemas.openxmlformats.org/drawingml/2006/main">
              <a:ext uri="{FF2B5EF4-FFF2-40B4-BE49-F238E27FC236}">
                <a16:creationId xmlns:a16="http://schemas.microsoft.com/office/drawing/2014/main" id="{03D58D53-75A1-49D1-A5B2-6F481CA4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计算前：AllGather</a:t>
            </a:r>
          </a:p>
        </p:txBody>
      </p:sp>
      <p:sp>
        <p:nvSpPr>
          <p:cNvPr id="8" name="计算后：重新分片">
            <a:extLst xmlns:a="http://schemas.openxmlformats.org/drawingml/2006/main">
              <a:ext uri="{FF2B5EF4-FFF2-40B4-BE49-F238E27FC236}">
                <a16:creationId xmlns:a16="http://schemas.microsoft.com/office/drawing/2014/main" id="{BC3C0DEA-82E7-484F-8FDD-030E4AAA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计算后：重新分片</a:t>
            </a:r>
          </a:p>
        </p:txBody>
      </p:sp>
      <p:sp>
        <p:nvSpPr>
          <p:cNvPr id="9" name="NPU 0">
            <a:extLst xmlns:a="http://schemas.openxmlformats.org/drawingml/2006/main">
              <a:ext uri="{FF2B5EF4-FFF2-40B4-BE49-F238E27FC236}">
                <a16:creationId xmlns:a16="http://schemas.microsoft.com/office/drawing/2014/main" id="{7775B3E1-223C-4A35-90D9-27857956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098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NPU 0</a:t>
            </a:r>
          </a:p>
        </p:txBody>
      </p:sp>
      <p:sp>
        <p:nvSpPr>
          <p:cNvPr id="10" name="W₀">
            <a:extLst xmlns:a="http://schemas.openxmlformats.org/drawingml/2006/main">
              <a:ext uri="{FF2B5EF4-FFF2-40B4-BE49-F238E27FC236}">
                <a16:creationId xmlns:a16="http://schemas.microsoft.com/office/drawing/2014/main" id="{339D30CC-860D-41AF-8A70-CA5B8E60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47975"/>
            <a:ext cx="256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W₀</a:t>
            </a:r>
          </a:p>
        </p:txBody>
      </p:sp>
      <p:sp>
        <p:nvSpPr>
          <p:cNvPr id="11" name="NPU 1">
            <a:extLst xmlns:a="http://schemas.openxmlformats.org/drawingml/2006/main">
              <a:ext uri="{FF2B5EF4-FFF2-40B4-BE49-F238E27FC236}">
                <a16:creationId xmlns:a16="http://schemas.microsoft.com/office/drawing/2014/main" id="{F52E2461-EB72-43E7-A3FD-80BF0092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NPU 1</a:t>
            </a:r>
          </a:p>
        </p:txBody>
      </p:sp>
      <p:sp>
        <p:nvSpPr>
          <p:cNvPr id="12" name="W₁">
            <a:extLst xmlns:a="http://schemas.openxmlformats.org/drawingml/2006/main">
              <a:ext uri="{FF2B5EF4-FFF2-40B4-BE49-F238E27FC236}">
                <a16:creationId xmlns:a16="http://schemas.microsoft.com/office/drawing/2014/main" id="{9B26156A-95D2-43CC-8B83-E4FFD8CE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76725"/>
            <a:ext cx="256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W₁</a:t>
            </a:r>
          </a:p>
        </p:txBody>
      </p:sp>
      <p:sp>
        <p:nvSpPr>
          <p:cNvPr id="13" name="NPU 0">
            <a:extLst xmlns:a="http://schemas.openxmlformats.org/drawingml/2006/main">
              <a:ext uri="{FF2B5EF4-FFF2-40B4-BE49-F238E27FC236}">
                <a16:creationId xmlns:a16="http://schemas.microsoft.com/office/drawing/2014/main" id="{34A4F70B-055C-4BBC-8054-C746E19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98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NPU 0</a:t>
            </a:r>
          </a:p>
        </p:txBody>
      </p:sp>
      <p:sp>
        <p:nvSpPr>
          <p:cNvPr id="14" name="W₀">
            <a:extLst xmlns:a="http://schemas.openxmlformats.org/drawingml/2006/main">
              <a:ext uri="{FF2B5EF4-FFF2-40B4-BE49-F238E27FC236}">
                <a16:creationId xmlns:a16="http://schemas.microsoft.com/office/drawing/2014/main" id="{A81CF4CF-27D9-4C2E-87E3-36385949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47975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W₀</a:t>
            </a:r>
          </a:p>
        </p:txBody>
      </p:sp>
      <p:sp>
        <p:nvSpPr>
          <p:cNvPr id="15" name="W₁">
            <a:extLst xmlns:a="http://schemas.openxmlformats.org/drawingml/2006/main">
              <a:ext uri="{FF2B5EF4-FFF2-40B4-BE49-F238E27FC236}">
                <a16:creationId xmlns:a16="http://schemas.microsoft.com/office/drawing/2014/main" id="{103F776B-50D1-410A-B9EF-1DED7F87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47975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W₁</a:t>
            </a:r>
          </a:p>
        </p:txBody>
      </p:sp>
      <p:sp>
        <p:nvSpPr>
          <p:cNvPr id="16" name="NPU 1">
            <a:extLst xmlns:a="http://schemas.openxmlformats.org/drawingml/2006/main">
              <a:ext uri="{FF2B5EF4-FFF2-40B4-BE49-F238E27FC236}">
                <a16:creationId xmlns:a16="http://schemas.microsoft.com/office/drawing/2014/main" id="{95166C66-C4FE-4E21-853E-B0972CC0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NPU 1</a:t>
            </a:r>
          </a:p>
        </p:txBody>
      </p:sp>
      <p:sp>
        <p:nvSpPr>
          <p:cNvPr id="17" name="W₀">
            <a:extLst xmlns:a="http://schemas.openxmlformats.org/drawingml/2006/main">
              <a:ext uri="{FF2B5EF4-FFF2-40B4-BE49-F238E27FC236}">
                <a16:creationId xmlns:a16="http://schemas.microsoft.com/office/drawing/2014/main" id="{655445EA-11C0-42A9-B081-C96DF594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76725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W₀</a:t>
            </a:r>
          </a:p>
        </p:txBody>
      </p:sp>
      <p:sp>
        <p:nvSpPr>
          <p:cNvPr id="18" name="W₁">
            <a:extLst xmlns:a="http://schemas.openxmlformats.org/drawingml/2006/main">
              <a:ext uri="{FF2B5EF4-FFF2-40B4-BE49-F238E27FC236}">
                <a16:creationId xmlns:a16="http://schemas.microsoft.com/office/drawing/2014/main" id="{9BE17CB4-949E-4FF6-A5B3-17BD9360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76725"/>
            <a:ext cx="1257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W₁</a:t>
            </a:r>
          </a:p>
        </p:txBody>
      </p:sp>
      <p:sp>
        <p:nvSpPr>
          <p:cNvPr id="19" name="NPU 0">
            <a:extLst xmlns:a="http://schemas.openxmlformats.org/drawingml/2006/main">
              <a:ext uri="{FF2B5EF4-FFF2-40B4-BE49-F238E27FC236}">
                <a16:creationId xmlns:a16="http://schemas.microsoft.com/office/drawing/2014/main" id="{462D0AF1-6F2D-4DF0-9988-819E7E5C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982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NPU 0</a:t>
            </a:r>
          </a:p>
        </p:txBody>
      </p:sp>
      <p:sp>
        <p:nvSpPr>
          <p:cNvPr id="20" name="W₀">
            <a:extLst xmlns:a="http://schemas.openxmlformats.org/drawingml/2006/main">
              <a:ext uri="{FF2B5EF4-FFF2-40B4-BE49-F238E27FC236}">
                <a16:creationId xmlns:a16="http://schemas.microsoft.com/office/drawing/2014/main" id="{BAACADF0-B32E-433D-B0D3-3C6A76A1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256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W₀</a:t>
            </a:r>
          </a:p>
        </p:txBody>
      </p:sp>
      <p:sp>
        <p:nvSpPr>
          <p:cNvPr id="21" name="NPU 1">
            <a:extLst xmlns:a="http://schemas.openxmlformats.org/drawingml/2006/main">
              <a:ext uri="{FF2B5EF4-FFF2-40B4-BE49-F238E27FC236}">
                <a16:creationId xmlns:a16="http://schemas.microsoft.com/office/drawing/2014/main" id="{4F148A76-4F4C-4E65-91A9-B3110823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38575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NPU 1</a:t>
            </a:r>
          </a:p>
        </p:txBody>
      </p:sp>
      <p:sp>
        <p:nvSpPr>
          <p:cNvPr id="22" name="W₁">
            <a:extLst xmlns:a="http://schemas.openxmlformats.org/drawingml/2006/main">
              <a:ext uri="{FF2B5EF4-FFF2-40B4-BE49-F238E27FC236}">
                <a16:creationId xmlns:a16="http://schemas.microsoft.com/office/drawing/2014/main" id="{602BCB07-5A9B-4B8C-BCAE-DEBF5029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2562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W₁</a:t>
            </a:r>
          </a:p>
        </p:txBody>
      </p:sp>
      <p:sp>
        <p:nvSpPr>
          <p:cNvPr id="23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21B6EF7B-399E-4CA4-BE5A-1A5DD32F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33725"/>
            <a:ext cx="571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24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6D897B68-B49F-4E3A-A95F-29646A20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33725"/>
            <a:ext cx="5715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25" name="当前单元完整参数">
            <a:extLst xmlns:a="http://schemas.openxmlformats.org/drawingml/2006/main">
              <a:ext uri="{FF2B5EF4-FFF2-40B4-BE49-F238E27FC236}">
                <a16:creationId xmlns:a16="http://schemas.microsoft.com/office/drawing/2014/main" id="{A91C1930-0C93-42A2-B0C9-9AC0CAD0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33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当前单元完整参数</a:t>
            </a:r>
          </a:p>
        </p:txBody>
      </p:sp>
      <p:sp>
        <p:nvSpPr>
          <p:cNvPr id="26" name="图为 Actor 当前管理单元的示意；参数、梯度和优化器状态均按配置分片。">
            <a:extLst xmlns:a="http://schemas.openxmlformats.org/drawingml/2006/main">
              <a:ext uri="{FF2B5EF4-FFF2-40B4-BE49-F238E27FC236}">
                <a16:creationId xmlns:a16="http://schemas.microsoft.com/office/drawing/2014/main" id="{0E6DC973-66CE-4039-AC3A-D1E4D8A2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图为 Actor 当前管理单元的示意；参数、梯度和优化器状态均按配置分片。</a:t>
            </a:r>
          </a:p>
        </p:txBody>
      </p:sp>
      <p:sp>
        <p:nvSpPr>
          <p:cNvPr id="27" name="反向前再聚集参数，梯度经 ReduceScatter 归约并分片。">
            <a:extLst xmlns:a="http://schemas.openxmlformats.org/drawingml/2006/main">
              <a:ext uri="{FF2B5EF4-FFF2-40B4-BE49-F238E27FC236}">
                <a16:creationId xmlns:a16="http://schemas.microsoft.com/office/drawing/2014/main" id="{A5151221-B7A7-4770-A059-6E84DFCA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反向前再聚集参数，梯度经 ReduceScatter 归约并分片。</a:t>
            </a:r>
          </a:p>
        </p:txBody>
      </p:sp>
    </p:spTree>
    <p:extLst>
      <p:ext uri="{BB962C8B-B14F-4D97-AF65-F5344CB8AC3E}">
        <p14:creationId xmlns:p14="http://schemas.microsoft.com/office/powerpoint/2010/main" val="809202088"/>
      </p:ext>
    </p:extLst>
  </p:cSld>
</p:sld>
</file>

<file path=ppt/slides/slide10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TorchTitan-NPU 能力">
            <a:extLst xmlns:a="http://schemas.openxmlformats.org/drawingml/2006/main">
              <a:ext uri="{FF2B5EF4-FFF2-40B4-BE49-F238E27FC236}">
                <a16:creationId xmlns:a16="http://schemas.microsoft.com/office/drawing/2014/main" id="{92DD8E57-6452-4A4C-BF94-EF9ED609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 能力</a:t>
            </a:r>
          </a:p>
        </p:txBody>
      </p:sp>
      <p:sp>
        <p:nvSpPr>
          <p:cNvPr id="5" name="看到并行缩写时，先问“它把什么分给多张卡？”">
            <a:extLst xmlns:a="http://schemas.openxmlformats.org/drawingml/2006/main">
              <a:ext uri="{FF2B5EF4-FFF2-40B4-BE49-F238E27FC236}">
                <a16:creationId xmlns:a16="http://schemas.microsoft.com/office/drawing/2014/main" id="{B719FD28-C285-44C7-A660-64E0DB91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看到并行缩写时，先问“它把什么分给多张卡？”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42950" y="1847850"/>
          <a:ext xmlns:a="http://schemas.openxmlformats.org/drawingml/2006/main" cx="10706100" cy="3219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4210050"/>
                <a:gridCol w="3638550"/>
              </a:tblGrid>
              <a:tr h="4572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主要分工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本课安排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FSDP2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分训练状态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训练 shard=2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TP 张量并行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分一层内的张量运算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训练 1；vLLM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CP 上下文并行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分同一条序列的计算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训练 CP=1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PP 流水线并行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分不同网络层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本课关闭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EP 专家并行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分 MoE 的专家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本课稠密模型不用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有配置字段不代表已支持所有组合；此固定 Engine 的 PP 前反向未实现。">
            <a:extLst xmlns:a="http://schemas.openxmlformats.org/drawingml/2006/main">
              <a:ext uri="{FF2B5EF4-FFF2-40B4-BE49-F238E27FC236}">
                <a16:creationId xmlns:a16="http://schemas.microsoft.com/office/drawing/2014/main" id="{A04F69F0-0D93-49EA-9338-1354B9CB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有配置字段不代表已支持所有组合；此固定 Engine 的 PP 前反向未实现。</a:t>
            </a:r>
          </a:p>
        </p:txBody>
      </p:sp>
      <p:sp>
        <p:nvSpPr>
          <p:cNvPr id="8" name="训练和生成交替使用同两张 NPU，各自采用不同的并行分工。">
            <a:extLst xmlns:a="http://schemas.openxmlformats.org/drawingml/2006/main">
              <a:ext uri="{FF2B5EF4-FFF2-40B4-BE49-F238E27FC236}">
                <a16:creationId xmlns:a16="http://schemas.microsoft.com/office/drawing/2014/main" id="{27882F94-E04D-4677-A7C3-3E349A2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训练和生成交替使用同两张 NPU，各自采用不同的并行分工。</a:t>
            </a:r>
          </a:p>
        </p:txBody>
      </p:sp>
    </p:spTree>
    <p:extLst>
      <p:ext uri="{BB962C8B-B14F-4D97-AF65-F5344CB8AC3E}">
        <p14:creationId xmlns:p14="http://schemas.microsoft.com/office/powerpoint/2010/main" val="1455896858"/>
      </p:ext>
    </p:extLst>
  </p:cSld>
</p:sld>
</file>

<file path=ppt/slides/slide10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TorchTitan-NPU 能力">
            <a:extLst xmlns:a="http://schemas.openxmlformats.org/drawingml/2006/main">
              <a:ext uri="{FF2B5EF4-FFF2-40B4-BE49-F238E27FC236}">
                <a16:creationId xmlns:a16="http://schemas.microsoft.com/office/drawing/2014/main" id="{7DA8302A-EA11-4804-A8E5-25AF73E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 能力</a:t>
            </a:r>
          </a:p>
        </p:txBody>
      </p:sp>
      <p:sp>
        <p:nvSpPr>
          <p:cNvPr id="5" name="显存不够时，可以搬走状态，也可以少存中间结果。">
            <a:extLst xmlns:a="http://schemas.openxmlformats.org/drawingml/2006/main">
              <a:ext uri="{FF2B5EF4-FFF2-40B4-BE49-F238E27FC236}">
                <a16:creationId xmlns:a16="http://schemas.microsoft.com/office/drawing/2014/main" id="{88CC2E37-0D72-4ADC-B245-B32C6527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显存不够时，可以搬走状态，也可以少存中间结果。</a:t>
            </a:r>
          </a:p>
        </p:txBody>
      </p:sp>
      <p:sp>
        <p:nvSpPr>
          <p:cNvPr id="6" name="Offload：暂时不用的状态搬到 CPU">
            <a:extLst xmlns:a="http://schemas.openxmlformats.org/drawingml/2006/main">
              <a:ext uri="{FF2B5EF4-FFF2-40B4-BE49-F238E27FC236}">
                <a16:creationId xmlns:a16="http://schemas.microsoft.com/office/drawing/2014/main" id="{1638C3E9-3C0F-4A17-A7EC-3C7FECEC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Offload：暂时不用的状态搬到 CPU</a:t>
            </a:r>
          </a:p>
        </p:txBody>
      </p:sp>
      <p:sp>
        <p:nvSpPr>
          <p:cNvPr id="7" name="CPU 内存 暂存参数 / 优化器状态">
            <a:extLst xmlns:a="http://schemas.openxmlformats.org/drawingml/2006/main">
              <a:ext uri="{FF2B5EF4-FFF2-40B4-BE49-F238E27FC236}">
                <a16:creationId xmlns:a16="http://schemas.microsoft.com/office/drawing/2014/main" id="{82809B84-82AE-4815-9CC4-1B9E85E5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32670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6666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CPU 内存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暂存参数 / 优化器状态</a:t>
            </a:r>
          </a:p>
        </p:txBody>
      </p:sp>
      <p:sp>
        <p:nvSpPr>
          <p:cNvPr id="8" name="两张 NPU 恢复需要的状态后计算">
            <a:extLst xmlns:a="http://schemas.openxmlformats.org/drawingml/2006/main">
              <a:ext uri="{FF2B5EF4-FFF2-40B4-BE49-F238E27FC236}">
                <a16:creationId xmlns:a16="http://schemas.microsoft.com/office/drawing/2014/main" id="{624C9F97-4626-4FAE-A08A-CCC7377F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381250"/>
            <a:ext cx="32670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两张 NPU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恢复需要的状态后计算</a:t>
            </a:r>
          </a:p>
        </p:txBody>
      </p:sp>
      <p:cxnSp>
        <p:nvCxnSpPr>
          <p:cNvPr id="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267200" y="2843213"/>
            <a:ext cx="36099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0" name="计算前恢复">
            <a:extLst xmlns:a="http://schemas.openxmlformats.org/drawingml/2006/main">
              <a:ext uri="{FF2B5EF4-FFF2-40B4-BE49-F238E27FC236}">
                <a16:creationId xmlns:a16="http://schemas.microsoft.com/office/drawing/2014/main" id="{F56E6FF1-900E-4160-A830-082E9FB5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2410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计算前恢复</a:t>
            </a:r>
          </a:p>
        </p:txBody>
      </p:sp>
      <p:sp>
        <p:nvSpPr>
          <p:cNvPr id="11" name="关系线">
            <a:extLst xmlns:a="http://schemas.openxmlformats.org/drawingml/2006/main">
              <a:ext uri="{FF2B5EF4-FFF2-40B4-BE49-F238E27FC236}">
                <a16:creationId xmlns:a16="http://schemas.microsoft.com/office/drawing/2014/main" id="{0027492A-A773-485A-81AD-18BD34B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05950" y="330517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2" name="关系线">
            <a:extLst xmlns:a="http://schemas.openxmlformats.org/drawingml/2006/main">
              <a:ext uri="{FF2B5EF4-FFF2-40B4-BE49-F238E27FC236}">
                <a16:creationId xmlns:a16="http://schemas.microsoft.com/office/drawing/2014/main" id="{2642CCC5-D289-4389-9E96-A8E2D1A0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38425" y="3619500"/>
            <a:ext cx="686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3" name="关系线">
            <a:extLst xmlns:a="http://schemas.openxmlformats.org/drawingml/2006/main">
              <a:ext uri="{FF2B5EF4-FFF2-40B4-BE49-F238E27FC236}">
                <a16:creationId xmlns:a16="http://schemas.microsoft.com/office/drawing/2014/main" id="{4020A080-4A24-4AA2-B619-728FF00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38425" y="3495675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4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DB036533-5C9B-4385-9DAE-70571CD0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05175"/>
            <a:ext cx="209550" cy="2095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</a:ln>
        </p:spPr>
      </p:sp>
      <p:sp>
        <p:nvSpPr>
          <p:cNvPr id="15" name="阶段结束后卸载">
            <a:extLst xmlns:a="http://schemas.openxmlformats.org/drawingml/2006/main">
              <a:ext uri="{FF2B5EF4-FFF2-40B4-BE49-F238E27FC236}">
                <a16:creationId xmlns:a16="http://schemas.microsoft.com/office/drawing/2014/main" id="{50B40CEA-599E-447B-B729-6C6BC12C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667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阶段结束后卸载</a:t>
            </a:r>
          </a:p>
        </p:txBody>
      </p:sp>
      <p:sp>
        <p:nvSpPr>
          <p:cNvPr id="16" name="AC 激活重算：少保存，反向时重新计算">
            <a:extLst xmlns:a="http://schemas.openxmlformats.org/drawingml/2006/main">
              <a:ext uri="{FF2B5EF4-FFF2-40B4-BE49-F238E27FC236}">
                <a16:creationId xmlns:a16="http://schemas.microsoft.com/office/drawing/2014/main" id="{C20F07B8-DD19-4CD0-B95A-B206BF27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AC 激活重算：少保存，反向时重新计算</a:t>
            </a:r>
          </a:p>
        </p:txBody>
      </p:sp>
      <p:sp>
        <p:nvSpPr>
          <p:cNvPr id="17" name="保留的激活">
            <a:extLst xmlns:a="http://schemas.openxmlformats.org/drawingml/2006/main">
              <a:ext uri="{FF2B5EF4-FFF2-40B4-BE49-F238E27FC236}">
                <a16:creationId xmlns:a16="http://schemas.microsoft.com/office/drawing/2014/main" id="{892511F8-A2E0-49AB-9EF7-C4916FD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81525"/>
            <a:ext cx="21240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保留的激活</a:t>
            </a:r>
          </a:p>
        </p:txBody>
      </p:sp>
      <p:sp>
        <p:nvSpPr>
          <p:cNvPr id="18" name="重新做部分前向">
            <a:extLst xmlns:a="http://schemas.openxmlformats.org/drawingml/2006/main">
              <a:ext uri="{FF2B5EF4-FFF2-40B4-BE49-F238E27FC236}">
                <a16:creationId xmlns:a16="http://schemas.microsoft.com/office/drawing/2014/main" id="{4A12A99C-30E0-4A6D-BD2D-45B4D505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81525"/>
            <a:ext cx="28289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重新做部分前向</a:t>
            </a:r>
          </a:p>
        </p:txBody>
      </p:sp>
      <p:sp>
        <p:nvSpPr>
          <p:cNvPr id="19" name="继续反向">
            <a:extLst xmlns:a="http://schemas.openxmlformats.org/drawingml/2006/main">
              <a:ext uri="{FF2B5EF4-FFF2-40B4-BE49-F238E27FC236}">
                <a16:creationId xmlns:a16="http://schemas.microsoft.com/office/drawing/2014/main" id="{567EB9DB-348B-4371-B371-BADABB1A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581525"/>
            <a:ext cx="2276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继续反向</a:t>
            </a:r>
          </a:p>
        </p:txBody>
      </p:sp>
      <p:cxnSp>
        <p:nvCxnSpPr>
          <p:cNvPr id="2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124200" y="4876800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7854B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410450" y="4876800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22" name="本课：FP32 参数驻留、BF16 计算、FP32 梯度归约；torch.compile 关闭。">
            <a:extLst xmlns:a="http://schemas.openxmlformats.org/drawingml/2006/main">
              <a:ext uri="{FF2B5EF4-FFF2-40B4-BE49-F238E27FC236}">
                <a16:creationId xmlns:a16="http://schemas.microsoft.com/office/drawing/2014/main" id="{AD72CE26-BCD0-49C2-BE01-EBFA80D0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本课：FP32 参数驻留、BF16 计算、FP32 梯度归约；torch.compile 关闭。</a:t>
            </a:r>
          </a:p>
        </p:txBody>
      </p:sp>
      <p:sp>
        <p:nvSpPr>
          <p:cNvPr id="23" name="省显存有代价：offload 增加搬移，AC 增加重算。">
            <a:extLst xmlns:a="http://schemas.openxmlformats.org/drawingml/2006/main">
              <a:ext uri="{FF2B5EF4-FFF2-40B4-BE49-F238E27FC236}">
                <a16:creationId xmlns:a16="http://schemas.microsoft.com/office/drawing/2014/main" id="{022914FD-8226-408D-9F1F-10F1B25E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省显存有代价：offload 增加搬移，AC 增加重算。</a:t>
            </a:r>
          </a:p>
        </p:txBody>
      </p:sp>
    </p:spTree>
    <p:extLst>
      <p:ext uri="{BB962C8B-B14F-4D97-AF65-F5344CB8AC3E}">
        <p14:creationId xmlns:p14="http://schemas.microsoft.com/office/powerpoint/2010/main" val="153408735"/>
      </p:ext>
    </p:extLst>
  </p:cSld>
</p:sld>
</file>

<file path=ppt/slides/slide10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TorchTitan-NPU 能力">
            <a:extLst xmlns:a="http://schemas.openxmlformats.org/drawingml/2006/main">
              <a:ext uri="{FF2B5EF4-FFF2-40B4-BE49-F238E27FC236}">
                <a16:creationId xmlns:a16="http://schemas.microsoft.com/office/drawing/2014/main" id="{C7471C21-FF5A-4CF0-B8AF-82D27D8F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 能力</a:t>
            </a:r>
          </a:p>
        </p:txBody>
      </p:sp>
      <p:sp>
        <p:nvSpPr>
          <p:cNvPr id="5" name="保留 Qwen3 的结构，给不同模块接入 NPU 实现。">
            <a:extLst xmlns:a="http://schemas.openxmlformats.org/drawingml/2006/main">
              <a:ext uri="{FF2B5EF4-FFF2-40B4-BE49-F238E27FC236}">
                <a16:creationId xmlns:a16="http://schemas.microsoft.com/office/drawing/2014/main" id="{70AD4BCE-626F-4C34-98F2-9DCD819B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保留 Qwen3 的结构，给不同模块接入 NPU 实现。</a:t>
            </a:r>
          </a:p>
        </p:txBody>
      </p:sp>
      <p:sp>
        <p:nvSpPr>
          <p:cNvPr id="6" name="模型中的模块">
            <a:extLst xmlns:a="http://schemas.openxmlformats.org/drawingml/2006/main">
              <a:ext uri="{FF2B5EF4-FFF2-40B4-BE49-F238E27FC236}">
                <a16:creationId xmlns:a16="http://schemas.microsoft.com/office/drawing/2014/main" id="{9DFF1A36-806F-4C40-BA2A-8E37109F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81175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模型中的模块</a:t>
            </a:r>
          </a:p>
        </p:txBody>
      </p:sp>
      <p:sp>
        <p:nvSpPr>
          <p:cNvPr id="7" name="接入方式">
            <a:extLst xmlns:a="http://schemas.openxmlformats.org/drawingml/2006/main">
              <a:ext uri="{FF2B5EF4-FFF2-40B4-BE49-F238E27FC236}">
                <a16:creationId xmlns:a16="http://schemas.microsoft.com/office/drawing/2014/main" id="{0D088197-0F2C-4DB2-848E-C56105EA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811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接入方式</a:t>
            </a:r>
          </a:p>
        </p:txBody>
      </p:sp>
      <p:sp>
        <p:nvSpPr>
          <p:cNvPr id="8" name="NPU 执行">
            <a:extLst xmlns:a="http://schemas.openxmlformats.org/drawingml/2006/main">
              <a:ext uri="{FF2B5EF4-FFF2-40B4-BE49-F238E27FC236}">
                <a16:creationId xmlns:a16="http://schemas.microsoft.com/office/drawing/2014/main" id="{2801F482-E35D-4C1E-B089-9BE0E020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81175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NPU 执行</a:t>
            </a:r>
          </a:p>
        </p:txBody>
      </p:sp>
      <p:sp>
        <p:nvSpPr>
          <p:cNvPr id="9" name="RMSNorm 归一化">
            <a:extLst xmlns:a="http://schemas.openxmlformats.org/drawingml/2006/main">
              <a:ext uri="{FF2B5EF4-FFF2-40B4-BE49-F238E27FC236}">
                <a16:creationId xmlns:a16="http://schemas.microsoft.com/office/drawing/2014/main" id="{91B07AA3-D3FC-4B3A-A5B1-EFBEA08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26193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RMSNorm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归一化</a:t>
            </a:r>
          </a:p>
        </p:txBody>
      </p:sp>
      <p:sp>
        <p:nvSpPr>
          <p:cNvPr id="10" name="RoPE 位置编码">
            <a:extLst xmlns:a="http://schemas.openxmlformats.org/drawingml/2006/main">
              <a:ext uri="{FF2B5EF4-FFF2-40B4-BE49-F238E27FC236}">
                <a16:creationId xmlns:a16="http://schemas.microsoft.com/office/drawing/2014/main" id="{F2FFAFD4-50AB-4FB4-AB45-9E7693E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26193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RoPE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位置编码</a:t>
            </a:r>
          </a:p>
        </p:txBody>
      </p:sp>
      <p:sp>
        <p:nvSpPr>
          <p:cNvPr id="11" name="Converter 构建时替换模块">
            <a:extLst xmlns:a="http://schemas.openxmlformats.org/drawingml/2006/main">
              <a:ext uri="{FF2B5EF4-FFF2-40B4-BE49-F238E27FC236}">
                <a16:creationId xmlns:a16="http://schemas.microsoft.com/office/drawing/2014/main" id="{66D2CAED-329C-4652-AC81-E7BD0752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76550"/>
            <a:ext cx="29432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E60012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Converter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构建时替换模块</a:t>
            </a:r>
          </a:p>
        </p:txBody>
      </p:sp>
      <p:sp>
        <p:nvSpPr>
          <p:cNvPr id="12" name="融合 RMSNorm / RoPE">
            <a:extLst xmlns:a="http://schemas.openxmlformats.org/drawingml/2006/main">
              <a:ext uri="{FF2B5EF4-FFF2-40B4-BE49-F238E27FC236}">
                <a16:creationId xmlns:a16="http://schemas.microsoft.com/office/drawing/2014/main" id="{9E410957-3425-42C4-B66A-04E60D83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43225"/>
            <a:ext cx="2971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E60012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融合 RMSNorm / RoPE</a:t>
            </a:r>
          </a:p>
        </p:txBody>
      </p:sp>
      <p:cxnSp>
        <p:nvCxnSpPr>
          <p:cNvPr id="1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76625" y="2824163"/>
            <a:ext cx="99060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476625" y="3367088"/>
            <a:ext cx="990600" cy="590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10450" y="3367088"/>
            <a:ext cx="1095375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E60012"/>
            </a:solidFill>
            <a:prstDash val="solid"/>
            <a:tailEnd type="triangle" w="med" len="med"/>
          </a:ln>
        </p:spPr>
      </p:cxnSp>
      <p:sp>
        <p:nvSpPr>
          <p:cNvPr id="16" name="Attention 注意力">
            <a:extLst xmlns:a="http://schemas.openxmlformats.org/drawingml/2006/main">
              <a:ext uri="{FF2B5EF4-FFF2-40B4-BE49-F238E27FC236}">
                <a16:creationId xmlns:a16="http://schemas.microsoft.com/office/drawing/2014/main" id="{AF95A35B-C6C5-4A7B-8926-0927011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2619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Attention 注意力</a:t>
            </a:r>
          </a:p>
        </p:txBody>
      </p:sp>
      <p:sp>
        <p:nvSpPr>
          <p:cNvPr id="17" name="model spec attn_type=varlen">
            <a:extLst xmlns:a="http://schemas.openxmlformats.org/drawingml/2006/main">
              <a:ext uri="{FF2B5EF4-FFF2-40B4-BE49-F238E27FC236}">
                <a16:creationId xmlns:a16="http://schemas.microsoft.com/office/drawing/2014/main" id="{CD9AAA5E-F0F0-4D60-8D89-7FD65036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57725"/>
            <a:ext cx="29432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model spec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attn_type=varlen</a:t>
            </a:r>
          </a:p>
        </p:txBody>
      </p:sp>
      <p:sp>
        <p:nvSpPr>
          <p:cNvPr id="18" name="TND 分段计算 另传累计长度边界">
            <a:extLst xmlns:a="http://schemas.openxmlformats.org/drawingml/2006/main">
              <a:ext uri="{FF2B5EF4-FFF2-40B4-BE49-F238E27FC236}">
                <a16:creationId xmlns:a16="http://schemas.microsoft.com/office/drawing/2014/main" id="{CC2252BF-FBFA-47C1-9DF4-0A8EDE9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657725"/>
            <a:ext cx="2971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TND 分段计算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另传累计长度边界</a:t>
            </a:r>
          </a:p>
        </p:txBody>
      </p:sp>
      <p:cxnSp>
        <p:nvCxnSpPr>
          <p:cNvPr id="1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476625" y="5067300"/>
            <a:ext cx="990600" cy="52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27854B"/>
            </a:solidFill>
            <a:prstDash val="solid"/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10450" y="50673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7854B"/>
            </a:solidFill>
            <a:prstDash val="solid"/>
            <a:tailEnd type="triangle" w="med" len="med"/>
          </a:ln>
        </p:spPr>
      </p:cxnSp>
      <p:sp>
        <p:nvSpPr>
          <p:cNvPr id="21" name="模块替换与变长注意力走两条接入路径，不能混成一个开关。">
            <a:extLst xmlns:a="http://schemas.openxmlformats.org/drawingml/2006/main">
              <a:ext uri="{FF2B5EF4-FFF2-40B4-BE49-F238E27FC236}">
                <a16:creationId xmlns:a16="http://schemas.microsoft.com/office/drawing/2014/main" id="{79B6CF91-0D88-46D1-A020-95264ED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模块替换与变长注意力走两条接入路径，不能混成一个开关。</a:t>
            </a:r>
          </a:p>
        </p:txBody>
      </p:sp>
    </p:spTree>
    <p:extLst>
      <p:ext uri="{BB962C8B-B14F-4D97-AF65-F5344CB8AC3E}">
        <p14:creationId xmlns:p14="http://schemas.microsoft.com/office/powerpoint/2010/main" val="1320542242"/>
      </p:ext>
    </p:extLst>
  </p:cSld>
</p:sld>
</file>

<file path=ppt/slides/slide10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TorchTitan-NPU 能力">
            <a:extLst xmlns:a="http://schemas.openxmlformats.org/drawingml/2006/main">
              <a:ext uri="{FF2B5EF4-FFF2-40B4-BE49-F238E27FC236}">
                <a16:creationId xmlns:a16="http://schemas.microsoft.com/office/drawing/2014/main" id="{F2793413-BDCE-4D91-998D-27E70BEB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 能力</a:t>
            </a:r>
          </a:p>
        </p:txBody>
      </p:sp>
      <p:sp>
        <p:nvSpPr>
          <p:cNvPr id="5" name="一次可打包很多 token，不代表单条样本可以任意变长。">
            <a:extLst xmlns:a="http://schemas.openxmlformats.org/drawingml/2006/main">
              <a:ext uri="{FF2B5EF4-FFF2-40B4-BE49-F238E27FC236}">
                <a16:creationId xmlns:a16="http://schemas.microsoft.com/office/drawing/2014/main" id="{D1822631-1AF3-4AB0-8E5F-B1E5743A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一次可打包很多 token，不代表单条样本可以任意变长。</a:t>
            </a:r>
          </a:p>
        </p:txBody>
      </p:sp>
      <p:sp>
        <p:nvSpPr>
          <p:cNvPr id="6" name="单条轨迹的模型上下文容量：5120">
            <a:extLst xmlns:a="http://schemas.openxmlformats.org/drawingml/2006/main">
              <a:ext uri="{FF2B5EF4-FFF2-40B4-BE49-F238E27FC236}">
                <a16:creationId xmlns:a16="http://schemas.microsoft.com/office/drawing/2014/main" id="{87A7B37C-66FF-4AC5-8725-7DFEEC57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7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单条轨迹的模型上下文容量：5120</a:t>
            </a:r>
          </a:p>
        </p:txBody>
      </p:sp>
      <p:sp>
        <p:nvSpPr>
          <p:cNvPr id="7" name="初始 prompt ≤1024">
            <a:extLst xmlns:a="http://schemas.openxmlformats.org/drawingml/2006/main">
              <a:ext uri="{FF2B5EF4-FFF2-40B4-BE49-F238E27FC236}">
                <a16:creationId xmlns:a16="http://schemas.microsoft.com/office/drawing/2014/main" id="{BF471ED5-C9B0-4458-9914-3987FC96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57425"/>
            <a:ext cx="21240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初始 prompt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≤1024</a:t>
            </a:r>
          </a:p>
        </p:txBody>
      </p:sp>
      <p:sp>
        <p:nvSpPr>
          <p:cNvPr id="8" name="整局 response ≤4096：猜词、反馈、继续猜词……">
            <a:extLst xmlns:a="http://schemas.openxmlformats.org/drawingml/2006/main">
              <a:ext uri="{FF2B5EF4-FFF2-40B4-BE49-F238E27FC236}">
                <a16:creationId xmlns:a16="http://schemas.microsoft.com/office/drawing/2014/main" id="{93C85287-6505-443B-93B4-D5C9B547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57425"/>
            <a:ext cx="8248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整局 response ≤4096：猜词、反馈、继续猜词……</a:t>
            </a:r>
          </a:p>
        </p:txBody>
      </p:sp>
      <p:sp>
        <p:nvSpPr>
          <p:cNvPr id="9" name="Actor：每卡 micro-batch 预算 5120">
            <a:extLst xmlns:a="http://schemas.openxmlformats.org/drawingml/2006/main">
              <a:ext uri="{FF2B5EF4-FFF2-40B4-BE49-F238E27FC236}">
                <a16:creationId xmlns:a16="http://schemas.microsoft.com/office/drawing/2014/main" id="{87AC2D8A-9774-439D-95A3-71FA907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70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Actor：每卡 micro-batch 预算 5120</a:t>
            </a:r>
          </a:p>
        </p:txBody>
      </p:sp>
      <p:sp>
        <p:nvSpPr>
          <p:cNvPr id="10" name="A：3000">
            <a:extLst xmlns:a="http://schemas.openxmlformats.org/drawingml/2006/main">
              <a:ext uri="{FF2B5EF4-FFF2-40B4-BE49-F238E27FC236}">
                <a16:creationId xmlns:a16="http://schemas.microsoft.com/office/drawing/2014/main" id="{907B31DA-ADD9-495F-8077-1532F0FE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05250"/>
            <a:ext cx="3019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A：3000</a:t>
            </a:r>
          </a:p>
        </p:txBody>
      </p:sp>
      <p:sp>
        <p:nvSpPr>
          <p:cNvPr id="11" name="C：2000">
            <a:extLst xmlns:a="http://schemas.openxmlformats.org/drawingml/2006/main">
              <a:ext uri="{FF2B5EF4-FFF2-40B4-BE49-F238E27FC236}">
                <a16:creationId xmlns:a16="http://schemas.microsoft.com/office/drawing/2014/main" id="{5573AB5A-6B33-422A-ADED-B9ADDAF7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05250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C：2000</a:t>
            </a:r>
          </a:p>
        </p:txBody>
      </p:sp>
      <p:sp>
        <p:nvSpPr>
          <p:cNvPr id="12" name="合计 5000，可组成一批">
            <a:extLst xmlns:a="http://schemas.openxmlformats.org/drawingml/2006/main">
              <a:ext uri="{FF2B5EF4-FFF2-40B4-BE49-F238E27FC236}">
                <a16:creationId xmlns:a16="http://schemas.microsoft.com/office/drawing/2014/main" id="{EDD83A77-854A-44AC-A702-242F7C5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909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合计 5000，可组成一批</a:t>
            </a:r>
          </a:p>
        </p:txBody>
      </p:sp>
      <p:sp>
        <p:nvSpPr>
          <p:cNvPr id="13" name="Ref：前向打包预算 20480">
            <a:extLst xmlns:a="http://schemas.openxmlformats.org/drawingml/2006/main">
              <a:ext uri="{FF2B5EF4-FFF2-40B4-BE49-F238E27FC236}">
                <a16:creationId xmlns:a16="http://schemas.microsoft.com/office/drawing/2014/main" id="{6762084F-8A86-4E8D-AE6D-FE8A7E8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070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Ref：前向打包预算 20480</a:t>
            </a:r>
          </a:p>
        </p:txBody>
      </p:sp>
      <p:sp>
        <p:nvSpPr>
          <p:cNvPr id="14" name="A：3000">
            <a:extLst xmlns:a="http://schemas.openxmlformats.org/drawingml/2006/main">
              <a:ext uri="{FF2B5EF4-FFF2-40B4-BE49-F238E27FC236}">
                <a16:creationId xmlns:a16="http://schemas.microsoft.com/office/drawing/2014/main" id="{EED6B334-9EEA-43AD-AE90-D8CD0475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2247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A：3000</a:t>
            </a:r>
          </a:p>
        </p:txBody>
      </p:sp>
      <p:sp>
        <p:nvSpPr>
          <p:cNvPr id="15" name="B：4000">
            <a:extLst xmlns:a="http://schemas.openxmlformats.org/drawingml/2006/main">
              <a:ext uri="{FF2B5EF4-FFF2-40B4-BE49-F238E27FC236}">
                <a16:creationId xmlns:a16="http://schemas.microsoft.com/office/drawing/2014/main" id="{93252FD4-776A-458D-82FE-9D3221B8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62550"/>
            <a:ext cx="300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B：4000</a:t>
            </a:r>
          </a:p>
        </p:txBody>
      </p:sp>
      <p:sp>
        <p:nvSpPr>
          <p:cNvPr id="16" name="C：2000">
            <a:extLst xmlns:a="http://schemas.openxmlformats.org/drawingml/2006/main">
              <a:ext uri="{FF2B5EF4-FFF2-40B4-BE49-F238E27FC236}">
                <a16:creationId xmlns:a16="http://schemas.microsoft.com/office/drawing/2014/main" id="{08BFB15D-8119-4A88-A477-BE22FDF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62550"/>
            <a:ext cx="1485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C：2000</a:t>
            </a:r>
          </a:p>
        </p:txBody>
      </p:sp>
      <p:sp>
        <p:nvSpPr>
          <p:cNvPr id="17" name="D：5000">
            <a:extLst xmlns:a="http://schemas.openxmlformats.org/drawingml/2006/main">
              <a:ext uri="{FF2B5EF4-FFF2-40B4-BE49-F238E27FC236}">
                <a16:creationId xmlns:a16="http://schemas.microsoft.com/office/drawing/2014/main" id="{0F281AA4-B206-4BDD-80BE-7B90BC7A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62550"/>
            <a:ext cx="3771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D：5000</a:t>
            </a:r>
          </a:p>
        </p:txBody>
      </p:sp>
      <p:sp>
        <p:nvSpPr>
          <p:cNvPr id="18" name="Ref 示例合计 14000；每条样本仍须满足自身的 5120 上限。">
            <a:extLst xmlns:a="http://schemas.openxmlformats.org/drawingml/2006/main">
              <a:ext uri="{FF2B5EF4-FFF2-40B4-BE49-F238E27FC236}">
                <a16:creationId xmlns:a16="http://schemas.microsoft.com/office/drawing/2014/main" id="{D0B0990F-5181-44FC-A2AA-4418F0E7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Ref 示例合计 14000；每条样本仍须满足自身的 5120 上限。</a:t>
            </a:r>
          </a:p>
        </p:txBody>
      </p:sp>
    </p:spTree>
    <p:extLst>
      <p:ext uri="{BB962C8B-B14F-4D97-AF65-F5344CB8AC3E}">
        <p14:creationId xmlns:p14="http://schemas.microsoft.com/office/powerpoint/2010/main" val="416870334"/>
      </p:ext>
    </p:extLst>
  </p:cSld>
</p:sld>
</file>

<file path=ppt/slides/slide10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TorchTitan-NPU 能力">
            <a:extLst xmlns:a="http://schemas.openxmlformats.org/drawingml/2006/main">
              <a:ext uri="{FF2B5EF4-FFF2-40B4-BE49-F238E27FC236}">
                <a16:creationId xmlns:a16="http://schemas.microsoft.com/office/drawing/2014/main" id="{546BAFAB-8EED-4703-9BA6-11C69F78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TorchTitan-NPU 能力</a:t>
            </a:r>
          </a:p>
        </p:txBody>
      </p:sp>
      <p:sp>
        <p:nvSpPr>
          <p:cNvPr id="5" name="CP 面向更长序列，但输入切分和输出还原必须接通。">
            <a:extLst xmlns:a="http://schemas.openxmlformats.org/drawingml/2006/main">
              <a:ext uri="{FF2B5EF4-FFF2-40B4-BE49-F238E27FC236}">
                <a16:creationId xmlns:a16="http://schemas.microsoft.com/office/drawing/2014/main" id="{93364C34-21D0-43D4-ABAE-C37652D4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CP 面向更长序列，但输入切分和输出还原必须接通。</a:t>
            </a:r>
          </a:p>
        </p:txBody>
      </p:sp>
      <p:sp>
        <p:nvSpPr>
          <p:cNvPr id="6" name="机制示意：同一条长序列分给两张卡">
            <a:extLst xmlns:a="http://schemas.openxmlformats.org/drawingml/2006/main">
              <a:ext uri="{FF2B5EF4-FFF2-40B4-BE49-F238E27FC236}">
                <a16:creationId xmlns:a16="http://schemas.microsoft.com/office/drawing/2014/main" id="{9FBF8E78-8B1B-4029-AEA9-31A03D3F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机制示意：同一条长序列分给两张卡</a:t>
            </a:r>
          </a:p>
        </p:txBody>
      </p:sp>
      <p:sp>
        <p:nvSpPr>
          <p:cNvPr id="7" name="t1">
            <a:extLst xmlns:a="http://schemas.openxmlformats.org/drawingml/2006/main">
              <a:ext uri="{FF2B5EF4-FFF2-40B4-BE49-F238E27FC236}">
                <a16:creationId xmlns:a16="http://schemas.microsoft.com/office/drawing/2014/main" id="{334A3C67-A15A-4478-AAEE-76395374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t1</a:t>
            </a:r>
          </a:p>
        </p:txBody>
      </p:sp>
      <p:sp>
        <p:nvSpPr>
          <p:cNvPr id="8" name="t2">
            <a:extLst xmlns:a="http://schemas.openxmlformats.org/drawingml/2006/main">
              <a:ext uri="{FF2B5EF4-FFF2-40B4-BE49-F238E27FC236}">
                <a16:creationId xmlns:a16="http://schemas.microsoft.com/office/drawing/2014/main" id="{FB519309-64AE-4F91-903A-68242266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t2</a:t>
            </a:r>
          </a:p>
        </p:txBody>
      </p:sp>
      <p:sp>
        <p:nvSpPr>
          <p:cNvPr id="9" name="t3">
            <a:extLst xmlns:a="http://schemas.openxmlformats.org/drawingml/2006/main">
              <a:ext uri="{FF2B5EF4-FFF2-40B4-BE49-F238E27FC236}">
                <a16:creationId xmlns:a16="http://schemas.microsoft.com/office/drawing/2014/main" id="{5C07A5DB-C658-42FF-9E3D-E30DD51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t3</a:t>
            </a:r>
          </a:p>
        </p:txBody>
      </p:sp>
      <p:sp>
        <p:nvSpPr>
          <p:cNvPr id="10" name="t4">
            <a:extLst xmlns:a="http://schemas.openxmlformats.org/drawingml/2006/main">
              <a:ext uri="{FF2B5EF4-FFF2-40B4-BE49-F238E27FC236}">
                <a16:creationId xmlns:a16="http://schemas.microsoft.com/office/drawing/2014/main" id="{E75D2226-EBE0-42BC-A661-F7B8F0A0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t4</a:t>
            </a:r>
          </a:p>
        </p:txBody>
      </p:sp>
      <p:sp>
        <p:nvSpPr>
          <p:cNvPr id="11" name="t5">
            <a:extLst xmlns:a="http://schemas.openxmlformats.org/drawingml/2006/main">
              <a:ext uri="{FF2B5EF4-FFF2-40B4-BE49-F238E27FC236}">
                <a16:creationId xmlns:a16="http://schemas.microsoft.com/office/drawing/2014/main" id="{39EEC30C-4BEA-4C19-A13E-4AA63142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t5</a:t>
            </a:r>
          </a:p>
        </p:txBody>
      </p:sp>
      <p:sp>
        <p:nvSpPr>
          <p:cNvPr id="12" name="t6">
            <a:extLst xmlns:a="http://schemas.openxmlformats.org/drawingml/2006/main">
              <a:ext uri="{FF2B5EF4-FFF2-40B4-BE49-F238E27FC236}">
                <a16:creationId xmlns:a16="http://schemas.microsoft.com/office/drawing/2014/main" id="{C30ABB6B-AB30-4527-A1D1-F699BD15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t6</a:t>
            </a:r>
          </a:p>
        </p:txBody>
      </p:sp>
      <p:sp>
        <p:nvSpPr>
          <p:cNvPr id="13" name="t7">
            <a:extLst xmlns:a="http://schemas.openxmlformats.org/drawingml/2006/main">
              <a:ext uri="{FF2B5EF4-FFF2-40B4-BE49-F238E27FC236}">
                <a16:creationId xmlns:a16="http://schemas.microsoft.com/office/drawing/2014/main" id="{6264706D-268C-4510-B053-341F49BD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t7</a:t>
            </a:r>
          </a:p>
        </p:txBody>
      </p:sp>
      <p:sp>
        <p:nvSpPr>
          <p:cNvPr id="14" name="t8">
            <a:extLst xmlns:a="http://schemas.openxmlformats.org/drawingml/2006/main">
              <a:ext uri="{FF2B5EF4-FFF2-40B4-BE49-F238E27FC236}">
                <a16:creationId xmlns:a16="http://schemas.microsoft.com/office/drawing/2014/main" id="{7D58D9BA-0BA7-4C3F-823A-D3B93A5D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33650"/>
            <a:ext cx="428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19050" tIns="66675" rIns="190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t8</a:t>
            </a:r>
          </a:p>
        </p:txBody>
      </p:sp>
      <p:sp>
        <p:nvSpPr>
          <p:cNvPr id="15" name="关系线">
            <a:extLst xmlns:a="http://schemas.openxmlformats.org/drawingml/2006/main">
              <a:ext uri="{FF2B5EF4-FFF2-40B4-BE49-F238E27FC236}">
                <a16:creationId xmlns:a16="http://schemas.microsoft.com/office/drawing/2014/main" id="{0230B9A7-411A-4819-B3AE-731F82C9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600575" y="2752725"/>
            <a:ext cx="1419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AE8"/>
            </a:solidFill>
          </a:ln>
        </p:spPr>
      </p:sp>
      <p:sp>
        <p:nvSpPr>
          <p:cNvPr id="16" name="关系线">
            <a:extLst xmlns:a="http://schemas.openxmlformats.org/drawingml/2006/main">
              <a:ext uri="{FF2B5EF4-FFF2-40B4-BE49-F238E27FC236}">
                <a16:creationId xmlns:a16="http://schemas.microsoft.com/office/drawing/2014/main" id="{F0EE269B-2AA7-4159-9A3D-0ED40629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19800" y="2390775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AE8"/>
            </a:solidFill>
          </a:ln>
        </p:spPr>
      </p:sp>
      <p:sp>
        <p:nvSpPr>
          <p:cNvPr id="17" name="关系线">
            <a:extLst xmlns:a="http://schemas.openxmlformats.org/drawingml/2006/main">
              <a:ext uri="{FF2B5EF4-FFF2-40B4-BE49-F238E27FC236}">
                <a16:creationId xmlns:a16="http://schemas.microsoft.com/office/drawing/2014/main" id="{B1275C67-C83C-41AD-A519-35D586F4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19800" y="23907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7AE8"/>
            </a:solidFill>
          </a:ln>
        </p:spPr>
      </p:sp>
      <p:sp>
        <p:nvSpPr>
          <p:cNvPr id="18" name="关系线">
            <a:extLst xmlns:a="http://schemas.openxmlformats.org/drawingml/2006/main">
              <a:ext uri="{FF2B5EF4-FFF2-40B4-BE49-F238E27FC236}">
                <a16:creationId xmlns:a16="http://schemas.microsoft.com/office/drawing/2014/main" id="{66B94833-7D25-4FCB-AED9-A26469A8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19800" y="3228975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854B"/>
            </a:solidFill>
          </a:ln>
        </p:spPr>
      </p:sp>
      <p:sp>
        <p:nvSpPr>
          <p:cNvPr id="19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990E07D3-5C64-4074-97C4-90E9B617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95525"/>
            <a:ext cx="4095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20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69C87219-33B6-4CA8-A737-3BF5392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33725"/>
            <a:ext cx="4095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54B"/>
          </a:solidFill>
          <a:ln xmlns:a="http://schemas.openxmlformats.org/drawingml/2006/main" w="0">
            <a:solidFill>
              <a:srgbClr val="27854B"/>
            </a:solidFill>
          </a:ln>
        </p:spPr>
      </p:sp>
      <p:sp>
        <p:nvSpPr>
          <p:cNvPr id="21" name="NPU 0：序列前半 t1–t4">
            <a:extLst xmlns:a="http://schemas.openxmlformats.org/drawingml/2006/main">
              <a:ext uri="{FF2B5EF4-FFF2-40B4-BE49-F238E27FC236}">
                <a16:creationId xmlns:a16="http://schemas.microsoft.com/office/drawing/2014/main" id="{7088C947-8D27-43FD-9A9C-22E51F35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451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NPU 0：序列前半 t1–t4</a:t>
            </a:r>
          </a:p>
        </p:txBody>
      </p:sp>
      <p:sp>
        <p:nvSpPr>
          <p:cNvPr id="22" name="NPU 1：序列后半 t5–t8">
            <a:extLst xmlns:a="http://schemas.openxmlformats.org/drawingml/2006/main">
              <a:ext uri="{FF2B5EF4-FFF2-40B4-BE49-F238E27FC236}">
                <a16:creationId xmlns:a16="http://schemas.microsoft.com/office/drawing/2014/main" id="{BB27A118-2670-4C8E-BD3B-BCB22739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451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NPU 1：序列后半 t5–t8</a:t>
            </a:r>
          </a:p>
        </p:txBody>
      </p:sp>
      <p:sp>
        <p:nvSpPr>
          <p:cNvPr id="23" name="注意力计算仍需跨卡通信">
            <a:extLst xmlns:a="http://schemas.openxmlformats.org/drawingml/2006/main">
              <a:ext uri="{FF2B5EF4-FFF2-40B4-BE49-F238E27FC236}">
                <a16:creationId xmlns:a16="http://schemas.microsoft.com/office/drawing/2014/main" id="{49941216-D99F-4EDD-9A0D-7ACF545A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955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65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注意力计算仍需跨卡通信</a:t>
            </a:r>
          </a:p>
        </p:txBody>
      </p:sp>
      <p:sp>
        <p:nvSpPr>
          <p:cNvPr id="24" name="当前配方：CP=1">
            <a:extLst xmlns:a="http://schemas.openxmlformats.org/drawingml/2006/main">
              <a:ext uri="{FF2B5EF4-FFF2-40B4-BE49-F238E27FC236}">
                <a16:creationId xmlns:a16="http://schemas.microsoft.com/office/drawing/2014/main" id="{CA9E1AC1-CD50-45C1-AC3C-90BA4EF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10706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当前配方：CP=1</a:t>
            </a:r>
          </a:p>
        </p:txBody>
      </p:sp>
      <p:sp>
        <p:nvSpPr>
          <p:cNvPr id="25" name="input / positions / labels 一致切分与补齐">
            <a:extLst xmlns:a="http://schemas.openxmlformats.org/drawingml/2006/main">
              <a:ext uri="{FF2B5EF4-FFF2-40B4-BE49-F238E27FC236}">
                <a16:creationId xmlns:a16="http://schemas.microsoft.com/office/drawing/2014/main" id="{DF48B8EF-E7EE-4C84-811C-0535C8B2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86225"/>
            <a:ext cx="30575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input / positions / labels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一致切分与补齐</a:t>
            </a:r>
          </a:p>
        </p:txBody>
      </p:sp>
      <p:sp>
        <p:nvSpPr>
          <p:cNvPr id="26" name="分片前向 / 反向">
            <a:extLst xmlns:a="http://schemas.openxmlformats.org/drawingml/2006/main">
              <a:ext uri="{FF2B5EF4-FFF2-40B4-BE49-F238E27FC236}">
                <a16:creationId xmlns:a16="http://schemas.microsoft.com/office/drawing/2014/main" id="{1310BAAB-35A1-47EF-9E69-1434AD1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86225"/>
            <a:ext cx="27717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分片前向 / 反向</a:t>
            </a:r>
          </a:p>
        </p:txBody>
      </p:sp>
      <p:sp>
        <p:nvSpPr>
          <p:cNvPr id="27" name="汇集、去补齐 按原 offsets 还原">
            <a:extLst xmlns:a="http://schemas.openxmlformats.org/drawingml/2006/main">
              <a:ext uri="{FF2B5EF4-FFF2-40B4-BE49-F238E27FC236}">
                <a16:creationId xmlns:a16="http://schemas.microsoft.com/office/drawing/2014/main" id="{2FC1D9DB-F800-4930-82BB-EE0AE74A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86225"/>
            <a:ext cx="30575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汇集、去补齐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按原 offsets 还原</a:t>
            </a:r>
          </a:p>
        </p:txBody>
      </p:sp>
      <p:cxnSp>
        <p:nvCxnSpPr>
          <p:cNvPr id="2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3924300" y="4576763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467600" y="4576763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30" name="固定适配存在 positions 传递及局部输出还原缺口；头数整除等条件也需核对。">
            <a:extLst xmlns:a="http://schemas.openxmlformats.org/drawingml/2006/main">
              <a:ext uri="{FF2B5EF4-FFF2-40B4-BE49-F238E27FC236}">
                <a16:creationId xmlns:a16="http://schemas.microsoft.com/office/drawing/2014/main" id="{8017554A-52D4-453B-AFC0-E4CEF493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固定适配存在 positions 传递及局部输出还原缺口；头数整除等条件也需核对。</a:t>
            </a:r>
          </a:p>
        </p:txBody>
      </p:sp>
      <p:sp>
        <p:nvSpPr>
          <p:cNvPr id="31" name="CP 扩展需先完成这条契约，不能只把 degree 改成 2。">
            <a:extLst xmlns:a="http://schemas.openxmlformats.org/drawingml/2006/main">
              <a:ext uri="{FF2B5EF4-FFF2-40B4-BE49-F238E27FC236}">
                <a16:creationId xmlns:a16="http://schemas.microsoft.com/office/drawing/2014/main" id="{AFC92072-0376-400A-B2CC-D028613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CP 扩展需先完成这条契约，不能只把 degree 改成 2。</a:t>
            </a:r>
          </a:p>
        </p:txBody>
      </p:sp>
    </p:spTree>
    <p:extLst>
      <p:ext uri="{BB962C8B-B14F-4D97-AF65-F5344CB8AC3E}">
        <p14:creationId xmlns:p14="http://schemas.microsoft.com/office/powerpoint/2010/main" val="773368048"/>
      </p:ext>
    </p:extLst>
  </p:cSld>
</p:sld>
</file>

<file path=ppt/slides/slide10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609600" y="320040"/>
            <a:ext cx="95250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TorchTitan-NPU 能力</a:t>
            </a:r>
            <a:endParaRPr sz="27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5" name="quiz-instruction"/>
          <p:cNvSpPr>
            <a:spLocks noGrp="1"/>
          </p:cNvSpPr>
          <p:nvPr/>
        </p:nvSpPr>
        <p:spPr>
          <a:xfrm>
            <a:off x="609600" y="9715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随堂检测：先独立作答，再说明你的判断依据。</a:t>
            </a:r>
            <a:endParaRPr sz="1725" b="0">
              <a:solidFill>
                <a:srgbClr val="555555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q1-label"/>
          <p:cNvSpPr>
            <a:spLocks noGrp="1"/>
          </p:cNvSpPr>
          <p:nvPr/>
        </p:nvSpPr>
        <p:spPr>
          <a:xfrm>
            <a:off x="609600" y="143827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Q1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q1-stem"/>
          <p:cNvSpPr>
            <a:spLocks noGrp="1"/>
          </p:cNvSpPr>
          <p:nvPr/>
        </p:nvSpPr>
        <p:spPr>
          <a:xfrm>
            <a:off x="1495425" y="144780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【判断】AC 通过反向重算部分激活，换取显存空间。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q2-label"/>
          <p:cNvSpPr>
            <a:spLocks noGrp="1"/>
          </p:cNvSpPr>
          <p:nvPr/>
        </p:nvSpPr>
        <p:spPr>
          <a:xfrm>
            <a:off x="609600" y="225742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FFD0D1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Q2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q2-stem"/>
          <p:cNvSpPr>
            <a:spLocks noGrp="1"/>
          </p:cNvSpPr>
          <p:nvPr/>
        </p:nvSpPr>
        <p:spPr>
          <a:xfrm>
            <a:off x="1495425" y="226695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【判断】TND 布局已包含样本边界，无需额外元数据。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0" name="q3-label"/>
          <p:cNvSpPr>
            <a:spLocks noGrp="1"/>
          </p:cNvSpPr>
          <p:nvPr/>
        </p:nvSpPr>
        <p:spPr>
          <a:xfrm>
            <a:off x="609600" y="310515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BFECCC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Q3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1" name="q3-stem"/>
          <p:cNvSpPr>
            <a:spLocks noGrp="1"/>
          </p:cNvSpPr>
          <p:nvPr/>
        </p:nvSpPr>
        <p:spPr>
          <a:xfrm>
            <a:off x="1495425" y="311467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【单选】本课固定版本的 Converter 直接替换哪些模块？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2" name="q3-option0"/>
          <p:cNvSpPr>
            <a:spLocks noGrp="1"/>
          </p:cNvSpPr>
          <p:nvPr/>
        </p:nvSpPr>
        <p:spPr>
          <a:xfrm>
            <a:off x="149542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奖励与 GRPO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3" name="q3-option1"/>
          <p:cNvSpPr>
            <a:spLocks noGrp="1"/>
          </p:cNvSpPr>
          <p:nvPr/>
        </p:nvSpPr>
        <p:spPr>
          <a:xfrm>
            <a:off x="650557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RMSNorm 与 RoPE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4" name="q3-option2"/>
          <p:cNvSpPr>
            <a:spLocks noGrp="1"/>
          </p:cNvSpPr>
          <p:nvPr/>
        </p:nvSpPr>
        <p:spPr>
          <a:xfrm>
            <a:off x="149542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tokenizer 与词表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5" name="q3-option3"/>
          <p:cNvSpPr>
            <a:spLocks noGrp="1"/>
          </p:cNvSpPr>
          <p:nvPr/>
        </p:nvSpPr>
        <p:spPr>
          <a:xfrm>
            <a:off x="650557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AgentLoop 与数据集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6" name="q4-label"/>
          <p:cNvSpPr>
            <a:spLocks noGrp="1"/>
          </p:cNvSpPr>
          <p:nvPr/>
        </p:nvSpPr>
        <p:spPr>
          <a:xfrm>
            <a:off x="609600" y="468630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Q4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7" name="q4-stem"/>
          <p:cNvSpPr>
            <a:spLocks noGrp="1"/>
          </p:cNvSpPr>
          <p:nvPr/>
        </p:nvSpPr>
        <p:spPr>
          <a:xfrm>
            <a:off x="1495425" y="469582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【单选】哪项正确描述本课三步训练？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8" name="q4-option0"/>
          <p:cNvSpPr>
            <a:spLocks noGrp="1"/>
          </p:cNvSpPr>
          <p:nvPr/>
        </p:nvSpPr>
        <p:spPr>
          <a:xfrm>
            <a:off x="149542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DP shard 2、CP 1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9" name="q4-option1"/>
          <p:cNvSpPr>
            <a:spLocks noGrp="1"/>
          </p:cNvSpPr>
          <p:nvPr/>
        </p:nvSpPr>
        <p:spPr>
          <a:xfrm>
            <a:off x="650557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CP 越大必然越快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0" name="q4-option2"/>
          <p:cNvSpPr>
            <a:spLocks noGrp="1"/>
          </p:cNvSpPr>
          <p:nvPr/>
        </p:nvSpPr>
        <p:spPr>
          <a:xfrm>
            <a:off x="149542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Ref 也卸载优化器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1" name="q4-option3"/>
          <p:cNvSpPr>
            <a:spLocks noGrp="1"/>
          </p:cNvSpPr>
          <p:nvPr/>
        </p:nvSpPr>
        <p:spPr>
          <a:xfrm>
            <a:off x="650557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vLLM TP 必须关闭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9"/>
          <p:cNvSpPr>
            <a:spLocks noGrp="1"/>
          </p:cNvSpPr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u="none" cap="none">
                <a:ln>
                  <a:noFill/>
                </a:ln>
                <a:solidFill>
                  <a:srgbClr val="DDDDDD">
                    <a:lumMod val="50000"/>
                  </a:srgb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RL 中阶课程</a:t>
            </a:r>
            <a:endParaRPr sz="4000" b="0" i="0" u="none" cap="none">
              <a:ln>
                <a:noFill/>
              </a:ln>
              <a:solidFill>
                <a:srgbClr val="DDDDDD">
                  <a:lumMod val="50000"/>
                </a:srgb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3" name="í$ľidè"/>
          <p:cNvSpPr>
            <a:spLocks noGrp="1"/>
          </p:cNvSpPr>
          <p:nvPr/>
        </p:nv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5" name="文本框 16"/>
          <p:cNvSpPr>
            <a:spLocks noGrp="1"/>
          </p:cNvSpPr>
          <p:nvPr/>
        </p:nvSpPr>
        <p:spPr>
          <a:xfrm>
            <a:off x="620201" y="6130454"/>
            <a:ext cx="87630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Times New Roman" panose="02020503050405090304"/>
                <a:ea typeface="微软雅黑"/>
                <a:cs typeface="Times New Roman" panose="02020503050405090304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矩形 11"/>
          <p:cNvSpPr>
            <a:spLocks noGrp="1"/>
          </p:cNvSpPr>
          <p:nvPr/>
        </p:nvSpPr>
        <p:spPr>
          <a:xfrm>
            <a:off x="5157694" y="1530876"/>
            <a:ext cx="4587547" cy="596075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1 切换边界与接入契约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矩形 12"/>
          <p:cNvSpPr>
            <a:spLocks noGrp="1"/>
          </p:cNvSpPr>
          <p:nvPr/>
        </p:nvSpPr>
        <p:spPr>
          <a:xfrm>
            <a:off x="5157694" y="2680975"/>
            <a:ext cx="4587549" cy="591795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2 TorchTitan-NPU 能力</a:t>
            </a:r>
            <a:endParaRPr sz="2400"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矩形 13"/>
          <p:cNvSpPr>
            <a:spLocks noGrp="1"/>
          </p:cNvSpPr>
          <p:nvPr/>
        </p:nvSpPr>
        <p:spPr>
          <a:xfrm>
            <a:off x="5157694" y="3712434"/>
            <a:ext cx="4587551" cy="587513"/>
          </a:xfrm>
          <a:prstGeom prst="rect">
            <a:avLst/>
          </a:prstGeom>
          <a:solidFill>
            <a:srgbClr val="C00000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chemeClr val="bg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3 配置与运行验证</a:t>
            </a:r>
            <a:endParaRPr sz="2400" b="0" i="0" u="none" cap="none">
              <a:ln>
                <a:noFill/>
              </a:ln>
              <a:solidFill>
                <a:schemeClr val="bg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矩形 6"/>
          <p:cNvSpPr>
            <a:spLocks noGrp="1"/>
          </p:cNvSpPr>
          <p:nvPr/>
        </p:nvSpPr>
        <p:spPr>
          <a:xfrm>
            <a:off x="5157694" y="4739611"/>
            <a:ext cx="4587553" cy="587513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4 评价与迁移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配置与运行验证">
            <a:extLst xmlns:a="http://schemas.openxmlformats.org/drawingml/2006/main">
              <a:ext uri="{FF2B5EF4-FFF2-40B4-BE49-F238E27FC236}">
                <a16:creationId xmlns:a16="http://schemas.microsoft.com/office/drawing/2014/main" id="{5B60BC87-643D-4EFB-AD02-39E30DBD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配置与运行验证</a:t>
            </a:r>
          </a:p>
        </p:txBody>
      </p:sp>
      <p:sp>
        <p:nvSpPr>
          <p:cNvPr id="5" name="先准备运行环境，再确认模型、数据和脚本都在正确位置。">
            <a:extLst xmlns:a="http://schemas.openxmlformats.org/drawingml/2006/main">
              <a:ext uri="{FF2B5EF4-FFF2-40B4-BE49-F238E27FC236}">
                <a16:creationId xmlns:a16="http://schemas.microsoft.com/office/drawing/2014/main" id="{4B0CB589-7141-4CA5-A912-CF0301B6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先准备运行环境，再确认模型、数据和脚本都在正确位置。</a:t>
            </a:r>
          </a:p>
        </p:txBody>
      </p:sp>
      <p:sp>
        <p:nvSpPr>
          <p:cNvPr id="6" name="Wordle 配方目录">
            <a:extLst xmlns:a="http://schemas.openxmlformats.org/drawingml/2006/main">
              <a:ext uri="{FF2B5EF4-FFF2-40B4-BE49-F238E27FC236}">
                <a16:creationId xmlns:a16="http://schemas.microsoft.com/office/drawing/2014/main" id="{5389105A-DDB3-46B9-975F-518C3D7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690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Wordle 配方目录</a:t>
            </a:r>
          </a:p>
        </p:txBody>
      </p:sp>
      <p:sp>
        <p:nvSpPr>
          <p:cNvPr id="7" name="cann-recipes-train/llm_rl/qwen3_wordle">
            <a:extLst xmlns:a="http://schemas.openxmlformats.org/drawingml/2006/main">
              <a:ext uri="{FF2B5EF4-FFF2-40B4-BE49-F238E27FC236}">
                <a16:creationId xmlns:a16="http://schemas.microsoft.com/office/drawing/2014/main" id="{DD170F10-C0BA-4CB6-A33F-76C8468A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cann-recipes-train/llm_rl/qwen3_wordle</a:t>
            </a:r>
          </a:p>
        </p:txBody>
      </p:sp>
      <p:sp>
        <p:nvSpPr>
          <p:cNvPr id="8" name="关系线">
            <a:extLst xmlns:a="http://schemas.openxmlformats.org/drawingml/2006/main">
              <a:ext uri="{FF2B5EF4-FFF2-40B4-BE49-F238E27FC236}">
                <a16:creationId xmlns:a16="http://schemas.microsoft.com/office/drawing/2014/main" id="{C7FDF015-17D6-4416-8DD9-569D09E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" y="27241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9" name="关系线">
            <a:extLst xmlns:a="http://schemas.openxmlformats.org/drawingml/2006/main">
              <a:ext uri="{FF2B5EF4-FFF2-40B4-BE49-F238E27FC236}">
                <a16:creationId xmlns:a16="http://schemas.microsoft.com/office/drawing/2014/main" id="{8E989071-817D-4D2C-B3F9-BCCCFC0B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" y="30099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0" name="torchtitan-npu/">
            <a:extLst xmlns:a="http://schemas.openxmlformats.org/drawingml/2006/main">
              <a:ext uri="{FF2B5EF4-FFF2-40B4-BE49-F238E27FC236}">
                <a16:creationId xmlns:a16="http://schemas.microsoft.com/office/drawing/2014/main" id="{30A51D49-6226-4F83-A09D-F3B594A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torchtitan-npu/</a:t>
            </a:r>
          </a:p>
        </p:txBody>
      </p:sp>
      <p:sp>
        <p:nvSpPr>
          <p:cNvPr id="11" name="脚本、.venv、runtime_sources">
            <a:extLst xmlns:a="http://schemas.openxmlformats.org/drawingml/2006/main">
              <a:ext uri="{FF2B5EF4-FFF2-40B4-BE49-F238E27FC236}">
                <a16:creationId xmlns:a16="http://schemas.microsoft.com/office/drawing/2014/main" id="{5434FBB8-0E71-4D94-B13D-676FB80B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67075"/>
            <a:ext cx="652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脚本、.venv、runtime_sources</a:t>
            </a:r>
          </a:p>
        </p:txBody>
      </p:sp>
      <p:sp>
        <p:nvSpPr>
          <p:cNvPr id="12" name="关系线">
            <a:extLst xmlns:a="http://schemas.openxmlformats.org/drawingml/2006/main">
              <a:ext uri="{FF2B5EF4-FFF2-40B4-BE49-F238E27FC236}">
                <a16:creationId xmlns:a16="http://schemas.microsoft.com/office/drawing/2014/main" id="{A3DE6378-8399-4181-BE73-9429E5C4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" y="38766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3" name="models/">
            <a:extLst xmlns:a="http://schemas.openxmlformats.org/drawingml/2006/main">
              <a:ext uri="{FF2B5EF4-FFF2-40B4-BE49-F238E27FC236}">
                <a16:creationId xmlns:a16="http://schemas.microsoft.com/office/drawing/2014/main" id="{09A631F2-EAA2-4414-8A52-B3528978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62375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models/</a:t>
            </a:r>
          </a:p>
        </p:txBody>
      </p:sp>
      <p:sp>
        <p:nvSpPr>
          <p:cNvPr id="14" name="Qwen3-1.7B-Wordle-SFT">
            <a:extLst xmlns:a="http://schemas.openxmlformats.org/drawingml/2006/main">
              <a:ext uri="{FF2B5EF4-FFF2-40B4-BE49-F238E27FC236}">
                <a16:creationId xmlns:a16="http://schemas.microsoft.com/office/drawing/2014/main" id="{967E94CC-6C93-4DD5-B0CF-C1FB9A48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652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Qwen3-1.7B-Wordle-SFT</a:t>
            </a:r>
          </a:p>
        </p:txBody>
      </p:sp>
      <p:sp>
        <p:nvSpPr>
          <p:cNvPr id="15" name="关系线">
            <a:extLst xmlns:a="http://schemas.openxmlformats.org/drawingml/2006/main">
              <a:ext uri="{FF2B5EF4-FFF2-40B4-BE49-F238E27FC236}">
                <a16:creationId xmlns:a16="http://schemas.microsoft.com/office/drawing/2014/main" id="{A8A94CAE-E7E0-4256-947E-86F0FBAF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0125" y="47434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6" name="data/">
            <a:extLst xmlns:a="http://schemas.openxmlformats.org/drawingml/2006/main">
              <a:ext uri="{FF2B5EF4-FFF2-40B4-BE49-F238E27FC236}">
                <a16:creationId xmlns:a16="http://schemas.microsoft.com/office/drawing/2014/main" id="{EF0B9EF5-B5CA-4C44-A088-DF2EF5FD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2905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data/</a:t>
            </a:r>
          </a:p>
        </p:txBody>
      </p:sp>
      <p:sp>
        <p:nvSpPr>
          <p:cNvPr id="17" name="wordle_train.parquet / wordle_test.parquet">
            <a:extLst xmlns:a="http://schemas.openxmlformats.org/drawingml/2006/main">
              <a:ext uri="{FF2B5EF4-FFF2-40B4-BE49-F238E27FC236}">
                <a16:creationId xmlns:a16="http://schemas.microsoft.com/office/drawing/2014/main" id="{1EBF15B8-1FAF-40E5-8451-A4C3D3A3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00625"/>
            <a:ext cx="652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wordle_train.parquet / wordle_test.parquet</a:t>
            </a:r>
          </a:p>
        </p:txBody>
      </p:sp>
      <p:sp>
        <p:nvSpPr>
          <p:cNvPr id="18" name="关系线">
            <a:extLst xmlns:a="http://schemas.openxmlformats.org/drawingml/2006/main">
              <a:ext uri="{FF2B5EF4-FFF2-40B4-BE49-F238E27FC236}">
                <a16:creationId xmlns:a16="http://schemas.microsoft.com/office/drawing/2014/main" id="{F57B056F-ECC3-4BDA-A12D-1EBA0FA6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48650" y="1828800"/>
            <a:ext cx="0" cy="3362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8C7"/>
            </a:solidFill>
          </a:ln>
        </p:spPr>
      </p:sp>
      <p:sp>
        <p:nvSpPr>
          <p:cNvPr id="19" name="训练机器需具备">
            <a:extLst xmlns:a="http://schemas.openxmlformats.org/drawingml/2006/main">
              <a:ext uri="{FF2B5EF4-FFF2-40B4-BE49-F238E27FC236}">
                <a16:creationId xmlns:a16="http://schemas.microsoft.com/office/drawing/2014/main" id="{1CEE7362-EFD8-4F41-AE96-FB7B1065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3832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训练机器需具备</a:t>
            </a:r>
          </a:p>
        </p:txBody>
      </p:sp>
      <p:sp>
        <p:nvSpPr>
          <p:cNvPr id="20" name="2 张可见 NPU&#10;CANN 9.0.0&#10;Python 3.11&#10;GCC 11+">
            <a:extLst xmlns:a="http://schemas.openxmlformats.org/drawingml/2006/main">
              <a:ext uri="{FF2B5EF4-FFF2-40B4-BE49-F238E27FC236}">
                <a16:creationId xmlns:a16="http://schemas.microsoft.com/office/drawing/2014/main" id="{C56693A8-BF34-49E2-AAE5-19907E13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8194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2 张可见 NPU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CANN 9.0.0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Python 3.11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GCC 11+</a:t>
            </a:r>
          </a:p>
        </p:txBody>
      </p:sp>
      <p:sp>
        <p:nvSpPr>
          <p:cNvPr id="21" name="ATB ABI 与 wheel 对齐&#10;本课 --cxx_abi=1">
            <a:extLst xmlns:a="http://schemas.openxmlformats.org/drawingml/2006/main">
              <a:ext uri="{FF2B5EF4-FFF2-40B4-BE49-F238E27FC236}">
                <a16:creationId xmlns:a16="http://schemas.microsoft.com/office/drawing/2014/main" id="{4F3E8210-2BA1-4BBB-B710-73F5081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886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ATB ABI 与 wheel 对齐</a:t>
            </a:r>
          </a:p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本课 --cxx_abi=1</a:t>
            </a:r>
          </a:p>
        </p:txBody>
      </p:sp>
      <p:sp>
        <p:nvSpPr>
          <p:cNvPr id="22" name="使用 Wordle 配方子目录，SFT 权重与 parquet 资产按 07.02 准备。">
            <a:extLst xmlns:a="http://schemas.openxmlformats.org/drawingml/2006/main">
              <a:ext uri="{FF2B5EF4-FFF2-40B4-BE49-F238E27FC236}">
                <a16:creationId xmlns:a16="http://schemas.microsoft.com/office/drawing/2014/main" id="{23267ABA-E643-420D-B7E1-7F8DC6C5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使用 Wordle 配方子目录，SFT 权重与 parquet 资产按 07.02 准备。</a:t>
            </a:r>
          </a:p>
        </p:txBody>
      </p:sp>
    </p:spTree>
    <p:extLst>
      <p:ext uri="{BB962C8B-B14F-4D97-AF65-F5344CB8AC3E}">
        <p14:creationId xmlns:p14="http://schemas.microsoft.com/office/powerpoint/2010/main" val="1934677130"/>
      </p:ext>
    </p:extLst>
  </p:cSld>
</p:sld>
</file>

<file path=ppt/slides/slide10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配置与运行验证">
            <a:extLst xmlns:a="http://schemas.openxmlformats.org/drawingml/2006/main">
              <a:ext uri="{FF2B5EF4-FFF2-40B4-BE49-F238E27FC236}">
                <a16:creationId xmlns:a16="http://schemas.microsoft.com/office/drawing/2014/main" id="{6CEAA6C9-0A12-4B4E-A31D-EA61348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配置与运行验证</a:t>
            </a:r>
          </a:p>
        </p:txBody>
      </p:sp>
      <p:sp>
        <p:nvSpPr>
          <p:cNvPr id="5" name="DRY_RUN 先打印命令，我们检查关键设置是否一致。">
            <a:extLst xmlns:a="http://schemas.openxmlformats.org/drawingml/2006/main">
              <a:ext uri="{FF2B5EF4-FFF2-40B4-BE49-F238E27FC236}">
                <a16:creationId xmlns:a16="http://schemas.microsoft.com/office/drawing/2014/main" id="{45D3A3B6-996E-456D-B6D3-41CC6447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DRY_RUN 先打印命令，我们检查关键设置是否一致。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42950" y="1857375"/>
          <a:ext xmlns:a="http://schemas.openxmlformats.org/drawingml/2006/main" cx="10706100" cy="32194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190875"/>
                <a:gridCol w="7515225"/>
              </a:tblGrid>
              <a:tr h="4572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这次应看到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后端与训练并行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TorchTitan；DP shard=2，CP=1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注意力与上下文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attn_type=varlen；max_seq_len=5120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训练状态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Actor 参数 / 优化器 offload；Ref 参数 offload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生成与游戏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vLLM async，TP=2；8 局 / 题，最多 6 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学习任务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同一 SFT 起点、GRPO、Wordle 数据与奖励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预检通过只说明命令准备好，尚未执行模型初始化与训练。">
            <a:extLst xmlns:a="http://schemas.openxmlformats.org/drawingml/2006/main">
              <a:ext uri="{FF2B5EF4-FFF2-40B4-BE49-F238E27FC236}">
                <a16:creationId xmlns:a16="http://schemas.microsoft.com/office/drawing/2014/main" id="{69C4AEA6-9727-4664-904A-9F6EE98E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预检通过只说明命令准备好，尚未执行模型初始化与训练。</a:t>
            </a:r>
          </a:p>
        </p:txBody>
      </p:sp>
    </p:spTree>
    <p:extLst>
      <p:ext uri="{BB962C8B-B14F-4D97-AF65-F5344CB8AC3E}">
        <p14:creationId xmlns:p14="http://schemas.microsoft.com/office/powerpoint/2010/main" val="1808456812"/>
      </p:ext>
    </p:extLst>
  </p:cSld>
</p:sld>
</file>

<file path=ppt/slides/slide10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配置与运行验证">
            <a:extLst xmlns:a="http://schemas.openxmlformats.org/drawingml/2006/main">
              <a:ext uri="{FF2B5EF4-FFF2-40B4-BE49-F238E27FC236}">
                <a16:creationId xmlns:a16="http://schemas.microsoft.com/office/drawing/2014/main" id="{CC3983FA-1270-40D7-B01E-A5B378BB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配置与运行验证</a:t>
            </a:r>
          </a:p>
        </p:txBody>
      </p:sp>
      <p:sp>
        <p:nvSpPr>
          <p:cNvPr id="5" name="从 Wordle 配方目录，按准备、预检、运行的顺序操作。">
            <a:extLst xmlns:a="http://schemas.openxmlformats.org/drawingml/2006/main">
              <a:ext uri="{FF2B5EF4-FFF2-40B4-BE49-F238E27FC236}">
                <a16:creationId xmlns:a16="http://schemas.microsoft.com/office/drawing/2014/main" id="{D0D55511-DC4C-4BB4-91E1-639ECC6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从 Wordle 配方目录，按准备、预检、运行的顺序操作。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C4BB46DA-C1D7-4CD2-83C0-D6A54D27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6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01</a:t>
            </a:r>
          </a:p>
        </p:txBody>
      </p:sp>
      <p:sp>
        <p:nvSpPr>
          <p:cNvPr id="7" name="进入配方目录">
            <a:extLst xmlns:a="http://schemas.openxmlformats.org/drawingml/2006/main">
              <a:ext uri="{FF2B5EF4-FFF2-40B4-BE49-F238E27FC236}">
                <a16:creationId xmlns:a16="http://schemas.microsoft.com/office/drawing/2014/main" id="{712E5A10-8765-4005-913E-2ACDF32E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74307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进入配方目录</a:t>
            </a:r>
          </a:p>
        </p:txBody>
      </p:sp>
      <p:sp>
        <p:nvSpPr>
          <p:cNvPr id="8" name="cd cann-recipes-train/llm_rl/qwen3_wordle">
            <a:extLst xmlns:a="http://schemas.openxmlformats.org/drawingml/2006/main">
              <a:ext uri="{FF2B5EF4-FFF2-40B4-BE49-F238E27FC236}">
                <a16:creationId xmlns:a16="http://schemas.microsoft.com/office/drawing/2014/main" id="{41FDAC2E-B40D-4084-9B97-BA68F593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13360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cd cann-recipes-train/llm_rl/qwen3_wordle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35F0545-7E30-49C0-90CA-384ABC2D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6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02</a:t>
            </a:r>
          </a:p>
        </p:txBody>
      </p:sp>
      <p:sp>
        <p:nvSpPr>
          <p:cNvPr id="10" name="准备环境">
            <a:extLst xmlns:a="http://schemas.openxmlformats.org/drawingml/2006/main">
              <a:ext uri="{FF2B5EF4-FFF2-40B4-BE49-F238E27FC236}">
                <a16:creationId xmlns:a16="http://schemas.microsoft.com/office/drawing/2014/main" id="{92E350DB-DBA2-4E9F-9B19-5B49DDE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479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准备环境</a:t>
            </a:r>
          </a:p>
        </p:txBody>
      </p:sp>
      <p:sp>
        <p:nvSpPr>
          <p:cNvPr id="11" name="bash torchtitan-npu/setup_backend.sh">
            <a:extLst xmlns:a="http://schemas.openxmlformats.org/drawingml/2006/main">
              <a:ext uri="{FF2B5EF4-FFF2-40B4-BE49-F238E27FC236}">
                <a16:creationId xmlns:a16="http://schemas.microsoft.com/office/drawing/2014/main" id="{FB9C8ED1-8C68-466F-9349-73B97279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3847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bash torchtitan-npu/setup_backend.sh</a:t>
            </a:r>
          </a:p>
        </p:txBody>
      </p:sp>
      <p:sp>
        <p:nvSpPr>
          <p:cNvPr id="12" name="03">
            <a:extLst xmlns:a="http://schemas.openxmlformats.org/drawingml/2006/main">
              <a:ext uri="{FF2B5EF4-FFF2-40B4-BE49-F238E27FC236}">
                <a16:creationId xmlns:a16="http://schemas.microsoft.com/office/drawing/2014/main" id="{B8C0B719-7CFA-4E54-94FD-7C853C3D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56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03</a:t>
            </a:r>
          </a:p>
        </p:txBody>
      </p:sp>
      <p:sp>
        <p:nvSpPr>
          <p:cNvPr id="13" name="预检命令">
            <a:extLst xmlns:a="http://schemas.openxmlformats.org/drawingml/2006/main">
              <a:ext uri="{FF2B5EF4-FFF2-40B4-BE49-F238E27FC236}">
                <a16:creationId xmlns:a16="http://schemas.microsoft.com/office/drawing/2014/main" id="{656378CC-406E-473B-A2C3-FAF97F7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52825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预检命令</a:t>
            </a:r>
          </a:p>
        </p:txBody>
      </p:sp>
      <p:sp>
        <p:nvSpPr>
          <p:cNvPr id="14" name="DRY_RUN=1 bash torchtitan-npu/run_qwen3_1.7b_wordl">
            <a:extLst xmlns:a="http://schemas.openxmlformats.org/drawingml/2006/main">
              <a:ext uri="{FF2B5EF4-FFF2-40B4-BE49-F238E27FC236}">
                <a16:creationId xmlns:a16="http://schemas.microsoft.com/office/drawing/2014/main" id="{F057F372-14B4-4ED0-85E6-E26CB469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943350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DRY_RUN=1 bash torchtitan-npu/run_qwen3_1.7b_wordle_torchtitan_npu.sh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458636BA-0BEC-4C92-9A5B-8FDFE796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56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04</a:t>
            </a:r>
          </a:p>
        </p:txBody>
      </p:sp>
      <p:sp>
        <p:nvSpPr>
          <p:cNvPr id="16" name="运行三轮">
            <a:extLst xmlns:a="http://schemas.openxmlformats.org/drawingml/2006/main">
              <a:ext uri="{FF2B5EF4-FFF2-40B4-BE49-F238E27FC236}">
                <a16:creationId xmlns:a16="http://schemas.microsoft.com/office/drawing/2014/main" id="{EAAF9E31-6D1D-4E81-BF22-D2DF3BC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577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运行三轮</a:t>
            </a:r>
          </a:p>
        </p:txBody>
      </p:sp>
      <p:sp>
        <p:nvSpPr>
          <p:cNvPr id="17" name="TOTAL_TRAINING_STEPS=3 SAVE_FREQ=-1 TEST_FREQ=-1 \">
            <a:extLst xmlns:a="http://schemas.openxmlformats.org/drawingml/2006/main">
              <a:ext uri="{FF2B5EF4-FFF2-40B4-BE49-F238E27FC236}">
                <a16:creationId xmlns:a16="http://schemas.microsoft.com/office/drawing/2014/main" id="{7566F16B-B105-415C-B7C6-FCB9AC9B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84822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TOTAL_TRAINING_STEPS=3 SAVE_FREQ=-1 TEST_FREQ=-1 \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  bash torchtitan-npu/run_qwen3_1.7b_wordle_torchtitan_npu.sh</a:t>
            </a:r>
          </a:p>
        </p:txBody>
      </p:sp>
      <p:sp>
        <p:nvSpPr>
          <p:cNvPr id="18" name="setup 准备依赖；模型和数据资产还需按 07.02 补齐。">
            <a:extLst xmlns:a="http://schemas.openxmlformats.org/drawingml/2006/main">
              <a:ext uri="{FF2B5EF4-FFF2-40B4-BE49-F238E27FC236}">
                <a16:creationId xmlns:a16="http://schemas.microsoft.com/office/drawing/2014/main" id="{9790E759-D245-418B-B450-2C3E05F4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setup 准备依赖；模型和数据资产还需按 07.02 补齐。</a:t>
            </a:r>
          </a:p>
        </p:txBody>
      </p:sp>
    </p:spTree>
    <p:extLst>
      <p:ext uri="{BB962C8B-B14F-4D97-AF65-F5344CB8AC3E}">
        <p14:creationId xmlns:p14="http://schemas.microsoft.com/office/powerpoint/2010/main" val="1012766025"/>
      </p:ext>
    </p:extLst>
  </p:cSld>
</p:sld>
</file>

<file path=ppt/slides/slide10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配置与运行验证">
            <a:extLst xmlns:a="http://schemas.openxmlformats.org/drawingml/2006/main">
              <a:ext uri="{FF2B5EF4-FFF2-40B4-BE49-F238E27FC236}">
                <a16:creationId xmlns:a16="http://schemas.microsoft.com/office/drawing/2014/main" id="{54E07A47-E369-49E3-BF0D-5AFD9FCF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配置与运行验证</a:t>
            </a:r>
          </a:p>
        </p:txBody>
      </p:sp>
      <p:sp>
        <p:nvSpPr>
          <p:cNvPr id="5" name="先跑三轮完整 RL，检查同一条训练闭环能否连续执行。">
            <a:extLst xmlns:a="http://schemas.openxmlformats.org/drawingml/2006/main">
              <a:ext uri="{FF2B5EF4-FFF2-40B4-BE49-F238E27FC236}">
                <a16:creationId xmlns:a16="http://schemas.microsoft.com/office/drawing/2014/main" id="{D616A853-4576-48AE-AC5D-CD49AF52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先跑三轮完整 RL，检查同一条训练闭环能否连续执行。</a:t>
            </a:r>
          </a:p>
        </p:txBody>
      </p:sp>
      <p:sp>
        <p:nvSpPr>
          <p:cNvPr id="6" name="RL step 1">
            <a:extLst xmlns:a="http://schemas.openxmlformats.org/drawingml/2006/main">
              <a:ext uri="{FF2B5EF4-FFF2-40B4-BE49-F238E27FC236}">
                <a16:creationId xmlns:a16="http://schemas.microsoft.com/office/drawing/2014/main" id="{B97C7E48-42AB-402A-976D-D7BE39FF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05025"/>
            <a:ext cx="2724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RL step 1</a:t>
            </a:r>
          </a:p>
        </p:txBody>
      </p:sp>
      <p:sp>
        <p:nvSpPr>
          <p:cNvPr id="7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2C4BF62F-2C37-4860-A1E1-03CE97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33625"/>
            <a:ext cx="6667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8" name="RL step 2">
            <a:extLst xmlns:a="http://schemas.openxmlformats.org/drawingml/2006/main">
              <a:ext uri="{FF2B5EF4-FFF2-40B4-BE49-F238E27FC236}">
                <a16:creationId xmlns:a16="http://schemas.microsoft.com/office/drawing/2014/main" id="{F5B6774E-A282-48BE-A8BA-00AE61FF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05025"/>
            <a:ext cx="2724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RL step 2</a:t>
            </a:r>
          </a:p>
        </p:txBody>
      </p:sp>
      <p:sp>
        <p:nvSpPr>
          <p:cNvPr id="9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424D3212-2CD7-4953-B470-7EFA3872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33625"/>
            <a:ext cx="6667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0" name="RL step 3">
            <a:extLst xmlns:a="http://schemas.openxmlformats.org/drawingml/2006/main">
              <a:ext uri="{FF2B5EF4-FFF2-40B4-BE49-F238E27FC236}">
                <a16:creationId xmlns:a16="http://schemas.microsoft.com/office/drawing/2014/main" id="{38CF6103-1163-4CE6-AA43-56FA7349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2724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RL step 3</a:t>
            </a:r>
          </a:p>
        </p:txBody>
      </p:sp>
      <p:sp>
        <p:nvSpPr>
          <p:cNvPr id="11" name="每轮都有：采样、评分、Actor 更新、同步到 vLLM">
            <a:extLst xmlns:a="http://schemas.openxmlformats.org/drawingml/2006/main">
              <a:ext uri="{FF2B5EF4-FFF2-40B4-BE49-F238E27FC236}">
                <a16:creationId xmlns:a16="http://schemas.microsoft.com/office/drawing/2014/main" id="{BE7CF7CE-EC5D-4F14-BE6C-F1FE51A9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05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每轮都有：采样、评分、Actor 更新、同步到 vLLM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42950" y="3638550"/>
          <a:ext xmlns:a="http://schemas.openxmlformats.org/drawingml/2006/main" cx="10706100" cy="16097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429250"/>
                <a:gridCol w="5276850"/>
              </a:tblGrid>
              <a:tr h="38100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环境变量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本次作用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TOTAL_TRAINING_STEPS=3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执行 3 轮外层 RL 迭代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SAVE_FREQ=-1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暂不保存 checkpoint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TEST_FREQ=-1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关闭周期与末次验证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训前验证默认保留；三轮只验收链路，不证明收敛。">
            <a:extLst xmlns:a="http://schemas.openxmlformats.org/drawingml/2006/main">
              <a:ext uri="{FF2B5EF4-FFF2-40B4-BE49-F238E27FC236}">
                <a16:creationId xmlns:a16="http://schemas.microsoft.com/office/drawing/2014/main" id="{C4687132-DC3A-415B-BB25-CE007F63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训前验证默认保留；三轮只验收链路，不证明收敛。</a:t>
            </a:r>
          </a:p>
        </p:txBody>
      </p:sp>
      <p:sp>
        <p:nvSpPr>
          <p:cNvPr id="14" name="模型、batch、采样数和长度继续使用原负载。">
            <a:extLst xmlns:a="http://schemas.openxmlformats.org/drawingml/2006/main">
              <a:ext uri="{FF2B5EF4-FFF2-40B4-BE49-F238E27FC236}">
                <a16:creationId xmlns:a16="http://schemas.microsoft.com/office/drawing/2014/main" id="{F82F31D2-27B3-41DF-8083-A5057546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模型、batch、采样数和长度继续使用原负载。</a:t>
            </a:r>
          </a:p>
        </p:txBody>
      </p:sp>
    </p:spTree>
    <p:extLst>
      <p:ext uri="{BB962C8B-B14F-4D97-AF65-F5344CB8AC3E}">
        <p14:creationId xmlns:p14="http://schemas.microsoft.com/office/powerpoint/2010/main" val="963541112"/>
      </p:ext>
    </p:extLst>
  </p:cSld>
</p:sld>
</file>

<file path=ppt/slides/slide10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配置与运行验证">
            <a:extLst xmlns:a="http://schemas.openxmlformats.org/drawingml/2006/main">
              <a:ext uri="{FF2B5EF4-FFF2-40B4-BE49-F238E27FC236}">
                <a16:creationId xmlns:a16="http://schemas.microsoft.com/office/drawing/2014/main" id="{D3BEBB66-BE8F-4B85-AD4A-B99B80DC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配置与运行验证</a:t>
            </a:r>
          </a:p>
        </p:txBody>
      </p:sp>
      <p:sp>
        <p:nvSpPr>
          <p:cNvPr id="5" name="一轮 RL 会分成多次参数更新，进度条不等于优化器计数。">
            <a:extLst xmlns:a="http://schemas.openxmlformats.org/drawingml/2006/main">
              <a:ext uri="{FF2B5EF4-FFF2-40B4-BE49-F238E27FC236}">
                <a16:creationId xmlns:a16="http://schemas.microsoft.com/office/drawing/2014/main" id="{86C2F252-73C7-4EB6-9195-C39589D0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一轮 RL 会分成多次参数更新，进度条不等于优化器计数。</a:t>
            </a:r>
          </a:p>
        </p:txBody>
      </p:sp>
      <p:sp>
        <p:nvSpPr>
          <p:cNvPr id="6" name="128 个 prompt × 8 局 = 1024 条轨迹">
            <a:extLst xmlns:a="http://schemas.openxmlformats.org/drawingml/2006/main">
              <a:ext uri="{FF2B5EF4-FFF2-40B4-BE49-F238E27FC236}">
                <a16:creationId xmlns:a16="http://schemas.microsoft.com/office/drawing/2014/main" id="{60EC7496-910D-484B-BE9D-CA4BE47C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5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128 个 prompt × 8 局 = 1024 条轨迹</a:t>
            </a:r>
          </a:p>
        </p:txBody>
      </p:sp>
      <p:sp>
        <p:nvSpPr>
          <p:cNvPr id="7" name="mini-batch 1 32 × 8 = 256 条">
            <a:extLst xmlns:a="http://schemas.openxmlformats.org/drawingml/2006/main">
              <a:ext uri="{FF2B5EF4-FFF2-40B4-BE49-F238E27FC236}">
                <a16:creationId xmlns:a16="http://schemas.microsoft.com/office/drawing/2014/main" id="{95C46D65-CA0F-4713-99EC-3E5EF1B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562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mini-batch 1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32 × 8 = 256 条</a:t>
            </a:r>
          </a:p>
        </p:txBody>
      </p:sp>
      <p:sp>
        <p:nvSpPr>
          <p:cNvPr id="8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C4AD2201-FCB4-4323-B40F-99D35726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543300"/>
            <a:ext cx="219075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9" name="更新 1">
            <a:extLst xmlns:a="http://schemas.openxmlformats.org/drawingml/2006/main">
              <a:ext uri="{FF2B5EF4-FFF2-40B4-BE49-F238E27FC236}">
                <a16:creationId xmlns:a16="http://schemas.microsoft.com/office/drawing/2014/main" id="{171EF5BC-DDC6-48D6-813B-7A80F42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290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更新 1</a:t>
            </a:r>
          </a:p>
        </p:txBody>
      </p:sp>
      <p:sp>
        <p:nvSpPr>
          <p:cNvPr id="10" name="mini-batch 2 32 × 8 = 256 条">
            <a:extLst xmlns:a="http://schemas.openxmlformats.org/drawingml/2006/main">
              <a:ext uri="{FF2B5EF4-FFF2-40B4-BE49-F238E27FC236}">
                <a16:creationId xmlns:a16="http://schemas.microsoft.com/office/drawing/2014/main" id="{292E21F2-F01A-448D-82EB-A0AD0A48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2562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mini-batch 2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32 × 8 = 256 条</a:t>
            </a:r>
          </a:p>
        </p:txBody>
      </p:sp>
      <p:sp>
        <p:nvSpPr>
          <p:cNvPr id="11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574B9094-78DE-4573-A0B4-0613CCB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43300"/>
            <a:ext cx="219075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2" name="更新 2">
            <a:extLst xmlns:a="http://schemas.openxmlformats.org/drawingml/2006/main">
              <a:ext uri="{FF2B5EF4-FFF2-40B4-BE49-F238E27FC236}">
                <a16:creationId xmlns:a16="http://schemas.microsoft.com/office/drawing/2014/main" id="{E1F8D82F-DA34-420E-A0F3-D3D95F2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290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更新 2</a:t>
            </a:r>
          </a:p>
        </p:txBody>
      </p:sp>
      <p:sp>
        <p:nvSpPr>
          <p:cNvPr id="13" name="mini-batch 3 32 × 8 = 256 条">
            <a:extLst xmlns:a="http://schemas.openxmlformats.org/drawingml/2006/main">
              <a:ext uri="{FF2B5EF4-FFF2-40B4-BE49-F238E27FC236}">
                <a16:creationId xmlns:a16="http://schemas.microsoft.com/office/drawing/2014/main" id="{3F1AD834-EFC9-49B5-B269-4F0488AF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47950"/>
            <a:ext cx="2562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mini-batch 3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32 × 8 = 256 条</a:t>
            </a:r>
          </a:p>
        </p:txBody>
      </p:sp>
      <p:sp>
        <p:nvSpPr>
          <p:cNvPr id="14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77FBB6EF-84FA-48FF-AABF-93760166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43300"/>
            <a:ext cx="219075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5" name="更新 3">
            <a:extLst xmlns:a="http://schemas.openxmlformats.org/drawingml/2006/main">
              <a:ext uri="{FF2B5EF4-FFF2-40B4-BE49-F238E27FC236}">
                <a16:creationId xmlns:a16="http://schemas.microsoft.com/office/drawing/2014/main" id="{BABD109F-9CB4-496C-A857-78C1022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90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更新 3</a:t>
            </a:r>
          </a:p>
        </p:txBody>
      </p:sp>
      <p:sp>
        <p:nvSpPr>
          <p:cNvPr id="16" name="mini-batch 4 32 × 8 = 256 条">
            <a:extLst xmlns:a="http://schemas.openxmlformats.org/drawingml/2006/main">
              <a:ext uri="{FF2B5EF4-FFF2-40B4-BE49-F238E27FC236}">
                <a16:creationId xmlns:a16="http://schemas.microsoft.com/office/drawing/2014/main" id="{999799CB-ACAE-4465-B766-339D91DA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562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8F0"/>
          </a:solidFill>
          <a:ln xmlns:a="http://schemas.openxmlformats.org/drawingml/2006/main" w="15240">
            <a:solidFill>
              <a:srgbClr val="27854B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mini-batch 4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32 × 8 = 256 条</a:t>
            </a:r>
          </a:p>
        </p:txBody>
      </p:sp>
      <p:sp>
        <p:nvSpPr>
          <p:cNvPr id="17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53BF3D1C-54FD-409A-8FD0-BAF3B598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219075" cy="3524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8" name="更新 4">
            <a:extLst xmlns:a="http://schemas.openxmlformats.org/drawingml/2006/main">
              <a:ext uri="{FF2B5EF4-FFF2-40B4-BE49-F238E27FC236}">
                <a16:creationId xmlns:a16="http://schemas.microsoft.com/office/drawing/2014/main" id="{82B37C1C-7DA3-4B95-91C3-6D66B1C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029075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更新 4</a:t>
            </a:r>
          </a:p>
        </p:txBody>
      </p:sp>
      <p:sp>
        <p:nvSpPr>
          <p:cNvPr id="19" name="每组内部按 token 预算拆成 micro-batch，累计梯度后更新一次。">
            <a:extLst xmlns:a="http://schemas.openxmlformats.org/drawingml/2006/main">
              <a:ext uri="{FF2B5EF4-FFF2-40B4-BE49-F238E27FC236}">
                <a16:creationId xmlns:a16="http://schemas.microsoft.com/office/drawing/2014/main" id="{7957E666-82DA-4C45-A019-6E80F923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每组内部按 token 预算拆成 micro-batch，累计梯度后更新一次。</a:t>
            </a:r>
          </a:p>
        </p:txBody>
      </p:sp>
      <p:sp>
        <p:nvSpPr>
          <p:cNvPr id="20" name="3 轮 × 每轮 4 次 = 12 次优化器更新">
            <a:extLst xmlns:a="http://schemas.openxmlformats.org/drawingml/2006/main">
              <a:ext uri="{FF2B5EF4-FFF2-40B4-BE49-F238E27FC236}">
                <a16:creationId xmlns:a16="http://schemas.microsoft.com/office/drawing/2014/main" id="{F0C3C172-98F5-4B18-8637-701C6639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10706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4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3 轮 × 每轮 4 次 = 12 次优化器更新</a:t>
            </a:r>
          </a:p>
        </p:txBody>
      </p:sp>
      <p:sp>
        <p:nvSpPr>
          <p:cNvPr id="21" name="默认 ppo_epochs=1；配置变化或非有限梯度跳过更新时需重算。">
            <a:extLst xmlns:a="http://schemas.openxmlformats.org/drawingml/2006/main">
              <a:ext uri="{FF2B5EF4-FFF2-40B4-BE49-F238E27FC236}">
                <a16:creationId xmlns:a16="http://schemas.microsoft.com/office/drawing/2014/main" id="{CEB7A257-5359-47EB-90C4-250AD271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默认 ppo_epochs=1；配置变化或非有限梯度跳过更新时需重算。</a:t>
            </a:r>
          </a:p>
        </p:txBody>
      </p:sp>
    </p:spTree>
    <p:extLst>
      <p:ext uri="{BB962C8B-B14F-4D97-AF65-F5344CB8AC3E}">
        <p14:creationId xmlns:p14="http://schemas.microsoft.com/office/powerpoint/2010/main" val="91399558"/>
      </p:ext>
    </p:extLst>
  </p:cSld>
</p:sld>
</file>

<file path=ppt/slides/slide10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配置与运行验证">
            <a:extLst xmlns:a="http://schemas.openxmlformats.org/drawingml/2006/main">
              <a:ext uri="{FF2B5EF4-FFF2-40B4-BE49-F238E27FC236}">
                <a16:creationId xmlns:a16="http://schemas.microsoft.com/office/drawing/2014/main" id="{24E005A1-7C30-47A7-924A-9DE2B6E6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配置与运行验证</a:t>
            </a:r>
          </a:p>
        </p:txBody>
      </p:sp>
      <p:sp>
        <p:nvSpPr>
          <p:cNvPr id="5" name="验收时沿数据流看证据，不能只截图“3/3”。">
            <a:extLst xmlns:a="http://schemas.openxmlformats.org/drawingml/2006/main">
              <a:ext uri="{FF2B5EF4-FFF2-40B4-BE49-F238E27FC236}">
                <a16:creationId xmlns:a16="http://schemas.microsoft.com/office/drawing/2014/main" id="{1AEAAE56-CE9C-4169-89FF-BD303F99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验收时沿数据流看证据，不能只截图“3/3”。</a:t>
            </a:r>
          </a:p>
        </p:txBody>
      </p:sp>
      <p:sp>
        <p:nvSpPr>
          <p:cNvPr id="6" name="初始化">
            <a:extLst xmlns:a="http://schemas.openxmlformats.org/drawingml/2006/main">
              <a:ext uri="{FF2B5EF4-FFF2-40B4-BE49-F238E27FC236}">
                <a16:creationId xmlns:a16="http://schemas.microsoft.com/office/drawing/2014/main" id="{31A31A43-C92E-43E0-8870-2B75F552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28900"/>
            <a:ext cx="2009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初始化</a:t>
            </a:r>
          </a:p>
        </p:txBody>
      </p:sp>
      <p:sp>
        <p:nvSpPr>
          <p:cNvPr id="7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787281FB-2644-4F3D-91E8-B1EA82D4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1238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8" name="关系线">
            <a:extLst xmlns:a="http://schemas.openxmlformats.org/drawingml/2006/main">
              <a:ext uri="{FF2B5EF4-FFF2-40B4-BE49-F238E27FC236}">
                <a16:creationId xmlns:a16="http://schemas.microsoft.com/office/drawing/2014/main" id="{D1D18F19-6B55-4D50-B12A-653DC557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52600" y="34099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9" name="TorchTitan / FSDP2&#10;NPU VarLen">
            <a:extLst xmlns:a="http://schemas.openxmlformats.org/drawingml/2006/main">
              <a:ext uri="{FF2B5EF4-FFF2-40B4-BE49-F238E27FC236}">
                <a16:creationId xmlns:a16="http://schemas.microsoft.com/office/drawing/2014/main" id="{09D65D19-5BE2-4D22-AA8A-F64FB52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TorchTitan / FSDP2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NPU VarLen</a:t>
            </a:r>
          </a:p>
        </p:txBody>
      </p:sp>
      <p:sp>
        <p:nvSpPr>
          <p:cNvPr id="10" name="生成与交互">
            <a:extLst xmlns:a="http://schemas.openxmlformats.org/drawingml/2006/main">
              <a:ext uri="{FF2B5EF4-FFF2-40B4-BE49-F238E27FC236}">
                <a16:creationId xmlns:a16="http://schemas.microsoft.com/office/drawing/2014/main" id="{6EE41204-935E-4EC5-A5B8-BAEA5B74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28900"/>
            <a:ext cx="2009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生成与交互</a:t>
            </a:r>
          </a:p>
        </p:txBody>
      </p:sp>
      <p:sp>
        <p:nvSpPr>
          <p:cNvPr id="11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A9E7987D-4014-4442-9719-D2430531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1238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2" name="关系线">
            <a:extLst xmlns:a="http://schemas.openxmlformats.org/drawingml/2006/main">
              <a:ext uri="{FF2B5EF4-FFF2-40B4-BE49-F238E27FC236}">
                <a16:creationId xmlns:a16="http://schemas.microsoft.com/office/drawing/2014/main" id="{D3E26EF8-2553-4A1B-AF13-A0F387A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24300" y="34099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3" name="完整 Wordle 轨迹&#10;对应 reward">
            <a:extLst xmlns:a="http://schemas.openxmlformats.org/drawingml/2006/main">
              <a:ext uri="{FF2B5EF4-FFF2-40B4-BE49-F238E27FC236}">
                <a16:creationId xmlns:a16="http://schemas.microsoft.com/office/drawing/2014/main" id="{EF25F3F7-05B6-4B9F-9AC0-80CF87DC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完整 Wordle 轨迹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对应 reward</a:t>
            </a:r>
          </a:p>
        </p:txBody>
      </p:sp>
      <p:sp>
        <p:nvSpPr>
          <p:cNvPr id="14" name="概率计算">
            <a:extLst xmlns:a="http://schemas.openxmlformats.org/drawingml/2006/main">
              <a:ext uri="{FF2B5EF4-FFF2-40B4-BE49-F238E27FC236}">
                <a16:creationId xmlns:a16="http://schemas.microsoft.com/office/drawing/2014/main" id="{F0477545-0505-4BCC-8F04-E64D0428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9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概率计算</a:t>
            </a:r>
          </a:p>
        </p:txBody>
      </p:sp>
      <p:sp>
        <p:nvSpPr>
          <p:cNvPr id="15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C4E87154-4AD5-4FCC-9F9E-3A418B1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05125"/>
            <a:ext cx="1238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6" name="关系线">
            <a:extLst xmlns:a="http://schemas.openxmlformats.org/drawingml/2006/main">
              <a:ext uri="{FF2B5EF4-FFF2-40B4-BE49-F238E27FC236}">
                <a16:creationId xmlns:a16="http://schemas.microsoft.com/office/drawing/2014/main" id="{E3AA44D6-3AED-42BB-8589-1C8B73C6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4099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old log-prob&#10;Ref log-prob">
            <a:extLst xmlns:a="http://schemas.openxmlformats.org/drawingml/2006/main">
              <a:ext uri="{FF2B5EF4-FFF2-40B4-BE49-F238E27FC236}">
                <a16:creationId xmlns:a16="http://schemas.microsoft.com/office/drawing/2014/main" id="{29C676B4-93F6-420C-869A-BAA36763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old log-prob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Ref log-prob</a:t>
            </a:r>
          </a:p>
        </p:txBody>
      </p:sp>
      <p:sp>
        <p:nvSpPr>
          <p:cNvPr id="18" name="Actor 更新">
            <a:extLst xmlns:a="http://schemas.openxmlformats.org/drawingml/2006/main">
              <a:ext uri="{FF2B5EF4-FFF2-40B4-BE49-F238E27FC236}">
                <a16:creationId xmlns:a16="http://schemas.microsoft.com/office/drawing/2014/main" id="{E58C522B-910E-4D7B-B4B4-C96CCE6D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28900"/>
            <a:ext cx="2009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E60012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更新</a:t>
            </a:r>
          </a:p>
        </p:txBody>
      </p:sp>
      <p:sp>
        <p:nvSpPr>
          <p:cNvPr id="19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CC26E23F-69D6-4F8C-AEA2-819BFF1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05125"/>
            <a:ext cx="1238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20" name="关系线">
            <a:extLst xmlns:a="http://schemas.openxmlformats.org/drawingml/2006/main">
              <a:ext uri="{FF2B5EF4-FFF2-40B4-BE49-F238E27FC236}">
                <a16:creationId xmlns:a16="http://schemas.microsoft.com/office/drawing/2014/main" id="{CEBC512A-982F-4D1F-8CAD-D2A5B1F4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67700" y="34099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1" name="loss、梯度&#10;实际更新记录">
            <a:extLst xmlns:a="http://schemas.openxmlformats.org/drawingml/2006/main">
              <a:ext uri="{FF2B5EF4-FFF2-40B4-BE49-F238E27FC236}">
                <a16:creationId xmlns:a16="http://schemas.microsoft.com/office/drawing/2014/main" id="{A9442007-894C-4F2F-BA4E-515191C8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loss、梯度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实际更新记录</a:t>
            </a:r>
          </a:p>
        </p:txBody>
      </p:sp>
      <p:sp>
        <p:nvSpPr>
          <p:cNvPr id="22" name="同步新权重">
            <a:extLst xmlns:a="http://schemas.openxmlformats.org/drawingml/2006/main">
              <a:ext uri="{FF2B5EF4-FFF2-40B4-BE49-F238E27FC236}">
                <a16:creationId xmlns:a16="http://schemas.microsoft.com/office/drawing/2014/main" id="{91D1DF90-8BA1-49FC-AAB8-B8235ED0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28900"/>
            <a:ext cx="2009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同步新权重</a:t>
            </a:r>
          </a:p>
        </p:txBody>
      </p:sp>
      <p:sp>
        <p:nvSpPr>
          <p:cNvPr id="23" name="关系线">
            <a:extLst xmlns:a="http://schemas.openxmlformats.org/drawingml/2006/main">
              <a:ext uri="{FF2B5EF4-FFF2-40B4-BE49-F238E27FC236}">
                <a16:creationId xmlns:a16="http://schemas.microsoft.com/office/drawing/2014/main" id="{FEBA00CF-AA8E-45CC-A873-76450E33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39400" y="34099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4" name="下一轮 vLLM&#10;使用新 Actor">
            <a:extLst xmlns:a="http://schemas.openxmlformats.org/drawingml/2006/main">
              <a:ext uri="{FF2B5EF4-FFF2-40B4-BE49-F238E27FC236}">
                <a16:creationId xmlns:a16="http://schemas.microsoft.com/office/drawing/2014/main" id="{01DA7B45-8C0F-41CE-835B-798427A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076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下一轮 vLLM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使用新 Actor</a:t>
            </a:r>
          </a:p>
        </p:txBody>
      </p:sp>
      <p:sp>
        <p:nvSpPr>
          <p:cNvPr id="25" name="3/3 表示外层 RL 迭代完成；图中每一段都应有对应记录。">
            <a:extLst xmlns:a="http://schemas.openxmlformats.org/drawingml/2006/main">
              <a:ext uri="{FF2B5EF4-FFF2-40B4-BE49-F238E27FC236}">
                <a16:creationId xmlns:a16="http://schemas.microsoft.com/office/drawing/2014/main" id="{9B1B7804-F5B0-45F3-AA68-1C0C1A38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025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3/3 表示外层 RL 迭代完成；图中每一段都应有对应记录。</a:t>
            </a:r>
          </a:p>
        </p:txBody>
      </p:sp>
      <p:sp>
        <p:nvSpPr>
          <p:cNvPr id="26" name="出错时保留第一个 worker 异常，并注明最后成功的阶段。">
            <a:extLst xmlns:a="http://schemas.openxmlformats.org/drawingml/2006/main">
              <a:ext uri="{FF2B5EF4-FFF2-40B4-BE49-F238E27FC236}">
                <a16:creationId xmlns:a16="http://schemas.microsoft.com/office/drawing/2014/main" id="{522AE977-B015-4E5B-A003-B27AC2E1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出错时保留第一个 worker 异常，并注明最后成功的阶段。</a:t>
            </a:r>
          </a:p>
        </p:txBody>
      </p:sp>
    </p:spTree>
    <p:extLst>
      <p:ext uri="{BB962C8B-B14F-4D97-AF65-F5344CB8AC3E}">
        <p14:creationId xmlns:p14="http://schemas.microsoft.com/office/powerpoint/2010/main" val="948162568"/>
      </p:ext>
    </p:extLst>
  </p:cSld>
</p:sld>
</file>

<file path=ppt/slides/slide10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609600" y="320040"/>
            <a:ext cx="95250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配置与运行验证</a:t>
            </a:r>
            <a:endParaRPr sz="27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5" name="quiz-instruction"/>
          <p:cNvSpPr>
            <a:spLocks noGrp="1"/>
          </p:cNvSpPr>
          <p:nvPr/>
        </p:nvSpPr>
        <p:spPr>
          <a:xfrm>
            <a:off x="609600" y="9715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随堂检测：先独立作答，再说明你的判断依据。</a:t>
            </a:r>
            <a:endParaRPr sz="1725" b="0">
              <a:solidFill>
                <a:srgbClr val="555555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q1-label"/>
          <p:cNvSpPr>
            <a:spLocks noGrp="1"/>
          </p:cNvSpPr>
          <p:nvPr/>
        </p:nvSpPr>
        <p:spPr>
          <a:xfrm>
            <a:off x="609600" y="143827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Q1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q1-stem"/>
          <p:cNvSpPr>
            <a:spLocks noGrp="1"/>
          </p:cNvSpPr>
          <p:nvPr/>
        </p:nvSpPr>
        <p:spPr>
          <a:xfrm>
            <a:off x="1495425" y="144780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【判断】DRY_RUN 打印命令，但不执行 rollout 与反向。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q2-label"/>
          <p:cNvSpPr>
            <a:spLocks noGrp="1"/>
          </p:cNvSpPr>
          <p:nvPr/>
        </p:nvSpPr>
        <p:spPr>
          <a:xfrm>
            <a:off x="609600" y="225742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FFD0D1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Q2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q2-stem"/>
          <p:cNvSpPr>
            <a:spLocks noGrp="1"/>
          </p:cNvSpPr>
          <p:nvPr/>
        </p:nvSpPr>
        <p:spPr>
          <a:xfrm>
            <a:off x="1495425" y="226695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【判断】三步完成但没有 checkpoint，就不能说明链路跑通。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0" name="q3-label"/>
          <p:cNvSpPr>
            <a:spLocks noGrp="1"/>
          </p:cNvSpPr>
          <p:nvPr/>
        </p:nvSpPr>
        <p:spPr>
          <a:xfrm>
            <a:off x="609600" y="310515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BFECCC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Q3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1" name="q3-stem"/>
          <p:cNvSpPr>
            <a:spLocks noGrp="1"/>
          </p:cNvSpPr>
          <p:nvPr/>
        </p:nvSpPr>
        <p:spPr>
          <a:xfrm>
            <a:off x="1495425" y="311467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【单选】哪项直接选择变长注意力？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2" name="q3-option0"/>
          <p:cNvSpPr>
            <a:spLocks noGrp="1"/>
          </p:cNvSpPr>
          <p:nvPr/>
        </p:nvSpPr>
        <p:spPr>
          <a:xfrm>
            <a:off x="149542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max_seq_len=5120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3" name="q3-option1"/>
          <p:cNvSpPr>
            <a:spLocks noGrp="1"/>
          </p:cNvSpPr>
          <p:nvPr/>
        </p:nvSpPr>
        <p:spPr>
          <a:xfrm>
            <a:off x="650557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attn_type=varlen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4" name="q3-option2"/>
          <p:cNvSpPr>
            <a:spLocks noGrp="1"/>
          </p:cNvSpPr>
          <p:nvPr/>
        </p:nvSpPr>
        <p:spPr>
          <a:xfrm>
            <a:off x="149542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context_parallel_size=1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5" name="q3-option3"/>
          <p:cNvSpPr>
            <a:spLocks noGrp="1"/>
          </p:cNvSpPr>
          <p:nvPr/>
        </p:nvSpPr>
        <p:spPr>
          <a:xfrm>
            <a:off x="650557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rollout.name=vllm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6" name="q4-label"/>
          <p:cNvSpPr>
            <a:spLocks noGrp="1"/>
          </p:cNvSpPr>
          <p:nvPr/>
        </p:nvSpPr>
        <p:spPr>
          <a:xfrm>
            <a:off x="609600" y="468630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Q4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7" name="q4-stem"/>
          <p:cNvSpPr>
            <a:spLocks noGrp="1"/>
          </p:cNvSpPr>
          <p:nvPr/>
        </p:nvSpPr>
        <p:spPr>
          <a:xfrm>
            <a:off x="1495425" y="469582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【单选】本次三步任务覆盖了哪项初阶负载设置？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8" name="q4-option0"/>
          <p:cNvSpPr>
            <a:spLocks noGrp="1"/>
          </p:cNvSpPr>
          <p:nvPr/>
        </p:nvSpPr>
        <p:spPr>
          <a:xfrm>
            <a:off x="149542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batch 改为 2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9" name="q4-option1"/>
          <p:cNvSpPr>
            <a:spLocks noGrp="1"/>
          </p:cNvSpPr>
          <p:nvPr/>
        </p:nvSpPr>
        <p:spPr>
          <a:xfrm>
            <a:off x="650557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response 改为 512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0" name="q4-option2"/>
          <p:cNvSpPr>
            <a:spLocks noGrp="1"/>
          </p:cNvSpPr>
          <p:nvPr/>
        </p:nvSpPr>
        <p:spPr>
          <a:xfrm>
            <a:off x="149542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rollout 数改为 2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1" name="q4-option3"/>
          <p:cNvSpPr>
            <a:spLocks noGrp="1"/>
          </p:cNvSpPr>
          <p:nvPr/>
        </p:nvSpPr>
        <p:spPr>
          <a:xfrm>
            <a:off x="650557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总训练步数改为 3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9"/>
          <p:cNvSpPr>
            <a:spLocks noGrp="1"/>
          </p:cNvSpPr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 u="none" cap="none">
                <a:ln>
                  <a:noFill/>
                </a:ln>
                <a:solidFill>
                  <a:srgbClr val="DDDDDD">
                    <a:lumMod val="50000"/>
                  </a:srgb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RL 中阶课程</a:t>
            </a:r>
            <a:endParaRPr sz="4000" b="0" i="0" u="none" cap="none">
              <a:ln>
                <a:noFill/>
              </a:ln>
              <a:solidFill>
                <a:srgbClr val="DDDDDD">
                  <a:lumMod val="50000"/>
                </a:srgb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3" name="í$ľidè"/>
          <p:cNvSpPr>
            <a:spLocks noGrp="1"/>
          </p:cNvSpPr>
          <p:nvPr/>
        </p:nv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5" name="文本框 16"/>
          <p:cNvSpPr>
            <a:spLocks noGrp="1"/>
          </p:cNvSpPr>
          <p:nvPr/>
        </p:nvSpPr>
        <p:spPr>
          <a:xfrm>
            <a:off x="620201" y="6130454"/>
            <a:ext cx="87630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>
                    <a:lumMod val="50000"/>
                  </a:prstClr>
                </a:solidFill>
                <a:latin typeface="Times New Roman" panose="02020503050405090304"/>
                <a:ea typeface="微软雅黑"/>
                <a:cs typeface="Times New Roman" panose="02020503050405090304"/>
                <a:hlinkClick r:id="rId2"/>
              </a:rPr>
              <a:t>https://gitcode.com/cann</a:t>
            </a:r>
            <a:endParaRPr sz="1000" b="0" i="0" u="none" cap="none">
              <a:ln>
                <a:noFill/>
              </a:ln>
              <a:solidFill>
                <a:prstClr val="white">
                  <a:lumMod val="50000"/>
                </a:prst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矩形 11"/>
          <p:cNvSpPr>
            <a:spLocks noGrp="1"/>
          </p:cNvSpPr>
          <p:nvPr/>
        </p:nvSpPr>
        <p:spPr>
          <a:xfrm>
            <a:off x="5157694" y="1530876"/>
            <a:ext cx="4587547" cy="596075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1 切换边界与接入契约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矩形 12"/>
          <p:cNvSpPr>
            <a:spLocks noGrp="1"/>
          </p:cNvSpPr>
          <p:nvPr/>
        </p:nvSpPr>
        <p:spPr>
          <a:xfrm>
            <a:off x="5157694" y="2680975"/>
            <a:ext cx="4587549" cy="591795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2 TorchTitan-NPU 能力</a:t>
            </a:r>
            <a:endParaRPr sz="2400"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矩形 13"/>
          <p:cNvSpPr>
            <a:spLocks noGrp="1"/>
          </p:cNvSpPr>
          <p:nvPr/>
        </p:nvSpPr>
        <p:spPr>
          <a:xfrm>
            <a:off x="5157694" y="3712434"/>
            <a:ext cx="4587551" cy="587513"/>
          </a:xfrm>
          <a:prstGeom prst="rect">
            <a:avLst/>
          </a:prstGeom>
          <a:solidFill>
            <a:srgbClr val="F2F2F2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srgbClr val="666666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3 配置与运行验证</a:t>
            </a:r>
            <a:endParaRPr sz="2400" b="0" i="0" u="none" cap="none">
              <a:ln>
                <a:noFill/>
              </a:ln>
              <a:solidFill>
                <a:srgbClr val="666666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矩形 6"/>
          <p:cNvSpPr>
            <a:spLocks noGrp="1"/>
          </p:cNvSpPr>
          <p:nvPr/>
        </p:nvSpPr>
        <p:spPr>
          <a:xfrm>
            <a:off x="5157694" y="4739611"/>
            <a:ext cx="4587553" cy="587513"/>
          </a:xfrm>
          <a:prstGeom prst="rect">
            <a:avLst/>
          </a:prstGeom>
          <a:solidFill>
            <a:srgbClr val="C00000"/>
          </a:solidFill>
          <a:ln w="9525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white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Part 4 评价与迁移</a:t>
            </a:r>
            <a:endParaRPr sz="2400" b="0" i="0" u="none" cap="none">
              <a:ln>
                <a:noFill/>
              </a:ln>
              <a:solidFill>
                <a:prstClr val="white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评价与迁移">
            <a:extLst xmlns:a="http://schemas.openxmlformats.org/drawingml/2006/main">
              <a:ext uri="{FF2B5EF4-FFF2-40B4-BE49-F238E27FC236}">
                <a16:creationId xmlns:a16="http://schemas.microsoft.com/office/drawing/2014/main" id="{A071122F-31F7-4DAA-83F0-7FCC094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评价与迁移</a:t>
            </a:r>
          </a:p>
        </p:txBody>
      </p:sp>
      <p:sp>
        <p:nvSpPr>
          <p:cNvPr id="5" name="跑通以后，还需要哪些证据才能说“值得换后端”？">
            <a:extLst xmlns:a="http://schemas.openxmlformats.org/drawingml/2006/main">
              <a:ext uri="{FF2B5EF4-FFF2-40B4-BE49-F238E27FC236}">
                <a16:creationId xmlns:a16="http://schemas.microsoft.com/office/drawing/2014/main" id="{51A1CCCB-C21F-4238-B7BE-79BF34F1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跑通以后，还需要哪些证据才能说“值得换后端”？</a:t>
            </a:r>
          </a:p>
        </p:txBody>
      </p:sp>
      <p:sp>
        <p:nvSpPr>
          <p:cNvPr id="6" name="DRY_RUN 命令准备好">
            <a:extLst xmlns:a="http://schemas.openxmlformats.org/drawingml/2006/main">
              <a:ext uri="{FF2B5EF4-FFF2-40B4-BE49-F238E27FC236}">
                <a16:creationId xmlns:a16="http://schemas.microsoft.com/office/drawing/2014/main" id="{D560FA27-D821-4B30-A37D-6B0A08D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666666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DRY_RUN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命令准备好</a:t>
            </a:r>
          </a:p>
        </p:txBody>
      </p:sp>
      <p:sp>
        <p:nvSpPr>
          <p:cNvPr id="7" name="三轮完整运行 接入链路可执行">
            <a:extLst xmlns:a="http://schemas.openxmlformats.org/drawingml/2006/main">
              <a:ext uri="{FF2B5EF4-FFF2-40B4-BE49-F238E27FC236}">
                <a16:creationId xmlns:a16="http://schemas.microsoft.com/office/drawing/2014/main" id="{5BD5078D-3A47-4BA4-80F1-70499602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38350"/>
            <a:ext cx="3305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三轮完整运行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接入链路可执行</a:t>
            </a:r>
          </a:p>
        </p:txBody>
      </p:sp>
      <p:cxnSp>
        <p:nvCxnSpPr>
          <p:cNvPr id="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90950" y="2457450"/>
            <a:ext cx="13049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9" name="开始实际执行">
            <a:extLst xmlns:a="http://schemas.openxmlformats.org/drawingml/2006/main">
              <a:ext uri="{FF2B5EF4-FFF2-40B4-BE49-F238E27FC236}">
                <a16:creationId xmlns:a16="http://schemas.microsoft.com/office/drawing/2014/main" id="{7049169A-8A26-4730-98FD-99FEA465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097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开始实际执行</a:t>
            </a:r>
          </a:p>
        </p:txBody>
      </p:sp>
      <p:sp>
        <p:nvSpPr>
          <p:cNvPr id="10" name="更快 / 更省显存？">
            <a:extLst xmlns:a="http://schemas.openxmlformats.org/drawingml/2006/main">
              <a:ext uri="{FF2B5EF4-FFF2-40B4-BE49-F238E27FC236}">
                <a16:creationId xmlns:a16="http://schemas.microsoft.com/office/drawing/2014/main" id="{10074890-15ED-40A9-BE34-DAB788B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14825"/>
            <a:ext cx="33051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更快 / 更省显存？</a:t>
            </a:r>
          </a:p>
        </p:txBody>
      </p:sp>
      <p:sp>
        <p:nvSpPr>
          <p:cNvPr id="11" name="模型学得更好？">
            <a:extLst xmlns:a="http://schemas.openxmlformats.org/drawingml/2006/main">
              <a:ext uri="{FF2B5EF4-FFF2-40B4-BE49-F238E27FC236}">
                <a16:creationId xmlns:a16="http://schemas.microsoft.com/office/drawing/2014/main" id="{01AB0593-0133-4C3C-9E95-E94C3368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14825"/>
            <a:ext cx="33051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模型学得更好？</a:t>
            </a:r>
          </a:p>
        </p:txBody>
      </p:sp>
      <p:sp>
        <p:nvSpPr>
          <p:cNvPr id="12" name="可以继续训练？">
            <a:extLst xmlns:a="http://schemas.openxmlformats.org/drawingml/2006/main">
              <a:ext uri="{FF2B5EF4-FFF2-40B4-BE49-F238E27FC236}">
                <a16:creationId xmlns:a16="http://schemas.microsoft.com/office/drawing/2014/main" id="{B3E42C28-DFB0-4EA3-97D4-3AE3FA8F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14825"/>
            <a:ext cx="33051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可以继续训练？</a:t>
            </a:r>
          </a:p>
        </p:txBody>
      </p:sp>
      <p:cxnSp>
        <p:nvCxnSpPr>
          <p:cNvPr id="13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405063" y="2876550"/>
            <a:ext cx="4343400" cy="1438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4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110288" y="2876550"/>
            <a:ext cx="638175" cy="1438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cxnSp>
        <p:nvCxnSpPr>
          <p:cNvPr id="15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748463" y="2876550"/>
            <a:ext cx="3067050" cy="1438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357AE8"/>
            </a:solidFill>
            <a:prstDash val="solid"/>
            <a:tailEnd type="triangle" w="med" len="med"/>
          </a:ln>
        </p:spPr>
      </p:cxnSp>
      <p:sp>
        <p:nvSpPr>
          <p:cNvPr id="16" name="固定负载，重复性能实验">
            <a:extLst xmlns:a="http://schemas.openxmlformats.org/drawingml/2006/main">
              <a:ext uri="{FF2B5EF4-FFF2-40B4-BE49-F238E27FC236}">
                <a16:creationId xmlns:a16="http://schemas.microsoft.com/office/drawing/2014/main" id="{2C441CAA-849E-4B6F-8640-1893E18B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3324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固定负载，重复性能实验</a:t>
            </a:r>
          </a:p>
        </p:txBody>
      </p:sp>
      <p:sp>
        <p:nvSpPr>
          <p:cNvPr id="17" name="长程训练与同条件评测">
            <a:extLst xmlns:a="http://schemas.openxmlformats.org/drawingml/2006/main">
              <a:ext uri="{FF2B5EF4-FFF2-40B4-BE49-F238E27FC236}">
                <a16:creationId xmlns:a16="http://schemas.microsoft.com/office/drawing/2014/main" id="{8A933F6E-01BC-4793-ABDF-D72CD0BC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219700"/>
            <a:ext cx="33242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长程训练与同条件评测</a:t>
            </a:r>
          </a:p>
        </p:txBody>
      </p:sp>
      <p:sp>
        <p:nvSpPr>
          <p:cNvPr id="18" name="实际保存并恢复 checkpoint">
            <a:extLst xmlns:a="http://schemas.openxmlformats.org/drawingml/2006/main">
              <a:ext uri="{FF2B5EF4-FFF2-40B4-BE49-F238E27FC236}">
                <a16:creationId xmlns:a16="http://schemas.microsoft.com/office/drawing/2014/main" id="{C3896C5C-184C-4C5D-AF04-8B8CB8E4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36099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72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实际保存并恢复 checkpoint</a:t>
            </a:r>
          </a:p>
        </p:txBody>
      </p:sp>
      <p:sp>
        <p:nvSpPr>
          <p:cNvPr id="19" name="链路、性能、任务质量和恢复能力，需要分别验收。">
            <a:extLst xmlns:a="http://schemas.openxmlformats.org/drawingml/2006/main">
              <a:ext uri="{FF2B5EF4-FFF2-40B4-BE49-F238E27FC236}">
                <a16:creationId xmlns:a16="http://schemas.microsoft.com/office/drawing/2014/main" id="{EC359DFC-439B-4F25-8FF2-F0E9E032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链路、性能、任务质量和恢复能力，需要分别验收。</a:t>
            </a:r>
          </a:p>
        </p:txBody>
      </p:sp>
    </p:spTree>
    <p:extLst>
      <p:ext uri="{BB962C8B-B14F-4D97-AF65-F5344CB8AC3E}">
        <p14:creationId xmlns:p14="http://schemas.microsoft.com/office/powerpoint/2010/main" val="1875375267"/>
      </p:ext>
    </p:extLst>
  </p:cSld>
</p:sld>
</file>

<file path=ppt/slides/slide10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评价与迁移">
            <a:extLst xmlns:a="http://schemas.openxmlformats.org/drawingml/2006/main">
              <a:ext uri="{FF2B5EF4-FFF2-40B4-BE49-F238E27FC236}">
                <a16:creationId xmlns:a16="http://schemas.microsoft.com/office/drawing/2014/main" id="{C2D91C28-3544-4EC8-A748-6B241DFB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评价与迁移</a:t>
            </a:r>
          </a:p>
        </p:txBody>
      </p:sp>
      <p:sp>
        <p:nvSpPr>
          <p:cNvPr id="5" name="整轮耗时变短，是否真的来自 Actor 更新更快？">
            <a:extLst xmlns:a="http://schemas.openxmlformats.org/drawingml/2006/main">
              <a:ext uri="{FF2B5EF4-FFF2-40B4-BE49-F238E27FC236}">
                <a16:creationId xmlns:a16="http://schemas.microsoft.com/office/drawing/2014/main" id="{0A71FEAC-B03A-4D0A-A205-385FFF28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整轮耗时变短，是否真的来自 Actor 更新更快？</a:t>
            </a:r>
          </a:p>
        </p:txBody>
      </p:sp>
      <p:sp>
        <p:nvSpPr>
          <p:cNvPr id="6" name="生成与 Wordle 交互">
            <a:extLst xmlns:a="http://schemas.openxmlformats.org/drawingml/2006/main">
              <a:ext uri="{FF2B5EF4-FFF2-40B4-BE49-F238E27FC236}">
                <a16:creationId xmlns:a16="http://schemas.microsoft.com/office/drawing/2014/main" id="{40028D90-1EA0-40D4-AAAC-6009469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19907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生成与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Wordle 交互</a:t>
            </a:r>
          </a:p>
        </p:txBody>
      </p:sp>
      <p:sp>
        <p:nvSpPr>
          <p:cNvPr id="7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F8F30579-C9A9-4507-B9AF-58EB4B9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05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8" name="old log-prob">
            <a:extLst xmlns:a="http://schemas.openxmlformats.org/drawingml/2006/main">
              <a:ext uri="{FF2B5EF4-FFF2-40B4-BE49-F238E27FC236}">
                <a16:creationId xmlns:a16="http://schemas.microsoft.com/office/drawing/2014/main" id="{1E3A2395-BC20-48A0-BC79-9E92D4EF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16668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old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log-prob</a:t>
            </a:r>
          </a:p>
        </p:txBody>
      </p:sp>
      <p:sp>
        <p:nvSpPr>
          <p:cNvPr id="9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63F1A757-4109-4BCB-A975-B52A5A2C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0" name="Ref log-prob">
            <a:extLst xmlns:a="http://schemas.openxmlformats.org/drawingml/2006/main">
              <a:ext uri="{FF2B5EF4-FFF2-40B4-BE49-F238E27FC236}">
                <a16:creationId xmlns:a16="http://schemas.microsoft.com/office/drawing/2014/main" id="{9CB9970C-CE5B-4ED2-B43D-10CF73FC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14625"/>
            <a:ext cx="16668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Ref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log-prob</a:t>
            </a:r>
          </a:p>
        </p:txBody>
      </p:sp>
      <p:sp>
        <p:nvSpPr>
          <p:cNvPr id="11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417A7D7C-400B-442E-9D9F-7B2CC93F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2" name="优势 计算">
            <a:extLst xmlns:a="http://schemas.openxmlformats.org/drawingml/2006/main">
              <a:ext uri="{FF2B5EF4-FFF2-40B4-BE49-F238E27FC236}">
                <a16:creationId xmlns:a16="http://schemas.microsoft.com/office/drawing/2014/main" id="{C8D4FF08-C56A-4896-BD45-D7B9A7A0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1352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优势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计算</a:t>
            </a:r>
          </a:p>
        </p:txBody>
      </p:sp>
      <p:sp>
        <p:nvSpPr>
          <p:cNvPr id="13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8283BD51-198D-4C66-8B3F-7383D661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05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4" name="Actor 更新">
            <a:extLst xmlns:a="http://schemas.openxmlformats.org/drawingml/2006/main">
              <a:ext uri="{FF2B5EF4-FFF2-40B4-BE49-F238E27FC236}">
                <a16:creationId xmlns:a16="http://schemas.microsoft.com/office/drawing/2014/main" id="{993AB575-EE70-4072-B520-7947F8AA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14668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15240">
            <a:solidFill>
              <a:srgbClr val="E60012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更新</a:t>
            </a:r>
          </a:p>
        </p:txBody>
      </p:sp>
      <p:sp>
        <p:nvSpPr>
          <p:cNvPr id="15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B87A4CE3-4FBB-4794-9C4B-63898409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1524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6" name="权重 同步">
            <a:extLst xmlns:a="http://schemas.openxmlformats.org/drawingml/2006/main">
              <a:ext uri="{FF2B5EF4-FFF2-40B4-BE49-F238E27FC236}">
                <a16:creationId xmlns:a16="http://schemas.microsoft.com/office/drawing/2014/main" id="{771F4EB7-889E-426B-AFDF-660DCEAD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14625"/>
            <a:ext cx="151447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权重</a:t>
            </a:r>
          </a:p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同步</a:t>
            </a:r>
          </a:p>
        </p:txBody>
      </p:sp>
      <p:sp>
        <p:nvSpPr>
          <p:cNvPr id="17" name="关系线">
            <a:extLst xmlns:a="http://schemas.openxmlformats.org/drawingml/2006/main">
              <a:ext uri="{FF2B5EF4-FFF2-40B4-BE49-F238E27FC236}">
                <a16:creationId xmlns:a16="http://schemas.microsoft.com/office/drawing/2014/main" id="{FC52EB95-A007-49C7-91E9-B2B2C0FB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150" y="23622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关系线">
            <a:extLst xmlns:a="http://schemas.openxmlformats.org/drawingml/2006/main">
              <a:ext uri="{FF2B5EF4-FFF2-40B4-BE49-F238E27FC236}">
                <a16:creationId xmlns:a16="http://schemas.microsoft.com/office/drawing/2014/main" id="{0DC65700-B99D-4A22-8717-5A2E17EF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9150" y="23622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关系线">
            <a:extLst xmlns:a="http://schemas.openxmlformats.org/drawingml/2006/main">
              <a:ext uri="{FF2B5EF4-FFF2-40B4-BE49-F238E27FC236}">
                <a16:creationId xmlns:a16="http://schemas.microsoft.com/office/drawing/2014/main" id="{FC8A4C62-259A-4073-961E-703F357D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91900" y="236220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timing_s/step：整轮 RL">
            <a:extLst xmlns:a="http://schemas.openxmlformats.org/drawingml/2006/main">
              <a:ext uri="{FF2B5EF4-FFF2-40B4-BE49-F238E27FC236}">
                <a16:creationId xmlns:a16="http://schemas.microsoft.com/office/drawing/2014/main" id="{400F65F6-FCD4-48D0-A987-9BDB2F58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383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timing_s/step：整轮 RL</a:t>
            </a:r>
          </a:p>
        </p:txBody>
      </p:sp>
      <p:sp>
        <p:nvSpPr>
          <p:cNvPr id="21" name="关系线">
            <a:extLst xmlns:a="http://schemas.openxmlformats.org/drawingml/2006/main">
              <a:ext uri="{FF2B5EF4-FFF2-40B4-BE49-F238E27FC236}">
                <a16:creationId xmlns:a16="http://schemas.microsoft.com/office/drawing/2014/main" id="{3662C3CD-8DC4-4E5D-96D3-A8BE14BE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01125" y="3676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0012"/>
            </a:solidFill>
          </a:ln>
        </p:spPr>
      </p:sp>
      <p:sp>
        <p:nvSpPr>
          <p:cNvPr id="22" name="timing_s/update_actor">
            <a:extLst xmlns:a="http://schemas.openxmlformats.org/drawingml/2006/main">
              <a:ext uri="{FF2B5EF4-FFF2-40B4-BE49-F238E27FC236}">
                <a16:creationId xmlns:a16="http://schemas.microsoft.com/office/drawing/2014/main" id="{E6FDBF76-7C77-4F5D-8F9D-63A21127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9575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timing_s/update_actor</a:t>
            </a:r>
          </a:p>
        </p:txBody>
      </p:sp>
      <p:sp>
        <p:nvSpPr>
          <p:cNvPr id="23" name="Actor 每 token 耗时 = 更新耗时（ms）÷ 有效（prompt + response）">
            <a:extLst xmlns:a="http://schemas.openxmlformats.org/drawingml/2006/main">
              <a:ext uri="{FF2B5EF4-FFF2-40B4-BE49-F238E27FC236}">
                <a16:creationId xmlns:a16="http://schemas.microsoft.com/office/drawing/2014/main" id="{BB91D72B-5026-440B-B3D3-9A1BE54B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每 token 耗时 = 更新耗时（ms）÷ 有效（prompt + response）token 数</a:t>
            </a:r>
          </a:p>
        </p:txBody>
      </p:sp>
      <p:sp>
        <p:nvSpPr>
          <p:cNvPr id="24" name="阶段宽度仅示意顺序，不代表耗时比例。">
            <a:extLst xmlns:a="http://schemas.openxmlformats.org/drawingml/2006/main">
              <a:ext uri="{FF2B5EF4-FFF2-40B4-BE49-F238E27FC236}">
                <a16:creationId xmlns:a16="http://schemas.microsoft.com/office/drawing/2014/main" id="{0FA46C85-1565-41C4-9DF8-D9C8C32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70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defRPr>
            </a:pPr>
            <a:r>
              <a:rPr sz="1575" b="0">
                <a:solidFill>
                  <a:srgbClr val="666666"/>
                </a:solidFill>
                <a:latin typeface="Times New Roman"/>
                <a:ea typeface="微软雅黑"/>
                <a:cs typeface="Times New Roman"/>
              </a:rPr>
              <a:t>阶段宽度仅示意顺序，不代表耗时比例。</a:t>
            </a:r>
          </a:p>
        </p:txBody>
      </p:sp>
      <p:sp>
        <p:nvSpPr>
          <p:cNvPr id="25" name="同时看生成长度、阶段耗时和显存，再解释总 step 的变化。">
            <a:extLst xmlns:a="http://schemas.openxmlformats.org/drawingml/2006/main">
              <a:ext uri="{FF2B5EF4-FFF2-40B4-BE49-F238E27FC236}">
                <a16:creationId xmlns:a16="http://schemas.microsoft.com/office/drawing/2014/main" id="{4A0855B6-3860-4240-9FA5-FA05B247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同时看生成长度、阶段耗时和显存，再解释总 step 的变化。</a:t>
            </a:r>
          </a:p>
        </p:txBody>
      </p:sp>
    </p:spTree>
    <p:extLst>
      <p:ext uri="{BB962C8B-B14F-4D97-AF65-F5344CB8AC3E}">
        <p14:creationId xmlns:p14="http://schemas.microsoft.com/office/powerpoint/2010/main" val="290003083"/>
      </p:ext>
    </p:extLst>
  </p:cSld>
</p:sld>
</file>

<file path=ppt/slides/slide10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评价与迁移">
            <a:extLst xmlns:a="http://schemas.openxmlformats.org/drawingml/2006/main">
              <a:ext uri="{FF2B5EF4-FFF2-40B4-BE49-F238E27FC236}">
                <a16:creationId xmlns:a16="http://schemas.microsoft.com/office/drawing/2014/main" id="{67059201-F41F-4B19-A26B-CB9E0B9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评价与迁移</a:t>
            </a:r>
          </a:p>
        </p:txBody>
      </p:sp>
      <p:sp>
        <p:nvSpPr>
          <p:cNvPr id="5" name="历史记录能帮助发现差异，不能代替同条件的正式实验。">
            <a:extLst xmlns:a="http://schemas.openxmlformats.org/drawingml/2006/main">
              <a:ext uri="{FF2B5EF4-FFF2-40B4-BE49-F238E27FC236}">
                <a16:creationId xmlns:a16="http://schemas.microsoft.com/office/drawing/2014/main" id="{BB96FB9B-CAF6-4446-9D02-0A1519D8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历史记录能帮助发现差异，不能代替同条件的正式实验。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42950" y="1952625"/>
          <a:ext xmlns:a="http://schemas.openxmlformats.org/drawingml/2006/main" cx="10706100" cy="30194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010025"/>
                <a:gridCol w="2171700"/>
                <a:gridCol w="1885950"/>
                <a:gridCol w="2638425"/>
              </a:tblGrid>
              <a:tr h="590550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课程开发路径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平均 step /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Actor /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Actor 每 token /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初阶 verl FSDP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703.9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244.5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0.1252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FSDP2 + TND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DP shard 2，CP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670.3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198.7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0.1020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历史 TND + CP2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DP shard 1，CP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693.6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215.4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47625" rIns="95250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1111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0.1122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第二行比第一行：Actor 每 token 约低 18.5%，整轮约低 4.8%。">
            <a:extLst xmlns:a="http://schemas.openxmlformats.org/drawingml/2006/main">
              <a:ext uri="{FF2B5EF4-FFF2-40B4-BE49-F238E27FC236}">
                <a16:creationId xmlns:a16="http://schemas.microsoft.com/office/drawing/2014/main" id="{58C386D7-4923-436E-8C97-08076DBF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10706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第二行比第一行：Actor 每 token 约低 18.5%，整轮约低 4.8%。</a:t>
            </a:r>
          </a:p>
        </p:txBody>
      </p:sp>
      <p:sp>
        <p:nvSpPr>
          <p:cNvPr id="8" name="仅为各 3 step 的历史记录；CP2 需额外适配，当前配方仍用 CP1。">
            <a:extLst xmlns:a="http://schemas.openxmlformats.org/drawingml/2006/main">
              <a:ext uri="{FF2B5EF4-FFF2-40B4-BE49-F238E27FC236}">
                <a16:creationId xmlns:a16="http://schemas.microsoft.com/office/drawing/2014/main" id="{7F2EA924-D0DB-4C13-A7ED-50F8F170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仅为各 3 step 的历史记录；CP2 需额外适配，当前配方仍用 CP1。</a:t>
            </a:r>
          </a:p>
        </p:txBody>
      </p:sp>
    </p:spTree>
    <p:extLst>
      <p:ext uri="{BB962C8B-B14F-4D97-AF65-F5344CB8AC3E}">
        <p14:creationId xmlns:p14="http://schemas.microsoft.com/office/powerpoint/2010/main" val="142877420"/>
      </p:ext>
    </p:extLst>
  </p:cSld>
</p:sld>
</file>

<file path=ppt/slides/slide10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2" name="图片 29"/>
          <p:cNvPicPr>
            <a:picLocks noChangeAspect="1"/>
          </p:cNvPicPr>
          <p:nvPr/>
        </p:nvPicPr>
        <p:blipFill>
          <a:blip r:embed="rIdAssemble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xmlns:a="http://schemas.openxmlformats.org/drawingml/2006/main"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评价与迁移">
            <a:extLst xmlns:a="http://schemas.openxmlformats.org/drawingml/2006/main">
              <a:ext uri="{FF2B5EF4-FFF2-40B4-BE49-F238E27FC236}">
                <a16:creationId xmlns:a16="http://schemas.microsoft.com/office/drawing/2014/main" id="{A0067F94-D486-4018-8370-C9D21936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700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评价与迁移</a:t>
            </a:r>
          </a:p>
        </p:txBody>
      </p:sp>
      <p:sp>
        <p:nvSpPr>
          <p:cNvPr id="5" name="先找到最后成功的一步，再沿失败边界排查。">
            <a:extLst xmlns:a="http://schemas.openxmlformats.org/drawingml/2006/main">
              <a:ext uri="{FF2B5EF4-FFF2-40B4-BE49-F238E27FC236}">
                <a16:creationId xmlns:a16="http://schemas.microsoft.com/office/drawing/2014/main" id="{5B1D131C-E1FC-423E-96CD-254B3EB2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04900"/>
            <a:ext cx="1070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210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先找到最后成功的一步，再沿失败边界排查。</a:t>
            </a:r>
          </a:p>
        </p:txBody>
      </p:sp>
      <p:sp>
        <p:nvSpPr>
          <p:cNvPr id="6" name="rollout 已完成？">
            <a:extLst xmlns:a="http://schemas.openxmlformats.org/drawingml/2006/main">
              <a:ext uri="{FF2B5EF4-FFF2-40B4-BE49-F238E27FC236}">
                <a16:creationId xmlns:a16="http://schemas.microsoft.com/office/drawing/2014/main" id="{14CACFEF-1A6C-4555-8C33-1E0CABC1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3028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rollout 已完成？</a:t>
            </a:r>
          </a:p>
        </p:txBody>
      </p:sp>
      <p:sp>
        <p:nvSpPr>
          <p:cNvPr id="7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793EA87F-AD2D-4318-9161-C234CE58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52725"/>
            <a:ext cx="5715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8" name="是">
            <a:extLst xmlns:a="http://schemas.openxmlformats.org/drawingml/2006/main">
              <a:ext uri="{FF2B5EF4-FFF2-40B4-BE49-F238E27FC236}">
                <a16:creationId xmlns:a16="http://schemas.microsoft.com/office/drawing/2014/main" id="{6E328669-95AA-4B9A-90EF-4E2E5AEE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854B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27854B"/>
                </a:solidFill>
                <a:latin typeface="Times New Roman"/>
                <a:ea typeface="微软雅黑"/>
                <a:cs typeface="Times New Roman"/>
              </a:rPr>
              <a:t>是</a:t>
            </a:r>
          </a:p>
        </p:txBody>
      </p:sp>
      <p:sp>
        <p:nvSpPr>
          <p:cNvPr id="9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D55C8EB9-E34C-467B-AB4F-D2D895B1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43300"/>
            <a:ext cx="2095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</a:ln>
        </p:spPr>
      </p:sp>
      <p:sp>
        <p:nvSpPr>
          <p:cNvPr id="10" name="否">
            <a:extLst xmlns:a="http://schemas.openxmlformats.org/drawingml/2006/main">
              <a:ext uri="{FF2B5EF4-FFF2-40B4-BE49-F238E27FC236}">
                <a16:creationId xmlns:a16="http://schemas.microsoft.com/office/drawing/2014/main" id="{4A5D332E-7BF5-49FF-8F6C-CE95D05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43300"/>
            <a:ext cx="542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否</a:t>
            </a:r>
          </a:p>
        </p:txBody>
      </p:sp>
      <p:sp>
        <p:nvSpPr>
          <p:cNvPr id="11" name="查 vLLM、AgentLoop&#10;反馈和长度限制">
            <a:extLst xmlns:a="http://schemas.openxmlformats.org/drawingml/2006/main">
              <a:ext uri="{FF2B5EF4-FFF2-40B4-BE49-F238E27FC236}">
                <a16:creationId xmlns:a16="http://schemas.microsoft.com/office/drawing/2014/main" id="{59F4296D-85DF-4FA9-A790-7EEEAE37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24350"/>
            <a:ext cx="3200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查 vLLM、AgentLoop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反馈和长度限制</a:t>
            </a:r>
          </a:p>
        </p:txBody>
      </p:sp>
      <p:sp>
        <p:nvSpPr>
          <p:cNvPr id="12" name="Actor 更新已完成？">
            <a:extLst xmlns:a="http://schemas.openxmlformats.org/drawingml/2006/main">
              <a:ext uri="{FF2B5EF4-FFF2-40B4-BE49-F238E27FC236}">
                <a16:creationId xmlns:a16="http://schemas.microsoft.com/office/drawing/2014/main" id="{48A57C92-3C02-4080-BAE8-7E6DC2C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47925"/>
            <a:ext cx="3028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Actor 更新已完成？</a:t>
            </a:r>
          </a:p>
        </p:txBody>
      </p:sp>
      <p:sp>
        <p:nvSpPr>
          <p:cNvPr id="13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BDEF5618-9C4A-425C-B0D3-B759530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52725"/>
            <a:ext cx="5715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7AE8"/>
          </a:solidFill>
          <a:ln xmlns:a="http://schemas.openxmlformats.org/drawingml/2006/main" w="0">
            <a:solidFill>
              <a:srgbClr val="357AE8"/>
            </a:solidFill>
          </a:ln>
        </p:spPr>
      </p:sp>
      <p:sp>
        <p:nvSpPr>
          <p:cNvPr id="14" name="是">
            <a:extLst xmlns:a="http://schemas.openxmlformats.org/drawingml/2006/main">
              <a:ext uri="{FF2B5EF4-FFF2-40B4-BE49-F238E27FC236}">
                <a16:creationId xmlns:a16="http://schemas.microsoft.com/office/drawing/2014/main" id="{CD803E5B-F51D-4CFD-802D-D7C05989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62200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854B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27854B"/>
                </a:solidFill>
                <a:latin typeface="Times New Roman"/>
                <a:ea typeface="微软雅黑"/>
                <a:cs typeface="Times New Roman"/>
              </a:rPr>
              <a:t>是</a:t>
            </a:r>
          </a:p>
        </p:txBody>
      </p:sp>
      <p:sp>
        <p:nvSpPr>
          <p:cNvPr id="15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4CB5C0F4-2E5F-489B-B937-94522F3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543300"/>
            <a:ext cx="2095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</a:ln>
        </p:spPr>
      </p:sp>
      <p:sp>
        <p:nvSpPr>
          <p:cNvPr id="16" name="否">
            <a:extLst xmlns:a="http://schemas.openxmlformats.org/drawingml/2006/main">
              <a:ext uri="{FF2B5EF4-FFF2-40B4-BE49-F238E27FC236}">
                <a16:creationId xmlns:a16="http://schemas.microsoft.com/office/drawing/2014/main" id="{DB313738-6E3A-4B23-91CE-DA05DD18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543300"/>
            <a:ext cx="542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否</a:t>
            </a:r>
          </a:p>
        </p:txBody>
      </p:sp>
      <p:sp>
        <p:nvSpPr>
          <p:cNvPr id="17" name="查 packed 边界&#10;算子、分片和显存">
            <a:extLst xmlns:a="http://schemas.openxmlformats.org/drawingml/2006/main">
              <a:ext uri="{FF2B5EF4-FFF2-40B4-BE49-F238E27FC236}">
                <a16:creationId xmlns:a16="http://schemas.microsoft.com/office/drawing/2014/main" id="{678F0CFD-574C-48C7-BAF0-74E6EB2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24350"/>
            <a:ext cx="3200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查 packed 边界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算子、分片和显存</a:t>
            </a:r>
          </a:p>
        </p:txBody>
      </p:sp>
      <p:sp>
        <p:nvSpPr>
          <p:cNvPr id="18" name="新权重已用于生成？">
            <a:extLst xmlns:a="http://schemas.openxmlformats.org/drawingml/2006/main">
              <a:ext uri="{FF2B5EF4-FFF2-40B4-BE49-F238E27FC236}">
                <a16:creationId xmlns:a16="http://schemas.microsoft.com/office/drawing/2014/main" id="{DC3322A9-134C-476C-8362-1D32A8CB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47925"/>
            <a:ext cx="3028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F"/>
          </a:solidFill>
          <a:ln xmlns:a="http://schemas.openxmlformats.org/drawingml/2006/main" w="15240">
            <a:solidFill>
              <a:srgbClr val="357AE8"/>
            </a:solidFill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新权重已用于生成？</a:t>
            </a:r>
          </a:p>
        </p:txBody>
      </p:sp>
      <p:sp>
        <p:nvSpPr>
          <p:cNvPr id="19" name="数据流方向">
            <a:extLst xmlns:a="http://schemas.openxmlformats.org/drawingml/2006/main">
              <a:ext uri="{FF2B5EF4-FFF2-40B4-BE49-F238E27FC236}">
                <a16:creationId xmlns:a16="http://schemas.microsoft.com/office/drawing/2014/main" id="{7CA53619-F682-4D19-BEF7-F8624478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43300"/>
            <a:ext cx="20955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0012"/>
          </a:solidFill>
          <a:ln xmlns:a="http://schemas.openxmlformats.org/drawingml/2006/main" w="0">
            <a:solidFill>
              <a:srgbClr val="E60012"/>
            </a:solidFill>
          </a:ln>
        </p:spPr>
      </p:sp>
      <p:sp>
        <p:nvSpPr>
          <p:cNvPr id="20" name="否">
            <a:extLst xmlns:a="http://schemas.openxmlformats.org/drawingml/2006/main">
              <a:ext uri="{FF2B5EF4-FFF2-40B4-BE49-F238E27FC236}">
                <a16:creationId xmlns:a16="http://schemas.microsoft.com/office/drawing/2014/main" id="{304A41BC-F222-4B00-A95C-FD8C724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42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00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否</a:t>
            </a:r>
          </a:p>
        </p:txBody>
      </p:sp>
      <p:sp>
        <p:nvSpPr>
          <p:cNvPr id="21" name="查名称与形状映射&#10;DTensor 与同步接口">
            <a:extLst xmlns:a="http://schemas.openxmlformats.org/drawingml/2006/main">
              <a:ext uri="{FF2B5EF4-FFF2-40B4-BE49-F238E27FC236}">
                <a16:creationId xmlns:a16="http://schemas.microsoft.com/office/drawing/2014/main" id="{2583E2CF-9339-4754-9B24-B6CB48E7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24350"/>
            <a:ext cx="3200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查名称与形状映射</a:t>
            </a:r>
          </a:p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0">
                <a:solidFill>
                  <a:srgbClr val="111111"/>
                </a:solidFill>
                <a:latin typeface="Times New Roman"/>
                <a:ea typeface="微软雅黑"/>
                <a:cs typeface="Times New Roman"/>
              </a:rPr>
              <a:t>DTensor 与同步接口</a:t>
            </a:r>
          </a:p>
        </p:txBody>
      </p:sp>
      <p:sp>
        <p:nvSpPr>
          <p:cNvPr id="22" name="先读第一个 worker 异常，后续进程退出可能只是连带结果。">
            <a:extLst xmlns:a="http://schemas.openxmlformats.org/drawingml/2006/main">
              <a:ext uri="{FF2B5EF4-FFF2-40B4-BE49-F238E27FC236}">
                <a16:creationId xmlns:a16="http://schemas.microsoft.com/office/drawing/2014/main" id="{CD70EC48-E0F5-4323-B694-F43EC658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62125"/>
            <a:ext cx="1070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defRPr>
            </a:pPr>
            <a:r>
              <a:rPr sz="1950" b="1">
                <a:solidFill>
                  <a:srgbClr val="357AE8"/>
                </a:solidFill>
                <a:latin typeface="Times New Roman"/>
                <a:ea typeface="微软雅黑"/>
                <a:cs typeface="Times New Roman"/>
              </a:rPr>
              <a:t>先读第一个 worker 异常，后续进程退出可能只是连带结果。</a:t>
            </a:r>
          </a:p>
        </p:txBody>
      </p:sp>
      <p:sp>
        <p:nvSpPr>
          <p:cNvPr id="23" name="换模型或变长后，重新验收同一条输入、计算与同步链路。">
            <a:extLst xmlns:a="http://schemas.openxmlformats.org/drawingml/2006/main">
              <a:ext uri="{FF2B5EF4-FFF2-40B4-BE49-F238E27FC236}">
                <a16:creationId xmlns:a16="http://schemas.microsoft.com/office/drawing/2014/main" id="{45A1D412-C07B-4A9E-8D2B-2B51694D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defRPr>
            </a:pPr>
            <a:r>
              <a:rPr sz="1875" b="1">
                <a:solidFill>
                  <a:srgbClr val="E60012"/>
                </a:solidFill>
                <a:latin typeface="Times New Roman"/>
                <a:ea typeface="微软雅黑"/>
                <a:cs typeface="Times New Roman"/>
              </a:rPr>
              <a:t>换模型或变长后，重新验收同一条输入、计算与同步链路。</a:t>
            </a:r>
          </a:p>
        </p:txBody>
      </p:sp>
    </p:spTree>
    <p:extLst>
      <p:ext uri="{BB962C8B-B14F-4D97-AF65-F5344CB8AC3E}">
        <p14:creationId xmlns:p14="http://schemas.microsoft.com/office/powerpoint/2010/main" val="1813337578"/>
      </p:ext>
    </p:extLst>
  </p:cSld>
</p:sld>
</file>

<file path=ppt/slides/slide10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1"/>
          <p:cNvSpPr>
            <a:spLocks noGrp="1"/>
          </p:cNvSpPr>
          <p:nvPr/>
        </p:nvSpPr>
        <p:spPr>
          <a:xfrm>
            <a:off x="426720" y="198120"/>
            <a:ext cx="9220200" cy="73152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slide-title"/>
          <p:cNvSpPr>
            <a:spLocks noGrp="1"/>
          </p:cNvSpPr>
          <p:nvPr/>
        </p:nvSpPr>
        <p:spPr>
          <a:xfrm>
            <a:off x="609600" y="320040"/>
            <a:ext cx="9525000" cy="5029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7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评价与迁移</a:t>
            </a:r>
            <a:endParaRPr sz="27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5" name="quiz-instruction"/>
          <p:cNvSpPr>
            <a:spLocks noGrp="1"/>
          </p:cNvSpPr>
          <p:nvPr/>
        </p:nvSpPr>
        <p:spPr>
          <a:xfrm>
            <a:off x="609600" y="97155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725" b="0">
                <a:solidFill>
                  <a:srgbClr val="555555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随堂检测：先独立作答，再说明你的判断依据。</a:t>
            </a:r>
            <a:endParaRPr sz="1725" b="0">
              <a:solidFill>
                <a:srgbClr val="555555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q1-label"/>
          <p:cNvSpPr>
            <a:spLocks noGrp="1"/>
          </p:cNvSpPr>
          <p:nvPr/>
        </p:nvSpPr>
        <p:spPr>
          <a:xfrm>
            <a:off x="609600" y="143827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Q1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q1-stem"/>
          <p:cNvSpPr>
            <a:spLocks noGrp="1"/>
          </p:cNvSpPr>
          <p:nvPr/>
        </p:nvSpPr>
        <p:spPr>
          <a:xfrm>
            <a:off x="1495425" y="144780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【判断】比较训练后端，只看一次总 step 耗时即可。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8" name="q2-label"/>
          <p:cNvSpPr>
            <a:spLocks noGrp="1"/>
          </p:cNvSpPr>
          <p:nvPr/>
        </p:nvSpPr>
        <p:spPr>
          <a:xfrm>
            <a:off x="609600" y="2257425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FFD0D1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Q2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9" name="q2-stem"/>
          <p:cNvSpPr>
            <a:spLocks noGrp="1"/>
          </p:cNvSpPr>
          <p:nvPr/>
        </p:nvSpPr>
        <p:spPr>
          <a:xfrm>
            <a:off x="1495425" y="226695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【判断】启用 CP 前，应检查 packed 边界、补齐与还原。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0" name="q3-label"/>
          <p:cNvSpPr>
            <a:spLocks noGrp="1"/>
          </p:cNvSpPr>
          <p:nvPr/>
        </p:nvSpPr>
        <p:spPr>
          <a:xfrm>
            <a:off x="609600" y="310515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BFECCC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Q3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1" name="q3-stem"/>
          <p:cNvSpPr>
            <a:spLocks noGrp="1"/>
          </p:cNvSpPr>
          <p:nvPr/>
        </p:nvSpPr>
        <p:spPr>
          <a:xfrm>
            <a:off x="1495425" y="311467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【单选】TND 前向失败，应优先检查什么？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2" name="q3-option0"/>
          <p:cNvSpPr>
            <a:spLocks noGrp="1"/>
          </p:cNvSpPr>
          <p:nvPr/>
        </p:nvSpPr>
        <p:spPr>
          <a:xfrm>
            <a:off x="149542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测试词数量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3" name="q3-option1"/>
          <p:cNvSpPr>
            <a:spLocks noGrp="1"/>
          </p:cNvSpPr>
          <p:nvPr/>
        </p:nvSpPr>
        <p:spPr>
          <a:xfrm>
            <a:off x="6505575" y="376237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offsets 与 VarlenMetadata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4" name="q3-option2"/>
          <p:cNvSpPr>
            <a:spLocks noGrp="1"/>
          </p:cNvSpPr>
          <p:nvPr/>
        </p:nvSpPr>
        <p:spPr>
          <a:xfrm>
            <a:off x="149542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reward 权重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5" name="q3-option3"/>
          <p:cNvSpPr>
            <a:spLocks noGrp="1"/>
          </p:cNvSpPr>
          <p:nvPr/>
        </p:nvSpPr>
        <p:spPr>
          <a:xfrm>
            <a:off x="6505575" y="417195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参考曲线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6" name="q4-label"/>
          <p:cNvSpPr>
            <a:spLocks noGrp="1"/>
          </p:cNvSpPr>
          <p:nvPr/>
        </p:nvSpPr>
        <p:spPr>
          <a:xfrm>
            <a:off x="609600" y="4686300"/>
            <a:ext cx="704850" cy="400050"/>
          </a:xfrm>
          <a:prstGeom prst="roundRect">
            <a:avLst>
              <a:gd name="adj" fmla="val 35714"/>
            </a:avLst>
          </a:prstGeom>
          <a:solidFill>
            <a:srgbClr val="C7E1FF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2175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Q4</a:t>
            </a:r>
            <a:endParaRPr sz="2175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7" name="q4-stem"/>
          <p:cNvSpPr>
            <a:spLocks noGrp="1"/>
          </p:cNvSpPr>
          <p:nvPr/>
        </p:nvSpPr>
        <p:spPr>
          <a:xfrm>
            <a:off x="1495425" y="4695825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800" b="1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【单选】三组开发数据能支持哪种表述？</a:t>
            </a:r>
            <a:endParaRPr sz="1800" b="1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8" name="q4-option0"/>
          <p:cNvSpPr>
            <a:spLocks noGrp="1"/>
          </p:cNvSpPr>
          <p:nvPr/>
        </p:nvSpPr>
        <p:spPr>
          <a:xfrm>
            <a:off x="149542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A. 所有负载都更快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19" name="q4-option1"/>
          <p:cNvSpPr>
            <a:spLocks noGrp="1"/>
          </p:cNvSpPr>
          <p:nvPr/>
        </p:nvSpPr>
        <p:spPr>
          <a:xfrm>
            <a:off x="6505575" y="5343525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B. 三步已证明收敛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0" name="q4-option2"/>
          <p:cNvSpPr>
            <a:spLocks noGrp="1"/>
          </p:cNvSpPr>
          <p:nvPr/>
        </p:nvSpPr>
        <p:spPr>
          <a:xfrm>
            <a:off x="149542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C. 差异全部来自 CP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21" name="q4-option3"/>
          <p:cNvSpPr>
            <a:spLocks noGrp="1"/>
          </p:cNvSpPr>
          <p:nvPr/>
        </p:nvSpPr>
        <p:spPr>
          <a:xfrm>
            <a:off x="6505575" y="5753100"/>
            <a:ext cx="486727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8000"/>
              </a:lnSpc>
              <a:buNone/>
              <a:def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defRPr>
            </a:pPr>
            <a:r>
              <a:rPr sz="1650" b="0">
                <a:solidFill>
                  <a:srgbClr val="111111"/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D. 可比较本次阶段耗时</a:t>
            </a:r>
            <a:endParaRPr sz="1650" b="0">
              <a:solidFill>
                <a:srgbClr val="111111"/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>
            <a:spLocks noGrp="1"/>
          </p:cNvSpPr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>
                <a:latin typeface="Times New Roman" panose="02020503050405090304"/>
                <a:ea typeface="微软雅黑"/>
                <a:cs typeface="Times New Roman" panose="02020503050405090304"/>
              </a:rPr>
              <a:t>Thank you.</a:t>
            </a:r>
            <a:endParaRPr sz="5400"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200">
                <a:solidFill>
                  <a:schemeClr val="bg1">
                    <a:lumMod val="50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社区愿景：打造开放易用、技术领先的AI算力新生态</a:t>
            </a:r>
            <a:endParaRPr sz="1200">
              <a:solidFill>
                <a:schemeClr val="bg1">
                  <a:lumMod val="50000"/>
                </a:scheme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sz="1200">
                <a:solidFill>
                  <a:schemeClr val="bg1">
                    <a:lumMod val="50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社区使命：使能开发者基于CANN社区自主研究创新，构筑根深叶茂、跨产业协同共享共赢的CANN生态</a:t>
            </a:r>
            <a:endParaRPr sz="1200">
              <a:solidFill>
                <a:schemeClr val="bg1">
                  <a:lumMod val="50000"/>
                </a:scheme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</a:p>
          <a:p>
            <a:pPr>
              <a:lnSpc>
                <a:spcPct val="150000"/>
              </a:lnSpc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Vision: Building an Open, Easy-to-Use, and Technology-leading AI Computing Ecosystem</a:t>
            </a:r>
            <a:endParaRPr sz="1000">
              <a:solidFill>
                <a:schemeClr val="bg1">
                  <a:lumMod val="50000"/>
                </a:scheme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  <a:p>
            <a:pPr>
              <a:lnSpc>
                <a:spcPct val="150000"/>
              </a:lnSpc>
              <a:buNone/>
            </a:pPr>
            <a:r>
              <a:rPr sz="1000">
                <a:solidFill>
                  <a:schemeClr val="bg1">
                    <a:lumMod val="50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sz="1000">
              <a:solidFill>
                <a:schemeClr val="bg1">
                  <a:lumMod val="50000"/>
                </a:scheme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pic>
        <p:nvPicPr>
          <p:cNvPr id="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5" name="文本框 8"/>
          <p:cNvSpPr>
            <a:spLocks noGrp="1"/>
          </p:cNvSpPr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Times New Roman" panose="02020503050405090304"/>
                <a:ea typeface="微软雅黑"/>
                <a:cs typeface="Times New Roman" panose="02020503050405090304"/>
              </a:rPr>
              <a:t>上CANN社区获取干货</a:t>
            </a:r>
            <a:endParaRPr sz="1000"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6" name="文本框 10"/>
          <p:cNvSpPr>
            <a:spLocks noGrp="1"/>
          </p:cNvSpPr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Times New Roman" panose="02020503050405090304"/>
                <a:ea typeface="微软雅黑"/>
                <a:cs typeface="Times New Roman" panose="02020503050405090304"/>
              </a:rPr>
              <a:t>关注CANN公众号获取资讯</a:t>
            </a:r>
            <a:endParaRPr sz="1000"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sp>
        <p:nvSpPr>
          <p:cNvPr id="7" name="文本框 13"/>
          <p:cNvSpPr>
            <a:spLocks noGrp="1"/>
          </p:cNvSpPr>
          <p:nvPr/>
        </p:nvSpPr>
        <p:spPr>
          <a:xfrm>
            <a:off x="620201" y="6130454"/>
            <a:ext cx="87630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chemeClr val="bg1">
                    <a:lumMod val="50000"/>
                  </a:schemeClr>
                </a:solidFill>
                <a:latin typeface="Times New Roman" panose="02020503050405090304"/>
                <a:ea typeface="微软雅黑"/>
                <a:cs typeface="Times New Roman" panose="02020503050405090304"/>
                <a:hlinkClick r:id="rId2"/>
              </a:rPr>
              <a:t>https://gitcode.com/cann</a:t>
            </a:r>
            <a:endParaRPr sz="1000">
              <a:solidFill>
                <a:schemeClr val="bg1">
                  <a:lumMod val="50000"/>
                </a:schemeClr>
              </a:solidFill>
              <a:latin typeface="Times New Roman" panose="02020503050405090304"/>
              <a:ea typeface="微软雅黑"/>
              <a:cs typeface="Times New Roman" panose="02020503050405090304"/>
            </a:endParaRPr>
          </a:p>
        </p:txBody>
      </p:sp>
      <p:pic>
        <p:nvPicPr>
          <p:cNvPr id="8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65102" y="3908076"/>
            <a:ext cx="1686678" cy="1676872"/>
          </a:xfrm>
          <a:prstGeom prst="rect">
            <a:avLst/>
          </a:prstGeom>
        </p:spPr>
      </p:pic>
    </p:spTree>
  </p:cSld>
  <p:clrMapOvr>
    <a:masterClrMapping/>
  </p:clrMapOvr>
</p:sld>
</file>

<file path=ppt/tags/tag13.xml><?xml version="1.0" encoding="utf-8"?>
<p:tagLst xmlns:p="http://schemas.openxmlformats.org/presentationml/2006/main">
  <p:tag name="resource_record_key" val="{&quot;10&quot;:[50059560,50059176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7473</Words>
  <Application>WPS 演示</Application>
  <PresentationFormat>Converted Presentation</PresentationFormat>
  <Paragraphs>890</Paragraphs>
  <Slides>33</Slides>
  <Notes>0</Notes>
  <HiddenSlides>0</HiddenSlides>
  <MMClips>0</MMClip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Crush</cp:lastModifiedBy>
  <cp:revision>51</cp:revision>
  <dcterms:created xsi:type="dcterms:W3CDTF">2026-09-22T07:43:57Z</dcterms:created>
  <dcterms:modified xsi:type="dcterms:W3CDTF">2026-09-22T07:43:57Z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F817FAF65BFCDA0A36A29E6A0D093824_42</vt:lpwstr>
  </property>
  <property fmtid="{D5CDD505-2E9C-101B-9397-08002B2CF9AE}" pid="3" name="KSOProductBuildVer">
    <vt:lpwstr>2052-12.1.26055.26055</vt:lpwstr>
  </property>
</Properties>
</file>