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295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6" Type="http://schemas.openxmlformats.org/officeDocument/2006/relationships/tableStyles" Target="tableStyles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开场先说明这是一门 SFT 进阶课：学习路径从 注意力算子优化、packed SFT 的 VarLen，到分布式通信和双 Rank Profiling。提醒学员先带着“优化改了哪一层、证据是否足够”两个问题进入课程。</a:t>
            </a:r>
          </a:p>
          <a:p/>
          <a:p>
            <a:r>
              <a:t>[Sources]</a:t>
            </a:r>
          </a:p>
          <a:p>
            <a:r>
              <a:t>- /Users/liuyuanchen/develope/cann-learning-hub/tutorials/sft_training_pipeline/slides/01_sft_training_pipeline.pptx</a:t>
            </a:r>
          </a:p>
          <a:p>
            <a:r>
              <a:t>- /Users/liuyuanchen/develope/cann-learning-hub/tutorials/sft_training_pipeline/README.md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先回顾“已经跑通”的闭环，再提出“为什么换后端”的工程问题。强调可组合并行、状态分片、offload 和变长注意力是能力选项；性能是否改善必须按阶段测量。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/Users/liuyuanchen/develope/cann-learning-hub/tutorials/rl_training_pipeline/05_training_backend/05.01_chapter_intro.ipynb</a:t>
            </a:r>
          </a:p>
          <a:p>
            <a:r>
              <a:t>- /Users/liuyuanchen/develope/cann-learning-hub/tutorials/rl_training_pipeline/08_validation_and_troubleshooting/08.02_switch_summary.ipynb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用这页建立控制变量：模型、数据、GRPO、vLLM、AgentLoop 和 reward 属于不变的任务语义；Actor/Ref 的分片、前反向、优化器和状态导出属于可替换的执行职责。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/Users/liuyuanchen/develope/cann-learning-hub/tutorials/rl_training_pipeline/05_training_backend/05.02_backend_switch_principles.ipynb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逐条读六个问句，并告诉学员它们分别在后续哪一部分得到回答。不要把目标读成配置清单，重点是学会解释边界、接口、机制、验证和证据。</a:t>
            </a:r>
          </a:p>
          <a:p/>
          <a:p>
            <a:r>
              <a:t>[Sources]</a:t>
            </a:r>
          </a:p>
          <a:p>
            <a:r>
              <a:t>- /Users/liuyuanchen/Desktop/intermediate_rl_ppt_outline_v1.md</a:t>
            </a:r>
          </a:p>
          <a:p>
            <a:r>
              <a:t>- /Users/liuyuanchen/develope/cann-learning-hub/tutorials/rl_training_pipeline/05_training_backend/05.01_chapter_intro.ipynb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路线图按问题组织课程：先定位切换边界，再确认接口契约，随后理解 TorchTitan-NPU 的机制，最后用 DRY_RUN、三步训练和阶段指标验证。</a:t>
            </a:r>
          </a:p>
          <a:p/>
          <a:p>
            <a:r>
              <a:t>[Sources]</a:t>
            </a:r>
          </a:p>
          <a:p>
            <a:r>
              <a:t>- /Users/liuyuanchen/Desktop/intermediate_rl_ppt_outline_v1.md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这是第一部分的过渡页。提醒学员先不要急着记 FSDP2 参数，先回答“训练后端在 RL 闭环中到底负责哪一段”。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/Users/liuyuanchen/develope/cann-learning-hub/tutorials/rl_training_pipeline/05_training_backend/05.01_chapter_intro.ipynb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按六个阶段讲一遍完整 step：vLLM 生成、Wordle 交互、奖励、old/ref log-prob、GRPO 与 Actor 更新、权重同步。指出 TorchTitan Engine 进入 log-prob 和 Actor update，但 rollout 仍由 vLLM 完成。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/Users/liuyuanchen/develope/cann-learning-hub/tutorials/rl_training_pipeline/05_training_backend/05.02_backend_switch_principles.ipynb</a:t>
            </a:r>
          </a:p>
          <a:p>
            <a:r>
              <a:t>- /Users/liuyuanchen/develope/cann-learning-hub/tutorials/rl_training_pipeline/05_training_backend/images/rl_backend_dataflow.png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把“后端切换”解释成执行层替换：左侧语义保持，右侧执行机制变化。追问学员，如果 batch、reward 或 rollout 同时改变，为什么就不能归因于后端。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/Users/liuyuanchen/develope/cann-learning-hub/tutorials/rl_training_pipeline/05_training_backend/05.02_backend_switch_principles.ipynb</a:t>
            </a:r>
          </a:p>
          <a:p>
            <a:r>
              <a:t>- /Users/liuyuanchen/develope/cann-learning-hub/tutorials/rl_training_pipeline/05_training_backend/images/backend_boundary.png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先讲 Actor 再讲 Ref，最后补上 rollout：Actor 负责 old log-prob、前反向和优化器；Ref 是冻结的 forward-only 参考策略；vLLM 只消费更新后的 Actor。冻结并不等于不需要分片后端。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/Users/liuyuanchen/develope/cann-learning-hub/tutorials/rl_training_pipeline/05_training_backend/05.02_backend_switch_principles.ipynb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用四个框把三类契约落地：计算接口、状态接口、配置接口，以及最终的 rollout 交接。强调“算完”与“下一轮能用新策略”是两个不同的验收点。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/Users/liuyuanchen/develope/cann-learning-hub/tutorials/rl_training_pipeline/05_training_backend/05.02_backend_switch_principles.ipynb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model_engine=torchtitan 是对象创建路径的选择器。沿表格从 Hydra/unified worker 走到 Qwen3、DeviceMesh、FSDP2，再回到 old/ref log-prob 和 Actor update；GRPO 与 vLLM 行保持不变。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/Users/liuyuanchen/develope/cann-learning-hub/tutorials/rl_training_pipeline/05_training_backend/05.02_backend_switch_principles.ipynb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这页专门讲状态接口：Actor 更新后，训练端逐参数读取、做名称映射、把 DTensor 分片物化成完整 tensor，最后调用 update_weights()。只有完成这条链，下一轮 rollout 才会拿到新策略。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/Users/liuyuanchen/develope/cann-learning-hub/tutorials/rl_training_pipeline/05_training_backend/05.02_backend_switch_principles.ipynb</a:t>
            </a:r>
          </a:p>
          <a:p>
            <a:r>
              <a:t>- /Users/liuyuanchen/develope/cann-learning-hub/tutorials/rl_training_pipeline/06_torchtitan_npu_features/06.03_features_used_in_wordle.ipynb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暂停做一个检查：请学员把六个组件分到“保持不变”和“发生变化”。先让他们回答，再揭示底部的四个标签。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/Users/liuyuanchen/develope/cann-learning-hub/tutorials/rl_training_pipeline/05_training_backend/05.03_chapter_practice.ipynb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第二部分的过渡页。告诉学员接下来不按能力名词背诵，而是逐页回答“它解决哪一种资源问题”。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/Users/liuyuanchen/develope/cann-learning-hub/tutorials/rl_training_pipeline/06_torchtitan_npu_features/06.01_chapter_intro.ipynb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第二部分从“能力地图”开始。每项机制只回答一个资源问题：状态容量、训推显存、padding、NPU 适配和状态交接。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/Users/liuyuanchen/develope/cann-learning-hub/tutorials/rl_training_pipeline/06_torchtitan_npu_features/06.01_chapter_intro.ipynb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先读拓扑再读参数：replicate=1、shard=2、CP=1，两个 rank 在同一个 FSDP shard mesh。DeviceMesh 是并行坐标系，不是新的 RL 算法。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/Users/liuyuanchen/develope/cann-learning-hub/tutorials/rl_training_pipeline/06_torchtitan_npu_features/06.02_fsdp2_and_parallelism.ipynb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回答“FSDP2 分掉了什么”：参数、梯度和优化器状态。完整参数只在当前层计算窗口出现，长期驻留的是本地 shard；通信代价要和显存收益一起看。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/Users/liuyuanchen/develope/cann-learning-hub/tutorials/rl_training_pipeline/06_torchtitan_npu_features/06.02_fsdp2_and_parallelism.ipynb</a:t>
            </a:r>
          </a:p>
          <a:p>
            <a:r>
              <a:t>- /Users/liuyuanchen/develope/cann-learning-hub/tutorials/rl_training_pipeline/06_torchtitan_npu_features/images/fsdp2_sharding.png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按时间顺序讲 all-gather、forward、reshard、backward、reduce-scatter 和本地更新。指出 reshard_after_forward=always 省的是常驻显存，付出的是可能再次通信。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/Users/liuyuanchen/develope/cann-learning-hub/tutorials/rl_training_pipeline/06_torchtitan_npu_features/06.02_fsdp2_and_parallelism.ipynb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比较 Actor 和 Ref 的职责：Actor 有反向和优化器状态，Ref 只有冻结前向；因此 optimizer_offload 只属于 Actor。gradient checkpointing 是用计算换激活显存。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/Users/liuyuanchen/develope/cann-learning-hub/tutorials/rl_training_pipeline/06_torchtitan_npu_features/06.03_features_used_in_wordle.ipynb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offload 放进生命周期：Actor compute 后迁移空闲状态并释放引用，给 vLLM rollout 腾空间，下一次训练再恢复。训练侧 offload 与 vLLM 的 sleep/wake 不要混为一谈。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/Users/liuyuanchen/develope/cann-learning-hub/tutorials/rl_training_pipeline/06_torchtitan_npu_features/06.03_features_used_in_wordle.ipynb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Wordle 的每个游戏可能在第 1 到第 6 轮结束，所以有效 response 长度天然不同。统一 padding 到最大长度会让短样本重复做无效计算；最大上限不等于每条样本实际长度。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/Users/liuyuanchen/develope/cann-learning-hub/tutorials/rl_training_pipeline/06_torchtitan_npu_features/06.03_features_used_in_wordle.ipynb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逐步解释 padding 到 TND：去 padding、拼接有效 token、构造累计长度、整理 Q/K/V、调用 CANN FA v3，再按 offsets 恢复。强调 TND 减少无效计算，不提高单条样本上限。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/Users/liuyuanchen/develope/cann-learning-hub/tutorials/rl_training_pipeline/06_torchtitan_npu_features/06.03_features_used_in_wordle.ipynb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这里要把布局和边界分开：TND 只是 packed 的形状，offsets 和 VarlenMetadata 才告诉算子每条样本的起止位置；sparse_mode=7 保证逐样本 causal attention。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/Users/liuyuanchen/develope/cann-learning-hub/tutorials/rl_training_pipeline/06_torchtitan_npu_features/06.03_features_used_in_wordle.ipynb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区分两条适配路径：converter 负责 RMSNorm/RoPE 等模块，Qwen3 model spec 负责启用 varlen attention。模型层数、维度、词表和任务输入输出不变。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/Users/liuyuanchen/develope/cann-learning-hub/tutorials/rl_training_pipeline/06_torchtitan_npu_features/06.03_features_used_in_wordle.ipynb</a:t>
            </a:r>
          </a:p>
          <a:p>
            <a:r>
              <a:t>- /Users/liuyuanchen/develope/cann-learning-hub/tutorials/rl_training_pipeline/06_torchtitan_npu_features/images/npu_converter_flow.png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FSDP2、TP、PP、CP、EP 按切分对象区分。当前两卡案例只开 FSDP2，CP=1；并行维度必须对应主要瓶颈，不能当成一串独立的加速开关。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/Users/liuyuanchen/develope/cann-learning-hub/tutorials/rl_training_pipeline/06_torchtitan_npu_features/06.02_fsdp2_and_parallelism.ipynb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CP 的核心价值是分摊长序列激活和注意力，前提是序列长度已成为容量瓶颈。CP2 会占用 rank、增加 all-to-all，并改变 DP shard；当前两卡先保持 DP2/CP1，是否加速要用目标负载测量。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/Users/liuyuanchen/develope/cann-learning-hub/tutorials/rl_training_pipeline/06_torchtitan_npu_features/06.02_fsdp2_and_parallelism.ipynb</a:t>
            </a:r>
          </a:p>
          <a:p>
            <a:r>
              <a:t>- /Users/liuyuanchen/develope/cann-learning-hub/tutorials/rl_training_pipeline/08_validation_and_troubleshooting/08.02_switch_summary.ipynb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第三部分进入实践。先隔离 TorchTitan-NPU 的 Python 依赖，再复用前四章的模型、数据和奖励资产。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/Users/liuyuanchen/develope/cann-learning-hub/tutorials/rl_training_pipeline/07_torchtitan_wordle_training/07.01_chapter_intro.ipynb</a:t>
            </a:r>
          </a:p>
          <a:p>
            <a:r>
              <a:t>- /Users/liuyuanchen/develope/cann-learning-hub/tutorials/rl_training_pipeline/07_torchtitan_wordle_training/07.02_prepare_backend.ipynb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说明环境层和资产层的边界：.venv、runtime_sources 与 launcher 属于后端环境；Qwen3 权重、parquet 和 reward 继续共享。完整资产存在时，准备脚本可以复用而不是重复下载。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/Users/liuyuanchen/develope/cann-learning-hub/tutorials/rl_training_pipeline/07_torchtitan_wordle_training/07.02_prepare_backend.ipynb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DRY_RUN 不启动训练，只检查最终命令。按四组证据读输出：后端、拓扑、特性和 RL 语义；模型与 parquet 路径是进入下一步的资产证据。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/Users/liuyuanchen/develope/cann-learning-hub/tutorials/rl_training_pipeline/07_torchtitan_wordle_training/07.03_confirm_configuration.ipynb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把三步训练讲成证据链：初始化、rollout、reward/log-prob、Actor update、权重同步。每一步都应回到同一条 RL 数据流，进度达到 3/3 才算完整。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/Users/liuyuanchen/develope/cann-learning-hub/tutorials/rl_training_pipeline/07_torchtitan_wordle_training/07.04_run_three_steps.ipynb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明确证据边界：三步能证明 Engine 初始化、计算路径、状态链路和 RL 闭环可运行；不能证明长期收敛、泛化、checkpoint 恢复或性能必然提升。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/Users/liuyuanchen/develope/cann-learning-hub/tutorials/rl_training_pipeline/07_torchtitan_wordle_training/07.04_run_three_steps.ipynb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第四部分把案例提炼成方法。先回顾六步，再讨论如何定位失败和如何评价性能。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/Users/liuyuanchen/develope/cann-learning-hub/tutorials/rl_training_pipeline/08_validation_and_troubleshooting/08.01_chapter_intro.ipynb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逐步读六个动作：确定范围、选择引擎、映射配置、接通计算、接通状态、运行验证。强调计算接口和状态接口都接通才算完成切换。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/Users/liuyuanchen/develope/cann-learning-hub/tutorials/rl_training_pipeline/08_validation_and_troubleshooting/08.02_switch_summary.ipynb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排障时不要从头盲查：先找最后一个成功阶段，再看下一阶段第一条异常。不同阶段对应不同责任边界，保留相同 batch、长度和 rollout 有助于复现。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/Users/liuyuanchen/develope/cann-learning-hub/tutorials/rl_training_pipeline/08_validation_and_troubleshooting/08.02_switch_summary.ipynb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解释总 step 为什么不够：rollout 长度和 AgentLoop 轮数会波动。把 update_actor、old/ref log-prob 按阶段拆开，再用 ms/token、峰值显存和 packed token 容量补充观察。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/Users/liuyuanchen/develope/cann-learning-hub/tutorials/rl_training_pipeline/08_validation_and_troubleshooting/08.02_switch_summary.ipynb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这页只呈现课程开发阶段的观测值，不把它包装成普遍收益。说明三组测试的共同条件，并指出 FSDP2 与 TND、DP 与 CP 同时变化，不能拆出单项机制贡献。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/Users/liuyuanchen/develope/cann-learning-hub/tutorials/rl_training_pipeline/08_validation_and_troubleshooting/08.02_switch_summary.ipynb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用五条结论收束：守住语义、接通契约、理解能力边界、分层验证、带条件评价。提醒学员三步是功能证据，长期实验才回答收敛与收益。</a:t>
            </a:r>
          </a:p>
          <a:p/>
          <a:p>
            <a:r>
              <a:t>[Sources]</a:t>
            </a:r>
          </a:p>
          <a:p>
            <a:r>
              <a:t>- /Users/liuyuanchen/Desktop/intermediate_rl_ppt_outline_v1.md</a:t>
            </a:r>
          </a:p>
          <a:p>
            <a:r>
              <a:t>- /Users/liuyuanchen/develope/cann-learning-hub/tutorials/rl_training_pipeline/08_validation_and_troubleshooting/08.02_switch_summary.ipynb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先让学员回答三个问题，再显示右侧关键词：为什么同步权重、TND 与 CP 各解决什么、三步能下哪些结论。把课堂检查当作迁移前的最后一次边界确认。</a:t>
            </a:r>
          </a:p>
          <a:p/>
          <a:p>
            <a:r>
              <a:t>[Sources]</a:t>
            </a:r>
          </a:p>
          <a:p>
            <a:r>
              <a:t>- /Users/liuyuanchen/develope/cann-learning-hub/tutorials/rl_training_pipeline/08_validation_and_troubleshooting/08.03_chapter_practice.ipynb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结束时回到课程主线：在不改变 Wordle RL 语义的前提下，完成了训练后端的边界划分、机制理解、三步验证和有条件的结果评价。</a:t>
            </a:r>
          </a:p>
          <a:p/>
          <a:p>
            <a:r>
              <a:t>[Sources]</a:t>
            </a:r>
          </a:p>
          <a:p>
            <a:r>
              <a:t>- https://gitcode.com/cann/cann-learning-hub/tree/test/tutorials</a:t>
            </a:r>
          </a:p>
          <a:p>
            <a:r>
              <a:t>- /Users/liuyuanchen/develope/cann-learning-hub/tutorials/rl_training_pipeline/README.md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17" name="页脚占位符 1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18" name="灯片编号占位符 1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/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 lvl="0">
              <a:buNone/>
            </a:pP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100000"/>
        </a:lnSpc>
        <a:spcBef>
          <a:spcPct val="0"/>
        </a:spcBef>
        <a:buNone/>
        <a:defRPr sz="36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marL="228600" indent="-228600" algn="l" defTabSz="914400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/>
        <a:buChar char="●"/>
        <a:defRPr sz="18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tabLst>
          <a:tab pos="1609725" algn="l"/>
          <a:tab pos="1609725" algn="l"/>
          <a:tab pos="1609725" algn="l"/>
          <a:tab pos="1609725" algn="l"/>
        </a:tabLst>
        <a:defRPr sz="16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defRPr sz="16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4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120000"/>
        </a:lnSpc>
        <a:spcBef>
          <a:spcPts val="0"/>
        </a:spcBef>
        <a:spcAft>
          <a:spcPts val="300"/>
        </a:spcAft>
        <a:buFont typeface="Arial" panose="020B0604020202090204"/>
        <a:buChar char="•"/>
        <a:defRPr sz="14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>
        <a:lnSpc>
          <a:spcPct val="90000"/>
        </a:lnSpc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2.xml"/><Relationship Id="rId2" Type="http://schemas.openxmlformats.org/officeDocument/2006/relationships/hyperlink" Target="https://gitcode.com/cann/cann-learning-hub/tree/master/tutorials" TargetMode="Externa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23.xml"/><Relationship Id="rId2" Type="http://schemas.openxmlformats.org/officeDocument/2006/relationships/image" Target="../media/image8.png"/><Relationship Id="rId1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23.xml"/><Relationship Id="rId1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9.xml"/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6" name="文本框 15">
            <a:hlinkClick r:id="rId2" tooltip="" action="ppaction://hlinkfile"/>
          </p:cNvPr>
          <p:cNvSpPr>
            <a:spLocks noGrp="1"/>
          </p:cNvSpPr>
          <p:nvPr/>
        </p:nvSpPr>
        <p:spPr>
          <a:xfrm>
            <a:off x="620201" y="6130454"/>
            <a:ext cx="3820160" cy="245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100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+mj-ea"/>
              </a:rPr>
              <a:t>https://gitcode.com/cann/cann-learning-hub/tree/master/tutorials</a:t>
            </a:r>
            <a:endParaRPr lang="en-US" altLang="zh-CN" sz="100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2" name="文本框 1"/>
          <p:cNvSpPr>
            <a:spLocks noGrp="1"/>
          </p:cNvSpPr>
          <p:nvPr/>
        </p:nvSpPr>
        <p:spPr>
          <a:xfrm>
            <a:off x="1576119" y="1399429"/>
            <a:ext cx="5268595" cy="13220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4000" b="1">
                <a:latin typeface="微软雅黑"/>
                <a:ea typeface="微软雅黑"/>
                <a:cs typeface="微软雅黑"/>
              </a:rPr>
              <a:t>CANN大模型训练系列</a:t>
            </a:r>
            <a:endParaRPr sz="4000" b="1">
              <a:latin typeface="微软雅黑"/>
              <a:ea typeface="微软雅黑"/>
              <a:cs typeface="微软雅黑"/>
            </a:endParaRPr>
          </a:p>
          <a:p>
            <a:pPr algn="ctr">
              <a:buNone/>
            </a:pPr>
            <a:r>
              <a:rPr lang="en-US" sz="4000" b="1">
                <a:latin typeface="微软雅黑"/>
                <a:ea typeface="微软雅黑"/>
                <a:cs typeface="微软雅黑"/>
              </a:rPr>
              <a:t>RL</a:t>
            </a:r>
            <a:r>
              <a:rPr lang="zh-CN" altLang="en-US" sz="4000" b="1">
                <a:latin typeface="微软雅黑"/>
                <a:ea typeface="微软雅黑"/>
                <a:cs typeface="微软雅黑"/>
              </a:rPr>
              <a:t>强化学习</a:t>
            </a:r>
            <a:r>
              <a:rPr sz="4000" b="1">
                <a:latin typeface="微软雅黑"/>
                <a:ea typeface="微软雅黑"/>
                <a:cs typeface="微软雅黑"/>
              </a:rPr>
              <a:t> · 进阶课</a:t>
            </a:r>
            <a:endParaRPr sz="4000" b="1"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4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3" name="header-band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lesson-body-mask"/>
          <p:cNvSpPr>
            <a:spLocks noGrp="1"/>
          </p:cNvSpPr>
          <p:nvPr/>
        </p:nvSpPr>
        <p:spPr>
          <a:xfrm>
            <a:off x="0" y="914400"/>
            <a:ext cx="12192000" cy="51054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550" b="0">
                <a:solidFill>
                  <a:srgbClr val="111111"/>
                </a:solidFill>
              </a:defRPr>
            </a:pPr>
            <a:r>
              <a:rPr sz="2550" b="0">
                <a:solidFill>
                  <a:srgbClr val="111111"/>
                </a:solidFill>
              </a:rPr>
              <a:t>为什么已经能训练还要换后端？</a:t>
            </a:r>
            <a:endParaRPr sz="2550" b="0">
              <a:solidFill>
                <a:srgbClr val="111111"/>
              </a:solidFill>
            </a:endParaRPr>
          </a:p>
        </p:txBody>
      </p:sp>
      <p:sp>
        <p:nvSpPr>
          <p:cNvPr id="36" name="lesson-lead"/>
          <p:cNvSpPr>
            <a:spLocks noGrp="1"/>
          </p:cNvSpPr>
          <p:nvPr/>
        </p:nvSpPr>
        <p:spPr>
          <a:xfrm>
            <a:off x="685800" y="1104900"/>
            <a:ext cx="1082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1">
                <a:solidFill>
                  <a:srgbClr val="262626"/>
                </a:solidFill>
              </a:defRPr>
            </a:pPr>
            <a:r>
              <a:rPr sz="1800" b="1">
                <a:solidFill>
                  <a:srgbClr val="262626"/>
                </a:solidFill>
              </a:rPr>
              <a:t>RL 语义已经跑通，为什么还要换执行后端？</a:t>
            </a:r>
            <a:endParaRPr sz="1800" b="1">
              <a:solidFill>
                <a:srgbClr val="262626"/>
              </a:solidFill>
            </a:endParaRPr>
          </a:p>
        </p:txBody>
      </p:sp>
      <p:sp>
        <p:nvSpPr>
          <p:cNvPr id="37" name="card-l2d8w5-初阶已经完成"/>
          <p:cNvSpPr>
            <a:spLocks noGrp="1"/>
          </p:cNvSpPr>
          <p:nvPr/>
        </p:nvSpPr>
        <p:spPr>
          <a:xfrm>
            <a:off x="685800" y="1752600"/>
            <a:ext cx="3333750" cy="2171700"/>
          </a:xfrm>
          <a:prstGeom prst="roundRect">
            <a:avLst>
              <a:gd name="adj" fmla="val 3509"/>
            </a:avLst>
          </a:prstGeom>
          <a:solidFill>
            <a:srgbClr val="EEF4FF"/>
          </a:solidFill>
          <a:ln w="9525">
            <a:solidFill>
              <a:srgbClr val="4874CB"/>
            </a:solidFill>
            <a:prstDash val="solid"/>
          </a:ln>
        </p:spPr>
      </p:sp>
      <p:sp>
        <p:nvSpPr>
          <p:cNvPr id="38" name="kicker-l2d8w5-初阶已经完成"/>
          <p:cNvSpPr>
            <a:spLocks noGrp="1"/>
          </p:cNvSpPr>
          <p:nvPr/>
        </p:nvSpPr>
        <p:spPr>
          <a:xfrm>
            <a:off x="876300" y="19050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4874CB"/>
                </a:solidFill>
              </a:defRPr>
            </a:pPr>
            <a:r>
              <a:rPr sz="1275" b="1">
                <a:solidFill>
                  <a:srgbClr val="4874CB"/>
                </a:solidFill>
              </a:rPr>
              <a:t>初阶已完成</a:t>
            </a:r>
            <a:endParaRPr sz="1275" b="1">
              <a:solidFill>
                <a:srgbClr val="4874CB"/>
              </a:solidFill>
            </a:endParaRPr>
          </a:p>
        </p:txBody>
      </p:sp>
      <p:sp>
        <p:nvSpPr>
          <p:cNvPr id="39" name="heading-l2d8w5-初阶已经完成"/>
          <p:cNvSpPr>
            <a:spLocks noGrp="1"/>
          </p:cNvSpPr>
          <p:nvPr/>
        </p:nvSpPr>
        <p:spPr>
          <a:xfrm>
            <a:off x="876300" y="2266950"/>
            <a:ext cx="295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RL 闭环能跑</a:t>
            </a:r>
            <a:endParaRPr sz="1725" b="1">
              <a:solidFill>
                <a:srgbClr val="202124"/>
              </a:solidFill>
            </a:endParaRPr>
          </a:p>
        </p:txBody>
      </p:sp>
      <p:sp>
        <p:nvSpPr>
          <p:cNvPr id="40" name="body-l2d8w5-初阶已经完成"/>
          <p:cNvSpPr>
            <a:spLocks noGrp="1"/>
          </p:cNvSpPr>
          <p:nvPr/>
        </p:nvSpPr>
        <p:spPr>
          <a:xfrm>
            <a:off x="876300" y="2705100"/>
            <a:ext cx="29527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vLLM rollout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Wordle AgentLoop + reward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Actor 更新，Ref 参考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41" name="arrow-l2d8w5-436"/>
          <p:cNvSpPr>
            <a:spLocks noGrp="1"/>
          </p:cNvSpPr>
          <p:nvPr/>
        </p:nvSpPr>
        <p:spPr>
          <a:xfrm>
            <a:off x="4152900" y="2667000"/>
            <a:ext cx="495300" cy="285750"/>
          </a:xfrm>
          <a:prstGeom prst="rightArrow">
            <a:avLst/>
          </a:prstGeom>
          <a:solidFill>
            <a:srgbClr val="7F8CFF"/>
          </a:solidFill>
          <a:ln w="0">
            <a:solidFill>
              <a:srgbClr val="7F8CFF"/>
            </a:solidFill>
            <a:prstDash val="solid"/>
          </a:ln>
        </p:spPr>
      </p:sp>
      <p:sp>
        <p:nvSpPr>
          <p:cNvPr id="42" name="card-l2d8w5-中阶开始追问"/>
          <p:cNvSpPr>
            <a:spLocks noGrp="1"/>
          </p:cNvSpPr>
          <p:nvPr/>
        </p:nvSpPr>
        <p:spPr>
          <a:xfrm>
            <a:off x="4762500" y="1752600"/>
            <a:ext cx="3333750" cy="2171700"/>
          </a:xfrm>
          <a:prstGeom prst="roundRect">
            <a:avLst>
              <a:gd name="adj" fmla="val 3509"/>
            </a:avLst>
          </a:prstGeom>
          <a:solidFill>
            <a:srgbClr val="FFF5E8"/>
          </a:solidFill>
          <a:ln w="9525">
            <a:solidFill>
              <a:srgbClr val="EE822F"/>
            </a:solidFill>
            <a:prstDash val="solid"/>
          </a:ln>
        </p:spPr>
      </p:sp>
      <p:sp>
        <p:nvSpPr>
          <p:cNvPr id="43" name="kicker-l2d8w5-中阶开始追问"/>
          <p:cNvSpPr>
            <a:spLocks noGrp="1"/>
          </p:cNvSpPr>
          <p:nvPr/>
        </p:nvSpPr>
        <p:spPr>
          <a:xfrm>
            <a:off x="4953000" y="19050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EE822F"/>
                </a:solidFill>
              </a:defRPr>
            </a:pPr>
            <a:r>
              <a:rPr sz="1275" b="1">
                <a:solidFill>
                  <a:srgbClr val="EE822F"/>
                </a:solidFill>
              </a:rPr>
              <a:t>中阶要追问</a:t>
            </a:r>
            <a:endParaRPr sz="1275" b="1">
              <a:solidFill>
                <a:srgbClr val="EE822F"/>
              </a:solidFill>
            </a:endParaRPr>
          </a:p>
        </p:txBody>
      </p:sp>
      <p:sp>
        <p:nvSpPr>
          <p:cNvPr id="44" name="heading-l2d8w5-中阶开始追问"/>
          <p:cNvSpPr>
            <a:spLocks noGrp="1"/>
          </p:cNvSpPr>
          <p:nvPr/>
        </p:nvSpPr>
        <p:spPr>
          <a:xfrm>
            <a:off x="4953000" y="2266950"/>
            <a:ext cx="295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瓶颈在哪里？</a:t>
            </a:r>
            <a:endParaRPr sz="1725" b="1">
              <a:solidFill>
                <a:srgbClr val="202124"/>
              </a:solidFill>
            </a:endParaRPr>
          </a:p>
        </p:txBody>
      </p:sp>
      <p:sp>
        <p:nvSpPr>
          <p:cNvPr id="45" name="body-l2d8w5-中阶开始追问"/>
          <p:cNvSpPr>
            <a:spLocks noGrp="1"/>
          </p:cNvSpPr>
          <p:nvPr/>
        </p:nvSpPr>
        <p:spPr>
          <a:xfrm>
            <a:off x="4953000" y="2705100"/>
            <a:ext cx="29527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训练状态变大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样本长度动态变化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训推共用 NPU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46" name="arrow-l2d8w5-864"/>
          <p:cNvSpPr>
            <a:spLocks noGrp="1"/>
          </p:cNvSpPr>
          <p:nvPr/>
        </p:nvSpPr>
        <p:spPr>
          <a:xfrm>
            <a:off x="8229600" y="2667000"/>
            <a:ext cx="495300" cy="285750"/>
          </a:xfrm>
          <a:prstGeom prst="rightArrow">
            <a:avLst/>
          </a:prstGeom>
          <a:solidFill>
            <a:srgbClr val="7F8CFF"/>
          </a:solidFill>
          <a:ln w="0">
            <a:solidFill>
              <a:srgbClr val="7F8CFF"/>
            </a:solidFill>
            <a:prstDash val="solid"/>
          </a:ln>
        </p:spPr>
      </p:sp>
      <p:sp>
        <p:nvSpPr>
          <p:cNvPr id="47" name="card-l2d8w5-本章目标"/>
          <p:cNvSpPr>
            <a:spLocks noGrp="1"/>
          </p:cNvSpPr>
          <p:nvPr/>
        </p:nvSpPr>
        <p:spPr>
          <a:xfrm>
            <a:off x="8839200" y="1752600"/>
            <a:ext cx="2667000" cy="2171700"/>
          </a:xfrm>
          <a:prstGeom prst="roundRect">
            <a:avLst>
              <a:gd name="adj" fmla="val 3509"/>
            </a:avLst>
          </a:prstGeom>
          <a:solidFill>
            <a:srgbClr val="EFF8EF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48" name="kicker-l2d8w5-本章目标"/>
          <p:cNvSpPr>
            <a:spLocks noGrp="1"/>
          </p:cNvSpPr>
          <p:nvPr/>
        </p:nvSpPr>
        <p:spPr>
          <a:xfrm>
            <a:off x="9029700" y="190500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43A047"/>
                </a:solidFill>
              </a:defRPr>
            </a:pPr>
            <a:r>
              <a:rPr sz="1275" b="1">
                <a:solidFill>
                  <a:srgbClr val="43A047"/>
                </a:solidFill>
              </a:rPr>
              <a:t>本课要做</a:t>
            </a:r>
            <a:endParaRPr sz="1275" b="1">
              <a:solidFill>
                <a:srgbClr val="43A047"/>
              </a:solidFill>
            </a:endParaRPr>
          </a:p>
        </p:txBody>
      </p:sp>
      <p:sp>
        <p:nvSpPr>
          <p:cNvPr id="49" name="heading-l2d8w5-本章目标"/>
          <p:cNvSpPr>
            <a:spLocks noGrp="1"/>
          </p:cNvSpPr>
          <p:nvPr/>
        </p:nvSpPr>
        <p:spPr>
          <a:xfrm>
            <a:off x="9029700" y="226695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换执行层</a:t>
            </a:r>
            <a:endParaRPr sz="1725" b="1">
              <a:solidFill>
                <a:srgbClr val="202124"/>
              </a:solidFill>
            </a:endParaRPr>
          </a:p>
        </p:txBody>
      </p:sp>
      <p:sp>
        <p:nvSpPr>
          <p:cNvPr id="50" name="body-l2d8w5-本章目标"/>
          <p:cNvSpPr>
            <a:spLocks noGrp="1"/>
          </p:cNvSpPr>
          <p:nvPr/>
        </p:nvSpPr>
        <p:spPr>
          <a:xfrm>
            <a:off x="9029700" y="2705100"/>
            <a:ext cx="2286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只替换 Actor / Ref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接入 TorchTitan-NPU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性能结论留给测试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51" name="callout-l2d8w5-480"/>
          <p:cNvSpPr>
            <a:spLocks noGrp="1"/>
          </p:cNvSpPr>
          <p:nvPr/>
        </p:nvSpPr>
        <p:spPr>
          <a:xfrm>
            <a:off x="1371600" y="4572000"/>
            <a:ext cx="9448800" cy="704850"/>
          </a:xfrm>
          <a:prstGeom prst="roundRect">
            <a:avLst>
              <a:gd name="adj" fmla="val 10811"/>
            </a:avLst>
          </a:prstGeom>
          <a:solidFill>
            <a:srgbClr val="FFF0F0"/>
          </a:solidFill>
          <a:ln w="9525">
            <a:solidFill>
              <a:srgbClr val="E54C5E"/>
            </a:solidFill>
            <a:prstDash val="solid"/>
          </a:ln>
        </p:spPr>
      </p:sp>
      <p:sp>
        <p:nvSpPr>
          <p:cNvPr id="52" name="callout-text-l2d8w5-480"/>
          <p:cNvSpPr>
            <a:spLocks noGrp="1"/>
          </p:cNvSpPr>
          <p:nvPr/>
        </p:nvSpPr>
        <p:spPr>
          <a:xfrm>
            <a:off x="1600200" y="4705350"/>
            <a:ext cx="8991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算法和 RL 语义不变；切换的是执行能力平台，收益需要分阶段测量。</a:t>
            </a:r>
            <a:endParaRPr sz="1425" b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8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3" name="header-band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lesson-body-mask"/>
          <p:cNvSpPr>
            <a:spLocks noGrp="1"/>
          </p:cNvSpPr>
          <p:nvPr/>
        </p:nvSpPr>
        <p:spPr>
          <a:xfrm>
            <a:off x="0" y="914400"/>
            <a:ext cx="12192000" cy="51054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550" b="0">
                <a:solidFill>
                  <a:srgbClr val="111111"/>
                </a:solidFill>
              </a:defRPr>
            </a:pPr>
            <a:r>
              <a:rPr sz="2550" b="0">
                <a:solidFill>
                  <a:srgbClr val="111111"/>
                </a:solidFill>
              </a:rPr>
              <a:t>工程约束：更换发动机，不改比赛规则</a:t>
            </a:r>
            <a:endParaRPr sz="2550" b="0">
              <a:solidFill>
                <a:srgbClr val="111111"/>
              </a:solidFill>
            </a:endParaRPr>
          </a:p>
        </p:txBody>
      </p:sp>
      <p:sp>
        <p:nvSpPr>
          <p:cNvPr id="36" name="lesson-lead"/>
          <p:cNvSpPr>
            <a:spLocks noGrp="1"/>
          </p:cNvSpPr>
          <p:nvPr/>
        </p:nvSpPr>
        <p:spPr>
          <a:xfrm>
            <a:off x="685800" y="1104900"/>
            <a:ext cx="1082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1">
                <a:solidFill>
                  <a:srgbClr val="262626"/>
                </a:solidFill>
              </a:defRPr>
            </a:pPr>
            <a:r>
              <a:rPr sz="1800" b="1">
                <a:solidFill>
                  <a:srgbClr val="262626"/>
                </a:solidFill>
              </a:rPr>
              <a:t>模型、数据和 GRPO 不动，只替换 Actor/Ref 的训练执行职责。</a:t>
            </a:r>
            <a:endParaRPr sz="1800" b="1">
              <a:solidFill>
                <a:srgbClr val="262626"/>
              </a:solidFill>
            </a:endParaRPr>
          </a:p>
        </p:txBody>
      </p:sp>
      <p:sp>
        <p:nvSpPr>
          <p:cNvPr id="37" name="card-ch13an-必须保持"/>
          <p:cNvSpPr>
            <a:spLocks noGrp="1"/>
          </p:cNvSpPr>
          <p:nvPr/>
        </p:nvSpPr>
        <p:spPr>
          <a:xfrm>
            <a:off x="685800" y="1790700"/>
            <a:ext cx="4857750" cy="2705100"/>
          </a:xfrm>
          <a:prstGeom prst="roundRect">
            <a:avLst>
              <a:gd name="adj" fmla="val 2817"/>
            </a:avLst>
          </a:prstGeom>
          <a:solidFill>
            <a:srgbClr val="EFF8EF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38" name="kicker-ch13an-必须保持"/>
          <p:cNvSpPr>
            <a:spLocks noGrp="1"/>
          </p:cNvSpPr>
          <p:nvPr/>
        </p:nvSpPr>
        <p:spPr>
          <a:xfrm>
            <a:off x="876300" y="1943100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43A047"/>
                </a:solidFill>
              </a:defRPr>
            </a:pPr>
            <a:r>
              <a:rPr sz="1275" b="1">
                <a:solidFill>
                  <a:srgbClr val="43A047"/>
                </a:solidFill>
              </a:rPr>
              <a:t>保持不变</a:t>
            </a:r>
            <a:endParaRPr sz="1275" b="1">
              <a:solidFill>
                <a:srgbClr val="43A047"/>
              </a:solidFill>
            </a:endParaRPr>
          </a:p>
        </p:txBody>
      </p:sp>
      <p:sp>
        <p:nvSpPr>
          <p:cNvPr id="39" name="heading-ch13an-必须保持"/>
          <p:cNvSpPr>
            <a:spLocks noGrp="1"/>
          </p:cNvSpPr>
          <p:nvPr/>
        </p:nvSpPr>
        <p:spPr>
          <a:xfrm>
            <a:off x="876300" y="2305050"/>
            <a:ext cx="447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任务语义契约</a:t>
            </a:r>
            <a:endParaRPr sz="1725" b="1">
              <a:solidFill>
                <a:srgbClr val="202124"/>
              </a:solidFill>
            </a:endParaRPr>
          </a:p>
        </p:txBody>
      </p:sp>
      <p:sp>
        <p:nvSpPr>
          <p:cNvPr id="40" name="body-ch13an-必须保持"/>
          <p:cNvSpPr>
            <a:spLocks noGrp="1"/>
          </p:cNvSpPr>
          <p:nvPr/>
        </p:nvSpPr>
        <p:spPr>
          <a:xfrm>
            <a:off x="876300" y="2743200"/>
            <a:ext cx="447675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Qwen3、tokenizer、Wordle 数据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交互轮数与 reward 规则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GRPO、rollout.n、长度上限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vLLM 继续负责生成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41" name="card-ch13an-允许替换"/>
          <p:cNvSpPr>
            <a:spLocks noGrp="1"/>
          </p:cNvSpPr>
          <p:nvPr/>
        </p:nvSpPr>
        <p:spPr>
          <a:xfrm>
            <a:off x="5962650" y="1790700"/>
            <a:ext cx="5543550" cy="2705100"/>
          </a:xfrm>
          <a:prstGeom prst="roundRect">
            <a:avLst>
              <a:gd name="adj" fmla="val 2817"/>
            </a:avLst>
          </a:prstGeom>
          <a:solidFill>
            <a:srgbClr val="FFF5E8"/>
          </a:solidFill>
          <a:ln w="9525">
            <a:solidFill>
              <a:srgbClr val="EE822F"/>
            </a:solidFill>
            <a:prstDash val="solid"/>
          </a:ln>
        </p:spPr>
      </p:sp>
      <p:sp>
        <p:nvSpPr>
          <p:cNvPr id="42" name="kicker-ch13an-允许替换"/>
          <p:cNvSpPr>
            <a:spLocks noGrp="1"/>
          </p:cNvSpPr>
          <p:nvPr/>
        </p:nvSpPr>
        <p:spPr>
          <a:xfrm>
            <a:off x="6153150" y="1943100"/>
            <a:ext cx="516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EE822F"/>
                </a:solidFill>
              </a:defRPr>
            </a:pPr>
            <a:r>
              <a:rPr sz="1275" b="1">
                <a:solidFill>
                  <a:srgbClr val="EE822F"/>
                </a:solidFill>
              </a:rPr>
              <a:t>发生变化</a:t>
            </a:r>
            <a:endParaRPr sz="1275" b="1">
              <a:solidFill>
                <a:srgbClr val="EE822F"/>
              </a:solidFill>
            </a:endParaRPr>
          </a:p>
        </p:txBody>
      </p:sp>
      <p:sp>
        <p:nvSpPr>
          <p:cNvPr id="43" name="heading-ch13an-允许替换"/>
          <p:cNvSpPr>
            <a:spLocks noGrp="1"/>
          </p:cNvSpPr>
          <p:nvPr/>
        </p:nvSpPr>
        <p:spPr>
          <a:xfrm>
            <a:off x="6153150" y="2305050"/>
            <a:ext cx="5162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训练执行契约</a:t>
            </a:r>
            <a:endParaRPr sz="1725" b="1">
              <a:solidFill>
                <a:srgbClr val="202124"/>
              </a:solidFill>
            </a:endParaRPr>
          </a:p>
        </p:txBody>
      </p:sp>
      <p:sp>
        <p:nvSpPr>
          <p:cNvPr id="44" name="body-ch13an-允许替换"/>
          <p:cNvSpPr>
            <a:spLocks noGrp="1"/>
          </p:cNvSpPr>
          <p:nvPr/>
        </p:nvSpPr>
        <p:spPr>
          <a:xfrm>
            <a:off x="6153150" y="2743200"/>
            <a:ext cx="516255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Actor：分片、前反向、优化器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Ref：分片前向与 log-prob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FSDP2、offload、TND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StateDictAdapter + update_weights()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45" name="callout-ch13an-508"/>
          <p:cNvSpPr>
            <a:spLocks noGrp="1"/>
          </p:cNvSpPr>
          <p:nvPr/>
        </p:nvSpPr>
        <p:spPr>
          <a:xfrm>
            <a:off x="1371600" y="4838700"/>
            <a:ext cx="9448800" cy="685800"/>
          </a:xfrm>
          <a:prstGeom prst="roundRect">
            <a:avLst>
              <a:gd name="adj" fmla="val 11111"/>
            </a:avLst>
          </a:prstGeom>
          <a:solidFill>
            <a:srgbClr val="F4F7FF"/>
          </a:solidFill>
          <a:ln w="9525">
            <a:solidFill>
              <a:srgbClr val="4874CB"/>
            </a:solidFill>
            <a:prstDash val="solid"/>
          </a:ln>
        </p:spPr>
      </p:sp>
      <p:sp>
        <p:nvSpPr>
          <p:cNvPr id="46" name="callout-text-ch13an-508"/>
          <p:cNvSpPr>
            <a:spLocks noGrp="1"/>
          </p:cNvSpPr>
          <p:nvPr/>
        </p:nvSpPr>
        <p:spPr>
          <a:xfrm>
            <a:off x="1600200" y="4972050"/>
            <a:ext cx="8991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控制变量先固定，后续差异才可归因于后端。</a:t>
            </a:r>
            <a:endParaRPr sz="1425" b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3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学完后要能回答六个问题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5334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0535"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课程目标｜完成第 5～8 章后，你应能够：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716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划清边界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RL 语义与后端职责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196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101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054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接通契约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101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计算、状态、配置接口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1534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439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8392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解释 FSDP2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439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Mesh、分片与 offload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6858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763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3716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理解 TND / CP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63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变长布局与序列容量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: 圆角 21"/>
          <p:cNvSpPr>
            <a:spLocks noGrp="1"/>
          </p:cNvSpPr>
          <p:nvPr/>
        </p:nvSpPr>
        <p:spPr>
          <a:xfrm>
            <a:off x="44196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6101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1054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完成验证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6101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DRY_RUN + 3 step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: 圆角 25"/>
          <p:cNvSpPr>
            <a:spLocks noGrp="1"/>
          </p:cNvSpPr>
          <p:nvPr/>
        </p:nvSpPr>
        <p:spPr>
          <a:xfrm>
            <a:off x="81534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3439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8392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正确评价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3439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跑通、容量、性能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: 圆角 29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目标不是背配置，而是能解释一次后端切换。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2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四个问题串起后端切换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838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765"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从边界到证据：切哪里 → 接通什么 → 提供什么 → 如何评价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43A047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43A047"/>
                </a:solidFill>
                <a:latin typeface="Consolas"/>
                <a:ea typeface="Consolas"/>
                <a:cs typeface="Consolas"/>
              </a:rPr>
              <a:t>切换边界</a:t>
            </a:r>
            <a:endParaRPr sz="1560" b="1">
              <a:solidFill>
                <a:srgbClr val="43A04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763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先固定 RL 语义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任务、数据、GRPO、rollout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577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482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377DFF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377DFF"/>
                </a:solidFill>
                <a:latin typeface="Consolas"/>
                <a:ea typeface="Consolas"/>
                <a:cs typeface="Consolas"/>
              </a:rPr>
              <a:t>接入契约</a:t>
            </a:r>
            <a:endParaRPr sz="1560" b="1">
              <a:solidFill>
                <a:srgbClr val="377D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482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计算 + 状态 + 配置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482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接口决定后端能否闭环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2296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4201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F57C00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F57C00"/>
                </a:solidFill>
                <a:latin typeface="Consolas"/>
                <a:ea typeface="Consolas"/>
                <a:cs typeface="Consolas"/>
              </a:rPr>
              <a:t>能力机制</a:t>
            </a:r>
            <a:endParaRPr sz="1560" b="1">
              <a:solidFill>
                <a:srgbClr val="F57C0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4201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FSDP2 · offload · TND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4201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CP 作为长序列扩展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13716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EEF4FF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4325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切哪里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4671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: 圆角 20"/>
          <p:cNvSpPr>
            <a:spLocks noGrp="1"/>
          </p:cNvSpPr>
          <p:nvPr/>
        </p:nvSpPr>
        <p:spPr>
          <a:xfrm>
            <a:off x="38862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F7EFFA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9471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接通什么</a:t>
            </a:r>
            <a:endParaRPr sz="10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9817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: 圆角 23"/>
          <p:cNvSpPr>
            <a:spLocks noGrp="1"/>
          </p:cNvSpPr>
          <p:nvPr/>
        </p:nvSpPr>
        <p:spPr>
          <a:xfrm>
            <a:off x="64008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FFF3E5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4617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提供什么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4963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: 圆角 26"/>
          <p:cNvSpPr>
            <a:spLocks noGrp="1"/>
          </p:cNvSpPr>
          <p:nvPr/>
        </p:nvSpPr>
        <p:spPr>
          <a:xfrm>
            <a:off x="89154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EDF7EC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9763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如何验证和评价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: 圆角 28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四站走完，再回到可迁移的方法。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547116" y="2257425"/>
            <a:ext cx="3380899" cy="1524000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Part 1</a:t>
            </a:r>
            <a:endParaRPr sz="44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切换边界与</a:t>
            </a:r>
            <a:endParaRPr sz="32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接入契约</a:t>
            </a:r>
            <a:endParaRPr sz="32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620201" y="6130454"/>
            <a:ext cx="5972810" cy="245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等线 Light"/>
                <a:ea typeface="等线 Light"/>
                <a:cs typeface="等线 Light"/>
              </a:rPr>
              <a:t>https://gitcode.com/cann/cann-learning-hub/tree/master/tutorials/rl_training_pipeline/05_training_backend</a:t>
            </a:r>
            <a:endParaRPr lang="en-US" altLang="zh-CN"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等线 Light"/>
              <a:ea typeface="等线 Light"/>
              <a:cs typeface="等线 Light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Part 1 切换边界与接入契约</a:t>
            </a:r>
            <a:endParaRPr sz="2400" b="0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2 TorchTitan-NPU 能力</a:t>
            </a:r>
            <a:endParaRPr sz="2400"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C2C2C2"/>
                </a:solidFill>
                <a:latin typeface="微软雅黑"/>
                <a:ea typeface="微软雅黑"/>
                <a:cs typeface="微软雅黑"/>
              </a:rPr>
              <a:t>Part 3 配置与运行验证</a:t>
            </a:r>
            <a:endParaRPr sz="2400" b="0" i="0" u="none" cap="none">
              <a:ln>
                <a:noFill/>
              </a:ln>
              <a:solidFill>
                <a:srgbClr val="C2C2C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4 评价与迁移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3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一次完整的 GRPO step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5334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2108"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从 rollout 到 weight sync，后端只进入其中的训练执行段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716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vLLM rollout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生成多条轨迹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196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101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054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Wordle 交互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101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AgentLoop 最多 6 轮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1534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439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8392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Reward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439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完整轨迹进入评分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6858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763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3716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old / Ref log-prob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63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TorchTitan 前向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: 圆角 21"/>
          <p:cNvSpPr>
            <a:spLocks noGrp="1"/>
          </p:cNvSpPr>
          <p:nvPr/>
        </p:nvSpPr>
        <p:spPr>
          <a:xfrm>
            <a:off x="44196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6101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1054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GRPO + Actor update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6101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优势、前反向、优化器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: 圆角 25"/>
          <p:cNvSpPr>
            <a:spLocks noGrp="1"/>
          </p:cNvSpPr>
          <p:nvPr/>
        </p:nvSpPr>
        <p:spPr>
          <a:xfrm>
            <a:off x="81534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3439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8392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Weight sync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3439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Actor 权重 → vLLM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: 圆角 29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rollout、奖励、训练和同步组成一个闭环；少一段都不能验证切换。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8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3" name="header-band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lesson-body-mask"/>
          <p:cNvSpPr>
            <a:spLocks noGrp="1"/>
          </p:cNvSpPr>
          <p:nvPr/>
        </p:nvSpPr>
        <p:spPr>
          <a:xfrm>
            <a:off x="0" y="914400"/>
            <a:ext cx="12192000" cy="51054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550" b="0">
                <a:solidFill>
                  <a:srgbClr val="111111"/>
                </a:solidFill>
              </a:defRPr>
            </a:pPr>
            <a:r>
              <a:rPr sz="2550" b="0">
                <a:solidFill>
                  <a:srgbClr val="111111"/>
                </a:solidFill>
              </a:rPr>
              <a:t>后端切换不是重写 RL</a:t>
            </a:r>
            <a:endParaRPr sz="2550" b="0">
              <a:solidFill>
                <a:srgbClr val="111111"/>
              </a:solidFill>
            </a:endParaRPr>
          </a:p>
        </p:txBody>
      </p:sp>
      <p:sp>
        <p:nvSpPr>
          <p:cNvPr id="36" name="lesson-lead"/>
          <p:cNvSpPr>
            <a:spLocks noGrp="1"/>
          </p:cNvSpPr>
          <p:nvPr/>
        </p:nvSpPr>
        <p:spPr>
          <a:xfrm>
            <a:off x="685800" y="1104900"/>
            <a:ext cx="1082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1">
                <a:solidFill>
                  <a:srgbClr val="262626"/>
                </a:solidFill>
              </a:defRPr>
            </a:pPr>
            <a:r>
              <a:rPr sz="1800" b="1">
                <a:solidFill>
                  <a:srgbClr val="262626"/>
                </a:solidFill>
              </a:rPr>
              <a:t>把同一条 RL 闭环交给新的训练执行层，任务语义仍是原来的任务。</a:t>
            </a:r>
            <a:endParaRPr sz="1800" b="1">
              <a:solidFill>
                <a:srgbClr val="262626"/>
              </a:solidFill>
            </a:endParaRPr>
          </a:p>
        </p:txBody>
      </p:sp>
      <p:sp>
        <p:nvSpPr>
          <p:cNvPr id="37" name="card-ch13an-必须保持"/>
          <p:cNvSpPr>
            <a:spLocks noGrp="1"/>
          </p:cNvSpPr>
          <p:nvPr/>
        </p:nvSpPr>
        <p:spPr>
          <a:xfrm>
            <a:off x="685800" y="1790700"/>
            <a:ext cx="4857750" cy="2705100"/>
          </a:xfrm>
          <a:prstGeom prst="roundRect">
            <a:avLst>
              <a:gd name="adj" fmla="val 2817"/>
            </a:avLst>
          </a:prstGeom>
          <a:solidFill>
            <a:srgbClr val="EFF8EF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38" name="kicker-ch13an-必须保持"/>
          <p:cNvSpPr>
            <a:spLocks noGrp="1"/>
          </p:cNvSpPr>
          <p:nvPr/>
        </p:nvSpPr>
        <p:spPr>
          <a:xfrm>
            <a:off x="876300" y="1943100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43A047"/>
                </a:solidFill>
              </a:defRPr>
            </a:pPr>
            <a:r>
              <a:rPr sz="1275" b="1">
                <a:solidFill>
                  <a:srgbClr val="43A047"/>
                </a:solidFill>
              </a:rPr>
              <a:t>保持不变</a:t>
            </a:r>
            <a:endParaRPr sz="1275" b="1">
              <a:solidFill>
                <a:srgbClr val="43A047"/>
              </a:solidFill>
            </a:endParaRPr>
          </a:p>
        </p:txBody>
      </p:sp>
      <p:sp>
        <p:nvSpPr>
          <p:cNvPr id="39" name="heading-ch13an-必须保持"/>
          <p:cNvSpPr>
            <a:spLocks noGrp="1"/>
          </p:cNvSpPr>
          <p:nvPr/>
        </p:nvSpPr>
        <p:spPr>
          <a:xfrm>
            <a:off x="876300" y="2305050"/>
            <a:ext cx="447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RL 语义</a:t>
            </a:r>
            <a:endParaRPr sz="1725" b="1">
              <a:solidFill>
                <a:srgbClr val="202124"/>
              </a:solidFill>
            </a:endParaRPr>
          </a:p>
        </p:txBody>
      </p:sp>
      <p:sp>
        <p:nvSpPr>
          <p:cNvPr id="40" name="body-ch13an-必须保持"/>
          <p:cNvSpPr>
            <a:spLocks noGrp="1"/>
          </p:cNvSpPr>
          <p:nvPr/>
        </p:nvSpPr>
        <p:spPr>
          <a:xfrm>
            <a:off x="876300" y="2743200"/>
            <a:ext cx="447675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Qwen3 · 数据 · GRPO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vLLM · AgentLoop · reward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41" name="card-ch13an-允许替换"/>
          <p:cNvSpPr>
            <a:spLocks noGrp="1"/>
          </p:cNvSpPr>
          <p:nvPr/>
        </p:nvSpPr>
        <p:spPr>
          <a:xfrm>
            <a:off x="5962650" y="1790700"/>
            <a:ext cx="5543550" cy="2705100"/>
          </a:xfrm>
          <a:prstGeom prst="roundRect">
            <a:avLst>
              <a:gd name="adj" fmla="val 2817"/>
            </a:avLst>
          </a:prstGeom>
          <a:solidFill>
            <a:srgbClr val="FFF5E8"/>
          </a:solidFill>
          <a:ln w="9525">
            <a:solidFill>
              <a:srgbClr val="EE822F"/>
            </a:solidFill>
            <a:prstDash val="solid"/>
          </a:ln>
        </p:spPr>
      </p:sp>
      <p:sp>
        <p:nvSpPr>
          <p:cNvPr id="42" name="kicker-ch13an-允许替换"/>
          <p:cNvSpPr>
            <a:spLocks noGrp="1"/>
          </p:cNvSpPr>
          <p:nvPr/>
        </p:nvSpPr>
        <p:spPr>
          <a:xfrm>
            <a:off x="6153150" y="1943100"/>
            <a:ext cx="516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EE822F"/>
                </a:solidFill>
              </a:defRPr>
            </a:pPr>
            <a:r>
              <a:rPr sz="1275" b="1">
                <a:solidFill>
                  <a:srgbClr val="EE822F"/>
                </a:solidFill>
              </a:rPr>
              <a:t>发生变化</a:t>
            </a:r>
            <a:endParaRPr sz="1275" b="1">
              <a:solidFill>
                <a:srgbClr val="EE822F"/>
              </a:solidFill>
            </a:endParaRPr>
          </a:p>
        </p:txBody>
      </p:sp>
      <p:sp>
        <p:nvSpPr>
          <p:cNvPr id="43" name="heading-ch13an-允许替换"/>
          <p:cNvSpPr>
            <a:spLocks noGrp="1"/>
          </p:cNvSpPr>
          <p:nvPr/>
        </p:nvSpPr>
        <p:spPr>
          <a:xfrm>
            <a:off x="6153150" y="2305050"/>
            <a:ext cx="5162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Actor / Ref Engine</a:t>
            </a:r>
            <a:endParaRPr sz="1725" b="1">
              <a:solidFill>
                <a:srgbClr val="202124"/>
              </a:solidFill>
            </a:endParaRPr>
          </a:p>
        </p:txBody>
      </p:sp>
      <p:sp>
        <p:nvSpPr>
          <p:cNvPr id="44" name="body-ch13an-允许替换"/>
          <p:cNvSpPr>
            <a:spLocks noGrp="1"/>
          </p:cNvSpPr>
          <p:nvPr/>
        </p:nvSpPr>
        <p:spPr>
          <a:xfrm>
            <a:off x="6153150" y="2743200"/>
            <a:ext cx="516255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分片 · 前反向 · 优化器</a:t>
            </a:r>
            <a:endParaRPr sz="1275" b="0">
              <a:solidFill>
                <a:srgbClr val="4A4A4A"/>
              </a:solidFill>
            </a:endParaRPr>
          </a:p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offload · TND · 状态导出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45" name="callout-ch13an-508"/>
          <p:cNvSpPr>
            <a:spLocks noGrp="1"/>
          </p:cNvSpPr>
          <p:nvPr/>
        </p:nvSpPr>
        <p:spPr>
          <a:xfrm>
            <a:off x="1371600" y="4838700"/>
            <a:ext cx="9448800" cy="685800"/>
          </a:xfrm>
          <a:prstGeom prst="roundRect">
            <a:avLst>
              <a:gd name="adj" fmla="val 11111"/>
            </a:avLst>
          </a:prstGeom>
          <a:solidFill>
            <a:srgbClr val="F4F7FF"/>
          </a:solidFill>
          <a:ln w="9525">
            <a:solidFill>
              <a:srgbClr val="4874CB"/>
            </a:solidFill>
            <a:prstDash val="solid"/>
          </a:ln>
        </p:spPr>
      </p:sp>
      <p:sp>
        <p:nvSpPr>
          <p:cNvPr id="46" name="callout-text-ch13an-508"/>
          <p:cNvSpPr>
            <a:spLocks noGrp="1"/>
          </p:cNvSpPr>
          <p:nvPr/>
        </p:nvSpPr>
        <p:spPr>
          <a:xfrm>
            <a:off x="1600200" y="4972050"/>
            <a:ext cx="8991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如果 batch、reward 或 rollout 也一起变，性能差异就无法归因。</a:t>
            </a:r>
            <a:endParaRPr sz="1425" b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7" name="图片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/>
              <a:t>Actor、Ref 与 rollout 各自负责什么？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0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0143"/>
            <a:ext cx="6324600" cy="1957614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7315200" y="1181100"/>
            <a:ext cx="3810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同一引擎，三种职责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7239000" y="1752600"/>
            <a:ext cx="3962400" cy="1181100"/>
          </a:xfrm>
          <a:prstGeom prst="roundRect">
            <a:avLst>
              <a:gd name="adj" fmla="val 3871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543800" y="1943100"/>
            <a:ext cx="33528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Actor</a:t>
            </a:r>
            <a:endParaRPr sz="17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543800" y="2438400"/>
            <a:ext cx="33528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old log-prob；前向 / 反向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优化器更新；导出最新权重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7239000" y="3276600"/>
            <a:ext cx="3962400" cy="1181100"/>
          </a:xfrm>
          <a:prstGeom prst="roundRect">
            <a:avLst>
              <a:gd name="adj" fmla="val 3871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543800" y="3467100"/>
            <a:ext cx="33528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Ref</a:t>
            </a:r>
            <a:endParaRPr sz="174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543800" y="3962400"/>
            <a:ext cx="3352800" cy="396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ref log-prob；forward-only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冻结参数；无优化器</a:t>
            </a:r>
            <a:endParaRPr sz="120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: 圆角 12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rollout：vLLM 只消费最新 Actor 权重，不参与本次训练后端替换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9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3" name="header-band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lesson-body-mask"/>
          <p:cNvSpPr>
            <a:spLocks noGrp="1"/>
          </p:cNvSpPr>
          <p:nvPr/>
        </p:nvSpPr>
        <p:spPr>
          <a:xfrm>
            <a:off x="0" y="914400"/>
            <a:ext cx="12192000" cy="51054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550" b="0">
                <a:solidFill>
                  <a:srgbClr val="111111"/>
                </a:solidFill>
              </a:defRPr>
            </a:pPr>
            <a:r>
              <a:rPr sz="2550" b="0">
                <a:solidFill>
                  <a:srgbClr val="111111"/>
                </a:solidFill>
              </a:rPr>
              <a:t>训练后端必须满足三类契约</a:t>
            </a:r>
            <a:endParaRPr sz="2550" b="0">
              <a:solidFill>
                <a:srgbClr val="111111"/>
              </a:solidFill>
            </a:endParaRPr>
          </a:p>
        </p:txBody>
      </p:sp>
      <p:sp>
        <p:nvSpPr>
          <p:cNvPr id="36" name="lesson-lead"/>
          <p:cNvSpPr>
            <a:spLocks noGrp="1"/>
          </p:cNvSpPr>
          <p:nvPr/>
        </p:nvSpPr>
        <p:spPr>
          <a:xfrm>
            <a:off x="685800" y="1104900"/>
            <a:ext cx="1082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1">
                <a:solidFill>
                  <a:srgbClr val="262626"/>
                </a:solidFill>
              </a:defRPr>
            </a:pPr>
            <a:r>
              <a:rPr sz="1800" b="1">
                <a:solidFill>
                  <a:srgbClr val="262626"/>
                </a:solidFill>
              </a:rPr>
              <a:t>不仅要算对，还要把配置读对、把更新后的状态交出去。</a:t>
            </a:r>
            <a:endParaRPr sz="1800" b="1">
              <a:solidFill>
                <a:srgbClr val="262626"/>
              </a:solidFill>
            </a:endParaRPr>
          </a:p>
        </p:txBody>
      </p:sp>
      <p:sp>
        <p:nvSpPr>
          <p:cNvPr id="37" name="card-d88tcr-输入"/>
          <p:cNvSpPr>
            <a:spLocks noGrp="1"/>
          </p:cNvSpPr>
          <p:nvPr/>
        </p:nvSpPr>
        <p:spPr>
          <a:xfrm>
            <a:off x="685800" y="1885950"/>
            <a:ext cx="2095500" cy="1409700"/>
          </a:xfrm>
          <a:prstGeom prst="roundRect">
            <a:avLst>
              <a:gd name="adj" fmla="val 5405"/>
            </a:avLst>
          </a:prstGeom>
          <a:solidFill>
            <a:srgbClr val="EEF4FF"/>
          </a:solidFill>
          <a:ln w="9525">
            <a:solidFill>
              <a:srgbClr val="4874CB"/>
            </a:solidFill>
            <a:prstDash val="solid"/>
          </a:ln>
        </p:spPr>
      </p:sp>
      <p:sp>
        <p:nvSpPr>
          <p:cNvPr id="38" name="kicker-d88tcr-输入"/>
          <p:cNvSpPr>
            <a:spLocks noGrp="1"/>
          </p:cNvSpPr>
          <p:nvPr/>
        </p:nvSpPr>
        <p:spPr>
          <a:xfrm>
            <a:off x="876300" y="20383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4874CB"/>
                </a:solidFill>
              </a:defRPr>
            </a:pPr>
            <a:r>
              <a:rPr sz="1275" b="1">
                <a:solidFill>
                  <a:srgbClr val="4874CB"/>
                </a:solidFill>
              </a:rPr>
              <a:t>计算</a:t>
            </a:r>
            <a:endParaRPr sz="1275" b="1">
              <a:solidFill>
                <a:srgbClr val="4874CB"/>
              </a:solidFill>
            </a:endParaRPr>
          </a:p>
        </p:txBody>
      </p:sp>
      <p:sp>
        <p:nvSpPr>
          <p:cNvPr id="39" name="heading-d88tcr-输入"/>
          <p:cNvSpPr>
            <a:spLocks noGrp="1"/>
          </p:cNvSpPr>
          <p:nvPr/>
        </p:nvSpPr>
        <p:spPr>
          <a:xfrm>
            <a:off x="876300" y="2400300"/>
            <a:ext cx="171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前向 + 反向</a:t>
            </a:r>
            <a:endParaRPr sz="1725" b="1">
              <a:solidFill>
                <a:srgbClr val="202124"/>
              </a:solidFill>
            </a:endParaRPr>
          </a:p>
        </p:txBody>
      </p:sp>
      <p:sp>
        <p:nvSpPr>
          <p:cNvPr id="40" name="body-d88tcr-输入"/>
          <p:cNvSpPr>
            <a:spLocks noGrp="1"/>
          </p:cNvSpPr>
          <p:nvPr/>
        </p:nvSpPr>
        <p:spPr>
          <a:xfrm>
            <a:off x="876300" y="28384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loss / grad / log-prob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41" name="arrow-d88tcr-308"/>
          <p:cNvSpPr>
            <a:spLocks noGrp="1"/>
          </p:cNvSpPr>
          <p:nvPr/>
        </p:nvSpPr>
        <p:spPr>
          <a:xfrm>
            <a:off x="2933700" y="2457450"/>
            <a:ext cx="285750" cy="285750"/>
          </a:xfrm>
          <a:prstGeom prst="rightArrow">
            <a:avLst/>
          </a:prstGeom>
          <a:solidFill>
            <a:srgbClr val="7F8CFF"/>
          </a:solidFill>
          <a:ln w="0">
            <a:solidFill>
              <a:srgbClr val="7F8CFF"/>
            </a:solidFill>
            <a:prstDash val="solid"/>
          </a:ln>
        </p:spPr>
      </p:sp>
      <p:sp>
        <p:nvSpPr>
          <p:cNvPr id="42" name="card-d88tcr-计算"/>
          <p:cNvSpPr>
            <a:spLocks noGrp="1"/>
          </p:cNvSpPr>
          <p:nvPr/>
        </p:nvSpPr>
        <p:spPr>
          <a:xfrm>
            <a:off x="3143250" y="1885950"/>
            <a:ext cx="2095500" cy="1409700"/>
          </a:xfrm>
          <a:prstGeom prst="roundRect">
            <a:avLst>
              <a:gd name="adj" fmla="val 5405"/>
            </a:avLst>
          </a:prstGeom>
          <a:solidFill>
            <a:srgbClr val="F5F0FF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43" name="kicker-d88tcr-计算"/>
          <p:cNvSpPr>
            <a:spLocks noGrp="1"/>
          </p:cNvSpPr>
          <p:nvPr/>
        </p:nvSpPr>
        <p:spPr>
          <a:xfrm>
            <a:off x="3333750" y="20383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8E44AD"/>
                </a:solidFill>
              </a:defRPr>
            </a:pPr>
            <a:r>
              <a:rPr sz="1275" b="1">
                <a:solidFill>
                  <a:srgbClr val="8E44AD"/>
                </a:solidFill>
              </a:rPr>
              <a:t>状态</a:t>
            </a:r>
            <a:endParaRPr sz="1275" b="1">
              <a:solidFill>
                <a:srgbClr val="8E44AD"/>
              </a:solidFill>
            </a:endParaRPr>
          </a:p>
        </p:txBody>
      </p:sp>
      <p:sp>
        <p:nvSpPr>
          <p:cNvPr id="44" name="heading-d88tcr-计算"/>
          <p:cNvSpPr>
            <a:spLocks noGrp="1"/>
          </p:cNvSpPr>
          <p:nvPr/>
        </p:nvSpPr>
        <p:spPr>
          <a:xfrm>
            <a:off x="3333750" y="2400300"/>
            <a:ext cx="171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参数与状态</a:t>
            </a:r>
            <a:endParaRPr sz="1725" b="1">
              <a:solidFill>
                <a:srgbClr val="202124"/>
              </a:solidFill>
            </a:endParaRPr>
          </a:p>
        </p:txBody>
      </p:sp>
      <p:sp>
        <p:nvSpPr>
          <p:cNvPr id="45" name="body-d88tcr-计算"/>
          <p:cNvSpPr>
            <a:spLocks noGrp="1"/>
          </p:cNvSpPr>
          <p:nvPr/>
        </p:nvSpPr>
        <p:spPr>
          <a:xfrm>
            <a:off x="3333750" y="28384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分片、驻留、更新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46" name="arrow-d88tcr-566"/>
          <p:cNvSpPr>
            <a:spLocks noGrp="1"/>
          </p:cNvSpPr>
          <p:nvPr/>
        </p:nvSpPr>
        <p:spPr>
          <a:xfrm>
            <a:off x="5391150" y="2457450"/>
            <a:ext cx="285750" cy="285750"/>
          </a:xfrm>
          <a:prstGeom prst="rightArrow">
            <a:avLst/>
          </a:prstGeom>
          <a:solidFill>
            <a:srgbClr val="7F8CFF"/>
          </a:solidFill>
          <a:ln w="0">
            <a:solidFill>
              <a:srgbClr val="7F8CFF"/>
            </a:solidFill>
            <a:prstDash val="solid"/>
          </a:ln>
        </p:spPr>
      </p:sp>
      <p:sp>
        <p:nvSpPr>
          <p:cNvPr id="47" name="card-d88tcr-状态"/>
          <p:cNvSpPr>
            <a:spLocks noGrp="1"/>
          </p:cNvSpPr>
          <p:nvPr/>
        </p:nvSpPr>
        <p:spPr>
          <a:xfrm>
            <a:off x="5600700" y="1885950"/>
            <a:ext cx="2095500" cy="1409700"/>
          </a:xfrm>
          <a:prstGeom prst="roundRect">
            <a:avLst>
              <a:gd name="adj" fmla="val 5405"/>
            </a:avLst>
          </a:prstGeom>
          <a:solidFill>
            <a:srgbClr val="FFF5E8"/>
          </a:solidFill>
          <a:ln w="9525">
            <a:solidFill>
              <a:srgbClr val="EE822F"/>
            </a:solidFill>
            <a:prstDash val="solid"/>
          </a:ln>
        </p:spPr>
      </p:sp>
      <p:sp>
        <p:nvSpPr>
          <p:cNvPr id="48" name="kicker-d88tcr-状态"/>
          <p:cNvSpPr>
            <a:spLocks noGrp="1"/>
          </p:cNvSpPr>
          <p:nvPr/>
        </p:nvSpPr>
        <p:spPr>
          <a:xfrm>
            <a:off x="5791200" y="20383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EE822F"/>
                </a:solidFill>
              </a:defRPr>
            </a:pPr>
            <a:r>
              <a:rPr sz="1275" b="1">
                <a:solidFill>
                  <a:srgbClr val="EE822F"/>
                </a:solidFill>
              </a:rPr>
              <a:t>配置</a:t>
            </a:r>
            <a:endParaRPr sz="1275" b="1">
              <a:solidFill>
                <a:srgbClr val="EE822F"/>
              </a:solidFill>
            </a:endParaRPr>
          </a:p>
        </p:txBody>
      </p:sp>
      <p:sp>
        <p:nvSpPr>
          <p:cNvPr id="49" name="heading-d88tcr-状态"/>
          <p:cNvSpPr>
            <a:spLocks noGrp="1"/>
          </p:cNvSpPr>
          <p:nvPr/>
        </p:nvSpPr>
        <p:spPr>
          <a:xfrm>
            <a:off x="5791200" y="2400300"/>
            <a:ext cx="171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Engine / Mesh</a:t>
            </a:r>
            <a:endParaRPr sz="1725" b="1">
              <a:solidFill>
                <a:srgbClr val="202124"/>
              </a:solidFill>
            </a:endParaRPr>
          </a:p>
        </p:txBody>
      </p:sp>
      <p:sp>
        <p:nvSpPr>
          <p:cNvPr id="50" name="body-d88tcr-状态"/>
          <p:cNvSpPr>
            <a:spLocks noGrp="1"/>
          </p:cNvSpPr>
          <p:nvPr/>
        </p:nvSpPr>
        <p:spPr>
          <a:xfrm>
            <a:off x="5791200" y="28384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offload + Hydra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51" name="arrow-d88tcr-824"/>
          <p:cNvSpPr>
            <a:spLocks noGrp="1"/>
          </p:cNvSpPr>
          <p:nvPr/>
        </p:nvSpPr>
        <p:spPr>
          <a:xfrm>
            <a:off x="7848600" y="2457450"/>
            <a:ext cx="285750" cy="285750"/>
          </a:xfrm>
          <a:prstGeom prst="rightArrow">
            <a:avLst/>
          </a:prstGeom>
          <a:solidFill>
            <a:srgbClr val="7F8CFF"/>
          </a:solidFill>
          <a:ln w="0">
            <a:solidFill>
              <a:srgbClr val="7F8CFF"/>
            </a:solidFill>
            <a:prstDash val="solid"/>
          </a:ln>
        </p:spPr>
      </p:sp>
      <p:sp>
        <p:nvSpPr>
          <p:cNvPr id="52" name="card-d88tcr-交接"/>
          <p:cNvSpPr>
            <a:spLocks noGrp="1"/>
          </p:cNvSpPr>
          <p:nvPr/>
        </p:nvSpPr>
        <p:spPr>
          <a:xfrm>
            <a:off x="8058150" y="1885950"/>
            <a:ext cx="2095500" cy="1409700"/>
          </a:xfrm>
          <a:prstGeom prst="roundRect">
            <a:avLst>
              <a:gd name="adj" fmla="val 5405"/>
            </a:avLst>
          </a:prstGeom>
          <a:solidFill>
            <a:srgbClr val="EFF8EF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53" name="kicker-d88tcr-交接"/>
          <p:cNvSpPr>
            <a:spLocks noGrp="1"/>
          </p:cNvSpPr>
          <p:nvPr/>
        </p:nvSpPr>
        <p:spPr>
          <a:xfrm>
            <a:off x="8248650" y="20383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43A047"/>
                </a:solidFill>
              </a:defRPr>
            </a:pPr>
            <a:r>
              <a:rPr sz="1275" b="1">
                <a:solidFill>
                  <a:srgbClr val="43A047"/>
                </a:solidFill>
              </a:rPr>
              <a:t>交接</a:t>
            </a:r>
            <a:endParaRPr sz="1275" b="1">
              <a:solidFill>
                <a:srgbClr val="43A047"/>
              </a:solidFill>
            </a:endParaRPr>
          </a:p>
        </p:txBody>
      </p:sp>
      <p:sp>
        <p:nvSpPr>
          <p:cNvPr id="54" name="heading-d88tcr-交接"/>
          <p:cNvSpPr>
            <a:spLocks noGrp="1"/>
          </p:cNvSpPr>
          <p:nvPr/>
        </p:nvSpPr>
        <p:spPr>
          <a:xfrm>
            <a:off x="8248650" y="2400300"/>
            <a:ext cx="171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权重 → vLLM</a:t>
            </a:r>
            <a:endParaRPr sz="1725" b="1">
              <a:solidFill>
                <a:srgbClr val="202124"/>
              </a:solidFill>
            </a:endParaRPr>
          </a:p>
        </p:txBody>
      </p:sp>
      <p:sp>
        <p:nvSpPr>
          <p:cNvPr id="55" name="body-d88tcr-交接"/>
          <p:cNvSpPr>
            <a:spLocks noGrp="1"/>
          </p:cNvSpPr>
          <p:nvPr/>
        </p:nvSpPr>
        <p:spPr>
          <a:xfrm>
            <a:off x="8248650" y="28384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下一轮 rollout 用新策略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56" name="callout-d88tcr-400"/>
          <p:cNvSpPr>
            <a:spLocks noGrp="1"/>
          </p:cNvSpPr>
          <p:nvPr/>
        </p:nvSpPr>
        <p:spPr>
          <a:xfrm>
            <a:off x="685800" y="3810000"/>
            <a:ext cx="10820400" cy="1295400"/>
          </a:xfrm>
          <a:prstGeom prst="roundRect">
            <a:avLst>
              <a:gd name="adj" fmla="val 5882"/>
            </a:avLst>
          </a:prstGeom>
          <a:solidFill>
            <a:srgbClr val="F4F7FF"/>
          </a:solidFill>
          <a:ln w="9525">
            <a:solidFill>
              <a:srgbClr val="4874CB"/>
            </a:solidFill>
            <a:prstDash val="solid"/>
          </a:ln>
        </p:spPr>
      </p:sp>
      <p:sp>
        <p:nvSpPr>
          <p:cNvPr id="57" name="callout-text-d88tcr-400"/>
          <p:cNvSpPr>
            <a:spLocks noGrp="1"/>
          </p:cNvSpPr>
          <p:nvPr/>
        </p:nvSpPr>
        <p:spPr>
          <a:xfrm>
            <a:off x="914400" y="3943350"/>
            <a:ext cx="103632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计算接口让一步训练跑完；状态接口让 RL 闭环继续。</a:t>
            </a:r>
            <a:endParaRPr sz="1425" b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7" name="图片 4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/>
              <a:t>从 Verl 到 TorchTitan Engine 的调用链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953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5735"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model_engine=torchtitan 是选择器，下面的对象与配置随之切换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38300"/>
            <a:ext cx="4953000" cy="1943100"/>
          </a:xfrm>
          <a:prstGeom prst="roundRect">
            <a:avLst>
              <a:gd name="adj" fmla="val 2353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744980"/>
            <a:ext cx="4648200" cy="17297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Hydra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r>
              <a:t>解析选择器</a:t>
            </a:r>
            <a:endParaRPr sz="1260"/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选择 unified worker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19800" y="1371600"/>
            <a:ext cx="16764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111240" y="1402080"/>
            <a:ext cx="14935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TorchTitan 路径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696200" y="1371600"/>
            <a:ext cx="21336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787640" y="1402080"/>
            <a:ext cx="19507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配置职责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829800" y="1371600"/>
            <a:ext cx="2133600" cy="41910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921240" y="1402080"/>
            <a:ext cx="19507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Verl 路径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019800" y="17907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111240" y="18211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TorchTitan Engine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696200" y="17907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787640" y="18211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训练引擎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829800" y="17907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921240" y="18211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默认 FSDP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019800" y="2324100"/>
            <a:ext cx="1676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111240" y="23545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Qwen3 + DeviceMesh + FSDP2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696200" y="23241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787640" y="23545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模型 / 拓扑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829800" y="23241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921240" y="23545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Verl worker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019800" y="28575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111240" y="28879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TorchTitan forward / backward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696200" y="28575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787640" y="28879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计算阶段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829800" y="28575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9921240" y="28879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old / ref / Actor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019800" y="3390900"/>
            <a:ext cx="1676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111240" y="34213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GRPO / vLLM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696200" y="33909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7787640" y="34213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算法 / rollout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9829800" y="33909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9921240" y="34213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GRPO / vLLM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019800" y="39243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111240" y="39547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任务 / 数据 / reward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7696200" y="39243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7787640" y="39547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语义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9829800" y="39243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9921240" y="39547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保持不变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矩形: 圆角 43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选择器改变对象创建路径，不改变 GRPO 数据流。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0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/>
              <a:t>Actor 更新后，权重怎样回到 vLLM？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001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读取状态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8669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855"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get_per_tensor_param()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35433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6576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名称映射</a:t>
            </a:r>
            <a:endParaRPr sz="10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7244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StateDictAdapter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: 圆角 11"/>
          <p:cNvSpPr>
            <a:spLocks noGrp="1"/>
          </p:cNvSpPr>
          <p:nvPr/>
        </p:nvSpPr>
        <p:spPr>
          <a:xfrm>
            <a:off x="64008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5151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物化分片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5819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855"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DTensor → 完整 tensor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92583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3726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更新 rollout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4394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update_weights()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191" y="1104900"/>
            <a:ext cx="8987619" cy="41529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0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/>
              <a:t>课堂检查点：哪些保持不变，哪些发生变化？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001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保持不变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8669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任务 · 数据 · GRPO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35433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6576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保持不变</a:t>
            </a:r>
            <a:endParaRPr sz="10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7244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855"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vLLM · AgentLoop · reward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: 圆角 11"/>
          <p:cNvSpPr>
            <a:spLocks noGrp="1"/>
          </p:cNvSpPr>
          <p:nvPr/>
        </p:nvSpPr>
        <p:spPr>
          <a:xfrm>
            <a:off x="64008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5151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发生变化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5819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Actor 分片与更新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92583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3726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发生变化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4394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Ref 前向与状态导出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191" y="1104900"/>
            <a:ext cx="8987619" cy="41529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547116" y="2257425"/>
            <a:ext cx="3380899" cy="1524000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Part 2</a:t>
            </a:r>
            <a:endParaRPr sz="44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TorchTitan-NPU</a:t>
            </a:r>
            <a:endParaRPr sz="32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能力</a:t>
            </a:r>
            <a:endParaRPr sz="32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620201" y="6130454"/>
            <a:ext cx="6297930" cy="245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等线 Light"/>
                <a:ea typeface="等线 Light"/>
                <a:cs typeface="等线 Light"/>
              </a:rPr>
              <a:t>https://gitcode.com/cann/cann-learning-hub/tree/master/tutorials/rl_training_pipeline/06_torchtitan_npu_features</a:t>
            </a:r>
            <a:endParaRPr lang="en-US" altLang="zh-CN"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等线 Light"/>
              <a:ea typeface="等线 Light"/>
              <a:cs typeface="等线 Light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1 切换边界与接入契约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Part 2 TorchTitan-NPU 能力</a:t>
            </a:r>
            <a:endParaRPr sz="240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C2C2C2"/>
                </a:solidFill>
                <a:latin typeface="微软雅黑"/>
                <a:ea typeface="微软雅黑"/>
                <a:cs typeface="微软雅黑"/>
              </a:rPr>
              <a:t>Part 3 配置与运行验证</a:t>
            </a:r>
            <a:endParaRPr sz="2400" b="0" i="0" u="none" cap="none">
              <a:ln>
                <a:noFill/>
              </a:ln>
              <a:solidFill>
                <a:srgbClr val="C2C2C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4 评价与迁移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7" name="图片 4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7" name="header-band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lesson-body-mask"/>
          <p:cNvSpPr>
            <a:spLocks noGrp="1"/>
          </p:cNvSpPr>
          <p:nvPr/>
        </p:nvSpPr>
        <p:spPr>
          <a:xfrm>
            <a:off x="0" y="914400"/>
            <a:ext cx="12192000" cy="51054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9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550" b="0">
                <a:solidFill>
                  <a:srgbClr val="111111"/>
                </a:solidFill>
              </a:defRPr>
            </a:pPr>
            <a:r>
              <a:rPr sz="2550" b="0">
                <a:solidFill>
                  <a:srgbClr val="111111"/>
                </a:solidFill>
              </a:rPr>
              <a:t>每个工程压力对应一组能力</a:t>
            </a:r>
            <a:endParaRPr sz="2550" b="0">
              <a:solidFill>
                <a:srgbClr val="111111"/>
              </a:solidFill>
            </a:endParaRPr>
          </a:p>
        </p:txBody>
      </p:sp>
      <p:sp>
        <p:nvSpPr>
          <p:cNvPr id="50" name="lesson-lead"/>
          <p:cNvSpPr>
            <a:spLocks noGrp="1"/>
          </p:cNvSpPr>
          <p:nvPr/>
        </p:nvSpPr>
        <p:spPr>
          <a:xfrm>
            <a:off x="685800" y="1104900"/>
            <a:ext cx="1082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1">
                <a:solidFill>
                  <a:srgbClr val="262626"/>
                </a:solidFill>
              </a:defRPr>
            </a:pPr>
            <a:r>
              <a:rPr sz="1800" b="1">
                <a:solidFill>
                  <a:srgbClr val="262626"/>
                </a:solidFill>
              </a:rPr>
              <a:t>不要把能力当成“加速开关”，先问它解决哪一种资源问题。</a:t>
            </a:r>
            <a:endParaRPr sz="1800" b="1">
              <a:solidFill>
                <a:srgbClr val="262626"/>
              </a:solidFill>
            </a:endParaRPr>
          </a:p>
        </p:txBody>
      </p:sp>
      <p:sp>
        <p:nvSpPr>
          <p:cNvPr id="51" name="table-bg"/>
          <p:cNvSpPr>
            <a:spLocks noGrp="1"/>
          </p:cNvSpPr>
          <p:nvPr/>
        </p:nvSpPr>
        <p:spPr>
          <a:xfrm>
            <a:off x="685800" y="1771650"/>
            <a:ext cx="10363200" cy="327660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D9DDE6"/>
            </a:solidFill>
            <a:prstDash val="solid"/>
          </a:ln>
        </p:spPr>
      </p:sp>
      <p:sp>
        <p:nvSpPr>
          <p:cNvPr id="52" name="h1"/>
          <p:cNvSpPr>
            <a:spLocks noGrp="1"/>
          </p:cNvSpPr>
          <p:nvPr/>
        </p:nvSpPr>
        <p:spPr>
          <a:xfrm>
            <a:off x="895350" y="1924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>
                <a:solidFill>
                  <a:srgbClr val="5A6573"/>
                </a:solidFill>
              </a:defRPr>
            </a:pPr>
            <a:r>
              <a:rPr sz="1350" b="1">
                <a:solidFill>
                  <a:srgbClr val="5A6573"/>
                </a:solidFill>
              </a:rPr>
              <a:t>遇到的压力</a:t>
            </a:r>
            <a:endParaRPr sz="1350" b="1">
              <a:solidFill>
                <a:srgbClr val="5A6573"/>
              </a:solidFill>
            </a:endParaRPr>
          </a:p>
        </p:txBody>
      </p:sp>
      <p:sp>
        <p:nvSpPr>
          <p:cNvPr id="53" name="h2"/>
          <p:cNvSpPr>
            <a:spLocks noGrp="1"/>
          </p:cNvSpPr>
          <p:nvPr/>
        </p:nvSpPr>
        <p:spPr>
          <a:xfrm>
            <a:off x="3429000" y="19240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>
                <a:solidFill>
                  <a:srgbClr val="5A6573"/>
                </a:solidFill>
              </a:defRPr>
            </a:pPr>
            <a:r>
              <a:rPr sz="1350" b="1">
                <a:solidFill>
                  <a:srgbClr val="5A6573"/>
                </a:solidFill>
              </a:rPr>
              <a:t>对应机制</a:t>
            </a:r>
            <a:endParaRPr sz="1350" b="1">
              <a:solidFill>
                <a:srgbClr val="5A6573"/>
              </a:solidFill>
            </a:endParaRPr>
          </a:p>
        </p:txBody>
      </p:sp>
      <p:sp>
        <p:nvSpPr>
          <p:cNvPr id="54" name="h3"/>
          <p:cNvSpPr>
            <a:spLocks noGrp="1"/>
          </p:cNvSpPr>
          <p:nvPr/>
        </p:nvSpPr>
        <p:spPr>
          <a:xfrm>
            <a:off x="5924550" y="192405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>
                <a:solidFill>
                  <a:srgbClr val="5A6573"/>
                </a:solidFill>
              </a:defRPr>
            </a:pPr>
            <a:r>
              <a:rPr sz="1350" b="1">
                <a:solidFill>
                  <a:srgbClr val="5A6573"/>
                </a:solidFill>
              </a:rPr>
              <a:t>它具体解决什么</a:t>
            </a:r>
            <a:endParaRPr sz="1350" b="1">
              <a:solidFill>
                <a:srgbClr val="5A6573"/>
              </a:solidFill>
            </a:endParaRPr>
          </a:p>
        </p:txBody>
      </p:sp>
      <p:sp>
        <p:nvSpPr>
          <p:cNvPr id="55" name="r1-0"/>
          <p:cNvSpPr>
            <a:spLocks noGrp="1"/>
          </p:cNvSpPr>
          <p:nvPr/>
        </p:nvSpPr>
        <p:spPr>
          <a:xfrm>
            <a:off x="895350" y="23241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262626"/>
                </a:solidFill>
              </a:defRPr>
            </a:pPr>
            <a:r>
              <a:rPr sz="1275" b="1">
                <a:solidFill>
                  <a:srgbClr val="262626"/>
                </a:solidFill>
              </a:rPr>
              <a:t>训练状态容量</a:t>
            </a:r>
            <a:endParaRPr sz="1275" b="1">
              <a:solidFill>
                <a:srgbClr val="262626"/>
              </a:solidFill>
            </a:endParaRPr>
          </a:p>
        </p:txBody>
      </p:sp>
      <p:sp>
        <p:nvSpPr>
          <p:cNvPr id="56" name="r2-0"/>
          <p:cNvSpPr>
            <a:spLocks noGrp="1"/>
          </p:cNvSpPr>
          <p:nvPr/>
        </p:nvSpPr>
        <p:spPr>
          <a:xfrm>
            <a:off x="3429000" y="23241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4874CB"/>
                </a:solidFill>
              </a:defRPr>
            </a:pPr>
            <a:r>
              <a:rPr sz="1275" b="1">
                <a:solidFill>
                  <a:srgbClr val="4874CB"/>
                </a:solidFill>
              </a:rPr>
              <a:t>DeviceMesh + FSDP2</a:t>
            </a:r>
            <a:endParaRPr sz="1275" b="1">
              <a:solidFill>
                <a:srgbClr val="4874CB"/>
              </a:solidFill>
            </a:endParaRPr>
          </a:p>
        </p:txBody>
      </p:sp>
      <p:sp>
        <p:nvSpPr>
          <p:cNvPr id="57" name="r3-0"/>
          <p:cNvSpPr>
            <a:spLocks noGrp="1"/>
          </p:cNvSpPr>
          <p:nvPr/>
        </p:nvSpPr>
        <p:spPr>
          <a:xfrm>
            <a:off x="5924550" y="232410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0">
                <a:solidFill>
                  <a:srgbClr val="4A4A4A"/>
                </a:solidFill>
              </a:defRPr>
            </a:pPr>
            <a:r>
              <a:rPr sz="1200" b="0">
                <a:solidFill>
                  <a:srgbClr val="4A4A4A"/>
                </a:solidFill>
              </a:rPr>
              <a:t>分片参数、梯度、优化器状态</a:t>
            </a:r>
            <a:endParaRPr sz="1200" b="0">
              <a:solidFill>
                <a:srgbClr val="4A4A4A"/>
              </a:solidFill>
            </a:endParaRPr>
          </a:p>
        </p:txBody>
      </p:sp>
      <p:sp>
        <p:nvSpPr>
          <p:cNvPr id="58" name="line-1"/>
          <p:cNvSpPr>
            <a:spLocks noGrp="1"/>
          </p:cNvSpPr>
          <p:nvPr/>
        </p:nvSpPr>
        <p:spPr>
          <a:xfrm>
            <a:off x="838200" y="2762250"/>
            <a:ext cx="10287000" cy="0"/>
          </a:xfrm>
          <a:prstGeom prst="line">
            <a:avLst/>
          </a:prstGeom>
          <a:noFill/>
          <a:ln w="9525">
            <a:solidFill>
              <a:srgbClr val="E6E8EE"/>
            </a:solidFill>
            <a:prstDash val="solid"/>
          </a:ln>
        </p:spPr>
      </p:sp>
      <p:sp>
        <p:nvSpPr>
          <p:cNvPr id="59" name="r1-1"/>
          <p:cNvSpPr>
            <a:spLocks noGrp="1"/>
          </p:cNvSpPr>
          <p:nvPr/>
        </p:nvSpPr>
        <p:spPr>
          <a:xfrm>
            <a:off x="895350" y="28575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262626"/>
                </a:solidFill>
              </a:defRPr>
            </a:pPr>
            <a:r>
              <a:rPr sz="1275" b="1">
                <a:solidFill>
                  <a:srgbClr val="262626"/>
                </a:solidFill>
              </a:rPr>
              <a:t>训推显存争用</a:t>
            </a:r>
            <a:endParaRPr sz="1275" b="1">
              <a:solidFill>
                <a:srgbClr val="262626"/>
              </a:solidFill>
            </a:endParaRPr>
          </a:p>
        </p:txBody>
      </p:sp>
      <p:sp>
        <p:nvSpPr>
          <p:cNvPr id="60" name="r2-1"/>
          <p:cNvSpPr>
            <a:spLocks noGrp="1"/>
          </p:cNvSpPr>
          <p:nvPr/>
        </p:nvSpPr>
        <p:spPr>
          <a:xfrm>
            <a:off x="3429000" y="28575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4874CB"/>
                </a:solidFill>
              </a:defRPr>
            </a:pPr>
            <a:r>
              <a:rPr sz="1275" b="1">
                <a:solidFill>
                  <a:srgbClr val="4874CB"/>
                </a:solidFill>
              </a:rPr>
              <a:t>CPU offload + reshard</a:t>
            </a:r>
            <a:endParaRPr sz="1275" b="1">
              <a:solidFill>
                <a:srgbClr val="4874CB"/>
              </a:solidFill>
            </a:endParaRPr>
          </a:p>
        </p:txBody>
      </p:sp>
      <p:sp>
        <p:nvSpPr>
          <p:cNvPr id="61" name="r3-1"/>
          <p:cNvSpPr>
            <a:spLocks noGrp="1"/>
          </p:cNvSpPr>
          <p:nvPr/>
        </p:nvSpPr>
        <p:spPr>
          <a:xfrm>
            <a:off x="5924550" y="285750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0">
                <a:solidFill>
                  <a:srgbClr val="4A4A4A"/>
                </a:solidFill>
              </a:defRPr>
            </a:pPr>
            <a:r>
              <a:rPr sz="1200" b="0">
                <a:solidFill>
                  <a:srgbClr val="4A4A4A"/>
                </a:solidFill>
              </a:rPr>
              <a:t>空闲迁移，计算时恢复</a:t>
            </a:r>
            <a:endParaRPr sz="1200" b="0">
              <a:solidFill>
                <a:srgbClr val="4A4A4A"/>
              </a:solidFill>
            </a:endParaRPr>
          </a:p>
        </p:txBody>
      </p:sp>
      <p:sp>
        <p:nvSpPr>
          <p:cNvPr id="62" name="line-2"/>
          <p:cNvSpPr>
            <a:spLocks noGrp="1"/>
          </p:cNvSpPr>
          <p:nvPr/>
        </p:nvSpPr>
        <p:spPr>
          <a:xfrm>
            <a:off x="838200" y="3295650"/>
            <a:ext cx="10287000" cy="0"/>
          </a:xfrm>
          <a:prstGeom prst="line">
            <a:avLst/>
          </a:prstGeom>
          <a:noFill/>
          <a:ln w="9525">
            <a:solidFill>
              <a:srgbClr val="E6E8EE"/>
            </a:solidFill>
            <a:prstDash val="solid"/>
          </a:ln>
        </p:spPr>
      </p:sp>
      <p:sp>
        <p:nvSpPr>
          <p:cNvPr id="63" name="r1-2"/>
          <p:cNvSpPr>
            <a:spLocks noGrp="1"/>
          </p:cNvSpPr>
          <p:nvPr/>
        </p:nvSpPr>
        <p:spPr>
          <a:xfrm>
            <a:off x="895350" y="33909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262626"/>
                </a:solidFill>
              </a:defRPr>
            </a:pPr>
            <a:r>
              <a:rPr sz="1275" b="1">
                <a:solidFill>
                  <a:srgbClr val="262626"/>
                </a:solidFill>
              </a:rPr>
              <a:t>动态序列 padding</a:t>
            </a:r>
            <a:endParaRPr sz="1275" b="1">
              <a:solidFill>
                <a:srgbClr val="262626"/>
              </a:solidFill>
            </a:endParaRPr>
          </a:p>
        </p:txBody>
      </p:sp>
      <p:sp>
        <p:nvSpPr>
          <p:cNvPr id="64" name="r2-2"/>
          <p:cNvSpPr>
            <a:spLocks noGrp="1"/>
          </p:cNvSpPr>
          <p:nvPr/>
        </p:nvSpPr>
        <p:spPr>
          <a:xfrm>
            <a:off x="3429000" y="33909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4874CB"/>
                </a:solidFill>
              </a:defRPr>
            </a:pPr>
            <a:r>
              <a:rPr sz="1275" b="1">
                <a:solidFill>
                  <a:srgbClr val="4874CB"/>
                </a:solidFill>
              </a:rPr>
              <a:t>TND varlen attention</a:t>
            </a:r>
            <a:endParaRPr sz="1275" b="1">
              <a:solidFill>
                <a:srgbClr val="4874CB"/>
              </a:solidFill>
            </a:endParaRPr>
          </a:p>
        </p:txBody>
      </p:sp>
      <p:sp>
        <p:nvSpPr>
          <p:cNvPr id="65" name="r3-2"/>
          <p:cNvSpPr>
            <a:spLocks noGrp="1"/>
          </p:cNvSpPr>
          <p:nvPr/>
        </p:nvSpPr>
        <p:spPr>
          <a:xfrm>
            <a:off x="5924550" y="339090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0">
                <a:solidFill>
                  <a:srgbClr val="4A4A4A"/>
                </a:solidFill>
              </a:defRPr>
            </a:pPr>
            <a:r>
              <a:rPr sz="1200" b="0">
                <a:solidFill>
                  <a:srgbClr val="4A4A4A"/>
                </a:solidFill>
              </a:rPr>
              <a:t>只算有效 token，保留样本边界</a:t>
            </a:r>
            <a:endParaRPr sz="1200" b="0">
              <a:solidFill>
                <a:srgbClr val="4A4A4A"/>
              </a:solidFill>
            </a:endParaRPr>
          </a:p>
        </p:txBody>
      </p:sp>
      <p:sp>
        <p:nvSpPr>
          <p:cNvPr id="66" name="line-3"/>
          <p:cNvSpPr>
            <a:spLocks noGrp="1"/>
          </p:cNvSpPr>
          <p:nvPr/>
        </p:nvSpPr>
        <p:spPr>
          <a:xfrm>
            <a:off x="838200" y="3829050"/>
            <a:ext cx="10287000" cy="0"/>
          </a:xfrm>
          <a:prstGeom prst="line">
            <a:avLst/>
          </a:prstGeom>
          <a:noFill/>
          <a:ln w="9525">
            <a:solidFill>
              <a:srgbClr val="E6E8EE"/>
            </a:solidFill>
            <a:prstDash val="solid"/>
          </a:ln>
        </p:spPr>
      </p:sp>
      <p:sp>
        <p:nvSpPr>
          <p:cNvPr id="67" name="r1-3"/>
          <p:cNvSpPr>
            <a:spLocks noGrp="1"/>
          </p:cNvSpPr>
          <p:nvPr/>
        </p:nvSpPr>
        <p:spPr>
          <a:xfrm>
            <a:off x="895350" y="39243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262626"/>
                </a:solidFill>
              </a:defRPr>
            </a:pPr>
            <a:r>
              <a:rPr sz="1275" b="1">
                <a:solidFill>
                  <a:srgbClr val="262626"/>
                </a:solidFill>
              </a:rPr>
              <a:t>Ascend 算子适配</a:t>
            </a:r>
            <a:endParaRPr sz="1275" b="1">
              <a:solidFill>
                <a:srgbClr val="262626"/>
              </a:solidFill>
            </a:endParaRPr>
          </a:p>
        </p:txBody>
      </p:sp>
      <p:sp>
        <p:nvSpPr>
          <p:cNvPr id="68" name="r2-3"/>
          <p:cNvSpPr>
            <a:spLocks noGrp="1"/>
          </p:cNvSpPr>
          <p:nvPr/>
        </p:nvSpPr>
        <p:spPr>
          <a:xfrm>
            <a:off x="3429000" y="39243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4874CB"/>
                </a:solidFill>
              </a:defRPr>
            </a:pPr>
            <a:r>
              <a:rPr sz="1275" b="1">
                <a:solidFill>
                  <a:srgbClr val="4874CB"/>
                </a:solidFill>
              </a:rPr>
              <a:t>converter + model spec</a:t>
            </a:r>
            <a:endParaRPr sz="1275" b="1">
              <a:solidFill>
                <a:srgbClr val="4874CB"/>
              </a:solidFill>
            </a:endParaRPr>
          </a:p>
        </p:txBody>
      </p:sp>
      <p:sp>
        <p:nvSpPr>
          <p:cNvPr id="69" name="r3-3"/>
          <p:cNvSpPr>
            <a:spLocks noGrp="1"/>
          </p:cNvSpPr>
          <p:nvPr/>
        </p:nvSpPr>
        <p:spPr>
          <a:xfrm>
            <a:off x="5924550" y="392430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0">
                <a:solidFill>
                  <a:srgbClr val="4A4A4A"/>
                </a:solidFill>
              </a:defRPr>
            </a:pPr>
            <a:r>
              <a:rPr sz="1200" b="0">
                <a:solidFill>
                  <a:srgbClr val="4A4A4A"/>
                </a:solidFill>
              </a:rPr>
              <a:t>Qwen3 模块与注意力路径</a:t>
            </a:r>
            <a:endParaRPr sz="1200" b="0">
              <a:solidFill>
                <a:srgbClr val="4A4A4A"/>
              </a:solidFill>
            </a:endParaRPr>
          </a:p>
        </p:txBody>
      </p:sp>
      <p:sp>
        <p:nvSpPr>
          <p:cNvPr id="70" name="line-4"/>
          <p:cNvSpPr>
            <a:spLocks noGrp="1"/>
          </p:cNvSpPr>
          <p:nvPr/>
        </p:nvSpPr>
        <p:spPr>
          <a:xfrm>
            <a:off x="838200" y="4362450"/>
            <a:ext cx="10287000" cy="0"/>
          </a:xfrm>
          <a:prstGeom prst="line">
            <a:avLst/>
          </a:prstGeom>
          <a:noFill/>
          <a:ln w="9525">
            <a:solidFill>
              <a:srgbClr val="E6E8EE"/>
            </a:solidFill>
            <a:prstDash val="solid"/>
          </a:ln>
        </p:spPr>
      </p:sp>
      <p:sp>
        <p:nvSpPr>
          <p:cNvPr id="71" name="r1-4"/>
          <p:cNvSpPr>
            <a:spLocks noGrp="1"/>
          </p:cNvSpPr>
          <p:nvPr/>
        </p:nvSpPr>
        <p:spPr>
          <a:xfrm>
            <a:off x="895350" y="44577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262626"/>
                </a:solidFill>
              </a:defRPr>
            </a:pPr>
            <a:r>
              <a:rPr sz="1275" b="1">
                <a:solidFill>
                  <a:srgbClr val="262626"/>
                </a:solidFill>
              </a:rPr>
              <a:t>训练后交接</a:t>
            </a:r>
            <a:endParaRPr sz="1275" b="1">
              <a:solidFill>
                <a:srgbClr val="262626"/>
              </a:solidFill>
            </a:endParaRPr>
          </a:p>
        </p:txBody>
      </p:sp>
      <p:sp>
        <p:nvSpPr>
          <p:cNvPr id="72" name="r2-4"/>
          <p:cNvSpPr>
            <a:spLocks noGrp="1"/>
          </p:cNvSpPr>
          <p:nvPr/>
        </p:nvSpPr>
        <p:spPr>
          <a:xfrm>
            <a:off x="3429000" y="44577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4874CB"/>
                </a:solidFill>
              </a:defRPr>
            </a:pPr>
            <a:r>
              <a:rPr sz="1275" b="1">
                <a:solidFill>
                  <a:srgbClr val="4874CB"/>
                </a:solidFill>
              </a:rPr>
              <a:t>StateDictAdapter</a:t>
            </a:r>
            <a:endParaRPr sz="1275" b="1">
              <a:solidFill>
                <a:srgbClr val="4874CB"/>
              </a:solidFill>
            </a:endParaRPr>
          </a:p>
        </p:txBody>
      </p:sp>
      <p:sp>
        <p:nvSpPr>
          <p:cNvPr id="73" name="r3-4"/>
          <p:cNvSpPr>
            <a:spLocks noGrp="1"/>
          </p:cNvSpPr>
          <p:nvPr/>
        </p:nvSpPr>
        <p:spPr>
          <a:xfrm>
            <a:off x="5924550" y="445770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0">
                <a:solidFill>
                  <a:srgbClr val="4A4A4A"/>
                </a:solidFill>
              </a:defRPr>
            </a:pPr>
            <a:r>
              <a:rPr sz="1200" b="0">
                <a:solidFill>
                  <a:srgbClr val="4A4A4A"/>
                </a:solidFill>
              </a:rPr>
              <a:t>分片状态 → vLLM 权重</a:t>
            </a:r>
            <a:endParaRPr sz="1200" b="0">
              <a:solidFill>
                <a:srgbClr val="4A4A4A"/>
              </a:solidFill>
            </a:endParaRPr>
          </a:p>
        </p:txBody>
      </p:sp>
      <p:sp>
        <p:nvSpPr>
          <p:cNvPr id="74" name="callout-l0mmvn-548"/>
          <p:cNvSpPr>
            <a:spLocks noGrp="1"/>
          </p:cNvSpPr>
          <p:nvPr/>
        </p:nvSpPr>
        <p:spPr>
          <a:xfrm>
            <a:off x="1371600" y="5219700"/>
            <a:ext cx="9448800" cy="552450"/>
          </a:xfrm>
          <a:prstGeom prst="roundRect">
            <a:avLst>
              <a:gd name="adj" fmla="val 13793"/>
            </a:avLst>
          </a:prstGeom>
          <a:solidFill>
            <a:srgbClr val="F4F7FF"/>
          </a:solidFill>
          <a:ln w="9525">
            <a:solidFill>
              <a:srgbClr val="4874CB"/>
            </a:solidFill>
            <a:prstDash val="solid"/>
          </a:ln>
        </p:spPr>
      </p:sp>
      <p:sp>
        <p:nvSpPr>
          <p:cNvPr id="75" name="callout-text-l0mmvn-548"/>
          <p:cNvSpPr>
            <a:spLocks noGrp="1"/>
          </p:cNvSpPr>
          <p:nvPr/>
        </p:nvSpPr>
        <p:spPr>
          <a:xfrm>
            <a:off x="1600200" y="5353050"/>
            <a:ext cx="899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下面先从 FSDP2 的状态分片讲起。</a:t>
            </a:r>
            <a:endParaRPr sz="1425" b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0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/>
              <a:t>DeviceMesh：两张卡怎样分工？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001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dp_replicate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8669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35433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6576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dp_shard</a:t>
            </a:r>
            <a:endParaRPr sz="10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7244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: 圆角 11"/>
          <p:cNvSpPr>
            <a:spLocks noGrp="1"/>
          </p:cNvSpPr>
          <p:nvPr/>
        </p:nvSpPr>
        <p:spPr>
          <a:xfrm>
            <a:off x="64008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5151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CP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5819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92583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3726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实际 mesh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4394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rank 0 + rank 1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191" y="1104900"/>
            <a:ext cx="8987619" cy="41529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7" name="图片 4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/>
              <a:t>FSDP2 分掉的到底是什么？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953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66459"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参数、梯度和优化器状态都分片；完整参数只在当前层计算窗口短暂出现。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38300"/>
            <a:ext cx="4953000" cy="1943100"/>
          </a:xfrm>
          <a:prstGeom prst="roundRect">
            <a:avLst>
              <a:gd name="adj" fmla="val 2353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744980"/>
            <a:ext cx="4648200" cy="17297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rank 0 / rank 1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r>
              <a:t>各持有参数、梯度、优化器状态分片</a:t>
            </a:r>
            <a:endParaRPr sz="1260"/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只有当前层计算时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r>
              <a:t>通过 all-gather 获得完整视图</a:t>
            </a:r>
            <a:endParaRPr sz="1260"/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19800" y="1371600"/>
            <a:ext cx="16764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111240" y="1402080"/>
            <a:ext cx="14935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对象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696200" y="1371600"/>
            <a:ext cx="21336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787640" y="1402080"/>
            <a:ext cx="19507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常驻状态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829800" y="1371600"/>
            <a:ext cx="2133600" cy="41910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921240" y="1402080"/>
            <a:ext cx="19507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计算时动作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019800" y="17907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111240" y="18211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参数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696200" y="17907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787640" y="18211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分片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829800" y="17907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921240" y="18211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按层 all-gather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019800" y="2324100"/>
            <a:ext cx="1676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111240" y="23545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前向后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696200" y="23241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787640" y="23545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重新分片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829800" y="23241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921240" y="23545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释放完整视图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019800" y="28575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111240" y="28879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梯度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696200" y="28575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787640" y="28879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分片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829800" y="28575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9921240" y="28879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reduce-scatter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019800" y="3390900"/>
            <a:ext cx="1676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111240" y="34213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优化器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696200" y="33909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7787640" y="34213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本地分片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9829800" y="33909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9921240" y="34213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本 rank 更新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019800" y="39243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111240" y="39547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代价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7696200" y="39243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7787640" y="39547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显存更低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9829800" y="39243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9921240" y="39547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增加通信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矩形: 圆角 43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分片降低常驻显存，通信位置决定实际速度。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3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一次前反向中，分片状态怎样变化？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5334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53668"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all-gather → forward → reshard → backward → reduce-scatter → update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716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All-gather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按需恢复当前层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196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101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054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Forward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101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使用完整参数视图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1534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439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8392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Forward 后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439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reshard_after_forward=always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6858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763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3716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Backward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63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计算梯度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: 圆角 21"/>
          <p:cNvSpPr>
            <a:spLocks noGrp="1"/>
          </p:cNvSpPr>
          <p:nvPr/>
        </p:nvSpPr>
        <p:spPr>
          <a:xfrm>
            <a:off x="44196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6101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1054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Reduce-scatter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6101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梯度回到 shard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: 圆角 25"/>
          <p:cNvSpPr>
            <a:spLocks noGrp="1"/>
          </p:cNvSpPr>
          <p:nvPr/>
        </p:nvSpPr>
        <p:spPr>
          <a:xfrm>
            <a:off x="81534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3439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8392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Optimizer step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3439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本 rank 更新本地状态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: 圆角 29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省下常驻显存，也付出通信成本。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2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Actor 与 Ref 为什么使用不同内存策略？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838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765"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职责不同，配置就不能机械复制。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43A047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43A047"/>
                </a:solidFill>
                <a:latin typeface="Consolas"/>
                <a:ea typeface="Consolas"/>
                <a:cs typeface="Consolas"/>
              </a:rPr>
              <a:t>参数</a:t>
            </a:r>
            <a:endParaRPr sz="1560" b="1">
              <a:solidFill>
                <a:srgbClr val="43A04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763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Actor + Ref：param_offload=True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空闲迁移到 CPU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577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482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377DFF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377DFF"/>
                </a:solidFill>
                <a:latin typeface="Consolas"/>
                <a:ea typeface="Consolas"/>
                <a:cs typeface="Consolas"/>
              </a:rPr>
              <a:t>优化器</a:t>
            </a:r>
            <a:endParaRPr sz="1560" b="1">
              <a:solidFill>
                <a:srgbClr val="377D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482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仅 Actor：optimizer_offload=True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482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Ref 无 optimizer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2296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4201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F57C00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F57C00"/>
                </a:solidFill>
                <a:latin typeface="Consolas"/>
                <a:ea typeface="Consolas"/>
                <a:cs typeface="Consolas"/>
              </a:rPr>
              <a:t>激活</a:t>
            </a:r>
            <a:endParaRPr sz="1560" b="1">
              <a:solidFill>
                <a:srgbClr val="F57C0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4201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362"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Actor：gradient checkpointing=True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4201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反向时按需重算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13716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EEF4FF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4325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训练完成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4671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36265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Actor update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: 圆角 20"/>
          <p:cNvSpPr>
            <a:spLocks noGrp="1"/>
          </p:cNvSpPr>
          <p:nvPr/>
        </p:nvSpPr>
        <p:spPr>
          <a:xfrm>
            <a:off x="38862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F7EFFA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9471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状态 offload</a:t>
            </a:r>
            <a:endParaRPr sz="10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9817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: 圆角 23"/>
          <p:cNvSpPr>
            <a:spLocks noGrp="1"/>
          </p:cNvSpPr>
          <p:nvPr/>
        </p:nvSpPr>
        <p:spPr>
          <a:xfrm>
            <a:off x="64008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FFF3E5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4617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释放 NPU 引用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4963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: 圆角 26"/>
          <p:cNvSpPr>
            <a:spLocks noGrp="1"/>
          </p:cNvSpPr>
          <p:nvPr/>
        </p:nvSpPr>
        <p:spPr>
          <a:xfrm>
            <a:off x="89154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EDF7EC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9763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vLLM rollout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: 圆角 28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offload 让资源错峰，不是在 CPU 上执行 Actor。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9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3" name="header-band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lesson-body-mask"/>
          <p:cNvSpPr>
            <a:spLocks noGrp="1"/>
          </p:cNvSpPr>
          <p:nvPr/>
        </p:nvSpPr>
        <p:spPr>
          <a:xfrm>
            <a:off x="0" y="914400"/>
            <a:ext cx="12192000" cy="51054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550" b="0">
                <a:solidFill>
                  <a:srgbClr val="111111"/>
                </a:solidFill>
              </a:defRPr>
            </a:pPr>
            <a:r>
              <a:rPr sz="2550" b="0">
                <a:solidFill>
                  <a:srgbClr val="111111"/>
                </a:solidFill>
              </a:rPr>
              <a:t>offload 要放进训推生命周期理解</a:t>
            </a:r>
            <a:endParaRPr sz="2550" b="0">
              <a:solidFill>
                <a:srgbClr val="111111"/>
              </a:solidFill>
            </a:endParaRPr>
          </a:p>
        </p:txBody>
      </p:sp>
      <p:sp>
        <p:nvSpPr>
          <p:cNvPr id="36" name="lesson-lead"/>
          <p:cNvSpPr>
            <a:spLocks noGrp="1"/>
          </p:cNvSpPr>
          <p:nvPr/>
        </p:nvSpPr>
        <p:spPr>
          <a:xfrm>
            <a:off x="685800" y="1104900"/>
            <a:ext cx="1082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1">
                <a:solidFill>
                  <a:srgbClr val="262626"/>
                </a:solidFill>
              </a:defRPr>
            </a:pPr>
            <a:r>
              <a:rPr sz="1800" b="1">
                <a:solidFill>
                  <a:srgbClr val="262626"/>
                </a:solidFill>
              </a:rPr>
              <a:t>Actor、Ref 与 vLLM 轮流占用同一组 NPU；offload 连接的是训练侧状态。</a:t>
            </a:r>
            <a:endParaRPr sz="1800" b="1">
              <a:solidFill>
                <a:srgbClr val="262626"/>
              </a:solidFill>
            </a:endParaRPr>
          </a:p>
        </p:txBody>
      </p:sp>
      <p:sp>
        <p:nvSpPr>
          <p:cNvPr id="37" name="resource-lane"/>
          <p:cNvSpPr>
            <a:spLocks noGrp="1"/>
          </p:cNvSpPr>
          <p:nvPr/>
        </p:nvSpPr>
        <p:spPr>
          <a:xfrm>
            <a:off x="685800" y="1790700"/>
            <a:ext cx="10820400" cy="2647950"/>
          </a:xfrm>
          <a:prstGeom prst="roundRect">
            <a:avLst>
              <a:gd name="adj" fmla="val 2878"/>
            </a:avLst>
          </a:prstGeom>
          <a:solidFill>
            <a:srgbClr val="F9FAFC"/>
          </a:solidFill>
          <a:ln w="9525">
            <a:solidFill>
              <a:srgbClr val="D5D9E2"/>
            </a:solidFill>
            <a:prstDash val="solid"/>
          </a:ln>
        </p:spPr>
      </p:sp>
      <p:sp>
        <p:nvSpPr>
          <p:cNvPr id="38" name="lane-label"/>
          <p:cNvSpPr>
            <a:spLocks noGrp="1"/>
          </p:cNvSpPr>
          <p:nvPr/>
        </p:nvSpPr>
        <p:spPr>
          <a:xfrm>
            <a:off x="914400" y="19431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>
                <a:solidFill>
                  <a:srgbClr val="5A6573"/>
                </a:solidFill>
              </a:defRPr>
            </a:pPr>
            <a:r>
              <a:rPr sz="1350" b="1">
                <a:solidFill>
                  <a:srgbClr val="5A6573"/>
                </a:solidFill>
              </a:rPr>
              <a:t>训练与生成的资源时间线</a:t>
            </a:r>
            <a:endParaRPr sz="1350" b="1">
              <a:solidFill>
                <a:srgbClr val="5A6573"/>
              </a:solidFill>
            </a:endParaRPr>
          </a:p>
        </p:txBody>
      </p:sp>
      <p:sp>
        <p:nvSpPr>
          <p:cNvPr id="39" name="lane-rollout"/>
          <p:cNvSpPr>
            <a:spLocks noGrp="1"/>
          </p:cNvSpPr>
          <p:nvPr/>
        </p:nvSpPr>
        <p:spPr>
          <a:xfrm>
            <a:off x="2686050" y="2247900"/>
            <a:ext cx="2647950" cy="609600"/>
          </a:xfrm>
          <a:prstGeom prst="roundRect">
            <a:avLst>
              <a:gd name="adj" fmla="val 12500"/>
            </a:avLst>
          </a:prstGeom>
          <a:solidFill>
            <a:srgbClr val="FCE7E7"/>
          </a:solidFill>
          <a:ln w="9525">
            <a:solidFill>
              <a:srgbClr val="E54C5E"/>
            </a:solidFill>
            <a:prstDash val="solid"/>
          </a:ln>
        </p:spPr>
      </p:sp>
      <p:sp>
        <p:nvSpPr>
          <p:cNvPr id="40" name="lane-t-rollout"/>
          <p:cNvSpPr>
            <a:spLocks noGrp="1"/>
          </p:cNvSpPr>
          <p:nvPr/>
        </p:nvSpPr>
        <p:spPr>
          <a:xfrm>
            <a:off x="2819400" y="2409825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>
                <a:solidFill>
                  <a:srgbClr val="262626"/>
                </a:solidFill>
              </a:defRPr>
            </a:pPr>
            <a:r>
              <a:rPr sz="1500" b="1">
                <a:solidFill>
                  <a:srgbClr val="262626"/>
                </a:solidFill>
              </a:rPr>
              <a:t>Actor compute</a:t>
            </a:r>
            <a:endParaRPr sz="1500" b="1">
              <a:solidFill>
                <a:srgbClr val="262626"/>
              </a:solidFill>
            </a:endParaRPr>
          </a:p>
        </p:txBody>
      </p:sp>
      <p:sp>
        <p:nvSpPr>
          <p:cNvPr id="41" name="lane-Actor update"/>
          <p:cNvSpPr>
            <a:spLocks noGrp="1"/>
          </p:cNvSpPr>
          <p:nvPr/>
        </p:nvSpPr>
        <p:spPr>
          <a:xfrm>
            <a:off x="5486400" y="2247900"/>
            <a:ext cx="2990850" cy="609600"/>
          </a:xfrm>
          <a:prstGeom prst="roundRect">
            <a:avLst>
              <a:gd name="adj" fmla="val 12500"/>
            </a:avLst>
          </a:prstGeom>
          <a:solidFill>
            <a:srgbClr val="E5F0FF"/>
          </a:solidFill>
          <a:ln w="9525">
            <a:solidFill>
              <a:srgbClr val="4874CB"/>
            </a:solidFill>
            <a:prstDash val="solid"/>
          </a:ln>
        </p:spPr>
      </p:sp>
      <p:sp>
        <p:nvSpPr>
          <p:cNvPr id="42" name="lane-t-Actor update"/>
          <p:cNvSpPr>
            <a:spLocks noGrp="1"/>
          </p:cNvSpPr>
          <p:nvPr/>
        </p:nvSpPr>
        <p:spPr>
          <a:xfrm>
            <a:off x="5619750" y="2409825"/>
            <a:ext cx="2724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>
                <a:solidFill>
                  <a:srgbClr val="262626"/>
                </a:solidFill>
              </a:defRPr>
            </a:pPr>
            <a:r>
              <a:rPr sz="1500" b="1">
                <a:solidFill>
                  <a:srgbClr val="262626"/>
                </a:solidFill>
              </a:rPr>
              <a:t>offload / 释放</a:t>
            </a:r>
            <a:endParaRPr sz="1500" b="1">
              <a:solidFill>
                <a:srgbClr val="262626"/>
              </a:solidFill>
            </a:endParaRPr>
          </a:p>
        </p:txBody>
      </p:sp>
      <p:sp>
        <p:nvSpPr>
          <p:cNvPr id="43" name="lane-Ref log-prob"/>
          <p:cNvSpPr>
            <a:spLocks noGrp="1"/>
          </p:cNvSpPr>
          <p:nvPr/>
        </p:nvSpPr>
        <p:spPr>
          <a:xfrm>
            <a:off x="8648700" y="2247900"/>
            <a:ext cx="1714500" cy="609600"/>
          </a:xfrm>
          <a:prstGeom prst="roundRect">
            <a:avLst>
              <a:gd name="adj" fmla="val 12500"/>
            </a:avLst>
          </a:prstGeom>
          <a:solidFill>
            <a:srgbClr val="F4ECFF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44" name="lane-t-Ref log-prob"/>
          <p:cNvSpPr>
            <a:spLocks noGrp="1"/>
          </p:cNvSpPr>
          <p:nvPr/>
        </p:nvSpPr>
        <p:spPr>
          <a:xfrm>
            <a:off x="8782050" y="2409825"/>
            <a:ext cx="144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>
                <a:solidFill>
                  <a:srgbClr val="262626"/>
                </a:solidFill>
              </a:defRPr>
            </a:pPr>
            <a:r>
              <a:rPr sz="1500" b="1">
                <a:solidFill>
                  <a:srgbClr val="262626"/>
                </a:solidFill>
              </a:rPr>
              <a:t>vLLM rollout</a:t>
            </a:r>
            <a:endParaRPr sz="1500" b="1">
              <a:solidFill>
                <a:srgbClr val="262626"/>
              </a:solidFill>
            </a:endParaRPr>
          </a:p>
        </p:txBody>
      </p:sp>
      <p:sp>
        <p:nvSpPr>
          <p:cNvPr id="45" name="lane-note"/>
          <p:cNvSpPr>
            <a:spLocks noGrp="1"/>
          </p:cNvSpPr>
          <p:nvPr/>
        </p:nvSpPr>
        <p:spPr>
          <a:xfrm>
            <a:off x="914400" y="3276600"/>
            <a:ext cx="171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0">
                <a:solidFill>
                  <a:srgbClr val="5A6573"/>
                </a:solidFill>
              </a:defRPr>
            </a:pPr>
            <a:r>
              <a:rPr sz="1350" b="0">
                <a:solidFill>
                  <a:srgbClr val="5A6573"/>
                </a:solidFill>
              </a:rPr>
              <a:t>训练侧空闲状态迁移到 CPU</a:t>
            </a:r>
            <a:endParaRPr sz="1350" b="0">
              <a:solidFill>
                <a:srgbClr val="5A6573"/>
              </a:solidFill>
            </a:endParaRPr>
          </a:p>
          <a:p>
            <a:pPr algn="l">
              <a:buNone/>
              <a:defRPr sz="1350" b="0">
                <a:solidFill>
                  <a:srgbClr val="5A6573"/>
                </a:solidFill>
              </a:defRPr>
            </a:pPr>
            <a:r>
              <a:rPr sz="1350" b="0">
                <a:solidFill>
                  <a:srgbClr val="5A6573"/>
                </a:solidFill>
              </a:rPr>
              <a:t>释放引用后给生成端腾空间</a:t>
            </a:r>
            <a:endParaRPr sz="1350" b="0">
              <a:solidFill>
                <a:srgbClr val="5A6573"/>
              </a:solidFill>
            </a:endParaRPr>
          </a:p>
        </p:txBody>
      </p:sp>
      <p:sp>
        <p:nvSpPr>
          <p:cNvPr id="46" name="callout-ds9s5t-500"/>
          <p:cNvSpPr>
            <a:spLocks noGrp="1"/>
          </p:cNvSpPr>
          <p:nvPr/>
        </p:nvSpPr>
        <p:spPr>
          <a:xfrm>
            <a:off x="685800" y="4762500"/>
            <a:ext cx="10820400" cy="762000"/>
          </a:xfrm>
          <a:prstGeom prst="roundRect">
            <a:avLst>
              <a:gd name="adj" fmla="val 10000"/>
            </a:avLst>
          </a:prstGeom>
          <a:solidFill>
            <a:srgbClr val="FFF5E8"/>
          </a:solidFill>
          <a:ln w="9525">
            <a:solidFill>
              <a:srgbClr val="EE822F"/>
            </a:solidFill>
            <a:prstDash val="solid"/>
          </a:ln>
        </p:spPr>
      </p:sp>
      <p:sp>
        <p:nvSpPr>
          <p:cNvPr id="47" name="callout-text-ds9s5t-500"/>
          <p:cNvSpPr>
            <a:spLocks noGrp="1"/>
          </p:cNvSpPr>
          <p:nvPr/>
        </p:nvSpPr>
        <p:spPr>
          <a:xfrm>
            <a:off x="914400" y="4895850"/>
            <a:ext cx="1036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训练侧 offload 与 vLLM sleep/wake 作用于不同对象。</a:t>
            </a:r>
            <a:endParaRPr sz="1425" b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9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3" name="header-band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lesson-body-mask"/>
          <p:cNvSpPr>
            <a:spLocks noGrp="1"/>
          </p:cNvSpPr>
          <p:nvPr/>
        </p:nvSpPr>
        <p:spPr>
          <a:xfrm>
            <a:off x="0" y="914400"/>
            <a:ext cx="12192000" cy="51054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550" b="0">
                <a:solidFill>
                  <a:srgbClr val="111111"/>
                </a:solidFill>
              </a:defRPr>
            </a:pPr>
            <a:r>
              <a:rPr sz="2550" b="0">
                <a:solidFill>
                  <a:srgbClr val="111111"/>
                </a:solidFill>
              </a:rPr>
              <a:t>Wordle 为什么天然是变长 batch？</a:t>
            </a:r>
            <a:endParaRPr sz="2550" b="0">
              <a:solidFill>
                <a:srgbClr val="111111"/>
              </a:solidFill>
            </a:endParaRPr>
          </a:p>
        </p:txBody>
      </p:sp>
      <p:sp>
        <p:nvSpPr>
          <p:cNvPr id="36" name="lesson-lead"/>
          <p:cNvSpPr>
            <a:spLocks noGrp="1"/>
          </p:cNvSpPr>
          <p:nvPr/>
        </p:nvSpPr>
        <p:spPr>
          <a:xfrm>
            <a:off x="685800" y="1104900"/>
            <a:ext cx="1082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1">
                <a:solidFill>
                  <a:srgbClr val="262626"/>
                </a:solidFill>
              </a:defRPr>
            </a:pPr>
            <a:r>
              <a:rPr sz="1800" b="1">
                <a:solidFill>
                  <a:srgbClr val="262626"/>
                </a:solidFill>
              </a:rPr>
              <a:t>六轮 AgentLoop 可能在不同轮次结束，response 有效长度因此不同。</a:t>
            </a:r>
            <a:endParaRPr sz="1800" b="1">
              <a:solidFill>
                <a:srgbClr val="262626"/>
              </a:solidFill>
            </a:endParaRPr>
          </a:p>
        </p:txBody>
      </p:sp>
      <p:sp>
        <p:nvSpPr>
          <p:cNvPr id="37" name="resource-lane"/>
          <p:cNvSpPr>
            <a:spLocks noGrp="1"/>
          </p:cNvSpPr>
          <p:nvPr/>
        </p:nvSpPr>
        <p:spPr>
          <a:xfrm>
            <a:off x="685800" y="1790700"/>
            <a:ext cx="10820400" cy="2647950"/>
          </a:xfrm>
          <a:prstGeom prst="roundRect">
            <a:avLst>
              <a:gd name="adj" fmla="val 2878"/>
            </a:avLst>
          </a:prstGeom>
          <a:solidFill>
            <a:srgbClr val="F9FAFC"/>
          </a:solidFill>
          <a:ln w="9525">
            <a:solidFill>
              <a:srgbClr val="D5D9E2"/>
            </a:solidFill>
            <a:prstDash val="solid"/>
          </a:ln>
        </p:spPr>
      </p:sp>
      <p:sp>
        <p:nvSpPr>
          <p:cNvPr id="38" name="lane-label"/>
          <p:cNvSpPr>
            <a:spLocks noGrp="1"/>
          </p:cNvSpPr>
          <p:nvPr/>
        </p:nvSpPr>
        <p:spPr>
          <a:xfrm>
            <a:off x="914400" y="19431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>
                <a:solidFill>
                  <a:srgbClr val="5A6573"/>
                </a:solidFill>
              </a:defRPr>
            </a:pPr>
            <a:r>
              <a:rPr sz="1350" b="1">
                <a:solidFill>
                  <a:srgbClr val="5A6573"/>
                </a:solidFill>
              </a:rPr>
              <a:t>不同游戏的有效 token 长度</a:t>
            </a:r>
            <a:endParaRPr sz="1350" b="1">
              <a:solidFill>
                <a:srgbClr val="5A6573"/>
              </a:solidFill>
            </a:endParaRPr>
          </a:p>
        </p:txBody>
      </p:sp>
      <p:sp>
        <p:nvSpPr>
          <p:cNvPr id="39" name="lane-rollout"/>
          <p:cNvSpPr>
            <a:spLocks noGrp="1"/>
          </p:cNvSpPr>
          <p:nvPr/>
        </p:nvSpPr>
        <p:spPr>
          <a:xfrm>
            <a:off x="2686050" y="2247900"/>
            <a:ext cx="2647950" cy="609600"/>
          </a:xfrm>
          <a:prstGeom prst="roundRect">
            <a:avLst>
              <a:gd name="adj" fmla="val 12500"/>
            </a:avLst>
          </a:prstGeom>
          <a:solidFill>
            <a:srgbClr val="FCE7E7"/>
          </a:solidFill>
          <a:ln w="9525">
            <a:solidFill>
              <a:srgbClr val="E54C5E"/>
            </a:solidFill>
            <a:prstDash val="solid"/>
          </a:ln>
        </p:spPr>
      </p:sp>
      <p:sp>
        <p:nvSpPr>
          <p:cNvPr id="40" name="lane-t-rollout"/>
          <p:cNvSpPr>
            <a:spLocks noGrp="1"/>
          </p:cNvSpPr>
          <p:nvPr/>
        </p:nvSpPr>
        <p:spPr>
          <a:xfrm>
            <a:off x="2819400" y="2409825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>
                <a:solidFill>
                  <a:srgbClr val="262626"/>
                </a:solidFill>
              </a:defRPr>
            </a:pPr>
            <a:r>
              <a:rPr sz="1500" b="1">
                <a:solidFill>
                  <a:srgbClr val="262626"/>
                </a:solidFill>
              </a:rPr>
              <a:t>游戏 A：第 1 轮结束</a:t>
            </a:r>
            <a:endParaRPr sz="1500" b="1">
              <a:solidFill>
                <a:srgbClr val="262626"/>
              </a:solidFill>
            </a:endParaRPr>
          </a:p>
        </p:txBody>
      </p:sp>
      <p:sp>
        <p:nvSpPr>
          <p:cNvPr id="41" name="lane-Actor update"/>
          <p:cNvSpPr>
            <a:spLocks noGrp="1"/>
          </p:cNvSpPr>
          <p:nvPr/>
        </p:nvSpPr>
        <p:spPr>
          <a:xfrm>
            <a:off x="5486400" y="2247900"/>
            <a:ext cx="2990850" cy="609600"/>
          </a:xfrm>
          <a:prstGeom prst="roundRect">
            <a:avLst>
              <a:gd name="adj" fmla="val 12500"/>
            </a:avLst>
          </a:prstGeom>
          <a:solidFill>
            <a:srgbClr val="E5F0FF"/>
          </a:solidFill>
          <a:ln w="9525">
            <a:solidFill>
              <a:srgbClr val="4874CB"/>
            </a:solidFill>
            <a:prstDash val="solid"/>
          </a:ln>
        </p:spPr>
      </p:sp>
      <p:sp>
        <p:nvSpPr>
          <p:cNvPr id="42" name="lane-t-Actor update"/>
          <p:cNvSpPr>
            <a:spLocks noGrp="1"/>
          </p:cNvSpPr>
          <p:nvPr/>
        </p:nvSpPr>
        <p:spPr>
          <a:xfrm>
            <a:off x="5619750" y="2409825"/>
            <a:ext cx="2724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>
                <a:solidFill>
                  <a:srgbClr val="262626"/>
                </a:solidFill>
              </a:defRPr>
            </a:pPr>
            <a:r>
              <a:rPr sz="1500" b="1">
                <a:solidFill>
                  <a:srgbClr val="262626"/>
                </a:solidFill>
              </a:rPr>
              <a:t>游戏 B：第 3 轮结束</a:t>
            </a:r>
            <a:endParaRPr sz="1500" b="1">
              <a:solidFill>
                <a:srgbClr val="262626"/>
              </a:solidFill>
            </a:endParaRPr>
          </a:p>
        </p:txBody>
      </p:sp>
      <p:sp>
        <p:nvSpPr>
          <p:cNvPr id="43" name="lane-Ref log-prob"/>
          <p:cNvSpPr>
            <a:spLocks noGrp="1"/>
          </p:cNvSpPr>
          <p:nvPr/>
        </p:nvSpPr>
        <p:spPr>
          <a:xfrm>
            <a:off x="8648700" y="2247900"/>
            <a:ext cx="1714500" cy="609600"/>
          </a:xfrm>
          <a:prstGeom prst="roundRect">
            <a:avLst>
              <a:gd name="adj" fmla="val 12500"/>
            </a:avLst>
          </a:prstGeom>
          <a:solidFill>
            <a:srgbClr val="F4ECFF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44" name="lane-t-Ref log-prob"/>
          <p:cNvSpPr>
            <a:spLocks noGrp="1"/>
          </p:cNvSpPr>
          <p:nvPr/>
        </p:nvSpPr>
        <p:spPr>
          <a:xfrm>
            <a:off x="8782050" y="2409825"/>
            <a:ext cx="144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>
                <a:solidFill>
                  <a:srgbClr val="262626"/>
                </a:solidFill>
              </a:defRPr>
            </a:pPr>
            <a:r>
              <a:rPr sz="1500" b="1">
                <a:solidFill>
                  <a:srgbClr val="262626"/>
                </a:solidFill>
              </a:rPr>
              <a:t>游戏 C：6 轮</a:t>
            </a:r>
            <a:endParaRPr sz="1500" b="1">
              <a:solidFill>
                <a:srgbClr val="262626"/>
              </a:solidFill>
            </a:endParaRPr>
          </a:p>
        </p:txBody>
      </p:sp>
      <p:sp>
        <p:nvSpPr>
          <p:cNvPr id="45" name="lane-note"/>
          <p:cNvSpPr>
            <a:spLocks noGrp="1"/>
          </p:cNvSpPr>
          <p:nvPr/>
        </p:nvSpPr>
        <p:spPr>
          <a:xfrm>
            <a:off x="914400" y="3276600"/>
            <a:ext cx="171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0">
                <a:solidFill>
                  <a:srgbClr val="5A6573"/>
                </a:solidFill>
              </a:defRPr>
            </a:pPr>
            <a:r>
              <a:rPr sz="1350" b="0">
                <a:solidFill>
                  <a:srgbClr val="5A6573"/>
                </a:solidFill>
              </a:rPr>
              <a:t>统一 padding → 短样本仍计算无效 token</a:t>
            </a:r>
            <a:endParaRPr sz="1350" b="0">
              <a:solidFill>
                <a:srgbClr val="5A6573"/>
              </a:solidFill>
            </a:endParaRPr>
          </a:p>
        </p:txBody>
      </p:sp>
      <p:sp>
        <p:nvSpPr>
          <p:cNvPr id="46" name="callout-ds9s5t-500"/>
          <p:cNvSpPr>
            <a:spLocks noGrp="1"/>
          </p:cNvSpPr>
          <p:nvPr/>
        </p:nvSpPr>
        <p:spPr>
          <a:xfrm>
            <a:off x="685800" y="4762500"/>
            <a:ext cx="10820400" cy="762000"/>
          </a:xfrm>
          <a:prstGeom prst="roundRect">
            <a:avLst>
              <a:gd name="adj" fmla="val 10000"/>
            </a:avLst>
          </a:prstGeom>
          <a:solidFill>
            <a:srgbClr val="FFF5E8"/>
          </a:solidFill>
          <a:ln w="9525">
            <a:solidFill>
              <a:srgbClr val="EE822F"/>
            </a:solidFill>
            <a:prstDash val="solid"/>
          </a:ln>
        </p:spPr>
      </p:sp>
      <p:sp>
        <p:nvSpPr>
          <p:cNvPr id="47" name="callout-text-ds9s5t-500"/>
          <p:cNvSpPr>
            <a:spLocks noGrp="1"/>
          </p:cNvSpPr>
          <p:nvPr/>
        </p:nvSpPr>
        <p:spPr>
          <a:xfrm>
            <a:off x="914400" y="4895850"/>
            <a:ext cx="1036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最大 response 长度相同，不代表每条样本都生成到上限。</a:t>
            </a:r>
            <a:endParaRPr sz="1425" b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3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从 padding 到 TND 变长注意力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5334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66948"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去 padding → 拼接 → 元数据 → TND → CANN FA v3 → 恢复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716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去 padding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保留有效 token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196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101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054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拼接 token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101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packed token 流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1534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439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8392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累计长度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439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offsets → VarlenMetadata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6858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763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3716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整理 Q/K/V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63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BSND → TND（T / N / D）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: 圆角 21"/>
          <p:cNvSpPr>
            <a:spLocks noGrp="1"/>
          </p:cNvSpPr>
          <p:nvPr/>
        </p:nvSpPr>
        <p:spPr>
          <a:xfrm>
            <a:off x="44196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6101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1054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CANN FA v3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6101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sparse_mode=7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: 圆角 25"/>
          <p:cNvSpPr>
            <a:spLocks noGrp="1"/>
          </p:cNvSpPr>
          <p:nvPr/>
        </p:nvSpPr>
        <p:spPr>
          <a:xfrm>
            <a:off x="81534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3439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8392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恢复结果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3439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offsets → jagged tensor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: 圆角 29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TND 减少 padding 计算，不改变单条样本 5120 token 上限。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2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拼接后，样本边界怎样保住？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838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9495"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TND 只描述布局；边界元数据决定每条序列独立执行 causal attention。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43A047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43A047"/>
                </a:solidFill>
                <a:latin typeface="Consolas"/>
                <a:ea typeface="Consolas"/>
                <a:cs typeface="Consolas"/>
              </a:rPr>
              <a:t>offsets</a:t>
            </a:r>
            <a:endParaRPr sz="1560" b="1">
              <a:solidFill>
                <a:srgbClr val="43A04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763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原始边界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决定 pack 与恢复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577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482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377DFF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377DFF"/>
                </a:solidFill>
                <a:latin typeface="Consolas"/>
                <a:ea typeface="Consolas"/>
                <a:cs typeface="Consolas"/>
              </a:rPr>
              <a:t>VarlenMetadata</a:t>
            </a:r>
            <a:endParaRPr sz="1560" b="1">
              <a:solidFill>
                <a:srgbClr val="377D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482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累计长度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482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告诉算子样本边界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2296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4201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F57C00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F57C00"/>
                </a:solidFill>
                <a:latin typeface="Consolas"/>
                <a:ea typeface="Consolas"/>
                <a:cs typeface="Consolas"/>
              </a:rPr>
              <a:t>sparse_mode=7</a:t>
            </a:r>
            <a:endParaRPr sz="1560" b="1">
              <a:solidFill>
                <a:srgbClr val="F57C0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4201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逐样本 causal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4201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阻止相邻样本互相可见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13716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EEF4FF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4325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packed token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4671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: 圆角 20"/>
          <p:cNvSpPr>
            <a:spLocks noGrp="1"/>
          </p:cNvSpPr>
          <p:nvPr/>
        </p:nvSpPr>
        <p:spPr>
          <a:xfrm>
            <a:off x="38862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F7EFFA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9471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CANN FA v3</a:t>
            </a:r>
            <a:endParaRPr sz="10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9817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: 圆角 23"/>
          <p:cNvSpPr>
            <a:spLocks noGrp="1"/>
          </p:cNvSpPr>
          <p:nvPr/>
        </p:nvSpPr>
        <p:spPr>
          <a:xfrm>
            <a:off x="64008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FFF3E5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4617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逐样本 attention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4963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: 圆角 26"/>
          <p:cNvSpPr>
            <a:spLocks noGrp="1"/>
          </p:cNvSpPr>
          <p:nvPr/>
        </p:nvSpPr>
        <p:spPr>
          <a:xfrm>
            <a:off x="89154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EDF7EC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9763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jagged log-prob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: 圆角 28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TND 是布局；边界元数据才定义每条序列。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0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/>
              <a:t>TorchTitan-NPU 怎样适配 Qwen3？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001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Converter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8669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855"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npu_rms_norm / npu_rope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35433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6576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Model spec</a:t>
            </a:r>
            <a:endParaRPr sz="10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7244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attn_type=varlen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: 圆角 11"/>
          <p:cNvSpPr>
            <a:spLocks noGrp="1"/>
          </p:cNvSpPr>
          <p:nvPr/>
        </p:nvSpPr>
        <p:spPr>
          <a:xfrm>
            <a:off x="64008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5151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Tensor layout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5819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BSND → TND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9258300" y="5372100"/>
            <a:ext cx="2552700" cy="472440"/>
          </a:xfrm>
          <a:prstGeom prst="roundRect">
            <a:avLst>
              <a:gd name="adj" fmla="val 967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372600" y="54483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模型语义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439400" y="5425440"/>
            <a:ext cx="12192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855"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层数、维度、词表不变</a:t>
            </a:r>
            <a:endParaRPr sz="102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191" y="1104900"/>
            <a:ext cx="8987619" cy="41529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2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可组合并行不是开关列表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838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765"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每种并行切不同维度；当前案例只启用 FSDP2，CP=1。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43A047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43A047"/>
                </a:solidFill>
                <a:latin typeface="Consolas"/>
                <a:ea typeface="Consolas"/>
                <a:cs typeface="Consolas"/>
              </a:rPr>
              <a:t>TorchTitan</a:t>
            </a:r>
            <a:endParaRPr sz="1560" b="1">
              <a:solidFill>
                <a:srgbClr val="43A04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763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FSDP2：切训练状态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参数、梯度、optimizer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577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482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377DFF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377DFF"/>
                </a:solidFill>
                <a:latin typeface="Consolas"/>
                <a:ea typeface="Consolas"/>
                <a:cs typeface="Consolas"/>
              </a:rPr>
              <a:t>TorchTitan-NPU</a:t>
            </a:r>
            <a:endParaRPr sz="1560" b="1">
              <a:solidFill>
                <a:srgbClr val="377D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482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TP / PP / EP：切计算结构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482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层内张量、模型层、MoE 专家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2296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4201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F57C00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F57C00"/>
                </a:solidFill>
                <a:latin typeface="Consolas"/>
                <a:ea typeface="Consolas"/>
                <a:cs typeface="Consolas"/>
              </a:rPr>
              <a:t>Wordle 本章</a:t>
            </a:r>
            <a:endParaRPr sz="1560" b="1">
              <a:solidFill>
                <a:srgbClr val="F57C0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4201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CP：切序列上下文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4201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本案例 CP=1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13716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EEF4FF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4325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状态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4671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: 圆角 20"/>
          <p:cNvSpPr>
            <a:spLocks noGrp="1"/>
          </p:cNvSpPr>
          <p:nvPr/>
        </p:nvSpPr>
        <p:spPr>
          <a:xfrm>
            <a:off x="38862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F7EFFA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9471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张量 / 层 / 专家</a:t>
            </a:r>
            <a:endParaRPr sz="10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9817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: 圆角 23"/>
          <p:cNvSpPr>
            <a:spLocks noGrp="1"/>
          </p:cNvSpPr>
          <p:nvPr/>
        </p:nvSpPr>
        <p:spPr>
          <a:xfrm>
            <a:off x="64008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FFF3E5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4617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序列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4963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: 圆角 26"/>
          <p:cNvSpPr>
            <a:spLocks noGrp="1"/>
          </p:cNvSpPr>
          <p:nvPr/>
        </p:nvSpPr>
        <p:spPr>
          <a:xfrm>
            <a:off x="89154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EDF7EC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9763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案例选择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: 圆角 28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并行维度要匹配主要瓶颈。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7" name="图片 4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/>
              <a:t>CP 的价值与当前两卡选择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953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CP 面向长序列容量，不是必然加速。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38300"/>
            <a:ext cx="4953000" cy="1943100"/>
          </a:xfrm>
          <a:prstGeom prst="roundRect">
            <a:avLst>
              <a:gd name="adj" fmla="val 2353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744980"/>
            <a:ext cx="4648200" cy="17297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启用条件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r>
              <a:t>激活或注意力显存限制序列长度</a:t>
            </a:r>
            <a:endParaRPr sz="1260"/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Q / KV heads 可被 CP degree 整除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重新规划 DP / TP / CP rank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19800" y="1371600"/>
            <a:ext cx="16764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111240" y="1402080"/>
            <a:ext cx="14935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维度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696200" y="1371600"/>
            <a:ext cx="21336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787640" y="1402080"/>
            <a:ext cx="19507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DP2 / CP1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829800" y="1371600"/>
            <a:ext cx="2133600" cy="41910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921240" y="1402080"/>
            <a:ext cx="19507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DP1 / CP2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019800" y="17907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111240" y="18211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主要切分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696200" y="17907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787640" y="18211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训练状态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829800" y="17907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921240" y="18211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序列上下文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019800" y="2324100"/>
            <a:ext cx="1676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111240" y="23545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收益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696200" y="23241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787640" y="23545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降低状态占用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829800" y="23241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921240" y="23545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分摊激活与注意力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019800" y="28575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111240" y="28879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通信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696200" y="28575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787640" y="28879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FSDP 集合通信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829800" y="28575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9921240" y="28879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额外 all-to-all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019800" y="3390900"/>
            <a:ext cx="1676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111240" y="34213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样本契约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696200" y="33909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7787640" y="34213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无需 CP 补齐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9829800" y="33909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9921240" y="34213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补齐、汇集、去 padding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019800" y="39243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111240" y="39547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本负载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7696200" y="39243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7787640" y="39547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两卡 DP2 / CP1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9829800" y="39243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9921240" y="39547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当前三步基线不启用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矩形: 圆角 43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CP2 会改变 DP shard 并增加 all-to-all；是否值得要在目标长度测量。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547116" y="2257425"/>
            <a:ext cx="3380899" cy="1524000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Part 3</a:t>
            </a:r>
            <a:endParaRPr sz="44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配置与运行</a:t>
            </a:r>
            <a:endParaRPr sz="32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验证</a:t>
            </a:r>
            <a:endParaRPr sz="32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620201" y="6130454"/>
            <a:ext cx="6461125" cy="245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等线 Light"/>
                <a:ea typeface="等线 Light"/>
                <a:cs typeface="等线 Light"/>
              </a:rPr>
              <a:t>https://gitcode.com/cann/cann-learning-hub/tree/master/tutorials/rl_training_pipeline/07_torchtitan_wordle_training</a:t>
            </a:r>
            <a:endParaRPr lang="en-US" altLang="zh-CN"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等线 Light"/>
              <a:ea typeface="等线 Light"/>
              <a:cs typeface="等线 Light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1 切换边界与接入契约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2 TorchTitan-NPU 能力</a:t>
            </a:r>
            <a:endParaRPr sz="2400"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Part 3 配置与运行验证</a:t>
            </a:r>
            <a:endParaRPr sz="2400" b="0" i="0" u="none" cap="none">
              <a:ln>
                <a:noFill/>
              </a:ln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CACACA"/>
                </a:solidFill>
                <a:latin typeface="微软雅黑"/>
                <a:ea typeface="微软雅黑"/>
                <a:cs typeface="微软雅黑"/>
              </a:rPr>
              <a:t>Part 4 评价与迁移</a:t>
            </a:r>
            <a:endParaRPr sz="2400" b="0" i="0" u="none" cap="none">
              <a:ln>
                <a:noFill/>
              </a:ln>
              <a:solidFill>
                <a:srgbClr val="CACACA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2" name="图片 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/>
              <a:t>独立环境与共享训练资产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85800" y="1295400"/>
            <a:ext cx="10820400" cy="800100"/>
          </a:xfrm>
          <a:prstGeom prst="roundRect">
            <a:avLst>
              <a:gd name="adj" fmla="val 5714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38200" y="1402080"/>
            <a:ext cx="10515600" cy="5867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80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44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后端依赖隔离，模型、数据和奖励复用前四章产物</a:t>
            </a:r>
            <a:endParaRPr sz="144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685800" y="25527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22960" y="26898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MODEL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362200" y="26670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5707" lnSpcReduction="20000"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Qwen3-1.7B</a:t>
            </a:r>
            <a:endParaRPr sz="11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22960" y="31013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Wordle 权重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3505200" y="25527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642360" y="26898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CONFIG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81600" y="26670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.venv</a:t>
            </a:r>
            <a:endParaRPr sz="11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642360" y="31013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独立 Python 环境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6324600" y="25527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461760" y="26898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WEIGHTS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001000" y="26670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62437"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runtime_sources</a:t>
            </a:r>
            <a:endParaRPr sz="11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  <a:p>
            <a:pPr algn="r">
              <a:lnSpc>
                <a:spcPct val="108000"/>
              </a:lnSpc>
              <a:buNone/>
              <a:defRPr sz="14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固定并适配源码</a:t>
            </a:r>
            <a:endParaRPr sz="11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61760" y="31013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权重文件完整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: 圆角 18"/>
          <p:cNvSpPr>
            <a:spLocks noGrp="1"/>
          </p:cNvSpPr>
          <p:nvPr/>
        </p:nvSpPr>
        <p:spPr>
          <a:xfrm>
            <a:off x="9144000" y="25527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9281160" y="26898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TRAIN_DATA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10820400" y="26670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2000</a:t>
            </a:r>
            <a:endParaRPr sz="114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281160" y="31013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wordle_train.parquet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: 圆角 22"/>
          <p:cNvSpPr>
            <a:spLocks noGrp="1"/>
          </p:cNvSpPr>
          <p:nvPr/>
        </p:nvSpPr>
        <p:spPr>
          <a:xfrm>
            <a:off x="685800" y="37338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22960" y="38709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TEST_DATA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362200" y="38481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20</a:t>
            </a:r>
            <a:endParaRPr sz="114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22960" y="42824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wordle_test.parquet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: 圆角 26"/>
          <p:cNvSpPr>
            <a:spLocks noGrp="1"/>
          </p:cNvSpPr>
          <p:nvPr/>
        </p:nvSpPr>
        <p:spPr>
          <a:xfrm>
            <a:off x="3505200" y="37338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3642360" y="38709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SEED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5181600" y="38481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42</a:t>
            </a:r>
            <a:endParaRPr sz="114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3642360" y="42824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可复现生成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: 圆角 30"/>
          <p:cNvSpPr>
            <a:spLocks noGrp="1"/>
          </p:cNvSpPr>
          <p:nvPr/>
        </p:nvSpPr>
        <p:spPr>
          <a:xfrm>
            <a:off x="6324600" y="37338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461760" y="38709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REWARD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001000" y="38481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3099"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Wordle reward</a:t>
            </a:r>
            <a:endParaRPr sz="114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461760" y="42824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语义不变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: 圆角 34"/>
          <p:cNvSpPr>
            <a:spLocks noGrp="1"/>
          </p:cNvSpPr>
          <p:nvPr/>
        </p:nvSpPr>
        <p:spPr>
          <a:xfrm>
            <a:off x="9144000" y="3733800"/>
            <a:ext cx="2552700" cy="952500"/>
          </a:xfrm>
          <a:prstGeom prst="roundRect">
            <a:avLst>
              <a:gd name="adj" fmla="val 4800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9281160" y="387096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960" b="1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REUSE</a:t>
            </a:r>
            <a:endParaRPr sz="960" b="1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10820400" y="3848100"/>
            <a:ext cx="7239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42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复用</a:t>
            </a:r>
            <a:endParaRPr sz="114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9281160" y="4282440"/>
            <a:ext cx="22783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2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已有资产跳过准备</a:t>
            </a:r>
            <a:endParaRPr sz="102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: 圆角 38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独立 .venv + runtime_sources；资产层继续共享。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3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DRY_RUN：训练前先检查四组证据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5334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435"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只展开最终命令，不启动 Hydra 或占用 NPU。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716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后端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model_engine=torchtitan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196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101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054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拓扑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101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DP shard 2 · CP 1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1534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439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8392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特性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439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offload · reshard · varlen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6858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763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3716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RL 语义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63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GRPO · vLLM · AgentLoop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: 圆角 21"/>
          <p:cNvSpPr>
            <a:spLocks noGrp="1"/>
          </p:cNvSpPr>
          <p:nvPr/>
        </p:nvSpPr>
        <p:spPr>
          <a:xfrm>
            <a:off x="44196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6101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1054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资产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6101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model + parquet + reward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: 圆角 25"/>
          <p:cNvSpPr>
            <a:spLocks noGrp="1"/>
          </p:cNvSpPr>
          <p:nvPr/>
        </p:nvSpPr>
        <p:spPr>
          <a:xfrm>
            <a:off x="81534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3439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8392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长度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3439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1024 + 4096 = 5120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: 圆角 29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DRY_RUN 证明参数拼接，不证明初始化成功。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7" name="图片 3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 b="0" i="0" u="none" cap="none">
                <a:ln>
                  <a:noFill/>
                </a:ln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3 个 step 中必须看到哪些阶段？</a:t>
            </a:r>
            <a:endParaRPr sz="258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858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382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初始化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382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TorchTitan FSDP2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NPU varlen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667000" y="224790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680" b="1" i="0" u="none" cap="none">
              <a:ln>
                <a:noFill/>
              </a:ln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29337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0861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 i="0" u="none" cap="none">
              <a:ln>
                <a:noFill/>
              </a:ln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0861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rollout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0861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vLLM + 六轮 AgentLoop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914900" y="224790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680" b="1" i="0" u="none" cap="none">
              <a:ln>
                <a:noFill/>
              </a:ln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51816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53340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3340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reward / log-prob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3340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reward · old · ref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162800" y="224790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680" b="1" i="0" u="none" cap="none">
              <a:ln>
                <a:noFill/>
              </a:ln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: 圆角 19"/>
          <p:cNvSpPr>
            <a:spLocks noGrp="1"/>
          </p:cNvSpPr>
          <p:nvPr/>
        </p:nvSpPr>
        <p:spPr>
          <a:xfrm>
            <a:off x="74295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5819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 i="0" u="none" cap="none">
              <a:ln>
                <a:noFill/>
              </a:ln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5819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Actor update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5819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forward · backward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optimizer step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410700" y="224790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680" b="1" i="0" u="none" cap="none">
              <a:ln>
                <a:noFill/>
              </a:ln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: 圆角 24"/>
          <p:cNvSpPr>
            <a:spLocks noGrp="1"/>
          </p:cNvSpPr>
          <p:nvPr/>
        </p:nvSpPr>
        <p:spPr>
          <a:xfrm>
            <a:off x="96774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98298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 i="0" u="none" cap="none">
              <a:ln>
                <a:noFill/>
              </a:ln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8298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weight sync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8298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StateDictAdapter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update_weights()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: 圆角 28"/>
          <p:cNvSpPr>
            <a:spLocks noGrp="1"/>
          </p:cNvSpPr>
          <p:nvPr/>
        </p:nvSpPr>
        <p:spPr>
          <a:xfrm>
            <a:off x="1295400" y="4229100"/>
            <a:ext cx="9601200" cy="990600"/>
          </a:xfrm>
          <a:prstGeom prst="roundRect">
            <a:avLst>
              <a:gd name="adj" fmla="val 4615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600200" y="4419600"/>
            <a:ext cx="1371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9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成功判据</a:t>
            </a:r>
            <a:endParaRPr sz="15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3124200" y="4381500"/>
            <a:ext cx="3810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Consolas"/>
                <a:ea typeface="Consolas"/>
                <a:cs typeface="Consolas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Consolas"/>
                <a:ea typeface="Consolas"/>
                <a:cs typeface="Consolas"/>
              </a:rPr>
              <a:t>3/3 + loss / grad / lr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635750" y="4356100"/>
            <a:ext cx="3429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下一步继续 rollout</a:t>
            </a:r>
            <a:endParaRPr sz="138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2971800" y="4876800"/>
            <a:ext cx="624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初始化 → 生成 → 训练 → 同步</a:t>
            </a:r>
            <a:endParaRPr sz="126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: 圆角 33"/>
          <p:cNvSpPr>
            <a:spLocks noGrp="1"/>
          </p:cNvSpPr>
          <p:nvPr/>
        </p:nvSpPr>
        <p:spPr>
          <a:xfrm>
            <a:off x="1371600" y="54864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1638300" y="54864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每一步都回到同一条 RL 数据流；3/3 才算完成。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7" name="图片 4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/>
              <a:t>三步训练证明什么，也不证明什么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953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它是集成冒烟测试，不是收敛或性能实验。</a:t>
            </a:r>
            <a:endParaRPr sz="17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38300"/>
            <a:ext cx="4953000" cy="1943100"/>
          </a:xfrm>
          <a:prstGeom prst="roundRect">
            <a:avLst>
              <a:gd name="adj" fmla="val 2353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744980"/>
            <a:ext cx="4648200" cy="17297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TOTAL_TRAINING_STEPS=3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r>
              <a:t>SAVE_FREQ=-1</a:t>
            </a:r>
            <a:endParaRPr sz="1260"/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TEST_FREQ=-1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r>
              <a:t>保留训前验证</a:t>
            </a:r>
            <a:endParaRPr sz="1260"/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sz="126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不讨论 checkpoint 与长期趋势</a:t>
            </a:r>
            <a:endParaRPr sz="126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19800" y="1371600"/>
            <a:ext cx="16764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111240" y="1402080"/>
            <a:ext cx="14935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检查项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696200" y="1371600"/>
            <a:ext cx="2133600" cy="419100"/>
          </a:xfrm>
          <a:prstGeom prst="rect">
            <a:avLst/>
          </a:prstGeom>
          <a:solidFill>
            <a:srgbClr val="262626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787640" y="1402080"/>
            <a:ext cx="19507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可以证明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829800" y="1371600"/>
            <a:ext cx="2133600" cy="41910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921240" y="1402080"/>
            <a:ext cx="1950720" cy="3581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仍需长期实验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019800" y="17907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111240" y="18211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Engine 接入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696200" y="17907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787640" y="18211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3/3 完成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829800" y="17907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921240" y="18211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长期收敛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019800" y="2324100"/>
            <a:ext cx="1676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111240" y="23545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计算路径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696200" y="23241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787640" y="23545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FSDP2 / TND 日志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829800" y="23241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921240" y="23545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性能一定提升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019800" y="28575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111240" y="28879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状态链路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696200" y="28575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787640" y="28879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权重同步成功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829800" y="28575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9921240" y="28879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checkpoint 恢复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019800" y="3390900"/>
            <a:ext cx="1676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111240" y="34213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RL 闭环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696200" y="33909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7787640" y="34213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rollout → update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9829800" y="3390900"/>
            <a:ext cx="2133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9921240" y="34213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泛化能力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019800" y="3924300"/>
            <a:ext cx="16764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111240" y="3954780"/>
            <a:ext cx="14935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指标输出</a:t>
            </a:r>
            <a:endParaRPr sz="1080" b="1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7696200" y="39243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7787640" y="39547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8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loss / grad / lr</a:t>
            </a:r>
            <a:endParaRPr sz="108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9829800" y="3924300"/>
            <a:ext cx="2133600" cy="5334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9921240" y="3954780"/>
            <a:ext cx="195072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稳定趋势</a:t>
            </a:r>
            <a:endParaRPr sz="1080" b="1"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矩形: 圆角 43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三步是集成冒烟测试，不是性能或收敛结论。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547116" y="2257425"/>
            <a:ext cx="3380899" cy="1524000"/>
          </a:xfrm>
          <a:prstGeom prst="rect">
            <a:avLst/>
          </a:prstGeom>
          <a:solidFill>
            <a:srgbClr val="FFFFFF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Part 4</a:t>
            </a:r>
            <a:endParaRPr sz="44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评价结果与</a:t>
            </a:r>
            <a:endParaRPr sz="32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u="none" cap="none">
                <a:ln>
                  <a:noFill/>
                </a:ln>
                <a:solidFill>
                  <a:srgbClr val="DDDDDD">
                    <a:lumMod val="50000"/>
                  </a:srgbClr>
                </a:solidFill>
                <a:latin typeface="微软雅黑"/>
                <a:ea typeface="微软雅黑"/>
                <a:cs typeface="微软雅黑"/>
              </a:rPr>
              <a:t>迁移方法</a:t>
            </a:r>
            <a:endParaRPr sz="3200" b="0" i="0" u="none" cap="none">
              <a:ln>
                <a:noFill/>
              </a:ln>
              <a:solidFill>
                <a:srgbClr val="DDDDDD">
                  <a:lumMod val="5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í$ľidè"/>
          <p:cNvSpPr>
            <a:spLocks noGrp="1"/>
          </p:cNvSpPr>
          <p:nvPr/>
        </p:nv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none" w="med" len="med"/>
          </a:ln>
        </p:spPr>
      </p:sp>
      <p:pic>
        <p:nvPicPr>
          <p:cNvPr id="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>
            <a:spLocks noGrp="1"/>
          </p:cNvSpPr>
          <p:nvPr/>
        </p:nvSpPr>
        <p:spPr>
          <a:xfrm>
            <a:off x="620201" y="6130454"/>
            <a:ext cx="6690995" cy="245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000" b="0" i="0" u="none" cap="none">
                <a:ln>
                  <a:noFill/>
                </a:ln>
                <a:solidFill>
                  <a:prstClr val="white">
                    <a:lumMod val="50000"/>
                  </a:prstClr>
                </a:solidFill>
                <a:latin typeface="等线 Light"/>
                <a:ea typeface="等线 Light"/>
                <a:cs typeface="等线 Light"/>
              </a:rPr>
              <a:t>https://gitcode.com/cann/cann-learning-hub/tree/master/tutorials/rl_training_pipeline/08_validation_and_troubleshooting</a:t>
            </a:r>
            <a:endParaRPr lang="en-US" altLang="zh-CN" sz="1000" b="0" i="0" u="none" cap="none">
              <a:ln>
                <a:noFill/>
              </a:ln>
              <a:solidFill>
                <a:prstClr val="white">
                  <a:lumMod val="50000"/>
                </a:prstClr>
              </a:solidFill>
              <a:latin typeface="等线 Light"/>
              <a:ea typeface="等线 Light"/>
              <a:cs typeface="等线 Light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57694" y="1530876"/>
            <a:ext cx="4587547" cy="596075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BFBFBF"/>
                </a:solidFill>
                <a:latin typeface="微软雅黑"/>
                <a:ea typeface="微软雅黑"/>
                <a:cs typeface="微软雅黑"/>
              </a:rPr>
              <a:t>Part 1 切换边界与接入契约</a:t>
            </a:r>
            <a:endParaRPr sz="2400" b="0" i="0" u="none" cap="none">
              <a:ln>
                <a:noFill/>
              </a:ln>
              <a:solidFill>
                <a:srgbClr val="BFBFB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157694" y="2680975"/>
            <a:ext cx="4587549" cy="591795"/>
          </a:xfrm>
          <a:prstGeom prst="rect">
            <a:avLst/>
          </a:prstGeom>
          <a:solidFill>
            <a:srgbClr val="FFFFFF">
              <a:lumMod val="95000"/>
            </a:srgbClr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FFFFFF">
                    <a:lumMod val="75000"/>
                  </a:srgbClr>
                </a:solidFill>
                <a:latin typeface="微软雅黑"/>
                <a:ea typeface="微软雅黑"/>
                <a:cs typeface="微软雅黑"/>
              </a:rPr>
              <a:t>Part 2 TorchTitan-NPU 能力</a:t>
            </a:r>
            <a:endParaRPr sz="2400">
              <a:solidFill>
                <a:srgbClr val="FFFFFF">
                  <a:lumMod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57694" y="3712434"/>
            <a:ext cx="4587551" cy="587513"/>
          </a:xfrm>
          <a:prstGeom prst="rect">
            <a:avLst/>
          </a:prstGeom>
          <a:solidFill>
            <a:srgbClr val="F2F2F2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srgbClr val="C2C2C2"/>
                </a:solidFill>
                <a:latin typeface="微软雅黑"/>
                <a:ea typeface="微软雅黑"/>
                <a:cs typeface="微软雅黑"/>
              </a:rPr>
              <a:t>Part 3 配置与运行验证</a:t>
            </a:r>
            <a:endParaRPr sz="2400" b="0" i="0" u="none" cap="none">
              <a:ln>
                <a:noFill/>
              </a:ln>
              <a:solidFill>
                <a:srgbClr val="C2C2C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157694" y="4739611"/>
            <a:ext cx="4587553" cy="587513"/>
          </a:xfrm>
          <a:prstGeom prst="rect">
            <a:avLst/>
          </a:prstGeom>
          <a:solidFill>
            <a:srgbClr val="C00000"/>
          </a:solidFill>
          <a:ln w="9525" cmpd="sng">
            <a:solidFill>
              <a:srgbClr val="FFFFFF">
                <a:lumMod val="65000"/>
              </a:srgbClr>
            </a:solidFill>
            <a:prstDash val="solid"/>
          </a:ln>
        </p:spPr>
        <p:txBody>
          <a:bodyPr rot="0" spcFirstLastPara="0" vert="horz" wrap="square" lIns="91440" tIns="45720" rIns="91440" bIns="4572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 cap="none">
                <a:ln>
                  <a:noFill/>
                </a:ln>
                <a:solidFill>
                  <a:prstClr val="white"/>
                </a:solidFill>
                <a:latin typeface="微软雅黑"/>
                <a:ea typeface="微软雅黑"/>
                <a:cs typeface="微软雅黑"/>
              </a:rPr>
              <a:t>Part 4 评价与迁移</a:t>
            </a:r>
            <a:endParaRPr sz="2400" b="0" i="0" u="none" cap="none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3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训练后端切换的六步方法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5334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9702"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把一次案例压缩成可以迁移到其他任务的检查顺序。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716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确定范围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保留任务语义，切 Actor / Ref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196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101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054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选择引擎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101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model_engine=torchtitan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153400" y="16764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343900" y="18440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839200" y="18288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映射配置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43900" y="23622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DeviceMesh · FSDP2 · offload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6858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763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3716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接通计算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63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packed token → TND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: 圆角 21"/>
          <p:cNvSpPr>
            <a:spLocks noGrp="1"/>
          </p:cNvSpPr>
          <p:nvPr/>
        </p:nvSpPr>
        <p:spPr>
          <a:xfrm>
            <a:off x="44196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6101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1054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接通状态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6101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分片状态 → vLLM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: 圆角 25"/>
          <p:cNvSpPr>
            <a:spLocks noGrp="1"/>
          </p:cNvSpPr>
          <p:nvPr/>
        </p:nvSpPr>
        <p:spPr>
          <a:xfrm>
            <a:off x="8153400" y="3238500"/>
            <a:ext cx="3429000" cy="125730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343900" y="3406140"/>
            <a:ext cx="4191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50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839200" y="3390900"/>
            <a:ext cx="2438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运行验证</a:t>
            </a:r>
            <a:endParaRPr sz="150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343900" y="3924300"/>
            <a:ext cx="3048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DRY_RUN → 3 step</a:t>
            </a:r>
            <a:endParaRPr sz="1140"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: 圆角 29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计算接口与状态接口都接通，切换才真正完成。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7" name="图片 3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 b="0" i="0" u="none" cap="none">
                <a:ln>
                  <a:noFill/>
                </a:ln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按“最后一个成功阶段”定位问题</a:t>
            </a:r>
            <a:endParaRPr sz="258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858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382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环境 / DRY_RUN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382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版本、入口、资产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667000" y="224790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680" b="1" i="0" u="none" cap="none">
              <a:ln>
                <a:noFill/>
              </a:ln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29337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0861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500" b="1" i="0" u="none" cap="none">
              <a:ln>
                <a:noFill/>
              </a:ln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0861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rollout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0861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vLLM、长度、AgentLoop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914900" y="224790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680" b="1" i="0" u="none" cap="none">
              <a:ln>
                <a:noFill/>
              </a:ln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51816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53340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50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3340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log-prob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3340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TND、offsets、NPU 算子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162800" y="224790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680" b="1" i="0" u="none" cap="none">
              <a:ln>
                <a:noFill/>
              </a:ln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: 圆角 19"/>
          <p:cNvSpPr>
            <a:spLocks noGrp="1"/>
          </p:cNvSpPr>
          <p:nvPr/>
        </p:nvSpPr>
        <p:spPr>
          <a:xfrm>
            <a:off x="74295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F7EFFA"/>
          </a:solidFill>
          <a:ln w="9525">
            <a:solidFill>
              <a:srgbClr val="8E44AD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5819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500" b="1" i="0" u="none" cap="none">
              <a:ln>
                <a:noFill/>
              </a:ln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5819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Actor update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5819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FSDP2、offload、batch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410700" y="224790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0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sz="1680" b="1" i="0" u="none" cap="none">
                <a:ln>
                  <a:noFill/>
                </a:ln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680" b="1" i="0" u="none" cap="none">
              <a:ln>
                <a:noFill/>
              </a:ln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: 圆角 24"/>
          <p:cNvSpPr>
            <a:spLocks noGrp="1"/>
          </p:cNvSpPr>
          <p:nvPr/>
        </p:nvSpPr>
        <p:spPr>
          <a:xfrm>
            <a:off x="9677400" y="1333500"/>
            <a:ext cx="1943100" cy="2400300"/>
          </a:xfrm>
          <a:prstGeom prst="roundRect">
            <a:avLst>
              <a:gd name="adj" fmla="val 2353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9829800" y="1524000"/>
            <a:ext cx="381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500" b="1" i="0" u="none" cap="none">
              <a:ln>
                <a:noFill/>
              </a:ln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829800" y="2019300"/>
            <a:ext cx="1638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440" b="1" i="0" u="none" cap="none">
                <a:ln>
                  <a:noFill/>
                </a:ln>
                <a:solidFill>
                  <a:srgbClr val="26262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weight sync</a:t>
            </a:r>
            <a:endParaRPr sz="1440" b="1" i="0" u="none" cap="none">
              <a:ln>
                <a:noFill/>
              </a:ln>
              <a:solidFill>
                <a:srgbClr val="262626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829800" y="2628900"/>
            <a:ext cx="16383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参数名、DTensor、update_weights()</a:t>
            </a:r>
            <a:endParaRPr sz="114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: 圆角 28"/>
          <p:cNvSpPr>
            <a:spLocks noGrp="1"/>
          </p:cNvSpPr>
          <p:nvPr/>
        </p:nvSpPr>
        <p:spPr>
          <a:xfrm>
            <a:off x="1295400" y="4229100"/>
            <a:ext cx="9601200" cy="990600"/>
          </a:xfrm>
          <a:prstGeom prst="roundRect">
            <a:avLst>
              <a:gd name="adj" fmla="val 4615"/>
            </a:avLst>
          </a:prstGeom>
          <a:solidFill>
            <a:srgbClr val="F5F5F5"/>
          </a:solidFill>
          <a:ln w="9525">
            <a:solidFill>
              <a:srgbClr val="D4D4D4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600200" y="4419600"/>
            <a:ext cx="13716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9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5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定位原则</a:t>
            </a:r>
            <a:endParaRPr sz="15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3124200" y="4381500"/>
            <a:ext cx="3810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Consolas"/>
                <a:ea typeface="Consolas"/>
                <a:cs typeface="Consolas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Consolas"/>
                <a:ea typeface="Consolas"/>
                <a:cs typeface="Consolas"/>
              </a:rPr>
              <a:t>先找最后成功阶段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635750" y="4356100"/>
            <a:ext cx="3429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再看下一阶段第一条异常</a:t>
            </a:r>
            <a:endParaRPr sz="138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2971800" y="4876800"/>
            <a:ext cx="624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保持 batch、长度与 rollout 不变</a:t>
            </a:r>
            <a:endParaRPr sz="126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: 圆角 33"/>
          <p:cNvSpPr>
            <a:spLocks noGrp="1"/>
          </p:cNvSpPr>
          <p:nvPr/>
        </p:nvSpPr>
        <p:spPr>
          <a:xfrm>
            <a:off x="1371600" y="54864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1638300" y="54864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分阶段排查比从头重查更快。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2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solidFill>
                  <a:srgbClr val="111111"/>
                </a:solidFill>
                <a:latin typeface="微软雅黑"/>
                <a:ea typeface="微软雅黑"/>
                <a:cs typeface="微软雅黑"/>
              </a:rPr>
              <a:t>为什么不能只看总 step 耗时？</a:t>
            </a:r>
            <a:endParaRPr sz="2580"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838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765"/>
          </a:bodyPr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rollout 长度会波动，后端直接负责的阶段要单独量。</a:t>
            </a:r>
            <a:endParaRPr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43A047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43A047"/>
                </a:solidFill>
                <a:latin typeface="Consolas"/>
                <a:ea typeface="Consolas"/>
                <a:cs typeface="Consolas"/>
              </a:rPr>
              <a:t>训练阶段</a:t>
            </a:r>
            <a:endParaRPr sz="1560" b="1">
              <a:solidFill>
                <a:srgbClr val="43A04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763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timing_s/update_actor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763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前反向 + optimizer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44577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482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377DFF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377DFF"/>
                </a:solidFill>
                <a:latin typeface="Consolas"/>
                <a:ea typeface="Consolas"/>
                <a:cs typeface="Consolas"/>
              </a:rPr>
              <a:t>按 token</a:t>
            </a:r>
            <a:endParaRPr sz="1560" b="1">
              <a:solidFill>
                <a:srgbClr val="377D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482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878"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timing_per_token_ms/update_actor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482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消除有效 token 差异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8229600" y="1905000"/>
            <a:ext cx="3467100" cy="1676400"/>
          </a:xfrm>
          <a:prstGeom prst="roundRect">
            <a:avLst>
              <a:gd name="adj" fmla="val 2727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420100" y="21336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F57C00"/>
                </a:solidFill>
                <a:latin typeface="Consolas"/>
                <a:ea typeface="Consolas"/>
                <a:cs typeface="Consolas"/>
              </a:defRPr>
            </a:pPr>
            <a:r>
              <a:rPr sz="1560" b="1">
                <a:solidFill>
                  <a:srgbClr val="F57C00"/>
                </a:solidFill>
                <a:latin typeface="Consolas"/>
                <a:ea typeface="Consolas"/>
                <a:cs typeface="Consolas"/>
              </a:rPr>
              <a:t>前向路径</a:t>
            </a:r>
            <a:endParaRPr sz="1560" b="1">
              <a:solidFill>
                <a:srgbClr val="F57C0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420100" y="2667000"/>
            <a:ext cx="3086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44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timing_s/old_log_prob + ref</a:t>
            </a:r>
            <a:endParaRPr sz="1440" b="1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420100" y="3124200"/>
            <a:ext cx="30861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4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观察 Actor / Ref</a:t>
            </a:r>
            <a:endParaRPr sz="1140"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: 圆角 17"/>
          <p:cNvSpPr>
            <a:spLocks noGrp="1"/>
          </p:cNvSpPr>
          <p:nvPr/>
        </p:nvSpPr>
        <p:spPr>
          <a:xfrm>
            <a:off x="13716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EEF4FF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4325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总 step</a:t>
            </a:r>
            <a:endParaRPr sz="1080" b="1"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4671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: 圆角 20"/>
          <p:cNvSpPr>
            <a:spLocks noGrp="1"/>
          </p:cNvSpPr>
          <p:nvPr/>
        </p:nvSpPr>
        <p:spPr>
          <a:xfrm>
            <a:off x="38862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F7EFFA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9471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8E44AD"/>
                </a:solidFill>
                <a:latin typeface="微软雅黑"/>
                <a:ea typeface="微软雅黑"/>
                <a:cs typeface="微软雅黑"/>
              </a:rPr>
              <a:t>拆分阶段</a:t>
            </a:r>
            <a:endParaRPr sz="1080" b="1">
              <a:solidFill>
                <a:srgbClr val="8E44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9817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: 圆角 23"/>
          <p:cNvSpPr>
            <a:spLocks noGrp="1"/>
          </p:cNvSpPr>
          <p:nvPr/>
        </p:nvSpPr>
        <p:spPr>
          <a:xfrm>
            <a:off x="64008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FFF3E5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4617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按 token 归一化</a:t>
            </a:r>
            <a:endParaRPr sz="1080" b="1"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496300" y="4381500"/>
            <a:ext cx="3429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 lnSpcReduction="10000"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A3A3A3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A3A3A3"/>
                </a:solidFill>
                <a:latin typeface="微软雅黑"/>
                <a:ea typeface="微软雅黑"/>
                <a:cs typeface="微软雅黑"/>
              </a:rPr>
              <a:t>→</a:t>
            </a:r>
            <a:endParaRPr b="1">
              <a:solidFill>
                <a:srgbClr val="A3A3A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: 圆角 26"/>
          <p:cNvSpPr>
            <a:spLocks noGrp="1"/>
          </p:cNvSpPr>
          <p:nvPr/>
        </p:nvSpPr>
        <p:spPr>
          <a:xfrm>
            <a:off x="8915400" y="4305300"/>
            <a:ext cx="2057400" cy="472440"/>
          </a:xfrm>
          <a:prstGeom prst="roundRect">
            <a:avLst>
              <a:gd name="adj" fmla="val 9677"/>
            </a:avLst>
          </a:prstGeom>
          <a:solidFill>
            <a:srgbClr val="EDF7EC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976360" y="4305300"/>
            <a:ext cx="193548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1"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显存 / packed 容量</a:t>
            </a:r>
            <a:endParaRPr sz="1080" b="1"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: 圆角 28"/>
          <p:cNvSpPr>
            <a:spLocks noGrp="1"/>
          </p:cNvSpPr>
          <p:nvPr/>
        </p:nvSpPr>
        <p:spPr>
          <a:xfrm>
            <a:off x="1371600" y="5257800"/>
            <a:ext cx="9448800" cy="487680"/>
          </a:xfrm>
          <a:prstGeom prst="roundRect">
            <a:avLst>
              <a:gd name="adj" fmla="val 9375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638300" y="5257800"/>
            <a:ext cx="8915400" cy="487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结合峰值显存与可支持的 packed token 容量。</a:t>
            </a:r>
            <a:endParaRPr sz="1500" b="1"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0" name="图片 10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77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220"/>
              <a:t>课程开发阶段的对比结果</a:t>
            </a:r>
            <a:endParaRPr sz="222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953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三组路径（同一负载）</a:t>
            </a:r>
            <a:endParaRPr sz="174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477000" y="1104900"/>
            <a:ext cx="4953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1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74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读数边界</a:t>
            </a:r>
            <a:endParaRPr sz="174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85800" y="1562100"/>
            <a:ext cx="762000" cy="365760"/>
          </a:xfrm>
          <a:prstGeom prst="rect">
            <a:avLst/>
          </a:prstGeom>
          <a:solidFill>
            <a:srgbClr val="43A047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77240" y="1592580"/>
            <a:ext cx="5791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路径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447800" y="1562100"/>
            <a:ext cx="990600" cy="365760"/>
          </a:xfrm>
          <a:prstGeom prst="rect">
            <a:avLst/>
          </a:prstGeom>
          <a:solidFill>
            <a:srgbClr val="43A047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539240" y="1592580"/>
            <a:ext cx="8077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s/step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2438400" y="1562100"/>
            <a:ext cx="990600" cy="365760"/>
          </a:xfrm>
          <a:prstGeom prst="rect">
            <a:avLst/>
          </a:prstGeom>
          <a:solidFill>
            <a:srgbClr val="43A047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2529840" y="1592580"/>
            <a:ext cx="8077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Actor s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429000" y="1562100"/>
            <a:ext cx="1143000" cy="365760"/>
          </a:xfrm>
          <a:prstGeom prst="rect">
            <a:avLst/>
          </a:prstGeom>
          <a:solidFill>
            <a:srgbClr val="43A047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3520440" y="1592580"/>
            <a:ext cx="9601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ms/token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572000" y="1562100"/>
            <a:ext cx="990600" cy="365760"/>
          </a:xfrm>
          <a:prstGeom prst="rect">
            <a:avLst/>
          </a:prstGeom>
          <a:solidFill>
            <a:srgbClr val="43A047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663440" y="1592580"/>
            <a:ext cx="8077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token/s/卡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85800" y="1927860"/>
            <a:ext cx="762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77240" y="19583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Verl FSDP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447800" y="19278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539240" y="19583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703.9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438400" y="19278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2529840" y="19583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244.5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3429000" y="1927860"/>
            <a:ext cx="1143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520440" y="19583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0.1252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572000" y="19278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663440" y="19583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1387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85800" y="2423160"/>
            <a:ext cx="762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77240" y="24536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6238"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FSDP2 +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TND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DP2 · CP1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447800" y="2423160"/>
            <a:ext cx="9906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539240" y="24536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670.3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2438400" y="2423160"/>
            <a:ext cx="9906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2529840" y="24536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198.7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3429000" y="2423160"/>
            <a:ext cx="1143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3520440" y="24536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0.1020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4572000" y="2423160"/>
            <a:ext cx="9906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4663440" y="24536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1453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85800" y="2918460"/>
            <a:ext cx="762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777240" y="29489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6238"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TND + CP2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DP1 · CP2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1447800" y="29184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1539240" y="29489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693.6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2438400" y="29184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2529840" y="29489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215.4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3429000" y="2918460"/>
            <a:ext cx="1143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3520440" y="29489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0.1122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4572000" y="29184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4663440" y="29489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1384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685800" y="3413760"/>
            <a:ext cx="762000" cy="49530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777240" y="34442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6238"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相对初阶（仅作本次观察）</a:t>
            </a:r>
            <a:endParaRPr sz="102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1447800" y="3413760"/>
            <a:ext cx="990600" cy="49530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1539240" y="34442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-4.8%</a:t>
            </a:r>
            <a:endParaRPr sz="102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2438400" y="3413760"/>
            <a:ext cx="990600" cy="49530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2529840" y="34442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-18.7%</a:t>
            </a:r>
            <a:endParaRPr sz="102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3429000" y="3413760"/>
            <a:ext cx="1143000" cy="49530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3520440" y="34442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-18.5%</a:t>
            </a:r>
            <a:endParaRPr sz="102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4572000" y="3413760"/>
            <a:ext cx="990600" cy="495300"/>
          </a:xfrm>
          <a:prstGeom prst="rect">
            <a:avLst/>
          </a:prstGeom>
          <a:solidFill>
            <a:srgbClr val="EDF7EC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4663440" y="34442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2E7D3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2E7D32"/>
                </a:solidFill>
                <a:latin typeface="微软雅黑"/>
                <a:ea typeface="微软雅黑"/>
                <a:cs typeface="微软雅黑"/>
              </a:rPr>
              <a:t>+4.8%</a:t>
            </a:r>
            <a:endParaRPr sz="1020" b="1" i="0" u="none" cap="none">
              <a:ln>
                <a:noFill/>
              </a:ln>
              <a:solidFill>
                <a:srgbClr val="2E7D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6477000" y="1562100"/>
            <a:ext cx="762000" cy="36576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6568440" y="1592580"/>
            <a:ext cx="5791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条件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7239000" y="1562100"/>
            <a:ext cx="990600" cy="36576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7330440" y="1592580"/>
            <a:ext cx="8077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值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8229600" y="1562100"/>
            <a:ext cx="990600" cy="36576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8321040" y="1592580"/>
            <a:ext cx="8077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条件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9220200" y="1562100"/>
            <a:ext cx="1143000" cy="36576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9311640" y="1592580"/>
            <a:ext cx="9601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值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10363200" y="1562100"/>
            <a:ext cx="990600" cy="365760"/>
          </a:xfrm>
          <a:prstGeom prst="rect">
            <a:avLst/>
          </a:prstGeom>
          <a:solidFill>
            <a:srgbClr val="E6001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10454640" y="1592580"/>
            <a:ext cx="8077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  <a:endParaRPr sz="1020" b="1" i="0" u="none" cap="none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7" name="矩形 66"/>
          <p:cNvSpPr>
            <a:spLocks noGrp="1"/>
          </p:cNvSpPr>
          <p:nvPr/>
        </p:nvSpPr>
        <p:spPr>
          <a:xfrm>
            <a:off x="6477000" y="1927860"/>
            <a:ext cx="762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68" name="矩形 67"/>
          <p:cNvSpPr>
            <a:spLocks noGrp="1"/>
          </p:cNvSpPr>
          <p:nvPr/>
        </p:nvSpPr>
        <p:spPr>
          <a:xfrm>
            <a:off x="6568440" y="19583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模型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9" name="矩形 68"/>
          <p:cNvSpPr>
            <a:spLocks noGrp="1"/>
          </p:cNvSpPr>
          <p:nvPr/>
        </p:nvSpPr>
        <p:spPr>
          <a:xfrm>
            <a:off x="7239000" y="19278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0" name="矩形 69"/>
          <p:cNvSpPr>
            <a:spLocks noGrp="1"/>
          </p:cNvSpPr>
          <p:nvPr/>
        </p:nvSpPr>
        <p:spPr>
          <a:xfrm>
            <a:off x="7330440" y="19583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Qwen3-1.7B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1" name="矩形 70"/>
          <p:cNvSpPr>
            <a:spLocks noGrp="1"/>
          </p:cNvSpPr>
          <p:nvPr/>
        </p:nvSpPr>
        <p:spPr>
          <a:xfrm>
            <a:off x="8229600" y="19278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8321040" y="19583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卡数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3" name="矩形 72"/>
          <p:cNvSpPr>
            <a:spLocks noGrp="1"/>
          </p:cNvSpPr>
          <p:nvPr/>
        </p:nvSpPr>
        <p:spPr>
          <a:xfrm>
            <a:off x="9220200" y="1927860"/>
            <a:ext cx="1143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4" name="矩形 73"/>
          <p:cNvSpPr>
            <a:spLocks noGrp="1"/>
          </p:cNvSpPr>
          <p:nvPr/>
        </p:nvSpPr>
        <p:spPr>
          <a:xfrm>
            <a:off x="9311640" y="19583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5" name="矩形 74"/>
          <p:cNvSpPr>
            <a:spLocks noGrp="1"/>
          </p:cNvSpPr>
          <p:nvPr/>
        </p:nvSpPr>
        <p:spPr>
          <a:xfrm>
            <a:off x="10363200" y="19278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6" name="矩形 75"/>
          <p:cNvSpPr>
            <a:spLocks noGrp="1"/>
          </p:cNvSpPr>
          <p:nvPr/>
        </p:nvSpPr>
        <p:spPr>
          <a:xfrm>
            <a:off x="10454640" y="19583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同一模型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6477000" y="2423160"/>
            <a:ext cx="762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6568440" y="24536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seed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9" name="矩形 78"/>
          <p:cNvSpPr>
            <a:spLocks noGrp="1"/>
          </p:cNvSpPr>
          <p:nvPr/>
        </p:nvSpPr>
        <p:spPr>
          <a:xfrm>
            <a:off x="7239000" y="2423160"/>
            <a:ext cx="9906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80" name="矩形 79"/>
          <p:cNvSpPr>
            <a:spLocks noGrp="1"/>
          </p:cNvSpPr>
          <p:nvPr/>
        </p:nvSpPr>
        <p:spPr>
          <a:xfrm>
            <a:off x="7330440" y="24536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42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1" name="矩形 80"/>
          <p:cNvSpPr>
            <a:spLocks noGrp="1"/>
          </p:cNvSpPr>
          <p:nvPr/>
        </p:nvSpPr>
        <p:spPr>
          <a:xfrm>
            <a:off x="8229600" y="2423160"/>
            <a:ext cx="9906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82" name="矩形 81"/>
          <p:cNvSpPr>
            <a:spLocks noGrp="1"/>
          </p:cNvSpPr>
          <p:nvPr/>
        </p:nvSpPr>
        <p:spPr>
          <a:xfrm>
            <a:off x="8321040" y="24536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batch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3" name="矩形 82"/>
          <p:cNvSpPr>
            <a:spLocks noGrp="1"/>
          </p:cNvSpPr>
          <p:nvPr/>
        </p:nvSpPr>
        <p:spPr>
          <a:xfrm>
            <a:off x="9220200" y="2423160"/>
            <a:ext cx="1143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84" name="矩形 83"/>
          <p:cNvSpPr>
            <a:spLocks noGrp="1"/>
          </p:cNvSpPr>
          <p:nvPr/>
        </p:nvSpPr>
        <p:spPr>
          <a:xfrm>
            <a:off x="9311640" y="24536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128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5" name="矩形 84"/>
          <p:cNvSpPr>
            <a:spLocks noGrp="1"/>
          </p:cNvSpPr>
          <p:nvPr/>
        </p:nvSpPr>
        <p:spPr>
          <a:xfrm>
            <a:off x="10363200" y="2423160"/>
            <a:ext cx="9906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86" name="矩形 85"/>
          <p:cNvSpPr>
            <a:spLocks noGrp="1"/>
          </p:cNvSpPr>
          <p:nvPr/>
        </p:nvSpPr>
        <p:spPr>
          <a:xfrm>
            <a:off x="10454640" y="24536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同一数据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7" name="矩形 86"/>
          <p:cNvSpPr>
            <a:spLocks noGrp="1"/>
          </p:cNvSpPr>
          <p:nvPr/>
        </p:nvSpPr>
        <p:spPr>
          <a:xfrm>
            <a:off x="6477000" y="2918460"/>
            <a:ext cx="762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88" name="矩形 87"/>
          <p:cNvSpPr>
            <a:spLocks noGrp="1"/>
          </p:cNvSpPr>
          <p:nvPr/>
        </p:nvSpPr>
        <p:spPr>
          <a:xfrm>
            <a:off x="6568440" y="29489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rollout.n</a:t>
            </a:r>
            <a:endParaRPr sz="1020" b="1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9" name="矩形 88"/>
          <p:cNvSpPr>
            <a:spLocks noGrp="1"/>
          </p:cNvSpPr>
          <p:nvPr/>
        </p:nvSpPr>
        <p:spPr>
          <a:xfrm>
            <a:off x="7239000" y="29184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0" name="矩形 89"/>
          <p:cNvSpPr>
            <a:spLocks noGrp="1"/>
          </p:cNvSpPr>
          <p:nvPr/>
        </p:nvSpPr>
        <p:spPr>
          <a:xfrm>
            <a:off x="7330440" y="29489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8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1" name="矩形 90"/>
          <p:cNvSpPr>
            <a:spLocks noGrp="1"/>
          </p:cNvSpPr>
          <p:nvPr/>
        </p:nvSpPr>
        <p:spPr>
          <a:xfrm>
            <a:off x="8229600" y="29184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2" name="矩形 91"/>
          <p:cNvSpPr>
            <a:spLocks noGrp="1"/>
          </p:cNvSpPr>
          <p:nvPr/>
        </p:nvSpPr>
        <p:spPr>
          <a:xfrm>
            <a:off x="8321040" y="29489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response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3" name="矩形 92"/>
          <p:cNvSpPr>
            <a:spLocks noGrp="1"/>
          </p:cNvSpPr>
          <p:nvPr/>
        </p:nvSpPr>
        <p:spPr>
          <a:xfrm>
            <a:off x="9220200" y="2918460"/>
            <a:ext cx="11430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4" name="矩形 93"/>
          <p:cNvSpPr>
            <a:spLocks noGrp="1"/>
          </p:cNvSpPr>
          <p:nvPr/>
        </p:nvSpPr>
        <p:spPr>
          <a:xfrm>
            <a:off x="9311640" y="29489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4096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5" name="矩形 94"/>
          <p:cNvSpPr>
            <a:spLocks noGrp="1"/>
          </p:cNvSpPr>
          <p:nvPr/>
        </p:nvSpPr>
        <p:spPr>
          <a:xfrm>
            <a:off x="10363200" y="2918460"/>
            <a:ext cx="990600" cy="49530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6" name="矩形 95"/>
          <p:cNvSpPr>
            <a:spLocks noGrp="1"/>
          </p:cNvSpPr>
          <p:nvPr/>
        </p:nvSpPr>
        <p:spPr>
          <a:xfrm>
            <a:off x="10454640" y="29489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52525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 i="0" u="none" cap="none">
                <a:ln>
                  <a:noFill/>
                </a:ln>
                <a:solidFill>
                  <a:srgbClr val="525252"/>
                </a:solidFill>
                <a:latin typeface="微软雅黑"/>
                <a:ea typeface="微软雅黑"/>
                <a:cs typeface="微软雅黑"/>
              </a:rPr>
              <a:t>六轮 AgentLoop</a:t>
            </a:r>
            <a:endParaRPr sz="1020" b="0" i="0" u="none" cap="none">
              <a:ln>
                <a:noFill/>
              </a:ln>
              <a:solidFill>
                <a:srgbClr val="52525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7" name="矩形 96"/>
          <p:cNvSpPr>
            <a:spLocks noGrp="1"/>
          </p:cNvSpPr>
          <p:nvPr/>
        </p:nvSpPr>
        <p:spPr>
          <a:xfrm>
            <a:off x="6477000" y="3413760"/>
            <a:ext cx="762000" cy="49530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8" name="矩形 97"/>
          <p:cNvSpPr>
            <a:spLocks noGrp="1"/>
          </p:cNvSpPr>
          <p:nvPr/>
        </p:nvSpPr>
        <p:spPr>
          <a:xfrm>
            <a:off x="6568440" y="3444240"/>
            <a:ext cx="579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steps</a:t>
            </a:r>
            <a:endParaRPr sz="10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9" name="矩形 98"/>
          <p:cNvSpPr>
            <a:spLocks noGrp="1"/>
          </p:cNvSpPr>
          <p:nvPr/>
        </p:nvSpPr>
        <p:spPr>
          <a:xfrm>
            <a:off x="7239000" y="3413760"/>
            <a:ext cx="990600" cy="49530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0" name="矩形 99"/>
          <p:cNvSpPr>
            <a:spLocks noGrp="1"/>
          </p:cNvSpPr>
          <p:nvPr/>
        </p:nvSpPr>
        <p:spPr>
          <a:xfrm>
            <a:off x="7330440" y="34442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1" name="矩形 100"/>
          <p:cNvSpPr>
            <a:spLocks noGrp="1"/>
          </p:cNvSpPr>
          <p:nvPr/>
        </p:nvSpPr>
        <p:spPr>
          <a:xfrm>
            <a:off x="8229600" y="3413760"/>
            <a:ext cx="990600" cy="49530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2" name="矩形 101"/>
          <p:cNvSpPr>
            <a:spLocks noGrp="1"/>
          </p:cNvSpPr>
          <p:nvPr/>
        </p:nvSpPr>
        <p:spPr>
          <a:xfrm>
            <a:off x="8321040" y="34442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保存 / 训后验证</a:t>
            </a:r>
            <a:endParaRPr sz="10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3" name="矩形 102"/>
          <p:cNvSpPr>
            <a:spLocks noGrp="1"/>
          </p:cNvSpPr>
          <p:nvPr/>
        </p:nvSpPr>
        <p:spPr>
          <a:xfrm>
            <a:off x="9220200" y="3413760"/>
            <a:ext cx="1143000" cy="49530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4" name="矩形 103"/>
          <p:cNvSpPr>
            <a:spLocks noGrp="1"/>
          </p:cNvSpPr>
          <p:nvPr/>
        </p:nvSpPr>
        <p:spPr>
          <a:xfrm>
            <a:off x="9311640" y="3444240"/>
            <a:ext cx="9601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关闭</a:t>
            </a:r>
            <a:endParaRPr sz="10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" name="矩形 104"/>
          <p:cNvSpPr>
            <a:spLocks noGrp="1"/>
          </p:cNvSpPr>
          <p:nvPr/>
        </p:nvSpPr>
        <p:spPr>
          <a:xfrm>
            <a:off x="10363200" y="3413760"/>
            <a:ext cx="990600" cy="495300"/>
          </a:xfrm>
          <a:prstGeom prst="rect">
            <a:avLst/>
          </a:prstGeom>
          <a:solidFill>
            <a:srgbClr val="FFF1F2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6" name="矩形 105"/>
          <p:cNvSpPr>
            <a:spLocks noGrp="1"/>
          </p:cNvSpPr>
          <p:nvPr/>
        </p:nvSpPr>
        <p:spPr>
          <a:xfrm>
            <a:off x="10454640" y="3444240"/>
            <a:ext cx="807720" cy="4343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课程开发测试</a:t>
            </a:r>
            <a:endParaRPr sz="10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" name="矩形: 圆角 106"/>
          <p:cNvSpPr>
            <a:spLocks noGrp="1"/>
          </p:cNvSpPr>
          <p:nvPr/>
        </p:nvSpPr>
        <p:spPr>
          <a:xfrm>
            <a:off x="1371600" y="4991100"/>
            <a:ext cx="9448800" cy="594360"/>
          </a:xfrm>
          <a:prstGeom prst="roundRect">
            <a:avLst>
              <a:gd name="adj" fmla="val 7692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108" name="矩形 107"/>
          <p:cNvSpPr>
            <a:spLocks noGrp="1"/>
          </p:cNvSpPr>
          <p:nvPr/>
        </p:nvSpPr>
        <p:spPr>
          <a:xfrm>
            <a:off x="1638300" y="4991100"/>
            <a:ext cx="891540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7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本次 FSDP2 + TND 的 Actor 每 token 更低；并非单变量实验，也不等于普遍收益。</a:t>
            </a:r>
            <a:endParaRPr sz="150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1" name="图片 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ln>
                  <a:noFill/>
                </a:ln>
              </a:rPr>
              <a:t>从案例中带走的五条结论</a:t>
            </a:r>
            <a:endParaRPr sz="258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572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0535"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前四部分回扣</a:t>
            </a:r>
            <a:endParaRPr sz="225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38300"/>
            <a:ext cx="4953000" cy="723900"/>
          </a:xfrm>
          <a:prstGeom prst="roundRect">
            <a:avLst>
              <a:gd name="adj" fmla="val 6316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790700"/>
            <a:ext cx="381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620" b="1" i="0" u="none" cap="none">
              <a:ln>
                <a:noFill/>
              </a:ln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71600" y="1775460"/>
            <a:ext cx="1905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先守住语义</a:t>
            </a:r>
            <a:endParaRPr sz="138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390900" y="1775460"/>
            <a:ext cx="2019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5828"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43A047"/>
                </a:solidFill>
                <a:latin typeface="Consolas"/>
                <a:ea typeface="Consolas"/>
                <a:cs typeface="Consolas"/>
              </a:defRPr>
            </a:pPr>
            <a:r>
              <a:rPr sz="1200" b="1" i="0" u="none" cap="none">
                <a:ln>
                  <a:noFill/>
                </a:ln>
                <a:solidFill>
                  <a:srgbClr val="43A047"/>
                </a:solidFill>
                <a:latin typeface="Consolas"/>
                <a:ea typeface="Consolas"/>
                <a:cs typeface="Consolas"/>
              </a:rPr>
              <a:t>模型、数据、GRPO、rollout 不变</a:t>
            </a:r>
            <a:endParaRPr sz="1200" b="1" i="0" u="none" cap="none">
              <a:ln>
                <a:noFill/>
              </a:ln>
              <a:solidFill>
                <a:srgbClr val="43A04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685800" y="2590800"/>
            <a:ext cx="4953000" cy="723900"/>
          </a:xfrm>
          <a:prstGeom prst="roundRect">
            <a:avLst>
              <a:gd name="adj" fmla="val 631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76300" y="2743200"/>
            <a:ext cx="381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62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71600" y="2727960"/>
            <a:ext cx="1905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再接通契约</a:t>
            </a:r>
            <a:endParaRPr sz="138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390900" y="2727960"/>
            <a:ext cx="2019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377DFF"/>
                </a:solidFill>
                <a:latin typeface="Consolas"/>
                <a:ea typeface="Consolas"/>
                <a:cs typeface="Consolas"/>
              </a:defRPr>
            </a:pPr>
            <a:r>
              <a:rPr sz="1200" b="1" i="0" u="none" cap="none">
                <a:ln>
                  <a:noFill/>
                </a:ln>
                <a:solidFill>
                  <a:srgbClr val="377DFF"/>
                </a:solidFill>
                <a:latin typeface="Consolas"/>
                <a:ea typeface="Consolas"/>
                <a:cs typeface="Consolas"/>
              </a:rPr>
              <a:t>计算 + 状态接口</a:t>
            </a:r>
            <a:endParaRPr sz="1200" b="1" i="0" u="none" cap="none">
              <a:ln>
                <a:noFill/>
              </a:ln>
              <a:solidFill>
                <a:srgbClr val="377D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685800" y="3543300"/>
            <a:ext cx="4953000" cy="723900"/>
          </a:xfrm>
          <a:prstGeom prst="roundRect">
            <a:avLst>
              <a:gd name="adj" fmla="val 6316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76300" y="3695700"/>
            <a:ext cx="381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620" b="1" i="0" u="none" cap="none">
              <a:ln>
                <a:noFill/>
              </a:ln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371600" y="3680460"/>
            <a:ext cx="1905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能力各有边界</a:t>
            </a:r>
            <a:endParaRPr sz="138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390900" y="3680460"/>
            <a:ext cx="2019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F57C00"/>
                </a:solidFill>
                <a:latin typeface="Consolas"/>
                <a:ea typeface="Consolas"/>
                <a:cs typeface="Consolas"/>
              </a:defRPr>
            </a:pPr>
            <a:r>
              <a:rPr sz="1200" b="1" i="0" u="none" cap="none">
                <a:ln>
                  <a:noFill/>
                </a:ln>
                <a:solidFill>
                  <a:srgbClr val="F57C00"/>
                </a:solidFill>
                <a:latin typeface="Consolas"/>
                <a:ea typeface="Consolas"/>
                <a:cs typeface="Consolas"/>
              </a:rPr>
              <a:t>FSDP2 / offload / TND / CP</a:t>
            </a:r>
            <a:endParaRPr sz="1200" b="1" i="0" u="none" cap="none">
              <a:ln>
                <a:noFill/>
              </a:ln>
              <a:solidFill>
                <a:srgbClr val="F57C0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77000" y="1104900"/>
            <a:ext cx="4572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0535"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进入长期训练前</a:t>
            </a:r>
            <a:endParaRPr sz="225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477000" y="163830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010400" y="163830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验证要分层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220200" y="163830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DRY_RUN → 3 step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010400" y="2034540"/>
            <a:ext cx="4114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477000" y="223266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010400" y="223266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评价要有条件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9220200" y="223266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阶段、token、容量、长期实验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010400" y="2628900"/>
            <a:ext cx="4114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477000" y="282702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010400" y="282702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闭环可观察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220200" y="282702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rollout → update_weights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010400" y="3223260"/>
            <a:ext cx="4114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477000" y="342138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7010400" y="342138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容量有余量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9220200" y="342138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显存与 packed token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010400" y="3817620"/>
            <a:ext cx="4114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477000" y="401574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010400" y="401574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实验可比较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9220200" y="401574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五条结论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: 圆角 37"/>
          <p:cNvSpPr>
            <a:spLocks noGrp="1"/>
          </p:cNvSpPr>
          <p:nvPr/>
        </p:nvSpPr>
        <p:spPr>
          <a:xfrm>
            <a:off x="685800" y="4953000"/>
            <a:ext cx="10439400" cy="800100"/>
          </a:xfrm>
          <a:prstGeom prst="roundRect">
            <a:avLst>
              <a:gd name="adj" fmla="val 5714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1028700" y="4953000"/>
            <a:ext cx="97536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三步验证功能；长期实验判断收敛与收益。</a:t>
            </a:r>
            <a:endParaRPr sz="16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1" name="图片 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426720" y="198120"/>
            <a:ext cx="9220200" cy="73152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slide-title"/>
          <p:cNvSpPr>
            <a:spLocks noGrp="1"/>
          </p:cNvSpPr>
          <p:nvPr/>
        </p:nvSpPr>
        <p:spPr>
          <a:xfrm>
            <a:off x="609600" y="320040"/>
            <a:ext cx="94107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3225" b="0">
                <a:solidFill>
                  <a:srgbClr val="111111"/>
                </a:solidFill>
                <a:latin typeface="微软雅黑"/>
                <a:ea typeface="微软雅黑"/>
                <a:cs typeface="微软雅黑"/>
              </a:defRPr>
            </a:pPr>
            <a:r>
              <a:rPr sz="2580">
                <a:ln>
                  <a:noFill/>
                </a:ln>
              </a:rPr>
              <a:t>结课检查</a:t>
            </a:r>
            <a:endParaRPr sz="2580" b="0" i="0" u="none" cap="none">
              <a:ln>
                <a:noFill/>
              </a:ln>
              <a:solidFill>
                <a:srgbClr val="11111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104900"/>
            <a:ext cx="4572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0535"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先让学员回答，再显示关键词。</a:t>
            </a:r>
            <a:endParaRPr sz="225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685800" y="1638300"/>
            <a:ext cx="4953000" cy="723900"/>
          </a:xfrm>
          <a:prstGeom prst="roundRect">
            <a:avLst>
              <a:gd name="adj" fmla="val 6316"/>
            </a:avLst>
          </a:prstGeom>
          <a:solidFill>
            <a:srgbClr val="EDF7EC"/>
          </a:solidFill>
          <a:ln w="9525">
            <a:solidFill>
              <a:srgbClr val="43A04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790700"/>
            <a:ext cx="381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43A047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43A047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620" b="1" i="0" u="none" cap="none">
              <a:ln>
                <a:noFill/>
              </a:ln>
              <a:solidFill>
                <a:srgbClr val="43A04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71600" y="1775460"/>
            <a:ext cx="1905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为什么同步权重？</a:t>
            </a:r>
            <a:endParaRPr sz="138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390900" y="1775460"/>
            <a:ext cx="2019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43A047"/>
                </a:solidFill>
                <a:latin typeface="Consolas"/>
                <a:ea typeface="Consolas"/>
                <a:cs typeface="Consolas"/>
              </a:defRPr>
            </a:pPr>
            <a:r>
              <a:rPr sz="1200" b="1" i="0" u="none" cap="none">
                <a:ln>
                  <a:noFill/>
                </a:ln>
                <a:solidFill>
                  <a:srgbClr val="43A047"/>
                </a:solidFill>
                <a:latin typeface="Consolas"/>
                <a:ea typeface="Consolas"/>
                <a:cs typeface="Consolas"/>
              </a:rPr>
              <a:t>下一轮 rollout 用最新 Actor</a:t>
            </a:r>
            <a:endParaRPr sz="1200" b="1" i="0" u="none" cap="none">
              <a:ln>
                <a:noFill/>
              </a:ln>
              <a:solidFill>
                <a:srgbClr val="43A04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685800" y="2590800"/>
            <a:ext cx="4953000" cy="723900"/>
          </a:xfrm>
          <a:prstGeom prst="roundRect">
            <a:avLst>
              <a:gd name="adj" fmla="val 6316"/>
            </a:avLst>
          </a:prstGeom>
          <a:solidFill>
            <a:srgbClr val="EEF4FF"/>
          </a:solidFill>
          <a:ln w="9525">
            <a:solidFill>
              <a:srgbClr val="377DFF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76300" y="2743200"/>
            <a:ext cx="381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377DFF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377D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620" b="1" i="0" u="none" cap="none">
              <a:ln>
                <a:noFill/>
              </a:ln>
              <a:solidFill>
                <a:srgbClr val="377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71600" y="2727960"/>
            <a:ext cx="1905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454"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TND 与 CP 各解决什么？</a:t>
            </a:r>
            <a:endParaRPr sz="138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390900" y="2727960"/>
            <a:ext cx="2019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377DFF"/>
                </a:solidFill>
                <a:latin typeface="Consolas"/>
                <a:ea typeface="Consolas"/>
                <a:cs typeface="Consolas"/>
              </a:defRPr>
            </a:pPr>
            <a:r>
              <a:rPr sz="1200" b="1" i="0" u="none" cap="none">
                <a:ln>
                  <a:noFill/>
                </a:ln>
                <a:solidFill>
                  <a:srgbClr val="377DFF"/>
                </a:solidFill>
                <a:latin typeface="Consolas"/>
                <a:ea typeface="Consolas"/>
                <a:cs typeface="Consolas"/>
              </a:rPr>
              <a:t>padding 计算 vs 长序列容量</a:t>
            </a:r>
            <a:endParaRPr sz="1200" b="1" i="0" u="none" cap="none">
              <a:ln>
                <a:noFill/>
              </a:ln>
              <a:solidFill>
                <a:srgbClr val="377D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4" name="矩形: 圆角 13"/>
          <p:cNvSpPr>
            <a:spLocks noGrp="1"/>
          </p:cNvSpPr>
          <p:nvPr/>
        </p:nvSpPr>
        <p:spPr>
          <a:xfrm>
            <a:off x="685800" y="3543300"/>
            <a:ext cx="4953000" cy="723900"/>
          </a:xfrm>
          <a:prstGeom prst="roundRect">
            <a:avLst>
              <a:gd name="adj" fmla="val 6316"/>
            </a:avLst>
          </a:prstGeom>
          <a:solidFill>
            <a:srgbClr val="FFF3E5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76300" y="3695700"/>
            <a:ext cx="381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F57C00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F57C00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620" b="1" i="0" u="none" cap="none">
              <a:ln>
                <a:noFill/>
              </a:ln>
              <a:solidFill>
                <a:srgbClr val="F57C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371600" y="3680460"/>
            <a:ext cx="19050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三步能下什么结论？</a:t>
            </a:r>
            <a:endParaRPr sz="138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390900" y="3680460"/>
            <a:ext cx="20193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00" b="1">
                <a:solidFill>
                  <a:srgbClr val="F57C00"/>
                </a:solidFill>
                <a:latin typeface="Consolas"/>
                <a:ea typeface="Consolas"/>
                <a:cs typeface="Consolas"/>
              </a:defRPr>
            </a:pPr>
            <a:r>
              <a:rPr sz="1200" b="1" i="0" u="none" cap="none">
                <a:ln>
                  <a:noFill/>
                </a:ln>
                <a:solidFill>
                  <a:srgbClr val="F57C00"/>
                </a:solidFill>
                <a:latin typeface="Consolas"/>
                <a:ea typeface="Consolas"/>
                <a:cs typeface="Consolas"/>
              </a:rPr>
              <a:t>闭环接通，不代表收敛 / 收益</a:t>
            </a:r>
            <a:endParaRPr sz="1200" b="1" i="0" u="none" cap="none">
              <a:ln>
                <a:noFill/>
              </a:ln>
              <a:solidFill>
                <a:srgbClr val="F57C0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77000" y="1104900"/>
            <a:ext cx="4572000" cy="335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0535"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进入长期训练前</a:t>
            </a:r>
            <a:endParaRPr sz="225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477000" y="163830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010400" y="163830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边界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220200" y="163830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只改 Actor / Ref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010400" y="2034540"/>
            <a:ext cx="4114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477000" y="223266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010400" y="223266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契约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9220200" y="223266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计算 + 状态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010400" y="2628900"/>
            <a:ext cx="4114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477000" y="282702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010400" y="282702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验证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220200" y="282702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DRY_RUN + 3 step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010400" y="3223260"/>
            <a:ext cx="4114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477000" y="342138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7010400" y="342138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指标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9220200" y="342138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分阶段 + ms/token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010400" y="3817620"/>
            <a:ext cx="4114800" cy="7620"/>
          </a:xfrm>
          <a:prstGeom prst="rect">
            <a:avLst/>
          </a:prstGeom>
          <a:solidFill>
            <a:srgbClr val="E5E5E5"/>
          </a:solidFill>
          <a:ln w="0">
            <a:noFill/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477000" y="4015740"/>
            <a:ext cx="4191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38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38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010400" y="4015740"/>
            <a:ext cx="2133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l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575" b="1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1260" b="1" i="0" u="none" cap="none">
                <a:ln>
                  <a:noFill/>
                </a:ln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边界条件</a:t>
            </a:r>
            <a:endParaRPr sz="1260" b="1" i="0" u="none" cap="none">
              <a:ln>
                <a:noFill/>
              </a:ln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9220200" y="4015740"/>
            <a:ext cx="19050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marR="0" indent="0" algn="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080" b="0" i="0" u="none" cap="none">
                <a:ln>
                  <a:noFill/>
                </a:ln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当前两卡负载</a:t>
            </a:r>
            <a:endParaRPr sz="1080" b="0" i="0" u="none" cap="none">
              <a:ln>
                <a:noFill/>
              </a:ln>
              <a:solidFill>
                <a:srgbClr val="66666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: 圆角 37"/>
          <p:cNvSpPr>
            <a:spLocks noGrp="1"/>
          </p:cNvSpPr>
          <p:nvPr/>
        </p:nvSpPr>
        <p:spPr>
          <a:xfrm>
            <a:off x="685800" y="4953000"/>
            <a:ext cx="10439400" cy="800100"/>
          </a:xfrm>
          <a:prstGeom prst="roundRect">
            <a:avLst>
              <a:gd name="adj" fmla="val 5714"/>
            </a:avLst>
          </a:prstGeom>
          <a:solidFill>
            <a:srgbClr val="FFF1F2"/>
          </a:solidFill>
          <a:ln w="9525">
            <a:solidFill>
              <a:srgbClr val="E60012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1028700" y="4953000"/>
            <a:ext cx="97536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marR="0" indent="0" algn="ctr" defTabSz="91440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025" b="1">
                <a:solidFill>
                  <a:srgbClr val="E60012"/>
                </a:solidFill>
                <a:latin typeface="微软雅黑"/>
                <a:ea typeface="微软雅黑"/>
                <a:cs typeface="微软雅黑"/>
              </a:defRPr>
            </a:pPr>
            <a:r>
              <a:rPr sz="1620" b="1" i="0" u="none" cap="none">
                <a:ln>
                  <a:noFill/>
                </a:ln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能解释边界，才有资格解释结果。</a:t>
            </a:r>
            <a:endParaRPr sz="1620" b="1" i="0" u="none" cap="none">
              <a:ln>
                <a:noFill/>
              </a:ln>
              <a:solidFill>
                <a:srgbClr val="E6001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874644" y="1208599"/>
            <a:ext cx="3608680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>
                <a:latin typeface="Arial" panose="020B0604020202090204"/>
                <a:ea typeface="Arial" panose="020B0604020202090204"/>
                <a:cs typeface="Arial" panose="020B0604020202090204"/>
              </a:rPr>
              <a:t>Thank you.</a:t>
            </a:r>
            <a:endParaRPr sz="5400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6400801" y="1393264"/>
            <a:ext cx="4699220" cy="2325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  <a:defRPr sz="1350" b="0">
                <a:solidFill>
                  <a:srgbClr val="666666"/>
                </a:solidFill>
              </a:defRPr>
            </a:pPr>
            <a:r>
              <a:rPr sz="1350" b="0">
                <a:solidFill>
                  <a:srgbClr val="666666"/>
                </a:solidFill>
                <a:latin typeface="宋体"/>
                <a:ea typeface="宋体"/>
                <a:cs typeface="宋体"/>
              </a:rPr>
              <a:t>课程入口：rl_training_pipeline</a:t>
            </a:r>
            <a:endParaRPr sz="1200">
              <a:solidFill>
                <a:schemeClr val="bg1">
                  <a:lumMod val="50000"/>
                </a:schemeClr>
              </a:solidFill>
              <a:latin typeface="宋体"/>
              <a:ea typeface="宋体"/>
              <a:cs typeface="宋体"/>
            </a:endParaRPr>
          </a:p>
          <a:p>
            <a:pPr algn="l">
              <a:lnSpc>
                <a:spcPct val="150000"/>
              </a:lnSpc>
              <a:buNone/>
              <a:defRPr sz="1350" b="0">
                <a:solidFill>
                  <a:srgbClr val="666666"/>
                </a:solidFill>
              </a:defRPr>
            </a:pPr>
            <a:r>
              <a:rPr sz="1350" b="0">
                <a:solidFill>
                  <a:srgbClr val="666666"/>
                </a:solidFill>
                <a:latin typeface="宋体"/>
                <a:ea typeface="宋体"/>
                <a:cs typeface="宋体"/>
              </a:rPr>
              <a:t>05 训练后端切换</a:t>
            </a:r>
            <a:endParaRPr sz="1200">
              <a:solidFill>
                <a:schemeClr val="bg1">
                  <a:lumMod val="50000"/>
                </a:schemeClr>
              </a:solidFill>
              <a:latin typeface="宋体"/>
              <a:ea typeface="宋体"/>
              <a:cs typeface="宋体"/>
            </a:endParaRPr>
          </a:p>
          <a:p>
            <a:pPr algn="l">
              <a:lnSpc>
                <a:spcPct val="150000"/>
              </a:lnSpc>
              <a:buNone/>
              <a:defRPr sz="1350" b="0">
                <a:solidFill>
                  <a:srgbClr val="666666"/>
                </a:solidFill>
              </a:defRPr>
            </a:pPr>
            <a:r>
              <a:rPr sz="1350" b="0">
                <a:solidFill>
                  <a:srgbClr val="666666"/>
                </a:solidFill>
              </a:rPr>
              <a:t>06 TorchTitan-NPU 能力</a:t>
            </a:r>
            <a:endParaRPr sz="1350" b="0">
              <a:solidFill>
                <a:srgbClr val="666666"/>
              </a:solidFill>
            </a:endParaRPr>
          </a:p>
          <a:p>
            <a:pPr algn="l">
              <a:lnSpc>
                <a:spcPct val="150000"/>
              </a:lnSpc>
              <a:buNone/>
              <a:defRPr sz="1350" b="0">
                <a:solidFill>
                  <a:srgbClr val="666666"/>
                </a:solidFill>
              </a:defRPr>
            </a:pPr>
            <a:r>
              <a:rPr sz="1350" b="0">
                <a:solidFill>
                  <a:srgbClr val="66666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07 TorchTitan Wordle 训练</a:t>
            </a:r>
            <a:endParaRPr sz="1000">
              <a:solidFill>
                <a:schemeClr val="bg1">
                  <a:lumMod val="50000"/>
                </a:schemeClr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ct val="150000"/>
              </a:lnSpc>
              <a:buNone/>
              <a:defRPr sz="1350" b="0">
                <a:solidFill>
                  <a:srgbClr val="666666"/>
                </a:solidFill>
              </a:defRPr>
            </a:pPr>
            <a:r>
              <a:rPr sz="1350" b="0">
                <a:solidFill>
                  <a:srgbClr val="666666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08 验证与排障</a:t>
            </a:r>
            <a:endParaRPr sz="1000">
              <a:solidFill>
                <a:schemeClr val="bg1">
                  <a:lumMod val="50000"/>
                </a:schemeClr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20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9" name="文本框 8"/>
          <p:cNvSpPr>
            <a:spLocks noGrp="1"/>
          </p:cNvSpPr>
          <p:nvPr/>
        </p:nvSpPr>
        <p:spPr>
          <a:xfrm>
            <a:off x="7056392" y="5538463"/>
            <a:ext cx="143020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上CANN社区获取干货</a:t>
            </a:r>
            <a:endParaRPr sz="1000"/>
          </a:p>
        </p:txBody>
      </p:sp>
      <p:sp>
        <p:nvSpPr>
          <p:cNvPr id="11" name="文本框 10"/>
          <p:cNvSpPr>
            <a:spLocks noGrp="1"/>
          </p:cNvSpPr>
          <p:nvPr/>
        </p:nvSpPr>
        <p:spPr>
          <a:xfrm>
            <a:off x="8741387" y="5538463"/>
            <a:ext cx="168668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关注CANN公众号获取资讯</a:t>
            </a:r>
            <a:endParaRPr sz="1000"/>
          </a:p>
        </p:txBody>
      </p:sp>
      <p:sp>
        <p:nvSpPr>
          <p:cNvPr id="14" name="文本框 13"/>
          <p:cNvSpPr>
            <a:spLocks noGrp="1"/>
          </p:cNvSpPr>
          <p:nvPr/>
        </p:nvSpPr>
        <p:spPr>
          <a:xfrm>
            <a:off x="620201" y="6130454"/>
            <a:ext cx="3820160" cy="245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100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https://gitcode.com/cann/cann-learning-hub/tree/master/tutorials</a:t>
            </a:r>
            <a:endParaRPr sz="100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24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6584" y="3898269"/>
            <a:ext cx="1686679" cy="1686679"/>
          </a:xfrm>
          <a:prstGeom prst="rect">
            <a:avLst/>
          </a:prstGeom>
        </p:spPr>
      </p:pic>
      <p:pic>
        <p:nvPicPr>
          <p:cNvPr id="25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965102" y="3908076"/>
            <a:ext cx="1686678" cy="16768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8090</Words>
  <Application>WPS 演示</Application>
  <PresentationFormat>Converted Presentation</PresentationFormat>
  <Paragraphs>1355</Paragraphs>
  <Slides>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39</vt:i4>
      </vt:variant>
    </vt:vector>
  </HeadingPairs>
  <TitlesOfParts>
    <vt:vector size="64" baseType="lpstr">
      <vt:lpstr>Arial</vt:lpstr>
      <vt:lpstr>宋体</vt:lpstr>
      <vt:lpstr>Wingdings</vt:lpstr>
      <vt:lpstr>Arial</vt:lpstr>
      <vt:lpstr>Wingdings</vt:lpstr>
      <vt:lpstr>微软雅黑</vt:lpstr>
      <vt:lpstr>方正雅意黑 GB18030L2</vt:lpstr>
      <vt:lpstr>Consolas</vt:lpstr>
      <vt:lpstr>等线 Light</vt:lpstr>
      <vt:lpstr>微软雅黑</vt:lpstr>
      <vt:lpstr>苹方-简</vt:lpstr>
      <vt:lpstr>汉仪中等线KW</vt:lpstr>
      <vt:lpstr>等线</vt:lpstr>
      <vt:lpstr>Calibri</vt:lpstr>
      <vt:lpstr>Helvetica Neue</vt:lpstr>
      <vt:lpstr>汉仪书宋二KW</vt:lpstr>
      <vt:lpstr>Thonburi</vt:lpstr>
      <vt:lpstr>宋体</vt:lpstr>
      <vt:lpstr>Arial Unicode MS</vt:lpstr>
      <vt:lpstr>宋体</vt:lpstr>
      <vt:lpstr>Consolas</vt:lpstr>
      <vt:lpstr>微软雅黑</vt:lpstr>
      <vt:lpstr>等线 Light</vt:lpstr>
      <vt:lpstr>WPS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Crush</cp:lastModifiedBy>
  <cp:revision>5</cp:revision>
  <dcterms:created xsi:type="dcterms:W3CDTF">2026-09-21T13:54:13Z</dcterms:created>
  <dcterms:modified xsi:type="dcterms:W3CDTF">2026-09-21T13:54:13Z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92F479AAFD96031B2919856A9D0CE4F9_42</vt:lpwstr>
  </property>
  <property fmtid="{D5CDD505-2E9C-101B-9397-08002B2CF9AE}" pid="3" name="KSOProductBuildVer">
    <vt:lpwstr>2052-12.1.26055.26055</vt:lpwstr>
  </property>
</Properties>
</file>