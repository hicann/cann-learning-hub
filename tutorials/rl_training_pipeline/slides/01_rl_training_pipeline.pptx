
<file path=[Content_Types].xml><?xml version="1.0" encoding="utf-8"?>
<Types xmlns="http://schemas.openxmlformats.org/package/2006/content-types">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63" r:id="rId4"/>
    <p:sldMasterId id="2147483665" r:id="rId5"/>
  </p:sldMasterIdLst>
  <p:notesMasterIdLst>
    <p:notesMasterId r:id="rId7"/>
  </p:notesMasterIdLst>
  <p:sldIdLst>
    <p:sldId id="325" r:id="rId6"/>
    <p:sldId id="327" r:id="rId8"/>
    <p:sldId id="335" r:id="rId9"/>
    <p:sldId id="421" r:id="rId10"/>
    <p:sldId id="422" r:id="rId11"/>
    <p:sldId id="423" r:id="rId12"/>
    <p:sldId id="410" r:id="rId13"/>
    <p:sldId id="342" r:id="rId14"/>
    <p:sldId id="391" r:id="rId15"/>
    <p:sldId id="387" r:id="rId16"/>
    <p:sldId id="388" r:id="rId17"/>
    <p:sldId id="392" r:id="rId18"/>
    <p:sldId id="393" r:id="rId19"/>
    <p:sldId id="394" r:id="rId20"/>
    <p:sldId id="395" r:id="rId21"/>
    <p:sldId id="396" r:id="rId22"/>
    <p:sldId id="411" r:id="rId23"/>
    <p:sldId id="349" r:id="rId24"/>
    <p:sldId id="400" r:id="rId25"/>
    <p:sldId id="402" r:id="rId26"/>
    <p:sldId id="401" r:id="rId27"/>
    <p:sldId id="412" r:id="rId28"/>
    <p:sldId id="356" r:id="rId29"/>
    <p:sldId id="404" r:id="rId30"/>
    <p:sldId id="405" r:id="rId31"/>
    <p:sldId id="406" r:id="rId32"/>
    <p:sldId id="413" r:id="rId33"/>
    <p:sldId id="366" r:id="rId34"/>
  </p:sldIdLst>
  <p:sldSz cx="12192000" cy="6858000"/>
  <p:notesSz cx="6858000" cy="9144000"/>
  <p:custDataLst>
    <p:tags r:id="rId38"/>
  </p:custDataLst>
  <p:defaultTextStyle>
    <a:lvl1pPr marL="0" algn="l" defTabSz="914400" rtl="0" eaLnBrk="1" latinLnBrk="0" hangingPunct="1">
      <a:defRPr sz="1800" kern="1200">
        <a:solidFill>
          <a:schemeClr val="tx1"/>
        </a:solidFill>
        <a:latin typeface="Times New Roman" panose="02020503050405090304"/>
        <a:ea typeface="微软雅黑"/>
        <a:cs typeface="Times New Roman" panose="02020503050405090304"/>
      </a:defRPr>
    </a:lvl1pPr>
    <a:lvl2pPr marL="457200" algn="l" defTabSz="914400" rtl="0" eaLnBrk="1" latinLnBrk="0" hangingPunct="1">
      <a:defRPr sz="1800" kern="1200">
        <a:solidFill>
          <a:schemeClr val="tx1"/>
        </a:solidFill>
        <a:latin typeface="Times New Roman" panose="02020503050405090304"/>
        <a:ea typeface="微软雅黑"/>
        <a:cs typeface="Times New Roman" panose="02020503050405090304"/>
      </a:defRPr>
    </a:lvl2pPr>
    <a:lvl3pPr marL="914400" algn="l" defTabSz="914400" rtl="0" eaLnBrk="1" latinLnBrk="0" hangingPunct="1">
      <a:defRPr sz="1800" kern="1200">
        <a:solidFill>
          <a:schemeClr val="tx1"/>
        </a:solidFill>
        <a:latin typeface="Times New Roman" panose="02020503050405090304"/>
        <a:ea typeface="微软雅黑"/>
        <a:cs typeface="Times New Roman" panose="02020503050405090304"/>
      </a:defRPr>
    </a:lvl3pPr>
    <a:lvl4pPr marL="1371600" algn="l" defTabSz="914400" rtl="0" eaLnBrk="1" latinLnBrk="0" hangingPunct="1">
      <a:defRPr sz="1800" kern="1200">
        <a:solidFill>
          <a:schemeClr val="tx1"/>
        </a:solidFill>
        <a:latin typeface="Times New Roman" panose="02020503050405090304"/>
        <a:ea typeface="微软雅黑"/>
        <a:cs typeface="Times New Roman" panose="02020503050405090304"/>
      </a:defRPr>
    </a:lvl4pPr>
    <a:lvl5pPr marL="1828800" algn="l" defTabSz="914400" rtl="0" eaLnBrk="1" latinLnBrk="0" hangingPunct="1">
      <a:defRPr sz="1800" kern="1200">
        <a:solidFill>
          <a:schemeClr val="tx1"/>
        </a:solidFill>
        <a:latin typeface="Times New Roman" panose="02020503050405090304"/>
        <a:ea typeface="微软雅黑"/>
        <a:cs typeface="Times New Roman" panose="02020503050405090304"/>
      </a:defRPr>
    </a:lvl5pPr>
    <a:lvl6pPr marL="2286000" algn="l" defTabSz="914400" rtl="0" eaLnBrk="1" latinLnBrk="0" hangingPunct="1">
      <a:defRPr sz="1800" kern="1200">
        <a:solidFill>
          <a:schemeClr val="tx1"/>
        </a:solidFill>
        <a:latin typeface="Times New Roman" panose="02020503050405090304"/>
        <a:ea typeface="微软雅黑"/>
        <a:cs typeface="Times New Roman" panose="02020503050405090304"/>
      </a:defRPr>
    </a:lvl6pPr>
    <a:lvl7pPr marL="2743200" algn="l" defTabSz="914400" rtl="0" eaLnBrk="1" latinLnBrk="0" hangingPunct="1">
      <a:defRPr sz="1800" kern="1200">
        <a:solidFill>
          <a:schemeClr val="tx1"/>
        </a:solidFill>
        <a:latin typeface="Times New Roman" panose="02020503050405090304"/>
        <a:ea typeface="微软雅黑"/>
        <a:cs typeface="Times New Roman" panose="02020503050405090304"/>
      </a:defRPr>
    </a:lvl7pPr>
    <a:lvl8pPr marL="3200400" algn="l" defTabSz="914400" rtl="0" eaLnBrk="1" latinLnBrk="0" hangingPunct="1">
      <a:defRPr sz="1800" kern="1200">
        <a:solidFill>
          <a:schemeClr val="tx1"/>
        </a:solidFill>
        <a:latin typeface="Times New Roman" panose="02020503050405090304"/>
        <a:ea typeface="微软雅黑"/>
        <a:cs typeface="Times New Roman" panose="02020503050405090304"/>
      </a:defRPr>
    </a:lvl8pPr>
    <a:lvl9pPr marL="3657600" algn="l" defTabSz="914400" rtl="0" eaLnBrk="1" latinLnBrk="0" hangingPunct="1">
      <a:defRPr sz="1800" kern="1200">
        <a:solidFill>
          <a:schemeClr val="tx1"/>
        </a:solidFill>
        <a:latin typeface="Times New Roman" panose="02020503050405090304"/>
        <a:ea typeface="微软雅黑"/>
        <a:cs typeface="Times New Roman" panose="020205030504050903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8" Type="http://schemas.openxmlformats.org/officeDocument/2006/relationships/tags" Target="tags/tag13.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28.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800" b="1" i="0" u="none" strike="noStrike" kern="1200" baseline="0">
                <a:solidFill>
                  <a:schemeClr val="tx1"/>
                </a:solidFill>
                <a:latin typeface="Times New Roman" panose="02020503050405090304"/>
                <a:ea typeface="微软雅黑"/>
                <a:cs typeface="Times New Roman" panose="02020503050405090304"/>
              </a:defRPr>
            </a:pPr>
            <a:r>
              <a:rPr sz="1500">
                <a:solidFill>
                  <a:srgbClr val="111111"/>
                </a:solidFill>
                <a:latin typeface="Times New Roman" panose="02020503050405090304"/>
                <a:ea typeface="微软雅黑"/>
                <a:cs typeface="Times New Roman" panose="02020503050405090304"/>
              </a:rPr>
              <a:t>同一上下文，下一 token 的概率（教学示例）</a:t>
            </a:r>
            <a:endParaRPr sz="1500">
              <a:solidFill>
                <a:srgbClr val="111111"/>
              </a:solidFill>
              <a:latin typeface="Times New Roman" panose="02020503050405090304"/>
              <a:ea typeface="微软雅黑"/>
              <a:cs typeface="Times New Roman" panose="02020503050405090304"/>
            </a:endParaRPr>
          </a:p>
        </c:rich>
      </c:tx>
      <c:layout/>
      <c:overlay val="0"/>
    </c:title>
    <c:autoTitleDeleted val="0"/>
    <c:plotArea>
      <c:layout/>
      <c:barChart>
        <c:barDir val="col"/>
        <c:grouping val="clustered"/>
        <c:varyColors val="0"/>
        <c:ser>
          <c:idx val="0"/>
          <c:order val="0"/>
          <c:tx>
            <c:strRef>
              <c:f>'Chart Data'!$B$1</c:f>
              <c:strCache>
                <c:ptCount val="1"/>
                <c:pt idx="0">
                  <c:v>参考策略 q</c:v>
                </c:pt>
              </c:strCache>
            </c:strRef>
          </c:tx>
          <c:spPr>
            <a:solidFill>
              <a:srgbClr val="357AE8"/>
            </a:solidFill>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Times New Roman" panose="02020503050405090304"/>
                    <a:ea typeface="微软雅黑"/>
                    <a:cs typeface="Times New Roman" panose="02020503050405090304"/>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Data'!$A$2:$A$4</c:f>
              <c:strCache>
                <c:ptCount val="3"/>
                <c:pt idx="0">
                  <c:v>候选词 A</c:v>
                </c:pt>
                <c:pt idx="1">
                  <c:v>候选词 B</c:v>
                </c:pt>
                <c:pt idx="2">
                  <c:v>候选词 C</c:v>
                </c:pt>
              </c:strCache>
            </c:strRef>
          </c:cat>
          <c:val>
            <c:numRef>
              <c:f>'Chart Data'!$B$2:$B$4</c:f>
              <c:numCache>
                <c:formatCode>0%</c:formatCode>
                <c:ptCount val="3"/>
                <c:pt idx="0">
                  <c:v>0.6</c:v>
                </c:pt>
                <c:pt idx="1">
                  <c:v>0.3</c:v>
                </c:pt>
                <c:pt idx="2">
                  <c:v>0.1</c:v>
                </c:pt>
              </c:numCache>
            </c:numRef>
          </c:val>
        </c:ser>
        <c:ser>
          <c:idx val="1"/>
          <c:order val="1"/>
          <c:tx>
            <c:strRef>
              <c:f>'Chart Data'!$D$1</c:f>
              <c:strCache>
                <c:ptCount val="1"/>
                <c:pt idx="0">
                  <c:v>当前策略 p</c:v>
                </c:pt>
              </c:strCache>
            </c:strRef>
          </c:tx>
          <c:spPr>
            <a:solidFill>
              <a:srgbClr val="E60012"/>
            </a:solidFill>
          </c:spPr>
          <c:invertIfNegative val="0"/>
          <c:dLbls>
            <c:numFmt formatCode="0%" sourceLinked="0"/>
            <c:spPr>
              <a:noFill/>
              <a:ln>
                <a:noFill/>
              </a:ln>
              <a:effectLst/>
            </c:spPr>
            <c:txPr>
              <a:bodyPr rot="0" spcFirstLastPara="0" vertOverflow="ellipsis" vert="horz" wrap="square" lIns="38100" tIns="19050" rIns="38100" bIns="19050" anchor="ctr" anchorCtr="1"/>
              <a:lstStyle/>
              <a:p>
                <a:pPr>
                  <a:defRPr lang="zh-CN" sz="1000" b="0" i="0" u="none" strike="noStrike" kern="1200" baseline="0">
                    <a:solidFill>
                      <a:schemeClr val="tx1"/>
                    </a:solidFill>
                    <a:latin typeface="Times New Roman" panose="02020503050405090304"/>
                    <a:ea typeface="微软雅黑"/>
                    <a:cs typeface="Times New Roman" panose="02020503050405090304"/>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Data'!$C$2:$C$4</c:f>
              <c:strCache>
                <c:ptCount val="3"/>
                <c:pt idx="0">
                  <c:v>候选词 A</c:v>
                </c:pt>
                <c:pt idx="1">
                  <c:v>候选词 B</c:v>
                </c:pt>
                <c:pt idx="2">
                  <c:v>候选词 C</c:v>
                </c:pt>
              </c:strCache>
            </c:strRef>
          </c:cat>
          <c:val>
            <c:numRef>
              <c:f>'Chart Data'!$D$2:$D$4</c:f>
              <c:numCache>
                <c:formatCode>0%</c:formatCode>
                <c:ptCount val="3"/>
                <c:pt idx="0">
                  <c:v>0.9</c:v>
                </c:pt>
                <c:pt idx="1">
                  <c:v>0.08</c:v>
                </c:pt>
                <c:pt idx="2">
                  <c:v>0.02</c:v>
                </c:pt>
              </c:numCache>
            </c:numRef>
          </c:val>
        </c:ser>
        <c:dLbls>
          <c:showLegendKey val="0"/>
          <c:showVal val="1"/>
          <c:showCatName val="0"/>
          <c:showSerName val="0"/>
          <c:showPercent val="0"/>
          <c:showBubbleSize val="0"/>
        </c:dLbls>
        <c:gapWidth val="100"/>
        <c:overlap val="0"/>
        <c:axId val="48650112"/>
        <c:axId val="48672768"/>
      </c:barChart>
      <c:catAx>
        <c:axId val="48650112"/>
        <c:scaling>
          <c:orientation val="minMax"/>
        </c:scaling>
        <c:delete val="0"/>
        <c:axPos val="b"/>
        <c:numFmt formatCode="General" sourceLinked="1"/>
        <c:majorTickMark val="none"/>
        <c:minorTickMark val="none"/>
        <c:tickLblPos val="nextTo"/>
        <c:spPr>
          <a:ln w="5715">
            <a:solidFill>
              <a:srgbClr val="A6A6A6"/>
            </a:solidFill>
            <a:prstDash val="solid"/>
            <a:round/>
          </a:ln>
        </c:spPr>
        <c:txPr>
          <a:bodyPr rot="-60000000" spcFirstLastPara="0" vertOverflow="ellipsis" vert="horz" wrap="square" anchor="ctr" anchorCtr="1"/>
          <a:lstStyle/>
          <a:p>
            <a:pPr>
              <a:defRPr lang="zh-CN" sz="1425" b="0" i="0" u="none" strike="noStrike" kern="1200" baseline="0">
                <a:solidFill>
                  <a:srgbClr val="111111"/>
                </a:solidFill>
                <a:latin typeface="Times New Roman" panose="02020503050405090304"/>
                <a:ea typeface="微软雅黑"/>
                <a:cs typeface="Times New Roman" panose="02020503050405090304"/>
              </a:defRPr>
            </a:pPr>
          </a:p>
        </c:txPr>
        <c:crossAx val="48672768"/>
        <c:crosses val="autoZero"/>
        <c:auto val="1"/>
        <c:lblAlgn val="ctr"/>
        <c:lblOffset val="100"/>
        <c:noMultiLvlLbl val="0"/>
      </c:catAx>
      <c:valAx>
        <c:axId val="48672768"/>
        <c:scaling>
          <c:orientation val="minMax"/>
          <c:max val="1"/>
          <c:min val="0"/>
        </c:scaling>
        <c:delete val="0"/>
        <c:axPos val="l"/>
        <c:majorGridlines>
          <c:spPr>
            <a:ln w="4763">
              <a:solidFill>
                <a:srgbClr val="E5E5E5"/>
              </a:solidFill>
              <a:prstDash val="solid"/>
              <a:round/>
            </a:ln>
          </c:spPr>
        </c:majorGridlines>
        <c:numFmt formatCode="0%" sourceLinked="1"/>
        <c:majorTickMark val="none"/>
        <c:minorTickMark val="none"/>
        <c:tickLblPos val="nextTo"/>
        <c:spPr>
          <a:ln w="0">
            <a:noFill/>
            <a:prstDash val="solid"/>
            <a:round/>
          </a:ln>
        </c:spPr>
        <c:txPr>
          <a:bodyPr rot="-60000000" spcFirstLastPara="0" vertOverflow="ellipsis" vert="horz" wrap="square" anchor="ctr" anchorCtr="1"/>
          <a:lstStyle/>
          <a:p>
            <a:pPr>
              <a:defRPr lang="zh-CN" sz="1275" b="0" i="0" u="none" strike="noStrike" kern="1200" baseline="0">
                <a:solidFill>
                  <a:srgbClr val="666666"/>
                </a:solidFill>
                <a:latin typeface="Times New Roman" panose="02020503050405090304"/>
                <a:ea typeface="微软雅黑"/>
                <a:cs typeface="Times New Roman" panose="02020503050405090304"/>
              </a:defRPr>
            </a:pPr>
          </a:p>
        </c:txPr>
        <c:crossAx val="48650112"/>
        <c:crosses val="autoZero"/>
        <c:crossBetween val="between"/>
        <c:majorUnit val="0.5"/>
      </c:valAx>
      <c:spPr>
        <a:solidFill>
          <a:srgbClr val="FFFFFF"/>
        </a:solidFill>
        <a:ln w="0">
          <a:noFill/>
        </a:ln>
      </c:spPr>
    </c:plotArea>
    <c:legend>
      <c:legendPos val="b"/>
      <c:layout/>
      <c:overlay val="0"/>
      <c:txPr>
        <a:bodyPr rot="0" spcFirstLastPara="0" vertOverflow="ellipsis" vert="horz" wrap="square" anchor="ctr" anchorCtr="1"/>
        <a:lstStyle/>
        <a:p>
          <a:pPr>
            <a:defRPr lang="zh-CN" sz="1350" b="0" i="0" u="none" strike="noStrike" kern="1200" baseline="0">
              <a:solidFill>
                <a:srgbClr val="111111"/>
              </a:solidFill>
              <a:latin typeface="Times New Roman" panose="02020503050405090304"/>
              <a:ea typeface="微软雅黑"/>
              <a:cs typeface="Times New Roman" panose="02020503050405090304"/>
            </a:defRPr>
          </a:pPr>
        </a:p>
      </c:txPr>
    </c:legend>
    <c:plotVisOnly val="1"/>
    <c:dispBlanksAs val="gap"/>
    <c:showDLblsOverMax val="0"/>
    <c:extLst>
      <c:ext uri="{0b15fc19-7d7d-44ad-8c2d-2c3a37ce22c3}">
        <chartProps xmlns="https://web.wps.cn/et/2018/main" chartId="{1ecdc7a7-29f2-4826-9548-7513f878be4e}"/>
      </c:ext>
    </c:extLst>
  </c:chart>
  <c:spPr>
    <a:solidFill>
      <a:srgbClr val="FFFFFF"/>
    </a:solidFill>
    <a:ln w="0">
      <a:noFill/>
    </a:ln>
  </c:spPr>
  <c:txPr>
    <a:bodyPr/>
    <a:lstStyle/>
    <a:p>
      <a:pPr>
        <a:defRPr lang="zh-CN">
          <a:latin typeface="Times New Roman" panose="02020503050405090304"/>
          <a:ea typeface="微软雅黑"/>
          <a:cs typeface="Times New Roman" panose="02020503050405090304"/>
        </a:defRPr>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atin typeface="Times New Roman" panose="02020503050405090304"/>
        <a:ea typeface="微软雅黑"/>
        <a:cs typeface="Times New Roman" panose="02020503050405090304"/>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1 页｜开场：用 Wordle 理解大模型训练</a:t>
            </a:r>
          </a:p>
          <a:p>
            <a:r>
              <a:t>建议约 5 分钟（包含互动）。课程累计 0–5 分钟。</a:t>
            </a:r>
          </a:p>
          <a:p/>
          <a:p>
            <a:r>
              <a:t>【00:00–01:00 任务引入】</a:t>
            </a:r>
          </a:p>
          <a:p>
            <a:r>
              <a:t>大家好，我是刘原辰。今天我们围绕一个具体问题展开：怎样把已经能够生成文字的模型，训练成一个能按照规则玩猜词游戏的模型？我们会使用同一个 Wordle 任务，从数据里的示范回答讲到训练过程，再看模型自己尝试、接受奖励以及出现异常时如何排查。请大家先想一想：如果模型回答得很流畅，却始终猜不中，我们应该增加训练时间、修改数据，还是重新设计评测？今天的内容会帮助大家给出有依据的判断。这里关注的是如何建立和检查训练流程，而不是单纯记住某一条启动命令。</a:t>
            </a:r>
          </a:p>
          <a:p/>
          <a:p>
            <a:r>
              <a:t>【01:00–02:00 了解学员起点】</a:t>
            </a:r>
          </a:p>
          <a:p>
            <a:r>
              <a:t>先做一个简短调查。用过大模型推理接口的同学举手；实际运行过微调的同学再举手；看过 loss 曲线、但不知道该不该继续训练的同学也可以举手。停留十秒，邀请一位同学用一句话说出自己的经历。如果大家经验</a:t>
            </a:r>
            <a:r>
              <a:rPr>
                <a:latin typeface="Times New Roman" panose="02020503050405090304" charset="0"/>
              </a:rPr>
              <a:t>差异较大，我们就用两个层次理解同一页：先理解它在解决什么问题，再看代码怎样实现。暂时不熟悉分布式训练也没有关系，后面会把训练进程、分片和显存逐项展开；熟悉训练的同学则可以重点核对自己习惯使用的假设是否适用于本课。</a:t>
            </a:r>
            <a:endParaRPr>
              <a:latin typeface="Times New Roman" panose="02020503050405090304" charset="0"/>
            </a:endParaRPr>
          </a:p>
          <a:p>
            <a:endParaRPr>
              <a:latin typeface="Times New Roman" panose="02020503050405090304" charset="0"/>
            </a:endParaRPr>
          </a:p>
          <a:p>
            <a:r>
              <a:t>【02:00–03:00 两种训练信号】</a:t>
            </a:r>
          </a:p>
          <a:p>
            <a:r>
              <a:t>先用一个生活中的区别建立直觉。有人教你猜词时，可以给你看几局示范，告诉你看到这种反馈后，下一步通常怎样猜，这接近监督微调。也可以让你自己玩，根据有没有猜中、用了几次机会来评价表现，再改进选择，这接近强化学习。两者都会涉及模型参数的更新，但学习依据不同。监督微调中的示范并不必然是最优策略，强化学习中的奖励也并不天然正确。我们会反复检查示范质量和奖励定义，而不会只因为训练程序正常结束，就宣布模型学会了任务。</a:t>
            </a:r>
          </a:p>
          <a:p/>
          <a:p>
            <a:r>
              <a:t>【03:00–04:00 课堂操作方式】</a:t>
            </a:r>
          </a:p>
          <a:p>
            <a:r>
              <a:t>本课程有代码、配置和已经保存的运行结果。课堂上先观察一个样本、计算一个小例子，再读相应代码或日志，最后用练习检查理解。完整训练可能明显长于单页讲解时间，所以演示长程结果时，会说明它来自教程参考运行；需要重新验证的实验，则安排在课后执行。建议准备一个简单记录表，分成现象、证据、推测和下一步四栏。比如看到奖励上升，先记下对应 step、任务正确率和一条实际回复，别立即把奖励上升翻译成模型全面变强。</a:t>
            </a:r>
          </a:p>
          <a:p/>
          <a:p>
            <a:r>
              <a:t>【04:00–05:00 提出个人问题】</a:t>
            </a:r>
          </a:p>
          <a:p>
            <a:r>
              <a:t>现在请大家用二十秒写下一个希望在课程结束时能回答的问题，尽量具体，比如“用户消息为什么不算监督损失”或者“熵降低是不是坏事”。请一位同学读出问题，我们先记录，不急着提前展开后面章节。课程的价值是形成一套可复用的判断方法：知道模型看到了什么、优化了什么，以及我们凭什么相信结果。带着这三个问题进入下一页。接下来会把课程目标变成几件可以现场做出来的事，结束时再回头核对，而不只用听过了来代替掌握了。</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这门 RL 课程以上一阶段的 SFT 模型为训练起点。第一，分清 verl、vLLM、vllm-ascend 与 NPU 的职责，完成环境检查。第二，理解同一道任务多次采样后的组内比较，能够计算相对优势，并解释 KL 约束与熵奖励。第三，准备 Wordle 数据和奖励配置，理解多轮 rollout、response_mask 和验证指标。第四，结合验证猜中率、奖励分项、熵、KL 与完整输出排查异常，并设计一次只改变一个因素的对照实验。重点是说明为什么这样配置，以及用什么证据判断训练有效。</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27 页｜RL 初阶课程</a:t>
            </a:r>
          </a:p>
          <a:p>
            <a:r>
              <a:t>建议约 5 分钟（包含互动）。课程累计 130–135 分钟。</a:t>
            </a:r>
          </a:p>
          <a:p/>
          <a:p>
            <a:r>
              <a:t>【00:00–01:00 承接 SFT 结果】</a:t>
            </a:r>
          </a:p>
          <a:p>
            <a:r>
              <a:t>前半段我们已经把 Wordle 数据整理成训练对话，完成了监督微调，并且区分了格式合规与真正猜中这两件事。请大家先回想一个问题：一个模型能够稳定输出 guess 标签，是不是就意味着它能充分利用每次颜色反馈？答案是否定的。我们需要查看逐局记录，看看它是否还会重复已经排除的字母，是否在确认位置以后又把正确字母移走。接下来的强化学习部分，就沿着这些能够观察的行为继续训练。我们仍然使用同一个语言模型和同一个游戏，变化的是训练信号如何获得。</a:t>
            </a:r>
          </a:p>
          <a:p/>
          <a:p>
            <a:r>
              <a:t>【01:00–02:00 说明四章的交付物】</a:t>
            </a:r>
          </a:p>
          <a:p>
            <a:r>
              <a:t>请沿着目录看四个部分。第一部分准备环境，目标是知道生成、评分、参数更新分别交给谁；第二部分解释策略、奖励、优势以及稳定性，让我们能够读懂后面的配置；第三部分把这些组件接起来，运行 Wordle 训练并解释日志；第四部分面对异常结果做诊断。每部分都有一个可以检查的产物：可用的环境、能说清楚的更新逻辑、可回看的一条轨迹，以及有依据的调参记录。目录不是四套互不相关的知识，它们共同服务于一个问题：这次参数更新为什么可能让模型表现更好。</a:t>
            </a:r>
          </a:p>
          <a:p/>
          <a:p>
            <a:r>
              <a:t>【02:00–03:00 课堂预测与讨论】</a:t>
            </a:r>
          </a:p>
          <a:p>
            <a:r>
              <a:t>现在给大家二十秒，在纸上写下一个自己希望 RL 改善的 Wordle 行为。可以写减少无效格式，也可以写利用已知的绿色位置，或者减少猜中所需的轮数。请旁边同学判断，这个愿望能不能通过某个可计算的指标观察到。如果只写“更聪明”，我们还不能直接训练或评测；把它改成“相同测试词上，六轮内猜中的比例更高”，就变得可检查了。再追问一句：如果模型只把句子写得更长，奖励却提高了，你会不会接受？我们要把任务目标和容易被钻空子的评分规则分开。</a:t>
            </a:r>
          </a:p>
          <a:p/>
          <a:p>
            <a:r>
              <a:t>【03:00–04:00 定位代码与运行条件】</a:t>
            </a:r>
          </a:p>
          <a:p>
            <a:r>
              <a:t>实操时请分清两个仓库：课程 notebook 在 cann-learning-hub 中，训练脚本和 Wordle 补丁在同级 cann-recipes-train 的 llm_rl/qwen3_wordle 目录。课程第一章会定位这些目录，然后安装配套组件。我们将从前面得到的 SFT 权重继续，而不是随机初始化模型重新学语言。这里的环境配方固定了 verl、vLLM 和昇腾适配的版本，课堂解释以这套配方为准；看到其他教程使用不同入口或配置名时，先核对版本，不要把片段直接拼在一起。运行位置正确和模型路径可用，是后面一切结果能够复现的起点。</a:t>
            </a:r>
          </a:p>
          <a:p/>
          <a:p>
            <a:r>
              <a:t>【04:00–05:00 建立本节观察任务】</a:t>
            </a:r>
          </a:p>
          <a:p>
            <a:r>
              <a:t>进入下一页前，请大家带着三个问题：谁产生训练用的回答，谁评价这些回答，谁根据评分修改参数。现在可以先猜，不要求立即记住所有组件名称。等讲完环境架构，我们会用一道练习检查分工是否清楚。还有一个需要提前澄清的边界：RL 在这里不需要每个输出 token 的示范标签，但 Wordle 环境仍然持有秘密词，用来生成反馈和判分。秘密词是裁判知道的信息，模型只看游戏规则与历次反馈。只要记住这一点，就能避免把自动评分误解成完全不需要正确性依据。</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前面我们已经完成了监督微调，也就是 </a:t>
            </a:r>
            <a:r>
              <a:rPr lang="en-US" altLang="zh-CN"/>
              <a:t>SFT，</a:t>
            </a:r>
            <a:r>
              <a:rPr lang="zh-CN" altLang="en-US"/>
              <a:t>也比较了训练前后模型玩 </a:t>
            </a:r>
            <a:r>
              <a:rPr lang="en-US" altLang="zh-CN"/>
              <a:t>Wordle </a:t>
            </a:r>
            <a:r>
              <a:rPr lang="zh-CN" altLang="en-US"/>
              <a:t>的表现。评测帮助我们了解模型有没有进步，但评测过程本身不会更新参数。接下来，我们要利用模型自己玩游戏的经历，继续训练它。</a:t>
            </a:r>
            <a:endParaRPr lang="zh-CN" altLang="en-US"/>
          </a:p>
          <a:p>
            <a:r>
              <a:rPr lang="zh-CN" altLang="en-US"/>
              <a:t>这就是本课程接下来使用的强化学习，简称 </a:t>
            </a:r>
            <a:r>
              <a:rPr lang="en-US" altLang="zh-CN"/>
              <a:t>RL：</a:t>
            </a:r>
            <a:r>
              <a:rPr lang="zh-CN" altLang="en-US"/>
              <a:t>让模型尝试，根据表现评分，再利用这些评分指导参数更新。 请大家先看左边两条流程，比较它们各自依靠什么来学习。</a:t>
            </a:r>
            <a:endParaRPr lang="zh-CN" altLang="en-US"/>
          </a:p>
          <a:p>
            <a:r>
              <a:rPr lang="zh-CN" altLang="en-US"/>
              <a:t>上面是我们昨天做过的 </a:t>
            </a:r>
            <a:r>
              <a:rPr lang="en-US" altLang="zh-CN"/>
              <a:t>SFT。</a:t>
            </a:r>
            <a:r>
              <a:rPr lang="zh-CN" altLang="en-US"/>
              <a:t>训练数据中已经准备好了示范对话，记录了怎样猜词，以及收到反馈以后怎样继续回答</a:t>
            </a:r>
            <a:r>
              <a:rPr lang="en-US" altLang="zh-CN"/>
              <a:t>。</a:t>
            </a:r>
            <a:r>
              <a:rPr lang="zh-CN" altLang="en-US"/>
              <a:t>模型学习的是：在这样的上下文中，示范回答是怎样给出的。</a:t>
            </a:r>
            <a:endParaRPr lang="zh-CN" altLang="en-US"/>
          </a:p>
          <a:p>
            <a:r>
              <a:rPr lang="zh-CN" altLang="en-US"/>
              <a:t>沿着上面的流程看，首先是 </a:t>
            </a:r>
            <a:r>
              <a:rPr lang="en-US" altLang="zh-CN"/>
              <a:t>Forward，</a:t>
            </a:r>
            <a:r>
              <a:rPr lang="zh-CN" altLang="en-US"/>
              <a:t>也就是前向计算。模型根据当前参数，计算下一个 </a:t>
            </a:r>
            <a:r>
              <a:rPr lang="en-US" altLang="zh-CN"/>
              <a:t>token </a:t>
            </a:r>
            <a:r>
              <a:rPr lang="zh-CN" altLang="en-US"/>
              <a:t>的各种可能性。</a:t>
            </a:r>
            <a:r>
              <a:rPr lang="en-US" altLang="zh-CN"/>
              <a:t>token </a:t>
            </a:r>
            <a:r>
              <a:rPr lang="zh-CN" altLang="en-US"/>
              <a:t>就是模型处理文字的小单位。</a:t>
            </a:r>
            <a:endParaRPr lang="zh-CN" altLang="en-US"/>
          </a:p>
          <a:p>
            <a:r>
              <a:rPr lang="zh-CN" altLang="en-US"/>
              <a:t>接着是 </a:t>
            </a:r>
            <a:r>
              <a:rPr lang="en-US" altLang="zh-CN"/>
              <a:t>CE loss，</a:t>
            </a:r>
            <a:r>
              <a:rPr lang="zh-CN" altLang="en-US"/>
              <a:t>也就是交叉熵损失。它检查模型给示范中目标 </a:t>
            </a:r>
            <a:r>
              <a:rPr lang="en-US" altLang="zh-CN"/>
              <a:t>token </a:t>
            </a:r>
            <a:r>
              <a:rPr lang="zh-CN" altLang="en-US"/>
              <a:t>分配了多大的概率。这个概率越低，就说明模型越不倾向于给出示范中的内容，对应的损失也越大。结合前面的数据处理，这里主要对 </a:t>
            </a:r>
            <a:r>
              <a:rPr lang="en-US" altLang="zh-CN"/>
              <a:t>assistant </a:t>
            </a:r>
            <a:r>
              <a:rPr lang="zh-CN" altLang="en-US"/>
              <a:t>的目标位置计算损失，用户输入和补齐位置不参与计分。</a:t>
            </a:r>
            <a:endParaRPr lang="zh-CN" altLang="en-US"/>
          </a:p>
          <a:p>
            <a:r>
              <a:rPr lang="zh-CN" altLang="en-US"/>
              <a:t>然后是 </a:t>
            </a:r>
            <a:r>
              <a:rPr lang="en-US" altLang="zh-CN"/>
              <a:t>Backward，</a:t>
            </a:r>
            <a:r>
              <a:rPr lang="zh-CN" altLang="en-US"/>
              <a:t>也就是反向传播，根据损失计算梯度。最后，优化器利用梯度更新参数，让模型以后更倾向于生成示范中的回答。这就是 </a:t>
            </a:r>
            <a:r>
              <a:rPr lang="en-US" altLang="zh-CN"/>
              <a:t>SFT </a:t>
            </a:r>
            <a:r>
              <a:rPr lang="zh-CN" altLang="en-US"/>
              <a:t>从示范中学习的过程。</a:t>
            </a:r>
            <a:endParaRPr lang="zh-CN" altLang="en-US"/>
          </a:p>
          <a:p>
            <a:r>
              <a:rPr lang="zh-CN" altLang="en-US"/>
              <a:t>再看下面的 </a:t>
            </a:r>
            <a:r>
              <a:rPr lang="en-US" altLang="zh-CN"/>
              <a:t>RL </a:t>
            </a:r>
            <a:r>
              <a:rPr lang="zh-CN" altLang="en-US"/>
              <a:t>流程。这里可以直接加载前面导出的 </a:t>
            </a:r>
            <a:r>
              <a:rPr lang="en-US" altLang="zh-CN"/>
              <a:t>SFT </a:t>
            </a:r>
            <a:r>
              <a:rPr lang="zh-CN" altLang="en-US"/>
              <a:t>权重，在已经训练过的模型上继续学习。 我们给模型游戏规则，让它自己猜词、接收反馈，再根据反馈继续猜，直到猜中或者用完机会。</a:t>
            </a:r>
            <a:endParaRPr lang="zh-CN" altLang="en-US"/>
          </a:p>
          <a:p>
            <a:r>
              <a:rPr lang="zh-CN" altLang="en-US"/>
              <a:t>这样一整局的交互过程，叫作一条 </a:t>
            </a:r>
            <a:r>
              <a:rPr lang="en-US" altLang="zh-CN"/>
              <a:t>rollout，</a:t>
            </a:r>
            <a:r>
              <a:rPr lang="zh-CN" altLang="en-US"/>
              <a:t>也可以称为一条轨迹。它可能包含多次模型回复和环境反馈。</a:t>
            </a:r>
            <a:endParaRPr lang="zh-CN" altLang="en-US"/>
          </a:p>
          <a:p>
            <a:r>
              <a:rPr lang="zh-CN" altLang="en-US"/>
              <a:t>一局结束后，程序根据评分规则评价它的表现，例如是否猜中、字母匹配情况、猜测效率和回复格式。这个评分程序叫作奖励函数，算出的分数就是 </a:t>
            </a:r>
            <a:r>
              <a:rPr lang="en-US" altLang="zh-CN"/>
              <a:t>reward，</a:t>
            </a:r>
            <a:r>
              <a:rPr lang="zh-CN" altLang="en-US"/>
              <a:t>也就是奖励。</a:t>
            </a:r>
            <a:endParaRPr lang="zh-CN" altLang="en-US"/>
          </a:p>
          <a:p>
            <a:r>
              <a:rPr lang="zh-CN" altLang="en-US"/>
              <a:t>接下来，我们比较同一道任务的多次尝试，判断哪些表现高于这一组的平均水平，哪些低于平均水平。这个相对好坏的信号，就叫作 </a:t>
            </a:r>
            <a:r>
              <a:rPr lang="en-US" altLang="zh-CN"/>
              <a:t>advantage，</a:t>
            </a:r>
            <a:r>
              <a:rPr lang="zh-CN" altLang="en-US"/>
              <a:t>也就是优势。图中的 </a:t>
            </a:r>
            <a:r>
              <a:rPr lang="en-US" altLang="zh-CN"/>
              <a:t>GRPO，</a:t>
            </a:r>
            <a:r>
              <a:rPr lang="zh-CN" altLang="en-US"/>
              <a:t>就是利用这种组内比较来指导训练的一种算法，具体计算方式后面会单独讲。</a:t>
            </a:r>
            <a:endParaRPr lang="zh-CN" altLang="en-US"/>
          </a:p>
          <a:p>
            <a:r>
              <a:rPr lang="zh-CN" altLang="en-US"/>
              <a:t>训练程序会利用这些信号计算损失，再进行反向传播和参数更新。更新的目标，是让模型以后更倾向于作出有效的选择。这里的策略，大家先理解为“模型根据已有信息，决定下一步怎么猜”。</a:t>
            </a:r>
            <a:endParaRPr lang="zh-CN" altLang="en-US"/>
          </a:p>
          <a:p>
            <a:r>
              <a:rPr lang="zh-CN" altLang="en-US"/>
              <a:t>注意，模型在一局游戏中收到反馈、改变下一次猜测，主要是在利用新的上下文信息。只有执行了训练更新，模型参数才会发生变化。 因此，自己玩了几局、挑出得分最高的一局，还不等于完成了强化学习训练。</a:t>
            </a:r>
            <a:endParaRPr lang="zh-CN" altLang="en-US"/>
          </a:p>
          <a:p>
            <a:r>
              <a:rPr lang="zh-CN" altLang="en-US"/>
              <a:t>再看页面下方的 </a:t>
            </a:r>
            <a:r>
              <a:rPr lang="en-US" altLang="zh-CN"/>
              <a:t>ground_truth。</a:t>
            </a:r>
            <a:r>
              <a:rPr lang="zh-CN" altLang="en-US"/>
              <a:t>它指的是用于判分的真实答案，在 </a:t>
            </a:r>
            <a:r>
              <a:rPr lang="en-US" altLang="zh-CN"/>
              <a:t>Wordle </a:t>
            </a:r>
            <a:r>
              <a:rPr lang="zh-CN" altLang="en-US"/>
              <a:t>中就是秘密单词。环境保留这个秘密词，用来生成颜色反馈和计算奖励，模型看到的是规则与历史反馈。因此，这里不需要提前写好每一步的示范回复，但仍然需要秘密词作为判分依据。</a:t>
            </a:r>
            <a:endParaRPr lang="zh-CN" altLang="en-US"/>
          </a:p>
          <a:p>
            <a:r>
              <a:rPr lang="en-US" altLang="zh-CN"/>
              <a:t>SFT </a:t>
            </a:r>
            <a:r>
              <a:rPr lang="zh-CN" altLang="en-US"/>
              <a:t>也能通过示范学习怎样利用反馈。</a:t>
            </a:r>
            <a:r>
              <a:rPr lang="en-US" altLang="zh-CN"/>
              <a:t>RL </a:t>
            </a:r>
            <a:r>
              <a:rPr lang="zh-CN" altLang="en-US"/>
              <a:t>则让模型进一步从自己的尝试中获得训练信号。最终有没有改善，仍然要像前面一样，通过相同条件下的评测来检查。</a:t>
            </a:r>
            <a:endParaRPr lang="zh-CN" altLang="en-US"/>
          </a:p>
          <a:p>
            <a:r>
              <a:rPr lang="zh-CN" altLang="en-US"/>
              <a:t>右侧还出现了两个工具名：</a:t>
            </a:r>
            <a:r>
              <a:rPr lang="en-US" altLang="zh-CN"/>
              <a:t>vLLM </a:t>
            </a:r>
            <a:r>
              <a:rPr lang="zh-CN" altLang="en-US"/>
              <a:t>负责高效生成模型回复，</a:t>
            </a:r>
            <a:r>
              <a:rPr lang="en-US" altLang="zh-CN"/>
              <a:t>verl </a:t>
            </a:r>
            <a:r>
              <a:rPr lang="zh-CN" altLang="en-US"/>
              <a:t>负责把生成、评分和训练更新组织起来。 下一页，我们就沿着这条流程，看这些组件分别承担什么工作。</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上一页我们已经知道，强化学习需要让模型自己尝试，再根据表现继续训练。这一页要解决的是：这些工作分别由谁完成？</a:t>
            </a:r>
            <a:endParaRPr lang="zh-CN" altLang="en-US"/>
          </a:p>
          <a:p>
            <a:r>
              <a:rPr lang="zh-CN" altLang="en-US"/>
              <a:t>这里的“训练环境”，指的是运行训练所需的软件和硬件。</a:t>
            </a:r>
            <a:endParaRPr lang="zh-CN" altLang="en-US"/>
          </a:p>
          <a:p>
            <a:r>
              <a:rPr lang="zh-CN" altLang="en-US"/>
              <a:t>先看最外层的 </a:t>
            </a:r>
            <a:r>
              <a:rPr lang="en-US" altLang="zh-CN"/>
              <a:t>verl。</a:t>
            </a:r>
            <a:r>
              <a:rPr lang="zh-CN" altLang="en-US"/>
              <a:t>它是强化学习训练框架，负责组织整个训练过程。我们准备好模型和数据以后，由它安排生成游戏过程、计算奖励和优势，再调度训练组件更新模型参数。被训练的模型仍然是 </a:t>
            </a:r>
            <a:r>
              <a:rPr lang="en-US" altLang="zh-CN"/>
              <a:t>Qwen，verl </a:t>
            </a:r>
            <a:r>
              <a:rPr lang="zh-CN" altLang="en-US"/>
              <a:t>是组织这些工作的软件。</a:t>
            </a:r>
            <a:endParaRPr lang="zh-CN" altLang="en-US"/>
          </a:p>
          <a:p>
            <a:r>
              <a:rPr lang="zh-CN" altLang="en-US"/>
              <a:t>结合 </a:t>
            </a:r>
            <a:r>
              <a:rPr lang="en-US" altLang="zh-CN"/>
              <a:t>Wordle </a:t>
            </a:r>
            <a:r>
              <a:rPr lang="zh-CN" altLang="en-US"/>
              <a:t>来看，</a:t>
            </a:r>
            <a:r>
              <a:rPr lang="en-US" altLang="zh-CN"/>
              <a:t>verl </a:t>
            </a:r>
            <a:r>
              <a:rPr lang="zh-CN" altLang="en-US"/>
              <a:t>会从数据集中读取任务。一条任务中既有游戏规则，也有用于判分的秘密词，但这两类信息的去向不同。规则和对话上下文可以交给模型，秘密词则留给游戏环境和奖励函数。 例如秘密词是 </a:t>
            </a:r>
            <a:r>
              <a:rPr lang="en-US" altLang="zh-CN"/>
              <a:t>PLANE，</a:t>
            </a:r>
            <a:r>
              <a:rPr lang="zh-CN" altLang="en-US"/>
              <a:t>模型看到的是“请猜一个五字母单词，最多六次机会”，不能直接看到答案。</a:t>
            </a:r>
            <a:endParaRPr lang="zh-CN" altLang="en-US"/>
          </a:p>
          <a:p>
            <a:r>
              <a:rPr lang="zh-CN" altLang="en-US"/>
              <a:t>再看中间的 </a:t>
            </a:r>
            <a:r>
              <a:rPr lang="en-US" altLang="zh-CN"/>
              <a:t>vLLM。</a:t>
            </a:r>
            <a:r>
              <a:rPr lang="zh-CN" altLang="en-US"/>
              <a:t>它是推理引擎，负责加载模型权重、接收输入，再运行模型生成回复。这里的“推理”，就是使用已有参数计算并生成输出，这个过程本身不更新参数。</a:t>
            </a:r>
            <a:endParaRPr lang="zh-CN" altLang="en-US"/>
          </a:p>
          <a:p>
            <a:r>
              <a:rPr lang="zh-CN" altLang="en-US"/>
              <a:t>因此，</a:t>
            </a:r>
            <a:r>
              <a:rPr lang="en-US" altLang="zh-CN"/>
              <a:t>Qwen </a:t>
            </a:r>
            <a:r>
              <a:rPr lang="zh-CN" altLang="en-US"/>
              <a:t>和 </a:t>
            </a:r>
            <a:r>
              <a:rPr lang="en-US" altLang="zh-CN"/>
              <a:t>vLLM </a:t>
            </a:r>
            <a:r>
              <a:rPr lang="zh-CN" altLang="en-US"/>
              <a:t>的关系是：</a:t>
            </a:r>
            <a:r>
              <a:rPr lang="en-US" altLang="zh-CN"/>
              <a:t>Qwen </a:t>
            </a:r>
            <a:r>
              <a:rPr lang="zh-CN" altLang="en-US"/>
              <a:t>是模型，</a:t>
            </a:r>
            <a:r>
              <a:rPr lang="en-US" altLang="zh-CN"/>
              <a:t>vLLM </a:t>
            </a:r>
            <a:r>
              <a:rPr lang="zh-CN" altLang="en-US"/>
              <a:t>是运行模型、完成生成的软件工具。 比如把当前游戏上下文交给 </a:t>
            </a:r>
            <a:r>
              <a:rPr lang="en-US" altLang="zh-CN"/>
              <a:t>vLLM，</a:t>
            </a:r>
            <a:r>
              <a:rPr lang="zh-CN" altLang="en-US"/>
              <a:t>它运行 </a:t>
            </a:r>
            <a:r>
              <a:rPr lang="en-US" altLang="zh-CN"/>
              <a:t>Qwen，</a:t>
            </a:r>
            <a:r>
              <a:rPr lang="zh-CN" altLang="en-US"/>
              <a:t>生成一条猜词回复</a:t>
            </a:r>
            <a:r>
              <a:rPr lang="en-US" altLang="zh-CN"/>
              <a:t>。</a:t>
            </a:r>
            <a:r>
              <a:rPr lang="zh-CN" altLang="en-US"/>
              <a:t>接下来，需要游戏环境检查这次猜测。环境知道秘密词是 </a:t>
            </a:r>
            <a:r>
              <a:rPr lang="en-US" altLang="zh-CN"/>
              <a:t>PLANE，</a:t>
            </a:r>
            <a:r>
              <a:rPr lang="zh-CN" altLang="en-US"/>
              <a:t>因此可以返回“</a:t>
            </a:r>
            <a:r>
              <a:rPr lang="en-US" altLang="zh-CN"/>
              <a:t>X、X、G、G、G，</a:t>
            </a:r>
            <a:r>
              <a:rPr lang="zh-CN" altLang="en-US"/>
              <a:t>还剩五次机会”。这些信息会被追加到对话中，再交给模型，作为下一次猜测的依据。</a:t>
            </a:r>
            <a:endParaRPr lang="zh-CN" altLang="en-US"/>
          </a:p>
          <a:p>
            <a:r>
              <a:rPr lang="zh-CN" altLang="en-US"/>
              <a:t>负责组织这种反复交互的，就是页面下方出现的 </a:t>
            </a:r>
            <a:r>
              <a:rPr lang="en-US" altLang="zh-CN"/>
              <a:t>WordleAgentLoop。</a:t>
            </a:r>
            <a:r>
              <a:rPr lang="zh-CN" altLang="en-US"/>
              <a:t>大家先把它理解为“管理一局 </a:t>
            </a:r>
            <a:r>
              <a:rPr lang="en-US" altLang="zh-CN"/>
              <a:t>Wordle </a:t>
            </a:r>
            <a:r>
              <a:rPr lang="zh-CN" altLang="en-US"/>
              <a:t>游戏过程的程序”：它组织模型生成猜词、取得环境反馈，再让模型继续猜，直到猜中或者用完六次机会。</a:t>
            </a:r>
            <a:r>
              <a:rPr lang="en-US" altLang="zh-CN"/>
              <a:t>vLLM </a:t>
            </a:r>
            <a:r>
              <a:rPr lang="zh-CN" altLang="en-US"/>
              <a:t>负责其中每一次回复的生成。</a:t>
            </a:r>
            <a:endParaRPr lang="zh-CN" altLang="en-US"/>
          </a:p>
          <a:p>
            <a:r>
              <a:rPr lang="zh-CN" altLang="en-US"/>
              <a:t>这里要分清：一局游戏结束，表示收集到了一条完整的 </a:t>
            </a:r>
            <a:r>
              <a:rPr lang="en-US" altLang="zh-CN"/>
              <a:t>rollout，</a:t>
            </a:r>
            <a:r>
              <a:rPr lang="zh-CN" altLang="en-US"/>
              <a:t>也就是一条游戏轨迹，还不代表模型参数已经更新。 </a:t>
            </a:r>
            <a:r>
              <a:rPr lang="en-US" altLang="zh-CN"/>
              <a:t>verl </a:t>
            </a:r>
            <a:r>
              <a:rPr lang="zh-CN" altLang="en-US"/>
              <a:t>会组织收集一批这样的轨迹，再让奖励函数评分、计算相对优势，随后进入训练更新阶段。具体一批包含多少任务、一轮训练怎样流转，我们下一页继续看。</a:t>
            </a:r>
            <a:endParaRPr lang="zh-CN" altLang="en-US"/>
          </a:p>
          <a:p>
            <a:r>
              <a:rPr lang="zh-CN" altLang="en-US"/>
              <a:t>进入更新阶段以后，由 </a:t>
            </a:r>
            <a:r>
              <a:rPr lang="en-US" altLang="zh-CN"/>
              <a:t>verl </a:t>
            </a:r>
            <a:r>
              <a:rPr lang="zh-CN" altLang="en-US"/>
              <a:t>调度 </a:t>
            </a:r>
            <a:r>
              <a:rPr lang="en-US" altLang="zh-CN"/>
              <a:t>PyTorch、FSDP </a:t>
            </a:r>
            <a:r>
              <a:rPr lang="zh-CN" altLang="en-US"/>
              <a:t>等训练组件，计算损失、反向传播，再由优化器修改 </a:t>
            </a:r>
            <a:r>
              <a:rPr lang="en-US" altLang="zh-CN"/>
              <a:t>Qwen </a:t>
            </a:r>
            <a:r>
              <a:rPr lang="zh-CN" altLang="en-US"/>
              <a:t>的参数。更新后的权重还要同步给推理侧，后续生成才能使用训练后的模型。因此，左边的套框图表示组件分工，中间还有一个名字叫 </a:t>
            </a:r>
            <a:r>
              <a:rPr lang="en-US" altLang="zh-CN"/>
              <a:t>vLLM-Ascend。Ascend </a:t>
            </a:r>
            <a:r>
              <a:rPr lang="zh-CN" altLang="en-US"/>
              <a:t>就是昇腾，</a:t>
            </a:r>
            <a:r>
              <a:rPr lang="en-US" altLang="zh-CN"/>
              <a:t>vLLM-Ascend </a:t>
            </a:r>
            <a:r>
              <a:rPr lang="zh-CN" altLang="en-US"/>
              <a:t>是面向昇腾的适配插件，让 </a:t>
            </a:r>
            <a:r>
              <a:rPr lang="en-US" altLang="zh-CN"/>
              <a:t>vLLM </a:t>
            </a:r>
            <a:r>
              <a:rPr lang="zh-CN" altLang="en-US"/>
              <a:t>能够使用昇腾平台的计算能力。</a:t>
            </a:r>
            <a:endParaRPr lang="zh-CN" altLang="en-US"/>
          </a:p>
          <a:p>
            <a:r>
              <a:rPr lang="zh-CN" altLang="en-US"/>
              <a:t>再看最里面的 </a:t>
            </a:r>
            <a:r>
              <a:rPr lang="en-US" altLang="zh-CN"/>
              <a:t>Ascend NPU </a:t>
            </a:r>
            <a:r>
              <a:rPr lang="zh-CN" altLang="en-US"/>
              <a:t>和 </a:t>
            </a:r>
            <a:r>
              <a:rPr lang="en-US" altLang="zh-CN"/>
              <a:t>CANN。NPU </a:t>
            </a:r>
            <a:r>
              <a:rPr lang="zh-CN" altLang="en-US"/>
              <a:t>是实际执行计算的 </a:t>
            </a:r>
            <a:r>
              <a:rPr lang="en-US" altLang="zh-CN"/>
              <a:t>AI </a:t>
            </a:r>
            <a:r>
              <a:rPr lang="zh-CN" altLang="en-US"/>
              <a:t>处理器。</a:t>
            </a:r>
            <a:r>
              <a:rPr lang="en-US" altLang="zh-CN"/>
              <a:t>CANN </a:t>
            </a:r>
            <a:r>
              <a:rPr lang="zh-CN" altLang="en-US"/>
              <a:t>则是配套的基础计算软件平台，提供矩阵乘法等基本计算操作，以及运行、通信和开发工具等支持。上层软件提出计算需求，最终通过这些基础能力在 </a:t>
            </a:r>
            <a:r>
              <a:rPr lang="en-US" altLang="zh-CN"/>
              <a:t>NPU </a:t>
            </a:r>
            <a:r>
              <a:rPr lang="zh-CN" altLang="en-US"/>
              <a:t>上执行。</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最左边的 </a:t>
            </a:r>
            <a:r>
              <a:rPr lang="en-US" altLang="zh-CN"/>
              <a:t>Prompt </a:t>
            </a:r>
            <a:r>
              <a:rPr lang="zh-CN" altLang="en-US"/>
              <a:t>数据，就是模型需要接收的任务说明和初始消息。</a:t>
            </a:r>
            <a:r>
              <a:rPr lang="en-US" altLang="zh-CN"/>
              <a:t>Wordle </a:t>
            </a:r>
            <a:r>
              <a:rPr lang="zh-CN" altLang="en-US"/>
              <a:t>的秘密词仍然留在环境和评分字段中，不会作为答案展示给模型。</a:t>
            </a:r>
            <a:endParaRPr lang="zh-CN" altLang="en-US"/>
          </a:p>
          <a:p>
            <a:r>
              <a:rPr lang="zh-CN" altLang="en-US"/>
              <a:t>旁边的 </a:t>
            </a:r>
            <a:r>
              <a:rPr lang="en-US" altLang="zh-CN"/>
              <a:t>TaskRunner，</a:t>
            </a:r>
            <a:r>
              <a:rPr lang="zh-CN" altLang="en-US"/>
              <a:t>可以理解为负责准备和启动训练任务的程序。它准备配置、组件和计算资源，再启动真正的训练循环。</a:t>
            </a:r>
            <a:endParaRPr lang="zh-CN" altLang="en-US"/>
          </a:p>
          <a:p>
            <a:r>
              <a:rPr lang="zh-CN" altLang="en-US"/>
              <a:t>这里一次取出的是一批任务，后面会围绕这批任务生成游戏过程，再进行训练。任务准备好以后，就进入 </a:t>
            </a:r>
            <a:r>
              <a:rPr lang="en-US" altLang="zh-CN"/>
              <a:t>rollout，</a:t>
            </a:r>
            <a:r>
              <a:rPr lang="zh-CN" altLang="en-US"/>
              <a:t>也就是收集游戏过程的阶段。</a:t>
            </a:r>
            <a:endParaRPr lang="zh-CN" altLang="en-US"/>
          </a:p>
          <a:p>
            <a:r>
              <a:rPr lang="zh-CN" altLang="en-US"/>
              <a:t>首先是 </a:t>
            </a:r>
            <a:r>
              <a:rPr lang="en-US" altLang="zh-CN"/>
              <a:t>AgentLoopManager。Manager </a:t>
            </a:r>
            <a:r>
              <a:rPr lang="zh-CN" altLang="en-US"/>
              <a:t>是管理者，它负责把这一批生成任务分发出去，完成后再收集结果。</a:t>
            </a:r>
            <a:endParaRPr lang="zh-CN" altLang="en-US"/>
          </a:p>
          <a:p>
            <a:r>
              <a:rPr lang="zh-CN" altLang="en-US"/>
              <a:t>接收任务的是 </a:t>
            </a:r>
            <a:r>
              <a:rPr lang="en-US" altLang="zh-CN"/>
              <a:t>AgentLoop Worker。Worker </a:t>
            </a:r>
            <a:r>
              <a:rPr lang="zh-CN" altLang="en-US"/>
              <a:t>可以理解为执行任务的工作进程，它负责管理具体的游戏交互。</a:t>
            </a:r>
            <a:r>
              <a:rPr lang="en-US" altLang="zh-CN"/>
              <a:t>Worker </a:t>
            </a:r>
            <a:r>
              <a:rPr lang="zh-CN" altLang="en-US"/>
              <a:t>把游戏规则和当前上下文交给 </a:t>
            </a:r>
            <a:r>
              <a:rPr lang="en-US" altLang="zh-CN"/>
              <a:t>vLLM，vLLM </a:t>
            </a:r>
            <a:r>
              <a:rPr lang="zh-CN" altLang="en-US"/>
              <a:t>运行 </a:t>
            </a:r>
            <a:r>
              <a:rPr lang="en-US" altLang="zh-CN"/>
              <a:t>Qwen，</a:t>
            </a:r>
            <a:r>
              <a:rPr lang="zh-CN" altLang="en-US"/>
              <a:t>生成一次猜词。</a:t>
            </a:r>
            <a:endParaRPr lang="zh-CN" altLang="en-US"/>
          </a:p>
          <a:p>
            <a:r>
              <a:rPr lang="en-US" altLang="zh-CN"/>
              <a:t>Worker </a:t>
            </a:r>
            <a:r>
              <a:rPr lang="zh-CN" altLang="en-US"/>
              <a:t>再把猜词交给游戏环境，取得 </a:t>
            </a:r>
            <a:r>
              <a:rPr lang="en-US" altLang="zh-CN"/>
              <a:t>G、Y、X </a:t>
            </a:r>
            <a:r>
              <a:rPr lang="zh-CN" altLang="en-US"/>
              <a:t>反馈，把反馈追加进对话，接着请求下一次生成。</a:t>
            </a:r>
            <a:endParaRPr lang="zh-CN" altLang="en-US"/>
          </a:p>
          <a:p>
            <a:r>
              <a:rPr lang="zh-CN" altLang="en-US"/>
              <a:t>这个过程反复进行，直到猜中或者用完六次机会。最后得到一条完整轨迹。完整游戏过程收集好以后，进入橙色区域。</a:t>
            </a:r>
            <a:endParaRPr lang="zh-CN" altLang="en-US"/>
          </a:p>
          <a:p>
            <a:r>
              <a:rPr lang="en-US" altLang="zh-CN"/>
              <a:t>Reward </a:t>
            </a:r>
            <a:r>
              <a:rPr lang="zh-CN" altLang="en-US"/>
              <a:t>是奖励评分。奖励函数按照规则，评价每条轨迹的表现，例如是否猜中、部分字母匹配情况、猜测效率和回复格式。</a:t>
            </a:r>
            <a:endParaRPr lang="zh-CN" altLang="en-US"/>
          </a:p>
          <a:p>
            <a:r>
              <a:rPr lang="zh-CN" altLang="en-US"/>
              <a:t>接着是 </a:t>
            </a:r>
            <a:r>
              <a:rPr lang="en-US" altLang="zh-CN"/>
              <a:t>Advantage，</a:t>
            </a:r>
            <a:r>
              <a:rPr lang="zh-CN" altLang="en-US"/>
              <a:t>也就是优势。它比较的是：这次尝试相对于同一道任务的其他尝试，表现更好还是更差。</a:t>
            </a:r>
            <a:endParaRPr lang="zh-CN" altLang="en-US"/>
          </a:p>
          <a:p>
            <a:r>
              <a:rPr lang="zh-CN" altLang="en-US"/>
              <a:t>本课程对同一道任务尝试八局，也就是秘密词相同、各局独立重新开始，然后在这八局之间进行比较。有了轨迹、评分和优势，就进入训练更新阶段。</a:t>
            </a:r>
            <a:endParaRPr lang="zh-CN" altLang="en-US"/>
          </a:p>
          <a:p>
            <a:r>
              <a:rPr lang="en-US" altLang="zh-CN"/>
              <a:t>Ray </a:t>
            </a:r>
            <a:r>
              <a:rPr lang="zh-CN" altLang="en-US"/>
              <a:t>是组织分布式任务和工作进程的工具。前面讲过的 </a:t>
            </a:r>
            <a:r>
              <a:rPr lang="en-US" altLang="zh-CN"/>
              <a:t>FSDP，</a:t>
            </a:r>
            <a:r>
              <a:rPr lang="zh-CN" altLang="en-US"/>
              <a:t>则负责训练时模型状态的分片和相关通信。</a:t>
            </a:r>
            <a:endParaRPr lang="zh-CN" altLang="en-US"/>
          </a:p>
          <a:p>
            <a:r>
              <a:rPr lang="en-US" altLang="zh-CN"/>
              <a:t>verl </a:t>
            </a:r>
            <a:r>
              <a:rPr lang="zh-CN" altLang="en-US"/>
              <a:t>组织训练组件计算损失、反向传播，再由优化器更新 </a:t>
            </a:r>
            <a:r>
              <a:rPr lang="en-US" altLang="zh-CN"/>
              <a:t>Actor </a:t>
            </a:r>
            <a:r>
              <a:rPr lang="zh-CN" altLang="en-US"/>
              <a:t>的参数。我们既要生成回复，又要计算梯度、更新参数，但本课程使用的是同一组两张 </a:t>
            </a:r>
            <a:r>
              <a:rPr lang="en-US" altLang="zh-CN"/>
              <a:t>NPU。</a:t>
            </a:r>
            <a:endParaRPr lang="en-US" altLang="zh-CN"/>
          </a:p>
          <a:p>
            <a:r>
              <a:rPr lang="zh-CN" altLang="en-US"/>
              <a:t>下面的 </a:t>
            </a:r>
            <a:r>
              <a:rPr lang="en-US" altLang="zh-CN"/>
              <a:t>Hybrid Engine(hi bri </a:t>
            </a:r>
            <a:r>
              <a:rPr lang="zh-CN" altLang="en-US"/>
              <a:t>安景</a:t>
            </a:r>
            <a:r>
              <a:rPr lang="en-US" altLang="zh-CN"/>
              <a:t>)，</a:t>
            </a:r>
            <a:r>
              <a:rPr lang="zh-CN" altLang="en-US"/>
              <a:t>这里可以先理解为协调训练和推理资源切换的机制。它让这两种工作在不同阶段使用同一组设备。</a:t>
            </a:r>
            <a:r>
              <a:rPr lang="en-US" altLang="zh-CN"/>
              <a:t>sleep，</a:t>
            </a:r>
            <a:r>
              <a:rPr lang="zh-CN" altLang="en-US"/>
              <a:t>休眠：让推理引擎暂时释放相应资源。</a:t>
            </a:r>
            <a:endParaRPr lang="zh-CN" altLang="en-US"/>
          </a:p>
          <a:p>
            <a:r>
              <a:rPr lang="en-US" altLang="zh-CN"/>
              <a:t>- wake，</a:t>
            </a:r>
            <a:r>
              <a:rPr lang="zh-CN" altLang="en-US"/>
              <a:t>唤醒：恢复推理引擎运行所需的资源。</a:t>
            </a:r>
            <a:endParaRPr lang="zh-CN" altLang="en-US"/>
          </a:p>
          <a:p>
            <a:r>
              <a:rPr lang="zh-CN" altLang="en-US"/>
              <a:t>资源切换和权重同步是两件配合进行的事：前者解决设备内存怎么用，后者保证下一轮使用的是新模型。</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en-US" altLang="zh-CN"/>
              <a:t>Q1：</a:t>
            </a:r>
            <a:r>
              <a:rPr lang="zh-CN" altLang="en-US"/>
              <a:t>错误。</a:t>
            </a:r>
            <a:endParaRPr lang="zh-CN" altLang="en-US"/>
          </a:p>
          <a:p>
            <a:r>
              <a:rPr lang="en-US" altLang="zh-CN"/>
              <a:t>vLLM </a:t>
            </a:r>
            <a:r>
              <a:rPr lang="zh-CN" altLang="en-US"/>
              <a:t>负责运行模型、生成回复。计算梯度和更新参数，由 </a:t>
            </a:r>
            <a:r>
              <a:rPr lang="en-US" altLang="zh-CN"/>
              <a:t>verl </a:t>
            </a:r>
            <a:r>
              <a:rPr lang="zh-CN" altLang="en-US"/>
              <a:t>组织训练组件完成。</a:t>
            </a:r>
            <a:endParaRPr lang="zh-CN" altLang="en-US"/>
          </a:p>
          <a:p>
            <a:endParaRPr lang="en-US" altLang="zh-CN"/>
          </a:p>
          <a:p>
            <a:r>
              <a:rPr lang="en-US" altLang="zh-CN"/>
              <a:t>Q2：</a:t>
            </a:r>
            <a:r>
              <a:rPr lang="zh-CN" altLang="en-US"/>
              <a:t>正确。</a:t>
            </a:r>
            <a:endParaRPr lang="zh-CN" altLang="en-US"/>
          </a:p>
          <a:p>
            <a:r>
              <a:rPr lang="zh-CN" altLang="en-US"/>
              <a:t>本课程让同一组两张 </a:t>
            </a:r>
            <a:r>
              <a:rPr lang="en-US" altLang="zh-CN"/>
              <a:t>NPU </a:t>
            </a:r>
            <a:r>
              <a:rPr lang="zh-CN" altLang="en-US"/>
              <a:t>交替承担生成和训练：生成阶段运行推理，训练阶段计算梯度、更新参数。</a:t>
            </a:r>
            <a:endParaRPr lang="zh-CN" altLang="en-US"/>
          </a:p>
          <a:p>
            <a:endParaRPr lang="en-US" altLang="zh-CN"/>
          </a:p>
          <a:p>
            <a:r>
              <a:rPr lang="en-US" altLang="zh-CN"/>
              <a:t>Q3：</a:t>
            </a:r>
            <a:r>
              <a:rPr lang="zh-CN" altLang="en-US"/>
              <a:t>选 </a:t>
            </a:r>
            <a:r>
              <a:rPr lang="en-US" altLang="zh-CN"/>
              <a:t>C，</a:t>
            </a:r>
            <a:r>
              <a:rPr lang="zh-CN" altLang="en-US"/>
              <a:t>逐 </a:t>
            </a:r>
            <a:r>
              <a:rPr lang="en-US" altLang="zh-CN"/>
              <a:t>token </a:t>
            </a:r>
            <a:r>
              <a:rPr lang="zh-CN" altLang="en-US"/>
              <a:t>的标准回复标注。</a:t>
            </a:r>
            <a:endParaRPr lang="zh-CN" altLang="en-US"/>
          </a:p>
          <a:p>
            <a:r>
              <a:rPr lang="en-US" altLang="zh-CN"/>
              <a:t>RL </a:t>
            </a:r>
            <a:r>
              <a:rPr lang="zh-CN" altLang="en-US"/>
              <a:t>让模型自己尝试，再通过奖励评价表现，不要求提前写好每一步的示范回复。但秘密词仍然需要保留，供环境反馈和判分使用。</a:t>
            </a:r>
            <a:endParaRPr lang="zh-CN" altLang="en-US"/>
          </a:p>
          <a:p>
            <a:endParaRPr lang="en-US" altLang="zh-CN"/>
          </a:p>
          <a:p>
            <a:r>
              <a:rPr lang="en-US" altLang="zh-CN"/>
              <a:t>Q4：</a:t>
            </a:r>
            <a:r>
              <a:rPr lang="zh-CN" altLang="en-US"/>
              <a:t>选 </a:t>
            </a:r>
            <a:r>
              <a:rPr lang="en-US" altLang="zh-CN"/>
              <a:t>B，</a:t>
            </a:r>
            <a:r>
              <a:rPr lang="zh-CN" altLang="en-US"/>
              <a:t>管理多个 </a:t>
            </a:r>
            <a:r>
              <a:rPr lang="en-US" altLang="zh-CN"/>
              <a:t>Worker </a:t>
            </a:r>
            <a:r>
              <a:rPr lang="zh-CN" altLang="en-US"/>
              <a:t>并行处理 </a:t>
            </a:r>
            <a:r>
              <a:rPr lang="en-US" altLang="zh-CN"/>
              <a:t>rollout。</a:t>
            </a:r>
            <a:endParaRPr lang="en-US" altLang="zh-CN"/>
          </a:p>
          <a:p>
            <a:r>
              <a:rPr lang="en-US" altLang="zh-CN"/>
              <a:t>AgentLoopManager </a:t>
            </a:r>
            <a:r>
              <a:rPr lang="zh-CN" altLang="en-US"/>
              <a:t>负责分发任务、收集结果；</a:t>
            </a:r>
            <a:r>
              <a:rPr lang="en-US" altLang="zh-CN"/>
              <a:t>Worker </a:t>
            </a:r>
            <a:r>
              <a:rPr lang="zh-CN" altLang="en-US"/>
              <a:t>负责组织具体的多轮游戏交互。它不直接负责模型参数更新。</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32 页｜RL 初阶课程</a:t>
            </a:r>
          </a:p>
          <a:p>
            <a:r>
              <a:t>建议约 5 分钟（包含互动）。课程累计 155–160 分钟。</a:t>
            </a:r>
          </a:p>
          <a:p/>
          <a:p>
            <a:r>
              <a:t>【00:00–01:00 先复述刚才的链路】</a:t>
            </a:r>
          </a:p>
          <a:p>
            <a:r>
              <a:t>刚才我们已经把环境的分工理清了：vLLM 生成，AgentLoop 负责多轮交互，奖励函数评分，verl 训练 Worker 做参数更新，训推之间还要切换资源和同步权重。现在请大家暂时不看目录，用一句话说明为什么 RL 训练比我们前面的 SFT 多出推理引擎。关键原因不是模型突然变大，而是训练过程中需要不断产生当前策略的尝试，用这些尝试构造学习信号。能说清楚这点，就已经把工程架构和训练方法连接起来了。下一部分会回答一个尚未解决的问题：得到几条不同分数的轨迹以后，怎样把这些分数变成参数更新的方向。</a:t>
            </a:r>
          </a:p>
          <a:p/>
          <a:p>
            <a:r>
              <a:t>【01:00–02:00 引出本节的概念地图】</a:t>
            </a:r>
          </a:p>
          <a:p>
            <a:r>
              <a:t>本节沿着四个问题展开。模型根据什么决定下一个 token，这叫策略；我们用什么评价一局游戏，这叫奖励；一个得分到底是相对好还是相对差，需要优势和基线；为什么不能一味追逐当前的高分，还需要 KL 和熵来帮助约束训练。PPO 在这里仅作铺垫，让大家理解利用优势和限制过大变化的思想，我们重点掌握的是本课程使用的 GRPO。大家不需要在今天推完所有策略梯度公式，但要能够解释配置里的组大小、KL 系数和熵系数分别改变了什么，不能只把它们当作三个需要照抄的数字。</a:t>
            </a:r>
          </a:p>
          <a:p/>
          <a:p>
            <a:r>
              <a:t>【02:00–03:00 用一个小活动暴露直觉差异】</a:t>
            </a:r>
          </a:p>
          <a:p>
            <a:r>
              <a:t>现在给出一个小例子：某次尝试得零点六分，你认为应该鼓励还是抑制？请先独立表态，再听补充条件。如果其他尝试平均只有零点二分，零点六相对不错；如果其他尝试平均零点九分，它就低于平均。这个问题的目的不是制造文字陷阱，而是让大家看到，奖励本身与更新方向不是完全相同的概念。现在再加一个条件：模型每次都生成同一个答案，偶尔能拿到不错的部分匹配分。我们还要关心它有没有探索其他方法、在测试词上是否真正猜中。后面的优势与稳定性，就是把这些直觉变成可计算的量。</a:t>
            </a:r>
          </a:p>
          <a:p/>
          <a:p>
            <a:r>
              <a:t>【03:00–04:00 说明如何学习公式和日志】</a:t>
            </a:r>
          </a:p>
          <a:p>
            <a:r>
              <a:t>看到公式时，请先给每个符号找一个可以在 Wordle 中指认的对象。当前策略是正在训练的语言模型，参考策略是固定的起点模型；奖励是某条轨迹的评分，组内平均是同一个任务若干次尝试的平均表现。等这些对象清楚以后，再看减法、除法和损失中的正负号。课堂上会手算一个八条奖励的小例子，也会解释一段异常训练记录。我们使用的是教学示例和教程参考日志，不能把它们当作刚刚在现场得到的新实验结论。读日志时要保留运行版本、数据与参数背景，否则同一个数字也可能代表不同的含义。</a:t>
            </a:r>
          </a:p>
          <a:p/>
          <a:p>
            <a:r>
              <a:t>【04:00–05:00 明确本节结束时的能力】</a:t>
            </a:r>
          </a:p>
          <a:p>
            <a:r>
              <a:t>请大家给本节设定三个检查点：第一，能说明为什么奖励为正却可能得到负优势；第二，能区分用于更新比较的旧策略与固定参考策略；第三，看到熵下降时，不立即断言训练崩塌，而是继续查看任务表现和输出。做到这些，就足够支撑后面实操。现在带着刚才零点六分的例子进入下一页。我们先用最简单的交互闭环介绍强化学习，再逐步解释每个部件，而不是把奖励、优势、损失这些名称一次堆给大家。若你暂时记不住缩写，先记住它在流程里回答的是哪一个问题。</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前面我们已经了解了训练需要哪些组件，以及它们怎样配合。现在回到学习方法本身：模型通过强化学习，到底在学什么？它让模型自己尝试，根据尝试的表现获得奖励，再通过训练调整参数，希望之后作出更有效的选择。第一阶段是自主尝试。我们沿用已经完成 </a:t>
            </a:r>
            <a:r>
              <a:rPr lang="en-US" altLang="zh-CN"/>
              <a:t>SFT </a:t>
            </a:r>
            <a:r>
              <a:rPr lang="zh-CN" altLang="en-US"/>
              <a:t>的模型，让它根据游戏规则和当前信息生成猜词。</a:t>
            </a:r>
            <a:endParaRPr lang="zh-CN" altLang="en-US"/>
          </a:p>
          <a:p>
            <a:r>
              <a:rPr lang="zh-CN" altLang="en-US"/>
              <a:t>环境返回颜色反馈以后，模型继续猜，直到猜中或者机会用完。这里并没有提前告诉模型每一步必须猜哪个词，它需要根据已有能力和收到的信息作出选择。</a:t>
            </a:r>
            <a:endParaRPr lang="zh-CN" altLang="en-US"/>
          </a:p>
          <a:p>
            <a:r>
              <a:rPr lang="zh-CN" altLang="en-US"/>
              <a:t>即使一次没有猜中，也可能获得有用的信息，帮助下一次缩小范围。因此，我们需要观察整局表现。第二阶段是评价这些尝试。</a:t>
            </a:r>
            <a:endParaRPr lang="zh-CN" altLang="en-US"/>
          </a:p>
          <a:p>
            <a:r>
              <a:rPr lang="zh-CN" altLang="en-US"/>
              <a:t>这里要区分环境反馈和奖励。颜色反馈告诉模型这次猜测发现了什么，帮助它继续猜；奖励则把游戏表现转成分数，供训练使用。</a:t>
            </a:r>
            <a:endParaRPr lang="zh-CN" altLang="en-US"/>
          </a:p>
          <a:p>
            <a:r>
              <a:rPr lang="zh-CN" altLang="en-US"/>
              <a:t>比如，两局都猜中了，其中一局用了三次，另一局用了六次。我们的评分规则可以鼓励更快完成任务的表现。具体包含哪些奖励项，下一页会介绍。</a:t>
            </a:r>
            <a:endParaRPr lang="zh-CN" altLang="en-US"/>
          </a:p>
          <a:p>
            <a:r>
              <a:rPr lang="zh-CN" altLang="en-US"/>
              <a:t>第三阶段是更新策略。这里先把策略理解为模型根据当前信息选择下一步输出的方式。</a:t>
            </a:r>
            <a:endParaRPr lang="zh-CN" altLang="en-US"/>
          </a:p>
          <a:p>
            <a:r>
              <a:rPr lang="zh-CN" altLang="en-US"/>
              <a:t>训练算法利用收集到的游戏过程和评分，计算损失、反向传播，再更新模型参数。更新以后，让模型开始下一批尝试，继续收集结果。</a:t>
            </a:r>
            <a:endParaRPr lang="zh-CN" altLang="en-US"/>
          </a:p>
          <a:p>
            <a:r>
              <a:rPr lang="zh-CN" altLang="en-US"/>
              <a:t>右边返回上方的箭头，表示这个过程不断重复。</a:t>
            </a:r>
            <a:endParaRPr lang="zh-CN" altLang="en-US"/>
          </a:p>
          <a:p>
            <a:r>
              <a:rPr lang="zh-CN" altLang="en-US"/>
              <a:t>注意，一局里面根据新反馈改变猜词，是利用上下文；训练阶段修改模型参数，才是在把这些经历用于学习。 这张图概括的是整个训练循环，不是说每猜一个词就立刻更新参数。举个简化例子：假设只规定猜中得一分、没猜中得零分，那么平均得分就对应猜中率。本课程还考虑部分匹配、效率和格式，所以实际评分会更丰富。</a:t>
            </a:r>
            <a:endParaRPr lang="zh-CN" altLang="en-US"/>
          </a:p>
          <a:p>
            <a:r>
              <a:rPr lang="zh-CN" altLang="en-US"/>
              <a:t>强化学习希望通过参数更新，提高这样的平均表现。一次偶然猜中不能证明模型已经学好，仍然要通过多道任务、多次尝试来检查。接下来，我们把这个循环中的两个概念拆开看：策略决定模型怎样生成，奖励负责评价生成结果。</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先看左边的“策略”</a:t>
            </a:r>
            <a:r>
              <a:rPr lang="en-US" altLang="zh-CN"/>
              <a:t>。</a:t>
            </a:r>
            <a:r>
              <a:rPr lang="zh-CN" altLang="en-US"/>
              <a:t>前面我们把它理解为“模型下一步怎么猜”，现在再深入一点：语言模型生成回复时，是一个 </a:t>
            </a:r>
            <a:r>
              <a:rPr lang="en-US" altLang="zh-CN"/>
              <a:t>token </a:t>
            </a:r>
            <a:r>
              <a:rPr lang="zh-CN" altLang="en-US"/>
              <a:t>接着一个 </a:t>
            </a:r>
            <a:r>
              <a:rPr lang="en-US" altLang="zh-CN"/>
              <a:t>token </a:t>
            </a:r>
            <a:r>
              <a:rPr lang="zh-CN" altLang="en-US"/>
              <a:t>生成的。每到一个位置，它都会根据当前上下文，计算各种候选 </a:t>
            </a:r>
            <a:r>
              <a:rPr lang="en-US" altLang="zh-CN"/>
              <a:t>token </a:t>
            </a:r>
            <a:r>
              <a:rPr lang="zh-CN" altLang="en-US"/>
              <a:t>出现的概率。</a:t>
            </a:r>
            <a:endParaRPr lang="zh-CN" altLang="en-US"/>
          </a:p>
          <a:p>
            <a:r>
              <a:rPr lang="zh-CN" altLang="en-US"/>
              <a:t>这里的上下文，包括游戏规则、之前猜过的单词，以及环境返回的颜色反馈。同一个模型，看到的上下文不同，对下一个 </a:t>
            </a:r>
            <a:r>
              <a:rPr lang="en-US" altLang="zh-CN"/>
              <a:t>token </a:t>
            </a:r>
            <a:r>
              <a:rPr lang="zh-CN" altLang="en-US"/>
              <a:t>的判断也会不同。</a:t>
            </a:r>
            <a:endParaRPr lang="zh-CN" altLang="en-US"/>
          </a:p>
          <a:p>
            <a:r>
              <a:rPr lang="zh-CN" altLang="en-US"/>
              <a:t>为了方便理解，假设某一步只有三个候选 </a:t>
            </a:r>
            <a:r>
              <a:rPr lang="en-US" altLang="zh-CN"/>
              <a:t>token，</a:t>
            </a:r>
            <a:r>
              <a:rPr lang="zh-CN" altLang="en-US"/>
              <a:t>我们用甲、乙、丙代称。模型给甲的概率是 60%，乙是 30%，丙是 10%。这组概率，就是一个简化的概率分布。</a:t>
            </a:r>
            <a:endParaRPr lang="zh-CN" altLang="en-US"/>
          </a:p>
          <a:p>
            <a:r>
              <a:rPr lang="zh-CN" altLang="en-US"/>
              <a:t>接下来的“采样”，就是按照这些概率选择一个 </a:t>
            </a:r>
            <a:r>
              <a:rPr lang="en-US" altLang="zh-CN"/>
              <a:t>token。</a:t>
            </a:r>
            <a:r>
              <a:rPr lang="zh-CN" altLang="en-US"/>
              <a:t>甲的概率最高，所以更容易被选中，但不代表每次一定选甲。这里的 60% 表示被选中的概率，并不表示它有 60% 的概率猜中秘密词。</a:t>
            </a:r>
            <a:endParaRPr lang="zh-CN" altLang="en-US"/>
          </a:p>
          <a:p>
            <a:r>
              <a:rPr lang="zh-CN" altLang="en-US"/>
              <a:t>选出一个 </a:t>
            </a:r>
            <a:r>
              <a:rPr lang="en-US" altLang="zh-CN"/>
              <a:t>token </a:t>
            </a:r>
            <a:r>
              <a:rPr lang="zh-CN" altLang="en-US"/>
              <a:t>后，模型把它接到已有文本后面，再继续计算下一个位置的概率，逐步组成完整回复。一个英文单词可能包含多个 </a:t>
            </a:r>
            <a:r>
              <a:rPr lang="en-US" altLang="zh-CN"/>
              <a:t>token，</a:t>
            </a:r>
            <a:r>
              <a:rPr lang="zh-CN" altLang="en-US"/>
              <a:t>所以刚才的例子是在说明生成过程，并不是说模型每次直接从三个完整单词里选择一个。</a:t>
            </a:r>
            <a:endParaRPr lang="zh-CN" altLang="en-US"/>
          </a:p>
          <a:p>
            <a:r>
              <a:rPr lang="zh-CN" altLang="en-US"/>
              <a:t>模型根据上下文分配输出概率的这种方式，就是这里所说的策略。 强化学习更新参数以后，这些概率会发生变化，模型也就可能更倾向于采用不同的回答方式。</a:t>
            </a:r>
            <a:endParaRPr lang="zh-CN" altLang="en-US"/>
          </a:p>
          <a:p>
            <a:r>
              <a:rPr lang="zh-CN" altLang="en-US"/>
              <a:t>再看左下角的“参考策略”。本课程从已经完成 </a:t>
            </a:r>
            <a:r>
              <a:rPr lang="en-US" altLang="zh-CN"/>
              <a:t>SFT </a:t>
            </a:r>
            <a:r>
              <a:rPr lang="zh-CN" altLang="en-US"/>
              <a:t>的模型开始强化学习，同时保留训练起点的模型作为固定参照。</a:t>
            </a:r>
            <a:endParaRPr lang="zh-CN" altLang="en-US"/>
          </a:p>
          <a:p>
            <a:r>
              <a:rPr lang="zh-CN" altLang="en-US"/>
              <a:t>正在继续训练的模型，叫作当前策略，通常用 </a:t>
            </a:r>
            <a:r>
              <a:rPr lang="en-US" altLang="zh-CN"/>
              <a:t>π </a:t>
            </a:r>
            <a:r>
              <a:rPr lang="zh-CN" altLang="en-US"/>
              <a:t>表示。保留下来的 </a:t>
            </a:r>
            <a:r>
              <a:rPr lang="en-US" altLang="zh-CN"/>
              <a:t>SFT </a:t>
            </a:r>
            <a:r>
              <a:rPr lang="zh-CN" altLang="en-US"/>
              <a:t>模型，叫作参考策略，记作 </a:t>
            </a:r>
            <a:r>
              <a:rPr lang="en-US" altLang="zh-CN"/>
              <a:t>π_ref，ref </a:t>
            </a:r>
            <a:r>
              <a:rPr lang="zh-CN" altLang="en-US"/>
              <a:t>就是 </a:t>
            </a:r>
            <a:r>
              <a:rPr lang="en-US" altLang="zh-CN"/>
              <a:t>reference，</a:t>
            </a:r>
            <a:r>
              <a:rPr lang="zh-CN" altLang="en-US"/>
              <a:t>也就是“参考”的意思。</a:t>
            </a:r>
            <a:endParaRPr lang="zh-CN" altLang="en-US"/>
          </a:p>
          <a:p>
            <a:r>
              <a:rPr lang="zh-CN" altLang="en-US"/>
              <a:t>刚开始，它们来自同一份 </a:t>
            </a:r>
            <a:r>
              <a:rPr lang="en-US" altLang="zh-CN"/>
              <a:t>SFT </a:t>
            </a:r>
            <a:r>
              <a:rPr lang="zh-CN" altLang="en-US"/>
              <a:t>权重。训练进行以后，当前策略的参数不断更新，而参考策略保持不变。</a:t>
            </a:r>
            <a:endParaRPr lang="zh-CN" altLang="en-US"/>
          </a:p>
          <a:p>
            <a:r>
              <a:rPr lang="zh-CN" altLang="en-US"/>
              <a:t>为什么要保留这个参照？因为我们希望模型学到更有效的行为，也希望避免它为了追求某些奖励，过度改变已经学到的能力。因此，需要观察当前模型相对于训练起点，发生了多大变化。</a:t>
            </a:r>
            <a:endParaRPr lang="zh-CN" altLang="en-US"/>
          </a:p>
          <a:p>
            <a:r>
              <a:rPr lang="zh-CN" altLang="en-US"/>
              <a:t>这里的 </a:t>
            </a:r>
            <a:r>
              <a:rPr lang="en-US" altLang="zh-CN"/>
              <a:t>KL，</a:t>
            </a:r>
            <a:r>
              <a:rPr lang="zh-CN" altLang="en-US"/>
              <a:t>就是用来衡量两者在相同上下文下，输出概率分布有多大差异，并在训练中为较大的偏离增加代价。本页先把参考策略理解成一把固定的尺子，具体怎样计算 </a:t>
            </a:r>
            <a:r>
              <a:rPr lang="en-US" altLang="zh-CN"/>
              <a:t>KL，</a:t>
            </a:r>
            <a:r>
              <a:rPr lang="zh-CN" altLang="en-US"/>
              <a:t>后面会单独介绍。</a:t>
            </a:r>
            <a:endParaRPr lang="zh-CN" altLang="en-US"/>
          </a:p>
          <a:p>
            <a:r>
              <a:rPr lang="zh-CN" altLang="en-US"/>
              <a:t>接着看右边。模型生成了一整局游戏过程以后，怎样评价它表现得好不好？本课程通过奖励函数进行评分，主要考虑四个方面。</a:t>
            </a:r>
            <a:endParaRPr lang="zh-CN" altLang="en-US"/>
          </a:p>
          <a:p>
            <a:r>
              <a:rPr lang="zh-CN" altLang="en-US"/>
              <a:t>第一项是 </a:t>
            </a:r>
            <a:r>
              <a:rPr lang="en-US" altLang="zh-CN"/>
              <a:t>correct，</a:t>
            </a:r>
            <a:r>
              <a:rPr lang="zh-CN" altLang="en-US"/>
              <a:t>也就是正确性奖励。它检查有没有猜中秘密词。猜中，获得成功奖励；没有猜中，就没有这一项。这对应我们最直接的任务目标。</a:t>
            </a:r>
            <a:endParaRPr lang="zh-CN" altLang="en-US"/>
          </a:p>
          <a:p>
            <a:r>
              <a:rPr lang="zh-CN" altLang="en-US"/>
              <a:t>第二项是 </a:t>
            </a:r>
            <a:r>
              <a:rPr lang="en-US" altLang="zh-CN"/>
              <a:t>partial，</a:t>
            </a:r>
            <a:r>
              <a:rPr lang="zh-CN" altLang="en-US"/>
              <a:t>也就是部分匹配奖励。如果模型暂时还没有猜中，也可以看看它是否找到了正确字母和位置。这样，两条都没有获胜的轨迹，也可能表现出差别。</a:t>
            </a:r>
            <a:endParaRPr lang="zh-CN" altLang="en-US"/>
          </a:p>
          <a:p>
            <a:r>
              <a:rPr lang="zh-CN" altLang="en-US"/>
              <a:t>按照本课程的规则，未猜中时，取整局中最好的一次部分匹配结果，不是把每轮的部分分数全部累加。已经猜中时，这一项置零，由成功奖励体现结果。</a:t>
            </a:r>
            <a:endParaRPr lang="zh-CN" altLang="en-US"/>
          </a:p>
          <a:p>
            <a:r>
              <a:rPr lang="zh-CN" altLang="en-US"/>
              <a:t>第三项是 </a:t>
            </a:r>
            <a:r>
              <a:rPr lang="en-US" altLang="zh-CN"/>
              <a:t>length_bonus，</a:t>
            </a:r>
            <a:r>
              <a:rPr lang="zh-CN" altLang="en-US"/>
              <a:t>也就是效率奖励。它在猜中的前提下，鼓励模型用更少次数完成任务。比如两局都规范作答并最终猜中，一局用了三次，另一局用了六次，前者可以获得更多效率奖励。</a:t>
            </a:r>
            <a:endParaRPr lang="zh-CN" altLang="en-US"/>
          </a:p>
          <a:p>
            <a:r>
              <a:rPr lang="zh-CN" altLang="en-US"/>
              <a:t>这里的 </a:t>
            </a:r>
            <a:r>
              <a:rPr lang="en-US" altLang="zh-CN"/>
              <a:t>length </a:t>
            </a:r>
            <a:r>
              <a:rPr lang="zh-CN" altLang="en-US"/>
              <a:t>对应的是完成游戏所用的猜测次数，不能理解成回答文字越短，奖励就一定越高。没有猜中时，也不能因为很快结束，就获得这项成功效率奖励。</a:t>
            </a:r>
            <a:endParaRPr lang="zh-CN" altLang="en-US"/>
          </a:p>
          <a:p>
            <a:r>
              <a:rPr lang="zh-CN" altLang="en-US"/>
              <a:t>第四项是 </a:t>
            </a:r>
            <a:r>
              <a:rPr lang="en-US" altLang="zh-CN"/>
              <a:t>format，</a:t>
            </a:r>
            <a:r>
              <a:rPr lang="zh-CN" altLang="en-US"/>
              <a:t>也就是格式奖励。它检查输出标签等格式是否符合评分规则。例如，我们希望模型按照 &lt;</a:t>
            </a:r>
            <a:r>
              <a:rPr lang="en-US" altLang="zh-CN"/>
              <a:t>guess&gt;[word]&lt;/guess&gt; </a:t>
            </a:r>
            <a:r>
              <a:rPr lang="zh-CN" altLang="en-US"/>
              <a:t>这样的协议给出猜词，让程序能够解析和处理。</a:t>
            </a:r>
            <a:endParaRPr lang="zh-CN" altLang="en-US"/>
          </a:p>
          <a:p>
            <a:r>
              <a:rPr lang="zh-CN" altLang="en-US"/>
              <a:t>后面的 0.2 是权重，表示格式原始分乘以 0.2，再计入总奖励。如果格式分是 1，它对总奖励的贡献就是 0.2 分。这个数字不表示格式分永远占总奖励的 20%。</a:t>
            </a:r>
            <a:endParaRPr lang="zh-CN" altLang="en-US"/>
          </a:p>
          <a:p>
            <a:r>
              <a:rPr lang="zh-CN" altLang="en-US"/>
              <a:t>这四项评分共同评价一条完整轨迹，供后续训练使用。它们分别关注是否完成任务、是否获得部分匹配、完成得是否高效，以及输出是否符合协议。具体怎样算分，我们在后面的奖励实操页再展开。</a:t>
            </a:r>
            <a:endParaRPr lang="zh-CN" altLang="en-US"/>
          </a:p>
          <a:p>
            <a:r>
              <a:rPr lang="zh-CN" altLang="en-US"/>
              <a:t>最后看下面这句话：“较低格式权重仍不能保证杜绝投机。”</a:t>
            </a:r>
            <a:endParaRPr lang="zh-CN" altLang="en-US"/>
          </a:p>
          <a:p>
            <a:r>
              <a:rPr lang="zh-CN" altLang="en-US"/>
              <a:t>这里的“投机”，指模型获得了某些规则上的分数，却没有相应地改善我们真正关心的表现。例如，模型每次都输出格式正确的猜词，却一直忽视已经获得的反馈，最后仍然猜不中。它可能拿到格式分，但这不代表猜词能力提高了。</a:t>
            </a:r>
            <a:endParaRPr lang="zh-CN" altLang="en-US"/>
          </a:p>
          <a:p>
            <a:r>
              <a:rPr lang="zh-CN" altLang="en-US"/>
              <a:t>所以，降低格式奖励的权重，只是减小这一项的影响，不能代替对训练结果的检查。我们仍然需要分别观察猜中率、各项奖励，以及模型实际玩出的游戏过程。</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“假设我们取出一道 </a:t>
            </a:r>
            <a:r>
              <a:rPr lang="en-US" altLang="zh-CN"/>
              <a:t>Wordle </a:t>
            </a:r>
            <a:r>
              <a:rPr lang="zh-CN" altLang="en-US"/>
              <a:t>任务，秘密词是 </a:t>
            </a:r>
            <a:r>
              <a:rPr lang="en-US" altLang="zh-CN"/>
              <a:t>PLANE。</a:t>
            </a:r>
            <a:r>
              <a:rPr lang="zh-CN" altLang="en-US"/>
              <a:t>环境知道答案，模型看到的是游戏规则和初始消息。</a:t>
            </a:r>
            <a:endParaRPr lang="zh-CN" altLang="en-US"/>
          </a:p>
          <a:p>
            <a:r>
              <a:rPr lang="zh-CN" altLang="en-US"/>
              <a:t>现在让同一个模型，对这道任务独立尝试八次。每次都重新开始一局游戏，最多六轮猜词。八局完成后，就得到了八条完整轨迹。”模型一样、题目一样，为什么还要尝试八次？</a:t>
            </a:r>
            <a:endParaRPr lang="zh-CN" altLang="en-US"/>
          </a:p>
          <a:p>
            <a:r>
              <a:rPr lang="zh-CN" altLang="en-US"/>
              <a:t>“因为模型生成时采用采样。同样的上下文下，模型可能选择不同的 </a:t>
            </a:r>
            <a:r>
              <a:rPr lang="en-US" altLang="zh-CN"/>
              <a:t>token，</a:t>
            </a:r>
            <a:r>
              <a:rPr lang="zh-CN" altLang="en-US"/>
              <a:t>最终形成不同的猜词和游戏过程。”这样，我们才能观察到：同一个模型面对同一道题，不同尝试之间有什么表现差异。</a:t>
            </a:r>
            <a:endParaRPr lang="zh-CN" altLang="en-US"/>
          </a:p>
          <a:p>
            <a:r>
              <a:rPr lang="zh-CN" altLang="en-US"/>
              <a:t>这些轨迹也可能出现重复，采样并不保证八局一定各不相同。</a:t>
            </a:r>
            <a:endParaRPr lang="zh-CN" altLang="en-US"/>
          </a:p>
          <a:p>
            <a:r>
              <a:rPr lang="zh-CN" altLang="en-US"/>
              <a:t>另外，8 是本课程 </a:t>
            </a:r>
            <a:r>
              <a:rPr lang="en-US" altLang="zh-CN"/>
              <a:t>rollout.n </a:t>
            </a:r>
            <a:r>
              <a:rPr lang="zh-CN" altLang="en-US"/>
              <a:t>的配置值，不是强化学习规定只能尝试八次。增加尝试次数可能获得更多比较材料，但也需要更多生成时间和计算资源。3．表格中的 </a:t>
            </a:r>
            <a:r>
              <a:rPr lang="en-US" altLang="zh-CN"/>
              <a:t>r1 </a:t>
            </a:r>
            <a:r>
              <a:rPr lang="zh-CN" altLang="en-US"/>
              <a:t>到 </a:t>
            </a:r>
            <a:r>
              <a:rPr lang="en-US" altLang="zh-CN"/>
              <a:t>r8，</a:t>
            </a:r>
            <a:r>
              <a:rPr lang="zh-CN" altLang="en-US"/>
              <a:t>分别表示什么？</a:t>
            </a:r>
            <a:endParaRPr lang="zh-CN" altLang="en-US"/>
          </a:p>
          <a:p>
            <a:r>
              <a:rPr lang="zh-CN" altLang="en-US"/>
              <a:t>“第一行的 1 到 8，是八局游戏的编号。第二行的 </a:t>
            </a:r>
            <a:r>
              <a:rPr lang="en-US" altLang="zh-CN"/>
              <a:t>r1 </a:t>
            </a:r>
            <a:r>
              <a:rPr lang="zh-CN" altLang="en-US"/>
              <a:t>到 </a:t>
            </a:r>
            <a:r>
              <a:rPr lang="en-US" altLang="zh-CN"/>
              <a:t>r8，</a:t>
            </a:r>
            <a:r>
              <a:rPr lang="zh-CN" altLang="en-US"/>
              <a:t>是各局对应的奖励分数。</a:t>
            </a:r>
            <a:r>
              <a:rPr lang="en-US" altLang="zh-CN"/>
              <a:t>r </a:t>
            </a:r>
            <a:r>
              <a:rPr lang="zh-CN" altLang="en-US"/>
              <a:t>来自 </a:t>
            </a:r>
            <a:r>
              <a:rPr lang="en-US" altLang="zh-CN"/>
              <a:t>reward，</a:t>
            </a:r>
            <a:r>
              <a:rPr lang="zh-CN" altLang="en-US"/>
              <a:t>也就是奖励。”</a:t>
            </a:r>
            <a:endParaRPr lang="zh-CN" altLang="en-US"/>
          </a:p>
          <a:p>
            <a:endParaRPr lang="en-US" altLang="zh-CN"/>
          </a:p>
          <a:p>
            <a:r>
              <a:rPr lang="zh-CN" altLang="en-US"/>
              <a:t>具体来说：</a:t>
            </a:r>
            <a:endParaRPr lang="zh-CN" altLang="en-US"/>
          </a:p>
          <a:p>
            <a:r>
              <a:rPr lang="en-US" altLang="zh-CN"/>
              <a:t>- r1：</a:t>
            </a:r>
            <a:r>
              <a:rPr lang="zh-CN" altLang="en-US"/>
              <a:t>第一条完整轨迹的评分。</a:t>
            </a:r>
            <a:endParaRPr lang="zh-CN" altLang="en-US"/>
          </a:p>
          <a:p>
            <a:r>
              <a:rPr lang="en-US" altLang="zh-CN"/>
              <a:t>- r2：</a:t>
            </a:r>
            <a:r>
              <a:rPr lang="zh-CN" altLang="en-US"/>
              <a:t>第二条完整轨迹的评分。</a:t>
            </a:r>
            <a:endParaRPr lang="zh-CN" altLang="en-US"/>
          </a:p>
          <a:p>
            <a:r>
              <a:rPr lang="zh-CN" altLang="en-US"/>
              <a:t>- 依次类推，直到 </a:t>
            </a:r>
            <a:r>
              <a:rPr lang="en-US" altLang="zh-CN"/>
              <a:t>r8。</a:t>
            </a:r>
            <a:endParaRPr lang="en-US" altLang="zh-CN"/>
          </a:p>
          <a:p>
            <a:r>
              <a:rPr lang="zh-CN" altLang="en-US"/>
              <a:t>每局的分数由上一页介绍的奖励规则计算，考虑正确性、部分匹配、效率和格式。</a:t>
            </a:r>
            <a:endParaRPr lang="zh-CN" altLang="en-US"/>
          </a:p>
          <a:p>
            <a:r>
              <a:rPr lang="zh-CN" altLang="en-US"/>
              <a:t>这些分数评价的是八条完整轨迹，不是一局游戏中第一轮、第二轮分别得到的分数。“同组奖励提供参照”，为什么需要这个参照？</a:t>
            </a:r>
            <a:endParaRPr lang="zh-CN" altLang="en-US"/>
          </a:p>
          <a:p>
            <a:r>
              <a:rPr lang="zh-CN" altLang="en-US"/>
              <a:t>先给学生一个问题：</a:t>
            </a:r>
            <a:endParaRPr lang="zh-CN" altLang="en-US"/>
          </a:p>
          <a:p>
            <a:r>
              <a:rPr lang="zh-CN" altLang="en-US"/>
              <a:t>“假设某次尝试得到了一个分数，只看这个分数，我们能不能立即判断它表现得好不好？”</a:t>
            </a:r>
            <a:endParaRPr lang="zh-CN" altLang="en-US"/>
          </a:p>
          <a:p>
            <a:endParaRPr lang="en-US" altLang="zh-CN"/>
          </a:p>
          <a:p>
            <a:r>
              <a:rPr lang="zh-CN" altLang="en-US"/>
              <a:t>还需要看它相对于什么水平。</a:t>
            </a:r>
            <a:endParaRPr lang="zh-CN" altLang="en-US"/>
          </a:p>
          <a:p>
            <a:r>
              <a:rPr lang="zh-CN" altLang="en-US"/>
              <a:t>“对于一道比较难的题，大家都表现一般，其中一条即使没有猜中，也可能比其他尝试获得了更多有用的字母匹配。</a:t>
            </a:r>
            <a:endParaRPr lang="zh-CN" altLang="en-US"/>
          </a:p>
          <a:p>
            <a:r>
              <a:rPr lang="zh-CN" altLang="en-US"/>
              <a:t>对于另一道题，大家都顺利猜中，那么同样的分数就可能显得比较低。</a:t>
            </a:r>
            <a:endParaRPr lang="zh-CN" altLang="en-US"/>
          </a:p>
          <a:p>
            <a:r>
              <a:rPr lang="zh-CN" altLang="en-US"/>
              <a:t>所以，本课程先在同一道任务内部比较，用这一组的平均奖励作为参照，判断每条轨迹相对表现怎样。”</a:t>
            </a:r>
            <a:endParaRPr lang="zh-CN" altLang="en-US"/>
          </a:p>
          <a:p>
            <a:r>
              <a:rPr lang="zh-CN" altLang="en-US"/>
              <a:t>高于平均水平	正优势，相对表现较好</a:t>
            </a:r>
            <a:endParaRPr lang="zh-CN" altLang="en-US"/>
          </a:p>
          <a:p>
            <a:r>
              <a:rPr lang="zh-CN" altLang="en-US"/>
              <a:t>低于平均水平	负优势，相对表现较差</a:t>
            </a:r>
            <a:endParaRPr lang="zh-CN" altLang="en-US"/>
          </a:p>
          <a:p>
            <a:r>
              <a:rPr lang="zh-CN" altLang="en-US"/>
              <a:t>等于平均水平	优势为零，没有高于或低于参照</a:t>
            </a:r>
            <a:endParaRPr lang="zh-CN" altLang="en-US"/>
          </a:p>
          <a:p>
            <a:r>
              <a:rPr lang="zh-CN" altLang="en-US"/>
              <a:t>这里有一个特别重要的区别：</a:t>
            </a:r>
            <a:endParaRPr lang="zh-CN" altLang="en-US"/>
          </a:p>
          <a:p>
            <a:r>
              <a:rPr lang="zh-CN" altLang="en-US"/>
              <a:t>“正优势”不等于“已经猜中”，“负优势”也不等于“奖励是负数”。</a:t>
            </a:r>
            <a:endParaRPr lang="zh-CN" altLang="en-US"/>
          </a:p>
          <a:p>
            <a:endParaRPr lang="en-US" altLang="zh-CN"/>
          </a:p>
          <a:p>
            <a:r>
              <a:rPr lang="zh-CN" altLang="en-US"/>
              <a:t>例如，八局都没有猜中，其中一局部分匹配表现更好，它仍然可能高于组内平均，得到正优势。优势描述的是相对表现</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先区分三个符号。</a:t>
            </a:r>
            <a:endParaRPr lang="zh-CN" altLang="en-US"/>
          </a:p>
          <a:p>
            <a:r>
              <a:rPr lang="zh-CN" altLang="en-US"/>
              <a:t>奖励 </a:t>
            </a:r>
            <a:r>
              <a:rPr lang="en-US" altLang="zh-CN"/>
              <a:t>r，</a:t>
            </a:r>
            <a:r>
              <a:rPr lang="zh-CN" altLang="en-US"/>
              <a:t>就是奖励函数给这次尝试打出的分数。例如，第一条轨迹得了 1.5 分，第二条得了 0.6 分。</a:t>
            </a:r>
            <a:endParaRPr lang="zh-CN" altLang="en-US"/>
          </a:p>
          <a:p>
            <a:r>
              <a:rPr lang="zh-CN" altLang="en-US"/>
              <a:t>基线 </a:t>
            </a:r>
            <a:r>
              <a:rPr lang="en-US" altLang="zh-CN"/>
              <a:t>b，</a:t>
            </a:r>
            <a:r>
              <a:rPr lang="zh-CN" altLang="en-US"/>
              <a:t>英文叫 </a:t>
            </a:r>
            <a:r>
              <a:rPr lang="en-US" altLang="zh-CN"/>
              <a:t>baseline，</a:t>
            </a:r>
            <a:r>
              <a:rPr lang="zh-CN" altLang="en-US"/>
              <a:t>就是比较时使用的参照水平。这里先给定为 0.9。</a:t>
            </a:r>
            <a:endParaRPr lang="zh-CN" altLang="en-US"/>
          </a:p>
          <a:p>
            <a:r>
              <a:rPr lang="zh-CN" altLang="en-US"/>
              <a:t>优势 </a:t>
            </a:r>
            <a:r>
              <a:rPr lang="en-US" altLang="zh-CN"/>
              <a:t>A，</a:t>
            </a:r>
            <a:r>
              <a:rPr lang="zh-CN" altLang="en-US"/>
              <a:t>英文叫 </a:t>
            </a:r>
            <a:r>
              <a:rPr lang="en-US" altLang="zh-CN"/>
              <a:t>advantage，</a:t>
            </a:r>
            <a:r>
              <a:rPr lang="zh-CN" altLang="en-US"/>
              <a:t>表示这次尝试相对于基线，好多少或者差多少。本页先用最简单的方式理解：</a:t>
            </a:r>
            <a:endParaRPr lang="zh-CN" altLang="en-US"/>
          </a:p>
          <a:p>
            <a:r>
              <a:rPr lang="zh-CN" altLang="en-US"/>
              <a:t>优势等于奖励减去基线。</a:t>
            </a:r>
            <a:endParaRPr lang="zh-CN" altLang="en-US"/>
          </a:p>
          <a:p>
            <a:r>
              <a:rPr lang="zh-CN" altLang="en-US"/>
              <a:t>这里提醒大家，基线是一个用于比较的数值；上一页的参考策略，是保留的一份 </a:t>
            </a:r>
            <a:r>
              <a:rPr lang="en-US" altLang="zh-CN"/>
              <a:t>SFT </a:t>
            </a:r>
            <a:r>
              <a:rPr lang="zh-CN" altLang="en-US"/>
              <a:t>模型。虽然都起到参照作用，但它们是不同的对象。</a:t>
            </a:r>
            <a:endParaRPr lang="zh-CN" altLang="en-US"/>
          </a:p>
          <a:p>
            <a:r>
              <a:rPr lang="zh-CN" altLang="en-US"/>
              <a:t>现在看表格，我们一起做三个减法。</a:t>
            </a:r>
            <a:endParaRPr lang="zh-CN" altLang="en-US"/>
          </a:p>
          <a:p>
            <a:r>
              <a:rPr lang="zh-CN" altLang="en-US"/>
              <a:t>第一行，奖励是 1.5，基线是 0.9。</a:t>
            </a:r>
            <a:endParaRPr lang="zh-CN" altLang="en-US"/>
          </a:p>
          <a:p>
            <a:r>
              <a:rPr lang="zh-CN" altLang="en-US"/>
              <a:t>得到正优势，表示这次尝试比参照水平高了 0.6 分。</a:t>
            </a:r>
            <a:endParaRPr lang="zh-CN" altLang="en-US"/>
          </a:p>
          <a:p>
            <a:r>
              <a:rPr lang="zh-CN" altLang="en-US"/>
              <a:t>这个信号会推动训练提高相应输出的概率。也就是说，在类似上下文下，让模型更倾向于作出这样的选择。</a:t>
            </a:r>
            <a:endParaRPr lang="zh-CN" altLang="en-US"/>
          </a:p>
          <a:p>
            <a:r>
              <a:rPr lang="zh-CN" altLang="en-US"/>
              <a:t>第二行，奖励是 0.6，基线仍然是 0.9。</a:t>
            </a:r>
            <a:endParaRPr lang="zh-CN" altLang="en-US"/>
          </a:p>
          <a:p>
            <a:r>
              <a:rPr lang="zh-CN" altLang="en-US"/>
              <a:t>这里最值得注意：0.6 本身是正数，但优势是负数。</a:t>
            </a:r>
            <a:endParaRPr lang="zh-CN" altLang="en-US"/>
          </a:p>
          <a:p>
            <a:r>
              <a:rPr lang="zh-CN" altLang="en-US"/>
              <a:t>原因是，我们比较的不是它有没有超过零分，而是有没有超过参照水平。虽然拿到了分，但相对于 0.9，它仍然低了 0.3 分。因此，这条轨迹给出的训练信号，会倾向于降低相应输出的概率。</a:t>
            </a:r>
            <a:endParaRPr lang="zh-CN" altLang="en-US"/>
          </a:p>
          <a:p>
            <a:r>
              <a:rPr lang="zh-CN" altLang="en-US"/>
              <a:t>比如，这次尝试可能格式正确，也找到了一些匹配字母，所以拿到了正奖励。但如果同组其他尝试整体表现更好，它仍然属于相对较差的尝试。</a:t>
            </a:r>
            <a:endParaRPr lang="zh-CN" altLang="en-US"/>
          </a:p>
          <a:p>
            <a:r>
              <a:rPr lang="zh-CN" altLang="en-US"/>
              <a:t>所以，“有奖励”不等于“应该鼓励”，“优势为负”也不等于“这次尝试什么都没做对”。 它表达的是相对表现。</a:t>
            </a:r>
            <a:endParaRPr lang="zh-CN" altLang="en-US"/>
          </a:p>
          <a:p>
            <a:r>
              <a:rPr lang="zh-CN" altLang="en-US"/>
              <a:t>第三行，奖励是 1.8，基线是 0.9。</a:t>
            </a:r>
            <a:endParaRPr lang="zh-CN" altLang="en-US"/>
          </a:p>
          <a:p>
            <a:r>
              <a:rPr lang="zh-CN" altLang="en-US"/>
              <a:t>它比参照水平高了 0.9 分，因此也是正优势。</a:t>
            </a:r>
            <a:endParaRPr lang="zh-CN" altLang="en-US"/>
          </a:p>
          <a:p>
            <a:r>
              <a:rPr lang="zh-CN" altLang="en-US"/>
              <a:t>第一条和第三条都有正优势，说明训练并不是只鼓励最高分的那一条。只要高于参照水平，就可能得到正向的学习信号。</a:t>
            </a:r>
            <a:endParaRPr lang="zh-CN" altLang="en-US"/>
          </a:p>
          <a:p>
            <a:r>
              <a:rPr lang="zh-CN" altLang="en-US"/>
              <a:t>不过，这里的 +0.9 是分数差，不是概率增加 90%，也不是直接把模型参数加上 0.9。 算法会把优势用于构造训练损失，再通过梯度调整参数。实际变化多少，还与学习率、同批其他样本等因素有关。</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奖励表示这次尝试得了多少分，优势表示它比参照水平好多少或差多少。</a:t>
            </a:r>
            <a:endParaRPr lang="zh-CN" altLang="en-US"/>
          </a:p>
          <a:p>
            <a:r>
              <a:rPr lang="zh-CN" altLang="en-US"/>
              <a:t>但是，上一页的基线 0.9 是直接给大家的。真正训练的时候，这个参照水平应该怎么确定？这一页就来回答这个问题。</a:t>
            </a:r>
            <a:endParaRPr lang="zh-CN" altLang="en-US"/>
          </a:p>
          <a:p>
            <a:r>
              <a:rPr lang="zh-CN" altLang="en-US"/>
              <a:t>先看上面的 </a:t>
            </a:r>
            <a:r>
              <a:rPr lang="en-US" altLang="zh-CN"/>
              <a:t>PPO。PPO </a:t>
            </a:r>
            <a:r>
              <a:rPr lang="zh-CN" altLang="en-US"/>
              <a:t>是一种强化学习算法，中文叫“近端策略优化”。本课程不展开它的完整计算，只需要了解两个概念：</a:t>
            </a:r>
            <a:r>
              <a:rPr lang="en-US" altLang="zh-CN"/>
              <a:t>Critic </a:t>
            </a:r>
            <a:r>
              <a:rPr lang="zh-CN" altLang="en-US"/>
              <a:t>和 </a:t>
            </a:r>
            <a:r>
              <a:rPr lang="en-US" altLang="zh-CN"/>
              <a:t>Clip。</a:t>
            </a:r>
            <a:endParaRPr lang="en-US" altLang="zh-CN"/>
          </a:p>
          <a:p>
            <a:r>
              <a:rPr lang="en-US" altLang="zh-CN"/>
              <a:t>Critic </a:t>
            </a:r>
            <a:r>
              <a:rPr lang="zh-CN" altLang="en-US"/>
              <a:t>可以理解成一个“价值估计器”。比如 </a:t>
            </a:r>
            <a:r>
              <a:rPr lang="en-US" altLang="zh-CN"/>
              <a:t>Wordle </a:t>
            </a:r>
            <a:r>
              <a:rPr lang="zh-CN" altLang="en-US"/>
              <a:t>已经猜了两次，获得了一些颜色反馈，它会根据当前局面，估计：按照现在的策略继续玩下去，预计能获得多少回报？ </a:t>
            </a:r>
            <a:r>
              <a:rPr lang="en-US" altLang="zh-CN"/>
              <a:t>PPO </a:t>
            </a:r>
            <a:r>
              <a:rPr lang="zh-CN" altLang="en-US"/>
              <a:t>可以利用这样的估计，帮助判断实际表现是好于预期，还是差于预期。</a:t>
            </a:r>
            <a:endParaRPr lang="zh-CN" altLang="en-US"/>
          </a:p>
          <a:p>
            <a:r>
              <a:rPr lang="zh-CN" altLang="en-US"/>
              <a:t>这里要区分两件事：奖励函数根据实际表现打分，而 </a:t>
            </a:r>
            <a:r>
              <a:rPr lang="en-US" altLang="zh-CN"/>
              <a:t>Critic </a:t>
            </a:r>
            <a:r>
              <a:rPr lang="zh-CN" altLang="en-US"/>
              <a:t>学习预测从当前局面出发的预期回报。训练这个价值估计器，也需要额外的计算和设备内存。</a:t>
            </a:r>
            <a:endParaRPr lang="zh-CN" altLang="en-US"/>
          </a:p>
          <a:p>
            <a:r>
              <a:rPr lang="zh-CN" altLang="en-US"/>
              <a:t>另一个词是 </a:t>
            </a:r>
            <a:r>
              <a:rPr lang="en-US" altLang="zh-CN"/>
              <a:t>Clip，</a:t>
            </a:r>
            <a:r>
              <a:rPr lang="zh-CN" altLang="en-US"/>
              <a:t>中文叫“裁剪”。我们虽然希望提高好尝试的生成概率，但也不希望模型只根据这一批经验，就把原来的行为改得过于激进。</a:t>
            </a:r>
            <a:endParaRPr lang="zh-CN" altLang="en-US"/>
          </a:p>
          <a:p>
            <a:r>
              <a:rPr lang="en-US" altLang="zh-CN"/>
              <a:t>PPO </a:t>
            </a:r>
            <a:r>
              <a:rPr lang="zh-CN" altLang="en-US"/>
              <a:t>会比较：对于采样得到的输出，当前策略赋予它的概率，与采样时的旧策略相比，发生了多大的变化。 裁剪目标会抑制沿着优势方向过度放大这种变化的动力。这里先把它理解为让策略更新更克制；它并不保证每个参数的改动都被限制在某个百分比以内。</a:t>
            </a:r>
            <a:r>
              <a:rPr lang="en-US" altLang="zh-CN"/>
              <a:t>GRPO </a:t>
            </a:r>
            <a:r>
              <a:rPr lang="zh-CN" altLang="en-US"/>
              <a:t>也保留了这种裁剪思路。</a:t>
            </a:r>
            <a:endParaRPr lang="zh-CN" altLang="en-US"/>
          </a:p>
          <a:p>
            <a:r>
              <a:rPr lang="en-US" altLang="zh-CN"/>
              <a:t>GRPO </a:t>
            </a:r>
            <a:r>
              <a:rPr lang="zh-CN" altLang="en-US"/>
              <a:t>的中文是“组相对策略优化”。这个名字可以拆开理解：先形成一组尝试，再比较它们的相对表现，最后利用比较结果更新策略。</a:t>
            </a:r>
            <a:endParaRPr lang="zh-CN" altLang="en-US"/>
          </a:p>
          <a:p>
            <a:r>
              <a:rPr lang="en-US" altLang="zh-CN"/>
              <a:t>GRPO </a:t>
            </a:r>
            <a:r>
              <a:rPr lang="zh-CN" altLang="en-US"/>
              <a:t>获取参照水平的方法，就是让同一道任务的多次尝试互相比较。</a:t>
            </a:r>
            <a:endParaRPr lang="zh-CN" altLang="en-US"/>
          </a:p>
          <a:p>
            <a:r>
              <a:rPr lang="zh-CN" altLang="en-US"/>
              <a:t>对应我们课程里的 </a:t>
            </a:r>
            <a:r>
              <a:rPr lang="en-US" altLang="zh-CN"/>
              <a:t>Wordle，</a:t>
            </a:r>
            <a:r>
              <a:rPr lang="zh-CN" altLang="en-US"/>
              <a:t>同一个秘密单词、相同的初始条件，让当前模型独立玩八局。秘密单词仍然保存在环境侧，不会直接告诉模型。每一局都从初始状态重新开始，形成一条完整轨迹，也就是一条 </a:t>
            </a:r>
            <a:r>
              <a:rPr lang="en-US" altLang="zh-CN"/>
              <a:t>rollout。</a:t>
            </a:r>
            <a:endParaRPr lang="en-US" altLang="zh-CN"/>
          </a:p>
          <a:p>
            <a:r>
              <a:rPr lang="zh-CN" altLang="en-US"/>
              <a:t>所以，图里的“回答 </a:t>
            </a:r>
            <a:r>
              <a:rPr lang="en-US" altLang="zh-CN"/>
              <a:t>A、</a:t>
            </a:r>
            <a:r>
              <a:rPr lang="zh-CN" altLang="en-US"/>
              <a:t>回答 </a:t>
            </a:r>
            <a:r>
              <a:rPr lang="en-US" altLang="zh-CN"/>
              <a:t>B”，</a:t>
            </a:r>
            <a:r>
              <a:rPr lang="zh-CN" altLang="en-US"/>
              <a:t>放到本课程中，应当理解为不同的完整游戏过程，每条里面都可能包含多次猜词和环境反馈。图中只画了几条作为示意，下面的计算使用完整的八条奖励。</a:t>
            </a:r>
            <a:endParaRPr lang="zh-CN" altLang="en-US"/>
          </a:p>
          <a:p>
            <a:r>
              <a:rPr lang="zh-CN" altLang="en-US"/>
              <a:t>八局结束后，奖励函数分别给它们打分。我们用页面下面这组教学数据：</a:t>
            </a:r>
            <a:endParaRPr lang="zh-CN" altLang="en-US"/>
          </a:p>
          <a:p>
            <a:r>
              <a:rPr lang="en-US" altLang="zh-CN"/>
              <a:t>1.5、0.6、1.8、0.3、0.9、1.2、0.2、0.7。</a:t>
            </a:r>
            <a:endParaRPr lang="en-US" altLang="zh-CN"/>
          </a:p>
          <a:p>
            <a:r>
              <a:rPr lang="zh-CN" altLang="en-US"/>
              <a:t>把这八个分数加起来，得到 7.2，再除以 8：μ = 7.2 ÷ 8 = 0.9。</a:t>
            </a:r>
            <a:endParaRPr lang="zh-CN" altLang="en-US"/>
          </a:p>
          <a:p>
            <a:r>
              <a:rPr lang="zh-CN" altLang="en-US"/>
              <a:t>表示组内平均奖励。</a:t>
            </a:r>
            <a:endParaRPr lang="zh-CN" altLang="en-US"/>
          </a:p>
          <a:p>
            <a:r>
              <a:rPr lang="zh-CN" altLang="en-US"/>
              <a:t>现在大家就知道上一页的 0.9 从哪里来了：它是这八次尝试的平均分。 换一道任务，或者重新采样得到另一组结果，平均分都可能改变。因此，0.9 不是整个训练过程中固定不变的分数。</a:t>
            </a:r>
            <a:endParaRPr lang="zh-CN" altLang="en-US"/>
          </a:p>
          <a:p>
            <a:r>
              <a:rPr lang="zh-CN" altLang="en-US"/>
              <a:t>通过这种组内比较，</a:t>
            </a:r>
            <a:r>
              <a:rPr lang="en-US" altLang="zh-CN"/>
              <a:t>GRPO </a:t>
            </a:r>
            <a:r>
              <a:rPr lang="zh-CN" altLang="en-US"/>
              <a:t>就不需要额外训练 </a:t>
            </a:r>
            <a:r>
              <a:rPr lang="en-US" altLang="zh-CN"/>
              <a:t>Critic </a:t>
            </a:r>
            <a:r>
              <a:rPr lang="zh-CN" altLang="en-US"/>
              <a:t>来提供优势计算的参照。</a:t>
            </a:r>
            <a:endParaRPr lang="zh-CN" altLang="en-US"/>
          </a:p>
          <a:p>
            <a:r>
              <a:rPr lang="zh-CN" altLang="en-US"/>
              <a:t>再看下面的公式：Aᵢ = (rᵢ − μ) ÷ σ。其中，</a:t>
            </a:r>
            <a:r>
              <a:rPr lang="en-US" altLang="zh-CN"/>
              <a:t>i </a:t>
            </a:r>
            <a:r>
              <a:rPr lang="zh-CN" altLang="en-US"/>
              <a:t>表示第几条尝试，</a:t>
            </a:r>
            <a:r>
              <a:rPr lang="en-US" altLang="zh-CN"/>
              <a:t>rᵢ </a:t>
            </a:r>
            <a:r>
              <a:rPr lang="zh-CN" altLang="en-US"/>
              <a:t>是这条尝试的奖励，μ</a:t>
            </a:r>
            <a:r>
              <a:rPr lang="en-US" altLang="zh-CN"/>
              <a:t> </a:t>
            </a:r>
            <a:r>
              <a:rPr lang="zh-CN" altLang="en-US"/>
              <a:t>是本组平均奖励。分子 </a:t>
            </a:r>
            <a:r>
              <a:rPr lang="en-US" altLang="zh-CN"/>
              <a:t>rᵢ − μ，</a:t>
            </a:r>
            <a:r>
              <a:rPr lang="zh-CN" altLang="en-US"/>
              <a:t>就是上一页已经讲过的“这次表现比平均水平高多少或低多少”。</a:t>
            </a:r>
            <a:endParaRPr lang="zh-CN" altLang="en-US"/>
          </a:p>
          <a:p>
            <a:r>
              <a:rPr lang="zh-CN" altLang="en-US"/>
              <a:t>表示组内奖励的标准差。</a:t>
            </a:r>
            <a:endParaRPr lang="zh-CN" altLang="en-US"/>
          </a:p>
          <a:p>
            <a:r>
              <a:rPr lang="zh-CN" altLang="en-US"/>
              <a:t>标准差用来描述这组分数有多分散。如果八个分数都很接近，标准差就小；如果有的很高、有的很低，标准差就大。</a:t>
            </a:r>
            <a:endParaRPr lang="zh-CN" altLang="en-US"/>
          </a:p>
          <a:p>
            <a:r>
              <a:rPr lang="zh-CN" altLang="en-US"/>
              <a:t>为什么要除以标准差？因为我们希望把“比平均分高多少”，换算成“相对于这组分数通常的波动，高了多少”。</a:t>
            </a:r>
            <a:endParaRPr lang="zh-CN" altLang="en-US"/>
          </a:p>
          <a:p>
            <a:r>
              <a:rPr lang="zh-CN" altLang="en-US"/>
              <a:t>例如，把整组奖励统一放大十倍，分数差会放大十倍，标准差也会放大十倍，二者相除后，标准化优势基本不变。这样就减少了奖励计分尺度对优势大小的直接影响。</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上一页，我们介绍了 </a:t>
            </a:r>
            <a:r>
              <a:rPr lang="en-US" altLang="zh-CN"/>
              <a:t>GRPO：</a:t>
            </a:r>
            <a:r>
              <a:rPr lang="zh-CN" altLang="en-US"/>
              <a:t>让模型对同一个任务进行多次尝试，比较各自的奖励，再根据优势更新参数。</a:t>
            </a:r>
            <a:endParaRPr lang="zh-CN" altLang="en-US"/>
          </a:p>
          <a:p>
            <a:r>
              <a:rPr lang="zh-CN" altLang="en-US"/>
              <a:t>但是，奖励函数只评价了我们写进规则里的那些内容。模型为了提高分数，可能逐渐形成一些我们不希望看到的行为，例如反复使用某种能够得分的固定回答。</a:t>
            </a:r>
            <a:endParaRPr lang="zh-CN" altLang="en-US"/>
          </a:p>
          <a:p>
            <a:r>
              <a:rPr lang="zh-CN" altLang="en-US"/>
              <a:t>所以，训练时除了考虑“怎样获得更高奖励”，还需要考虑：当前模型的行为，已经偏离训练起点多少了？</a:t>
            </a:r>
            <a:endParaRPr lang="zh-CN" altLang="en-US"/>
          </a:p>
          <a:p>
            <a:r>
              <a:rPr lang="zh-CN" altLang="en-US"/>
              <a:t>这一页的 </a:t>
            </a:r>
            <a:r>
              <a:rPr lang="en-US" altLang="zh-CN"/>
              <a:t>KL，</a:t>
            </a:r>
            <a:r>
              <a:rPr lang="zh-CN" altLang="en-US"/>
              <a:t>就是用来衡量这种变化的。</a:t>
            </a:r>
            <a:endParaRPr lang="zh-CN" altLang="en-US"/>
          </a:p>
          <a:p>
            <a:r>
              <a:rPr lang="zh-CN" altLang="en-US"/>
              <a:t>先解释页面上两个策略分别是什么。</a:t>
            </a:r>
            <a:endParaRPr lang="zh-CN" altLang="en-US"/>
          </a:p>
          <a:p>
            <a:r>
              <a:rPr lang="zh-CN" altLang="en-US"/>
              <a:t>当前策略，就是正在接受 </a:t>
            </a:r>
            <a:r>
              <a:rPr lang="en-US" altLang="zh-CN"/>
              <a:t>RL </a:t>
            </a:r>
            <a:r>
              <a:rPr lang="zh-CN" altLang="en-US"/>
              <a:t>训练、参数不断更新的模型，用 </a:t>
            </a:r>
            <a:r>
              <a:rPr lang="en-US" altLang="zh-CN"/>
              <a:t>π </a:t>
            </a:r>
            <a:r>
              <a:rPr lang="zh-CN" altLang="en-US"/>
              <a:t>表示。</a:t>
            </a:r>
            <a:endParaRPr lang="zh-CN" altLang="en-US"/>
          </a:p>
          <a:p>
            <a:r>
              <a:rPr lang="zh-CN" altLang="en-US"/>
              <a:t>参考策略，就是保留在 </a:t>
            </a:r>
            <a:r>
              <a:rPr lang="en-US" altLang="zh-CN"/>
              <a:t>RL </a:t>
            </a:r>
            <a:r>
              <a:rPr lang="zh-CN" altLang="en-US"/>
              <a:t>训练起点的模型，用 </a:t>
            </a:r>
            <a:r>
              <a:rPr lang="en-US" altLang="zh-CN"/>
              <a:t>π_ref </a:t>
            </a:r>
            <a:r>
              <a:rPr lang="zh-CN" altLang="en-US"/>
              <a:t>表示。 在本课程里，这个起点是已经完成 </a:t>
            </a:r>
            <a:r>
              <a:rPr lang="en-US" altLang="zh-CN"/>
              <a:t>SFT </a:t>
            </a:r>
            <a:r>
              <a:rPr lang="zh-CN" altLang="en-US"/>
              <a:t>的模型。我们保留它的初始权重，作为固定参照，训练过程中不更新这份参考权重。</a:t>
            </a:r>
            <a:endParaRPr lang="zh-CN" altLang="en-US"/>
          </a:p>
          <a:p>
            <a:r>
              <a:rPr lang="zh-CN" altLang="en-US"/>
              <a:t>因此，训练刚开始时，当前模型和参考模型具有相同的权重。随着 </a:t>
            </a:r>
            <a:r>
              <a:rPr lang="en-US" altLang="zh-CN"/>
              <a:t>RL </a:t>
            </a:r>
            <a:r>
              <a:rPr lang="zh-CN" altLang="en-US"/>
              <a:t>训练推进，当前模型发生变化，参考模型仍然保留起点时的行为。</a:t>
            </a:r>
            <a:endParaRPr lang="zh-CN" altLang="en-US"/>
          </a:p>
          <a:p>
            <a:r>
              <a:rPr lang="zh-CN" altLang="en-US"/>
              <a:t>注意，这里的参考策略是一份模型；上一页的 </a:t>
            </a:r>
            <a:r>
              <a:rPr lang="en-US" altLang="zh-CN"/>
              <a:t>baseline </a:t>
            </a:r>
            <a:r>
              <a:rPr lang="zh-CN" altLang="en-US"/>
              <a:t>是组内平均奖励，是一个分数。它们承担不同的作用。</a:t>
            </a:r>
            <a:endParaRPr lang="zh-CN" altLang="en-US"/>
          </a:p>
          <a:p>
            <a:r>
              <a:rPr lang="zh-CN" altLang="en-US"/>
              <a:t>接下来，我们怎样比较这两份模型？</a:t>
            </a:r>
            <a:endParaRPr lang="zh-CN" altLang="en-US"/>
          </a:p>
          <a:p>
            <a:r>
              <a:rPr lang="zh-CN" altLang="en-US"/>
              <a:t>我们给它们同一段上下文，包括相同的游戏规则、此前猜过的单词、获得的颜色反馈，以及已经生成的文字，然后观察它们对下一个 </a:t>
            </a:r>
            <a:r>
              <a:rPr lang="en-US" altLang="zh-CN"/>
              <a:t>token </a:t>
            </a:r>
            <a:r>
              <a:rPr lang="zh-CN" altLang="en-US"/>
              <a:t>分别给出什么概率。</a:t>
            </a:r>
            <a:endParaRPr lang="zh-CN" altLang="en-US"/>
          </a:p>
          <a:p>
            <a:r>
              <a:rPr lang="zh-CN" altLang="en-US"/>
              <a:t>这里比较的是“面对同样的情况，各种输出的概率发生了什么变化”。</a:t>
            </a:r>
            <a:endParaRPr lang="zh-CN" altLang="en-US"/>
          </a:p>
          <a:p>
            <a:r>
              <a:rPr lang="zh-CN" altLang="en-US"/>
              <a:t>看左边的柱状图。为了方便理解，假设下一个 </a:t>
            </a:r>
            <a:r>
              <a:rPr lang="en-US" altLang="zh-CN"/>
              <a:t>token </a:t>
            </a:r>
            <a:r>
              <a:rPr lang="zh-CN" altLang="en-US"/>
              <a:t>只有 </a:t>
            </a:r>
            <a:r>
              <a:rPr lang="en-US" altLang="zh-CN"/>
              <a:t>A、B、C </a:t>
            </a:r>
            <a:r>
              <a:rPr lang="zh-CN" altLang="en-US"/>
              <a:t>三种候选。</a:t>
            </a:r>
            <a:endParaRPr lang="zh-CN" altLang="en-US"/>
          </a:p>
          <a:p>
            <a:r>
              <a:rPr lang="zh-CN" altLang="en-US"/>
              <a:t>蓝色代表参考模型：</a:t>
            </a:r>
            <a:endParaRPr lang="zh-CN" altLang="en-US"/>
          </a:p>
          <a:p>
            <a:r>
              <a:rPr lang="zh-CN" altLang="en-US"/>
              <a:t>- 选择 </a:t>
            </a:r>
            <a:r>
              <a:rPr lang="en-US" altLang="zh-CN"/>
              <a:t>A </a:t>
            </a:r>
            <a:r>
              <a:rPr lang="zh-CN" altLang="en-US"/>
              <a:t>的概率是 60%；</a:t>
            </a:r>
            <a:endParaRPr lang="zh-CN" altLang="en-US"/>
          </a:p>
          <a:p>
            <a:r>
              <a:rPr lang="zh-CN" altLang="en-US"/>
              <a:t>- 选择 </a:t>
            </a:r>
            <a:r>
              <a:rPr lang="en-US" altLang="zh-CN"/>
              <a:t>B </a:t>
            </a:r>
            <a:r>
              <a:rPr lang="zh-CN" altLang="en-US"/>
              <a:t>的概率是 30%；</a:t>
            </a:r>
            <a:endParaRPr lang="zh-CN" altLang="en-US"/>
          </a:p>
          <a:p>
            <a:r>
              <a:rPr lang="zh-CN" altLang="en-US"/>
              <a:t>- 选择 </a:t>
            </a:r>
            <a:r>
              <a:rPr lang="en-US" altLang="zh-CN"/>
              <a:t>C </a:t>
            </a:r>
            <a:r>
              <a:rPr lang="zh-CN" altLang="en-US"/>
              <a:t>的概率是 10%。</a:t>
            </a:r>
            <a:endParaRPr lang="zh-CN" altLang="en-US"/>
          </a:p>
          <a:p>
            <a:r>
              <a:rPr lang="zh-CN" altLang="en-US"/>
              <a:t>红色代表当前模型：</a:t>
            </a:r>
            <a:endParaRPr lang="zh-CN" altLang="en-US"/>
          </a:p>
          <a:p>
            <a:r>
              <a:rPr lang="en-US" altLang="zh-CN"/>
              <a:t>- A </a:t>
            </a:r>
            <a:r>
              <a:rPr lang="zh-CN" altLang="en-US"/>
              <a:t>的概率变成了 90%；</a:t>
            </a:r>
            <a:endParaRPr lang="zh-CN" altLang="en-US"/>
          </a:p>
          <a:p>
            <a:r>
              <a:rPr lang="en-US" altLang="zh-CN"/>
              <a:t>- B </a:t>
            </a:r>
            <a:r>
              <a:rPr lang="zh-CN" altLang="en-US"/>
              <a:t>的概率降到了 8%；</a:t>
            </a:r>
            <a:endParaRPr lang="zh-CN" altLang="en-US"/>
          </a:p>
          <a:p>
            <a:r>
              <a:rPr lang="en-US" altLang="zh-CN"/>
              <a:t>- C </a:t>
            </a:r>
            <a:r>
              <a:rPr lang="zh-CN" altLang="en-US"/>
              <a:t>的概率降到了 2%。</a:t>
            </a:r>
            <a:endParaRPr lang="zh-CN" altLang="en-US"/>
          </a:p>
          <a:p>
            <a:r>
              <a:rPr lang="zh-CN" altLang="en-US"/>
              <a:t>我们可以看到，训练之后，当前模型明显更倾向于选择 </a:t>
            </a:r>
            <a:r>
              <a:rPr lang="en-US" altLang="zh-CN"/>
              <a:t>A。</a:t>
            </a:r>
            <a:endParaRPr lang="en-US" altLang="zh-CN"/>
          </a:p>
          <a:p>
            <a:r>
              <a:rPr lang="zh-CN" altLang="en-US"/>
              <a:t>这里的 90%，表示模型生成候选 </a:t>
            </a:r>
            <a:r>
              <a:rPr lang="en-US" altLang="zh-CN"/>
              <a:t>A </a:t>
            </a:r>
            <a:r>
              <a:rPr lang="zh-CN" altLang="en-US"/>
              <a:t>的概率，不表示 </a:t>
            </a:r>
            <a:r>
              <a:rPr lang="en-US" altLang="zh-CN"/>
              <a:t>A </a:t>
            </a:r>
            <a:r>
              <a:rPr lang="zh-CN" altLang="en-US"/>
              <a:t>有 90% 的概率是 </a:t>
            </a:r>
            <a:r>
              <a:rPr lang="en-US" altLang="zh-CN"/>
              <a:t>Wordle </a:t>
            </a:r>
            <a:r>
              <a:rPr lang="zh-CN" altLang="en-US"/>
              <a:t>的正确答案。</a:t>
            </a:r>
            <a:endParaRPr lang="zh-CN" altLang="en-US"/>
          </a:p>
          <a:p>
            <a:r>
              <a:rPr lang="zh-CN" altLang="en-US"/>
              <a:t>这样的变化一定不好吗？不一定。如果 </a:t>
            </a:r>
            <a:r>
              <a:rPr lang="en-US" altLang="zh-CN"/>
              <a:t>A </a:t>
            </a:r>
            <a:r>
              <a:rPr lang="zh-CN" altLang="en-US"/>
              <a:t>对当前任务确实更有帮助，这可能就是我们希望学到的变化。</a:t>
            </a:r>
            <a:r>
              <a:rPr lang="en-US" altLang="zh-CN"/>
              <a:t>KL </a:t>
            </a:r>
            <a:r>
              <a:rPr lang="zh-CN" altLang="en-US"/>
              <a:t>负责衡量变化程度，任务表现好不好，还需要看奖励和评测。</a:t>
            </a:r>
            <a:endParaRPr lang="zh-CN" altLang="en-US"/>
          </a:p>
          <a:p>
            <a:r>
              <a:rPr lang="zh-CN" altLang="en-US"/>
              <a:t>再看右边的公式：KL(p ∥ q) = Σ p × log(p / q)。这里，</a:t>
            </a:r>
            <a:r>
              <a:rPr lang="en-US" altLang="zh-CN"/>
              <a:t>p </a:t>
            </a:r>
            <a:r>
              <a:rPr lang="zh-CN" altLang="en-US"/>
              <a:t>是当前模型的概率分布，</a:t>
            </a:r>
            <a:r>
              <a:rPr lang="en-US" altLang="zh-CN"/>
              <a:t>q </a:t>
            </a:r>
            <a:r>
              <a:rPr lang="zh-CN" altLang="en-US"/>
              <a:t>是参考模型的概率分布。</a:t>
            </a:r>
            <a:endParaRPr lang="zh-CN" altLang="en-US"/>
          </a:p>
          <a:p>
            <a:r>
              <a:rPr lang="en-US" altLang="zh-CN"/>
              <a:t>“Σ”</a:t>
            </a:r>
            <a:r>
              <a:rPr lang="zh-CN" altLang="en-US"/>
              <a:t>表示把所有候选的计算结果加起来；“</a:t>
            </a:r>
            <a:r>
              <a:rPr lang="en-US" altLang="zh-CN"/>
              <a:t>log”</a:t>
            </a:r>
            <a:r>
              <a:rPr lang="zh-CN" altLang="en-US"/>
              <a:t>在这里使用自然对数。大家不需要现场手算对数，先理解它的计算过程：对每个候选，比较当前概率与参考概率，再按当前概率加权，最后求和。如果两份模型对所有候选给出的概率完全相同，那么每个概率比都是 1，而 </a:t>
            </a:r>
            <a:r>
              <a:rPr lang="en-US" altLang="zh-CN"/>
              <a:t>log 1 = 0，</a:t>
            </a:r>
            <a:r>
              <a:rPr lang="zh-CN" altLang="en-US"/>
              <a:t>所以 </a:t>
            </a:r>
            <a:r>
              <a:rPr lang="en-US" altLang="zh-CN"/>
              <a:t>KL </a:t>
            </a:r>
            <a:r>
              <a:rPr lang="zh-CN" altLang="en-US"/>
              <a:t>就是 0。</a:t>
            </a:r>
            <a:endParaRPr lang="zh-CN" altLang="en-US"/>
          </a:p>
          <a:p>
            <a:r>
              <a:rPr lang="en-US" altLang="zh-CN"/>
              <a:t>KL </a:t>
            </a:r>
            <a:r>
              <a:rPr lang="zh-CN" altLang="en-US"/>
              <a:t>等于 0，说明它们在这个上下文下的输出分布一致，并不说明模型已经学得最好。 参考模型原本也可能猜不对，我们仍然希望通过 </a:t>
            </a:r>
            <a:r>
              <a:rPr lang="en-US" altLang="zh-CN"/>
              <a:t>RL </a:t>
            </a:r>
            <a:r>
              <a:rPr lang="zh-CN" altLang="en-US"/>
              <a:t>学到新的能力。</a:t>
            </a:r>
            <a:endParaRPr lang="zh-CN" altLang="en-US"/>
          </a:p>
          <a:p>
            <a:r>
              <a:rPr lang="zh-CN" altLang="en-US"/>
              <a:t>那么，计算出 </a:t>
            </a:r>
            <a:r>
              <a:rPr lang="en-US" altLang="zh-CN"/>
              <a:t>KL </a:t>
            </a:r>
            <a:r>
              <a:rPr lang="zh-CN" altLang="en-US"/>
              <a:t>之后，它怎样影响训练？看左下角的公式：总 loss = pg_loss + β × KL。</a:t>
            </a:r>
            <a:endParaRPr lang="zh-CN" altLang="en-US"/>
          </a:p>
          <a:p>
            <a:r>
              <a:rPr lang="zh-CN" altLang="en-US"/>
              <a:t>先解释 </a:t>
            </a:r>
            <a:r>
              <a:rPr lang="en-US" altLang="zh-CN"/>
              <a:t>pg_loss。</a:t>
            </a:r>
            <a:r>
              <a:rPr lang="zh-CN" altLang="en-US"/>
              <a:t>它是“策略梯度损失”，就是把上一页的优势信号转成训练目标的那一部分：鼓励模型增加较好尝试的生成概率，减少较差尝试的生成概率。</a:t>
            </a:r>
            <a:endParaRPr lang="zh-CN" altLang="en-US"/>
          </a:p>
          <a:p>
            <a:r>
              <a:rPr lang="zh-CN" altLang="en-US"/>
              <a:t>后面的 β ×</a:t>
            </a:r>
            <a:r>
              <a:rPr lang="en-US" altLang="zh-CN"/>
              <a:t> KL，</a:t>
            </a:r>
            <a:r>
              <a:rPr lang="zh-CN" altLang="en-US"/>
              <a:t>是偏离参考策略需要付出的代价。</a:t>
            </a:r>
            <a:r>
              <a:rPr lang="en-US" altLang="zh-CN"/>
              <a:t>β </a:t>
            </a:r>
            <a:r>
              <a:rPr lang="zh-CN" altLang="en-US"/>
              <a:t>是人为设置的权重，控制我们有多重视这项约束。</a:t>
            </a:r>
            <a:endParaRPr lang="zh-CN" altLang="en-US"/>
          </a:p>
          <a:p>
            <a:r>
              <a:rPr lang="zh-CN" altLang="en-US"/>
              <a:t>为什么这里是加号？</a:t>
            </a:r>
            <a:endParaRPr lang="zh-CN" altLang="en-US"/>
          </a:p>
          <a:p>
            <a:r>
              <a:rPr lang="zh-CN" altLang="en-US"/>
              <a:t>因为优化器的目标是让总 </a:t>
            </a:r>
            <a:r>
              <a:rPr lang="en-US" altLang="zh-CN"/>
              <a:t>loss </a:t>
            </a:r>
            <a:r>
              <a:rPr lang="zh-CN" altLang="en-US"/>
              <a:t>变小。在其他条件相同时，</a:t>
            </a:r>
            <a:r>
              <a:rPr lang="en-US" altLang="zh-CN"/>
              <a:t>KL </a:t>
            </a:r>
            <a:r>
              <a:rPr lang="zh-CN" altLang="en-US"/>
              <a:t>越大，这一项增加的损失越多，优化器就会受到减小这种偏离的推动。</a:t>
            </a:r>
            <a:endParaRPr lang="zh-CN" altLang="en-US"/>
          </a:p>
          <a:p>
            <a:r>
              <a:rPr lang="zh-CN" altLang="en-US"/>
              <a:t>它会和策略梯度损失一起参与反向传播，影响当前模型的参数更新。这里不是训练完以后把模型重新恢复成 </a:t>
            </a:r>
            <a:r>
              <a:rPr lang="en-US" altLang="zh-CN"/>
              <a:t>SFT </a:t>
            </a:r>
            <a:r>
              <a:rPr lang="zh-CN" altLang="en-US"/>
              <a:t>权重，而是在每次优化时，同时考虑任务学习和对参考策略的偏离。</a:t>
            </a:r>
            <a:endParaRPr lang="zh-CN" altLang="en-US"/>
          </a:p>
          <a:p>
            <a:r>
              <a:rPr lang="zh-CN" altLang="en-US"/>
              <a:t>因此，</a:t>
            </a:r>
            <a:r>
              <a:rPr lang="en-US" altLang="zh-CN"/>
              <a:t>β </a:t>
            </a:r>
            <a:r>
              <a:rPr lang="zh-CN" altLang="en-US"/>
              <a:t>控制的是一种取舍：</a:t>
            </a:r>
            <a:endParaRPr lang="zh-CN" altLang="en-US"/>
          </a:p>
          <a:p>
            <a:r>
              <a:rPr lang="en-US" altLang="zh-CN"/>
              <a:t>β </a:t>
            </a:r>
            <a:r>
              <a:rPr lang="zh-CN" altLang="en-US"/>
              <a:t>较大，偏离参考策略的代价更高，模型的变化会受到更强的约束；</a:t>
            </a:r>
            <a:r>
              <a:rPr lang="en-US" altLang="zh-CN"/>
              <a:t>β </a:t>
            </a:r>
            <a:r>
              <a:rPr lang="zh-CN" altLang="en-US"/>
              <a:t>较小，约束相对较弱。</a:t>
            </a:r>
            <a:endParaRPr lang="zh-CN" altLang="en-US"/>
          </a:p>
          <a:p>
            <a:r>
              <a:rPr lang="zh-CN" altLang="en-US"/>
              <a:t>但 </a:t>
            </a:r>
            <a:r>
              <a:rPr lang="en-US" altLang="zh-CN"/>
              <a:t>β </a:t>
            </a:r>
            <a:r>
              <a:rPr lang="zh-CN" altLang="en-US"/>
              <a:t>不是越大越好。约束过强，可能妨碍模型学到更有效的新策略；约束过弱，又可能不足以抑制不希望出现的变化。</a:t>
            </a:r>
            <a:endParaRPr lang="zh-CN" altLang="en-US"/>
          </a:p>
          <a:p>
            <a:r>
              <a:rPr lang="zh-CN" altLang="en-US"/>
              <a:t>所以，我们允许模型改变，同时给过度偏离增加代价。这是一种软约束，并不能保证训练一定不会出问题。</a:t>
            </a:r>
            <a:endParaRPr lang="zh-CN" altLang="en-US"/>
          </a:p>
          <a:p>
            <a:r>
              <a:rPr lang="zh-CN" altLang="en-US"/>
              <a:t>页面最下面还提到了两种使用 </a:t>
            </a:r>
            <a:r>
              <a:rPr lang="en-US" altLang="zh-CN"/>
              <a:t>KL </a:t>
            </a:r>
            <a:r>
              <a:rPr lang="zh-CN" altLang="en-US"/>
              <a:t>的方式。</a:t>
            </a:r>
            <a:endParaRPr lang="zh-CN" altLang="en-US"/>
          </a:p>
          <a:p>
            <a:r>
              <a:rPr lang="zh-CN" altLang="en-US"/>
              <a:t>第一种叫 </a:t>
            </a:r>
            <a:r>
              <a:rPr lang="en-US" altLang="zh-CN"/>
              <a:t>KL loss，</a:t>
            </a:r>
            <a:r>
              <a:rPr lang="zh-CN" altLang="en-US"/>
              <a:t>就是本课程采用的方式：把 </a:t>
            </a:r>
            <a:r>
              <a:rPr lang="en-US" altLang="zh-CN"/>
              <a:t>KL </a:t>
            </a:r>
            <a:r>
              <a:rPr lang="zh-CN" altLang="en-US"/>
              <a:t>惩罚加进损失函数，直接影响参数更新。</a:t>
            </a:r>
            <a:endParaRPr lang="zh-CN" altLang="en-US"/>
          </a:p>
          <a:p>
            <a:r>
              <a:rPr lang="zh-CN" altLang="en-US"/>
              <a:t>另一种叫 </a:t>
            </a:r>
            <a:r>
              <a:rPr lang="en-US" altLang="zh-CN"/>
              <a:t>KL in reward：</a:t>
            </a:r>
            <a:r>
              <a:rPr lang="zh-CN" altLang="en-US"/>
              <a:t>先从奖励中扣除偏离参考策略的惩罚，再用调整后的奖励参与后续的优势计算。</a:t>
            </a:r>
            <a:endParaRPr lang="zh-CN" altLang="en-US"/>
          </a:p>
          <a:p>
            <a:endParaRPr lang="en-US" altLang="zh-CN"/>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上一页，我们讲了 </a:t>
            </a:r>
            <a:r>
              <a:rPr lang="en-US" altLang="zh-CN"/>
              <a:t>KL：</a:t>
            </a:r>
            <a:r>
              <a:rPr lang="zh-CN" altLang="en-US"/>
              <a:t>它比较当前模型与参考模型，衡量当前模型偏离训练起点多少。</a:t>
            </a:r>
            <a:endParaRPr lang="zh-CN" altLang="en-US"/>
          </a:p>
          <a:p>
            <a:r>
              <a:rPr lang="zh-CN" altLang="en-US"/>
              <a:t>这一页换一个角度，观察当前模型自己的选择，是比较分散，还是高度集中在某一种输出上。</a:t>
            </a:r>
            <a:endParaRPr lang="zh-CN" altLang="en-US"/>
          </a:p>
          <a:p>
            <a:r>
              <a:rPr lang="zh-CN" altLang="en-US"/>
              <a:t>描述这种分散程度的指标，就叫“熵”，先看一个最简单的例子。假设在同一段上下文下，下一个 </a:t>
            </a:r>
            <a:r>
              <a:rPr lang="en-US" altLang="zh-CN"/>
              <a:t>token </a:t>
            </a:r>
            <a:r>
              <a:rPr lang="zh-CN" altLang="en-US"/>
              <a:t>只有 </a:t>
            </a:r>
            <a:r>
              <a:rPr lang="en-US" altLang="zh-CN"/>
              <a:t>A、B </a:t>
            </a:r>
            <a:r>
              <a:rPr lang="zh-CN" altLang="en-US"/>
              <a:t>两种选择。</a:t>
            </a:r>
            <a:endParaRPr lang="zh-CN" altLang="en-US"/>
          </a:p>
          <a:p>
            <a:r>
              <a:rPr lang="zh-CN" altLang="en-US"/>
              <a:t>第一种情况，</a:t>
            </a:r>
            <a:r>
              <a:rPr lang="en-US" altLang="zh-CN"/>
              <a:t>A </a:t>
            </a:r>
            <a:r>
              <a:rPr lang="zh-CN" altLang="en-US"/>
              <a:t>的概率是 50%，</a:t>
            </a:r>
            <a:r>
              <a:rPr lang="en-US" altLang="zh-CN"/>
              <a:t>B </a:t>
            </a:r>
            <a:r>
              <a:rPr lang="zh-CN" altLang="en-US"/>
              <a:t>的概率也是 50%。如果按照这个分布采样，两种选择都有很大的机会出现，选择比较分散，所以熵比较高。</a:t>
            </a:r>
            <a:endParaRPr lang="zh-CN" altLang="en-US"/>
          </a:p>
          <a:p>
            <a:r>
              <a:rPr lang="zh-CN" altLang="en-US"/>
              <a:t>第二种情况，</a:t>
            </a:r>
            <a:r>
              <a:rPr lang="en-US" altLang="zh-CN"/>
              <a:t>A </a:t>
            </a:r>
            <a:r>
              <a:rPr lang="zh-CN" altLang="en-US"/>
              <a:t>的概率是 99%，</a:t>
            </a:r>
            <a:r>
              <a:rPr lang="en-US" altLang="zh-CN"/>
              <a:t>B </a:t>
            </a:r>
            <a:r>
              <a:rPr lang="zh-CN" altLang="en-US"/>
              <a:t>的概率只有 1%。模型几乎总会选择 </a:t>
            </a:r>
            <a:r>
              <a:rPr lang="en-US" altLang="zh-CN"/>
              <a:t>A，</a:t>
            </a:r>
            <a:r>
              <a:rPr lang="zh-CN" altLang="en-US"/>
              <a:t>选择高度集中，所以熵比较低。</a:t>
            </a:r>
            <a:endParaRPr lang="zh-CN" altLang="en-US"/>
          </a:p>
          <a:p>
            <a:r>
              <a:rPr lang="zh-CN" altLang="en-US"/>
              <a:t>熵高，表示概率分配得更分散；熵低，表示概率集中在较少的选择上。</a:t>
            </a:r>
            <a:endParaRPr lang="zh-CN" altLang="en-US"/>
          </a:p>
          <a:p>
            <a:r>
              <a:rPr lang="zh-CN" altLang="en-US"/>
              <a:t>这里可以和上一页做个区分：</a:t>
            </a:r>
            <a:r>
              <a:rPr lang="en-US" altLang="zh-CN"/>
              <a:t>KL </a:t>
            </a:r>
            <a:r>
              <a:rPr lang="zh-CN" altLang="en-US"/>
              <a:t>要比较当前和参考两个分布；熵只看当前这一个分布。</a:t>
            </a:r>
            <a:endParaRPr lang="zh-CN" altLang="en-US"/>
          </a:p>
          <a:p>
            <a:r>
              <a:rPr lang="zh-CN" altLang="en-US"/>
              <a:t>那么，为什么强化学习要关心这件事？</a:t>
            </a:r>
            <a:endParaRPr lang="zh-CN" altLang="en-US"/>
          </a:p>
          <a:p>
            <a:r>
              <a:rPr lang="zh-CN" altLang="en-US"/>
              <a:t>联系前面讲过的 </a:t>
            </a:r>
            <a:r>
              <a:rPr lang="en-US" altLang="zh-CN"/>
              <a:t>Wordle </a:t>
            </a:r>
            <a:r>
              <a:rPr lang="zh-CN" altLang="en-US"/>
              <a:t>训练，我们让同一个模型对同一道任务独立尝试八次，再比较这些尝试的奖励。</a:t>
            </a:r>
            <a:endParaRPr lang="zh-CN" altLang="en-US"/>
          </a:p>
          <a:p>
            <a:r>
              <a:rPr lang="zh-CN" altLang="en-US"/>
              <a:t>如果模型过早集中到某一种固定回答，那么面对相同的上下文，八次尝试可能非常相似。这样，我们就比较难获得不同的游戏过程，也比较难发现原来没有尝试过的、更有效的猜词方法。</a:t>
            </a:r>
            <a:endParaRPr lang="zh-CN" altLang="en-US"/>
          </a:p>
          <a:p>
            <a:r>
              <a:rPr lang="zh-CN" altLang="en-US"/>
              <a:t>所以，训练过程中，我们希望模型仍然保留尝试其他选择的机会。尝试不同的行动、收集新的结果，这就是这里说的“探索”。</a:t>
            </a:r>
            <a:endParaRPr lang="zh-CN" altLang="en-US"/>
          </a:p>
          <a:p>
            <a:r>
              <a:rPr lang="zh-CN" altLang="en-US"/>
              <a:t>比如在当前反馈下，仍然有几种可能的猜词方式。如果模型愿意尝试不同选择，我们就有机会观察：哪一种能获得更多有效信息，哪一种更容易最终猜中，再通过奖励和优势学习。</a:t>
            </a:r>
            <a:endParaRPr lang="zh-CN" altLang="en-US"/>
          </a:p>
          <a:p>
            <a:r>
              <a:rPr lang="zh-CN" altLang="en-US"/>
              <a:t>不过，保留探索，并不意味着概率越分散越好。如果模型只是在无意义的字符之间随机选择，虽然熵可能很高，游戏表现仍然会很差。</a:t>
            </a:r>
            <a:endParaRPr lang="zh-CN" altLang="en-US"/>
          </a:p>
          <a:p>
            <a:r>
              <a:rPr lang="zh-CN" altLang="en-US"/>
              <a:t>因此，我们希望探索能够帮助任务学习，不能只追求一个更大的熵数值。</a:t>
            </a:r>
            <a:endParaRPr lang="zh-CN" altLang="en-US"/>
          </a:p>
          <a:p>
            <a:r>
              <a:rPr lang="zh-CN" altLang="en-US"/>
              <a:t>接下来，看页面中间的公式：总 loss = pg_loss + β × KL − α × H(π)。前两项我们已经讲过了。</a:t>
            </a:r>
            <a:endParaRPr lang="zh-CN" altLang="en-US"/>
          </a:p>
          <a:p>
            <a:r>
              <a:rPr lang="en-US" altLang="zh-CN"/>
              <a:t>pg_loss </a:t>
            </a:r>
            <a:r>
              <a:rPr lang="zh-CN" altLang="en-US"/>
              <a:t>是策略梯度损失，利用优势信号，鼓励模型学习表现更好的尝试。</a:t>
            </a:r>
            <a:endParaRPr lang="zh-CN" altLang="en-US"/>
          </a:p>
          <a:p>
            <a:r>
              <a:rPr lang="en-US" altLang="zh-CN"/>
              <a:t>β × KL </a:t>
            </a:r>
            <a:r>
              <a:rPr lang="zh-CN" altLang="en-US"/>
              <a:t>是对偏离参考策略的惩罚。表示熵这一项的权重。这一项叫 </a:t>
            </a:r>
            <a:r>
              <a:rPr lang="en-US" altLang="zh-CN"/>
              <a:t>Entropy Bonus，</a:t>
            </a:r>
            <a:r>
              <a:rPr lang="zh-CN" altLang="en-US"/>
              <a:t>也就是“熵奖励”。</a:t>
            </a:r>
            <a:endParaRPr lang="zh-CN" altLang="en-US"/>
          </a:p>
          <a:p>
            <a:r>
              <a:rPr lang="zh-CN" altLang="en-US"/>
              <a:t>为什么叫奖励，公式里却是一个减号？</a:t>
            </a:r>
            <a:endParaRPr lang="zh-CN" altLang="en-US"/>
          </a:p>
          <a:p>
            <a:r>
              <a:rPr lang="zh-CN" altLang="en-US"/>
              <a:t>因为我们训练时，要让总 </a:t>
            </a:r>
            <a:r>
              <a:rPr lang="en-US" altLang="zh-CN"/>
              <a:t>loss </a:t>
            </a:r>
            <a:r>
              <a:rPr lang="zh-CN" altLang="en-US"/>
              <a:t>尽量小。减去的熵越多，这一项就越能降低 </a:t>
            </a:r>
            <a:r>
              <a:rPr lang="en-US" altLang="zh-CN"/>
              <a:t>loss，</a:t>
            </a:r>
            <a:r>
              <a:rPr lang="zh-CN" altLang="en-US"/>
              <a:t>因此会形成鼓励较高熵的优化方向。</a:t>
            </a:r>
            <a:endParaRPr lang="zh-CN" altLang="en-US"/>
          </a:p>
          <a:p>
            <a:endParaRPr lang="zh-CN" altLang="en-US"/>
          </a:p>
          <a:p>
            <a:r>
              <a:rPr lang="zh-CN" altLang="en-US"/>
              <a:t>现在看左下角的插图，就能理解三种作用分别是什么了。</a:t>
            </a:r>
            <a:endParaRPr lang="zh-CN" altLang="en-US"/>
          </a:p>
          <a:p>
            <a:r>
              <a:rPr lang="zh-CN" altLang="en-US"/>
              <a:t>红色奖杯代表任务收益。 模型通过奖励和优势，学习哪些行为更有帮助。</a:t>
            </a:r>
            <a:endParaRPr lang="zh-CN" altLang="en-US"/>
          </a:p>
          <a:p>
            <a:r>
              <a:rPr lang="zh-CN" altLang="en-US"/>
              <a:t>蓝色的锚代表参考约束。 </a:t>
            </a:r>
            <a:r>
              <a:rPr lang="en-US" altLang="zh-CN"/>
              <a:t>KL </a:t>
            </a:r>
            <a:r>
              <a:rPr lang="zh-CN" altLang="en-US"/>
              <a:t>给偏离参考策略的变化增加代价。</a:t>
            </a:r>
            <a:endParaRPr lang="zh-CN" altLang="en-US"/>
          </a:p>
          <a:p>
            <a:r>
              <a:rPr lang="zh-CN" altLang="en-US"/>
              <a:t>绿色的分岔道路代表探索。 熵奖励鼓励保留不同选择，继续寻找可能更好的行为。</a:t>
            </a:r>
            <a:endParaRPr lang="zh-CN" altLang="en-US"/>
          </a:p>
          <a:p>
            <a:r>
              <a:rPr lang="zh-CN" altLang="en-US"/>
              <a:t>它们共同参与同一次参数更新。模型一边学习更有效的行为，一边受到参考约束，同时保留一定的探索空间。</a:t>
            </a:r>
            <a:endParaRPr lang="zh-CN" altLang="en-US"/>
          </a:p>
          <a:p>
            <a:r>
              <a:rPr lang="zh-CN" altLang="en-US"/>
              <a:t>它在配置中对应 </a:t>
            </a:r>
            <a:r>
              <a:rPr lang="en-US" altLang="zh-CN"/>
              <a:t>entropy_coeff，</a:t>
            </a:r>
            <a:r>
              <a:rPr lang="zh-CN" altLang="en-US"/>
              <a:t>控制熵项在训练目标中的权重。</a:t>
            </a:r>
            <a:r>
              <a:rPr lang="en-US" altLang="zh-CN"/>
              <a:t>verl </a:t>
            </a:r>
            <a:r>
              <a:rPr lang="zh-CN" altLang="en-US"/>
              <a:t>配置说明</a:t>
            </a:r>
            <a:endParaRPr lang="zh-CN" altLang="en-US"/>
          </a:p>
          <a:p>
            <a:r>
              <a:rPr lang="zh-CN" altLang="en-US"/>
              <a:t>这里的 0.004 不是“有 0.4% 的概率去探索”，也不是把熵固定在 0.004，而是决定训练时对熵这一项有多重视。</a:t>
            </a:r>
            <a:endParaRPr lang="zh-CN" altLang="en-US"/>
          </a:p>
          <a:p>
            <a:r>
              <a:rPr lang="zh-CN" altLang="en-US"/>
              <a:t>如果 </a:t>
            </a:r>
            <a:r>
              <a:rPr lang="en-US" altLang="zh-CN"/>
              <a:t>α </a:t>
            </a:r>
            <a:r>
              <a:rPr lang="zh-CN" altLang="en-US"/>
              <a:t>太小，这一项提供的推动可能较弱，模型可能较早集中到有限的输出模式。</a:t>
            </a:r>
            <a:endParaRPr lang="zh-CN" altLang="en-US"/>
          </a:p>
          <a:p>
            <a:r>
              <a:rPr lang="zh-CN" altLang="en-US"/>
              <a:t>如果 </a:t>
            </a:r>
            <a:r>
              <a:rPr lang="en-US" altLang="zh-CN"/>
              <a:t>α </a:t>
            </a:r>
            <a:r>
              <a:rPr lang="zh-CN" altLang="en-US"/>
              <a:t>太大，训练又可能过度偏向让概率分散，难以稳定地形成有效的选择。页面上说“难以收敛”，可以理解为：训练持续进行，但有效行为和任务表现迟迟不能稳定下来。</a:t>
            </a:r>
            <a:endParaRPr lang="zh-CN" altLang="en-US"/>
          </a:p>
          <a:p>
            <a:r>
              <a:rPr lang="zh-CN" altLang="en-US"/>
              <a:t>因此，0.004 是本课程使用的配置起点，需要结合训练结果判断是否合适。</a:t>
            </a:r>
            <a:endParaRPr lang="zh-CN" altLang="en-US"/>
          </a:p>
          <a:p>
            <a:r>
              <a:rPr lang="zh-CN" altLang="en-US"/>
              <a:t>最后强调一个容易误解的地方：熵下降，本身不代表训练出了问题。</a:t>
            </a:r>
            <a:endParaRPr lang="zh-CN" altLang="en-US"/>
          </a:p>
          <a:p>
            <a:r>
              <a:rPr lang="zh-CN" altLang="en-US"/>
              <a:t>例如，模型根据 </a:t>
            </a:r>
            <a:r>
              <a:rPr lang="en-US" altLang="zh-CN"/>
              <a:t>Wordle </a:t>
            </a:r>
            <a:r>
              <a:rPr lang="zh-CN" altLang="en-US"/>
              <a:t>的颜色反馈，逐渐排除不合理的猜词，对更合适的选择变得更确定，这是可能有益的学习。我们不能因为它的选择更集中，就要求它重新变得随机。</a:t>
            </a:r>
            <a:endParaRPr lang="zh-CN" altLang="en-US"/>
          </a:p>
          <a:p>
            <a:r>
              <a:rPr lang="zh-CN" altLang="en-US"/>
              <a:t>同样，熵上升也不代表模型一定变好了。选择更多，仍然需要看这些选择是否提高了猜中率。</a:t>
            </a:r>
            <a:endParaRPr lang="zh-CN" altLang="en-US"/>
          </a:p>
          <a:p>
            <a:r>
              <a:rPr lang="zh-CN" altLang="en-US"/>
              <a:t>所以，我们既观察模型还有多少选择空间，也观察这些选择有没有带来更好的任务表现。下一页就把熵和其他训练指标放在一起，看看怎样判断训练是否出现异常。</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前面我们介绍了优势、</a:t>
            </a:r>
            <a:r>
              <a:rPr lang="en-US" altLang="zh-CN"/>
              <a:t>KL </a:t>
            </a:r>
            <a:r>
              <a:rPr lang="zh-CN" altLang="en-US"/>
              <a:t>和熵。现在，我们把这些概念放到训练日志里，看看它们怎样帮助我们发现问题。</a:t>
            </a:r>
            <a:endParaRPr lang="zh-CN" altLang="en-US"/>
          </a:p>
          <a:p>
            <a:r>
              <a:rPr lang="zh-CN" altLang="en-US"/>
              <a:t>页面最上面有一个词，叫“策略崩塌”。</a:t>
            </a:r>
            <a:endParaRPr lang="zh-CN" altLang="en-US"/>
          </a:p>
          <a:p>
            <a:r>
              <a:rPr lang="zh-CN" altLang="en-US"/>
              <a:t>在这里，它表示模型的输出逐渐集中到一些固定模式，而且任务表现明显恶化。训练程序可能仍然正常运行，但模型已经不能有效地完成任务。</a:t>
            </a:r>
            <a:endParaRPr lang="zh-CN" altLang="en-US"/>
          </a:p>
          <a:p>
            <a:r>
              <a:rPr lang="zh-CN" altLang="en-US"/>
              <a:t>比如玩 </a:t>
            </a:r>
            <a:r>
              <a:rPr lang="en-US" altLang="zh-CN"/>
              <a:t>Wordle </a:t>
            </a:r>
            <a:r>
              <a:rPr lang="zh-CN" altLang="en-US"/>
              <a:t>时，模型开始反复使用某种无效回答，不能根据颜色反馈有效调整猜词。我们就需要检查，它是不是出现了策略退化。</a:t>
            </a:r>
            <a:endParaRPr lang="zh-CN" altLang="en-US"/>
          </a:p>
          <a:p>
            <a:r>
              <a:rPr lang="zh-CN" altLang="en-US"/>
              <a:t>先看左边的表格。这是课程 </a:t>
            </a:r>
            <a:r>
              <a:rPr lang="en-US" altLang="zh-CN"/>
              <a:t>Notebook </a:t>
            </a:r>
            <a:r>
              <a:rPr lang="zh-CN" altLang="en-US"/>
              <a:t>中整理的一次异常训练记录。</a:t>
            </a:r>
            <a:endParaRPr lang="zh-CN" altLang="en-US"/>
          </a:p>
          <a:p>
            <a:r>
              <a:rPr lang="zh-CN" altLang="en-US"/>
              <a:t>第一列 </a:t>
            </a:r>
            <a:r>
              <a:rPr lang="en-US" altLang="zh-CN"/>
              <a:t>step，</a:t>
            </a:r>
            <a:r>
              <a:rPr lang="zh-CN" altLang="en-US"/>
              <a:t>表示训练进行到第几步。这里的第 75 步、第 100 步，是训练进度；一局 </a:t>
            </a:r>
            <a:r>
              <a:rPr lang="en-US" altLang="zh-CN"/>
              <a:t>Wordle </a:t>
            </a:r>
            <a:r>
              <a:rPr lang="zh-CN" altLang="en-US"/>
              <a:t>里面猜了几次，另外用游戏轮次统计。</a:t>
            </a:r>
            <a:endParaRPr lang="zh-CN" altLang="en-US"/>
          </a:p>
          <a:p>
            <a:r>
              <a:rPr lang="zh-CN" altLang="en-US"/>
              <a:t>第二列 </a:t>
            </a:r>
            <a:r>
              <a:rPr lang="en-US" altLang="zh-CN"/>
              <a:t>entropy，</a:t>
            </a:r>
            <a:r>
              <a:rPr lang="zh-CN" altLang="en-US"/>
              <a:t>就是上一页讲的熵，描述模型输出概率的分散程度。</a:t>
            </a:r>
            <a:endParaRPr lang="zh-CN" altLang="en-US"/>
          </a:p>
          <a:p>
            <a:r>
              <a:rPr lang="zh-CN" altLang="en-US"/>
              <a:t>第三列 </a:t>
            </a:r>
            <a:r>
              <a:rPr lang="en-US" altLang="zh-CN"/>
              <a:t>correct，</a:t>
            </a:r>
            <a:r>
              <a:rPr lang="zh-CN" altLang="en-US"/>
              <a:t>表示这次统计中，有多少比例的游戏成功猜中了秘密单词。</a:t>
            </a:r>
            <a:endParaRPr lang="zh-CN" altLang="en-US"/>
          </a:p>
          <a:p>
            <a:r>
              <a:rPr lang="zh-CN" altLang="en-US"/>
              <a:t>第四列是输出长度，是日志中按 </a:t>
            </a:r>
            <a:r>
              <a:rPr lang="en-US" altLang="zh-CN"/>
              <a:t>token </a:t>
            </a:r>
            <a:r>
              <a:rPr lang="zh-CN" altLang="en-US"/>
              <a:t>统计的长度数值。</a:t>
            </a:r>
            <a:r>
              <a:rPr lang="en-US" altLang="zh-CN"/>
              <a:t>Token </a:t>
            </a:r>
            <a:r>
              <a:rPr lang="zh-CN" altLang="en-US"/>
              <a:t>是模型处理文字的小单位，因此不能直接把这个数字当成汉字数。</a:t>
            </a:r>
            <a:endParaRPr lang="zh-CN" altLang="en-US"/>
          </a:p>
          <a:p>
            <a:r>
              <a:rPr lang="zh-CN" altLang="en-US"/>
              <a:t>先看第 75 步：</a:t>
            </a:r>
            <a:endParaRPr lang="zh-CN" altLang="en-US"/>
          </a:p>
          <a:p>
            <a:r>
              <a:rPr lang="zh-CN" altLang="en-US"/>
              <a:t>熵是 0.15，猜中率是 45%，输出长度是 1650。到这个时间点，模型仍然能够完成一部分游戏。</a:t>
            </a:r>
            <a:endParaRPr lang="zh-CN" altLang="en-US"/>
          </a:p>
          <a:p>
            <a:r>
              <a:rPr lang="zh-CN" altLang="en-US"/>
              <a:t>再看第 100 步：</a:t>
            </a:r>
            <a:endParaRPr lang="zh-CN" altLang="en-US"/>
          </a:p>
          <a:p>
            <a:r>
              <a:rPr lang="zh-CN" altLang="en-US"/>
              <a:t>熵降到了 0.001，已经非常接近零；猜中率降到了 0%；输出长度增加到了 3232，接近原来的两倍。</a:t>
            </a:r>
            <a:endParaRPr lang="zh-CN" altLang="en-US"/>
          </a:p>
          <a:p>
            <a:r>
              <a:rPr lang="zh-CN" altLang="en-US"/>
              <a:t>这三个变化放在一起说明什么？</a:t>
            </a:r>
            <a:endParaRPr lang="zh-CN" altLang="en-US"/>
          </a:p>
          <a:p>
            <a:r>
              <a:rPr lang="zh-CN" altLang="en-US"/>
              <a:t>模型的选择变得极其集中，生成的内容变长了，但任务表现明显变差了。</a:t>
            </a:r>
            <a:endParaRPr lang="zh-CN" altLang="en-US"/>
          </a:p>
          <a:p>
            <a:r>
              <a:rPr lang="zh-CN" altLang="en-US"/>
              <a:t>其中，0% 表示这次统计的样本没有猜中，不能据此断言模型对所有任务都永久失去了能力。但它和另外两个变化同时出现，已经是非常强的异常信号。</a:t>
            </a:r>
            <a:endParaRPr lang="zh-CN" altLang="en-US"/>
          </a:p>
          <a:p>
            <a:r>
              <a:rPr lang="zh-CN" altLang="en-US"/>
              <a:t>这里尤其要注意：回答变长，不等于模型思考得更充分。</a:t>
            </a:r>
            <a:endParaRPr lang="zh-CN" altLang="en-US"/>
          </a:p>
          <a:p>
            <a:r>
              <a:rPr lang="zh-CN" altLang="en-US"/>
              <a:t>这些新增的 </a:t>
            </a:r>
            <a:r>
              <a:rPr lang="en-US" altLang="zh-CN"/>
              <a:t>token </a:t>
            </a:r>
            <a:r>
              <a:rPr lang="zh-CN" altLang="en-US"/>
              <a:t>可能来自有用的多轮交互，也可能只是重复解释、无效内容，或者反复生成相同的段落。只看长度这个数字，我们还不知道是哪一种。</a:t>
            </a:r>
            <a:endParaRPr lang="zh-CN" altLang="en-US"/>
          </a:p>
          <a:p>
            <a:r>
              <a:rPr lang="zh-CN" altLang="en-US"/>
              <a:t>所以，接下来一定要看表格下面这句话：检查实际 </a:t>
            </a:r>
            <a:r>
              <a:rPr lang="en-US" altLang="zh-CN"/>
              <a:t>rollout。</a:t>
            </a:r>
            <a:endParaRPr lang="en-US" altLang="zh-CN"/>
          </a:p>
          <a:p>
            <a:r>
              <a:rPr lang="en-US" altLang="zh-CN"/>
              <a:t>Rollout </a:t>
            </a:r>
            <a:r>
              <a:rPr lang="zh-CN" altLang="en-US"/>
              <a:t>就是模型实际玩这一局游戏时留下的完整过程，包括它怎样回复、猜了什么，以及获得了什么反馈。</a:t>
            </a:r>
            <a:endParaRPr lang="zh-CN" altLang="en-US"/>
          </a:p>
          <a:p>
            <a:r>
              <a:rPr lang="zh-CN" altLang="en-US"/>
              <a:t>我们要把异常发生前后的游戏记录打开，检查几个具体问题：</a:t>
            </a:r>
            <a:endParaRPr lang="zh-CN" altLang="en-US"/>
          </a:p>
          <a:p>
            <a:r>
              <a:rPr lang="zh-CN" altLang="en-US"/>
              <a:t>- 模型是不是反复输出相同的句子或猜词？</a:t>
            </a:r>
            <a:endParaRPr lang="zh-CN" altLang="en-US"/>
          </a:p>
          <a:p>
            <a:r>
              <a:rPr lang="zh-CN" altLang="en-US"/>
              <a:t>- 收到颜色反馈后，后续猜词有没有利用这些信息？</a:t>
            </a:r>
            <a:endParaRPr lang="zh-CN" altLang="en-US"/>
          </a:p>
          <a:p>
            <a:r>
              <a:rPr lang="zh-CN" altLang="en-US"/>
              <a:t>- 输出能不能被解析成有效的猜词？</a:t>
            </a:r>
            <a:endParaRPr lang="zh-CN" altLang="en-US"/>
          </a:p>
          <a:p>
            <a:r>
              <a:rPr lang="zh-CN" altLang="en-US"/>
              <a:t>- 很长的回答里，究竟有多少内容在帮助完成游戏？</a:t>
            </a:r>
            <a:endParaRPr lang="zh-CN" altLang="en-US"/>
          </a:p>
          <a:p>
            <a:r>
              <a:rPr lang="zh-CN" altLang="en-US"/>
              <a:t>例如，环境已经告诉它某个字母不在秘密单词里，它却反复沿用同一个无效猜测；或者一直输出空标签和重复文本。这些实际行为，才能帮助我们判断模型到底出了什么问题。</a:t>
            </a:r>
            <a:endParaRPr lang="zh-CN" altLang="en-US"/>
          </a:p>
          <a:p>
            <a:r>
              <a:rPr lang="zh-CN" altLang="en-US"/>
              <a:t>日志告诉我们异常发生在什么时候，游戏记录帮助我们看清异常是什么。</a:t>
            </a:r>
            <a:endParaRPr lang="zh-CN" altLang="en-US"/>
          </a:p>
          <a:p>
            <a:r>
              <a:rPr lang="zh-CN" altLang="en-US"/>
              <a:t>接下来，看右边的表格。训练时，我们需要联合观察这些指标。</a:t>
            </a:r>
            <a:endParaRPr lang="zh-CN" altLang="en-US"/>
          </a:p>
          <a:p>
            <a:r>
              <a:rPr lang="zh-CN" altLang="en-US"/>
              <a:t>首先是 </a:t>
            </a:r>
            <a:r>
              <a:rPr lang="en-US" altLang="zh-CN"/>
              <a:t>entropy，</a:t>
            </a:r>
            <a:r>
              <a:rPr lang="zh-CN" altLang="en-US"/>
              <a:t>熵。</a:t>
            </a:r>
            <a:endParaRPr lang="zh-CN" altLang="en-US"/>
          </a:p>
          <a:p>
            <a:r>
              <a:rPr lang="zh-CN" altLang="en-US"/>
              <a:t>如果它快速接近零，说明输出概率越来越集中，需要检查模型是否陷入了固定模式。</a:t>
            </a:r>
            <a:endParaRPr lang="zh-CN" altLang="en-US"/>
          </a:p>
          <a:p>
            <a:r>
              <a:rPr lang="zh-CN" altLang="en-US"/>
              <a:t>如果它异常上升，也需要检查。因为概率越来越分散，可能只是模型变得更随机，未必带来更好的猜词表现。</a:t>
            </a:r>
            <a:endParaRPr lang="zh-CN" altLang="en-US"/>
          </a:p>
          <a:p>
            <a:r>
              <a:rPr lang="zh-CN" altLang="en-US"/>
              <a:t>第二个是 </a:t>
            </a:r>
            <a:r>
              <a:rPr lang="en-US" altLang="zh-CN"/>
              <a:t>KL。</a:t>
            </a:r>
            <a:endParaRPr lang="en-US" altLang="zh-CN"/>
          </a:p>
          <a:p>
            <a:r>
              <a:rPr lang="zh-CN" altLang="en-US"/>
              <a:t>它反映当前策略与固定参考策略的差异。如果 </a:t>
            </a:r>
            <a:r>
              <a:rPr lang="en-US" altLang="zh-CN"/>
              <a:t>KL </a:t>
            </a:r>
            <a:r>
              <a:rPr lang="zh-CN" altLang="en-US"/>
              <a:t>持续快速增大，说明模型正在越来越明显地偏离训练起点，需要结合猜中率和实际输出，判断这种变化是否有益。</a:t>
            </a:r>
            <a:endParaRPr lang="zh-CN" altLang="en-US"/>
          </a:p>
          <a:p>
            <a:r>
              <a:rPr lang="zh-CN" altLang="en-US"/>
              <a:t>第三个是 </a:t>
            </a:r>
            <a:r>
              <a:rPr lang="en-US" altLang="zh-CN"/>
              <a:t>grad_norm，</a:t>
            </a:r>
            <a:r>
              <a:rPr lang="zh-CN" altLang="en-US"/>
              <a:t>梯度范数。</a:t>
            </a:r>
            <a:endParaRPr lang="zh-CN" altLang="en-US"/>
          </a:p>
          <a:p>
            <a:r>
              <a:rPr lang="zh-CN" altLang="en-US"/>
              <a:t>前面讲过，梯度是指导参数更新的信号，梯度范数可以用来观察这批梯度的整体大小。</a:t>
            </a:r>
            <a:endParaRPr lang="zh-CN" altLang="en-US"/>
          </a:p>
          <a:p>
            <a:r>
              <a:rPr lang="zh-CN" altLang="en-US"/>
              <a:t>如果它突然明显高于此前的水平，就提示我们：这一步的更新信号出现了异常变化，需要检查原因。但只凭这个数字，还不能确定唯一原因；例如，</a:t>
            </a:r>
            <a:r>
              <a:rPr lang="en-US" altLang="zh-CN"/>
              <a:t>verl </a:t>
            </a:r>
            <a:r>
              <a:rPr lang="zh-CN" altLang="en-US"/>
              <a:t>官方也提醒，推理与训练之间的数值不一致可能导致梯度指标异常。</a:t>
            </a:r>
            <a:r>
              <a:rPr lang="en-US" altLang="zh-CN"/>
              <a:t>verl </a:t>
            </a:r>
            <a:r>
              <a:rPr lang="zh-CN" altLang="en-US"/>
              <a:t>排查说明</a:t>
            </a:r>
            <a:endParaRPr lang="zh-CN" altLang="en-US"/>
          </a:p>
          <a:p>
            <a:r>
              <a:rPr lang="zh-CN" altLang="en-US"/>
              <a:t>第四个是 </a:t>
            </a:r>
            <a:r>
              <a:rPr lang="en-US" altLang="zh-CN"/>
              <a:t>response_length，</a:t>
            </a:r>
            <a:r>
              <a:rPr lang="zh-CN" altLang="en-US"/>
              <a:t>回复长度。</a:t>
            </a:r>
            <a:endParaRPr lang="zh-CN" altLang="en-US"/>
          </a:p>
          <a:p>
            <a:r>
              <a:rPr lang="zh-CN" altLang="en-US"/>
              <a:t>我们关心的是，它是否相对于之前的正常状态显著升高，并长期维持在异常水平。随后仍然要打开文本，确认增加的内容在做什么。</a:t>
            </a:r>
            <a:endParaRPr lang="zh-CN" altLang="en-US"/>
          </a:p>
          <a:p>
            <a:r>
              <a:rPr lang="zh-CN" altLang="en-US"/>
              <a:t>这里的 3232 是这次案例中的观测值，不是所有训练都会达到的固定上限，也不是超过它就一定发生崩塌。</a:t>
            </a:r>
            <a:endParaRPr lang="zh-CN" altLang="en-US"/>
          </a:p>
          <a:p>
            <a:r>
              <a:rPr lang="zh-CN" altLang="en-US"/>
              <a:t>最后一个是 </a:t>
            </a:r>
            <a:r>
              <a:rPr lang="en-US" altLang="zh-CN"/>
              <a:t>reward </a:t>
            </a:r>
            <a:r>
              <a:rPr lang="zh-CN" altLang="en-US"/>
              <a:t>和 </a:t>
            </a:r>
            <a:r>
              <a:rPr lang="en-US" altLang="zh-CN"/>
              <a:t>correct </a:t>
            </a:r>
            <a:r>
              <a:rPr lang="zh-CN" altLang="en-US"/>
              <a:t>的关系。</a:t>
            </a:r>
            <a:endParaRPr lang="zh-CN" altLang="en-US"/>
          </a:p>
          <a:p>
            <a:r>
              <a:rPr lang="en-US" altLang="zh-CN"/>
              <a:t>Reward </a:t>
            </a:r>
            <a:r>
              <a:rPr lang="zh-CN" altLang="en-US"/>
              <a:t>是按照奖励规则计算出的分数；</a:t>
            </a:r>
            <a:r>
              <a:rPr lang="en-US" altLang="zh-CN"/>
              <a:t>correct </a:t>
            </a:r>
            <a:r>
              <a:rPr lang="zh-CN" altLang="en-US"/>
              <a:t>更直接地回答：模型有没有猜中秘密单词。</a:t>
            </a:r>
            <a:endParaRPr lang="zh-CN" altLang="en-US"/>
          </a:p>
          <a:p>
            <a:r>
              <a:rPr lang="zh-CN" altLang="en-US"/>
              <a:t>这两个指标可能出现不同的走势。</a:t>
            </a:r>
            <a:endParaRPr lang="zh-CN" altLang="en-US"/>
          </a:p>
          <a:p>
            <a:r>
              <a:rPr lang="zh-CN" altLang="en-US"/>
              <a:t>例如，模型越来越会按照要求输出标签，格式奖励提高了，但猜词能力没有改善。这样，总奖励可能增加，猜中率却没有增加。</a:t>
            </a:r>
            <a:endParaRPr lang="zh-CN" altLang="en-US"/>
          </a:p>
          <a:p>
            <a:r>
              <a:rPr lang="zh-CN" altLang="en-US"/>
              <a:t>如果训练奖励持续上升，而验证集上的猜中率持续回落，我们就要检查：模型获得的分数，是否真正对应我们想要的能力提升。</a:t>
            </a:r>
            <a:endParaRPr lang="zh-CN" altLang="en-US"/>
          </a:p>
          <a:p>
            <a:r>
              <a:rPr lang="zh-CN" altLang="en-US"/>
              <a:t>当然，一次验证也可能受到采样波动影响，所以需要结合多次验证的趋势判断。</a:t>
            </a:r>
            <a:endParaRPr lang="zh-CN" altLang="en-US"/>
          </a:p>
          <a:p>
            <a:r>
              <a:rPr lang="zh-CN" altLang="en-US"/>
              <a:t>现在再回来看页面下面的红字：</a:t>
            </a:r>
            <a:endParaRPr lang="zh-CN" altLang="en-US"/>
          </a:p>
          <a:p>
            <a:r>
              <a:rPr lang="zh-CN" altLang="en-US"/>
              <a:t>熵下降不一定异常，熵上升也不一定更好，要结合任务表现判断。</a:t>
            </a:r>
            <a:endParaRPr lang="zh-CN" altLang="en-US"/>
          </a:p>
          <a:p>
            <a:r>
              <a:rPr lang="zh-CN" altLang="en-US"/>
              <a:t>如果模型的熵缓慢下降，同时猜中率持续提高，说明它可能正在学会更确定、更有效的选择，这可以是正常学习。</a:t>
            </a:r>
            <a:endParaRPr lang="zh-CN" altLang="en-US"/>
          </a:p>
          <a:p>
            <a:r>
              <a:rPr lang="zh-CN" altLang="en-US"/>
              <a:t>而左边这个案例，是熵接近零、猜中率归零、输出长度显著增加，多个信号一起恶化，因此值得立即检查。</a:t>
            </a:r>
            <a:endParaRPr lang="zh-CN" altLang="en-US"/>
          </a:p>
          <a:p>
            <a:r>
              <a:rPr lang="zh-CN" altLang="en-US"/>
              <a:t>发现这样的情况以后，我们先保留配置、日志和异常输出，找出问题表现，再考虑从此前效果较好的 </a:t>
            </a:r>
            <a:r>
              <a:rPr lang="en-US" altLang="zh-CN"/>
              <a:t>checkpoint </a:t>
            </a:r>
            <a:r>
              <a:rPr lang="zh-CN" altLang="en-US"/>
              <a:t>开始做对照实验。</a:t>
            </a:r>
            <a:r>
              <a:rPr lang="en-US" altLang="zh-CN"/>
              <a:t>Checkpoint </a:t>
            </a:r>
            <a:r>
              <a:rPr lang="zh-CN" altLang="en-US"/>
              <a:t>就是训练过程中保存的模型及相关训练状态。</a:t>
            </a:r>
            <a:endParaRPr lang="zh-CN" altLang="en-US"/>
          </a:p>
          <a:p>
            <a:r>
              <a:rPr lang="zh-CN" altLang="en-US"/>
              <a:t>具体怎样调整熵系数、</a:t>
            </a:r>
            <a:r>
              <a:rPr lang="en-US" altLang="zh-CN"/>
              <a:t>KL </a:t>
            </a:r>
            <a:r>
              <a:rPr lang="zh-CN" altLang="en-US"/>
              <a:t>系数或学习率，后面的调优章节会展开。这里先记住一个原则：每次只改变一个因素，才容易判断效果来自哪项修改。</a:t>
            </a:r>
            <a:endParaRPr lang="zh-CN" altLang="en-US"/>
          </a:p>
          <a:p>
            <a:r>
              <a:rPr lang="zh-CN" altLang="en-US"/>
              <a:t>页面建议新环境先运行 25～30 步，也是为了尽早检查训练趋势。完成这段检查后，后续训练仍然需要持续监控——左边这个案例，就是到更后面的训练阶段才出现明显退化的。</a:t>
            </a:r>
            <a:endParaRPr lang="zh-CN" altLang="en-US"/>
          </a:p>
          <a:p>
            <a:r>
              <a:rPr lang="zh-CN" altLang="en-US"/>
              <a:t>这一页看完，大家应该能够根据多个指标发现异常，再去实际游戏记录中寻找证据，而不是看到某一个数字变化，就立即给训练下结论。</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这一页答案依次是：正确、错误、</a:t>
            </a:r>
            <a:r>
              <a:rPr lang="en-US" altLang="zh-CN"/>
              <a:t>C、B。 </a:t>
            </a:r>
            <a:r>
              <a:rPr lang="zh-CN" altLang="en-US"/>
              <a:t>可以按下面的方式逐题讲解。</a:t>
            </a:r>
            <a:endParaRPr lang="zh-CN" altLang="en-US"/>
          </a:p>
          <a:p>
            <a:r>
              <a:rPr lang="zh-CN" altLang="en-US"/>
              <a:t>第一题：正确。</a:t>
            </a:r>
            <a:endParaRPr lang="zh-CN" altLang="en-US"/>
          </a:p>
          <a:p>
            <a:r>
              <a:rPr lang="en-US" altLang="zh-CN"/>
              <a:t>GRPO </a:t>
            </a:r>
            <a:r>
              <a:rPr lang="zh-CN" altLang="en-US"/>
              <a:t>让模型对同一个任务进行多次尝试，分别获得奖励，再用这组奖励的平均值作为 </a:t>
            </a:r>
            <a:r>
              <a:rPr lang="en-US" altLang="zh-CN"/>
              <a:t>baseline，</a:t>
            </a:r>
            <a:r>
              <a:rPr lang="zh-CN" altLang="en-US"/>
              <a:t>也就是比较的参照水平。</a:t>
            </a:r>
            <a:endParaRPr lang="zh-CN" altLang="en-US"/>
          </a:p>
          <a:p>
            <a:r>
              <a:rPr lang="zh-CN" altLang="en-US"/>
              <a:t>因此，它不需要额外训练 </a:t>
            </a:r>
            <a:r>
              <a:rPr lang="en-US" altLang="zh-CN"/>
              <a:t>Critic </a:t>
            </a:r>
            <a:r>
              <a:rPr lang="zh-CN" altLang="en-US"/>
              <a:t>来估计这个参照水平。</a:t>
            </a:r>
            <a:endParaRPr lang="zh-CN" altLang="en-US"/>
          </a:p>
          <a:p>
            <a:r>
              <a:rPr lang="zh-CN" altLang="en-US"/>
              <a:t>例如，前面八次尝试的平均奖励是 0.9。奖励高于 0.9 的尝试得到正优势，低于 0.9 的得到负优势，然后再用组内标准差进行标准化。</a:t>
            </a:r>
            <a:endParaRPr lang="zh-CN" altLang="en-US"/>
          </a:p>
          <a:p>
            <a:r>
              <a:rPr lang="zh-CN" altLang="en-US"/>
              <a:t>这里要记住：不需要 </a:t>
            </a:r>
            <a:r>
              <a:rPr lang="en-US" altLang="zh-CN"/>
              <a:t>Critic，</a:t>
            </a:r>
            <a:r>
              <a:rPr lang="zh-CN" altLang="en-US"/>
              <a:t>不代表不需要奖励函数或参考策略。 它们负责不同的事情。</a:t>
            </a:r>
            <a:endParaRPr lang="zh-CN" altLang="en-US"/>
          </a:p>
          <a:p>
            <a:r>
              <a:rPr lang="zh-CN" altLang="en-US"/>
              <a:t>第二题：错误。</a:t>
            </a:r>
            <a:endParaRPr lang="zh-CN" altLang="en-US"/>
          </a:p>
          <a:p>
            <a:r>
              <a:rPr lang="en-US" altLang="zh-CN"/>
              <a:t>Entropy bonus </a:t>
            </a:r>
            <a:r>
              <a:rPr lang="zh-CN" altLang="en-US"/>
              <a:t>是熵奖励，用来鼓励模型保留不同的输出选择，继续探索。</a:t>
            </a:r>
            <a:endParaRPr lang="zh-CN" altLang="en-US"/>
          </a:p>
          <a:p>
            <a:r>
              <a:rPr lang="zh-CN" altLang="en-US"/>
              <a:t>但它过大时，模型可能过度追求概率分散，输出变得更随机，任务表现却没有改善。</a:t>
            </a:r>
            <a:endParaRPr lang="zh-CN" altLang="en-US"/>
          </a:p>
          <a:p>
            <a:r>
              <a:rPr lang="zh-CN" altLang="en-US"/>
              <a:t>比如，模型每次都猜不同的词，却不利用颜色反馈，这种变化并不能说明它学会了更好的猜词方法。</a:t>
            </a:r>
            <a:endParaRPr lang="zh-CN" altLang="en-US"/>
          </a:p>
          <a:p>
            <a:r>
              <a:rPr lang="zh-CN" altLang="en-US"/>
              <a:t>所以，我们希望模型保留有助于学习的探索机会。熵奖励的强度需要结合猜中率、</a:t>
            </a:r>
            <a:r>
              <a:rPr lang="en-US" altLang="zh-CN"/>
              <a:t>KL </a:t>
            </a:r>
            <a:r>
              <a:rPr lang="zh-CN" altLang="en-US"/>
              <a:t>和实际输出调整，不能保证越大越好。</a:t>
            </a:r>
            <a:endParaRPr lang="zh-CN" altLang="en-US"/>
          </a:p>
          <a:p>
            <a:r>
              <a:rPr lang="zh-CN" altLang="en-US"/>
              <a:t>第三题：选 </a:t>
            </a:r>
            <a:r>
              <a:rPr lang="en-US" altLang="zh-CN"/>
              <a:t>C。</a:t>
            </a:r>
            <a:endParaRPr lang="en-US" altLang="zh-CN"/>
          </a:p>
          <a:p>
            <a:r>
              <a:rPr lang="en-US" altLang="zh-CN"/>
              <a:t>C </a:t>
            </a:r>
            <a:r>
              <a:rPr lang="zh-CN" altLang="en-US"/>
              <a:t>描述的是：熵接近零、输出长度异常地保持在高位、猜中率归零。</a:t>
            </a:r>
            <a:endParaRPr lang="zh-CN" altLang="en-US"/>
          </a:p>
          <a:p>
            <a:r>
              <a:rPr lang="zh-CN" altLang="en-US"/>
              <a:t>这对应上一页的案例：模型选择越来越集中，生成了更多内容，但完成任务的能力明显恶化。多个信号同时出现，最符合本课程展示的策略崩塌现象。</a:t>
            </a:r>
            <a:endParaRPr lang="zh-CN" altLang="en-US"/>
          </a:p>
          <a:p>
            <a:r>
              <a:rPr lang="zh-CN" altLang="en-US"/>
              <a:t>其他选项为什么不能单独作为判断依据？</a:t>
            </a:r>
            <a:endParaRPr lang="zh-CN" altLang="en-US"/>
          </a:p>
          <a:p>
            <a:r>
              <a:rPr lang="en-US" altLang="zh-CN"/>
              <a:t>- A：entropy </a:t>
            </a:r>
            <a:r>
              <a:rPr lang="zh-CN" altLang="en-US"/>
              <a:t>缓慢下降。 模型可能正在学会更确定、更有效的选择。如果猜中率同时提高，这可以是正常学习。</a:t>
            </a:r>
            <a:endParaRPr lang="zh-CN" altLang="en-US"/>
          </a:p>
          <a:p>
            <a:r>
              <a:rPr lang="en-US" altLang="zh-CN"/>
              <a:t>- B：reward </a:t>
            </a:r>
            <a:r>
              <a:rPr lang="zh-CN" altLang="en-US"/>
              <a:t>持续上升。 可能是训练有效，也可能只是某个奖励分项提高，需要进一步看猜中率和输出。</a:t>
            </a:r>
            <a:endParaRPr lang="zh-CN" altLang="en-US"/>
          </a:p>
          <a:p>
            <a:r>
              <a:rPr lang="en-US" altLang="zh-CN"/>
              <a:t>- D：kl_loss </a:t>
            </a:r>
            <a:r>
              <a:rPr lang="zh-CN" altLang="en-US"/>
              <a:t>缓慢上升。 说明模型与参考策略的差异在增加。学习新行为本来就可能产生一定变化，不能仅凭这一项判断崩塌。</a:t>
            </a:r>
            <a:endParaRPr lang="zh-CN" altLang="en-US"/>
          </a:p>
          <a:p>
            <a:r>
              <a:rPr lang="zh-CN" altLang="en-US"/>
              <a:t>选 </a:t>
            </a:r>
            <a:r>
              <a:rPr lang="en-US" altLang="zh-CN"/>
              <a:t>C </a:t>
            </a:r>
            <a:r>
              <a:rPr lang="zh-CN" altLang="en-US"/>
              <a:t>后，实际排查时仍然要打开 </a:t>
            </a:r>
            <a:r>
              <a:rPr lang="en-US" altLang="zh-CN"/>
              <a:t>rollout，</a:t>
            </a:r>
            <a:r>
              <a:rPr lang="zh-CN" altLang="en-US"/>
              <a:t>确认是否出现重复、无效回答等问题。</a:t>
            </a:r>
            <a:endParaRPr lang="zh-CN" altLang="en-US"/>
          </a:p>
          <a:p>
            <a:r>
              <a:rPr lang="zh-CN" altLang="en-US"/>
              <a:t>第四题：选 </a:t>
            </a:r>
            <a:r>
              <a:rPr lang="en-US" altLang="zh-CN"/>
              <a:t>B。</a:t>
            </a:r>
            <a:endParaRPr lang="en-US" altLang="zh-CN"/>
          </a:p>
          <a:p>
            <a:r>
              <a:rPr lang="zh-CN" altLang="en-US"/>
              <a:t>本课程保留训练起点的 </a:t>
            </a:r>
            <a:r>
              <a:rPr lang="en-US" altLang="zh-CN"/>
              <a:t>SFT </a:t>
            </a:r>
            <a:r>
              <a:rPr lang="zh-CN" altLang="en-US"/>
              <a:t>模型作为固定参考，用它计算参考概率，再通过 </a:t>
            </a:r>
            <a:r>
              <a:rPr lang="en-US" altLang="zh-CN"/>
              <a:t>KL </a:t>
            </a:r>
            <a:r>
              <a:rPr lang="zh-CN" altLang="en-US"/>
              <a:t>惩罚，给当前策略过度偏离起点的行为增加代价。</a:t>
            </a:r>
            <a:endParaRPr lang="zh-CN" altLang="en-US"/>
          </a:p>
          <a:p>
            <a:r>
              <a:rPr lang="zh-CN" altLang="en-US"/>
              <a:t>它提供的是约束，并不能保证模型绝对不会退化。</a:t>
            </a:r>
            <a:endParaRPr lang="zh-CN" altLang="en-US"/>
          </a:p>
          <a:p>
            <a:r>
              <a:rPr lang="zh-CN" altLang="en-US"/>
              <a:t>其他三个选项可以这样区分：</a:t>
            </a:r>
            <a:endParaRPr lang="zh-CN" altLang="en-US"/>
          </a:p>
          <a:p>
            <a:r>
              <a:rPr lang="en-US" altLang="zh-CN"/>
              <a:t>- A，</a:t>
            </a:r>
            <a:r>
              <a:rPr lang="zh-CN" altLang="en-US"/>
              <a:t>加速训练： 这不是保留参考策略的主要目的，计算参考概率还会产生额外开销。</a:t>
            </a:r>
            <a:endParaRPr lang="zh-CN" altLang="en-US"/>
          </a:p>
          <a:p>
            <a:r>
              <a:rPr lang="en-US" altLang="zh-CN"/>
              <a:t>- C，</a:t>
            </a:r>
            <a:r>
              <a:rPr lang="zh-CN" altLang="en-US"/>
              <a:t>生成 </a:t>
            </a:r>
            <a:r>
              <a:rPr lang="en-US" altLang="zh-CN"/>
              <a:t>rollout： </a:t>
            </a:r>
            <a:r>
              <a:rPr lang="zh-CN" altLang="en-US"/>
              <a:t>本课程由当前策略对应的模型，通过 </a:t>
            </a:r>
            <a:r>
              <a:rPr lang="en-US" altLang="zh-CN"/>
              <a:t>vLLM </a:t>
            </a:r>
            <a:r>
              <a:rPr lang="zh-CN" altLang="en-US"/>
              <a:t>生成训练所需的尝试。</a:t>
            </a:r>
            <a:endParaRPr lang="zh-CN" altLang="en-US"/>
          </a:p>
          <a:p>
            <a:r>
              <a:rPr lang="en-US" altLang="zh-CN"/>
              <a:t>- D，</a:t>
            </a:r>
            <a:r>
              <a:rPr lang="zh-CN" altLang="en-US"/>
              <a:t>计算 </a:t>
            </a:r>
            <a:r>
              <a:rPr lang="en-US" altLang="zh-CN"/>
              <a:t>reward： </a:t>
            </a:r>
            <a:r>
              <a:rPr lang="zh-CN" altLang="en-US"/>
              <a:t>本课程由 </a:t>
            </a:r>
            <a:r>
              <a:rPr lang="en-US" altLang="zh-CN"/>
              <a:t>Wordle </a:t>
            </a:r>
            <a:r>
              <a:rPr lang="zh-CN" altLang="en-US"/>
              <a:t>奖励函数，根据猜词结果、部分匹配和格式等规则评分。</a:t>
            </a:r>
            <a:endParaRPr lang="zh-CN" altLang="en-US"/>
          </a:p>
          <a:p>
            <a:r>
              <a:rPr lang="zh-CN" altLang="en-US"/>
              <a:t>讲完这题，可以这样衔接下一章：</a:t>
            </a:r>
            <a:endParaRPr lang="zh-CN" altLang="en-US"/>
          </a:p>
          <a:p>
            <a:r>
              <a:rPr lang="zh-CN" altLang="en-US"/>
              <a:t>“到这里，我们已经理解了模型怎样产生尝试、怎样根据奖励学习，以及怎样约束训练过程。接下来，把这些概念放进实际的 </a:t>
            </a:r>
            <a:r>
              <a:rPr lang="en-US" altLang="zh-CN"/>
              <a:t>Wordle RL </a:t>
            </a:r>
            <a:r>
              <a:rPr lang="zh-CN" altLang="en-US"/>
              <a:t>训练流程中。”</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42 页｜RL 初阶课程｜Part 3 Wordle RL 训练</a:t>
            </a:r>
          </a:p>
          <a:p>
            <a:r>
              <a:t>建议约 5 分钟（包含互动）。课程累计 205–210 分钟。</a:t>
            </a:r>
          </a:p>
          <a:p/>
          <a:p>
            <a:r>
              <a:t>【00:00–01:00 从概念转到可检查的训练链路】</a:t>
            </a:r>
          </a:p>
          <a:p>
            <a:r>
              <a:t>前面我们把策略、奖励、优势、KL 和熵分别讲清楚了。现在进入第三部分，请大家把这些词放回同一条训练链路：模型面对一个 Wordle 任务，先与环境交互得到完整轨迹；奖励函数给轨迹打分；同一任务的多条轨迹形成相对优势；训练端再更新模型参数。请大家用手指沿着这条链路走一遍，并回答：哪一步产生数据，哪一步真正改变参数？生成产生新的尝试，优化器更新才改变参数。我们接下来不是重新背算法名，而是检查这条链路中的数据是否正确、评分是否可信、更新之后的表现是否真的变好。</a:t>
            </a:r>
          </a:p>
          <a:p/>
          <a:p>
            <a:r>
              <a:t>【01:00–02:00 先预测一局游戏留下什么】</a:t>
            </a:r>
          </a:p>
          <a:p>
            <a:r>
              <a:t>设想环境偷偷选了一个五字母单词，模型第一次猜错，收到颜色反馈，第二次猜中。请用二十秒列出这局游戏需要保存的内容：初始规则、第一次回复、环境反馈、第二次回复，以及结束状态和奖励分项。秘密词由环境和评分程序持有，不应作为提示直接告诉模型。两次生成合起来才是一条完整 rollout，不能把每一轮都当成独立的一局。这里再问一句：颜色反馈是谁写出来的？是环境根据规则算出的，所以它能够指导下一轮，却不应该被当作模型刚刚做出的动作直接计算策略损失。这个区分会在下一页落到 mask 上。</a:t>
            </a:r>
          </a:p>
          <a:p/>
          <a:p>
            <a:r>
              <a:t>【02:00–03:00 用三个问题组织本章操作】</a:t>
            </a:r>
          </a:p>
          <a:p>
            <a:r>
              <a:t>本章请一直带着三个问题。第一，模型实际上看到了什么？看 prompt、角色边界和反馈追加后的上下文。第二，模型因为什么得分？看完整轨迹及 correct、partial、length bonus、format 四个分项。第三，模型更新后在哪组任务上变好了？看固定验证集上的采样结果，而不是只看训练 reward。现在请同桌互相选一个问题，指出应检查的数据或文件。比如发现模型总能一步猜中，先查秘密词有没有进入 prompt；看到总分很高但猜不中，先拆奖励。这样的排查比一开始就把学习率改大更能直接定位问题。</a:t>
            </a:r>
          </a:p>
          <a:p/>
          <a:p>
            <a:r>
              <a:t>【03:00–04:00 明确实操节奏和产物】</a:t>
            </a:r>
          </a:p>
          <a:p>
            <a:r>
              <a:t>本章的起点是一份完成 SFT、能够按协议回复的模型权重，以及准备好的训练和验证数据。课堂上我们打开配置、样例轨迹和已保存日志，完成检查与解释；完整训练在 CANNLab 终端持续运行，不要求大家在这一页等它训练结束。请在笔记上画三个方框，分别写数据、配置、结果。数据框记录样本字段和数量；配置框记录模型路径、组大小、轮次上限和超参数；结果框记录验证曲线与 checkpoint。课后交付这三个方面的证据，才算具备可复查的训练过程，单独一张 reward 上升的截图还不够。</a:t>
            </a:r>
          </a:p>
          <a:p/>
          <a:p>
            <a:r>
              <a:t>【04:00–05:00 预判最容易混淆的三个数字】</a:t>
            </a:r>
          </a:p>
          <a:p>
            <a:r>
              <a:t>最后先做一个预测题：本章会同时出现八、六、五这三个数字，它们分别是什么？八表示同一个 prompt 在训练时采样八条轨迹，供 GRPO 组内比较；六是一局游戏的最大交互轮次；五是验证时每个测试词的采样次数。请不要把它们乘在一起就当作训练步数，三个数字约束的是不同维度。接下来我们依次看 AgentLoop 如何完成一局、奖励如何评价这一局、训练如何成批产生这些局，以及验证如何衡量更新效果。学完后请能用自己的话解释一次 rollout 与一次参数更新的区别，这就是本章最关键的检查点。</a:t>
            </a:r>
          </a:p>
          <a:p/>
          <a:p>
            <a:r>
              <a:t>导航页通过链路复习与任务预测展开五分钟；不重复宣读目录。</a:t>
            </a:r>
          </a:p>
          <a:p>
            <a:r>
              <a:t>长训练只讲启动与产物检查，课堂不等待完整训练完成。</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前面我们已经知道，模型要先自己尝试，再根据尝试的结果进行训练。现在，我们具体看一局 </a:t>
            </a:r>
            <a:r>
              <a:rPr lang="en-US" altLang="zh-CN"/>
              <a:t>Wordle </a:t>
            </a:r>
            <a:r>
              <a:rPr lang="zh-CN" altLang="en-US"/>
              <a:t>是怎样产生的。</a:t>
            </a:r>
            <a:endParaRPr lang="zh-CN" altLang="en-US"/>
          </a:p>
          <a:p>
            <a:r>
              <a:rPr lang="zh-CN" altLang="en-US"/>
              <a:t>首先看页面最上面这句话：一次 </a:t>
            </a:r>
            <a:r>
              <a:rPr lang="en-US" altLang="zh-CN"/>
              <a:t>rollout </a:t>
            </a:r>
            <a:r>
              <a:rPr lang="zh-CN" altLang="en-US"/>
              <a:t>可以包含多轮生成与环境反馈。</a:t>
            </a:r>
            <a:endParaRPr lang="zh-CN" altLang="en-US"/>
          </a:p>
          <a:p>
            <a:r>
              <a:rPr lang="zh-CN" altLang="en-US"/>
              <a:t>在本课程里，可以把一条 </a:t>
            </a:r>
            <a:r>
              <a:rPr lang="en-US" altLang="zh-CN"/>
              <a:t>rollout </a:t>
            </a:r>
            <a:r>
              <a:rPr lang="zh-CN" altLang="en-US"/>
              <a:t>理解为一次完整的游戏尝试。从开始猜词，到最后猜中或者结束，这中间发生的多轮交互，共同构成一条轨迹。</a:t>
            </a:r>
            <a:endParaRPr lang="zh-CN" altLang="en-US"/>
          </a:p>
          <a:p>
            <a:r>
              <a:rPr lang="zh-CN" altLang="en-US"/>
              <a:t>负责管理这个过程的组件叫 </a:t>
            </a:r>
            <a:r>
              <a:rPr lang="en-US" altLang="zh-CN"/>
              <a:t>AgentLoop。Loop </a:t>
            </a:r>
            <a:r>
              <a:rPr lang="zh-CN" altLang="en-US"/>
              <a:t>就是“循环”，它在这里管理的是：</a:t>
            </a:r>
            <a:endParaRPr lang="zh-CN" altLang="en-US"/>
          </a:p>
          <a:p>
            <a:r>
              <a:rPr lang="zh-CN" altLang="en-US"/>
              <a:t>调用模型生成猜词，处理环境反馈，把反馈追加到对话里，再调用模型继续生成。</a:t>
            </a:r>
            <a:endParaRPr lang="zh-CN" altLang="en-US"/>
          </a:p>
          <a:p>
            <a:r>
              <a:rPr lang="zh-CN" altLang="en-US"/>
              <a:t>现在沿着图中的例子走一遍。</a:t>
            </a:r>
            <a:endParaRPr lang="zh-CN" altLang="en-US"/>
          </a:p>
          <a:p>
            <a:r>
              <a:rPr lang="zh-CN" altLang="en-US"/>
              <a:t>环境保存的秘密单词是 </a:t>
            </a:r>
            <a:r>
              <a:rPr lang="en-US" altLang="zh-CN"/>
              <a:t>crane。</a:t>
            </a:r>
            <a:r>
              <a:rPr lang="zh-CN" altLang="en-US"/>
              <a:t>这个答案只保存在环境侧，模型看不到。模型看到的是游戏规则，以及目前已经发生的对话。</a:t>
            </a:r>
            <a:endParaRPr lang="zh-CN" altLang="en-US"/>
          </a:p>
          <a:p>
            <a:r>
              <a:rPr lang="zh-CN" altLang="en-US"/>
              <a:t>第一次，模型猜了 </a:t>
            </a:r>
            <a:r>
              <a:rPr lang="en-US" altLang="zh-CN"/>
              <a:t>apple。</a:t>
            </a:r>
            <a:r>
              <a:rPr lang="zh-CN" altLang="en-US"/>
              <a:t>图里为了方便阅读，只写了单词；实际生成需要遵循课程规定的格式</a:t>
            </a:r>
            <a:r>
              <a:rPr lang="en-US" altLang="zh-CN"/>
              <a:t>，</a:t>
            </a:r>
            <a:r>
              <a:rPr lang="zh-CN" altLang="en-US"/>
              <a:t>环境从回复中提取出 </a:t>
            </a:r>
            <a:r>
              <a:rPr lang="en-US" altLang="zh-CN"/>
              <a:t>apple，</a:t>
            </a:r>
            <a:r>
              <a:rPr lang="zh-CN" altLang="en-US"/>
              <a:t>再和秘密单词 </a:t>
            </a:r>
            <a:r>
              <a:rPr lang="en-US" altLang="zh-CN"/>
              <a:t>crane </a:t>
            </a:r>
            <a:r>
              <a:rPr lang="zh-CN" altLang="en-US"/>
              <a:t>比较，得到：Y X X X G。这里，</a:t>
            </a:r>
            <a:r>
              <a:rPr lang="en-US" altLang="zh-CN"/>
              <a:t>a </a:t>
            </a:r>
            <a:r>
              <a:rPr lang="zh-CN" altLang="en-US"/>
              <a:t>在秘密单词里，但是位置不对，所以是 </a:t>
            </a:r>
            <a:r>
              <a:rPr lang="en-US" altLang="zh-CN"/>
              <a:t>Y。</a:t>
            </a:r>
            <a:endParaRPr lang="en-US" altLang="zh-CN"/>
          </a:p>
          <a:p>
            <a:r>
              <a:rPr lang="zh-CN" altLang="en-US"/>
              <a:t>两个 </a:t>
            </a:r>
            <a:r>
              <a:rPr lang="en-US" altLang="zh-CN"/>
              <a:t>p </a:t>
            </a:r>
            <a:r>
              <a:rPr lang="zh-CN" altLang="en-US"/>
              <a:t>和 </a:t>
            </a:r>
            <a:r>
              <a:rPr lang="en-US" altLang="zh-CN"/>
              <a:t>l </a:t>
            </a:r>
            <a:r>
              <a:rPr lang="zh-CN" altLang="en-US"/>
              <a:t>在这个秘密单词里都没有，所以是 </a:t>
            </a:r>
            <a:r>
              <a:rPr lang="en-US" altLang="zh-CN"/>
              <a:t>X。</a:t>
            </a:r>
            <a:endParaRPr lang="en-US" altLang="zh-CN"/>
          </a:p>
          <a:p>
            <a:r>
              <a:rPr lang="zh-CN" altLang="en-US"/>
              <a:t>最后一个 </a:t>
            </a:r>
            <a:r>
              <a:rPr lang="en-US" altLang="zh-CN"/>
              <a:t>e，</a:t>
            </a:r>
            <a:r>
              <a:rPr lang="zh-CN" altLang="en-US"/>
              <a:t>字母和位置都正确，所以是 </a:t>
            </a:r>
            <a:r>
              <a:rPr lang="en-US" altLang="zh-CN"/>
              <a:t>G。</a:t>
            </a:r>
            <a:endParaRPr lang="en-US" altLang="zh-CN"/>
          </a:p>
          <a:p>
            <a:r>
              <a:rPr lang="zh-CN" altLang="en-US"/>
              <a:t>环境接着把这条反馈追加到对话里。下一次调用模型时，模型看到的上下文就比第一次更多了：除了游戏规则，它还看到了自己刚刚猜过的 </a:t>
            </a:r>
            <a:r>
              <a:rPr lang="en-US" altLang="zh-CN"/>
              <a:t>apple，</a:t>
            </a:r>
            <a:r>
              <a:rPr lang="zh-CN" altLang="en-US"/>
              <a:t>以及对应的颜色反馈。</a:t>
            </a:r>
            <a:endParaRPr lang="zh-CN" altLang="en-US"/>
          </a:p>
          <a:p>
            <a:r>
              <a:rPr lang="zh-CN" altLang="en-US"/>
              <a:t>因此，第二次生成能够利用这些信息调整猜词。</a:t>
            </a:r>
            <a:endParaRPr lang="zh-CN" altLang="en-US"/>
          </a:p>
          <a:p>
            <a:r>
              <a:rPr lang="zh-CN" altLang="en-US"/>
              <a:t>图中的模型第二次猜了 </a:t>
            </a:r>
            <a:r>
              <a:rPr lang="en-US" altLang="zh-CN"/>
              <a:t>crane，</a:t>
            </a:r>
            <a:r>
              <a:rPr lang="zh-CN" altLang="en-US"/>
              <a:t>环境判定它与秘密单词一致，于是游戏成功结束。图中的全绿和终点旗，表示这个成功结果。</a:t>
            </a:r>
            <a:endParaRPr lang="zh-CN" altLang="en-US"/>
          </a:p>
          <a:p>
            <a:r>
              <a:rPr lang="zh-CN" altLang="en-US"/>
              <a:t>这里的两次猜词只是一个教学示例。</a:t>
            </a:r>
            <a:r>
              <a:rPr lang="en-US" altLang="zh-CN"/>
              <a:t>Y X X X G </a:t>
            </a:r>
            <a:r>
              <a:rPr lang="zh-CN" altLang="en-US"/>
              <a:t>并不能唯一确定答案就是 </a:t>
            </a:r>
            <a:r>
              <a:rPr lang="en-US" altLang="zh-CN"/>
              <a:t>crane，</a:t>
            </a:r>
            <a:r>
              <a:rPr lang="zh-CN" altLang="en-US"/>
              <a:t>也不能保证模型下一次一定猜中。</a:t>
            </a:r>
            <a:endParaRPr lang="zh-CN" altLang="en-US"/>
          </a:p>
          <a:p>
            <a:r>
              <a:rPr lang="zh-CN" altLang="en-US"/>
              <a:t>如果没有猜中，</a:t>
            </a:r>
            <a:r>
              <a:rPr lang="en-US" altLang="zh-CN"/>
              <a:t>AgentLoop </a:t>
            </a:r>
            <a:r>
              <a:rPr lang="zh-CN" altLang="en-US"/>
              <a:t>就继续管理下一轮交互，直到达到本课程设置的六轮上限。</a:t>
            </a:r>
            <a:endParaRPr lang="zh-CN" altLang="en-US"/>
          </a:p>
          <a:p>
            <a:r>
              <a:rPr lang="zh-CN" altLang="en-US"/>
              <a:t>这整个两轮游戏过程是一条 </a:t>
            </a:r>
            <a:r>
              <a:rPr lang="en-US" altLang="zh-CN"/>
              <a:t>rollout。 </a:t>
            </a:r>
            <a:r>
              <a:rPr lang="zh-CN" altLang="en-US"/>
              <a:t>第一轮和第二轮之间，模型主要是根据新增上下文继续推理；本课程会在收集一批轨迹后，再进行参数训练。</a:t>
            </a:r>
            <a:endParaRPr lang="zh-CN" altLang="en-US"/>
          </a:p>
          <a:p>
            <a:r>
              <a:rPr lang="zh-CN" altLang="en-US"/>
              <a:t>接下来，看下面的表格。这是这一页最关键的部分。</a:t>
            </a:r>
            <a:endParaRPr lang="zh-CN" altLang="en-US"/>
          </a:p>
          <a:p>
            <a:r>
              <a:rPr lang="zh-CN" altLang="en-US"/>
              <a:t>完整对话里混合了两类内容：</a:t>
            </a:r>
            <a:endParaRPr lang="zh-CN" altLang="en-US"/>
          </a:p>
          <a:p>
            <a:r>
              <a:rPr lang="zh-CN" altLang="en-US"/>
              <a:t>一类是模型自己生成的回复，例如解释、猜词标签和单词。</a:t>
            </a:r>
            <a:endParaRPr lang="zh-CN" altLang="en-US"/>
          </a:p>
          <a:p>
            <a:r>
              <a:rPr lang="zh-CN" altLang="en-US"/>
              <a:t>另一类是环境程序追加的内容，例如颜色反馈和剩余机会。</a:t>
            </a:r>
            <a:endParaRPr lang="zh-CN" altLang="en-US"/>
          </a:p>
          <a:p>
            <a:r>
              <a:rPr lang="zh-CN" altLang="en-US"/>
              <a:t>这些内容都可能出现在下一轮的上下文中，但它们的来源不同。训练时，我们需要记录：哪些文字是模型自己作出的选择？</a:t>
            </a:r>
            <a:endParaRPr lang="zh-CN" altLang="en-US"/>
          </a:p>
          <a:p>
            <a:r>
              <a:rPr lang="zh-CN" altLang="en-US"/>
              <a:t>这里使用的标记叫 </a:t>
            </a:r>
            <a:r>
              <a:rPr lang="en-US" altLang="zh-CN"/>
              <a:t>response_mask，</a:t>
            </a:r>
            <a:r>
              <a:rPr lang="zh-CN" altLang="en-US"/>
              <a:t>可以理解为“回复位置标记”。它给相应的 </a:t>
            </a:r>
            <a:r>
              <a:rPr lang="en-US" altLang="zh-CN"/>
              <a:t>token </a:t>
            </a:r>
            <a:r>
              <a:rPr lang="zh-CN" altLang="en-US"/>
              <a:t>位置标上 1 或 0：</a:t>
            </a:r>
            <a:endParaRPr lang="zh-CN" altLang="en-US"/>
          </a:p>
          <a:p>
            <a:r>
              <a:rPr lang="zh-CN" altLang="en-US"/>
              <a:t>- 模型生成的位置标为 1： 这些位置直接参与策略损失，也就是 </a:t>
            </a:r>
            <a:r>
              <a:rPr lang="en-US" altLang="zh-CN"/>
              <a:t>policy loss </a:t>
            </a:r>
            <a:r>
              <a:rPr lang="zh-CN" altLang="en-US"/>
              <a:t>的计算。</a:t>
            </a:r>
            <a:endParaRPr lang="zh-CN" altLang="en-US"/>
          </a:p>
          <a:p>
            <a:r>
              <a:rPr lang="zh-CN" altLang="en-US"/>
              <a:t>- 环境追加的位置标为 0： 这些位置保留在上下文里，但不作为模型自己生成的动作，直接计算这项损失。对应图中的过程，可以这样记：</a:t>
            </a:r>
            <a:endParaRPr lang="zh-CN" altLang="en-US"/>
          </a:p>
          <a:p>
            <a:r>
              <a:rPr lang="zh-CN" altLang="en-US"/>
              <a:t>模型第一次回复 → 环境反馈 → 模型第二次回复</a:t>
            </a:r>
            <a:endParaRPr lang="zh-CN" altLang="en-US"/>
          </a:p>
          <a:p>
            <a:r>
              <a:rPr lang="en-US" altLang="zh-CN"/>
              <a:t>      1             0             1</a:t>
            </a:r>
            <a:endParaRPr lang="en-US" altLang="zh-CN"/>
          </a:p>
          <a:p>
            <a:r>
              <a:rPr lang="zh-CN" altLang="en-US"/>
              <a:t>这里每一段的标记，会对应到该段具体的 </a:t>
            </a:r>
            <a:r>
              <a:rPr lang="en-US" altLang="zh-CN"/>
              <a:t>token </a:t>
            </a:r>
            <a:r>
              <a:rPr lang="zh-CN" altLang="en-US"/>
              <a:t>位置。</a:t>
            </a:r>
            <a:endParaRPr lang="zh-CN" altLang="en-US"/>
          </a:p>
          <a:p>
            <a:r>
              <a:rPr lang="zh-CN" altLang="en-US"/>
              <a:t>为什么要这样区分？</a:t>
            </a:r>
            <a:endParaRPr lang="zh-CN" altLang="en-US"/>
          </a:p>
          <a:p>
            <a:r>
              <a:rPr lang="zh-CN" altLang="en-US"/>
              <a:t>因为模型选择生成了 </a:t>
            </a:r>
            <a:r>
              <a:rPr lang="en-US" altLang="zh-CN"/>
              <a:t>apple，</a:t>
            </a:r>
            <a:r>
              <a:rPr lang="zh-CN" altLang="en-US"/>
              <a:t>所以训练可以调整它在当时上下文中生成这段回复的概率。</a:t>
            </a:r>
            <a:endParaRPr lang="zh-CN" altLang="en-US"/>
          </a:p>
          <a:p>
            <a:r>
              <a:rPr lang="zh-CN" altLang="en-US"/>
              <a:t>但是，</a:t>
            </a:r>
            <a:r>
              <a:rPr lang="en-US" altLang="zh-CN"/>
              <a:t>Y X X X G </a:t>
            </a:r>
            <a:r>
              <a:rPr lang="zh-CN" altLang="en-US"/>
              <a:t>是环境按照游戏规则计算出来的。它没有经过模型的选择，因此我们不能把这些反馈文字当成模型自己的动作来优化。</a:t>
            </a:r>
            <a:endParaRPr lang="zh-CN" altLang="en-US"/>
          </a:p>
          <a:p>
            <a:r>
              <a:rPr lang="zh-CN" altLang="en-US"/>
              <a:t>第二次生成 </a:t>
            </a:r>
            <a:r>
              <a:rPr lang="en-US" altLang="zh-CN"/>
              <a:t>crane，</a:t>
            </a:r>
            <a:r>
              <a:rPr lang="zh-CN" altLang="en-US"/>
              <a:t>又是模型根据更新后的上下文作出的选择，所以对应位置重新标为 1。</a:t>
            </a:r>
            <a:endParaRPr lang="zh-CN" altLang="en-US"/>
          </a:p>
          <a:p>
            <a:r>
              <a:rPr lang="zh-CN" altLang="en-US"/>
              <a:t>注意：1 和 0 标记的是内容来源及其是否直接参与策略损失，不是回答的对错。</a:t>
            </a:r>
            <a:endParaRPr lang="zh-CN" altLang="en-US"/>
          </a:p>
          <a:p>
            <a:r>
              <a:rPr lang="zh-CN" altLang="en-US"/>
              <a:t>第一次猜 </a:t>
            </a:r>
            <a:r>
              <a:rPr lang="en-US" altLang="zh-CN"/>
              <a:t>apple </a:t>
            </a:r>
            <a:r>
              <a:rPr lang="zh-CN" altLang="en-US"/>
              <a:t>虽然没猜中，但它仍然是模型生成的，所以标为 1。它获得怎样的训练信号，要结合整条轨迹的奖励和优势来决定。</a:t>
            </a:r>
            <a:endParaRPr lang="zh-CN" altLang="en-US"/>
          </a:p>
          <a:p>
            <a:r>
              <a:rPr lang="zh-CN" altLang="en-US"/>
              <a:t>还有一个非常重要的区别：环境反馈标为 0，模型仍然能看到它，也仍然会利用它。</a:t>
            </a:r>
            <a:endParaRPr lang="zh-CN" altLang="en-US"/>
          </a:p>
          <a:p>
            <a:r>
              <a:rPr lang="zh-CN" altLang="en-US"/>
              <a:t>这个标记控制的是哪些位置直接计算策略损失，不是把反馈从输入中删除。</a:t>
            </a:r>
            <a:endParaRPr lang="zh-CN" altLang="en-US"/>
          </a:p>
          <a:p>
            <a:r>
              <a:rPr lang="zh-CN" altLang="en-US"/>
              <a:t>比如，我们把第一轮的颜色反馈换掉，那么即使模型参数完全相同，下一轮合理的猜词也可能改变。这说明环境反馈确实影响了模型的生成。</a:t>
            </a:r>
            <a:endParaRPr lang="zh-CN" altLang="en-US"/>
          </a:p>
          <a:p>
            <a:r>
              <a:rPr lang="zh-CN" altLang="en-US"/>
              <a:t>后续回答产生的训练信号，也会帮助模型学习怎样理解和利用这些反馈。因此，不能把 </a:t>
            </a:r>
            <a:r>
              <a:rPr lang="en-US" altLang="zh-CN"/>
              <a:t>mask=0 </a:t>
            </a:r>
            <a:r>
              <a:rPr lang="zh-CN" altLang="en-US"/>
              <a:t>理解成“这段内容对学习完全没有作用”。</a:t>
            </a:r>
            <a:endParaRPr lang="zh-CN" altLang="en-US"/>
          </a:p>
          <a:p>
            <a:r>
              <a:rPr lang="zh-CN" altLang="en-US"/>
              <a:t>可以把它想成学生和老师的互动：</a:t>
            </a:r>
            <a:endParaRPr lang="zh-CN" altLang="en-US"/>
          </a:p>
          <a:p>
            <a:r>
              <a:rPr lang="zh-CN" altLang="en-US"/>
              <a:t>学生先作答，老师给提示，学生再根据提示继续作答。我们要训练学生如何利用提示做出更好的选择，所以会评价学生的回答；老师提供的提示则保留为学生判断时的依据。</a:t>
            </a:r>
            <a:endParaRPr lang="zh-CN" altLang="en-US"/>
          </a:p>
          <a:p>
            <a:r>
              <a:rPr lang="zh-CN" altLang="en-US"/>
              <a:t>最后再看页面底部的红字：</a:t>
            </a:r>
            <a:endParaRPr lang="zh-CN" altLang="en-US"/>
          </a:p>
          <a:p>
            <a:r>
              <a:rPr lang="zh-CN" altLang="en-US"/>
              <a:t>反馈不会被当作模型动作计分，但仍影响后续生成。</a:t>
            </a:r>
            <a:endParaRPr lang="zh-CN" altLang="en-US"/>
          </a:p>
          <a:p>
            <a:r>
              <a:rPr lang="zh-CN" altLang="en-US"/>
              <a:t>这里的“计分”，具体指是否把这个 </a:t>
            </a:r>
            <a:r>
              <a:rPr lang="en-US" altLang="zh-CN"/>
              <a:t>token </a:t>
            </a:r>
            <a:r>
              <a:rPr lang="zh-CN" altLang="en-US"/>
              <a:t>位置作为模型动作，纳入策略损失。环境反馈本身仍然很重要：它既指导下一轮猜词，也与整局游戏的结果和奖励计算有关。</a:t>
            </a:r>
            <a:endParaRPr lang="zh-CN" altLang="en-US"/>
          </a:p>
          <a:p>
            <a:r>
              <a:rPr lang="zh-CN" altLang="en-US"/>
              <a:t>理解了这条轨迹怎样生成、怎样标记，下一页我们再看：训练时如何准备很多个任务，并为每个任务收集多条这样的轨迹。</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endParaRPr lang="zh-CN" altLang="en-US"/>
          </a:p>
          <a:p>
            <a:r>
              <a:rPr lang="zh-CN" altLang="en-US"/>
              <a:t>真正训练时，我们需要准备很多个任务，让模型产生多条轨迹，再利用这些游戏经历更新参数。这一页展示的，就是本课程采用的数据和训练配置。</a:t>
            </a:r>
            <a:endParaRPr lang="zh-CN" altLang="en-US"/>
          </a:p>
          <a:p>
            <a:r>
              <a:rPr lang="zh-CN" altLang="en-US"/>
              <a:t>先看最上面：以 </a:t>
            </a:r>
            <a:r>
              <a:rPr lang="en-US" altLang="zh-CN"/>
              <a:t>SFT </a:t>
            </a:r>
            <a:r>
              <a:rPr lang="zh-CN" altLang="en-US"/>
              <a:t>模型为起点。</a:t>
            </a:r>
            <a:endParaRPr lang="zh-CN" altLang="en-US"/>
          </a:p>
          <a:p>
            <a:r>
              <a:rPr lang="zh-CN" altLang="en-US"/>
              <a:t>也就是说，我们使用已经完成监督微调的 </a:t>
            </a:r>
            <a:r>
              <a:rPr lang="en-US" altLang="zh-CN"/>
              <a:t>Qwen </a:t>
            </a:r>
            <a:r>
              <a:rPr lang="zh-CN" altLang="en-US"/>
              <a:t>模型开始强化学习。它已经学习过课程要求的回复格式，以及怎样根据游戏上下文回答。</a:t>
            </a:r>
            <a:endParaRPr lang="zh-CN" altLang="en-US"/>
          </a:p>
          <a:p>
            <a:r>
              <a:rPr lang="zh-CN" altLang="en-US"/>
              <a:t>如果我们完成了前面的 </a:t>
            </a:r>
            <a:r>
              <a:rPr lang="en-US" altLang="zh-CN"/>
              <a:t>SFT </a:t>
            </a:r>
            <a:r>
              <a:rPr lang="zh-CN" altLang="en-US"/>
              <a:t>实验，就可以通过模型路径，指定前面导出的权重作为 </a:t>
            </a:r>
            <a:r>
              <a:rPr lang="en-US" altLang="zh-CN"/>
              <a:t>RL </a:t>
            </a:r>
            <a:r>
              <a:rPr lang="zh-CN" altLang="en-US"/>
              <a:t>的起点。之后，</a:t>
            </a:r>
            <a:r>
              <a:rPr lang="en-US" altLang="zh-CN"/>
              <a:t>RL </a:t>
            </a:r>
            <a:r>
              <a:rPr lang="zh-CN" altLang="en-US"/>
              <a:t>会在这套参数的基础上继续训练。</a:t>
            </a:r>
            <a:endParaRPr lang="zh-CN" altLang="en-US"/>
          </a:p>
          <a:p>
            <a:r>
              <a:rPr lang="zh-CN" altLang="en-US"/>
              <a:t>接着，我们准备了 2000 条训练记录和 20 条测试记录。</a:t>
            </a:r>
            <a:endParaRPr lang="zh-CN" altLang="en-US"/>
          </a:p>
          <a:p>
            <a:r>
              <a:rPr lang="zh-CN" altLang="en-US"/>
              <a:t>2000 条训练记录用来提供训练任务；20 条测试记录用来定期评估模型表现，观察训练是否带来了有效提升。</a:t>
            </a:r>
            <a:endParaRPr lang="zh-CN" altLang="en-US"/>
          </a:p>
          <a:p>
            <a:r>
              <a:rPr lang="zh-CN" altLang="en-US"/>
              <a:t>这里的 2000 是数据记录数量，秘密词可能重复，并不表示有 2000 个不同的秘密单词。</a:t>
            </a:r>
            <a:endParaRPr lang="zh-CN" altLang="en-US"/>
          </a:p>
          <a:p>
            <a:r>
              <a:rPr lang="zh-CN" altLang="en-US"/>
              <a:t>那么，一条训练记录里面具体放什么？</a:t>
            </a:r>
            <a:endParaRPr lang="zh-CN" altLang="en-US"/>
          </a:p>
          <a:p>
            <a:r>
              <a:rPr lang="zh-CN" altLang="en-US"/>
              <a:t>看左边的表格，最重要的是两个字段。</a:t>
            </a:r>
            <a:endParaRPr lang="zh-CN" altLang="en-US"/>
          </a:p>
          <a:p>
            <a:r>
              <a:rPr lang="zh-CN" altLang="en-US"/>
              <a:t>第一个是 </a:t>
            </a:r>
            <a:r>
              <a:rPr lang="en-US" altLang="zh-CN"/>
              <a:t>prompt，</a:t>
            </a:r>
            <a:r>
              <a:rPr lang="zh-CN" altLang="en-US"/>
              <a:t>也就是提供给模型的输入。它包含游戏规则和初始游戏消息，例如：这是一局 </a:t>
            </a:r>
            <a:r>
              <a:rPr lang="en-US" altLang="zh-CN"/>
              <a:t>Wordle，</a:t>
            </a:r>
            <a:r>
              <a:rPr lang="zh-CN" altLang="en-US"/>
              <a:t>你需要猜一个五字母单词，最多有六次机会，并按照规定格式回复。</a:t>
            </a:r>
            <a:endParaRPr lang="zh-CN" altLang="en-US"/>
          </a:p>
          <a:p>
            <a:r>
              <a:rPr lang="zh-CN" altLang="en-US"/>
              <a:t>第二个是 </a:t>
            </a:r>
            <a:r>
              <a:rPr lang="en-US" altLang="zh-CN"/>
              <a:t>ground_truth，</a:t>
            </a:r>
            <a:r>
              <a:rPr lang="zh-CN" altLang="en-US"/>
              <a:t>可以理解为用于判定结果的真实答案。在这个任务里，它保存的就是秘密单词，例如 </a:t>
            </a:r>
            <a:r>
              <a:rPr lang="en-US" altLang="zh-CN"/>
              <a:t>crane。</a:t>
            </a:r>
            <a:endParaRPr lang="en-US" altLang="zh-CN"/>
          </a:p>
          <a:p>
            <a:r>
              <a:rPr lang="zh-CN" altLang="en-US"/>
              <a:t>环境需要这个秘密词，才能判断模型猜得对不对，并给出颜色反馈。但模型实际接收的 </a:t>
            </a:r>
            <a:r>
              <a:rPr lang="en-US" altLang="zh-CN"/>
              <a:t>prompt </a:t>
            </a:r>
            <a:r>
              <a:rPr lang="zh-CN" altLang="en-US"/>
              <a:t>里不会包含它。</a:t>
            </a:r>
            <a:endParaRPr lang="zh-CN" altLang="en-US"/>
          </a:p>
          <a:p>
            <a:r>
              <a:rPr lang="zh-CN" altLang="en-US"/>
              <a:t>所以，这条数据记录可以理解为：给模型的是游戏说明，环境自己保留答案。</a:t>
            </a:r>
            <a:endParaRPr lang="zh-CN" altLang="en-US"/>
          </a:p>
          <a:p>
            <a:r>
              <a:rPr lang="zh-CN" altLang="en-US"/>
              <a:t>这里也能看到与前面 </a:t>
            </a:r>
            <a:r>
              <a:rPr lang="en-US" altLang="zh-CN"/>
              <a:t>SFT </a:t>
            </a:r>
            <a:r>
              <a:rPr lang="zh-CN" altLang="en-US"/>
              <a:t>数据的区别：这批 </a:t>
            </a:r>
            <a:r>
              <a:rPr lang="en-US" altLang="zh-CN"/>
              <a:t>RL </a:t>
            </a:r>
            <a:r>
              <a:rPr lang="zh-CN" altLang="en-US"/>
              <a:t>任务记录提供游戏起点，后面的猜词和多轮对话，由当前模型实际生成。</a:t>
            </a:r>
            <a:endParaRPr lang="zh-CN" altLang="en-US"/>
          </a:p>
          <a:p>
            <a:r>
              <a:rPr lang="zh-CN" altLang="en-US"/>
              <a:t>接下来，看右边最醒目的算式：128 × 8 = 1024。这三个数字分别表示什么？</a:t>
            </a:r>
            <a:endParaRPr lang="zh-CN" altLang="en-US"/>
          </a:p>
          <a:p>
            <a:r>
              <a:rPr lang="zh-CN" altLang="en-US"/>
              <a:t>128，表示这一批先取出 128 条任务记录。</a:t>
            </a:r>
            <a:endParaRPr lang="zh-CN" altLang="en-US"/>
          </a:p>
          <a:p>
            <a:r>
              <a:rPr lang="zh-CN" altLang="en-US"/>
              <a:t>8，表示对每一条任务记录，独立玩八局。</a:t>
            </a:r>
            <a:endParaRPr lang="zh-CN" altLang="en-US"/>
          </a:p>
          <a:p>
            <a:r>
              <a:rPr lang="zh-CN" altLang="en-US"/>
              <a:t>例如，某条任务的秘密词是 </a:t>
            </a:r>
            <a:r>
              <a:rPr lang="en-US" altLang="zh-CN"/>
              <a:t>crane，</a:t>
            </a:r>
            <a:r>
              <a:rPr lang="zh-CN" altLang="en-US"/>
              <a:t>我们就让当前模型针对这个任务重新开局八次。八局使用同一个秘密词和相同的初始条件，但各自保留独立的游戏历史。</a:t>
            </a:r>
            <a:endParaRPr lang="zh-CN" altLang="en-US"/>
          </a:p>
          <a:p>
            <a:r>
              <a:rPr lang="zh-CN" altLang="en-US"/>
              <a:t>由于生成采用采样，不同局可能出现不同的猜词过程，也可能出现重复的结果。</a:t>
            </a:r>
            <a:endParaRPr lang="zh-CN" altLang="en-US"/>
          </a:p>
          <a:p>
            <a:r>
              <a:rPr lang="zh-CN" altLang="en-US"/>
              <a:t>这样，128 条任务记录，每条产生八局，就得到：128 × 8 = 1024 条完整轨迹。这也是 </a:t>
            </a:r>
            <a:r>
              <a:rPr lang="en-US" altLang="zh-CN"/>
              <a:t>verl </a:t>
            </a:r>
            <a:r>
              <a:rPr lang="zh-CN" altLang="en-US"/>
              <a:t>中训练任务批次与每题采样数的对应关系。</a:t>
            </a:r>
            <a:r>
              <a:rPr lang="en-US" altLang="zh-CN"/>
              <a:t>verl GRPO </a:t>
            </a:r>
            <a:r>
              <a:rPr lang="zh-CN" altLang="en-US"/>
              <a:t>说明</a:t>
            </a:r>
            <a:endParaRPr lang="zh-CN" altLang="en-US"/>
          </a:p>
          <a:p>
            <a:r>
              <a:rPr lang="zh-CN" altLang="en-US"/>
              <a:t>这里说“128 个 </a:t>
            </a:r>
            <a:r>
              <a:rPr lang="en-US" altLang="zh-CN"/>
              <a:t>prompt”，</a:t>
            </a:r>
            <a:r>
              <a:rPr lang="zh-CN" altLang="en-US"/>
              <a:t>更准确地理解，是 128 条任务记录。它们的游戏说明文字可能相同，但环境保存的秘密词和任务标识可以不同。</a:t>
            </a:r>
            <a:endParaRPr lang="zh-CN" altLang="en-US"/>
          </a:p>
          <a:p>
            <a:r>
              <a:rPr lang="zh-CN" altLang="en-US"/>
              <a:t>计算 </a:t>
            </a:r>
            <a:r>
              <a:rPr lang="en-US" altLang="zh-CN"/>
              <a:t>GRPO </a:t>
            </a:r>
            <a:r>
              <a:rPr lang="zh-CN" altLang="en-US"/>
              <a:t>优势时，同一条任务产生的八局互相比较。我们分别计算每组的平均奖励和相对优势，不会把全部 1024 局混成一组。</a:t>
            </a:r>
            <a:endParaRPr lang="zh-CN" altLang="en-US"/>
          </a:p>
          <a:p>
            <a:r>
              <a:rPr lang="zh-CN" altLang="en-US"/>
              <a:t>再看下面的红字：</a:t>
            </a:r>
            <a:endParaRPr lang="zh-CN" altLang="en-US"/>
          </a:p>
          <a:p>
            <a:r>
              <a:rPr lang="zh-CN" altLang="en-US"/>
              <a:t>8 是每个任务的组大小，6 是每局的猜词轮次上限。</a:t>
            </a:r>
            <a:endParaRPr lang="zh-CN" altLang="en-US"/>
          </a:p>
          <a:p>
            <a:r>
              <a:rPr lang="zh-CN" altLang="en-US"/>
              <a:t>比如，某个任务的八局里面，第一局可能两次就猜中，第二局可能五次猜中，第三局可能六次仍然没猜中。它们仍然是八条独立轨迹，只是每条轨迹内部的长度不同。</a:t>
            </a:r>
            <a:endParaRPr lang="zh-CN" altLang="en-US"/>
          </a:p>
          <a:p>
            <a:r>
              <a:rPr lang="zh-CN" altLang="en-US"/>
              <a:t>因此，1024 表示完整游戏轨迹的数量，不是猜词次数，也不是 </a:t>
            </a:r>
            <a:r>
              <a:rPr lang="en-US" altLang="zh-CN"/>
              <a:t>token </a:t>
            </a:r>
            <a:r>
              <a:rPr lang="zh-CN" altLang="en-US"/>
              <a:t>数量。</a:t>
            </a:r>
            <a:endParaRPr lang="zh-CN" altLang="en-US"/>
          </a:p>
          <a:p>
            <a:r>
              <a:rPr lang="zh-CN" altLang="en-US"/>
              <a:t>这些轨迹会由系统分批调度生成，也不要求 1024 局同时全部放在设备内存里。</a:t>
            </a:r>
            <a:endParaRPr lang="zh-CN" altLang="en-US"/>
          </a:p>
          <a:p>
            <a:r>
              <a:rPr lang="zh-CN" altLang="en-US"/>
              <a:t>然后看下面的硬件配置：两张 </a:t>
            </a:r>
            <a:r>
              <a:rPr lang="en-US" altLang="zh-CN"/>
              <a:t>NPU，rollout TP </a:t>
            </a:r>
            <a:r>
              <a:rPr lang="zh-CN" altLang="en-US"/>
              <a:t>等于 2。</a:t>
            </a:r>
            <a:endParaRPr lang="zh-CN" altLang="en-US"/>
          </a:p>
          <a:p>
            <a:r>
              <a:rPr lang="en-US" altLang="zh-CN"/>
              <a:t>NPU </a:t>
            </a:r>
            <a:r>
              <a:rPr lang="zh-CN" altLang="en-US"/>
              <a:t>是实际执行计算的硬件。</a:t>
            </a:r>
            <a:r>
              <a:rPr lang="en-US" altLang="zh-CN"/>
              <a:t>TP </a:t>
            </a:r>
            <a:r>
              <a:rPr lang="zh-CN" altLang="en-US"/>
              <a:t>是 </a:t>
            </a:r>
            <a:r>
              <a:rPr lang="en-US" altLang="zh-CN"/>
              <a:t>Tensor Parallel，</a:t>
            </a:r>
            <a:r>
              <a:rPr lang="zh-CN" altLang="en-US"/>
              <a:t>也就是“张量并行”。</a:t>
            </a:r>
            <a:endParaRPr lang="zh-CN" altLang="en-US"/>
          </a:p>
          <a:p>
            <a:r>
              <a:rPr lang="zh-CN" altLang="en-US"/>
              <a:t>通俗地说，模型推理中的一些大矩阵计算，会拆分到两张 </a:t>
            </a:r>
            <a:r>
              <a:rPr lang="en-US" altLang="zh-CN"/>
              <a:t>NPU </a:t>
            </a:r>
            <a:r>
              <a:rPr lang="zh-CN" altLang="en-US"/>
              <a:t>上，由它们配合完成。同一次模型生成，可以需要两张卡共同参与计算。</a:t>
            </a:r>
            <a:endParaRPr lang="zh-CN" altLang="en-US"/>
          </a:p>
          <a:p>
            <a:r>
              <a:rPr lang="zh-CN" altLang="en-US"/>
              <a:t>所以，这里的“两张卡”表示推理计算怎样分工。前面的 128×8 已经是这一批总共需要生成的轨迹数，不需要再乘以 2。</a:t>
            </a:r>
            <a:endParaRPr lang="zh-CN" altLang="en-US"/>
          </a:p>
          <a:p>
            <a:r>
              <a:rPr lang="zh-CN" altLang="en-US"/>
              <a:t>接着看 </a:t>
            </a:r>
            <a:r>
              <a:rPr lang="en-US" altLang="zh-CN"/>
              <a:t>Actor </a:t>
            </a:r>
            <a:r>
              <a:rPr lang="zh-CN" altLang="en-US"/>
              <a:t>学习率。</a:t>
            </a:r>
            <a:r>
              <a:rPr lang="en-US" altLang="zh-CN"/>
              <a:t>Actor </a:t>
            </a:r>
            <a:r>
              <a:rPr lang="zh-CN" altLang="en-US"/>
              <a:t>就是当前正在训练、负责产生回答的策略模型。在本课程里，就是我们继续进行 </a:t>
            </a:r>
            <a:r>
              <a:rPr lang="en-US" altLang="zh-CN"/>
              <a:t>RL </a:t>
            </a:r>
            <a:r>
              <a:rPr lang="zh-CN" altLang="en-US"/>
              <a:t>训练的 </a:t>
            </a:r>
            <a:r>
              <a:rPr lang="en-US" altLang="zh-CN"/>
              <a:t>Qwen </a:t>
            </a:r>
            <a:r>
              <a:rPr lang="zh-CN" altLang="en-US"/>
              <a:t>模型。</a:t>
            </a:r>
            <a:endParaRPr lang="zh-CN" altLang="en-US"/>
          </a:p>
          <a:p>
            <a:r>
              <a:rPr lang="zh-CN" altLang="en-US"/>
              <a:t>配置的基准学习率是：1 × 10⁻⁶，也就是 0.000001。学习率控制参数更新的步长尺度。它不是说每个参数都固定增加或者减少 0.000001，而是优化器计算更新时使用的一个缩放因素。实际训练还会配合学习率预热和调度。</a:t>
            </a:r>
            <a:endParaRPr lang="zh-CN" altLang="en-US"/>
          </a:p>
          <a:p>
            <a:r>
              <a:rPr lang="zh-CN" altLang="en-US"/>
              <a:t>右边两个系数，前面已经讲过：</a:t>
            </a:r>
            <a:endParaRPr lang="zh-CN" altLang="en-US"/>
          </a:p>
          <a:p>
            <a:r>
              <a:rPr lang="en-US" altLang="zh-CN"/>
              <a:t>KL </a:t>
            </a:r>
            <a:r>
              <a:rPr lang="zh-CN" altLang="en-US"/>
              <a:t>系数 0.001，控制偏离固定参考策略的惩罚强度。</a:t>
            </a:r>
            <a:endParaRPr lang="zh-CN" altLang="en-US"/>
          </a:p>
          <a:p>
            <a:r>
              <a:rPr lang="zh-CN" altLang="en-US"/>
              <a:t>熵系数 0.004，控制鼓励保留探索的力度。</a:t>
            </a:r>
            <a:endParaRPr lang="zh-CN" altLang="en-US"/>
          </a:p>
          <a:p>
            <a:r>
              <a:rPr lang="zh-CN" altLang="en-US"/>
              <a:t>它们是本课程配方的设置，后面会结合训练指标做调整。</a:t>
            </a:r>
            <a:endParaRPr lang="zh-CN" altLang="en-US"/>
          </a:p>
          <a:p>
            <a:r>
              <a:rPr lang="zh-CN" altLang="en-US"/>
              <a:t>最后，看底部这条训练流程：</a:t>
            </a:r>
            <a:endParaRPr lang="zh-CN" altLang="en-US"/>
          </a:p>
          <a:p>
            <a:r>
              <a:rPr lang="zh-CN" altLang="en-US"/>
              <a:t>先采样，再评分，计算组内优势，然后更新策略，并同步推理权重。</a:t>
            </a:r>
            <a:endParaRPr lang="zh-CN" altLang="en-US"/>
          </a:p>
          <a:p>
            <a:r>
              <a:rPr lang="zh-CN" altLang="en-US"/>
              <a:t>具体来说，模型先完成这一批游戏，奖励函数给各条轨迹评分，再在每个任务的八条轨迹内部计算优势。</a:t>
            </a:r>
            <a:endParaRPr lang="zh-CN" altLang="en-US"/>
          </a:p>
          <a:p>
            <a:r>
              <a:rPr lang="zh-CN" altLang="en-US"/>
              <a:t>接着，这批轨迹会进一步分成小批，完成参数更新。因此，收集一批 1024 条轨迹，并不意味着内部只有一次优化器更新。</a:t>
            </a:r>
            <a:endParaRPr lang="zh-CN" altLang="en-US"/>
          </a:p>
          <a:p>
            <a:r>
              <a:rPr lang="zh-CN" altLang="en-US"/>
              <a:t>参数更新以后，还要把最新的 </a:t>
            </a:r>
            <a:r>
              <a:rPr lang="en-US" altLang="zh-CN"/>
              <a:t>Actor </a:t>
            </a:r>
            <a:r>
              <a:rPr lang="zh-CN" altLang="en-US"/>
              <a:t>权重同步给 </a:t>
            </a:r>
            <a:r>
              <a:rPr lang="en-US" altLang="zh-CN"/>
              <a:t>vLLM </a:t>
            </a:r>
            <a:r>
              <a:rPr lang="zh-CN" altLang="en-US"/>
              <a:t>使用的推理模型。</a:t>
            </a:r>
            <a:endParaRPr lang="zh-CN" altLang="en-US"/>
          </a:p>
          <a:p>
            <a:r>
              <a:rPr lang="zh-CN" altLang="en-US"/>
              <a:t>为什么需要同步？因为下一批游戏应当由更新后的模型来生成。这样，模型才能把刚刚学到的变化带进下一批尝试中。</a:t>
            </a:r>
            <a:endParaRPr lang="zh-CN" altLang="en-US"/>
          </a:p>
          <a:p>
            <a:r>
              <a:rPr lang="zh-CN" altLang="en-US"/>
              <a:t>这里同步的是当前策略的权重；前面用于 </a:t>
            </a:r>
            <a:r>
              <a:rPr lang="en-US" altLang="zh-CN"/>
              <a:t>KL </a:t>
            </a:r>
            <a:r>
              <a:rPr lang="zh-CN" altLang="en-US"/>
              <a:t>比较的固定参考策略，仍然保留训练起点的权重。</a:t>
            </a:r>
            <a:endParaRPr lang="zh-CN" altLang="en-US"/>
          </a:p>
          <a:p>
            <a:r>
              <a:rPr lang="zh-CN" altLang="en-US"/>
              <a:t>页面最后说明了课程的操作方式：</a:t>
            </a:r>
            <a:r>
              <a:rPr lang="en-US" altLang="zh-CN"/>
              <a:t>Notebook </a:t>
            </a:r>
            <a:r>
              <a:rPr lang="zh-CN" altLang="en-US"/>
              <a:t>用于准备数据、检查配置和生成启动命令，长时间训练在 </a:t>
            </a:r>
            <a:r>
              <a:rPr lang="en-US" altLang="zh-CN"/>
              <a:t>CANNLab </a:t>
            </a:r>
            <a:r>
              <a:rPr lang="zh-CN" altLang="en-US"/>
              <a:t>终端执行。</a:t>
            </a:r>
            <a:endParaRPr lang="zh-CN" altLang="en-US"/>
          </a:p>
          <a:p>
            <a:r>
              <a:rPr lang="zh-CN" altLang="en-US"/>
              <a:t>到这里，我们已经明确了：模型从哪里开始、任务怎样组织、每批产生多少轨迹，以及这些轨迹怎样用于训练。下一页再具体看，每一局游戏的奖励分数是怎样算出来的。</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这个分数由奖励函数计算。奖励函数会读取模型的输出，以及环境保存的秘密单词，按照我们制定的规则判分。</a:t>
            </a:r>
            <a:r>
              <a:rPr lang="en-US" altLang="zh-CN"/>
              <a:t>verl </a:t>
            </a:r>
            <a:r>
              <a:rPr lang="zh-CN" altLang="en-US"/>
              <a:t>奖励函数说明</a:t>
            </a:r>
            <a:endParaRPr lang="zh-CN" altLang="en-US"/>
          </a:p>
          <a:p>
            <a:r>
              <a:rPr lang="zh-CN" altLang="en-US"/>
              <a:t>本课程主要评价四件事：</a:t>
            </a:r>
            <a:endParaRPr lang="zh-CN" altLang="en-US"/>
          </a:p>
          <a:p>
            <a:r>
              <a:rPr lang="zh-CN" altLang="en-US"/>
              <a:t>有没有猜中、没猜中时接近了多少、猜中用了多少轮，以及回复格式是否符合要求。</a:t>
            </a:r>
            <a:endParaRPr lang="zh-CN" altLang="en-US"/>
          </a:p>
          <a:p>
            <a:r>
              <a:rPr lang="zh-CN" altLang="en-US"/>
              <a:t>它们对应页面上的四个奖励项：</a:t>
            </a:r>
            <a:endParaRPr lang="zh-CN" altLang="en-US"/>
          </a:p>
          <a:p>
            <a:r>
              <a:rPr lang="zh-CN" altLang="en-US"/>
              <a:t>总奖励 =</a:t>
            </a:r>
            <a:r>
              <a:rPr lang="en-US" altLang="zh-CN"/>
              <a:t> correct + partial + length_bonus + 0.2 × format</a:t>
            </a:r>
            <a:endParaRPr lang="en-US" altLang="zh-CN"/>
          </a:p>
          <a:p>
            <a:r>
              <a:rPr lang="zh-CN" altLang="en-US"/>
              <a:t>注意，这是对一条完整游戏轨迹的评分规则。我们要先看这一局最终有没有猜中，再决定哪些分项生效。</a:t>
            </a:r>
            <a:endParaRPr lang="zh-CN" altLang="en-US"/>
          </a:p>
          <a:p>
            <a:r>
              <a:rPr lang="zh-CN" altLang="en-US"/>
              <a:t>先看第一项，</a:t>
            </a:r>
            <a:r>
              <a:rPr lang="en-US" altLang="zh-CN"/>
              <a:t>correct，</a:t>
            </a:r>
            <a:r>
              <a:rPr lang="zh-CN" altLang="en-US"/>
              <a:t>猜中奖励。</a:t>
            </a:r>
            <a:endParaRPr lang="zh-CN" altLang="en-US"/>
          </a:p>
          <a:p>
            <a:r>
              <a:rPr lang="zh-CN" altLang="en-US"/>
              <a:t>它回答最直接的问题：模型最后一次提取出的有效猜词，是否等于秘密单词？</a:t>
            </a:r>
            <a:endParaRPr lang="zh-CN" altLang="en-US"/>
          </a:p>
          <a:p>
            <a:r>
              <a:rPr lang="zh-CN" altLang="en-US"/>
              <a:t>如果秘密单词是 </a:t>
            </a:r>
            <a:r>
              <a:rPr lang="en-US" altLang="zh-CN"/>
              <a:t>crane，</a:t>
            </a:r>
            <a:r>
              <a:rPr lang="zh-CN" altLang="en-US"/>
              <a:t>模型按照规定格式猜出了 </a:t>
            </a:r>
            <a:r>
              <a:rPr lang="en-US" altLang="zh-CN"/>
              <a:t>crane，</a:t>
            </a:r>
            <a:r>
              <a:rPr lang="zh-CN" altLang="en-US"/>
              <a:t>这一项就是 1；如果最终没有猜中，就是 0。</a:t>
            </a:r>
            <a:endParaRPr lang="zh-CN" altLang="en-US"/>
          </a:p>
          <a:p>
            <a:r>
              <a:rPr lang="zh-CN" altLang="en-US"/>
              <a:t>这里的 1 表示这局成功，不表示模型所有游戏都能成功。后面评测时，把很多局的 </a:t>
            </a:r>
            <a:r>
              <a:rPr lang="en-US" altLang="zh-CN"/>
              <a:t>correct </a:t>
            </a:r>
            <a:r>
              <a:rPr lang="zh-CN" altLang="en-US"/>
              <a:t>取平均，才能得到猜中率。</a:t>
            </a:r>
            <a:endParaRPr lang="zh-CN" altLang="en-US"/>
          </a:p>
          <a:p>
            <a:r>
              <a:rPr lang="zh-CN" altLang="en-US"/>
              <a:t>第二项是 </a:t>
            </a:r>
            <a:r>
              <a:rPr lang="en-US" altLang="zh-CN"/>
              <a:t>partial，</a:t>
            </a:r>
            <a:r>
              <a:rPr lang="zh-CN" altLang="en-US"/>
              <a:t>部分匹配奖励。</a:t>
            </a:r>
            <a:endParaRPr lang="zh-CN" altLang="en-US"/>
          </a:p>
          <a:p>
            <a:r>
              <a:rPr lang="zh-CN" altLang="en-US"/>
              <a:t>如果只奖励完全猜中的游戏，那么很多失败的尝试都会得到相同的零分。可是，有的尝试一个字母都没找对，有的已经找对了好几个字母，它们的表现有区别。</a:t>
            </a:r>
            <a:endParaRPr lang="zh-CN" altLang="en-US"/>
          </a:p>
          <a:p>
            <a:r>
              <a:rPr lang="zh-CN" altLang="en-US"/>
              <a:t>部分匹配奖励，就是让模型在尚未猜中时，也能获得一些区分表现的信号。</a:t>
            </a:r>
            <a:endParaRPr lang="zh-CN" altLang="en-US"/>
          </a:p>
          <a:p>
            <a:r>
              <a:rPr lang="zh-CN" altLang="en-US"/>
              <a:t>本课程规定：</a:t>
            </a:r>
            <a:endParaRPr lang="zh-CN" altLang="en-US"/>
          </a:p>
          <a:p>
            <a:r>
              <a:rPr lang="zh-CN" altLang="en-US"/>
              <a:t>每个 </a:t>
            </a:r>
            <a:r>
              <a:rPr lang="en-US" altLang="zh-CN"/>
              <a:t>G，</a:t>
            </a:r>
            <a:r>
              <a:rPr lang="zh-CN" altLang="en-US"/>
              <a:t>也就是字母和位置都正确，加 0.2；每个 </a:t>
            </a:r>
            <a:r>
              <a:rPr lang="en-US" altLang="zh-CN"/>
              <a:t>Y，</a:t>
            </a:r>
            <a:r>
              <a:rPr lang="zh-CN" altLang="en-US"/>
              <a:t>也就是字母存在但位置不对，加 0.1。</a:t>
            </a:r>
            <a:endParaRPr lang="zh-CN" altLang="en-US"/>
          </a:p>
          <a:p>
            <a:r>
              <a:rPr lang="zh-CN" altLang="en-US"/>
              <a:t>例如，一次猜测得到三个 </a:t>
            </a:r>
            <a:r>
              <a:rPr lang="en-US" altLang="zh-CN"/>
              <a:t>G、</a:t>
            </a:r>
            <a:r>
              <a:rPr lang="zh-CN" altLang="en-US"/>
              <a:t>一个 </a:t>
            </a:r>
            <a:r>
              <a:rPr lang="en-US" altLang="zh-CN"/>
              <a:t>Y，</a:t>
            </a:r>
            <a:r>
              <a:rPr lang="zh-CN" altLang="en-US"/>
              <a:t>它的部分匹配分就是：</a:t>
            </a:r>
            <a:endParaRPr lang="zh-CN" altLang="en-US"/>
          </a:p>
          <a:p>
            <a:r>
              <a:rPr lang="en-US" altLang="zh-CN"/>
              <a:t>3 × 0.2 + 1 × 0.1 = 0.7</a:t>
            </a:r>
            <a:endParaRPr lang="en-US" altLang="zh-CN"/>
          </a:p>
          <a:p>
            <a:r>
              <a:rPr lang="zh-CN" altLang="en-US"/>
              <a:t>但这里有两个重要规则。</a:t>
            </a:r>
            <a:endParaRPr lang="zh-CN" altLang="en-US"/>
          </a:p>
          <a:p>
            <a:r>
              <a:rPr lang="zh-CN" altLang="en-US"/>
              <a:t>第一，只有最终没猜中的游戏，才计算这项奖励。猜中以后，</a:t>
            </a:r>
            <a:r>
              <a:rPr lang="en-US" altLang="zh-CN"/>
              <a:t>partial </a:t>
            </a:r>
            <a:r>
              <a:rPr lang="zh-CN" altLang="en-US"/>
              <a:t>就设为 0。</a:t>
            </a:r>
            <a:endParaRPr lang="zh-CN" altLang="en-US"/>
          </a:p>
          <a:p>
            <a:r>
              <a:rPr lang="zh-CN" altLang="en-US"/>
              <a:t>因此，不能把五个绿色再算成一份部分匹配奖励，叠加到猜中奖励上。</a:t>
            </a:r>
            <a:endParaRPr lang="zh-CN" altLang="en-US"/>
          </a:p>
          <a:p>
            <a:r>
              <a:rPr lang="zh-CN" altLang="en-US"/>
              <a:t>第二，没猜中时，取整局里面最高的一次部分匹配分。</a:t>
            </a:r>
            <a:endParaRPr lang="zh-CN" altLang="en-US"/>
          </a:p>
          <a:p>
            <a:r>
              <a:rPr lang="zh-CN" altLang="en-US"/>
              <a:t>例如，三次猜测分别得到 0.3、0.7、0.4，那么这一局的 </a:t>
            </a:r>
            <a:r>
              <a:rPr lang="en-US" altLang="zh-CN"/>
              <a:t>partial </a:t>
            </a:r>
            <a:r>
              <a:rPr lang="zh-CN" altLang="en-US"/>
              <a:t>是 0.7。</a:t>
            </a:r>
            <a:endParaRPr lang="zh-CN" altLang="en-US"/>
          </a:p>
          <a:p>
            <a:r>
              <a:rPr lang="zh-CN" altLang="en-US"/>
              <a:t>这样可以鼓励模型接近答案，同时避免它靠反复生成相似猜测，不断累加同一种部分奖励。</a:t>
            </a:r>
            <a:endParaRPr lang="zh-CN" altLang="en-US"/>
          </a:p>
          <a:p>
            <a:r>
              <a:rPr lang="zh-CN" altLang="en-US"/>
              <a:t>第三项是 </a:t>
            </a:r>
            <a:r>
              <a:rPr lang="en-US" altLang="zh-CN"/>
              <a:t>length_bonus，</a:t>
            </a:r>
            <a:r>
              <a:rPr lang="zh-CN" altLang="en-US"/>
              <a:t>这里可以理解为“更少轮次猜中的奖励”。</a:t>
            </a:r>
            <a:endParaRPr lang="zh-CN" altLang="en-US"/>
          </a:p>
          <a:p>
            <a:r>
              <a:rPr lang="zh-CN" altLang="en-US"/>
              <a:t>这个名字里虽然有 </a:t>
            </a:r>
            <a:r>
              <a:rPr lang="en-US" altLang="zh-CN"/>
              <a:t>length，</a:t>
            </a:r>
            <a:r>
              <a:rPr lang="zh-CN" altLang="en-US"/>
              <a:t>但在本课程中，它关注的是猜中所消耗的轮次，而不是回答写了多少字。</a:t>
            </a:r>
            <a:endParaRPr lang="zh-CN" altLang="en-US"/>
          </a:p>
          <a:p>
            <a:r>
              <a:rPr lang="zh-CN" altLang="en-US"/>
              <a:t>只有猜中时，这一项才生效：</a:t>
            </a:r>
            <a:endParaRPr lang="zh-CN" altLang="en-US"/>
          </a:p>
          <a:p>
            <a:r>
              <a:rPr lang="en-US" altLang="zh-CN"/>
              <a:t>length_bonus = 1 ÷ </a:t>
            </a:r>
            <a:r>
              <a:rPr lang="zh-CN" altLang="en-US"/>
              <a:t>实际交互轮数</a:t>
            </a:r>
            <a:endParaRPr lang="zh-CN" altLang="en-US"/>
          </a:p>
          <a:p>
            <a:r>
              <a:rPr lang="zh-CN" altLang="en-US"/>
              <a:t>第一轮就猜中，得到 1；第二轮猜中，得到 0.5；第四轮猜中，得到 0.25。</a:t>
            </a:r>
            <a:endParaRPr lang="zh-CN" altLang="en-US"/>
          </a:p>
          <a:p>
            <a:r>
              <a:rPr lang="zh-CN" altLang="en-US"/>
              <a:t>所以，在同样猜中的前提下，用的轮次越少，这一项越高。</a:t>
            </a:r>
            <a:endParaRPr lang="zh-CN" altLang="en-US"/>
          </a:p>
          <a:p>
            <a:r>
              <a:rPr lang="zh-CN" altLang="en-US"/>
              <a:t>如果没有猜中，无论用了几轮，这一项都是 0。</a:t>
            </a:r>
            <a:endParaRPr lang="zh-CN" altLang="en-US"/>
          </a:p>
          <a:p>
            <a:r>
              <a:rPr lang="zh-CN" altLang="en-US"/>
              <a:t>按核对过的实现，格式错误的回复也会消耗轮次。例如，第一轮输出无效内容，第二轮才规范地猜中，实际已经用了两轮，效率奖励就是二分之一。</a:t>
            </a:r>
            <a:endParaRPr lang="zh-CN" altLang="en-US"/>
          </a:p>
          <a:p>
            <a:r>
              <a:rPr lang="zh-CN" altLang="en-US"/>
              <a:t>第四项是 </a:t>
            </a:r>
            <a:r>
              <a:rPr lang="en-US" altLang="zh-CN"/>
              <a:t>format，</a:t>
            </a:r>
            <a:r>
              <a:rPr lang="zh-CN" altLang="en-US"/>
              <a:t>格式奖励。</a:t>
            </a:r>
            <a:endParaRPr lang="zh-CN" altLang="en-US"/>
          </a:p>
          <a:p>
            <a:r>
              <a:rPr lang="zh-CN" altLang="en-US"/>
              <a:t>它评价模型是否按照约定输出猜词，例如：</a:t>
            </a:r>
            <a:endParaRPr lang="zh-CN" altLang="en-US"/>
          </a:p>
          <a:p>
            <a:r>
              <a:rPr lang="en-US" altLang="zh-CN"/>
              <a:t>&lt;guess&gt;[crane]&lt;/guess&gt;</a:t>
            </a:r>
            <a:endParaRPr lang="en-US" altLang="zh-CN"/>
          </a:p>
          <a:p>
            <a:r>
              <a:rPr lang="zh-CN" altLang="en-US"/>
              <a:t>为什么需要关注格式？</a:t>
            </a:r>
            <a:endParaRPr lang="zh-CN" altLang="en-US"/>
          </a:p>
          <a:p>
            <a:r>
              <a:rPr lang="zh-CN" altLang="en-US"/>
              <a:t>因为模型生成的是文字，环境程序需要从文字里准确提取出猜词。模型按照统一格式回答，程序才能可靠地继续游戏。</a:t>
            </a:r>
            <a:endParaRPr lang="zh-CN" altLang="en-US"/>
          </a:p>
          <a:p>
            <a:r>
              <a:rPr lang="zh-CN" altLang="en-US"/>
              <a:t>在轮次统计完整传入的实现中，</a:t>
            </a:r>
            <a:r>
              <a:rPr lang="en-US" altLang="zh-CN"/>
              <a:t>format </a:t>
            </a:r>
            <a:r>
              <a:rPr lang="zh-CN" altLang="en-US"/>
              <a:t>等于：</a:t>
            </a:r>
            <a:endParaRPr lang="zh-CN" altLang="en-US"/>
          </a:p>
          <a:p>
            <a:r>
              <a:rPr lang="en-US" altLang="zh-CN"/>
              <a:t>format = </a:t>
            </a:r>
            <a:r>
              <a:rPr lang="zh-CN" altLang="en-US"/>
              <a:t>规范回复的轮数 ÷ 实际交互轮数</a:t>
            </a:r>
            <a:endParaRPr lang="zh-CN" altLang="en-US"/>
          </a:p>
          <a:p>
            <a:r>
              <a:rPr lang="zh-CN" altLang="en-US"/>
              <a:t>如果每轮都规范，</a:t>
            </a:r>
            <a:r>
              <a:rPr lang="en-US" altLang="zh-CN"/>
              <a:t>format </a:t>
            </a:r>
            <a:r>
              <a:rPr lang="zh-CN" altLang="en-US"/>
              <a:t>就是 1；如果两轮中只有一轮规范，就是 0.5。</a:t>
            </a:r>
            <a:endParaRPr lang="zh-CN" altLang="en-US"/>
          </a:p>
          <a:p>
            <a:r>
              <a:rPr lang="zh-CN" altLang="en-US"/>
              <a:t>最后，它还要乘以 0.2，才计入总分。因此，格式项最多贡献 0.2 分。</a:t>
            </a:r>
            <a:endParaRPr lang="zh-CN" altLang="en-US"/>
          </a:p>
          <a:p>
            <a:r>
              <a:rPr lang="zh-CN" altLang="en-US"/>
              <a:t>这里的 0.2 是一个权重，并不表示格式永远占最终总分的 20%。</a:t>
            </a:r>
            <a:endParaRPr lang="zh-CN" altLang="en-US"/>
          </a:p>
          <a:p>
            <a:r>
              <a:rPr lang="zh-CN" altLang="en-US"/>
              <a:t>现在，我们一起算页面上的第一个例子。</a:t>
            </a:r>
            <a:endParaRPr lang="zh-CN" altLang="en-US"/>
          </a:p>
          <a:p>
            <a:r>
              <a:rPr lang="zh-CN" altLang="en-US"/>
              <a:t>模型进行了两轮有效猜词，第二轮猜中，两轮回复都规范。</a:t>
            </a:r>
            <a:endParaRPr lang="zh-CN" altLang="en-US"/>
          </a:p>
          <a:p>
            <a:r>
              <a:rPr lang="zh-CN" altLang="en-US"/>
              <a:t>那么：</a:t>
            </a:r>
            <a:endParaRPr lang="zh-CN" altLang="en-US"/>
          </a:p>
          <a:p>
            <a:r>
              <a:rPr lang="zh-CN" altLang="en-US"/>
              <a:t>- 猜中了，</a:t>
            </a:r>
            <a:r>
              <a:rPr lang="en-US" altLang="zh-CN"/>
              <a:t>correct </a:t>
            </a:r>
            <a:r>
              <a:rPr lang="zh-CN" altLang="en-US"/>
              <a:t>是 1；</a:t>
            </a:r>
            <a:endParaRPr lang="zh-CN" altLang="en-US"/>
          </a:p>
          <a:p>
            <a:r>
              <a:rPr lang="zh-CN" altLang="en-US"/>
              <a:t>- 猜中后，</a:t>
            </a:r>
            <a:r>
              <a:rPr lang="en-US" altLang="zh-CN"/>
              <a:t>partial </a:t>
            </a:r>
            <a:r>
              <a:rPr lang="zh-CN" altLang="en-US"/>
              <a:t>是 0；</a:t>
            </a:r>
            <a:endParaRPr lang="zh-CN" altLang="en-US"/>
          </a:p>
          <a:p>
            <a:r>
              <a:rPr lang="zh-CN" altLang="en-US"/>
              <a:t>- 两轮猜中，</a:t>
            </a:r>
            <a:r>
              <a:rPr lang="en-US" altLang="zh-CN"/>
              <a:t>length_bonus </a:t>
            </a:r>
            <a:r>
              <a:rPr lang="zh-CN" altLang="en-US"/>
              <a:t>是 0.5；</a:t>
            </a:r>
            <a:endParaRPr lang="zh-CN" altLang="en-US"/>
          </a:p>
          <a:p>
            <a:r>
              <a:rPr lang="zh-CN" altLang="en-US"/>
              <a:t>- 两轮都规范，</a:t>
            </a:r>
            <a:r>
              <a:rPr lang="en-US" altLang="zh-CN"/>
              <a:t>format </a:t>
            </a:r>
            <a:r>
              <a:rPr lang="zh-CN" altLang="en-US"/>
              <a:t>是 1，计入总分为 0.2。</a:t>
            </a:r>
            <a:endParaRPr lang="zh-CN" altLang="en-US"/>
          </a:p>
          <a:p>
            <a:r>
              <a:rPr lang="zh-CN" altLang="en-US"/>
              <a:t>所以：</a:t>
            </a:r>
            <a:endParaRPr lang="zh-CN" altLang="en-US"/>
          </a:p>
          <a:p>
            <a:r>
              <a:rPr lang="zh-CN" altLang="en-US"/>
              <a:t>总奖励 = 1 + 0 + 0.5 + 0.2 = 1.7</a:t>
            </a:r>
            <a:endParaRPr lang="zh-CN" altLang="en-US"/>
          </a:p>
          <a:p>
            <a:r>
              <a:rPr lang="zh-CN" altLang="en-US"/>
              <a:t>再看第二个例子。</a:t>
            </a:r>
            <a:endParaRPr lang="zh-CN" altLang="en-US"/>
          </a:p>
          <a:p>
            <a:r>
              <a:rPr lang="zh-CN" altLang="en-US"/>
              <a:t>模型最终没有猜中，但这一局最好的猜测得到了三个 </a:t>
            </a:r>
            <a:r>
              <a:rPr lang="en-US" altLang="zh-CN"/>
              <a:t>G、</a:t>
            </a:r>
            <a:r>
              <a:rPr lang="zh-CN" altLang="en-US"/>
              <a:t>一个 </a:t>
            </a:r>
            <a:r>
              <a:rPr lang="en-US" altLang="zh-CN"/>
              <a:t>Y，</a:t>
            </a:r>
            <a:r>
              <a:rPr lang="zh-CN" altLang="en-US"/>
              <a:t>而且每轮回复格式都规范。</a:t>
            </a:r>
            <a:endParaRPr lang="zh-CN" altLang="en-US"/>
          </a:p>
          <a:p>
            <a:r>
              <a:rPr lang="zh-CN" altLang="en-US"/>
              <a:t>那么，</a:t>
            </a:r>
            <a:r>
              <a:rPr lang="en-US" altLang="zh-CN"/>
              <a:t>correct </a:t>
            </a:r>
            <a:r>
              <a:rPr lang="zh-CN" altLang="en-US"/>
              <a:t>是 0；</a:t>
            </a:r>
            <a:r>
              <a:rPr lang="en-US" altLang="zh-CN"/>
              <a:t>partial </a:t>
            </a:r>
            <a:r>
              <a:rPr lang="zh-CN" altLang="en-US"/>
              <a:t>是 0.7；没有猜中，</a:t>
            </a:r>
            <a:r>
              <a:rPr lang="en-US" altLang="zh-CN"/>
              <a:t>length_bonus </a:t>
            </a:r>
            <a:r>
              <a:rPr lang="zh-CN" altLang="en-US"/>
              <a:t>是 0；格式项贡献 0.2。</a:t>
            </a:r>
            <a:endParaRPr lang="zh-CN" altLang="en-US"/>
          </a:p>
          <a:p>
            <a:r>
              <a:rPr lang="zh-CN" altLang="en-US"/>
              <a:t>因此：</a:t>
            </a:r>
            <a:endParaRPr lang="zh-CN" altLang="en-US"/>
          </a:p>
          <a:p>
            <a:r>
              <a:rPr lang="zh-CN" altLang="en-US"/>
              <a:t>总奖励 = 0 + 0.7 + 0 + 0.2 = 0.9</a:t>
            </a:r>
            <a:endParaRPr lang="zh-CN" altLang="en-US"/>
          </a:p>
          <a:p>
            <a:r>
              <a:rPr lang="zh-CN" altLang="en-US"/>
              <a:t>这个例子说明，没猜中也可能得到正奖励，因为它仍然表现出了部分匹配和规范回复。 但模型是否真的完成任务，仍然要单独看 </a:t>
            </a:r>
            <a:r>
              <a:rPr lang="en-US" altLang="zh-CN"/>
              <a:t>correct。</a:t>
            </a:r>
            <a:endParaRPr lang="en-US" altLang="zh-CN"/>
          </a:p>
          <a:p>
            <a:r>
              <a:rPr lang="zh-CN" altLang="en-US"/>
              <a:t>这里再举一个容易混淆的例子。</a:t>
            </a:r>
            <a:endParaRPr lang="zh-CN" altLang="en-US"/>
          </a:p>
          <a:p>
            <a:r>
              <a:rPr lang="zh-CN" altLang="en-US"/>
              <a:t>如果第一轮输出空标签，第二轮才规范地猜中，那么实际用了两轮，只有一轮格式规范：</a:t>
            </a:r>
            <a:endParaRPr lang="zh-CN" altLang="en-US"/>
          </a:p>
          <a:p>
            <a:r>
              <a:rPr lang="zh-CN" altLang="en-US"/>
              <a:t>总奖励 = 1 + 0 + </a:t>
            </a:r>
            <a:r>
              <a:rPr lang="en-US" altLang="zh-CN"/>
              <a:t>1 ÷ 2 + 0.2 × (1 ÷ 2) = 1.6</a:t>
            </a:r>
            <a:endParaRPr lang="en-US" altLang="zh-CN"/>
          </a:p>
          <a:p>
            <a:r>
              <a:rPr lang="zh-CN" altLang="en-US"/>
              <a:t>它比“两轮都规范、第二轮猜中”的 1.7 分低，因为第一轮的格式没有达到要求。</a:t>
            </a:r>
            <a:endParaRPr lang="zh-CN" altLang="en-US"/>
          </a:p>
          <a:p>
            <a:r>
              <a:rPr lang="zh-CN" altLang="en-US"/>
              <a:t>这也说明，奖励规则怎样计算，会直接影响模型被鼓励学习什么行为。 如果规则允许无效回复拿分，或者没有计算它消耗的轮次，就可能给出不符合我们真实目标的奖励。</a:t>
            </a:r>
            <a:endParaRPr lang="zh-CN" altLang="en-US"/>
          </a:p>
          <a:p>
            <a:r>
              <a:rPr lang="zh-CN" altLang="en-US"/>
              <a:t>最后，大家要区分“总奖励”和“成功率”。</a:t>
            </a:r>
            <a:endParaRPr lang="zh-CN" altLang="en-US"/>
          </a:p>
          <a:p>
            <a:r>
              <a:rPr lang="zh-CN" altLang="en-US"/>
              <a:t>总奖励可以是 1.7，也可以超过 2，因为它是多个分项相加的结果。它不能直接换算成成功率。</a:t>
            </a:r>
            <a:endParaRPr lang="zh-CN" altLang="en-US"/>
          </a:p>
          <a:p>
            <a:r>
              <a:rPr lang="zh-CN" altLang="en-US"/>
              <a:t>训练时，我们用这套奖励评价轨迹，再通过 </a:t>
            </a:r>
            <a:r>
              <a:rPr lang="en-US" altLang="zh-CN"/>
              <a:t>GRPO </a:t>
            </a:r>
            <a:r>
              <a:rPr lang="zh-CN" altLang="en-US"/>
              <a:t>的组内比较计算优势。评估训练效果时，则要同时看总奖励、各个奖励分项，以及模型最终的猜中率。</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按原课件的出题意图，答案是：错、</a:t>
            </a:r>
            <a:r>
              <a:rPr lang="en-US" altLang="zh-CN"/>
              <a:t>B、A。</a:t>
            </a:r>
            <a:endParaRPr lang="zh-CN" altLang="en-US"/>
          </a:p>
          <a:p>
            <a:r>
              <a:rPr lang="zh-CN" altLang="en-US"/>
              <a:t>第一题：错误。</a:t>
            </a:r>
            <a:endParaRPr lang="zh-CN" altLang="en-US"/>
          </a:p>
          <a:p>
            <a:r>
              <a:rPr lang="zh-CN" altLang="en-US"/>
              <a:t>本课程规定：猜中后，</a:t>
            </a:r>
            <a:r>
              <a:rPr lang="en-US" altLang="zh-CN"/>
              <a:t>correct=1，partial=0。</a:t>
            </a:r>
            <a:endParaRPr lang="en-US" altLang="zh-CN"/>
          </a:p>
          <a:p>
            <a:r>
              <a:rPr lang="zh-CN" altLang="en-US"/>
              <a:t>部分匹配奖励用于区分那些尚未猜中的尝试。只有最终没猜中时，才取整条轨迹中最高的部分匹配分。</a:t>
            </a:r>
            <a:endParaRPr lang="zh-CN" altLang="en-US"/>
          </a:p>
          <a:p>
            <a:r>
              <a:rPr lang="zh-CN" altLang="en-US"/>
              <a:t>例如，前两次猜测分别得到 0.4、0.7 的部分匹配分，第三次猜中了，那么这一局最终的 </a:t>
            </a:r>
            <a:r>
              <a:rPr lang="en-US" altLang="zh-CN"/>
              <a:t>partial </a:t>
            </a:r>
            <a:r>
              <a:rPr lang="zh-CN" altLang="en-US"/>
              <a:t>是 0。</a:t>
            </a:r>
            <a:endParaRPr lang="zh-CN" altLang="en-US"/>
          </a:p>
          <a:p>
            <a:r>
              <a:rPr lang="zh-CN" altLang="en-US"/>
              <a:t>第</a:t>
            </a:r>
            <a:r>
              <a:rPr lang="en-US" altLang="zh-CN"/>
              <a:t>2</a:t>
            </a:r>
            <a:r>
              <a:rPr lang="zh-CN" altLang="en-US"/>
              <a:t>题：选 </a:t>
            </a:r>
            <a:r>
              <a:rPr lang="en-US" altLang="zh-CN"/>
              <a:t>B。</a:t>
            </a:r>
            <a:endParaRPr lang="en-US" altLang="zh-CN"/>
          </a:p>
          <a:p>
            <a:r>
              <a:rPr lang="en-US" altLang="zh-CN"/>
              <a:t>response_mask=1 </a:t>
            </a:r>
            <a:r>
              <a:rPr lang="zh-CN" altLang="en-US"/>
              <a:t>标记模型生成的 </a:t>
            </a:r>
            <a:r>
              <a:rPr lang="en-US" altLang="zh-CN"/>
              <a:t>token，</a:t>
            </a:r>
            <a:r>
              <a:rPr lang="zh-CN" altLang="en-US"/>
              <a:t>这些位置直接参与策略损失计算。</a:t>
            </a:r>
            <a:endParaRPr lang="zh-CN" altLang="en-US"/>
          </a:p>
          <a:p>
            <a:r>
              <a:rPr lang="zh-CN" altLang="en-US"/>
              <a:t>环境追加的反馈位置标为 0，但反馈仍然保留在上下文中，供模型下一轮使用。</a:t>
            </a:r>
            <a:endParaRPr lang="zh-CN" altLang="en-US"/>
          </a:p>
          <a:p>
            <a:r>
              <a:rPr lang="zh-CN" altLang="en-US"/>
              <a:t>这里要强调：1 和 0 不是对错标记。 模型猜错的回复仍然是模型生成的，也会标为 1；环境反馈非常有用，但来源是环境，因此标为 0。</a:t>
            </a:r>
            <a:endParaRPr lang="zh-CN" altLang="en-US"/>
          </a:p>
          <a:p>
            <a:r>
              <a:rPr lang="zh-CN" altLang="en-US"/>
              <a:t>第四题：按原题的旧规则选 </a:t>
            </a:r>
            <a:r>
              <a:rPr lang="en-US" altLang="zh-CN"/>
              <a:t>A，</a:t>
            </a:r>
            <a:r>
              <a:rPr lang="zh-CN" altLang="en-US"/>
              <a:t>约 0.33。</a:t>
            </a:r>
            <a:endParaRPr lang="zh-CN" altLang="en-US"/>
          </a:p>
          <a:p>
            <a:r>
              <a:rPr lang="zh-CN" altLang="en-US"/>
              <a:t>原题按“有效猜词次数”计算：</a:t>
            </a:r>
            <a:endParaRPr lang="zh-CN" altLang="en-US"/>
          </a:p>
          <a:p>
            <a:r>
              <a:rPr lang="en-US" altLang="zh-CN"/>
              <a:t>length_bonus = 1 ÷ 3 ≈ 0.33</a:t>
            </a:r>
            <a:endParaRPr lang="en-US" altLang="zh-CN"/>
          </a:p>
          <a:p>
            <a:r>
              <a:rPr lang="zh-CN" altLang="en-US"/>
              <a:t>但已核对的代码在轮次信息完整传入时，使用的是实际交互轮数，无效回复也消耗轮次。</a:t>
            </a:r>
            <a:endParaRPr lang="zh-CN" altLang="en-US"/>
          </a:p>
          <a:p>
            <a:r>
              <a:rPr lang="zh-CN" altLang="en-US"/>
              <a:t>因此，“第三次有效猜词才猜中”还不足以确定实际用了几轮。例如，中间还出现过一次无效回复，总共消耗四轮，那么奖励就是：</a:t>
            </a:r>
            <a:endParaRPr lang="zh-CN" altLang="en-US"/>
          </a:p>
          <a:p>
            <a:r>
              <a:rPr lang="en-US" altLang="zh-CN"/>
              <a:t>length_bonus = 1 ÷ 4 = 0.25</a:t>
            </a:r>
            <a:endParaRPr lang="en-US" altLang="zh-CN"/>
          </a:p>
          <a:p>
            <a:r>
              <a:rPr lang="zh-CN" altLang="en-US"/>
              <a:t>建议把题干改成：</a:t>
            </a:r>
            <a:endParaRPr lang="zh-CN" altLang="en-US"/>
          </a:p>
          <a:p>
            <a:r>
              <a:rPr lang="zh-CN" altLang="en-US"/>
              <a:t>一条 </a:t>
            </a:r>
            <a:r>
              <a:rPr lang="en-US" altLang="zh-CN"/>
              <a:t>rollout </a:t>
            </a:r>
            <a:r>
              <a:rPr lang="zh-CN" altLang="en-US"/>
              <a:t>共消耗 3 轮交互，并在第 3 轮猜中，</a:t>
            </a:r>
            <a:r>
              <a:rPr lang="en-US" altLang="zh-CN"/>
              <a:t>length_bonus </a:t>
            </a:r>
            <a:r>
              <a:rPr lang="zh-CN" altLang="en-US"/>
              <a:t>是多少？</a:t>
            </a:r>
            <a:endParaRPr lang="zh-CN" altLang="en-US"/>
          </a:p>
          <a:p>
            <a:endParaRPr lang="en-US" altLang="zh-CN"/>
          </a:p>
          <a:p>
            <a:r>
              <a:rPr lang="zh-CN" altLang="en-US"/>
              <a:t>这样答案就明确是 </a:t>
            </a:r>
            <a:r>
              <a:rPr lang="en-US" altLang="zh-CN"/>
              <a:t>A：</a:t>
            </a:r>
            <a:r>
              <a:rPr lang="zh-CN" altLang="en-US"/>
              <a:t>约 0.33，也与按实际轮次计分的实现一致。</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48 页｜RL 初阶课程｜Part 4 调优与问题排查</a:t>
            </a:r>
          </a:p>
          <a:p>
            <a:r>
              <a:t>建议约 5 分钟（包含互动）。课程累计 235–240 分钟。</a:t>
            </a:r>
          </a:p>
          <a:p/>
          <a:p>
            <a:r>
              <a:t>【00:00–01:00 从训练运行转向问题定位】</a:t>
            </a:r>
          </a:p>
          <a:p>
            <a:r>
              <a:t>我们已经知道怎样准备数据、产生轨迹、计算奖励并读取验证结果。现在进入最后一部分：训练能够运行，却没有按预期变好时，应该怎样处理。请先把“程序报错”和“策略学坏”分开。程序报错通常有异常堆栈、设备或文件问题；策略退化则可能没有任何报错，loss 也照常输出，但模型开始重复固定回答，验证猜中率下降。这一章重点讨论后者，并把配置、曲线和原始输出串起来。目标不是记住某个能一键修好的超参数，而是为每次改动提出一个有证据、可以验证的解释。</a:t>
            </a:r>
          </a:p>
          <a:p/>
          <a:p>
            <a:r>
              <a:t>【01:00–02:00 用两组现象检验诊断直觉】</a:t>
            </a:r>
          </a:p>
          <a:p>
            <a:r>
              <a:t>先给大家两个场景。甲实验的 entropy 缓慢下降，验证 correct 持续改善，回复也越来越简洁；乙实验的 entropy 很快接近零，correct 归零，输出长度突然升高并长期维持。两组都有熵下降，是否都该马上增加熵系数？请先判断十秒，再和同桌说理由。甲可能正在把概率集中到更有效的策略，乙则更像策略退化。关键不是某个数值单独好看或难看，而是任务表现、长度和输出内容是否一起变化。因此我们先学习比较同一实验异常前后，再去考虑调整哪个参数，而不是把“熵下降”本身当作故障名称。</a:t>
            </a:r>
          </a:p>
          <a:p/>
          <a:p>
            <a:r>
              <a:t>【02:00–03:00 组织证据：配置、指标、原始输出】</a:t>
            </a:r>
          </a:p>
          <a:p>
            <a:r>
              <a:t>请把排查材料分成三列。第一列是实验配置，包括模型起点、数据、seed、学习率、KL 与熵系数和采样设置；第二列是指标，包括验证 correct、奖励分项、entropy、KL、梯度范数与长度；第三列是原始 rollout，看模型究竟在猜有效单词、重复旧词，还是只输出标签。让每组从这三列中各挑一个最想先检查的项目，并说明它能排除什么假设。例如看格式分项能判断是否只剩协议奖励，但只有读原始文本才能进一步分辨空标签和无匹配的有效猜词。证据不齐时，先补证据比同时改一堆参数更有价值。</a:t>
            </a:r>
          </a:p>
          <a:p/>
          <a:p>
            <a:r>
              <a:t>【03:00–04:00 预演单变量排查流程】</a:t>
            </a:r>
          </a:p>
          <a:p>
            <a:r>
              <a:t>接下来采用一个简单实验流程：保留同一模型起点和验证协议，写下一个假设，只改变一个因素，先短跑二十五到三十步，再比较曲线和输出。比如假设熵奖励过强导致探索扩散，就只小幅下调熵系数；不要同时扩大 batch、提高学习率，再把结果都归因于熵。请大家口头设计一个对照组：基准配置不变，实验组只改一个字段，并预先说明希望哪个指标改善、哪个现象不能出现。课堂上我们用已保存日志完成这项设计，不等待两轮完整训练结束。实际开跑时还要保存配置快照，让实验结果能够复查。</a:t>
            </a:r>
          </a:p>
          <a:p/>
          <a:p>
            <a:r>
              <a:t>【04:00–05:00 区分修参数与修目标】</a:t>
            </a:r>
          </a:p>
          <a:p>
            <a:r>
              <a:t>最后请记住，有些问题属于参数更新不稳定，有些问题来自奖励目标本身。如果模型利用过于宽松的格式规则拿分，只调熵系数不一定能解决，需要检查奖励规则；如果模型根本没有学会输出协议，就应看 prompt、chat template、SFT 样本与解析器是否一致。新版配方已经修复部分旧格式漏洞，所以看历史案例时更要记录版本，避免修复一个当前已不存在的问题。接下来三页分别做参数对照、异常诊断和按症状选择动作。学完后，每组应能提交一条完整排查记录：观察到什么、怀疑什么、改变什么、怎样判断这次改动有没有帮助。</a:t>
            </a:r>
          </a:p>
          <a:p/>
          <a:p>
            <a:r>
              <a:t>【讲师须知：口径与版本】</a:t>
            </a:r>
          </a:p>
          <a:p>
            <a:r>
              <a:t>熵降低可能是学习结果，不能只凭单一指标诊断崩塌。</a:t>
            </a:r>
          </a:p>
          <a:p>
            <a:r>
              <a:t>历史异常案例与当前配方版本可能不同，结论须注明各自代码与配置。</a:t>
            </a:r>
          </a:p>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前面，我们已经知道怎样观察训练指标，以及怎样选择 </a:t>
            </a:r>
            <a:r>
              <a:rPr lang="en-US" altLang="zh-CN"/>
              <a:t>checkpoint。</a:t>
            </a:r>
            <a:r>
              <a:rPr lang="zh-CN" altLang="en-US"/>
              <a:t>现在进入调优环节：如果模型表现不理想，我们应该怎样修改配置，才能知道修改有没有帮助？</a:t>
            </a:r>
            <a:endParaRPr lang="zh-CN" altLang="en-US"/>
          </a:p>
          <a:p>
            <a:r>
              <a:rPr lang="zh-CN" altLang="en-US"/>
              <a:t>先看第一行：固定同一 </a:t>
            </a:r>
            <a:r>
              <a:rPr lang="en-US" altLang="zh-CN"/>
              <a:t>SFT </a:t>
            </a:r>
            <a:r>
              <a:rPr lang="zh-CN" altLang="en-US"/>
              <a:t>起点、数据、</a:t>
            </a:r>
            <a:r>
              <a:rPr lang="en-US" altLang="zh-CN"/>
              <a:t>seed、batch </a:t>
            </a:r>
            <a:r>
              <a:rPr lang="zh-CN" altLang="en-US"/>
              <a:t>和评测协议。</a:t>
            </a:r>
            <a:endParaRPr lang="zh-CN" altLang="en-US"/>
          </a:p>
          <a:p>
            <a:r>
              <a:rPr lang="zh-CN" altLang="en-US"/>
              <a:t>这句话是在要求我们控制实验条件。</a:t>
            </a:r>
            <a:endParaRPr lang="zh-CN" altLang="en-US"/>
          </a:p>
          <a:p>
            <a:r>
              <a:rPr lang="zh-CN" altLang="en-US"/>
              <a:t>首先，三组实验都从同一个 </a:t>
            </a:r>
            <a:r>
              <a:rPr lang="en-US" altLang="zh-CN"/>
              <a:t>SFT checkpoint </a:t>
            </a:r>
            <a:r>
              <a:rPr lang="zh-CN" altLang="en-US"/>
              <a:t>独立开始，这样模型的初始能力一致。</a:t>
            </a:r>
            <a:endParaRPr lang="zh-CN" altLang="en-US"/>
          </a:p>
          <a:p>
            <a:r>
              <a:rPr lang="zh-CN" altLang="en-US"/>
              <a:t>其次，使用相同的数据和 </a:t>
            </a:r>
            <a:r>
              <a:rPr lang="en-US" altLang="zh-CN"/>
              <a:t>batch。Batch </a:t>
            </a:r>
            <a:r>
              <a:rPr lang="zh-CN" altLang="en-US"/>
              <a:t>就是每批处理的任务数量，本课程这里保持每批 128 条任务记录。</a:t>
            </a:r>
            <a:endParaRPr lang="zh-CN" altLang="en-US"/>
          </a:p>
          <a:p>
            <a:r>
              <a:rPr lang="en-US" altLang="zh-CN"/>
              <a:t>Seed </a:t>
            </a:r>
            <a:r>
              <a:rPr lang="zh-CN" altLang="en-US"/>
              <a:t>是“随机种子”，可以理解为随机数生成过程的起点。固定它，可以让数据打乱、采样等过程的随机条件尽量一致，但不能保证两次训练完全相同。</a:t>
            </a:r>
            <a:endParaRPr lang="zh-CN" altLang="en-US"/>
          </a:p>
          <a:p>
            <a:r>
              <a:rPr lang="zh-CN" altLang="en-US"/>
              <a:t>评测协议，就是评估模型时采用的一整套规则。例如，使用同样的测试词，每词采样五局，保持相同的生成设置，再计算平均猜中率。</a:t>
            </a:r>
            <a:endParaRPr lang="zh-CN" altLang="en-US"/>
          </a:p>
          <a:p>
            <a:r>
              <a:rPr lang="zh-CN" altLang="en-US"/>
              <a:t>为什么要固定这些条件？</a:t>
            </a:r>
            <a:endParaRPr lang="zh-CN" altLang="en-US"/>
          </a:p>
          <a:p>
            <a:r>
              <a:rPr lang="zh-CN" altLang="en-US"/>
              <a:t>因为我们想判断，结果变化是不是与正在调整的参数有关。如果模型起点、数据、学习率同时都变了，即使成绩提高，也很难解释是哪项修改起了作用。</a:t>
            </a:r>
            <a:endParaRPr lang="zh-CN" altLang="en-US"/>
          </a:p>
          <a:p>
            <a:r>
              <a:rPr lang="zh-CN" altLang="en-US"/>
              <a:t>接下来，看表格里的三组实验。</a:t>
            </a:r>
            <a:endParaRPr lang="zh-CN" altLang="en-US"/>
          </a:p>
          <a:p>
            <a:r>
              <a:rPr lang="zh-CN" altLang="en-US"/>
              <a:t>这一轮，我们只改变 </a:t>
            </a:r>
            <a:r>
              <a:rPr lang="en-US" altLang="zh-CN"/>
              <a:t>entropy_coeff，</a:t>
            </a:r>
            <a:r>
              <a:rPr lang="zh-CN" altLang="en-US"/>
              <a:t>也就是熵奖励系数：</a:t>
            </a:r>
            <a:endParaRPr lang="zh-CN" altLang="en-US"/>
          </a:p>
          <a:p>
            <a:r>
              <a:rPr lang="zh-CN" altLang="en-US"/>
              <a:t>- 实验 </a:t>
            </a:r>
            <a:r>
              <a:rPr lang="en-US" altLang="zh-CN"/>
              <a:t>A：0.003；</a:t>
            </a:r>
            <a:endParaRPr lang="en-US" altLang="zh-CN"/>
          </a:p>
          <a:p>
            <a:r>
              <a:rPr lang="zh-CN" altLang="en-US"/>
              <a:t>- 实验 </a:t>
            </a:r>
            <a:r>
              <a:rPr lang="en-US" altLang="zh-CN"/>
              <a:t>B：0.004；</a:t>
            </a:r>
            <a:endParaRPr lang="en-US" altLang="zh-CN"/>
          </a:p>
          <a:p>
            <a:r>
              <a:rPr lang="zh-CN" altLang="en-US"/>
              <a:t>- 实验 </a:t>
            </a:r>
            <a:r>
              <a:rPr lang="en-US" altLang="zh-CN"/>
              <a:t>C：0.005。</a:t>
            </a:r>
            <a:endParaRPr lang="en-US" altLang="zh-CN"/>
          </a:p>
          <a:p>
            <a:r>
              <a:rPr lang="zh-CN" altLang="en-US"/>
              <a:t>三组的 </a:t>
            </a:r>
            <a:r>
              <a:rPr lang="en-US" altLang="zh-CN"/>
              <a:t>KL </a:t>
            </a:r>
            <a:r>
              <a:rPr lang="zh-CN" altLang="en-US"/>
              <a:t>系数都保持 0.001，</a:t>
            </a:r>
            <a:r>
              <a:rPr lang="en-US" altLang="zh-CN"/>
              <a:t>Actor </a:t>
            </a:r>
            <a:r>
              <a:rPr lang="zh-CN" altLang="en-US"/>
              <a:t>基准学习率都保持 1</a:t>
            </a:r>
            <a:r>
              <a:rPr lang="en-US" altLang="zh-CN"/>
              <a:t> × 10⁻⁶。</a:t>
            </a:r>
            <a:endParaRPr lang="en-US" altLang="zh-CN"/>
          </a:p>
          <a:p>
            <a:r>
              <a:rPr lang="zh-CN" altLang="en-US"/>
              <a:t>所以，我们研究的问题很明确：其他条件保持一致时，鼓励探索的力度稍小一点或稍大一点，会对训练产生什么影响？</a:t>
            </a:r>
            <a:endParaRPr lang="zh-CN" altLang="en-US"/>
          </a:p>
          <a:p>
            <a:r>
              <a:rPr lang="zh-CN" altLang="en-US"/>
              <a:t>前面已经讲过，熵奖励系数控制的是损失函数中鼓励保留探索的力度。系数增大，会增强这一项的作用，但不能保证模型探索得更有效，也不能保证猜中率更高。</a:t>
            </a:r>
            <a:endParaRPr lang="zh-CN" altLang="en-US"/>
          </a:p>
          <a:p>
            <a:r>
              <a:rPr lang="zh-CN" altLang="en-US"/>
              <a:t>例如，模型生成了更多不同的单词，却仍然不利用颜色反馈，这说明输出变得更多样，但任务能力未必提高。</a:t>
            </a:r>
            <a:endParaRPr lang="zh-CN" altLang="en-US"/>
          </a:p>
          <a:p>
            <a:r>
              <a:rPr lang="zh-CN" altLang="en-US"/>
              <a:t>因此，实验 </a:t>
            </a:r>
            <a:r>
              <a:rPr lang="en-US" altLang="zh-CN"/>
              <a:t>B </a:t>
            </a:r>
            <a:r>
              <a:rPr lang="zh-CN" altLang="en-US"/>
              <a:t>标注“当前起点”，表示课程目前从 0.004 开始尝试。它并不是对所有模型、所有数据都适用的最优值。</a:t>
            </a:r>
            <a:endParaRPr lang="zh-CN" altLang="en-US"/>
          </a:p>
          <a:p>
            <a:r>
              <a:rPr lang="zh-CN" altLang="en-US"/>
              <a:t>再看上面的红字：每组先跑 25～30 步。</a:t>
            </a:r>
            <a:endParaRPr lang="zh-CN" altLang="en-US"/>
          </a:p>
          <a:p>
            <a:r>
              <a:rPr lang="zh-CN" altLang="en-US"/>
              <a:t>这是为了先做一段较短的实验，筛查明显不合适的方向，避免一开始就投入完整长训练。</a:t>
            </a:r>
            <a:endParaRPr lang="zh-CN" altLang="en-US"/>
          </a:p>
          <a:p>
            <a:r>
              <a:rPr lang="zh-CN" altLang="en-US"/>
              <a:t>实际比较时，可以统一让三组都先跑到第 30 步，在相同的步数检查验证结果，例如比较第 10、20、30 步的表现。</a:t>
            </a:r>
            <a:endParaRPr lang="zh-CN" altLang="en-US"/>
          </a:p>
          <a:p>
            <a:r>
              <a:rPr lang="zh-CN" altLang="en-US"/>
              <a:t>短程实验可以帮助我们发现趋势，但只看到某组最后一次分数略高，还不足以宣布它一定最好。如果差异很小，就需要复测。</a:t>
            </a:r>
            <a:endParaRPr lang="zh-CN" altLang="en-US"/>
          </a:p>
          <a:p>
            <a:r>
              <a:rPr lang="zh-CN" altLang="en-US"/>
              <a:t>下面这一行出现了三个新词：</a:t>
            </a:r>
            <a:endParaRPr lang="zh-CN" altLang="en-US"/>
          </a:p>
          <a:p>
            <a:r>
              <a:rPr lang="en-US" altLang="zh-CN"/>
              <a:t>cosine </a:t>
            </a:r>
            <a:r>
              <a:rPr lang="zh-CN" altLang="en-US"/>
              <a:t>调度、</a:t>
            </a:r>
            <a:r>
              <a:rPr lang="en-US" altLang="zh-CN"/>
              <a:t>warmup=5、min_lr_ratio=0.1。</a:t>
            </a:r>
            <a:endParaRPr lang="en-US" altLang="zh-CN"/>
          </a:p>
          <a:p>
            <a:r>
              <a:rPr lang="zh-CN" altLang="en-US"/>
              <a:t>它们都与学习率怎样随训练变化有关。</a:t>
            </a:r>
            <a:endParaRPr lang="zh-CN" altLang="en-US"/>
          </a:p>
          <a:p>
            <a:r>
              <a:rPr lang="zh-CN" altLang="en-US"/>
              <a:t>先解释 </a:t>
            </a:r>
            <a:r>
              <a:rPr lang="en-US" altLang="zh-CN"/>
              <a:t>warmup，</a:t>
            </a:r>
            <a:r>
              <a:rPr lang="zh-CN" altLang="en-US"/>
              <a:t>学习率热身。</a:t>
            </a:r>
            <a:endParaRPr lang="zh-CN" altLang="en-US"/>
          </a:p>
          <a:p>
            <a:r>
              <a:rPr lang="zh-CN" altLang="en-US"/>
              <a:t>它表示训练刚开始时，先使用较小的学习率，再逐渐提高到设定的基准水平。本课程的 </a:t>
            </a:r>
            <a:r>
              <a:rPr lang="en-US" altLang="zh-CN"/>
              <a:t>warmup=5，</a:t>
            </a:r>
            <a:r>
              <a:rPr lang="zh-CN" altLang="en-US"/>
              <a:t>表示热身过程按照最初五个外层训练步推进。</a:t>
            </a:r>
            <a:endParaRPr lang="zh-CN" altLang="en-US"/>
          </a:p>
          <a:p>
            <a:r>
              <a:rPr lang="zh-CN" altLang="en-US"/>
              <a:t>这样做，是为了让训练初期的更新逐步进入正常尺度，降低一开始更新过猛的风险。</a:t>
            </a:r>
            <a:endParaRPr lang="zh-CN" altLang="en-US"/>
          </a:p>
          <a:p>
            <a:r>
              <a:rPr lang="zh-CN" altLang="en-US"/>
              <a:t>然后是 </a:t>
            </a:r>
            <a:r>
              <a:rPr lang="en-US" altLang="zh-CN"/>
              <a:t>cosine，</a:t>
            </a:r>
            <a:r>
              <a:rPr lang="zh-CN" altLang="en-US"/>
              <a:t>也就是余弦学习率调度。</a:t>
            </a:r>
            <a:endParaRPr lang="zh-CN" altLang="en-US"/>
          </a:p>
          <a:p>
            <a:r>
              <a:rPr lang="zh-CN" altLang="en-US"/>
              <a:t>热身结束后，学习率按照一条余弦曲线逐渐降低。大家不需要记住曲线公式，先理解它的用途：随着训练推进，逐步缩小参数更新的步长尺度。</a:t>
            </a:r>
            <a:endParaRPr lang="zh-CN" altLang="en-US"/>
          </a:p>
          <a:p>
            <a:r>
              <a:rPr lang="zh-CN" altLang="en-US"/>
              <a:t>最后是 </a:t>
            </a:r>
            <a:r>
              <a:rPr lang="en-US" altLang="zh-CN"/>
              <a:t>min_lr_ratio=0.1。</a:t>
            </a:r>
            <a:endParaRPr lang="en-US" altLang="zh-CN"/>
          </a:p>
          <a:p>
            <a:r>
              <a:rPr lang="zh-CN" altLang="en-US"/>
              <a:t>它表示余弦衰减终点的学习率，是基准学习率的十分之一。这里基准学习率是：</a:t>
            </a:r>
            <a:endParaRPr lang="zh-CN" altLang="en-US"/>
          </a:p>
          <a:p>
            <a:r>
              <a:rPr lang="en-US" altLang="zh-CN"/>
              <a:t>1 × 10⁻⁶ = 0.000001</a:t>
            </a:r>
            <a:endParaRPr lang="en-US" altLang="zh-CN"/>
          </a:p>
          <a:p>
            <a:r>
              <a:rPr lang="zh-CN" altLang="en-US"/>
              <a:t>因此，计划末期降到大约：</a:t>
            </a:r>
            <a:endParaRPr lang="zh-CN" altLang="en-US"/>
          </a:p>
          <a:p>
            <a:r>
              <a:rPr lang="en-US" altLang="zh-CN"/>
              <a:t>1 × 10⁻⁶ × 0.1 = 1 × 10⁻⁷</a:t>
            </a:r>
            <a:endParaRPr lang="en-US" altLang="zh-CN"/>
          </a:p>
          <a:p>
            <a:r>
              <a:rPr lang="zh-CN" altLang="en-US"/>
              <a:t>也就是 0.0000001。热身初期的学习率还可能更低，所以这里说的是衰减终点的比例。</a:t>
            </a:r>
            <a:r>
              <a:rPr lang="en-US" altLang="zh-CN"/>
              <a:t>verl </a:t>
            </a:r>
            <a:r>
              <a:rPr lang="zh-CN" altLang="en-US"/>
              <a:t>学习率配置说明</a:t>
            </a:r>
            <a:endParaRPr lang="zh-CN" altLang="en-US"/>
          </a:p>
          <a:p>
            <a:r>
              <a:rPr lang="zh-CN" altLang="en-US"/>
              <a:t>这三个设置也必须在 </a:t>
            </a:r>
            <a:r>
              <a:rPr lang="en-US" altLang="zh-CN"/>
              <a:t>A、B、C </a:t>
            </a:r>
            <a:r>
              <a:rPr lang="zh-CN" altLang="en-US"/>
              <a:t>中保持一致，包括预定的总训练步数。如果把总预算从 75 步改成 30 步，余弦曲线就会提前走到终点，相同步数对应的学习率也会改变。</a:t>
            </a:r>
            <a:endParaRPr lang="zh-CN" altLang="en-US"/>
          </a:p>
          <a:p>
            <a:r>
              <a:rPr lang="zh-CN" altLang="en-US"/>
              <a:t>接下来，三组跑完以后看什么？</a:t>
            </a:r>
            <a:endParaRPr lang="zh-CN" altLang="en-US"/>
          </a:p>
          <a:p>
            <a:r>
              <a:rPr lang="zh-CN" altLang="en-US"/>
              <a:t>页面上列出了四类信息：</a:t>
            </a:r>
            <a:r>
              <a:rPr lang="en-US" altLang="zh-CN"/>
              <a:t>entropy、KL、</a:t>
            </a:r>
            <a:r>
              <a:rPr lang="zh-CN" altLang="en-US"/>
              <a:t>验证 </a:t>
            </a:r>
            <a:r>
              <a:rPr lang="en-US" altLang="zh-CN"/>
              <a:t>correct </a:t>
            </a:r>
            <a:r>
              <a:rPr lang="zh-CN" altLang="en-US"/>
              <a:t>和输出长度。同时，我们还要抽查实际游戏轨迹。</a:t>
            </a:r>
            <a:endParaRPr lang="zh-CN" altLang="en-US"/>
          </a:p>
          <a:p>
            <a:r>
              <a:rPr lang="zh-CN" altLang="en-US"/>
              <a:t>先看第一种情况：熵加速上升，但验证猜中率没有改善。</a:t>
            </a:r>
            <a:endParaRPr lang="zh-CN" altLang="en-US"/>
          </a:p>
          <a:p>
            <a:r>
              <a:rPr lang="zh-CN" altLang="en-US"/>
              <a:t>这提示我们，模型的输出越来越分散，却没有获得相应的任务收益。熵奖励的相对作用可能过强。</a:t>
            </a:r>
            <a:endParaRPr lang="zh-CN" altLang="en-US"/>
          </a:p>
          <a:p>
            <a:r>
              <a:rPr lang="zh-CN" altLang="en-US"/>
              <a:t>这时，可以尝试小幅降低熵系数，例如从 0.005 调到 0.004，保持其他条件不变，从同一个模型起点重新比较。</a:t>
            </a:r>
            <a:endParaRPr lang="zh-CN" altLang="en-US"/>
          </a:p>
          <a:p>
            <a:r>
              <a:rPr lang="zh-CN" altLang="en-US"/>
              <a:t>我们希望看到的是：输出分布不再过度扩散，同时猜中率和实际回复质量有所改善。</a:t>
            </a:r>
            <a:endParaRPr lang="zh-CN" altLang="en-US"/>
          </a:p>
          <a:p>
            <a:r>
              <a:rPr lang="zh-CN" altLang="en-US"/>
              <a:t>第二种情况：熵快速下降，而且任务表现也在恶化。</a:t>
            </a:r>
            <a:endParaRPr lang="zh-CN" altLang="en-US"/>
          </a:p>
          <a:p>
            <a:r>
              <a:rPr lang="zh-CN" altLang="en-US"/>
              <a:t>这可能说明模型正在过早集中到一些无效行为，但不能仅凭熵下降，就认定原因一定是熵系数太小。</a:t>
            </a:r>
            <a:endParaRPr lang="zh-CN" altLang="en-US"/>
          </a:p>
          <a:p>
            <a:r>
              <a:rPr lang="zh-CN" altLang="en-US"/>
              <a:t>还需要检查：</a:t>
            </a:r>
            <a:r>
              <a:rPr lang="en-US" altLang="zh-CN"/>
              <a:t>KL </a:t>
            </a:r>
            <a:r>
              <a:rPr lang="zh-CN" altLang="en-US"/>
              <a:t>有没有快速增加？梯度是否异常？实际输出是不是反复使用同一种无效猜测？</a:t>
            </a:r>
            <a:endParaRPr lang="zh-CN" altLang="en-US"/>
          </a:p>
          <a:p>
            <a:r>
              <a:rPr lang="zh-CN" altLang="en-US"/>
              <a:t>因此，这里写的是“先检查 </a:t>
            </a:r>
            <a:r>
              <a:rPr lang="en-US" altLang="zh-CN"/>
              <a:t>LR / KL，</a:t>
            </a:r>
            <a:r>
              <a:rPr lang="zh-CN" altLang="en-US"/>
              <a:t>再调熵系数”。检查其他指标，是为了理解原因；如果决定调整另一个参数，就另做一轮控制变量实验，避免同时修改多项。</a:t>
            </a:r>
            <a:endParaRPr lang="zh-CN" altLang="en-US"/>
          </a:p>
          <a:p>
            <a:r>
              <a:rPr lang="zh-CN" altLang="en-US"/>
              <a:t>第三种情况是：验证猜中率改善、</a:t>
            </a:r>
            <a:r>
              <a:rPr lang="en-US" altLang="zh-CN"/>
              <a:t>KL </a:t>
            </a:r>
            <a:r>
              <a:rPr lang="zh-CN" altLang="en-US"/>
              <a:t>没有异常扩大、输出也保持有效。</a:t>
            </a:r>
            <a:endParaRPr lang="zh-CN" altLang="en-US"/>
          </a:p>
          <a:p>
            <a:r>
              <a:rPr lang="zh-CN" altLang="en-US"/>
              <a:t>这说明当前设置值得继续观察，可以进入更长的训练，再根据后续验证结果选择 </a:t>
            </a:r>
            <a:r>
              <a:rPr lang="en-US" altLang="zh-CN"/>
              <a:t>checkpoint。</a:t>
            </a:r>
            <a:endParaRPr lang="en-US" altLang="zh-CN"/>
          </a:p>
          <a:p>
            <a:r>
              <a:rPr lang="zh-CN" altLang="en-US"/>
              <a:t>最后看底部红字：</a:t>
            </a:r>
            <a:endParaRPr lang="zh-CN" altLang="en-US"/>
          </a:p>
          <a:p>
            <a:r>
              <a:rPr lang="zh-CN" altLang="en-US"/>
              <a:t>验证 </a:t>
            </a:r>
            <a:r>
              <a:rPr lang="en-US" altLang="zh-CN"/>
              <a:t>correct </a:t>
            </a:r>
            <a:r>
              <a:rPr lang="zh-CN" altLang="en-US"/>
              <a:t>与输出质量，共同决定是否继续训练。</a:t>
            </a:r>
            <a:endParaRPr lang="zh-CN" altLang="en-US"/>
          </a:p>
          <a:p>
            <a:r>
              <a:rPr lang="zh-CN" altLang="en-US"/>
              <a:t>我们既看模型成功了多少次，也看它是怎样玩的：有没有利用反馈、有没有重复无效猜词、有没有产生冗长却没有帮助的内容。</a:t>
            </a:r>
            <a:endParaRPr lang="zh-CN" altLang="en-US"/>
          </a:p>
          <a:p>
            <a:r>
              <a:rPr lang="zh-CN" altLang="en-US"/>
              <a:t>实验结束后，可以留下这样一条记录：“这次固定了哪些条件，只改了什么参数，在相同步数观察到了什么变化，因此决定继续训练、复测，还是检查其他原因。”</a:t>
            </a:r>
            <a:endParaRPr lang="zh-CN" altLang="en-US"/>
          </a:p>
          <a:p>
            <a:r>
              <a:rPr lang="zh-CN" altLang="en-US"/>
              <a:t>下一页，我们就用一个具体的异常训练案例，练习怎样把这些证据联系起来。</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“先解释一下 </a:t>
            </a:r>
            <a:r>
              <a:rPr lang="en-US" altLang="zh-CN"/>
              <a:t>run，</a:t>
            </a:r>
            <a:r>
              <a:rPr lang="zh-CN" altLang="en-US"/>
              <a:t>它就是一次完整的训练实验。这张表比较的是同一次实验在第 75、100 和 150 步的表现，和前面猜中率达到 55% 的参考实验不是同一次。</a:t>
            </a:r>
            <a:endParaRPr lang="zh-CN" altLang="en-US"/>
          </a:p>
          <a:p>
            <a:r>
              <a:rPr lang="zh-CN" altLang="en-US"/>
              <a:t>第 75 步时，验证猜中率还有 45%，说明模型能够完成一部分任务。但到了第 100 步，猜中率降到了 0%，熵接近零，回复长度从 1650 增加到 3232。到了第 150 步，这些指标也没有恢复。</a:t>
            </a:r>
            <a:endParaRPr lang="zh-CN" altLang="en-US"/>
          </a:p>
          <a:p>
            <a:r>
              <a:rPr lang="zh-CN" altLang="en-US"/>
              <a:t>这说明什么？模型生成的内容更多了，但猜词表现反而变差了。 熵接近零还提示我们，它可能越来越倾向于重复固定的输出，需要打开实际回答确认。</a:t>
            </a:r>
            <a:endParaRPr lang="zh-CN" altLang="en-US"/>
          </a:p>
          <a:p>
            <a:r>
              <a:rPr lang="zh-CN" altLang="en-US"/>
              <a:t>接着看总奖励：为什么猜中率已经是零，还有 0.20 分？</a:t>
            </a:r>
            <a:endParaRPr lang="zh-CN" altLang="en-US"/>
          </a:p>
          <a:p>
            <a:r>
              <a:rPr lang="zh-CN" altLang="en-US"/>
              <a:t>因为奖励不只看有没有猜中，还包含部分匹配和格式等分项。如果检查后发现，其他三项都是零，只有 </a:t>
            </a:r>
            <a:r>
              <a:rPr lang="en-US" altLang="zh-CN"/>
              <a:t>format </a:t>
            </a:r>
            <a:r>
              <a:rPr lang="zh-CN" altLang="en-US"/>
              <a:t>等于 1，那么：</a:t>
            </a:r>
            <a:endParaRPr lang="zh-CN" altLang="en-US"/>
          </a:p>
          <a:p>
            <a:r>
              <a:rPr lang="zh-CN" altLang="en-US"/>
              <a:t>总奖励 = 0 + 0 + 0 + 0.2 × 1 = 0.20</a:t>
            </a:r>
            <a:endParaRPr lang="zh-CN" altLang="en-US"/>
          </a:p>
          <a:p>
            <a:r>
              <a:rPr lang="zh-CN" altLang="en-US"/>
              <a:t>这时，模型拿到的就全部是格式分。但不能只凭总分，就认定它在输出空标签。我们还要看奖励分项，以及模型实际生成了什么。</a:t>
            </a:r>
            <a:endParaRPr lang="zh-CN" altLang="en-US"/>
          </a:p>
          <a:p>
            <a:r>
              <a:rPr lang="zh-CN" altLang="en-US"/>
              <a:t>同样，3232 只是这里记录到的回复长度，不是判断异常的统一标准。 真正需要关注的是：回复为什么明显变长，这些内容有没有帮助完成任务？</a:t>
            </a:r>
            <a:endParaRPr lang="zh-CN" altLang="en-US"/>
          </a:p>
          <a:p>
            <a:r>
              <a:rPr lang="zh-CN" altLang="en-US"/>
              <a:t>所以，接下来打开 </a:t>
            </a:r>
            <a:r>
              <a:rPr lang="en-US" altLang="zh-CN"/>
              <a:t>TensorBoard </a:t>
            </a:r>
            <a:r>
              <a:rPr lang="zh-CN" altLang="en-US"/>
              <a:t>的 </a:t>
            </a:r>
            <a:r>
              <a:rPr lang="en-US" altLang="zh-CN"/>
              <a:t>TEXT </a:t>
            </a:r>
            <a:r>
              <a:rPr lang="zh-CN" altLang="en-US"/>
              <a:t>页面，对比异常前后的几条完整游戏过程：有没有重复猜同一个词？有没有忽略颜色反馈？有没有格式错误或大量无效内容？同时检查 </a:t>
            </a:r>
            <a:r>
              <a:rPr lang="en-US" altLang="zh-CN"/>
              <a:t>KL </a:t>
            </a:r>
            <a:r>
              <a:rPr lang="zh-CN" altLang="en-US"/>
              <a:t>和梯度范数，帮助定位异常。</a:t>
            </a:r>
            <a:endParaRPr lang="zh-CN" altLang="en-US"/>
          </a:p>
          <a:p>
            <a:r>
              <a:rPr lang="zh-CN" altLang="en-US"/>
              <a:t>这一页希望大家学会的是：把验证猜中率、熵、长度和奖励分项放在一起看，再用实际输出确认问题。 下一页，我们再根据具体问题选择修复方法。”</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第一种：猜词越来越固定，熵接近零。</a:t>
            </a:r>
            <a:endParaRPr lang="zh-CN" altLang="en-US"/>
          </a:p>
          <a:p>
            <a:r>
              <a:rPr lang="zh-CN" altLang="en-US"/>
              <a:t>比如，收到不同反馈后，模型仍反复猜同一个词，猜中率也在下降。注意，固定开局词不一定有问题，关键是后续有没有利用反馈。</a:t>
            </a:r>
            <a:endParaRPr lang="zh-CN" altLang="en-US"/>
          </a:p>
          <a:p>
            <a:r>
              <a:rPr lang="zh-CN" altLang="en-US"/>
              <a:t>如果确认出现退化，可以回到之前表现较好的 </a:t>
            </a:r>
            <a:r>
              <a:rPr lang="en-US" altLang="zh-CN"/>
              <a:t>checkpoint，</a:t>
            </a:r>
            <a:r>
              <a:rPr lang="zh-CN" altLang="en-US"/>
              <a:t>也就是保存的训练状态，再小幅调整熵系数、</a:t>
            </a:r>
            <a:r>
              <a:rPr lang="en-US" altLang="zh-CN"/>
              <a:t>KL </a:t>
            </a:r>
            <a:r>
              <a:rPr lang="zh-CN" altLang="en-US"/>
              <a:t>系数或学习率。每次只改一项。 调整后，要看猜中率和实际回答是否改善，不能只看熵有没有升高。</a:t>
            </a:r>
            <a:endParaRPr lang="zh-CN" altLang="en-US"/>
          </a:p>
          <a:p>
            <a:r>
              <a:rPr lang="zh-CN" altLang="en-US"/>
              <a:t>第二种：输出无效内容，却仍然拿到了奖励。</a:t>
            </a:r>
            <a:endParaRPr lang="zh-CN" altLang="en-US"/>
          </a:p>
          <a:p>
            <a:r>
              <a:rPr lang="zh-CN" altLang="en-US"/>
              <a:t>比如空标签或数字也能得到格式分。这时先检查实际使用的奖励函数，确认它是不是允许无效回答得分。</a:t>
            </a:r>
            <a:endParaRPr lang="zh-CN" altLang="en-US"/>
          </a:p>
          <a:p>
            <a:r>
              <a:rPr lang="zh-CN" altLang="en-US"/>
              <a:t>可以提高格式得分的门槛，也可以调整格式奖励的权重。两者有区别：提高门槛，是让无效回答不得分；降低权重，只是让它少得一些分。先确认漏洞在哪里，再选择修改方式。</a:t>
            </a:r>
            <a:endParaRPr lang="zh-CN" altLang="en-US"/>
          </a:p>
          <a:p>
            <a:r>
              <a:rPr lang="zh-CN" altLang="en-US"/>
              <a:t>第三种：缺少标签、标签未闭合，格式分一直是零。</a:t>
            </a:r>
            <a:endParaRPr lang="zh-CN" altLang="en-US"/>
          </a:p>
          <a:p>
            <a:r>
              <a:rPr lang="zh-CN" altLang="en-US"/>
              <a:t>这时要检查四处是否一致：任务说明、对话模板、</a:t>
            </a:r>
            <a:r>
              <a:rPr lang="en-US" altLang="zh-CN"/>
              <a:t>SFT </a:t>
            </a:r>
            <a:r>
              <a:rPr lang="zh-CN" altLang="en-US"/>
              <a:t>示范和解析规则。对话模板，就是把不同角色的消息整理成模型熟悉的输入格式。</a:t>
            </a:r>
            <a:endParaRPr lang="zh-CN" altLang="en-US"/>
          </a:p>
          <a:p>
            <a:r>
              <a:rPr lang="zh-CN" altLang="en-US"/>
              <a:t>例如，程序要求 &lt;</a:t>
            </a:r>
            <a:r>
              <a:rPr lang="en-US" altLang="zh-CN"/>
              <a:t>guess&gt;[crane]&lt;/guess&gt;，</a:t>
            </a:r>
            <a:r>
              <a:rPr lang="zh-CN" altLang="en-US"/>
              <a:t>模型却输出 &lt;</a:t>
            </a:r>
            <a:r>
              <a:rPr lang="en-US" altLang="zh-CN"/>
              <a:t>guess&gt;crane&lt;/guess&gt;，</a:t>
            </a:r>
            <a:r>
              <a:rPr lang="zh-CN" altLang="en-US"/>
              <a:t>就可能无法识别。先统一格式，再用几条正确、错误的样例检查判分。标签没有闭合时，还要确认回答是否被长度限制截断。</a:t>
            </a:r>
            <a:endParaRPr lang="zh-CN" altLang="en-US"/>
          </a:p>
          <a:p>
            <a:r>
              <a:rPr lang="zh-CN" altLang="en-US"/>
              <a:t>第四种：格式和交互正常，但一直猜不中。</a:t>
            </a:r>
            <a:endParaRPr lang="zh-CN" altLang="en-US"/>
          </a:p>
          <a:p>
            <a:r>
              <a:rPr lang="zh-CN" altLang="en-US"/>
              <a:t>先检查环境反馈是否正确，反馈有没有传给下一轮。如果模型收到的提示本身就是错的，延长训练也解决不了问题。</a:t>
            </a:r>
            <a:endParaRPr lang="zh-CN" altLang="en-US"/>
          </a:p>
          <a:p>
            <a:r>
              <a:rPr lang="zh-CN" altLang="en-US"/>
              <a:t>确认流程正常后，再检查数据是否合适，以及起点模型是否理解规则、能够根据反馈调整猜测，然后做短程实验。</a:t>
            </a:r>
            <a:endParaRPr lang="zh-CN" altLang="en-US"/>
          </a:p>
          <a:p>
            <a:r>
              <a:rPr lang="zh-CN" altLang="en-US"/>
              <a:t>最后注意：修改奖励规则后，不能直接比较修改前后的总 </a:t>
            </a:r>
            <a:r>
              <a:rPr lang="en-US" altLang="zh-CN"/>
              <a:t>reward。 </a:t>
            </a:r>
            <a:r>
              <a:rPr lang="zh-CN" altLang="en-US"/>
              <a:t>同样的回答，原来可能得 1.7 分，降低格式权重后就变成 1.6 分，但模型的行为并没有变化。</a:t>
            </a:r>
            <a:endParaRPr lang="zh-CN" altLang="en-US"/>
          </a:p>
          <a:p>
            <a:r>
              <a:rPr lang="zh-CN" altLang="en-US"/>
              <a:t>因此，判断修改有没有效果，主要看同样评测条件下的验证猜中率和实际游戏过程。每次只改一项，先跑 25～30 步，观察几次验证结果，再决定是否继续训练。”</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rPr lang="zh-CN" altLang="en-US"/>
              <a:t>这一页的答案依次是：正确、错误、</a:t>
            </a:r>
            <a:r>
              <a:rPr lang="en-US" altLang="zh-CN"/>
              <a:t>C、B。 </a:t>
            </a:r>
            <a:r>
              <a:rPr lang="zh-CN" altLang="en-US"/>
              <a:t>我们重点看判断依据。</a:t>
            </a:r>
            <a:endParaRPr lang="zh-CN" altLang="en-US"/>
          </a:p>
          <a:p>
            <a:r>
              <a:rPr lang="zh-CN" altLang="en-US"/>
              <a:t>第一题：正确。</a:t>
            </a:r>
            <a:endParaRPr lang="zh-CN" altLang="en-US"/>
          </a:p>
          <a:p>
            <a:r>
              <a:rPr lang="zh-CN" altLang="en-US"/>
              <a:t>熵系数需要通过实验调整。先固定其他条件，短跑 25～30 步，结合熵、验证猜中率和实际输出判断。熵下降不一定是坏事，关键是任务表现有没有改善。</a:t>
            </a:r>
            <a:endParaRPr lang="zh-CN" altLang="en-US"/>
          </a:p>
          <a:p>
            <a:r>
              <a:rPr lang="zh-CN" altLang="en-US"/>
              <a:t>第二题：错误。</a:t>
            </a:r>
            <a:endParaRPr lang="zh-CN" altLang="en-US"/>
          </a:p>
          <a:p>
            <a:r>
              <a:rPr lang="zh-CN" altLang="en-US"/>
              <a:t>总奖励上升，不代表猜词能力提高。例如，模型只是格式更规范，也可能多拿奖励。因此，还要结合验证猜中率、奖励分项和实际回答判断。</a:t>
            </a:r>
            <a:endParaRPr lang="zh-CN" altLang="en-US"/>
          </a:p>
          <a:p>
            <a:r>
              <a:rPr lang="zh-CN" altLang="en-US"/>
              <a:t>第三题：选 </a:t>
            </a:r>
            <a:r>
              <a:rPr lang="en-US" altLang="zh-CN"/>
              <a:t>C。</a:t>
            </a:r>
            <a:endParaRPr lang="en-US" altLang="zh-CN"/>
          </a:p>
          <a:p>
            <a:r>
              <a:rPr lang="zh-CN" altLang="en-US"/>
              <a:t>其他分项都是零，只有格式项贡献：</a:t>
            </a:r>
            <a:endParaRPr lang="zh-CN" altLang="en-US"/>
          </a:p>
          <a:p>
            <a:r>
              <a:rPr lang="zh-CN" altLang="en-US"/>
              <a:t>总奖励 = 0.2 × 1 = 0.20。</a:t>
            </a:r>
            <a:endParaRPr lang="zh-CN" altLang="en-US"/>
          </a:p>
          <a:p>
            <a:r>
              <a:rPr lang="zh-CN" altLang="en-US"/>
              <a:t>这能说明分数来自格式奖励，但模型具体输出了什么，还需要查看完整游戏过程。</a:t>
            </a:r>
            <a:endParaRPr lang="zh-CN" altLang="en-US"/>
          </a:p>
          <a:p>
            <a:r>
              <a:rPr lang="zh-CN" altLang="en-US"/>
              <a:t>第四题：选 </a:t>
            </a:r>
            <a:r>
              <a:rPr lang="en-US" altLang="zh-CN"/>
              <a:t>B。</a:t>
            </a:r>
            <a:endParaRPr lang="en-US" altLang="zh-CN"/>
          </a:p>
          <a:p>
            <a:r>
              <a:rPr lang="zh-CN" altLang="en-US"/>
              <a:t>多个指标同时恶化时，回到较好的 </a:t>
            </a:r>
            <a:r>
              <a:rPr lang="en-US" altLang="zh-CN"/>
              <a:t>checkpoint，</a:t>
            </a:r>
            <a:r>
              <a:rPr lang="zh-CN" altLang="en-US"/>
              <a:t>固定其他条件，小幅调整一个参数，更方便判断修改是否有效。</a:t>
            </a:r>
            <a:endParaRPr lang="zh-CN" altLang="en-US"/>
          </a:p>
          <a:p>
            <a:r>
              <a:rPr lang="en-US" altLang="zh-CN"/>
              <a:t>A </a:t>
            </a:r>
            <a:r>
              <a:rPr lang="zh-CN" altLang="en-US"/>
              <a:t>同时大幅修改多个参数，难以定位效果；</a:t>
            </a:r>
            <a:r>
              <a:rPr lang="en-US" altLang="zh-CN"/>
              <a:t>C </a:t>
            </a:r>
            <a:r>
              <a:rPr lang="zh-CN" altLang="en-US"/>
              <a:t>忽略了验证表现恶化；</a:t>
            </a:r>
            <a:r>
              <a:rPr lang="en-US" altLang="zh-CN"/>
              <a:t>D </a:t>
            </a:r>
            <a:r>
              <a:rPr lang="zh-CN" altLang="en-US"/>
              <a:t>缺少依据就提高学习率，可能加剧不稳定。</a:t>
            </a:r>
            <a:endParaRPr lang="zh-CN" altLang="en-US"/>
          </a:p>
          <a:p>
            <a:r>
              <a:rPr lang="en-US" altLang="zh-CN"/>
              <a:t>B </a:t>
            </a:r>
            <a:r>
              <a:rPr lang="zh-CN" altLang="en-US"/>
              <a:t>是更合理的处理方法，是否修复成功，还要用后续验证结果确认。”</a:t>
            </a:r>
            <a:endParaRPr lang="zh-CN" altLang="en-US"/>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第 53 页｜课程结束｜复盘、成果与课后实践</a:t>
            </a:r>
          </a:p>
          <a:p>
            <a:r>
              <a:t>建议约 5 分钟（包含互动）。课程累计 260–265 分钟。</a:t>
            </a:r>
          </a:p>
          <a:p/>
          <a:p>
            <a:r>
              <a:t>【00:00–01:00 用一条主线回顾全课】</a:t>
            </a:r>
          </a:p>
          <a:p>
            <a:r>
              <a:t>今天的课程到这里结束，我们用最后五分钟把知识串成一条可以带走的工作流程。预训练让模型从大量文本学习预测规律；SFT 用示范对话塑造任务行为与输出协议；RL 通过模型实际尝试、环境反馈和奖励进一步改进策略。三者都可能更新模型参数，但学习信号与数据产生方式不同。请大家用自己的话分别补全三个句子：预训练主要从什么学，SFT 的监督位置在哪里，RL 的优势从哪里来。我们希望带走的不是“哪种方法永远更强”，而是能够根据已有数据、任务反馈和训练目标，解释为什么在这里先做 SFT，再进行 Wordle RL。</a:t>
            </a:r>
          </a:p>
          <a:p/>
          <a:p>
            <a:r>
              <a:t>【01:00–02:00 复盘工程链路与分工】</a:t>
            </a:r>
          </a:p>
          <a:p>
            <a:r>
              <a:t>再从工程角度回看一次。训练数据需要正确的角色与监督边界；TorchTitan 及 NPU 适配帮助组织模型训练和并行；RL 阶段由训练框架连接生成、环境、奖励与更新；验证与日志帮助判断模型行为是否改善。请大家在纸上画四个框：数据、训练、评测、排查，并为每个框写一个最容易出错的点。数据可能泄漏秘密词，训练可能误解 batch 或 mask，评测可能混淆 mean@5 与至少成功一次，排查可能只看 reward。能够指出风险发生在哪个环节，以及用什么证据检查，就已经从记住概念走向了独立完成实验。</a:t>
            </a:r>
          </a:p>
          <a:p/>
          <a:p>
            <a:r>
              <a:t>【02:00–03:00 设置一个完整的课后交付】</a:t>
            </a:r>
          </a:p>
          <a:p>
            <a:r>
              <a:t>课后建议提交一份小而完整的实验记录，不要求用很长训练制造漂亮曲线。第一部分保留模型起点、数据规模、代码提交和关键配置；第二部分提供 SFT 或 RL 的同条件评测结果，写清采样次数与任务集合；第三部分选择一条成功和一条失败轨迹，解释模型是否真正使用了反馈；最后设计或完成一项单变量短程实验，并说明为何继续、回退或调整。请注意，不只提交终端里“训练完成”的一行输出，也不只提交一张截图。让别人能够根据你的记录知道做了什么、如何评价、哪里还不确定，这才是可复查的课程成果。</a:t>
            </a:r>
          </a:p>
          <a:p/>
          <a:p>
            <a:r>
              <a:t>【03:00–04:00 用迁移情景检验是否真正理解】</a:t>
            </a:r>
          </a:p>
          <a:p>
            <a:r>
              <a:t>现在换一个小场景：如果把 Wordle 换成模型调用计算器完成多步算术任务，哪些方法可以直接迁移？请大家思考二十秒，再请两位同学回答。可以迁移的是多轮 AgentLoop、模型动作与工具反馈的来源区分、奖励与验证的拆分，以及单变量排查方法；需要重新设计的是工具协议、环境终止条件和任务奖励。工具返回的计算结果类似 Wordle 的颜色反馈，它应进入后续上下文，但不是模型自己生成的动作。通过这个类比，我们看到本课并不只是训练一个猜词模型，而是在练习怎样搭建并验证一个有反馈的学习过程。</a:t>
            </a:r>
          </a:p>
          <a:p/>
          <a:p>
            <a:r>
              <a:t>【04:00–05:00 给出资料路径与收束问题】</a:t>
            </a:r>
          </a:p>
          <a:p>
            <a:r>
              <a:t>页面上的课程地址和社区入口可以用于继续学习与交流。请先保存与课堂匹配的 Notebook、训练配置和代码版本，再根据更新说明尝试新版实现；尤其是奖励规则和运行依赖，不能只看仓库最新文件就假定与历史实验完全一致。最后请每个人写下一句：我现在能够独立完成的一个步骤是什么，还需要验证的一个问题是什么。可以是算清有效 batch，也可以是解释一条 rollout 的奖励，或者设计一次排障对照。带着这个具体问题去做课后实践，比从头再背一遍全部概念更有效。感谢大家，我们接下来可以围绕配置、轨迹或验证结果讨论尚未解决的问题。</a:t>
            </a:r>
          </a:p>
          <a:p/>
          <a:p>
            <a:r>
              <a:t>最后一页以课程复盘、迁移练习和课后交付展开约五分钟，不把社区宣传语逐句翻译或作为技术结论。</a:t>
            </a:r>
          </a:p>
          <a:p>
            <a:r>
              <a:t>所有课后训练成果均是建议交付，不暗示本次讲稿修订实际运行过训练。</a:t>
            </a:r>
          </a:p>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atin typeface="Times New Roman" panose="02020503050405090304"/>
                <a:ea typeface="微软雅黑"/>
                <a:cs typeface="Times New Roman" panose="02020503050405090304"/>
              </a:defRPr>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atin typeface="Times New Roman" panose="02020503050405090304"/>
                <a:ea typeface="微软雅黑"/>
                <a:cs typeface="Times New Roman" panose="02020503050405090304"/>
              </a:defRPr>
            </a:lvl1pPr>
            <a:lvl2pPr marL="457200" indent="0" algn="ctr">
              <a:buNone/>
              <a:defRPr sz="2000">
                <a:latin typeface="Times New Roman" panose="02020503050405090304"/>
                <a:ea typeface="微软雅黑"/>
                <a:cs typeface="Times New Roman" panose="02020503050405090304"/>
              </a:defRPr>
            </a:lvl2pPr>
            <a:lvl3pPr marL="914400" indent="0" algn="ctr">
              <a:buNone/>
              <a:defRPr sz="1800">
                <a:latin typeface="Times New Roman" panose="02020503050405090304"/>
                <a:ea typeface="微软雅黑"/>
                <a:cs typeface="Times New Roman" panose="02020503050405090304"/>
              </a:defRPr>
            </a:lvl3pPr>
            <a:lvl4pPr marL="1371600" indent="0" algn="ctr">
              <a:buNone/>
              <a:defRPr sz="1600">
                <a:latin typeface="Times New Roman" panose="02020503050405090304"/>
                <a:ea typeface="微软雅黑"/>
                <a:cs typeface="Times New Roman" panose="02020503050405090304"/>
              </a:defRPr>
            </a:lvl4pPr>
            <a:lvl5pPr marL="1828800" indent="0" algn="ctr">
              <a:buNone/>
              <a:defRPr sz="1600">
                <a:latin typeface="Times New Roman" panose="02020503050405090304"/>
                <a:ea typeface="微软雅黑"/>
                <a:cs typeface="Times New Roman" panose="02020503050405090304"/>
              </a:defRPr>
            </a:lvl5pPr>
            <a:lvl6pPr marL="2286000" indent="0" algn="ctr">
              <a:buNone/>
              <a:defRPr sz="1600">
                <a:latin typeface="Times New Roman" panose="02020503050405090304"/>
                <a:ea typeface="微软雅黑"/>
                <a:cs typeface="Times New Roman" panose="02020503050405090304"/>
              </a:defRPr>
            </a:lvl6pPr>
            <a:lvl7pPr marL="2743200" indent="0" algn="ctr">
              <a:buNone/>
              <a:defRPr sz="1600">
                <a:latin typeface="Times New Roman" panose="02020503050405090304"/>
                <a:ea typeface="微软雅黑"/>
                <a:cs typeface="Times New Roman" panose="02020503050405090304"/>
              </a:defRPr>
            </a:lvl7pPr>
            <a:lvl8pPr marL="3200400" indent="0" algn="ctr">
              <a:buNone/>
              <a:defRPr sz="1600">
                <a:latin typeface="Times New Roman" panose="02020503050405090304"/>
                <a:ea typeface="微软雅黑"/>
                <a:cs typeface="Times New Roman" panose="02020503050405090304"/>
              </a:defRPr>
            </a:lvl8pPr>
            <a:lvl9pPr marL="3657600" indent="0" algn="ctr">
              <a:buNone/>
              <a:defRPr sz="1600">
                <a:latin typeface="Times New Roman" panose="02020503050405090304"/>
                <a:ea typeface="微软雅黑"/>
                <a:cs typeface="Times New Roman" panose="02020503050405090304"/>
              </a:defRPr>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831850" y="1709738"/>
            <a:ext cx="10515600" cy="2852737"/>
          </a:xfrm>
        </p:spPr>
        <p:txBody>
          <a:bodyPr anchor="b"/>
          <a:lstStyle>
            <a:lvl1pPr>
              <a:buNone/>
              <a:defRPr sz="6000">
                <a:latin typeface="Times New Roman" panose="02020503050405090304"/>
                <a:ea typeface="微软雅黑"/>
                <a:cs typeface="Times New Roman" panose="02020503050405090304"/>
              </a:defRPr>
            </a:lvl1pPr>
          </a:lstStyle>
          <a:p>
            <a:r>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Times New Roman" panose="02020503050405090304"/>
                <a:ea typeface="微软雅黑"/>
                <a:cs typeface="Times New Roman" panose="02020503050405090304"/>
              </a:defRPr>
            </a:lvl1pPr>
            <a:lvl2pPr marL="457200" indent="0">
              <a:buNone/>
              <a:defRPr sz="2000">
                <a:solidFill>
                  <a:schemeClr val="tx1">
                    <a:tint val="75000"/>
                  </a:schemeClr>
                </a:solidFill>
                <a:latin typeface="Times New Roman" panose="02020503050405090304"/>
                <a:ea typeface="微软雅黑"/>
                <a:cs typeface="Times New Roman" panose="02020503050405090304"/>
              </a:defRPr>
            </a:lvl2pPr>
            <a:lvl3pPr marL="914400" indent="0">
              <a:buNone/>
              <a:defRPr sz="1800">
                <a:solidFill>
                  <a:schemeClr val="tx1">
                    <a:tint val="75000"/>
                  </a:schemeClr>
                </a:solidFill>
                <a:latin typeface="Times New Roman" panose="02020503050405090304"/>
                <a:ea typeface="微软雅黑"/>
                <a:cs typeface="Times New Roman" panose="02020503050405090304"/>
              </a:defRPr>
            </a:lvl3pPr>
            <a:lvl4pPr marL="1371600" indent="0">
              <a:buNone/>
              <a:defRPr sz="1600">
                <a:solidFill>
                  <a:schemeClr val="tx1">
                    <a:tint val="75000"/>
                  </a:schemeClr>
                </a:solidFill>
                <a:latin typeface="Times New Roman" panose="02020503050405090304"/>
                <a:ea typeface="微软雅黑"/>
                <a:cs typeface="Times New Roman" panose="02020503050405090304"/>
              </a:defRPr>
            </a:lvl4pPr>
            <a:lvl5pPr marL="1828800" indent="0">
              <a:buNone/>
              <a:defRPr sz="1600">
                <a:solidFill>
                  <a:schemeClr val="tx1">
                    <a:tint val="75000"/>
                  </a:schemeClr>
                </a:solidFill>
                <a:latin typeface="Times New Roman" panose="02020503050405090304"/>
                <a:ea typeface="微软雅黑"/>
                <a:cs typeface="Times New Roman" panose="02020503050405090304"/>
              </a:defRPr>
            </a:lvl5pPr>
            <a:lvl6pPr marL="2286000" indent="0">
              <a:buNone/>
              <a:defRPr sz="1600">
                <a:solidFill>
                  <a:schemeClr val="tx1">
                    <a:tint val="75000"/>
                  </a:schemeClr>
                </a:solidFill>
                <a:latin typeface="Times New Roman" panose="02020503050405090304"/>
                <a:ea typeface="微软雅黑"/>
                <a:cs typeface="Times New Roman" panose="02020503050405090304"/>
              </a:defRPr>
            </a:lvl6pPr>
            <a:lvl7pPr marL="2743200" indent="0">
              <a:buNone/>
              <a:defRPr sz="1600">
                <a:solidFill>
                  <a:schemeClr val="tx1">
                    <a:tint val="75000"/>
                  </a:schemeClr>
                </a:solidFill>
                <a:latin typeface="Times New Roman" panose="02020503050405090304"/>
                <a:ea typeface="微软雅黑"/>
                <a:cs typeface="Times New Roman" panose="02020503050405090304"/>
              </a:defRPr>
            </a:lvl7pPr>
            <a:lvl8pPr marL="3200400" indent="0">
              <a:buNone/>
              <a:defRPr sz="1600">
                <a:solidFill>
                  <a:schemeClr val="tx1">
                    <a:tint val="75000"/>
                  </a:schemeClr>
                </a:solidFill>
                <a:latin typeface="Times New Roman" panose="02020503050405090304"/>
                <a:ea typeface="微软雅黑"/>
                <a:cs typeface="Times New Roman" panose="02020503050405090304"/>
              </a:defRPr>
            </a:lvl8pPr>
            <a:lvl9pPr marL="3657600" indent="0">
              <a:buNone/>
              <a:defRPr sz="1600">
                <a:solidFill>
                  <a:schemeClr val="tx1">
                    <a:tint val="75000"/>
                  </a:schemeClr>
                </a:solidFill>
                <a:latin typeface="Times New Roman" panose="02020503050405090304"/>
                <a:ea typeface="微软雅黑"/>
                <a:cs typeface="Times New Roman" panose="02020503050405090304"/>
              </a:defRPr>
            </a:lvl9pPr>
          </a:lstStyle>
          <a:p>
            <a:pPr>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内容占位符 3"/>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atin typeface="Times New Roman" panose="02020503050405090304"/>
                <a:ea typeface="微软雅黑"/>
                <a:cs typeface="Times New Roman" panose="02020503050405090304"/>
              </a:defRPr>
            </a:lvl1pPr>
            <a:lvl2pPr marL="457200" indent="0">
              <a:buNone/>
              <a:defRPr sz="2000" b="1">
                <a:latin typeface="Times New Roman" panose="02020503050405090304"/>
                <a:ea typeface="微软雅黑"/>
                <a:cs typeface="Times New Roman" panose="02020503050405090304"/>
              </a:defRPr>
            </a:lvl2pPr>
            <a:lvl3pPr marL="914400" indent="0">
              <a:buNone/>
              <a:defRPr sz="1800" b="1">
                <a:latin typeface="Times New Roman" panose="02020503050405090304"/>
                <a:ea typeface="微软雅黑"/>
                <a:cs typeface="Times New Roman" panose="02020503050405090304"/>
              </a:defRPr>
            </a:lvl3pPr>
            <a:lvl4pPr marL="1371600" indent="0">
              <a:buNone/>
              <a:defRPr sz="1600" b="1">
                <a:latin typeface="Times New Roman" panose="02020503050405090304"/>
                <a:ea typeface="微软雅黑"/>
                <a:cs typeface="Times New Roman" panose="02020503050405090304"/>
              </a:defRPr>
            </a:lvl4pPr>
            <a:lvl5pPr marL="1828800" indent="0">
              <a:buNone/>
              <a:defRPr sz="1600" b="1">
                <a:latin typeface="Times New Roman" panose="02020503050405090304"/>
                <a:ea typeface="微软雅黑"/>
                <a:cs typeface="Times New Roman" panose="02020503050405090304"/>
              </a:defRPr>
            </a:lvl5pPr>
            <a:lvl6pPr marL="2286000" indent="0">
              <a:buNone/>
              <a:defRPr sz="1600" b="1">
                <a:latin typeface="Times New Roman" panose="02020503050405090304"/>
                <a:ea typeface="微软雅黑"/>
                <a:cs typeface="Times New Roman" panose="02020503050405090304"/>
              </a:defRPr>
            </a:lvl6pPr>
            <a:lvl7pPr marL="2743200" indent="0">
              <a:buNone/>
              <a:defRPr sz="1600" b="1">
                <a:latin typeface="Times New Roman" panose="02020503050405090304"/>
                <a:ea typeface="微软雅黑"/>
                <a:cs typeface="Times New Roman" panose="02020503050405090304"/>
              </a:defRPr>
            </a:lvl7pPr>
            <a:lvl8pPr marL="3200400" indent="0">
              <a:buNone/>
              <a:defRPr sz="1600" b="1">
                <a:latin typeface="Times New Roman" panose="02020503050405090304"/>
                <a:ea typeface="微软雅黑"/>
                <a:cs typeface="Times New Roman" panose="02020503050405090304"/>
              </a:defRPr>
            </a:lvl8pPr>
            <a:lvl9pPr marL="3657600" indent="0">
              <a:buNone/>
              <a:defRPr sz="1600" b="1">
                <a:latin typeface="Times New Roman" panose="02020503050405090304"/>
                <a:ea typeface="微软雅黑"/>
                <a:cs typeface="Times New Roman" panose="02020503050405090304"/>
              </a:defRPr>
            </a:lvl9pPr>
          </a:lstStyle>
          <a:p>
            <a:pPr>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atin typeface="Times New Roman" panose="02020503050405090304"/>
                <a:ea typeface="微软雅黑"/>
                <a:cs typeface="Times New Roman" panose="02020503050405090304"/>
              </a:defRPr>
            </a:lvl1pPr>
            <a:lvl2pPr marL="457200" indent="0">
              <a:buNone/>
              <a:defRPr sz="2000" b="1">
                <a:latin typeface="Times New Roman" panose="02020503050405090304"/>
                <a:ea typeface="微软雅黑"/>
                <a:cs typeface="Times New Roman" panose="02020503050405090304"/>
              </a:defRPr>
            </a:lvl2pPr>
            <a:lvl3pPr marL="914400" indent="0">
              <a:buNone/>
              <a:defRPr sz="1800" b="1">
                <a:latin typeface="Times New Roman" panose="02020503050405090304"/>
                <a:ea typeface="微软雅黑"/>
                <a:cs typeface="Times New Roman" panose="02020503050405090304"/>
              </a:defRPr>
            </a:lvl3pPr>
            <a:lvl4pPr marL="1371600" indent="0">
              <a:buNone/>
              <a:defRPr sz="1600" b="1">
                <a:latin typeface="Times New Roman" panose="02020503050405090304"/>
                <a:ea typeface="微软雅黑"/>
                <a:cs typeface="Times New Roman" panose="02020503050405090304"/>
              </a:defRPr>
            </a:lvl4pPr>
            <a:lvl5pPr marL="1828800" indent="0">
              <a:buNone/>
              <a:defRPr sz="1600" b="1">
                <a:latin typeface="Times New Roman" panose="02020503050405090304"/>
                <a:ea typeface="微软雅黑"/>
                <a:cs typeface="Times New Roman" panose="02020503050405090304"/>
              </a:defRPr>
            </a:lvl5pPr>
            <a:lvl6pPr marL="2286000" indent="0">
              <a:buNone/>
              <a:defRPr sz="1600" b="1">
                <a:latin typeface="Times New Roman" panose="02020503050405090304"/>
                <a:ea typeface="微软雅黑"/>
                <a:cs typeface="Times New Roman" panose="02020503050405090304"/>
              </a:defRPr>
            </a:lvl6pPr>
            <a:lvl7pPr marL="2743200" indent="0">
              <a:buNone/>
              <a:defRPr sz="1600" b="1">
                <a:latin typeface="Times New Roman" panose="02020503050405090304"/>
                <a:ea typeface="微软雅黑"/>
                <a:cs typeface="Times New Roman" panose="02020503050405090304"/>
              </a:defRPr>
            </a:lvl7pPr>
            <a:lvl8pPr marL="3200400" indent="0">
              <a:buNone/>
              <a:defRPr sz="1600" b="1">
                <a:latin typeface="Times New Roman" panose="02020503050405090304"/>
                <a:ea typeface="微软雅黑"/>
                <a:cs typeface="Times New Roman" panose="02020503050405090304"/>
              </a:defRPr>
            </a:lvl8pPr>
            <a:lvl9pPr marL="3657600" indent="0">
              <a:buNone/>
              <a:defRPr sz="1600" b="1">
                <a:latin typeface="Times New Roman" panose="02020503050405090304"/>
                <a:ea typeface="微软雅黑"/>
                <a:cs typeface="Times New Roman" panose="02020503050405090304"/>
              </a:defRPr>
            </a:lvl9pPr>
          </a:lstStyle>
          <a:p>
            <a:pPr>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atin typeface="Times New Roman" panose="02020503050405090304"/>
                <a:ea typeface="微软雅黑"/>
                <a:cs typeface="Times New Roman" panose="02020503050405090304"/>
              </a:defRPr>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atin typeface="Times New Roman" panose="02020503050405090304"/>
                <a:ea typeface="微软雅黑"/>
                <a:cs typeface="Times New Roman" panose="02020503050405090304"/>
              </a:defRPr>
            </a:lvl1pPr>
            <a:lvl2pPr>
              <a:buNone/>
              <a:defRPr sz="2800">
                <a:latin typeface="Times New Roman" panose="02020503050405090304"/>
                <a:ea typeface="微软雅黑"/>
                <a:cs typeface="Times New Roman" panose="02020503050405090304"/>
              </a:defRPr>
            </a:lvl2pPr>
            <a:lvl3pPr>
              <a:buNone/>
              <a:defRPr sz="2400">
                <a:latin typeface="Times New Roman" panose="02020503050405090304"/>
                <a:ea typeface="微软雅黑"/>
                <a:cs typeface="Times New Roman" panose="02020503050405090304"/>
              </a:defRPr>
            </a:lvl3pPr>
            <a:lvl4pPr>
              <a:buNone/>
              <a:defRPr sz="2000">
                <a:latin typeface="Times New Roman" panose="02020503050405090304"/>
                <a:ea typeface="微软雅黑"/>
                <a:cs typeface="Times New Roman" panose="02020503050405090304"/>
              </a:defRPr>
            </a:lvl4pPr>
            <a:lvl5pPr>
              <a:buNone/>
              <a:defRPr sz="2000">
                <a:latin typeface="Times New Roman" panose="02020503050405090304"/>
                <a:ea typeface="微软雅黑"/>
                <a:cs typeface="Times New Roman" panose="02020503050405090304"/>
              </a:defRPr>
            </a:lvl5pPr>
            <a:lvl6pPr>
              <a:buNone/>
              <a:defRPr sz="2000">
                <a:latin typeface="Times New Roman" panose="02020503050405090304"/>
                <a:ea typeface="微软雅黑"/>
                <a:cs typeface="Times New Roman" panose="02020503050405090304"/>
              </a:defRPr>
            </a:lvl6pPr>
            <a:lvl7pPr>
              <a:buNone/>
              <a:defRPr sz="2000">
                <a:latin typeface="Times New Roman" panose="02020503050405090304"/>
                <a:ea typeface="微软雅黑"/>
                <a:cs typeface="Times New Roman" panose="02020503050405090304"/>
              </a:defRPr>
            </a:lvl7pPr>
            <a:lvl8pPr>
              <a:buNone/>
              <a:defRPr sz="2000">
                <a:latin typeface="Times New Roman" panose="02020503050405090304"/>
                <a:ea typeface="微软雅黑"/>
                <a:cs typeface="Times New Roman" panose="02020503050405090304"/>
              </a:defRPr>
            </a:lvl8pPr>
            <a:lvl9pPr>
              <a:buNone/>
              <a:defRPr sz="2000">
                <a:latin typeface="Times New Roman" panose="02020503050405090304"/>
                <a:ea typeface="微软雅黑"/>
                <a:cs typeface="Times New Roman" panose="02020503050405090304"/>
              </a:defRPr>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atin typeface="Times New Roman" panose="02020503050405090304"/>
                <a:ea typeface="微软雅黑"/>
                <a:cs typeface="Times New Roman" panose="02020503050405090304"/>
              </a:defRPr>
            </a:lvl1pPr>
            <a:lvl2pPr marL="457200" indent="0">
              <a:buNone/>
              <a:defRPr sz="1400">
                <a:latin typeface="Times New Roman" panose="02020503050405090304"/>
                <a:ea typeface="微软雅黑"/>
                <a:cs typeface="Times New Roman" panose="02020503050405090304"/>
              </a:defRPr>
            </a:lvl2pPr>
            <a:lvl3pPr marL="914400" indent="0">
              <a:buNone/>
              <a:defRPr sz="1200">
                <a:latin typeface="Times New Roman" panose="02020503050405090304"/>
                <a:ea typeface="微软雅黑"/>
                <a:cs typeface="Times New Roman" panose="02020503050405090304"/>
              </a:defRPr>
            </a:lvl3pPr>
            <a:lvl4pPr marL="1371600" indent="0">
              <a:buNone/>
              <a:defRPr sz="1000">
                <a:latin typeface="Times New Roman" panose="02020503050405090304"/>
                <a:ea typeface="微软雅黑"/>
                <a:cs typeface="Times New Roman" panose="02020503050405090304"/>
              </a:defRPr>
            </a:lvl4pPr>
            <a:lvl5pPr marL="1828800" indent="0">
              <a:buNone/>
              <a:defRPr sz="1000">
                <a:latin typeface="Times New Roman" panose="02020503050405090304"/>
                <a:ea typeface="微软雅黑"/>
                <a:cs typeface="Times New Roman" panose="02020503050405090304"/>
              </a:defRPr>
            </a:lvl5pPr>
            <a:lvl6pPr marL="2286000" indent="0">
              <a:buNone/>
              <a:defRPr sz="1000">
                <a:latin typeface="Times New Roman" panose="02020503050405090304"/>
                <a:ea typeface="微软雅黑"/>
                <a:cs typeface="Times New Roman" panose="02020503050405090304"/>
              </a:defRPr>
            </a:lvl6pPr>
            <a:lvl7pPr marL="2743200" indent="0">
              <a:buNone/>
              <a:defRPr sz="1000">
                <a:latin typeface="Times New Roman" panose="02020503050405090304"/>
                <a:ea typeface="微软雅黑"/>
                <a:cs typeface="Times New Roman" panose="02020503050405090304"/>
              </a:defRPr>
            </a:lvl7pPr>
            <a:lvl8pPr marL="3200400" indent="0">
              <a:buNone/>
              <a:defRPr sz="1000">
                <a:latin typeface="Times New Roman" panose="02020503050405090304"/>
                <a:ea typeface="微软雅黑"/>
                <a:cs typeface="Times New Roman" panose="02020503050405090304"/>
              </a:defRPr>
            </a:lvl8pPr>
            <a:lvl9pPr marL="3657600" indent="0">
              <a:buNone/>
              <a:defRPr sz="1000">
                <a:latin typeface="Times New Roman" panose="02020503050405090304"/>
                <a:ea typeface="微软雅黑"/>
                <a:cs typeface="Times New Roman" panose="02020503050405090304"/>
              </a:defRPr>
            </a:lvl9pPr>
          </a:lstStyle>
          <a:p>
            <a:pPr>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atin typeface="Times New Roman" panose="02020503050405090304"/>
                <a:ea typeface="微软雅黑"/>
                <a:cs typeface="Times New Roman" panose="02020503050405090304"/>
              </a:defRPr>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atin typeface="Times New Roman" panose="02020503050405090304"/>
                <a:ea typeface="微软雅黑"/>
                <a:cs typeface="Times New Roman" panose="02020503050405090304"/>
              </a:defRPr>
            </a:lvl1pPr>
            <a:lvl2pPr marL="457200" indent="0">
              <a:buNone/>
              <a:defRPr sz="2800">
                <a:latin typeface="Times New Roman" panose="02020503050405090304"/>
                <a:ea typeface="微软雅黑"/>
                <a:cs typeface="Times New Roman" panose="02020503050405090304"/>
              </a:defRPr>
            </a:lvl2pPr>
            <a:lvl3pPr marL="914400" indent="0">
              <a:buNone/>
              <a:defRPr sz="2400">
                <a:latin typeface="Times New Roman" panose="02020503050405090304"/>
                <a:ea typeface="微软雅黑"/>
                <a:cs typeface="Times New Roman" panose="02020503050405090304"/>
              </a:defRPr>
            </a:lvl3pPr>
            <a:lvl4pPr marL="1371600" indent="0">
              <a:buNone/>
              <a:defRPr sz="2000">
                <a:latin typeface="Times New Roman" panose="02020503050405090304"/>
                <a:ea typeface="微软雅黑"/>
                <a:cs typeface="Times New Roman" panose="02020503050405090304"/>
              </a:defRPr>
            </a:lvl4pPr>
            <a:lvl5pPr marL="1828800" indent="0">
              <a:buNone/>
              <a:defRPr sz="2000">
                <a:latin typeface="Times New Roman" panose="02020503050405090304"/>
                <a:ea typeface="微软雅黑"/>
                <a:cs typeface="Times New Roman" panose="02020503050405090304"/>
              </a:defRPr>
            </a:lvl5pPr>
            <a:lvl6pPr marL="2286000" indent="0">
              <a:buNone/>
              <a:defRPr sz="2000">
                <a:latin typeface="Times New Roman" panose="02020503050405090304"/>
                <a:ea typeface="微软雅黑"/>
                <a:cs typeface="Times New Roman" panose="02020503050405090304"/>
              </a:defRPr>
            </a:lvl6pPr>
            <a:lvl7pPr marL="2743200" indent="0">
              <a:buNone/>
              <a:defRPr sz="2000">
                <a:latin typeface="Times New Roman" panose="02020503050405090304"/>
                <a:ea typeface="微软雅黑"/>
                <a:cs typeface="Times New Roman" panose="02020503050405090304"/>
              </a:defRPr>
            </a:lvl7pPr>
            <a:lvl8pPr marL="3200400" indent="0">
              <a:buNone/>
              <a:defRPr sz="2000">
                <a:latin typeface="Times New Roman" panose="02020503050405090304"/>
                <a:ea typeface="微软雅黑"/>
                <a:cs typeface="Times New Roman" panose="02020503050405090304"/>
              </a:defRPr>
            </a:lvl8pPr>
            <a:lvl9pPr marL="3657600" indent="0">
              <a:buNone/>
              <a:defRPr sz="2000">
                <a:latin typeface="Times New Roman" panose="02020503050405090304"/>
                <a:ea typeface="微软雅黑"/>
                <a:cs typeface="Times New Roman" panose="02020503050405090304"/>
              </a:defRPr>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atin typeface="Times New Roman" panose="02020503050405090304"/>
                <a:ea typeface="微软雅黑"/>
                <a:cs typeface="Times New Roman" panose="02020503050405090304"/>
              </a:defRPr>
            </a:lvl1pPr>
            <a:lvl2pPr marL="457200" indent="0">
              <a:buNone/>
              <a:defRPr sz="1400">
                <a:latin typeface="Times New Roman" panose="02020503050405090304"/>
                <a:ea typeface="微软雅黑"/>
                <a:cs typeface="Times New Roman" panose="02020503050405090304"/>
              </a:defRPr>
            </a:lvl2pPr>
            <a:lvl3pPr marL="914400" indent="0">
              <a:buNone/>
              <a:defRPr sz="1200">
                <a:latin typeface="Times New Roman" panose="02020503050405090304"/>
                <a:ea typeface="微软雅黑"/>
                <a:cs typeface="Times New Roman" panose="02020503050405090304"/>
              </a:defRPr>
            </a:lvl3pPr>
            <a:lvl4pPr marL="1371600" indent="0">
              <a:buNone/>
              <a:defRPr sz="1000">
                <a:latin typeface="Times New Roman" panose="02020503050405090304"/>
                <a:ea typeface="微软雅黑"/>
                <a:cs typeface="Times New Roman" panose="02020503050405090304"/>
              </a:defRPr>
            </a:lvl4pPr>
            <a:lvl5pPr marL="1828800" indent="0">
              <a:buNone/>
              <a:defRPr sz="1000">
                <a:latin typeface="Times New Roman" panose="02020503050405090304"/>
                <a:ea typeface="微软雅黑"/>
                <a:cs typeface="Times New Roman" panose="02020503050405090304"/>
              </a:defRPr>
            </a:lvl5pPr>
            <a:lvl6pPr marL="2286000" indent="0">
              <a:buNone/>
              <a:defRPr sz="1000">
                <a:latin typeface="Times New Roman" panose="02020503050405090304"/>
                <a:ea typeface="微软雅黑"/>
                <a:cs typeface="Times New Roman" panose="02020503050405090304"/>
              </a:defRPr>
            </a:lvl6pPr>
            <a:lvl7pPr marL="2743200" indent="0">
              <a:buNone/>
              <a:defRPr sz="1000">
                <a:latin typeface="Times New Roman" panose="02020503050405090304"/>
                <a:ea typeface="微软雅黑"/>
                <a:cs typeface="Times New Roman" panose="02020503050405090304"/>
              </a:defRPr>
            </a:lvl7pPr>
            <a:lvl8pPr marL="3200400" indent="0">
              <a:buNone/>
              <a:defRPr sz="1000">
                <a:latin typeface="Times New Roman" panose="02020503050405090304"/>
                <a:ea typeface="微软雅黑"/>
                <a:cs typeface="Times New Roman" panose="02020503050405090304"/>
              </a:defRPr>
            </a:lvl8pPr>
            <a:lvl9pPr marL="3657600" indent="0">
              <a:buNone/>
              <a:defRPr sz="1000">
                <a:latin typeface="Times New Roman" panose="02020503050405090304"/>
                <a:ea typeface="微软雅黑"/>
                <a:cs typeface="Times New Roman" panose="02020503050405090304"/>
              </a:defRPr>
            </a:lvl9pPr>
          </a:lstStyle>
          <a:p>
            <a:pPr>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524000" y="1122363"/>
            <a:ext cx="9144000" cy="2387600"/>
          </a:xfrm>
        </p:spPr>
        <p:txBody>
          <a:bodyPr anchor="b"/>
          <a:lstStyle>
            <a:lvl1pPr algn="ctr">
              <a:buNone/>
              <a:defRPr sz="6000"/>
            </a:lvl1pPr>
          </a:lstStyle>
          <a:p>
            <a:r>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p:nvPr>
        </p:nvSpPr>
        <p:spPr>
          <a:xfrm>
            <a:off x="831850" y="1709738"/>
            <a:ext cx="10515600" cy="2852737"/>
          </a:xfrm>
        </p:spPr>
        <p:txBody>
          <a:bodyPr anchor="b"/>
          <a:lstStyle>
            <a:lvl1pPr>
              <a:buNone/>
              <a:defRPr sz="6000"/>
            </a:lvl1pPr>
          </a:lstStyle>
          <a:p>
            <a:r>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a:buNone/>
            </a:pPr>
            <a:r>
              <a:t>单击此处编辑母版文本样式</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内容占位符 2"/>
          <p:cNvSpPr>
            <a:spLocks noGrp="1"/>
          </p:cNvSpPr>
          <p:nvPr>
            <p:ph idx="1"/>
          </p:nvPr>
        </p:nvSpPr>
        <p:spPr>
          <a:xfrm>
            <a:off x="838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内容占位符 3"/>
          <p:cNvSpPr>
            <a:spLocks noGrp="1"/>
          </p:cNvSpPr>
          <p:nvPr>
            <p:ph idx="2"/>
          </p:nvPr>
        </p:nvSpPr>
        <p:spPr>
          <a:xfrm>
            <a:off x="6172200" y="1825625"/>
            <a:ext cx="5181600" cy="435133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839788" y="365125"/>
            <a:ext cx="10515600" cy="1325563"/>
          </a:xfrm>
        </p:spPr>
        <p:txBody>
          <a:bodyPr/>
          <a:lstStyle/>
          <a:p>
            <a:r>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4" name="内容占位符 3"/>
          <p:cNvSpPr>
            <a:spLocks noGrp="1"/>
          </p:cNvSpPr>
          <p:nvPr>
            <p:ph idx="2"/>
          </p:nvPr>
        </p:nvSpPr>
        <p:spPr>
          <a:xfrm>
            <a:off x="839788" y="2505075"/>
            <a:ext cx="5157787"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5" name="文本占位符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单击此处编辑母版文本样式</a:t>
            </a:r>
          </a:p>
        </p:txBody>
      </p:sp>
      <p:sp>
        <p:nvSpPr>
          <p:cNvPr id="6" name="内容占位符 5"/>
          <p:cNvSpPr>
            <a:spLocks noGrp="1"/>
          </p:cNvSpPr>
          <p:nvPr>
            <p:ph idx="4"/>
          </p:nvPr>
        </p:nvSpPr>
        <p:spPr>
          <a:xfrm>
            <a:off x="6172200" y="2505075"/>
            <a:ext cx="5183188" cy="3684588"/>
          </a:xfrm>
        </p:spPr>
        <p:txBody>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内容占位符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p:sp>
        <p:nvSpPr>
          <p:cNvPr id="2" name="标题 1"/>
          <p:cNvSpPr>
            <a:spLocks noGrp="1"/>
          </p:cNvSpPr>
          <p:nvPr>
            <p:ph type="title"/>
          </p:nvPr>
        </p:nvSpPr>
        <p:spPr>
          <a:xfrm>
            <a:off x="839788" y="457200"/>
            <a:ext cx="3932237" cy="1600200"/>
          </a:xfrm>
        </p:spPr>
        <p:txBody>
          <a:bodyPr anchor="b"/>
          <a:lstStyle>
            <a:lvl1pPr>
              <a:buNone/>
              <a:defRPr sz="3200"/>
            </a:lvl1pPr>
          </a:lstStyle>
          <a:p>
            <a:r>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文本占位符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p:sp>
        <p:nvSpPr>
          <p:cNvPr id="2" name="标题 1"/>
          <p:cNvSpPr>
            <a:spLocks noGrp="1"/>
          </p:cNvSpPr>
          <p:nvPr>
            <p:ph type="title"/>
          </p:nvPr>
        </p:nvSpPr>
        <p:spPr/>
        <p:txBody>
          <a:bodyPr/>
          <a:lstStyle/>
          <a:p>
            <a:r>
              <a:t>单击此处编辑母版标题样式</a:t>
            </a:r>
          </a:p>
        </p:txBody>
      </p:sp>
      <p:sp>
        <p:nvSpPr>
          <p:cNvPr id="3" name="竖排文字占位符 2"/>
          <p:cNvSpPr>
            <a:spLocks noGrp="1"/>
          </p:cNvSpPr>
          <p:nvPr>
            <p:ph type="body" idx="1"/>
          </p:nvPr>
        </p:nvSpPr>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p:nvPr>
        </p:nvSpPr>
        <p:spPr>
          <a:xfrm>
            <a:off x="8724900" y="365125"/>
            <a:ext cx="2628900" cy="5811838"/>
          </a:xfrm>
        </p:spPr>
        <p:txBody>
          <a:bodyPr vert="eaVert"/>
          <a:lstStyle/>
          <a:p>
            <a:r>
              <a:t>单击此处编辑母版标题样式</a:t>
            </a:r>
          </a:p>
        </p:txBody>
      </p:sp>
      <p:sp>
        <p:nvSpPr>
          <p:cNvPr id="3" name="竖排文字占位符 2"/>
          <p:cNvSpPr>
            <a:spLocks noGrp="1"/>
          </p:cNvSpPr>
          <p:nvPr>
            <p:ph type="body" idx="1"/>
          </p:nvPr>
        </p:nvSpPr>
        <p:spPr>
          <a:xfrm>
            <a:off x="838200" y="365125"/>
            <a:ext cx="7734300" cy="5811838"/>
          </a:xfrm>
        </p:spPr>
        <p:txBody>
          <a:bodyPr vert="eaVert"/>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4.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3" Type="http://schemas.openxmlformats.org/officeDocument/2006/relationships/theme" Target="../theme/theme4.xml"/><Relationship Id="rId12" Type="http://schemas.openxmlformats.org/officeDocument/2006/relationships/slideLayout" Target="../slideLayouts/slideLayout26.xml"/><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latin typeface="Times New Roman" panose="02020503050405090304"/>
                <a:ea typeface="微软雅黑"/>
                <a:cs typeface="Times New Roman" panose="02020503050405090304"/>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latin typeface="Times New Roman" panose="02020503050405090304"/>
                <a:ea typeface="微软雅黑"/>
                <a:cs typeface="Times New Roman" panose="02020503050405090304"/>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latin typeface="Times New Roman" panose="02020503050405090304"/>
                <a:ea typeface="微软雅黑"/>
                <a:cs typeface="Times New Roman" panose="02020503050405090304"/>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a:lnSpc>
          <a:spcPct val="90000"/>
        </a:lnSpc>
        <a:buNone/>
        <a:defRPr sz="4400">
          <a:solidFill>
            <a:schemeClr val="tx1"/>
          </a:solidFill>
          <a:latin typeface="Times New Roman" panose="02020503050405090304"/>
          <a:ea typeface="微软雅黑"/>
          <a:cs typeface="Times New Roman" panose="02020503050405090304"/>
        </a:defRPr>
      </a:lvl1pPr>
    </p:titleStyle>
    <p:bodyStyle>
      <a:lvl1pPr marL="228600" indent="-228600" algn="l">
        <a:lnSpc>
          <a:spcPct val="90000"/>
        </a:lnSpc>
        <a:spcBef>
          <a:spcPts val="1000"/>
        </a:spcBef>
        <a:buChar char="•"/>
        <a:defRPr sz="2800">
          <a:solidFill>
            <a:schemeClr val="tx1"/>
          </a:solidFill>
          <a:latin typeface="Times New Roman" panose="02020503050405090304"/>
          <a:ea typeface="微软雅黑"/>
          <a:cs typeface="Times New Roman" panose="02020503050405090304"/>
        </a:defRPr>
      </a:lvl1pPr>
      <a:lvl2pPr marL="685800" indent="-228600" algn="l">
        <a:lnSpc>
          <a:spcPct val="90000"/>
        </a:lnSpc>
        <a:spcBef>
          <a:spcPts val="500"/>
        </a:spcBef>
        <a:buChar char="•"/>
        <a:defRPr sz="2400">
          <a:solidFill>
            <a:schemeClr val="tx1"/>
          </a:solidFill>
          <a:latin typeface="Times New Roman" panose="02020503050405090304"/>
          <a:ea typeface="微软雅黑"/>
          <a:cs typeface="Times New Roman" panose="02020503050405090304"/>
        </a:defRPr>
      </a:lvl2pPr>
      <a:lvl3pPr marL="1143000" indent="-228600" algn="l">
        <a:lnSpc>
          <a:spcPct val="90000"/>
        </a:lnSpc>
        <a:spcBef>
          <a:spcPts val="500"/>
        </a:spcBef>
        <a:buChar char="•"/>
        <a:defRPr sz="2000">
          <a:solidFill>
            <a:schemeClr val="tx1"/>
          </a:solidFill>
          <a:latin typeface="Times New Roman" panose="02020503050405090304"/>
          <a:ea typeface="微软雅黑"/>
          <a:cs typeface="Times New Roman" panose="02020503050405090304"/>
        </a:defRPr>
      </a:lvl3pPr>
      <a:lvl4pPr marL="16002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4pPr>
      <a:lvl5pPr marL="20574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5pPr>
      <a:lvl6pPr marL="25146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6pPr>
      <a:lvl7pPr marL="29718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7pPr>
      <a:lvl8pPr marL="34290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8pPr>
      <a:lvl9pPr marL="3886200" indent="-228600" algn="l">
        <a:lnSpc>
          <a:spcPct val="90000"/>
        </a:lnSpc>
        <a:spcBef>
          <a:spcPts val="500"/>
        </a:spcBef>
        <a:buChar char="•"/>
        <a:defRPr sz="1800">
          <a:solidFill>
            <a:schemeClr val="tx1"/>
          </a:solidFill>
          <a:latin typeface="Times New Roman" panose="02020503050405090304"/>
          <a:ea typeface="微软雅黑"/>
          <a:cs typeface="Times New Roman" panose="02020503050405090304"/>
        </a:defRPr>
      </a:lvl9pPr>
    </p:bodyStyle>
    <p:otherStyle>
      <a:lvl1pPr marL="0" algn="l">
        <a:buNone/>
        <a:defRPr sz="1800">
          <a:solidFill>
            <a:schemeClr val="tx1"/>
          </a:solidFill>
          <a:latin typeface="Times New Roman" panose="02020503050405090304"/>
          <a:ea typeface="微软雅黑"/>
          <a:cs typeface="Times New Roman" panose="02020503050405090304"/>
        </a:defRPr>
      </a:lvl1pPr>
      <a:lvl2pPr marL="457200" algn="l">
        <a:buNone/>
        <a:defRPr sz="1800">
          <a:solidFill>
            <a:schemeClr val="tx1"/>
          </a:solidFill>
          <a:latin typeface="Times New Roman" panose="02020503050405090304"/>
          <a:ea typeface="微软雅黑"/>
          <a:cs typeface="Times New Roman" panose="02020503050405090304"/>
        </a:defRPr>
      </a:lvl2pPr>
      <a:lvl3pPr marL="914400" algn="l">
        <a:buNone/>
        <a:defRPr sz="1800">
          <a:solidFill>
            <a:schemeClr val="tx1"/>
          </a:solidFill>
          <a:latin typeface="Times New Roman" panose="02020503050405090304"/>
          <a:ea typeface="微软雅黑"/>
          <a:cs typeface="Times New Roman" panose="02020503050405090304"/>
        </a:defRPr>
      </a:lvl3pPr>
      <a:lvl4pPr marL="1371600" algn="l">
        <a:buNone/>
        <a:defRPr sz="1800">
          <a:solidFill>
            <a:schemeClr val="tx1"/>
          </a:solidFill>
          <a:latin typeface="Times New Roman" panose="02020503050405090304"/>
          <a:ea typeface="微软雅黑"/>
          <a:cs typeface="Times New Roman" panose="02020503050405090304"/>
        </a:defRPr>
      </a:lvl4pPr>
      <a:lvl5pPr marL="1828800" algn="l">
        <a:buNone/>
        <a:defRPr sz="1800">
          <a:solidFill>
            <a:schemeClr val="tx1"/>
          </a:solidFill>
          <a:latin typeface="Times New Roman" panose="02020503050405090304"/>
          <a:ea typeface="微软雅黑"/>
          <a:cs typeface="Times New Roman" panose="02020503050405090304"/>
        </a:defRPr>
      </a:lvl5pPr>
      <a:lvl6pPr marL="2286000" algn="l">
        <a:buNone/>
        <a:defRPr sz="1800">
          <a:solidFill>
            <a:schemeClr val="tx1"/>
          </a:solidFill>
          <a:latin typeface="Times New Roman" panose="02020503050405090304"/>
          <a:ea typeface="微软雅黑"/>
          <a:cs typeface="Times New Roman" panose="02020503050405090304"/>
        </a:defRPr>
      </a:lvl6pPr>
      <a:lvl7pPr marL="2743200" algn="l">
        <a:buNone/>
        <a:defRPr sz="1800">
          <a:solidFill>
            <a:schemeClr val="tx1"/>
          </a:solidFill>
          <a:latin typeface="Times New Roman" panose="02020503050405090304"/>
          <a:ea typeface="微软雅黑"/>
          <a:cs typeface="Times New Roman" panose="02020503050405090304"/>
        </a:defRPr>
      </a:lvl7pPr>
      <a:lvl8pPr marL="3200400" algn="l">
        <a:buNone/>
        <a:defRPr sz="1800">
          <a:solidFill>
            <a:schemeClr val="tx1"/>
          </a:solidFill>
          <a:latin typeface="Times New Roman" panose="02020503050405090304"/>
          <a:ea typeface="微软雅黑"/>
          <a:cs typeface="Times New Roman" panose="02020503050405090304"/>
        </a:defRPr>
      </a:lvl8pPr>
      <a:lvl9pPr marL="3657600" algn="l">
        <a:buNone/>
        <a:defRPr sz="1800">
          <a:solidFill>
            <a:schemeClr val="tx1"/>
          </a:solidFill>
          <a:latin typeface="Times New Roman" panose="02020503050405090304"/>
          <a:ea typeface="微软雅黑"/>
          <a:cs typeface="Times New Roman" panose="020205030504050903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2" r:id="rId1"/>
  </p:sldLayoutIdLst>
  <p:txStyles>
    <p:titleStyle>
      <a:lvl1pPr algn="l">
        <a:lnSpc>
          <a:spcPct val="90000"/>
        </a:lnSpc>
        <a:spcBef>
          <a:spcPts val="0"/>
        </a:spcBef>
        <a:buNone/>
        <a:defRPr sz="3520">
          <a:solidFill>
            <a:schemeClr val="tx1"/>
          </a:solidFill>
          <a:latin typeface="Times New Roman" panose="02020503050405090304"/>
          <a:ea typeface="微软雅黑"/>
          <a:cs typeface="Times New Roman" panose="02020503050405090304"/>
        </a:defRPr>
      </a:lvl1pPr>
    </p:titleStyle>
    <p:bodyStyle>
      <a:lvl1pPr marL="182880" indent="-182880" algn="l">
        <a:lnSpc>
          <a:spcPct val="90000"/>
        </a:lnSpc>
        <a:spcBef>
          <a:spcPts val="800"/>
        </a:spcBef>
        <a:buChar char="•"/>
        <a:defRPr sz="2240">
          <a:solidFill>
            <a:schemeClr val="tx1"/>
          </a:solidFill>
          <a:latin typeface="Times New Roman" panose="02020503050405090304"/>
          <a:ea typeface="微软雅黑"/>
          <a:cs typeface="Times New Roman" panose="02020503050405090304"/>
        </a:defRPr>
      </a:lvl1pPr>
      <a:lvl2pPr marL="548640" indent="-182880" algn="l">
        <a:lnSpc>
          <a:spcPct val="90000"/>
        </a:lnSpc>
        <a:spcBef>
          <a:spcPts val="400"/>
        </a:spcBef>
        <a:buChar char="•"/>
        <a:defRPr sz="1920">
          <a:solidFill>
            <a:schemeClr val="tx1"/>
          </a:solidFill>
          <a:latin typeface="Times New Roman" panose="02020503050405090304"/>
          <a:ea typeface="微软雅黑"/>
          <a:cs typeface="Times New Roman" panose="02020503050405090304"/>
        </a:defRPr>
      </a:lvl2pPr>
      <a:lvl3pPr marL="914400" indent="-182880" algn="l">
        <a:lnSpc>
          <a:spcPct val="90000"/>
        </a:lnSpc>
        <a:spcBef>
          <a:spcPts val="400"/>
        </a:spcBef>
        <a:buChar char="•"/>
        <a:defRPr sz="1600">
          <a:solidFill>
            <a:schemeClr val="tx1"/>
          </a:solidFill>
          <a:latin typeface="Times New Roman" panose="02020503050405090304"/>
          <a:ea typeface="微软雅黑"/>
          <a:cs typeface="Times New Roman" panose="02020503050405090304"/>
        </a:defRPr>
      </a:lvl3pPr>
      <a:lvl4pPr marL="128016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4pPr>
      <a:lvl5pPr marL="164592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5pPr>
      <a:lvl6pPr marL="201168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6pPr>
      <a:lvl7pPr marL="237744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7pPr>
      <a:lvl8pPr marL="274320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8pPr>
      <a:lvl9pPr marL="3108960" indent="-182880" algn="l">
        <a:lnSpc>
          <a:spcPct val="90000"/>
        </a:lnSpc>
        <a:spcBef>
          <a:spcPts val="400"/>
        </a:spcBef>
        <a:buChar char="•"/>
        <a:defRPr sz="1440">
          <a:solidFill>
            <a:schemeClr val="tx1"/>
          </a:solidFill>
          <a:latin typeface="Times New Roman" panose="02020503050405090304"/>
          <a:ea typeface="微软雅黑"/>
          <a:cs typeface="Times New Roman" panose="02020503050405090304"/>
        </a:defRPr>
      </a:lvl9pPr>
    </p:bodyStyle>
    <p:otherStyle>
      <a:lvl1pPr marL="0" algn="l">
        <a:buNone/>
        <a:defRPr sz="1440">
          <a:solidFill>
            <a:schemeClr val="tx1"/>
          </a:solidFill>
          <a:latin typeface="Times New Roman" panose="02020503050405090304"/>
          <a:ea typeface="微软雅黑"/>
          <a:cs typeface="Times New Roman" panose="02020503050405090304"/>
        </a:defRPr>
      </a:lvl1pPr>
      <a:lvl2pPr marL="365760" algn="l">
        <a:buNone/>
        <a:defRPr sz="1440">
          <a:solidFill>
            <a:schemeClr val="tx1"/>
          </a:solidFill>
          <a:latin typeface="Times New Roman" panose="02020503050405090304"/>
          <a:ea typeface="微软雅黑"/>
          <a:cs typeface="Times New Roman" panose="02020503050405090304"/>
        </a:defRPr>
      </a:lvl2pPr>
      <a:lvl3pPr marL="731520" algn="l">
        <a:buNone/>
        <a:defRPr sz="1440">
          <a:solidFill>
            <a:schemeClr val="tx1"/>
          </a:solidFill>
          <a:latin typeface="Times New Roman" panose="02020503050405090304"/>
          <a:ea typeface="微软雅黑"/>
          <a:cs typeface="Times New Roman" panose="02020503050405090304"/>
        </a:defRPr>
      </a:lvl3pPr>
      <a:lvl4pPr marL="1097280" algn="l">
        <a:buNone/>
        <a:defRPr sz="1440">
          <a:solidFill>
            <a:schemeClr val="tx1"/>
          </a:solidFill>
          <a:latin typeface="Times New Roman" panose="02020503050405090304"/>
          <a:ea typeface="微软雅黑"/>
          <a:cs typeface="Times New Roman" panose="02020503050405090304"/>
        </a:defRPr>
      </a:lvl4pPr>
      <a:lvl5pPr marL="1463040" algn="l">
        <a:buNone/>
        <a:defRPr sz="1440">
          <a:solidFill>
            <a:schemeClr val="tx1"/>
          </a:solidFill>
          <a:latin typeface="Times New Roman" panose="02020503050405090304"/>
          <a:ea typeface="微软雅黑"/>
          <a:cs typeface="Times New Roman" panose="02020503050405090304"/>
        </a:defRPr>
      </a:lvl5pPr>
      <a:lvl6pPr marL="1828800" algn="l">
        <a:buNone/>
        <a:defRPr sz="1440">
          <a:solidFill>
            <a:schemeClr val="tx1"/>
          </a:solidFill>
          <a:latin typeface="Times New Roman" panose="02020503050405090304"/>
          <a:ea typeface="微软雅黑"/>
          <a:cs typeface="Times New Roman" panose="02020503050405090304"/>
        </a:defRPr>
      </a:lvl6pPr>
      <a:lvl7pPr marL="2194560" algn="l">
        <a:buNone/>
        <a:defRPr sz="1440">
          <a:solidFill>
            <a:schemeClr val="tx1"/>
          </a:solidFill>
          <a:latin typeface="Times New Roman" panose="02020503050405090304"/>
          <a:ea typeface="微软雅黑"/>
          <a:cs typeface="Times New Roman" panose="02020503050405090304"/>
        </a:defRPr>
      </a:lvl7pPr>
      <a:lvl8pPr marL="2560320" algn="l">
        <a:buNone/>
        <a:defRPr sz="1440">
          <a:solidFill>
            <a:schemeClr val="tx1"/>
          </a:solidFill>
          <a:latin typeface="Times New Roman" panose="02020503050405090304"/>
          <a:ea typeface="微软雅黑"/>
          <a:cs typeface="Times New Roman" panose="02020503050405090304"/>
        </a:defRPr>
      </a:lvl8pPr>
      <a:lvl9pPr marL="2926080" algn="l">
        <a:buNone/>
        <a:defRPr sz="1440">
          <a:solidFill>
            <a:schemeClr val="tx1"/>
          </a:solidFill>
          <a:latin typeface="Times New Roman" panose="02020503050405090304"/>
          <a:ea typeface="微软雅黑"/>
          <a:cs typeface="Times New Roman" panose="020205030504050903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4" r:id="rId1"/>
  </p:sldLayoutIdLst>
  <p:txStyles>
    <p:titleStyle>
      <a:lvl1pPr algn="l">
        <a:lnSpc>
          <a:spcPct val="90000"/>
        </a:lnSpc>
        <a:spcBef>
          <a:spcPts val="0"/>
        </a:spcBef>
        <a:buNone/>
        <a:defRPr sz="3520">
          <a:solidFill>
            <a:schemeClr val="tx1"/>
          </a:solidFill>
          <a:latin typeface="+mj-lt"/>
          <a:ea typeface="+mj-lt"/>
          <a:cs typeface="+mj-lt"/>
        </a:defRPr>
      </a:lvl1pPr>
    </p:titleStyle>
    <p:bodyStyle>
      <a:lvl1pPr marL="182880" indent="-182880" algn="l">
        <a:lnSpc>
          <a:spcPct val="90000"/>
        </a:lnSpc>
        <a:spcBef>
          <a:spcPts val="800"/>
        </a:spcBef>
        <a:buChar char="•"/>
        <a:defRPr sz="2240">
          <a:solidFill>
            <a:schemeClr val="tx1"/>
          </a:solidFill>
          <a:latin typeface="+mn-lt"/>
          <a:ea typeface="+mn-lt"/>
          <a:cs typeface="+mn-lt"/>
        </a:defRPr>
      </a:lvl1pPr>
      <a:lvl2pPr marL="548640" indent="-182880" algn="l">
        <a:lnSpc>
          <a:spcPct val="90000"/>
        </a:lnSpc>
        <a:spcBef>
          <a:spcPts val="400"/>
        </a:spcBef>
        <a:buChar char="•"/>
        <a:defRPr sz="1920">
          <a:solidFill>
            <a:schemeClr val="tx1"/>
          </a:solidFill>
          <a:latin typeface="+mn-lt"/>
          <a:ea typeface="+mn-lt"/>
          <a:cs typeface="+mn-lt"/>
        </a:defRPr>
      </a:lvl2pPr>
      <a:lvl3pPr marL="914400" indent="-182880" algn="l">
        <a:lnSpc>
          <a:spcPct val="90000"/>
        </a:lnSpc>
        <a:spcBef>
          <a:spcPts val="400"/>
        </a:spcBef>
        <a:buChar char="•"/>
        <a:defRPr sz="1600">
          <a:solidFill>
            <a:schemeClr val="tx1"/>
          </a:solidFill>
          <a:latin typeface="+mn-lt"/>
          <a:ea typeface="+mn-lt"/>
          <a:cs typeface="+mn-lt"/>
        </a:defRPr>
      </a:lvl3pPr>
      <a:lvl4pPr marL="1280160" indent="-182880" algn="l">
        <a:lnSpc>
          <a:spcPct val="90000"/>
        </a:lnSpc>
        <a:spcBef>
          <a:spcPts val="400"/>
        </a:spcBef>
        <a:buChar char="•"/>
        <a:defRPr sz="1440">
          <a:solidFill>
            <a:schemeClr val="tx1"/>
          </a:solidFill>
          <a:latin typeface="+mn-lt"/>
          <a:ea typeface="+mn-lt"/>
          <a:cs typeface="+mn-lt"/>
        </a:defRPr>
      </a:lvl4pPr>
      <a:lvl5pPr marL="1645920" indent="-182880" algn="l">
        <a:lnSpc>
          <a:spcPct val="90000"/>
        </a:lnSpc>
        <a:spcBef>
          <a:spcPts val="400"/>
        </a:spcBef>
        <a:buChar char="•"/>
        <a:defRPr sz="1440">
          <a:solidFill>
            <a:schemeClr val="tx1"/>
          </a:solidFill>
          <a:latin typeface="+mn-lt"/>
          <a:ea typeface="+mn-lt"/>
          <a:cs typeface="+mn-lt"/>
        </a:defRPr>
      </a:lvl5pPr>
      <a:lvl6pPr marL="2011680" indent="-182880" algn="l">
        <a:lnSpc>
          <a:spcPct val="90000"/>
        </a:lnSpc>
        <a:spcBef>
          <a:spcPts val="400"/>
        </a:spcBef>
        <a:buChar char="•"/>
        <a:defRPr sz="1440">
          <a:solidFill>
            <a:schemeClr val="tx1"/>
          </a:solidFill>
          <a:latin typeface="+mn-lt"/>
          <a:ea typeface="+mn-lt"/>
          <a:cs typeface="+mn-lt"/>
        </a:defRPr>
      </a:lvl6pPr>
      <a:lvl7pPr marL="2377440" indent="-182880" algn="l">
        <a:lnSpc>
          <a:spcPct val="90000"/>
        </a:lnSpc>
        <a:spcBef>
          <a:spcPts val="400"/>
        </a:spcBef>
        <a:buChar char="•"/>
        <a:defRPr sz="1440">
          <a:solidFill>
            <a:schemeClr val="tx1"/>
          </a:solidFill>
          <a:latin typeface="+mn-lt"/>
          <a:ea typeface="+mn-lt"/>
          <a:cs typeface="+mn-lt"/>
        </a:defRPr>
      </a:lvl7pPr>
      <a:lvl8pPr marL="2743200" indent="-182880" algn="l">
        <a:lnSpc>
          <a:spcPct val="90000"/>
        </a:lnSpc>
        <a:spcBef>
          <a:spcPts val="400"/>
        </a:spcBef>
        <a:buChar char="•"/>
        <a:defRPr sz="1440">
          <a:solidFill>
            <a:schemeClr val="tx1"/>
          </a:solidFill>
          <a:latin typeface="+mn-lt"/>
          <a:ea typeface="+mn-lt"/>
          <a:cs typeface="+mn-lt"/>
        </a:defRPr>
      </a:lvl8pPr>
      <a:lvl9pPr marL="3108960" indent="-182880" algn="l">
        <a:lnSpc>
          <a:spcPct val="90000"/>
        </a:lnSpc>
        <a:spcBef>
          <a:spcPts val="400"/>
        </a:spcBef>
        <a:buChar char="•"/>
        <a:defRPr sz="1440">
          <a:solidFill>
            <a:schemeClr val="tx1"/>
          </a:solidFill>
          <a:latin typeface="+mn-lt"/>
          <a:ea typeface="+mn-lt"/>
          <a:cs typeface="+mn-lt"/>
        </a:defRPr>
      </a:lvl9pPr>
    </p:bodyStyle>
    <p:otherStyle>
      <a:lvl1pPr marL="0" algn="l">
        <a:buNone/>
        <a:defRPr sz="1440">
          <a:solidFill>
            <a:schemeClr val="tx1"/>
          </a:solidFill>
          <a:latin typeface="+mn-lt"/>
          <a:ea typeface="+mn-lt"/>
          <a:cs typeface="+mn-lt"/>
        </a:defRPr>
      </a:lvl1pPr>
      <a:lvl2pPr marL="365760" algn="l">
        <a:buNone/>
        <a:defRPr sz="1440">
          <a:solidFill>
            <a:schemeClr val="tx1"/>
          </a:solidFill>
          <a:latin typeface="+mn-lt"/>
          <a:ea typeface="+mn-lt"/>
          <a:cs typeface="+mn-lt"/>
        </a:defRPr>
      </a:lvl2pPr>
      <a:lvl3pPr marL="731520" algn="l">
        <a:buNone/>
        <a:defRPr sz="1440">
          <a:solidFill>
            <a:schemeClr val="tx1"/>
          </a:solidFill>
          <a:latin typeface="+mn-lt"/>
          <a:ea typeface="+mn-lt"/>
          <a:cs typeface="+mn-lt"/>
        </a:defRPr>
      </a:lvl3pPr>
      <a:lvl4pPr marL="1097280" algn="l">
        <a:buNone/>
        <a:defRPr sz="1440">
          <a:solidFill>
            <a:schemeClr val="tx1"/>
          </a:solidFill>
          <a:latin typeface="+mn-lt"/>
          <a:ea typeface="+mn-lt"/>
          <a:cs typeface="+mn-lt"/>
        </a:defRPr>
      </a:lvl4pPr>
      <a:lvl5pPr marL="1463040" algn="l">
        <a:buNone/>
        <a:defRPr sz="1440">
          <a:solidFill>
            <a:schemeClr val="tx1"/>
          </a:solidFill>
          <a:latin typeface="+mn-lt"/>
          <a:ea typeface="+mn-lt"/>
          <a:cs typeface="+mn-lt"/>
        </a:defRPr>
      </a:lvl5pPr>
      <a:lvl6pPr marL="1828800" algn="l">
        <a:buNone/>
        <a:defRPr sz="1440">
          <a:solidFill>
            <a:schemeClr val="tx1"/>
          </a:solidFill>
          <a:latin typeface="+mn-lt"/>
          <a:ea typeface="+mn-lt"/>
          <a:cs typeface="+mn-lt"/>
        </a:defRPr>
      </a:lvl6pPr>
      <a:lvl7pPr marL="2194560" algn="l">
        <a:buNone/>
        <a:defRPr sz="1440">
          <a:solidFill>
            <a:schemeClr val="tx1"/>
          </a:solidFill>
          <a:latin typeface="+mn-lt"/>
          <a:ea typeface="+mn-lt"/>
          <a:cs typeface="+mn-lt"/>
        </a:defRPr>
      </a:lvl7pPr>
      <a:lvl8pPr marL="2560320" algn="l">
        <a:buNone/>
        <a:defRPr sz="1440">
          <a:solidFill>
            <a:schemeClr val="tx1"/>
          </a:solidFill>
          <a:latin typeface="+mn-lt"/>
          <a:ea typeface="+mn-lt"/>
          <a:cs typeface="+mn-lt"/>
        </a:defRPr>
      </a:lvl8pPr>
      <a:lvl9pPr marL="2926080" algn="l">
        <a:buNone/>
        <a:defRPr sz="1440">
          <a:solidFill>
            <a:schemeClr val="tx1"/>
          </a:solidFill>
          <a:latin typeface="+mn-lt"/>
          <a:ea typeface="+mn-lt"/>
          <a:cs typeface="+mn-lt"/>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单击此处编辑母版文本样式</a:t>
            </a:r>
          </a:p>
          <a:p>
            <a:pPr>
              <a:buNone/>
            </a:pPr>
            <a:r>
              <a:t>二级</a:t>
            </a:r>
          </a:p>
          <a:p>
            <a:pPr>
              <a:buNone/>
            </a:pPr>
            <a:r>
              <a:t>三级</a:t>
            </a:r>
          </a:p>
          <a:p>
            <a:pPr>
              <a:buNone/>
            </a:pPr>
            <a:r>
              <a:t>四级</a:t>
            </a:r>
          </a:p>
          <a:p>
            <a:pPr>
              <a:buNone/>
            </a:pPr>
            <a:r>
              <a:t>五级</a:t>
            </a:r>
          </a:p>
        </p:txBody>
      </p:sp>
      <p:sp>
        <p:nvSpPr>
          <p:cNvPr id="4" name="日期占位符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页脚占位符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灯片编号占位符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73" r:id="rId8"/>
    <p:sldLayoutId id="2147483674" r:id="rId9"/>
    <p:sldLayoutId id="2147483675" r:id="rId10"/>
    <p:sldLayoutId id="2147483676" r:id="rId11"/>
    <p:sldLayoutId id="2147483677" r:id="rId12"/>
  </p:sldLayoutIdLst>
  <p:txStyles>
    <p:titleStyle>
      <a:lvl1pPr algn="l">
        <a:lnSpc>
          <a:spcPct val="90000"/>
        </a:lnSpc>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 TargetMode="Externa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rl_training_pipeline/01_environment_setup" TargetMode="Externa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6.xml"/><Relationship Id="rId2" Type="http://schemas.openxmlformats.org/officeDocument/2006/relationships/image" Target="../media/image4.png"/><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4.xml"/><Relationship Id="rId2" Type="http://schemas.openxmlformats.org/officeDocument/2006/relationships/image" Target="../media/image5.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6.jpeg"/><Relationship Id="rId16" Type="http://schemas.openxmlformats.org/officeDocument/2006/relationships/notesSlide" Target="../notesSlides/notesSlide6.xml"/><Relationship Id="rId15" Type="http://schemas.openxmlformats.org/officeDocument/2006/relationships/slideLayout" Target="../slideLayouts/slideLayout14.xml"/><Relationship Id="rId14" Type="http://schemas.openxmlformats.org/officeDocument/2006/relationships/tags" Target="../tags/tag12.xml"/><Relationship Id="rId13" Type="http://schemas.openxmlformats.org/officeDocument/2006/relationships/tags" Target="../tags/tag11.xml"/><Relationship Id="rId12" Type="http://schemas.openxmlformats.org/officeDocument/2006/relationships/tags" Target="../tags/tag10.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rl_training_pipeline/02_rl_core_concepts" TargetMode="External"/><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7.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3.xml"/><Relationship Id="rId2" Type="http://schemas.openxmlformats.org/officeDocument/2006/relationships/image" Target="../media/image8.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3.xml"/><Relationship Id="rId2" Type="http://schemas.openxmlformats.org/officeDocument/2006/relationships/image" Target="../media/image2.png"/><Relationship Id="rId1" Type="http://schemas.openxmlformats.org/officeDocument/2006/relationships/chart" Target="../charts/chart1.xml"/></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3.xml"/><Relationship Id="rId2" Type="http://schemas.openxmlformats.org/officeDocument/2006/relationships/image" Target="../media/image9.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3.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rl_training_pipeline/03_wordle_rl_training" TargetMode="Externa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2.xml"/><Relationship Id="rId2" Type="http://schemas.openxmlformats.org/officeDocument/2006/relationships/image" Target="../media/image10.png"/><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1.xml"/><Relationship Id="rId2" Type="http://schemas.openxmlformats.org/officeDocument/2006/relationships/hyperlink" Target="https://gitcode.com/cann/cann-learning-hub/tree/master/tutorials/rl_training_pipeline/04_tuning_and_troubleshooting" TargetMode="External"/><Relationship Id="rId1" Type="http://schemas.openxmlformats.org/officeDocument/2006/relationships/image" Target="../media/image3.png"/></Relationships>
</file>

<file path=ppt/slides/_rels/slide24.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2.xml"/><Relationship Id="rId2" Type="http://schemas.openxmlformats.org/officeDocument/2006/relationships/image" Target="../media/image11.png"/><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xml"/><Relationship Id="rId4" Type="http://schemas.openxmlformats.org/officeDocument/2006/relationships/image" Target="../media/image13.png"/><Relationship Id="rId3" Type="http://schemas.openxmlformats.org/officeDocument/2006/relationships/image" Target="../media/image12.jpeg"/><Relationship Id="rId2" Type="http://schemas.openxmlformats.org/officeDocument/2006/relationships/hyperlink" Target="https://gitcode.com/cann/cann-learning-hub/tree/master/tutorials" TargetMode="Externa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lum/>
          </a:blip>
          <a:srcRect/>
          <a:stretch>
            <a:fillRect/>
          </a:stretch>
        </a:blipFill>
        <a:effectLst/>
      </p:bgPr>
    </p:bg>
    <p:spTree>
      <p:nvGrpSpPr>
        <p:cNvPr id="1" name=""/>
        <p:cNvGrpSpPr/>
        <p:nvPr/>
      </p:nvGrpSpPr>
      <p:grpSpPr/>
      <p:sp>
        <p:nvSpPr>
          <p:cNvPr id="16" name="文本框 15"/>
          <p:cNvSpPr>
            <a:spLocks noGrp="1"/>
          </p:cNvSpPr>
          <p:nvPr/>
        </p:nvSpPr>
        <p:spPr>
          <a:xfrm>
            <a:off x="620201" y="6130454"/>
            <a:ext cx="8763000" cy="246221"/>
          </a:xfrm>
          <a:prstGeom prst="rect">
            <a:avLst/>
          </a:prstGeom>
          <a:noFill/>
        </p:spPr>
        <p:txBody>
          <a:bodyPr wrap="none">
            <a:spAutoFit/>
          </a:bodyPr>
          <a:lstStyle/>
          <a:p>
            <a:r>
              <a:rPr sz="1000">
                <a:solidFill>
                  <a:schemeClr val="bg1">
                    <a:lumMod val="50000"/>
                  </a:schemeClr>
                </a:solidFill>
                <a:latin typeface="Times New Roman" panose="02020503050405090304"/>
                <a:ea typeface="微软雅黑"/>
                <a:cs typeface="Times New Roman" panose="02020503050405090304"/>
                <a:hlinkClick r:id="rId2"/>
              </a:rPr>
              <a:t>https://gitcode.com/cann/cann-learning-hub/tree/master/tutorials</a:t>
            </a:r>
            <a:endParaRPr sz="1000">
              <a:solidFill>
                <a:schemeClr val="bg1">
                  <a:lumMod val="50000"/>
                </a:schemeClr>
              </a:solidFill>
              <a:latin typeface="Times New Roman" panose="02020503050405090304"/>
              <a:ea typeface="微软雅黑"/>
              <a:cs typeface="Times New Roman" panose="02020503050405090304"/>
            </a:endParaRPr>
          </a:p>
        </p:txBody>
      </p:sp>
      <p:sp>
        <p:nvSpPr>
          <p:cNvPr id="2" name="文本框 1"/>
          <p:cNvSpPr>
            <a:spLocks noGrp="1"/>
          </p:cNvSpPr>
          <p:nvPr/>
        </p:nvSpPr>
        <p:spPr>
          <a:xfrm>
            <a:off x="1604694" y="1399429"/>
            <a:ext cx="5211445" cy="3353435"/>
          </a:xfrm>
          <a:prstGeom prst="rect">
            <a:avLst/>
          </a:prstGeom>
          <a:noFill/>
        </p:spPr>
        <p:txBody>
          <a:bodyPr wrap="none">
            <a:spAutoFit/>
          </a:bodyPr>
          <a:lstStyle/>
          <a:p>
            <a:pPr algn="ctr"/>
            <a:r>
              <a:rPr sz="4000" b="1">
                <a:latin typeface="Times New Roman" panose="02020503050405090304"/>
                <a:ea typeface="微软雅黑"/>
                <a:cs typeface="Times New Roman" panose="02020503050405090304"/>
              </a:rPr>
              <a:t>CANN大模型训练系列</a:t>
            </a:r>
            <a:endParaRPr sz="4000" b="1">
              <a:latin typeface="Times New Roman" panose="02020503050405090304"/>
              <a:ea typeface="微软雅黑"/>
              <a:cs typeface="Times New Roman" panose="02020503050405090304"/>
            </a:endParaRPr>
          </a:p>
          <a:p>
            <a:pPr algn="ctr"/>
            <a:r>
              <a:rPr sz="4000" b="1">
                <a:latin typeface="Times New Roman" panose="02020503050405090304"/>
                <a:ea typeface="微软雅黑"/>
                <a:cs typeface="Times New Roman" panose="02020503050405090304"/>
              </a:rPr>
              <a:t>RL强化学习</a:t>
            </a:r>
            <a:endParaRPr sz="40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a:p>
            <a:pPr algn="l"/>
            <a:endParaRPr sz="2200" b="1">
              <a:latin typeface="Times New Roman" panose="02020503050405090304"/>
              <a:ea typeface="微软雅黑"/>
              <a:cs typeface="Times New Roman" panose="02020503050405090304"/>
            </a:endParaRPr>
          </a:p>
          <a:p>
            <a:pPr algn="ctr"/>
            <a:endParaRPr sz="2200" b="1">
              <a:latin typeface="Times New Roman" panose="02020503050405090304"/>
              <a:ea typeface="微软雅黑"/>
              <a:cs typeface="Times New Roman" panose="0202050305040509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3"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课程目标</a:t>
            </a:r>
            <a:endParaRPr sz="2700" b="1">
              <a:solidFill>
                <a:srgbClr val="111111"/>
              </a:solidFill>
              <a:latin typeface="Times New Roman" panose="02020503050405090304"/>
              <a:ea typeface="微软雅黑"/>
              <a:cs typeface="Times New Roman" panose="02020503050405090304"/>
            </a:endParaRPr>
          </a:p>
        </p:txBody>
      </p:sp>
      <p:sp>
        <p:nvSpPr>
          <p:cNvPr id="19" name="intro"/>
          <p:cNvSpPr>
            <a:spLocks noGrp="1"/>
          </p:cNvSpPr>
          <p:nvPr/>
        </p:nvSpPr>
        <p:spPr>
          <a:xfrm>
            <a:off x="742950" y="1104900"/>
            <a:ext cx="107061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完成本课程后，能够运行 Wordle 强化学习，并依据指标与输出开展调优。</a:t>
            </a:r>
            <a:endParaRPr sz="2000" b="0">
              <a:solidFill>
                <a:srgbClr val="111111"/>
              </a:solidFill>
              <a:latin typeface="Times New Roman" panose="02020503050405090304"/>
              <a:ea typeface="微软雅黑"/>
              <a:cs typeface="Times New Roman" panose="02020503050405090304"/>
            </a:endParaRPr>
          </a:p>
        </p:txBody>
      </p:sp>
      <p:sp>
        <p:nvSpPr>
          <p:cNvPr id="20" name="goal-0-num"/>
          <p:cNvSpPr>
            <a:spLocks noGrp="1"/>
          </p:cNvSpPr>
          <p:nvPr/>
        </p:nvSpPr>
        <p:spPr>
          <a:xfrm>
            <a:off x="742950" y="1933575"/>
            <a:ext cx="571500" cy="419100"/>
          </a:xfrm>
          <a:prstGeom prst="rect">
            <a:avLst/>
          </a:prstGeom>
          <a:noFill/>
          <a:ln w="0">
            <a:noFill/>
          </a:ln>
        </p:spPr>
        <p:txBody>
          <a:bodyPr wrap="none" lIns="0" tIns="0" rIns="0" bIns="0" anchor="t">
            <a:noAutofit/>
          </a:bodyPr>
          <a:lstStyle/>
          <a:p>
            <a:pPr>
              <a:lnSpc>
                <a:spcPct val="108000"/>
              </a:lnSpc>
              <a:buNone/>
              <a:defRPr sz="2325" b="1">
                <a:solidFill>
                  <a:srgbClr val="E60012"/>
                </a:solidFill>
                <a:latin typeface="Times New Roman" panose="02020503050405090304"/>
                <a:ea typeface="微软雅黑"/>
                <a:cs typeface="Times New Roman" panose="02020503050405090304"/>
              </a:defRPr>
            </a:pPr>
            <a:r>
              <a:rPr sz="2325" b="1">
                <a:solidFill>
                  <a:srgbClr val="E60012"/>
                </a:solidFill>
                <a:latin typeface="Times New Roman" panose="02020503050405090304"/>
                <a:ea typeface="微软雅黑"/>
                <a:cs typeface="Times New Roman" panose="02020503050405090304"/>
              </a:rPr>
              <a:t>01</a:t>
            </a:r>
            <a:endParaRPr sz="2325" b="1">
              <a:solidFill>
                <a:srgbClr val="E60012"/>
              </a:solidFill>
              <a:latin typeface="Times New Roman" panose="02020503050405090304"/>
              <a:ea typeface="微软雅黑"/>
              <a:cs typeface="Times New Roman" panose="02020503050405090304"/>
            </a:endParaRPr>
          </a:p>
        </p:txBody>
      </p:sp>
      <p:sp>
        <p:nvSpPr>
          <p:cNvPr id="21" name="goal-0-head"/>
          <p:cNvSpPr>
            <a:spLocks noGrp="1"/>
          </p:cNvSpPr>
          <p:nvPr/>
        </p:nvSpPr>
        <p:spPr>
          <a:xfrm>
            <a:off x="1514475" y="1876425"/>
            <a:ext cx="9953625" cy="352425"/>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准备训练环境</a:t>
            </a:r>
            <a:endParaRPr sz="2025" b="1">
              <a:solidFill>
                <a:srgbClr val="111111"/>
              </a:solidFill>
              <a:latin typeface="Times New Roman" panose="02020503050405090304"/>
              <a:ea typeface="微软雅黑"/>
              <a:cs typeface="Times New Roman" panose="02020503050405090304"/>
            </a:endParaRPr>
          </a:p>
        </p:txBody>
      </p:sp>
      <p:sp>
        <p:nvSpPr>
          <p:cNvPr id="22" name="goal-0-body"/>
          <p:cNvSpPr>
            <a:spLocks noGrp="1"/>
          </p:cNvSpPr>
          <p:nvPr/>
        </p:nvSpPr>
        <p:spPr>
          <a:xfrm>
            <a:off x="1514475" y="2286000"/>
            <a:ext cx="9953625" cy="361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明确 verl、推理引擎与 NPU 的职责，完成环境检查。</a:t>
            </a:r>
            <a:endParaRPr sz="1800" b="0">
              <a:solidFill>
                <a:srgbClr val="111111"/>
              </a:solidFill>
              <a:latin typeface="Times New Roman" panose="02020503050405090304"/>
              <a:ea typeface="微软雅黑"/>
              <a:cs typeface="Times New Roman" panose="02020503050405090304"/>
            </a:endParaRPr>
          </a:p>
        </p:txBody>
      </p:sp>
      <p:sp>
        <p:nvSpPr>
          <p:cNvPr id="23" name="goal-1-num"/>
          <p:cNvSpPr>
            <a:spLocks noGrp="1"/>
          </p:cNvSpPr>
          <p:nvPr/>
        </p:nvSpPr>
        <p:spPr>
          <a:xfrm>
            <a:off x="742950" y="2828925"/>
            <a:ext cx="571500" cy="419100"/>
          </a:xfrm>
          <a:prstGeom prst="rect">
            <a:avLst/>
          </a:prstGeom>
          <a:noFill/>
          <a:ln w="0">
            <a:noFill/>
          </a:ln>
        </p:spPr>
        <p:txBody>
          <a:bodyPr wrap="none" lIns="0" tIns="0" rIns="0" bIns="0" anchor="t">
            <a:noAutofit/>
          </a:bodyPr>
          <a:lstStyle/>
          <a:p>
            <a:pPr>
              <a:lnSpc>
                <a:spcPct val="108000"/>
              </a:lnSpc>
              <a:buNone/>
              <a:defRPr sz="2325" b="1">
                <a:solidFill>
                  <a:srgbClr val="357AE8"/>
                </a:solidFill>
                <a:latin typeface="Times New Roman" panose="02020503050405090304"/>
                <a:ea typeface="微软雅黑"/>
                <a:cs typeface="Times New Roman" panose="02020503050405090304"/>
              </a:defRPr>
            </a:pPr>
            <a:r>
              <a:rPr sz="2325" b="1">
                <a:solidFill>
                  <a:srgbClr val="357AE8"/>
                </a:solidFill>
                <a:latin typeface="Times New Roman" panose="02020503050405090304"/>
                <a:ea typeface="微软雅黑"/>
                <a:cs typeface="Times New Roman" panose="02020503050405090304"/>
              </a:rPr>
              <a:t>02</a:t>
            </a:r>
            <a:endParaRPr sz="2325" b="1">
              <a:solidFill>
                <a:srgbClr val="357AE8"/>
              </a:solidFill>
              <a:latin typeface="Times New Roman" panose="02020503050405090304"/>
              <a:ea typeface="微软雅黑"/>
              <a:cs typeface="Times New Roman" panose="02020503050405090304"/>
            </a:endParaRPr>
          </a:p>
        </p:txBody>
      </p:sp>
      <p:sp>
        <p:nvSpPr>
          <p:cNvPr id="24" name="goal-1-head"/>
          <p:cNvSpPr>
            <a:spLocks noGrp="1"/>
          </p:cNvSpPr>
          <p:nvPr/>
        </p:nvSpPr>
        <p:spPr>
          <a:xfrm>
            <a:off x="1514475" y="2771775"/>
            <a:ext cx="9953625" cy="352425"/>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理解 GRPO 更新</a:t>
            </a:r>
            <a:endParaRPr sz="2025" b="1">
              <a:solidFill>
                <a:srgbClr val="111111"/>
              </a:solidFill>
              <a:latin typeface="Times New Roman" panose="02020503050405090304"/>
              <a:ea typeface="微软雅黑"/>
              <a:cs typeface="Times New Roman" panose="02020503050405090304"/>
            </a:endParaRPr>
          </a:p>
        </p:txBody>
      </p:sp>
      <p:sp>
        <p:nvSpPr>
          <p:cNvPr id="25" name="goal-1-body"/>
          <p:cNvSpPr>
            <a:spLocks noGrp="1"/>
          </p:cNvSpPr>
          <p:nvPr/>
        </p:nvSpPr>
        <p:spPr>
          <a:xfrm>
            <a:off x="1514475" y="3181350"/>
            <a:ext cx="9953625" cy="361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计算组内相对优势，解释 KL 约束与熵奖励的作用。</a:t>
            </a:r>
            <a:endParaRPr sz="1800" b="0">
              <a:solidFill>
                <a:srgbClr val="111111"/>
              </a:solidFill>
              <a:latin typeface="Times New Roman" panose="02020503050405090304"/>
              <a:ea typeface="微软雅黑"/>
              <a:cs typeface="Times New Roman" panose="02020503050405090304"/>
            </a:endParaRPr>
          </a:p>
        </p:txBody>
      </p:sp>
      <p:sp>
        <p:nvSpPr>
          <p:cNvPr id="26" name="goal-2-num"/>
          <p:cNvSpPr>
            <a:spLocks noGrp="1"/>
          </p:cNvSpPr>
          <p:nvPr/>
        </p:nvSpPr>
        <p:spPr>
          <a:xfrm>
            <a:off x="742950" y="3724275"/>
            <a:ext cx="571500" cy="419100"/>
          </a:xfrm>
          <a:prstGeom prst="rect">
            <a:avLst/>
          </a:prstGeom>
          <a:noFill/>
          <a:ln w="0">
            <a:noFill/>
          </a:ln>
        </p:spPr>
        <p:txBody>
          <a:bodyPr wrap="none" lIns="0" tIns="0" rIns="0" bIns="0" anchor="t">
            <a:noAutofit/>
          </a:bodyPr>
          <a:lstStyle/>
          <a:p>
            <a:pPr>
              <a:lnSpc>
                <a:spcPct val="108000"/>
              </a:lnSpc>
              <a:buNone/>
              <a:defRPr sz="2325" b="1">
                <a:solidFill>
                  <a:srgbClr val="E60012"/>
                </a:solidFill>
                <a:latin typeface="Times New Roman" panose="02020503050405090304"/>
                <a:ea typeface="微软雅黑"/>
                <a:cs typeface="Times New Roman" panose="02020503050405090304"/>
              </a:defRPr>
            </a:pPr>
            <a:r>
              <a:rPr sz="2325" b="1">
                <a:solidFill>
                  <a:srgbClr val="E60012"/>
                </a:solidFill>
                <a:latin typeface="Times New Roman" panose="02020503050405090304"/>
                <a:ea typeface="微软雅黑"/>
                <a:cs typeface="Times New Roman" panose="02020503050405090304"/>
              </a:rPr>
              <a:t>03</a:t>
            </a:r>
            <a:endParaRPr sz="2325" b="1">
              <a:solidFill>
                <a:srgbClr val="E60012"/>
              </a:solidFill>
              <a:latin typeface="Times New Roman" panose="02020503050405090304"/>
              <a:ea typeface="微软雅黑"/>
              <a:cs typeface="Times New Roman" panose="02020503050405090304"/>
            </a:endParaRPr>
          </a:p>
        </p:txBody>
      </p:sp>
      <p:sp>
        <p:nvSpPr>
          <p:cNvPr id="27" name="goal-2-head"/>
          <p:cNvSpPr>
            <a:spLocks noGrp="1"/>
          </p:cNvSpPr>
          <p:nvPr/>
        </p:nvSpPr>
        <p:spPr>
          <a:xfrm>
            <a:off x="1514475" y="3667125"/>
            <a:ext cx="9953625" cy="352425"/>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运行 Wordle 训练</a:t>
            </a:r>
            <a:endParaRPr sz="2025" b="1">
              <a:solidFill>
                <a:srgbClr val="111111"/>
              </a:solidFill>
              <a:latin typeface="Times New Roman" panose="02020503050405090304"/>
              <a:ea typeface="微软雅黑"/>
              <a:cs typeface="Times New Roman" panose="02020503050405090304"/>
            </a:endParaRPr>
          </a:p>
        </p:txBody>
      </p:sp>
      <p:sp>
        <p:nvSpPr>
          <p:cNvPr id="28" name="goal-2-body"/>
          <p:cNvSpPr>
            <a:spLocks noGrp="1"/>
          </p:cNvSpPr>
          <p:nvPr/>
        </p:nvSpPr>
        <p:spPr>
          <a:xfrm>
            <a:off x="1514475" y="4076700"/>
            <a:ext cx="9953625" cy="361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准备数据与奖励配置，检查多轮交互并解读评测结果。</a:t>
            </a:r>
            <a:endParaRPr sz="1800" b="0">
              <a:solidFill>
                <a:srgbClr val="111111"/>
              </a:solidFill>
              <a:latin typeface="Times New Roman" panose="02020503050405090304"/>
              <a:ea typeface="微软雅黑"/>
              <a:cs typeface="Times New Roman" panose="02020503050405090304"/>
            </a:endParaRPr>
          </a:p>
        </p:txBody>
      </p:sp>
      <p:sp>
        <p:nvSpPr>
          <p:cNvPr id="29" name="goal-3-num"/>
          <p:cNvSpPr>
            <a:spLocks noGrp="1"/>
          </p:cNvSpPr>
          <p:nvPr/>
        </p:nvSpPr>
        <p:spPr>
          <a:xfrm>
            <a:off x="742950" y="4619625"/>
            <a:ext cx="571500" cy="419100"/>
          </a:xfrm>
          <a:prstGeom prst="rect">
            <a:avLst/>
          </a:prstGeom>
          <a:noFill/>
          <a:ln w="0">
            <a:noFill/>
          </a:ln>
        </p:spPr>
        <p:txBody>
          <a:bodyPr wrap="none" lIns="0" tIns="0" rIns="0" bIns="0" anchor="t">
            <a:noAutofit/>
          </a:bodyPr>
          <a:lstStyle/>
          <a:p>
            <a:pPr>
              <a:lnSpc>
                <a:spcPct val="108000"/>
              </a:lnSpc>
              <a:buNone/>
              <a:defRPr sz="2325" b="1">
                <a:solidFill>
                  <a:srgbClr val="357AE8"/>
                </a:solidFill>
                <a:latin typeface="Times New Roman" panose="02020503050405090304"/>
                <a:ea typeface="微软雅黑"/>
                <a:cs typeface="Times New Roman" panose="02020503050405090304"/>
              </a:defRPr>
            </a:pPr>
            <a:r>
              <a:rPr sz="2325" b="1">
                <a:solidFill>
                  <a:srgbClr val="357AE8"/>
                </a:solidFill>
                <a:latin typeface="Times New Roman" panose="02020503050405090304"/>
                <a:ea typeface="微软雅黑"/>
                <a:cs typeface="Times New Roman" panose="02020503050405090304"/>
              </a:rPr>
              <a:t>04</a:t>
            </a:r>
            <a:endParaRPr sz="2325" b="1">
              <a:solidFill>
                <a:srgbClr val="357AE8"/>
              </a:solidFill>
              <a:latin typeface="Times New Roman" panose="02020503050405090304"/>
              <a:ea typeface="微软雅黑"/>
              <a:cs typeface="Times New Roman" panose="02020503050405090304"/>
            </a:endParaRPr>
          </a:p>
        </p:txBody>
      </p:sp>
      <p:sp>
        <p:nvSpPr>
          <p:cNvPr id="30" name="goal-3-head"/>
          <p:cNvSpPr>
            <a:spLocks noGrp="1"/>
          </p:cNvSpPr>
          <p:nvPr/>
        </p:nvSpPr>
        <p:spPr>
          <a:xfrm>
            <a:off x="1514475" y="4562475"/>
            <a:ext cx="9953625" cy="352425"/>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开展调优排查</a:t>
            </a:r>
            <a:endParaRPr sz="2025" b="1">
              <a:solidFill>
                <a:srgbClr val="111111"/>
              </a:solidFill>
              <a:latin typeface="Times New Roman" panose="02020503050405090304"/>
              <a:ea typeface="微软雅黑"/>
              <a:cs typeface="Times New Roman" panose="02020503050405090304"/>
            </a:endParaRPr>
          </a:p>
        </p:txBody>
      </p:sp>
      <p:sp>
        <p:nvSpPr>
          <p:cNvPr id="31" name="goal-3-body"/>
          <p:cNvSpPr>
            <a:spLocks noGrp="1"/>
          </p:cNvSpPr>
          <p:nvPr/>
        </p:nvSpPr>
        <p:spPr>
          <a:xfrm>
            <a:off x="1514475" y="4972050"/>
            <a:ext cx="9953625" cy="361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结合指标与完整轨迹定位异常，设计单变量对照实验。</a:t>
            </a:r>
            <a:endParaRPr sz="1800" b="0">
              <a:solidFill>
                <a:srgbClr val="111111"/>
              </a:solidFill>
              <a:latin typeface="Times New Roman" panose="02020503050405090304"/>
              <a:ea typeface="微软雅黑"/>
              <a:cs typeface="Times New Roman" panose="02020503050405090304"/>
            </a:endParaRPr>
          </a:p>
        </p:txBody>
      </p:sp>
      <p:sp>
        <p:nvSpPr>
          <p:cNvPr id="32" name="key"/>
          <p:cNvSpPr>
            <a:spLocks noGrp="1"/>
          </p:cNvSpPr>
          <p:nvPr/>
        </p:nvSpPr>
        <p:spPr>
          <a:xfrm>
            <a:off x="742950" y="5857875"/>
            <a:ext cx="107061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课堂结合配置、已保存的日志与轨迹开展练习，完整训练可在课后复现。</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par>
                                <p:cTn id="11" presetID="10" presetClass="entr" presetSubtype="0" fill="hold" grpId="0" nodeType="withEffect">
                                  <p:stCondLst>
                                    <p:cond delay="0"/>
                                  </p:stCondLst>
                                  <p:childTnLst>
                                    <p:set>
                                      <p:cBhvr>
                                        <p:cTn id="12" dur="1" fill="hold"/>
                                        <p:tgtEl>
                                          <p:spTgt spid="22"/>
                                        </p:tgtEl>
                                        <p:attrNameLst>
                                          <p:attrName>style.visibility</p:attrName>
                                        </p:attrNameLst>
                                      </p:cBhvr>
                                      <p:to>
                                        <p:strVal val="visible"/>
                                      </p:to>
                                    </p:set>
                                    <p:animEffect transition="in" filter="fade">
                                      <p:cBhvr>
                                        <p:cTn id="13" dur="350"/>
                                        <p:tgtEl>
                                          <p:spTgt spid="22"/>
                                        </p:tgtEl>
                                      </p:cBhvr>
                                    </p:animEffect>
                                  </p:childTnLst>
                                </p:cTn>
                              </p:par>
                              <p:par>
                                <p:cTn id="14" presetID="10" presetClass="entr" presetSubtype="0" fill="hold" grpId="0" nodeType="withEffect">
                                  <p:stCondLst>
                                    <p:cond delay="0"/>
                                  </p:stCondLst>
                                  <p:childTnLst>
                                    <p:set>
                                      <p:cBhvr>
                                        <p:cTn id="15" dur="1" fill="hold"/>
                                        <p:tgtEl>
                                          <p:spTgt spid="19"/>
                                        </p:tgtEl>
                                        <p:attrNameLst>
                                          <p:attrName>style.visibility</p:attrName>
                                        </p:attrNameLst>
                                      </p:cBhvr>
                                      <p:to>
                                        <p:strVal val="visible"/>
                                      </p:to>
                                    </p:set>
                                    <p:animEffect transition="in" filter="fade">
                                      <p:cBhvr>
                                        <p:cTn id="16" dur="35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tgtEl>
                                          <p:spTgt spid="23"/>
                                        </p:tgtEl>
                                        <p:attrNameLst>
                                          <p:attrName>style.visibility</p:attrName>
                                        </p:attrNameLst>
                                      </p:cBhvr>
                                      <p:to>
                                        <p:strVal val="visible"/>
                                      </p:to>
                                    </p:set>
                                    <p:animEffect transition="in" filter="fade">
                                      <p:cBhvr>
                                        <p:cTn id="21" dur="350"/>
                                        <p:tgtEl>
                                          <p:spTgt spid="23"/>
                                        </p:tgtEl>
                                      </p:cBhvr>
                                    </p:animEffect>
                                  </p:childTnLst>
                                </p:cTn>
                              </p:par>
                              <p:par>
                                <p:cTn id="22" presetID="10" presetClass="entr" presetSubtype="0" fill="hold" grpId="0" nodeType="withEffect">
                                  <p:stCondLst>
                                    <p:cond delay="0"/>
                                  </p:stCondLst>
                                  <p:childTnLst>
                                    <p:set>
                                      <p:cBhvr>
                                        <p:cTn id="23" dur="1" fill="hold"/>
                                        <p:tgtEl>
                                          <p:spTgt spid="24"/>
                                        </p:tgtEl>
                                        <p:attrNameLst>
                                          <p:attrName>style.visibility</p:attrName>
                                        </p:attrNameLst>
                                      </p:cBhvr>
                                      <p:to>
                                        <p:strVal val="visible"/>
                                      </p:to>
                                    </p:set>
                                    <p:animEffect transition="in" filter="fade">
                                      <p:cBhvr>
                                        <p:cTn id="24" dur="350"/>
                                        <p:tgtEl>
                                          <p:spTgt spid="24"/>
                                        </p:tgtEl>
                                      </p:cBhvr>
                                    </p:animEffect>
                                  </p:childTnLst>
                                </p:cTn>
                              </p:par>
                              <p:par>
                                <p:cTn id="25" presetID="10" presetClass="entr" presetSubtype="0" fill="hold" grpId="0" nodeType="withEffect">
                                  <p:stCondLst>
                                    <p:cond delay="0"/>
                                  </p:stCondLst>
                                  <p:childTnLst>
                                    <p:set>
                                      <p:cBhvr>
                                        <p:cTn id="26" dur="1" fill="hold"/>
                                        <p:tgtEl>
                                          <p:spTgt spid="25"/>
                                        </p:tgtEl>
                                        <p:attrNameLst>
                                          <p:attrName>style.visibility</p:attrName>
                                        </p:attrNameLst>
                                      </p:cBhvr>
                                      <p:to>
                                        <p:strVal val="visible"/>
                                      </p:to>
                                    </p:set>
                                    <p:animEffect transition="in" filter="fade">
                                      <p:cBhvr>
                                        <p:cTn id="27" dur="350"/>
                                        <p:tgtEl>
                                          <p:spTgt spid="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tgtEl>
                                          <p:spTgt spid="26"/>
                                        </p:tgtEl>
                                        <p:attrNameLst>
                                          <p:attrName>style.visibility</p:attrName>
                                        </p:attrNameLst>
                                      </p:cBhvr>
                                      <p:to>
                                        <p:strVal val="visible"/>
                                      </p:to>
                                    </p:set>
                                    <p:animEffect transition="in" filter="fade">
                                      <p:cBhvr>
                                        <p:cTn id="32" dur="350"/>
                                        <p:tgtEl>
                                          <p:spTgt spid="26"/>
                                        </p:tgtEl>
                                      </p:cBhvr>
                                    </p:animEffect>
                                  </p:childTnLst>
                                </p:cTn>
                              </p:par>
                              <p:par>
                                <p:cTn id="33" presetID="10" presetClass="entr" presetSubtype="0" fill="hold" grpId="0" nodeType="withEffect">
                                  <p:stCondLst>
                                    <p:cond delay="0"/>
                                  </p:stCondLst>
                                  <p:childTnLst>
                                    <p:set>
                                      <p:cBhvr>
                                        <p:cTn id="34" dur="1" fill="hold"/>
                                        <p:tgtEl>
                                          <p:spTgt spid="27"/>
                                        </p:tgtEl>
                                        <p:attrNameLst>
                                          <p:attrName>style.visibility</p:attrName>
                                        </p:attrNameLst>
                                      </p:cBhvr>
                                      <p:to>
                                        <p:strVal val="visible"/>
                                      </p:to>
                                    </p:set>
                                    <p:animEffect transition="in" filter="fade">
                                      <p:cBhvr>
                                        <p:cTn id="35" dur="350"/>
                                        <p:tgtEl>
                                          <p:spTgt spid="27"/>
                                        </p:tgtEl>
                                      </p:cBhvr>
                                    </p:animEffect>
                                  </p:childTnLst>
                                </p:cTn>
                              </p:par>
                              <p:par>
                                <p:cTn id="36" presetID="10" presetClass="entr" presetSubtype="0" fill="hold" grpId="0" nodeType="withEffect">
                                  <p:stCondLst>
                                    <p:cond delay="0"/>
                                  </p:stCondLst>
                                  <p:childTnLst>
                                    <p:set>
                                      <p:cBhvr>
                                        <p:cTn id="37" dur="1" fill="hold"/>
                                        <p:tgtEl>
                                          <p:spTgt spid="28"/>
                                        </p:tgtEl>
                                        <p:attrNameLst>
                                          <p:attrName>style.visibility</p:attrName>
                                        </p:attrNameLst>
                                      </p:cBhvr>
                                      <p:to>
                                        <p:strVal val="visible"/>
                                      </p:to>
                                    </p:set>
                                    <p:animEffect transition="in" filter="fade">
                                      <p:cBhvr>
                                        <p:cTn id="38" dur="350"/>
                                        <p:tgtEl>
                                          <p:spTgt spid="28"/>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29"/>
                                        </p:tgtEl>
                                        <p:attrNameLst>
                                          <p:attrName>style.visibility</p:attrName>
                                        </p:attrNameLst>
                                      </p:cBhvr>
                                      <p:to>
                                        <p:strVal val="visible"/>
                                      </p:to>
                                    </p:set>
                                    <p:animEffect transition="in" filter="fade">
                                      <p:cBhvr>
                                        <p:cTn id="43" dur="350"/>
                                        <p:tgtEl>
                                          <p:spTgt spid="29"/>
                                        </p:tgtEl>
                                      </p:cBhvr>
                                    </p:animEffect>
                                  </p:childTnLst>
                                </p:cTn>
                              </p:par>
                              <p:par>
                                <p:cTn id="44" presetID="10" presetClass="entr" presetSubtype="0" fill="hold" grpId="0" nodeType="withEffect">
                                  <p:stCondLst>
                                    <p:cond delay="0"/>
                                  </p:stCondLst>
                                  <p:childTnLst>
                                    <p:set>
                                      <p:cBhvr>
                                        <p:cTn id="45" dur="1" fill="hold"/>
                                        <p:tgtEl>
                                          <p:spTgt spid="30"/>
                                        </p:tgtEl>
                                        <p:attrNameLst>
                                          <p:attrName>style.visibility</p:attrName>
                                        </p:attrNameLst>
                                      </p:cBhvr>
                                      <p:to>
                                        <p:strVal val="visible"/>
                                      </p:to>
                                    </p:set>
                                    <p:animEffect transition="in" filter="fade">
                                      <p:cBhvr>
                                        <p:cTn id="46" dur="350"/>
                                        <p:tgtEl>
                                          <p:spTgt spid="30"/>
                                        </p:tgtEl>
                                      </p:cBhvr>
                                    </p:animEffect>
                                  </p:childTnLst>
                                </p:cTn>
                              </p:par>
                              <p:par>
                                <p:cTn id="47" presetID="10" presetClass="entr" presetSubtype="0" fill="hold" grpId="0" nodeType="withEffect">
                                  <p:stCondLst>
                                    <p:cond delay="0"/>
                                  </p:stCondLst>
                                  <p:childTnLst>
                                    <p:set>
                                      <p:cBhvr>
                                        <p:cTn id="48" dur="1" fill="hold"/>
                                        <p:tgtEl>
                                          <p:spTgt spid="31"/>
                                        </p:tgtEl>
                                        <p:attrNameLst>
                                          <p:attrName>style.visibility</p:attrName>
                                        </p:attrNameLst>
                                      </p:cBhvr>
                                      <p:to>
                                        <p:strVal val="visible"/>
                                      </p:to>
                                    </p:set>
                                    <p:animEffect transition="in" filter="fade">
                                      <p:cBhvr>
                                        <p:cTn id="49" dur="350"/>
                                        <p:tgtEl>
                                          <p:spTgt spid="31"/>
                                        </p:tgtEl>
                                      </p:cBhvr>
                                    </p:animEffect>
                                  </p:childTnLst>
                                </p:cTn>
                              </p:par>
                              <p:par>
                                <p:cTn id="50" presetID="10" presetClass="entr" presetSubtype="0" fill="hold" grpId="0" nodeType="withEffect">
                                  <p:stCondLst>
                                    <p:cond delay="0"/>
                                  </p:stCondLst>
                                  <p:childTnLst>
                                    <p:set>
                                      <p:cBhvr>
                                        <p:cTn id="51" dur="1" fill="hold"/>
                                        <p:tgtEl>
                                          <p:spTgt spid="32"/>
                                        </p:tgtEl>
                                        <p:attrNameLst>
                                          <p:attrName>style.visibility</p:attrName>
                                        </p:attrNameLst>
                                      </p:cBhvr>
                                      <p:to>
                                        <p:strVal val="visible"/>
                                      </p:to>
                                    </p:set>
                                    <p:animEffect transition="in" filter="fade">
                                      <p:cBhvr>
                                        <p:cTn id="52" dur="35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547073" y="2601035"/>
            <a:ext cx="3380868" cy="835742"/>
          </a:xfrm>
          <a:prstGeom prst="rect">
            <a:avLst/>
          </a:prstGeom>
          <a:solidFill>
            <a:srgbClr val="FFFFFF"/>
          </a:solidFill>
          <a:ln w="12700" cmpd="sng">
            <a:noFill/>
            <a:prstDash val="solid"/>
          </a:ln>
        </p:spPr>
        <p:txBody>
          <a:bodyPr anchor="ctr"/>
          <a:lstStyle/>
          <a:p>
            <a:pPr marL="0" indent="0" algn="ctr">
              <a:lnSpc>
                <a:spcPct val="100000"/>
              </a:lnSpc>
              <a:spcBef>
                <a:spcPts val="0"/>
              </a:spcBef>
              <a:spcAft>
                <a:spcPts val="0"/>
              </a:spcAft>
              <a:buNone/>
            </a:pPr>
            <a:r>
              <a:rPr sz="4000" b="0" i="0" u="none" cap="none">
                <a:ln>
                  <a:noFill/>
                </a:ln>
                <a:solidFill>
                  <a:srgbClr val="DDDDDD">
                    <a:lumMod val="50000"/>
                  </a:srgbClr>
                </a:solidFill>
                <a:latin typeface="Times New Roman" panose="02020503050405090304"/>
                <a:ea typeface="微软雅黑"/>
                <a:cs typeface="Times New Roman" panose="02020503050405090304"/>
              </a:rPr>
              <a:t>RL 初阶课程</a:t>
            </a:r>
            <a:endParaRPr sz="4000" b="0" i="0" u="none" cap="none">
              <a:ln>
                <a:noFill/>
              </a:ln>
              <a:solidFill>
                <a:srgbClr val="DDDDDD">
                  <a:lumMod val="50000"/>
                </a:srgbClr>
              </a:solidFill>
              <a:latin typeface="Times New Roman" panose="02020503050405090304"/>
              <a:ea typeface="微软雅黑"/>
              <a:cs typeface="Times New Roman" panose="02020503050405090304"/>
            </a:endParaRPr>
          </a:p>
        </p:txBody>
      </p:sp>
      <p:sp>
        <p:nvSpPr>
          <p:cNvPr id="15" name="í$ľidè"/>
          <p:cNvSpPr>
            <a:spLocks noGrp="1"/>
          </p:cNvSpPr>
          <p:nvPr/>
        </p:nvSpPr>
        <p:spPr>
          <a:xfrm>
            <a:off x="3956272" y="1890392"/>
            <a:ext cx="0" cy="2769071"/>
          </a:xfrm>
          <a:prstGeom prst="line">
            <a:avLst/>
          </a:prstGeom>
          <a:solidFill>
            <a:srgbClr val="FFCC00"/>
          </a:solidFill>
          <a:ln w="12700">
            <a:solidFill>
              <a:schemeClr val="bg1">
                <a:lumMod val="65000"/>
              </a:schemeClr>
            </a:solidFill>
            <a:prstDash val="solid"/>
            <a:headEnd type="none" w="med" len="med"/>
            <a:tailEnd type="none" w="med" len="med"/>
          </a:ln>
        </p:spPr>
      </p:sp>
      <p:pic>
        <p:nvPicPr>
          <p:cNvPr id="21" name="图片 7"/>
          <p:cNvPicPr>
            <a:picLocks noChangeAspect="1"/>
          </p:cNvPicPr>
          <p:nvPr/>
        </p:nvPicPr>
        <p:blipFill>
          <a:blip r:embed="rId1"/>
          <a:stretch>
            <a:fillRect/>
          </a:stretch>
        </p:blipFill>
        <p:spPr>
          <a:xfrm>
            <a:off x="10137202" y="6042990"/>
            <a:ext cx="1312676" cy="348426"/>
          </a:xfrm>
          <a:prstGeom prst="rect">
            <a:avLst/>
          </a:prstGeom>
        </p:spPr>
      </p:pic>
      <p:sp>
        <p:nvSpPr>
          <p:cNvPr id="17" name="文本框 16"/>
          <p:cNvSpPr>
            <a:spLocks noGrp="1"/>
          </p:cNvSpPr>
          <p:nvPr/>
        </p:nvSpPr>
        <p:spPr>
          <a:xfrm>
            <a:off x="620201" y="6130454"/>
            <a:ext cx="8763000" cy="246221"/>
          </a:xfrm>
          <a:prstGeom prst="rect">
            <a:avLst/>
          </a:prstGeom>
          <a:noFill/>
        </p:spPr>
        <p:txBody>
          <a:bodyPr wrap="none">
            <a:spAutoFit/>
          </a:bodyPr>
          <a:lstStyle/>
          <a:p>
            <a:pPr marL="0" indent="0" algn="l">
              <a:lnSpc>
                <a:spcPct val="100000"/>
              </a:lnSpc>
              <a:spcBef>
                <a:spcPts val="0"/>
              </a:spcBef>
              <a:spcAft>
                <a:spcPts val="0"/>
              </a:spcAft>
              <a:buNone/>
            </a:pPr>
            <a:r>
              <a:rPr sz="1000" b="0" i="0" u="none" cap="none">
                <a:ln>
                  <a:noFill/>
                </a:ln>
                <a:solidFill>
                  <a:prstClr val="white">
                    <a:lumMod val="50000"/>
                  </a:prstClr>
                </a:solidFill>
                <a:latin typeface="Times New Roman" panose="02020503050405090304"/>
                <a:ea typeface="微软雅黑"/>
                <a:cs typeface="Times New Roman" panose="02020503050405090304"/>
                <a:hlinkClick r:id="rId2"/>
              </a:rPr>
              <a:t>https://gitcode.com/cann/cann-learning-hub/tree/master/tutorials/rl_training_pipeline</a:t>
            </a:r>
            <a:endParaRPr sz="1000" b="0" i="0" u="none" cap="none">
              <a:ln>
                <a:noFill/>
              </a:ln>
              <a:solidFill>
                <a:prstClr val="white">
                  <a:lumMod val="50000"/>
                </a:prstClr>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5157694" y="1530876"/>
            <a:ext cx="4587547" cy="596075"/>
          </a:xfrm>
          <a:prstGeom prst="rect">
            <a:avLst/>
          </a:prstGeom>
          <a:solidFill>
            <a:srgbClr val="C00000"/>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FFFFFF"/>
                </a:solidFill>
                <a:latin typeface="Times New Roman" panose="02020503050405090304"/>
                <a:ea typeface="微软雅黑"/>
                <a:cs typeface="Times New Roman" panose="02020503050405090304"/>
              </a:rPr>
              <a:t>Part 1 强化学习训练环境准备</a:t>
            </a:r>
            <a:endParaRPr sz="2400" b="0" i="0" u="none" cap="none">
              <a:ln>
                <a:noFill/>
              </a:ln>
              <a:solidFill>
                <a:srgbClr val="FFFFFF"/>
              </a:solidFill>
              <a:latin typeface="Times New Roman" panose="02020503050405090304"/>
              <a:ea typeface="微软雅黑"/>
              <a:cs typeface="Times New Roman" panose="02020503050405090304"/>
            </a:endParaRPr>
          </a:p>
        </p:txBody>
      </p:sp>
      <p:sp>
        <p:nvSpPr>
          <p:cNvPr id="13" name="矩形 12"/>
          <p:cNvSpPr>
            <a:spLocks noGrp="1"/>
          </p:cNvSpPr>
          <p:nvPr/>
        </p:nvSpPr>
        <p:spPr>
          <a:xfrm>
            <a:off x="5157694" y="2680975"/>
            <a:ext cx="4587549" cy="591795"/>
          </a:xfrm>
          <a:prstGeom prst="rect">
            <a:avLst/>
          </a:prstGeom>
          <a:solidFill>
            <a:srgbClr val="FFFFFF">
              <a:lumMod val="95000"/>
            </a:srgbClr>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2 RL 核心概念</a:t>
            </a:r>
            <a:endParaRPr sz="2400">
              <a:solidFill>
                <a:srgbClr val="666666"/>
              </a:solidFill>
              <a:latin typeface="Times New Roman" panose="02020503050405090304"/>
              <a:ea typeface="微软雅黑"/>
              <a:cs typeface="Times New Roman" panose="02020503050405090304"/>
            </a:endParaRPr>
          </a:p>
        </p:txBody>
      </p:sp>
      <p:sp>
        <p:nvSpPr>
          <p:cNvPr id="14" name="矩形 13"/>
          <p:cNvSpPr>
            <a:spLocks noGrp="1"/>
          </p:cNvSpPr>
          <p:nvPr/>
        </p:nvSpPr>
        <p:spPr>
          <a:xfrm>
            <a:off x="5157694" y="3712434"/>
            <a:ext cx="4587551"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3 Wordle RL 训练</a:t>
            </a:r>
            <a:endParaRPr sz="2400" b="0" i="0" u="none" cap="none">
              <a:ln>
                <a:noFill/>
              </a:ln>
              <a:solidFill>
                <a:srgbClr val="666666"/>
              </a:solidFill>
              <a:latin typeface="Times New Roman" panose="02020503050405090304"/>
              <a:ea typeface="微软雅黑"/>
              <a:cs typeface="Times New Roman" panose="02020503050405090304"/>
            </a:endParaRPr>
          </a:p>
        </p:txBody>
      </p:sp>
      <p:sp>
        <p:nvSpPr>
          <p:cNvPr id="7" name="矩形 6"/>
          <p:cNvSpPr>
            <a:spLocks noGrp="1"/>
          </p:cNvSpPr>
          <p:nvPr/>
        </p:nvSpPr>
        <p:spPr>
          <a:xfrm>
            <a:off x="5157694" y="4739611"/>
            <a:ext cx="4587553"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4 调优与问题排查</a:t>
            </a:r>
            <a:endParaRPr sz="2400" b="0" i="0" u="none" cap="none">
              <a:ln>
                <a:noFill/>
              </a:ln>
              <a:solidFill>
                <a:srgbClr val="666666"/>
              </a:solidFill>
              <a:latin typeface="Times New Roman" panose="02020503050405090304"/>
              <a:ea typeface="微软雅黑"/>
              <a:cs typeface="Times New Roman" panose="0202050305040509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90" name="图片 6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71" name="矩形 70"/>
          <p:cNvSpPr>
            <a:spLocks noGrp="1"/>
          </p:cNvSpPr>
          <p:nvPr/>
        </p:nvSpPr>
        <p:spPr>
          <a:xfrm>
            <a:off x="609600" y="323850"/>
            <a:ext cx="10858500" cy="504825"/>
          </a:xfrm>
          <a:prstGeom prst="rect">
            <a:avLst/>
          </a:prstGeom>
          <a:noFill/>
          <a:ln w="0">
            <a:noFill/>
          </a:ln>
        </p:spPr>
        <p:txBody>
          <a:bodyPr wrap="square" lIns="0" tIns="0" rIns="0" bIns="0" anchor="ctr">
            <a:noAutofit/>
          </a:bodyPr>
          <a:lstStyle/>
          <a:p>
            <a:pPr algn="l">
              <a:lnSpc>
                <a:spcPct val="110000"/>
              </a:lnSpc>
              <a:buNone/>
              <a:defRPr sz="2700" b="1">
                <a:solidFill>
                  <a:srgbClr val="111111"/>
                </a:solidFill>
                <a:latin typeface="微软雅黑"/>
                <a:ea typeface="微软雅黑"/>
                <a:cs typeface="微软雅黑"/>
              </a:defRPr>
            </a:pPr>
            <a:r>
              <a:rPr sz="2700" b="1">
                <a:solidFill>
                  <a:srgbClr val="111111"/>
                </a:solidFill>
                <a:latin typeface="微软雅黑"/>
                <a:ea typeface="微软雅黑"/>
                <a:cs typeface="微软雅黑"/>
              </a:rPr>
              <a:t>从 SFT 到 RL</a:t>
            </a:r>
            <a:endParaRPr sz="2700" b="1">
              <a:solidFill>
                <a:srgbClr val="111111"/>
              </a:solidFill>
              <a:latin typeface="微软雅黑"/>
              <a:ea typeface="微软雅黑"/>
              <a:cs typeface="微软雅黑"/>
            </a:endParaRPr>
          </a:p>
        </p:txBody>
      </p:sp>
      <p:sp>
        <p:nvSpPr>
          <p:cNvPr id="72" name="矩形 71"/>
          <p:cNvSpPr>
            <a:spLocks noGrp="1"/>
          </p:cNvSpPr>
          <p:nvPr/>
        </p:nvSpPr>
        <p:spPr>
          <a:xfrm>
            <a:off x="685800" y="981075"/>
            <a:ext cx="6667500" cy="266700"/>
          </a:xfrm>
          <a:prstGeom prst="rect">
            <a:avLst/>
          </a:prstGeom>
          <a:noFill/>
          <a:ln w="0">
            <a:noFill/>
          </a:ln>
        </p:spPr>
        <p:txBody>
          <a:bodyPr wrap="square" lIns="0" tIns="0" rIns="0" bIns="0" anchor="t">
            <a:noAutofit/>
          </a:bodyPr>
          <a:lstStyle/>
          <a:p>
            <a:pPr algn="l">
              <a:lnSpc>
                <a:spcPct val="110000"/>
              </a:lnSpc>
              <a:buNone/>
              <a:defRPr sz="1275" b="0">
                <a:solidFill>
                  <a:srgbClr val="666666"/>
                </a:solidFill>
                <a:latin typeface="微软雅黑"/>
                <a:ea typeface="微软雅黑"/>
                <a:cs typeface="微软雅黑"/>
              </a:defRPr>
            </a:pPr>
            <a:endParaRPr sz="1275" b="0">
              <a:solidFill>
                <a:srgbClr val="666666"/>
              </a:solidFill>
              <a:latin typeface="微软雅黑"/>
              <a:ea typeface="微软雅黑"/>
              <a:cs typeface="微软雅黑"/>
            </a:endParaRPr>
          </a:p>
        </p:txBody>
      </p:sp>
      <p:sp>
        <p:nvSpPr>
          <p:cNvPr id="73" name="矩形 72"/>
          <p:cNvSpPr>
            <a:spLocks noGrp="1"/>
          </p:cNvSpPr>
          <p:nvPr/>
        </p:nvSpPr>
        <p:spPr>
          <a:xfrm>
            <a:off x="685800" y="1352550"/>
            <a:ext cx="5334000" cy="323850"/>
          </a:xfrm>
          <a:prstGeom prst="rect">
            <a:avLst/>
          </a:prstGeom>
          <a:noFill/>
          <a:ln w="0">
            <a:noFill/>
          </a:ln>
        </p:spPr>
        <p:txBody>
          <a:bodyPr wrap="square" lIns="0" tIns="0" rIns="0" bIns="0" anchor="t">
            <a:noAutofit/>
          </a:bodyPr>
          <a:lstStyle/>
          <a:p>
            <a:pPr algn="l">
              <a:lnSpc>
                <a:spcPct val="110000"/>
              </a:lnSpc>
              <a:buNone/>
              <a:defRPr sz="1875" b="1">
                <a:solidFill>
                  <a:srgbClr val="E60012"/>
                </a:solidFill>
                <a:latin typeface="微软雅黑"/>
                <a:ea typeface="微软雅黑"/>
                <a:cs typeface="微软雅黑"/>
              </a:defRPr>
            </a:pPr>
            <a:r>
              <a:rPr sz="1875" b="1">
                <a:solidFill>
                  <a:srgbClr val="E60012"/>
                </a:solidFill>
                <a:latin typeface="微软雅黑"/>
                <a:ea typeface="微软雅黑"/>
                <a:cs typeface="微软雅黑"/>
              </a:rPr>
              <a:t>训练范式的转变</a:t>
            </a:r>
            <a:endParaRPr sz="1875" b="1">
              <a:solidFill>
                <a:srgbClr val="E60012"/>
              </a:solidFill>
              <a:latin typeface="微软雅黑"/>
              <a:ea typeface="微软雅黑"/>
              <a:cs typeface="微软雅黑"/>
            </a:endParaRPr>
          </a:p>
        </p:txBody>
      </p:sp>
      <p:sp>
        <p:nvSpPr>
          <p:cNvPr id="74" name="矩形 73"/>
          <p:cNvSpPr>
            <a:spLocks noGrp="1"/>
          </p:cNvSpPr>
          <p:nvPr/>
        </p:nvSpPr>
        <p:spPr>
          <a:xfrm>
            <a:off x="8239125" y="1352550"/>
            <a:ext cx="3333750" cy="323850"/>
          </a:xfrm>
          <a:prstGeom prst="rect">
            <a:avLst/>
          </a:prstGeom>
          <a:noFill/>
          <a:ln w="0">
            <a:noFill/>
          </a:ln>
        </p:spPr>
        <p:txBody>
          <a:bodyPr wrap="square" lIns="0" tIns="0" rIns="0" bIns="0" anchor="t">
            <a:noAutofit/>
          </a:bodyPr>
          <a:lstStyle/>
          <a:p>
            <a:pPr algn="l">
              <a:lnSpc>
                <a:spcPct val="110000"/>
              </a:lnSpc>
              <a:buNone/>
              <a:defRPr sz="1875" b="1">
                <a:solidFill>
                  <a:srgbClr val="377DFF"/>
                </a:solidFill>
                <a:latin typeface="微软雅黑"/>
                <a:ea typeface="微软雅黑"/>
                <a:cs typeface="微软雅黑"/>
              </a:defRPr>
            </a:pPr>
            <a:r>
              <a:rPr sz="1875" b="1">
                <a:solidFill>
                  <a:srgbClr val="377DFF"/>
                </a:solidFill>
                <a:latin typeface="微软雅黑"/>
                <a:ea typeface="微软雅黑"/>
                <a:cs typeface="微软雅黑"/>
              </a:rPr>
              <a:t>从模仿答案到优化策略</a:t>
            </a:r>
            <a:endParaRPr sz="1875" b="1">
              <a:solidFill>
                <a:srgbClr val="377DFF"/>
              </a:solidFill>
              <a:latin typeface="微软雅黑"/>
              <a:ea typeface="微软雅黑"/>
              <a:cs typeface="微软雅黑"/>
            </a:endParaRPr>
          </a:p>
        </p:txBody>
      </p:sp>
      <p:pic>
        <p:nvPicPr>
          <p:cNvPr id="96" name="图片 95"/>
          <p:cNvPicPr>
            <a:picLocks noChangeAspect="1"/>
          </p:cNvPicPr>
          <p:nvPr/>
        </p:nvPicPr>
        <p:blipFill>
          <a:blip r:embed="rId2"/>
          <a:stretch>
            <a:fillRect/>
          </a:stretch>
        </p:blipFill>
        <p:spPr>
          <a:xfrm>
            <a:off x="685800" y="1765459"/>
            <a:ext cx="7239000" cy="3746183"/>
          </a:xfrm>
          <a:prstGeom prst="rect">
            <a:avLst/>
          </a:prstGeom>
        </p:spPr>
      </p:pic>
      <p:sp>
        <p:nvSpPr>
          <p:cNvPr id="76" name="圆角矩形 75"/>
          <p:cNvSpPr>
            <a:spLocks noGrp="1"/>
          </p:cNvSpPr>
          <p:nvPr/>
        </p:nvSpPr>
        <p:spPr>
          <a:xfrm>
            <a:off x="8239125" y="1809750"/>
            <a:ext cx="3381375" cy="1037590"/>
          </a:xfrm>
          <a:prstGeom prst="roundRect">
            <a:avLst>
              <a:gd name="adj" fmla="val 1800"/>
            </a:avLst>
          </a:prstGeom>
          <a:solidFill>
            <a:srgbClr val="FFF6F6"/>
          </a:solidFill>
          <a:ln w="9525">
            <a:solidFill>
              <a:srgbClr val="F1C3C3"/>
            </a:solidFill>
          </a:ln>
        </p:spPr>
      </p:sp>
      <p:sp>
        <p:nvSpPr>
          <p:cNvPr id="77" name="矩形 76"/>
          <p:cNvSpPr>
            <a:spLocks noGrp="1"/>
          </p:cNvSpPr>
          <p:nvPr/>
        </p:nvSpPr>
        <p:spPr>
          <a:xfrm>
            <a:off x="8429625" y="1962150"/>
            <a:ext cx="400050" cy="266700"/>
          </a:xfrm>
          <a:prstGeom prst="rect">
            <a:avLst/>
          </a:prstGeom>
          <a:noFill/>
          <a:ln w="0">
            <a:noFill/>
          </a:ln>
        </p:spPr>
        <p:txBody>
          <a:bodyPr wrap="square" lIns="0" tIns="0" rIns="0" bIns="0" anchor="t">
            <a:noAutofit/>
          </a:bodyPr>
          <a:lstStyle/>
          <a:p>
            <a:pPr algn="l">
              <a:lnSpc>
                <a:spcPct val="110000"/>
              </a:lnSpc>
              <a:buNone/>
              <a:defRPr sz="1650" b="1">
                <a:solidFill>
                  <a:srgbClr val="E60012"/>
                </a:solidFill>
                <a:latin typeface="微软雅黑"/>
                <a:ea typeface="微软雅黑"/>
                <a:cs typeface="微软雅黑"/>
              </a:defRPr>
            </a:pPr>
            <a:r>
              <a:rPr sz="1650" b="1">
                <a:solidFill>
                  <a:srgbClr val="E60012"/>
                </a:solidFill>
                <a:latin typeface="微软雅黑"/>
                <a:ea typeface="微软雅黑"/>
                <a:cs typeface="微软雅黑"/>
              </a:rPr>
              <a:t>01</a:t>
            </a:r>
            <a:endParaRPr sz="1650" b="1">
              <a:solidFill>
                <a:srgbClr val="E60012"/>
              </a:solidFill>
              <a:latin typeface="微软雅黑"/>
              <a:ea typeface="微软雅黑"/>
              <a:cs typeface="微软雅黑"/>
            </a:endParaRPr>
          </a:p>
        </p:txBody>
      </p:sp>
      <p:sp>
        <p:nvSpPr>
          <p:cNvPr id="78" name="矩形 77"/>
          <p:cNvSpPr>
            <a:spLocks noGrp="1"/>
          </p:cNvSpPr>
          <p:nvPr/>
        </p:nvSpPr>
        <p:spPr>
          <a:xfrm>
            <a:off x="8886825" y="1943100"/>
            <a:ext cx="2381250" cy="266700"/>
          </a:xfrm>
          <a:prstGeom prst="rect">
            <a:avLst/>
          </a:prstGeom>
          <a:noFill/>
          <a:ln w="0">
            <a:noFill/>
          </a:ln>
        </p:spPr>
        <p:txBody>
          <a:bodyPr wrap="square" lIns="0" tIns="0" rIns="0" bIns="0" anchor="t">
            <a:noAutofit/>
          </a:bodyPr>
          <a:lstStyle/>
          <a:p>
            <a:pPr algn="l">
              <a:lnSpc>
                <a:spcPct val="110000"/>
              </a:lnSpc>
              <a:buNone/>
              <a:defRPr sz="1500" b="1">
                <a:solidFill>
                  <a:srgbClr val="E60012"/>
                </a:solidFill>
                <a:latin typeface="微软雅黑"/>
                <a:ea typeface="微软雅黑"/>
                <a:cs typeface="微软雅黑"/>
              </a:defRPr>
            </a:pPr>
            <a:r>
              <a:rPr sz="1500" b="1">
                <a:solidFill>
                  <a:srgbClr val="E60012"/>
                </a:solidFill>
                <a:latin typeface="微软雅黑"/>
                <a:ea typeface="微软雅黑"/>
                <a:cs typeface="微软雅黑"/>
              </a:rPr>
              <a:t>监督信号</a:t>
            </a:r>
            <a:endParaRPr sz="1500" b="1">
              <a:solidFill>
                <a:srgbClr val="E60012"/>
              </a:solidFill>
              <a:latin typeface="微软雅黑"/>
              <a:ea typeface="微软雅黑"/>
              <a:cs typeface="微软雅黑"/>
            </a:endParaRPr>
          </a:p>
        </p:txBody>
      </p:sp>
      <p:sp>
        <p:nvSpPr>
          <p:cNvPr id="79" name="矩形 78"/>
          <p:cNvSpPr>
            <a:spLocks noGrp="1"/>
          </p:cNvSpPr>
          <p:nvPr/>
        </p:nvSpPr>
        <p:spPr>
          <a:xfrm>
            <a:off x="8886825" y="2247900"/>
            <a:ext cx="2524125" cy="428625"/>
          </a:xfrm>
          <a:prstGeom prst="rect">
            <a:avLst/>
          </a:prstGeom>
          <a:noFill/>
          <a:ln w="0">
            <a:noFill/>
          </a:ln>
        </p:spPr>
        <p:txBody>
          <a:bodyPr wrap="square" lIns="0" tIns="0" rIns="0" bIns="0" anchor="t">
            <a:noAutofit/>
          </a:bodyPr>
          <a:lstStyle/>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SFT：每个 token 都有标准答案。</a:t>
            </a:r>
            <a:endParaRPr sz="1165" b="0">
              <a:solidFill>
                <a:srgbClr val="525252"/>
              </a:solidFill>
              <a:latin typeface="微软雅黑"/>
              <a:ea typeface="微软雅黑"/>
              <a:cs typeface="微软雅黑"/>
            </a:endParaRPr>
          </a:p>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RL：用 reward + relative advantage 选择更好的轨迹。</a:t>
            </a:r>
            <a:endParaRPr sz="1165" b="0">
              <a:solidFill>
                <a:srgbClr val="525252"/>
              </a:solidFill>
              <a:latin typeface="微软雅黑"/>
              <a:ea typeface="微软雅黑"/>
              <a:cs typeface="微软雅黑"/>
            </a:endParaRPr>
          </a:p>
        </p:txBody>
      </p:sp>
      <p:sp>
        <p:nvSpPr>
          <p:cNvPr id="80" name="圆角矩形 79"/>
          <p:cNvSpPr>
            <a:spLocks noGrp="1"/>
          </p:cNvSpPr>
          <p:nvPr/>
        </p:nvSpPr>
        <p:spPr>
          <a:xfrm>
            <a:off x="8239125" y="2952750"/>
            <a:ext cx="3381375" cy="1033145"/>
          </a:xfrm>
          <a:prstGeom prst="roundRect">
            <a:avLst>
              <a:gd name="adj" fmla="val 1800"/>
            </a:avLst>
          </a:prstGeom>
          <a:solidFill>
            <a:srgbClr val="F4F8FF"/>
          </a:solidFill>
          <a:ln w="9525">
            <a:solidFill>
              <a:srgbClr val="C8D8FF"/>
            </a:solidFill>
          </a:ln>
        </p:spPr>
      </p:sp>
      <p:sp>
        <p:nvSpPr>
          <p:cNvPr id="81" name="矩形 80"/>
          <p:cNvSpPr>
            <a:spLocks noGrp="1"/>
          </p:cNvSpPr>
          <p:nvPr/>
        </p:nvSpPr>
        <p:spPr>
          <a:xfrm>
            <a:off x="8429625" y="3105150"/>
            <a:ext cx="400050" cy="266700"/>
          </a:xfrm>
          <a:prstGeom prst="rect">
            <a:avLst/>
          </a:prstGeom>
          <a:noFill/>
          <a:ln w="0">
            <a:noFill/>
          </a:ln>
        </p:spPr>
        <p:txBody>
          <a:bodyPr wrap="square" lIns="0" tIns="0" rIns="0" bIns="0" anchor="t">
            <a:noAutofit/>
          </a:bodyPr>
          <a:lstStyle/>
          <a:p>
            <a:pPr algn="l">
              <a:lnSpc>
                <a:spcPct val="110000"/>
              </a:lnSpc>
              <a:buNone/>
              <a:defRPr sz="1650" b="1">
                <a:solidFill>
                  <a:srgbClr val="377DFF"/>
                </a:solidFill>
                <a:latin typeface="微软雅黑"/>
                <a:ea typeface="微软雅黑"/>
                <a:cs typeface="微软雅黑"/>
              </a:defRPr>
            </a:pPr>
            <a:r>
              <a:rPr sz="1650" b="1">
                <a:solidFill>
                  <a:srgbClr val="377DFF"/>
                </a:solidFill>
                <a:latin typeface="微软雅黑"/>
                <a:ea typeface="微软雅黑"/>
                <a:cs typeface="微软雅黑"/>
              </a:rPr>
              <a:t>02</a:t>
            </a:r>
            <a:endParaRPr sz="1650" b="1">
              <a:solidFill>
                <a:srgbClr val="377DFF"/>
              </a:solidFill>
              <a:latin typeface="微软雅黑"/>
              <a:ea typeface="微软雅黑"/>
              <a:cs typeface="微软雅黑"/>
            </a:endParaRPr>
          </a:p>
        </p:txBody>
      </p:sp>
      <p:sp>
        <p:nvSpPr>
          <p:cNvPr id="82" name="矩形 81"/>
          <p:cNvSpPr>
            <a:spLocks noGrp="1"/>
          </p:cNvSpPr>
          <p:nvPr/>
        </p:nvSpPr>
        <p:spPr>
          <a:xfrm>
            <a:off x="8886825" y="3086100"/>
            <a:ext cx="2381250" cy="266700"/>
          </a:xfrm>
          <a:prstGeom prst="rect">
            <a:avLst/>
          </a:prstGeom>
          <a:noFill/>
          <a:ln w="0">
            <a:noFill/>
          </a:ln>
        </p:spPr>
        <p:txBody>
          <a:bodyPr wrap="square" lIns="0" tIns="0" rIns="0" bIns="0" anchor="t">
            <a:noAutofit/>
          </a:bodyPr>
          <a:lstStyle/>
          <a:p>
            <a:pPr algn="l">
              <a:lnSpc>
                <a:spcPct val="110000"/>
              </a:lnSpc>
              <a:buNone/>
              <a:defRPr sz="1500" b="1">
                <a:solidFill>
                  <a:srgbClr val="262626"/>
                </a:solidFill>
                <a:latin typeface="微软雅黑"/>
                <a:ea typeface="微软雅黑"/>
                <a:cs typeface="微软雅黑"/>
              </a:defRPr>
            </a:pPr>
            <a:r>
              <a:rPr sz="1500" b="1">
                <a:solidFill>
                  <a:srgbClr val="262626"/>
                </a:solidFill>
                <a:latin typeface="微软雅黑"/>
                <a:ea typeface="微软雅黑"/>
                <a:cs typeface="微软雅黑"/>
              </a:rPr>
              <a:t>训练路径</a:t>
            </a:r>
            <a:endParaRPr sz="1500" b="1">
              <a:solidFill>
                <a:srgbClr val="262626"/>
              </a:solidFill>
              <a:latin typeface="微软雅黑"/>
              <a:ea typeface="微软雅黑"/>
              <a:cs typeface="微软雅黑"/>
            </a:endParaRPr>
          </a:p>
        </p:txBody>
      </p:sp>
      <p:sp>
        <p:nvSpPr>
          <p:cNvPr id="83" name="矩形 82"/>
          <p:cNvSpPr>
            <a:spLocks noGrp="1"/>
          </p:cNvSpPr>
          <p:nvPr/>
        </p:nvSpPr>
        <p:spPr>
          <a:xfrm>
            <a:off x="8886825" y="3390900"/>
            <a:ext cx="2524125" cy="428625"/>
          </a:xfrm>
          <a:prstGeom prst="rect">
            <a:avLst/>
          </a:prstGeom>
          <a:noFill/>
          <a:ln w="0">
            <a:noFill/>
          </a:ln>
        </p:spPr>
        <p:txBody>
          <a:bodyPr wrap="square" lIns="0" tIns="0" rIns="0" bIns="0" anchor="t">
            <a:noAutofit/>
          </a:bodyPr>
          <a:lstStyle/>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rollout（vLLM）→ 奖励函数 → advantage → 策略更新。</a:t>
            </a:r>
            <a:endParaRPr sz="1165" b="0">
              <a:solidFill>
                <a:srgbClr val="525252"/>
              </a:solidFill>
              <a:latin typeface="微软雅黑"/>
              <a:ea typeface="微软雅黑"/>
              <a:cs typeface="微软雅黑"/>
            </a:endParaRPr>
          </a:p>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verl 负责连接训练与推理。</a:t>
            </a:r>
            <a:endParaRPr sz="1165" b="0">
              <a:solidFill>
                <a:srgbClr val="525252"/>
              </a:solidFill>
              <a:latin typeface="微软雅黑"/>
              <a:ea typeface="微软雅黑"/>
              <a:cs typeface="微软雅黑"/>
            </a:endParaRPr>
          </a:p>
        </p:txBody>
      </p:sp>
      <p:sp>
        <p:nvSpPr>
          <p:cNvPr id="84" name="圆角矩形 83"/>
          <p:cNvSpPr>
            <a:spLocks noGrp="1"/>
          </p:cNvSpPr>
          <p:nvPr/>
        </p:nvSpPr>
        <p:spPr>
          <a:xfrm>
            <a:off x="8239125" y="4095750"/>
            <a:ext cx="3381375" cy="1036955"/>
          </a:xfrm>
          <a:prstGeom prst="roundRect">
            <a:avLst>
              <a:gd name="adj" fmla="val 1800"/>
            </a:avLst>
          </a:prstGeom>
          <a:solidFill>
            <a:srgbClr val="F5FAF5"/>
          </a:solidFill>
          <a:ln w="9525">
            <a:solidFill>
              <a:srgbClr val="C5DEC7"/>
            </a:solidFill>
          </a:ln>
        </p:spPr>
      </p:sp>
      <p:sp>
        <p:nvSpPr>
          <p:cNvPr id="85" name="矩形 84"/>
          <p:cNvSpPr>
            <a:spLocks noGrp="1"/>
          </p:cNvSpPr>
          <p:nvPr/>
        </p:nvSpPr>
        <p:spPr>
          <a:xfrm>
            <a:off x="8429625" y="4248150"/>
            <a:ext cx="400050" cy="266700"/>
          </a:xfrm>
          <a:prstGeom prst="rect">
            <a:avLst/>
          </a:prstGeom>
          <a:noFill/>
          <a:ln w="0">
            <a:noFill/>
          </a:ln>
        </p:spPr>
        <p:txBody>
          <a:bodyPr wrap="square" lIns="0" tIns="0" rIns="0" bIns="0" anchor="t">
            <a:noAutofit/>
          </a:bodyPr>
          <a:lstStyle/>
          <a:p>
            <a:pPr algn="l">
              <a:lnSpc>
                <a:spcPct val="110000"/>
              </a:lnSpc>
              <a:buNone/>
              <a:defRPr sz="1650" b="1">
                <a:solidFill>
                  <a:srgbClr val="377DFF"/>
                </a:solidFill>
                <a:latin typeface="微软雅黑"/>
                <a:ea typeface="微软雅黑"/>
                <a:cs typeface="微软雅黑"/>
              </a:defRPr>
            </a:pPr>
            <a:r>
              <a:rPr sz="1650" b="1">
                <a:solidFill>
                  <a:srgbClr val="377DFF"/>
                </a:solidFill>
                <a:latin typeface="微软雅黑"/>
                <a:ea typeface="微软雅黑"/>
                <a:cs typeface="微软雅黑"/>
              </a:rPr>
              <a:t>03</a:t>
            </a:r>
            <a:endParaRPr sz="1650" b="1">
              <a:solidFill>
                <a:srgbClr val="377DFF"/>
              </a:solidFill>
              <a:latin typeface="微软雅黑"/>
              <a:ea typeface="微软雅黑"/>
              <a:cs typeface="微软雅黑"/>
            </a:endParaRPr>
          </a:p>
        </p:txBody>
      </p:sp>
      <p:sp>
        <p:nvSpPr>
          <p:cNvPr id="86" name="矩形 85"/>
          <p:cNvSpPr>
            <a:spLocks noGrp="1"/>
          </p:cNvSpPr>
          <p:nvPr/>
        </p:nvSpPr>
        <p:spPr>
          <a:xfrm>
            <a:off x="8886825" y="4229100"/>
            <a:ext cx="2381250" cy="266700"/>
          </a:xfrm>
          <a:prstGeom prst="rect">
            <a:avLst/>
          </a:prstGeom>
          <a:noFill/>
          <a:ln w="0">
            <a:noFill/>
          </a:ln>
        </p:spPr>
        <p:txBody>
          <a:bodyPr wrap="square" lIns="0" tIns="0" rIns="0" bIns="0" anchor="t">
            <a:noAutofit/>
          </a:bodyPr>
          <a:lstStyle/>
          <a:p>
            <a:pPr algn="l">
              <a:lnSpc>
                <a:spcPct val="110000"/>
              </a:lnSpc>
              <a:buNone/>
              <a:defRPr sz="1500" b="1">
                <a:solidFill>
                  <a:srgbClr val="262626"/>
                </a:solidFill>
                <a:latin typeface="微软雅黑"/>
                <a:ea typeface="微软雅黑"/>
                <a:cs typeface="微软雅黑"/>
              </a:defRPr>
            </a:pPr>
            <a:r>
              <a:rPr sz="1500" b="1">
                <a:solidFill>
                  <a:srgbClr val="262626"/>
                </a:solidFill>
                <a:latin typeface="微软雅黑"/>
                <a:ea typeface="微软雅黑"/>
                <a:cs typeface="微软雅黑"/>
              </a:rPr>
              <a:t>任务匹配</a:t>
            </a:r>
            <a:endParaRPr sz="1500" b="1">
              <a:solidFill>
                <a:srgbClr val="262626"/>
              </a:solidFill>
              <a:latin typeface="微软雅黑"/>
              <a:ea typeface="微软雅黑"/>
              <a:cs typeface="微软雅黑"/>
            </a:endParaRPr>
          </a:p>
        </p:txBody>
      </p:sp>
      <p:sp>
        <p:nvSpPr>
          <p:cNvPr id="87" name="矩形 86"/>
          <p:cNvSpPr>
            <a:spLocks noGrp="1"/>
          </p:cNvSpPr>
          <p:nvPr/>
        </p:nvSpPr>
        <p:spPr>
          <a:xfrm>
            <a:off x="8886825" y="4533900"/>
            <a:ext cx="2524125" cy="428625"/>
          </a:xfrm>
          <a:prstGeom prst="rect">
            <a:avLst/>
          </a:prstGeom>
          <a:noFill/>
          <a:ln w="0">
            <a:noFill/>
          </a:ln>
        </p:spPr>
        <p:txBody>
          <a:bodyPr wrap="square" lIns="0" tIns="0" rIns="0" bIns="0" anchor="t">
            <a:noAutofit/>
          </a:bodyPr>
          <a:lstStyle/>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Wordle 的最优猜测取决于上一轮 G / Y / X 反馈，</a:t>
            </a:r>
            <a:endParaRPr sz="1165" b="0">
              <a:solidFill>
                <a:srgbClr val="525252"/>
              </a:solidFill>
              <a:latin typeface="微软雅黑"/>
              <a:ea typeface="微软雅黑"/>
              <a:cs typeface="微软雅黑"/>
            </a:endParaRPr>
          </a:p>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无法提前写死逐 token 标签。</a:t>
            </a:r>
            <a:endParaRPr sz="1165" b="0">
              <a:solidFill>
                <a:srgbClr val="525252"/>
              </a:solidFill>
              <a:latin typeface="微软雅黑"/>
              <a:ea typeface="微软雅黑"/>
              <a:cs typeface="微软雅黑"/>
            </a:endParaRPr>
          </a:p>
        </p:txBody>
      </p:sp>
      <p:sp>
        <p:nvSpPr>
          <p:cNvPr id="88" name="矩形 87"/>
          <p:cNvSpPr>
            <a:spLocks noGrp="1"/>
          </p:cNvSpPr>
          <p:nvPr/>
        </p:nvSpPr>
        <p:spPr>
          <a:xfrm>
            <a:off x="685800" y="5676900"/>
            <a:ext cx="7239000" cy="266700"/>
          </a:xfrm>
          <a:prstGeom prst="rect">
            <a:avLst/>
          </a:prstGeom>
          <a:noFill/>
          <a:ln w="0">
            <a:noFill/>
          </a:ln>
        </p:spPr>
        <p:txBody>
          <a:bodyPr wrap="square" lIns="0" tIns="0" rIns="0" bIns="0" anchor="t">
            <a:noAutofit/>
          </a:bodyPr>
          <a:lstStyle/>
          <a:p>
            <a:pPr algn="l">
              <a:lnSpc>
                <a:spcPct val="110000"/>
              </a:lnSpc>
              <a:buNone/>
              <a:defRPr sz="1275" b="1">
                <a:solidFill>
                  <a:srgbClr val="525252"/>
                </a:solidFill>
                <a:latin typeface="微软雅黑"/>
                <a:ea typeface="微软雅黑"/>
                <a:cs typeface="微软雅黑"/>
              </a:defRPr>
            </a:pPr>
            <a:r>
              <a:rPr sz="1275" b="1">
                <a:solidFill>
                  <a:srgbClr val="525252"/>
                </a:solidFill>
                <a:latin typeface="微软雅黑"/>
                <a:ea typeface="微软雅黑"/>
                <a:cs typeface="微软雅黑"/>
              </a:rPr>
              <a:t>Wordle 仍保留 ground_truth 秘密单词用于自动判分，但不需要逐 token 参考答案。</a:t>
            </a:r>
            <a:endParaRPr sz="1275" b="1">
              <a:solidFill>
                <a:srgbClr val="525252"/>
              </a:solidFill>
              <a:latin typeface="微软雅黑"/>
              <a:ea typeface="微软雅黑"/>
              <a:cs typeface="微软雅黑"/>
            </a:endParaRPr>
          </a:p>
        </p:txBody>
      </p:sp>
      <p:sp>
        <p:nvSpPr>
          <p:cNvPr id="89" name="矩形 88"/>
          <p:cNvSpPr>
            <a:spLocks noGrp="1"/>
          </p:cNvSpPr>
          <p:nvPr/>
        </p:nvSpPr>
        <p:spPr>
          <a:xfrm>
            <a:off x="685800" y="6019800"/>
            <a:ext cx="10934700" cy="285750"/>
          </a:xfrm>
          <a:prstGeom prst="rect">
            <a:avLst/>
          </a:prstGeom>
          <a:noFill/>
          <a:ln w="0">
            <a:noFill/>
          </a:ln>
        </p:spPr>
        <p:txBody>
          <a:bodyPr wrap="square" lIns="0" tIns="0" rIns="0" bIns="0" anchor="t">
            <a:noAutofit/>
          </a:bodyPr>
          <a:lstStyle/>
          <a:p>
            <a:pPr algn="l">
              <a:lnSpc>
                <a:spcPct val="110000"/>
              </a:lnSpc>
              <a:buNone/>
              <a:defRPr sz="1350" b="1">
                <a:solidFill>
                  <a:srgbClr val="E60012"/>
                </a:solidFill>
                <a:latin typeface="微软雅黑"/>
                <a:ea typeface="微软雅黑"/>
                <a:cs typeface="微软雅黑"/>
              </a:defRPr>
            </a:pPr>
            <a:r>
              <a:rPr sz="1350" b="1">
                <a:solidFill>
                  <a:srgbClr val="E60012"/>
                </a:solidFill>
                <a:latin typeface="微软雅黑"/>
                <a:ea typeface="微软雅黑"/>
                <a:cs typeface="微软雅黑"/>
              </a:rPr>
              <a:t>SFT 先学会按协议回答，RL 再让模型在反馈中试错并改进整条策略。</a:t>
            </a:r>
            <a:endParaRPr sz="1350" b="1">
              <a:solidFill>
                <a:srgbClr val="E60012"/>
              </a:solidFill>
              <a:latin typeface="微软雅黑"/>
              <a:ea typeface="微软雅黑"/>
              <a:cs typeface="微软雅黑"/>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90" name="图片 6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71" name="矩形 70"/>
          <p:cNvSpPr>
            <a:spLocks noGrp="1"/>
          </p:cNvSpPr>
          <p:nvPr/>
        </p:nvSpPr>
        <p:spPr>
          <a:xfrm>
            <a:off x="609600" y="323850"/>
            <a:ext cx="10858500" cy="504825"/>
          </a:xfrm>
          <a:prstGeom prst="rect">
            <a:avLst/>
          </a:prstGeom>
          <a:noFill/>
          <a:ln w="0">
            <a:noFill/>
          </a:ln>
        </p:spPr>
        <p:txBody>
          <a:bodyPr wrap="square" lIns="0" tIns="0" rIns="0" bIns="0" anchor="ctr">
            <a:noAutofit/>
          </a:bodyPr>
          <a:lstStyle/>
          <a:p>
            <a:pPr algn="l">
              <a:lnSpc>
                <a:spcPct val="110000"/>
              </a:lnSpc>
              <a:buNone/>
              <a:defRPr sz="2625" b="1">
                <a:solidFill>
                  <a:srgbClr val="111111"/>
                </a:solidFill>
                <a:latin typeface="微软雅黑"/>
                <a:ea typeface="微软雅黑"/>
                <a:cs typeface="微软雅黑"/>
              </a:defRPr>
            </a:pPr>
            <a:r>
              <a:rPr lang="zh-CN" sz="2625" b="1">
                <a:solidFill>
                  <a:srgbClr val="111111"/>
                </a:solidFill>
                <a:latin typeface="微软雅黑"/>
                <a:ea typeface="微软雅黑"/>
                <a:cs typeface="微软雅黑"/>
              </a:rPr>
              <a:t>强化学习训练</a:t>
            </a:r>
            <a:r>
              <a:rPr lang="zh-CN" sz="2625" b="1">
                <a:solidFill>
                  <a:srgbClr val="111111"/>
                </a:solidFill>
                <a:latin typeface="微软雅黑"/>
                <a:ea typeface="微软雅黑"/>
                <a:cs typeface="微软雅黑"/>
              </a:rPr>
              <a:t>环境准备</a:t>
            </a:r>
            <a:endParaRPr lang="zh-CN" sz="2625" b="1">
              <a:solidFill>
                <a:srgbClr val="111111"/>
              </a:solidFill>
              <a:latin typeface="微软雅黑"/>
              <a:ea typeface="微软雅黑"/>
              <a:cs typeface="微软雅黑"/>
            </a:endParaRPr>
          </a:p>
        </p:txBody>
      </p:sp>
      <p:sp>
        <p:nvSpPr>
          <p:cNvPr id="73" name="矩形 72"/>
          <p:cNvSpPr>
            <a:spLocks noGrp="1"/>
          </p:cNvSpPr>
          <p:nvPr/>
        </p:nvSpPr>
        <p:spPr>
          <a:xfrm>
            <a:off x="685800" y="1352550"/>
            <a:ext cx="5334000" cy="323850"/>
          </a:xfrm>
          <a:prstGeom prst="rect">
            <a:avLst/>
          </a:prstGeom>
          <a:noFill/>
          <a:ln w="0">
            <a:noFill/>
          </a:ln>
        </p:spPr>
        <p:txBody>
          <a:bodyPr wrap="square" lIns="0" tIns="0" rIns="0" bIns="0" anchor="t">
            <a:noAutofit/>
          </a:bodyPr>
          <a:lstStyle/>
          <a:p>
            <a:pPr algn="l">
              <a:lnSpc>
                <a:spcPct val="110000"/>
              </a:lnSpc>
              <a:buNone/>
              <a:defRPr sz="1875" b="1">
                <a:solidFill>
                  <a:srgbClr val="E60012"/>
                </a:solidFill>
                <a:latin typeface="微软雅黑"/>
                <a:ea typeface="微软雅黑"/>
                <a:cs typeface="微软雅黑"/>
              </a:defRPr>
            </a:pPr>
            <a:r>
              <a:rPr sz="1875" b="1">
                <a:solidFill>
                  <a:srgbClr val="E60012"/>
                </a:solidFill>
                <a:latin typeface="微软雅黑"/>
                <a:ea typeface="微软雅黑"/>
                <a:cs typeface="微软雅黑"/>
              </a:rPr>
              <a:t>三层组件关系</a:t>
            </a:r>
            <a:endParaRPr sz="1875" b="1">
              <a:solidFill>
                <a:srgbClr val="E60012"/>
              </a:solidFill>
              <a:latin typeface="微软雅黑"/>
              <a:ea typeface="微软雅黑"/>
              <a:cs typeface="微软雅黑"/>
            </a:endParaRPr>
          </a:p>
        </p:txBody>
      </p:sp>
      <p:sp>
        <p:nvSpPr>
          <p:cNvPr id="74" name="矩形 73"/>
          <p:cNvSpPr>
            <a:spLocks noGrp="1"/>
          </p:cNvSpPr>
          <p:nvPr/>
        </p:nvSpPr>
        <p:spPr>
          <a:xfrm>
            <a:off x="8239125" y="1352550"/>
            <a:ext cx="3333750" cy="323850"/>
          </a:xfrm>
          <a:prstGeom prst="rect">
            <a:avLst/>
          </a:prstGeom>
          <a:noFill/>
          <a:ln w="0">
            <a:noFill/>
          </a:ln>
        </p:spPr>
        <p:txBody>
          <a:bodyPr wrap="square" lIns="0" tIns="0" rIns="0" bIns="0" anchor="t">
            <a:noAutofit/>
          </a:bodyPr>
          <a:lstStyle/>
          <a:p>
            <a:pPr algn="l">
              <a:lnSpc>
                <a:spcPct val="110000"/>
              </a:lnSpc>
              <a:buNone/>
              <a:defRPr sz="1875" b="1">
                <a:solidFill>
                  <a:srgbClr val="377DFF"/>
                </a:solidFill>
                <a:latin typeface="微软雅黑"/>
                <a:ea typeface="微软雅黑"/>
                <a:cs typeface="微软雅黑"/>
              </a:defRPr>
            </a:pPr>
            <a:r>
              <a:rPr sz="1875" b="1">
                <a:solidFill>
                  <a:srgbClr val="377DFF"/>
                </a:solidFill>
                <a:latin typeface="微软雅黑"/>
                <a:ea typeface="微软雅黑"/>
                <a:cs typeface="微软雅黑"/>
              </a:rPr>
              <a:t>谁负责什么</a:t>
            </a:r>
            <a:endParaRPr sz="1875" b="1">
              <a:solidFill>
                <a:srgbClr val="377DFF"/>
              </a:solidFill>
              <a:latin typeface="微软雅黑"/>
              <a:ea typeface="微软雅黑"/>
              <a:cs typeface="微软雅黑"/>
            </a:endParaRPr>
          </a:p>
        </p:txBody>
      </p:sp>
      <p:pic>
        <p:nvPicPr>
          <p:cNvPr id="96" name="图片 95"/>
          <p:cNvPicPr>
            <a:picLocks noChangeAspect="1"/>
          </p:cNvPicPr>
          <p:nvPr/>
        </p:nvPicPr>
        <p:blipFill>
          <a:blip r:embed="rId2"/>
          <a:stretch>
            <a:fillRect/>
          </a:stretch>
        </p:blipFill>
        <p:spPr>
          <a:xfrm>
            <a:off x="685800" y="1761829"/>
            <a:ext cx="7239000" cy="3905843"/>
          </a:xfrm>
          <a:prstGeom prst="rect">
            <a:avLst/>
          </a:prstGeom>
        </p:spPr>
      </p:pic>
      <p:sp>
        <p:nvSpPr>
          <p:cNvPr id="76" name="圆角矩形 75"/>
          <p:cNvSpPr>
            <a:spLocks noGrp="1"/>
          </p:cNvSpPr>
          <p:nvPr/>
        </p:nvSpPr>
        <p:spPr>
          <a:xfrm>
            <a:off x="8239125" y="1762125"/>
            <a:ext cx="3381375" cy="1028700"/>
          </a:xfrm>
          <a:prstGeom prst="roundRect">
            <a:avLst>
              <a:gd name="adj" fmla="val 1800"/>
            </a:avLst>
          </a:prstGeom>
          <a:solidFill>
            <a:srgbClr val="FFF6F6"/>
          </a:solidFill>
          <a:ln w="9525">
            <a:solidFill>
              <a:srgbClr val="F1C3C3"/>
            </a:solidFill>
          </a:ln>
        </p:spPr>
      </p:sp>
      <p:sp>
        <p:nvSpPr>
          <p:cNvPr id="77" name="矩形 76"/>
          <p:cNvSpPr>
            <a:spLocks noGrp="1"/>
          </p:cNvSpPr>
          <p:nvPr/>
        </p:nvSpPr>
        <p:spPr>
          <a:xfrm>
            <a:off x="8429625" y="1905000"/>
            <a:ext cx="381000" cy="266700"/>
          </a:xfrm>
          <a:prstGeom prst="rect">
            <a:avLst/>
          </a:prstGeom>
          <a:noFill/>
          <a:ln w="0">
            <a:noFill/>
          </a:ln>
        </p:spPr>
        <p:txBody>
          <a:bodyPr wrap="square" lIns="0" tIns="0" rIns="0" bIns="0" anchor="t">
            <a:noAutofit/>
          </a:bodyPr>
          <a:lstStyle/>
          <a:p>
            <a:pPr algn="l">
              <a:lnSpc>
                <a:spcPct val="110000"/>
              </a:lnSpc>
              <a:buNone/>
              <a:defRPr sz="1650" b="1">
                <a:solidFill>
                  <a:srgbClr val="E60012"/>
                </a:solidFill>
                <a:latin typeface="微软雅黑"/>
                <a:ea typeface="微软雅黑"/>
                <a:cs typeface="微软雅黑"/>
              </a:defRPr>
            </a:pPr>
            <a:r>
              <a:rPr sz="1650" b="1">
                <a:solidFill>
                  <a:srgbClr val="E60012"/>
                </a:solidFill>
                <a:latin typeface="微软雅黑"/>
                <a:ea typeface="微软雅黑"/>
                <a:cs typeface="微软雅黑"/>
              </a:rPr>
              <a:t>01</a:t>
            </a:r>
            <a:endParaRPr sz="1650" b="1">
              <a:solidFill>
                <a:srgbClr val="E60012"/>
              </a:solidFill>
              <a:latin typeface="微软雅黑"/>
              <a:ea typeface="微软雅黑"/>
              <a:cs typeface="微软雅黑"/>
            </a:endParaRPr>
          </a:p>
        </p:txBody>
      </p:sp>
      <p:sp>
        <p:nvSpPr>
          <p:cNvPr id="78" name="矩形 77"/>
          <p:cNvSpPr>
            <a:spLocks noGrp="1"/>
          </p:cNvSpPr>
          <p:nvPr/>
        </p:nvSpPr>
        <p:spPr>
          <a:xfrm>
            <a:off x="8886825" y="1885950"/>
            <a:ext cx="2571750" cy="266700"/>
          </a:xfrm>
          <a:prstGeom prst="rect">
            <a:avLst/>
          </a:prstGeom>
          <a:noFill/>
          <a:ln w="0">
            <a:noFill/>
          </a:ln>
        </p:spPr>
        <p:txBody>
          <a:bodyPr wrap="square" lIns="0" tIns="0" rIns="0" bIns="0" anchor="t">
            <a:noAutofit/>
          </a:bodyPr>
          <a:lstStyle/>
          <a:p>
            <a:pPr algn="l">
              <a:lnSpc>
                <a:spcPct val="110000"/>
              </a:lnSpc>
              <a:buNone/>
              <a:defRPr sz="1500" b="1">
                <a:solidFill>
                  <a:srgbClr val="E60012"/>
                </a:solidFill>
                <a:latin typeface="微软雅黑"/>
                <a:ea typeface="微软雅黑"/>
                <a:cs typeface="微软雅黑"/>
              </a:defRPr>
            </a:pPr>
            <a:r>
              <a:rPr sz="1500" b="1">
                <a:solidFill>
                  <a:srgbClr val="E60012"/>
                </a:solidFill>
                <a:latin typeface="微软雅黑"/>
                <a:ea typeface="微软雅黑"/>
                <a:cs typeface="微软雅黑"/>
              </a:rPr>
              <a:t>verl</a:t>
            </a:r>
            <a:endParaRPr sz="1500" b="1">
              <a:solidFill>
                <a:srgbClr val="E60012"/>
              </a:solidFill>
              <a:latin typeface="微软雅黑"/>
              <a:ea typeface="微软雅黑"/>
              <a:cs typeface="微软雅黑"/>
            </a:endParaRPr>
          </a:p>
        </p:txBody>
      </p:sp>
      <p:sp>
        <p:nvSpPr>
          <p:cNvPr id="79" name="矩形 78"/>
          <p:cNvSpPr>
            <a:spLocks noGrp="1"/>
          </p:cNvSpPr>
          <p:nvPr/>
        </p:nvSpPr>
        <p:spPr>
          <a:xfrm>
            <a:off x="8886825" y="2219325"/>
            <a:ext cx="2571750" cy="457200"/>
          </a:xfrm>
          <a:prstGeom prst="rect">
            <a:avLst/>
          </a:prstGeom>
          <a:noFill/>
          <a:ln w="0">
            <a:noFill/>
          </a:ln>
        </p:spPr>
        <p:txBody>
          <a:bodyPr wrap="square" lIns="0" tIns="0" rIns="0" bIns="0" anchor="t">
            <a:noAutofit/>
          </a:bodyPr>
          <a:lstStyle/>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外层 RL 训练框架：调度 rollout、reward、advantage 与策略更新。</a:t>
            </a:r>
            <a:endParaRPr sz="1165" b="0">
              <a:solidFill>
                <a:srgbClr val="525252"/>
              </a:solidFill>
              <a:latin typeface="微软雅黑"/>
              <a:ea typeface="微软雅黑"/>
              <a:cs typeface="微软雅黑"/>
            </a:endParaRPr>
          </a:p>
        </p:txBody>
      </p:sp>
      <p:sp>
        <p:nvSpPr>
          <p:cNvPr id="80" name="圆角矩形 79"/>
          <p:cNvSpPr>
            <a:spLocks noGrp="1"/>
          </p:cNvSpPr>
          <p:nvPr/>
        </p:nvSpPr>
        <p:spPr>
          <a:xfrm>
            <a:off x="8239125" y="2962275"/>
            <a:ext cx="3381375" cy="1028700"/>
          </a:xfrm>
          <a:prstGeom prst="roundRect">
            <a:avLst>
              <a:gd name="adj" fmla="val 1800"/>
            </a:avLst>
          </a:prstGeom>
          <a:solidFill>
            <a:srgbClr val="F4F8FF"/>
          </a:solidFill>
          <a:ln w="9525">
            <a:solidFill>
              <a:srgbClr val="C8D8FF"/>
            </a:solidFill>
          </a:ln>
        </p:spPr>
      </p:sp>
      <p:sp>
        <p:nvSpPr>
          <p:cNvPr id="81" name="矩形 80"/>
          <p:cNvSpPr>
            <a:spLocks noGrp="1"/>
          </p:cNvSpPr>
          <p:nvPr/>
        </p:nvSpPr>
        <p:spPr>
          <a:xfrm>
            <a:off x="8429625" y="3105150"/>
            <a:ext cx="381000" cy="266700"/>
          </a:xfrm>
          <a:prstGeom prst="rect">
            <a:avLst/>
          </a:prstGeom>
          <a:noFill/>
          <a:ln w="0">
            <a:noFill/>
          </a:ln>
        </p:spPr>
        <p:txBody>
          <a:bodyPr wrap="square" lIns="0" tIns="0" rIns="0" bIns="0" anchor="t">
            <a:noAutofit/>
          </a:bodyPr>
          <a:lstStyle/>
          <a:p>
            <a:pPr algn="l">
              <a:lnSpc>
                <a:spcPct val="110000"/>
              </a:lnSpc>
              <a:buNone/>
              <a:defRPr sz="1650" b="1">
                <a:solidFill>
                  <a:srgbClr val="377DFF"/>
                </a:solidFill>
                <a:latin typeface="微软雅黑"/>
                <a:ea typeface="微软雅黑"/>
                <a:cs typeface="微软雅黑"/>
              </a:defRPr>
            </a:pPr>
            <a:r>
              <a:rPr sz="1650" b="1">
                <a:solidFill>
                  <a:srgbClr val="377DFF"/>
                </a:solidFill>
                <a:latin typeface="微软雅黑"/>
                <a:ea typeface="微软雅黑"/>
                <a:cs typeface="微软雅黑"/>
              </a:rPr>
              <a:t>02</a:t>
            </a:r>
            <a:endParaRPr sz="1650" b="1">
              <a:solidFill>
                <a:srgbClr val="377DFF"/>
              </a:solidFill>
              <a:latin typeface="微软雅黑"/>
              <a:ea typeface="微软雅黑"/>
              <a:cs typeface="微软雅黑"/>
            </a:endParaRPr>
          </a:p>
        </p:txBody>
      </p:sp>
      <p:sp>
        <p:nvSpPr>
          <p:cNvPr id="82" name="矩形 81"/>
          <p:cNvSpPr>
            <a:spLocks noGrp="1"/>
          </p:cNvSpPr>
          <p:nvPr/>
        </p:nvSpPr>
        <p:spPr>
          <a:xfrm>
            <a:off x="8886825" y="3086100"/>
            <a:ext cx="2571750" cy="266700"/>
          </a:xfrm>
          <a:prstGeom prst="rect">
            <a:avLst/>
          </a:prstGeom>
          <a:noFill/>
          <a:ln w="0">
            <a:noFill/>
          </a:ln>
        </p:spPr>
        <p:txBody>
          <a:bodyPr wrap="square" lIns="0" tIns="0" rIns="0" bIns="0" anchor="t">
            <a:noAutofit/>
          </a:bodyPr>
          <a:lstStyle/>
          <a:p>
            <a:pPr algn="l">
              <a:lnSpc>
                <a:spcPct val="110000"/>
              </a:lnSpc>
              <a:buNone/>
              <a:defRPr sz="1500" b="1">
                <a:solidFill>
                  <a:srgbClr val="377DFF"/>
                </a:solidFill>
                <a:latin typeface="微软雅黑"/>
                <a:ea typeface="微软雅黑"/>
                <a:cs typeface="微软雅黑"/>
              </a:defRPr>
            </a:pPr>
            <a:r>
              <a:rPr sz="1500" b="1">
                <a:solidFill>
                  <a:srgbClr val="377DFF"/>
                </a:solidFill>
                <a:latin typeface="微软雅黑"/>
                <a:ea typeface="微软雅黑"/>
                <a:cs typeface="微软雅黑"/>
              </a:rPr>
              <a:t>vLLM / vllm-ascend</a:t>
            </a:r>
            <a:endParaRPr sz="1500" b="1">
              <a:solidFill>
                <a:srgbClr val="377DFF"/>
              </a:solidFill>
              <a:latin typeface="微软雅黑"/>
              <a:ea typeface="微软雅黑"/>
              <a:cs typeface="微软雅黑"/>
            </a:endParaRPr>
          </a:p>
        </p:txBody>
      </p:sp>
      <p:sp>
        <p:nvSpPr>
          <p:cNvPr id="83" name="矩形 82"/>
          <p:cNvSpPr>
            <a:spLocks noGrp="1"/>
          </p:cNvSpPr>
          <p:nvPr/>
        </p:nvSpPr>
        <p:spPr>
          <a:xfrm>
            <a:off x="8886825" y="3419475"/>
            <a:ext cx="2571750" cy="457200"/>
          </a:xfrm>
          <a:prstGeom prst="rect">
            <a:avLst/>
          </a:prstGeom>
          <a:noFill/>
          <a:ln w="0">
            <a:noFill/>
          </a:ln>
        </p:spPr>
        <p:txBody>
          <a:bodyPr wrap="square" lIns="0" tIns="0" rIns="0" bIns="0" anchor="t">
            <a:noAutofit/>
          </a:bodyPr>
          <a:lstStyle/>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中层推理栈：vLLM 生成 rollout，vllm-ascend 让它运行在 Ascend NPU。</a:t>
            </a:r>
            <a:endParaRPr sz="1165" b="0">
              <a:solidFill>
                <a:srgbClr val="525252"/>
              </a:solidFill>
              <a:latin typeface="微软雅黑"/>
              <a:ea typeface="微软雅黑"/>
              <a:cs typeface="微软雅黑"/>
            </a:endParaRPr>
          </a:p>
        </p:txBody>
      </p:sp>
      <p:sp>
        <p:nvSpPr>
          <p:cNvPr id="84" name="圆角矩形 83"/>
          <p:cNvSpPr>
            <a:spLocks noGrp="1"/>
          </p:cNvSpPr>
          <p:nvPr/>
        </p:nvSpPr>
        <p:spPr>
          <a:xfrm>
            <a:off x="8239125" y="4162425"/>
            <a:ext cx="3381375" cy="1028700"/>
          </a:xfrm>
          <a:prstGeom prst="roundRect">
            <a:avLst>
              <a:gd name="adj" fmla="val 1800"/>
            </a:avLst>
          </a:prstGeom>
          <a:solidFill>
            <a:srgbClr val="F5FAF5"/>
          </a:solidFill>
          <a:ln w="9525">
            <a:solidFill>
              <a:srgbClr val="C5DEC7"/>
            </a:solidFill>
          </a:ln>
        </p:spPr>
      </p:sp>
      <p:sp>
        <p:nvSpPr>
          <p:cNvPr id="85" name="矩形 84"/>
          <p:cNvSpPr>
            <a:spLocks noGrp="1"/>
          </p:cNvSpPr>
          <p:nvPr/>
        </p:nvSpPr>
        <p:spPr>
          <a:xfrm>
            <a:off x="8429625" y="4305300"/>
            <a:ext cx="381000" cy="266700"/>
          </a:xfrm>
          <a:prstGeom prst="rect">
            <a:avLst/>
          </a:prstGeom>
          <a:noFill/>
          <a:ln w="0">
            <a:noFill/>
          </a:ln>
        </p:spPr>
        <p:txBody>
          <a:bodyPr wrap="square" lIns="0" tIns="0" rIns="0" bIns="0" anchor="t">
            <a:noAutofit/>
          </a:bodyPr>
          <a:lstStyle/>
          <a:p>
            <a:pPr algn="l">
              <a:lnSpc>
                <a:spcPct val="110000"/>
              </a:lnSpc>
              <a:buNone/>
              <a:defRPr sz="1650" b="1">
                <a:solidFill>
                  <a:srgbClr val="6AAA64"/>
                </a:solidFill>
                <a:latin typeface="微软雅黑"/>
                <a:ea typeface="微软雅黑"/>
                <a:cs typeface="微软雅黑"/>
              </a:defRPr>
            </a:pPr>
            <a:r>
              <a:rPr sz="1650" b="1">
                <a:solidFill>
                  <a:srgbClr val="6AAA64"/>
                </a:solidFill>
                <a:latin typeface="微软雅黑"/>
                <a:ea typeface="微软雅黑"/>
                <a:cs typeface="微软雅黑"/>
              </a:rPr>
              <a:t>03</a:t>
            </a:r>
            <a:endParaRPr sz="1650" b="1">
              <a:solidFill>
                <a:srgbClr val="6AAA64"/>
              </a:solidFill>
              <a:latin typeface="微软雅黑"/>
              <a:ea typeface="微软雅黑"/>
              <a:cs typeface="微软雅黑"/>
            </a:endParaRPr>
          </a:p>
        </p:txBody>
      </p:sp>
      <p:sp>
        <p:nvSpPr>
          <p:cNvPr id="86" name="矩形 85"/>
          <p:cNvSpPr>
            <a:spLocks noGrp="1"/>
          </p:cNvSpPr>
          <p:nvPr/>
        </p:nvSpPr>
        <p:spPr>
          <a:xfrm>
            <a:off x="8886825" y="4286250"/>
            <a:ext cx="2571750" cy="266700"/>
          </a:xfrm>
          <a:prstGeom prst="rect">
            <a:avLst/>
          </a:prstGeom>
          <a:noFill/>
          <a:ln w="0">
            <a:noFill/>
          </a:ln>
        </p:spPr>
        <p:txBody>
          <a:bodyPr wrap="square" lIns="0" tIns="0" rIns="0" bIns="0" anchor="t">
            <a:noAutofit/>
          </a:bodyPr>
          <a:lstStyle/>
          <a:p>
            <a:pPr algn="l">
              <a:lnSpc>
                <a:spcPct val="110000"/>
              </a:lnSpc>
              <a:buNone/>
              <a:defRPr sz="1500" b="1">
                <a:solidFill>
                  <a:srgbClr val="6AAA64"/>
                </a:solidFill>
                <a:latin typeface="微软雅黑"/>
                <a:ea typeface="微软雅黑"/>
                <a:cs typeface="微软雅黑"/>
              </a:defRPr>
            </a:pPr>
            <a:r>
              <a:rPr sz="1500" b="1">
                <a:solidFill>
                  <a:srgbClr val="6AAA64"/>
                </a:solidFill>
                <a:latin typeface="微软雅黑"/>
                <a:ea typeface="微软雅黑"/>
                <a:cs typeface="微软雅黑"/>
              </a:rPr>
              <a:t>Ascend NPU + CANN</a:t>
            </a:r>
            <a:endParaRPr sz="1500" b="1">
              <a:solidFill>
                <a:srgbClr val="6AAA64"/>
              </a:solidFill>
              <a:latin typeface="微软雅黑"/>
              <a:ea typeface="微软雅黑"/>
              <a:cs typeface="微软雅黑"/>
            </a:endParaRPr>
          </a:p>
        </p:txBody>
      </p:sp>
      <p:sp>
        <p:nvSpPr>
          <p:cNvPr id="87" name="矩形 86"/>
          <p:cNvSpPr>
            <a:spLocks noGrp="1"/>
          </p:cNvSpPr>
          <p:nvPr/>
        </p:nvSpPr>
        <p:spPr>
          <a:xfrm>
            <a:off x="8886825" y="4619625"/>
            <a:ext cx="2571750" cy="457200"/>
          </a:xfrm>
          <a:prstGeom prst="rect">
            <a:avLst/>
          </a:prstGeom>
          <a:noFill/>
          <a:ln w="0">
            <a:noFill/>
          </a:ln>
        </p:spPr>
        <p:txBody>
          <a:bodyPr wrap="square" lIns="0" tIns="0" rIns="0" bIns="0" anchor="t">
            <a:noAutofit/>
          </a:bodyPr>
          <a:lstStyle/>
          <a:p>
            <a:pPr algn="l">
              <a:lnSpc>
                <a:spcPct val="105000"/>
              </a:lnSpc>
              <a:buNone/>
              <a:defRPr sz="1165" b="0">
                <a:solidFill>
                  <a:srgbClr val="525252"/>
                </a:solidFill>
                <a:latin typeface="微软雅黑"/>
                <a:ea typeface="微软雅黑"/>
                <a:cs typeface="微软雅黑"/>
              </a:defRPr>
            </a:pPr>
            <a:r>
              <a:rPr sz="1165" b="0">
                <a:solidFill>
                  <a:srgbClr val="525252"/>
                </a:solidFill>
                <a:latin typeface="微软雅黑"/>
                <a:ea typeface="微软雅黑"/>
                <a:cs typeface="微软雅黑"/>
              </a:rPr>
              <a:t>底层计算能力：CANN 提供驱动与工具链，NPU 执行实际计算。</a:t>
            </a:r>
            <a:endParaRPr sz="1165" b="0">
              <a:solidFill>
                <a:srgbClr val="525252"/>
              </a:solidFill>
              <a:latin typeface="微软雅黑"/>
              <a:ea typeface="微软雅黑"/>
              <a:cs typeface="微软雅黑"/>
            </a:endParaRPr>
          </a:p>
        </p:txBody>
      </p:sp>
      <p:sp>
        <p:nvSpPr>
          <p:cNvPr id="88" name="矩形 87"/>
          <p:cNvSpPr>
            <a:spLocks noGrp="1"/>
          </p:cNvSpPr>
          <p:nvPr/>
        </p:nvSpPr>
        <p:spPr>
          <a:xfrm>
            <a:off x="685800" y="5848350"/>
            <a:ext cx="7239000" cy="266700"/>
          </a:xfrm>
          <a:prstGeom prst="rect">
            <a:avLst/>
          </a:prstGeom>
          <a:noFill/>
          <a:ln w="0">
            <a:noFill/>
          </a:ln>
        </p:spPr>
        <p:txBody>
          <a:bodyPr wrap="square" lIns="0" tIns="0" rIns="0" bIns="0" anchor="t">
            <a:noAutofit/>
          </a:bodyPr>
          <a:lstStyle/>
          <a:p>
            <a:pPr algn="l">
              <a:lnSpc>
                <a:spcPct val="110000"/>
              </a:lnSpc>
              <a:buNone/>
              <a:defRPr sz="1275" b="1">
                <a:solidFill>
                  <a:srgbClr val="525252"/>
                </a:solidFill>
                <a:latin typeface="微软雅黑"/>
                <a:ea typeface="微软雅黑"/>
                <a:cs typeface="微软雅黑"/>
              </a:defRPr>
            </a:pPr>
            <a:r>
              <a:rPr sz="1275" b="1">
                <a:solidFill>
                  <a:srgbClr val="525252"/>
                </a:solidFill>
                <a:latin typeface="微软雅黑"/>
                <a:ea typeface="微软雅黑"/>
                <a:cs typeface="微软雅黑"/>
              </a:rPr>
              <a:t>训练时，verl 发起任务；vLLM 持续生成回复；vllm-ascend 把推理接到 Ascend NPU。</a:t>
            </a:r>
            <a:endParaRPr sz="1275" b="1">
              <a:solidFill>
                <a:srgbClr val="525252"/>
              </a:solidFill>
              <a:latin typeface="微软雅黑"/>
              <a:ea typeface="微软雅黑"/>
              <a:cs typeface="微软雅黑"/>
            </a:endParaRPr>
          </a:p>
        </p:txBody>
      </p:sp>
      <p:sp>
        <p:nvSpPr>
          <p:cNvPr id="89" name="矩形 88"/>
          <p:cNvSpPr>
            <a:spLocks noGrp="1"/>
          </p:cNvSpPr>
          <p:nvPr/>
        </p:nvSpPr>
        <p:spPr>
          <a:xfrm>
            <a:off x="685800" y="6191250"/>
            <a:ext cx="10934700" cy="266700"/>
          </a:xfrm>
          <a:prstGeom prst="rect">
            <a:avLst/>
          </a:prstGeom>
          <a:noFill/>
          <a:ln w="0">
            <a:noFill/>
          </a:ln>
        </p:spPr>
        <p:txBody>
          <a:bodyPr wrap="square" lIns="0" tIns="0" rIns="0" bIns="0" anchor="t">
            <a:noAutofit/>
          </a:bodyPr>
          <a:lstStyle/>
          <a:p>
            <a:pPr algn="l">
              <a:lnSpc>
                <a:spcPct val="110000"/>
              </a:lnSpc>
              <a:buNone/>
              <a:defRPr sz="1240" b="1">
                <a:solidFill>
                  <a:srgbClr val="E60012"/>
                </a:solidFill>
                <a:latin typeface="微软雅黑"/>
                <a:ea typeface="微软雅黑"/>
                <a:cs typeface="微软雅黑"/>
              </a:defRPr>
            </a:pPr>
            <a:r>
              <a:rPr sz="1240" b="1">
                <a:solidFill>
                  <a:srgbClr val="E60012"/>
                </a:solidFill>
                <a:latin typeface="微软雅黑"/>
                <a:ea typeface="微软雅黑"/>
                <a:cs typeface="微软雅黑"/>
              </a:rPr>
              <a:t>安装完成后的验证目标：torch、torch_npu、vllm、vllm_ascend、verl 与 WordleAgentLoop 均可导入。</a:t>
            </a:r>
            <a:endParaRPr sz="1240" b="1">
              <a:solidFill>
                <a:srgbClr val="E60012"/>
              </a:solidFill>
              <a:latin typeface="微软雅黑"/>
              <a:ea typeface="微软雅黑"/>
              <a:cs typeface="微软雅黑"/>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134" name="图片 69"/>
          <p:cNvPicPr>
            <a:picLocks noChangeAspect="1"/>
          </p:cNvPicPr>
          <p:nvPr/>
        </p:nvPicPr>
        <p:blipFill>
          <a:blip r:embed="rId1"/>
          <a:srcRect/>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113" name="矩形 112"/>
          <p:cNvSpPr>
            <a:spLocks noGrp="1"/>
          </p:cNvSpPr>
          <p:nvPr/>
        </p:nvSpPr>
        <p:spPr>
          <a:xfrm>
            <a:off x="609600" y="323850"/>
            <a:ext cx="10858500" cy="504825"/>
          </a:xfrm>
          <a:prstGeom prst="rect">
            <a:avLst/>
          </a:prstGeom>
          <a:noFill/>
          <a:ln w="0">
            <a:noFill/>
          </a:ln>
        </p:spPr>
        <p:txBody>
          <a:bodyPr wrap="square" lIns="0" tIns="0" rIns="0" bIns="0" anchor="ctr">
            <a:noAutofit/>
          </a:bodyPr>
          <a:lstStyle/>
          <a:p>
            <a:pPr algn="l">
              <a:lnSpc>
                <a:spcPct val="108000"/>
              </a:lnSpc>
              <a:buNone/>
              <a:defRPr sz="2625" b="1">
                <a:solidFill>
                  <a:srgbClr val="111111"/>
                </a:solidFill>
                <a:latin typeface="微软雅黑"/>
                <a:ea typeface="微软雅黑"/>
                <a:cs typeface="微软雅黑"/>
              </a:defRPr>
            </a:pPr>
            <a:r>
              <a:rPr lang="zh-CN" sz="2625" b="1">
                <a:solidFill>
                  <a:srgbClr val="111111"/>
                </a:solidFill>
                <a:latin typeface="微软雅黑"/>
                <a:ea typeface="微软雅黑"/>
                <a:cs typeface="微软雅黑"/>
              </a:rPr>
              <a:t>强化学习训练环境</a:t>
            </a:r>
            <a:r>
              <a:rPr lang="zh-CN" sz="2625" b="1">
                <a:solidFill>
                  <a:srgbClr val="111111"/>
                </a:solidFill>
                <a:latin typeface="微软雅黑"/>
                <a:ea typeface="微软雅黑"/>
                <a:cs typeface="微软雅黑"/>
              </a:rPr>
              <a:t>准备</a:t>
            </a:r>
            <a:endParaRPr lang="zh-CN" sz="2625" b="1">
              <a:solidFill>
                <a:srgbClr val="111111"/>
              </a:solidFill>
              <a:latin typeface="微软雅黑"/>
              <a:ea typeface="微软雅黑"/>
              <a:cs typeface="微软雅黑"/>
            </a:endParaRPr>
          </a:p>
        </p:txBody>
      </p:sp>
      <p:sp>
        <p:nvSpPr>
          <p:cNvPr id="115" name="矩形 114"/>
          <p:cNvSpPr>
            <a:spLocks noGrp="1"/>
          </p:cNvSpPr>
          <p:nvPr/>
        </p:nvSpPr>
        <p:spPr>
          <a:xfrm>
            <a:off x="685800" y="1352550"/>
            <a:ext cx="6191250" cy="323850"/>
          </a:xfrm>
          <a:prstGeom prst="rect">
            <a:avLst/>
          </a:prstGeom>
          <a:noFill/>
          <a:ln w="0">
            <a:noFill/>
          </a:ln>
        </p:spPr>
        <p:txBody>
          <a:bodyPr wrap="square" lIns="0" tIns="0" rIns="0" bIns="0" anchor="t">
            <a:noAutofit/>
          </a:bodyPr>
          <a:lstStyle/>
          <a:p>
            <a:pPr algn="l">
              <a:lnSpc>
                <a:spcPct val="108000"/>
              </a:lnSpc>
              <a:buNone/>
              <a:defRPr sz="1875" b="1">
                <a:solidFill>
                  <a:srgbClr val="E60012"/>
                </a:solidFill>
                <a:latin typeface="微软雅黑"/>
                <a:ea typeface="微软雅黑"/>
                <a:cs typeface="微软雅黑"/>
              </a:defRPr>
            </a:pPr>
            <a:r>
              <a:rPr sz="1875" b="1">
                <a:solidFill>
                  <a:srgbClr val="E60012"/>
                </a:solidFill>
                <a:latin typeface="微软雅黑"/>
                <a:ea typeface="微软雅黑"/>
                <a:cs typeface="微软雅黑"/>
              </a:rPr>
              <a:t>按职责看一轮训练</a:t>
            </a:r>
            <a:endParaRPr sz="1875" b="1">
              <a:solidFill>
                <a:srgbClr val="E60012"/>
              </a:solidFill>
              <a:latin typeface="微软雅黑"/>
              <a:ea typeface="微软雅黑"/>
              <a:cs typeface="微软雅黑"/>
            </a:endParaRPr>
          </a:p>
        </p:txBody>
      </p:sp>
      <p:sp>
        <p:nvSpPr>
          <p:cNvPr id="116" name="矩形 115"/>
          <p:cNvSpPr>
            <a:spLocks noGrp="1"/>
          </p:cNvSpPr>
          <p:nvPr/>
        </p:nvSpPr>
        <p:spPr>
          <a:xfrm>
            <a:off x="8239125" y="1352550"/>
            <a:ext cx="3333750" cy="323850"/>
          </a:xfrm>
          <a:prstGeom prst="rect">
            <a:avLst/>
          </a:prstGeom>
          <a:noFill/>
          <a:ln w="0">
            <a:noFill/>
          </a:ln>
        </p:spPr>
        <p:txBody>
          <a:bodyPr wrap="square" lIns="0" tIns="0" rIns="0" bIns="0" anchor="t">
            <a:noAutofit/>
          </a:bodyPr>
          <a:lstStyle/>
          <a:p>
            <a:pPr algn="l">
              <a:lnSpc>
                <a:spcPct val="108000"/>
              </a:lnSpc>
              <a:buNone/>
              <a:defRPr sz="1875" b="1">
                <a:solidFill>
                  <a:srgbClr val="377DFF"/>
                </a:solidFill>
                <a:latin typeface="微软雅黑"/>
                <a:ea typeface="微软雅黑"/>
                <a:cs typeface="微软雅黑"/>
              </a:defRPr>
            </a:pPr>
            <a:r>
              <a:rPr sz="1875" b="1">
                <a:solidFill>
                  <a:srgbClr val="377DFF"/>
                </a:solidFill>
                <a:latin typeface="微软雅黑"/>
                <a:ea typeface="微软雅黑"/>
                <a:cs typeface="微软雅黑"/>
              </a:rPr>
              <a:t>一轮 step 的数据流</a:t>
            </a:r>
            <a:endParaRPr sz="1875" b="1">
              <a:solidFill>
                <a:srgbClr val="377DFF"/>
              </a:solidFill>
              <a:latin typeface="微软雅黑"/>
              <a:ea typeface="微软雅黑"/>
              <a:cs typeface="微软雅黑"/>
            </a:endParaRPr>
          </a:p>
        </p:txBody>
      </p:sp>
      <p:pic>
        <p:nvPicPr>
          <p:cNvPr id="140" name="图片 139"/>
          <p:cNvPicPr>
            <a:picLocks noChangeAspect="1"/>
          </p:cNvPicPr>
          <p:nvPr/>
        </p:nvPicPr>
        <p:blipFill>
          <a:blip r:embed="rId2"/>
          <a:stretch>
            <a:fillRect/>
          </a:stretch>
        </p:blipFill>
        <p:spPr>
          <a:xfrm>
            <a:off x="590868" y="1734864"/>
            <a:ext cx="7476490" cy="3454947"/>
          </a:xfrm>
          <a:prstGeom prst="rect">
            <a:avLst/>
          </a:prstGeom>
        </p:spPr>
      </p:pic>
      <p:sp>
        <p:nvSpPr>
          <p:cNvPr id="118" name="圆角矩形 117"/>
          <p:cNvSpPr>
            <a:spLocks noGrp="1"/>
          </p:cNvSpPr>
          <p:nvPr>
            <p:custDataLst>
              <p:tags r:id="rId3"/>
            </p:custDataLst>
          </p:nvPr>
        </p:nvSpPr>
        <p:spPr>
          <a:xfrm>
            <a:off x="8239125" y="1733550"/>
            <a:ext cx="3381375" cy="1057275"/>
          </a:xfrm>
          <a:prstGeom prst="roundRect">
            <a:avLst>
              <a:gd name="adj" fmla="val 1800"/>
            </a:avLst>
          </a:prstGeom>
          <a:solidFill>
            <a:srgbClr val="F4F8FF"/>
          </a:solidFill>
          <a:ln w="9525">
            <a:solidFill>
              <a:srgbClr val="C8D8FF"/>
            </a:solidFill>
          </a:ln>
        </p:spPr>
      </p:sp>
      <p:sp>
        <p:nvSpPr>
          <p:cNvPr id="119" name="矩形 118"/>
          <p:cNvSpPr>
            <a:spLocks noGrp="1"/>
          </p:cNvSpPr>
          <p:nvPr>
            <p:custDataLst>
              <p:tags r:id="rId4"/>
            </p:custDataLst>
          </p:nvPr>
        </p:nvSpPr>
        <p:spPr>
          <a:xfrm>
            <a:off x="8429625" y="1857375"/>
            <a:ext cx="381000" cy="257175"/>
          </a:xfrm>
          <a:prstGeom prst="rect">
            <a:avLst/>
          </a:prstGeom>
          <a:noFill/>
          <a:ln w="0">
            <a:noFill/>
          </a:ln>
        </p:spPr>
        <p:txBody>
          <a:bodyPr wrap="square" lIns="0" tIns="0" rIns="0" bIns="0" anchor="t">
            <a:noAutofit/>
          </a:bodyPr>
          <a:lstStyle/>
          <a:p>
            <a:pPr algn="l">
              <a:lnSpc>
                <a:spcPct val="108000"/>
              </a:lnSpc>
              <a:buNone/>
              <a:defRPr sz="1575" b="1">
                <a:solidFill>
                  <a:srgbClr val="377DFF"/>
                </a:solidFill>
                <a:latin typeface="微软雅黑"/>
                <a:ea typeface="微软雅黑"/>
                <a:cs typeface="微软雅黑"/>
              </a:defRPr>
            </a:pPr>
            <a:r>
              <a:rPr sz="1575" b="1">
                <a:solidFill>
                  <a:srgbClr val="377DFF"/>
                </a:solidFill>
                <a:latin typeface="微软雅黑"/>
                <a:ea typeface="微软雅黑"/>
                <a:cs typeface="微软雅黑"/>
              </a:rPr>
              <a:t>01</a:t>
            </a:r>
            <a:endParaRPr sz="1575" b="1">
              <a:solidFill>
                <a:srgbClr val="377DFF"/>
              </a:solidFill>
              <a:latin typeface="微软雅黑"/>
              <a:ea typeface="微软雅黑"/>
              <a:cs typeface="微软雅黑"/>
            </a:endParaRPr>
          </a:p>
        </p:txBody>
      </p:sp>
      <p:sp>
        <p:nvSpPr>
          <p:cNvPr id="120" name="矩形 119"/>
          <p:cNvSpPr>
            <a:spLocks noGrp="1"/>
          </p:cNvSpPr>
          <p:nvPr>
            <p:custDataLst>
              <p:tags r:id="rId5"/>
            </p:custDataLst>
          </p:nvPr>
        </p:nvSpPr>
        <p:spPr>
          <a:xfrm>
            <a:off x="8886825" y="1847850"/>
            <a:ext cx="2571750" cy="257175"/>
          </a:xfrm>
          <a:prstGeom prst="rect">
            <a:avLst/>
          </a:prstGeom>
          <a:noFill/>
          <a:ln w="0">
            <a:noFill/>
          </a:ln>
        </p:spPr>
        <p:txBody>
          <a:bodyPr wrap="square" lIns="0" tIns="0" rIns="0" bIns="0" anchor="t">
            <a:noAutofit/>
          </a:bodyPr>
          <a:lstStyle/>
          <a:p>
            <a:pPr algn="l">
              <a:lnSpc>
                <a:spcPct val="108000"/>
              </a:lnSpc>
              <a:buNone/>
              <a:defRPr sz="1425" b="1">
                <a:solidFill>
                  <a:srgbClr val="377DFF"/>
                </a:solidFill>
                <a:latin typeface="微软雅黑"/>
                <a:ea typeface="微软雅黑"/>
                <a:cs typeface="微软雅黑"/>
              </a:defRPr>
            </a:pPr>
            <a:r>
              <a:rPr sz="1425" b="1">
                <a:solidFill>
                  <a:srgbClr val="377DFF"/>
                </a:solidFill>
                <a:latin typeface="微软雅黑"/>
                <a:ea typeface="微软雅黑"/>
                <a:cs typeface="微软雅黑"/>
              </a:rPr>
              <a:t>Rollout 交互</a:t>
            </a:r>
            <a:endParaRPr sz="1425" b="1">
              <a:solidFill>
                <a:srgbClr val="377DFF"/>
              </a:solidFill>
              <a:latin typeface="微软雅黑"/>
              <a:ea typeface="微软雅黑"/>
              <a:cs typeface="微软雅黑"/>
            </a:endParaRPr>
          </a:p>
        </p:txBody>
      </p:sp>
      <p:sp>
        <p:nvSpPr>
          <p:cNvPr id="121" name="矩形 120"/>
          <p:cNvSpPr>
            <a:spLocks noGrp="1"/>
          </p:cNvSpPr>
          <p:nvPr>
            <p:custDataLst>
              <p:tags r:id="rId6"/>
            </p:custDataLst>
          </p:nvPr>
        </p:nvSpPr>
        <p:spPr>
          <a:xfrm>
            <a:off x="8886825" y="2162175"/>
            <a:ext cx="2571750" cy="552450"/>
          </a:xfrm>
          <a:prstGeom prst="rect">
            <a:avLst/>
          </a:prstGeom>
          <a:noFill/>
          <a:ln w="0">
            <a:noFill/>
          </a:ln>
        </p:spPr>
        <p:txBody>
          <a:bodyPr wrap="square" lIns="0" tIns="0" rIns="0" bIns="0" anchor="t">
            <a:noAutofit/>
          </a:bodyPr>
          <a:lstStyle/>
          <a:p>
            <a:pPr algn="l">
              <a:lnSpc>
                <a:spcPct val="104000"/>
              </a:lnSpc>
              <a:buNone/>
              <a:defRPr sz="1125" b="0">
                <a:solidFill>
                  <a:srgbClr val="525252"/>
                </a:solidFill>
                <a:latin typeface="微软雅黑"/>
                <a:ea typeface="微软雅黑"/>
                <a:cs typeface="微软雅黑"/>
              </a:defRPr>
            </a:pPr>
            <a:r>
              <a:rPr sz="1125" b="0">
                <a:solidFill>
                  <a:srgbClr val="525252"/>
                </a:solidFill>
                <a:latin typeface="微软雅黑"/>
                <a:ea typeface="微软雅黑"/>
                <a:cs typeface="微软雅黑"/>
              </a:rPr>
              <a:t>AgentLoopManager 分发任务；AgentLoop Worker 调用 vLLM 生成猜词，并把 G/Y/X 反馈追加到对话。</a:t>
            </a:r>
            <a:endParaRPr sz="1125" b="0">
              <a:solidFill>
                <a:srgbClr val="525252"/>
              </a:solidFill>
              <a:latin typeface="微软雅黑"/>
              <a:ea typeface="微软雅黑"/>
              <a:cs typeface="微软雅黑"/>
            </a:endParaRPr>
          </a:p>
        </p:txBody>
      </p:sp>
      <p:sp>
        <p:nvSpPr>
          <p:cNvPr id="122" name="圆角矩形 121"/>
          <p:cNvSpPr>
            <a:spLocks noGrp="1"/>
          </p:cNvSpPr>
          <p:nvPr>
            <p:custDataLst>
              <p:tags r:id="rId7"/>
            </p:custDataLst>
          </p:nvPr>
        </p:nvSpPr>
        <p:spPr>
          <a:xfrm>
            <a:off x="8239125" y="2952750"/>
            <a:ext cx="3381375" cy="1057275"/>
          </a:xfrm>
          <a:prstGeom prst="roundRect">
            <a:avLst>
              <a:gd name="adj" fmla="val 1800"/>
            </a:avLst>
          </a:prstGeom>
          <a:solidFill>
            <a:srgbClr val="FFF8EB"/>
          </a:solidFill>
          <a:ln w="9525">
            <a:solidFill>
              <a:srgbClr val="EBD2A2"/>
            </a:solidFill>
          </a:ln>
        </p:spPr>
      </p:sp>
      <p:sp>
        <p:nvSpPr>
          <p:cNvPr id="123" name="矩形 122"/>
          <p:cNvSpPr>
            <a:spLocks noGrp="1"/>
          </p:cNvSpPr>
          <p:nvPr>
            <p:custDataLst>
              <p:tags r:id="rId8"/>
            </p:custDataLst>
          </p:nvPr>
        </p:nvSpPr>
        <p:spPr>
          <a:xfrm>
            <a:off x="8429625" y="3076575"/>
            <a:ext cx="381000" cy="257175"/>
          </a:xfrm>
          <a:prstGeom prst="rect">
            <a:avLst/>
          </a:prstGeom>
          <a:noFill/>
          <a:ln w="0">
            <a:noFill/>
          </a:ln>
        </p:spPr>
        <p:txBody>
          <a:bodyPr wrap="square" lIns="0" tIns="0" rIns="0" bIns="0" anchor="t">
            <a:noAutofit/>
          </a:bodyPr>
          <a:lstStyle/>
          <a:p>
            <a:pPr algn="l">
              <a:lnSpc>
                <a:spcPct val="108000"/>
              </a:lnSpc>
              <a:buNone/>
              <a:defRPr sz="1575" b="1">
                <a:solidFill>
                  <a:srgbClr val="E58A00"/>
                </a:solidFill>
                <a:latin typeface="微软雅黑"/>
                <a:ea typeface="微软雅黑"/>
                <a:cs typeface="微软雅黑"/>
              </a:defRPr>
            </a:pPr>
            <a:r>
              <a:rPr sz="1575" b="1">
                <a:solidFill>
                  <a:srgbClr val="E58A00"/>
                </a:solidFill>
                <a:latin typeface="微软雅黑"/>
                <a:ea typeface="微软雅黑"/>
                <a:cs typeface="微软雅黑"/>
              </a:rPr>
              <a:t>02</a:t>
            </a:r>
            <a:endParaRPr sz="1575" b="1">
              <a:solidFill>
                <a:srgbClr val="E58A00"/>
              </a:solidFill>
              <a:latin typeface="微软雅黑"/>
              <a:ea typeface="微软雅黑"/>
              <a:cs typeface="微软雅黑"/>
            </a:endParaRPr>
          </a:p>
        </p:txBody>
      </p:sp>
      <p:sp>
        <p:nvSpPr>
          <p:cNvPr id="124" name="矩形 123"/>
          <p:cNvSpPr>
            <a:spLocks noGrp="1"/>
          </p:cNvSpPr>
          <p:nvPr>
            <p:custDataLst>
              <p:tags r:id="rId9"/>
            </p:custDataLst>
          </p:nvPr>
        </p:nvSpPr>
        <p:spPr>
          <a:xfrm>
            <a:off x="8886825" y="3067050"/>
            <a:ext cx="2571750" cy="257175"/>
          </a:xfrm>
          <a:prstGeom prst="rect">
            <a:avLst/>
          </a:prstGeom>
          <a:noFill/>
          <a:ln w="0">
            <a:noFill/>
          </a:ln>
        </p:spPr>
        <p:txBody>
          <a:bodyPr wrap="square" lIns="0" tIns="0" rIns="0" bIns="0" anchor="t">
            <a:noAutofit/>
          </a:bodyPr>
          <a:lstStyle/>
          <a:p>
            <a:pPr algn="l">
              <a:lnSpc>
                <a:spcPct val="108000"/>
              </a:lnSpc>
              <a:buNone/>
              <a:defRPr sz="1425" b="1">
                <a:solidFill>
                  <a:srgbClr val="E58A00"/>
                </a:solidFill>
                <a:latin typeface="微软雅黑"/>
                <a:ea typeface="微软雅黑"/>
                <a:cs typeface="微软雅黑"/>
              </a:defRPr>
            </a:pPr>
            <a:r>
              <a:rPr sz="1425" b="1">
                <a:solidFill>
                  <a:srgbClr val="E58A00"/>
                </a:solidFill>
                <a:latin typeface="微软雅黑"/>
                <a:ea typeface="微软雅黑"/>
                <a:cs typeface="微软雅黑"/>
              </a:rPr>
              <a:t>奖励 → 优势</a:t>
            </a:r>
            <a:endParaRPr sz="1425" b="1">
              <a:solidFill>
                <a:srgbClr val="E58A00"/>
              </a:solidFill>
              <a:latin typeface="微软雅黑"/>
              <a:ea typeface="微软雅黑"/>
              <a:cs typeface="微软雅黑"/>
            </a:endParaRPr>
          </a:p>
        </p:txBody>
      </p:sp>
      <p:sp>
        <p:nvSpPr>
          <p:cNvPr id="125" name="矩形 124"/>
          <p:cNvSpPr>
            <a:spLocks noGrp="1"/>
          </p:cNvSpPr>
          <p:nvPr>
            <p:custDataLst>
              <p:tags r:id="rId10"/>
            </p:custDataLst>
          </p:nvPr>
        </p:nvSpPr>
        <p:spPr>
          <a:xfrm>
            <a:off x="8886825" y="3381375"/>
            <a:ext cx="2571750" cy="552450"/>
          </a:xfrm>
          <a:prstGeom prst="rect">
            <a:avLst/>
          </a:prstGeom>
          <a:noFill/>
          <a:ln w="0">
            <a:noFill/>
          </a:ln>
        </p:spPr>
        <p:txBody>
          <a:bodyPr wrap="square" lIns="0" tIns="0" rIns="0" bIns="0" anchor="t">
            <a:noAutofit/>
          </a:bodyPr>
          <a:lstStyle/>
          <a:p>
            <a:pPr algn="l">
              <a:lnSpc>
                <a:spcPct val="104000"/>
              </a:lnSpc>
              <a:buNone/>
              <a:defRPr sz="1125" b="0">
                <a:solidFill>
                  <a:srgbClr val="525252"/>
                </a:solidFill>
                <a:latin typeface="微软雅黑"/>
                <a:ea typeface="微软雅黑"/>
                <a:cs typeface="微软雅黑"/>
              </a:defRPr>
            </a:pPr>
            <a:r>
              <a:rPr sz="1125" b="0">
                <a:solidFill>
                  <a:srgbClr val="525252"/>
                </a:solidFill>
                <a:latin typeface="微软雅黑"/>
                <a:ea typeface="微软雅黑"/>
                <a:cs typeface="微软雅黑"/>
              </a:rPr>
              <a:t>Reward 按规则打分；Advantage 在同一 prompt 的多条 rollout 中做相对比较，形成 GRPO 信号。</a:t>
            </a:r>
            <a:endParaRPr sz="1125" b="0">
              <a:solidFill>
                <a:srgbClr val="525252"/>
              </a:solidFill>
              <a:latin typeface="微软雅黑"/>
              <a:ea typeface="微软雅黑"/>
              <a:cs typeface="微软雅黑"/>
            </a:endParaRPr>
          </a:p>
        </p:txBody>
      </p:sp>
      <p:sp>
        <p:nvSpPr>
          <p:cNvPr id="126" name="圆角矩形 125"/>
          <p:cNvSpPr>
            <a:spLocks noGrp="1"/>
          </p:cNvSpPr>
          <p:nvPr>
            <p:custDataLst>
              <p:tags r:id="rId11"/>
            </p:custDataLst>
          </p:nvPr>
        </p:nvSpPr>
        <p:spPr>
          <a:xfrm>
            <a:off x="8239125" y="4171950"/>
            <a:ext cx="3381375" cy="1057275"/>
          </a:xfrm>
          <a:prstGeom prst="roundRect">
            <a:avLst>
              <a:gd name="adj" fmla="val 1800"/>
            </a:avLst>
          </a:prstGeom>
          <a:solidFill>
            <a:srgbClr val="FFF6F6"/>
          </a:solidFill>
          <a:ln w="9525">
            <a:solidFill>
              <a:srgbClr val="F1C3C3"/>
            </a:solidFill>
          </a:ln>
        </p:spPr>
      </p:sp>
      <p:sp>
        <p:nvSpPr>
          <p:cNvPr id="127" name="矩形 126"/>
          <p:cNvSpPr>
            <a:spLocks noGrp="1"/>
          </p:cNvSpPr>
          <p:nvPr>
            <p:custDataLst>
              <p:tags r:id="rId12"/>
            </p:custDataLst>
          </p:nvPr>
        </p:nvSpPr>
        <p:spPr>
          <a:xfrm>
            <a:off x="8429625" y="4295775"/>
            <a:ext cx="381000" cy="257175"/>
          </a:xfrm>
          <a:prstGeom prst="rect">
            <a:avLst/>
          </a:prstGeom>
          <a:noFill/>
          <a:ln w="0">
            <a:noFill/>
          </a:ln>
        </p:spPr>
        <p:txBody>
          <a:bodyPr wrap="square" lIns="0" tIns="0" rIns="0" bIns="0" anchor="t">
            <a:noAutofit/>
          </a:bodyPr>
          <a:lstStyle/>
          <a:p>
            <a:pPr algn="l">
              <a:lnSpc>
                <a:spcPct val="108000"/>
              </a:lnSpc>
              <a:buNone/>
              <a:defRPr sz="1575" b="1">
                <a:solidFill>
                  <a:srgbClr val="E60012"/>
                </a:solidFill>
                <a:latin typeface="微软雅黑"/>
                <a:ea typeface="微软雅黑"/>
                <a:cs typeface="微软雅黑"/>
              </a:defRPr>
            </a:pPr>
            <a:r>
              <a:rPr sz="1575" b="1">
                <a:solidFill>
                  <a:srgbClr val="E60012"/>
                </a:solidFill>
                <a:latin typeface="微软雅黑"/>
                <a:ea typeface="微软雅黑"/>
                <a:cs typeface="微软雅黑"/>
              </a:rPr>
              <a:t>03</a:t>
            </a:r>
            <a:endParaRPr sz="1575" b="1">
              <a:solidFill>
                <a:srgbClr val="E60012"/>
              </a:solidFill>
              <a:latin typeface="微软雅黑"/>
              <a:ea typeface="微软雅黑"/>
              <a:cs typeface="微软雅黑"/>
            </a:endParaRPr>
          </a:p>
        </p:txBody>
      </p:sp>
      <p:sp>
        <p:nvSpPr>
          <p:cNvPr id="128" name="矩形 127"/>
          <p:cNvSpPr>
            <a:spLocks noGrp="1"/>
          </p:cNvSpPr>
          <p:nvPr>
            <p:custDataLst>
              <p:tags r:id="rId13"/>
            </p:custDataLst>
          </p:nvPr>
        </p:nvSpPr>
        <p:spPr>
          <a:xfrm>
            <a:off x="8886825" y="4286250"/>
            <a:ext cx="2571750" cy="257175"/>
          </a:xfrm>
          <a:prstGeom prst="rect">
            <a:avLst/>
          </a:prstGeom>
          <a:noFill/>
          <a:ln w="0">
            <a:noFill/>
          </a:ln>
        </p:spPr>
        <p:txBody>
          <a:bodyPr wrap="square" lIns="0" tIns="0" rIns="0" bIns="0" anchor="t">
            <a:noAutofit/>
          </a:bodyPr>
          <a:lstStyle/>
          <a:p>
            <a:pPr algn="l">
              <a:lnSpc>
                <a:spcPct val="108000"/>
              </a:lnSpc>
              <a:buNone/>
              <a:defRPr sz="1425" b="1">
                <a:solidFill>
                  <a:srgbClr val="E60012"/>
                </a:solidFill>
                <a:latin typeface="微软雅黑"/>
                <a:ea typeface="微软雅黑"/>
                <a:cs typeface="微软雅黑"/>
              </a:defRPr>
            </a:pPr>
            <a:r>
              <a:rPr sz="1425" b="1">
                <a:solidFill>
                  <a:srgbClr val="E60012"/>
                </a:solidFill>
                <a:latin typeface="微软雅黑"/>
                <a:ea typeface="微软雅黑"/>
                <a:cs typeface="微软雅黑"/>
              </a:rPr>
              <a:t>更新与复用</a:t>
            </a:r>
            <a:endParaRPr sz="1425" b="1">
              <a:solidFill>
                <a:srgbClr val="E60012"/>
              </a:solidFill>
              <a:latin typeface="微软雅黑"/>
              <a:ea typeface="微软雅黑"/>
              <a:cs typeface="微软雅黑"/>
            </a:endParaRPr>
          </a:p>
        </p:txBody>
      </p:sp>
      <p:sp>
        <p:nvSpPr>
          <p:cNvPr id="129" name="矩形 128"/>
          <p:cNvSpPr>
            <a:spLocks noGrp="1"/>
          </p:cNvSpPr>
          <p:nvPr>
            <p:custDataLst>
              <p:tags r:id="rId14"/>
            </p:custDataLst>
          </p:nvPr>
        </p:nvSpPr>
        <p:spPr>
          <a:xfrm>
            <a:off x="8886825" y="4600575"/>
            <a:ext cx="2571750" cy="552450"/>
          </a:xfrm>
          <a:prstGeom prst="rect">
            <a:avLst/>
          </a:prstGeom>
          <a:noFill/>
          <a:ln w="0">
            <a:noFill/>
          </a:ln>
        </p:spPr>
        <p:txBody>
          <a:bodyPr wrap="square" lIns="0" tIns="0" rIns="0" bIns="0" anchor="t">
            <a:noAutofit/>
          </a:bodyPr>
          <a:lstStyle/>
          <a:p>
            <a:pPr algn="l">
              <a:lnSpc>
                <a:spcPct val="104000"/>
              </a:lnSpc>
              <a:buNone/>
              <a:defRPr sz="1125" b="0">
                <a:solidFill>
                  <a:srgbClr val="525252"/>
                </a:solidFill>
                <a:latin typeface="微软雅黑"/>
                <a:ea typeface="微软雅黑"/>
                <a:cs typeface="微软雅黑"/>
              </a:defRPr>
            </a:pPr>
            <a:r>
              <a:rPr sz="1125" b="0">
                <a:solidFill>
                  <a:srgbClr val="525252"/>
                </a:solidFill>
                <a:latin typeface="微软雅黑"/>
                <a:ea typeface="微软雅黑"/>
                <a:cs typeface="微软雅黑"/>
              </a:rPr>
              <a:t>Ray Train / FSDP 更新 Actor；Hybrid Engine 用 sleep / wake 让训练与推理交替使用同一组 NPU。</a:t>
            </a:r>
            <a:endParaRPr sz="1125" b="0">
              <a:solidFill>
                <a:srgbClr val="525252"/>
              </a:solidFill>
              <a:latin typeface="微软雅黑"/>
              <a:ea typeface="微软雅黑"/>
              <a:cs typeface="微软雅黑"/>
            </a:endParaRPr>
          </a:p>
        </p:txBody>
      </p:sp>
      <p:sp>
        <p:nvSpPr>
          <p:cNvPr id="130" name="矩形 129"/>
          <p:cNvSpPr>
            <a:spLocks noGrp="1"/>
          </p:cNvSpPr>
          <p:nvPr/>
        </p:nvSpPr>
        <p:spPr>
          <a:xfrm>
            <a:off x="685800" y="5467350"/>
            <a:ext cx="10953750" cy="285750"/>
          </a:xfrm>
          <a:prstGeom prst="rect">
            <a:avLst/>
          </a:prstGeom>
          <a:noFill/>
          <a:ln w="0">
            <a:noFill/>
          </a:ln>
        </p:spPr>
        <p:txBody>
          <a:bodyPr wrap="square" lIns="0" tIns="0" rIns="0" bIns="0" anchor="t">
            <a:noAutofit/>
          </a:bodyPr>
          <a:lstStyle/>
          <a:p>
            <a:pPr algn="l">
              <a:lnSpc>
                <a:spcPct val="108000"/>
              </a:lnSpc>
              <a:buNone/>
              <a:defRPr sz="1240" b="1">
                <a:solidFill>
                  <a:srgbClr val="525252"/>
                </a:solidFill>
                <a:latin typeface="微软雅黑"/>
                <a:ea typeface="微软雅黑"/>
                <a:cs typeface="微软雅黑"/>
              </a:defRPr>
            </a:pPr>
            <a:r>
              <a:rPr sz="1240" b="1">
                <a:solidFill>
                  <a:srgbClr val="525252"/>
                </a:solidFill>
                <a:latin typeface="微软雅黑"/>
                <a:ea typeface="微软雅黑"/>
                <a:cs typeface="微软雅黑"/>
              </a:rPr>
              <a:t>关键参数：rollout.n=8（每个 prompt 生成 8 条，组成 GRPO 组） · tensor_model_parallel_size=2 · max_user_turns=6</a:t>
            </a:r>
            <a:endParaRPr sz="1240" b="1">
              <a:solidFill>
                <a:srgbClr val="525252"/>
              </a:solidFill>
              <a:latin typeface="微软雅黑"/>
              <a:ea typeface="微软雅黑"/>
              <a:cs typeface="微软雅黑"/>
            </a:endParaRPr>
          </a:p>
        </p:txBody>
      </p:sp>
      <p:sp>
        <p:nvSpPr>
          <p:cNvPr id="131" name="圆角矩形 130"/>
          <p:cNvSpPr>
            <a:spLocks noGrp="1"/>
          </p:cNvSpPr>
          <p:nvPr/>
        </p:nvSpPr>
        <p:spPr>
          <a:xfrm>
            <a:off x="685800" y="5905500"/>
            <a:ext cx="10934700" cy="514350"/>
          </a:xfrm>
          <a:prstGeom prst="roundRect">
            <a:avLst>
              <a:gd name="adj" fmla="val 1800"/>
            </a:avLst>
          </a:prstGeom>
          <a:solidFill>
            <a:srgbClr val="F8F8F8"/>
          </a:solidFill>
          <a:ln w="9525">
            <a:solidFill>
              <a:srgbClr val="DDDDDD"/>
            </a:solidFill>
          </a:ln>
        </p:spPr>
      </p:sp>
      <p:sp>
        <p:nvSpPr>
          <p:cNvPr id="132" name="矩形 131"/>
          <p:cNvSpPr>
            <a:spLocks noGrp="1"/>
          </p:cNvSpPr>
          <p:nvPr/>
        </p:nvSpPr>
        <p:spPr>
          <a:xfrm>
            <a:off x="876300" y="6029325"/>
            <a:ext cx="1143000" cy="228600"/>
          </a:xfrm>
          <a:prstGeom prst="rect">
            <a:avLst/>
          </a:prstGeom>
          <a:noFill/>
          <a:ln w="0">
            <a:noFill/>
          </a:ln>
        </p:spPr>
        <p:txBody>
          <a:bodyPr wrap="square" lIns="0" tIns="0" rIns="0" bIns="0" anchor="t">
            <a:noAutofit/>
          </a:bodyPr>
          <a:lstStyle/>
          <a:p>
            <a:pPr algn="l">
              <a:lnSpc>
                <a:spcPct val="108000"/>
              </a:lnSpc>
              <a:buNone/>
              <a:defRPr sz="1200" b="1">
                <a:solidFill>
                  <a:srgbClr val="E60012"/>
                </a:solidFill>
                <a:latin typeface="微软雅黑"/>
                <a:ea typeface="微软雅黑"/>
                <a:cs typeface="微软雅黑"/>
              </a:defRPr>
            </a:pPr>
            <a:r>
              <a:rPr sz="1200" b="1">
                <a:solidFill>
                  <a:srgbClr val="E60012"/>
                </a:solidFill>
                <a:latin typeface="微软雅黑"/>
                <a:ea typeface="微软雅黑"/>
                <a:cs typeface="微软雅黑"/>
              </a:rPr>
              <a:t>讲解抓手</a:t>
            </a:r>
            <a:endParaRPr sz="1200" b="1">
              <a:solidFill>
                <a:srgbClr val="E60012"/>
              </a:solidFill>
              <a:latin typeface="微软雅黑"/>
              <a:ea typeface="微软雅黑"/>
              <a:cs typeface="微软雅黑"/>
            </a:endParaRPr>
          </a:p>
        </p:txBody>
      </p:sp>
      <p:sp>
        <p:nvSpPr>
          <p:cNvPr id="133" name="矩形 132"/>
          <p:cNvSpPr>
            <a:spLocks noGrp="1"/>
          </p:cNvSpPr>
          <p:nvPr/>
        </p:nvSpPr>
        <p:spPr>
          <a:xfrm>
            <a:off x="2038350" y="6029325"/>
            <a:ext cx="9096375" cy="238125"/>
          </a:xfrm>
          <a:prstGeom prst="rect">
            <a:avLst/>
          </a:prstGeom>
          <a:noFill/>
          <a:ln w="0">
            <a:noFill/>
          </a:ln>
        </p:spPr>
        <p:txBody>
          <a:bodyPr wrap="square" lIns="0" tIns="0" rIns="0" bIns="0" anchor="t">
            <a:noAutofit/>
          </a:bodyPr>
          <a:lstStyle/>
          <a:p>
            <a:pPr algn="l">
              <a:lnSpc>
                <a:spcPct val="108000"/>
              </a:lnSpc>
              <a:buNone/>
              <a:defRPr sz="1275" b="1">
                <a:solidFill>
                  <a:srgbClr val="262626"/>
                </a:solidFill>
                <a:latin typeface="微软雅黑"/>
                <a:ea typeface="微软雅黑"/>
                <a:cs typeface="微软雅黑"/>
              </a:defRPr>
            </a:pPr>
            <a:r>
              <a:rPr sz="1275" b="1">
                <a:solidFill>
                  <a:srgbClr val="262626"/>
                </a:solidFill>
                <a:latin typeface="微软雅黑"/>
                <a:ea typeface="微软雅黑"/>
                <a:cs typeface="微软雅黑"/>
              </a:rPr>
              <a:t>TaskRunner 发起 → rollout 生成 → Reward/Advantage 评分 → FSDP 更新 → 下一轮。</a:t>
            </a:r>
            <a:endParaRPr sz="1275" b="1">
              <a:solidFill>
                <a:srgbClr val="262626"/>
              </a:solidFill>
              <a:latin typeface="微软雅黑"/>
              <a:ea typeface="微软雅黑"/>
              <a:cs typeface="微软雅黑"/>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强化学习训练环境准备</a:t>
            </a:r>
            <a:endParaRPr sz="2700" b="1">
              <a:solidFill>
                <a:srgbClr val="111111"/>
              </a:solidFill>
              <a:latin typeface="Times New Roman" panose="02020503050405090304"/>
              <a:ea typeface="微软雅黑"/>
              <a:cs typeface="Times New Roman" panose="02020503050405090304"/>
            </a:endParaRPr>
          </a:p>
        </p:txBody>
      </p:sp>
      <p:sp>
        <p:nvSpPr>
          <p:cNvPr id="19" name="quiz-instruction"/>
          <p:cNvSpPr>
            <a:spLocks noGrp="1"/>
          </p:cNvSpPr>
          <p:nvPr/>
        </p:nvSpPr>
        <p:spPr>
          <a:xfrm>
            <a:off x="609600" y="971550"/>
            <a:ext cx="10953750" cy="32385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随堂检测：先独立作答，再说明你的判断依据。</a:t>
            </a:r>
            <a:endParaRPr sz="1725" b="0">
              <a:solidFill>
                <a:srgbClr val="555555"/>
              </a:solidFill>
              <a:latin typeface="Times New Roman" panose="02020503050405090304"/>
              <a:ea typeface="微软雅黑"/>
              <a:cs typeface="Times New Roman" panose="02020503050405090304"/>
            </a:endParaRPr>
          </a:p>
        </p:txBody>
      </p:sp>
      <p:sp>
        <p:nvSpPr>
          <p:cNvPr id="20" name="q1-label"/>
          <p:cNvSpPr>
            <a:spLocks noGrp="1"/>
          </p:cNvSpPr>
          <p:nvPr/>
        </p:nvSpPr>
        <p:spPr>
          <a:xfrm>
            <a:off x="609600" y="1438275"/>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Q1</a:t>
            </a:r>
            <a:endParaRPr sz="2175" b="1">
              <a:solidFill>
                <a:srgbClr val="111111"/>
              </a:solidFill>
              <a:latin typeface="Times New Roman" panose="02020503050405090304"/>
              <a:ea typeface="微软雅黑"/>
              <a:cs typeface="Times New Roman" panose="02020503050405090304"/>
            </a:endParaRPr>
          </a:p>
        </p:txBody>
      </p:sp>
      <p:sp>
        <p:nvSpPr>
          <p:cNvPr id="21" name="q1-stem"/>
          <p:cNvSpPr>
            <a:spLocks noGrp="1"/>
          </p:cNvSpPr>
          <p:nvPr/>
        </p:nvSpPr>
        <p:spPr>
          <a:xfrm>
            <a:off x="1495425" y="1447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【判断】vLLM 在 RL 训练中负责计算梯度并更新模型参数。</a:t>
            </a:r>
            <a:endParaRPr sz="1800" b="1">
              <a:solidFill>
                <a:srgbClr val="111111"/>
              </a:solidFill>
              <a:latin typeface="Times New Roman" panose="02020503050405090304"/>
              <a:ea typeface="微软雅黑"/>
              <a:cs typeface="Times New Roman" panose="02020503050405090304"/>
            </a:endParaRPr>
          </a:p>
        </p:txBody>
      </p:sp>
      <p:sp>
        <p:nvSpPr>
          <p:cNvPr id="22" name="q2-label"/>
          <p:cNvSpPr>
            <a:spLocks noGrp="1"/>
          </p:cNvSpPr>
          <p:nvPr/>
        </p:nvSpPr>
        <p:spPr>
          <a:xfrm>
            <a:off x="609600" y="2257425"/>
            <a:ext cx="704850" cy="400050"/>
          </a:xfrm>
          <a:prstGeom prst="roundRect">
            <a:avLst>
              <a:gd name="adj" fmla="val 35714"/>
            </a:avLst>
          </a:prstGeom>
          <a:solidFill>
            <a:srgbClr val="FFD0D1"/>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Q2</a:t>
            </a:r>
            <a:endParaRPr sz="2175" b="1">
              <a:solidFill>
                <a:srgbClr val="111111"/>
              </a:solidFill>
              <a:latin typeface="Times New Roman" panose="02020503050405090304"/>
              <a:ea typeface="微软雅黑"/>
              <a:cs typeface="Times New Roman" panose="02020503050405090304"/>
            </a:endParaRPr>
          </a:p>
        </p:txBody>
      </p:sp>
      <p:sp>
        <p:nvSpPr>
          <p:cNvPr id="23" name="q2-stem"/>
          <p:cNvSpPr>
            <a:spLocks noGrp="1"/>
          </p:cNvSpPr>
          <p:nvPr/>
        </p:nvSpPr>
        <p:spPr>
          <a:xfrm>
            <a:off x="1495425" y="226695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【判断】本课程 Hybrid Engine 让训练和推理交替使用同一组 2 张 NPU。</a:t>
            </a:r>
            <a:endParaRPr sz="1800" b="1">
              <a:solidFill>
                <a:srgbClr val="111111"/>
              </a:solidFill>
              <a:latin typeface="Times New Roman" panose="02020503050405090304"/>
              <a:ea typeface="微软雅黑"/>
              <a:cs typeface="Times New Roman" panose="02020503050405090304"/>
            </a:endParaRPr>
          </a:p>
        </p:txBody>
      </p:sp>
      <p:sp>
        <p:nvSpPr>
          <p:cNvPr id="24" name="q3-label"/>
          <p:cNvSpPr>
            <a:spLocks noGrp="1"/>
          </p:cNvSpPr>
          <p:nvPr/>
        </p:nvSpPr>
        <p:spPr>
          <a:xfrm>
            <a:off x="609600" y="3105150"/>
            <a:ext cx="704850" cy="400050"/>
          </a:xfrm>
          <a:prstGeom prst="roundRect">
            <a:avLst>
              <a:gd name="adj" fmla="val 35714"/>
            </a:avLst>
          </a:prstGeom>
          <a:solidFill>
            <a:srgbClr val="BFECCC"/>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Q3</a:t>
            </a:r>
            <a:endParaRPr sz="2175" b="1">
              <a:solidFill>
                <a:srgbClr val="111111"/>
              </a:solidFill>
              <a:latin typeface="Times New Roman" panose="02020503050405090304"/>
              <a:ea typeface="微软雅黑"/>
              <a:cs typeface="Times New Roman" panose="02020503050405090304"/>
            </a:endParaRPr>
          </a:p>
        </p:txBody>
      </p:sp>
      <p:sp>
        <p:nvSpPr>
          <p:cNvPr id="25" name="q3-stem"/>
          <p:cNvSpPr>
            <a:spLocks noGrp="1"/>
          </p:cNvSpPr>
          <p:nvPr/>
        </p:nvSpPr>
        <p:spPr>
          <a:xfrm>
            <a:off x="1495425" y="311467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【单选】本课程 Wordle RL 训练中，哪项并非必需？</a:t>
            </a:r>
            <a:endParaRPr sz="1800" b="1">
              <a:solidFill>
                <a:srgbClr val="111111"/>
              </a:solidFill>
              <a:latin typeface="Times New Roman" panose="02020503050405090304"/>
              <a:ea typeface="微软雅黑"/>
              <a:cs typeface="Times New Roman" panose="02020503050405090304"/>
            </a:endParaRPr>
          </a:p>
        </p:txBody>
      </p:sp>
      <p:sp>
        <p:nvSpPr>
          <p:cNvPr id="26" name="q3-option0"/>
          <p:cNvSpPr>
            <a:spLocks noGrp="1"/>
          </p:cNvSpPr>
          <p:nvPr/>
        </p:nvSpPr>
        <p:spPr>
          <a:xfrm>
            <a:off x="149542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推理引擎 vLLM</a:t>
            </a:r>
            <a:endParaRPr sz="1650" b="0">
              <a:solidFill>
                <a:srgbClr val="111111"/>
              </a:solidFill>
              <a:latin typeface="Times New Roman" panose="02020503050405090304"/>
              <a:ea typeface="微软雅黑"/>
              <a:cs typeface="Times New Roman" panose="02020503050405090304"/>
            </a:endParaRPr>
          </a:p>
        </p:txBody>
      </p:sp>
      <p:sp>
        <p:nvSpPr>
          <p:cNvPr id="27" name="q3-option1"/>
          <p:cNvSpPr>
            <a:spLocks noGrp="1"/>
          </p:cNvSpPr>
          <p:nvPr/>
        </p:nvSpPr>
        <p:spPr>
          <a:xfrm>
            <a:off x="650557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奖励函数</a:t>
            </a:r>
            <a:endParaRPr sz="1650" b="0">
              <a:solidFill>
                <a:srgbClr val="111111"/>
              </a:solidFill>
              <a:latin typeface="Times New Roman" panose="02020503050405090304"/>
              <a:ea typeface="微软雅黑"/>
              <a:cs typeface="Times New Roman" panose="02020503050405090304"/>
            </a:endParaRPr>
          </a:p>
        </p:txBody>
      </p:sp>
      <p:sp>
        <p:nvSpPr>
          <p:cNvPr id="28" name="q3-option2"/>
          <p:cNvSpPr>
            <a:spLocks noGrp="1"/>
          </p:cNvSpPr>
          <p:nvPr/>
        </p:nvSpPr>
        <p:spPr>
          <a:xfrm>
            <a:off x="149542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逐 token 的标准回复标注</a:t>
            </a:r>
            <a:endParaRPr sz="1650" b="0">
              <a:solidFill>
                <a:srgbClr val="111111"/>
              </a:solidFill>
              <a:latin typeface="Times New Roman" panose="02020503050405090304"/>
              <a:ea typeface="微软雅黑"/>
              <a:cs typeface="Times New Roman" panose="02020503050405090304"/>
            </a:endParaRPr>
          </a:p>
        </p:txBody>
      </p:sp>
      <p:sp>
        <p:nvSpPr>
          <p:cNvPr id="29" name="q3-option3"/>
          <p:cNvSpPr>
            <a:spLocks noGrp="1"/>
          </p:cNvSpPr>
          <p:nvPr/>
        </p:nvSpPr>
        <p:spPr>
          <a:xfrm>
            <a:off x="650557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训练框架 verl</a:t>
            </a:r>
            <a:endParaRPr sz="1650" b="0">
              <a:solidFill>
                <a:srgbClr val="111111"/>
              </a:solidFill>
              <a:latin typeface="Times New Roman" panose="02020503050405090304"/>
              <a:ea typeface="微软雅黑"/>
              <a:cs typeface="Times New Roman" panose="02020503050405090304"/>
            </a:endParaRPr>
          </a:p>
        </p:txBody>
      </p:sp>
      <p:sp>
        <p:nvSpPr>
          <p:cNvPr id="30" name="q4-label"/>
          <p:cNvSpPr>
            <a:spLocks noGrp="1"/>
          </p:cNvSpPr>
          <p:nvPr/>
        </p:nvSpPr>
        <p:spPr>
          <a:xfrm>
            <a:off x="609600" y="4686300"/>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Q4</a:t>
            </a:r>
            <a:endParaRPr sz="2175" b="1">
              <a:solidFill>
                <a:srgbClr val="111111"/>
              </a:solidFill>
              <a:latin typeface="Times New Roman" panose="02020503050405090304"/>
              <a:ea typeface="微软雅黑"/>
              <a:cs typeface="Times New Roman" panose="02020503050405090304"/>
            </a:endParaRPr>
          </a:p>
        </p:txBody>
      </p:sp>
      <p:sp>
        <p:nvSpPr>
          <p:cNvPr id="31" name="q4-stem"/>
          <p:cNvSpPr>
            <a:spLocks noGrp="1"/>
          </p:cNvSpPr>
          <p:nvPr/>
        </p:nvSpPr>
        <p:spPr>
          <a:xfrm>
            <a:off x="1495425" y="469582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【单选】AgentLoopManager 的主要职责是什么？</a:t>
            </a:r>
            <a:endParaRPr sz="1800" b="1">
              <a:solidFill>
                <a:srgbClr val="111111"/>
              </a:solidFill>
              <a:latin typeface="Times New Roman" panose="02020503050405090304"/>
              <a:ea typeface="微软雅黑"/>
              <a:cs typeface="Times New Roman" panose="02020503050405090304"/>
            </a:endParaRPr>
          </a:p>
        </p:txBody>
      </p:sp>
      <p:sp>
        <p:nvSpPr>
          <p:cNvPr id="32" name="q4-option0"/>
          <p:cNvSpPr>
            <a:spLocks noGrp="1"/>
          </p:cNvSpPr>
          <p:nvPr/>
        </p:nvSpPr>
        <p:spPr>
          <a:xfrm>
            <a:off x="149542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管理模型参数更新</a:t>
            </a:r>
            <a:endParaRPr sz="1650" b="0">
              <a:solidFill>
                <a:srgbClr val="111111"/>
              </a:solidFill>
              <a:latin typeface="Times New Roman" panose="02020503050405090304"/>
              <a:ea typeface="微软雅黑"/>
              <a:cs typeface="Times New Roman" panose="02020503050405090304"/>
            </a:endParaRPr>
          </a:p>
        </p:txBody>
      </p:sp>
      <p:sp>
        <p:nvSpPr>
          <p:cNvPr id="33" name="q4-option1"/>
          <p:cNvSpPr>
            <a:spLocks noGrp="1"/>
          </p:cNvSpPr>
          <p:nvPr/>
        </p:nvSpPr>
        <p:spPr>
          <a:xfrm>
            <a:off x="650557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管理多个 Worker 并行处理 rollout</a:t>
            </a:r>
            <a:endParaRPr sz="1650" b="0">
              <a:solidFill>
                <a:srgbClr val="111111"/>
              </a:solidFill>
              <a:latin typeface="Times New Roman" panose="02020503050405090304"/>
              <a:ea typeface="微软雅黑"/>
              <a:cs typeface="Times New Roman" panose="02020503050405090304"/>
            </a:endParaRPr>
          </a:p>
        </p:txBody>
      </p:sp>
      <p:sp>
        <p:nvSpPr>
          <p:cNvPr id="34" name="q4-option2"/>
          <p:cNvSpPr>
            <a:spLocks noGrp="1"/>
          </p:cNvSpPr>
          <p:nvPr/>
        </p:nvSpPr>
        <p:spPr>
          <a:xfrm>
            <a:off x="149542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提供 OpenAI API 接口</a:t>
            </a:r>
            <a:endParaRPr sz="1650" b="0">
              <a:solidFill>
                <a:srgbClr val="111111"/>
              </a:solidFill>
              <a:latin typeface="Times New Roman" panose="02020503050405090304"/>
              <a:ea typeface="微软雅黑"/>
              <a:cs typeface="Times New Roman" panose="02020503050405090304"/>
            </a:endParaRPr>
          </a:p>
        </p:txBody>
      </p:sp>
      <p:sp>
        <p:nvSpPr>
          <p:cNvPr id="35" name="q4-option3"/>
          <p:cNvSpPr>
            <a:spLocks noGrp="1"/>
          </p:cNvSpPr>
          <p:nvPr/>
        </p:nvSpPr>
        <p:spPr>
          <a:xfrm>
            <a:off x="650557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计算 reward</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10" presetClass="entr" presetSubtype="0" fill="hold" grpId="0" nodeType="withEffect">
                                  <p:stCondLst>
                                    <p:cond delay="0"/>
                                  </p:stCondLst>
                                  <p:childTnLst>
                                    <p:set>
                                      <p:cBhvr>
                                        <p:cTn id="17" dur="1" fill="hold"/>
                                        <p:tgtEl>
                                          <p:spTgt spid="23"/>
                                        </p:tgtEl>
                                        <p:attrNameLst>
                                          <p:attrName>style.visibility</p:attrName>
                                        </p:attrNameLst>
                                      </p:cBhvr>
                                      <p:to>
                                        <p:strVal val="visible"/>
                                      </p:to>
                                    </p:set>
                                    <p:animEffect transition="in" filter="fade">
                                      <p:cBhvr>
                                        <p:cTn id="18" dur="35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4"/>
                                        </p:tgtEl>
                                        <p:attrNameLst>
                                          <p:attrName>style.visibility</p:attrName>
                                        </p:attrNameLst>
                                      </p:cBhvr>
                                      <p:to>
                                        <p:strVal val="visible"/>
                                      </p:to>
                                    </p:set>
                                    <p:animEffect transition="in" filter="fade">
                                      <p:cBhvr>
                                        <p:cTn id="23" dur="350"/>
                                        <p:tgtEl>
                                          <p:spTgt spid="24"/>
                                        </p:tgtEl>
                                      </p:cBhvr>
                                    </p:animEffect>
                                  </p:childTnLst>
                                </p:cTn>
                              </p:par>
                              <p:par>
                                <p:cTn id="24" presetID="10" presetClass="entr" presetSubtype="0" fill="hold" grpId="0" nodeType="withEffect">
                                  <p:stCondLst>
                                    <p:cond delay="0"/>
                                  </p:stCondLst>
                                  <p:childTnLst>
                                    <p:set>
                                      <p:cBhvr>
                                        <p:cTn id="25" dur="1" fill="hold"/>
                                        <p:tgtEl>
                                          <p:spTgt spid="25"/>
                                        </p:tgtEl>
                                        <p:attrNameLst>
                                          <p:attrName>style.visibility</p:attrName>
                                        </p:attrNameLst>
                                      </p:cBhvr>
                                      <p:to>
                                        <p:strVal val="visible"/>
                                      </p:to>
                                    </p:set>
                                    <p:animEffect transition="in" filter="fade">
                                      <p:cBhvr>
                                        <p:cTn id="26" dur="350"/>
                                        <p:tgtEl>
                                          <p:spTgt spid="25"/>
                                        </p:tgtEl>
                                      </p:cBhvr>
                                    </p:animEffect>
                                  </p:childTnLst>
                                </p:cTn>
                              </p:par>
                              <p:par>
                                <p:cTn id="27" presetID="10" presetClass="entr" presetSubtype="0" fill="hold" grpId="0" nodeType="withEffect">
                                  <p:stCondLst>
                                    <p:cond delay="0"/>
                                  </p:stCondLst>
                                  <p:childTnLst>
                                    <p:set>
                                      <p:cBhvr>
                                        <p:cTn id="28" dur="1" fill="hold"/>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presetSubtype="0" fill="hold" grpId="0" nodeType="withEffect">
                                  <p:stCondLst>
                                    <p:cond delay="0"/>
                                  </p:stCondLst>
                                  <p:childTnLst>
                                    <p:set>
                                      <p:cBhvr>
                                        <p:cTn id="31" dur="1" fill="hold"/>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presetSubtype="0" fill="hold" grpId="0" nodeType="withEffect">
                                  <p:stCondLst>
                                    <p:cond delay="0"/>
                                  </p:stCondLst>
                                  <p:childTnLst>
                                    <p:set>
                                      <p:cBhvr>
                                        <p:cTn id="34" dur="1" fill="hold"/>
                                        <p:tgtEl>
                                          <p:spTgt spid="28"/>
                                        </p:tgtEl>
                                        <p:attrNameLst>
                                          <p:attrName>style.visibility</p:attrName>
                                        </p:attrNameLst>
                                      </p:cBhvr>
                                      <p:to>
                                        <p:strVal val="visible"/>
                                      </p:to>
                                    </p:set>
                                    <p:animEffect transition="in" filter="fade">
                                      <p:cBhvr>
                                        <p:cTn id="35" dur="350"/>
                                        <p:tgtEl>
                                          <p:spTgt spid="28"/>
                                        </p:tgtEl>
                                      </p:cBhvr>
                                    </p:animEffect>
                                  </p:childTnLst>
                                </p:cTn>
                              </p:par>
                              <p:par>
                                <p:cTn id="36" presetID="10" presetClass="entr" presetSubtype="0" fill="hold" grpId="0" nodeType="withEffect">
                                  <p:stCondLst>
                                    <p:cond delay="0"/>
                                  </p:stCondLst>
                                  <p:childTnLst>
                                    <p:set>
                                      <p:cBhvr>
                                        <p:cTn id="37" dur="1" fill="hold"/>
                                        <p:tgtEl>
                                          <p:spTgt spid="29"/>
                                        </p:tgtEl>
                                        <p:attrNameLst>
                                          <p:attrName>style.visibility</p:attrName>
                                        </p:attrNameLst>
                                      </p:cBhvr>
                                      <p:to>
                                        <p:strVal val="visible"/>
                                      </p:to>
                                    </p:set>
                                    <p:animEffect transition="in" filter="fade">
                                      <p:cBhvr>
                                        <p:cTn id="38" dur="35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30"/>
                                        </p:tgtEl>
                                        <p:attrNameLst>
                                          <p:attrName>style.visibility</p:attrName>
                                        </p:attrNameLst>
                                      </p:cBhvr>
                                      <p:to>
                                        <p:strVal val="visible"/>
                                      </p:to>
                                    </p:set>
                                    <p:animEffect transition="in" filter="fade">
                                      <p:cBhvr>
                                        <p:cTn id="43" dur="350"/>
                                        <p:tgtEl>
                                          <p:spTgt spid="30"/>
                                        </p:tgtEl>
                                      </p:cBhvr>
                                    </p:animEffect>
                                  </p:childTnLst>
                                </p:cTn>
                              </p:par>
                              <p:par>
                                <p:cTn id="44" presetID="10" presetClass="entr" presetSubtype="0" fill="hold" grpId="0" nodeType="withEffect">
                                  <p:stCondLst>
                                    <p:cond delay="0"/>
                                  </p:stCondLst>
                                  <p:childTnLst>
                                    <p:set>
                                      <p:cBhvr>
                                        <p:cTn id="45" dur="1" fill="hold"/>
                                        <p:tgtEl>
                                          <p:spTgt spid="31"/>
                                        </p:tgtEl>
                                        <p:attrNameLst>
                                          <p:attrName>style.visibility</p:attrName>
                                        </p:attrNameLst>
                                      </p:cBhvr>
                                      <p:to>
                                        <p:strVal val="visible"/>
                                      </p:to>
                                    </p:set>
                                    <p:animEffect transition="in" filter="fade">
                                      <p:cBhvr>
                                        <p:cTn id="46" dur="350"/>
                                        <p:tgtEl>
                                          <p:spTgt spid="31"/>
                                        </p:tgtEl>
                                      </p:cBhvr>
                                    </p:animEffect>
                                  </p:childTnLst>
                                </p:cTn>
                              </p:par>
                              <p:par>
                                <p:cTn id="47" presetID="10" presetClass="entr" presetSubtype="0" fill="hold" grpId="0" nodeType="withEffect">
                                  <p:stCondLst>
                                    <p:cond delay="0"/>
                                  </p:stCondLst>
                                  <p:childTnLst>
                                    <p:set>
                                      <p:cBhvr>
                                        <p:cTn id="48" dur="1" fill="hold"/>
                                        <p:tgtEl>
                                          <p:spTgt spid="32"/>
                                        </p:tgtEl>
                                        <p:attrNameLst>
                                          <p:attrName>style.visibility</p:attrName>
                                        </p:attrNameLst>
                                      </p:cBhvr>
                                      <p:to>
                                        <p:strVal val="visible"/>
                                      </p:to>
                                    </p:set>
                                    <p:animEffect transition="in" filter="fade">
                                      <p:cBhvr>
                                        <p:cTn id="49" dur="350"/>
                                        <p:tgtEl>
                                          <p:spTgt spid="32"/>
                                        </p:tgtEl>
                                      </p:cBhvr>
                                    </p:animEffect>
                                  </p:childTnLst>
                                </p:cTn>
                              </p:par>
                              <p:par>
                                <p:cTn id="50" presetID="10" presetClass="entr" presetSubtype="0" fill="hold" grpId="0" nodeType="withEffect">
                                  <p:stCondLst>
                                    <p:cond delay="0"/>
                                  </p:stCondLst>
                                  <p:childTnLst>
                                    <p:set>
                                      <p:cBhvr>
                                        <p:cTn id="51" dur="1" fill="hold"/>
                                        <p:tgtEl>
                                          <p:spTgt spid="33"/>
                                        </p:tgtEl>
                                        <p:attrNameLst>
                                          <p:attrName>style.visibility</p:attrName>
                                        </p:attrNameLst>
                                      </p:cBhvr>
                                      <p:to>
                                        <p:strVal val="visible"/>
                                      </p:to>
                                    </p:set>
                                    <p:animEffect transition="in" filter="fade">
                                      <p:cBhvr>
                                        <p:cTn id="52" dur="350"/>
                                        <p:tgtEl>
                                          <p:spTgt spid="33"/>
                                        </p:tgtEl>
                                      </p:cBhvr>
                                    </p:animEffect>
                                  </p:childTnLst>
                                </p:cTn>
                              </p:par>
                              <p:par>
                                <p:cTn id="53" presetID="10" presetClass="entr" presetSubtype="0" fill="hold" grpId="0" nodeType="withEffect">
                                  <p:stCondLst>
                                    <p:cond delay="0"/>
                                  </p:stCondLst>
                                  <p:childTnLst>
                                    <p:set>
                                      <p:cBhvr>
                                        <p:cTn id="54" dur="1" fill="hold"/>
                                        <p:tgtEl>
                                          <p:spTgt spid="34"/>
                                        </p:tgtEl>
                                        <p:attrNameLst>
                                          <p:attrName>style.visibility</p:attrName>
                                        </p:attrNameLst>
                                      </p:cBhvr>
                                      <p:to>
                                        <p:strVal val="visible"/>
                                      </p:to>
                                    </p:set>
                                    <p:animEffect transition="in" filter="fade">
                                      <p:cBhvr>
                                        <p:cTn id="55" dur="350"/>
                                        <p:tgtEl>
                                          <p:spTgt spid="34"/>
                                        </p:tgtEl>
                                      </p:cBhvr>
                                    </p:animEffect>
                                  </p:childTnLst>
                                </p:cTn>
                              </p:par>
                              <p:par>
                                <p:cTn id="56" presetID="10" presetClass="entr" presetSubtype="0" fill="hold" grpId="0" nodeType="withEffect">
                                  <p:stCondLst>
                                    <p:cond delay="0"/>
                                  </p:stCondLst>
                                  <p:childTnLst>
                                    <p:set>
                                      <p:cBhvr>
                                        <p:cTn id="57" dur="1" fill="hold"/>
                                        <p:tgtEl>
                                          <p:spTgt spid="35"/>
                                        </p:tgtEl>
                                        <p:attrNameLst>
                                          <p:attrName>style.visibility</p:attrName>
                                        </p:attrNameLst>
                                      </p:cBhvr>
                                      <p:to>
                                        <p:strVal val="visible"/>
                                      </p:to>
                                    </p:set>
                                    <p:animEffect transition="in" filter="fade">
                                      <p:cBhvr>
                                        <p:cTn id="58"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547073" y="2601035"/>
            <a:ext cx="3380868" cy="835742"/>
          </a:xfrm>
          <a:prstGeom prst="rect">
            <a:avLst/>
          </a:prstGeom>
          <a:solidFill>
            <a:srgbClr val="FFFFFF"/>
          </a:solidFill>
          <a:ln w="12700" cmpd="sng">
            <a:noFill/>
            <a:prstDash val="solid"/>
          </a:ln>
        </p:spPr>
        <p:txBody>
          <a:bodyPr anchor="ctr"/>
          <a:lstStyle/>
          <a:p>
            <a:pPr marL="0" indent="0" algn="ctr">
              <a:lnSpc>
                <a:spcPct val="100000"/>
              </a:lnSpc>
              <a:spcBef>
                <a:spcPts val="0"/>
              </a:spcBef>
              <a:spcAft>
                <a:spcPts val="0"/>
              </a:spcAft>
              <a:buNone/>
            </a:pPr>
            <a:r>
              <a:rPr sz="4000" b="0" i="0" u="none" cap="none">
                <a:ln>
                  <a:noFill/>
                </a:ln>
                <a:solidFill>
                  <a:srgbClr val="DDDDDD">
                    <a:lumMod val="50000"/>
                  </a:srgbClr>
                </a:solidFill>
                <a:latin typeface="Times New Roman" panose="02020503050405090304"/>
                <a:ea typeface="微软雅黑"/>
                <a:cs typeface="Times New Roman" panose="02020503050405090304"/>
              </a:rPr>
              <a:t>RL 初阶课程</a:t>
            </a:r>
            <a:endParaRPr sz="4000" b="0" i="0" u="none" cap="none">
              <a:ln>
                <a:noFill/>
              </a:ln>
              <a:solidFill>
                <a:srgbClr val="DDDDDD">
                  <a:lumMod val="50000"/>
                </a:srgbClr>
              </a:solidFill>
              <a:latin typeface="Times New Roman" panose="02020503050405090304"/>
              <a:ea typeface="微软雅黑"/>
              <a:cs typeface="Times New Roman" panose="02020503050405090304"/>
            </a:endParaRPr>
          </a:p>
        </p:txBody>
      </p:sp>
      <p:sp>
        <p:nvSpPr>
          <p:cNvPr id="15" name="í$ľidè"/>
          <p:cNvSpPr>
            <a:spLocks noGrp="1"/>
          </p:cNvSpPr>
          <p:nvPr/>
        </p:nvSpPr>
        <p:spPr>
          <a:xfrm>
            <a:off x="3956272" y="1890392"/>
            <a:ext cx="0" cy="2769071"/>
          </a:xfrm>
          <a:prstGeom prst="line">
            <a:avLst/>
          </a:prstGeom>
          <a:solidFill>
            <a:srgbClr val="FFCC00"/>
          </a:solidFill>
          <a:ln w="12700">
            <a:solidFill>
              <a:schemeClr val="bg1">
                <a:lumMod val="65000"/>
              </a:schemeClr>
            </a:solidFill>
            <a:prstDash val="solid"/>
            <a:headEnd type="none" w="med" len="med"/>
            <a:tailEnd type="none" w="med" len="med"/>
          </a:ln>
        </p:spPr>
      </p:sp>
      <p:pic>
        <p:nvPicPr>
          <p:cNvPr id="21" name="图片 7"/>
          <p:cNvPicPr>
            <a:picLocks noChangeAspect="1"/>
          </p:cNvPicPr>
          <p:nvPr/>
        </p:nvPicPr>
        <p:blipFill>
          <a:blip r:embed="rId1"/>
          <a:stretch>
            <a:fillRect/>
          </a:stretch>
        </p:blipFill>
        <p:spPr>
          <a:xfrm>
            <a:off x="10137202" y="6042990"/>
            <a:ext cx="1312676" cy="348426"/>
          </a:xfrm>
          <a:prstGeom prst="rect">
            <a:avLst/>
          </a:prstGeom>
        </p:spPr>
      </p:pic>
      <p:sp>
        <p:nvSpPr>
          <p:cNvPr id="17" name="文本框 16"/>
          <p:cNvSpPr>
            <a:spLocks noGrp="1"/>
          </p:cNvSpPr>
          <p:nvPr/>
        </p:nvSpPr>
        <p:spPr>
          <a:xfrm>
            <a:off x="620201" y="6130454"/>
            <a:ext cx="8763000" cy="246221"/>
          </a:xfrm>
          <a:prstGeom prst="rect">
            <a:avLst/>
          </a:prstGeom>
          <a:noFill/>
        </p:spPr>
        <p:txBody>
          <a:bodyPr wrap="none">
            <a:spAutoFit/>
          </a:bodyPr>
          <a:lstStyle/>
          <a:p>
            <a:pPr marL="0" indent="0" algn="l">
              <a:lnSpc>
                <a:spcPct val="100000"/>
              </a:lnSpc>
              <a:spcBef>
                <a:spcPts val="0"/>
              </a:spcBef>
              <a:spcAft>
                <a:spcPts val="0"/>
              </a:spcAft>
              <a:buNone/>
            </a:pPr>
            <a:r>
              <a:rPr sz="1000" b="0" i="0" u="none" cap="none">
                <a:ln>
                  <a:noFill/>
                </a:ln>
                <a:solidFill>
                  <a:prstClr val="white">
                    <a:lumMod val="50000"/>
                  </a:prstClr>
                </a:solidFill>
                <a:latin typeface="Times New Roman" panose="02020503050405090304"/>
                <a:ea typeface="微软雅黑"/>
                <a:cs typeface="Times New Roman" panose="02020503050405090304"/>
                <a:hlinkClick r:id="rId2"/>
              </a:rPr>
              <a:t>https://gitcode.com/cann/cann-learning-hub/tree/master/tutorials/rl_training_pipeline</a:t>
            </a:r>
            <a:endParaRPr sz="1000" b="0" i="0" u="none" cap="none">
              <a:ln>
                <a:noFill/>
              </a:ln>
              <a:solidFill>
                <a:prstClr val="white">
                  <a:lumMod val="50000"/>
                </a:prstClr>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5157694" y="1530876"/>
            <a:ext cx="4587547" cy="596075"/>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1 强化学习训练环境准备</a:t>
            </a:r>
            <a:endParaRPr sz="2400" b="0" i="0" u="none" cap="none">
              <a:ln>
                <a:noFill/>
              </a:ln>
              <a:solidFill>
                <a:srgbClr val="666666"/>
              </a:solidFill>
              <a:latin typeface="Times New Roman" panose="02020503050405090304"/>
              <a:ea typeface="微软雅黑"/>
              <a:cs typeface="Times New Roman" panose="02020503050405090304"/>
            </a:endParaRPr>
          </a:p>
        </p:txBody>
      </p:sp>
      <p:sp>
        <p:nvSpPr>
          <p:cNvPr id="13" name="矩形 12"/>
          <p:cNvSpPr>
            <a:spLocks noGrp="1"/>
          </p:cNvSpPr>
          <p:nvPr/>
        </p:nvSpPr>
        <p:spPr>
          <a:xfrm>
            <a:off x="5157694" y="2680975"/>
            <a:ext cx="4587549" cy="591795"/>
          </a:xfrm>
          <a:prstGeom prst="rect">
            <a:avLst/>
          </a:prstGeom>
          <a:solidFill>
            <a:srgbClr val="C00000"/>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chemeClr val="bg1"/>
                </a:solidFill>
                <a:latin typeface="Times New Roman" panose="02020503050405090304"/>
                <a:ea typeface="微软雅黑"/>
                <a:cs typeface="Times New Roman" panose="02020503050405090304"/>
              </a:rPr>
              <a:t>Part 2 RL 核心概念</a:t>
            </a:r>
            <a:endParaRPr sz="2400">
              <a:solidFill>
                <a:schemeClr val="bg1"/>
              </a:solidFill>
              <a:latin typeface="Times New Roman" panose="02020503050405090304"/>
              <a:ea typeface="微软雅黑"/>
              <a:cs typeface="Times New Roman" panose="02020503050405090304"/>
            </a:endParaRPr>
          </a:p>
        </p:txBody>
      </p:sp>
      <p:sp>
        <p:nvSpPr>
          <p:cNvPr id="14" name="矩形 13"/>
          <p:cNvSpPr>
            <a:spLocks noGrp="1"/>
          </p:cNvSpPr>
          <p:nvPr/>
        </p:nvSpPr>
        <p:spPr>
          <a:xfrm>
            <a:off x="5157694" y="3712434"/>
            <a:ext cx="4587551"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3 Wordle RL 训练</a:t>
            </a:r>
            <a:endParaRPr sz="2400" b="0" i="0" u="none" cap="none">
              <a:ln>
                <a:noFill/>
              </a:ln>
              <a:solidFill>
                <a:srgbClr val="666666"/>
              </a:solidFill>
              <a:latin typeface="Times New Roman" panose="02020503050405090304"/>
              <a:ea typeface="微软雅黑"/>
              <a:cs typeface="Times New Roman" panose="02020503050405090304"/>
            </a:endParaRPr>
          </a:p>
        </p:txBody>
      </p:sp>
      <p:sp>
        <p:nvSpPr>
          <p:cNvPr id="7" name="矩形 6"/>
          <p:cNvSpPr>
            <a:spLocks noGrp="1"/>
          </p:cNvSpPr>
          <p:nvPr/>
        </p:nvSpPr>
        <p:spPr>
          <a:xfrm>
            <a:off x="5157694" y="4739611"/>
            <a:ext cx="4587553"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4 调优与问题排查</a:t>
            </a:r>
            <a:endParaRPr sz="2400" b="0" i="0" u="none" cap="none">
              <a:ln>
                <a:noFill/>
              </a:ln>
              <a:solidFill>
                <a:srgbClr val="666666"/>
              </a:solidFill>
              <a:latin typeface="Times New Roman" panose="02020503050405090304"/>
              <a:ea typeface="微软雅黑"/>
              <a:cs typeface="Times New Roman" panose="0202050305040509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RL 核心概念</a:t>
            </a:r>
            <a:endParaRPr lang="zh-CN" sz="2700" b="1">
              <a:solidFill>
                <a:srgbClr val="111111"/>
              </a:solidFill>
              <a:latin typeface="Times New Roman" panose="02020503050405090304"/>
              <a:ea typeface="微软雅黑"/>
              <a:cs typeface="Times New Roman" panose="02020503050405090304"/>
            </a:endParaRPr>
          </a:p>
        </p:txBody>
      </p:sp>
      <p:sp>
        <p:nvSpPr>
          <p:cNvPr id="6" name="矩形: 圆角 5"/>
          <p:cNvSpPr>
            <a:spLocks noGrp="1"/>
          </p:cNvSpPr>
          <p:nvPr/>
        </p:nvSpPr>
        <p:spPr>
          <a:xfrm>
            <a:off x="609600" y="1232535"/>
            <a:ext cx="7557770" cy="4723765"/>
          </a:xfrm>
          <a:prstGeom prst="roundRect">
            <a:avLst>
              <a:gd name="adj" fmla="val 3243"/>
            </a:avLst>
          </a:prstGeom>
          <a:noFill/>
          <a:ln w="0">
            <a:noFill/>
          </a:ln>
        </p:spPr>
        <p:txBody>
          <a:bodyPr/>
          <a:lstStyle/>
          <a:p>
            <a:endParaRPr sz="2000">
              <a:latin typeface="Times New Roman" panose="02020503050405090304"/>
              <a:ea typeface="微软雅黑"/>
              <a:cs typeface="Times New Roman" panose="02020503050405090304"/>
            </a:endParaRPr>
          </a:p>
        </p:txBody>
      </p:sp>
      <p:pic>
        <p:nvPicPr>
          <p:cNvPr id="22" name="图片 21"/>
          <p:cNvPicPr>
            <a:picLocks noChangeAspect="1"/>
          </p:cNvPicPr>
          <p:nvPr/>
        </p:nvPicPr>
        <p:blipFill>
          <a:blip r:embed="rId2"/>
          <a:stretch>
            <a:fillRect/>
          </a:stretch>
        </p:blipFill>
        <p:spPr>
          <a:xfrm>
            <a:off x="8505190" y="198380"/>
            <a:ext cx="3240405" cy="5757659"/>
          </a:xfrm>
          <a:prstGeom prst="rect">
            <a:avLst/>
          </a:prstGeom>
        </p:spPr>
      </p:pic>
      <p:sp>
        <p:nvSpPr>
          <p:cNvPr id="9" name="rl-definition"/>
          <p:cNvSpPr>
            <a:spLocks noGrp="1"/>
          </p:cNvSpPr>
          <p:nvPr/>
        </p:nvSpPr>
        <p:spPr>
          <a:xfrm>
            <a:off x="742950" y="1390650"/>
            <a:ext cx="7239000" cy="333375"/>
          </a:xfrm>
          <a:prstGeom prst="rect">
            <a:avLst/>
          </a:prstGeom>
          <a:noFill/>
          <a:ln w="0">
            <a:noFill/>
          </a:ln>
        </p:spPr>
        <p:txBody>
          <a:bodyPr wrap="none" lIns="0" tIns="0" rIns="0" bIns="0" anchor="t">
            <a:noAutofit/>
          </a:bodyPr>
          <a:lstStyle/>
          <a:p>
            <a:pPr algn="l">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RL（Reinforcement Learning，强化学习）</a:t>
            </a:r>
            <a:endParaRPr sz="2000" b="0">
              <a:solidFill>
                <a:srgbClr val="111111"/>
              </a:solidFill>
              <a:latin typeface="Times New Roman" panose="02020503050405090304"/>
              <a:ea typeface="微软雅黑"/>
              <a:cs typeface="Times New Roman" panose="02020503050405090304"/>
            </a:endParaRPr>
          </a:p>
        </p:txBody>
      </p:sp>
      <p:sp>
        <p:nvSpPr>
          <p:cNvPr id="10" name="rl-intuition-heading"/>
          <p:cNvSpPr>
            <a:spLocks noGrp="1"/>
          </p:cNvSpPr>
          <p:nvPr/>
        </p:nvSpPr>
        <p:spPr>
          <a:xfrm>
            <a:off x="742950" y="1924050"/>
            <a:ext cx="7048500" cy="333375"/>
          </a:xfrm>
          <a:prstGeom prst="rect">
            <a:avLst/>
          </a:prstGeom>
          <a:noFill/>
          <a:ln w="0">
            <a:noFill/>
          </a:ln>
        </p:spPr>
        <p:txBody>
          <a:bodyPr wrap="none" lIns="0" tIns="0" rIns="0" bIns="0" anchor="t">
            <a:noAutofit/>
          </a:bodyPr>
          <a:lstStyle/>
          <a:p>
            <a:pPr algn="l">
              <a:lnSpc>
                <a:spcPct val="108000"/>
              </a:lnSpc>
              <a:buNone/>
              <a:defRPr sz="2000" b="1">
                <a:solidFill>
                  <a:srgbClr val="111111"/>
                </a:solidFill>
                <a:latin typeface="Times New Roman" panose="02020503050405090304"/>
                <a:ea typeface="微软雅黑"/>
                <a:cs typeface="Times New Roman" panose="02020503050405090304"/>
              </a:defRPr>
            </a:pPr>
            <a:r>
              <a:rPr sz="2000" b="1">
                <a:solidFill>
                  <a:srgbClr val="111111"/>
                </a:solidFill>
                <a:latin typeface="Times New Roman" panose="02020503050405090304"/>
                <a:ea typeface="微软雅黑"/>
                <a:cs typeface="Times New Roman" panose="02020503050405090304"/>
              </a:rPr>
              <a:t>通俗理解：</a:t>
            </a:r>
            <a:endParaRPr sz="2000" b="1">
              <a:solidFill>
                <a:srgbClr val="111111"/>
              </a:solidFill>
              <a:latin typeface="Times New Roman" panose="02020503050405090304"/>
              <a:ea typeface="微软雅黑"/>
              <a:cs typeface="Times New Roman" panose="02020503050405090304"/>
            </a:endParaRPr>
          </a:p>
        </p:txBody>
      </p:sp>
      <p:sp>
        <p:nvSpPr>
          <p:cNvPr id="11" name="rl-intuition"/>
          <p:cNvSpPr>
            <a:spLocks noGrp="1"/>
          </p:cNvSpPr>
          <p:nvPr/>
        </p:nvSpPr>
        <p:spPr>
          <a:xfrm>
            <a:off x="742950" y="2266950"/>
            <a:ext cx="7181850" cy="942975"/>
          </a:xfrm>
          <a:prstGeom prst="rect">
            <a:avLst/>
          </a:prstGeom>
          <a:noFill/>
          <a:ln w="0">
            <a:noFill/>
          </a:ln>
        </p:spPr>
        <p:txBody>
          <a:bodyPr wrap="none" lIns="0" tIns="0" rIns="0" bIns="0" anchor="t">
            <a:noAutofit/>
          </a:bodyPr>
          <a:lstStyle/>
          <a:p>
            <a:pPr algn="l">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强化学习让模型在与环境的交互中反复尝试。</a:t>
            </a:r>
            <a:endParaRPr sz="2000" b="0">
              <a:solidFill>
                <a:srgbClr val="111111"/>
              </a:solidFill>
              <a:latin typeface="Times New Roman" panose="02020503050405090304"/>
              <a:ea typeface="微软雅黑"/>
              <a:cs typeface="Times New Roman" panose="02020503050405090304"/>
            </a:endParaRPr>
          </a:p>
          <a:p>
            <a:pPr algn="l">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根据获得的奖励，训练算法不断调整模型的策略，</a:t>
            </a:r>
            <a:endParaRPr sz="2000" b="0">
              <a:solidFill>
                <a:srgbClr val="111111"/>
              </a:solidFill>
              <a:latin typeface="Times New Roman" panose="02020503050405090304"/>
              <a:ea typeface="微软雅黑"/>
              <a:cs typeface="Times New Roman" panose="02020503050405090304"/>
            </a:endParaRPr>
          </a:p>
          <a:p>
            <a:pPr algn="l">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目标是提高未来的期望回报。</a:t>
            </a:r>
            <a:endParaRPr sz="2000" b="0">
              <a:solidFill>
                <a:srgbClr val="111111"/>
              </a:solidFill>
              <a:latin typeface="Times New Roman" panose="02020503050405090304"/>
              <a:ea typeface="微软雅黑"/>
              <a:cs typeface="Times New Roman" panose="02020503050405090304"/>
            </a:endParaRPr>
          </a:p>
        </p:txBody>
      </p:sp>
      <p:sp>
        <p:nvSpPr>
          <p:cNvPr id="12" name="rl-process-heading"/>
          <p:cNvSpPr>
            <a:spLocks noGrp="1"/>
          </p:cNvSpPr>
          <p:nvPr/>
        </p:nvSpPr>
        <p:spPr>
          <a:xfrm>
            <a:off x="742950" y="3276600"/>
            <a:ext cx="7048500" cy="333375"/>
          </a:xfrm>
          <a:prstGeom prst="rect">
            <a:avLst/>
          </a:prstGeom>
          <a:noFill/>
          <a:ln w="0">
            <a:noFill/>
          </a:ln>
        </p:spPr>
        <p:txBody>
          <a:bodyPr wrap="none" lIns="0" tIns="0" rIns="0" bIns="0" anchor="t">
            <a:noAutofit/>
          </a:bodyPr>
          <a:lstStyle/>
          <a:p>
            <a:pPr algn="l">
              <a:lnSpc>
                <a:spcPct val="108000"/>
              </a:lnSpc>
              <a:buNone/>
              <a:defRPr sz="2000" b="1">
                <a:solidFill>
                  <a:srgbClr val="111111"/>
                </a:solidFill>
                <a:latin typeface="Times New Roman" panose="02020503050405090304"/>
                <a:ea typeface="微软雅黑"/>
                <a:cs typeface="Times New Roman" panose="02020503050405090304"/>
              </a:defRPr>
            </a:pPr>
            <a:r>
              <a:rPr sz="2000" b="1">
                <a:solidFill>
                  <a:srgbClr val="111111"/>
                </a:solidFill>
                <a:latin typeface="Times New Roman" panose="02020503050405090304"/>
                <a:ea typeface="微软雅黑"/>
                <a:cs typeface="Times New Roman" panose="02020503050405090304"/>
              </a:rPr>
              <a:t>核心过程：</a:t>
            </a:r>
            <a:endParaRPr sz="2000" b="1">
              <a:solidFill>
                <a:srgbClr val="111111"/>
              </a:solidFill>
              <a:latin typeface="Times New Roman" panose="02020503050405090304"/>
              <a:ea typeface="微软雅黑"/>
              <a:cs typeface="Times New Roman" panose="02020503050405090304"/>
            </a:endParaRPr>
          </a:p>
        </p:txBody>
      </p:sp>
      <p:sp>
        <p:nvSpPr>
          <p:cNvPr id="13" name="rl-step1"/>
          <p:cNvSpPr>
            <a:spLocks noGrp="1"/>
          </p:cNvSpPr>
          <p:nvPr/>
        </p:nvSpPr>
        <p:spPr>
          <a:xfrm>
            <a:off x="742950" y="3600450"/>
            <a:ext cx="7181850" cy="323850"/>
          </a:xfrm>
          <a:prstGeom prst="rect">
            <a:avLst/>
          </a:prstGeom>
          <a:noFill/>
          <a:ln w="0">
            <a:noFill/>
          </a:ln>
        </p:spPr>
        <p:txBody>
          <a:bodyPr wrap="none" lIns="0" tIns="0" rIns="0" bIns="0" anchor="t">
            <a:noAutofit/>
          </a:bodyPr>
          <a:lstStyle/>
          <a:p>
            <a:pPr algn="l">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① 自主尝试：根据当前策略生成回答或执行动作。</a:t>
            </a:r>
            <a:endParaRPr sz="2000" b="0">
              <a:solidFill>
                <a:srgbClr val="111111"/>
              </a:solidFill>
              <a:latin typeface="Times New Roman" panose="02020503050405090304"/>
              <a:ea typeface="微软雅黑"/>
              <a:cs typeface="Times New Roman" panose="02020503050405090304"/>
            </a:endParaRPr>
          </a:p>
        </p:txBody>
      </p:sp>
      <p:sp>
        <p:nvSpPr>
          <p:cNvPr id="14" name="rl-step2"/>
          <p:cNvSpPr>
            <a:spLocks noGrp="1"/>
          </p:cNvSpPr>
          <p:nvPr/>
        </p:nvSpPr>
        <p:spPr>
          <a:xfrm>
            <a:off x="742950" y="3933825"/>
            <a:ext cx="7181850" cy="323850"/>
          </a:xfrm>
          <a:prstGeom prst="rect">
            <a:avLst/>
          </a:prstGeom>
          <a:noFill/>
          <a:ln w="0">
            <a:noFill/>
          </a:ln>
        </p:spPr>
        <p:txBody>
          <a:bodyPr wrap="none" lIns="0" tIns="0" rIns="0" bIns="0" anchor="t">
            <a:noAutofit/>
          </a:bodyPr>
          <a:lstStyle/>
          <a:p>
            <a:pPr algn="l">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② 获得奖励：环境反馈结果，奖励函数评价表现。</a:t>
            </a:r>
            <a:endParaRPr sz="2000" b="0">
              <a:solidFill>
                <a:srgbClr val="111111"/>
              </a:solidFill>
              <a:latin typeface="Times New Roman" panose="02020503050405090304"/>
              <a:ea typeface="微软雅黑"/>
              <a:cs typeface="Times New Roman" panose="02020503050405090304"/>
            </a:endParaRPr>
          </a:p>
        </p:txBody>
      </p:sp>
      <p:sp>
        <p:nvSpPr>
          <p:cNvPr id="15" name="rl-step3"/>
          <p:cNvSpPr>
            <a:spLocks noGrp="1"/>
          </p:cNvSpPr>
          <p:nvPr/>
        </p:nvSpPr>
        <p:spPr>
          <a:xfrm>
            <a:off x="742950" y="4267200"/>
            <a:ext cx="7181850" cy="323850"/>
          </a:xfrm>
          <a:prstGeom prst="rect">
            <a:avLst/>
          </a:prstGeom>
          <a:noFill/>
          <a:ln w="0">
            <a:noFill/>
          </a:ln>
        </p:spPr>
        <p:txBody>
          <a:bodyPr wrap="none" lIns="0" tIns="0" rIns="0" bIns="0" anchor="t">
            <a:noAutofit/>
          </a:bodyPr>
          <a:lstStyle/>
          <a:p>
            <a:pPr algn="l">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③ 更新策略：训练算法调整参数，再开始下一轮。</a:t>
            </a:r>
            <a:endParaRPr sz="2000" b="0">
              <a:solidFill>
                <a:srgbClr val="111111"/>
              </a:solidFill>
              <a:latin typeface="Times New Roman" panose="02020503050405090304"/>
              <a:ea typeface="微软雅黑"/>
              <a:cs typeface="Times New Roman" panose="02020503050405090304"/>
            </a:endParaRPr>
          </a:p>
        </p:txBody>
      </p:sp>
      <p:sp>
        <p:nvSpPr>
          <p:cNvPr id="16" name="rl-wordle"/>
          <p:cNvSpPr>
            <a:spLocks noGrp="1"/>
          </p:cNvSpPr>
          <p:nvPr/>
        </p:nvSpPr>
        <p:spPr>
          <a:xfrm>
            <a:off x="742950" y="4724400"/>
            <a:ext cx="7181850" cy="638175"/>
          </a:xfrm>
          <a:prstGeom prst="rect">
            <a:avLst/>
          </a:prstGeom>
          <a:noFill/>
          <a:ln w="0">
            <a:noFill/>
          </a:ln>
        </p:spPr>
        <p:txBody>
          <a:bodyPr wrap="none" lIns="0" tIns="0" rIns="0" bIns="0" anchor="t">
            <a:noAutofit/>
          </a:bodyPr>
          <a:lstStyle/>
          <a:p>
            <a:pPr algn="l">
              <a:lnSpc>
                <a:spcPct val="108000"/>
              </a:lnSpc>
              <a:buNone/>
              <a:defRPr sz="1900" b="0">
                <a:solidFill>
                  <a:srgbClr val="111111"/>
                </a:solidFill>
                <a:latin typeface="Times New Roman" panose="02020503050405090304"/>
                <a:ea typeface="微软雅黑"/>
                <a:cs typeface="Times New Roman" panose="02020503050405090304"/>
              </a:defRPr>
            </a:pPr>
            <a:r>
              <a:rPr sz="1900" b="0">
                <a:solidFill>
                  <a:srgbClr val="111111"/>
                </a:solidFill>
                <a:latin typeface="Times New Roman" panose="02020503050405090304"/>
                <a:ea typeface="微软雅黑"/>
                <a:cs typeface="Times New Roman" panose="02020503050405090304"/>
              </a:rPr>
              <a:t>Wordle 中：模型根据颜色反馈继续猜词，</a:t>
            </a:r>
            <a:endParaRPr sz="1900" b="0">
              <a:solidFill>
                <a:srgbClr val="111111"/>
              </a:solidFill>
              <a:latin typeface="Times New Roman" panose="02020503050405090304"/>
              <a:ea typeface="微软雅黑"/>
              <a:cs typeface="Times New Roman" panose="02020503050405090304"/>
            </a:endParaRPr>
          </a:p>
          <a:p>
            <a:pPr algn="l">
              <a:lnSpc>
                <a:spcPct val="108000"/>
              </a:lnSpc>
              <a:buNone/>
              <a:defRPr sz="1900" b="0">
                <a:solidFill>
                  <a:srgbClr val="111111"/>
                </a:solidFill>
                <a:latin typeface="Times New Roman" panose="02020503050405090304"/>
                <a:ea typeface="微软雅黑"/>
                <a:cs typeface="Times New Roman" panose="02020503050405090304"/>
              </a:defRPr>
            </a:pPr>
            <a:r>
              <a:rPr sz="1900" b="0">
                <a:solidFill>
                  <a:srgbClr val="111111"/>
                </a:solidFill>
                <a:latin typeface="Times New Roman" panose="02020503050405090304"/>
                <a:ea typeface="微软雅黑"/>
                <a:cs typeface="Times New Roman" panose="02020503050405090304"/>
              </a:rPr>
              <a:t>训练时用奖励鼓励模型以更少轮次猜中。</a:t>
            </a:r>
            <a:endParaRPr sz="1900" b="0">
              <a:solidFill>
                <a:srgbClr val="111111"/>
              </a:solidFill>
              <a:latin typeface="Times New Roman" panose="02020503050405090304"/>
              <a:ea typeface="微软雅黑"/>
              <a:cs typeface="Times New Roman" panose="02020503050405090304"/>
            </a:endParaRPr>
          </a:p>
        </p:txBody>
      </p:sp>
      <p:sp>
        <p:nvSpPr>
          <p:cNvPr id="17" name="rl-takeaway"/>
          <p:cNvSpPr>
            <a:spLocks noGrp="1"/>
          </p:cNvSpPr>
          <p:nvPr/>
        </p:nvSpPr>
        <p:spPr>
          <a:xfrm>
            <a:off x="742950" y="5467350"/>
            <a:ext cx="7181850" cy="333375"/>
          </a:xfrm>
          <a:prstGeom prst="rect">
            <a:avLst/>
          </a:prstGeom>
          <a:noFill/>
          <a:ln w="0">
            <a:noFill/>
          </a:ln>
        </p:spPr>
        <p:txBody>
          <a:bodyPr wrap="none" lIns="0" tIns="0" rIns="0" bIns="0" anchor="t">
            <a:noAutofit/>
          </a:bodyPr>
          <a:lstStyle/>
          <a:p>
            <a:pPr algn="l">
              <a:lnSpc>
                <a:spcPct val="108000"/>
              </a:lnSpc>
              <a:buNone/>
              <a:defRPr sz="2000" b="0">
                <a:solidFill>
                  <a:srgbClr val="FF0000"/>
                </a:solidFill>
                <a:latin typeface="Times New Roman" panose="02020503050405090304"/>
                <a:ea typeface="微软雅黑"/>
                <a:cs typeface="Times New Roman" panose="02020503050405090304"/>
              </a:defRPr>
            </a:pPr>
            <a:r>
              <a:rPr sz="2000" b="0">
                <a:solidFill>
                  <a:srgbClr val="FF0000"/>
                </a:solidFill>
                <a:latin typeface="Times New Roman" panose="02020503050405090304"/>
                <a:ea typeface="微软雅黑"/>
                <a:cs typeface="Times New Roman" panose="02020503050405090304"/>
              </a:rPr>
              <a:t>RL = 在试错与反馈中学习，让决策更有效</a:t>
            </a:r>
            <a:endParaRPr sz="2000" b="0">
              <a:solidFill>
                <a:srgbClr val="FF0000"/>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2"/>
                                        </p:tgtEl>
                                        <p:attrNameLst>
                                          <p:attrName>style.visibility</p:attrName>
                                        </p:attrNameLst>
                                      </p:cBhvr>
                                      <p:to>
                                        <p:strVal val="visible"/>
                                      </p:to>
                                    </p:set>
                                    <p:animEffect transition="in" filter="fade">
                                      <p:cBhvr>
                                        <p:cTn id="7" dur="350"/>
                                        <p:tgtEl>
                                          <p:spTgt spid="12"/>
                                        </p:tgtEl>
                                      </p:cBhvr>
                                    </p:animEffect>
                                  </p:childTnLst>
                                </p:cTn>
                              </p:par>
                              <p:par>
                                <p:cTn id="8" presetID="10" presetClass="entr" presetSubtype="0" fill="hold" grpId="0" nodeType="withEffect">
                                  <p:stCondLst>
                                    <p:cond delay="0"/>
                                  </p:stCondLst>
                                  <p:childTnLst>
                                    <p:set>
                                      <p:cBhvr>
                                        <p:cTn id="9" dur="1" fill="hold"/>
                                        <p:tgtEl>
                                          <p:spTgt spid="13"/>
                                        </p:tgtEl>
                                        <p:attrNameLst>
                                          <p:attrName>style.visibility</p:attrName>
                                        </p:attrNameLst>
                                      </p:cBhvr>
                                      <p:to>
                                        <p:strVal val="visible"/>
                                      </p:to>
                                    </p:set>
                                    <p:animEffect transition="in" filter="fade">
                                      <p:cBhvr>
                                        <p:cTn id="10" dur="35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14"/>
                                        </p:tgtEl>
                                        <p:attrNameLst>
                                          <p:attrName>style.visibility</p:attrName>
                                        </p:attrNameLst>
                                      </p:cBhvr>
                                      <p:to>
                                        <p:strVal val="visible"/>
                                      </p:to>
                                    </p:set>
                                    <p:animEffect transition="in" filter="fade">
                                      <p:cBhvr>
                                        <p:cTn id="15" dur="35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tgtEl>
                                          <p:spTgt spid="15"/>
                                        </p:tgtEl>
                                        <p:attrNameLst>
                                          <p:attrName>style.visibility</p:attrName>
                                        </p:attrNameLst>
                                      </p:cBhvr>
                                      <p:to>
                                        <p:strVal val="visible"/>
                                      </p:to>
                                    </p:set>
                                    <p:animEffect transition="in" filter="fade">
                                      <p:cBhvr>
                                        <p:cTn id="20" dur="350"/>
                                        <p:tgtEl>
                                          <p:spTgt spid="1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tgtEl>
                                          <p:spTgt spid="16"/>
                                        </p:tgtEl>
                                        <p:attrNameLst>
                                          <p:attrName>style.visibility</p:attrName>
                                        </p:attrNameLst>
                                      </p:cBhvr>
                                      <p:to>
                                        <p:strVal val="visible"/>
                                      </p:to>
                                    </p:set>
                                    <p:animEffect transition="in" filter="fade">
                                      <p:cBhvr>
                                        <p:cTn id="25" dur="350"/>
                                        <p:tgtEl>
                                          <p:spTgt spid="16"/>
                                        </p:tgtEl>
                                      </p:cBhvr>
                                    </p:animEffect>
                                  </p:childTnLst>
                                </p:cTn>
                              </p:par>
                              <p:par>
                                <p:cTn id="26" presetID="10" presetClass="entr" presetSubtype="0" fill="hold" grpId="0" nodeType="withEffect">
                                  <p:stCondLst>
                                    <p:cond delay="0"/>
                                  </p:stCondLst>
                                  <p:childTnLst>
                                    <p:set>
                                      <p:cBhvr>
                                        <p:cTn id="27" dur="1" fill="hold"/>
                                        <p:tgtEl>
                                          <p:spTgt spid="17"/>
                                        </p:tgtEl>
                                        <p:attrNameLst>
                                          <p:attrName>style.visibility</p:attrName>
                                        </p:attrNameLst>
                                      </p:cBhvr>
                                      <p:to>
                                        <p:strVal val="visible"/>
                                      </p:to>
                                    </p:set>
                                    <p:animEffect transition="in" filter="fade">
                                      <p:cBhvr>
                                        <p:cTn id="28" dur="35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RL 核心概念</a:t>
            </a:r>
            <a:endParaRPr sz="2700" b="1">
              <a:solidFill>
                <a:srgbClr val="111111"/>
              </a:solidFill>
              <a:latin typeface="Times New Roman" panose="02020503050405090304"/>
              <a:ea typeface="微软雅黑"/>
              <a:cs typeface="Times New Roman" panose="02020503050405090304"/>
            </a:endParaRPr>
          </a:p>
        </p:txBody>
      </p:sp>
      <p:sp>
        <p:nvSpPr>
          <p:cNvPr id="19" name="intro"/>
          <p:cNvSpPr>
            <a:spLocks noGrp="1"/>
          </p:cNvSpPr>
          <p:nvPr/>
        </p:nvSpPr>
        <p:spPr>
          <a:xfrm>
            <a:off x="742950" y="1104900"/>
            <a:ext cx="107061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策略决定如何生成，奖励函数评价一条轨迹的结果。</a:t>
            </a:r>
            <a:endParaRPr sz="2000" b="0">
              <a:solidFill>
                <a:srgbClr val="111111"/>
              </a:solidFill>
              <a:latin typeface="Times New Roman" panose="02020503050405090304"/>
              <a:ea typeface="微软雅黑"/>
              <a:cs typeface="Times New Roman" panose="02020503050405090304"/>
            </a:endParaRPr>
          </a:p>
        </p:txBody>
      </p:sp>
      <p:sp>
        <p:nvSpPr>
          <p:cNvPr id="20" name="policy-head"/>
          <p:cNvSpPr>
            <a:spLocks noGrp="1"/>
          </p:cNvSpPr>
          <p:nvPr/>
        </p:nvSpPr>
        <p:spPr>
          <a:xfrm>
            <a:off x="742950" y="1952625"/>
            <a:ext cx="5048250" cy="400050"/>
          </a:xfrm>
          <a:prstGeom prst="rect">
            <a:avLst/>
          </a:prstGeom>
          <a:noFill/>
          <a:ln w="0">
            <a:noFill/>
          </a:ln>
        </p:spPr>
        <p:txBody>
          <a:bodyPr wrap="none" lIns="0" tIns="0" rIns="0" bIns="0" anchor="t">
            <a:noAutofit/>
          </a:bodyPr>
          <a:lstStyle/>
          <a:p>
            <a:pPr>
              <a:lnSpc>
                <a:spcPct val="108000"/>
              </a:lnSpc>
              <a:buNone/>
              <a:defRPr sz="2175" b="1">
                <a:solidFill>
                  <a:srgbClr val="E60012"/>
                </a:solidFill>
                <a:latin typeface="Times New Roman" panose="02020503050405090304"/>
                <a:ea typeface="微软雅黑"/>
                <a:cs typeface="Times New Roman" panose="02020503050405090304"/>
              </a:defRPr>
            </a:pPr>
            <a:r>
              <a:rPr sz="2175" b="1">
                <a:solidFill>
                  <a:srgbClr val="E60012"/>
                </a:solidFill>
                <a:latin typeface="Times New Roman" panose="02020503050405090304"/>
                <a:ea typeface="微软雅黑"/>
                <a:cs typeface="Times New Roman" panose="02020503050405090304"/>
              </a:rPr>
              <a:t>策略 Policy</a:t>
            </a:r>
            <a:endParaRPr sz="2175" b="1">
              <a:solidFill>
                <a:srgbClr val="E60012"/>
              </a:solidFill>
              <a:latin typeface="Times New Roman" panose="02020503050405090304"/>
              <a:ea typeface="微软雅黑"/>
              <a:cs typeface="Times New Roman" panose="02020503050405090304"/>
            </a:endParaRPr>
          </a:p>
        </p:txBody>
      </p:sp>
      <p:sp>
        <p:nvSpPr>
          <p:cNvPr id="21" name="policy-body"/>
          <p:cNvSpPr>
            <a:spLocks noGrp="1"/>
          </p:cNvSpPr>
          <p:nvPr/>
        </p:nvSpPr>
        <p:spPr>
          <a:xfrm>
            <a:off x="742950" y="2533650"/>
            <a:ext cx="5048250" cy="1095375"/>
          </a:xfrm>
          <a:prstGeom prst="rect">
            <a:avLst/>
          </a:prstGeom>
          <a:noFill/>
          <a:ln w="0">
            <a:noFill/>
          </a:ln>
        </p:spPr>
        <p:txBody>
          <a:bodyPr wrap="none" lIns="0" tIns="0" rIns="0" bIns="0" anchor="t">
            <a:noAutofit/>
          </a:bodyPr>
          <a:lstStyle/>
          <a:p>
            <a:pPr>
              <a:lnSpc>
                <a:spcPct val="108000"/>
              </a:lnSpc>
              <a:buNone/>
              <a:defRPr sz="2025" b="0">
                <a:solidFill>
                  <a:srgbClr val="111111"/>
                </a:solidFill>
                <a:latin typeface="Times New Roman" panose="02020503050405090304"/>
                <a:ea typeface="微软雅黑"/>
                <a:cs typeface="Times New Roman" panose="02020503050405090304"/>
              </a:defRPr>
            </a:pPr>
            <a:r>
              <a:rPr sz="2025" b="0">
                <a:solidFill>
                  <a:srgbClr val="111111"/>
                </a:solidFill>
                <a:latin typeface="Times New Roman" panose="02020503050405090304"/>
                <a:ea typeface="微软雅黑"/>
                <a:cs typeface="Times New Roman" panose="02020503050405090304"/>
              </a:rPr>
              <a:t>给定当前上下文，模型输出</a:t>
            </a:r>
            <a:endParaRPr sz="2025" b="0">
              <a:solidFill>
                <a:srgbClr val="111111"/>
              </a:solidFill>
              <a:latin typeface="Times New Roman" panose="02020503050405090304"/>
              <a:ea typeface="微软雅黑"/>
              <a:cs typeface="Times New Roman" panose="02020503050405090304"/>
            </a:endParaRPr>
          </a:p>
          <a:p>
            <a:pPr>
              <a:lnSpc>
                <a:spcPct val="108000"/>
              </a:lnSpc>
              <a:buNone/>
              <a:defRPr sz="2025" b="0">
                <a:solidFill>
                  <a:srgbClr val="111111"/>
                </a:solidFill>
                <a:latin typeface="Times New Roman" panose="02020503050405090304"/>
                <a:ea typeface="微软雅黑"/>
                <a:cs typeface="Times New Roman" panose="02020503050405090304"/>
              </a:defRPr>
            </a:pPr>
            <a:r>
              <a:rPr sz="2025" b="0">
                <a:solidFill>
                  <a:srgbClr val="111111"/>
                </a:solidFill>
                <a:latin typeface="Times New Roman" panose="02020503050405090304"/>
                <a:ea typeface="微软雅黑"/>
                <a:cs typeface="Times New Roman" panose="02020503050405090304"/>
              </a:rPr>
              <a:t>下一个 token 的概率分布，</a:t>
            </a:r>
            <a:endParaRPr sz="2025" b="0">
              <a:solidFill>
                <a:srgbClr val="111111"/>
              </a:solidFill>
              <a:latin typeface="Times New Roman" panose="02020503050405090304"/>
              <a:ea typeface="微软雅黑"/>
              <a:cs typeface="Times New Roman" panose="02020503050405090304"/>
            </a:endParaRPr>
          </a:p>
          <a:p>
            <a:pPr>
              <a:lnSpc>
                <a:spcPct val="108000"/>
              </a:lnSpc>
              <a:buNone/>
              <a:defRPr sz="2025" b="0">
                <a:solidFill>
                  <a:srgbClr val="111111"/>
                </a:solidFill>
                <a:latin typeface="Times New Roman" panose="02020503050405090304"/>
                <a:ea typeface="微软雅黑"/>
                <a:cs typeface="Times New Roman" panose="02020503050405090304"/>
              </a:defRPr>
            </a:pPr>
            <a:r>
              <a:rPr sz="2025" b="0">
                <a:solidFill>
                  <a:srgbClr val="111111"/>
                </a:solidFill>
                <a:latin typeface="Times New Roman" panose="02020503050405090304"/>
                <a:ea typeface="微软雅黑"/>
                <a:cs typeface="Times New Roman" panose="02020503050405090304"/>
              </a:rPr>
              <a:t>再采样并继续生成。</a:t>
            </a:r>
            <a:endParaRPr sz="2025" b="0">
              <a:solidFill>
                <a:srgbClr val="111111"/>
              </a:solidFill>
              <a:latin typeface="Times New Roman" panose="02020503050405090304"/>
              <a:ea typeface="微软雅黑"/>
              <a:cs typeface="Times New Roman" panose="02020503050405090304"/>
            </a:endParaRPr>
          </a:p>
        </p:txBody>
      </p:sp>
      <p:sp>
        <p:nvSpPr>
          <p:cNvPr id="22" name="ref-body"/>
          <p:cNvSpPr>
            <a:spLocks noGrp="1"/>
          </p:cNvSpPr>
          <p:nvPr/>
        </p:nvSpPr>
        <p:spPr>
          <a:xfrm>
            <a:off x="742950" y="4000500"/>
            <a:ext cx="5048250" cy="781050"/>
          </a:xfrm>
          <a:prstGeom prst="rect">
            <a:avLst/>
          </a:prstGeom>
          <a:noFill/>
          <a:ln w="0">
            <a:noFill/>
          </a:ln>
        </p:spPr>
        <p:txBody>
          <a:bodyPr wrap="none" lIns="0" tIns="0" rIns="0" bIns="0" anchor="t">
            <a:noAutofit/>
          </a:bodyPr>
          <a:lstStyle/>
          <a:p>
            <a:pPr>
              <a:lnSpc>
                <a:spcPct val="108000"/>
              </a:lnSpc>
              <a:buNone/>
              <a:defRPr sz="1950" b="0">
                <a:solidFill>
                  <a:srgbClr val="111111"/>
                </a:solidFill>
                <a:latin typeface="Times New Roman" panose="02020503050405090304"/>
                <a:ea typeface="微软雅黑"/>
                <a:cs typeface="Times New Roman" panose="02020503050405090304"/>
              </a:defRPr>
            </a:pPr>
            <a:r>
              <a:rPr sz="1950" b="0">
                <a:solidFill>
                  <a:srgbClr val="111111"/>
                </a:solidFill>
                <a:latin typeface="Times New Roman" panose="02020503050405090304"/>
                <a:ea typeface="微软雅黑"/>
                <a:cs typeface="Times New Roman" panose="02020503050405090304"/>
              </a:rPr>
              <a:t>本课固定 SFT 参考策略 π_ref，</a:t>
            </a:r>
            <a:endParaRPr sz="1950" b="0">
              <a:solidFill>
                <a:srgbClr val="111111"/>
              </a:solidFill>
              <a:latin typeface="Times New Roman" panose="02020503050405090304"/>
              <a:ea typeface="微软雅黑"/>
              <a:cs typeface="Times New Roman" panose="02020503050405090304"/>
            </a:endParaRPr>
          </a:p>
          <a:p>
            <a:pPr>
              <a:lnSpc>
                <a:spcPct val="108000"/>
              </a:lnSpc>
              <a:buNone/>
              <a:defRPr sz="1950" b="0">
                <a:solidFill>
                  <a:srgbClr val="111111"/>
                </a:solidFill>
                <a:latin typeface="Times New Roman" panose="02020503050405090304"/>
                <a:ea typeface="微软雅黑"/>
                <a:cs typeface="Times New Roman" panose="02020503050405090304"/>
              </a:defRPr>
            </a:pPr>
            <a:r>
              <a:rPr sz="1950" b="0">
                <a:solidFill>
                  <a:srgbClr val="111111"/>
                </a:solidFill>
                <a:latin typeface="Times New Roman" panose="02020503050405090304"/>
                <a:ea typeface="微软雅黑"/>
                <a:cs typeface="Times New Roman" panose="02020503050405090304"/>
              </a:rPr>
              <a:t>用 KL 约束当前策略的漂移。</a:t>
            </a:r>
            <a:endParaRPr sz="1950" b="0">
              <a:solidFill>
                <a:srgbClr val="111111"/>
              </a:solidFill>
              <a:latin typeface="Times New Roman" panose="02020503050405090304"/>
              <a:ea typeface="微软雅黑"/>
              <a:cs typeface="Times New Roman" panose="02020503050405090304"/>
            </a:endParaRPr>
          </a:p>
        </p:txBody>
      </p:sp>
      <p:graphicFrame>
        <p:nvGraphicFramePr>
          <p:cNvPr id="33" name="reward-roles"/>
          <p:cNvGraphicFramePr/>
          <p:nvPr/>
        </p:nvGraphicFramePr>
        <p:xfrm>
          <a:off x="6324600" y="1962150"/>
          <a:ext cx="5124450" cy="3162300"/>
        </p:xfrm>
        <a:graphic>
          <a:graphicData uri="http://schemas.openxmlformats.org/drawingml/2006/table">
            <a:tbl>
              <a:tblPr/>
              <a:tblGrid>
                <a:gridCol w="2057400"/>
                <a:gridCol w="3067050"/>
              </a:tblGrid>
              <a:tr h="438150">
                <a:tc>
                  <a:txBody>
                    <a:bodyPr>
                      <a:spAutoFit/>
                    </a:bodyPr>
                    <a:lstStyle/>
                    <a:p>
                      <a:pPr algn="ctr"/>
                      <a:r>
                        <a:rPr sz="1725" b="1">
                          <a:solidFill>
                            <a:srgbClr val="111111"/>
                          </a:solidFill>
                          <a:latin typeface="Times New Roman" panose="02020503050405090304"/>
                          <a:ea typeface="微软雅黑"/>
                          <a:cs typeface="Times New Roman" panose="02020503050405090304"/>
                        </a:rPr>
                        <a:t>奖励项</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1">
                          <a:solidFill>
                            <a:srgbClr val="111111"/>
                          </a:solidFill>
                          <a:latin typeface="Times New Roman" panose="02020503050405090304"/>
                          <a:ea typeface="微软雅黑"/>
                          <a:cs typeface="Times New Roman" panose="02020503050405090304"/>
                        </a:rPr>
                        <a:t>本课含义</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19125">
                <a:tc>
                  <a:txBody>
                    <a:bodyPr>
                      <a:spAutoFit/>
                    </a:bodyPr>
                    <a:lstStyle/>
                    <a:p>
                      <a:pPr algn="ctr"/>
                      <a:r>
                        <a:rPr sz="1725" b="0">
                          <a:solidFill>
                            <a:srgbClr val="111111"/>
                          </a:solidFill>
                          <a:latin typeface="Times New Roman" panose="02020503050405090304"/>
                          <a:ea typeface="微软雅黑"/>
                          <a:cs typeface="Times New Roman" panose="02020503050405090304"/>
                        </a:rPr>
                        <a:t>correct</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是否猜中秘密词</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742950">
                <a:tc>
                  <a:txBody>
                    <a:bodyPr>
                      <a:spAutoFit/>
                    </a:bodyPr>
                    <a:lstStyle/>
                    <a:p>
                      <a:pPr algn="ctr"/>
                      <a:r>
                        <a:rPr sz="1725" b="0">
                          <a:solidFill>
                            <a:srgbClr val="111111"/>
                          </a:solidFill>
                          <a:latin typeface="Times New Roman" panose="02020503050405090304"/>
                          <a:ea typeface="微软雅黑"/>
                          <a:cs typeface="Times New Roman" panose="02020503050405090304"/>
                        </a:rPr>
                        <a:t>partial</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未猜中时，取最佳部分匹配</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742950">
                <a:tc>
                  <a:txBody>
                    <a:bodyPr>
                      <a:spAutoFit/>
                    </a:bodyPr>
                    <a:lstStyle/>
                    <a:p>
                      <a:pPr algn="ctr"/>
                      <a:r>
                        <a:rPr sz="1725" b="0">
                          <a:solidFill>
                            <a:srgbClr val="111111"/>
                          </a:solidFill>
                          <a:latin typeface="Times New Roman" panose="02020503050405090304"/>
                          <a:ea typeface="微软雅黑"/>
                          <a:cs typeface="Times New Roman" panose="02020503050405090304"/>
                        </a:rPr>
                        <a:t>length_bonus</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猜中时，鼓励更少有效猜词</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19125">
                <a:tc>
                  <a:txBody>
                    <a:bodyPr>
                      <a:spAutoFit/>
                    </a:bodyPr>
                    <a:lstStyle/>
                    <a:p>
                      <a:pPr algn="ctr"/>
                      <a:r>
                        <a:rPr sz="1725" b="0">
                          <a:solidFill>
                            <a:srgbClr val="111111"/>
                          </a:solidFill>
                          <a:latin typeface="Times New Roman" panose="02020503050405090304"/>
                          <a:ea typeface="微软雅黑"/>
                          <a:cs typeface="Times New Roman" panose="02020503050405090304"/>
                        </a:rPr>
                        <a:t>format</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格式合规度，权重 0.2</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4" name="reward-boundary"/>
          <p:cNvSpPr>
            <a:spLocks noGrp="1"/>
          </p:cNvSpPr>
          <p:nvPr/>
        </p:nvSpPr>
        <p:spPr>
          <a:xfrm>
            <a:off x="742950" y="5410200"/>
            <a:ext cx="10706100" cy="361950"/>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奖励在完整轨迹上计算。较低格式权重仍不能保证杜绝投机。</a:t>
            </a:r>
            <a:endParaRPr sz="1875" b="0">
              <a:solidFill>
                <a:srgbClr val="111111"/>
              </a:solidFill>
              <a:latin typeface="Times New Roman" panose="02020503050405090304"/>
              <a:ea typeface="微软雅黑"/>
              <a:cs typeface="Times New Roman" panose="02020503050405090304"/>
            </a:endParaRPr>
          </a:p>
        </p:txBody>
      </p:sp>
      <p:sp>
        <p:nvSpPr>
          <p:cNvPr id="25" name="key"/>
          <p:cNvSpPr>
            <a:spLocks noGrp="1"/>
          </p:cNvSpPr>
          <p:nvPr/>
        </p:nvSpPr>
        <p:spPr>
          <a:xfrm>
            <a:off x="742950" y="5857875"/>
            <a:ext cx="107061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提高获得较好回报的策略概率，同时检查奖励是否符合任务目标。</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par>
                                <p:cTn id="11" presetID="10" presetClass="entr" presetSubtype="0" fill="hold" grpId="0" nodeType="withEffect">
                                  <p:stCondLst>
                                    <p:cond delay="0"/>
                                  </p:stCondLst>
                                  <p:childTnLst>
                                    <p:set>
                                      <p:cBhvr>
                                        <p:cTn id="12" dur="1" fill="hold"/>
                                        <p:tgtEl>
                                          <p:spTgt spid="21"/>
                                        </p:tgtEl>
                                        <p:attrNameLst>
                                          <p:attrName>style.visibility</p:attrName>
                                        </p:attrNameLst>
                                      </p:cBhvr>
                                      <p:to>
                                        <p:strVal val="visible"/>
                                      </p:to>
                                    </p:set>
                                    <p:animEffect transition="in" filter="fade">
                                      <p:cBhvr>
                                        <p:cTn id="13" dur="350"/>
                                        <p:tgtEl>
                                          <p:spTgt spid="2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33"/>
                                        </p:tgtEl>
                                        <p:attrNameLst>
                                          <p:attrName>style.visibility</p:attrName>
                                        </p:attrNameLst>
                                      </p:cBhvr>
                                      <p:to>
                                        <p:strVal val="visible"/>
                                      </p:to>
                                    </p:set>
                                    <p:animEffect transition="in" filter="fade">
                                      <p:cBhvr>
                                        <p:cTn id="23" dur="350"/>
                                        <p:tgtEl>
                                          <p:spTgt spid="3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tgtEl>
                                          <p:spTgt spid="24"/>
                                        </p:tgtEl>
                                        <p:attrNameLst>
                                          <p:attrName>style.visibility</p:attrName>
                                        </p:attrNameLst>
                                      </p:cBhvr>
                                      <p:to>
                                        <p:strVal val="visible"/>
                                      </p:to>
                                    </p:set>
                                    <p:animEffect transition="in" filter="fade">
                                      <p:cBhvr>
                                        <p:cTn id="28" dur="350"/>
                                        <p:tgtEl>
                                          <p:spTgt spid="24"/>
                                        </p:tgtEl>
                                      </p:cBhvr>
                                    </p:animEffect>
                                  </p:childTnLst>
                                </p:cTn>
                              </p:par>
                              <p:par>
                                <p:cTn id="29" presetID="10" presetClass="entr" presetSubtype="0" fill="hold" grpId="0" nodeType="withEffect">
                                  <p:stCondLst>
                                    <p:cond delay="0"/>
                                  </p:stCondLst>
                                  <p:childTnLst>
                                    <p:set>
                                      <p:cBhvr>
                                        <p:cTn id="30" dur="1" fill="hold"/>
                                        <p:tgtEl>
                                          <p:spTgt spid="25"/>
                                        </p:tgtEl>
                                        <p:attrNameLst>
                                          <p:attrName>style.visibility</p:attrName>
                                        </p:attrNameLst>
                                      </p:cBhvr>
                                      <p:to>
                                        <p:strVal val="visible"/>
                                      </p:to>
                                    </p:set>
                                    <p:animEffect transition="in" filter="fade">
                                      <p:cBhvr>
                                        <p:cTn id="31" dur="35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5"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RL 核心概念</a:t>
            </a:r>
            <a:endParaRPr sz="2700" b="1">
              <a:solidFill>
                <a:srgbClr val="111111"/>
              </a:solidFill>
              <a:latin typeface="Times New Roman" panose="02020503050405090304"/>
              <a:ea typeface="微软雅黑"/>
              <a:cs typeface="Times New Roman" panose="02020503050405090304"/>
            </a:endParaRPr>
          </a:p>
        </p:txBody>
      </p:sp>
      <p:sp>
        <p:nvSpPr>
          <p:cNvPr id="19" name="intro"/>
          <p:cNvSpPr>
            <a:spLocks noGrp="1"/>
          </p:cNvSpPr>
          <p:nvPr/>
        </p:nvSpPr>
        <p:spPr>
          <a:xfrm>
            <a:off x="742950" y="1104900"/>
            <a:ext cx="107061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对同一个 prompt 采样 8 条完整轨迹，再比较各自的奖励。</a:t>
            </a:r>
            <a:endParaRPr sz="2000" b="0">
              <a:solidFill>
                <a:srgbClr val="111111"/>
              </a:solidFill>
              <a:latin typeface="Times New Roman" panose="02020503050405090304"/>
              <a:ea typeface="微软雅黑"/>
              <a:cs typeface="Times New Roman" panose="02020503050405090304"/>
            </a:endParaRPr>
          </a:p>
        </p:txBody>
      </p:sp>
      <p:sp>
        <p:nvSpPr>
          <p:cNvPr id="20" name="group-context"/>
          <p:cNvSpPr>
            <a:spLocks noGrp="1"/>
          </p:cNvSpPr>
          <p:nvPr/>
        </p:nvSpPr>
        <p:spPr>
          <a:xfrm>
            <a:off x="742950" y="1657350"/>
            <a:ext cx="10706100" cy="361950"/>
          </a:xfrm>
          <a:prstGeom prst="rect">
            <a:avLst/>
          </a:prstGeom>
          <a:noFill/>
          <a:ln w="0">
            <a:noFill/>
          </a:ln>
        </p:spPr>
        <p:txBody>
          <a:bodyPr wrap="none" lIns="0" tIns="0" rIns="0" bIns="0" anchor="t">
            <a:noAutofit/>
          </a:bodyPr>
          <a:lstStyle/>
          <a:p>
            <a:pPr>
              <a:lnSpc>
                <a:spcPct val="108000"/>
              </a:lnSpc>
              <a:buNone/>
              <a:defRPr sz="1875" b="1">
                <a:solidFill>
                  <a:srgbClr val="357AE8"/>
                </a:solidFill>
                <a:latin typeface="Times New Roman" panose="02020503050405090304"/>
                <a:ea typeface="微软雅黑"/>
                <a:cs typeface="Times New Roman" panose="02020503050405090304"/>
              </a:defRPr>
            </a:pPr>
            <a:r>
              <a:rPr sz="1875" b="1">
                <a:solidFill>
                  <a:srgbClr val="357AE8"/>
                </a:solidFill>
                <a:latin typeface="Times New Roman" panose="02020503050405090304"/>
                <a:ea typeface="微软雅黑"/>
                <a:cs typeface="Times New Roman" panose="02020503050405090304"/>
              </a:rPr>
              <a:t>模型输入：游戏规则与当前上下文。秘密词保留在环境侧。</a:t>
            </a:r>
            <a:endParaRPr sz="1875" b="1">
              <a:solidFill>
                <a:srgbClr val="357AE8"/>
              </a:solidFill>
              <a:latin typeface="Times New Roman" panose="02020503050405090304"/>
              <a:ea typeface="微软雅黑"/>
              <a:cs typeface="Times New Roman" panose="02020503050405090304"/>
            </a:endParaRPr>
          </a:p>
        </p:txBody>
      </p:sp>
      <p:graphicFrame>
        <p:nvGraphicFramePr>
          <p:cNvPr id="30" name="rollout-group"/>
          <p:cNvGraphicFramePr/>
          <p:nvPr/>
        </p:nvGraphicFramePr>
        <p:xfrm>
          <a:off x="742950" y="2419350"/>
          <a:ext cx="10706100" cy="1257300"/>
        </p:xfrm>
        <a:graphic>
          <a:graphicData uri="http://schemas.openxmlformats.org/drawingml/2006/table">
            <a:tbl>
              <a:tblPr/>
              <a:tblGrid>
                <a:gridCol w="1181100"/>
                <a:gridCol w="1190625"/>
                <a:gridCol w="1190625"/>
                <a:gridCol w="1190625"/>
                <a:gridCol w="1190625"/>
                <a:gridCol w="1190625"/>
                <a:gridCol w="1190625"/>
                <a:gridCol w="1190625"/>
                <a:gridCol w="1190625"/>
              </a:tblGrid>
              <a:tr h="628650">
                <a:tc>
                  <a:txBody>
                    <a:bodyPr>
                      <a:spAutoFit/>
                    </a:bodyPr>
                    <a:lstStyle/>
                    <a:p>
                      <a:pPr algn="ctr"/>
                      <a:r>
                        <a:rPr sz="1950" b="1">
                          <a:solidFill>
                            <a:srgbClr val="111111"/>
                          </a:solidFill>
                          <a:latin typeface="Times New Roman" panose="02020503050405090304"/>
                          <a:ea typeface="微软雅黑"/>
                          <a:cs typeface="Times New Roman" panose="02020503050405090304"/>
                        </a:rPr>
                        <a:t>轨迹</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1">
                          <a:solidFill>
                            <a:srgbClr val="111111"/>
                          </a:solidFill>
                          <a:latin typeface="Times New Roman" panose="02020503050405090304"/>
                          <a:ea typeface="微软雅黑"/>
                          <a:cs typeface="Times New Roman" panose="02020503050405090304"/>
                        </a:rPr>
                        <a:t>1</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1">
                          <a:solidFill>
                            <a:srgbClr val="111111"/>
                          </a:solidFill>
                          <a:latin typeface="Times New Roman" panose="02020503050405090304"/>
                          <a:ea typeface="微软雅黑"/>
                          <a:cs typeface="Times New Roman" panose="02020503050405090304"/>
                        </a:rPr>
                        <a:t>2</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1">
                          <a:solidFill>
                            <a:srgbClr val="111111"/>
                          </a:solidFill>
                          <a:latin typeface="Times New Roman" panose="02020503050405090304"/>
                          <a:ea typeface="微软雅黑"/>
                          <a:cs typeface="Times New Roman" panose="02020503050405090304"/>
                        </a:rPr>
                        <a:t>3</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1">
                          <a:solidFill>
                            <a:srgbClr val="111111"/>
                          </a:solidFill>
                          <a:latin typeface="Times New Roman" panose="02020503050405090304"/>
                          <a:ea typeface="微软雅黑"/>
                          <a:cs typeface="Times New Roman" panose="02020503050405090304"/>
                        </a:rPr>
                        <a:t>4</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1">
                          <a:solidFill>
                            <a:srgbClr val="111111"/>
                          </a:solidFill>
                          <a:latin typeface="Times New Roman" panose="02020503050405090304"/>
                          <a:ea typeface="微软雅黑"/>
                          <a:cs typeface="Times New Roman" panose="02020503050405090304"/>
                        </a:rPr>
                        <a:t>5</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1">
                          <a:solidFill>
                            <a:srgbClr val="111111"/>
                          </a:solidFill>
                          <a:latin typeface="Times New Roman" panose="02020503050405090304"/>
                          <a:ea typeface="微软雅黑"/>
                          <a:cs typeface="Times New Roman" panose="02020503050405090304"/>
                        </a:rPr>
                        <a:t>6</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1">
                          <a:solidFill>
                            <a:srgbClr val="111111"/>
                          </a:solidFill>
                          <a:latin typeface="Times New Roman" panose="02020503050405090304"/>
                          <a:ea typeface="微软雅黑"/>
                          <a:cs typeface="Times New Roman" panose="02020503050405090304"/>
                        </a:rPr>
                        <a:t>7</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1">
                          <a:solidFill>
                            <a:srgbClr val="111111"/>
                          </a:solidFill>
                          <a:latin typeface="Times New Roman" panose="02020503050405090304"/>
                          <a:ea typeface="微软雅黑"/>
                          <a:cs typeface="Times New Roman" panose="02020503050405090304"/>
                        </a:rPr>
                        <a:t>8</a:t>
                      </a:r>
                      <a:endParaRPr sz="1950"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28650">
                <a:tc>
                  <a:txBody>
                    <a:bodyPr>
                      <a:spAutoFit/>
                    </a:bodyPr>
                    <a:lstStyle/>
                    <a:p>
                      <a:pPr algn="ctr"/>
                      <a:r>
                        <a:rPr sz="1950" b="0">
                          <a:solidFill>
                            <a:srgbClr val="111111"/>
                          </a:solidFill>
                          <a:latin typeface="Times New Roman" panose="02020503050405090304"/>
                          <a:ea typeface="微软雅黑"/>
                          <a:cs typeface="Times New Roman" panose="02020503050405090304"/>
                        </a:rPr>
                        <a:t>评分</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0">
                          <a:solidFill>
                            <a:srgbClr val="111111"/>
                          </a:solidFill>
                          <a:latin typeface="Times New Roman" panose="02020503050405090304"/>
                          <a:ea typeface="微软雅黑"/>
                          <a:cs typeface="Times New Roman" panose="02020503050405090304"/>
                        </a:rPr>
                        <a:t>r1</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0">
                          <a:solidFill>
                            <a:srgbClr val="111111"/>
                          </a:solidFill>
                          <a:latin typeface="Times New Roman" panose="02020503050405090304"/>
                          <a:ea typeface="微软雅黑"/>
                          <a:cs typeface="Times New Roman" panose="02020503050405090304"/>
                        </a:rPr>
                        <a:t>r2</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0">
                          <a:solidFill>
                            <a:srgbClr val="111111"/>
                          </a:solidFill>
                          <a:latin typeface="Times New Roman" panose="02020503050405090304"/>
                          <a:ea typeface="微软雅黑"/>
                          <a:cs typeface="Times New Roman" panose="02020503050405090304"/>
                        </a:rPr>
                        <a:t>r3</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0">
                          <a:solidFill>
                            <a:srgbClr val="111111"/>
                          </a:solidFill>
                          <a:latin typeface="Times New Roman" panose="02020503050405090304"/>
                          <a:ea typeface="微软雅黑"/>
                          <a:cs typeface="Times New Roman" panose="02020503050405090304"/>
                        </a:rPr>
                        <a:t>r4</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0">
                          <a:solidFill>
                            <a:srgbClr val="111111"/>
                          </a:solidFill>
                          <a:latin typeface="Times New Roman" panose="02020503050405090304"/>
                          <a:ea typeface="微软雅黑"/>
                          <a:cs typeface="Times New Roman" panose="02020503050405090304"/>
                        </a:rPr>
                        <a:t>r5</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0">
                          <a:solidFill>
                            <a:srgbClr val="111111"/>
                          </a:solidFill>
                          <a:latin typeface="Times New Roman" panose="02020503050405090304"/>
                          <a:ea typeface="微软雅黑"/>
                          <a:cs typeface="Times New Roman" panose="02020503050405090304"/>
                        </a:rPr>
                        <a:t>r6</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0">
                          <a:solidFill>
                            <a:srgbClr val="111111"/>
                          </a:solidFill>
                          <a:latin typeface="Times New Roman" panose="02020503050405090304"/>
                          <a:ea typeface="微软雅黑"/>
                          <a:cs typeface="Times New Roman" panose="02020503050405090304"/>
                        </a:rPr>
                        <a:t>r7</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50" b="0">
                          <a:solidFill>
                            <a:srgbClr val="111111"/>
                          </a:solidFill>
                          <a:latin typeface="Times New Roman" panose="02020503050405090304"/>
                          <a:ea typeface="微软雅黑"/>
                          <a:cs typeface="Times New Roman" panose="02020503050405090304"/>
                        </a:rPr>
                        <a:t>r8</a:t>
                      </a:r>
                      <a:endParaRPr sz="195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2" name="group-relative"/>
          <p:cNvSpPr>
            <a:spLocks noGrp="1"/>
          </p:cNvSpPr>
          <p:nvPr/>
        </p:nvSpPr>
        <p:spPr>
          <a:xfrm>
            <a:off x="742950" y="4076700"/>
            <a:ext cx="10706100" cy="409575"/>
          </a:xfrm>
          <a:prstGeom prst="rect">
            <a:avLst/>
          </a:prstGeom>
          <a:noFill/>
          <a:ln w="0">
            <a:noFill/>
          </a:ln>
        </p:spPr>
        <p:txBody>
          <a:bodyPr wrap="none" lIns="0" tIns="0" rIns="0" bIns="0" anchor="t">
            <a:noAutofit/>
          </a:bodyPr>
          <a:lstStyle/>
          <a:p>
            <a:pPr>
              <a:lnSpc>
                <a:spcPct val="108000"/>
              </a:lnSpc>
              <a:buNone/>
              <a:defRPr sz="2100" b="1">
                <a:solidFill>
                  <a:srgbClr val="357AE8"/>
                </a:solidFill>
                <a:latin typeface="Times New Roman" panose="02020503050405090304"/>
                <a:ea typeface="微软雅黑"/>
                <a:cs typeface="Times New Roman" panose="02020503050405090304"/>
              </a:defRPr>
            </a:pPr>
            <a:r>
              <a:rPr sz="2100" b="1">
                <a:solidFill>
                  <a:srgbClr val="357AE8"/>
                </a:solidFill>
                <a:latin typeface="Times New Roman" panose="02020503050405090304"/>
                <a:ea typeface="微软雅黑"/>
                <a:cs typeface="Times New Roman" panose="02020503050405090304"/>
              </a:rPr>
              <a:t>同组奖励提供参照，形成每条轨迹的相对优势。</a:t>
            </a:r>
            <a:endParaRPr sz="2100" b="1">
              <a:solidFill>
                <a:srgbClr val="357AE8"/>
              </a:solidFill>
              <a:latin typeface="Times New Roman" panose="02020503050405090304"/>
              <a:ea typeface="微软雅黑"/>
              <a:cs typeface="Times New Roman" panose="02020503050405090304"/>
            </a:endParaRPr>
          </a:p>
        </p:txBody>
      </p:sp>
      <p:sp>
        <p:nvSpPr>
          <p:cNvPr id="23" name="group-update"/>
          <p:cNvSpPr>
            <a:spLocks noGrp="1"/>
          </p:cNvSpPr>
          <p:nvPr/>
        </p:nvSpPr>
        <p:spPr>
          <a:xfrm>
            <a:off x="742950" y="4695825"/>
            <a:ext cx="10706100" cy="800100"/>
          </a:xfrm>
          <a:prstGeom prst="rect">
            <a:avLst/>
          </a:prstGeom>
          <a:noFill/>
          <a:ln w="0">
            <a:noFill/>
          </a:ln>
        </p:spPr>
        <p:txBody>
          <a:bodyPr wrap="none" lIns="0" tIns="0" rIns="0" bIns="0" anchor="t">
            <a:noAutofit/>
          </a:bodyPr>
          <a:lstStyle/>
          <a:p>
            <a:pPr>
              <a:lnSpc>
                <a:spcPct val="108000"/>
              </a:lnSpc>
              <a:buNone/>
              <a:defRPr sz="2025" b="0">
                <a:solidFill>
                  <a:srgbClr val="111111"/>
                </a:solidFill>
                <a:latin typeface="Times New Roman" panose="02020503050405090304"/>
                <a:ea typeface="微软雅黑"/>
                <a:cs typeface="Times New Roman" panose="02020503050405090304"/>
              </a:defRPr>
            </a:pPr>
            <a:r>
              <a:rPr sz="2025" b="0">
                <a:solidFill>
                  <a:srgbClr val="111111"/>
                </a:solidFill>
                <a:latin typeface="Times New Roman" panose="02020503050405090304"/>
                <a:ea typeface="微软雅黑"/>
                <a:cs typeface="Times New Roman" panose="02020503050405090304"/>
              </a:rPr>
              <a:t>优势可以为正、负或零，更新会改变类似输出的概率。</a:t>
            </a:r>
            <a:endParaRPr sz="2025" b="0">
              <a:solidFill>
                <a:srgbClr val="111111"/>
              </a:solidFill>
              <a:latin typeface="Times New Roman" panose="02020503050405090304"/>
              <a:ea typeface="微软雅黑"/>
              <a:cs typeface="Times New Roman" panose="02020503050405090304"/>
            </a:endParaRPr>
          </a:p>
          <a:p>
            <a:pPr>
              <a:lnSpc>
                <a:spcPct val="108000"/>
              </a:lnSpc>
              <a:buNone/>
              <a:defRPr sz="2025" b="0">
                <a:solidFill>
                  <a:srgbClr val="111111"/>
                </a:solidFill>
                <a:latin typeface="Times New Roman" panose="02020503050405090304"/>
                <a:ea typeface="微软雅黑"/>
                <a:cs typeface="Times New Roman" panose="02020503050405090304"/>
              </a:defRPr>
            </a:pPr>
            <a:r>
              <a:rPr sz="2025" b="0">
                <a:solidFill>
                  <a:srgbClr val="111111"/>
                </a:solidFill>
                <a:latin typeface="Times New Roman" panose="02020503050405090304"/>
                <a:ea typeface="微软雅黑"/>
                <a:cs typeface="Times New Roman" panose="02020503050405090304"/>
              </a:rPr>
              <a:t>这一步包含策略优化，不只是挑出最高分回答。</a:t>
            </a:r>
            <a:endParaRPr sz="2025" b="0">
              <a:solidFill>
                <a:srgbClr val="111111"/>
              </a:solidFill>
              <a:latin typeface="Times New Roman" panose="02020503050405090304"/>
              <a:ea typeface="微软雅黑"/>
              <a:cs typeface="Times New Roman" panose="02020503050405090304"/>
            </a:endParaRPr>
          </a:p>
        </p:txBody>
      </p:sp>
      <p:sp>
        <p:nvSpPr>
          <p:cNvPr id="24" name="key"/>
          <p:cNvSpPr>
            <a:spLocks noGrp="1"/>
          </p:cNvSpPr>
          <p:nvPr/>
        </p:nvSpPr>
        <p:spPr>
          <a:xfrm>
            <a:off x="742950" y="5857875"/>
            <a:ext cx="107061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此页为组内比较示意。下一页用抽象奖励数值说明优势如何计算。</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30"/>
                                        </p:tgtEl>
                                        <p:attrNameLst>
                                          <p:attrName>style.visibility</p:attrName>
                                        </p:attrNameLst>
                                      </p:cBhvr>
                                      <p:to>
                                        <p:strVal val="visible"/>
                                      </p:to>
                                    </p:set>
                                    <p:animEffect transition="in" filter="fade">
                                      <p:cBhvr>
                                        <p:cTn id="15" dur="350"/>
                                        <p:tgtEl>
                                          <p:spTgt spid="3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tgtEl>
                                          <p:spTgt spid="22"/>
                                        </p:tgtEl>
                                        <p:attrNameLst>
                                          <p:attrName>style.visibility</p:attrName>
                                        </p:attrNameLst>
                                      </p:cBhvr>
                                      <p:to>
                                        <p:strVal val="visible"/>
                                      </p:to>
                                    </p:set>
                                    <p:animEffect transition="in" filter="fade">
                                      <p:cBhvr>
                                        <p:cTn id="20" dur="35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tgtEl>
                                          <p:spTgt spid="23"/>
                                        </p:tgtEl>
                                        <p:attrNameLst>
                                          <p:attrName>style.visibility</p:attrName>
                                        </p:attrNameLst>
                                      </p:cBhvr>
                                      <p:to>
                                        <p:strVal val="visible"/>
                                      </p:to>
                                    </p:set>
                                    <p:animEffect transition="in" filter="fade">
                                      <p:cBhvr>
                                        <p:cTn id="25" dur="350"/>
                                        <p:tgtEl>
                                          <p:spTgt spid="23"/>
                                        </p:tgtEl>
                                      </p:cBhvr>
                                    </p:animEffect>
                                  </p:childTnLst>
                                </p:cTn>
                              </p:par>
                              <p:par>
                                <p:cTn id="26" presetID="10" presetClass="entr" presetSubtype="0" fill="hold" grpId="0" nodeType="withEffect">
                                  <p:stCondLst>
                                    <p:cond delay="0"/>
                                  </p:stCondLst>
                                  <p:childTnLst>
                                    <p:set>
                                      <p:cBhvr>
                                        <p:cTn id="27" dur="1" fill="hold"/>
                                        <p:tgtEl>
                                          <p:spTgt spid="24"/>
                                        </p:tgtEl>
                                        <p:attrNameLst>
                                          <p:attrName>style.visibility</p:attrName>
                                        </p:attrNameLst>
                                      </p:cBhvr>
                                      <p:to>
                                        <p:strVal val="visible"/>
                                      </p:to>
                                    </p:set>
                                    <p:animEffect transition="in" filter="fade">
                                      <p:cBhvr>
                                        <p:cTn id="28"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4"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latin typeface="Times New Roman" panose="02020503050405090304"/>
                <a:ea typeface="微软雅黑"/>
                <a:cs typeface="Times New Roman" panose="02020503050405090304"/>
                <a:sym typeface="+mn-ea"/>
              </a:rPr>
              <a:t>RL 核心概念</a:t>
            </a:r>
            <a:endParaRPr sz="2700" b="1">
              <a:solidFill>
                <a:srgbClr val="111111"/>
              </a:solidFill>
              <a:latin typeface="Times New Roman" panose="02020503050405090304"/>
              <a:ea typeface="微软雅黑"/>
              <a:cs typeface="Times New Roman" panose="02020503050405090304"/>
            </a:endParaRPr>
          </a:p>
        </p:txBody>
      </p:sp>
      <p:sp>
        <p:nvSpPr>
          <p:cNvPr id="28" name="adv-definition"/>
          <p:cNvSpPr>
            <a:spLocks noGrp="1"/>
          </p:cNvSpPr>
          <p:nvPr/>
        </p:nvSpPr>
        <p:spPr>
          <a:xfrm>
            <a:off x="742950" y="1104900"/>
            <a:ext cx="11049000" cy="781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奖励 r：这次尝试获得多少分。</a:t>
            </a:r>
            <a:endParaRPr sz="2000" b="0">
              <a:solidFill>
                <a:srgbClr val="111111"/>
              </a:solidFill>
              <a:latin typeface="Times New Roman" panose="02020503050405090304"/>
              <a:ea typeface="微软雅黑"/>
              <a:cs typeface="Times New Roman" panose="02020503050405090304"/>
            </a:endParaRPr>
          </a:p>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优势 A：相对于一个参照水平，好多少或差多少。</a:t>
            </a:r>
            <a:endParaRPr sz="2000" b="0">
              <a:solidFill>
                <a:srgbClr val="111111"/>
              </a:solidFill>
              <a:latin typeface="Times New Roman" panose="02020503050405090304"/>
              <a:ea typeface="微软雅黑"/>
              <a:cs typeface="Times New Roman" panose="02020503050405090304"/>
            </a:endParaRPr>
          </a:p>
        </p:txBody>
      </p:sp>
      <p:sp>
        <p:nvSpPr>
          <p:cNvPr id="29" name="adv-baseline"/>
          <p:cNvSpPr>
            <a:spLocks noGrp="1"/>
          </p:cNvSpPr>
          <p:nvPr/>
        </p:nvSpPr>
        <p:spPr>
          <a:xfrm>
            <a:off x="742950" y="1981200"/>
            <a:ext cx="11049000" cy="3429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baseline（基线）就是用来比较的参照水平，这里先设 b = 0.9。</a:t>
            </a:r>
            <a:endParaRPr sz="1800" b="0">
              <a:solidFill>
                <a:srgbClr val="111111"/>
              </a:solidFill>
              <a:latin typeface="Times New Roman" panose="02020503050405090304"/>
              <a:ea typeface="微软雅黑"/>
              <a:cs typeface="Times New Roman" panose="02020503050405090304"/>
            </a:endParaRPr>
          </a:p>
        </p:txBody>
      </p:sp>
      <p:sp>
        <p:nvSpPr>
          <p:cNvPr id="30" name="adv-intuition-formula"/>
          <p:cNvSpPr>
            <a:spLocks noGrp="1"/>
          </p:cNvSpPr>
          <p:nvPr/>
        </p:nvSpPr>
        <p:spPr>
          <a:xfrm>
            <a:off x="742950" y="2457450"/>
            <a:ext cx="11049000" cy="371475"/>
          </a:xfrm>
          <a:prstGeom prst="rect">
            <a:avLst/>
          </a:prstGeom>
          <a:noFill/>
          <a:ln w="0">
            <a:noFill/>
          </a:ln>
        </p:spPr>
        <p:txBody>
          <a:bodyPr wrap="none" lIns="0" tIns="0" rIns="0" bIns="0" anchor="t">
            <a:noAutofit/>
          </a:bodyPr>
          <a:lstStyle/>
          <a:p>
            <a:pPr>
              <a:lnSpc>
                <a:spcPct val="108000"/>
              </a:lnSpc>
              <a:buNone/>
              <a:defRPr sz="2100" b="1">
                <a:solidFill>
                  <a:srgbClr val="E60012"/>
                </a:solidFill>
                <a:latin typeface="Times New Roman" panose="02020503050405090304"/>
                <a:ea typeface="微软雅黑"/>
                <a:cs typeface="Times New Roman" panose="02020503050405090304"/>
              </a:defRPr>
            </a:pPr>
            <a:r>
              <a:rPr sz="2100" b="1">
                <a:solidFill>
                  <a:srgbClr val="E60012"/>
                </a:solidFill>
                <a:latin typeface="Times New Roman" panose="02020503050405090304"/>
                <a:ea typeface="微软雅黑"/>
                <a:cs typeface="Times New Roman" panose="02020503050405090304"/>
              </a:rPr>
              <a:t>简化理解（未归一化）：优势 A = 奖励 r − 基线 b</a:t>
            </a:r>
            <a:endParaRPr sz="2100" b="1">
              <a:solidFill>
                <a:srgbClr val="E60012"/>
              </a:solidFill>
              <a:latin typeface="Times New Roman" panose="02020503050405090304"/>
              <a:ea typeface="微软雅黑"/>
              <a:cs typeface="Times New Roman" panose="02020503050405090304"/>
            </a:endParaRPr>
          </a:p>
        </p:txBody>
      </p:sp>
      <p:graphicFrame>
        <p:nvGraphicFramePr>
          <p:cNvPr id="40" name="adv-example-table"/>
          <p:cNvGraphicFramePr/>
          <p:nvPr/>
        </p:nvGraphicFramePr>
        <p:xfrm>
          <a:off x="742950" y="3086100"/>
          <a:ext cx="10706100" cy="1981200"/>
        </p:xfrm>
        <a:graphic>
          <a:graphicData uri="http://schemas.openxmlformats.org/drawingml/2006/table">
            <a:tbl>
              <a:tblPr/>
              <a:tblGrid>
                <a:gridCol w="1619250"/>
                <a:gridCol w="1381125"/>
                <a:gridCol w="1381125"/>
                <a:gridCol w="1752600"/>
                <a:gridCol w="4572000"/>
              </a:tblGrid>
              <a:tr h="495300">
                <a:tc>
                  <a:txBody>
                    <a:bodyPr>
                      <a:spAutoFit/>
                    </a:bodyPr>
                    <a:lstStyle/>
                    <a:p>
                      <a:pPr algn="ctr"/>
                      <a:r>
                        <a:rPr sz="1900" b="1">
                          <a:solidFill>
                            <a:srgbClr val="111111"/>
                          </a:solidFill>
                          <a:latin typeface="Times New Roman" panose="02020503050405090304"/>
                          <a:ea typeface="微软雅黑"/>
                          <a:cs typeface="Times New Roman" panose="02020503050405090304"/>
                        </a:rPr>
                        <a:t>尝试</a:t>
                      </a:r>
                      <a:endParaRPr sz="19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1">
                          <a:solidFill>
                            <a:srgbClr val="111111"/>
                          </a:solidFill>
                          <a:latin typeface="Times New Roman" panose="02020503050405090304"/>
                          <a:ea typeface="微软雅黑"/>
                          <a:cs typeface="Times New Roman" panose="02020503050405090304"/>
                        </a:rPr>
                        <a:t>奖励 r</a:t>
                      </a:r>
                      <a:endParaRPr sz="19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1">
                          <a:solidFill>
                            <a:srgbClr val="111111"/>
                          </a:solidFill>
                          <a:latin typeface="Times New Roman" panose="02020503050405090304"/>
                          <a:ea typeface="微软雅黑"/>
                          <a:cs typeface="Times New Roman" panose="02020503050405090304"/>
                        </a:rPr>
                        <a:t>基线 b</a:t>
                      </a:r>
                      <a:endParaRPr sz="19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1">
                          <a:solidFill>
                            <a:srgbClr val="111111"/>
                          </a:solidFill>
                          <a:latin typeface="Times New Roman" panose="02020503050405090304"/>
                          <a:ea typeface="微软雅黑"/>
                          <a:cs typeface="Times New Roman" panose="02020503050405090304"/>
                        </a:rPr>
                        <a:t>优势 A</a:t>
                      </a:r>
                      <a:endParaRPr sz="19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900" b="1">
                          <a:solidFill>
                            <a:srgbClr val="111111"/>
                          </a:solidFill>
                          <a:latin typeface="Times New Roman" panose="02020503050405090304"/>
                          <a:ea typeface="微软雅黑"/>
                          <a:cs typeface="Times New Roman" panose="02020503050405090304"/>
                        </a:rPr>
                        <a:t>优势给出的方向</a:t>
                      </a:r>
                      <a:endParaRPr sz="1900"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95300">
                <a:tc>
                  <a:txBody>
                    <a:bodyPr>
                      <a:spAutoFit/>
                    </a:bodyPr>
                    <a:lstStyle/>
                    <a:p>
                      <a:pPr algn="ctr"/>
                      <a:r>
                        <a:rPr sz="1900" b="0">
                          <a:solidFill>
                            <a:srgbClr val="111111"/>
                          </a:solidFill>
                          <a:latin typeface="Times New Roman" panose="02020503050405090304"/>
                          <a:ea typeface="微软雅黑"/>
                          <a:cs typeface="Times New Roman" panose="02020503050405090304"/>
                        </a:rPr>
                        <a:t>rollout 1</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111111"/>
                          </a:solidFill>
                          <a:latin typeface="Times New Roman" panose="02020503050405090304"/>
                          <a:ea typeface="微软雅黑"/>
                          <a:cs typeface="Times New Roman" panose="02020503050405090304"/>
                        </a:rPr>
                        <a:t>1.5</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111111"/>
                          </a:solidFill>
                          <a:latin typeface="Times New Roman" panose="02020503050405090304"/>
                          <a:ea typeface="微软雅黑"/>
                          <a:cs typeface="Times New Roman" panose="02020503050405090304"/>
                        </a:rPr>
                        <a:t>0.9</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25864D"/>
                          </a:solidFill>
                          <a:latin typeface="Times New Roman" panose="02020503050405090304"/>
                          <a:ea typeface="微软雅黑"/>
                          <a:cs typeface="Times New Roman" panose="02020503050405090304"/>
                        </a:rPr>
                        <a:t>+0.6</a:t>
                      </a:r>
                      <a:endParaRPr sz="1900" b="0">
                        <a:solidFill>
                          <a:srgbClr val="25864D"/>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900" b="0">
                          <a:solidFill>
                            <a:srgbClr val="25864D"/>
                          </a:solidFill>
                          <a:latin typeface="Times New Roman" panose="02020503050405090304"/>
                          <a:ea typeface="微软雅黑"/>
                          <a:cs typeface="Times New Roman" panose="02020503050405090304"/>
                        </a:rPr>
                        <a:t>提高类似输出的概率</a:t>
                      </a:r>
                      <a:endParaRPr sz="1900" b="0">
                        <a:solidFill>
                          <a:srgbClr val="25864D"/>
                        </a:solidFill>
                        <a:latin typeface="Times New Roman" panose="02020503050405090304"/>
                        <a:ea typeface="微软雅黑"/>
                        <a:cs typeface="Times New Roman" panose="02020503050405090304"/>
                      </a:endParaRPr>
                    </a:p>
                  </a:txBody>
                  <a:tcPr anchor="ctr">
                    <a:solidFill>
                      <a:srgbClr val="FFFFFF"/>
                    </a:solidFill>
                  </a:tcPr>
                </a:tc>
              </a:tr>
              <a:tr h="495300">
                <a:tc>
                  <a:txBody>
                    <a:bodyPr>
                      <a:spAutoFit/>
                    </a:bodyPr>
                    <a:lstStyle/>
                    <a:p>
                      <a:pPr algn="ctr"/>
                      <a:r>
                        <a:rPr sz="1900" b="0">
                          <a:solidFill>
                            <a:srgbClr val="111111"/>
                          </a:solidFill>
                          <a:latin typeface="Times New Roman" panose="02020503050405090304"/>
                          <a:ea typeface="微软雅黑"/>
                          <a:cs typeface="Times New Roman" panose="02020503050405090304"/>
                        </a:rPr>
                        <a:t>rollout 2</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111111"/>
                          </a:solidFill>
                          <a:latin typeface="Times New Roman" panose="02020503050405090304"/>
                          <a:ea typeface="微软雅黑"/>
                          <a:cs typeface="Times New Roman" panose="02020503050405090304"/>
                        </a:rPr>
                        <a:t>0.6</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111111"/>
                          </a:solidFill>
                          <a:latin typeface="Times New Roman" panose="02020503050405090304"/>
                          <a:ea typeface="微软雅黑"/>
                          <a:cs typeface="Times New Roman" panose="02020503050405090304"/>
                        </a:rPr>
                        <a:t>0.9</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D73038"/>
                          </a:solidFill>
                          <a:latin typeface="Times New Roman" panose="02020503050405090304"/>
                          <a:ea typeface="微软雅黑"/>
                          <a:cs typeface="Times New Roman" panose="02020503050405090304"/>
                        </a:rPr>
                        <a:t>−0.3</a:t>
                      </a:r>
                      <a:endParaRPr sz="1900" b="0">
                        <a:solidFill>
                          <a:srgbClr val="D73038"/>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900" b="0">
                          <a:solidFill>
                            <a:srgbClr val="D73038"/>
                          </a:solidFill>
                          <a:latin typeface="Times New Roman" panose="02020503050405090304"/>
                          <a:ea typeface="微软雅黑"/>
                          <a:cs typeface="Times New Roman" panose="02020503050405090304"/>
                        </a:rPr>
                        <a:t>降低类似输出的概率</a:t>
                      </a:r>
                      <a:endParaRPr sz="1900" b="0">
                        <a:solidFill>
                          <a:srgbClr val="D73038"/>
                        </a:solidFill>
                        <a:latin typeface="Times New Roman" panose="02020503050405090304"/>
                        <a:ea typeface="微软雅黑"/>
                        <a:cs typeface="Times New Roman" panose="02020503050405090304"/>
                      </a:endParaRPr>
                    </a:p>
                  </a:txBody>
                  <a:tcPr anchor="ctr">
                    <a:solidFill>
                      <a:srgbClr val="FFFFFF"/>
                    </a:solidFill>
                  </a:tcPr>
                </a:tc>
              </a:tr>
              <a:tr h="495300">
                <a:tc>
                  <a:txBody>
                    <a:bodyPr>
                      <a:spAutoFit/>
                    </a:bodyPr>
                    <a:lstStyle/>
                    <a:p>
                      <a:pPr algn="ctr"/>
                      <a:r>
                        <a:rPr sz="1900" b="0">
                          <a:solidFill>
                            <a:srgbClr val="111111"/>
                          </a:solidFill>
                          <a:latin typeface="Times New Roman" panose="02020503050405090304"/>
                          <a:ea typeface="微软雅黑"/>
                          <a:cs typeface="Times New Roman" panose="02020503050405090304"/>
                        </a:rPr>
                        <a:t>rollout 3</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111111"/>
                          </a:solidFill>
                          <a:latin typeface="Times New Roman" panose="02020503050405090304"/>
                          <a:ea typeface="微软雅黑"/>
                          <a:cs typeface="Times New Roman" panose="02020503050405090304"/>
                        </a:rPr>
                        <a:t>1.8</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111111"/>
                          </a:solidFill>
                          <a:latin typeface="Times New Roman" panose="02020503050405090304"/>
                          <a:ea typeface="微软雅黑"/>
                          <a:cs typeface="Times New Roman" panose="02020503050405090304"/>
                        </a:rPr>
                        <a:t>0.9</a:t>
                      </a:r>
                      <a:endParaRPr sz="19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900" b="0">
                          <a:solidFill>
                            <a:srgbClr val="25864D"/>
                          </a:solidFill>
                          <a:latin typeface="Times New Roman" panose="02020503050405090304"/>
                          <a:ea typeface="微软雅黑"/>
                          <a:cs typeface="Times New Roman" panose="02020503050405090304"/>
                        </a:rPr>
                        <a:t>+0.9</a:t>
                      </a:r>
                      <a:endParaRPr sz="1900" b="0">
                        <a:solidFill>
                          <a:srgbClr val="25864D"/>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900" b="0">
                          <a:solidFill>
                            <a:srgbClr val="25864D"/>
                          </a:solidFill>
                          <a:latin typeface="Times New Roman" panose="02020503050405090304"/>
                          <a:ea typeface="微软雅黑"/>
                          <a:cs typeface="Times New Roman" panose="02020503050405090304"/>
                        </a:rPr>
                        <a:t>提高类似输出的概率</a:t>
                      </a:r>
                      <a:endParaRPr sz="1900" b="0">
                        <a:solidFill>
                          <a:srgbClr val="25864D"/>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32" name="adv-key"/>
          <p:cNvSpPr>
            <a:spLocks noGrp="1"/>
          </p:cNvSpPr>
          <p:nvPr/>
        </p:nvSpPr>
        <p:spPr>
          <a:xfrm>
            <a:off x="742950" y="5343525"/>
            <a:ext cx="11049000" cy="342900"/>
          </a:xfrm>
          <a:prstGeom prst="rect">
            <a:avLst/>
          </a:prstGeom>
          <a:noFill/>
          <a:ln w="0">
            <a:noFill/>
          </a:ln>
        </p:spPr>
        <p:txBody>
          <a:bodyPr wrap="none" lIns="0" tIns="0" rIns="0" bIns="0" anchor="t">
            <a:noAutofit/>
          </a:bodyPr>
          <a:lstStyle/>
          <a:p>
            <a:pPr>
              <a:lnSpc>
                <a:spcPct val="108000"/>
              </a:lnSpc>
              <a:buNone/>
              <a:defRPr sz="2000" b="1">
                <a:solidFill>
                  <a:srgbClr val="E60012"/>
                </a:solidFill>
                <a:latin typeface="Times New Roman" panose="02020503050405090304"/>
                <a:ea typeface="微软雅黑"/>
                <a:cs typeface="Times New Roman" panose="02020503050405090304"/>
              </a:defRPr>
            </a:pPr>
            <a:r>
              <a:rPr sz="2000" b="1">
                <a:solidFill>
                  <a:srgbClr val="E60012"/>
                </a:solidFill>
                <a:latin typeface="Times New Roman" panose="02020503050405090304"/>
                <a:ea typeface="微软雅黑"/>
                <a:cs typeface="Times New Roman" panose="02020503050405090304"/>
              </a:rPr>
              <a:t>奖励为正，优势也可能为负：0.6 分低于基线 0.9。</a:t>
            </a:r>
            <a:endParaRPr sz="2000" b="1">
              <a:solidFill>
                <a:srgbClr val="E60012"/>
              </a:solidFill>
              <a:latin typeface="Times New Roman" panose="02020503050405090304"/>
              <a:ea typeface="微软雅黑"/>
              <a:cs typeface="Times New Roman" panose="02020503050405090304"/>
            </a:endParaRPr>
          </a:p>
        </p:txBody>
      </p:sp>
      <p:sp>
        <p:nvSpPr>
          <p:cNvPr id="33" name="adv-bridge"/>
          <p:cNvSpPr>
            <a:spLocks noGrp="1"/>
          </p:cNvSpPr>
          <p:nvPr/>
        </p:nvSpPr>
        <p:spPr>
          <a:xfrm>
            <a:off x="742950" y="5829300"/>
            <a:ext cx="11049000" cy="3048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接下来要解决：参照水平从哪里来？GRPO 如何计算相对优势？</a:t>
            </a:r>
            <a:endParaRPr sz="180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8"/>
                                        </p:tgtEl>
                                        <p:attrNameLst>
                                          <p:attrName>style.visibility</p:attrName>
                                        </p:attrNameLst>
                                      </p:cBhvr>
                                      <p:to>
                                        <p:strVal val="visible"/>
                                      </p:to>
                                    </p:set>
                                    <p:animEffect transition="in" filter="fade">
                                      <p:cBhvr>
                                        <p:cTn id="7" dur="350"/>
                                        <p:tgtEl>
                                          <p:spTgt spid="28"/>
                                        </p:tgtEl>
                                      </p:cBhvr>
                                    </p:animEffect>
                                  </p:childTnLst>
                                </p:cTn>
                              </p:par>
                              <p:par>
                                <p:cTn id="8" presetID="10" presetClass="entr" presetSubtype="0" fill="hold" grpId="0" nodeType="withEffect">
                                  <p:stCondLst>
                                    <p:cond delay="0"/>
                                  </p:stCondLst>
                                  <p:childTnLst>
                                    <p:set>
                                      <p:cBhvr>
                                        <p:cTn id="9" dur="1" fill="hold"/>
                                        <p:tgtEl>
                                          <p:spTgt spid="29"/>
                                        </p:tgtEl>
                                        <p:attrNameLst>
                                          <p:attrName>style.visibility</p:attrName>
                                        </p:attrNameLst>
                                      </p:cBhvr>
                                      <p:to>
                                        <p:strVal val="visible"/>
                                      </p:to>
                                    </p:set>
                                    <p:animEffect transition="in" filter="fade">
                                      <p:cBhvr>
                                        <p:cTn id="10" dur="350"/>
                                        <p:tgtEl>
                                          <p:spTgt spid="2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30"/>
                                        </p:tgtEl>
                                        <p:attrNameLst>
                                          <p:attrName>style.visibility</p:attrName>
                                        </p:attrNameLst>
                                      </p:cBhvr>
                                      <p:to>
                                        <p:strVal val="visible"/>
                                      </p:to>
                                    </p:set>
                                    <p:animEffect transition="in" filter="fade">
                                      <p:cBhvr>
                                        <p:cTn id="15" dur="350"/>
                                        <p:tgtEl>
                                          <p:spTgt spid="30"/>
                                        </p:tgtEl>
                                      </p:cBhvr>
                                    </p:animEffect>
                                  </p:childTnLst>
                                </p:cTn>
                              </p:par>
                              <p:par>
                                <p:cTn id="16" presetID="10" presetClass="entr" presetSubtype="0" fill="hold" grpId="0" nodeType="withEffect">
                                  <p:stCondLst>
                                    <p:cond delay="0"/>
                                  </p:stCondLst>
                                  <p:childTnLst>
                                    <p:set>
                                      <p:cBhvr>
                                        <p:cTn id="17" dur="1" fill="hold"/>
                                        <p:tgtEl>
                                          <p:spTgt spid="40"/>
                                        </p:tgtEl>
                                        <p:attrNameLst>
                                          <p:attrName>style.visibility</p:attrName>
                                        </p:attrNameLst>
                                      </p:cBhvr>
                                      <p:to>
                                        <p:strVal val="visible"/>
                                      </p:to>
                                    </p:set>
                                    <p:animEffect transition="in" filter="fade">
                                      <p:cBhvr>
                                        <p:cTn id="18" dur="350"/>
                                        <p:tgtEl>
                                          <p:spTgt spid="4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32"/>
                                        </p:tgtEl>
                                        <p:attrNameLst>
                                          <p:attrName>style.visibility</p:attrName>
                                        </p:attrNameLst>
                                      </p:cBhvr>
                                      <p:to>
                                        <p:strVal val="visible"/>
                                      </p:to>
                                    </p:set>
                                    <p:animEffect transition="in" filter="fade">
                                      <p:cBhvr>
                                        <p:cTn id="23" dur="350"/>
                                        <p:tgtEl>
                                          <p:spTgt spid="32"/>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tgtEl>
                                          <p:spTgt spid="33"/>
                                        </p:tgtEl>
                                        <p:attrNameLst>
                                          <p:attrName>style.visibility</p:attrName>
                                        </p:attrNameLst>
                                      </p:cBhvr>
                                      <p:to>
                                        <p:strVal val="visible"/>
                                      </p:to>
                                    </p:set>
                                    <p:animEffect transition="in" filter="fade">
                                      <p:cBhvr>
                                        <p:cTn id="28" dur="35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1"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latin typeface="Times New Roman" panose="02020503050405090304"/>
                <a:ea typeface="微软雅黑"/>
                <a:cs typeface="Times New Roman" panose="02020503050405090304"/>
                <a:sym typeface="+mn-ea"/>
              </a:rPr>
              <a:t>RL 核心概念</a:t>
            </a:r>
            <a:endParaRPr sz="2700" b="1">
              <a:solidFill>
                <a:srgbClr val="111111"/>
              </a:solidFill>
              <a:latin typeface="Times New Roman" panose="02020503050405090304"/>
              <a:ea typeface="微软雅黑"/>
              <a:cs typeface="Times New Roman" panose="02020503050405090304"/>
            </a:endParaRPr>
          </a:p>
        </p:txBody>
      </p:sp>
      <p:sp>
        <p:nvSpPr>
          <p:cNvPr id="19" name="ppo-label"/>
          <p:cNvSpPr>
            <a:spLocks noGrp="1"/>
          </p:cNvSpPr>
          <p:nvPr/>
        </p:nvSpPr>
        <p:spPr>
          <a:xfrm>
            <a:off x="742950" y="1104900"/>
            <a:ext cx="1571625" cy="323850"/>
          </a:xfrm>
          <a:prstGeom prst="rect">
            <a:avLst/>
          </a:prstGeom>
          <a:noFill/>
          <a:ln w="0">
            <a:noFill/>
          </a:ln>
        </p:spPr>
        <p:txBody>
          <a:bodyPr wrap="none" lIns="0" tIns="0" rIns="0" bIns="0" anchor="t">
            <a:noAutofit/>
          </a:bodyPr>
          <a:lstStyle/>
          <a:p>
            <a:pPr>
              <a:lnSpc>
                <a:spcPct val="108000"/>
              </a:lnSpc>
              <a:buNone/>
              <a:defRPr sz="2000" b="1">
                <a:solidFill>
                  <a:srgbClr val="E60012"/>
                </a:solidFill>
                <a:latin typeface="Times New Roman" panose="02020503050405090304"/>
                <a:ea typeface="微软雅黑"/>
                <a:cs typeface="Times New Roman" panose="02020503050405090304"/>
              </a:defRPr>
            </a:pPr>
            <a:r>
              <a:rPr sz="2000" b="1">
                <a:solidFill>
                  <a:srgbClr val="E60012"/>
                </a:solidFill>
                <a:latin typeface="Times New Roman" panose="02020503050405090304"/>
                <a:ea typeface="微软雅黑"/>
                <a:cs typeface="Times New Roman" panose="02020503050405090304"/>
              </a:rPr>
              <a:t>PPO 思路：</a:t>
            </a:r>
            <a:endParaRPr sz="2000" b="1">
              <a:solidFill>
                <a:srgbClr val="E60012"/>
              </a:solidFill>
              <a:latin typeface="Times New Roman" panose="02020503050405090304"/>
              <a:ea typeface="微软雅黑"/>
              <a:cs typeface="Times New Roman" panose="02020503050405090304"/>
            </a:endParaRPr>
          </a:p>
        </p:txBody>
      </p:sp>
      <p:sp>
        <p:nvSpPr>
          <p:cNvPr id="20" name="ppo-context"/>
          <p:cNvSpPr>
            <a:spLocks noGrp="1"/>
          </p:cNvSpPr>
          <p:nvPr/>
        </p:nvSpPr>
        <p:spPr>
          <a:xfrm>
            <a:off x="2266950" y="1104900"/>
            <a:ext cx="9525000" cy="6858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用优势信号指导策略更新，通常借助 Critic 估计价值。</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Clip 抑制过大的策略变化，GRPO 保留这一思路。</a:t>
            </a:r>
            <a:endParaRPr sz="1800" b="0">
              <a:solidFill>
                <a:srgbClr val="111111"/>
              </a:solidFill>
              <a:latin typeface="Times New Roman" panose="02020503050405090304"/>
              <a:ea typeface="微软雅黑"/>
              <a:cs typeface="Times New Roman" panose="02020503050405090304"/>
            </a:endParaRPr>
          </a:p>
        </p:txBody>
      </p:sp>
      <p:sp>
        <p:nvSpPr>
          <p:cNvPr id="21" name="grpo-key"/>
          <p:cNvSpPr>
            <a:spLocks noGrp="1"/>
          </p:cNvSpPr>
          <p:nvPr/>
        </p:nvSpPr>
        <p:spPr>
          <a:xfrm>
            <a:off x="742950" y="1876425"/>
            <a:ext cx="11049000" cy="342900"/>
          </a:xfrm>
          <a:prstGeom prst="rect">
            <a:avLst/>
          </a:prstGeom>
          <a:noFill/>
          <a:ln w="0">
            <a:noFill/>
          </a:ln>
        </p:spPr>
        <p:txBody>
          <a:bodyPr wrap="none" lIns="0" tIns="0" rIns="0" bIns="0" anchor="t">
            <a:noAutofit/>
          </a:bodyPr>
          <a:lstStyle/>
          <a:p>
            <a:pPr>
              <a:lnSpc>
                <a:spcPct val="108000"/>
              </a:lnSpc>
              <a:buNone/>
              <a:defRPr sz="2000" b="1">
                <a:solidFill>
                  <a:srgbClr val="E60012"/>
                </a:solidFill>
                <a:latin typeface="Times New Roman" panose="02020503050405090304"/>
                <a:ea typeface="微软雅黑"/>
                <a:cs typeface="Times New Roman" panose="02020503050405090304"/>
              </a:defRPr>
            </a:pPr>
            <a:r>
              <a:rPr sz="2000" b="1">
                <a:solidFill>
                  <a:srgbClr val="E60012"/>
                </a:solidFill>
                <a:latin typeface="Times New Roman" panose="02020503050405090304"/>
                <a:ea typeface="微软雅黑"/>
                <a:cs typeface="Times New Roman" panose="02020503050405090304"/>
              </a:rPr>
              <a:t>GRPO 用同一问题的多次尝试相互比较，无需额外训练 Critic。</a:t>
            </a:r>
            <a:endParaRPr sz="2000" b="1">
              <a:solidFill>
                <a:srgbClr val="E60012"/>
              </a:solidFill>
              <a:latin typeface="Times New Roman" panose="02020503050405090304"/>
              <a:ea typeface="微软雅黑"/>
              <a:cs typeface="Times New Roman" panose="02020503050405090304"/>
            </a:endParaRPr>
          </a:p>
        </p:txBody>
      </p:sp>
      <p:pic>
        <p:nvPicPr>
          <p:cNvPr id="37" name="grpo-diagram"/>
          <p:cNvPicPr>
            <a:picLocks noChangeAspect="1"/>
          </p:cNvPicPr>
          <p:nvPr/>
        </p:nvPicPr>
        <p:blipFill>
          <a:blip r:embed="rId2"/>
          <a:stretch>
            <a:fillRect/>
          </a:stretch>
        </p:blipFill>
        <p:spPr>
          <a:xfrm>
            <a:off x="666750" y="2286000"/>
            <a:ext cx="10477500" cy="2792542"/>
          </a:xfrm>
          <a:prstGeom prst="rect">
            <a:avLst/>
          </a:prstGeom>
        </p:spPr>
      </p:pic>
      <p:sp>
        <p:nvSpPr>
          <p:cNvPr id="23" name="adv-formula"/>
          <p:cNvSpPr>
            <a:spLocks noGrp="1"/>
          </p:cNvSpPr>
          <p:nvPr/>
        </p:nvSpPr>
        <p:spPr>
          <a:xfrm>
            <a:off x="742950" y="5457825"/>
            <a:ext cx="5810250" cy="342900"/>
          </a:xfrm>
          <a:prstGeom prst="rect">
            <a:avLst/>
          </a:prstGeom>
          <a:noFill/>
          <a:ln w="0">
            <a:noFill/>
          </a:ln>
        </p:spPr>
        <p:txBody>
          <a:bodyPr wrap="none" lIns="0" tIns="0" rIns="0" bIns="0" anchor="t">
            <a:noAutofit/>
          </a:bodyPr>
          <a:lstStyle/>
          <a:p>
            <a:pPr>
              <a:lnSpc>
                <a:spcPct val="108000"/>
              </a:lnSpc>
              <a:buNone/>
              <a:defRPr sz="2025" b="1">
                <a:solidFill>
                  <a:srgbClr val="111111"/>
                </a:solidFill>
                <a:latin typeface="Times New Roman" panose="02020503050405090304"/>
                <a:ea typeface="微软雅黑"/>
                <a:cs typeface="Times New Roman" panose="02020503050405090304"/>
              </a:defRPr>
            </a:pPr>
            <a:r>
              <a:rPr sz="2025" b="1">
                <a:solidFill>
                  <a:srgbClr val="111111"/>
                </a:solidFill>
                <a:latin typeface="Times New Roman" panose="02020503050405090304"/>
                <a:ea typeface="微软雅黑"/>
                <a:cs typeface="Times New Roman" panose="02020503050405090304"/>
              </a:rPr>
              <a:t>GRPO 优势：Aᵢ = (rᵢ − μ) / σ</a:t>
            </a:r>
            <a:endParaRPr sz="2025" b="1">
              <a:solidFill>
                <a:srgbClr val="111111"/>
              </a:solidFill>
              <a:latin typeface="Times New Roman" panose="02020503050405090304"/>
              <a:ea typeface="微软雅黑"/>
              <a:cs typeface="Times New Roman" panose="02020503050405090304"/>
            </a:endParaRPr>
          </a:p>
        </p:txBody>
      </p:sp>
      <p:sp>
        <p:nvSpPr>
          <p:cNvPr id="24" name="adv-legend"/>
          <p:cNvSpPr>
            <a:spLocks noGrp="1"/>
          </p:cNvSpPr>
          <p:nvPr/>
        </p:nvSpPr>
        <p:spPr>
          <a:xfrm>
            <a:off x="7010400" y="5505450"/>
            <a:ext cx="4648200" cy="3048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μ：组内均值    σ：组内标准差</a:t>
            </a:r>
            <a:endParaRPr sz="1650" b="0">
              <a:solidFill>
                <a:srgbClr val="111111"/>
              </a:solidFill>
              <a:latin typeface="Times New Roman" panose="02020503050405090304"/>
              <a:ea typeface="微软雅黑"/>
              <a:cs typeface="Times New Roman" panose="02020503050405090304"/>
            </a:endParaRPr>
          </a:p>
        </p:txBody>
      </p:sp>
      <p:sp>
        <p:nvSpPr>
          <p:cNvPr id="25" name="adv-stats"/>
          <p:cNvSpPr>
            <a:spLocks noGrp="1"/>
          </p:cNvSpPr>
          <p:nvPr/>
        </p:nvSpPr>
        <p:spPr>
          <a:xfrm>
            <a:off x="742950" y="5857875"/>
            <a:ext cx="6000750" cy="3048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μ = 0.9，σ ≈ 0.566；1.5 分对应 A ≈ +1.06</a:t>
            </a:r>
            <a:endParaRPr sz="1650" b="0">
              <a:solidFill>
                <a:srgbClr val="111111"/>
              </a:solidFill>
              <a:latin typeface="Times New Roman" panose="02020503050405090304"/>
              <a:ea typeface="微软雅黑"/>
              <a:cs typeface="Times New Roman" panose="02020503050405090304"/>
            </a:endParaRPr>
          </a:p>
        </p:txBody>
      </p:sp>
      <p:sp>
        <p:nvSpPr>
          <p:cNvPr id="26" name="adv-positive"/>
          <p:cNvSpPr>
            <a:spLocks noGrp="1"/>
          </p:cNvSpPr>
          <p:nvPr/>
        </p:nvSpPr>
        <p:spPr>
          <a:xfrm>
            <a:off x="7010400" y="5857875"/>
            <a:ext cx="4648200" cy="3048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除以标准差，统一差值的尺度。</a:t>
            </a:r>
            <a:endParaRPr sz="1650" b="0">
              <a:solidFill>
                <a:srgbClr val="111111"/>
              </a:solidFill>
              <a:latin typeface="Times New Roman" panose="02020503050405090304"/>
              <a:ea typeface="微软雅黑"/>
              <a:cs typeface="Times New Roman" panose="02020503050405090304"/>
            </a:endParaRPr>
          </a:p>
        </p:txBody>
      </p:sp>
      <p:sp>
        <p:nvSpPr>
          <p:cNvPr id="29" name="diagram-disclosure"/>
          <p:cNvSpPr>
            <a:spLocks noGrp="1"/>
          </p:cNvSpPr>
          <p:nvPr/>
        </p:nvSpPr>
        <p:spPr>
          <a:xfrm>
            <a:off x="10191750" y="2276475"/>
            <a:ext cx="1428750" cy="247650"/>
          </a:xfrm>
          <a:prstGeom prst="rect">
            <a:avLst/>
          </a:prstGeom>
          <a:noFill/>
          <a:ln w="0">
            <a:noFill/>
          </a:ln>
        </p:spPr>
        <p:txBody>
          <a:bodyPr wrap="none" lIns="0" tIns="0" rIns="0" bIns="0">
            <a:noAutofit/>
          </a:bodyPr>
          <a:lstStyle/>
          <a:p>
            <a:pPr>
              <a:defRPr sz="1350">
                <a:solidFill>
                  <a:srgbClr val="777777"/>
                </a:solidFill>
                <a:latin typeface="Times New Roman" panose="02020503050405090304"/>
                <a:ea typeface="微软雅黑"/>
                <a:cs typeface="Times New Roman" panose="02020503050405090304"/>
              </a:defRPr>
            </a:pPr>
            <a:r>
              <a:rPr sz="1350">
                <a:solidFill>
                  <a:srgbClr val="777777"/>
                </a:solidFill>
                <a:latin typeface="Times New Roman" panose="02020503050405090304"/>
                <a:ea typeface="微软雅黑"/>
                <a:cs typeface="Times New Roman" panose="02020503050405090304"/>
              </a:rPr>
              <a:t>流程示意</a:t>
            </a:r>
            <a:endParaRPr sz="1350">
              <a:solidFill>
                <a:srgbClr val="777777"/>
              </a:solidFill>
              <a:latin typeface="Times New Roman" panose="02020503050405090304"/>
              <a:ea typeface="微软雅黑"/>
              <a:cs typeface="Times New Roman" panose="02020503050405090304"/>
            </a:endParaRPr>
          </a:p>
        </p:txBody>
      </p:sp>
      <p:sp>
        <p:nvSpPr>
          <p:cNvPr id="30" name="reward-array"/>
          <p:cNvSpPr>
            <a:spLocks noGrp="1"/>
          </p:cNvSpPr>
          <p:nvPr/>
        </p:nvSpPr>
        <p:spPr>
          <a:xfrm>
            <a:off x="742950" y="5143500"/>
            <a:ext cx="10763250" cy="266700"/>
          </a:xfrm>
          <a:prstGeom prst="rect">
            <a:avLst/>
          </a:prstGeom>
          <a:noFill/>
          <a:ln w="0">
            <a:noFill/>
          </a:ln>
        </p:spPr>
        <p:txBody>
          <a:bodyPr wrap="none" lIns="0" tIns="0" rIns="0" bIns="0">
            <a:noAutofit/>
          </a:bodyPr>
          <a:lstStyle/>
          <a:p>
            <a:pPr>
              <a:defRPr sz="1500">
                <a:solidFill>
                  <a:srgbClr val="111111"/>
                </a:solidFill>
                <a:latin typeface="Times New Roman" panose="02020503050405090304"/>
                <a:ea typeface="微软雅黑"/>
                <a:cs typeface="Times New Roman" panose="02020503050405090304"/>
              </a:defRPr>
            </a:pPr>
            <a:r>
              <a:rPr sz="1500">
                <a:solidFill>
                  <a:srgbClr val="111111"/>
                </a:solidFill>
                <a:latin typeface="Times New Roman" panose="02020503050405090304"/>
                <a:ea typeface="微软雅黑"/>
                <a:cs typeface="Times New Roman" panose="02020503050405090304"/>
              </a:rPr>
              <a:t>计算示例（8 条奖励）：[1.5, 0.6, 1.8, 0.3, 0.9, 1.2, 0.2, 0.7]</a:t>
            </a:r>
            <a:endParaRPr sz="150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tgtEl>
                                          <p:spTgt spid="37"/>
                                        </p:tgtEl>
                                        <p:attrNameLst>
                                          <p:attrName>style.visibility</p:attrName>
                                        </p:attrNameLst>
                                      </p:cBhvr>
                                      <p:to>
                                        <p:strVal val="visible"/>
                                      </p:to>
                                    </p:set>
                                    <p:animEffect transition="in" filter="fade">
                                      <p:cBhvr>
                                        <p:cTn id="18" dur="350"/>
                                        <p:tgtEl>
                                          <p:spTgt spid="37"/>
                                        </p:tgtEl>
                                      </p:cBhvr>
                                    </p:animEffect>
                                  </p:childTnLst>
                                </p:cTn>
                              </p:par>
                              <p:par>
                                <p:cTn id="19" presetID="10" presetClass="entr" presetSubtype="0" fill="hold" grpId="0" nodeType="withEffect">
                                  <p:stCondLst>
                                    <p:cond delay="0"/>
                                  </p:stCondLst>
                                  <p:childTnLst>
                                    <p:set>
                                      <p:cBhvr>
                                        <p:cTn id="20" dur="1" fill="hold"/>
                                        <p:tgtEl>
                                          <p:spTgt spid="29"/>
                                        </p:tgtEl>
                                        <p:attrNameLst>
                                          <p:attrName>style.visibility</p:attrName>
                                        </p:attrNameLst>
                                      </p:cBhvr>
                                      <p:to>
                                        <p:strVal val="visible"/>
                                      </p:to>
                                    </p:set>
                                    <p:animEffect transition="in" filter="fade">
                                      <p:cBhvr>
                                        <p:cTn id="21" dur="350"/>
                                        <p:tgtEl>
                                          <p:spTgt spid="29"/>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tgtEl>
                                          <p:spTgt spid="30"/>
                                        </p:tgtEl>
                                        <p:attrNameLst>
                                          <p:attrName>style.visibility</p:attrName>
                                        </p:attrNameLst>
                                      </p:cBhvr>
                                      <p:to>
                                        <p:strVal val="visible"/>
                                      </p:to>
                                    </p:set>
                                    <p:animEffect transition="in" filter="fade">
                                      <p:cBhvr>
                                        <p:cTn id="26" dur="350"/>
                                        <p:tgtEl>
                                          <p:spTgt spid="30"/>
                                        </p:tgtEl>
                                      </p:cBhvr>
                                    </p:animEffect>
                                  </p:childTnLst>
                                </p:cTn>
                              </p:par>
                              <p:par>
                                <p:cTn id="27" presetID="10" presetClass="entr" presetSubtype="0" fill="hold" grpId="0" nodeType="withEffect">
                                  <p:stCondLst>
                                    <p:cond delay="0"/>
                                  </p:stCondLst>
                                  <p:childTnLst>
                                    <p:set>
                                      <p:cBhvr>
                                        <p:cTn id="28" dur="1" fill="hold"/>
                                        <p:tgtEl>
                                          <p:spTgt spid="23"/>
                                        </p:tgtEl>
                                        <p:attrNameLst>
                                          <p:attrName>style.visibility</p:attrName>
                                        </p:attrNameLst>
                                      </p:cBhvr>
                                      <p:to>
                                        <p:strVal val="visible"/>
                                      </p:to>
                                    </p:set>
                                    <p:animEffect transition="in" filter="fade">
                                      <p:cBhvr>
                                        <p:cTn id="29" dur="350"/>
                                        <p:tgtEl>
                                          <p:spTgt spid="23"/>
                                        </p:tgtEl>
                                      </p:cBhvr>
                                    </p:animEffect>
                                  </p:childTnLst>
                                </p:cTn>
                              </p:par>
                              <p:par>
                                <p:cTn id="30" presetID="10" presetClass="entr" presetSubtype="0" fill="hold" grpId="0" nodeType="withEffect">
                                  <p:stCondLst>
                                    <p:cond delay="0"/>
                                  </p:stCondLst>
                                  <p:childTnLst>
                                    <p:set>
                                      <p:cBhvr>
                                        <p:cTn id="31" dur="1" fill="hold"/>
                                        <p:tgtEl>
                                          <p:spTgt spid="24"/>
                                        </p:tgtEl>
                                        <p:attrNameLst>
                                          <p:attrName>style.visibility</p:attrName>
                                        </p:attrNameLst>
                                      </p:cBhvr>
                                      <p:to>
                                        <p:strVal val="visible"/>
                                      </p:to>
                                    </p:set>
                                    <p:animEffect transition="in" filter="fade">
                                      <p:cBhvr>
                                        <p:cTn id="32" dur="350"/>
                                        <p:tgtEl>
                                          <p:spTgt spid="24"/>
                                        </p:tgtEl>
                                      </p:cBhvr>
                                    </p:animEffect>
                                  </p:childTnLst>
                                </p:cTn>
                              </p:par>
                              <p:par>
                                <p:cTn id="33" presetID="10" presetClass="entr" presetSubtype="0" fill="hold" grpId="0" nodeType="withEffect">
                                  <p:stCondLst>
                                    <p:cond delay="0"/>
                                  </p:stCondLst>
                                  <p:childTnLst>
                                    <p:set>
                                      <p:cBhvr>
                                        <p:cTn id="34" dur="1" fill="hold"/>
                                        <p:tgtEl>
                                          <p:spTgt spid="25"/>
                                        </p:tgtEl>
                                        <p:attrNameLst>
                                          <p:attrName>style.visibility</p:attrName>
                                        </p:attrNameLst>
                                      </p:cBhvr>
                                      <p:to>
                                        <p:strVal val="visible"/>
                                      </p:to>
                                    </p:set>
                                    <p:animEffect transition="in" filter="fade">
                                      <p:cBhvr>
                                        <p:cTn id="35" dur="350"/>
                                        <p:tgtEl>
                                          <p:spTgt spid="25"/>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tgtEl>
                                          <p:spTgt spid="26"/>
                                        </p:tgtEl>
                                        <p:attrNameLst>
                                          <p:attrName>style.visibility</p:attrName>
                                        </p:attrNameLst>
                                      </p:cBhvr>
                                      <p:to>
                                        <p:strVal val="visible"/>
                                      </p:to>
                                    </p:set>
                                    <p:animEffect transition="in" filter="fade">
                                      <p:cBhvr>
                                        <p:cTn id="40"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9" name="图片 29"/>
          <p:cNvPicPr>
            <a:picLocks noChangeAspect="1"/>
          </p:cNvPicPr>
          <p:nvPr/>
        </p:nvPicPr>
        <p:blipFill>
          <a:blip r:embed="rId2"/>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latin typeface="Times New Roman" panose="02020503050405090304"/>
                <a:ea typeface="微软雅黑"/>
                <a:cs typeface="Times New Roman" panose="02020503050405090304"/>
                <a:sym typeface="+mn-ea"/>
              </a:rPr>
              <a:t>RL 核心概念</a:t>
            </a:r>
            <a:endParaRPr sz="2700" b="1">
              <a:solidFill>
                <a:srgbClr val="111111"/>
              </a:solidFill>
              <a:latin typeface="Times New Roman" panose="02020503050405090304"/>
              <a:ea typeface="微软雅黑"/>
              <a:cs typeface="Times New Roman" panose="02020503050405090304"/>
            </a:endParaRPr>
          </a:p>
        </p:txBody>
      </p:sp>
      <p:sp>
        <p:nvSpPr>
          <p:cNvPr id="19" name="kl-definition"/>
          <p:cNvSpPr>
            <a:spLocks noGrp="1"/>
          </p:cNvSpPr>
          <p:nvPr/>
        </p:nvSpPr>
        <p:spPr>
          <a:xfrm>
            <a:off x="742950" y="1104900"/>
            <a:ext cx="11049000" cy="3619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KL 散度衡量当前策略 π 与参考策略 π_ref 的概率分布差异。</a:t>
            </a:r>
            <a:endParaRPr sz="2000" b="0">
              <a:solidFill>
                <a:srgbClr val="111111"/>
              </a:solidFill>
              <a:latin typeface="Times New Roman" panose="02020503050405090304"/>
              <a:ea typeface="微软雅黑"/>
              <a:cs typeface="Times New Roman" panose="02020503050405090304"/>
            </a:endParaRPr>
          </a:p>
        </p:txBody>
      </p:sp>
      <p:sp>
        <p:nvSpPr>
          <p:cNvPr id="20" name="reference-definition"/>
          <p:cNvSpPr>
            <a:spLocks noGrp="1"/>
          </p:cNvSpPr>
          <p:nvPr/>
        </p:nvSpPr>
        <p:spPr>
          <a:xfrm>
            <a:off x="742950" y="1571625"/>
            <a:ext cx="11049000" cy="3238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参考策略保留训练起点的模型，作为固定参照。</a:t>
            </a:r>
            <a:endParaRPr sz="1800" b="0">
              <a:solidFill>
                <a:srgbClr val="111111"/>
              </a:solidFill>
              <a:latin typeface="Times New Roman" panose="02020503050405090304"/>
              <a:ea typeface="微软雅黑"/>
              <a:cs typeface="Times New Roman" panose="02020503050405090304"/>
            </a:endParaRPr>
          </a:p>
        </p:txBody>
      </p:sp>
      <p:graphicFrame>
        <p:nvGraphicFramePr>
          <p:cNvPr id="34" name="kl-probability-chart"/>
          <p:cNvGraphicFramePr/>
          <p:nvPr/>
        </p:nvGraphicFramePr>
        <p:xfrm>
          <a:off x="666750" y="2152650"/>
          <a:ext cx="5524500" cy="2781300"/>
        </p:xfrm>
        <a:graphic>
          <a:graphicData uri="http://schemas.openxmlformats.org/drawingml/2006/chart">
            <c:chart xmlns:c="http://schemas.openxmlformats.org/drawingml/2006/chart" xmlns:r="http://schemas.openxmlformats.org/officeDocument/2006/relationships" r:id="rId1"/>
          </a:graphicData>
        </a:graphic>
      </p:graphicFrame>
      <p:sp>
        <p:nvSpPr>
          <p:cNvPr id="22" name="kl-formula"/>
          <p:cNvSpPr>
            <a:spLocks noGrp="1"/>
          </p:cNvSpPr>
          <p:nvPr/>
        </p:nvSpPr>
        <p:spPr>
          <a:xfrm>
            <a:off x="6743700" y="2400300"/>
            <a:ext cx="4876800" cy="400050"/>
          </a:xfrm>
          <a:prstGeom prst="rect">
            <a:avLst/>
          </a:prstGeom>
          <a:noFill/>
          <a:ln w="0">
            <a:noFill/>
          </a:ln>
        </p:spPr>
        <p:txBody>
          <a:bodyPr wrap="none" lIns="0" tIns="0" rIns="0" bIns="0" anchor="t">
            <a:noAutofit/>
          </a:bodyPr>
          <a:lstStyle/>
          <a:p>
            <a:pPr>
              <a:lnSpc>
                <a:spcPct val="108000"/>
              </a:lnSpc>
              <a:buNone/>
              <a:defRPr sz="2250" b="1">
                <a:solidFill>
                  <a:srgbClr val="111111"/>
                </a:solidFill>
                <a:latin typeface="Times New Roman" panose="02020503050405090304"/>
                <a:ea typeface="微软雅黑"/>
                <a:cs typeface="Times New Roman" panose="02020503050405090304"/>
              </a:defRPr>
            </a:pPr>
            <a:r>
              <a:rPr sz="2250" b="1">
                <a:solidFill>
                  <a:srgbClr val="111111"/>
                </a:solidFill>
                <a:latin typeface="Times New Roman" panose="02020503050405090304"/>
                <a:ea typeface="微软雅黑"/>
                <a:cs typeface="Times New Roman" panose="02020503050405090304"/>
              </a:rPr>
              <a:t>KL(p ∥ q) = Σ p · log(p / q)</a:t>
            </a:r>
            <a:endParaRPr sz="2250" b="1">
              <a:solidFill>
                <a:srgbClr val="111111"/>
              </a:solidFill>
              <a:latin typeface="Times New Roman" panose="02020503050405090304"/>
              <a:ea typeface="微软雅黑"/>
              <a:cs typeface="Times New Roman" panose="02020503050405090304"/>
            </a:endParaRPr>
          </a:p>
        </p:txBody>
      </p:sp>
      <p:sp>
        <p:nvSpPr>
          <p:cNvPr id="23" name="kl-variables"/>
          <p:cNvSpPr>
            <a:spLocks noGrp="1"/>
          </p:cNvSpPr>
          <p:nvPr/>
        </p:nvSpPr>
        <p:spPr>
          <a:xfrm>
            <a:off x="6743700" y="2990850"/>
            <a:ext cx="4762500" cy="7429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p：当前策略的概率</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q：参考策略的概率</a:t>
            </a:r>
            <a:endParaRPr sz="1800" b="0">
              <a:solidFill>
                <a:srgbClr val="111111"/>
              </a:solidFill>
              <a:latin typeface="Times New Roman" panose="02020503050405090304"/>
              <a:ea typeface="微软雅黑"/>
              <a:cs typeface="Times New Roman" panose="02020503050405090304"/>
            </a:endParaRPr>
          </a:p>
        </p:txBody>
      </p:sp>
      <p:sp>
        <p:nvSpPr>
          <p:cNvPr id="24" name="kl-example"/>
          <p:cNvSpPr>
            <a:spLocks noGrp="1"/>
          </p:cNvSpPr>
          <p:nvPr/>
        </p:nvSpPr>
        <p:spPr>
          <a:xfrm>
            <a:off x="6743700" y="3905250"/>
            <a:ext cx="4762500" cy="714375"/>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分布相同，KL = 0。</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图中 KL ≈ 0.227（自然对数）。</a:t>
            </a:r>
            <a:endParaRPr sz="1800" b="0">
              <a:solidFill>
                <a:srgbClr val="111111"/>
              </a:solidFill>
              <a:latin typeface="Times New Roman" panose="02020503050405090304"/>
              <a:ea typeface="微软雅黑"/>
              <a:cs typeface="Times New Roman" panose="02020503050405090304"/>
            </a:endParaRPr>
          </a:p>
        </p:txBody>
      </p:sp>
      <p:sp>
        <p:nvSpPr>
          <p:cNvPr id="25" name="kl-loss"/>
          <p:cNvSpPr>
            <a:spLocks noGrp="1"/>
          </p:cNvSpPr>
          <p:nvPr/>
        </p:nvSpPr>
        <p:spPr>
          <a:xfrm>
            <a:off x="742950" y="5095875"/>
            <a:ext cx="5953125" cy="361950"/>
          </a:xfrm>
          <a:prstGeom prst="rect">
            <a:avLst/>
          </a:prstGeom>
          <a:noFill/>
          <a:ln w="0">
            <a:noFill/>
          </a:ln>
        </p:spPr>
        <p:txBody>
          <a:bodyPr wrap="none" lIns="0" tIns="0" rIns="0" bIns="0" anchor="t">
            <a:noAutofit/>
          </a:bodyPr>
          <a:lstStyle/>
          <a:p>
            <a:pPr>
              <a:lnSpc>
                <a:spcPct val="108000"/>
              </a:lnSpc>
              <a:buNone/>
              <a:defRPr sz="2100" b="1">
                <a:solidFill>
                  <a:srgbClr val="E60012"/>
                </a:solidFill>
                <a:latin typeface="Times New Roman" panose="02020503050405090304"/>
                <a:ea typeface="微软雅黑"/>
                <a:cs typeface="Times New Roman" panose="02020503050405090304"/>
              </a:defRPr>
            </a:pPr>
            <a:r>
              <a:rPr sz="2100" b="1">
                <a:solidFill>
                  <a:srgbClr val="E60012"/>
                </a:solidFill>
                <a:latin typeface="Times New Roman" panose="02020503050405090304"/>
                <a:ea typeface="微软雅黑"/>
                <a:cs typeface="Times New Roman" panose="02020503050405090304"/>
              </a:rPr>
              <a:t>总 loss = pg_loss + β · KL</a:t>
            </a:r>
            <a:endParaRPr sz="2100" b="1">
              <a:solidFill>
                <a:srgbClr val="E60012"/>
              </a:solidFill>
              <a:latin typeface="Times New Roman" panose="02020503050405090304"/>
              <a:ea typeface="微软雅黑"/>
              <a:cs typeface="Times New Roman" panose="02020503050405090304"/>
            </a:endParaRPr>
          </a:p>
        </p:txBody>
      </p:sp>
      <p:sp>
        <p:nvSpPr>
          <p:cNvPr id="26" name="kl-coef"/>
          <p:cNvSpPr>
            <a:spLocks noGrp="1"/>
          </p:cNvSpPr>
          <p:nvPr/>
        </p:nvSpPr>
        <p:spPr>
          <a:xfrm>
            <a:off x="6743700" y="5153025"/>
            <a:ext cx="4857750" cy="32385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β 越大，偏离参考策略的代价越高。</a:t>
            </a:r>
            <a:endParaRPr sz="1650" b="0">
              <a:solidFill>
                <a:srgbClr val="111111"/>
              </a:solidFill>
              <a:latin typeface="Times New Roman" panose="02020503050405090304"/>
              <a:ea typeface="微软雅黑"/>
              <a:cs typeface="Times New Roman" panose="02020503050405090304"/>
            </a:endParaRPr>
          </a:p>
        </p:txBody>
      </p:sp>
      <p:sp>
        <p:nvSpPr>
          <p:cNvPr id="27" name="kl-implementation"/>
          <p:cNvSpPr>
            <a:spLocks noGrp="1"/>
          </p:cNvSpPr>
          <p:nvPr/>
        </p:nvSpPr>
        <p:spPr>
          <a:xfrm>
            <a:off x="742950" y="5514975"/>
            <a:ext cx="10763250" cy="295275"/>
          </a:xfrm>
          <a:prstGeom prst="rect">
            <a:avLst/>
          </a:prstGeom>
          <a:noFill/>
          <a:ln w="0">
            <a:noFill/>
          </a:ln>
        </p:spPr>
        <p:txBody>
          <a:bodyPr wrap="none" lIns="0" tIns="0" rIns="0" bIns="0" anchor="t">
            <a:noAutofit/>
          </a:bodyPr>
          <a:lstStyle/>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本课程使用 KL loss：将惩罚加入 loss，β = 0.001。</a:t>
            </a:r>
            <a:endParaRPr sz="1725" b="0">
              <a:solidFill>
                <a:srgbClr val="111111"/>
              </a:solidFill>
              <a:latin typeface="Times New Roman" panose="02020503050405090304"/>
              <a:ea typeface="微软雅黑"/>
              <a:cs typeface="Times New Roman" panose="02020503050405090304"/>
            </a:endParaRPr>
          </a:p>
        </p:txBody>
      </p:sp>
      <p:sp>
        <p:nvSpPr>
          <p:cNvPr id="28" name="kl-reward-alternative"/>
          <p:cNvSpPr>
            <a:spLocks noGrp="1"/>
          </p:cNvSpPr>
          <p:nvPr/>
        </p:nvSpPr>
        <p:spPr>
          <a:xfrm>
            <a:off x="742950" y="5867400"/>
            <a:ext cx="10477500" cy="266700"/>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另一方式是 KL in reward：先从 reward 中减去 KL 惩罚。</a:t>
            </a:r>
            <a:endParaRPr sz="1575"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34"/>
                                        </p:tgtEl>
                                        <p:attrNameLst>
                                          <p:attrName>style.visibility</p:attrName>
                                        </p:attrNameLst>
                                      </p:cBhvr>
                                      <p:to>
                                        <p:strVal val="visible"/>
                                      </p:to>
                                    </p:set>
                                    <p:animEffect transition="in" filter="fade">
                                      <p:cBhvr>
                                        <p:cTn id="15" dur="350"/>
                                        <p:tgtEl>
                                          <p:spTgt spid="34"/>
                                        </p:tgtEl>
                                      </p:cBhvr>
                                    </p:animEffect>
                                  </p:childTnLst>
                                </p:cTn>
                              </p:par>
                              <p:par>
                                <p:cTn id="16" presetID="10" presetClass="entr" presetSubtype="0" fill="hold" grpId="0" nodeType="withEffect">
                                  <p:stCondLst>
                                    <p:cond delay="0"/>
                                  </p:stCondLst>
                                  <p:childTnLst>
                                    <p:set>
                                      <p:cBhvr>
                                        <p:cTn id="17" dur="1" fill="hold"/>
                                        <p:tgtEl>
                                          <p:spTgt spid="22"/>
                                        </p:tgtEl>
                                        <p:attrNameLst>
                                          <p:attrName>style.visibility</p:attrName>
                                        </p:attrNameLst>
                                      </p:cBhvr>
                                      <p:to>
                                        <p:strVal val="visible"/>
                                      </p:to>
                                    </p:set>
                                    <p:animEffect transition="in" filter="fade">
                                      <p:cBhvr>
                                        <p:cTn id="18" dur="350"/>
                                        <p:tgtEl>
                                          <p:spTgt spid="22"/>
                                        </p:tgtEl>
                                      </p:cBhvr>
                                    </p:animEffect>
                                  </p:childTnLst>
                                </p:cTn>
                              </p:par>
                              <p:par>
                                <p:cTn id="19" presetID="10" presetClass="entr" presetSubtype="0" fill="hold" grpId="0" nodeType="withEffect">
                                  <p:stCondLst>
                                    <p:cond delay="0"/>
                                  </p:stCondLst>
                                  <p:childTnLst>
                                    <p:set>
                                      <p:cBhvr>
                                        <p:cTn id="20" dur="1" fill="hold"/>
                                        <p:tgtEl>
                                          <p:spTgt spid="23"/>
                                        </p:tgtEl>
                                        <p:attrNameLst>
                                          <p:attrName>style.visibility</p:attrName>
                                        </p:attrNameLst>
                                      </p:cBhvr>
                                      <p:to>
                                        <p:strVal val="visible"/>
                                      </p:to>
                                    </p:set>
                                    <p:animEffect transition="in" filter="fade">
                                      <p:cBhvr>
                                        <p:cTn id="21" dur="350"/>
                                        <p:tgtEl>
                                          <p:spTgt spid="23"/>
                                        </p:tgtEl>
                                      </p:cBhvr>
                                    </p:animEffect>
                                  </p:childTnLst>
                                </p:cTn>
                              </p:par>
                              <p:par>
                                <p:cTn id="22" presetID="10" presetClass="entr" presetSubtype="0" fill="hold" grpId="0" nodeType="withEffect">
                                  <p:stCondLst>
                                    <p:cond delay="0"/>
                                  </p:stCondLst>
                                  <p:childTnLst>
                                    <p:set>
                                      <p:cBhvr>
                                        <p:cTn id="23" dur="1" fill="hold"/>
                                        <p:tgtEl>
                                          <p:spTgt spid="24"/>
                                        </p:tgtEl>
                                        <p:attrNameLst>
                                          <p:attrName>style.visibility</p:attrName>
                                        </p:attrNameLst>
                                      </p:cBhvr>
                                      <p:to>
                                        <p:strVal val="visible"/>
                                      </p:to>
                                    </p:set>
                                    <p:animEffect transition="in" filter="fade">
                                      <p:cBhvr>
                                        <p:cTn id="24" dur="350"/>
                                        <p:tgtEl>
                                          <p:spTgt spid="2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tgtEl>
                                          <p:spTgt spid="25"/>
                                        </p:tgtEl>
                                        <p:attrNameLst>
                                          <p:attrName>style.visibility</p:attrName>
                                        </p:attrNameLst>
                                      </p:cBhvr>
                                      <p:to>
                                        <p:strVal val="visible"/>
                                      </p:to>
                                    </p:set>
                                    <p:animEffect transition="in" filter="fade">
                                      <p:cBhvr>
                                        <p:cTn id="29" dur="350"/>
                                        <p:tgtEl>
                                          <p:spTgt spid="25"/>
                                        </p:tgtEl>
                                      </p:cBhvr>
                                    </p:animEffect>
                                  </p:childTnLst>
                                </p:cTn>
                              </p:par>
                              <p:par>
                                <p:cTn id="30" presetID="10" presetClass="entr" presetSubtype="0" fill="hold" grpId="0" nodeType="withEffect">
                                  <p:stCondLst>
                                    <p:cond delay="0"/>
                                  </p:stCondLst>
                                  <p:childTnLst>
                                    <p:set>
                                      <p:cBhvr>
                                        <p:cTn id="31" dur="1" fill="hold"/>
                                        <p:tgtEl>
                                          <p:spTgt spid="26"/>
                                        </p:tgtEl>
                                        <p:attrNameLst>
                                          <p:attrName>style.visibility</p:attrName>
                                        </p:attrNameLst>
                                      </p:cBhvr>
                                      <p:to>
                                        <p:strVal val="visible"/>
                                      </p:to>
                                    </p:set>
                                    <p:animEffect transition="in" filter="fade">
                                      <p:cBhvr>
                                        <p:cTn id="32" dur="35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tgtEl>
                                          <p:spTgt spid="27"/>
                                        </p:tgtEl>
                                        <p:attrNameLst>
                                          <p:attrName>style.visibility</p:attrName>
                                        </p:attrNameLst>
                                      </p:cBhvr>
                                      <p:to>
                                        <p:strVal val="visible"/>
                                      </p:to>
                                    </p:set>
                                    <p:animEffect transition="in" filter="fade">
                                      <p:cBhvr>
                                        <p:cTn id="37" dur="350"/>
                                        <p:tgtEl>
                                          <p:spTgt spid="27"/>
                                        </p:tgtEl>
                                      </p:cBhvr>
                                    </p:animEffect>
                                  </p:childTnLst>
                                </p:cTn>
                              </p:par>
                              <p:par>
                                <p:cTn id="38" presetID="10" presetClass="entr" presetSubtype="0" fill="hold" grpId="0" nodeType="withEffect">
                                  <p:stCondLst>
                                    <p:cond delay="0"/>
                                  </p:stCondLst>
                                  <p:childTnLst>
                                    <p:set>
                                      <p:cBhvr>
                                        <p:cTn id="39" dur="1" fill="hold"/>
                                        <p:tgtEl>
                                          <p:spTgt spid="28"/>
                                        </p:tgtEl>
                                        <p:attrNameLst>
                                          <p:attrName>style.visibility</p:attrName>
                                        </p:attrNameLst>
                                      </p:cBhvr>
                                      <p:to>
                                        <p:strVal val="visible"/>
                                      </p:to>
                                    </p:set>
                                    <p:animEffect transition="in" filter="fade">
                                      <p:cBhvr>
                                        <p:cTn id="40" dur="35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0"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RL 核心概念</a:t>
            </a:r>
            <a:endParaRPr sz="2700" b="1">
              <a:solidFill>
                <a:srgbClr val="111111"/>
              </a:solidFill>
              <a:latin typeface="Times New Roman" panose="02020503050405090304"/>
              <a:ea typeface="微软雅黑"/>
              <a:cs typeface="Times New Roman" panose="02020503050405090304"/>
            </a:endParaRPr>
          </a:p>
        </p:txBody>
      </p:sp>
      <p:sp>
        <p:nvSpPr>
          <p:cNvPr id="19" name="entropy-definition"/>
          <p:cNvSpPr>
            <a:spLocks noGrp="1"/>
          </p:cNvSpPr>
          <p:nvPr/>
        </p:nvSpPr>
        <p:spPr>
          <a:xfrm>
            <a:off x="742950" y="1104900"/>
            <a:ext cx="11049000" cy="781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熵 H(π) 描述当前策略的输出概率有多分散。</a:t>
            </a:r>
            <a:endParaRPr sz="2000" b="0">
              <a:solidFill>
                <a:srgbClr val="111111"/>
              </a:solidFill>
              <a:latin typeface="Times New Roman" panose="02020503050405090304"/>
              <a:ea typeface="微软雅黑"/>
              <a:cs typeface="Times New Roman" panose="02020503050405090304"/>
            </a:endParaRPr>
          </a:p>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熵低，选择更集中。熵高，保留的可能性更多。</a:t>
            </a:r>
            <a:endParaRPr sz="2000" b="0">
              <a:solidFill>
                <a:srgbClr val="111111"/>
              </a:solidFill>
              <a:latin typeface="Times New Roman" panose="02020503050405090304"/>
              <a:ea typeface="微软雅黑"/>
              <a:cs typeface="Times New Roman" panose="02020503050405090304"/>
            </a:endParaRPr>
          </a:p>
        </p:txBody>
      </p:sp>
      <p:sp>
        <p:nvSpPr>
          <p:cNvPr id="20" name="entropy-example"/>
          <p:cNvSpPr>
            <a:spLocks noGrp="1"/>
          </p:cNvSpPr>
          <p:nvPr/>
        </p:nvSpPr>
        <p:spPr>
          <a:xfrm>
            <a:off x="742950" y="1990725"/>
            <a:ext cx="10953750" cy="3429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直觉例子：两种选择各占 50%，比“99% / 1%”的熵更高。</a:t>
            </a:r>
            <a:endParaRPr sz="1800" b="0">
              <a:solidFill>
                <a:srgbClr val="111111"/>
              </a:solidFill>
              <a:latin typeface="Times New Roman" panose="02020503050405090304"/>
              <a:ea typeface="微软雅黑"/>
              <a:cs typeface="Times New Roman" panose="02020503050405090304"/>
            </a:endParaRPr>
          </a:p>
        </p:txBody>
      </p:sp>
      <p:sp>
        <p:nvSpPr>
          <p:cNvPr id="21" name="full-loss"/>
          <p:cNvSpPr>
            <a:spLocks noGrp="1"/>
          </p:cNvSpPr>
          <p:nvPr/>
        </p:nvSpPr>
        <p:spPr>
          <a:xfrm>
            <a:off x="742950" y="2447925"/>
            <a:ext cx="11049000" cy="381000"/>
          </a:xfrm>
          <a:prstGeom prst="rect">
            <a:avLst/>
          </a:prstGeom>
          <a:noFill/>
          <a:ln w="0">
            <a:noFill/>
          </a:ln>
        </p:spPr>
        <p:txBody>
          <a:bodyPr wrap="none" lIns="0" tIns="0" rIns="0" bIns="0" anchor="t">
            <a:noAutofit/>
          </a:bodyPr>
          <a:lstStyle/>
          <a:p>
            <a:pPr>
              <a:lnSpc>
                <a:spcPct val="108000"/>
              </a:lnSpc>
              <a:buNone/>
              <a:defRPr sz="2100" b="1">
                <a:solidFill>
                  <a:srgbClr val="E60012"/>
                </a:solidFill>
                <a:latin typeface="Times New Roman" panose="02020503050405090304"/>
                <a:ea typeface="微软雅黑"/>
                <a:cs typeface="Times New Roman" panose="02020503050405090304"/>
              </a:defRPr>
            </a:pPr>
            <a:r>
              <a:rPr sz="2100" b="1">
                <a:solidFill>
                  <a:srgbClr val="E60012"/>
                </a:solidFill>
                <a:latin typeface="Times New Roman" panose="02020503050405090304"/>
                <a:ea typeface="微软雅黑"/>
                <a:cs typeface="Times New Roman" panose="02020503050405090304"/>
              </a:rPr>
              <a:t>总 loss = pg_loss + β · KL − α · H(π)</a:t>
            </a:r>
            <a:endParaRPr sz="2100" b="1">
              <a:solidFill>
                <a:srgbClr val="E60012"/>
              </a:solidFill>
              <a:latin typeface="Times New Roman" panose="02020503050405090304"/>
              <a:ea typeface="微软雅黑"/>
              <a:cs typeface="Times New Roman" panose="02020503050405090304"/>
            </a:endParaRPr>
          </a:p>
        </p:txBody>
      </p:sp>
      <p:sp>
        <p:nvSpPr>
          <p:cNvPr id="22" name="entropy-sign"/>
          <p:cNvSpPr>
            <a:spLocks noGrp="1"/>
          </p:cNvSpPr>
          <p:nvPr/>
        </p:nvSpPr>
        <p:spPr>
          <a:xfrm>
            <a:off x="742950" y="2924175"/>
            <a:ext cx="11049000" cy="3238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最小化 loss 时，减去熵项会鼓励保留探索。</a:t>
            </a:r>
            <a:endParaRPr sz="1800" b="0">
              <a:solidFill>
                <a:srgbClr val="111111"/>
              </a:solidFill>
              <a:latin typeface="Times New Roman" panose="02020503050405090304"/>
              <a:ea typeface="微软雅黑"/>
              <a:cs typeface="Times New Roman" panose="02020503050405090304"/>
            </a:endParaRPr>
          </a:p>
        </p:txBody>
      </p:sp>
      <p:pic>
        <p:nvPicPr>
          <p:cNvPr id="37" name="three-forces-cartoon"/>
          <p:cNvPicPr>
            <a:picLocks noChangeAspect="1"/>
          </p:cNvPicPr>
          <p:nvPr/>
        </p:nvPicPr>
        <p:blipFill>
          <a:blip r:embed="rId2"/>
          <a:stretch>
            <a:fillRect/>
          </a:stretch>
        </p:blipFill>
        <p:spPr>
          <a:xfrm>
            <a:off x="952074" y="3371850"/>
            <a:ext cx="5544401" cy="2686050"/>
          </a:xfrm>
          <a:prstGeom prst="rect">
            <a:avLst/>
          </a:prstGeom>
        </p:spPr>
      </p:pic>
      <p:sp>
        <p:nvSpPr>
          <p:cNvPr id="24" name="three-forces-heading"/>
          <p:cNvSpPr>
            <a:spLocks noGrp="1"/>
          </p:cNvSpPr>
          <p:nvPr/>
        </p:nvSpPr>
        <p:spPr>
          <a:xfrm>
            <a:off x="7258050" y="3476625"/>
            <a:ext cx="4286250" cy="342900"/>
          </a:xfrm>
          <a:prstGeom prst="rect">
            <a:avLst/>
          </a:prstGeom>
          <a:noFill/>
          <a:ln w="0">
            <a:noFill/>
          </a:ln>
        </p:spPr>
        <p:txBody>
          <a:bodyPr wrap="none" lIns="0" tIns="0" rIns="0" bIns="0" anchor="t">
            <a:noAutofit/>
          </a:bodyPr>
          <a:lstStyle/>
          <a:p>
            <a:pPr>
              <a:lnSpc>
                <a:spcPct val="108000"/>
              </a:lnSpc>
              <a:buNone/>
              <a:defRPr sz="1950" b="1">
                <a:solidFill>
                  <a:srgbClr val="111111"/>
                </a:solidFill>
                <a:latin typeface="Times New Roman" panose="02020503050405090304"/>
                <a:ea typeface="微软雅黑"/>
                <a:cs typeface="Times New Roman" panose="02020503050405090304"/>
              </a:defRPr>
            </a:pPr>
            <a:r>
              <a:rPr sz="1950" b="1">
                <a:solidFill>
                  <a:srgbClr val="111111"/>
                </a:solidFill>
                <a:latin typeface="Times New Roman" panose="02020503050405090304"/>
                <a:ea typeface="微软雅黑"/>
                <a:cs typeface="Times New Roman" panose="02020503050405090304"/>
              </a:rPr>
              <a:t>三种作用共同影响训练</a:t>
            </a:r>
            <a:endParaRPr sz="1950" b="1">
              <a:solidFill>
                <a:srgbClr val="111111"/>
              </a:solidFill>
              <a:latin typeface="Times New Roman" panose="02020503050405090304"/>
              <a:ea typeface="微软雅黑"/>
              <a:cs typeface="Times New Roman" panose="02020503050405090304"/>
            </a:endParaRPr>
          </a:p>
        </p:txBody>
      </p:sp>
      <p:sp>
        <p:nvSpPr>
          <p:cNvPr id="25" name="force-pg"/>
          <p:cNvSpPr>
            <a:spLocks noGrp="1"/>
          </p:cNvSpPr>
          <p:nvPr/>
        </p:nvSpPr>
        <p:spPr>
          <a:xfrm>
            <a:off x="7258050" y="3981450"/>
            <a:ext cx="4333875" cy="304800"/>
          </a:xfrm>
          <a:prstGeom prst="rect">
            <a:avLst/>
          </a:prstGeom>
          <a:noFill/>
          <a:ln w="0">
            <a:noFill/>
          </a:ln>
        </p:spPr>
        <p:txBody>
          <a:bodyPr wrap="none" lIns="0" tIns="0" rIns="0" bIns="0" anchor="t">
            <a:noAutofit/>
          </a:bodyPr>
          <a:lstStyle/>
          <a:p>
            <a:pPr>
              <a:lnSpc>
                <a:spcPct val="108000"/>
              </a:lnSpc>
              <a:buNone/>
              <a:defRPr sz="1650" b="0">
                <a:solidFill>
                  <a:srgbClr val="E60012"/>
                </a:solidFill>
                <a:latin typeface="Times New Roman" panose="02020503050405090304"/>
                <a:ea typeface="微软雅黑"/>
                <a:cs typeface="Times New Roman" panose="02020503050405090304"/>
              </a:defRPr>
            </a:pPr>
            <a:r>
              <a:rPr sz="1650" b="0">
                <a:solidFill>
                  <a:srgbClr val="E60012"/>
                </a:solidFill>
                <a:latin typeface="Times New Roman" panose="02020503050405090304"/>
                <a:ea typeface="微软雅黑"/>
                <a:cs typeface="Times New Roman" panose="02020503050405090304"/>
              </a:rPr>
              <a:t>pg_loss：根据优势信号更新策略。</a:t>
            </a:r>
            <a:endParaRPr sz="1650" b="0">
              <a:solidFill>
                <a:srgbClr val="E60012"/>
              </a:solidFill>
              <a:latin typeface="Times New Roman" panose="02020503050405090304"/>
              <a:ea typeface="微软雅黑"/>
              <a:cs typeface="Times New Roman" panose="02020503050405090304"/>
            </a:endParaRPr>
          </a:p>
        </p:txBody>
      </p:sp>
      <p:sp>
        <p:nvSpPr>
          <p:cNvPr id="26" name="force-kl"/>
          <p:cNvSpPr>
            <a:spLocks noGrp="1"/>
          </p:cNvSpPr>
          <p:nvPr/>
        </p:nvSpPr>
        <p:spPr>
          <a:xfrm>
            <a:off x="7258050" y="4391025"/>
            <a:ext cx="4333875" cy="304800"/>
          </a:xfrm>
          <a:prstGeom prst="rect">
            <a:avLst/>
          </a:prstGeom>
          <a:noFill/>
          <a:ln w="0">
            <a:noFill/>
          </a:ln>
        </p:spPr>
        <p:txBody>
          <a:bodyPr wrap="none" lIns="0" tIns="0" rIns="0" bIns="0" anchor="t">
            <a:noAutofit/>
          </a:bodyPr>
          <a:lstStyle/>
          <a:p>
            <a:pPr>
              <a:lnSpc>
                <a:spcPct val="108000"/>
              </a:lnSpc>
              <a:buNone/>
              <a:defRPr sz="1650" b="0">
                <a:solidFill>
                  <a:srgbClr val="357AE8"/>
                </a:solidFill>
                <a:latin typeface="Times New Roman" panose="02020503050405090304"/>
                <a:ea typeface="微软雅黑"/>
                <a:cs typeface="Times New Roman" panose="02020503050405090304"/>
              </a:defRPr>
            </a:pPr>
            <a:r>
              <a:rPr sz="1650" b="0">
                <a:solidFill>
                  <a:srgbClr val="357AE8"/>
                </a:solidFill>
                <a:latin typeface="Times New Roman" panose="02020503050405090304"/>
                <a:ea typeface="微软雅黑"/>
                <a:cs typeface="Times New Roman" panose="02020503050405090304"/>
              </a:rPr>
              <a:t>KL 正则：约束策略漂移。</a:t>
            </a:r>
            <a:endParaRPr sz="1650" b="0">
              <a:solidFill>
                <a:srgbClr val="357AE8"/>
              </a:solidFill>
              <a:latin typeface="Times New Roman" panose="02020503050405090304"/>
              <a:ea typeface="微软雅黑"/>
              <a:cs typeface="Times New Roman" panose="02020503050405090304"/>
            </a:endParaRPr>
          </a:p>
        </p:txBody>
      </p:sp>
      <p:sp>
        <p:nvSpPr>
          <p:cNvPr id="27" name="force-entropy"/>
          <p:cNvSpPr>
            <a:spLocks noGrp="1"/>
          </p:cNvSpPr>
          <p:nvPr/>
        </p:nvSpPr>
        <p:spPr>
          <a:xfrm>
            <a:off x="7258050" y="4800600"/>
            <a:ext cx="4333875" cy="304800"/>
          </a:xfrm>
          <a:prstGeom prst="rect">
            <a:avLst/>
          </a:prstGeom>
          <a:noFill/>
          <a:ln w="0">
            <a:noFill/>
          </a:ln>
        </p:spPr>
        <p:txBody>
          <a:bodyPr wrap="none" lIns="0" tIns="0" rIns="0" bIns="0" anchor="t">
            <a:noAutofit/>
          </a:bodyPr>
          <a:lstStyle/>
          <a:p>
            <a:pPr>
              <a:lnSpc>
                <a:spcPct val="108000"/>
              </a:lnSpc>
              <a:buNone/>
              <a:defRPr sz="1650" b="0">
                <a:solidFill>
                  <a:srgbClr val="25864D"/>
                </a:solidFill>
                <a:latin typeface="Times New Roman" panose="02020503050405090304"/>
                <a:ea typeface="微软雅黑"/>
                <a:cs typeface="Times New Roman" panose="02020503050405090304"/>
              </a:defRPr>
            </a:pPr>
            <a:r>
              <a:rPr sz="1650" b="0">
                <a:solidFill>
                  <a:srgbClr val="25864D"/>
                </a:solidFill>
                <a:latin typeface="Times New Roman" panose="02020503050405090304"/>
                <a:ea typeface="微软雅黑"/>
                <a:cs typeface="Times New Roman" panose="02020503050405090304"/>
              </a:rPr>
              <a:t>Entropy Bonus：鼓励继续探索。</a:t>
            </a:r>
            <a:endParaRPr sz="1650" b="0">
              <a:solidFill>
                <a:srgbClr val="25864D"/>
              </a:solidFill>
              <a:latin typeface="Times New Roman" panose="02020503050405090304"/>
              <a:ea typeface="微软雅黑"/>
              <a:cs typeface="Times New Roman" panose="02020503050405090304"/>
            </a:endParaRPr>
          </a:p>
        </p:txBody>
      </p:sp>
      <p:sp>
        <p:nvSpPr>
          <p:cNvPr id="28" name="entropy-balance"/>
          <p:cNvSpPr>
            <a:spLocks noGrp="1"/>
          </p:cNvSpPr>
          <p:nvPr/>
        </p:nvSpPr>
        <p:spPr>
          <a:xfrm>
            <a:off x="7258050" y="5286375"/>
            <a:ext cx="4476750" cy="285750"/>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α 过小可能探索不足，过大可能难以收敛。</a:t>
            </a:r>
            <a:endParaRPr sz="1575" b="0">
              <a:solidFill>
                <a:srgbClr val="111111"/>
              </a:solidFill>
              <a:latin typeface="Times New Roman" panose="02020503050405090304"/>
              <a:ea typeface="微软雅黑"/>
              <a:cs typeface="Times New Roman" panose="02020503050405090304"/>
            </a:endParaRPr>
          </a:p>
        </p:txBody>
      </p:sp>
      <p:sp>
        <p:nvSpPr>
          <p:cNvPr id="29" name="entropy-config"/>
          <p:cNvSpPr>
            <a:spLocks noGrp="1"/>
          </p:cNvSpPr>
          <p:nvPr/>
        </p:nvSpPr>
        <p:spPr>
          <a:xfrm>
            <a:off x="7258050" y="5724525"/>
            <a:ext cx="4429125" cy="285750"/>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本课程 α = 0.004，需结合指标调节。</a:t>
            </a:r>
            <a:endParaRPr sz="1575"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37"/>
                                        </p:tgtEl>
                                        <p:attrNameLst>
                                          <p:attrName>style.visibility</p:attrName>
                                        </p:attrNameLst>
                                      </p:cBhvr>
                                      <p:to>
                                        <p:strVal val="visible"/>
                                      </p:to>
                                    </p:set>
                                    <p:animEffect transition="in" filter="fade">
                                      <p:cBhvr>
                                        <p:cTn id="23" dur="350"/>
                                        <p:tgtEl>
                                          <p:spTgt spid="37"/>
                                        </p:tgtEl>
                                      </p:cBhvr>
                                    </p:animEffect>
                                  </p:childTnLst>
                                </p:cTn>
                              </p:par>
                              <p:par>
                                <p:cTn id="24" presetID="10" presetClass="entr" presetSubtype="0" fill="hold" grpId="0" nodeType="withEffect">
                                  <p:stCondLst>
                                    <p:cond delay="0"/>
                                  </p:stCondLst>
                                  <p:childTnLst>
                                    <p:set>
                                      <p:cBhvr>
                                        <p:cTn id="25" dur="1" fill="hold"/>
                                        <p:tgtEl>
                                          <p:spTgt spid="24"/>
                                        </p:tgtEl>
                                        <p:attrNameLst>
                                          <p:attrName>style.visibility</p:attrName>
                                        </p:attrNameLst>
                                      </p:cBhvr>
                                      <p:to>
                                        <p:strVal val="visible"/>
                                      </p:to>
                                    </p:set>
                                    <p:animEffect transition="in" filter="fade">
                                      <p:cBhvr>
                                        <p:cTn id="26" dur="350"/>
                                        <p:tgtEl>
                                          <p:spTgt spid="24"/>
                                        </p:tgtEl>
                                      </p:cBhvr>
                                    </p:animEffect>
                                  </p:childTnLst>
                                </p:cTn>
                              </p:par>
                              <p:par>
                                <p:cTn id="27" presetID="10" presetClass="entr" presetSubtype="0" fill="hold" grpId="0" nodeType="withEffect">
                                  <p:stCondLst>
                                    <p:cond delay="0"/>
                                  </p:stCondLst>
                                  <p:childTnLst>
                                    <p:set>
                                      <p:cBhvr>
                                        <p:cTn id="28" dur="1" fill="hold"/>
                                        <p:tgtEl>
                                          <p:spTgt spid="25"/>
                                        </p:tgtEl>
                                        <p:attrNameLst>
                                          <p:attrName>style.visibility</p:attrName>
                                        </p:attrNameLst>
                                      </p:cBhvr>
                                      <p:to>
                                        <p:strVal val="visible"/>
                                      </p:to>
                                    </p:set>
                                    <p:animEffect transition="in" filter="fade">
                                      <p:cBhvr>
                                        <p:cTn id="29" dur="350"/>
                                        <p:tgtEl>
                                          <p:spTgt spid="25"/>
                                        </p:tgtEl>
                                      </p:cBhvr>
                                    </p:animEffect>
                                  </p:childTnLst>
                                </p:cTn>
                              </p:par>
                              <p:par>
                                <p:cTn id="30" presetID="10" presetClass="entr" presetSubtype="0" fill="hold" grpId="0" nodeType="withEffect">
                                  <p:stCondLst>
                                    <p:cond delay="0"/>
                                  </p:stCondLst>
                                  <p:childTnLst>
                                    <p:set>
                                      <p:cBhvr>
                                        <p:cTn id="31" dur="1" fill="hold"/>
                                        <p:tgtEl>
                                          <p:spTgt spid="26"/>
                                        </p:tgtEl>
                                        <p:attrNameLst>
                                          <p:attrName>style.visibility</p:attrName>
                                        </p:attrNameLst>
                                      </p:cBhvr>
                                      <p:to>
                                        <p:strVal val="visible"/>
                                      </p:to>
                                    </p:set>
                                    <p:animEffect transition="in" filter="fade">
                                      <p:cBhvr>
                                        <p:cTn id="32" dur="350"/>
                                        <p:tgtEl>
                                          <p:spTgt spid="26"/>
                                        </p:tgtEl>
                                      </p:cBhvr>
                                    </p:animEffect>
                                  </p:childTnLst>
                                </p:cTn>
                              </p:par>
                              <p:par>
                                <p:cTn id="33" presetID="10" presetClass="entr" presetSubtype="0" fill="hold" grpId="0" nodeType="withEffect">
                                  <p:stCondLst>
                                    <p:cond delay="0"/>
                                  </p:stCondLst>
                                  <p:childTnLst>
                                    <p:set>
                                      <p:cBhvr>
                                        <p:cTn id="34" dur="1" fill="hold"/>
                                        <p:tgtEl>
                                          <p:spTgt spid="27"/>
                                        </p:tgtEl>
                                        <p:attrNameLst>
                                          <p:attrName>style.visibility</p:attrName>
                                        </p:attrNameLst>
                                      </p:cBhvr>
                                      <p:to>
                                        <p:strVal val="visible"/>
                                      </p:to>
                                    </p:set>
                                    <p:animEffect transition="in" filter="fade">
                                      <p:cBhvr>
                                        <p:cTn id="35" dur="350"/>
                                        <p:tgtEl>
                                          <p:spTgt spid="2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tgtEl>
                                          <p:spTgt spid="28"/>
                                        </p:tgtEl>
                                        <p:attrNameLst>
                                          <p:attrName>style.visibility</p:attrName>
                                        </p:attrNameLst>
                                      </p:cBhvr>
                                      <p:to>
                                        <p:strVal val="visible"/>
                                      </p:to>
                                    </p:set>
                                    <p:animEffect transition="in" filter="fade">
                                      <p:cBhvr>
                                        <p:cTn id="40" dur="350"/>
                                        <p:tgtEl>
                                          <p:spTgt spid="28"/>
                                        </p:tgtEl>
                                      </p:cBhvr>
                                    </p:animEffect>
                                  </p:childTnLst>
                                </p:cTn>
                              </p:par>
                              <p:par>
                                <p:cTn id="41" presetID="10" presetClass="entr" presetSubtype="0" fill="hold" grpId="0" nodeType="withEffect">
                                  <p:stCondLst>
                                    <p:cond delay="0"/>
                                  </p:stCondLst>
                                  <p:childTnLst>
                                    <p:set>
                                      <p:cBhvr>
                                        <p:cTn id="42" dur="1" fill="hold"/>
                                        <p:tgtEl>
                                          <p:spTgt spid="29"/>
                                        </p:tgtEl>
                                        <p:attrNameLst>
                                          <p:attrName>style.visibility</p:attrName>
                                        </p:attrNameLst>
                                      </p:cBhvr>
                                      <p:to>
                                        <p:strVal val="visible"/>
                                      </p:to>
                                    </p:set>
                                    <p:animEffect transition="in" filter="fade">
                                      <p:cBhvr>
                                        <p:cTn id="43" dur="35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27"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RL 核心概念</a:t>
            </a:r>
            <a:endParaRPr sz="2700" b="1">
              <a:solidFill>
                <a:srgbClr val="111111"/>
              </a:solidFill>
              <a:latin typeface="Times New Roman" panose="02020503050405090304"/>
              <a:ea typeface="微软雅黑"/>
              <a:cs typeface="Times New Roman" panose="02020503050405090304"/>
            </a:endParaRPr>
          </a:p>
        </p:txBody>
      </p:sp>
      <p:sp>
        <p:nvSpPr>
          <p:cNvPr id="19" name="collapse-definition"/>
          <p:cNvSpPr>
            <a:spLocks noGrp="1"/>
          </p:cNvSpPr>
          <p:nvPr/>
        </p:nvSpPr>
        <p:spPr>
          <a:xfrm>
            <a:off x="742950" y="1104900"/>
            <a:ext cx="110490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策略崩塌：输出过度集中、重复固定模式，任务表现随之恶化。</a:t>
            </a:r>
            <a:endParaRPr sz="2000" b="0">
              <a:solidFill>
                <a:srgbClr val="111111"/>
              </a:solidFill>
              <a:latin typeface="Times New Roman" panose="02020503050405090304"/>
              <a:ea typeface="微软雅黑"/>
              <a:cs typeface="Times New Roman" panose="02020503050405090304"/>
            </a:endParaRPr>
          </a:p>
        </p:txBody>
      </p:sp>
      <p:sp>
        <p:nvSpPr>
          <p:cNvPr id="20" name="case-heading"/>
          <p:cNvSpPr>
            <a:spLocks noGrp="1"/>
          </p:cNvSpPr>
          <p:nvPr/>
        </p:nvSpPr>
        <p:spPr>
          <a:xfrm>
            <a:off x="742950" y="1838325"/>
            <a:ext cx="5048250" cy="342900"/>
          </a:xfrm>
          <a:prstGeom prst="rect">
            <a:avLst/>
          </a:prstGeom>
          <a:noFill/>
          <a:ln w="0">
            <a:noFill/>
          </a:ln>
        </p:spPr>
        <p:txBody>
          <a:bodyPr wrap="none" lIns="0" tIns="0" rIns="0" bIns="0" anchor="t">
            <a:noAutofit/>
          </a:bodyPr>
          <a:lstStyle/>
          <a:p>
            <a:pPr>
              <a:lnSpc>
                <a:spcPct val="108000"/>
              </a:lnSpc>
              <a:buNone/>
              <a:defRPr sz="1875" b="1">
                <a:solidFill>
                  <a:srgbClr val="E60012"/>
                </a:solidFill>
                <a:latin typeface="Times New Roman" panose="02020503050405090304"/>
                <a:ea typeface="微软雅黑"/>
                <a:cs typeface="Times New Roman" panose="02020503050405090304"/>
              </a:defRPr>
            </a:pPr>
            <a:r>
              <a:rPr sz="1875" b="1">
                <a:solidFill>
                  <a:srgbClr val="E60012"/>
                </a:solidFill>
                <a:latin typeface="Times New Roman" panose="02020503050405090304"/>
                <a:ea typeface="微软雅黑"/>
                <a:cs typeface="Times New Roman" panose="02020503050405090304"/>
              </a:rPr>
              <a:t>Notebook 中的异常训练示例</a:t>
            </a:r>
            <a:endParaRPr sz="1875" b="1">
              <a:solidFill>
                <a:srgbClr val="E60012"/>
              </a:solidFill>
              <a:latin typeface="Times New Roman" panose="02020503050405090304"/>
              <a:ea typeface="微软雅黑"/>
              <a:cs typeface="Times New Roman" panose="02020503050405090304"/>
            </a:endParaRPr>
          </a:p>
        </p:txBody>
      </p:sp>
      <p:sp>
        <p:nvSpPr>
          <p:cNvPr id="21" name="signals-heading"/>
          <p:cNvSpPr>
            <a:spLocks noGrp="1"/>
          </p:cNvSpPr>
          <p:nvPr/>
        </p:nvSpPr>
        <p:spPr>
          <a:xfrm>
            <a:off x="6305550" y="1838325"/>
            <a:ext cx="5238750" cy="342900"/>
          </a:xfrm>
          <a:prstGeom prst="rect">
            <a:avLst/>
          </a:prstGeom>
          <a:noFill/>
          <a:ln w="0">
            <a:noFill/>
          </a:ln>
        </p:spPr>
        <p:txBody>
          <a:bodyPr wrap="none" lIns="0" tIns="0" rIns="0" bIns="0" anchor="t">
            <a:noAutofit/>
          </a:bodyPr>
          <a:lstStyle/>
          <a:p>
            <a:pPr>
              <a:lnSpc>
                <a:spcPct val="108000"/>
              </a:lnSpc>
              <a:buNone/>
              <a:defRPr sz="1875" b="1">
                <a:solidFill>
                  <a:srgbClr val="357AE8"/>
                </a:solidFill>
                <a:latin typeface="Times New Roman" panose="02020503050405090304"/>
                <a:ea typeface="微软雅黑"/>
                <a:cs typeface="Times New Roman" panose="02020503050405090304"/>
              </a:defRPr>
            </a:pPr>
            <a:r>
              <a:rPr sz="1875" b="1">
                <a:solidFill>
                  <a:srgbClr val="357AE8"/>
                </a:solidFill>
                <a:latin typeface="Times New Roman" panose="02020503050405090304"/>
                <a:ea typeface="微软雅黑"/>
                <a:cs typeface="Times New Roman" panose="02020503050405090304"/>
              </a:rPr>
              <a:t>训练时联合观察</a:t>
            </a:r>
            <a:endParaRPr sz="1875" b="1">
              <a:solidFill>
                <a:srgbClr val="357AE8"/>
              </a:solidFill>
              <a:latin typeface="Times New Roman" panose="02020503050405090304"/>
              <a:ea typeface="微软雅黑"/>
              <a:cs typeface="Times New Roman" panose="02020503050405090304"/>
            </a:endParaRPr>
          </a:p>
        </p:txBody>
      </p:sp>
      <p:graphicFrame>
        <p:nvGraphicFramePr>
          <p:cNvPr id="33" name="collapse-case-table"/>
          <p:cNvGraphicFramePr/>
          <p:nvPr/>
        </p:nvGraphicFramePr>
        <p:xfrm>
          <a:off x="742950" y="2333625"/>
          <a:ext cx="4991100" cy="1628775"/>
        </p:xfrm>
        <a:graphic>
          <a:graphicData uri="http://schemas.openxmlformats.org/drawingml/2006/table">
            <a:tbl>
              <a:tblPr/>
              <a:tblGrid>
                <a:gridCol w="838200"/>
                <a:gridCol w="1295400"/>
                <a:gridCol w="1295400"/>
                <a:gridCol w="1562100"/>
              </a:tblGrid>
              <a:tr h="523875">
                <a:tc>
                  <a:txBody>
                    <a:bodyPr>
                      <a:spAutoFit/>
                    </a:bodyPr>
                    <a:lstStyle/>
                    <a:p>
                      <a:pPr algn="ctr"/>
                      <a:r>
                        <a:rPr sz="1800" b="1">
                          <a:solidFill>
                            <a:srgbClr val="111111"/>
                          </a:solidFill>
                          <a:latin typeface="Times New Roman" panose="02020503050405090304"/>
                          <a:ea typeface="微软雅黑"/>
                          <a:cs typeface="Times New Roman" panose="02020503050405090304"/>
                        </a:rPr>
                        <a:t>step</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entropy</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correct</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输出长度</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552450">
                <a:tc>
                  <a:txBody>
                    <a:bodyPr>
                      <a:spAutoFit/>
                    </a:bodyPr>
                    <a:lstStyle/>
                    <a:p>
                      <a:pPr algn="ctr"/>
                      <a:r>
                        <a:rPr sz="1800" b="0">
                          <a:solidFill>
                            <a:srgbClr val="111111"/>
                          </a:solidFill>
                          <a:latin typeface="Times New Roman" panose="02020503050405090304"/>
                          <a:ea typeface="微软雅黑"/>
                          <a:cs typeface="Times New Roman" panose="02020503050405090304"/>
                        </a:rPr>
                        <a:t>75</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0.15</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45%</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1650</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552450">
                <a:tc>
                  <a:txBody>
                    <a:bodyPr>
                      <a:spAutoFit/>
                    </a:bodyPr>
                    <a:lstStyle/>
                    <a:p>
                      <a:pPr algn="ctr"/>
                      <a:r>
                        <a:rPr sz="1800" b="0">
                          <a:solidFill>
                            <a:srgbClr val="E60012"/>
                          </a:solidFill>
                          <a:latin typeface="Times New Roman" panose="02020503050405090304"/>
                          <a:ea typeface="微软雅黑"/>
                          <a:cs typeface="Times New Roman" panose="02020503050405090304"/>
                        </a:rPr>
                        <a:t>100</a:t>
                      </a:r>
                      <a:endParaRPr sz="1800" b="0">
                        <a:solidFill>
                          <a:srgbClr val="E60012"/>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E60012"/>
                          </a:solidFill>
                          <a:latin typeface="Times New Roman" panose="02020503050405090304"/>
                          <a:ea typeface="微软雅黑"/>
                          <a:cs typeface="Times New Roman" panose="02020503050405090304"/>
                        </a:rPr>
                        <a:t>0.001</a:t>
                      </a:r>
                      <a:endParaRPr sz="1800" b="0">
                        <a:solidFill>
                          <a:srgbClr val="E60012"/>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E60012"/>
                          </a:solidFill>
                          <a:latin typeface="Times New Roman" panose="02020503050405090304"/>
                          <a:ea typeface="微软雅黑"/>
                          <a:cs typeface="Times New Roman" panose="02020503050405090304"/>
                        </a:rPr>
                        <a:t>0%</a:t>
                      </a:r>
                      <a:endParaRPr sz="1800" b="0">
                        <a:solidFill>
                          <a:srgbClr val="E60012"/>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E60012"/>
                          </a:solidFill>
                          <a:latin typeface="Times New Roman" panose="02020503050405090304"/>
                          <a:ea typeface="微软雅黑"/>
                          <a:cs typeface="Times New Roman" panose="02020503050405090304"/>
                        </a:rPr>
                        <a:t>3232</a:t>
                      </a:r>
                      <a:endParaRPr sz="1800" b="0">
                        <a:solidFill>
                          <a:srgbClr val="E60012"/>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3" name="inspect-rollout"/>
          <p:cNvSpPr>
            <a:spLocks noGrp="1"/>
          </p:cNvSpPr>
          <p:nvPr/>
        </p:nvSpPr>
        <p:spPr>
          <a:xfrm>
            <a:off x="742950" y="4286250"/>
            <a:ext cx="5143500" cy="1162050"/>
          </a:xfrm>
          <a:prstGeom prst="rect">
            <a:avLst/>
          </a:prstGeom>
          <a:noFill/>
          <a:ln w="0">
            <a:noFill/>
          </a:ln>
        </p:spPr>
        <p:txBody>
          <a:bodyPr wrap="none" lIns="0" tIns="0" rIns="0" bIns="0" anchor="t">
            <a:noAutofit/>
          </a:bodyPr>
          <a:lstStyle/>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再检查实际 rollout：</a:t>
            </a:r>
            <a:endParaRPr sz="1875" b="0">
              <a:solidFill>
                <a:srgbClr val="111111"/>
              </a:solidFill>
              <a:latin typeface="Times New Roman" panose="02020503050405090304"/>
              <a:ea typeface="微软雅黑"/>
              <a:cs typeface="Times New Roman" panose="02020503050405090304"/>
            </a:endParaRPr>
          </a:p>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是否反复输出相同内容？</a:t>
            </a:r>
            <a:endParaRPr sz="1875" b="0">
              <a:solidFill>
                <a:srgbClr val="111111"/>
              </a:solidFill>
              <a:latin typeface="Times New Roman" panose="02020503050405090304"/>
              <a:ea typeface="微软雅黑"/>
              <a:cs typeface="Times New Roman" panose="02020503050405090304"/>
            </a:endParaRPr>
          </a:p>
          <a:p>
            <a:pPr>
              <a:lnSpc>
                <a:spcPct val="108000"/>
              </a:lnSpc>
              <a:buNone/>
              <a:defRPr sz="1875" b="0">
                <a:solidFill>
                  <a:srgbClr val="111111"/>
                </a:solidFill>
                <a:latin typeface="Times New Roman" panose="02020503050405090304"/>
                <a:ea typeface="微软雅黑"/>
                <a:cs typeface="Times New Roman" panose="02020503050405090304"/>
              </a:defRPr>
            </a:pPr>
            <a:r>
              <a:rPr sz="1875" b="0">
                <a:solidFill>
                  <a:srgbClr val="111111"/>
                </a:solidFill>
                <a:latin typeface="Times New Roman" panose="02020503050405090304"/>
                <a:ea typeface="微软雅黑"/>
                <a:cs typeface="Times New Roman" panose="02020503050405090304"/>
              </a:rPr>
              <a:t>是否出现无效的长回答？</a:t>
            </a:r>
            <a:endParaRPr sz="1875" b="0">
              <a:solidFill>
                <a:srgbClr val="111111"/>
              </a:solidFill>
              <a:latin typeface="Times New Roman" panose="02020503050405090304"/>
              <a:ea typeface="微软雅黑"/>
              <a:cs typeface="Times New Roman" panose="02020503050405090304"/>
            </a:endParaRPr>
          </a:p>
        </p:txBody>
      </p:sp>
      <p:graphicFrame>
        <p:nvGraphicFramePr>
          <p:cNvPr id="35" name="health-signals-table"/>
          <p:cNvGraphicFramePr/>
          <p:nvPr/>
        </p:nvGraphicFramePr>
        <p:xfrm>
          <a:off x="6305550" y="2333625"/>
          <a:ext cx="5238750" cy="2895600"/>
        </p:xfrm>
        <a:graphic>
          <a:graphicData uri="http://schemas.openxmlformats.org/drawingml/2006/table">
            <a:tbl>
              <a:tblPr/>
              <a:tblGrid>
                <a:gridCol w="1790700"/>
                <a:gridCol w="3448050"/>
              </a:tblGrid>
              <a:tr h="400050">
                <a:tc>
                  <a:txBody>
                    <a:bodyPr>
                      <a:spAutoFit/>
                    </a:bodyPr>
                    <a:lstStyle/>
                    <a:p>
                      <a:pPr algn="ctr"/>
                      <a:r>
                        <a:rPr sz="1650" b="1">
                          <a:solidFill>
                            <a:srgbClr val="111111"/>
                          </a:solidFill>
                          <a:latin typeface="Times New Roman" panose="02020503050405090304"/>
                          <a:ea typeface="微软雅黑"/>
                          <a:cs typeface="Times New Roman" panose="02020503050405090304"/>
                        </a:rPr>
                        <a:t>指标</a:t>
                      </a:r>
                      <a:endParaRPr sz="165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650" b="1">
                          <a:solidFill>
                            <a:srgbClr val="111111"/>
                          </a:solidFill>
                          <a:latin typeface="Times New Roman" panose="02020503050405090304"/>
                          <a:ea typeface="微软雅黑"/>
                          <a:cs typeface="Times New Roman" panose="02020503050405090304"/>
                        </a:rPr>
                        <a:t>需要警惕的变化</a:t>
                      </a:r>
                      <a:endParaRPr sz="1650"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85775">
                <a:tc>
                  <a:txBody>
                    <a:bodyPr>
                      <a:spAutoFit/>
                    </a:bodyPr>
                    <a:lstStyle/>
                    <a:p>
                      <a:pPr algn="ctr"/>
                      <a:r>
                        <a:rPr sz="1650" b="0">
                          <a:solidFill>
                            <a:srgbClr val="111111"/>
                          </a:solidFill>
                          <a:latin typeface="Times New Roman" panose="02020503050405090304"/>
                          <a:ea typeface="微软雅黑"/>
                          <a:cs typeface="Times New Roman" panose="02020503050405090304"/>
                        </a:rPr>
                        <a:t>entropy</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650" b="0">
                          <a:solidFill>
                            <a:srgbClr val="111111"/>
                          </a:solidFill>
                          <a:latin typeface="Times New Roman" panose="02020503050405090304"/>
                          <a:ea typeface="微软雅黑"/>
                          <a:cs typeface="Times New Roman" panose="02020503050405090304"/>
                        </a:rPr>
                        <a:t>快速接近 0 或异常上升</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47675">
                <a:tc>
                  <a:txBody>
                    <a:bodyPr>
                      <a:spAutoFit/>
                    </a:bodyPr>
                    <a:lstStyle/>
                    <a:p>
                      <a:pPr algn="ctr"/>
                      <a:r>
                        <a:rPr sz="1650" b="0">
                          <a:solidFill>
                            <a:srgbClr val="111111"/>
                          </a:solidFill>
                          <a:latin typeface="Times New Roman" panose="02020503050405090304"/>
                          <a:ea typeface="微软雅黑"/>
                          <a:cs typeface="Times New Roman" panose="02020503050405090304"/>
                        </a:rPr>
                        <a:t>KL</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650" b="0">
                          <a:solidFill>
                            <a:srgbClr val="111111"/>
                          </a:solidFill>
                          <a:latin typeface="Times New Roman" panose="02020503050405090304"/>
                          <a:ea typeface="微软雅黑"/>
                          <a:cs typeface="Times New Roman" panose="02020503050405090304"/>
                        </a:rPr>
                        <a:t>持续快速增大</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47675">
                <a:tc>
                  <a:txBody>
                    <a:bodyPr>
                      <a:spAutoFit/>
                    </a:bodyPr>
                    <a:lstStyle/>
                    <a:p>
                      <a:pPr algn="ctr"/>
                      <a:r>
                        <a:rPr sz="1650" b="0">
                          <a:solidFill>
                            <a:srgbClr val="111111"/>
                          </a:solidFill>
                          <a:latin typeface="Times New Roman" panose="02020503050405090304"/>
                          <a:ea typeface="微软雅黑"/>
                          <a:cs typeface="Times New Roman" panose="02020503050405090304"/>
                        </a:rPr>
                        <a:t>grad_norm</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650" b="0">
                          <a:solidFill>
                            <a:srgbClr val="111111"/>
                          </a:solidFill>
                          <a:latin typeface="Times New Roman" panose="02020503050405090304"/>
                          <a:ea typeface="微软雅黑"/>
                          <a:cs typeface="Times New Roman" panose="02020503050405090304"/>
                        </a:rPr>
                        <a:t>突然飙升</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85775">
                <a:tc>
                  <a:txBody>
                    <a:bodyPr>
                      <a:spAutoFit/>
                    </a:bodyPr>
                    <a:lstStyle/>
                    <a:p>
                      <a:pPr algn="ctr"/>
                      <a:r>
                        <a:rPr sz="1650" b="0">
                          <a:solidFill>
                            <a:srgbClr val="111111"/>
                          </a:solidFill>
                          <a:latin typeface="Times New Roman" panose="02020503050405090304"/>
                          <a:ea typeface="微软雅黑"/>
                          <a:cs typeface="Times New Roman" panose="02020503050405090304"/>
                        </a:rPr>
                        <a:t>response_length</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650" b="0">
                          <a:solidFill>
                            <a:srgbClr val="111111"/>
                          </a:solidFill>
                          <a:latin typeface="Times New Roman" panose="02020503050405090304"/>
                          <a:ea typeface="微软雅黑"/>
                          <a:cs typeface="Times New Roman" panose="02020503050405090304"/>
                        </a:rPr>
                        <a:t>异常升高并长期维持</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28650">
                <a:tc>
                  <a:txBody>
                    <a:bodyPr>
                      <a:spAutoFit/>
                    </a:bodyPr>
                    <a:lstStyle/>
                    <a:p>
                      <a:pPr algn="ctr"/>
                      <a:r>
                        <a:rPr sz="1650" b="0">
                          <a:solidFill>
                            <a:srgbClr val="111111"/>
                          </a:solidFill>
                          <a:latin typeface="Times New Roman" panose="02020503050405090304"/>
                          <a:ea typeface="微软雅黑"/>
                          <a:cs typeface="Times New Roman" panose="02020503050405090304"/>
                        </a:rPr>
                        <a:t>reward / correct</a:t>
                      </a:r>
                      <a:endParaRPr sz="165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l"/>
                      <a:r>
                        <a:rPr sz="1575" b="0">
                          <a:solidFill>
                            <a:srgbClr val="111111"/>
                          </a:solidFill>
                          <a:latin typeface="Times New Roman" panose="02020503050405090304"/>
                          <a:ea typeface="微软雅黑"/>
                          <a:cs typeface="Times New Roman" panose="02020503050405090304"/>
                        </a:rPr>
                        <a:t>训练奖励上升</a:t>
                      </a:r>
                      <a:endParaRPr sz="1575" b="0">
                        <a:solidFill>
                          <a:srgbClr val="111111"/>
                        </a:solidFill>
                        <a:latin typeface="Times New Roman" panose="02020503050405090304"/>
                        <a:ea typeface="微软雅黑"/>
                        <a:cs typeface="Times New Roman" panose="02020503050405090304"/>
                      </a:endParaRPr>
                    </a:p>
                    <a:p>
                      <a:pPr algn="l"/>
                      <a:r>
                        <a:rPr sz="1575" b="0">
                          <a:solidFill>
                            <a:srgbClr val="111111"/>
                          </a:solidFill>
                          <a:latin typeface="Times New Roman" panose="02020503050405090304"/>
                          <a:ea typeface="微软雅黑"/>
                          <a:cs typeface="Times New Roman" panose="02020503050405090304"/>
                        </a:rPr>
                        <a:t>验证 correct 回落</a:t>
                      </a:r>
                      <a:endParaRPr sz="157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5" name="health-key"/>
          <p:cNvSpPr>
            <a:spLocks noGrp="1"/>
          </p:cNvSpPr>
          <p:nvPr/>
        </p:nvSpPr>
        <p:spPr>
          <a:xfrm>
            <a:off x="742950" y="5495925"/>
            <a:ext cx="10953750" cy="3429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熵下降不一定异常，熵上升也不一定更好，要结合任务表现判断。</a:t>
            </a:r>
            <a:endParaRPr sz="1800" b="1">
              <a:solidFill>
                <a:srgbClr val="E60012"/>
              </a:solidFill>
              <a:latin typeface="Times New Roman" panose="02020503050405090304"/>
              <a:ea typeface="微软雅黑"/>
              <a:cs typeface="Times New Roman" panose="02020503050405090304"/>
            </a:endParaRPr>
          </a:p>
        </p:txBody>
      </p:sp>
      <p:sp>
        <p:nvSpPr>
          <p:cNvPr id="26" name="tuning-action"/>
          <p:cNvSpPr>
            <a:spLocks noGrp="1"/>
          </p:cNvSpPr>
          <p:nvPr/>
        </p:nvSpPr>
        <p:spPr>
          <a:xfrm>
            <a:off x="742950" y="5867400"/>
            <a:ext cx="9525000" cy="266700"/>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新环境先运行 25～30 步观察趋势。每次仅调整一个参数。</a:t>
            </a:r>
            <a:endParaRPr sz="1575"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20"/>
                                        </p:tgtEl>
                                        <p:attrNameLst>
                                          <p:attrName>style.visibility</p:attrName>
                                        </p:attrNameLst>
                                      </p:cBhvr>
                                      <p:to>
                                        <p:strVal val="visible"/>
                                      </p:to>
                                    </p:set>
                                    <p:animEffect transition="in" filter="fade">
                                      <p:cBhvr>
                                        <p:cTn id="12" dur="350"/>
                                        <p:tgtEl>
                                          <p:spTgt spid="20"/>
                                        </p:tgtEl>
                                      </p:cBhvr>
                                    </p:animEffect>
                                  </p:childTnLst>
                                </p:cTn>
                              </p:par>
                              <p:par>
                                <p:cTn id="13" presetID="10" presetClass="entr" presetSubtype="0" fill="hold" grpId="0" nodeType="withEffect">
                                  <p:stCondLst>
                                    <p:cond delay="0"/>
                                  </p:stCondLst>
                                  <p:childTnLst>
                                    <p:set>
                                      <p:cBhvr>
                                        <p:cTn id="14" dur="1" fill="hold"/>
                                        <p:tgtEl>
                                          <p:spTgt spid="33"/>
                                        </p:tgtEl>
                                        <p:attrNameLst>
                                          <p:attrName>style.visibility</p:attrName>
                                        </p:attrNameLst>
                                      </p:cBhvr>
                                      <p:to>
                                        <p:strVal val="visible"/>
                                      </p:to>
                                    </p:set>
                                    <p:animEffect transition="in" filter="fade">
                                      <p:cBhvr>
                                        <p:cTn id="15" dur="350"/>
                                        <p:tgtEl>
                                          <p:spTgt spid="33"/>
                                        </p:tgtEl>
                                      </p:cBhvr>
                                    </p:animEffect>
                                  </p:childTnLst>
                                </p:cTn>
                              </p:par>
                              <p:par>
                                <p:cTn id="16" presetID="10" presetClass="entr" presetSubtype="0" fill="hold" grpId="0" nodeType="withEffect">
                                  <p:stCondLst>
                                    <p:cond delay="0"/>
                                  </p:stCondLst>
                                  <p:childTnLst>
                                    <p:set>
                                      <p:cBhvr>
                                        <p:cTn id="17" dur="1" fill="hold"/>
                                        <p:tgtEl>
                                          <p:spTgt spid="23"/>
                                        </p:tgtEl>
                                        <p:attrNameLst>
                                          <p:attrName>style.visibility</p:attrName>
                                        </p:attrNameLst>
                                      </p:cBhvr>
                                      <p:to>
                                        <p:strVal val="visible"/>
                                      </p:to>
                                    </p:set>
                                    <p:animEffect transition="in" filter="fade">
                                      <p:cBhvr>
                                        <p:cTn id="18" dur="35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1"/>
                                        </p:tgtEl>
                                        <p:attrNameLst>
                                          <p:attrName>style.visibility</p:attrName>
                                        </p:attrNameLst>
                                      </p:cBhvr>
                                      <p:to>
                                        <p:strVal val="visible"/>
                                      </p:to>
                                    </p:set>
                                    <p:animEffect transition="in" filter="fade">
                                      <p:cBhvr>
                                        <p:cTn id="23" dur="350"/>
                                        <p:tgtEl>
                                          <p:spTgt spid="21"/>
                                        </p:tgtEl>
                                      </p:cBhvr>
                                    </p:animEffect>
                                  </p:childTnLst>
                                </p:cTn>
                              </p:par>
                              <p:par>
                                <p:cTn id="24" presetID="10" presetClass="entr" presetSubtype="0" fill="hold" grpId="0" nodeType="withEffect">
                                  <p:stCondLst>
                                    <p:cond delay="0"/>
                                  </p:stCondLst>
                                  <p:childTnLst>
                                    <p:set>
                                      <p:cBhvr>
                                        <p:cTn id="25" dur="1" fill="hold"/>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tgtEl>
                                          <p:spTgt spid="25"/>
                                        </p:tgtEl>
                                        <p:attrNameLst>
                                          <p:attrName>style.visibility</p:attrName>
                                        </p:attrNameLst>
                                      </p:cBhvr>
                                      <p:to>
                                        <p:strVal val="visible"/>
                                      </p:to>
                                    </p:set>
                                    <p:animEffect transition="in" filter="fade">
                                      <p:cBhvr>
                                        <p:cTn id="31" dur="350"/>
                                        <p:tgtEl>
                                          <p:spTgt spid="25"/>
                                        </p:tgtEl>
                                      </p:cBhvr>
                                    </p:animEffect>
                                  </p:childTnLst>
                                </p:cTn>
                              </p:par>
                              <p:par>
                                <p:cTn id="32" presetID="10" presetClass="entr" presetSubtype="0" fill="hold" grpId="0" nodeType="withEffect">
                                  <p:stCondLst>
                                    <p:cond delay="0"/>
                                  </p:stCondLst>
                                  <p:childTnLst>
                                    <p:set>
                                      <p:cBhvr>
                                        <p:cTn id="33" dur="1" fill="hold"/>
                                        <p:tgtEl>
                                          <p:spTgt spid="26"/>
                                        </p:tgtEl>
                                        <p:attrNameLst>
                                          <p:attrName>style.visibility</p:attrName>
                                        </p:attrNameLst>
                                      </p:cBhvr>
                                      <p:to>
                                        <p:strVal val="visible"/>
                                      </p:to>
                                    </p:set>
                                    <p:animEffect transition="in" filter="fade">
                                      <p:cBhvr>
                                        <p:cTn id="34"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RL 核心概念</a:t>
            </a:r>
            <a:endParaRPr sz="2700" b="1">
              <a:solidFill>
                <a:srgbClr val="111111"/>
              </a:solidFill>
              <a:latin typeface="Times New Roman" panose="02020503050405090304"/>
              <a:ea typeface="微软雅黑"/>
              <a:cs typeface="Times New Roman" panose="02020503050405090304"/>
            </a:endParaRPr>
          </a:p>
        </p:txBody>
      </p:sp>
      <p:sp>
        <p:nvSpPr>
          <p:cNvPr id="19" name="quiz-instruction"/>
          <p:cNvSpPr>
            <a:spLocks noGrp="1"/>
          </p:cNvSpPr>
          <p:nvPr/>
        </p:nvSpPr>
        <p:spPr>
          <a:xfrm>
            <a:off x="609600" y="971550"/>
            <a:ext cx="10953750" cy="32385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随堂检测：先独立作答，再说明你的判断依据。</a:t>
            </a:r>
            <a:endParaRPr sz="1725" b="0">
              <a:solidFill>
                <a:srgbClr val="555555"/>
              </a:solidFill>
              <a:latin typeface="Times New Roman" panose="02020503050405090304"/>
              <a:ea typeface="微软雅黑"/>
              <a:cs typeface="Times New Roman" panose="02020503050405090304"/>
            </a:endParaRPr>
          </a:p>
        </p:txBody>
      </p:sp>
      <p:sp>
        <p:nvSpPr>
          <p:cNvPr id="20" name="q1-label"/>
          <p:cNvSpPr>
            <a:spLocks noGrp="1"/>
          </p:cNvSpPr>
          <p:nvPr/>
        </p:nvSpPr>
        <p:spPr>
          <a:xfrm>
            <a:off x="609600" y="1438275"/>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Q1</a:t>
            </a:r>
            <a:endParaRPr sz="2175" b="1">
              <a:solidFill>
                <a:srgbClr val="111111"/>
              </a:solidFill>
              <a:latin typeface="Times New Roman" panose="02020503050405090304"/>
              <a:ea typeface="微软雅黑"/>
              <a:cs typeface="Times New Roman" panose="02020503050405090304"/>
            </a:endParaRPr>
          </a:p>
        </p:txBody>
      </p:sp>
      <p:sp>
        <p:nvSpPr>
          <p:cNvPr id="21" name="q1-stem"/>
          <p:cNvSpPr>
            <a:spLocks noGrp="1"/>
          </p:cNvSpPr>
          <p:nvPr/>
        </p:nvSpPr>
        <p:spPr>
          <a:xfrm>
            <a:off x="1495425" y="1447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【判断】GRPO 不需要 Critic，用组内平均奖励作为优势的 baseline。</a:t>
            </a:r>
            <a:endParaRPr sz="1800" b="1">
              <a:solidFill>
                <a:srgbClr val="111111"/>
              </a:solidFill>
              <a:latin typeface="Times New Roman" panose="02020503050405090304"/>
              <a:ea typeface="微软雅黑"/>
              <a:cs typeface="Times New Roman" panose="02020503050405090304"/>
            </a:endParaRPr>
          </a:p>
        </p:txBody>
      </p:sp>
      <p:sp>
        <p:nvSpPr>
          <p:cNvPr id="22" name="q2-label"/>
          <p:cNvSpPr>
            <a:spLocks noGrp="1"/>
          </p:cNvSpPr>
          <p:nvPr/>
        </p:nvSpPr>
        <p:spPr>
          <a:xfrm>
            <a:off x="609600" y="2257425"/>
            <a:ext cx="704850" cy="400050"/>
          </a:xfrm>
          <a:prstGeom prst="roundRect">
            <a:avLst>
              <a:gd name="adj" fmla="val 35714"/>
            </a:avLst>
          </a:prstGeom>
          <a:solidFill>
            <a:srgbClr val="FFD0D1"/>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Q2</a:t>
            </a:r>
            <a:endParaRPr sz="2175" b="1">
              <a:solidFill>
                <a:srgbClr val="111111"/>
              </a:solidFill>
              <a:latin typeface="Times New Roman" panose="02020503050405090304"/>
              <a:ea typeface="微软雅黑"/>
              <a:cs typeface="Times New Roman" panose="02020503050405090304"/>
            </a:endParaRPr>
          </a:p>
        </p:txBody>
      </p:sp>
      <p:sp>
        <p:nvSpPr>
          <p:cNvPr id="23" name="q2-stem"/>
          <p:cNvSpPr>
            <a:spLocks noGrp="1"/>
          </p:cNvSpPr>
          <p:nvPr/>
        </p:nvSpPr>
        <p:spPr>
          <a:xfrm>
            <a:off x="1495425" y="226695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【判断】Entropy bonus 越大越好，能保证充分探索。</a:t>
            </a:r>
            <a:endParaRPr sz="1800" b="1">
              <a:solidFill>
                <a:srgbClr val="111111"/>
              </a:solidFill>
              <a:latin typeface="Times New Roman" panose="02020503050405090304"/>
              <a:ea typeface="微软雅黑"/>
              <a:cs typeface="Times New Roman" panose="02020503050405090304"/>
            </a:endParaRPr>
          </a:p>
        </p:txBody>
      </p:sp>
      <p:sp>
        <p:nvSpPr>
          <p:cNvPr id="24" name="q3-label"/>
          <p:cNvSpPr>
            <a:spLocks noGrp="1"/>
          </p:cNvSpPr>
          <p:nvPr/>
        </p:nvSpPr>
        <p:spPr>
          <a:xfrm>
            <a:off x="609600" y="3105150"/>
            <a:ext cx="704850" cy="400050"/>
          </a:xfrm>
          <a:prstGeom prst="roundRect">
            <a:avLst>
              <a:gd name="adj" fmla="val 35714"/>
            </a:avLst>
          </a:prstGeom>
          <a:solidFill>
            <a:srgbClr val="BFECCC"/>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Q3</a:t>
            </a:r>
            <a:endParaRPr sz="2175" b="1">
              <a:solidFill>
                <a:srgbClr val="111111"/>
              </a:solidFill>
              <a:latin typeface="Times New Roman" panose="02020503050405090304"/>
              <a:ea typeface="微软雅黑"/>
              <a:cs typeface="Times New Roman" panose="02020503050405090304"/>
            </a:endParaRPr>
          </a:p>
        </p:txBody>
      </p:sp>
      <p:sp>
        <p:nvSpPr>
          <p:cNvPr id="25" name="q3-stem"/>
          <p:cNvSpPr>
            <a:spLocks noGrp="1"/>
          </p:cNvSpPr>
          <p:nvPr/>
        </p:nvSpPr>
        <p:spPr>
          <a:xfrm>
            <a:off x="1495425" y="311467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【单选】哪组现象最符合本课程的策略崩塌案例？</a:t>
            </a:r>
            <a:endParaRPr sz="1800" b="1">
              <a:solidFill>
                <a:srgbClr val="111111"/>
              </a:solidFill>
              <a:latin typeface="Times New Roman" panose="02020503050405090304"/>
              <a:ea typeface="微软雅黑"/>
              <a:cs typeface="Times New Roman" panose="02020503050405090304"/>
            </a:endParaRPr>
          </a:p>
        </p:txBody>
      </p:sp>
      <p:sp>
        <p:nvSpPr>
          <p:cNvPr id="26" name="q3-option0"/>
          <p:cNvSpPr>
            <a:spLocks noGrp="1"/>
          </p:cNvSpPr>
          <p:nvPr/>
        </p:nvSpPr>
        <p:spPr>
          <a:xfrm>
            <a:off x="149542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entropy 缓慢下降</a:t>
            </a:r>
            <a:endParaRPr sz="1650" b="0">
              <a:solidFill>
                <a:srgbClr val="111111"/>
              </a:solidFill>
              <a:latin typeface="Times New Roman" panose="02020503050405090304"/>
              <a:ea typeface="微软雅黑"/>
              <a:cs typeface="Times New Roman" panose="02020503050405090304"/>
            </a:endParaRPr>
          </a:p>
        </p:txBody>
      </p:sp>
      <p:sp>
        <p:nvSpPr>
          <p:cNvPr id="27" name="q3-option1"/>
          <p:cNvSpPr>
            <a:spLocks noGrp="1"/>
          </p:cNvSpPr>
          <p:nvPr/>
        </p:nvSpPr>
        <p:spPr>
          <a:xfrm>
            <a:off x="650557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reward 持续上升</a:t>
            </a:r>
            <a:endParaRPr sz="1650" b="0">
              <a:solidFill>
                <a:srgbClr val="111111"/>
              </a:solidFill>
              <a:latin typeface="Times New Roman" panose="02020503050405090304"/>
              <a:ea typeface="微软雅黑"/>
              <a:cs typeface="Times New Roman" panose="02020503050405090304"/>
            </a:endParaRPr>
          </a:p>
        </p:txBody>
      </p:sp>
      <p:sp>
        <p:nvSpPr>
          <p:cNvPr id="28" name="q3-option2"/>
          <p:cNvSpPr>
            <a:spLocks noGrp="1"/>
          </p:cNvSpPr>
          <p:nvPr/>
        </p:nvSpPr>
        <p:spPr>
          <a:xfrm>
            <a:off x="149542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entropy 近 0、长度异常高位、correct 归零</a:t>
            </a:r>
            <a:endParaRPr sz="1650" b="0">
              <a:solidFill>
                <a:srgbClr val="111111"/>
              </a:solidFill>
              <a:latin typeface="Times New Roman" panose="02020503050405090304"/>
              <a:ea typeface="微软雅黑"/>
              <a:cs typeface="Times New Roman" panose="02020503050405090304"/>
            </a:endParaRPr>
          </a:p>
        </p:txBody>
      </p:sp>
      <p:sp>
        <p:nvSpPr>
          <p:cNvPr id="29" name="q3-option3"/>
          <p:cNvSpPr>
            <a:spLocks noGrp="1"/>
          </p:cNvSpPr>
          <p:nvPr/>
        </p:nvSpPr>
        <p:spPr>
          <a:xfrm>
            <a:off x="650557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kl_loss 缓慢上升</a:t>
            </a:r>
            <a:endParaRPr sz="1650" b="0">
              <a:solidFill>
                <a:srgbClr val="111111"/>
              </a:solidFill>
              <a:latin typeface="Times New Roman" panose="02020503050405090304"/>
              <a:ea typeface="微软雅黑"/>
              <a:cs typeface="Times New Roman" panose="02020503050405090304"/>
            </a:endParaRPr>
          </a:p>
        </p:txBody>
      </p:sp>
      <p:sp>
        <p:nvSpPr>
          <p:cNvPr id="30" name="q4-label"/>
          <p:cNvSpPr>
            <a:spLocks noGrp="1"/>
          </p:cNvSpPr>
          <p:nvPr/>
        </p:nvSpPr>
        <p:spPr>
          <a:xfrm>
            <a:off x="609600" y="4686300"/>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Q4</a:t>
            </a:r>
            <a:endParaRPr sz="2175" b="1">
              <a:solidFill>
                <a:srgbClr val="111111"/>
              </a:solidFill>
              <a:latin typeface="Times New Roman" panose="02020503050405090304"/>
              <a:ea typeface="微软雅黑"/>
              <a:cs typeface="Times New Roman" panose="02020503050405090304"/>
            </a:endParaRPr>
          </a:p>
        </p:txBody>
      </p:sp>
      <p:sp>
        <p:nvSpPr>
          <p:cNvPr id="31" name="q4-stem"/>
          <p:cNvSpPr>
            <a:spLocks noGrp="1"/>
          </p:cNvSpPr>
          <p:nvPr/>
        </p:nvSpPr>
        <p:spPr>
          <a:xfrm>
            <a:off x="1495425" y="469582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【单选】保留参考策略的主要目的是什么？</a:t>
            </a:r>
            <a:endParaRPr sz="1800" b="1">
              <a:solidFill>
                <a:srgbClr val="111111"/>
              </a:solidFill>
              <a:latin typeface="Times New Roman" panose="02020503050405090304"/>
              <a:ea typeface="微软雅黑"/>
              <a:cs typeface="Times New Roman" panose="02020503050405090304"/>
            </a:endParaRPr>
          </a:p>
        </p:txBody>
      </p:sp>
      <p:sp>
        <p:nvSpPr>
          <p:cNvPr id="32" name="q4-option0"/>
          <p:cNvSpPr>
            <a:spLocks noGrp="1"/>
          </p:cNvSpPr>
          <p:nvPr/>
        </p:nvSpPr>
        <p:spPr>
          <a:xfrm>
            <a:off x="149542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加速训练</a:t>
            </a:r>
            <a:endParaRPr sz="1650" b="0">
              <a:solidFill>
                <a:srgbClr val="111111"/>
              </a:solidFill>
              <a:latin typeface="Times New Roman" panose="02020503050405090304"/>
              <a:ea typeface="微软雅黑"/>
              <a:cs typeface="Times New Roman" panose="02020503050405090304"/>
            </a:endParaRPr>
          </a:p>
        </p:txBody>
      </p:sp>
      <p:sp>
        <p:nvSpPr>
          <p:cNvPr id="33" name="q4-option1"/>
          <p:cNvSpPr>
            <a:spLocks noGrp="1"/>
          </p:cNvSpPr>
          <p:nvPr/>
        </p:nvSpPr>
        <p:spPr>
          <a:xfrm>
            <a:off x="650557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防止当前策略偏离初始模型太远</a:t>
            </a:r>
            <a:endParaRPr sz="1650" b="0">
              <a:solidFill>
                <a:srgbClr val="111111"/>
              </a:solidFill>
              <a:latin typeface="Times New Roman" panose="02020503050405090304"/>
              <a:ea typeface="微软雅黑"/>
              <a:cs typeface="Times New Roman" panose="02020503050405090304"/>
            </a:endParaRPr>
          </a:p>
        </p:txBody>
      </p:sp>
      <p:sp>
        <p:nvSpPr>
          <p:cNvPr id="34" name="q4-option2"/>
          <p:cNvSpPr>
            <a:spLocks noGrp="1"/>
          </p:cNvSpPr>
          <p:nvPr/>
        </p:nvSpPr>
        <p:spPr>
          <a:xfrm>
            <a:off x="149542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生成 rollout</a:t>
            </a:r>
            <a:endParaRPr sz="1650" b="0">
              <a:solidFill>
                <a:srgbClr val="111111"/>
              </a:solidFill>
              <a:latin typeface="Times New Roman" panose="02020503050405090304"/>
              <a:ea typeface="微软雅黑"/>
              <a:cs typeface="Times New Roman" panose="02020503050405090304"/>
            </a:endParaRPr>
          </a:p>
        </p:txBody>
      </p:sp>
      <p:sp>
        <p:nvSpPr>
          <p:cNvPr id="35" name="q4-option3"/>
          <p:cNvSpPr>
            <a:spLocks noGrp="1"/>
          </p:cNvSpPr>
          <p:nvPr/>
        </p:nvSpPr>
        <p:spPr>
          <a:xfrm>
            <a:off x="650557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计算 reward</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10" presetClass="entr" presetSubtype="0" fill="hold" grpId="0" nodeType="withEffect">
                                  <p:stCondLst>
                                    <p:cond delay="0"/>
                                  </p:stCondLst>
                                  <p:childTnLst>
                                    <p:set>
                                      <p:cBhvr>
                                        <p:cTn id="17" dur="1" fill="hold"/>
                                        <p:tgtEl>
                                          <p:spTgt spid="23"/>
                                        </p:tgtEl>
                                        <p:attrNameLst>
                                          <p:attrName>style.visibility</p:attrName>
                                        </p:attrNameLst>
                                      </p:cBhvr>
                                      <p:to>
                                        <p:strVal val="visible"/>
                                      </p:to>
                                    </p:set>
                                    <p:animEffect transition="in" filter="fade">
                                      <p:cBhvr>
                                        <p:cTn id="18" dur="35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4"/>
                                        </p:tgtEl>
                                        <p:attrNameLst>
                                          <p:attrName>style.visibility</p:attrName>
                                        </p:attrNameLst>
                                      </p:cBhvr>
                                      <p:to>
                                        <p:strVal val="visible"/>
                                      </p:to>
                                    </p:set>
                                    <p:animEffect transition="in" filter="fade">
                                      <p:cBhvr>
                                        <p:cTn id="23" dur="350"/>
                                        <p:tgtEl>
                                          <p:spTgt spid="24"/>
                                        </p:tgtEl>
                                      </p:cBhvr>
                                    </p:animEffect>
                                  </p:childTnLst>
                                </p:cTn>
                              </p:par>
                              <p:par>
                                <p:cTn id="24" presetID="10" presetClass="entr" presetSubtype="0" fill="hold" grpId="0" nodeType="withEffect">
                                  <p:stCondLst>
                                    <p:cond delay="0"/>
                                  </p:stCondLst>
                                  <p:childTnLst>
                                    <p:set>
                                      <p:cBhvr>
                                        <p:cTn id="25" dur="1" fill="hold"/>
                                        <p:tgtEl>
                                          <p:spTgt spid="25"/>
                                        </p:tgtEl>
                                        <p:attrNameLst>
                                          <p:attrName>style.visibility</p:attrName>
                                        </p:attrNameLst>
                                      </p:cBhvr>
                                      <p:to>
                                        <p:strVal val="visible"/>
                                      </p:to>
                                    </p:set>
                                    <p:animEffect transition="in" filter="fade">
                                      <p:cBhvr>
                                        <p:cTn id="26" dur="350"/>
                                        <p:tgtEl>
                                          <p:spTgt spid="25"/>
                                        </p:tgtEl>
                                      </p:cBhvr>
                                    </p:animEffect>
                                  </p:childTnLst>
                                </p:cTn>
                              </p:par>
                              <p:par>
                                <p:cTn id="27" presetID="10" presetClass="entr" presetSubtype="0" fill="hold" grpId="0" nodeType="withEffect">
                                  <p:stCondLst>
                                    <p:cond delay="0"/>
                                  </p:stCondLst>
                                  <p:childTnLst>
                                    <p:set>
                                      <p:cBhvr>
                                        <p:cTn id="28" dur="1" fill="hold"/>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presetSubtype="0" fill="hold" grpId="0" nodeType="withEffect">
                                  <p:stCondLst>
                                    <p:cond delay="0"/>
                                  </p:stCondLst>
                                  <p:childTnLst>
                                    <p:set>
                                      <p:cBhvr>
                                        <p:cTn id="31" dur="1" fill="hold"/>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presetSubtype="0" fill="hold" grpId="0" nodeType="withEffect">
                                  <p:stCondLst>
                                    <p:cond delay="0"/>
                                  </p:stCondLst>
                                  <p:childTnLst>
                                    <p:set>
                                      <p:cBhvr>
                                        <p:cTn id="34" dur="1" fill="hold"/>
                                        <p:tgtEl>
                                          <p:spTgt spid="28"/>
                                        </p:tgtEl>
                                        <p:attrNameLst>
                                          <p:attrName>style.visibility</p:attrName>
                                        </p:attrNameLst>
                                      </p:cBhvr>
                                      <p:to>
                                        <p:strVal val="visible"/>
                                      </p:to>
                                    </p:set>
                                    <p:animEffect transition="in" filter="fade">
                                      <p:cBhvr>
                                        <p:cTn id="35" dur="350"/>
                                        <p:tgtEl>
                                          <p:spTgt spid="28"/>
                                        </p:tgtEl>
                                      </p:cBhvr>
                                    </p:animEffect>
                                  </p:childTnLst>
                                </p:cTn>
                              </p:par>
                              <p:par>
                                <p:cTn id="36" presetID="10" presetClass="entr" presetSubtype="0" fill="hold" grpId="0" nodeType="withEffect">
                                  <p:stCondLst>
                                    <p:cond delay="0"/>
                                  </p:stCondLst>
                                  <p:childTnLst>
                                    <p:set>
                                      <p:cBhvr>
                                        <p:cTn id="37" dur="1" fill="hold"/>
                                        <p:tgtEl>
                                          <p:spTgt spid="29"/>
                                        </p:tgtEl>
                                        <p:attrNameLst>
                                          <p:attrName>style.visibility</p:attrName>
                                        </p:attrNameLst>
                                      </p:cBhvr>
                                      <p:to>
                                        <p:strVal val="visible"/>
                                      </p:to>
                                    </p:set>
                                    <p:animEffect transition="in" filter="fade">
                                      <p:cBhvr>
                                        <p:cTn id="38" dur="35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30"/>
                                        </p:tgtEl>
                                        <p:attrNameLst>
                                          <p:attrName>style.visibility</p:attrName>
                                        </p:attrNameLst>
                                      </p:cBhvr>
                                      <p:to>
                                        <p:strVal val="visible"/>
                                      </p:to>
                                    </p:set>
                                    <p:animEffect transition="in" filter="fade">
                                      <p:cBhvr>
                                        <p:cTn id="43" dur="350"/>
                                        <p:tgtEl>
                                          <p:spTgt spid="30"/>
                                        </p:tgtEl>
                                      </p:cBhvr>
                                    </p:animEffect>
                                  </p:childTnLst>
                                </p:cTn>
                              </p:par>
                              <p:par>
                                <p:cTn id="44" presetID="10" presetClass="entr" presetSubtype="0" fill="hold" grpId="0" nodeType="withEffect">
                                  <p:stCondLst>
                                    <p:cond delay="0"/>
                                  </p:stCondLst>
                                  <p:childTnLst>
                                    <p:set>
                                      <p:cBhvr>
                                        <p:cTn id="45" dur="1" fill="hold"/>
                                        <p:tgtEl>
                                          <p:spTgt spid="31"/>
                                        </p:tgtEl>
                                        <p:attrNameLst>
                                          <p:attrName>style.visibility</p:attrName>
                                        </p:attrNameLst>
                                      </p:cBhvr>
                                      <p:to>
                                        <p:strVal val="visible"/>
                                      </p:to>
                                    </p:set>
                                    <p:animEffect transition="in" filter="fade">
                                      <p:cBhvr>
                                        <p:cTn id="46" dur="350"/>
                                        <p:tgtEl>
                                          <p:spTgt spid="31"/>
                                        </p:tgtEl>
                                      </p:cBhvr>
                                    </p:animEffect>
                                  </p:childTnLst>
                                </p:cTn>
                              </p:par>
                              <p:par>
                                <p:cTn id="47" presetID="10" presetClass="entr" presetSubtype="0" fill="hold" grpId="0" nodeType="withEffect">
                                  <p:stCondLst>
                                    <p:cond delay="0"/>
                                  </p:stCondLst>
                                  <p:childTnLst>
                                    <p:set>
                                      <p:cBhvr>
                                        <p:cTn id="48" dur="1" fill="hold"/>
                                        <p:tgtEl>
                                          <p:spTgt spid="32"/>
                                        </p:tgtEl>
                                        <p:attrNameLst>
                                          <p:attrName>style.visibility</p:attrName>
                                        </p:attrNameLst>
                                      </p:cBhvr>
                                      <p:to>
                                        <p:strVal val="visible"/>
                                      </p:to>
                                    </p:set>
                                    <p:animEffect transition="in" filter="fade">
                                      <p:cBhvr>
                                        <p:cTn id="49" dur="350"/>
                                        <p:tgtEl>
                                          <p:spTgt spid="32"/>
                                        </p:tgtEl>
                                      </p:cBhvr>
                                    </p:animEffect>
                                  </p:childTnLst>
                                </p:cTn>
                              </p:par>
                              <p:par>
                                <p:cTn id="50" presetID="10" presetClass="entr" presetSubtype="0" fill="hold" grpId="0" nodeType="withEffect">
                                  <p:stCondLst>
                                    <p:cond delay="0"/>
                                  </p:stCondLst>
                                  <p:childTnLst>
                                    <p:set>
                                      <p:cBhvr>
                                        <p:cTn id="51" dur="1" fill="hold"/>
                                        <p:tgtEl>
                                          <p:spTgt spid="33"/>
                                        </p:tgtEl>
                                        <p:attrNameLst>
                                          <p:attrName>style.visibility</p:attrName>
                                        </p:attrNameLst>
                                      </p:cBhvr>
                                      <p:to>
                                        <p:strVal val="visible"/>
                                      </p:to>
                                    </p:set>
                                    <p:animEffect transition="in" filter="fade">
                                      <p:cBhvr>
                                        <p:cTn id="52" dur="350"/>
                                        <p:tgtEl>
                                          <p:spTgt spid="33"/>
                                        </p:tgtEl>
                                      </p:cBhvr>
                                    </p:animEffect>
                                  </p:childTnLst>
                                </p:cTn>
                              </p:par>
                              <p:par>
                                <p:cTn id="53" presetID="10" presetClass="entr" presetSubtype="0" fill="hold" grpId="0" nodeType="withEffect">
                                  <p:stCondLst>
                                    <p:cond delay="0"/>
                                  </p:stCondLst>
                                  <p:childTnLst>
                                    <p:set>
                                      <p:cBhvr>
                                        <p:cTn id="54" dur="1" fill="hold"/>
                                        <p:tgtEl>
                                          <p:spTgt spid="34"/>
                                        </p:tgtEl>
                                        <p:attrNameLst>
                                          <p:attrName>style.visibility</p:attrName>
                                        </p:attrNameLst>
                                      </p:cBhvr>
                                      <p:to>
                                        <p:strVal val="visible"/>
                                      </p:to>
                                    </p:set>
                                    <p:animEffect transition="in" filter="fade">
                                      <p:cBhvr>
                                        <p:cTn id="55" dur="350"/>
                                        <p:tgtEl>
                                          <p:spTgt spid="34"/>
                                        </p:tgtEl>
                                      </p:cBhvr>
                                    </p:animEffect>
                                  </p:childTnLst>
                                </p:cTn>
                              </p:par>
                              <p:par>
                                <p:cTn id="56" presetID="10" presetClass="entr" presetSubtype="0" fill="hold" grpId="0" nodeType="withEffect">
                                  <p:stCondLst>
                                    <p:cond delay="0"/>
                                  </p:stCondLst>
                                  <p:childTnLst>
                                    <p:set>
                                      <p:cBhvr>
                                        <p:cTn id="57" dur="1" fill="hold"/>
                                        <p:tgtEl>
                                          <p:spTgt spid="35"/>
                                        </p:tgtEl>
                                        <p:attrNameLst>
                                          <p:attrName>style.visibility</p:attrName>
                                        </p:attrNameLst>
                                      </p:cBhvr>
                                      <p:to>
                                        <p:strVal val="visible"/>
                                      </p:to>
                                    </p:set>
                                    <p:animEffect transition="in" filter="fade">
                                      <p:cBhvr>
                                        <p:cTn id="58"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547073" y="2601035"/>
            <a:ext cx="3380868" cy="835742"/>
          </a:xfrm>
          <a:prstGeom prst="rect">
            <a:avLst/>
          </a:prstGeom>
          <a:solidFill>
            <a:srgbClr val="FFFFFF"/>
          </a:solidFill>
          <a:ln w="12700" cmpd="sng">
            <a:noFill/>
            <a:prstDash val="solid"/>
          </a:ln>
        </p:spPr>
        <p:txBody>
          <a:bodyPr anchor="ctr"/>
          <a:lstStyle/>
          <a:p>
            <a:pPr marL="0" indent="0" algn="ctr">
              <a:lnSpc>
                <a:spcPct val="100000"/>
              </a:lnSpc>
              <a:spcBef>
                <a:spcPts val="0"/>
              </a:spcBef>
              <a:spcAft>
                <a:spcPts val="0"/>
              </a:spcAft>
              <a:buNone/>
            </a:pPr>
            <a:r>
              <a:rPr sz="4000" b="0" i="0" u="none" cap="none">
                <a:ln>
                  <a:noFill/>
                </a:ln>
                <a:solidFill>
                  <a:srgbClr val="DDDDDD">
                    <a:lumMod val="50000"/>
                  </a:srgbClr>
                </a:solidFill>
                <a:latin typeface="Times New Roman" panose="02020503050405090304"/>
                <a:ea typeface="微软雅黑"/>
                <a:cs typeface="Times New Roman" panose="02020503050405090304"/>
              </a:rPr>
              <a:t>RL 初阶课程</a:t>
            </a:r>
            <a:endParaRPr sz="4000" b="0" i="0" u="none" cap="none">
              <a:ln>
                <a:noFill/>
              </a:ln>
              <a:solidFill>
                <a:srgbClr val="DDDDDD">
                  <a:lumMod val="50000"/>
                </a:srgbClr>
              </a:solidFill>
              <a:latin typeface="Times New Roman" panose="02020503050405090304"/>
              <a:ea typeface="微软雅黑"/>
              <a:cs typeface="Times New Roman" panose="02020503050405090304"/>
            </a:endParaRPr>
          </a:p>
        </p:txBody>
      </p:sp>
      <p:sp>
        <p:nvSpPr>
          <p:cNvPr id="15" name="í$ľidè"/>
          <p:cNvSpPr>
            <a:spLocks noGrp="1"/>
          </p:cNvSpPr>
          <p:nvPr/>
        </p:nvSpPr>
        <p:spPr>
          <a:xfrm>
            <a:off x="3956272" y="1890392"/>
            <a:ext cx="0" cy="2769071"/>
          </a:xfrm>
          <a:prstGeom prst="line">
            <a:avLst/>
          </a:prstGeom>
          <a:solidFill>
            <a:srgbClr val="FFCC00"/>
          </a:solidFill>
          <a:ln w="12700">
            <a:solidFill>
              <a:schemeClr val="bg1">
                <a:lumMod val="65000"/>
              </a:schemeClr>
            </a:solidFill>
            <a:prstDash val="solid"/>
            <a:headEnd type="none" w="med" len="med"/>
            <a:tailEnd type="none" w="med" len="med"/>
          </a:ln>
        </p:spPr>
      </p:sp>
      <p:pic>
        <p:nvPicPr>
          <p:cNvPr id="21" name="图片 7"/>
          <p:cNvPicPr>
            <a:picLocks noChangeAspect="1"/>
          </p:cNvPicPr>
          <p:nvPr/>
        </p:nvPicPr>
        <p:blipFill>
          <a:blip r:embed="rId1"/>
          <a:stretch>
            <a:fillRect/>
          </a:stretch>
        </p:blipFill>
        <p:spPr>
          <a:xfrm>
            <a:off x="10137202" y="6042990"/>
            <a:ext cx="1312676" cy="348426"/>
          </a:xfrm>
          <a:prstGeom prst="rect">
            <a:avLst/>
          </a:prstGeom>
        </p:spPr>
      </p:pic>
      <p:sp>
        <p:nvSpPr>
          <p:cNvPr id="17" name="文本框 16"/>
          <p:cNvSpPr>
            <a:spLocks noGrp="1"/>
          </p:cNvSpPr>
          <p:nvPr/>
        </p:nvSpPr>
        <p:spPr>
          <a:xfrm>
            <a:off x="620201" y="6130454"/>
            <a:ext cx="8763000" cy="246221"/>
          </a:xfrm>
          <a:prstGeom prst="rect">
            <a:avLst/>
          </a:prstGeom>
          <a:noFill/>
        </p:spPr>
        <p:txBody>
          <a:bodyPr wrap="none">
            <a:spAutoFit/>
          </a:bodyPr>
          <a:lstStyle/>
          <a:p>
            <a:pPr marL="0" indent="0" algn="l">
              <a:lnSpc>
                <a:spcPct val="100000"/>
              </a:lnSpc>
              <a:spcBef>
                <a:spcPts val="0"/>
              </a:spcBef>
              <a:spcAft>
                <a:spcPts val="0"/>
              </a:spcAft>
              <a:buNone/>
            </a:pPr>
            <a:r>
              <a:rPr sz="1000" b="0" i="0" u="none" cap="none">
                <a:ln>
                  <a:noFill/>
                </a:ln>
                <a:solidFill>
                  <a:prstClr val="white">
                    <a:lumMod val="50000"/>
                  </a:prstClr>
                </a:solidFill>
                <a:latin typeface="Times New Roman" panose="02020503050405090304"/>
                <a:ea typeface="微软雅黑"/>
                <a:cs typeface="Times New Roman" panose="02020503050405090304"/>
                <a:hlinkClick r:id="rId2"/>
              </a:rPr>
              <a:t>https://gitcode.com/cann/cann-learning-hub/tree/master/tutorials/rl_training_pipeline</a:t>
            </a:r>
            <a:endParaRPr sz="1000" b="0" i="0" u="none" cap="none">
              <a:ln>
                <a:noFill/>
              </a:ln>
              <a:solidFill>
                <a:prstClr val="white">
                  <a:lumMod val="50000"/>
                </a:prstClr>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5157694" y="1530876"/>
            <a:ext cx="4587547" cy="596075"/>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1 强化学习训练环境准备</a:t>
            </a:r>
            <a:endParaRPr sz="2400" b="0" i="0" u="none" cap="none">
              <a:ln>
                <a:noFill/>
              </a:ln>
              <a:solidFill>
                <a:srgbClr val="666666"/>
              </a:solidFill>
              <a:latin typeface="Times New Roman" panose="02020503050405090304"/>
              <a:ea typeface="微软雅黑"/>
              <a:cs typeface="Times New Roman" panose="02020503050405090304"/>
            </a:endParaRPr>
          </a:p>
        </p:txBody>
      </p:sp>
      <p:sp>
        <p:nvSpPr>
          <p:cNvPr id="13" name="矩形 12"/>
          <p:cNvSpPr>
            <a:spLocks noGrp="1"/>
          </p:cNvSpPr>
          <p:nvPr/>
        </p:nvSpPr>
        <p:spPr>
          <a:xfrm>
            <a:off x="5157694" y="2680975"/>
            <a:ext cx="4587549" cy="591795"/>
          </a:xfrm>
          <a:prstGeom prst="rect">
            <a:avLst/>
          </a:prstGeom>
          <a:solidFill>
            <a:srgbClr val="FFFFFF">
              <a:lumMod val="95000"/>
            </a:srgbClr>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2 RL 核心概念</a:t>
            </a:r>
            <a:endParaRPr sz="2400">
              <a:solidFill>
                <a:srgbClr val="666666"/>
              </a:solidFill>
              <a:latin typeface="Times New Roman" panose="02020503050405090304"/>
              <a:ea typeface="微软雅黑"/>
              <a:cs typeface="Times New Roman" panose="02020503050405090304"/>
            </a:endParaRPr>
          </a:p>
        </p:txBody>
      </p:sp>
      <p:sp>
        <p:nvSpPr>
          <p:cNvPr id="14" name="矩形 13"/>
          <p:cNvSpPr>
            <a:spLocks noGrp="1"/>
          </p:cNvSpPr>
          <p:nvPr/>
        </p:nvSpPr>
        <p:spPr>
          <a:xfrm>
            <a:off x="5157694" y="3712434"/>
            <a:ext cx="4587551" cy="587513"/>
          </a:xfrm>
          <a:prstGeom prst="rect">
            <a:avLst/>
          </a:prstGeom>
          <a:solidFill>
            <a:srgbClr val="C00000"/>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chemeClr val="bg1"/>
                </a:solidFill>
                <a:latin typeface="Times New Roman" panose="02020503050405090304"/>
                <a:ea typeface="微软雅黑"/>
                <a:cs typeface="Times New Roman" panose="02020503050405090304"/>
              </a:rPr>
              <a:t>Part 3 Wordle RL 训练</a:t>
            </a:r>
            <a:endParaRPr sz="2400" b="0" i="0" u="none" cap="none">
              <a:ln>
                <a:noFill/>
              </a:ln>
              <a:solidFill>
                <a:schemeClr val="bg1"/>
              </a:solidFill>
              <a:latin typeface="Times New Roman" panose="02020503050405090304"/>
              <a:ea typeface="微软雅黑"/>
              <a:cs typeface="Times New Roman" panose="02020503050405090304"/>
            </a:endParaRPr>
          </a:p>
        </p:txBody>
      </p:sp>
      <p:sp>
        <p:nvSpPr>
          <p:cNvPr id="7" name="矩形 6"/>
          <p:cNvSpPr>
            <a:spLocks noGrp="1"/>
          </p:cNvSpPr>
          <p:nvPr/>
        </p:nvSpPr>
        <p:spPr>
          <a:xfrm>
            <a:off x="5157694" y="4739611"/>
            <a:ext cx="4587553"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4 调优与问题排查</a:t>
            </a:r>
            <a:endParaRPr sz="2400" b="0" i="0" u="none" cap="none">
              <a:ln>
                <a:noFill/>
              </a:ln>
              <a:solidFill>
                <a:srgbClr val="666666"/>
              </a:solidFill>
              <a:latin typeface="Times New Roman" panose="02020503050405090304"/>
              <a:ea typeface="微软雅黑"/>
              <a:cs typeface="Times New Roman" panose="0202050305040509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Wordle RL 训练</a:t>
            </a:r>
            <a:endParaRPr sz="2700" b="1">
              <a:solidFill>
                <a:srgbClr val="111111"/>
              </a:solidFill>
              <a:latin typeface="Times New Roman" panose="02020503050405090304"/>
              <a:ea typeface="微软雅黑"/>
              <a:cs typeface="Times New Roman" panose="02020503050405090304"/>
            </a:endParaRPr>
          </a:p>
        </p:txBody>
      </p:sp>
      <p:sp>
        <p:nvSpPr>
          <p:cNvPr id="19" name="loop-intro"/>
          <p:cNvSpPr>
            <a:spLocks noGrp="1"/>
          </p:cNvSpPr>
          <p:nvPr/>
        </p:nvSpPr>
        <p:spPr>
          <a:xfrm>
            <a:off x="742950" y="1104900"/>
            <a:ext cx="110490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一次 rollout 可以包含多轮生成与环境反馈，由 AgentLoop 管理。</a:t>
            </a:r>
            <a:endParaRPr sz="2000" b="0">
              <a:solidFill>
                <a:srgbClr val="111111"/>
              </a:solidFill>
              <a:latin typeface="Times New Roman" panose="02020503050405090304"/>
              <a:ea typeface="微软雅黑"/>
              <a:cs typeface="Times New Roman" panose="02020503050405090304"/>
            </a:endParaRPr>
          </a:p>
        </p:txBody>
      </p:sp>
      <p:sp>
        <p:nvSpPr>
          <p:cNvPr id="20" name="loop-stop"/>
          <p:cNvSpPr>
            <a:spLocks noGrp="1"/>
          </p:cNvSpPr>
          <p:nvPr/>
        </p:nvSpPr>
        <p:spPr>
          <a:xfrm>
            <a:off x="742950" y="1571625"/>
            <a:ext cx="11049000" cy="32385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生成猜词、追加反馈，直到猜中或达到 6 轮上限。</a:t>
            </a:r>
            <a:endParaRPr sz="1800" b="0">
              <a:solidFill>
                <a:srgbClr val="111111"/>
              </a:solidFill>
              <a:latin typeface="Times New Roman" panose="02020503050405090304"/>
              <a:ea typeface="微软雅黑"/>
              <a:cs typeface="Times New Roman" panose="02020503050405090304"/>
            </a:endParaRPr>
          </a:p>
        </p:txBody>
      </p:sp>
      <p:pic>
        <p:nvPicPr>
          <p:cNvPr id="29" name="loop-trajectory"/>
          <p:cNvPicPr>
            <a:picLocks noChangeAspect="1"/>
          </p:cNvPicPr>
          <p:nvPr/>
        </p:nvPicPr>
        <p:blipFill>
          <a:blip r:embed="rId2"/>
          <a:stretch>
            <a:fillRect/>
          </a:stretch>
        </p:blipFill>
        <p:spPr>
          <a:xfrm>
            <a:off x="857250" y="1952641"/>
            <a:ext cx="10477500" cy="3492500"/>
          </a:xfrm>
          <a:prstGeom prst="rect">
            <a:avLst/>
          </a:prstGeom>
        </p:spPr>
      </p:pic>
      <p:graphicFrame>
        <p:nvGraphicFramePr>
          <p:cNvPr id="30" name="loop-mask-table"/>
          <p:cNvGraphicFramePr/>
          <p:nvPr/>
        </p:nvGraphicFramePr>
        <p:xfrm>
          <a:off x="742950" y="4524375"/>
          <a:ext cx="10706100" cy="1171575"/>
        </p:xfrm>
        <a:graphic>
          <a:graphicData uri="http://schemas.openxmlformats.org/drawingml/2006/table">
            <a:tbl>
              <a:tblPr/>
              <a:tblGrid>
                <a:gridCol w="3981450"/>
                <a:gridCol w="2095500"/>
                <a:gridCol w="4629150"/>
              </a:tblGrid>
              <a:tr h="371475">
                <a:tc>
                  <a:txBody>
                    <a:bodyPr>
                      <a:spAutoFit/>
                    </a:bodyPr>
                    <a:lstStyle/>
                    <a:p>
                      <a:pPr algn="ctr"/>
                      <a:r>
                        <a:rPr sz="1725" b="1">
                          <a:solidFill>
                            <a:srgbClr val="111111"/>
                          </a:solidFill>
                          <a:latin typeface="Times New Roman" panose="02020503050405090304"/>
                          <a:ea typeface="微软雅黑"/>
                          <a:cs typeface="Times New Roman" panose="02020503050405090304"/>
                        </a:rPr>
                        <a:t>轨迹片段</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1">
                          <a:solidFill>
                            <a:srgbClr val="111111"/>
                          </a:solidFill>
                          <a:latin typeface="Times New Roman" panose="02020503050405090304"/>
                          <a:ea typeface="微软雅黑"/>
                          <a:cs typeface="Times New Roman" panose="02020503050405090304"/>
                        </a:rPr>
                        <a:t>response_mask</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1">
                          <a:solidFill>
                            <a:srgbClr val="111111"/>
                          </a:solidFill>
                          <a:latin typeface="Times New Roman" panose="02020503050405090304"/>
                          <a:ea typeface="微软雅黑"/>
                          <a:cs typeface="Times New Roman" panose="02020503050405090304"/>
                        </a:rPr>
                        <a:t>用途</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00050">
                <a:tc>
                  <a:txBody>
                    <a:bodyPr>
                      <a:spAutoFit/>
                    </a:bodyPr>
                    <a:lstStyle/>
                    <a:p>
                      <a:pPr algn="ctr"/>
                      <a:r>
                        <a:rPr sz="1725" b="0">
                          <a:solidFill>
                            <a:srgbClr val="111111"/>
                          </a:solidFill>
                          <a:latin typeface="Times New Roman" panose="02020503050405090304"/>
                          <a:ea typeface="微软雅黑"/>
                          <a:cs typeface="Times New Roman" panose="02020503050405090304"/>
                        </a:rPr>
                        <a:t>Assistant 生成的 token</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1</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直接参与 policy loss</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00050">
                <a:tc>
                  <a:txBody>
                    <a:bodyPr>
                      <a:spAutoFit/>
                    </a:bodyPr>
                    <a:lstStyle/>
                    <a:p>
                      <a:pPr algn="ctr"/>
                      <a:r>
                        <a:rPr sz="1725" b="0">
                          <a:solidFill>
                            <a:srgbClr val="111111"/>
                          </a:solidFill>
                          <a:latin typeface="Times New Roman" panose="02020503050405090304"/>
                          <a:ea typeface="微软雅黑"/>
                          <a:cs typeface="Times New Roman" panose="02020503050405090304"/>
                        </a:rPr>
                        <a:t>环境追加的反馈 token</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0</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保留为下一轮上下文</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3" name="loop-key"/>
          <p:cNvSpPr>
            <a:spLocks noGrp="1"/>
          </p:cNvSpPr>
          <p:nvPr/>
        </p:nvSpPr>
        <p:spPr>
          <a:xfrm>
            <a:off x="742950" y="5857875"/>
            <a:ext cx="108585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反馈不会被当作模型动作计分，但仍影响后续生成。</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9"/>
                                        </p:tgtEl>
                                        <p:attrNameLst>
                                          <p:attrName>style.visibility</p:attrName>
                                        </p:attrNameLst>
                                      </p:cBhvr>
                                      <p:to>
                                        <p:strVal val="visible"/>
                                      </p:to>
                                    </p:set>
                                    <p:animEffect transition="in" filter="fade">
                                      <p:cBhvr>
                                        <p:cTn id="15" dur="350"/>
                                        <p:tgtEl>
                                          <p:spTgt spid="29"/>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tgtEl>
                                          <p:spTgt spid="30"/>
                                        </p:tgtEl>
                                        <p:attrNameLst>
                                          <p:attrName>style.visibility</p:attrName>
                                        </p:attrNameLst>
                                      </p:cBhvr>
                                      <p:to>
                                        <p:strVal val="visible"/>
                                      </p:to>
                                    </p:set>
                                    <p:animEffect transition="in" filter="fade">
                                      <p:cBhvr>
                                        <p:cTn id="20" dur="35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tgtEl>
                                          <p:spTgt spid="23"/>
                                        </p:tgtEl>
                                        <p:attrNameLst>
                                          <p:attrName>style.visibility</p:attrName>
                                        </p:attrNameLst>
                                      </p:cBhvr>
                                      <p:to>
                                        <p:strVal val="visible"/>
                                      </p:to>
                                    </p:set>
                                    <p:animEffect transition="in" filter="fade">
                                      <p:cBhvr>
                                        <p:cTn id="25" dur="35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Wordle RL 训练</a:t>
            </a:r>
            <a:endParaRPr sz="2700" b="1">
              <a:solidFill>
                <a:srgbClr val="111111"/>
              </a:solidFill>
              <a:latin typeface="Times New Roman" panose="02020503050405090304"/>
              <a:ea typeface="微软雅黑"/>
              <a:cs typeface="Times New Roman" panose="02020503050405090304"/>
            </a:endParaRPr>
          </a:p>
        </p:txBody>
      </p:sp>
      <p:sp>
        <p:nvSpPr>
          <p:cNvPr id="19" name="config-intro"/>
          <p:cNvSpPr>
            <a:spLocks noGrp="1"/>
          </p:cNvSpPr>
          <p:nvPr/>
        </p:nvSpPr>
        <p:spPr>
          <a:xfrm>
            <a:off x="742950" y="1104900"/>
            <a:ext cx="110490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以 SFT 模型为起点，准备 2000 条训练数据与 20 条测试数据。</a:t>
            </a:r>
            <a:endParaRPr sz="2000" b="0">
              <a:solidFill>
                <a:srgbClr val="111111"/>
              </a:solidFill>
              <a:latin typeface="Times New Roman" panose="02020503050405090304"/>
              <a:ea typeface="微软雅黑"/>
              <a:cs typeface="Times New Roman" panose="02020503050405090304"/>
            </a:endParaRPr>
          </a:p>
        </p:txBody>
      </p:sp>
      <p:graphicFrame>
        <p:nvGraphicFramePr>
          <p:cNvPr id="31" name="config-fields-table"/>
          <p:cNvGraphicFramePr/>
          <p:nvPr/>
        </p:nvGraphicFramePr>
        <p:xfrm>
          <a:off x="742950" y="1828800"/>
          <a:ext cx="5448300" cy="1943100"/>
        </p:xfrm>
        <a:graphic>
          <a:graphicData uri="http://schemas.openxmlformats.org/drawingml/2006/table">
            <a:tbl>
              <a:tblPr/>
              <a:tblGrid>
                <a:gridCol w="1714500"/>
                <a:gridCol w="3733800"/>
              </a:tblGrid>
              <a:tr h="438150">
                <a:tc>
                  <a:txBody>
                    <a:bodyPr>
                      <a:spAutoFit/>
                    </a:bodyPr>
                    <a:lstStyle/>
                    <a:p>
                      <a:pPr algn="ctr"/>
                      <a:r>
                        <a:rPr sz="1725" b="1">
                          <a:solidFill>
                            <a:srgbClr val="111111"/>
                          </a:solidFill>
                          <a:latin typeface="Times New Roman" panose="02020503050405090304"/>
                          <a:ea typeface="微软雅黑"/>
                          <a:cs typeface="Times New Roman" panose="02020503050405090304"/>
                        </a:rPr>
                        <a:t>字段</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1">
                          <a:solidFill>
                            <a:srgbClr val="111111"/>
                          </a:solidFill>
                          <a:latin typeface="Times New Roman" panose="02020503050405090304"/>
                          <a:ea typeface="微软雅黑"/>
                          <a:cs typeface="Times New Roman" panose="02020503050405090304"/>
                        </a:rPr>
                        <a:t>用途</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723900">
                <a:tc>
                  <a:txBody>
                    <a:bodyPr>
                      <a:spAutoFit/>
                    </a:bodyPr>
                    <a:lstStyle/>
                    <a:p>
                      <a:pPr algn="ctr"/>
                      <a:r>
                        <a:rPr sz="1725" b="0">
                          <a:solidFill>
                            <a:srgbClr val="111111"/>
                          </a:solidFill>
                          <a:latin typeface="Times New Roman" panose="02020503050405090304"/>
                          <a:ea typeface="微软雅黑"/>
                          <a:cs typeface="Times New Roman" panose="02020503050405090304"/>
                        </a:rPr>
                        <a:t>prompt</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规则与初始游戏消息</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提供给模型</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781050">
                <a:tc>
                  <a:txBody>
                    <a:bodyPr>
                      <a:spAutoFit/>
                    </a:bodyPr>
                    <a:lstStyle/>
                    <a:p>
                      <a:pPr algn="ctr"/>
                      <a:r>
                        <a:rPr sz="1725" b="0">
                          <a:solidFill>
                            <a:srgbClr val="111111"/>
                          </a:solidFill>
                          <a:latin typeface="Times New Roman" panose="02020503050405090304"/>
                          <a:ea typeface="微软雅黑"/>
                          <a:cs typeface="Times New Roman" panose="02020503050405090304"/>
                        </a:rPr>
                        <a:t>ground_truth</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秘密词，仅供环境判分</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不放进模型 prompt</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1" name="config-batch"/>
          <p:cNvSpPr>
            <a:spLocks noGrp="1"/>
          </p:cNvSpPr>
          <p:nvPr/>
        </p:nvSpPr>
        <p:spPr>
          <a:xfrm>
            <a:off x="6781800" y="1866900"/>
            <a:ext cx="4762500" cy="571500"/>
          </a:xfrm>
          <a:prstGeom prst="rect">
            <a:avLst/>
          </a:prstGeom>
          <a:noFill/>
          <a:ln w="0">
            <a:noFill/>
          </a:ln>
        </p:spPr>
        <p:txBody>
          <a:bodyPr wrap="none" lIns="0" tIns="0" rIns="0" bIns="0" anchor="t">
            <a:noAutofit/>
          </a:bodyPr>
          <a:lstStyle/>
          <a:p>
            <a:pPr>
              <a:lnSpc>
                <a:spcPct val="108000"/>
              </a:lnSpc>
              <a:buNone/>
              <a:defRPr sz="3225" b="1">
                <a:solidFill>
                  <a:srgbClr val="E60012"/>
                </a:solidFill>
                <a:latin typeface="Times New Roman" panose="02020503050405090304"/>
                <a:ea typeface="微软雅黑"/>
                <a:cs typeface="Times New Roman" panose="02020503050405090304"/>
              </a:defRPr>
            </a:pPr>
            <a:r>
              <a:rPr sz="3225" b="1">
                <a:solidFill>
                  <a:srgbClr val="E60012"/>
                </a:solidFill>
                <a:latin typeface="Times New Roman" panose="02020503050405090304"/>
                <a:ea typeface="微软雅黑"/>
                <a:cs typeface="Times New Roman" panose="02020503050405090304"/>
              </a:rPr>
              <a:t>128 × 8 = 1024</a:t>
            </a:r>
            <a:endParaRPr sz="3225" b="1">
              <a:solidFill>
                <a:srgbClr val="E60012"/>
              </a:solidFill>
              <a:latin typeface="Times New Roman" panose="02020503050405090304"/>
              <a:ea typeface="微软雅黑"/>
              <a:cs typeface="Times New Roman" panose="02020503050405090304"/>
            </a:endParaRPr>
          </a:p>
        </p:txBody>
      </p:sp>
      <p:sp>
        <p:nvSpPr>
          <p:cNvPr id="22" name="config-batch-explain"/>
          <p:cNvSpPr>
            <a:spLocks noGrp="1"/>
          </p:cNvSpPr>
          <p:nvPr/>
        </p:nvSpPr>
        <p:spPr>
          <a:xfrm>
            <a:off x="6781800" y="2600325"/>
            <a:ext cx="4857750" cy="723900"/>
          </a:xfrm>
          <a:prstGeom prst="rect">
            <a:avLst/>
          </a:prstGeom>
          <a:noFill/>
          <a:ln w="0">
            <a:noFill/>
          </a:ln>
        </p:spPr>
        <p:txBody>
          <a:bodyPr wrap="none" lIns="0" tIns="0" rIns="0" bIns="0" anchor="t">
            <a:noAutofit/>
          </a:bodyPr>
          <a:lstStyle/>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128 个 prompt，每题采样 8 局。</a:t>
            </a:r>
            <a:endParaRPr sz="1800" b="0">
              <a:solidFill>
                <a:srgbClr val="111111"/>
              </a:solidFill>
              <a:latin typeface="Times New Roman" panose="02020503050405090304"/>
              <a:ea typeface="微软雅黑"/>
              <a:cs typeface="Times New Roman" panose="02020503050405090304"/>
            </a:endParaRPr>
          </a:p>
          <a:p>
            <a:pPr>
              <a:lnSpc>
                <a:spcPct val="108000"/>
              </a:lnSpc>
              <a:buNone/>
              <a:defRPr sz="1800" b="0">
                <a:solidFill>
                  <a:srgbClr val="111111"/>
                </a:solidFill>
                <a:latin typeface="Times New Roman" panose="02020503050405090304"/>
                <a:ea typeface="微软雅黑"/>
                <a:cs typeface="Times New Roman" panose="02020503050405090304"/>
              </a:defRPr>
            </a:pPr>
            <a:r>
              <a:rPr sz="1800" b="0">
                <a:solidFill>
                  <a:srgbClr val="111111"/>
                </a:solidFill>
                <a:latin typeface="Times New Roman" panose="02020503050405090304"/>
                <a:ea typeface="微软雅黑"/>
                <a:cs typeface="Times New Roman" panose="02020503050405090304"/>
              </a:rPr>
              <a:t>得到 1024 条多轮轨迹，分批调度。</a:t>
            </a:r>
            <a:endParaRPr sz="1800" b="0">
              <a:solidFill>
                <a:srgbClr val="111111"/>
              </a:solidFill>
              <a:latin typeface="Times New Roman" panose="02020503050405090304"/>
              <a:ea typeface="微软雅黑"/>
              <a:cs typeface="Times New Roman" panose="02020503050405090304"/>
            </a:endParaRPr>
          </a:p>
        </p:txBody>
      </p:sp>
      <p:sp>
        <p:nvSpPr>
          <p:cNvPr id="23" name="config-batch-key"/>
          <p:cNvSpPr>
            <a:spLocks noGrp="1"/>
          </p:cNvSpPr>
          <p:nvPr/>
        </p:nvSpPr>
        <p:spPr>
          <a:xfrm>
            <a:off x="6781800" y="3476625"/>
            <a:ext cx="4857750" cy="32385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8 是组大小，6 是每局轮次上限。</a:t>
            </a:r>
            <a:endParaRPr sz="1800" b="1">
              <a:solidFill>
                <a:srgbClr val="E60012"/>
              </a:solidFill>
              <a:latin typeface="Times New Roman" panose="02020503050405090304"/>
              <a:ea typeface="微软雅黑"/>
              <a:cs typeface="Times New Roman" panose="02020503050405090304"/>
            </a:endParaRPr>
          </a:p>
        </p:txBody>
      </p:sp>
      <p:graphicFrame>
        <p:nvGraphicFramePr>
          <p:cNvPr id="35" name="config-settings-table"/>
          <p:cNvGraphicFramePr/>
          <p:nvPr/>
        </p:nvGraphicFramePr>
        <p:xfrm>
          <a:off x="742950" y="4229100"/>
          <a:ext cx="10706100" cy="981075"/>
        </p:xfrm>
        <a:graphic>
          <a:graphicData uri="http://schemas.openxmlformats.org/drawingml/2006/table">
            <a:tbl>
              <a:tblPr/>
              <a:tblGrid>
                <a:gridCol w="3571875"/>
                <a:gridCol w="3562350"/>
                <a:gridCol w="3571875"/>
              </a:tblGrid>
              <a:tr h="438150">
                <a:tc>
                  <a:txBody>
                    <a:bodyPr>
                      <a:spAutoFit/>
                    </a:bodyPr>
                    <a:lstStyle/>
                    <a:p>
                      <a:pPr algn="ctr"/>
                      <a:r>
                        <a:rPr sz="1800" b="1">
                          <a:solidFill>
                            <a:srgbClr val="111111"/>
                          </a:solidFill>
                          <a:latin typeface="Times New Roman" panose="02020503050405090304"/>
                          <a:ea typeface="微软雅黑"/>
                          <a:cs typeface="Times New Roman" panose="02020503050405090304"/>
                        </a:rPr>
                        <a:t>NPU / 推理并行</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Actor 学习率</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1">
                          <a:solidFill>
                            <a:srgbClr val="111111"/>
                          </a:solidFill>
                          <a:latin typeface="Times New Roman" panose="02020503050405090304"/>
                          <a:ea typeface="微软雅黑"/>
                          <a:cs typeface="Times New Roman" panose="02020503050405090304"/>
                        </a:rPr>
                        <a:t>KL 系数 / 熵系数</a:t>
                      </a:r>
                      <a:endParaRPr sz="1800"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542925">
                <a:tc>
                  <a:txBody>
                    <a:bodyPr>
                      <a:spAutoFit/>
                    </a:bodyPr>
                    <a:lstStyle/>
                    <a:p>
                      <a:pPr algn="ctr"/>
                      <a:r>
                        <a:rPr sz="1800" b="0">
                          <a:solidFill>
                            <a:srgbClr val="111111"/>
                          </a:solidFill>
                          <a:latin typeface="Times New Roman" panose="02020503050405090304"/>
                          <a:ea typeface="微软雅黑"/>
                          <a:cs typeface="Times New Roman" panose="02020503050405090304"/>
                        </a:rPr>
                        <a:t>2 张 / rollout TP = 2</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1e−6</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00" b="0">
                          <a:solidFill>
                            <a:srgbClr val="111111"/>
                          </a:solidFill>
                          <a:latin typeface="Times New Roman" panose="02020503050405090304"/>
                          <a:ea typeface="微软雅黑"/>
                          <a:cs typeface="Times New Roman" panose="02020503050405090304"/>
                        </a:rPr>
                        <a:t>0.001 / 0.004</a:t>
                      </a:r>
                      <a:endParaRPr sz="1800"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5" name="config-update"/>
          <p:cNvSpPr>
            <a:spLocks noGrp="1"/>
          </p:cNvSpPr>
          <p:nvPr/>
        </p:nvSpPr>
        <p:spPr>
          <a:xfrm>
            <a:off x="742950" y="5514975"/>
            <a:ext cx="10858500" cy="323850"/>
          </a:xfrm>
          <a:prstGeom prst="rect">
            <a:avLst/>
          </a:prstGeom>
          <a:noFill/>
          <a:ln w="0">
            <a:noFill/>
          </a:ln>
        </p:spPr>
        <p:txBody>
          <a:bodyPr wrap="none" lIns="0" tIns="0" rIns="0" bIns="0" anchor="t">
            <a:noAutofit/>
          </a:bodyPr>
          <a:lstStyle/>
          <a:p>
            <a:pPr>
              <a:lnSpc>
                <a:spcPct val="108000"/>
              </a:lnSpc>
              <a:buNone/>
              <a:defRPr sz="1875" b="1">
                <a:solidFill>
                  <a:srgbClr val="E60012"/>
                </a:solidFill>
                <a:latin typeface="Times New Roman" panose="02020503050405090304"/>
                <a:ea typeface="微软雅黑"/>
                <a:cs typeface="Times New Roman" panose="02020503050405090304"/>
              </a:defRPr>
            </a:pPr>
            <a:r>
              <a:rPr sz="1875" b="1">
                <a:solidFill>
                  <a:srgbClr val="E60012"/>
                </a:solidFill>
                <a:latin typeface="Times New Roman" panose="02020503050405090304"/>
                <a:ea typeface="微软雅黑"/>
                <a:cs typeface="Times New Roman" panose="02020503050405090304"/>
              </a:rPr>
              <a:t>采样后按奖励计算组内优势，再更新策略并同步推理权重。</a:t>
            </a:r>
            <a:endParaRPr sz="1875" b="1">
              <a:solidFill>
                <a:srgbClr val="E60012"/>
              </a:solidFill>
              <a:latin typeface="Times New Roman" panose="02020503050405090304"/>
              <a:ea typeface="微软雅黑"/>
              <a:cs typeface="Times New Roman" panose="02020503050405090304"/>
            </a:endParaRPr>
          </a:p>
        </p:txBody>
      </p:sp>
      <p:sp>
        <p:nvSpPr>
          <p:cNvPr id="26" name="config-terminal"/>
          <p:cNvSpPr>
            <a:spLocks noGrp="1"/>
          </p:cNvSpPr>
          <p:nvPr/>
        </p:nvSpPr>
        <p:spPr>
          <a:xfrm>
            <a:off x="742950" y="5905500"/>
            <a:ext cx="10668000" cy="257175"/>
          </a:xfrm>
          <a:prstGeom prst="rect">
            <a:avLst/>
          </a:prstGeom>
          <a:noFill/>
          <a:ln w="0">
            <a:noFill/>
          </a:ln>
        </p:spPr>
        <p:txBody>
          <a:bodyPr wrap="none" lIns="0" tIns="0" rIns="0" bIns="0" anchor="t">
            <a:noAutofit/>
          </a:bodyPr>
          <a:lstStyle/>
          <a:p>
            <a:pPr>
              <a:lnSpc>
                <a:spcPct val="108000"/>
              </a:lnSpc>
              <a:buNone/>
              <a:defRPr sz="1575" b="0">
                <a:solidFill>
                  <a:srgbClr val="111111"/>
                </a:solidFill>
                <a:latin typeface="Times New Roman" panose="02020503050405090304"/>
                <a:ea typeface="微软雅黑"/>
                <a:cs typeface="Times New Roman" panose="02020503050405090304"/>
              </a:defRPr>
            </a:pPr>
            <a:r>
              <a:rPr sz="1575" b="0">
                <a:solidFill>
                  <a:srgbClr val="111111"/>
                </a:solidFill>
                <a:latin typeface="Times New Roman" panose="02020503050405090304"/>
                <a:ea typeface="微软雅黑"/>
                <a:cs typeface="Times New Roman" panose="02020503050405090304"/>
              </a:rPr>
              <a:t>长时间训练在 CANNLab 终端执行，notebook 用于准备和检查。</a:t>
            </a:r>
            <a:endParaRPr sz="1575"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31"/>
                                        </p:tgtEl>
                                        <p:attrNameLst>
                                          <p:attrName>style.visibility</p:attrName>
                                        </p:attrNameLst>
                                      </p:cBhvr>
                                      <p:to>
                                        <p:strVal val="visible"/>
                                      </p:to>
                                    </p:set>
                                    <p:animEffect transition="in" filter="fade">
                                      <p:cBhvr>
                                        <p:cTn id="10" dur="350"/>
                                        <p:tgtEl>
                                          <p:spTgt spid="3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1"/>
                                        </p:tgtEl>
                                        <p:attrNameLst>
                                          <p:attrName>style.visibility</p:attrName>
                                        </p:attrNameLst>
                                      </p:cBhvr>
                                      <p:to>
                                        <p:strVal val="visible"/>
                                      </p:to>
                                    </p:set>
                                    <p:animEffect transition="in" filter="fade">
                                      <p:cBhvr>
                                        <p:cTn id="15" dur="350"/>
                                        <p:tgtEl>
                                          <p:spTgt spid="21"/>
                                        </p:tgtEl>
                                      </p:cBhvr>
                                    </p:animEffect>
                                  </p:childTnLst>
                                </p:cTn>
                              </p:par>
                              <p:par>
                                <p:cTn id="16" presetID="10" presetClass="entr" presetSubtype="0" fill="hold" grpId="0" nodeType="withEffect">
                                  <p:stCondLst>
                                    <p:cond delay="0"/>
                                  </p:stCondLst>
                                  <p:childTnLst>
                                    <p:set>
                                      <p:cBhvr>
                                        <p:cTn id="17" dur="1" fill="hold"/>
                                        <p:tgtEl>
                                          <p:spTgt spid="22"/>
                                        </p:tgtEl>
                                        <p:attrNameLst>
                                          <p:attrName>style.visibility</p:attrName>
                                        </p:attrNameLst>
                                      </p:cBhvr>
                                      <p:to>
                                        <p:strVal val="visible"/>
                                      </p:to>
                                    </p:set>
                                    <p:animEffect transition="in" filter="fade">
                                      <p:cBhvr>
                                        <p:cTn id="18" dur="350"/>
                                        <p:tgtEl>
                                          <p:spTgt spid="22"/>
                                        </p:tgtEl>
                                      </p:cBhvr>
                                    </p:animEffect>
                                  </p:childTnLst>
                                </p:cTn>
                              </p:par>
                              <p:par>
                                <p:cTn id="19" presetID="10" presetClass="entr" presetSubtype="0" fill="hold" grpId="0" nodeType="withEffect">
                                  <p:stCondLst>
                                    <p:cond delay="0"/>
                                  </p:stCondLst>
                                  <p:childTnLst>
                                    <p:set>
                                      <p:cBhvr>
                                        <p:cTn id="20" dur="1" fill="hold"/>
                                        <p:tgtEl>
                                          <p:spTgt spid="23"/>
                                        </p:tgtEl>
                                        <p:attrNameLst>
                                          <p:attrName>style.visibility</p:attrName>
                                        </p:attrNameLst>
                                      </p:cBhvr>
                                      <p:to>
                                        <p:strVal val="visible"/>
                                      </p:to>
                                    </p:set>
                                    <p:animEffect transition="in" filter="fade">
                                      <p:cBhvr>
                                        <p:cTn id="21" dur="350"/>
                                        <p:tgtEl>
                                          <p:spTgt spid="23"/>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tgtEl>
                                          <p:spTgt spid="35"/>
                                        </p:tgtEl>
                                        <p:attrNameLst>
                                          <p:attrName>style.visibility</p:attrName>
                                        </p:attrNameLst>
                                      </p:cBhvr>
                                      <p:to>
                                        <p:strVal val="visible"/>
                                      </p:to>
                                    </p:set>
                                    <p:animEffect transition="in" filter="fade">
                                      <p:cBhvr>
                                        <p:cTn id="26" dur="35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tgtEl>
                                          <p:spTgt spid="25"/>
                                        </p:tgtEl>
                                        <p:attrNameLst>
                                          <p:attrName>style.visibility</p:attrName>
                                        </p:attrNameLst>
                                      </p:cBhvr>
                                      <p:to>
                                        <p:strVal val="visible"/>
                                      </p:to>
                                    </p:set>
                                    <p:animEffect transition="in" filter="fade">
                                      <p:cBhvr>
                                        <p:cTn id="31" dur="350"/>
                                        <p:tgtEl>
                                          <p:spTgt spid="25"/>
                                        </p:tgtEl>
                                      </p:cBhvr>
                                    </p:animEffect>
                                  </p:childTnLst>
                                </p:cTn>
                              </p:par>
                              <p:par>
                                <p:cTn id="32" presetID="10" presetClass="entr" presetSubtype="0" fill="hold" grpId="0" nodeType="withEffect">
                                  <p:stCondLst>
                                    <p:cond delay="0"/>
                                  </p:stCondLst>
                                  <p:childTnLst>
                                    <p:set>
                                      <p:cBhvr>
                                        <p:cTn id="33" dur="1" fill="hold"/>
                                        <p:tgtEl>
                                          <p:spTgt spid="26"/>
                                        </p:tgtEl>
                                        <p:attrNameLst>
                                          <p:attrName>style.visibility</p:attrName>
                                        </p:attrNameLst>
                                      </p:cBhvr>
                                      <p:to>
                                        <p:strVal val="visible"/>
                                      </p:to>
                                    </p:set>
                                    <p:animEffect transition="in" filter="fade">
                                      <p:cBhvr>
                                        <p:cTn id="34"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5"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Wordle RL 训练</a:t>
            </a:r>
            <a:endParaRPr sz="2700" b="1">
              <a:solidFill>
                <a:srgbClr val="111111"/>
              </a:solidFill>
              <a:latin typeface="Times New Roman" panose="02020503050405090304"/>
              <a:ea typeface="微软雅黑"/>
              <a:cs typeface="Times New Roman" panose="02020503050405090304"/>
            </a:endParaRPr>
          </a:p>
        </p:txBody>
      </p:sp>
      <p:sp>
        <p:nvSpPr>
          <p:cNvPr id="19" name="reward-formula"/>
          <p:cNvSpPr>
            <a:spLocks noGrp="1"/>
          </p:cNvSpPr>
          <p:nvPr/>
        </p:nvSpPr>
        <p:spPr>
          <a:xfrm>
            <a:off x="742950" y="1104900"/>
            <a:ext cx="10953750" cy="400050"/>
          </a:xfrm>
          <a:prstGeom prst="rect">
            <a:avLst/>
          </a:prstGeom>
          <a:noFill/>
          <a:ln w="0">
            <a:noFill/>
          </a:ln>
        </p:spPr>
        <p:txBody>
          <a:bodyPr wrap="none" lIns="0" tIns="0" rIns="0" bIns="0" anchor="t">
            <a:noAutofit/>
          </a:bodyPr>
          <a:lstStyle/>
          <a:p>
            <a:pPr>
              <a:lnSpc>
                <a:spcPct val="108000"/>
              </a:lnSpc>
              <a:buNone/>
              <a:defRPr sz="2100" b="1">
                <a:solidFill>
                  <a:srgbClr val="E60012"/>
                </a:solidFill>
                <a:latin typeface="Times New Roman" panose="02020503050405090304"/>
                <a:ea typeface="微软雅黑"/>
                <a:cs typeface="Times New Roman" panose="02020503050405090304"/>
              </a:defRPr>
            </a:pPr>
            <a:r>
              <a:rPr sz="2100" b="1">
                <a:solidFill>
                  <a:srgbClr val="E60012"/>
                </a:solidFill>
                <a:latin typeface="Times New Roman" panose="02020503050405090304"/>
                <a:ea typeface="微软雅黑"/>
                <a:cs typeface="Times New Roman" panose="02020503050405090304"/>
              </a:rPr>
              <a:t>总奖励 = correct + partial + length_bonus + 0.2 × format</a:t>
            </a:r>
            <a:endParaRPr sz="2100" b="1">
              <a:solidFill>
                <a:srgbClr val="E60012"/>
              </a:solidFill>
              <a:latin typeface="Times New Roman" panose="02020503050405090304"/>
              <a:ea typeface="微软雅黑"/>
              <a:cs typeface="Times New Roman" panose="02020503050405090304"/>
            </a:endParaRPr>
          </a:p>
        </p:txBody>
      </p:sp>
      <p:graphicFrame>
        <p:nvGraphicFramePr>
          <p:cNvPr id="29" name="reward-components-table"/>
          <p:cNvGraphicFramePr/>
          <p:nvPr/>
        </p:nvGraphicFramePr>
        <p:xfrm>
          <a:off x="742950" y="1771650"/>
          <a:ext cx="10706100" cy="2724150"/>
        </p:xfrm>
        <a:graphic>
          <a:graphicData uri="http://schemas.openxmlformats.org/drawingml/2006/table">
            <a:tbl>
              <a:tblPr/>
              <a:tblGrid>
                <a:gridCol w="2076450"/>
                <a:gridCol w="6800850"/>
                <a:gridCol w="1828800"/>
              </a:tblGrid>
              <a:tr h="409575">
                <a:tc>
                  <a:txBody>
                    <a:bodyPr>
                      <a:spAutoFit/>
                    </a:bodyPr>
                    <a:lstStyle/>
                    <a:p>
                      <a:pPr algn="ctr"/>
                      <a:r>
                        <a:rPr sz="1725" b="1">
                          <a:solidFill>
                            <a:srgbClr val="111111"/>
                          </a:solidFill>
                          <a:latin typeface="Times New Roman" panose="02020503050405090304"/>
                          <a:ea typeface="微软雅黑"/>
                          <a:cs typeface="Times New Roman" panose="02020503050405090304"/>
                        </a:rPr>
                        <a:t>分项</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1">
                          <a:solidFill>
                            <a:srgbClr val="111111"/>
                          </a:solidFill>
                          <a:latin typeface="Times New Roman" panose="02020503050405090304"/>
                          <a:ea typeface="微软雅黑"/>
                          <a:cs typeface="Times New Roman" panose="02020503050405090304"/>
                        </a:rPr>
                        <a:t>计算规则</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1">
                          <a:solidFill>
                            <a:srgbClr val="111111"/>
                          </a:solidFill>
                          <a:latin typeface="Times New Roman" panose="02020503050405090304"/>
                          <a:ea typeface="微软雅黑"/>
                          <a:cs typeface="Times New Roman" panose="02020503050405090304"/>
                        </a:rPr>
                        <a:t>取值范围</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533400">
                <a:tc>
                  <a:txBody>
                    <a:bodyPr>
                      <a:spAutoFit/>
                    </a:bodyPr>
                    <a:lstStyle/>
                    <a:p>
                      <a:pPr algn="ctr"/>
                      <a:r>
                        <a:rPr sz="1725" b="0">
                          <a:solidFill>
                            <a:srgbClr val="111111"/>
                          </a:solidFill>
                          <a:latin typeface="Times New Roman" panose="02020503050405090304"/>
                          <a:ea typeface="微软雅黑"/>
                          <a:cs typeface="Times New Roman" panose="02020503050405090304"/>
                        </a:rPr>
                        <a:t>correct</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最后一次有效猜词命中秘密词</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0 或 1</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19125">
                <a:tc>
                  <a:txBody>
                    <a:bodyPr>
                      <a:spAutoFit/>
                    </a:bodyPr>
                    <a:lstStyle/>
                    <a:p>
                      <a:pPr algn="ctr"/>
                      <a:r>
                        <a:rPr sz="1725" b="0">
                          <a:solidFill>
                            <a:srgbClr val="111111"/>
                          </a:solidFill>
                          <a:latin typeface="Times New Roman" panose="02020503050405090304"/>
                          <a:ea typeface="微软雅黑"/>
                          <a:cs typeface="Times New Roman" panose="02020503050405090304"/>
                        </a:rPr>
                        <a:t>partial</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未猜中：全轨迹最高分；猜中置 0</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每个 G 加 0.2，每个 Y 加 0.1</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0～0.8</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533400">
                <a:tc>
                  <a:txBody>
                    <a:bodyPr>
                      <a:spAutoFit/>
                    </a:bodyPr>
                    <a:lstStyle/>
                    <a:p>
                      <a:pPr algn="ctr"/>
                      <a:r>
                        <a:rPr sz="1725" b="0">
                          <a:solidFill>
                            <a:srgbClr val="111111"/>
                          </a:solidFill>
                          <a:latin typeface="Times New Roman" panose="02020503050405090304"/>
                          <a:ea typeface="微软雅黑"/>
                          <a:cs typeface="Times New Roman" panose="02020503050405090304"/>
                        </a:rPr>
                        <a:t>length_bonus</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仅猜中：1 ÷ 有效猜词次数</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0～1</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628650">
                <a:tc>
                  <a:txBody>
                    <a:bodyPr>
                      <a:spAutoFit/>
                    </a:bodyPr>
                    <a:lstStyle/>
                    <a:p>
                      <a:pPr algn="ctr"/>
                      <a:r>
                        <a:rPr sz="1725" b="0">
                          <a:solidFill>
                            <a:srgbClr val="111111"/>
                          </a:solidFill>
                          <a:latin typeface="Times New Roman" panose="02020503050405090304"/>
                          <a:ea typeface="微软雅黑"/>
                          <a:cs typeface="Times New Roman" panose="02020503050405090304"/>
                        </a:rPr>
                        <a:t>format</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完整标签数 ÷ 开始标签数</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计入总分时乘 0.2</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原始值 0～1</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1" name="reward-example-label"/>
          <p:cNvSpPr>
            <a:spLocks noGrp="1"/>
          </p:cNvSpPr>
          <p:nvPr/>
        </p:nvSpPr>
        <p:spPr>
          <a:xfrm>
            <a:off x="742950" y="4648200"/>
            <a:ext cx="10668000" cy="285750"/>
          </a:xfrm>
          <a:prstGeom prst="rect">
            <a:avLst/>
          </a:prstGeom>
          <a:noFill/>
          <a:ln w="0">
            <a:noFill/>
          </a:ln>
        </p:spPr>
        <p:txBody>
          <a:bodyPr wrap="none" lIns="0" tIns="0" rIns="0" bIns="0" anchor="t">
            <a:noAutofit/>
          </a:bodyPr>
          <a:lstStyle/>
          <a:p>
            <a:pPr>
              <a:lnSpc>
                <a:spcPct val="108000"/>
              </a:lnSpc>
              <a:buNone/>
              <a:defRPr sz="1575" b="0">
                <a:solidFill>
                  <a:srgbClr val="555555"/>
                </a:solidFill>
                <a:latin typeface="Times New Roman" panose="02020503050405090304"/>
                <a:ea typeface="微软雅黑"/>
                <a:cs typeface="Times New Roman" panose="02020503050405090304"/>
              </a:defRPr>
            </a:pPr>
            <a:r>
              <a:rPr sz="1575" b="0">
                <a:solidFill>
                  <a:srgbClr val="555555"/>
                </a:solidFill>
                <a:latin typeface="Times New Roman" panose="02020503050405090304"/>
                <a:ea typeface="微软雅黑"/>
                <a:cs typeface="Times New Roman" panose="02020503050405090304"/>
              </a:rPr>
              <a:t>算分示例（所有 guess 标签均完整）</a:t>
            </a:r>
            <a:endParaRPr sz="1575" b="0">
              <a:solidFill>
                <a:srgbClr val="555555"/>
              </a:solidFill>
              <a:latin typeface="Times New Roman" panose="02020503050405090304"/>
              <a:ea typeface="微软雅黑"/>
              <a:cs typeface="Times New Roman" panose="02020503050405090304"/>
            </a:endParaRPr>
          </a:p>
        </p:txBody>
      </p:sp>
      <p:sp>
        <p:nvSpPr>
          <p:cNvPr id="22" name="reward-example-win"/>
          <p:cNvSpPr>
            <a:spLocks noGrp="1"/>
          </p:cNvSpPr>
          <p:nvPr/>
        </p:nvSpPr>
        <p:spPr>
          <a:xfrm>
            <a:off x="742950" y="5000625"/>
            <a:ext cx="10858500" cy="323850"/>
          </a:xfrm>
          <a:prstGeom prst="rect">
            <a:avLst/>
          </a:prstGeom>
          <a:noFill/>
          <a:ln w="0">
            <a:noFill/>
          </a:ln>
        </p:spPr>
        <p:txBody>
          <a:bodyPr wrap="none" lIns="0" tIns="0" rIns="0" bIns="0" anchor="t">
            <a:noAutofit/>
          </a:bodyPr>
          <a:lstStyle/>
          <a:p>
            <a:pPr>
              <a:lnSpc>
                <a:spcPct val="108000"/>
              </a:lnSpc>
              <a:buNone/>
              <a:defRPr sz="1875" b="1">
                <a:solidFill>
                  <a:srgbClr val="25864D"/>
                </a:solidFill>
                <a:latin typeface="Times New Roman" panose="02020503050405090304"/>
                <a:ea typeface="微软雅黑"/>
                <a:cs typeface="Times New Roman" panose="02020503050405090304"/>
              </a:defRPr>
            </a:pPr>
            <a:r>
              <a:rPr sz="1875" b="1">
                <a:solidFill>
                  <a:srgbClr val="25864D"/>
                </a:solidFill>
                <a:latin typeface="Times New Roman" panose="02020503050405090304"/>
                <a:ea typeface="微软雅黑"/>
                <a:cs typeface="Times New Roman" panose="02020503050405090304"/>
              </a:rPr>
              <a:t>两次有效猜词后猜中：1 + 0 + 0.5 + 0.2 = 1.7</a:t>
            </a:r>
            <a:endParaRPr sz="1875" b="1">
              <a:solidFill>
                <a:srgbClr val="25864D"/>
              </a:solidFill>
              <a:latin typeface="Times New Roman" panose="02020503050405090304"/>
              <a:ea typeface="微软雅黑"/>
              <a:cs typeface="Times New Roman" panose="02020503050405090304"/>
            </a:endParaRPr>
          </a:p>
        </p:txBody>
      </p:sp>
      <p:sp>
        <p:nvSpPr>
          <p:cNvPr id="23" name="reward-example-miss"/>
          <p:cNvSpPr>
            <a:spLocks noGrp="1"/>
          </p:cNvSpPr>
          <p:nvPr/>
        </p:nvSpPr>
        <p:spPr>
          <a:xfrm>
            <a:off x="742950" y="5391150"/>
            <a:ext cx="10858500" cy="323850"/>
          </a:xfrm>
          <a:prstGeom prst="rect">
            <a:avLst/>
          </a:prstGeom>
          <a:noFill/>
          <a:ln w="0">
            <a:noFill/>
          </a:ln>
        </p:spPr>
        <p:txBody>
          <a:bodyPr wrap="none" lIns="0" tIns="0" rIns="0" bIns="0" anchor="t">
            <a:noAutofit/>
          </a:bodyPr>
          <a:lstStyle/>
          <a:p>
            <a:pPr>
              <a:lnSpc>
                <a:spcPct val="108000"/>
              </a:lnSpc>
              <a:buNone/>
              <a:defRPr sz="1875" b="1">
                <a:solidFill>
                  <a:srgbClr val="357AE8"/>
                </a:solidFill>
                <a:latin typeface="Times New Roman" panose="02020503050405090304"/>
                <a:ea typeface="微软雅黑"/>
                <a:cs typeface="Times New Roman" panose="02020503050405090304"/>
              </a:defRPr>
            </a:pPr>
            <a:r>
              <a:rPr sz="1875" b="1">
                <a:solidFill>
                  <a:srgbClr val="357AE8"/>
                </a:solidFill>
                <a:latin typeface="Times New Roman" panose="02020503050405090304"/>
                <a:ea typeface="微软雅黑"/>
                <a:cs typeface="Times New Roman" panose="02020503050405090304"/>
              </a:rPr>
              <a:t>未猜中，最好为 3G1Y：0 + 0.7 + 0 + 0.2 = 0.9</a:t>
            </a:r>
            <a:endParaRPr sz="1875" b="1">
              <a:solidFill>
                <a:srgbClr val="357AE8"/>
              </a:solidFill>
              <a:latin typeface="Times New Roman" panose="02020503050405090304"/>
              <a:ea typeface="微软雅黑"/>
              <a:cs typeface="Times New Roman" panose="02020503050405090304"/>
            </a:endParaRPr>
          </a:p>
        </p:txBody>
      </p:sp>
      <p:sp>
        <p:nvSpPr>
          <p:cNvPr id="24" name="reward-key"/>
          <p:cNvSpPr>
            <a:spLocks noGrp="1"/>
          </p:cNvSpPr>
          <p:nvPr/>
        </p:nvSpPr>
        <p:spPr>
          <a:xfrm>
            <a:off x="742950" y="5857875"/>
            <a:ext cx="108585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交互轮次 ≠ 有效猜词次数。空标签也可能拿到格式分。</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29"/>
                                        </p:tgtEl>
                                        <p:attrNameLst>
                                          <p:attrName>style.visibility</p:attrName>
                                        </p:attrNameLst>
                                      </p:cBhvr>
                                      <p:to>
                                        <p:strVal val="visible"/>
                                      </p:to>
                                    </p:set>
                                    <p:animEffect transition="in" filter="fade">
                                      <p:cBhvr>
                                        <p:cTn id="12" dur="35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21"/>
                                        </p:tgtEl>
                                        <p:attrNameLst>
                                          <p:attrName>style.visibility</p:attrName>
                                        </p:attrNameLst>
                                      </p:cBhvr>
                                      <p:to>
                                        <p:strVal val="visible"/>
                                      </p:to>
                                    </p:set>
                                    <p:animEffect transition="in" filter="fade">
                                      <p:cBhvr>
                                        <p:cTn id="17" dur="350"/>
                                        <p:tgtEl>
                                          <p:spTgt spid="21"/>
                                        </p:tgtEl>
                                      </p:cBhvr>
                                    </p:animEffect>
                                  </p:childTnLst>
                                </p:cTn>
                              </p:par>
                              <p:par>
                                <p:cTn id="18" presetID="10" presetClass="entr" presetSubtype="0" fill="hold" grpId="0" nodeType="withEffect">
                                  <p:stCondLst>
                                    <p:cond delay="0"/>
                                  </p:stCondLst>
                                  <p:childTnLst>
                                    <p:set>
                                      <p:cBhvr>
                                        <p:cTn id="19" dur="1" fill="hold"/>
                                        <p:tgtEl>
                                          <p:spTgt spid="22"/>
                                        </p:tgtEl>
                                        <p:attrNameLst>
                                          <p:attrName>style.visibility</p:attrName>
                                        </p:attrNameLst>
                                      </p:cBhvr>
                                      <p:to>
                                        <p:strVal val="visible"/>
                                      </p:to>
                                    </p:set>
                                    <p:animEffect transition="in" filter="fade">
                                      <p:cBhvr>
                                        <p:cTn id="20" dur="350"/>
                                        <p:tgtEl>
                                          <p:spTgt spid="22"/>
                                        </p:tgtEl>
                                      </p:cBhvr>
                                    </p:animEffect>
                                  </p:childTnLst>
                                </p:cTn>
                              </p:par>
                              <p:par>
                                <p:cTn id="21" presetID="10" presetClass="entr" presetSubtype="0" fill="hold" grpId="0" nodeType="withEffect">
                                  <p:stCondLst>
                                    <p:cond delay="0"/>
                                  </p:stCondLst>
                                  <p:childTnLst>
                                    <p:set>
                                      <p:cBhvr>
                                        <p:cTn id="22" dur="1" fill="hold"/>
                                        <p:tgtEl>
                                          <p:spTgt spid="23"/>
                                        </p:tgtEl>
                                        <p:attrNameLst>
                                          <p:attrName>style.visibility</p:attrName>
                                        </p:attrNameLst>
                                      </p:cBhvr>
                                      <p:to>
                                        <p:strVal val="visible"/>
                                      </p:to>
                                    </p:set>
                                    <p:animEffect transition="in" filter="fade">
                                      <p:cBhvr>
                                        <p:cTn id="23" dur="35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tgtEl>
                                          <p:spTgt spid="24"/>
                                        </p:tgtEl>
                                        <p:attrNameLst>
                                          <p:attrName>style.visibility</p:attrName>
                                        </p:attrNameLst>
                                      </p:cBhvr>
                                      <p:to>
                                        <p:strVal val="visible"/>
                                      </p:to>
                                    </p:set>
                                    <p:animEffect transition="in" filter="fade">
                                      <p:cBhvr>
                                        <p:cTn id="28" dur="3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Wordle RL 训练</a:t>
            </a:r>
            <a:endParaRPr sz="2700" b="1">
              <a:solidFill>
                <a:srgbClr val="111111"/>
              </a:solidFill>
              <a:latin typeface="Times New Roman" panose="02020503050405090304"/>
              <a:ea typeface="微软雅黑"/>
              <a:cs typeface="Times New Roman" panose="02020503050405090304"/>
            </a:endParaRPr>
          </a:p>
        </p:txBody>
      </p:sp>
      <p:sp>
        <p:nvSpPr>
          <p:cNvPr id="19" name="quiz-instruction"/>
          <p:cNvSpPr>
            <a:spLocks noGrp="1"/>
          </p:cNvSpPr>
          <p:nvPr/>
        </p:nvSpPr>
        <p:spPr>
          <a:xfrm>
            <a:off x="609600" y="971550"/>
            <a:ext cx="10953750" cy="32385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随堂检测：先独立作答，再说明你的判断依据。</a:t>
            </a:r>
            <a:endParaRPr sz="1725" b="0">
              <a:solidFill>
                <a:srgbClr val="555555"/>
              </a:solidFill>
              <a:latin typeface="Times New Roman" panose="02020503050405090304"/>
              <a:ea typeface="微软雅黑"/>
              <a:cs typeface="Times New Roman" panose="02020503050405090304"/>
            </a:endParaRPr>
          </a:p>
        </p:txBody>
      </p:sp>
      <p:sp>
        <p:nvSpPr>
          <p:cNvPr id="20" name="q1-label"/>
          <p:cNvSpPr>
            <a:spLocks noGrp="1"/>
          </p:cNvSpPr>
          <p:nvPr/>
        </p:nvSpPr>
        <p:spPr>
          <a:xfrm>
            <a:off x="609600" y="1438275"/>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Q1</a:t>
            </a:r>
            <a:endParaRPr sz="2175" b="1">
              <a:solidFill>
                <a:srgbClr val="111111"/>
              </a:solidFill>
              <a:latin typeface="Times New Roman" panose="02020503050405090304"/>
              <a:ea typeface="微软雅黑"/>
              <a:cs typeface="Times New Roman" panose="02020503050405090304"/>
            </a:endParaRPr>
          </a:p>
        </p:txBody>
      </p:sp>
      <p:sp>
        <p:nvSpPr>
          <p:cNvPr id="21" name="q1-stem"/>
          <p:cNvSpPr>
            <a:spLocks noGrp="1"/>
          </p:cNvSpPr>
          <p:nvPr/>
        </p:nvSpPr>
        <p:spPr>
          <a:xfrm>
            <a:off x="1495425" y="1447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【判断】Wordle 奖励函数在猜中后，仍保留 partial 分数。</a:t>
            </a:r>
            <a:endParaRPr sz="1800" b="1">
              <a:solidFill>
                <a:srgbClr val="111111"/>
              </a:solidFill>
              <a:latin typeface="Times New Roman" panose="02020503050405090304"/>
              <a:ea typeface="微软雅黑"/>
              <a:cs typeface="Times New Roman" panose="02020503050405090304"/>
            </a:endParaRPr>
          </a:p>
        </p:txBody>
      </p:sp>
      <p:sp>
        <p:nvSpPr>
          <p:cNvPr id="24" name="q3-label"/>
          <p:cNvSpPr>
            <a:spLocks noGrp="1"/>
          </p:cNvSpPr>
          <p:nvPr/>
        </p:nvSpPr>
        <p:spPr>
          <a:xfrm>
            <a:off x="609600" y="2216150"/>
            <a:ext cx="704850" cy="400050"/>
          </a:xfrm>
          <a:prstGeom prst="roundRect">
            <a:avLst>
              <a:gd name="adj" fmla="val 35714"/>
            </a:avLst>
          </a:prstGeom>
          <a:solidFill>
            <a:srgbClr val="BFECCC"/>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a:t>
            </a:r>
            <a:r>
              <a:rPr lang="en-US" sz="2175" b="1">
                <a:solidFill>
                  <a:srgbClr val="111111"/>
                </a:solidFill>
                <a:latin typeface="Times New Roman" panose="02020503050405090304"/>
                <a:ea typeface="微软雅黑"/>
                <a:cs typeface="Times New Roman" panose="02020503050405090304"/>
              </a:rPr>
              <a:t>2</a:t>
            </a:r>
            <a:endParaRPr lang="en-US" sz="2175" b="1">
              <a:solidFill>
                <a:srgbClr val="111111"/>
              </a:solidFill>
              <a:latin typeface="Times New Roman" panose="02020503050405090304"/>
              <a:ea typeface="微软雅黑"/>
              <a:cs typeface="Times New Roman" panose="02020503050405090304"/>
            </a:endParaRPr>
          </a:p>
        </p:txBody>
      </p:sp>
      <p:sp>
        <p:nvSpPr>
          <p:cNvPr id="25" name="q3-stem"/>
          <p:cNvSpPr>
            <a:spLocks noGrp="1"/>
          </p:cNvSpPr>
          <p:nvPr/>
        </p:nvSpPr>
        <p:spPr>
          <a:xfrm>
            <a:off x="1562100" y="2209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【单选】response_mask = 1 标记哪类 token？</a:t>
            </a:r>
            <a:endParaRPr sz="1800" b="1">
              <a:solidFill>
                <a:srgbClr val="111111"/>
              </a:solidFill>
              <a:latin typeface="Times New Roman" panose="02020503050405090304"/>
              <a:ea typeface="微软雅黑"/>
              <a:cs typeface="Times New Roman" panose="02020503050405090304"/>
            </a:endParaRPr>
          </a:p>
        </p:txBody>
      </p:sp>
      <p:sp>
        <p:nvSpPr>
          <p:cNvPr id="26" name="q3-option0"/>
          <p:cNvSpPr>
            <a:spLocks noGrp="1"/>
          </p:cNvSpPr>
          <p:nvPr/>
        </p:nvSpPr>
        <p:spPr>
          <a:xfrm>
            <a:off x="1495425" y="274764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环境反馈 token，不直接计 policy loss</a:t>
            </a:r>
            <a:endParaRPr sz="1650" b="0">
              <a:solidFill>
                <a:srgbClr val="111111"/>
              </a:solidFill>
              <a:latin typeface="Times New Roman" panose="02020503050405090304"/>
              <a:ea typeface="微软雅黑"/>
              <a:cs typeface="Times New Roman" panose="02020503050405090304"/>
            </a:endParaRPr>
          </a:p>
        </p:txBody>
      </p:sp>
      <p:sp>
        <p:nvSpPr>
          <p:cNvPr id="27" name="q3-option1"/>
          <p:cNvSpPr>
            <a:spLocks noGrp="1"/>
          </p:cNvSpPr>
          <p:nvPr/>
        </p:nvSpPr>
        <p:spPr>
          <a:xfrm>
            <a:off x="5834380" y="274764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模型生成 token，直接参与 policy loss</a:t>
            </a:r>
            <a:endParaRPr sz="1650" b="0">
              <a:solidFill>
                <a:srgbClr val="111111"/>
              </a:solidFill>
              <a:latin typeface="Times New Roman" panose="02020503050405090304"/>
              <a:ea typeface="微软雅黑"/>
              <a:cs typeface="Times New Roman" panose="02020503050405090304"/>
            </a:endParaRPr>
          </a:p>
        </p:txBody>
      </p:sp>
      <p:sp>
        <p:nvSpPr>
          <p:cNvPr id="28" name="q3-option2"/>
          <p:cNvSpPr>
            <a:spLocks noGrp="1"/>
          </p:cNvSpPr>
          <p:nvPr/>
        </p:nvSpPr>
        <p:spPr>
          <a:xfrm>
            <a:off x="1495425" y="322834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需要删除的 token</a:t>
            </a:r>
            <a:endParaRPr sz="1650" b="0">
              <a:solidFill>
                <a:srgbClr val="111111"/>
              </a:solidFill>
              <a:latin typeface="Times New Roman" panose="02020503050405090304"/>
              <a:ea typeface="微软雅黑"/>
              <a:cs typeface="Times New Roman" panose="02020503050405090304"/>
            </a:endParaRPr>
          </a:p>
        </p:txBody>
      </p:sp>
      <p:sp>
        <p:nvSpPr>
          <p:cNvPr id="29" name="q3-option3"/>
          <p:cNvSpPr>
            <a:spLocks noGrp="1"/>
          </p:cNvSpPr>
          <p:nvPr/>
        </p:nvSpPr>
        <p:spPr>
          <a:xfrm>
            <a:off x="5834380" y="321056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无效的 token</a:t>
            </a:r>
            <a:endParaRPr sz="1650" b="0">
              <a:solidFill>
                <a:srgbClr val="111111"/>
              </a:solidFill>
              <a:latin typeface="Times New Roman" panose="02020503050405090304"/>
              <a:ea typeface="微软雅黑"/>
              <a:cs typeface="Times New Roman" panose="02020503050405090304"/>
            </a:endParaRPr>
          </a:p>
        </p:txBody>
      </p:sp>
      <p:sp>
        <p:nvSpPr>
          <p:cNvPr id="30" name="q4-label"/>
          <p:cNvSpPr>
            <a:spLocks noGrp="1"/>
          </p:cNvSpPr>
          <p:nvPr/>
        </p:nvSpPr>
        <p:spPr>
          <a:xfrm>
            <a:off x="609600" y="3705860"/>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a:t>
            </a:r>
            <a:r>
              <a:rPr lang="en-US" sz="2175" b="1">
                <a:solidFill>
                  <a:srgbClr val="111111"/>
                </a:solidFill>
                <a:latin typeface="Times New Roman" panose="02020503050405090304"/>
                <a:ea typeface="微软雅黑"/>
                <a:cs typeface="Times New Roman" panose="02020503050405090304"/>
              </a:rPr>
              <a:t>3</a:t>
            </a:r>
            <a:endParaRPr lang="en-US" sz="2175" b="1">
              <a:solidFill>
                <a:srgbClr val="111111"/>
              </a:solidFill>
              <a:latin typeface="Times New Roman" panose="02020503050405090304"/>
              <a:ea typeface="微软雅黑"/>
              <a:cs typeface="Times New Roman" panose="02020503050405090304"/>
            </a:endParaRPr>
          </a:p>
        </p:txBody>
      </p:sp>
      <p:sp>
        <p:nvSpPr>
          <p:cNvPr id="31" name="q4-stem"/>
          <p:cNvSpPr>
            <a:spLocks noGrp="1"/>
          </p:cNvSpPr>
          <p:nvPr/>
        </p:nvSpPr>
        <p:spPr>
          <a:xfrm>
            <a:off x="1495425" y="3776980"/>
            <a:ext cx="10001250" cy="609600"/>
          </a:xfrm>
          <a:prstGeom prst="rect">
            <a:avLst/>
          </a:prstGeom>
          <a:noFill/>
          <a:ln w="0">
            <a:noFill/>
          </a:ln>
        </p:spPr>
        <p:txBody>
          <a:bodyPr wrap="none" lIns="0" tIns="0" rIns="0" bIns="0" anchor="t">
            <a:noAutofit/>
          </a:bodyPr>
          <a:lstStyle/>
          <a:p>
            <a:pPr algn="l">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a:t>
            </a:r>
            <a:r>
              <a:rPr lang="zh-CN" altLang="en-US" sz="1800" b="1">
                <a:solidFill>
                  <a:srgbClr val="111111"/>
                </a:solidFill>
                <a:latin typeface="Times New Roman" panose="02020503050405090304"/>
                <a:ea typeface="微软雅黑"/>
                <a:cs typeface="Times New Roman" panose="02020503050405090304"/>
              </a:rPr>
              <a:t>一条 </a:t>
            </a:r>
            <a:r>
              <a:rPr lang="en-US" altLang="zh-CN" sz="1800" b="1">
                <a:solidFill>
                  <a:srgbClr val="111111"/>
                </a:solidFill>
                <a:latin typeface="Times New Roman" panose="02020503050405090304"/>
                <a:ea typeface="微软雅黑"/>
                <a:cs typeface="Times New Roman" panose="02020503050405090304"/>
              </a:rPr>
              <a:t>rollout </a:t>
            </a:r>
            <a:r>
              <a:rPr lang="zh-CN" altLang="en-US" sz="1800" b="1">
                <a:solidFill>
                  <a:srgbClr val="111111"/>
                </a:solidFill>
                <a:latin typeface="Times New Roman" panose="02020503050405090304"/>
                <a:ea typeface="微软雅黑"/>
                <a:cs typeface="Times New Roman" panose="02020503050405090304"/>
              </a:rPr>
              <a:t>共消耗 3 轮交互，并在第 3 轮猜中，</a:t>
            </a:r>
            <a:r>
              <a:rPr lang="en-US" altLang="zh-CN" sz="1800" b="1">
                <a:solidFill>
                  <a:srgbClr val="111111"/>
                </a:solidFill>
                <a:latin typeface="Times New Roman" panose="02020503050405090304"/>
                <a:ea typeface="微软雅黑"/>
                <a:cs typeface="Times New Roman" panose="02020503050405090304"/>
              </a:rPr>
              <a:t>length_bonus </a:t>
            </a:r>
            <a:r>
              <a:rPr lang="zh-CN" altLang="en-US" sz="1800" b="1">
                <a:solidFill>
                  <a:srgbClr val="111111"/>
                </a:solidFill>
                <a:latin typeface="Times New Roman" panose="02020503050405090304"/>
                <a:ea typeface="微软雅黑"/>
                <a:cs typeface="Times New Roman" panose="02020503050405090304"/>
              </a:rPr>
              <a:t>是多少</a:t>
            </a:r>
            <a:r>
              <a:rPr sz="1800" b="1">
                <a:solidFill>
                  <a:srgbClr val="111111"/>
                </a:solidFill>
                <a:latin typeface="Times New Roman" panose="02020503050405090304"/>
                <a:ea typeface="微软雅黑"/>
                <a:cs typeface="Times New Roman" panose="02020503050405090304"/>
              </a:rPr>
              <a:t>？</a:t>
            </a:r>
            <a:endParaRPr sz="1800" b="1">
              <a:solidFill>
                <a:srgbClr val="111111"/>
              </a:solidFill>
              <a:latin typeface="Times New Roman" panose="02020503050405090304"/>
              <a:ea typeface="微软雅黑"/>
              <a:cs typeface="Times New Roman" panose="02020503050405090304"/>
            </a:endParaRPr>
          </a:p>
        </p:txBody>
      </p:sp>
      <p:sp>
        <p:nvSpPr>
          <p:cNvPr id="32" name="q4-option0"/>
          <p:cNvSpPr>
            <a:spLocks noGrp="1"/>
          </p:cNvSpPr>
          <p:nvPr/>
        </p:nvSpPr>
        <p:spPr>
          <a:xfrm>
            <a:off x="1562100" y="42767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0.33</a:t>
            </a:r>
            <a:endParaRPr sz="1650" b="0">
              <a:solidFill>
                <a:srgbClr val="111111"/>
              </a:solidFill>
              <a:latin typeface="Times New Roman" panose="02020503050405090304"/>
              <a:ea typeface="微软雅黑"/>
              <a:cs typeface="Times New Roman" panose="02020503050405090304"/>
            </a:endParaRPr>
          </a:p>
        </p:txBody>
      </p:sp>
      <p:sp>
        <p:nvSpPr>
          <p:cNvPr id="33" name="q4-option1"/>
          <p:cNvSpPr>
            <a:spLocks noGrp="1"/>
          </p:cNvSpPr>
          <p:nvPr/>
        </p:nvSpPr>
        <p:spPr>
          <a:xfrm>
            <a:off x="5834380" y="42767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0.5</a:t>
            </a:r>
            <a:endParaRPr sz="1650" b="0">
              <a:solidFill>
                <a:srgbClr val="111111"/>
              </a:solidFill>
              <a:latin typeface="Times New Roman" panose="02020503050405090304"/>
              <a:ea typeface="微软雅黑"/>
              <a:cs typeface="Times New Roman" panose="02020503050405090304"/>
            </a:endParaRPr>
          </a:p>
        </p:txBody>
      </p:sp>
      <p:sp>
        <p:nvSpPr>
          <p:cNvPr id="34" name="q4-option2"/>
          <p:cNvSpPr>
            <a:spLocks noGrp="1"/>
          </p:cNvSpPr>
          <p:nvPr/>
        </p:nvSpPr>
        <p:spPr>
          <a:xfrm>
            <a:off x="1562100" y="475488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1.0</a:t>
            </a:r>
            <a:endParaRPr sz="1650" b="0">
              <a:solidFill>
                <a:srgbClr val="111111"/>
              </a:solidFill>
              <a:latin typeface="Times New Roman" panose="02020503050405090304"/>
              <a:ea typeface="微软雅黑"/>
              <a:cs typeface="Times New Roman" panose="02020503050405090304"/>
            </a:endParaRPr>
          </a:p>
        </p:txBody>
      </p:sp>
      <p:sp>
        <p:nvSpPr>
          <p:cNvPr id="35" name="q4-option3"/>
          <p:cNvSpPr>
            <a:spLocks noGrp="1"/>
          </p:cNvSpPr>
          <p:nvPr/>
        </p:nvSpPr>
        <p:spPr>
          <a:xfrm>
            <a:off x="5834380" y="475551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3.0</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4"/>
                                        </p:tgtEl>
                                        <p:attrNameLst>
                                          <p:attrName>style.visibility</p:attrName>
                                        </p:attrNameLst>
                                      </p:cBhvr>
                                      <p:to>
                                        <p:strVal val="visible"/>
                                      </p:to>
                                    </p:set>
                                    <p:animEffect transition="in" filter="fade">
                                      <p:cBhvr>
                                        <p:cTn id="15" dur="350"/>
                                        <p:tgtEl>
                                          <p:spTgt spid="24"/>
                                        </p:tgtEl>
                                      </p:cBhvr>
                                    </p:animEffect>
                                  </p:childTnLst>
                                </p:cTn>
                              </p:par>
                              <p:par>
                                <p:cTn id="16" presetID="10" presetClass="entr" presetSubtype="0" fill="hold" grpId="0" nodeType="withEffect">
                                  <p:stCondLst>
                                    <p:cond delay="0"/>
                                  </p:stCondLst>
                                  <p:childTnLst>
                                    <p:set>
                                      <p:cBhvr>
                                        <p:cTn id="17" dur="1" fill="hold"/>
                                        <p:tgtEl>
                                          <p:spTgt spid="25"/>
                                        </p:tgtEl>
                                        <p:attrNameLst>
                                          <p:attrName>style.visibility</p:attrName>
                                        </p:attrNameLst>
                                      </p:cBhvr>
                                      <p:to>
                                        <p:strVal val="visible"/>
                                      </p:to>
                                    </p:set>
                                    <p:animEffect transition="in" filter="fade">
                                      <p:cBhvr>
                                        <p:cTn id="18" dur="350"/>
                                        <p:tgtEl>
                                          <p:spTgt spid="25"/>
                                        </p:tgtEl>
                                      </p:cBhvr>
                                    </p:animEffect>
                                  </p:childTnLst>
                                </p:cTn>
                              </p:par>
                              <p:par>
                                <p:cTn id="19" presetID="10" presetClass="entr" presetSubtype="0" fill="hold" grpId="0" nodeType="withEffect">
                                  <p:stCondLst>
                                    <p:cond delay="0"/>
                                  </p:stCondLst>
                                  <p:childTnLst>
                                    <p:set>
                                      <p:cBhvr>
                                        <p:cTn id="20" dur="1" fill="hold"/>
                                        <p:tgtEl>
                                          <p:spTgt spid="26"/>
                                        </p:tgtEl>
                                        <p:attrNameLst>
                                          <p:attrName>style.visibility</p:attrName>
                                        </p:attrNameLst>
                                      </p:cBhvr>
                                      <p:to>
                                        <p:strVal val="visible"/>
                                      </p:to>
                                    </p:set>
                                    <p:animEffect transition="in" filter="fade">
                                      <p:cBhvr>
                                        <p:cTn id="21" dur="350"/>
                                        <p:tgtEl>
                                          <p:spTgt spid="26"/>
                                        </p:tgtEl>
                                      </p:cBhvr>
                                    </p:animEffect>
                                  </p:childTnLst>
                                </p:cTn>
                              </p:par>
                              <p:par>
                                <p:cTn id="22" presetID="10" presetClass="entr" presetSubtype="0" fill="hold" grpId="0" nodeType="withEffect">
                                  <p:stCondLst>
                                    <p:cond delay="0"/>
                                  </p:stCondLst>
                                  <p:childTnLst>
                                    <p:set>
                                      <p:cBhvr>
                                        <p:cTn id="23" dur="1" fill="hold"/>
                                        <p:tgtEl>
                                          <p:spTgt spid="27"/>
                                        </p:tgtEl>
                                        <p:attrNameLst>
                                          <p:attrName>style.visibility</p:attrName>
                                        </p:attrNameLst>
                                      </p:cBhvr>
                                      <p:to>
                                        <p:strVal val="visible"/>
                                      </p:to>
                                    </p:set>
                                    <p:animEffect transition="in" filter="fade">
                                      <p:cBhvr>
                                        <p:cTn id="24" dur="350"/>
                                        <p:tgtEl>
                                          <p:spTgt spid="27"/>
                                        </p:tgtEl>
                                      </p:cBhvr>
                                    </p:animEffect>
                                  </p:childTnLst>
                                </p:cTn>
                              </p:par>
                              <p:par>
                                <p:cTn id="25" presetID="10" presetClass="entr" presetSubtype="0" fill="hold" grpId="0" nodeType="withEffect">
                                  <p:stCondLst>
                                    <p:cond delay="0"/>
                                  </p:stCondLst>
                                  <p:childTnLst>
                                    <p:set>
                                      <p:cBhvr>
                                        <p:cTn id="26" dur="1" fill="hold"/>
                                        <p:tgtEl>
                                          <p:spTgt spid="28"/>
                                        </p:tgtEl>
                                        <p:attrNameLst>
                                          <p:attrName>style.visibility</p:attrName>
                                        </p:attrNameLst>
                                      </p:cBhvr>
                                      <p:to>
                                        <p:strVal val="visible"/>
                                      </p:to>
                                    </p:set>
                                    <p:animEffect transition="in" filter="fade">
                                      <p:cBhvr>
                                        <p:cTn id="27" dur="350"/>
                                        <p:tgtEl>
                                          <p:spTgt spid="28"/>
                                        </p:tgtEl>
                                      </p:cBhvr>
                                    </p:animEffect>
                                  </p:childTnLst>
                                </p:cTn>
                              </p:par>
                              <p:par>
                                <p:cTn id="28" presetID="10" presetClass="entr" presetSubtype="0" fill="hold" grpId="0" nodeType="withEffect">
                                  <p:stCondLst>
                                    <p:cond delay="0"/>
                                  </p:stCondLst>
                                  <p:childTnLst>
                                    <p:set>
                                      <p:cBhvr>
                                        <p:cTn id="29" dur="1" fill="hold"/>
                                        <p:tgtEl>
                                          <p:spTgt spid="29"/>
                                        </p:tgtEl>
                                        <p:attrNameLst>
                                          <p:attrName>style.visibility</p:attrName>
                                        </p:attrNameLst>
                                      </p:cBhvr>
                                      <p:to>
                                        <p:strVal val="visible"/>
                                      </p:to>
                                    </p:set>
                                    <p:animEffect transition="in" filter="fade">
                                      <p:cBhvr>
                                        <p:cTn id="30" dur="350"/>
                                        <p:tgtEl>
                                          <p:spTgt spid="29"/>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tgtEl>
                                          <p:spTgt spid="30"/>
                                        </p:tgtEl>
                                        <p:attrNameLst>
                                          <p:attrName>style.visibility</p:attrName>
                                        </p:attrNameLst>
                                      </p:cBhvr>
                                      <p:to>
                                        <p:strVal val="visible"/>
                                      </p:to>
                                    </p:set>
                                    <p:animEffect transition="in" filter="fade">
                                      <p:cBhvr>
                                        <p:cTn id="35" dur="350"/>
                                        <p:tgtEl>
                                          <p:spTgt spid="30"/>
                                        </p:tgtEl>
                                      </p:cBhvr>
                                    </p:animEffect>
                                  </p:childTnLst>
                                </p:cTn>
                              </p:par>
                              <p:par>
                                <p:cTn id="36" presetID="10" presetClass="entr" presetSubtype="0" fill="hold" grpId="0" nodeType="withEffect">
                                  <p:stCondLst>
                                    <p:cond delay="0"/>
                                  </p:stCondLst>
                                  <p:childTnLst>
                                    <p:set>
                                      <p:cBhvr>
                                        <p:cTn id="37" dur="1" fill="hold"/>
                                        <p:tgtEl>
                                          <p:spTgt spid="31"/>
                                        </p:tgtEl>
                                        <p:attrNameLst>
                                          <p:attrName>style.visibility</p:attrName>
                                        </p:attrNameLst>
                                      </p:cBhvr>
                                      <p:to>
                                        <p:strVal val="visible"/>
                                      </p:to>
                                    </p:set>
                                    <p:animEffect transition="in" filter="fade">
                                      <p:cBhvr>
                                        <p:cTn id="38" dur="350"/>
                                        <p:tgtEl>
                                          <p:spTgt spid="31"/>
                                        </p:tgtEl>
                                      </p:cBhvr>
                                    </p:animEffect>
                                  </p:childTnLst>
                                </p:cTn>
                              </p:par>
                              <p:par>
                                <p:cTn id="39" presetID="10" presetClass="entr" presetSubtype="0" fill="hold" grpId="0" nodeType="withEffect">
                                  <p:stCondLst>
                                    <p:cond delay="0"/>
                                  </p:stCondLst>
                                  <p:childTnLst>
                                    <p:set>
                                      <p:cBhvr>
                                        <p:cTn id="40" dur="1" fill="hold"/>
                                        <p:tgtEl>
                                          <p:spTgt spid="32"/>
                                        </p:tgtEl>
                                        <p:attrNameLst>
                                          <p:attrName>style.visibility</p:attrName>
                                        </p:attrNameLst>
                                      </p:cBhvr>
                                      <p:to>
                                        <p:strVal val="visible"/>
                                      </p:to>
                                    </p:set>
                                    <p:animEffect transition="in" filter="fade">
                                      <p:cBhvr>
                                        <p:cTn id="41" dur="350"/>
                                        <p:tgtEl>
                                          <p:spTgt spid="32"/>
                                        </p:tgtEl>
                                      </p:cBhvr>
                                    </p:animEffect>
                                  </p:childTnLst>
                                </p:cTn>
                              </p:par>
                              <p:par>
                                <p:cTn id="42" presetID="10" presetClass="entr" presetSubtype="0" fill="hold" grpId="0" nodeType="withEffect">
                                  <p:stCondLst>
                                    <p:cond delay="0"/>
                                  </p:stCondLst>
                                  <p:childTnLst>
                                    <p:set>
                                      <p:cBhvr>
                                        <p:cTn id="43" dur="1" fill="hold"/>
                                        <p:tgtEl>
                                          <p:spTgt spid="33"/>
                                        </p:tgtEl>
                                        <p:attrNameLst>
                                          <p:attrName>style.visibility</p:attrName>
                                        </p:attrNameLst>
                                      </p:cBhvr>
                                      <p:to>
                                        <p:strVal val="visible"/>
                                      </p:to>
                                    </p:set>
                                    <p:animEffect transition="in" filter="fade">
                                      <p:cBhvr>
                                        <p:cTn id="44" dur="350"/>
                                        <p:tgtEl>
                                          <p:spTgt spid="33"/>
                                        </p:tgtEl>
                                      </p:cBhvr>
                                    </p:animEffect>
                                  </p:childTnLst>
                                </p:cTn>
                              </p:par>
                              <p:par>
                                <p:cTn id="45" presetID="10" presetClass="entr" presetSubtype="0" fill="hold" grpId="0" nodeType="withEffect">
                                  <p:stCondLst>
                                    <p:cond delay="0"/>
                                  </p:stCondLst>
                                  <p:childTnLst>
                                    <p:set>
                                      <p:cBhvr>
                                        <p:cTn id="46" dur="1" fill="hold"/>
                                        <p:tgtEl>
                                          <p:spTgt spid="34"/>
                                        </p:tgtEl>
                                        <p:attrNameLst>
                                          <p:attrName>style.visibility</p:attrName>
                                        </p:attrNameLst>
                                      </p:cBhvr>
                                      <p:to>
                                        <p:strVal val="visible"/>
                                      </p:to>
                                    </p:set>
                                    <p:animEffect transition="in" filter="fade">
                                      <p:cBhvr>
                                        <p:cTn id="47" dur="350"/>
                                        <p:tgtEl>
                                          <p:spTgt spid="34"/>
                                        </p:tgtEl>
                                      </p:cBhvr>
                                    </p:animEffect>
                                  </p:childTnLst>
                                </p:cTn>
                              </p:par>
                              <p:par>
                                <p:cTn id="48" presetID="10" presetClass="entr" presetSubtype="0" fill="hold" grpId="0" nodeType="withEffect">
                                  <p:stCondLst>
                                    <p:cond delay="0"/>
                                  </p:stCondLst>
                                  <p:childTnLst>
                                    <p:set>
                                      <p:cBhvr>
                                        <p:cTn id="49" dur="1" fill="hold"/>
                                        <p:tgtEl>
                                          <p:spTgt spid="35"/>
                                        </p:tgtEl>
                                        <p:attrNameLst>
                                          <p:attrName>style.visibility</p:attrName>
                                        </p:attrNameLst>
                                      </p:cBhvr>
                                      <p:to>
                                        <p:strVal val="visible"/>
                                      </p:to>
                                    </p:set>
                                    <p:animEffect transition="in" filter="fade">
                                      <p:cBhvr>
                                        <p:cTn id="50"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a:spLocks noGrp="1"/>
          </p:cNvSpPr>
          <p:nvPr/>
        </p:nvSpPr>
        <p:spPr>
          <a:xfrm>
            <a:off x="547073" y="2601035"/>
            <a:ext cx="3380868" cy="835742"/>
          </a:xfrm>
          <a:prstGeom prst="rect">
            <a:avLst/>
          </a:prstGeom>
          <a:solidFill>
            <a:srgbClr val="FFFFFF"/>
          </a:solidFill>
          <a:ln w="12700" cmpd="sng">
            <a:noFill/>
            <a:prstDash val="solid"/>
          </a:ln>
        </p:spPr>
        <p:txBody>
          <a:bodyPr anchor="ctr"/>
          <a:lstStyle/>
          <a:p>
            <a:pPr marL="0" indent="0" algn="ctr">
              <a:lnSpc>
                <a:spcPct val="100000"/>
              </a:lnSpc>
              <a:spcBef>
                <a:spcPts val="0"/>
              </a:spcBef>
              <a:spcAft>
                <a:spcPts val="0"/>
              </a:spcAft>
              <a:buNone/>
            </a:pPr>
            <a:r>
              <a:rPr sz="4000" b="0" i="0" u="none" cap="none">
                <a:ln>
                  <a:noFill/>
                </a:ln>
                <a:solidFill>
                  <a:srgbClr val="DDDDDD">
                    <a:lumMod val="50000"/>
                  </a:srgbClr>
                </a:solidFill>
                <a:latin typeface="Times New Roman" panose="02020503050405090304"/>
                <a:ea typeface="微软雅黑"/>
                <a:cs typeface="Times New Roman" panose="02020503050405090304"/>
              </a:rPr>
              <a:t>RL 初阶课程</a:t>
            </a:r>
            <a:endParaRPr sz="4000" b="0" i="0" u="none" cap="none">
              <a:ln>
                <a:noFill/>
              </a:ln>
              <a:solidFill>
                <a:srgbClr val="DDDDDD">
                  <a:lumMod val="50000"/>
                </a:srgbClr>
              </a:solidFill>
              <a:latin typeface="Times New Roman" panose="02020503050405090304"/>
              <a:ea typeface="微软雅黑"/>
              <a:cs typeface="Times New Roman" panose="02020503050405090304"/>
            </a:endParaRPr>
          </a:p>
        </p:txBody>
      </p:sp>
      <p:sp>
        <p:nvSpPr>
          <p:cNvPr id="15" name="í$ľidè"/>
          <p:cNvSpPr>
            <a:spLocks noGrp="1"/>
          </p:cNvSpPr>
          <p:nvPr/>
        </p:nvSpPr>
        <p:spPr>
          <a:xfrm>
            <a:off x="3956272" y="1890392"/>
            <a:ext cx="0" cy="2769071"/>
          </a:xfrm>
          <a:prstGeom prst="line">
            <a:avLst/>
          </a:prstGeom>
          <a:solidFill>
            <a:srgbClr val="FFCC00"/>
          </a:solidFill>
          <a:ln w="12700">
            <a:solidFill>
              <a:schemeClr val="bg1">
                <a:lumMod val="65000"/>
              </a:schemeClr>
            </a:solidFill>
            <a:prstDash val="solid"/>
            <a:headEnd type="none" w="med" len="med"/>
            <a:tailEnd type="none" w="med" len="med"/>
          </a:ln>
        </p:spPr>
      </p:sp>
      <p:pic>
        <p:nvPicPr>
          <p:cNvPr id="21" name="图片 7"/>
          <p:cNvPicPr>
            <a:picLocks noChangeAspect="1"/>
          </p:cNvPicPr>
          <p:nvPr/>
        </p:nvPicPr>
        <p:blipFill>
          <a:blip r:embed="rId1"/>
          <a:stretch>
            <a:fillRect/>
          </a:stretch>
        </p:blipFill>
        <p:spPr>
          <a:xfrm>
            <a:off x="10137202" y="6042990"/>
            <a:ext cx="1312676" cy="348426"/>
          </a:xfrm>
          <a:prstGeom prst="rect">
            <a:avLst/>
          </a:prstGeom>
        </p:spPr>
      </p:pic>
      <p:sp>
        <p:nvSpPr>
          <p:cNvPr id="17" name="文本框 16"/>
          <p:cNvSpPr>
            <a:spLocks noGrp="1"/>
          </p:cNvSpPr>
          <p:nvPr/>
        </p:nvSpPr>
        <p:spPr>
          <a:xfrm>
            <a:off x="620201" y="6130454"/>
            <a:ext cx="8763000" cy="246221"/>
          </a:xfrm>
          <a:prstGeom prst="rect">
            <a:avLst/>
          </a:prstGeom>
          <a:noFill/>
        </p:spPr>
        <p:txBody>
          <a:bodyPr wrap="none">
            <a:spAutoFit/>
          </a:bodyPr>
          <a:lstStyle/>
          <a:p>
            <a:pPr marL="0" indent="0" algn="l">
              <a:lnSpc>
                <a:spcPct val="100000"/>
              </a:lnSpc>
              <a:spcBef>
                <a:spcPts val="0"/>
              </a:spcBef>
              <a:spcAft>
                <a:spcPts val="0"/>
              </a:spcAft>
              <a:buNone/>
            </a:pPr>
            <a:r>
              <a:rPr sz="1000" b="0" i="0" u="none" cap="none">
                <a:ln>
                  <a:noFill/>
                </a:ln>
                <a:solidFill>
                  <a:prstClr val="white">
                    <a:lumMod val="50000"/>
                  </a:prstClr>
                </a:solidFill>
                <a:latin typeface="Times New Roman" panose="02020503050405090304"/>
                <a:ea typeface="微软雅黑"/>
                <a:cs typeface="Times New Roman" panose="02020503050405090304"/>
                <a:hlinkClick r:id="rId2"/>
              </a:rPr>
              <a:t>https://gitcode.com/cann/cann-learning-hub/tree/master/tutorials/rl_training_pipeline</a:t>
            </a:r>
            <a:endParaRPr sz="1000" b="0" i="0" u="none" cap="none">
              <a:ln>
                <a:noFill/>
              </a:ln>
              <a:solidFill>
                <a:prstClr val="white">
                  <a:lumMod val="50000"/>
                </a:prstClr>
              </a:solidFill>
              <a:latin typeface="Times New Roman" panose="02020503050405090304"/>
              <a:ea typeface="微软雅黑"/>
              <a:cs typeface="Times New Roman" panose="02020503050405090304"/>
            </a:endParaRPr>
          </a:p>
        </p:txBody>
      </p:sp>
      <p:sp>
        <p:nvSpPr>
          <p:cNvPr id="12" name="矩形 11"/>
          <p:cNvSpPr>
            <a:spLocks noGrp="1"/>
          </p:cNvSpPr>
          <p:nvPr/>
        </p:nvSpPr>
        <p:spPr>
          <a:xfrm>
            <a:off x="5157694" y="1530876"/>
            <a:ext cx="4587547" cy="596075"/>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1 强化学习训练环境准备</a:t>
            </a:r>
            <a:endParaRPr sz="2400" b="0" i="0" u="none" cap="none">
              <a:ln>
                <a:noFill/>
              </a:ln>
              <a:solidFill>
                <a:srgbClr val="666666"/>
              </a:solidFill>
              <a:latin typeface="Times New Roman" panose="02020503050405090304"/>
              <a:ea typeface="微软雅黑"/>
              <a:cs typeface="Times New Roman" panose="02020503050405090304"/>
            </a:endParaRPr>
          </a:p>
        </p:txBody>
      </p:sp>
      <p:sp>
        <p:nvSpPr>
          <p:cNvPr id="13" name="矩形 12"/>
          <p:cNvSpPr>
            <a:spLocks noGrp="1"/>
          </p:cNvSpPr>
          <p:nvPr/>
        </p:nvSpPr>
        <p:spPr>
          <a:xfrm>
            <a:off x="5157694" y="2680975"/>
            <a:ext cx="4587549" cy="591795"/>
          </a:xfrm>
          <a:prstGeom prst="rect">
            <a:avLst/>
          </a:prstGeom>
          <a:solidFill>
            <a:srgbClr val="FFFFFF">
              <a:lumMod val="95000"/>
            </a:srgbClr>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2 RL 核心概念</a:t>
            </a:r>
            <a:endParaRPr sz="2400">
              <a:solidFill>
                <a:srgbClr val="666666"/>
              </a:solidFill>
              <a:latin typeface="Times New Roman" panose="02020503050405090304"/>
              <a:ea typeface="微软雅黑"/>
              <a:cs typeface="Times New Roman" panose="02020503050405090304"/>
            </a:endParaRPr>
          </a:p>
        </p:txBody>
      </p:sp>
      <p:sp>
        <p:nvSpPr>
          <p:cNvPr id="14" name="矩形 13"/>
          <p:cNvSpPr>
            <a:spLocks noGrp="1"/>
          </p:cNvSpPr>
          <p:nvPr/>
        </p:nvSpPr>
        <p:spPr>
          <a:xfrm>
            <a:off x="5157694" y="3712434"/>
            <a:ext cx="4587551" cy="587513"/>
          </a:xfrm>
          <a:prstGeom prst="rect">
            <a:avLst/>
          </a:prstGeom>
          <a:solidFill>
            <a:srgbClr val="F2F2F2"/>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srgbClr val="666666"/>
                </a:solidFill>
                <a:latin typeface="Times New Roman" panose="02020503050405090304"/>
                <a:ea typeface="微软雅黑"/>
                <a:cs typeface="Times New Roman" panose="02020503050405090304"/>
              </a:rPr>
              <a:t>Part 3 Wordle RL 训练</a:t>
            </a:r>
            <a:endParaRPr sz="2400" b="0" i="0" u="none" cap="none">
              <a:ln>
                <a:noFill/>
              </a:ln>
              <a:solidFill>
                <a:srgbClr val="666666"/>
              </a:solidFill>
              <a:latin typeface="Times New Roman" panose="02020503050405090304"/>
              <a:ea typeface="微软雅黑"/>
              <a:cs typeface="Times New Roman" panose="02020503050405090304"/>
            </a:endParaRPr>
          </a:p>
        </p:txBody>
      </p:sp>
      <p:sp>
        <p:nvSpPr>
          <p:cNvPr id="7" name="矩形 6"/>
          <p:cNvSpPr>
            <a:spLocks noGrp="1"/>
          </p:cNvSpPr>
          <p:nvPr/>
        </p:nvSpPr>
        <p:spPr>
          <a:xfrm>
            <a:off x="5157694" y="4739611"/>
            <a:ext cx="4587553" cy="587513"/>
          </a:xfrm>
          <a:prstGeom prst="rect">
            <a:avLst/>
          </a:prstGeom>
          <a:solidFill>
            <a:srgbClr val="C00000"/>
          </a:solidFill>
          <a:ln w="9525" cmpd="sng">
            <a:solidFill>
              <a:srgbClr val="FFFFFF">
                <a:lumMod val="65000"/>
              </a:srgbClr>
            </a:solidFill>
            <a:prstDash val="solid"/>
          </a:ln>
        </p:spPr>
        <p:txBody>
          <a:bodyPr rot="0" spcFirstLastPara="0" vert="horz" wrap="square" lIns="91440" tIns="45720" rIns="91440" bIns="45720" anchor="ctr">
            <a:noAutofit/>
          </a:bodyPr>
          <a:lstStyle/>
          <a:p>
            <a:pPr marL="0" indent="0" algn="l">
              <a:lnSpc>
                <a:spcPct val="100000"/>
              </a:lnSpc>
              <a:spcBef>
                <a:spcPts val="0"/>
              </a:spcBef>
              <a:spcAft>
                <a:spcPts val="0"/>
              </a:spcAft>
              <a:buNone/>
            </a:pPr>
            <a:r>
              <a:rPr sz="2400" b="0" i="0" u="none" cap="none">
                <a:ln>
                  <a:noFill/>
                </a:ln>
                <a:solidFill>
                  <a:prstClr val="white"/>
                </a:solidFill>
                <a:latin typeface="Times New Roman" panose="02020503050405090304"/>
                <a:ea typeface="微软雅黑"/>
                <a:cs typeface="Times New Roman" panose="02020503050405090304"/>
              </a:rPr>
              <a:t>Part 4 调优与问题排查</a:t>
            </a:r>
            <a:endParaRPr sz="2400" b="0" i="0" u="none" cap="none">
              <a:ln>
                <a:noFill/>
              </a:ln>
              <a:solidFill>
                <a:prstClr val="white"/>
              </a:solidFill>
              <a:latin typeface="Times New Roman" panose="02020503050405090304"/>
              <a:ea typeface="微软雅黑"/>
              <a:cs typeface="Times New Roman" panose="0202050305040509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调优与问题排查</a:t>
            </a:r>
            <a:endParaRPr sz="2700" b="1">
              <a:solidFill>
                <a:srgbClr val="111111"/>
              </a:solidFill>
              <a:latin typeface="Times New Roman" panose="02020503050405090304"/>
              <a:ea typeface="微软雅黑"/>
              <a:cs typeface="Times New Roman" panose="02020503050405090304"/>
            </a:endParaRPr>
          </a:p>
        </p:txBody>
      </p:sp>
      <p:sp>
        <p:nvSpPr>
          <p:cNvPr id="19" name="tune-intro"/>
          <p:cNvSpPr>
            <a:spLocks noGrp="1"/>
          </p:cNvSpPr>
          <p:nvPr/>
        </p:nvSpPr>
        <p:spPr>
          <a:xfrm>
            <a:off x="742950" y="1104900"/>
            <a:ext cx="110490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固定同一 SFT 起点、数据、seed、batch 和评测协议。</a:t>
            </a:r>
            <a:endParaRPr sz="2000" b="0">
              <a:solidFill>
                <a:srgbClr val="111111"/>
              </a:solidFill>
              <a:latin typeface="Times New Roman" panose="02020503050405090304"/>
              <a:ea typeface="微软雅黑"/>
              <a:cs typeface="Times New Roman" panose="02020503050405090304"/>
            </a:endParaRPr>
          </a:p>
        </p:txBody>
      </p:sp>
      <p:sp>
        <p:nvSpPr>
          <p:cNvPr id="20" name="tune-variable"/>
          <p:cNvSpPr>
            <a:spLocks noGrp="1"/>
          </p:cNvSpPr>
          <p:nvPr/>
        </p:nvSpPr>
        <p:spPr>
          <a:xfrm>
            <a:off x="742950" y="1600200"/>
            <a:ext cx="10858500" cy="342900"/>
          </a:xfrm>
          <a:prstGeom prst="rect">
            <a:avLst/>
          </a:prstGeom>
          <a:noFill/>
          <a:ln w="0">
            <a:noFill/>
          </a:ln>
        </p:spPr>
        <p:txBody>
          <a:bodyPr wrap="none" lIns="0" tIns="0" rIns="0" bIns="0" anchor="t">
            <a:noAutofit/>
          </a:bodyPr>
          <a:lstStyle/>
          <a:p>
            <a:pPr>
              <a:lnSpc>
                <a:spcPct val="108000"/>
              </a:lnSpc>
              <a:buNone/>
              <a:defRPr sz="1875" b="1">
                <a:solidFill>
                  <a:srgbClr val="E60012"/>
                </a:solidFill>
                <a:latin typeface="Times New Roman" panose="02020503050405090304"/>
                <a:ea typeface="微软雅黑"/>
                <a:cs typeface="Times New Roman" panose="02020503050405090304"/>
              </a:defRPr>
            </a:pPr>
            <a:r>
              <a:rPr sz="1875" b="1">
                <a:solidFill>
                  <a:srgbClr val="E60012"/>
                </a:solidFill>
                <a:latin typeface="Times New Roman" panose="02020503050405090304"/>
                <a:ea typeface="微软雅黑"/>
                <a:cs typeface="Times New Roman" panose="02020503050405090304"/>
              </a:rPr>
              <a:t>首轮只改变 entropy_coeff，每组先跑 25～30 步。</a:t>
            </a:r>
            <a:endParaRPr sz="1875" b="1">
              <a:solidFill>
                <a:srgbClr val="E60012"/>
              </a:solidFill>
              <a:latin typeface="Times New Roman" panose="02020503050405090304"/>
              <a:ea typeface="微软雅黑"/>
              <a:cs typeface="Times New Roman" panose="02020503050405090304"/>
            </a:endParaRPr>
          </a:p>
        </p:txBody>
      </p:sp>
      <p:graphicFrame>
        <p:nvGraphicFramePr>
          <p:cNvPr id="32" name="tune-experiment-table"/>
          <p:cNvGraphicFramePr/>
          <p:nvPr/>
        </p:nvGraphicFramePr>
        <p:xfrm>
          <a:off x="742950" y="2133600"/>
          <a:ext cx="10706100" cy="1876425"/>
        </p:xfrm>
        <a:graphic>
          <a:graphicData uri="http://schemas.openxmlformats.org/drawingml/2006/table">
            <a:tbl>
              <a:tblPr/>
              <a:tblGrid>
                <a:gridCol w="3238500"/>
                <a:gridCol w="2476500"/>
                <a:gridCol w="2514600"/>
                <a:gridCol w="2476500"/>
              </a:tblGrid>
              <a:tr h="419100">
                <a:tc>
                  <a:txBody>
                    <a:bodyPr>
                      <a:spAutoFit/>
                    </a:bodyPr>
                    <a:lstStyle/>
                    <a:p>
                      <a:pPr algn="ctr"/>
                      <a:r>
                        <a:rPr sz="1875" b="1">
                          <a:solidFill>
                            <a:srgbClr val="111111"/>
                          </a:solidFill>
                          <a:latin typeface="Times New Roman" panose="02020503050405090304"/>
                          <a:ea typeface="微软雅黑"/>
                          <a:cs typeface="Times New Roman" panose="02020503050405090304"/>
                        </a:rPr>
                        <a:t>参数</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111111"/>
                          </a:solidFill>
                          <a:latin typeface="Times New Roman" panose="02020503050405090304"/>
                          <a:ea typeface="微软雅黑"/>
                          <a:cs typeface="Times New Roman" panose="02020503050405090304"/>
                        </a:rPr>
                        <a:t>实验 A</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111111"/>
                          </a:solidFill>
                          <a:latin typeface="Times New Roman" panose="02020503050405090304"/>
                          <a:ea typeface="微软雅黑"/>
                          <a:cs typeface="Times New Roman" panose="02020503050405090304"/>
                        </a:rPr>
                        <a:t>实验 B（当前起点）</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111111"/>
                          </a:solidFill>
                          <a:latin typeface="Times New Roman" panose="02020503050405090304"/>
                          <a:ea typeface="微软雅黑"/>
                          <a:cs typeface="Times New Roman" panose="02020503050405090304"/>
                        </a:rPr>
                        <a:t>实验 C</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85775">
                <a:tc>
                  <a:txBody>
                    <a:bodyPr>
                      <a:spAutoFit/>
                    </a:bodyPr>
                    <a:lstStyle/>
                    <a:p>
                      <a:pPr algn="ctr"/>
                      <a:r>
                        <a:rPr sz="1875" b="0">
                          <a:solidFill>
                            <a:srgbClr val="111111"/>
                          </a:solidFill>
                          <a:latin typeface="Times New Roman" panose="02020503050405090304"/>
                          <a:ea typeface="微软雅黑"/>
                          <a:cs typeface="Times New Roman" panose="02020503050405090304"/>
                        </a:rPr>
                        <a:t>entropy_coeff</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0.003</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E60012"/>
                          </a:solidFill>
                          <a:latin typeface="Times New Roman" panose="02020503050405090304"/>
                          <a:ea typeface="微软雅黑"/>
                          <a:cs typeface="Times New Roman" panose="02020503050405090304"/>
                        </a:rPr>
                        <a:t>0.004</a:t>
                      </a:r>
                      <a:endParaRPr sz="1875" b="1">
                        <a:solidFill>
                          <a:srgbClr val="E60012"/>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0.005</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85775">
                <a:tc>
                  <a:txBody>
                    <a:bodyPr>
                      <a:spAutoFit/>
                    </a:bodyPr>
                    <a:lstStyle/>
                    <a:p>
                      <a:pPr algn="ctr"/>
                      <a:r>
                        <a:rPr sz="1875" b="0">
                          <a:solidFill>
                            <a:srgbClr val="111111"/>
                          </a:solidFill>
                          <a:latin typeface="Times New Roman" panose="02020503050405090304"/>
                          <a:ea typeface="微软雅黑"/>
                          <a:cs typeface="Times New Roman" panose="02020503050405090304"/>
                        </a:rPr>
                        <a:t>kl_loss_coef</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0.001</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0.001</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0.001</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85775">
                <a:tc>
                  <a:txBody>
                    <a:bodyPr>
                      <a:spAutoFit/>
                    </a:bodyPr>
                    <a:lstStyle/>
                    <a:p>
                      <a:pPr algn="ctr"/>
                      <a:r>
                        <a:rPr sz="1875" b="0">
                          <a:solidFill>
                            <a:srgbClr val="111111"/>
                          </a:solidFill>
                          <a:latin typeface="Times New Roman" panose="02020503050405090304"/>
                          <a:ea typeface="微软雅黑"/>
                          <a:cs typeface="Times New Roman" panose="02020503050405090304"/>
                        </a:rPr>
                        <a:t>Actor LR</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1e−6</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1e−6</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1e−6</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2" name="tune-scheduler"/>
          <p:cNvSpPr>
            <a:spLocks noGrp="1"/>
          </p:cNvSpPr>
          <p:nvPr/>
        </p:nvSpPr>
        <p:spPr>
          <a:xfrm>
            <a:off x="742950" y="4181475"/>
            <a:ext cx="10858500" cy="3048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各组均采用 cosine 调度，warmup = 5，min_lr_ratio = 0.1。</a:t>
            </a:r>
            <a:endParaRPr sz="1650" b="0">
              <a:solidFill>
                <a:srgbClr val="111111"/>
              </a:solidFill>
              <a:latin typeface="Times New Roman" panose="02020503050405090304"/>
              <a:ea typeface="微软雅黑"/>
              <a:cs typeface="Times New Roman" panose="02020503050405090304"/>
            </a:endParaRPr>
          </a:p>
        </p:txBody>
      </p:sp>
      <p:sp>
        <p:nvSpPr>
          <p:cNvPr id="23" name="tune-observe-heading"/>
          <p:cNvSpPr>
            <a:spLocks noGrp="1"/>
          </p:cNvSpPr>
          <p:nvPr/>
        </p:nvSpPr>
        <p:spPr>
          <a:xfrm>
            <a:off x="742950" y="4638675"/>
            <a:ext cx="7667625" cy="333375"/>
          </a:xfrm>
          <a:prstGeom prst="rect">
            <a:avLst/>
          </a:prstGeom>
          <a:noFill/>
          <a:ln w="0">
            <a:noFill/>
          </a:ln>
        </p:spPr>
        <p:txBody>
          <a:bodyPr wrap="none" lIns="0" tIns="0" rIns="0" bIns="0" anchor="t">
            <a:noAutofit/>
          </a:bodyPr>
          <a:lstStyle/>
          <a:p>
            <a:pPr>
              <a:lnSpc>
                <a:spcPct val="108000"/>
              </a:lnSpc>
              <a:buNone/>
              <a:defRPr sz="1875" b="1">
                <a:solidFill>
                  <a:srgbClr val="357AE8"/>
                </a:solidFill>
                <a:latin typeface="Times New Roman" panose="02020503050405090304"/>
                <a:ea typeface="微软雅黑"/>
                <a:cs typeface="Times New Roman" panose="02020503050405090304"/>
              </a:defRPr>
            </a:pPr>
            <a:r>
              <a:rPr sz="1875" b="1">
                <a:solidFill>
                  <a:srgbClr val="357AE8"/>
                </a:solidFill>
                <a:latin typeface="Times New Roman" panose="02020503050405090304"/>
                <a:ea typeface="微软雅黑"/>
                <a:cs typeface="Times New Roman" panose="02020503050405090304"/>
              </a:rPr>
              <a:t>观察 entropy、KL、验证 correct 和输出长度</a:t>
            </a:r>
            <a:endParaRPr sz="1875" b="1">
              <a:solidFill>
                <a:srgbClr val="357AE8"/>
              </a:solidFill>
              <a:latin typeface="Times New Roman" panose="02020503050405090304"/>
              <a:ea typeface="微软雅黑"/>
              <a:cs typeface="Times New Roman" panose="02020503050405090304"/>
            </a:endParaRPr>
          </a:p>
        </p:txBody>
      </p:sp>
      <p:sp>
        <p:nvSpPr>
          <p:cNvPr id="24" name="tune-observe-body"/>
          <p:cNvSpPr>
            <a:spLocks noGrp="1"/>
          </p:cNvSpPr>
          <p:nvPr/>
        </p:nvSpPr>
        <p:spPr>
          <a:xfrm>
            <a:off x="742950" y="5067300"/>
            <a:ext cx="7810500" cy="619125"/>
          </a:xfrm>
          <a:prstGeom prst="rect">
            <a:avLst/>
          </a:prstGeom>
          <a:noFill/>
          <a:ln w="0">
            <a:noFill/>
          </a:ln>
        </p:spPr>
        <p:txBody>
          <a:bodyPr wrap="none" lIns="0" tIns="0" rIns="0" bIns="0" anchor="t">
            <a:noAutofit/>
          </a:bodyPr>
          <a:lstStyle/>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熵加速上升且 correct 不涨：小幅下调熵系数。</a:t>
            </a:r>
            <a:endParaRPr sz="1725" b="0">
              <a:solidFill>
                <a:srgbClr val="111111"/>
              </a:solidFill>
              <a:latin typeface="Times New Roman" panose="02020503050405090304"/>
              <a:ea typeface="微软雅黑"/>
              <a:cs typeface="Times New Roman" panose="02020503050405090304"/>
            </a:endParaRPr>
          </a:p>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熵快速下降且表现恶化：先检查 LR / KL，再调熵系数。</a:t>
            </a:r>
            <a:endParaRPr sz="1725" b="0">
              <a:solidFill>
                <a:srgbClr val="111111"/>
              </a:solidFill>
              <a:latin typeface="Times New Roman" panose="02020503050405090304"/>
              <a:ea typeface="微软雅黑"/>
              <a:cs typeface="Times New Roman" panose="02020503050405090304"/>
            </a:endParaRPr>
          </a:p>
        </p:txBody>
      </p:sp>
      <p:pic>
        <p:nvPicPr>
          <p:cNvPr id="36" name="tune-illustration"/>
          <p:cNvPicPr>
            <a:picLocks noChangeAspect="1"/>
          </p:cNvPicPr>
          <p:nvPr/>
        </p:nvPicPr>
        <p:blipFill>
          <a:blip r:embed="rId2"/>
          <a:stretch>
            <a:fillRect/>
          </a:stretch>
        </p:blipFill>
        <p:spPr>
          <a:xfrm>
            <a:off x="8648700" y="4305300"/>
            <a:ext cx="2876550" cy="1438275"/>
          </a:xfrm>
          <a:prstGeom prst="rect">
            <a:avLst/>
          </a:prstGeom>
        </p:spPr>
      </p:pic>
      <p:sp>
        <p:nvSpPr>
          <p:cNvPr id="26" name="tune-key"/>
          <p:cNvSpPr>
            <a:spLocks noGrp="1"/>
          </p:cNvSpPr>
          <p:nvPr/>
        </p:nvSpPr>
        <p:spPr>
          <a:xfrm>
            <a:off x="742950" y="5857875"/>
            <a:ext cx="108585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验证 correct 与输出质量共同决定是否继续训练。</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32"/>
                                        </p:tgtEl>
                                        <p:attrNameLst>
                                          <p:attrName>style.visibility</p:attrName>
                                        </p:attrNameLst>
                                      </p:cBhvr>
                                      <p:to>
                                        <p:strVal val="visible"/>
                                      </p:to>
                                    </p:set>
                                    <p:animEffect transition="in" filter="fade">
                                      <p:cBhvr>
                                        <p:cTn id="15" dur="350"/>
                                        <p:tgtEl>
                                          <p:spTgt spid="32"/>
                                        </p:tgtEl>
                                      </p:cBhvr>
                                    </p:animEffect>
                                  </p:childTnLst>
                                </p:cTn>
                              </p:par>
                              <p:par>
                                <p:cTn id="16" presetID="10" presetClass="entr" presetSubtype="0" fill="hold" grpId="0" nodeType="withEffect">
                                  <p:stCondLst>
                                    <p:cond delay="0"/>
                                  </p:stCondLst>
                                  <p:childTnLst>
                                    <p:set>
                                      <p:cBhvr>
                                        <p:cTn id="17" dur="1" fill="hold"/>
                                        <p:tgtEl>
                                          <p:spTgt spid="22"/>
                                        </p:tgtEl>
                                        <p:attrNameLst>
                                          <p:attrName>style.visibility</p:attrName>
                                        </p:attrNameLst>
                                      </p:cBhvr>
                                      <p:to>
                                        <p:strVal val="visible"/>
                                      </p:to>
                                    </p:set>
                                    <p:animEffect transition="in" filter="fade">
                                      <p:cBhvr>
                                        <p:cTn id="18" dur="350"/>
                                        <p:tgtEl>
                                          <p:spTgt spid="2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10" presetClass="entr" presetSubtype="0" fill="hold" grpId="0" nodeType="withEffect">
                                  <p:stCondLst>
                                    <p:cond delay="0"/>
                                  </p:stCondLst>
                                  <p:childTnLst>
                                    <p:set>
                                      <p:cBhvr>
                                        <p:cTn id="25" dur="1" fill="hold"/>
                                        <p:tgtEl>
                                          <p:spTgt spid="24"/>
                                        </p:tgtEl>
                                        <p:attrNameLst>
                                          <p:attrName>style.visibility</p:attrName>
                                        </p:attrNameLst>
                                      </p:cBhvr>
                                      <p:to>
                                        <p:strVal val="visible"/>
                                      </p:to>
                                    </p:set>
                                    <p:animEffect transition="in" filter="fade">
                                      <p:cBhvr>
                                        <p:cTn id="26" dur="350"/>
                                        <p:tgtEl>
                                          <p:spTgt spid="24"/>
                                        </p:tgtEl>
                                      </p:cBhvr>
                                    </p:animEffect>
                                  </p:childTnLst>
                                </p:cTn>
                              </p:par>
                              <p:par>
                                <p:cTn id="27" presetID="10" presetClass="entr" presetSubtype="0" fill="hold" grpId="0" nodeType="withEffect">
                                  <p:stCondLst>
                                    <p:cond delay="0"/>
                                  </p:stCondLst>
                                  <p:childTnLst>
                                    <p:set>
                                      <p:cBhvr>
                                        <p:cTn id="28" dur="1" fill="hold"/>
                                        <p:tgtEl>
                                          <p:spTgt spid="36"/>
                                        </p:tgtEl>
                                        <p:attrNameLst>
                                          <p:attrName>style.visibility</p:attrName>
                                        </p:attrNameLst>
                                      </p:cBhvr>
                                      <p:to>
                                        <p:strVal val="visible"/>
                                      </p:to>
                                    </p:set>
                                    <p:animEffect transition="in" filter="fade">
                                      <p:cBhvr>
                                        <p:cTn id="29" dur="350"/>
                                        <p:tgtEl>
                                          <p:spTgt spid="36"/>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tgtEl>
                                          <p:spTgt spid="26"/>
                                        </p:tgtEl>
                                        <p:attrNameLst>
                                          <p:attrName>style.visibility</p:attrName>
                                        </p:attrNameLst>
                                      </p:cBhvr>
                                      <p:to>
                                        <p:strVal val="visible"/>
                                      </p:to>
                                    </p:set>
                                    <p:animEffect transition="in" filter="fade">
                                      <p:cBhvr>
                                        <p:cTn id="34"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调优与问题排查</a:t>
            </a:r>
            <a:endParaRPr sz="2700" b="1">
              <a:solidFill>
                <a:srgbClr val="111111"/>
              </a:solidFill>
              <a:latin typeface="Times New Roman" panose="02020503050405090304"/>
              <a:ea typeface="微软雅黑"/>
              <a:cs typeface="Times New Roman" panose="02020503050405090304"/>
            </a:endParaRPr>
          </a:p>
        </p:txBody>
      </p:sp>
      <p:sp>
        <p:nvSpPr>
          <p:cNvPr id="19" name="diag-intro"/>
          <p:cNvSpPr>
            <a:spLocks noGrp="1"/>
          </p:cNvSpPr>
          <p:nvPr/>
        </p:nvSpPr>
        <p:spPr>
          <a:xfrm>
            <a:off x="742950" y="1104900"/>
            <a:ext cx="110490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在同一 run 内比较异常前后，结合验证指标定位退化。</a:t>
            </a:r>
            <a:endParaRPr sz="2000" b="0">
              <a:solidFill>
                <a:srgbClr val="111111"/>
              </a:solidFill>
              <a:latin typeface="Times New Roman" panose="02020503050405090304"/>
              <a:ea typeface="微软雅黑"/>
              <a:cs typeface="Times New Roman" panose="02020503050405090304"/>
            </a:endParaRPr>
          </a:p>
        </p:txBody>
      </p:sp>
      <p:sp>
        <p:nvSpPr>
          <p:cNvPr id="20" name="diag-source"/>
          <p:cNvSpPr>
            <a:spLocks noGrp="1"/>
          </p:cNvSpPr>
          <p:nvPr/>
        </p:nvSpPr>
        <p:spPr>
          <a:xfrm>
            <a:off x="742950" y="1590675"/>
            <a:ext cx="10858500" cy="30480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下面是教程中崩溃 run 的参考记录，非本次实测。</a:t>
            </a:r>
            <a:endParaRPr sz="1725" b="0">
              <a:solidFill>
                <a:srgbClr val="555555"/>
              </a:solidFill>
              <a:latin typeface="Times New Roman" panose="02020503050405090304"/>
              <a:ea typeface="微软雅黑"/>
              <a:cs typeface="Times New Roman" panose="02020503050405090304"/>
            </a:endParaRPr>
          </a:p>
        </p:txBody>
      </p:sp>
      <p:graphicFrame>
        <p:nvGraphicFramePr>
          <p:cNvPr id="32" name="diag-evidence-table"/>
          <p:cNvGraphicFramePr/>
          <p:nvPr/>
        </p:nvGraphicFramePr>
        <p:xfrm>
          <a:off x="742950" y="2047875"/>
          <a:ext cx="10706100" cy="2286000"/>
        </p:xfrm>
        <a:graphic>
          <a:graphicData uri="http://schemas.openxmlformats.org/drawingml/2006/table">
            <a:tbl>
              <a:tblPr/>
              <a:tblGrid>
                <a:gridCol w="3257550"/>
                <a:gridCol w="2476500"/>
                <a:gridCol w="2476500"/>
                <a:gridCol w="2495550"/>
              </a:tblGrid>
              <a:tr h="419100">
                <a:tc>
                  <a:txBody>
                    <a:bodyPr>
                      <a:spAutoFit/>
                    </a:bodyPr>
                    <a:lstStyle/>
                    <a:p>
                      <a:pPr algn="ctr"/>
                      <a:r>
                        <a:rPr sz="1875" b="1">
                          <a:solidFill>
                            <a:srgbClr val="111111"/>
                          </a:solidFill>
                          <a:latin typeface="Times New Roman" panose="02020503050405090304"/>
                          <a:ea typeface="微软雅黑"/>
                          <a:cs typeface="Times New Roman" panose="02020503050405090304"/>
                        </a:rPr>
                        <a:t>指标</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111111"/>
                          </a:solidFill>
                          <a:latin typeface="Times New Roman" panose="02020503050405090304"/>
                          <a:ea typeface="微软雅黑"/>
                          <a:cs typeface="Times New Roman" panose="02020503050405090304"/>
                        </a:rPr>
                        <a:t>step 75</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111111"/>
                          </a:solidFill>
                          <a:latin typeface="Times New Roman" panose="02020503050405090304"/>
                          <a:ea typeface="微软雅黑"/>
                          <a:cs typeface="Times New Roman" panose="02020503050405090304"/>
                        </a:rPr>
                        <a:t>step 100</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1">
                          <a:solidFill>
                            <a:srgbClr val="111111"/>
                          </a:solidFill>
                          <a:latin typeface="Times New Roman" panose="02020503050405090304"/>
                          <a:ea typeface="微软雅黑"/>
                          <a:cs typeface="Times New Roman" panose="02020503050405090304"/>
                        </a:rPr>
                        <a:t>step 150</a:t>
                      </a:r>
                      <a:endParaRPr sz="1875"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466725">
                <a:tc>
                  <a:txBody>
                    <a:bodyPr>
                      <a:spAutoFit/>
                    </a:bodyPr>
                    <a:lstStyle/>
                    <a:p>
                      <a:pPr algn="ctr"/>
                      <a:r>
                        <a:rPr sz="1875" b="0">
                          <a:solidFill>
                            <a:srgbClr val="111111"/>
                          </a:solidFill>
                          <a:latin typeface="Times New Roman" panose="02020503050405090304"/>
                          <a:ea typeface="微软雅黑"/>
                          <a:cs typeface="Times New Roman" panose="02020503050405090304"/>
                        </a:rPr>
                        <a:t>entropy</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0.15</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E60012"/>
                          </a:solidFill>
                          <a:latin typeface="Times New Roman" panose="02020503050405090304"/>
                          <a:ea typeface="微软雅黑"/>
                          <a:cs typeface="Times New Roman" panose="02020503050405090304"/>
                        </a:rPr>
                        <a:t>0.001</a:t>
                      </a:r>
                      <a:endParaRPr sz="1875" b="0">
                        <a:solidFill>
                          <a:srgbClr val="E60012"/>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E60012"/>
                          </a:solidFill>
                          <a:latin typeface="Times New Roman" panose="02020503050405090304"/>
                          <a:ea typeface="微软雅黑"/>
                          <a:cs typeface="Times New Roman" panose="02020503050405090304"/>
                        </a:rPr>
                        <a:t>0.0003</a:t>
                      </a:r>
                      <a:endParaRPr sz="1875" b="0">
                        <a:solidFill>
                          <a:srgbClr val="E60012"/>
                        </a:solidFill>
                        <a:latin typeface="Times New Roman" panose="02020503050405090304"/>
                        <a:ea typeface="微软雅黑"/>
                        <a:cs typeface="Times New Roman" panose="02020503050405090304"/>
                      </a:endParaRPr>
                    </a:p>
                  </a:txBody>
                  <a:tcPr anchor="ctr">
                    <a:solidFill>
                      <a:srgbClr val="FFFFFF"/>
                    </a:solidFill>
                  </a:tcPr>
                </a:tc>
              </a:tr>
              <a:tr h="466725">
                <a:tc>
                  <a:txBody>
                    <a:bodyPr>
                      <a:spAutoFit/>
                    </a:bodyPr>
                    <a:lstStyle/>
                    <a:p>
                      <a:pPr algn="ctr"/>
                      <a:r>
                        <a:rPr sz="1875" b="0">
                          <a:solidFill>
                            <a:srgbClr val="111111"/>
                          </a:solidFill>
                          <a:latin typeface="Times New Roman" panose="02020503050405090304"/>
                          <a:ea typeface="微软雅黑"/>
                          <a:cs typeface="Times New Roman" panose="02020503050405090304"/>
                        </a:rPr>
                        <a:t>验证 correct</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45%</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E60012"/>
                          </a:solidFill>
                          <a:latin typeface="Times New Roman" panose="02020503050405090304"/>
                          <a:ea typeface="微软雅黑"/>
                          <a:cs typeface="Times New Roman" panose="02020503050405090304"/>
                        </a:rPr>
                        <a:t>0%</a:t>
                      </a:r>
                      <a:endParaRPr sz="1875" b="0">
                        <a:solidFill>
                          <a:srgbClr val="E60012"/>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E60012"/>
                          </a:solidFill>
                          <a:latin typeface="Times New Roman" panose="02020503050405090304"/>
                          <a:ea typeface="微软雅黑"/>
                          <a:cs typeface="Times New Roman" panose="02020503050405090304"/>
                        </a:rPr>
                        <a:t>0%</a:t>
                      </a:r>
                      <a:endParaRPr sz="1875" b="0">
                        <a:solidFill>
                          <a:srgbClr val="E60012"/>
                        </a:solidFill>
                        <a:latin typeface="Times New Roman" panose="02020503050405090304"/>
                        <a:ea typeface="微软雅黑"/>
                        <a:cs typeface="Times New Roman" panose="02020503050405090304"/>
                      </a:endParaRPr>
                    </a:p>
                  </a:txBody>
                  <a:tcPr anchor="ctr">
                    <a:solidFill>
                      <a:srgbClr val="FFFFFF"/>
                    </a:solidFill>
                  </a:tcPr>
                </a:tc>
              </a:tr>
              <a:tr h="466725">
                <a:tc>
                  <a:txBody>
                    <a:bodyPr>
                      <a:spAutoFit/>
                    </a:bodyPr>
                    <a:lstStyle/>
                    <a:p>
                      <a:pPr algn="ctr"/>
                      <a:r>
                        <a:rPr sz="1875" b="0">
                          <a:solidFill>
                            <a:srgbClr val="111111"/>
                          </a:solidFill>
                          <a:latin typeface="Times New Roman" panose="02020503050405090304"/>
                          <a:ea typeface="微软雅黑"/>
                          <a:cs typeface="Times New Roman" panose="02020503050405090304"/>
                        </a:rPr>
                        <a:t>response_length</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1650</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E60012"/>
                          </a:solidFill>
                          <a:latin typeface="Times New Roman" panose="02020503050405090304"/>
                          <a:ea typeface="微软雅黑"/>
                          <a:cs typeface="Times New Roman" panose="02020503050405090304"/>
                        </a:rPr>
                        <a:t>3232</a:t>
                      </a:r>
                      <a:endParaRPr sz="1875" b="0">
                        <a:solidFill>
                          <a:srgbClr val="E60012"/>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E60012"/>
                          </a:solidFill>
                          <a:latin typeface="Times New Roman" panose="02020503050405090304"/>
                          <a:ea typeface="微软雅黑"/>
                          <a:cs typeface="Times New Roman" panose="02020503050405090304"/>
                        </a:rPr>
                        <a:t>3232</a:t>
                      </a:r>
                      <a:endParaRPr sz="1875" b="0">
                        <a:solidFill>
                          <a:srgbClr val="E60012"/>
                        </a:solidFill>
                        <a:latin typeface="Times New Roman" panose="02020503050405090304"/>
                        <a:ea typeface="微软雅黑"/>
                        <a:cs typeface="Times New Roman" panose="02020503050405090304"/>
                      </a:endParaRPr>
                    </a:p>
                  </a:txBody>
                  <a:tcPr anchor="ctr">
                    <a:solidFill>
                      <a:srgbClr val="FFFFFF"/>
                    </a:solidFill>
                  </a:tcPr>
                </a:tc>
              </a:tr>
              <a:tr h="466725">
                <a:tc>
                  <a:txBody>
                    <a:bodyPr>
                      <a:spAutoFit/>
                    </a:bodyPr>
                    <a:lstStyle/>
                    <a:p>
                      <a:pPr algn="ctr"/>
                      <a:r>
                        <a:rPr sz="1875" b="0">
                          <a:solidFill>
                            <a:srgbClr val="111111"/>
                          </a:solidFill>
                          <a:latin typeface="Times New Roman" panose="02020503050405090304"/>
                          <a:ea typeface="微软雅黑"/>
                          <a:cs typeface="Times New Roman" panose="02020503050405090304"/>
                        </a:rPr>
                        <a:t>总 reward</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1.09</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0.20</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875" b="0">
                          <a:solidFill>
                            <a:srgbClr val="111111"/>
                          </a:solidFill>
                          <a:latin typeface="Times New Roman" panose="02020503050405090304"/>
                          <a:ea typeface="微软雅黑"/>
                          <a:cs typeface="Times New Roman" panose="02020503050405090304"/>
                        </a:rPr>
                        <a:t>0.20</a:t>
                      </a:r>
                      <a:endParaRPr sz="187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2" name="diag-change-heading"/>
          <p:cNvSpPr>
            <a:spLocks noGrp="1"/>
          </p:cNvSpPr>
          <p:nvPr/>
        </p:nvSpPr>
        <p:spPr>
          <a:xfrm>
            <a:off x="742950" y="4543425"/>
            <a:ext cx="5124450" cy="342900"/>
          </a:xfrm>
          <a:prstGeom prst="rect">
            <a:avLst/>
          </a:prstGeom>
          <a:noFill/>
          <a:ln w="0">
            <a:noFill/>
          </a:ln>
        </p:spPr>
        <p:txBody>
          <a:bodyPr wrap="none" lIns="0" tIns="0" rIns="0" bIns="0" anchor="t">
            <a:noAutofit/>
          </a:bodyPr>
          <a:lstStyle/>
          <a:p>
            <a:pPr>
              <a:lnSpc>
                <a:spcPct val="108000"/>
              </a:lnSpc>
              <a:buNone/>
              <a:defRPr sz="1950" b="1">
                <a:solidFill>
                  <a:srgbClr val="E60012"/>
                </a:solidFill>
                <a:latin typeface="Times New Roman" panose="02020503050405090304"/>
                <a:ea typeface="微软雅黑"/>
                <a:cs typeface="Times New Roman" panose="02020503050405090304"/>
              </a:defRPr>
            </a:pPr>
            <a:r>
              <a:rPr sz="1950" b="1">
                <a:solidFill>
                  <a:srgbClr val="E60012"/>
                </a:solidFill>
                <a:latin typeface="Times New Roman" panose="02020503050405090304"/>
                <a:ea typeface="微软雅黑"/>
                <a:cs typeface="Times New Roman" panose="02020503050405090304"/>
              </a:rPr>
              <a:t>检查是否共同恶化</a:t>
            </a:r>
            <a:endParaRPr sz="1950" b="1">
              <a:solidFill>
                <a:srgbClr val="E60012"/>
              </a:solidFill>
              <a:latin typeface="Times New Roman" panose="02020503050405090304"/>
              <a:ea typeface="微软雅黑"/>
              <a:cs typeface="Times New Roman" panose="02020503050405090304"/>
            </a:endParaRPr>
          </a:p>
        </p:txBody>
      </p:sp>
      <p:sp>
        <p:nvSpPr>
          <p:cNvPr id="23" name="diag-change-body"/>
          <p:cNvSpPr>
            <a:spLocks noGrp="1"/>
          </p:cNvSpPr>
          <p:nvPr/>
        </p:nvSpPr>
        <p:spPr>
          <a:xfrm>
            <a:off x="742950" y="5000625"/>
            <a:ext cx="5219700" cy="857250"/>
          </a:xfrm>
          <a:prstGeom prst="rect">
            <a:avLst/>
          </a:prstGeom>
          <a:noFill/>
          <a:ln w="0">
            <a:noFill/>
          </a:ln>
        </p:spPr>
        <p:txBody>
          <a:bodyPr wrap="none" lIns="0" tIns="0" rIns="0" bIns="0" anchor="t">
            <a:noAutofit/>
          </a:bodyPr>
          <a:lstStyle/>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entropy、correct 与长度一起异常。</a:t>
            </a:r>
            <a:endParaRPr sz="1725" b="0">
              <a:solidFill>
                <a:srgbClr val="111111"/>
              </a:solidFill>
              <a:latin typeface="Times New Roman" panose="02020503050405090304"/>
              <a:ea typeface="微软雅黑"/>
              <a:cs typeface="Times New Roman" panose="02020503050405090304"/>
            </a:endParaRPr>
          </a:p>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再检查 KL、grad_norm 的变化，</a:t>
            </a:r>
            <a:endParaRPr sz="1725" b="0">
              <a:solidFill>
                <a:srgbClr val="111111"/>
              </a:solidFill>
              <a:latin typeface="Times New Roman" panose="02020503050405090304"/>
              <a:ea typeface="微软雅黑"/>
              <a:cs typeface="Times New Roman" panose="02020503050405090304"/>
            </a:endParaRPr>
          </a:p>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并在 TEXT 页查看完整 rollout。</a:t>
            </a:r>
            <a:endParaRPr sz="1725" b="0">
              <a:solidFill>
                <a:srgbClr val="111111"/>
              </a:solidFill>
              <a:latin typeface="Times New Roman" panose="02020503050405090304"/>
              <a:ea typeface="微软雅黑"/>
              <a:cs typeface="Times New Roman" panose="02020503050405090304"/>
            </a:endParaRPr>
          </a:p>
        </p:txBody>
      </p:sp>
      <p:sp>
        <p:nvSpPr>
          <p:cNvPr id="24" name="diag-reward-heading"/>
          <p:cNvSpPr>
            <a:spLocks noGrp="1"/>
          </p:cNvSpPr>
          <p:nvPr/>
        </p:nvSpPr>
        <p:spPr>
          <a:xfrm>
            <a:off x="6477000" y="4543425"/>
            <a:ext cx="5143500" cy="342900"/>
          </a:xfrm>
          <a:prstGeom prst="rect">
            <a:avLst/>
          </a:prstGeom>
          <a:noFill/>
          <a:ln w="0">
            <a:noFill/>
          </a:ln>
        </p:spPr>
        <p:txBody>
          <a:bodyPr wrap="none" lIns="0" tIns="0" rIns="0" bIns="0" anchor="t">
            <a:noAutofit/>
          </a:bodyPr>
          <a:lstStyle/>
          <a:p>
            <a:pPr>
              <a:lnSpc>
                <a:spcPct val="108000"/>
              </a:lnSpc>
              <a:buNone/>
              <a:defRPr sz="1950" b="1">
                <a:solidFill>
                  <a:srgbClr val="357AE8"/>
                </a:solidFill>
                <a:latin typeface="Times New Roman" panose="02020503050405090304"/>
                <a:ea typeface="微软雅黑"/>
                <a:cs typeface="Times New Roman" panose="02020503050405090304"/>
              </a:defRPr>
            </a:pPr>
            <a:r>
              <a:rPr sz="1950" b="1">
                <a:solidFill>
                  <a:srgbClr val="357AE8"/>
                </a:solidFill>
                <a:latin typeface="Times New Roman" panose="02020503050405090304"/>
                <a:ea typeface="微软雅黑"/>
                <a:cs typeface="Times New Roman" panose="02020503050405090304"/>
              </a:rPr>
              <a:t>确认 0.20 来自哪里</a:t>
            </a:r>
            <a:endParaRPr sz="1950" b="1">
              <a:solidFill>
                <a:srgbClr val="357AE8"/>
              </a:solidFill>
              <a:latin typeface="Times New Roman" panose="02020503050405090304"/>
              <a:ea typeface="微软雅黑"/>
              <a:cs typeface="Times New Roman" panose="02020503050405090304"/>
            </a:endParaRPr>
          </a:p>
        </p:txBody>
      </p:sp>
      <p:sp>
        <p:nvSpPr>
          <p:cNvPr id="25" name="diag-reward-body"/>
          <p:cNvSpPr>
            <a:spLocks noGrp="1"/>
          </p:cNvSpPr>
          <p:nvPr/>
        </p:nvSpPr>
        <p:spPr>
          <a:xfrm>
            <a:off x="6477000" y="5000625"/>
            <a:ext cx="5143500" cy="857250"/>
          </a:xfrm>
          <a:prstGeom prst="rect">
            <a:avLst/>
          </a:prstGeom>
          <a:noFill/>
          <a:ln w="0">
            <a:noFill/>
          </a:ln>
        </p:spPr>
        <p:txBody>
          <a:bodyPr wrap="none" lIns="0" tIns="0" rIns="0" bIns="0" anchor="t">
            <a:noAutofit/>
          </a:bodyPr>
          <a:lstStyle/>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correct、partial、length_bonus 均为 0，</a:t>
            </a:r>
            <a:endParaRPr sz="1725" b="0">
              <a:solidFill>
                <a:srgbClr val="111111"/>
              </a:solidFill>
              <a:latin typeface="Times New Roman" panose="02020503050405090304"/>
              <a:ea typeface="微软雅黑"/>
              <a:cs typeface="Times New Roman" panose="02020503050405090304"/>
            </a:endParaRPr>
          </a:p>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且 format = 1，才是 0.2 × 1 的格式分。</a:t>
            </a:r>
            <a:endParaRPr sz="1725" b="0">
              <a:solidFill>
                <a:srgbClr val="111111"/>
              </a:solidFill>
              <a:latin typeface="Times New Roman" panose="02020503050405090304"/>
              <a:ea typeface="微软雅黑"/>
              <a:cs typeface="Times New Roman" panose="02020503050405090304"/>
            </a:endParaRPr>
          </a:p>
          <a:p>
            <a:pPr>
              <a:lnSpc>
                <a:spcPct val="108000"/>
              </a:lnSpc>
              <a:buNone/>
              <a:defRPr sz="1725" b="0">
                <a:solidFill>
                  <a:srgbClr val="111111"/>
                </a:solidFill>
                <a:latin typeface="Times New Roman" panose="02020503050405090304"/>
                <a:ea typeface="微软雅黑"/>
                <a:cs typeface="Times New Roman" panose="02020503050405090304"/>
              </a:defRPr>
            </a:pPr>
            <a:r>
              <a:rPr sz="1725" b="0">
                <a:solidFill>
                  <a:srgbClr val="111111"/>
                </a:solidFill>
                <a:latin typeface="Times New Roman" panose="02020503050405090304"/>
                <a:ea typeface="微软雅黑"/>
                <a:cs typeface="Times New Roman" panose="02020503050405090304"/>
              </a:rPr>
              <a:t>再看 rollout 区分具体输出问题。</a:t>
            </a:r>
            <a:endParaRPr sz="1725" b="0">
              <a:solidFill>
                <a:srgbClr val="111111"/>
              </a:solidFill>
              <a:latin typeface="Times New Roman" panose="02020503050405090304"/>
              <a:ea typeface="微软雅黑"/>
              <a:cs typeface="Times New Roman" panose="02020503050405090304"/>
            </a:endParaRPr>
          </a:p>
        </p:txBody>
      </p:sp>
      <p:sp>
        <p:nvSpPr>
          <p:cNvPr id="26" name="diag-key"/>
          <p:cNvSpPr>
            <a:spLocks noGrp="1"/>
          </p:cNvSpPr>
          <p:nvPr/>
        </p:nvSpPr>
        <p:spPr>
          <a:xfrm>
            <a:off x="742950" y="5905500"/>
            <a:ext cx="10858500" cy="30480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0.20 需拆看奖励分项。3232 是长度观测值。</a:t>
            </a:r>
            <a:endParaRPr sz="1800" b="1">
              <a:solidFill>
                <a:srgbClr val="E60012"/>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par>
                                <p:cTn id="8" presetID="10" presetClass="entr" presetSubtype="0" fill="hold" grpId="0" nodeType="withEffect">
                                  <p:stCondLst>
                                    <p:cond delay="0"/>
                                  </p:stCondLst>
                                  <p:childTnLst>
                                    <p:set>
                                      <p:cBhvr>
                                        <p:cTn id="9" dur="1" fill="hold"/>
                                        <p:tgtEl>
                                          <p:spTgt spid="20"/>
                                        </p:tgtEl>
                                        <p:attrNameLst>
                                          <p:attrName>style.visibility</p:attrName>
                                        </p:attrNameLst>
                                      </p:cBhvr>
                                      <p:to>
                                        <p:strVal val="visible"/>
                                      </p:to>
                                    </p:set>
                                    <p:animEffect transition="in" filter="fade">
                                      <p:cBhvr>
                                        <p:cTn id="10" dur="350"/>
                                        <p:tgtEl>
                                          <p:spTgt spid="20"/>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32"/>
                                        </p:tgtEl>
                                        <p:attrNameLst>
                                          <p:attrName>style.visibility</p:attrName>
                                        </p:attrNameLst>
                                      </p:cBhvr>
                                      <p:to>
                                        <p:strVal val="visible"/>
                                      </p:to>
                                    </p:set>
                                    <p:animEffect transition="in" filter="fade">
                                      <p:cBhvr>
                                        <p:cTn id="15" dur="350"/>
                                        <p:tgtEl>
                                          <p:spTgt spid="3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tgtEl>
                                          <p:spTgt spid="22"/>
                                        </p:tgtEl>
                                        <p:attrNameLst>
                                          <p:attrName>style.visibility</p:attrName>
                                        </p:attrNameLst>
                                      </p:cBhvr>
                                      <p:to>
                                        <p:strVal val="visible"/>
                                      </p:to>
                                    </p:set>
                                    <p:animEffect transition="in" filter="fade">
                                      <p:cBhvr>
                                        <p:cTn id="20" dur="350"/>
                                        <p:tgtEl>
                                          <p:spTgt spid="22"/>
                                        </p:tgtEl>
                                      </p:cBhvr>
                                    </p:animEffect>
                                  </p:childTnLst>
                                </p:cTn>
                              </p:par>
                              <p:par>
                                <p:cTn id="21" presetID="10" presetClass="entr" presetSubtype="0" fill="hold" grpId="0" nodeType="withEffect">
                                  <p:stCondLst>
                                    <p:cond delay="0"/>
                                  </p:stCondLst>
                                  <p:childTnLst>
                                    <p:set>
                                      <p:cBhvr>
                                        <p:cTn id="22" dur="1" fill="hold"/>
                                        <p:tgtEl>
                                          <p:spTgt spid="23"/>
                                        </p:tgtEl>
                                        <p:attrNameLst>
                                          <p:attrName>style.visibility</p:attrName>
                                        </p:attrNameLst>
                                      </p:cBhvr>
                                      <p:to>
                                        <p:strVal val="visible"/>
                                      </p:to>
                                    </p:set>
                                    <p:animEffect transition="in" filter="fade">
                                      <p:cBhvr>
                                        <p:cTn id="23" dur="350"/>
                                        <p:tgtEl>
                                          <p:spTgt spid="2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tgtEl>
                                          <p:spTgt spid="24"/>
                                        </p:tgtEl>
                                        <p:attrNameLst>
                                          <p:attrName>style.visibility</p:attrName>
                                        </p:attrNameLst>
                                      </p:cBhvr>
                                      <p:to>
                                        <p:strVal val="visible"/>
                                      </p:to>
                                    </p:set>
                                    <p:animEffect transition="in" filter="fade">
                                      <p:cBhvr>
                                        <p:cTn id="28" dur="350"/>
                                        <p:tgtEl>
                                          <p:spTgt spid="24"/>
                                        </p:tgtEl>
                                      </p:cBhvr>
                                    </p:animEffect>
                                  </p:childTnLst>
                                </p:cTn>
                              </p:par>
                              <p:par>
                                <p:cTn id="29" presetID="10" presetClass="entr" presetSubtype="0" fill="hold" grpId="0" nodeType="withEffect">
                                  <p:stCondLst>
                                    <p:cond delay="0"/>
                                  </p:stCondLst>
                                  <p:childTnLst>
                                    <p:set>
                                      <p:cBhvr>
                                        <p:cTn id="30" dur="1" fill="hold"/>
                                        <p:tgtEl>
                                          <p:spTgt spid="25"/>
                                        </p:tgtEl>
                                        <p:attrNameLst>
                                          <p:attrName>style.visibility</p:attrName>
                                        </p:attrNameLst>
                                      </p:cBhvr>
                                      <p:to>
                                        <p:strVal val="visible"/>
                                      </p:to>
                                    </p:set>
                                    <p:animEffect transition="in" filter="fade">
                                      <p:cBhvr>
                                        <p:cTn id="31" dur="350"/>
                                        <p:tgtEl>
                                          <p:spTgt spid="25"/>
                                        </p:tgtEl>
                                      </p:cBhvr>
                                    </p:animEffect>
                                  </p:childTnLst>
                                </p:cTn>
                              </p:par>
                              <p:par>
                                <p:cTn id="32" presetID="10" presetClass="entr" presetSubtype="0" fill="hold" grpId="0" nodeType="withEffect">
                                  <p:stCondLst>
                                    <p:cond delay="0"/>
                                  </p:stCondLst>
                                  <p:childTnLst>
                                    <p:set>
                                      <p:cBhvr>
                                        <p:cTn id="33" dur="1" fill="hold"/>
                                        <p:tgtEl>
                                          <p:spTgt spid="26"/>
                                        </p:tgtEl>
                                        <p:attrNameLst>
                                          <p:attrName>style.visibility</p:attrName>
                                        </p:attrNameLst>
                                      </p:cBhvr>
                                      <p:to>
                                        <p:strVal val="visible"/>
                                      </p:to>
                                    </p:set>
                                    <p:animEffect transition="in" filter="fade">
                                      <p:cBhvr>
                                        <p:cTn id="34" dur="3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调优与问题排查</a:t>
            </a:r>
            <a:endParaRPr sz="2700" b="1">
              <a:solidFill>
                <a:srgbClr val="111111"/>
              </a:solidFill>
              <a:latin typeface="Times New Roman" panose="02020503050405090304"/>
              <a:ea typeface="微软雅黑"/>
              <a:cs typeface="Times New Roman" panose="02020503050405090304"/>
            </a:endParaRPr>
          </a:p>
        </p:txBody>
      </p:sp>
      <p:sp>
        <p:nvSpPr>
          <p:cNvPr id="19" name="repair-intro"/>
          <p:cNvSpPr>
            <a:spLocks noGrp="1"/>
          </p:cNvSpPr>
          <p:nvPr/>
        </p:nvSpPr>
        <p:spPr>
          <a:xfrm>
            <a:off x="742950" y="1104900"/>
            <a:ext cx="11049000" cy="400050"/>
          </a:xfrm>
          <a:prstGeom prst="rect">
            <a:avLst/>
          </a:prstGeom>
          <a:noFill/>
          <a:ln w="0">
            <a:noFill/>
          </a:ln>
        </p:spPr>
        <p:txBody>
          <a:bodyPr wrap="none" lIns="0" tIns="0" rIns="0" bIns="0" anchor="t">
            <a:noAutofit/>
          </a:bodyPr>
          <a:lstStyle/>
          <a:p>
            <a:pPr>
              <a:lnSpc>
                <a:spcPct val="108000"/>
              </a:lnSpc>
              <a:buNone/>
              <a:defRPr sz="2000" b="0">
                <a:solidFill>
                  <a:srgbClr val="111111"/>
                </a:solidFill>
                <a:latin typeface="Times New Roman" panose="02020503050405090304"/>
                <a:ea typeface="微软雅黑"/>
                <a:cs typeface="Times New Roman" panose="02020503050405090304"/>
              </a:defRPr>
            </a:pPr>
            <a:r>
              <a:rPr sz="2000" b="0">
                <a:solidFill>
                  <a:srgbClr val="111111"/>
                </a:solidFill>
                <a:latin typeface="Times New Roman" panose="02020503050405090304"/>
                <a:ea typeface="微软雅黑"/>
                <a:cs typeface="Times New Roman" panose="02020503050405090304"/>
              </a:rPr>
              <a:t>先确认输出出了什么问题，再选择一项修复操作。</a:t>
            </a:r>
            <a:endParaRPr sz="2000" b="0">
              <a:solidFill>
                <a:srgbClr val="111111"/>
              </a:solidFill>
              <a:latin typeface="Times New Roman" panose="02020503050405090304"/>
              <a:ea typeface="微软雅黑"/>
              <a:cs typeface="Times New Roman" panose="02020503050405090304"/>
            </a:endParaRPr>
          </a:p>
        </p:txBody>
      </p:sp>
      <p:graphicFrame>
        <p:nvGraphicFramePr>
          <p:cNvPr id="27" name="repair-actions-table"/>
          <p:cNvGraphicFramePr/>
          <p:nvPr/>
        </p:nvGraphicFramePr>
        <p:xfrm>
          <a:off x="742950" y="1762125"/>
          <a:ext cx="10706100" cy="3467100"/>
        </p:xfrm>
        <a:graphic>
          <a:graphicData uri="http://schemas.openxmlformats.org/drawingml/2006/table">
            <a:tbl>
              <a:tblPr/>
              <a:tblGrid>
                <a:gridCol w="2762250"/>
                <a:gridCol w="3562350"/>
                <a:gridCol w="4381500"/>
              </a:tblGrid>
              <a:tr h="419100">
                <a:tc>
                  <a:txBody>
                    <a:bodyPr>
                      <a:spAutoFit/>
                    </a:bodyPr>
                    <a:lstStyle/>
                    <a:p>
                      <a:pPr algn="ctr"/>
                      <a:r>
                        <a:rPr sz="1725" b="1">
                          <a:solidFill>
                            <a:srgbClr val="111111"/>
                          </a:solidFill>
                          <a:latin typeface="Times New Roman" panose="02020503050405090304"/>
                          <a:ea typeface="微软雅黑"/>
                          <a:cs typeface="Times New Roman" panose="02020503050405090304"/>
                        </a:rPr>
                        <a:t>输出表现</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1">
                          <a:solidFill>
                            <a:srgbClr val="111111"/>
                          </a:solidFill>
                          <a:latin typeface="Times New Roman" panose="02020503050405090304"/>
                          <a:ea typeface="微软雅黑"/>
                          <a:cs typeface="Times New Roman" panose="02020503050405090304"/>
                        </a:rPr>
                        <a:t>先检查</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1">
                          <a:solidFill>
                            <a:srgbClr val="111111"/>
                          </a:solidFill>
                          <a:latin typeface="Times New Roman" panose="02020503050405090304"/>
                          <a:ea typeface="微软雅黑"/>
                          <a:cs typeface="Times New Roman" panose="02020503050405090304"/>
                        </a:rPr>
                        <a:t>优先动作</a:t>
                      </a:r>
                      <a:endParaRPr sz="1725" b="1">
                        <a:solidFill>
                          <a:srgbClr val="111111"/>
                        </a:solidFill>
                        <a:latin typeface="Times New Roman" panose="02020503050405090304"/>
                        <a:ea typeface="微软雅黑"/>
                        <a:cs typeface="Times New Roman" panose="02020503050405090304"/>
                      </a:endParaRPr>
                    </a:p>
                  </a:txBody>
                  <a:tcPr anchor="ctr">
                    <a:solidFill>
                      <a:srgbClr val="FFFFFF"/>
                    </a:solidFill>
                  </a:tcPr>
                </a:tc>
              </a:tr>
              <a:tr h="762000">
                <a:tc>
                  <a:txBody>
                    <a:bodyPr>
                      <a:spAutoFit/>
                    </a:bodyPr>
                    <a:lstStyle/>
                    <a:p>
                      <a:pPr algn="ctr"/>
                      <a:r>
                        <a:rPr sz="1725" b="0">
                          <a:solidFill>
                            <a:srgbClr val="111111"/>
                          </a:solidFill>
                          <a:latin typeface="Times New Roman" panose="02020503050405090304"/>
                          <a:ea typeface="微软雅黑"/>
                          <a:cs typeface="Times New Roman" panose="02020503050405090304"/>
                        </a:rPr>
                        <a:t>有效猜词逐渐固定</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entropy 接近 0</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correct、长度是否同步恶化</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KL、grad_norm 的变化</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回退较好 checkpoint</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单独调整熵系数、KL 系数或 LR</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762000">
                <a:tc>
                  <a:txBody>
                    <a:bodyPr>
                      <a:spAutoFit/>
                    </a:bodyPr>
                    <a:lstStyle/>
                    <a:p>
                      <a:pPr algn="ctr"/>
                      <a:r>
                        <a:rPr sz="1725" b="0">
                          <a:solidFill>
                            <a:srgbClr val="111111"/>
                          </a:solidFill>
                          <a:latin typeface="Times New Roman" panose="02020503050405090304"/>
                          <a:ea typeface="微软雅黑"/>
                          <a:cs typeface="Times New Roman" panose="02020503050405090304"/>
                        </a:rPr>
                        <a:t>空标签、数字等</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只有格式奖励</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奖励分项与有效猜词提取</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调整格式奖励门槛或权重</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从同一模型起点重做对照</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762000">
                <a:tc>
                  <a:txBody>
                    <a:bodyPr>
                      <a:spAutoFit/>
                    </a:bodyPr>
                    <a:lstStyle/>
                    <a:p>
                      <a:pPr algn="ctr"/>
                      <a:r>
                        <a:rPr sz="1725" b="0">
                          <a:solidFill>
                            <a:srgbClr val="111111"/>
                          </a:solidFill>
                          <a:latin typeface="Times New Roman" panose="02020503050405090304"/>
                          <a:ea typeface="微软雅黑"/>
                          <a:cs typeface="Times New Roman" panose="02020503050405090304"/>
                        </a:rPr>
                        <a:t>缺少标签或未闭合</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format = 0</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prompt、chat template</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SFT 样本和解析规则</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修正输出协议及解析</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用样例检查判分</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r h="762000">
                <a:tc>
                  <a:txBody>
                    <a:bodyPr>
                      <a:spAutoFit/>
                    </a:bodyPr>
                    <a:lstStyle/>
                    <a:p>
                      <a:pPr algn="ctr"/>
                      <a:r>
                        <a:rPr sz="1725" b="0">
                          <a:solidFill>
                            <a:srgbClr val="111111"/>
                          </a:solidFill>
                          <a:latin typeface="Times New Roman" panose="02020503050405090304"/>
                          <a:ea typeface="微软雅黑"/>
                          <a:cs typeface="Times New Roman" panose="02020503050405090304"/>
                        </a:rPr>
                        <a:t>有效交互但猜不中</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反馈是否正确、数据是否适合</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c>
                  <a:txBody>
                    <a:bodyPr>
                      <a:spAutoFit/>
                    </a:bodyPr>
                    <a:lstStyle/>
                    <a:p>
                      <a:pPr algn="ctr"/>
                      <a:r>
                        <a:rPr sz="1725" b="0">
                          <a:solidFill>
                            <a:srgbClr val="111111"/>
                          </a:solidFill>
                          <a:latin typeface="Times New Roman" panose="02020503050405090304"/>
                          <a:ea typeface="微软雅黑"/>
                          <a:cs typeface="Times New Roman" panose="02020503050405090304"/>
                        </a:rPr>
                        <a:t>检查基础模型能力</a:t>
                      </a:r>
                      <a:endParaRPr sz="1725" b="0">
                        <a:solidFill>
                          <a:srgbClr val="111111"/>
                        </a:solidFill>
                        <a:latin typeface="Times New Roman" panose="02020503050405090304"/>
                        <a:ea typeface="微软雅黑"/>
                        <a:cs typeface="Times New Roman" panose="02020503050405090304"/>
                      </a:endParaRPr>
                    </a:p>
                    <a:p>
                      <a:pPr algn="ctr"/>
                      <a:r>
                        <a:rPr sz="1725" b="0">
                          <a:solidFill>
                            <a:srgbClr val="111111"/>
                          </a:solidFill>
                          <a:latin typeface="Times New Roman" panose="02020503050405090304"/>
                          <a:ea typeface="微软雅黑"/>
                          <a:cs typeface="Times New Roman" panose="02020503050405090304"/>
                        </a:rPr>
                        <a:t>再做固定变量的短程实验</a:t>
                      </a:r>
                      <a:endParaRPr sz="1725" b="0">
                        <a:solidFill>
                          <a:srgbClr val="111111"/>
                        </a:solidFill>
                        <a:latin typeface="Times New Roman" panose="02020503050405090304"/>
                        <a:ea typeface="微软雅黑"/>
                        <a:cs typeface="Times New Roman" panose="02020503050405090304"/>
                      </a:endParaRPr>
                    </a:p>
                  </a:txBody>
                  <a:tcPr anchor="ctr">
                    <a:solidFill>
                      <a:srgbClr val="FFFFFF"/>
                    </a:solidFill>
                  </a:tcPr>
                </a:tc>
              </a:tr>
            </a:tbl>
          </a:graphicData>
        </a:graphic>
      </p:graphicFrame>
      <p:sp>
        <p:nvSpPr>
          <p:cNvPr id="21" name="repair-reward-key"/>
          <p:cNvSpPr>
            <a:spLocks noGrp="1"/>
          </p:cNvSpPr>
          <p:nvPr/>
        </p:nvSpPr>
        <p:spPr>
          <a:xfrm>
            <a:off x="742950" y="5448300"/>
            <a:ext cx="10858500" cy="323850"/>
          </a:xfrm>
          <a:prstGeom prst="rect">
            <a:avLst/>
          </a:prstGeom>
          <a:noFill/>
          <a:ln w="0">
            <a:noFill/>
          </a:ln>
        </p:spPr>
        <p:txBody>
          <a:bodyPr wrap="none" lIns="0" tIns="0" rIns="0" bIns="0" anchor="t">
            <a:noAutofit/>
          </a:bodyPr>
          <a:lstStyle/>
          <a:p>
            <a:pPr>
              <a:lnSpc>
                <a:spcPct val="108000"/>
              </a:lnSpc>
              <a:buNone/>
              <a:defRPr sz="1800" b="1">
                <a:solidFill>
                  <a:srgbClr val="E60012"/>
                </a:solidFill>
                <a:latin typeface="Times New Roman" panose="02020503050405090304"/>
                <a:ea typeface="微软雅黑"/>
                <a:cs typeface="Times New Roman" panose="02020503050405090304"/>
              </a:defRPr>
            </a:pPr>
            <a:r>
              <a:rPr sz="1800" b="1">
                <a:solidFill>
                  <a:srgbClr val="E60012"/>
                </a:solidFill>
                <a:latin typeface="Times New Roman" panose="02020503050405090304"/>
                <a:ea typeface="微软雅黑"/>
                <a:cs typeface="Times New Roman" panose="02020503050405090304"/>
              </a:rPr>
              <a:t>改奖励后优先比较验证 correct 与 rollout，总 reward 的尺度会改变。</a:t>
            </a:r>
            <a:endParaRPr sz="1800" b="1">
              <a:solidFill>
                <a:srgbClr val="E60012"/>
              </a:solidFill>
              <a:latin typeface="Times New Roman" panose="02020503050405090304"/>
              <a:ea typeface="微软雅黑"/>
              <a:cs typeface="Times New Roman" panose="02020503050405090304"/>
            </a:endParaRPr>
          </a:p>
        </p:txBody>
      </p:sp>
      <p:sp>
        <p:nvSpPr>
          <p:cNvPr id="22" name="repair-retest"/>
          <p:cNvSpPr>
            <a:spLocks noGrp="1"/>
          </p:cNvSpPr>
          <p:nvPr/>
        </p:nvSpPr>
        <p:spPr>
          <a:xfrm>
            <a:off x="742950" y="5905500"/>
            <a:ext cx="10858500" cy="28575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每次只改一项，短跑 25～30 步，再根据验证结果决定是否长跑。</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19"/>
                                        </p:tgtEl>
                                        <p:attrNameLst>
                                          <p:attrName>style.visibility</p:attrName>
                                        </p:attrNameLst>
                                      </p:cBhvr>
                                      <p:to>
                                        <p:strVal val="visible"/>
                                      </p:to>
                                    </p:set>
                                    <p:animEffect transition="in" filter="fade">
                                      <p:cBhvr>
                                        <p:cTn id="7" dur="35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tgtEl>
                                          <p:spTgt spid="27"/>
                                        </p:tgtEl>
                                        <p:attrNameLst>
                                          <p:attrName>style.visibility</p:attrName>
                                        </p:attrNameLst>
                                      </p:cBhvr>
                                      <p:to>
                                        <p:strVal val="visible"/>
                                      </p:to>
                                    </p:set>
                                    <p:animEffect transition="in" filter="fade">
                                      <p:cBhvr>
                                        <p:cTn id="12" dur="350"/>
                                        <p:tgtEl>
                                          <p:spTgt spid="2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tgtEl>
                                          <p:spTgt spid="21"/>
                                        </p:tgtEl>
                                        <p:attrNameLst>
                                          <p:attrName>style.visibility</p:attrName>
                                        </p:attrNameLst>
                                      </p:cBhvr>
                                      <p:to>
                                        <p:strVal val="visible"/>
                                      </p:to>
                                    </p:set>
                                    <p:animEffect transition="in" filter="fade">
                                      <p:cBhvr>
                                        <p:cTn id="17" dur="350"/>
                                        <p:tgtEl>
                                          <p:spTgt spid="2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tgtEl>
                                          <p:spTgt spid="22"/>
                                        </p:tgtEl>
                                        <p:attrNameLst>
                                          <p:attrName>style.visibility</p:attrName>
                                        </p:attrNameLst>
                                      </p:cBhvr>
                                      <p:to>
                                        <p:strVal val="visible"/>
                                      </p:to>
                                    </p:set>
                                    <p:animEffect transition="in" filter="fade">
                                      <p:cBhvr>
                                        <p:cTn id="22" dur="35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pic>
        <p:nvPicPr>
          <p:cNvPr id="36" name="图片 29"/>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426720" y="198120"/>
            <a:ext cx="9220200" cy="731520"/>
          </a:xfrm>
          <a:prstGeom prst="rect">
            <a:avLst/>
          </a:prstGeom>
          <a:solidFill>
            <a:srgbClr val="FFFFFF"/>
          </a:solidFill>
          <a:ln w="0">
            <a:noFill/>
            <a:prstDash val="solid"/>
          </a:ln>
        </p:spPr>
      </p:sp>
      <p:sp>
        <p:nvSpPr>
          <p:cNvPr id="3" name="slide-title"/>
          <p:cNvSpPr>
            <a:spLocks noGrp="1"/>
          </p:cNvSpPr>
          <p:nvPr/>
        </p:nvSpPr>
        <p:spPr>
          <a:xfrm>
            <a:off x="609600" y="320040"/>
            <a:ext cx="9525000" cy="502920"/>
          </a:xfrm>
          <a:prstGeom prst="rect">
            <a:avLst/>
          </a:prstGeom>
          <a:noFill/>
          <a:ln w="0">
            <a:noFill/>
            <a:prstDash val="solid"/>
          </a:ln>
        </p:spPr>
        <p:txBody>
          <a:bodyPr wrap="square" lIns="0" tIns="0" rIns="0" bIns="0" anchor="ctr">
            <a:normAutofit/>
          </a:bodyPr>
          <a:lstStyle/>
          <a:p>
            <a:pPr>
              <a:lnSpc>
                <a:spcPct val="108000"/>
              </a:lnSpc>
              <a:buNone/>
              <a:defRPr sz="2700" b="1">
                <a:solidFill>
                  <a:srgbClr val="111111"/>
                </a:solidFill>
                <a:latin typeface="Times New Roman" panose="02020503050405090304"/>
                <a:ea typeface="微软雅黑"/>
                <a:cs typeface="Times New Roman" panose="02020503050405090304"/>
              </a:defRPr>
            </a:pPr>
            <a:r>
              <a:rPr sz="2700" b="1">
                <a:solidFill>
                  <a:srgbClr val="111111"/>
                </a:solidFill>
                <a:latin typeface="Times New Roman" panose="02020503050405090304"/>
                <a:ea typeface="微软雅黑"/>
                <a:cs typeface="Times New Roman" panose="02020503050405090304"/>
              </a:rPr>
              <a:t>调优与问题排查</a:t>
            </a:r>
            <a:endParaRPr sz="2700" b="1">
              <a:solidFill>
                <a:srgbClr val="111111"/>
              </a:solidFill>
              <a:latin typeface="Times New Roman" panose="02020503050405090304"/>
              <a:ea typeface="微软雅黑"/>
              <a:cs typeface="Times New Roman" panose="02020503050405090304"/>
            </a:endParaRPr>
          </a:p>
        </p:txBody>
      </p:sp>
      <p:sp>
        <p:nvSpPr>
          <p:cNvPr id="19" name="quiz-instruction"/>
          <p:cNvSpPr>
            <a:spLocks noGrp="1"/>
          </p:cNvSpPr>
          <p:nvPr/>
        </p:nvSpPr>
        <p:spPr>
          <a:xfrm>
            <a:off x="609600" y="971550"/>
            <a:ext cx="10953750" cy="323850"/>
          </a:xfrm>
          <a:prstGeom prst="rect">
            <a:avLst/>
          </a:prstGeom>
          <a:noFill/>
          <a:ln w="0">
            <a:noFill/>
          </a:ln>
        </p:spPr>
        <p:txBody>
          <a:bodyPr wrap="none" lIns="0" tIns="0" rIns="0" bIns="0" anchor="t">
            <a:noAutofit/>
          </a:bodyPr>
          <a:lstStyle/>
          <a:p>
            <a:pPr>
              <a:lnSpc>
                <a:spcPct val="108000"/>
              </a:lnSpc>
              <a:buNone/>
              <a:defRPr sz="1725" b="0">
                <a:solidFill>
                  <a:srgbClr val="555555"/>
                </a:solidFill>
                <a:latin typeface="Times New Roman" panose="02020503050405090304"/>
                <a:ea typeface="微软雅黑"/>
                <a:cs typeface="Times New Roman" panose="02020503050405090304"/>
              </a:defRPr>
            </a:pPr>
            <a:r>
              <a:rPr sz="1725" b="0">
                <a:solidFill>
                  <a:srgbClr val="555555"/>
                </a:solidFill>
                <a:latin typeface="Times New Roman" panose="02020503050405090304"/>
                <a:ea typeface="微软雅黑"/>
                <a:cs typeface="Times New Roman" panose="02020503050405090304"/>
              </a:rPr>
              <a:t>随堂检测：先独立作答，再说明你的判断依据。</a:t>
            </a:r>
            <a:endParaRPr sz="1725" b="0">
              <a:solidFill>
                <a:srgbClr val="555555"/>
              </a:solidFill>
              <a:latin typeface="Times New Roman" panose="02020503050405090304"/>
              <a:ea typeface="微软雅黑"/>
              <a:cs typeface="Times New Roman" panose="02020503050405090304"/>
            </a:endParaRPr>
          </a:p>
        </p:txBody>
      </p:sp>
      <p:sp>
        <p:nvSpPr>
          <p:cNvPr id="20" name="q1-label"/>
          <p:cNvSpPr>
            <a:spLocks noGrp="1"/>
          </p:cNvSpPr>
          <p:nvPr/>
        </p:nvSpPr>
        <p:spPr>
          <a:xfrm>
            <a:off x="609600" y="1438275"/>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Q1</a:t>
            </a:r>
            <a:endParaRPr sz="2175" b="1">
              <a:solidFill>
                <a:srgbClr val="111111"/>
              </a:solidFill>
              <a:latin typeface="Times New Roman" panose="02020503050405090304"/>
              <a:ea typeface="微软雅黑"/>
              <a:cs typeface="Times New Roman" panose="02020503050405090304"/>
            </a:endParaRPr>
          </a:p>
        </p:txBody>
      </p:sp>
      <p:sp>
        <p:nvSpPr>
          <p:cNvPr id="21" name="q1-stem"/>
          <p:cNvSpPr>
            <a:spLocks noGrp="1"/>
          </p:cNvSpPr>
          <p:nvPr/>
        </p:nvSpPr>
        <p:spPr>
          <a:xfrm>
            <a:off x="1495425" y="144780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【判断】entropy_coeff 应通过短程实验观察训练曲线后再调节。</a:t>
            </a:r>
            <a:endParaRPr sz="1800" b="1">
              <a:solidFill>
                <a:srgbClr val="111111"/>
              </a:solidFill>
              <a:latin typeface="Times New Roman" panose="02020503050405090304"/>
              <a:ea typeface="微软雅黑"/>
              <a:cs typeface="Times New Roman" panose="02020503050405090304"/>
            </a:endParaRPr>
          </a:p>
        </p:txBody>
      </p:sp>
      <p:sp>
        <p:nvSpPr>
          <p:cNvPr id="22" name="q2-label"/>
          <p:cNvSpPr>
            <a:spLocks noGrp="1"/>
          </p:cNvSpPr>
          <p:nvPr/>
        </p:nvSpPr>
        <p:spPr>
          <a:xfrm>
            <a:off x="609600" y="2257425"/>
            <a:ext cx="704850" cy="400050"/>
          </a:xfrm>
          <a:prstGeom prst="roundRect">
            <a:avLst>
              <a:gd name="adj" fmla="val 35714"/>
            </a:avLst>
          </a:prstGeom>
          <a:solidFill>
            <a:srgbClr val="FFD0D1"/>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Q2</a:t>
            </a:r>
            <a:endParaRPr sz="2175" b="1">
              <a:solidFill>
                <a:srgbClr val="111111"/>
              </a:solidFill>
              <a:latin typeface="Times New Roman" panose="02020503050405090304"/>
              <a:ea typeface="微软雅黑"/>
              <a:cs typeface="Times New Roman" panose="02020503050405090304"/>
            </a:endParaRPr>
          </a:p>
        </p:txBody>
      </p:sp>
      <p:sp>
        <p:nvSpPr>
          <p:cNvPr id="23" name="q2-stem"/>
          <p:cNvSpPr>
            <a:spLocks noGrp="1"/>
          </p:cNvSpPr>
          <p:nvPr/>
        </p:nvSpPr>
        <p:spPr>
          <a:xfrm>
            <a:off x="1495425" y="2266950"/>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【判断】只看 reward 一个指标，就能判断 RL 训练是否健康。</a:t>
            </a:r>
            <a:endParaRPr sz="1800" b="1">
              <a:solidFill>
                <a:srgbClr val="111111"/>
              </a:solidFill>
              <a:latin typeface="Times New Roman" panose="02020503050405090304"/>
              <a:ea typeface="微软雅黑"/>
              <a:cs typeface="Times New Roman" panose="02020503050405090304"/>
            </a:endParaRPr>
          </a:p>
        </p:txBody>
      </p:sp>
      <p:sp>
        <p:nvSpPr>
          <p:cNvPr id="24" name="q3-label"/>
          <p:cNvSpPr>
            <a:spLocks noGrp="1"/>
          </p:cNvSpPr>
          <p:nvPr/>
        </p:nvSpPr>
        <p:spPr>
          <a:xfrm>
            <a:off x="609600" y="3105150"/>
            <a:ext cx="704850" cy="400050"/>
          </a:xfrm>
          <a:prstGeom prst="roundRect">
            <a:avLst>
              <a:gd name="adj" fmla="val 35714"/>
            </a:avLst>
          </a:prstGeom>
          <a:solidFill>
            <a:srgbClr val="BFECCC"/>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Q3</a:t>
            </a:r>
            <a:endParaRPr sz="2175" b="1">
              <a:solidFill>
                <a:srgbClr val="111111"/>
              </a:solidFill>
              <a:latin typeface="Times New Roman" panose="02020503050405090304"/>
              <a:ea typeface="微软雅黑"/>
              <a:cs typeface="Times New Roman" panose="02020503050405090304"/>
            </a:endParaRPr>
          </a:p>
        </p:txBody>
      </p:sp>
      <p:sp>
        <p:nvSpPr>
          <p:cNvPr id="25" name="q3-stem"/>
          <p:cNvSpPr>
            <a:spLocks noGrp="1"/>
          </p:cNvSpPr>
          <p:nvPr/>
        </p:nvSpPr>
        <p:spPr>
          <a:xfrm>
            <a:off x="1495425" y="311467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【单选】correct、partial、length_bonus 均为 0，format = 1；总分 0.20 来自哪项？</a:t>
            </a:r>
            <a:endParaRPr sz="1800" b="1">
              <a:solidFill>
                <a:srgbClr val="111111"/>
              </a:solidFill>
              <a:latin typeface="Times New Roman" panose="02020503050405090304"/>
              <a:ea typeface="微软雅黑"/>
              <a:cs typeface="Times New Roman" panose="02020503050405090304"/>
            </a:endParaRPr>
          </a:p>
        </p:txBody>
      </p:sp>
      <p:sp>
        <p:nvSpPr>
          <p:cNvPr id="26" name="q3-option0"/>
          <p:cNvSpPr>
            <a:spLocks noGrp="1"/>
          </p:cNvSpPr>
          <p:nvPr/>
        </p:nvSpPr>
        <p:spPr>
          <a:xfrm>
            <a:off x="149542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correct_answer</a:t>
            </a:r>
            <a:endParaRPr sz="1650" b="0">
              <a:solidFill>
                <a:srgbClr val="111111"/>
              </a:solidFill>
              <a:latin typeface="Times New Roman" panose="02020503050405090304"/>
              <a:ea typeface="微软雅黑"/>
              <a:cs typeface="Times New Roman" panose="02020503050405090304"/>
            </a:endParaRPr>
          </a:p>
        </p:txBody>
      </p:sp>
      <p:sp>
        <p:nvSpPr>
          <p:cNvPr id="27" name="q3-option1"/>
          <p:cNvSpPr>
            <a:spLocks noGrp="1"/>
          </p:cNvSpPr>
          <p:nvPr/>
        </p:nvSpPr>
        <p:spPr>
          <a:xfrm>
            <a:off x="6505575" y="376237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partial_answer</a:t>
            </a:r>
            <a:endParaRPr sz="1650" b="0">
              <a:solidFill>
                <a:srgbClr val="111111"/>
              </a:solidFill>
              <a:latin typeface="Times New Roman" panose="02020503050405090304"/>
              <a:ea typeface="微软雅黑"/>
              <a:cs typeface="Times New Roman" panose="02020503050405090304"/>
            </a:endParaRPr>
          </a:p>
        </p:txBody>
      </p:sp>
      <p:sp>
        <p:nvSpPr>
          <p:cNvPr id="28" name="q3-option2"/>
          <p:cNvSpPr>
            <a:spLocks noGrp="1"/>
          </p:cNvSpPr>
          <p:nvPr/>
        </p:nvSpPr>
        <p:spPr>
          <a:xfrm>
            <a:off x="149542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format_reward：0.2 × 1.0</a:t>
            </a:r>
            <a:endParaRPr sz="1650" b="0">
              <a:solidFill>
                <a:srgbClr val="111111"/>
              </a:solidFill>
              <a:latin typeface="Times New Roman" panose="02020503050405090304"/>
              <a:ea typeface="微软雅黑"/>
              <a:cs typeface="Times New Roman" panose="02020503050405090304"/>
            </a:endParaRPr>
          </a:p>
        </p:txBody>
      </p:sp>
      <p:sp>
        <p:nvSpPr>
          <p:cNvPr id="29" name="q3-option3"/>
          <p:cNvSpPr>
            <a:spLocks noGrp="1"/>
          </p:cNvSpPr>
          <p:nvPr/>
        </p:nvSpPr>
        <p:spPr>
          <a:xfrm>
            <a:off x="6505575" y="417195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length_bonus</a:t>
            </a:r>
            <a:endParaRPr sz="1650" b="0">
              <a:solidFill>
                <a:srgbClr val="111111"/>
              </a:solidFill>
              <a:latin typeface="Times New Roman" panose="02020503050405090304"/>
              <a:ea typeface="微软雅黑"/>
              <a:cs typeface="Times New Roman" panose="02020503050405090304"/>
            </a:endParaRPr>
          </a:p>
        </p:txBody>
      </p:sp>
      <p:sp>
        <p:nvSpPr>
          <p:cNvPr id="30" name="q4-label"/>
          <p:cNvSpPr>
            <a:spLocks noGrp="1"/>
          </p:cNvSpPr>
          <p:nvPr/>
        </p:nvSpPr>
        <p:spPr>
          <a:xfrm>
            <a:off x="609600" y="4686300"/>
            <a:ext cx="704850" cy="400050"/>
          </a:xfrm>
          <a:prstGeom prst="roundRect">
            <a:avLst>
              <a:gd name="adj" fmla="val 35714"/>
            </a:avLst>
          </a:prstGeom>
          <a:solidFill>
            <a:srgbClr val="C7E1FF"/>
          </a:solidFill>
          <a:ln w="0">
            <a:noFill/>
          </a:ln>
        </p:spPr>
        <p:txBody>
          <a:bodyPr wrap="none" lIns="0" tIns="0" rIns="0" bIns="0" anchor="ctr">
            <a:noAutofit/>
          </a:bodyPr>
          <a:lstStyle/>
          <a:p>
            <a:pPr algn="ctr">
              <a:lnSpc>
                <a:spcPct val="108000"/>
              </a:lnSpc>
              <a:buNone/>
              <a:defRPr sz="2175" b="1">
                <a:solidFill>
                  <a:srgbClr val="111111"/>
                </a:solidFill>
                <a:latin typeface="Times New Roman" panose="02020503050405090304"/>
                <a:ea typeface="微软雅黑"/>
                <a:cs typeface="Times New Roman" panose="02020503050405090304"/>
              </a:defRPr>
            </a:pPr>
            <a:r>
              <a:rPr sz="2175" b="1">
                <a:solidFill>
                  <a:srgbClr val="111111"/>
                </a:solidFill>
                <a:latin typeface="Times New Roman" panose="02020503050405090304"/>
                <a:ea typeface="微软雅黑"/>
                <a:cs typeface="Times New Roman" panose="02020503050405090304"/>
              </a:rPr>
              <a:t>Q4</a:t>
            </a:r>
            <a:endParaRPr sz="2175" b="1">
              <a:solidFill>
                <a:srgbClr val="111111"/>
              </a:solidFill>
              <a:latin typeface="Times New Roman" panose="02020503050405090304"/>
              <a:ea typeface="微软雅黑"/>
              <a:cs typeface="Times New Roman" panose="02020503050405090304"/>
            </a:endParaRPr>
          </a:p>
        </p:txBody>
      </p:sp>
      <p:sp>
        <p:nvSpPr>
          <p:cNvPr id="31" name="q4-stem"/>
          <p:cNvSpPr>
            <a:spLocks noGrp="1"/>
          </p:cNvSpPr>
          <p:nvPr/>
        </p:nvSpPr>
        <p:spPr>
          <a:xfrm>
            <a:off x="1495425" y="4695825"/>
            <a:ext cx="10001250" cy="609600"/>
          </a:xfrm>
          <a:prstGeom prst="rect">
            <a:avLst/>
          </a:prstGeom>
          <a:noFill/>
          <a:ln w="0">
            <a:noFill/>
          </a:ln>
        </p:spPr>
        <p:txBody>
          <a:bodyPr wrap="none" lIns="0" tIns="0" rIns="0" bIns="0" anchor="t">
            <a:noAutofit/>
          </a:bodyPr>
          <a:lstStyle/>
          <a:p>
            <a:pPr>
              <a:lnSpc>
                <a:spcPct val="108000"/>
              </a:lnSpc>
              <a:buNone/>
              <a:defRPr sz="1800" b="1">
                <a:solidFill>
                  <a:srgbClr val="111111"/>
                </a:solidFill>
                <a:latin typeface="Times New Roman" panose="02020503050405090304"/>
                <a:ea typeface="微软雅黑"/>
                <a:cs typeface="Times New Roman" panose="02020503050405090304"/>
              </a:defRPr>
            </a:pPr>
            <a:r>
              <a:rPr sz="1800" b="1">
                <a:solidFill>
                  <a:srgbClr val="111111"/>
                </a:solidFill>
                <a:latin typeface="Times New Roman" panose="02020503050405090304"/>
                <a:ea typeface="微软雅黑"/>
                <a:cs typeface="Times New Roman" panose="02020503050405090304"/>
              </a:rPr>
              <a:t>【单选】entropy 快速下降、correct 回落且长度异常，哪种处理更合理？</a:t>
            </a:r>
            <a:endParaRPr sz="1800" b="1">
              <a:solidFill>
                <a:srgbClr val="111111"/>
              </a:solidFill>
              <a:latin typeface="Times New Roman" panose="02020503050405090304"/>
              <a:ea typeface="微软雅黑"/>
              <a:cs typeface="Times New Roman" panose="02020503050405090304"/>
            </a:endParaRPr>
          </a:p>
        </p:txBody>
      </p:sp>
      <p:sp>
        <p:nvSpPr>
          <p:cNvPr id="32" name="q4-option0"/>
          <p:cNvSpPr>
            <a:spLocks noGrp="1"/>
          </p:cNvSpPr>
          <p:nvPr/>
        </p:nvSpPr>
        <p:spPr>
          <a:xfrm>
            <a:off x="149542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A. 同时大幅提高熵系数和 KL 系数</a:t>
            </a:r>
            <a:endParaRPr sz="1650" b="0">
              <a:solidFill>
                <a:srgbClr val="111111"/>
              </a:solidFill>
              <a:latin typeface="Times New Roman" panose="02020503050405090304"/>
              <a:ea typeface="微软雅黑"/>
              <a:cs typeface="Times New Roman" panose="02020503050405090304"/>
            </a:endParaRPr>
          </a:p>
        </p:txBody>
      </p:sp>
      <p:sp>
        <p:nvSpPr>
          <p:cNvPr id="33" name="q4-option1"/>
          <p:cNvSpPr>
            <a:spLocks noGrp="1"/>
          </p:cNvSpPr>
          <p:nvPr/>
        </p:nvSpPr>
        <p:spPr>
          <a:xfrm>
            <a:off x="6505575" y="5343525"/>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B. 回退 checkpoint，固定其余参数后小幅调熵系数</a:t>
            </a:r>
            <a:endParaRPr sz="1650" b="0">
              <a:solidFill>
                <a:srgbClr val="111111"/>
              </a:solidFill>
              <a:latin typeface="Times New Roman" panose="02020503050405090304"/>
              <a:ea typeface="微软雅黑"/>
              <a:cs typeface="Times New Roman" panose="02020503050405090304"/>
            </a:endParaRPr>
          </a:p>
        </p:txBody>
      </p:sp>
      <p:sp>
        <p:nvSpPr>
          <p:cNvPr id="34" name="q4-option2"/>
          <p:cNvSpPr>
            <a:spLocks noGrp="1"/>
          </p:cNvSpPr>
          <p:nvPr/>
        </p:nvSpPr>
        <p:spPr>
          <a:xfrm>
            <a:off x="149542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C. 只因训练 reward 上升就继续长跑</a:t>
            </a:r>
            <a:endParaRPr sz="1650" b="0">
              <a:solidFill>
                <a:srgbClr val="111111"/>
              </a:solidFill>
              <a:latin typeface="Times New Roman" panose="02020503050405090304"/>
              <a:ea typeface="微软雅黑"/>
              <a:cs typeface="Times New Roman" panose="02020503050405090304"/>
            </a:endParaRPr>
          </a:p>
        </p:txBody>
      </p:sp>
      <p:sp>
        <p:nvSpPr>
          <p:cNvPr id="35" name="q4-option3"/>
          <p:cNvSpPr>
            <a:spLocks noGrp="1"/>
          </p:cNvSpPr>
          <p:nvPr/>
        </p:nvSpPr>
        <p:spPr>
          <a:xfrm>
            <a:off x="6505575" y="5753100"/>
            <a:ext cx="4867275" cy="495300"/>
          </a:xfrm>
          <a:prstGeom prst="rect">
            <a:avLst/>
          </a:prstGeom>
          <a:noFill/>
          <a:ln w="0">
            <a:noFill/>
          </a:ln>
        </p:spPr>
        <p:txBody>
          <a:bodyPr wrap="none" lIns="0" tIns="0" rIns="0" bIns="0" anchor="t">
            <a:noAutofit/>
          </a:bodyPr>
          <a:lstStyle/>
          <a:p>
            <a:pPr>
              <a:lnSpc>
                <a:spcPct val="108000"/>
              </a:lnSpc>
              <a:buNone/>
              <a:defRPr sz="1650" b="0">
                <a:solidFill>
                  <a:srgbClr val="111111"/>
                </a:solidFill>
                <a:latin typeface="Times New Roman" panose="02020503050405090304"/>
                <a:ea typeface="微软雅黑"/>
                <a:cs typeface="Times New Roman" panose="02020503050405090304"/>
              </a:defRPr>
            </a:pPr>
            <a:r>
              <a:rPr sz="1650" b="0">
                <a:solidFill>
                  <a:srgbClr val="111111"/>
                </a:solidFill>
                <a:latin typeface="Times New Roman" panose="02020503050405090304"/>
                <a:ea typeface="微软雅黑"/>
                <a:cs typeface="Times New Roman" panose="02020503050405090304"/>
              </a:rPr>
              <a:t>D. 直接提高学习率</a:t>
            </a:r>
            <a:endParaRPr sz="1650" b="0">
              <a:solidFill>
                <a:srgbClr val="111111"/>
              </a:solidFill>
              <a:latin typeface="Times New Roman" panose="02020503050405090304"/>
              <a:ea typeface="微软雅黑"/>
              <a:cs typeface="Times New Roman" panose="0202050305040509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tgtEl>
                                          <p:spTgt spid="20"/>
                                        </p:tgtEl>
                                        <p:attrNameLst>
                                          <p:attrName>style.visibility</p:attrName>
                                        </p:attrNameLst>
                                      </p:cBhvr>
                                      <p:to>
                                        <p:strVal val="visible"/>
                                      </p:to>
                                    </p:set>
                                    <p:animEffect transition="in" filter="fade">
                                      <p:cBhvr>
                                        <p:cTn id="7" dur="350"/>
                                        <p:tgtEl>
                                          <p:spTgt spid="20"/>
                                        </p:tgtEl>
                                      </p:cBhvr>
                                    </p:animEffect>
                                  </p:childTnLst>
                                </p:cTn>
                              </p:par>
                              <p:par>
                                <p:cTn id="8" presetID="10" presetClass="entr" presetSubtype="0" fill="hold" grpId="0" nodeType="withEffect">
                                  <p:stCondLst>
                                    <p:cond delay="0"/>
                                  </p:stCondLst>
                                  <p:childTnLst>
                                    <p:set>
                                      <p:cBhvr>
                                        <p:cTn id="9" dur="1" fill="hold"/>
                                        <p:tgtEl>
                                          <p:spTgt spid="21"/>
                                        </p:tgtEl>
                                        <p:attrNameLst>
                                          <p:attrName>style.visibility</p:attrName>
                                        </p:attrNameLst>
                                      </p:cBhvr>
                                      <p:to>
                                        <p:strVal val="visible"/>
                                      </p:to>
                                    </p:set>
                                    <p:animEffect transition="in" filter="fade">
                                      <p:cBhvr>
                                        <p:cTn id="10" dur="35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10" presetClass="entr" presetSubtype="0" fill="hold" grpId="0" nodeType="withEffect">
                                  <p:stCondLst>
                                    <p:cond delay="0"/>
                                  </p:stCondLst>
                                  <p:childTnLst>
                                    <p:set>
                                      <p:cBhvr>
                                        <p:cTn id="17" dur="1" fill="hold"/>
                                        <p:tgtEl>
                                          <p:spTgt spid="23"/>
                                        </p:tgtEl>
                                        <p:attrNameLst>
                                          <p:attrName>style.visibility</p:attrName>
                                        </p:attrNameLst>
                                      </p:cBhvr>
                                      <p:to>
                                        <p:strVal val="visible"/>
                                      </p:to>
                                    </p:set>
                                    <p:animEffect transition="in" filter="fade">
                                      <p:cBhvr>
                                        <p:cTn id="18" dur="35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tgtEl>
                                          <p:spTgt spid="24"/>
                                        </p:tgtEl>
                                        <p:attrNameLst>
                                          <p:attrName>style.visibility</p:attrName>
                                        </p:attrNameLst>
                                      </p:cBhvr>
                                      <p:to>
                                        <p:strVal val="visible"/>
                                      </p:to>
                                    </p:set>
                                    <p:animEffect transition="in" filter="fade">
                                      <p:cBhvr>
                                        <p:cTn id="23" dur="350"/>
                                        <p:tgtEl>
                                          <p:spTgt spid="24"/>
                                        </p:tgtEl>
                                      </p:cBhvr>
                                    </p:animEffect>
                                  </p:childTnLst>
                                </p:cTn>
                              </p:par>
                              <p:par>
                                <p:cTn id="24" presetID="10" presetClass="entr" presetSubtype="0" fill="hold" grpId="0" nodeType="withEffect">
                                  <p:stCondLst>
                                    <p:cond delay="0"/>
                                  </p:stCondLst>
                                  <p:childTnLst>
                                    <p:set>
                                      <p:cBhvr>
                                        <p:cTn id="25" dur="1" fill="hold"/>
                                        <p:tgtEl>
                                          <p:spTgt spid="25"/>
                                        </p:tgtEl>
                                        <p:attrNameLst>
                                          <p:attrName>style.visibility</p:attrName>
                                        </p:attrNameLst>
                                      </p:cBhvr>
                                      <p:to>
                                        <p:strVal val="visible"/>
                                      </p:to>
                                    </p:set>
                                    <p:animEffect transition="in" filter="fade">
                                      <p:cBhvr>
                                        <p:cTn id="26" dur="350"/>
                                        <p:tgtEl>
                                          <p:spTgt spid="25"/>
                                        </p:tgtEl>
                                      </p:cBhvr>
                                    </p:animEffect>
                                  </p:childTnLst>
                                </p:cTn>
                              </p:par>
                              <p:par>
                                <p:cTn id="27" presetID="10" presetClass="entr" presetSubtype="0" fill="hold" grpId="0" nodeType="withEffect">
                                  <p:stCondLst>
                                    <p:cond delay="0"/>
                                  </p:stCondLst>
                                  <p:childTnLst>
                                    <p:set>
                                      <p:cBhvr>
                                        <p:cTn id="28" dur="1" fill="hold"/>
                                        <p:tgtEl>
                                          <p:spTgt spid="26"/>
                                        </p:tgtEl>
                                        <p:attrNameLst>
                                          <p:attrName>style.visibility</p:attrName>
                                        </p:attrNameLst>
                                      </p:cBhvr>
                                      <p:to>
                                        <p:strVal val="visible"/>
                                      </p:to>
                                    </p:set>
                                    <p:animEffect transition="in" filter="fade">
                                      <p:cBhvr>
                                        <p:cTn id="29" dur="350"/>
                                        <p:tgtEl>
                                          <p:spTgt spid="26"/>
                                        </p:tgtEl>
                                      </p:cBhvr>
                                    </p:animEffect>
                                  </p:childTnLst>
                                </p:cTn>
                              </p:par>
                              <p:par>
                                <p:cTn id="30" presetID="10" presetClass="entr" presetSubtype="0" fill="hold" grpId="0" nodeType="withEffect">
                                  <p:stCondLst>
                                    <p:cond delay="0"/>
                                  </p:stCondLst>
                                  <p:childTnLst>
                                    <p:set>
                                      <p:cBhvr>
                                        <p:cTn id="31" dur="1" fill="hold"/>
                                        <p:tgtEl>
                                          <p:spTgt spid="27"/>
                                        </p:tgtEl>
                                        <p:attrNameLst>
                                          <p:attrName>style.visibility</p:attrName>
                                        </p:attrNameLst>
                                      </p:cBhvr>
                                      <p:to>
                                        <p:strVal val="visible"/>
                                      </p:to>
                                    </p:set>
                                    <p:animEffect transition="in" filter="fade">
                                      <p:cBhvr>
                                        <p:cTn id="32" dur="350"/>
                                        <p:tgtEl>
                                          <p:spTgt spid="27"/>
                                        </p:tgtEl>
                                      </p:cBhvr>
                                    </p:animEffect>
                                  </p:childTnLst>
                                </p:cTn>
                              </p:par>
                              <p:par>
                                <p:cTn id="33" presetID="10" presetClass="entr" presetSubtype="0" fill="hold" grpId="0" nodeType="withEffect">
                                  <p:stCondLst>
                                    <p:cond delay="0"/>
                                  </p:stCondLst>
                                  <p:childTnLst>
                                    <p:set>
                                      <p:cBhvr>
                                        <p:cTn id="34" dur="1" fill="hold"/>
                                        <p:tgtEl>
                                          <p:spTgt spid="28"/>
                                        </p:tgtEl>
                                        <p:attrNameLst>
                                          <p:attrName>style.visibility</p:attrName>
                                        </p:attrNameLst>
                                      </p:cBhvr>
                                      <p:to>
                                        <p:strVal val="visible"/>
                                      </p:to>
                                    </p:set>
                                    <p:animEffect transition="in" filter="fade">
                                      <p:cBhvr>
                                        <p:cTn id="35" dur="350"/>
                                        <p:tgtEl>
                                          <p:spTgt spid="28"/>
                                        </p:tgtEl>
                                      </p:cBhvr>
                                    </p:animEffect>
                                  </p:childTnLst>
                                </p:cTn>
                              </p:par>
                              <p:par>
                                <p:cTn id="36" presetID="10" presetClass="entr" presetSubtype="0" fill="hold" grpId="0" nodeType="withEffect">
                                  <p:stCondLst>
                                    <p:cond delay="0"/>
                                  </p:stCondLst>
                                  <p:childTnLst>
                                    <p:set>
                                      <p:cBhvr>
                                        <p:cTn id="37" dur="1" fill="hold"/>
                                        <p:tgtEl>
                                          <p:spTgt spid="29"/>
                                        </p:tgtEl>
                                        <p:attrNameLst>
                                          <p:attrName>style.visibility</p:attrName>
                                        </p:attrNameLst>
                                      </p:cBhvr>
                                      <p:to>
                                        <p:strVal val="visible"/>
                                      </p:to>
                                    </p:set>
                                    <p:animEffect transition="in" filter="fade">
                                      <p:cBhvr>
                                        <p:cTn id="38" dur="350"/>
                                        <p:tgtEl>
                                          <p:spTgt spid="2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tgtEl>
                                          <p:spTgt spid="30"/>
                                        </p:tgtEl>
                                        <p:attrNameLst>
                                          <p:attrName>style.visibility</p:attrName>
                                        </p:attrNameLst>
                                      </p:cBhvr>
                                      <p:to>
                                        <p:strVal val="visible"/>
                                      </p:to>
                                    </p:set>
                                    <p:animEffect transition="in" filter="fade">
                                      <p:cBhvr>
                                        <p:cTn id="43" dur="350"/>
                                        <p:tgtEl>
                                          <p:spTgt spid="30"/>
                                        </p:tgtEl>
                                      </p:cBhvr>
                                    </p:animEffect>
                                  </p:childTnLst>
                                </p:cTn>
                              </p:par>
                              <p:par>
                                <p:cTn id="44" presetID="10" presetClass="entr" presetSubtype="0" fill="hold" grpId="0" nodeType="withEffect">
                                  <p:stCondLst>
                                    <p:cond delay="0"/>
                                  </p:stCondLst>
                                  <p:childTnLst>
                                    <p:set>
                                      <p:cBhvr>
                                        <p:cTn id="45" dur="1" fill="hold"/>
                                        <p:tgtEl>
                                          <p:spTgt spid="31"/>
                                        </p:tgtEl>
                                        <p:attrNameLst>
                                          <p:attrName>style.visibility</p:attrName>
                                        </p:attrNameLst>
                                      </p:cBhvr>
                                      <p:to>
                                        <p:strVal val="visible"/>
                                      </p:to>
                                    </p:set>
                                    <p:animEffect transition="in" filter="fade">
                                      <p:cBhvr>
                                        <p:cTn id="46" dur="350"/>
                                        <p:tgtEl>
                                          <p:spTgt spid="31"/>
                                        </p:tgtEl>
                                      </p:cBhvr>
                                    </p:animEffect>
                                  </p:childTnLst>
                                </p:cTn>
                              </p:par>
                              <p:par>
                                <p:cTn id="47" presetID="10" presetClass="entr" presetSubtype="0" fill="hold" grpId="0" nodeType="withEffect">
                                  <p:stCondLst>
                                    <p:cond delay="0"/>
                                  </p:stCondLst>
                                  <p:childTnLst>
                                    <p:set>
                                      <p:cBhvr>
                                        <p:cTn id="48" dur="1" fill="hold"/>
                                        <p:tgtEl>
                                          <p:spTgt spid="32"/>
                                        </p:tgtEl>
                                        <p:attrNameLst>
                                          <p:attrName>style.visibility</p:attrName>
                                        </p:attrNameLst>
                                      </p:cBhvr>
                                      <p:to>
                                        <p:strVal val="visible"/>
                                      </p:to>
                                    </p:set>
                                    <p:animEffect transition="in" filter="fade">
                                      <p:cBhvr>
                                        <p:cTn id="49" dur="350"/>
                                        <p:tgtEl>
                                          <p:spTgt spid="32"/>
                                        </p:tgtEl>
                                      </p:cBhvr>
                                    </p:animEffect>
                                  </p:childTnLst>
                                </p:cTn>
                              </p:par>
                              <p:par>
                                <p:cTn id="50" presetID="10" presetClass="entr" presetSubtype="0" fill="hold" grpId="0" nodeType="withEffect">
                                  <p:stCondLst>
                                    <p:cond delay="0"/>
                                  </p:stCondLst>
                                  <p:childTnLst>
                                    <p:set>
                                      <p:cBhvr>
                                        <p:cTn id="51" dur="1" fill="hold"/>
                                        <p:tgtEl>
                                          <p:spTgt spid="33"/>
                                        </p:tgtEl>
                                        <p:attrNameLst>
                                          <p:attrName>style.visibility</p:attrName>
                                        </p:attrNameLst>
                                      </p:cBhvr>
                                      <p:to>
                                        <p:strVal val="visible"/>
                                      </p:to>
                                    </p:set>
                                    <p:animEffect transition="in" filter="fade">
                                      <p:cBhvr>
                                        <p:cTn id="52" dur="350"/>
                                        <p:tgtEl>
                                          <p:spTgt spid="33"/>
                                        </p:tgtEl>
                                      </p:cBhvr>
                                    </p:animEffect>
                                  </p:childTnLst>
                                </p:cTn>
                              </p:par>
                              <p:par>
                                <p:cTn id="53" presetID="10" presetClass="entr" presetSubtype="0" fill="hold" grpId="0" nodeType="withEffect">
                                  <p:stCondLst>
                                    <p:cond delay="0"/>
                                  </p:stCondLst>
                                  <p:childTnLst>
                                    <p:set>
                                      <p:cBhvr>
                                        <p:cTn id="54" dur="1" fill="hold"/>
                                        <p:tgtEl>
                                          <p:spTgt spid="34"/>
                                        </p:tgtEl>
                                        <p:attrNameLst>
                                          <p:attrName>style.visibility</p:attrName>
                                        </p:attrNameLst>
                                      </p:cBhvr>
                                      <p:to>
                                        <p:strVal val="visible"/>
                                      </p:to>
                                    </p:set>
                                    <p:animEffect transition="in" filter="fade">
                                      <p:cBhvr>
                                        <p:cTn id="55" dur="350"/>
                                        <p:tgtEl>
                                          <p:spTgt spid="34"/>
                                        </p:tgtEl>
                                      </p:cBhvr>
                                    </p:animEffect>
                                  </p:childTnLst>
                                </p:cTn>
                              </p:par>
                              <p:par>
                                <p:cTn id="56" presetID="10" presetClass="entr" presetSubtype="0" fill="hold" grpId="0" nodeType="withEffect">
                                  <p:stCondLst>
                                    <p:cond delay="0"/>
                                  </p:stCondLst>
                                  <p:childTnLst>
                                    <p:set>
                                      <p:cBhvr>
                                        <p:cTn id="57" dur="1" fill="hold"/>
                                        <p:tgtEl>
                                          <p:spTgt spid="35"/>
                                        </p:tgtEl>
                                        <p:attrNameLst>
                                          <p:attrName>style.visibility</p:attrName>
                                        </p:attrNameLst>
                                      </p:cBhvr>
                                      <p:to>
                                        <p:strVal val="visible"/>
                                      </p:to>
                                    </p:set>
                                    <p:animEffect transition="in" filter="fade">
                                      <p:cBhvr>
                                        <p:cTn id="58" dur="35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a:spLocks noGrp="1"/>
          </p:cNvSpPr>
          <p:nvPr/>
        </p:nvSpPr>
        <p:spPr>
          <a:xfrm>
            <a:off x="874644" y="1208599"/>
            <a:ext cx="3608680" cy="923330"/>
          </a:xfrm>
          <a:prstGeom prst="rect">
            <a:avLst/>
          </a:prstGeom>
          <a:noFill/>
        </p:spPr>
        <p:txBody>
          <a:bodyPr wrap="none">
            <a:spAutoFit/>
          </a:bodyPr>
          <a:lstStyle/>
          <a:p>
            <a:r>
              <a:rPr sz="5400">
                <a:latin typeface="Times New Roman" panose="02020503050405090304"/>
                <a:ea typeface="微软雅黑"/>
                <a:cs typeface="Times New Roman" panose="02020503050405090304"/>
              </a:rPr>
              <a:t>Thank you.</a:t>
            </a:r>
            <a:endParaRPr sz="5400">
              <a:latin typeface="Times New Roman" panose="02020503050405090304"/>
              <a:ea typeface="微软雅黑"/>
              <a:cs typeface="Times New Roman" panose="02020503050405090304"/>
            </a:endParaRPr>
          </a:p>
        </p:txBody>
      </p:sp>
      <p:sp>
        <p:nvSpPr>
          <p:cNvPr id="3" name="文本框 2"/>
          <p:cNvSpPr>
            <a:spLocks noGrp="1"/>
          </p:cNvSpPr>
          <p:nvPr/>
        </p:nvSpPr>
        <p:spPr>
          <a:xfrm>
            <a:off x="6400801" y="1393264"/>
            <a:ext cx="4699220" cy="2325958"/>
          </a:xfrm>
          <a:prstGeom prst="rect">
            <a:avLst/>
          </a:prstGeom>
          <a:noFill/>
        </p:spPr>
        <p:txBody>
          <a:bodyPr wrap="square">
            <a:spAutoFit/>
          </a:bodyPr>
          <a:lstStyle/>
          <a:p>
            <a:pPr>
              <a:lnSpc>
                <a:spcPct val="150000"/>
              </a:lnSpc>
              <a:buNone/>
            </a:pPr>
            <a:r>
              <a:rPr sz="1200">
                <a:solidFill>
                  <a:schemeClr val="bg1">
                    <a:lumMod val="50000"/>
                  </a:schemeClr>
                </a:solidFill>
                <a:latin typeface="Times New Roman" panose="02020503050405090304"/>
                <a:ea typeface="微软雅黑"/>
                <a:cs typeface="Times New Roman" panose="02020503050405090304"/>
              </a:rPr>
              <a:t>社区愿景：打造开放易用、技术领先的AI算力新生态</a:t>
            </a:r>
            <a:endParaRPr sz="1200">
              <a:solidFill>
                <a:schemeClr val="bg1">
                  <a:lumMod val="50000"/>
                </a:schemeClr>
              </a:solidFill>
              <a:latin typeface="Times New Roman" panose="02020503050405090304"/>
              <a:ea typeface="微软雅黑"/>
              <a:cs typeface="Times New Roman" panose="02020503050405090304"/>
            </a:endParaRPr>
          </a:p>
          <a:p>
            <a:pPr>
              <a:lnSpc>
                <a:spcPct val="150000"/>
              </a:lnSpc>
              <a:buNone/>
            </a:pPr>
            <a:r>
              <a:rPr sz="1200">
                <a:solidFill>
                  <a:schemeClr val="bg1">
                    <a:lumMod val="50000"/>
                  </a:schemeClr>
                </a:solidFill>
                <a:latin typeface="Times New Roman" panose="02020503050405090304"/>
                <a:ea typeface="微软雅黑"/>
                <a:cs typeface="Times New Roman" panose="02020503050405090304"/>
              </a:rPr>
              <a:t>社区使命：使能开发者基于CANN社区自主研究创新，构筑根深叶茂、跨产业协同共享共赢的CANN生态</a:t>
            </a:r>
            <a:endParaRPr sz="1200">
              <a:solidFill>
                <a:schemeClr val="bg1">
                  <a:lumMod val="50000"/>
                </a:schemeClr>
              </a:solidFill>
              <a:latin typeface="Times New Roman" panose="02020503050405090304"/>
              <a:ea typeface="微软雅黑"/>
              <a:cs typeface="Times New Roman" panose="02020503050405090304"/>
            </a:endParaRPr>
          </a:p>
          <a:p>
            <a:pPr>
              <a:lnSpc>
                <a:spcPct val="150000"/>
              </a:lnSpc>
              <a:buNone/>
            </a:pPr>
          </a:p>
          <a:p>
            <a:pPr>
              <a:lnSpc>
                <a:spcPct val="150000"/>
              </a:lnSpc>
              <a:buNone/>
            </a:pPr>
            <a:r>
              <a:rPr sz="1000">
                <a:solidFill>
                  <a:schemeClr val="bg1">
                    <a:lumMod val="50000"/>
                  </a:schemeClr>
                </a:solidFill>
                <a:latin typeface="Times New Roman" panose="02020503050405090304"/>
                <a:ea typeface="微软雅黑"/>
                <a:cs typeface="Times New Roman" panose="02020503050405090304"/>
              </a:rPr>
              <a:t>Vision: Building an Open, Easy-to-Use, and Technology-leading AI Computing Ecosystem</a:t>
            </a:r>
            <a:endParaRPr sz="1000">
              <a:solidFill>
                <a:schemeClr val="bg1">
                  <a:lumMod val="50000"/>
                </a:schemeClr>
              </a:solidFill>
              <a:latin typeface="Times New Roman" panose="02020503050405090304"/>
              <a:ea typeface="微软雅黑"/>
              <a:cs typeface="Times New Roman" panose="02020503050405090304"/>
            </a:endParaRPr>
          </a:p>
          <a:p>
            <a:pPr>
              <a:lnSpc>
                <a:spcPct val="150000"/>
              </a:lnSpc>
              <a:buNone/>
            </a:pPr>
            <a:r>
              <a:rPr sz="1000">
                <a:solidFill>
                  <a:schemeClr val="bg1">
                    <a:lumMod val="50000"/>
                  </a:schemeClr>
                </a:solidFill>
                <a:latin typeface="Times New Roman" panose="02020503050405090304"/>
                <a:ea typeface="微软雅黑"/>
                <a:cs typeface="Times New Roman" panose="02020503050405090304"/>
              </a:rPr>
              <a:t>Mission: Enable developers to independently research and innovate based on the CANN community and build a win-win CANN ecosystem with deep roots and cross-industry collaboration and sharing.</a:t>
            </a:r>
            <a:endParaRPr sz="1000">
              <a:solidFill>
                <a:schemeClr val="bg1">
                  <a:lumMod val="50000"/>
                </a:schemeClr>
              </a:solidFill>
              <a:latin typeface="Times New Roman" panose="02020503050405090304"/>
              <a:ea typeface="微软雅黑"/>
              <a:cs typeface="Times New Roman" panose="02020503050405090304"/>
            </a:endParaRPr>
          </a:p>
        </p:txBody>
      </p:sp>
      <p:pic>
        <p:nvPicPr>
          <p:cNvPr id="20" name="图片 7"/>
          <p:cNvPicPr>
            <a:picLocks noChangeAspect="1"/>
          </p:cNvPicPr>
          <p:nvPr/>
        </p:nvPicPr>
        <p:blipFill>
          <a:blip r:embed="rId1"/>
          <a:stretch>
            <a:fillRect/>
          </a:stretch>
        </p:blipFill>
        <p:spPr>
          <a:xfrm>
            <a:off x="10137202" y="6042990"/>
            <a:ext cx="1312676" cy="348426"/>
          </a:xfrm>
          <a:prstGeom prst="rect">
            <a:avLst/>
          </a:prstGeom>
        </p:spPr>
      </p:pic>
      <p:sp>
        <p:nvSpPr>
          <p:cNvPr id="9" name="文本框 8"/>
          <p:cNvSpPr>
            <a:spLocks noGrp="1"/>
          </p:cNvSpPr>
          <p:nvPr/>
        </p:nvSpPr>
        <p:spPr>
          <a:xfrm>
            <a:off x="7056392" y="5538463"/>
            <a:ext cx="1430200" cy="246221"/>
          </a:xfrm>
          <a:prstGeom prst="rect">
            <a:avLst/>
          </a:prstGeom>
          <a:noFill/>
        </p:spPr>
        <p:txBody>
          <a:bodyPr wrap="none">
            <a:spAutoFit/>
          </a:bodyPr>
          <a:lstStyle/>
          <a:p>
            <a:r>
              <a:rPr sz="1000">
                <a:latin typeface="Times New Roman" panose="02020503050405090304"/>
                <a:ea typeface="微软雅黑"/>
                <a:cs typeface="Times New Roman" panose="02020503050405090304"/>
              </a:rPr>
              <a:t>上CANN社区获取干货</a:t>
            </a:r>
            <a:endParaRPr sz="1000">
              <a:latin typeface="Times New Roman" panose="02020503050405090304"/>
              <a:ea typeface="微软雅黑"/>
              <a:cs typeface="Times New Roman" panose="02020503050405090304"/>
            </a:endParaRPr>
          </a:p>
        </p:txBody>
      </p:sp>
      <p:sp>
        <p:nvSpPr>
          <p:cNvPr id="11" name="文本框 10"/>
          <p:cNvSpPr>
            <a:spLocks noGrp="1"/>
          </p:cNvSpPr>
          <p:nvPr/>
        </p:nvSpPr>
        <p:spPr>
          <a:xfrm>
            <a:off x="8741387" y="5538463"/>
            <a:ext cx="1686680" cy="246221"/>
          </a:xfrm>
          <a:prstGeom prst="rect">
            <a:avLst/>
          </a:prstGeom>
          <a:noFill/>
        </p:spPr>
        <p:txBody>
          <a:bodyPr wrap="none">
            <a:spAutoFit/>
          </a:bodyPr>
          <a:lstStyle/>
          <a:p>
            <a:r>
              <a:rPr sz="1000">
                <a:latin typeface="Times New Roman" panose="02020503050405090304"/>
                <a:ea typeface="微软雅黑"/>
                <a:cs typeface="Times New Roman" panose="02020503050405090304"/>
              </a:rPr>
              <a:t>关注CANN公众号获取资讯</a:t>
            </a:r>
            <a:endParaRPr sz="1000">
              <a:latin typeface="Times New Roman" panose="02020503050405090304"/>
              <a:ea typeface="微软雅黑"/>
              <a:cs typeface="Times New Roman" panose="02020503050405090304"/>
            </a:endParaRPr>
          </a:p>
        </p:txBody>
      </p:sp>
      <p:sp>
        <p:nvSpPr>
          <p:cNvPr id="14" name="文本框 13"/>
          <p:cNvSpPr>
            <a:spLocks noGrp="1"/>
          </p:cNvSpPr>
          <p:nvPr/>
        </p:nvSpPr>
        <p:spPr>
          <a:xfrm>
            <a:off x="620201" y="6130454"/>
            <a:ext cx="8763000" cy="246221"/>
          </a:xfrm>
          <a:prstGeom prst="rect">
            <a:avLst/>
          </a:prstGeom>
          <a:noFill/>
        </p:spPr>
        <p:txBody>
          <a:bodyPr wrap="none">
            <a:spAutoFit/>
          </a:bodyPr>
          <a:lstStyle/>
          <a:p>
            <a:r>
              <a:rPr sz="1000">
                <a:solidFill>
                  <a:schemeClr val="bg1">
                    <a:lumMod val="50000"/>
                  </a:schemeClr>
                </a:solidFill>
                <a:latin typeface="Times New Roman" panose="02020503050405090304"/>
                <a:ea typeface="微软雅黑"/>
                <a:cs typeface="Times New Roman" panose="02020503050405090304"/>
                <a:hlinkClick r:id="rId2"/>
              </a:rPr>
              <a:t>https://gitcode.com/cann/cann-learning-hub/tree/master/tutorials</a:t>
            </a:r>
            <a:endParaRPr sz="1000">
              <a:solidFill>
                <a:schemeClr val="bg1">
                  <a:lumMod val="50000"/>
                </a:schemeClr>
              </a:solidFill>
              <a:latin typeface="Times New Roman" panose="02020503050405090304"/>
              <a:ea typeface="微软雅黑"/>
              <a:cs typeface="Times New Roman" panose="02020503050405090304"/>
            </a:endParaRPr>
          </a:p>
        </p:txBody>
      </p:sp>
      <p:pic>
        <p:nvPicPr>
          <p:cNvPr id="24" name="图片 5"/>
          <p:cNvPicPr>
            <a:picLocks noChangeAspect="1"/>
          </p:cNvPicPr>
          <p:nvPr/>
        </p:nvPicPr>
        <p:blipFill>
          <a:blip r:embed="rId3"/>
          <a:stretch>
            <a:fillRect/>
          </a:stretch>
        </p:blipFill>
        <p:spPr>
          <a:xfrm>
            <a:off x="8696584" y="3898269"/>
            <a:ext cx="1686679" cy="1686679"/>
          </a:xfrm>
          <a:prstGeom prst="rect">
            <a:avLst/>
          </a:prstGeom>
        </p:spPr>
      </p:pic>
      <p:pic>
        <p:nvPicPr>
          <p:cNvPr id="25" name="Picture 2"/>
          <p:cNvPicPr>
            <a:picLocks noChangeAspect="1"/>
          </p:cNvPicPr>
          <p:nvPr/>
        </p:nvPicPr>
        <p:blipFill>
          <a:blip r:embed="rId4"/>
          <a:srcRect/>
          <a:stretch>
            <a:fillRect/>
          </a:stretch>
        </p:blipFill>
        <p:spPr>
          <a:xfrm>
            <a:off x="6965102" y="3908076"/>
            <a:ext cx="1686678" cy="1676872"/>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75.25,&quot;left&quot;:648.75,&quot;top&quot;:136.5,&quot;width&quot;:266.25}"/>
</p:tagLst>
</file>

<file path=ppt/tags/tag2.xml><?xml version="1.0" encoding="utf-8"?>
<p:tagLst xmlns:p="http://schemas.openxmlformats.org/presentationml/2006/main">
  <p:tag name="KSO_WM_DIAGRAM_VIRTUALLY_FRAME" val="{&quot;height&quot;:275.25,&quot;left&quot;:648.75,&quot;top&quot;:136.5,&quot;width&quot;:266.25}"/>
</p:tagLst>
</file>

<file path=ppt/tags/tag3.xml><?xml version="1.0" encoding="utf-8"?>
<p:tagLst xmlns:p="http://schemas.openxmlformats.org/presentationml/2006/main">
  <p:tag name="KSO_WM_DIAGRAM_VIRTUALLY_FRAME" val="{&quot;height&quot;:275.25,&quot;left&quot;:648.75,&quot;top&quot;:136.5,&quot;width&quot;:266.25}"/>
</p:tagLst>
</file>

<file path=ppt/tags/tag4.xml><?xml version="1.0" encoding="utf-8"?>
<p:tagLst xmlns:p="http://schemas.openxmlformats.org/presentationml/2006/main">
  <p:tag name="KSO_WM_DIAGRAM_VIRTUALLY_FRAME" val="{&quot;height&quot;:275.25,&quot;left&quot;:648.75,&quot;top&quot;:136.5,&quot;width&quot;:266.25}"/>
</p:tagLst>
</file>

<file path=ppt/tags/tag5.xml><?xml version="1.0" encoding="utf-8"?>
<p:tagLst xmlns:p="http://schemas.openxmlformats.org/presentationml/2006/main">
  <p:tag name="KSO_WM_DIAGRAM_VIRTUALLY_FRAME" val="{&quot;height&quot;:275.25,&quot;left&quot;:648.75,&quot;top&quot;:136.5,&quot;width&quot;:266.25}"/>
</p:tagLst>
</file>

<file path=ppt/tags/tag6.xml><?xml version="1.0" encoding="utf-8"?>
<p:tagLst xmlns:p="http://schemas.openxmlformats.org/presentationml/2006/main">
  <p:tag name="KSO_WM_DIAGRAM_VIRTUALLY_FRAME" val="{&quot;height&quot;:275.25,&quot;left&quot;:648.75,&quot;top&quot;:136.5,&quot;width&quot;:266.25}"/>
</p:tagLst>
</file>

<file path=ppt/tags/tag7.xml><?xml version="1.0" encoding="utf-8"?>
<p:tagLst xmlns:p="http://schemas.openxmlformats.org/presentationml/2006/main">
  <p:tag name="KSO_WM_DIAGRAM_VIRTUALLY_FRAME" val="{&quot;height&quot;:275.25,&quot;left&quot;:648.75,&quot;top&quot;:136.5,&quot;width&quot;:266.25}"/>
</p:tagLst>
</file>

<file path=ppt/tags/tag8.xml><?xml version="1.0" encoding="utf-8"?>
<p:tagLst xmlns:p="http://schemas.openxmlformats.org/presentationml/2006/main">
  <p:tag name="KSO_WM_DIAGRAM_VIRTUALLY_FRAME" val="{&quot;height&quot;:275.25,&quot;left&quot;:648.75,&quot;top&quot;:136.5,&quot;width&quot;:266.25}"/>
</p:tagLst>
</file>

<file path=ppt/tags/tag9.xml><?xml version="1.0" encoding="utf-8"?>
<p:tagLst xmlns:p="http://schemas.openxmlformats.org/presentationml/2006/main">
  <p:tag name="KSO_WM_DIAGRAM_VIRTUALLY_FRAME" val="{&quot;height&quot;:275.25,&quot;left&quot;:648.75,&quot;top&quot;:136.5,&quot;width&quot;:266.25}"/>
</p:tagLst>
</file>

<file path=ppt/tags/tag10.xml><?xml version="1.0" encoding="utf-8"?>
<p:tagLst xmlns:p="http://schemas.openxmlformats.org/presentationml/2006/main">
  <p:tag name="KSO_WM_DIAGRAM_VIRTUALLY_FRAME" val="{&quot;height&quot;:275.25,&quot;left&quot;:648.75,&quot;top&quot;:136.5,&quot;width&quot;:266.25}"/>
</p:tagLst>
</file>

<file path=ppt/tags/tag11.xml><?xml version="1.0" encoding="utf-8"?>
<p:tagLst xmlns:p="http://schemas.openxmlformats.org/presentationml/2006/main">
  <p:tag name="KSO_WM_DIAGRAM_VIRTUALLY_FRAME" val="{&quot;height&quot;:275.25,&quot;left&quot;:648.75,&quot;top&quot;:136.5,&quot;width&quot;:266.25}"/>
</p:tagLst>
</file>

<file path=ppt/tags/tag12.xml><?xml version="1.0" encoding="utf-8"?>
<p:tagLst xmlns:p="http://schemas.openxmlformats.org/presentationml/2006/main">
  <p:tag name="KSO_WM_DIAGRAM_VIRTUALLY_FRAME" val="{&quot;height&quot;:275.25,&quot;left&quot;:648.75,&quot;top&quot;:136.5,&quot;width&quot;:266.25}"/>
</p:tagLst>
</file>

<file path=ppt/tags/tag13.xml><?xml version="1.0" encoding="utf-8"?>
<p:tagLst xmlns:p="http://schemas.openxmlformats.org/presentationml/2006/main">
  <p:tag name="resource_record_key" val="{&quot;10&quot;:[50059560,50059176]}"/>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7473</Words>
  <Application>WPS 演示</Application>
  <PresentationFormat>Converted Presentation</PresentationFormat>
  <Paragraphs>890</Paragraphs>
  <Slides>28</Slides>
  <Notes>0</Notes>
  <HiddenSlides>0</HiddenSlides>
  <MMClips>0</MMClips>
  <ScaleCrop>false</ScaleCrop>
  <HeadingPairs>
    <vt:vector size="6" baseType="variant">
      <vt:variant>
        <vt:lpstr>已用的字体</vt:lpstr>
      </vt:variant>
      <vt:variant>
        <vt:i4>17</vt:i4>
      </vt:variant>
      <vt:variant>
        <vt:lpstr>主题</vt:lpstr>
      </vt:variant>
      <vt:variant>
        <vt:i4>4</vt:i4>
      </vt:variant>
      <vt:variant>
        <vt:lpstr>幻灯片标题</vt:lpstr>
      </vt:variant>
      <vt:variant>
        <vt:i4>28</vt:i4>
      </vt:variant>
    </vt:vector>
  </HeadingPairs>
  <TitlesOfParts>
    <vt:vector size="49" baseType="lpstr">
      <vt:lpstr>Arial</vt:lpstr>
      <vt:lpstr>宋体</vt:lpstr>
      <vt:lpstr>Wingdings</vt:lpstr>
      <vt:lpstr>Times New Roman</vt:lpstr>
      <vt:lpstr>微软雅黑</vt:lpstr>
      <vt:lpstr>方正雅意黑 GB18030L2</vt:lpstr>
      <vt:lpstr>Times New Roman</vt:lpstr>
      <vt:lpstr>微软雅黑</vt:lpstr>
      <vt:lpstr>等线 Light</vt:lpstr>
      <vt:lpstr>汉仪中等线KW</vt:lpstr>
      <vt:lpstr>等线</vt:lpstr>
      <vt:lpstr>汉仪书宋二KW</vt:lpstr>
      <vt:lpstr>宋体</vt:lpstr>
      <vt:lpstr>Arial Unicode MS</vt:lpstr>
      <vt:lpstr>Calibri</vt:lpstr>
      <vt:lpstr>Helvetica Neue</vt:lpstr>
      <vt:lpstr>微软雅黑</vt:lpstr>
      <vt:lpstr>Office 主题​​</vt:lpstr>
      <vt:lpstr>ChatGPT</vt:lpstr>
      <vt:lpstr>1_ChatGPT</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Crush</cp:lastModifiedBy>
  <cp:revision>51</cp:revision>
  <dcterms:created xsi:type="dcterms:W3CDTF">2026-09-22T07:43:57Z</dcterms:created>
  <dcterms:modified xsi:type="dcterms:W3CDTF">2026-09-22T07:43:57Z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F817FAF65BFCDA0A36A29E6A0D093824_42</vt:lpwstr>
  </property>
  <property fmtid="{D5CDD505-2E9C-101B-9397-08002B2CF9AE}" pid="3" name="KSOProductBuildVer">
    <vt:lpwstr>2052-12.1.26055.26055</vt:lpwstr>
  </property>
</Properties>
</file>