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handoutMasterIdLst>
    <p:handoutMasterId r:id="rId34"/>
  </p:handoutMasterIdLst>
  <p:sldIdLst>
    <p:sldId id="257" r:id="rId4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7" Type="http://schemas.openxmlformats.org/officeDocument/2006/relationships/tableStyles" Target="tableStyles.xml"/><Relationship Id="rId36" Type="http://schemas.openxmlformats.org/officeDocument/2006/relationships/viewProps" Target="viewProps.xml"/><Relationship Id="rId35" Type="http://schemas.openxmlformats.org/officeDocument/2006/relationships/presProps" Target="presProps.xml"/><Relationship Id="rId34" Type="http://schemas.openxmlformats.org/officeDocument/2006/relationships/handoutMaster" Target="handoutMasters/handoutMaster1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>
        <a:lnSpc>
          <a:spcPct val="90000"/>
        </a:lnSpc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hyperlink" Target="https://gitcode.com/cann/cann-learning-hub/tree/test/tutorials" TargetMode="Externa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2.xml"/><Relationship Id="rId2" Type="http://schemas.openxmlformats.org/officeDocument/2006/relationships/hyperlink" Target="https://gitcode.com/cann/cann-learning-hub/tree/test/tutorials/rl_training_pipeline/01_environment_setup" TargetMode="Externa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2.xml"/><Relationship Id="rId2" Type="http://schemas.openxmlformats.org/officeDocument/2006/relationships/hyperlink" Target="https://gitcode.com/cann/cann-learning-hub/tree/test/tutorials/rl_training_pipeline/02_rl_core_concepts" TargetMode="Externa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8.png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10.png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2.xml"/><Relationship Id="rId2" Type="http://schemas.openxmlformats.org/officeDocument/2006/relationships/hyperlink" Target="https://gitcode.com/cann/cann-learning-hub/tree/test/tutorials/rl_training_pipeline/03_wordle_rl_training" TargetMode="External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12.xml"/><Relationship Id="rId2" Type="http://schemas.openxmlformats.org/officeDocument/2006/relationships/hyperlink" Target="https://gitcode.com/cann/cann-learning-hub/tree/test/tutorials/rl_training_pipeline/04_tuning_and_troubleshooting" TargetMode="External"/><Relationship Id="rId1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9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14.png"/><Relationship Id="rId3" Type="http://schemas.openxmlformats.org/officeDocument/2006/relationships/image" Target="../media/image13.jpeg"/><Relationship Id="rId2" Type="http://schemas.openxmlformats.org/officeDocument/2006/relationships/hyperlink" Target="https://gitcode.com/cann/cann-learning-hub/tree/test/tutorials" TargetMode="Externa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6" name="文本框 15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+mj-ea"/>
                <a:hlinkClick r:id="rId2"/>
              </a:rPr>
              <a:t>https://gitcode.com/cann/cann-learning-hub/tree/test/tutorials</a:t>
            </a:r>
            <a:endParaRPr sz="100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+mj-ea"/>
              <a:hlinkClick r:id="rId2"/>
            </a:endParaRPr>
          </a:p>
        </p:txBody>
      </p:sp>
      <p:sp>
        <p:nvSpPr>
          <p:cNvPr id="2" name="文本框 1"/>
          <p:cNvSpPr>
            <a:spLocks noGrp="1"/>
          </p:cNvSpPr>
          <p:nvPr/>
        </p:nvSpPr>
        <p:spPr>
          <a:xfrm>
            <a:off x="1585009" y="1399429"/>
            <a:ext cx="5250815" cy="13220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4000" b="1">
                <a:latin typeface="微软雅黑"/>
                <a:ea typeface="微软雅黑"/>
                <a:cs typeface="微软雅黑"/>
              </a:rPr>
              <a:t>CANN大模型训练系列</a:t>
            </a:r>
            <a:endParaRPr sz="4000" b="1">
              <a:latin typeface="微软雅黑"/>
              <a:ea typeface="微软雅黑"/>
              <a:cs typeface="微软雅黑"/>
            </a:endParaRPr>
          </a:p>
          <a:p>
            <a:pPr algn="ctr">
              <a:buNone/>
            </a:pPr>
            <a:r>
              <a:rPr lang="en-US" sz="4000" b="1">
                <a:latin typeface="微软雅黑"/>
                <a:ea typeface="微软雅黑"/>
                <a:cs typeface="微软雅黑"/>
              </a:rPr>
              <a:t>RL</a:t>
            </a:r>
            <a:r>
              <a:rPr lang="zh-CN" altLang="en-US" sz="4000" b="1">
                <a:latin typeface="微软雅黑"/>
                <a:ea typeface="微软雅黑"/>
                <a:cs typeface="微软雅黑"/>
              </a:rPr>
              <a:t>强化</a:t>
            </a:r>
            <a:r>
              <a:rPr lang="zh-CN" altLang="en-US" sz="4000" b="1">
                <a:latin typeface="微软雅黑"/>
                <a:ea typeface="微软雅黑"/>
                <a:cs typeface="微软雅黑"/>
              </a:rPr>
              <a:t>学习</a:t>
            </a:r>
            <a:endParaRPr lang="zh-CN" altLang="en-US" sz="4000" b="1"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RL强化学习</a:t>
            </a:r>
            <a:endParaRPr sz="44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等线 Light"/>
                <a:ea typeface="等线 Light"/>
                <a:cs typeface="等线 Light"/>
                <a:hlinkClick r:id="rId2"/>
              </a:rPr>
              <a:t>https://gitcode.com/cann/cann-learning-hub/tree/test/tutorials/rl_training_pipeline/01_environment_setup</a:t>
            </a:r>
            <a:endParaRPr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等线 Light"/>
              <a:ea typeface="等线 Light"/>
              <a:cs typeface="等线 Light"/>
              <a:hlinkClick r:id="rId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Part 1 环境准备</a:t>
            </a:r>
            <a:endParaRPr sz="2400" b="0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2 </a:t>
            </a:r>
            <a:r>
              <a:rPr sz="2400"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RL核心概念</a:t>
            </a:r>
            <a:endParaRPr sz="2400"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C2C2C2"/>
                </a:solidFill>
                <a:latin typeface="微软雅黑"/>
                <a:ea typeface="微软雅黑"/>
                <a:cs typeface="微软雅黑"/>
              </a:rPr>
              <a:t>Part 3 Wordle RL训练实战</a:t>
            </a:r>
            <a:endParaRPr sz="2400" b="0" i="0" u="none" cap="none">
              <a:ln>
                <a:noFill/>
              </a:ln>
              <a:solidFill>
                <a:srgbClr val="C2C2C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4 训练调优与问题排查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2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环境</a:t>
            </a:r>
            <a:r>
              <a:rPr lang="zh-CN"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准备</a:t>
            </a:r>
            <a:endParaRPr lang="zh-CN"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5" name="图片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0204" y="1143000"/>
            <a:ext cx="6331594" cy="3276600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1143000" y="4533900"/>
            <a:ext cx="1981200" cy="36576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234440" y="4564380"/>
            <a:ext cx="1798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比较维度</a:t>
            </a:r>
            <a:endParaRPr sz="114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124200" y="4533900"/>
            <a:ext cx="3962400" cy="36576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215640" y="4564380"/>
            <a:ext cx="37795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SFT</a:t>
            </a:r>
            <a:endParaRPr sz="114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086600" y="4533900"/>
            <a:ext cx="3962400" cy="365760"/>
          </a:xfrm>
          <a:prstGeom prst="rect">
            <a:avLst/>
          </a:prstGeom>
          <a:solidFill>
            <a:srgbClr val="43A047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178040" y="4564380"/>
            <a:ext cx="37795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RL / GRPO</a:t>
            </a:r>
            <a:endParaRPr sz="114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43000" y="4899660"/>
            <a:ext cx="1981200" cy="3810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234440" y="4930140"/>
            <a:ext cx="17983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监督信号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124200" y="4899660"/>
            <a:ext cx="3962400" cy="3810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3215640" y="4930140"/>
            <a:ext cx="3779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每个 token 的标准标签</a:t>
            </a:r>
            <a:endParaRPr sz="10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086600" y="4899660"/>
            <a:ext cx="3962400" cy="3810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178040" y="4930140"/>
            <a:ext cx="3779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整条 rollout 的奖励</a:t>
            </a:r>
            <a:endParaRPr sz="10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143000" y="5280660"/>
            <a:ext cx="19812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234440" y="5311140"/>
            <a:ext cx="17983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训练动作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124200" y="5280660"/>
            <a:ext cx="39624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3215640" y="5311140"/>
            <a:ext cx="3779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模仿参考答案</a:t>
            </a:r>
            <a:endParaRPr sz="10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086600" y="5280660"/>
            <a:ext cx="39624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178040" y="5311140"/>
            <a:ext cx="3779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提高高奖励输出的概率</a:t>
            </a:r>
            <a:endParaRPr sz="10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143000" y="5661660"/>
            <a:ext cx="1981200" cy="3810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1234440" y="5692140"/>
            <a:ext cx="17983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Wordle 难点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3124200" y="5661660"/>
            <a:ext cx="3962400" cy="3810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3215640" y="5692140"/>
            <a:ext cx="3779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最优每步答案难以标注</a:t>
            </a:r>
            <a:endParaRPr sz="10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086600" y="5661660"/>
            <a:ext cx="3962400" cy="3810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178040" y="5692140"/>
            <a:ext cx="3779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环境可直接计算结果好坏</a:t>
            </a:r>
            <a:endParaRPr sz="10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2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580">
                <a:sym typeface="+mn-ea"/>
              </a:rPr>
              <a:t>环境准备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5" name="图片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444549"/>
            <a:ext cx="5943600" cy="3206902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6858000" y="1104900"/>
            <a:ext cx="32004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职责分工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6858000" y="1600200"/>
            <a:ext cx="4495800" cy="685800"/>
          </a:xfrm>
          <a:prstGeom prst="roundRect">
            <a:avLst>
              <a:gd name="adj" fmla="val 666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086600" y="1752600"/>
            <a:ext cx="12954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377D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560" b="1">
                <a:solidFill>
                  <a:srgbClr val="377D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verl</a:t>
            </a:r>
            <a:endParaRPr sz="1560" b="1">
              <a:solidFill>
                <a:srgbClr val="377D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458200" y="1714500"/>
            <a:ext cx="262890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调度 rollout、reward、advantage 与策略更新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6858000" y="2514600"/>
            <a:ext cx="4495800" cy="685800"/>
          </a:xfrm>
          <a:prstGeom prst="roundRect">
            <a:avLst>
              <a:gd name="adj" fmla="val 666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86600" y="2667000"/>
            <a:ext cx="12954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43A047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560" b="1">
                <a:solidFill>
                  <a:srgbClr val="43A047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vLLM</a:t>
            </a:r>
            <a:endParaRPr sz="1560" b="1">
              <a:solidFill>
                <a:srgbClr val="43A047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458200" y="2628900"/>
            <a:ext cx="262890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高吞吐生成模型回复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: 圆角 12"/>
          <p:cNvSpPr>
            <a:spLocks noGrp="1"/>
          </p:cNvSpPr>
          <p:nvPr/>
        </p:nvSpPr>
        <p:spPr>
          <a:xfrm>
            <a:off x="6858000" y="3429000"/>
            <a:ext cx="4495800" cy="685800"/>
          </a:xfrm>
          <a:prstGeom prst="roundRect">
            <a:avLst>
              <a:gd name="adj" fmla="val 666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086600" y="3581400"/>
            <a:ext cx="12954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225"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F57C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560" b="1">
                <a:solidFill>
                  <a:srgbClr val="F57C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vLLM-Ascend</a:t>
            </a:r>
            <a:endParaRPr sz="1560" b="1">
              <a:solidFill>
                <a:srgbClr val="F57C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458200" y="3543300"/>
            <a:ext cx="262890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把 vLLM 适配到 Ascend NPU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: 圆角 15"/>
          <p:cNvSpPr>
            <a:spLocks noGrp="1"/>
          </p:cNvSpPr>
          <p:nvPr/>
        </p:nvSpPr>
        <p:spPr>
          <a:xfrm>
            <a:off x="6858000" y="4533900"/>
            <a:ext cx="4495800" cy="952500"/>
          </a:xfrm>
          <a:prstGeom prst="roundRect">
            <a:avLst>
              <a:gd name="adj" fmla="val 4800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010400" y="4640580"/>
            <a:ext cx="4191000" cy="739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143"/>
          </a:bodyPr>
          <a:lstStyle/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CANN 9.0.0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PyTorch / torch_npu 2.9.0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vLLM / vLLM-Ascend 0.18.0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verl 0.8.0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1371600" y="5676900"/>
            <a:ext cx="9448800" cy="396240"/>
          </a:xfrm>
          <a:prstGeom prst="roundRect">
            <a:avLst>
              <a:gd name="adj" fmla="val 11538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638300" y="5676900"/>
            <a:ext cx="89154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verl 管理闭环，vLLM 负责生成，Ascend NPU 提供计算。</a:t>
            </a:r>
            <a:endParaRPr sz="13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2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580">
                <a:sym typeface="+mn-ea"/>
              </a:rPr>
              <a:t>环境准备</a:t>
            </a:r>
            <a:endParaRPr sz="258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85800" y="1257300"/>
            <a:ext cx="3467100" cy="1447800"/>
          </a:xfrm>
          <a:prstGeom prst="roundRect">
            <a:avLst>
              <a:gd name="adj" fmla="val 3158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6300" y="144780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44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371600" y="1432560"/>
            <a:ext cx="1676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vLLM</a:t>
            </a:r>
            <a:endParaRPr sz="162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3124200" y="1432560"/>
            <a:ext cx="800100" cy="304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185160" y="1432560"/>
            <a:ext cx="6781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v0.18.0</a:t>
            </a:r>
            <a:endParaRPr sz="108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76300" y="2057400"/>
            <a:ext cx="3086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683" lnSpcReduction="10000"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0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50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cd /home/developer/vllm</a:t>
            </a:r>
            <a:endParaRPr sz="1050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0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50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VLLM_TARGET_DEVICE=empty \</a:t>
            </a:r>
            <a:endParaRPr sz="1050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0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50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pip install -v -e .</a:t>
            </a:r>
            <a:endParaRPr sz="1050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4457700" y="1257300"/>
            <a:ext cx="3467100" cy="1447800"/>
          </a:xfrm>
          <a:prstGeom prst="roundRect">
            <a:avLst>
              <a:gd name="adj" fmla="val 3158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648200" y="144780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 i="0" u="none" cap="none">
                <a:ln>
                  <a:noFill/>
                </a:ln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440" b="1" i="0" u="none" cap="none">
              <a:ln>
                <a:noFill/>
              </a:ln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43500" y="1432560"/>
            <a:ext cx="1676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vLLM-Ascend</a:t>
            </a:r>
            <a:endParaRPr sz="162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6896100" y="1432560"/>
            <a:ext cx="800100" cy="304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957060" y="1432560"/>
            <a:ext cx="6781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v0.18.0</a:t>
            </a:r>
            <a:endParaRPr sz="1080" b="1" i="0" u="none" cap="none">
              <a:ln>
                <a:noFill/>
              </a:ln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648200" y="2057400"/>
            <a:ext cx="3086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8713"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4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940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cd /home/developer/vllm-ascend</a:t>
            </a:r>
            <a:endParaRPr sz="940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4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940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git submodule update --init --recursive</a:t>
            </a:r>
            <a:endParaRPr sz="940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4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940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pip install -v -e .</a:t>
            </a:r>
            <a:endParaRPr sz="940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矩形: 圆角 16"/>
          <p:cNvSpPr>
            <a:spLocks noGrp="1"/>
          </p:cNvSpPr>
          <p:nvPr/>
        </p:nvSpPr>
        <p:spPr>
          <a:xfrm>
            <a:off x="8229600" y="1257300"/>
            <a:ext cx="3467100" cy="1447800"/>
          </a:xfrm>
          <a:prstGeom prst="roundRect">
            <a:avLst>
              <a:gd name="adj" fmla="val 3158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420100" y="144780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 i="0" u="none" cap="none">
                <a:ln>
                  <a:noFill/>
                </a:ln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440" b="1" i="0" u="none" cap="none">
              <a:ln>
                <a:noFill/>
              </a:ln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915400" y="1432560"/>
            <a:ext cx="1676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verl</a:t>
            </a:r>
            <a:endParaRPr sz="162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: 圆角 19"/>
          <p:cNvSpPr>
            <a:spLocks noGrp="1"/>
          </p:cNvSpPr>
          <p:nvPr/>
        </p:nvSpPr>
        <p:spPr>
          <a:xfrm>
            <a:off x="10668000" y="1432560"/>
            <a:ext cx="800100" cy="304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0728960" y="1432560"/>
            <a:ext cx="6781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v0.8.0</a:t>
            </a:r>
            <a:endParaRPr sz="1080" b="1" i="0" u="none" cap="none">
              <a:ln>
                <a:noFill/>
              </a:ln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420100" y="2057400"/>
            <a:ext cx="3086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5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125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cd llm_rl/qwen3_wordle/verl</a:t>
            </a:r>
            <a:endParaRPr sz="1125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5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125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pip install -v -e .</a:t>
            </a:r>
            <a:endParaRPr sz="1125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85800" y="3124200"/>
            <a:ext cx="4572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Wordle 专用补丁与依赖</a:t>
            </a:r>
            <a:endParaRPr sz="168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: 圆角 23"/>
          <p:cNvSpPr>
            <a:spLocks noGrp="1"/>
          </p:cNvSpPr>
          <p:nvPr/>
        </p:nvSpPr>
        <p:spPr>
          <a:xfrm>
            <a:off x="685800" y="3581400"/>
            <a:ext cx="6248400" cy="1295400"/>
          </a:xfrm>
          <a:prstGeom prst="roundRect">
            <a:avLst>
              <a:gd name="adj" fmla="val 3529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838200" y="3688080"/>
            <a:ext cx="5943600" cy="1082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4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4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cd llm_rl/qwen3_wordle</a:t>
            </a:r>
            <a:endParaRPr sz="94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4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4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-r requirements.txt</a:t>
            </a:r>
            <a:endParaRPr sz="94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4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4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python3 -c "import nltk; nltk.download('words'); \</a:t>
            </a:r>
            <a:endParaRPr sz="94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4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4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nltk.download('averaged_perceptron_tagger_eng')"</a:t>
            </a:r>
            <a:endParaRPr sz="94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4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4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cd verl &amp;&amp; git apply ../patches/0001-wordle-agent-loop.patch</a:t>
            </a:r>
            <a:endParaRPr sz="94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67600" y="3124200"/>
            <a:ext cx="2743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验收命令（终端执行）</a:t>
            </a:r>
            <a:endParaRPr sz="165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: 圆角 26"/>
          <p:cNvSpPr>
            <a:spLocks noGrp="1"/>
          </p:cNvSpPr>
          <p:nvPr/>
        </p:nvSpPr>
        <p:spPr>
          <a:xfrm>
            <a:off x="7315200" y="3581400"/>
            <a:ext cx="4038600" cy="1295400"/>
          </a:xfrm>
          <a:prstGeom prst="roundRect">
            <a:avLst>
              <a:gd name="adj" fmla="val 3529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467600" y="3688080"/>
            <a:ext cx="3733800" cy="1082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623"/>
          </a:bodyPr>
          <a:lstStyle/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79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79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cd llm_rl/qwen3_wordle</a:t>
            </a:r>
            <a:endParaRPr sz="79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79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79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python3 -c "</a:t>
            </a:r>
            <a:endParaRPr sz="79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79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79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from verl.experimental.agent_loop.wordle_agent_loop import WordleAgentLoop</a:t>
            </a:r>
            <a:endParaRPr sz="79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79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79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from importlib.metadata import version</a:t>
            </a:r>
            <a:endParaRPr sz="79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79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79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print('verl:', version('verl'))</a:t>
            </a:r>
            <a:endParaRPr sz="79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79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79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print('vllm:', version('vllm'))</a:t>
            </a:r>
            <a:endParaRPr sz="79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79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79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print('All imports OK')</a:t>
            </a:r>
            <a:endParaRPr sz="79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79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79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"</a:t>
            </a:r>
            <a:endParaRPr sz="79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前置：按卡片版本 clone；vLLM / vLLM-Ascend 放到 /home/developer，verl 放到 llm_rl/qwen3_wordle。</a:t>
            </a:r>
            <a:endParaRPr sz="12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随后从 CANNLab 默认的 cann-recipes-train 根目录执行本页命令。</a:t>
            </a:r>
            <a:endParaRPr sz="12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0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580">
                <a:sym typeface="+mn-ea"/>
              </a:rPr>
              <a:t>环境准备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3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191" y="1104900"/>
            <a:ext cx="8987619" cy="4152900"/>
          </a:xfrm>
          <a:prstGeom prst="rect">
            <a:avLst/>
          </a:prstGeom>
        </p:spPr>
      </p:pic>
      <p:sp>
        <p:nvSpPr>
          <p:cNvPr id="6" name="矩形: 圆角 5"/>
          <p:cNvSpPr>
            <a:spLocks noGrp="1"/>
          </p:cNvSpPr>
          <p:nvPr/>
        </p:nvSpPr>
        <p:spPr>
          <a:xfrm>
            <a:off x="6858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001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TaskRunner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8669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发起每一步训练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35433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6576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234"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AgentLoop + vLLM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7244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完成多轮 rollout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64008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5151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234"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Reward + Advantage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5819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把结果转成学习信号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92583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3726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697"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Ray Train / FSDP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4394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更新 Actor 参数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3" name="图片 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220">
                <a:sym typeface="+mn-ea"/>
              </a:rPr>
              <a:t>环境准备</a:t>
            </a:r>
            <a:endParaRPr sz="222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8768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同一组卡按阶段切换角色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76400"/>
            <a:ext cx="1905000" cy="838200"/>
          </a:xfrm>
          <a:prstGeom prst="roundRect">
            <a:avLst>
              <a:gd name="adj" fmla="val 5455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00100" y="18288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训练 Step N-1</a:t>
            </a:r>
            <a:endParaRPr sz="12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00100" y="2179320"/>
            <a:ext cx="16764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FSDP 占用设备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606040" y="192024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2895600" y="1676400"/>
            <a:ext cx="1905000" cy="83820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9525">
            <a:solidFill>
              <a:srgbClr val="525252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009900" y="18288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sleep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009900" y="2179320"/>
            <a:ext cx="16764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参数 offload 到 CPU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815840" y="192024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5105400" y="1676400"/>
            <a:ext cx="1905000" cy="838200"/>
          </a:xfrm>
          <a:prstGeom prst="roundRect">
            <a:avLst>
              <a:gd name="adj" fmla="val 5455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219700" y="18288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推理 Step N</a:t>
            </a:r>
            <a:endParaRPr sz="120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219700" y="2179320"/>
            <a:ext cx="16764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vLLM TP=2 生成 rollout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025640" y="192024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7315200" y="1676400"/>
            <a:ext cx="1905000" cy="83820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9525">
            <a:solidFill>
              <a:srgbClr val="52525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429500" y="18288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wake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429500" y="2179320"/>
            <a:ext cx="16764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恢复训练参数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235440" y="192024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: 圆角 21"/>
          <p:cNvSpPr>
            <a:spLocks noGrp="1"/>
          </p:cNvSpPr>
          <p:nvPr/>
        </p:nvSpPr>
        <p:spPr>
          <a:xfrm>
            <a:off x="9525000" y="1676400"/>
            <a:ext cx="1905000" cy="838200"/>
          </a:xfrm>
          <a:prstGeom prst="roundRect">
            <a:avLst>
              <a:gd name="adj" fmla="val 5455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9639300" y="18288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训练 Step N</a:t>
            </a:r>
            <a:endParaRPr sz="12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639300" y="2179320"/>
            <a:ext cx="16764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FSDP 更新 Actor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85800" y="3048000"/>
            <a:ext cx="2286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关键配置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: 圆角 25"/>
          <p:cNvSpPr>
            <a:spLocks noGrp="1"/>
          </p:cNvSpPr>
          <p:nvPr/>
        </p:nvSpPr>
        <p:spPr>
          <a:xfrm>
            <a:off x="685800" y="3543300"/>
            <a:ext cx="3429000" cy="624840"/>
          </a:xfrm>
          <a:prstGeom prst="roundRect">
            <a:avLst>
              <a:gd name="adj" fmla="val 731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38200" y="3634740"/>
            <a:ext cx="1409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rollout.n</a:t>
            </a:r>
            <a:endParaRPr sz="108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2324100" y="3619500"/>
            <a:ext cx="609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12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3009900" y="3619500"/>
            <a:ext cx="9525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每个 prompt 的组大小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: 圆角 29"/>
          <p:cNvSpPr>
            <a:spLocks noGrp="1"/>
          </p:cNvSpPr>
          <p:nvPr/>
        </p:nvSpPr>
        <p:spPr>
          <a:xfrm>
            <a:off x="4419600" y="3543300"/>
            <a:ext cx="3429000" cy="624840"/>
          </a:xfrm>
          <a:prstGeom prst="roundRect">
            <a:avLst>
              <a:gd name="adj" fmla="val 731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4572000" y="3634740"/>
            <a:ext cx="1409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train_batch_size</a:t>
            </a:r>
            <a:endParaRPr sz="108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057900" y="3619500"/>
            <a:ext cx="609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64</a:t>
            </a:r>
            <a:endParaRPr sz="12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6743700" y="3619500"/>
            <a:ext cx="9525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每步 prompt 数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: 圆角 33"/>
          <p:cNvSpPr>
            <a:spLocks noGrp="1"/>
          </p:cNvSpPr>
          <p:nvPr/>
        </p:nvSpPr>
        <p:spPr>
          <a:xfrm>
            <a:off x="8153400" y="3543300"/>
            <a:ext cx="3429000" cy="624840"/>
          </a:xfrm>
          <a:prstGeom prst="roundRect">
            <a:avLst>
              <a:gd name="adj" fmla="val 731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8305800" y="3634740"/>
            <a:ext cx="1409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rollout TP</a:t>
            </a:r>
            <a:endParaRPr sz="108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9791700" y="3619500"/>
            <a:ext cx="609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2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10477500" y="3619500"/>
            <a:ext cx="9525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vLLM 张量并行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: 圆角 37"/>
          <p:cNvSpPr>
            <a:spLocks noGrp="1"/>
          </p:cNvSpPr>
          <p:nvPr/>
        </p:nvSpPr>
        <p:spPr>
          <a:xfrm>
            <a:off x="685800" y="4343400"/>
            <a:ext cx="3429000" cy="624840"/>
          </a:xfrm>
          <a:prstGeom prst="roundRect">
            <a:avLst>
              <a:gd name="adj" fmla="val 731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838200" y="4434840"/>
            <a:ext cx="1409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max_user_turns</a:t>
            </a:r>
            <a:endParaRPr sz="108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2324100" y="4419600"/>
            <a:ext cx="609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20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3009900" y="4419600"/>
            <a:ext cx="9525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最大猜词轮次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: 圆角 41"/>
          <p:cNvSpPr>
            <a:spLocks noGrp="1"/>
          </p:cNvSpPr>
          <p:nvPr/>
        </p:nvSpPr>
        <p:spPr>
          <a:xfrm>
            <a:off x="4419600" y="4343400"/>
            <a:ext cx="3429000" cy="624840"/>
          </a:xfrm>
          <a:prstGeom prst="roundRect">
            <a:avLst>
              <a:gd name="adj" fmla="val 731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4572000" y="4434840"/>
            <a:ext cx="1409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actor.lr</a:t>
            </a:r>
            <a:endParaRPr sz="108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6057900" y="4419600"/>
            <a:ext cx="609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1e-6</a:t>
            </a:r>
            <a:endParaRPr sz="120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6743700" y="4419600"/>
            <a:ext cx="9525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策略学习率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6" name="矩形: 圆角 45"/>
          <p:cNvSpPr>
            <a:spLocks noGrp="1"/>
          </p:cNvSpPr>
          <p:nvPr/>
        </p:nvSpPr>
        <p:spPr>
          <a:xfrm>
            <a:off x="8153400" y="4343400"/>
            <a:ext cx="3429000" cy="624840"/>
          </a:xfrm>
          <a:prstGeom prst="roundRect">
            <a:avLst>
              <a:gd name="adj" fmla="val 731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8305800" y="4434840"/>
            <a:ext cx="1409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param_offload</a:t>
            </a:r>
            <a:endParaRPr sz="108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9791700" y="4419600"/>
            <a:ext cx="609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True</a:t>
            </a:r>
            <a:endParaRPr sz="120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10477500" y="4419600"/>
            <a:ext cx="9525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训练参数卸载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0" name="矩形: 圆角 49"/>
          <p:cNvSpPr>
            <a:spLocks noGrp="1"/>
          </p:cNvSpPr>
          <p:nvPr/>
        </p:nvSpPr>
        <p:spPr>
          <a:xfrm>
            <a:off x="1371600" y="53721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1638300" y="53721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Hybrid Engine 解决的是训练与推理的资源互斥和切换。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RL强化学习</a:t>
            </a:r>
            <a:endParaRPr sz="44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等线 Light"/>
                <a:ea typeface="等线 Light"/>
                <a:cs typeface="等线 Light"/>
                <a:hlinkClick r:id="rId2"/>
              </a:rPr>
              <a:t>https://gitcode.com/cann/cann-learning-hub/tree/test/tutorials/rl_training_pipeline/02_rl_core_concepts</a:t>
            </a:r>
            <a:endParaRPr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等线 Light"/>
              <a:ea typeface="等线 Light"/>
              <a:cs typeface="等线 Light"/>
              <a:hlinkClick r:id="rId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1 环境准备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Part 2 </a:t>
            </a:r>
            <a:r>
              <a:rPr sz="240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RL核心概念</a:t>
            </a:r>
            <a:endParaRPr sz="240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C2C2C2"/>
                </a:solidFill>
                <a:latin typeface="微软雅黑"/>
                <a:ea typeface="微软雅黑"/>
                <a:cs typeface="微软雅黑"/>
              </a:rPr>
              <a:t>Part 3 Wordle RL训练实战</a:t>
            </a:r>
            <a:endParaRPr sz="2400" b="0" i="0" u="none" cap="none">
              <a:ln>
                <a:noFill/>
              </a:ln>
              <a:solidFill>
                <a:srgbClr val="C2C2C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4 训练调优与问题排查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4" name="图片 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RL </a:t>
            </a:r>
            <a:r>
              <a:rPr lang="zh-CN"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核心</a:t>
            </a:r>
            <a:r>
              <a:rPr lang="zh-CN"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概念</a:t>
            </a:r>
            <a:endParaRPr lang="zh-CN"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685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没有标准答案时，学习链路如何建立？</a:t>
            </a:r>
            <a:endParaRPr sz="18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866900"/>
            <a:ext cx="1905000" cy="1028700"/>
          </a:xfrm>
          <a:prstGeom prst="roundRect">
            <a:avLst>
              <a:gd name="adj" fmla="val 4444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2057400"/>
            <a:ext cx="16002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500" b="1">
                <a:solidFill>
                  <a:srgbClr val="377D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Prompt</a:t>
            </a:r>
            <a:endParaRPr sz="1500" b="1">
              <a:solidFill>
                <a:srgbClr val="377D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38200" y="2476500"/>
            <a:ext cx="16002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给出任务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613660" y="2209800"/>
            <a:ext cx="28956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2933700" y="1866900"/>
            <a:ext cx="1905000" cy="1028700"/>
          </a:xfrm>
          <a:prstGeom prst="roundRect">
            <a:avLst>
              <a:gd name="adj" fmla="val 4444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086100" y="2057400"/>
            <a:ext cx="16002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8E44AD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500" b="1">
                <a:solidFill>
                  <a:srgbClr val="8E44AD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Policy</a:t>
            </a:r>
            <a:endParaRPr sz="1500" b="1">
              <a:solidFill>
                <a:srgbClr val="8E44AD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086100" y="2476500"/>
            <a:ext cx="16002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采样多条 rollout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861560" y="2209800"/>
            <a:ext cx="28956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5181600" y="1866900"/>
            <a:ext cx="1905000" cy="1028700"/>
          </a:xfrm>
          <a:prstGeom prst="roundRect">
            <a:avLst>
              <a:gd name="adj" fmla="val 4444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334000" y="2057400"/>
            <a:ext cx="16002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F57C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500" b="1">
                <a:solidFill>
                  <a:srgbClr val="F57C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Reward</a:t>
            </a:r>
            <a:endParaRPr sz="1500" b="1">
              <a:solidFill>
                <a:srgbClr val="F57C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334000" y="2476500"/>
            <a:ext cx="16002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规则打分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09460" y="2209800"/>
            <a:ext cx="28956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7429500" y="1866900"/>
            <a:ext cx="1905000" cy="1028700"/>
          </a:xfrm>
          <a:prstGeom prst="roundRect">
            <a:avLst>
              <a:gd name="adj" fmla="val 4444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581900" y="2057400"/>
            <a:ext cx="16002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43A047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500" b="1">
                <a:solidFill>
                  <a:srgbClr val="43A047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Advantage</a:t>
            </a:r>
            <a:endParaRPr sz="1500" b="1">
              <a:solidFill>
                <a:srgbClr val="43A047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581900" y="2476500"/>
            <a:ext cx="16002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组内比较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357360" y="2209800"/>
            <a:ext cx="28956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: 圆角 21"/>
          <p:cNvSpPr>
            <a:spLocks noGrp="1"/>
          </p:cNvSpPr>
          <p:nvPr/>
        </p:nvSpPr>
        <p:spPr>
          <a:xfrm>
            <a:off x="9677400" y="1866900"/>
            <a:ext cx="1905000" cy="1028700"/>
          </a:xfrm>
          <a:prstGeom prst="roundRect">
            <a:avLst>
              <a:gd name="adj" fmla="val 4444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9829800" y="2057400"/>
            <a:ext cx="16002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500" b="1">
                <a:solidFill>
                  <a:srgbClr val="E6001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Update</a:t>
            </a:r>
            <a:endParaRPr sz="1500" b="1">
              <a:solidFill>
                <a:srgbClr val="E6001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829800" y="2476500"/>
            <a:ext cx="16002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提高好输出概率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295400" y="3619500"/>
            <a:ext cx="2667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没有标准答案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295400" y="40767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只定义什么是“好”</a:t>
            </a:r>
            <a:endParaRPr sz="126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4572000" y="3619500"/>
            <a:ext cx="2667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必须探索</a:t>
            </a:r>
            <a:endParaRPr sz="162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572000" y="40767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采样不同策略再比较</a:t>
            </a:r>
            <a:endParaRPr sz="126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7848600" y="3619500"/>
            <a:ext cx="2667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多步决策</a:t>
            </a:r>
            <a:endParaRPr sz="162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848600" y="40767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当前猜词影响后续反馈</a:t>
            </a:r>
            <a:endParaRPr sz="126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: 圆角 30"/>
          <p:cNvSpPr>
            <a:spLocks noGrp="1"/>
          </p:cNvSpPr>
          <p:nvPr/>
        </p:nvSpPr>
        <p:spPr>
          <a:xfrm>
            <a:off x="1371600" y="4991100"/>
            <a:ext cx="9448800" cy="609600"/>
          </a:xfrm>
          <a:prstGeom prst="roundRect">
            <a:avLst>
              <a:gd name="adj" fmla="val 7500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1638300" y="4991100"/>
            <a:ext cx="8915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GRPO 的关键问题：同一个 prompt 的多次尝试中，哪些比平均水平更好？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7" name="图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ym typeface="+mn-ea"/>
              </a:rPr>
              <a:t>RL </a:t>
            </a:r>
            <a:r>
              <a:rPr lang="zh-CN" sz="2580">
                <a:sym typeface="+mn-ea"/>
              </a:rPr>
              <a:t>核心概念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0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0143"/>
            <a:ext cx="6324600" cy="1957614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7315200" y="1181100"/>
            <a:ext cx="3810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训练中同时存在两套策略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7239000" y="1752600"/>
            <a:ext cx="3962400" cy="1181100"/>
          </a:xfrm>
          <a:prstGeom prst="roundRect">
            <a:avLst>
              <a:gd name="adj" fmla="val 3871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543800" y="1943100"/>
            <a:ext cx="33528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当前策略 π</a:t>
            </a:r>
            <a:endParaRPr sz="17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543800" y="2438400"/>
            <a:ext cx="33528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正在训练，每个 step 更新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目标是提高高奖励输出的概率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7239000" y="3276600"/>
            <a:ext cx="3962400" cy="1181100"/>
          </a:xfrm>
          <a:prstGeom prst="roundRect">
            <a:avLst>
              <a:gd name="adj" fmla="val 3871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543800" y="3467100"/>
            <a:ext cx="33528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参考策略 π_ref</a:t>
            </a:r>
            <a:endParaRPr sz="174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543800" y="3962400"/>
            <a:ext cx="33528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固定的 SFT 初始模型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用于限制策略偏离过远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: 圆角 12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RL 优化的不是某个唯一答案，而是整套输出分布。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5" name="图片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ym typeface="+mn-ea"/>
              </a:rPr>
              <a:t>RL </a:t>
            </a:r>
            <a:r>
              <a:rPr lang="zh-CN" sz="2580">
                <a:sym typeface="+mn-ea"/>
              </a:rPr>
              <a:t>核心概念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8" name="图片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604" y="1104900"/>
            <a:ext cx="8386793" cy="3200400"/>
          </a:xfrm>
          <a:prstGeom prst="rect">
            <a:avLst/>
          </a:prstGeom>
        </p:spPr>
      </p:pic>
      <p:sp>
        <p:nvSpPr>
          <p:cNvPr id="6" name="矩形: 圆角 5"/>
          <p:cNvSpPr>
            <a:spLocks noGrp="1"/>
          </p:cNvSpPr>
          <p:nvPr/>
        </p:nvSpPr>
        <p:spPr>
          <a:xfrm>
            <a:off x="685800" y="45720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22960" y="4724400"/>
            <a:ext cx="990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稀疏成功</a:t>
            </a:r>
            <a:endParaRPr sz="10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828800" y="4724400"/>
            <a:ext cx="12573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75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correct_answer</a:t>
            </a:r>
            <a:endParaRPr sz="102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22960" y="5120640"/>
            <a:ext cx="227838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猜中才有，最重要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3505200" y="45720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642360" y="4724400"/>
            <a:ext cx="990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密集中间信号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48200" y="4724400"/>
            <a:ext cx="12573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75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partial_answer</a:t>
            </a:r>
            <a:endParaRPr sz="102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642360" y="5120640"/>
            <a:ext cx="227838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每轮绿/黄字母给分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6324600" y="45720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461760" y="4724400"/>
            <a:ext cx="990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效率约束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467600" y="4724400"/>
            <a:ext cx="12573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75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length_bonus</a:t>
            </a:r>
            <a:endParaRPr sz="102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461760" y="5120640"/>
            <a:ext cx="227838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鼓励更少轮数猜中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9144000" y="45720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281160" y="4724400"/>
            <a:ext cx="990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解析门槛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0287000" y="4724400"/>
            <a:ext cx="12573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75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format_reward</a:t>
            </a:r>
            <a:endParaRPr sz="102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281160" y="5120640"/>
            <a:ext cx="227838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权重低，确保格式有效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2209800" y="5715000"/>
            <a:ext cx="7772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rollout.n=8：同一 prompt 生成 8 次完整游戏，再比较奖励。</a:t>
            </a:r>
            <a:endParaRPr sz="144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6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ym typeface="+mn-ea"/>
              </a:rPr>
              <a:t>RL </a:t>
            </a:r>
            <a:r>
              <a:rPr lang="zh-CN" sz="2580">
                <a:sym typeface="+mn-ea"/>
              </a:rPr>
              <a:t>核心概念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9" name="图片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66382"/>
            <a:ext cx="6629400" cy="1763236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7543800" y="1181100"/>
            <a:ext cx="32766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组内相对优势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7391400" y="1714500"/>
            <a:ext cx="3810000" cy="1981200"/>
          </a:xfrm>
          <a:prstGeom prst="roundRect">
            <a:avLst>
              <a:gd name="adj" fmla="val 2308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543800" y="1821180"/>
            <a:ext cx="3505200" cy="1767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6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32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μ = mean(rewards)</a:t>
            </a:r>
            <a:endParaRPr sz="132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6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32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σ = std(rewards)</a:t>
            </a:r>
            <a:endParaRPr sz="132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endParaRPr sz="1320"/>
          </a:p>
          <a:p>
            <a:pPr algn="l">
              <a:lnSpc>
                <a:spcPct val="118000"/>
              </a:lnSpc>
              <a:buNone/>
              <a:defRPr sz="16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32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Aᵢ = (rᵢ - μ) / σ</a:t>
            </a:r>
            <a:endParaRPr sz="132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endParaRPr sz="1320"/>
          </a:p>
          <a:p>
            <a:pPr algn="l">
              <a:lnSpc>
                <a:spcPct val="118000"/>
              </a:lnSpc>
              <a:buNone/>
              <a:defRPr sz="16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32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Aᵢ &gt; 0  → 强化</a:t>
            </a:r>
            <a:endParaRPr sz="132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6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32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Aᵢ &lt; 0  → 抑制</a:t>
            </a:r>
            <a:endParaRPr sz="132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7391400" y="4000500"/>
            <a:ext cx="3810000" cy="990600"/>
          </a:xfrm>
          <a:prstGeom prst="roundRect">
            <a:avLst>
              <a:gd name="adj" fmla="val 4615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620000" y="4152900"/>
            <a:ext cx="33528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为什么省显存？</a:t>
            </a:r>
            <a:endParaRPr sz="150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620000" y="4556760"/>
            <a:ext cx="3352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306" lnSpcReduction="10000"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无需额外训练 Critic 模型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规则奖励直接用于组内比较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1371600" y="53721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638300" y="53721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GRPO 判断的是“这次尝试是否比同组平均更好”，而不是绝对正确。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7" name="图片 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ym typeface="+mn-ea"/>
              </a:rPr>
              <a:t>RL </a:t>
            </a:r>
            <a:r>
              <a:rPr lang="zh-CN" sz="2580">
                <a:sym typeface="+mn-ea"/>
              </a:rPr>
              <a:t>核心概念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953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PPO Clip 保留在 GRPO 中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38300"/>
            <a:ext cx="4953000" cy="1943100"/>
          </a:xfrm>
          <a:prstGeom prst="roundRect">
            <a:avLst>
              <a:gd name="adj" fmla="val 2353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744980"/>
            <a:ext cx="4648200" cy="1729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ratio = π_new(output) / π_old(output)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endParaRPr sz="1260"/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clip(ratio, 1-ε, 1+ε)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ε ≈ 0.2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endParaRPr sz="1260"/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目的：避免一次更新让策略突变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19800" y="1371600"/>
            <a:ext cx="16764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111240" y="1402080"/>
            <a:ext cx="14935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特性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696200" y="1371600"/>
            <a:ext cx="21336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787640" y="1402080"/>
            <a:ext cx="19507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PPO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829800" y="1371600"/>
            <a:ext cx="2133600" cy="41910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921240" y="1402080"/>
            <a:ext cx="19507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GRPO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019800" y="17907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111240" y="18211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优势 baseline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696200" y="17907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787640" y="18211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Critic 估计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829800" y="17907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921240" y="18211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组内平均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019800" y="2324100"/>
            <a:ext cx="1676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111240" y="23545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额外模型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696200" y="23241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787640" y="23545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需要 Critic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829800" y="23241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921240" y="23545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不需要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019800" y="28575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11240" y="28879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显存开销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696200" y="28575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787640" y="28879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高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829800" y="28575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9921240" y="28879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低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019800" y="3390900"/>
            <a:ext cx="1676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111240" y="34213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适合场景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696200" y="33909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7787640" y="34213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通用价值估计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9829800" y="33909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9921240" y="34213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规则奖励 / 资源受限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019800" y="39243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111240" y="39547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Clip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7696200" y="39243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7787640" y="39547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有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9829800" y="39243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9921240" y="39547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有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矩形: 圆角 43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Wordle </a:t>
            </a: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奖励可由规则直接计算，GRPO</a:t>
            </a: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无需</a:t>
            </a: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 Critic，</a:t>
            </a: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卡能够训练的下</a:t>
            </a: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2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ym typeface="+mn-ea"/>
              </a:rPr>
              <a:t>RL </a:t>
            </a:r>
            <a:r>
              <a:rPr lang="zh-CN" sz="2580">
                <a:sym typeface="+mn-ea"/>
              </a:rPr>
              <a:t>核心概念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5" name="图片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3140" y="1104900"/>
            <a:ext cx="6045721" cy="3086100"/>
          </a:xfrm>
          <a:prstGeom prst="rect">
            <a:avLst/>
          </a:prstGeom>
        </p:spPr>
      </p:pic>
      <p:sp>
        <p:nvSpPr>
          <p:cNvPr id="6" name="矩形: 圆角 5"/>
          <p:cNvSpPr>
            <a:spLocks noGrp="1"/>
          </p:cNvSpPr>
          <p:nvPr/>
        </p:nvSpPr>
        <p:spPr>
          <a:xfrm>
            <a:off x="685800" y="4457700"/>
            <a:ext cx="3429000" cy="914400"/>
          </a:xfrm>
          <a:prstGeom prst="roundRect">
            <a:avLst>
              <a:gd name="adj" fmla="val 5000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4610100"/>
            <a:ext cx="11430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E60012"/>
                </a:solidFill>
                <a:latin typeface="Consolas"/>
                <a:ea typeface="Consolas"/>
                <a:cs typeface="Consolas"/>
              </a:defRPr>
            </a:pPr>
            <a:r>
              <a:rPr sz="1320" b="1">
                <a:solidFill>
                  <a:srgbClr val="E60012"/>
                </a:solidFill>
                <a:latin typeface="Consolas"/>
                <a:ea typeface="Consolas"/>
                <a:cs typeface="Consolas"/>
              </a:rPr>
              <a:t>pg_loss</a:t>
            </a:r>
            <a:endParaRPr sz="1320" b="1">
              <a:solidFill>
                <a:srgbClr val="E6001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057400" y="4610100"/>
            <a:ext cx="18669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朝高奖励方向更新</a:t>
            </a:r>
            <a:endParaRPr sz="12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38200" y="499110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过强会让分布过早收缩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19600" y="4457700"/>
            <a:ext cx="3429000" cy="914400"/>
          </a:xfrm>
          <a:prstGeom prst="roundRect">
            <a:avLst>
              <a:gd name="adj" fmla="val 50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72000" y="4610100"/>
            <a:ext cx="11430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77DFF"/>
                </a:solidFill>
                <a:latin typeface="Consolas"/>
                <a:ea typeface="Consolas"/>
                <a:cs typeface="Consolas"/>
              </a:defRPr>
            </a:pPr>
            <a:r>
              <a:rPr sz="1320" b="1">
                <a:solidFill>
                  <a:srgbClr val="377DFF"/>
                </a:solidFill>
                <a:latin typeface="Consolas"/>
                <a:ea typeface="Consolas"/>
                <a:cs typeface="Consolas"/>
              </a:rPr>
              <a:t>kl_loss</a:t>
            </a:r>
            <a:endParaRPr sz="1320" b="1">
              <a:solidFill>
                <a:srgbClr val="377D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791200" y="4610100"/>
            <a:ext cx="18669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拉回参考策略</a:t>
            </a:r>
            <a:endParaRPr sz="12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572000" y="499110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kl_loss_coef = 0.001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153400" y="4457700"/>
            <a:ext cx="3429000" cy="914400"/>
          </a:xfrm>
          <a:prstGeom prst="roundRect">
            <a:avLst>
              <a:gd name="adj" fmla="val 50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05800" y="4610100"/>
            <a:ext cx="11430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7843"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320" b="1"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entropy_bonus</a:t>
            </a:r>
            <a:endParaRPr sz="1320" b="1"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525000" y="4610100"/>
            <a:ext cx="18669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保持探索能力</a:t>
            </a:r>
            <a:endParaRPr sz="12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05800" y="499110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entropy_coeff 需要谨慎设置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1371600" y="5600700"/>
            <a:ext cx="9448800" cy="396240"/>
          </a:xfrm>
          <a:prstGeom prst="roundRect">
            <a:avLst>
              <a:gd name="adj" fmla="val 11538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638300" y="5600700"/>
            <a:ext cx="89154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健康信号：entropy 缓慢下降，KL 缓慢上升，reward 与 correct 同步改善。</a:t>
            </a:r>
            <a:endParaRPr sz="13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RL强化学习</a:t>
            </a:r>
            <a:endParaRPr sz="44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等线 Light"/>
                <a:ea typeface="等线 Light"/>
                <a:cs typeface="等线 Light"/>
                <a:hlinkClick r:id="rId2"/>
              </a:rPr>
              <a:t>https://gitcode.com/cann/cann-learning-hub/tree/test/tutorials/rl_training_pipeline/03_wordle_rl_training</a:t>
            </a:r>
            <a:endParaRPr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等线 Light"/>
              <a:ea typeface="等线 Light"/>
              <a:cs typeface="等线 Light"/>
              <a:hlinkClick r:id="rId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1 环境准备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2 </a:t>
            </a:r>
            <a:r>
              <a:rPr sz="2400"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RL核心概念</a:t>
            </a:r>
            <a:endParaRPr sz="2400"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Part 3 Wordle RL训练实战</a:t>
            </a:r>
            <a:endParaRPr sz="2400" b="0" i="0" u="none" cap="none">
              <a:ln>
                <a:noFill/>
              </a:ln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CACACA"/>
                </a:solidFill>
                <a:latin typeface="微软雅黑"/>
                <a:ea typeface="微软雅黑"/>
                <a:cs typeface="微软雅黑"/>
              </a:rPr>
              <a:t>Part 4 训练调优与问题排查</a:t>
            </a:r>
            <a:endParaRPr sz="2400" b="0" i="0" u="none" cap="none">
              <a:ln>
                <a:noFill/>
              </a:ln>
              <a:solidFill>
                <a:srgbClr val="CACAC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3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Wordle </a:t>
            </a:r>
            <a:r>
              <a:rPr lang="en-US"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RL</a:t>
            </a:r>
            <a:r>
              <a:rPr lang="zh-CN" altLang="en-US"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实战</a:t>
            </a: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训练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5334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一次 GRPO step 发生什么？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716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读取 prompt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训练数据给出秘密词与游戏提示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196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054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生成 8 条 rollout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101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WordleAgentLoop + vLLM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1534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439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8392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环境反馈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439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每轮追加 G / Y / X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6858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763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3716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奖励打分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correct / partial / length / format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: 圆角 21"/>
          <p:cNvSpPr>
            <a:spLocks noGrp="1"/>
          </p:cNvSpPr>
          <p:nvPr/>
        </p:nvSpPr>
        <p:spPr>
          <a:xfrm>
            <a:off x="44196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6101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1054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组内优势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6101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同 prompt 内标准化奖励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: 圆角 25"/>
          <p:cNvSpPr>
            <a:spLocks noGrp="1"/>
          </p:cNvSpPr>
          <p:nvPr/>
        </p:nvSpPr>
        <p:spPr>
          <a:xfrm>
            <a:off x="81534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3439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8392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更新 Actor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3439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FSDP 执行 GRPO 更新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: 圆角 29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每个 step 都包含推理、环境交互、奖励计算和策略更新。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9" name="图片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220">
                <a:sym typeface="+mn-ea"/>
              </a:rPr>
              <a:t>Wordle </a:t>
            </a:r>
            <a:r>
              <a:rPr lang="en-US" sz="2220">
                <a:sym typeface="+mn-ea"/>
              </a:rPr>
              <a:t>RL</a:t>
            </a:r>
            <a:r>
              <a:rPr lang="zh-CN" altLang="en-US" sz="2220">
                <a:sym typeface="+mn-ea"/>
              </a:rPr>
              <a:t>实战</a:t>
            </a:r>
            <a:r>
              <a:rPr sz="2220">
                <a:sym typeface="+mn-ea"/>
              </a:rPr>
              <a:t>训练</a:t>
            </a:r>
            <a:endParaRPr sz="222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2" name="图片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0" y="1104900"/>
            <a:ext cx="6604000" cy="3962400"/>
          </a:xfrm>
          <a:prstGeom prst="rect">
            <a:avLst/>
          </a:prstGeom>
        </p:spPr>
      </p:pic>
      <p:sp>
        <p:nvSpPr>
          <p:cNvPr id="6" name="矩形: 圆角 5"/>
          <p:cNvSpPr>
            <a:spLocks noGrp="1"/>
          </p:cNvSpPr>
          <p:nvPr/>
        </p:nvSpPr>
        <p:spPr>
          <a:xfrm>
            <a:off x="685800" y="5257800"/>
            <a:ext cx="1905000" cy="419100"/>
          </a:xfrm>
          <a:prstGeom prst="roundRect">
            <a:avLst>
              <a:gd name="adj" fmla="val 10909"/>
            </a:avLst>
          </a:prstGeom>
          <a:solidFill>
            <a:srgbClr val="EEF4FF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6760" y="5257800"/>
            <a:ext cx="178308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发送 prompt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2933700" y="5257800"/>
            <a:ext cx="1905000" cy="419100"/>
          </a:xfrm>
          <a:prstGeom prst="roundRect">
            <a:avLst>
              <a:gd name="adj" fmla="val 10909"/>
            </a:avLst>
          </a:prstGeom>
          <a:solidFill>
            <a:srgbClr val="EDF7EC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994660" y="5257800"/>
            <a:ext cx="178308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解析 &lt;guess&gt;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5181600" y="5257800"/>
            <a:ext cx="1905000" cy="419100"/>
          </a:xfrm>
          <a:prstGeom prst="roundRect">
            <a:avLst>
              <a:gd name="adj" fmla="val 10909"/>
            </a:avLst>
          </a:prstGeom>
          <a:solidFill>
            <a:srgbClr val="FFF3E5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5242560" y="5257800"/>
            <a:ext cx="178308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计算 G/Y/X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7429500" y="5257800"/>
            <a:ext cx="1905000" cy="419100"/>
          </a:xfrm>
          <a:prstGeom prst="roundRect">
            <a:avLst>
              <a:gd name="adj" fmla="val 10909"/>
            </a:avLst>
          </a:prstGeom>
          <a:solidFill>
            <a:srgbClr val="F7EFFA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490460" y="5257800"/>
            <a:ext cx="178308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追加反馈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9677400" y="5257800"/>
            <a:ext cx="1905000" cy="419100"/>
          </a:xfrm>
          <a:prstGeom prst="roundRect">
            <a:avLst>
              <a:gd name="adj" fmla="val 10909"/>
            </a:avLst>
          </a:prstGeom>
          <a:solidFill>
            <a:srgbClr val="FFF1F2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738360" y="5257800"/>
            <a:ext cx="178308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直到猜中或 6 轮</a:t>
            </a:r>
            <a:endParaRPr sz="10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905000" y="5829300"/>
            <a:ext cx="8382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AgentLoop 把环境反馈重新写回上下文，使下一次猜词依赖前一轮结果。</a:t>
            </a:r>
            <a:endParaRPr sz="13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4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220">
                <a:sym typeface="+mn-ea"/>
              </a:rPr>
              <a:t>Wordle </a:t>
            </a:r>
            <a:r>
              <a:rPr lang="en-US" sz="2220">
                <a:sym typeface="+mn-ea"/>
              </a:rPr>
              <a:t>RL</a:t>
            </a:r>
            <a:r>
              <a:rPr lang="zh-CN" altLang="en-US" sz="2220">
                <a:sym typeface="+mn-ea"/>
              </a:rPr>
              <a:t>实战</a:t>
            </a:r>
            <a:r>
              <a:rPr sz="2220">
                <a:sym typeface="+mn-ea"/>
              </a:rPr>
              <a:t>训练</a:t>
            </a:r>
            <a:endParaRPr sz="222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7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857" y="1104900"/>
            <a:ext cx="7402286" cy="3886200"/>
          </a:xfrm>
          <a:prstGeom prst="rect">
            <a:avLst/>
          </a:prstGeom>
        </p:spPr>
      </p:pic>
      <p:sp>
        <p:nvSpPr>
          <p:cNvPr id="6" name="矩形: 圆角 5"/>
          <p:cNvSpPr>
            <a:spLocks noGrp="1"/>
          </p:cNvSpPr>
          <p:nvPr/>
        </p:nvSpPr>
        <p:spPr>
          <a:xfrm>
            <a:off x="1371600" y="5257800"/>
            <a:ext cx="3962400" cy="685800"/>
          </a:xfrm>
          <a:prstGeom prst="roundRect">
            <a:avLst>
              <a:gd name="adj" fmla="val 666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676400" y="5372100"/>
            <a:ext cx="1143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E7D32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2E7D32"/>
                </a:solidFill>
                <a:latin typeface="Consolas"/>
                <a:ea typeface="Consolas"/>
                <a:cs typeface="Consolas"/>
              </a:rPr>
              <a:t>mask = 1</a:t>
            </a:r>
            <a:endParaRPr sz="1500" b="1">
              <a:solidFill>
                <a:srgbClr val="2E7D3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971800" y="5334000"/>
            <a:ext cx="20574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Assistant 生成 token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参与 policy gradient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6858000" y="5257800"/>
            <a:ext cx="3962400" cy="685800"/>
          </a:xfrm>
          <a:prstGeom prst="roundRect">
            <a:avLst>
              <a:gd name="adj" fmla="val 666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162800" y="5372100"/>
            <a:ext cx="1143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F57C0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F57C00"/>
                </a:solidFill>
                <a:latin typeface="Consolas"/>
                <a:ea typeface="Consolas"/>
                <a:cs typeface="Consolas"/>
              </a:rPr>
              <a:t>mask = 0</a:t>
            </a:r>
            <a:endParaRPr sz="1500" b="1">
              <a:solidFill>
                <a:srgbClr val="F57C0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458200" y="5334000"/>
            <a:ext cx="20574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环境追加 feedback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只作为上下文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9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ym typeface="+mn-ea"/>
              </a:rPr>
              <a:t>Wordle </a:t>
            </a:r>
            <a:r>
              <a:rPr lang="en-US" sz="2580">
                <a:sym typeface="+mn-ea"/>
              </a:rPr>
              <a:t>RL</a:t>
            </a:r>
            <a:r>
              <a:rPr lang="zh-CN" altLang="en-US" sz="2580">
                <a:sym typeface="+mn-ea"/>
              </a:rPr>
              <a:t>实战</a:t>
            </a:r>
            <a:r>
              <a:rPr sz="2580">
                <a:sym typeface="+mn-ea"/>
              </a:rPr>
              <a:t>训练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191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奖励计算示例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38300"/>
            <a:ext cx="4724400" cy="228600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744980"/>
            <a:ext cx="4419600" cy="2072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5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2 轮猜中 crane</a:t>
            </a:r>
            <a:endParaRPr sz="12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5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correct_answer = 1.0</a:t>
            </a:r>
            <a:endParaRPr sz="12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5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partial_answer = 0.0</a:t>
            </a:r>
            <a:endParaRPr sz="12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5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length_bonus   = 1 / 2 = 0.5</a:t>
            </a:r>
            <a:endParaRPr sz="12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5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format_reward  = 1.0 × 0.2 = 0.2</a:t>
            </a:r>
            <a:endParaRPr sz="12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endParaRPr sz="1200"/>
          </a:p>
          <a:p>
            <a:pPr algn="l">
              <a:lnSpc>
                <a:spcPct val="118000"/>
              </a:lnSpc>
              <a:buNone/>
              <a:defRPr sz="15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总奖励 = 1.7</a:t>
            </a:r>
            <a:endParaRPr sz="12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248400" y="1104900"/>
            <a:ext cx="4191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训练数据字段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6096000" y="1638300"/>
            <a:ext cx="5257800" cy="228600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248400" y="1744980"/>
            <a:ext cx="4953000" cy="2072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{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prompt: [system, user],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raw_prompt: [...],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answer: "crane",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index: "wordle_train_crane",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data_source: "wordle",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reward_model: { ground_truth: "crane" }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}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685800" y="4267200"/>
            <a:ext cx="10668000" cy="990600"/>
          </a:xfrm>
          <a:prstGeom prst="roundRect">
            <a:avLst>
              <a:gd name="adj" fmla="val 4615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952500" y="4457700"/>
            <a:ext cx="1371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数据生成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438400" y="4419600"/>
            <a:ext cx="86106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TextArena Wordle-v0 词表 → NLTK 过滤 5 字母名词 → 2000 条 train + 20 条 test parquet</a:t>
            </a:r>
            <a:endParaRPr sz="13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2438400" y="4876800"/>
            <a:ext cx="8001000" cy="342900"/>
          </a:xfrm>
          <a:prstGeom prst="roundRect">
            <a:avLst>
              <a:gd name="adj" fmla="val 13333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2590800" y="4983480"/>
            <a:ext cx="7696200" cy="1295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2535" lnSpcReduction="10000"/>
          </a:bodyPr>
          <a:lstStyle/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python3 prepare_data.py --num_train 2000 --num_test 20 --output_dir data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6" name="矩形: 圆角 15"/>
          <p:cNvSpPr>
            <a:spLocks noGrp="1"/>
          </p:cNvSpPr>
          <p:nvPr/>
        </p:nvSpPr>
        <p:spPr>
          <a:xfrm>
            <a:off x="1371600" y="5524500"/>
            <a:ext cx="9448800" cy="419100"/>
          </a:xfrm>
          <a:prstGeom prst="roundRect">
            <a:avLst>
              <a:gd name="adj" fmla="val 10909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638300" y="5524500"/>
            <a:ext cx="891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prompt 提供任务，answer 只供环境与奖励函数判断结果。</a:t>
            </a:r>
            <a:endParaRPr sz="13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2" name="图片 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ym typeface="+mn-ea"/>
              </a:rPr>
              <a:t>Wordle </a:t>
            </a:r>
            <a:r>
              <a:rPr lang="en-US" sz="2580">
                <a:sym typeface="+mn-ea"/>
              </a:rPr>
              <a:t>RL</a:t>
            </a:r>
            <a:r>
              <a:rPr lang="zh-CN" altLang="en-US" sz="2580">
                <a:sym typeface="+mn-ea"/>
              </a:rPr>
              <a:t>实战</a:t>
            </a:r>
            <a:r>
              <a:rPr sz="2580">
                <a:sym typeface="+mn-ea"/>
              </a:rPr>
              <a:t>训练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85800" y="1295400"/>
            <a:ext cx="10820400" cy="800100"/>
          </a:xfrm>
          <a:prstGeom prst="roundRect">
            <a:avLst>
              <a:gd name="adj" fmla="val 5714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38200" y="1402080"/>
            <a:ext cx="10515600" cy="586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8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4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ASCEND_RT_VISIBLE_DEVICES=0,1 \</a:t>
            </a:r>
            <a:endParaRPr sz="14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8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4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bash run_qwen3_1.7b_wordle_npu.sh</a:t>
            </a:r>
            <a:endParaRPr sz="14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685800" y="25527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22960" y="26898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MODEL_PATH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362200" y="26670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3099" lnSpcReduction="20000"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Qwen3-1.7B-Wordle-SFT</a:t>
            </a:r>
            <a:endParaRPr sz="11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22960" y="31013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SFT 初始策略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3505200" y="25527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642360" y="26898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TRAIN_BATCH_SIZE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81600" y="26670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64</a:t>
            </a:r>
            <a:endParaRPr sz="11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642360" y="31013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每步 prompt 数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6324600" y="25527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461760" y="26898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ROLLOUT_N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001000" y="26670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11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61760" y="31013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每个 prompt 的尝试数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: 圆角 18"/>
          <p:cNvSpPr>
            <a:spLocks noGrp="1"/>
          </p:cNvSpPr>
          <p:nvPr/>
        </p:nvSpPr>
        <p:spPr>
          <a:xfrm>
            <a:off x="9144000" y="25527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9281160" y="26898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MAX_TURNS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0820400" y="26670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1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281160" y="31013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最大交互轮次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: 圆角 22"/>
          <p:cNvSpPr>
            <a:spLocks noGrp="1"/>
          </p:cNvSpPr>
          <p:nvPr/>
        </p:nvSpPr>
        <p:spPr>
          <a:xfrm>
            <a:off x="685800" y="37338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22960" y="38709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ACTOR_LR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362200" y="38481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1e-6</a:t>
            </a:r>
            <a:endParaRPr sz="114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22960" y="42824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策略更新步长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: 圆角 26"/>
          <p:cNvSpPr>
            <a:spLocks noGrp="1"/>
          </p:cNvSpPr>
          <p:nvPr/>
        </p:nvSpPr>
        <p:spPr>
          <a:xfrm>
            <a:off x="3505200" y="37338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3642360" y="38709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ROLLOUT_TP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5181600" y="38481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14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3642360" y="42824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vLLM 张量并行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: 圆角 30"/>
          <p:cNvSpPr>
            <a:spLocks noGrp="1"/>
          </p:cNvSpPr>
          <p:nvPr/>
        </p:nvSpPr>
        <p:spPr>
          <a:xfrm>
            <a:off x="6324600" y="37338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461760" y="38709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MAX_PROMPT_LENGTH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001000" y="38481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1024</a:t>
            </a:r>
            <a:endParaRPr sz="114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461760" y="42824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输入上限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: 圆角 34"/>
          <p:cNvSpPr>
            <a:spLocks noGrp="1"/>
          </p:cNvSpPr>
          <p:nvPr/>
        </p:nvSpPr>
        <p:spPr>
          <a:xfrm>
            <a:off x="9144000" y="37338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9281160" y="38709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MAX_RESPONSE_LENGTH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10820400" y="38481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4096</a:t>
            </a:r>
            <a:endParaRPr sz="114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281160" y="42824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完整多轮输出上限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: 圆角 38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训练性能参考：约 350 s/step、1500 token/s、47 GB/卡。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8" name="图片 7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ym typeface="+mn-ea"/>
              </a:rPr>
              <a:t>Wordle </a:t>
            </a:r>
            <a:r>
              <a:rPr lang="en-US" sz="2580">
                <a:sym typeface="+mn-ea"/>
              </a:rPr>
              <a:t>RL</a:t>
            </a:r>
            <a:r>
              <a:rPr lang="zh-CN" altLang="en-US" sz="2580">
                <a:sym typeface="+mn-ea"/>
              </a:rPr>
              <a:t>实战</a:t>
            </a:r>
            <a:r>
              <a:rPr sz="2580">
                <a:sym typeface="+mn-ea"/>
              </a:rPr>
              <a:t>训练</a:t>
            </a:r>
            <a:endParaRPr sz="258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39624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典型训练进展</a:t>
            </a:r>
            <a:endParaRPr sz="174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562100"/>
            <a:ext cx="1066800" cy="3810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77240" y="1592580"/>
            <a:ext cx="8839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R/C Step</a:t>
            </a:r>
            <a:endParaRPr sz="114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752600" y="1562100"/>
            <a:ext cx="1143000" cy="38100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844040" y="1592580"/>
            <a:ext cx="9601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Reward</a:t>
            </a:r>
            <a:endParaRPr sz="114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895600" y="1562100"/>
            <a:ext cx="1143000" cy="3810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987040" y="1592580"/>
            <a:ext cx="9601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Correct</a:t>
            </a:r>
            <a:endParaRPr sz="114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038600" y="1562100"/>
            <a:ext cx="1219200" cy="3810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130040" y="1592580"/>
            <a:ext cx="10363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Entropy Step</a:t>
            </a:r>
            <a:endParaRPr sz="114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257800" y="1562100"/>
            <a:ext cx="1143000" cy="3810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349240" y="1592580"/>
            <a:ext cx="9601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Entropy</a:t>
            </a:r>
            <a:endParaRPr sz="114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85800" y="1943100"/>
            <a:ext cx="10668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77240" y="1973580"/>
            <a:ext cx="8839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752600" y="1943100"/>
            <a:ext cx="11430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844040" y="197358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0.82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895600" y="1943100"/>
            <a:ext cx="11430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2987040" y="197358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15%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038600" y="1943100"/>
            <a:ext cx="1219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130040" y="1973580"/>
            <a:ext cx="1036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257800" y="1943100"/>
            <a:ext cx="11430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5349240" y="197358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0.53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85800" y="2446020"/>
            <a:ext cx="1066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77240" y="2476500"/>
            <a:ext cx="8839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35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752600" y="244602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1844040" y="247650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0.99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2895600" y="244602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2987040" y="247650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35%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4038600" y="2446020"/>
            <a:ext cx="121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4130040" y="2476500"/>
            <a:ext cx="1036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50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257800" y="244602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5349240" y="247650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0.35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85800" y="2948940"/>
            <a:ext cx="10668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77240" y="2979420"/>
            <a:ext cx="8839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75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1752600" y="2948940"/>
            <a:ext cx="11430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1844040" y="297942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1.03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2895600" y="2948940"/>
            <a:ext cx="11430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2987040" y="297942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40%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4038600" y="2948940"/>
            <a:ext cx="1219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4130040" y="2979420"/>
            <a:ext cx="1036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100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257800" y="2948940"/>
            <a:ext cx="11430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5349240" y="297942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0.28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685800" y="3451860"/>
            <a:ext cx="1066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777240" y="3482340"/>
            <a:ext cx="8839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155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1752600" y="345186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1844040" y="348234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1.20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2895600" y="345186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2987040" y="348234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70%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4038600" y="3451860"/>
            <a:ext cx="121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4130040" y="3482340"/>
            <a:ext cx="1036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155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5257800" y="345186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5349240" y="3482340"/>
            <a:ext cx="960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0.22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6858000" y="1104900"/>
            <a:ext cx="3810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每步日志看什么</a:t>
            </a:r>
            <a:endParaRPr sz="174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7" name="矩形: 圆角 56"/>
          <p:cNvSpPr>
            <a:spLocks noGrp="1"/>
          </p:cNvSpPr>
          <p:nvPr/>
        </p:nvSpPr>
        <p:spPr>
          <a:xfrm>
            <a:off x="6858000" y="1638300"/>
            <a:ext cx="2133600" cy="304800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0">
            <a:noFill/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6918960" y="1638300"/>
            <a:ext cx="20116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actor/entropy</a:t>
            </a:r>
            <a:endParaRPr sz="108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9182100" y="1638300"/>
            <a:ext cx="1828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探索能力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0" name="矩形: 圆角 59"/>
          <p:cNvSpPr>
            <a:spLocks noGrp="1"/>
          </p:cNvSpPr>
          <p:nvPr/>
        </p:nvSpPr>
        <p:spPr>
          <a:xfrm>
            <a:off x="6858000" y="2209800"/>
            <a:ext cx="2133600" cy="304800"/>
          </a:xfrm>
          <a:prstGeom prst="roundRect">
            <a:avLst>
              <a:gd name="adj" fmla="val 15000"/>
            </a:avLst>
          </a:prstGeom>
          <a:solidFill>
            <a:srgbClr val="EDF7EC"/>
          </a:solidFill>
          <a:ln w="0">
            <a:noFill/>
            <a:prstDash val="solid"/>
          </a:ln>
        </p:spPr>
      </p:sp>
      <p:sp>
        <p:nvSpPr>
          <p:cNvPr id="61" name="矩形 60"/>
          <p:cNvSpPr>
            <a:spLocks noGrp="1"/>
          </p:cNvSpPr>
          <p:nvPr/>
        </p:nvSpPr>
        <p:spPr>
          <a:xfrm>
            <a:off x="6918960" y="2209800"/>
            <a:ext cx="20116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actor/kl_loss</a:t>
            </a:r>
            <a:endParaRPr sz="108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矩形 61"/>
          <p:cNvSpPr>
            <a:spLocks noGrp="1"/>
          </p:cNvSpPr>
          <p:nvPr/>
        </p:nvSpPr>
        <p:spPr>
          <a:xfrm>
            <a:off x="9182100" y="2209800"/>
            <a:ext cx="1828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策略漂移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3" name="矩形: 圆角 62"/>
          <p:cNvSpPr>
            <a:spLocks noGrp="1"/>
          </p:cNvSpPr>
          <p:nvPr/>
        </p:nvSpPr>
        <p:spPr>
          <a:xfrm>
            <a:off x="6858000" y="2781300"/>
            <a:ext cx="2133600" cy="304800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0">
            <a:noFill/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6918960" y="2781300"/>
            <a:ext cx="20116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actor/grad_norm</a:t>
            </a:r>
            <a:endParaRPr sz="108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9182100" y="2781300"/>
            <a:ext cx="1828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梯度稳定性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6" name="矩形: 圆角 65"/>
          <p:cNvSpPr>
            <a:spLocks noGrp="1"/>
          </p:cNvSpPr>
          <p:nvPr/>
        </p:nvSpPr>
        <p:spPr>
          <a:xfrm>
            <a:off x="6858000" y="3352800"/>
            <a:ext cx="2133600" cy="304800"/>
          </a:xfrm>
          <a:prstGeom prst="roundRect">
            <a:avLst>
              <a:gd name="adj" fmla="val 15000"/>
            </a:avLst>
          </a:prstGeom>
          <a:solidFill>
            <a:srgbClr val="EDF7EC"/>
          </a:solidFill>
          <a:ln w="0">
            <a:noFill/>
            <a:prstDash val="solid"/>
          </a:ln>
        </p:spPr>
      </p:sp>
      <p:sp>
        <p:nvSpPr>
          <p:cNvPr id="67" name="矩形 66"/>
          <p:cNvSpPr>
            <a:spLocks noGrp="1"/>
          </p:cNvSpPr>
          <p:nvPr/>
        </p:nvSpPr>
        <p:spPr>
          <a:xfrm>
            <a:off x="6918960" y="3352800"/>
            <a:ext cx="20116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critic/score/mean</a:t>
            </a:r>
            <a:endParaRPr sz="108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8" name="矩形 67"/>
          <p:cNvSpPr>
            <a:spLocks noGrp="1"/>
          </p:cNvSpPr>
          <p:nvPr/>
        </p:nvSpPr>
        <p:spPr>
          <a:xfrm>
            <a:off x="9182100" y="3352800"/>
            <a:ext cx="1828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平均奖励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9" name="矩形: 圆角 68"/>
          <p:cNvSpPr>
            <a:spLocks noGrp="1"/>
          </p:cNvSpPr>
          <p:nvPr/>
        </p:nvSpPr>
        <p:spPr>
          <a:xfrm>
            <a:off x="6858000" y="3924300"/>
            <a:ext cx="2133600" cy="304800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0">
            <a:noFill/>
            <a:prstDash val="solid"/>
          </a:ln>
        </p:spPr>
      </p:sp>
      <p:sp>
        <p:nvSpPr>
          <p:cNvPr id="70" name="矩形 69"/>
          <p:cNvSpPr>
            <a:spLocks noGrp="1"/>
          </p:cNvSpPr>
          <p:nvPr/>
        </p:nvSpPr>
        <p:spPr>
          <a:xfrm>
            <a:off x="6918960" y="3924300"/>
            <a:ext cx="20116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response_length/mean</a:t>
            </a:r>
            <a:endParaRPr sz="108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1" name="矩形 70"/>
          <p:cNvSpPr>
            <a:spLocks noGrp="1"/>
          </p:cNvSpPr>
          <p:nvPr/>
        </p:nvSpPr>
        <p:spPr>
          <a:xfrm>
            <a:off x="9182100" y="3924300"/>
            <a:ext cx="1828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输出是否退化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2" name="矩形: 圆角 71"/>
          <p:cNvSpPr>
            <a:spLocks noGrp="1"/>
          </p:cNvSpPr>
          <p:nvPr/>
        </p:nvSpPr>
        <p:spPr>
          <a:xfrm>
            <a:off x="6858000" y="4495800"/>
            <a:ext cx="2133600" cy="304800"/>
          </a:xfrm>
          <a:prstGeom prst="roundRect">
            <a:avLst>
              <a:gd name="adj" fmla="val 15000"/>
            </a:avLst>
          </a:prstGeom>
          <a:solidFill>
            <a:srgbClr val="EDF7EC"/>
          </a:solidFill>
          <a:ln w="0">
            <a:noFill/>
            <a:prstDash val="solid"/>
          </a:ln>
        </p:spPr>
      </p:sp>
      <p:sp>
        <p:nvSpPr>
          <p:cNvPr id="73" name="矩形 72"/>
          <p:cNvSpPr>
            <a:spLocks noGrp="1"/>
          </p:cNvSpPr>
          <p:nvPr/>
        </p:nvSpPr>
        <p:spPr>
          <a:xfrm>
            <a:off x="6918960" y="4495800"/>
            <a:ext cx="20116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num_turns/mean</a:t>
            </a:r>
            <a:endParaRPr sz="108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4" name="矩形 73"/>
          <p:cNvSpPr>
            <a:spLocks noGrp="1"/>
          </p:cNvSpPr>
          <p:nvPr/>
        </p:nvSpPr>
        <p:spPr>
          <a:xfrm>
            <a:off x="9182100" y="4495800"/>
            <a:ext cx="1828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交互轮次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5" name="矩形: 圆角 74"/>
          <p:cNvSpPr>
            <a:spLocks noGrp="1"/>
          </p:cNvSpPr>
          <p:nvPr/>
        </p:nvSpPr>
        <p:spPr>
          <a:xfrm>
            <a:off x="1371600" y="53721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76" name="矩形 75"/>
          <p:cNvSpPr>
            <a:spLocks noGrp="1"/>
          </p:cNvSpPr>
          <p:nvPr/>
        </p:nvSpPr>
        <p:spPr>
          <a:xfrm>
            <a:off x="1638300" y="53721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危险信号：entropy 突然归零、correct 归零、response_length 全部打满。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RL强化学习</a:t>
            </a:r>
            <a:endParaRPr sz="44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等线 Light"/>
                <a:ea typeface="等线 Light"/>
                <a:cs typeface="等线 Light"/>
                <a:hlinkClick r:id="rId2"/>
              </a:rPr>
              <a:t>https://gitcode.com/cann/cann-learning-hub/tree/test/tutorials/rl_training_pipeline/04_tuning_and_troubleshooting</a:t>
            </a:r>
            <a:endParaRPr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等线 Light"/>
              <a:ea typeface="等线 Light"/>
              <a:cs typeface="等线 Light"/>
              <a:hlinkClick r:id="rId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1 环境准备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2 </a:t>
            </a:r>
            <a:r>
              <a:rPr sz="2400"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RL核心概念</a:t>
            </a:r>
            <a:endParaRPr sz="2400"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C2C2C2"/>
                </a:solidFill>
                <a:latin typeface="微软雅黑"/>
                <a:ea typeface="微软雅黑"/>
                <a:cs typeface="微软雅黑"/>
              </a:rPr>
              <a:t>Part 3 Wordle RL训练实战</a:t>
            </a:r>
            <a:endParaRPr sz="2400" b="0" i="0" u="none" cap="none">
              <a:ln>
                <a:noFill/>
              </a:ln>
              <a:solidFill>
                <a:srgbClr val="C2C2C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prstClr val="white"/>
                </a:solidFill>
                <a:latin typeface="微软雅黑"/>
                <a:ea typeface="微软雅黑"/>
                <a:cs typeface="微软雅黑"/>
              </a:rPr>
              <a:t>Part 4 训练调优与问题排查</a:t>
            </a:r>
            <a:endParaRPr sz="2400" b="0" i="0" u="none" cap="none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2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训练</a:t>
            </a:r>
            <a:r>
              <a:rPr lang="zh-CN"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调优</a:t>
            </a:r>
            <a:endParaRPr lang="zh-CN"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838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同一个模型，不同超参数可能走向完全不同的训练轨迹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entropy_coeff</a:t>
            </a:r>
            <a:endParaRPr sz="1560" b="1"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763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控制探索强度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太小会崩塌，太大会失控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577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482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377DFF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377DFF"/>
                </a:solidFill>
                <a:latin typeface="Consolas"/>
                <a:ea typeface="Consolas"/>
                <a:cs typeface="Consolas"/>
              </a:rPr>
              <a:t>kl_loss_coef</a:t>
            </a:r>
            <a:endParaRPr sz="1560" b="1">
              <a:solidFill>
                <a:srgbClr val="377D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482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限制策略漂移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482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太小拉不住，太大学不动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2296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4201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F57C00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F57C00"/>
                </a:solidFill>
                <a:latin typeface="Consolas"/>
                <a:ea typeface="Consolas"/>
                <a:cs typeface="Consolas"/>
              </a:rPr>
              <a:t>ACTOR_LR</a:t>
            </a:r>
            <a:endParaRPr sz="1560" b="1">
              <a:solidFill>
                <a:srgbClr val="F57C0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4201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控制更新步长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4201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RL 通常比 SFT 低 1–2 个数量级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13716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EF4FF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4325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跑 50 步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4671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38862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7EFFA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9471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看 entropy / KL / correct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9817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: 圆角 23"/>
          <p:cNvSpPr>
            <a:spLocks noGrp="1"/>
          </p:cNvSpPr>
          <p:nvPr/>
        </p:nvSpPr>
        <p:spPr>
          <a:xfrm>
            <a:off x="64008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FF3E5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4617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只改一个超参数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4963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: 圆角 26"/>
          <p:cNvSpPr>
            <a:spLocks noGrp="1"/>
          </p:cNvSpPr>
          <p:nvPr/>
        </p:nvSpPr>
        <p:spPr>
          <a:xfrm>
            <a:off x="89154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9763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重新验证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调参不是寻找最大值，而是恢复 pg_loss、KL 与 entropy 的平衡。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9" name="图片 4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580">
                <a:sym typeface="+mn-ea"/>
              </a:rPr>
              <a:t>训练调优</a:t>
            </a:r>
            <a:endParaRPr sz="258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333500"/>
            <a:ext cx="1981200" cy="41910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77240" y="1363980"/>
            <a:ext cx="17983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entropy_coeff</a:t>
            </a:r>
            <a:endParaRPr sz="120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667000" y="1333500"/>
            <a:ext cx="16764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2758440" y="1363980"/>
            <a:ext cx="14935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策略熵（Step 5）</a:t>
            </a:r>
            <a:endParaRPr sz="120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343400" y="1333500"/>
            <a:ext cx="16764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434840" y="1363980"/>
            <a:ext cx="14935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策略熵（Step 25）</a:t>
            </a:r>
            <a:endParaRPr sz="120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019800" y="1333500"/>
            <a:ext cx="45720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111240" y="1363980"/>
            <a:ext cx="43891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</a:t>
            </a:r>
            <a:endParaRPr sz="120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85800" y="1752600"/>
            <a:ext cx="1981200" cy="6705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77240" y="1783080"/>
            <a:ext cx="17983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667000" y="1752600"/>
            <a:ext cx="1676400" cy="6705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2758440" y="1783080"/>
            <a:ext cx="14935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0.54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343400" y="1752600"/>
            <a:ext cx="1676400" cy="6705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4434840" y="1783080"/>
            <a:ext cx="14935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0.45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019800" y="1752600"/>
            <a:ext cx="4572000" cy="6705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111240" y="1783080"/>
            <a:ext cx="43891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持续下降，Step 100 后崩塌到 0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85800" y="2423160"/>
            <a:ext cx="1981200" cy="670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77240" y="2453640"/>
            <a:ext cx="17983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0.001（多环境）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2667000" y="2423160"/>
            <a:ext cx="1676400" cy="670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2758440" y="2453640"/>
            <a:ext cx="14935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0.56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343400" y="2423160"/>
            <a:ext cx="1676400" cy="670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434840" y="2453640"/>
            <a:ext cx="14935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0.48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019800" y="2423160"/>
            <a:ext cx="4572000" cy="670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111240" y="2453640"/>
            <a:ext cx="43891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Run A 仍崩塌；Run B 稳定但熵约 0.1</a:t>
            </a:r>
            <a:endParaRPr sz="114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85800" y="3093720"/>
            <a:ext cx="1981200" cy="67056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77240" y="3124200"/>
            <a:ext cx="17983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0.002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2667000" y="3093720"/>
            <a:ext cx="1676400" cy="67056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2758440" y="3124200"/>
            <a:ext cx="14935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0.53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4343400" y="3093720"/>
            <a:ext cx="1676400" cy="67056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4434840" y="3124200"/>
            <a:ext cx="14935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0.45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6019800" y="3093720"/>
            <a:ext cx="4572000" cy="67056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6111240" y="3124200"/>
            <a:ext cx="43891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熵稳定约 0.2，Correct 70%，多数环境最优</a:t>
            </a:r>
            <a:endParaRPr sz="11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85800" y="3764280"/>
            <a:ext cx="1981200" cy="67056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77240" y="3794760"/>
            <a:ext cx="17983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0.005 / 0.01</a:t>
            </a:r>
            <a:endParaRPr sz="114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2667000" y="3764280"/>
            <a:ext cx="1676400" cy="67056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2758440" y="3794760"/>
            <a:ext cx="14935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0.58 / 0.61</a:t>
            </a:r>
            <a:endParaRPr sz="114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4343400" y="3764280"/>
            <a:ext cx="1676400" cy="67056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4434840" y="3794760"/>
            <a:ext cx="14935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0.52→3.72 / 4.51</a:t>
            </a:r>
            <a:endParaRPr sz="114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6019800" y="3764280"/>
            <a:ext cx="4572000" cy="67056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6111240" y="3794760"/>
            <a:ext cx="438912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0.005 是边界值；0.01 失控飙升</a:t>
            </a:r>
            <a:endParaRPr sz="114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矩形: 圆角 44"/>
          <p:cNvSpPr>
            <a:spLocks noGrp="1"/>
          </p:cNvSpPr>
          <p:nvPr/>
        </p:nvSpPr>
        <p:spPr>
          <a:xfrm>
            <a:off x="1905000" y="4762500"/>
            <a:ext cx="8382000" cy="723900"/>
          </a:xfrm>
          <a:prstGeom prst="roundRect">
            <a:avLst>
              <a:gd name="adj" fmla="val 6316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2286000" y="4876800"/>
            <a:ext cx="7620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5689" lnSpcReduction="10000"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建议从 0.001 起步；当前配置 entropy_coeff = 0.002</a:t>
            </a:r>
            <a:endParaRPr sz="225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2286000" y="5219700"/>
            <a:ext cx="76200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0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表中为策略熵（非 Loss）；跑 30 步，若 Step 20 仍 &gt;0.4 且持续上升，应下调系数。</a:t>
            </a:r>
            <a:endParaRPr sz="120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6" name="图片 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580">
                <a:sym typeface="+mn-ea"/>
              </a:rPr>
              <a:t>训练调优</a:t>
            </a:r>
            <a:endParaRPr sz="258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572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KL 约束强度</a:t>
            </a:r>
            <a:endParaRPr sz="174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38300"/>
            <a:ext cx="4953000" cy="647700"/>
          </a:xfrm>
          <a:prstGeom prst="roundRect">
            <a:avLst>
              <a:gd name="adj" fmla="val 7059"/>
            </a:avLst>
          </a:prstGeom>
          <a:solidFill>
            <a:srgbClr val="FBF7E8"/>
          </a:solidFill>
          <a:ln w="9525">
            <a:solidFill>
              <a:srgbClr val="806A13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790700"/>
            <a:ext cx="9144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806A13"/>
                </a:solidFill>
                <a:latin typeface="Consolas"/>
                <a:ea typeface="Consolas"/>
                <a:cs typeface="Consolas"/>
              </a:defRPr>
            </a:pPr>
            <a:r>
              <a:rPr sz="1440" b="1" i="0" u="none" cap="none">
                <a:ln>
                  <a:noFill/>
                </a:ln>
                <a:solidFill>
                  <a:srgbClr val="806A13"/>
                </a:solidFill>
                <a:latin typeface="Consolas"/>
                <a:ea typeface="Consolas"/>
                <a:cs typeface="Consolas"/>
              </a:rPr>
              <a:t>0.001</a:t>
            </a:r>
            <a:endParaRPr sz="1440" b="1" i="0" u="none" cap="none">
              <a:ln>
                <a:noFill/>
              </a:ln>
              <a:solidFill>
                <a:srgbClr val="806A13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981200" y="1790700"/>
            <a:ext cx="1371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轻微约束</a:t>
            </a:r>
            <a:endParaRPr sz="132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505200" y="17754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可能不足以阻止漂移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685800" y="2476500"/>
            <a:ext cx="4953000" cy="647700"/>
          </a:xfrm>
          <a:prstGeom prst="roundRect">
            <a:avLst>
              <a:gd name="adj" fmla="val 7059"/>
            </a:avLst>
          </a:prstGeom>
          <a:solidFill>
            <a:srgbClr val="EDF7EC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76300" y="2628900"/>
            <a:ext cx="9144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E7D32"/>
                </a:solidFill>
                <a:latin typeface="Consolas"/>
                <a:ea typeface="Consolas"/>
                <a:cs typeface="Consolas"/>
              </a:defRPr>
            </a:pPr>
            <a:r>
              <a:rPr sz="1440" b="1" i="0" u="none" cap="none">
                <a:ln>
                  <a:noFill/>
                </a:ln>
                <a:solidFill>
                  <a:srgbClr val="2E7D32"/>
                </a:solidFill>
                <a:latin typeface="Consolas"/>
                <a:ea typeface="Consolas"/>
                <a:cs typeface="Consolas"/>
              </a:rPr>
              <a:t>0.01</a:t>
            </a:r>
            <a:endParaRPr sz="1440" b="1" i="0" u="none" cap="none">
              <a:ln>
                <a:noFill/>
              </a:ln>
              <a:solidFill>
                <a:srgbClr val="2E7D3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981200" y="2628900"/>
            <a:ext cx="1371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中等约束</a:t>
            </a:r>
            <a:endParaRPr sz="132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505200" y="26136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配合 entropy_coeff 使用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685800" y="3314700"/>
            <a:ext cx="4953000" cy="647700"/>
          </a:xfrm>
          <a:prstGeom prst="roundRect">
            <a:avLst>
              <a:gd name="adj" fmla="val 7059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76300" y="3467100"/>
            <a:ext cx="9144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E60012"/>
                </a:solidFill>
                <a:latin typeface="Consolas"/>
                <a:ea typeface="Consolas"/>
                <a:cs typeface="Consolas"/>
              </a:defRPr>
            </a:pPr>
            <a:r>
              <a:rPr sz="1440" b="1" i="0" u="none" cap="none">
                <a:ln>
                  <a:noFill/>
                </a:ln>
                <a:solidFill>
                  <a:srgbClr val="E60012"/>
                </a:solidFill>
                <a:latin typeface="Consolas"/>
                <a:ea typeface="Consolas"/>
                <a:cs typeface="Consolas"/>
              </a:rPr>
              <a:t>0.1</a:t>
            </a:r>
            <a:endParaRPr sz="1440" b="1" i="0" u="none" cap="none">
              <a:ln>
                <a:noFill/>
              </a:ln>
              <a:solidFill>
                <a:srgbClr val="E6001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981200" y="3467100"/>
            <a:ext cx="1371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强约束</a:t>
            </a:r>
            <a:endParaRPr sz="132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505200" y="34518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模型无法学习新策略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77000" y="1104900"/>
            <a:ext cx="4572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Actor 学习率</a:t>
            </a:r>
            <a:endParaRPr sz="174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: 圆角 18"/>
          <p:cNvSpPr>
            <a:spLocks noGrp="1"/>
          </p:cNvSpPr>
          <p:nvPr/>
        </p:nvSpPr>
        <p:spPr>
          <a:xfrm>
            <a:off x="6477000" y="1638300"/>
            <a:ext cx="4648200" cy="472440"/>
          </a:xfrm>
          <a:prstGeom prst="roundRect">
            <a:avLst>
              <a:gd name="adj" fmla="val 9677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705600" y="1729740"/>
            <a:ext cx="990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380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1e-7</a:t>
            </a:r>
            <a:endParaRPr sz="1380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848600" y="171450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更新太慢，效率低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: 圆角 21"/>
          <p:cNvSpPr>
            <a:spLocks noGrp="1"/>
          </p:cNvSpPr>
          <p:nvPr/>
        </p:nvSpPr>
        <p:spPr>
          <a:xfrm>
            <a:off x="6477000" y="2286000"/>
            <a:ext cx="46482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705600" y="2377440"/>
            <a:ext cx="990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2E7D32"/>
                </a:solidFill>
                <a:latin typeface="Consolas"/>
                <a:ea typeface="Consolas"/>
                <a:cs typeface="Consolas"/>
              </a:defRPr>
            </a:pPr>
            <a:r>
              <a:rPr sz="1380" b="1" i="0" u="none" cap="none">
                <a:ln>
                  <a:noFill/>
                </a:ln>
                <a:solidFill>
                  <a:srgbClr val="2E7D32"/>
                </a:solidFill>
                <a:latin typeface="Consolas"/>
                <a:ea typeface="Consolas"/>
                <a:cs typeface="Consolas"/>
              </a:rPr>
              <a:t>1e-6</a:t>
            </a:r>
            <a:endParaRPr sz="1380" b="1" i="0" u="none" cap="none">
              <a:ln>
                <a:noFill/>
              </a:ln>
              <a:solidFill>
                <a:srgbClr val="2E7D3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848600" y="236220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缓慢稳定，当前推荐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: 圆角 24"/>
          <p:cNvSpPr>
            <a:spLocks noGrp="1"/>
          </p:cNvSpPr>
          <p:nvPr/>
        </p:nvSpPr>
        <p:spPr>
          <a:xfrm>
            <a:off x="6477000" y="2933700"/>
            <a:ext cx="4648200" cy="472440"/>
          </a:xfrm>
          <a:prstGeom prst="roundRect">
            <a:avLst>
              <a:gd name="adj" fmla="val 9677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705600" y="3025140"/>
            <a:ext cx="990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Consolas"/>
                <a:ea typeface="Consolas"/>
                <a:cs typeface="Consolas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Consolas"/>
                <a:ea typeface="Consolas"/>
                <a:cs typeface="Consolas"/>
              </a:rPr>
              <a:t>1e-5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848600" y="300990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更新较快，可能梯度爆炸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: 圆角 27"/>
          <p:cNvSpPr>
            <a:spLocks noGrp="1"/>
          </p:cNvSpPr>
          <p:nvPr/>
        </p:nvSpPr>
        <p:spPr>
          <a:xfrm>
            <a:off x="6477000" y="3581400"/>
            <a:ext cx="4648200" cy="472440"/>
          </a:xfrm>
          <a:prstGeom prst="roundRect">
            <a:avLst>
              <a:gd name="adj" fmla="val 9677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705600" y="3672840"/>
            <a:ext cx="990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Consolas"/>
                <a:ea typeface="Consolas"/>
                <a:cs typeface="Consolas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Consolas"/>
                <a:ea typeface="Consolas"/>
                <a:cs typeface="Consolas"/>
              </a:rPr>
              <a:t>1e-4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848600" y="365760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更新过快，训练不稳定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: 圆角 30"/>
          <p:cNvSpPr>
            <a:spLocks noGrp="1"/>
          </p:cNvSpPr>
          <p:nvPr/>
        </p:nvSpPr>
        <p:spPr>
          <a:xfrm>
            <a:off x="1600200" y="4953000"/>
            <a:ext cx="8991600" cy="685800"/>
          </a:xfrm>
          <a:prstGeom prst="roundRect">
            <a:avLst>
              <a:gd name="adj" fmla="val 6667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1752600" y="5059680"/>
            <a:ext cx="868680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组合</a:t>
            </a: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A：entropy</a:t>
            </a: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=0.002  KL=0.001  LR=1e-6  cosine  </a:t>
            </a: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save_freq</a:t>
            </a: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=25</a:t>
            </a:r>
            <a:endParaRPr sz="120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组合</a:t>
            </a: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B：entropy</a:t>
            </a: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=0.002  KL=0.01   LR=1e-6  cosine  </a:t>
            </a: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save_freq</a:t>
            </a:r>
            <a:r>
              <a:rPr sz="1200" b="0" i="0" u="none" cap="none">
                <a:ln>
                  <a:noFill/>
                </a:ln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=25</a:t>
            </a:r>
            <a:endParaRPr sz="1200" b="0" i="0" u="none" cap="none">
              <a:ln>
                <a:noFill/>
              </a:ln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3" name="矩形: 圆角 32"/>
          <p:cNvSpPr>
            <a:spLocks noGrp="1"/>
          </p:cNvSpPr>
          <p:nvPr/>
        </p:nvSpPr>
        <p:spPr>
          <a:xfrm>
            <a:off x="1371600" y="5791200"/>
            <a:ext cx="8229600" cy="381000"/>
          </a:xfrm>
          <a:prstGeom prst="roundRect">
            <a:avLst>
              <a:gd name="adj" fmla="val 12000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638300" y="5791200"/>
            <a:ext cx="7696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7682" lnSpcReduction="10000"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正式训练建议 cosine：min_lr_ratio=0.1，warmup_ratio=0.03</a:t>
            </a:r>
            <a:endParaRPr sz="13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constant 在 Step 135 后可能越峰回落。</a:t>
            </a:r>
            <a:endParaRPr sz="13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0" name="图片 10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7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220">
                <a:sym typeface="+mn-ea"/>
              </a:rPr>
              <a:t>训练调优</a:t>
            </a:r>
            <a:endParaRPr sz="222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953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稳定 Run</a:t>
            </a:r>
            <a:endParaRPr sz="17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477000" y="1104900"/>
            <a:ext cx="4953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崩溃 Run</a:t>
            </a:r>
            <a:endParaRPr sz="174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85800" y="1562100"/>
            <a:ext cx="762000" cy="365760"/>
          </a:xfrm>
          <a:prstGeom prst="rect">
            <a:avLst/>
          </a:prstGeom>
          <a:solidFill>
            <a:srgbClr val="43A047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77240" y="1592580"/>
            <a:ext cx="5791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Step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447800" y="1562100"/>
            <a:ext cx="990600" cy="365760"/>
          </a:xfrm>
          <a:prstGeom prst="rect">
            <a:avLst/>
          </a:prstGeom>
          <a:solidFill>
            <a:srgbClr val="43A047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5392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Entropy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2438400" y="1562100"/>
            <a:ext cx="990600" cy="365760"/>
          </a:xfrm>
          <a:prstGeom prst="rect">
            <a:avLst/>
          </a:prstGeom>
          <a:solidFill>
            <a:srgbClr val="43A047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25298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Correct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429000" y="1562100"/>
            <a:ext cx="1143000" cy="365760"/>
          </a:xfrm>
          <a:prstGeom prst="rect">
            <a:avLst/>
          </a:prstGeom>
          <a:solidFill>
            <a:srgbClr val="43A047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3520440" y="1592580"/>
            <a:ext cx="9601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Length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572000" y="1562100"/>
            <a:ext cx="990600" cy="365760"/>
          </a:xfrm>
          <a:prstGeom prst="rect">
            <a:avLst/>
          </a:prstGeom>
          <a:solidFill>
            <a:srgbClr val="43A047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6634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Reward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85800" y="1927860"/>
            <a:ext cx="762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77240" y="19583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4478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5392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0.57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4384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25298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15%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3429000" y="1927860"/>
            <a:ext cx="1143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520440" y="19583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2078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5720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6634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0.74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85800" y="2423160"/>
            <a:ext cx="762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77240" y="24536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50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4478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5392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0.24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24384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25298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40%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3429000" y="2423160"/>
            <a:ext cx="1143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3520440" y="24536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1737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45720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6634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1.04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85800" y="2918460"/>
            <a:ext cx="762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77240" y="29489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100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14478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15392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0.15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24384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25298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50%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3429000" y="2918460"/>
            <a:ext cx="1143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3520440" y="29489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1664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45720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46634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1.16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685800" y="3413760"/>
            <a:ext cx="762000" cy="49530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777240" y="34442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155</a:t>
            </a:r>
            <a:endParaRPr sz="102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1447800" y="3413760"/>
            <a:ext cx="990600" cy="49530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15392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0.22</a:t>
            </a:r>
            <a:endParaRPr sz="102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2438400" y="3413760"/>
            <a:ext cx="990600" cy="49530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25298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70%</a:t>
            </a:r>
            <a:endParaRPr sz="102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3429000" y="3413760"/>
            <a:ext cx="1143000" cy="49530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3520440" y="34442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1255</a:t>
            </a:r>
            <a:endParaRPr sz="102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4572000" y="3413760"/>
            <a:ext cx="990600" cy="49530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46634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1.20</a:t>
            </a:r>
            <a:endParaRPr sz="102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6477000" y="1562100"/>
            <a:ext cx="762000" cy="36576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6568440" y="1592580"/>
            <a:ext cx="5791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Step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7239000" y="1562100"/>
            <a:ext cx="990600" cy="36576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73304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Entropy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8229600" y="1562100"/>
            <a:ext cx="990600" cy="36576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83210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Correct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9220200" y="1562100"/>
            <a:ext cx="1143000" cy="36576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9311640" y="1592580"/>
            <a:ext cx="9601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Length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10363200" y="1562100"/>
            <a:ext cx="990600" cy="36576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104546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Reward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6477000" y="1927860"/>
            <a:ext cx="762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68" name="矩形 67"/>
          <p:cNvSpPr>
            <a:spLocks noGrp="1"/>
          </p:cNvSpPr>
          <p:nvPr/>
        </p:nvSpPr>
        <p:spPr>
          <a:xfrm>
            <a:off x="6568440" y="19583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9" name="矩形 68"/>
          <p:cNvSpPr>
            <a:spLocks noGrp="1"/>
          </p:cNvSpPr>
          <p:nvPr/>
        </p:nvSpPr>
        <p:spPr>
          <a:xfrm>
            <a:off x="72390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0" name="矩形 69"/>
          <p:cNvSpPr>
            <a:spLocks noGrp="1"/>
          </p:cNvSpPr>
          <p:nvPr/>
        </p:nvSpPr>
        <p:spPr>
          <a:xfrm>
            <a:off x="73304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0.56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1" name="矩形 70"/>
          <p:cNvSpPr>
            <a:spLocks noGrp="1"/>
          </p:cNvSpPr>
          <p:nvPr/>
        </p:nvSpPr>
        <p:spPr>
          <a:xfrm>
            <a:off x="82296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83210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15%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9220200" y="1927860"/>
            <a:ext cx="1143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4" name="矩形 73"/>
          <p:cNvSpPr>
            <a:spLocks noGrp="1"/>
          </p:cNvSpPr>
          <p:nvPr/>
        </p:nvSpPr>
        <p:spPr>
          <a:xfrm>
            <a:off x="9311640" y="19583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1755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5" name="矩形 74"/>
          <p:cNvSpPr>
            <a:spLocks noGrp="1"/>
          </p:cNvSpPr>
          <p:nvPr/>
        </p:nvSpPr>
        <p:spPr>
          <a:xfrm>
            <a:off x="103632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6" name="矩形 75"/>
          <p:cNvSpPr>
            <a:spLocks noGrp="1"/>
          </p:cNvSpPr>
          <p:nvPr/>
        </p:nvSpPr>
        <p:spPr>
          <a:xfrm>
            <a:off x="104546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0.76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6477000" y="2423160"/>
            <a:ext cx="762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6568440" y="24536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50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9" name="矩形 78"/>
          <p:cNvSpPr>
            <a:spLocks noGrp="1"/>
          </p:cNvSpPr>
          <p:nvPr/>
        </p:nvSpPr>
        <p:spPr>
          <a:xfrm>
            <a:off x="72390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0" name="矩形 79"/>
          <p:cNvSpPr>
            <a:spLocks noGrp="1"/>
          </p:cNvSpPr>
          <p:nvPr/>
        </p:nvSpPr>
        <p:spPr>
          <a:xfrm>
            <a:off x="73304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0.24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1" name="矩形 80"/>
          <p:cNvSpPr>
            <a:spLocks noGrp="1"/>
          </p:cNvSpPr>
          <p:nvPr/>
        </p:nvSpPr>
        <p:spPr>
          <a:xfrm>
            <a:off x="82296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2" name="矩形 81"/>
          <p:cNvSpPr>
            <a:spLocks noGrp="1"/>
          </p:cNvSpPr>
          <p:nvPr/>
        </p:nvSpPr>
        <p:spPr>
          <a:xfrm>
            <a:off x="83210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40%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3" name="矩形 82"/>
          <p:cNvSpPr>
            <a:spLocks noGrp="1"/>
          </p:cNvSpPr>
          <p:nvPr/>
        </p:nvSpPr>
        <p:spPr>
          <a:xfrm>
            <a:off x="9220200" y="2423160"/>
            <a:ext cx="1143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4" name="矩形 83"/>
          <p:cNvSpPr>
            <a:spLocks noGrp="1"/>
          </p:cNvSpPr>
          <p:nvPr/>
        </p:nvSpPr>
        <p:spPr>
          <a:xfrm>
            <a:off x="9311640" y="24536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1737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5" name="矩形 84"/>
          <p:cNvSpPr>
            <a:spLocks noGrp="1"/>
          </p:cNvSpPr>
          <p:nvPr/>
        </p:nvSpPr>
        <p:spPr>
          <a:xfrm>
            <a:off x="103632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6" name="矩形 85"/>
          <p:cNvSpPr>
            <a:spLocks noGrp="1"/>
          </p:cNvSpPr>
          <p:nvPr/>
        </p:nvSpPr>
        <p:spPr>
          <a:xfrm>
            <a:off x="104546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1.04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7" name="矩形 86"/>
          <p:cNvSpPr>
            <a:spLocks noGrp="1"/>
          </p:cNvSpPr>
          <p:nvPr/>
        </p:nvSpPr>
        <p:spPr>
          <a:xfrm>
            <a:off x="6477000" y="2918460"/>
            <a:ext cx="762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8" name="矩形 87"/>
          <p:cNvSpPr>
            <a:spLocks noGrp="1"/>
          </p:cNvSpPr>
          <p:nvPr/>
        </p:nvSpPr>
        <p:spPr>
          <a:xfrm>
            <a:off x="6568440" y="29489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100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9" name="矩形 88"/>
          <p:cNvSpPr>
            <a:spLocks noGrp="1"/>
          </p:cNvSpPr>
          <p:nvPr/>
        </p:nvSpPr>
        <p:spPr>
          <a:xfrm>
            <a:off x="72390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0" name="矩形 89"/>
          <p:cNvSpPr>
            <a:spLocks noGrp="1"/>
          </p:cNvSpPr>
          <p:nvPr/>
        </p:nvSpPr>
        <p:spPr>
          <a:xfrm>
            <a:off x="73304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0.001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1" name="矩形 90"/>
          <p:cNvSpPr>
            <a:spLocks noGrp="1"/>
          </p:cNvSpPr>
          <p:nvPr/>
        </p:nvSpPr>
        <p:spPr>
          <a:xfrm>
            <a:off x="82296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2" name="矩形 91"/>
          <p:cNvSpPr>
            <a:spLocks noGrp="1"/>
          </p:cNvSpPr>
          <p:nvPr/>
        </p:nvSpPr>
        <p:spPr>
          <a:xfrm>
            <a:off x="83210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0%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3" name="矩形 92"/>
          <p:cNvSpPr>
            <a:spLocks noGrp="1"/>
          </p:cNvSpPr>
          <p:nvPr/>
        </p:nvSpPr>
        <p:spPr>
          <a:xfrm>
            <a:off x="9220200" y="2918460"/>
            <a:ext cx="1143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4" name="矩形 93"/>
          <p:cNvSpPr>
            <a:spLocks noGrp="1"/>
          </p:cNvSpPr>
          <p:nvPr/>
        </p:nvSpPr>
        <p:spPr>
          <a:xfrm>
            <a:off x="9311640" y="29489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3232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5" name="矩形 94"/>
          <p:cNvSpPr>
            <a:spLocks noGrp="1"/>
          </p:cNvSpPr>
          <p:nvPr/>
        </p:nvSpPr>
        <p:spPr>
          <a:xfrm>
            <a:off x="103632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6" name="矩形 95"/>
          <p:cNvSpPr>
            <a:spLocks noGrp="1"/>
          </p:cNvSpPr>
          <p:nvPr/>
        </p:nvSpPr>
        <p:spPr>
          <a:xfrm>
            <a:off x="104546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0.20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7" name="矩形 96"/>
          <p:cNvSpPr>
            <a:spLocks noGrp="1"/>
          </p:cNvSpPr>
          <p:nvPr/>
        </p:nvSpPr>
        <p:spPr>
          <a:xfrm>
            <a:off x="6477000" y="3413760"/>
            <a:ext cx="762000" cy="49530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8" name="矩形 97"/>
          <p:cNvSpPr>
            <a:spLocks noGrp="1"/>
          </p:cNvSpPr>
          <p:nvPr/>
        </p:nvSpPr>
        <p:spPr>
          <a:xfrm>
            <a:off x="6568440" y="34442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150</a:t>
            </a:r>
            <a:endParaRPr sz="10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9" name="矩形 98"/>
          <p:cNvSpPr>
            <a:spLocks noGrp="1"/>
          </p:cNvSpPr>
          <p:nvPr/>
        </p:nvSpPr>
        <p:spPr>
          <a:xfrm>
            <a:off x="7239000" y="3413760"/>
            <a:ext cx="990600" cy="49530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0" name="矩形 99"/>
          <p:cNvSpPr>
            <a:spLocks noGrp="1"/>
          </p:cNvSpPr>
          <p:nvPr/>
        </p:nvSpPr>
        <p:spPr>
          <a:xfrm>
            <a:off x="73304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0.0003</a:t>
            </a:r>
            <a:endParaRPr sz="10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1" name="矩形 100"/>
          <p:cNvSpPr>
            <a:spLocks noGrp="1"/>
          </p:cNvSpPr>
          <p:nvPr/>
        </p:nvSpPr>
        <p:spPr>
          <a:xfrm>
            <a:off x="8229600" y="3413760"/>
            <a:ext cx="990600" cy="49530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2" name="矩形 101"/>
          <p:cNvSpPr>
            <a:spLocks noGrp="1"/>
          </p:cNvSpPr>
          <p:nvPr/>
        </p:nvSpPr>
        <p:spPr>
          <a:xfrm>
            <a:off x="83210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0%</a:t>
            </a:r>
            <a:endParaRPr sz="10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3" name="矩形 102"/>
          <p:cNvSpPr>
            <a:spLocks noGrp="1"/>
          </p:cNvSpPr>
          <p:nvPr/>
        </p:nvSpPr>
        <p:spPr>
          <a:xfrm>
            <a:off x="9220200" y="3413760"/>
            <a:ext cx="1143000" cy="49530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4" name="矩形 103"/>
          <p:cNvSpPr>
            <a:spLocks noGrp="1"/>
          </p:cNvSpPr>
          <p:nvPr/>
        </p:nvSpPr>
        <p:spPr>
          <a:xfrm>
            <a:off x="9311640" y="34442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3232</a:t>
            </a:r>
            <a:endParaRPr sz="10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" name="矩形 104"/>
          <p:cNvSpPr>
            <a:spLocks noGrp="1"/>
          </p:cNvSpPr>
          <p:nvPr/>
        </p:nvSpPr>
        <p:spPr>
          <a:xfrm>
            <a:off x="10363200" y="3413760"/>
            <a:ext cx="990600" cy="49530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6" name="矩形 105"/>
          <p:cNvSpPr>
            <a:spLocks noGrp="1"/>
          </p:cNvSpPr>
          <p:nvPr/>
        </p:nvSpPr>
        <p:spPr>
          <a:xfrm>
            <a:off x="104546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0.20</a:t>
            </a:r>
            <a:endParaRPr sz="10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" name="矩形: 圆角 106"/>
          <p:cNvSpPr>
            <a:spLocks noGrp="1"/>
          </p:cNvSpPr>
          <p:nvPr/>
        </p:nvSpPr>
        <p:spPr>
          <a:xfrm>
            <a:off x="1371600" y="4991100"/>
            <a:ext cx="9448800" cy="594360"/>
          </a:xfrm>
          <a:prstGeom prst="roundRect">
            <a:avLst>
              <a:gd name="adj" fmla="val 7692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1638300" y="4991100"/>
            <a:ext cx="891540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末期：Entropy 0.22→0.0003，KL 0.13→0.35，Correct 70%→0%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同时 Length 1255→3232、num_turns 5.0→6.0。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7" name="图片 3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580" b="0" i="0" u="none" cap="none">
                <a:ln>
                  <a:noFill/>
                </a:ln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问题</a:t>
            </a:r>
            <a:r>
              <a:rPr lang="zh-CN" sz="2580" b="0" i="0" u="none" cap="none">
                <a:ln>
                  <a:noFill/>
                </a:ln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排查</a:t>
            </a:r>
            <a:endParaRPr lang="zh-CN" sz="258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858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382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Entropy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382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跌至 0.0003：策略崩塌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持续飙升：探索过强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6670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29337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0861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 i="0" u="none" cap="none">
              <a:ln>
                <a:noFill/>
              </a:ln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0861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Response Length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0861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全部打满 3232：输出退化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9149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51816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53340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3340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Correct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3340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突然归零：策略失效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1628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: 圆角 19"/>
          <p:cNvSpPr>
            <a:spLocks noGrp="1"/>
          </p:cNvSpPr>
          <p:nvPr/>
        </p:nvSpPr>
        <p:spPr>
          <a:xfrm>
            <a:off x="74295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5819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 i="0" u="none" cap="none">
              <a:ln>
                <a:noFill/>
              </a:ln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5819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KL Loss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5819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本例 0.13→0.35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快速上升：策略漂移加剧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4107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: 圆角 24"/>
          <p:cNvSpPr>
            <a:spLocks noGrp="1"/>
          </p:cNvSpPr>
          <p:nvPr/>
        </p:nvSpPr>
        <p:spPr>
          <a:xfrm>
            <a:off x="96774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98298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 i="0" u="none" cap="none">
              <a:ln>
                <a:noFill/>
              </a:ln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8298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Grad Norm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8298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突然飙升：梯度爆炸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1295400" y="4229100"/>
            <a:ext cx="9601200" cy="990600"/>
          </a:xfrm>
          <a:prstGeom prst="roundRect">
            <a:avLst>
              <a:gd name="adj" fmla="val 4615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600200" y="4419600"/>
            <a:ext cx="1371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9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根因判断</a:t>
            </a:r>
            <a:endParaRPr sz="15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3124200" y="4381500"/>
            <a:ext cx="3810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Consolas"/>
                <a:ea typeface="Consolas"/>
                <a:cs typeface="Consolas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Consolas"/>
                <a:ea typeface="Consolas"/>
                <a:cs typeface="Consolas"/>
              </a:rPr>
              <a:t>Entropy ↓ + Correct ↓ + Length 打满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635750" y="4356100"/>
            <a:ext cx="3429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→ </a:t>
            </a:r>
            <a:r>
              <a:rPr sz="138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pg_loss</a:t>
            </a:r>
            <a:r>
              <a:rPr sz="138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8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压过</a:t>
            </a:r>
            <a:r>
              <a:rPr sz="138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 KL 与 entropy bonus</a:t>
            </a:r>
            <a:endParaRPr sz="138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2971800" y="4876800"/>
            <a:ext cx="624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单一指标只能报警，多指标联动才能定位。</a:t>
            </a:r>
            <a:endParaRPr sz="126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: 圆角 33"/>
          <p:cNvSpPr>
            <a:spLocks noGrp="1"/>
          </p:cNvSpPr>
          <p:nvPr/>
        </p:nvSpPr>
        <p:spPr>
          <a:xfrm>
            <a:off x="1371600" y="54864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1638300" y="54864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先确认现象，再改超参数；不要把所有问题都归因于学习率。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1" name="图片 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580">
                <a:ln>
                  <a:noFill/>
                </a:ln>
                <a:sym typeface="+mn-ea"/>
              </a:rPr>
              <a:t>问题排查</a:t>
            </a:r>
            <a:endParaRPr sz="258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572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崩塌后的修复顺序</a:t>
            </a:r>
            <a:endParaRPr sz="225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38300"/>
            <a:ext cx="4953000" cy="723900"/>
          </a:xfrm>
          <a:prstGeom prst="roundRect">
            <a:avLst>
              <a:gd name="adj" fmla="val 6316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790700"/>
            <a:ext cx="381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620" b="1" i="0" u="none" cap="none">
              <a:ln>
                <a:noFill/>
              </a:ln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71600" y="17754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增加 entropy bonus</a:t>
            </a:r>
            <a:endParaRPr sz="138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390900" y="1775460"/>
            <a:ext cx="2019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200" b="1" i="0" u="none" cap="none">
                <a:ln>
                  <a:noFill/>
                </a:ln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entropy_coeff：0 → 0.002</a:t>
            </a:r>
            <a:endParaRPr sz="1200" b="1" i="0" u="none" cap="none">
              <a:ln>
                <a:noFill/>
              </a:ln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685800" y="2590800"/>
            <a:ext cx="4953000" cy="723900"/>
          </a:xfrm>
          <a:prstGeom prst="roundRect">
            <a:avLst>
              <a:gd name="adj" fmla="val 631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76300" y="2743200"/>
            <a:ext cx="381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62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71600" y="27279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增强 KL 约束</a:t>
            </a:r>
            <a:endParaRPr sz="138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390900" y="2727960"/>
            <a:ext cx="2019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359"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377DFF"/>
                </a:solidFill>
                <a:latin typeface="Consolas"/>
                <a:ea typeface="Consolas"/>
                <a:cs typeface="Consolas"/>
              </a:defRPr>
            </a:pPr>
            <a:r>
              <a:rPr sz="1200" b="1" i="0" u="none" cap="none">
                <a:ln>
                  <a:noFill/>
                </a:ln>
                <a:solidFill>
                  <a:srgbClr val="377DFF"/>
                </a:solidFill>
                <a:latin typeface="Consolas"/>
                <a:ea typeface="Consolas"/>
                <a:cs typeface="Consolas"/>
              </a:rPr>
              <a:t>kl_loss_coef：0.001 → 0.01</a:t>
            </a:r>
            <a:endParaRPr sz="1200" b="1" i="0" u="none" cap="none">
              <a:ln>
                <a:noFill/>
              </a:ln>
              <a:solidFill>
                <a:srgbClr val="377D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685800" y="3543300"/>
            <a:ext cx="4953000" cy="723900"/>
          </a:xfrm>
          <a:prstGeom prst="roundRect">
            <a:avLst>
              <a:gd name="adj" fmla="val 6316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76300" y="3695700"/>
            <a:ext cx="381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620" b="1" i="0" u="none" cap="none">
              <a:ln>
                <a:noFill/>
              </a:ln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371600" y="36804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降低更新步长</a:t>
            </a:r>
            <a:endParaRPr sz="138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390900" y="3680460"/>
            <a:ext cx="2019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F57C00"/>
                </a:solidFill>
                <a:latin typeface="Consolas"/>
                <a:ea typeface="Consolas"/>
                <a:cs typeface="Consolas"/>
              </a:defRPr>
            </a:pPr>
            <a:r>
              <a:rPr sz="1200" b="1" i="0" u="none" cap="none">
                <a:ln>
                  <a:noFill/>
                </a:ln>
                <a:solidFill>
                  <a:srgbClr val="F57C00"/>
                </a:solidFill>
                <a:latin typeface="Consolas"/>
                <a:ea typeface="Consolas"/>
                <a:cs typeface="Consolas"/>
              </a:rPr>
              <a:t>ACTOR_LR：1e-6 → 5e-7</a:t>
            </a:r>
            <a:endParaRPr sz="1200" b="1" i="0" u="none" cap="none">
              <a:ln>
                <a:noFill/>
              </a:ln>
              <a:solidFill>
                <a:srgbClr val="F57C0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77000" y="1104900"/>
            <a:ext cx="4572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训练监控最佳实践</a:t>
            </a:r>
            <a:endParaRPr sz="225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477000" y="163830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010400" y="163830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前 50 步密切监控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220200" y="163830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崩塌通常发生较早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010400" y="203454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477000" y="223266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010400" y="223266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save_freq = 25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220200" y="223266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保留可回退 checkpoint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010400" y="262890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477000" y="282702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010400" y="282702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每 5 步看验证指标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220200" y="282702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比训练 reward 更可靠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010400" y="322326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477000" y="342138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010400" y="342138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同时看多个指标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9220200" y="342138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避免误判单点波动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010400" y="381762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477000" y="401574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010400" y="401574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准备回退方案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9220200" y="401574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保留稳定 run checkpoint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: 圆角 37"/>
          <p:cNvSpPr>
            <a:spLocks noGrp="1"/>
          </p:cNvSpPr>
          <p:nvPr/>
        </p:nvSpPr>
        <p:spPr>
          <a:xfrm>
            <a:off x="685800" y="4953000"/>
            <a:ext cx="10439400" cy="800100"/>
          </a:xfrm>
          <a:prstGeom prst="roundRect">
            <a:avLst>
              <a:gd name="adj" fmla="val 5714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1028700" y="4953000"/>
            <a:ext cx="97536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SFT 建立格式与交互能力，GRPO 优化策略，KL 与 Entropy 保证训练不过度偏航。</a:t>
            </a:r>
            <a:endParaRPr sz="16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874644" y="1208599"/>
            <a:ext cx="3608680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>
                <a:latin typeface="Arial" panose="020B0604020202090204"/>
                <a:ea typeface="Arial" panose="020B0604020202090204"/>
                <a:cs typeface="Arial" panose="020B0604020202090204"/>
              </a:rPr>
              <a:t>Thank you.</a:t>
            </a:r>
            <a:endParaRPr sz="5400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400801" y="1393264"/>
            <a:ext cx="4699220" cy="2325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200">
                <a:solidFill>
                  <a:schemeClr val="bg1">
                    <a:lumMod val="50000"/>
                  </a:schemeClr>
                </a:solidFill>
                <a:latin typeface="宋体"/>
                <a:ea typeface="宋体"/>
                <a:cs typeface="宋体"/>
              </a:rPr>
              <a:t>社区愿景：打造开放易用、技术领先的AI算力新生态</a:t>
            </a:r>
            <a:endParaRPr sz="1200">
              <a:solidFill>
                <a:schemeClr val="bg1">
                  <a:lumMod val="50000"/>
                </a:schemeClr>
              </a:solidFill>
              <a:latin typeface="宋体"/>
              <a:ea typeface="宋体"/>
              <a:cs typeface="宋体"/>
            </a:endParaRPr>
          </a:p>
          <a:p>
            <a:pPr>
              <a:lnSpc>
                <a:spcPct val="150000"/>
              </a:lnSpc>
              <a:buNone/>
            </a:pPr>
            <a:r>
              <a:rPr sz="1200">
                <a:solidFill>
                  <a:schemeClr val="bg1">
                    <a:lumMod val="50000"/>
                  </a:schemeClr>
                </a:solidFill>
                <a:latin typeface="宋体"/>
                <a:ea typeface="宋体"/>
                <a:cs typeface="宋体"/>
              </a:rPr>
              <a:t>社区使命：使能开发者基于CANN社区自主研究创新，构筑根深叶茂、跨产业协同共享共赢的CANN生态</a:t>
            </a:r>
            <a:endParaRPr sz="1200">
              <a:solidFill>
                <a:schemeClr val="bg1">
                  <a:lumMod val="50000"/>
                </a:schemeClr>
              </a:solidFill>
              <a:latin typeface="宋体"/>
              <a:ea typeface="宋体"/>
              <a:cs typeface="宋体"/>
            </a:endParaRPr>
          </a:p>
          <a:p>
            <a:pPr>
              <a:lnSpc>
                <a:spcPct val="150000"/>
              </a:lnSpc>
              <a:buNone/>
            </a:pPr>
          </a:p>
          <a:p>
            <a:pPr>
              <a:lnSpc>
                <a:spcPct val="150000"/>
              </a:lnSpc>
              <a:buNone/>
            </a:pPr>
            <a:r>
              <a:rPr sz="1000">
                <a:solidFill>
                  <a:schemeClr val="bg1">
                    <a:lumMod val="50000"/>
                  </a:schemeClr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Vision: Building an Open, Easy-to-Use, and Technology-leading AI Computing Ecosystem</a:t>
            </a:r>
            <a:endParaRPr sz="1000">
              <a:solidFill>
                <a:schemeClr val="bg1">
                  <a:lumMod val="50000"/>
                </a:schemeClr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>
              <a:lnSpc>
                <a:spcPct val="150000"/>
              </a:lnSpc>
              <a:buNone/>
            </a:pPr>
            <a:r>
              <a:rPr sz="1000">
                <a:solidFill>
                  <a:schemeClr val="bg1">
                    <a:lumMod val="50000"/>
                  </a:schemeClr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Mission: Enable developers to independently research and innovate based on the CANN community and build a win-win CANN ecosystem with deep roots and cross-industry collaboration and sharing.</a:t>
            </a:r>
            <a:endParaRPr sz="1000">
              <a:solidFill>
                <a:schemeClr val="bg1">
                  <a:lumMod val="50000"/>
                </a:schemeClr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20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9" name="文本框 8"/>
          <p:cNvSpPr>
            <a:spLocks noGrp="1"/>
          </p:cNvSpPr>
          <p:nvPr/>
        </p:nvSpPr>
        <p:spPr>
          <a:xfrm>
            <a:off x="7056392" y="5538463"/>
            <a:ext cx="14302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上CANN社区获取干货</a:t>
            </a:r>
            <a:endParaRPr sz="1000"/>
          </a:p>
        </p:txBody>
      </p:sp>
      <p:sp>
        <p:nvSpPr>
          <p:cNvPr id="11" name="文本框 10"/>
          <p:cNvSpPr>
            <a:spLocks noGrp="1"/>
          </p:cNvSpPr>
          <p:nvPr/>
        </p:nvSpPr>
        <p:spPr>
          <a:xfrm>
            <a:off x="8741387" y="5538463"/>
            <a:ext cx="168668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关注CANN公众号获取资讯</a:t>
            </a:r>
            <a:endParaRPr sz="1000"/>
          </a:p>
        </p:txBody>
      </p:sp>
      <p:sp>
        <p:nvSpPr>
          <p:cNvPr id="14" name="文本框 13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+mj-ea"/>
                <a:hlinkClick r:id="rId2"/>
              </a:rPr>
              <a:t>https://gitcode.com/cann/cann-learning-hub/tree/test/tutorials</a:t>
            </a:r>
            <a:endParaRPr sz="100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+mj-ea"/>
              <a:hlinkClick r:id="rId2"/>
            </a:endParaRPr>
          </a:p>
        </p:txBody>
      </p:sp>
      <p:pic>
        <p:nvPicPr>
          <p:cNvPr id="24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584" y="3898269"/>
            <a:ext cx="1686679" cy="1686679"/>
          </a:xfrm>
          <a:prstGeom prst="rect">
            <a:avLst/>
          </a:prstGeom>
        </p:spPr>
      </p:pic>
      <p:pic>
        <p:nvPicPr>
          <p:cNvPr id="25" name="Picture 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965102" y="3908076"/>
            <a:ext cx="1686678" cy="1676872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6910</Words>
  <Application>WPS 演示</Application>
  <PresentationFormat>宽屏</PresentationFormat>
  <Paragraphs>1022</Paragraphs>
  <Slides>29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8" baseType="lpstr">
      <vt:lpstr>Arial</vt:lpstr>
      <vt:lpstr>宋体</vt:lpstr>
      <vt:lpstr>Wingdings</vt:lpstr>
      <vt:lpstr>Wingdings</vt:lpstr>
      <vt:lpstr>苹方-简</vt:lpstr>
      <vt:lpstr>微软雅黑</vt:lpstr>
      <vt:lpstr>汉仪旗黑</vt:lpstr>
      <vt:lpstr>宋体</vt:lpstr>
      <vt:lpstr>Arial Unicode MS</vt:lpstr>
      <vt:lpstr>宋体-简</vt:lpstr>
      <vt:lpstr>微软雅黑</vt:lpstr>
      <vt:lpstr>等线 Light</vt:lpstr>
      <vt:lpstr>Arial</vt:lpstr>
      <vt:lpstr>Consolas</vt:lpstr>
      <vt:lpstr>宋体</vt:lpstr>
      <vt:lpstr>等线</vt:lpstr>
      <vt:lpstr>Thonburi</vt:lpstr>
      <vt:lpstr>WPS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liuyuanchen</cp:lastModifiedBy>
  <cp:revision>164</cp:revision>
  <dcterms:created xsi:type="dcterms:W3CDTF">2026-07-20T07:27:50Z</dcterms:created>
  <dcterms:modified xsi:type="dcterms:W3CDTF">2026-07-20T07:27:50Z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2052-12.1.26035.26035</vt:lpwstr>
  </property>
  <property fmtid="{D5CDD505-2E9C-101B-9397-08002B2CF9AE}" pid="3" name="ICV">
    <vt:lpwstr>4B248C1D09428FA38ECD5D6AE4C7DD17_41</vt:lpwstr>
  </property>
</Properties>
</file>