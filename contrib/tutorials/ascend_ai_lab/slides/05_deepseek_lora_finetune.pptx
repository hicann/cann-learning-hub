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3"/>
    <p:sldMasterId id="2147483662" r:id="rId4"/>
    <p:sldMasterId id="2147483669" r:id="rId5"/>
  </p:sldMasterIdLst>
  <p:notesMasterIdLst>
    <p:notesMasterId r:id="rId7"/>
  </p:notesMasterIdLst>
  <p:handoutMasterIdLst>
    <p:handoutMasterId r:id="rId39"/>
  </p:handoutMasterIdLst>
  <p:sldIdLst>
    <p:sldId id="308" r:id="rId6"/>
    <p:sldId id="329" r:id="rId8"/>
    <p:sldId id="261" r:id="rId9"/>
    <p:sldId id="309" r:id="rId10"/>
    <p:sldId id="260" r:id="rId11"/>
    <p:sldId id="330" r:id="rId12"/>
    <p:sldId id="331" r:id="rId13"/>
    <p:sldId id="356" r:id="rId14"/>
    <p:sldId id="382" r:id="rId15"/>
    <p:sldId id="383" r:id="rId16"/>
    <p:sldId id="384" r:id="rId17"/>
    <p:sldId id="385" r:id="rId18"/>
    <p:sldId id="386" r:id="rId19"/>
    <p:sldId id="387" r:id="rId20"/>
    <p:sldId id="388" r:id="rId21"/>
    <p:sldId id="389" r:id="rId22"/>
    <p:sldId id="390" r:id="rId23"/>
    <p:sldId id="379" r:id="rId24"/>
    <p:sldId id="344" r:id="rId25"/>
    <p:sldId id="345" r:id="rId26"/>
    <p:sldId id="346" r:id="rId27"/>
    <p:sldId id="347" r:id="rId28"/>
    <p:sldId id="348" r:id="rId29"/>
    <p:sldId id="349" r:id="rId30"/>
    <p:sldId id="380" r:id="rId31"/>
    <p:sldId id="353" r:id="rId32"/>
    <p:sldId id="381" r:id="rId33"/>
    <p:sldId id="355" r:id="rId34"/>
    <p:sldId id="391" r:id="rId35"/>
    <p:sldId id="395" r:id="rId36"/>
    <p:sldId id="393" r:id="rId37"/>
    <p:sldId id="270" r:id="rId3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4" orient="horz" pos="22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ADCDEA"/>
    <a:srgbClr val="404040"/>
    <a:srgbClr val="EBEBEB"/>
    <a:srgbClr val="151515"/>
    <a:srgbClr val="575756"/>
    <a:srgbClr val="FFFFFF"/>
    <a:srgbClr val="DD4654"/>
    <a:srgbClr val="F3D2D5"/>
    <a:srgbClr val="E6A8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1"/>
  </p:normalViewPr>
  <p:slideViewPr>
    <p:cSldViewPr snapToGrid="0" snapToObjects="1" showGuides="1">
      <p:cViewPr varScale="1">
        <p:scale>
          <a:sx n="65" d="100"/>
          <a:sy n="65" d="100"/>
        </p:scale>
        <p:origin x="556" y="60"/>
      </p:cViewPr>
      <p:guideLst>
        <p:guide pos="3840"/>
        <p:guide orient="horz" pos="222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49" d="100"/>
          <a:sy n="49" d="100"/>
        </p:scale>
        <p:origin x="2716" y="44"/>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5" Type="http://schemas.openxmlformats.org/officeDocument/2006/relationships/customXml" Target="../customXml/item3.xml"/><Relationship Id="rId44" Type="http://schemas.openxmlformats.org/officeDocument/2006/relationships/customXml" Target="../customXml/item2.xml"/><Relationship Id="rId43" Type="http://schemas.openxmlformats.org/officeDocument/2006/relationships/customXml" Target="../customXml/item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handoutMaster" Target="handoutMasters/handoutMaster1.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fld>
            <a:endParaRPr lang="en-US" dirty="0">
              <a:latin typeface="Huawei Sans" panose="020C0503030203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59840"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1988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添加页码</a:t>
            </a:r>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ea typeface="微软雅黑" panose="020B0503020204020204" pitchFamily="34" charset="-122"/>
              </a:rPr>
            </a:fld>
            <a:endParaRPr lang="en-US">
              <a:latin typeface="Arial" panose="020B0604020202020204" pitchFamily="34" charset="0"/>
              <a:ea typeface="微软雅黑"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 y="0"/>
            <a:ext cx="12187239"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5817" y="562718"/>
            <a:ext cx="1068804"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5817" y="562718"/>
            <a:ext cx="1067056" cy="1026710"/>
          </a:xfrm>
          <a:prstGeom prst="rect">
            <a:avLst/>
          </a:prstGeom>
          <a:noFill/>
          <a:ln>
            <a:noFill/>
          </a:ln>
        </p:spPr>
      </p:pic>
      <p:sp>
        <p:nvSpPr>
          <p:cNvPr id="5" name="Title 1"/>
          <p:cNvSpPr>
            <a:spLocks noGrp="1"/>
          </p:cNvSpPr>
          <p:nvPr>
            <p:ph type="ctrTitle" hasCustomPrompt="1"/>
          </p:nvPr>
        </p:nvSpPr>
        <p:spPr>
          <a:xfrm>
            <a:off x="665818" y="2738746"/>
            <a:ext cx="6557247" cy="690255"/>
          </a:xfrm>
          <a:prstGeom prst="rect">
            <a:avLst/>
          </a:prstGeom>
          <a:ln>
            <a:noFill/>
            <a:prstDash val="dash"/>
          </a:ln>
        </p:spPr>
        <p:txBody>
          <a:bodyPr lIns="0" tIns="0" rIns="0" bIns="0" anchor="t">
            <a:normAutofit/>
          </a:bodyPr>
          <a:lstStyle>
            <a:lvl1pPr algn="l">
              <a:lnSpc>
                <a:spcPct val="100000"/>
              </a:lnSpc>
              <a:defRPr sz="48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gridCol w="1967450"/>
                <a:gridCol w="3023155"/>
                <a:gridCol w="2084624"/>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gridCol w="1967450"/>
                <a:gridCol w="3023155"/>
                <a:gridCol w="2067692"/>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endParaRPr lang="zh-CN" altLang="en-US" dirty="0"/>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endParaRPr lang="zh-CN" altLang="en-US" dirty="0"/>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endParaRPr lang="zh-CN" altLang="en-US" dirty="0"/>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ctr" hangingPunct="0">
              <a:spcBef>
                <a:spcPct val="0"/>
              </a:spcBef>
              <a:spcAft>
                <a:spcPct val="0"/>
              </a:spcAft>
            </a:pPr>
            <a:r>
              <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endPar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fontAlgn="ctr">
              <a:spcBef>
                <a:spcPct val="50000"/>
              </a:spcBef>
            </a:pPr>
            <a:r>
              <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endPar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17614"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前言</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20820"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4397358"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2005" rtl="0" eaLnBrk="1" fontAlgn="ctr"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思考题</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11"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本节小结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本章总结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endParaRPr lang="zh-CN" altLang="en-US" dirty="0"/>
          </a:p>
        </p:txBody>
      </p:sp>
      <p:cxnSp>
        <p:nvCxnSpPr>
          <p:cNvPr id="12"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更多信息</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学习推荐</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p:cNvSpPr txBox="1"/>
          <p:nvPr userDrawn="1"/>
        </p:nvSpPr>
        <p:spPr>
          <a:xfrm>
            <a:off x="607486" y="1402064"/>
            <a:ext cx="3921034" cy="854717"/>
          </a:xfrm>
          <a:prstGeom prst="rect">
            <a:avLst/>
          </a:prstGeom>
          <a:noFill/>
        </p:spPr>
        <p:txBody>
          <a:bodyPr wrap="square" rtlCol="0">
            <a:spAutoFit/>
          </a:bodyPr>
          <a:lstStyle/>
          <a:p>
            <a:pPr algn="l"/>
            <a:r>
              <a:rPr lang="en-US" sz="4940" baseline="0" dirty="0">
                <a:solidFill>
                  <a:schemeClr val="tx1"/>
                </a:solidFill>
                <a:latin typeface="Huawei Sans" panose="020C0503030203020204" pitchFamily="34" charset="0"/>
                <a:ea typeface="方正兰亭黑简体" panose="02000000000000000000" pitchFamily="2" charset="-122"/>
              </a:rPr>
              <a:t>Thank you.</a:t>
            </a:r>
            <a:endParaRPr lang="en-US" sz="4940" baseline="0" dirty="0">
              <a:solidFill>
                <a:schemeClr val="tx1"/>
              </a:solidFill>
              <a:latin typeface="Huawei Sans" panose="020C0503030203020204" pitchFamily="34" charset="0"/>
              <a:ea typeface="方正兰亭黑简体" panose="02000000000000000000"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2" Type="http://schemas.openxmlformats.org/officeDocument/2006/relationships/theme" Target="../theme/theme2.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7" Type="http://schemas.openxmlformats.org/officeDocument/2006/relationships/theme" Target="../theme/theme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4.png"/><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0" name="Group 87"/>
          <p:cNvGrpSpPr>
            <a:grpSpLocks noChangeAspect="1"/>
          </p:cNvGrpSpPr>
          <p:nvPr userDrawn="1"/>
        </p:nvGrpSpPr>
        <p:grpSpPr>
          <a:xfrm>
            <a:off x="12290471" y="2625389"/>
            <a:ext cx="1963323" cy="4233515"/>
            <a:chOff x="5343885" y="-48857"/>
            <a:chExt cx="3263586" cy="7037279"/>
          </a:xfrm>
        </p:grpSpPr>
        <p:sp>
          <p:nvSpPr>
            <p:cNvPr id="31"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3"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7"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8"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40"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5"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6"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7"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8"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9"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0"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1"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52"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3"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4"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5"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6"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7"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8"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9"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0"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1"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2"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3"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4"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7" name="Group 87"/>
          <p:cNvGrpSpPr>
            <a:grpSpLocks noChangeAspect="1"/>
          </p:cNvGrpSpPr>
          <p:nvPr userDrawn="1"/>
        </p:nvGrpSpPr>
        <p:grpSpPr>
          <a:xfrm>
            <a:off x="12290471" y="2625389"/>
            <a:ext cx="1963323" cy="4233515"/>
            <a:chOff x="5343885" y="-48857"/>
            <a:chExt cx="3263586" cy="7037279"/>
          </a:xfrm>
        </p:grpSpPr>
        <p:sp>
          <p:nvSpPr>
            <p:cNvPr id="28"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29"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0"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7"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9"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1"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7"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9"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3765"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txStyles>
    <p:title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4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35/24/21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grpSp>
      <p:sp>
        <p:nvSpPr>
          <p:cNvPr id="70"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71"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Huawei Sans" panose="020C0503030203020204" pitchFamily="34" charset="0"/>
                <a:ea typeface="方正兰亭黑简体" panose="02000000000000000000" pitchFamily="2" charset="-122"/>
              </a:rPr>
              <a:t>Copyright©2026 Huawei Technologies Co., Ltd.</a:t>
            </a:r>
            <a:br>
              <a:rPr kumimoji="1" lang="en-US" altLang="zh-CN" sz="850" b="1" baseline="0" dirty="0">
                <a:solidFill>
                  <a:srgbClr val="1D1D1B"/>
                </a:solidFill>
                <a:latin typeface="Huawei Sans" panose="020C0503030203020204" pitchFamily="34" charset="0"/>
                <a:ea typeface="方正兰亭黑简体" panose="02000000000000000000" pitchFamily="2" charset="-122"/>
              </a:rPr>
            </a:br>
            <a:r>
              <a:rPr kumimoji="1" lang="en-US" altLang="zh-CN" sz="850" b="1" baseline="0" dirty="0">
                <a:solidFill>
                  <a:srgbClr val="1D1D1B"/>
                </a:solidFill>
                <a:latin typeface="Huawei Sans" panose="020C0503030203020204" pitchFamily="34" charset="0"/>
                <a:ea typeface="方正兰亭黑简体" panose="02000000000000000000" pitchFamily="2" charset="-122"/>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1" lang="en-US" altLang="zh-CN" sz="85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endParaRPr>
          </a:p>
          <a:p>
            <a:pPr>
              <a:lnSpc>
                <a:spcPts val="1065"/>
              </a:lnSpc>
            </a:pPr>
            <a:endParaRPr kumimoji="1" lang="zh-CN" altLang="en-US" sz="780" dirty="0">
              <a:solidFill>
                <a:srgbClr val="1D1D1B"/>
              </a:solidFill>
              <a:latin typeface="+mn-lt"/>
            </a:endParaRPr>
          </a:p>
        </p:txBody>
      </p:sp>
      <p:sp>
        <p:nvSpPr>
          <p:cNvPr id="72"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t>把数字世界带入每个人、每个家庭、</a:t>
            </a:r>
            <a:br>
              <a:rPr kumimoji="1" lang="en-US" altLang="zh-CN"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br>
            <a:r>
              <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t>每个组织，构建万物互联的智能世界。</a:t>
            </a:r>
            <a:endPar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
        <p:nvSpPr>
          <p:cNvPr id="73"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Bring digital to every person, home, and </a:t>
            </a:r>
            <a:b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b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organization for a fully connected, </a:t>
            </a:r>
            <a:b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b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intelligent world.</a:t>
            </a:r>
            <a:endParaRPr kumimoji="1" lang="zh-CN" altLang="en-US" sz="12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endParaRPr>
          </a:p>
        </p:txBody>
      </p:sp>
      <p:pic>
        <p:nvPicPr>
          <p:cNvPr id="74" name="图片 7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70" r:id="rId1"/>
  </p:sldLayoutIdLst>
  <p:hf hdr="0" ftr="0" dt="0"/>
  <p:txStyles>
    <p:titleStyle>
      <a:lvl1pPr algn="l" defTabSz="1187450" rtl="0" eaLnBrk="1" latinLnBrk="0" hangingPunct="1">
        <a:lnSpc>
          <a:spcPct val="90000"/>
        </a:lnSpc>
        <a:spcBef>
          <a:spcPct val="0"/>
        </a:spcBef>
        <a:buNone/>
        <a:defRPr sz="5000"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450" rtl="0" eaLnBrk="1" latinLnBrk="0" hangingPunct="1">
        <a:lnSpc>
          <a:spcPct val="90000"/>
        </a:lnSpc>
        <a:spcBef>
          <a:spcPts val="1300"/>
        </a:spcBef>
        <a:buFont typeface="Arial" panose="020B0604020202020204" pitchFamily="34" charset="0"/>
        <a:buNone/>
        <a:defRPr sz="1820" kern="1200">
          <a:solidFill>
            <a:srgbClr val="FFFFFF"/>
          </a:solidFill>
          <a:latin typeface="微软雅黑" panose="020B0503020204020204" pitchFamily="34" charset="-122"/>
          <a:ea typeface="微软雅黑" panose="020B0503020204020204" pitchFamily="34" charset="-122"/>
          <a:cs typeface="+mn-cs"/>
        </a:defRPr>
      </a:lvl1pPr>
      <a:lvl2pPr marL="593725" indent="0" algn="l" defTabSz="1187450" rtl="0" eaLnBrk="1" latinLnBrk="0" hangingPunct="1">
        <a:lnSpc>
          <a:spcPct val="90000"/>
        </a:lnSpc>
        <a:spcBef>
          <a:spcPts val="650"/>
        </a:spcBef>
        <a:buFont typeface="Arial" panose="020B0604020202020204" pitchFamily="34" charset="0"/>
        <a:buNone/>
        <a:defRPr sz="3115" kern="1200">
          <a:solidFill>
            <a:schemeClr val="tx1"/>
          </a:solidFill>
          <a:latin typeface="+mn-lt"/>
          <a:ea typeface="+mn-ea"/>
          <a:cs typeface="+mn-cs"/>
        </a:defRPr>
      </a:lvl2pPr>
      <a:lvl3pPr marL="1187450" indent="0" algn="l"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3pPr>
      <a:lvl4pPr marL="1781175"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4pPr>
      <a:lvl5pPr marL="2374900"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61672" y="3446033"/>
            <a:ext cx="2550356"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672" y="1941771"/>
            <a:ext cx="6557248" cy="689985"/>
          </a:xfrm>
        </p:spPr>
        <p:txBody>
          <a:bodyPr>
            <a:normAutofit fontScale="90000"/>
          </a:bodyPr>
          <a:lstStyle/>
          <a:p>
            <a:r>
              <a:rPr lang="en-US" altLang="zh-CN" dirty="0"/>
              <a:t>DeepSeek-LLM-7B LoRA </a:t>
            </a:r>
            <a:r>
              <a:rPr lang="zh-CN" altLang="en-US" dirty="0"/>
              <a:t>微调实战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LoRA 与 FlashAttention 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marL="0" indent="0">
              <a:lnSpc>
                <a:spcPct val="150000"/>
              </a:lnSpc>
              <a:buNone/>
            </a:pPr>
            <a:r>
              <a:rPr lang="en-US" sz="18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大语言模型（LLM）在通用对话场景展现了强大的能力。全参数微调 7B 模型显存需求超过 20GB，硬件门槛极高。</a:t>
            </a:r>
            <a:endParaRPr lang="en-US" sz="18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0" indent="0">
              <a:lnSpc>
                <a:spcPct val="150000"/>
              </a:lnSpc>
              <a:buNone/>
            </a:pPr>
            <a:r>
              <a:rPr lang="en-US" sz="18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LoRA 优势：通过冻结原始权重、插入低秩分解矩阵，仅训练约 393 万参数（0.057%），显存需求从 50-70GB 降至约 16GB。</a:t>
            </a:r>
            <a:endParaRPr lang="en-US" sz="1800" dirty="0"/>
          </a:p>
          <a:p>
            <a:pPr marL="0" indent="0">
              <a:lnSpc>
                <a:spcPct val="150000"/>
              </a:lnSpc>
              <a:buNone/>
            </a:pPr>
            <a:r>
              <a:rPr lang="en-US" sz="18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本实验基于 CANNLab 平台上的 Ascend NPU 910B4（32GB HBM），使用 1596 条心理健康多轮对话数据集。</a:t>
            </a:r>
            <a:endParaRPr lang="en-US" sz="1800" dirty="0"/>
          </a:p>
          <a:p>
            <a:endParaRPr lang="zh-CN"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3108" y="274320"/>
            <a:ext cx="10058400" cy="640080"/>
          </a:xfrm>
          <a:prstGeom prst="rect">
            <a:avLst/>
          </a:prstGeom>
          <a:noFill/>
        </p:spPr>
        <p:txBody>
          <a:bodyPr wrap="square" rtlCol="0" anchor="ctr"/>
          <a:lstStyle/>
          <a:p>
            <a:pPr marL="0" indent="0">
              <a:buNone/>
            </a:pPr>
            <a:endParaRPr lang="en-US" sz="2400" dirty="0"/>
          </a:p>
        </p:txBody>
      </p:sp>
      <p:sp>
        <p:nvSpPr>
          <p:cNvPr id="4" name="Shape 2"/>
          <p:cNvSpPr/>
          <p:nvPr/>
        </p:nvSpPr>
        <p:spPr>
          <a:xfrm>
            <a:off x="733108" y="1234440"/>
            <a:ext cx="10515600" cy="27432"/>
          </a:xfrm>
          <a:prstGeom prst="rect">
            <a:avLst/>
          </a:prstGeom>
          <a:solidFill>
            <a:srgbClr val="0072C6"/>
          </a:solidFill>
        </p:spPr>
      </p:sp>
      <p:sp>
        <p:nvSpPr>
          <p:cNvPr id="5" name="Text 3"/>
          <p:cNvSpPr/>
          <p:nvPr/>
        </p:nvSpPr>
        <p:spPr>
          <a:xfrm>
            <a:off x="733108" y="1463040"/>
            <a:ext cx="10515600" cy="4754880"/>
          </a:xfrm>
          <a:prstGeom prst="rect">
            <a:avLst/>
          </a:prstGeom>
          <a:noFill/>
        </p:spPr>
        <p:txBody>
          <a:bodyPr wrap="square" rtlCol="0" anchor="t"/>
          <a:lstStyle/>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完成本课程后，你应当能：</a:t>
            </a:r>
            <a:endParaRPr lang="en-US" sz="1600" dirty="0"/>
          </a:p>
          <a:p>
            <a:pPr marL="0" indent="0">
              <a:lnSpc>
                <a:spcPct val="150000"/>
              </a:lnSpc>
              <a:buNone/>
            </a:pP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1） 掌握 CANNLab 平台环境配置与 Ascend NPU 模型加载</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2） 使用 ModelScope 下载预训练大语言模型，解决分词器兼容性问题</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3） 多轮对话数据的加载、探索与格式化处理</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4） 理解深度学习模型微调原理和 LoRA 参数配置方法</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5） 使用 trl 库 SFTTrainer 进行指令微调训练</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6） 掌握超参数调整和 SwanLab 实时监控技巧</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7） 理解 FlashAttention（SDPA）硬件加速原理</a:t>
            </a:r>
            <a:endParaRPr lang="en-US" sz="1600" dirty="0"/>
          </a:p>
          <a:p>
            <a:pPr marL="0" indent="0">
              <a:lnSpc>
                <a:spcPct val="150000"/>
              </a:lnSpc>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LoRA 与 FlashAttention 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实验环境-硬件要求</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1097280" y="1706880"/>
            <a:ext cx="3048000" cy="1219200"/>
          </a:xfrm>
          <a:prstGeom prst="roundRect">
            <a:avLst>
              <a:gd name="adj" fmla="val 8000"/>
            </a:avLst>
          </a:prstGeom>
          <a:solidFill>
            <a:srgbClr val="1F4E79"/>
          </a:solidFill>
          <a:ln w="12700">
            <a:solidFill>
              <a:srgbClr val="FFFFFF"/>
            </a:solidFill>
            <a:prstDash val="solid"/>
          </a:ln>
        </p:spPr>
      </p:sp>
      <p:sp>
        <p:nvSpPr>
          <p:cNvPr id="6" name="Text 4"/>
          <p:cNvSpPr/>
          <p:nvPr/>
        </p:nvSpPr>
        <p:spPr>
          <a:xfrm>
            <a:off x="1158240" y="170688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Ascend NPU</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910B4 32GB HBM</a:t>
            </a:r>
            <a:endParaRPr lang="en-US" sz="2135" dirty="0"/>
          </a:p>
        </p:txBody>
      </p:sp>
      <p:sp>
        <p:nvSpPr>
          <p:cNvPr id="7" name="Shape 5"/>
          <p:cNvSpPr/>
          <p:nvPr/>
        </p:nvSpPr>
        <p:spPr>
          <a:xfrm>
            <a:off x="4572000" y="1706880"/>
            <a:ext cx="3048000" cy="1219200"/>
          </a:xfrm>
          <a:prstGeom prst="roundRect">
            <a:avLst>
              <a:gd name="adj" fmla="val 8000"/>
            </a:avLst>
          </a:prstGeom>
          <a:solidFill>
            <a:srgbClr val="2E86AB"/>
          </a:solidFill>
          <a:ln w="12700">
            <a:solidFill>
              <a:srgbClr val="FFFFFF"/>
            </a:solidFill>
            <a:prstDash val="solid"/>
          </a:ln>
        </p:spPr>
      </p:sp>
      <p:sp>
        <p:nvSpPr>
          <p:cNvPr id="8" name="Text 6"/>
          <p:cNvSpPr/>
          <p:nvPr/>
        </p:nvSpPr>
        <p:spPr>
          <a:xfrm>
            <a:off x="4632960" y="170688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CPU</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8 核</a:t>
            </a:r>
            <a:endParaRPr lang="en-US" sz="2135" dirty="0"/>
          </a:p>
        </p:txBody>
      </p:sp>
      <p:sp>
        <p:nvSpPr>
          <p:cNvPr id="9" name="Shape 7"/>
          <p:cNvSpPr/>
          <p:nvPr/>
        </p:nvSpPr>
        <p:spPr>
          <a:xfrm>
            <a:off x="8046720" y="1706880"/>
            <a:ext cx="3048000" cy="1219200"/>
          </a:xfrm>
          <a:prstGeom prst="roundRect">
            <a:avLst>
              <a:gd name="adj" fmla="val 8000"/>
            </a:avLst>
          </a:prstGeom>
          <a:solidFill>
            <a:srgbClr val="E67E22"/>
          </a:solidFill>
          <a:ln w="12700">
            <a:solidFill>
              <a:srgbClr val="FFFFFF"/>
            </a:solidFill>
            <a:prstDash val="solid"/>
          </a:ln>
        </p:spPr>
      </p:sp>
      <p:sp>
        <p:nvSpPr>
          <p:cNvPr id="10" name="Text 8"/>
          <p:cNvSpPr/>
          <p:nvPr/>
        </p:nvSpPr>
        <p:spPr>
          <a:xfrm>
            <a:off x="8107680" y="170688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内存</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32 GB</a:t>
            </a:r>
            <a:endParaRPr lang="en-US" sz="2135" dirty="0"/>
          </a:p>
        </p:txBody>
      </p:sp>
      <p:sp>
        <p:nvSpPr>
          <p:cNvPr id="11" name="Shape 9"/>
          <p:cNvSpPr/>
          <p:nvPr/>
        </p:nvSpPr>
        <p:spPr>
          <a:xfrm>
            <a:off x="1097280" y="3413760"/>
            <a:ext cx="3048000" cy="1219200"/>
          </a:xfrm>
          <a:prstGeom prst="roundRect">
            <a:avLst>
              <a:gd name="adj" fmla="val 8000"/>
            </a:avLst>
          </a:prstGeom>
          <a:solidFill>
            <a:srgbClr val="27AE60"/>
          </a:solidFill>
          <a:ln w="12700">
            <a:solidFill>
              <a:srgbClr val="FFFFFF"/>
            </a:solidFill>
            <a:prstDash val="solid"/>
          </a:ln>
        </p:spPr>
      </p:sp>
      <p:sp>
        <p:nvSpPr>
          <p:cNvPr id="12" name="Text 10"/>
          <p:cNvSpPr/>
          <p:nvPr/>
        </p:nvSpPr>
        <p:spPr>
          <a:xfrm>
            <a:off x="1158240" y="341376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硬盘</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15 GB</a:t>
            </a:r>
            <a:endParaRPr lang="en-US" sz="2135" dirty="0"/>
          </a:p>
        </p:txBody>
      </p:sp>
      <p:sp>
        <p:nvSpPr>
          <p:cNvPr id="13" name="Shape 11"/>
          <p:cNvSpPr/>
          <p:nvPr/>
        </p:nvSpPr>
        <p:spPr>
          <a:xfrm>
            <a:off x="4572000" y="3413760"/>
            <a:ext cx="3048000" cy="1219200"/>
          </a:xfrm>
          <a:prstGeom prst="roundRect">
            <a:avLst>
              <a:gd name="adj" fmla="val 8000"/>
            </a:avLst>
          </a:prstGeom>
          <a:solidFill>
            <a:srgbClr val="8E44AD"/>
          </a:solidFill>
          <a:ln w="12700">
            <a:solidFill>
              <a:srgbClr val="FFFFFF"/>
            </a:solidFill>
            <a:prstDash val="solid"/>
          </a:ln>
        </p:spPr>
      </p:sp>
      <p:sp>
        <p:nvSpPr>
          <p:cNvPr id="14" name="Text 12"/>
          <p:cNvSpPr/>
          <p:nvPr/>
        </p:nvSpPr>
        <p:spPr>
          <a:xfrm>
            <a:off x="4632960" y="3413760"/>
            <a:ext cx="2926080" cy="12192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模型</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DeepSeek-7B-Chat</a:t>
            </a:r>
            <a:endParaRPr lang="en-US" sz="2000" dirty="0"/>
          </a:p>
        </p:txBody>
      </p:sp>
      <p:sp>
        <p:nvSpPr>
          <p:cNvPr id="15" name="Shape 13"/>
          <p:cNvSpPr/>
          <p:nvPr/>
        </p:nvSpPr>
        <p:spPr>
          <a:xfrm>
            <a:off x="8046720" y="3413760"/>
            <a:ext cx="3048000" cy="1219200"/>
          </a:xfrm>
          <a:prstGeom prst="roundRect">
            <a:avLst>
              <a:gd name="adj" fmla="val 8000"/>
            </a:avLst>
          </a:prstGeom>
          <a:solidFill>
            <a:srgbClr val="2E86AB"/>
          </a:solidFill>
          <a:ln w="12700">
            <a:solidFill>
              <a:srgbClr val="FFFFFF"/>
            </a:solidFill>
            <a:prstDash val="solid"/>
          </a:ln>
        </p:spPr>
      </p:sp>
      <p:sp>
        <p:nvSpPr>
          <p:cNvPr id="16" name="Text 14"/>
          <p:cNvSpPr/>
          <p:nvPr/>
        </p:nvSpPr>
        <p:spPr>
          <a:xfrm>
            <a:off x="8107680" y="341376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数据</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1596 条对话</a:t>
            </a:r>
            <a:endParaRPr lang="en-US" sz="2135" dirty="0"/>
          </a:p>
        </p:txBody>
      </p:sp>
      <p:sp>
        <p:nvSpPr>
          <p:cNvPr id="17" name="Text 15"/>
          <p:cNvSpPr/>
          <p:nvPr/>
        </p:nvSpPr>
        <p:spPr>
          <a:xfrm>
            <a:off x="853440" y="5242560"/>
            <a:ext cx="10485120" cy="731520"/>
          </a:xfrm>
          <a:prstGeom prst="rect">
            <a:avLst/>
          </a:prstGeom>
          <a:noFill/>
        </p:spPr>
        <p:txBody>
          <a:bodyPr wrap="square" rtlCol="0" anchor="t"/>
          <a:lstStyle/>
          <a:p>
            <a:pPr marL="0" indent="0" algn="ctr">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推荐使用 CANNLab 平台，镜像已预装 torch 与 torch_npu。</a:t>
            </a:r>
            <a:endParaRPr lang="en-US" sz="213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实验环境-软件安装</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975360" y="158496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%pip install -q -i https://pypi.tuna.tsinghua.edu.cn/simple \</a:t>
            </a:r>
            <a:endParaRPr lang="en-US" sz="2000" dirty="0"/>
          </a:p>
        </p:txBody>
      </p:sp>
      <p:sp>
        <p:nvSpPr>
          <p:cNvPr id="6" name="Text 4"/>
          <p:cNvSpPr/>
          <p:nvPr/>
        </p:nvSpPr>
        <p:spPr>
          <a:xfrm>
            <a:off x="975360" y="22555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modelscope==1.35.4 transformers==5.5.4 trl==1.2.0 \</a:t>
            </a:r>
            <a:endParaRPr lang="en-US" sz="2000" dirty="0"/>
          </a:p>
        </p:txBody>
      </p:sp>
      <p:sp>
        <p:nvSpPr>
          <p:cNvPr id="7" name="Text 5"/>
          <p:cNvSpPr/>
          <p:nvPr/>
        </p:nvSpPr>
        <p:spPr>
          <a:xfrm>
            <a:off x="975360" y="29260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datasets==4.8.4 swanlab==0.7.15 accelerate==1.13.0 peft</a:t>
            </a:r>
            <a:endParaRPr lang="en-US" sz="2000" dirty="0"/>
          </a:p>
        </p:txBody>
      </p:sp>
      <p:sp>
        <p:nvSpPr>
          <p:cNvPr id="8" name="Text 6"/>
          <p:cNvSpPr/>
          <p:nvPr/>
        </p:nvSpPr>
        <p:spPr>
          <a:xfrm>
            <a:off x="975360" y="38404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import torch</a:t>
            </a:r>
            <a:endParaRPr lang="en-US" sz="2000" dirty="0"/>
          </a:p>
        </p:txBody>
      </p:sp>
      <p:sp>
        <p:nvSpPr>
          <p:cNvPr id="9" name="Text 7"/>
          <p:cNvSpPr/>
          <p:nvPr/>
        </p:nvSpPr>
        <p:spPr>
          <a:xfrm>
            <a:off x="975360" y="44500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import torch_npu  # 注册 NPU 后端</a:t>
            </a:r>
            <a:endParaRPr lang="en-US" sz="2000" dirty="0"/>
          </a:p>
        </p:txBody>
      </p:sp>
      <p:sp>
        <p:nvSpPr>
          <p:cNvPr id="10" name="Text 8"/>
          <p:cNvSpPr/>
          <p:nvPr/>
        </p:nvSpPr>
        <p:spPr>
          <a:xfrm>
            <a:off x="975360" y="50596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print(torch.npu.is_available())  # True</a:t>
            </a:r>
            <a:endParaRPr lang="en-US" sz="2000" dirty="0"/>
          </a:p>
        </p:txBody>
      </p:sp>
      <p:sp>
        <p:nvSpPr>
          <p:cNvPr id="11" name="Text 9"/>
          <p:cNvSpPr/>
          <p:nvPr/>
        </p:nvSpPr>
        <p:spPr>
          <a:xfrm>
            <a:off x="853440" y="5913120"/>
            <a:ext cx="10485120" cy="60960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CANNLab 默认镜像已预装 torch 与 torch_npu，无需重复安装。</a:t>
            </a:r>
            <a:endParaRPr lang="en-US" sz="213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LoRA 与 FlashAttention 原理介绍</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为什么大模型微调很吃显存</a:t>
            </a:r>
            <a:endParaRPr lang="en-US" sz="3200" b="1" dirty="0">
              <a:solidFill>
                <a:srgbClr val="111111"/>
              </a:solidFill>
              <a:latin typeface="Arial" panose="020B0604020202020204" pitchFamily="34" charset="0"/>
              <a:ea typeface="Arial" panose="020B0604020202020204" pitchFamily="34" charset="-122"/>
              <a:cs typeface="Arial" panose="020B0604020202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5394960" cy="4297680"/>
          </a:xfrm>
          <a:prstGeom prst="rect">
            <a:avLst/>
          </a:prstGeom>
          <a:solidFill>
            <a:srgbClr val="EDEDED"/>
          </a:solidFill>
          <a:ln w="12700">
            <a:solidFill>
              <a:srgbClr val="FFFFFF"/>
            </a:solidFill>
            <a:prstDash val="solid"/>
          </a:ln>
        </p:spPr>
      </p:sp>
      <p:sp>
        <p:nvSpPr>
          <p:cNvPr id="6" name="Text 4"/>
          <p:cNvSpPr/>
          <p:nvPr/>
        </p:nvSpPr>
        <p:spPr>
          <a:xfrm>
            <a:off x="960438" y="2057400"/>
            <a:ext cx="48463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全参微调需要保存</a:t>
            </a:r>
            <a:endParaRPr lang="en-US" sz="2400" dirty="0"/>
          </a:p>
        </p:txBody>
      </p:sp>
      <p:sp>
        <p:nvSpPr>
          <p:cNvPr id="7" name="Text 5"/>
          <p:cNvSpPr/>
          <p:nvPr/>
        </p:nvSpPr>
        <p:spPr>
          <a:xfrm>
            <a:off x="960438" y="2697480"/>
            <a:ext cx="4846320" cy="2194560"/>
          </a:xfrm>
          <a:prstGeom prst="rect">
            <a:avLst/>
          </a:prstGeom>
          <a:noFill/>
        </p:spPr>
        <p:txBody>
          <a:bodyPr wrap="square" rtlCol="0" anchor="t"/>
          <a:lstStyle/>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模型权重</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每个参数的梯度</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Adam 一阶矩与二阶矩</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前向中间激活</a:t>
            </a:r>
            <a:endParaRPr lang="en-US" sz="1800" dirty="0"/>
          </a:p>
        </p:txBody>
      </p:sp>
      <p:sp>
        <p:nvSpPr>
          <p:cNvPr id="8" name="Text 6"/>
          <p:cNvSpPr/>
          <p:nvPr/>
        </p:nvSpPr>
        <p:spPr>
          <a:xfrm>
            <a:off x="960438" y="5029200"/>
            <a:ext cx="4846320" cy="82296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7B 模型仅 bf16 权重就约 14 GB，全参微调对单卡压力很大。</a:t>
            </a:r>
            <a:endParaRPr lang="en-US" sz="1600" dirty="0"/>
          </a:p>
        </p:txBody>
      </p:sp>
      <p:sp>
        <p:nvSpPr>
          <p:cNvPr id="9" name="Shape 7"/>
          <p:cNvSpPr/>
          <p:nvPr/>
        </p:nvSpPr>
        <p:spPr>
          <a:xfrm>
            <a:off x="6355398" y="1783080"/>
            <a:ext cx="5166360" cy="4297680"/>
          </a:xfrm>
          <a:prstGeom prst="rect">
            <a:avLst/>
          </a:prstGeom>
          <a:solidFill>
            <a:srgbClr val="EDEDED"/>
          </a:solidFill>
          <a:ln w="12700">
            <a:solidFill>
              <a:srgbClr val="FFFFFF"/>
            </a:solidFill>
            <a:prstDash val="solid"/>
          </a:ln>
        </p:spPr>
      </p:sp>
      <p:sp>
        <p:nvSpPr>
          <p:cNvPr id="10" name="Text 8"/>
          <p:cNvSpPr/>
          <p:nvPr/>
        </p:nvSpPr>
        <p:spPr>
          <a:xfrm>
            <a:off x="6629718" y="2057400"/>
            <a:ext cx="45720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两条优化路径</a:t>
            </a:r>
            <a:endParaRPr lang="en-US" sz="2400" dirty="0"/>
          </a:p>
        </p:txBody>
      </p:sp>
      <p:sp>
        <p:nvSpPr>
          <p:cNvPr id="11" name="Text 9"/>
          <p:cNvSpPr/>
          <p:nvPr/>
        </p:nvSpPr>
        <p:spPr>
          <a:xfrm>
            <a:off x="6629718" y="2697480"/>
            <a:ext cx="4663440" cy="1645920"/>
          </a:xfrm>
          <a:prstGeom prst="rect">
            <a:avLst/>
          </a:prstGeom>
          <a:noFill/>
        </p:spPr>
        <p:txBody>
          <a:bodyPr wrap="square" rtlCol="0" anchor="t"/>
          <a:lstStyle/>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LoRA：减少可训练参数与优化器状态</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FlashAttention：减少中间矩阵显存与 HBM 读写</a:t>
            </a:r>
            <a:endParaRPr lang="en-US" sz="1800" dirty="0"/>
          </a:p>
        </p:txBody>
      </p:sp>
      <p:sp>
        <p:nvSpPr>
          <p:cNvPr id="12" name="Text 10"/>
          <p:cNvSpPr/>
          <p:nvPr/>
        </p:nvSpPr>
        <p:spPr>
          <a:xfrm>
            <a:off x="6629718" y="4572000"/>
            <a:ext cx="4663440" cy="731520"/>
          </a:xfrm>
          <a:prstGeom prst="rect">
            <a:avLst/>
          </a:prstGeom>
          <a:noFill/>
        </p:spPr>
        <p:txBody>
          <a:bodyPr wrap="square" rtlCol="0" anchor="t"/>
          <a:lstStyle/>
          <a:p>
            <a:pPr marL="0" indent="0">
              <a:lnSpc>
                <a:spcPct val="115000"/>
              </a:lnSpc>
              <a:buNone/>
            </a:pP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LoRA 核心思想：低秩更新</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10835640" cy="2194560"/>
          </a:xfrm>
          <a:prstGeom prst="rect">
            <a:avLst/>
          </a:prstGeom>
          <a:solidFill>
            <a:srgbClr val="EDEDED"/>
          </a:solidFill>
          <a:ln w="12700">
            <a:solidFill>
              <a:srgbClr val="FFFFFF"/>
            </a:solidFill>
            <a:prstDash val="solid"/>
          </a:ln>
        </p:spPr>
      </p:sp>
      <p:sp>
        <p:nvSpPr>
          <p:cNvPr id="6" name="Text 4"/>
          <p:cNvSpPr/>
          <p:nvPr/>
        </p:nvSpPr>
        <p:spPr>
          <a:xfrm>
            <a:off x="686118" y="2148840"/>
            <a:ext cx="10835640" cy="914400"/>
          </a:xfrm>
          <a:prstGeom prst="rect">
            <a:avLst/>
          </a:prstGeom>
          <a:noFill/>
        </p:spPr>
        <p:txBody>
          <a:bodyPr wrap="square" rtlCol="0" anchor="ctr"/>
          <a:lstStyle/>
          <a:p>
            <a:pPr marL="0" indent="0" algn="ctr">
              <a:lnSpc>
                <a:spcPct val="115000"/>
              </a:lnSpc>
              <a:buNone/>
            </a:pPr>
            <a:r>
              <a:rPr lang="en-US" sz="3000" b="1" dirty="0">
                <a:solidFill>
                  <a:srgbClr val="C7000B"/>
                </a:solidFill>
                <a:latin typeface="Arial" panose="020B0604020202020204" pitchFamily="34" charset="0"/>
                <a:ea typeface="Arial" panose="020B0604020202020204" pitchFamily="34" charset="-122"/>
                <a:cs typeface="Arial" panose="020B0604020202020204" pitchFamily="34" charset="-120"/>
              </a:rPr>
              <a:t>W = W0 + ΔW，其中 ΔW = B·A</a:t>
            </a:r>
            <a:endParaRPr lang="en-US" sz="3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686118" y="3154680"/>
            <a:ext cx="10835640" cy="548640"/>
          </a:xfrm>
          <a:prstGeom prst="rect">
            <a:avLst/>
          </a:prstGeom>
          <a:noFill/>
        </p:spPr>
        <p:txBody>
          <a:bodyPr wrap="square" rtlCol="0" anchor="t"/>
          <a:lstStyle/>
          <a:p>
            <a:pPr marL="0" indent="0" algn="ctr">
              <a:lnSpc>
                <a:spcPct val="115000"/>
              </a:lnSpc>
              <a:buNone/>
            </a:pPr>
            <a:r>
              <a:rPr lang="en-US" sz="1800" dirty="0">
                <a:solidFill>
                  <a:srgbClr val="555555"/>
                </a:solidFill>
                <a:latin typeface="Arial" panose="020B0604020202020204" pitchFamily="34" charset="0"/>
                <a:ea typeface="Arial" panose="020B0604020202020204" pitchFamily="34" charset="-122"/>
                <a:cs typeface="Arial" panose="020B0604020202020204" pitchFamily="34" charset="-120"/>
              </a:rPr>
              <a:t>A 的形状为 (r, in)，B 的形状为 (out, r)，r 通常取 8 / 16 / 32</a:t>
            </a:r>
            <a:endParaRPr lang="en-US" sz="1800" dirty="0"/>
          </a:p>
        </p:txBody>
      </p:sp>
      <p:sp>
        <p:nvSpPr>
          <p:cNvPr id="8" name="Shape 6"/>
          <p:cNvSpPr/>
          <p:nvPr/>
        </p:nvSpPr>
        <p:spPr>
          <a:xfrm>
            <a:off x="686118" y="4206240"/>
            <a:ext cx="5394960" cy="1920240"/>
          </a:xfrm>
          <a:prstGeom prst="rect">
            <a:avLst/>
          </a:prstGeom>
          <a:solidFill>
            <a:srgbClr val="EDEDED"/>
          </a:solidFill>
          <a:ln w="12700">
            <a:solidFill>
              <a:srgbClr val="FFFFFF"/>
            </a:solidFill>
            <a:prstDash val="solid"/>
          </a:ln>
        </p:spPr>
      </p:sp>
      <p:sp>
        <p:nvSpPr>
          <p:cNvPr id="9" name="Text 7"/>
          <p:cNvSpPr/>
          <p:nvPr/>
        </p:nvSpPr>
        <p:spPr>
          <a:xfrm>
            <a:off x="960438" y="4434840"/>
            <a:ext cx="48463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冻结 W0</a:t>
            </a:r>
            <a:endParaRPr lang="en-US" sz="2400" dirty="0"/>
          </a:p>
        </p:txBody>
      </p:sp>
      <p:sp>
        <p:nvSpPr>
          <p:cNvPr id="10" name="Text 8"/>
          <p:cNvSpPr/>
          <p:nvPr/>
        </p:nvSpPr>
        <p:spPr>
          <a:xfrm>
            <a:off x="960438" y="5029200"/>
            <a:ext cx="4846320" cy="82296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原始预训练权重不更新，不保存梯度与优化器状态。</a:t>
            </a:r>
            <a:endParaRPr lang="en-US" sz="1700" dirty="0"/>
          </a:p>
        </p:txBody>
      </p:sp>
      <p:sp>
        <p:nvSpPr>
          <p:cNvPr id="11" name="Shape 9"/>
          <p:cNvSpPr/>
          <p:nvPr/>
        </p:nvSpPr>
        <p:spPr>
          <a:xfrm>
            <a:off x="6355398" y="4206240"/>
            <a:ext cx="5166360" cy="1920240"/>
          </a:xfrm>
          <a:prstGeom prst="rect">
            <a:avLst/>
          </a:prstGeom>
          <a:solidFill>
            <a:srgbClr val="EDEDED"/>
          </a:solidFill>
          <a:ln w="12700">
            <a:solidFill>
              <a:srgbClr val="FFFFFF"/>
            </a:solidFill>
            <a:prstDash val="solid"/>
          </a:ln>
        </p:spPr>
      </p:sp>
      <p:sp>
        <p:nvSpPr>
          <p:cNvPr id="12" name="Text 10"/>
          <p:cNvSpPr/>
          <p:nvPr/>
        </p:nvSpPr>
        <p:spPr>
          <a:xfrm>
            <a:off x="6629718" y="4434840"/>
            <a:ext cx="45720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只训练 A、B</a:t>
            </a:r>
            <a:endParaRPr lang="en-US" sz="2400" dirty="0"/>
          </a:p>
        </p:txBody>
      </p:sp>
      <p:sp>
        <p:nvSpPr>
          <p:cNvPr id="13" name="Text 11"/>
          <p:cNvSpPr/>
          <p:nvPr/>
        </p:nvSpPr>
        <p:spPr>
          <a:xfrm>
            <a:off x="6629718" y="5029200"/>
            <a:ext cx="4663440" cy="82296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只有两个低秩矩阵参与梯度更新，参数量大幅下降。</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LoRA 公式与参数量计算</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10835640" cy="2011680"/>
          </a:xfrm>
          <a:prstGeom prst="rect">
            <a:avLst/>
          </a:prstGeom>
          <a:solidFill>
            <a:srgbClr val="EDEDED"/>
          </a:solidFill>
          <a:ln w="12700">
            <a:solidFill>
              <a:srgbClr val="FFFFFF"/>
            </a:solidFill>
            <a:prstDash val="solid"/>
          </a:ln>
        </p:spPr>
      </p:sp>
      <p:sp>
        <p:nvSpPr>
          <p:cNvPr id="6" name="Text 4"/>
          <p:cNvSpPr/>
          <p:nvPr/>
        </p:nvSpPr>
        <p:spPr>
          <a:xfrm>
            <a:off x="686118" y="2103120"/>
            <a:ext cx="10835640" cy="914400"/>
          </a:xfrm>
          <a:prstGeom prst="rect">
            <a:avLst/>
          </a:prstGeom>
          <a:noFill/>
        </p:spPr>
        <p:txBody>
          <a:bodyPr wrap="square" rtlCol="0" anchor="ctr"/>
          <a:lstStyle/>
          <a:p>
            <a:pPr marL="0" indent="0" algn="ctr">
              <a:lnSpc>
                <a:spcPct val="115000"/>
              </a:lnSpc>
              <a:buNone/>
            </a:pPr>
            <a:r>
              <a:rPr lang="en-US" sz="3000" b="1" dirty="0">
                <a:solidFill>
                  <a:srgbClr val="C7000B"/>
                </a:solidFill>
                <a:latin typeface="Arial" panose="020B0604020202020204" pitchFamily="34" charset="0"/>
                <a:ea typeface="Arial" panose="020B0604020202020204" pitchFamily="34" charset="-122"/>
                <a:cs typeface="Arial" panose="020B0604020202020204" pitchFamily="34" charset="-120"/>
              </a:rPr>
              <a:t>y = W0·x + (alpha / r)·B·A·x</a:t>
            </a:r>
            <a:endParaRPr lang="en-US" sz="3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686118" y="3108960"/>
            <a:ext cx="10835640" cy="548640"/>
          </a:xfrm>
          <a:prstGeom prst="rect">
            <a:avLst/>
          </a:prstGeom>
          <a:noFill/>
        </p:spPr>
        <p:txBody>
          <a:bodyPr wrap="square" rtlCol="0" anchor="t"/>
          <a:lstStyle/>
          <a:p>
            <a:pPr marL="0" indent="0" algn="ctr">
              <a:lnSpc>
                <a:spcPct val="115000"/>
              </a:lnSpc>
              <a:buNone/>
            </a:pPr>
            <a:r>
              <a:rPr lang="en-US" sz="1800" dirty="0">
                <a:solidFill>
                  <a:srgbClr val="555555"/>
                </a:solidFill>
                <a:latin typeface="Arial" panose="020B0604020202020204" pitchFamily="34" charset="0"/>
                <a:ea typeface="Arial" panose="020B0604020202020204" pitchFamily="34" charset="-122"/>
                <a:cs typeface="Arial" panose="020B0604020202020204" pitchFamily="34" charset="-120"/>
              </a:rPr>
              <a:t>alpha/r 是缩放系数，控制 LoRA 更新的幅度</a:t>
            </a:r>
            <a:endParaRPr lang="en-US" sz="1800" dirty="0"/>
          </a:p>
        </p:txBody>
      </p:sp>
      <p:sp>
        <p:nvSpPr>
          <p:cNvPr id="8" name="Shape 6"/>
          <p:cNvSpPr/>
          <p:nvPr/>
        </p:nvSpPr>
        <p:spPr>
          <a:xfrm>
            <a:off x="686118" y="4114800"/>
            <a:ext cx="5394960" cy="2011680"/>
          </a:xfrm>
          <a:prstGeom prst="rect">
            <a:avLst/>
          </a:prstGeom>
          <a:solidFill>
            <a:srgbClr val="EDEDED"/>
          </a:solidFill>
          <a:ln w="12700">
            <a:solidFill>
              <a:srgbClr val="FFFFFF"/>
            </a:solidFill>
            <a:prstDash val="solid"/>
          </a:ln>
        </p:spPr>
      </p:sp>
      <p:sp>
        <p:nvSpPr>
          <p:cNvPr id="9" name="Text 7"/>
          <p:cNvSpPr/>
          <p:nvPr/>
        </p:nvSpPr>
        <p:spPr>
          <a:xfrm>
            <a:off x="960438" y="4343400"/>
            <a:ext cx="4846320" cy="502920"/>
          </a:xfrm>
          <a:prstGeom prst="rect">
            <a:avLst/>
          </a:prstGeom>
          <a:noFill/>
        </p:spPr>
        <p:txBody>
          <a:bodyPr wrap="square" rtlCol="0" anchor="t"/>
          <a:lstStyle/>
          <a:p>
            <a:pPr marL="0" indent="0">
              <a:lnSpc>
                <a:spcPct val="115000"/>
              </a:lnSpc>
              <a:buNone/>
            </a:pPr>
            <a:r>
              <a:rPr lang="en-US" sz="2200" b="1" dirty="0">
                <a:solidFill>
                  <a:srgbClr val="111111"/>
                </a:solidFill>
                <a:latin typeface="Arial" panose="020B0604020202020204" pitchFamily="34" charset="0"/>
                <a:ea typeface="Arial" panose="020B0604020202020204" pitchFamily="34" charset="-122"/>
                <a:cs typeface="Arial" panose="020B0604020202020204" pitchFamily="34" charset="-120"/>
              </a:rPr>
              <a:t>举例：[4096, 4096] 线性层</a:t>
            </a:r>
            <a:endParaRPr lang="en-US" sz="2200" dirty="0"/>
          </a:p>
        </p:txBody>
      </p:sp>
      <p:sp>
        <p:nvSpPr>
          <p:cNvPr id="10" name="Text 8"/>
          <p:cNvSpPr/>
          <p:nvPr/>
        </p:nvSpPr>
        <p:spPr>
          <a:xfrm>
            <a:off x="960438" y="4937760"/>
            <a:ext cx="4846320" cy="1005840"/>
          </a:xfrm>
          <a:prstGeom prst="rect">
            <a:avLst/>
          </a:prstGeom>
          <a:noFill/>
        </p:spPr>
        <p:txBody>
          <a:bodyPr wrap="square" rtlCol="0" anchor="t"/>
          <a:lstStyle/>
          <a:p>
            <a:pPr marL="0" indent="0">
              <a:lnSpc>
                <a:spcPct val="120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原始参数：4096 × 4096 = 16,777,216</a:t>
            </a:r>
            <a:endParaRPr lang="en-US" sz="1800" dirty="0"/>
          </a:p>
          <a:p>
            <a:pPr marL="0" indent="0">
              <a:lnSpc>
                <a:spcPct val="120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LoRA r=8：4096×8 + 8×4096 = 65,536</a:t>
            </a:r>
            <a:endParaRPr lang="en-US" sz="1800" dirty="0"/>
          </a:p>
        </p:txBody>
      </p:sp>
      <p:sp>
        <p:nvSpPr>
          <p:cNvPr id="11" name="Shape 9"/>
          <p:cNvSpPr/>
          <p:nvPr/>
        </p:nvSpPr>
        <p:spPr>
          <a:xfrm>
            <a:off x="6355398" y="4114800"/>
            <a:ext cx="5166360" cy="2011680"/>
          </a:xfrm>
          <a:prstGeom prst="rect">
            <a:avLst/>
          </a:prstGeom>
          <a:solidFill>
            <a:srgbClr val="EDEDED"/>
          </a:solidFill>
          <a:ln w="12700">
            <a:solidFill>
              <a:srgbClr val="FFFFFF"/>
            </a:solidFill>
            <a:prstDash val="solid"/>
          </a:ln>
        </p:spPr>
      </p:sp>
      <p:sp>
        <p:nvSpPr>
          <p:cNvPr id="12" name="Text 10"/>
          <p:cNvSpPr/>
          <p:nvPr/>
        </p:nvSpPr>
        <p:spPr>
          <a:xfrm>
            <a:off x="6629718" y="4343400"/>
            <a:ext cx="4572000" cy="502920"/>
          </a:xfrm>
          <a:prstGeom prst="rect">
            <a:avLst/>
          </a:prstGeom>
          <a:noFill/>
        </p:spPr>
        <p:txBody>
          <a:bodyPr wrap="square" rtlCol="0" anchor="t"/>
          <a:lstStyle/>
          <a:p>
            <a:pPr marL="0" indent="0">
              <a:lnSpc>
                <a:spcPct val="115000"/>
              </a:lnSpc>
              <a:buNone/>
            </a:pPr>
            <a:r>
              <a:rPr lang="en-US" sz="2200" b="1" dirty="0">
                <a:solidFill>
                  <a:srgbClr val="111111"/>
                </a:solidFill>
                <a:latin typeface="Arial" panose="020B0604020202020204" pitchFamily="34" charset="0"/>
                <a:ea typeface="Arial" panose="020B0604020202020204" pitchFamily="34" charset="-122"/>
                <a:cs typeface="Arial" panose="020B0604020202020204" pitchFamily="34" charset="-120"/>
              </a:rPr>
              <a:t>参数量占比</a:t>
            </a:r>
            <a:endParaRPr lang="en-US" sz="2200" dirty="0"/>
          </a:p>
        </p:txBody>
      </p:sp>
      <p:sp>
        <p:nvSpPr>
          <p:cNvPr id="13" name="Text 11"/>
          <p:cNvSpPr/>
          <p:nvPr/>
        </p:nvSpPr>
        <p:spPr>
          <a:xfrm>
            <a:off x="6629718" y="4937760"/>
            <a:ext cx="4663440" cy="731520"/>
          </a:xfrm>
          <a:prstGeom prst="rect">
            <a:avLst/>
          </a:prstGeom>
          <a:noFill/>
        </p:spPr>
        <p:txBody>
          <a:bodyPr wrap="square" rtlCol="0" anchor="t"/>
          <a:lstStyle/>
          <a:p>
            <a:pPr marL="0" indent="0">
              <a:lnSpc>
                <a:spcPct val="115000"/>
              </a:lnSpc>
              <a:buNone/>
            </a:pPr>
            <a:r>
              <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rPr>
              <a:t>65,536 / 16,777,216 ≈ 0.39%</a:t>
            </a:r>
            <a:endPar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14" name="Text 12"/>
          <p:cNvSpPr/>
          <p:nvPr/>
        </p:nvSpPr>
        <p:spPr>
          <a:xfrm>
            <a:off x="6629718" y="5669280"/>
            <a:ext cx="4663440" cy="45720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这正是 LoRA 显存收益的主要来源。</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LoRA 显存收益与典型配置</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5394960" cy="4297680"/>
          </a:xfrm>
          <a:prstGeom prst="rect">
            <a:avLst/>
          </a:prstGeom>
          <a:solidFill>
            <a:srgbClr val="EDEDED"/>
          </a:solidFill>
          <a:ln w="12700">
            <a:solidFill>
              <a:srgbClr val="FFFFFF"/>
            </a:solidFill>
            <a:prstDash val="solid"/>
          </a:ln>
        </p:spPr>
      </p:sp>
      <p:sp>
        <p:nvSpPr>
          <p:cNvPr id="6" name="Text 4"/>
          <p:cNvSpPr/>
          <p:nvPr/>
        </p:nvSpPr>
        <p:spPr>
          <a:xfrm>
            <a:off x="960438" y="2057400"/>
            <a:ext cx="48463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显存收益</a:t>
            </a:r>
            <a:endParaRPr lang="en-US" sz="2400" dirty="0"/>
          </a:p>
        </p:txBody>
      </p:sp>
      <p:sp>
        <p:nvSpPr>
          <p:cNvPr id="7" name="Text 5"/>
          <p:cNvSpPr/>
          <p:nvPr/>
        </p:nvSpPr>
        <p:spPr>
          <a:xfrm>
            <a:off x="960438" y="2697480"/>
            <a:ext cx="4846320" cy="2377440"/>
          </a:xfrm>
          <a:prstGeom prst="rect">
            <a:avLst/>
          </a:prstGeom>
          <a:noFill/>
        </p:spPr>
        <p:txBody>
          <a:bodyPr wrap="square" rtlCol="0" anchor="t"/>
          <a:lstStyle/>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冻结原始权重</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优化器状态只作用于 A、B</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梯度只针对低秩矩阵</a:t>
            </a:r>
            <a:endParaRPr lang="en-US" sz="1800" dirty="0"/>
          </a:p>
          <a:p>
            <a:pPr marL="0" indent="0">
              <a:lnSpc>
                <a:spcPct val="12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bf16 进一步降低权重与激活存储</a:t>
            </a:r>
            <a:endParaRPr lang="en-US" sz="1800" dirty="0"/>
          </a:p>
        </p:txBody>
      </p:sp>
      <p:sp>
        <p:nvSpPr>
          <p:cNvPr id="8" name="Shape 6"/>
          <p:cNvSpPr/>
          <p:nvPr/>
        </p:nvSpPr>
        <p:spPr>
          <a:xfrm>
            <a:off x="6355398" y="1783080"/>
            <a:ext cx="5166360" cy="4297680"/>
          </a:xfrm>
          <a:prstGeom prst="rect">
            <a:avLst/>
          </a:prstGeom>
          <a:solidFill>
            <a:srgbClr val="EDEDED"/>
          </a:solidFill>
          <a:ln w="12700">
            <a:solidFill>
              <a:srgbClr val="FFFFFF"/>
            </a:solidFill>
            <a:prstDash val="solid"/>
          </a:ln>
        </p:spPr>
      </p:sp>
      <p:sp>
        <p:nvSpPr>
          <p:cNvPr id="9" name="Text 7"/>
          <p:cNvSpPr/>
          <p:nvPr/>
        </p:nvSpPr>
        <p:spPr>
          <a:xfrm>
            <a:off x="6629718" y="2057400"/>
            <a:ext cx="45720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典型配置</a:t>
            </a:r>
            <a:endParaRPr lang="en-US" sz="2400" dirty="0"/>
          </a:p>
        </p:txBody>
      </p:sp>
      <p:sp>
        <p:nvSpPr>
          <p:cNvPr id="10" name="Text 8"/>
          <p:cNvSpPr/>
          <p:nvPr/>
        </p:nvSpPr>
        <p:spPr>
          <a:xfrm>
            <a:off x="6629718" y="2697480"/>
            <a:ext cx="4663440" cy="2194560"/>
          </a:xfrm>
          <a:prstGeom prst="rect">
            <a:avLst/>
          </a:prstGeom>
          <a:noFill/>
        </p:spPr>
        <p:txBody>
          <a:bodyPr wrap="square" rtlCol="0" anchor="t"/>
          <a:lstStyle/>
          <a:p>
            <a:pPr marL="0" indent="0">
              <a:lnSpc>
                <a:spcPct val="125000"/>
              </a:lnSpc>
              <a:buNone/>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r=8</a:t>
            </a:r>
            <a:endParaRPr lang="en-US" sz="2000" dirty="0">
              <a:solidFill>
                <a:schemeClr val="tx1"/>
              </a:solidFill>
            </a:endParaRPr>
          </a:p>
          <a:p>
            <a:pPr marL="0" indent="0">
              <a:lnSpc>
                <a:spcPct val="125000"/>
              </a:lnSpc>
              <a:buNone/>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lora_alpha=32</a:t>
            </a:r>
            <a:endParaRPr lang="en-US" sz="2000" dirty="0">
              <a:solidFill>
                <a:schemeClr val="tx1"/>
              </a:solidFill>
            </a:endParaRPr>
          </a:p>
          <a:p>
            <a:pPr marL="0" indent="0">
              <a:lnSpc>
                <a:spcPct val="125000"/>
              </a:lnSpc>
              <a:buNone/>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target_modules=["q_proj","v_proj"]</a:t>
            </a:r>
            <a:endParaRPr lang="en-US" sz="2000" dirty="0">
              <a:solidFill>
                <a:schemeClr val="tx1"/>
              </a:solidFill>
            </a:endParaRPr>
          </a:p>
          <a:p>
            <a:pPr marL="0" indent="0">
              <a:lnSpc>
                <a:spcPct val="125000"/>
              </a:lnSpc>
              <a:buNone/>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lora_dropout=0.05</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11" name="Text 9"/>
          <p:cNvSpPr/>
          <p:nvPr/>
        </p:nvSpPr>
        <p:spPr>
          <a:xfrm>
            <a:off x="6629718" y="5120640"/>
            <a:ext cx="4663440" cy="73152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只适配 Q/V，可进一步控制参数量。</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标准 Attention 的瓶颈</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10835640" cy="2011680"/>
          </a:xfrm>
          <a:prstGeom prst="rect">
            <a:avLst/>
          </a:prstGeom>
          <a:solidFill>
            <a:srgbClr val="EDEDED"/>
          </a:solidFill>
          <a:ln w="12700">
            <a:solidFill>
              <a:srgbClr val="FFFFFF"/>
            </a:solidFill>
            <a:prstDash val="solid"/>
          </a:ln>
        </p:spPr>
      </p:sp>
      <p:sp>
        <p:nvSpPr>
          <p:cNvPr id="6" name="Text 4"/>
          <p:cNvSpPr/>
          <p:nvPr/>
        </p:nvSpPr>
        <p:spPr>
          <a:xfrm>
            <a:off x="686118" y="2103120"/>
            <a:ext cx="10835640" cy="914400"/>
          </a:xfrm>
          <a:prstGeom prst="rect">
            <a:avLst/>
          </a:prstGeom>
          <a:noFill/>
        </p:spPr>
        <p:txBody>
          <a:bodyPr wrap="square" rtlCol="0" anchor="ctr"/>
          <a:lstStyle/>
          <a:p>
            <a:pPr marL="0" indent="0" algn="ctr">
              <a:lnSpc>
                <a:spcPct val="115000"/>
              </a:lnSpc>
              <a:buNone/>
            </a:pPr>
            <a:r>
              <a:rPr lang="en-US" sz="2800" b="1" dirty="0">
                <a:solidFill>
                  <a:srgbClr val="C7000B"/>
                </a:solidFill>
                <a:latin typeface="Arial" panose="020B0604020202020204" pitchFamily="34" charset="0"/>
                <a:ea typeface="Arial" panose="020B0604020202020204" pitchFamily="34" charset="-122"/>
                <a:cs typeface="Arial" panose="020B0604020202020204" pitchFamily="34" charset="-120"/>
              </a:rPr>
              <a:t>S = Q·Kᵀ / √d    P = softmax(S)    O = P·V</a:t>
            </a:r>
            <a:endParaRPr lang="en-US" sz="28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686118" y="3108960"/>
            <a:ext cx="10835640" cy="548640"/>
          </a:xfrm>
          <a:prstGeom prst="rect">
            <a:avLst/>
          </a:prstGeom>
          <a:noFill/>
        </p:spPr>
        <p:txBody>
          <a:bodyPr wrap="square" rtlCol="0" anchor="t"/>
          <a:lstStyle/>
          <a:p>
            <a:pPr marL="0" indent="0" algn="ctr">
              <a:lnSpc>
                <a:spcPct val="115000"/>
              </a:lnSpc>
              <a:buNone/>
            </a:pPr>
            <a:r>
              <a:rPr lang="en-US" sz="1800" dirty="0">
                <a:solidFill>
                  <a:srgbClr val="555555"/>
                </a:solidFill>
                <a:latin typeface="Arial" panose="020B0604020202020204" pitchFamily="34" charset="0"/>
                <a:ea typeface="Arial" panose="020B0604020202020204" pitchFamily="34" charset="-122"/>
                <a:cs typeface="Arial" panose="020B0604020202020204" pitchFamily="34" charset="-120"/>
              </a:rPr>
              <a:t>S 和 P 的大小都是 N × N</a:t>
            </a:r>
            <a:endParaRPr lang="en-US" sz="1800" dirty="0"/>
          </a:p>
        </p:txBody>
      </p:sp>
      <p:sp>
        <p:nvSpPr>
          <p:cNvPr id="8" name="Text 6"/>
          <p:cNvSpPr/>
          <p:nvPr/>
        </p:nvSpPr>
        <p:spPr>
          <a:xfrm>
            <a:off x="868998" y="4206240"/>
            <a:ext cx="50292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显存复杂度 O(N²)</a:t>
            </a:r>
            <a:endParaRPr lang="en-US" sz="2400" dirty="0"/>
          </a:p>
        </p:txBody>
      </p:sp>
      <p:sp>
        <p:nvSpPr>
          <p:cNvPr id="9" name="Text 7"/>
          <p:cNvSpPr/>
          <p:nvPr/>
        </p:nvSpPr>
        <p:spPr>
          <a:xfrm>
            <a:off x="868998" y="4800600"/>
            <a:ext cx="5029200" cy="822960"/>
          </a:xfrm>
          <a:prstGeom prst="rect">
            <a:avLst/>
          </a:prstGeom>
          <a:noFill/>
        </p:spPr>
        <p:txBody>
          <a:bodyPr wrap="square" rtlCol="0" anchor="t"/>
          <a:lstStyle/>
          <a:p>
            <a:pPr marL="0" indent="0">
              <a:lnSpc>
                <a:spcPct val="115000"/>
              </a:lnSpc>
              <a:buNone/>
            </a:pPr>
            <a:r>
              <a:rPr lang="en-US" sz="1700" dirty="0">
                <a:solidFill>
                  <a:srgbClr val="555555"/>
                </a:solidFill>
                <a:latin typeface="Arial" panose="020B0604020202020204" pitchFamily="34" charset="0"/>
                <a:ea typeface="Arial" panose="020B0604020202020204" pitchFamily="34" charset="-122"/>
                <a:cs typeface="Arial" panose="020B0604020202020204" pitchFamily="34" charset="-120"/>
              </a:rPr>
              <a:t>N=4096、d=128 时，单个 head 的 S 约 32 MB。</a:t>
            </a:r>
            <a:endParaRPr lang="en-US" sz="1700" dirty="0"/>
          </a:p>
        </p:txBody>
      </p:sp>
      <p:sp>
        <p:nvSpPr>
          <p:cNvPr id="10" name="Text 8"/>
          <p:cNvSpPr/>
          <p:nvPr/>
        </p:nvSpPr>
        <p:spPr>
          <a:xfrm>
            <a:off x="6355398" y="4206240"/>
            <a:ext cx="50292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HBM 读写 O(N²)</a:t>
            </a:r>
            <a:endParaRPr lang="en-US" sz="2400" dirty="0"/>
          </a:p>
        </p:txBody>
      </p:sp>
      <p:sp>
        <p:nvSpPr>
          <p:cNvPr id="11" name="Text 9"/>
          <p:cNvSpPr/>
          <p:nvPr/>
        </p:nvSpPr>
        <p:spPr>
          <a:xfrm>
            <a:off x="6355398" y="4800600"/>
            <a:ext cx="5029200" cy="822960"/>
          </a:xfrm>
          <a:prstGeom prst="rect">
            <a:avLst/>
          </a:prstGeom>
          <a:noFill/>
        </p:spPr>
        <p:txBody>
          <a:bodyPr wrap="square" rtlCol="0" anchor="t"/>
          <a:lstStyle/>
          <a:p>
            <a:pPr marL="0" indent="0">
              <a:lnSpc>
                <a:spcPct val="115000"/>
              </a:lnSpc>
              <a:buNone/>
            </a:pPr>
            <a:r>
              <a:rPr lang="en-US" sz="1700" dirty="0">
                <a:solidFill>
                  <a:srgbClr val="555555"/>
                </a:solidFill>
                <a:latin typeface="Arial" panose="020B0604020202020204" pitchFamily="34" charset="0"/>
                <a:ea typeface="Arial" panose="020B0604020202020204" pitchFamily="34" charset="-122"/>
                <a:cs typeface="Arial" panose="020B0604020202020204" pitchFamily="34" charset="-120"/>
              </a:rPr>
              <a:t>中间结果反复读写 HBM，算力等待数据搬运。</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FlashAttention：Tiling + Online Softmax</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5394960" cy="4297680"/>
          </a:xfrm>
          <a:prstGeom prst="rect">
            <a:avLst/>
          </a:prstGeom>
          <a:solidFill>
            <a:srgbClr val="EDEDED"/>
          </a:solidFill>
          <a:ln w="12700">
            <a:solidFill>
              <a:srgbClr val="FFFFFF"/>
            </a:solidFill>
            <a:prstDash val="solid"/>
          </a:ln>
        </p:spPr>
      </p:sp>
      <p:sp>
        <p:nvSpPr>
          <p:cNvPr id="6" name="Text 4"/>
          <p:cNvSpPr/>
          <p:nvPr/>
        </p:nvSpPr>
        <p:spPr>
          <a:xfrm>
            <a:off x="960438" y="2057400"/>
            <a:ext cx="48463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Tiling 分块</a:t>
            </a:r>
            <a:endParaRPr lang="en-US" sz="2400" dirty="0"/>
          </a:p>
        </p:txBody>
      </p:sp>
      <p:sp>
        <p:nvSpPr>
          <p:cNvPr id="7" name="Text 5"/>
          <p:cNvSpPr/>
          <p:nvPr/>
        </p:nvSpPr>
        <p:spPr>
          <a:xfrm>
            <a:off x="960438" y="2697480"/>
            <a:ext cx="4846320" cy="146304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把 Q/K/V 切成小块，每次只加载一块到 SRAM，不生成完整 N×N 矩阵。</a:t>
            </a:r>
            <a:endParaRPr lang="en-US" sz="1800" dirty="0"/>
          </a:p>
        </p:txBody>
      </p:sp>
      <p:sp>
        <p:nvSpPr>
          <p:cNvPr id="8" name="Text 6"/>
          <p:cNvSpPr/>
          <p:nvPr/>
        </p:nvSpPr>
        <p:spPr>
          <a:xfrm>
            <a:off x="960438" y="4343400"/>
            <a:ext cx="4846320" cy="64008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中间结果尽量留在片上 SRAM。</a:t>
            </a:r>
            <a:endParaRPr lang="en-US" sz="1600" dirty="0"/>
          </a:p>
        </p:txBody>
      </p:sp>
      <p:sp>
        <p:nvSpPr>
          <p:cNvPr id="9" name="Shape 7"/>
          <p:cNvSpPr/>
          <p:nvPr/>
        </p:nvSpPr>
        <p:spPr>
          <a:xfrm>
            <a:off x="6355398" y="1783080"/>
            <a:ext cx="5166360" cy="4297680"/>
          </a:xfrm>
          <a:prstGeom prst="rect">
            <a:avLst/>
          </a:prstGeom>
          <a:solidFill>
            <a:srgbClr val="EDEDED"/>
          </a:solidFill>
          <a:ln w="12700">
            <a:solidFill>
              <a:srgbClr val="FFFFFF"/>
            </a:solidFill>
            <a:prstDash val="solid"/>
          </a:ln>
        </p:spPr>
      </p:sp>
      <p:sp>
        <p:nvSpPr>
          <p:cNvPr id="10" name="Text 8"/>
          <p:cNvSpPr/>
          <p:nvPr/>
        </p:nvSpPr>
        <p:spPr>
          <a:xfrm>
            <a:off x="6629718" y="2057400"/>
            <a:ext cx="45720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Online Softmax</a:t>
            </a:r>
            <a:endParaRPr lang="en-US" sz="2400" dirty="0"/>
          </a:p>
        </p:txBody>
      </p:sp>
      <p:sp>
        <p:nvSpPr>
          <p:cNvPr id="11" name="Text 9"/>
          <p:cNvSpPr/>
          <p:nvPr/>
        </p:nvSpPr>
        <p:spPr>
          <a:xfrm>
            <a:off x="6629718" y="2697480"/>
            <a:ext cx="4663440" cy="146304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分块时维护局部最大值 m 与指数和 l，每处理一块就修正之前结果。</a:t>
            </a:r>
            <a:endParaRPr lang="en-US" sz="1800" dirty="0"/>
          </a:p>
        </p:txBody>
      </p:sp>
      <p:sp>
        <p:nvSpPr>
          <p:cNvPr id="12" name="Text 10"/>
          <p:cNvSpPr/>
          <p:nvPr/>
        </p:nvSpPr>
        <p:spPr>
          <a:xfrm>
            <a:off x="6629718" y="4343400"/>
            <a:ext cx="4663440" cy="64008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最终结果与完整 Softmax 数学等价。</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复杂度对比</a:t>
            </a:r>
            <a:endParaRPr lang="en-US" sz="3500" dirty="0"/>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10835640" cy="2926080"/>
          </a:xfrm>
          <a:prstGeom prst="rect">
            <a:avLst/>
          </a:prstGeom>
          <a:solidFill>
            <a:srgbClr val="EDEDED"/>
          </a:solidFill>
          <a:ln w="12700">
            <a:solidFill>
              <a:srgbClr val="FFFFFF"/>
            </a:solidFill>
            <a:prstDash val="solid"/>
          </a:ln>
        </p:spPr>
      </p:sp>
      <p:sp>
        <p:nvSpPr>
          <p:cNvPr id="6" name="Text 4"/>
          <p:cNvSpPr/>
          <p:nvPr/>
        </p:nvSpPr>
        <p:spPr>
          <a:xfrm>
            <a:off x="868998" y="2148840"/>
            <a:ext cx="10424160" cy="731520"/>
          </a:xfrm>
          <a:prstGeom prst="rect">
            <a:avLst/>
          </a:prstGeom>
          <a:noFill/>
        </p:spPr>
        <p:txBody>
          <a:bodyPr wrap="square" rtlCol="0" anchor="t"/>
          <a:lstStyle/>
          <a:p>
            <a:pPr marL="0" indent="0" algn="ctr">
              <a:lnSpc>
                <a:spcPct val="115000"/>
              </a:lnSpc>
              <a:buNone/>
            </a:pPr>
            <a:r>
              <a:rPr lang="en-US" sz="2200" b="1" dirty="0">
                <a:solidFill>
                  <a:srgbClr val="111111"/>
                </a:solidFill>
                <a:latin typeface="Arial" panose="020B0604020202020204" pitchFamily="34" charset="0"/>
                <a:ea typeface="Arial" panose="020B0604020202020204" pitchFamily="34" charset="-122"/>
                <a:cs typeface="Arial" panose="020B0604020202020204" pitchFamily="34" charset="-120"/>
              </a:rPr>
              <a:t>标准 Attention        显存 O(N²)        HBM 读写 O(N²)</a:t>
            </a:r>
            <a:endParaRPr lang="en-US" sz="2200" dirty="0"/>
          </a:p>
        </p:txBody>
      </p:sp>
      <p:sp>
        <p:nvSpPr>
          <p:cNvPr id="7" name="Text 5"/>
          <p:cNvSpPr/>
          <p:nvPr/>
        </p:nvSpPr>
        <p:spPr>
          <a:xfrm>
            <a:off x="868998" y="3063240"/>
            <a:ext cx="10424160" cy="731520"/>
          </a:xfrm>
          <a:prstGeom prst="rect">
            <a:avLst/>
          </a:prstGeom>
          <a:noFill/>
        </p:spPr>
        <p:txBody>
          <a:bodyPr wrap="square" rtlCol="0" anchor="t"/>
          <a:lstStyle/>
          <a:p>
            <a:pPr marL="0" indent="0" algn="ctr">
              <a:lnSpc>
                <a:spcPct val="115000"/>
              </a:lnSpc>
              <a:buNone/>
            </a:pPr>
            <a:r>
              <a:rPr lang="en-US" sz="2200" b="1" dirty="0">
                <a:solidFill>
                  <a:srgbClr val="C7000B"/>
                </a:solidFill>
                <a:latin typeface="Arial" panose="020B0604020202020204" pitchFamily="34" charset="0"/>
                <a:ea typeface="Arial" panose="020B0604020202020204" pitchFamily="34" charset="-122"/>
                <a:cs typeface="Arial" panose="020B0604020202020204" pitchFamily="34" charset="-120"/>
              </a:rPr>
              <a:t>FlashAttention        显存 O(N)         HBM 读写大幅减少</a:t>
            </a:r>
            <a:endParaRPr lang="en-US" sz="22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868998" y="3977640"/>
            <a:ext cx="10424160" cy="548640"/>
          </a:xfrm>
          <a:prstGeom prst="rect">
            <a:avLst/>
          </a:prstGeom>
          <a:noFill/>
        </p:spPr>
        <p:txBody>
          <a:bodyPr wrap="square" rtlCol="0" anchor="t"/>
          <a:lstStyle/>
          <a:p>
            <a:pPr marL="0" indent="0" algn="ctr">
              <a:lnSpc>
                <a:spcPct val="115000"/>
              </a:lnSpc>
              <a:buNone/>
            </a:pPr>
            <a:r>
              <a:rPr lang="en-US" sz="2000" dirty="0">
                <a:solidFill>
                  <a:srgbClr val="555555"/>
                </a:solidFill>
                <a:latin typeface="Arial" panose="020B0604020202020204" pitchFamily="34" charset="0"/>
                <a:ea typeface="Arial" panose="020B0604020202020204" pitchFamily="34" charset="-122"/>
                <a:cs typeface="Arial" panose="020B0604020202020204" pitchFamily="34" charset="-120"/>
              </a:rPr>
              <a:t>计算量不变：O(N²·d)</a:t>
            </a:r>
            <a:endParaRPr lang="en-US" sz="2000" dirty="0"/>
          </a:p>
        </p:txBody>
      </p:sp>
      <p:sp>
        <p:nvSpPr>
          <p:cNvPr id="9" name="Text 7"/>
          <p:cNvSpPr/>
          <p:nvPr/>
        </p:nvSpPr>
        <p:spPr>
          <a:xfrm>
            <a:off x="868998" y="4983480"/>
            <a:ext cx="10424160" cy="548640"/>
          </a:xfrm>
          <a:prstGeom prst="rect">
            <a:avLst/>
          </a:prstGeom>
          <a:noFill/>
        </p:spPr>
        <p:txBody>
          <a:bodyPr wrap="square" rtlCol="0" anchor="t"/>
          <a:lstStyle/>
          <a:p>
            <a:pPr marL="0" indent="0" algn="ctr">
              <a:lnSpc>
                <a:spcPct val="115000"/>
              </a:lnSpc>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FlashAttention 不减少浮点运算，而是减少数据搬运。</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SDPA 与 NPU 使用</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5669280" cy="4297680"/>
          </a:xfrm>
          <a:prstGeom prst="rect">
            <a:avLst/>
          </a:prstGeom>
          <a:solidFill>
            <a:srgbClr val="EDEDED"/>
          </a:solidFill>
          <a:ln w="12700">
            <a:solidFill>
              <a:srgbClr val="FFFFFF"/>
            </a:solidFill>
            <a:prstDash val="solid"/>
          </a:ln>
        </p:spPr>
      </p:sp>
      <p:sp>
        <p:nvSpPr>
          <p:cNvPr id="6" name="Text 4"/>
          <p:cNvSpPr/>
          <p:nvPr/>
        </p:nvSpPr>
        <p:spPr>
          <a:xfrm>
            <a:off x="960438" y="2057400"/>
            <a:ext cx="512064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PyTorch 统一 API</a:t>
            </a:r>
            <a:endParaRPr lang="en-US" sz="2400" dirty="0"/>
          </a:p>
        </p:txBody>
      </p:sp>
      <p:sp>
        <p:nvSpPr>
          <p:cNvPr id="7" name="Text 5"/>
          <p:cNvSpPr/>
          <p:nvPr/>
        </p:nvSpPr>
        <p:spPr>
          <a:xfrm>
            <a:off x="960438" y="2697480"/>
            <a:ext cx="5120640" cy="914400"/>
          </a:xfrm>
          <a:prstGeom prst="rect">
            <a:avLst/>
          </a:prstGeom>
          <a:noFill/>
        </p:spPr>
        <p:txBody>
          <a:bodyPr wrap="square" rtlCol="0" anchor="t"/>
          <a:lstStyle/>
          <a:p>
            <a:pPr marL="0" indent="0">
              <a:lnSpc>
                <a:spcPct val="115000"/>
              </a:lnSpc>
              <a:buNone/>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output = F.scaled_dot_product_attention(q, k, v)</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960438" y="3749040"/>
            <a:ext cx="5120640" cy="109728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CUDA 自动选择 FlashAttention 或 Memory-Efficient 内核。</a:t>
            </a:r>
            <a:endParaRPr lang="en-US" sz="1700" dirty="0"/>
          </a:p>
        </p:txBody>
      </p:sp>
      <p:sp>
        <p:nvSpPr>
          <p:cNvPr id="9" name="Shape 7"/>
          <p:cNvSpPr/>
          <p:nvPr/>
        </p:nvSpPr>
        <p:spPr>
          <a:xfrm>
            <a:off x="6629718" y="1783080"/>
            <a:ext cx="4892040" cy="4297680"/>
          </a:xfrm>
          <a:prstGeom prst="rect">
            <a:avLst/>
          </a:prstGeom>
          <a:solidFill>
            <a:srgbClr val="EDEDED"/>
          </a:solidFill>
          <a:ln w="12700">
            <a:solidFill>
              <a:srgbClr val="FFFFFF"/>
            </a:solidFill>
            <a:prstDash val="solid"/>
          </a:ln>
        </p:spPr>
      </p:sp>
      <p:sp>
        <p:nvSpPr>
          <p:cNvPr id="10" name="Text 8"/>
          <p:cNvSpPr/>
          <p:nvPr/>
        </p:nvSpPr>
        <p:spPr>
          <a:xfrm>
            <a:off x="6904038" y="2057400"/>
            <a:ext cx="43891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Ascend NPU</a:t>
            </a:r>
            <a:endParaRPr lang="en-US" sz="2400" dirty="0"/>
          </a:p>
        </p:txBody>
      </p:sp>
      <p:sp>
        <p:nvSpPr>
          <p:cNvPr id="11" name="Text 9"/>
          <p:cNvSpPr/>
          <p:nvPr/>
        </p:nvSpPr>
        <p:spPr>
          <a:xfrm>
            <a:off x="6904038" y="2697480"/>
            <a:ext cx="4389120" cy="164592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torch_npu 把 SDPA 路由到昇腾融合注意力算子，无需安装 flash-attn。</a:t>
            </a:r>
            <a:endParaRPr lang="en-US" sz="1800" dirty="0"/>
          </a:p>
        </p:txBody>
      </p:sp>
      <p:sp>
        <p:nvSpPr>
          <p:cNvPr id="12" name="Text 10"/>
          <p:cNvSpPr/>
          <p:nvPr/>
        </p:nvSpPr>
        <p:spPr>
          <a:xfrm>
            <a:off x="6904038" y="4480560"/>
            <a:ext cx="4389120" cy="914400"/>
          </a:xfrm>
          <a:prstGeom prst="rect">
            <a:avLst/>
          </a:prstGeom>
          <a:noFill/>
        </p:spPr>
        <p:txBody>
          <a:bodyPr wrap="square" rtlCol="0" anchor="t"/>
          <a:lstStyle/>
          <a:p>
            <a:pPr marL="0" indent="0">
              <a:lnSpc>
                <a:spcPct val="115000"/>
              </a:lnSpc>
              <a:buNone/>
            </a:pPr>
            <a:r>
              <a:rPr lang="en-US" sz="1700" dirty="0">
                <a:solidFill>
                  <a:srgbClr val="555555"/>
                </a:solidFill>
                <a:latin typeface="Arial" panose="020B0604020202020204" pitchFamily="34" charset="0"/>
                <a:ea typeface="Arial" panose="020B0604020202020204" pitchFamily="34" charset="-122"/>
                <a:cs typeface="Arial" panose="020B0604020202020204" pitchFamily="34" charset="-120"/>
              </a:rPr>
              <a:t>跨平台：同一份代码可在 CUDA 与 NPU 上运行。</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LoRA + FlashAttention</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828800"/>
            <a:ext cx="10835640" cy="2011680"/>
          </a:xfrm>
          <a:prstGeom prst="rect">
            <a:avLst/>
          </a:prstGeom>
          <a:solidFill>
            <a:srgbClr val="EDEDED"/>
          </a:solidFill>
          <a:ln w="12700">
            <a:solidFill>
              <a:srgbClr val="FFFFFF"/>
            </a:solidFill>
            <a:prstDash val="solid"/>
          </a:ln>
        </p:spPr>
      </p:sp>
      <p:sp>
        <p:nvSpPr>
          <p:cNvPr id="6" name="Text 4"/>
          <p:cNvSpPr/>
          <p:nvPr/>
        </p:nvSpPr>
        <p:spPr>
          <a:xfrm>
            <a:off x="686118" y="2240280"/>
            <a:ext cx="10835640" cy="1188720"/>
          </a:xfrm>
          <a:prstGeom prst="rect">
            <a:avLst/>
          </a:prstGeom>
          <a:noFill/>
        </p:spPr>
        <p:txBody>
          <a:bodyPr wrap="square" rtlCol="0" anchor="t"/>
          <a:lstStyle/>
          <a:p>
            <a:pPr marL="0" indent="0" algn="ctr">
              <a:lnSpc>
                <a:spcPct val="130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LoRA 解决“可训练参数与优化器显存过大”</a:t>
            </a:r>
            <a:endParaRPr lang="en-US" sz="2400" dirty="0"/>
          </a:p>
          <a:p>
            <a:pPr marL="0" indent="0" algn="ctr">
              <a:lnSpc>
                <a:spcPct val="130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FlashAttention 解决“中间矩阵与 HBM 读写过大”</a:t>
            </a:r>
            <a:endParaRPr lang="en-US" sz="2400" dirty="0"/>
          </a:p>
        </p:txBody>
      </p:sp>
      <p:sp>
        <p:nvSpPr>
          <p:cNvPr id="7" name="Text 5"/>
          <p:cNvSpPr/>
          <p:nvPr/>
        </p:nvSpPr>
        <p:spPr>
          <a:xfrm>
            <a:off x="686118" y="4297680"/>
            <a:ext cx="10835640" cy="548640"/>
          </a:xfrm>
          <a:prstGeom prst="rect">
            <a:avLst/>
          </a:prstGeom>
          <a:noFill/>
        </p:spPr>
        <p:txBody>
          <a:bodyPr wrap="square" rtlCol="0" anchor="t"/>
          <a:lstStyle/>
          <a:p>
            <a:pPr marL="0" indent="0" algn="ctr">
              <a:lnSpc>
                <a:spcPct val="115000"/>
              </a:lnSpc>
              <a:buNone/>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两者叠加后，7B 大模型才可以在单卡 NPU 上完成微调。</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686118" y="5120640"/>
            <a:ext cx="10835640" cy="548640"/>
          </a:xfrm>
          <a:prstGeom prst="rect">
            <a:avLst/>
          </a:prstGeom>
          <a:noFill/>
        </p:spPr>
        <p:txBody>
          <a:bodyPr wrap="square" rtlCol="0" anchor="t"/>
          <a:lstStyle/>
          <a:p>
            <a:pPr marL="0" indent="0" algn="ctr">
              <a:lnSpc>
                <a:spcPct val="115000"/>
              </a:lnSpc>
              <a:buNone/>
            </a:pPr>
            <a:r>
              <a:rPr lang="en-US" sz="1800" dirty="0">
                <a:solidFill>
                  <a:srgbClr val="555555"/>
                </a:solidFill>
                <a:latin typeface="Arial" panose="020B0604020202020204" pitchFamily="34" charset="0"/>
                <a:ea typeface="Arial" panose="020B0604020202020204" pitchFamily="34" charset="-122"/>
                <a:cs typeface="Arial" panose="020B0604020202020204" pitchFamily="34" charset="-120"/>
              </a:rPr>
              <a:t>参数效率 + 注意力加速 = 大模型微调的关键路径</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LoRA 与 FlashAttention 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步骤一：下载基座模型</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975360" y="17068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!modelscope download --model deepseek-ai/deepseek-llm-7b-chat \</a:t>
            </a:r>
            <a:endParaRPr lang="en-US" sz="2000" dirty="0"/>
          </a:p>
        </p:txBody>
      </p:sp>
      <p:sp>
        <p:nvSpPr>
          <p:cNvPr id="6" name="Text 4"/>
          <p:cNvSpPr/>
          <p:nvPr/>
        </p:nvSpPr>
        <p:spPr>
          <a:xfrm>
            <a:off x="975360" y="243840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--local_dir ./model/deepseek-ai/deepseek-llm-7b-chat</a:t>
            </a:r>
            <a:endParaRPr lang="en-US" sz="2000" dirty="0"/>
          </a:p>
        </p:txBody>
      </p:sp>
      <p:sp>
        <p:nvSpPr>
          <p:cNvPr id="7" name="Text 5"/>
          <p:cNvSpPr/>
          <p:nvPr/>
        </p:nvSpPr>
        <p:spPr>
          <a:xfrm>
            <a:off x="853440" y="353568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模型大小约 15GB，下载时间取决于网络。</a:t>
            </a:r>
            <a:endParaRPr lang="en-US" sz="2135" dirty="0"/>
          </a:p>
        </p:txBody>
      </p:sp>
      <p:sp>
        <p:nvSpPr>
          <p:cNvPr id="8" name="Text 6"/>
          <p:cNvSpPr/>
          <p:nvPr/>
        </p:nvSpPr>
        <p:spPr>
          <a:xfrm>
            <a:off x="853440" y="438912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下载后包含 config.json、tokenizer.json、pytorch_model-*.bin 等文件。</a:t>
            </a:r>
            <a:endParaRPr lang="en-US" sz="2135" dirty="0"/>
          </a:p>
        </p:txBody>
      </p:sp>
      <p:sp>
        <p:nvSpPr>
          <p:cNvPr id="9" name="Shape 7"/>
          <p:cNvSpPr/>
          <p:nvPr/>
        </p:nvSpPr>
        <p:spPr>
          <a:xfrm>
            <a:off x="1463040" y="5364480"/>
            <a:ext cx="9265920" cy="1097280"/>
          </a:xfrm>
          <a:prstGeom prst="roundRect">
            <a:avLst>
              <a:gd name="adj" fmla="val 8889"/>
            </a:avLst>
          </a:prstGeom>
          <a:solidFill>
            <a:srgbClr val="F2F6FA"/>
          </a:solidFill>
          <a:ln w="12700">
            <a:solidFill>
              <a:srgbClr val="FFFFFF"/>
            </a:solidFill>
            <a:prstDash val="solid"/>
          </a:ln>
        </p:spPr>
      </p:sp>
      <p:sp>
        <p:nvSpPr>
          <p:cNvPr id="10" name="Text 8"/>
          <p:cNvSpPr/>
          <p:nvPr/>
        </p:nvSpPr>
        <p:spPr>
          <a:xfrm>
            <a:off x="1524000" y="5364480"/>
            <a:ext cx="9144000" cy="1097280"/>
          </a:xfrm>
          <a:prstGeom prst="rect">
            <a:avLst/>
          </a:prstGeom>
          <a:noFill/>
        </p:spPr>
        <p:txBody>
          <a:bodyPr wrap="square" rtlCol="0" anchor="ctr"/>
          <a:lstStyle/>
          <a:p>
            <a:pPr marL="0" indent="0" algn="ctr">
              <a:buNone/>
            </a:pPr>
            <a:r>
              <a:rPr lang="en-US" sz="2000"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建议放在仓库外，避免大文件进入 Git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步骤二：分词器兼容性问题</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97536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DeepSeek 使用自定义分词器代码，transformers 5.x 中 AutoTokenizer 可能返回空 input_ids。</a:t>
            </a:r>
            <a:endParaRPr lang="en-US" sz="2135" dirty="0"/>
          </a:p>
        </p:txBody>
      </p:sp>
      <p:sp>
        <p:nvSpPr>
          <p:cNvPr id="6" name="Text 4"/>
          <p:cNvSpPr/>
          <p:nvPr/>
        </p:nvSpPr>
        <p:spPr>
          <a:xfrm>
            <a:off x="853440" y="2682240"/>
            <a:ext cx="10485120" cy="731520"/>
          </a:xfrm>
          <a:prstGeom prst="rect">
            <a:avLst/>
          </a:prstGeom>
          <a:noFill/>
        </p:spPr>
        <p:txBody>
          <a:bodyPr wrap="square" rtlCol="0" anchor="t"/>
          <a:lstStyle/>
          <a:p>
            <a:pPr marL="0" indent="0">
              <a:lnSpc>
                <a:spcPct val="115000"/>
              </a:lnSpc>
              <a:buNone/>
            </a:pPr>
            <a:r>
              <a:rPr lang="en-US" sz="213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正确做法：用 PreTrainedTokenizerFast 直接加载 tokenizer.json</a:t>
            </a:r>
            <a:endParaRPr lang="en-US" sz="2135" dirty="0"/>
          </a:p>
        </p:txBody>
      </p:sp>
      <p:sp>
        <p:nvSpPr>
          <p:cNvPr id="7" name="Text 5"/>
          <p:cNvSpPr/>
          <p:nvPr/>
        </p:nvSpPr>
        <p:spPr>
          <a:xfrm>
            <a:off x="975360" y="37795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tokenizer = PreTrainedTokenizerFast(</a:t>
            </a:r>
            <a:endParaRPr lang="en-US" sz="2000" dirty="0"/>
          </a:p>
        </p:txBody>
      </p:sp>
      <p:sp>
        <p:nvSpPr>
          <p:cNvPr id="8" name="Text 6"/>
          <p:cNvSpPr/>
          <p:nvPr/>
        </p:nvSpPr>
        <p:spPr>
          <a:xfrm>
            <a:off x="975360" y="43891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tokenizer_file=f"{MODEL_PATH}/tokenizer.json",</a:t>
            </a:r>
            <a:endParaRPr lang="en-US" sz="2000" dirty="0"/>
          </a:p>
        </p:txBody>
      </p:sp>
      <p:sp>
        <p:nvSpPr>
          <p:cNvPr id="9" name="Text 7"/>
          <p:cNvSpPr/>
          <p:nvPr/>
        </p:nvSpPr>
        <p:spPr>
          <a:xfrm>
            <a:off x="975360" y="49987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pad_token="&lt;/s&gt;", eos_token="&lt;/s&gt;", bos_token="&lt;s&gt;")</a:t>
            </a:r>
            <a:endParaRPr lang="en-US" sz="2000" dirty="0"/>
          </a:p>
        </p:txBody>
      </p:sp>
      <p:sp>
        <p:nvSpPr>
          <p:cNvPr id="10" name="Text 8"/>
          <p:cNvSpPr/>
          <p:nvPr/>
        </p:nvSpPr>
        <p:spPr>
          <a:xfrm>
            <a:off x="853440" y="5913120"/>
            <a:ext cx="10485120" cy="60960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必须显式设置 pad/eos/bos，否则生成时可能报错。</a:t>
            </a:r>
            <a:endParaRPr lang="en-US" sz="213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步骤三：加载模型并启用 SDPA</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975360" y="17068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model = AutoModelForCausalLM.from_pretrained(</a:t>
            </a:r>
            <a:endParaRPr lang="en-US" sz="2000" dirty="0"/>
          </a:p>
        </p:txBody>
      </p:sp>
      <p:sp>
        <p:nvSpPr>
          <p:cNvPr id="6" name="Text 4"/>
          <p:cNvSpPr/>
          <p:nvPr/>
        </p:nvSpPr>
        <p:spPr>
          <a:xfrm>
            <a:off x="975360" y="237744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MODEL_PATH,</a:t>
            </a:r>
            <a:endParaRPr lang="en-US" sz="2000" dirty="0"/>
          </a:p>
        </p:txBody>
      </p:sp>
      <p:sp>
        <p:nvSpPr>
          <p:cNvPr id="7" name="Text 5"/>
          <p:cNvSpPr/>
          <p:nvPr/>
        </p:nvSpPr>
        <p:spPr>
          <a:xfrm>
            <a:off x="975360" y="304800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torch_dtype=torch.bfloat16,</a:t>
            </a:r>
            <a:endParaRPr lang="en-US" sz="2000" dirty="0"/>
          </a:p>
        </p:txBody>
      </p:sp>
      <p:sp>
        <p:nvSpPr>
          <p:cNvPr id="8" name="Text 6"/>
          <p:cNvSpPr/>
          <p:nvPr/>
        </p:nvSpPr>
        <p:spPr>
          <a:xfrm>
            <a:off x="975360" y="371856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device_map="npu:0",</a:t>
            </a:r>
            <a:endParaRPr lang="en-US" sz="2000" dirty="0"/>
          </a:p>
        </p:txBody>
      </p:sp>
      <p:sp>
        <p:nvSpPr>
          <p:cNvPr id="9" name="Text 7"/>
          <p:cNvSpPr/>
          <p:nvPr/>
        </p:nvSpPr>
        <p:spPr>
          <a:xfrm>
            <a:off x="975360" y="43891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attn_implementation="sdpa")</a:t>
            </a:r>
            <a:endParaRPr lang="en-US" sz="2000" dirty="0"/>
          </a:p>
        </p:txBody>
      </p:sp>
      <p:sp>
        <p:nvSpPr>
          <p:cNvPr id="10" name="Text 8"/>
          <p:cNvSpPr/>
          <p:nvPr/>
        </p:nvSpPr>
        <p:spPr>
          <a:xfrm>
            <a:off x="975360" y="50596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print(f"模型参数量: {model.num_parameters():,}")</a:t>
            </a:r>
            <a:endParaRPr lang="en-US" sz="2000" dirty="0"/>
          </a:p>
        </p:txBody>
      </p:sp>
      <p:sp>
        <p:nvSpPr>
          <p:cNvPr id="11" name="Text 9"/>
          <p:cNvSpPr/>
          <p:nvPr/>
        </p:nvSpPr>
        <p:spPr>
          <a:xfrm>
            <a:off x="853440" y="5913120"/>
            <a:ext cx="10485120" cy="60960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bf16 降低显存，SDPA 启用融合注意力。</a:t>
            </a:r>
            <a:endParaRPr lang="en-US" sz="213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步骤四：LoRA 配置</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975360" y="16459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from peft import LoraConfig, get_peft_model</a:t>
            </a:r>
            <a:endParaRPr lang="en-US" sz="2000" dirty="0"/>
          </a:p>
        </p:txBody>
      </p:sp>
      <p:sp>
        <p:nvSpPr>
          <p:cNvPr id="6" name="Text 4"/>
          <p:cNvSpPr/>
          <p:nvPr/>
        </p:nvSpPr>
        <p:spPr>
          <a:xfrm>
            <a:off x="975360" y="231648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lora_config = LoraConfig(</a:t>
            </a:r>
            <a:endParaRPr lang="en-US" sz="2000" dirty="0"/>
          </a:p>
        </p:txBody>
      </p:sp>
      <p:sp>
        <p:nvSpPr>
          <p:cNvPr id="7" name="Text 5"/>
          <p:cNvSpPr/>
          <p:nvPr/>
        </p:nvSpPr>
        <p:spPr>
          <a:xfrm>
            <a:off x="975360" y="298704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r=8, lora_alpha=32,</a:t>
            </a:r>
            <a:endParaRPr lang="en-US" sz="2000" dirty="0"/>
          </a:p>
        </p:txBody>
      </p:sp>
      <p:sp>
        <p:nvSpPr>
          <p:cNvPr id="8" name="Text 6"/>
          <p:cNvSpPr/>
          <p:nvPr/>
        </p:nvSpPr>
        <p:spPr>
          <a:xfrm>
            <a:off x="975360" y="365760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target_modules=["q_proj", "v_proj"],</a:t>
            </a:r>
            <a:endParaRPr lang="en-US" sz="2000" dirty="0"/>
          </a:p>
        </p:txBody>
      </p:sp>
      <p:sp>
        <p:nvSpPr>
          <p:cNvPr id="9" name="Text 7"/>
          <p:cNvSpPr/>
          <p:nvPr/>
        </p:nvSpPr>
        <p:spPr>
          <a:xfrm>
            <a:off x="975360" y="432816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    lora_dropout=0.05, bias="none")</a:t>
            </a:r>
            <a:endParaRPr lang="en-US" sz="2000" dirty="0"/>
          </a:p>
        </p:txBody>
      </p:sp>
      <p:sp>
        <p:nvSpPr>
          <p:cNvPr id="10" name="Text 8"/>
          <p:cNvSpPr/>
          <p:nvPr/>
        </p:nvSpPr>
        <p:spPr>
          <a:xfrm>
            <a:off x="975360" y="49987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Consolas" panose="020B0609020204030204" pitchFamily="34" charset="0"/>
                <a:ea typeface="Consolas" panose="020B0609020204030204" pitchFamily="34" charset="-122"/>
                <a:cs typeface="Consolas" panose="020B0609020204030204" pitchFamily="34" charset="-120"/>
              </a:rPr>
              <a:t>model = get_peft_model(model, lora_config)</a:t>
            </a:r>
            <a:endParaRPr lang="en-US" sz="2000" dirty="0"/>
          </a:p>
        </p:txBody>
      </p:sp>
      <p:sp>
        <p:nvSpPr>
          <p:cNvPr id="11" name="Text 9"/>
          <p:cNvSpPr/>
          <p:nvPr/>
        </p:nvSpPr>
        <p:spPr>
          <a:xfrm>
            <a:off x="853440" y="5852160"/>
            <a:ext cx="10485120" cy="609600"/>
          </a:xfrm>
          <a:prstGeom prst="rect">
            <a:avLst/>
          </a:prstGeom>
          <a:noFill/>
        </p:spPr>
        <p:txBody>
          <a:bodyPr wrap="square" rtlCol="0" anchor="t"/>
          <a:lstStyle/>
          <a:p>
            <a:pPr marL="0" indent="0">
              <a:lnSpc>
                <a:spcPct val="115000"/>
              </a:lnSpc>
              <a:buNone/>
            </a:pPr>
            <a:r>
              <a:rPr lang="en-US" sz="2135"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可训练参数：3,932,160 / 6,914,297,856 = 0.0569%</a:t>
            </a:r>
            <a:endParaRPr lang="en-US" sz="2135"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步骤五：SFTTrainer 训练配置</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853440" y="1645920"/>
            <a:ext cx="5120640" cy="853440"/>
          </a:xfrm>
          <a:prstGeom prst="roundRect">
            <a:avLst>
              <a:gd name="adj" fmla="val 11429"/>
            </a:avLst>
          </a:prstGeom>
          <a:solidFill>
            <a:srgbClr val="1F4E79"/>
          </a:solidFill>
          <a:ln w="12700">
            <a:solidFill>
              <a:srgbClr val="FFFFFF"/>
            </a:solidFill>
            <a:prstDash val="solid"/>
          </a:ln>
        </p:spPr>
      </p:sp>
      <p:sp>
        <p:nvSpPr>
          <p:cNvPr id="6" name="Text 4"/>
          <p:cNvSpPr/>
          <p:nvPr/>
        </p:nvSpPr>
        <p:spPr>
          <a:xfrm>
            <a:off x="914400" y="1645920"/>
            <a:ext cx="4998720" cy="85344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max_steps = 500</a:t>
            </a:r>
            <a:endParaRPr lang="en-US" sz="2135" dirty="0"/>
          </a:p>
        </p:txBody>
      </p:sp>
      <p:sp>
        <p:nvSpPr>
          <p:cNvPr id="7" name="Text 5"/>
          <p:cNvSpPr/>
          <p:nvPr/>
        </p:nvSpPr>
        <p:spPr>
          <a:xfrm>
            <a:off x="853440" y="2621280"/>
            <a:ext cx="512064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训练总步数</a:t>
            </a:r>
            <a:endParaRPr lang="en-US" sz="2000" dirty="0"/>
          </a:p>
        </p:txBody>
      </p:sp>
      <p:sp>
        <p:nvSpPr>
          <p:cNvPr id="8" name="Shape 6"/>
          <p:cNvSpPr/>
          <p:nvPr/>
        </p:nvSpPr>
        <p:spPr>
          <a:xfrm>
            <a:off x="6217920" y="1645920"/>
            <a:ext cx="5120640" cy="853440"/>
          </a:xfrm>
          <a:prstGeom prst="roundRect">
            <a:avLst>
              <a:gd name="adj" fmla="val 11429"/>
            </a:avLst>
          </a:prstGeom>
          <a:solidFill>
            <a:srgbClr val="E67E22"/>
          </a:solidFill>
          <a:ln w="12700">
            <a:solidFill>
              <a:srgbClr val="FFFFFF"/>
            </a:solidFill>
            <a:prstDash val="solid"/>
          </a:ln>
        </p:spPr>
      </p:sp>
      <p:sp>
        <p:nvSpPr>
          <p:cNvPr id="9" name="Text 7"/>
          <p:cNvSpPr/>
          <p:nvPr/>
        </p:nvSpPr>
        <p:spPr>
          <a:xfrm>
            <a:off x="6278880" y="1645920"/>
            <a:ext cx="4998720" cy="85344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per_device_batch_size = 1</a:t>
            </a:r>
            <a:endParaRPr lang="en-US" sz="2135" dirty="0"/>
          </a:p>
        </p:txBody>
      </p:sp>
      <p:sp>
        <p:nvSpPr>
          <p:cNvPr id="10" name="Text 8"/>
          <p:cNvSpPr/>
          <p:nvPr/>
        </p:nvSpPr>
        <p:spPr>
          <a:xfrm>
            <a:off x="6217920" y="2621280"/>
            <a:ext cx="512064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单卡批次大小</a:t>
            </a:r>
            <a:endParaRPr lang="en-US" sz="2000" dirty="0"/>
          </a:p>
        </p:txBody>
      </p:sp>
      <p:sp>
        <p:nvSpPr>
          <p:cNvPr id="11" name="Shape 9"/>
          <p:cNvSpPr/>
          <p:nvPr/>
        </p:nvSpPr>
        <p:spPr>
          <a:xfrm>
            <a:off x="853440" y="3535680"/>
            <a:ext cx="5120640" cy="853440"/>
          </a:xfrm>
          <a:prstGeom prst="roundRect">
            <a:avLst>
              <a:gd name="adj" fmla="val 11429"/>
            </a:avLst>
          </a:prstGeom>
          <a:solidFill>
            <a:srgbClr val="27AE60"/>
          </a:solidFill>
          <a:ln w="12700">
            <a:solidFill>
              <a:srgbClr val="FFFFFF"/>
            </a:solidFill>
            <a:prstDash val="solid"/>
          </a:ln>
        </p:spPr>
      </p:sp>
      <p:sp>
        <p:nvSpPr>
          <p:cNvPr id="12" name="Text 10"/>
          <p:cNvSpPr/>
          <p:nvPr/>
        </p:nvSpPr>
        <p:spPr>
          <a:xfrm>
            <a:off x="914400" y="3535680"/>
            <a:ext cx="4998720" cy="85344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gradient_accumulation = 8</a:t>
            </a:r>
            <a:endParaRPr lang="en-US" sz="2135" dirty="0"/>
          </a:p>
        </p:txBody>
      </p:sp>
      <p:sp>
        <p:nvSpPr>
          <p:cNvPr id="13" name="Text 11"/>
          <p:cNvSpPr/>
          <p:nvPr/>
        </p:nvSpPr>
        <p:spPr>
          <a:xfrm>
            <a:off x="853440" y="4511040"/>
            <a:ext cx="512064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等效 batch_size = 8</a:t>
            </a:r>
            <a:endParaRPr lang="en-US" sz="2000" dirty="0"/>
          </a:p>
        </p:txBody>
      </p:sp>
      <p:sp>
        <p:nvSpPr>
          <p:cNvPr id="14" name="Shape 12"/>
          <p:cNvSpPr/>
          <p:nvPr/>
        </p:nvSpPr>
        <p:spPr>
          <a:xfrm>
            <a:off x="6217920" y="3535680"/>
            <a:ext cx="5120640" cy="853440"/>
          </a:xfrm>
          <a:prstGeom prst="roundRect">
            <a:avLst>
              <a:gd name="adj" fmla="val 11429"/>
            </a:avLst>
          </a:prstGeom>
          <a:solidFill>
            <a:srgbClr val="2E86AB"/>
          </a:solidFill>
          <a:ln w="12700">
            <a:solidFill>
              <a:srgbClr val="FFFFFF"/>
            </a:solidFill>
            <a:prstDash val="solid"/>
          </a:ln>
        </p:spPr>
      </p:sp>
      <p:sp>
        <p:nvSpPr>
          <p:cNvPr id="15" name="Text 13"/>
          <p:cNvSpPr/>
          <p:nvPr/>
        </p:nvSpPr>
        <p:spPr>
          <a:xfrm>
            <a:off x="6278880" y="3535680"/>
            <a:ext cx="4998720" cy="85344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learning_rate = 1e-4</a:t>
            </a:r>
            <a:endParaRPr lang="en-US" sz="2135" dirty="0"/>
          </a:p>
        </p:txBody>
      </p:sp>
      <p:sp>
        <p:nvSpPr>
          <p:cNvPr id="16" name="Text 14"/>
          <p:cNvSpPr/>
          <p:nvPr/>
        </p:nvSpPr>
        <p:spPr>
          <a:xfrm>
            <a:off x="6217920" y="4511040"/>
            <a:ext cx="512064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学习率</a:t>
            </a:r>
            <a:endParaRPr lang="en-US" sz="2000" dirty="0"/>
          </a:p>
        </p:txBody>
      </p:sp>
      <p:sp>
        <p:nvSpPr>
          <p:cNvPr id="17" name="Shape 15"/>
          <p:cNvSpPr/>
          <p:nvPr/>
        </p:nvSpPr>
        <p:spPr>
          <a:xfrm>
            <a:off x="853440" y="5425440"/>
            <a:ext cx="5120640" cy="853440"/>
          </a:xfrm>
          <a:prstGeom prst="roundRect">
            <a:avLst>
              <a:gd name="adj" fmla="val 11429"/>
            </a:avLst>
          </a:prstGeom>
          <a:solidFill>
            <a:srgbClr val="8E44AD"/>
          </a:solidFill>
          <a:ln w="12700">
            <a:solidFill>
              <a:srgbClr val="FFFFFF"/>
            </a:solidFill>
            <a:prstDash val="solid"/>
          </a:ln>
        </p:spPr>
      </p:sp>
      <p:sp>
        <p:nvSpPr>
          <p:cNvPr id="18" name="Text 16"/>
          <p:cNvSpPr/>
          <p:nvPr/>
        </p:nvSpPr>
        <p:spPr>
          <a:xfrm>
            <a:off x="914400" y="5425440"/>
            <a:ext cx="4998720" cy="85344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bf16 + warmup + cosine</a:t>
            </a:r>
            <a:endParaRPr lang="en-US" sz="2000" dirty="0"/>
          </a:p>
        </p:txBody>
      </p:sp>
      <p:sp>
        <p:nvSpPr>
          <p:cNvPr id="19" name="Shape 17"/>
          <p:cNvSpPr/>
          <p:nvPr/>
        </p:nvSpPr>
        <p:spPr>
          <a:xfrm>
            <a:off x="6217920" y="5425440"/>
            <a:ext cx="5120640" cy="853440"/>
          </a:xfrm>
          <a:prstGeom prst="roundRect">
            <a:avLst>
              <a:gd name="adj" fmla="val 11429"/>
            </a:avLst>
          </a:prstGeom>
          <a:solidFill>
            <a:srgbClr val="C0392B"/>
          </a:solidFill>
          <a:ln w="12700">
            <a:solidFill>
              <a:srgbClr val="FFFFFF"/>
            </a:solidFill>
            <a:prstDash val="solid"/>
          </a:ln>
        </p:spPr>
      </p:sp>
      <p:sp>
        <p:nvSpPr>
          <p:cNvPr id="20" name="Text 18"/>
          <p:cNvSpPr/>
          <p:nvPr/>
        </p:nvSpPr>
        <p:spPr>
          <a:xfrm>
            <a:off x="6278880" y="5425440"/>
            <a:ext cx="4998720" cy="85344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report_to = swanlab</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步骤六：SwanLab 监控与训练结果</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SwanLab 把 loss 曲线实时上传到云端，无需端口转发即可查看。</a:t>
            </a:r>
            <a:endParaRPr lang="en-US" sz="2265" dirty="0"/>
          </a:p>
        </p:txBody>
      </p:sp>
      <p:pic>
        <p:nvPicPr>
          <p:cNvPr id="11" name="图片 10"/>
          <p:cNvPicPr>
            <a:picLocks noChangeAspect="1"/>
          </p:cNvPicPr>
          <p:nvPr/>
        </p:nvPicPr>
        <p:blipFill>
          <a:blip r:embed="rId1"/>
          <a:stretch>
            <a:fillRect/>
          </a:stretch>
        </p:blipFill>
        <p:spPr>
          <a:xfrm>
            <a:off x="1788160" y="2190115"/>
            <a:ext cx="8446135" cy="43224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LoRA 与 FlashAttention 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实验总结：我们完成了什么</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理解 LoRA 原理：低秩分解实现参数高效微调</a:t>
            </a:r>
            <a:endParaRPr lang="en-US" sz="2265" dirty="0"/>
          </a:p>
        </p:txBody>
      </p:sp>
      <p:sp>
        <p:nvSpPr>
          <p:cNvPr id="6" name="Text 4"/>
          <p:cNvSpPr/>
          <p:nvPr/>
        </p:nvSpPr>
        <p:spPr>
          <a:xfrm>
            <a:off x="853440" y="243840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完成模型下载、分词器兼容与 SDPA 加载</a:t>
            </a:r>
            <a:endParaRPr lang="en-US" sz="2265" dirty="0"/>
          </a:p>
        </p:txBody>
      </p:sp>
      <p:sp>
        <p:nvSpPr>
          <p:cNvPr id="7" name="Text 5"/>
          <p:cNvSpPr/>
          <p:nvPr/>
        </p:nvSpPr>
        <p:spPr>
          <a:xfrm>
            <a:off x="853440" y="329184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完成多轮对话数据格式化与 9:1 切分</a:t>
            </a:r>
            <a:endParaRPr lang="en-US" sz="2265" dirty="0"/>
          </a:p>
        </p:txBody>
      </p:sp>
      <p:sp>
        <p:nvSpPr>
          <p:cNvPr id="8" name="Text 6"/>
          <p:cNvSpPr/>
          <p:nvPr/>
        </p:nvSpPr>
        <p:spPr>
          <a:xfrm>
            <a:off x="853440" y="414528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使用 SFTTrainer + SwanLab 完成 LoRA 训练</a:t>
            </a:r>
            <a:endParaRPr lang="en-US" sz="2265" dirty="0"/>
          </a:p>
        </p:txBody>
      </p:sp>
      <p:sp>
        <p:nvSpPr>
          <p:cNvPr id="9" name="Text 7"/>
          <p:cNvSpPr/>
          <p:nvPr/>
        </p:nvSpPr>
        <p:spPr>
          <a:xfrm>
            <a:off x="853440" y="4998720"/>
            <a:ext cx="10485120" cy="670560"/>
          </a:xfrm>
          <a:prstGeom prst="rect">
            <a:avLst/>
          </a:prstGeom>
          <a:noFill/>
        </p:spPr>
        <p:txBody>
          <a:bodyPr wrap="square" rtlCol="0" anchor="t"/>
          <a:lstStyle/>
          <a:p>
            <a:pPr marL="0" indent="0">
              <a:lnSpc>
                <a:spcPct val="115000"/>
              </a:lnSpc>
              <a:buNone/>
            </a:pPr>
            <a:endParaRPr lang="en-US" sz="226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实验环境准备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LoRA 与 FlashAttention 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rPr>
              <a:t>课后习题</a:t>
            </a:r>
            <a:endParaRPr lang="en-US" b="1" dirty="0">
              <a:solidFill>
                <a:schemeClr val="tx1"/>
              </a:solidFill>
            </a:endParaRPr>
          </a:p>
          <a:p>
            <a:endParaRPr lang="en-US" dirty="0"/>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Q1：LoRA 中参数 r 的含义是什么？增大 r 会带来什么影响？</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在</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LoRA</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中，参数</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r</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（秩）控制低秩分解矩阵</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A </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和</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B </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的中间维度，直接决定可训练参数量（</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(d+k)*r</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）。增大</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r </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会增强模型对下游任务的拟合能力，使其更接近全参数微调的效果，但同时会线性增加显存占用和训练开销，并显著提升过拟合风险，尤其在小数据集上更为突出。实际应用中需在表达能力和泛化性间权衡，通常从</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`r=4` </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或</a:t>
            </a:r>
            <a:r>
              <a:rPr lang="en-US" altLang="zh-CN"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`r=8` </a:t>
            </a:r>
            <a:r>
              <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起调，根据验证集表现逐步递增，配合适当的权重衰减以抑制过拟合。</a:t>
            </a:r>
            <a:endParaRPr lang="zh-CN" alt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7" name="Text 5"/>
          <p:cNvSpPr/>
          <p:nvPr/>
        </p:nvSpPr>
        <p:spPr>
          <a:xfrm>
            <a:off x="853440" y="1462405"/>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Q2：为什么 LoRA 能大幅降低显存需求？</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LoRA 降低显存占用的核心在于**冻结原始权重，仅优化低秩分解矩阵**，从而避开全量微调的三大显存消耗源：**① 无需为全部参数存储优化器状态**（Adam 的动量和二阶矩），仅维护极小 `A`、`B` 的梯度与动量；**② 无需保留所有层的中间激活值**，仅反向传播 LoRA 分支涉及的小量张量；**③ 参数量级差异**（以 LLaMA-7B 为例，全参需 60GB+，LoRA 仅需 ~14GB）。本质是将可训练参数量压缩 2~3 个数量级，使得消费级 GPU 也能微调百亿级模型。</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7" name="Text 5"/>
          <p:cNvSpPr/>
          <p:nvPr/>
        </p:nvSpPr>
        <p:spPr>
          <a:xfrm>
            <a:off x="853440" y="1462405"/>
            <a:ext cx="10485120" cy="731520"/>
          </a:xfrm>
          <a:prstGeom prst="rect">
            <a:avLst/>
          </a:prstGeom>
          <a:noFill/>
        </p:spPr>
        <p:txBody>
          <a:bodyPr wrap="square" rtlCol="0" anchor="t"/>
          <a:lstStyle/>
          <a:p>
            <a:pPr marL="0" indent="0">
              <a:lnSpc>
                <a:spcPct val="115000"/>
              </a:lnSpc>
              <a:buNone/>
            </a:pP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853440" y="1530985"/>
            <a:ext cx="10485120" cy="4160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Q3：SDPA / FlashAttention 如何把注意力显存从 O(N²) 降到 O(N)？</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SDPA/FlashAttention 通过 分块计算（Tiling） 和 重计算（Recomputation），将注意力显存从 O(N²) 降至 O(N)。标准注意力需显式存储 `N×N` 的注意力矩阵 S 和 softmax 输出 P 用于反向传播，而 FlashAttention 将 Q/K/V 切分为小块，每次只加载局部块到 SRAM 计算并即时聚合，避免将完整矩阵写回 HBM；反向传播时不保存 S 和 P，仅复用前向存储的统计量（每行最大值和和）在线重算，以额外计算换取显存节省。最终将显存瓶颈从二次方降为线性，使得单卡可处理超长序列（如 16K~64K）。</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7" name="Text 5"/>
          <p:cNvSpPr/>
          <p:nvPr/>
        </p:nvSpPr>
        <p:spPr>
          <a:xfrm>
            <a:off x="853440" y="1462405"/>
            <a:ext cx="10485120" cy="731520"/>
          </a:xfrm>
          <a:prstGeom prst="rect">
            <a:avLst/>
          </a:prstGeom>
          <a:noFill/>
        </p:spPr>
        <p:txBody>
          <a:bodyPr wrap="square" rtlCol="0" anchor="t"/>
          <a:lstStyle/>
          <a:p>
            <a:pPr marL="0" indent="0">
              <a:lnSpc>
                <a:spcPct val="115000"/>
              </a:lnSpc>
              <a:buNone/>
            </a:pP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Text 7"/>
          <p:cNvSpPr/>
          <p:nvPr/>
        </p:nvSpPr>
        <p:spPr>
          <a:xfrm>
            <a:off x="731520" y="1576705"/>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Q4：loss 不降反升时应该调整哪些超参数？</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Loss 不降反升时，按优先级调整以下超参数：①降低学习率（最直接，尝试缩小 5~10 倍）并配合 Warmup 缓解初期震荡；②增大 batch size 以降低梯度噪声；③加强正则化（增大 weight decay 或降低 dropout rate）约束过拟合；④启用梯度裁剪（如 max_norm=1.0）防止梯度爆炸；⑤调整损失函数（如标签平滑）软化目标分布。</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1" ma:contentTypeDescription="Create a new document." ma:contentTypeScope="" ma:versionID="192c310b45bae95d9fdbb51d5532622b">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2FADE7-0FB7-4D32-803A-97A461853B0F}">
  <ds:schemaRefs/>
</ds:datastoreItem>
</file>

<file path=customXml/itemProps2.xml><?xml version="1.0" encoding="utf-8"?>
<ds:datastoreItem xmlns:ds="http://schemas.openxmlformats.org/officeDocument/2006/customXml" ds:itemID="{FEDE263F-0510-4442-823E-69B63ECB61E1}">
  <ds:schemaRefs/>
</ds:datastoreItem>
</file>

<file path=customXml/itemProps3.xml><?xml version="1.0" encoding="utf-8"?>
<ds:datastoreItem xmlns:ds="http://schemas.openxmlformats.org/officeDocument/2006/customXml" ds:itemID="{DA5960F2-6186-408B-A0DC-5CA5E58B604F}">
  <ds:schemaRefs/>
</ds:datastoreItem>
</file>

<file path=docProps/app.xml><?xml version="1.0" encoding="utf-8"?>
<Properties xmlns="http://schemas.openxmlformats.org/officeDocument/2006/extended-properties" xmlns:vt="http://schemas.openxmlformats.org/officeDocument/2006/docPropsVTypes">
  <TotalTime>0</TotalTime>
  <Words>5070</Words>
  <Application>WPS 演示</Application>
  <PresentationFormat>宽屏</PresentationFormat>
  <Paragraphs>355</Paragraphs>
  <Slides>32</Slides>
  <Notes>9</Notes>
  <HiddenSlides>0</HiddenSlides>
  <MMClips>0</MMClips>
  <ScaleCrop>false</ScaleCrop>
  <HeadingPairs>
    <vt:vector size="6" baseType="variant">
      <vt:variant>
        <vt:lpstr>已用的字体</vt:lpstr>
      </vt:variant>
      <vt:variant>
        <vt:i4>16</vt:i4>
      </vt:variant>
      <vt:variant>
        <vt:lpstr>主题</vt:lpstr>
      </vt:variant>
      <vt:variant>
        <vt:i4>4</vt:i4>
      </vt:variant>
      <vt:variant>
        <vt:lpstr>幻灯片标题</vt:lpstr>
      </vt:variant>
      <vt:variant>
        <vt:i4>32</vt:i4>
      </vt:variant>
    </vt:vector>
  </HeadingPairs>
  <TitlesOfParts>
    <vt:vector size="52" baseType="lpstr">
      <vt:lpstr>Arial</vt:lpstr>
      <vt:lpstr>宋体</vt:lpstr>
      <vt:lpstr>Wingdings</vt:lpstr>
      <vt:lpstr>Huawei Sans</vt:lpstr>
      <vt:lpstr>DejaVu Math TeX Gyre</vt:lpstr>
      <vt:lpstr>方正兰亭黑简体</vt:lpstr>
      <vt:lpstr>微软雅黑</vt:lpstr>
      <vt:lpstr>黑体</vt:lpstr>
      <vt:lpstr>微软雅黑</vt:lpstr>
      <vt:lpstr>Consolas</vt:lpstr>
      <vt:lpstr>Consolas</vt:lpstr>
      <vt:lpstr>Consolas</vt:lpstr>
      <vt:lpstr>Arial</vt:lpstr>
      <vt:lpstr>Arial</vt:lpstr>
      <vt:lpstr>Arial Unicode MS</vt:lpstr>
      <vt:lpstr>方正兰亭黑简体</vt:lpstr>
      <vt:lpstr>2_标题页模板</vt:lpstr>
      <vt:lpstr>3_功能页模板</vt:lpstr>
      <vt:lpstr>4_内容页模板</vt:lpstr>
      <vt:lpstr>5_感谢页模板</vt:lpstr>
      <vt:lpstr>DeepSeek-LLM-7B LoRA 微调实战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李晋</cp:lastModifiedBy>
  <cp:revision>174</cp:revision>
  <cp:lastPrinted>2020-07-31T09:33:00Z</cp:lastPrinted>
  <dcterms:created xsi:type="dcterms:W3CDTF">2018-11-29T10:16:00Z</dcterms:created>
  <dcterms:modified xsi:type="dcterms:W3CDTF">2026-08-17T04:26:51Z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(3)g4z9dqn3gb6hls7dsiBcN51QnejloZX3gCi7TJminlc8kVE0HO/znYkE6vgbBuVelA+OfOdn
0BwuKJsY+UXDQz2LoU1i769hNlYZU/sDORZUjL/rC/XvbIpVoMLGm7Tceb27JurmEhD16Lg2
Yghzv6w94nw4+kVlh363r/pjHm9I37j59Z6vr3alep6Xm0KTXPdcrKr1wacP6stDdmTbXiPN
4fiRKmITB7qR+5yU7S</vt:lpwstr>
  </property>
  <property fmtid="{D5CDD505-2E9C-101B-9397-08002B2CF9AE}" pid="3" name="_2015_ms_pID_7253431">
    <vt:lpwstr>FXaT+vzbRiamcFvAsTBXEkmKJE4AVPjccZ0e53ayTL9nHvBwgY1iTL
UX7NEwbHjVEhIf9qdfdewUrvI5DOFzKeYsn1FKo1x9HXw28fb2rXuwmuPHBk4OPqk2dx3hFq
aypIrixK+6e2QvaZc/7qfIlxtnDMJsCiXRmzyWGpf0xrk19L5ZSNdGQqnDUvQUIghh+c7W+z
F4t16ZO/qWpjd2BI7ywG4aEKr9Z6kOkwhHYQ</vt:lpwstr>
  </property>
  <property fmtid="{D5CDD505-2E9C-101B-9397-08002B2CF9AE}" pid="4" name="_2015_ms_pID_7253432">
    <vt:lpwstr>vg==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1575248629</vt:lpwstr>
  </property>
  <property fmtid="{D5CDD505-2E9C-101B-9397-08002B2CF9AE}" pid="9" name="ContentTypeId">
    <vt:lpwstr>0x010100CC226774B8D87F4D92D9D1F6859ED44E</vt:lpwstr>
  </property>
  <property fmtid="{D5CDD505-2E9C-101B-9397-08002B2CF9AE}" pid="10" name="KSOProductBuildVer">
    <vt:lpwstr>2052-12.1.0.23542</vt:lpwstr>
  </property>
  <property fmtid="{D5CDD505-2E9C-101B-9397-08002B2CF9AE}" pid="11" name="ICV">
    <vt:lpwstr>AF7955BE5BCA407FBCD9F14305EA5556_13</vt:lpwstr>
  </property>
</Properties>
</file>